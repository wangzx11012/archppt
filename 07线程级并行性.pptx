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87"/>
  </p:notesMasterIdLst>
  <p:handoutMasterIdLst>
    <p:handoutMasterId r:id="rId188"/>
  </p:handout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 id="451" r:id="rId45"/>
    <p:sldId id="452" r:id="rId46"/>
    <p:sldId id="453" r:id="rId47"/>
    <p:sldId id="454" r:id="rId48"/>
    <p:sldId id="455" r:id="rId49"/>
    <p:sldId id="496" r:id="rId50"/>
    <p:sldId id="456" r:id="rId51"/>
    <p:sldId id="310" r:id="rId52"/>
    <p:sldId id="311" r:id="rId53"/>
    <p:sldId id="312" r:id="rId54"/>
    <p:sldId id="487" r:id="rId55"/>
    <p:sldId id="313" r:id="rId56"/>
    <p:sldId id="314" r:id="rId57"/>
    <p:sldId id="315" r:id="rId58"/>
    <p:sldId id="316" r:id="rId59"/>
    <p:sldId id="457" r:id="rId60"/>
    <p:sldId id="317" r:id="rId61"/>
    <p:sldId id="318" r:id="rId62"/>
    <p:sldId id="319" r:id="rId63"/>
    <p:sldId id="321"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458"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490" r:id="rId98"/>
    <p:sldId id="489" r:id="rId99"/>
    <p:sldId id="459" r:id="rId100"/>
    <p:sldId id="491" r:id="rId101"/>
    <p:sldId id="355" r:id="rId102"/>
    <p:sldId id="460" r:id="rId103"/>
    <p:sldId id="461" r:id="rId104"/>
    <p:sldId id="462" r:id="rId105"/>
    <p:sldId id="356" r:id="rId106"/>
    <p:sldId id="357" r:id="rId107"/>
    <p:sldId id="358" r:id="rId108"/>
    <p:sldId id="359" r:id="rId109"/>
    <p:sldId id="360" r:id="rId110"/>
    <p:sldId id="361" r:id="rId111"/>
    <p:sldId id="362" r:id="rId112"/>
    <p:sldId id="363" r:id="rId113"/>
    <p:sldId id="492" r:id="rId114"/>
    <p:sldId id="364" r:id="rId115"/>
    <p:sldId id="493" r:id="rId116"/>
    <p:sldId id="365" r:id="rId117"/>
    <p:sldId id="367" r:id="rId118"/>
    <p:sldId id="368" r:id="rId119"/>
    <p:sldId id="494" r:id="rId120"/>
    <p:sldId id="495" r:id="rId121"/>
    <p:sldId id="369" r:id="rId122"/>
    <p:sldId id="370" r:id="rId123"/>
    <p:sldId id="371" r:id="rId124"/>
    <p:sldId id="372" r:id="rId125"/>
    <p:sldId id="373" r:id="rId126"/>
    <p:sldId id="463" r:id="rId127"/>
    <p:sldId id="374" r:id="rId128"/>
    <p:sldId id="375" r:id="rId129"/>
    <p:sldId id="464" r:id="rId130"/>
    <p:sldId id="467" r:id="rId131"/>
    <p:sldId id="468" r:id="rId132"/>
    <p:sldId id="469" r:id="rId133"/>
    <p:sldId id="470" r:id="rId134"/>
    <p:sldId id="376" r:id="rId135"/>
    <p:sldId id="377" r:id="rId136"/>
    <p:sldId id="378" r:id="rId137"/>
    <p:sldId id="379" r:id="rId138"/>
    <p:sldId id="380" r:id="rId139"/>
    <p:sldId id="381" r:id="rId140"/>
    <p:sldId id="472" r:id="rId141"/>
    <p:sldId id="382" r:id="rId142"/>
    <p:sldId id="383" r:id="rId143"/>
    <p:sldId id="384" r:id="rId144"/>
    <p:sldId id="388" r:id="rId145"/>
    <p:sldId id="389" r:id="rId146"/>
    <p:sldId id="390" r:id="rId147"/>
    <p:sldId id="391" r:id="rId148"/>
    <p:sldId id="488" r:id="rId149"/>
    <p:sldId id="392" r:id="rId150"/>
    <p:sldId id="393" r:id="rId151"/>
    <p:sldId id="394" r:id="rId152"/>
    <p:sldId id="395" r:id="rId153"/>
    <p:sldId id="396" r:id="rId154"/>
    <p:sldId id="397" r:id="rId155"/>
    <p:sldId id="398" r:id="rId156"/>
    <p:sldId id="399" r:id="rId157"/>
    <p:sldId id="400" r:id="rId158"/>
    <p:sldId id="401" r:id="rId159"/>
    <p:sldId id="402" r:id="rId160"/>
    <p:sldId id="403" r:id="rId161"/>
    <p:sldId id="404" r:id="rId162"/>
    <p:sldId id="405" r:id="rId163"/>
    <p:sldId id="406" r:id="rId164"/>
    <p:sldId id="407" r:id="rId165"/>
    <p:sldId id="408" r:id="rId166"/>
    <p:sldId id="409" r:id="rId167"/>
    <p:sldId id="410" r:id="rId168"/>
    <p:sldId id="411" r:id="rId169"/>
    <p:sldId id="412" r:id="rId170"/>
    <p:sldId id="416" r:id="rId171"/>
    <p:sldId id="418" r:id="rId172"/>
    <p:sldId id="419" r:id="rId173"/>
    <p:sldId id="420" r:id="rId174"/>
    <p:sldId id="421" r:id="rId175"/>
    <p:sldId id="422" r:id="rId176"/>
    <p:sldId id="423" r:id="rId177"/>
    <p:sldId id="424" r:id="rId178"/>
    <p:sldId id="473" r:id="rId179"/>
    <p:sldId id="425" r:id="rId180"/>
    <p:sldId id="474" r:id="rId181"/>
    <p:sldId id="476" r:id="rId182"/>
    <p:sldId id="477" r:id="rId183"/>
    <p:sldId id="478" r:id="rId184"/>
    <p:sldId id="479" r:id="rId185"/>
    <p:sldId id="426" r:id="rId186"/>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92" autoAdjust="0"/>
    <p:restoredTop sz="89914" autoAdjust="0"/>
  </p:normalViewPr>
  <p:slideViewPr>
    <p:cSldViewPr>
      <p:cViewPr varScale="1">
        <p:scale>
          <a:sx n="83" d="100"/>
          <a:sy n="83" d="100"/>
        </p:scale>
        <p:origin x="677" y="77"/>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134"/>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notesMaster" Target="notesMasters/notesMaster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638343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99365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93BD2E5-7B2A-D347-A398-1EAD629EE9F3}" type="slidenum">
              <a:rPr lang="en-US"/>
              <a:pPr/>
              <a:t>4</a:t>
            </a:fld>
            <a:endParaRPr lang="en-US"/>
          </a:p>
        </p:txBody>
      </p:sp>
      <p:sp>
        <p:nvSpPr>
          <p:cNvPr id="1388546"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388547"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475889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E667DE6-520D-AA42-BBB7-9FFAAD270187}" type="slidenum">
              <a:rPr lang="en-US"/>
              <a:pPr/>
              <a:t>5</a:t>
            </a:fld>
            <a:endParaRPr lang="en-US"/>
          </a:p>
        </p:txBody>
      </p:sp>
      <p:sp>
        <p:nvSpPr>
          <p:cNvPr id="1390594"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390595"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2238480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7282608-E3F6-F648-A12F-F0352E0E32DF}" type="slidenum">
              <a:rPr lang="en-US"/>
              <a:pPr/>
              <a:t>6</a:t>
            </a:fld>
            <a:endParaRPr lang="en-US"/>
          </a:p>
        </p:txBody>
      </p:sp>
      <p:sp>
        <p:nvSpPr>
          <p:cNvPr id="1392642"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39264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405281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045C37C-CABA-8344-BF88-88272C7D057E}" type="slidenum">
              <a:rPr lang="en-US"/>
              <a:pPr/>
              <a:t>7</a:t>
            </a:fld>
            <a:endParaRPr lang="en-US"/>
          </a:p>
        </p:txBody>
      </p:sp>
      <p:sp>
        <p:nvSpPr>
          <p:cNvPr id="1394690" name="Rectangle 2"/>
          <p:cNvSpPr>
            <a:spLocks noGrp="1" noRot="1" noChangeAspect="1" noChangeArrowheads="1" noTextEdit="1"/>
          </p:cNvSpPr>
          <p:nvPr>
            <p:ph type="sldImg"/>
          </p:nvPr>
        </p:nvSpPr>
        <p:spPr bwMode="auto">
          <a:xfrm>
            <a:off x="392113" y="692150"/>
            <a:ext cx="6075362" cy="3417888"/>
          </a:xfrm>
          <a:prstGeom prst="rect">
            <a:avLst/>
          </a:prstGeom>
          <a:solidFill>
            <a:srgbClr val="FFFFFF"/>
          </a:solidFill>
          <a:ln>
            <a:solidFill>
              <a:srgbClr val="000000"/>
            </a:solidFill>
            <a:miter lim="800000"/>
            <a:headEnd/>
            <a:tailEnd/>
          </a:ln>
        </p:spPr>
      </p:sp>
      <p:sp>
        <p:nvSpPr>
          <p:cNvPr id="1394691"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2531106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48C5741-2B48-E04B-B8AE-BD8B52DA1B17}" type="slidenum">
              <a:rPr lang="en-US"/>
              <a:pPr/>
              <a:t>8</a:t>
            </a:fld>
            <a:endParaRPr lang="en-US"/>
          </a:p>
        </p:txBody>
      </p:sp>
      <p:sp>
        <p:nvSpPr>
          <p:cNvPr id="1396738"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396739"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239166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2E4154F-093C-6D4E-A474-3687811CF732}" type="slidenum">
              <a:rPr lang="en-US"/>
              <a:pPr/>
              <a:t>9</a:t>
            </a:fld>
            <a:endParaRPr lang="en-US"/>
          </a:p>
        </p:txBody>
      </p:sp>
      <p:sp>
        <p:nvSpPr>
          <p:cNvPr id="1398786"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398787"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a:p>
        </p:txBody>
      </p:sp>
    </p:spTree>
    <p:extLst>
      <p:ext uri="{BB962C8B-B14F-4D97-AF65-F5344CB8AC3E}">
        <p14:creationId xmlns:p14="http://schemas.microsoft.com/office/powerpoint/2010/main" val="2806355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D7C77FC-1BE0-0F48-8394-27CBFAE344CE}" type="slidenum">
              <a:rPr lang="en-US"/>
              <a:pPr/>
              <a:t>10</a:t>
            </a:fld>
            <a:endParaRPr lang="en-US"/>
          </a:p>
        </p:txBody>
      </p:sp>
      <p:sp>
        <p:nvSpPr>
          <p:cNvPr id="1400834"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400835"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r>
              <a:rPr lang="en-US"/>
              <a:t>Software-controlled interleave, S &gt; N.  Wheel with the threads in each slot. If thread is ready to go</a:t>
            </a:r>
          </a:p>
          <a:p>
            <a:r>
              <a:rPr lang="en-US"/>
              <a:t>It goes, else NOP, I.e., pipeline bubble.</a:t>
            </a:r>
          </a:p>
        </p:txBody>
      </p:sp>
    </p:spTree>
    <p:extLst>
      <p:ext uri="{BB962C8B-B14F-4D97-AF65-F5344CB8AC3E}">
        <p14:creationId xmlns:p14="http://schemas.microsoft.com/office/powerpoint/2010/main" val="2668231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80FA171-2013-834B-8574-C00D0FB12003}" type="slidenum">
              <a:rPr lang="en-US"/>
              <a:pPr/>
              <a:t>11</a:t>
            </a:fld>
            <a:endParaRPr lang="en-US"/>
          </a:p>
        </p:txBody>
      </p:sp>
      <p:sp>
        <p:nvSpPr>
          <p:cNvPr id="1402882" name="Rectangle 2"/>
          <p:cNvSpPr>
            <a:spLocks noGrp="1" noRot="1" noChangeAspect="1" noChangeArrowheads="1" noTextEdit="1"/>
          </p:cNvSpPr>
          <p:nvPr>
            <p:ph type="sldImg"/>
          </p:nvPr>
        </p:nvSpPr>
        <p:spPr bwMode="auto">
          <a:xfrm>
            <a:off x="392113" y="692150"/>
            <a:ext cx="6075362" cy="3417888"/>
          </a:xfrm>
          <a:prstGeom prst="rect">
            <a:avLst/>
          </a:prstGeom>
          <a:solidFill>
            <a:srgbClr val="FFFFFF"/>
          </a:solidFill>
          <a:ln>
            <a:solidFill>
              <a:srgbClr val="000000"/>
            </a:solidFill>
            <a:miter lim="800000"/>
            <a:headEnd/>
            <a:tailEnd/>
          </a:ln>
        </p:spPr>
      </p:sp>
      <p:sp>
        <p:nvSpPr>
          <p:cNvPr id="140288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3791433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0FF3E56-CAE2-2D4B-87A4-A1A1CC565F2D}" type="slidenum">
              <a:rPr lang="en-US"/>
              <a:pPr/>
              <a:t>14</a:t>
            </a:fld>
            <a:endParaRPr lang="en-US"/>
          </a:p>
        </p:txBody>
      </p:sp>
      <p:sp>
        <p:nvSpPr>
          <p:cNvPr id="1404930"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404931"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a:p>
        </p:txBody>
      </p:sp>
    </p:spTree>
    <p:extLst>
      <p:ext uri="{BB962C8B-B14F-4D97-AF65-F5344CB8AC3E}">
        <p14:creationId xmlns:p14="http://schemas.microsoft.com/office/powerpoint/2010/main" val="2969675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2633AF8-06D5-0145-8E0D-97C42B8E4F7E}" type="slidenum">
              <a:rPr lang="en-US"/>
              <a:pPr/>
              <a:t>15</a:t>
            </a:fld>
            <a:endParaRPr lang="en-US"/>
          </a:p>
        </p:txBody>
      </p:sp>
      <p:sp>
        <p:nvSpPr>
          <p:cNvPr id="1409026"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409027"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r>
              <a:rPr lang="en-US" dirty="0"/>
              <a:t>Memory unit is busy, or sync operation failed retry.</a:t>
            </a:r>
          </a:p>
          <a:p>
            <a:r>
              <a:rPr lang="en-US" dirty="0"/>
              <a:t>Just goes around the memory pipeline.</a:t>
            </a:r>
          </a:p>
        </p:txBody>
      </p:sp>
    </p:spTree>
    <p:extLst>
      <p:ext uri="{BB962C8B-B14F-4D97-AF65-F5344CB8AC3E}">
        <p14:creationId xmlns:p14="http://schemas.microsoft.com/office/powerpoint/2010/main" val="1514353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F47E8F2-62F9-714F-B829-17B10D4AA51A}" type="slidenum">
              <a:rPr lang="en-US"/>
              <a:pPr/>
              <a:t>17</a:t>
            </a:fld>
            <a:endParaRPr lang="en-US"/>
          </a:p>
        </p:txBody>
      </p:sp>
      <p:sp>
        <p:nvSpPr>
          <p:cNvPr id="1411074"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411075"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4034691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415BA01-EC9B-B149-8128-AC50867EAEB7}" type="slidenum">
              <a:rPr lang="en-US"/>
              <a:pPr/>
              <a:t>18</a:t>
            </a:fld>
            <a:endParaRPr lang="en-US"/>
          </a:p>
        </p:txBody>
      </p:sp>
      <p:sp>
        <p:nvSpPr>
          <p:cNvPr id="1413122"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1312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1540426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DA1E4F3-EB87-9D4A-B05B-15B9CA8BB48F}" type="slidenum">
              <a:rPr lang="en-US"/>
              <a:pPr/>
              <a:t>19</a:t>
            </a:fld>
            <a:endParaRPr lang="en-US"/>
          </a:p>
        </p:txBody>
      </p:sp>
      <p:sp>
        <p:nvSpPr>
          <p:cNvPr id="1415170"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15171"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048178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E067B70-70EF-4ED6-B9A0-FA69C28A04D7}" type="slidenum">
              <a:rPr lang="en-GB" altLang="zh-CN"/>
              <a:pPr/>
              <a:t>23</a:t>
            </a:fld>
            <a:endParaRPr lang="en-GB" altLang="zh-CN"/>
          </a:p>
        </p:txBody>
      </p:sp>
      <p:sp>
        <p:nvSpPr>
          <p:cNvPr id="38914" name="Rectangle 2"/>
          <p:cNvSpPr>
            <a:spLocks noGrp="1" noRot="1" noChangeAspect="1" noChangeArrowheads="1" noTextEdit="1"/>
          </p:cNvSpPr>
          <p:nvPr>
            <p:ph type="sldImg"/>
          </p:nvPr>
        </p:nvSpPr>
        <p:spPr bwMode="auto">
          <a:xfrm>
            <a:off x="382588" y="693738"/>
            <a:ext cx="6091237" cy="3427412"/>
          </a:xfrm>
          <a:prstGeom prst="rect">
            <a:avLst/>
          </a:prstGeom>
          <a:solidFill>
            <a:srgbClr val="FFFFFF"/>
          </a:solidFill>
          <a:ln>
            <a:solidFill>
              <a:srgbClr val="000000"/>
            </a:solidFill>
            <a:miter lim="800000"/>
            <a:headEnd/>
            <a:tailEnd/>
          </a:ln>
        </p:spPr>
      </p:sp>
      <p:sp>
        <p:nvSpPr>
          <p:cNvPr id="38915" name="Rectangle 3"/>
          <p:cNvSpPr>
            <a:spLocks noGrp="1" noChangeArrowheads="1"/>
          </p:cNvSpPr>
          <p:nvPr>
            <p:ph type="body" idx="1"/>
          </p:nvPr>
        </p:nvSpPr>
        <p:spPr bwMode="auto">
          <a:xfrm>
            <a:off x="686112" y="4342150"/>
            <a:ext cx="5485778" cy="4113861"/>
          </a:xfrm>
          <a:prstGeom prst="rect">
            <a:avLst/>
          </a:prstGeom>
          <a:solidFill>
            <a:srgbClr val="FFFFFF"/>
          </a:solidFill>
          <a:ln>
            <a:solidFill>
              <a:srgbClr val="000000"/>
            </a:solidFill>
            <a:miter lim="800000"/>
            <a:headEnd/>
            <a:tailEnd/>
          </a:ln>
        </p:spPr>
        <p:txBody>
          <a:bodyPr lIns="82058" tIns="41029" rIns="82058" bIns="41029"/>
          <a:lstStyle/>
          <a:p>
            <a:endParaRPr lang="en-US"/>
          </a:p>
        </p:txBody>
      </p:sp>
    </p:spTree>
    <p:extLst>
      <p:ext uri="{BB962C8B-B14F-4D97-AF65-F5344CB8AC3E}">
        <p14:creationId xmlns:p14="http://schemas.microsoft.com/office/powerpoint/2010/main" val="262391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E54B860-055E-4FE6-948F-254571D549E8}" type="slidenum">
              <a:rPr lang="en-GB" altLang="zh-CN"/>
              <a:pPr/>
              <a:t>27</a:t>
            </a:fld>
            <a:endParaRPr lang="en-GB" altLang="zh-CN"/>
          </a:p>
        </p:txBody>
      </p:sp>
      <p:sp>
        <p:nvSpPr>
          <p:cNvPr id="19457"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p:spPr>
      </p:sp>
      <p:sp>
        <p:nvSpPr>
          <p:cNvPr id="19458" name="Text Box 2"/>
          <p:cNvSpPr txBox="1">
            <a:spLocks noGrp="1" noChangeArrowheads="1"/>
          </p:cNvSpPr>
          <p:nvPr>
            <p:ph type="body" idx="1"/>
          </p:nvPr>
        </p:nvSpPr>
        <p:spPr bwMode="auto">
          <a:xfrm>
            <a:off x="686112" y="4342149"/>
            <a:ext cx="5487333" cy="4032554"/>
          </a:xfrm>
          <a:prstGeom prst="rect">
            <a:avLst/>
          </a:prstGeom>
          <a:noFill/>
          <a:ln>
            <a:round/>
            <a:headEnd/>
            <a:tailEnd/>
          </a:ln>
        </p:spPr>
        <p:txBody>
          <a:bodyPr wrap="none" lIns="82058" tIns="41029" rIns="82058" bIns="41029" anchor="ctr"/>
          <a:lstStyle/>
          <a:p>
            <a:endParaRPr lang="en-US" dirty="0"/>
          </a:p>
        </p:txBody>
      </p:sp>
    </p:spTree>
    <p:extLst>
      <p:ext uri="{BB962C8B-B14F-4D97-AF65-F5344CB8AC3E}">
        <p14:creationId xmlns:p14="http://schemas.microsoft.com/office/powerpoint/2010/main" val="3144936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066A6DE-1646-4A7B-AB57-23D8E5E515A8}" type="slidenum">
              <a:rPr lang="en-GB" altLang="zh-CN"/>
              <a:pPr/>
              <a:t>28</a:t>
            </a:fld>
            <a:endParaRPr lang="en-GB" altLang="zh-CN"/>
          </a:p>
        </p:txBody>
      </p:sp>
      <p:sp>
        <p:nvSpPr>
          <p:cNvPr id="41986"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p:spPr>
      </p:sp>
      <p:sp>
        <p:nvSpPr>
          <p:cNvPr id="41987" name="Text Box 3"/>
          <p:cNvSpPr txBox="1">
            <a:spLocks noGrp="1" noChangeArrowheads="1"/>
          </p:cNvSpPr>
          <p:nvPr>
            <p:ph type="body" idx="1"/>
          </p:nvPr>
        </p:nvSpPr>
        <p:spPr bwMode="auto">
          <a:xfrm>
            <a:off x="686112" y="4342149"/>
            <a:ext cx="5487333" cy="4032554"/>
          </a:xfrm>
          <a:prstGeom prst="rect">
            <a:avLst/>
          </a:prstGeom>
          <a:noFill/>
          <a:ln>
            <a:round/>
            <a:headEnd/>
            <a:tailEnd/>
          </a:ln>
        </p:spPr>
        <p:txBody>
          <a:bodyPr wrap="none" lIns="82058" tIns="41029" rIns="82058" bIns="41029" anchor="ctr"/>
          <a:lstStyle/>
          <a:p>
            <a:endParaRPr lang="en-US" dirty="0"/>
          </a:p>
        </p:txBody>
      </p:sp>
    </p:spTree>
    <p:extLst>
      <p:ext uri="{BB962C8B-B14F-4D97-AF65-F5344CB8AC3E}">
        <p14:creationId xmlns:p14="http://schemas.microsoft.com/office/powerpoint/2010/main" val="3438056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B641480-60EC-49B9-AC6A-FDC329D90811}" type="slidenum">
              <a:rPr lang="en-GB" altLang="zh-CN"/>
              <a:pPr/>
              <a:t>29</a:t>
            </a:fld>
            <a:endParaRPr lang="en-GB" altLang="zh-CN"/>
          </a:p>
        </p:txBody>
      </p:sp>
      <p:sp>
        <p:nvSpPr>
          <p:cNvPr id="54274" name="Text Box 2"/>
          <p:cNvSpPr txBox="1">
            <a:spLocks noChangeArrowheads="1"/>
          </p:cNvSpPr>
          <p:nvPr/>
        </p:nvSpPr>
        <p:spPr bwMode="auto">
          <a:xfrm>
            <a:off x="1210419" y="694244"/>
            <a:ext cx="4437163" cy="3429000"/>
          </a:xfrm>
          <a:prstGeom prst="rect">
            <a:avLst/>
          </a:prstGeom>
          <a:solidFill>
            <a:srgbClr val="FFFFFF"/>
          </a:solidFill>
          <a:ln w="9360">
            <a:solidFill>
              <a:srgbClr val="000000"/>
            </a:solidFill>
            <a:miter lim="800000"/>
            <a:headEnd/>
            <a:tailEnd/>
          </a:ln>
          <a:effectLst/>
        </p:spPr>
        <p:txBody>
          <a:bodyPr wrap="none" lIns="89867" tIns="44934" rIns="89867" bIns="44934" anchor="ctr"/>
          <a:lstStyle/>
          <a:p>
            <a:endParaRPr lang="zh-CN" altLang="en-US"/>
          </a:p>
        </p:txBody>
      </p:sp>
      <p:sp>
        <p:nvSpPr>
          <p:cNvPr id="54275" name="Rectangle 3"/>
          <p:cNvSpPr txBox="1">
            <a:spLocks noGrp="1" noChangeArrowheads="1"/>
          </p:cNvSpPr>
          <p:nvPr>
            <p:ph type="body"/>
          </p:nvPr>
        </p:nvSpPr>
        <p:spPr bwMode="auto">
          <a:xfrm>
            <a:off x="686112" y="4342150"/>
            <a:ext cx="5482666" cy="4110734"/>
          </a:xfrm>
          <a:prstGeom prst="rect">
            <a:avLst/>
          </a:prstGeom>
          <a:noFill/>
          <a:ln>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3100384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F3A56BE-6D19-F446-9F6F-DD871EDD28C6}" type="slidenum">
              <a:rPr lang="en-US"/>
              <a:pPr/>
              <a:t>30</a:t>
            </a:fld>
            <a:endParaRPr lang="en-US"/>
          </a:p>
        </p:txBody>
      </p:sp>
      <p:sp>
        <p:nvSpPr>
          <p:cNvPr id="1419266"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19267"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24816708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9E6D46A-3919-BE42-839B-CD4DD4451145}" type="slidenum">
              <a:rPr lang="en-US"/>
              <a:pPr/>
              <a:t>31</a:t>
            </a:fld>
            <a:endParaRPr lang="en-US"/>
          </a:p>
        </p:txBody>
      </p:sp>
      <p:sp>
        <p:nvSpPr>
          <p:cNvPr id="1421314"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21315"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214842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8E9D1D6-7C0A-AF42-B02D-5B597CFAFB4B}" type="slidenum">
              <a:rPr lang="en-US"/>
              <a:pPr/>
              <a:t>32</a:t>
            </a:fld>
            <a:endParaRPr lang="en-US"/>
          </a:p>
        </p:txBody>
      </p:sp>
      <p:sp>
        <p:nvSpPr>
          <p:cNvPr id="1423362" name="Rectangle 2"/>
          <p:cNvSpPr>
            <a:spLocks noGrp="1" noRot="1" noChangeAspect="1" noChangeArrowheads="1" noTextEdit="1"/>
          </p:cNvSpPr>
          <p:nvPr>
            <p:ph type="sldImg"/>
          </p:nvPr>
        </p:nvSpPr>
        <p:spPr bwMode="auto">
          <a:xfrm>
            <a:off x="392113" y="692150"/>
            <a:ext cx="6075362" cy="3417888"/>
          </a:xfrm>
          <a:prstGeom prst="rect">
            <a:avLst/>
          </a:prstGeom>
          <a:solidFill>
            <a:srgbClr val="FFFFFF"/>
          </a:solidFill>
          <a:ln>
            <a:solidFill>
              <a:srgbClr val="000000"/>
            </a:solidFill>
            <a:miter lim="800000"/>
            <a:headEnd/>
            <a:tailEnd/>
          </a:ln>
        </p:spPr>
      </p:sp>
      <p:sp>
        <p:nvSpPr>
          <p:cNvPr id="142336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893944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A3CD27B-3DEC-D543-944B-AF992E332B8D}" type="slidenum">
              <a:rPr lang="en-US"/>
              <a:pPr/>
              <a:t>33</a:t>
            </a:fld>
            <a:endParaRPr lang="en-US"/>
          </a:p>
        </p:txBody>
      </p:sp>
      <p:sp>
        <p:nvSpPr>
          <p:cNvPr id="1425410"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25411"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2879729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24D462B-3178-824E-A505-B855EC6A70E1}" type="slidenum">
              <a:rPr lang="en-US"/>
              <a:pPr/>
              <a:t>34</a:t>
            </a:fld>
            <a:endParaRPr lang="en-US"/>
          </a:p>
        </p:txBody>
      </p:sp>
      <p:sp>
        <p:nvSpPr>
          <p:cNvPr id="1427458"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27459"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5876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7EF0CEB-DCA4-4544-A354-C40059C45949}" type="slidenum">
              <a:rPr lang="en-US"/>
              <a:pPr/>
              <a:t>35</a:t>
            </a:fld>
            <a:endParaRPr lang="en-US"/>
          </a:p>
        </p:txBody>
      </p:sp>
      <p:sp>
        <p:nvSpPr>
          <p:cNvPr id="1429506"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29507"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563338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BD32AE20-161D-FE40-8B90-64A9571771D3}" type="slidenum">
              <a:rPr lang="en-US"/>
              <a:pPr/>
              <a:t>36</a:t>
            </a:fld>
            <a:endParaRPr lang="en-US"/>
          </a:p>
        </p:txBody>
      </p:sp>
      <p:sp>
        <p:nvSpPr>
          <p:cNvPr id="1447938" name="Rectangle 2"/>
          <p:cNvSpPr>
            <a:spLocks noGrp="1" noRot="1" noChangeAspect="1" noChangeArrowheads="1" noTextEdit="1"/>
          </p:cNvSpPr>
          <p:nvPr>
            <p:ph type="sldImg"/>
          </p:nvPr>
        </p:nvSpPr>
        <p:spPr bwMode="auto">
          <a:xfrm>
            <a:off x="392113" y="692150"/>
            <a:ext cx="6075362" cy="3417888"/>
          </a:xfrm>
          <a:prstGeom prst="rect">
            <a:avLst/>
          </a:prstGeom>
          <a:solidFill>
            <a:srgbClr val="FFFFFF"/>
          </a:solidFill>
          <a:ln>
            <a:solidFill>
              <a:srgbClr val="000000"/>
            </a:solidFill>
            <a:miter lim="800000"/>
            <a:headEnd/>
            <a:tailEnd/>
          </a:ln>
        </p:spPr>
      </p:sp>
      <p:sp>
        <p:nvSpPr>
          <p:cNvPr id="1447939"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9906790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0AE6807-FA9C-0C4A-B7E6-62DDF16D23C7}" type="slidenum">
              <a:rPr lang="en-US"/>
              <a:pPr/>
              <a:t>38</a:t>
            </a:fld>
            <a:endParaRPr lang="en-US"/>
          </a:p>
        </p:txBody>
      </p:sp>
      <p:sp>
        <p:nvSpPr>
          <p:cNvPr id="1431554"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31555"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3228927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FE60C86-E1C5-0542-A1CD-7547F5283B6D}" type="slidenum">
              <a:rPr lang="en-US"/>
              <a:pPr/>
              <a:t>39</a:t>
            </a:fld>
            <a:endParaRPr lang="en-US"/>
          </a:p>
        </p:txBody>
      </p:sp>
      <p:sp>
        <p:nvSpPr>
          <p:cNvPr id="1454082" name="Rectangle 2"/>
          <p:cNvSpPr>
            <a:spLocks noGrp="1" noRot="1" noChangeAspect="1" noChangeArrowheads="1" noTextEdit="1"/>
          </p:cNvSpPr>
          <p:nvPr>
            <p:ph type="sldImg"/>
          </p:nvPr>
        </p:nvSpPr>
        <p:spPr bwMode="auto">
          <a:xfrm>
            <a:off x="392113" y="692150"/>
            <a:ext cx="6075362" cy="3417888"/>
          </a:xfrm>
          <a:prstGeom prst="rect">
            <a:avLst/>
          </a:prstGeom>
          <a:solidFill>
            <a:srgbClr val="FFFFFF"/>
          </a:solidFill>
          <a:ln>
            <a:solidFill>
              <a:srgbClr val="000000"/>
            </a:solidFill>
            <a:miter lim="800000"/>
            <a:headEnd/>
            <a:tailEnd/>
          </a:ln>
        </p:spPr>
      </p:sp>
      <p:sp>
        <p:nvSpPr>
          <p:cNvPr id="145408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sz="1300" dirty="0"/>
          </a:p>
        </p:txBody>
      </p:sp>
    </p:spTree>
    <p:extLst>
      <p:ext uri="{BB962C8B-B14F-4D97-AF65-F5344CB8AC3E}">
        <p14:creationId xmlns:p14="http://schemas.microsoft.com/office/powerpoint/2010/main" val="3242366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22A6153-D940-B941-9FEB-75DF18D7233C}" type="slidenum">
              <a:rPr lang="en-US"/>
              <a:pPr/>
              <a:t>40</a:t>
            </a:fld>
            <a:endParaRPr lang="en-US"/>
          </a:p>
        </p:txBody>
      </p:sp>
      <p:sp>
        <p:nvSpPr>
          <p:cNvPr id="1433602"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33603"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41948425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4E29FCF-1AA0-B14F-B39D-F3506F79DDAC}" type="slidenum">
              <a:rPr lang="en-US"/>
              <a:pPr/>
              <a:t>41</a:t>
            </a:fld>
            <a:endParaRPr lang="en-US"/>
          </a:p>
        </p:txBody>
      </p:sp>
      <p:sp>
        <p:nvSpPr>
          <p:cNvPr id="1435650"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1994372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05B8A93-6FF3-EB43-8435-B998100E963D}" type="slidenum">
              <a:rPr lang="en-US"/>
              <a:pPr/>
              <a:t>42</a:t>
            </a:fld>
            <a:endParaRPr lang="en-US"/>
          </a:p>
        </p:txBody>
      </p:sp>
      <p:sp>
        <p:nvSpPr>
          <p:cNvPr id="1437698"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37699"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1096669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F44EABD-811E-5E47-AC28-9A3AF13E2ABF}" type="slidenum">
              <a:rPr lang="en-US"/>
              <a:pPr/>
              <a:t>43</a:t>
            </a:fld>
            <a:endParaRPr lang="en-US"/>
          </a:p>
        </p:txBody>
      </p:sp>
      <p:sp>
        <p:nvSpPr>
          <p:cNvPr id="1439746"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39747"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1811810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41BC802-E946-0644-BFCB-C670554C2B7F}" type="slidenum">
              <a:rPr lang="en-US"/>
              <a:pPr/>
              <a:t>44</a:t>
            </a:fld>
            <a:endParaRPr lang="en-US"/>
          </a:p>
        </p:txBody>
      </p:sp>
      <p:sp>
        <p:nvSpPr>
          <p:cNvPr id="1441794" name="Rectangle 2"/>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1441795" name="Rectangle 3"/>
          <p:cNvSpPr>
            <a:spLocks noGrp="1" noChangeArrowheads="1"/>
          </p:cNvSpPr>
          <p:nvPr>
            <p:ph type="body" idx="1"/>
          </p:nvPr>
        </p:nvSpPr>
        <p:spPr bwMode="auto">
          <a:xfrm>
            <a:off x="912318" y="4340679"/>
            <a:ext cx="5031878" cy="4116916"/>
          </a:xfrm>
          <a:prstGeom prst="rect">
            <a:avLst/>
          </a:prstGeom>
          <a:solidFill>
            <a:srgbClr val="FFFFFF"/>
          </a:solidFill>
          <a:ln>
            <a:solidFill>
              <a:srgbClr val="000000"/>
            </a:solidFill>
            <a:miter lim="800000"/>
            <a:headEnd/>
            <a:tailEnd/>
          </a:ln>
        </p:spPr>
        <p:txBody>
          <a:bodyPr lIns="90177" tIns="45089" rIns="90177" bIns="45089">
            <a:prstTxWarp prst="textNoShape">
              <a:avLst/>
            </a:prstTxWarp>
          </a:bodyPr>
          <a:lstStyle/>
          <a:p>
            <a:endParaRPr lang="en-US" dirty="0"/>
          </a:p>
        </p:txBody>
      </p:sp>
    </p:spTree>
    <p:extLst>
      <p:ext uri="{BB962C8B-B14F-4D97-AF65-F5344CB8AC3E}">
        <p14:creationId xmlns:p14="http://schemas.microsoft.com/office/powerpoint/2010/main" val="19989476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F6F5BEE-306F-0346-B5D0-78CA7A41F73E}" type="slidenum">
              <a:rPr lang="en-US"/>
              <a:pPr/>
              <a:t>46</a:t>
            </a:fld>
            <a:endParaRPr lang="en-US"/>
          </a:p>
        </p:txBody>
      </p:sp>
      <p:sp>
        <p:nvSpPr>
          <p:cNvPr id="1449986"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49987"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27099817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3.32 The parallel benchmarks used here to examine multithreading, as well as in Chapter 5 to examine multiprocessing with an i7. </a:t>
            </a:r>
            <a:r>
              <a:rPr lang="en-US" altLang="en-US" sz="1200" dirty="0" smtClean="0"/>
              <a:t>The top half of the chart consists of PARSEC benchmarks collected by </a:t>
            </a:r>
            <a:r>
              <a:rPr lang="en-US" altLang="en-US" sz="1200" dirty="0" err="1" smtClean="0"/>
              <a:t>Bienia</a:t>
            </a:r>
            <a:r>
              <a:rPr lang="en-US" altLang="en-US" sz="1200" dirty="0" smtClean="0"/>
              <a:t> et al. (2008). The PARSEC benchmarks are meant to be indicative of compute-intensive, parallel applications that would be appropriate for multicore processors. The lower half consists of multithreaded Java benchmarks from the DaCapo collection (see Blackburn et al., 2006) and pjbb2005 from SPEC. All of these benchmarks contain some parallelism; other Java benchmarks in the DaCapo and SPEC Java workloads use multiple threads but have little or no true parallelism and, hence, are not used here. See </a:t>
            </a:r>
            <a:r>
              <a:rPr lang="en-US" altLang="en-US" sz="1200" dirty="0" err="1" smtClean="0"/>
              <a:t>Esmaeilzadeh</a:t>
            </a:r>
            <a:r>
              <a:rPr lang="en-US" altLang="en-US" sz="1200" dirty="0" smtClean="0"/>
              <a:t> et al. (2011) for additional information on the characteristics of these benchmarks, relative to the measurements here and in Chapter 5.</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47</a:t>
            </a:fld>
            <a:endParaRPr lang="en-US" altLang="zh-CN"/>
          </a:p>
        </p:txBody>
      </p:sp>
    </p:spTree>
    <p:extLst>
      <p:ext uri="{BB962C8B-B14F-4D97-AF65-F5344CB8AC3E}">
        <p14:creationId xmlns:p14="http://schemas.microsoft.com/office/powerpoint/2010/main" val="37783959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3.33 The speedup from using multithreading on one core on an i7 processor averages 1.28 for the Java benchmarks and 1.31 for the PARSEC benchmarks (using an unweighted harmonic mean, which implies a workload where the total time spent executing each benchmark in the single-threaded base set was the same). </a:t>
            </a:r>
            <a:r>
              <a:rPr lang="en-US" altLang="en-US" sz="1200" dirty="0" smtClean="0"/>
              <a:t>The energy efficiency averages 0.99 and 1.07, respectively (using the harmonic mean). Recall that anything above 1.0 for energy efficiency indicates that the feature reduces execution time by more than it increases average power. Two of the Java benchmarks experience little speedup and have significant negative energy efficiency because of this issue. Turbo Boost is off in all cases. These data were collected and analyzed by </a:t>
            </a:r>
            <a:r>
              <a:rPr lang="en-US" altLang="en-US" sz="1200" dirty="0" err="1" smtClean="0"/>
              <a:t>Esmaeilzadeh</a:t>
            </a:r>
            <a:r>
              <a:rPr lang="en-US" altLang="en-US" sz="1200" dirty="0" smtClean="0"/>
              <a:t> et al. (2011) using the Oracle (Sun) </a:t>
            </a:r>
            <a:r>
              <a:rPr lang="en-US" altLang="en-US" sz="1200" dirty="0" err="1" smtClean="0"/>
              <a:t>HotSpot</a:t>
            </a:r>
            <a:r>
              <a:rPr lang="en-US" altLang="en-US" sz="1200" dirty="0" smtClean="0"/>
              <a:t> build 16.3-b01 Java 1.6.0 Virtual Machine and the </a:t>
            </a:r>
            <a:r>
              <a:rPr lang="en-US" altLang="en-US" sz="1200" dirty="0" err="1" smtClean="0"/>
              <a:t>gcc</a:t>
            </a:r>
            <a:r>
              <a:rPr lang="en-US" altLang="en-US" sz="1200" dirty="0" smtClean="0"/>
              <a:t> v4.4.1 native compiler.</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48</a:t>
            </a:fld>
            <a:endParaRPr lang="en-US" altLang="zh-CN"/>
          </a:p>
        </p:txBody>
      </p:sp>
    </p:spTree>
    <p:extLst>
      <p:ext uri="{BB962C8B-B14F-4D97-AF65-F5344CB8AC3E}">
        <p14:creationId xmlns:p14="http://schemas.microsoft.com/office/powerpoint/2010/main" val="3587294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5.25 A comparison of SMT and single-thread (ST) performance on the 8-processor IBM eServer p5 575 using </a:t>
            </a:r>
            <a:r>
              <a:rPr lang="en-US" altLang="zh-CN" dirty="0" err="1" smtClean="0"/>
              <a:t>SPECfpRate</a:t>
            </a:r>
            <a:r>
              <a:rPr lang="en-US" altLang="zh-CN" dirty="0" smtClean="0"/>
              <a:t> (top half) and </a:t>
            </a:r>
            <a:r>
              <a:rPr lang="en-US" altLang="zh-CN" dirty="0" err="1" smtClean="0"/>
              <a:t>SPECintRate</a:t>
            </a:r>
            <a:r>
              <a:rPr lang="en-US" altLang="zh-CN" dirty="0" smtClean="0"/>
              <a:t> (bottom half) as benchmarks. Note that the x-axis starts at a speedup of 0.9, a performance loss. Only one processor in each Power5 core is active, which should slightly improve the results from SMT by decreasing destructive interference in the memory system. The SMT results are obtained by creating 16 user threads, whereas the ST results use only eight threads; with only one thread per processor, the Power5 is switched to single-threaded mode by the OS. These results were collected by John </a:t>
            </a:r>
            <a:r>
              <a:rPr lang="en-US" altLang="zh-CN" dirty="0" err="1" smtClean="0"/>
              <a:t>McCalpin</a:t>
            </a:r>
            <a:r>
              <a:rPr lang="en-US" altLang="zh-CN" dirty="0" smtClean="0"/>
              <a:t> at IBM. As we can see from the data, the standard deviation of the results for the </a:t>
            </a:r>
            <a:r>
              <a:rPr lang="en-US" altLang="zh-CN" dirty="0" err="1" smtClean="0"/>
              <a:t>SPECfpRate</a:t>
            </a:r>
            <a:r>
              <a:rPr lang="en-US" altLang="zh-CN" dirty="0" smtClean="0"/>
              <a:t> is higher than for </a:t>
            </a:r>
            <a:r>
              <a:rPr lang="en-US" altLang="zh-CN" dirty="0" err="1" smtClean="0"/>
              <a:t>SPECintRate</a:t>
            </a:r>
            <a:r>
              <a:rPr lang="en-US" altLang="zh-CN" dirty="0" smtClean="0"/>
              <a:t> (0.13 versus 0.07), indicating that the SMT improvement for FP programs is likely to vary widely.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49</a:t>
            </a:fld>
            <a:endParaRPr lang="en-US" altLang="zh-CN"/>
          </a:p>
        </p:txBody>
      </p:sp>
    </p:spTree>
    <p:extLst>
      <p:ext uri="{BB962C8B-B14F-4D97-AF65-F5344CB8AC3E}">
        <p14:creationId xmlns:p14="http://schemas.microsoft.com/office/powerpoint/2010/main" val="19932354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46291D4-1CCE-7440-8B6F-ADAC7B832205}" type="slidenum">
              <a:rPr lang="en-US"/>
              <a:pPr/>
              <a:t>50</a:t>
            </a:fld>
            <a:endParaRPr lang="en-US"/>
          </a:p>
        </p:txBody>
      </p:sp>
      <p:sp>
        <p:nvSpPr>
          <p:cNvPr id="1458178" name="Rectangle 2"/>
          <p:cNvSpPr>
            <a:spLocks noGrp="1" noRot="1" noChangeAspect="1" noChangeArrowheads="1"/>
          </p:cNvSpPr>
          <p:nvPr>
            <p:ph type="sldImg"/>
          </p:nvPr>
        </p:nvSpPr>
        <p:spPr bwMode="auto">
          <a:xfrm>
            <a:off x="723900" y="879475"/>
            <a:ext cx="5410200" cy="3043238"/>
          </a:xfrm>
          <a:prstGeom prst="rect">
            <a:avLst/>
          </a:prstGeom>
          <a:solidFill>
            <a:srgbClr val="FFFFFF"/>
          </a:solidFill>
          <a:ln>
            <a:solidFill>
              <a:srgbClr val="000000"/>
            </a:solidFill>
            <a:miter lim="800000"/>
            <a:headEnd/>
            <a:tailEnd/>
          </a:ln>
        </p:spPr>
      </p:sp>
      <p:sp>
        <p:nvSpPr>
          <p:cNvPr id="1458179" name="Rectangle 3"/>
          <p:cNvSpPr>
            <a:spLocks noGrp="1" noChangeArrowheads="1"/>
          </p:cNvSpPr>
          <p:nvPr>
            <p:ph type="body" idx="1"/>
          </p:nvPr>
        </p:nvSpPr>
        <p:spPr bwMode="auto">
          <a:xfrm>
            <a:off x="913805" y="4342191"/>
            <a:ext cx="5030391" cy="4115405"/>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p>
        </p:txBody>
      </p:sp>
    </p:spTree>
    <p:extLst>
      <p:ext uri="{BB962C8B-B14F-4D97-AF65-F5344CB8AC3E}">
        <p14:creationId xmlns:p14="http://schemas.microsoft.com/office/powerpoint/2010/main" val="29831780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E68613F2-E73A-4199-A76F-C99A6D6AB336}" type="slidenum">
              <a:rPr lang="en-US" altLang="en-US">
                <a:solidFill>
                  <a:srgbClr val="000000"/>
                </a:solidFill>
                <a:latin typeface="Times New Roman" panose="02020603050405020304" pitchFamily="18" charset="0"/>
              </a:rPr>
              <a:pPr>
                <a:lnSpc>
                  <a:spcPct val="95000"/>
                </a:lnSpc>
              </a:pPr>
              <a:t>59</a:t>
            </a:fld>
            <a:endParaRPr lang="en-US" altLang="en-US">
              <a:solidFill>
                <a:srgbClr val="000000"/>
              </a:solidFill>
              <a:latin typeface="Times New Roman" panose="02020603050405020304" pitchFamily="18" charset="0"/>
            </a:endParaRPr>
          </a:p>
        </p:txBody>
      </p:sp>
      <p:sp>
        <p:nvSpPr>
          <p:cNvPr id="1126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5.3 The cache coherence problem for a single memory location (X), read and written by two processors (A and B). We initially assume that neither cache contains the variable and that X has the value 1. We also assume a write-through cache; a write-back cache adds some additional but similar complications. After the value of X has been written by A, A's cache and the memory both contain the new value, but B's cache does not, and if B reads the value of X it will receive 1!.</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195644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60</a:t>
            </a:fld>
            <a:endParaRPr lang="en-US" altLang="zh-CN"/>
          </a:p>
        </p:txBody>
      </p:sp>
    </p:spTree>
    <p:extLst>
      <p:ext uri="{BB962C8B-B14F-4D97-AF65-F5344CB8AC3E}">
        <p14:creationId xmlns:p14="http://schemas.microsoft.com/office/powerpoint/2010/main" val="6903333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61</a:t>
            </a:fld>
            <a:endParaRPr lang="en-US" altLang="zh-CN"/>
          </a:p>
        </p:txBody>
      </p:sp>
    </p:spTree>
    <p:extLst>
      <p:ext uri="{BB962C8B-B14F-4D97-AF65-F5344CB8AC3E}">
        <p14:creationId xmlns:p14="http://schemas.microsoft.com/office/powerpoint/2010/main" val="24395670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1049421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65</a:t>
            </a:fld>
            <a:endParaRPr lang="en-US" altLang="zh-CN"/>
          </a:p>
        </p:txBody>
      </p:sp>
    </p:spTree>
    <p:extLst>
      <p:ext uri="{BB962C8B-B14F-4D97-AF65-F5344CB8AC3E}">
        <p14:creationId xmlns:p14="http://schemas.microsoft.com/office/powerpoint/2010/main" val="37380856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66</a:t>
            </a:fld>
            <a:endParaRPr lang="en-US" altLang="zh-CN"/>
          </a:p>
        </p:txBody>
      </p:sp>
    </p:spTree>
    <p:extLst>
      <p:ext uri="{BB962C8B-B14F-4D97-AF65-F5344CB8AC3E}">
        <p14:creationId xmlns:p14="http://schemas.microsoft.com/office/powerpoint/2010/main" val="17058721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80</a:t>
            </a:fld>
            <a:endParaRPr lang="en-US" altLang="zh-CN"/>
          </a:p>
        </p:txBody>
      </p:sp>
    </p:spTree>
    <p:extLst>
      <p:ext uri="{BB962C8B-B14F-4D97-AF65-F5344CB8AC3E}">
        <p14:creationId xmlns:p14="http://schemas.microsoft.com/office/powerpoint/2010/main" val="14055139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A3C8EC17-F1F1-4075-ABA9-D3774169E830}" type="slidenum">
              <a:rPr lang="en-US" altLang="en-US">
                <a:solidFill>
                  <a:srgbClr val="000000"/>
                </a:solidFill>
                <a:latin typeface="Times New Roman" panose="02020603050405020304" pitchFamily="18" charset="0"/>
              </a:rPr>
              <a:pPr>
                <a:lnSpc>
                  <a:spcPct val="95000"/>
                </a:lnSpc>
              </a:pPr>
              <a:t>81</a:t>
            </a:fld>
            <a:endParaRPr lang="en-US" altLang="en-US">
              <a:solidFill>
                <a:srgbClr val="000000"/>
              </a:solidFill>
              <a:latin typeface="Times New Roman" panose="02020603050405020304" pitchFamily="18" charset="0"/>
            </a:endParaRPr>
          </a:p>
        </p:txBody>
      </p:sp>
      <p:sp>
        <p:nvSpPr>
          <p:cNvPr id="133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5.4 An example of an invalidation protocol working on a snooping bus for a single cache block (X) with write-back caches. We assume that neither cache initially holds X and that the value of X in memory is 0. The processor and memory contents show the value after the processor and bus activity have both completed. A blank indicates no activity or no copy cached. When the second miss by B occurs, processor A responds with the value canceling the response from memory. In addition, both the contents of B's cache and the memory contents of X are updated. This update of memory, which occurs when a block becomes shared, simplifies the protocol, but it is possible to track the ownership and force the write-back only if the block is replaced. This requires the introduction of an additional status bit indicating ownership of a block. The ownership bit indicates that a block may be shared for reads, but only the owning processor can write the block, and that processor is responsible for updating any other processors and memory when it changes the block or replaces it. If a multicore uses a shared cache (e.g., L3), then all memory is seen through the shared cache; L3 acts like the memory in this example, and coherency must be handled for the private L1 and L2 caches for each core. It is this observation that led some designers to opt for a directory protocol within the multicore. To make this work, the L3 cache must be inclusive; recall from Chapter 2, that a cache is inclusive if any location in a higher level cache (L1 and L2 in this case) is also in L3. We return to the topic of inclusion on page 423.</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4983504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90</a:t>
            </a:fld>
            <a:endParaRPr lang="en-US" altLang="zh-CN"/>
          </a:p>
        </p:txBody>
      </p:sp>
    </p:spTree>
    <p:extLst>
      <p:ext uri="{BB962C8B-B14F-4D97-AF65-F5344CB8AC3E}">
        <p14:creationId xmlns:p14="http://schemas.microsoft.com/office/powerpoint/2010/main" val="37756211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93</a:t>
            </a:fld>
            <a:endParaRPr lang="en-US" altLang="zh-CN"/>
          </a:p>
        </p:txBody>
      </p:sp>
    </p:spTree>
    <p:extLst>
      <p:ext uri="{BB962C8B-B14F-4D97-AF65-F5344CB8AC3E}">
        <p14:creationId xmlns:p14="http://schemas.microsoft.com/office/powerpoint/2010/main" val="34148865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96</a:t>
            </a:fld>
            <a:endParaRPr lang="en-US" altLang="zh-CN"/>
          </a:p>
        </p:txBody>
      </p:sp>
    </p:spTree>
    <p:extLst>
      <p:ext uri="{BB962C8B-B14F-4D97-AF65-F5344CB8AC3E}">
        <p14:creationId xmlns:p14="http://schemas.microsoft.com/office/powerpoint/2010/main" val="15447199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97</a:t>
            </a:fld>
            <a:endParaRPr lang="en-US" altLang="zh-CN"/>
          </a:p>
        </p:txBody>
      </p:sp>
    </p:spTree>
    <p:extLst>
      <p:ext uri="{BB962C8B-B14F-4D97-AF65-F5344CB8AC3E}">
        <p14:creationId xmlns:p14="http://schemas.microsoft.com/office/powerpoint/2010/main" val="36918981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F4CC0326-DFBE-4CE4-8D16-E3A1529D109E}" type="slidenum">
              <a:rPr lang="en-US" altLang="en-US">
                <a:solidFill>
                  <a:srgbClr val="000000"/>
                </a:solidFill>
                <a:latin typeface="Times New Roman" panose="02020603050405020304" pitchFamily="18" charset="0"/>
              </a:rPr>
              <a:pPr>
                <a:lnSpc>
                  <a:spcPct val="95000"/>
                </a:lnSpc>
              </a:pPr>
              <a:t>99</a:t>
            </a:fld>
            <a:endParaRPr lang="en-US" altLang="en-US">
              <a:solidFill>
                <a:srgbClr val="000000"/>
              </a:solidFill>
              <a:latin typeface="Times New Roman" panose="02020603050405020304" pitchFamily="18" charset="0"/>
            </a:endParaRPr>
          </a:p>
        </p:txBody>
      </p:sp>
      <p:sp>
        <p:nvSpPr>
          <p:cNvPr id="153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5.5 The cache coherence mechanism receives requests from both the core's processor and the shared bus and responds to these based on the type of request, whether it hits or misses in the local cache, and the state of the local cache block specified in the request. The fourth column describes the type of cache action as normal hit or miss (the same as a uniprocessor cache would see), replacement (a uniprocessor cache replacement miss), or coherence (required to maintain cache coherence); a normal or replacement action may cause a coherence action depending on the state of the block in other caches. For read, misses, write misses, or invalidates snooped from the bus, an action is required only if the read or write addresses match a block in the local cache and the block is valid.</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9245084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100</a:t>
            </a:fld>
            <a:endParaRPr lang="en-US" altLang="zh-CN"/>
          </a:p>
        </p:txBody>
      </p:sp>
    </p:spTree>
    <p:extLst>
      <p:ext uri="{BB962C8B-B14F-4D97-AF65-F5344CB8AC3E}">
        <p14:creationId xmlns:p14="http://schemas.microsoft.com/office/powerpoint/2010/main" val="14203656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101</a:t>
            </a:fld>
            <a:endParaRPr lang="en-US" altLang="zh-CN"/>
          </a:p>
        </p:txBody>
      </p:sp>
    </p:spTree>
    <p:extLst>
      <p:ext uri="{BB962C8B-B14F-4D97-AF65-F5344CB8AC3E}">
        <p14:creationId xmlns:p14="http://schemas.microsoft.com/office/powerpoint/2010/main" val="2731668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FD54724B-831C-49A1-A1CC-D8C3D6EBB364}" type="slidenum">
              <a:rPr lang="en-US" altLang="en-US">
                <a:solidFill>
                  <a:srgbClr val="000000"/>
                </a:solidFill>
                <a:latin typeface="Times New Roman" panose="02020603050405020304" pitchFamily="18" charset="0"/>
              </a:rPr>
              <a:pPr>
                <a:lnSpc>
                  <a:spcPct val="95000"/>
                </a:lnSpc>
              </a:pPr>
              <a:t>102</a:t>
            </a:fld>
            <a:endParaRPr lang="en-US" altLang="en-US">
              <a:solidFill>
                <a:srgbClr val="000000"/>
              </a:solidFill>
              <a:latin typeface="Times New Roman" panose="02020603050405020304" pitchFamily="18" charset="0"/>
            </a:endParaRPr>
          </a:p>
        </p:txBody>
      </p:sp>
      <p:sp>
        <p:nvSpPr>
          <p:cNvPr id="1741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5.6 A write invalidate, cache coherence protocol for a private write-back cache showing the states and state transitions for each block in the cache. The cache states are shown in circles, with any access permitted by the local processor without a state transition shown in parentheses under the name of the state. The stimulus causing a state change is shown on the transition arcs in regular type, and any bus actions generated as part of the state transition are shown on the transition arc in bold. The stimulus actions apply to a block in the private cache, not to a specific address in the cache. Thus a read miss to a block in the shared state is a miss for that cache block but for a different address. The left side of the diagram shows state transitions based on actions of the processor associated with this cache; the right side shows transitions based on operations on the bus. A read miss in the exclusive or shared state and a write miss in the exclusive state occur when the address requested by the processor does not match the address in the local cache block. Such a miss is a standard cache replacement miss. An attempt to write a block in the shared state generates an invalidate. Whenever a bus transaction occurs, all private caches that contain the cache block specified in the bus transaction take the action dictated by the right half of the diagram. The protocol assumes that memory (or a shared cache) provides data on a read miss for a block that is clean in all local caches. In actual implementations, these two sets of state diagrams are combined. In practice, there are many subtle variations on invalidate protocols, including the introduction of the exclusive unmodified state, as to whether a processor or memory provides data on a miss. In a multicore chip, the shared cache (usually L3, but sometimes L2) acts as the equivalent of memory, and the bus is the bus between the private caches of each core and the shared cache, which in turn interfaces to the memory. </a:t>
            </a:r>
          </a:p>
        </p:txBody>
      </p:sp>
    </p:spTree>
    <p:extLst>
      <p:ext uri="{BB962C8B-B14F-4D97-AF65-F5344CB8AC3E}">
        <p14:creationId xmlns:p14="http://schemas.microsoft.com/office/powerpoint/2010/main" val="30999235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0FBC9FB8-76F7-44AE-9C23-4145F7731E38}" type="slidenum">
              <a:rPr lang="en-US" altLang="en-US">
                <a:solidFill>
                  <a:srgbClr val="000000"/>
                </a:solidFill>
                <a:latin typeface="Times New Roman" panose="02020603050405020304" pitchFamily="18" charset="0"/>
              </a:rPr>
              <a:pPr>
                <a:lnSpc>
                  <a:spcPct val="95000"/>
                </a:lnSpc>
              </a:pPr>
              <a:t>103</a:t>
            </a:fld>
            <a:endParaRPr lang="en-US" altLang="en-US">
              <a:solidFill>
                <a:srgbClr val="000000"/>
              </a:solidFill>
              <a:latin typeface="Times New Roman" panose="02020603050405020304" pitchFamily="18" charset="0"/>
            </a:endParaRPr>
          </a:p>
        </p:txBody>
      </p:sp>
      <p:sp>
        <p:nvSpPr>
          <p:cNvPr id="1945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60"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5.7 Cache coherence state diagram with the state transitions induced by the local processor shown in black and by the bus activities shown in gray. As in Figure 5.6, the activities on a transition are shown in bold.</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3321106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281E5C16-7CBF-4232-8A5D-3B028EC1D836}" type="slidenum">
              <a:rPr lang="en-US" altLang="en-US">
                <a:solidFill>
                  <a:srgbClr val="000000"/>
                </a:solidFill>
                <a:latin typeface="Times New Roman" panose="02020603050405020304" pitchFamily="18" charset="0"/>
              </a:rPr>
              <a:pPr>
                <a:lnSpc>
                  <a:spcPct val="95000"/>
                </a:lnSpc>
              </a:pPr>
              <a:t>104</a:t>
            </a:fld>
            <a:endParaRPr lang="en-US" altLang="en-US">
              <a:solidFill>
                <a:srgbClr val="000000"/>
              </a:solidFill>
              <a:latin typeface="Times New Roman" panose="02020603050405020304" pitchFamily="18" charset="0"/>
            </a:endParaRPr>
          </a:p>
        </p:txBody>
      </p:sp>
      <p:sp>
        <p:nvSpPr>
          <p:cNvPr id="2150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5.8 A single-chip multicore with a distributed cache. In current designs, the distributed shared cache is usually L3, and levels L1 and L2 are private. There are typically multiple memory channels (2–8 in today's designs). This design is NUCA, since the access time to L3 portions varies with faster access time for the directly attached core. Because it is NUCA, it is also NUMA.</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30446880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105</a:t>
            </a:fld>
            <a:endParaRPr lang="en-US" altLang="zh-CN"/>
          </a:p>
        </p:txBody>
      </p:sp>
    </p:spTree>
    <p:extLst>
      <p:ext uri="{BB962C8B-B14F-4D97-AF65-F5344CB8AC3E}">
        <p14:creationId xmlns:p14="http://schemas.microsoft.com/office/powerpoint/2010/main" val="37375481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110</a:t>
            </a:fld>
            <a:endParaRPr lang="en-US" altLang="zh-CN"/>
          </a:p>
        </p:txBody>
      </p:sp>
    </p:spTree>
    <p:extLst>
      <p:ext uri="{BB962C8B-B14F-4D97-AF65-F5344CB8AC3E}">
        <p14:creationId xmlns:p14="http://schemas.microsoft.com/office/powerpoint/2010/main" val="28919313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112</a:t>
            </a:fld>
            <a:endParaRPr lang="en-US" altLang="zh-CN"/>
          </a:p>
        </p:txBody>
      </p:sp>
    </p:spTree>
    <p:extLst>
      <p:ext uri="{BB962C8B-B14F-4D97-AF65-F5344CB8AC3E}">
        <p14:creationId xmlns:p14="http://schemas.microsoft.com/office/powerpoint/2010/main" val="25133717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113</a:t>
            </a:fld>
            <a:endParaRPr lang="en-US" altLang="zh-CN"/>
          </a:p>
        </p:txBody>
      </p:sp>
    </p:spTree>
    <p:extLst>
      <p:ext uri="{BB962C8B-B14F-4D97-AF65-F5344CB8AC3E}">
        <p14:creationId xmlns:p14="http://schemas.microsoft.com/office/powerpoint/2010/main" val="33925282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115</a:t>
            </a:fld>
            <a:endParaRPr lang="en-US" altLang="zh-CN"/>
          </a:p>
        </p:txBody>
      </p:sp>
    </p:spTree>
    <p:extLst>
      <p:ext uri="{BB962C8B-B14F-4D97-AF65-F5344CB8AC3E}">
        <p14:creationId xmlns:p14="http://schemas.microsoft.com/office/powerpoint/2010/main" val="14565586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118</a:t>
            </a:fld>
            <a:endParaRPr lang="en-US" altLang="zh-CN"/>
          </a:p>
        </p:txBody>
      </p:sp>
    </p:spTree>
    <p:extLst>
      <p:ext uri="{BB962C8B-B14F-4D97-AF65-F5344CB8AC3E}">
        <p14:creationId xmlns:p14="http://schemas.microsoft.com/office/powerpoint/2010/main" val="41693111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121</a:t>
            </a:fld>
            <a:endParaRPr lang="en-US" altLang="zh-CN"/>
          </a:p>
        </p:txBody>
      </p:sp>
    </p:spTree>
    <p:extLst>
      <p:ext uri="{BB962C8B-B14F-4D97-AF65-F5344CB8AC3E}">
        <p14:creationId xmlns:p14="http://schemas.microsoft.com/office/powerpoint/2010/main" val="25787698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3377227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848945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021088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8338297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D1D3241A-6DC9-4090-8458-65C95C860989}" type="slidenum">
              <a:rPr lang="en-US" altLang="en-US">
                <a:solidFill>
                  <a:srgbClr val="000000"/>
                </a:solidFill>
                <a:latin typeface="Times New Roman" panose="02020603050405020304" pitchFamily="18" charset="0"/>
              </a:rPr>
              <a:pPr>
                <a:lnSpc>
                  <a:spcPct val="95000"/>
                </a:lnSpc>
              </a:pPr>
              <a:t>126</a:t>
            </a:fld>
            <a:endParaRPr lang="en-US" altLang="en-US">
              <a:solidFill>
                <a:srgbClr val="000000"/>
              </a:solidFill>
              <a:latin typeface="Times New Roman" panose="02020603050405020304" pitchFamily="18" charset="0"/>
            </a:endParaRPr>
          </a:p>
        </p:txBody>
      </p:sp>
      <p:sp>
        <p:nvSpPr>
          <p:cNvPr id="2355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5.9 The characteristics of the cache hierarchy of the Alpha 21164 used in this study and the Intel i7.</a:t>
            </a:r>
          </a:p>
          <a:p>
            <a:r>
              <a:rPr lang="en-US" altLang="en-US" dirty="0" smtClean="0">
                <a:latin typeface="Times New Roman" panose="02020603050405020304" pitchFamily="18" charset="0"/>
              </a:rPr>
              <a:t>Although the sizes are larger and the associativity is higher on the i7, the miss penalties are also higher, so the behavior may differ only slightly. Both systems have a high penalty (125 cycles or more) for a transfer required from a private cache. A key difference is that L3 is shared in the i7 versus four separate, unshared caches in the Alpha server.</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36906677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sldNum" sz="quarter" idx="5"/>
          </p:nvPr>
        </p:nvSpPr>
        <p:spPr>
          <a:noFill/>
        </p:spPr>
        <p:txBody>
          <a:bodyPr/>
          <a:lstStyle/>
          <a:p>
            <a:fld id="{6B65FFE5-7DB4-DE40-BF9E-713176ECF1E0}" type="slidenum">
              <a:rPr lang="en-US"/>
              <a:pPr/>
              <a:t>127</a:t>
            </a:fld>
            <a:endParaRPr lang="en-US"/>
          </a:p>
        </p:txBody>
      </p:sp>
      <p:sp>
        <p:nvSpPr>
          <p:cNvPr id="29699" name="Rectangle 2"/>
          <p:cNvSpPr>
            <a:spLocks noGrp="1" noRot="1" noChangeAspect="1" noChangeArrowheads="1"/>
          </p:cNvSpPr>
          <p:nvPr>
            <p:ph type="sldImg"/>
          </p:nvPr>
        </p:nvSpPr>
        <p:spPr>
          <a:xfrm>
            <a:off x="723900" y="877888"/>
            <a:ext cx="5411788" cy="3044825"/>
          </a:xfrm>
          <a:solidFill>
            <a:srgbClr val="FFFFFF"/>
          </a:solidFill>
          <a:ln/>
        </p:spPr>
      </p:sp>
      <p:sp>
        <p:nvSpPr>
          <p:cNvPr id="29700" name="Rectangle 3"/>
          <p:cNvSpPr>
            <a:spLocks noGrp="1" noChangeArrowheads="1"/>
          </p:cNvSpPr>
          <p:nvPr>
            <p:ph type="body" idx="1"/>
          </p:nvPr>
        </p:nvSpPr>
        <p:spPr>
          <a:xfrm>
            <a:off x="913805" y="4343704"/>
            <a:ext cx="5030391" cy="4113892"/>
          </a:xfrm>
          <a:solidFill>
            <a:srgbClr val="FFFFFF"/>
          </a:solidFill>
          <a:ln>
            <a:solidFill>
              <a:srgbClr val="000000"/>
            </a:solidFill>
          </a:ln>
        </p:spPr>
        <p:txBody>
          <a:bodyPr/>
          <a:lstStyle/>
          <a:p>
            <a:endParaRPr lang="en-US">
              <a:latin typeface="Arial" charset="0"/>
              <a:ea typeface="ＭＳ Ｐゴシック" charset="-128"/>
              <a:cs typeface="ＭＳ Ｐゴシック" charset="-128"/>
            </a:endParaRPr>
          </a:p>
        </p:txBody>
      </p:sp>
    </p:spTree>
    <p:extLst>
      <p:ext uri="{BB962C8B-B14F-4D97-AF65-F5344CB8AC3E}">
        <p14:creationId xmlns:p14="http://schemas.microsoft.com/office/powerpoint/2010/main" val="1883673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sldNum" sz="quarter" idx="5"/>
          </p:nvPr>
        </p:nvSpPr>
        <p:spPr>
          <a:noFill/>
        </p:spPr>
        <p:txBody>
          <a:bodyPr/>
          <a:lstStyle/>
          <a:p>
            <a:fld id="{07F34930-682F-A94A-9D36-296D9C41C4FC}" type="slidenum">
              <a:rPr lang="en-US"/>
              <a:pPr/>
              <a:t>128</a:t>
            </a:fld>
            <a:endParaRPr lang="en-US"/>
          </a:p>
        </p:txBody>
      </p:sp>
      <p:sp>
        <p:nvSpPr>
          <p:cNvPr id="31747" name="Rectangle 2"/>
          <p:cNvSpPr>
            <a:spLocks noGrp="1" noRot="1" noChangeAspect="1" noChangeArrowheads="1"/>
          </p:cNvSpPr>
          <p:nvPr>
            <p:ph type="sldImg"/>
          </p:nvPr>
        </p:nvSpPr>
        <p:spPr>
          <a:xfrm>
            <a:off x="723900" y="877888"/>
            <a:ext cx="5411788" cy="3044825"/>
          </a:xfrm>
          <a:solidFill>
            <a:srgbClr val="FFFFFF"/>
          </a:solidFill>
          <a:ln/>
        </p:spPr>
      </p:sp>
      <p:sp>
        <p:nvSpPr>
          <p:cNvPr id="31748" name="Rectangle 3"/>
          <p:cNvSpPr>
            <a:spLocks noGrp="1" noChangeArrowheads="1"/>
          </p:cNvSpPr>
          <p:nvPr>
            <p:ph type="body" idx="1"/>
          </p:nvPr>
        </p:nvSpPr>
        <p:spPr>
          <a:xfrm>
            <a:off x="913805" y="4343704"/>
            <a:ext cx="5030391" cy="4113892"/>
          </a:xfrm>
          <a:solidFill>
            <a:srgbClr val="FFFFFF"/>
          </a:solidFill>
          <a:ln>
            <a:solidFill>
              <a:srgbClr val="000000"/>
            </a:solidFill>
          </a:ln>
        </p:spPr>
        <p:txBody>
          <a:bodyPr/>
          <a:lstStyle/>
          <a:p>
            <a:endParaRPr lang="en-US">
              <a:latin typeface="Arial" charset="0"/>
              <a:ea typeface="ＭＳ Ｐゴシック" charset="-128"/>
              <a:cs typeface="ＭＳ Ｐゴシック" charset="-128"/>
            </a:endParaRPr>
          </a:p>
        </p:txBody>
      </p:sp>
    </p:spTree>
    <p:extLst>
      <p:ext uri="{BB962C8B-B14F-4D97-AF65-F5344CB8AC3E}">
        <p14:creationId xmlns:p14="http://schemas.microsoft.com/office/powerpoint/2010/main" val="21648139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0E157B84-A668-419D-B10A-999874EDF5C0}" type="slidenum">
              <a:rPr lang="en-US" altLang="en-US">
                <a:solidFill>
                  <a:srgbClr val="000000"/>
                </a:solidFill>
                <a:latin typeface="Times New Roman" panose="02020603050405020304" pitchFamily="18" charset="0"/>
              </a:rPr>
              <a:pPr>
                <a:lnSpc>
                  <a:spcPct val="95000"/>
                </a:lnSpc>
              </a:pPr>
              <a:t>129</a:t>
            </a:fld>
            <a:endParaRPr lang="en-US" altLang="en-US">
              <a:solidFill>
                <a:srgbClr val="000000"/>
              </a:solidFill>
              <a:latin typeface="Times New Roman" panose="02020603050405020304" pitchFamily="18" charset="0"/>
            </a:endParaRPr>
          </a:p>
        </p:txBody>
      </p:sp>
      <p:sp>
        <p:nvSpPr>
          <p:cNvPr id="2560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4"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latin typeface="Times New Roman" panose="02020603050405020304" pitchFamily="18" charset="0"/>
              </a:rPr>
              <a:t>Figure 5.10 The relative performance of the OLTP workload as the size of the L3 cache, which is set as two-way set associative, grows from 1 to 8 </a:t>
            </a:r>
            <a:r>
              <a:rPr lang="en-US" altLang="en-US" dirty="0" err="1" smtClean="0">
                <a:latin typeface="Times New Roman" panose="02020603050405020304" pitchFamily="18" charset="0"/>
              </a:rPr>
              <a:t>MiB</a:t>
            </a:r>
            <a:r>
              <a:rPr lang="en-US" altLang="en-US" dirty="0" smtClean="0">
                <a:latin typeface="Times New Roman" panose="02020603050405020304" pitchFamily="18" charset="0"/>
              </a:rPr>
              <a:t>. The idle time also grows as cache size is increased, reducing some of the performance gains. This growth occurs because, with fewer memory system stalls, more server processes are needed to cover the I/O latency. The workload could be retuned to increase the computation/communication balance, holding the idle time in check. The PAL code is a set of sequences of specialized OS-level instructions executed in privileged mode; an example is the TLB miss handler.</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1755128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5.13 The number of misses per 1000 instructions drops steadily as the block size of the L3 cache is increased, making a good case for an L3 block size of at least 128 bytes. The L3 cache is 2 </a:t>
            </a:r>
            <a:r>
              <a:rPr lang="en-US" altLang="zh-CN" dirty="0" err="1" smtClean="0"/>
              <a:t>MiB</a:t>
            </a:r>
            <a:r>
              <a:rPr lang="en-US" altLang="zh-CN" dirty="0" smtClean="0"/>
              <a:t>, two-way set associative.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130</a:t>
            </a:fld>
            <a:endParaRPr lang="en-US" altLang="zh-CN"/>
          </a:p>
        </p:txBody>
      </p:sp>
    </p:spTree>
    <p:extLst>
      <p:ext uri="{BB962C8B-B14F-4D97-AF65-F5344CB8AC3E}">
        <p14:creationId xmlns:p14="http://schemas.microsoft.com/office/powerpoint/2010/main" val="11729242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5.14 The distribution of execution time in the </a:t>
            </a:r>
            <a:r>
              <a:rPr lang="en-US" altLang="zh-CN" dirty="0" err="1" smtClean="0"/>
              <a:t>multiprogrammed</a:t>
            </a:r>
            <a:r>
              <a:rPr lang="en-US" altLang="zh-CN" dirty="0" smtClean="0"/>
              <a:t> parallel “make” workload. The high fraction of idle time is due to disk latency when only one of the eight processors is active. These data and the subsequent measurements for this workload were collected with the </a:t>
            </a:r>
            <a:r>
              <a:rPr lang="en-US" altLang="zh-CN" dirty="0" err="1" smtClean="0"/>
              <a:t>SimOS</a:t>
            </a:r>
            <a:r>
              <a:rPr lang="en-US" altLang="zh-CN" dirty="0" smtClean="0"/>
              <a:t> system (Rosenblum et al., 1995). The actual runs and data collection were done by M. Rosenblum, S. </a:t>
            </a:r>
            <a:r>
              <a:rPr lang="en-US" altLang="zh-CN" dirty="0" err="1" smtClean="0"/>
              <a:t>Herrod</a:t>
            </a:r>
            <a:r>
              <a:rPr lang="en-US" altLang="zh-CN" dirty="0" smtClean="0"/>
              <a:t>, and E. </a:t>
            </a:r>
            <a:r>
              <a:rPr lang="en-US" altLang="zh-CN" dirty="0" err="1" smtClean="0"/>
              <a:t>Bugnion</a:t>
            </a:r>
            <a:r>
              <a:rPr lang="en-US" altLang="zh-CN" dirty="0" smtClean="0"/>
              <a:t> of Stanford University.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131</a:t>
            </a:fld>
            <a:endParaRPr lang="en-US" altLang="zh-CN"/>
          </a:p>
        </p:txBody>
      </p:sp>
    </p:spTree>
    <p:extLst>
      <p:ext uri="{BB962C8B-B14F-4D97-AF65-F5344CB8AC3E}">
        <p14:creationId xmlns:p14="http://schemas.microsoft.com/office/powerpoint/2010/main" val="28161619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5.15 The data miss rates for the user and kernel components behave differently for increases in the L1 data cache size (on the left) versus increases in the L1 data cache block size (on the right). Increasing the L1 data cache from 32 to 256 KB (with a 32-byte block) causes the user miss rate to decrease proportionately more than the kernel miss rate: the user-level miss rate drops by almost a factor of 3, whereas the kernel-level miss rate drops by a factor of only 1.3. At the largest size, the L1 is closer to the size of L2 in a modern multicore processors. Thus the data indicates that the kernel miss rate will still be significant in an L2 cache. The miss rate for both user and kernel components drops steadily as the L1 block size is increased (while keeping the L1 cache at 32 KB). In contrast to the effects of increasing the cache size, increasing the block size improves the kernel miss rate more significantly (just under a factor of 4 for the kernel references when going from 16-byte to 128-byte blocks versus just under a factor of 3 for the user references).</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132</a:t>
            </a:fld>
            <a:endParaRPr lang="en-US" altLang="zh-CN"/>
          </a:p>
        </p:txBody>
      </p:sp>
    </p:spTree>
    <p:extLst>
      <p:ext uri="{BB962C8B-B14F-4D97-AF65-F5344CB8AC3E}">
        <p14:creationId xmlns:p14="http://schemas.microsoft.com/office/powerpoint/2010/main" val="3607082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5.16 The components of the kernel data miss rate change as the L1 data cache size is increased from 32 to 256 KB, when the multiprogramming workload is run on eight processors. The compulsory miss rate component stays constant because it is unaffected by cache size. The capacity component drops by more than a factor of 2, whereas the coherence component nearly doubles. The increase in coherence misses occurs because the probability of a miss being caused by an invalidation increases with cache size, since fewer entries are bumped due to capacity. As we would expect, the increasing block size of the L1 data cache substantially reduces the compulsory miss rate in the kernel references. It also has a significant impact on the capacity miss rate, decreasing it by a factor of 2.4 over the range of block sizes. The increased block size has a small reduction in coherence traffic, which appears to stabilize at 64 bytes, with no change in the coherence miss rate in going to 128-byte lines. Because there are no significant reductions in the coherence miss rate as the block size increases, the fraction of the miss rate caused by coherence grows from about 7% to about 15%.</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133</a:t>
            </a:fld>
            <a:endParaRPr lang="en-US" altLang="zh-CN"/>
          </a:p>
        </p:txBody>
      </p:sp>
    </p:spTree>
    <p:extLst>
      <p:ext uri="{BB962C8B-B14F-4D97-AF65-F5344CB8AC3E}">
        <p14:creationId xmlns:p14="http://schemas.microsoft.com/office/powerpoint/2010/main" val="8852728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6943597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0769900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5.19 The possible messages sent among nodes to maintain coherence, along with the source and destination node, the contents (where P = requesting node number, A = requested address, and D = data contents), and the function of the message</a:t>
            </a:r>
            <a:r>
              <a:rPr lang="en-US" altLang="en-US" sz="1200" dirty="0" smtClean="0"/>
              <a:t>. The first three messages are requests sent by the local node to the home. The fourth through sixth messages are messages sent to a remote node by the home when the home needs the data to satisfy a read or write miss request. Data value replies are used to send a value from the home node back to the requesting node. Data value write-backs occur for two reasons: when a block is replaced in a cache and must be written back to its home memory, and also in reply to fetch or fetch/invalidate messages from the home. Writing back the data value whenever the block becomes shared simplifies the number of states in the protocol because any dirty block must be exclusive and any shared block is always available in the home memory.</a:t>
            </a:r>
            <a:endParaRPr lang="en-US" altLang="en-US" sz="1200" b="1" dirty="0" smtClean="0"/>
          </a:p>
        </p:txBody>
      </p:sp>
    </p:spTree>
    <p:extLst>
      <p:ext uri="{BB962C8B-B14F-4D97-AF65-F5344CB8AC3E}">
        <p14:creationId xmlns:p14="http://schemas.microsoft.com/office/powerpoint/2010/main" val="17963541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5.20 State transition diagram for an individual cache block in a directory-based system. Requests by the local processor are shown in </a:t>
            </a:r>
            <a:r>
              <a:rPr lang="en-US" altLang="en-US" sz="1200" b="1" i="1" dirty="0" smtClean="0"/>
              <a:t>black</a:t>
            </a:r>
            <a:r>
              <a:rPr lang="en-US" altLang="en-US" sz="1200" b="1" dirty="0" smtClean="0"/>
              <a:t>, and those from the home directory are shown in </a:t>
            </a:r>
            <a:r>
              <a:rPr lang="en-US" altLang="en-US" sz="1200" b="1" i="1" dirty="0" smtClean="0"/>
              <a:t>gray</a:t>
            </a:r>
            <a:r>
              <a:rPr lang="en-US" altLang="en-US" sz="1200" dirty="0" smtClean="0"/>
              <a:t>. The states are identical to those in the snooping case, and the transactions are very similar, with explicit invalidate and write-back requests replacing the write misses that were formerly broadcast on the bus. As we did for the snooping controller, we assume that an attempt to write a shared cache block is treated as a miss; in practice, such a transaction can be treated as an ownership request or upgrade request and can deliver ownership without requiring that the cache block be fetched.</a:t>
            </a:r>
            <a:endParaRPr lang="en-US" altLang="en-US" sz="1200" b="1" dirty="0" smtClean="0"/>
          </a:p>
          <a:p>
            <a:endParaRPr lang="en-AU"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5.21 The state transition diagram for the directory has the same states and structure as the transition diagram for an individual cache</a:t>
            </a:r>
            <a:r>
              <a:rPr lang="en-US" altLang="en-US" sz="1200" dirty="0" smtClean="0"/>
              <a:t>. All actions are in gray because they are all externally caused. </a:t>
            </a:r>
            <a:r>
              <a:rPr lang="en-US" altLang="en-US" sz="1200" i="1" dirty="0" smtClean="0"/>
              <a:t>Bold</a:t>
            </a:r>
            <a:r>
              <a:rPr lang="en-US" altLang="en-US" sz="1200" dirty="0" smtClean="0"/>
              <a:t> indicates the action taken by the directory in response to the request.</a:t>
            </a:r>
            <a:endParaRPr lang="en-US" altLang="en-US" sz="1200" b="1" dirty="0" smtClean="0"/>
          </a:p>
          <a:p>
            <a:endParaRPr lang="en-AU" dirty="0"/>
          </a:p>
        </p:txBody>
      </p:sp>
    </p:spTree>
    <p:extLst>
      <p:ext uri="{BB962C8B-B14F-4D97-AF65-F5344CB8AC3E}">
        <p14:creationId xmlns:p14="http://schemas.microsoft.com/office/powerpoint/2010/main" val="22209855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8887135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18797700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5.22 Cache coherence steps and bus traffic for three processors, P0, P1, and P2. This figure assumes write invalidate coherence. P0 starts with the lock (step 1), and the value of the lock is 1 (i.e., locked); it is initially exclusive and owned by P0 before step 1 begins. P0 exits and unlocks the lock (step 2). P1 and P2 race to see which reads the unlocked value during the swap (steps 3–5). P2 wins and enters the critical section (steps 6 and 7), while P1's attempt fails, so it starts spin waiting (steps 7 and 8). In a real system, these events will take many more than 8 clock ticks because acquiring the bus and replying to misses take much longer. Once step 8 is reached, the process can repeat with P2, eventually getting exclusive access and setting the lock to 0.</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140</a:t>
            </a:fld>
            <a:endParaRPr lang="en-US" altLang="zh-CN"/>
          </a:p>
        </p:txBody>
      </p:sp>
    </p:spTree>
    <p:extLst>
      <p:ext uri="{BB962C8B-B14F-4D97-AF65-F5344CB8AC3E}">
        <p14:creationId xmlns:p14="http://schemas.microsoft.com/office/powerpoint/2010/main" val="4284661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9027635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1603308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156</a:t>
            </a:fld>
            <a:endParaRPr lang="en-US" altLang="zh-CN"/>
          </a:p>
        </p:txBody>
      </p:sp>
    </p:spTree>
    <p:extLst>
      <p:ext uri="{BB962C8B-B14F-4D97-AF65-F5344CB8AC3E}">
        <p14:creationId xmlns:p14="http://schemas.microsoft.com/office/powerpoint/2010/main" val="3965386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159</a:t>
            </a:fld>
            <a:endParaRPr lang="en-US" altLang="zh-CN"/>
          </a:p>
        </p:txBody>
      </p:sp>
    </p:spTree>
    <p:extLst>
      <p:ext uri="{BB962C8B-B14F-4D97-AF65-F5344CB8AC3E}">
        <p14:creationId xmlns:p14="http://schemas.microsoft.com/office/powerpoint/2010/main" val="33903906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165</a:t>
            </a:fld>
            <a:endParaRPr lang="en-US" altLang="zh-CN"/>
          </a:p>
        </p:txBody>
      </p:sp>
    </p:spTree>
    <p:extLst>
      <p:ext uri="{BB962C8B-B14F-4D97-AF65-F5344CB8AC3E}">
        <p14:creationId xmlns:p14="http://schemas.microsoft.com/office/powerpoint/2010/main" val="42873712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176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86039167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177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7573307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5.23 The orderings imposed by various consistency models are shown for both ordinary accesses and synchronization accesses. The models grow from most restrictive (sequential consistency) to least restrictive (release consistency), allowing increased flexibility in the implementation. The weaker models rely on fences created by synchronization operations, as opposed to an implicit fence at every memory operation. SA and SR stand for acquire and release operations, respectively, and are needed to define release consistency. If we were to use the notation SA and SR for each S consistently, each ordering with one S would become two orderings (e.g., S → W becomes SA → W, SR → W), and each S → S would become the four orderings shown in the last line of the bottom-right table entry.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178</a:t>
            </a:fld>
            <a:endParaRPr lang="en-US" altLang="zh-CN"/>
          </a:p>
        </p:txBody>
      </p:sp>
    </p:spTree>
    <p:extLst>
      <p:ext uri="{BB962C8B-B14F-4D97-AF65-F5344CB8AC3E}">
        <p14:creationId xmlns:p14="http://schemas.microsoft.com/office/powerpoint/2010/main" val="5936375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7 December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179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0385022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5.24 These examples of the five consistency models discussed in this section show the reduction in the number of orders imposed as the models become more relaxed. Only the minimum orders are shown with arrows. Orders implied by transitivity, such as the write of C before the release of S in the sequential consistency model or the acquire before the release in weak ordering or release consistency, are not shown.</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180</a:t>
            </a:fld>
            <a:endParaRPr lang="en-US" altLang="zh-CN"/>
          </a:p>
        </p:txBody>
      </p:sp>
    </p:spTree>
    <p:extLst>
      <p:ext uri="{BB962C8B-B14F-4D97-AF65-F5344CB8AC3E}">
        <p14:creationId xmlns:p14="http://schemas.microsoft.com/office/powerpoint/2010/main" val="17948399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5.26 Summary of the characteristics of three recent high-end multicore processors (2015–2017 releases) designed for servers</a:t>
            </a:r>
            <a:r>
              <a:rPr lang="en-US" altLang="en-US" sz="1200" dirty="0" smtClean="0"/>
              <a:t>. The table shows the range of processor counts, clock rates, and cache sizes within each processor family. The Power8 L3 is a NUCA (</a:t>
            </a:r>
            <a:r>
              <a:rPr lang="en-US" altLang="en-US" sz="1200" dirty="0" err="1" smtClean="0"/>
              <a:t>Nonuniform</a:t>
            </a:r>
            <a:r>
              <a:rPr lang="en-US" altLang="en-US" sz="1200" dirty="0" smtClean="0"/>
              <a:t> Cache Access) design, and it also supports off-chip L4 of up to 128 </a:t>
            </a:r>
            <a:r>
              <a:rPr lang="en-US" altLang="en-US" sz="1200" dirty="0" err="1" smtClean="0"/>
              <a:t>MiB</a:t>
            </a:r>
            <a:r>
              <a:rPr lang="en-US" altLang="en-US" sz="1200" dirty="0" smtClean="0"/>
              <a:t> using EDRAM. A 32-core Xeon has recently been announced, but no system shipments have occurred. The Fujitsu SPARC64 is also available as an 8-core design, which is normally configured as a single processor system. The last row shows the range of configured systems with published performance data (such as </a:t>
            </a:r>
            <a:r>
              <a:rPr lang="en-US" altLang="en-US" sz="1200" dirty="0" err="1" smtClean="0"/>
              <a:t>SPECintRate</a:t>
            </a:r>
            <a:r>
              <a:rPr lang="en-US" altLang="en-US" sz="1200" dirty="0" smtClean="0"/>
              <a:t>) with both processor chip counts and total core counts. The Xeon systems include multiprocessors that extend the basic interconnect with additional logic; for example, using the standard </a:t>
            </a:r>
            <a:r>
              <a:rPr lang="en-US" altLang="en-US" sz="1200" dirty="0" err="1" smtClean="0"/>
              <a:t>Quickpath</a:t>
            </a:r>
            <a:r>
              <a:rPr lang="en-US" altLang="en-US" sz="1200" dirty="0" smtClean="0"/>
              <a:t> interconnect limits the processor count to 8 and the largest system to 8 × 24 = 192 cores, but SGI extends the interconnect (and coherence mechanisms) with extra logic to offer a 32 processor system using 18-core processor chips for a total size of 576 cores. Newer releases of these processors increased clock rates (significantly in the Power8 case, less so in others) and core counts (significantly in the case of Xeon).</a:t>
            </a:r>
            <a:endParaRPr lang="en-US" altLang="en-US" sz="1200" b="1" dirty="0" smtClean="0"/>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181</a:t>
            </a:fld>
            <a:endParaRPr lang="en-US" altLang="zh-CN"/>
          </a:p>
        </p:txBody>
      </p:sp>
    </p:spTree>
    <p:extLst>
      <p:ext uri="{BB962C8B-B14F-4D97-AF65-F5344CB8AC3E}">
        <p14:creationId xmlns:p14="http://schemas.microsoft.com/office/powerpoint/2010/main" val="250773225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5.27 The on-chip organizations of the Power8 and Xeon E7 are shown. The Power8 uses 8 separate buses between L3 and the CPU cores. Each Power8 also has two sets of links for connecting larger multiprocessors. The Xeon uses three rings to connect processors and L3 cache banks, as well QPI for </a:t>
            </a:r>
            <a:r>
              <a:rPr lang="en-US" altLang="zh-CN" dirty="0" err="1" smtClean="0"/>
              <a:t>interchip</a:t>
            </a:r>
            <a:r>
              <a:rPr lang="en-US" altLang="zh-CN" dirty="0" smtClean="0"/>
              <a:t> links. Software is used to logically associate half the cores with each memory channel.</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182</a:t>
            </a:fld>
            <a:endParaRPr lang="en-US" altLang="zh-CN"/>
          </a:p>
        </p:txBody>
      </p:sp>
    </p:spTree>
    <p:extLst>
      <p:ext uri="{BB962C8B-B14F-4D97-AF65-F5344CB8AC3E}">
        <p14:creationId xmlns:p14="http://schemas.microsoft.com/office/powerpoint/2010/main" val="295628335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5.28 The system architecture for three multiprocessors built from multicore chips.</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183</a:t>
            </a:fld>
            <a:endParaRPr lang="en-US" altLang="zh-CN"/>
          </a:p>
        </p:txBody>
      </p:sp>
    </p:spTree>
    <p:extLst>
      <p:ext uri="{BB962C8B-B14F-4D97-AF65-F5344CB8AC3E}">
        <p14:creationId xmlns:p14="http://schemas.microsoft.com/office/powerpoint/2010/main" val="11073026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Figure 5.29 The performance scaling on the </a:t>
            </a:r>
            <a:r>
              <a:rPr lang="en-US" altLang="zh-CN" dirty="0" err="1" smtClean="0"/>
              <a:t>SPECintRate</a:t>
            </a:r>
            <a:r>
              <a:rPr lang="en-US" altLang="zh-CN" dirty="0" smtClean="0"/>
              <a:t> benchmarks for four multicore processors as the number of cores is increased to 64. Performance for each processor is plotted relative to the smallest configuration and assuming that configuration had perfect speedup. Although this chart shows how a given multiprocessor scales with additional cores, it does not supply any data about performance among processors. There are differences in the clock rates, even within a given processor family. These are generally swamped by the core scaling effects, except for the Power8 that shows a clock range spread of 1.5 × from the smallest configuration to the 64 core configuration.</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184</a:t>
            </a:fld>
            <a:endParaRPr lang="en-US" altLang="zh-CN"/>
          </a:p>
        </p:txBody>
      </p:sp>
    </p:spTree>
    <p:extLst>
      <p:ext uri="{BB962C8B-B14F-4D97-AF65-F5344CB8AC3E}">
        <p14:creationId xmlns:p14="http://schemas.microsoft.com/office/powerpoint/2010/main" val="4122100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sz="half" idx="1"/>
          </p:nvPr>
        </p:nvSpPr>
        <p:spPr>
          <a:xfrm>
            <a:off x="609600" y="1628800"/>
            <a:ext cx="5350933" cy="4968552"/>
          </a:xfrm>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6163735" y="1628800"/>
            <a:ext cx="5350933" cy="4968552"/>
          </a:xfrm>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26398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Cache Coherence - 118 Muhamed Mudawar – CSE 661</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9"/>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 id="2147483726" r:id="rId7"/>
  </p:sldLayoutIdLst>
  <p:hf sldNum="0" hdr="0" ftr="0" dt="0"/>
  <p:txStyles>
    <p:titleStyle>
      <a:lvl1pPr algn="l" rtl="0" eaLnBrk="0" fontAlgn="base" hangingPunct="0">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2.png"/><Relationship Id="rId5" Type="http://schemas.openxmlformats.org/officeDocument/2006/relationships/image" Target="../media/image31.wmf"/><Relationship Id="rId4" Type="http://schemas.openxmlformats.org/officeDocument/2006/relationships/oleObject" Target="../embeddings/oleObject1.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1.emf"/><Relationship Id="rId4" Type="http://schemas.openxmlformats.org/officeDocument/2006/relationships/oleObject" Target="../embeddings/oleObject2.bin"/></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2.emf"/><Relationship Id="rId4" Type="http://schemas.openxmlformats.org/officeDocument/2006/relationships/oleObject" Target="../embeddings/oleObject3.bin"/></Relationships>
</file>

<file path=ppt/slides/_rels/slide12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18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94.xml"/><Relationship Id="rId1" Type="http://schemas.openxmlformats.org/officeDocument/2006/relationships/slideLayout" Target="../slideLayouts/slideLayout5.xml"/><Relationship Id="rId4" Type="http://schemas.openxmlformats.org/officeDocument/2006/relationships/image" Target="../media/image70.jpeg"/></Relationships>
</file>

<file path=ppt/slides/_rels/slide18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线程级并行</a:t>
            </a:r>
            <a:r>
              <a:rPr lang="zh-CN" altLang="en-US" dirty="0"/>
              <a:t>性</a:t>
            </a:r>
            <a:endParaRPr kumimoji="1" lang="zh-CN" altLang="en-US" dirty="0"/>
          </a:p>
        </p:txBody>
      </p:sp>
      <p:sp>
        <p:nvSpPr>
          <p:cNvPr id="3" name="副标题 2"/>
          <p:cNvSpPr>
            <a:spLocks noGrp="1"/>
          </p:cNvSpPr>
          <p:nvPr>
            <p:ph type="subTitle" idx="1"/>
          </p:nvPr>
        </p:nvSpPr>
        <p:spPr/>
        <p:txBody>
          <a:bodyPr/>
          <a:lstStyle/>
          <a:p>
            <a:r>
              <a:rPr kumimoji="1" lang="zh-CN" altLang="en-US" sz="2800" dirty="0" smtClean="0">
                <a:latin typeface="+mn-lt"/>
              </a:rPr>
              <a:t>多线程处理器结构</a:t>
            </a:r>
            <a:endParaRPr kumimoji="1" lang="en-US" altLang="zh-CN" sz="2800" dirty="0" smtClean="0">
              <a:latin typeface="+mn-lt"/>
            </a:endParaRPr>
          </a:p>
          <a:p>
            <a:r>
              <a:rPr kumimoji="1" lang="zh-CN" altLang="en-US" sz="2800" dirty="0" smtClean="0">
                <a:latin typeface="+mn-lt"/>
              </a:rPr>
              <a:t>共享存储多处理机</a:t>
            </a:r>
            <a:endParaRPr kumimoji="1" lang="en-US" altLang="zh-CN" sz="2800" dirty="0" smtClean="0">
              <a:latin typeface="+mn-lt"/>
            </a:endParaRPr>
          </a:p>
          <a:p>
            <a:r>
              <a:rPr kumimoji="1" lang="zh-CN" altLang="en-US" sz="2800" dirty="0" smtClean="0">
                <a:latin typeface="+mn-lt"/>
              </a:rPr>
              <a:t>基于</a:t>
            </a:r>
            <a:r>
              <a:rPr kumimoji="1" lang="zh-CN" altLang="en-US" sz="2800" dirty="0" smtClean="0">
                <a:latin typeface="+mn-lt"/>
              </a:rPr>
              <a:t>侦听的同一协议</a:t>
            </a:r>
            <a:endParaRPr kumimoji="1" lang="en-US" altLang="zh-CN" sz="2800" dirty="0" smtClean="0">
              <a:latin typeface="+mn-lt"/>
            </a:endParaRPr>
          </a:p>
          <a:p>
            <a:r>
              <a:rPr lang="zh-CN" altLang="en-US" sz="2800" dirty="0">
                <a:latin typeface="+mn-lt"/>
              </a:rPr>
              <a:t>基于目录的同一协议</a:t>
            </a:r>
            <a:endParaRPr kumimoji="1" lang="zh-CN" altLang="en-US" sz="2800" dirty="0">
              <a:latin typeface="+mn-lt"/>
            </a:endParaRPr>
          </a:p>
          <a:p>
            <a:r>
              <a:rPr lang="zh-CN" altLang="en-US" sz="2800" dirty="0">
                <a:latin typeface="+mn-lt"/>
              </a:rPr>
              <a:t>存储器的顺序一致模型</a:t>
            </a:r>
            <a:endParaRPr lang="en-US" altLang="zh-CN" sz="2800" dirty="0">
              <a:latin typeface="+mn-lt"/>
            </a:endParaRPr>
          </a:p>
          <a:p>
            <a:r>
              <a:rPr lang="zh-CN" altLang="en-US" sz="2800" dirty="0" smtClean="0">
                <a:latin typeface="+mn-lt"/>
              </a:rPr>
              <a:t>同步操作</a:t>
            </a:r>
            <a:r>
              <a:rPr lang="zh-CN" altLang="en-US" sz="2800" dirty="0" smtClean="0">
                <a:latin typeface="+mn-lt"/>
              </a:rPr>
              <a:t>的实现</a:t>
            </a:r>
            <a:r>
              <a:rPr lang="zh-CN" altLang="en-US" sz="2800" dirty="0" smtClean="0">
                <a:latin typeface="+mn-lt"/>
              </a:rPr>
              <a:t>机制</a:t>
            </a:r>
            <a:endParaRPr lang="en-US" altLang="zh-CN" sz="2800" dirty="0" smtClean="0">
              <a:latin typeface="+mn-lt"/>
            </a:endParaRPr>
          </a:p>
          <a:p>
            <a:r>
              <a:rPr lang="zh-CN" altLang="en-US" sz="2800" dirty="0" smtClean="0">
                <a:latin typeface="+mn-lt"/>
              </a:rPr>
              <a:t>放松的存储器一致性模型</a:t>
            </a:r>
            <a:endParaRPr lang="en-US" altLang="zh-CN" sz="2800" dirty="0" smtClean="0">
              <a:latin typeface="+mn-lt"/>
            </a:endParaRPr>
          </a:p>
        </p:txBody>
      </p:sp>
    </p:spTree>
    <p:extLst>
      <p:ext uri="{BB962C8B-B14F-4D97-AF65-F5344CB8AC3E}">
        <p14:creationId xmlns:p14="http://schemas.microsoft.com/office/powerpoint/2010/main" val="15910285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线程与并行</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a:t>线程</a:t>
            </a:r>
            <a:r>
              <a:rPr lang="en-US" altLang="zh-CN" dirty="0"/>
              <a:t>(thread)</a:t>
            </a:r>
            <a:r>
              <a:rPr lang="zh-CN" altLang="en-US" dirty="0"/>
              <a:t>是个软件概念</a:t>
            </a:r>
            <a:endParaRPr lang="en-US" altLang="zh-CN" dirty="0"/>
          </a:p>
          <a:p>
            <a:pPr lvl="1">
              <a:lnSpc>
                <a:spcPct val="90000"/>
              </a:lnSpc>
            </a:pPr>
            <a:r>
              <a:rPr lang="zh-CN" altLang="en-US" dirty="0"/>
              <a:t>轻量级、高效率、容延迟、低开销、多共享</a:t>
            </a:r>
            <a:endParaRPr lang="en-US" altLang="zh-CN" dirty="0"/>
          </a:p>
          <a:p>
            <a:pPr lvl="1">
              <a:lnSpc>
                <a:spcPct val="90000"/>
              </a:lnSpc>
            </a:pPr>
            <a:r>
              <a:rPr lang="en-US" altLang="zh-CN" dirty="0"/>
              <a:t>MIMD</a:t>
            </a:r>
            <a:r>
              <a:rPr lang="zh-CN" altLang="en-US" dirty="0"/>
              <a:t>式共享存储编程模型的典型代表</a:t>
            </a:r>
            <a:endParaRPr lang="en-US" altLang="zh-CN" dirty="0"/>
          </a:p>
          <a:p>
            <a:pPr>
              <a:lnSpc>
                <a:spcPct val="90000"/>
              </a:lnSpc>
            </a:pPr>
            <a:r>
              <a:rPr lang="zh-CN" altLang="en-US" dirty="0"/>
              <a:t>线程级并行性</a:t>
            </a:r>
            <a:r>
              <a:rPr lang="en-US" altLang="zh-CN" dirty="0"/>
              <a:t>(thread-level parallelism, TLP)</a:t>
            </a:r>
            <a:endParaRPr lang="en-US" dirty="0"/>
          </a:p>
          <a:p>
            <a:pPr lvl="1">
              <a:lnSpc>
                <a:spcPct val="90000"/>
              </a:lnSpc>
            </a:pPr>
            <a:r>
              <a:rPr lang="zh-CN" altLang="en-US" dirty="0"/>
              <a:t>每个线程有自己的程序计数器</a:t>
            </a:r>
            <a:r>
              <a:rPr lang="en-US" altLang="zh-CN" dirty="0"/>
              <a:t>(PC)</a:t>
            </a:r>
            <a:endParaRPr lang="en-US" dirty="0"/>
          </a:p>
          <a:p>
            <a:pPr lvl="1">
              <a:lnSpc>
                <a:spcPct val="90000"/>
              </a:lnSpc>
            </a:pPr>
            <a:r>
              <a:rPr lang="zh-CN" altLang="en-US" dirty="0"/>
              <a:t>主要定位在紧耦合的共享存储多处理机系统</a:t>
            </a:r>
            <a:endParaRPr lang="en-US" altLang="zh-CN" dirty="0"/>
          </a:p>
          <a:p>
            <a:pPr lvl="1">
              <a:lnSpc>
                <a:spcPct val="90000"/>
              </a:lnSpc>
            </a:pPr>
            <a:r>
              <a:rPr lang="zh-CN" altLang="en-US" dirty="0"/>
              <a:t>也适合在单处理机系统中，提高执行效率</a:t>
            </a:r>
            <a:endParaRPr lang="en-US" dirty="0"/>
          </a:p>
          <a:p>
            <a:pPr>
              <a:lnSpc>
                <a:spcPct val="90000"/>
              </a:lnSpc>
            </a:pPr>
            <a:r>
              <a:rPr lang="zh-CN" altLang="en-US" dirty="0"/>
              <a:t>通常，对</a:t>
            </a:r>
            <a:r>
              <a:rPr lang="en-US" i="1" dirty="0"/>
              <a:t>n</a:t>
            </a:r>
            <a:r>
              <a:rPr lang="zh-CN" altLang="en-US" dirty="0"/>
              <a:t>个处理器，至少需要</a:t>
            </a:r>
            <a:r>
              <a:rPr lang="en-US" i="1" dirty="0"/>
              <a:t>n</a:t>
            </a:r>
            <a:r>
              <a:rPr lang="zh-CN" altLang="en-US" dirty="0"/>
              <a:t>个线程</a:t>
            </a:r>
            <a:endParaRPr lang="en-US" dirty="0"/>
          </a:p>
          <a:p>
            <a:pPr lvl="1">
              <a:lnSpc>
                <a:spcPct val="90000"/>
              </a:lnSpc>
            </a:pPr>
            <a:r>
              <a:rPr lang="zh-CN" altLang="en-US" dirty="0"/>
              <a:t>分派给每个线程的计算量 </a:t>
            </a:r>
            <a:r>
              <a:rPr lang="en-US" altLang="zh-CN" dirty="0"/>
              <a:t>= </a:t>
            </a:r>
            <a:r>
              <a:rPr lang="zh-CN" altLang="en-US" dirty="0"/>
              <a:t>粒度</a:t>
            </a:r>
            <a:r>
              <a:rPr lang="en-US" altLang="zh-CN" dirty="0"/>
              <a:t>(</a:t>
            </a:r>
            <a:r>
              <a:rPr lang="en-US" dirty="0"/>
              <a:t>grain </a:t>
            </a:r>
            <a:r>
              <a:rPr lang="en-US" dirty="0" smtClean="0"/>
              <a:t>size</a:t>
            </a:r>
            <a:r>
              <a:rPr lang="en-US" dirty="0" smtClean="0"/>
              <a:t>, granularity</a:t>
            </a:r>
            <a:r>
              <a:rPr lang="en-US" dirty="0" smtClean="0"/>
              <a:t>)</a:t>
            </a:r>
            <a:endParaRPr lang="en-US" dirty="0"/>
          </a:p>
          <a:p>
            <a:pPr>
              <a:lnSpc>
                <a:spcPct val="90000"/>
              </a:lnSpc>
            </a:pPr>
            <a:r>
              <a:rPr lang="zh-CN" altLang="en-US" dirty="0"/>
              <a:t>原则上多线程也可以支持数据级并行</a:t>
            </a:r>
            <a:endParaRPr lang="en-US" altLang="zh-CN" dirty="0"/>
          </a:p>
          <a:p>
            <a:pPr lvl="1">
              <a:lnSpc>
                <a:spcPct val="90000"/>
              </a:lnSpc>
            </a:pPr>
            <a:r>
              <a:rPr lang="zh-CN" altLang="en-US" dirty="0"/>
              <a:t>但其巨大开销往往是不可接受的</a:t>
            </a:r>
            <a:endParaRPr lang="en-US" dirty="0"/>
          </a:p>
        </p:txBody>
      </p:sp>
    </p:spTree>
    <p:extLst>
      <p:ext uri="{BB962C8B-B14F-4D97-AF65-F5344CB8AC3E}">
        <p14:creationId xmlns:p14="http://schemas.microsoft.com/office/powerpoint/2010/main" val="1995166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执行多线程的三种主要方式</a:t>
            </a:r>
            <a:endParaRPr lang="en-AU" dirty="0"/>
          </a:p>
        </p:txBody>
      </p:sp>
      <p:sp>
        <p:nvSpPr>
          <p:cNvPr id="242691" name="Rectangle 3"/>
          <p:cNvSpPr>
            <a:spLocks noGrp="1" noChangeArrowheads="1"/>
          </p:cNvSpPr>
          <p:nvPr>
            <p:ph type="body" idx="1"/>
          </p:nvPr>
        </p:nvSpPr>
        <p:spPr>
          <a:xfrm>
            <a:off x="479376" y="1556792"/>
            <a:ext cx="7488832" cy="5112568"/>
          </a:xfrm>
        </p:spPr>
        <p:txBody>
          <a:bodyPr/>
          <a:lstStyle/>
          <a:p>
            <a:r>
              <a:rPr lang="zh-CN" altLang="en-US" dirty="0" smtClean="0"/>
              <a:t>多线程（单）处理器</a:t>
            </a:r>
            <a:endParaRPr lang="en-US" altLang="zh-CN" dirty="0" smtClean="0"/>
          </a:p>
          <a:p>
            <a:pPr lvl="1"/>
            <a:r>
              <a:rPr lang="zh-CN" altLang="en-US" dirty="0" smtClean="0"/>
              <a:t>由处理器硬件直接支持线程的快速切换</a:t>
            </a:r>
            <a:endParaRPr lang="en-US" dirty="0" smtClean="0"/>
          </a:p>
          <a:p>
            <a:r>
              <a:rPr lang="zh-CN" altLang="en-US" dirty="0" smtClean="0"/>
              <a:t>对称多处理机</a:t>
            </a:r>
            <a:r>
              <a:rPr lang="en-US" altLang="zh-CN" dirty="0" smtClean="0"/>
              <a:t>(</a:t>
            </a:r>
            <a:r>
              <a:rPr lang="en-US" dirty="0" smtClean="0"/>
              <a:t>Symmetric multiprocessors, SMP)</a:t>
            </a:r>
            <a:r>
              <a:rPr lang="zh-CN" altLang="en-US" dirty="0" smtClean="0"/>
              <a:t>系统</a:t>
            </a:r>
            <a:endParaRPr lang="en-US" dirty="0" smtClean="0"/>
          </a:p>
          <a:p>
            <a:pPr lvl="1"/>
            <a:r>
              <a:rPr lang="zh-CN" altLang="en-US" dirty="0" smtClean="0"/>
              <a:t>含少量处理器（核），它们以相同的访问延迟，共享一个主存系统</a:t>
            </a:r>
            <a:endParaRPr lang="en-US" altLang="zh-CN" dirty="0" smtClean="0"/>
          </a:p>
          <a:p>
            <a:pPr lvl="1"/>
            <a:r>
              <a:rPr lang="zh-CN" altLang="en-US" dirty="0" smtClean="0"/>
              <a:t>也称集中式共享内存系统</a:t>
            </a:r>
            <a:endParaRPr lang="en-US" dirty="0" smtClean="0"/>
          </a:p>
          <a:p>
            <a:r>
              <a:rPr lang="zh-CN" altLang="en-US" dirty="0" smtClean="0"/>
              <a:t>分布式共享内存</a:t>
            </a:r>
            <a:r>
              <a:rPr lang="en-US" altLang="zh-CN" dirty="0" smtClean="0"/>
              <a:t>(</a:t>
            </a:r>
            <a:r>
              <a:rPr lang="en-US" dirty="0" smtClean="0"/>
              <a:t>Distributed shared memory, DSM)</a:t>
            </a:r>
            <a:r>
              <a:rPr lang="zh-CN" altLang="en-US" dirty="0" smtClean="0"/>
              <a:t>系统</a:t>
            </a:r>
            <a:endParaRPr lang="en-US" dirty="0" smtClean="0"/>
          </a:p>
          <a:p>
            <a:pPr lvl="1"/>
            <a:r>
              <a:rPr lang="zh-CN" altLang="en-US" dirty="0" smtClean="0"/>
              <a:t>存储器分散在处理器附近</a:t>
            </a:r>
            <a:endParaRPr lang="en-US" dirty="0" smtClean="0"/>
          </a:p>
          <a:p>
            <a:pPr lvl="1"/>
            <a:r>
              <a:rPr lang="zh-CN" altLang="en-US" dirty="0" smtClean="0"/>
              <a:t>处理器访问不同内存位置的时间是各不相同的，即非均匀存储器访问</a:t>
            </a:r>
            <a:r>
              <a:rPr lang="en-US" altLang="zh-CN" dirty="0" smtClean="0"/>
              <a:t>(</a:t>
            </a:r>
            <a:r>
              <a:rPr lang="en-US" dirty="0" smtClean="0"/>
              <a:t>Non-uniform memory access/latency, NUMA)</a:t>
            </a:r>
            <a:endParaRPr lang="en-US" dirty="0"/>
          </a:p>
        </p:txBody>
      </p:sp>
      <p:pic>
        <p:nvPicPr>
          <p:cNvPr id="6" name="Picture 5" descr="X:\02_GRAPHICS\BOOKS\02_PPTs\MKCAD(Hennessy)\PPT\Ch05\f05-0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3440" y="1541303"/>
            <a:ext cx="3240360" cy="2877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X:\02_GRAPHICS\BOOKS\02_PPTs\MKCAD(Hennessy)\PPT\Ch05\f05-02-978012811905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1002" y="4580007"/>
            <a:ext cx="4283670" cy="215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3975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p:cNvSpPr>
            <a:spLocks noGrp="1" noChangeArrowheads="1"/>
          </p:cNvSpPr>
          <p:nvPr>
            <p:ph type="title"/>
          </p:nvPr>
        </p:nvSpPr>
        <p:spPr/>
        <p:txBody>
          <a:bodyPr/>
          <a:lstStyle/>
          <a:p>
            <a:r>
              <a:rPr lang="en-US" smtClean="0"/>
              <a:t>Multiple Threads vs. Multithreading</a:t>
            </a:r>
            <a:endParaRPr lang="en-US" dirty="0"/>
          </a:p>
        </p:txBody>
      </p:sp>
      <p:sp>
        <p:nvSpPr>
          <p:cNvPr id="1387523" name="Rectangle 3"/>
          <p:cNvSpPr>
            <a:spLocks noGrp="1" noChangeArrowheads="1"/>
          </p:cNvSpPr>
          <p:nvPr>
            <p:ph idx="1"/>
          </p:nvPr>
        </p:nvSpPr>
        <p:spPr/>
        <p:txBody>
          <a:bodyPr/>
          <a:lstStyle/>
          <a:p>
            <a:r>
              <a:rPr lang="zh-CN" altLang="en-US" smtClean="0"/>
              <a:t>开发指令级并行性</a:t>
            </a:r>
            <a:r>
              <a:rPr lang="en-US" altLang="zh-CN" smtClean="0"/>
              <a:t>(ILP)</a:t>
            </a:r>
            <a:r>
              <a:rPr lang="zh-CN" altLang="en-US" smtClean="0"/>
              <a:t>越来越困难了</a:t>
            </a:r>
            <a:endParaRPr lang="en-US" altLang="zh-CN" smtClean="0"/>
          </a:p>
          <a:p>
            <a:pPr lvl="1"/>
            <a:r>
              <a:rPr lang="zh-CN" altLang="en-US" smtClean="0"/>
              <a:t>在单个顺序控制的线程中</a:t>
            </a:r>
            <a:r>
              <a:rPr lang="en-US" altLang="zh-CN" smtClean="0"/>
              <a:t>(thread of control)</a:t>
            </a:r>
            <a:endParaRPr lang="en-US" smtClean="0"/>
          </a:p>
          <a:p>
            <a:r>
              <a:rPr lang="zh-CN" altLang="en-US" smtClean="0"/>
              <a:t>许多应用本身就可充分利用线程级并行</a:t>
            </a:r>
            <a:endParaRPr lang="en-US" smtClean="0"/>
          </a:p>
          <a:p>
            <a:pPr lvl="1"/>
            <a:r>
              <a:rPr lang="zh-CN" altLang="en-US" smtClean="0"/>
              <a:t>来自多道程序的</a:t>
            </a:r>
            <a:r>
              <a:rPr lang="en-US" smtClean="0"/>
              <a:t>TLP </a:t>
            </a:r>
          </a:p>
          <a:p>
            <a:pPr lvl="2"/>
            <a:r>
              <a:rPr lang="zh-CN" altLang="en-US" smtClean="0"/>
              <a:t>运行多个互相独立的顺序作业</a:t>
            </a:r>
            <a:endParaRPr lang="en-US" smtClean="0"/>
          </a:p>
          <a:p>
            <a:pPr lvl="1"/>
            <a:r>
              <a:rPr lang="zh-CN" altLang="en-US" smtClean="0"/>
              <a:t>来自多线程应用的</a:t>
            </a:r>
            <a:r>
              <a:rPr lang="en-US" smtClean="0"/>
              <a:t>TLP</a:t>
            </a:r>
          </a:p>
          <a:p>
            <a:pPr lvl="2"/>
            <a:r>
              <a:rPr lang="zh-CN" altLang="en-US" smtClean="0"/>
              <a:t>通过并行线程，更快地运行一个作业</a:t>
            </a:r>
            <a:endParaRPr lang="en-US" smtClean="0"/>
          </a:p>
          <a:p>
            <a:r>
              <a:rPr lang="zh-CN" altLang="en-US" smtClean="0"/>
              <a:t>多线程技术</a:t>
            </a:r>
            <a:r>
              <a:rPr lang="en-US" altLang="zh-CN" smtClean="0"/>
              <a:t>(</a:t>
            </a:r>
            <a:r>
              <a:rPr lang="en-US" smtClean="0"/>
              <a:t>Multithreading)</a:t>
            </a:r>
            <a:r>
              <a:rPr lang="zh-CN" altLang="en-US" smtClean="0"/>
              <a:t>通过</a:t>
            </a:r>
            <a:r>
              <a:rPr lang="en-US" smtClean="0"/>
              <a:t>TLP</a:t>
            </a:r>
            <a:r>
              <a:rPr lang="zh-CN" altLang="en-US" smtClean="0"/>
              <a:t>来提高单处理机系统的利用率</a:t>
            </a:r>
            <a:endParaRPr lang="en-US" altLang="zh-CN" smtClean="0"/>
          </a:p>
          <a:p>
            <a:pPr lvl="1"/>
            <a:r>
              <a:rPr lang="zh-CN" altLang="en-US" smtClean="0"/>
              <a:t>快速切换线程，容忍各种延迟</a:t>
            </a:r>
            <a:endParaRPr lang="en-US" dirty="0"/>
          </a:p>
        </p:txBody>
      </p:sp>
    </p:spTree>
    <p:extLst>
      <p:ext uri="{BB962C8B-B14F-4D97-AF65-F5344CB8AC3E}">
        <p14:creationId xmlns:p14="http://schemas.microsoft.com/office/powerpoint/2010/main" val="1136111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p:cNvSpPr>
            <a:spLocks noGrp="1" noChangeArrowheads="1"/>
          </p:cNvSpPr>
          <p:nvPr>
            <p:ph type="title"/>
          </p:nvPr>
        </p:nvSpPr>
        <p:spPr/>
        <p:txBody>
          <a:bodyPr/>
          <a:lstStyle/>
          <a:p>
            <a:r>
              <a:rPr lang="zh-CN" altLang="en-US" dirty="0" smtClean="0"/>
              <a:t>流水线中</a:t>
            </a:r>
            <a:r>
              <a:rPr lang="zh-CN" altLang="en-US" dirty="0" smtClean="0"/>
              <a:t>的</a:t>
            </a:r>
            <a:r>
              <a:rPr lang="zh-CN" altLang="en-US" dirty="0" smtClean="0"/>
              <a:t>险象</a:t>
            </a:r>
            <a:r>
              <a:rPr lang="en-US" altLang="zh-CN" dirty="0" smtClean="0"/>
              <a:t>(</a:t>
            </a:r>
            <a:r>
              <a:rPr lang="en-US" dirty="0" smtClean="0"/>
              <a:t>Hazard</a:t>
            </a:r>
            <a:r>
              <a:rPr lang="en-US" dirty="0" smtClean="0"/>
              <a:t>)</a:t>
            </a:r>
            <a:endParaRPr lang="en-US" dirty="0"/>
          </a:p>
        </p:txBody>
      </p:sp>
      <p:sp>
        <p:nvSpPr>
          <p:cNvPr id="1389571" name="Rectangle 3"/>
          <p:cNvSpPr>
            <a:spLocks noGrp="1" noChangeArrowheads="1"/>
          </p:cNvSpPr>
          <p:nvPr>
            <p:ph idx="1"/>
          </p:nvPr>
        </p:nvSpPr>
        <p:spPr>
          <a:xfrm>
            <a:off x="838200" y="4349844"/>
            <a:ext cx="10515600" cy="2319516"/>
          </a:xfrm>
        </p:spPr>
        <p:txBody>
          <a:bodyPr/>
          <a:lstStyle/>
          <a:p>
            <a:r>
              <a:rPr lang="zh-CN" altLang="en-US" dirty="0" smtClean="0"/>
              <a:t>每条指令都依赖于先前的一条</a:t>
            </a:r>
            <a:r>
              <a:rPr lang="zh-CN" altLang="en-US" dirty="0" smtClean="0"/>
              <a:t>指令</a:t>
            </a:r>
            <a:endParaRPr lang="en-US" dirty="0" smtClean="0"/>
          </a:p>
          <a:p>
            <a:r>
              <a:rPr lang="en-US" altLang="zh-CN" dirty="0" smtClean="0"/>
              <a:t>ILP</a:t>
            </a:r>
            <a:r>
              <a:rPr lang="zh-CN" altLang="en-US" dirty="0" smtClean="0"/>
              <a:t>处理器</a:t>
            </a:r>
            <a:r>
              <a:rPr lang="zh-CN" altLang="en-US" dirty="0" smtClean="0"/>
              <a:t>中处理数据险象的</a:t>
            </a:r>
            <a:r>
              <a:rPr lang="zh-CN" altLang="en-US" dirty="0" smtClean="0"/>
              <a:t>几种常用解决</a:t>
            </a:r>
            <a:r>
              <a:rPr lang="zh-CN" altLang="en-US" dirty="0" smtClean="0"/>
              <a:t>方案</a:t>
            </a:r>
            <a:endParaRPr lang="en-US" altLang="zh-CN" dirty="0" smtClean="0"/>
          </a:p>
          <a:p>
            <a:pPr lvl="1"/>
            <a:r>
              <a:rPr lang="zh-CN" altLang="en-US" dirty="0" smtClean="0"/>
              <a:t>互锁</a:t>
            </a:r>
            <a:r>
              <a:rPr lang="en-US" altLang="zh-CN" dirty="0" smtClean="0"/>
              <a:t>(interlock</a:t>
            </a:r>
            <a:r>
              <a:rPr lang="zh-CN" altLang="en-US" dirty="0" smtClean="0"/>
              <a:t>，导致较多的流水线停顿</a:t>
            </a:r>
            <a:r>
              <a:rPr lang="en-US" altLang="zh-CN" dirty="0" smtClean="0"/>
              <a:t>)</a:t>
            </a:r>
          </a:p>
          <a:p>
            <a:pPr lvl="1"/>
            <a:r>
              <a:rPr lang="zh-CN" altLang="en-US" dirty="0" smtClean="0"/>
              <a:t>旁路</a:t>
            </a:r>
            <a:r>
              <a:rPr lang="en-US" altLang="zh-CN" dirty="0" smtClean="0"/>
              <a:t>(</a:t>
            </a:r>
            <a:r>
              <a:rPr lang="en-US" altLang="zh-CN" dirty="0" smtClean="0"/>
              <a:t>bypassing/forwarding, </a:t>
            </a:r>
            <a:r>
              <a:rPr lang="zh-CN" altLang="en-US" dirty="0" smtClean="0"/>
              <a:t>增加额外硬件</a:t>
            </a:r>
            <a:r>
              <a:rPr lang="zh-CN" altLang="en-US" dirty="0" smtClean="0"/>
              <a:t>，不能解决</a:t>
            </a:r>
            <a:r>
              <a:rPr lang="zh-CN" altLang="en-US" dirty="0" smtClean="0"/>
              <a:t>所有险象）</a:t>
            </a:r>
            <a:endParaRPr lang="en-US" altLang="zh-CN" dirty="0" smtClean="0"/>
          </a:p>
          <a:p>
            <a:pPr lvl="1"/>
            <a:r>
              <a:rPr lang="zh-CN" altLang="en-US" dirty="0" smtClean="0"/>
              <a:t>指令调度（硬件</a:t>
            </a:r>
            <a:r>
              <a:rPr lang="en-US" altLang="zh-CN" dirty="0" smtClean="0"/>
              <a:t>OOO</a:t>
            </a:r>
            <a:r>
              <a:rPr lang="zh-CN" altLang="en-US" dirty="0" smtClean="0"/>
              <a:t>，或编译调度、软件</a:t>
            </a:r>
            <a:r>
              <a:rPr lang="zh-CN" altLang="en-US" dirty="0" smtClean="0"/>
              <a:t>流水等）</a:t>
            </a:r>
            <a:endParaRPr lang="en-US" altLang="zh-CN" dirty="0" smtClean="0"/>
          </a:p>
        </p:txBody>
      </p:sp>
      <p:sp>
        <p:nvSpPr>
          <p:cNvPr id="1389572" name="Text Box 4"/>
          <p:cNvSpPr txBox="1">
            <a:spLocks noChangeArrowheads="1"/>
          </p:cNvSpPr>
          <p:nvPr/>
        </p:nvSpPr>
        <p:spPr bwMode="auto">
          <a:xfrm>
            <a:off x="1631505" y="1968624"/>
            <a:ext cx="3134191" cy="1569660"/>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sz="2400" b="1" dirty="0">
                <a:latin typeface="Courier New" pitchFamily="49" charset="0"/>
                <a:cs typeface="Courier New" pitchFamily="49" charset="0"/>
              </a:rPr>
              <a:t>LW r1, 0(r2)</a:t>
            </a:r>
          </a:p>
          <a:p>
            <a:pPr algn="l">
              <a:spcBef>
                <a:spcPct val="0"/>
              </a:spcBef>
            </a:pPr>
            <a:r>
              <a:rPr lang="en-US" sz="2400" b="1" dirty="0">
                <a:latin typeface="Courier New" pitchFamily="49" charset="0"/>
                <a:cs typeface="Courier New" pitchFamily="49" charset="0"/>
              </a:rPr>
              <a:t>LW r5, 12(r1)</a:t>
            </a:r>
          </a:p>
          <a:p>
            <a:pPr algn="l">
              <a:spcBef>
                <a:spcPct val="0"/>
              </a:spcBef>
            </a:pPr>
            <a:r>
              <a:rPr lang="en-US" sz="2400" b="1" dirty="0">
                <a:latin typeface="Courier New" pitchFamily="49" charset="0"/>
                <a:cs typeface="Courier New" pitchFamily="49" charset="0"/>
              </a:rPr>
              <a:t>ADDI r5, r5, #12</a:t>
            </a:r>
          </a:p>
          <a:p>
            <a:pPr algn="l">
              <a:spcBef>
                <a:spcPct val="0"/>
              </a:spcBef>
            </a:pPr>
            <a:r>
              <a:rPr lang="en-US" sz="2400" b="1" dirty="0">
                <a:latin typeface="Courier New" pitchFamily="49" charset="0"/>
                <a:cs typeface="Courier New" pitchFamily="49" charset="0"/>
              </a:rPr>
              <a:t>SW 12(r1), r5</a:t>
            </a:r>
          </a:p>
        </p:txBody>
      </p:sp>
      <p:grpSp>
        <p:nvGrpSpPr>
          <p:cNvPr id="2" name="Group 5"/>
          <p:cNvGrpSpPr>
            <a:grpSpLocks/>
          </p:cNvGrpSpPr>
          <p:nvPr/>
        </p:nvGrpSpPr>
        <p:grpSpPr bwMode="auto">
          <a:xfrm>
            <a:off x="4426718" y="1511424"/>
            <a:ext cx="5813426" cy="2133600"/>
            <a:chOff x="1824" y="2256"/>
            <a:chExt cx="3662" cy="1344"/>
          </a:xfrm>
        </p:grpSpPr>
        <p:sp>
          <p:nvSpPr>
            <p:cNvPr id="1389574" name="Rectangle 6"/>
            <p:cNvSpPr>
              <a:spLocks noChangeArrowheads="1"/>
            </p:cNvSpPr>
            <p:nvPr/>
          </p:nvSpPr>
          <p:spPr bwMode="auto">
            <a:xfrm>
              <a:off x="1848" y="254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575" name="Rectangle 7"/>
            <p:cNvSpPr>
              <a:spLocks noChangeArrowheads="1"/>
            </p:cNvSpPr>
            <p:nvPr/>
          </p:nvSpPr>
          <p:spPr bwMode="auto">
            <a:xfrm>
              <a:off x="2088" y="254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576" name="Rectangle 8"/>
            <p:cNvSpPr>
              <a:spLocks noChangeArrowheads="1"/>
            </p:cNvSpPr>
            <p:nvPr/>
          </p:nvSpPr>
          <p:spPr bwMode="auto">
            <a:xfrm>
              <a:off x="2328" y="254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89577" name="Rectangle 9"/>
            <p:cNvSpPr>
              <a:spLocks noChangeArrowheads="1"/>
            </p:cNvSpPr>
            <p:nvPr/>
          </p:nvSpPr>
          <p:spPr bwMode="auto">
            <a:xfrm>
              <a:off x="2568" y="254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89578" name="Rectangle 10"/>
            <p:cNvSpPr>
              <a:spLocks noChangeArrowheads="1"/>
            </p:cNvSpPr>
            <p:nvPr/>
          </p:nvSpPr>
          <p:spPr bwMode="auto">
            <a:xfrm>
              <a:off x="2808" y="254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grpSp>
          <p:nvGrpSpPr>
            <p:cNvPr id="3" name="Group 11"/>
            <p:cNvGrpSpPr>
              <a:grpSpLocks/>
            </p:cNvGrpSpPr>
            <p:nvPr/>
          </p:nvGrpSpPr>
          <p:grpSpPr bwMode="auto">
            <a:xfrm>
              <a:off x="1848" y="2400"/>
              <a:ext cx="2160" cy="1200"/>
              <a:chOff x="1824" y="2688"/>
              <a:chExt cx="2160" cy="1200"/>
            </a:xfrm>
          </p:grpSpPr>
          <p:sp>
            <p:nvSpPr>
              <p:cNvPr id="1389580" name="Line 12"/>
              <p:cNvSpPr>
                <a:spLocks noChangeShapeType="1"/>
              </p:cNvSpPr>
              <p:nvPr/>
            </p:nvSpPr>
            <p:spPr bwMode="auto">
              <a:xfrm>
                <a:off x="18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1" name="Line 13"/>
              <p:cNvSpPr>
                <a:spLocks noChangeShapeType="1"/>
              </p:cNvSpPr>
              <p:nvPr/>
            </p:nvSpPr>
            <p:spPr bwMode="auto">
              <a:xfrm>
                <a:off x="20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2" name="Line 14"/>
              <p:cNvSpPr>
                <a:spLocks noChangeShapeType="1"/>
              </p:cNvSpPr>
              <p:nvPr/>
            </p:nvSpPr>
            <p:spPr bwMode="auto">
              <a:xfrm>
                <a:off x="23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3" name="Line 15"/>
              <p:cNvSpPr>
                <a:spLocks noChangeShapeType="1"/>
              </p:cNvSpPr>
              <p:nvPr/>
            </p:nvSpPr>
            <p:spPr bwMode="auto">
              <a:xfrm>
                <a:off x="25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4" name="Line 16"/>
              <p:cNvSpPr>
                <a:spLocks noChangeShapeType="1"/>
              </p:cNvSpPr>
              <p:nvPr/>
            </p:nvSpPr>
            <p:spPr bwMode="auto">
              <a:xfrm>
                <a:off x="27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5" name="Line 17"/>
              <p:cNvSpPr>
                <a:spLocks noChangeShapeType="1"/>
              </p:cNvSpPr>
              <p:nvPr/>
            </p:nvSpPr>
            <p:spPr bwMode="auto">
              <a:xfrm>
                <a:off x="30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6" name="Line 18"/>
              <p:cNvSpPr>
                <a:spLocks noChangeShapeType="1"/>
              </p:cNvSpPr>
              <p:nvPr/>
            </p:nvSpPr>
            <p:spPr bwMode="auto">
              <a:xfrm>
                <a:off x="32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7" name="Line 19"/>
              <p:cNvSpPr>
                <a:spLocks noChangeShapeType="1"/>
              </p:cNvSpPr>
              <p:nvPr/>
            </p:nvSpPr>
            <p:spPr bwMode="auto">
              <a:xfrm>
                <a:off x="35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8" name="Line 20"/>
              <p:cNvSpPr>
                <a:spLocks noChangeShapeType="1"/>
              </p:cNvSpPr>
              <p:nvPr/>
            </p:nvSpPr>
            <p:spPr bwMode="auto">
              <a:xfrm>
                <a:off x="37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589" name="Line 21"/>
              <p:cNvSpPr>
                <a:spLocks noChangeShapeType="1"/>
              </p:cNvSpPr>
              <p:nvPr/>
            </p:nvSpPr>
            <p:spPr bwMode="auto">
              <a:xfrm>
                <a:off x="39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grpSp>
        <p:sp>
          <p:nvSpPr>
            <p:cNvPr id="1389590" name="Text Box 22"/>
            <p:cNvSpPr txBox="1">
              <a:spLocks noChangeArrowheads="1"/>
            </p:cNvSpPr>
            <p:nvPr/>
          </p:nvSpPr>
          <p:spPr bwMode="auto">
            <a:xfrm>
              <a:off x="182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t0</a:t>
              </a:r>
            </a:p>
          </p:txBody>
        </p:sp>
        <p:sp>
          <p:nvSpPr>
            <p:cNvPr id="1389591" name="Text Box 23"/>
            <p:cNvSpPr txBox="1">
              <a:spLocks noChangeArrowheads="1"/>
            </p:cNvSpPr>
            <p:nvPr/>
          </p:nvSpPr>
          <p:spPr bwMode="auto">
            <a:xfrm>
              <a:off x="206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a:t>
              </a:r>
            </a:p>
          </p:txBody>
        </p:sp>
        <p:sp>
          <p:nvSpPr>
            <p:cNvPr id="1389592" name="Text Box 24"/>
            <p:cNvSpPr txBox="1">
              <a:spLocks noChangeArrowheads="1"/>
            </p:cNvSpPr>
            <p:nvPr/>
          </p:nvSpPr>
          <p:spPr bwMode="auto">
            <a:xfrm>
              <a:off x="230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t2</a:t>
              </a:r>
            </a:p>
          </p:txBody>
        </p:sp>
        <p:sp>
          <p:nvSpPr>
            <p:cNvPr id="1389593" name="Text Box 25"/>
            <p:cNvSpPr txBox="1">
              <a:spLocks noChangeArrowheads="1"/>
            </p:cNvSpPr>
            <p:nvPr/>
          </p:nvSpPr>
          <p:spPr bwMode="auto">
            <a:xfrm>
              <a:off x="254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t3</a:t>
              </a:r>
            </a:p>
          </p:txBody>
        </p:sp>
        <p:sp>
          <p:nvSpPr>
            <p:cNvPr id="1389594" name="Text Box 26"/>
            <p:cNvSpPr txBox="1">
              <a:spLocks noChangeArrowheads="1"/>
            </p:cNvSpPr>
            <p:nvPr/>
          </p:nvSpPr>
          <p:spPr bwMode="auto">
            <a:xfrm>
              <a:off x="278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t4</a:t>
              </a:r>
            </a:p>
          </p:txBody>
        </p:sp>
        <p:sp>
          <p:nvSpPr>
            <p:cNvPr id="1389595" name="Text Box 27"/>
            <p:cNvSpPr txBox="1">
              <a:spLocks noChangeArrowheads="1"/>
            </p:cNvSpPr>
            <p:nvPr/>
          </p:nvSpPr>
          <p:spPr bwMode="auto">
            <a:xfrm>
              <a:off x="302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t5</a:t>
              </a:r>
            </a:p>
          </p:txBody>
        </p:sp>
        <p:sp>
          <p:nvSpPr>
            <p:cNvPr id="1389596" name="Text Box 28"/>
            <p:cNvSpPr txBox="1">
              <a:spLocks noChangeArrowheads="1"/>
            </p:cNvSpPr>
            <p:nvPr/>
          </p:nvSpPr>
          <p:spPr bwMode="auto">
            <a:xfrm>
              <a:off x="326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t6</a:t>
              </a:r>
            </a:p>
          </p:txBody>
        </p:sp>
        <p:sp>
          <p:nvSpPr>
            <p:cNvPr id="1389597" name="Text Box 29"/>
            <p:cNvSpPr txBox="1">
              <a:spLocks noChangeArrowheads="1"/>
            </p:cNvSpPr>
            <p:nvPr/>
          </p:nvSpPr>
          <p:spPr bwMode="auto">
            <a:xfrm>
              <a:off x="350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t7</a:t>
              </a:r>
            </a:p>
          </p:txBody>
        </p:sp>
        <p:sp>
          <p:nvSpPr>
            <p:cNvPr id="1389598" name="Text Box 30"/>
            <p:cNvSpPr txBox="1">
              <a:spLocks noChangeArrowheads="1"/>
            </p:cNvSpPr>
            <p:nvPr/>
          </p:nvSpPr>
          <p:spPr bwMode="auto">
            <a:xfrm>
              <a:off x="3744"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t8</a:t>
              </a:r>
            </a:p>
          </p:txBody>
        </p:sp>
        <p:sp>
          <p:nvSpPr>
            <p:cNvPr id="1389599" name="Rectangle 31"/>
            <p:cNvSpPr>
              <a:spLocks noChangeArrowheads="1"/>
            </p:cNvSpPr>
            <p:nvPr/>
          </p:nvSpPr>
          <p:spPr bwMode="auto">
            <a:xfrm>
              <a:off x="2088" y="278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00" name="Rectangle 32"/>
            <p:cNvSpPr>
              <a:spLocks noChangeArrowheads="1"/>
            </p:cNvSpPr>
            <p:nvPr/>
          </p:nvSpPr>
          <p:spPr bwMode="auto">
            <a:xfrm>
              <a:off x="3048" y="278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01" name="Rectangle 33"/>
            <p:cNvSpPr>
              <a:spLocks noChangeArrowheads="1"/>
            </p:cNvSpPr>
            <p:nvPr/>
          </p:nvSpPr>
          <p:spPr bwMode="auto">
            <a:xfrm>
              <a:off x="3288" y="278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89602" name="Rectangle 34"/>
            <p:cNvSpPr>
              <a:spLocks noChangeArrowheads="1"/>
            </p:cNvSpPr>
            <p:nvPr/>
          </p:nvSpPr>
          <p:spPr bwMode="auto">
            <a:xfrm>
              <a:off x="3528" y="278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89603" name="Rectangle 35"/>
            <p:cNvSpPr>
              <a:spLocks noChangeArrowheads="1"/>
            </p:cNvSpPr>
            <p:nvPr/>
          </p:nvSpPr>
          <p:spPr bwMode="auto">
            <a:xfrm>
              <a:off x="3768" y="278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89604" name="Rectangle 36"/>
            <p:cNvSpPr>
              <a:spLocks noChangeArrowheads="1"/>
            </p:cNvSpPr>
            <p:nvPr/>
          </p:nvSpPr>
          <p:spPr bwMode="auto">
            <a:xfrm>
              <a:off x="2328" y="278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05" name="Rectangle 37"/>
            <p:cNvSpPr>
              <a:spLocks noChangeArrowheads="1"/>
            </p:cNvSpPr>
            <p:nvPr/>
          </p:nvSpPr>
          <p:spPr bwMode="auto">
            <a:xfrm>
              <a:off x="2568" y="278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06" name="Rectangle 38"/>
            <p:cNvSpPr>
              <a:spLocks noChangeArrowheads="1"/>
            </p:cNvSpPr>
            <p:nvPr/>
          </p:nvSpPr>
          <p:spPr bwMode="auto">
            <a:xfrm>
              <a:off x="2808" y="278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07" name="Rectangle 39"/>
            <p:cNvSpPr>
              <a:spLocks noChangeArrowheads="1"/>
            </p:cNvSpPr>
            <p:nvPr/>
          </p:nvSpPr>
          <p:spPr bwMode="auto">
            <a:xfrm>
              <a:off x="3048" y="302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08" name="Rectangle 40"/>
            <p:cNvSpPr>
              <a:spLocks noChangeArrowheads="1"/>
            </p:cNvSpPr>
            <p:nvPr/>
          </p:nvSpPr>
          <p:spPr bwMode="auto">
            <a:xfrm>
              <a:off x="4008" y="302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09" name="Rectangle 41"/>
            <p:cNvSpPr>
              <a:spLocks noChangeArrowheads="1"/>
            </p:cNvSpPr>
            <p:nvPr/>
          </p:nvSpPr>
          <p:spPr bwMode="auto">
            <a:xfrm>
              <a:off x="4248" y="302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89610" name="Rectangle 42"/>
            <p:cNvSpPr>
              <a:spLocks noChangeArrowheads="1"/>
            </p:cNvSpPr>
            <p:nvPr/>
          </p:nvSpPr>
          <p:spPr bwMode="auto">
            <a:xfrm>
              <a:off x="4488" y="302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89611" name="Rectangle 43"/>
            <p:cNvSpPr>
              <a:spLocks noChangeArrowheads="1"/>
            </p:cNvSpPr>
            <p:nvPr/>
          </p:nvSpPr>
          <p:spPr bwMode="auto">
            <a:xfrm>
              <a:off x="4728" y="302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89612" name="Rectangle 44"/>
            <p:cNvSpPr>
              <a:spLocks noChangeArrowheads="1"/>
            </p:cNvSpPr>
            <p:nvPr/>
          </p:nvSpPr>
          <p:spPr bwMode="auto">
            <a:xfrm>
              <a:off x="328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13" name="Rectangle 45"/>
            <p:cNvSpPr>
              <a:spLocks noChangeArrowheads="1"/>
            </p:cNvSpPr>
            <p:nvPr/>
          </p:nvSpPr>
          <p:spPr bwMode="auto">
            <a:xfrm>
              <a:off x="352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14" name="Rectangle 46"/>
            <p:cNvSpPr>
              <a:spLocks noChangeArrowheads="1"/>
            </p:cNvSpPr>
            <p:nvPr/>
          </p:nvSpPr>
          <p:spPr bwMode="auto">
            <a:xfrm>
              <a:off x="376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15" name="Rectangle 47"/>
            <p:cNvSpPr>
              <a:spLocks noChangeArrowheads="1"/>
            </p:cNvSpPr>
            <p:nvPr/>
          </p:nvSpPr>
          <p:spPr bwMode="auto">
            <a:xfrm>
              <a:off x="232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16" name="Rectangle 48"/>
            <p:cNvSpPr>
              <a:spLocks noChangeArrowheads="1"/>
            </p:cNvSpPr>
            <p:nvPr/>
          </p:nvSpPr>
          <p:spPr bwMode="auto">
            <a:xfrm>
              <a:off x="256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17" name="Rectangle 49"/>
            <p:cNvSpPr>
              <a:spLocks noChangeArrowheads="1"/>
            </p:cNvSpPr>
            <p:nvPr/>
          </p:nvSpPr>
          <p:spPr bwMode="auto">
            <a:xfrm>
              <a:off x="2808" y="302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grpSp>
          <p:nvGrpSpPr>
            <p:cNvPr id="4" name="Group 50"/>
            <p:cNvGrpSpPr>
              <a:grpSpLocks/>
            </p:cNvGrpSpPr>
            <p:nvPr/>
          </p:nvGrpSpPr>
          <p:grpSpPr bwMode="auto">
            <a:xfrm>
              <a:off x="3288" y="2400"/>
              <a:ext cx="2160" cy="1200"/>
              <a:chOff x="1824" y="2688"/>
              <a:chExt cx="2160" cy="1200"/>
            </a:xfrm>
          </p:grpSpPr>
          <p:sp>
            <p:nvSpPr>
              <p:cNvPr id="1389619" name="Line 51"/>
              <p:cNvSpPr>
                <a:spLocks noChangeShapeType="1"/>
              </p:cNvSpPr>
              <p:nvPr/>
            </p:nvSpPr>
            <p:spPr bwMode="auto">
              <a:xfrm>
                <a:off x="18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0" name="Line 52"/>
              <p:cNvSpPr>
                <a:spLocks noChangeShapeType="1"/>
              </p:cNvSpPr>
              <p:nvPr/>
            </p:nvSpPr>
            <p:spPr bwMode="auto">
              <a:xfrm>
                <a:off x="20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1" name="Line 53"/>
              <p:cNvSpPr>
                <a:spLocks noChangeShapeType="1"/>
              </p:cNvSpPr>
              <p:nvPr/>
            </p:nvSpPr>
            <p:spPr bwMode="auto">
              <a:xfrm>
                <a:off x="23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2" name="Line 54"/>
              <p:cNvSpPr>
                <a:spLocks noChangeShapeType="1"/>
              </p:cNvSpPr>
              <p:nvPr/>
            </p:nvSpPr>
            <p:spPr bwMode="auto">
              <a:xfrm>
                <a:off x="25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3" name="Line 55"/>
              <p:cNvSpPr>
                <a:spLocks noChangeShapeType="1"/>
              </p:cNvSpPr>
              <p:nvPr/>
            </p:nvSpPr>
            <p:spPr bwMode="auto">
              <a:xfrm>
                <a:off x="27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4" name="Line 56"/>
              <p:cNvSpPr>
                <a:spLocks noChangeShapeType="1"/>
              </p:cNvSpPr>
              <p:nvPr/>
            </p:nvSpPr>
            <p:spPr bwMode="auto">
              <a:xfrm>
                <a:off x="30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5" name="Line 57"/>
              <p:cNvSpPr>
                <a:spLocks noChangeShapeType="1"/>
              </p:cNvSpPr>
              <p:nvPr/>
            </p:nvSpPr>
            <p:spPr bwMode="auto">
              <a:xfrm>
                <a:off x="32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6" name="Line 58"/>
              <p:cNvSpPr>
                <a:spLocks noChangeShapeType="1"/>
              </p:cNvSpPr>
              <p:nvPr/>
            </p:nvSpPr>
            <p:spPr bwMode="auto">
              <a:xfrm>
                <a:off x="35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7" name="Line 59"/>
              <p:cNvSpPr>
                <a:spLocks noChangeShapeType="1"/>
              </p:cNvSpPr>
              <p:nvPr/>
            </p:nvSpPr>
            <p:spPr bwMode="auto">
              <a:xfrm>
                <a:off x="37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89628" name="Line 60"/>
              <p:cNvSpPr>
                <a:spLocks noChangeShapeType="1"/>
              </p:cNvSpPr>
              <p:nvPr/>
            </p:nvSpPr>
            <p:spPr bwMode="auto">
              <a:xfrm>
                <a:off x="39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grpSp>
        <p:sp>
          <p:nvSpPr>
            <p:cNvPr id="1389629" name="Rectangle 61"/>
            <p:cNvSpPr>
              <a:spLocks noChangeArrowheads="1"/>
            </p:cNvSpPr>
            <p:nvPr/>
          </p:nvSpPr>
          <p:spPr bwMode="auto">
            <a:xfrm>
              <a:off x="4008" y="326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30" name="Rectangle 62"/>
            <p:cNvSpPr>
              <a:spLocks noChangeArrowheads="1"/>
            </p:cNvSpPr>
            <p:nvPr/>
          </p:nvSpPr>
          <p:spPr bwMode="auto">
            <a:xfrm>
              <a:off x="4968" y="3264"/>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31" name="Rectangle 63"/>
            <p:cNvSpPr>
              <a:spLocks noChangeArrowheads="1"/>
            </p:cNvSpPr>
            <p:nvPr/>
          </p:nvSpPr>
          <p:spPr bwMode="auto">
            <a:xfrm>
              <a:off x="424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32" name="Rectangle 64"/>
            <p:cNvSpPr>
              <a:spLocks noChangeArrowheads="1"/>
            </p:cNvSpPr>
            <p:nvPr/>
          </p:nvSpPr>
          <p:spPr bwMode="auto">
            <a:xfrm>
              <a:off x="448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33" name="Rectangle 65"/>
            <p:cNvSpPr>
              <a:spLocks noChangeArrowheads="1"/>
            </p:cNvSpPr>
            <p:nvPr/>
          </p:nvSpPr>
          <p:spPr bwMode="auto">
            <a:xfrm>
              <a:off x="472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89634" name="Rectangle 66"/>
            <p:cNvSpPr>
              <a:spLocks noChangeArrowheads="1"/>
            </p:cNvSpPr>
            <p:nvPr/>
          </p:nvSpPr>
          <p:spPr bwMode="auto">
            <a:xfrm>
              <a:off x="328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35" name="Rectangle 67"/>
            <p:cNvSpPr>
              <a:spLocks noChangeArrowheads="1"/>
            </p:cNvSpPr>
            <p:nvPr/>
          </p:nvSpPr>
          <p:spPr bwMode="auto">
            <a:xfrm>
              <a:off x="352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36" name="Rectangle 68"/>
            <p:cNvSpPr>
              <a:spLocks noChangeArrowheads="1"/>
            </p:cNvSpPr>
            <p:nvPr/>
          </p:nvSpPr>
          <p:spPr bwMode="auto">
            <a:xfrm>
              <a:off x="3768" y="3264"/>
              <a:ext cx="240" cy="24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89637" name="Text Box 69"/>
            <p:cNvSpPr txBox="1">
              <a:spLocks noChangeArrowheads="1"/>
            </p:cNvSpPr>
            <p:nvPr/>
          </p:nvSpPr>
          <p:spPr bwMode="auto">
            <a:xfrm>
              <a:off x="4008" y="2256"/>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t9</a:t>
              </a:r>
            </a:p>
          </p:txBody>
        </p:sp>
        <p:sp>
          <p:nvSpPr>
            <p:cNvPr id="1389638" name="Text Box 70"/>
            <p:cNvSpPr txBox="1">
              <a:spLocks noChangeArrowheads="1"/>
            </p:cNvSpPr>
            <p:nvPr/>
          </p:nvSpPr>
          <p:spPr bwMode="auto">
            <a:xfrm>
              <a:off x="4200" y="2256"/>
              <a:ext cx="32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t10</a:t>
              </a:r>
            </a:p>
          </p:txBody>
        </p:sp>
        <p:sp>
          <p:nvSpPr>
            <p:cNvPr id="1389639" name="Text Box 71"/>
            <p:cNvSpPr txBox="1">
              <a:spLocks noChangeArrowheads="1"/>
            </p:cNvSpPr>
            <p:nvPr/>
          </p:nvSpPr>
          <p:spPr bwMode="auto">
            <a:xfrm>
              <a:off x="4440" y="2256"/>
              <a:ext cx="318"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t11</a:t>
              </a:r>
            </a:p>
          </p:txBody>
        </p:sp>
        <p:sp>
          <p:nvSpPr>
            <p:cNvPr id="1389640" name="Text Box 72"/>
            <p:cNvSpPr txBox="1">
              <a:spLocks noChangeArrowheads="1"/>
            </p:cNvSpPr>
            <p:nvPr/>
          </p:nvSpPr>
          <p:spPr bwMode="auto">
            <a:xfrm>
              <a:off x="4680" y="2256"/>
              <a:ext cx="32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t12</a:t>
              </a:r>
            </a:p>
          </p:txBody>
        </p:sp>
        <p:sp>
          <p:nvSpPr>
            <p:cNvPr id="1389641" name="Text Box 73"/>
            <p:cNvSpPr txBox="1">
              <a:spLocks noChangeArrowheads="1"/>
            </p:cNvSpPr>
            <p:nvPr/>
          </p:nvSpPr>
          <p:spPr bwMode="auto">
            <a:xfrm>
              <a:off x="4920" y="2256"/>
              <a:ext cx="32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t13</a:t>
              </a:r>
            </a:p>
          </p:txBody>
        </p:sp>
        <p:sp>
          <p:nvSpPr>
            <p:cNvPr id="1389642" name="Text Box 74"/>
            <p:cNvSpPr txBox="1">
              <a:spLocks noChangeArrowheads="1"/>
            </p:cNvSpPr>
            <p:nvPr/>
          </p:nvSpPr>
          <p:spPr bwMode="auto">
            <a:xfrm>
              <a:off x="5160" y="2256"/>
              <a:ext cx="32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t14</a:t>
              </a:r>
            </a:p>
          </p:txBody>
        </p:sp>
      </p:grpSp>
    </p:spTree>
    <p:extLst>
      <p:ext uri="{BB962C8B-B14F-4D97-AF65-F5344CB8AC3E}">
        <p14:creationId xmlns:p14="http://schemas.microsoft.com/office/powerpoint/2010/main" val="191728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8" name="Rectangle 2"/>
          <p:cNvSpPr>
            <a:spLocks noGrp="1" noChangeArrowheads="1"/>
          </p:cNvSpPr>
          <p:nvPr>
            <p:ph type="title"/>
          </p:nvPr>
        </p:nvSpPr>
        <p:spPr/>
        <p:txBody>
          <a:bodyPr/>
          <a:lstStyle/>
          <a:p>
            <a:r>
              <a:rPr lang="en-US" smtClean="0"/>
              <a:t>Multithreading</a:t>
            </a:r>
            <a:r>
              <a:rPr lang="zh-CN" altLang="en-US" smtClean="0"/>
              <a:t>的思路</a:t>
            </a:r>
            <a:endParaRPr lang="en-US" dirty="0"/>
          </a:p>
        </p:txBody>
      </p:sp>
      <p:sp>
        <p:nvSpPr>
          <p:cNvPr id="1391619" name="Rectangle 3"/>
          <p:cNvSpPr>
            <a:spLocks noGrp="1" noChangeArrowheads="1"/>
          </p:cNvSpPr>
          <p:nvPr>
            <p:ph idx="1"/>
          </p:nvPr>
        </p:nvSpPr>
        <p:spPr/>
        <p:txBody>
          <a:bodyPr/>
          <a:lstStyle/>
          <a:p>
            <a:r>
              <a:rPr lang="zh-CN" altLang="en-US" smtClean="0"/>
              <a:t>怎么才能让流水线里的指令间没有依赖呢？</a:t>
            </a:r>
            <a:endParaRPr lang="en-US" altLang="en-US" smtClean="0"/>
          </a:p>
          <a:p>
            <a:pPr lvl="1"/>
            <a:r>
              <a:rPr lang="zh-CN" altLang="en-US" smtClean="0"/>
              <a:t>多线程处理器</a:t>
            </a:r>
            <a:r>
              <a:rPr lang="en-US" altLang="zh-CN" smtClean="0"/>
              <a:t>(multithreaded)</a:t>
            </a:r>
            <a:r>
              <a:rPr lang="zh-CN" altLang="en-US" smtClean="0"/>
              <a:t>体系结构</a:t>
            </a:r>
            <a:endParaRPr lang="en-US" altLang="zh-CN" smtClean="0"/>
          </a:p>
          <a:p>
            <a:pPr lvl="1"/>
            <a:r>
              <a:rPr lang="zh-CN" altLang="en-US" smtClean="0"/>
              <a:t>在一条流水线上交替执行来自不同程序或不同线程的指令</a:t>
            </a:r>
            <a:endParaRPr lang="en-US" altLang="en-US" dirty="0" smtClean="0"/>
          </a:p>
        </p:txBody>
      </p:sp>
      <p:grpSp>
        <p:nvGrpSpPr>
          <p:cNvPr id="2" name="Group 4"/>
          <p:cNvGrpSpPr>
            <a:grpSpLocks/>
          </p:cNvGrpSpPr>
          <p:nvPr/>
        </p:nvGrpSpPr>
        <p:grpSpPr bwMode="auto">
          <a:xfrm>
            <a:off x="1676400" y="3463503"/>
            <a:ext cx="7850188" cy="2841625"/>
            <a:chOff x="100" y="2098"/>
            <a:chExt cx="4945" cy="1790"/>
          </a:xfrm>
        </p:grpSpPr>
        <p:grpSp>
          <p:nvGrpSpPr>
            <p:cNvPr id="3" name="Group 5"/>
            <p:cNvGrpSpPr>
              <a:grpSpLocks/>
            </p:cNvGrpSpPr>
            <p:nvPr/>
          </p:nvGrpSpPr>
          <p:grpSpPr bwMode="auto">
            <a:xfrm>
              <a:off x="1972" y="2496"/>
              <a:ext cx="2184" cy="1392"/>
              <a:chOff x="1824" y="2688"/>
              <a:chExt cx="2160" cy="1200"/>
            </a:xfrm>
          </p:grpSpPr>
          <p:sp>
            <p:nvSpPr>
              <p:cNvPr id="1391622" name="Line 6"/>
              <p:cNvSpPr>
                <a:spLocks noChangeShapeType="1"/>
              </p:cNvSpPr>
              <p:nvPr/>
            </p:nvSpPr>
            <p:spPr bwMode="auto">
              <a:xfrm>
                <a:off x="18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3" name="Line 7"/>
              <p:cNvSpPr>
                <a:spLocks noChangeShapeType="1"/>
              </p:cNvSpPr>
              <p:nvPr/>
            </p:nvSpPr>
            <p:spPr bwMode="auto">
              <a:xfrm>
                <a:off x="20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4" name="Line 8"/>
              <p:cNvSpPr>
                <a:spLocks noChangeShapeType="1"/>
              </p:cNvSpPr>
              <p:nvPr/>
            </p:nvSpPr>
            <p:spPr bwMode="auto">
              <a:xfrm>
                <a:off x="23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5" name="Line 9"/>
              <p:cNvSpPr>
                <a:spLocks noChangeShapeType="1"/>
              </p:cNvSpPr>
              <p:nvPr/>
            </p:nvSpPr>
            <p:spPr bwMode="auto">
              <a:xfrm>
                <a:off x="25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6" name="Line 10"/>
              <p:cNvSpPr>
                <a:spLocks noChangeShapeType="1"/>
              </p:cNvSpPr>
              <p:nvPr/>
            </p:nvSpPr>
            <p:spPr bwMode="auto">
              <a:xfrm>
                <a:off x="27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7" name="Line 11"/>
              <p:cNvSpPr>
                <a:spLocks noChangeShapeType="1"/>
              </p:cNvSpPr>
              <p:nvPr/>
            </p:nvSpPr>
            <p:spPr bwMode="auto">
              <a:xfrm>
                <a:off x="302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8" name="Line 12"/>
              <p:cNvSpPr>
                <a:spLocks noChangeShapeType="1"/>
              </p:cNvSpPr>
              <p:nvPr/>
            </p:nvSpPr>
            <p:spPr bwMode="auto">
              <a:xfrm>
                <a:off x="326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29" name="Line 13"/>
              <p:cNvSpPr>
                <a:spLocks noChangeShapeType="1"/>
              </p:cNvSpPr>
              <p:nvPr/>
            </p:nvSpPr>
            <p:spPr bwMode="auto">
              <a:xfrm>
                <a:off x="350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30" name="Line 14"/>
              <p:cNvSpPr>
                <a:spLocks noChangeShapeType="1"/>
              </p:cNvSpPr>
              <p:nvPr/>
            </p:nvSpPr>
            <p:spPr bwMode="auto">
              <a:xfrm>
                <a:off x="374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sp>
            <p:nvSpPr>
              <p:cNvPr id="1391631" name="Line 15"/>
              <p:cNvSpPr>
                <a:spLocks noChangeShapeType="1"/>
              </p:cNvSpPr>
              <p:nvPr/>
            </p:nvSpPr>
            <p:spPr bwMode="auto">
              <a:xfrm>
                <a:off x="3984" y="2688"/>
                <a:ext cx="0" cy="1200"/>
              </a:xfrm>
              <a:prstGeom prst="line">
                <a:avLst/>
              </a:prstGeom>
              <a:noFill/>
              <a:ln w="25400">
                <a:solidFill>
                  <a:schemeClr val="tx1"/>
                </a:solidFill>
                <a:prstDash val="sysDot"/>
                <a:round/>
                <a:headEnd/>
                <a:tailEnd/>
              </a:ln>
              <a:effectLst/>
            </p:spPr>
            <p:txBody>
              <a:bodyPr>
                <a:prstTxWarp prst="textNoShape">
                  <a:avLst/>
                </a:prstTxWarp>
              </a:bodyPr>
              <a:lstStyle/>
              <a:p>
                <a:endParaRPr lang="en-US"/>
              </a:p>
            </p:txBody>
          </p:sp>
        </p:grpSp>
        <p:sp>
          <p:nvSpPr>
            <p:cNvPr id="1391632" name="Rectangle 16"/>
            <p:cNvSpPr>
              <a:spLocks noChangeArrowheads="1"/>
            </p:cNvSpPr>
            <p:nvPr/>
          </p:nvSpPr>
          <p:spPr bwMode="auto">
            <a:xfrm>
              <a:off x="1972" y="264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91633" name="Rectangle 17"/>
            <p:cNvSpPr>
              <a:spLocks noChangeArrowheads="1"/>
            </p:cNvSpPr>
            <p:nvPr/>
          </p:nvSpPr>
          <p:spPr bwMode="auto">
            <a:xfrm>
              <a:off x="2212" y="264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91634" name="Rectangle 18"/>
            <p:cNvSpPr>
              <a:spLocks noChangeArrowheads="1"/>
            </p:cNvSpPr>
            <p:nvPr/>
          </p:nvSpPr>
          <p:spPr bwMode="auto">
            <a:xfrm>
              <a:off x="2452" y="264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91635" name="Rectangle 19"/>
            <p:cNvSpPr>
              <a:spLocks noChangeArrowheads="1"/>
            </p:cNvSpPr>
            <p:nvPr/>
          </p:nvSpPr>
          <p:spPr bwMode="auto">
            <a:xfrm>
              <a:off x="2692" y="264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91636" name="Rectangle 20"/>
            <p:cNvSpPr>
              <a:spLocks noChangeArrowheads="1"/>
            </p:cNvSpPr>
            <p:nvPr/>
          </p:nvSpPr>
          <p:spPr bwMode="auto">
            <a:xfrm>
              <a:off x="2932" y="264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91637" name="Text Box 21"/>
            <p:cNvSpPr txBox="1">
              <a:spLocks noChangeArrowheads="1"/>
            </p:cNvSpPr>
            <p:nvPr/>
          </p:nvSpPr>
          <p:spPr bwMode="auto">
            <a:xfrm>
              <a:off x="192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t0</a:t>
              </a:r>
            </a:p>
          </p:txBody>
        </p:sp>
        <p:sp>
          <p:nvSpPr>
            <p:cNvPr id="1391638" name="Text Box 22"/>
            <p:cNvSpPr txBox="1">
              <a:spLocks noChangeArrowheads="1"/>
            </p:cNvSpPr>
            <p:nvPr/>
          </p:nvSpPr>
          <p:spPr bwMode="auto">
            <a:xfrm>
              <a:off x="216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t1</a:t>
              </a:r>
            </a:p>
          </p:txBody>
        </p:sp>
        <p:sp>
          <p:nvSpPr>
            <p:cNvPr id="1391639" name="Text Box 23"/>
            <p:cNvSpPr txBox="1">
              <a:spLocks noChangeArrowheads="1"/>
            </p:cNvSpPr>
            <p:nvPr/>
          </p:nvSpPr>
          <p:spPr bwMode="auto">
            <a:xfrm>
              <a:off x="240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t2</a:t>
              </a:r>
            </a:p>
          </p:txBody>
        </p:sp>
        <p:sp>
          <p:nvSpPr>
            <p:cNvPr id="1391640" name="Text Box 24"/>
            <p:cNvSpPr txBox="1">
              <a:spLocks noChangeArrowheads="1"/>
            </p:cNvSpPr>
            <p:nvPr/>
          </p:nvSpPr>
          <p:spPr bwMode="auto">
            <a:xfrm>
              <a:off x="264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t3</a:t>
              </a:r>
            </a:p>
          </p:txBody>
        </p:sp>
        <p:sp>
          <p:nvSpPr>
            <p:cNvPr id="1391641" name="Text Box 25"/>
            <p:cNvSpPr txBox="1">
              <a:spLocks noChangeArrowheads="1"/>
            </p:cNvSpPr>
            <p:nvPr/>
          </p:nvSpPr>
          <p:spPr bwMode="auto">
            <a:xfrm>
              <a:off x="288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t4</a:t>
              </a:r>
            </a:p>
          </p:txBody>
        </p:sp>
        <p:sp>
          <p:nvSpPr>
            <p:cNvPr id="1391642" name="Text Box 26"/>
            <p:cNvSpPr txBox="1">
              <a:spLocks noChangeArrowheads="1"/>
            </p:cNvSpPr>
            <p:nvPr/>
          </p:nvSpPr>
          <p:spPr bwMode="auto">
            <a:xfrm>
              <a:off x="312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t5</a:t>
              </a:r>
            </a:p>
          </p:txBody>
        </p:sp>
        <p:sp>
          <p:nvSpPr>
            <p:cNvPr id="1391643" name="Text Box 27"/>
            <p:cNvSpPr txBox="1">
              <a:spLocks noChangeArrowheads="1"/>
            </p:cNvSpPr>
            <p:nvPr/>
          </p:nvSpPr>
          <p:spPr bwMode="auto">
            <a:xfrm>
              <a:off x="336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t6</a:t>
              </a:r>
            </a:p>
          </p:txBody>
        </p:sp>
        <p:sp>
          <p:nvSpPr>
            <p:cNvPr id="1391644" name="Text Box 28"/>
            <p:cNvSpPr txBox="1">
              <a:spLocks noChangeArrowheads="1"/>
            </p:cNvSpPr>
            <p:nvPr/>
          </p:nvSpPr>
          <p:spPr bwMode="auto">
            <a:xfrm>
              <a:off x="3604"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t7</a:t>
              </a:r>
            </a:p>
          </p:txBody>
        </p:sp>
        <p:sp>
          <p:nvSpPr>
            <p:cNvPr id="1391645" name="Text Box 29"/>
            <p:cNvSpPr txBox="1">
              <a:spLocks noChangeArrowheads="1"/>
            </p:cNvSpPr>
            <p:nvPr/>
          </p:nvSpPr>
          <p:spPr bwMode="auto">
            <a:xfrm>
              <a:off x="3892"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t8</a:t>
              </a:r>
            </a:p>
          </p:txBody>
        </p:sp>
        <p:sp>
          <p:nvSpPr>
            <p:cNvPr id="1391646" name="Text Box 30"/>
            <p:cNvSpPr txBox="1">
              <a:spLocks noChangeArrowheads="1"/>
            </p:cNvSpPr>
            <p:nvPr/>
          </p:nvSpPr>
          <p:spPr bwMode="auto">
            <a:xfrm>
              <a:off x="100" y="2640"/>
              <a:ext cx="1860" cy="122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sz="2400"/>
                <a:t>T1: LW r1, 0(r2)</a:t>
              </a:r>
            </a:p>
            <a:p>
              <a:pPr algn="l">
                <a:spcBef>
                  <a:spcPct val="0"/>
                </a:spcBef>
              </a:pPr>
              <a:r>
                <a:rPr lang="en-US" sz="2400"/>
                <a:t>T2: ADD r7, r1, r4</a:t>
              </a:r>
            </a:p>
            <a:p>
              <a:pPr algn="l">
                <a:spcBef>
                  <a:spcPct val="0"/>
                </a:spcBef>
              </a:pPr>
              <a:r>
                <a:rPr lang="en-US" sz="2400"/>
                <a:t>T3: XORI r5, r4, #12</a:t>
              </a:r>
            </a:p>
            <a:p>
              <a:pPr algn="l">
                <a:spcBef>
                  <a:spcPct val="0"/>
                </a:spcBef>
              </a:pPr>
              <a:r>
                <a:rPr lang="en-US" sz="2400"/>
                <a:t>T4: SW 0(r7),  r5</a:t>
              </a:r>
            </a:p>
            <a:p>
              <a:pPr algn="l">
                <a:spcBef>
                  <a:spcPct val="0"/>
                </a:spcBef>
              </a:pPr>
              <a:r>
                <a:rPr lang="en-US" sz="2400"/>
                <a:t>T1: LW r5, 12(r1)</a:t>
              </a:r>
            </a:p>
          </p:txBody>
        </p:sp>
        <p:sp>
          <p:nvSpPr>
            <p:cNvPr id="1391647" name="Text Box 31"/>
            <p:cNvSpPr txBox="1">
              <a:spLocks noChangeArrowheads="1"/>
            </p:cNvSpPr>
            <p:nvPr/>
          </p:nvSpPr>
          <p:spPr bwMode="auto">
            <a:xfrm>
              <a:off x="4180" y="2352"/>
              <a:ext cx="246" cy="23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a:t>t9</a:t>
              </a:r>
            </a:p>
          </p:txBody>
        </p:sp>
        <p:sp>
          <p:nvSpPr>
            <p:cNvPr id="1391648" name="Rectangle 32"/>
            <p:cNvSpPr>
              <a:spLocks noChangeArrowheads="1"/>
            </p:cNvSpPr>
            <p:nvPr/>
          </p:nvSpPr>
          <p:spPr bwMode="auto">
            <a:xfrm>
              <a:off x="2212" y="2880"/>
              <a:ext cx="240" cy="240"/>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91649" name="Rectangle 33"/>
            <p:cNvSpPr>
              <a:spLocks noChangeArrowheads="1"/>
            </p:cNvSpPr>
            <p:nvPr/>
          </p:nvSpPr>
          <p:spPr bwMode="auto">
            <a:xfrm>
              <a:off x="2452" y="2880"/>
              <a:ext cx="240" cy="240"/>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91650" name="Rectangle 34"/>
            <p:cNvSpPr>
              <a:spLocks noChangeArrowheads="1"/>
            </p:cNvSpPr>
            <p:nvPr/>
          </p:nvSpPr>
          <p:spPr bwMode="auto">
            <a:xfrm>
              <a:off x="2692" y="2880"/>
              <a:ext cx="240" cy="240"/>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91651" name="Rectangle 35"/>
            <p:cNvSpPr>
              <a:spLocks noChangeArrowheads="1"/>
            </p:cNvSpPr>
            <p:nvPr/>
          </p:nvSpPr>
          <p:spPr bwMode="auto">
            <a:xfrm>
              <a:off x="2932" y="2880"/>
              <a:ext cx="240" cy="240"/>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91652" name="Rectangle 36"/>
            <p:cNvSpPr>
              <a:spLocks noChangeArrowheads="1"/>
            </p:cNvSpPr>
            <p:nvPr/>
          </p:nvSpPr>
          <p:spPr bwMode="auto">
            <a:xfrm>
              <a:off x="3172" y="2880"/>
              <a:ext cx="240" cy="240"/>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91653" name="Rectangle 37"/>
            <p:cNvSpPr>
              <a:spLocks noChangeArrowheads="1"/>
            </p:cNvSpPr>
            <p:nvPr/>
          </p:nvSpPr>
          <p:spPr bwMode="auto">
            <a:xfrm>
              <a:off x="2452" y="3120"/>
              <a:ext cx="240" cy="240"/>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91654" name="Rectangle 38"/>
            <p:cNvSpPr>
              <a:spLocks noChangeArrowheads="1"/>
            </p:cNvSpPr>
            <p:nvPr/>
          </p:nvSpPr>
          <p:spPr bwMode="auto">
            <a:xfrm>
              <a:off x="2692" y="3120"/>
              <a:ext cx="240" cy="240"/>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91655" name="Rectangle 39"/>
            <p:cNvSpPr>
              <a:spLocks noChangeArrowheads="1"/>
            </p:cNvSpPr>
            <p:nvPr/>
          </p:nvSpPr>
          <p:spPr bwMode="auto">
            <a:xfrm>
              <a:off x="2932" y="3120"/>
              <a:ext cx="240" cy="240"/>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91656" name="Rectangle 40"/>
            <p:cNvSpPr>
              <a:spLocks noChangeArrowheads="1"/>
            </p:cNvSpPr>
            <p:nvPr/>
          </p:nvSpPr>
          <p:spPr bwMode="auto">
            <a:xfrm>
              <a:off x="3172" y="3120"/>
              <a:ext cx="240" cy="240"/>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91657" name="Rectangle 41"/>
            <p:cNvSpPr>
              <a:spLocks noChangeArrowheads="1"/>
            </p:cNvSpPr>
            <p:nvPr/>
          </p:nvSpPr>
          <p:spPr bwMode="auto">
            <a:xfrm>
              <a:off x="3412" y="3120"/>
              <a:ext cx="240" cy="240"/>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91658" name="Rectangle 42"/>
            <p:cNvSpPr>
              <a:spLocks noChangeArrowheads="1"/>
            </p:cNvSpPr>
            <p:nvPr/>
          </p:nvSpPr>
          <p:spPr bwMode="auto">
            <a:xfrm>
              <a:off x="2692" y="3360"/>
              <a:ext cx="240" cy="240"/>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91659" name="Rectangle 43"/>
            <p:cNvSpPr>
              <a:spLocks noChangeArrowheads="1"/>
            </p:cNvSpPr>
            <p:nvPr/>
          </p:nvSpPr>
          <p:spPr bwMode="auto">
            <a:xfrm>
              <a:off x="2932" y="3360"/>
              <a:ext cx="240" cy="240"/>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91660" name="Rectangle 44"/>
            <p:cNvSpPr>
              <a:spLocks noChangeArrowheads="1"/>
            </p:cNvSpPr>
            <p:nvPr/>
          </p:nvSpPr>
          <p:spPr bwMode="auto">
            <a:xfrm>
              <a:off x="3172" y="3360"/>
              <a:ext cx="240" cy="240"/>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91661" name="Rectangle 45"/>
            <p:cNvSpPr>
              <a:spLocks noChangeArrowheads="1"/>
            </p:cNvSpPr>
            <p:nvPr/>
          </p:nvSpPr>
          <p:spPr bwMode="auto">
            <a:xfrm>
              <a:off x="3412" y="3360"/>
              <a:ext cx="240" cy="240"/>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91662" name="Rectangle 46"/>
            <p:cNvSpPr>
              <a:spLocks noChangeArrowheads="1"/>
            </p:cNvSpPr>
            <p:nvPr/>
          </p:nvSpPr>
          <p:spPr bwMode="auto">
            <a:xfrm>
              <a:off x="3652" y="3360"/>
              <a:ext cx="240" cy="240"/>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91663" name="Rectangle 47"/>
            <p:cNvSpPr>
              <a:spLocks noChangeArrowheads="1"/>
            </p:cNvSpPr>
            <p:nvPr/>
          </p:nvSpPr>
          <p:spPr bwMode="auto">
            <a:xfrm>
              <a:off x="2932" y="360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F</a:t>
              </a:r>
            </a:p>
          </p:txBody>
        </p:sp>
        <p:sp>
          <p:nvSpPr>
            <p:cNvPr id="1391664" name="Rectangle 48"/>
            <p:cNvSpPr>
              <a:spLocks noChangeArrowheads="1"/>
            </p:cNvSpPr>
            <p:nvPr/>
          </p:nvSpPr>
          <p:spPr bwMode="auto">
            <a:xfrm>
              <a:off x="3172" y="360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D</a:t>
              </a:r>
            </a:p>
          </p:txBody>
        </p:sp>
        <p:sp>
          <p:nvSpPr>
            <p:cNvPr id="1391665" name="Rectangle 49"/>
            <p:cNvSpPr>
              <a:spLocks noChangeArrowheads="1"/>
            </p:cNvSpPr>
            <p:nvPr/>
          </p:nvSpPr>
          <p:spPr bwMode="auto">
            <a:xfrm>
              <a:off x="3412" y="360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X</a:t>
              </a:r>
            </a:p>
          </p:txBody>
        </p:sp>
        <p:sp>
          <p:nvSpPr>
            <p:cNvPr id="1391666" name="Rectangle 50"/>
            <p:cNvSpPr>
              <a:spLocks noChangeArrowheads="1"/>
            </p:cNvSpPr>
            <p:nvPr/>
          </p:nvSpPr>
          <p:spPr bwMode="auto">
            <a:xfrm>
              <a:off x="3652" y="360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M</a:t>
              </a:r>
            </a:p>
          </p:txBody>
        </p:sp>
        <p:sp>
          <p:nvSpPr>
            <p:cNvPr id="1391667" name="Rectangle 51"/>
            <p:cNvSpPr>
              <a:spLocks noChangeArrowheads="1"/>
            </p:cNvSpPr>
            <p:nvPr/>
          </p:nvSpPr>
          <p:spPr bwMode="auto">
            <a:xfrm>
              <a:off x="3892" y="3600"/>
              <a:ext cx="240" cy="240"/>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W</a:t>
              </a:r>
            </a:p>
          </p:txBody>
        </p:sp>
        <p:sp>
          <p:nvSpPr>
            <p:cNvPr id="1391668" name="Text Box 52"/>
            <p:cNvSpPr txBox="1">
              <a:spLocks noChangeArrowheads="1"/>
            </p:cNvSpPr>
            <p:nvPr/>
          </p:nvSpPr>
          <p:spPr bwMode="auto">
            <a:xfrm>
              <a:off x="144" y="2098"/>
              <a:ext cx="4901" cy="250"/>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sz="2000" i="1" dirty="0">
                  <a:latin typeface="Verdana" charset="0"/>
                </a:rPr>
                <a:t>Interleave 4 threads, T1-T4, on non-bypassed 5-stage pipe</a:t>
              </a:r>
            </a:p>
          </p:txBody>
        </p:sp>
      </p:grpSp>
      <p:grpSp>
        <p:nvGrpSpPr>
          <p:cNvPr id="4" name="Group 53"/>
          <p:cNvGrpSpPr>
            <a:grpSpLocks/>
          </p:cNvGrpSpPr>
          <p:nvPr/>
        </p:nvGrpSpPr>
        <p:grpSpPr bwMode="auto">
          <a:xfrm>
            <a:off x="6629400" y="4220744"/>
            <a:ext cx="4038600" cy="1938339"/>
            <a:chOff x="3216" y="2356"/>
            <a:chExt cx="2544" cy="1221"/>
          </a:xfrm>
        </p:grpSpPr>
        <p:sp>
          <p:nvSpPr>
            <p:cNvPr id="1391670" name="Text Box 54"/>
            <p:cNvSpPr txBox="1">
              <a:spLocks noChangeArrowheads="1"/>
            </p:cNvSpPr>
            <p:nvPr/>
          </p:nvSpPr>
          <p:spPr bwMode="auto">
            <a:xfrm>
              <a:off x="4272" y="2356"/>
              <a:ext cx="1488" cy="1221"/>
            </a:xfrm>
            <a:prstGeom prst="rect">
              <a:avLst/>
            </a:prstGeom>
            <a:noFill/>
            <a:ln w="25400">
              <a:noFill/>
              <a:miter lim="800000"/>
              <a:headEnd/>
              <a:tailEnd/>
            </a:ln>
            <a:effectLst/>
          </p:spPr>
          <p:txBody>
            <a:bodyPr>
              <a:prstTxWarp prst="textNoShape">
                <a:avLst/>
              </a:prstTxWarp>
              <a:spAutoFit/>
            </a:bodyPr>
            <a:lstStyle/>
            <a:p>
              <a:r>
                <a:rPr lang="zh-CN" altLang="en-US" sz="2000" dirty="0">
                  <a:latin typeface="+mn-lt"/>
                  <a:ea typeface="+mn-ea"/>
                </a:rPr>
                <a:t>就一个线程而言（如</a:t>
              </a:r>
              <a:r>
                <a:rPr lang="en-US" altLang="zh-CN" sz="2000" dirty="0">
                  <a:latin typeface="+mn-lt"/>
                  <a:ea typeface="+mn-ea"/>
                </a:rPr>
                <a:t>T1</a:t>
              </a:r>
              <a:r>
                <a:rPr lang="zh-CN" altLang="en-US" sz="2000" dirty="0">
                  <a:latin typeface="+mn-lt"/>
                  <a:ea typeface="+mn-ea"/>
                </a:rPr>
                <a:t>），前一条指令总是先完成写回</a:t>
              </a:r>
              <a:r>
                <a:rPr lang="en-US" altLang="zh-CN" sz="2000" dirty="0">
                  <a:latin typeface="+mn-lt"/>
                  <a:ea typeface="+mn-ea"/>
                </a:rPr>
                <a:t>(write-back)</a:t>
              </a:r>
              <a:r>
                <a:rPr lang="zh-CN" altLang="en-US" sz="2000" dirty="0">
                  <a:latin typeface="+mn-lt"/>
                  <a:ea typeface="+mn-ea"/>
                </a:rPr>
                <a:t>阶段，后一条指令才开始读寄存器。</a:t>
              </a:r>
              <a:endParaRPr lang="en-US" sz="2000" dirty="0">
                <a:latin typeface="+mn-lt"/>
                <a:ea typeface="+mn-ea"/>
              </a:endParaRPr>
            </a:p>
          </p:txBody>
        </p:sp>
        <p:sp>
          <p:nvSpPr>
            <p:cNvPr id="1391671" name="Line 55"/>
            <p:cNvSpPr>
              <a:spLocks noChangeShapeType="1"/>
            </p:cNvSpPr>
            <p:nvPr/>
          </p:nvSpPr>
          <p:spPr bwMode="auto">
            <a:xfrm flipH="1">
              <a:off x="3216" y="2592"/>
              <a:ext cx="1056" cy="48"/>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1672" name="Line 56"/>
            <p:cNvSpPr>
              <a:spLocks noChangeShapeType="1"/>
            </p:cNvSpPr>
            <p:nvPr/>
          </p:nvSpPr>
          <p:spPr bwMode="auto">
            <a:xfrm flipH="1">
              <a:off x="3312" y="3360"/>
              <a:ext cx="1008" cy="144"/>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grpSp>
    </p:spTree>
    <p:extLst>
      <p:ext uri="{BB962C8B-B14F-4D97-AF65-F5344CB8AC3E}">
        <p14:creationId xmlns:p14="http://schemas.microsoft.com/office/powerpoint/2010/main" val="361363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16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916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916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6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p:cNvSpPr>
            <a:spLocks noGrp="1" noChangeArrowheads="1"/>
          </p:cNvSpPr>
          <p:nvPr>
            <p:ph type="title"/>
          </p:nvPr>
        </p:nvSpPr>
        <p:spPr/>
        <p:txBody>
          <a:bodyPr/>
          <a:lstStyle/>
          <a:p>
            <a:r>
              <a:rPr lang="en-US" smtClean="0"/>
              <a:t>CDC 6600</a:t>
            </a:r>
            <a:r>
              <a:rPr lang="zh-CN" altLang="en-US" smtClean="0"/>
              <a:t>的外围处理机</a:t>
            </a:r>
            <a:endParaRPr lang="en-US" dirty="0"/>
          </a:p>
        </p:txBody>
      </p:sp>
      <p:sp>
        <p:nvSpPr>
          <p:cNvPr id="1393667" name="Rectangle 3"/>
          <p:cNvSpPr>
            <a:spLocks noGrp="1" noChangeArrowheads="1"/>
          </p:cNvSpPr>
          <p:nvPr>
            <p:ph idx="1"/>
          </p:nvPr>
        </p:nvSpPr>
        <p:spPr/>
        <p:txBody>
          <a:bodyPr/>
          <a:lstStyle/>
          <a:p>
            <a:r>
              <a:rPr lang="en-US" altLang="zh-CN" dirty="0" smtClean="0"/>
              <a:t>Peripheral Processors</a:t>
            </a:r>
          </a:p>
          <a:p>
            <a:pPr lvl="1"/>
            <a:r>
              <a:rPr lang="en-US" altLang="zh-CN" dirty="0" smtClean="0"/>
              <a:t>Cray, 1964</a:t>
            </a:r>
          </a:p>
          <a:p>
            <a:pPr lvl="1"/>
            <a:r>
              <a:rPr lang="zh-CN" altLang="en-US" dirty="0" smtClean="0"/>
              <a:t>目的是处理较长的</a:t>
            </a:r>
            <a:r>
              <a:rPr lang="en-US" altLang="zh-CN" dirty="0" smtClean="0"/>
              <a:t>I/O</a:t>
            </a:r>
            <a:r>
              <a:rPr lang="zh-CN" altLang="en-US" dirty="0" smtClean="0"/>
              <a:t>延迟</a:t>
            </a:r>
            <a:endParaRPr lang="en-US" altLang="zh-CN" dirty="0" smtClean="0"/>
          </a:p>
          <a:p>
            <a:r>
              <a:rPr lang="zh-CN" altLang="en-US" dirty="0" smtClean="0"/>
              <a:t>第一个多线程硬件</a:t>
            </a:r>
            <a:endParaRPr lang="en-US" dirty="0" smtClean="0"/>
          </a:p>
          <a:p>
            <a:r>
              <a:rPr lang="zh-CN" altLang="en-US" dirty="0" smtClean="0"/>
              <a:t>有</a:t>
            </a:r>
            <a:r>
              <a:rPr lang="en-US" dirty="0" smtClean="0"/>
              <a:t>10</a:t>
            </a:r>
            <a:r>
              <a:rPr lang="zh-CN" altLang="en-US" dirty="0" smtClean="0"/>
              <a:t>个虚拟的</a:t>
            </a:r>
            <a:r>
              <a:rPr lang="en-US" dirty="0" smtClean="0"/>
              <a:t>I/O</a:t>
            </a:r>
            <a:r>
              <a:rPr lang="zh-CN" altLang="en-US" dirty="0" smtClean="0"/>
              <a:t>处理机</a:t>
            </a:r>
            <a:endParaRPr lang="en-US" dirty="0" smtClean="0"/>
          </a:p>
          <a:p>
            <a:r>
              <a:rPr lang="zh-CN" altLang="en-US" dirty="0" smtClean="0"/>
              <a:t>简单流水线上的固定交替</a:t>
            </a:r>
            <a:endParaRPr lang="en-US" altLang="zh-CN" dirty="0" smtClean="0"/>
          </a:p>
          <a:p>
            <a:r>
              <a:rPr lang="zh-CN" altLang="en-US" dirty="0" smtClean="0"/>
              <a:t>流水线的周期时间</a:t>
            </a:r>
            <a:r>
              <a:rPr lang="en-US" altLang="zh-CN" dirty="0" smtClean="0"/>
              <a:t/>
            </a:r>
            <a:br>
              <a:rPr lang="en-US" altLang="zh-CN" dirty="0" smtClean="0"/>
            </a:br>
            <a:r>
              <a:rPr lang="zh-CN" altLang="en-US" dirty="0" smtClean="0"/>
              <a:t>是</a:t>
            </a:r>
            <a:r>
              <a:rPr lang="en-US" dirty="0" smtClean="0"/>
              <a:t>100ns</a:t>
            </a:r>
          </a:p>
          <a:p>
            <a:r>
              <a:rPr lang="zh-CN" altLang="en-US" dirty="0" smtClean="0"/>
              <a:t>每个虚拟处理机每</a:t>
            </a:r>
            <a:r>
              <a:rPr lang="en-US" altLang="zh-CN" dirty="0" smtClean="0"/>
              <a:t>1000ns</a:t>
            </a:r>
            <a:br>
              <a:rPr lang="en-US" altLang="zh-CN" dirty="0" smtClean="0"/>
            </a:br>
            <a:r>
              <a:rPr lang="zh-CN" altLang="en-US" dirty="0" smtClean="0"/>
              <a:t>执行一条指令</a:t>
            </a:r>
            <a:endParaRPr lang="en-US" dirty="0" smtClean="0"/>
          </a:p>
          <a:p>
            <a:r>
              <a:rPr lang="zh-CN" altLang="en-US" dirty="0" smtClean="0"/>
              <a:t>采用基于累加器的指令系统，以缩减处理机状态</a:t>
            </a:r>
            <a:endParaRPr lang="en-US" dirty="0"/>
          </a:p>
        </p:txBody>
      </p:sp>
      <p:pic>
        <p:nvPicPr>
          <p:cNvPr id="1393668" name="Picture 4" descr="cdc6600"/>
          <p:cNvPicPr>
            <a:picLocks noChangeAspect="1" noChangeArrowheads="1"/>
          </p:cNvPicPr>
          <p:nvPr/>
        </p:nvPicPr>
        <p:blipFill>
          <a:blip r:embed="rId3"/>
          <a:srcRect/>
          <a:stretch>
            <a:fillRect/>
          </a:stretch>
        </p:blipFill>
        <p:spPr bwMode="auto">
          <a:xfrm>
            <a:off x="7032104" y="1916832"/>
            <a:ext cx="4114800" cy="2994025"/>
          </a:xfrm>
          <a:prstGeom prst="rect">
            <a:avLst/>
          </a:prstGeom>
          <a:noFill/>
        </p:spPr>
      </p:pic>
    </p:spTree>
    <p:extLst>
      <p:ext uri="{BB962C8B-B14F-4D97-AF65-F5344CB8AC3E}">
        <p14:creationId xmlns:p14="http://schemas.microsoft.com/office/powerpoint/2010/main" val="10338258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5" name="Rectangle 3"/>
          <p:cNvSpPr>
            <a:spLocks noGrp="1" noChangeArrowheads="1"/>
          </p:cNvSpPr>
          <p:nvPr>
            <p:ph type="title"/>
          </p:nvPr>
        </p:nvSpPr>
        <p:spPr>
          <a:xfrm>
            <a:off x="2514600" y="0"/>
            <a:ext cx="7162800" cy="1143000"/>
          </a:xfrm>
        </p:spPr>
        <p:txBody>
          <a:bodyPr/>
          <a:lstStyle/>
          <a:p>
            <a:r>
              <a:rPr lang="zh-CN" altLang="en-US" dirty="0" smtClean="0"/>
              <a:t>最简单的多线程流水线</a:t>
            </a:r>
            <a:endParaRPr lang="en-US" dirty="0"/>
          </a:p>
        </p:txBody>
      </p:sp>
      <p:sp>
        <p:nvSpPr>
          <p:cNvPr id="1395716" name="Rectangle 4"/>
          <p:cNvSpPr>
            <a:spLocks noGrp="1" noChangeArrowheads="1"/>
          </p:cNvSpPr>
          <p:nvPr>
            <p:ph idx="1"/>
          </p:nvPr>
        </p:nvSpPr>
        <p:spPr>
          <a:xfrm>
            <a:off x="551384" y="4889226"/>
            <a:ext cx="10513168" cy="1119190"/>
          </a:xfrm>
          <a:noFill/>
          <a:ln/>
        </p:spPr>
        <p:txBody>
          <a:bodyPr/>
          <a:lstStyle/>
          <a:p>
            <a:pPr marL="171450" indent="-171450">
              <a:lnSpc>
                <a:spcPct val="100000"/>
              </a:lnSpc>
            </a:pPr>
            <a:r>
              <a:rPr lang="zh-CN" altLang="en-US" sz="2400" dirty="0"/>
              <a:t>新增多个</a:t>
            </a:r>
            <a:r>
              <a:rPr lang="en-US" altLang="zh-CN" sz="2400" dirty="0"/>
              <a:t>PC</a:t>
            </a:r>
            <a:r>
              <a:rPr lang="zh-CN" altLang="en-US" sz="2400" dirty="0"/>
              <a:t>、多套寄存器堆，及线程选择逻辑</a:t>
            </a:r>
            <a:endParaRPr lang="en-US" sz="2400" dirty="0"/>
          </a:p>
          <a:p>
            <a:pPr marL="171450" indent="-171450">
              <a:lnSpc>
                <a:spcPct val="100000"/>
              </a:lnSpc>
            </a:pPr>
            <a:r>
              <a:rPr lang="zh-CN" altLang="en-US" sz="2400" dirty="0"/>
              <a:t>线程选择信号必须沿流水线往下传递，确保在每个流水级读写正确的状态位</a:t>
            </a:r>
            <a:endParaRPr lang="en-US" sz="2400" dirty="0"/>
          </a:p>
          <a:p>
            <a:pPr marL="171450" indent="-171450">
              <a:lnSpc>
                <a:spcPct val="100000"/>
              </a:lnSpc>
            </a:pPr>
            <a:r>
              <a:rPr lang="zh-CN" altLang="en-US" sz="2400" dirty="0"/>
              <a:t>对软件（含</a:t>
            </a:r>
            <a:r>
              <a:rPr lang="en-US" altLang="zh-CN" sz="2400" dirty="0"/>
              <a:t>OS</a:t>
            </a:r>
            <a:r>
              <a:rPr lang="zh-CN" altLang="en-US" sz="2400" dirty="0"/>
              <a:t>）而言，相当于多个（慢点的）处理器</a:t>
            </a:r>
            <a:endParaRPr lang="en-US" sz="2400" dirty="0"/>
          </a:p>
          <a:p>
            <a:pPr marL="171450" indent="-171450">
              <a:lnSpc>
                <a:spcPct val="100000"/>
              </a:lnSpc>
            </a:pPr>
            <a:endParaRPr lang="en-US" sz="2400" dirty="0"/>
          </a:p>
        </p:txBody>
      </p:sp>
      <p:sp>
        <p:nvSpPr>
          <p:cNvPr id="1395714" name="Rectangle 2"/>
          <p:cNvSpPr>
            <a:spLocks noChangeArrowheads="1"/>
          </p:cNvSpPr>
          <p:nvPr/>
        </p:nvSpPr>
        <p:spPr bwMode="auto">
          <a:xfrm>
            <a:off x="5486400" y="1612627"/>
            <a:ext cx="1600200" cy="12954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endParaRPr lang="en-US"/>
          </a:p>
        </p:txBody>
      </p:sp>
      <p:grpSp>
        <p:nvGrpSpPr>
          <p:cNvPr id="2" name="Group 5"/>
          <p:cNvGrpSpPr>
            <a:grpSpLocks/>
          </p:cNvGrpSpPr>
          <p:nvPr/>
        </p:nvGrpSpPr>
        <p:grpSpPr bwMode="auto">
          <a:xfrm>
            <a:off x="1981200" y="3670027"/>
            <a:ext cx="152400" cy="609600"/>
            <a:chOff x="432" y="2208"/>
            <a:chExt cx="96" cy="384"/>
          </a:xfrm>
        </p:grpSpPr>
        <p:sp>
          <p:nvSpPr>
            <p:cNvPr id="1395718" name="Rectangle 6"/>
            <p:cNvSpPr>
              <a:spLocks noChangeArrowheads="1"/>
            </p:cNvSpPr>
            <p:nvPr/>
          </p:nvSpPr>
          <p:spPr bwMode="auto">
            <a:xfrm>
              <a:off x="432" y="2208"/>
              <a:ext cx="96" cy="384"/>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395719" name="Freeform 7"/>
            <p:cNvSpPr>
              <a:spLocks/>
            </p:cNvSpPr>
            <p:nvPr/>
          </p:nvSpPr>
          <p:spPr bwMode="auto">
            <a:xfrm>
              <a:off x="432" y="2496"/>
              <a:ext cx="96" cy="96"/>
            </a:xfrm>
            <a:custGeom>
              <a:avLst/>
              <a:gdLst/>
              <a:ahLst/>
              <a:cxnLst>
                <a:cxn ang="0">
                  <a:pos x="0" y="48"/>
                </a:cxn>
                <a:cxn ang="0">
                  <a:pos x="48" y="0"/>
                </a:cxn>
                <a:cxn ang="0">
                  <a:pos x="96" y="48"/>
                </a:cxn>
              </a:cxnLst>
              <a:rect l="0" t="0" r="r" b="b"/>
              <a:pathLst>
                <a:path w="96" h="48">
                  <a:moveTo>
                    <a:pt x="0" y="48"/>
                  </a:moveTo>
                  <a:lnTo>
                    <a:pt x="48" y="0"/>
                  </a:lnTo>
                  <a:lnTo>
                    <a:pt x="96" y="48"/>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20" name="Rectangle 8"/>
          <p:cNvSpPr>
            <a:spLocks noChangeArrowheads="1"/>
          </p:cNvSpPr>
          <p:nvPr/>
        </p:nvSpPr>
        <p:spPr bwMode="auto">
          <a:xfrm>
            <a:off x="1828800" y="3212827"/>
            <a:ext cx="457200" cy="3810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400" b="1"/>
              <a:t>+1</a:t>
            </a:r>
          </a:p>
        </p:txBody>
      </p:sp>
      <p:sp>
        <p:nvSpPr>
          <p:cNvPr id="1395721" name="Freeform 9"/>
          <p:cNvSpPr>
            <a:spLocks/>
          </p:cNvSpPr>
          <p:nvPr/>
        </p:nvSpPr>
        <p:spPr bwMode="auto">
          <a:xfrm>
            <a:off x="2133600" y="3365227"/>
            <a:ext cx="457200" cy="609600"/>
          </a:xfrm>
          <a:custGeom>
            <a:avLst/>
            <a:gdLst/>
            <a:ahLst/>
            <a:cxnLst>
              <a:cxn ang="0">
                <a:pos x="0" y="384"/>
              </a:cxn>
              <a:cxn ang="0">
                <a:pos x="288" y="384"/>
              </a:cxn>
              <a:cxn ang="0">
                <a:pos x="288" y="0"/>
              </a:cxn>
              <a:cxn ang="0">
                <a:pos x="96" y="0"/>
              </a:cxn>
            </a:cxnLst>
            <a:rect l="0" t="0" r="r" b="b"/>
            <a:pathLst>
              <a:path w="288" h="384">
                <a:moveTo>
                  <a:pt x="0" y="384"/>
                </a:moveTo>
                <a:lnTo>
                  <a:pt x="288" y="384"/>
                </a:lnTo>
                <a:lnTo>
                  <a:pt x="288" y="0"/>
                </a:lnTo>
                <a:lnTo>
                  <a:pt x="96" y="0"/>
                </a:ln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endParaRPr lang="en-US"/>
          </a:p>
        </p:txBody>
      </p:sp>
      <p:sp>
        <p:nvSpPr>
          <p:cNvPr id="1395722" name="Freeform 10"/>
          <p:cNvSpPr>
            <a:spLocks/>
          </p:cNvSpPr>
          <p:nvPr/>
        </p:nvSpPr>
        <p:spPr bwMode="auto">
          <a:xfrm>
            <a:off x="1600200" y="3365227"/>
            <a:ext cx="381000" cy="609600"/>
          </a:xfrm>
          <a:custGeom>
            <a:avLst/>
            <a:gdLst/>
            <a:ahLst/>
            <a:cxnLst>
              <a:cxn ang="0">
                <a:pos x="144" y="0"/>
              </a:cxn>
              <a:cxn ang="0">
                <a:pos x="0" y="0"/>
              </a:cxn>
              <a:cxn ang="0">
                <a:pos x="0" y="384"/>
              </a:cxn>
              <a:cxn ang="0">
                <a:pos x="240" y="384"/>
              </a:cxn>
            </a:cxnLst>
            <a:rect l="0" t="0" r="r" b="b"/>
            <a:pathLst>
              <a:path w="240" h="384">
                <a:moveTo>
                  <a:pt x="144" y="0"/>
                </a:moveTo>
                <a:lnTo>
                  <a:pt x="0" y="0"/>
                </a:lnTo>
                <a:lnTo>
                  <a:pt x="0" y="384"/>
                </a:lnTo>
                <a:lnTo>
                  <a:pt x="240" y="384"/>
                </a:ln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endParaRPr lang="en-US"/>
          </a:p>
        </p:txBody>
      </p:sp>
      <p:grpSp>
        <p:nvGrpSpPr>
          <p:cNvPr id="3" name="Group 11"/>
          <p:cNvGrpSpPr>
            <a:grpSpLocks/>
          </p:cNvGrpSpPr>
          <p:nvPr/>
        </p:nvGrpSpPr>
        <p:grpSpPr bwMode="auto">
          <a:xfrm>
            <a:off x="2286001" y="3898627"/>
            <a:ext cx="354013" cy="457200"/>
            <a:chOff x="624" y="2448"/>
            <a:chExt cx="223" cy="288"/>
          </a:xfrm>
        </p:grpSpPr>
        <p:sp>
          <p:nvSpPr>
            <p:cNvPr id="1395724" name="Line 12"/>
            <p:cNvSpPr>
              <a:spLocks noChangeShapeType="1"/>
            </p:cNvSpPr>
            <p:nvPr/>
          </p:nvSpPr>
          <p:spPr bwMode="auto">
            <a:xfrm flipV="1">
              <a:off x="624" y="2448"/>
              <a:ext cx="48" cy="96"/>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395725" name="Text Box 13"/>
            <p:cNvSpPr txBox="1">
              <a:spLocks noChangeArrowheads="1"/>
            </p:cNvSpPr>
            <p:nvPr/>
          </p:nvSpPr>
          <p:spPr bwMode="auto">
            <a:xfrm>
              <a:off x="624" y="2448"/>
              <a:ext cx="223" cy="288"/>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sz="2400" b="1"/>
                <a:t>2</a:t>
              </a:r>
            </a:p>
          </p:txBody>
        </p:sp>
      </p:grpSp>
      <p:sp>
        <p:nvSpPr>
          <p:cNvPr id="1395726" name="Line 14"/>
          <p:cNvSpPr>
            <a:spLocks noChangeShapeType="1"/>
          </p:cNvSpPr>
          <p:nvPr/>
        </p:nvSpPr>
        <p:spPr bwMode="auto">
          <a:xfrm>
            <a:off x="2590800" y="3974827"/>
            <a:ext cx="22860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27" name="Text Box 15"/>
          <p:cNvSpPr txBox="1">
            <a:spLocks noChangeArrowheads="1"/>
          </p:cNvSpPr>
          <p:nvPr/>
        </p:nvSpPr>
        <p:spPr bwMode="auto">
          <a:xfrm>
            <a:off x="2667000" y="3974828"/>
            <a:ext cx="1219200" cy="830997"/>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sz="2400" b="1" i="1"/>
              <a:t>Thread select</a:t>
            </a:r>
          </a:p>
        </p:txBody>
      </p:sp>
      <p:grpSp>
        <p:nvGrpSpPr>
          <p:cNvPr id="4" name="Group 16"/>
          <p:cNvGrpSpPr>
            <a:grpSpLocks/>
          </p:cNvGrpSpPr>
          <p:nvPr/>
        </p:nvGrpSpPr>
        <p:grpSpPr bwMode="auto">
          <a:xfrm>
            <a:off x="2438400" y="1612627"/>
            <a:ext cx="304800" cy="838200"/>
            <a:chOff x="432" y="1296"/>
            <a:chExt cx="192" cy="528"/>
          </a:xfrm>
        </p:grpSpPr>
        <p:sp>
          <p:nvSpPr>
            <p:cNvPr id="1395729" name="Rectangle 17"/>
            <p:cNvSpPr>
              <a:spLocks noChangeArrowheads="1"/>
            </p:cNvSpPr>
            <p:nvPr/>
          </p:nvSpPr>
          <p:spPr bwMode="auto">
            <a:xfrm>
              <a:off x="432" y="1296"/>
              <a:ext cx="192" cy="528"/>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b="1"/>
                <a:t>PC</a:t>
              </a:r>
            </a:p>
            <a:p>
              <a:pPr>
                <a:spcBef>
                  <a:spcPct val="0"/>
                </a:spcBef>
              </a:pPr>
              <a:r>
                <a:rPr lang="en-US" b="1"/>
                <a:t>1</a:t>
              </a:r>
            </a:p>
          </p:txBody>
        </p:sp>
        <p:sp>
          <p:nvSpPr>
            <p:cNvPr id="1395730" name="Freeform 18"/>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solidFill>
              <a:srgbClr val="FFFF00"/>
            </a:solid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5" name="Group 19"/>
          <p:cNvGrpSpPr>
            <a:grpSpLocks/>
          </p:cNvGrpSpPr>
          <p:nvPr/>
        </p:nvGrpSpPr>
        <p:grpSpPr bwMode="auto">
          <a:xfrm>
            <a:off x="2286000" y="1765027"/>
            <a:ext cx="304800" cy="838200"/>
            <a:chOff x="432" y="1296"/>
            <a:chExt cx="192" cy="528"/>
          </a:xfrm>
        </p:grpSpPr>
        <p:sp>
          <p:nvSpPr>
            <p:cNvPr id="1395732" name="Rectangle 20"/>
            <p:cNvSpPr>
              <a:spLocks noChangeArrowheads="1"/>
            </p:cNvSpPr>
            <p:nvPr/>
          </p:nvSpPr>
          <p:spPr bwMode="auto">
            <a:xfrm>
              <a:off x="432" y="1296"/>
              <a:ext cx="192" cy="528"/>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b="1"/>
                <a:t>PC</a:t>
              </a:r>
            </a:p>
            <a:p>
              <a:pPr>
                <a:spcBef>
                  <a:spcPct val="0"/>
                </a:spcBef>
              </a:pPr>
              <a:r>
                <a:rPr lang="en-US" b="1"/>
                <a:t>1</a:t>
              </a:r>
            </a:p>
          </p:txBody>
        </p:sp>
        <p:sp>
          <p:nvSpPr>
            <p:cNvPr id="1395733" name="Freeform 21"/>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solidFill>
              <a:srgbClr val="9999FF"/>
            </a:solid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6" name="Group 22"/>
          <p:cNvGrpSpPr>
            <a:grpSpLocks/>
          </p:cNvGrpSpPr>
          <p:nvPr/>
        </p:nvGrpSpPr>
        <p:grpSpPr bwMode="auto">
          <a:xfrm>
            <a:off x="2133600" y="1917427"/>
            <a:ext cx="304800" cy="838200"/>
            <a:chOff x="432" y="1296"/>
            <a:chExt cx="192" cy="528"/>
          </a:xfrm>
        </p:grpSpPr>
        <p:sp>
          <p:nvSpPr>
            <p:cNvPr id="1395735" name="Rectangle 23"/>
            <p:cNvSpPr>
              <a:spLocks noChangeArrowheads="1"/>
            </p:cNvSpPr>
            <p:nvPr/>
          </p:nvSpPr>
          <p:spPr bwMode="auto">
            <a:xfrm>
              <a:off x="432" y="1296"/>
              <a:ext cx="192" cy="528"/>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b="1"/>
                <a:t>PC</a:t>
              </a:r>
            </a:p>
            <a:p>
              <a:pPr>
                <a:spcBef>
                  <a:spcPct val="0"/>
                </a:spcBef>
              </a:pPr>
              <a:r>
                <a:rPr lang="en-US" b="1"/>
                <a:t>1</a:t>
              </a:r>
            </a:p>
          </p:txBody>
        </p:sp>
        <p:sp>
          <p:nvSpPr>
            <p:cNvPr id="1395736" name="Freeform 24"/>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solidFill>
              <a:srgbClr val="FF9933"/>
            </a:solid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7" name="Group 25"/>
          <p:cNvGrpSpPr>
            <a:grpSpLocks/>
          </p:cNvGrpSpPr>
          <p:nvPr/>
        </p:nvGrpSpPr>
        <p:grpSpPr bwMode="auto">
          <a:xfrm>
            <a:off x="1981200" y="2069827"/>
            <a:ext cx="304800" cy="838200"/>
            <a:chOff x="432" y="1296"/>
            <a:chExt cx="192" cy="528"/>
          </a:xfrm>
        </p:grpSpPr>
        <p:sp>
          <p:nvSpPr>
            <p:cNvPr id="1395738" name="Rectangle 26"/>
            <p:cNvSpPr>
              <a:spLocks noChangeArrowheads="1"/>
            </p:cNvSpPr>
            <p:nvPr/>
          </p:nvSpPr>
          <p:spPr bwMode="auto">
            <a:xfrm>
              <a:off x="432" y="1296"/>
              <a:ext cx="192" cy="528"/>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b="1"/>
                <a:t>PC</a:t>
              </a:r>
            </a:p>
            <a:p>
              <a:pPr>
                <a:spcBef>
                  <a:spcPct val="0"/>
                </a:spcBef>
              </a:pPr>
              <a:r>
                <a:rPr lang="en-US" b="1"/>
                <a:t>1</a:t>
              </a:r>
            </a:p>
          </p:txBody>
        </p:sp>
        <p:sp>
          <p:nvSpPr>
            <p:cNvPr id="1395739" name="Freeform 27"/>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solidFill>
              <a:srgbClr val="00FFFF"/>
            </a:solid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40" name="Freeform 28"/>
          <p:cNvSpPr>
            <a:spLocks/>
          </p:cNvSpPr>
          <p:nvPr/>
        </p:nvSpPr>
        <p:spPr bwMode="auto">
          <a:xfrm>
            <a:off x="3276600" y="1841227"/>
            <a:ext cx="228600" cy="914400"/>
          </a:xfrm>
          <a:custGeom>
            <a:avLst/>
            <a:gdLst/>
            <a:ahLst/>
            <a:cxnLst>
              <a:cxn ang="0">
                <a:pos x="0" y="0"/>
              </a:cxn>
              <a:cxn ang="0">
                <a:pos x="0" y="576"/>
              </a:cxn>
              <a:cxn ang="0">
                <a:pos x="144" y="528"/>
              </a:cxn>
              <a:cxn ang="0">
                <a:pos x="144" y="48"/>
              </a:cxn>
              <a:cxn ang="0">
                <a:pos x="0" y="0"/>
              </a:cxn>
            </a:cxnLst>
            <a:rect l="0" t="0" r="r" b="b"/>
            <a:pathLst>
              <a:path w="144" h="576">
                <a:moveTo>
                  <a:pt x="0" y="0"/>
                </a:moveTo>
                <a:lnTo>
                  <a:pt x="0" y="576"/>
                </a:lnTo>
                <a:lnTo>
                  <a:pt x="144" y="528"/>
                </a:lnTo>
                <a:lnTo>
                  <a:pt x="144" y="48"/>
                </a:lnTo>
                <a:lnTo>
                  <a:pt x="0" y="0"/>
                </a:lnTo>
                <a:close/>
              </a:path>
            </a:pathLst>
          </a:custGeom>
          <a:solidFill>
            <a:schemeClr val="bg1"/>
          </a:solidFill>
          <a:ln w="25400" cap="flat" cmpd="sng">
            <a:solidFill>
              <a:schemeClr val="tx1"/>
            </a:solidFill>
            <a:prstDash val="solid"/>
            <a:round/>
            <a:headEnd/>
            <a:tailEnd/>
          </a:ln>
          <a:effectLst/>
        </p:spPr>
        <p:txBody>
          <a:bodyPr>
            <a:prstTxWarp prst="textNoShape">
              <a:avLst/>
            </a:prstTxWarp>
          </a:bodyPr>
          <a:lstStyle/>
          <a:p>
            <a:endParaRPr lang="en-US"/>
          </a:p>
        </p:txBody>
      </p:sp>
      <p:sp>
        <p:nvSpPr>
          <p:cNvPr id="1395741" name="Line 29"/>
          <p:cNvSpPr>
            <a:spLocks noChangeShapeType="1"/>
          </p:cNvSpPr>
          <p:nvPr/>
        </p:nvSpPr>
        <p:spPr bwMode="auto">
          <a:xfrm>
            <a:off x="2743200" y="2069827"/>
            <a:ext cx="5334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2" name="Line 30"/>
          <p:cNvSpPr>
            <a:spLocks noChangeShapeType="1"/>
          </p:cNvSpPr>
          <p:nvPr/>
        </p:nvSpPr>
        <p:spPr bwMode="auto">
          <a:xfrm>
            <a:off x="2590800" y="2222227"/>
            <a:ext cx="6858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3" name="Line 31"/>
          <p:cNvSpPr>
            <a:spLocks noChangeShapeType="1"/>
          </p:cNvSpPr>
          <p:nvPr/>
        </p:nvSpPr>
        <p:spPr bwMode="auto">
          <a:xfrm>
            <a:off x="2438400" y="2374627"/>
            <a:ext cx="8382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4" name="Line 32"/>
          <p:cNvSpPr>
            <a:spLocks noChangeShapeType="1"/>
          </p:cNvSpPr>
          <p:nvPr/>
        </p:nvSpPr>
        <p:spPr bwMode="auto">
          <a:xfrm>
            <a:off x="2286000" y="2527027"/>
            <a:ext cx="990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5" name="Line 33"/>
          <p:cNvSpPr>
            <a:spLocks noChangeShapeType="1"/>
          </p:cNvSpPr>
          <p:nvPr/>
        </p:nvSpPr>
        <p:spPr bwMode="auto">
          <a:xfrm flipV="1">
            <a:off x="3429000" y="2679427"/>
            <a:ext cx="0" cy="129540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6" name="Line 34"/>
          <p:cNvSpPr>
            <a:spLocks noChangeShapeType="1"/>
          </p:cNvSpPr>
          <p:nvPr/>
        </p:nvSpPr>
        <p:spPr bwMode="auto">
          <a:xfrm>
            <a:off x="3505200" y="2298427"/>
            <a:ext cx="3810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47" name="Rectangle 35"/>
          <p:cNvSpPr>
            <a:spLocks noChangeArrowheads="1"/>
          </p:cNvSpPr>
          <p:nvPr/>
        </p:nvSpPr>
        <p:spPr bwMode="auto">
          <a:xfrm>
            <a:off x="3886200" y="1841227"/>
            <a:ext cx="685800" cy="8382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I$</a:t>
            </a:r>
          </a:p>
        </p:txBody>
      </p:sp>
      <p:grpSp>
        <p:nvGrpSpPr>
          <p:cNvPr id="8" name="Group 36"/>
          <p:cNvGrpSpPr>
            <a:grpSpLocks/>
          </p:cNvGrpSpPr>
          <p:nvPr/>
        </p:nvGrpSpPr>
        <p:grpSpPr bwMode="auto">
          <a:xfrm>
            <a:off x="4876800" y="3670027"/>
            <a:ext cx="152400" cy="609600"/>
            <a:chOff x="432" y="2208"/>
            <a:chExt cx="96" cy="384"/>
          </a:xfrm>
        </p:grpSpPr>
        <p:sp>
          <p:nvSpPr>
            <p:cNvPr id="1395749" name="Rectangle 37"/>
            <p:cNvSpPr>
              <a:spLocks noChangeArrowheads="1"/>
            </p:cNvSpPr>
            <p:nvPr/>
          </p:nvSpPr>
          <p:spPr bwMode="auto">
            <a:xfrm>
              <a:off x="432" y="2208"/>
              <a:ext cx="96" cy="384"/>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395750" name="Freeform 38"/>
            <p:cNvSpPr>
              <a:spLocks/>
            </p:cNvSpPr>
            <p:nvPr/>
          </p:nvSpPr>
          <p:spPr bwMode="auto">
            <a:xfrm>
              <a:off x="432" y="2496"/>
              <a:ext cx="96" cy="96"/>
            </a:xfrm>
            <a:custGeom>
              <a:avLst/>
              <a:gdLst/>
              <a:ahLst/>
              <a:cxnLst>
                <a:cxn ang="0">
                  <a:pos x="0" y="48"/>
                </a:cxn>
                <a:cxn ang="0">
                  <a:pos x="48" y="0"/>
                </a:cxn>
                <a:cxn ang="0">
                  <a:pos x="96" y="48"/>
                </a:cxn>
              </a:cxnLst>
              <a:rect l="0" t="0" r="r" b="b"/>
              <a:pathLst>
                <a:path w="96" h="48">
                  <a:moveTo>
                    <a:pt x="0" y="48"/>
                  </a:moveTo>
                  <a:lnTo>
                    <a:pt x="48" y="0"/>
                  </a:lnTo>
                  <a:lnTo>
                    <a:pt x="96" y="48"/>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9" name="Group 39"/>
          <p:cNvGrpSpPr>
            <a:grpSpLocks/>
          </p:cNvGrpSpPr>
          <p:nvPr/>
        </p:nvGrpSpPr>
        <p:grpSpPr bwMode="auto">
          <a:xfrm>
            <a:off x="4876800" y="1841227"/>
            <a:ext cx="304800" cy="838200"/>
            <a:chOff x="432" y="1296"/>
            <a:chExt cx="192" cy="528"/>
          </a:xfrm>
        </p:grpSpPr>
        <p:sp>
          <p:nvSpPr>
            <p:cNvPr id="1395752" name="Rectangle 40"/>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r>
                <a:rPr lang="en-US" b="1"/>
                <a:t>IR</a:t>
              </a:r>
            </a:p>
          </p:txBody>
        </p:sp>
        <p:sp>
          <p:nvSpPr>
            <p:cNvPr id="1395753" name="Freeform 41"/>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54" name="Line 42"/>
          <p:cNvSpPr>
            <a:spLocks noChangeShapeType="1"/>
          </p:cNvSpPr>
          <p:nvPr/>
        </p:nvSpPr>
        <p:spPr bwMode="auto">
          <a:xfrm>
            <a:off x="4572000" y="2298427"/>
            <a:ext cx="3048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55" name="Rectangle 43"/>
          <p:cNvSpPr>
            <a:spLocks noChangeArrowheads="1"/>
          </p:cNvSpPr>
          <p:nvPr/>
        </p:nvSpPr>
        <p:spPr bwMode="auto">
          <a:xfrm>
            <a:off x="6019800" y="1717403"/>
            <a:ext cx="990600" cy="777875"/>
          </a:xfrm>
          <a:prstGeom prst="rect">
            <a:avLst/>
          </a:prstGeom>
          <a:solidFill>
            <a:srgbClr val="FFFF00"/>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GPR1</a:t>
            </a:r>
          </a:p>
        </p:txBody>
      </p:sp>
      <p:sp>
        <p:nvSpPr>
          <p:cNvPr id="1395756" name="Rectangle 44"/>
          <p:cNvSpPr>
            <a:spLocks noChangeArrowheads="1"/>
          </p:cNvSpPr>
          <p:nvPr/>
        </p:nvSpPr>
        <p:spPr bwMode="auto">
          <a:xfrm>
            <a:off x="5867400" y="1809478"/>
            <a:ext cx="990600" cy="777875"/>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GPR1</a:t>
            </a:r>
          </a:p>
        </p:txBody>
      </p:sp>
      <p:sp>
        <p:nvSpPr>
          <p:cNvPr id="1395757" name="Rectangle 45"/>
          <p:cNvSpPr>
            <a:spLocks noChangeArrowheads="1"/>
          </p:cNvSpPr>
          <p:nvPr/>
        </p:nvSpPr>
        <p:spPr bwMode="auto">
          <a:xfrm>
            <a:off x="5715000" y="1901553"/>
            <a:ext cx="990600" cy="777875"/>
          </a:xfrm>
          <a:prstGeom prst="rect">
            <a:avLst/>
          </a:prstGeom>
          <a:solidFill>
            <a:srgbClr val="FF9933"/>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GPR1</a:t>
            </a:r>
          </a:p>
        </p:txBody>
      </p:sp>
      <p:sp>
        <p:nvSpPr>
          <p:cNvPr id="1395758" name="Rectangle 46"/>
          <p:cNvSpPr>
            <a:spLocks noChangeArrowheads="1"/>
          </p:cNvSpPr>
          <p:nvPr/>
        </p:nvSpPr>
        <p:spPr bwMode="auto">
          <a:xfrm>
            <a:off x="5562600" y="1993628"/>
            <a:ext cx="990600" cy="777875"/>
          </a:xfrm>
          <a:prstGeom prst="rect">
            <a:avLst/>
          </a:prstGeom>
          <a:solidFill>
            <a:srgbClr val="00FFFF"/>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GPR1</a:t>
            </a:r>
          </a:p>
        </p:txBody>
      </p:sp>
      <p:sp>
        <p:nvSpPr>
          <p:cNvPr id="1395759" name="Line 47"/>
          <p:cNvSpPr>
            <a:spLocks noChangeShapeType="1"/>
          </p:cNvSpPr>
          <p:nvPr/>
        </p:nvSpPr>
        <p:spPr bwMode="auto">
          <a:xfrm>
            <a:off x="5181600" y="2298427"/>
            <a:ext cx="3048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60" name="Line 48"/>
          <p:cNvSpPr>
            <a:spLocks noChangeShapeType="1"/>
          </p:cNvSpPr>
          <p:nvPr/>
        </p:nvSpPr>
        <p:spPr bwMode="auto">
          <a:xfrm>
            <a:off x="5029200" y="3974827"/>
            <a:ext cx="22860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61" name="Line 49"/>
          <p:cNvSpPr>
            <a:spLocks noChangeShapeType="1"/>
          </p:cNvSpPr>
          <p:nvPr/>
        </p:nvSpPr>
        <p:spPr bwMode="auto">
          <a:xfrm flipV="1">
            <a:off x="6172200" y="2908027"/>
            <a:ext cx="0" cy="106680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62" name="Line 50"/>
          <p:cNvSpPr>
            <a:spLocks noChangeShapeType="1"/>
          </p:cNvSpPr>
          <p:nvPr/>
        </p:nvSpPr>
        <p:spPr bwMode="auto">
          <a:xfrm>
            <a:off x="7086600" y="19936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63" name="Line 51"/>
          <p:cNvSpPr>
            <a:spLocks noChangeShapeType="1"/>
          </p:cNvSpPr>
          <p:nvPr/>
        </p:nvSpPr>
        <p:spPr bwMode="auto">
          <a:xfrm>
            <a:off x="7086600" y="26794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grpSp>
        <p:nvGrpSpPr>
          <p:cNvPr id="10" name="Group 52"/>
          <p:cNvGrpSpPr>
            <a:grpSpLocks/>
          </p:cNvGrpSpPr>
          <p:nvPr/>
        </p:nvGrpSpPr>
        <p:grpSpPr bwMode="auto">
          <a:xfrm>
            <a:off x="7315200" y="1460227"/>
            <a:ext cx="304800" cy="838200"/>
            <a:chOff x="432" y="1296"/>
            <a:chExt cx="192" cy="528"/>
          </a:xfrm>
        </p:grpSpPr>
        <p:sp>
          <p:nvSpPr>
            <p:cNvPr id="1395765" name="Rectangle 53"/>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r>
                <a:rPr lang="en-US" b="1"/>
                <a:t>X</a:t>
              </a:r>
            </a:p>
          </p:txBody>
        </p:sp>
        <p:sp>
          <p:nvSpPr>
            <p:cNvPr id="1395766" name="Freeform 54"/>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11" name="Group 55"/>
          <p:cNvGrpSpPr>
            <a:grpSpLocks/>
          </p:cNvGrpSpPr>
          <p:nvPr/>
        </p:nvGrpSpPr>
        <p:grpSpPr bwMode="auto">
          <a:xfrm>
            <a:off x="7315200" y="2374627"/>
            <a:ext cx="304800" cy="838200"/>
            <a:chOff x="432" y="1296"/>
            <a:chExt cx="192" cy="528"/>
          </a:xfrm>
        </p:grpSpPr>
        <p:sp>
          <p:nvSpPr>
            <p:cNvPr id="1395768" name="Rectangle 56"/>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r>
                <a:rPr lang="en-US" b="1"/>
                <a:t>Y</a:t>
              </a:r>
            </a:p>
          </p:txBody>
        </p:sp>
        <p:sp>
          <p:nvSpPr>
            <p:cNvPr id="1395769" name="Freeform 57"/>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70" name="Freeform 58"/>
          <p:cNvSpPr>
            <a:spLocks/>
          </p:cNvSpPr>
          <p:nvPr/>
        </p:nvSpPr>
        <p:spPr bwMode="auto">
          <a:xfrm>
            <a:off x="7848600" y="1688827"/>
            <a:ext cx="381000" cy="1219200"/>
          </a:xfrm>
          <a:custGeom>
            <a:avLst/>
            <a:gdLst/>
            <a:ahLst/>
            <a:cxnLst>
              <a:cxn ang="0">
                <a:pos x="0" y="0"/>
              </a:cxn>
              <a:cxn ang="0">
                <a:pos x="0" y="768"/>
              </a:cxn>
              <a:cxn ang="0">
                <a:pos x="240" y="624"/>
              </a:cxn>
              <a:cxn ang="0">
                <a:pos x="240" y="144"/>
              </a:cxn>
              <a:cxn ang="0">
                <a:pos x="0" y="0"/>
              </a:cxn>
            </a:cxnLst>
            <a:rect l="0" t="0" r="r" b="b"/>
            <a:pathLst>
              <a:path w="240" h="768">
                <a:moveTo>
                  <a:pt x="0" y="0"/>
                </a:moveTo>
                <a:lnTo>
                  <a:pt x="0" y="768"/>
                </a:lnTo>
                <a:lnTo>
                  <a:pt x="240" y="624"/>
                </a:lnTo>
                <a:lnTo>
                  <a:pt x="240" y="144"/>
                </a:lnTo>
                <a:lnTo>
                  <a:pt x="0" y="0"/>
                </a:lnTo>
                <a:close/>
              </a:path>
            </a:pathLst>
          </a:custGeom>
          <a:solidFill>
            <a:schemeClr val="bg1"/>
          </a:solidFill>
          <a:ln w="25400" cap="flat" cmpd="sng">
            <a:solidFill>
              <a:schemeClr val="tx1"/>
            </a:solidFill>
            <a:prstDash val="solid"/>
            <a:round/>
            <a:headEnd/>
            <a:tailEnd/>
          </a:ln>
          <a:effectLst/>
        </p:spPr>
        <p:txBody>
          <a:bodyPr>
            <a:prstTxWarp prst="textNoShape">
              <a:avLst/>
            </a:prstTxWarp>
          </a:bodyPr>
          <a:lstStyle/>
          <a:p>
            <a:endParaRPr lang="en-US"/>
          </a:p>
        </p:txBody>
      </p:sp>
      <p:grpSp>
        <p:nvGrpSpPr>
          <p:cNvPr id="12" name="Group 59"/>
          <p:cNvGrpSpPr>
            <a:grpSpLocks/>
          </p:cNvGrpSpPr>
          <p:nvPr/>
        </p:nvGrpSpPr>
        <p:grpSpPr bwMode="auto">
          <a:xfrm>
            <a:off x="7315200" y="3670027"/>
            <a:ext cx="152400" cy="609600"/>
            <a:chOff x="432" y="2208"/>
            <a:chExt cx="96" cy="384"/>
          </a:xfrm>
        </p:grpSpPr>
        <p:sp>
          <p:nvSpPr>
            <p:cNvPr id="1395772" name="Rectangle 60"/>
            <p:cNvSpPr>
              <a:spLocks noChangeArrowheads="1"/>
            </p:cNvSpPr>
            <p:nvPr/>
          </p:nvSpPr>
          <p:spPr bwMode="auto">
            <a:xfrm>
              <a:off x="432" y="2208"/>
              <a:ext cx="96" cy="384"/>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395773" name="Freeform 61"/>
            <p:cNvSpPr>
              <a:spLocks/>
            </p:cNvSpPr>
            <p:nvPr/>
          </p:nvSpPr>
          <p:spPr bwMode="auto">
            <a:xfrm>
              <a:off x="432" y="2496"/>
              <a:ext cx="96" cy="96"/>
            </a:xfrm>
            <a:custGeom>
              <a:avLst/>
              <a:gdLst/>
              <a:ahLst/>
              <a:cxnLst>
                <a:cxn ang="0">
                  <a:pos x="0" y="48"/>
                </a:cxn>
                <a:cxn ang="0">
                  <a:pos x="48" y="0"/>
                </a:cxn>
                <a:cxn ang="0">
                  <a:pos x="96" y="48"/>
                </a:cxn>
              </a:cxnLst>
              <a:rect l="0" t="0" r="r" b="b"/>
              <a:pathLst>
                <a:path w="96" h="48">
                  <a:moveTo>
                    <a:pt x="0" y="48"/>
                  </a:moveTo>
                  <a:lnTo>
                    <a:pt x="48" y="0"/>
                  </a:lnTo>
                  <a:lnTo>
                    <a:pt x="96" y="48"/>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grpSp>
        <p:nvGrpSpPr>
          <p:cNvPr id="13" name="Group 62"/>
          <p:cNvGrpSpPr>
            <a:grpSpLocks/>
          </p:cNvGrpSpPr>
          <p:nvPr/>
        </p:nvGrpSpPr>
        <p:grpSpPr bwMode="auto">
          <a:xfrm>
            <a:off x="5486401" y="3898627"/>
            <a:ext cx="354013" cy="457200"/>
            <a:chOff x="624" y="2448"/>
            <a:chExt cx="223" cy="288"/>
          </a:xfrm>
        </p:grpSpPr>
        <p:sp>
          <p:nvSpPr>
            <p:cNvPr id="1395775" name="Line 63"/>
            <p:cNvSpPr>
              <a:spLocks noChangeShapeType="1"/>
            </p:cNvSpPr>
            <p:nvPr/>
          </p:nvSpPr>
          <p:spPr bwMode="auto">
            <a:xfrm flipV="1">
              <a:off x="624" y="2448"/>
              <a:ext cx="48" cy="96"/>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395776" name="Text Box 64"/>
            <p:cNvSpPr txBox="1">
              <a:spLocks noChangeArrowheads="1"/>
            </p:cNvSpPr>
            <p:nvPr/>
          </p:nvSpPr>
          <p:spPr bwMode="auto">
            <a:xfrm>
              <a:off x="624" y="2448"/>
              <a:ext cx="223" cy="288"/>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sz="2400" b="1"/>
                <a:t>2</a:t>
              </a:r>
            </a:p>
          </p:txBody>
        </p:sp>
      </p:grpSp>
      <p:sp>
        <p:nvSpPr>
          <p:cNvPr id="1395777" name="Line 65"/>
          <p:cNvSpPr>
            <a:spLocks noChangeShapeType="1"/>
          </p:cNvSpPr>
          <p:nvPr/>
        </p:nvSpPr>
        <p:spPr bwMode="auto">
          <a:xfrm>
            <a:off x="7620000" y="19936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78" name="Line 66"/>
          <p:cNvSpPr>
            <a:spLocks noChangeShapeType="1"/>
          </p:cNvSpPr>
          <p:nvPr/>
        </p:nvSpPr>
        <p:spPr bwMode="auto">
          <a:xfrm>
            <a:off x="7620000" y="26794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grpSp>
        <p:nvGrpSpPr>
          <p:cNvPr id="14" name="Group 67"/>
          <p:cNvGrpSpPr>
            <a:grpSpLocks/>
          </p:cNvGrpSpPr>
          <p:nvPr/>
        </p:nvGrpSpPr>
        <p:grpSpPr bwMode="auto">
          <a:xfrm>
            <a:off x="8458200" y="1917427"/>
            <a:ext cx="152400" cy="838200"/>
            <a:chOff x="432" y="1296"/>
            <a:chExt cx="192" cy="528"/>
          </a:xfrm>
        </p:grpSpPr>
        <p:sp>
          <p:nvSpPr>
            <p:cNvPr id="1395780" name="Rectangle 68"/>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endParaRPr lang="en-US" b="1"/>
            </a:p>
          </p:txBody>
        </p:sp>
        <p:sp>
          <p:nvSpPr>
            <p:cNvPr id="1395781" name="Freeform 69"/>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82" name="Line 70"/>
          <p:cNvSpPr>
            <a:spLocks noChangeShapeType="1"/>
          </p:cNvSpPr>
          <p:nvPr/>
        </p:nvSpPr>
        <p:spPr bwMode="auto">
          <a:xfrm>
            <a:off x="8229600" y="22984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grpSp>
        <p:nvGrpSpPr>
          <p:cNvPr id="15" name="Group 71"/>
          <p:cNvGrpSpPr>
            <a:grpSpLocks/>
          </p:cNvGrpSpPr>
          <p:nvPr/>
        </p:nvGrpSpPr>
        <p:grpSpPr bwMode="auto">
          <a:xfrm>
            <a:off x="8458200" y="2831827"/>
            <a:ext cx="152400" cy="838200"/>
            <a:chOff x="432" y="1296"/>
            <a:chExt cx="192" cy="528"/>
          </a:xfrm>
        </p:grpSpPr>
        <p:sp>
          <p:nvSpPr>
            <p:cNvPr id="1395784" name="Rectangle 72"/>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endParaRPr lang="en-US" b="1"/>
            </a:p>
          </p:txBody>
        </p:sp>
        <p:sp>
          <p:nvSpPr>
            <p:cNvPr id="1395785" name="Freeform 73"/>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86" name="Freeform 74"/>
          <p:cNvSpPr>
            <a:spLocks/>
          </p:cNvSpPr>
          <p:nvPr/>
        </p:nvSpPr>
        <p:spPr bwMode="auto">
          <a:xfrm>
            <a:off x="7696200" y="2679427"/>
            <a:ext cx="762000" cy="533400"/>
          </a:xfrm>
          <a:custGeom>
            <a:avLst/>
            <a:gdLst/>
            <a:ahLst/>
            <a:cxnLst>
              <a:cxn ang="0">
                <a:pos x="0" y="0"/>
              </a:cxn>
              <a:cxn ang="0">
                <a:pos x="0" y="432"/>
              </a:cxn>
              <a:cxn ang="0">
                <a:pos x="480" y="432"/>
              </a:cxn>
            </a:cxnLst>
            <a:rect l="0" t="0" r="r" b="b"/>
            <a:pathLst>
              <a:path w="480" h="432">
                <a:moveTo>
                  <a:pt x="0" y="0"/>
                </a:moveTo>
                <a:lnTo>
                  <a:pt x="0" y="432"/>
                </a:lnTo>
                <a:lnTo>
                  <a:pt x="480" y="432"/>
                </a:ln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endParaRPr lang="en-US"/>
          </a:p>
        </p:txBody>
      </p:sp>
      <p:sp>
        <p:nvSpPr>
          <p:cNvPr id="1395787" name="Rectangle 75"/>
          <p:cNvSpPr>
            <a:spLocks noChangeArrowheads="1"/>
          </p:cNvSpPr>
          <p:nvPr/>
        </p:nvSpPr>
        <p:spPr bwMode="auto">
          <a:xfrm>
            <a:off x="8915400" y="2146027"/>
            <a:ext cx="457200" cy="11430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a:spcBef>
                <a:spcPct val="0"/>
              </a:spcBef>
            </a:pPr>
            <a:r>
              <a:rPr lang="en-US" sz="2000" b="1"/>
              <a:t>D$</a:t>
            </a:r>
          </a:p>
        </p:txBody>
      </p:sp>
      <p:sp>
        <p:nvSpPr>
          <p:cNvPr id="1395788" name="Line 76"/>
          <p:cNvSpPr>
            <a:spLocks noChangeShapeType="1"/>
          </p:cNvSpPr>
          <p:nvPr/>
        </p:nvSpPr>
        <p:spPr bwMode="auto">
          <a:xfrm>
            <a:off x="8610600" y="2298427"/>
            <a:ext cx="3048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89" name="Line 77"/>
          <p:cNvSpPr>
            <a:spLocks noChangeShapeType="1"/>
          </p:cNvSpPr>
          <p:nvPr/>
        </p:nvSpPr>
        <p:spPr bwMode="auto">
          <a:xfrm>
            <a:off x="8610600" y="3212827"/>
            <a:ext cx="3048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grpSp>
        <p:nvGrpSpPr>
          <p:cNvPr id="16" name="Group 78"/>
          <p:cNvGrpSpPr>
            <a:grpSpLocks/>
          </p:cNvGrpSpPr>
          <p:nvPr/>
        </p:nvGrpSpPr>
        <p:grpSpPr bwMode="auto">
          <a:xfrm>
            <a:off x="9982200" y="2374627"/>
            <a:ext cx="152400" cy="838200"/>
            <a:chOff x="432" y="1296"/>
            <a:chExt cx="192" cy="528"/>
          </a:xfrm>
        </p:grpSpPr>
        <p:sp>
          <p:nvSpPr>
            <p:cNvPr id="1395791" name="Rectangle 79"/>
            <p:cNvSpPr>
              <a:spLocks noChangeArrowheads="1"/>
            </p:cNvSpPr>
            <p:nvPr/>
          </p:nvSpPr>
          <p:spPr bwMode="auto">
            <a:xfrm>
              <a:off x="432" y="1296"/>
              <a:ext cx="192" cy="528"/>
            </a:xfrm>
            <a:prstGeom prst="rect">
              <a:avLst/>
            </a:prstGeom>
            <a:noFill/>
            <a:ln w="25400">
              <a:solidFill>
                <a:schemeClr val="tx1"/>
              </a:solidFill>
              <a:miter lim="800000"/>
              <a:headEnd/>
              <a:tailEnd/>
            </a:ln>
            <a:effectLst/>
          </p:spPr>
          <p:txBody>
            <a:bodyPr wrap="none" anchor="ctr">
              <a:prstTxWarp prst="textNoShape">
                <a:avLst/>
              </a:prstTxWarp>
            </a:bodyPr>
            <a:lstStyle/>
            <a:p>
              <a:pPr>
                <a:spcBef>
                  <a:spcPct val="0"/>
                </a:spcBef>
              </a:pPr>
              <a:endParaRPr lang="en-US" b="1"/>
            </a:p>
          </p:txBody>
        </p:sp>
        <p:sp>
          <p:nvSpPr>
            <p:cNvPr id="1395792" name="Freeform 80"/>
            <p:cNvSpPr>
              <a:spLocks/>
            </p:cNvSpPr>
            <p:nvPr/>
          </p:nvSpPr>
          <p:spPr bwMode="auto">
            <a:xfrm>
              <a:off x="432" y="1728"/>
              <a:ext cx="192" cy="96"/>
            </a:xfrm>
            <a:custGeom>
              <a:avLst/>
              <a:gdLst/>
              <a:ahLst/>
              <a:cxnLst>
                <a:cxn ang="0">
                  <a:pos x="0" y="96"/>
                </a:cxn>
                <a:cxn ang="0">
                  <a:pos x="96" y="0"/>
                </a:cxn>
                <a:cxn ang="0">
                  <a:pos x="192" y="96"/>
                </a:cxn>
              </a:cxnLst>
              <a:rect l="0" t="0" r="r" b="b"/>
              <a:pathLst>
                <a:path w="192" h="96">
                  <a:moveTo>
                    <a:pt x="0" y="96"/>
                  </a:moveTo>
                  <a:lnTo>
                    <a:pt x="96" y="0"/>
                  </a:lnTo>
                  <a:lnTo>
                    <a:pt x="192" y="96"/>
                  </a:lnTo>
                </a:path>
              </a:pathLst>
            </a:custGeom>
            <a:noFill/>
            <a:ln w="25400" cap="flat" cmpd="sng">
              <a:solidFill>
                <a:schemeClr val="tx1"/>
              </a:solidFill>
              <a:prstDash val="solid"/>
              <a:round/>
              <a:headEnd type="none" w="med" len="med"/>
              <a:tailEnd type="none" w="med" len="med"/>
            </a:ln>
            <a:effectLst/>
          </p:spPr>
          <p:txBody>
            <a:bodyPr>
              <a:prstTxWarp prst="textNoShape">
                <a:avLst/>
              </a:prstTxWarp>
            </a:bodyPr>
            <a:lstStyle/>
            <a:p>
              <a:endParaRPr lang="en-US"/>
            </a:p>
          </p:txBody>
        </p:sp>
      </p:grpSp>
      <p:sp>
        <p:nvSpPr>
          <p:cNvPr id="1395793" name="Line 81"/>
          <p:cNvSpPr>
            <a:spLocks noChangeShapeType="1"/>
          </p:cNvSpPr>
          <p:nvPr/>
        </p:nvSpPr>
        <p:spPr bwMode="auto">
          <a:xfrm>
            <a:off x="9372600" y="29842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94" name="Freeform 82"/>
          <p:cNvSpPr>
            <a:spLocks/>
          </p:cNvSpPr>
          <p:nvPr/>
        </p:nvSpPr>
        <p:spPr bwMode="auto">
          <a:xfrm>
            <a:off x="9601200" y="2298427"/>
            <a:ext cx="152400" cy="914400"/>
          </a:xfrm>
          <a:custGeom>
            <a:avLst/>
            <a:gdLst/>
            <a:ahLst/>
            <a:cxnLst>
              <a:cxn ang="0">
                <a:pos x="0" y="0"/>
              </a:cxn>
              <a:cxn ang="0">
                <a:pos x="0" y="576"/>
              </a:cxn>
              <a:cxn ang="0">
                <a:pos x="144" y="528"/>
              </a:cxn>
              <a:cxn ang="0">
                <a:pos x="144" y="48"/>
              </a:cxn>
              <a:cxn ang="0">
                <a:pos x="0" y="0"/>
              </a:cxn>
            </a:cxnLst>
            <a:rect l="0" t="0" r="r" b="b"/>
            <a:pathLst>
              <a:path w="144" h="576">
                <a:moveTo>
                  <a:pt x="0" y="0"/>
                </a:moveTo>
                <a:lnTo>
                  <a:pt x="0" y="576"/>
                </a:lnTo>
                <a:lnTo>
                  <a:pt x="144" y="528"/>
                </a:lnTo>
                <a:lnTo>
                  <a:pt x="144" y="48"/>
                </a:lnTo>
                <a:lnTo>
                  <a:pt x="0" y="0"/>
                </a:lnTo>
                <a:close/>
              </a:path>
            </a:pathLst>
          </a:custGeom>
          <a:solidFill>
            <a:schemeClr val="bg1"/>
          </a:solidFill>
          <a:ln w="25400" cap="flat" cmpd="sng">
            <a:solidFill>
              <a:schemeClr val="tx1"/>
            </a:solidFill>
            <a:prstDash val="solid"/>
            <a:round/>
            <a:headEnd/>
            <a:tailEnd/>
          </a:ln>
          <a:effectLst/>
        </p:spPr>
        <p:txBody>
          <a:bodyPr>
            <a:prstTxWarp prst="textNoShape">
              <a:avLst/>
            </a:prstTxWarp>
          </a:bodyPr>
          <a:lstStyle/>
          <a:p>
            <a:endParaRPr lang="en-US"/>
          </a:p>
        </p:txBody>
      </p:sp>
      <p:sp>
        <p:nvSpPr>
          <p:cNvPr id="1395795" name="Line 83"/>
          <p:cNvSpPr>
            <a:spLocks noChangeShapeType="1"/>
          </p:cNvSpPr>
          <p:nvPr/>
        </p:nvSpPr>
        <p:spPr bwMode="auto">
          <a:xfrm>
            <a:off x="9753600" y="2755627"/>
            <a:ext cx="2286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96" name="Freeform 84"/>
          <p:cNvSpPr>
            <a:spLocks/>
          </p:cNvSpPr>
          <p:nvPr/>
        </p:nvSpPr>
        <p:spPr bwMode="auto">
          <a:xfrm>
            <a:off x="8686800" y="1841227"/>
            <a:ext cx="914400" cy="609600"/>
          </a:xfrm>
          <a:custGeom>
            <a:avLst/>
            <a:gdLst/>
            <a:ahLst/>
            <a:cxnLst>
              <a:cxn ang="0">
                <a:pos x="0" y="288"/>
              </a:cxn>
              <a:cxn ang="0">
                <a:pos x="0" y="0"/>
              </a:cxn>
              <a:cxn ang="0">
                <a:pos x="480" y="0"/>
              </a:cxn>
              <a:cxn ang="0">
                <a:pos x="480" y="384"/>
              </a:cxn>
              <a:cxn ang="0">
                <a:pos x="576" y="384"/>
              </a:cxn>
            </a:cxnLst>
            <a:rect l="0" t="0" r="r" b="b"/>
            <a:pathLst>
              <a:path w="576" h="384">
                <a:moveTo>
                  <a:pt x="0" y="288"/>
                </a:moveTo>
                <a:lnTo>
                  <a:pt x="0" y="0"/>
                </a:lnTo>
                <a:lnTo>
                  <a:pt x="480" y="0"/>
                </a:lnTo>
                <a:lnTo>
                  <a:pt x="480" y="384"/>
                </a:lnTo>
                <a:lnTo>
                  <a:pt x="576" y="384"/>
                </a:ln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endParaRPr lang="en-US"/>
          </a:p>
        </p:txBody>
      </p:sp>
      <p:sp>
        <p:nvSpPr>
          <p:cNvPr id="1395797" name="Line 85"/>
          <p:cNvSpPr>
            <a:spLocks noChangeShapeType="1"/>
          </p:cNvSpPr>
          <p:nvPr/>
        </p:nvSpPr>
        <p:spPr bwMode="auto">
          <a:xfrm>
            <a:off x="7467600" y="3974827"/>
            <a:ext cx="533400" cy="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395798" name="Freeform 86"/>
          <p:cNvSpPr>
            <a:spLocks/>
          </p:cNvSpPr>
          <p:nvPr/>
        </p:nvSpPr>
        <p:spPr bwMode="auto">
          <a:xfrm>
            <a:off x="6324600" y="1079227"/>
            <a:ext cx="4114800" cy="1676400"/>
          </a:xfrm>
          <a:custGeom>
            <a:avLst/>
            <a:gdLst/>
            <a:ahLst/>
            <a:cxnLst>
              <a:cxn ang="0">
                <a:pos x="2400" y="1056"/>
              </a:cxn>
              <a:cxn ang="0">
                <a:pos x="2592" y="1056"/>
              </a:cxn>
              <a:cxn ang="0">
                <a:pos x="2592" y="0"/>
              </a:cxn>
              <a:cxn ang="0">
                <a:pos x="0" y="0"/>
              </a:cxn>
              <a:cxn ang="0">
                <a:pos x="0" y="336"/>
              </a:cxn>
            </a:cxnLst>
            <a:rect l="0" t="0" r="r" b="b"/>
            <a:pathLst>
              <a:path w="2592" h="1056">
                <a:moveTo>
                  <a:pt x="2400" y="1056"/>
                </a:moveTo>
                <a:lnTo>
                  <a:pt x="2592" y="1056"/>
                </a:lnTo>
                <a:lnTo>
                  <a:pt x="2592" y="0"/>
                </a:lnTo>
                <a:lnTo>
                  <a:pt x="0" y="0"/>
                </a:lnTo>
                <a:lnTo>
                  <a:pt x="0" y="336"/>
                </a:ln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endParaRPr lang="en-US"/>
          </a:p>
        </p:txBody>
      </p:sp>
    </p:spTree>
    <p:extLst>
      <p:ext uri="{BB962C8B-B14F-4D97-AF65-F5344CB8AC3E}">
        <p14:creationId xmlns:p14="http://schemas.microsoft.com/office/powerpoint/2010/main" val="9454251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2" name="Rectangle 2"/>
          <p:cNvSpPr>
            <a:spLocks noGrp="1" noChangeArrowheads="1"/>
          </p:cNvSpPr>
          <p:nvPr>
            <p:ph type="title"/>
          </p:nvPr>
        </p:nvSpPr>
        <p:spPr/>
        <p:txBody>
          <a:bodyPr/>
          <a:lstStyle/>
          <a:p>
            <a:r>
              <a:rPr lang="zh-CN" altLang="en-US" smtClean="0"/>
              <a:t>多线程结构的代价</a:t>
            </a:r>
            <a:endParaRPr lang="en-US" dirty="0"/>
          </a:p>
        </p:txBody>
      </p:sp>
      <p:sp>
        <p:nvSpPr>
          <p:cNvPr id="1397763" name="Rectangle 3"/>
          <p:cNvSpPr>
            <a:spLocks noGrp="1" noChangeArrowheads="1"/>
          </p:cNvSpPr>
          <p:nvPr>
            <p:ph idx="1"/>
          </p:nvPr>
        </p:nvSpPr>
        <p:spPr/>
        <p:txBody>
          <a:bodyPr/>
          <a:lstStyle/>
          <a:p>
            <a:r>
              <a:rPr lang="zh-CN" altLang="en-US" dirty="0" smtClean="0"/>
              <a:t>每个线程需要有自己的用户级状态</a:t>
            </a:r>
            <a:endParaRPr lang="en-US" dirty="0" smtClean="0"/>
          </a:p>
          <a:p>
            <a:pPr lvl="1"/>
            <a:r>
              <a:rPr lang="en-US" dirty="0" smtClean="0"/>
              <a:t> PC</a:t>
            </a:r>
            <a:r>
              <a:rPr lang="zh-CN" altLang="en-US" dirty="0" smtClean="0"/>
              <a:t>、通用寄存器堆</a:t>
            </a:r>
            <a:r>
              <a:rPr lang="en-US" altLang="zh-CN" dirty="0" smtClean="0"/>
              <a:t>(</a:t>
            </a:r>
            <a:r>
              <a:rPr lang="en-US" dirty="0" smtClean="0"/>
              <a:t>GPR </a:t>
            </a:r>
            <a:r>
              <a:rPr lang="en-US" altLang="zh-CN" dirty="0" smtClean="0"/>
              <a:t>File</a:t>
            </a:r>
            <a:r>
              <a:rPr lang="en-US" dirty="0" smtClean="0"/>
              <a:t>)</a:t>
            </a:r>
            <a:endParaRPr lang="en-US" dirty="0" smtClean="0"/>
          </a:p>
          <a:p>
            <a:r>
              <a:rPr lang="zh-CN" altLang="en-US" dirty="0" smtClean="0"/>
              <a:t>线程也需要其系统级状态</a:t>
            </a:r>
            <a:endParaRPr lang="en-US" dirty="0" smtClean="0"/>
          </a:p>
          <a:p>
            <a:pPr lvl="1"/>
            <a:r>
              <a:rPr lang="zh-CN" altLang="en-US" dirty="0" smtClean="0"/>
              <a:t>如虚存的页表基地址</a:t>
            </a:r>
            <a:r>
              <a:rPr lang="zh-CN" altLang="en-US" dirty="0" smtClean="0"/>
              <a:t>寄存器</a:t>
            </a:r>
            <a:r>
              <a:rPr lang="zh-CN" altLang="en-US" dirty="0" smtClean="0"/>
              <a:t>，</a:t>
            </a:r>
            <a:r>
              <a:rPr lang="zh-CN" altLang="en-US" dirty="0" smtClean="0"/>
              <a:t>例外</a:t>
            </a:r>
            <a:r>
              <a:rPr lang="zh-CN" altLang="en-US" dirty="0" smtClean="0"/>
              <a:t>处理寄存器等</a:t>
            </a:r>
            <a:endParaRPr lang="en-US" dirty="0" smtClean="0"/>
          </a:p>
          <a:p>
            <a:r>
              <a:rPr lang="zh-CN" altLang="en-US" dirty="0" smtClean="0"/>
              <a:t>一些其它的开销</a:t>
            </a:r>
            <a:endParaRPr lang="en-US" dirty="0" smtClean="0"/>
          </a:p>
          <a:p>
            <a:pPr lvl="1"/>
            <a:r>
              <a:rPr lang="zh-CN" altLang="en-US" dirty="0" smtClean="0"/>
              <a:t>线程间竞争</a:t>
            </a:r>
            <a:r>
              <a:rPr lang="en-US" dirty="0" smtClean="0"/>
              <a:t>cache/TLB</a:t>
            </a:r>
            <a:r>
              <a:rPr lang="zh-CN" altLang="en-US" dirty="0" smtClean="0"/>
              <a:t>，导致额外的冲突</a:t>
            </a:r>
            <a:endParaRPr lang="en-US" dirty="0" smtClean="0"/>
          </a:p>
          <a:p>
            <a:pPr lvl="2"/>
            <a:r>
              <a:rPr lang="zh-CN" altLang="en-US" dirty="0" smtClean="0"/>
              <a:t>或者需要增大</a:t>
            </a:r>
            <a:r>
              <a:rPr lang="en-US" dirty="0" smtClean="0"/>
              <a:t>cache/TLB</a:t>
            </a:r>
            <a:r>
              <a:rPr lang="zh-CN" altLang="en-US" dirty="0" smtClean="0"/>
              <a:t>的容量</a:t>
            </a:r>
            <a:endParaRPr lang="en-US" dirty="0" smtClean="0"/>
          </a:p>
          <a:p>
            <a:pPr lvl="1"/>
            <a:r>
              <a:rPr lang="zh-CN" altLang="en-US" dirty="0" smtClean="0"/>
              <a:t>调度更多的线程，带来更多的</a:t>
            </a:r>
            <a:r>
              <a:rPr lang="en-US" dirty="0" smtClean="0"/>
              <a:t>OS</a:t>
            </a:r>
            <a:r>
              <a:rPr lang="zh-CN" altLang="en-US" dirty="0" smtClean="0"/>
              <a:t>开销</a:t>
            </a:r>
            <a:endParaRPr lang="en-US" altLang="zh-CN" dirty="0" smtClean="0"/>
          </a:p>
          <a:p>
            <a:pPr lvl="2"/>
            <a:r>
              <a:rPr lang="zh-CN" altLang="en-US" dirty="0" smtClean="0"/>
              <a:t>这些线程都从何而来？</a:t>
            </a:r>
            <a:endParaRPr lang="en-US" dirty="0"/>
          </a:p>
        </p:txBody>
      </p:sp>
    </p:spTree>
    <p:extLst>
      <p:ext uri="{BB962C8B-B14F-4D97-AF65-F5344CB8AC3E}">
        <p14:creationId xmlns:p14="http://schemas.microsoft.com/office/powerpoint/2010/main" val="2325826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810" name="Rectangle 2"/>
          <p:cNvSpPr>
            <a:spLocks noGrp="1" noChangeArrowheads="1"/>
          </p:cNvSpPr>
          <p:nvPr>
            <p:ph type="title"/>
          </p:nvPr>
        </p:nvSpPr>
        <p:spPr/>
        <p:txBody>
          <a:bodyPr/>
          <a:lstStyle/>
          <a:p>
            <a:r>
              <a:rPr lang="zh-CN" altLang="en-US" smtClean="0"/>
              <a:t>线程调度策略</a:t>
            </a:r>
            <a:endParaRPr lang="en-US" dirty="0"/>
          </a:p>
        </p:txBody>
      </p:sp>
      <p:sp>
        <p:nvSpPr>
          <p:cNvPr id="1399811" name="Rectangle 3"/>
          <p:cNvSpPr>
            <a:spLocks noGrp="1" noChangeArrowheads="1"/>
          </p:cNvSpPr>
          <p:nvPr>
            <p:ph idx="1"/>
          </p:nvPr>
        </p:nvSpPr>
        <p:spPr/>
        <p:txBody>
          <a:bodyPr/>
          <a:lstStyle/>
          <a:p>
            <a:r>
              <a:rPr lang="zh-CN" altLang="en-US" dirty="0" smtClean="0"/>
              <a:t>固定时间的交替执行 </a:t>
            </a:r>
            <a:r>
              <a:rPr lang="en-US" dirty="0" smtClean="0"/>
              <a:t>(CDC 6600 PPUs, 1964)</a:t>
            </a:r>
          </a:p>
          <a:p>
            <a:pPr lvl="1"/>
            <a:r>
              <a:rPr lang="en-US" altLang="zh-CN" dirty="0" smtClean="0"/>
              <a:t>N</a:t>
            </a:r>
            <a:r>
              <a:rPr lang="zh-CN" altLang="en-US" dirty="0" smtClean="0"/>
              <a:t>个线程，</a:t>
            </a:r>
            <a:r>
              <a:rPr lang="en-US" altLang="zh-CN" dirty="0" smtClean="0"/>
              <a:t>N</a:t>
            </a:r>
            <a:r>
              <a:rPr lang="zh-CN" altLang="en-US" dirty="0" smtClean="0"/>
              <a:t>个周期中，每线程各执行一条指令</a:t>
            </a:r>
            <a:endParaRPr lang="en-US" dirty="0" smtClean="0"/>
          </a:p>
          <a:p>
            <a:pPr lvl="1"/>
            <a:r>
              <a:rPr lang="zh-CN" altLang="en-US" dirty="0" smtClean="0"/>
              <a:t>线程不满足执行条件时，轮空，流水线插入气泡</a:t>
            </a:r>
            <a:endParaRPr lang="en-US" dirty="0" smtClean="0"/>
          </a:p>
          <a:p>
            <a:r>
              <a:rPr lang="zh-CN" altLang="en-US" dirty="0" smtClean="0"/>
              <a:t>软件控制的交替执行</a:t>
            </a:r>
            <a:r>
              <a:rPr lang="en-US" altLang="zh-CN" dirty="0" smtClean="0"/>
              <a:t> </a:t>
            </a:r>
            <a:r>
              <a:rPr lang="en-US" dirty="0" smtClean="0"/>
              <a:t>(TI ASC PPUs, 1971)</a:t>
            </a:r>
          </a:p>
          <a:p>
            <a:pPr lvl="1"/>
            <a:r>
              <a:rPr lang="en-US" dirty="0" smtClean="0"/>
              <a:t>OS</a:t>
            </a:r>
            <a:r>
              <a:rPr lang="zh-CN" altLang="en-US" dirty="0" smtClean="0"/>
              <a:t>在</a:t>
            </a:r>
            <a:r>
              <a:rPr lang="en-US" altLang="zh-CN" dirty="0" smtClean="0"/>
              <a:t>N</a:t>
            </a:r>
            <a:r>
              <a:rPr lang="zh-CN" altLang="en-US" dirty="0" smtClean="0"/>
              <a:t>个线程间分配</a:t>
            </a:r>
            <a:r>
              <a:rPr lang="en-US" dirty="0" smtClean="0"/>
              <a:t>S</a:t>
            </a:r>
            <a:r>
              <a:rPr lang="zh-CN" altLang="en-US" dirty="0" smtClean="0"/>
              <a:t>个流水线时间槽</a:t>
            </a:r>
            <a:endParaRPr lang="en-US" dirty="0" smtClean="0"/>
          </a:p>
          <a:p>
            <a:pPr lvl="1"/>
            <a:r>
              <a:rPr lang="zh-CN" altLang="en-US" dirty="0" smtClean="0"/>
              <a:t>硬件在</a:t>
            </a:r>
            <a:r>
              <a:rPr lang="en-US" altLang="zh-CN" dirty="0" smtClean="0"/>
              <a:t>S</a:t>
            </a:r>
            <a:r>
              <a:rPr lang="zh-CN" altLang="en-US" dirty="0" smtClean="0"/>
              <a:t>个槽上执行固定的交替：执行该槽中的某个线程</a:t>
            </a:r>
            <a:endParaRPr lang="en-US" altLang="zh-CN" dirty="0" smtClean="0"/>
          </a:p>
          <a:p>
            <a:pPr lvl="1"/>
            <a:endParaRPr lang="en-US" dirty="0" smtClean="0"/>
          </a:p>
          <a:p>
            <a:pPr lvl="1"/>
            <a:endParaRPr lang="en-US" dirty="0" smtClean="0"/>
          </a:p>
          <a:p>
            <a:r>
              <a:rPr lang="zh-CN" altLang="en-US" dirty="0" smtClean="0"/>
              <a:t>硬件控制的线程调度</a:t>
            </a:r>
            <a:r>
              <a:rPr lang="en-US" dirty="0" smtClean="0"/>
              <a:t> (HEP, 1982)</a:t>
            </a:r>
          </a:p>
          <a:p>
            <a:pPr lvl="1"/>
            <a:r>
              <a:rPr lang="zh-CN" altLang="en-US" dirty="0" smtClean="0"/>
              <a:t>硬件追踪记录哪些线程已经准备好，可以执行了</a:t>
            </a:r>
            <a:endParaRPr lang="en-US" dirty="0" smtClean="0"/>
          </a:p>
          <a:p>
            <a:pPr lvl="1"/>
            <a:r>
              <a:rPr lang="zh-CN" altLang="en-US" dirty="0" smtClean="0"/>
              <a:t>基于硬件优先级机制，选择下一个要执行的线程</a:t>
            </a:r>
            <a:endParaRPr lang="en-US" dirty="0" smtClean="0"/>
          </a:p>
          <a:p>
            <a:pPr lvl="1"/>
            <a:endParaRPr lang="en-US" dirty="0"/>
          </a:p>
        </p:txBody>
      </p:sp>
      <p:grpSp>
        <p:nvGrpSpPr>
          <p:cNvPr id="27" name="组合 26"/>
          <p:cNvGrpSpPr/>
          <p:nvPr/>
        </p:nvGrpSpPr>
        <p:grpSpPr>
          <a:xfrm>
            <a:off x="4583832" y="4404846"/>
            <a:ext cx="4756731" cy="369332"/>
            <a:chOff x="2133600" y="4006334"/>
            <a:chExt cx="4756731" cy="369332"/>
          </a:xfrm>
        </p:grpSpPr>
        <p:sp>
          <p:nvSpPr>
            <p:cNvPr id="1399812" name="Rectangle 4"/>
            <p:cNvSpPr>
              <a:spLocks noChangeArrowheads="1"/>
            </p:cNvSpPr>
            <p:nvPr/>
          </p:nvSpPr>
          <p:spPr bwMode="auto">
            <a:xfrm>
              <a:off x="21336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3" name="Rectangle 5"/>
            <p:cNvSpPr>
              <a:spLocks noChangeArrowheads="1"/>
            </p:cNvSpPr>
            <p:nvPr/>
          </p:nvSpPr>
          <p:spPr bwMode="auto">
            <a:xfrm>
              <a:off x="2438400" y="4006334"/>
              <a:ext cx="184731" cy="369332"/>
            </a:xfrm>
            <a:prstGeom prst="rect">
              <a:avLst/>
            </a:prstGeom>
            <a:solidFill>
              <a:srgbClr val="FF9933"/>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4" name="Rectangle 6"/>
            <p:cNvSpPr>
              <a:spLocks noChangeArrowheads="1"/>
            </p:cNvSpPr>
            <p:nvPr/>
          </p:nvSpPr>
          <p:spPr bwMode="auto">
            <a:xfrm>
              <a:off x="27432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5" name="Rectangle 7"/>
            <p:cNvSpPr>
              <a:spLocks noChangeArrowheads="1"/>
            </p:cNvSpPr>
            <p:nvPr/>
          </p:nvSpPr>
          <p:spPr bwMode="auto">
            <a:xfrm>
              <a:off x="3048000" y="4006334"/>
              <a:ext cx="184731" cy="369332"/>
            </a:xfrm>
            <a:prstGeom prst="rect">
              <a:avLst/>
            </a:prstGeom>
            <a:solidFill>
              <a:srgbClr val="9999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6" name="Rectangle 8"/>
            <p:cNvSpPr>
              <a:spLocks noChangeArrowheads="1"/>
            </p:cNvSpPr>
            <p:nvPr/>
          </p:nvSpPr>
          <p:spPr bwMode="auto">
            <a:xfrm>
              <a:off x="33528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7" name="Rectangle 9"/>
            <p:cNvSpPr>
              <a:spLocks noChangeArrowheads="1"/>
            </p:cNvSpPr>
            <p:nvPr/>
          </p:nvSpPr>
          <p:spPr bwMode="auto">
            <a:xfrm>
              <a:off x="3657600" y="4006334"/>
              <a:ext cx="184731" cy="369332"/>
            </a:xfrm>
            <a:prstGeom prst="rect">
              <a:avLst/>
            </a:prstGeom>
            <a:solidFill>
              <a:srgbClr val="FF9933"/>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8" name="Rectangle 10"/>
            <p:cNvSpPr>
              <a:spLocks noChangeArrowheads="1"/>
            </p:cNvSpPr>
            <p:nvPr/>
          </p:nvSpPr>
          <p:spPr bwMode="auto">
            <a:xfrm>
              <a:off x="39624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19" name="Rectangle 11"/>
            <p:cNvSpPr>
              <a:spLocks noChangeArrowheads="1"/>
            </p:cNvSpPr>
            <p:nvPr/>
          </p:nvSpPr>
          <p:spPr bwMode="auto">
            <a:xfrm>
              <a:off x="4267200" y="4006334"/>
              <a:ext cx="184731" cy="369332"/>
            </a:xfrm>
            <a:prstGeom prst="rect">
              <a:avLst/>
            </a:prstGeom>
            <a:solidFill>
              <a:srgbClr val="9999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0" name="Rectangle 12"/>
            <p:cNvSpPr>
              <a:spLocks noChangeArrowheads="1"/>
            </p:cNvSpPr>
            <p:nvPr/>
          </p:nvSpPr>
          <p:spPr bwMode="auto">
            <a:xfrm>
              <a:off x="45720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1" name="Rectangle 13"/>
            <p:cNvSpPr>
              <a:spLocks noChangeArrowheads="1"/>
            </p:cNvSpPr>
            <p:nvPr/>
          </p:nvSpPr>
          <p:spPr bwMode="auto">
            <a:xfrm>
              <a:off x="4876800" y="4006334"/>
              <a:ext cx="184731" cy="369332"/>
            </a:xfrm>
            <a:prstGeom prst="rect">
              <a:avLst/>
            </a:prstGeom>
            <a:solidFill>
              <a:srgbClr val="FF9933"/>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2" name="Rectangle 14"/>
            <p:cNvSpPr>
              <a:spLocks noChangeArrowheads="1"/>
            </p:cNvSpPr>
            <p:nvPr/>
          </p:nvSpPr>
          <p:spPr bwMode="auto">
            <a:xfrm>
              <a:off x="5181600" y="4006334"/>
              <a:ext cx="184731" cy="369332"/>
            </a:xfrm>
            <a:prstGeom prst="rect">
              <a:avLst/>
            </a:prstGeom>
            <a:solidFill>
              <a:srgbClr val="9999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3" name="Rectangle 15"/>
            <p:cNvSpPr>
              <a:spLocks noChangeArrowheads="1"/>
            </p:cNvSpPr>
            <p:nvPr/>
          </p:nvSpPr>
          <p:spPr bwMode="auto">
            <a:xfrm>
              <a:off x="54864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4" name="Rectangle 16"/>
            <p:cNvSpPr>
              <a:spLocks noChangeArrowheads="1"/>
            </p:cNvSpPr>
            <p:nvPr/>
          </p:nvSpPr>
          <p:spPr bwMode="auto">
            <a:xfrm>
              <a:off x="5791200" y="4006334"/>
              <a:ext cx="184731" cy="369332"/>
            </a:xfrm>
            <a:prstGeom prst="rect">
              <a:avLst/>
            </a:prstGeom>
            <a:solidFill>
              <a:srgbClr val="FF9933"/>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5" name="Rectangle 17"/>
            <p:cNvSpPr>
              <a:spLocks noChangeArrowheads="1"/>
            </p:cNvSpPr>
            <p:nvPr/>
          </p:nvSpPr>
          <p:spPr bwMode="auto">
            <a:xfrm>
              <a:off x="6096000" y="4006334"/>
              <a:ext cx="184731" cy="369332"/>
            </a:xfrm>
            <a:prstGeom prst="rect">
              <a:avLst/>
            </a:prstGeom>
            <a:solidFill>
              <a:srgbClr val="00FFFF"/>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6" name="Rectangle 18"/>
            <p:cNvSpPr>
              <a:spLocks noChangeArrowheads="1"/>
            </p:cNvSpPr>
            <p:nvPr/>
          </p:nvSpPr>
          <p:spPr bwMode="auto">
            <a:xfrm>
              <a:off x="6400800" y="4006334"/>
              <a:ext cx="184731" cy="369332"/>
            </a:xfrm>
            <a:prstGeom prst="rect">
              <a:avLst/>
            </a:prstGeom>
            <a:solidFill>
              <a:srgbClr val="FF9933"/>
            </a:solidFill>
            <a:ln w="25400">
              <a:solidFill>
                <a:schemeClr val="tx1"/>
              </a:solidFill>
              <a:miter lim="800000"/>
              <a:headEnd/>
              <a:tailEnd/>
            </a:ln>
            <a:effectLst/>
          </p:spPr>
          <p:txBody>
            <a:bodyPr wrap="none" anchor="ctr">
              <a:prstTxWarp prst="textNoShape">
                <a:avLst/>
              </a:prstTxWarp>
              <a:spAutoFit/>
            </a:bodyPr>
            <a:lstStyle/>
            <a:p>
              <a:endParaRPr lang="en-US"/>
            </a:p>
          </p:txBody>
        </p:sp>
        <p:sp>
          <p:nvSpPr>
            <p:cNvPr id="1399827" name="Rectangle 19"/>
            <p:cNvSpPr>
              <a:spLocks noChangeArrowheads="1"/>
            </p:cNvSpPr>
            <p:nvPr/>
          </p:nvSpPr>
          <p:spPr bwMode="auto">
            <a:xfrm>
              <a:off x="6705600" y="4006334"/>
              <a:ext cx="184731" cy="369332"/>
            </a:xfrm>
            <a:prstGeom prst="rect">
              <a:avLst/>
            </a:prstGeom>
            <a:solidFill>
              <a:srgbClr val="FFFF00"/>
            </a:solidFill>
            <a:ln w="25400">
              <a:solidFill>
                <a:schemeClr val="tx1"/>
              </a:solidFill>
              <a:miter lim="800000"/>
              <a:headEnd/>
              <a:tailEnd/>
            </a:ln>
            <a:effectLst/>
          </p:spPr>
          <p:txBody>
            <a:bodyPr wrap="none" anchor="ctr">
              <a:prstTxWarp prst="textNoShape">
                <a:avLst/>
              </a:prstTxWarp>
              <a:spAutoFit/>
            </a:bodyPr>
            <a:lstStyle/>
            <a:p>
              <a:endParaRPr lang="en-US"/>
            </a:p>
          </p:txBody>
        </p:sp>
      </p:grpSp>
    </p:spTree>
    <p:extLst>
      <p:ext uri="{BB962C8B-B14F-4D97-AF65-F5344CB8AC3E}">
        <p14:creationId xmlns:p14="http://schemas.microsoft.com/office/powerpoint/2010/main" val="38086287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8" name="Rectangle 2"/>
          <p:cNvSpPr>
            <a:spLocks noGrp="1" noChangeArrowheads="1"/>
          </p:cNvSpPr>
          <p:nvPr>
            <p:ph type="title"/>
          </p:nvPr>
        </p:nvSpPr>
        <p:spPr/>
        <p:txBody>
          <a:bodyPr/>
          <a:lstStyle/>
          <a:p>
            <a:r>
              <a:rPr lang="en-US" smtClean="0"/>
              <a:t>Denelcor’s HEP</a:t>
            </a:r>
            <a:br>
              <a:rPr lang="en-US" smtClean="0"/>
            </a:br>
            <a:r>
              <a:rPr lang="en-US" smtClean="0"/>
              <a:t>(Burton Smith, 1982)</a:t>
            </a:r>
            <a:endParaRPr lang="en-US" dirty="0"/>
          </a:p>
        </p:txBody>
      </p:sp>
      <p:sp>
        <p:nvSpPr>
          <p:cNvPr id="1401859" name="Rectangle 3"/>
          <p:cNvSpPr>
            <a:spLocks noGrp="1" noChangeArrowheads="1"/>
          </p:cNvSpPr>
          <p:nvPr>
            <p:ph idx="1"/>
          </p:nvPr>
        </p:nvSpPr>
        <p:spPr/>
        <p:txBody>
          <a:bodyPr/>
          <a:lstStyle/>
          <a:p>
            <a:r>
              <a:rPr lang="en-US" altLang="zh-CN" smtClean="0"/>
              <a:t>Heterogeneous Element Processor</a:t>
            </a:r>
          </a:p>
          <a:p>
            <a:r>
              <a:rPr lang="zh-CN" altLang="en-US" smtClean="0"/>
              <a:t>主</a:t>
            </a:r>
            <a:r>
              <a:rPr lang="en-US" altLang="zh-CN" smtClean="0"/>
              <a:t>CPU</a:t>
            </a:r>
            <a:r>
              <a:rPr lang="zh-CN" altLang="en-US" smtClean="0"/>
              <a:t>中采用硬件多线程的第一个商用产品</a:t>
            </a:r>
            <a:endParaRPr lang="en-US" smtClean="0"/>
          </a:p>
          <a:p>
            <a:pPr lvl="1"/>
            <a:r>
              <a:rPr lang="zh-CN" altLang="en-US" smtClean="0"/>
              <a:t>每处理器</a:t>
            </a:r>
            <a:r>
              <a:rPr lang="en-US" smtClean="0"/>
              <a:t>120</a:t>
            </a:r>
            <a:r>
              <a:rPr lang="zh-CN" altLang="en-US" smtClean="0"/>
              <a:t>个线程</a:t>
            </a:r>
            <a:endParaRPr lang="en-US" smtClean="0"/>
          </a:p>
          <a:p>
            <a:pPr lvl="1"/>
            <a:r>
              <a:rPr lang="en-US" smtClean="0"/>
              <a:t>10 MHz</a:t>
            </a:r>
            <a:r>
              <a:rPr lang="zh-CN" altLang="en-US" smtClean="0"/>
              <a:t>时钟频率</a:t>
            </a:r>
            <a:endParaRPr lang="en-US" smtClean="0"/>
          </a:p>
          <a:p>
            <a:pPr lvl="1"/>
            <a:r>
              <a:rPr lang="zh-CN" altLang="en-US" smtClean="0"/>
              <a:t>最多</a:t>
            </a:r>
            <a:r>
              <a:rPr lang="en-US" smtClean="0"/>
              <a:t>8</a:t>
            </a:r>
            <a:r>
              <a:rPr lang="zh-CN" altLang="en-US" smtClean="0"/>
              <a:t>个处理器</a:t>
            </a:r>
            <a:endParaRPr lang="en-US" smtClean="0"/>
          </a:p>
          <a:p>
            <a:pPr lvl="1"/>
            <a:r>
              <a:rPr lang="en-US" smtClean="0"/>
              <a:t>T</a:t>
            </a:r>
            <a:r>
              <a:rPr lang="en-US" altLang="zh-CN" smtClean="0"/>
              <a:t>ERA </a:t>
            </a:r>
            <a:r>
              <a:rPr lang="en-US" smtClean="0"/>
              <a:t>MTA</a:t>
            </a:r>
            <a:r>
              <a:rPr lang="zh-CN" altLang="en-US" smtClean="0"/>
              <a:t>的前身</a:t>
            </a:r>
            <a:endParaRPr lang="en-US" altLang="zh-CN" smtClean="0"/>
          </a:p>
          <a:p>
            <a:pPr lvl="2"/>
            <a:r>
              <a:rPr lang="en-US" smtClean="0"/>
              <a:t>Multithreaded</a:t>
            </a:r>
            <a:br>
              <a:rPr lang="en-US" smtClean="0"/>
            </a:br>
            <a:r>
              <a:rPr lang="en-US" smtClean="0"/>
              <a:t>Architecture</a:t>
            </a:r>
            <a:endParaRPr lang="en-US" dirty="0"/>
          </a:p>
        </p:txBody>
      </p:sp>
      <p:pic>
        <p:nvPicPr>
          <p:cNvPr id="1401860" name="Picture 4" descr="hep2"/>
          <p:cNvPicPr>
            <a:picLocks noChangeAspect="1" noChangeArrowheads="1"/>
          </p:cNvPicPr>
          <p:nvPr/>
        </p:nvPicPr>
        <p:blipFill>
          <a:blip r:embed="rId3"/>
          <a:srcRect/>
          <a:stretch>
            <a:fillRect/>
          </a:stretch>
        </p:blipFill>
        <p:spPr bwMode="auto">
          <a:xfrm>
            <a:off x="5735960" y="3212976"/>
            <a:ext cx="4648200" cy="3098800"/>
          </a:xfrm>
          <a:prstGeom prst="rect">
            <a:avLst/>
          </a:prstGeom>
          <a:noFill/>
          <a:ln w="28575">
            <a:solidFill>
              <a:schemeClr val="tx1"/>
            </a:solidFill>
            <a:miter lim="800000"/>
            <a:headEnd/>
            <a:tailEnd/>
          </a:ln>
        </p:spPr>
      </p:pic>
    </p:spTree>
    <p:extLst>
      <p:ext uri="{BB962C8B-B14F-4D97-AF65-F5344CB8AC3E}">
        <p14:creationId xmlns:p14="http://schemas.microsoft.com/office/powerpoint/2010/main" val="16222080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HEP</a:t>
            </a:r>
            <a:r>
              <a:rPr lang="zh-CN" altLang="en-US" dirty="0" smtClean="0"/>
              <a:t>方案</a:t>
            </a:r>
            <a:endParaRPr lang="zh-CN" altLang="en-US" dirty="0"/>
          </a:p>
        </p:txBody>
      </p:sp>
      <p:sp>
        <p:nvSpPr>
          <p:cNvPr id="3" name="内容占位符 2"/>
          <p:cNvSpPr>
            <a:spLocks noGrp="1"/>
          </p:cNvSpPr>
          <p:nvPr>
            <p:ph idx="1"/>
          </p:nvPr>
        </p:nvSpPr>
        <p:spPr/>
        <p:txBody>
          <a:bodyPr/>
          <a:lstStyle/>
          <a:p>
            <a:r>
              <a:rPr lang="en-US" altLang="zh-CN" dirty="0" smtClean="0"/>
              <a:t>HEP</a:t>
            </a:r>
            <a:r>
              <a:rPr lang="zh-CN" altLang="en-US" dirty="0" smtClean="0"/>
              <a:t>的处理器结构</a:t>
            </a:r>
            <a:endParaRPr lang="en-US" altLang="zh-CN" dirty="0" smtClean="0"/>
          </a:p>
          <a:p>
            <a:pPr lvl="1"/>
            <a:r>
              <a:rPr lang="zh-CN" altLang="en-US" dirty="0" smtClean="0"/>
              <a:t>无互锁的指令流水线，没有</a:t>
            </a:r>
            <a:r>
              <a:rPr lang="en-US" altLang="zh-CN" dirty="0" smtClean="0"/>
              <a:t>cache</a:t>
            </a:r>
          </a:p>
          <a:p>
            <a:pPr lvl="1"/>
            <a:r>
              <a:rPr lang="zh-CN" altLang="en-US" dirty="0" smtClean="0"/>
              <a:t>大量寄存器、低成本线程创建</a:t>
            </a:r>
            <a:endParaRPr lang="en-US" altLang="zh-CN" dirty="0" smtClean="0"/>
          </a:p>
          <a:p>
            <a:pPr lvl="1"/>
            <a:r>
              <a:rPr lang="zh-CN" altLang="en-US" dirty="0" smtClean="0"/>
              <a:t>支持线程间事件同步</a:t>
            </a:r>
            <a:r>
              <a:rPr lang="zh-CN" altLang="en-US" dirty="0" smtClean="0"/>
              <a:t>的</a:t>
            </a:r>
            <a:r>
              <a:rPr lang="en-US" altLang="zh-CN" dirty="0" smtClean="0"/>
              <a:t>Full/Empty</a:t>
            </a:r>
            <a:r>
              <a:rPr lang="zh-CN" altLang="en-US" dirty="0" smtClean="0"/>
              <a:t>位</a:t>
            </a:r>
            <a:endParaRPr lang="en-US" altLang="zh-CN" dirty="0" smtClean="0"/>
          </a:p>
          <a:p>
            <a:r>
              <a:rPr lang="zh-CN" altLang="en-US" dirty="0" smtClean="0"/>
              <a:t>每周期的线程切换</a:t>
            </a:r>
            <a:endParaRPr lang="zh-CN" altLang="en-US" dirty="0"/>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7" y="3789040"/>
            <a:ext cx="6266649" cy="25222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583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HEP</a:t>
            </a:r>
            <a:r>
              <a:rPr lang="zh-CN" altLang="en-US" dirty="0" smtClean="0"/>
              <a:t>方案（续）</a:t>
            </a:r>
            <a:endParaRPr lang="zh-CN" altLang="en-US" dirty="0"/>
          </a:p>
        </p:txBody>
      </p:sp>
      <p:sp>
        <p:nvSpPr>
          <p:cNvPr id="3" name="内容占位符 2"/>
          <p:cNvSpPr>
            <a:spLocks noGrp="1"/>
          </p:cNvSpPr>
          <p:nvPr>
            <p:ph idx="1"/>
          </p:nvPr>
        </p:nvSpPr>
        <p:spPr/>
        <p:txBody>
          <a:bodyPr/>
          <a:lstStyle/>
          <a:p>
            <a:r>
              <a:rPr lang="zh-CN" altLang="en-US" dirty="0" smtClean="0"/>
              <a:t>用多线程来隐藏两类延迟</a:t>
            </a:r>
            <a:endParaRPr lang="en-US" altLang="zh-CN" dirty="0" smtClean="0"/>
          </a:p>
          <a:p>
            <a:pPr lvl="1"/>
            <a:r>
              <a:rPr lang="zh-CN" altLang="en-US" dirty="0" smtClean="0"/>
              <a:t>流水线延迟（</a:t>
            </a:r>
            <a:r>
              <a:rPr lang="en-US" altLang="zh-CN" dirty="0" smtClean="0"/>
              <a:t>8</a:t>
            </a:r>
            <a:r>
              <a:rPr lang="zh-CN" altLang="en-US" dirty="0" smtClean="0"/>
              <a:t>周期）和存储器延迟</a:t>
            </a:r>
            <a:endParaRPr lang="en-US" altLang="zh-CN" dirty="0" smtClean="0"/>
          </a:p>
          <a:p>
            <a:pPr lvl="1"/>
            <a:r>
              <a:rPr lang="zh-CN" altLang="en-US" dirty="0" smtClean="0"/>
              <a:t>每处理器</a:t>
            </a:r>
            <a:r>
              <a:rPr lang="en-US" altLang="zh-CN" dirty="0" smtClean="0"/>
              <a:t>128</a:t>
            </a:r>
            <a:r>
              <a:rPr lang="zh-CN" altLang="en-US" dirty="0" smtClean="0"/>
              <a:t>线程，用于容忍延迟</a:t>
            </a:r>
            <a:endParaRPr lang="en-US" altLang="zh-CN" dirty="0" smtClean="0"/>
          </a:p>
          <a:p>
            <a:r>
              <a:rPr lang="en-US" altLang="zh-CN" dirty="0" smtClean="0"/>
              <a:t>HEP</a:t>
            </a:r>
            <a:r>
              <a:rPr lang="zh-CN" altLang="en-US" dirty="0" smtClean="0"/>
              <a:t>方案的不足</a:t>
            </a:r>
            <a:endParaRPr lang="en-US" altLang="zh-CN" dirty="0" smtClean="0"/>
          </a:p>
          <a:p>
            <a:pPr lvl="1"/>
            <a:r>
              <a:rPr lang="zh-CN" altLang="en-US" dirty="0" smtClean="0"/>
              <a:t>单线程性能较低（不适用并行性不足的应用）</a:t>
            </a:r>
            <a:endParaRPr lang="en-US" altLang="zh-CN" dirty="0" smtClean="0"/>
          </a:p>
          <a:p>
            <a:pPr lvl="1"/>
            <a:r>
              <a:rPr lang="zh-CN" altLang="en-US" dirty="0" smtClean="0"/>
              <a:t>大量线程意味着大量硬件资源和高成本</a:t>
            </a:r>
            <a:endParaRPr lang="en-US" altLang="zh-CN" dirty="0" smtClean="0"/>
          </a:p>
          <a:p>
            <a:pPr lvl="1"/>
            <a:r>
              <a:rPr lang="zh-CN" altLang="en-US" dirty="0" smtClean="0"/>
              <a:t>无</a:t>
            </a:r>
            <a:r>
              <a:rPr lang="en-US" altLang="zh-CN" dirty="0" smtClean="0"/>
              <a:t>cache</a:t>
            </a:r>
            <a:r>
              <a:rPr lang="zh-CN" altLang="en-US" dirty="0" smtClean="0"/>
              <a:t>意味着对存储器带宽有很高的要求，也导致较高的成本</a:t>
            </a:r>
            <a:endParaRPr lang="zh-CN" altLang="en-US" dirty="0"/>
          </a:p>
        </p:txBody>
      </p:sp>
    </p:spTree>
    <p:extLst>
      <p:ext uri="{BB962C8B-B14F-4D97-AF65-F5344CB8AC3E}">
        <p14:creationId xmlns:p14="http://schemas.microsoft.com/office/powerpoint/2010/main" val="1125893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3907" name="Picture 3" descr="mta-150x129"/>
          <p:cNvPicPr>
            <a:picLocks noChangeAspect="1" noChangeArrowheads="1"/>
          </p:cNvPicPr>
          <p:nvPr/>
        </p:nvPicPr>
        <p:blipFill>
          <a:blip r:embed="rId3"/>
          <a:srcRect/>
          <a:stretch>
            <a:fillRect/>
          </a:stretch>
        </p:blipFill>
        <p:spPr bwMode="auto">
          <a:xfrm>
            <a:off x="8472264" y="2420888"/>
            <a:ext cx="3117850" cy="2600325"/>
          </a:xfrm>
          <a:prstGeom prst="rect">
            <a:avLst/>
          </a:prstGeom>
          <a:noFill/>
        </p:spPr>
      </p:pic>
      <p:sp>
        <p:nvSpPr>
          <p:cNvPr id="1403906" name="Rectangle 2"/>
          <p:cNvSpPr>
            <a:spLocks noGrp="1" noChangeArrowheads="1"/>
          </p:cNvSpPr>
          <p:nvPr>
            <p:ph type="title"/>
          </p:nvPr>
        </p:nvSpPr>
        <p:spPr/>
        <p:txBody>
          <a:bodyPr/>
          <a:lstStyle/>
          <a:p>
            <a:r>
              <a:rPr lang="en-US" smtClean="0"/>
              <a:t>Tera MTA (1990-)</a:t>
            </a:r>
            <a:endParaRPr lang="en-US" dirty="0"/>
          </a:p>
        </p:txBody>
      </p:sp>
      <p:sp>
        <p:nvSpPr>
          <p:cNvPr id="1403908" name="Rectangle 4"/>
          <p:cNvSpPr>
            <a:spLocks noGrp="1" noChangeArrowheads="1"/>
          </p:cNvSpPr>
          <p:nvPr>
            <p:ph idx="1"/>
          </p:nvPr>
        </p:nvSpPr>
        <p:spPr/>
        <p:txBody>
          <a:bodyPr/>
          <a:lstStyle/>
          <a:p>
            <a:r>
              <a:rPr lang="zh-CN" altLang="en-US" smtClean="0"/>
              <a:t>最多</a:t>
            </a:r>
            <a:r>
              <a:rPr lang="en-US" smtClean="0"/>
              <a:t>256</a:t>
            </a:r>
            <a:r>
              <a:rPr lang="zh-CN" altLang="en-US" smtClean="0"/>
              <a:t>个处理器，每个</a:t>
            </a:r>
            <a:r>
              <a:rPr lang="en-US" altLang="zh-CN" smtClean="0"/>
              <a:t>128</a:t>
            </a:r>
            <a:r>
              <a:rPr lang="zh-CN" altLang="en-US" smtClean="0"/>
              <a:t>线程</a:t>
            </a:r>
            <a:endParaRPr lang="en-US" smtClean="0"/>
          </a:p>
          <a:p>
            <a:r>
              <a:rPr lang="zh-CN" altLang="en-US" smtClean="0"/>
              <a:t>处理器和存储器模块分布在</a:t>
            </a:r>
            <a:r>
              <a:rPr lang="en-US" altLang="zh-CN" smtClean="0"/>
              <a:t/>
            </a:r>
            <a:br>
              <a:rPr lang="en-US" altLang="zh-CN" smtClean="0"/>
            </a:br>
            <a:r>
              <a:rPr lang="zh-CN" altLang="en-US" smtClean="0"/>
              <a:t>一个稀疏的</a:t>
            </a:r>
            <a:r>
              <a:rPr lang="en-US" altLang="zh-CN" smtClean="0"/>
              <a:t>3D-torus</a:t>
            </a:r>
            <a:r>
              <a:rPr lang="zh-CN" altLang="en-US" smtClean="0"/>
              <a:t>互连网络中</a:t>
            </a:r>
            <a:endParaRPr lang="en-US" smtClean="0"/>
          </a:p>
          <a:p>
            <a:r>
              <a:rPr lang="zh-CN" altLang="en-US" smtClean="0"/>
              <a:t>平坦的共享式主存储器</a:t>
            </a:r>
            <a:endParaRPr lang="en-US" smtClean="0"/>
          </a:p>
          <a:p>
            <a:pPr lvl="1"/>
            <a:r>
              <a:rPr lang="zh-CN" altLang="en-US" smtClean="0"/>
              <a:t>无数据</a:t>
            </a:r>
            <a:r>
              <a:rPr lang="en-US" smtClean="0"/>
              <a:t>cache</a:t>
            </a:r>
          </a:p>
          <a:p>
            <a:pPr lvl="1"/>
            <a:r>
              <a:rPr lang="zh-CN" altLang="en-US" smtClean="0"/>
              <a:t>可支持每处理器、每周期一次主存储器访问</a:t>
            </a:r>
            <a:endParaRPr lang="en-US" smtClean="0"/>
          </a:p>
          <a:p>
            <a:r>
              <a:rPr lang="zh-CN" altLang="en-US" smtClean="0"/>
              <a:t>原型系统采用砷化镓</a:t>
            </a:r>
            <a:r>
              <a:rPr lang="en-US" altLang="zh-CN" smtClean="0"/>
              <a:t>(</a:t>
            </a:r>
            <a:r>
              <a:rPr lang="en-US" smtClean="0"/>
              <a:t>GaAs)</a:t>
            </a:r>
            <a:r>
              <a:rPr lang="zh-CN" altLang="en-US" smtClean="0"/>
              <a:t>逻辑电路</a:t>
            </a:r>
            <a:endParaRPr lang="en-US" altLang="zh-CN" smtClean="0"/>
          </a:p>
          <a:p>
            <a:pPr lvl="1"/>
            <a:r>
              <a:rPr lang="en-US" smtClean="0"/>
              <a:t>1KW/processor@260MHz</a:t>
            </a:r>
          </a:p>
          <a:p>
            <a:r>
              <a:rPr lang="zh-CN" altLang="en-US" smtClean="0"/>
              <a:t>第二代</a:t>
            </a:r>
            <a:r>
              <a:rPr lang="en-US" altLang="zh-CN" smtClean="0"/>
              <a:t>MTA-2</a:t>
            </a:r>
            <a:r>
              <a:rPr lang="zh-CN" altLang="en-US" smtClean="0"/>
              <a:t>采用</a:t>
            </a:r>
            <a:r>
              <a:rPr lang="en-US" smtClean="0"/>
              <a:t>CMOS</a:t>
            </a:r>
            <a:r>
              <a:rPr lang="zh-CN" altLang="en-US" smtClean="0"/>
              <a:t>技术</a:t>
            </a:r>
            <a:r>
              <a:rPr lang="en-US" smtClean="0"/>
              <a:t>,  50W/</a:t>
            </a:r>
            <a:r>
              <a:rPr lang="zh-CN" altLang="en-US" smtClean="0"/>
              <a:t>处理器</a:t>
            </a:r>
            <a:endParaRPr lang="en-US" smtClean="0"/>
          </a:p>
          <a:p>
            <a:r>
              <a:rPr lang="zh-CN" altLang="en-US" smtClean="0"/>
              <a:t>更新的版本</a:t>
            </a:r>
            <a:r>
              <a:rPr lang="en-US" altLang="zh-CN" smtClean="0"/>
              <a:t>Cray </a:t>
            </a:r>
            <a:r>
              <a:rPr lang="en-US" smtClean="0"/>
              <a:t>XMT</a:t>
            </a:r>
            <a:r>
              <a:rPr lang="zh-CN" altLang="en-US" smtClean="0"/>
              <a:t>刀片中的</a:t>
            </a:r>
            <a:r>
              <a:rPr lang="en-US" altLang="zh-CN" smtClean="0"/>
              <a:t>TreadStorm</a:t>
            </a:r>
            <a:r>
              <a:rPr lang="zh-CN" altLang="en-US" smtClean="0"/>
              <a:t>处理器</a:t>
            </a:r>
            <a:endParaRPr lang="en-US" altLang="zh-CN" smtClean="0"/>
          </a:p>
          <a:p>
            <a:pPr lvl="1"/>
            <a:r>
              <a:rPr lang="zh-CN" altLang="en-US" smtClean="0"/>
              <a:t>可运行到</a:t>
            </a:r>
            <a:r>
              <a:rPr lang="en-US" smtClean="0"/>
              <a:t>500MHz</a:t>
            </a:r>
            <a:r>
              <a:rPr lang="zh-CN" altLang="en-US" smtClean="0"/>
              <a:t>，用于加速图</a:t>
            </a:r>
            <a:r>
              <a:rPr lang="en-US" altLang="zh-CN" smtClean="0"/>
              <a:t>(graph)</a:t>
            </a:r>
            <a:r>
              <a:rPr lang="zh-CN" altLang="en-US" smtClean="0"/>
              <a:t>算法</a:t>
            </a:r>
            <a:endParaRPr lang="en-US" smtClean="0"/>
          </a:p>
          <a:p>
            <a:pPr lvl="1"/>
            <a:r>
              <a:rPr lang="zh-CN" altLang="en-US" smtClean="0"/>
              <a:t>可放入</a:t>
            </a:r>
            <a:r>
              <a:rPr lang="en-US" altLang="zh-CN" smtClean="0"/>
              <a:t>AMD Opteron (1207-pin Socket F)</a:t>
            </a:r>
            <a:r>
              <a:rPr lang="zh-CN" altLang="en-US" smtClean="0"/>
              <a:t>插座中</a:t>
            </a:r>
            <a:endParaRPr lang="en-US" dirty="0"/>
          </a:p>
        </p:txBody>
      </p:sp>
    </p:spTree>
    <p:extLst>
      <p:ext uri="{BB962C8B-B14F-4D97-AF65-F5344CB8AC3E}">
        <p14:creationId xmlns:p14="http://schemas.microsoft.com/office/powerpoint/2010/main" val="5672215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2" name="Rectangle 2"/>
          <p:cNvSpPr>
            <a:spLocks noGrp="1" noChangeArrowheads="1"/>
          </p:cNvSpPr>
          <p:nvPr>
            <p:ph type="title"/>
          </p:nvPr>
        </p:nvSpPr>
        <p:spPr>
          <a:xfrm>
            <a:off x="2514600" y="0"/>
            <a:ext cx="7162800" cy="1143000"/>
          </a:xfrm>
        </p:spPr>
        <p:txBody>
          <a:bodyPr/>
          <a:lstStyle/>
          <a:p>
            <a:r>
              <a:rPr lang="en-US" dirty="0" smtClean="0"/>
              <a:t>MTA</a:t>
            </a:r>
            <a:r>
              <a:rPr lang="zh-CN" altLang="en-US" dirty="0" smtClean="0"/>
              <a:t>流水线</a:t>
            </a:r>
            <a:endParaRPr lang="en-US" dirty="0"/>
          </a:p>
        </p:txBody>
      </p:sp>
      <p:sp>
        <p:nvSpPr>
          <p:cNvPr id="1408003" name="Rectangle 3"/>
          <p:cNvSpPr>
            <a:spLocks noChangeArrowheads="1"/>
          </p:cNvSpPr>
          <p:nvPr/>
        </p:nvSpPr>
        <p:spPr bwMode="auto">
          <a:xfrm>
            <a:off x="5169596" y="2389013"/>
            <a:ext cx="346075" cy="322262"/>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A</a:t>
            </a:r>
          </a:p>
        </p:txBody>
      </p:sp>
      <p:sp>
        <p:nvSpPr>
          <p:cNvPr id="1408004" name="Rectangle 4"/>
          <p:cNvSpPr>
            <a:spLocks noChangeArrowheads="1"/>
          </p:cNvSpPr>
          <p:nvPr/>
        </p:nvSpPr>
        <p:spPr bwMode="auto">
          <a:xfrm>
            <a:off x="5169596" y="271127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05" name="Rectangle 5"/>
          <p:cNvSpPr>
            <a:spLocks noChangeArrowheads="1"/>
          </p:cNvSpPr>
          <p:nvPr/>
        </p:nvSpPr>
        <p:spPr bwMode="auto">
          <a:xfrm>
            <a:off x="5169596" y="3047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06" name="Rectangle 6"/>
          <p:cNvSpPr>
            <a:spLocks noChangeArrowheads="1"/>
          </p:cNvSpPr>
          <p:nvPr/>
        </p:nvSpPr>
        <p:spPr bwMode="auto">
          <a:xfrm>
            <a:off x="5169596" y="338437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07" name="Rectangle 7"/>
          <p:cNvSpPr>
            <a:spLocks noChangeArrowheads="1"/>
          </p:cNvSpPr>
          <p:nvPr/>
        </p:nvSpPr>
        <p:spPr bwMode="auto">
          <a:xfrm>
            <a:off x="5169596" y="3720926"/>
            <a:ext cx="346075" cy="334963"/>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08" name="Rectangle 8"/>
          <p:cNvSpPr>
            <a:spLocks noChangeArrowheads="1"/>
          </p:cNvSpPr>
          <p:nvPr/>
        </p:nvSpPr>
        <p:spPr bwMode="auto">
          <a:xfrm>
            <a:off x="5169596" y="4055888"/>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W</a:t>
            </a:r>
          </a:p>
        </p:txBody>
      </p:sp>
      <p:sp>
        <p:nvSpPr>
          <p:cNvPr id="1408009" name="Rectangle 9"/>
          <p:cNvSpPr>
            <a:spLocks noChangeArrowheads="1"/>
          </p:cNvSpPr>
          <p:nvPr/>
        </p:nvSpPr>
        <p:spPr bwMode="auto">
          <a:xfrm>
            <a:off x="5861746" y="2389013"/>
            <a:ext cx="346075" cy="322262"/>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C</a:t>
            </a:r>
          </a:p>
        </p:txBody>
      </p:sp>
      <p:sp>
        <p:nvSpPr>
          <p:cNvPr id="1408010" name="Rectangle 10"/>
          <p:cNvSpPr>
            <a:spLocks noChangeArrowheads="1"/>
          </p:cNvSpPr>
          <p:nvPr/>
        </p:nvSpPr>
        <p:spPr bwMode="auto">
          <a:xfrm>
            <a:off x="5861746" y="271127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11" name="Rectangle 11"/>
          <p:cNvSpPr>
            <a:spLocks noChangeArrowheads="1"/>
          </p:cNvSpPr>
          <p:nvPr/>
        </p:nvSpPr>
        <p:spPr bwMode="auto">
          <a:xfrm>
            <a:off x="5861746" y="3047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12" name="Rectangle 12"/>
          <p:cNvSpPr>
            <a:spLocks noChangeArrowheads="1"/>
          </p:cNvSpPr>
          <p:nvPr/>
        </p:nvSpPr>
        <p:spPr bwMode="auto">
          <a:xfrm>
            <a:off x="5861746" y="338437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W</a:t>
            </a:r>
          </a:p>
        </p:txBody>
      </p:sp>
      <p:sp>
        <p:nvSpPr>
          <p:cNvPr id="1408013" name="Rectangle 13"/>
          <p:cNvSpPr>
            <a:spLocks noChangeArrowheads="1"/>
          </p:cNvSpPr>
          <p:nvPr/>
        </p:nvSpPr>
        <p:spPr bwMode="auto">
          <a:xfrm>
            <a:off x="4477446" y="2389013"/>
            <a:ext cx="346075" cy="322262"/>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M</a:t>
            </a:r>
          </a:p>
        </p:txBody>
      </p:sp>
      <p:sp>
        <p:nvSpPr>
          <p:cNvPr id="1408014" name="Rectangle 14"/>
          <p:cNvSpPr>
            <a:spLocks noChangeArrowheads="1"/>
          </p:cNvSpPr>
          <p:nvPr/>
        </p:nvSpPr>
        <p:spPr bwMode="auto">
          <a:xfrm>
            <a:off x="4477446" y="271127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15" name="Rectangle 15"/>
          <p:cNvSpPr>
            <a:spLocks noChangeArrowheads="1"/>
          </p:cNvSpPr>
          <p:nvPr/>
        </p:nvSpPr>
        <p:spPr bwMode="auto">
          <a:xfrm>
            <a:off x="4337746" y="1568275"/>
            <a:ext cx="1247775" cy="336550"/>
          </a:xfrm>
          <a:prstGeom prst="rect">
            <a:avLst/>
          </a:prstGeom>
          <a:noFill/>
          <a:ln w="12700">
            <a:solidFill>
              <a:schemeClr val="tx1"/>
            </a:solidFill>
            <a:miter lim="800000"/>
            <a:headEnd/>
            <a:tailEnd/>
          </a:ln>
          <a:effectLst/>
        </p:spPr>
        <p:txBody>
          <a:bodyPr wrap="none" lIns="82058" tIns="41029" rIns="82058" bIns="41029" anchor="ctr">
            <a:prstTxWarp prst="textNoShape">
              <a:avLst/>
            </a:prstTxWarp>
          </a:bodyPr>
          <a:lstStyle/>
          <a:p>
            <a:pPr defTabSz="820738"/>
            <a:r>
              <a:rPr lang="en-US" sz="1400" b="1"/>
              <a:t>Inst Fetch</a:t>
            </a:r>
          </a:p>
        </p:txBody>
      </p:sp>
      <p:sp>
        <p:nvSpPr>
          <p:cNvPr id="1408016" name="Line 16"/>
          <p:cNvSpPr>
            <a:spLocks noChangeShapeType="1"/>
          </p:cNvSpPr>
          <p:nvPr/>
        </p:nvSpPr>
        <p:spPr bwMode="auto">
          <a:xfrm>
            <a:off x="5515671" y="1971501"/>
            <a:ext cx="485775" cy="404813"/>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17" name="Line 17"/>
          <p:cNvSpPr>
            <a:spLocks noChangeShapeType="1"/>
          </p:cNvSpPr>
          <p:nvPr/>
        </p:nvSpPr>
        <p:spPr bwMode="auto">
          <a:xfrm>
            <a:off x="5307708" y="1971501"/>
            <a:ext cx="0" cy="404813"/>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18" name="Line 18"/>
          <p:cNvSpPr>
            <a:spLocks noChangeShapeType="1"/>
          </p:cNvSpPr>
          <p:nvPr/>
        </p:nvSpPr>
        <p:spPr bwMode="auto">
          <a:xfrm flipH="1">
            <a:off x="4683821" y="1971501"/>
            <a:ext cx="415925" cy="404813"/>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19" name="AutoShape 19"/>
          <p:cNvSpPr>
            <a:spLocks noChangeArrowheads="1"/>
          </p:cNvSpPr>
          <p:nvPr/>
        </p:nvSpPr>
        <p:spPr bwMode="auto">
          <a:xfrm rot="16200000">
            <a:off x="3977383" y="3614563"/>
            <a:ext cx="1346200" cy="346075"/>
          </a:xfrm>
          <a:prstGeom prst="roundRect">
            <a:avLst>
              <a:gd name="adj" fmla="val 16667"/>
            </a:avLst>
          </a:prstGeom>
          <a:solidFill>
            <a:srgbClr val="93F5FD"/>
          </a:solidFill>
          <a:ln w="12700">
            <a:solidFill>
              <a:schemeClr val="tx1"/>
            </a:solidFill>
            <a:round/>
            <a:headEnd/>
            <a:tailEnd/>
          </a:ln>
          <a:effectLst/>
        </p:spPr>
        <p:txBody>
          <a:bodyPr wrap="none" lIns="82058" tIns="41029" rIns="82058" bIns="41029" anchor="ctr">
            <a:prstTxWarp prst="textNoShape">
              <a:avLst/>
            </a:prstTxWarp>
          </a:bodyPr>
          <a:lstStyle/>
          <a:p>
            <a:pPr defTabSz="820738"/>
            <a:r>
              <a:rPr lang="en-US" sz="1400" b="1"/>
              <a:t>Memory Pool</a:t>
            </a:r>
          </a:p>
        </p:txBody>
      </p:sp>
      <p:sp>
        <p:nvSpPr>
          <p:cNvPr id="1408020" name="AutoShape 20"/>
          <p:cNvSpPr>
            <a:spLocks noChangeArrowheads="1"/>
          </p:cNvSpPr>
          <p:nvPr/>
        </p:nvSpPr>
        <p:spPr bwMode="auto">
          <a:xfrm>
            <a:off x="2675634" y="4662313"/>
            <a:ext cx="1385887" cy="334962"/>
          </a:xfrm>
          <a:prstGeom prst="roundRect">
            <a:avLst>
              <a:gd name="adj" fmla="val 16667"/>
            </a:avLst>
          </a:prstGeom>
          <a:solidFill>
            <a:srgbClr val="93F5FD"/>
          </a:solidFill>
          <a:ln w="12700">
            <a:solidFill>
              <a:schemeClr val="tx1"/>
            </a:solidFill>
            <a:round/>
            <a:headEnd/>
            <a:tailEnd/>
          </a:ln>
          <a:effectLst/>
        </p:spPr>
        <p:txBody>
          <a:bodyPr wrap="none" lIns="82058" tIns="41029" rIns="82058" bIns="41029" anchor="ctr">
            <a:prstTxWarp prst="textNoShape">
              <a:avLst/>
            </a:prstTxWarp>
          </a:bodyPr>
          <a:lstStyle/>
          <a:p>
            <a:pPr defTabSz="820738"/>
            <a:r>
              <a:rPr lang="en-US" sz="1400" b="1"/>
              <a:t>Retry Pool</a:t>
            </a:r>
          </a:p>
        </p:txBody>
      </p:sp>
      <p:sp>
        <p:nvSpPr>
          <p:cNvPr id="1408021" name="Rectangle 21"/>
          <p:cNvSpPr>
            <a:spLocks noChangeArrowheads="1"/>
          </p:cNvSpPr>
          <p:nvPr/>
        </p:nvSpPr>
        <p:spPr bwMode="auto">
          <a:xfrm>
            <a:off x="4477446" y="459405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2" name="Rectangle 22"/>
          <p:cNvSpPr>
            <a:spLocks noChangeArrowheads="1"/>
          </p:cNvSpPr>
          <p:nvPr/>
        </p:nvSpPr>
        <p:spPr bwMode="auto">
          <a:xfrm>
            <a:off x="4477446" y="493060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3" name="Rectangle 23"/>
          <p:cNvSpPr>
            <a:spLocks noChangeArrowheads="1"/>
          </p:cNvSpPr>
          <p:nvPr/>
        </p:nvSpPr>
        <p:spPr bwMode="auto">
          <a:xfrm>
            <a:off x="4477446" y="526715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4" name="Freeform 24"/>
          <p:cNvSpPr>
            <a:spLocks/>
          </p:cNvSpPr>
          <p:nvPr/>
        </p:nvSpPr>
        <p:spPr bwMode="auto">
          <a:xfrm>
            <a:off x="4199633" y="4728988"/>
            <a:ext cx="277812" cy="538162"/>
          </a:xfrm>
          <a:custGeom>
            <a:avLst/>
            <a:gdLst/>
            <a:ahLst/>
            <a:cxnLst>
              <a:cxn ang="0">
                <a:pos x="192" y="384"/>
              </a:cxn>
              <a:cxn ang="0">
                <a:pos x="192" y="144"/>
              </a:cxn>
              <a:cxn ang="0">
                <a:pos x="0" y="0"/>
              </a:cxn>
              <a:cxn ang="0">
                <a:pos x="0" y="192"/>
              </a:cxn>
              <a:cxn ang="0">
                <a:pos x="192" y="384"/>
              </a:cxn>
            </a:cxnLst>
            <a:rect l="0" t="0" r="r" b="b"/>
            <a:pathLst>
              <a:path w="192" h="384">
                <a:moveTo>
                  <a:pt x="192" y="384"/>
                </a:moveTo>
                <a:lnTo>
                  <a:pt x="192" y="144"/>
                </a:lnTo>
                <a:lnTo>
                  <a:pt x="0" y="0"/>
                </a:lnTo>
                <a:lnTo>
                  <a:pt x="0" y="192"/>
                </a:lnTo>
                <a:lnTo>
                  <a:pt x="192" y="38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grpSp>
        <p:nvGrpSpPr>
          <p:cNvPr id="2" name="Group 25"/>
          <p:cNvGrpSpPr>
            <a:grpSpLocks/>
          </p:cNvGrpSpPr>
          <p:nvPr/>
        </p:nvGrpSpPr>
        <p:grpSpPr bwMode="auto">
          <a:xfrm flipH="1">
            <a:off x="1913634" y="4527376"/>
            <a:ext cx="623887" cy="1008063"/>
            <a:chOff x="1344" y="3072"/>
            <a:chExt cx="432" cy="720"/>
          </a:xfrm>
        </p:grpSpPr>
        <p:sp>
          <p:nvSpPr>
            <p:cNvPr id="1408026" name="Rectangle 26"/>
            <p:cNvSpPr>
              <a:spLocks noChangeArrowheads="1"/>
            </p:cNvSpPr>
            <p:nvPr/>
          </p:nvSpPr>
          <p:spPr bwMode="auto">
            <a:xfrm>
              <a:off x="1536" y="3072"/>
              <a:ext cx="240" cy="24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7" name="Rectangle 27"/>
            <p:cNvSpPr>
              <a:spLocks noChangeArrowheads="1"/>
            </p:cNvSpPr>
            <p:nvPr/>
          </p:nvSpPr>
          <p:spPr bwMode="auto">
            <a:xfrm>
              <a:off x="1536" y="3312"/>
              <a:ext cx="240" cy="24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8" name="Rectangle 28"/>
            <p:cNvSpPr>
              <a:spLocks noChangeArrowheads="1"/>
            </p:cNvSpPr>
            <p:nvPr/>
          </p:nvSpPr>
          <p:spPr bwMode="auto">
            <a:xfrm>
              <a:off x="1536" y="3552"/>
              <a:ext cx="240" cy="24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29" name="Freeform 29"/>
            <p:cNvSpPr>
              <a:spLocks/>
            </p:cNvSpPr>
            <p:nvPr/>
          </p:nvSpPr>
          <p:spPr bwMode="auto">
            <a:xfrm>
              <a:off x="1344" y="3168"/>
              <a:ext cx="192" cy="384"/>
            </a:xfrm>
            <a:custGeom>
              <a:avLst/>
              <a:gdLst/>
              <a:ahLst/>
              <a:cxnLst>
                <a:cxn ang="0">
                  <a:pos x="192" y="384"/>
                </a:cxn>
                <a:cxn ang="0">
                  <a:pos x="192" y="144"/>
                </a:cxn>
                <a:cxn ang="0">
                  <a:pos x="0" y="0"/>
                </a:cxn>
                <a:cxn ang="0">
                  <a:pos x="0" y="192"/>
                </a:cxn>
                <a:cxn ang="0">
                  <a:pos x="192" y="384"/>
                </a:cxn>
              </a:cxnLst>
              <a:rect l="0" t="0" r="r" b="b"/>
              <a:pathLst>
                <a:path w="192" h="384">
                  <a:moveTo>
                    <a:pt x="192" y="384"/>
                  </a:moveTo>
                  <a:lnTo>
                    <a:pt x="192" y="144"/>
                  </a:lnTo>
                  <a:lnTo>
                    <a:pt x="0" y="0"/>
                  </a:lnTo>
                  <a:lnTo>
                    <a:pt x="0" y="192"/>
                  </a:lnTo>
                  <a:lnTo>
                    <a:pt x="192" y="38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grpSp>
      <p:sp>
        <p:nvSpPr>
          <p:cNvPr id="1408030" name="AutoShape 30"/>
          <p:cNvSpPr>
            <a:spLocks noChangeArrowheads="1"/>
          </p:cNvSpPr>
          <p:nvPr/>
        </p:nvSpPr>
        <p:spPr bwMode="auto">
          <a:xfrm>
            <a:off x="1775521" y="5535438"/>
            <a:ext cx="3116263" cy="336550"/>
          </a:xfrm>
          <a:prstGeom prst="roundRect">
            <a:avLst>
              <a:gd name="adj" fmla="val 16667"/>
            </a:avLst>
          </a:prstGeom>
          <a:solidFill>
            <a:srgbClr val="93F5FD"/>
          </a:solidFill>
          <a:ln w="12700">
            <a:solidFill>
              <a:schemeClr val="tx1"/>
            </a:solidFill>
            <a:round/>
            <a:headEnd/>
            <a:tailEnd/>
          </a:ln>
          <a:effectLst/>
        </p:spPr>
        <p:txBody>
          <a:bodyPr wrap="none" lIns="82058" tIns="41029" rIns="82058" bIns="41029" anchor="ctr">
            <a:prstTxWarp prst="textNoShape">
              <a:avLst/>
            </a:prstTxWarp>
          </a:bodyPr>
          <a:lstStyle/>
          <a:p>
            <a:pPr defTabSz="820738"/>
            <a:r>
              <a:rPr lang="en-US" sz="1400" b="1"/>
              <a:t>Interconnection Network</a:t>
            </a:r>
          </a:p>
        </p:txBody>
      </p:sp>
      <p:sp>
        <p:nvSpPr>
          <p:cNvPr id="1408031" name="AutoShape 31"/>
          <p:cNvSpPr>
            <a:spLocks noChangeArrowheads="1"/>
          </p:cNvSpPr>
          <p:nvPr/>
        </p:nvSpPr>
        <p:spPr bwMode="auto">
          <a:xfrm rot="16200000">
            <a:off x="1414365" y="3547095"/>
            <a:ext cx="1344613" cy="346075"/>
          </a:xfrm>
          <a:prstGeom prst="roundRect">
            <a:avLst>
              <a:gd name="adj" fmla="val 16667"/>
            </a:avLst>
          </a:prstGeom>
          <a:solidFill>
            <a:srgbClr val="93F5FD"/>
          </a:solidFill>
          <a:ln w="12700">
            <a:solidFill>
              <a:schemeClr val="tx1"/>
            </a:solidFill>
            <a:round/>
            <a:headEnd/>
            <a:tailEnd/>
          </a:ln>
          <a:effectLst/>
        </p:spPr>
        <p:txBody>
          <a:bodyPr wrap="none" lIns="82058" tIns="41029" rIns="82058" bIns="41029" anchor="ctr">
            <a:prstTxWarp prst="textNoShape">
              <a:avLst/>
            </a:prstTxWarp>
          </a:bodyPr>
          <a:lstStyle/>
          <a:p>
            <a:pPr defTabSz="820738"/>
            <a:r>
              <a:rPr lang="en-US" sz="1400" b="1"/>
              <a:t>Write Pool</a:t>
            </a:r>
          </a:p>
        </p:txBody>
      </p:sp>
      <p:sp>
        <p:nvSpPr>
          <p:cNvPr id="1408032" name="Rectangle 32"/>
          <p:cNvSpPr>
            <a:spLocks noChangeArrowheads="1"/>
          </p:cNvSpPr>
          <p:nvPr/>
        </p:nvSpPr>
        <p:spPr bwMode="auto">
          <a:xfrm flipH="1">
            <a:off x="3853559" y="264460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33" name="Freeform 33"/>
          <p:cNvSpPr>
            <a:spLocks/>
          </p:cNvSpPr>
          <p:nvPr/>
        </p:nvSpPr>
        <p:spPr bwMode="auto">
          <a:xfrm>
            <a:off x="4199633" y="2400126"/>
            <a:ext cx="277812" cy="581025"/>
          </a:xfrm>
          <a:custGeom>
            <a:avLst/>
            <a:gdLst/>
            <a:ahLst/>
            <a:cxnLst>
              <a:cxn ang="0">
                <a:pos x="0" y="414"/>
              </a:cxn>
              <a:cxn ang="0">
                <a:pos x="0" y="174"/>
              </a:cxn>
              <a:cxn ang="0">
                <a:pos x="192" y="0"/>
              </a:cxn>
              <a:cxn ang="0">
                <a:pos x="192" y="222"/>
              </a:cxn>
              <a:cxn ang="0">
                <a:pos x="0" y="414"/>
              </a:cxn>
            </a:cxnLst>
            <a:rect l="0" t="0" r="r" b="b"/>
            <a:pathLst>
              <a:path w="192" h="414">
                <a:moveTo>
                  <a:pt x="0" y="414"/>
                </a:moveTo>
                <a:lnTo>
                  <a:pt x="0" y="174"/>
                </a:lnTo>
                <a:lnTo>
                  <a:pt x="192" y="0"/>
                </a:lnTo>
                <a:lnTo>
                  <a:pt x="192" y="222"/>
                </a:lnTo>
                <a:lnTo>
                  <a:pt x="0" y="41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408034" name="Rectangle 34"/>
          <p:cNvSpPr>
            <a:spLocks noChangeArrowheads="1"/>
          </p:cNvSpPr>
          <p:nvPr/>
        </p:nvSpPr>
        <p:spPr bwMode="auto">
          <a:xfrm flipH="1">
            <a:off x="3507484" y="264460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35" name="Rectangle 35"/>
          <p:cNvSpPr>
            <a:spLocks noChangeArrowheads="1"/>
          </p:cNvSpPr>
          <p:nvPr/>
        </p:nvSpPr>
        <p:spPr bwMode="auto">
          <a:xfrm flipH="1">
            <a:off x="3159821" y="2644600"/>
            <a:ext cx="347663"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36" name="Rectangle 36"/>
          <p:cNvSpPr>
            <a:spLocks noChangeArrowheads="1"/>
          </p:cNvSpPr>
          <p:nvPr/>
        </p:nvSpPr>
        <p:spPr bwMode="auto">
          <a:xfrm flipH="1">
            <a:off x="2813746" y="264460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37" name="Rectangle 37"/>
          <p:cNvSpPr>
            <a:spLocks noChangeArrowheads="1"/>
          </p:cNvSpPr>
          <p:nvPr/>
        </p:nvSpPr>
        <p:spPr bwMode="auto">
          <a:xfrm flipH="1">
            <a:off x="2467671" y="2644600"/>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38" name="Rectangle 38"/>
          <p:cNvSpPr>
            <a:spLocks noChangeArrowheads="1"/>
          </p:cNvSpPr>
          <p:nvPr/>
        </p:nvSpPr>
        <p:spPr bwMode="auto">
          <a:xfrm>
            <a:off x="1913634" y="2106438"/>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r>
              <a:rPr lang="en-US" sz="1400" b="1"/>
              <a:t>W</a:t>
            </a:r>
          </a:p>
        </p:txBody>
      </p:sp>
      <p:sp>
        <p:nvSpPr>
          <p:cNvPr id="1408039" name="Rectangle 39"/>
          <p:cNvSpPr>
            <a:spLocks noChangeArrowheads="1"/>
          </p:cNvSpPr>
          <p:nvPr/>
        </p:nvSpPr>
        <p:spPr bwMode="auto">
          <a:xfrm>
            <a:off x="1913634" y="2442988"/>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0" name="Freeform 40"/>
          <p:cNvSpPr>
            <a:spLocks/>
          </p:cNvSpPr>
          <p:nvPr/>
        </p:nvSpPr>
        <p:spPr bwMode="auto">
          <a:xfrm>
            <a:off x="2259708" y="2442988"/>
            <a:ext cx="207962" cy="538162"/>
          </a:xfrm>
          <a:custGeom>
            <a:avLst/>
            <a:gdLst/>
            <a:ahLst/>
            <a:cxnLst>
              <a:cxn ang="0">
                <a:pos x="144" y="384"/>
              </a:cxn>
              <a:cxn ang="0">
                <a:pos x="0" y="240"/>
              </a:cxn>
              <a:cxn ang="0">
                <a:pos x="0" y="0"/>
              </a:cxn>
              <a:cxn ang="0">
                <a:pos x="144" y="144"/>
              </a:cxn>
              <a:cxn ang="0">
                <a:pos x="144" y="384"/>
              </a:cxn>
            </a:cxnLst>
            <a:rect l="0" t="0" r="r" b="b"/>
            <a:pathLst>
              <a:path w="144" h="384">
                <a:moveTo>
                  <a:pt x="144" y="384"/>
                </a:moveTo>
                <a:lnTo>
                  <a:pt x="0" y="240"/>
                </a:lnTo>
                <a:lnTo>
                  <a:pt x="0" y="0"/>
                </a:lnTo>
                <a:lnTo>
                  <a:pt x="144" y="144"/>
                </a:lnTo>
                <a:lnTo>
                  <a:pt x="144" y="38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408041" name="Rectangle 41"/>
          <p:cNvSpPr>
            <a:spLocks noChangeArrowheads="1"/>
          </p:cNvSpPr>
          <p:nvPr/>
        </p:nvSpPr>
        <p:spPr bwMode="auto">
          <a:xfrm flipH="1">
            <a:off x="3853559" y="6476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2" name="Freeform 42"/>
          <p:cNvSpPr>
            <a:spLocks/>
          </p:cNvSpPr>
          <p:nvPr/>
        </p:nvSpPr>
        <p:spPr bwMode="auto">
          <a:xfrm>
            <a:off x="4199633" y="6233939"/>
            <a:ext cx="277812" cy="579437"/>
          </a:xfrm>
          <a:custGeom>
            <a:avLst/>
            <a:gdLst/>
            <a:ahLst/>
            <a:cxnLst>
              <a:cxn ang="0">
                <a:pos x="0" y="414"/>
              </a:cxn>
              <a:cxn ang="0">
                <a:pos x="0" y="174"/>
              </a:cxn>
              <a:cxn ang="0">
                <a:pos x="192" y="0"/>
              </a:cxn>
              <a:cxn ang="0">
                <a:pos x="192" y="222"/>
              </a:cxn>
              <a:cxn ang="0">
                <a:pos x="0" y="414"/>
              </a:cxn>
            </a:cxnLst>
            <a:rect l="0" t="0" r="r" b="b"/>
            <a:pathLst>
              <a:path w="192" h="414">
                <a:moveTo>
                  <a:pt x="0" y="414"/>
                </a:moveTo>
                <a:lnTo>
                  <a:pt x="0" y="174"/>
                </a:lnTo>
                <a:lnTo>
                  <a:pt x="192" y="0"/>
                </a:lnTo>
                <a:lnTo>
                  <a:pt x="192" y="222"/>
                </a:lnTo>
                <a:lnTo>
                  <a:pt x="0" y="41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408043" name="Rectangle 43"/>
          <p:cNvSpPr>
            <a:spLocks noChangeArrowheads="1"/>
          </p:cNvSpPr>
          <p:nvPr/>
        </p:nvSpPr>
        <p:spPr bwMode="auto">
          <a:xfrm flipH="1">
            <a:off x="3507484" y="6476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4" name="Rectangle 44"/>
          <p:cNvSpPr>
            <a:spLocks noChangeArrowheads="1"/>
          </p:cNvSpPr>
          <p:nvPr/>
        </p:nvSpPr>
        <p:spPr bwMode="auto">
          <a:xfrm flipH="1">
            <a:off x="3159821" y="6476825"/>
            <a:ext cx="347663"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5" name="Rectangle 45"/>
          <p:cNvSpPr>
            <a:spLocks noChangeArrowheads="1"/>
          </p:cNvSpPr>
          <p:nvPr/>
        </p:nvSpPr>
        <p:spPr bwMode="auto">
          <a:xfrm flipH="1">
            <a:off x="2813746" y="6476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6" name="Rectangle 46"/>
          <p:cNvSpPr>
            <a:spLocks noChangeArrowheads="1"/>
          </p:cNvSpPr>
          <p:nvPr/>
        </p:nvSpPr>
        <p:spPr bwMode="auto">
          <a:xfrm flipH="1">
            <a:off x="2467671" y="6476825"/>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7" name="Freeform 47"/>
          <p:cNvSpPr>
            <a:spLocks/>
          </p:cNvSpPr>
          <p:nvPr/>
        </p:nvSpPr>
        <p:spPr bwMode="auto">
          <a:xfrm>
            <a:off x="2259708" y="6275213"/>
            <a:ext cx="207962" cy="538162"/>
          </a:xfrm>
          <a:custGeom>
            <a:avLst/>
            <a:gdLst/>
            <a:ahLst/>
            <a:cxnLst>
              <a:cxn ang="0">
                <a:pos x="144" y="384"/>
              </a:cxn>
              <a:cxn ang="0">
                <a:pos x="0" y="240"/>
              </a:cxn>
              <a:cxn ang="0">
                <a:pos x="0" y="0"/>
              </a:cxn>
              <a:cxn ang="0">
                <a:pos x="144" y="144"/>
              </a:cxn>
              <a:cxn ang="0">
                <a:pos x="144" y="384"/>
              </a:cxn>
            </a:cxnLst>
            <a:rect l="0" t="0" r="r" b="b"/>
            <a:pathLst>
              <a:path w="144" h="384">
                <a:moveTo>
                  <a:pt x="144" y="384"/>
                </a:moveTo>
                <a:lnTo>
                  <a:pt x="0" y="240"/>
                </a:lnTo>
                <a:lnTo>
                  <a:pt x="0" y="0"/>
                </a:lnTo>
                <a:lnTo>
                  <a:pt x="144" y="144"/>
                </a:lnTo>
                <a:lnTo>
                  <a:pt x="144" y="38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408048" name="Rectangle 48"/>
          <p:cNvSpPr>
            <a:spLocks noChangeArrowheads="1"/>
          </p:cNvSpPr>
          <p:nvPr/>
        </p:nvSpPr>
        <p:spPr bwMode="auto">
          <a:xfrm>
            <a:off x="4477446" y="5871988"/>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49" name="Rectangle 49"/>
          <p:cNvSpPr>
            <a:spLocks noChangeArrowheads="1"/>
          </p:cNvSpPr>
          <p:nvPr/>
        </p:nvSpPr>
        <p:spPr bwMode="auto">
          <a:xfrm>
            <a:off x="4477446" y="6208538"/>
            <a:ext cx="346075" cy="334962"/>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50" name="Rectangle 50"/>
          <p:cNvSpPr>
            <a:spLocks noChangeArrowheads="1"/>
          </p:cNvSpPr>
          <p:nvPr/>
        </p:nvSpPr>
        <p:spPr bwMode="auto">
          <a:xfrm>
            <a:off x="1913634" y="5871989"/>
            <a:ext cx="346075" cy="403225"/>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51" name="Rectangle 51"/>
          <p:cNvSpPr>
            <a:spLocks noChangeArrowheads="1"/>
          </p:cNvSpPr>
          <p:nvPr/>
        </p:nvSpPr>
        <p:spPr bwMode="auto">
          <a:xfrm>
            <a:off x="1913634" y="6275213"/>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52" name="Text Box 52"/>
          <p:cNvSpPr txBox="1">
            <a:spLocks noChangeArrowheads="1"/>
          </p:cNvSpPr>
          <p:nvPr/>
        </p:nvSpPr>
        <p:spPr bwMode="auto">
          <a:xfrm>
            <a:off x="2513709" y="6072087"/>
            <a:ext cx="1577965" cy="298303"/>
          </a:xfrm>
          <a:prstGeom prst="rect">
            <a:avLst/>
          </a:prstGeom>
          <a:noFill/>
          <a:ln w="12700">
            <a:noFill/>
            <a:miter lim="800000"/>
            <a:headEnd/>
            <a:tailEnd/>
          </a:ln>
          <a:effectLst/>
        </p:spPr>
        <p:txBody>
          <a:bodyPr wrap="none" lIns="82058" tIns="41029" rIns="82058" bIns="41029" anchor="ctr">
            <a:prstTxWarp prst="textNoShape">
              <a:avLst/>
            </a:prstTxWarp>
            <a:spAutoFit/>
          </a:bodyPr>
          <a:lstStyle/>
          <a:p>
            <a:pPr defTabSz="820738"/>
            <a:r>
              <a:rPr lang="en-US" sz="1400" b="1"/>
              <a:t>Memory pipeline</a:t>
            </a:r>
          </a:p>
        </p:txBody>
      </p:sp>
      <p:sp>
        <p:nvSpPr>
          <p:cNvPr id="1408053" name="Line 53"/>
          <p:cNvSpPr>
            <a:spLocks noChangeShapeType="1"/>
          </p:cNvSpPr>
          <p:nvPr/>
        </p:nvSpPr>
        <p:spPr bwMode="auto">
          <a:xfrm flipH="1">
            <a:off x="2745484" y="6410150"/>
            <a:ext cx="1246187"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54" name="Line 54"/>
          <p:cNvSpPr>
            <a:spLocks noChangeShapeType="1"/>
          </p:cNvSpPr>
          <p:nvPr/>
        </p:nvSpPr>
        <p:spPr bwMode="auto">
          <a:xfrm>
            <a:off x="2883596" y="4594050"/>
            <a:ext cx="969963"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55" name="Line 55"/>
          <p:cNvSpPr>
            <a:spLocks noChangeShapeType="1"/>
          </p:cNvSpPr>
          <p:nvPr/>
        </p:nvSpPr>
        <p:spPr bwMode="auto">
          <a:xfrm flipV="1">
            <a:off x="1775520" y="3114501"/>
            <a:ext cx="0" cy="1211263"/>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56" name="Line 56"/>
          <p:cNvSpPr>
            <a:spLocks noChangeShapeType="1"/>
          </p:cNvSpPr>
          <p:nvPr/>
        </p:nvSpPr>
        <p:spPr bwMode="auto">
          <a:xfrm>
            <a:off x="4407595" y="3182763"/>
            <a:ext cx="0" cy="11430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grpSp>
        <p:nvGrpSpPr>
          <p:cNvPr id="3" name="Group 57"/>
          <p:cNvGrpSpPr>
            <a:grpSpLocks/>
          </p:cNvGrpSpPr>
          <p:nvPr/>
        </p:nvGrpSpPr>
        <p:grpSpPr bwMode="auto">
          <a:xfrm flipV="1">
            <a:off x="2259709" y="1568276"/>
            <a:ext cx="554037" cy="538163"/>
            <a:chOff x="2256" y="2112"/>
            <a:chExt cx="384" cy="384"/>
          </a:xfrm>
        </p:grpSpPr>
        <p:sp>
          <p:nvSpPr>
            <p:cNvPr id="1408058" name="Rectangle 58"/>
            <p:cNvSpPr>
              <a:spLocks noChangeArrowheads="1"/>
            </p:cNvSpPr>
            <p:nvPr/>
          </p:nvSpPr>
          <p:spPr bwMode="auto">
            <a:xfrm flipH="1">
              <a:off x="2400" y="2256"/>
              <a:ext cx="240" cy="240"/>
            </a:xfrm>
            <a:prstGeom prst="rect">
              <a:avLst/>
            </a:prstGeom>
            <a:noFill/>
            <a:ln w="12700">
              <a:solidFill>
                <a:schemeClr val="tx1"/>
              </a:solidFill>
              <a:miter lim="800000"/>
              <a:headEnd/>
              <a:tailEnd/>
            </a:ln>
            <a:effectLst/>
          </p:spPr>
          <p:txBody>
            <a:bodyPr rot="10800000" lIns="82058" tIns="41029" rIns="82058" bIns="41029" anchor="ctr">
              <a:prstTxWarp prst="textNoShape">
                <a:avLst/>
              </a:prstTxWarp>
            </a:bodyPr>
            <a:lstStyle/>
            <a:p>
              <a:pPr defTabSz="820738"/>
              <a:endParaRPr lang="en-US" sz="1400"/>
            </a:p>
          </p:txBody>
        </p:sp>
        <p:sp>
          <p:nvSpPr>
            <p:cNvPr id="1408059" name="Freeform 59"/>
            <p:cNvSpPr>
              <a:spLocks/>
            </p:cNvSpPr>
            <p:nvPr/>
          </p:nvSpPr>
          <p:spPr bwMode="auto">
            <a:xfrm>
              <a:off x="2256" y="2112"/>
              <a:ext cx="144" cy="384"/>
            </a:xfrm>
            <a:custGeom>
              <a:avLst/>
              <a:gdLst/>
              <a:ahLst/>
              <a:cxnLst>
                <a:cxn ang="0">
                  <a:pos x="144" y="384"/>
                </a:cxn>
                <a:cxn ang="0">
                  <a:pos x="0" y="240"/>
                </a:cxn>
                <a:cxn ang="0">
                  <a:pos x="0" y="0"/>
                </a:cxn>
                <a:cxn ang="0">
                  <a:pos x="144" y="144"/>
                </a:cxn>
                <a:cxn ang="0">
                  <a:pos x="144" y="384"/>
                </a:cxn>
              </a:cxnLst>
              <a:rect l="0" t="0" r="r" b="b"/>
              <a:pathLst>
                <a:path w="144" h="384">
                  <a:moveTo>
                    <a:pt x="144" y="384"/>
                  </a:moveTo>
                  <a:lnTo>
                    <a:pt x="0" y="240"/>
                  </a:lnTo>
                  <a:lnTo>
                    <a:pt x="0" y="0"/>
                  </a:lnTo>
                  <a:lnTo>
                    <a:pt x="144" y="144"/>
                  </a:lnTo>
                  <a:lnTo>
                    <a:pt x="144" y="384"/>
                  </a:lnTo>
                  <a:close/>
                </a:path>
              </a:pathLst>
            </a:custGeom>
            <a:noFill/>
            <a:ln w="12700" cap="flat" cmpd="sng">
              <a:solidFill>
                <a:schemeClr val="tx1"/>
              </a:solidFill>
              <a:prstDash val="solid"/>
              <a:round/>
              <a:headEnd/>
              <a:tailEnd/>
            </a:ln>
            <a:effectLst/>
          </p:spPr>
          <p:txBody>
            <a:bodyPr wrap="none" anchor="ctr">
              <a:prstTxWarp prst="textNoShape">
                <a:avLst/>
              </a:prstTxWarp>
            </a:bodyPr>
            <a:lstStyle/>
            <a:p>
              <a:endParaRPr lang="en-US"/>
            </a:p>
          </p:txBody>
        </p:sp>
      </p:grpSp>
      <p:sp>
        <p:nvSpPr>
          <p:cNvPr id="1408060" name="Rectangle 60"/>
          <p:cNvSpPr>
            <a:spLocks noChangeArrowheads="1"/>
          </p:cNvSpPr>
          <p:nvPr/>
        </p:nvSpPr>
        <p:spPr bwMode="auto">
          <a:xfrm flipH="1">
            <a:off x="1913634" y="1769888"/>
            <a:ext cx="346075" cy="336550"/>
          </a:xfrm>
          <a:prstGeom prst="rect">
            <a:avLst/>
          </a:prstGeom>
          <a:noFill/>
          <a:ln w="12700">
            <a:solidFill>
              <a:schemeClr val="tx1"/>
            </a:solidFill>
            <a:miter lim="800000"/>
            <a:headEnd/>
            <a:tailEnd/>
          </a:ln>
          <a:effectLst/>
        </p:spPr>
        <p:txBody>
          <a:bodyPr lIns="82058" tIns="41029" rIns="82058" bIns="41029" anchor="ctr">
            <a:prstTxWarp prst="textNoShape">
              <a:avLst/>
            </a:prstTxWarp>
          </a:bodyPr>
          <a:lstStyle/>
          <a:p>
            <a:pPr defTabSz="820738"/>
            <a:endParaRPr lang="en-US" sz="1400"/>
          </a:p>
        </p:txBody>
      </p:sp>
      <p:sp>
        <p:nvSpPr>
          <p:cNvPr id="1408061" name="AutoShape 61"/>
          <p:cNvSpPr>
            <a:spLocks noChangeArrowheads="1"/>
          </p:cNvSpPr>
          <p:nvPr/>
        </p:nvSpPr>
        <p:spPr bwMode="auto">
          <a:xfrm>
            <a:off x="2883595" y="1568275"/>
            <a:ext cx="1385888" cy="336550"/>
          </a:xfrm>
          <a:prstGeom prst="roundRect">
            <a:avLst>
              <a:gd name="adj" fmla="val 16667"/>
            </a:avLst>
          </a:prstGeom>
          <a:solidFill>
            <a:srgbClr val="93F5FD"/>
          </a:solidFill>
          <a:ln w="12700">
            <a:solidFill>
              <a:schemeClr val="tx1"/>
            </a:solidFill>
            <a:round/>
            <a:headEnd/>
            <a:tailEnd/>
          </a:ln>
          <a:effectLst/>
        </p:spPr>
        <p:txBody>
          <a:bodyPr wrap="none" lIns="82058" tIns="41029" rIns="82058" bIns="41029" anchor="ctr">
            <a:prstTxWarp prst="textNoShape">
              <a:avLst/>
            </a:prstTxWarp>
          </a:bodyPr>
          <a:lstStyle/>
          <a:p>
            <a:pPr defTabSz="820738"/>
            <a:r>
              <a:rPr lang="en-US" sz="1400" b="1"/>
              <a:t>Issue Pool</a:t>
            </a:r>
          </a:p>
        </p:txBody>
      </p:sp>
      <p:sp>
        <p:nvSpPr>
          <p:cNvPr id="1408062" name="Line 62"/>
          <p:cNvSpPr>
            <a:spLocks noChangeShapeType="1"/>
          </p:cNvSpPr>
          <p:nvPr/>
        </p:nvSpPr>
        <p:spPr bwMode="auto">
          <a:xfrm flipH="1">
            <a:off x="3021708" y="3114500"/>
            <a:ext cx="831850"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408063" name="Line 63"/>
          <p:cNvSpPr>
            <a:spLocks noChangeShapeType="1"/>
          </p:cNvSpPr>
          <p:nvPr/>
        </p:nvSpPr>
        <p:spPr bwMode="auto">
          <a:xfrm>
            <a:off x="3091559" y="1971500"/>
            <a:ext cx="1038225"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69" name="内容占位符 2"/>
          <p:cNvSpPr txBox="1">
            <a:spLocks/>
          </p:cNvSpPr>
          <p:nvPr/>
        </p:nvSpPr>
        <p:spPr>
          <a:xfrm>
            <a:off x="6661720" y="1484785"/>
            <a:ext cx="5194920" cy="4525963"/>
          </a:xfrm>
          <a:prstGeom prst="rect">
            <a:avLst/>
          </a:prstGeom>
        </p:spPr>
        <p:txBody>
          <a:bodyPr>
            <a:noAutofit/>
          </a:bodyPr>
          <a:lstStyle/>
          <a:p>
            <a:pPr marL="342900" indent="-342900" eaLnBrk="1" hangingPunct="1">
              <a:spcBef>
                <a:spcPct val="20000"/>
              </a:spcBef>
              <a:buFont typeface="Wingdings" charset="2"/>
              <a:buChar char="n"/>
              <a:defRPr/>
            </a:pPr>
            <a:r>
              <a:rPr lang="en-US" altLang="zh-CN" sz="2800" kern="0" dirty="0">
                <a:solidFill>
                  <a:srgbClr val="0000FF"/>
                </a:solidFill>
                <a:latin typeface="+mn-lt"/>
                <a:ea typeface="+mn-ea"/>
              </a:rPr>
              <a:t>64</a:t>
            </a:r>
            <a:r>
              <a:rPr lang="zh-CN" altLang="en-US" sz="2800" kern="0" dirty="0">
                <a:solidFill>
                  <a:srgbClr val="0000FF"/>
                </a:solidFill>
                <a:latin typeface="+mn-lt"/>
                <a:ea typeface="+mn-ea"/>
              </a:rPr>
              <a:t>位，</a:t>
            </a:r>
            <a:r>
              <a:rPr lang="en-US" altLang="zh-CN" sz="2800" kern="0" dirty="0">
                <a:solidFill>
                  <a:srgbClr val="0000FF"/>
                </a:solidFill>
                <a:latin typeface="+mn-lt"/>
                <a:ea typeface="+mn-ea"/>
              </a:rPr>
              <a:t>3-way LIW </a:t>
            </a:r>
          </a:p>
          <a:p>
            <a:pPr marL="342900" indent="-342900" eaLnBrk="1" hangingPunct="1">
              <a:spcBef>
                <a:spcPct val="20000"/>
              </a:spcBef>
              <a:buFont typeface="Wingdings" charset="2"/>
              <a:buChar char="n"/>
              <a:defRPr/>
            </a:pPr>
            <a:r>
              <a:rPr lang="zh-CN" altLang="en-US" sz="2800" kern="0" dirty="0">
                <a:solidFill>
                  <a:srgbClr val="0000FF"/>
                </a:solidFill>
                <a:latin typeface="+mn-lt"/>
                <a:ea typeface="+mn-ea"/>
              </a:rPr>
              <a:t>每处理器</a:t>
            </a:r>
            <a:r>
              <a:rPr lang="en-US" altLang="zh-CN" sz="2800" kern="0" dirty="0">
                <a:solidFill>
                  <a:srgbClr val="0000FF"/>
                </a:solidFill>
                <a:latin typeface="+mn-lt"/>
                <a:ea typeface="+mn-ea"/>
              </a:rPr>
              <a:t>128</a:t>
            </a:r>
            <a:r>
              <a:rPr lang="zh-CN" altLang="en-US" sz="2800" kern="0" dirty="0">
                <a:solidFill>
                  <a:srgbClr val="0000FF"/>
                </a:solidFill>
                <a:latin typeface="+mn-lt"/>
                <a:ea typeface="+mn-ea"/>
              </a:rPr>
              <a:t>线程</a:t>
            </a:r>
            <a:endParaRPr lang="en-US" altLang="zh-CN" sz="2800" kern="0" dirty="0">
              <a:solidFill>
                <a:srgbClr val="0000FF"/>
              </a:solidFill>
              <a:latin typeface="+mn-lt"/>
              <a:ea typeface="+mn-ea"/>
            </a:endParaRPr>
          </a:p>
          <a:p>
            <a:pPr marL="342900" indent="-342900" eaLnBrk="1" hangingPunct="1">
              <a:spcBef>
                <a:spcPct val="20000"/>
              </a:spcBef>
              <a:buFont typeface="Wingdings" charset="2"/>
              <a:buChar char="n"/>
              <a:defRPr/>
            </a:pPr>
            <a:r>
              <a:rPr lang="zh-CN" altLang="en-US" sz="2800" kern="0" dirty="0">
                <a:solidFill>
                  <a:srgbClr val="0000FF"/>
                </a:solidFill>
                <a:latin typeface="+mn-lt"/>
                <a:ea typeface="+mn-ea"/>
              </a:rPr>
              <a:t>每线程</a:t>
            </a:r>
            <a:r>
              <a:rPr lang="en-US" altLang="zh-CN" sz="2800" kern="0" dirty="0">
                <a:solidFill>
                  <a:srgbClr val="0000FF"/>
                </a:solidFill>
                <a:latin typeface="+mn-lt"/>
                <a:ea typeface="+mn-ea"/>
              </a:rPr>
              <a:t>32</a:t>
            </a:r>
            <a:r>
              <a:rPr lang="zh-CN" altLang="en-US" sz="2800" kern="0" dirty="0">
                <a:solidFill>
                  <a:srgbClr val="0000FF"/>
                </a:solidFill>
                <a:latin typeface="+mn-lt"/>
                <a:ea typeface="+mn-ea"/>
              </a:rPr>
              <a:t>寄存器</a:t>
            </a:r>
            <a:endParaRPr lang="en-US" altLang="zh-CN" sz="2800" kern="0" dirty="0">
              <a:solidFill>
                <a:srgbClr val="0000FF"/>
              </a:solidFill>
              <a:latin typeface="+mn-lt"/>
              <a:ea typeface="+mn-ea"/>
            </a:endParaRPr>
          </a:p>
          <a:p>
            <a:pPr marL="342900" indent="-342900" eaLnBrk="1" hangingPunct="1">
              <a:spcBef>
                <a:spcPct val="20000"/>
              </a:spcBef>
              <a:buFont typeface="Wingdings" charset="2"/>
              <a:buChar char="n"/>
              <a:defRPr/>
            </a:pPr>
            <a:r>
              <a:rPr lang="en-US" altLang="zh-CN" sz="2800" kern="0" dirty="0">
                <a:solidFill>
                  <a:srgbClr val="0000FF"/>
                </a:solidFill>
                <a:latin typeface="+mn-lt"/>
                <a:ea typeface="+mn-ea"/>
              </a:rPr>
              <a:t>8</a:t>
            </a:r>
            <a:r>
              <a:rPr lang="zh-CN" altLang="en-US" sz="2800" kern="0" dirty="0">
                <a:solidFill>
                  <a:srgbClr val="0000FF"/>
                </a:solidFill>
                <a:latin typeface="+mn-lt"/>
                <a:ea typeface="+mn-ea"/>
              </a:rPr>
              <a:t>分支目标寄存器</a:t>
            </a:r>
            <a:endParaRPr lang="en-US" altLang="zh-CN" sz="2800" kern="0" dirty="0">
              <a:solidFill>
                <a:srgbClr val="0000FF"/>
              </a:solidFill>
              <a:latin typeface="+mn-lt"/>
              <a:ea typeface="+mn-ea"/>
            </a:endParaRPr>
          </a:p>
          <a:p>
            <a:pPr marL="342900" indent="-342900" eaLnBrk="1" hangingPunct="1">
              <a:spcBef>
                <a:spcPct val="20000"/>
              </a:spcBef>
              <a:buFont typeface="Wingdings" charset="2"/>
              <a:buChar char="n"/>
              <a:defRPr/>
            </a:pPr>
            <a:r>
              <a:rPr lang="en-US" altLang="zh-CN" sz="2800" kern="0" dirty="0">
                <a:solidFill>
                  <a:srgbClr val="0000FF"/>
                </a:solidFill>
                <a:latin typeface="+mn-lt"/>
                <a:ea typeface="+mn-ea"/>
              </a:rPr>
              <a:t>~16</a:t>
            </a:r>
            <a:r>
              <a:rPr lang="zh-CN" altLang="en-US" sz="2800" kern="0" dirty="0">
                <a:solidFill>
                  <a:srgbClr val="0000FF"/>
                </a:solidFill>
                <a:latin typeface="+mn-lt"/>
                <a:ea typeface="+mn-ea"/>
              </a:rPr>
              <a:t>深度指令流水</a:t>
            </a:r>
            <a:endParaRPr lang="en-US" altLang="zh-CN" sz="2800" kern="0" dirty="0">
              <a:solidFill>
                <a:srgbClr val="0000FF"/>
              </a:solidFill>
              <a:latin typeface="+mn-lt"/>
              <a:ea typeface="+mn-ea"/>
            </a:endParaRPr>
          </a:p>
          <a:p>
            <a:pPr marL="342900" indent="-342900">
              <a:spcBef>
                <a:spcPct val="20000"/>
              </a:spcBef>
              <a:buFont typeface="Wingdings" charset="2"/>
              <a:buChar char="n"/>
            </a:pPr>
            <a:r>
              <a:rPr lang="en-US" altLang="zh-CN" sz="2800" kern="0" dirty="0">
                <a:solidFill>
                  <a:srgbClr val="0000FF"/>
                </a:solidFill>
                <a:latin typeface="+mn-lt"/>
                <a:ea typeface="+mn-ea"/>
              </a:rPr>
              <a:t>70</a:t>
            </a:r>
            <a:r>
              <a:rPr lang="en-US" altLang="zh-CN" sz="2800" kern="0" dirty="0">
                <a:solidFill>
                  <a:srgbClr val="0000FF"/>
                </a:solidFill>
                <a:latin typeface="+mn-lt"/>
              </a:rPr>
              <a:t>~150</a:t>
            </a:r>
            <a:r>
              <a:rPr lang="zh-CN" altLang="en-US" sz="2800" kern="0" dirty="0">
                <a:solidFill>
                  <a:srgbClr val="0000FF"/>
                </a:solidFill>
                <a:latin typeface="+mn-lt"/>
                <a:ea typeface="+mn-ea"/>
              </a:rPr>
              <a:t>周期访存</a:t>
            </a:r>
            <a:endParaRPr lang="en-US" altLang="zh-CN" sz="2800" kern="0" dirty="0">
              <a:solidFill>
                <a:srgbClr val="0000FF"/>
              </a:solidFill>
              <a:latin typeface="+mn-lt"/>
              <a:ea typeface="+mn-ea"/>
            </a:endParaRPr>
          </a:p>
          <a:p>
            <a:pPr marL="800100" lvl="1" indent="-342900">
              <a:spcBef>
                <a:spcPct val="20000"/>
              </a:spcBef>
              <a:buFont typeface="Wingdings" charset="2"/>
              <a:buChar char="n"/>
            </a:pPr>
            <a:r>
              <a:rPr lang="en-US" altLang="zh-CN" kern="0" dirty="0" smtClean="0">
                <a:solidFill>
                  <a:srgbClr val="0000FF"/>
                </a:solidFill>
                <a:latin typeface="+mn-lt"/>
                <a:ea typeface="+mn-ea"/>
                <a:cs typeface="+mn-cs"/>
              </a:rPr>
              <a:t>256x150</a:t>
            </a:r>
            <a:r>
              <a:rPr lang="zh-CN" altLang="en-US" kern="0" dirty="0" smtClean="0">
                <a:solidFill>
                  <a:srgbClr val="0000FF"/>
                </a:solidFill>
                <a:latin typeface="+mn-lt"/>
                <a:ea typeface="+mn-ea"/>
                <a:cs typeface="+mn-cs"/>
              </a:rPr>
              <a:t>个进行中的存储器访问</a:t>
            </a:r>
            <a:endParaRPr lang="en-US" altLang="zh-CN" kern="0" dirty="0">
              <a:solidFill>
                <a:srgbClr val="0000FF"/>
              </a:solidFill>
              <a:latin typeface="+mn-lt"/>
              <a:ea typeface="+mn-ea"/>
            </a:endParaRPr>
          </a:p>
          <a:p>
            <a:pPr marL="342900" indent="-342900" eaLnBrk="1" hangingPunct="1">
              <a:spcBef>
                <a:spcPct val="20000"/>
              </a:spcBef>
              <a:buFont typeface="Wingdings" charset="2"/>
              <a:buChar char="n"/>
              <a:defRPr/>
            </a:pPr>
            <a:r>
              <a:rPr lang="zh-CN" altLang="en-US" sz="2800" kern="0" dirty="0">
                <a:solidFill>
                  <a:srgbClr val="0000FF"/>
                </a:solidFill>
                <a:latin typeface="+mn-lt"/>
                <a:ea typeface="+mn-ea"/>
              </a:rPr>
              <a:t>每线程多达</a:t>
            </a:r>
            <a:r>
              <a:rPr lang="en-US" altLang="zh-CN" sz="2800" kern="0" dirty="0">
                <a:solidFill>
                  <a:srgbClr val="0000FF"/>
                </a:solidFill>
                <a:latin typeface="+mn-lt"/>
                <a:ea typeface="+mn-ea"/>
              </a:rPr>
              <a:t>8</a:t>
            </a:r>
            <a:r>
              <a:rPr lang="zh-CN" altLang="en-US" sz="2800" kern="0" dirty="0">
                <a:solidFill>
                  <a:srgbClr val="0000FF"/>
                </a:solidFill>
                <a:latin typeface="+mn-lt"/>
                <a:ea typeface="+mn-ea"/>
              </a:rPr>
              <a:t>个</a:t>
            </a:r>
            <a:r>
              <a:rPr lang="zh-CN" altLang="en-US" sz="2800" kern="0" dirty="0" smtClean="0">
                <a:solidFill>
                  <a:srgbClr val="0000FF"/>
                </a:solidFill>
                <a:latin typeface="+mn-lt"/>
                <a:ea typeface="+mn-ea"/>
              </a:rPr>
              <a:t>并发访</a:t>
            </a:r>
            <a:r>
              <a:rPr lang="zh-CN" altLang="en-US" sz="2800" kern="0" dirty="0">
                <a:solidFill>
                  <a:srgbClr val="0000FF"/>
                </a:solidFill>
                <a:latin typeface="+mn-lt"/>
                <a:ea typeface="+mn-ea"/>
              </a:rPr>
              <a:t>存</a:t>
            </a:r>
            <a:endParaRPr lang="en-US" altLang="zh-CN" sz="2800" kern="0" dirty="0">
              <a:solidFill>
                <a:srgbClr val="0000FF"/>
              </a:solidFill>
              <a:latin typeface="+mn-lt"/>
              <a:ea typeface="+mn-ea"/>
            </a:endParaRPr>
          </a:p>
        </p:txBody>
      </p:sp>
    </p:spTree>
    <p:extLst>
      <p:ext uri="{BB962C8B-B14F-4D97-AF65-F5344CB8AC3E}">
        <p14:creationId xmlns:p14="http://schemas.microsoft.com/office/powerpoint/2010/main" val="24897936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Tera</a:t>
            </a:r>
            <a:r>
              <a:rPr lang="zh-CN" altLang="en-US" dirty="0" smtClean="0"/>
              <a:t>与</a:t>
            </a:r>
            <a:r>
              <a:rPr lang="en-US" altLang="zh-CN" dirty="0" smtClean="0"/>
              <a:t>Cray</a:t>
            </a:r>
            <a:endParaRPr lang="zh-CN" altLang="en-US" dirty="0"/>
          </a:p>
        </p:txBody>
      </p:sp>
      <p:sp>
        <p:nvSpPr>
          <p:cNvPr id="6" name="内容占位符 5"/>
          <p:cNvSpPr>
            <a:spLocks noGrp="1"/>
          </p:cNvSpPr>
          <p:nvPr>
            <p:ph sz="half" idx="1"/>
          </p:nvPr>
        </p:nvSpPr>
        <p:spPr>
          <a:xfrm>
            <a:off x="1487488" y="1484784"/>
            <a:ext cx="4013200" cy="4610100"/>
          </a:xfrm>
        </p:spPr>
        <p:txBody>
          <a:bodyPr/>
          <a:lstStyle/>
          <a:p>
            <a:r>
              <a:rPr lang="en-US" altLang="zh-CN" sz="2400" dirty="0"/>
              <a:t>1972, Cray</a:t>
            </a:r>
            <a:r>
              <a:rPr lang="zh-CN" altLang="en-US" sz="2400" dirty="0"/>
              <a:t> </a:t>
            </a:r>
            <a:r>
              <a:rPr lang="en-US" altLang="zh-CN" sz="2400" dirty="0"/>
              <a:t>Research</a:t>
            </a:r>
          </a:p>
          <a:p>
            <a:r>
              <a:rPr lang="en-US" altLang="zh-CN" sz="2400" dirty="0"/>
              <a:t>1976, Cray 1</a:t>
            </a:r>
          </a:p>
          <a:p>
            <a:r>
              <a:rPr lang="en-US" altLang="zh-CN" sz="2400" dirty="0"/>
              <a:t>1982, Cray XMP</a:t>
            </a:r>
          </a:p>
          <a:p>
            <a:r>
              <a:rPr lang="en-US" altLang="zh-CN" sz="2400" dirty="0"/>
              <a:t>1985, Cray 2</a:t>
            </a:r>
          </a:p>
          <a:p>
            <a:r>
              <a:rPr lang="en-US" altLang="zh-CN" sz="2400" dirty="0"/>
              <a:t>1988, Cray YMP</a:t>
            </a:r>
          </a:p>
          <a:p>
            <a:r>
              <a:rPr lang="en-US" altLang="zh-CN" sz="2400" dirty="0"/>
              <a:t>1989, Cray Computer</a:t>
            </a:r>
          </a:p>
          <a:p>
            <a:r>
              <a:rPr lang="en-US" altLang="zh-CN" sz="2400" dirty="0"/>
              <a:t>1990, Cray C90</a:t>
            </a:r>
          </a:p>
          <a:p>
            <a:r>
              <a:rPr lang="en-US" altLang="zh-CN" sz="2400" dirty="0"/>
              <a:t>1993, Cray T3D</a:t>
            </a:r>
          </a:p>
          <a:p>
            <a:r>
              <a:rPr lang="en-US" altLang="zh-CN" sz="2400" dirty="0"/>
              <a:t>1994, Cray T90, J90</a:t>
            </a:r>
          </a:p>
          <a:p>
            <a:r>
              <a:rPr lang="en-US" altLang="zh-CN" sz="2400" dirty="0"/>
              <a:t>1995, Cray T3E</a:t>
            </a:r>
          </a:p>
          <a:p>
            <a:r>
              <a:rPr lang="en-US" altLang="zh-CN" sz="2400" dirty="0"/>
              <a:t>1996, </a:t>
            </a:r>
            <a:r>
              <a:rPr lang="zh-CN" altLang="en-US" sz="2400" dirty="0"/>
              <a:t>被</a:t>
            </a:r>
            <a:r>
              <a:rPr lang="en-US" altLang="zh-CN" sz="2400" dirty="0"/>
              <a:t>SGI</a:t>
            </a:r>
            <a:r>
              <a:rPr lang="zh-CN" altLang="en-US" sz="2400" dirty="0"/>
              <a:t>并购</a:t>
            </a:r>
            <a:endParaRPr lang="en-US" altLang="zh-CN" sz="2400" dirty="0"/>
          </a:p>
          <a:p>
            <a:pPr lvl="1"/>
            <a:r>
              <a:rPr lang="en-US" altLang="zh-CN" sz="2000" dirty="0"/>
              <a:t>S. Cray</a:t>
            </a:r>
            <a:r>
              <a:rPr lang="zh-CN" altLang="en-US" sz="2000" dirty="0"/>
              <a:t>因车祸去世</a:t>
            </a:r>
            <a:r>
              <a:rPr lang="en-US" altLang="zh-CN" sz="2000" dirty="0"/>
              <a:t>(71</a:t>
            </a:r>
            <a:r>
              <a:rPr lang="zh-CN" altLang="en-US" sz="2000" dirty="0"/>
              <a:t>岁</a:t>
            </a:r>
            <a:r>
              <a:rPr lang="en-US" altLang="zh-CN" sz="2000" dirty="0"/>
              <a:t>)</a:t>
            </a:r>
            <a:endParaRPr lang="zh-CN" altLang="en-US" sz="2000" dirty="0"/>
          </a:p>
        </p:txBody>
      </p:sp>
      <p:sp>
        <p:nvSpPr>
          <p:cNvPr id="7" name="内容占位符 6"/>
          <p:cNvSpPr>
            <a:spLocks noGrp="1"/>
          </p:cNvSpPr>
          <p:nvPr>
            <p:ph sz="half" idx="2"/>
          </p:nvPr>
        </p:nvSpPr>
        <p:spPr>
          <a:xfrm>
            <a:off x="6240016" y="1628800"/>
            <a:ext cx="4280024" cy="4610100"/>
          </a:xfrm>
        </p:spPr>
        <p:txBody>
          <a:bodyPr/>
          <a:lstStyle/>
          <a:p>
            <a:r>
              <a:rPr lang="en-US" altLang="zh-CN" sz="2400" dirty="0"/>
              <a:t>1987, </a:t>
            </a:r>
            <a:r>
              <a:rPr lang="en-US" altLang="zh-CN" sz="2400" dirty="0" err="1"/>
              <a:t>Tera</a:t>
            </a:r>
            <a:r>
              <a:rPr lang="zh-CN" altLang="en-US" sz="2400" dirty="0"/>
              <a:t>成立</a:t>
            </a:r>
            <a:endParaRPr lang="en-US" altLang="zh-CN" sz="2400" dirty="0"/>
          </a:p>
          <a:p>
            <a:r>
              <a:rPr lang="en-US" altLang="zh-CN" sz="2400" dirty="0"/>
              <a:t>1991, MTA</a:t>
            </a:r>
            <a:r>
              <a:rPr lang="zh-CN" altLang="en-US" sz="2400" dirty="0"/>
              <a:t>硬件完成</a:t>
            </a:r>
            <a:endParaRPr lang="en-US" altLang="zh-CN" sz="2400" dirty="0"/>
          </a:p>
          <a:p>
            <a:r>
              <a:rPr lang="en-US" altLang="zh-CN" sz="2400" dirty="0"/>
              <a:t>1995, NASDAQ</a:t>
            </a:r>
            <a:r>
              <a:rPr lang="zh-CN" altLang="en-US" sz="2400" dirty="0"/>
              <a:t>上市</a:t>
            </a:r>
            <a:endParaRPr lang="en-US" altLang="zh-CN" sz="2400" dirty="0"/>
          </a:p>
          <a:p>
            <a:pPr lvl="1"/>
            <a:r>
              <a:rPr lang="zh-CN" altLang="en-US" sz="2000" dirty="0"/>
              <a:t>收到</a:t>
            </a:r>
            <a:r>
              <a:rPr lang="en-US" altLang="zh-CN" sz="2000" dirty="0"/>
              <a:t>MTA</a:t>
            </a:r>
            <a:r>
              <a:rPr lang="zh-CN" altLang="en-US" sz="2000" dirty="0"/>
              <a:t>的第一个订单</a:t>
            </a:r>
            <a:endParaRPr lang="en-US" altLang="zh-CN" sz="2000" dirty="0"/>
          </a:p>
          <a:p>
            <a:pPr lvl="1"/>
            <a:r>
              <a:rPr lang="en-US" altLang="zh-CN" sz="2000" dirty="0"/>
              <a:t>San Diego</a:t>
            </a:r>
            <a:r>
              <a:rPr lang="zh-CN" altLang="en-US" sz="2000" dirty="0"/>
              <a:t>超算中心</a:t>
            </a:r>
            <a:endParaRPr lang="en-US" altLang="zh-CN" sz="2000" dirty="0"/>
          </a:p>
          <a:p>
            <a:r>
              <a:rPr lang="en-US" altLang="zh-CN" sz="2400" dirty="0"/>
              <a:t>2000</a:t>
            </a:r>
            <a:r>
              <a:rPr lang="zh-CN" altLang="en-US" sz="2400" dirty="0"/>
              <a:t>，收购</a:t>
            </a:r>
            <a:r>
              <a:rPr lang="en-US" altLang="zh-CN" sz="2400" dirty="0"/>
              <a:t>SGI</a:t>
            </a:r>
            <a:r>
              <a:rPr lang="zh-CN" altLang="en-US" sz="2400" dirty="0"/>
              <a:t>的</a:t>
            </a:r>
            <a:r>
              <a:rPr lang="en-US" altLang="zh-CN" sz="2400" dirty="0"/>
              <a:t>Cray BU</a:t>
            </a:r>
          </a:p>
          <a:p>
            <a:pPr lvl="1"/>
            <a:r>
              <a:rPr lang="zh-CN" altLang="en-US" sz="2000" dirty="0"/>
              <a:t>改名为</a:t>
            </a:r>
            <a:r>
              <a:rPr lang="en-US" altLang="zh-CN" sz="2000" dirty="0"/>
              <a:t>Cray Inc.</a:t>
            </a:r>
          </a:p>
          <a:p>
            <a:r>
              <a:rPr lang="en-US" altLang="zh-CN" sz="2400" dirty="0"/>
              <a:t>MTA</a:t>
            </a:r>
            <a:r>
              <a:rPr lang="zh-CN" altLang="en-US" sz="2400" dirty="0"/>
              <a:t>的后续发展</a:t>
            </a:r>
            <a:endParaRPr lang="en-US" altLang="zh-CN" sz="2400" dirty="0"/>
          </a:p>
          <a:p>
            <a:pPr lvl="1"/>
            <a:r>
              <a:rPr lang="en-US" altLang="zh-CN" sz="2000" dirty="0"/>
              <a:t>XMT</a:t>
            </a:r>
            <a:r>
              <a:rPr lang="zh-CN" altLang="en-US" sz="2000" dirty="0"/>
              <a:t>中的</a:t>
            </a:r>
            <a:r>
              <a:rPr lang="en-US" altLang="zh-CN" sz="2000" dirty="0" err="1"/>
              <a:t>ThreadStorm</a:t>
            </a:r>
            <a:endParaRPr lang="en-US" altLang="zh-CN" sz="2000" dirty="0"/>
          </a:p>
          <a:p>
            <a:pPr lvl="1"/>
            <a:r>
              <a:rPr lang="zh-CN" altLang="en-US" sz="2000" dirty="0"/>
              <a:t>与</a:t>
            </a:r>
            <a:r>
              <a:rPr lang="en-US" altLang="zh-CN" sz="2000" dirty="0"/>
              <a:t>Cray XT3/4/5</a:t>
            </a:r>
            <a:r>
              <a:rPr lang="zh-CN" altLang="en-US" sz="2000" dirty="0"/>
              <a:t>配套、加速</a:t>
            </a:r>
            <a:endParaRPr lang="en-US" altLang="zh-CN" sz="2000" dirty="0"/>
          </a:p>
          <a:p>
            <a:pPr lvl="1"/>
            <a:r>
              <a:rPr lang="zh-CN" altLang="en-US" sz="2000" dirty="0"/>
              <a:t>提高大量随机访存的带宽</a:t>
            </a:r>
            <a:endParaRPr lang="en-US" altLang="zh-CN" sz="2000" dirty="0"/>
          </a:p>
          <a:p>
            <a:r>
              <a:rPr lang="zh-CN" altLang="en-US" sz="2400" dirty="0"/>
              <a:t>分出</a:t>
            </a:r>
            <a:r>
              <a:rPr lang="en-US" altLang="zh-CN" sz="2400" dirty="0" err="1"/>
              <a:t>YarcData</a:t>
            </a:r>
            <a:r>
              <a:rPr lang="zh-CN" altLang="en-US" sz="2400" dirty="0"/>
              <a:t>子公司</a:t>
            </a:r>
            <a:endParaRPr lang="en-US" altLang="zh-CN" sz="2400" dirty="0"/>
          </a:p>
          <a:p>
            <a:pPr lvl="1"/>
            <a:r>
              <a:rPr lang="en-US" altLang="zh-CN" sz="2000" dirty="0" err="1"/>
              <a:t>Urika</a:t>
            </a:r>
            <a:r>
              <a:rPr lang="zh-CN" altLang="en-US" sz="2000" dirty="0"/>
              <a:t>大数据一体机</a:t>
            </a:r>
          </a:p>
        </p:txBody>
      </p:sp>
    </p:spTree>
    <p:extLst>
      <p:ext uri="{BB962C8B-B14F-4D97-AF65-F5344CB8AC3E}">
        <p14:creationId xmlns:p14="http://schemas.microsoft.com/office/powerpoint/2010/main" val="1582291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2"/>
          <p:cNvSpPr>
            <a:spLocks noGrp="1" noChangeArrowheads="1"/>
          </p:cNvSpPr>
          <p:nvPr>
            <p:ph type="title"/>
          </p:nvPr>
        </p:nvSpPr>
        <p:spPr/>
        <p:txBody>
          <a:bodyPr/>
          <a:lstStyle/>
          <a:p>
            <a:r>
              <a:rPr lang="zh-CN" altLang="en-US" smtClean="0"/>
              <a:t>粗粒度</a:t>
            </a:r>
            <a:r>
              <a:rPr lang="en-US" altLang="zh-CN" smtClean="0"/>
              <a:t>(</a:t>
            </a:r>
            <a:r>
              <a:rPr lang="en-US" smtClean="0"/>
              <a:t>Coarse-Grain)</a:t>
            </a:r>
            <a:r>
              <a:rPr lang="zh-CN" altLang="en-US" smtClean="0"/>
              <a:t>的多线程</a:t>
            </a:r>
            <a:endParaRPr lang="en-US" dirty="0"/>
          </a:p>
        </p:txBody>
      </p:sp>
      <p:sp>
        <p:nvSpPr>
          <p:cNvPr id="1410051" name="Rectangle 3"/>
          <p:cNvSpPr>
            <a:spLocks noGrp="1" noChangeArrowheads="1"/>
          </p:cNvSpPr>
          <p:nvPr>
            <p:ph idx="1"/>
          </p:nvPr>
        </p:nvSpPr>
        <p:spPr/>
        <p:txBody>
          <a:bodyPr/>
          <a:lstStyle/>
          <a:p>
            <a:r>
              <a:rPr lang="en-US" dirty="0" err="1" smtClean="0"/>
              <a:t>Tera</a:t>
            </a:r>
            <a:r>
              <a:rPr lang="en-US" dirty="0" smtClean="0"/>
              <a:t> MTA</a:t>
            </a:r>
            <a:r>
              <a:rPr lang="zh-CN" altLang="en-US" dirty="0" smtClean="0"/>
              <a:t>是针对超级计算应用设计的</a:t>
            </a:r>
            <a:endParaRPr lang="en-US" altLang="zh-CN" dirty="0" smtClean="0"/>
          </a:p>
          <a:p>
            <a:pPr lvl="1"/>
            <a:r>
              <a:rPr lang="zh-CN" altLang="en-US" dirty="0" smtClean="0"/>
              <a:t>处理的数据集很大、局部性较低</a:t>
            </a:r>
            <a:endParaRPr lang="en-US" dirty="0" smtClean="0"/>
          </a:p>
          <a:p>
            <a:pPr lvl="1"/>
            <a:r>
              <a:rPr lang="zh-CN" altLang="en-US" dirty="0" smtClean="0"/>
              <a:t>所以不用数据</a:t>
            </a:r>
            <a:r>
              <a:rPr lang="en-US" dirty="0" smtClean="0"/>
              <a:t>cache</a:t>
            </a:r>
            <a:r>
              <a:rPr lang="zh-CN" altLang="en-US" dirty="0" smtClean="0"/>
              <a:t>，但需要许多并行线程，以掩盖存储器延迟</a:t>
            </a:r>
            <a:endParaRPr lang="en-US" altLang="zh-CN" dirty="0" smtClean="0"/>
          </a:p>
          <a:p>
            <a:pPr lvl="1"/>
            <a:r>
              <a:rPr lang="zh-CN" altLang="en-US" dirty="0" smtClean="0"/>
              <a:t>是为细粒度</a:t>
            </a:r>
            <a:r>
              <a:rPr lang="en-US" altLang="zh-CN" dirty="0" smtClean="0"/>
              <a:t>(fine grain)</a:t>
            </a:r>
            <a:r>
              <a:rPr lang="zh-CN" altLang="en-US" dirty="0" smtClean="0"/>
              <a:t>的多线程</a:t>
            </a:r>
            <a:endParaRPr lang="en-US" dirty="0" smtClean="0"/>
          </a:p>
          <a:p>
            <a:r>
              <a:rPr lang="zh-CN" altLang="en-US" dirty="0" smtClean="0"/>
              <a:t>许多其它应用中，</a:t>
            </a:r>
            <a:r>
              <a:rPr lang="en-US" dirty="0" smtClean="0"/>
              <a:t>cache</a:t>
            </a:r>
            <a:r>
              <a:rPr lang="zh-CN" altLang="en-US" dirty="0" smtClean="0"/>
              <a:t>能发挥不少作用</a:t>
            </a:r>
            <a:endParaRPr lang="en-US" dirty="0" smtClean="0"/>
          </a:p>
          <a:p>
            <a:pPr lvl="1"/>
            <a:r>
              <a:rPr lang="zh-CN" altLang="en-US" dirty="0" smtClean="0"/>
              <a:t>如果</a:t>
            </a:r>
            <a:r>
              <a:rPr lang="en-US" altLang="zh-CN" dirty="0" smtClean="0"/>
              <a:t>cache</a:t>
            </a:r>
            <a:r>
              <a:rPr lang="zh-CN" altLang="en-US" dirty="0" smtClean="0"/>
              <a:t>经常命中，流水线中气泡就较少</a:t>
            </a:r>
            <a:endParaRPr lang="en-US" dirty="0" smtClean="0"/>
          </a:p>
          <a:p>
            <a:pPr lvl="1"/>
            <a:r>
              <a:rPr lang="zh-CN" altLang="en-US" dirty="0" smtClean="0"/>
              <a:t>增加少量线程，可掩盖偶发的</a:t>
            </a:r>
            <a:r>
              <a:rPr lang="en-US" altLang="zh-CN" dirty="0" smtClean="0"/>
              <a:t>cache</a:t>
            </a:r>
            <a:r>
              <a:rPr lang="zh-CN" altLang="en-US" dirty="0" smtClean="0"/>
              <a:t>缺失延迟</a:t>
            </a:r>
            <a:endParaRPr lang="en-US" dirty="0" smtClean="0"/>
          </a:p>
          <a:p>
            <a:pPr lvl="1"/>
            <a:r>
              <a:rPr lang="zh-CN" altLang="en-US" dirty="0" smtClean="0"/>
              <a:t>在发生</a:t>
            </a:r>
            <a:r>
              <a:rPr lang="en-US" altLang="zh-CN" dirty="0" smtClean="0"/>
              <a:t>cache</a:t>
            </a:r>
            <a:r>
              <a:rPr lang="zh-CN" altLang="en-US" dirty="0" smtClean="0"/>
              <a:t>缺失时，切换线程</a:t>
            </a:r>
            <a:endParaRPr lang="en-US" altLang="zh-CN" dirty="0" smtClean="0"/>
          </a:p>
          <a:p>
            <a:pPr lvl="1"/>
            <a:r>
              <a:rPr lang="zh-CN" altLang="en-US" dirty="0" smtClean="0"/>
              <a:t>是为粗粒度的多线程</a:t>
            </a:r>
            <a:endParaRPr lang="en-US" dirty="0" smtClean="0"/>
          </a:p>
          <a:p>
            <a:endParaRPr lang="en-US" dirty="0"/>
          </a:p>
        </p:txBody>
      </p:sp>
    </p:spTree>
    <p:extLst>
      <p:ext uri="{BB962C8B-B14F-4D97-AF65-F5344CB8AC3E}">
        <p14:creationId xmlns:p14="http://schemas.microsoft.com/office/powerpoint/2010/main" val="378072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100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100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4100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4100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4100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41005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41005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41005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410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8" name="Rectangle 2"/>
          <p:cNvSpPr>
            <a:spLocks noGrp="1" noChangeArrowheads="1"/>
          </p:cNvSpPr>
          <p:nvPr>
            <p:ph type="title"/>
          </p:nvPr>
        </p:nvSpPr>
        <p:spPr/>
        <p:txBody>
          <a:bodyPr/>
          <a:lstStyle/>
          <a:p>
            <a:r>
              <a:rPr lang="en-US" smtClean="0"/>
              <a:t>MIT Alewife (1990)</a:t>
            </a:r>
            <a:endParaRPr lang="en-US" dirty="0"/>
          </a:p>
        </p:txBody>
      </p:sp>
      <p:sp>
        <p:nvSpPr>
          <p:cNvPr id="1412099" name="Rectangle 3"/>
          <p:cNvSpPr>
            <a:spLocks noGrp="1" noChangeArrowheads="1"/>
          </p:cNvSpPr>
          <p:nvPr>
            <p:ph idx="1"/>
          </p:nvPr>
        </p:nvSpPr>
        <p:spPr/>
        <p:txBody>
          <a:bodyPr/>
          <a:lstStyle/>
          <a:p>
            <a:r>
              <a:rPr lang="zh-CN" altLang="en-US" smtClean="0"/>
              <a:t>改过的</a:t>
            </a:r>
            <a:r>
              <a:rPr lang="en-US" smtClean="0"/>
              <a:t>SPARC</a:t>
            </a:r>
            <a:r>
              <a:rPr lang="zh-CN" altLang="en-US" smtClean="0"/>
              <a:t>处理器</a:t>
            </a:r>
            <a:endParaRPr lang="en-US" smtClean="0"/>
          </a:p>
          <a:p>
            <a:pPr lvl="1"/>
            <a:r>
              <a:rPr lang="zh-CN" altLang="en-US" smtClean="0"/>
              <a:t>用寄存器窗口保持不同线程的上下文</a:t>
            </a:r>
            <a:endParaRPr lang="en-US" smtClean="0"/>
          </a:p>
          <a:p>
            <a:r>
              <a:rPr lang="zh-CN" altLang="en-US" smtClean="0"/>
              <a:t>每个结点最多</a:t>
            </a:r>
            <a:r>
              <a:rPr lang="en-US" altLang="zh-CN" smtClean="0"/>
              <a:t>4</a:t>
            </a:r>
            <a:r>
              <a:rPr lang="zh-CN" altLang="en-US" smtClean="0"/>
              <a:t>个线程</a:t>
            </a:r>
            <a:endParaRPr lang="en-US" smtClean="0"/>
          </a:p>
          <a:p>
            <a:r>
              <a:rPr lang="zh-CN" altLang="en-US" smtClean="0"/>
              <a:t>本地</a:t>
            </a:r>
            <a:r>
              <a:rPr lang="en-US" altLang="zh-CN" smtClean="0"/>
              <a:t>cache</a:t>
            </a:r>
            <a:r>
              <a:rPr lang="zh-CN" altLang="en-US" smtClean="0"/>
              <a:t>缺失时，切换线程</a:t>
            </a:r>
            <a:endParaRPr lang="en-US" smtClean="0"/>
          </a:p>
          <a:p>
            <a:endParaRPr lang="en-US" smtClean="0"/>
          </a:p>
          <a:p>
            <a:endParaRPr lang="en-US" dirty="0"/>
          </a:p>
        </p:txBody>
      </p:sp>
      <p:pic>
        <p:nvPicPr>
          <p:cNvPr id="1412100" name="Picture 4" descr="16-extender"/>
          <p:cNvPicPr>
            <a:picLocks noChangeAspect="1" noChangeArrowheads="1"/>
          </p:cNvPicPr>
          <p:nvPr/>
        </p:nvPicPr>
        <p:blipFill>
          <a:blip r:embed="rId3"/>
          <a:srcRect/>
          <a:stretch>
            <a:fillRect/>
          </a:stretch>
        </p:blipFill>
        <p:spPr bwMode="auto">
          <a:xfrm>
            <a:off x="7896200" y="1716360"/>
            <a:ext cx="3302000" cy="4953000"/>
          </a:xfrm>
          <a:prstGeom prst="rect">
            <a:avLst/>
          </a:prstGeom>
          <a:noFill/>
          <a:ln w="9525">
            <a:noFill/>
            <a:miter lim="800000"/>
            <a:headEnd/>
            <a:tailEnd/>
          </a:ln>
        </p:spPr>
      </p:pic>
    </p:spTree>
    <p:extLst>
      <p:ext uri="{BB962C8B-B14F-4D97-AF65-F5344CB8AC3E}">
        <p14:creationId xmlns:p14="http://schemas.microsoft.com/office/powerpoint/2010/main" val="40521830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6" name="Rectangle 1026"/>
          <p:cNvSpPr>
            <a:spLocks noGrp="1" noChangeArrowheads="1"/>
          </p:cNvSpPr>
          <p:nvPr>
            <p:ph type="title"/>
          </p:nvPr>
        </p:nvSpPr>
        <p:spPr/>
        <p:txBody>
          <a:bodyPr/>
          <a:lstStyle/>
          <a:p>
            <a:r>
              <a:rPr lang="en-US" smtClean="0"/>
              <a:t>IBM PowerPC RS64-IV (2000)</a:t>
            </a:r>
            <a:endParaRPr lang="en-US"/>
          </a:p>
        </p:txBody>
      </p:sp>
      <p:sp>
        <p:nvSpPr>
          <p:cNvPr id="1414147" name="Rectangle 1027"/>
          <p:cNvSpPr>
            <a:spLocks noGrp="1" noChangeArrowheads="1"/>
          </p:cNvSpPr>
          <p:nvPr>
            <p:ph idx="1"/>
          </p:nvPr>
        </p:nvSpPr>
        <p:spPr/>
        <p:txBody>
          <a:bodyPr/>
          <a:lstStyle/>
          <a:p>
            <a:r>
              <a:rPr lang="zh-CN" altLang="en-US" dirty="0" smtClean="0"/>
              <a:t>商品化的粗粒度多线程</a:t>
            </a:r>
            <a:r>
              <a:rPr lang="en-US" dirty="0" smtClean="0"/>
              <a:t>CPU</a:t>
            </a:r>
            <a:r>
              <a:rPr lang="zh-CN" altLang="en-US" dirty="0" smtClean="0"/>
              <a:t>芯片</a:t>
            </a:r>
            <a:endParaRPr lang="en-US" dirty="0" smtClean="0"/>
          </a:p>
          <a:p>
            <a:r>
              <a:rPr lang="zh-CN" altLang="en-US" dirty="0" smtClean="0"/>
              <a:t>基于</a:t>
            </a:r>
            <a:r>
              <a:rPr lang="en-US" dirty="0" smtClean="0"/>
              <a:t>PowerPC</a:t>
            </a:r>
            <a:r>
              <a:rPr lang="zh-CN" altLang="en-US" dirty="0" smtClean="0"/>
              <a:t>架构</a:t>
            </a:r>
            <a:endParaRPr lang="en-US" altLang="zh-CN" dirty="0" smtClean="0"/>
          </a:p>
          <a:p>
            <a:pPr lvl="1"/>
            <a:r>
              <a:rPr lang="zh-CN" altLang="en-US" dirty="0" smtClean="0"/>
              <a:t>四发射、顺序、五级流水线</a:t>
            </a:r>
            <a:endParaRPr lang="en-US" dirty="0" smtClean="0"/>
          </a:p>
          <a:p>
            <a:pPr lvl="1"/>
            <a:r>
              <a:rPr lang="zh-CN" altLang="en-US" dirty="0" smtClean="0"/>
              <a:t>每个物理</a:t>
            </a:r>
            <a:r>
              <a:rPr lang="en-US" dirty="0" smtClean="0"/>
              <a:t>CPU</a:t>
            </a:r>
            <a:r>
              <a:rPr lang="zh-CN" altLang="en-US" dirty="0" smtClean="0"/>
              <a:t>支持两个虚拟</a:t>
            </a:r>
            <a:r>
              <a:rPr lang="en-US" dirty="0" smtClean="0"/>
              <a:t>CPU</a:t>
            </a:r>
          </a:p>
          <a:p>
            <a:pPr lvl="1"/>
            <a:r>
              <a:rPr lang="en-US" dirty="0" smtClean="0"/>
              <a:t>L2 cache</a:t>
            </a:r>
            <a:r>
              <a:rPr lang="zh-CN" altLang="en-US" dirty="0" smtClean="0"/>
              <a:t>缺失时，清空流水线，切换到第二线程去执行</a:t>
            </a:r>
            <a:endParaRPr lang="en-US" dirty="0" smtClean="0"/>
          </a:p>
          <a:p>
            <a:pPr lvl="1"/>
            <a:r>
              <a:rPr lang="zh-CN" altLang="en-US" dirty="0" smtClean="0"/>
              <a:t>短流水线，使清空损失最小化</a:t>
            </a:r>
            <a:endParaRPr lang="en-US" altLang="zh-CN" dirty="0" smtClean="0"/>
          </a:p>
          <a:p>
            <a:pPr lvl="2"/>
            <a:r>
              <a:rPr lang="en-US" dirty="0" smtClean="0"/>
              <a:t>4</a:t>
            </a:r>
            <a:r>
              <a:rPr lang="zh-CN" altLang="en-US" dirty="0" smtClean="0"/>
              <a:t>个周期，与存储器访问延迟相比，足够小</a:t>
            </a:r>
            <a:endParaRPr lang="en-US" dirty="0" smtClean="0"/>
          </a:p>
          <a:p>
            <a:pPr lvl="1"/>
            <a:r>
              <a:rPr lang="zh-CN" altLang="en-US" dirty="0" smtClean="0"/>
              <a:t>清空流水线，可简化例外的处理</a:t>
            </a:r>
            <a:endParaRPr lang="en-US" dirty="0" smtClean="0"/>
          </a:p>
          <a:p>
            <a:endParaRPr lang="en-US" dirty="0"/>
          </a:p>
        </p:txBody>
      </p:sp>
    </p:spTree>
    <p:extLst>
      <p:ext uri="{BB962C8B-B14F-4D97-AF65-F5344CB8AC3E}">
        <p14:creationId xmlns:p14="http://schemas.microsoft.com/office/powerpoint/2010/main" val="41184352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2434" name="Rectangle 2"/>
          <p:cNvSpPr>
            <a:spLocks noGrp="1" noChangeArrowheads="1"/>
          </p:cNvSpPr>
          <p:nvPr>
            <p:ph type="title"/>
          </p:nvPr>
        </p:nvSpPr>
        <p:spPr/>
        <p:txBody>
          <a:bodyPr/>
          <a:lstStyle/>
          <a:p>
            <a:r>
              <a:rPr lang="en-US" altLang="en-US" smtClean="0"/>
              <a:t>Multithreaded Example: IBM AS/400</a:t>
            </a:r>
            <a:endParaRPr lang="en-US" altLang="en-US"/>
          </a:p>
        </p:txBody>
      </p:sp>
      <p:sp>
        <p:nvSpPr>
          <p:cNvPr id="1042435" name="Rectangle 3"/>
          <p:cNvSpPr>
            <a:spLocks noGrp="1" noChangeArrowheads="1"/>
          </p:cNvSpPr>
          <p:nvPr>
            <p:ph type="body" idx="1"/>
          </p:nvPr>
        </p:nvSpPr>
        <p:spPr/>
        <p:txBody>
          <a:bodyPr/>
          <a:lstStyle/>
          <a:p>
            <a:r>
              <a:rPr lang="en-US" altLang="en-US" dirty="0" smtClean="0"/>
              <a:t>IBM Power III processor, “Pulsar” </a:t>
            </a:r>
          </a:p>
          <a:p>
            <a:pPr lvl="1"/>
            <a:r>
              <a:rPr lang="en-US" altLang="en-US" dirty="0" smtClean="0"/>
              <a:t>PowerPC microprocessor that supports 2 IBM product lines: the RS/6000 series and the AS/400 series</a:t>
            </a:r>
          </a:p>
          <a:p>
            <a:pPr lvl="1"/>
            <a:r>
              <a:rPr lang="en-US" altLang="en-US" dirty="0" smtClean="0"/>
              <a:t>Both aimed at commercial servers and focus on throughput in common commercial applications</a:t>
            </a:r>
          </a:p>
          <a:p>
            <a:pPr lvl="1"/>
            <a:r>
              <a:rPr lang="en-US" altLang="en-US" dirty="0" smtClean="0"/>
              <a:t>such applications encounter high cache and TLB miss rates and thus degraded CPI</a:t>
            </a:r>
          </a:p>
          <a:p>
            <a:r>
              <a:rPr lang="en-US" altLang="en-US" dirty="0"/>
              <a:t>I</a:t>
            </a:r>
            <a:r>
              <a:rPr lang="en-US" altLang="en-US" dirty="0" smtClean="0"/>
              <a:t>nclude a multithreading capability to enhance throughput and make use of the processor during long TLB or cache-miss stall</a:t>
            </a:r>
          </a:p>
          <a:p>
            <a:r>
              <a:rPr lang="en-US" altLang="en-US" dirty="0" smtClean="0"/>
              <a:t>Pulsar supports 2 threads: little clock rate, silicon impact</a:t>
            </a:r>
          </a:p>
          <a:p>
            <a:r>
              <a:rPr lang="en-US" altLang="en-US" dirty="0" smtClean="0"/>
              <a:t>Thread switched only on long latency stall</a:t>
            </a:r>
            <a:endParaRPr lang="en-US" altLang="en-US" dirty="0"/>
          </a:p>
        </p:txBody>
      </p:sp>
    </p:spTree>
    <p:extLst>
      <p:ext uri="{BB962C8B-B14F-4D97-AF65-F5344CB8AC3E}">
        <p14:creationId xmlns:p14="http://schemas.microsoft.com/office/powerpoint/2010/main" val="18258028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2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42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042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04243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4243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4243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0424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243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3460" name="Rectangle 4"/>
          <p:cNvSpPr>
            <a:spLocks noGrp="1" noChangeArrowheads="1"/>
          </p:cNvSpPr>
          <p:nvPr>
            <p:ph type="title"/>
          </p:nvPr>
        </p:nvSpPr>
        <p:spPr/>
        <p:txBody>
          <a:bodyPr/>
          <a:lstStyle/>
          <a:p>
            <a:r>
              <a:rPr lang="en-US" altLang="en-US" smtClean="0"/>
              <a:t>Multithreaded Example: IBM AS/400</a:t>
            </a:r>
            <a:endParaRPr lang="en-US" altLang="en-US"/>
          </a:p>
        </p:txBody>
      </p:sp>
      <p:sp>
        <p:nvSpPr>
          <p:cNvPr id="1043461" name="Rectangle 5"/>
          <p:cNvSpPr>
            <a:spLocks noGrp="1" noChangeArrowheads="1"/>
          </p:cNvSpPr>
          <p:nvPr>
            <p:ph type="body" idx="1"/>
          </p:nvPr>
        </p:nvSpPr>
        <p:spPr/>
        <p:txBody>
          <a:bodyPr/>
          <a:lstStyle/>
          <a:p>
            <a:r>
              <a:rPr lang="en-US" altLang="en-US" dirty="0" smtClean="0"/>
              <a:t>Pulsar: 2 copies of register files &amp; PC</a:t>
            </a:r>
          </a:p>
          <a:p>
            <a:r>
              <a:rPr lang="en-US" altLang="en-US" dirty="0" smtClean="0"/>
              <a:t>&lt; 10% impact on die size</a:t>
            </a:r>
          </a:p>
          <a:p>
            <a:r>
              <a:rPr lang="en-US" altLang="en-US" dirty="0" smtClean="0"/>
              <a:t>Added special register for max no. clock cycles between thread switches:</a:t>
            </a:r>
          </a:p>
          <a:p>
            <a:pPr lvl="1"/>
            <a:r>
              <a:rPr lang="en-US" altLang="en-US" dirty="0" smtClean="0"/>
              <a:t>Avoid starvation of other thread</a:t>
            </a:r>
          </a:p>
          <a:p>
            <a:r>
              <a:rPr lang="en-US" altLang="en-US" dirty="0" smtClean="0"/>
              <a:t>This example </a:t>
            </a:r>
            <a:r>
              <a:rPr lang="en-US" altLang="en-US" dirty="0"/>
              <a:t>shows coarse-grained </a:t>
            </a:r>
            <a:r>
              <a:rPr lang="en-US" altLang="en-US" dirty="0" smtClean="0"/>
              <a:t>multithreading</a:t>
            </a:r>
          </a:p>
          <a:p>
            <a:pPr lvl="1"/>
            <a:r>
              <a:rPr lang="en-US" altLang="en-US" dirty="0" smtClean="0"/>
              <a:t>Thread switching occurs only when long latency (L2$ or TLB miss)</a:t>
            </a:r>
          </a:p>
          <a:p>
            <a:r>
              <a:rPr lang="en-US" altLang="en-US" dirty="0" smtClean="0"/>
              <a:t>Another way is fine-grained multithreading</a:t>
            </a:r>
          </a:p>
          <a:p>
            <a:pPr lvl="1"/>
            <a:r>
              <a:rPr lang="en-US" altLang="zh-CN" dirty="0" smtClean="0"/>
              <a:t>Every clock cycle, fetch instruction from a new thread</a:t>
            </a:r>
          </a:p>
          <a:p>
            <a:pPr lvl="1"/>
            <a:r>
              <a:rPr lang="en-US" altLang="zh-CN" dirty="0" smtClean="0"/>
              <a:t>Also called cycle switch or round-robin multithreading</a:t>
            </a:r>
          </a:p>
          <a:p>
            <a:pPr lvl="1"/>
            <a:r>
              <a:rPr lang="en-US" altLang="zh-CN" dirty="0" smtClean="0"/>
              <a:t>Recent example: Sun </a:t>
            </a:r>
            <a:r>
              <a:rPr lang="en-US" altLang="zh-CN" dirty="0" err="1" smtClean="0"/>
              <a:t>UltraSPARC</a:t>
            </a:r>
            <a:r>
              <a:rPr lang="en-US" altLang="zh-CN" dirty="0" smtClean="0"/>
              <a:t> T1/T2 (</a:t>
            </a:r>
            <a:r>
              <a:rPr lang="en-GB" altLang="zh-CN" dirty="0"/>
              <a:t>Niagara</a:t>
            </a:r>
            <a:r>
              <a:rPr lang="en-US" altLang="zh-CN" dirty="0" smtClean="0"/>
              <a:t>)</a:t>
            </a:r>
            <a:endParaRPr lang="zh-CN" altLang="en-US" dirty="0"/>
          </a:p>
        </p:txBody>
      </p:sp>
    </p:spTree>
    <p:extLst>
      <p:ext uri="{BB962C8B-B14F-4D97-AF65-F5344CB8AC3E}">
        <p14:creationId xmlns:p14="http://schemas.microsoft.com/office/powerpoint/2010/main" val="19519912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346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4346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4346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04346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4346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04346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4346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043461">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043461">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0434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346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CN" smtClean="0"/>
              <a:t>Sun(</a:t>
            </a:r>
            <a:r>
              <a:rPr lang="en-US" smtClean="0"/>
              <a:t>Oracle)</a:t>
            </a:r>
            <a:r>
              <a:rPr lang="zh-CN" altLang="en-US" smtClean="0"/>
              <a:t>的</a:t>
            </a:r>
            <a:r>
              <a:rPr lang="en-US" smtClean="0"/>
              <a:t>Niagara</a:t>
            </a:r>
            <a:r>
              <a:rPr lang="zh-CN" altLang="en-US" smtClean="0"/>
              <a:t>处理器</a:t>
            </a:r>
            <a:endParaRPr lang="en-US" dirty="0"/>
          </a:p>
        </p:txBody>
      </p:sp>
      <p:sp>
        <p:nvSpPr>
          <p:cNvPr id="5" name="Content Placeholder 4"/>
          <p:cNvSpPr>
            <a:spLocks noGrp="1"/>
          </p:cNvSpPr>
          <p:nvPr>
            <p:ph idx="1"/>
          </p:nvPr>
        </p:nvSpPr>
        <p:spPr>
          <a:xfrm>
            <a:off x="551384" y="1556792"/>
            <a:ext cx="10802416" cy="5112568"/>
          </a:xfrm>
        </p:spPr>
        <p:txBody>
          <a:bodyPr/>
          <a:lstStyle/>
          <a:p>
            <a:pPr>
              <a:lnSpc>
                <a:spcPct val="100000"/>
              </a:lnSpc>
            </a:pPr>
            <a:r>
              <a:rPr lang="zh-CN" altLang="en-US" dirty="0" smtClean="0"/>
              <a:t>目标应用场景是数据中心</a:t>
            </a:r>
            <a:endParaRPr lang="en-US" altLang="zh-CN" dirty="0" smtClean="0"/>
          </a:p>
          <a:p>
            <a:pPr lvl="1">
              <a:lnSpc>
                <a:spcPct val="100000"/>
              </a:lnSpc>
            </a:pPr>
            <a:r>
              <a:rPr lang="zh-CN" altLang="en-US" dirty="0" smtClean="0"/>
              <a:t>大量并发请求的</a:t>
            </a:r>
            <a:r>
              <a:rPr lang="en-US" altLang="zh-CN" dirty="0" smtClean="0"/>
              <a:t>web</a:t>
            </a:r>
            <a:r>
              <a:rPr lang="zh-CN" altLang="en-US" dirty="0" smtClean="0"/>
              <a:t>服务器和数据库应用</a:t>
            </a:r>
            <a:endParaRPr lang="en-US" dirty="0" smtClean="0"/>
          </a:p>
          <a:p>
            <a:pPr lvl="1">
              <a:lnSpc>
                <a:spcPct val="100000"/>
              </a:lnSpc>
            </a:pPr>
            <a:r>
              <a:rPr lang="zh-CN" altLang="en-US" dirty="0" smtClean="0"/>
              <a:t>提供多个简单核，每核支持多个硬件线程</a:t>
            </a:r>
            <a:endParaRPr lang="en-US" altLang="zh-CN" dirty="0" smtClean="0"/>
          </a:p>
          <a:p>
            <a:pPr lvl="1">
              <a:lnSpc>
                <a:spcPct val="100000"/>
              </a:lnSpc>
            </a:pPr>
            <a:r>
              <a:rPr lang="zh-CN" altLang="en-US" dirty="0" smtClean="0"/>
              <a:t>以较低的单线程性能，减少单位操作的能耗</a:t>
            </a:r>
            <a:endParaRPr lang="en-US" dirty="0" smtClean="0"/>
          </a:p>
          <a:p>
            <a:pPr>
              <a:lnSpc>
                <a:spcPct val="100000"/>
              </a:lnSpc>
            </a:pPr>
            <a:r>
              <a:rPr lang="zh-CN" altLang="en-US" dirty="0" smtClean="0"/>
              <a:t>具体产品情况</a:t>
            </a:r>
            <a:endParaRPr lang="en-US" altLang="zh-CN" dirty="0" smtClean="0"/>
          </a:p>
          <a:p>
            <a:pPr lvl="1">
              <a:lnSpc>
                <a:spcPct val="100000"/>
              </a:lnSpc>
            </a:pPr>
            <a:r>
              <a:rPr lang="en-US" dirty="0" smtClean="0"/>
              <a:t>Niagara-1 [2004], 8 cores, 4 threads/core</a:t>
            </a:r>
          </a:p>
          <a:p>
            <a:pPr lvl="1">
              <a:lnSpc>
                <a:spcPct val="100000"/>
              </a:lnSpc>
            </a:pPr>
            <a:r>
              <a:rPr lang="en-US" dirty="0" smtClean="0"/>
              <a:t>Niagara-2 [2007], 8 cores, 8 threads/core</a:t>
            </a:r>
          </a:p>
          <a:p>
            <a:pPr lvl="1">
              <a:lnSpc>
                <a:spcPct val="100000"/>
              </a:lnSpc>
            </a:pPr>
            <a:r>
              <a:rPr lang="en-US" dirty="0" smtClean="0"/>
              <a:t>Niagara-3 [2009], 16 cores, 8 threads/core</a:t>
            </a:r>
          </a:p>
          <a:p>
            <a:pPr lvl="1">
              <a:lnSpc>
                <a:spcPct val="100000"/>
              </a:lnSpc>
            </a:pPr>
            <a:r>
              <a:rPr lang="en-US" dirty="0" smtClean="0"/>
              <a:t>T4 [2011], 8 cores, 8 threads/core</a:t>
            </a:r>
          </a:p>
          <a:p>
            <a:pPr lvl="1">
              <a:lnSpc>
                <a:spcPct val="100000"/>
              </a:lnSpc>
            </a:pPr>
            <a:r>
              <a:rPr lang="en-US" dirty="0" smtClean="0"/>
              <a:t>T5 [2012], 16 cores, 8 threads/core</a:t>
            </a:r>
            <a:endParaRPr lang="en-US" dirty="0"/>
          </a:p>
        </p:txBody>
      </p:sp>
      <p:pic>
        <p:nvPicPr>
          <p:cNvPr id="6" name="Picture 1"/>
          <p:cNvPicPr>
            <a:picLocks noChangeAspect="1" noChangeArrowheads="1"/>
          </p:cNvPicPr>
          <p:nvPr/>
        </p:nvPicPr>
        <p:blipFill>
          <a:blip r:embed="rId2"/>
          <a:srcRect/>
          <a:stretch>
            <a:fillRect/>
          </a:stretch>
        </p:blipFill>
        <p:spPr bwMode="auto">
          <a:xfrm>
            <a:off x="8040216" y="1628801"/>
            <a:ext cx="2350624" cy="2232248"/>
          </a:xfrm>
          <a:prstGeom prst="rect">
            <a:avLst/>
          </a:prstGeom>
          <a:noFill/>
          <a:ln w="9525">
            <a:noFill/>
            <a:round/>
            <a:headEnd/>
            <a:tailEnd/>
          </a:ln>
          <a:effectLst/>
        </p:spPr>
      </p:pic>
      <p:pic>
        <p:nvPicPr>
          <p:cNvPr id="9" name="图片 8"/>
          <p:cNvPicPr>
            <a:picLocks noChangeAspect="1"/>
          </p:cNvPicPr>
          <p:nvPr/>
        </p:nvPicPr>
        <p:blipFill>
          <a:blip r:embed="rId3"/>
          <a:stretch>
            <a:fillRect/>
          </a:stretch>
        </p:blipFill>
        <p:spPr>
          <a:xfrm>
            <a:off x="7212123" y="3933057"/>
            <a:ext cx="4860541" cy="2736304"/>
          </a:xfrm>
          <a:prstGeom prst="rect">
            <a:avLst/>
          </a:prstGeom>
        </p:spPr>
      </p:pic>
    </p:spTree>
    <p:extLst>
      <p:ext uri="{BB962C8B-B14F-4D97-AF65-F5344CB8AC3E}">
        <p14:creationId xmlns:p14="http://schemas.microsoft.com/office/powerpoint/2010/main" val="12801695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smtClean="0"/>
              <a:t>设计</a:t>
            </a:r>
            <a:r>
              <a:rPr lang="en-US" altLang="zh-CN" dirty="0" smtClean="0"/>
              <a:t>Niagara</a:t>
            </a:r>
            <a:r>
              <a:rPr lang="zh-CN" altLang="en-US" dirty="0" smtClean="0"/>
              <a:t>的动机</a:t>
            </a:r>
            <a:endParaRPr lang="zh-CN" altLang="en-US" dirty="0"/>
          </a:p>
        </p:txBody>
      </p:sp>
      <p:sp>
        <p:nvSpPr>
          <p:cNvPr id="9" name="内容占位符 8"/>
          <p:cNvSpPr>
            <a:spLocks noGrp="1"/>
          </p:cNvSpPr>
          <p:nvPr>
            <p:ph sz="half" idx="2"/>
          </p:nvPr>
        </p:nvSpPr>
        <p:spPr>
          <a:xfrm>
            <a:off x="6888088" y="5085184"/>
            <a:ext cx="4878512" cy="1621160"/>
          </a:xfrm>
        </p:spPr>
        <p:txBody>
          <a:bodyPr/>
          <a:lstStyle/>
          <a:p>
            <a:r>
              <a:rPr lang="zh-CN" altLang="en-US" b="1" dirty="0" smtClean="0"/>
              <a:t>有了多线程</a:t>
            </a:r>
            <a:endParaRPr lang="en-US" altLang="zh-CN" b="1" dirty="0" smtClean="0"/>
          </a:p>
          <a:p>
            <a:pPr lvl="1"/>
            <a:r>
              <a:rPr lang="zh-CN" altLang="en-US" dirty="0" smtClean="0"/>
              <a:t>可能每周期都有可执行的指令</a:t>
            </a:r>
            <a:endParaRPr lang="en-US" altLang="zh-CN" dirty="0" smtClean="0"/>
          </a:p>
          <a:p>
            <a:pPr lvl="1"/>
            <a:r>
              <a:rPr lang="zh-CN" altLang="en-US" dirty="0" smtClean="0"/>
              <a:t>可能显著地提高吞吐率</a:t>
            </a:r>
            <a:endParaRPr lang="en-US" altLang="zh-CN" dirty="0" smtClean="0"/>
          </a:p>
          <a:p>
            <a:pPr lvl="1"/>
            <a:r>
              <a:rPr lang="zh-CN" altLang="en-US" dirty="0" smtClean="0"/>
              <a:t>处理器利用率也更高了</a:t>
            </a:r>
            <a:endParaRPr lang="zh-CN" altLang="en-US" dirty="0"/>
          </a:p>
        </p:txBody>
      </p:sp>
      <p:sp>
        <p:nvSpPr>
          <p:cNvPr id="11" name="内容占位符 10"/>
          <p:cNvSpPr>
            <a:spLocks noGrp="1"/>
          </p:cNvSpPr>
          <p:nvPr>
            <p:ph sz="half" idx="1"/>
          </p:nvPr>
        </p:nvSpPr>
        <p:spPr>
          <a:xfrm>
            <a:off x="695400" y="4727812"/>
            <a:ext cx="5760640" cy="2085564"/>
          </a:xfrm>
        </p:spPr>
        <p:txBody>
          <a:bodyPr/>
          <a:lstStyle/>
          <a:p>
            <a:r>
              <a:rPr lang="zh-CN" altLang="en-US" b="1" dirty="0" smtClean="0"/>
              <a:t>单线程时</a:t>
            </a:r>
            <a:r>
              <a:rPr lang="en-US" altLang="zh-CN" dirty="0" smtClean="0"/>
              <a:t> </a:t>
            </a:r>
          </a:p>
          <a:p>
            <a:pPr lvl="1"/>
            <a:r>
              <a:rPr lang="zh-CN" altLang="en-US" dirty="0" smtClean="0"/>
              <a:t>内存是性能瓶颈</a:t>
            </a:r>
            <a:endParaRPr lang="en-US" altLang="zh-CN" dirty="0" smtClean="0"/>
          </a:p>
          <a:p>
            <a:pPr lvl="1"/>
            <a:r>
              <a:rPr lang="zh-CN" altLang="en-US" dirty="0" smtClean="0"/>
              <a:t>商业服务器应用的局部性不好，减少计算时间只带来有限的吞吐率改善</a:t>
            </a:r>
            <a:endParaRPr lang="en-US" altLang="zh-CN" dirty="0" smtClean="0"/>
          </a:p>
          <a:p>
            <a:pPr lvl="1"/>
            <a:r>
              <a:rPr lang="en-US" altLang="zh-CN" dirty="0" smtClean="0"/>
              <a:t>ILP</a:t>
            </a:r>
            <a:r>
              <a:rPr lang="zh-CN" altLang="en-US" dirty="0" smtClean="0"/>
              <a:t>处理器的利用率不好</a:t>
            </a:r>
            <a:endParaRPr lang="en-US" altLang="zh-CN" dirty="0" smtClean="0"/>
          </a:p>
          <a:p>
            <a:endParaRPr lang="zh-CN" altLang="en-US" dirty="0"/>
          </a:p>
        </p:txBody>
      </p:sp>
      <p:pic>
        <p:nvPicPr>
          <p:cNvPr id="12" name="Picture 2"/>
          <p:cNvPicPr>
            <a:picLocks noChangeAspect="1" noChangeArrowheads="1"/>
          </p:cNvPicPr>
          <p:nvPr/>
        </p:nvPicPr>
        <p:blipFill>
          <a:blip r:embed="rId3"/>
          <a:srcRect b="3142"/>
          <a:stretch>
            <a:fillRect/>
          </a:stretch>
        </p:blipFill>
        <p:spPr bwMode="auto">
          <a:xfrm>
            <a:off x="2539710" y="1556793"/>
            <a:ext cx="9100906" cy="339905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848298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zh-CN" dirty="0" err="1" smtClean="0"/>
              <a:t>UltraSPARC</a:t>
            </a:r>
            <a:r>
              <a:rPr lang="en-US" altLang="zh-CN" dirty="0" smtClean="0"/>
              <a:t> T1 (Niagara)</a:t>
            </a:r>
            <a:endParaRPr lang="en-US" altLang="zh-CN" dirty="0"/>
          </a:p>
        </p:txBody>
      </p:sp>
      <p:pic>
        <p:nvPicPr>
          <p:cNvPr id="5124" name="Picture 4" descr="C:\Documents and Settings\Bogdan R\My Documents\Cursuri\ECE259\Niagara processor Sun\Architecture.jpg"/>
          <p:cNvPicPr>
            <a:picLocks noChangeAspect="1" noChangeArrowheads="1"/>
          </p:cNvPicPr>
          <p:nvPr/>
        </p:nvPicPr>
        <p:blipFill>
          <a:blip r:embed="rId2"/>
          <a:srcRect/>
          <a:stretch>
            <a:fillRect/>
          </a:stretch>
        </p:blipFill>
        <p:spPr bwMode="auto">
          <a:xfrm>
            <a:off x="2286000" y="1484785"/>
            <a:ext cx="7543800" cy="4854575"/>
          </a:xfrm>
          <a:prstGeom prst="rect">
            <a:avLst/>
          </a:prstGeom>
          <a:noFill/>
        </p:spPr>
      </p:pic>
    </p:spTree>
    <p:extLst>
      <p:ext uri="{BB962C8B-B14F-4D97-AF65-F5344CB8AC3E}">
        <p14:creationId xmlns:p14="http://schemas.microsoft.com/office/powerpoint/2010/main" val="2303149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C:\Documents and Settings\Bogdan R\My Documents\Cursuri\ECE259\Niagara processor Sun\Pipe.jpg"/>
          <p:cNvPicPr>
            <a:picLocks noChangeAspect="1" noChangeArrowheads="1"/>
          </p:cNvPicPr>
          <p:nvPr/>
        </p:nvPicPr>
        <p:blipFill>
          <a:blip r:embed="rId2"/>
          <a:srcRect/>
          <a:stretch>
            <a:fillRect/>
          </a:stretch>
        </p:blipFill>
        <p:spPr bwMode="auto">
          <a:xfrm>
            <a:off x="4223793" y="1906138"/>
            <a:ext cx="7720942" cy="4962532"/>
          </a:xfrm>
          <a:prstGeom prst="rect">
            <a:avLst/>
          </a:prstGeom>
          <a:noFill/>
        </p:spPr>
      </p:pic>
      <p:sp>
        <p:nvSpPr>
          <p:cNvPr id="6146" name="Rectangle 2"/>
          <p:cNvSpPr>
            <a:spLocks noGrp="1" noChangeArrowheads="1"/>
          </p:cNvSpPr>
          <p:nvPr>
            <p:ph type="title"/>
          </p:nvPr>
        </p:nvSpPr>
        <p:spPr/>
        <p:txBody>
          <a:bodyPr/>
          <a:lstStyle/>
          <a:p>
            <a:r>
              <a:rPr lang="en-US" altLang="zh-CN" dirty="0" smtClean="0"/>
              <a:t>Niagara</a:t>
            </a:r>
            <a:r>
              <a:rPr lang="zh-CN" altLang="en-US" dirty="0" smtClean="0"/>
              <a:t>的单核结构</a:t>
            </a:r>
            <a:endParaRPr lang="en-US" altLang="zh-CN" dirty="0"/>
          </a:p>
        </p:txBody>
      </p:sp>
      <p:sp>
        <p:nvSpPr>
          <p:cNvPr id="6147" name="Rectangle 3"/>
          <p:cNvSpPr>
            <a:spLocks noGrp="1" noChangeArrowheads="1"/>
          </p:cNvSpPr>
          <p:nvPr>
            <p:ph type="body" idx="1"/>
          </p:nvPr>
        </p:nvSpPr>
        <p:spPr/>
        <p:txBody>
          <a:bodyPr/>
          <a:lstStyle/>
          <a:p>
            <a:r>
              <a:rPr lang="en-US" altLang="zh-CN" dirty="0" err="1"/>
              <a:t>UltraSPARC</a:t>
            </a:r>
            <a:r>
              <a:rPr lang="en-US" altLang="zh-CN" dirty="0"/>
              <a:t> II style, 4 threads/core</a:t>
            </a:r>
          </a:p>
          <a:p>
            <a:r>
              <a:rPr lang="en-US" altLang="zh-CN" dirty="0"/>
              <a:t>Single issue 6 stage: F, S, D, E, M, W</a:t>
            </a:r>
          </a:p>
          <a:p>
            <a:r>
              <a:rPr lang="en-US" altLang="zh-CN" dirty="0"/>
              <a:t>Shared units: </a:t>
            </a:r>
          </a:p>
          <a:p>
            <a:pPr lvl="1"/>
            <a:r>
              <a:rPr lang="en-US" altLang="zh-CN" dirty="0"/>
              <a:t>L1 $ </a:t>
            </a:r>
          </a:p>
          <a:p>
            <a:pPr lvl="1"/>
            <a:r>
              <a:rPr lang="en-US" altLang="zh-CN" dirty="0"/>
              <a:t>TLB </a:t>
            </a:r>
          </a:p>
          <a:p>
            <a:pPr lvl="1"/>
            <a:r>
              <a:rPr lang="en-US" altLang="zh-CN" dirty="0"/>
              <a:t>X units </a:t>
            </a:r>
          </a:p>
          <a:p>
            <a:pPr lvl="1"/>
            <a:r>
              <a:rPr lang="en-US" altLang="zh-CN" dirty="0"/>
              <a:t>pipe registers</a:t>
            </a:r>
          </a:p>
          <a:p>
            <a:pPr>
              <a:buFontTx/>
              <a:buChar char="•"/>
            </a:pPr>
            <a:r>
              <a:rPr lang="en-US" altLang="zh-CN" dirty="0">
                <a:ea typeface="宋体" pitchFamily="2" charset="-122"/>
              </a:rPr>
              <a:t>Hazards:</a:t>
            </a:r>
          </a:p>
          <a:p>
            <a:pPr lvl="1">
              <a:buFontTx/>
              <a:buChar char="–"/>
            </a:pPr>
            <a:r>
              <a:rPr lang="en-US" altLang="zh-CN" dirty="0">
                <a:ea typeface="宋体" pitchFamily="2" charset="-122"/>
              </a:rPr>
              <a:t>Data</a:t>
            </a:r>
          </a:p>
          <a:p>
            <a:pPr lvl="1">
              <a:buFontTx/>
              <a:buChar char="–"/>
            </a:pPr>
            <a:r>
              <a:rPr lang="en-US" altLang="zh-CN" dirty="0">
                <a:ea typeface="宋体" pitchFamily="2" charset="-122"/>
              </a:rPr>
              <a:t>Structural</a:t>
            </a:r>
          </a:p>
        </p:txBody>
      </p:sp>
    </p:spTree>
    <p:extLst>
      <p:ext uri="{BB962C8B-B14F-4D97-AF65-F5344CB8AC3E}">
        <p14:creationId xmlns:p14="http://schemas.microsoft.com/office/powerpoint/2010/main" val="1830849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smtClean="0"/>
              <a:t>Niagara</a:t>
            </a:r>
            <a:r>
              <a:rPr lang="zh-CN" altLang="en-US" smtClean="0"/>
              <a:t>的线程选择</a:t>
            </a:r>
            <a:endParaRPr lang="en-US" altLang="zh-CN" dirty="0"/>
          </a:p>
        </p:txBody>
      </p:sp>
      <p:sp>
        <p:nvSpPr>
          <p:cNvPr id="7171" name="Rectangle 3"/>
          <p:cNvSpPr>
            <a:spLocks noGrp="1" noChangeArrowheads="1"/>
          </p:cNvSpPr>
          <p:nvPr>
            <p:ph type="body" idx="1"/>
          </p:nvPr>
        </p:nvSpPr>
        <p:spPr/>
        <p:txBody>
          <a:bodyPr/>
          <a:lstStyle/>
          <a:p>
            <a:pPr>
              <a:lnSpc>
                <a:spcPct val="100000"/>
              </a:lnSpc>
            </a:pPr>
            <a:r>
              <a:rPr lang="zh-CN" altLang="en-US" dirty="0" smtClean="0"/>
              <a:t>线程选择和取指是耦合在一起的</a:t>
            </a:r>
            <a:endParaRPr lang="en-US" altLang="zh-CN" dirty="0" smtClean="0"/>
          </a:p>
          <a:p>
            <a:pPr>
              <a:lnSpc>
                <a:spcPct val="100000"/>
              </a:lnSpc>
            </a:pPr>
            <a:r>
              <a:rPr lang="zh-CN" altLang="en-US" dirty="0" smtClean="0"/>
              <a:t>基于如下信息选择线程</a:t>
            </a:r>
            <a:endParaRPr lang="en-US" altLang="zh-CN" dirty="0" smtClean="0"/>
          </a:p>
          <a:p>
            <a:pPr lvl="1">
              <a:lnSpc>
                <a:spcPct val="100000"/>
              </a:lnSpc>
            </a:pPr>
            <a:r>
              <a:rPr lang="zh-CN" altLang="en-US" dirty="0" smtClean="0"/>
              <a:t>流水线中先前的长延迟指令</a:t>
            </a:r>
            <a:endParaRPr lang="en-US" altLang="zh-CN" dirty="0" smtClean="0"/>
          </a:p>
          <a:p>
            <a:pPr lvl="1">
              <a:lnSpc>
                <a:spcPct val="100000"/>
              </a:lnSpc>
            </a:pPr>
            <a:r>
              <a:rPr lang="zh-CN" altLang="en-US" dirty="0" smtClean="0"/>
              <a:t>指令类型</a:t>
            </a:r>
            <a:endParaRPr lang="en-US" altLang="zh-CN" dirty="0" smtClean="0"/>
          </a:p>
          <a:p>
            <a:pPr lvl="1">
              <a:lnSpc>
                <a:spcPct val="100000"/>
              </a:lnSpc>
            </a:pPr>
            <a:r>
              <a:rPr lang="en-US" altLang="zh-CN" dirty="0" smtClean="0"/>
              <a:t>LRU</a:t>
            </a:r>
            <a:r>
              <a:rPr lang="zh-CN" altLang="en-US" dirty="0" smtClean="0"/>
              <a:t>状态</a:t>
            </a:r>
            <a:endParaRPr lang="en-US" altLang="zh-CN" dirty="0" smtClean="0"/>
          </a:p>
        </p:txBody>
      </p:sp>
      <p:pic>
        <p:nvPicPr>
          <p:cNvPr id="7172" name="Picture 4" descr="C:\Documents and Settings\Bogdan R\My Documents\Cursuri\ECE259\Niagara processor Sun\Threads.jpg"/>
          <p:cNvPicPr>
            <a:picLocks noChangeAspect="1" noChangeArrowheads="1"/>
          </p:cNvPicPr>
          <p:nvPr/>
        </p:nvPicPr>
        <p:blipFill>
          <a:blip r:embed="rId2"/>
          <a:srcRect/>
          <a:stretch>
            <a:fillRect/>
          </a:stretch>
        </p:blipFill>
        <p:spPr bwMode="auto">
          <a:xfrm>
            <a:off x="5375920" y="2924944"/>
            <a:ext cx="6681763" cy="3848261"/>
          </a:xfrm>
          <a:prstGeom prst="rect">
            <a:avLst/>
          </a:prstGeom>
          <a:noFill/>
        </p:spPr>
      </p:pic>
    </p:spTree>
    <p:extLst>
      <p:ext uri="{BB962C8B-B14F-4D97-AF65-F5344CB8AC3E}">
        <p14:creationId xmlns:p14="http://schemas.microsoft.com/office/powerpoint/2010/main" val="733968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ln/>
        </p:spPr>
        <p:txBody>
          <a:bodyPr/>
          <a:lstStyle/>
          <a:p>
            <a:pPr>
              <a:lnSpc>
                <a:spcPct val="93000"/>
              </a:lnSpc>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zh-CN" dirty="0" err="1" smtClean="0">
                <a:ea typeface="宋体" pitchFamily="2" charset="-122"/>
              </a:rPr>
              <a:t>UltraSPARC</a:t>
            </a:r>
            <a:r>
              <a:rPr lang="en-US" altLang="zh-CN" dirty="0" smtClean="0">
                <a:ea typeface="宋体" pitchFamily="2" charset="-122"/>
              </a:rPr>
              <a:t> T2 (Niagara-2)</a:t>
            </a:r>
            <a:endParaRPr lang="en-GB" altLang="zh-CN" dirty="0">
              <a:ea typeface="宋体" pitchFamily="2" charset="-122"/>
            </a:endParaRPr>
          </a:p>
        </p:txBody>
      </p:sp>
      <p:sp>
        <p:nvSpPr>
          <p:cNvPr id="6148" name="Rectangle 4"/>
          <p:cNvSpPr>
            <a:spLocks noGrp="1" noChangeArrowheads="1"/>
          </p:cNvSpPr>
          <p:nvPr>
            <p:ph idx="1"/>
          </p:nvPr>
        </p:nvSpPr>
        <p:spPr>
          <a:xfrm>
            <a:off x="457568" y="1700808"/>
            <a:ext cx="6646544" cy="4610100"/>
          </a:xfrm>
          <a:ln/>
        </p:spPr>
        <p:txBody>
          <a:bodyPr/>
          <a:lstStyle/>
          <a:p>
            <a:pPr>
              <a:lnSpc>
                <a:spcPct val="93000"/>
              </a:lnSpc>
            </a:pPr>
            <a:r>
              <a:rPr lang="en-GB" altLang="zh-CN" sz="2500" dirty="0">
                <a:ea typeface="宋体" pitchFamily="2" charset="-122"/>
              </a:rPr>
              <a:t>Server on a chip</a:t>
            </a:r>
          </a:p>
          <a:p>
            <a:pPr>
              <a:lnSpc>
                <a:spcPct val="93000"/>
              </a:lnSpc>
            </a:pPr>
            <a:r>
              <a:rPr lang="en-GB" altLang="zh-CN" sz="2500" dirty="0">
                <a:ea typeface="宋体" pitchFamily="2" charset="-122"/>
              </a:rPr>
              <a:t>8 Fully pipelined FPUs</a:t>
            </a:r>
          </a:p>
          <a:p>
            <a:pPr>
              <a:lnSpc>
                <a:spcPct val="93000"/>
              </a:lnSpc>
            </a:pPr>
            <a:r>
              <a:rPr lang="en-GB" altLang="zh-CN" sz="2500" dirty="0">
                <a:ea typeface="宋体" pitchFamily="2" charset="-122"/>
              </a:rPr>
              <a:t>8 SPUs (Cryptographic Accelerator)</a:t>
            </a:r>
          </a:p>
          <a:p>
            <a:pPr>
              <a:lnSpc>
                <a:spcPct val="93000"/>
              </a:lnSpc>
            </a:pPr>
            <a:r>
              <a:rPr lang="en-US" sz="2500" dirty="0"/>
              <a:t>2 integer ALUs per core, each one shared by a group of four threads </a:t>
            </a:r>
            <a:endParaRPr lang="en-GB" altLang="zh-CN" sz="2500" dirty="0">
              <a:ea typeface="宋体" pitchFamily="2" charset="-122"/>
            </a:endParaRPr>
          </a:p>
          <a:p>
            <a:pPr>
              <a:lnSpc>
                <a:spcPct val="93000"/>
              </a:lnSpc>
            </a:pPr>
            <a:r>
              <a:rPr lang="en-GB" altLang="zh-CN" sz="2500" dirty="0">
                <a:ea typeface="宋体" pitchFamily="2" charset="-122"/>
              </a:rPr>
              <a:t>4MB L2 Cache </a:t>
            </a:r>
            <a:r>
              <a:rPr lang="en-US" sz="2500" dirty="0"/>
              <a:t>(8-banks, 16-way associative)</a:t>
            </a:r>
          </a:p>
          <a:p>
            <a:pPr>
              <a:lnSpc>
                <a:spcPct val="93000"/>
              </a:lnSpc>
            </a:pPr>
            <a:r>
              <a:rPr lang="en-GB" altLang="zh-CN" sz="2500" dirty="0">
                <a:ea typeface="宋体" pitchFamily="2" charset="-122"/>
              </a:rPr>
              <a:t>8 KB data cache and 16 KB instruction cache</a:t>
            </a:r>
          </a:p>
          <a:p>
            <a:pPr>
              <a:lnSpc>
                <a:spcPct val="93000"/>
              </a:lnSpc>
            </a:pPr>
            <a:r>
              <a:rPr lang="en-GB" altLang="zh-CN" sz="2500" dirty="0">
                <a:ea typeface="宋体" pitchFamily="2" charset="-122"/>
              </a:rPr>
              <a:t>Two 10Gb Ethernet ports and one </a:t>
            </a:r>
            <a:r>
              <a:rPr lang="en-GB" altLang="zh-CN" sz="2500" dirty="0" err="1">
                <a:ea typeface="宋体" pitchFamily="2" charset="-122"/>
              </a:rPr>
              <a:t>PCIe</a:t>
            </a:r>
            <a:r>
              <a:rPr lang="en-GB" altLang="zh-CN" sz="2500" dirty="0">
                <a:ea typeface="宋体" pitchFamily="2" charset="-122"/>
              </a:rPr>
              <a:t> port</a:t>
            </a:r>
            <a:endParaRPr lang="en-US" sz="2500" dirty="0"/>
          </a:p>
        </p:txBody>
      </p:sp>
      <p:pic>
        <p:nvPicPr>
          <p:cNvPr id="6146" name="Picture 2"/>
          <p:cNvPicPr>
            <a:picLocks noChangeAspect="1" noChangeArrowheads="1"/>
          </p:cNvPicPr>
          <p:nvPr/>
        </p:nvPicPr>
        <p:blipFill>
          <a:blip r:embed="rId3"/>
          <a:srcRect/>
          <a:stretch>
            <a:fillRect/>
          </a:stretch>
        </p:blipFill>
        <p:spPr bwMode="auto">
          <a:xfrm>
            <a:off x="7104112" y="1108208"/>
            <a:ext cx="4931391" cy="5573892"/>
          </a:xfrm>
          <a:prstGeom prst="rect">
            <a:avLst/>
          </a:prstGeom>
          <a:noFill/>
          <a:ln w="9525">
            <a:noFill/>
            <a:round/>
            <a:headEnd/>
            <a:tailEnd/>
          </a:ln>
          <a:effectLst/>
        </p:spPr>
      </p:pic>
    </p:spTree>
    <p:extLst>
      <p:ext uri="{BB962C8B-B14F-4D97-AF65-F5344CB8AC3E}">
        <p14:creationId xmlns:p14="http://schemas.microsoft.com/office/powerpoint/2010/main" val="320662286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9416" y="260648"/>
            <a:ext cx="10515600" cy="543595"/>
          </a:xfrm>
        </p:spPr>
        <p:txBody>
          <a:bodyPr/>
          <a:lstStyle/>
          <a:p>
            <a:r>
              <a:rPr lang="en-GB" altLang="zh-CN" dirty="0" smtClean="0"/>
              <a:t>Niagara</a:t>
            </a:r>
            <a:r>
              <a:rPr lang="zh-CN" altLang="en-US" dirty="0" smtClean="0"/>
              <a:t>与</a:t>
            </a:r>
            <a:r>
              <a:rPr lang="en-GB" altLang="zh-CN" dirty="0" smtClean="0"/>
              <a:t>Niagara-2</a:t>
            </a:r>
            <a:r>
              <a:rPr lang="zh-CN" altLang="en-US" dirty="0" smtClean="0"/>
              <a:t>的处理器核</a:t>
            </a:r>
            <a:endParaRPr lang="en-GB" altLang="zh-CN" dirty="0"/>
          </a:p>
        </p:txBody>
      </p:sp>
      <p:sp>
        <p:nvSpPr>
          <p:cNvPr id="8" name="内容占位符 7"/>
          <p:cNvSpPr>
            <a:spLocks noGrp="1"/>
          </p:cNvSpPr>
          <p:nvPr>
            <p:ph sz="half" idx="1"/>
          </p:nvPr>
        </p:nvSpPr>
        <p:spPr>
          <a:xfrm>
            <a:off x="1055440" y="6309320"/>
            <a:ext cx="4013200" cy="432048"/>
          </a:xfrm>
        </p:spPr>
        <p:txBody>
          <a:bodyPr/>
          <a:lstStyle/>
          <a:p>
            <a:r>
              <a:rPr lang="en-US" altLang="zh-CN" sz="2400" dirty="0"/>
              <a:t>4</a:t>
            </a:r>
            <a:r>
              <a:rPr lang="zh-CN" altLang="en-US" sz="2400" dirty="0"/>
              <a:t>线程、</a:t>
            </a:r>
            <a:r>
              <a:rPr lang="en-US" altLang="zh-CN" sz="2400" dirty="0"/>
              <a:t>6</a:t>
            </a:r>
            <a:r>
              <a:rPr lang="zh-CN" altLang="en-US" sz="2400" dirty="0"/>
              <a:t>级定点</a:t>
            </a:r>
            <a:r>
              <a:rPr lang="zh-CN" altLang="en-US" sz="2400" dirty="0" smtClean="0"/>
              <a:t>流水线</a:t>
            </a:r>
            <a:endParaRPr lang="en-US" altLang="zh-CN" sz="2400" dirty="0"/>
          </a:p>
        </p:txBody>
      </p:sp>
      <p:sp>
        <p:nvSpPr>
          <p:cNvPr id="9" name="内容占位符 8"/>
          <p:cNvSpPr>
            <a:spLocks noGrp="1"/>
          </p:cNvSpPr>
          <p:nvPr>
            <p:ph sz="half" idx="2"/>
          </p:nvPr>
        </p:nvSpPr>
        <p:spPr>
          <a:xfrm>
            <a:off x="5231904" y="6291014"/>
            <a:ext cx="6696744" cy="468660"/>
          </a:xfrm>
        </p:spPr>
        <p:txBody>
          <a:bodyPr/>
          <a:lstStyle/>
          <a:p>
            <a:r>
              <a:rPr lang="en-US" altLang="zh-CN" sz="2400" dirty="0"/>
              <a:t>8</a:t>
            </a:r>
            <a:r>
              <a:rPr lang="zh-CN" altLang="en-US" sz="2400" dirty="0"/>
              <a:t>线程、</a:t>
            </a:r>
            <a:r>
              <a:rPr lang="en-US" altLang="zh-CN" sz="2400" dirty="0"/>
              <a:t>8</a:t>
            </a:r>
            <a:r>
              <a:rPr lang="zh-CN" altLang="en-US" sz="2400" dirty="0"/>
              <a:t>级定点</a:t>
            </a:r>
            <a:r>
              <a:rPr lang="zh-CN" altLang="en-US" sz="2400" dirty="0" smtClean="0"/>
              <a:t>流水线</a:t>
            </a:r>
            <a:r>
              <a:rPr lang="zh-CN" altLang="en-US" sz="2400" dirty="0"/>
              <a:t>、</a:t>
            </a:r>
            <a:r>
              <a:rPr lang="en-US" altLang="zh-CN" sz="2400" dirty="0" smtClean="0"/>
              <a:t>12</a:t>
            </a:r>
            <a:r>
              <a:rPr lang="zh-CN" altLang="en-US" sz="2400" dirty="0"/>
              <a:t>级浮点流水线</a:t>
            </a:r>
          </a:p>
        </p:txBody>
      </p:sp>
      <p:pic>
        <p:nvPicPr>
          <p:cNvPr id="40965" name="Picture 5" descr="C:\Documents and Settings\magrawa2.UIUC\Desktop\t2.JPG"/>
          <p:cNvPicPr>
            <a:picLocks noChangeAspect="1" noChangeArrowheads="1"/>
          </p:cNvPicPr>
          <p:nvPr/>
        </p:nvPicPr>
        <p:blipFill>
          <a:blip r:embed="rId3"/>
          <a:srcRect/>
          <a:stretch>
            <a:fillRect/>
          </a:stretch>
        </p:blipFill>
        <p:spPr bwMode="auto">
          <a:xfrm>
            <a:off x="5663952" y="934546"/>
            <a:ext cx="5832648" cy="5280700"/>
          </a:xfrm>
          <a:prstGeom prst="rect">
            <a:avLst/>
          </a:prstGeom>
          <a:noFill/>
        </p:spPr>
      </p:pic>
      <p:pic>
        <p:nvPicPr>
          <p:cNvPr id="307202" name="Picture 2"/>
          <p:cNvPicPr>
            <a:picLocks noChangeAspect="1" noChangeArrowheads="1"/>
          </p:cNvPicPr>
          <p:nvPr/>
        </p:nvPicPr>
        <p:blipFill>
          <a:blip r:embed="rId4"/>
          <a:srcRect/>
          <a:stretch>
            <a:fillRect/>
          </a:stretch>
        </p:blipFill>
        <p:spPr bwMode="auto">
          <a:xfrm>
            <a:off x="623392" y="937156"/>
            <a:ext cx="4248472" cy="5107280"/>
          </a:xfrm>
          <a:prstGeom prst="rect">
            <a:avLst/>
          </a:prstGeom>
          <a:noFill/>
          <a:ln w="9525">
            <a:noFill/>
            <a:miter lim="800000"/>
            <a:headEnd/>
            <a:tailEnd/>
          </a:ln>
        </p:spPr>
      </p:pic>
    </p:spTree>
    <p:extLst>
      <p:ext uri="{BB962C8B-B14F-4D97-AF65-F5344CB8AC3E}">
        <p14:creationId xmlns:p14="http://schemas.microsoft.com/office/powerpoint/2010/main" val="27594451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p:nvPr>
        </p:nvSpPr>
        <p:spPr/>
        <p:txBody>
          <a:bodyPr/>
          <a:lstStyle/>
          <a:p>
            <a:r>
              <a:rPr lang="en-GB" altLang="zh-CN" smtClean="0"/>
              <a:t>OpenSPARC</a:t>
            </a:r>
            <a:endParaRPr lang="en-GB" altLang="zh-CN" dirty="0"/>
          </a:p>
        </p:txBody>
      </p:sp>
      <p:sp>
        <p:nvSpPr>
          <p:cNvPr id="53251" name="Rectangle 3"/>
          <p:cNvSpPr>
            <a:spLocks noGrp="1" noChangeArrowheads="1"/>
          </p:cNvSpPr>
          <p:nvPr>
            <p:ph type="title" idx="1"/>
          </p:nvPr>
        </p:nvSpPr>
        <p:spPr/>
        <p:txBody>
          <a:bodyPr/>
          <a:lstStyle/>
          <a:p>
            <a:r>
              <a:rPr lang="en-GB" altLang="zh-CN" smtClean="0"/>
              <a:t>Open source release under GNU GPL</a:t>
            </a:r>
            <a:br>
              <a:rPr lang="en-GB" altLang="zh-CN" smtClean="0"/>
            </a:br>
            <a:r>
              <a:rPr lang="en-GB" altLang="zh-CN" smtClean="0"/>
              <a:t/>
            </a:r>
            <a:br>
              <a:rPr lang="en-GB" altLang="zh-CN" smtClean="0"/>
            </a:br>
            <a:r>
              <a:rPr lang="en-GB" altLang="zh-CN" smtClean="0"/>
              <a:t>Verilog </a:t>
            </a:r>
            <a:r>
              <a:rPr lang="en-US" altLang="zh-CN" smtClean="0"/>
              <a:t>code</a:t>
            </a:r>
            <a:r>
              <a:rPr lang="en-GB" altLang="zh-CN" smtClean="0"/>
              <a:t>, verification/tests, simulation/modelling tools</a:t>
            </a:r>
            <a:br>
              <a:rPr lang="en-GB" altLang="zh-CN" smtClean="0"/>
            </a:br>
            <a:r>
              <a:rPr lang="en-GB" altLang="zh-CN" smtClean="0"/>
              <a:t>ISA specification</a:t>
            </a:r>
            <a:br>
              <a:rPr lang="en-GB" altLang="zh-CN" smtClean="0"/>
            </a:br>
            <a:r>
              <a:rPr lang="en-GB" altLang="zh-CN" smtClean="0"/>
              <a:t>http://www.opensparc.net/</a:t>
            </a:r>
            <a:endParaRPr lang="en-GB" altLang="zh-CN" dirty="0" smtClean="0"/>
          </a:p>
        </p:txBody>
      </p:sp>
      <p:sp>
        <p:nvSpPr>
          <p:cNvPr id="53252" name="Text Box 4"/>
          <p:cNvSpPr txBox="1">
            <a:spLocks noChangeArrowheads="1"/>
          </p:cNvSpPr>
          <p:nvPr/>
        </p:nvSpPr>
        <p:spPr bwMode="auto">
          <a:xfrm>
            <a:off x="4439816" y="5229200"/>
            <a:ext cx="6768752" cy="864096"/>
          </a:xfrm>
          <a:prstGeom prst="rect">
            <a:avLst/>
          </a:prstGeom>
          <a:noFill/>
          <a:ln w="9525">
            <a:noFill/>
            <a:round/>
            <a:headEnd/>
            <a:tailEnd/>
          </a:ln>
          <a:effectLst/>
        </p:spPr>
        <p:txBody>
          <a:bodyPr lIns="81639" tIns="40820" rIns="81639" bIns="40820"/>
          <a:lstStyle/>
          <a:p>
            <a:pPr algn="ctr">
              <a:lnSpc>
                <a:spcPct val="93000"/>
              </a:lnSpc>
              <a:spcBef>
                <a:spcPts val="1089"/>
              </a:spcBef>
              <a:spcAft>
                <a:spcPts val="907"/>
              </a:spcAft>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altLang="zh-CN" sz="2400" b="1" i="1" dirty="0">
                <a:solidFill>
                  <a:srgbClr val="000000"/>
                </a:solidFill>
                <a:ea typeface="宋体" pitchFamily="2" charset="-122"/>
              </a:rPr>
              <a:t>"We truly believe </a:t>
            </a:r>
            <a:r>
              <a:rPr lang="en-GB" altLang="zh-CN" sz="2400" b="1" i="1" dirty="0" err="1" smtClean="0">
                <a:solidFill>
                  <a:srgbClr val="000000"/>
                </a:solidFill>
                <a:ea typeface="宋体" pitchFamily="2" charset="-122"/>
              </a:rPr>
              <a:t>OpenS</a:t>
            </a:r>
            <a:r>
              <a:rPr lang="en-US" altLang="zh-CN" sz="2400" b="1" i="1" dirty="0" smtClean="0">
                <a:solidFill>
                  <a:srgbClr val="000000"/>
                </a:solidFill>
                <a:ea typeface="宋体" pitchFamily="2" charset="-122"/>
              </a:rPr>
              <a:t>PARC</a:t>
            </a:r>
            <a:r>
              <a:rPr lang="en-GB" altLang="zh-CN" sz="2400" b="1" i="1" dirty="0" smtClean="0">
                <a:solidFill>
                  <a:srgbClr val="000000"/>
                </a:solidFill>
                <a:ea typeface="宋体" pitchFamily="2" charset="-122"/>
              </a:rPr>
              <a:t> </a:t>
            </a:r>
            <a:r>
              <a:rPr lang="en-GB" altLang="zh-CN" sz="2400" b="1" i="1" dirty="0">
                <a:solidFill>
                  <a:srgbClr val="000000"/>
                </a:solidFill>
                <a:ea typeface="宋体" pitchFamily="2" charset="-122"/>
              </a:rPr>
              <a:t>will blossom in the future because it is open</a:t>
            </a:r>
            <a:r>
              <a:rPr lang="en-GB" altLang="zh-CN" sz="2400" b="1" i="1" dirty="0" smtClean="0">
                <a:solidFill>
                  <a:srgbClr val="000000"/>
                </a:solidFill>
                <a:ea typeface="宋体" pitchFamily="2" charset="-122"/>
              </a:rPr>
              <a:t>."</a:t>
            </a:r>
            <a:endParaRPr lang="en-GB" altLang="zh-CN" sz="2400" b="1" i="1" dirty="0">
              <a:solidFill>
                <a:srgbClr val="000000"/>
              </a:solidFill>
              <a:ea typeface="宋体" pitchFamily="2" charset="-122"/>
            </a:endParaRPr>
          </a:p>
        </p:txBody>
      </p:sp>
    </p:spTree>
    <p:extLst>
      <p:ext uri="{BB962C8B-B14F-4D97-AF65-F5344CB8AC3E}">
        <p14:creationId xmlns:p14="http://schemas.microsoft.com/office/powerpoint/2010/main" val="5332282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242" name="Rectangle 2"/>
          <p:cNvSpPr>
            <a:spLocks noGrp="1" noChangeArrowheads="1"/>
          </p:cNvSpPr>
          <p:nvPr>
            <p:ph type="title"/>
          </p:nvPr>
        </p:nvSpPr>
        <p:spPr/>
        <p:txBody>
          <a:bodyPr/>
          <a:lstStyle/>
          <a:p>
            <a:r>
              <a:rPr lang="zh-CN" altLang="en-US" smtClean="0"/>
              <a:t>乱序超标量的同时多线程结构</a:t>
            </a:r>
            <a:endParaRPr lang="en-US" dirty="0"/>
          </a:p>
        </p:txBody>
      </p:sp>
      <p:sp>
        <p:nvSpPr>
          <p:cNvPr id="1418243" name="Rectangle 3"/>
          <p:cNvSpPr>
            <a:spLocks noGrp="1" noChangeArrowheads="1"/>
          </p:cNvSpPr>
          <p:nvPr>
            <p:ph idx="1"/>
          </p:nvPr>
        </p:nvSpPr>
        <p:spPr/>
        <p:txBody>
          <a:bodyPr/>
          <a:lstStyle/>
          <a:p>
            <a:pPr>
              <a:lnSpc>
                <a:spcPct val="100000"/>
              </a:lnSpc>
            </a:pPr>
            <a:r>
              <a:rPr lang="en-US" altLang="zh-CN" dirty="0" smtClean="0"/>
              <a:t>Simultaneous Multithreading (SMT) </a:t>
            </a:r>
          </a:p>
          <a:p>
            <a:pPr lvl="1">
              <a:lnSpc>
                <a:spcPct val="100000"/>
              </a:lnSpc>
            </a:pPr>
            <a:r>
              <a:rPr lang="en-US" dirty="0" smtClean="0"/>
              <a:t>Intel</a:t>
            </a:r>
            <a:r>
              <a:rPr lang="zh-CN" altLang="en-US" dirty="0" smtClean="0"/>
              <a:t>称为超线程</a:t>
            </a:r>
            <a:r>
              <a:rPr lang="zh-CN" altLang="en-US" dirty="0"/>
              <a:t>（</a:t>
            </a:r>
            <a:r>
              <a:rPr lang="en-US" altLang="zh-CN" dirty="0" err="1" smtClean="0"/>
              <a:t>HyperThreading</a:t>
            </a:r>
            <a:r>
              <a:rPr lang="zh-CN" altLang="en-US" dirty="0" smtClean="0"/>
              <a:t>，</a:t>
            </a:r>
            <a:r>
              <a:rPr lang="en-US" altLang="zh-CN" dirty="0" smtClean="0"/>
              <a:t>HT</a:t>
            </a:r>
            <a:r>
              <a:rPr lang="zh-CN" altLang="en-US" dirty="0" smtClean="0"/>
              <a:t>）</a:t>
            </a:r>
            <a:endParaRPr lang="en-US" dirty="0" smtClean="0"/>
          </a:p>
          <a:p>
            <a:pPr>
              <a:lnSpc>
                <a:spcPct val="100000"/>
              </a:lnSpc>
            </a:pPr>
            <a:r>
              <a:rPr lang="zh-CN" altLang="en-US" dirty="0" smtClean="0"/>
              <a:t>之前介绍的是</a:t>
            </a:r>
            <a:r>
              <a:rPr lang="zh-CN" altLang="en-US" dirty="0" smtClean="0"/>
              <a:t>“垂直”多线程</a:t>
            </a:r>
            <a:endParaRPr lang="en-US" altLang="zh-CN" dirty="0" smtClean="0"/>
          </a:p>
          <a:p>
            <a:pPr lvl="1">
              <a:lnSpc>
                <a:spcPct val="100000"/>
              </a:lnSpc>
            </a:pPr>
            <a:r>
              <a:rPr lang="zh-CN" altLang="en-US" dirty="0" smtClean="0"/>
              <a:t>每个流水级在同一时候只被一个线程占据</a:t>
            </a:r>
            <a:endParaRPr lang="en-US" dirty="0" smtClean="0"/>
          </a:p>
          <a:p>
            <a:pPr>
              <a:lnSpc>
                <a:spcPct val="100000"/>
              </a:lnSpc>
            </a:pPr>
            <a:r>
              <a:rPr lang="en-US" dirty="0" smtClean="0"/>
              <a:t>SMT</a:t>
            </a:r>
            <a:r>
              <a:rPr lang="zh-CN" altLang="en-US" dirty="0" smtClean="0"/>
              <a:t>是“水平”多线程</a:t>
            </a:r>
            <a:endParaRPr lang="en-US" altLang="zh-CN" dirty="0" smtClean="0"/>
          </a:p>
          <a:p>
            <a:pPr lvl="1">
              <a:lnSpc>
                <a:spcPct val="100000"/>
              </a:lnSpc>
            </a:pPr>
            <a:r>
              <a:rPr lang="zh-CN" altLang="en-US" dirty="0" smtClean="0"/>
              <a:t>利用乱序超标量结构中已有的细粒度控制</a:t>
            </a:r>
            <a:endParaRPr lang="en-US" altLang="zh-CN" dirty="0" smtClean="0"/>
          </a:p>
          <a:p>
            <a:pPr lvl="1">
              <a:lnSpc>
                <a:spcPct val="100000"/>
              </a:lnSpc>
            </a:pPr>
            <a:r>
              <a:rPr lang="zh-CN" altLang="en-US" dirty="0" smtClean="0"/>
              <a:t>允许来自多个线程的指令在同一个时钟周期进入流水线执行</a:t>
            </a:r>
            <a:endParaRPr lang="en-US" altLang="zh-CN" dirty="0" smtClean="0"/>
          </a:p>
          <a:p>
            <a:pPr lvl="1">
              <a:lnSpc>
                <a:spcPct val="100000"/>
              </a:lnSpc>
            </a:pPr>
            <a:r>
              <a:rPr lang="zh-CN" altLang="en-US" dirty="0" smtClean="0"/>
              <a:t>目的是提高已有机器资源的利用率</a:t>
            </a:r>
            <a:endParaRPr lang="en-US" dirty="0"/>
          </a:p>
        </p:txBody>
      </p:sp>
    </p:spTree>
    <p:extLst>
      <p:ext uri="{BB962C8B-B14F-4D97-AF65-F5344CB8AC3E}">
        <p14:creationId xmlns:p14="http://schemas.microsoft.com/office/powerpoint/2010/main" val="8491686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290" name="Rectangle 2"/>
          <p:cNvSpPr>
            <a:spLocks noGrp="1" noChangeArrowheads="1"/>
          </p:cNvSpPr>
          <p:nvPr>
            <p:ph type="title"/>
          </p:nvPr>
        </p:nvSpPr>
        <p:spPr>
          <a:xfrm>
            <a:off x="1828800" y="106364"/>
            <a:ext cx="8515672" cy="731837"/>
          </a:xfrm>
          <a:noFill/>
        </p:spPr>
        <p:txBody>
          <a:bodyPr/>
          <a:lstStyle/>
          <a:p>
            <a:pPr marL="25400">
              <a:tabLst>
                <a:tab pos="317500" algn="l"/>
                <a:tab pos="1231900" algn="l"/>
                <a:tab pos="2146300" algn="l"/>
                <a:tab pos="3060700" algn="l"/>
                <a:tab pos="3975100" algn="l"/>
                <a:tab pos="4889500" algn="l"/>
                <a:tab pos="5803900" algn="l"/>
              </a:tabLst>
            </a:pPr>
            <a:r>
              <a:rPr lang="zh-CN" altLang="en-US" dirty="0" smtClean="0"/>
              <a:t>八路超标量中的资源利用率</a:t>
            </a:r>
            <a:endParaRPr lang="en-US" dirty="0"/>
          </a:p>
        </p:txBody>
      </p:sp>
      <p:pic>
        <p:nvPicPr>
          <p:cNvPr id="1420291" name="Picture 3"/>
          <p:cNvPicPr>
            <a:picLocks noChangeAspect="1" noChangeArrowheads="1"/>
          </p:cNvPicPr>
          <p:nvPr/>
        </p:nvPicPr>
        <p:blipFill>
          <a:blip r:embed="rId3"/>
          <a:srcRect/>
          <a:stretch>
            <a:fillRect/>
          </a:stretch>
        </p:blipFill>
        <p:spPr bwMode="auto">
          <a:xfrm rot="5400000">
            <a:off x="1553368" y="834232"/>
            <a:ext cx="5994400" cy="6053137"/>
          </a:xfrm>
          <a:prstGeom prst="rect">
            <a:avLst/>
          </a:prstGeom>
          <a:noFill/>
          <a:ln w="25400">
            <a:noFill/>
            <a:miter lim="800000"/>
            <a:headEnd/>
            <a:tailEnd/>
          </a:ln>
          <a:effectLst/>
        </p:spPr>
      </p:pic>
      <p:sp>
        <p:nvSpPr>
          <p:cNvPr id="1420292" name="Text Box 4"/>
          <p:cNvSpPr txBox="1">
            <a:spLocks noChangeArrowheads="1"/>
          </p:cNvSpPr>
          <p:nvPr/>
        </p:nvSpPr>
        <p:spPr bwMode="auto">
          <a:xfrm>
            <a:off x="7577137" y="5373216"/>
            <a:ext cx="4193976" cy="1231106"/>
          </a:xfrm>
          <a:prstGeom prst="rect">
            <a:avLst/>
          </a:prstGeom>
          <a:noFill/>
          <a:ln w="9525">
            <a:noFill/>
            <a:miter lim="800000"/>
            <a:headEnd/>
            <a:tailEnd/>
          </a:ln>
          <a:effectLst/>
        </p:spPr>
        <p:txBody>
          <a:bodyPr wrap="square" lIns="0" tIns="0" rIns="0" bIns="0">
            <a:prstTxWarp prst="textNoShape">
              <a:avLst/>
            </a:prstTxWarp>
            <a:spAutoFit/>
          </a:bodyPr>
          <a:lstStyle/>
          <a:p>
            <a:pPr defTabSz="822325" eaLnBrk="1" hangingPunct="1">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r>
              <a:rPr lang="en-US" sz="2000" dirty="0">
                <a:solidFill>
                  <a:srgbClr val="053DE8"/>
                </a:solidFill>
                <a:latin typeface="Helvetica" charset="0"/>
              </a:rPr>
              <a:t>From: </a:t>
            </a:r>
            <a:r>
              <a:rPr lang="en-US" sz="2000" dirty="0" err="1">
                <a:solidFill>
                  <a:srgbClr val="053DE8"/>
                </a:solidFill>
                <a:latin typeface="Helvetica" charset="0"/>
              </a:rPr>
              <a:t>Tullsen</a:t>
            </a:r>
            <a:r>
              <a:rPr lang="en-US" sz="2000" dirty="0">
                <a:solidFill>
                  <a:srgbClr val="053DE8"/>
                </a:solidFill>
                <a:latin typeface="Helvetica" charset="0"/>
              </a:rPr>
              <a:t>, Eggers, and Levy,</a:t>
            </a:r>
          </a:p>
          <a:p>
            <a:pPr defTabSz="822325" eaLnBrk="1" hangingPunct="1">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r>
              <a:rPr lang="en-US" sz="2000" dirty="0">
                <a:solidFill>
                  <a:srgbClr val="053DE8"/>
                </a:solidFill>
                <a:latin typeface="Helvetica" charset="0"/>
              </a:rPr>
              <a:t>“Simultaneous Multithreading: Maximizing On-chip Parallelism”, ISCA 1995.</a:t>
            </a:r>
          </a:p>
        </p:txBody>
      </p:sp>
      <p:sp>
        <p:nvSpPr>
          <p:cNvPr id="1420293" name="Text Box 5"/>
          <p:cNvSpPr txBox="1">
            <a:spLocks noChangeArrowheads="1"/>
          </p:cNvSpPr>
          <p:nvPr/>
        </p:nvSpPr>
        <p:spPr bwMode="auto">
          <a:xfrm>
            <a:off x="7896200" y="1772816"/>
            <a:ext cx="3816424" cy="1107996"/>
          </a:xfrm>
          <a:prstGeom prst="rect">
            <a:avLst/>
          </a:prstGeom>
          <a:noFill/>
          <a:ln w="9525">
            <a:noFill/>
            <a:miter lim="800000"/>
            <a:headEnd/>
            <a:tailEnd/>
          </a:ln>
          <a:effectLst/>
        </p:spPr>
        <p:txBody>
          <a:bodyPr wrap="square" lIns="0" tIns="0" rIns="0" bIns="0">
            <a:prstTxWarp prst="textNoShape">
              <a:avLst/>
            </a:prstTxWarp>
            <a:spAutoFit/>
          </a:bodyPr>
          <a:lstStyle/>
          <a:p>
            <a:pPr defTabSz="822325">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r>
              <a:rPr lang="zh-CN" altLang="en-US" sz="2400" dirty="0" smtClean="0">
                <a:solidFill>
                  <a:srgbClr val="0000FF"/>
                </a:solidFill>
                <a:latin typeface="+mn-ea"/>
                <a:ea typeface="+mn-ea"/>
              </a:rPr>
              <a:t>观察：对</a:t>
            </a:r>
            <a:r>
              <a:rPr lang="zh-CN" altLang="en-US" sz="2400" dirty="0" smtClean="0">
                <a:solidFill>
                  <a:srgbClr val="FF0000"/>
                </a:solidFill>
                <a:latin typeface="+mn-ea"/>
                <a:ea typeface="+mn-ea"/>
              </a:rPr>
              <a:t>大部分</a:t>
            </a:r>
            <a:r>
              <a:rPr lang="zh-CN" altLang="en-US" sz="2400" dirty="0" smtClean="0">
                <a:solidFill>
                  <a:srgbClr val="0000FF"/>
                </a:solidFill>
                <a:latin typeface="+mn-ea"/>
                <a:ea typeface="+mn-ea"/>
              </a:rPr>
              <a:t>应用程序，乱序超标量结构中的</a:t>
            </a:r>
            <a:r>
              <a:rPr lang="zh-CN" altLang="en-US" sz="2400" dirty="0" smtClean="0">
                <a:solidFill>
                  <a:srgbClr val="FF0000"/>
                </a:solidFill>
                <a:latin typeface="+mn-ea"/>
                <a:ea typeface="+mn-ea"/>
              </a:rPr>
              <a:t>大部分</a:t>
            </a:r>
            <a:r>
              <a:rPr lang="zh-CN" altLang="en-US" sz="2400" dirty="0" smtClean="0">
                <a:solidFill>
                  <a:srgbClr val="0000FF"/>
                </a:solidFill>
                <a:latin typeface="+mn-ea"/>
                <a:ea typeface="+mn-ea"/>
              </a:rPr>
              <a:t>部件都处于闲置状态</a:t>
            </a:r>
            <a:endParaRPr lang="en-US" sz="3200" dirty="0">
              <a:solidFill>
                <a:srgbClr val="0000FF"/>
              </a:solidFill>
              <a:latin typeface="+mn-ea"/>
              <a:ea typeface="+mn-ea"/>
            </a:endParaRPr>
          </a:p>
        </p:txBody>
      </p:sp>
    </p:spTree>
    <p:extLst>
      <p:ext uri="{BB962C8B-B14F-4D97-AF65-F5344CB8AC3E}">
        <p14:creationId xmlns:p14="http://schemas.microsoft.com/office/powerpoint/2010/main" val="3721879276"/>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338" name="Rectangle 2"/>
          <p:cNvSpPr>
            <a:spLocks noGrp="1" noChangeArrowheads="1"/>
          </p:cNvSpPr>
          <p:nvPr>
            <p:ph type="title"/>
          </p:nvPr>
        </p:nvSpPr>
        <p:spPr/>
        <p:txBody>
          <a:bodyPr/>
          <a:lstStyle/>
          <a:p>
            <a:r>
              <a:rPr lang="zh-CN" altLang="en-US" dirty="0" smtClean="0"/>
              <a:t>仔细分析超标量结构的效率</a:t>
            </a:r>
            <a:endParaRPr lang="en-US" dirty="0"/>
          </a:p>
        </p:txBody>
      </p:sp>
      <p:sp>
        <p:nvSpPr>
          <p:cNvPr id="63" name="内容占位符 62"/>
          <p:cNvSpPr>
            <a:spLocks noGrp="1"/>
          </p:cNvSpPr>
          <p:nvPr>
            <p:ph idx="1"/>
          </p:nvPr>
        </p:nvSpPr>
        <p:spPr>
          <a:xfrm>
            <a:off x="1981200" y="5768652"/>
            <a:ext cx="8178800" cy="540668"/>
          </a:xfrm>
        </p:spPr>
        <p:txBody>
          <a:bodyPr/>
          <a:lstStyle/>
          <a:p>
            <a:r>
              <a:rPr lang="zh-CN" altLang="en-US" dirty="0" smtClean="0"/>
              <a:t>功能部件的低效，导致指令吞吐率的下降</a:t>
            </a:r>
            <a:endParaRPr lang="zh-CN" altLang="en-US" dirty="0"/>
          </a:p>
        </p:txBody>
      </p:sp>
      <p:grpSp>
        <p:nvGrpSpPr>
          <p:cNvPr id="2" name="Group 3"/>
          <p:cNvGrpSpPr>
            <a:grpSpLocks/>
          </p:cNvGrpSpPr>
          <p:nvPr/>
        </p:nvGrpSpPr>
        <p:grpSpPr bwMode="auto">
          <a:xfrm>
            <a:off x="3641725" y="1484314"/>
            <a:ext cx="2571750" cy="4078287"/>
            <a:chOff x="1382" y="791"/>
            <a:chExt cx="1620" cy="2569"/>
          </a:xfrm>
        </p:grpSpPr>
        <p:sp>
          <p:nvSpPr>
            <p:cNvPr id="1422340" name="Text Box 4"/>
            <p:cNvSpPr txBox="1">
              <a:spLocks noChangeArrowheads="1"/>
            </p:cNvSpPr>
            <p:nvPr/>
          </p:nvSpPr>
          <p:spPr bwMode="auto">
            <a:xfrm>
              <a:off x="2102" y="791"/>
              <a:ext cx="900"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Issue width</a:t>
              </a:r>
            </a:p>
          </p:txBody>
        </p:sp>
        <p:grpSp>
          <p:nvGrpSpPr>
            <p:cNvPr id="3" name="Group 5"/>
            <p:cNvGrpSpPr>
              <a:grpSpLocks/>
            </p:cNvGrpSpPr>
            <p:nvPr/>
          </p:nvGrpSpPr>
          <p:grpSpPr bwMode="auto">
            <a:xfrm>
              <a:off x="2160" y="1248"/>
              <a:ext cx="768" cy="2112"/>
              <a:chOff x="2160" y="1248"/>
              <a:chExt cx="768" cy="2112"/>
            </a:xfrm>
          </p:grpSpPr>
          <p:sp>
            <p:nvSpPr>
              <p:cNvPr id="1422342" name="Rectangle 6" descr="Solid diamond"/>
              <p:cNvSpPr>
                <a:spLocks noChangeArrowheads="1"/>
              </p:cNvSpPr>
              <p:nvPr/>
            </p:nvSpPr>
            <p:spPr bwMode="auto">
              <a:xfrm>
                <a:off x="2160"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43" name="Rectangle 7" descr="Solid diamond"/>
              <p:cNvSpPr>
                <a:spLocks noChangeArrowheads="1"/>
              </p:cNvSpPr>
              <p:nvPr/>
            </p:nvSpPr>
            <p:spPr bwMode="auto">
              <a:xfrm>
                <a:off x="2352"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44" name="Rectangle 8" descr="Solid diamond"/>
              <p:cNvSpPr>
                <a:spLocks noChangeArrowheads="1"/>
              </p:cNvSpPr>
              <p:nvPr/>
            </p:nvSpPr>
            <p:spPr bwMode="auto">
              <a:xfrm>
                <a:off x="2544"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45" name="Rectangle 9"/>
              <p:cNvSpPr>
                <a:spLocks noChangeArrowheads="1"/>
              </p:cNvSpPr>
              <p:nvPr/>
            </p:nvSpPr>
            <p:spPr bwMode="auto">
              <a:xfrm>
                <a:off x="2736" y="124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46" name="Rectangle 10"/>
              <p:cNvSpPr>
                <a:spLocks noChangeArrowheads="1"/>
              </p:cNvSpPr>
              <p:nvPr/>
            </p:nvSpPr>
            <p:spPr bwMode="auto">
              <a:xfrm>
                <a:off x="2160" y="144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47" name="Rectangle 11"/>
              <p:cNvSpPr>
                <a:spLocks noChangeArrowheads="1"/>
              </p:cNvSpPr>
              <p:nvPr/>
            </p:nvSpPr>
            <p:spPr bwMode="auto">
              <a:xfrm>
                <a:off x="2352" y="144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48" name="Rectangle 12" descr="Solid diamond"/>
              <p:cNvSpPr>
                <a:spLocks noChangeArrowheads="1"/>
              </p:cNvSpPr>
              <p:nvPr/>
            </p:nvSpPr>
            <p:spPr bwMode="auto">
              <a:xfrm>
                <a:off x="2544" y="1440"/>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49" name="Rectangle 13"/>
              <p:cNvSpPr>
                <a:spLocks noChangeArrowheads="1"/>
              </p:cNvSpPr>
              <p:nvPr/>
            </p:nvSpPr>
            <p:spPr bwMode="auto">
              <a:xfrm>
                <a:off x="2736" y="144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0" name="Rectangle 14"/>
              <p:cNvSpPr>
                <a:spLocks noChangeArrowheads="1"/>
              </p:cNvSpPr>
              <p:nvPr/>
            </p:nvSpPr>
            <p:spPr bwMode="auto">
              <a:xfrm>
                <a:off x="2160" y="163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1" name="Rectangle 15"/>
              <p:cNvSpPr>
                <a:spLocks noChangeArrowheads="1"/>
              </p:cNvSpPr>
              <p:nvPr/>
            </p:nvSpPr>
            <p:spPr bwMode="auto">
              <a:xfrm>
                <a:off x="2352" y="163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2" name="Rectangle 16"/>
              <p:cNvSpPr>
                <a:spLocks noChangeArrowheads="1"/>
              </p:cNvSpPr>
              <p:nvPr/>
            </p:nvSpPr>
            <p:spPr bwMode="auto">
              <a:xfrm>
                <a:off x="2544" y="163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3" name="Rectangle 17"/>
              <p:cNvSpPr>
                <a:spLocks noChangeArrowheads="1"/>
              </p:cNvSpPr>
              <p:nvPr/>
            </p:nvSpPr>
            <p:spPr bwMode="auto">
              <a:xfrm>
                <a:off x="2736" y="163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4" name="Rectangle 18"/>
              <p:cNvSpPr>
                <a:spLocks noChangeArrowheads="1"/>
              </p:cNvSpPr>
              <p:nvPr/>
            </p:nvSpPr>
            <p:spPr bwMode="auto">
              <a:xfrm>
                <a:off x="2160" y="182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5" name="Rectangle 19"/>
              <p:cNvSpPr>
                <a:spLocks noChangeArrowheads="1"/>
              </p:cNvSpPr>
              <p:nvPr/>
            </p:nvSpPr>
            <p:spPr bwMode="auto">
              <a:xfrm>
                <a:off x="2352" y="182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6" name="Rectangle 20"/>
              <p:cNvSpPr>
                <a:spLocks noChangeArrowheads="1"/>
              </p:cNvSpPr>
              <p:nvPr/>
            </p:nvSpPr>
            <p:spPr bwMode="auto">
              <a:xfrm>
                <a:off x="2544" y="182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7" name="Rectangle 21"/>
              <p:cNvSpPr>
                <a:spLocks noChangeArrowheads="1"/>
              </p:cNvSpPr>
              <p:nvPr/>
            </p:nvSpPr>
            <p:spPr bwMode="auto">
              <a:xfrm>
                <a:off x="2736" y="182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8" name="Rectangle 22"/>
              <p:cNvSpPr>
                <a:spLocks noChangeArrowheads="1"/>
              </p:cNvSpPr>
              <p:nvPr/>
            </p:nvSpPr>
            <p:spPr bwMode="auto">
              <a:xfrm>
                <a:off x="2160" y="2016"/>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59" name="Rectangle 23" descr="Solid diamond"/>
              <p:cNvSpPr>
                <a:spLocks noChangeArrowheads="1"/>
              </p:cNvSpPr>
              <p:nvPr/>
            </p:nvSpPr>
            <p:spPr bwMode="auto">
              <a:xfrm>
                <a:off x="2352"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60" name="Rectangle 24" descr="Solid diamond"/>
              <p:cNvSpPr>
                <a:spLocks noChangeArrowheads="1"/>
              </p:cNvSpPr>
              <p:nvPr/>
            </p:nvSpPr>
            <p:spPr bwMode="auto">
              <a:xfrm>
                <a:off x="2544"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61" name="Rectangle 25"/>
              <p:cNvSpPr>
                <a:spLocks noChangeArrowheads="1"/>
              </p:cNvSpPr>
              <p:nvPr/>
            </p:nvSpPr>
            <p:spPr bwMode="auto">
              <a:xfrm>
                <a:off x="2736" y="2016"/>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2" name="Rectangle 26"/>
              <p:cNvSpPr>
                <a:spLocks noChangeArrowheads="1"/>
              </p:cNvSpPr>
              <p:nvPr/>
            </p:nvSpPr>
            <p:spPr bwMode="auto">
              <a:xfrm>
                <a:off x="2160" y="220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3" name="Rectangle 27"/>
              <p:cNvSpPr>
                <a:spLocks noChangeArrowheads="1"/>
              </p:cNvSpPr>
              <p:nvPr/>
            </p:nvSpPr>
            <p:spPr bwMode="auto">
              <a:xfrm>
                <a:off x="2352" y="220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4" name="Rectangle 28" descr="Solid diamond"/>
              <p:cNvSpPr>
                <a:spLocks noChangeArrowheads="1"/>
              </p:cNvSpPr>
              <p:nvPr/>
            </p:nvSpPr>
            <p:spPr bwMode="auto">
              <a:xfrm>
                <a:off x="2544" y="220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65" name="Rectangle 29"/>
              <p:cNvSpPr>
                <a:spLocks noChangeArrowheads="1"/>
              </p:cNvSpPr>
              <p:nvPr/>
            </p:nvSpPr>
            <p:spPr bwMode="auto">
              <a:xfrm>
                <a:off x="2736" y="220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6" name="Rectangle 30"/>
              <p:cNvSpPr>
                <a:spLocks noChangeArrowheads="1"/>
              </p:cNvSpPr>
              <p:nvPr/>
            </p:nvSpPr>
            <p:spPr bwMode="auto">
              <a:xfrm>
                <a:off x="2160" y="240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7" name="Rectangle 31"/>
              <p:cNvSpPr>
                <a:spLocks noChangeArrowheads="1"/>
              </p:cNvSpPr>
              <p:nvPr/>
            </p:nvSpPr>
            <p:spPr bwMode="auto">
              <a:xfrm>
                <a:off x="2352" y="240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8" name="Rectangle 32"/>
              <p:cNvSpPr>
                <a:spLocks noChangeArrowheads="1"/>
              </p:cNvSpPr>
              <p:nvPr/>
            </p:nvSpPr>
            <p:spPr bwMode="auto">
              <a:xfrm>
                <a:off x="2544" y="240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69" name="Rectangle 33"/>
              <p:cNvSpPr>
                <a:spLocks noChangeArrowheads="1"/>
              </p:cNvSpPr>
              <p:nvPr/>
            </p:nvSpPr>
            <p:spPr bwMode="auto">
              <a:xfrm>
                <a:off x="2736" y="2400"/>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0" name="Rectangle 34"/>
              <p:cNvSpPr>
                <a:spLocks noChangeArrowheads="1"/>
              </p:cNvSpPr>
              <p:nvPr/>
            </p:nvSpPr>
            <p:spPr bwMode="auto">
              <a:xfrm>
                <a:off x="2160" y="259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1" name="Rectangle 35"/>
              <p:cNvSpPr>
                <a:spLocks noChangeArrowheads="1"/>
              </p:cNvSpPr>
              <p:nvPr/>
            </p:nvSpPr>
            <p:spPr bwMode="auto">
              <a:xfrm>
                <a:off x="2352" y="259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2" name="Rectangle 36" descr="Solid diamond"/>
              <p:cNvSpPr>
                <a:spLocks noChangeArrowheads="1"/>
              </p:cNvSpPr>
              <p:nvPr/>
            </p:nvSpPr>
            <p:spPr bwMode="auto">
              <a:xfrm>
                <a:off x="2544" y="2592"/>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73" name="Rectangle 37"/>
              <p:cNvSpPr>
                <a:spLocks noChangeArrowheads="1"/>
              </p:cNvSpPr>
              <p:nvPr/>
            </p:nvSpPr>
            <p:spPr bwMode="auto">
              <a:xfrm>
                <a:off x="2736" y="2592"/>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4" name="Rectangle 38" descr="Solid diamond"/>
              <p:cNvSpPr>
                <a:spLocks noChangeArrowheads="1"/>
              </p:cNvSpPr>
              <p:nvPr/>
            </p:nvSpPr>
            <p:spPr bwMode="auto">
              <a:xfrm>
                <a:off x="2160"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75" name="Rectangle 39" descr="Solid diamond"/>
              <p:cNvSpPr>
                <a:spLocks noChangeArrowheads="1"/>
              </p:cNvSpPr>
              <p:nvPr/>
            </p:nvSpPr>
            <p:spPr bwMode="auto">
              <a:xfrm>
                <a:off x="2352"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76" name="Rectangle 40"/>
              <p:cNvSpPr>
                <a:spLocks noChangeArrowheads="1"/>
              </p:cNvSpPr>
              <p:nvPr/>
            </p:nvSpPr>
            <p:spPr bwMode="auto">
              <a:xfrm>
                <a:off x="2544" y="278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7" name="Rectangle 41"/>
              <p:cNvSpPr>
                <a:spLocks noChangeArrowheads="1"/>
              </p:cNvSpPr>
              <p:nvPr/>
            </p:nvSpPr>
            <p:spPr bwMode="auto">
              <a:xfrm>
                <a:off x="2736" y="2784"/>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78" name="Rectangle 42" descr="Solid diamond"/>
              <p:cNvSpPr>
                <a:spLocks noChangeArrowheads="1"/>
              </p:cNvSpPr>
              <p:nvPr/>
            </p:nvSpPr>
            <p:spPr bwMode="auto">
              <a:xfrm>
                <a:off x="2160"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79" name="Rectangle 43" descr="Solid diamond"/>
              <p:cNvSpPr>
                <a:spLocks noChangeArrowheads="1"/>
              </p:cNvSpPr>
              <p:nvPr/>
            </p:nvSpPr>
            <p:spPr bwMode="auto">
              <a:xfrm>
                <a:off x="2352"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80" name="Rectangle 44" descr="Solid diamond"/>
              <p:cNvSpPr>
                <a:spLocks noChangeArrowheads="1"/>
              </p:cNvSpPr>
              <p:nvPr/>
            </p:nvSpPr>
            <p:spPr bwMode="auto">
              <a:xfrm>
                <a:off x="2544"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81" name="Rectangle 45" descr="Solid diamond"/>
              <p:cNvSpPr>
                <a:spLocks noChangeArrowheads="1"/>
              </p:cNvSpPr>
              <p:nvPr/>
            </p:nvSpPr>
            <p:spPr bwMode="auto">
              <a:xfrm>
                <a:off x="2736"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2382" name="Rectangle 46"/>
              <p:cNvSpPr>
                <a:spLocks noChangeArrowheads="1"/>
              </p:cNvSpPr>
              <p:nvPr/>
            </p:nvSpPr>
            <p:spPr bwMode="auto">
              <a:xfrm>
                <a:off x="2160" y="316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83" name="Rectangle 47"/>
              <p:cNvSpPr>
                <a:spLocks noChangeArrowheads="1"/>
              </p:cNvSpPr>
              <p:nvPr/>
            </p:nvSpPr>
            <p:spPr bwMode="auto">
              <a:xfrm>
                <a:off x="2352" y="316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84" name="Rectangle 48"/>
              <p:cNvSpPr>
                <a:spLocks noChangeArrowheads="1"/>
              </p:cNvSpPr>
              <p:nvPr/>
            </p:nvSpPr>
            <p:spPr bwMode="auto">
              <a:xfrm>
                <a:off x="2544" y="316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2385" name="Rectangle 49"/>
              <p:cNvSpPr>
                <a:spLocks noChangeArrowheads="1"/>
              </p:cNvSpPr>
              <p:nvPr/>
            </p:nvSpPr>
            <p:spPr bwMode="auto">
              <a:xfrm>
                <a:off x="2736" y="3168"/>
                <a:ext cx="192" cy="192"/>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grpSp>
        <p:sp>
          <p:nvSpPr>
            <p:cNvPr id="1422386" name="Line 50"/>
            <p:cNvSpPr>
              <a:spLocks noChangeShapeType="1"/>
            </p:cNvSpPr>
            <p:nvPr/>
          </p:nvSpPr>
          <p:spPr bwMode="auto">
            <a:xfrm>
              <a:off x="2160" y="1056"/>
              <a:ext cx="768"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22387" name="Line 51"/>
            <p:cNvSpPr>
              <a:spLocks noChangeShapeType="1"/>
            </p:cNvSpPr>
            <p:nvPr/>
          </p:nvSpPr>
          <p:spPr bwMode="auto">
            <a:xfrm>
              <a:off x="1872" y="1824"/>
              <a:ext cx="0" cy="912"/>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22388" name="Text Box 52"/>
            <p:cNvSpPr txBox="1">
              <a:spLocks noChangeArrowheads="1"/>
            </p:cNvSpPr>
            <p:nvPr/>
          </p:nvSpPr>
          <p:spPr bwMode="auto">
            <a:xfrm>
              <a:off x="1382" y="2183"/>
              <a:ext cx="452"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grpSp>
      <p:sp>
        <p:nvSpPr>
          <p:cNvPr id="1422389" name="Line 53"/>
          <p:cNvSpPr>
            <a:spLocks noChangeShapeType="1"/>
          </p:cNvSpPr>
          <p:nvPr/>
        </p:nvSpPr>
        <p:spPr bwMode="auto">
          <a:xfrm flipV="1">
            <a:off x="6096000" y="2932113"/>
            <a:ext cx="685800" cy="76200"/>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
        <p:nvSpPr>
          <p:cNvPr id="1422390" name="Text Box 54"/>
          <p:cNvSpPr txBox="1">
            <a:spLocks noChangeArrowheads="1"/>
          </p:cNvSpPr>
          <p:nvPr/>
        </p:nvSpPr>
        <p:spPr bwMode="auto">
          <a:xfrm>
            <a:off x="6705600" y="2627313"/>
            <a:ext cx="2743200" cy="641350"/>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Completely idle cycle (</a:t>
            </a:r>
            <a:r>
              <a:rPr lang="en-US" b="1" i="1">
                <a:solidFill>
                  <a:schemeClr val="hlink"/>
                </a:solidFill>
              </a:rPr>
              <a:t>vertical waste</a:t>
            </a:r>
            <a:r>
              <a:rPr lang="en-US" b="1" i="1"/>
              <a:t>)</a:t>
            </a:r>
          </a:p>
        </p:txBody>
      </p:sp>
      <p:sp>
        <p:nvSpPr>
          <p:cNvPr id="1422391" name="Line 55"/>
          <p:cNvSpPr>
            <a:spLocks noChangeShapeType="1"/>
          </p:cNvSpPr>
          <p:nvPr/>
        </p:nvSpPr>
        <p:spPr bwMode="auto">
          <a:xfrm flipH="1" flipV="1">
            <a:off x="4267200" y="2286000"/>
            <a:ext cx="685800" cy="76200"/>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
        <p:nvSpPr>
          <p:cNvPr id="1422392" name="Text Box 56"/>
          <p:cNvSpPr txBox="1">
            <a:spLocks noChangeArrowheads="1"/>
          </p:cNvSpPr>
          <p:nvPr/>
        </p:nvSpPr>
        <p:spPr bwMode="auto">
          <a:xfrm>
            <a:off x="3352801" y="1905000"/>
            <a:ext cx="1387475" cy="641350"/>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Instruction issue</a:t>
            </a:r>
          </a:p>
        </p:txBody>
      </p:sp>
      <p:sp>
        <p:nvSpPr>
          <p:cNvPr id="1422393" name="Line 57"/>
          <p:cNvSpPr>
            <a:spLocks noChangeShapeType="1"/>
          </p:cNvSpPr>
          <p:nvPr/>
        </p:nvSpPr>
        <p:spPr bwMode="auto">
          <a:xfrm flipV="1">
            <a:off x="6096000" y="4303714"/>
            <a:ext cx="762000" cy="192087"/>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
        <p:nvSpPr>
          <p:cNvPr id="1422394" name="Text Box 58"/>
          <p:cNvSpPr txBox="1">
            <a:spLocks noChangeArrowheads="1"/>
          </p:cNvSpPr>
          <p:nvPr/>
        </p:nvSpPr>
        <p:spPr bwMode="auto">
          <a:xfrm>
            <a:off x="6934200" y="3922714"/>
            <a:ext cx="2438400" cy="915987"/>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Partially filled cycle, i.e., IPC &lt; 4</a:t>
            </a:r>
          </a:p>
          <a:p>
            <a:pPr algn="l">
              <a:spcBef>
                <a:spcPct val="0"/>
              </a:spcBef>
            </a:pPr>
            <a:r>
              <a:rPr lang="en-US" b="1" i="1"/>
              <a:t>(</a:t>
            </a:r>
            <a:r>
              <a:rPr lang="en-US" b="1" i="1">
                <a:solidFill>
                  <a:schemeClr val="hlink"/>
                </a:solidFill>
              </a:rPr>
              <a:t>horizontal waste</a:t>
            </a:r>
            <a:r>
              <a:rPr lang="en-US" b="1" i="1"/>
              <a:t>)</a:t>
            </a:r>
          </a:p>
        </p:txBody>
      </p:sp>
    </p:spTree>
    <p:extLst>
      <p:ext uri="{BB962C8B-B14F-4D97-AF65-F5344CB8AC3E}">
        <p14:creationId xmlns:p14="http://schemas.microsoft.com/office/powerpoint/2010/main" val="19879255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4386" name="Rectangle 2"/>
          <p:cNvSpPr>
            <a:spLocks noGrp="1" noChangeArrowheads="1"/>
          </p:cNvSpPr>
          <p:nvPr>
            <p:ph type="title"/>
          </p:nvPr>
        </p:nvSpPr>
        <p:spPr>
          <a:xfrm>
            <a:off x="1410112" y="410394"/>
            <a:ext cx="7162800" cy="914400"/>
          </a:xfrm>
        </p:spPr>
        <p:txBody>
          <a:bodyPr/>
          <a:lstStyle/>
          <a:p>
            <a:r>
              <a:rPr lang="zh-CN" altLang="en-US" dirty="0" smtClean="0"/>
              <a:t>垂直多线程</a:t>
            </a:r>
            <a:endParaRPr lang="en-US" dirty="0"/>
          </a:p>
        </p:txBody>
      </p:sp>
      <p:sp>
        <p:nvSpPr>
          <p:cNvPr id="1424387" name="Rectangle 3"/>
          <p:cNvSpPr>
            <a:spLocks noGrp="1" noChangeArrowheads="1"/>
          </p:cNvSpPr>
          <p:nvPr>
            <p:ph idx="1"/>
          </p:nvPr>
        </p:nvSpPr>
        <p:spPr>
          <a:xfrm>
            <a:off x="724312" y="5684068"/>
            <a:ext cx="7848600" cy="838200"/>
          </a:xfrm>
          <a:noFill/>
          <a:ln/>
        </p:spPr>
        <p:txBody>
          <a:bodyPr/>
          <a:lstStyle/>
          <a:p>
            <a:r>
              <a:rPr lang="zh-CN" altLang="en-US" dirty="0"/>
              <a:t>按周期交替执行的效果如何</a:t>
            </a:r>
            <a:r>
              <a:rPr lang="en-US" dirty="0"/>
              <a:t>?</a:t>
            </a:r>
          </a:p>
          <a:p>
            <a:pPr lvl="1">
              <a:lnSpc>
                <a:spcPct val="100000"/>
              </a:lnSpc>
              <a:spcBef>
                <a:spcPct val="0"/>
              </a:spcBef>
            </a:pPr>
            <a:r>
              <a:rPr lang="zh-CN" altLang="en-US" dirty="0">
                <a:solidFill>
                  <a:srgbClr val="FF0000"/>
                </a:solidFill>
              </a:rPr>
              <a:t>消除了垂直损失，但还留下了</a:t>
            </a:r>
            <a:r>
              <a:rPr lang="zh-CN" altLang="en-US" dirty="0" smtClean="0">
                <a:solidFill>
                  <a:srgbClr val="FF0000"/>
                </a:solidFill>
              </a:rPr>
              <a:t>水平损失</a:t>
            </a:r>
            <a:endParaRPr lang="en-US" dirty="0">
              <a:solidFill>
                <a:srgbClr val="FF0000"/>
              </a:solidFill>
            </a:endParaRPr>
          </a:p>
        </p:txBody>
      </p:sp>
      <p:sp>
        <p:nvSpPr>
          <p:cNvPr id="1424388" name="Rectangle 4" descr="Solid diamond"/>
          <p:cNvSpPr>
            <a:spLocks noChangeArrowheads="1"/>
          </p:cNvSpPr>
          <p:nvPr/>
        </p:nvSpPr>
        <p:spPr bwMode="auto">
          <a:xfrm>
            <a:off x="6988304" y="24090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89" name="Rectangle 5" descr="Solid diamond"/>
          <p:cNvSpPr>
            <a:spLocks noChangeArrowheads="1"/>
          </p:cNvSpPr>
          <p:nvPr/>
        </p:nvSpPr>
        <p:spPr bwMode="auto">
          <a:xfrm>
            <a:off x="7293104" y="24090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90" name="Rectangle 6" descr="Solid diamond"/>
          <p:cNvSpPr>
            <a:spLocks noChangeArrowheads="1"/>
          </p:cNvSpPr>
          <p:nvPr/>
        </p:nvSpPr>
        <p:spPr bwMode="auto">
          <a:xfrm>
            <a:off x="7597904" y="24090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91" name="Rectangle 7"/>
          <p:cNvSpPr>
            <a:spLocks noChangeArrowheads="1"/>
          </p:cNvSpPr>
          <p:nvPr/>
        </p:nvSpPr>
        <p:spPr bwMode="auto">
          <a:xfrm>
            <a:off x="7902704" y="2409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392" name="Rectangle 8"/>
          <p:cNvSpPr>
            <a:spLocks noChangeArrowheads="1"/>
          </p:cNvSpPr>
          <p:nvPr/>
        </p:nvSpPr>
        <p:spPr bwMode="auto">
          <a:xfrm>
            <a:off x="6988304" y="27138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393" name="Rectangle 9"/>
          <p:cNvSpPr>
            <a:spLocks noChangeArrowheads="1"/>
          </p:cNvSpPr>
          <p:nvPr/>
        </p:nvSpPr>
        <p:spPr bwMode="auto">
          <a:xfrm>
            <a:off x="7293104" y="27138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394" name="Rectangle 10" descr="Solid diamond"/>
          <p:cNvSpPr>
            <a:spLocks noChangeArrowheads="1"/>
          </p:cNvSpPr>
          <p:nvPr/>
        </p:nvSpPr>
        <p:spPr bwMode="auto">
          <a:xfrm>
            <a:off x="7597904" y="27138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95" name="Rectangle 11"/>
          <p:cNvSpPr>
            <a:spLocks noChangeArrowheads="1"/>
          </p:cNvSpPr>
          <p:nvPr/>
        </p:nvSpPr>
        <p:spPr bwMode="auto">
          <a:xfrm>
            <a:off x="7902704" y="27138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396" name="Rectangle 12"/>
          <p:cNvSpPr>
            <a:spLocks noChangeArrowheads="1"/>
          </p:cNvSpPr>
          <p:nvPr/>
        </p:nvSpPr>
        <p:spPr bwMode="auto">
          <a:xfrm>
            <a:off x="6988304" y="30186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397" name="Rectangle 13" descr="Wide upward diagonal"/>
          <p:cNvSpPr>
            <a:spLocks noChangeArrowheads="1"/>
          </p:cNvSpPr>
          <p:nvPr/>
        </p:nvSpPr>
        <p:spPr bwMode="auto">
          <a:xfrm>
            <a:off x="7293104" y="30186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98" name="Rectangle 14" descr="Wide upward diagonal"/>
          <p:cNvSpPr>
            <a:spLocks noChangeArrowheads="1"/>
          </p:cNvSpPr>
          <p:nvPr/>
        </p:nvSpPr>
        <p:spPr bwMode="auto">
          <a:xfrm>
            <a:off x="7597904" y="30186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399" name="Rectangle 15"/>
          <p:cNvSpPr>
            <a:spLocks noChangeArrowheads="1"/>
          </p:cNvSpPr>
          <p:nvPr/>
        </p:nvSpPr>
        <p:spPr bwMode="auto">
          <a:xfrm>
            <a:off x="7902704" y="30186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0" name="Rectangle 16"/>
          <p:cNvSpPr>
            <a:spLocks noChangeArrowheads="1"/>
          </p:cNvSpPr>
          <p:nvPr/>
        </p:nvSpPr>
        <p:spPr bwMode="auto">
          <a:xfrm>
            <a:off x="6988304" y="33234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1" name="Rectangle 17"/>
          <p:cNvSpPr>
            <a:spLocks noChangeArrowheads="1"/>
          </p:cNvSpPr>
          <p:nvPr/>
        </p:nvSpPr>
        <p:spPr bwMode="auto">
          <a:xfrm>
            <a:off x="7293104" y="33234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2" name="Rectangle 18" descr="Wide upward diagonal"/>
          <p:cNvSpPr>
            <a:spLocks noChangeArrowheads="1"/>
          </p:cNvSpPr>
          <p:nvPr/>
        </p:nvSpPr>
        <p:spPr bwMode="auto">
          <a:xfrm>
            <a:off x="7597904" y="33234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03" name="Rectangle 19"/>
          <p:cNvSpPr>
            <a:spLocks noChangeArrowheads="1"/>
          </p:cNvSpPr>
          <p:nvPr/>
        </p:nvSpPr>
        <p:spPr bwMode="auto">
          <a:xfrm>
            <a:off x="7902704" y="33234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4" name="Rectangle 20"/>
          <p:cNvSpPr>
            <a:spLocks noChangeArrowheads="1"/>
          </p:cNvSpPr>
          <p:nvPr/>
        </p:nvSpPr>
        <p:spPr bwMode="auto">
          <a:xfrm>
            <a:off x="6988304" y="36282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5" name="Rectangle 21" descr="Solid diamond"/>
          <p:cNvSpPr>
            <a:spLocks noChangeArrowheads="1"/>
          </p:cNvSpPr>
          <p:nvPr/>
        </p:nvSpPr>
        <p:spPr bwMode="auto">
          <a:xfrm>
            <a:off x="7293104" y="3628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06" name="Rectangle 22" descr="Solid diamond"/>
          <p:cNvSpPr>
            <a:spLocks noChangeArrowheads="1"/>
          </p:cNvSpPr>
          <p:nvPr/>
        </p:nvSpPr>
        <p:spPr bwMode="auto">
          <a:xfrm>
            <a:off x="7597904" y="3628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07" name="Rectangle 23"/>
          <p:cNvSpPr>
            <a:spLocks noChangeArrowheads="1"/>
          </p:cNvSpPr>
          <p:nvPr/>
        </p:nvSpPr>
        <p:spPr bwMode="auto">
          <a:xfrm>
            <a:off x="7902704" y="36282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8" name="Rectangle 24"/>
          <p:cNvSpPr>
            <a:spLocks noChangeArrowheads="1"/>
          </p:cNvSpPr>
          <p:nvPr/>
        </p:nvSpPr>
        <p:spPr bwMode="auto">
          <a:xfrm>
            <a:off x="6988304" y="3933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09" name="Rectangle 25"/>
          <p:cNvSpPr>
            <a:spLocks noChangeArrowheads="1"/>
          </p:cNvSpPr>
          <p:nvPr/>
        </p:nvSpPr>
        <p:spPr bwMode="auto">
          <a:xfrm>
            <a:off x="7293104" y="3933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0" name="Rectangle 26" descr="Solid diamond"/>
          <p:cNvSpPr>
            <a:spLocks noChangeArrowheads="1"/>
          </p:cNvSpPr>
          <p:nvPr/>
        </p:nvSpPr>
        <p:spPr bwMode="auto">
          <a:xfrm>
            <a:off x="7597904" y="39330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11" name="Rectangle 27"/>
          <p:cNvSpPr>
            <a:spLocks noChangeArrowheads="1"/>
          </p:cNvSpPr>
          <p:nvPr/>
        </p:nvSpPr>
        <p:spPr bwMode="auto">
          <a:xfrm>
            <a:off x="7902704" y="3933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2" name="Rectangle 28" descr="Wide upward diagonal"/>
          <p:cNvSpPr>
            <a:spLocks noChangeArrowheads="1"/>
          </p:cNvSpPr>
          <p:nvPr/>
        </p:nvSpPr>
        <p:spPr bwMode="auto">
          <a:xfrm>
            <a:off x="6988304" y="42378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13" name="Rectangle 29" descr="Wide upward diagonal"/>
          <p:cNvSpPr>
            <a:spLocks noChangeArrowheads="1"/>
          </p:cNvSpPr>
          <p:nvPr/>
        </p:nvSpPr>
        <p:spPr bwMode="auto">
          <a:xfrm>
            <a:off x="7293104" y="42378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14" name="Rectangle 30"/>
          <p:cNvSpPr>
            <a:spLocks noChangeArrowheads="1"/>
          </p:cNvSpPr>
          <p:nvPr/>
        </p:nvSpPr>
        <p:spPr bwMode="auto">
          <a:xfrm>
            <a:off x="7597904" y="42378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5" name="Rectangle 31"/>
          <p:cNvSpPr>
            <a:spLocks noChangeArrowheads="1"/>
          </p:cNvSpPr>
          <p:nvPr/>
        </p:nvSpPr>
        <p:spPr bwMode="auto">
          <a:xfrm>
            <a:off x="7902704" y="42378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6" name="Rectangle 32"/>
          <p:cNvSpPr>
            <a:spLocks noChangeArrowheads="1"/>
          </p:cNvSpPr>
          <p:nvPr/>
        </p:nvSpPr>
        <p:spPr bwMode="auto">
          <a:xfrm>
            <a:off x="6988304" y="45426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7" name="Rectangle 33"/>
          <p:cNvSpPr>
            <a:spLocks noChangeArrowheads="1"/>
          </p:cNvSpPr>
          <p:nvPr/>
        </p:nvSpPr>
        <p:spPr bwMode="auto">
          <a:xfrm>
            <a:off x="7293104" y="45426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18" name="Rectangle 34" descr="Solid diamond"/>
          <p:cNvSpPr>
            <a:spLocks noChangeArrowheads="1"/>
          </p:cNvSpPr>
          <p:nvPr/>
        </p:nvSpPr>
        <p:spPr bwMode="auto">
          <a:xfrm>
            <a:off x="7597904" y="45426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19" name="Rectangle 35"/>
          <p:cNvSpPr>
            <a:spLocks noChangeArrowheads="1"/>
          </p:cNvSpPr>
          <p:nvPr/>
        </p:nvSpPr>
        <p:spPr bwMode="auto">
          <a:xfrm>
            <a:off x="7902704" y="45426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20" name="Rectangle 36" descr="Solid diamond"/>
          <p:cNvSpPr>
            <a:spLocks noChangeArrowheads="1"/>
          </p:cNvSpPr>
          <p:nvPr/>
        </p:nvSpPr>
        <p:spPr bwMode="auto">
          <a:xfrm>
            <a:off x="6988304" y="48474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1" name="Rectangle 37" descr="Solid diamond"/>
          <p:cNvSpPr>
            <a:spLocks noChangeArrowheads="1"/>
          </p:cNvSpPr>
          <p:nvPr/>
        </p:nvSpPr>
        <p:spPr bwMode="auto">
          <a:xfrm>
            <a:off x="7293104" y="48474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2" name="Rectangle 38"/>
          <p:cNvSpPr>
            <a:spLocks noChangeArrowheads="1"/>
          </p:cNvSpPr>
          <p:nvPr/>
        </p:nvSpPr>
        <p:spPr bwMode="auto">
          <a:xfrm>
            <a:off x="7597904" y="48474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23" name="Rectangle 39"/>
          <p:cNvSpPr>
            <a:spLocks noChangeArrowheads="1"/>
          </p:cNvSpPr>
          <p:nvPr/>
        </p:nvSpPr>
        <p:spPr bwMode="auto">
          <a:xfrm>
            <a:off x="7902704" y="48474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24" name="Rectangle 40" descr="Solid diamond"/>
          <p:cNvSpPr>
            <a:spLocks noChangeArrowheads="1"/>
          </p:cNvSpPr>
          <p:nvPr/>
        </p:nvSpPr>
        <p:spPr bwMode="auto">
          <a:xfrm>
            <a:off x="6988304" y="5152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5" name="Rectangle 41" descr="Solid diamond"/>
          <p:cNvSpPr>
            <a:spLocks noChangeArrowheads="1"/>
          </p:cNvSpPr>
          <p:nvPr/>
        </p:nvSpPr>
        <p:spPr bwMode="auto">
          <a:xfrm>
            <a:off x="7293104" y="5152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6" name="Rectangle 42" descr="Solid diamond"/>
          <p:cNvSpPr>
            <a:spLocks noChangeArrowheads="1"/>
          </p:cNvSpPr>
          <p:nvPr/>
        </p:nvSpPr>
        <p:spPr bwMode="auto">
          <a:xfrm>
            <a:off x="7597904" y="5152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7" name="Rectangle 43" descr="Solid diamond"/>
          <p:cNvSpPr>
            <a:spLocks noChangeArrowheads="1"/>
          </p:cNvSpPr>
          <p:nvPr/>
        </p:nvSpPr>
        <p:spPr bwMode="auto">
          <a:xfrm>
            <a:off x="7902704" y="5152256"/>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28" name="Rectangle 44"/>
          <p:cNvSpPr>
            <a:spLocks noChangeArrowheads="1"/>
          </p:cNvSpPr>
          <p:nvPr/>
        </p:nvSpPr>
        <p:spPr bwMode="auto">
          <a:xfrm>
            <a:off x="6988304" y="5457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29" name="Rectangle 45"/>
          <p:cNvSpPr>
            <a:spLocks noChangeArrowheads="1"/>
          </p:cNvSpPr>
          <p:nvPr/>
        </p:nvSpPr>
        <p:spPr bwMode="auto">
          <a:xfrm>
            <a:off x="7293104" y="5457056"/>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4430" name="Rectangle 46" descr="Wide upward diagonal"/>
          <p:cNvSpPr>
            <a:spLocks noChangeArrowheads="1"/>
          </p:cNvSpPr>
          <p:nvPr/>
        </p:nvSpPr>
        <p:spPr bwMode="auto">
          <a:xfrm>
            <a:off x="7597904" y="54570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31" name="Rectangle 47" descr="Wide upward diagonal"/>
          <p:cNvSpPr>
            <a:spLocks noChangeArrowheads="1"/>
          </p:cNvSpPr>
          <p:nvPr/>
        </p:nvSpPr>
        <p:spPr bwMode="auto">
          <a:xfrm>
            <a:off x="7902704" y="5457056"/>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4432" name="Line 48"/>
          <p:cNvSpPr>
            <a:spLocks noChangeShapeType="1"/>
          </p:cNvSpPr>
          <p:nvPr/>
        </p:nvSpPr>
        <p:spPr bwMode="auto">
          <a:xfrm>
            <a:off x="6988304" y="2104256"/>
            <a:ext cx="1219200"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24433" name="Text Box 49"/>
          <p:cNvSpPr txBox="1">
            <a:spLocks noChangeArrowheads="1"/>
          </p:cNvSpPr>
          <p:nvPr/>
        </p:nvSpPr>
        <p:spPr bwMode="auto">
          <a:xfrm>
            <a:off x="6896229" y="1683569"/>
            <a:ext cx="1428750" cy="366712"/>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Issue width</a:t>
            </a:r>
          </a:p>
        </p:txBody>
      </p:sp>
      <p:sp>
        <p:nvSpPr>
          <p:cNvPr id="1424434" name="Line 50"/>
          <p:cNvSpPr>
            <a:spLocks noChangeShapeType="1"/>
          </p:cNvSpPr>
          <p:nvPr/>
        </p:nvSpPr>
        <p:spPr bwMode="auto">
          <a:xfrm>
            <a:off x="6531104" y="3323456"/>
            <a:ext cx="0" cy="144780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24435" name="Text Box 51"/>
          <p:cNvSpPr txBox="1">
            <a:spLocks noChangeArrowheads="1"/>
          </p:cNvSpPr>
          <p:nvPr/>
        </p:nvSpPr>
        <p:spPr bwMode="auto">
          <a:xfrm>
            <a:off x="5753229" y="3893369"/>
            <a:ext cx="717550" cy="366712"/>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sp>
        <p:nvSpPr>
          <p:cNvPr id="1424436" name="Text Box 52"/>
          <p:cNvSpPr txBox="1">
            <a:spLocks noChangeArrowheads="1"/>
          </p:cNvSpPr>
          <p:nvPr/>
        </p:nvSpPr>
        <p:spPr bwMode="auto">
          <a:xfrm>
            <a:off x="8969504" y="2866256"/>
            <a:ext cx="3200400" cy="641350"/>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Second thread interleaved cycle-by-cycle</a:t>
            </a:r>
          </a:p>
        </p:txBody>
      </p:sp>
      <p:sp>
        <p:nvSpPr>
          <p:cNvPr id="1424437" name="Line 53"/>
          <p:cNvSpPr>
            <a:spLocks noChangeShapeType="1"/>
          </p:cNvSpPr>
          <p:nvPr/>
        </p:nvSpPr>
        <p:spPr bwMode="auto">
          <a:xfrm flipH="1" flipV="1">
            <a:off x="6378704" y="2485256"/>
            <a:ext cx="685800" cy="76200"/>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
        <p:nvSpPr>
          <p:cNvPr id="1424438" name="Text Box 54"/>
          <p:cNvSpPr txBox="1">
            <a:spLocks noChangeArrowheads="1"/>
          </p:cNvSpPr>
          <p:nvPr/>
        </p:nvSpPr>
        <p:spPr bwMode="auto">
          <a:xfrm>
            <a:off x="5464305" y="2104256"/>
            <a:ext cx="1387475" cy="641350"/>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Instruction issue</a:t>
            </a:r>
          </a:p>
        </p:txBody>
      </p:sp>
      <p:sp>
        <p:nvSpPr>
          <p:cNvPr id="1424439" name="Line 55"/>
          <p:cNvSpPr>
            <a:spLocks noChangeShapeType="1"/>
          </p:cNvSpPr>
          <p:nvPr/>
        </p:nvSpPr>
        <p:spPr bwMode="auto">
          <a:xfrm flipV="1">
            <a:off x="8207504" y="4542656"/>
            <a:ext cx="762000" cy="152400"/>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
        <p:nvSpPr>
          <p:cNvPr id="1424440" name="Text Box 56"/>
          <p:cNvSpPr txBox="1">
            <a:spLocks noChangeArrowheads="1"/>
          </p:cNvSpPr>
          <p:nvPr/>
        </p:nvSpPr>
        <p:spPr bwMode="auto">
          <a:xfrm>
            <a:off x="8969504" y="4161656"/>
            <a:ext cx="2438400" cy="915988"/>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dirty="0"/>
              <a:t>Partially filled cycle, i.e., IPC &lt; 4</a:t>
            </a:r>
          </a:p>
          <a:p>
            <a:pPr algn="l">
              <a:spcBef>
                <a:spcPct val="0"/>
              </a:spcBef>
            </a:pPr>
            <a:r>
              <a:rPr lang="en-US" b="1" i="1" dirty="0"/>
              <a:t>(</a:t>
            </a:r>
            <a:r>
              <a:rPr lang="en-US" b="1" i="1" dirty="0">
                <a:solidFill>
                  <a:srgbClr val="FF0000"/>
                </a:solidFill>
              </a:rPr>
              <a:t>horizontal waste</a:t>
            </a:r>
            <a:r>
              <a:rPr lang="en-US" b="1" i="1" dirty="0"/>
              <a:t>)</a:t>
            </a:r>
          </a:p>
        </p:txBody>
      </p:sp>
      <p:sp>
        <p:nvSpPr>
          <p:cNvPr id="1424441" name="Line 57"/>
          <p:cNvSpPr>
            <a:spLocks noChangeShapeType="1"/>
          </p:cNvSpPr>
          <p:nvPr/>
        </p:nvSpPr>
        <p:spPr bwMode="auto">
          <a:xfrm flipV="1">
            <a:off x="8207504" y="3094856"/>
            <a:ext cx="762000" cy="115888"/>
          </a:xfrm>
          <a:prstGeom prst="line">
            <a:avLst/>
          </a:prstGeom>
          <a:noFill/>
          <a:ln w="25400">
            <a:solidFill>
              <a:schemeClr val="tx1"/>
            </a:solidFill>
            <a:round/>
            <a:headEnd type="triangle" w="med" len="med"/>
            <a:tailEnd/>
          </a:ln>
          <a:effectLst/>
        </p:spPr>
        <p:txBody>
          <a:bodyPr>
            <a:prstTxWarp prst="textNoShape">
              <a:avLst/>
            </a:prstTxWarp>
          </a:bodyPr>
          <a:lstStyle/>
          <a:p>
            <a:endParaRPr lang="en-US"/>
          </a:p>
        </p:txBody>
      </p:sp>
    </p:spTree>
    <p:extLst>
      <p:ext uri="{BB962C8B-B14F-4D97-AF65-F5344CB8AC3E}">
        <p14:creationId xmlns:p14="http://schemas.microsoft.com/office/powerpoint/2010/main" val="126247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43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4" name="Rectangle 2"/>
          <p:cNvSpPr>
            <a:spLocks noGrp="1" noChangeArrowheads="1"/>
          </p:cNvSpPr>
          <p:nvPr>
            <p:ph type="title"/>
          </p:nvPr>
        </p:nvSpPr>
        <p:spPr>
          <a:xfrm>
            <a:off x="2174875" y="320799"/>
            <a:ext cx="7162800" cy="914400"/>
          </a:xfrm>
        </p:spPr>
        <p:txBody>
          <a:bodyPr/>
          <a:lstStyle/>
          <a:p>
            <a:r>
              <a:rPr lang="zh-CN" altLang="en-US" dirty="0" smtClean="0"/>
              <a:t>片上多处理器</a:t>
            </a:r>
            <a:r>
              <a:rPr lang="en-US" dirty="0" smtClean="0"/>
              <a:t>(</a:t>
            </a:r>
            <a:r>
              <a:rPr lang="en-US" dirty="0"/>
              <a:t>CMP</a:t>
            </a:r>
            <a:r>
              <a:rPr lang="en-US" dirty="0" smtClean="0"/>
              <a:t>)</a:t>
            </a:r>
            <a:r>
              <a:rPr lang="zh-CN" altLang="en-US" dirty="0" smtClean="0"/>
              <a:t>方案</a:t>
            </a:r>
            <a:endParaRPr lang="en-US" dirty="0"/>
          </a:p>
        </p:txBody>
      </p:sp>
      <p:sp>
        <p:nvSpPr>
          <p:cNvPr id="1426435" name="Rectangle 3"/>
          <p:cNvSpPr>
            <a:spLocks noGrp="1" noChangeArrowheads="1"/>
          </p:cNvSpPr>
          <p:nvPr>
            <p:ph idx="1"/>
          </p:nvPr>
        </p:nvSpPr>
        <p:spPr>
          <a:xfrm>
            <a:off x="696491" y="3650353"/>
            <a:ext cx="7848600" cy="1289050"/>
          </a:xfrm>
          <a:noFill/>
          <a:ln/>
        </p:spPr>
        <p:txBody>
          <a:bodyPr/>
          <a:lstStyle/>
          <a:p>
            <a:r>
              <a:rPr lang="zh-CN" altLang="en-US" dirty="0"/>
              <a:t>如果把资源分拆为两个处理器，效果会如何</a:t>
            </a:r>
            <a:r>
              <a:rPr lang="en-US" dirty="0"/>
              <a:t>?</a:t>
            </a:r>
          </a:p>
          <a:p>
            <a:pPr lvl="1">
              <a:lnSpc>
                <a:spcPct val="100000"/>
              </a:lnSpc>
              <a:spcBef>
                <a:spcPct val="0"/>
              </a:spcBef>
            </a:pPr>
            <a:r>
              <a:rPr lang="zh-CN" altLang="en-US" sz="2800" dirty="0">
                <a:solidFill>
                  <a:srgbClr val="FF0000"/>
                </a:solidFill>
              </a:rPr>
              <a:t>减少了水平损失，还留下一些垂直损失</a:t>
            </a:r>
            <a:endParaRPr lang="en-US" sz="2800" dirty="0">
              <a:solidFill>
                <a:srgbClr val="FF0000"/>
              </a:solidFill>
            </a:endParaRPr>
          </a:p>
          <a:p>
            <a:pPr lvl="1">
              <a:lnSpc>
                <a:spcPct val="100000"/>
              </a:lnSpc>
              <a:spcBef>
                <a:spcPct val="0"/>
              </a:spcBef>
            </a:pPr>
            <a:r>
              <a:rPr lang="zh-CN" altLang="en-US" sz="2800" dirty="0">
                <a:solidFill>
                  <a:srgbClr val="FF0000"/>
                </a:solidFill>
              </a:rPr>
              <a:t>为每个线程的峰值性能设置了较低的上限</a:t>
            </a:r>
            <a:endParaRPr lang="en-US" sz="2800" dirty="0">
              <a:solidFill>
                <a:srgbClr val="FF0000"/>
              </a:solidFill>
            </a:endParaRPr>
          </a:p>
        </p:txBody>
      </p:sp>
      <p:sp>
        <p:nvSpPr>
          <p:cNvPr id="1426436" name="Rectangle 4" descr="Solid diamond"/>
          <p:cNvSpPr>
            <a:spLocks noChangeArrowheads="1"/>
          </p:cNvSpPr>
          <p:nvPr/>
        </p:nvSpPr>
        <p:spPr bwMode="auto">
          <a:xfrm>
            <a:off x="9337675" y="24258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37" name="Rectangle 5" descr="Solid diamond"/>
          <p:cNvSpPr>
            <a:spLocks noChangeArrowheads="1"/>
          </p:cNvSpPr>
          <p:nvPr/>
        </p:nvSpPr>
        <p:spPr bwMode="auto">
          <a:xfrm>
            <a:off x="9642475" y="24258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38" name="Rectangle 6" descr="Wide upward diagonal"/>
          <p:cNvSpPr>
            <a:spLocks noChangeArrowheads="1"/>
          </p:cNvSpPr>
          <p:nvPr/>
        </p:nvSpPr>
        <p:spPr bwMode="auto">
          <a:xfrm>
            <a:off x="10183812" y="24258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39" name="Rectangle 7"/>
          <p:cNvSpPr>
            <a:spLocks noChangeArrowheads="1"/>
          </p:cNvSpPr>
          <p:nvPr/>
        </p:nvSpPr>
        <p:spPr bwMode="auto">
          <a:xfrm>
            <a:off x="10488612" y="2425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0" name="Rectangle 8"/>
          <p:cNvSpPr>
            <a:spLocks noChangeArrowheads="1"/>
          </p:cNvSpPr>
          <p:nvPr/>
        </p:nvSpPr>
        <p:spPr bwMode="auto">
          <a:xfrm>
            <a:off x="9337675" y="27306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1" name="Rectangle 9"/>
          <p:cNvSpPr>
            <a:spLocks noChangeArrowheads="1"/>
          </p:cNvSpPr>
          <p:nvPr/>
        </p:nvSpPr>
        <p:spPr bwMode="auto">
          <a:xfrm>
            <a:off x="9642475" y="27306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2" name="Rectangle 10"/>
          <p:cNvSpPr>
            <a:spLocks noChangeArrowheads="1"/>
          </p:cNvSpPr>
          <p:nvPr/>
        </p:nvSpPr>
        <p:spPr bwMode="auto">
          <a:xfrm>
            <a:off x="10183812" y="27306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3" name="Rectangle 11" descr="Wide upward diagonal"/>
          <p:cNvSpPr>
            <a:spLocks noChangeArrowheads="1"/>
          </p:cNvSpPr>
          <p:nvPr/>
        </p:nvSpPr>
        <p:spPr bwMode="auto">
          <a:xfrm>
            <a:off x="10488612" y="27306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44" name="Rectangle 12"/>
          <p:cNvSpPr>
            <a:spLocks noChangeArrowheads="1"/>
          </p:cNvSpPr>
          <p:nvPr/>
        </p:nvSpPr>
        <p:spPr bwMode="auto">
          <a:xfrm>
            <a:off x="9337675" y="30354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5" name="Rectangle 13" descr="Solid diamond"/>
          <p:cNvSpPr>
            <a:spLocks noChangeArrowheads="1"/>
          </p:cNvSpPr>
          <p:nvPr/>
        </p:nvSpPr>
        <p:spPr bwMode="auto">
          <a:xfrm>
            <a:off x="9642475" y="30354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46" name="Rectangle 14" descr="Wide upward diagonal"/>
          <p:cNvSpPr>
            <a:spLocks noChangeArrowheads="1"/>
          </p:cNvSpPr>
          <p:nvPr/>
        </p:nvSpPr>
        <p:spPr bwMode="auto">
          <a:xfrm>
            <a:off x="10183812" y="30354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47" name="Rectangle 15"/>
          <p:cNvSpPr>
            <a:spLocks noChangeArrowheads="1"/>
          </p:cNvSpPr>
          <p:nvPr/>
        </p:nvSpPr>
        <p:spPr bwMode="auto">
          <a:xfrm>
            <a:off x="10488612" y="30354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8" name="Rectangle 16"/>
          <p:cNvSpPr>
            <a:spLocks noChangeArrowheads="1"/>
          </p:cNvSpPr>
          <p:nvPr/>
        </p:nvSpPr>
        <p:spPr bwMode="auto">
          <a:xfrm>
            <a:off x="9337675" y="3340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49" name="Rectangle 17"/>
          <p:cNvSpPr>
            <a:spLocks noChangeArrowheads="1"/>
          </p:cNvSpPr>
          <p:nvPr/>
        </p:nvSpPr>
        <p:spPr bwMode="auto">
          <a:xfrm>
            <a:off x="9642475" y="3340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0" name="Rectangle 18"/>
          <p:cNvSpPr>
            <a:spLocks noChangeArrowheads="1"/>
          </p:cNvSpPr>
          <p:nvPr/>
        </p:nvSpPr>
        <p:spPr bwMode="auto">
          <a:xfrm>
            <a:off x="10183812" y="3340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1" name="Rectangle 19"/>
          <p:cNvSpPr>
            <a:spLocks noChangeArrowheads="1"/>
          </p:cNvSpPr>
          <p:nvPr/>
        </p:nvSpPr>
        <p:spPr bwMode="auto">
          <a:xfrm>
            <a:off x="10488612" y="3340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2" name="Rectangle 20"/>
          <p:cNvSpPr>
            <a:spLocks noChangeArrowheads="1"/>
          </p:cNvSpPr>
          <p:nvPr/>
        </p:nvSpPr>
        <p:spPr bwMode="auto">
          <a:xfrm>
            <a:off x="9337675" y="36450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3" name="Rectangle 21" descr="Solid diamond"/>
          <p:cNvSpPr>
            <a:spLocks noChangeArrowheads="1"/>
          </p:cNvSpPr>
          <p:nvPr/>
        </p:nvSpPr>
        <p:spPr bwMode="auto">
          <a:xfrm>
            <a:off x="9642475" y="36450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54" name="Rectangle 22" descr="Wide upward diagonal"/>
          <p:cNvSpPr>
            <a:spLocks noChangeArrowheads="1"/>
          </p:cNvSpPr>
          <p:nvPr/>
        </p:nvSpPr>
        <p:spPr bwMode="auto">
          <a:xfrm>
            <a:off x="10183812" y="36450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55" name="Rectangle 23" descr="Wide upward diagonal"/>
          <p:cNvSpPr>
            <a:spLocks noChangeArrowheads="1"/>
          </p:cNvSpPr>
          <p:nvPr/>
        </p:nvSpPr>
        <p:spPr bwMode="auto">
          <a:xfrm>
            <a:off x="10488612" y="36450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56" name="Rectangle 24"/>
          <p:cNvSpPr>
            <a:spLocks noChangeArrowheads="1"/>
          </p:cNvSpPr>
          <p:nvPr/>
        </p:nvSpPr>
        <p:spPr bwMode="auto">
          <a:xfrm>
            <a:off x="9337675" y="3949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7" name="Rectangle 25"/>
          <p:cNvSpPr>
            <a:spLocks noChangeArrowheads="1"/>
          </p:cNvSpPr>
          <p:nvPr/>
        </p:nvSpPr>
        <p:spPr bwMode="auto">
          <a:xfrm>
            <a:off x="9642475" y="3949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58" name="Rectangle 26" descr="Wide upward diagonal"/>
          <p:cNvSpPr>
            <a:spLocks noChangeArrowheads="1"/>
          </p:cNvSpPr>
          <p:nvPr/>
        </p:nvSpPr>
        <p:spPr bwMode="auto">
          <a:xfrm>
            <a:off x="10183812" y="39498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59" name="Rectangle 27"/>
          <p:cNvSpPr>
            <a:spLocks noChangeArrowheads="1"/>
          </p:cNvSpPr>
          <p:nvPr/>
        </p:nvSpPr>
        <p:spPr bwMode="auto">
          <a:xfrm>
            <a:off x="10488612" y="3949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0" name="Rectangle 28" descr="Solid diamond"/>
          <p:cNvSpPr>
            <a:spLocks noChangeArrowheads="1"/>
          </p:cNvSpPr>
          <p:nvPr/>
        </p:nvSpPr>
        <p:spPr bwMode="auto">
          <a:xfrm>
            <a:off x="9337675" y="42546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61" name="Rectangle 29" descr="Solid diamond"/>
          <p:cNvSpPr>
            <a:spLocks noChangeArrowheads="1"/>
          </p:cNvSpPr>
          <p:nvPr/>
        </p:nvSpPr>
        <p:spPr bwMode="auto">
          <a:xfrm>
            <a:off x="9642475" y="42546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62" name="Rectangle 30"/>
          <p:cNvSpPr>
            <a:spLocks noChangeArrowheads="1"/>
          </p:cNvSpPr>
          <p:nvPr/>
        </p:nvSpPr>
        <p:spPr bwMode="auto">
          <a:xfrm>
            <a:off x="10183812" y="42546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3" name="Rectangle 31"/>
          <p:cNvSpPr>
            <a:spLocks noChangeArrowheads="1"/>
          </p:cNvSpPr>
          <p:nvPr/>
        </p:nvSpPr>
        <p:spPr bwMode="auto">
          <a:xfrm>
            <a:off x="10488612" y="42546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4" name="Rectangle 32"/>
          <p:cNvSpPr>
            <a:spLocks noChangeArrowheads="1"/>
          </p:cNvSpPr>
          <p:nvPr/>
        </p:nvSpPr>
        <p:spPr bwMode="auto">
          <a:xfrm>
            <a:off x="9337675" y="45594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5" name="Rectangle 33"/>
          <p:cNvSpPr>
            <a:spLocks noChangeArrowheads="1"/>
          </p:cNvSpPr>
          <p:nvPr/>
        </p:nvSpPr>
        <p:spPr bwMode="auto">
          <a:xfrm>
            <a:off x="9642475" y="45594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6" name="Rectangle 34" descr="Wide upward diagonal"/>
          <p:cNvSpPr>
            <a:spLocks noChangeArrowheads="1"/>
          </p:cNvSpPr>
          <p:nvPr/>
        </p:nvSpPr>
        <p:spPr bwMode="auto">
          <a:xfrm>
            <a:off x="10183812" y="45594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67" name="Rectangle 35"/>
          <p:cNvSpPr>
            <a:spLocks noChangeArrowheads="1"/>
          </p:cNvSpPr>
          <p:nvPr/>
        </p:nvSpPr>
        <p:spPr bwMode="auto">
          <a:xfrm>
            <a:off x="10488612" y="45594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68" name="Rectangle 36" descr="Solid diamond"/>
          <p:cNvSpPr>
            <a:spLocks noChangeArrowheads="1"/>
          </p:cNvSpPr>
          <p:nvPr/>
        </p:nvSpPr>
        <p:spPr bwMode="auto">
          <a:xfrm>
            <a:off x="9337675" y="48642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69" name="Rectangle 37" descr="Solid diamond"/>
          <p:cNvSpPr>
            <a:spLocks noChangeArrowheads="1"/>
          </p:cNvSpPr>
          <p:nvPr/>
        </p:nvSpPr>
        <p:spPr bwMode="auto">
          <a:xfrm>
            <a:off x="9642475" y="48642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0" name="Rectangle 38"/>
          <p:cNvSpPr>
            <a:spLocks noChangeArrowheads="1"/>
          </p:cNvSpPr>
          <p:nvPr/>
        </p:nvSpPr>
        <p:spPr bwMode="auto">
          <a:xfrm>
            <a:off x="10183812" y="4864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71" name="Rectangle 39"/>
          <p:cNvSpPr>
            <a:spLocks noChangeArrowheads="1"/>
          </p:cNvSpPr>
          <p:nvPr/>
        </p:nvSpPr>
        <p:spPr bwMode="auto">
          <a:xfrm>
            <a:off x="10488612" y="48642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72" name="Rectangle 40" descr="Solid diamond"/>
          <p:cNvSpPr>
            <a:spLocks noChangeArrowheads="1"/>
          </p:cNvSpPr>
          <p:nvPr/>
        </p:nvSpPr>
        <p:spPr bwMode="auto">
          <a:xfrm>
            <a:off x="9337675" y="51690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3" name="Rectangle 41" descr="Solid diamond"/>
          <p:cNvSpPr>
            <a:spLocks noChangeArrowheads="1"/>
          </p:cNvSpPr>
          <p:nvPr/>
        </p:nvSpPr>
        <p:spPr bwMode="auto">
          <a:xfrm>
            <a:off x="9642475" y="516902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4" name="Rectangle 42" descr="Wide upward diagonal"/>
          <p:cNvSpPr>
            <a:spLocks noChangeArrowheads="1"/>
          </p:cNvSpPr>
          <p:nvPr/>
        </p:nvSpPr>
        <p:spPr bwMode="auto">
          <a:xfrm>
            <a:off x="10183812" y="51690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5" name="Rectangle 43" descr="Wide upward diagonal"/>
          <p:cNvSpPr>
            <a:spLocks noChangeArrowheads="1"/>
          </p:cNvSpPr>
          <p:nvPr/>
        </p:nvSpPr>
        <p:spPr bwMode="auto">
          <a:xfrm>
            <a:off x="10488612" y="51690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6" name="Rectangle 44"/>
          <p:cNvSpPr>
            <a:spLocks noChangeArrowheads="1"/>
          </p:cNvSpPr>
          <p:nvPr/>
        </p:nvSpPr>
        <p:spPr bwMode="auto">
          <a:xfrm>
            <a:off x="9337675" y="5473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77" name="Rectangle 45"/>
          <p:cNvSpPr>
            <a:spLocks noChangeArrowheads="1"/>
          </p:cNvSpPr>
          <p:nvPr/>
        </p:nvSpPr>
        <p:spPr bwMode="auto">
          <a:xfrm>
            <a:off x="9642475" y="547382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6478" name="Rectangle 46" descr="Wide upward diagonal"/>
          <p:cNvSpPr>
            <a:spLocks noChangeArrowheads="1"/>
          </p:cNvSpPr>
          <p:nvPr/>
        </p:nvSpPr>
        <p:spPr bwMode="auto">
          <a:xfrm>
            <a:off x="10183812" y="54738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79" name="Rectangle 47" descr="Wide upward diagonal"/>
          <p:cNvSpPr>
            <a:spLocks noChangeArrowheads="1"/>
          </p:cNvSpPr>
          <p:nvPr/>
        </p:nvSpPr>
        <p:spPr bwMode="auto">
          <a:xfrm>
            <a:off x="10488612" y="5473824"/>
            <a:ext cx="304800" cy="304800"/>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6480" name="Line 48"/>
          <p:cNvSpPr>
            <a:spLocks noChangeShapeType="1"/>
          </p:cNvSpPr>
          <p:nvPr/>
        </p:nvSpPr>
        <p:spPr bwMode="auto">
          <a:xfrm>
            <a:off x="9293225" y="2211511"/>
            <a:ext cx="633412"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26481" name="Text Box 49"/>
          <p:cNvSpPr txBox="1">
            <a:spLocks noChangeArrowheads="1"/>
          </p:cNvSpPr>
          <p:nvPr/>
        </p:nvSpPr>
        <p:spPr bwMode="auto">
          <a:xfrm>
            <a:off x="9291637" y="1700337"/>
            <a:ext cx="1428750" cy="366713"/>
          </a:xfrm>
          <a:prstGeom prst="rect">
            <a:avLst/>
          </a:prstGeom>
          <a:noFill/>
          <a:ln w="25400">
            <a:noFill/>
            <a:miter lim="800000"/>
            <a:headEnd/>
            <a:tailEnd/>
          </a:ln>
          <a:effectLst/>
        </p:spPr>
        <p:txBody>
          <a:bodyPr>
            <a:prstTxWarp prst="textNoShape">
              <a:avLst/>
            </a:prstTxWarp>
            <a:spAutoFit/>
          </a:bodyPr>
          <a:lstStyle/>
          <a:p>
            <a:pPr algn="l">
              <a:spcBef>
                <a:spcPct val="0"/>
              </a:spcBef>
            </a:pPr>
            <a:r>
              <a:rPr lang="en-US" b="1" i="1"/>
              <a:t>Issue width</a:t>
            </a:r>
          </a:p>
        </p:txBody>
      </p:sp>
      <p:sp>
        <p:nvSpPr>
          <p:cNvPr id="1426482" name="Line 50"/>
          <p:cNvSpPr>
            <a:spLocks noChangeShapeType="1"/>
          </p:cNvSpPr>
          <p:nvPr/>
        </p:nvSpPr>
        <p:spPr bwMode="auto">
          <a:xfrm>
            <a:off x="8880475" y="3340224"/>
            <a:ext cx="0" cy="144780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26483" name="Text Box 51"/>
          <p:cNvSpPr txBox="1">
            <a:spLocks noChangeArrowheads="1"/>
          </p:cNvSpPr>
          <p:nvPr/>
        </p:nvSpPr>
        <p:spPr bwMode="auto">
          <a:xfrm>
            <a:off x="8102600" y="3910137"/>
            <a:ext cx="717550" cy="366713"/>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sp>
        <p:nvSpPr>
          <p:cNvPr id="1426484" name="Line 52"/>
          <p:cNvSpPr>
            <a:spLocks noChangeShapeType="1"/>
          </p:cNvSpPr>
          <p:nvPr/>
        </p:nvSpPr>
        <p:spPr bwMode="auto">
          <a:xfrm>
            <a:off x="10191750" y="2194049"/>
            <a:ext cx="633412"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Tree>
    <p:extLst>
      <p:ext uri="{BB962C8B-B14F-4D97-AF65-F5344CB8AC3E}">
        <p14:creationId xmlns:p14="http://schemas.microsoft.com/office/powerpoint/2010/main" val="214999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64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26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482" name="Rectangle 2"/>
          <p:cNvSpPr>
            <a:spLocks noGrp="1" noChangeArrowheads="1"/>
          </p:cNvSpPr>
          <p:nvPr>
            <p:ph type="title"/>
          </p:nvPr>
        </p:nvSpPr>
        <p:spPr>
          <a:xfrm>
            <a:off x="1751013" y="490538"/>
            <a:ext cx="8648700" cy="609600"/>
          </a:xfrm>
        </p:spPr>
        <p:txBody>
          <a:bodyPr/>
          <a:lstStyle/>
          <a:p>
            <a:r>
              <a:rPr lang="zh-CN" altLang="en-US" dirty="0" smtClean="0"/>
              <a:t>理想的超标量多线程</a:t>
            </a:r>
            <a:r>
              <a:rPr lang="en-US" dirty="0" smtClean="0"/>
              <a:t> </a:t>
            </a:r>
            <a:endParaRPr lang="en-US" sz="1800" dirty="0"/>
          </a:p>
        </p:txBody>
      </p:sp>
      <p:sp>
        <p:nvSpPr>
          <p:cNvPr id="1428483" name="Rectangle 3"/>
          <p:cNvSpPr>
            <a:spLocks noGrp="1" noChangeArrowheads="1"/>
          </p:cNvSpPr>
          <p:nvPr>
            <p:ph idx="1"/>
          </p:nvPr>
        </p:nvSpPr>
        <p:spPr>
          <a:xfrm>
            <a:off x="839416" y="2341711"/>
            <a:ext cx="5904656" cy="838200"/>
          </a:xfrm>
          <a:noFill/>
          <a:ln/>
        </p:spPr>
        <p:txBody>
          <a:bodyPr/>
          <a:lstStyle/>
          <a:p>
            <a:r>
              <a:rPr lang="zh-CN" altLang="en-US" dirty="0"/>
              <a:t>没有任何限制，多个线程可在多个发射槽里交替执行</a:t>
            </a:r>
            <a:endParaRPr lang="en-US" dirty="0"/>
          </a:p>
        </p:txBody>
      </p:sp>
      <p:grpSp>
        <p:nvGrpSpPr>
          <p:cNvPr id="2" name="Group 4"/>
          <p:cNvGrpSpPr>
            <a:grpSpLocks/>
          </p:cNvGrpSpPr>
          <p:nvPr/>
        </p:nvGrpSpPr>
        <p:grpSpPr bwMode="auto">
          <a:xfrm>
            <a:off x="8832304" y="1844824"/>
            <a:ext cx="2571750" cy="4078287"/>
            <a:chOff x="1574" y="791"/>
            <a:chExt cx="1620" cy="2569"/>
          </a:xfrm>
        </p:grpSpPr>
        <p:grpSp>
          <p:nvGrpSpPr>
            <p:cNvPr id="3" name="Group 5"/>
            <p:cNvGrpSpPr>
              <a:grpSpLocks/>
            </p:cNvGrpSpPr>
            <p:nvPr/>
          </p:nvGrpSpPr>
          <p:grpSpPr bwMode="auto">
            <a:xfrm>
              <a:off x="2352" y="1248"/>
              <a:ext cx="768" cy="2112"/>
              <a:chOff x="2352" y="1248"/>
              <a:chExt cx="768" cy="2112"/>
            </a:xfrm>
          </p:grpSpPr>
          <p:sp>
            <p:nvSpPr>
              <p:cNvPr id="1428486" name="Rectangle 6" descr="Solid diamond"/>
              <p:cNvSpPr>
                <a:spLocks noChangeArrowheads="1"/>
              </p:cNvSpPr>
              <p:nvPr/>
            </p:nvSpPr>
            <p:spPr bwMode="auto">
              <a:xfrm>
                <a:off x="2352"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87" name="Rectangle 7" descr="Solid diamond"/>
              <p:cNvSpPr>
                <a:spLocks noChangeArrowheads="1"/>
              </p:cNvSpPr>
              <p:nvPr/>
            </p:nvSpPr>
            <p:spPr bwMode="auto">
              <a:xfrm>
                <a:off x="2544"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88" name="Rectangle 8" descr="Solid diamond"/>
              <p:cNvSpPr>
                <a:spLocks noChangeArrowheads="1"/>
              </p:cNvSpPr>
              <p:nvPr/>
            </p:nvSpPr>
            <p:spPr bwMode="auto">
              <a:xfrm>
                <a:off x="2736"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89" name="Rectangle 9"/>
              <p:cNvSpPr>
                <a:spLocks noChangeArrowheads="1"/>
              </p:cNvSpPr>
              <p:nvPr/>
            </p:nvSpPr>
            <p:spPr bwMode="auto">
              <a:xfrm>
                <a:off x="2928" y="124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490" name="Rectangle 10"/>
              <p:cNvSpPr>
                <a:spLocks noChangeArrowheads="1"/>
              </p:cNvSpPr>
              <p:nvPr/>
            </p:nvSpPr>
            <p:spPr bwMode="auto">
              <a:xfrm>
                <a:off x="2352" y="144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491" name="Rectangle 11" descr="Dark horizontal"/>
              <p:cNvSpPr>
                <a:spLocks noChangeArrowheads="1"/>
              </p:cNvSpPr>
              <p:nvPr/>
            </p:nvSpPr>
            <p:spPr bwMode="auto">
              <a:xfrm>
                <a:off x="2544" y="1440"/>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2" name="Rectangle 12" descr="Solid diamond"/>
              <p:cNvSpPr>
                <a:spLocks noChangeArrowheads="1"/>
              </p:cNvSpPr>
              <p:nvPr/>
            </p:nvSpPr>
            <p:spPr bwMode="auto">
              <a:xfrm>
                <a:off x="2736" y="1440"/>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3" name="Rectangle 13"/>
              <p:cNvSpPr>
                <a:spLocks noChangeArrowheads="1"/>
              </p:cNvSpPr>
              <p:nvPr/>
            </p:nvSpPr>
            <p:spPr bwMode="auto">
              <a:xfrm>
                <a:off x="2928" y="144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494" name="Rectangle 14"/>
              <p:cNvSpPr>
                <a:spLocks noChangeArrowheads="1"/>
              </p:cNvSpPr>
              <p:nvPr/>
            </p:nvSpPr>
            <p:spPr bwMode="auto">
              <a:xfrm>
                <a:off x="2352" y="1632"/>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495" name="Rectangle 15" descr="Wide upward diagonal"/>
              <p:cNvSpPr>
                <a:spLocks noChangeArrowheads="1"/>
              </p:cNvSpPr>
              <p:nvPr/>
            </p:nvSpPr>
            <p:spPr bwMode="auto">
              <a:xfrm>
                <a:off x="2544" y="163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6" name="Rectangle 16" descr="Wide upward diagonal"/>
              <p:cNvSpPr>
                <a:spLocks noChangeArrowheads="1"/>
              </p:cNvSpPr>
              <p:nvPr/>
            </p:nvSpPr>
            <p:spPr bwMode="auto">
              <a:xfrm>
                <a:off x="2736" y="163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7" name="Rectangle 17" descr="Solid diamond"/>
              <p:cNvSpPr>
                <a:spLocks noChangeArrowheads="1"/>
              </p:cNvSpPr>
              <p:nvPr/>
            </p:nvSpPr>
            <p:spPr bwMode="auto">
              <a:xfrm>
                <a:off x="2928" y="1632"/>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8" name="Rectangle 18" descr="Dark horizontal"/>
              <p:cNvSpPr>
                <a:spLocks noChangeArrowheads="1"/>
              </p:cNvSpPr>
              <p:nvPr/>
            </p:nvSpPr>
            <p:spPr bwMode="auto">
              <a:xfrm>
                <a:off x="2352"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499" name="Rectangle 19" descr="Dark horizontal"/>
              <p:cNvSpPr>
                <a:spLocks noChangeArrowheads="1"/>
              </p:cNvSpPr>
              <p:nvPr/>
            </p:nvSpPr>
            <p:spPr bwMode="auto">
              <a:xfrm>
                <a:off x="2544"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0" name="Rectangle 20" descr="Wide upward diagonal"/>
              <p:cNvSpPr>
                <a:spLocks noChangeArrowheads="1"/>
              </p:cNvSpPr>
              <p:nvPr/>
            </p:nvSpPr>
            <p:spPr bwMode="auto">
              <a:xfrm>
                <a:off x="2736" y="1824"/>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1" name="Rectangle 21" descr="Dark horizontal"/>
              <p:cNvSpPr>
                <a:spLocks noChangeArrowheads="1"/>
              </p:cNvSpPr>
              <p:nvPr/>
            </p:nvSpPr>
            <p:spPr bwMode="auto">
              <a:xfrm>
                <a:off x="2928"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2" name="Rectangle 22" descr="Dark horizontal"/>
              <p:cNvSpPr>
                <a:spLocks noChangeArrowheads="1"/>
              </p:cNvSpPr>
              <p:nvPr/>
            </p:nvSpPr>
            <p:spPr bwMode="auto">
              <a:xfrm>
                <a:off x="2352" y="2016"/>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3" name="Rectangle 23" descr="Solid diamond"/>
              <p:cNvSpPr>
                <a:spLocks noChangeArrowheads="1"/>
              </p:cNvSpPr>
              <p:nvPr/>
            </p:nvSpPr>
            <p:spPr bwMode="auto">
              <a:xfrm>
                <a:off x="2544"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4" name="Rectangle 24" descr="Solid diamond"/>
              <p:cNvSpPr>
                <a:spLocks noChangeArrowheads="1"/>
              </p:cNvSpPr>
              <p:nvPr/>
            </p:nvSpPr>
            <p:spPr bwMode="auto">
              <a:xfrm>
                <a:off x="2736"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5" name="Rectangle 25" descr="Wide upward diagonal"/>
              <p:cNvSpPr>
                <a:spLocks noChangeArrowheads="1"/>
              </p:cNvSpPr>
              <p:nvPr/>
            </p:nvSpPr>
            <p:spPr bwMode="auto">
              <a:xfrm>
                <a:off x="2928" y="2016"/>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6" name="Rectangle 26"/>
              <p:cNvSpPr>
                <a:spLocks noChangeArrowheads="1"/>
              </p:cNvSpPr>
              <p:nvPr/>
            </p:nvSpPr>
            <p:spPr bwMode="auto">
              <a:xfrm>
                <a:off x="2352" y="220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07" name="Rectangle 27"/>
              <p:cNvSpPr>
                <a:spLocks noChangeArrowheads="1"/>
              </p:cNvSpPr>
              <p:nvPr/>
            </p:nvSpPr>
            <p:spPr bwMode="auto">
              <a:xfrm>
                <a:off x="2544" y="220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08" name="Rectangle 28" descr="Solid diamond"/>
              <p:cNvSpPr>
                <a:spLocks noChangeArrowheads="1"/>
              </p:cNvSpPr>
              <p:nvPr/>
            </p:nvSpPr>
            <p:spPr bwMode="auto">
              <a:xfrm>
                <a:off x="2736" y="220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09" name="Rectangle 29" descr="Dark horizontal"/>
              <p:cNvSpPr>
                <a:spLocks noChangeArrowheads="1"/>
              </p:cNvSpPr>
              <p:nvPr/>
            </p:nvSpPr>
            <p:spPr bwMode="auto">
              <a:xfrm>
                <a:off x="2928" y="2208"/>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0" name="Rectangle 30" descr="Wide upward diagonal"/>
              <p:cNvSpPr>
                <a:spLocks noChangeArrowheads="1"/>
              </p:cNvSpPr>
              <p:nvPr/>
            </p:nvSpPr>
            <p:spPr bwMode="auto">
              <a:xfrm>
                <a:off x="2352" y="2400"/>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1" name="Rectangle 31" descr="Wide upward diagonal"/>
              <p:cNvSpPr>
                <a:spLocks noChangeArrowheads="1"/>
              </p:cNvSpPr>
              <p:nvPr/>
            </p:nvSpPr>
            <p:spPr bwMode="auto">
              <a:xfrm>
                <a:off x="2544" y="2400"/>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2" name="Rectangle 32"/>
              <p:cNvSpPr>
                <a:spLocks noChangeArrowheads="1"/>
              </p:cNvSpPr>
              <p:nvPr/>
            </p:nvSpPr>
            <p:spPr bwMode="auto">
              <a:xfrm>
                <a:off x="2736" y="240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13" name="Rectangle 33" descr="Dark horizontal"/>
              <p:cNvSpPr>
                <a:spLocks noChangeArrowheads="1"/>
              </p:cNvSpPr>
              <p:nvPr/>
            </p:nvSpPr>
            <p:spPr bwMode="auto">
              <a:xfrm>
                <a:off x="2928" y="2400"/>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4" name="Rectangle 34" descr="Wide upward diagonal"/>
              <p:cNvSpPr>
                <a:spLocks noChangeArrowheads="1"/>
              </p:cNvSpPr>
              <p:nvPr/>
            </p:nvSpPr>
            <p:spPr bwMode="auto">
              <a:xfrm>
                <a:off x="2352" y="259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5" name="Rectangle 35"/>
              <p:cNvSpPr>
                <a:spLocks noChangeArrowheads="1"/>
              </p:cNvSpPr>
              <p:nvPr/>
            </p:nvSpPr>
            <p:spPr bwMode="auto">
              <a:xfrm>
                <a:off x="2544" y="2592"/>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16" name="Rectangle 36" descr="Solid diamond"/>
              <p:cNvSpPr>
                <a:spLocks noChangeArrowheads="1"/>
              </p:cNvSpPr>
              <p:nvPr/>
            </p:nvSpPr>
            <p:spPr bwMode="auto">
              <a:xfrm>
                <a:off x="2736" y="2592"/>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7" name="Rectangle 37" descr="Dark horizontal"/>
              <p:cNvSpPr>
                <a:spLocks noChangeArrowheads="1"/>
              </p:cNvSpPr>
              <p:nvPr/>
            </p:nvSpPr>
            <p:spPr bwMode="auto">
              <a:xfrm>
                <a:off x="2928" y="2592"/>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8" name="Rectangle 38" descr="Solid diamond"/>
              <p:cNvSpPr>
                <a:spLocks noChangeArrowheads="1"/>
              </p:cNvSpPr>
              <p:nvPr/>
            </p:nvSpPr>
            <p:spPr bwMode="auto">
              <a:xfrm>
                <a:off x="2352"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19" name="Rectangle 39" descr="Solid diamond"/>
              <p:cNvSpPr>
                <a:spLocks noChangeArrowheads="1"/>
              </p:cNvSpPr>
              <p:nvPr/>
            </p:nvSpPr>
            <p:spPr bwMode="auto">
              <a:xfrm>
                <a:off x="2544"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0" name="Rectangle 40"/>
              <p:cNvSpPr>
                <a:spLocks noChangeArrowheads="1"/>
              </p:cNvSpPr>
              <p:nvPr/>
            </p:nvSpPr>
            <p:spPr bwMode="auto">
              <a:xfrm>
                <a:off x="2736" y="2784"/>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21" name="Rectangle 41"/>
              <p:cNvSpPr>
                <a:spLocks noChangeArrowheads="1"/>
              </p:cNvSpPr>
              <p:nvPr/>
            </p:nvSpPr>
            <p:spPr bwMode="auto">
              <a:xfrm>
                <a:off x="2928" y="2784"/>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22" name="Rectangle 42" descr="Solid diamond"/>
              <p:cNvSpPr>
                <a:spLocks noChangeArrowheads="1"/>
              </p:cNvSpPr>
              <p:nvPr/>
            </p:nvSpPr>
            <p:spPr bwMode="auto">
              <a:xfrm>
                <a:off x="2352"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3" name="Rectangle 43" descr="Solid diamond"/>
              <p:cNvSpPr>
                <a:spLocks noChangeArrowheads="1"/>
              </p:cNvSpPr>
              <p:nvPr/>
            </p:nvSpPr>
            <p:spPr bwMode="auto">
              <a:xfrm>
                <a:off x="2544"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4" name="Rectangle 44" descr="Solid diamond"/>
              <p:cNvSpPr>
                <a:spLocks noChangeArrowheads="1"/>
              </p:cNvSpPr>
              <p:nvPr/>
            </p:nvSpPr>
            <p:spPr bwMode="auto">
              <a:xfrm>
                <a:off x="2736"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5" name="Rectangle 45" descr="Solid diamond"/>
              <p:cNvSpPr>
                <a:spLocks noChangeArrowheads="1"/>
              </p:cNvSpPr>
              <p:nvPr/>
            </p:nvSpPr>
            <p:spPr bwMode="auto">
              <a:xfrm>
                <a:off x="2928"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6" name="Rectangle 46" descr="Dark horizontal"/>
              <p:cNvSpPr>
                <a:spLocks noChangeArrowheads="1"/>
              </p:cNvSpPr>
              <p:nvPr/>
            </p:nvSpPr>
            <p:spPr bwMode="auto">
              <a:xfrm>
                <a:off x="2352" y="3168"/>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7" name="Rectangle 47"/>
              <p:cNvSpPr>
                <a:spLocks noChangeArrowheads="1"/>
              </p:cNvSpPr>
              <p:nvPr/>
            </p:nvSpPr>
            <p:spPr bwMode="auto">
              <a:xfrm>
                <a:off x="2544" y="316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28528" name="Rectangle 48" descr="Wide upward diagonal"/>
              <p:cNvSpPr>
                <a:spLocks noChangeArrowheads="1"/>
              </p:cNvSpPr>
              <p:nvPr/>
            </p:nvSpPr>
            <p:spPr bwMode="auto">
              <a:xfrm>
                <a:off x="2736" y="3168"/>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28529" name="Rectangle 49" descr="Wide upward diagonal"/>
              <p:cNvSpPr>
                <a:spLocks noChangeArrowheads="1"/>
              </p:cNvSpPr>
              <p:nvPr/>
            </p:nvSpPr>
            <p:spPr bwMode="auto">
              <a:xfrm>
                <a:off x="2928" y="3168"/>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grpSp>
        <p:sp>
          <p:nvSpPr>
            <p:cNvPr id="1428530" name="Line 50"/>
            <p:cNvSpPr>
              <a:spLocks noChangeShapeType="1"/>
            </p:cNvSpPr>
            <p:nvPr/>
          </p:nvSpPr>
          <p:spPr bwMode="auto">
            <a:xfrm>
              <a:off x="2352" y="1056"/>
              <a:ext cx="768"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28531" name="Text Box 51"/>
            <p:cNvSpPr txBox="1">
              <a:spLocks noChangeArrowheads="1"/>
            </p:cNvSpPr>
            <p:nvPr/>
          </p:nvSpPr>
          <p:spPr bwMode="auto">
            <a:xfrm>
              <a:off x="2294" y="791"/>
              <a:ext cx="900"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Issue width</a:t>
              </a:r>
            </a:p>
          </p:txBody>
        </p:sp>
        <p:sp>
          <p:nvSpPr>
            <p:cNvPr id="1428532" name="Line 52"/>
            <p:cNvSpPr>
              <a:spLocks noChangeShapeType="1"/>
            </p:cNvSpPr>
            <p:nvPr/>
          </p:nvSpPr>
          <p:spPr bwMode="auto">
            <a:xfrm>
              <a:off x="2064" y="1824"/>
              <a:ext cx="0" cy="912"/>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28533" name="Text Box 53"/>
            <p:cNvSpPr txBox="1">
              <a:spLocks noChangeArrowheads="1"/>
            </p:cNvSpPr>
            <p:nvPr/>
          </p:nvSpPr>
          <p:spPr bwMode="auto">
            <a:xfrm>
              <a:off x="1574" y="2183"/>
              <a:ext cx="452"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grpSp>
      <p:sp>
        <p:nvSpPr>
          <p:cNvPr id="4" name="矩形 3"/>
          <p:cNvSpPr/>
          <p:nvPr/>
        </p:nvSpPr>
        <p:spPr>
          <a:xfrm>
            <a:off x="2063552" y="5494863"/>
            <a:ext cx="3647152" cy="369332"/>
          </a:xfrm>
          <a:prstGeom prst="rect">
            <a:avLst/>
          </a:prstGeom>
        </p:spPr>
        <p:txBody>
          <a:bodyPr wrap="none">
            <a:spAutoFit/>
          </a:bodyPr>
          <a:lstStyle/>
          <a:p>
            <a:r>
              <a:rPr lang="en-US" altLang="zh-CN" dirty="0"/>
              <a:t>[</a:t>
            </a:r>
            <a:r>
              <a:rPr lang="en-US" altLang="zh-CN" dirty="0" err="1"/>
              <a:t>Tullsen</a:t>
            </a:r>
            <a:r>
              <a:rPr lang="en-US" altLang="zh-CN" dirty="0"/>
              <a:t>, Eggers, Levy, UW, 1995]</a:t>
            </a:r>
            <a:endParaRPr lang="zh-CN" altLang="en-US" dirty="0"/>
          </a:p>
        </p:txBody>
      </p:sp>
    </p:spTree>
    <p:extLst>
      <p:ext uri="{BB962C8B-B14F-4D97-AF65-F5344CB8AC3E}">
        <p14:creationId xmlns:p14="http://schemas.microsoft.com/office/powerpoint/2010/main" val="8443926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914" name="Rectangle 2"/>
          <p:cNvSpPr>
            <a:spLocks noGrp="1" noChangeArrowheads="1"/>
          </p:cNvSpPr>
          <p:nvPr>
            <p:ph type="title"/>
          </p:nvPr>
        </p:nvSpPr>
        <p:spPr>
          <a:xfrm>
            <a:off x="2501900" y="33338"/>
            <a:ext cx="7162800" cy="1143000"/>
          </a:xfrm>
        </p:spPr>
        <p:txBody>
          <a:bodyPr/>
          <a:lstStyle/>
          <a:p>
            <a:r>
              <a:rPr lang="en-US" dirty="0" smtClean="0"/>
              <a:t>SMT</a:t>
            </a:r>
            <a:r>
              <a:rPr lang="zh-CN" altLang="en-US" dirty="0" smtClean="0"/>
              <a:t>可适应不同的并行类型</a:t>
            </a:r>
            <a:endParaRPr lang="en-US" dirty="0"/>
          </a:p>
        </p:txBody>
      </p:sp>
      <p:sp>
        <p:nvSpPr>
          <p:cNvPr id="1446915" name="Rectangle 3"/>
          <p:cNvSpPr>
            <a:spLocks noGrp="1" noChangeArrowheads="1"/>
          </p:cNvSpPr>
          <p:nvPr>
            <p:ph idx="1"/>
          </p:nvPr>
        </p:nvSpPr>
        <p:spPr>
          <a:xfrm>
            <a:off x="911424" y="1584226"/>
            <a:ext cx="4176464" cy="720080"/>
          </a:xfrm>
        </p:spPr>
        <p:txBody>
          <a:bodyPr/>
          <a:lstStyle/>
          <a:p>
            <a:pPr marL="0" indent="0">
              <a:lnSpc>
                <a:spcPct val="100000"/>
              </a:lnSpc>
              <a:buNone/>
            </a:pPr>
            <a:r>
              <a:rPr lang="zh-CN" altLang="en-US" sz="2400" dirty="0"/>
              <a:t>在线程级并行性</a:t>
            </a:r>
            <a:r>
              <a:rPr lang="en-US" altLang="zh-CN" sz="2400" dirty="0"/>
              <a:t>(TLP)</a:t>
            </a:r>
            <a:r>
              <a:rPr lang="zh-CN" altLang="en-US" sz="2400" dirty="0"/>
              <a:t>充足时，机器宽度被所有线程所共享</a:t>
            </a:r>
            <a:endParaRPr lang="en-US" sz="2400" dirty="0"/>
          </a:p>
        </p:txBody>
      </p:sp>
      <p:grpSp>
        <p:nvGrpSpPr>
          <p:cNvPr id="2" name="Group 4"/>
          <p:cNvGrpSpPr>
            <a:grpSpLocks/>
          </p:cNvGrpSpPr>
          <p:nvPr/>
        </p:nvGrpSpPr>
        <p:grpSpPr bwMode="auto">
          <a:xfrm>
            <a:off x="2070100" y="2663081"/>
            <a:ext cx="2571750" cy="4078287"/>
            <a:chOff x="1574" y="791"/>
            <a:chExt cx="1620" cy="2569"/>
          </a:xfrm>
        </p:grpSpPr>
        <p:grpSp>
          <p:nvGrpSpPr>
            <p:cNvPr id="3" name="Group 5"/>
            <p:cNvGrpSpPr>
              <a:grpSpLocks/>
            </p:cNvGrpSpPr>
            <p:nvPr/>
          </p:nvGrpSpPr>
          <p:grpSpPr bwMode="auto">
            <a:xfrm>
              <a:off x="2352" y="1248"/>
              <a:ext cx="768" cy="2112"/>
              <a:chOff x="2352" y="1248"/>
              <a:chExt cx="768" cy="2112"/>
            </a:xfrm>
          </p:grpSpPr>
          <p:sp>
            <p:nvSpPr>
              <p:cNvPr id="1446918" name="Rectangle 6" descr="Solid diamond"/>
              <p:cNvSpPr>
                <a:spLocks noChangeArrowheads="1"/>
              </p:cNvSpPr>
              <p:nvPr/>
            </p:nvSpPr>
            <p:spPr bwMode="auto">
              <a:xfrm>
                <a:off x="2352"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19" name="Rectangle 7" descr="Solid diamond"/>
              <p:cNvSpPr>
                <a:spLocks noChangeArrowheads="1"/>
              </p:cNvSpPr>
              <p:nvPr/>
            </p:nvSpPr>
            <p:spPr bwMode="auto">
              <a:xfrm>
                <a:off x="2544"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0" name="Rectangle 8" descr="Solid diamond"/>
              <p:cNvSpPr>
                <a:spLocks noChangeArrowheads="1"/>
              </p:cNvSpPr>
              <p:nvPr/>
            </p:nvSpPr>
            <p:spPr bwMode="auto">
              <a:xfrm>
                <a:off x="2736" y="124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1" name="Rectangle 9"/>
              <p:cNvSpPr>
                <a:spLocks noChangeArrowheads="1"/>
              </p:cNvSpPr>
              <p:nvPr/>
            </p:nvSpPr>
            <p:spPr bwMode="auto">
              <a:xfrm>
                <a:off x="2928" y="124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22" name="Rectangle 10"/>
              <p:cNvSpPr>
                <a:spLocks noChangeArrowheads="1"/>
              </p:cNvSpPr>
              <p:nvPr/>
            </p:nvSpPr>
            <p:spPr bwMode="auto">
              <a:xfrm>
                <a:off x="2352" y="144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23" name="Rectangle 11" descr="Dark horizontal"/>
              <p:cNvSpPr>
                <a:spLocks noChangeArrowheads="1"/>
              </p:cNvSpPr>
              <p:nvPr/>
            </p:nvSpPr>
            <p:spPr bwMode="auto">
              <a:xfrm>
                <a:off x="2544" y="1440"/>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4" name="Rectangle 12" descr="Solid diamond"/>
              <p:cNvSpPr>
                <a:spLocks noChangeArrowheads="1"/>
              </p:cNvSpPr>
              <p:nvPr/>
            </p:nvSpPr>
            <p:spPr bwMode="auto">
              <a:xfrm>
                <a:off x="2736" y="1440"/>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5" name="Rectangle 13"/>
              <p:cNvSpPr>
                <a:spLocks noChangeArrowheads="1"/>
              </p:cNvSpPr>
              <p:nvPr/>
            </p:nvSpPr>
            <p:spPr bwMode="auto">
              <a:xfrm>
                <a:off x="2928" y="144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26" name="Rectangle 14"/>
              <p:cNvSpPr>
                <a:spLocks noChangeArrowheads="1"/>
              </p:cNvSpPr>
              <p:nvPr/>
            </p:nvSpPr>
            <p:spPr bwMode="auto">
              <a:xfrm>
                <a:off x="2352" y="1632"/>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27" name="Rectangle 15" descr="Wide upward diagonal"/>
              <p:cNvSpPr>
                <a:spLocks noChangeArrowheads="1"/>
              </p:cNvSpPr>
              <p:nvPr/>
            </p:nvSpPr>
            <p:spPr bwMode="auto">
              <a:xfrm>
                <a:off x="2544" y="163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8" name="Rectangle 16" descr="Wide upward diagonal"/>
              <p:cNvSpPr>
                <a:spLocks noChangeArrowheads="1"/>
              </p:cNvSpPr>
              <p:nvPr/>
            </p:nvSpPr>
            <p:spPr bwMode="auto">
              <a:xfrm>
                <a:off x="2736" y="163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29" name="Rectangle 17" descr="Solid diamond"/>
              <p:cNvSpPr>
                <a:spLocks noChangeArrowheads="1"/>
              </p:cNvSpPr>
              <p:nvPr/>
            </p:nvSpPr>
            <p:spPr bwMode="auto">
              <a:xfrm>
                <a:off x="2928" y="1632"/>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0" name="Rectangle 18" descr="Dark horizontal"/>
              <p:cNvSpPr>
                <a:spLocks noChangeArrowheads="1"/>
              </p:cNvSpPr>
              <p:nvPr/>
            </p:nvSpPr>
            <p:spPr bwMode="auto">
              <a:xfrm>
                <a:off x="2352"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1" name="Rectangle 19" descr="Dark horizontal"/>
              <p:cNvSpPr>
                <a:spLocks noChangeArrowheads="1"/>
              </p:cNvSpPr>
              <p:nvPr/>
            </p:nvSpPr>
            <p:spPr bwMode="auto">
              <a:xfrm>
                <a:off x="2544"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2" name="Rectangle 20" descr="Wide upward diagonal"/>
              <p:cNvSpPr>
                <a:spLocks noChangeArrowheads="1"/>
              </p:cNvSpPr>
              <p:nvPr/>
            </p:nvSpPr>
            <p:spPr bwMode="auto">
              <a:xfrm>
                <a:off x="2736" y="1824"/>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3" name="Rectangle 21" descr="Dark horizontal"/>
              <p:cNvSpPr>
                <a:spLocks noChangeArrowheads="1"/>
              </p:cNvSpPr>
              <p:nvPr/>
            </p:nvSpPr>
            <p:spPr bwMode="auto">
              <a:xfrm>
                <a:off x="2928" y="1824"/>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4" name="Rectangle 22" descr="Dark horizontal"/>
              <p:cNvSpPr>
                <a:spLocks noChangeArrowheads="1"/>
              </p:cNvSpPr>
              <p:nvPr/>
            </p:nvSpPr>
            <p:spPr bwMode="auto">
              <a:xfrm>
                <a:off x="2352" y="2016"/>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5" name="Rectangle 23" descr="Solid diamond"/>
              <p:cNvSpPr>
                <a:spLocks noChangeArrowheads="1"/>
              </p:cNvSpPr>
              <p:nvPr/>
            </p:nvSpPr>
            <p:spPr bwMode="auto">
              <a:xfrm>
                <a:off x="2544"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6" name="Rectangle 24" descr="Solid diamond"/>
              <p:cNvSpPr>
                <a:spLocks noChangeArrowheads="1"/>
              </p:cNvSpPr>
              <p:nvPr/>
            </p:nvSpPr>
            <p:spPr bwMode="auto">
              <a:xfrm>
                <a:off x="2736" y="201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7" name="Rectangle 25" descr="Wide upward diagonal"/>
              <p:cNvSpPr>
                <a:spLocks noChangeArrowheads="1"/>
              </p:cNvSpPr>
              <p:nvPr/>
            </p:nvSpPr>
            <p:spPr bwMode="auto">
              <a:xfrm>
                <a:off x="2928" y="2016"/>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38" name="Rectangle 26"/>
              <p:cNvSpPr>
                <a:spLocks noChangeArrowheads="1"/>
              </p:cNvSpPr>
              <p:nvPr/>
            </p:nvSpPr>
            <p:spPr bwMode="auto">
              <a:xfrm>
                <a:off x="2352" y="220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39" name="Rectangle 27"/>
              <p:cNvSpPr>
                <a:spLocks noChangeArrowheads="1"/>
              </p:cNvSpPr>
              <p:nvPr/>
            </p:nvSpPr>
            <p:spPr bwMode="auto">
              <a:xfrm>
                <a:off x="2544" y="220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40" name="Rectangle 28" descr="Solid diamond"/>
              <p:cNvSpPr>
                <a:spLocks noChangeArrowheads="1"/>
              </p:cNvSpPr>
              <p:nvPr/>
            </p:nvSpPr>
            <p:spPr bwMode="auto">
              <a:xfrm>
                <a:off x="2736" y="2208"/>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1" name="Rectangle 29" descr="Dark horizontal"/>
              <p:cNvSpPr>
                <a:spLocks noChangeArrowheads="1"/>
              </p:cNvSpPr>
              <p:nvPr/>
            </p:nvSpPr>
            <p:spPr bwMode="auto">
              <a:xfrm>
                <a:off x="2928" y="2208"/>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2" name="Rectangle 30" descr="Wide upward diagonal"/>
              <p:cNvSpPr>
                <a:spLocks noChangeArrowheads="1"/>
              </p:cNvSpPr>
              <p:nvPr/>
            </p:nvSpPr>
            <p:spPr bwMode="auto">
              <a:xfrm>
                <a:off x="2352" y="2400"/>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3" name="Rectangle 31" descr="Wide upward diagonal"/>
              <p:cNvSpPr>
                <a:spLocks noChangeArrowheads="1"/>
              </p:cNvSpPr>
              <p:nvPr/>
            </p:nvSpPr>
            <p:spPr bwMode="auto">
              <a:xfrm>
                <a:off x="2544" y="2400"/>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4" name="Rectangle 32"/>
              <p:cNvSpPr>
                <a:spLocks noChangeArrowheads="1"/>
              </p:cNvSpPr>
              <p:nvPr/>
            </p:nvSpPr>
            <p:spPr bwMode="auto">
              <a:xfrm>
                <a:off x="2736" y="2400"/>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45" name="Rectangle 33" descr="Dark horizontal"/>
              <p:cNvSpPr>
                <a:spLocks noChangeArrowheads="1"/>
              </p:cNvSpPr>
              <p:nvPr/>
            </p:nvSpPr>
            <p:spPr bwMode="auto">
              <a:xfrm>
                <a:off x="2928" y="2400"/>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6" name="Rectangle 34" descr="Wide upward diagonal"/>
              <p:cNvSpPr>
                <a:spLocks noChangeArrowheads="1"/>
              </p:cNvSpPr>
              <p:nvPr/>
            </p:nvSpPr>
            <p:spPr bwMode="auto">
              <a:xfrm>
                <a:off x="2352" y="2592"/>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7" name="Rectangle 35"/>
              <p:cNvSpPr>
                <a:spLocks noChangeArrowheads="1"/>
              </p:cNvSpPr>
              <p:nvPr/>
            </p:nvSpPr>
            <p:spPr bwMode="auto">
              <a:xfrm>
                <a:off x="2544" y="2592"/>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48" name="Rectangle 36" descr="Solid diamond"/>
              <p:cNvSpPr>
                <a:spLocks noChangeArrowheads="1"/>
              </p:cNvSpPr>
              <p:nvPr/>
            </p:nvSpPr>
            <p:spPr bwMode="auto">
              <a:xfrm>
                <a:off x="2736" y="2592"/>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49" name="Rectangle 37" descr="Dark horizontal"/>
              <p:cNvSpPr>
                <a:spLocks noChangeArrowheads="1"/>
              </p:cNvSpPr>
              <p:nvPr/>
            </p:nvSpPr>
            <p:spPr bwMode="auto">
              <a:xfrm>
                <a:off x="2928" y="2592"/>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0" name="Rectangle 38" descr="Solid diamond"/>
              <p:cNvSpPr>
                <a:spLocks noChangeArrowheads="1"/>
              </p:cNvSpPr>
              <p:nvPr/>
            </p:nvSpPr>
            <p:spPr bwMode="auto">
              <a:xfrm>
                <a:off x="2352"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1" name="Rectangle 39" descr="Solid diamond"/>
              <p:cNvSpPr>
                <a:spLocks noChangeArrowheads="1"/>
              </p:cNvSpPr>
              <p:nvPr/>
            </p:nvSpPr>
            <p:spPr bwMode="auto">
              <a:xfrm>
                <a:off x="2544" y="2784"/>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2" name="Rectangle 40"/>
              <p:cNvSpPr>
                <a:spLocks noChangeArrowheads="1"/>
              </p:cNvSpPr>
              <p:nvPr/>
            </p:nvSpPr>
            <p:spPr bwMode="auto">
              <a:xfrm>
                <a:off x="2736" y="2784"/>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53" name="Rectangle 41"/>
              <p:cNvSpPr>
                <a:spLocks noChangeArrowheads="1"/>
              </p:cNvSpPr>
              <p:nvPr/>
            </p:nvSpPr>
            <p:spPr bwMode="auto">
              <a:xfrm>
                <a:off x="2928" y="2784"/>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54" name="Rectangle 42" descr="Solid diamond"/>
              <p:cNvSpPr>
                <a:spLocks noChangeArrowheads="1"/>
              </p:cNvSpPr>
              <p:nvPr/>
            </p:nvSpPr>
            <p:spPr bwMode="auto">
              <a:xfrm>
                <a:off x="2352"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5" name="Rectangle 43" descr="Solid diamond"/>
              <p:cNvSpPr>
                <a:spLocks noChangeArrowheads="1"/>
              </p:cNvSpPr>
              <p:nvPr/>
            </p:nvSpPr>
            <p:spPr bwMode="auto">
              <a:xfrm>
                <a:off x="2544"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6" name="Rectangle 44" descr="Solid diamond"/>
              <p:cNvSpPr>
                <a:spLocks noChangeArrowheads="1"/>
              </p:cNvSpPr>
              <p:nvPr/>
            </p:nvSpPr>
            <p:spPr bwMode="auto">
              <a:xfrm>
                <a:off x="2736"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7" name="Rectangle 45" descr="Solid diamond"/>
              <p:cNvSpPr>
                <a:spLocks noChangeArrowheads="1"/>
              </p:cNvSpPr>
              <p:nvPr/>
            </p:nvSpPr>
            <p:spPr bwMode="auto">
              <a:xfrm>
                <a:off x="2928" y="2976"/>
                <a:ext cx="192" cy="192"/>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8" name="Rectangle 46" descr="Dark horizontal"/>
              <p:cNvSpPr>
                <a:spLocks noChangeArrowheads="1"/>
              </p:cNvSpPr>
              <p:nvPr/>
            </p:nvSpPr>
            <p:spPr bwMode="auto">
              <a:xfrm>
                <a:off x="2352" y="3168"/>
                <a:ext cx="192" cy="192"/>
              </a:xfrm>
              <a:prstGeom prst="rect">
                <a:avLst/>
              </a:prstGeom>
              <a:pattFill prst="dkHorz">
                <a:fgClr>
                  <a:schemeClr val="accent2"/>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59" name="Rectangle 47"/>
              <p:cNvSpPr>
                <a:spLocks noChangeArrowheads="1"/>
              </p:cNvSpPr>
              <p:nvPr/>
            </p:nvSpPr>
            <p:spPr bwMode="auto">
              <a:xfrm>
                <a:off x="2544" y="3168"/>
                <a:ext cx="192" cy="192"/>
              </a:xfrm>
              <a:prstGeom prst="rect">
                <a:avLst/>
              </a:prstGeom>
              <a:solidFill>
                <a:srgbClr val="9999FF"/>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60" name="Rectangle 48" descr="Wide upward diagonal"/>
              <p:cNvSpPr>
                <a:spLocks noChangeArrowheads="1"/>
              </p:cNvSpPr>
              <p:nvPr/>
            </p:nvSpPr>
            <p:spPr bwMode="auto">
              <a:xfrm>
                <a:off x="2736" y="3168"/>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61" name="Rectangle 49" descr="Wide upward diagonal"/>
              <p:cNvSpPr>
                <a:spLocks noChangeArrowheads="1"/>
              </p:cNvSpPr>
              <p:nvPr/>
            </p:nvSpPr>
            <p:spPr bwMode="auto">
              <a:xfrm>
                <a:off x="2928" y="3168"/>
                <a:ext cx="192" cy="192"/>
              </a:xfrm>
              <a:prstGeom prst="rect">
                <a:avLst/>
              </a:prstGeom>
              <a:pattFill prst="wdUpDiag">
                <a:fgClr>
                  <a:srgbClr val="FF9933"/>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grpSp>
        <p:sp>
          <p:nvSpPr>
            <p:cNvPr id="1446962" name="Line 50"/>
            <p:cNvSpPr>
              <a:spLocks noChangeShapeType="1"/>
            </p:cNvSpPr>
            <p:nvPr/>
          </p:nvSpPr>
          <p:spPr bwMode="auto">
            <a:xfrm>
              <a:off x="2352" y="1056"/>
              <a:ext cx="768"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46963" name="Text Box 51"/>
            <p:cNvSpPr txBox="1">
              <a:spLocks noChangeArrowheads="1"/>
            </p:cNvSpPr>
            <p:nvPr/>
          </p:nvSpPr>
          <p:spPr bwMode="auto">
            <a:xfrm>
              <a:off x="2294" y="791"/>
              <a:ext cx="900"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Issue width</a:t>
              </a:r>
            </a:p>
          </p:txBody>
        </p:sp>
        <p:sp>
          <p:nvSpPr>
            <p:cNvPr id="1446964" name="Line 52"/>
            <p:cNvSpPr>
              <a:spLocks noChangeShapeType="1"/>
            </p:cNvSpPr>
            <p:nvPr/>
          </p:nvSpPr>
          <p:spPr bwMode="auto">
            <a:xfrm>
              <a:off x="2064" y="1824"/>
              <a:ext cx="0" cy="912"/>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46965" name="Text Box 53"/>
            <p:cNvSpPr txBox="1">
              <a:spLocks noChangeArrowheads="1"/>
            </p:cNvSpPr>
            <p:nvPr/>
          </p:nvSpPr>
          <p:spPr bwMode="auto">
            <a:xfrm>
              <a:off x="1574" y="2183"/>
              <a:ext cx="452" cy="231"/>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grpSp>
      <p:sp>
        <p:nvSpPr>
          <p:cNvPr id="1446966" name="Text Box 54"/>
          <p:cNvSpPr txBox="1">
            <a:spLocks noChangeArrowheads="1"/>
          </p:cNvSpPr>
          <p:nvPr/>
        </p:nvSpPr>
        <p:spPr bwMode="auto">
          <a:xfrm>
            <a:off x="7299325" y="2447057"/>
            <a:ext cx="1428750" cy="366712"/>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Issue width</a:t>
            </a:r>
          </a:p>
        </p:txBody>
      </p:sp>
      <p:sp>
        <p:nvSpPr>
          <p:cNvPr id="1446967" name="Rectangle 55" descr="Solid diamond"/>
          <p:cNvSpPr>
            <a:spLocks noChangeArrowheads="1"/>
          </p:cNvSpPr>
          <p:nvPr/>
        </p:nvSpPr>
        <p:spPr bwMode="auto">
          <a:xfrm>
            <a:off x="7391400" y="3172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68" name="Rectangle 56" descr="Solid diamond"/>
          <p:cNvSpPr>
            <a:spLocks noChangeArrowheads="1"/>
          </p:cNvSpPr>
          <p:nvPr/>
        </p:nvSpPr>
        <p:spPr bwMode="auto">
          <a:xfrm>
            <a:off x="7696200" y="3172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69" name="Rectangle 57" descr="Solid diamond"/>
          <p:cNvSpPr>
            <a:spLocks noChangeArrowheads="1"/>
          </p:cNvSpPr>
          <p:nvPr/>
        </p:nvSpPr>
        <p:spPr bwMode="auto">
          <a:xfrm>
            <a:off x="8001000" y="3172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70" name="Rectangle 58" descr="Solid diamond"/>
          <p:cNvSpPr>
            <a:spLocks noChangeArrowheads="1"/>
          </p:cNvSpPr>
          <p:nvPr/>
        </p:nvSpPr>
        <p:spPr bwMode="auto">
          <a:xfrm>
            <a:off x="8305800" y="3172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71" name="Rectangle 59"/>
          <p:cNvSpPr>
            <a:spLocks noChangeArrowheads="1"/>
          </p:cNvSpPr>
          <p:nvPr/>
        </p:nvSpPr>
        <p:spPr bwMode="auto">
          <a:xfrm>
            <a:off x="7391400" y="3477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2" name="Rectangle 60" descr="Solid diamond"/>
          <p:cNvSpPr>
            <a:spLocks noChangeArrowheads="1"/>
          </p:cNvSpPr>
          <p:nvPr/>
        </p:nvSpPr>
        <p:spPr bwMode="auto">
          <a:xfrm>
            <a:off x="7696200" y="34773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73" name="Rectangle 61" descr="Solid diamond"/>
          <p:cNvSpPr>
            <a:spLocks noChangeArrowheads="1"/>
          </p:cNvSpPr>
          <p:nvPr/>
        </p:nvSpPr>
        <p:spPr bwMode="auto">
          <a:xfrm>
            <a:off x="8001000" y="34773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74" name="Rectangle 62"/>
          <p:cNvSpPr>
            <a:spLocks noChangeArrowheads="1"/>
          </p:cNvSpPr>
          <p:nvPr/>
        </p:nvSpPr>
        <p:spPr bwMode="auto">
          <a:xfrm>
            <a:off x="8305800" y="3477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5" name="Rectangle 63"/>
          <p:cNvSpPr>
            <a:spLocks noChangeArrowheads="1"/>
          </p:cNvSpPr>
          <p:nvPr/>
        </p:nvSpPr>
        <p:spPr bwMode="auto">
          <a:xfrm>
            <a:off x="7391400" y="3782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6" name="Rectangle 64"/>
          <p:cNvSpPr>
            <a:spLocks noChangeArrowheads="1"/>
          </p:cNvSpPr>
          <p:nvPr/>
        </p:nvSpPr>
        <p:spPr bwMode="auto">
          <a:xfrm>
            <a:off x="7696200" y="3782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7" name="Rectangle 65"/>
          <p:cNvSpPr>
            <a:spLocks noChangeArrowheads="1"/>
          </p:cNvSpPr>
          <p:nvPr/>
        </p:nvSpPr>
        <p:spPr bwMode="auto">
          <a:xfrm>
            <a:off x="8001000" y="3782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8" name="Rectangle 66"/>
          <p:cNvSpPr>
            <a:spLocks noChangeArrowheads="1"/>
          </p:cNvSpPr>
          <p:nvPr/>
        </p:nvSpPr>
        <p:spPr bwMode="auto">
          <a:xfrm>
            <a:off x="8305800" y="3782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79" name="Rectangle 67"/>
          <p:cNvSpPr>
            <a:spLocks noChangeArrowheads="1"/>
          </p:cNvSpPr>
          <p:nvPr/>
        </p:nvSpPr>
        <p:spPr bwMode="auto">
          <a:xfrm>
            <a:off x="7391400" y="4086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0" name="Rectangle 68"/>
          <p:cNvSpPr>
            <a:spLocks noChangeArrowheads="1"/>
          </p:cNvSpPr>
          <p:nvPr/>
        </p:nvSpPr>
        <p:spPr bwMode="auto">
          <a:xfrm>
            <a:off x="7696200" y="4086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1" name="Rectangle 69"/>
          <p:cNvSpPr>
            <a:spLocks noChangeArrowheads="1"/>
          </p:cNvSpPr>
          <p:nvPr/>
        </p:nvSpPr>
        <p:spPr bwMode="auto">
          <a:xfrm>
            <a:off x="8001000" y="4086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2" name="Rectangle 70"/>
          <p:cNvSpPr>
            <a:spLocks noChangeArrowheads="1"/>
          </p:cNvSpPr>
          <p:nvPr/>
        </p:nvSpPr>
        <p:spPr bwMode="auto">
          <a:xfrm>
            <a:off x="8305800" y="4086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3" name="Rectangle 71"/>
          <p:cNvSpPr>
            <a:spLocks noChangeArrowheads="1"/>
          </p:cNvSpPr>
          <p:nvPr/>
        </p:nvSpPr>
        <p:spPr bwMode="auto">
          <a:xfrm>
            <a:off x="7391400" y="43917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4" name="Rectangle 72" descr="Solid diamond"/>
          <p:cNvSpPr>
            <a:spLocks noChangeArrowheads="1"/>
          </p:cNvSpPr>
          <p:nvPr/>
        </p:nvSpPr>
        <p:spPr bwMode="auto">
          <a:xfrm>
            <a:off x="7696200" y="4391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85" name="Rectangle 73" descr="Solid diamond"/>
          <p:cNvSpPr>
            <a:spLocks noChangeArrowheads="1"/>
          </p:cNvSpPr>
          <p:nvPr/>
        </p:nvSpPr>
        <p:spPr bwMode="auto">
          <a:xfrm>
            <a:off x="8001000" y="4391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86" name="Rectangle 74"/>
          <p:cNvSpPr>
            <a:spLocks noChangeArrowheads="1"/>
          </p:cNvSpPr>
          <p:nvPr/>
        </p:nvSpPr>
        <p:spPr bwMode="auto">
          <a:xfrm>
            <a:off x="8305800" y="43917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7" name="Rectangle 75"/>
          <p:cNvSpPr>
            <a:spLocks noChangeArrowheads="1"/>
          </p:cNvSpPr>
          <p:nvPr/>
        </p:nvSpPr>
        <p:spPr bwMode="auto">
          <a:xfrm>
            <a:off x="7391400" y="46965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88" name="Rectangle 76" descr="Solid diamond"/>
          <p:cNvSpPr>
            <a:spLocks noChangeArrowheads="1"/>
          </p:cNvSpPr>
          <p:nvPr/>
        </p:nvSpPr>
        <p:spPr bwMode="auto">
          <a:xfrm>
            <a:off x="7696200" y="4696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89" name="Rectangle 77" descr="Solid diamond"/>
          <p:cNvSpPr>
            <a:spLocks noChangeArrowheads="1"/>
          </p:cNvSpPr>
          <p:nvPr/>
        </p:nvSpPr>
        <p:spPr bwMode="auto">
          <a:xfrm>
            <a:off x="8001000" y="4696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90" name="Rectangle 78" descr="Solid diamond"/>
          <p:cNvSpPr>
            <a:spLocks noChangeArrowheads="1"/>
          </p:cNvSpPr>
          <p:nvPr/>
        </p:nvSpPr>
        <p:spPr bwMode="auto">
          <a:xfrm>
            <a:off x="8305800" y="46965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91" name="Rectangle 79"/>
          <p:cNvSpPr>
            <a:spLocks noChangeArrowheads="1"/>
          </p:cNvSpPr>
          <p:nvPr/>
        </p:nvSpPr>
        <p:spPr bwMode="auto">
          <a:xfrm>
            <a:off x="7391400" y="5001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2" name="Rectangle 80"/>
          <p:cNvSpPr>
            <a:spLocks noChangeArrowheads="1"/>
          </p:cNvSpPr>
          <p:nvPr/>
        </p:nvSpPr>
        <p:spPr bwMode="auto">
          <a:xfrm>
            <a:off x="7696200" y="5001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3" name="Rectangle 81"/>
          <p:cNvSpPr>
            <a:spLocks noChangeArrowheads="1"/>
          </p:cNvSpPr>
          <p:nvPr/>
        </p:nvSpPr>
        <p:spPr bwMode="auto">
          <a:xfrm>
            <a:off x="8001000" y="5001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4" name="Rectangle 82"/>
          <p:cNvSpPr>
            <a:spLocks noChangeArrowheads="1"/>
          </p:cNvSpPr>
          <p:nvPr/>
        </p:nvSpPr>
        <p:spPr bwMode="auto">
          <a:xfrm>
            <a:off x="8305800" y="50013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5" name="Rectangle 83"/>
          <p:cNvSpPr>
            <a:spLocks noChangeArrowheads="1"/>
          </p:cNvSpPr>
          <p:nvPr/>
        </p:nvSpPr>
        <p:spPr bwMode="auto">
          <a:xfrm>
            <a:off x="7391400" y="5306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6" name="Rectangle 84"/>
          <p:cNvSpPr>
            <a:spLocks noChangeArrowheads="1"/>
          </p:cNvSpPr>
          <p:nvPr/>
        </p:nvSpPr>
        <p:spPr bwMode="auto">
          <a:xfrm>
            <a:off x="7696200" y="53061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6997" name="Rectangle 85" descr="Solid diamond"/>
          <p:cNvSpPr>
            <a:spLocks noChangeArrowheads="1"/>
          </p:cNvSpPr>
          <p:nvPr/>
        </p:nvSpPr>
        <p:spPr bwMode="auto">
          <a:xfrm>
            <a:off x="8001000" y="53061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98" name="Rectangle 86" descr="Solid diamond"/>
          <p:cNvSpPr>
            <a:spLocks noChangeArrowheads="1"/>
          </p:cNvSpPr>
          <p:nvPr/>
        </p:nvSpPr>
        <p:spPr bwMode="auto">
          <a:xfrm>
            <a:off x="8305800" y="53061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6999" name="Rectangle 87" descr="Solid diamond"/>
          <p:cNvSpPr>
            <a:spLocks noChangeArrowheads="1"/>
          </p:cNvSpPr>
          <p:nvPr/>
        </p:nvSpPr>
        <p:spPr bwMode="auto">
          <a:xfrm>
            <a:off x="7391400" y="56109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0" name="Rectangle 88" descr="Solid diamond"/>
          <p:cNvSpPr>
            <a:spLocks noChangeArrowheads="1"/>
          </p:cNvSpPr>
          <p:nvPr/>
        </p:nvSpPr>
        <p:spPr bwMode="auto">
          <a:xfrm>
            <a:off x="7696200" y="56109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1" name="Rectangle 89"/>
          <p:cNvSpPr>
            <a:spLocks noChangeArrowheads="1"/>
          </p:cNvSpPr>
          <p:nvPr/>
        </p:nvSpPr>
        <p:spPr bwMode="auto">
          <a:xfrm>
            <a:off x="8001000" y="5610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02" name="Rectangle 90"/>
          <p:cNvSpPr>
            <a:spLocks noChangeArrowheads="1"/>
          </p:cNvSpPr>
          <p:nvPr/>
        </p:nvSpPr>
        <p:spPr bwMode="auto">
          <a:xfrm>
            <a:off x="8305800" y="56109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03" name="Rectangle 91" descr="Solid diamond"/>
          <p:cNvSpPr>
            <a:spLocks noChangeArrowheads="1"/>
          </p:cNvSpPr>
          <p:nvPr/>
        </p:nvSpPr>
        <p:spPr bwMode="auto">
          <a:xfrm>
            <a:off x="7391400" y="5915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4" name="Rectangle 92" descr="Solid diamond"/>
          <p:cNvSpPr>
            <a:spLocks noChangeArrowheads="1"/>
          </p:cNvSpPr>
          <p:nvPr/>
        </p:nvSpPr>
        <p:spPr bwMode="auto">
          <a:xfrm>
            <a:off x="7696200" y="5915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5" name="Rectangle 93" descr="Solid diamond"/>
          <p:cNvSpPr>
            <a:spLocks noChangeArrowheads="1"/>
          </p:cNvSpPr>
          <p:nvPr/>
        </p:nvSpPr>
        <p:spPr bwMode="auto">
          <a:xfrm>
            <a:off x="8001000" y="5915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6" name="Rectangle 94" descr="Solid diamond"/>
          <p:cNvSpPr>
            <a:spLocks noChangeArrowheads="1"/>
          </p:cNvSpPr>
          <p:nvPr/>
        </p:nvSpPr>
        <p:spPr bwMode="auto">
          <a:xfrm>
            <a:off x="8305800" y="5915744"/>
            <a:ext cx="304800" cy="304800"/>
          </a:xfrm>
          <a:prstGeom prst="rect">
            <a:avLst/>
          </a:prstGeom>
          <a:pattFill prst="solidDmnd">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endParaRPr lang="en-US"/>
          </a:p>
        </p:txBody>
      </p:sp>
      <p:sp>
        <p:nvSpPr>
          <p:cNvPr id="1447007" name="Rectangle 95"/>
          <p:cNvSpPr>
            <a:spLocks noChangeArrowheads="1"/>
          </p:cNvSpPr>
          <p:nvPr/>
        </p:nvSpPr>
        <p:spPr bwMode="auto">
          <a:xfrm>
            <a:off x="7391400" y="62205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08" name="Rectangle 96"/>
          <p:cNvSpPr>
            <a:spLocks noChangeArrowheads="1"/>
          </p:cNvSpPr>
          <p:nvPr/>
        </p:nvSpPr>
        <p:spPr bwMode="auto">
          <a:xfrm>
            <a:off x="7696200" y="62205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09" name="Rectangle 97"/>
          <p:cNvSpPr>
            <a:spLocks noChangeArrowheads="1"/>
          </p:cNvSpPr>
          <p:nvPr/>
        </p:nvSpPr>
        <p:spPr bwMode="auto">
          <a:xfrm>
            <a:off x="8001000" y="62205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10" name="Rectangle 98"/>
          <p:cNvSpPr>
            <a:spLocks noChangeArrowheads="1"/>
          </p:cNvSpPr>
          <p:nvPr/>
        </p:nvSpPr>
        <p:spPr bwMode="auto">
          <a:xfrm>
            <a:off x="8305800" y="6220544"/>
            <a:ext cx="304800" cy="304800"/>
          </a:xfrm>
          <a:prstGeom prst="rect">
            <a:avLst/>
          </a:prstGeom>
          <a:solidFill>
            <a:schemeClr val="folHlink"/>
          </a:solidFill>
          <a:ln w="25400">
            <a:solidFill>
              <a:schemeClr val="tx1"/>
            </a:solidFill>
            <a:miter lim="800000"/>
            <a:headEnd/>
            <a:tailEnd/>
          </a:ln>
          <a:effectLst/>
        </p:spPr>
        <p:txBody>
          <a:bodyPr wrap="none" anchor="ctr">
            <a:prstTxWarp prst="textNoShape">
              <a:avLst/>
            </a:prstTxWarp>
          </a:bodyPr>
          <a:lstStyle/>
          <a:p>
            <a:endParaRPr lang="en-US"/>
          </a:p>
        </p:txBody>
      </p:sp>
      <p:sp>
        <p:nvSpPr>
          <p:cNvPr id="1447011" name="Line 99"/>
          <p:cNvSpPr>
            <a:spLocks noChangeShapeType="1"/>
          </p:cNvSpPr>
          <p:nvPr/>
        </p:nvSpPr>
        <p:spPr bwMode="auto">
          <a:xfrm>
            <a:off x="7391400" y="2867744"/>
            <a:ext cx="1219200" cy="0"/>
          </a:xfrm>
          <a:prstGeom prst="line">
            <a:avLst/>
          </a:prstGeom>
          <a:noFill/>
          <a:ln w="25400">
            <a:solidFill>
              <a:schemeClr val="tx1"/>
            </a:solidFill>
            <a:round/>
            <a:headEnd type="triangle" w="med" len="med"/>
            <a:tailEnd type="triangle" w="med" len="med"/>
          </a:ln>
          <a:effectLst/>
        </p:spPr>
        <p:txBody>
          <a:bodyPr>
            <a:prstTxWarp prst="textNoShape">
              <a:avLst/>
            </a:prstTxWarp>
          </a:bodyPr>
          <a:lstStyle/>
          <a:p>
            <a:endParaRPr lang="en-US"/>
          </a:p>
        </p:txBody>
      </p:sp>
      <p:sp>
        <p:nvSpPr>
          <p:cNvPr id="1447012" name="Line 100"/>
          <p:cNvSpPr>
            <a:spLocks noChangeShapeType="1"/>
          </p:cNvSpPr>
          <p:nvPr/>
        </p:nvSpPr>
        <p:spPr bwMode="auto">
          <a:xfrm>
            <a:off x="6934200" y="4086944"/>
            <a:ext cx="0" cy="1447800"/>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47013" name="Text Box 101"/>
          <p:cNvSpPr txBox="1">
            <a:spLocks noChangeArrowheads="1"/>
          </p:cNvSpPr>
          <p:nvPr/>
        </p:nvSpPr>
        <p:spPr bwMode="auto">
          <a:xfrm>
            <a:off x="6156325" y="4656857"/>
            <a:ext cx="717550" cy="366712"/>
          </a:xfrm>
          <a:prstGeom prst="rect">
            <a:avLst/>
          </a:prstGeom>
          <a:noFill/>
          <a:ln w="25400">
            <a:noFill/>
            <a:miter lim="800000"/>
            <a:headEnd/>
            <a:tailEnd/>
          </a:ln>
          <a:effectLst/>
        </p:spPr>
        <p:txBody>
          <a:bodyPr wrap="none">
            <a:prstTxWarp prst="textNoShape">
              <a:avLst/>
            </a:prstTxWarp>
            <a:spAutoFit/>
          </a:bodyPr>
          <a:lstStyle/>
          <a:p>
            <a:pPr algn="l">
              <a:spcBef>
                <a:spcPct val="0"/>
              </a:spcBef>
            </a:pPr>
            <a:r>
              <a:rPr lang="en-US" b="1" i="1"/>
              <a:t>Time</a:t>
            </a:r>
          </a:p>
        </p:txBody>
      </p:sp>
      <p:sp>
        <p:nvSpPr>
          <p:cNvPr id="1447014" name="Rectangle 102"/>
          <p:cNvSpPr>
            <a:spLocks noChangeArrowheads="1"/>
          </p:cNvSpPr>
          <p:nvPr/>
        </p:nvSpPr>
        <p:spPr bwMode="auto">
          <a:xfrm>
            <a:off x="6156324" y="1540361"/>
            <a:ext cx="5700316" cy="1038225"/>
          </a:xfrm>
          <a:prstGeom prst="rect">
            <a:avLst/>
          </a:prstGeom>
          <a:noFill/>
          <a:ln w="9525">
            <a:noFill/>
            <a:miter lim="800000"/>
            <a:headEnd/>
            <a:tailEnd/>
          </a:ln>
          <a:effectLst/>
        </p:spPr>
        <p:txBody>
          <a:bodyPr>
            <a:prstTxWarp prst="textNoShape">
              <a:avLst/>
            </a:prstTxWarp>
          </a:bodyPr>
          <a:lstStyle/>
          <a:p>
            <a:pPr eaLnBrk="1" hangingPunct="1">
              <a:spcBef>
                <a:spcPts val="1000"/>
              </a:spcBef>
              <a:buSzPct val="100000"/>
            </a:pPr>
            <a:r>
              <a:rPr lang="zh-CN" altLang="en-US" sz="2400" dirty="0">
                <a:solidFill>
                  <a:srgbClr val="0000FF"/>
                </a:solidFill>
                <a:ea typeface="微软雅黑" panose="020B0503020204020204" pitchFamily="34" charset="-122"/>
                <a:cs typeface="Arial" panose="020B0604020202020204" pitchFamily="34" charset="0"/>
              </a:rPr>
              <a:t>在线程级并行性 </a:t>
            </a:r>
            <a:r>
              <a:rPr lang="en-US" sz="2400" dirty="0">
                <a:solidFill>
                  <a:srgbClr val="0000FF"/>
                </a:solidFill>
                <a:ea typeface="微软雅黑" panose="020B0503020204020204" pitchFamily="34" charset="-122"/>
                <a:cs typeface="Arial" panose="020B0604020202020204" pitchFamily="34" charset="0"/>
              </a:rPr>
              <a:t>(TLP)</a:t>
            </a:r>
            <a:r>
              <a:rPr lang="zh-CN" altLang="en-US" sz="2400" dirty="0">
                <a:solidFill>
                  <a:srgbClr val="0000FF"/>
                </a:solidFill>
                <a:ea typeface="微软雅黑" panose="020B0503020204020204" pitchFamily="34" charset="-122"/>
                <a:cs typeface="Arial" panose="020B0604020202020204" pitchFamily="34" charset="0"/>
              </a:rPr>
              <a:t>不足时，整个机器的发射宽度可为指令级并行性</a:t>
            </a:r>
            <a:r>
              <a:rPr lang="en-US" sz="2400" dirty="0">
                <a:solidFill>
                  <a:srgbClr val="0000FF"/>
                </a:solidFill>
                <a:ea typeface="微软雅黑" panose="020B0503020204020204" pitchFamily="34" charset="-122"/>
                <a:cs typeface="Arial" panose="020B0604020202020204" pitchFamily="34" charset="0"/>
              </a:rPr>
              <a:t> (ILP)</a:t>
            </a:r>
            <a:r>
              <a:rPr lang="zh-CN" altLang="en-US" sz="2400" dirty="0">
                <a:solidFill>
                  <a:srgbClr val="0000FF"/>
                </a:solidFill>
                <a:ea typeface="微软雅黑" panose="020B0503020204020204" pitchFamily="34" charset="-122"/>
                <a:cs typeface="Arial" panose="020B0604020202020204" pitchFamily="34" charset="0"/>
              </a:rPr>
              <a:t>所用</a:t>
            </a:r>
            <a:endParaRPr lang="en-US" sz="2400" dirty="0">
              <a:solidFill>
                <a:srgbClr val="0000FF"/>
              </a:solidFill>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4682355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82" name="Rectangle 2"/>
          <p:cNvSpPr>
            <a:spLocks noGrp="1" noChangeArrowheads="1"/>
          </p:cNvSpPr>
          <p:nvPr>
            <p:ph type="title"/>
          </p:nvPr>
        </p:nvSpPr>
        <p:spPr/>
        <p:txBody>
          <a:bodyPr/>
          <a:lstStyle/>
          <a:p>
            <a:r>
              <a:rPr lang="en-US" altLang="en-US" smtClean="0"/>
              <a:t>Simultaneous Multithreading (SMT)</a:t>
            </a:r>
            <a:endParaRPr lang="en-US" altLang="en-US"/>
          </a:p>
        </p:txBody>
      </p:sp>
      <p:sp>
        <p:nvSpPr>
          <p:cNvPr id="1044483" name="Rectangle 3"/>
          <p:cNvSpPr>
            <a:spLocks noGrp="1" noChangeArrowheads="1"/>
          </p:cNvSpPr>
          <p:nvPr>
            <p:ph type="body" idx="1"/>
          </p:nvPr>
        </p:nvSpPr>
        <p:spPr/>
        <p:txBody>
          <a:bodyPr/>
          <a:lstStyle/>
          <a:p>
            <a:r>
              <a:rPr lang="en-US" altLang="en-US" dirty="0" smtClean="0"/>
              <a:t>Simultaneous multithreading (SMT): insight that dynamically scheduled processor already has many HW mechanisms to support multithreading</a:t>
            </a:r>
          </a:p>
          <a:p>
            <a:pPr lvl="1"/>
            <a:r>
              <a:rPr lang="en-US" altLang="en-US" dirty="0"/>
              <a:t>L</a:t>
            </a:r>
            <a:r>
              <a:rPr lang="en-US" altLang="en-US" dirty="0" smtClean="0"/>
              <a:t>arge set of virtual registers that can be used to hold the register sets of independent threads (assuming separate renaming tables are kept for each thread)</a:t>
            </a:r>
            <a:endParaRPr lang="en-US" altLang="en-US" dirty="0"/>
          </a:p>
        </p:txBody>
      </p:sp>
      <p:pic>
        <p:nvPicPr>
          <p:cNvPr id="1044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10000"/>
            <a:ext cx="4762500" cy="2908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4485" name="Text Box 5"/>
          <p:cNvSpPr txBox="1">
            <a:spLocks noChangeArrowheads="1"/>
          </p:cNvSpPr>
          <p:nvPr/>
        </p:nvSpPr>
        <p:spPr bwMode="auto">
          <a:xfrm>
            <a:off x="7947026" y="6019801"/>
            <a:ext cx="27209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000">
                <a:latin typeface="Times New Roman" panose="02020603050405020304" pitchFamily="18" charset="0"/>
              </a:rPr>
              <a:t>Source: Micrprocessor Report, December 6, 1999</a:t>
            </a:r>
            <a:br>
              <a:rPr lang="en-US" altLang="en-US" sz="1000">
                <a:latin typeface="Times New Roman" panose="02020603050405020304" pitchFamily="18" charset="0"/>
              </a:rPr>
            </a:br>
            <a:r>
              <a:rPr lang="en-US" altLang="en-US" sz="1000">
                <a:latin typeface="Times New Roman" panose="02020603050405020304" pitchFamily="18" charset="0"/>
              </a:rPr>
              <a:t> “Compaq Chooses SMT for Alpha”</a:t>
            </a:r>
          </a:p>
        </p:txBody>
      </p:sp>
      <p:sp>
        <p:nvSpPr>
          <p:cNvPr id="1044486" name="Text Box 6"/>
          <p:cNvSpPr txBox="1">
            <a:spLocks noChangeArrowheads="1"/>
          </p:cNvSpPr>
          <p:nvPr/>
        </p:nvSpPr>
        <p:spPr bwMode="auto">
          <a:xfrm>
            <a:off x="6615597" y="3639167"/>
            <a:ext cx="538383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en-US" altLang="en-US" sz="2800" dirty="0" smtClean="0">
                <a:solidFill>
                  <a:srgbClr val="3333CC"/>
                </a:solidFill>
              </a:rPr>
              <a:t>out-of-order </a:t>
            </a:r>
            <a:r>
              <a:rPr lang="en-US" altLang="en-US" sz="2800" dirty="0">
                <a:solidFill>
                  <a:srgbClr val="3333CC"/>
                </a:solidFill>
              </a:rPr>
              <a:t>completion allows the threads to execute out of order, and get better utilization of the HW </a:t>
            </a:r>
          </a:p>
          <a:p>
            <a:pPr eaLnBrk="1" hangingPunct="1"/>
            <a:endParaRPr lang="zh-CN" altLang="en-US" sz="2000" dirty="0">
              <a:solidFill>
                <a:srgbClr val="3333CC"/>
              </a:solidFill>
            </a:endParaRPr>
          </a:p>
        </p:txBody>
      </p:sp>
    </p:spTree>
    <p:extLst>
      <p:ext uri="{BB962C8B-B14F-4D97-AF65-F5344CB8AC3E}">
        <p14:creationId xmlns:p14="http://schemas.microsoft.com/office/powerpoint/2010/main" val="20363616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4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444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48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30" name="Rectangle 2"/>
          <p:cNvSpPr>
            <a:spLocks noGrp="1" noChangeArrowheads="1"/>
          </p:cNvSpPr>
          <p:nvPr>
            <p:ph type="title"/>
          </p:nvPr>
        </p:nvSpPr>
        <p:spPr/>
        <p:txBody>
          <a:bodyPr/>
          <a:lstStyle/>
          <a:p>
            <a:r>
              <a:rPr lang="en-US" dirty="0" smtClean="0"/>
              <a:t>O-o-O </a:t>
            </a:r>
            <a:r>
              <a:rPr lang="zh-CN" altLang="en-US" dirty="0" smtClean="0"/>
              <a:t>同时多线程</a:t>
            </a:r>
            <a:endParaRPr lang="en-US" dirty="0"/>
          </a:p>
        </p:txBody>
      </p:sp>
      <p:sp>
        <p:nvSpPr>
          <p:cNvPr id="1430531" name="Rectangle 3"/>
          <p:cNvSpPr>
            <a:spLocks noGrp="1" noChangeArrowheads="1"/>
          </p:cNvSpPr>
          <p:nvPr>
            <p:ph idx="1"/>
          </p:nvPr>
        </p:nvSpPr>
        <p:spPr/>
        <p:txBody>
          <a:bodyPr/>
          <a:lstStyle/>
          <a:p>
            <a:pPr>
              <a:lnSpc>
                <a:spcPct val="100000"/>
              </a:lnSpc>
            </a:pPr>
            <a:r>
              <a:rPr lang="zh-CN" altLang="en-US" dirty="0" smtClean="0"/>
              <a:t>增加多个线程上下文</a:t>
            </a:r>
            <a:r>
              <a:rPr lang="en-US" altLang="zh-CN" dirty="0" smtClean="0"/>
              <a:t>(context)</a:t>
            </a:r>
            <a:r>
              <a:rPr lang="zh-CN" altLang="en-US" dirty="0" smtClean="0"/>
              <a:t>和取指部件</a:t>
            </a:r>
            <a:endParaRPr lang="en-US" altLang="zh-CN" dirty="0" smtClean="0"/>
          </a:p>
          <a:p>
            <a:pPr lvl="1">
              <a:lnSpc>
                <a:spcPct val="100000"/>
              </a:lnSpc>
            </a:pPr>
            <a:r>
              <a:rPr lang="zh-CN" altLang="en-US" dirty="0" smtClean="0"/>
              <a:t>允许取自不同线程的指令同时发射</a:t>
            </a:r>
            <a:endParaRPr lang="en-US" dirty="0" smtClean="0"/>
          </a:p>
          <a:p>
            <a:pPr>
              <a:lnSpc>
                <a:spcPct val="100000"/>
              </a:lnSpc>
            </a:pPr>
            <a:r>
              <a:rPr lang="zh-CN" altLang="en-US" dirty="0" smtClean="0"/>
              <a:t>利用宽发射乱序超标量处理器中的发射队列</a:t>
            </a:r>
            <a:endParaRPr lang="en-US" altLang="zh-CN" dirty="0" smtClean="0"/>
          </a:p>
          <a:p>
            <a:pPr lvl="1">
              <a:lnSpc>
                <a:spcPct val="100000"/>
              </a:lnSpc>
            </a:pPr>
            <a:r>
              <a:rPr lang="zh-CN" altLang="en-US" dirty="0" smtClean="0"/>
              <a:t>找出多个线程中可以发射的指令</a:t>
            </a:r>
            <a:endParaRPr lang="en-US" dirty="0" smtClean="0"/>
          </a:p>
          <a:p>
            <a:pPr>
              <a:lnSpc>
                <a:spcPct val="100000"/>
              </a:lnSpc>
            </a:pPr>
            <a:r>
              <a:rPr lang="zh-CN" altLang="en-US" dirty="0" smtClean="0"/>
              <a:t>乱序超标量的指令窗口已经足够大</a:t>
            </a:r>
            <a:endParaRPr lang="en-US" altLang="zh-CN" dirty="0" smtClean="0"/>
          </a:p>
          <a:p>
            <a:pPr lvl="1">
              <a:lnSpc>
                <a:spcPct val="100000"/>
              </a:lnSpc>
            </a:pPr>
            <a:r>
              <a:rPr lang="zh-CN" altLang="en-US" dirty="0" smtClean="0"/>
              <a:t>且有从多个线程中调度指令所需要的大部分电路</a:t>
            </a:r>
            <a:endParaRPr lang="en-US" dirty="0" smtClean="0"/>
          </a:p>
          <a:p>
            <a:pPr>
              <a:lnSpc>
                <a:spcPct val="100000"/>
              </a:lnSpc>
            </a:pPr>
            <a:r>
              <a:rPr lang="zh-CN" altLang="en-US" dirty="0" smtClean="0"/>
              <a:t>必要时，每个线程都能用足整个处理器</a:t>
            </a:r>
            <a:endParaRPr lang="en-US" altLang="zh-CN" dirty="0" smtClean="0"/>
          </a:p>
          <a:p>
            <a:pPr lvl="1">
              <a:lnSpc>
                <a:spcPct val="100000"/>
              </a:lnSpc>
            </a:pPr>
            <a:r>
              <a:rPr lang="zh-CN" altLang="en-US" dirty="0" smtClean="0"/>
              <a:t>不会限制单线程的性能</a:t>
            </a:r>
            <a:endParaRPr lang="en-US" dirty="0"/>
          </a:p>
        </p:txBody>
      </p:sp>
      <p:sp>
        <p:nvSpPr>
          <p:cNvPr id="4" name="矩形 3"/>
          <p:cNvSpPr/>
          <p:nvPr/>
        </p:nvSpPr>
        <p:spPr>
          <a:xfrm>
            <a:off x="5663952" y="5877272"/>
            <a:ext cx="6109429" cy="369332"/>
          </a:xfrm>
          <a:prstGeom prst="rect">
            <a:avLst/>
          </a:prstGeom>
        </p:spPr>
        <p:txBody>
          <a:bodyPr wrap="none">
            <a:spAutoFit/>
          </a:bodyPr>
          <a:lstStyle/>
          <a:p>
            <a:r>
              <a:rPr lang="en-US" altLang="zh-CN" dirty="0"/>
              <a:t>[</a:t>
            </a:r>
            <a:r>
              <a:rPr lang="en-US" altLang="zh-CN" dirty="0" err="1"/>
              <a:t>Tullsen</a:t>
            </a:r>
            <a:r>
              <a:rPr lang="en-US" altLang="zh-CN" dirty="0"/>
              <a:t>, Eggers, </a:t>
            </a:r>
            <a:r>
              <a:rPr lang="en-US" altLang="zh-CN" dirty="0" err="1"/>
              <a:t>Emer</a:t>
            </a:r>
            <a:r>
              <a:rPr lang="en-US" altLang="zh-CN" dirty="0"/>
              <a:t>, Levy, </a:t>
            </a:r>
            <a:r>
              <a:rPr lang="en-US" altLang="zh-CN" dirty="0" err="1"/>
              <a:t>Stamm</a:t>
            </a:r>
            <a:r>
              <a:rPr lang="en-US" altLang="zh-CN" dirty="0"/>
              <a:t>, Lo, DEC/UW, 1996]</a:t>
            </a:r>
            <a:endParaRPr lang="zh-CN" altLang="en-US" dirty="0"/>
          </a:p>
        </p:txBody>
      </p:sp>
    </p:spTree>
    <p:extLst>
      <p:ext uri="{BB962C8B-B14F-4D97-AF65-F5344CB8AC3E}">
        <p14:creationId xmlns:p14="http://schemas.microsoft.com/office/powerpoint/2010/main" val="18906545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058" name="Rectangle 2"/>
          <p:cNvSpPr>
            <a:spLocks noGrp="1" noChangeArrowheads="1"/>
          </p:cNvSpPr>
          <p:nvPr>
            <p:ph type="title"/>
          </p:nvPr>
        </p:nvSpPr>
        <p:spPr/>
        <p:txBody>
          <a:bodyPr/>
          <a:lstStyle/>
          <a:p>
            <a:r>
              <a:rPr lang="zh-CN" altLang="en-US" smtClean="0"/>
              <a:t>从哪个线程取指？</a:t>
            </a:r>
            <a:endParaRPr lang="en-US" dirty="0"/>
          </a:p>
        </p:txBody>
      </p:sp>
      <p:sp>
        <p:nvSpPr>
          <p:cNvPr id="89" name="内容占位符 88"/>
          <p:cNvSpPr>
            <a:spLocks noGrp="1"/>
          </p:cNvSpPr>
          <p:nvPr>
            <p:ph idx="1"/>
          </p:nvPr>
        </p:nvSpPr>
        <p:spPr/>
        <p:txBody>
          <a:bodyPr/>
          <a:lstStyle/>
          <a:p>
            <a:pPr>
              <a:lnSpc>
                <a:spcPct val="100000"/>
              </a:lnSpc>
            </a:pPr>
            <a:r>
              <a:rPr lang="zh-CN" altLang="en-US" dirty="0" smtClean="0"/>
              <a:t>指令取自：处于执行状态的指令最少的线程</a:t>
            </a:r>
            <a:endParaRPr lang="en-US" altLang="zh-CN" dirty="0" smtClean="0"/>
          </a:p>
          <a:p>
            <a:pPr lvl="1">
              <a:lnSpc>
                <a:spcPct val="100000"/>
              </a:lnSpc>
            </a:pPr>
            <a:r>
              <a:rPr lang="zh-CN" altLang="en-US" dirty="0" smtClean="0"/>
              <a:t>少，意味着该线程中的指令较少停顿、可迅速执行</a:t>
            </a:r>
            <a:endParaRPr lang="en-US" altLang="zh-CN" dirty="0" smtClean="0"/>
          </a:p>
          <a:p>
            <a:pPr lvl="1">
              <a:lnSpc>
                <a:spcPct val="100000"/>
              </a:lnSpc>
            </a:pPr>
            <a:r>
              <a:rPr lang="zh-CN" altLang="en-US" dirty="0" smtClean="0"/>
              <a:t>否则，别的线程中指令停顿较多，充塞指令窗口</a:t>
            </a:r>
            <a:endParaRPr lang="en-US" altLang="zh-CN" dirty="0" smtClean="0"/>
          </a:p>
          <a:p>
            <a:pPr>
              <a:lnSpc>
                <a:spcPct val="100000"/>
              </a:lnSpc>
            </a:pPr>
            <a:r>
              <a:rPr lang="zh-CN" altLang="en-US" dirty="0" smtClean="0"/>
              <a:t>相比轮换法，该策略可提高</a:t>
            </a:r>
            <a:r>
              <a:rPr lang="en-US" altLang="zh-CN" dirty="0" smtClean="0"/>
              <a:t>IPC 40%</a:t>
            </a:r>
          </a:p>
          <a:p>
            <a:pPr lvl="1">
              <a:lnSpc>
                <a:spcPct val="100000"/>
              </a:lnSpc>
            </a:pPr>
            <a:endParaRPr lang="zh-CN" altLang="en-US" dirty="0"/>
          </a:p>
        </p:txBody>
      </p:sp>
      <p:grpSp>
        <p:nvGrpSpPr>
          <p:cNvPr id="2" name="Group 3"/>
          <p:cNvGrpSpPr>
            <a:grpSpLocks/>
          </p:cNvGrpSpPr>
          <p:nvPr/>
        </p:nvGrpSpPr>
        <p:grpSpPr bwMode="auto">
          <a:xfrm>
            <a:off x="6600056" y="3501008"/>
            <a:ext cx="5227637" cy="3249613"/>
            <a:chOff x="1029" y="1263"/>
            <a:chExt cx="3399" cy="2296"/>
          </a:xfrm>
        </p:grpSpPr>
        <p:sp>
          <p:nvSpPr>
            <p:cNvPr id="1453060" name="Rectangle 4"/>
            <p:cNvSpPr>
              <a:spLocks noChangeArrowheads="1"/>
            </p:cNvSpPr>
            <p:nvPr/>
          </p:nvSpPr>
          <p:spPr bwMode="auto">
            <a:xfrm flipH="1">
              <a:off x="2733" y="2051"/>
              <a:ext cx="88"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1" name="Rectangle 5"/>
            <p:cNvSpPr>
              <a:spLocks noChangeArrowheads="1"/>
            </p:cNvSpPr>
            <p:nvPr/>
          </p:nvSpPr>
          <p:spPr bwMode="auto">
            <a:xfrm flipH="1">
              <a:off x="2644" y="2051"/>
              <a:ext cx="89"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2" name="Rectangle 6"/>
            <p:cNvSpPr>
              <a:spLocks noChangeArrowheads="1"/>
            </p:cNvSpPr>
            <p:nvPr/>
          </p:nvSpPr>
          <p:spPr bwMode="auto">
            <a:xfrm flipH="1">
              <a:off x="2556" y="2051"/>
              <a:ext cx="88"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3" name="Rectangle 7"/>
            <p:cNvSpPr>
              <a:spLocks noChangeArrowheads="1"/>
            </p:cNvSpPr>
            <p:nvPr/>
          </p:nvSpPr>
          <p:spPr bwMode="auto">
            <a:xfrm flipH="1">
              <a:off x="2467" y="2051"/>
              <a:ext cx="89"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4" name="Rectangle 8"/>
            <p:cNvSpPr>
              <a:spLocks noChangeArrowheads="1"/>
            </p:cNvSpPr>
            <p:nvPr/>
          </p:nvSpPr>
          <p:spPr bwMode="auto">
            <a:xfrm flipH="1">
              <a:off x="2821" y="2051"/>
              <a:ext cx="88"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grpSp>
          <p:nvGrpSpPr>
            <p:cNvPr id="3" name="Group 9"/>
            <p:cNvGrpSpPr>
              <a:grpSpLocks/>
            </p:cNvGrpSpPr>
            <p:nvPr/>
          </p:nvGrpSpPr>
          <p:grpSpPr bwMode="auto">
            <a:xfrm flipH="1">
              <a:off x="2467" y="1832"/>
              <a:ext cx="531" cy="219"/>
              <a:chOff x="2702" y="2598"/>
              <a:chExt cx="390" cy="144"/>
            </a:xfrm>
          </p:grpSpPr>
          <p:sp>
            <p:nvSpPr>
              <p:cNvPr id="1453066" name="Rectangle 10"/>
              <p:cNvSpPr>
                <a:spLocks noChangeArrowheads="1"/>
              </p:cNvSpPr>
              <p:nvPr/>
            </p:nvSpPr>
            <p:spPr bwMode="auto">
              <a:xfrm>
                <a:off x="2832" y="2598"/>
                <a:ext cx="65" cy="144"/>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7" name="Rectangle 11"/>
              <p:cNvSpPr>
                <a:spLocks noChangeArrowheads="1"/>
              </p:cNvSpPr>
              <p:nvPr/>
            </p:nvSpPr>
            <p:spPr bwMode="auto">
              <a:xfrm>
                <a:off x="2897"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8" name="Rectangle 12"/>
              <p:cNvSpPr>
                <a:spLocks noChangeArrowheads="1"/>
              </p:cNvSpPr>
              <p:nvPr/>
            </p:nvSpPr>
            <p:spPr bwMode="auto">
              <a:xfrm>
                <a:off x="2962" y="2598"/>
                <a:ext cx="65" cy="144"/>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69" name="Rectangle 13"/>
              <p:cNvSpPr>
                <a:spLocks noChangeArrowheads="1"/>
              </p:cNvSpPr>
              <p:nvPr/>
            </p:nvSpPr>
            <p:spPr bwMode="auto">
              <a:xfrm>
                <a:off x="3027"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0" name="Rectangle 14"/>
              <p:cNvSpPr>
                <a:spLocks noChangeArrowheads="1"/>
              </p:cNvSpPr>
              <p:nvPr/>
            </p:nvSpPr>
            <p:spPr bwMode="auto">
              <a:xfrm>
                <a:off x="2767" y="2598"/>
                <a:ext cx="65" cy="144"/>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1" name="Rectangle 15"/>
              <p:cNvSpPr>
                <a:spLocks noChangeArrowheads="1"/>
              </p:cNvSpPr>
              <p:nvPr/>
            </p:nvSpPr>
            <p:spPr bwMode="auto">
              <a:xfrm>
                <a:off x="2702"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grpSp>
        <p:sp>
          <p:nvSpPr>
            <p:cNvPr id="1453072" name="Rectangle 16"/>
            <p:cNvSpPr>
              <a:spLocks noChangeArrowheads="1"/>
            </p:cNvSpPr>
            <p:nvPr/>
          </p:nvSpPr>
          <p:spPr bwMode="auto">
            <a:xfrm flipH="1">
              <a:off x="2909" y="2051"/>
              <a:ext cx="89" cy="219"/>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3" name="Rectangle 17"/>
            <p:cNvSpPr>
              <a:spLocks noChangeArrowheads="1"/>
            </p:cNvSpPr>
            <p:nvPr/>
          </p:nvSpPr>
          <p:spPr bwMode="auto">
            <a:xfrm flipH="1">
              <a:off x="2733" y="1609"/>
              <a:ext cx="88"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4" name="Rectangle 18"/>
            <p:cNvSpPr>
              <a:spLocks noChangeArrowheads="1"/>
            </p:cNvSpPr>
            <p:nvPr/>
          </p:nvSpPr>
          <p:spPr bwMode="auto">
            <a:xfrm flipH="1">
              <a:off x="2644" y="1609"/>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5" name="Rectangle 19"/>
            <p:cNvSpPr>
              <a:spLocks noChangeArrowheads="1"/>
            </p:cNvSpPr>
            <p:nvPr/>
          </p:nvSpPr>
          <p:spPr bwMode="auto">
            <a:xfrm flipH="1">
              <a:off x="2556" y="1609"/>
              <a:ext cx="88"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6" name="Rectangle 20"/>
            <p:cNvSpPr>
              <a:spLocks noChangeArrowheads="1"/>
            </p:cNvSpPr>
            <p:nvPr/>
          </p:nvSpPr>
          <p:spPr bwMode="auto">
            <a:xfrm flipH="1">
              <a:off x="2467" y="1609"/>
              <a:ext cx="89" cy="219"/>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7" name="Rectangle 21"/>
            <p:cNvSpPr>
              <a:spLocks noChangeArrowheads="1"/>
            </p:cNvSpPr>
            <p:nvPr/>
          </p:nvSpPr>
          <p:spPr bwMode="auto">
            <a:xfrm flipH="1">
              <a:off x="2821" y="1609"/>
              <a:ext cx="88"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8" name="Rectangle 22"/>
            <p:cNvSpPr>
              <a:spLocks noChangeArrowheads="1"/>
            </p:cNvSpPr>
            <p:nvPr/>
          </p:nvSpPr>
          <p:spPr bwMode="auto">
            <a:xfrm flipH="1">
              <a:off x="2909" y="1609"/>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79" name="Line 23"/>
            <p:cNvSpPr>
              <a:spLocks noChangeShapeType="1"/>
            </p:cNvSpPr>
            <p:nvPr/>
          </p:nvSpPr>
          <p:spPr bwMode="auto">
            <a:xfrm flipV="1">
              <a:off x="2044" y="1940"/>
              <a:ext cx="424" cy="1"/>
            </a:xfrm>
            <a:prstGeom prst="line">
              <a:avLst/>
            </a:prstGeom>
            <a:noFill/>
            <a:ln w="25400">
              <a:solidFill>
                <a:srgbClr val="618FFD"/>
              </a:solidFill>
              <a:round/>
              <a:headEnd/>
              <a:tailEnd type="triangle" w="med" len="med"/>
            </a:ln>
            <a:effectLst/>
          </p:spPr>
          <p:txBody>
            <a:bodyPr>
              <a:prstTxWarp prst="textNoShape">
                <a:avLst/>
              </a:prstTxWarp>
            </a:bodyPr>
            <a:lstStyle/>
            <a:p>
              <a:endParaRPr lang="en-US"/>
            </a:p>
          </p:txBody>
        </p:sp>
        <p:sp>
          <p:nvSpPr>
            <p:cNvPr id="1453080" name="Rectangle 24"/>
            <p:cNvSpPr>
              <a:spLocks noChangeArrowheads="1"/>
            </p:cNvSpPr>
            <p:nvPr/>
          </p:nvSpPr>
          <p:spPr bwMode="auto">
            <a:xfrm>
              <a:off x="3622" y="2050"/>
              <a:ext cx="89"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1" name="Rectangle 25"/>
            <p:cNvSpPr>
              <a:spLocks noChangeArrowheads="1"/>
            </p:cNvSpPr>
            <p:nvPr/>
          </p:nvSpPr>
          <p:spPr bwMode="auto">
            <a:xfrm>
              <a:off x="3711" y="2050"/>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2" name="Rectangle 26"/>
            <p:cNvSpPr>
              <a:spLocks noChangeArrowheads="1"/>
            </p:cNvSpPr>
            <p:nvPr/>
          </p:nvSpPr>
          <p:spPr bwMode="auto">
            <a:xfrm>
              <a:off x="3800" y="2050"/>
              <a:ext cx="88"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3" name="Rectangle 27"/>
            <p:cNvSpPr>
              <a:spLocks noChangeArrowheads="1"/>
            </p:cNvSpPr>
            <p:nvPr/>
          </p:nvSpPr>
          <p:spPr bwMode="auto">
            <a:xfrm>
              <a:off x="3888" y="2050"/>
              <a:ext cx="89"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4" name="Rectangle 28"/>
            <p:cNvSpPr>
              <a:spLocks noChangeArrowheads="1"/>
            </p:cNvSpPr>
            <p:nvPr/>
          </p:nvSpPr>
          <p:spPr bwMode="auto">
            <a:xfrm>
              <a:off x="3534" y="2050"/>
              <a:ext cx="88"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grpSp>
          <p:nvGrpSpPr>
            <p:cNvPr id="4" name="Group 29"/>
            <p:cNvGrpSpPr>
              <a:grpSpLocks/>
            </p:cNvGrpSpPr>
            <p:nvPr/>
          </p:nvGrpSpPr>
          <p:grpSpPr bwMode="auto">
            <a:xfrm>
              <a:off x="3445" y="1831"/>
              <a:ext cx="532" cy="219"/>
              <a:chOff x="2702" y="2598"/>
              <a:chExt cx="390" cy="144"/>
            </a:xfrm>
          </p:grpSpPr>
          <p:sp>
            <p:nvSpPr>
              <p:cNvPr id="1453086" name="Rectangle 30"/>
              <p:cNvSpPr>
                <a:spLocks noChangeArrowheads="1"/>
              </p:cNvSpPr>
              <p:nvPr/>
            </p:nvSpPr>
            <p:spPr bwMode="auto">
              <a:xfrm>
                <a:off x="2832" y="2598"/>
                <a:ext cx="65" cy="144"/>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7" name="Rectangle 31"/>
              <p:cNvSpPr>
                <a:spLocks noChangeArrowheads="1"/>
              </p:cNvSpPr>
              <p:nvPr/>
            </p:nvSpPr>
            <p:spPr bwMode="auto">
              <a:xfrm>
                <a:off x="2897"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8" name="Rectangle 32"/>
              <p:cNvSpPr>
                <a:spLocks noChangeArrowheads="1"/>
              </p:cNvSpPr>
              <p:nvPr/>
            </p:nvSpPr>
            <p:spPr bwMode="auto">
              <a:xfrm>
                <a:off x="2962" y="2598"/>
                <a:ext cx="65" cy="144"/>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89" name="Rectangle 33"/>
              <p:cNvSpPr>
                <a:spLocks noChangeArrowheads="1"/>
              </p:cNvSpPr>
              <p:nvPr/>
            </p:nvSpPr>
            <p:spPr bwMode="auto">
              <a:xfrm>
                <a:off x="3027"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0" name="Rectangle 34"/>
              <p:cNvSpPr>
                <a:spLocks noChangeArrowheads="1"/>
              </p:cNvSpPr>
              <p:nvPr/>
            </p:nvSpPr>
            <p:spPr bwMode="auto">
              <a:xfrm>
                <a:off x="2767" y="2598"/>
                <a:ext cx="65" cy="144"/>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1" name="Rectangle 35"/>
              <p:cNvSpPr>
                <a:spLocks noChangeArrowheads="1"/>
              </p:cNvSpPr>
              <p:nvPr/>
            </p:nvSpPr>
            <p:spPr bwMode="auto">
              <a:xfrm>
                <a:off x="2702" y="2598"/>
                <a:ext cx="65" cy="144"/>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grpSp>
        <p:sp>
          <p:nvSpPr>
            <p:cNvPr id="1453092" name="Rectangle 36"/>
            <p:cNvSpPr>
              <a:spLocks noChangeArrowheads="1"/>
            </p:cNvSpPr>
            <p:nvPr/>
          </p:nvSpPr>
          <p:spPr bwMode="auto">
            <a:xfrm>
              <a:off x="3445" y="2050"/>
              <a:ext cx="89" cy="219"/>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3" name="Rectangle 37"/>
            <p:cNvSpPr>
              <a:spLocks noChangeArrowheads="1"/>
            </p:cNvSpPr>
            <p:nvPr/>
          </p:nvSpPr>
          <p:spPr bwMode="auto">
            <a:xfrm>
              <a:off x="3622" y="1608"/>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4" name="Rectangle 38"/>
            <p:cNvSpPr>
              <a:spLocks noChangeArrowheads="1"/>
            </p:cNvSpPr>
            <p:nvPr/>
          </p:nvSpPr>
          <p:spPr bwMode="auto">
            <a:xfrm>
              <a:off x="3711" y="1608"/>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5" name="Rectangle 39"/>
            <p:cNvSpPr>
              <a:spLocks noChangeArrowheads="1"/>
            </p:cNvSpPr>
            <p:nvPr/>
          </p:nvSpPr>
          <p:spPr bwMode="auto">
            <a:xfrm>
              <a:off x="3800" y="1608"/>
              <a:ext cx="88" cy="219"/>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6" name="Rectangle 40"/>
            <p:cNvSpPr>
              <a:spLocks noChangeArrowheads="1"/>
            </p:cNvSpPr>
            <p:nvPr/>
          </p:nvSpPr>
          <p:spPr bwMode="auto">
            <a:xfrm>
              <a:off x="3888" y="1608"/>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7" name="Rectangle 41"/>
            <p:cNvSpPr>
              <a:spLocks noChangeArrowheads="1"/>
            </p:cNvSpPr>
            <p:nvPr/>
          </p:nvSpPr>
          <p:spPr bwMode="auto">
            <a:xfrm>
              <a:off x="3534" y="1608"/>
              <a:ext cx="88" cy="219"/>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8" name="Rectangle 42"/>
            <p:cNvSpPr>
              <a:spLocks noChangeArrowheads="1"/>
            </p:cNvSpPr>
            <p:nvPr/>
          </p:nvSpPr>
          <p:spPr bwMode="auto">
            <a:xfrm>
              <a:off x="3445" y="1608"/>
              <a:ext cx="89" cy="219"/>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099" name="Line 43"/>
            <p:cNvSpPr>
              <a:spLocks noChangeShapeType="1"/>
            </p:cNvSpPr>
            <p:nvPr/>
          </p:nvSpPr>
          <p:spPr bwMode="auto">
            <a:xfrm flipV="1">
              <a:off x="3022" y="1939"/>
              <a:ext cx="424" cy="1"/>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53100" name="Rectangle 44"/>
            <p:cNvSpPr>
              <a:spLocks noChangeArrowheads="1"/>
            </p:cNvSpPr>
            <p:nvPr/>
          </p:nvSpPr>
          <p:spPr bwMode="auto">
            <a:xfrm>
              <a:off x="2251" y="1263"/>
              <a:ext cx="1982" cy="1499"/>
            </a:xfrm>
            <a:prstGeom prst="rect">
              <a:avLst/>
            </a:prstGeom>
            <a:noFill/>
            <a:ln w="12700">
              <a:solidFill>
                <a:schemeClr val="tx1"/>
              </a:solidFill>
              <a:prstDash val="lgDash"/>
              <a:miter lim="800000"/>
              <a:headEnd/>
              <a:tailEnd/>
            </a:ln>
            <a:effectLst/>
          </p:spPr>
          <p:txBody>
            <a:bodyPr wrap="none" anchor="ctr">
              <a:prstTxWarp prst="textNoShape">
                <a:avLst/>
              </a:prstTxWarp>
            </a:bodyPr>
            <a:lstStyle/>
            <a:p>
              <a:endParaRPr lang="en-US"/>
            </a:p>
          </p:txBody>
        </p:sp>
        <p:sp>
          <p:nvSpPr>
            <p:cNvPr id="1453101" name="Line 45"/>
            <p:cNvSpPr>
              <a:spLocks noChangeShapeType="1"/>
            </p:cNvSpPr>
            <p:nvPr/>
          </p:nvSpPr>
          <p:spPr bwMode="auto">
            <a:xfrm>
              <a:off x="2724" y="2328"/>
              <a:ext cx="426" cy="864"/>
            </a:xfrm>
            <a:prstGeom prst="line">
              <a:avLst/>
            </a:prstGeom>
            <a:noFill/>
            <a:ln w="12700">
              <a:solidFill>
                <a:schemeClr val="tx1"/>
              </a:solidFill>
              <a:round/>
              <a:headEnd/>
              <a:tailEnd type="triangle" w="med" len="med"/>
            </a:ln>
            <a:effectLst/>
          </p:spPr>
          <p:txBody>
            <a:bodyPr>
              <a:prstTxWarp prst="textNoShape">
                <a:avLst/>
              </a:prstTxWarp>
            </a:bodyPr>
            <a:lstStyle/>
            <a:p>
              <a:endParaRPr lang="en-US"/>
            </a:p>
          </p:txBody>
        </p:sp>
        <p:sp>
          <p:nvSpPr>
            <p:cNvPr id="1453102" name="Line 46"/>
            <p:cNvSpPr>
              <a:spLocks noChangeShapeType="1"/>
            </p:cNvSpPr>
            <p:nvPr/>
          </p:nvSpPr>
          <p:spPr bwMode="auto">
            <a:xfrm flipH="1">
              <a:off x="3278" y="2280"/>
              <a:ext cx="427" cy="912"/>
            </a:xfrm>
            <a:prstGeom prst="line">
              <a:avLst/>
            </a:prstGeom>
            <a:noFill/>
            <a:ln w="12700">
              <a:solidFill>
                <a:schemeClr val="tx1"/>
              </a:solidFill>
              <a:round/>
              <a:headEnd/>
              <a:tailEnd type="triangle" w="med" len="med"/>
            </a:ln>
            <a:effectLst/>
          </p:spPr>
          <p:txBody>
            <a:bodyPr>
              <a:prstTxWarp prst="textNoShape">
                <a:avLst/>
              </a:prstTxWarp>
            </a:bodyPr>
            <a:lstStyle/>
            <a:p>
              <a:endParaRPr lang="en-US"/>
            </a:p>
          </p:txBody>
        </p:sp>
        <p:cxnSp>
          <p:nvCxnSpPr>
            <p:cNvPr id="1453103" name="AutoShape 47"/>
            <p:cNvCxnSpPr>
              <a:cxnSpLocks noChangeShapeType="1"/>
              <a:endCxn id="1453104" idx="1"/>
            </p:cNvCxnSpPr>
            <p:nvPr/>
          </p:nvCxnSpPr>
          <p:spPr bwMode="auto">
            <a:xfrm rot="10800000">
              <a:off x="1955" y="2251"/>
              <a:ext cx="1350" cy="1133"/>
            </a:xfrm>
            <a:prstGeom prst="bentConnector2">
              <a:avLst/>
            </a:prstGeom>
            <a:noFill/>
            <a:ln w="12700">
              <a:solidFill>
                <a:srgbClr val="618FFD"/>
              </a:solidFill>
              <a:miter lim="800000"/>
              <a:headEnd/>
              <a:tailEnd type="triangle" w="med" len="med"/>
            </a:ln>
            <a:effectLst/>
          </p:spPr>
        </p:cxnSp>
        <p:sp>
          <p:nvSpPr>
            <p:cNvPr id="1453104" name="AutoShape 48"/>
            <p:cNvSpPr>
              <a:spLocks noChangeArrowheads="1"/>
            </p:cNvSpPr>
            <p:nvPr/>
          </p:nvSpPr>
          <p:spPr bwMode="auto">
            <a:xfrm rot="-5400000">
              <a:off x="1572" y="1858"/>
              <a:ext cx="768" cy="171"/>
            </a:xfrm>
            <a:prstGeom prst="flowChartManualOperation">
              <a:avLst/>
            </a:prstGeom>
            <a:solidFill>
              <a:schemeClr val="accent1"/>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453105" name="Line 49"/>
            <p:cNvSpPr>
              <a:spLocks noChangeShapeType="1"/>
            </p:cNvSpPr>
            <p:nvPr/>
          </p:nvSpPr>
          <p:spPr bwMode="auto">
            <a:xfrm flipV="1">
              <a:off x="4004" y="1944"/>
              <a:ext cx="424" cy="1"/>
            </a:xfrm>
            <a:prstGeom prst="line">
              <a:avLst/>
            </a:prstGeom>
            <a:noFill/>
            <a:ln w="25400">
              <a:solidFill>
                <a:schemeClr val="tx1"/>
              </a:solidFill>
              <a:round/>
              <a:headEnd/>
              <a:tailEnd type="triangle" w="med" len="med"/>
            </a:ln>
            <a:effectLst/>
          </p:spPr>
          <p:txBody>
            <a:bodyPr>
              <a:prstTxWarp prst="textNoShape">
                <a:avLst/>
              </a:prstTxWarp>
            </a:bodyPr>
            <a:lstStyle/>
            <a:p>
              <a:endParaRPr lang="en-US"/>
            </a:p>
          </p:txBody>
        </p:sp>
        <p:sp>
          <p:nvSpPr>
            <p:cNvPr id="1453106" name="Oval 50"/>
            <p:cNvSpPr>
              <a:spLocks noChangeArrowheads="1"/>
            </p:cNvSpPr>
            <p:nvPr/>
          </p:nvSpPr>
          <p:spPr bwMode="auto">
            <a:xfrm>
              <a:off x="2909" y="3192"/>
              <a:ext cx="713" cy="367"/>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p>
          </p:txBody>
        </p:sp>
        <p:sp>
          <p:nvSpPr>
            <p:cNvPr id="1453107" name="Line 51"/>
            <p:cNvSpPr>
              <a:spLocks noChangeShapeType="1"/>
            </p:cNvSpPr>
            <p:nvPr/>
          </p:nvSpPr>
          <p:spPr bwMode="auto">
            <a:xfrm>
              <a:off x="1557" y="2184"/>
              <a:ext cx="298" cy="0"/>
            </a:xfrm>
            <a:prstGeom prst="line">
              <a:avLst/>
            </a:prstGeom>
            <a:noFill/>
            <a:ln w="25400">
              <a:solidFill>
                <a:srgbClr val="FAFD00"/>
              </a:solidFill>
              <a:round/>
              <a:headEnd/>
              <a:tailEnd type="triangle" w="med" len="med"/>
            </a:ln>
            <a:effectLst/>
          </p:spPr>
          <p:txBody>
            <a:bodyPr>
              <a:prstTxWarp prst="textNoShape">
                <a:avLst/>
              </a:prstTxWarp>
            </a:bodyPr>
            <a:lstStyle/>
            <a:p>
              <a:endParaRPr lang="en-US"/>
            </a:p>
          </p:txBody>
        </p:sp>
        <p:sp>
          <p:nvSpPr>
            <p:cNvPr id="1453108" name="Line 52"/>
            <p:cNvSpPr>
              <a:spLocks noChangeShapeType="1"/>
            </p:cNvSpPr>
            <p:nvPr/>
          </p:nvSpPr>
          <p:spPr bwMode="auto">
            <a:xfrm>
              <a:off x="1557" y="1690"/>
              <a:ext cx="298" cy="0"/>
            </a:xfrm>
            <a:prstGeom prst="line">
              <a:avLst/>
            </a:prstGeom>
            <a:noFill/>
            <a:ln w="25400">
              <a:solidFill>
                <a:srgbClr val="FF0000"/>
              </a:solidFill>
              <a:round/>
              <a:headEnd/>
              <a:tailEnd type="triangle" w="med" len="med"/>
            </a:ln>
            <a:effectLst/>
          </p:spPr>
          <p:txBody>
            <a:bodyPr>
              <a:prstTxWarp prst="textNoShape">
                <a:avLst/>
              </a:prstTxWarp>
            </a:bodyPr>
            <a:lstStyle/>
            <a:p>
              <a:endParaRPr lang="en-US"/>
            </a:p>
          </p:txBody>
        </p:sp>
        <p:sp>
          <p:nvSpPr>
            <p:cNvPr id="1453109" name="Line 53"/>
            <p:cNvSpPr>
              <a:spLocks noChangeShapeType="1"/>
            </p:cNvSpPr>
            <p:nvPr/>
          </p:nvSpPr>
          <p:spPr bwMode="auto">
            <a:xfrm>
              <a:off x="1564" y="1856"/>
              <a:ext cx="298" cy="0"/>
            </a:xfrm>
            <a:prstGeom prst="line">
              <a:avLst/>
            </a:prstGeom>
            <a:noFill/>
            <a:ln w="25400">
              <a:solidFill>
                <a:schemeClr val="folHlink"/>
              </a:solidFill>
              <a:round/>
              <a:headEnd/>
              <a:tailEnd type="triangle" w="med" len="med"/>
            </a:ln>
            <a:effectLst/>
          </p:spPr>
          <p:txBody>
            <a:bodyPr>
              <a:prstTxWarp prst="textNoShape">
                <a:avLst/>
              </a:prstTxWarp>
            </a:bodyPr>
            <a:lstStyle/>
            <a:p>
              <a:endParaRPr lang="en-US"/>
            </a:p>
          </p:txBody>
        </p:sp>
        <p:sp>
          <p:nvSpPr>
            <p:cNvPr id="1453110" name="Line 54"/>
            <p:cNvSpPr>
              <a:spLocks noChangeShapeType="1"/>
            </p:cNvSpPr>
            <p:nvPr/>
          </p:nvSpPr>
          <p:spPr bwMode="auto">
            <a:xfrm>
              <a:off x="1564" y="2024"/>
              <a:ext cx="298" cy="0"/>
            </a:xfrm>
            <a:prstGeom prst="line">
              <a:avLst/>
            </a:prstGeom>
            <a:noFill/>
            <a:ln w="25400">
              <a:solidFill>
                <a:schemeClr val="accent2"/>
              </a:solidFill>
              <a:round/>
              <a:headEnd/>
              <a:tailEnd type="triangle" w="med" len="med"/>
            </a:ln>
            <a:effectLst/>
          </p:spPr>
          <p:txBody>
            <a:bodyPr>
              <a:prstTxWarp prst="textNoShape">
                <a:avLst/>
              </a:prstTxWarp>
            </a:bodyPr>
            <a:lstStyle/>
            <a:p>
              <a:endParaRPr lang="en-US"/>
            </a:p>
          </p:txBody>
        </p:sp>
        <p:grpSp>
          <p:nvGrpSpPr>
            <p:cNvPr id="5" name="Group 55"/>
            <p:cNvGrpSpPr>
              <a:grpSpLocks/>
            </p:cNvGrpSpPr>
            <p:nvPr/>
          </p:nvGrpSpPr>
          <p:grpSpPr bwMode="auto">
            <a:xfrm>
              <a:off x="1029" y="1606"/>
              <a:ext cx="514" cy="655"/>
              <a:chOff x="4669" y="997"/>
              <a:chExt cx="578" cy="655"/>
            </a:xfrm>
          </p:grpSpPr>
          <p:sp>
            <p:nvSpPr>
              <p:cNvPr id="1453112" name="Rectangle 56"/>
              <p:cNvSpPr>
                <a:spLocks noChangeArrowheads="1"/>
              </p:cNvSpPr>
              <p:nvPr/>
            </p:nvSpPr>
            <p:spPr bwMode="auto">
              <a:xfrm>
                <a:off x="4861" y="1323"/>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3" name="Rectangle 57"/>
              <p:cNvSpPr>
                <a:spLocks noChangeArrowheads="1"/>
              </p:cNvSpPr>
              <p:nvPr/>
            </p:nvSpPr>
            <p:spPr bwMode="auto">
              <a:xfrm>
                <a:off x="4957" y="1323"/>
                <a:ext cx="95" cy="161"/>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4" name="Rectangle 58"/>
              <p:cNvSpPr>
                <a:spLocks noChangeArrowheads="1"/>
              </p:cNvSpPr>
              <p:nvPr/>
            </p:nvSpPr>
            <p:spPr bwMode="auto">
              <a:xfrm>
                <a:off x="5052" y="1323"/>
                <a:ext cx="96" cy="161"/>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5" name="Rectangle 59"/>
              <p:cNvSpPr>
                <a:spLocks noChangeArrowheads="1"/>
              </p:cNvSpPr>
              <p:nvPr/>
            </p:nvSpPr>
            <p:spPr bwMode="auto">
              <a:xfrm>
                <a:off x="5148" y="1323"/>
                <a:ext cx="96" cy="161"/>
              </a:xfrm>
              <a:prstGeom prst="rect">
                <a:avLst/>
              </a:prstGeom>
              <a:solidFill>
                <a:schemeClr val="bg1"/>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6" name="Rectangle 60"/>
              <p:cNvSpPr>
                <a:spLocks noChangeArrowheads="1"/>
              </p:cNvSpPr>
              <p:nvPr/>
            </p:nvSpPr>
            <p:spPr bwMode="auto">
              <a:xfrm>
                <a:off x="4696" y="1332"/>
                <a:ext cx="95"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7" name="Rectangle 61"/>
              <p:cNvSpPr>
                <a:spLocks noChangeArrowheads="1"/>
              </p:cNvSpPr>
              <p:nvPr/>
            </p:nvSpPr>
            <p:spPr bwMode="auto">
              <a:xfrm>
                <a:off x="4861" y="1162"/>
                <a:ext cx="96" cy="161"/>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8" name="Rectangle 62"/>
              <p:cNvSpPr>
                <a:spLocks noChangeArrowheads="1"/>
              </p:cNvSpPr>
              <p:nvPr/>
            </p:nvSpPr>
            <p:spPr bwMode="auto">
              <a:xfrm>
                <a:off x="4957" y="1162"/>
                <a:ext cx="95" cy="161"/>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19" name="Rectangle 63"/>
              <p:cNvSpPr>
                <a:spLocks noChangeArrowheads="1"/>
              </p:cNvSpPr>
              <p:nvPr/>
            </p:nvSpPr>
            <p:spPr bwMode="auto">
              <a:xfrm>
                <a:off x="5052" y="1162"/>
                <a:ext cx="96" cy="161"/>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0" name="Rectangle 64"/>
              <p:cNvSpPr>
                <a:spLocks noChangeArrowheads="1"/>
              </p:cNvSpPr>
              <p:nvPr/>
            </p:nvSpPr>
            <p:spPr bwMode="auto">
              <a:xfrm>
                <a:off x="5148" y="1162"/>
                <a:ext cx="96" cy="161"/>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1" name="Rectangle 65"/>
              <p:cNvSpPr>
                <a:spLocks noChangeArrowheads="1"/>
              </p:cNvSpPr>
              <p:nvPr/>
            </p:nvSpPr>
            <p:spPr bwMode="auto">
              <a:xfrm>
                <a:off x="4765" y="1162"/>
                <a:ext cx="96" cy="161"/>
              </a:xfrm>
              <a:prstGeom prst="rect">
                <a:avLst/>
              </a:prstGeom>
              <a:solidFill>
                <a:srgbClr val="51DC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2" name="Rectangle 66"/>
              <p:cNvSpPr>
                <a:spLocks noChangeArrowheads="1"/>
              </p:cNvSpPr>
              <p:nvPr/>
            </p:nvSpPr>
            <p:spPr bwMode="auto">
              <a:xfrm>
                <a:off x="4669" y="1162"/>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3" name="Rectangle 67"/>
              <p:cNvSpPr>
                <a:spLocks noChangeArrowheads="1"/>
              </p:cNvSpPr>
              <p:nvPr/>
            </p:nvSpPr>
            <p:spPr bwMode="auto">
              <a:xfrm>
                <a:off x="4669" y="1323"/>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4" name="Rectangle 68"/>
              <p:cNvSpPr>
                <a:spLocks noChangeArrowheads="1"/>
              </p:cNvSpPr>
              <p:nvPr/>
            </p:nvSpPr>
            <p:spPr bwMode="auto">
              <a:xfrm>
                <a:off x="4861" y="997"/>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5" name="Rectangle 69"/>
              <p:cNvSpPr>
                <a:spLocks noChangeArrowheads="1"/>
              </p:cNvSpPr>
              <p:nvPr/>
            </p:nvSpPr>
            <p:spPr bwMode="auto">
              <a:xfrm>
                <a:off x="4957" y="997"/>
                <a:ext cx="95" cy="161"/>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6" name="Rectangle 70"/>
              <p:cNvSpPr>
                <a:spLocks noChangeArrowheads="1"/>
              </p:cNvSpPr>
              <p:nvPr/>
            </p:nvSpPr>
            <p:spPr bwMode="auto">
              <a:xfrm>
                <a:off x="5052" y="997"/>
                <a:ext cx="96" cy="161"/>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7" name="Rectangle 71"/>
              <p:cNvSpPr>
                <a:spLocks noChangeArrowheads="1"/>
              </p:cNvSpPr>
              <p:nvPr/>
            </p:nvSpPr>
            <p:spPr bwMode="auto">
              <a:xfrm>
                <a:off x="5148" y="997"/>
                <a:ext cx="96" cy="161"/>
              </a:xfrm>
              <a:prstGeom prst="rect">
                <a:avLst/>
              </a:prstGeom>
              <a:gradFill rotWithShape="0">
                <a:gsLst>
                  <a:gs pos="0">
                    <a:srgbClr val="F10534"/>
                  </a:gs>
                  <a:gs pos="100000">
                    <a:srgbClr val="F10534">
                      <a:gamma/>
                      <a:shade val="89804"/>
                      <a:invGamma/>
                    </a:srgbClr>
                  </a:gs>
                </a:gsLst>
                <a:lin ang="0" scaled="1"/>
              </a:gra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8" name="Rectangle 72"/>
              <p:cNvSpPr>
                <a:spLocks noChangeArrowheads="1"/>
              </p:cNvSpPr>
              <p:nvPr/>
            </p:nvSpPr>
            <p:spPr bwMode="auto">
              <a:xfrm>
                <a:off x="4765" y="997"/>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29" name="Rectangle 73"/>
              <p:cNvSpPr>
                <a:spLocks noChangeArrowheads="1"/>
              </p:cNvSpPr>
              <p:nvPr/>
            </p:nvSpPr>
            <p:spPr bwMode="auto">
              <a:xfrm>
                <a:off x="4669" y="997"/>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0" name="Rectangle 74"/>
              <p:cNvSpPr>
                <a:spLocks noChangeArrowheads="1"/>
              </p:cNvSpPr>
              <p:nvPr/>
            </p:nvSpPr>
            <p:spPr bwMode="auto">
              <a:xfrm>
                <a:off x="4864" y="1491"/>
                <a:ext cx="95" cy="161"/>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1" name="Rectangle 75"/>
              <p:cNvSpPr>
                <a:spLocks noChangeArrowheads="1"/>
              </p:cNvSpPr>
              <p:nvPr/>
            </p:nvSpPr>
            <p:spPr bwMode="auto">
              <a:xfrm>
                <a:off x="4959" y="1491"/>
                <a:ext cx="96" cy="161"/>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2" name="Rectangle 76"/>
              <p:cNvSpPr>
                <a:spLocks noChangeArrowheads="1"/>
              </p:cNvSpPr>
              <p:nvPr/>
            </p:nvSpPr>
            <p:spPr bwMode="auto">
              <a:xfrm>
                <a:off x="5055" y="1491"/>
                <a:ext cx="96" cy="161"/>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3" name="Rectangle 77"/>
              <p:cNvSpPr>
                <a:spLocks noChangeArrowheads="1"/>
              </p:cNvSpPr>
              <p:nvPr/>
            </p:nvSpPr>
            <p:spPr bwMode="auto">
              <a:xfrm>
                <a:off x="5151" y="1491"/>
                <a:ext cx="96" cy="161"/>
              </a:xfrm>
              <a:prstGeom prst="rect">
                <a:avLst/>
              </a:prstGeom>
              <a:solidFill>
                <a:srgbClr val="FAFD00"/>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4" name="Rectangle 78"/>
              <p:cNvSpPr>
                <a:spLocks noChangeArrowheads="1"/>
              </p:cNvSpPr>
              <p:nvPr/>
            </p:nvSpPr>
            <p:spPr bwMode="auto">
              <a:xfrm>
                <a:off x="4768" y="1491"/>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5" name="Rectangle 79"/>
              <p:cNvSpPr>
                <a:spLocks noChangeArrowheads="1"/>
              </p:cNvSpPr>
              <p:nvPr/>
            </p:nvSpPr>
            <p:spPr bwMode="auto">
              <a:xfrm>
                <a:off x="4672" y="1491"/>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sp>
            <p:nvSpPr>
              <p:cNvPr id="1453136" name="Rectangle 80"/>
              <p:cNvSpPr>
                <a:spLocks noChangeArrowheads="1"/>
              </p:cNvSpPr>
              <p:nvPr/>
            </p:nvSpPr>
            <p:spPr bwMode="auto">
              <a:xfrm>
                <a:off x="4764" y="1326"/>
                <a:ext cx="96" cy="161"/>
              </a:xfrm>
              <a:prstGeom prst="rect">
                <a:avLst/>
              </a:prstGeom>
              <a:solidFill>
                <a:srgbClr val="FFFFFF"/>
              </a:solidFill>
              <a:ln w="6350">
                <a:solidFill>
                  <a:schemeClr val="tx1"/>
                </a:solidFill>
                <a:miter lim="800000"/>
                <a:headEnd/>
                <a:tailEnd/>
              </a:ln>
              <a:effectLst/>
            </p:spPr>
            <p:txBody>
              <a:bodyPr wrap="none" anchor="ctr">
                <a:prstTxWarp prst="textNoShape">
                  <a:avLst/>
                </a:prstTxWarp>
              </a:bodyPr>
              <a:lstStyle/>
              <a:p>
                <a:endParaRPr lang="en-US" sz="1200" b="1"/>
              </a:p>
            </p:txBody>
          </p:sp>
        </p:grpSp>
      </p:grpSp>
    </p:spTree>
    <p:extLst>
      <p:ext uri="{BB962C8B-B14F-4D97-AF65-F5344CB8AC3E}">
        <p14:creationId xmlns:p14="http://schemas.microsoft.com/office/powerpoint/2010/main" val="2984279639"/>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p:txBody>
          <a:bodyPr/>
          <a:lstStyle/>
          <a:p>
            <a:r>
              <a:rPr lang="zh-CN" altLang="en-US" smtClean="0"/>
              <a:t>从</a:t>
            </a:r>
            <a:r>
              <a:rPr lang="en-US" smtClean="0"/>
              <a:t>IBM Power 4</a:t>
            </a:r>
            <a:r>
              <a:rPr lang="zh-CN" altLang="en-US" smtClean="0"/>
              <a:t>到</a:t>
            </a:r>
            <a:r>
              <a:rPr lang="en-US" altLang="zh-CN" smtClean="0"/>
              <a:t>Power 5</a:t>
            </a:r>
            <a:endParaRPr lang="en-US" dirty="0"/>
          </a:p>
        </p:txBody>
      </p:sp>
      <p:sp>
        <p:nvSpPr>
          <p:cNvPr id="14" name="内容占位符 13"/>
          <p:cNvSpPr>
            <a:spLocks noGrp="1"/>
          </p:cNvSpPr>
          <p:nvPr>
            <p:ph idx="1"/>
          </p:nvPr>
        </p:nvSpPr>
        <p:spPr/>
        <p:txBody>
          <a:bodyPr/>
          <a:lstStyle/>
          <a:p>
            <a:r>
              <a:rPr lang="en-US" altLang="zh-CN" smtClean="0"/>
              <a:t>Power5</a:t>
            </a:r>
            <a:r>
              <a:rPr lang="zh-CN" altLang="en-US" smtClean="0"/>
              <a:t>是双线程的</a:t>
            </a:r>
            <a:endParaRPr lang="en-US" altLang="zh-CN" smtClean="0"/>
          </a:p>
          <a:p>
            <a:pPr lvl="1"/>
            <a:r>
              <a:rPr lang="zh-CN" altLang="en-US" smtClean="0"/>
              <a:t>总体结构与</a:t>
            </a:r>
            <a:r>
              <a:rPr lang="en-US" altLang="zh-CN" smtClean="0"/>
              <a:t>Power4</a:t>
            </a:r>
            <a:r>
              <a:rPr lang="zh-CN" altLang="en-US" smtClean="0"/>
              <a:t>差别不大</a:t>
            </a:r>
            <a:endParaRPr lang="en-US" altLang="zh-CN" smtClean="0"/>
          </a:p>
          <a:p>
            <a:r>
              <a:rPr lang="en-US" altLang="zh-CN" smtClean="0"/>
              <a:t>Power4</a:t>
            </a:r>
            <a:r>
              <a:rPr lang="zh-CN" altLang="en-US" smtClean="0"/>
              <a:t>是单线程的</a:t>
            </a:r>
            <a:endParaRPr lang="en-US" altLang="zh-CN" smtClean="0"/>
          </a:p>
          <a:p>
            <a:pPr lvl="1"/>
            <a:r>
              <a:rPr lang="en-US" altLang="zh-CN" smtClean="0"/>
              <a:t>8</a:t>
            </a:r>
            <a:r>
              <a:rPr lang="zh-CN" altLang="en-US" smtClean="0"/>
              <a:t>个乱序执行的部件</a:t>
            </a:r>
            <a:endParaRPr lang="en-US" altLang="zh-CN" dirty="0" smtClean="0"/>
          </a:p>
        </p:txBody>
      </p:sp>
      <p:pic>
        <p:nvPicPr>
          <p:cNvPr id="1432579" name="Picture 3"/>
          <p:cNvPicPr>
            <a:picLocks noChangeAspect="1" noChangeArrowheads="1"/>
          </p:cNvPicPr>
          <p:nvPr/>
        </p:nvPicPr>
        <p:blipFill>
          <a:blip r:embed="rId3"/>
          <a:srcRect/>
          <a:stretch>
            <a:fillRect/>
          </a:stretch>
        </p:blipFill>
        <p:spPr bwMode="auto">
          <a:xfrm>
            <a:off x="9840416" y="591369"/>
            <a:ext cx="1973263" cy="2073275"/>
          </a:xfrm>
          <a:prstGeom prst="rect">
            <a:avLst/>
          </a:prstGeom>
          <a:noFill/>
          <a:ln w="25400">
            <a:noFill/>
            <a:miter lim="800000"/>
            <a:headEnd/>
            <a:tailEnd/>
          </a:ln>
          <a:effectLst/>
        </p:spPr>
      </p:pic>
      <p:pic>
        <p:nvPicPr>
          <p:cNvPr id="1432580" name="Picture 4"/>
          <p:cNvPicPr>
            <a:picLocks noChangeAspect="1" noChangeArrowheads="1"/>
          </p:cNvPicPr>
          <p:nvPr/>
        </p:nvPicPr>
        <p:blipFill>
          <a:blip r:embed="rId4"/>
          <a:srcRect/>
          <a:stretch>
            <a:fillRect/>
          </a:stretch>
        </p:blipFill>
        <p:spPr bwMode="auto">
          <a:xfrm>
            <a:off x="1798639" y="3549476"/>
            <a:ext cx="8639175" cy="3263900"/>
          </a:xfrm>
          <a:prstGeom prst="rect">
            <a:avLst/>
          </a:prstGeom>
          <a:noFill/>
          <a:ln w="25400">
            <a:noFill/>
            <a:miter lim="800000"/>
            <a:headEnd/>
            <a:tailEnd/>
          </a:ln>
          <a:effectLst/>
        </p:spPr>
      </p:pic>
      <p:grpSp>
        <p:nvGrpSpPr>
          <p:cNvPr id="2" name="Group 5"/>
          <p:cNvGrpSpPr>
            <a:grpSpLocks/>
          </p:cNvGrpSpPr>
          <p:nvPr/>
        </p:nvGrpSpPr>
        <p:grpSpPr bwMode="auto">
          <a:xfrm>
            <a:off x="1889126" y="1208088"/>
            <a:ext cx="6367463" cy="2800350"/>
            <a:chOff x="147" y="511"/>
            <a:chExt cx="4456" cy="1960"/>
          </a:xfrm>
        </p:grpSpPr>
        <p:sp>
          <p:nvSpPr>
            <p:cNvPr id="1432582" name="Text Box 6"/>
            <p:cNvSpPr txBox="1">
              <a:spLocks noChangeArrowheads="1"/>
            </p:cNvSpPr>
            <p:nvPr/>
          </p:nvSpPr>
          <p:spPr bwMode="auto">
            <a:xfrm>
              <a:off x="147" y="511"/>
              <a:ext cx="4456" cy="345"/>
            </a:xfrm>
            <a:prstGeom prst="rect">
              <a:avLst/>
            </a:prstGeom>
            <a:noFill/>
            <a:ln w="9525">
              <a:noFill/>
              <a:miter lim="800000"/>
              <a:headEnd/>
              <a:tailEnd/>
            </a:ln>
            <a:effectLst/>
          </p:spPr>
          <p:txBody>
            <a:bodyPr lIns="0" tIns="0" rIns="0" bIns="0">
              <a:prstTxWarp prst="textNoShape">
                <a:avLst/>
              </a:prstTxWarp>
              <a:spAutoFit/>
            </a:bodyPr>
            <a:lstStyle/>
            <a:p>
              <a:pPr defTabSz="822325" eaLnBrk="1" hangingPunct="1">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endParaRPr lang="en-US" sz="3200" b="1" dirty="0">
                <a:latin typeface="Helvetica" charset="0"/>
              </a:endParaRPr>
            </a:p>
          </p:txBody>
        </p:sp>
        <p:sp>
          <p:nvSpPr>
            <p:cNvPr id="1432583" name="Line 7"/>
            <p:cNvSpPr>
              <a:spLocks noChangeShapeType="1"/>
            </p:cNvSpPr>
            <p:nvPr/>
          </p:nvSpPr>
          <p:spPr bwMode="auto">
            <a:xfrm>
              <a:off x="2940" y="1864"/>
              <a:ext cx="1047" cy="607"/>
            </a:xfrm>
            <a:prstGeom prst="line">
              <a:avLst/>
            </a:prstGeom>
            <a:noFill/>
            <a:ln w="38100">
              <a:solidFill>
                <a:srgbClr val="0000FF"/>
              </a:solidFill>
              <a:round/>
              <a:headEnd/>
              <a:tailEnd type="stealth" w="med" len="med"/>
            </a:ln>
            <a:effectLst>
              <a:outerShdw blurRad="63500" dist="76199" dir="2700000" algn="ctr" rotWithShape="0">
                <a:schemeClr val="bg2">
                  <a:alpha val="75000"/>
                </a:schemeClr>
              </a:outerShdw>
            </a:effectLst>
          </p:spPr>
          <p:txBody>
            <a:bodyPr>
              <a:prstTxWarp prst="textNoShape">
                <a:avLst/>
              </a:prstTxWarp>
            </a:bodyPr>
            <a:lstStyle/>
            <a:p>
              <a:endParaRPr lang="en-US"/>
            </a:p>
          </p:txBody>
        </p:sp>
      </p:grpSp>
    </p:spTree>
    <p:extLst>
      <p:ext uri="{BB962C8B-B14F-4D97-AF65-F5344CB8AC3E}">
        <p14:creationId xmlns:p14="http://schemas.microsoft.com/office/powerpoint/2010/main" val="693050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626" name="Picture 2"/>
          <p:cNvPicPr>
            <a:picLocks noChangeAspect="1" noChangeArrowheads="1"/>
          </p:cNvPicPr>
          <p:nvPr/>
        </p:nvPicPr>
        <p:blipFill>
          <a:blip r:embed="rId3"/>
          <a:srcRect/>
          <a:stretch>
            <a:fillRect/>
          </a:stretch>
        </p:blipFill>
        <p:spPr bwMode="auto">
          <a:xfrm>
            <a:off x="1774826" y="12700"/>
            <a:ext cx="8640763" cy="3265488"/>
          </a:xfrm>
          <a:prstGeom prst="rect">
            <a:avLst/>
          </a:prstGeom>
          <a:noFill/>
          <a:ln w="25400">
            <a:noFill/>
            <a:miter lim="800000"/>
            <a:headEnd/>
            <a:tailEnd/>
          </a:ln>
          <a:effectLst/>
        </p:spPr>
      </p:pic>
      <p:pic>
        <p:nvPicPr>
          <p:cNvPr id="1434627" name="Picture 3"/>
          <p:cNvPicPr>
            <a:picLocks noChangeAspect="1" noChangeArrowheads="1"/>
          </p:cNvPicPr>
          <p:nvPr/>
        </p:nvPicPr>
        <p:blipFill>
          <a:blip r:embed="rId4"/>
          <a:srcRect/>
          <a:stretch>
            <a:fillRect/>
          </a:stretch>
        </p:blipFill>
        <p:spPr bwMode="auto">
          <a:xfrm>
            <a:off x="1849438" y="3279776"/>
            <a:ext cx="8475662" cy="3459163"/>
          </a:xfrm>
          <a:prstGeom prst="rect">
            <a:avLst/>
          </a:prstGeom>
          <a:noFill/>
          <a:ln w="25400">
            <a:noFill/>
            <a:miter lim="800000"/>
            <a:headEnd/>
            <a:tailEnd/>
          </a:ln>
          <a:effectLst/>
        </p:spPr>
      </p:pic>
      <p:sp>
        <p:nvSpPr>
          <p:cNvPr id="1434628" name="Text Box 4"/>
          <p:cNvSpPr txBox="1">
            <a:spLocks noChangeArrowheads="1"/>
          </p:cNvSpPr>
          <p:nvPr/>
        </p:nvSpPr>
        <p:spPr bwMode="auto">
          <a:xfrm>
            <a:off x="2967038" y="23813"/>
            <a:ext cx="1460500" cy="457200"/>
          </a:xfrm>
          <a:prstGeom prst="rect">
            <a:avLst/>
          </a:prstGeom>
          <a:noFill/>
          <a:ln w="9525">
            <a:noFill/>
            <a:miter lim="800000"/>
            <a:headEnd/>
            <a:tailEnd/>
          </a:ln>
          <a:effectLst>
            <a:outerShdw blurRad="63500" dist="76199" dir="2700000" algn="ctr" rotWithShape="0">
              <a:schemeClr val="bg2">
                <a:alpha val="15999"/>
              </a:schemeClr>
            </a:outerShdw>
          </a:effectLst>
        </p:spPr>
        <p:txBody>
          <a:bodyPr lIns="0" tIns="0" rIns="0" bIns="0">
            <a:prstTxWarp prst="textNoShape">
              <a:avLst/>
            </a:prstTxWarp>
            <a:spAutoFit/>
          </a:bodyPr>
          <a:lstStyle/>
          <a:p>
            <a:pPr defTabSz="822325" eaLnBrk="1" hangingPunct="1">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r>
              <a:rPr lang="en-US" sz="3000" b="1">
                <a:solidFill>
                  <a:srgbClr val="0000FF"/>
                </a:solidFill>
                <a:latin typeface="Marker Felt" charset="0"/>
              </a:rPr>
              <a:t>Power 4</a:t>
            </a:r>
          </a:p>
        </p:txBody>
      </p:sp>
      <p:sp>
        <p:nvSpPr>
          <p:cNvPr id="1434629" name="Text Box 5"/>
          <p:cNvSpPr txBox="1">
            <a:spLocks noChangeArrowheads="1"/>
          </p:cNvSpPr>
          <p:nvPr/>
        </p:nvSpPr>
        <p:spPr bwMode="auto">
          <a:xfrm>
            <a:off x="3413125" y="3281363"/>
            <a:ext cx="1460500" cy="457200"/>
          </a:xfrm>
          <a:prstGeom prst="rect">
            <a:avLst/>
          </a:prstGeom>
          <a:noFill/>
          <a:ln w="9525">
            <a:noFill/>
            <a:miter lim="800000"/>
            <a:headEnd/>
            <a:tailEnd/>
          </a:ln>
          <a:effectLst>
            <a:outerShdw blurRad="63500" dist="76199" dir="2700000" algn="ctr" rotWithShape="0">
              <a:schemeClr val="bg2">
                <a:alpha val="15999"/>
              </a:schemeClr>
            </a:outerShdw>
          </a:effectLst>
        </p:spPr>
        <p:txBody>
          <a:bodyPr lIns="0" tIns="0" rIns="0" bIns="0">
            <a:prstTxWarp prst="textNoShape">
              <a:avLst/>
            </a:prstTxWarp>
            <a:spAutoFit/>
          </a:bodyPr>
          <a:lstStyle/>
          <a:p>
            <a:pPr defTabSz="822325" eaLnBrk="1" hangingPunct="1">
              <a:tabLst>
                <a:tab pos="320675" algn="l"/>
                <a:tab pos="639763" algn="l"/>
                <a:tab pos="960438" algn="l"/>
                <a:tab pos="1279525" algn="l"/>
                <a:tab pos="1600200" algn="l"/>
                <a:tab pos="1920875" algn="l"/>
                <a:tab pos="2239963" algn="l"/>
                <a:tab pos="2560638" algn="l"/>
                <a:tab pos="2879725" algn="l"/>
                <a:tab pos="3200400" algn="l"/>
                <a:tab pos="3521075" algn="l"/>
                <a:tab pos="3840163" algn="l"/>
              </a:tabLst>
            </a:pPr>
            <a:r>
              <a:rPr lang="en-US" sz="3000" b="1">
                <a:solidFill>
                  <a:srgbClr val="0000FF"/>
                </a:solidFill>
                <a:latin typeface="Marker Felt" charset="0"/>
              </a:rPr>
              <a:t>Power 5</a:t>
            </a:r>
          </a:p>
        </p:txBody>
      </p:sp>
      <p:sp>
        <p:nvSpPr>
          <p:cNvPr id="1434630" name="Freeform 6"/>
          <p:cNvSpPr>
            <a:spLocks/>
          </p:cNvSpPr>
          <p:nvPr/>
        </p:nvSpPr>
        <p:spPr bwMode="auto">
          <a:xfrm>
            <a:off x="2071689" y="4349750"/>
            <a:ext cx="727075" cy="725488"/>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38100">
            <a:solidFill>
              <a:srgbClr val="053DE8">
                <a:alpha val="54849"/>
              </a:srgbClr>
            </a:solidFill>
            <a:prstDash val="solid"/>
            <a:round/>
            <a:headEnd/>
            <a:tailEnd/>
          </a:ln>
          <a:effectLst/>
        </p:spPr>
        <p:txBody>
          <a:bodyPr>
            <a:prstTxWarp prst="textNoShape">
              <a:avLst/>
            </a:prstTxWarp>
          </a:bodyPr>
          <a:lstStyle/>
          <a:p>
            <a:endParaRPr lang="en-US"/>
          </a:p>
        </p:txBody>
      </p:sp>
      <p:sp>
        <p:nvSpPr>
          <p:cNvPr id="1434631" name="Freeform 7"/>
          <p:cNvSpPr>
            <a:spLocks/>
          </p:cNvSpPr>
          <p:nvPr/>
        </p:nvSpPr>
        <p:spPr bwMode="auto">
          <a:xfrm>
            <a:off x="2974976" y="4897439"/>
            <a:ext cx="727075" cy="725487"/>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38100">
            <a:solidFill>
              <a:srgbClr val="053DE8">
                <a:alpha val="54849"/>
              </a:srgbClr>
            </a:solidFill>
            <a:prstDash val="solid"/>
            <a:round/>
            <a:headEnd/>
            <a:tailEnd/>
          </a:ln>
          <a:effectLst/>
        </p:spPr>
        <p:txBody>
          <a:bodyPr>
            <a:prstTxWarp prst="textNoShape">
              <a:avLst/>
            </a:prstTxWarp>
          </a:bodyPr>
          <a:lstStyle/>
          <a:p>
            <a:endParaRPr lang="en-US"/>
          </a:p>
        </p:txBody>
      </p:sp>
      <p:sp>
        <p:nvSpPr>
          <p:cNvPr id="1434632" name="Line 8"/>
          <p:cNvSpPr>
            <a:spLocks noChangeShapeType="1"/>
          </p:cNvSpPr>
          <p:nvPr/>
        </p:nvSpPr>
        <p:spPr bwMode="auto">
          <a:xfrm rot="10800000" flipH="1">
            <a:off x="2025650" y="5086351"/>
            <a:ext cx="285750" cy="468313"/>
          </a:xfrm>
          <a:prstGeom prst="line">
            <a:avLst/>
          </a:prstGeom>
          <a:noFill/>
          <a:ln w="38100">
            <a:solidFill>
              <a:srgbClr val="0000FF"/>
            </a:solidFill>
            <a:round/>
            <a:headEnd/>
            <a:tailEnd type="stealth" w="med" len="med"/>
          </a:ln>
          <a:effectLst>
            <a:outerShdw blurRad="63500" dist="76199" dir="2700000" algn="ctr" rotWithShape="0">
              <a:schemeClr val="bg2">
                <a:alpha val="75000"/>
              </a:schemeClr>
            </a:outerShdw>
          </a:effectLst>
        </p:spPr>
        <p:txBody>
          <a:bodyPr>
            <a:prstTxWarp prst="textNoShape">
              <a:avLst/>
            </a:prstTxWarp>
          </a:bodyPr>
          <a:lstStyle/>
          <a:p>
            <a:endParaRPr lang="en-US"/>
          </a:p>
        </p:txBody>
      </p:sp>
      <p:sp>
        <p:nvSpPr>
          <p:cNvPr id="1434633" name="Line 9"/>
          <p:cNvSpPr>
            <a:spLocks noChangeShapeType="1"/>
          </p:cNvSpPr>
          <p:nvPr/>
        </p:nvSpPr>
        <p:spPr bwMode="auto">
          <a:xfrm rot="10800000" flipH="1">
            <a:off x="2003425" y="5372101"/>
            <a:ext cx="903288" cy="206375"/>
          </a:xfrm>
          <a:prstGeom prst="line">
            <a:avLst/>
          </a:prstGeom>
          <a:noFill/>
          <a:ln w="38100">
            <a:solidFill>
              <a:srgbClr val="0000FF"/>
            </a:solidFill>
            <a:round/>
            <a:headEnd/>
            <a:tailEnd type="stealth" w="med" len="med"/>
          </a:ln>
          <a:effectLst>
            <a:outerShdw blurRad="63500" dist="76199" dir="2700000" algn="ctr" rotWithShape="0">
              <a:schemeClr val="bg2">
                <a:alpha val="75000"/>
              </a:schemeClr>
            </a:outerShdw>
          </a:effectLst>
        </p:spPr>
        <p:txBody>
          <a:bodyPr>
            <a:prstTxWarp prst="textNoShape">
              <a:avLst/>
            </a:prstTxWarp>
          </a:bodyPr>
          <a:lstStyle/>
          <a:p>
            <a:endParaRPr lang="en-US"/>
          </a:p>
        </p:txBody>
      </p:sp>
      <p:sp>
        <p:nvSpPr>
          <p:cNvPr id="1434634" name="Freeform 10"/>
          <p:cNvSpPr>
            <a:spLocks/>
          </p:cNvSpPr>
          <p:nvPr/>
        </p:nvSpPr>
        <p:spPr bwMode="auto">
          <a:xfrm>
            <a:off x="9582150" y="4510089"/>
            <a:ext cx="725488" cy="725487"/>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38100">
            <a:solidFill>
              <a:srgbClr val="053DE8">
                <a:alpha val="54849"/>
              </a:srgbClr>
            </a:solidFill>
            <a:prstDash val="solid"/>
            <a:round/>
            <a:headEnd/>
            <a:tailEnd/>
          </a:ln>
          <a:effectLst/>
        </p:spPr>
        <p:txBody>
          <a:bodyPr>
            <a:prstTxWarp prst="textNoShape">
              <a:avLst/>
            </a:prstTxWarp>
          </a:bodyPr>
          <a:lstStyle/>
          <a:p>
            <a:endParaRPr lang="en-US"/>
          </a:p>
        </p:txBody>
      </p:sp>
      <p:sp>
        <p:nvSpPr>
          <p:cNvPr id="1434635" name="Line 11"/>
          <p:cNvSpPr>
            <a:spLocks noChangeShapeType="1"/>
          </p:cNvSpPr>
          <p:nvPr/>
        </p:nvSpPr>
        <p:spPr bwMode="auto">
          <a:xfrm>
            <a:off x="9925050" y="4000501"/>
            <a:ext cx="0" cy="468313"/>
          </a:xfrm>
          <a:prstGeom prst="line">
            <a:avLst/>
          </a:prstGeom>
          <a:noFill/>
          <a:ln w="38100">
            <a:solidFill>
              <a:srgbClr val="0000FF"/>
            </a:solidFill>
            <a:round/>
            <a:headEnd/>
            <a:tailEnd type="stealth" w="med" len="med"/>
          </a:ln>
          <a:effectLst>
            <a:outerShdw blurRad="63500" dist="76199" dir="2700000" algn="ctr" rotWithShape="0">
              <a:schemeClr val="bg2">
                <a:alpha val="75000"/>
              </a:schemeClr>
            </a:outerShdw>
          </a:effectLst>
        </p:spPr>
        <p:txBody>
          <a:bodyPr>
            <a:prstTxWarp prst="textNoShape">
              <a:avLst/>
            </a:prstTxWarp>
          </a:bodyPr>
          <a:lstStyle/>
          <a:p>
            <a:endParaRPr lang="en-US"/>
          </a:p>
        </p:txBody>
      </p:sp>
      <p:sp>
        <p:nvSpPr>
          <p:cNvPr id="1434636" name="Text Box 12"/>
          <p:cNvSpPr txBox="1">
            <a:spLocks noChangeArrowheads="1"/>
          </p:cNvSpPr>
          <p:nvPr/>
        </p:nvSpPr>
        <p:spPr bwMode="auto">
          <a:xfrm>
            <a:off x="1905001" y="5638801"/>
            <a:ext cx="2981907" cy="954107"/>
          </a:xfrm>
          <a:prstGeom prst="rect">
            <a:avLst/>
          </a:prstGeom>
          <a:noFill/>
          <a:ln w="12700">
            <a:noFill/>
            <a:miter lim="800000"/>
            <a:headEnd/>
            <a:tailEnd/>
          </a:ln>
          <a:effectLst/>
        </p:spPr>
        <p:txBody>
          <a:bodyPr wrap="none">
            <a:prstTxWarp prst="textNoShape">
              <a:avLst/>
            </a:prstTxWarp>
            <a:spAutoFit/>
          </a:bodyPr>
          <a:lstStyle/>
          <a:p>
            <a:pPr algn="l"/>
            <a:r>
              <a:rPr lang="en-US" sz="2800" b="1" dirty="0">
                <a:solidFill>
                  <a:srgbClr val="0000FF"/>
                </a:solidFill>
              </a:rPr>
              <a:t>2 fetch (PC),</a:t>
            </a:r>
            <a:br>
              <a:rPr lang="en-US" sz="2800" b="1" dirty="0">
                <a:solidFill>
                  <a:srgbClr val="0000FF"/>
                </a:solidFill>
              </a:rPr>
            </a:br>
            <a:r>
              <a:rPr lang="en-US" sz="2800" b="1" dirty="0">
                <a:solidFill>
                  <a:srgbClr val="0000FF"/>
                </a:solidFill>
              </a:rPr>
              <a:t>2 initial decodes</a:t>
            </a:r>
          </a:p>
        </p:txBody>
      </p:sp>
      <p:sp>
        <p:nvSpPr>
          <p:cNvPr id="1434637" name="Text Box 13"/>
          <p:cNvSpPr txBox="1">
            <a:spLocks noChangeArrowheads="1"/>
          </p:cNvSpPr>
          <p:nvPr/>
        </p:nvSpPr>
        <p:spPr bwMode="auto">
          <a:xfrm>
            <a:off x="8686801" y="2971801"/>
            <a:ext cx="2225675" cy="1200329"/>
          </a:xfrm>
          <a:prstGeom prst="rect">
            <a:avLst/>
          </a:prstGeom>
          <a:noFill/>
          <a:ln w="12700">
            <a:noFill/>
            <a:miter lim="800000"/>
            <a:headEnd/>
            <a:tailEnd/>
          </a:ln>
          <a:effectLst/>
        </p:spPr>
        <p:txBody>
          <a:bodyPr>
            <a:prstTxWarp prst="textNoShape">
              <a:avLst/>
            </a:prstTxWarp>
            <a:spAutoFit/>
          </a:bodyPr>
          <a:lstStyle/>
          <a:p>
            <a:pPr algn="l"/>
            <a:r>
              <a:rPr lang="en-US" sz="2400" b="1" dirty="0">
                <a:solidFill>
                  <a:srgbClr val="0000FF"/>
                </a:solidFill>
              </a:rPr>
              <a:t>2 commits (architected register sets)</a:t>
            </a:r>
          </a:p>
        </p:txBody>
      </p:sp>
    </p:spTree>
    <p:extLst>
      <p:ext uri="{BB962C8B-B14F-4D97-AF65-F5344CB8AC3E}">
        <p14:creationId xmlns:p14="http://schemas.microsoft.com/office/powerpoint/2010/main" val="587364602"/>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674" name="Rectangle 2"/>
          <p:cNvSpPr>
            <a:spLocks noGrp="1" noChangeArrowheads="1"/>
          </p:cNvSpPr>
          <p:nvPr>
            <p:ph type="title"/>
          </p:nvPr>
        </p:nvSpPr>
        <p:spPr>
          <a:xfrm>
            <a:off x="1981200" y="228600"/>
            <a:ext cx="6923112" cy="914400"/>
          </a:xfrm>
        </p:spPr>
        <p:txBody>
          <a:bodyPr/>
          <a:lstStyle/>
          <a:p>
            <a:r>
              <a:rPr lang="en-US" dirty="0" smtClean="0"/>
              <a:t>Power 5</a:t>
            </a:r>
            <a:r>
              <a:rPr lang="zh-CN" altLang="en-US" dirty="0" smtClean="0"/>
              <a:t>的数据通路</a:t>
            </a:r>
            <a:endParaRPr lang="en-US" dirty="0"/>
          </a:p>
        </p:txBody>
      </p:sp>
      <p:sp>
        <p:nvSpPr>
          <p:cNvPr id="12" name="内容占位符 11"/>
          <p:cNvSpPr>
            <a:spLocks noGrp="1"/>
          </p:cNvSpPr>
          <p:nvPr>
            <p:ph idx="1"/>
          </p:nvPr>
        </p:nvSpPr>
        <p:spPr>
          <a:xfrm>
            <a:off x="297409" y="5949280"/>
            <a:ext cx="11568608" cy="504056"/>
          </a:xfrm>
        </p:spPr>
        <p:txBody>
          <a:bodyPr/>
          <a:lstStyle/>
          <a:p>
            <a:r>
              <a:rPr lang="zh-CN" altLang="en-US" dirty="0" smtClean="0"/>
              <a:t>为何只支持</a:t>
            </a:r>
            <a:r>
              <a:rPr lang="en-US" altLang="zh-CN" dirty="0" smtClean="0"/>
              <a:t>2</a:t>
            </a:r>
            <a:r>
              <a:rPr lang="zh-CN" altLang="en-US" dirty="0" smtClean="0"/>
              <a:t>个线程？</a:t>
            </a:r>
            <a:endParaRPr lang="en-US" altLang="zh-CN" dirty="0" smtClean="0"/>
          </a:p>
          <a:p>
            <a:pPr lvl="1"/>
            <a:r>
              <a:rPr lang="zh-CN" altLang="en-US" dirty="0" smtClean="0"/>
              <a:t>若有</a:t>
            </a:r>
            <a:r>
              <a:rPr lang="en-US" altLang="zh-CN" dirty="0" smtClean="0"/>
              <a:t>4</a:t>
            </a:r>
            <a:r>
              <a:rPr lang="zh-CN" altLang="en-US" dirty="0" smtClean="0"/>
              <a:t>线程，一些共享资源（如物理寄存器、</a:t>
            </a:r>
            <a:r>
              <a:rPr lang="en-US" altLang="zh-CN" dirty="0" smtClean="0"/>
              <a:t>cache</a:t>
            </a:r>
            <a:r>
              <a:rPr lang="zh-CN" altLang="en-US" dirty="0" smtClean="0"/>
              <a:t>、内存带宽）会成为瓶颈</a:t>
            </a:r>
            <a:endParaRPr lang="en-US" altLang="zh-CN" dirty="0" smtClean="0"/>
          </a:p>
        </p:txBody>
      </p:sp>
      <p:pic>
        <p:nvPicPr>
          <p:cNvPr id="1436675" name="Picture 3"/>
          <p:cNvPicPr>
            <a:picLocks noChangeAspect="1" noChangeArrowheads="1"/>
          </p:cNvPicPr>
          <p:nvPr/>
        </p:nvPicPr>
        <p:blipFill>
          <a:blip r:embed="rId3"/>
          <a:srcRect/>
          <a:stretch>
            <a:fillRect/>
          </a:stretch>
        </p:blipFill>
        <p:spPr bwMode="auto">
          <a:xfrm>
            <a:off x="298449" y="1556792"/>
            <a:ext cx="11037109" cy="4248472"/>
          </a:xfrm>
          <a:prstGeom prst="rect">
            <a:avLst/>
          </a:prstGeom>
          <a:noFill/>
          <a:ln w="25400">
            <a:noFill/>
            <a:miter lim="800000"/>
            <a:headEnd/>
            <a:tailEnd/>
          </a:ln>
          <a:effectLst/>
        </p:spPr>
      </p:pic>
      <p:pic>
        <p:nvPicPr>
          <p:cNvPr id="1436677" name="Picture 5"/>
          <p:cNvPicPr>
            <a:picLocks noChangeAspect="1" noChangeArrowheads="1"/>
          </p:cNvPicPr>
          <p:nvPr/>
        </p:nvPicPr>
        <p:blipFill>
          <a:blip r:embed="rId4"/>
          <a:srcRect/>
          <a:stretch>
            <a:fillRect/>
          </a:stretch>
        </p:blipFill>
        <p:spPr bwMode="auto">
          <a:xfrm>
            <a:off x="9522459" y="476672"/>
            <a:ext cx="2343558" cy="1556792"/>
          </a:xfrm>
          <a:prstGeom prst="rect">
            <a:avLst/>
          </a:prstGeom>
          <a:noFill/>
          <a:ln w="12700">
            <a:noFill/>
            <a:miter lim="800000"/>
            <a:headEnd/>
            <a:tailEnd/>
          </a:ln>
          <a:effectLst/>
        </p:spPr>
      </p:pic>
    </p:spTree>
    <p:extLst>
      <p:ext uri="{BB962C8B-B14F-4D97-AF65-F5344CB8AC3E}">
        <p14:creationId xmlns:p14="http://schemas.microsoft.com/office/powerpoint/2010/main" val="1225607452"/>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722" name="Rectangle 2"/>
          <p:cNvSpPr>
            <a:spLocks noGrp="1" noChangeArrowheads="1"/>
          </p:cNvSpPr>
          <p:nvPr>
            <p:ph type="title"/>
          </p:nvPr>
        </p:nvSpPr>
        <p:spPr/>
        <p:txBody>
          <a:bodyPr/>
          <a:lstStyle/>
          <a:p>
            <a:r>
              <a:rPr lang="en-US" smtClean="0"/>
              <a:t>Power 5</a:t>
            </a:r>
            <a:r>
              <a:rPr lang="zh-CN" altLang="en-US" smtClean="0"/>
              <a:t>为</a:t>
            </a:r>
            <a:r>
              <a:rPr lang="en-US" smtClean="0"/>
              <a:t>SMT</a:t>
            </a:r>
            <a:r>
              <a:rPr lang="zh-CN" altLang="en-US" smtClean="0"/>
              <a:t>做的改动</a:t>
            </a:r>
            <a:endParaRPr lang="en-US" dirty="0"/>
          </a:p>
        </p:txBody>
      </p:sp>
      <p:sp>
        <p:nvSpPr>
          <p:cNvPr id="1438723" name="Rectangle 3"/>
          <p:cNvSpPr>
            <a:spLocks noGrp="1" noChangeArrowheads="1"/>
          </p:cNvSpPr>
          <p:nvPr>
            <p:ph idx="1"/>
          </p:nvPr>
        </p:nvSpPr>
        <p:spPr/>
        <p:txBody>
          <a:bodyPr/>
          <a:lstStyle/>
          <a:p>
            <a:r>
              <a:rPr lang="zh-CN" altLang="en-US" dirty="0" smtClean="0"/>
              <a:t>增加了</a:t>
            </a:r>
            <a:r>
              <a:rPr lang="en-US" dirty="0" smtClean="0"/>
              <a:t>L1</a:t>
            </a:r>
            <a:r>
              <a:rPr lang="zh-CN" altLang="en-US" dirty="0" smtClean="0"/>
              <a:t>指令</a:t>
            </a:r>
            <a:r>
              <a:rPr lang="en-US" dirty="0" smtClean="0"/>
              <a:t>cache</a:t>
            </a:r>
            <a:r>
              <a:rPr lang="zh-CN" altLang="en-US" dirty="0" smtClean="0"/>
              <a:t>的相联度、</a:t>
            </a:r>
            <a:r>
              <a:rPr lang="en-US" dirty="0" smtClean="0"/>
              <a:t> </a:t>
            </a:r>
            <a:r>
              <a:rPr lang="zh-CN" altLang="en-US" dirty="0" smtClean="0"/>
              <a:t>指令地址变换缓冲器</a:t>
            </a:r>
            <a:endParaRPr lang="en-US" dirty="0" smtClean="0"/>
          </a:p>
          <a:p>
            <a:r>
              <a:rPr lang="zh-CN" altLang="en-US" dirty="0" smtClean="0"/>
              <a:t>增加了每线程独有的存和取队列</a:t>
            </a:r>
            <a:endParaRPr lang="en-US" dirty="0" smtClean="0"/>
          </a:p>
          <a:p>
            <a:r>
              <a:rPr lang="zh-CN" altLang="en-US" dirty="0" smtClean="0"/>
              <a:t>增加了</a:t>
            </a:r>
            <a:r>
              <a:rPr lang="en-US" dirty="0" smtClean="0"/>
              <a:t>L2</a:t>
            </a:r>
            <a:r>
              <a:rPr lang="zh-CN" altLang="en-US" dirty="0" smtClean="0"/>
              <a:t>容量</a:t>
            </a:r>
            <a:r>
              <a:rPr lang="en-US" dirty="0" smtClean="0"/>
              <a:t>(</a:t>
            </a:r>
            <a:r>
              <a:rPr lang="en-US" altLang="zh-CN" dirty="0" smtClean="0"/>
              <a:t>1.44</a:t>
            </a:r>
            <a:r>
              <a:rPr lang="zh-CN" altLang="en-US" dirty="0" smtClean="0"/>
              <a:t>到</a:t>
            </a:r>
            <a:r>
              <a:rPr lang="en-US" dirty="0" smtClean="0"/>
              <a:t>1.92</a:t>
            </a:r>
            <a:r>
              <a:rPr lang="en-US" altLang="zh-CN" dirty="0" smtClean="0"/>
              <a:t>MB</a:t>
            </a:r>
            <a:r>
              <a:rPr lang="en-US" dirty="0" smtClean="0"/>
              <a:t>) </a:t>
            </a:r>
            <a:r>
              <a:rPr lang="zh-CN" altLang="en-US" dirty="0" smtClean="0"/>
              <a:t>及</a:t>
            </a:r>
            <a:r>
              <a:rPr lang="en-US" dirty="0" smtClean="0"/>
              <a:t>L3 cache</a:t>
            </a:r>
          </a:p>
          <a:p>
            <a:r>
              <a:rPr lang="zh-CN" altLang="en-US" dirty="0" smtClean="0"/>
              <a:t>增加了每线程独有的指令预取和缓冲器</a:t>
            </a:r>
            <a:endParaRPr lang="en-US" dirty="0" smtClean="0"/>
          </a:p>
          <a:p>
            <a:r>
              <a:rPr lang="zh-CN" altLang="en-US" dirty="0" smtClean="0"/>
              <a:t>把虚拟寄存器的数量从</a:t>
            </a:r>
            <a:r>
              <a:rPr lang="en-US" dirty="0" smtClean="0"/>
              <a:t>152</a:t>
            </a:r>
            <a:r>
              <a:rPr lang="zh-CN" altLang="en-US" dirty="0" smtClean="0"/>
              <a:t>增至</a:t>
            </a:r>
            <a:r>
              <a:rPr lang="en-US" dirty="0" smtClean="0"/>
              <a:t>240</a:t>
            </a:r>
          </a:p>
          <a:p>
            <a:r>
              <a:rPr lang="zh-CN" altLang="en-US" dirty="0" smtClean="0"/>
              <a:t>增加了数个发射队列的容量</a:t>
            </a:r>
            <a:endParaRPr lang="en-US" dirty="0" smtClean="0"/>
          </a:p>
          <a:p>
            <a:r>
              <a:rPr lang="zh-CN" altLang="en-US" dirty="0" smtClean="0"/>
              <a:t>由于增加了</a:t>
            </a:r>
            <a:r>
              <a:rPr lang="en-US" altLang="zh-CN" dirty="0" smtClean="0"/>
              <a:t>SMT</a:t>
            </a:r>
            <a:r>
              <a:rPr lang="zh-CN" altLang="en-US" dirty="0" smtClean="0"/>
              <a:t>支持，</a:t>
            </a:r>
            <a:r>
              <a:rPr lang="en-US" dirty="0" smtClean="0"/>
              <a:t>Power5</a:t>
            </a:r>
            <a:r>
              <a:rPr lang="zh-CN" altLang="en-US" dirty="0" smtClean="0"/>
              <a:t>核心的面积比</a:t>
            </a:r>
            <a:r>
              <a:rPr lang="en-US" altLang="zh-CN" dirty="0" smtClean="0"/>
              <a:t>Power4</a:t>
            </a:r>
            <a:r>
              <a:rPr lang="zh-CN" altLang="en-US" dirty="0" smtClean="0"/>
              <a:t>核心大了约</a:t>
            </a:r>
            <a:r>
              <a:rPr lang="en-US" dirty="0" smtClean="0"/>
              <a:t> 24%</a:t>
            </a:r>
            <a:endParaRPr lang="en-US" dirty="0"/>
          </a:p>
        </p:txBody>
      </p:sp>
    </p:spTree>
    <p:extLst>
      <p:ext uri="{BB962C8B-B14F-4D97-AF65-F5344CB8AC3E}">
        <p14:creationId xmlns:p14="http://schemas.microsoft.com/office/powerpoint/2010/main" val="18168077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70" name="Rectangle 2"/>
          <p:cNvSpPr>
            <a:spLocks noGrp="1" noChangeArrowheads="1"/>
          </p:cNvSpPr>
          <p:nvPr>
            <p:ph type="title"/>
          </p:nvPr>
        </p:nvSpPr>
        <p:spPr/>
        <p:txBody>
          <a:bodyPr/>
          <a:lstStyle/>
          <a:p>
            <a:r>
              <a:rPr lang="en-US" smtClean="0"/>
              <a:t>Pentium-4</a:t>
            </a:r>
            <a:r>
              <a:rPr lang="zh-CN" altLang="en-US" smtClean="0"/>
              <a:t>的超线程</a:t>
            </a:r>
            <a:r>
              <a:rPr lang="en-US" smtClean="0"/>
              <a:t>(2002)</a:t>
            </a:r>
            <a:endParaRPr lang="en-US" dirty="0"/>
          </a:p>
        </p:txBody>
      </p:sp>
      <p:sp>
        <p:nvSpPr>
          <p:cNvPr id="1440771" name="Rectangle 3"/>
          <p:cNvSpPr>
            <a:spLocks noGrp="1" noChangeArrowheads="1"/>
          </p:cNvSpPr>
          <p:nvPr>
            <p:ph idx="1"/>
          </p:nvPr>
        </p:nvSpPr>
        <p:spPr/>
        <p:txBody>
          <a:bodyPr/>
          <a:lstStyle/>
          <a:p>
            <a:r>
              <a:rPr lang="zh-CN" altLang="en-US" smtClean="0"/>
              <a:t>第一个商品化的</a:t>
            </a:r>
            <a:r>
              <a:rPr lang="en-US" smtClean="0"/>
              <a:t>SMT</a:t>
            </a:r>
            <a:r>
              <a:rPr lang="zh-CN" altLang="en-US" smtClean="0"/>
              <a:t>设计</a:t>
            </a:r>
            <a:r>
              <a:rPr lang="en-US" smtClean="0"/>
              <a:t> (2-way SMT)</a:t>
            </a:r>
          </a:p>
          <a:p>
            <a:pPr lvl="1"/>
            <a:r>
              <a:rPr lang="en-US" smtClean="0"/>
              <a:t>Hyper</a:t>
            </a:r>
            <a:r>
              <a:rPr lang="en-US" altLang="zh-CN" smtClean="0"/>
              <a:t>T</a:t>
            </a:r>
            <a:r>
              <a:rPr lang="en-US" smtClean="0"/>
              <a:t>hreading == SMT</a:t>
            </a:r>
          </a:p>
          <a:p>
            <a:r>
              <a:rPr lang="zh-CN" altLang="en-US" smtClean="0"/>
              <a:t>逻辑处理器可用物理处理器的几乎所有资源</a:t>
            </a:r>
            <a:endParaRPr lang="en-US" smtClean="0"/>
          </a:p>
          <a:p>
            <a:pPr lvl="1"/>
            <a:r>
              <a:rPr lang="zh-CN" altLang="en-US" smtClean="0"/>
              <a:t>高速缓存、执行部件、分支预测器等</a:t>
            </a:r>
            <a:endParaRPr lang="en-US" smtClean="0"/>
          </a:p>
          <a:p>
            <a:r>
              <a:rPr lang="zh-CN" altLang="en-US" smtClean="0"/>
              <a:t>超线程对硅片面积的增加只有约 </a:t>
            </a:r>
            <a:r>
              <a:rPr lang="en-US" smtClean="0"/>
              <a:t>~ 5%</a:t>
            </a:r>
          </a:p>
          <a:p>
            <a:r>
              <a:rPr lang="zh-CN" altLang="en-US" smtClean="0"/>
              <a:t>一个逻辑处理器停顿时，另一个可继续执行</a:t>
            </a:r>
            <a:endParaRPr lang="en-US" smtClean="0"/>
          </a:p>
          <a:p>
            <a:pPr lvl="1"/>
            <a:r>
              <a:rPr lang="zh-CN" altLang="en-US" smtClean="0"/>
              <a:t>两个线程都活跃时，逻辑处理器不可用尽队列的所有项</a:t>
            </a:r>
            <a:endParaRPr lang="en-US" smtClean="0"/>
          </a:p>
          <a:p>
            <a:r>
              <a:rPr lang="en-US" altLang="zh-CN" smtClean="0"/>
              <a:t>Pentium-4</a:t>
            </a:r>
            <a:r>
              <a:rPr lang="zh-CN" altLang="en-US" smtClean="0"/>
              <a:t>之后基于</a:t>
            </a:r>
            <a:r>
              <a:rPr lang="en-US" smtClean="0"/>
              <a:t>P6</a:t>
            </a:r>
            <a:r>
              <a:rPr lang="zh-CN" altLang="en-US" smtClean="0"/>
              <a:t>架构的产品放弃了超线程</a:t>
            </a:r>
            <a:endParaRPr lang="en-US" altLang="zh-CN" smtClean="0"/>
          </a:p>
          <a:p>
            <a:pPr lvl="1"/>
            <a:r>
              <a:rPr lang="zh-CN" altLang="en-US" smtClean="0"/>
              <a:t>如</a:t>
            </a:r>
            <a:r>
              <a:rPr lang="en-US" smtClean="0"/>
              <a:t>Pentium-M, Core Duo, Core 2 Duo</a:t>
            </a:r>
          </a:p>
          <a:p>
            <a:pPr lvl="1"/>
            <a:r>
              <a:rPr lang="zh-CN" altLang="en-US" smtClean="0"/>
              <a:t>直到</a:t>
            </a:r>
            <a:r>
              <a:rPr lang="en-US" altLang="zh-CN" smtClean="0"/>
              <a:t>2008</a:t>
            </a:r>
            <a:r>
              <a:rPr lang="zh-CN" altLang="en-US" smtClean="0"/>
              <a:t>年的</a:t>
            </a:r>
            <a:r>
              <a:rPr lang="en-US" smtClean="0"/>
              <a:t>Nehalem</a:t>
            </a:r>
            <a:r>
              <a:rPr lang="zh-CN" altLang="en-US" smtClean="0"/>
              <a:t>架构</a:t>
            </a:r>
            <a:endParaRPr lang="en-US" smtClean="0"/>
          </a:p>
          <a:p>
            <a:pPr lvl="1"/>
            <a:r>
              <a:rPr lang="en-US" smtClean="0"/>
              <a:t>Intel Atom (</a:t>
            </a:r>
            <a:r>
              <a:rPr lang="zh-CN" altLang="en-US" smtClean="0"/>
              <a:t>顺序</a:t>
            </a:r>
            <a:r>
              <a:rPr lang="en-US" smtClean="0"/>
              <a:t>x86) </a:t>
            </a:r>
            <a:r>
              <a:rPr lang="zh-CN" altLang="en-US" smtClean="0"/>
              <a:t>采用的是双路垂直多线程</a:t>
            </a:r>
            <a:endParaRPr lang="en-US" smtClean="0"/>
          </a:p>
          <a:p>
            <a:endParaRPr lang="en-US" dirty="0"/>
          </a:p>
        </p:txBody>
      </p:sp>
    </p:spTree>
    <p:extLst>
      <p:ext uri="{BB962C8B-B14F-4D97-AF65-F5344CB8AC3E}">
        <p14:creationId xmlns:p14="http://schemas.microsoft.com/office/powerpoint/2010/main" val="26593435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5506" name="Rectangle 2"/>
          <p:cNvSpPr>
            <a:spLocks noGrp="1" noChangeArrowheads="1"/>
          </p:cNvSpPr>
          <p:nvPr>
            <p:ph type="title"/>
          </p:nvPr>
        </p:nvSpPr>
        <p:spPr/>
        <p:txBody>
          <a:bodyPr/>
          <a:lstStyle/>
          <a:p>
            <a:r>
              <a:rPr lang="en-US" altLang="en-US" dirty="0" smtClean="0"/>
              <a:t>SMT </a:t>
            </a:r>
            <a:r>
              <a:rPr lang="en-US" altLang="zh-CN" dirty="0" smtClean="0"/>
              <a:t>Overhead and Performance</a:t>
            </a:r>
            <a:endParaRPr lang="en-US" altLang="en-US" dirty="0"/>
          </a:p>
        </p:txBody>
      </p:sp>
      <p:sp>
        <p:nvSpPr>
          <p:cNvPr id="1045507" name="Rectangle 3"/>
          <p:cNvSpPr>
            <a:spLocks noGrp="1" noChangeArrowheads="1"/>
          </p:cNvSpPr>
          <p:nvPr>
            <p:ph type="body" idx="1"/>
          </p:nvPr>
        </p:nvSpPr>
        <p:spPr>
          <a:xfrm>
            <a:off x="623392" y="1556792"/>
            <a:ext cx="11233248" cy="5112568"/>
          </a:xfrm>
        </p:spPr>
        <p:txBody>
          <a:bodyPr/>
          <a:lstStyle/>
          <a:p>
            <a:r>
              <a:rPr lang="en-US" altLang="en-US" dirty="0" smtClean="0"/>
              <a:t>Just adding a per thread renaming table and keeping separate PCs</a:t>
            </a:r>
          </a:p>
          <a:p>
            <a:pPr lvl="1"/>
            <a:r>
              <a:rPr lang="en-US" altLang="en-US" dirty="0" smtClean="0"/>
              <a:t>Independent commitment can be supported by logically keeping a separate reorder buffer for each thread</a:t>
            </a:r>
          </a:p>
          <a:p>
            <a:r>
              <a:rPr lang="en-US" altLang="en-US" dirty="0" smtClean="0"/>
              <a:t>Compaq has announced it for future Alpha microprocessor: 21464 in 2003; others likely</a:t>
            </a:r>
            <a:endParaRPr lang="en-US" altLang="en-US" dirty="0"/>
          </a:p>
        </p:txBody>
      </p:sp>
      <p:pic>
        <p:nvPicPr>
          <p:cNvPr id="1045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581400"/>
            <a:ext cx="4686300" cy="299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5509" name="Text Box 5"/>
          <p:cNvSpPr txBox="1">
            <a:spLocks noChangeArrowheads="1"/>
          </p:cNvSpPr>
          <p:nvPr/>
        </p:nvSpPr>
        <p:spPr bwMode="auto">
          <a:xfrm>
            <a:off x="7166570" y="3610352"/>
            <a:ext cx="4114800" cy="230832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dirty="0"/>
              <a:t>On a multiprogramming workload comprising a mixture of SPECint95 and SPECfp95 benchmarks, Compaq claims the SMT it simulated achieves a 2.25X higher throughput with 4 simultaneous  threads than with just 1 thread.  For parallel programs, 4 threads 1.75X v. 1</a:t>
            </a:r>
          </a:p>
        </p:txBody>
      </p:sp>
      <p:sp>
        <p:nvSpPr>
          <p:cNvPr id="1045510" name="Text Box 6"/>
          <p:cNvSpPr txBox="1">
            <a:spLocks noChangeArrowheads="1"/>
          </p:cNvSpPr>
          <p:nvPr/>
        </p:nvSpPr>
        <p:spPr bwMode="auto">
          <a:xfrm>
            <a:off x="6705601" y="6248401"/>
            <a:ext cx="27209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000">
                <a:latin typeface="Times New Roman" panose="02020603050405020304" pitchFamily="18" charset="0"/>
              </a:rPr>
              <a:t>Source: Micrprocessor Report, December 6, 1999</a:t>
            </a:r>
            <a:br>
              <a:rPr lang="en-US" altLang="en-US" sz="1000">
                <a:latin typeface="Times New Roman" panose="02020603050405020304" pitchFamily="18" charset="0"/>
              </a:rPr>
            </a:br>
            <a:r>
              <a:rPr lang="en-US" altLang="en-US" sz="1000">
                <a:latin typeface="Times New Roman" panose="02020603050405020304" pitchFamily="18" charset="0"/>
              </a:rPr>
              <a:t> “Compaq Chooses SMT for Alpha”</a:t>
            </a:r>
          </a:p>
        </p:txBody>
      </p:sp>
    </p:spTree>
    <p:extLst>
      <p:ext uri="{BB962C8B-B14F-4D97-AF65-F5344CB8AC3E}">
        <p14:creationId xmlns:p14="http://schemas.microsoft.com/office/powerpoint/2010/main" val="23753696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55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4550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45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0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962" name="Rectangle 2"/>
          <p:cNvSpPr>
            <a:spLocks noGrp="1" noChangeArrowheads="1"/>
          </p:cNvSpPr>
          <p:nvPr>
            <p:ph type="title"/>
          </p:nvPr>
        </p:nvSpPr>
        <p:spPr/>
        <p:txBody>
          <a:bodyPr/>
          <a:lstStyle/>
          <a:p>
            <a:r>
              <a:rPr lang="en-US" smtClean="0"/>
              <a:t>SMT</a:t>
            </a:r>
            <a:r>
              <a:rPr lang="zh-CN" altLang="en-US" smtClean="0"/>
              <a:t>的性能</a:t>
            </a:r>
            <a:endParaRPr lang="en-US" dirty="0"/>
          </a:p>
        </p:txBody>
      </p:sp>
      <p:sp>
        <p:nvSpPr>
          <p:cNvPr id="1448963" name="Rectangle 3"/>
          <p:cNvSpPr>
            <a:spLocks noGrp="1" noChangeArrowheads="1"/>
          </p:cNvSpPr>
          <p:nvPr>
            <p:ph idx="1"/>
          </p:nvPr>
        </p:nvSpPr>
        <p:spPr/>
        <p:txBody>
          <a:bodyPr/>
          <a:lstStyle/>
          <a:p>
            <a:r>
              <a:rPr lang="en-US" smtClean="0"/>
              <a:t>Pentium 4 Extreme 2-way SMT</a:t>
            </a:r>
          </a:p>
          <a:p>
            <a:pPr lvl="1"/>
            <a:r>
              <a:rPr lang="en-US" altLang="zh-CN" smtClean="0"/>
              <a:t>SPECint_rate: </a:t>
            </a:r>
            <a:r>
              <a:rPr lang="en-US" smtClean="0"/>
              <a:t>1.01; </a:t>
            </a:r>
            <a:r>
              <a:rPr lang="en-US" altLang="zh-CN" smtClean="0"/>
              <a:t>SPECfp_rate:</a:t>
            </a:r>
            <a:r>
              <a:rPr lang="en-US" smtClean="0"/>
              <a:t> 1.07</a:t>
            </a:r>
          </a:p>
          <a:p>
            <a:pPr lvl="1"/>
            <a:r>
              <a:rPr lang="en-US" smtClean="0"/>
              <a:t>SPECRate: </a:t>
            </a:r>
            <a:r>
              <a:rPr lang="zh-CN" altLang="en-US" smtClean="0"/>
              <a:t>同时运行两个相同程序</a:t>
            </a:r>
            <a:endParaRPr lang="en-US" smtClean="0"/>
          </a:p>
          <a:p>
            <a:r>
              <a:rPr lang="en-US" smtClean="0"/>
              <a:t>Pentium 4</a:t>
            </a:r>
            <a:r>
              <a:rPr lang="zh-CN" altLang="en-US" smtClean="0"/>
              <a:t>运行不同</a:t>
            </a:r>
            <a:r>
              <a:rPr lang="en-US" smtClean="0"/>
              <a:t>SPEC</a:t>
            </a:r>
            <a:r>
              <a:rPr lang="zh-CN" altLang="en-US" smtClean="0"/>
              <a:t>程序时</a:t>
            </a:r>
            <a:r>
              <a:rPr lang="en-US" smtClean="0"/>
              <a:t> </a:t>
            </a:r>
          </a:p>
          <a:p>
            <a:pPr lvl="1"/>
            <a:r>
              <a:rPr lang="zh-CN" altLang="en-US" smtClean="0"/>
              <a:t>加速比从</a:t>
            </a:r>
            <a:r>
              <a:rPr lang="en-US" smtClean="0"/>
              <a:t>0.9</a:t>
            </a:r>
            <a:r>
              <a:rPr lang="zh-CN" altLang="en-US" smtClean="0"/>
              <a:t>到</a:t>
            </a:r>
            <a:r>
              <a:rPr lang="en-US" smtClean="0"/>
              <a:t>1.58</a:t>
            </a:r>
            <a:r>
              <a:rPr lang="zh-CN" altLang="en-US" smtClean="0"/>
              <a:t>不等，平均是</a:t>
            </a:r>
            <a:r>
              <a:rPr lang="en-US" altLang="zh-CN" smtClean="0"/>
              <a:t>1</a:t>
            </a:r>
            <a:r>
              <a:rPr lang="en-US" smtClean="0"/>
              <a:t>.20</a:t>
            </a:r>
          </a:p>
          <a:p>
            <a:r>
              <a:rPr lang="en-US" smtClean="0"/>
              <a:t>Power 5</a:t>
            </a:r>
            <a:r>
              <a:rPr lang="zh-CN" altLang="en-US" smtClean="0"/>
              <a:t>上</a:t>
            </a:r>
            <a:r>
              <a:rPr lang="en-US" altLang="zh-CN" smtClean="0"/>
              <a:t>SMT</a:t>
            </a:r>
            <a:r>
              <a:rPr lang="zh-CN" altLang="en-US" smtClean="0"/>
              <a:t>的性能</a:t>
            </a:r>
            <a:endParaRPr lang="en-US" altLang="zh-CN" smtClean="0"/>
          </a:p>
          <a:p>
            <a:pPr lvl="1"/>
            <a:r>
              <a:rPr lang="en-US" altLang="zh-CN" smtClean="0"/>
              <a:t>SPECint_rate</a:t>
            </a:r>
            <a:r>
              <a:rPr lang="zh-CN" altLang="en-US" smtClean="0"/>
              <a:t>：</a:t>
            </a:r>
            <a:r>
              <a:rPr lang="en-US" smtClean="0"/>
              <a:t>1.23</a:t>
            </a:r>
            <a:r>
              <a:rPr lang="zh-CN" altLang="en-US" smtClean="0"/>
              <a:t>；</a:t>
            </a:r>
            <a:r>
              <a:rPr lang="en-US" altLang="zh-CN" smtClean="0"/>
              <a:t>SPECfp_rate</a:t>
            </a:r>
            <a:r>
              <a:rPr lang="zh-CN" altLang="en-US" smtClean="0"/>
              <a:t>：</a:t>
            </a:r>
            <a:r>
              <a:rPr lang="en-US" smtClean="0"/>
              <a:t>1.16</a:t>
            </a:r>
          </a:p>
          <a:p>
            <a:r>
              <a:rPr lang="en-US" smtClean="0"/>
              <a:t>Power 5</a:t>
            </a:r>
            <a:r>
              <a:rPr lang="zh-CN" altLang="en-US" smtClean="0"/>
              <a:t>运行不同程序时</a:t>
            </a:r>
            <a:endParaRPr lang="en-US" altLang="zh-CN" smtClean="0"/>
          </a:p>
          <a:p>
            <a:pPr lvl="1"/>
            <a:r>
              <a:rPr lang="zh-CN" altLang="en-US" smtClean="0"/>
              <a:t>加速比在</a:t>
            </a:r>
            <a:r>
              <a:rPr lang="en-US" smtClean="0"/>
              <a:t> 0.89</a:t>
            </a:r>
            <a:r>
              <a:rPr lang="zh-CN" altLang="en-US" smtClean="0"/>
              <a:t>到</a:t>
            </a:r>
            <a:r>
              <a:rPr lang="en-US" smtClean="0"/>
              <a:t>1.41</a:t>
            </a:r>
            <a:r>
              <a:rPr lang="zh-CN" altLang="en-US" smtClean="0"/>
              <a:t>之间</a:t>
            </a:r>
            <a:endParaRPr lang="en-US" smtClean="0"/>
          </a:p>
          <a:p>
            <a:pPr lvl="1"/>
            <a:r>
              <a:rPr lang="zh-CN" altLang="en-US" smtClean="0"/>
              <a:t>浮点程序的</a:t>
            </a:r>
            <a:r>
              <a:rPr lang="en-US" altLang="zh-CN" smtClean="0"/>
              <a:t>cache</a:t>
            </a:r>
            <a:r>
              <a:rPr lang="zh-CN" altLang="en-US" smtClean="0"/>
              <a:t>冲突最多、收益最少</a:t>
            </a:r>
            <a:endParaRPr lang="en-US" smtClean="0"/>
          </a:p>
          <a:p>
            <a:endParaRPr lang="en-US" dirty="0"/>
          </a:p>
        </p:txBody>
      </p:sp>
    </p:spTree>
    <p:extLst>
      <p:ext uri="{BB962C8B-B14F-4D97-AF65-F5344CB8AC3E}">
        <p14:creationId xmlns:p14="http://schemas.microsoft.com/office/powerpoint/2010/main" val="183285809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Parallel Benchmarks Used</a:t>
            </a:r>
            <a:endParaRPr lang="zh-CN" altLang="en-US" dirty="0"/>
          </a:p>
        </p:txBody>
      </p:sp>
      <p:sp>
        <p:nvSpPr>
          <p:cNvPr id="4" name="内容占位符 3"/>
          <p:cNvSpPr>
            <a:spLocks noGrp="1"/>
          </p:cNvSpPr>
          <p:nvPr>
            <p:ph idx="1"/>
          </p:nvPr>
        </p:nvSpPr>
        <p:spPr>
          <a:xfrm>
            <a:off x="838200" y="1556792"/>
            <a:ext cx="3169568" cy="5112568"/>
          </a:xfrm>
        </p:spPr>
        <p:txBody>
          <a:bodyPr/>
          <a:lstStyle/>
          <a:p>
            <a:r>
              <a:rPr lang="en-US" altLang="zh-CN" dirty="0" smtClean="0"/>
              <a:t>PARSEC</a:t>
            </a:r>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Multithreaded Java</a:t>
            </a:r>
            <a:endParaRPr lang="en-US" altLang="zh-CN" dirty="0"/>
          </a:p>
        </p:txBody>
      </p:sp>
      <p:pic>
        <p:nvPicPr>
          <p:cNvPr id="3" name="图片 2"/>
          <p:cNvPicPr>
            <a:picLocks noChangeAspect="1"/>
          </p:cNvPicPr>
          <p:nvPr/>
        </p:nvPicPr>
        <p:blipFill>
          <a:blip r:embed="rId3"/>
          <a:stretch>
            <a:fillRect/>
          </a:stretch>
        </p:blipFill>
        <p:spPr>
          <a:xfrm>
            <a:off x="4007768" y="1556792"/>
            <a:ext cx="7660577" cy="5141327"/>
          </a:xfrm>
          <a:prstGeom prst="rect">
            <a:avLst/>
          </a:prstGeom>
        </p:spPr>
      </p:pic>
    </p:spTree>
    <p:extLst>
      <p:ext uri="{BB962C8B-B14F-4D97-AF65-F5344CB8AC3E}">
        <p14:creationId xmlns:p14="http://schemas.microsoft.com/office/powerpoint/2010/main" val="4173442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3352" y="2852936"/>
            <a:ext cx="2952328" cy="903635"/>
          </a:xfrm>
        </p:spPr>
        <p:txBody>
          <a:bodyPr/>
          <a:lstStyle/>
          <a:p>
            <a:r>
              <a:rPr lang="en-US" altLang="zh-CN" dirty="0" smtClean="0"/>
              <a:t>Speedup on one core of intel i7 processor</a:t>
            </a:r>
            <a:endParaRPr lang="zh-CN" altLang="en-US" dirty="0"/>
          </a:p>
        </p:txBody>
      </p:sp>
      <p:pic>
        <p:nvPicPr>
          <p:cNvPr id="3" name="图片 2"/>
          <p:cNvPicPr>
            <a:picLocks noChangeAspect="1"/>
          </p:cNvPicPr>
          <p:nvPr/>
        </p:nvPicPr>
        <p:blipFill>
          <a:blip r:embed="rId3"/>
          <a:stretch>
            <a:fillRect/>
          </a:stretch>
        </p:blipFill>
        <p:spPr>
          <a:xfrm>
            <a:off x="3431704" y="365125"/>
            <a:ext cx="8606822" cy="6244595"/>
          </a:xfrm>
          <a:prstGeom prst="rect">
            <a:avLst/>
          </a:prstGeom>
        </p:spPr>
      </p:pic>
      <p:sp>
        <p:nvSpPr>
          <p:cNvPr id="4" name="文本框 3"/>
          <p:cNvSpPr txBox="1"/>
          <p:nvPr/>
        </p:nvSpPr>
        <p:spPr>
          <a:xfrm>
            <a:off x="4871864" y="1340768"/>
            <a:ext cx="1519968" cy="461665"/>
          </a:xfrm>
          <a:prstGeom prst="rect">
            <a:avLst/>
          </a:prstGeom>
          <a:noFill/>
        </p:spPr>
        <p:txBody>
          <a:bodyPr wrap="none" rtlCol="0">
            <a:spAutoFit/>
          </a:bodyPr>
          <a:lstStyle/>
          <a:p>
            <a:r>
              <a:rPr lang="en-US" altLang="zh-CN" sz="2400" dirty="0" smtClean="0">
                <a:solidFill>
                  <a:srgbClr val="0000FF"/>
                </a:solidFill>
              </a:rPr>
              <a:t>Java 1.28</a:t>
            </a:r>
            <a:endParaRPr lang="zh-CN" altLang="en-US" sz="2400" dirty="0">
              <a:solidFill>
                <a:srgbClr val="0000FF"/>
              </a:solidFill>
            </a:endParaRPr>
          </a:p>
        </p:txBody>
      </p:sp>
      <p:sp>
        <p:nvSpPr>
          <p:cNvPr id="5" name="文本框 4"/>
          <p:cNvSpPr txBox="1"/>
          <p:nvPr/>
        </p:nvSpPr>
        <p:spPr>
          <a:xfrm>
            <a:off x="8544272" y="1700808"/>
            <a:ext cx="2197653" cy="461665"/>
          </a:xfrm>
          <a:prstGeom prst="rect">
            <a:avLst/>
          </a:prstGeom>
          <a:noFill/>
        </p:spPr>
        <p:txBody>
          <a:bodyPr wrap="none" rtlCol="0">
            <a:spAutoFit/>
          </a:bodyPr>
          <a:lstStyle/>
          <a:p>
            <a:r>
              <a:rPr lang="en-US" altLang="zh-CN" sz="2400" dirty="0" smtClean="0">
                <a:solidFill>
                  <a:srgbClr val="0000FF"/>
                </a:solidFill>
              </a:rPr>
              <a:t>PARSEC: 1.31</a:t>
            </a:r>
            <a:endParaRPr lang="zh-CN" altLang="en-US" sz="2400" dirty="0">
              <a:solidFill>
                <a:srgbClr val="0000FF"/>
              </a:solidFill>
            </a:endParaRPr>
          </a:p>
        </p:txBody>
      </p:sp>
      <p:sp>
        <p:nvSpPr>
          <p:cNvPr id="6" name="文本框 5"/>
          <p:cNvSpPr txBox="1"/>
          <p:nvPr/>
        </p:nvSpPr>
        <p:spPr>
          <a:xfrm>
            <a:off x="7025573" y="4869160"/>
            <a:ext cx="5008102" cy="461665"/>
          </a:xfrm>
          <a:prstGeom prst="rect">
            <a:avLst/>
          </a:prstGeom>
          <a:noFill/>
        </p:spPr>
        <p:txBody>
          <a:bodyPr wrap="none" rtlCol="0">
            <a:spAutoFit/>
          </a:bodyPr>
          <a:lstStyle/>
          <a:p>
            <a:r>
              <a:rPr lang="zh-CN" altLang="en-US" sz="2400" dirty="0" smtClean="0">
                <a:solidFill>
                  <a:srgbClr val="0000FF"/>
                </a:solidFill>
                <a:latin typeface="微软雅黑" panose="020B0503020204020204" pitchFamily="34" charset="-122"/>
                <a:ea typeface="微软雅黑" panose="020B0503020204020204" pitchFamily="34" charset="-122"/>
              </a:rPr>
              <a:t>能效小于</a:t>
            </a:r>
            <a:r>
              <a:rPr lang="en-US" altLang="zh-CN" sz="2400" dirty="0" smtClean="0">
                <a:solidFill>
                  <a:srgbClr val="0000FF"/>
                </a:solidFill>
                <a:latin typeface="微软雅黑" panose="020B0503020204020204" pitchFamily="34" charset="-122"/>
                <a:ea typeface="微软雅黑" panose="020B0503020204020204" pitchFamily="34" charset="-122"/>
              </a:rPr>
              <a:t>1</a:t>
            </a:r>
            <a:r>
              <a:rPr lang="zh-CN" altLang="en-US" sz="2400" dirty="0" smtClean="0">
                <a:solidFill>
                  <a:srgbClr val="0000FF"/>
                </a:solidFill>
                <a:latin typeface="微软雅黑" panose="020B0503020204020204" pitchFamily="34" charset="-122"/>
                <a:ea typeface="微软雅黑" panose="020B0503020204020204" pitchFamily="34" charset="-122"/>
              </a:rPr>
              <a:t>，性能提升导致耗能较多</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12310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2" descr="X:\02_GRAPHICS\BOOKS\02_PPTs\MKCAD(Hennessy)\PPT\Ch05\f05-25-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435" y="155855"/>
            <a:ext cx="7567565" cy="6696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SMT vs.</a:t>
            </a:r>
            <a:br>
              <a:rPr lang="en-US" altLang="zh-CN" dirty="0" smtClean="0"/>
            </a:br>
            <a:r>
              <a:rPr lang="en-US" altLang="zh-CN" dirty="0" smtClean="0"/>
              <a:t>single-thread</a:t>
            </a:r>
            <a:endParaRPr lang="zh-CN" altLang="en-US" dirty="0"/>
          </a:p>
        </p:txBody>
      </p:sp>
      <p:sp>
        <p:nvSpPr>
          <p:cNvPr id="3" name="内容占位符 2"/>
          <p:cNvSpPr>
            <a:spLocks noGrp="1"/>
          </p:cNvSpPr>
          <p:nvPr>
            <p:ph idx="1"/>
          </p:nvPr>
        </p:nvSpPr>
        <p:spPr>
          <a:xfrm>
            <a:off x="838200" y="1556792"/>
            <a:ext cx="5473824" cy="5112568"/>
          </a:xfrm>
        </p:spPr>
        <p:txBody>
          <a:bodyPr/>
          <a:lstStyle/>
          <a:p>
            <a:r>
              <a:rPr lang="en-US" altLang="zh-CN" dirty="0" smtClean="0"/>
              <a:t>IBM </a:t>
            </a:r>
            <a:r>
              <a:rPr lang="en-US" altLang="zh-CN" dirty="0"/>
              <a:t>eServer p5 </a:t>
            </a:r>
            <a:r>
              <a:rPr lang="en-US" altLang="zh-CN" dirty="0" smtClean="0"/>
              <a:t>575</a:t>
            </a:r>
          </a:p>
          <a:p>
            <a:pPr lvl="1"/>
            <a:r>
              <a:rPr lang="en-US" altLang="zh-CN" dirty="0" smtClean="0"/>
              <a:t>8-processor</a:t>
            </a:r>
          </a:p>
          <a:p>
            <a:r>
              <a:rPr lang="en-US" altLang="zh-CN" dirty="0" smtClean="0"/>
              <a:t>SPEC Benchmark</a:t>
            </a:r>
          </a:p>
          <a:p>
            <a:pPr lvl="1"/>
            <a:r>
              <a:rPr lang="en-US" altLang="zh-CN" dirty="0" smtClean="0"/>
              <a:t>SMT: 16 thread</a:t>
            </a:r>
          </a:p>
          <a:p>
            <a:pPr lvl="1"/>
            <a:r>
              <a:rPr lang="en-US" altLang="zh-CN" dirty="0" smtClean="0"/>
              <a:t>ST: 8 thread</a:t>
            </a:r>
          </a:p>
          <a:p>
            <a:r>
              <a:rPr lang="en-US" altLang="zh-CN" dirty="0" err="1" smtClean="0"/>
              <a:t>SPECfp</a:t>
            </a:r>
            <a:r>
              <a:rPr lang="en-US" altLang="zh-CN" dirty="0"/>
              <a:t> </a:t>
            </a:r>
            <a:r>
              <a:rPr lang="en-US" altLang="zh-CN" dirty="0" smtClean="0"/>
              <a:t>has higher</a:t>
            </a:r>
            <a:br>
              <a:rPr lang="en-US" altLang="zh-CN" dirty="0" smtClean="0"/>
            </a:br>
            <a:r>
              <a:rPr lang="en-US" altLang="zh-CN" dirty="0" smtClean="0"/>
              <a:t>standard deviation</a:t>
            </a:r>
            <a:endParaRPr lang="zh-CN" altLang="en-US" dirty="0"/>
          </a:p>
        </p:txBody>
      </p:sp>
    </p:spTree>
    <p:extLst>
      <p:ext uri="{BB962C8B-B14F-4D97-AF65-F5344CB8AC3E}">
        <p14:creationId xmlns:p14="http://schemas.microsoft.com/office/powerpoint/2010/main" val="18591765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154" name="Rectangle 2"/>
          <p:cNvSpPr>
            <a:spLocks noGrp="1" noChangeArrowheads="1"/>
          </p:cNvSpPr>
          <p:nvPr>
            <p:ph type="title"/>
          </p:nvPr>
        </p:nvSpPr>
        <p:spPr/>
        <p:txBody>
          <a:bodyPr/>
          <a:lstStyle/>
          <a:p>
            <a:r>
              <a:rPr lang="zh-CN" altLang="en-US" smtClean="0"/>
              <a:t>小结：多线程结构的分类</a:t>
            </a:r>
            <a:endParaRPr lang="en-US" dirty="0"/>
          </a:p>
        </p:txBody>
      </p:sp>
      <p:grpSp>
        <p:nvGrpSpPr>
          <p:cNvPr id="2" name="Group 3"/>
          <p:cNvGrpSpPr>
            <a:grpSpLocks/>
          </p:cNvGrpSpPr>
          <p:nvPr/>
        </p:nvGrpSpPr>
        <p:grpSpPr bwMode="auto">
          <a:xfrm>
            <a:off x="2563813" y="2071438"/>
            <a:ext cx="1143000" cy="3581400"/>
            <a:chOff x="528" y="912"/>
            <a:chExt cx="720" cy="2256"/>
          </a:xfrm>
        </p:grpSpPr>
        <p:sp>
          <p:nvSpPr>
            <p:cNvPr id="1457156" name="Rectangle 4"/>
            <p:cNvSpPr>
              <a:spLocks noChangeArrowheads="1"/>
            </p:cNvSpPr>
            <p:nvPr/>
          </p:nvSpPr>
          <p:spPr bwMode="auto">
            <a:xfrm>
              <a:off x="528"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57" name="Rectangle 5"/>
            <p:cNvSpPr>
              <a:spLocks noChangeArrowheads="1"/>
            </p:cNvSpPr>
            <p:nvPr/>
          </p:nvSpPr>
          <p:spPr bwMode="auto">
            <a:xfrm>
              <a:off x="720"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58" name="Rectangle 6"/>
            <p:cNvSpPr>
              <a:spLocks noChangeArrowheads="1"/>
            </p:cNvSpPr>
            <p:nvPr/>
          </p:nvSpPr>
          <p:spPr bwMode="auto">
            <a:xfrm>
              <a:off x="912"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59" name="Rectangle 7"/>
            <p:cNvSpPr>
              <a:spLocks noChangeArrowheads="1"/>
            </p:cNvSpPr>
            <p:nvPr/>
          </p:nvSpPr>
          <p:spPr bwMode="auto">
            <a:xfrm>
              <a:off x="1104"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0" name="Rectangle 8"/>
            <p:cNvSpPr>
              <a:spLocks noChangeArrowheads="1"/>
            </p:cNvSpPr>
            <p:nvPr/>
          </p:nvSpPr>
          <p:spPr bwMode="auto">
            <a:xfrm>
              <a:off x="528" y="110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61" name="Rectangle 9"/>
            <p:cNvSpPr>
              <a:spLocks noChangeArrowheads="1"/>
            </p:cNvSpPr>
            <p:nvPr/>
          </p:nvSpPr>
          <p:spPr bwMode="auto">
            <a:xfrm>
              <a:off x="720"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2" name="Rectangle 10"/>
            <p:cNvSpPr>
              <a:spLocks noChangeArrowheads="1"/>
            </p:cNvSpPr>
            <p:nvPr/>
          </p:nvSpPr>
          <p:spPr bwMode="auto">
            <a:xfrm>
              <a:off x="912"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3" name="Rectangle 11"/>
            <p:cNvSpPr>
              <a:spLocks noChangeArrowheads="1"/>
            </p:cNvSpPr>
            <p:nvPr/>
          </p:nvSpPr>
          <p:spPr bwMode="auto">
            <a:xfrm>
              <a:off x="1104"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4" name="Rectangle 12"/>
            <p:cNvSpPr>
              <a:spLocks noChangeArrowheads="1"/>
            </p:cNvSpPr>
            <p:nvPr/>
          </p:nvSpPr>
          <p:spPr bwMode="auto">
            <a:xfrm>
              <a:off x="528"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65" name="Rectangle 13"/>
            <p:cNvSpPr>
              <a:spLocks noChangeArrowheads="1"/>
            </p:cNvSpPr>
            <p:nvPr/>
          </p:nvSpPr>
          <p:spPr bwMode="auto">
            <a:xfrm>
              <a:off x="720"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66" name="Rectangle 14"/>
            <p:cNvSpPr>
              <a:spLocks noChangeArrowheads="1"/>
            </p:cNvSpPr>
            <p:nvPr/>
          </p:nvSpPr>
          <p:spPr bwMode="auto">
            <a:xfrm>
              <a:off x="912"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7" name="Rectangle 15"/>
            <p:cNvSpPr>
              <a:spLocks noChangeArrowheads="1"/>
            </p:cNvSpPr>
            <p:nvPr/>
          </p:nvSpPr>
          <p:spPr bwMode="auto">
            <a:xfrm>
              <a:off x="1104"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68" name="Rectangle 16"/>
            <p:cNvSpPr>
              <a:spLocks noChangeArrowheads="1"/>
            </p:cNvSpPr>
            <p:nvPr/>
          </p:nvSpPr>
          <p:spPr bwMode="auto">
            <a:xfrm>
              <a:off x="528"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69" name="Rectangle 17"/>
            <p:cNvSpPr>
              <a:spLocks noChangeArrowheads="1"/>
            </p:cNvSpPr>
            <p:nvPr/>
          </p:nvSpPr>
          <p:spPr bwMode="auto">
            <a:xfrm>
              <a:off x="720"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70" name="Rectangle 18"/>
            <p:cNvSpPr>
              <a:spLocks noChangeArrowheads="1"/>
            </p:cNvSpPr>
            <p:nvPr/>
          </p:nvSpPr>
          <p:spPr bwMode="auto">
            <a:xfrm>
              <a:off x="912"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71" name="Rectangle 19"/>
            <p:cNvSpPr>
              <a:spLocks noChangeArrowheads="1"/>
            </p:cNvSpPr>
            <p:nvPr/>
          </p:nvSpPr>
          <p:spPr bwMode="auto">
            <a:xfrm>
              <a:off x="1104" y="148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2" name="Rectangle 20"/>
            <p:cNvSpPr>
              <a:spLocks noChangeArrowheads="1"/>
            </p:cNvSpPr>
            <p:nvPr/>
          </p:nvSpPr>
          <p:spPr bwMode="auto">
            <a:xfrm>
              <a:off x="528"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3" name="Rectangle 21"/>
            <p:cNvSpPr>
              <a:spLocks noChangeArrowheads="1"/>
            </p:cNvSpPr>
            <p:nvPr/>
          </p:nvSpPr>
          <p:spPr bwMode="auto">
            <a:xfrm>
              <a:off x="720"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4" name="Rectangle 22"/>
            <p:cNvSpPr>
              <a:spLocks noChangeArrowheads="1"/>
            </p:cNvSpPr>
            <p:nvPr/>
          </p:nvSpPr>
          <p:spPr bwMode="auto">
            <a:xfrm>
              <a:off x="912"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5" name="Rectangle 23"/>
            <p:cNvSpPr>
              <a:spLocks noChangeArrowheads="1"/>
            </p:cNvSpPr>
            <p:nvPr/>
          </p:nvSpPr>
          <p:spPr bwMode="auto">
            <a:xfrm>
              <a:off x="1104"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6" name="Rectangle 24"/>
            <p:cNvSpPr>
              <a:spLocks noChangeArrowheads="1"/>
            </p:cNvSpPr>
            <p:nvPr/>
          </p:nvSpPr>
          <p:spPr bwMode="auto">
            <a:xfrm>
              <a:off x="528"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7" name="Rectangle 25"/>
            <p:cNvSpPr>
              <a:spLocks noChangeArrowheads="1"/>
            </p:cNvSpPr>
            <p:nvPr/>
          </p:nvSpPr>
          <p:spPr bwMode="auto">
            <a:xfrm>
              <a:off x="720"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8" name="Rectangle 26"/>
            <p:cNvSpPr>
              <a:spLocks noChangeArrowheads="1"/>
            </p:cNvSpPr>
            <p:nvPr/>
          </p:nvSpPr>
          <p:spPr bwMode="auto">
            <a:xfrm>
              <a:off x="912"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79" name="Rectangle 27"/>
            <p:cNvSpPr>
              <a:spLocks noChangeArrowheads="1"/>
            </p:cNvSpPr>
            <p:nvPr/>
          </p:nvSpPr>
          <p:spPr bwMode="auto">
            <a:xfrm>
              <a:off x="1104"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0" name="Rectangle 28"/>
            <p:cNvSpPr>
              <a:spLocks noChangeArrowheads="1"/>
            </p:cNvSpPr>
            <p:nvPr/>
          </p:nvSpPr>
          <p:spPr bwMode="auto">
            <a:xfrm>
              <a:off x="528" y="206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81" name="Rectangle 29"/>
            <p:cNvSpPr>
              <a:spLocks noChangeArrowheads="1"/>
            </p:cNvSpPr>
            <p:nvPr/>
          </p:nvSpPr>
          <p:spPr bwMode="auto">
            <a:xfrm>
              <a:off x="720" y="206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82" name="Rectangle 30"/>
            <p:cNvSpPr>
              <a:spLocks noChangeArrowheads="1"/>
            </p:cNvSpPr>
            <p:nvPr/>
          </p:nvSpPr>
          <p:spPr bwMode="auto">
            <a:xfrm>
              <a:off x="912"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3" name="Rectangle 31"/>
            <p:cNvSpPr>
              <a:spLocks noChangeArrowheads="1"/>
            </p:cNvSpPr>
            <p:nvPr/>
          </p:nvSpPr>
          <p:spPr bwMode="auto">
            <a:xfrm>
              <a:off x="1104"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4" name="Rectangle 32"/>
            <p:cNvSpPr>
              <a:spLocks noChangeArrowheads="1"/>
            </p:cNvSpPr>
            <p:nvPr/>
          </p:nvSpPr>
          <p:spPr bwMode="auto">
            <a:xfrm>
              <a:off x="528" y="225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85" name="Rectangle 33"/>
            <p:cNvSpPr>
              <a:spLocks noChangeArrowheads="1"/>
            </p:cNvSpPr>
            <p:nvPr/>
          </p:nvSpPr>
          <p:spPr bwMode="auto">
            <a:xfrm>
              <a:off x="720"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6" name="Rectangle 34"/>
            <p:cNvSpPr>
              <a:spLocks noChangeArrowheads="1"/>
            </p:cNvSpPr>
            <p:nvPr/>
          </p:nvSpPr>
          <p:spPr bwMode="auto">
            <a:xfrm>
              <a:off x="912"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7" name="Rectangle 35"/>
            <p:cNvSpPr>
              <a:spLocks noChangeArrowheads="1"/>
            </p:cNvSpPr>
            <p:nvPr/>
          </p:nvSpPr>
          <p:spPr bwMode="auto">
            <a:xfrm>
              <a:off x="1104"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88" name="Rectangle 36"/>
            <p:cNvSpPr>
              <a:spLocks noChangeArrowheads="1"/>
            </p:cNvSpPr>
            <p:nvPr/>
          </p:nvSpPr>
          <p:spPr bwMode="auto">
            <a:xfrm>
              <a:off x="528" y="244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89" name="Rectangle 37"/>
            <p:cNvSpPr>
              <a:spLocks noChangeArrowheads="1"/>
            </p:cNvSpPr>
            <p:nvPr/>
          </p:nvSpPr>
          <p:spPr bwMode="auto">
            <a:xfrm>
              <a:off x="720" y="244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90" name="Rectangle 38"/>
            <p:cNvSpPr>
              <a:spLocks noChangeArrowheads="1"/>
            </p:cNvSpPr>
            <p:nvPr/>
          </p:nvSpPr>
          <p:spPr bwMode="auto">
            <a:xfrm>
              <a:off x="912" y="244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191" name="Rectangle 39"/>
            <p:cNvSpPr>
              <a:spLocks noChangeArrowheads="1"/>
            </p:cNvSpPr>
            <p:nvPr/>
          </p:nvSpPr>
          <p:spPr bwMode="auto">
            <a:xfrm>
              <a:off x="1104"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2" name="Rectangle 40"/>
            <p:cNvSpPr>
              <a:spLocks noChangeArrowheads="1"/>
            </p:cNvSpPr>
            <p:nvPr/>
          </p:nvSpPr>
          <p:spPr bwMode="auto">
            <a:xfrm>
              <a:off x="528"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3" name="Rectangle 41"/>
            <p:cNvSpPr>
              <a:spLocks noChangeArrowheads="1"/>
            </p:cNvSpPr>
            <p:nvPr/>
          </p:nvSpPr>
          <p:spPr bwMode="auto">
            <a:xfrm>
              <a:off x="720"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4" name="Rectangle 42"/>
            <p:cNvSpPr>
              <a:spLocks noChangeArrowheads="1"/>
            </p:cNvSpPr>
            <p:nvPr/>
          </p:nvSpPr>
          <p:spPr bwMode="auto">
            <a:xfrm>
              <a:off x="912"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5" name="Rectangle 43"/>
            <p:cNvSpPr>
              <a:spLocks noChangeArrowheads="1"/>
            </p:cNvSpPr>
            <p:nvPr/>
          </p:nvSpPr>
          <p:spPr bwMode="auto">
            <a:xfrm>
              <a:off x="1104"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6" name="Rectangle 44"/>
            <p:cNvSpPr>
              <a:spLocks noChangeArrowheads="1"/>
            </p:cNvSpPr>
            <p:nvPr/>
          </p:nvSpPr>
          <p:spPr bwMode="auto">
            <a:xfrm>
              <a:off x="528"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7" name="Rectangle 45"/>
            <p:cNvSpPr>
              <a:spLocks noChangeArrowheads="1"/>
            </p:cNvSpPr>
            <p:nvPr/>
          </p:nvSpPr>
          <p:spPr bwMode="auto">
            <a:xfrm>
              <a:off x="720"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8" name="Rectangle 46"/>
            <p:cNvSpPr>
              <a:spLocks noChangeArrowheads="1"/>
            </p:cNvSpPr>
            <p:nvPr/>
          </p:nvSpPr>
          <p:spPr bwMode="auto">
            <a:xfrm>
              <a:off x="912"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199" name="Rectangle 47"/>
            <p:cNvSpPr>
              <a:spLocks noChangeArrowheads="1"/>
            </p:cNvSpPr>
            <p:nvPr/>
          </p:nvSpPr>
          <p:spPr bwMode="auto">
            <a:xfrm>
              <a:off x="1104"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00" name="Rectangle 48"/>
            <p:cNvSpPr>
              <a:spLocks noChangeArrowheads="1"/>
            </p:cNvSpPr>
            <p:nvPr/>
          </p:nvSpPr>
          <p:spPr bwMode="auto">
            <a:xfrm>
              <a:off x="528" y="302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01" name="Rectangle 49"/>
            <p:cNvSpPr>
              <a:spLocks noChangeArrowheads="1"/>
            </p:cNvSpPr>
            <p:nvPr/>
          </p:nvSpPr>
          <p:spPr bwMode="auto">
            <a:xfrm>
              <a:off x="720" y="302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02" name="Rectangle 50"/>
            <p:cNvSpPr>
              <a:spLocks noChangeArrowheads="1"/>
            </p:cNvSpPr>
            <p:nvPr/>
          </p:nvSpPr>
          <p:spPr bwMode="auto">
            <a:xfrm>
              <a:off x="912"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03" name="Rectangle 51"/>
            <p:cNvSpPr>
              <a:spLocks noChangeArrowheads="1"/>
            </p:cNvSpPr>
            <p:nvPr/>
          </p:nvSpPr>
          <p:spPr bwMode="auto">
            <a:xfrm>
              <a:off x="1104"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grpSp>
      <p:grpSp>
        <p:nvGrpSpPr>
          <p:cNvPr id="3" name="Group 52"/>
          <p:cNvGrpSpPr>
            <a:grpSpLocks/>
          </p:cNvGrpSpPr>
          <p:nvPr/>
        </p:nvGrpSpPr>
        <p:grpSpPr bwMode="auto">
          <a:xfrm>
            <a:off x="4087813" y="2071438"/>
            <a:ext cx="1143000" cy="3581400"/>
            <a:chOff x="1584" y="912"/>
            <a:chExt cx="720" cy="2256"/>
          </a:xfrm>
        </p:grpSpPr>
        <p:sp>
          <p:nvSpPr>
            <p:cNvPr id="1457205" name="Rectangle 53"/>
            <p:cNvSpPr>
              <a:spLocks noChangeArrowheads="1"/>
            </p:cNvSpPr>
            <p:nvPr/>
          </p:nvSpPr>
          <p:spPr bwMode="auto">
            <a:xfrm>
              <a:off x="1584"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06" name="Rectangle 54"/>
            <p:cNvSpPr>
              <a:spLocks noChangeArrowheads="1"/>
            </p:cNvSpPr>
            <p:nvPr/>
          </p:nvSpPr>
          <p:spPr bwMode="auto">
            <a:xfrm>
              <a:off x="1776"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07" name="Rectangle 55"/>
            <p:cNvSpPr>
              <a:spLocks noChangeArrowheads="1"/>
            </p:cNvSpPr>
            <p:nvPr/>
          </p:nvSpPr>
          <p:spPr bwMode="auto">
            <a:xfrm>
              <a:off x="1968"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08" name="Rectangle 56"/>
            <p:cNvSpPr>
              <a:spLocks noChangeArrowheads="1"/>
            </p:cNvSpPr>
            <p:nvPr/>
          </p:nvSpPr>
          <p:spPr bwMode="auto">
            <a:xfrm>
              <a:off x="2160"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09" name="Rectangle 57"/>
            <p:cNvSpPr>
              <a:spLocks noChangeArrowheads="1"/>
            </p:cNvSpPr>
            <p:nvPr/>
          </p:nvSpPr>
          <p:spPr bwMode="auto">
            <a:xfrm>
              <a:off x="1584" y="110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10" name="Rectangle 58"/>
            <p:cNvSpPr>
              <a:spLocks noChangeArrowheads="1"/>
            </p:cNvSpPr>
            <p:nvPr/>
          </p:nvSpPr>
          <p:spPr bwMode="auto">
            <a:xfrm>
              <a:off x="1776" y="110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11" name="Rectangle 59"/>
            <p:cNvSpPr>
              <a:spLocks noChangeArrowheads="1"/>
            </p:cNvSpPr>
            <p:nvPr/>
          </p:nvSpPr>
          <p:spPr bwMode="auto">
            <a:xfrm>
              <a:off x="1968"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12" name="Rectangle 60"/>
            <p:cNvSpPr>
              <a:spLocks noChangeArrowheads="1"/>
            </p:cNvSpPr>
            <p:nvPr/>
          </p:nvSpPr>
          <p:spPr bwMode="auto">
            <a:xfrm>
              <a:off x="2160"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13" name="Rectangle 61"/>
            <p:cNvSpPr>
              <a:spLocks noChangeArrowheads="1"/>
            </p:cNvSpPr>
            <p:nvPr/>
          </p:nvSpPr>
          <p:spPr bwMode="auto">
            <a:xfrm>
              <a:off x="1584" y="129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14" name="Rectangle 62"/>
            <p:cNvSpPr>
              <a:spLocks noChangeArrowheads="1"/>
            </p:cNvSpPr>
            <p:nvPr/>
          </p:nvSpPr>
          <p:spPr bwMode="auto">
            <a:xfrm>
              <a:off x="1776" y="129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15" name="Rectangle 63"/>
            <p:cNvSpPr>
              <a:spLocks noChangeArrowheads="1"/>
            </p:cNvSpPr>
            <p:nvPr/>
          </p:nvSpPr>
          <p:spPr bwMode="auto">
            <a:xfrm>
              <a:off x="1968"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16" name="Rectangle 64"/>
            <p:cNvSpPr>
              <a:spLocks noChangeArrowheads="1"/>
            </p:cNvSpPr>
            <p:nvPr/>
          </p:nvSpPr>
          <p:spPr bwMode="auto">
            <a:xfrm>
              <a:off x="2160"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17" name="Rectangle 65"/>
            <p:cNvSpPr>
              <a:spLocks noChangeArrowheads="1"/>
            </p:cNvSpPr>
            <p:nvPr/>
          </p:nvSpPr>
          <p:spPr bwMode="auto">
            <a:xfrm>
              <a:off x="1584" y="1488"/>
              <a:ext cx="144" cy="144"/>
            </a:xfrm>
            <a:prstGeom prst="rect">
              <a:avLst/>
            </a:prstGeom>
            <a:pattFill prst="smCheck">
              <a:fgClr>
                <a:schemeClr val="accent2"/>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18" name="Rectangle 66"/>
            <p:cNvSpPr>
              <a:spLocks noChangeArrowheads="1"/>
            </p:cNvSpPr>
            <p:nvPr/>
          </p:nvSpPr>
          <p:spPr bwMode="auto">
            <a:xfrm>
              <a:off x="1776" y="1488"/>
              <a:ext cx="144" cy="144"/>
            </a:xfrm>
            <a:prstGeom prst="rect">
              <a:avLst/>
            </a:prstGeom>
            <a:pattFill prst="smCheck">
              <a:fgClr>
                <a:schemeClr val="accent2"/>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19" name="Rectangle 67"/>
            <p:cNvSpPr>
              <a:spLocks noChangeArrowheads="1"/>
            </p:cNvSpPr>
            <p:nvPr/>
          </p:nvSpPr>
          <p:spPr bwMode="auto">
            <a:xfrm>
              <a:off x="1968" y="148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20" name="Rectangle 68"/>
            <p:cNvSpPr>
              <a:spLocks noChangeArrowheads="1"/>
            </p:cNvSpPr>
            <p:nvPr/>
          </p:nvSpPr>
          <p:spPr bwMode="auto">
            <a:xfrm>
              <a:off x="2160" y="148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21" name="Rectangle 69"/>
            <p:cNvSpPr>
              <a:spLocks noChangeArrowheads="1"/>
            </p:cNvSpPr>
            <p:nvPr/>
          </p:nvSpPr>
          <p:spPr bwMode="auto">
            <a:xfrm>
              <a:off x="1584" y="1680"/>
              <a:ext cx="144" cy="144"/>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22" name="Rectangle 70"/>
            <p:cNvSpPr>
              <a:spLocks noChangeArrowheads="1"/>
            </p:cNvSpPr>
            <p:nvPr/>
          </p:nvSpPr>
          <p:spPr bwMode="auto">
            <a:xfrm>
              <a:off x="1776"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23" name="Rectangle 71"/>
            <p:cNvSpPr>
              <a:spLocks noChangeArrowheads="1"/>
            </p:cNvSpPr>
            <p:nvPr/>
          </p:nvSpPr>
          <p:spPr bwMode="auto">
            <a:xfrm>
              <a:off x="1968"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24" name="Rectangle 72"/>
            <p:cNvSpPr>
              <a:spLocks noChangeArrowheads="1"/>
            </p:cNvSpPr>
            <p:nvPr/>
          </p:nvSpPr>
          <p:spPr bwMode="auto">
            <a:xfrm>
              <a:off x="2160"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25" name="Rectangle 73"/>
            <p:cNvSpPr>
              <a:spLocks noChangeArrowheads="1"/>
            </p:cNvSpPr>
            <p:nvPr/>
          </p:nvSpPr>
          <p:spPr bwMode="auto">
            <a:xfrm>
              <a:off x="1584" y="187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26" name="Rectangle 74"/>
            <p:cNvSpPr>
              <a:spLocks noChangeArrowheads="1"/>
            </p:cNvSpPr>
            <p:nvPr/>
          </p:nvSpPr>
          <p:spPr bwMode="auto">
            <a:xfrm>
              <a:off x="1776" y="187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27" name="Rectangle 75"/>
            <p:cNvSpPr>
              <a:spLocks noChangeArrowheads="1"/>
            </p:cNvSpPr>
            <p:nvPr/>
          </p:nvSpPr>
          <p:spPr bwMode="auto">
            <a:xfrm>
              <a:off x="1968" y="187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28" name="Rectangle 76"/>
            <p:cNvSpPr>
              <a:spLocks noChangeArrowheads="1"/>
            </p:cNvSpPr>
            <p:nvPr/>
          </p:nvSpPr>
          <p:spPr bwMode="auto">
            <a:xfrm>
              <a:off x="2160" y="187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29" name="Rectangle 77"/>
            <p:cNvSpPr>
              <a:spLocks noChangeArrowheads="1"/>
            </p:cNvSpPr>
            <p:nvPr/>
          </p:nvSpPr>
          <p:spPr bwMode="auto">
            <a:xfrm>
              <a:off x="1584" y="2064"/>
              <a:ext cx="144" cy="144"/>
            </a:xfrm>
            <a:prstGeom prst="rect">
              <a:avLst/>
            </a:prstGeom>
            <a:pattFill prst="wdDnDiag">
              <a:fgClr>
                <a:srgbClr val="FF0000"/>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30" name="Rectangle 78"/>
            <p:cNvSpPr>
              <a:spLocks noChangeArrowheads="1"/>
            </p:cNvSpPr>
            <p:nvPr/>
          </p:nvSpPr>
          <p:spPr bwMode="auto">
            <a:xfrm>
              <a:off x="1776" y="2064"/>
              <a:ext cx="144" cy="144"/>
            </a:xfrm>
            <a:prstGeom prst="rect">
              <a:avLst/>
            </a:prstGeom>
            <a:pattFill prst="wdDnDiag">
              <a:fgClr>
                <a:srgbClr val="FF0000"/>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31" name="Rectangle 79" descr="Wide downward diagonal"/>
            <p:cNvSpPr>
              <a:spLocks noChangeArrowheads="1"/>
            </p:cNvSpPr>
            <p:nvPr/>
          </p:nvSpPr>
          <p:spPr bwMode="auto">
            <a:xfrm>
              <a:off x="1968" y="206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32" name="Rectangle 80"/>
            <p:cNvSpPr>
              <a:spLocks noChangeArrowheads="1"/>
            </p:cNvSpPr>
            <p:nvPr/>
          </p:nvSpPr>
          <p:spPr bwMode="auto">
            <a:xfrm>
              <a:off x="2160"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33" name="Rectangle 81"/>
            <p:cNvSpPr>
              <a:spLocks noChangeArrowheads="1"/>
            </p:cNvSpPr>
            <p:nvPr/>
          </p:nvSpPr>
          <p:spPr bwMode="auto">
            <a:xfrm>
              <a:off x="1584" y="225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34" name="Rectangle 82"/>
            <p:cNvSpPr>
              <a:spLocks noChangeArrowheads="1"/>
            </p:cNvSpPr>
            <p:nvPr/>
          </p:nvSpPr>
          <p:spPr bwMode="auto">
            <a:xfrm>
              <a:off x="1776" y="225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35" name="Rectangle 83"/>
            <p:cNvSpPr>
              <a:spLocks noChangeArrowheads="1"/>
            </p:cNvSpPr>
            <p:nvPr/>
          </p:nvSpPr>
          <p:spPr bwMode="auto">
            <a:xfrm>
              <a:off x="1968"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36" name="Rectangle 84"/>
            <p:cNvSpPr>
              <a:spLocks noChangeArrowheads="1"/>
            </p:cNvSpPr>
            <p:nvPr/>
          </p:nvSpPr>
          <p:spPr bwMode="auto">
            <a:xfrm>
              <a:off x="2160"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37" name="Rectangle 85" descr="Small checker board"/>
            <p:cNvSpPr>
              <a:spLocks noChangeArrowheads="1"/>
            </p:cNvSpPr>
            <p:nvPr/>
          </p:nvSpPr>
          <p:spPr bwMode="auto">
            <a:xfrm>
              <a:off x="1584" y="2448"/>
              <a:ext cx="144" cy="144"/>
            </a:xfrm>
            <a:prstGeom prst="rect">
              <a:avLst/>
            </a:prstGeom>
            <a:pattFill prst="smCheck">
              <a:fgClr>
                <a:schemeClr val="accent2"/>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38" name="Rectangle 86"/>
            <p:cNvSpPr>
              <a:spLocks noChangeArrowheads="1"/>
            </p:cNvSpPr>
            <p:nvPr/>
          </p:nvSpPr>
          <p:spPr bwMode="auto">
            <a:xfrm>
              <a:off x="1776"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39" name="Rectangle 87"/>
            <p:cNvSpPr>
              <a:spLocks noChangeArrowheads="1"/>
            </p:cNvSpPr>
            <p:nvPr/>
          </p:nvSpPr>
          <p:spPr bwMode="auto">
            <a:xfrm>
              <a:off x="1968"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40" name="Rectangle 88"/>
            <p:cNvSpPr>
              <a:spLocks noChangeArrowheads="1"/>
            </p:cNvSpPr>
            <p:nvPr/>
          </p:nvSpPr>
          <p:spPr bwMode="auto">
            <a:xfrm>
              <a:off x="2160"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41" name="Rectangle 89" descr="Small grid"/>
            <p:cNvSpPr>
              <a:spLocks noChangeArrowheads="1"/>
            </p:cNvSpPr>
            <p:nvPr/>
          </p:nvSpPr>
          <p:spPr bwMode="auto">
            <a:xfrm>
              <a:off x="1584" y="2640"/>
              <a:ext cx="144" cy="144"/>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42" name="Rectangle 90" descr="Small grid"/>
            <p:cNvSpPr>
              <a:spLocks noChangeArrowheads="1"/>
            </p:cNvSpPr>
            <p:nvPr/>
          </p:nvSpPr>
          <p:spPr bwMode="auto">
            <a:xfrm>
              <a:off x="1776" y="2640"/>
              <a:ext cx="144" cy="144"/>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43" name="Rectangle 91" descr="Small grid"/>
            <p:cNvSpPr>
              <a:spLocks noChangeArrowheads="1"/>
            </p:cNvSpPr>
            <p:nvPr/>
          </p:nvSpPr>
          <p:spPr bwMode="auto">
            <a:xfrm>
              <a:off x="1968" y="2640"/>
              <a:ext cx="144" cy="144"/>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44" name="Rectangle 92" descr="Small grid"/>
            <p:cNvSpPr>
              <a:spLocks noChangeArrowheads="1"/>
            </p:cNvSpPr>
            <p:nvPr/>
          </p:nvSpPr>
          <p:spPr bwMode="auto">
            <a:xfrm>
              <a:off x="2160" y="2640"/>
              <a:ext cx="144" cy="144"/>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45" name="Rectangle 93"/>
            <p:cNvSpPr>
              <a:spLocks noChangeArrowheads="1"/>
            </p:cNvSpPr>
            <p:nvPr/>
          </p:nvSpPr>
          <p:spPr bwMode="auto">
            <a:xfrm>
              <a:off x="1584" y="283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46" name="Rectangle 94"/>
            <p:cNvSpPr>
              <a:spLocks noChangeArrowheads="1"/>
            </p:cNvSpPr>
            <p:nvPr/>
          </p:nvSpPr>
          <p:spPr bwMode="auto">
            <a:xfrm>
              <a:off x="1776" y="283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47" name="Rectangle 95"/>
            <p:cNvSpPr>
              <a:spLocks noChangeArrowheads="1"/>
            </p:cNvSpPr>
            <p:nvPr/>
          </p:nvSpPr>
          <p:spPr bwMode="auto">
            <a:xfrm>
              <a:off x="1968" y="283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48" name="Rectangle 96"/>
            <p:cNvSpPr>
              <a:spLocks noChangeArrowheads="1"/>
            </p:cNvSpPr>
            <p:nvPr/>
          </p:nvSpPr>
          <p:spPr bwMode="auto">
            <a:xfrm>
              <a:off x="2160"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49" name="Rectangle 97" descr="Wide downward diagonal"/>
            <p:cNvSpPr>
              <a:spLocks noChangeArrowheads="1"/>
            </p:cNvSpPr>
            <p:nvPr/>
          </p:nvSpPr>
          <p:spPr bwMode="auto">
            <a:xfrm>
              <a:off x="1584" y="302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50" name="Rectangle 98"/>
            <p:cNvSpPr>
              <a:spLocks noChangeArrowheads="1"/>
            </p:cNvSpPr>
            <p:nvPr/>
          </p:nvSpPr>
          <p:spPr bwMode="auto">
            <a:xfrm>
              <a:off x="1776"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51" name="Rectangle 99"/>
            <p:cNvSpPr>
              <a:spLocks noChangeArrowheads="1"/>
            </p:cNvSpPr>
            <p:nvPr/>
          </p:nvSpPr>
          <p:spPr bwMode="auto">
            <a:xfrm>
              <a:off x="1968"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52" name="Rectangle 100"/>
            <p:cNvSpPr>
              <a:spLocks noChangeArrowheads="1"/>
            </p:cNvSpPr>
            <p:nvPr/>
          </p:nvSpPr>
          <p:spPr bwMode="auto">
            <a:xfrm>
              <a:off x="2160"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grpSp>
      <p:grpSp>
        <p:nvGrpSpPr>
          <p:cNvPr id="4" name="Group 101"/>
          <p:cNvGrpSpPr>
            <a:grpSpLocks/>
          </p:cNvGrpSpPr>
          <p:nvPr/>
        </p:nvGrpSpPr>
        <p:grpSpPr bwMode="auto">
          <a:xfrm>
            <a:off x="5611813" y="2071438"/>
            <a:ext cx="1143000" cy="3581400"/>
            <a:chOff x="2640" y="912"/>
            <a:chExt cx="720" cy="2256"/>
          </a:xfrm>
        </p:grpSpPr>
        <p:sp>
          <p:nvSpPr>
            <p:cNvPr id="1457254" name="Rectangle 102" descr="Wide downward diagonal"/>
            <p:cNvSpPr>
              <a:spLocks noChangeArrowheads="1"/>
            </p:cNvSpPr>
            <p:nvPr/>
          </p:nvSpPr>
          <p:spPr bwMode="auto">
            <a:xfrm>
              <a:off x="2640" y="1680"/>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55" name="Rectangle 103" descr="Wide downward diagonal"/>
            <p:cNvSpPr>
              <a:spLocks noChangeArrowheads="1"/>
            </p:cNvSpPr>
            <p:nvPr/>
          </p:nvSpPr>
          <p:spPr bwMode="auto">
            <a:xfrm>
              <a:off x="2832" y="1680"/>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56" name="Rectangle 104"/>
            <p:cNvSpPr>
              <a:spLocks noChangeArrowheads="1"/>
            </p:cNvSpPr>
            <p:nvPr/>
          </p:nvSpPr>
          <p:spPr bwMode="auto">
            <a:xfrm>
              <a:off x="3024"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57" name="Rectangle 105"/>
            <p:cNvSpPr>
              <a:spLocks noChangeArrowheads="1"/>
            </p:cNvSpPr>
            <p:nvPr/>
          </p:nvSpPr>
          <p:spPr bwMode="auto">
            <a:xfrm>
              <a:off x="3216"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58" name="Rectangle 106" descr="Wide downward diagonal"/>
            <p:cNvSpPr>
              <a:spLocks noChangeArrowheads="1"/>
            </p:cNvSpPr>
            <p:nvPr/>
          </p:nvSpPr>
          <p:spPr bwMode="auto">
            <a:xfrm>
              <a:off x="2640" y="187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59" name="Rectangle 107" descr="Wide downward diagonal"/>
            <p:cNvSpPr>
              <a:spLocks noChangeArrowheads="1"/>
            </p:cNvSpPr>
            <p:nvPr/>
          </p:nvSpPr>
          <p:spPr bwMode="auto">
            <a:xfrm>
              <a:off x="2832" y="187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60" name="Rectangle 108" descr="Wide downward diagonal"/>
            <p:cNvSpPr>
              <a:spLocks noChangeArrowheads="1"/>
            </p:cNvSpPr>
            <p:nvPr/>
          </p:nvSpPr>
          <p:spPr bwMode="auto">
            <a:xfrm>
              <a:off x="3024" y="187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61" name="Rectangle 109"/>
            <p:cNvSpPr>
              <a:spLocks noChangeArrowheads="1"/>
            </p:cNvSpPr>
            <p:nvPr/>
          </p:nvSpPr>
          <p:spPr bwMode="auto">
            <a:xfrm>
              <a:off x="3216"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62" name="Rectangle 110"/>
            <p:cNvSpPr>
              <a:spLocks noChangeArrowheads="1"/>
            </p:cNvSpPr>
            <p:nvPr/>
          </p:nvSpPr>
          <p:spPr bwMode="auto">
            <a:xfrm>
              <a:off x="2640" y="2064"/>
              <a:ext cx="144" cy="144"/>
            </a:xfrm>
            <a:prstGeom prst="rect">
              <a:avLst/>
            </a:prstGeom>
            <a:pattFill prst="wdDnDiag">
              <a:fgClr>
                <a:srgbClr val="FF0000"/>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63" name="Rectangle 111"/>
            <p:cNvSpPr>
              <a:spLocks noChangeArrowheads="1"/>
            </p:cNvSpPr>
            <p:nvPr/>
          </p:nvSpPr>
          <p:spPr bwMode="auto">
            <a:xfrm>
              <a:off x="2832" y="2064"/>
              <a:ext cx="144" cy="144"/>
            </a:xfrm>
            <a:prstGeom prst="rect">
              <a:avLst/>
            </a:prstGeom>
            <a:pattFill prst="wdDnDiag">
              <a:fgClr>
                <a:srgbClr val="FF0000"/>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64" name="Rectangle 112" descr="Wide downward diagonal"/>
            <p:cNvSpPr>
              <a:spLocks noChangeArrowheads="1"/>
            </p:cNvSpPr>
            <p:nvPr/>
          </p:nvSpPr>
          <p:spPr bwMode="auto">
            <a:xfrm>
              <a:off x="3024" y="206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65" name="Rectangle 113"/>
            <p:cNvSpPr>
              <a:spLocks noChangeArrowheads="1"/>
            </p:cNvSpPr>
            <p:nvPr/>
          </p:nvSpPr>
          <p:spPr bwMode="auto">
            <a:xfrm>
              <a:off x="3216"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66" name="Rectangle 114"/>
            <p:cNvSpPr>
              <a:spLocks noChangeArrowheads="1"/>
            </p:cNvSpPr>
            <p:nvPr/>
          </p:nvSpPr>
          <p:spPr bwMode="auto">
            <a:xfrm>
              <a:off x="2640" y="225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67" name="Rectangle 115"/>
            <p:cNvSpPr>
              <a:spLocks noChangeArrowheads="1"/>
            </p:cNvSpPr>
            <p:nvPr/>
          </p:nvSpPr>
          <p:spPr bwMode="auto">
            <a:xfrm>
              <a:off x="2832" y="2256"/>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68" name="Rectangle 116"/>
            <p:cNvSpPr>
              <a:spLocks noChangeArrowheads="1"/>
            </p:cNvSpPr>
            <p:nvPr/>
          </p:nvSpPr>
          <p:spPr bwMode="auto">
            <a:xfrm>
              <a:off x="3024"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69" name="Rectangle 117"/>
            <p:cNvSpPr>
              <a:spLocks noChangeArrowheads="1"/>
            </p:cNvSpPr>
            <p:nvPr/>
          </p:nvSpPr>
          <p:spPr bwMode="auto">
            <a:xfrm>
              <a:off x="3216" y="225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70" name="Rectangle 118"/>
            <p:cNvSpPr>
              <a:spLocks noChangeArrowheads="1"/>
            </p:cNvSpPr>
            <p:nvPr/>
          </p:nvSpPr>
          <p:spPr bwMode="auto">
            <a:xfrm>
              <a:off x="2640" y="2448"/>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1" name="Rectangle 119"/>
            <p:cNvSpPr>
              <a:spLocks noChangeArrowheads="1"/>
            </p:cNvSpPr>
            <p:nvPr/>
          </p:nvSpPr>
          <p:spPr bwMode="auto">
            <a:xfrm>
              <a:off x="2832" y="2448"/>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2" name="Rectangle 120"/>
            <p:cNvSpPr>
              <a:spLocks noChangeArrowheads="1"/>
            </p:cNvSpPr>
            <p:nvPr/>
          </p:nvSpPr>
          <p:spPr bwMode="auto">
            <a:xfrm>
              <a:off x="3024"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73" name="Rectangle 121"/>
            <p:cNvSpPr>
              <a:spLocks noChangeArrowheads="1"/>
            </p:cNvSpPr>
            <p:nvPr/>
          </p:nvSpPr>
          <p:spPr bwMode="auto">
            <a:xfrm>
              <a:off x="3216"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74" name="Rectangle 122"/>
            <p:cNvSpPr>
              <a:spLocks noChangeArrowheads="1"/>
            </p:cNvSpPr>
            <p:nvPr/>
          </p:nvSpPr>
          <p:spPr bwMode="auto">
            <a:xfrm>
              <a:off x="2640" y="2640"/>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5" name="Rectangle 123"/>
            <p:cNvSpPr>
              <a:spLocks noChangeArrowheads="1"/>
            </p:cNvSpPr>
            <p:nvPr/>
          </p:nvSpPr>
          <p:spPr bwMode="auto">
            <a:xfrm>
              <a:off x="2832" y="2640"/>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6" name="Rectangle 124"/>
            <p:cNvSpPr>
              <a:spLocks noChangeArrowheads="1"/>
            </p:cNvSpPr>
            <p:nvPr/>
          </p:nvSpPr>
          <p:spPr bwMode="auto">
            <a:xfrm>
              <a:off x="3024" y="2640"/>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7" name="Rectangle 125"/>
            <p:cNvSpPr>
              <a:spLocks noChangeArrowheads="1"/>
            </p:cNvSpPr>
            <p:nvPr/>
          </p:nvSpPr>
          <p:spPr bwMode="auto">
            <a:xfrm>
              <a:off x="3216" y="2640"/>
              <a:ext cx="144" cy="144"/>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78" name="Rectangle 126" descr="Small checker board"/>
            <p:cNvSpPr>
              <a:spLocks noChangeArrowheads="1"/>
            </p:cNvSpPr>
            <p:nvPr/>
          </p:nvSpPr>
          <p:spPr bwMode="auto">
            <a:xfrm>
              <a:off x="2640" y="2832"/>
              <a:ext cx="144" cy="144"/>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79" name="Rectangle 127" descr="Small checker board"/>
            <p:cNvSpPr>
              <a:spLocks noChangeArrowheads="1"/>
            </p:cNvSpPr>
            <p:nvPr/>
          </p:nvSpPr>
          <p:spPr bwMode="auto">
            <a:xfrm>
              <a:off x="2832" y="2832"/>
              <a:ext cx="144" cy="144"/>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80" name="Rectangle 128"/>
            <p:cNvSpPr>
              <a:spLocks noChangeArrowheads="1"/>
            </p:cNvSpPr>
            <p:nvPr/>
          </p:nvSpPr>
          <p:spPr bwMode="auto">
            <a:xfrm>
              <a:off x="3024"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1" name="Rectangle 129"/>
            <p:cNvSpPr>
              <a:spLocks noChangeArrowheads="1"/>
            </p:cNvSpPr>
            <p:nvPr/>
          </p:nvSpPr>
          <p:spPr bwMode="auto">
            <a:xfrm>
              <a:off x="3216"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2" name="Rectangle 130" descr="Small checker board"/>
            <p:cNvSpPr>
              <a:spLocks noChangeArrowheads="1"/>
            </p:cNvSpPr>
            <p:nvPr/>
          </p:nvSpPr>
          <p:spPr bwMode="auto">
            <a:xfrm>
              <a:off x="2640" y="3024"/>
              <a:ext cx="144" cy="144"/>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283" name="Rectangle 131"/>
            <p:cNvSpPr>
              <a:spLocks noChangeArrowheads="1"/>
            </p:cNvSpPr>
            <p:nvPr/>
          </p:nvSpPr>
          <p:spPr bwMode="auto">
            <a:xfrm>
              <a:off x="2832"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4" name="Rectangle 132"/>
            <p:cNvSpPr>
              <a:spLocks noChangeArrowheads="1"/>
            </p:cNvSpPr>
            <p:nvPr/>
          </p:nvSpPr>
          <p:spPr bwMode="auto">
            <a:xfrm>
              <a:off x="3024"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5" name="Rectangle 133"/>
            <p:cNvSpPr>
              <a:spLocks noChangeArrowheads="1"/>
            </p:cNvSpPr>
            <p:nvPr/>
          </p:nvSpPr>
          <p:spPr bwMode="auto">
            <a:xfrm>
              <a:off x="3216"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6" name="Rectangle 134"/>
            <p:cNvSpPr>
              <a:spLocks noChangeArrowheads="1"/>
            </p:cNvSpPr>
            <p:nvPr/>
          </p:nvSpPr>
          <p:spPr bwMode="auto">
            <a:xfrm>
              <a:off x="2640"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87" name="Rectangle 135"/>
            <p:cNvSpPr>
              <a:spLocks noChangeArrowheads="1"/>
            </p:cNvSpPr>
            <p:nvPr/>
          </p:nvSpPr>
          <p:spPr bwMode="auto">
            <a:xfrm>
              <a:off x="2832"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88" name="Rectangle 136"/>
            <p:cNvSpPr>
              <a:spLocks noChangeArrowheads="1"/>
            </p:cNvSpPr>
            <p:nvPr/>
          </p:nvSpPr>
          <p:spPr bwMode="auto">
            <a:xfrm>
              <a:off x="3024"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89" name="Rectangle 137"/>
            <p:cNvSpPr>
              <a:spLocks noChangeArrowheads="1"/>
            </p:cNvSpPr>
            <p:nvPr/>
          </p:nvSpPr>
          <p:spPr bwMode="auto">
            <a:xfrm>
              <a:off x="3216" y="91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0" name="Rectangle 138"/>
            <p:cNvSpPr>
              <a:spLocks noChangeArrowheads="1"/>
            </p:cNvSpPr>
            <p:nvPr/>
          </p:nvSpPr>
          <p:spPr bwMode="auto">
            <a:xfrm>
              <a:off x="2640" y="110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91" name="Rectangle 139"/>
            <p:cNvSpPr>
              <a:spLocks noChangeArrowheads="1"/>
            </p:cNvSpPr>
            <p:nvPr/>
          </p:nvSpPr>
          <p:spPr bwMode="auto">
            <a:xfrm>
              <a:off x="2832"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2" name="Rectangle 140"/>
            <p:cNvSpPr>
              <a:spLocks noChangeArrowheads="1"/>
            </p:cNvSpPr>
            <p:nvPr/>
          </p:nvSpPr>
          <p:spPr bwMode="auto">
            <a:xfrm>
              <a:off x="3024"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3" name="Rectangle 141"/>
            <p:cNvSpPr>
              <a:spLocks noChangeArrowheads="1"/>
            </p:cNvSpPr>
            <p:nvPr/>
          </p:nvSpPr>
          <p:spPr bwMode="auto">
            <a:xfrm>
              <a:off x="3216"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4" name="Rectangle 142"/>
            <p:cNvSpPr>
              <a:spLocks noChangeArrowheads="1"/>
            </p:cNvSpPr>
            <p:nvPr/>
          </p:nvSpPr>
          <p:spPr bwMode="auto">
            <a:xfrm>
              <a:off x="2640"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95" name="Rectangle 143"/>
            <p:cNvSpPr>
              <a:spLocks noChangeArrowheads="1"/>
            </p:cNvSpPr>
            <p:nvPr/>
          </p:nvSpPr>
          <p:spPr bwMode="auto">
            <a:xfrm>
              <a:off x="2832"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96" name="Rectangle 144"/>
            <p:cNvSpPr>
              <a:spLocks noChangeArrowheads="1"/>
            </p:cNvSpPr>
            <p:nvPr/>
          </p:nvSpPr>
          <p:spPr bwMode="auto">
            <a:xfrm>
              <a:off x="3024"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7" name="Rectangle 145"/>
            <p:cNvSpPr>
              <a:spLocks noChangeArrowheads="1"/>
            </p:cNvSpPr>
            <p:nvPr/>
          </p:nvSpPr>
          <p:spPr bwMode="auto">
            <a:xfrm>
              <a:off x="3216"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298" name="Rectangle 146"/>
            <p:cNvSpPr>
              <a:spLocks noChangeArrowheads="1"/>
            </p:cNvSpPr>
            <p:nvPr/>
          </p:nvSpPr>
          <p:spPr bwMode="auto">
            <a:xfrm>
              <a:off x="2640"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299" name="Rectangle 147"/>
            <p:cNvSpPr>
              <a:spLocks noChangeArrowheads="1"/>
            </p:cNvSpPr>
            <p:nvPr/>
          </p:nvSpPr>
          <p:spPr bwMode="auto">
            <a:xfrm>
              <a:off x="2832"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00" name="Rectangle 148"/>
            <p:cNvSpPr>
              <a:spLocks noChangeArrowheads="1"/>
            </p:cNvSpPr>
            <p:nvPr/>
          </p:nvSpPr>
          <p:spPr bwMode="auto">
            <a:xfrm>
              <a:off x="3024"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01" name="Rectangle 149"/>
            <p:cNvSpPr>
              <a:spLocks noChangeArrowheads="1"/>
            </p:cNvSpPr>
            <p:nvPr/>
          </p:nvSpPr>
          <p:spPr bwMode="auto">
            <a:xfrm>
              <a:off x="3216" y="148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grpSp>
      <p:grpSp>
        <p:nvGrpSpPr>
          <p:cNvPr id="5" name="Group 150"/>
          <p:cNvGrpSpPr>
            <a:grpSpLocks/>
          </p:cNvGrpSpPr>
          <p:nvPr/>
        </p:nvGrpSpPr>
        <p:grpSpPr bwMode="auto">
          <a:xfrm>
            <a:off x="7212013" y="1919038"/>
            <a:ext cx="1143000" cy="3962400"/>
            <a:chOff x="3696" y="816"/>
            <a:chExt cx="720" cy="2496"/>
          </a:xfrm>
        </p:grpSpPr>
        <p:sp>
          <p:nvSpPr>
            <p:cNvPr id="1457303" name="Rectangle 151"/>
            <p:cNvSpPr>
              <a:spLocks noChangeArrowheads="1"/>
            </p:cNvSpPr>
            <p:nvPr/>
          </p:nvSpPr>
          <p:spPr bwMode="auto">
            <a:xfrm>
              <a:off x="3696" y="1680"/>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04" name="Rectangle 152"/>
            <p:cNvSpPr>
              <a:spLocks noChangeArrowheads="1"/>
            </p:cNvSpPr>
            <p:nvPr/>
          </p:nvSpPr>
          <p:spPr bwMode="auto">
            <a:xfrm>
              <a:off x="3888"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05" name="Rectangle 153"/>
            <p:cNvSpPr>
              <a:spLocks noChangeArrowheads="1"/>
            </p:cNvSpPr>
            <p:nvPr/>
          </p:nvSpPr>
          <p:spPr bwMode="auto">
            <a:xfrm>
              <a:off x="4080"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06" name="Rectangle 154"/>
            <p:cNvSpPr>
              <a:spLocks noChangeArrowheads="1"/>
            </p:cNvSpPr>
            <p:nvPr/>
          </p:nvSpPr>
          <p:spPr bwMode="auto">
            <a:xfrm>
              <a:off x="4272" y="168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07" name="Rectangle 155"/>
            <p:cNvSpPr>
              <a:spLocks noChangeArrowheads="1"/>
            </p:cNvSpPr>
            <p:nvPr/>
          </p:nvSpPr>
          <p:spPr bwMode="auto">
            <a:xfrm>
              <a:off x="3696"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08" name="Rectangle 156"/>
            <p:cNvSpPr>
              <a:spLocks noChangeArrowheads="1"/>
            </p:cNvSpPr>
            <p:nvPr/>
          </p:nvSpPr>
          <p:spPr bwMode="auto">
            <a:xfrm>
              <a:off x="3888" y="187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09" name="Rectangle 157" descr="Wide downward diagonal"/>
            <p:cNvSpPr>
              <a:spLocks noChangeArrowheads="1"/>
            </p:cNvSpPr>
            <p:nvPr/>
          </p:nvSpPr>
          <p:spPr bwMode="auto">
            <a:xfrm>
              <a:off x="4080" y="187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10" name="Rectangle 158" descr="Wide downward diagonal"/>
            <p:cNvSpPr>
              <a:spLocks noChangeArrowheads="1"/>
            </p:cNvSpPr>
            <p:nvPr/>
          </p:nvSpPr>
          <p:spPr bwMode="auto">
            <a:xfrm>
              <a:off x="4272" y="187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11" name="Rectangle 159"/>
            <p:cNvSpPr>
              <a:spLocks noChangeArrowheads="1"/>
            </p:cNvSpPr>
            <p:nvPr/>
          </p:nvSpPr>
          <p:spPr bwMode="auto">
            <a:xfrm>
              <a:off x="3696"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12" name="Rectangle 160"/>
            <p:cNvSpPr>
              <a:spLocks noChangeArrowheads="1"/>
            </p:cNvSpPr>
            <p:nvPr/>
          </p:nvSpPr>
          <p:spPr bwMode="auto">
            <a:xfrm>
              <a:off x="3888"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13" name="Rectangle 161" descr="Wide downward diagonal"/>
            <p:cNvSpPr>
              <a:spLocks noChangeArrowheads="1"/>
            </p:cNvSpPr>
            <p:nvPr/>
          </p:nvSpPr>
          <p:spPr bwMode="auto">
            <a:xfrm>
              <a:off x="4080" y="206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14" name="Rectangle 162"/>
            <p:cNvSpPr>
              <a:spLocks noChangeArrowheads="1"/>
            </p:cNvSpPr>
            <p:nvPr/>
          </p:nvSpPr>
          <p:spPr bwMode="auto">
            <a:xfrm>
              <a:off x="4272" y="206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15" name="Rectangle 163"/>
            <p:cNvSpPr>
              <a:spLocks noChangeArrowheads="1"/>
            </p:cNvSpPr>
            <p:nvPr/>
          </p:nvSpPr>
          <p:spPr bwMode="auto">
            <a:xfrm>
              <a:off x="3696" y="225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16" name="Rectangle 164"/>
            <p:cNvSpPr>
              <a:spLocks noChangeArrowheads="1"/>
            </p:cNvSpPr>
            <p:nvPr/>
          </p:nvSpPr>
          <p:spPr bwMode="auto">
            <a:xfrm>
              <a:off x="3888" y="225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17" name="Rectangle 165" descr="Wide downward diagonal"/>
            <p:cNvSpPr>
              <a:spLocks noChangeArrowheads="1"/>
            </p:cNvSpPr>
            <p:nvPr/>
          </p:nvSpPr>
          <p:spPr bwMode="auto">
            <a:xfrm>
              <a:off x="4080" y="2256"/>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18" name="Rectangle 166" descr="Wide downward diagonal"/>
            <p:cNvSpPr>
              <a:spLocks noChangeArrowheads="1"/>
            </p:cNvSpPr>
            <p:nvPr/>
          </p:nvSpPr>
          <p:spPr bwMode="auto">
            <a:xfrm>
              <a:off x="4272" y="2256"/>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19" name="Rectangle 167"/>
            <p:cNvSpPr>
              <a:spLocks noChangeArrowheads="1"/>
            </p:cNvSpPr>
            <p:nvPr/>
          </p:nvSpPr>
          <p:spPr bwMode="auto">
            <a:xfrm>
              <a:off x="3696" y="244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20" name="Rectangle 168"/>
            <p:cNvSpPr>
              <a:spLocks noChangeArrowheads="1"/>
            </p:cNvSpPr>
            <p:nvPr/>
          </p:nvSpPr>
          <p:spPr bwMode="auto">
            <a:xfrm>
              <a:off x="3888"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21" name="Rectangle 169" descr="Wide downward diagonal"/>
            <p:cNvSpPr>
              <a:spLocks noChangeArrowheads="1"/>
            </p:cNvSpPr>
            <p:nvPr/>
          </p:nvSpPr>
          <p:spPr bwMode="auto">
            <a:xfrm>
              <a:off x="4080" y="2448"/>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22" name="Rectangle 170"/>
            <p:cNvSpPr>
              <a:spLocks noChangeArrowheads="1"/>
            </p:cNvSpPr>
            <p:nvPr/>
          </p:nvSpPr>
          <p:spPr bwMode="auto">
            <a:xfrm>
              <a:off x="4272" y="244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23" name="Rectangle 171"/>
            <p:cNvSpPr>
              <a:spLocks noChangeArrowheads="1"/>
            </p:cNvSpPr>
            <p:nvPr/>
          </p:nvSpPr>
          <p:spPr bwMode="auto">
            <a:xfrm>
              <a:off x="3696" y="2640"/>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24" name="Rectangle 172"/>
            <p:cNvSpPr>
              <a:spLocks noChangeArrowheads="1"/>
            </p:cNvSpPr>
            <p:nvPr/>
          </p:nvSpPr>
          <p:spPr bwMode="auto">
            <a:xfrm>
              <a:off x="3888" y="2640"/>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25" name="Rectangle 173"/>
            <p:cNvSpPr>
              <a:spLocks noChangeArrowheads="1"/>
            </p:cNvSpPr>
            <p:nvPr/>
          </p:nvSpPr>
          <p:spPr bwMode="auto">
            <a:xfrm>
              <a:off x="4080"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26" name="Rectangle 174"/>
            <p:cNvSpPr>
              <a:spLocks noChangeArrowheads="1"/>
            </p:cNvSpPr>
            <p:nvPr/>
          </p:nvSpPr>
          <p:spPr bwMode="auto">
            <a:xfrm>
              <a:off x="4272" y="2640"/>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27" name="Rectangle 175"/>
            <p:cNvSpPr>
              <a:spLocks noChangeArrowheads="1"/>
            </p:cNvSpPr>
            <p:nvPr/>
          </p:nvSpPr>
          <p:spPr bwMode="auto">
            <a:xfrm>
              <a:off x="3696" y="283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28" name="Rectangle 176"/>
            <p:cNvSpPr>
              <a:spLocks noChangeArrowheads="1"/>
            </p:cNvSpPr>
            <p:nvPr/>
          </p:nvSpPr>
          <p:spPr bwMode="auto">
            <a:xfrm>
              <a:off x="3888"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29" name="Rectangle 177" descr="Wide downward diagonal"/>
            <p:cNvSpPr>
              <a:spLocks noChangeArrowheads="1"/>
            </p:cNvSpPr>
            <p:nvPr/>
          </p:nvSpPr>
          <p:spPr bwMode="auto">
            <a:xfrm>
              <a:off x="4080" y="283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30" name="Rectangle 178"/>
            <p:cNvSpPr>
              <a:spLocks noChangeArrowheads="1"/>
            </p:cNvSpPr>
            <p:nvPr/>
          </p:nvSpPr>
          <p:spPr bwMode="auto">
            <a:xfrm>
              <a:off x="4272" y="2832"/>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31" name="Rectangle 179"/>
            <p:cNvSpPr>
              <a:spLocks noChangeArrowheads="1"/>
            </p:cNvSpPr>
            <p:nvPr/>
          </p:nvSpPr>
          <p:spPr bwMode="auto">
            <a:xfrm>
              <a:off x="3696"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32" name="Rectangle 180"/>
            <p:cNvSpPr>
              <a:spLocks noChangeArrowheads="1"/>
            </p:cNvSpPr>
            <p:nvPr/>
          </p:nvSpPr>
          <p:spPr bwMode="auto">
            <a:xfrm>
              <a:off x="3888" y="302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33" name="Rectangle 181" descr="Wide downward diagonal"/>
            <p:cNvSpPr>
              <a:spLocks noChangeArrowheads="1"/>
            </p:cNvSpPr>
            <p:nvPr/>
          </p:nvSpPr>
          <p:spPr bwMode="auto">
            <a:xfrm>
              <a:off x="4080" y="302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34" name="Rectangle 182" descr="Wide downward diagonal"/>
            <p:cNvSpPr>
              <a:spLocks noChangeArrowheads="1"/>
            </p:cNvSpPr>
            <p:nvPr/>
          </p:nvSpPr>
          <p:spPr bwMode="auto">
            <a:xfrm>
              <a:off x="4272" y="302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35" name="Rectangle 183"/>
            <p:cNvSpPr>
              <a:spLocks noChangeArrowheads="1"/>
            </p:cNvSpPr>
            <p:nvPr/>
          </p:nvSpPr>
          <p:spPr bwMode="auto">
            <a:xfrm>
              <a:off x="3696"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36" name="Rectangle 184"/>
            <p:cNvSpPr>
              <a:spLocks noChangeArrowheads="1"/>
            </p:cNvSpPr>
            <p:nvPr/>
          </p:nvSpPr>
          <p:spPr bwMode="auto">
            <a:xfrm>
              <a:off x="3888" y="912"/>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37" name="Rectangle 185" descr="Wide downward diagonal"/>
            <p:cNvSpPr>
              <a:spLocks noChangeArrowheads="1"/>
            </p:cNvSpPr>
            <p:nvPr/>
          </p:nvSpPr>
          <p:spPr bwMode="auto">
            <a:xfrm>
              <a:off x="4080" y="91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38" name="Rectangle 186" descr="Wide downward diagonal"/>
            <p:cNvSpPr>
              <a:spLocks noChangeArrowheads="1"/>
            </p:cNvSpPr>
            <p:nvPr/>
          </p:nvSpPr>
          <p:spPr bwMode="auto">
            <a:xfrm>
              <a:off x="4272" y="912"/>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39" name="Rectangle 187"/>
            <p:cNvSpPr>
              <a:spLocks noChangeArrowheads="1"/>
            </p:cNvSpPr>
            <p:nvPr/>
          </p:nvSpPr>
          <p:spPr bwMode="auto">
            <a:xfrm>
              <a:off x="3696" y="1104"/>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40" name="Rectangle 188"/>
            <p:cNvSpPr>
              <a:spLocks noChangeArrowheads="1"/>
            </p:cNvSpPr>
            <p:nvPr/>
          </p:nvSpPr>
          <p:spPr bwMode="auto">
            <a:xfrm>
              <a:off x="3888" y="1104"/>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41" name="Rectangle 189" descr="Wide downward diagonal"/>
            <p:cNvSpPr>
              <a:spLocks noChangeArrowheads="1"/>
            </p:cNvSpPr>
            <p:nvPr/>
          </p:nvSpPr>
          <p:spPr bwMode="auto">
            <a:xfrm>
              <a:off x="4080" y="110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42" name="Rectangle 190" descr="Wide downward diagonal"/>
            <p:cNvSpPr>
              <a:spLocks noChangeArrowheads="1"/>
            </p:cNvSpPr>
            <p:nvPr/>
          </p:nvSpPr>
          <p:spPr bwMode="auto">
            <a:xfrm>
              <a:off x="4272" y="1104"/>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43" name="Rectangle 191"/>
            <p:cNvSpPr>
              <a:spLocks noChangeArrowheads="1"/>
            </p:cNvSpPr>
            <p:nvPr/>
          </p:nvSpPr>
          <p:spPr bwMode="auto">
            <a:xfrm>
              <a:off x="3696"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44" name="Rectangle 192"/>
            <p:cNvSpPr>
              <a:spLocks noChangeArrowheads="1"/>
            </p:cNvSpPr>
            <p:nvPr/>
          </p:nvSpPr>
          <p:spPr bwMode="auto">
            <a:xfrm>
              <a:off x="3888" y="1296"/>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45" name="Rectangle 193" descr="Wide downward diagonal"/>
            <p:cNvSpPr>
              <a:spLocks noChangeArrowheads="1"/>
            </p:cNvSpPr>
            <p:nvPr/>
          </p:nvSpPr>
          <p:spPr bwMode="auto">
            <a:xfrm>
              <a:off x="4080" y="1296"/>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46" name="Rectangle 194"/>
            <p:cNvSpPr>
              <a:spLocks noChangeArrowheads="1"/>
            </p:cNvSpPr>
            <p:nvPr/>
          </p:nvSpPr>
          <p:spPr bwMode="auto">
            <a:xfrm>
              <a:off x="4272" y="1296"/>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47" name="Rectangle 195"/>
            <p:cNvSpPr>
              <a:spLocks noChangeArrowheads="1"/>
            </p:cNvSpPr>
            <p:nvPr/>
          </p:nvSpPr>
          <p:spPr bwMode="auto">
            <a:xfrm>
              <a:off x="3696"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48" name="Rectangle 196"/>
            <p:cNvSpPr>
              <a:spLocks noChangeArrowheads="1"/>
            </p:cNvSpPr>
            <p:nvPr/>
          </p:nvSpPr>
          <p:spPr bwMode="auto">
            <a:xfrm>
              <a:off x="3888" y="1488"/>
              <a:ext cx="144" cy="144"/>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49" name="Rectangle 197" descr="Wide downward diagonal"/>
            <p:cNvSpPr>
              <a:spLocks noChangeArrowheads="1"/>
            </p:cNvSpPr>
            <p:nvPr/>
          </p:nvSpPr>
          <p:spPr bwMode="auto">
            <a:xfrm>
              <a:off x="4080" y="1488"/>
              <a:ext cx="144" cy="144"/>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50" name="Rectangle 198"/>
            <p:cNvSpPr>
              <a:spLocks noChangeArrowheads="1"/>
            </p:cNvSpPr>
            <p:nvPr/>
          </p:nvSpPr>
          <p:spPr bwMode="auto">
            <a:xfrm>
              <a:off x="4272" y="1488"/>
              <a:ext cx="144" cy="144"/>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51" name="Line 199"/>
            <p:cNvSpPr>
              <a:spLocks noChangeShapeType="1"/>
            </p:cNvSpPr>
            <p:nvPr/>
          </p:nvSpPr>
          <p:spPr bwMode="auto">
            <a:xfrm>
              <a:off x="4056" y="816"/>
              <a:ext cx="0" cy="2496"/>
            </a:xfrm>
            <a:prstGeom prst="line">
              <a:avLst/>
            </a:prstGeom>
            <a:noFill/>
            <a:ln w="38100">
              <a:solidFill>
                <a:schemeClr val="tx1"/>
              </a:solidFill>
              <a:prstDash val="dash"/>
              <a:round/>
              <a:headEnd/>
              <a:tailEnd/>
            </a:ln>
            <a:effectLst/>
          </p:spPr>
          <p:txBody>
            <a:bodyPr>
              <a:prstTxWarp prst="textNoShape">
                <a:avLst/>
              </a:prstTxWarp>
            </a:bodyPr>
            <a:lstStyle/>
            <a:p>
              <a:endParaRPr lang="en-US"/>
            </a:p>
          </p:txBody>
        </p:sp>
      </p:grpSp>
      <p:sp>
        <p:nvSpPr>
          <p:cNvPr id="1457352" name="Rectangle 200" descr="Wide downward diagonal"/>
          <p:cNvSpPr>
            <a:spLocks noChangeArrowheads="1"/>
          </p:cNvSpPr>
          <p:nvPr/>
        </p:nvSpPr>
        <p:spPr bwMode="auto">
          <a:xfrm>
            <a:off x="8812213" y="32906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53" name="Rectangle 201" descr="Small checker board"/>
          <p:cNvSpPr>
            <a:spLocks noChangeArrowheads="1"/>
          </p:cNvSpPr>
          <p:nvPr/>
        </p:nvSpPr>
        <p:spPr bwMode="auto">
          <a:xfrm>
            <a:off x="9117013" y="32906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54" name="Rectangle 202" descr="Small checker board"/>
          <p:cNvSpPr>
            <a:spLocks noChangeArrowheads="1"/>
          </p:cNvSpPr>
          <p:nvPr/>
        </p:nvSpPr>
        <p:spPr bwMode="auto">
          <a:xfrm>
            <a:off x="9421813" y="32906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55" name="Rectangle 203" descr="Small grid"/>
          <p:cNvSpPr>
            <a:spLocks noChangeArrowheads="1"/>
          </p:cNvSpPr>
          <p:nvPr/>
        </p:nvSpPr>
        <p:spPr bwMode="auto">
          <a:xfrm>
            <a:off x="9726613" y="3290638"/>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56" name="Rectangle 204"/>
          <p:cNvSpPr>
            <a:spLocks noChangeArrowheads="1"/>
          </p:cNvSpPr>
          <p:nvPr/>
        </p:nvSpPr>
        <p:spPr bwMode="auto">
          <a:xfrm>
            <a:off x="8812213" y="3595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57" name="Rectangle 205"/>
          <p:cNvSpPr>
            <a:spLocks noChangeArrowheads="1"/>
          </p:cNvSpPr>
          <p:nvPr/>
        </p:nvSpPr>
        <p:spPr bwMode="auto">
          <a:xfrm>
            <a:off x="9117013" y="3595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58" name="Rectangle 206"/>
          <p:cNvSpPr>
            <a:spLocks noChangeArrowheads="1"/>
          </p:cNvSpPr>
          <p:nvPr/>
        </p:nvSpPr>
        <p:spPr bwMode="auto">
          <a:xfrm>
            <a:off x="9421813" y="3595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59" name="Rectangle 207"/>
          <p:cNvSpPr>
            <a:spLocks noChangeArrowheads="1"/>
          </p:cNvSpPr>
          <p:nvPr/>
        </p:nvSpPr>
        <p:spPr bwMode="auto">
          <a:xfrm>
            <a:off x="9726613" y="3595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0" name="Rectangle 208"/>
          <p:cNvSpPr>
            <a:spLocks noChangeArrowheads="1"/>
          </p:cNvSpPr>
          <p:nvPr/>
        </p:nvSpPr>
        <p:spPr bwMode="auto">
          <a:xfrm>
            <a:off x="8812213" y="39002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1" name="Rectangle 209"/>
          <p:cNvSpPr>
            <a:spLocks noChangeArrowheads="1"/>
          </p:cNvSpPr>
          <p:nvPr/>
        </p:nvSpPr>
        <p:spPr bwMode="auto">
          <a:xfrm>
            <a:off x="9117013" y="39002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2" name="Rectangle 210" descr="Small checker board"/>
          <p:cNvSpPr>
            <a:spLocks noChangeArrowheads="1"/>
          </p:cNvSpPr>
          <p:nvPr/>
        </p:nvSpPr>
        <p:spPr bwMode="auto">
          <a:xfrm>
            <a:off x="9421813" y="39002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63" name="Rectangle 211"/>
          <p:cNvSpPr>
            <a:spLocks noChangeArrowheads="1"/>
          </p:cNvSpPr>
          <p:nvPr/>
        </p:nvSpPr>
        <p:spPr bwMode="auto">
          <a:xfrm>
            <a:off x="9726613" y="39002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64" name="Rectangle 212"/>
          <p:cNvSpPr>
            <a:spLocks noChangeArrowheads="1"/>
          </p:cNvSpPr>
          <p:nvPr/>
        </p:nvSpPr>
        <p:spPr bwMode="auto">
          <a:xfrm>
            <a:off x="8812213" y="42050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5" name="Rectangle 213" descr="Wide downward diagonal"/>
          <p:cNvSpPr>
            <a:spLocks noChangeArrowheads="1"/>
          </p:cNvSpPr>
          <p:nvPr/>
        </p:nvSpPr>
        <p:spPr bwMode="auto">
          <a:xfrm>
            <a:off x="9117013" y="42050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66" name="Rectangle 214"/>
          <p:cNvSpPr>
            <a:spLocks noChangeArrowheads="1"/>
          </p:cNvSpPr>
          <p:nvPr/>
        </p:nvSpPr>
        <p:spPr bwMode="auto">
          <a:xfrm>
            <a:off x="9421813" y="42050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7" name="Rectangle 215" descr="Small checker board"/>
          <p:cNvSpPr>
            <a:spLocks noChangeArrowheads="1"/>
          </p:cNvSpPr>
          <p:nvPr/>
        </p:nvSpPr>
        <p:spPr bwMode="auto">
          <a:xfrm>
            <a:off x="9726613" y="42050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68" name="Rectangle 216"/>
          <p:cNvSpPr>
            <a:spLocks noChangeArrowheads="1"/>
          </p:cNvSpPr>
          <p:nvPr/>
        </p:nvSpPr>
        <p:spPr bwMode="auto">
          <a:xfrm>
            <a:off x="8812213" y="45098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69" name="Rectangle 217"/>
          <p:cNvSpPr>
            <a:spLocks noChangeArrowheads="1"/>
          </p:cNvSpPr>
          <p:nvPr/>
        </p:nvSpPr>
        <p:spPr bwMode="auto">
          <a:xfrm>
            <a:off x="9117013" y="45098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70" name="Rectangle 218" descr="Wide downward diagonal"/>
          <p:cNvSpPr>
            <a:spLocks noChangeArrowheads="1"/>
          </p:cNvSpPr>
          <p:nvPr/>
        </p:nvSpPr>
        <p:spPr bwMode="auto">
          <a:xfrm>
            <a:off x="9421813" y="45098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71" name="Rectangle 219"/>
          <p:cNvSpPr>
            <a:spLocks noChangeArrowheads="1"/>
          </p:cNvSpPr>
          <p:nvPr/>
        </p:nvSpPr>
        <p:spPr bwMode="auto">
          <a:xfrm>
            <a:off x="9726613" y="45098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72" name="Rectangle 220"/>
          <p:cNvSpPr>
            <a:spLocks noChangeArrowheads="1"/>
          </p:cNvSpPr>
          <p:nvPr/>
        </p:nvSpPr>
        <p:spPr bwMode="auto">
          <a:xfrm>
            <a:off x="8812213" y="48146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73" name="Rectangle 221" descr="Wide downward diagonal"/>
          <p:cNvSpPr>
            <a:spLocks noChangeArrowheads="1"/>
          </p:cNvSpPr>
          <p:nvPr/>
        </p:nvSpPr>
        <p:spPr bwMode="auto">
          <a:xfrm>
            <a:off x="9117013" y="48146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74" name="Rectangle 222" descr="Wide downward diagonal"/>
          <p:cNvSpPr>
            <a:spLocks noChangeArrowheads="1"/>
          </p:cNvSpPr>
          <p:nvPr/>
        </p:nvSpPr>
        <p:spPr bwMode="auto">
          <a:xfrm>
            <a:off x="9421813" y="48146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75" name="Rectangle 223"/>
          <p:cNvSpPr>
            <a:spLocks noChangeArrowheads="1"/>
          </p:cNvSpPr>
          <p:nvPr/>
        </p:nvSpPr>
        <p:spPr bwMode="auto">
          <a:xfrm>
            <a:off x="9726613" y="48146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76" name="Rectangle 224"/>
          <p:cNvSpPr>
            <a:spLocks noChangeArrowheads="1"/>
          </p:cNvSpPr>
          <p:nvPr/>
        </p:nvSpPr>
        <p:spPr bwMode="auto">
          <a:xfrm>
            <a:off x="8812213" y="5119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77" name="Rectangle 225" descr="Small grid"/>
          <p:cNvSpPr>
            <a:spLocks noChangeArrowheads="1"/>
          </p:cNvSpPr>
          <p:nvPr/>
        </p:nvSpPr>
        <p:spPr bwMode="auto">
          <a:xfrm>
            <a:off x="9117013" y="5119438"/>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78" name="Rectangle 226" descr="Small grid"/>
          <p:cNvSpPr>
            <a:spLocks noChangeArrowheads="1"/>
          </p:cNvSpPr>
          <p:nvPr/>
        </p:nvSpPr>
        <p:spPr bwMode="auto">
          <a:xfrm>
            <a:off x="9421813" y="5119438"/>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79" name="Rectangle 227"/>
          <p:cNvSpPr>
            <a:spLocks noChangeArrowheads="1"/>
          </p:cNvSpPr>
          <p:nvPr/>
        </p:nvSpPr>
        <p:spPr bwMode="auto">
          <a:xfrm>
            <a:off x="9726613" y="51194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80" name="Rectangle 228" descr="Wide downward diagonal"/>
          <p:cNvSpPr>
            <a:spLocks noChangeArrowheads="1"/>
          </p:cNvSpPr>
          <p:nvPr/>
        </p:nvSpPr>
        <p:spPr bwMode="auto">
          <a:xfrm>
            <a:off x="8812213" y="54242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81" name="Rectangle 229" descr="Small checker board"/>
          <p:cNvSpPr>
            <a:spLocks noChangeArrowheads="1"/>
          </p:cNvSpPr>
          <p:nvPr/>
        </p:nvSpPr>
        <p:spPr bwMode="auto">
          <a:xfrm>
            <a:off x="9117013" y="54242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82" name="Rectangle 230" descr="Small grid"/>
          <p:cNvSpPr>
            <a:spLocks noChangeArrowheads="1"/>
          </p:cNvSpPr>
          <p:nvPr/>
        </p:nvSpPr>
        <p:spPr bwMode="auto">
          <a:xfrm>
            <a:off x="9421813" y="5424238"/>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83" name="Rectangle 231"/>
          <p:cNvSpPr>
            <a:spLocks noChangeArrowheads="1"/>
          </p:cNvSpPr>
          <p:nvPr/>
        </p:nvSpPr>
        <p:spPr bwMode="auto">
          <a:xfrm>
            <a:off x="9726613" y="54242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84" name="Rectangle 232"/>
          <p:cNvSpPr>
            <a:spLocks noChangeArrowheads="1"/>
          </p:cNvSpPr>
          <p:nvPr/>
        </p:nvSpPr>
        <p:spPr bwMode="auto">
          <a:xfrm>
            <a:off x="8812213" y="2071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85" name="Rectangle 233"/>
          <p:cNvSpPr>
            <a:spLocks noChangeArrowheads="1"/>
          </p:cNvSpPr>
          <p:nvPr/>
        </p:nvSpPr>
        <p:spPr bwMode="auto">
          <a:xfrm>
            <a:off x="9117013" y="20714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86" name="Rectangle 234" descr="Wide downward diagonal"/>
          <p:cNvSpPr>
            <a:spLocks noChangeArrowheads="1"/>
          </p:cNvSpPr>
          <p:nvPr/>
        </p:nvSpPr>
        <p:spPr bwMode="auto">
          <a:xfrm>
            <a:off x="9421813" y="20714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87" name="Rectangle 235"/>
          <p:cNvSpPr>
            <a:spLocks noChangeArrowheads="1"/>
          </p:cNvSpPr>
          <p:nvPr/>
        </p:nvSpPr>
        <p:spPr bwMode="auto">
          <a:xfrm>
            <a:off x="9726613" y="20714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388" name="Rectangle 236"/>
          <p:cNvSpPr>
            <a:spLocks noChangeArrowheads="1"/>
          </p:cNvSpPr>
          <p:nvPr/>
        </p:nvSpPr>
        <p:spPr bwMode="auto">
          <a:xfrm>
            <a:off x="8812213" y="23762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89" name="Rectangle 237"/>
          <p:cNvSpPr>
            <a:spLocks noChangeArrowheads="1"/>
          </p:cNvSpPr>
          <p:nvPr/>
        </p:nvSpPr>
        <p:spPr bwMode="auto">
          <a:xfrm>
            <a:off x="9117013" y="23762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90" name="Rectangle 238" descr="Small checker board"/>
          <p:cNvSpPr>
            <a:spLocks noChangeArrowheads="1"/>
          </p:cNvSpPr>
          <p:nvPr/>
        </p:nvSpPr>
        <p:spPr bwMode="auto">
          <a:xfrm>
            <a:off x="9421813" y="23762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91" name="Rectangle 239" descr="Small checker board"/>
          <p:cNvSpPr>
            <a:spLocks noChangeArrowheads="1"/>
          </p:cNvSpPr>
          <p:nvPr/>
        </p:nvSpPr>
        <p:spPr bwMode="auto">
          <a:xfrm>
            <a:off x="9726613" y="2376238"/>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92" name="Rectangle 240" descr="Wide downward diagonal"/>
          <p:cNvSpPr>
            <a:spLocks noChangeArrowheads="1"/>
          </p:cNvSpPr>
          <p:nvPr/>
        </p:nvSpPr>
        <p:spPr bwMode="auto">
          <a:xfrm>
            <a:off x="8812213" y="2681038"/>
            <a:ext cx="228600" cy="228600"/>
          </a:xfrm>
          <a:prstGeom prst="rect">
            <a:avLst/>
          </a:prstGeom>
          <a:pattFill prst="wdDnDiag">
            <a:fgClr>
              <a:srgbClr val="FF0000"/>
            </a:fgClr>
            <a:bgClr>
              <a:schemeClr val="bg1"/>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93" name="Rectangle 241"/>
          <p:cNvSpPr>
            <a:spLocks noChangeArrowheads="1"/>
          </p:cNvSpPr>
          <p:nvPr/>
        </p:nvSpPr>
        <p:spPr bwMode="auto">
          <a:xfrm>
            <a:off x="9117013" y="26810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94" name="Rectangle 242"/>
          <p:cNvSpPr>
            <a:spLocks noChangeArrowheads="1"/>
          </p:cNvSpPr>
          <p:nvPr/>
        </p:nvSpPr>
        <p:spPr bwMode="auto">
          <a:xfrm>
            <a:off x="9421813" y="2681038"/>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95" name="Rectangle 243" descr="Small grid"/>
          <p:cNvSpPr>
            <a:spLocks noChangeArrowheads="1"/>
          </p:cNvSpPr>
          <p:nvPr/>
        </p:nvSpPr>
        <p:spPr bwMode="auto">
          <a:xfrm>
            <a:off x="9726613" y="2681038"/>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96" name="Rectangle 244"/>
          <p:cNvSpPr>
            <a:spLocks noChangeArrowheads="1"/>
          </p:cNvSpPr>
          <p:nvPr/>
        </p:nvSpPr>
        <p:spPr bwMode="auto">
          <a:xfrm>
            <a:off x="8812213" y="29858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97" name="Rectangle 245"/>
          <p:cNvSpPr>
            <a:spLocks noChangeArrowheads="1"/>
          </p:cNvSpPr>
          <p:nvPr/>
        </p:nvSpPr>
        <p:spPr bwMode="auto">
          <a:xfrm>
            <a:off x="9117013" y="2985838"/>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398" name="Rectangle 246" descr="Wide downward diagonal"/>
          <p:cNvSpPr>
            <a:spLocks noChangeArrowheads="1"/>
          </p:cNvSpPr>
          <p:nvPr/>
        </p:nvSpPr>
        <p:spPr bwMode="auto">
          <a:xfrm>
            <a:off x="9421813" y="2985838"/>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399" name="Rectangle 247"/>
          <p:cNvSpPr>
            <a:spLocks noChangeArrowheads="1"/>
          </p:cNvSpPr>
          <p:nvPr/>
        </p:nvSpPr>
        <p:spPr bwMode="auto">
          <a:xfrm>
            <a:off x="9726613" y="2985838"/>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400" name="Text Box 248"/>
          <p:cNvSpPr txBox="1">
            <a:spLocks noChangeArrowheads="1"/>
          </p:cNvSpPr>
          <p:nvPr/>
        </p:nvSpPr>
        <p:spPr bwMode="auto">
          <a:xfrm rot="10800000">
            <a:off x="1797428" y="1753757"/>
            <a:ext cx="677108" cy="3491277"/>
          </a:xfrm>
          <a:prstGeom prst="rect">
            <a:avLst/>
          </a:prstGeom>
          <a:noFill/>
          <a:ln w="9525">
            <a:noFill/>
            <a:miter lim="800000"/>
            <a:headEnd/>
            <a:tailEnd/>
          </a:ln>
          <a:effectLst/>
        </p:spPr>
        <p:txBody>
          <a:bodyPr vert="eaVert" wrap="none">
            <a:prstTxWarp prst="textNoShape">
              <a:avLst/>
            </a:prstTxWarp>
            <a:spAutoFit/>
          </a:bodyPr>
          <a:lstStyle/>
          <a:p>
            <a:pPr algn="l">
              <a:spcBef>
                <a:spcPct val="0"/>
              </a:spcBef>
            </a:pPr>
            <a:r>
              <a:rPr lang="en-US" sz="3200">
                <a:latin typeface="Arial Narrow" charset="0"/>
              </a:rPr>
              <a:t>Time (processor cycle)</a:t>
            </a:r>
          </a:p>
        </p:txBody>
      </p:sp>
      <p:sp>
        <p:nvSpPr>
          <p:cNvPr id="1457401" name="Line 249"/>
          <p:cNvSpPr>
            <a:spLocks noChangeShapeType="1"/>
          </p:cNvSpPr>
          <p:nvPr/>
        </p:nvSpPr>
        <p:spPr bwMode="auto">
          <a:xfrm>
            <a:off x="2106613" y="5271838"/>
            <a:ext cx="0" cy="838200"/>
          </a:xfrm>
          <a:prstGeom prst="line">
            <a:avLst/>
          </a:prstGeom>
          <a:noFill/>
          <a:ln w="9525">
            <a:solidFill>
              <a:schemeClr val="tx1"/>
            </a:solidFill>
            <a:round/>
            <a:headEnd/>
            <a:tailEnd type="triangle" w="lg" len="lg"/>
          </a:ln>
          <a:effectLst/>
        </p:spPr>
        <p:txBody>
          <a:bodyPr>
            <a:prstTxWarp prst="textNoShape">
              <a:avLst/>
            </a:prstTxWarp>
          </a:bodyPr>
          <a:lstStyle/>
          <a:p>
            <a:endParaRPr lang="en-US"/>
          </a:p>
        </p:txBody>
      </p:sp>
      <p:sp>
        <p:nvSpPr>
          <p:cNvPr id="1457402" name="Text Box 250"/>
          <p:cNvSpPr txBox="1">
            <a:spLocks noChangeArrowheads="1"/>
          </p:cNvSpPr>
          <p:nvPr/>
        </p:nvSpPr>
        <p:spPr bwMode="auto">
          <a:xfrm>
            <a:off x="2411413" y="1699963"/>
            <a:ext cx="1271502" cy="369332"/>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b="1">
                <a:latin typeface="Arial Narrow" charset="0"/>
              </a:rPr>
              <a:t>Superscalar</a:t>
            </a:r>
          </a:p>
        </p:txBody>
      </p:sp>
      <p:sp>
        <p:nvSpPr>
          <p:cNvPr id="1457403" name="Text Box 251"/>
          <p:cNvSpPr txBox="1">
            <a:spLocks noChangeArrowheads="1"/>
          </p:cNvSpPr>
          <p:nvPr/>
        </p:nvSpPr>
        <p:spPr bwMode="auto">
          <a:xfrm>
            <a:off x="4011613" y="1699963"/>
            <a:ext cx="1353256" cy="369332"/>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b="1">
                <a:latin typeface="Arial Narrow" charset="0"/>
              </a:rPr>
              <a:t>Fine-Grained</a:t>
            </a:r>
          </a:p>
        </p:txBody>
      </p:sp>
      <p:sp>
        <p:nvSpPr>
          <p:cNvPr id="1457404" name="Text Box 252"/>
          <p:cNvSpPr txBox="1">
            <a:spLocks noChangeArrowheads="1"/>
          </p:cNvSpPr>
          <p:nvPr/>
        </p:nvSpPr>
        <p:spPr bwMode="auto">
          <a:xfrm>
            <a:off x="5307013" y="1699963"/>
            <a:ext cx="1606530" cy="369332"/>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b="1">
                <a:latin typeface="Arial Narrow" charset="0"/>
              </a:rPr>
              <a:t>Coarse-Grained</a:t>
            </a:r>
          </a:p>
        </p:txBody>
      </p:sp>
      <p:sp>
        <p:nvSpPr>
          <p:cNvPr id="1457405" name="Text Box 253"/>
          <p:cNvSpPr txBox="1">
            <a:spLocks noChangeArrowheads="1"/>
          </p:cNvSpPr>
          <p:nvPr/>
        </p:nvSpPr>
        <p:spPr bwMode="auto">
          <a:xfrm>
            <a:off x="6950076" y="1679326"/>
            <a:ext cx="1636987" cy="369332"/>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b="1">
                <a:latin typeface="Arial Narrow" charset="0"/>
              </a:rPr>
              <a:t>Multiprocessing</a:t>
            </a:r>
          </a:p>
        </p:txBody>
      </p:sp>
      <p:sp>
        <p:nvSpPr>
          <p:cNvPr id="1457406" name="Text Box 254"/>
          <p:cNvSpPr txBox="1">
            <a:spLocks noChangeArrowheads="1"/>
          </p:cNvSpPr>
          <p:nvPr/>
        </p:nvSpPr>
        <p:spPr bwMode="auto">
          <a:xfrm>
            <a:off x="8659814" y="1471363"/>
            <a:ext cx="1474787" cy="641350"/>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b="1">
                <a:latin typeface="Arial Narrow" charset="0"/>
              </a:rPr>
              <a:t>Simultaneous</a:t>
            </a:r>
          </a:p>
          <a:p>
            <a:pPr algn="l">
              <a:spcBef>
                <a:spcPct val="0"/>
              </a:spcBef>
            </a:pPr>
            <a:r>
              <a:rPr lang="en-US" b="1">
                <a:latin typeface="Arial Narrow" charset="0"/>
              </a:rPr>
              <a:t>Multithreading</a:t>
            </a:r>
          </a:p>
        </p:txBody>
      </p:sp>
      <p:sp>
        <p:nvSpPr>
          <p:cNvPr id="1457407" name="Rectangle 255"/>
          <p:cNvSpPr>
            <a:spLocks noChangeArrowheads="1"/>
          </p:cNvSpPr>
          <p:nvPr/>
        </p:nvSpPr>
        <p:spPr bwMode="auto">
          <a:xfrm>
            <a:off x="3783013" y="5967684"/>
            <a:ext cx="228600" cy="228600"/>
          </a:xfrm>
          <a:prstGeom prst="rect">
            <a:avLst/>
          </a:prstGeom>
          <a:solidFill>
            <a:schemeClr val="accent1"/>
          </a:solidFill>
          <a:ln w="9525">
            <a:solidFill>
              <a:schemeClr val="tx1"/>
            </a:solidFill>
            <a:miter lim="800000"/>
            <a:headEnd/>
            <a:tailEnd/>
          </a:ln>
          <a:effectLst/>
        </p:spPr>
        <p:txBody>
          <a:bodyPr wrap="none" anchor="ctr">
            <a:prstTxWarp prst="textNoShape">
              <a:avLst/>
            </a:prstTxWarp>
          </a:bodyPr>
          <a:lstStyle/>
          <a:p>
            <a:pPr>
              <a:spcBef>
                <a:spcPct val="0"/>
              </a:spcBef>
            </a:pPr>
            <a:endParaRPr lang="en-US" sz="3200">
              <a:latin typeface="Arial Narrow" charset="0"/>
            </a:endParaRPr>
          </a:p>
        </p:txBody>
      </p:sp>
      <p:sp>
        <p:nvSpPr>
          <p:cNvPr id="1457408" name="Rectangle 256" descr="Wide downward diagonal"/>
          <p:cNvSpPr>
            <a:spLocks noChangeArrowheads="1"/>
          </p:cNvSpPr>
          <p:nvPr/>
        </p:nvSpPr>
        <p:spPr bwMode="auto">
          <a:xfrm>
            <a:off x="3783013" y="6348684"/>
            <a:ext cx="228600" cy="228600"/>
          </a:xfrm>
          <a:prstGeom prst="rect">
            <a:avLst/>
          </a:prstGeom>
          <a:pattFill prst="wdDnDiag">
            <a:fgClr>
              <a:srgbClr val="FF000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409" name="Rectangle 257"/>
          <p:cNvSpPr>
            <a:spLocks noChangeArrowheads="1"/>
          </p:cNvSpPr>
          <p:nvPr/>
        </p:nvSpPr>
        <p:spPr bwMode="auto">
          <a:xfrm>
            <a:off x="5992813" y="5967684"/>
            <a:ext cx="228600" cy="228600"/>
          </a:xfrm>
          <a:prstGeom prst="rect">
            <a:avLst/>
          </a:prstGeom>
          <a:solidFill>
            <a:srgbClr val="FFFF00"/>
          </a:solidFill>
          <a:ln w="9525">
            <a:solidFill>
              <a:schemeClr val="tx1"/>
            </a:solidFill>
            <a:miter lim="800000"/>
            <a:headEnd/>
            <a:tailEnd/>
          </a:ln>
          <a:effectLst/>
        </p:spPr>
        <p:txBody>
          <a:bodyPr wrap="none" anchor="ctr">
            <a:prstTxWarp prst="textNoShape">
              <a:avLst/>
            </a:prstTxWarp>
          </a:bodyPr>
          <a:lstStyle/>
          <a:p>
            <a:endParaRPr lang="en-US"/>
          </a:p>
        </p:txBody>
      </p:sp>
      <p:sp>
        <p:nvSpPr>
          <p:cNvPr id="1457410" name="Rectangle 258" descr="Small checker board"/>
          <p:cNvSpPr>
            <a:spLocks noChangeArrowheads="1"/>
          </p:cNvSpPr>
          <p:nvPr/>
        </p:nvSpPr>
        <p:spPr bwMode="auto">
          <a:xfrm>
            <a:off x="5992813" y="6348684"/>
            <a:ext cx="228600" cy="228600"/>
          </a:xfrm>
          <a:prstGeom prst="rect">
            <a:avLst/>
          </a:prstGeom>
          <a:pattFill prst="smCheck">
            <a:fgClr>
              <a:schemeClr val="accent2"/>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411" name="Rectangle 259" descr="Small grid"/>
          <p:cNvSpPr>
            <a:spLocks noChangeArrowheads="1"/>
          </p:cNvSpPr>
          <p:nvPr/>
        </p:nvSpPr>
        <p:spPr bwMode="auto">
          <a:xfrm>
            <a:off x="8050213" y="5967684"/>
            <a:ext cx="228600" cy="228600"/>
          </a:xfrm>
          <a:prstGeom prst="rect">
            <a:avLst/>
          </a:prstGeom>
          <a:pattFill prst="smGrid">
            <a:fgClr>
              <a:srgbClr val="800080"/>
            </a:fgClr>
            <a:bgClr>
              <a:srgbClr val="FFFFFF"/>
            </a:bgClr>
          </a:pattFill>
          <a:ln w="9525">
            <a:solidFill>
              <a:schemeClr val="tx1"/>
            </a:solidFill>
            <a:miter lim="800000"/>
            <a:headEnd/>
            <a:tailEnd/>
          </a:ln>
          <a:effectLst/>
        </p:spPr>
        <p:txBody>
          <a:bodyPr wrap="none" anchor="ctr">
            <a:prstTxWarp prst="textNoShape">
              <a:avLst/>
            </a:prstTxWarp>
          </a:bodyPr>
          <a:lstStyle/>
          <a:p>
            <a:endParaRPr lang="en-US"/>
          </a:p>
        </p:txBody>
      </p:sp>
      <p:sp>
        <p:nvSpPr>
          <p:cNvPr id="1457412" name="Rectangle 260"/>
          <p:cNvSpPr>
            <a:spLocks noChangeArrowheads="1"/>
          </p:cNvSpPr>
          <p:nvPr/>
        </p:nvSpPr>
        <p:spPr bwMode="auto">
          <a:xfrm>
            <a:off x="8050213" y="6348684"/>
            <a:ext cx="228600" cy="228600"/>
          </a:xfrm>
          <a:prstGeom prst="rect">
            <a:avLst/>
          </a:prstGeom>
          <a:noFill/>
          <a:ln w="9525">
            <a:solidFill>
              <a:schemeClr val="tx1"/>
            </a:solidFill>
            <a:miter lim="800000"/>
            <a:headEnd/>
            <a:tailEnd/>
          </a:ln>
          <a:effectLst/>
        </p:spPr>
        <p:txBody>
          <a:bodyPr wrap="none" anchor="ctr">
            <a:prstTxWarp prst="textNoShape">
              <a:avLst/>
            </a:prstTxWarp>
          </a:bodyPr>
          <a:lstStyle/>
          <a:p>
            <a:endParaRPr lang="en-US"/>
          </a:p>
        </p:txBody>
      </p:sp>
      <p:sp>
        <p:nvSpPr>
          <p:cNvPr id="1457413" name="Text Box 261"/>
          <p:cNvSpPr txBox="1">
            <a:spLocks noChangeArrowheads="1"/>
          </p:cNvSpPr>
          <p:nvPr/>
        </p:nvSpPr>
        <p:spPr bwMode="auto">
          <a:xfrm>
            <a:off x="4071939" y="5875610"/>
            <a:ext cx="1017587"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Thread 1</a:t>
            </a:r>
          </a:p>
        </p:txBody>
      </p:sp>
      <p:sp>
        <p:nvSpPr>
          <p:cNvPr id="1457414" name="Text Box 262"/>
          <p:cNvSpPr txBox="1">
            <a:spLocks noChangeArrowheads="1"/>
          </p:cNvSpPr>
          <p:nvPr/>
        </p:nvSpPr>
        <p:spPr bwMode="auto">
          <a:xfrm>
            <a:off x="4078289" y="6272485"/>
            <a:ext cx="1017587"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Thread 2</a:t>
            </a:r>
          </a:p>
        </p:txBody>
      </p:sp>
      <p:sp>
        <p:nvSpPr>
          <p:cNvPr id="1457415" name="Text Box 263"/>
          <p:cNvSpPr txBox="1">
            <a:spLocks noChangeArrowheads="1"/>
          </p:cNvSpPr>
          <p:nvPr/>
        </p:nvSpPr>
        <p:spPr bwMode="auto">
          <a:xfrm>
            <a:off x="6373814" y="5891485"/>
            <a:ext cx="1017587"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Thread 3</a:t>
            </a:r>
          </a:p>
        </p:txBody>
      </p:sp>
      <p:sp>
        <p:nvSpPr>
          <p:cNvPr id="1457416" name="Text Box 264"/>
          <p:cNvSpPr txBox="1">
            <a:spLocks noChangeArrowheads="1"/>
          </p:cNvSpPr>
          <p:nvPr/>
        </p:nvSpPr>
        <p:spPr bwMode="auto">
          <a:xfrm>
            <a:off x="6373814" y="6272485"/>
            <a:ext cx="1017587"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Thread 4</a:t>
            </a:r>
          </a:p>
        </p:txBody>
      </p:sp>
      <p:sp>
        <p:nvSpPr>
          <p:cNvPr id="1457417" name="Text Box 265"/>
          <p:cNvSpPr txBox="1">
            <a:spLocks noChangeArrowheads="1"/>
          </p:cNvSpPr>
          <p:nvPr/>
        </p:nvSpPr>
        <p:spPr bwMode="auto">
          <a:xfrm>
            <a:off x="8355014" y="5891485"/>
            <a:ext cx="1017587"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Thread 5</a:t>
            </a:r>
          </a:p>
        </p:txBody>
      </p:sp>
      <p:sp>
        <p:nvSpPr>
          <p:cNvPr id="1457418" name="Text Box 266"/>
          <p:cNvSpPr txBox="1">
            <a:spLocks noChangeArrowheads="1"/>
          </p:cNvSpPr>
          <p:nvPr/>
        </p:nvSpPr>
        <p:spPr bwMode="auto">
          <a:xfrm>
            <a:off x="8355013" y="6272485"/>
            <a:ext cx="901700" cy="396875"/>
          </a:xfrm>
          <a:prstGeom prst="rect">
            <a:avLst/>
          </a:prstGeom>
          <a:noFill/>
          <a:ln w="9525">
            <a:noFill/>
            <a:miter lim="800000"/>
            <a:headEnd/>
            <a:tailEnd/>
          </a:ln>
          <a:effectLst/>
        </p:spPr>
        <p:txBody>
          <a:bodyPr wrap="none">
            <a:prstTxWarp prst="textNoShape">
              <a:avLst/>
            </a:prstTxWarp>
            <a:spAutoFit/>
          </a:bodyPr>
          <a:lstStyle/>
          <a:p>
            <a:pPr algn="l">
              <a:spcBef>
                <a:spcPct val="0"/>
              </a:spcBef>
            </a:pPr>
            <a:r>
              <a:rPr lang="en-US" sz="2000">
                <a:latin typeface="Arial Narrow" charset="0"/>
              </a:rPr>
              <a:t>Idle slot</a:t>
            </a:r>
          </a:p>
        </p:txBody>
      </p:sp>
    </p:spTree>
    <p:extLst>
      <p:ext uri="{BB962C8B-B14F-4D97-AF65-F5344CB8AC3E}">
        <p14:creationId xmlns:p14="http://schemas.microsoft.com/office/powerpoint/2010/main" val="794139925"/>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共享存储系统的基本概念</a:t>
            </a:r>
            <a:endParaRPr lang="zh-CN" altLang="en-US" dirty="0"/>
          </a:p>
        </p:txBody>
      </p:sp>
      <p:sp>
        <p:nvSpPr>
          <p:cNvPr id="3" name="内容占位符 2"/>
          <p:cNvSpPr>
            <a:spLocks noGrp="1"/>
          </p:cNvSpPr>
          <p:nvPr>
            <p:ph idx="1"/>
          </p:nvPr>
        </p:nvSpPr>
        <p:spPr/>
        <p:txBody>
          <a:bodyPr/>
          <a:lstStyle/>
          <a:p>
            <a:r>
              <a:rPr lang="zh-CN" altLang="en-US" dirty="0" smtClean="0"/>
              <a:t>小规模共享存储器系统</a:t>
            </a:r>
            <a:endParaRPr lang="en-US" altLang="zh-CN" dirty="0" smtClean="0"/>
          </a:p>
          <a:p>
            <a:pPr lvl="1"/>
            <a:r>
              <a:rPr lang="zh-CN" altLang="en-US" dirty="0" smtClean="0"/>
              <a:t>扩展存储器系统以支持多个处理器</a:t>
            </a:r>
            <a:endParaRPr lang="en-US" altLang="zh-CN" dirty="0" smtClean="0"/>
          </a:p>
          <a:p>
            <a:pPr lvl="1"/>
            <a:r>
              <a:rPr lang="zh-CN" altLang="en-US" dirty="0" smtClean="0"/>
              <a:t>有利于多道程序的吞吐率和并行计算</a:t>
            </a:r>
            <a:endParaRPr lang="en-US" altLang="zh-CN" dirty="0" smtClean="0"/>
          </a:p>
          <a:p>
            <a:pPr lvl="1"/>
            <a:r>
              <a:rPr lang="zh-CN" altLang="en-US" dirty="0" smtClean="0"/>
              <a:t>允许对资源的细粒度共享</a:t>
            </a:r>
            <a:endParaRPr lang="en-US" altLang="zh-CN" dirty="0" smtClean="0"/>
          </a:p>
          <a:p>
            <a:r>
              <a:rPr lang="zh-CN" altLang="en-US" dirty="0" smtClean="0"/>
              <a:t>定名和同步</a:t>
            </a:r>
            <a:endParaRPr lang="en-US" altLang="zh-CN" dirty="0" smtClean="0"/>
          </a:p>
          <a:p>
            <a:pPr lvl="1"/>
            <a:r>
              <a:rPr lang="zh-CN" altLang="en-US" dirty="0" smtClean="0"/>
              <a:t>通信隐含在对共享地址的存</a:t>
            </a:r>
            <a:r>
              <a:rPr lang="en-US" altLang="zh-CN" dirty="0" smtClean="0"/>
              <a:t>/</a:t>
            </a:r>
            <a:r>
              <a:rPr lang="zh-CN" altLang="en-US" dirty="0" smtClean="0"/>
              <a:t>取操作中</a:t>
            </a:r>
            <a:endParaRPr lang="en-US" altLang="zh-CN" dirty="0" smtClean="0"/>
          </a:p>
          <a:p>
            <a:pPr lvl="1"/>
            <a:r>
              <a:rPr lang="zh-CN" altLang="en-US" dirty="0" smtClean="0"/>
              <a:t>同步通过对共享地址的显式操作实施</a:t>
            </a:r>
            <a:endParaRPr lang="en-US" altLang="zh-CN" dirty="0" smtClean="0"/>
          </a:p>
          <a:p>
            <a:r>
              <a:rPr lang="zh-CN" altLang="en-US" dirty="0" smtClean="0"/>
              <a:t>延迟和带宽</a:t>
            </a:r>
            <a:endParaRPr lang="en-US" altLang="zh-CN" dirty="0" smtClean="0"/>
          </a:p>
          <a:p>
            <a:pPr lvl="1"/>
            <a:r>
              <a:rPr lang="zh-CN" altLang="en-US" dirty="0" smtClean="0"/>
              <a:t>用存储器间的数据迁移避免长延迟、减少带宽</a:t>
            </a:r>
            <a:endParaRPr lang="en-US" altLang="zh-CN" dirty="0" smtClean="0"/>
          </a:p>
          <a:p>
            <a:pPr lvl="1"/>
            <a:r>
              <a:rPr lang="zh-CN" altLang="en-US" dirty="0" smtClean="0"/>
              <a:t>关键：尽可能消除不必要的数据流量</a:t>
            </a:r>
            <a:endParaRPr lang="zh-CN" altLang="en-US" dirty="0"/>
          </a:p>
        </p:txBody>
      </p:sp>
    </p:spTree>
    <p:extLst>
      <p:ext uri="{BB962C8B-B14F-4D97-AF65-F5344CB8AC3E}">
        <p14:creationId xmlns:p14="http://schemas.microsoft.com/office/powerpoint/2010/main" val="4089662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latin typeface="+mn-lt"/>
              </a:rPr>
              <a:t>概念层次</a:t>
            </a:r>
            <a:endParaRPr kumimoji="1" lang="zh-CN" altLang="en-US" dirty="0">
              <a:latin typeface="+mn-lt"/>
            </a:endParaRPr>
          </a:p>
        </p:txBody>
      </p:sp>
      <p:grpSp>
        <p:nvGrpSpPr>
          <p:cNvPr id="78" name="Group 4"/>
          <p:cNvGrpSpPr>
            <a:grpSpLocks/>
          </p:cNvGrpSpPr>
          <p:nvPr/>
        </p:nvGrpSpPr>
        <p:grpSpPr bwMode="auto">
          <a:xfrm>
            <a:off x="2057400" y="1564878"/>
            <a:ext cx="8223250" cy="3017838"/>
            <a:chOff x="192" y="1200"/>
            <a:chExt cx="5180" cy="1901"/>
          </a:xfrm>
        </p:grpSpPr>
        <p:sp>
          <p:nvSpPr>
            <p:cNvPr id="79" name="Rectangle 5"/>
            <p:cNvSpPr>
              <a:spLocks noChangeArrowheads="1"/>
            </p:cNvSpPr>
            <p:nvPr/>
          </p:nvSpPr>
          <p:spPr bwMode="auto">
            <a:xfrm>
              <a:off x="795" y="1200"/>
              <a:ext cx="209"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CAD</a:t>
              </a:r>
              <a:endParaRPr kumimoji="0" lang="en-US" altLang="zh-CN" sz="2400" kern="0">
                <a:solidFill>
                  <a:sysClr val="windowText" lastClr="000000"/>
                </a:solidFill>
                <a:latin typeface="+mn-lt"/>
              </a:endParaRPr>
            </a:p>
          </p:txBody>
        </p:sp>
        <p:sp>
          <p:nvSpPr>
            <p:cNvPr id="80" name="Rectangle 6"/>
            <p:cNvSpPr>
              <a:spLocks noChangeArrowheads="1"/>
            </p:cNvSpPr>
            <p:nvPr/>
          </p:nvSpPr>
          <p:spPr bwMode="auto">
            <a:xfrm>
              <a:off x="431" y="1554"/>
              <a:ext cx="371"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Multipr</a:t>
              </a:r>
              <a:endParaRPr kumimoji="0" lang="en-US" altLang="zh-CN" sz="2400" kern="0">
                <a:solidFill>
                  <a:sysClr val="windowText" lastClr="000000"/>
                </a:solidFill>
                <a:latin typeface="+mn-lt"/>
              </a:endParaRPr>
            </a:p>
          </p:txBody>
        </p:sp>
        <p:sp>
          <p:nvSpPr>
            <p:cNvPr id="81" name="Rectangle 7"/>
            <p:cNvSpPr>
              <a:spLocks noChangeArrowheads="1"/>
            </p:cNvSpPr>
            <p:nvPr/>
          </p:nvSpPr>
          <p:spPr bwMode="auto">
            <a:xfrm>
              <a:off x="781" y="1554"/>
              <a:ext cx="562"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ogramming</a:t>
              </a:r>
              <a:endParaRPr kumimoji="0" lang="en-US" altLang="zh-CN" sz="2400" kern="0">
                <a:solidFill>
                  <a:sysClr val="windowText" lastClr="000000"/>
                </a:solidFill>
                <a:latin typeface="+mn-lt"/>
              </a:endParaRPr>
            </a:p>
          </p:txBody>
        </p:sp>
        <p:sp>
          <p:nvSpPr>
            <p:cNvPr id="82" name="Rectangle 8"/>
            <p:cNvSpPr>
              <a:spLocks noChangeArrowheads="1"/>
            </p:cNvSpPr>
            <p:nvPr/>
          </p:nvSpPr>
          <p:spPr bwMode="auto">
            <a:xfrm>
              <a:off x="1641" y="1554"/>
              <a:ext cx="219"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Shar</a:t>
              </a:r>
              <a:endParaRPr kumimoji="0" lang="en-US" altLang="zh-CN" sz="2400" kern="0">
                <a:solidFill>
                  <a:sysClr val="windowText" lastClr="000000"/>
                </a:solidFill>
                <a:latin typeface="+mn-lt"/>
              </a:endParaRPr>
            </a:p>
          </p:txBody>
        </p:sp>
        <p:sp>
          <p:nvSpPr>
            <p:cNvPr id="83" name="Rectangle 9"/>
            <p:cNvSpPr>
              <a:spLocks noChangeArrowheads="1"/>
            </p:cNvSpPr>
            <p:nvPr/>
          </p:nvSpPr>
          <p:spPr bwMode="auto">
            <a:xfrm>
              <a:off x="1886" y="1554"/>
              <a:ext cx="124"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ed</a:t>
              </a:r>
              <a:endParaRPr kumimoji="0" lang="en-US" altLang="zh-CN" sz="2400" kern="0">
                <a:solidFill>
                  <a:sysClr val="windowText" lastClr="000000"/>
                </a:solidFill>
                <a:latin typeface="+mn-lt"/>
              </a:endParaRPr>
            </a:p>
          </p:txBody>
        </p:sp>
        <p:sp>
          <p:nvSpPr>
            <p:cNvPr id="84" name="Rectangle 10"/>
            <p:cNvSpPr>
              <a:spLocks noChangeArrowheads="1"/>
            </p:cNvSpPr>
            <p:nvPr/>
          </p:nvSpPr>
          <p:spPr bwMode="auto">
            <a:xfrm>
              <a:off x="1627" y="1687"/>
              <a:ext cx="227"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addr</a:t>
              </a:r>
              <a:endParaRPr kumimoji="0" lang="en-US" altLang="zh-CN" sz="2400" kern="0">
                <a:solidFill>
                  <a:sysClr val="windowText" lastClr="000000"/>
                </a:solidFill>
                <a:latin typeface="+mn-lt"/>
              </a:endParaRPr>
            </a:p>
          </p:txBody>
        </p:sp>
        <p:sp>
          <p:nvSpPr>
            <p:cNvPr id="85" name="Rectangle 11"/>
            <p:cNvSpPr>
              <a:spLocks noChangeArrowheads="1"/>
            </p:cNvSpPr>
            <p:nvPr/>
          </p:nvSpPr>
          <p:spPr bwMode="auto">
            <a:xfrm>
              <a:off x="1858" y="1687"/>
              <a:ext cx="156"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ess</a:t>
              </a:r>
              <a:endParaRPr kumimoji="0" lang="en-US" altLang="zh-CN" sz="2400" kern="0">
                <a:solidFill>
                  <a:sysClr val="windowText" lastClr="000000"/>
                </a:solidFill>
                <a:latin typeface="+mn-lt"/>
              </a:endParaRPr>
            </a:p>
          </p:txBody>
        </p:sp>
        <p:sp>
          <p:nvSpPr>
            <p:cNvPr id="86" name="Rectangle 12"/>
            <p:cNvSpPr>
              <a:spLocks noChangeArrowheads="1"/>
            </p:cNvSpPr>
            <p:nvPr/>
          </p:nvSpPr>
          <p:spPr bwMode="auto">
            <a:xfrm>
              <a:off x="2290" y="1554"/>
              <a:ext cx="434"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Message</a:t>
              </a:r>
              <a:endParaRPr kumimoji="0" lang="en-US" altLang="zh-CN" sz="2400" kern="0">
                <a:solidFill>
                  <a:sysClr val="windowText" lastClr="000000"/>
                </a:solidFill>
                <a:latin typeface="+mn-lt"/>
              </a:endParaRPr>
            </a:p>
          </p:txBody>
        </p:sp>
        <p:sp>
          <p:nvSpPr>
            <p:cNvPr id="87" name="Rectangle 13"/>
            <p:cNvSpPr>
              <a:spLocks noChangeArrowheads="1"/>
            </p:cNvSpPr>
            <p:nvPr/>
          </p:nvSpPr>
          <p:spPr bwMode="auto">
            <a:xfrm>
              <a:off x="2321" y="1687"/>
              <a:ext cx="365"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passing</a:t>
              </a:r>
              <a:endParaRPr kumimoji="0" lang="en-US" altLang="zh-CN" sz="2400" kern="0">
                <a:solidFill>
                  <a:sysClr val="windowText" lastClr="000000"/>
                </a:solidFill>
                <a:latin typeface="+mn-lt"/>
              </a:endParaRPr>
            </a:p>
          </p:txBody>
        </p:sp>
        <p:sp>
          <p:nvSpPr>
            <p:cNvPr id="88" name="Rectangle 14"/>
            <p:cNvSpPr>
              <a:spLocks noChangeArrowheads="1"/>
            </p:cNvSpPr>
            <p:nvPr/>
          </p:nvSpPr>
          <p:spPr bwMode="auto">
            <a:xfrm>
              <a:off x="3012" y="1554"/>
              <a:ext cx="230"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Data</a:t>
              </a:r>
              <a:endParaRPr kumimoji="0" lang="en-US" altLang="zh-CN" sz="2400" kern="0">
                <a:solidFill>
                  <a:sysClr val="windowText" lastClr="000000"/>
                </a:solidFill>
                <a:latin typeface="+mn-lt"/>
              </a:endParaRPr>
            </a:p>
          </p:txBody>
        </p:sp>
        <p:sp>
          <p:nvSpPr>
            <p:cNvPr id="89" name="Rectangle 15"/>
            <p:cNvSpPr>
              <a:spLocks noChangeArrowheads="1"/>
            </p:cNvSpPr>
            <p:nvPr/>
          </p:nvSpPr>
          <p:spPr bwMode="auto">
            <a:xfrm>
              <a:off x="2949" y="1687"/>
              <a:ext cx="367"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parallel</a:t>
              </a:r>
              <a:endParaRPr kumimoji="0" lang="en-US" altLang="zh-CN" sz="2400" kern="0">
                <a:solidFill>
                  <a:sysClr val="windowText" lastClr="000000"/>
                </a:solidFill>
                <a:latin typeface="+mn-lt"/>
              </a:endParaRPr>
            </a:p>
          </p:txBody>
        </p:sp>
        <p:sp>
          <p:nvSpPr>
            <p:cNvPr id="90" name="Rectangle 16"/>
            <p:cNvSpPr>
              <a:spLocks noChangeArrowheads="1"/>
            </p:cNvSpPr>
            <p:nvPr/>
          </p:nvSpPr>
          <p:spPr bwMode="auto">
            <a:xfrm>
              <a:off x="1585" y="1200"/>
              <a:ext cx="459"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Database</a:t>
              </a:r>
              <a:endParaRPr kumimoji="0" lang="en-US" altLang="zh-CN" sz="2400" kern="0">
                <a:solidFill>
                  <a:sysClr val="windowText" lastClr="000000"/>
                </a:solidFill>
                <a:latin typeface="+mn-lt"/>
              </a:endParaRPr>
            </a:p>
          </p:txBody>
        </p:sp>
        <p:sp>
          <p:nvSpPr>
            <p:cNvPr id="91" name="Rectangle 17"/>
            <p:cNvSpPr>
              <a:spLocks noChangeArrowheads="1"/>
            </p:cNvSpPr>
            <p:nvPr/>
          </p:nvSpPr>
          <p:spPr bwMode="auto">
            <a:xfrm>
              <a:off x="2381" y="1200"/>
              <a:ext cx="934"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Scientific modeling</a:t>
              </a:r>
              <a:endParaRPr kumimoji="0" lang="en-US" altLang="zh-CN" sz="2400" kern="0">
                <a:solidFill>
                  <a:sysClr val="windowText" lastClr="000000"/>
                </a:solidFill>
                <a:latin typeface="+mn-lt"/>
              </a:endParaRPr>
            </a:p>
          </p:txBody>
        </p:sp>
        <p:sp>
          <p:nvSpPr>
            <p:cNvPr id="92" name="Rectangle 18"/>
            <p:cNvSpPr>
              <a:spLocks noChangeArrowheads="1"/>
            </p:cNvSpPr>
            <p:nvPr/>
          </p:nvSpPr>
          <p:spPr bwMode="auto">
            <a:xfrm>
              <a:off x="3903" y="1207"/>
              <a:ext cx="987"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Parallel applications</a:t>
              </a:r>
              <a:endParaRPr kumimoji="0" lang="en-US" altLang="zh-CN" sz="2400" kern="0">
                <a:solidFill>
                  <a:sysClr val="windowText" lastClr="000000"/>
                </a:solidFill>
                <a:latin typeface="+mn-lt"/>
              </a:endParaRPr>
            </a:p>
          </p:txBody>
        </p:sp>
        <p:sp>
          <p:nvSpPr>
            <p:cNvPr id="93" name="Rectangle 19"/>
            <p:cNvSpPr>
              <a:spLocks noChangeArrowheads="1"/>
            </p:cNvSpPr>
            <p:nvPr/>
          </p:nvSpPr>
          <p:spPr bwMode="auto">
            <a:xfrm>
              <a:off x="3903" y="1554"/>
              <a:ext cx="105"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Pr</a:t>
              </a:r>
              <a:endParaRPr kumimoji="0" lang="en-US" altLang="zh-CN" sz="2400" kern="0">
                <a:solidFill>
                  <a:sysClr val="windowText" lastClr="000000"/>
                </a:solidFill>
                <a:latin typeface="+mn-lt"/>
              </a:endParaRPr>
            </a:p>
          </p:txBody>
        </p:sp>
        <p:sp>
          <p:nvSpPr>
            <p:cNvPr id="94" name="Rectangle 20"/>
            <p:cNvSpPr>
              <a:spLocks noChangeArrowheads="1"/>
            </p:cNvSpPr>
            <p:nvPr/>
          </p:nvSpPr>
          <p:spPr bwMode="auto">
            <a:xfrm>
              <a:off x="4019" y="1554"/>
              <a:ext cx="950"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ogramming models</a:t>
              </a:r>
              <a:endParaRPr kumimoji="0" lang="en-US" altLang="zh-CN" sz="2400" kern="0">
                <a:solidFill>
                  <a:sysClr val="windowText" lastClr="000000"/>
                </a:solidFill>
                <a:latin typeface="+mn-lt"/>
              </a:endParaRPr>
            </a:p>
          </p:txBody>
        </p:sp>
        <p:sp>
          <p:nvSpPr>
            <p:cNvPr id="95" name="Rectangle 21"/>
            <p:cNvSpPr>
              <a:spLocks noChangeArrowheads="1"/>
            </p:cNvSpPr>
            <p:nvPr/>
          </p:nvSpPr>
          <p:spPr bwMode="auto">
            <a:xfrm>
              <a:off x="3903" y="2087"/>
              <a:ext cx="1366"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Communication abstraction</a:t>
              </a:r>
              <a:endParaRPr kumimoji="0" lang="en-US" altLang="zh-CN" sz="2400" kern="0">
                <a:solidFill>
                  <a:sysClr val="windowText" lastClr="000000"/>
                </a:solidFill>
                <a:latin typeface="+mn-lt"/>
              </a:endParaRPr>
            </a:p>
          </p:txBody>
        </p:sp>
        <p:sp>
          <p:nvSpPr>
            <p:cNvPr id="96" name="Rectangle 22"/>
            <p:cNvSpPr>
              <a:spLocks noChangeArrowheads="1"/>
            </p:cNvSpPr>
            <p:nvPr/>
          </p:nvSpPr>
          <p:spPr bwMode="auto">
            <a:xfrm>
              <a:off x="3903" y="2220"/>
              <a:ext cx="1122"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User/system boundary</a:t>
              </a:r>
              <a:endParaRPr kumimoji="0" lang="en-US" altLang="zh-CN" sz="2400" kern="0">
                <a:solidFill>
                  <a:sysClr val="windowText" lastClr="000000"/>
                </a:solidFill>
                <a:latin typeface="+mn-lt"/>
              </a:endParaRPr>
            </a:p>
          </p:txBody>
        </p:sp>
        <p:sp>
          <p:nvSpPr>
            <p:cNvPr id="97" name="Rectangle 23"/>
            <p:cNvSpPr>
              <a:spLocks noChangeArrowheads="1"/>
            </p:cNvSpPr>
            <p:nvPr/>
          </p:nvSpPr>
          <p:spPr bwMode="auto">
            <a:xfrm>
              <a:off x="1781" y="1999"/>
              <a:ext cx="599"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Compilation</a:t>
              </a:r>
              <a:endParaRPr kumimoji="0" lang="en-US" altLang="zh-CN" sz="2400" kern="0">
                <a:solidFill>
                  <a:sysClr val="windowText" lastClr="000000"/>
                </a:solidFill>
                <a:latin typeface="+mn-lt"/>
              </a:endParaRPr>
            </a:p>
          </p:txBody>
        </p:sp>
        <p:sp>
          <p:nvSpPr>
            <p:cNvPr id="98" name="Rectangle 24"/>
            <p:cNvSpPr>
              <a:spLocks noChangeArrowheads="1"/>
            </p:cNvSpPr>
            <p:nvPr/>
          </p:nvSpPr>
          <p:spPr bwMode="auto">
            <a:xfrm>
              <a:off x="1865" y="2132"/>
              <a:ext cx="450"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or library</a:t>
              </a:r>
              <a:endParaRPr kumimoji="0" lang="en-US" altLang="zh-CN" sz="2400" kern="0">
                <a:solidFill>
                  <a:sysClr val="windowText" lastClr="000000"/>
                </a:solidFill>
                <a:latin typeface="+mn-lt"/>
              </a:endParaRPr>
            </a:p>
          </p:txBody>
        </p:sp>
        <p:sp>
          <p:nvSpPr>
            <p:cNvPr id="99" name="Rectangle 25"/>
            <p:cNvSpPr>
              <a:spLocks noChangeArrowheads="1"/>
            </p:cNvSpPr>
            <p:nvPr/>
          </p:nvSpPr>
          <p:spPr bwMode="auto">
            <a:xfrm>
              <a:off x="2458" y="2314"/>
              <a:ext cx="1327"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Operating systems support</a:t>
              </a:r>
              <a:endParaRPr kumimoji="0" lang="en-US" altLang="zh-CN" sz="2400" kern="0">
                <a:solidFill>
                  <a:sysClr val="windowText" lastClr="000000"/>
                </a:solidFill>
                <a:latin typeface="+mn-lt"/>
              </a:endParaRPr>
            </a:p>
          </p:txBody>
        </p:sp>
        <p:sp>
          <p:nvSpPr>
            <p:cNvPr id="100" name="Rectangle 26"/>
            <p:cNvSpPr>
              <a:spLocks noChangeArrowheads="1"/>
            </p:cNvSpPr>
            <p:nvPr/>
          </p:nvSpPr>
          <p:spPr bwMode="auto">
            <a:xfrm>
              <a:off x="1371" y="2721"/>
              <a:ext cx="1312"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dirty="0">
                  <a:solidFill>
                    <a:srgbClr val="000000"/>
                  </a:solidFill>
                  <a:latin typeface="+mn-lt"/>
                </a:rPr>
                <a:t>Communication </a:t>
              </a:r>
              <a:r>
                <a:rPr kumimoji="0" lang="en-US" altLang="zh-CN" sz="1500" kern="0" dirty="0" smtClean="0">
                  <a:solidFill>
                    <a:srgbClr val="000000"/>
                  </a:solidFill>
                  <a:latin typeface="+mn-lt"/>
                </a:rPr>
                <a:t>hardware </a:t>
              </a:r>
              <a:endParaRPr kumimoji="0" lang="en-US" altLang="zh-CN" sz="2400" kern="0" dirty="0">
                <a:solidFill>
                  <a:sysClr val="windowText" lastClr="000000"/>
                </a:solidFill>
                <a:latin typeface="+mn-lt"/>
              </a:endParaRPr>
            </a:p>
          </p:txBody>
        </p:sp>
        <p:sp>
          <p:nvSpPr>
            <p:cNvPr id="103" name="Rectangle 29"/>
            <p:cNvSpPr>
              <a:spLocks noChangeArrowheads="1"/>
            </p:cNvSpPr>
            <p:nvPr/>
          </p:nvSpPr>
          <p:spPr bwMode="auto">
            <a:xfrm>
              <a:off x="1178" y="2956"/>
              <a:ext cx="1628"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Physical communication medium</a:t>
              </a:r>
              <a:endParaRPr kumimoji="0" lang="en-US" altLang="zh-CN" sz="2400" kern="0">
                <a:solidFill>
                  <a:sysClr val="windowText" lastClr="000000"/>
                </a:solidFill>
                <a:latin typeface="+mn-lt"/>
              </a:endParaRPr>
            </a:p>
          </p:txBody>
        </p:sp>
        <p:sp>
          <p:nvSpPr>
            <p:cNvPr id="104" name="Rectangle 30"/>
            <p:cNvSpPr>
              <a:spLocks noChangeArrowheads="1"/>
            </p:cNvSpPr>
            <p:nvPr/>
          </p:nvSpPr>
          <p:spPr bwMode="auto">
            <a:xfrm>
              <a:off x="3903" y="2619"/>
              <a:ext cx="176"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dirty="0" err="1">
                  <a:solidFill>
                    <a:srgbClr val="000000"/>
                  </a:solidFill>
                  <a:latin typeface="+mn-lt"/>
                </a:rPr>
                <a:t>Har</a:t>
              </a:r>
              <a:endParaRPr kumimoji="0" lang="en-US" altLang="zh-CN" sz="2400" kern="0" dirty="0">
                <a:solidFill>
                  <a:sysClr val="windowText" lastClr="000000"/>
                </a:solidFill>
                <a:latin typeface="+mn-lt"/>
              </a:endParaRPr>
            </a:p>
          </p:txBody>
        </p:sp>
        <p:sp>
          <p:nvSpPr>
            <p:cNvPr id="105" name="Rectangle 31"/>
            <p:cNvSpPr>
              <a:spLocks noChangeArrowheads="1"/>
            </p:cNvSpPr>
            <p:nvPr/>
          </p:nvSpPr>
          <p:spPr bwMode="auto">
            <a:xfrm>
              <a:off x="4089" y="2619"/>
              <a:ext cx="250"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dirty="0" err="1">
                  <a:solidFill>
                    <a:srgbClr val="000000"/>
                  </a:solidFill>
                  <a:latin typeface="+mn-lt"/>
                </a:rPr>
                <a:t>dwar</a:t>
              </a:r>
              <a:endParaRPr kumimoji="0" lang="en-US" altLang="zh-CN" sz="2400" kern="0" dirty="0">
                <a:solidFill>
                  <a:sysClr val="windowText" lastClr="000000"/>
                </a:solidFill>
                <a:latin typeface="+mn-lt"/>
              </a:endParaRPr>
            </a:p>
          </p:txBody>
        </p:sp>
        <p:sp>
          <p:nvSpPr>
            <p:cNvPr id="106" name="Rectangle 32"/>
            <p:cNvSpPr>
              <a:spLocks noChangeArrowheads="1"/>
            </p:cNvSpPr>
            <p:nvPr/>
          </p:nvSpPr>
          <p:spPr bwMode="auto">
            <a:xfrm>
              <a:off x="4342" y="2619"/>
              <a:ext cx="493"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e/softwar</a:t>
              </a:r>
              <a:endParaRPr kumimoji="0" lang="en-US" altLang="zh-CN" sz="2400" kern="0">
                <a:solidFill>
                  <a:sysClr val="windowText" lastClr="000000"/>
                </a:solidFill>
                <a:latin typeface="+mn-lt"/>
              </a:endParaRPr>
            </a:p>
          </p:txBody>
        </p:sp>
        <p:sp>
          <p:nvSpPr>
            <p:cNvPr id="107" name="Rectangle 33"/>
            <p:cNvSpPr>
              <a:spLocks noChangeArrowheads="1"/>
            </p:cNvSpPr>
            <p:nvPr/>
          </p:nvSpPr>
          <p:spPr bwMode="auto">
            <a:xfrm>
              <a:off x="4812" y="2619"/>
              <a:ext cx="560" cy="145"/>
            </a:xfrm>
            <a:prstGeom prst="rect">
              <a:avLst/>
            </a:prstGeom>
            <a:noFill/>
            <a:ln w="9525">
              <a:noFill/>
              <a:miter lim="800000"/>
              <a:headEnd/>
              <a:tailEnd/>
            </a:ln>
          </p:spPr>
          <p:txBody>
            <a:bodyPr wrap="none" lIns="0" tIns="0" rIns="0" bIns="0">
              <a:spAutoFit/>
            </a:bodyPr>
            <a:lstStyle/>
            <a:p>
              <a:pPr eaLnBrk="1" fontAlgn="auto" hangingPunct="1">
                <a:spcBef>
                  <a:spcPts val="0"/>
                </a:spcBef>
                <a:spcAft>
                  <a:spcPts val="0"/>
                </a:spcAft>
                <a:defRPr/>
              </a:pPr>
              <a:r>
                <a:rPr kumimoji="0" lang="en-US" altLang="zh-CN" sz="1500" kern="0">
                  <a:solidFill>
                    <a:srgbClr val="000000"/>
                  </a:solidFill>
                  <a:latin typeface="+mn-lt"/>
                </a:rPr>
                <a:t>e boundary</a:t>
              </a:r>
              <a:endParaRPr kumimoji="0" lang="en-US" altLang="zh-CN" sz="2400" kern="0">
                <a:solidFill>
                  <a:sysClr val="windowText" lastClr="000000"/>
                </a:solidFill>
                <a:latin typeface="+mn-lt"/>
              </a:endParaRPr>
            </a:p>
          </p:txBody>
        </p:sp>
        <p:sp>
          <p:nvSpPr>
            <p:cNvPr id="108" name="Line 34"/>
            <p:cNvSpPr>
              <a:spLocks noChangeShapeType="1"/>
            </p:cNvSpPr>
            <p:nvPr/>
          </p:nvSpPr>
          <p:spPr bwMode="auto">
            <a:xfrm flipH="1">
              <a:off x="192" y="2693"/>
              <a:ext cx="3638" cy="1"/>
            </a:xfrm>
            <a:prstGeom prst="line">
              <a:avLst/>
            </a:prstGeom>
            <a:noFill/>
            <a:ln w="44450">
              <a:solidFill>
                <a:srgbClr val="000000"/>
              </a:solidFill>
              <a:round/>
              <a:headEnd/>
              <a:tailEnd/>
            </a:ln>
          </p:spPr>
          <p:txBody>
            <a:bodyP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09" name="Freeform 35"/>
            <p:cNvSpPr>
              <a:spLocks/>
            </p:cNvSpPr>
            <p:nvPr/>
          </p:nvSpPr>
          <p:spPr bwMode="auto">
            <a:xfrm>
              <a:off x="192" y="1929"/>
              <a:ext cx="3638" cy="536"/>
            </a:xfrm>
            <a:custGeom>
              <a:avLst/>
              <a:gdLst/>
              <a:ahLst/>
              <a:cxnLst>
                <a:cxn ang="0">
                  <a:pos x="3638" y="232"/>
                </a:cxn>
                <a:cxn ang="0">
                  <a:pos x="2768" y="235"/>
                </a:cxn>
                <a:cxn ang="0">
                  <a:pos x="2768" y="0"/>
                </a:cxn>
                <a:cxn ang="0">
                  <a:pos x="1508" y="0"/>
                </a:cxn>
                <a:cxn ang="0">
                  <a:pos x="1508" y="536"/>
                </a:cxn>
                <a:cxn ang="0">
                  <a:pos x="0" y="536"/>
                </a:cxn>
              </a:cxnLst>
              <a:rect l="0" t="0" r="r" b="b"/>
              <a:pathLst>
                <a:path w="3638" h="536">
                  <a:moveTo>
                    <a:pt x="3638" y="232"/>
                  </a:moveTo>
                  <a:lnTo>
                    <a:pt x="2768" y="235"/>
                  </a:lnTo>
                  <a:lnTo>
                    <a:pt x="2768" y="0"/>
                  </a:lnTo>
                  <a:lnTo>
                    <a:pt x="1508" y="0"/>
                  </a:lnTo>
                  <a:lnTo>
                    <a:pt x="1508" y="536"/>
                  </a:lnTo>
                  <a:lnTo>
                    <a:pt x="0" y="536"/>
                  </a:lnTo>
                </a:path>
              </a:pathLst>
            </a:custGeom>
            <a:noFill/>
            <a:ln w="44450">
              <a:solidFill>
                <a:srgbClr val="000000"/>
              </a:solidFill>
              <a:prstDash val="solid"/>
              <a:round/>
              <a:headEnd/>
              <a:tailEnd/>
            </a:ln>
          </p:spPr>
          <p:txBody>
            <a:bodyP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10" name="Freeform 36"/>
            <p:cNvSpPr>
              <a:spLocks/>
            </p:cNvSpPr>
            <p:nvPr/>
          </p:nvSpPr>
          <p:spPr bwMode="auto">
            <a:xfrm>
              <a:off x="192" y="2280"/>
              <a:ext cx="3638" cy="284"/>
            </a:xfrm>
            <a:custGeom>
              <a:avLst/>
              <a:gdLst/>
              <a:ahLst/>
              <a:cxnLst>
                <a:cxn ang="0">
                  <a:pos x="3638" y="0"/>
                </a:cxn>
                <a:cxn ang="0">
                  <a:pos x="2231" y="0"/>
                </a:cxn>
                <a:cxn ang="0">
                  <a:pos x="2231" y="284"/>
                </a:cxn>
                <a:cxn ang="0">
                  <a:pos x="0" y="284"/>
                </a:cxn>
              </a:cxnLst>
              <a:rect l="0" t="0" r="r" b="b"/>
              <a:pathLst>
                <a:path w="3638" h="284">
                  <a:moveTo>
                    <a:pt x="3638" y="0"/>
                  </a:moveTo>
                  <a:lnTo>
                    <a:pt x="2231" y="0"/>
                  </a:lnTo>
                  <a:lnTo>
                    <a:pt x="2231" y="284"/>
                  </a:lnTo>
                  <a:lnTo>
                    <a:pt x="0" y="284"/>
                  </a:lnTo>
                </a:path>
              </a:pathLst>
            </a:custGeom>
            <a:noFill/>
            <a:ln w="44450">
              <a:solidFill>
                <a:srgbClr val="808080"/>
              </a:solidFill>
              <a:prstDash val="solid"/>
              <a:round/>
              <a:headEnd/>
              <a:tailEnd/>
            </a:ln>
          </p:spPr>
          <p:txBody>
            <a:bodyP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11" name="Line 37"/>
            <p:cNvSpPr>
              <a:spLocks noChangeShapeType="1"/>
            </p:cNvSpPr>
            <p:nvPr/>
          </p:nvSpPr>
          <p:spPr bwMode="auto">
            <a:xfrm flipH="1">
              <a:off x="192" y="2942"/>
              <a:ext cx="3638" cy="1"/>
            </a:xfrm>
            <a:prstGeom prst="line">
              <a:avLst/>
            </a:prstGeom>
            <a:noFill/>
            <a:ln w="11113">
              <a:solidFill>
                <a:srgbClr val="000000"/>
              </a:solidFill>
              <a:round/>
              <a:headEnd/>
              <a:tailEnd/>
            </a:ln>
          </p:spPr>
          <p:txBody>
            <a:bodyP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12" name="Line 38"/>
            <p:cNvSpPr>
              <a:spLocks noChangeShapeType="1"/>
            </p:cNvSpPr>
            <p:nvPr/>
          </p:nvSpPr>
          <p:spPr bwMode="auto">
            <a:xfrm flipH="1">
              <a:off x="192" y="1452"/>
              <a:ext cx="3638" cy="4"/>
            </a:xfrm>
            <a:prstGeom prst="line">
              <a:avLst/>
            </a:prstGeom>
            <a:noFill/>
            <a:ln w="11113">
              <a:solidFill>
                <a:srgbClr val="000000"/>
              </a:solidFill>
              <a:round/>
              <a:headEnd/>
              <a:tailEnd/>
            </a:ln>
          </p:spPr>
          <p:txBody>
            <a:bodyP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grpSp>
      <p:sp>
        <p:nvSpPr>
          <p:cNvPr id="115" name="Oval 39"/>
          <p:cNvSpPr>
            <a:spLocks noChangeArrowheads="1"/>
          </p:cNvSpPr>
          <p:nvPr/>
        </p:nvSpPr>
        <p:spPr bwMode="auto">
          <a:xfrm>
            <a:off x="3505200" y="3201144"/>
            <a:ext cx="990600" cy="1524000"/>
          </a:xfrm>
          <a:prstGeom prst="ellipse">
            <a:avLst/>
          </a:prstGeom>
          <a:noFill/>
          <a:ln w="38100">
            <a:solidFill>
              <a:srgbClr val="FC0128"/>
            </a:solidFill>
            <a:round/>
            <a:headEnd/>
            <a:tailEnd/>
          </a:ln>
          <a:effectLst/>
        </p:spPr>
        <p:txBody>
          <a:bodyPr wrap="none" bIns="0" anchor="ct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16" name="Line 40"/>
          <p:cNvSpPr>
            <a:spLocks noChangeShapeType="1"/>
          </p:cNvSpPr>
          <p:nvPr/>
        </p:nvSpPr>
        <p:spPr bwMode="auto">
          <a:xfrm flipV="1">
            <a:off x="2855640" y="4420344"/>
            <a:ext cx="725760" cy="880864"/>
          </a:xfrm>
          <a:prstGeom prst="line">
            <a:avLst/>
          </a:prstGeom>
          <a:noFill/>
          <a:ln w="28575">
            <a:solidFill>
              <a:srgbClr val="FC0128"/>
            </a:solidFill>
            <a:round/>
            <a:headEnd/>
            <a:tailEnd type="triangle" w="med" len="med"/>
          </a:ln>
          <a:effectLst/>
        </p:spPr>
        <p:txBody>
          <a:bodyPr wrap="none" bIns="0" anchor="ctr"/>
          <a:lstStyle/>
          <a:p>
            <a:pPr eaLnBrk="1" fontAlgn="auto" hangingPunct="1">
              <a:spcBef>
                <a:spcPts val="0"/>
              </a:spcBef>
              <a:spcAft>
                <a:spcPts val="0"/>
              </a:spcAft>
              <a:defRPr/>
            </a:pPr>
            <a:endParaRPr kumimoji="0" lang="zh-CN" altLang="en-US" kern="0">
              <a:solidFill>
                <a:sysClr val="windowText" lastClr="000000"/>
              </a:solidFill>
              <a:latin typeface="+mn-lt"/>
            </a:endParaRPr>
          </a:p>
        </p:txBody>
      </p:sp>
      <p:sp>
        <p:nvSpPr>
          <p:cNvPr id="117" name="Line 42"/>
          <p:cNvSpPr>
            <a:spLocks noChangeShapeType="1"/>
          </p:cNvSpPr>
          <p:nvPr/>
        </p:nvSpPr>
        <p:spPr bwMode="auto">
          <a:xfrm>
            <a:off x="7137401" y="5702300"/>
            <a:ext cx="2919413" cy="1588"/>
          </a:xfrm>
          <a:prstGeom prst="line">
            <a:avLst/>
          </a:prstGeom>
          <a:noFill/>
          <a:ln w="76200">
            <a:solidFill>
              <a:srgbClr val="114FFB"/>
            </a:solidFill>
            <a:round/>
            <a:headEnd/>
            <a:tailEnd/>
          </a:ln>
        </p:spPr>
        <p:txBody>
          <a:bodyPr/>
          <a:lstStyle/>
          <a:p>
            <a:endParaRPr lang="zh-CN" altLang="en-US">
              <a:latin typeface="+mn-lt"/>
            </a:endParaRPr>
          </a:p>
        </p:txBody>
      </p:sp>
      <p:sp>
        <p:nvSpPr>
          <p:cNvPr id="118" name="Line 43"/>
          <p:cNvSpPr>
            <a:spLocks noChangeShapeType="1"/>
          </p:cNvSpPr>
          <p:nvPr/>
        </p:nvSpPr>
        <p:spPr bwMode="auto">
          <a:xfrm>
            <a:off x="8434389" y="5732464"/>
            <a:ext cx="1587" cy="211137"/>
          </a:xfrm>
          <a:prstGeom prst="line">
            <a:avLst/>
          </a:prstGeom>
          <a:noFill/>
          <a:ln w="25400">
            <a:solidFill>
              <a:srgbClr val="000000"/>
            </a:solidFill>
            <a:round/>
            <a:headEnd/>
            <a:tailEnd/>
          </a:ln>
        </p:spPr>
        <p:txBody>
          <a:bodyPr/>
          <a:lstStyle/>
          <a:p>
            <a:endParaRPr lang="zh-CN" altLang="en-US">
              <a:latin typeface="+mn-lt"/>
            </a:endParaRPr>
          </a:p>
        </p:txBody>
      </p:sp>
      <p:sp>
        <p:nvSpPr>
          <p:cNvPr id="119" name="Freeform 44"/>
          <p:cNvSpPr>
            <a:spLocks/>
          </p:cNvSpPr>
          <p:nvPr/>
        </p:nvSpPr>
        <p:spPr bwMode="auto">
          <a:xfrm>
            <a:off x="7924801" y="5943601"/>
            <a:ext cx="1008063" cy="315913"/>
          </a:xfrm>
          <a:custGeom>
            <a:avLst/>
            <a:gdLst/>
            <a:ahLst/>
            <a:cxnLst>
              <a:cxn ang="0">
                <a:pos x="0" y="0"/>
              </a:cxn>
              <a:cxn ang="0">
                <a:pos x="798" y="0"/>
              </a:cxn>
              <a:cxn ang="0">
                <a:pos x="798" y="238"/>
              </a:cxn>
              <a:cxn ang="0">
                <a:pos x="3" y="238"/>
              </a:cxn>
              <a:cxn ang="0">
                <a:pos x="3" y="0"/>
              </a:cxn>
              <a:cxn ang="0">
                <a:pos x="0" y="0"/>
              </a:cxn>
            </a:cxnLst>
            <a:rect l="0" t="0" r="r" b="b"/>
            <a:pathLst>
              <a:path w="798" h="238">
                <a:moveTo>
                  <a:pt x="0" y="0"/>
                </a:moveTo>
                <a:lnTo>
                  <a:pt x="798" y="0"/>
                </a:lnTo>
                <a:lnTo>
                  <a:pt x="798" y="238"/>
                </a:lnTo>
                <a:lnTo>
                  <a:pt x="3" y="238"/>
                </a:lnTo>
                <a:lnTo>
                  <a:pt x="3" y="0"/>
                </a:lnTo>
                <a:lnTo>
                  <a:pt x="0" y="0"/>
                </a:lnTo>
                <a:close/>
              </a:path>
            </a:pathLst>
          </a:custGeom>
          <a:solidFill>
            <a:srgbClr val="FFFFFF"/>
          </a:solidFill>
          <a:ln w="9525">
            <a:noFill/>
            <a:round/>
            <a:headEnd/>
            <a:tailEnd/>
          </a:ln>
        </p:spPr>
        <p:txBody>
          <a:bodyPr/>
          <a:lstStyle/>
          <a:p>
            <a:endParaRPr lang="zh-CN" altLang="en-US">
              <a:latin typeface="+mn-lt"/>
            </a:endParaRPr>
          </a:p>
        </p:txBody>
      </p:sp>
      <p:sp>
        <p:nvSpPr>
          <p:cNvPr id="120" name="Freeform 45"/>
          <p:cNvSpPr>
            <a:spLocks/>
          </p:cNvSpPr>
          <p:nvPr/>
        </p:nvSpPr>
        <p:spPr bwMode="auto">
          <a:xfrm>
            <a:off x="7924800" y="5943600"/>
            <a:ext cx="1371600" cy="381000"/>
          </a:xfrm>
          <a:custGeom>
            <a:avLst/>
            <a:gdLst/>
            <a:ahLst/>
            <a:cxnLst>
              <a:cxn ang="0">
                <a:pos x="0" y="0"/>
              </a:cxn>
              <a:cxn ang="0">
                <a:pos x="798" y="0"/>
              </a:cxn>
              <a:cxn ang="0">
                <a:pos x="798" y="238"/>
              </a:cxn>
              <a:cxn ang="0">
                <a:pos x="3" y="238"/>
              </a:cxn>
              <a:cxn ang="0">
                <a:pos x="3" y="0"/>
              </a:cxn>
            </a:cxnLst>
            <a:rect l="0" t="0" r="r" b="b"/>
            <a:pathLst>
              <a:path w="798" h="238">
                <a:moveTo>
                  <a:pt x="0" y="0"/>
                </a:moveTo>
                <a:lnTo>
                  <a:pt x="798" y="0"/>
                </a:lnTo>
                <a:lnTo>
                  <a:pt x="798" y="238"/>
                </a:lnTo>
                <a:lnTo>
                  <a:pt x="3" y="238"/>
                </a:lnTo>
                <a:lnTo>
                  <a:pt x="3" y="0"/>
                </a:lnTo>
              </a:path>
            </a:pathLst>
          </a:custGeom>
          <a:noFill/>
          <a:ln w="7938">
            <a:solidFill>
              <a:srgbClr val="000000"/>
            </a:solidFill>
            <a:prstDash val="solid"/>
            <a:round/>
            <a:headEnd/>
            <a:tailEnd/>
          </a:ln>
        </p:spPr>
        <p:txBody>
          <a:bodyPr/>
          <a:lstStyle/>
          <a:p>
            <a:endParaRPr lang="zh-CN" altLang="en-US">
              <a:latin typeface="+mn-lt"/>
            </a:endParaRPr>
          </a:p>
        </p:txBody>
      </p:sp>
      <p:sp>
        <p:nvSpPr>
          <p:cNvPr id="121" name="Rectangle 47"/>
          <p:cNvSpPr>
            <a:spLocks noChangeArrowheads="1"/>
          </p:cNvSpPr>
          <p:nvPr/>
        </p:nvSpPr>
        <p:spPr bwMode="auto">
          <a:xfrm>
            <a:off x="8304213" y="6013450"/>
            <a:ext cx="423862"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Mem</a:t>
            </a:r>
            <a:endParaRPr lang="en-US" altLang="zh-CN">
              <a:latin typeface="+mn-lt"/>
            </a:endParaRPr>
          </a:p>
        </p:txBody>
      </p:sp>
      <p:sp>
        <p:nvSpPr>
          <p:cNvPr id="122" name="Freeform 50"/>
          <p:cNvSpPr>
            <a:spLocks/>
          </p:cNvSpPr>
          <p:nvPr/>
        </p:nvSpPr>
        <p:spPr bwMode="auto">
          <a:xfrm>
            <a:off x="7467601" y="4953001"/>
            <a:ext cx="403225" cy="422275"/>
          </a:xfrm>
          <a:custGeom>
            <a:avLst/>
            <a:gdLst/>
            <a:ahLst/>
            <a:cxnLst>
              <a:cxn ang="0">
                <a:pos x="316" y="159"/>
              </a:cxn>
              <a:cxn ang="0">
                <a:pos x="316" y="185"/>
              </a:cxn>
              <a:cxn ang="0">
                <a:pos x="311" y="209"/>
              </a:cxn>
              <a:cxn ang="0">
                <a:pos x="300" y="230"/>
              </a:cxn>
              <a:cxn ang="0">
                <a:pos x="287" y="252"/>
              </a:cxn>
              <a:cxn ang="0">
                <a:pos x="271" y="270"/>
              </a:cxn>
              <a:cxn ang="0">
                <a:pos x="252" y="286"/>
              </a:cxn>
              <a:cxn ang="0">
                <a:pos x="231" y="299"/>
              </a:cxn>
              <a:cxn ang="0">
                <a:pos x="210" y="310"/>
              </a:cxn>
              <a:cxn ang="0">
                <a:pos x="183" y="315"/>
              </a:cxn>
              <a:cxn ang="0">
                <a:pos x="160" y="318"/>
              </a:cxn>
              <a:cxn ang="0">
                <a:pos x="133" y="315"/>
              </a:cxn>
              <a:cxn ang="0">
                <a:pos x="109" y="310"/>
              </a:cxn>
              <a:cxn ang="0">
                <a:pos x="85" y="299"/>
              </a:cxn>
              <a:cxn ang="0">
                <a:pos x="64" y="286"/>
              </a:cxn>
              <a:cxn ang="0">
                <a:pos x="46" y="270"/>
              </a:cxn>
              <a:cxn ang="0">
                <a:pos x="30" y="252"/>
              </a:cxn>
              <a:cxn ang="0">
                <a:pos x="16" y="230"/>
              </a:cxn>
              <a:cxn ang="0">
                <a:pos x="8" y="209"/>
              </a:cxn>
              <a:cxn ang="0">
                <a:pos x="0" y="185"/>
              </a:cxn>
              <a:cxn ang="0">
                <a:pos x="0" y="159"/>
              </a:cxn>
              <a:cxn ang="0">
                <a:pos x="0" y="132"/>
              </a:cxn>
              <a:cxn ang="0">
                <a:pos x="8" y="108"/>
              </a:cxn>
              <a:cxn ang="0">
                <a:pos x="16" y="85"/>
              </a:cxn>
              <a:cxn ang="0">
                <a:pos x="30" y="63"/>
              </a:cxn>
              <a:cxn ang="0">
                <a:pos x="46" y="45"/>
              </a:cxn>
              <a:cxn ang="0">
                <a:pos x="64" y="29"/>
              </a:cxn>
              <a:cxn ang="0">
                <a:pos x="85" y="18"/>
              </a:cxn>
              <a:cxn ang="0">
                <a:pos x="109" y="8"/>
              </a:cxn>
              <a:cxn ang="0">
                <a:pos x="133" y="2"/>
              </a:cxn>
              <a:cxn ang="0">
                <a:pos x="160" y="0"/>
              </a:cxn>
              <a:cxn ang="0">
                <a:pos x="183" y="2"/>
              </a:cxn>
              <a:cxn ang="0">
                <a:pos x="210" y="8"/>
              </a:cxn>
              <a:cxn ang="0">
                <a:pos x="231" y="18"/>
              </a:cxn>
              <a:cxn ang="0">
                <a:pos x="252" y="29"/>
              </a:cxn>
              <a:cxn ang="0">
                <a:pos x="271" y="45"/>
              </a:cxn>
              <a:cxn ang="0">
                <a:pos x="287" y="63"/>
              </a:cxn>
              <a:cxn ang="0">
                <a:pos x="300" y="85"/>
              </a:cxn>
              <a:cxn ang="0">
                <a:pos x="311" y="108"/>
              </a:cxn>
              <a:cxn ang="0">
                <a:pos x="316" y="132"/>
              </a:cxn>
              <a:cxn ang="0">
                <a:pos x="319" y="159"/>
              </a:cxn>
              <a:cxn ang="0">
                <a:pos x="316" y="159"/>
              </a:cxn>
            </a:cxnLst>
            <a:rect l="0" t="0" r="r" b="b"/>
            <a:pathLst>
              <a:path w="319" h="318">
                <a:moveTo>
                  <a:pt x="316" y="159"/>
                </a:moveTo>
                <a:lnTo>
                  <a:pt x="316" y="185"/>
                </a:lnTo>
                <a:lnTo>
                  <a:pt x="311" y="209"/>
                </a:lnTo>
                <a:lnTo>
                  <a:pt x="300" y="230"/>
                </a:lnTo>
                <a:lnTo>
                  <a:pt x="287" y="252"/>
                </a:lnTo>
                <a:lnTo>
                  <a:pt x="271" y="270"/>
                </a:lnTo>
                <a:lnTo>
                  <a:pt x="252" y="286"/>
                </a:lnTo>
                <a:lnTo>
                  <a:pt x="231" y="299"/>
                </a:lnTo>
                <a:lnTo>
                  <a:pt x="210" y="310"/>
                </a:lnTo>
                <a:lnTo>
                  <a:pt x="183" y="315"/>
                </a:lnTo>
                <a:lnTo>
                  <a:pt x="160" y="318"/>
                </a:lnTo>
                <a:lnTo>
                  <a:pt x="133" y="315"/>
                </a:lnTo>
                <a:lnTo>
                  <a:pt x="109" y="310"/>
                </a:lnTo>
                <a:lnTo>
                  <a:pt x="85" y="299"/>
                </a:lnTo>
                <a:lnTo>
                  <a:pt x="64" y="286"/>
                </a:lnTo>
                <a:lnTo>
                  <a:pt x="46" y="270"/>
                </a:lnTo>
                <a:lnTo>
                  <a:pt x="30" y="252"/>
                </a:lnTo>
                <a:lnTo>
                  <a:pt x="16" y="230"/>
                </a:lnTo>
                <a:lnTo>
                  <a:pt x="8" y="209"/>
                </a:lnTo>
                <a:lnTo>
                  <a:pt x="0" y="185"/>
                </a:lnTo>
                <a:lnTo>
                  <a:pt x="0" y="159"/>
                </a:lnTo>
                <a:lnTo>
                  <a:pt x="0" y="132"/>
                </a:lnTo>
                <a:lnTo>
                  <a:pt x="8" y="108"/>
                </a:lnTo>
                <a:lnTo>
                  <a:pt x="16" y="85"/>
                </a:lnTo>
                <a:lnTo>
                  <a:pt x="30" y="63"/>
                </a:lnTo>
                <a:lnTo>
                  <a:pt x="46" y="45"/>
                </a:lnTo>
                <a:lnTo>
                  <a:pt x="64" y="29"/>
                </a:lnTo>
                <a:lnTo>
                  <a:pt x="85" y="18"/>
                </a:lnTo>
                <a:lnTo>
                  <a:pt x="109" y="8"/>
                </a:lnTo>
                <a:lnTo>
                  <a:pt x="133" y="2"/>
                </a:lnTo>
                <a:lnTo>
                  <a:pt x="160" y="0"/>
                </a:lnTo>
                <a:lnTo>
                  <a:pt x="183" y="2"/>
                </a:lnTo>
                <a:lnTo>
                  <a:pt x="210" y="8"/>
                </a:lnTo>
                <a:lnTo>
                  <a:pt x="231" y="18"/>
                </a:lnTo>
                <a:lnTo>
                  <a:pt x="252" y="29"/>
                </a:lnTo>
                <a:lnTo>
                  <a:pt x="271" y="45"/>
                </a:lnTo>
                <a:lnTo>
                  <a:pt x="287" y="63"/>
                </a:lnTo>
                <a:lnTo>
                  <a:pt x="300" y="85"/>
                </a:lnTo>
                <a:lnTo>
                  <a:pt x="311" y="108"/>
                </a:lnTo>
                <a:lnTo>
                  <a:pt x="316" y="132"/>
                </a:lnTo>
                <a:lnTo>
                  <a:pt x="319" y="159"/>
                </a:lnTo>
                <a:lnTo>
                  <a:pt x="316" y="159"/>
                </a:lnTo>
                <a:close/>
              </a:path>
            </a:pathLst>
          </a:custGeom>
          <a:solidFill>
            <a:srgbClr val="FFFFFF"/>
          </a:solidFill>
          <a:ln w="9525">
            <a:noFill/>
            <a:round/>
            <a:headEnd/>
            <a:tailEnd/>
          </a:ln>
        </p:spPr>
        <p:txBody>
          <a:bodyPr/>
          <a:lstStyle/>
          <a:p>
            <a:endParaRPr lang="zh-CN" altLang="en-US">
              <a:latin typeface="+mn-lt"/>
            </a:endParaRPr>
          </a:p>
        </p:txBody>
      </p:sp>
      <p:sp>
        <p:nvSpPr>
          <p:cNvPr id="123" name="Freeform 51"/>
          <p:cNvSpPr>
            <a:spLocks/>
          </p:cNvSpPr>
          <p:nvPr/>
        </p:nvSpPr>
        <p:spPr bwMode="auto">
          <a:xfrm>
            <a:off x="7467601" y="4953001"/>
            <a:ext cx="403225" cy="422275"/>
          </a:xfrm>
          <a:custGeom>
            <a:avLst/>
            <a:gdLst/>
            <a:ahLst/>
            <a:cxnLst>
              <a:cxn ang="0">
                <a:pos x="316" y="159"/>
              </a:cxn>
              <a:cxn ang="0">
                <a:pos x="316" y="132"/>
              </a:cxn>
              <a:cxn ang="0">
                <a:pos x="311" y="108"/>
              </a:cxn>
              <a:cxn ang="0">
                <a:pos x="300" y="85"/>
              </a:cxn>
              <a:cxn ang="0">
                <a:pos x="287" y="63"/>
              </a:cxn>
              <a:cxn ang="0">
                <a:pos x="271" y="45"/>
              </a:cxn>
              <a:cxn ang="0">
                <a:pos x="252" y="29"/>
              </a:cxn>
              <a:cxn ang="0">
                <a:pos x="231" y="18"/>
              </a:cxn>
              <a:cxn ang="0">
                <a:pos x="210" y="8"/>
              </a:cxn>
              <a:cxn ang="0">
                <a:pos x="183" y="2"/>
              </a:cxn>
              <a:cxn ang="0">
                <a:pos x="160" y="0"/>
              </a:cxn>
              <a:cxn ang="0">
                <a:pos x="133" y="2"/>
              </a:cxn>
              <a:cxn ang="0">
                <a:pos x="109" y="8"/>
              </a:cxn>
              <a:cxn ang="0">
                <a:pos x="85" y="18"/>
              </a:cxn>
              <a:cxn ang="0">
                <a:pos x="64" y="29"/>
              </a:cxn>
              <a:cxn ang="0">
                <a:pos x="46" y="45"/>
              </a:cxn>
              <a:cxn ang="0">
                <a:pos x="30" y="63"/>
              </a:cxn>
              <a:cxn ang="0">
                <a:pos x="16" y="85"/>
              </a:cxn>
              <a:cxn ang="0">
                <a:pos x="8" y="108"/>
              </a:cxn>
              <a:cxn ang="0">
                <a:pos x="0" y="132"/>
              </a:cxn>
              <a:cxn ang="0">
                <a:pos x="0" y="159"/>
              </a:cxn>
              <a:cxn ang="0">
                <a:pos x="0" y="185"/>
              </a:cxn>
              <a:cxn ang="0">
                <a:pos x="8" y="209"/>
              </a:cxn>
              <a:cxn ang="0">
                <a:pos x="16" y="230"/>
              </a:cxn>
              <a:cxn ang="0">
                <a:pos x="30" y="252"/>
              </a:cxn>
              <a:cxn ang="0">
                <a:pos x="46" y="270"/>
              </a:cxn>
              <a:cxn ang="0">
                <a:pos x="64" y="286"/>
              </a:cxn>
              <a:cxn ang="0">
                <a:pos x="85" y="299"/>
              </a:cxn>
              <a:cxn ang="0">
                <a:pos x="109" y="310"/>
              </a:cxn>
              <a:cxn ang="0">
                <a:pos x="133" y="315"/>
              </a:cxn>
              <a:cxn ang="0">
                <a:pos x="160" y="318"/>
              </a:cxn>
              <a:cxn ang="0">
                <a:pos x="183" y="315"/>
              </a:cxn>
              <a:cxn ang="0">
                <a:pos x="210" y="310"/>
              </a:cxn>
              <a:cxn ang="0">
                <a:pos x="231" y="299"/>
              </a:cxn>
              <a:cxn ang="0">
                <a:pos x="252" y="286"/>
              </a:cxn>
              <a:cxn ang="0">
                <a:pos x="271" y="270"/>
              </a:cxn>
              <a:cxn ang="0">
                <a:pos x="287" y="252"/>
              </a:cxn>
              <a:cxn ang="0">
                <a:pos x="300" y="230"/>
              </a:cxn>
              <a:cxn ang="0">
                <a:pos x="311" y="209"/>
              </a:cxn>
              <a:cxn ang="0">
                <a:pos x="316" y="185"/>
              </a:cxn>
              <a:cxn ang="0">
                <a:pos x="319" y="159"/>
              </a:cxn>
              <a:cxn ang="0">
                <a:pos x="319" y="159"/>
              </a:cxn>
            </a:cxnLst>
            <a:rect l="0" t="0" r="r" b="b"/>
            <a:pathLst>
              <a:path w="319" h="318">
                <a:moveTo>
                  <a:pt x="316" y="159"/>
                </a:moveTo>
                <a:lnTo>
                  <a:pt x="316" y="132"/>
                </a:lnTo>
                <a:lnTo>
                  <a:pt x="311" y="108"/>
                </a:lnTo>
                <a:lnTo>
                  <a:pt x="300" y="85"/>
                </a:lnTo>
                <a:lnTo>
                  <a:pt x="287" y="63"/>
                </a:lnTo>
                <a:lnTo>
                  <a:pt x="271" y="45"/>
                </a:lnTo>
                <a:lnTo>
                  <a:pt x="252" y="29"/>
                </a:lnTo>
                <a:lnTo>
                  <a:pt x="231" y="18"/>
                </a:lnTo>
                <a:lnTo>
                  <a:pt x="210" y="8"/>
                </a:lnTo>
                <a:lnTo>
                  <a:pt x="183" y="2"/>
                </a:lnTo>
                <a:lnTo>
                  <a:pt x="160" y="0"/>
                </a:lnTo>
                <a:lnTo>
                  <a:pt x="133" y="2"/>
                </a:lnTo>
                <a:lnTo>
                  <a:pt x="109" y="8"/>
                </a:lnTo>
                <a:lnTo>
                  <a:pt x="85" y="18"/>
                </a:lnTo>
                <a:lnTo>
                  <a:pt x="64" y="29"/>
                </a:lnTo>
                <a:lnTo>
                  <a:pt x="46" y="45"/>
                </a:lnTo>
                <a:lnTo>
                  <a:pt x="30" y="63"/>
                </a:lnTo>
                <a:lnTo>
                  <a:pt x="16" y="85"/>
                </a:lnTo>
                <a:lnTo>
                  <a:pt x="8" y="108"/>
                </a:lnTo>
                <a:lnTo>
                  <a:pt x="0" y="132"/>
                </a:lnTo>
                <a:lnTo>
                  <a:pt x="0" y="159"/>
                </a:lnTo>
                <a:lnTo>
                  <a:pt x="0" y="185"/>
                </a:lnTo>
                <a:lnTo>
                  <a:pt x="8" y="209"/>
                </a:lnTo>
                <a:lnTo>
                  <a:pt x="16" y="230"/>
                </a:lnTo>
                <a:lnTo>
                  <a:pt x="30" y="252"/>
                </a:lnTo>
                <a:lnTo>
                  <a:pt x="46" y="270"/>
                </a:lnTo>
                <a:lnTo>
                  <a:pt x="64" y="286"/>
                </a:lnTo>
                <a:lnTo>
                  <a:pt x="85" y="299"/>
                </a:lnTo>
                <a:lnTo>
                  <a:pt x="109" y="310"/>
                </a:lnTo>
                <a:lnTo>
                  <a:pt x="133" y="315"/>
                </a:lnTo>
                <a:lnTo>
                  <a:pt x="160" y="318"/>
                </a:lnTo>
                <a:lnTo>
                  <a:pt x="183" y="315"/>
                </a:lnTo>
                <a:lnTo>
                  <a:pt x="210" y="310"/>
                </a:lnTo>
                <a:lnTo>
                  <a:pt x="231" y="299"/>
                </a:lnTo>
                <a:lnTo>
                  <a:pt x="252" y="286"/>
                </a:lnTo>
                <a:lnTo>
                  <a:pt x="271" y="270"/>
                </a:lnTo>
                <a:lnTo>
                  <a:pt x="287" y="252"/>
                </a:lnTo>
                <a:lnTo>
                  <a:pt x="300" y="230"/>
                </a:lnTo>
                <a:lnTo>
                  <a:pt x="311" y="209"/>
                </a:lnTo>
                <a:lnTo>
                  <a:pt x="316" y="185"/>
                </a:lnTo>
                <a:lnTo>
                  <a:pt x="319" y="159"/>
                </a:lnTo>
                <a:lnTo>
                  <a:pt x="319"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124" name="Rectangle 54"/>
          <p:cNvSpPr>
            <a:spLocks noChangeArrowheads="1"/>
          </p:cNvSpPr>
          <p:nvPr/>
        </p:nvSpPr>
        <p:spPr bwMode="auto">
          <a:xfrm>
            <a:off x="7612063" y="5092700"/>
            <a:ext cx="99386" cy="230832"/>
          </a:xfrm>
          <a:prstGeom prst="rect">
            <a:avLst/>
          </a:prstGeom>
          <a:noFill/>
          <a:ln w="9525">
            <a:noFill/>
            <a:miter lim="800000"/>
            <a:headEnd/>
            <a:tailEnd/>
          </a:ln>
        </p:spPr>
        <p:txBody>
          <a:bodyPr wrap="none" lIns="0" tIns="0" rIns="0" bIns="0">
            <a:spAutoFit/>
          </a:bodyPr>
          <a:lstStyle/>
          <a:p>
            <a:r>
              <a:rPr lang="en-US" altLang="zh-CN" sz="1500" dirty="0">
                <a:solidFill>
                  <a:srgbClr val="000000"/>
                </a:solidFill>
                <a:latin typeface="+mn-lt"/>
              </a:rPr>
              <a:t>P</a:t>
            </a:r>
            <a:endParaRPr lang="en-US" altLang="zh-CN" dirty="0">
              <a:latin typeface="+mn-lt"/>
            </a:endParaRPr>
          </a:p>
        </p:txBody>
      </p:sp>
      <p:sp>
        <p:nvSpPr>
          <p:cNvPr id="125" name="Rectangle 55"/>
          <p:cNvSpPr>
            <a:spLocks noChangeArrowheads="1"/>
          </p:cNvSpPr>
          <p:nvPr/>
        </p:nvSpPr>
        <p:spPr bwMode="auto">
          <a:xfrm>
            <a:off x="7696200" y="5181600"/>
            <a:ext cx="78548" cy="184666"/>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mn-lt"/>
              </a:rPr>
              <a:t>1</a:t>
            </a:r>
            <a:endParaRPr lang="zh-CN" altLang="en-US">
              <a:latin typeface="+mn-lt"/>
            </a:endParaRPr>
          </a:p>
        </p:txBody>
      </p:sp>
      <p:sp>
        <p:nvSpPr>
          <p:cNvPr id="126" name="Line 58"/>
          <p:cNvSpPr>
            <a:spLocks noChangeShapeType="1"/>
          </p:cNvSpPr>
          <p:nvPr/>
        </p:nvSpPr>
        <p:spPr bwMode="auto">
          <a:xfrm>
            <a:off x="9372600" y="5257800"/>
            <a:ext cx="1588" cy="363538"/>
          </a:xfrm>
          <a:prstGeom prst="line">
            <a:avLst/>
          </a:prstGeom>
          <a:noFill/>
          <a:ln w="25400">
            <a:solidFill>
              <a:srgbClr val="000000"/>
            </a:solidFill>
            <a:round/>
            <a:headEnd/>
            <a:tailEnd/>
          </a:ln>
        </p:spPr>
        <p:txBody>
          <a:bodyPr/>
          <a:lstStyle/>
          <a:p>
            <a:endParaRPr lang="zh-CN" altLang="en-US">
              <a:latin typeface="+mn-lt"/>
            </a:endParaRPr>
          </a:p>
        </p:txBody>
      </p:sp>
      <p:sp>
        <p:nvSpPr>
          <p:cNvPr id="127" name="Freeform 60"/>
          <p:cNvSpPr>
            <a:spLocks/>
          </p:cNvSpPr>
          <p:nvPr/>
        </p:nvSpPr>
        <p:spPr bwMode="auto">
          <a:xfrm>
            <a:off x="9144000" y="4876801"/>
            <a:ext cx="401638" cy="422275"/>
          </a:xfrm>
          <a:custGeom>
            <a:avLst/>
            <a:gdLst/>
            <a:ahLst/>
            <a:cxnLst>
              <a:cxn ang="0">
                <a:pos x="315" y="159"/>
              </a:cxn>
              <a:cxn ang="0">
                <a:pos x="315" y="185"/>
              </a:cxn>
              <a:cxn ang="0">
                <a:pos x="310" y="209"/>
              </a:cxn>
              <a:cxn ang="0">
                <a:pos x="299" y="233"/>
              </a:cxn>
              <a:cxn ang="0">
                <a:pos x="286" y="254"/>
              </a:cxn>
              <a:cxn ang="0">
                <a:pos x="270" y="273"/>
              </a:cxn>
              <a:cxn ang="0">
                <a:pos x="252" y="288"/>
              </a:cxn>
              <a:cxn ang="0">
                <a:pos x="230" y="302"/>
              </a:cxn>
              <a:cxn ang="0">
                <a:pos x="209" y="310"/>
              </a:cxn>
              <a:cxn ang="0">
                <a:pos x="183" y="318"/>
              </a:cxn>
              <a:cxn ang="0">
                <a:pos x="159" y="318"/>
              </a:cxn>
              <a:cxn ang="0">
                <a:pos x="132" y="318"/>
              </a:cxn>
              <a:cxn ang="0">
                <a:pos x="109" y="310"/>
              </a:cxn>
              <a:cxn ang="0">
                <a:pos x="85" y="302"/>
              </a:cxn>
              <a:cxn ang="0">
                <a:pos x="64" y="288"/>
              </a:cxn>
              <a:cxn ang="0">
                <a:pos x="45" y="273"/>
              </a:cxn>
              <a:cxn ang="0">
                <a:pos x="29" y="254"/>
              </a:cxn>
              <a:cxn ang="0">
                <a:pos x="16" y="233"/>
              </a:cxn>
              <a:cxn ang="0">
                <a:pos x="8" y="209"/>
              </a:cxn>
              <a:cxn ang="0">
                <a:pos x="0" y="185"/>
              </a:cxn>
              <a:cxn ang="0">
                <a:pos x="0" y="159"/>
              </a:cxn>
              <a:cxn ang="0">
                <a:pos x="0" y="135"/>
              </a:cxn>
              <a:cxn ang="0">
                <a:pos x="8" y="108"/>
              </a:cxn>
              <a:cxn ang="0">
                <a:pos x="16" y="87"/>
              </a:cxn>
              <a:cxn ang="0">
                <a:pos x="29" y="66"/>
              </a:cxn>
              <a:cxn ang="0">
                <a:pos x="45" y="47"/>
              </a:cxn>
              <a:cxn ang="0">
                <a:pos x="64" y="31"/>
              </a:cxn>
              <a:cxn ang="0">
                <a:pos x="85" y="18"/>
              </a:cxn>
              <a:cxn ang="0">
                <a:pos x="109" y="7"/>
              </a:cxn>
              <a:cxn ang="0">
                <a:pos x="132" y="2"/>
              </a:cxn>
              <a:cxn ang="0">
                <a:pos x="159" y="0"/>
              </a:cxn>
              <a:cxn ang="0">
                <a:pos x="183" y="2"/>
              </a:cxn>
              <a:cxn ang="0">
                <a:pos x="209" y="7"/>
              </a:cxn>
              <a:cxn ang="0">
                <a:pos x="230" y="18"/>
              </a:cxn>
              <a:cxn ang="0">
                <a:pos x="252" y="31"/>
              </a:cxn>
              <a:cxn ang="0">
                <a:pos x="270" y="47"/>
              </a:cxn>
              <a:cxn ang="0">
                <a:pos x="286" y="66"/>
              </a:cxn>
              <a:cxn ang="0">
                <a:pos x="299" y="87"/>
              </a:cxn>
              <a:cxn ang="0">
                <a:pos x="310" y="108"/>
              </a:cxn>
              <a:cxn ang="0">
                <a:pos x="315" y="135"/>
              </a:cxn>
              <a:cxn ang="0">
                <a:pos x="318" y="159"/>
              </a:cxn>
              <a:cxn ang="0">
                <a:pos x="315" y="159"/>
              </a:cxn>
            </a:cxnLst>
            <a:rect l="0" t="0" r="r" b="b"/>
            <a:pathLst>
              <a:path w="318" h="318">
                <a:moveTo>
                  <a:pt x="315" y="159"/>
                </a:moveTo>
                <a:lnTo>
                  <a:pt x="315" y="185"/>
                </a:lnTo>
                <a:lnTo>
                  <a:pt x="310" y="209"/>
                </a:lnTo>
                <a:lnTo>
                  <a:pt x="299" y="233"/>
                </a:lnTo>
                <a:lnTo>
                  <a:pt x="286" y="254"/>
                </a:lnTo>
                <a:lnTo>
                  <a:pt x="270" y="273"/>
                </a:lnTo>
                <a:lnTo>
                  <a:pt x="252" y="288"/>
                </a:lnTo>
                <a:lnTo>
                  <a:pt x="230" y="302"/>
                </a:lnTo>
                <a:lnTo>
                  <a:pt x="209" y="310"/>
                </a:lnTo>
                <a:lnTo>
                  <a:pt x="183" y="318"/>
                </a:lnTo>
                <a:lnTo>
                  <a:pt x="159" y="318"/>
                </a:lnTo>
                <a:lnTo>
                  <a:pt x="132" y="318"/>
                </a:lnTo>
                <a:lnTo>
                  <a:pt x="109" y="310"/>
                </a:lnTo>
                <a:lnTo>
                  <a:pt x="85" y="302"/>
                </a:lnTo>
                <a:lnTo>
                  <a:pt x="64" y="288"/>
                </a:lnTo>
                <a:lnTo>
                  <a:pt x="45" y="273"/>
                </a:lnTo>
                <a:lnTo>
                  <a:pt x="29" y="254"/>
                </a:lnTo>
                <a:lnTo>
                  <a:pt x="16" y="233"/>
                </a:lnTo>
                <a:lnTo>
                  <a:pt x="8" y="209"/>
                </a:lnTo>
                <a:lnTo>
                  <a:pt x="0" y="185"/>
                </a:lnTo>
                <a:lnTo>
                  <a:pt x="0" y="159"/>
                </a:lnTo>
                <a:lnTo>
                  <a:pt x="0" y="135"/>
                </a:lnTo>
                <a:lnTo>
                  <a:pt x="8" y="108"/>
                </a:lnTo>
                <a:lnTo>
                  <a:pt x="16" y="87"/>
                </a:lnTo>
                <a:lnTo>
                  <a:pt x="29" y="66"/>
                </a:lnTo>
                <a:lnTo>
                  <a:pt x="45" y="47"/>
                </a:lnTo>
                <a:lnTo>
                  <a:pt x="64" y="31"/>
                </a:lnTo>
                <a:lnTo>
                  <a:pt x="85" y="18"/>
                </a:lnTo>
                <a:lnTo>
                  <a:pt x="109" y="7"/>
                </a:lnTo>
                <a:lnTo>
                  <a:pt x="132" y="2"/>
                </a:lnTo>
                <a:lnTo>
                  <a:pt x="159" y="0"/>
                </a:lnTo>
                <a:lnTo>
                  <a:pt x="183" y="2"/>
                </a:lnTo>
                <a:lnTo>
                  <a:pt x="209" y="7"/>
                </a:lnTo>
                <a:lnTo>
                  <a:pt x="230" y="18"/>
                </a:lnTo>
                <a:lnTo>
                  <a:pt x="252" y="31"/>
                </a:lnTo>
                <a:lnTo>
                  <a:pt x="270" y="47"/>
                </a:lnTo>
                <a:lnTo>
                  <a:pt x="286" y="66"/>
                </a:lnTo>
                <a:lnTo>
                  <a:pt x="299" y="87"/>
                </a:lnTo>
                <a:lnTo>
                  <a:pt x="310" y="108"/>
                </a:lnTo>
                <a:lnTo>
                  <a:pt x="315" y="135"/>
                </a:lnTo>
                <a:lnTo>
                  <a:pt x="318" y="159"/>
                </a:lnTo>
                <a:lnTo>
                  <a:pt x="315" y="159"/>
                </a:lnTo>
                <a:close/>
              </a:path>
            </a:pathLst>
          </a:custGeom>
          <a:solidFill>
            <a:srgbClr val="FFFFFF"/>
          </a:solidFill>
          <a:ln w="9525">
            <a:noFill/>
            <a:round/>
            <a:headEnd/>
            <a:tailEnd/>
          </a:ln>
        </p:spPr>
        <p:txBody>
          <a:bodyPr/>
          <a:lstStyle/>
          <a:p>
            <a:endParaRPr lang="zh-CN" altLang="en-US">
              <a:latin typeface="+mn-lt"/>
            </a:endParaRPr>
          </a:p>
        </p:txBody>
      </p:sp>
      <p:sp>
        <p:nvSpPr>
          <p:cNvPr id="128" name="Freeform 61"/>
          <p:cNvSpPr>
            <a:spLocks/>
          </p:cNvSpPr>
          <p:nvPr/>
        </p:nvSpPr>
        <p:spPr bwMode="auto">
          <a:xfrm>
            <a:off x="9144000" y="4876801"/>
            <a:ext cx="401638" cy="422275"/>
          </a:xfrm>
          <a:custGeom>
            <a:avLst/>
            <a:gdLst/>
            <a:ahLst/>
            <a:cxnLst>
              <a:cxn ang="0">
                <a:pos x="315" y="159"/>
              </a:cxn>
              <a:cxn ang="0">
                <a:pos x="315" y="135"/>
              </a:cxn>
              <a:cxn ang="0">
                <a:pos x="310" y="108"/>
              </a:cxn>
              <a:cxn ang="0">
                <a:pos x="299" y="87"/>
              </a:cxn>
              <a:cxn ang="0">
                <a:pos x="286" y="66"/>
              </a:cxn>
              <a:cxn ang="0">
                <a:pos x="270" y="47"/>
              </a:cxn>
              <a:cxn ang="0">
                <a:pos x="252" y="31"/>
              </a:cxn>
              <a:cxn ang="0">
                <a:pos x="230" y="18"/>
              </a:cxn>
              <a:cxn ang="0">
                <a:pos x="209" y="7"/>
              </a:cxn>
              <a:cxn ang="0">
                <a:pos x="183" y="2"/>
              </a:cxn>
              <a:cxn ang="0">
                <a:pos x="159" y="0"/>
              </a:cxn>
              <a:cxn ang="0">
                <a:pos x="132" y="2"/>
              </a:cxn>
              <a:cxn ang="0">
                <a:pos x="109" y="7"/>
              </a:cxn>
              <a:cxn ang="0">
                <a:pos x="85" y="18"/>
              </a:cxn>
              <a:cxn ang="0">
                <a:pos x="64" y="31"/>
              </a:cxn>
              <a:cxn ang="0">
                <a:pos x="45" y="47"/>
              </a:cxn>
              <a:cxn ang="0">
                <a:pos x="29" y="66"/>
              </a:cxn>
              <a:cxn ang="0">
                <a:pos x="16" y="87"/>
              </a:cxn>
              <a:cxn ang="0">
                <a:pos x="8" y="108"/>
              </a:cxn>
              <a:cxn ang="0">
                <a:pos x="0" y="135"/>
              </a:cxn>
              <a:cxn ang="0">
                <a:pos x="0" y="159"/>
              </a:cxn>
              <a:cxn ang="0">
                <a:pos x="0" y="185"/>
              </a:cxn>
              <a:cxn ang="0">
                <a:pos x="8" y="209"/>
              </a:cxn>
              <a:cxn ang="0">
                <a:pos x="16" y="233"/>
              </a:cxn>
              <a:cxn ang="0">
                <a:pos x="29" y="254"/>
              </a:cxn>
              <a:cxn ang="0">
                <a:pos x="45" y="273"/>
              </a:cxn>
              <a:cxn ang="0">
                <a:pos x="64" y="288"/>
              </a:cxn>
              <a:cxn ang="0">
                <a:pos x="85" y="302"/>
              </a:cxn>
              <a:cxn ang="0">
                <a:pos x="109" y="310"/>
              </a:cxn>
              <a:cxn ang="0">
                <a:pos x="132" y="318"/>
              </a:cxn>
              <a:cxn ang="0">
                <a:pos x="159" y="318"/>
              </a:cxn>
              <a:cxn ang="0">
                <a:pos x="183" y="318"/>
              </a:cxn>
              <a:cxn ang="0">
                <a:pos x="209" y="310"/>
              </a:cxn>
              <a:cxn ang="0">
                <a:pos x="230" y="302"/>
              </a:cxn>
              <a:cxn ang="0">
                <a:pos x="252" y="288"/>
              </a:cxn>
              <a:cxn ang="0">
                <a:pos x="270" y="273"/>
              </a:cxn>
              <a:cxn ang="0">
                <a:pos x="286" y="254"/>
              </a:cxn>
              <a:cxn ang="0">
                <a:pos x="299" y="233"/>
              </a:cxn>
              <a:cxn ang="0">
                <a:pos x="310" y="209"/>
              </a:cxn>
              <a:cxn ang="0">
                <a:pos x="315" y="185"/>
              </a:cxn>
              <a:cxn ang="0">
                <a:pos x="318" y="159"/>
              </a:cxn>
              <a:cxn ang="0">
                <a:pos x="318" y="159"/>
              </a:cxn>
            </a:cxnLst>
            <a:rect l="0" t="0" r="r" b="b"/>
            <a:pathLst>
              <a:path w="318" h="318">
                <a:moveTo>
                  <a:pt x="315" y="159"/>
                </a:moveTo>
                <a:lnTo>
                  <a:pt x="315" y="135"/>
                </a:lnTo>
                <a:lnTo>
                  <a:pt x="310" y="108"/>
                </a:lnTo>
                <a:lnTo>
                  <a:pt x="299" y="87"/>
                </a:lnTo>
                <a:lnTo>
                  <a:pt x="286" y="66"/>
                </a:lnTo>
                <a:lnTo>
                  <a:pt x="270" y="47"/>
                </a:lnTo>
                <a:lnTo>
                  <a:pt x="252" y="31"/>
                </a:lnTo>
                <a:lnTo>
                  <a:pt x="230" y="18"/>
                </a:lnTo>
                <a:lnTo>
                  <a:pt x="209" y="7"/>
                </a:lnTo>
                <a:lnTo>
                  <a:pt x="183" y="2"/>
                </a:lnTo>
                <a:lnTo>
                  <a:pt x="159" y="0"/>
                </a:lnTo>
                <a:lnTo>
                  <a:pt x="132" y="2"/>
                </a:lnTo>
                <a:lnTo>
                  <a:pt x="109" y="7"/>
                </a:lnTo>
                <a:lnTo>
                  <a:pt x="85" y="18"/>
                </a:lnTo>
                <a:lnTo>
                  <a:pt x="64" y="31"/>
                </a:lnTo>
                <a:lnTo>
                  <a:pt x="45" y="47"/>
                </a:lnTo>
                <a:lnTo>
                  <a:pt x="29" y="66"/>
                </a:lnTo>
                <a:lnTo>
                  <a:pt x="16" y="87"/>
                </a:lnTo>
                <a:lnTo>
                  <a:pt x="8" y="108"/>
                </a:lnTo>
                <a:lnTo>
                  <a:pt x="0" y="135"/>
                </a:lnTo>
                <a:lnTo>
                  <a:pt x="0" y="159"/>
                </a:lnTo>
                <a:lnTo>
                  <a:pt x="0" y="185"/>
                </a:lnTo>
                <a:lnTo>
                  <a:pt x="8" y="209"/>
                </a:lnTo>
                <a:lnTo>
                  <a:pt x="16" y="233"/>
                </a:lnTo>
                <a:lnTo>
                  <a:pt x="29" y="254"/>
                </a:lnTo>
                <a:lnTo>
                  <a:pt x="45" y="273"/>
                </a:lnTo>
                <a:lnTo>
                  <a:pt x="64" y="288"/>
                </a:lnTo>
                <a:lnTo>
                  <a:pt x="85" y="302"/>
                </a:lnTo>
                <a:lnTo>
                  <a:pt x="109" y="310"/>
                </a:lnTo>
                <a:lnTo>
                  <a:pt x="132" y="318"/>
                </a:lnTo>
                <a:lnTo>
                  <a:pt x="159" y="318"/>
                </a:lnTo>
                <a:lnTo>
                  <a:pt x="183" y="318"/>
                </a:lnTo>
                <a:lnTo>
                  <a:pt x="209" y="310"/>
                </a:lnTo>
                <a:lnTo>
                  <a:pt x="230" y="302"/>
                </a:lnTo>
                <a:lnTo>
                  <a:pt x="252" y="288"/>
                </a:lnTo>
                <a:lnTo>
                  <a:pt x="270" y="273"/>
                </a:lnTo>
                <a:lnTo>
                  <a:pt x="286" y="254"/>
                </a:lnTo>
                <a:lnTo>
                  <a:pt x="299" y="233"/>
                </a:lnTo>
                <a:lnTo>
                  <a:pt x="310" y="209"/>
                </a:lnTo>
                <a:lnTo>
                  <a:pt x="315" y="185"/>
                </a:lnTo>
                <a:lnTo>
                  <a:pt x="318" y="159"/>
                </a:lnTo>
                <a:lnTo>
                  <a:pt x="318"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129" name="Rectangle 65"/>
          <p:cNvSpPr>
            <a:spLocks noChangeArrowheads="1"/>
          </p:cNvSpPr>
          <p:nvPr/>
        </p:nvSpPr>
        <p:spPr bwMode="auto">
          <a:xfrm>
            <a:off x="9297988" y="5010150"/>
            <a:ext cx="99386" cy="230832"/>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P</a:t>
            </a:r>
            <a:endParaRPr lang="en-US" altLang="zh-CN">
              <a:latin typeface="+mn-lt"/>
            </a:endParaRPr>
          </a:p>
        </p:txBody>
      </p:sp>
      <p:sp>
        <p:nvSpPr>
          <p:cNvPr id="130" name="Rectangle 66"/>
          <p:cNvSpPr>
            <a:spLocks noChangeArrowheads="1"/>
          </p:cNvSpPr>
          <p:nvPr/>
        </p:nvSpPr>
        <p:spPr bwMode="auto">
          <a:xfrm>
            <a:off x="9372600" y="5105400"/>
            <a:ext cx="80150"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n-lt"/>
              </a:rPr>
              <a:t>n</a:t>
            </a:r>
            <a:endParaRPr lang="en-US" altLang="zh-CN">
              <a:latin typeface="+mn-lt"/>
            </a:endParaRPr>
          </a:p>
        </p:txBody>
      </p:sp>
      <p:sp>
        <p:nvSpPr>
          <p:cNvPr id="131" name="Line 74"/>
          <p:cNvSpPr>
            <a:spLocks noChangeShapeType="1"/>
          </p:cNvSpPr>
          <p:nvPr/>
        </p:nvSpPr>
        <p:spPr bwMode="auto">
          <a:xfrm>
            <a:off x="7696200" y="5334000"/>
            <a:ext cx="1588" cy="363538"/>
          </a:xfrm>
          <a:prstGeom prst="line">
            <a:avLst/>
          </a:prstGeom>
          <a:noFill/>
          <a:ln w="25400">
            <a:solidFill>
              <a:srgbClr val="000000"/>
            </a:solidFill>
            <a:round/>
            <a:headEnd/>
            <a:tailEnd/>
          </a:ln>
        </p:spPr>
        <p:txBody>
          <a:bodyPr/>
          <a:lstStyle/>
          <a:p>
            <a:endParaRPr lang="zh-CN" altLang="en-US">
              <a:latin typeface="+mn-lt"/>
            </a:endParaRPr>
          </a:p>
        </p:txBody>
      </p:sp>
      <p:sp>
        <p:nvSpPr>
          <p:cNvPr id="132" name="Text Box 75"/>
          <p:cNvSpPr txBox="1">
            <a:spLocks noChangeArrowheads="1"/>
          </p:cNvSpPr>
          <p:nvPr/>
        </p:nvSpPr>
        <p:spPr bwMode="auto">
          <a:xfrm>
            <a:off x="5715000" y="5181600"/>
            <a:ext cx="1352466" cy="600164"/>
          </a:xfrm>
          <a:prstGeom prst="rect">
            <a:avLst/>
          </a:prstGeom>
          <a:noFill/>
          <a:ln w="9525">
            <a:noFill/>
            <a:miter lim="800000"/>
            <a:headEnd/>
            <a:tailEnd/>
          </a:ln>
          <a:effectLst/>
        </p:spPr>
        <p:txBody>
          <a:bodyPr wrap="none" bIns="0">
            <a:spAutoFit/>
          </a:bodyPr>
          <a:lstStyle/>
          <a:p>
            <a:r>
              <a:rPr lang="en-US" altLang="zh-CN" dirty="0">
                <a:latin typeface="+mn-lt"/>
              </a:rPr>
              <a:t>Conceptual </a:t>
            </a:r>
          </a:p>
          <a:p>
            <a:r>
              <a:rPr lang="en-US" altLang="zh-CN" dirty="0">
                <a:latin typeface="+mn-lt"/>
              </a:rPr>
              <a:t>Picture</a:t>
            </a:r>
          </a:p>
        </p:txBody>
      </p:sp>
      <p:sp>
        <p:nvSpPr>
          <p:cNvPr id="133" name="文本框 132"/>
          <p:cNvSpPr txBox="1"/>
          <p:nvPr/>
        </p:nvSpPr>
        <p:spPr>
          <a:xfrm>
            <a:off x="2063552" y="5301209"/>
            <a:ext cx="1107996" cy="369332"/>
          </a:xfrm>
          <a:prstGeom prst="rect">
            <a:avLst/>
          </a:prstGeom>
          <a:noFill/>
        </p:spPr>
        <p:txBody>
          <a:bodyPr wrap="none" rtlCol="0">
            <a:spAutoFit/>
          </a:bodyPr>
          <a:lstStyle/>
          <a:p>
            <a:r>
              <a:rPr kumimoji="1" lang="zh-CN" altLang="en-US" dirty="0" smtClean="0">
                <a:solidFill>
                  <a:srgbClr val="0000FF"/>
                </a:solidFill>
                <a:latin typeface="+mn-lt"/>
                <a:ea typeface="+mn-ea"/>
              </a:rPr>
              <a:t>重点关注</a:t>
            </a:r>
            <a:endParaRPr kumimoji="1" lang="zh-CN" altLang="en-US" dirty="0">
              <a:solidFill>
                <a:srgbClr val="0000FF"/>
              </a:solidFill>
              <a:latin typeface="+mn-lt"/>
              <a:ea typeface="+mn-ea"/>
            </a:endParaRPr>
          </a:p>
        </p:txBody>
      </p:sp>
    </p:spTree>
    <p:extLst>
      <p:ext uri="{BB962C8B-B14F-4D97-AF65-F5344CB8AC3E}">
        <p14:creationId xmlns:p14="http://schemas.microsoft.com/office/powerpoint/2010/main" val="18045779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存储器系统的自然扩展</a:t>
            </a:r>
            <a:endParaRPr kumimoji="1" lang="zh-CN" altLang="en-US" dirty="0"/>
          </a:p>
        </p:txBody>
      </p:sp>
      <p:sp>
        <p:nvSpPr>
          <p:cNvPr id="115" name="Line 155"/>
          <p:cNvSpPr>
            <a:spLocks noChangeShapeType="1"/>
          </p:cNvSpPr>
          <p:nvPr/>
        </p:nvSpPr>
        <p:spPr bwMode="auto">
          <a:xfrm flipV="1">
            <a:off x="1271464" y="1557932"/>
            <a:ext cx="9577064" cy="23814"/>
          </a:xfrm>
          <a:prstGeom prst="line">
            <a:avLst/>
          </a:prstGeom>
          <a:noFill/>
          <a:ln w="38100">
            <a:solidFill>
              <a:schemeClr val="tx1"/>
            </a:solidFill>
            <a:round/>
            <a:headEnd/>
            <a:tailEnd type="triangle" w="med" len="med"/>
          </a:ln>
          <a:effectLst/>
        </p:spPr>
        <p:txBody>
          <a:bodyPr wrap="none" bIns="0" anchor="ctr"/>
          <a:lstStyle/>
          <a:p>
            <a:endParaRPr lang="zh-CN" altLang="en-US">
              <a:latin typeface="+mn-lt"/>
            </a:endParaRPr>
          </a:p>
        </p:txBody>
      </p:sp>
      <p:sp>
        <p:nvSpPr>
          <p:cNvPr id="116" name="Text Box 156"/>
          <p:cNvSpPr txBox="1">
            <a:spLocks noChangeArrowheads="1"/>
          </p:cNvSpPr>
          <p:nvPr/>
        </p:nvSpPr>
        <p:spPr bwMode="auto">
          <a:xfrm>
            <a:off x="7604125" y="1521544"/>
            <a:ext cx="824906" cy="415498"/>
          </a:xfrm>
          <a:prstGeom prst="rect">
            <a:avLst/>
          </a:prstGeom>
          <a:noFill/>
          <a:ln w="9525">
            <a:noFill/>
            <a:miter lim="800000"/>
            <a:headEnd/>
            <a:tailEnd/>
          </a:ln>
          <a:effectLst/>
        </p:spPr>
        <p:txBody>
          <a:bodyPr wrap="none" bIns="0">
            <a:spAutoFit/>
          </a:bodyPr>
          <a:lstStyle/>
          <a:p>
            <a:r>
              <a:rPr lang="en-US" altLang="zh-CN" sz="2400" dirty="0">
                <a:latin typeface="+mn-lt"/>
              </a:rPr>
              <a:t>Scale</a:t>
            </a:r>
          </a:p>
        </p:txBody>
      </p:sp>
      <p:grpSp>
        <p:nvGrpSpPr>
          <p:cNvPr id="117" name="Group 3"/>
          <p:cNvGrpSpPr>
            <a:grpSpLocks/>
          </p:cNvGrpSpPr>
          <p:nvPr/>
        </p:nvGrpSpPr>
        <p:grpSpPr bwMode="auto">
          <a:xfrm>
            <a:off x="3223447" y="4351388"/>
            <a:ext cx="2889250" cy="2316163"/>
            <a:chOff x="4004" y="864"/>
            <a:chExt cx="1820" cy="1459"/>
          </a:xfrm>
        </p:grpSpPr>
        <p:sp>
          <p:nvSpPr>
            <p:cNvPr id="118" name="Line 4"/>
            <p:cNvSpPr>
              <a:spLocks noChangeShapeType="1"/>
            </p:cNvSpPr>
            <p:nvPr/>
          </p:nvSpPr>
          <p:spPr bwMode="auto">
            <a:xfrm>
              <a:off x="5415" y="1792"/>
              <a:ext cx="2" cy="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5"/>
            <p:cNvSpPr>
              <a:spLocks noChangeShapeType="1"/>
            </p:cNvSpPr>
            <p:nvPr/>
          </p:nvSpPr>
          <p:spPr bwMode="auto">
            <a:xfrm>
              <a:off x="5587" y="1468"/>
              <a:ext cx="2"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6"/>
            <p:cNvSpPr>
              <a:spLocks noChangeShapeType="1"/>
            </p:cNvSpPr>
            <p:nvPr/>
          </p:nvSpPr>
          <p:spPr bwMode="auto">
            <a:xfrm>
              <a:off x="4208" y="1460"/>
              <a:ext cx="3" cy="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Freeform 7"/>
            <p:cNvSpPr>
              <a:spLocks/>
            </p:cNvSpPr>
            <p:nvPr/>
          </p:nvSpPr>
          <p:spPr bwMode="auto">
            <a:xfrm>
              <a:off x="4004" y="1545"/>
              <a:ext cx="1807" cy="241"/>
            </a:xfrm>
            <a:custGeom>
              <a:avLst/>
              <a:gdLst>
                <a:gd name="T0" fmla="*/ 0 w 1668"/>
                <a:gd name="T1" fmla="*/ 0 h 241"/>
                <a:gd name="T2" fmla="*/ 1807 w 1668"/>
                <a:gd name="T3" fmla="*/ 3 h 241"/>
                <a:gd name="T4" fmla="*/ 1807 w 1668"/>
                <a:gd name="T5" fmla="*/ 241 h 241"/>
                <a:gd name="T6" fmla="*/ 3 w 1668"/>
                <a:gd name="T7" fmla="*/ 241 h 241"/>
                <a:gd name="T8" fmla="*/ 3 w 1668"/>
                <a:gd name="T9" fmla="*/ 3 h 241"/>
                <a:gd name="T10" fmla="*/ 0 w 1668"/>
                <a:gd name="T11" fmla="*/ 0 h 241"/>
                <a:gd name="T12" fmla="*/ 0 60000 65536"/>
                <a:gd name="T13" fmla="*/ 0 60000 65536"/>
                <a:gd name="T14" fmla="*/ 0 60000 65536"/>
                <a:gd name="T15" fmla="*/ 0 60000 65536"/>
                <a:gd name="T16" fmla="*/ 0 60000 65536"/>
                <a:gd name="T17" fmla="*/ 0 60000 65536"/>
                <a:gd name="T18" fmla="*/ 0 w 1668"/>
                <a:gd name="T19" fmla="*/ 0 h 241"/>
                <a:gd name="T20" fmla="*/ 1668 w 1668"/>
                <a:gd name="T21" fmla="*/ 241 h 241"/>
              </a:gdLst>
              <a:ahLst/>
              <a:cxnLst>
                <a:cxn ang="T12">
                  <a:pos x="T0" y="T1"/>
                </a:cxn>
                <a:cxn ang="T13">
                  <a:pos x="T2" y="T3"/>
                </a:cxn>
                <a:cxn ang="T14">
                  <a:pos x="T4" y="T5"/>
                </a:cxn>
                <a:cxn ang="T15">
                  <a:pos x="T6" y="T7"/>
                </a:cxn>
                <a:cxn ang="T16">
                  <a:pos x="T8" y="T9"/>
                </a:cxn>
                <a:cxn ang="T17">
                  <a:pos x="T10" y="T11"/>
                </a:cxn>
              </a:cxnLst>
              <a:rect l="T18" t="T19" r="T20" b="T21"/>
              <a:pathLst>
                <a:path w="1668" h="241">
                  <a:moveTo>
                    <a:pt x="0" y="0"/>
                  </a:moveTo>
                  <a:lnTo>
                    <a:pt x="1668" y="3"/>
                  </a:lnTo>
                  <a:lnTo>
                    <a:pt x="1668" y="241"/>
                  </a:lnTo>
                  <a:lnTo>
                    <a:pt x="3" y="241"/>
                  </a:lnTo>
                  <a:lnTo>
                    <a:pt x="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8"/>
            <p:cNvSpPr>
              <a:spLocks/>
            </p:cNvSpPr>
            <p:nvPr/>
          </p:nvSpPr>
          <p:spPr bwMode="auto">
            <a:xfrm>
              <a:off x="4004" y="1545"/>
              <a:ext cx="1807" cy="241"/>
            </a:xfrm>
            <a:custGeom>
              <a:avLst/>
              <a:gdLst>
                <a:gd name="T0" fmla="*/ 0 w 1668"/>
                <a:gd name="T1" fmla="*/ 0 h 241"/>
                <a:gd name="T2" fmla="*/ 1807 w 1668"/>
                <a:gd name="T3" fmla="*/ 3 h 241"/>
                <a:gd name="T4" fmla="*/ 1807 w 1668"/>
                <a:gd name="T5" fmla="*/ 241 h 241"/>
                <a:gd name="T6" fmla="*/ 3 w 1668"/>
                <a:gd name="T7" fmla="*/ 241 h 241"/>
                <a:gd name="T8" fmla="*/ 3 w 1668"/>
                <a:gd name="T9" fmla="*/ 3 h 241"/>
                <a:gd name="T10" fmla="*/ 0 60000 65536"/>
                <a:gd name="T11" fmla="*/ 0 60000 65536"/>
                <a:gd name="T12" fmla="*/ 0 60000 65536"/>
                <a:gd name="T13" fmla="*/ 0 60000 65536"/>
                <a:gd name="T14" fmla="*/ 0 60000 65536"/>
                <a:gd name="T15" fmla="*/ 0 w 1668"/>
                <a:gd name="T16" fmla="*/ 0 h 241"/>
                <a:gd name="T17" fmla="*/ 1668 w 1668"/>
                <a:gd name="T18" fmla="*/ 241 h 241"/>
              </a:gdLst>
              <a:ahLst/>
              <a:cxnLst>
                <a:cxn ang="T10">
                  <a:pos x="T0" y="T1"/>
                </a:cxn>
                <a:cxn ang="T11">
                  <a:pos x="T2" y="T3"/>
                </a:cxn>
                <a:cxn ang="T12">
                  <a:pos x="T4" y="T5"/>
                </a:cxn>
                <a:cxn ang="T13">
                  <a:pos x="T6" y="T7"/>
                </a:cxn>
                <a:cxn ang="T14">
                  <a:pos x="T8" y="T9"/>
                </a:cxn>
              </a:cxnLst>
              <a:rect l="T15" t="T16" r="T17" b="T18"/>
              <a:pathLst>
                <a:path w="1668" h="241">
                  <a:moveTo>
                    <a:pt x="0" y="0"/>
                  </a:moveTo>
                  <a:lnTo>
                    <a:pt x="1668" y="3"/>
                  </a:lnTo>
                  <a:lnTo>
                    <a:pt x="1668" y="241"/>
                  </a:lnTo>
                  <a:lnTo>
                    <a:pt x="3" y="241"/>
                  </a:lnTo>
                  <a:lnTo>
                    <a:pt x="3" y="3"/>
                  </a:lnTo>
                </a:path>
              </a:pathLst>
            </a:custGeom>
            <a:solidFill>
              <a:srgbClr val="FFFF00"/>
            </a:solidFill>
            <a:ln w="7938">
              <a:solidFill>
                <a:srgbClr val="000000"/>
              </a:solidFill>
              <a:prstDash val="solid"/>
              <a:round/>
              <a:headEnd/>
              <a:tailEnd/>
            </a:ln>
          </p:spPr>
          <p:txBody>
            <a:bodyPr/>
            <a:lstStyle/>
            <a:p>
              <a:endParaRPr lang="zh-CN" altLang="en-US"/>
            </a:p>
          </p:txBody>
        </p:sp>
        <p:sp>
          <p:nvSpPr>
            <p:cNvPr id="123" name="Line 9"/>
            <p:cNvSpPr>
              <a:spLocks noChangeShapeType="1"/>
            </p:cNvSpPr>
            <p:nvPr/>
          </p:nvSpPr>
          <p:spPr bwMode="auto">
            <a:xfrm>
              <a:off x="4206" y="1179"/>
              <a:ext cx="2" cy="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Freeform 10"/>
            <p:cNvSpPr>
              <a:spLocks/>
            </p:cNvSpPr>
            <p:nvPr/>
          </p:nvSpPr>
          <p:spPr bwMode="auto">
            <a:xfrm>
              <a:off x="4035" y="864"/>
              <a:ext cx="345" cy="318"/>
            </a:xfrm>
            <a:custGeom>
              <a:avLst/>
              <a:gdLst>
                <a:gd name="T0" fmla="*/ 343 w 318"/>
                <a:gd name="T1" fmla="*/ 156 h 318"/>
                <a:gd name="T2" fmla="*/ 343 w 318"/>
                <a:gd name="T3" fmla="*/ 186 h 318"/>
                <a:gd name="T4" fmla="*/ 337 w 318"/>
                <a:gd name="T5" fmla="*/ 209 h 318"/>
                <a:gd name="T6" fmla="*/ 325 w 318"/>
                <a:gd name="T7" fmla="*/ 231 h 318"/>
                <a:gd name="T8" fmla="*/ 311 w 318"/>
                <a:gd name="T9" fmla="*/ 252 h 318"/>
                <a:gd name="T10" fmla="*/ 294 w 318"/>
                <a:gd name="T11" fmla="*/ 270 h 318"/>
                <a:gd name="T12" fmla="*/ 273 w 318"/>
                <a:gd name="T13" fmla="*/ 286 h 318"/>
                <a:gd name="T14" fmla="*/ 251 w 318"/>
                <a:gd name="T15" fmla="*/ 300 h 318"/>
                <a:gd name="T16" fmla="*/ 228 w 318"/>
                <a:gd name="T17" fmla="*/ 310 h 318"/>
                <a:gd name="T18" fmla="*/ 199 w 318"/>
                <a:gd name="T19" fmla="*/ 315 h 318"/>
                <a:gd name="T20" fmla="*/ 173 w 318"/>
                <a:gd name="T21" fmla="*/ 318 h 318"/>
                <a:gd name="T22" fmla="*/ 144 w 318"/>
                <a:gd name="T23" fmla="*/ 315 h 318"/>
                <a:gd name="T24" fmla="*/ 118 w 318"/>
                <a:gd name="T25" fmla="*/ 310 h 318"/>
                <a:gd name="T26" fmla="*/ 92 w 318"/>
                <a:gd name="T27" fmla="*/ 300 h 318"/>
                <a:gd name="T28" fmla="*/ 69 w 318"/>
                <a:gd name="T29" fmla="*/ 286 h 318"/>
                <a:gd name="T30" fmla="*/ 49 w 318"/>
                <a:gd name="T31" fmla="*/ 270 h 318"/>
                <a:gd name="T32" fmla="*/ 33 w 318"/>
                <a:gd name="T33" fmla="*/ 252 h 318"/>
                <a:gd name="T34" fmla="*/ 17 w 318"/>
                <a:gd name="T35" fmla="*/ 231 h 318"/>
                <a:gd name="T36" fmla="*/ 9 w 318"/>
                <a:gd name="T37" fmla="*/ 209 h 318"/>
                <a:gd name="T38" fmla="*/ 0 w 318"/>
                <a:gd name="T39" fmla="*/ 186 h 318"/>
                <a:gd name="T40" fmla="*/ 0 w 318"/>
                <a:gd name="T41" fmla="*/ 159 h 318"/>
                <a:gd name="T42" fmla="*/ 0 w 318"/>
                <a:gd name="T43" fmla="*/ 133 h 318"/>
                <a:gd name="T44" fmla="*/ 9 w 318"/>
                <a:gd name="T45" fmla="*/ 109 h 318"/>
                <a:gd name="T46" fmla="*/ 17 w 318"/>
                <a:gd name="T47" fmla="*/ 85 h 318"/>
                <a:gd name="T48" fmla="*/ 33 w 318"/>
                <a:gd name="T49" fmla="*/ 64 h 318"/>
                <a:gd name="T50" fmla="*/ 49 w 318"/>
                <a:gd name="T51" fmla="*/ 45 h 318"/>
                <a:gd name="T52" fmla="*/ 69 w 318"/>
                <a:gd name="T53" fmla="*/ 29 h 318"/>
                <a:gd name="T54" fmla="*/ 92 w 318"/>
                <a:gd name="T55" fmla="*/ 19 h 318"/>
                <a:gd name="T56" fmla="*/ 118 w 318"/>
                <a:gd name="T57" fmla="*/ 8 h 318"/>
                <a:gd name="T58" fmla="*/ 144 w 318"/>
                <a:gd name="T59" fmla="*/ 3 h 318"/>
                <a:gd name="T60" fmla="*/ 173 w 318"/>
                <a:gd name="T61" fmla="*/ 0 h 318"/>
                <a:gd name="T62" fmla="*/ 199 w 318"/>
                <a:gd name="T63" fmla="*/ 3 h 318"/>
                <a:gd name="T64" fmla="*/ 228 w 318"/>
                <a:gd name="T65" fmla="*/ 8 h 318"/>
                <a:gd name="T66" fmla="*/ 251 w 318"/>
                <a:gd name="T67" fmla="*/ 19 h 318"/>
                <a:gd name="T68" fmla="*/ 273 w 318"/>
                <a:gd name="T69" fmla="*/ 29 h 318"/>
                <a:gd name="T70" fmla="*/ 294 w 318"/>
                <a:gd name="T71" fmla="*/ 45 h 318"/>
                <a:gd name="T72" fmla="*/ 311 w 318"/>
                <a:gd name="T73" fmla="*/ 64 h 318"/>
                <a:gd name="T74" fmla="*/ 325 w 318"/>
                <a:gd name="T75" fmla="*/ 85 h 318"/>
                <a:gd name="T76" fmla="*/ 337 w 318"/>
                <a:gd name="T77" fmla="*/ 109 h 318"/>
                <a:gd name="T78" fmla="*/ 343 w 318"/>
                <a:gd name="T79" fmla="*/ 133 h 318"/>
                <a:gd name="T80" fmla="*/ 345 w 318"/>
                <a:gd name="T81" fmla="*/ 159 h 318"/>
                <a:gd name="T82" fmla="*/ 343 w 318"/>
                <a:gd name="T83" fmla="*/ 156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6"/>
                  </a:moveTo>
                  <a:lnTo>
                    <a:pt x="316" y="186"/>
                  </a:lnTo>
                  <a:lnTo>
                    <a:pt x="311" y="209"/>
                  </a:lnTo>
                  <a:lnTo>
                    <a:pt x="300" y="231"/>
                  </a:lnTo>
                  <a:lnTo>
                    <a:pt x="287" y="252"/>
                  </a:lnTo>
                  <a:lnTo>
                    <a:pt x="271" y="270"/>
                  </a:lnTo>
                  <a:lnTo>
                    <a:pt x="252" y="286"/>
                  </a:lnTo>
                  <a:lnTo>
                    <a:pt x="231" y="300"/>
                  </a:lnTo>
                  <a:lnTo>
                    <a:pt x="210" y="310"/>
                  </a:lnTo>
                  <a:lnTo>
                    <a:pt x="183" y="315"/>
                  </a:lnTo>
                  <a:lnTo>
                    <a:pt x="159" y="318"/>
                  </a:lnTo>
                  <a:lnTo>
                    <a:pt x="133" y="315"/>
                  </a:lnTo>
                  <a:lnTo>
                    <a:pt x="109" y="310"/>
                  </a:lnTo>
                  <a:lnTo>
                    <a:pt x="85" y="300"/>
                  </a:lnTo>
                  <a:lnTo>
                    <a:pt x="64" y="286"/>
                  </a:lnTo>
                  <a:lnTo>
                    <a:pt x="45" y="270"/>
                  </a:lnTo>
                  <a:lnTo>
                    <a:pt x="30" y="252"/>
                  </a:lnTo>
                  <a:lnTo>
                    <a:pt x="16" y="231"/>
                  </a:lnTo>
                  <a:lnTo>
                    <a:pt x="8" y="209"/>
                  </a:lnTo>
                  <a:lnTo>
                    <a:pt x="0" y="186"/>
                  </a:lnTo>
                  <a:lnTo>
                    <a:pt x="0" y="159"/>
                  </a:lnTo>
                  <a:lnTo>
                    <a:pt x="0" y="133"/>
                  </a:lnTo>
                  <a:lnTo>
                    <a:pt x="8" y="109"/>
                  </a:lnTo>
                  <a:lnTo>
                    <a:pt x="16" y="85"/>
                  </a:lnTo>
                  <a:lnTo>
                    <a:pt x="30" y="64"/>
                  </a:lnTo>
                  <a:lnTo>
                    <a:pt x="45" y="45"/>
                  </a:lnTo>
                  <a:lnTo>
                    <a:pt x="64" y="29"/>
                  </a:lnTo>
                  <a:lnTo>
                    <a:pt x="85" y="19"/>
                  </a:lnTo>
                  <a:lnTo>
                    <a:pt x="109" y="8"/>
                  </a:lnTo>
                  <a:lnTo>
                    <a:pt x="133" y="3"/>
                  </a:lnTo>
                  <a:lnTo>
                    <a:pt x="159" y="0"/>
                  </a:lnTo>
                  <a:lnTo>
                    <a:pt x="183" y="3"/>
                  </a:lnTo>
                  <a:lnTo>
                    <a:pt x="210" y="8"/>
                  </a:lnTo>
                  <a:lnTo>
                    <a:pt x="231" y="19"/>
                  </a:lnTo>
                  <a:lnTo>
                    <a:pt x="252" y="29"/>
                  </a:lnTo>
                  <a:lnTo>
                    <a:pt x="271" y="45"/>
                  </a:lnTo>
                  <a:lnTo>
                    <a:pt x="287" y="64"/>
                  </a:lnTo>
                  <a:lnTo>
                    <a:pt x="300" y="85"/>
                  </a:lnTo>
                  <a:lnTo>
                    <a:pt x="311" y="109"/>
                  </a:lnTo>
                  <a:lnTo>
                    <a:pt x="316" y="133"/>
                  </a:lnTo>
                  <a:lnTo>
                    <a:pt x="318" y="159"/>
                  </a:lnTo>
                  <a:lnTo>
                    <a:pt x="316"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Freeform 11"/>
            <p:cNvSpPr>
              <a:spLocks/>
            </p:cNvSpPr>
            <p:nvPr/>
          </p:nvSpPr>
          <p:spPr bwMode="auto">
            <a:xfrm>
              <a:off x="4035" y="864"/>
              <a:ext cx="345" cy="318"/>
            </a:xfrm>
            <a:custGeom>
              <a:avLst/>
              <a:gdLst>
                <a:gd name="T0" fmla="*/ 343 w 318"/>
                <a:gd name="T1" fmla="*/ 156 h 318"/>
                <a:gd name="T2" fmla="*/ 343 w 318"/>
                <a:gd name="T3" fmla="*/ 133 h 318"/>
                <a:gd name="T4" fmla="*/ 337 w 318"/>
                <a:gd name="T5" fmla="*/ 109 h 318"/>
                <a:gd name="T6" fmla="*/ 325 w 318"/>
                <a:gd name="T7" fmla="*/ 85 h 318"/>
                <a:gd name="T8" fmla="*/ 311 w 318"/>
                <a:gd name="T9" fmla="*/ 64 h 318"/>
                <a:gd name="T10" fmla="*/ 294 w 318"/>
                <a:gd name="T11" fmla="*/ 45 h 318"/>
                <a:gd name="T12" fmla="*/ 273 w 318"/>
                <a:gd name="T13" fmla="*/ 29 h 318"/>
                <a:gd name="T14" fmla="*/ 251 w 318"/>
                <a:gd name="T15" fmla="*/ 19 h 318"/>
                <a:gd name="T16" fmla="*/ 228 w 318"/>
                <a:gd name="T17" fmla="*/ 8 h 318"/>
                <a:gd name="T18" fmla="*/ 199 w 318"/>
                <a:gd name="T19" fmla="*/ 3 h 318"/>
                <a:gd name="T20" fmla="*/ 173 w 318"/>
                <a:gd name="T21" fmla="*/ 0 h 318"/>
                <a:gd name="T22" fmla="*/ 144 w 318"/>
                <a:gd name="T23" fmla="*/ 3 h 318"/>
                <a:gd name="T24" fmla="*/ 118 w 318"/>
                <a:gd name="T25" fmla="*/ 8 h 318"/>
                <a:gd name="T26" fmla="*/ 92 w 318"/>
                <a:gd name="T27" fmla="*/ 19 h 318"/>
                <a:gd name="T28" fmla="*/ 69 w 318"/>
                <a:gd name="T29" fmla="*/ 29 h 318"/>
                <a:gd name="T30" fmla="*/ 49 w 318"/>
                <a:gd name="T31" fmla="*/ 45 h 318"/>
                <a:gd name="T32" fmla="*/ 33 w 318"/>
                <a:gd name="T33" fmla="*/ 64 h 318"/>
                <a:gd name="T34" fmla="*/ 17 w 318"/>
                <a:gd name="T35" fmla="*/ 85 h 318"/>
                <a:gd name="T36" fmla="*/ 9 w 318"/>
                <a:gd name="T37" fmla="*/ 109 h 318"/>
                <a:gd name="T38" fmla="*/ 0 w 318"/>
                <a:gd name="T39" fmla="*/ 133 h 318"/>
                <a:gd name="T40" fmla="*/ 0 w 318"/>
                <a:gd name="T41" fmla="*/ 159 h 318"/>
                <a:gd name="T42" fmla="*/ 0 w 318"/>
                <a:gd name="T43" fmla="*/ 186 h 318"/>
                <a:gd name="T44" fmla="*/ 9 w 318"/>
                <a:gd name="T45" fmla="*/ 209 h 318"/>
                <a:gd name="T46" fmla="*/ 17 w 318"/>
                <a:gd name="T47" fmla="*/ 231 h 318"/>
                <a:gd name="T48" fmla="*/ 33 w 318"/>
                <a:gd name="T49" fmla="*/ 252 h 318"/>
                <a:gd name="T50" fmla="*/ 49 w 318"/>
                <a:gd name="T51" fmla="*/ 270 h 318"/>
                <a:gd name="T52" fmla="*/ 69 w 318"/>
                <a:gd name="T53" fmla="*/ 286 h 318"/>
                <a:gd name="T54" fmla="*/ 92 w 318"/>
                <a:gd name="T55" fmla="*/ 300 h 318"/>
                <a:gd name="T56" fmla="*/ 118 w 318"/>
                <a:gd name="T57" fmla="*/ 310 h 318"/>
                <a:gd name="T58" fmla="*/ 144 w 318"/>
                <a:gd name="T59" fmla="*/ 315 h 318"/>
                <a:gd name="T60" fmla="*/ 173 w 318"/>
                <a:gd name="T61" fmla="*/ 318 h 318"/>
                <a:gd name="T62" fmla="*/ 199 w 318"/>
                <a:gd name="T63" fmla="*/ 315 h 318"/>
                <a:gd name="T64" fmla="*/ 228 w 318"/>
                <a:gd name="T65" fmla="*/ 310 h 318"/>
                <a:gd name="T66" fmla="*/ 251 w 318"/>
                <a:gd name="T67" fmla="*/ 300 h 318"/>
                <a:gd name="T68" fmla="*/ 273 w 318"/>
                <a:gd name="T69" fmla="*/ 286 h 318"/>
                <a:gd name="T70" fmla="*/ 294 w 318"/>
                <a:gd name="T71" fmla="*/ 270 h 318"/>
                <a:gd name="T72" fmla="*/ 311 w 318"/>
                <a:gd name="T73" fmla="*/ 252 h 318"/>
                <a:gd name="T74" fmla="*/ 325 w 318"/>
                <a:gd name="T75" fmla="*/ 231 h 318"/>
                <a:gd name="T76" fmla="*/ 337 w 318"/>
                <a:gd name="T77" fmla="*/ 209 h 318"/>
                <a:gd name="T78" fmla="*/ 343 w 318"/>
                <a:gd name="T79" fmla="*/ 186 h 318"/>
                <a:gd name="T80" fmla="*/ 345 w 318"/>
                <a:gd name="T81" fmla="*/ 159 h 318"/>
                <a:gd name="T82" fmla="*/ 345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6"/>
                  </a:moveTo>
                  <a:lnTo>
                    <a:pt x="316" y="133"/>
                  </a:lnTo>
                  <a:lnTo>
                    <a:pt x="311" y="109"/>
                  </a:lnTo>
                  <a:lnTo>
                    <a:pt x="300" y="85"/>
                  </a:lnTo>
                  <a:lnTo>
                    <a:pt x="287" y="64"/>
                  </a:lnTo>
                  <a:lnTo>
                    <a:pt x="271" y="45"/>
                  </a:lnTo>
                  <a:lnTo>
                    <a:pt x="252" y="29"/>
                  </a:lnTo>
                  <a:lnTo>
                    <a:pt x="231" y="19"/>
                  </a:lnTo>
                  <a:lnTo>
                    <a:pt x="210" y="8"/>
                  </a:lnTo>
                  <a:lnTo>
                    <a:pt x="183" y="3"/>
                  </a:lnTo>
                  <a:lnTo>
                    <a:pt x="159" y="0"/>
                  </a:lnTo>
                  <a:lnTo>
                    <a:pt x="133" y="3"/>
                  </a:lnTo>
                  <a:lnTo>
                    <a:pt x="109" y="8"/>
                  </a:lnTo>
                  <a:lnTo>
                    <a:pt x="85" y="19"/>
                  </a:lnTo>
                  <a:lnTo>
                    <a:pt x="64" y="29"/>
                  </a:lnTo>
                  <a:lnTo>
                    <a:pt x="45" y="45"/>
                  </a:lnTo>
                  <a:lnTo>
                    <a:pt x="30" y="64"/>
                  </a:lnTo>
                  <a:lnTo>
                    <a:pt x="16" y="85"/>
                  </a:lnTo>
                  <a:lnTo>
                    <a:pt x="8" y="109"/>
                  </a:lnTo>
                  <a:lnTo>
                    <a:pt x="0" y="133"/>
                  </a:lnTo>
                  <a:lnTo>
                    <a:pt x="0" y="159"/>
                  </a:lnTo>
                  <a:lnTo>
                    <a:pt x="0" y="186"/>
                  </a:lnTo>
                  <a:lnTo>
                    <a:pt x="8" y="209"/>
                  </a:lnTo>
                  <a:lnTo>
                    <a:pt x="16" y="231"/>
                  </a:lnTo>
                  <a:lnTo>
                    <a:pt x="30" y="252"/>
                  </a:lnTo>
                  <a:lnTo>
                    <a:pt x="45" y="270"/>
                  </a:lnTo>
                  <a:lnTo>
                    <a:pt x="64" y="286"/>
                  </a:lnTo>
                  <a:lnTo>
                    <a:pt x="85" y="300"/>
                  </a:lnTo>
                  <a:lnTo>
                    <a:pt x="109" y="310"/>
                  </a:lnTo>
                  <a:lnTo>
                    <a:pt x="133" y="315"/>
                  </a:lnTo>
                  <a:lnTo>
                    <a:pt x="159" y="318"/>
                  </a:lnTo>
                  <a:lnTo>
                    <a:pt x="183" y="315"/>
                  </a:lnTo>
                  <a:lnTo>
                    <a:pt x="210" y="310"/>
                  </a:lnTo>
                  <a:lnTo>
                    <a:pt x="231" y="300"/>
                  </a:lnTo>
                  <a:lnTo>
                    <a:pt x="252" y="286"/>
                  </a:lnTo>
                  <a:lnTo>
                    <a:pt x="271" y="270"/>
                  </a:lnTo>
                  <a:lnTo>
                    <a:pt x="287" y="252"/>
                  </a:lnTo>
                  <a:lnTo>
                    <a:pt x="300" y="231"/>
                  </a:lnTo>
                  <a:lnTo>
                    <a:pt x="311"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6" name="Freeform 12"/>
            <p:cNvSpPr>
              <a:spLocks/>
            </p:cNvSpPr>
            <p:nvPr/>
          </p:nvSpPr>
          <p:spPr bwMode="auto">
            <a:xfrm>
              <a:off x="4033" y="1259"/>
              <a:ext cx="347" cy="201"/>
            </a:xfrm>
            <a:custGeom>
              <a:avLst/>
              <a:gdLst>
                <a:gd name="T0" fmla="*/ 0 w 320"/>
                <a:gd name="T1" fmla="*/ 0 h 201"/>
                <a:gd name="T2" fmla="*/ 347 w 320"/>
                <a:gd name="T3" fmla="*/ 3 h 201"/>
                <a:gd name="T4" fmla="*/ 347 w 320"/>
                <a:gd name="T5" fmla="*/ 201 h 201"/>
                <a:gd name="T6" fmla="*/ 2 w 320"/>
                <a:gd name="T7" fmla="*/ 201 h 201"/>
                <a:gd name="T8" fmla="*/ 2 w 320"/>
                <a:gd name="T9" fmla="*/ 3 h 201"/>
                <a:gd name="T10" fmla="*/ 0 w 320"/>
                <a:gd name="T11" fmla="*/ 0 h 201"/>
                <a:gd name="T12" fmla="*/ 0 60000 65536"/>
                <a:gd name="T13" fmla="*/ 0 60000 65536"/>
                <a:gd name="T14" fmla="*/ 0 60000 65536"/>
                <a:gd name="T15" fmla="*/ 0 60000 65536"/>
                <a:gd name="T16" fmla="*/ 0 60000 65536"/>
                <a:gd name="T17" fmla="*/ 0 60000 65536"/>
                <a:gd name="T18" fmla="*/ 0 w 320"/>
                <a:gd name="T19" fmla="*/ 0 h 201"/>
                <a:gd name="T20" fmla="*/ 320 w 32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320" h="201">
                  <a:moveTo>
                    <a:pt x="0" y="0"/>
                  </a:moveTo>
                  <a:lnTo>
                    <a:pt x="320" y="3"/>
                  </a:lnTo>
                  <a:lnTo>
                    <a:pt x="320" y="201"/>
                  </a:lnTo>
                  <a:lnTo>
                    <a:pt x="2" y="201"/>
                  </a:lnTo>
                  <a:lnTo>
                    <a:pt x="2"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7" name="Freeform 13"/>
            <p:cNvSpPr>
              <a:spLocks/>
            </p:cNvSpPr>
            <p:nvPr/>
          </p:nvSpPr>
          <p:spPr bwMode="auto">
            <a:xfrm>
              <a:off x="4033" y="1259"/>
              <a:ext cx="347" cy="201"/>
            </a:xfrm>
            <a:custGeom>
              <a:avLst/>
              <a:gdLst>
                <a:gd name="T0" fmla="*/ 0 w 320"/>
                <a:gd name="T1" fmla="*/ 0 h 201"/>
                <a:gd name="T2" fmla="*/ 347 w 320"/>
                <a:gd name="T3" fmla="*/ 3 h 201"/>
                <a:gd name="T4" fmla="*/ 347 w 320"/>
                <a:gd name="T5" fmla="*/ 201 h 201"/>
                <a:gd name="T6" fmla="*/ 2 w 320"/>
                <a:gd name="T7" fmla="*/ 201 h 201"/>
                <a:gd name="T8" fmla="*/ 2 w 320"/>
                <a:gd name="T9" fmla="*/ 3 h 201"/>
                <a:gd name="T10" fmla="*/ 0 60000 65536"/>
                <a:gd name="T11" fmla="*/ 0 60000 65536"/>
                <a:gd name="T12" fmla="*/ 0 60000 65536"/>
                <a:gd name="T13" fmla="*/ 0 60000 65536"/>
                <a:gd name="T14" fmla="*/ 0 60000 65536"/>
                <a:gd name="T15" fmla="*/ 0 w 320"/>
                <a:gd name="T16" fmla="*/ 0 h 201"/>
                <a:gd name="T17" fmla="*/ 320 w 320"/>
                <a:gd name="T18" fmla="*/ 201 h 201"/>
              </a:gdLst>
              <a:ahLst/>
              <a:cxnLst>
                <a:cxn ang="T10">
                  <a:pos x="T0" y="T1"/>
                </a:cxn>
                <a:cxn ang="T11">
                  <a:pos x="T2" y="T3"/>
                </a:cxn>
                <a:cxn ang="T12">
                  <a:pos x="T4" y="T5"/>
                </a:cxn>
                <a:cxn ang="T13">
                  <a:pos x="T6" y="T7"/>
                </a:cxn>
                <a:cxn ang="T14">
                  <a:pos x="T8" y="T9"/>
                </a:cxn>
              </a:cxnLst>
              <a:rect l="T15" t="T16" r="T17" b="T18"/>
              <a:pathLst>
                <a:path w="320" h="201">
                  <a:moveTo>
                    <a:pt x="0" y="0"/>
                  </a:moveTo>
                  <a:lnTo>
                    <a:pt x="320" y="3"/>
                  </a:lnTo>
                  <a:lnTo>
                    <a:pt x="320" y="201"/>
                  </a:lnTo>
                  <a:lnTo>
                    <a:pt x="2" y="201"/>
                  </a:lnTo>
                  <a:lnTo>
                    <a:pt x="2" y="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8" name="Rectangle 14"/>
            <p:cNvSpPr>
              <a:spLocks noChangeArrowheads="1"/>
            </p:cNvSpPr>
            <p:nvPr/>
          </p:nvSpPr>
          <p:spPr bwMode="auto">
            <a:xfrm>
              <a:off x="4159" y="970"/>
              <a:ext cx="6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129" name="Rectangle 15"/>
            <p:cNvSpPr>
              <a:spLocks noChangeArrowheads="1"/>
            </p:cNvSpPr>
            <p:nvPr/>
          </p:nvSpPr>
          <p:spPr bwMode="auto">
            <a:xfrm>
              <a:off x="4206" y="100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a:t>
              </a:r>
              <a:endParaRPr lang="en-US" altLang="zh-CN" sz="1400">
                <a:ea typeface="宋体" panose="02010600030101010101" pitchFamily="2" charset="-122"/>
              </a:endParaRPr>
            </a:p>
          </p:txBody>
        </p:sp>
        <p:sp>
          <p:nvSpPr>
            <p:cNvPr id="130" name="Rectangle 16"/>
            <p:cNvSpPr>
              <a:spLocks noChangeArrowheads="1"/>
            </p:cNvSpPr>
            <p:nvPr/>
          </p:nvSpPr>
          <p:spPr bwMode="auto">
            <a:xfrm>
              <a:off x="4180" y="1309"/>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131" name="Rectangle 17"/>
            <p:cNvSpPr>
              <a:spLocks noChangeArrowheads="1"/>
            </p:cNvSpPr>
            <p:nvPr/>
          </p:nvSpPr>
          <p:spPr bwMode="auto">
            <a:xfrm>
              <a:off x="4416" y="1601"/>
              <a:ext cx="93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dirty="0">
                  <a:solidFill>
                    <a:srgbClr val="000000"/>
                  </a:solidFill>
                  <a:ea typeface="宋体" panose="02010600030101010101" pitchFamily="2" charset="-122"/>
                </a:rPr>
                <a:t>Interconnection network</a:t>
              </a:r>
              <a:endParaRPr lang="en-US" altLang="zh-CN" sz="1400" dirty="0">
                <a:ea typeface="宋体" panose="02010600030101010101" pitchFamily="2" charset="-122"/>
              </a:endParaRPr>
            </a:p>
          </p:txBody>
        </p:sp>
        <p:sp>
          <p:nvSpPr>
            <p:cNvPr id="132" name="Line 18"/>
            <p:cNvSpPr>
              <a:spLocks noChangeShapeType="1"/>
            </p:cNvSpPr>
            <p:nvPr/>
          </p:nvSpPr>
          <p:spPr bwMode="auto">
            <a:xfrm>
              <a:off x="5587" y="1190"/>
              <a:ext cx="2" cy="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Freeform 19"/>
            <p:cNvSpPr>
              <a:spLocks/>
            </p:cNvSpPr>
            <p:nvPr/>
          </p:nvSpPr>
          <p:spPr bwMode="auto">
            <a:xfrm>
              <a:off x="5417" y="872"/>
              <a:ext cx="344" cy="318"/>
            </a:xfrm>
            <a:custGeom>
              <a:avLst/>
              <a:gdLst>
                <a:gd name="T0" fmla="*/ 342 w 318"/>
                <a:gd name="T1" fmla="*/ 159 h 318"/>
                <a:gd name="T2" fmla="*/ 342 w 318"/>
                <a:gd name="T3" fmla="*/ 186 h 318"/>
                <a:gd name="T4" fmla="*/ 336 w 318"/>
                <a:gd name="T5" fmla="*/ 209 h 318"/>
                <a:gd name="T6" fmla="*/ 325 w 318"/>
                <a:gd name="T7" fmla="*/ 233 h 318"/>
                <a:gd name="T8" fmla="*/ 310 w 318"/>
                <a:gd name="T9" fmla="*/ 254 h 318"/>
                <a:gd name="T10" fmla="*/ 293 w 318"/>
                <a:gd name="T11" fmla="*/ 273 h 318"/>
                <a:gd name="T12" fmla="*/ 273 w 318"/>
                <a:gd name="T13" fmla="*/ 289 h 318"/>
                <a:gd name="T14" fmla="*/ 250 w 318"/>
                <a:gd name="T15" fmla="*/ 302 h 318"/>
                <a:gd name="T16" fmla="*/ 227 w 318"/>
                <a:gd name="T17" fmla="*/ 310 h 318"/>
                <a:gd name="T18" fmla="*/ 198 w 318"/>
                <a:gd name="T19" fmla="*/ 318 h 318"/>
                <a:gd name="T20" fmla="*/ 172 w 318"/>
                <a:gd name="T21" fmla="*/ 318 h 318"/>
                <a:gd name="T22" fmla="*/ 144 w 318"/>
                <a:gd name="T23" fmla="*/ 318 h 318"/>
                <a:gd name="T24" fmla="*/ 118 w 318"/>
                <a:gd name="T25" fmla="*/ 310 h 318"/>
                <a:gd name="T26" fmla="*/ 92 w 318"/>
                <a:gd name="T27" fmla="*/ 302 h 318"/>
                <a:gd name="T28" fmla="*/ 69 w 318"/>
                <a:gd name="T29" fmla="*/ 289 h 318"/>
                <a:gd name="T30" fmla="*/ 49 w 318"/>
                <a:gd name="T31" fmla="*/ 273 h 318"/>
                <a:gd name="T32" fmla="*/ 32 w 318"/>
                <a:gd name="T33" fmla="*/ 254 h 318"/>
                <a:gd name="T34" fmla="*/ 17 w 318"/>
                <a:gd name="T35" fmla="*/ 233 h 318"/>
                <a:gd name="T36" fmla="*/ 9 w 318"/>
                <a:gd name="T37" fmla="*/ 209 h 318"/>
                <a:gd name="T38" fmla="*/ 0 w 318"/>
                <a:gd name="T39" fmla="*/ 186 h 318"/>
                <a:gd name="T40" fmla="*/ 0 w 318"/>
                <a:gd name="T41" fmla="*/ 159 h 318"/>
                <a:gd name="T42" fmla="*/ 0 w 318"/>
                <a:gd name="T43" fmla="*/ 135 h 318"/>
                <a:gd name="T44" fmla="*/ 9 w 318"/>
                <a:gd name="T45" fmla="*/ 109 h 318"/>
                <a:gd name="T46" fmla="*/ 17 w 318"/>
                <a:gd name="T47" fmla="*/ 87 h 318"/>
                <a:gd name="T48" fmla="*/ 32 w 318"/>
                <a:gd name="T49" fmla="*/ 66 h 318"/>
                <a:gd name="T50" fmla="*/ 49 w 318"/>
                <a:gd name="T51" fmla="*/ 48 h 318"/>
                <a:gd name="T52" fmla="*/ 69 w 318"/>
                <a:gd name="T53" fmla="*/ 32 h 318"/>
                <a:gd name="T54" fmla="*/ 92 w 318"/>
                <a:gd name="T55" fmla="*/ 19 h 318"/>
                <a:gd name="T56" fmla="*/ 118 w 318"/>
                <a:gd name="T57" fmla="*/ 8 h 318"/>
                <a:gd name="T58" fmla="*/ 144 w 318"/>
                <a:gd name="T59" fmla="*/ 3 h 318"/>
                <a:gd name="T60" fmla="*/ 172 w 318"/>
                <a:gd name="T61" fmla="*/ 0 h 318"/>
                <a:gd name="T62" fmla="*/ 198 w 318"/>
                <a:gd name="T63" fmla="*/ 3 h 318"/>
                <a:gd name="T64" fmla="*/ 227 w 318"/>
                <a:gd name="T65" fmla="*/ 8 h 318"/>
                <a:gd name="T66" fmla="*/ 250 w 318"/>
                <a:gd name="T67" fmla="*/ 19 h 318"/>
                <a:gd name="T68" fmla="*/ 273 w 318"/>
                <a:gd name="T69" fmla="*/ 32 h 318"/>
                <a:gd name="T70" fmla="*/ 293 w 318"/>
                <a:gd name="T71" fmla="*/ 48 h 318"/>
                <a:gd name="T72" fmla="*/ 310 w 318"/>
                <a:gd name="T73" fmla="*/ 66 h 318"/>
                <a:gd name="T74" fmla="*/ 325 w 318"/>
                <a:gd name="T75" fmla="*/ 87 h 318"/>
                <a:gd name="T76" fmla="*/ 336 w 318"/>
                <a:gd name="T77" fmla="*/ 109 h 318"/>
                <a:gd name="T78" fmla="*/ 342 w 318"/>
                <a:gd name="T79" fmla="*/ 135 h 318"/>
                <a:gd name="T80" fmla="*/ 344 w 318"/>
                <a:gd name="T81" fmla="*/ 159 h 318"/>
                <a:gd name="T82" fmla="*/ 342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86"/>
                  </a:lnTo>
                  <a:lnTo>
                    <a:pt x="311" y="209"/>
                  </a:lnTo>
                  <a:lnTo>
                    <a:pt x="300" y="233"/>
                  </a:lnTo>
                  <a:lnTo>
                    <a:pt x="287" y="254"/>
                  </a:lnTo>
                  <a:lnTo>
                    <a:pt x="271" y="273"/>
                  </a:lnTo>
                  <a:lnTo>
                    <a:pt x="252" y="289"/>
                  </a:lnTo>
                  <a:lnTo>
                    <a:pt x="231" y="302"/>
                  </a:lnTo>
                  <a:lnTo>
                    <a:pt x="210" y="310"/>
                  </a:lnTo>
                  <a:lnTo>
                    <a:pt x="183" y="318"/>
                  </a:lnTo>
                  <a:lnTo>
                    <a:pt x="159" y="318"/>
                  </a:lnTo>
                  <a:lnTo>
                    <a:pt x="133" y="318"/>
                  </a:lnTo>
                  <a:lnTo>
                    <a:pt x="109" y="310"/>
                  </a:lnTo>
                  <a:lnTo>
                    <a:pt x="85" y="302"/>
                  </a:lnTo>
                  <a:lnTo>
                    <a:pt x="64" y="289"/>
                  </a:lnTo>
                  <a:lnTo>
                    <a:pt x="45" y="273"/>
                  </a:lnTo>
                  <a:lnTo>
                    <a:pt x="30" y="254"/>
                  </a:lnTo>
                  <a:lnTo>
                    <a:pt x="16" y="233"/>
                  </a:lnTo>
                  <a:lnTo>
                    <a:pt x="8" y="209"/>
                  </a:lnTo>
                  <a:lnTo>
                    <a:pt x="0" y="186"/>
                  </a:lnTo>
                  <a:lnTo>
                    <a:pt x="0" y="159"/>
                  </a:lnTo>
                  <a:lnTo>
                    <a:pt x="0" y="135"/>
                  </a:lnTo>
                  <a:lnTo>
                    <a:pt x="8" y="109"/>
                  </a:lnTo>
                  <a:lnTo>
                    <a:pt x="16" y="87"/>
                  </a:lnTo>
                  <a:lnTo>
                    <a:pt x="30" y="66"/>
                  </a:lnTo>
                  <a:lnTo>
                    <a:pt x="45" y="48"/>
                  </a:lnTo>
                  <a:lnTo>
                    <a:pt x="64" y="32"/>
                  </a:lnTo>
                  <a:lnTo>
                    <a:pt x="85" y="19"/>
                  </a:lnTo>
                  <a:lnTo>
                    <a:pt x="109" y="8"/>
                  </a:lnTo>
                  <a:lnTo>
                    <a:pt x="133" y="3"/>
                  </a:lnTo>
                  <a:lnTo>
                    <a:pt x="159" y="0"/>
                  </a:lnTo>
                  <a:lnTo>
                    <a:pt x="183" y="3"/>
                  </a:lnTo>
                  <a:lnTo>
                    <a:pt x="210" y="8"/>
                  </a:lnTo>
                  <a:lnTo>
                    <a:pt x="231" y="19"/>
                  </a:lnTo>
                  <a:lnTo>
                    <a:pt x="252" y="32"/>
                  </a:lnTo>
                  <a:lnTo>
                    <a:pt x="271" y="48"/>
                  </a:lnTo>
                  <a:lnTo>
                    <a:pt x="287" y="66"/>
                  </a:lnTo>
                  <a:lnTo>
                    <a:pt x="300" y="87"/>
                  </a:lnTo>
                  <a:lnTo>
                    <a:pt x="311" y="109"/>
                  </a:lnTo>
                  <a:lnTo>
                    <a:pt x="316" y="135"/>
                  </a:lnTo>
                  <a:lnTo>
                    <a:pt x="318" y="159"/>
                  </a:lnTo>
                  <a:lnTo>
                    <a:pt x="316"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Freeform 20"/>
            <p:cNvSpPr>
              <a:spLocks/>
            </p:cNvSpPr>
            <p:nvPr/>
          </p:nvSpPr>
          <p:spPr bwMode="auto">
            <a:xfrm>
              <a:off x="5417" y="872"/>
              <a:ext cx="344" cy="318"/>
            </a:xfrm>
            <a:custGeom>
              <a:avLst/>
              <a:gdLst>
                <a:gd name="T0" fmla="*/ 342 w 318"/>
                <a:gd name="T1" fmla="*/ 159 h 318"/>
                <a:gd name="T2" fmla="*/ 342 w 318"/>
                <a:gd name="T3" fmla="*/ 135 h 318"/>
                <a:gd name="T4" fmla="*/ 336 w 318"/>
                <a:gd name="T5" fmla="*/ 109 h 318"/>
                <a:gd name="T6" fmla="*/ 325 w 318"/>
                <a:gd name="T7" fmla="*/ 87 h 318"/>
                <a:gd name="T8" fmla="*/ 310 w 318"/>
                <a:gd name="T9" fmla="*/ 66 h 318"/>
                <a:gd name="T10" fmla="*/ 293 w 318"/>
                <a:gd name="T11" fmla="*/ 48 h 318"/>
                <a:gd name="T12" fmla="*/ 273 w 318"/>
                <a:gd name="T13" fmla="*/ 32 h 318"/>
                <a:gd name="T14" fmla="*/ 250 w 318"/>
                <a:gd name="T15" fmla="*/ 19 h 318"/>
                <a:gd name="T16" fmla="*/ 227 w 318"/>
                <a:gd name="T17" fmla="*/ 8 h 318"/>
                <a:gd name="T18" fmla="*/ 198 w 318"/>
                <a:gd name="T19" fmla="*/ 3 h 318"/>
                <a:gd name="T20" fmla="*/ 172 w 318"/>
                <a:gd name="T21" fmla="*/ 0 h 318"/>
                <a:gd name="T22" fmla="*/ 144 w 318"/>
                <a:gd name="T23" fmla="*/ 3 h 318"/>
                <a:gd name="T24" fmla="*/ 118 w 318"/>
                <a:gd name="T25" fmla="*/ 8 h 318"/>
                <a:gd name="T26" fmla="*/ 92 w 318"/>
                <a:gd name="T27" fmla="*/ 19 h 318"/>
                <a:gd name="T28" fmla="*/ 69 w 318"/>
                <a:gd name="T29" fmla="*/ 32 h 318"/>
                <a:gd name="T30" fmla="*/ 49 w 318"/>
                <a:gd name="T31" fmla="*/ 48 h 318"/>
                <a:gd name="T32" fmla="*/ 32 w 318"/>
                <a:gd name="T33" fmla="*/ 66 h 318"/>
                <a:gd name="T34" fmla="*/ 17 w 318"/>
                <a:gd name="T35" fmla="*/ 87 h 318"/>
                <a:gd name="T36" fmla="*/ 9 w 318"/>
                <a:gd name="T37" fmla="*/ 109 h 318"/>
                <a:gd name="T38" fmla="*/ 0 w 318"/>
                <a:gd name="T39" fmla="*/ 135 h 318"/>
                <a:gd name="T40" fmla="*/ 0 w 318"/>
                <a:gd name="T41" fmla="*/ 159 h 318"/>
                <a:gd name="T42" fmla="*/ 0 w 318"/>
                <a:gd name="T43" fmla="*/ 186 h 318"/>
                <a:gd name="T44" fmla="*/ 9 w 318"/>
                <a:gd name="T45" fmla="*/ 209 h 318"/>
                <a:gd name="T46" fmla="*/ 17 w 318"/>
                <a:gd name="T47" fmla="*/ 233 h 318"/>
                <a:gd name="T48" fmla="*/ 32 w 318"/>
                <a:gd name="T49" fmla="*/ 254 h 318"/>
                <a:gd name="T50" fmla="*/ 49 w 318"/>
                <a:gd name="T51" fmla="*/ 273 h 318"/>
                <a:gd name="T52" fmla="*/ 69 w 318"/>
                <a:gd name="T53" fmla="*/ 289 h 318"/>
                <a:gd name="T54" fmla="*/ 92 w 318"/>
                <a:gd name="T55" fmla="*/ 302 h 318"/>
                <a:gd name="T56" fmla="*/ 118 w 318"/>
                <a:gd name="T57" fmla="*/ 310 h 318"/>
                <a:gd name="T58" fmla="*/ 144 w 318"/>
                <a:gd name="T59" fmla="*/ 318 h 318"/>
                <a:gd name="T60" fmla="*/ 172 w 318"/>
                <a:gd name="T61" fmla="*/ 318 h 318"/>
                <a:gd name="T62" fmla="*/ 198 w 318"/>
                <a:gd name="T63" fmla="*/ 318 h 318"/>
                <a:gd name="T64" fmla="*/ 227 w 318"/>
                <a:gd name="T65" fmla="*/ 310 h 318"/>
                <a:gd name="T66" fmla="*/ 250 w 318"/>
                <a:gd name="T67" fmla="*/ 302 h 318"/>
                <a:gd name="T68" fmla="*/ 273 w 318"/>
                <a:gd name="T69" fmla="*/ 289 h 318"/>
                <a:gd name="T70" fmla="*/ 293 w 318"/>
                <a:gd name="T71" fmla="*/ 273 h 318"/>
                <a:gd name="T72" fmla="*/ 310 w 318"/>
                <a:gd name="T73" fmla="*/ 254 h 318"/>
                <a:gd name="T74" fmla="*/ 325 w 318"/>
                <a:gd name="T75" fmla="*/ 233 h 318"/>
                <a:gd name="T76" fmla="*/ 336 w 318"/>
                <a:gd name="T77" fmla="*/ 209 h 318"/>
                <a:gd name="T78" fmla="*/ 342 w 318"/>
                <a:gd name="T79" fmla="*/ 186 h 318"/>
                <a:gd name="T80" fmla="*/ 344 w 318"/>
                <a:gd name="T81" fmla="*/ 159 h 318"/>
                <a:gd name="T82" fmla="*/ 344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35"/>
                  </a:lnTo>
                  <a:lnTo>
                    <a:pt x="311" y="109"/>
                  </a:lnTo>
                  <a:lnTo>
                    <a:pt x="300" y="87"/>
                  </a:lnTo>
                  <a:lnTo>
                    <a:pt x="287" y="66"/>
                  </a:lnTo>
                  <a:lnTo>
                    <a:pt x="271" y="48"/>
                  </a:lnTo>
                  <a:lnTo>
                    <a:pt x="252" y="32"/>
                  </a:lnTo>
                  <a:lnTo>
                    <a:pt x="231" y="19"/>
                  </a:lnTo>
                  <a:lnTo>
                    <a:pt x="210" y="8"/>
                  </a:lnTo>
                  <a:lnTo>
                    <a:pt x="183" y="3"/>
                  </a:lnTo>
                  <a:lnTo>
                    <a:pt x="159" y="0"/>
                  </a:lnTo>
                  <a:lnTo>
                    <a:pt x="133" y="3"/>
                  </a:lnTo>
                  <a:lnTo>
                    <a:pt x="109" y="8"/>
                  </a:lnTo>
                  <a:lnTo>
                    <a:pt x="85" y="19"/>
                  </a:lnTo>
                  <a:lnTo>
                    <a:pt x="64" y="32"/>
                  </a:lnTo>
                  <a:lnTo>
                    <a:pt x="45" y="48"/>
                  </a:lnTo>
                  <a:lnTo>
                    <a:pt x="30" y="66"/>
                  </a:lnTo>
                  <a:lnTo>
                    <a:pt x="16" y="87"/>
                  </a:lnTo>
                  <a:lnTo>
                    <a:pt x="8" y="109"/>
                  </a:lnTo>
                  <a:lnTo>
                    <a:pt x="0" y="135"/>
                  </a:lnTo>
                  <a:lnTo>
                    <a:pt x="0" y="159"/>
                  </a:lnTo>
                  <a:lnTo>
                    <a:pt x="0" y="186"/>
                  </a:lnTo>
                  <a:lnTo>
                    <a:pt x="8" y="209"/>
                  </a:lnTo>
                  <a:lnTo>
                    <a:pt x="16" y="233"/>
                  </a:lnTo>
                  <a:lnTo>
                    <a:pt x="30" y="254"/>
                  </a:lnTo>
                  <a:lnTo>
                    <a:pt x="45" y="273"/>
                  </a:lnTo>
                  <a:lnTo>
                    <a:pt x="64" y="289"/>
                  </a:lnTo>
                  <a:lnTo>
                    <a:pt x="85" y="302"/>
                  </a:lnTo>
                  <a:lnTo>
                    <a:pt x="109" y="310"/>
                  </a:lnTo>
                  <a:lnTo>
                    <a:pt x="133" y="318"/>
                  </a:lnTo>
                  <a:lnTo>
                    <a:pt x="159" y="318"/>
                  </a:lnTo>
                  <a:lnTo>
                    <a:pt x="183" y="318"/>
                  </a:lnTo>
                  <a:lnTo>
                    <a:pt x="210" y="310"/>
                  </a:lnTo>
                  <a:lnTo>
                    <a:pt x="231" y="302"/>
                  </a:lnTo>
                  <a:lnTo>
                    <a:pt x="252" y="289"/>
                  </a:lnTo>
                  <a:lnTo>
                    <a:pt x="271" y="273"/>
                  </a:lnTo>
                  <a:lnTo>
                    <a:pt x="287" y="254"/>
                  </a:lnTo>
                  <a:lnTo>
                    <a:pt x="300" y="233"/>
                  </a:lnTo>
                  <a:lnTo>
                    <a:pt x="311"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5" name="Freeform 21"/>
            <p:cNvSpPr>
              <a:spLocks/>
            </p:cNvSpPr>
            <p:nvPr/>
          </p:nvSpPr>
          <p:spPr bwMode="auto">
            <a:xfrm>
              <a:off x="5415" y="1270"/>
              <a:ext cx="346" cy="201"/>
            </a:xfrm>
            <a:custGeom>
              <a:avLst/>
              <a:gdLst>
                <a:gd name="T0" fmla="*/ 0 w 320"/>
                <a:gd name="T1" fmla="*/ 0 h 201"/>
                <a:gd name="T2" fmla="*/ 346 w 320"/>
                <a:gd name="T3" fmla="*/ 2 h 201"/>
                <a:gd name="T4" fmla="*/ 346 w 320"/>
                <a:gd name="T5" fmla="*/ 201 h 201"/>
                <a:gd name="T6" fmla="*/ 2 w 320"/>
                <a:gd name="T7" fmla="*/ 201 h 201"/>
                <a:gd name="T8" fmla="*/ 2 w 320"/>
                <a:gd name="T9" fmla="*/ 2 h 201"/>
                <a:gd name="T10" fmla="*/ 0 w 320"/>
                <a:gd name="T11" fmla="*/ 0 h 201"/>
                <a:gd name="T12" fmla="*/ 0 60000 65536"/>
                <a:gd name="T13" fmla="*/ 0 60000 65536"/>
                <a:gd name="T14" fmla="*/ 0 60000 65536"/>
                <a:gd name="T15" fmla="*/ 0 60000 65536"/>
                <a:gd name="T16" fmla="*/ 0 60000 65536"/>
                <a:gd name="T17" fmla="*/ 0 60000 65536"/>
                <a:gd name="T18" fmla="*/ 0 w 320"/>
                <a:gd name="T19" fmla="*/ 0 h 201"/>
                <a:gd name="T20" fmla="*/ 320 w 32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320" h="201">
                  <a:moveTo>
                    <a:pt x="0" y="0"/>
                  </a:moveTo>
                  <a:lnTo>
                    <a:pt x="320" y="2"/>
                  </a:lnTo>
                  <a:lnTo>
                    <a:pt x="320" y="201"/>
                  </a:lnTo>
                  <a:lnTo>
                    <a:pt x="2" y="201"/>
                  </a:lnTo>
                  <a:lnTo>
                    <a:pt x="2" y="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 name="Freeform 22"/>
            <p:cNvSpPr>
              <a:spLocks/>
            </p:cNvSpPr>
            <p:nvPr/>
          </p:nvSpPr>
          <p:spPr bwMode="auto">
            <a:xfrm>
              <a:off x="5415" y="1270"/>
              <a:ext cx="346" cy="201"/>
            </a:xfrm>
            <a:custGeom>
              <a:avLst/>
              <a:gdLst>
                <a:gd name="T0" fmla="*/ 0 w 320"/>
                <a:gd name="T1" fmla="*/ 0 h 201"/>
                <a:gd name="T2" fmla="*/ 346 w 320"/>
                <a:gd name="T3" fmla="*/ 2 h 201"/>
                <a:gd name="T4" fmla="*/ 346 w 320"/>
                <a:gd name="T5" fmla="*/ 201 h 201"/>
                <a:gd name="T6" fmla="*/ 2 w 320"/>
                <a:gd name="T7" fmla="*/ 201 h 201"/>
                <a:gd name="T8" fmla="*/ 2 w 320"/>
                <a:gd name="T9" fmla="*/ 2 h 201"/>
                <a:gd name="T10" fmla="*/ 0 60000 65536"/>
                <a:gd name="T11" fmla="*/ 0 60000 65536"/>
                <a:gd name="T12" fmla="*/ 0 60000 65536"/>
                <a:gd name="T13" fmla="*/ 0 60000 65536"/>
                <a:gd name="T14" fmla="*/ 0 60000 65536"/>
                <a:gd name="T15" fmla="*/ 0 w 320"/>
                <a:gd name="T16" fmla="*/ 0 h 201"/>
                <a:gd name="T17" fmla="*/ 320 w 320"/>
                <a:gd name="T18" fmla="*/ 201 h 201"/>
              </a:gdLst>
              <a:ahLst/>
              <a:cxnLst>
                <a:cxn ang="T10">
                  <a:pos x="T0" y="T1"/>
                </a:cxn>
                <a:cxn ang="T11">
                  <a:pos x="T2" y="T3"/>
                </a:cxn>
                <a:cxn ang="T12">
                  <a:pos x="T4" y="T5"/>
                </a:cxn>
                <a:cxn ang="T13">
                  <a:pos x="T6" y="T7"/>
                </a:cxn>
                <a:cxn ang="T14">
                  <a:pos x="T8" y="T9"/>
                </a:cxn>
              </a:cxnLst>
              <a:rect l="T15" t="T16" r="T17" b="T18"/>
              <a:pathLst>
                <a:path w="320" h="201">
                  <a:moveTo>
                    <a:pt x="0" y="0"/>
                  </a:moveTo>
                  <a:lnTo>
                    <a:pt x="320" y="2"/>
                  </a:lnTo>
                  <a:lnTo>
                    <a:pt x="320" y="201"/>
                  </a:lnTo>
                  <a:lnTo>
                    <a:pt x="2" y="201"/>
                  </a:lnTo>
                  <a:lnTo>
                    <a:pt x="2" y="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7" name="Rectangle 23"/>
            <p:cNvSpPr>
              <a:spLocks noChangeArrowheads="1"/>
            </p:cNvSpPr>
            <p:nvPr/>
          </p:nvSpPr>
          <p:spPr bwMode="auto">
            <a:xfrm>
              <a:off x="5561" y="131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138" name="Rectangle 24"/>
            <p:cNvSpPr>
              <a:spLocks noChangeArrowheads="1"/>
            </p:cNvSpPr>
            <p:nvPr/>
          </p:nvSpPr>
          <p:spPr bwMode="auto">
            <a:xfrm>
              <a:off x="5540" y="965"/>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139" name="Rectangle 25"/>
            <p:cNvSpPr>
              <a:spLocks noChangeArrowheads="1"/>
            </p:cNvSpPr>
            <p:nvPr/>
          </p:nvSpPr>
          <p:spPr bwMode="auto">
            <a:xfrm>
              <a:off x="5589" y="999"/>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n</a:t>
              </a:r>
              <a:endParaRPr lang="en-US" altLang="zh-CN" sz="1400">
                <a:ea typeface="宋体" panose="02010600030101010101" pitchFamily="2" charset="-122"/>
              </a:endParaRPr>
            </a:p>
          </p:txBody>
        </p:sp>
        <p:sp>
          <p:nvSpPr>
            <p:cNvPr id="140" name="Line 26"/>
            <p:cNvSpPr>
              <a:spLocks noChangeShapeType="1"/>
            </p:cNvSpPr>
            <p:nvPr/>
          </p:nvSpPr>
          <p:spPr bwMode="auto">
            <a:xfrm>
              <a:off x="4326" y="1805"/>
              <a:ext cx="1"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Freeform 27"/>
            <p:cNvSpPr>
              <a:spLocks/>
            </p:cNvSpPr>
            <p:nvPr/>
          </p:nvSpPr>
          <p:spPr bwMode="auto">
            <a:xfrm>
              <a:off x="4162" y="1892"/>
              <a:ext cx="353" cy="239"/>
            </a:xfrm>
            <a:custGeom>
              <a:avLst/>
              <a:gdLst>
                <a:gd name="T0" fmla="*/ 0 w 326"/>
                <a:gd name="T1" fmla="*/ 0 h 239"/>
                <a:gd name="T2" fmla="*/ 353 w 326"/>
                <a:gd name="T3" fmla="*/ 0 h 239"/>
                <a:gd name="T4" fmla="*/ 353 w 326"/>
                <a:gd name="T5" fmla="*/ 239 h 239"/>
                <a:gd name="T6" fmla="*/ 3 w 326"/>
                <a:gd name="T7" fmla="*/ 239 h 239"/>
                <a:gd name="T8" fmla="*/ 3 w 326"/>
                <a:gd name="T9" fmla="*/ 0 h 239"/>
                <a:gd name="T10" fmla="*/ 0 w 326"/>
                <a:gd name="T11" fmla="*/ 0 h 239"/>
                <a:gd name="T12" fmla="*/ 0 60000 65536"/>
                <a:gd name="T13" fmla="*/ 0 60000 65536"/>
                <a:gd name="T14" fmla="*/ 0 60000 65536"/>
                <a:gd name="T15" fmla="*/ 0 60000 65536"/>
                <a:gd name="T16" fmla="*/ 0 60000 65536"/>
                <a:gd name="T17" fmla="*/ 0 60000 65536"/>
                <a:gd name="T18" fmla="*/ 0 w 326"/>
                <a:gd name="T19" fmla="*/ 0 h 239"/>
                <a:gd name="T20" fmla="*/ 326 w 326"/>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326" h="239">
                  <a:moveTo>
                    <a:pt x="0" y="0"/>
                  </a:moveTo>
                  <a:lnTo>
                    <a:pt x="326" y="0"/>
                  </a:lnTo>
                  <a:lnTo>
                    <a:pt x="326" y="239"/>
                  </a:lnTo>
                  <a:lnTo>
                    <a:pt x="3" y="239"/>
                  </a:lnTo>
                  <a:lnTo>
                    <a:pt x="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 name="Freeform 28"/>
            <p:cNvSpPr>
              <a:spLocks/>
            </p:cNvSpPr>
            <p:nvPr/>
          </p:nvSpPr>
          <p:spPr bwMode="auto">
            <a:xfrm>
              <a:off x="4162" y="1892"/>
              <a:ext cx="353" cy="239"/>
            </a:xfrm>
            <a:custGeom>
              <a:avLst/>
              <a:gdLst>
                <a:gd name="T0" fmla="*/ 0 w 326"/>
                <a:gd name="T1" fmla="*/ 0 h 239"/>
                <a:gd name="T2" fmla="*/ 353 w 326"/>
                <a:gd name="T3" fmla="*/ 0 h 239"/>
                <a:gd name="T4" fmla="*/ 353 w 326"/>
                <a:gd name="T5" fmla="*/ 239 h 239"/>
                <a:gd name="T6" fmla="*/ 3 w 326"/>
                <a:gd name="T7" fmla="*/ 239 h 239"/>
                <a:gd name="T8" fmla="*/ 3 w 326"/>
                <a:gd name="T9" fmla="*/ 0 h 239"/>
                <a:gd name="T10" fmla="*/ 0 60000 65536"/>
                <a:gd name="T11" fmla="*/ 0 60000 65536"/>
                <a:gd name="T12" fmla="*/ 0 60000 65536"/>
                <a:gd name="T13" fmla="*/ 0 60000 65536"/>
                <a:gd name="T14" fmla="*/ 0 60000 65536"/>
                <a:gd name="T15" fmla="*/ 0 w 326"/>
                <a:gd name="T16" fmla="*/ 0 h 239"/>
                <a:gd name="T17" fmla="*/ 326 w 326"/>
                <a:gd name="T18" fmla="*/ 239 h 239"/>
              </a:gdLst>
              <a:ahLst/>
              <a:cxnLst>
                <a:cxn ang="T10">
                  <a:pos x="T0" y="T1"/>
                </a:cxn>
                <a:cxn ang="T11">
                  <a:pos x="T2" y="T3"/>
                </a:cxn>
                <a:cxn ang="T12">
                  <a:pos x="T4" y="T5"/>
                </a:cxn>
                <a:cxn ang="T13">
                  <a:pos x="T6" y="T7"/>
                </a:cxn>
                <a:cxn ang="T14">
                  <a:pos x="T8" y="T9"/>
                </a:cxn>
              </a:cxnLst>
              <a:rect l="T15" t="T16" r="T17" b="T18"/>
              <a:pathLst>
                <a:path w="326" h="239">
                  <a:moveTo>
                    <a:pt x="0" y="0"/>
                  </a:moveTo>
                  <a:lnTo>
                    <a:pt x="326" y="0"/>
                  </a:lnTo>
                  <a:lnTo>
                    <a:pt x="326" y="239"/>
                  </a:lnTo>
                  <a:lnTo>
                    <a:pt x="3" y="239"/>
                  </a:lnTo>
                  <a:lnTo>
                    <a:pt x="3"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 name="Rectangle 29"/>
            <p:cNvSpPr>
              <a:spLocks noChangeArrowheads="1"/>
            </p:cNvSpPr>
            <p:nvPr/>
          </p:nvSpPr>
          <p:spPr bwMode="auto">
            <a:xfrm>
              <a:off x="4232" y="1959"/>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Mem</a:t>
              </a:r>
              <a:endParaRPr lang="en-US" altLang="zh-CN" sz="1400">
                <a:ea typeface="宋体" panose="02010600030101010101" pitchFamily="2" charset="-122"/>
              </a:endParaRPr>
            </a:p>
          </p:txBody>
        </p:sp>
        <p:sp>
          <p:nvSpPr>
            <p:cNvPr id="144" name="Rectangle 30"/>
            <p:cNvSpPr>
              <a:spLocks noChangeArrowheads="1"/>
            </p:cNvSpPr>
            <p:nvPr/>
          </p:nvSpPr>
          <p:spPr bwMode="auto">
            <a:xfrm>
              <a:off x="5253" y="1879"/>
              <a:ext cx="351" cy="2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45" name="Rectangle 31"/>
            <p:cNvSpPr>
              <a:spLocks noChangeArrowheads="1"/>
            </p:cNvSpPr>
            <p:nvPr/>
          </p:nvSpPr>
          <p:spPr bwMode="auto">
            <a:xfrm>
              <a:off x="5253" y="1879"/>
              <a:ext cx="351" cy="23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46" name="Rectangle 32"/>
            <p:cNvSpPr>
              <a:spLocks noChangeArrowheads="1"/>
            </p:cNvSpPr>
            <p:nvPr/>
          </p:nvSpPr>
          <p:spPr bwMode="auto">
            <a:xfrm>
              <a:off x="5322" y="1946"/>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Mem</a:t>
              </a:r>
              <a:endParaRPr lang="en-US" altLang="zh-CN" sz="1400">
                <a:ea typeface="宋体" panose="02010600030101010101" pitchFamily="2" charset="-122"/>
              </a:endParaRPr>
            </a:p>
          </p:txBody>
        </p:sp>
        <p:sp>
          <p:nvSpPr>
            <p:cNvPr id="147" name="Freeform 33"/>
            <p:cNvSpPr>
              <a:spLocks/>
            </p:cNvSpPr>
            <p:nvPr/>
          </p:nvSpPr>
          <p:spPr bwMode="auto">
            <a:xfrm>
              <a:off x="4642" y="1341"/>
              <a:ext cx="49" cy="45"/>
            </a:xfrm>
            <a:custGeom>
              <a:avLst/>
              <a:gdLst>
                <a:gd name="T0" fmla="*/ 46 w 45"/>
                <a:gd name="T1" fmla="*/ 21 h 45"/>
                <a:gd name="T2" fmla="*/ 46 w 45"/>
                <a:gd name="T3" fmla="*/ 27 h 45"/>
                <a:gd name="T4" fmla="*/ 46 w 45"/>
                <a:gd name="T5" fmla="*/ 29 h 45"/>
                <a:gd name="T6" fmla="*/ 46 w 45"/>
                <a:gd name="T7" fmla="*/ 35 h 45"/>
                <a:gd name="T8" fmla="*/ 42 w 45"/>
                <a:gd name="T9" fmla="*/ 37 h 45"/>
                <a:gd name="T10" fmla="*/ 40 w 45"/>
                <a:gd name="T11" fmla="*/ 40 h 45"/>
                <a:gd name="T12" fmla="*/ 37 w 45"/>
                <a:gd name="T13" fmla="*/ 40 h 45"/>
                <a:gd name="T14" fmla="*/ 34 w 45"/>
                <a:gd name="T15" fmla="*/ 43 h 45"/>
                <a:gd name="T16" fmla="*/ 32 w 45"/>
                <a:gd name="T17" fmla="*/ 45 h 45"/>
                <a:gd name="T18" fmla="*/ 28 w 45"/>
                <a:gd name="T19" fmla="*/ 45 h 45"/>
                <a:gd name="T20" fmla="*/ 23 w 45"/>
                <a:gd name="T21" fmla="*/ 45 h 45"/>
                <a:gd name="T22" fmla="*/ 20 w 45"/>
                <a:gd name="T23" fmla="*/ 45 h 45"/>
                <a:gd name="T24" fmla="*/ 14 w 45"/>
                <a:gd name="T25" fmla="*/ 45 h 45"/>
                <a:gd name="T26" fmla="*/ 11 w 45"/>
                <a:gd name="T27" fmla="*/ 43 h 45"/>
                <a:gd name="T28" fmla="*/ 9 w 45"/>
                <a:gd name="T29" fmla="*/ 40 h 45"/>
                <a:gd name="T30" fmla="*/ 5 w 45"/>
                <a:gd name="T31" fmla="*/ 40 h 45"/>
                <a:gd name="T32" fmla="*/ 2 w 45"/>
                <a:gd name="T33" fmla="*/ 37 h 45"/>
                <a:gd name="T34" fmla="*/ 2 w 45"/>
                <a:gd name="T35" fmla="*/ 35 h 45"/>
                <a:gd name="T36" fmla="*/ 0 w 45"/>
                <a:gd name="T37" fmla="*/ 29 h 45"/>
                <a:gd name="T38" fmla="*/ 0 w 45"/>
                <a:gd name="T39" fmla="*/ 27 h 45"/>
                <a:gd name="T40" fmla="*/ 0 w 45"/>
                <a:gd name="T41" fmla="*/ 24 h 45"/>
                <a:gd name="T42" fmla="*/ 0 w 45"/>
                <a:gd name="T43" fmla="*/ 19 h 45"/>
                <a:gd name="T44" fmla="*/ 0 w 45"/>
                <a:gd name="T45" fmla="*/ 16 h 45"/>
                <a:gd name="T46" fmla="*/ 2 w 45"/>
                <a:gd name="T47" fmla="*/ 13 h 45"/>
                <a:gd name="T48" fmla="*/ 2 w 45"/>
                <a:gd name="T49" fmla="*/ 11 h 45"/>
                <a:gd name="T50" fmla="*/ 5 w 45"/>
                <a:gd name="T51" fmla="*/ 8 h 45"/>
                <a:gd name="T52" fmla="*/ 9 w 45"/>
                <a:gd name="T53" fmla="*/ 5 h 45"/>
                <a:gd name="T54" fmla="*/ 11 w 45"/>
                <a:gd name="T55" fmla="*/ 3 h 45"/>
                <a:gd name="T56" fmla="*/ 14 w 45"/>
                <a:gd name="T57" fmla="*/ 3 h 45"/>
                <a:gd name="T58" fmla="*/ 20 w 45"/>
                <a:gd name="T59" fmla="*/ 0 h 45"/>
                <a:gd name="T60" fmla="*/ 23 w 45"/>
                <a:gd name="T61" fmla="*/ 0 h 45"/>
                <a:gd name="T62" fmla="*/ 28 w 45"/>
                <a:gd name="T63" fmla="*/ 0 h 45"/>
                <a:gd name="T64" fmla="*/ 32 w 45"/>
                <a:gd name="T65" fmla="*/ 3 h 45"/>
                <a:gd name="T66" fmla="*/ 34 w 45"/>
                <a:gd name="T67" fmla="*/ 3 h 45"/>
                <a:gd name="T68" fmla="*/ 37 w 45"/>
                <a:gd name="T69" fmla="*/ 5 h 45"/>
                <a:gd name="T70" fmla="*/ 40 w 45"/>
                <a:gd name="T71" fmla="*/ 8 h 45"/>
                <a:gd name="T72" fmla="*/ 42 w 45"/>
                <a:gd name="T73" fmla="*/ 11 h 45"/>
                <a:gd name="T74" fmla="*/ 46 w 45"/>
                <a:gd name="T75" fmla="*/ 13 h 45"/>
                <a:gd name="T76" fmla="*/ 46 w 45"/>
                <a:gd name="T77" fmla="*/ 16 h 45"/>
                <a:gd name="T78" fmla="*/ 46 w 45"/>
                <a:gd name="T79" fmla="*/ 19 h 45"/>
                <a:gd name="T80" fmla="*/ 49 w 45"/>
                <a:gd name="T81" fmla="*/ 24 h 45"/>
                <a:gd name="T82" fmla="*/ 46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27"/>
                  </a:lnTo>
                  <a:lnTo>
                    <a:pt x="42" y="29"/>
                  </a:lnTo>
                  <a:lnTo>
                    <a:pt x="42" y="35"/>
                  </a:lnTo>
                  <a:lnTo>
                    <a:pt x="39" y="37"/>
                  </a:lnTo>
                  <a:lnTo>
                    <a:pt x="37" y="40"/>
                  </a:lnTo>
                  <a:lnTo>
                    <a:pt x="34" y="40"/>
                  </a:lnTo>
                  <a:lnTo>
                    <a:pt x="31" y="43"/>
                  </a:lnTo>
                  <a:lnTo>
                    <a:pt x="29" y="45"/>
                  </a:lnTo>
                  <a:lnTo>
                    <a:pt x="26" y="45"/>
                  </a:lnTo>
                  <a:lnTo>
                    <a:pt x="21" y="45"/>
                  </a:lnTo>
                  <a:lnTo>
                    <a:pt x="18" y="45"/>
                  </a:lnTo>
                  <a:lnTo>
                    <a:pt x="13" y="45"/>
                  </a:lnTo>
                  <a:lnTo>
                    <a:pt x="10" y="43"/>
                  </a:lnTo>
                  <a:lnTo>
                    <a:pt x="8" y="40"/>
                  </a:lnTo>
                  <a:lnTo>
                    <a:pt x="5" y="40"/>
                  </a:lnTo>
                  <a:lnTo>
                    <a:pt x="2" y="37"/>
                  </a:lnTo>
                  <a:lnTo>
                    <a:pt x="2" y="35"/>
                  </a:lnTo>
                  <a:lnTo>
                    <a:pt x="0" y="29"/>
                  </a:lnTo>
                  <a:lnTo>
                    <a:pt x="0" y="27"/>
                  </a:lnTo>
                  <a:lnTo>
                    <a:pt x="0" y="24"/>
                  </a:lnTo>
                  <a:lnTo>
                    <a:pt x="0" y="19"/>
                  </a:lnTo>
                  <a:lnTo>
                    <a:pt x="0" y="16"/>
                  </a:lnTo>
                  <a:lnTo>
                    <a:pt x="2" y="13"/>
                  </a:lnTo>
                  <a:lnTo>
                    <a:pt x="2" y="11"/>
                  </a:lnTo>
                  <a:lnTo>
                    <a:pt x="5" y="8"/>
                  </a:lnTo>
                  <a:lnTo>
                    <a:pt x="8" y="5"/>
                  </a:lnTo>
                  <a:lnTo>
                    <a:pt x="10" y="3"/>
                  </a:lnTo>
                  <a:lnTo>
                    <a:pt x="13" y="3"/>
                  </a:lnTo>
                  <a:lnTo>
                    <a:pt x="18" y="0"/>
                  </a:lnTo>
                  <a:lnTo>
                    <a:pt x="21" y="0"/>
                  </a:lnTo>
                  <a:lnTo>
                    <a:pt x="26" y="0"/>
                  </a:lnTo>
                  <a:lnTo>
                    <a:pt x="29" y="3"/>
                  </a:lnTo>
                  <a:lnTo>
                    <a:pt x="31" y="3"/>
                  </a:lnTo>
                  <a:lnTo>
                    <a:pt x="34" y="5"/>
                  </a:lnTo>
                  <a:lnTo>
                    <a:pt x="37" y="8"/>
                  </a:lnTo>
                  <a:lnTo>
                    <a:pt x="39" y="11"/>
                  </a:lnTo>
                  <a:lnTo>
                    <a:pt x="42" y="13"/>
                  </a:lnTo>
                  <a:lnTo>
                    <a:pt x="42" y="16"/>
                  </a:lnTo>
                  <a:lnTo>
                    <a:pt x="42" y="19"/>
                  </a:lnTo>
                  <a:lnTo>
                    <a:pt x="45" y="24"/>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8" name="Freeform 34"/>
            <p:cNvSpPr>
              <a:spLocks/>
            </p:cNvSpPr>
            <p:nvPr/>
          </p:nvSpPr>
          <p:spPr bwMode="auto">
            <a:xfrm>
              <a:off x="4642" y="1341"/>
              <a:ext cx="49" cy="45"/>
            </a:xfrm>
            <a:custGeom>
              <a:avLst/>
              <a:gdLst>
                <a:gd name="T0" fmla="*/ 46 w 45"/>
                <a:gd name="T1" fmla="*/ 21 h 45"/>
                <a:gd name="T2" fmla="*/ 46 w 45"/>
                <a:gd name="T3" fmla="*/ 19 h 45"/>
                <a:gd name="T4" fmla="*/ 46 w 45"/>
                <a:gd name="T5" fmla="*/ 16 h 45"/>
                <a:gd name="T6" fmla="*/ 46 w 45"/>
                <a:gd name="T7" fmla="*/ 13 h 45"/>
                <a:gd name="T8" fmla="*/ 42 w 45"/>
                <a:gd name="T9" fmla="*/ 11 h 45"/>
                <a:gd name="T10" fmla="*/ 40 w 45"/>
                <a:gd name="T11" fmla="*/ 8 h 45"/>
                <a:gd name="T12" fmla="*/ 37 w 45"/>
                <a:gd name="T13" fmla="*/ 5 h 45"/>
                <a:gd name="T14" fmla="*/ 34 w 45"/>
                <a:gd name="T15" fmla="*/ 3 h 45"/>
                <a:gd name="T16" fmla="*/ 32 w 45"/>
                <a:gd name="T17" fmla="*/ 3 h 45"/>
                <a:gd name="T18" fmla="*/ 28 w 45"/>
                <a:gd name="T19" fmla="*/ 0 h 45"/>
                <a:gd name="T20" fmla="*/ 23 w 45"/>
                <a:gd name="T21" fmla="*/ 0 h 45"/>
                <a:gd name="T22" fmla="*/ 20 w 45"/>
                <a:gd name="T23" fmla="*/ 0 h 45"/>
                <a:gd name="T24" fmla="*/ 14 w 45"/>
                <a:gd name="T25" fmla="*/ 3 h 45"/>
                <a:gd name="T26" fmla="*/ 11 w 45"/>
                <a:gd name="T27" fmla="*/ 3 h 45"/>
                <a:gd name="T28" fmla="*/ 9 w 45"/>
                <a:gd name="T29" fmla="*/ 5 h 45"/>
                <a:gd name="T30" fmla="*/ 5 w 45"/>
                <a:gd name="T31" fmla="*/ 8 h 45"/>
                <a:gd name="T32" fmla="*/ 2 w 45"/>
                <a:gd name="T33" fmla="*/ 11 h 45"/>
                <a:gd name="T34" fmla="*/ 2 w 45"/>
                <a:gd name="T35" fmla="*/ 13 h 45"/>
                <a:gd name="T36" fmla="*/ 0 w 45"/>
                <a:gd name="T37" fmla="*/ 16 h 45"/>
                <a:gd name="T38" fmla="*/ 0 w 45"/>
                <a:gd name="T39" fmla="*/ 19 h 45"/>
                <a:gd name="T40" fmla="*/ 0 w 45"/>
                <a:gd name="T41" fmla="*/ 24 h 45"/>
                <a:gd name="T42" fmla="*/ 0 w 45"/>
                <a:gd name="T43" fmla="*/ 27 h 45"/>
                <a:gd name="T44" fmla="*/ 0 w 45"/>
                <a:gd name="T45" fmla="*/ 29 h 45"/>
                <a:gd name="T46" fmla="*/ 2 w 45"/>
                <a:gd name="T47" fmla="*/ 35 h 45"/>
                <a:gd name="T48" fmla="*/ 2 w 45"/>
                <a:gd name="T49" fmla="*/ 37 h 45"/>
                <a:gd name="T50" fmla="*/ 5 w 45"/>
                <a:gd name="T51" fmla="*/ 40 h 45"/>
                <a:gd name="T52" fmla="*/ 9 w 45"/>
                <a:gd name="T53" fmla="*/ 40 h 45"/>
                <a:gd name="T54" fmla="*/ 11 w 45"/>
                <a:gd name="T55" fmla="*/ 43 h 45"/>
                <a:gd name="T56" fmla="*/ 14 w 45"/>
                <a:gd name="T57" fmla="*/ 45 h 45"/>
                <a:gd name="T58" fmla="*/ 20 w 45"/>
                <a:gd name="T59" fmla="*/ 45 h 45"/>
                <a:gd name="T60" fmla="*/ 23 w 45"/>
                <a:gd name="T61" fmla="*/ 45 h 45"/>
                <a:gd name="T62" fmla="*/ 28 w 45"/>
                <a:gd name="T63" fmla="*/ 45 h 45"/>
                <a:gd name="T64" fmla="*/ 32 w 45"/>
                <a:gd name="T65" fmla="*/ 45 h 45"/>
                <a:gd name="T66" fmla="*/ 34 w 45"/>
                <a:gd name="T67" fmla="*/ 43 h 45"/>
                <a:gd name="T68" fmla="*/ 37 w 45"/>
                <a:gd name="T69" fmla="*/ 40 h 45"/>
                <a:gd name="T70" fmla="*/ 40 w 45"/>
                <a:gd name="T71" fmla="*/ 40 h 45"/>
                <a:gd name="T72" fmla="*/ 42 w 45"/>
                <a:gd name="T73" fmla="*/ 37 h 45"/>
                <a:gd name="T74" fmla="*/ 46 w 45"/>
                <a:gd name="T75" fmla="*/ 35 h 45"/>
                <a:gd name="T76" fmla="*/ 46 w 45"/>
                <a:gd name="T77" fmla="*/ 29 h 45"/>
                <a:gd name="T78" fmla="*/ 46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19"/>
                  </a:lnTo>
                  <a:lnTo>
                    <a:pt x="42" y="16"/>
                  </a:lnTo>
                  <a:lnTo>
                    <a:pt x="42" y="13"/>
                  </a:lnTo>
                  <a:lnTo>
                    <a:pt x="39" y="11"/>
                  </a:lnTo>
                  <a:lnTo>
                    <a:pt x="37" y="8"/>
                  </a:lnTo>
                  <a:lnTo>
                    <a:pt x="34" y="5"/>
                  </a:lnTo>
                  <a:lnTo>
                    <a:pt x="31" y="3"/>
                  </a:lnTo>
                  <a:lnTo>
                    <a:pt x="29" y="3"/>
                  </a:lnTo>
                  <a:lnTo>
                    <a:pt x="26" y="0"/>
                  </a:lnTo>
                  <a:lnTo>
                    <a:pt x="21" y="0"/>
                  </a:lnTo>
                  <a:lnTo>
                    <a:pt x="18" y="0"/>
                  </a:lnTo>
                  <a:lnTo>
                    <a:pt x="13" y="3"/>
                  </a:lnTo>
                  <a:lnTo>
                    <a:pt x="10" y="3"/>
                  </a:lnTo>
                  <a:lnTo>
                    <a:pt x="8" y="5"/>
                  </a:lnTo>
                  <a:lnTo>
                    <a:pt x="5" y="8"/>
                  </a:lnTo>
                  <a:lnTo>
                    <a:pt x="2" y="11"/>
                  </a:lnTo>
                  <a:lnTo>
                    <a:pt x="2" y="13"/>
                  </a:lnTo>
                  <a:lnTo>
                    <a:pt x="0" y="16"/>
                  </a:lnTo>
                  <a:lnTo>
                    <a:pt x="0" y="19"/>
                  </a:lnTo>
                  <a:lnTo>
                    <a:pt x="0" y="24"/>
                  </a:lnTo>
                  <a:lnTo>
                    <a:pt x="0" y="27"/>
                  </a:lnTo>
                  <a:lnTo>
                    <a:pt x="0" y="29"/>
                  </a:lnTo>
                  <a:lnTo>
                    <a:pt x="2" y="35"/>
                  </a:lnTo>
                  <a:lnTo>
                    <a:pt x="2" y="37"/>
                  </a:lnTo>
                  <a:lnTo>
                    <a:pt x="5" y="40"/>
                  </a:lnTo>
                  <a:lnTo>
                    <a:pt x="8" y="40"/>
                  </a:lnTo>
                  <a:lnTo>
                    <a:pt x="10" y="43"/>
                  </a:lnTo>
                  <a:lnTo>
                    <a:pt x="13" y="45"/>
                  </a:lnTo>
                  <a:lnTo>
                    <a:pt x="18" y="45"/>
                  </a:lnTo>
                  <a:lnTo>
                    <a:pt x="21" y="45"/>
                  </a:lnTo>
                  <a:lnTo>
                    <a:pt x="26" y="45"/>
                  </a:lnTo>
                  <a:lnTo>
                    <a:pt x="29" y="45"/>
                  </a:lnTo>
                  <a:lnTo>
                    <a:pt x="31" y="43"/>
                  </a:lnTo>
                  <a:lnTo>
                    <a:pt x="34" y="40"/>
                  </a:lnTo>
                  <a:lnTo>
                    <a:pt x="37" y="40"/>
                  </a:lnTo>
                  <a:lnTo>
                    <a:pt x="39" y="37"/>
                  </a:lnTo>
                  <a:lnTo>
                    <a:pt x="42" y="35"/>
                  </a:lnTo>
                  <a:lnTo>
                    <a:pt x="42" y="29"/>
                  </a:lnTo>
                  <a:lnTo>
                    <a:pt x="42"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 name="Freeform 35"/>
            <p:cNvSpPr>
              <a:spLocks/>
            </p:cNvSpPr>
            <p:nvPr/>
          </p:nvSpPr>
          <p:spPr bwMode="auto">
            <a:xfrm>
              <a:off x="4840" y="1341"/>
              <a:ext cx="49" cy="45"/>
            </a:xfrm>
            <a:custGeom>
              <a:avLst/>
              <a:gdLst>
                <a:gd name="T0" fmla="*/ 46 w 45"/>
                <a:gd name="T1" fmla="*/ 21 h 45"/>
                <a:gd name="T2" fmla="*/ 49 w 45"/>
                <a:gd name="T3" fmla="*/ 27 h 45"/>
                <a:gd name="T4" fmla="*/ 46 w 45"/>
                <a:gd name="T5" fmla="*/ 29 h 45"/>
                <a:gd name="T6" fmla="*/ 46 w 45"/>
                <a:gd name="T7" fmla="*/ 35 h 45"/>
                <a:gd name="T8" fmla="*/ 42 w 45"/>
                <a:gd name="T9" fmla="*/ 37 h 45"/>
                <a:gd name="T10" fmla="*/ 40 w 45"/>
                <a:gd name="T11" fmla="*/ 40 h 45"/>
                <a:gd name="T12" fmla="*/ 37 w 45"/>
                <a:gd name="T13" fmla="*/ 40 h 45"/>
                <a:gd name="T14" fmla="*/ 34 w 45"/>
                <a:gd name="T15" fmla="*/ 43 h 45"/>
                <a:gd name="T16" fmla="*/ 32 w 45"/>
                <a:gd name="T17" fmla="*/ 45 h 45"/>
                <a:gd name="T18" fmla="*/ 28 w 45"/>
                <a:gd name="T19" fmla="*/ 45 h 45"/>
                <a:gd name="T20" fmla="*/ 23 w 45"/>
                <a:gd name="T21" fmla="*/ 45 h 45"/>
                <a:gd name="T22" fmla="*/ 20 w 45"/>
                <a:gd name="T23" fmla="*/ 45 h 45"/>
                <a:gd name="T24" fmla="*/ 16 w 45"/>
                <a:gd name="T25" fmla="*/ 45 h 45"/>
                <a:gd name="T26" fmla="*/ 14 w 45"/>
                <a:gd name="T27" fmla="*/ 43 h 45"/>
                <a:gd name="T28" fmla="*/ 9 w 45"/>
                <a:gd name="T29" fmla="*/ 40 h 45"/>
                <a:gd name="T30" fmla="*/ 5 w 45"/>
                <a:gd name="T31" fmla="*/ 40 h 45"/>
                <a:gd name="T32" fmla="*/ 5 w 45"/>
                <a:gd name="T33" fmla="*/ 37 h 45"/>
                <a:gd name="T34" fmla="*/ 2 w 45"/>
                <a:gd name="T35" fmla="*/ 35 h 45"/>
                <a:gd name="T36" fmla="*/ 0 w 45"/>
                <a:gd name="T37" fmla="*/ 29 h 45"/>
                <a:gd name="T38" fmla="*/ 0 w 45"/>
                <a:gd name="T39" fmla="*/ 27 h 45"/>
                <a:gd name="T40" fmla="*/ 0 w 45"/>
                <a:gd name="T41" fmla="*/ 24 h 45"/>
                <a:gd name="T42" fmla="*/ 0 w 45"/>
                <a:gd name="T43" fmla="*/ 19 h 45"/>
                <a:gd name="T44" fmla="*/ 0 w 45"/>
                <a:gd name="T45" fmla="*/ 16 h 45"/>
                <a:gd name="T46" fmla="*/ 2 w 45"/>
                <a:gd name="T47" fmla="*/ 13 h 45"/>
                <a:gd name="T48" fmla="*/ 5 w 45"/>
                <a:gd name="T49" fmla="*/ 11 h 45"/>
                <a:gd name="T50" fmla="*/ 5 w 45"/>
                <a:gd name="T51" fmla="*/ 8 h 45"/>
                <a:gd name="T52" fmla="*/ 9 w 45"/>
                <a:gd name="T53" fmla="*/ 5 h 45"/>
                <a:gd name="T54" fmla="*/ 14 w 45"/>
                <a:gd name="T55" fmla="*/ 3 h 45"/>
                <a:gd name="T56" fmla="*/ 16 w 45"/>
                <a:gd name="T57" fmla="*/ 3 h 45"/>
                <a:gd name="T58" fmla="*/ 20 w 45"/>
                <a:gd name="T59" fmla="*/ 0 h 45"/>
                <a:gd name="T60" fmla="*/ 23 w 45"/>
                <a:gd name="T61" fmla="*/ 0 h 45"/>
                <a:gd name="T62" fmla="*/ 28 w 45"/>
                <a:gd name="T63" fmla="*/ 0 h 45"/>
                <a:gd name="T64" fmla="*/ 32 w 45"/>
                <a:gd name="T65" fmla="*/ 3 h 45"/>
                <a:gd name="T66" fmla="*/ 34 w 45"/>
                <a:gd name="T67" fmla="*/ 3 h 45"/>
                <a:gd name="T68" fmla="*/ 37 w 45"/>
                <a:gd name="T69" fmla="*/ 5 h 45"/>
                <a:gd name="T70" fmla="*/ 40 w 45"/>
                <a:gd name="T71" fmla="*/ 8 h 45"/>
                <a:gd name="T72" fmla="*/ 42 w 45"/>
                <a:gd name="T73" fmla="*/ 11 h 45"/>
                <a:gd name="T74" fmla="*/ 46 w 45"/>
                <a:gd name="T75" fmla="*/ 13 h 45"/>
                <a:gd name="T76" fmla="*/ 46 w 45"/>
                <a:gd name="T77" fmla="*/ 16 h 45"/>
                <a:gd name="T78" fmla="*/ 49 w 45"/>
                <a:gd name="T79" fmla="*/ 19 h 45"/>
                <a:gd name="T80" fmla="*/ 49 w 45"/>
                <a:gd name="T81" fmla="*/ 24 h 45"/>
                <a:gd name="T82" fmla="*/ 46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5" y="27"/>
                  </a:lnTo>
                  <a:lnTo>
                    <a:pt x="42" y="29"/>
                  </a:lnTo>
                  <a:lnTo>
                    <a:pt x="42" y="35"/>
                  </a:lnTo>
                  <a:lnTo>
                    <a:pt x="39" y="37"/>
                  </a:lnTo>
                  <a:lnTo>
                    <a:pt x="37" y="40"/>
                  </a:lnTo>
                  <a:lnTo>
                    <a:pt x="34" y="40"/>
                  </a:lnTo>
                  <a:lnTo>
                    <a:pt x="31" y="43"/>
                  </a:lnTo>
                  <a:lnTo>
                    <a:pt x="29" y="45"/>
                  </a:lnTo>
                  <a:lnTo>
                    <a:pt x="26" y="45"/>
                  </a:lnTo>
                  <a:lnTo>
                    <a:pt x="21" y="45"/>
                  </a:lnTo>
                  <a:lnTo>
                    <a:pt x="18" y="45"/>
                  </a:lnTo>
                  <a:lnTo>
                    <a:pt x="15" y="45"/>
                  </a:lnTo>
                  <a:lnTo>
                    <a:pt x="13" y="43"/>
                  </a:lnTo>
                  <a:lnTo>
                    <a:pt x="8" y="40"/>
                  </a:lnTo>
                  <a:lnTo>
                    <a:pt x="5" y="40"/>
                  </a:lnTo>
                  <a:lnTo>
                    <a:pt x="5" y="37"/>
                  </a:lnTo>
                  <a:lnTo>
                    <a:pt x="2" y="35"/>
                  </a:lnTo>
                  <a:lnTo>
                    <a:pt x="0" y="29"/>
                  </a:lnTo>
                  <a:lnTo>
                    <a:pt x="0" y="27"/>
                  </a:lnTo>
                  <a:lnTo>
                    <a:pt x="0" y="24"/>
                  </a:lnTo>
                  <a:lnTo>
                    <a:pt x="0" y="19"/>
                  </a:lnTo>
                  <a:lnTo>
                    <a:pt x="0" y="16"/>
                  </a:lnTo>
                  <a:lnTo>
                    <a:pt x="2" y="13"/>
                  </a:lnTo>
                  <a:lnTo>
                    <a:pt x="5" y="11"/>
                  </a:lnTo>
                  <a:lnTo>
                    <a:pt x="5" y="8"/>
                  </a:lnTo>
                  <a:lnTo>
                    <a:pt x="8" y="5"/>
                  </a:lnTo>
                  <a:lnTo>
                    <a:pt x="13" y="3"/>
                  </a:lnTo>
                  <a:lnTo>
                    <a:pt x="15" y="3"/>
                  </a:lnTo>
                  <a:lnTo>
                    <a:pt x="18" y="0"/>
                  </a:lnTo>
                  <a:lnTo>
                    <a:pt x="21" y="0"/>
                  </a:lnTo>
                  <a:lnTo>
                    <a:pt x="26" y="0"/>
                  </a:lnTo>
                  <a:lnTo>
                    <a:pt x="29" y="3"/>
                  </a:lnTo>
                  <a:lnTo>
                    <a:pt x="31" y="3"/>
                  </a:lnTo>
                  <a:lnTo>
                    <a:pt x="34" y="5"/>
                  </a:lnTo>
                  <a:lnTo>
                    <a:pt x="37" y="8"/>
                  </a:lnTo>
                  <a:lnTo>
                    <a:pt x="39" y="11"/>
                  </a:lnTo>
                  <a:lnTo>
                    <a:pt x="42" y="13"/>
                  </a:lnTo>
                  <a:lnTo>
                    <a:pt x="42" y="16"/>
                  </a:lnTo>
                  <a:lnTo>
                    <a:pt x="45" y="19"/>
                  </a:lnTo>
                  <a:lnTo>
                    <a:pt x="45" y="24"/>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0" name="Freeform 36"/>
            <p:cNvSpPr>
              <a:spLocks/>
            </p:cNvSpPr>
            <p:nvPr/>
          </p:nvSpPr>
          <p:spPr bwMode="auto">
            <a:xfrm>
              <a:off x="4840" y="1341"/>
              <a:ext cx="49" cy="45"/>
            </a:xfrm>
            <a:custGeom>
              <a:avLst/>
              <a:gdLst>
                <a:gd name="T0" fmla="*/ 46 w 45"/>
                <a:gd name="T1" fmla="*/ 21 h 45"/>
                <a:gd name="T2" fmla="*/ 49 w 45"/>
                <a:gd name="T3" fmla="*/ 19 h 45"/>
                <a:gd name="T4" fmla="*/ 46 w 45"/>
                <a:gd name="T5" fmla="*/ 16 h 45"/>
                <a:gd name="T6" fmla="*/ 46 w 45"/>
                <a:gd name="T7" fmla="*/ 13 h 45"/>
                <a:gd name="T8" fmla="*/ 42 w 45"/>
                <a:gd name="T9" fmla="*/ 11 h 45"/>
                <a:gd name="T10" fmla="*/ 40 w 45"/>
                <a:gd name="T11" fmla="*/ 8 h 45"/>
                <a:gd name="T12" fmla="*/ 37 w 45"/>
                <a:gd name="T13" fmla="*/ 5 h 45"/>
                <a:gd name="T14" fmla="*/ 34 w 45"/>
                <a:gd name="T15" fmla="*/ 3 h 45"/>
                <a:gd name="T16" fmla="*/ 32 w 45"/>
                <a:gd name="T17" fmla="*/ 3 h 45"/>
                <a:gd name="T18" fmla="*/ 28 w 45"/>
                <a:gd name="T19" fmla="*/ 0 h 45"/>
                <a:gd name="T20" fmla="*/ 23 w 45"/>
                <a:gd name="T21" fmla="*/ 0 h 45"/>
                <a:gd name="T22" fmla="*/ 20 w 45"/>
                <a:gd name="T23" fmla="*/ 0 h 45"/>
                <a:gd name="T24" fmla="*/ 16 w 45"/>
                <a:gd name="T25" fmla="*/ 3 h 45"/>
                <a:gd name="T26" fmla="*/ 14 w 45"/>
                <a:gd name="T27" fmla="*/ 3 h 45"/>
                <a:gd name="T28" fmla="*/ 9 w 45"/>
                <a:gd name="T29" fmla="*/ 5 h 45"/>
                <a:gd name="T30" fmla="*/ 5 w 45"/>
                <a:gd name="T31" fmla="*/ 8 h 45"/>
                <a:gd name="T32" fmla="*/ 5 w 45"/>
                <a:gd name="T33" fmla="*/ 11 h 45"/>
                <a:gd name="T34" fmla="*/ 2 w 45"/>
                <a:gd name="T35" fmla="*/ 13 h 45"/>
                <a:gd name="T36" fmla="*/ 0 w 45"/>
                <a:gd name="T37" fmla="*/ 16 h 45"/>
                <a:gd name="T38" fmla="*/ 0 w 45"/>
                <a:gd name="T39" fmla="*/ 19 h 45"/>
                <a:gd name="T40" fmla="*/ 0 w 45"/>
                <a:gd name="T41" fmla="*/ 24 h 45"/>
                <a:gd name="T42" fmla="*/ 0 w 45"/>
                <a:gd name="T43" fmla="*/ 27 h 45"/>
                <a:gd name="T44" fmla="*/ 0 w 45"/>
                <a:gd name="T45" fmla="*/ 29 h 45"/>
                <a:gd name="T46" fmla="*/ 2 w 45"/>
                <a:gd name="T47" fmla="*/ 35 h 45"/>
                <a:gd name="T48" fmla="*/ 5 w 45"/>
                <a:gd name="T49" fmla="*/ 37 h 45"/>
                <a:gd name="T50" fmla="*/ 5 w 45"/>
                <a:gd name="T51" fmla="*/ 40 h 45"/>
                <a:gd name="T52" fmla="*/ 9 w 45"/>
                <a:gd name="T53" fmla="*/ 40 h 45"/>
                <a:gd name="T54" fmla="*/ 14 w 45"/>
                <a:gd name="T55" fmla="*/ 43 h 45"/>
                <a:gd name="T56" fmla="*/ 16 w 45"/>
                <a:gd name="T57" fmla="*/ 45 h 45"/>
                <a:gd name="T58" fmla="*/ 20 w 45"/>
                <a:gd name="T59" fmla="*/ 45 h 45"/>
                <a:gd name="T60" fmla="*/ 23 w 45"/>
                <a:gd name="T61" fmla="*/ 45 h 45"/>
                <a:gd name="T62" fmla="*/ 28 w 45"/>
                <a:gd name="T63" fmla="*/ 45 h 45"/>
                <a:gd name="T64" fmla="*/ 32 w 45"/>
                <a:gd name="T65" fmla="*/ 45 h 45"/>
                <a:gd name="T66" fmla="*/ 34 w 45"/>
                <a:gd name="T67" fmla="*/ 43 h 45"/>
                <a:gd name="T68" fmla="*/ 37 w 45"/>
                <a:gd name="T69" fmla="*/ 40 h 45"/>
                <a:gd name="T70" fmla="*/ 40 w 45"/>
                <a:gd name="T71" fmla="*/ 40 h 45"/>
                <a:gd name="T72" fmla="*/ 42 w 45"/>
                <a:gd name="T73" fmla="*/ 37 h 45"/>
                <a:gd name="T74" fmla="*/ 46 w 45"/>
                <a:gd name="T75" fmla="*/ 35 h 45"/>
                <a:gd name="T76" fmla="*/ 46 w 45"/>
                <a:gd name="T77" fmla="*/ 29 h 45"/>
                <a:gd name="T78" fmla="*/ 49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5" y="19"/>
                  </a:lnTo>
                  <a:lnTo>
                    <a:pt x="42" y="16"/>
                  </a:lnTo>
                  <a:lnTo>
                    <a:pt x="42" y="13"/>
                  </a:lnTo>
                  <a:lnTo>
                    <a:pt x="39" y="11"/>
                  </a:lnTo>
                  <a:lnTo>
                    <a:pt x="37" y="8"/>
                  </a:lnTo>
                  <a:lnTo>
                    <a:pt x="34" y="5"/>
                  </a:lnTo>
                  <a:lnTo>
                    <a:pt x="31" y="3"/>
                  </a:lnTo>
                  <a:lnTo>
                    <a:pt x="29" y="3"/>
                  </a:lnTo>
                  <a:lnTo>
                    <a:pt x="26" y="0"/>
                  </a:lnTo>
                  <a:lnTo>
                    <a:pt x="21" y="0"/>
                  </a:lnTo>
                  <a:lnTo>
                    <a:pt x="18" y="0"/>
                  </a:lnTo>
                  <a:lnTo>
                    <a:pt x="15" y="3"/>
                  </a:lnTo>
                  <a:lnTo>
                    <a:pt x="13" y="3"/>
                  </a:lnTo>
                  <a:lnTo>
                    <a:pt x="8" y="5"/>
                  </a:lnTo>
                  <a:lnTo>
                    <a:pt x="5" y="8"/>
                  </a:lnTo>
                  <a:lnTo>
                    <a:pt x="5" y="11"/>
                  </a:lnTo>
                  <a:lnTo>
                    <a:pt x="2" y="13"/>
                  </a:lnTo>
                  <a:lnTo>
                    <a:pt x="0" y="16"/>
                  </a:lnTo>
                  <a:lnTo>
                    <a:pt x="0" y="19"/>
                  </a:lnTo>
                  <a:lnTo>
                    <a:pt x="0" y="24"/>
                  </a:lnTo>
                  <a:lnTo>
                    <a:pt x="0" y="27"/>
                  </a:lnTo>
                  <a:lnTo>
                    <a:pt x="0" y="29"/>
                  </a:lnTo>
                  <a:lnTo>
                    <a:pt x="2" y="35"/>
                  </a:lnTo>
                  <a:lnTo>
                    <a:pt x="5" y="37"/>
                  </a:lnTo>
                  <a:lnTo>
                    <a:pt x="5" y="40"/>
                  </a:lnTo>
                  <a:lnTo>
                    <a:pt x="8" y="40"/>
                  </a:lnTo>
                  <a:lnTo>
                    <a:pt x="13" y="43"/>
                  </a:lnTo>
                  <a:lnTo>
                    <a:pt x="15" y="45"/>
                  </a:lnTo>
                  <a:lnTo>
                    <a:pt x="18" y="45"/>
                  </a:lnTo>
                  <a:lnTo>
                    <a:pt x="21" y="45"/>
                  </a:lnTo>
                  <a:lnTo>
                    <a:pt x="26" y="45"/>
                  </a:lnTo>
                  <a:lnTo>
                    <a:pt x="29" y="45"/>
                  </a:lnTo>
                  <a:lnTo>
                    <a:pt x="31" y="43"/>
                  </a:lnTo>
                  <a:lnTo>
                    <a:pt x="34" y="40"/>
                  </a:lnTo>
                  <a:lnTo>
                    <a:pt x="37" y="40"/>
                  </a:lnTo>
                  <a:lnTo>
                    <a:pt x="39" y="37"/>
                  </a:lnTo>
                  <a:lnTo>
                    <a:pt x="42" y="35"/>
                  </a:lnTo>
                  <a:lnTo>
                    <a:pt x="42" y="29"/>
                  </a:lnTo>
                  <a:lnTo>
                    <a:pt x="45"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1" name="Freeform 37"/>
            <p:cNvSpPr>
              <a:spLocks/>
            </p:cNvSpPr>
            <p:nvPr/>
          </p:nvSpPr>
          <p:spPr bwMode="auto">
            <a:xfrm>
              <a:off x="5055" y="1341"/>
              <a:ext cx="49" cy="45"/>
            </a:xfrm>
            <a:custGeom>
              <a:avLst/>
              <a:gdLst>
                <a:gd name="T0" fmla="*/ 49 w 45"/>
                <a:gd name="T1" fmla="*/ 21 h 45"/>
                <a:gd name="T2" fmla="*/ 49 w 45"/>
                <a:gd name="T3" fmla="*/ 27 h 45"/>
                <a:gd name="T4" fmla="*/ 49 w 45"/>
                <a:gd name="T5" fmla="*/ 29 h 45"/>
                <a:gd name="T6" fmla="*/ 47 w 45"/>
                <a:gd name="T7" fmla="*/ 35 h 45"/>
                <a:gd name="T8" fmla="*/ 44 w 45"/>
                <a:gd name="T9" fmla="*/ 37 h 45"/>
                <a:gd name="T10" fmla="*/ 44 w 45"/>
                <a:gd name="T11" fmla="*/ 40 h 45"/>
                <a:gd name="T12" fmla="*/ 41 w 45"/>
                <a:gd name="T13" fmla="*/ 40 h 45"/>
                <a:gd name="T14" fmla="*/ 38 w 45"/>
                <a:gd name="T15" fmla="*/ 43 h 45"/>
                <a:gd name="T16" fmla="*/ 33 w 45"/>
                <a:gd name="T17" fmla="*/ 45 h 45"/>
                <a:gd name="T18" fmla="*/ 29 w 45"/>
                <a:gd name="T19" fmla="*/ 45 h 45"/>
                <a:gd name="T20" fmla="*/ 26 w 45"/>
                <a:gd name="T21" fmla="*/ 45 h 45"/>
                <a:gd name="T22" fmla="*/ 21 w 45"/>
                <a:gd name="T23" fmla="*/ 45 h 45"/>
                <a:gd name="T24" fmla="*/ 17 w 45"/>
                <a:gd name="T25" fmla="*/ 45 h 45"/>
                <a:gd name="T26" fmla="*/ 15 w 45"/>
                <a:gd name="T27" fmla="*/ 43 h 45"/>
                <a:gd name="T28" fmla="*/ 12 w 45"/>
                <a:gd name="T29" fmla="*/ 40 h 45"/>
                <a:gd name="T30" fmla="*/ 9 w 45"/>
                <a:gd name="T31" fmla="*/ 40 h 45"/>
                <a:gd name="T32" fmla="*/ 7 w 45"/>
                <a:gd name="T33" fmla="*/ 37 h 45"/>
                <a:gd name="T34" fmla="*/ 3 w 45"/>
                <a:gd name="T35" fmla="*/ 35 h 45"/>
                <a:gd name="T36" fmla="*/ 3 w 45"/>
                <a:gd name="T37" fmla="*/ 29 h 45"/>
                <a:gd name="T38" fmla="*/ 0 w 45"/>
                <a:gd name="T39" fmla="*/ 27 h 45"/>
                <a:gd name="T40" fmla="*/ 0 w 45"/>
                <a:gd name="T41" fmla="*/ 24 h 45"/>
                <a:gd name="T42" fmla="*/ 0 w 45"/>
                <a:gd name="T43" fmla="*/ 19 h 45"/>
                <a:gd name="T44" fmla="*/ 3 w 45"/>
                <a:gd name="T45" fmla="*/ 16 h 45"/>
                <a:gd name="T46" fmla="*/ 3 w 45"/>
                <a:gd name="T47" fmla="*/ 13 h 45"/>
                <a:gd name="T48" fmla="*/ 7 w 45"/>
                <a:gd name="T49" fmla="*/ 11 h 45"/>
                <a:gd name="T50" fmla="*/ 9 w 45"/>
                <a:gd name="T51" fmla="*/ 8 h 45"/>
                <a:gd name="T52" fmla="*/ 12 w 45"/>
                <a:gd name="T53" fmla="*/ 5 h 45"/>
                <a:gd name="T54" fmla="*/ 15 w 45"/>
                <a:gd name="T55" fmla="*/ 3 h 45"/>
                <a:gd name="T56" fmla="*/ 17 w 45"/>
                <a:gd name="T57" fmla="*/ 3 h 45"/>
                <a:gd name="T58" fmla="*/ 21 w 45"/>
                <a:gd name="T59" fmla="*/ 0 h 45"/>
                <a:gd name="T60" fmla="*/ 26 w 45"/>
                <a:gd name="T61" fmla="*/ 0 h 45"/>
                <a:gd name="T62" fmla="*/ 29 w 45"/>
                <a:gd name="T63" fmla="*/ 0 h 45"/>
                <a:gd name="T64" fmla="*/ 33 w 45"/>
                <a:gd name="T65" fmla="*/ 3 h 45"/>
                <a:gd name="T66" fmla="*/ 38 w 45"/>
                <a:gd name="T67" fmla="*/ 3 h 45"/>
                <a:gd name="T68" fmla="*/ 41 w 45"/>
                <a:gd name="T69" fmla="*/ 5 h 45"/>
                <a:gd name="T70" fmla="*/ 44 w 45"/>
                <a:gd name="T71" fmla="*/ 8 h 45"/>
                <a:gd name="T72" fmla="*/ 44 w 45"/>
                <a:gd name="T73" fmla="*/ 11 h 45"/>
                <a:gd name="T74" fmla="*/ 47 w 45"/>
                <a:gd name="T75" fmla="*/ 13 h 45"/>
                <a:gd name="T76" fmla="*/ 49 w 45"/>
                <a:gd name="T77" fmla="*/ 16 h 45"/>
                <a:gd name="T78" fmla="*/ 49 w 45"/>
                <a:gd name="T79" fmla="*/ 19 h 45"/>
                <a:gd name="T80" fmla="*/ 49 w 45"/>
                <a:gd name="T81" fmla="*/ 24 h 45"/>
                <a:gd name="T82" fmla="*/ 49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27"/>
                  </a:lnTo>
                  <a:lnTo>
                    <a:pt x="45" y="29"/>
                  </a:lnTo>
                  <a:lnTo>
                    <a:pt x="43" y="35"/>
                  </a:lnTo>
                  <a:lnTo>
                    <a:pt x="40" y="37"/>
                  </a:lnTo>
                  <a:lnTo>
                    <a:pt x="40" y="40"/>
                  </a:lnTo>
                  <a:lnTo>
                    <a:pt x="38" y="40"/>
                  </a:lnTo>
                  <a:lnTo>
                    <a:pt x="35" y="43"/>
                  </a:lnTo>
                  <a:lnTo>
                    <a:pt x="30" y="45"/>
                  </a:lnTo>
                  <a:lnTo>
                    <a:pt x="27" y="45"/>
                  </a:lnTo>
                  <a:lnTo>
                    <a:pt x="24" y="45"/>
                  </a:lnTo>
                  <a:lnTo>
                    <a:pt x="19" y="45"/>
                  </a:lnTo>
                  <a:lnTo>
                    <a:pt x="16" y="45"/>
                  </a:lnTo>
                  <a:lnTo>
                    <a:pt x="14" y="43"/>
                  </a:lnTo>
                  <a:lnTo>
                    <a:pt x="11" y="40"/>
                  </a:lnTo>
                  <a:lnTo>
                    <a:pt x="8" y="40"/>
                  </a:lnTo>
                  <a:lnTo>
                    <a:pt x="6" y="37"/>
                  </a:lnTo>
                  <a:lnTo>
                    <a:pt x="3" y="35"/>
                  </a:lnTo>
                  <a:lnTo>
                    <a:pt x="3" y="29"/>
                  </a:lnTo>
                  <a:lnTo>
                    <a:pt x="0" y="27"/>
                  </a:lnTo>
                  <a:lnTo>
                    <a:pt x="0" y="24"/>
                  </a:lnTo>
                  <a:lnTo>
                    <a:pt x="0" y="19"/>
                  </a:lnTo>
                  <a:lnTo>
                    <a:pt x="3" y="16"/>
                  </a:lnTo>
                  <a:lnTo>
                    <a:pt x="3" y="13"/>
                  </a:lnTo>
                  <a:lnTo>
                    <a:pt x="6" y="11"/>
                  </a:lnTo>
                  <a:lnTo>
                    <a:pt x="8" y="8"/>
                  </a:lnTo>
                  <a:lnTo>
                    <a:pt x="11" y="5"/>
                  </a:lnTo>
                  <a:lnTo>
                    <a:pt x="14" y="3"/>
                  </a:lnTo>
                  <a:lnTo>
                    <a:pt x="16" y="3"/>
                  </a:lnTo>
                  <a:lnTo>
                    <a:pt x="19" y="0"/>
                  </a:lnTo>
                  <a:lnTo>
                    <a:pt x="24" y="0"/>
                  </a:lnTo>
                  <a:lnTo>
                    <a:pt x="27" y="0"/>
                  </a:lnTo>
                  <a:lnTo>
                    <a:pt x="30" y="3"/>
                  </a:lnTo>
                  <a:lnTo>
                    <a:pt x="35" y="3"/>
                  </a:lnTo>
                  <a:lnTo>
                    <a:pt x="38" y="5"/>
                  </a:lnTo>
                  <a:lnTo>
                    <a:pt x="40" y="8"/>
                  </a:lnTo>
                  <a:lnTo>
                    <a:pt x="40" y="11"/>
                  </a:lnTo>
                  <a:lnTo>
                    <a:pt x="43" y="13"/>
                  </a:lnTo>
                  <a:lnTo>
                    <a:pt x="45" y="16"/>
                  </a:lnTo>
                  <a:lnTo>
                    <a:pt x="45" y="19"/>
                  </a:lnTo>
                  <a:lnTo>
                    <a:pt x="45" y="24"/>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 name="Freeform 38"/>
            <p:cNvSpPr>
              <a:spLocks/>
            </p:cNvSpPr>
            <p:nvPr/>
          </p:nvSpPr>
          <p:spPr bwMode="auto">
            <a:xfrm>
              <a:off x="5055" y="1341"/>
              <a:ext cx="49" cy="45"/>
            </a:xfrm>
            <a:custGeom>
              <a:avLst/>
              <a:gdLst>
                <a:gd name="T0" fmla="*/ 49 w 45"/>
                <a:gd name="T1" fmla="*/ 21 h 45"/>
                <a:gd name="T2" fmla="*/ 49 w 45"/>
                <a:gd name="T3" fmla="*/ 19 h 45"/>
                <a:gd name="T4" fmla="*/ 49 w 45"/>
                <a:gd name="T5" fmla="*/ 16 h 45"/>
                <a:gd name="T6" fmla="*/ 47 w 45"/>
                <a:gd name="T7" fmla="*/ 13 h 45"/>
                <a:gd name="T8" fmla="*/ 44 w 45"/>
                <a:gd name="T9" fmla="*/ 11 h 45"/>
                <a:gd name="T10" fmla="*/ 44 w 45"/>
                <a:gd name="T11" fmla="*/ 8 h 45"/>
                <a:gd name="T12" fmla="*/ 41 w 45"/>
                <a:gd name="T13" fmla="*/ 5 h 45"/>
                <a:gd name="T14" fmla="*/ 38 w 45"/>
                <a:gd name="T15" fmla="*/ 3 h 45"/>
                <a:gd name="T16" fmla="*/ 33 w 45"/>
                <a:gd name="T17" fmla="*/ 3 h 45"/>
                <a:gd name="T18" fmla="*/ 29 w 45"/>
                <a:gd name="T19" fmla="*/ 0 h 45"/>
                <a:gd name="T20" fmla="*/ 26 w 45"/>
                <a:gd name="T21" fmla="*/ 0 h 45"/>
                <a:gd name="T22" fmla="*/ 21 w 45"/>
                <a:gd name="T23" fmla="*/ 0 h 45"/>
                <a:gd name="T24" fmla="*/ 17 w 45"/>
                <a:gd name="T25" fmla="*/ 3 h 45"/>
                <a:gd name="T26" fmla="*/ 15 w 45"/>
                <a:gd name="T27" fmla="*/ 3 h 45"/>
                <a:gd name="T28" fmla="*/ 12 w 45"/>
                <a:gd name="T29" fmla="*/ 5 h 45"/>
                <a:gd name="T30" fmla="*/ 9 w 45"/>
                <a:gd name="T31" fmla="*/ 8 h 45"/>
                <a:gd name="T32" fmla="*/ 7 w 45"/>
                <a:gd name="T33" fmla="*/ 11 h 45"/>
                <a:gd name="T34" fmla="*/ 3 w 45"/>
                <a:gd name="T35" fmla="*/ 13 h 45"/>
                <a:gd name="T36" fmla="*/ 3 w 45"/>
                <a:gd name="T37" fmla="*/ 16 h 45"/>
                <a:gd name="T38" fmla="*/ 0 w 45"/>
                <a:gd name="T39" fmla="*/ 19 h 45"/>
                <a:gd name="T40" fmla="*/ 0 w 45"/>
                <a:gd name="T41" fmla="*/ 24 h 45"/>
                <a:gd name="T42" fmla="*/ 0 w 45"/>
                <a:gd name="T43" fmla="*/ 27 h 45"/>
                <a:gd name="T44" fmla="*/ 3 w 45"/>
                <a:gd name="T45" fmla="*/ 29 h 45"/>
                <a:gd name="T46" fmla="*/ 3 w 45"/>
                <a:gd name="T47" fmla="*/ 35 h 45"/>
                <a:gd name="T48" fmla="*/ 7 w 45"/>
                <a:gd name="T49" fmla="*/ 37 h 45"/>
                <a:gd name="T50" fmla="*/ 9 w 45"/>
                <a:gd name="T51" fmla="*/ 40 h 45"/>
                <a:gd name="T52" fmla="*/ 12 w 45"/>
                <a:gd name="T53" fmla="*/ 40 h 45"/>
                <a:gd name="T54" fmla="*/ 15 w 45"/>
                <a:gd name="T55" fmla="*/ 43 h 45"/>
                <a:gd name="T56" fmla="*/ 17 w 45"/>
                <a:gd name="T57" fmla="*/ 45 h 45"/>
                <a:gd name="T58" fmla="*/ 21 w 45"/>
                <a:gd name="T59" fmla="*/ 45 h 45"/>
                <a:gd name="T60" fmla="*/ 26 w 45"/>
                <a:gd name="T61" fmla="*/ 45 h 45"/>
                <a:gd name="T62" fmla="*/ 29 w 45"/>
                <a:gd name="T63" fmla="*/ 45 h 45"/>
                <a:gd name="T64" fmla="*/ 33 w 45"/>
                <a:gd name="T65" fmla="*/ 45 h 45"/>
                <a:gd name="T66" fmla="*/ 38 w 45"/>
                <a:gd name="T67" fmla="*/ 43 h 45"/>
                <a:gd name="T68" fmla="*/ 41 w 45"/>
                <a:gd name="T69" fmla="*/ 40 h 45"/>
                <a:gd name="T70" fmla="*/ 44 w 45"/>
                <a:gd name="T71" fmla="*/ 40 h 45"/>
                <a:gd name="T72" fmla="*/ 44 w 45"/>
                <a:gd name="T73" fmla="*/ 37 h 45"/>
                <a:gd name="T74" fmla="*/ 47 w 45"/>
                <a:gd name="T75" fmla="*/ 35 h 45"/>
                <a:gd name="T76" fmla="*/ 49 w 45"/>
                <a:gd name="T77" fmla="*/ 29 h 45"/>
                <a:gd name="T78" fmla="*/ 49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9"/>
                  </a:lnTo>
                  <a:lnTo>
                    <a:pt x="45" y="16"/>
                  </a:lnTo>
                  <a:lnTo>
                    <a:pt x="43" y="13"/>
                  </a:lnTo>
                  <a:lnTo>
                    <a:pt x="40" y="11"/>
                  </a:lnTo>
                  <a:lnTo>
                    <a:pt x="40" y="8"/>
                  </a:lnTo>
                  <a:lnTo>
                    <a:pt x="38" y="5"/>
                  </a:lnTo>
                  <a:lnTo>
                    <a:pt x="35" y="3"/>
                  </a:lnTo>
                  <a:lnTo>
                    <a:pt x="30" y="3"/>
                  </a:lnTo>
                  <a:lnTo>
                    <a:pt x="27" y="0"/>
                  </a:lnTo>
                  <a:lnTo>
                    <a:pt x="24" y="0"/>
                  </a:lnTo>
                  <a:lnTo>
                    <a:pt x="19" y="0"/>
                  </a:lnTo>
                  <a:lnTo>
                    <a:pt x="16" y="3"/>
                  </a:lnTo>
                  <a:lnTo>
                    <a:pt x="14" y="3"/>
                  </a:lnTo>
                  <a:lnTo>
                    <a:pt x="11" y="5"/>
                  </a:lnTo>
                  <a:lnTo>
                    <a:pt x="8" y="8"/>
                  </a:lnTo>
                  <a:lnTo>
                    <a:pt x="6" y="11"/>
                  </a:lnTo>
                  <a:lnTo>
                    <a:pt x="3" y="13"/>
                  </a:lnTo>
                  <a:lnTo>
                    <a:pt x="3" y="16"/>
                  </a:lnTo>
                  <a:lnTo>
                    <a:pt x="0" y="19"/>
                  </a:lnTo>
                  <a:lnTo>
                    <a:pt x="0" y="24"/>
                  </a:lnTo>
                  <a:lnTo>
                    <a:pt x="0" y="27"/>
                  </a:lnTo>
                  <a:lnTo>
                    <a:pt x="3" y="29"/>
                  </a:lnTo>
                  <a:lnTo>
                    <a:pt x="3" y="35"/>
                  </a:lnTo>
                  <a:lnTo>
                    <a:pt x="6" y="37"/>
                  </a:lnTo>
                  <a:lnTo>
                    <a:pt x="8" y="40"/>
                  </a:lnTo>
                  <a:lnTo>
                    <a:pt x="11" y="40"/>
                  </a:lnTo>
                  <a:lnTo>
                    <a:pt x="14" y="43"/>
                  </a:lnTo>
                  <a:lnTo>
                    <a:pt x="16" y="45"/>
                  </a:lnTo>
                  <a:lnTo>
                    <a:pt x="19" y="45"/>
                  </a:lnTo>
                  <a:lnTo>
                    <a:pt x="24" y="45"/>
                  </a:lnTo>
                  <a:lnTo>
                    <a:pt x="27" y="45"/>
                  </a:lnTo>
                  <a:lnTo>
                    <a:pt x="30" y="45"/>
                  </a:lnTo>
                  <a:lnTo>
                    <a:pt x="35" y="43"/>
                  </a:lnTo>
                  <a:lnTo>
                    <a:pt x="38" y="40"/>
                  </a:lnTo>
                  <a:lnTo>
                    <a:pt x="40" y="40"/>
                  </a:lnTo>
                  <a:lnTo>
                    <a:pt x="40" y="37"/>
                  </a:lnTo>
                  <a:lnTo>
                    <a:pt x="43" y="35"/>
                  </a:lnTo>
                  <a:lnTo>
                    <a:pt x="45" y="29"/>
                  </a:lnTo>
                  <a:lnTo>
                    <a:pt x="45"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 name="Text Box 39"/>
            <p:cNvSpPr txBox="1">
              <a:spLocks noChangeArrowheads="1"/>
            </p:cNvSpPr>
            <p:nvPr/>
          </p:nvSpPr>
          <p:spPr bwMode="auto">
            <a:xfrm>
              <a:off x="4004" y="2160"/>
              <a:ext cx="182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solidFill>
                    <a:schemeClr val="hlink"/>
                  </a:solidFill>
                  <a:ea typeface="宋体" panose="02010600030101010101" pitchFamily="2" charset="-122"/>
                </a:rPr>
                <a:t>Dance Hall (UMA)</a:t>
              </a:r>
            </a:p>
          </p:txBody>
        </p:sp>
      </p:grpSp>
      <p:grpSp>
        <p:nvGrpSpPr>
          <p:cNvPr id="154" name="Group 40"/>
          <p:cNvGrpSpPr>
            <a:grpSpLocks/>
          </p:cNvGrpSpPr>
          <p:nvPr/>
        </p:nvGrpSpPr>
        <p:grpSpPr bwMode="auto">
          <a:xfrm>
            <a:off x="6776200" y="3047087"/>
            <a:ext cx="5110530" cy="2634001"/>
            <a:chOff x="1760" y="2578"/>
            <a:chExt cx="2633" cy="1233"/>
          </a:xfrm>
        </p:grpSpPr>
        <p:sp>
          <p:nvSpPr>
            <p:cNvPr id="155" name="Freeform 41"/>
            <p:cNvSpPr>
              <a:spLocks/>
            </p:cNvSpPr>
            <p:nvPr/>
          </p:nvSpPr>
          <p:spPr bwMode="auto">
            <a:xfrm>
              <a:off x="2176" y="2578"/>
              <a:ext cx="346" cy="318"/>
            </a:xfrm>
            <a:custGeom>
              <a:avLst/>
              <a:gdLst>
                <a:gd name="T0" fmla="*/ 346 w 319"/>
                <a:gd name="T1" fmla="*/ 157 h 318"/>
                <a:gd name="T2" fmla="*/ 343 w 319"/>
                <a:gd name="T3" fmla="*/ 133 h 318"/>
                <a:gd name="T4" fmla="*/ 337 w 319"/>
                <a:gd name="T5" fmla="*/ 109 h 318"/>
                <a:gd name="T6" fmla="*/ 325 w 319"/>
                <a:gd name="T7" fmla="*/ 85 h 318"/>
                <a:gd name="T8" fmla="*/ 313 w 319"/>
                <a:gd name="T9" fmla="*/ 64 h 318"/>
                <a:gd name="T10" fmla="*/ 296 w 319"/>
                <a:gd name="T11" fmla="*/ 45 h 318"/>
                <a:gd name="T12" fmla="*/ 277 w 319"/>
                <a:gd name="T13" fmla="*/ 29 h 318"/>
                <a:gd name="T14" fmla="*/ 254 w 319"/>
                <a:gd name="T15" fmla="*/ 19 h 318"/>
                <a:gd name="T16" fmla="*/ 228 w 319"/>
                <a:gd name="T17" fmla="*/ 8 h 318"/>
                <a:gd name="T18" fmla="*/ 202 w 319"/>
                <a:gd name="T19" fmla="*/ 3 h 318"/>
                <a:gd name="T20" fmla="*/ 172 w 319"/>
                <a:gd name="T21" fmla="*/ 0 h 318"/>
                <a:gd name="T22" fmla="*/ 144 w 319"/>
                <a:gd name="T23" fmla="*/ 3 h 318"/>
                <a:gd name="T24" fmla="*/ 118 w 319"/>
                <a:gd name="T25" fmla="*/ 8 h 318"/>
                <a:gd name="T26" fmla="*/ 95 w 319"/>
                <a:gd name="T27" fmla="*/ 19 h 318"/>
                <a:gd name="T28" fmla="*/ 73 w 319"/>
                <a:gd name="T29" fmla="*/ 29 h 318"/>
                <a:gd name="T30" fmla="*/ 52 w 319"/>
                <a:gd name="T31" fmla="*/ 45 h 318"/>
                <a:gd name="T32" fmla="*/ 35 w 319"/>
                <a:gd name="T33" fmla="*/ 64 h 318"/>
                <a:gd name="T34" fmla="*/ 21 w 319"/>
                <a:gd name="T35" fmla="*/ 85 h 318"/>
                <a:gd name="T36" fmla="*/ 9 w 319"/>
                <a:gd name="T37" fmla="*/ 109 h 318"/>
                <a:gd name="T38" fmla="*/ 3 w 319"/>
                <a:gd name="T39" fmla="*/ 133 h 318"/>
                <a:gd name="T40" fmla="*/ 0 w 319"/>
                <a:gd name="T41" fmla="*/ 159 h 318"/>
                <a:gd name="T42" fmla="*/ 3 w 319"/>
                <a:gd name="T43" fmla="*/ 186 h 318"/>
                <a:gd name="T44" fmla="*/ 9 w 319"/>
                <a:gd name="T45" fmla="*/ 210 h 318"/>
                <a:gd name="T46" fmla="*/ 21 w 319"/>
                <a:gd name="T47" fmla="*/ 231 h 318"/>
                <a:gd name="T48" fmla="*/ 35 w 319"/>
                <a:gd name="T49" fmla="*/ 252 h 318"/>
                <a:gd name="T50" fmla="*/ 52 w 319"/>
                <a:gd name="T51" fmla="*/ 271 h 318"/>
                <a:gd name="T52" fmla="*/ 73 w 319"/>
                <a:gd name="T53" fmla="*/ 287 h 318"/>
                <a:gd name="T54" fmla="*/ 95 w 319"/>
                <a:gd name="T55" fmla="*/ 300 h 318"/>
                <a:gd name="T56" fmla="*/ 118 w 319"/>
                <a:gd name="T57" fmla="*/ 310 h 318"/>
                <a:gd name="T58" fmla="*/ 144 w 319"/>
                <a:gd name="T59" fmla="*/ 316 h 318"/>
                <a:gd name="T60" fmla="*/ 172 w 319"/>
                <a:gd name="T61" fmla="*/ 318 h 318"/>
                <a:gd name="T62" fmla="*/ 202 w 319"/>
                <a:gd name="T63" fmla="*/ 316 h 318"/>
                <a:gd name="T64" fmla="*/ 228 w 319"/>
                <a:gd name="T65" fmla="*/ 310 h 318"/>
                <a:gd name="T66" fmla="*/ 254 w 319"/>
                <a:gd name="T67" fmla="*/ 300 h 318"/>
                <a:gd name="T68" fmla="*/ 277 w 319"/>
                <a:gd name="T69" fmla="*/ 287 h 318"/>
                <a:gd name="T70" fmla="*/ 296 w 319"/>
                <a:gd name="T71" fmla="*/ 271 h 318"/>
                <a:gd name="T72" fmla="*/ 313 w 319"/>
                <a:gd name="T73" fmla="*/ 252 h 318"/>
                <a:gd name="T74" fmla="*/ 325 w 319"/>
                <a:gd name="T75" fmla="*/ 231 h 318"/>
                <a:gd name="T76" fmla="*/ 337 w 319"/>
                <a:gd name="T77" fmla="*/ 210 h 318"/>
                <a:gd name="T78" fmla="*/ 343 w 319"/>
                <a:gd name="T79" fmla="*/ 186 h 318"/>
                <a:gd name="T80" fmla="*/ 346 w 319"/>
                <a:gd name="T81" fmla="*/ 159 h 318"/>
                <a:gd name="T82" fmla="*/ 346 w 319"/>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33"/>
                  </a:lnTo>
                  <a:lnTo>
                    <a:pt x="311" y="109"/>
                  </a:lnTo>
                  <a:lnTo>
                    <a:pt x="300" y="85"/>
                  </a:lnTo>
                  <a:lnTo>
                    <a:pt x="289" y="64"/>
                  </a:lnTo>
                  <a:lnTo>
                    <a:pt x="273" y="45"/>
                  </a:lnTo>
                  <a:lnTo>
                    <a:pt x="255" y="29"/>
                  </a:lnTo>
                  <a:lnTo>
                    <a:pt x="234" y="19"/>
                  </a:lnTo>
                  <a:lnTo>
                    <a:pt x="210" y="8"/>
                  </a:lnTo>
                  <a:lnTo>
                    <a:pt x="186" y="3"/>
                  </a:lnTo>
                  <a:lnTo>
                    <a:pt x="159" y="0"/>
                  </a:lnTo>
                  <a:lnTo>
                    <a:pt x="133" y="3"/>
                  </a:lnTo>
                  <a:lnTo>
                    <a:pt x="109" y="8"/>
                  </a:lnTo>
                  <a:lnTo>
                    <a:pt x="88" y="19"/>
                  </a:lnTo>
                  <a:lnTo>
                    <a:pt x="67" y="29"/>
                  </a:lnTo>
                  <a:lnTo>
                    <a:pt x="48" y="45"/>
                  </a:lnTo>
                  <a:lnTo>
                    <a:pt x="32" y="64"/>
                  </a:lnTo>
                  <a:lnTo>
                    <a:pt x="19" y="85"/>
                  </a:lnTo>
                  <a:lnTo>
                    <a:pt x="8" y="109"/>
                  </a:lnTo>
                  <a:lnTo>
                    <a:pt x="3" y="133"/>
                  </a:lnTo>
                  <a:lnTo>
                    <a:pt x="0" y="159"/>
                  </a:lnTo>
                  <a:lnTo>
                    <a:pt x="3" y="186"/>
                  </a:lnTo>
                  <a:lnTo>
                    <a:pt x="8" y="210"/>
                  </a:lnTo>
                  <a:lnTo>
                    <a:pt x="19" y="231"/>
                  </a:lnTo>
                  <a:lnTo>
                    <a:pt x="32" y="252"/>
                  </a:lnTo>
                  <a:lnTo>
                    <a:pt x="48" y="271"/>
                  </a:lnTo>
                  <a:lnTo>
                    <a:pt x="67" y="287"/>
                  </a:lnTo>
                  <a:lnTo>
                    <a:pt x="88" y="300"/>
                  </a:lnTo>
                  <a:lnTo>
                    <a:pt x="109" y="310"/>
                  </a:lnTo>
                  <a:lnTo>
                    <a:pt x="133" y="316"/>
                  </a:lnTo>
                  <a:lnTo>
                    <a:pt x="159" y="318"/>
                  </a:lnTo>
                  <a:lnTo>
                    <a:pt x="186" y="316"/>
                  </a:lnTo>
                  <a:lnTo>
                    <a:pt x="210" y="310"/>
                  </a:lnTo>
                  <a:lnTo>
                    <a:pt x="234" y="300"/>
                  </a:lnTo>
                  <a:lnTo>
                    <a:pt x="255" y="287"/>
                  </a:lnTo>
                  <a:lnTo>
                    <a:pt x="273" y="271"/>
                  </a:lnTo>
                  <a:lnTo>
                    <a:pt x="289" y="252"/>
                  </a:lnTo>
                  <a:lnTo>
                    <a:pt x="300" y="231"/>
                  </a:lnTo>
                  <a:lnTo>
                    <a:pt x="311" y="210"/>
                  </a:lnTo>
                  <a:lnTo>
                    <a:pt x="316" y="186"/>
                  </a:lnTo>
                  <a:lnTo>
                    <a:pt x="319"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 name="Freeform 42"/>
            <p:cNvSpPr>
              <a:spLocks/>
            </p:cNvSpPr>
            <p:nvPr/>
          </p:nvSpPr>
          <p:spPr bwMode="auto">
            <a:xfrm>
              <a:off x="4048" y="2578"/>
              <a:ext cx="345" cy="318"/>
            </a:xfrm>
            <a:custGeom>
              <a:avLst/>
              <a:gdLst>
                <a:gd name="T0" fmla="*/ 345 w 318"/>
                <a:gd name="T1" fmla="*/ 159 h 318"/>
                <a:gd name="T2" fmla="*/ 343 w 318"/>
                <a:gd name="T3" fmla="*/ 135 h 318"/>
                <a:gd name="T4" fmla="*/ 337 w 318"/>
                <a:gd name="T5" fmla="*/ 108 h 318"/>
                <a:gd name="T6" fmla="*/ 325 w 318"/>
                <a:gd name="T7" fmla="*/ 87 h 318"/>
                <a:gd name="T8" fmla="*/ 314 w 318"/>
                <a:gd name="T9" fmla="*/ 66 h 318"/>
                <a:gd name="T10" fmla="*/ 296 w 318"/>
                <a:gd name="T11" fmla="*/ 47 h 318"/>
                <a:gd name="T12" fmla="*/ 277 w 318"/>
                <a:gd name="T13" fmla="*/ 31 h 318"/>
                <a:gd name="T14" fmla="*/ 254 w 318"/>
                <a:gd name="T15" fmla="*/ 18 h 318"/>
                <a:gd name="T16" fmla="*/ 228 w 318"/>
                <a:gd name="T17" fmla="*/ 8 h 318"/>
                <a:gd name="T18" fmla="*/ 202 w 318"/>
                <a:gd name="T19" fmla="*/ 2 h 318"/>
                <a:gd name="T20" fmla="*/ 173 w 318"/>
                <a:gd name="T21" fmla="*/ 0 h 318"/>
                <a:gd name="T22" fmla="*/ 144 w 318"/>
                <a:gd name="T23" fmla="*/ 2 h 318"/>
                <a:gd name="T24" fmla="*/ 118 w 318"/>
                <a:gd name="T25" fmla="*/ 8 h 318"/>
                <a:gd name="T26" fmla="*/ 95 w 318"/>
                <a:gd name="T27" fmla="*/ 18 h 318"/>
                <a:gd name="T28" fmla="*/ 73 w 318"/>
                <a:gd name="T29" fmla="*/ 31 h 318"/>
                <a:gd name="T30" fmla="*/ 52 w 318"/>
                <a:gd name="T31" fmla="*/ 47 h 318"/>
                <a:gd name="T32" fmla="*/ 35 w 318"/>
                <a:gd name="T33" fmla="*/ 66 h 318"/>
                <a:gd name="T34" fmla="*/ 21 w 318"/>
                <a:gd name="T35" fmla="*/ 87 h 318"/>
                <a:gd name="T36" fmla="*/ 9 w 318"/>
                <a:gd name="T37" fmla="*/ 108 h 318"/>
                <a:gd name="T38" fmla="*/ 3 w 318"/>
                <a:gd name="T39" fmla="*/ 135 h 318"/>
                <a:gd name="T40" fmla="*/ 0 w 318"/>
                <a:gd name="T41" fmla="*/ 159 h 318"/>
                <a:gd name="T42" fmla="*/ 3 w 318"/>
                <a:gd name="T43" fmla="*/ 185 h 318"/>
                <a:gd name="T44" fmla="*/ 9 w 318"/>
                <a:gd name="T45" fmla="*/ 209 h 318"/>
                <a:gd name="T46" fmla="*/ 21 w 318"/>
                <a:gd name="T47" fmla="*/ 233 h 318"/>
                <a:gd name="T48" fmla="*/ 35 w 318"/>
                <a:gd name="T49" fmla="*/ 254 h 318"/>
                <a:gd name="T50" fmla="*/ 52 w 318"/>
                <a:gd name="T51" fmla="*/ 273 h 318"/>
                <a:gd name="T52" fmla="*/ 73 w 318"/>
                <a:gd name="T53" fmla="*/ 289 h 318"/>
                <a:gd name="T54" fmla="*/ 95 w 318"/>
                <a:gd name="T55" fmla="*/ 302 h 318"/>
                <a:gd name="T56" fmla="*/ 118 w 318"/>
                <a:gd name="T57" fmla="*/ 310 h 318"/>
                <a:gd name="T58" fmla="*/ 144 w 318"/>
                <a:gd name="T59" fmla="*/ 318 h 318"/>
                <a:gd name="T60" fmla="*/ 173 w 318"/>
                <a:gd name="T61" fmla="*/ 318 h 318"/>
                <a:gd name="T62" fmla="*/ 202 w 318"/>
                <a:gd name="T63" fmla="*/ 318 h 318"/>
                <a:gd name="T64" fmla="*/ 228 w 318"/>
                <a:gd name="T65" fmla="*/ 310 h 318"/>
                <a:gd name="T66" fmla="*/ 254 w 318"/>
                <a:gd name="T67" fmla="*/ 302 h 318"/>
                <a:gd name="T68" fmla="*/ 277 w 318"/>
                <a:gd name="T69" fmla="*/ 289 h 318"/>
                <a:gd name="T70" fmla="*/ 296 w 318"/>
                <a:gd name="T71" fmla="*/ 273 h 318"/>
                <a:gd name="T72" fmla="*/ 314 w 318"/>
                <a:gd name="T73" fmla="*/ 254 h 318"/>
                <a:gd name="T74" fmla="*/ 325 w 318"/>
                <a:gd name="T75" fmla="*/ 233 h 318"/>
                <a:gd name="T76" fmla="*/ 337 w 318"/>
                <a:gd name="T77" fmla="*/ 209 h 318"/>
                <a:gd name="T78" fmla="*/ 343 w 318"/>
                <a:gd name="T79" fmla="*/ 185 h 318"/>
                <a:gd name="T80" fmla="*/ 345 w 318"/>
                <a:gd name="T81" fmla="*/ 159 h 318"/>
                <a:gd name="T82" fmla="*/ 345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8" y="159"/>
                  </a:moveTo>
                  <a:lnTo>
                    <a:pt x="316" y="135"/>
                  </a:lnTo>
                  <a:lnTo>
                    <a:pt x="311" y="108"/>
                  </a:lnTo>
                  <a:lnTo>
                    <a:pt x="300" y="87"/>
                  </a:lnTo>
                  <a:lnTo>
                    <a:pt x="289" y="66"/>
                  </a:lnTo>
                  <a:lnTo>
                    <a:pt x="273" y="47"/>
                  </a:lnTo>
                  <a:lnTo>
                    <a:pt x="255" y="31"/>
                  </a:lnTo>
                  <a:lnTo>
                    <a:pt x="234" y="18"/>
                  </a:lnTo>
                  <a:lnTo>
                    <a:pt x="210" y="8"/>
                  </a:lnTo>
                  <a:lnTo>
                    <a:pt x="186" y="2"/>
                  </a:lnTo>
                  <a:lnTo>
                    <a:pt x="159" y="0"/>
                  </a:lnTo>
                  <a:lnTo>
                    <a:pt x="133" y="2"/>
                  </a:lnTo>
                  <a:lnTo>
                    <a:pt x="109" y="8"/>
                  </a:lnTo>
                  <a:lnTo>
                    <a:pt x="88" y="18"/>
                  </a:lnTo>
                  <a:lnTo>
                    <a:pt x="67" y="31"/>
                  </a:lnTo>
                  <a:lnTo>
                    <a:pt x="48" y="47"/>
                  </a:lnTo>
                  <a:lnTo>
                    <a:pt x="32" y="66"/>
                  </a:lnTo>
                  <a:lnTo>
                    <a:pt x="19" y="87"/>
                  </a:lnTo>
                  <a:lnTo>
                    <a:pt x="8" y="108"/>
                  </a:lnTo>
                  <a:lnTo>
                    <a:pt x="3" y="135"/>
                  </a:lnTo>
                  <a:lnTo>
                    <a:pt x="0" y="159"/>
                  </a:lnTo>
                  <a:lnTo>
                    <a:pt x="3" y="185"/>
                  </a:lnTo>
                  <a:lnTo>
                    <a:pt x="8" y="209"/>
                  </a:lnTo>
                  <a:lnTo>
                    <a:pt x="19" y="233"/>
                  </a:lnTo>
                  <a:lnTo>
                    <a:pt x="32" y="254"/>
                  </a:lnTo>
                  <a:lnTo>
                    <a:pt x="48" y="273"/>
                  </a:lnTo>
                  <a:lnTo>
                    <a:pt x="67" y="289"/>
                  </a:lnTo>
                  <a:lnTo>
                    <a:pt x="88" y="302"/>
                  </a:lnTo>
                  <a:lnTo>
                    <a:pt x="109" y="310"/>
                  </a:lnTo>
                  <a:lnTo>
                    <a:pt x="133" y="318"/>
                  </a:lnTo>
                  <a:lnTo>
                    <a:pt x="159" y="318"/>
                  </a:lnTo>
                  <a:lnTo>
                    <a:pt x="186" y="318"/>
                  </a:lnTo>
                  <a:lnTo>
                    <a:pt x="210" y="310"/>
                  </a:lnTo>
                  <a:lnTo>
                    <a:pt x="234" y="302"/>
                  </a:lnTo>
                  <a:lnTo>
                    <a:pt x="255" y="289"/>
                  </a:lnTo>
                  <a:lnTo>
                    <a:pt x="273" y="273"/>
                  </a:lnTo>
                  <a:lnTo>
                    <a:pt x="289" y="254"/>
                  </a:lnTo>
                  <a:lnTo>
                    <a:pt x="300" y="233"/>
                  </a:lnTo>
                  <a:lnTo>
                    <a:pt x="311" y="209"/>
                  </a:lnTo>
                  <a:lnTo>
                    <a:pt x="316" y="185"/>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7" name="Line 43"/>
            <p:cNvSpPr>
              <a:spLocks noChangeShapeType="1"/>
            </p:cNvSpPr>
            <p:nvPr/>
          </p:nvSpPr>
          <p:spPr bwMode="auto">
            <a:xfrm>
              <a:off x="4181" y="3180"/>
              <a:ext cx="1"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 name="Line 44"/>
            <p:cNvSpPr>
              <a:spLocks noChangeShapeType="1"/>
            </p:cNvSpPr>
            <p:nvPr/>
          </p:nvSpPr>
          <p:spPr bwMode="auto">
            <a:xfrm>
              <a:off x="2362" y="3183"/>
              <a:ext cx="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Rectangle 45"/>
            <p:cNvSpPr>
              <a:spLocks noChangeArrowheads="1"/>
            </p:cNvSpPr>
            <p:nvPr/>
          </p:nvSpPr>
          <p:spPr bwMode="auto">
            <a:xfrm>
              <a:off x="1769" y="3379"/>
              <a:ext cx="2584" cy="2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60" name="Rectangle 46"/>
            <p:cNvSpPr>
              <a:spLocks noChangeArrowheads="1"/>
            </p:cNvSpPr>
            <p:nvPr/>
          </p:nvSpPr>
          <p:spPr bwMode="auto">
            <a:xfrm>
              <a:off x="1769" y="3379"/>
              <a:ext cx="2584" cy="23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61" name="Line 47"/>
            <p:cNvSpPr>
              <a:spLocks noChangeShapeType="1"/>
            </p:cNvSpPr>
            <p:nvPr/>
          </p:nvSpPr>
          <p:spPr bwMode="auto">
            <a:xfrm>
              <a:off x="2105" y="3252"/>
              <a:ext cx="25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48"/>
            <p:cNvSpPr>
              <a:spLocks noChangeShapeType="1"/>
            </p:cNvSpPr>
            <p:nvPr/>
          </p:nvSpPr>
          <p:spPr bwMode="auto">
            <a:xfrm>
              <a:off x="2362" y="2904"/>
              <a:ext cx="2"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Rectangle 49"/>
            <p:cNvSpPr>
              <a:spLocks noChangeArrowheads="1"/>
            </p:cNvSpPr>
            <p:nvPr/>
          </p:nvSpPr>
          <p:spPr bwMode="auto">
            <a:xfrm>
              <a:off x="2190" y="2984"/>
              <a:ext cx="346" cy="1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64" name="Rectangle 50"/>
            <p:cNvSpPr>
              <a:spLocks noChangeArrowheads="1"/>
            </p:cNvSpPr>
            <p:nvPr/>
          </p:nvSpPr>
          <p:spPr bwMode="auto">
            <a:xfrm>
              <a:off x="2190" y="2984"/>
              <a:ext cx="346" cy="19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65" name="Rectangle 51"/>
            <p:cNvSpPr>
              <a:spLocks noChangeArrowheads="1"/>
            </p:cNvSpPr>
            <p:nvPr/>
          </p:nvSpPr>
          <p:spPr bwMode="auto">
            <a:xfrm>
              <a:off x="2314" y="2693"/>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166" name="Rectangle 52"/>
            <p:cNvSpPr>
              <a:spLocks noChangeArrowheads="1"/>
            </p:cNvSpPr>
            <p:nvPr/>
          </p:nvSpPr>
          <p:spPr bwMode="auto">
            <a:xfrm>
              <a:off x="2362" y="2727"/>
              <a:ext cx="39"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a:t>
              </a:r>
              <a:endParaRPr lang="en-US" altLang="zh-CN" sz="1400">
                <a:ea typeface="宋体" panose="02010600030101010101" pitchFamily="2" charset="-122"/>
              </a:endParaRPr>
            </a:p>
          </p:txBody>
        </p:sp>
        <p:sp>
          <p:nvSpPr>
            <p:cNvPr id="167" name="Rectangle 53"/>
            <p:cNvSpPr>
              <a:spLocks noChangeArrowheads="1"/>
            </p:cNvSpPr>
            <p:nvPr/>
          </p:nvSpPr>
          <p:spPr bwMode="auto">
            <a:xfrm>
              <a:off x="2331" y="3024"/>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3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168" name="Rectangle 54"/>
            <p:cNvSpPr>
              <a:spLocks noChangeArrowheads="1"/>
            </p:cNvSpPr>
            <p:nvPr/>
          </p:nvSpPr>
          <p:spPr bwMode="auto">
            <a:xfrm>
              <a:off x="1760" y="2984"/>
              <a:ext cx="345" cy="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69" name="Rectangle 55"/>
            <p:cNvSpPr>
              <a:spLocks noChangeArrowheads="1"/>
            </p:cNvSpPr>
            <p:nvPr/>
          </p:nvSpPr>
          <p:spPr bwMode="auto">
            <a:xfrm>
              <a:off x="1760" y="2984"/>
              <a:ext cx="345" cy="31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70" name="Rectangle 56"/>
            <p:cNvSpPr>
              <a:spLocks noChangeArrowheads="1"/>
            </p:cNvSpPr>
            <p:nvPr/>
          </p:nvSpPr>
          <p:spPr bwMode="auto">
            <a:xfrm>
              <a:off x="2544" y="3437"/>
              <a:ext cx="93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Interconnection network</a:t>
              </a:r>
              <a:endParaRPr lang="en-US" altLang="zh-CN" sz="1400">
                <a:ea typeface="宋体" panose="02010600030101010101" pitchFamily="2" charset="-122"/>
              </a:endParaRPr>
            </a:p>
          </p:txBody>
        </p:sp>
        <p:sp>
          <p:nvSpPr>
            <p:cNvPr id="171" name="Line 57"/>
            <p:cNvSpPr>
              <a:spLocks noChangeShapeType="1"/>
            </p:cNvSpPr>
            <p:nvPr/>
          </p:nvSpPr>
          <p:spPr bwMode="auto">
            <a:xfrm>
              <a:off x="3923" y="3249"/>
              <a:ext cx="25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58"/>
            <p:cNvSpPr>
              <a:spLocks noChangeShapeType="1"/>
            </p:cNvSpPr>
            <p:nvPr/>
          </p:nvSpPr>
          <p:spPr bwMode="auto">
            <a:xfrm>
              <a:off x="4181" y="2902"/>
              <a:ext cx="1" cy="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Rectangle 59"/>
            <p:cNvSpPr>
              <a:spLocks noChangeArrowheads="1"/>
            </p:cNvSpPr>
            <p:nvPr/>
          </p:nvSpPr>
          <p:spPr bwMode="auto">
            <a:xfrm>
              <a:off x="4008" y="2981"/>
              <a:ext cx="345" cy="1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74" name="Rectangle 60"/>
            <p:cNvSpPr>
              <a:spLocks noChangeArrowheads="1"/>
            </p:cNvSpPr>
            <p:nvPr/>
          </p:nvSpPr>
          <p:spPr bwMode="auto">
            <a:xfrm>
              <a:off x="4008" y="2981"/>
              <a:ext cx="345" cy="19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75" name="Rectangle 61"/>
            <p:cNvSpPr>
              <a:spLocks noChangeArrowheads="1"/>
            </p:cNvSpPr>
            <p:nvPr/>
          </p:nvSpPr>
          <p:spPr bwMode="auto">
            <a:xfrm>
              <a:off x="4153" y="3029"/>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176" name="Rectangle 62"/>
            <p:cNvSpPr>
              <a:spLocks noChangeArrowheads="1"/>
            </p:cNvSpPr>
            <p:nvPr/>
          </p:nvSpPr>
          <p:spPr bwMode="auto">
            <a:xfrm>
              <a:off x="3578" y="2981"/>
              <a:ext cx="345" cy="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77" name="Rectangle 63"/>
            <p:cNvSpPr>
              <a:spLocks noChangeArrowheads="1"/>
            </p:cNvSpPr>
            <p:nvPr/>
          </p:nvSpPr>
          <p:spPr bwMode="auto">
            <a:xfrm>
              <a:off x="3578" y="2981"/>
              <a:ext cx="345" cy="31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78" name="Rectangle 64"/>
            <p:cNvSpPr>
              <a:spLocks noChangeArrowheads="1"/>
            </p:cNvSpPr>
            <p:nvPr/>
          </p:nvSpPr>
          <p:spPr bwMode="auto">
            <a:xfrm>
              <a:off x="4135" y="2674"/>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179" name="Rectangle 65"/>
            <p:cNvSpPr>
              <a:spLocks noChangeArrowheads="1"/>
            </p:cNvSpPr>
            <p:nvPr/>
          </p:nvSpPr>
          <p:spPr bwMode="auto">
            <a:xfrm>
              <a:off x="4181" y="2711"/>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n</a:t>
              </a:r>
              <a:endParaRPr lang="en-US" altLang="zh-CN" sz="1400">
                <a:ea typeface="宋体" panose="02010600030101010101" pitchFamily="2" charset="-122"/>
              </a:endParaRPr>
            </a:p>
          </p:txBody>
        </p:sp>
        <p:sp>
          <p:nvSpPr>
            <p:cNvPr id="180" name="Rectangle 66"/>
            <p:cNvSpPr>
              <a:spLocks noChangeArrowheads="1"/>
            </p:cNvSpPr>
            <p:nvPr/>
          </p:nvSpPr>
          <p:spPr bwMode="auto">
            <a:xfrm>
              <a:off x="1826" y="3093"/>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Mem</a:t>
              </a:r>
              <a:endParaRPr lang="en-US" altLang="zh-CN" sz="1400">
                <a:ea typeface="宋体" panose="02010600030101010101" pitchFamily="2" charset="-122"/>
              </a:endParaRPr>
            </a:p>
          </p:txBody>
        </p:sp>
        <p:sp>
          <p:nvSpPr>
            <p:cNvPr id="181" name="Rectangle 67"/>
            <p:cNvSpPr>
              <a:spLocks noChangeArrowheads="1"/>
            </p:cNvSpPr>
            <p:nvPr/>
          </p:nvSpPr>
          <p:spPr bwMode="auto">
            <a:xfrm>
              <a:off x="3644" y="3098"/>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Mem</a:t>
              </a:r>
              <a:endParaRPr lang="en-US" altLang="zh-CN" sz="1400">
                <a:ea typeface="宋体" panose="02010600030101010101" pitchFamily="2" charset="-122"/>
              </a:endParaRPr>
            </a:p>
          </p:txBody>
        </p:sp>
        <p:sp>
          <p:nvSpPr>
            <p:cNvPr id="182" name="Freeform 68"/>
            <p:cNvSpPr>
              <a:spLocks/>
            </p:cNvSpPr>
            <p:nvPr/>
          </p:nvSpPr>
          <p:spPr bwMode="auto">
            <a:xfrm>
              <a:off x="2832" y="3093"/>
              <a:ext cx="48" cy="45"/>
            </a:xfrm>
            <a:custGeom>
              <a:avLst/>
              <a:gdLst>
                <a:gd name="T0" fmla="*/ 45 w 45"/>
                <a:gd name="T1" fmla="*/ 21 h 45"/>
                <a:gd name="T2" fmla="*/ 45 w 45"/>
                <a:gd name="T3" fmla="*/ 26 h 45"/>
                <a:gd name="T4" fmla="*/ 45 w 45"/>
                <a:gd name="T5" fmla="*/ 29 h 45"/>
                <a:gd name="T6" fmla="*/ 45 w 45"/>
                <a:gd name="T7" fmla="*/ 34 h 45"/>
                <a:gd name="T8" fmla="*/ 42 w 45"/>
                <a:gd name="T9" fmla="*/ 37 h 45"/>
                <a:gd name="T10" fmla="*/ 39 w 45"/>
                <a:gd name="T11" fmla="*/ 39 h 45"/>
                <a:gd name="T12" fmla="*/ 36 w 45"/>
                <a:gd name="T13" fmla="*/ 39 h 45"/>
                <a:gd name="T14" fmla="*/ 33 w 45"/>
                <a:gd name="T15" fmla="*/ 42 h 45"/>
                <a:gd name="T16" fmla="*/ 31 w 45"/>
                <a:gd name="T17" fmla="*/ 45 h 45"/>
                <a:gd name="T18" fmla="*/ 28 w 45"/>
                <a:gd name="T19" fmla="*/ 45 h 45"/>
                <a:gd name="T20" fmla="*/ 22 w 45"/>
                <a:gd name="T21" fmla="*/ 45 h 45"/>
                <a:gd name="T22" fmla="*/ 19 w 45"/>
                <a:gd name="T23" fmla="*/ 45 h 45"/>
                <a:gd name="T24" fmla="*/ 14 w 45"/>
                <a:gd name="T25" fmla="*/ 45 h 45"/>
                <a:gd name="T26" fmla="*/ 11 w 45"/>
                <a:gd name="T27" fmla="*/ 42 h 45"/>
                <a:gd name="T28" fmla="*/ 9 w 45"/>
                <a:gd name="T29" fmla="*/ 39 h 45"/>
                <a:gd name="T30" fmla="*/ 5 w 45"/>
                <a:gd name="T31" fmla="*/ 39 h 45"/>
                <a:gd name="T32" fmla="*/ 2 w 45"/>
                <a:gd name="T33" fmla="*/ 37 h 45"/>
                <a:gd name="T34" fmla="*/ 2 w 45"/>
                <a:gd name="T35" fmla="*/ 34 h 45"/>
                <a:gd name="T36" fmla="*/ 0 w 45"/>
                <a:gd name="T37" fmla="*/ 29 h 45"/>
                <a:gd name="T38" fmla="*/ 0 w 45"/>
                <a:gd name="T39" fmla="*/ 26 h 45"/>
                <a:gd name="T40" fmla="*/ 0 w 45"/>
                <a:gd name="T41" fmla="*/ 23 h 45"/>
                <a:gd name="T42" fmla="*/ 0 w 45"/>
                <a:gd name="T43" fmla="*/ 18 h 45"/>
                <a:gd name="T44" fmla="*/ 0 w 45"/>
                <a:gd name="T45" fmla="*/ 16 h 45"/>
                <a:gd name="T46" fmla="*/ 2 w 45"/>
                <a:gd name="T47" fmla="*/ 13 h 45"/>
                <a:gd name="T48" fmla="*/ 2 w 45"/>
                <a:gd name="T49" fmla="*/ 10 h 45"/>
                <a:gd name="T50" fmla="*/ 5 w 45"/>
                <a:gd name="T51" fmla="*/ 8 h 45"/>
                <a:gd name="T52" fmla="*/ 9 w 45"/>
                <a:gd name="T53" fmla="*/ 5 h 45"/>
                <a:gd name="T54" fmla="*/ 11 w 45"/>
                <a:gd name="T55" fmla="*/ 2 h 45"/>
                <a:gd name="T56" fmla="*/ 14 w 45"/>
                <a:gd name="T57" fmla="*/ 2 h 45"/>
                <a:gd name="T58" fmla="*/ 19 w 45"/>
                <a:gd name="T59" fmla="*/ 0 h 45"/>
                <a:gd name="T60" fmla="*/ 22 w 45"/>
                <a:gd name="T61" fmla="*/ 0 h 45"/>
                <a:gd name="T62" fmla="*/ 28 w 45"/>
                <a:gd name="T63" fmla="*/ 0 h 45"/>
                <a:gd name="T64" fmla="*/ 31 w 45"/>
                <a:gd name="T65" fmla="*/ 2 h 45"/>
                <a:gd name="T66" fmla="*/ 33 w 45"/>
                <a:gd name="T67" fmla="*/ 2 h 45"/>
                <a:gd name="T68" fmla="*/ 36 w 45"/>
                <a:gd name="T69" fmla="*/ 5 h 45"/>
                <a:gd name="T70" fmla="*/ 39 w 45"/>
                <a:gd name="T71" fmla="*/ 8 h 45"/>
                <a:gd name="T72" fmla="*/ 42 w 45"/>
                <a:gd name="T73" fmla="*/ 10 h 45"/>
                <a:gd name="T74" fmla="*/ 45 w 45"/>
                <a:gd name="T75" fmla="*/ 13 h 45"/>
                <a:gd name="T76" fmla="*/ 45 w 45"/>
                <a:gd name="T77" fmla="*/ 16 h 45"/>
                <a:gd name="T78" fmla="*/ 45 w 45"/>
                <a:gd name="T79" fmla="*/ 18 h 45"/>
                <a:gd name="T80" fmla="*/ 48 w 45"/>
                <a:gd name="T81" fmla="*/ 23 h 45"/>
                <a:gd name="T82" fmla="*/ 45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26"/>
                  </a:lnTo>
                  <a:lnTo>
                    <a:pt x="42" y="29"/>
                  </a:lnTo>
                  <a:lnTo>
                    <a:pt x="42" y="34"/>
                  </a:lnTo>
                  <a:lnTo>
                    <a:pt x="39" y="37"/>
                  </a:lnTo>
                  <a:lnTo>
                    <a:pt x="37" y="39"/>
                  </a:lnTo>
                  <a:lnTo>
                    <a:pt x="34" y="39"/>
                  </a:lnTo>
                  <a:lnTo>
                    <a:pt x="31" y="42"/>
                  </a:lnTo>
                  <a:lnTo>
                    <a:pt x="29" y="45"/>
                  </a:lnTo>
                  <a:lnTo>
                    <a:pt x="26" y="45"/>
                  </a:lnTo>
                  <a:lnTo>
                    <a:pt x="21" y="45"/>
                  </a:lnTo>
                  <a:lnTo>
                    <a:pt x="18" y="45"/>
                  </a:lnTo>
                  <a:lnTo>
                    <a:pt x="13" y="45"/>
                  </a:lnTo>
                  <a:lnTo>
                    <a:pt x="10" y="42"/>
                  </a:lnTo>
                  <a:lnTo>
                    <a:pt x="8" y="39"/>
                  </a:lnTo>
                  <a:lnTo>
                    <a:pt x="5" y="39"/>
                  </a:lnTo>
                  <a:lnTo>
                    <a:pt x="2" y="37"/>
                  </a:lnTo>
                  <a:lnTo>
                    <a:pt x="2" y="34"/>
                  </a:lnTo>
                  <a:lnTo>
                    <a:pt x="0" y="29"/>
                  </a:lnTo>
                  <a:lnTo>
                    <a:pt x="0" y="26"/>
                  </a:lnTo>
                  <a:lnTo>
                    <a:pt x="0" y="23"/>
                  </a:lnTo>
                  <a:lnTo>
                    <a:pt x="0" y="18"/>
                  </a:lnTo>
                  <a:lnTo>
                    <a:pt x="0" y="16"/>
                  </a:lnTo>
                  <a:lnTo>
                    <a:pt x="2" y="13"/>
                  </a:lnTo>
                  <a:lnTo>
                    <a:pt x="2" y="10"/>
                  </a:lnTo>
                  <a:lnTo>
                    <a:pt x="5" y="8"/>
                  </a:lnTo>
                  <a:lnTo>
                    <a:pt x="8" y="5"/>
                  </a:lnTo>
                  <a:lnTo>
                    <a:pt x="10" y="2"/>
                  </a:lnTo>
                  <a:lnTo>
                    <a:pt x="13" y="2"/>
                  </a:lnTo>
                  <a:lnTo>
                    <a:pt x="18" y="0"/>
                  </a:lnTo>
                  <a:lnTo>
                    <a:pt x="21" y="0"/>
                  </a:lnTo>
                  <a:lnTo>
                    <a:pt x="26" y="0"/>
                  </a:lnTo>
                  <a:lnTo>
                    <a:pt x="29" y="2"/>
                  </a:lnTo>
                  <a:lnTo>
                    <a:pt x="31" y="2"/>
                  </a:lnTo>
                  <a:lnTo>
                    <a:pt x="34" y="5"/>
                  </a:lnTo>
                  <a:lnTo>
                    <a:pt x="37" y="8"/>
                  </a:lnTo>
                  <a:lnTo>
                    <a:pt x="39" y="10"/>
                  </a:lnTo>
                  <a:lnTo>
                    <a:pt x="42" y="13"/>
                  </a:lnTo>
                  <a:lnTo>
                    <a:pt x="42" y="16"/>
                  </a:lnTo>
                  <a:lnTo>
                    <a:pt x="42" y="18"/>
                  </a:lnTo>
                  <a:lnTo>
                    <a:pt x="45" y="23"/>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69"/>
            <p:cNvSpPr>
              <a:spLocks/>
            </p:cNvSpPr>
            <p:nvPr/>
          </p:nvSpPr>
          <p:spPr bwMode="auto">
            <a:xfrm>
              <a:off x="2832" y="3093"/>
              <a:ext cx="48" cy="45"/>
            </a:xfrm>
            <a:custGeom>
              <a:avLst/>
              <a:gdLst>
                <a:gd name="T0" fmla="*/ 45 w 45"/>
                <a:gd name="T1" fmla="*/ 21 h 45"/>
                <a:gd name="T2" fmla="*/ 45 w 45"/>
                <a:gd name="T3" fmla="*/ 18 h 45"/>
                <a:gd name="T4" fmla="*/ 45 w 45"/>
                <a:gd name="T5" fmla="*/ 16 h 45"/>
                <a:gd name="T6" fmla="*/ 45 w 45"/>
                <a:gd name="T7" fmla="*/ 13 h 45"/>
                <a:gd name="T8" fmla="*/ 42 w 45"/>
                <a:gd name="T9" fmla="*/ 10 h 45"/>
                <a:gd name="T10" fmla="*/ 39 w 45"/>
                <a:gd name="T11" fmla="*/ 8 h 45"/>
                <a:gd name="T12" fmla="*/ 36 w 45"/>
                <a:gd name="T13" fmla="*/ 5 h 45"/>
                <a:gd name="T14" fmla="*/ 33 w 45"/>
                <a:gd name="T15" fmla="*/ 2 h 45"/>
                <a:gd name="T16" fmla="*/ 31 w 45"/>
                <a:gd name="T17" fmla="*/ 2 h 45"/>
                <a:gd name="T18" fmla="*/ 28 w 45"/>
                <a:gd name="T19" fmla="*/ 0 h 45"/>
                <a:gd name="T20" fmla="*/ 22 w 45"/>
                <a:gd name="T21" fmla="*/ 0 h 45"/>
                <a:gd name="T22" fmla="*/ 19 w 45"/>
                <a:gd name="T23" fmla="*/ 0 h 45"/>
                <a:gd name="T24" fmla="*/ 14 w 45"/>
                <a:gd name="T25" fmla="*/ 2 h 45"/>
                <a:gd name="T26" fmla="*/ 11 w 45"/>
                <a:gd name="T27" fmla="*/ 2 h 45"/>
                <a:gd name="T28" fmla="*/ 9 w 45"/>
                <a:gd name="T29" fmla="*/ 5 h 45"/>
                <a:gd name="T30" fmla="*/ 5 w 45"/>
                <a:gd name="T31" fmla="*/ 8 h 45"/>
                <a:gd name="T32" fmla="*/ 2 w 45"/>
                <a:gd name="T33" fmla="*/ 10 h 45"/>
                <a:gd name="T34" fmla="*/ 2 w 45"/>
                <a:gd name="T35" fmla="*/ 13 h 45"/>
                <a:gd name="T36" fmla="*/ 0 w 45"/>
                <a:gd name="T37" fmla="*/ 16 h 45"/>
                <a:gd name="T38" fmla="*/ 0 w 45"/>
                <a:gd name="T39" fmla="*/ 18 h 45"/>
                <a:gd name="T40" fmla="*/ 0 w 45"/>
                <a:gd name="T41" fmla="*/ 23 h 45"/>
                <a:gd name="T42" fmla="*/ 0 w 45"/>
                <a:gd name="T43" fmla="*/ 26 h 45"/>
                <a:gd name="T44" fmla="*/ 0 w 45"/>
                <a:gd name="T45" fmla="*/ 29 h 45"/>
                <a:gd name="T46" fmla="*/ 2 w 45"/>
                <a:gd name="T47" fmla="*/ 34 h 45"/>
                <a:gd name="T48" fmla="*/ 2 w 45"/>
                <a:gd name="T49" fmla="*/ 37 h 45"/>
                <a:gd name="T50" fmla="*/ 5 w 45"/>
                <a:gd name="T51" fmla="*/ 39 h 45"/>
                <a:gd name="T52" fmla="*/ 9 w 45"/>
                <a:gd name="T53" fmla="*/ 39 h 45"/>
                <a:gd name="T54" fmla="*/ 11 w 45"/>
                <a:gd name="T55" fmla="*/ 42 h 45"/>
                <a:gd name="T56" fmla="*/ 14 w 45"/>
                <a:gd name="T57" fmla="*/ 45 h 45"/>
                <a:gd name="T58" fmla="*/ 19 w 45"/>
                <a:gd name="T59" fmla="*/ 45 h 45"/>
                <a:gd name="T60" fmla="*/ 22 w 45"/>
                <a:gd name="T61" fmla="*/ 45 h 45"/>
                <a:gd name="T62" fmla="*/ 28 w 45"/>
                <a:gd name="T63" fmla="*/ 45 h 45"/>
                <a:gd name="T64" fmla="*/ 31 w 45"/>
                <a:gd name="T65" fmla="*/ 45 h 45"/>
                <a:gd name="T66" fmla="*/ 33 w 45"/>
                <a:gd name="T67" fmla="*/ 42 h 45"/>
                <a:gd name="T68" fmla="*/ 36 w 45"/>
                <a:gd name="T69" fmla="*/ 39 h 45"/>
                <a:gd name="T70" fmla="*/ 39 w 45"/>
                <a:gd name="T71" fmla="*/ 39 h 45"/>
                <a:gd name="T72" fmla="*/ 42 w 45"/>
                <a:gd name="T73" fmla="*/ 37 h 45"/>
                <a:gd name="T74" fmla="*/ 45 w 45"/>
                <a:gd name="T75" fmla="*/ 34 h 45"/>
                <a:gd name="T76" fmla="*/ 45 w 45"/>
                <a:gd name="T77" fmla="*/ 29 h 45"/>
                <a:gd name="T78" fmla="*/ 45 w 45"/>
                <a:gd name="T79" fmla="*/ 26 h 45"/>
                <a:gd name="T80" fmla="*/ 48 w 45"/>
                <a:gd name="T81" fmla="*/ 23 h 45"/>
                <a:gd name="T82" fmla="*/ 48 w 45"/>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18"/>
                  </a:lnTo>
                  <a:lnTo>
                    <a:pt x="42" y="16"/>
                  </a:lnTo>
                  <a:lnTo>
                    <a:pt x="42" y="13"/>
                  </a:lnTo>
                  <a:lnTo>
                    <a:pt x="39" y="10"/>
                  </a:lnTo>
                  <a:lnTo>
                    <a:pt x="37" y="8"/>
                  </a:lnTo>
                  <a:lnTo>
                    <a:pt x="34" y="5"/>
                  </a:lnTo>
                  <a:lnTo>
                    <a:pt x="31" y="2"/>
                  </a:lnTo>
                  <a:lnTo>
                    <a:pt x="29" y="2"/>
                  </a:lnTo>
                  <a:lnTo>
                    <a:pt x="26" y="0"/>
                  </a:lnTo>
                  <a:lnTo>
                    <a:pt x="21" y="0"/>
                  </a:lnTo>
                  <a:lnTo>
                    <a:pt x="18" y="0"/>
                  </a:lnTo>
                  <a:lnTo>
                    <a:pt x="13" y="2"/>
                  </a:lnTo>
                  <a:lnTo>
                    <a:pt x="10" y="2"/>
                  </a:lnTo>
                  <a:lnTo>
                    <a:pt x="8" y="5"/>
                  </a:lnTo>
                  <a:lnTo>
                    <a:pt x="5" y="8"/>
                  </a:lnTo>
                  <a:lnTo>
                    <a:pt x="2" y="10"/>
                  </a:lnTo>
                  <a:lnTo>
                    <a:pt x="2" y="13"/>
                  </a:lnTo>
                  <a:lnTo>
                    <a:pt x="0" y="16"/>
                  </a:lnTo>
                  <a:lnTo>
                    <a:pt x="0" y="18"/>
                  </a:lnTo>
                  <a:lnTo>
                    <a:pt x="0" y="23"/>
                  </a:lnTo>
                  <a:lnTo>
                    <a:pt x="0" y="26"/>
                  </a:lnTo>
                  <a:lnTo>
                    <a:pt x="0" y="29"/>
                  </a:lnTo>
                  <a:lnTo>
                    <a:pt x="2" y="34"/>
                  </a:lnTo>
                  <a:lnTo>
                    <a:pt x="2" y="37"/>
                  </a:lnTo>
                  <a:lnTo>
                    <a:pt x="5" y="39"/>
                  </a:lnTo>
                  <a:lnTo>
                    <a:pt x="8" y="39"/>
                  </a:lnTo>
                  <a:lnTo>
                    <a:pt x="10" y="42"/>
                  </a:lnTo>
                  <a:lnTo>
                    <a:pt x="13" y="45"/>
                  </a:lnTo>
                  <a:lnTo>
                    <a:pt x="18" y="45"/>
                  </a:lnTo>
                  <a:lnTo>
                    <a:pt x="21" y="45"/>
                  </a:lnTo>
                  <a:lnTo>
                    <a:pt x="26" y="45"/>
                  </a:lnTo>
                  <a:lnTo>
                    <a:pt x="29" y="45"/>
                  </a:lnTo>
                  <a:lnTo>
                    <a:pt x="31" y="42"/>
                  </a:lnTo>
                  <a:lnTo>
                    <a:pt x="34" y="39"/>
                  </a:lnTo>
                  <a:lnTo>
                    <a:pt x="37" y="39"/>
                  </a:lnTo>
                  <a:lnTo>
                    <a:pt x="39" y="37"/>
                  </a:lnTo>
                  <a:lnTo>
                    <a:pt x="42" y="34"/>
                  </a:lnTo>
                  <a:lnTo>
                    <a:pt x="42" y="29"/>
                  </a:lnTo>
                  <a:lnTo>
                    <a:pt x="42" y="26"/>
                  </a:lnTo>
                  <a:lnTo>
                    <a:pt x="45" y="23"/>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 name="Freeform 70"/>
            <p:cNvSpPr>
              <a:spLocks/>
            </p:cNvSpPr>
            <p:nvPr/>
          </p:nvSpPr>
          <p:spPr bwMode="auto">
            <a:xfrm>
              <a:off x="3029" y="3093"/>
              <a:ext cx="50" cy="45"/>
            </a:xfrm>
            <a:custGeom>
              <a:avLst/>
              <a:gdLst>
                <a:gd name="T0" fmla="*/ 47 w 46"/>
                <a:gd name="T1" fmla="*/ 21 h 45"/>
                <a:gd name="T2" fmla="*/ 47 w 46"/>
                <a:gd name="T3" fmla="*/ 26 h 45"/>
                <a:gd name="T4" fmla="*/ 47 w 46"/>
                <a:gd name="T5" fmla="*/ 29 h 45"/>
                <a:gd name="T6" fmla="*/ 47 w 46"/>
                <a:gd name="T7" fmla="*/ 34 h 45"/>
                <a:gd name="T8" fmla="*/ 43 w 46"/>
                <a:gd name="T9" fmla="*/ 37 h 45"/>
                <a:gd name="T10" fmla="*/ 41 w 46"/>
                <a:gd name="T11" fmla="*/ 39 h 45"/>
                <a:gd name="T12" fmla="*/ 38 w 46"/>
                <a:gd name="T13" fmla="*/ 39 h 45"/>
                <a:gd name="T14" fmla="*/ 35 w 46"/>
                <a:gd name="T15" fmla="*/ 42 h 45"/>
                <a:gd name="T16" fmla="*/ 33 w 46"/>
                <a:gd name="T17" fmla="*/ 45 h 45"/>
                <a:gd name="T18" fmla="*/ 29 w 46"/>
                <a:gd name="T19" fmla="*/ 45 h 45"/>
                <a:gd name="T20" fmla="*/ 24 w 46"/>
                <a:gd name="T21" fmla="*/ 45 h 45"/>
                <a:gd name="T22" fmla="*/ 21 w 46"/>
                <a:gd name="T23" fmla="*/ 45 h 45"/>
                <a:gd name="T24" fmla="*/ 15 w 46"/>
                <a:gd name="T25" fmla="*/ 45 h 45"/>
                <a:gd name="T26" fmla="*/ 12 w 46"/>
                <a:gd name="T27" fmla="*/ 42 h 45"/>
                <a:gd name="T28" fmla="*/ 9 w 46"/>
                <a:gd name="T29" fmla="*/ 39 h 45"/>
                <a:gd name="T30" fmla="*/ 7 w 46"/>
                <a:gd name="T31" fmla="*/ 39 h 45"/>
                <a:gd name="T32" fmla="*/ 3 w 46"/>
                <a:gd name="T33" fmla="*/ 37 h 45"/>
                <a:gd name="T34" fmla="*/ 3 w 46"/>
                <a:gd name="T35" fmla="*/ 34 h 45"/>
                <a:gd name="T36" fmla="*/ 0 w 46"/>
                <a:gd name="T37" fmla="*/ 29 h 45"/>
                <a:gd name="T38" fmla="*/ 0 w 46"/>
                <a:gd name="T39" fmla="*/ 26 h 45"/>
                <a:gd name="T40" fmla="*/ 0 w 46"/>
                <a:gd name="T41" fmla="*/ 23 h 45"/>
                <a:gd name="T42" fmla="*/ 0 w 46"/>
                <a:gd name="T43" fmla="*/ 18 h 45"/>
                <a:gd name="T44" fmla="*/ 0 w 46"/>
                <a:gd name="T45" fmla="*/ 16 h 45"/>
                <a:gd name="T46" fmla="*/ 3 w 46"/>
                <a:gd name="T47" fmla="*/ 13 h 45"/>
                <a:gd name="T48" fmla="*/ 3 w 46"/>
                <a:gd name="T49" fmla="*/ 10 h 45"/>
                <a:gd name="T50" fmla="*/ 7 w 46"/>
                <a:gd name="T51" fmla="*/ 8 h 45"/>
                <a:gd name="T52" fmla="*/ 9 w 46"/>
                <a:gd name="T53" fmla="*/ 5 h 45"/>
                <a:gd name="T54" fmla="*/ 12 w 46"/>
                <a:gd name="T55" fmla="*/ 2 h 45"/>
                <a:gd name="T56" fmla="*/ 15 w 46"/>
                <a:gd name="T57" fmla="*/ 2 h 45"/>
                <a:gd name="T58" fmla="*/ 21 w 46"/>
                <a:gd name="T59" fmla="*/ 0 h 45"/>
                <a:gd name="T60" fmla="*/ 24 w 46"/>
                <a:gd name="T61" fmla="*/ 0 h 45"/>
                <a:gd name="T62" fmla="*/ 29 w 46"/>
                <a:gd name="T63" fmla="*/ 0 h 45"/>
                <a:gd name="T64" fmla="*/ 33 w 46"/>
                <a:gd name="T65" fmla="*/ 2 h 45"/>
                <a:gd name="T66" fmla="*/ 35 w 46"/>
                <a:gd name="T67" fmla="*/ 2 h 45"/>
                <a:gd name="T68" fmla="*/ 38 w 46"/>
                <a:gd name="T69" fmla="*/ 5 h 45"/>
                <a:gd name="T70" fmla="*/ 41 w 46"/>
                <a:gd name="T71" fmla="*/ 8 h 45"/>
                <a:gd name="T72" fmla="*/ 43 w 46"/>
                <a:gd name="T73" fmla="*/ 10 h 45"/>
                <a:gd name="T74" fmla="*/ 47 w 46"/>
                <a:gd name="T75" fmla="*/ 13 h 45"/>
                <a:gd name="T76" fmla="*/ 47 w 46"/>
                <a:gd name="T77" fmla="*/ 16 h 45"/>
                <a:gd name="T78" fmla="*/ 47 w 46"/>
                <a:gd name="T79" fmla="*/ 18 h 45"/>
                <a:gd name="T80" fmla="*/ 50 w 46"/>
                <a:gd name="T81" fmla="*/ 23 h 45"/>
                <a:gd name="T82" fmla="*/ 47 w 46"/>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26"/>
                  </a:lnTo>
                  <a:lnTo>
                    <a:pt x="43" y="29"/>
                  </a:lnTo>
                  <a:lnTo>
                    <a:pt x="43" y="34"/>
                  </a:lnTo>
                  <a:lnTo>
                    <a:pt x="40" y="37"/>
                  </a:lnTo>
                  <a:lnTo>
                    <a:pt x="38" y="39"/>
                  </a:lnTo>
                  <a:lnTo>
                    <a:pt x="35" y="39"/>
                  </a:lnTo>
                  <a:lnTo>
                    <a:pt x="32" y="42"/>
                  </a:lnTo>
                  <a:lnTo>
                    <a:pt x="30" y="45"/>
                  </a:lnTo>
                  <a:lnTo>
                    <a:pt x="27" y="45"/>
                  </a:lnTo>
                  <a:lnTo>
                    <a:pt x="22" y="45"/>
                  </a:lnTo>
                  <a:lnTo>
                    <a:pt x="19" y="45"/>
                  </a:lnTo>
                  <a:lnTo>
                    <a:pt x="14" y="45"/>
                  </a:lnTo>
                  <a:lnTo>
                    <a:pt x="11" y="42"/>
                  </a:lnTo>
                  <a:lnTo>
                    <a:pt x="8" y="39"/>
                  </a:lnTo>
                  <a:lnTo>
                    <a:pt x="6" y="39"/>
                  </a:lnTo>
                  <a:lnTo>
                    <a:pt x="3" y="37"/>
                  </a:lnTo>
                  <a:lnTo>
                    <a:pt x="3" y="34"/>
                  </a:lnTo>
                  <a:lnTo>
                    <a:pt x="0" y="29"/>
                  </a:lnTo>
                  <a:lnTo>
                    <a:pt x="0" y="26"/>
                  </a:lnTo>
                  <a:lnTo>
                    <a:pt x="0" y="23"/>
                  </a:lnTo>
                  <a:lnTo>
                    <a:pt x="0" y="18"/>
                  </a:lnTo>
                  <a:lnTo>
                    <a:pt x="0" y="16"/>
                  </a:lnTo>
                  <a:lnTo>
                    <a:pt x="3" y="13"/>
                  </a:lnTo>
                  <a:lnTo>
                    <a:pt x="3" y="10"/>
                  </a:lnTo>
                  <a:lnTo>
                    <a:pt x="6" y="8"/>
                  </a:lnTo>
                  <a:lnTo>
                    <a:pt x="8" y="5"/>
                  </a:lnTo>
                  <a:lnTo>
                    <a:pt x="11" y="2"/>
                  </a:lnTo>
                  <a:lnTo>
                    <a:pt x="14" y="2"/>
                  </a:lnTo>
                  <a:lnTo>
                    <a:pt x="19" y="0"/>
                  </a:lnTo>
                  <a:lnTo>
                    <a:pt x="22" y="0"/>
                  </a:lnTo>
                  <a:lnTo>
                    <a:pt x="27" y="0"/>
                  </a:lnTo>
                  <a:lnTo>
                    <a:pt x="30" y="2"/>
                  </a:lnTo>
                  <a:lnTo>
                    <a:pt x="32" y="2"/>
                  </a:lnTo>
                  <a:lnTo>
                    <a:pt x="35" y="5"/>
                  </a:lnTo>
                  <a:lnTo>
                    <a:pt x="38" y="8"/>
                  </a:lnTo>
                  <a:lnTo>
                    <a:pt x="40" y="10"/>
                  </a:lnTo>
                  <a:lnTo>
                    <a:pt x="43" y="13"/>
                  </a:lnTo>
                  <a:lnTo>
                    <a:pt x="43" y="16"/>
                  </a:lnTo>
                  <a:lnTo>
                    <a:pt x="43" y="18"/>
                  </a:lnTo>
                  <a:lnTo>
                    <a:pt x="46" y="23"/>
                  </a:lnTo>
                  <a:lnTo>
                    <a:pt x="4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Freeform 71"/>
            <p:cNvSpPr>
              <a:spLocks/>
            </p:cNvSpPr>
            <p:nvPr/>
          </p:nvSpPr>
          <p:spPr bwMode="auto">
            <a:xfrm>
              <a:off x="3029" y="3093"/>
              <a:ext cx="50" cy="45"/>
            </a:xfrm>
            <a:custGeom>
              <a:avLst/>
              <a:gdLst>
                <a:gd name="T0" fmla="*/ 47 w 46"/>
                <a:gd name="T1" fmla="*/ 21 h 45"/>
                <a:gd name="T2" fmla="*/ 47 w 46"/>
                <a:gd name="T3" fmla="*/ 18 h 45"/>
                <a:gd name="T4" fmla="*/ 47 w 46"/>
                <a:gd name="T5" fmla="*/ 16 h 45"/>
                <a:gd name="T6" fmla="*/ 47 w 46"/>
                <a:gd name="T7" fmla="*/ 13 h 45"/>
                <a:gd name="T8" fmla="*/ 43 w 46"/>
                <a:gd name="T9" fmla="*/ 10 h 45"/>
                <a:gd name="T10" fmla="*/ 41 w 46"/>
                <a:gd name="T11" fmla="*/ 8 h 45"/>
                <a:gd name="T12" fmla="*/ 38 w 46"/>
                <a:gd name="T13" fmla="*/ 5 h 45"/>
                <a:gd name="T14" fmla="*/ 35 w 46"/>
                <a:gd name="T15" fmla="*/ 2 h 45"/>
                <a:gd name="T16" fmla="*/ 33 w 46"/>
                <a:gd name="T17" fmla="*/ 2 h 45"/>
                <a:gd name="T18" fmla="*/ 29 w 46"/>
                <a:gd name="T19" fmla="*/ 0 h 45"/>
                <a:gd name="T20" fmla="*/ 24 w 46"/>
                <a:gd name="T21" fmla="*/ 0 h 45"/>
                <a:gd name="T22" fmla="*/ 21 w 46"/>
                <a:gd name="T23" fmla="*/ 0 h 45"/>
                <a:gd name="T24" fmla="*/ 15 w 46"/>
                <a:gd name="T25" fmla="*/ 2 h 45"/>
                <a:gd name="T26" fmla="*/ 12 w 46"/>
                <a:gd name="T27" fmla="*/ 2 h 45"/>
                <a:gd name="T28" fmla="*/ 9 w 46"/>
                <a:gd name="T29" fmla="*/ 5 h 45"/>
                <a:gd name="T30" fmla="*/ 7 w 46"/>
                <a:gd name="T31" fmla="*/ 8 h 45"/>
                <a:gd name="T32" fmla="*/ 3 w 46"/>
                <a:gd name="T33" fmla="*/ 10 h 45"/>
                <a:gd name="T34" fmla="*/ 3 w 46"/>
                <a:gd name="T35" fmla="*/ 13 h 45"/>
                <a:gd name="T36" fmla="*/ 0 w 46"/>
                <a:gd name="T37" fmla="*/ 16 h 45"/>
                <a:gd name="T38" fmla="*/ 0 w 46"/>
                <a:gd name="T39" fmla="*/ 18 h 45"/>
                <a:gd name="T40" fmla="*/ 0 w 46"/>
                <a:gd name="T41" fmla="*/ 23 h 45"/>
                <a:gd name="T42" fmla="*/ 0 w 46"/>
                <a:gd name="T43" fmla="*/ 26 h 45"/>
                <a:gd name="T44" fmla="*/ 0 w 46"/>
                <a:gd name="T45" fmla="*/ 29 h 45"/>
                <a:gd name="T46" fmla="*/ 3 w 46"/>
                <a:gd name="T47" fmla="*/ 34 h 45"/>
                <a:gd name="T48" fmla="*/ 3 w 46"/>
                <a:gd name="T49" fmla="*/ 37 h 45"/>
                <a:gd name="T50" fmla="*/ 7 w 46"/>
                <a:gd name="T51" fmla="*/ 39 h 45"/>
                <a:gd name="T52" fmla="*/ 9 w 46"/>
                <a:gd name="T53" fmla="*/ 39 h 45"/>
                <a:gd name="T54" fmla="*/ 12 w 46"/>
                <a:gd name="T55" fmla="*/ 42 h 45"/>
                <a:gd name="T56" fmla="*/ 15 w 46"/>
                <a:gd name="T57" fmla="*/ 45 h 45"/>
                <a:gd name="T58" fmla="*/ 21 w 46"/>
                <a:gd name="T59" fmla="*/ 45 h 45"/>
                <a:gd name="T60" fmla="*/ 24 w 46"/>
                <a:gd name="T61" fmla="*/ 45 h 45"/>
                <a:gd name="T62" fmla="*/ 29 w 46"/>
                <a:gd name="T63" fmla="*/ 45 h 45"/>
                <a:gd name="T64" fmla="*/ 33 w 46"/>
                <a:gd name="T65" fmla="*/ 45 h 45"/>
                <a:gd name="T66" fmla="*/ 35 w 46"/>
                <a:gd name="T67" fmla="*/ 42 h 45"/>
                <a:gd name="T68" fmla="*/ 38 w 46"/>
                <a:gd name="T69" fmla="*/ 39 h 45"/>
                <a:gd name="T70" fmla="*/ 41 w 46"/>
                <a:gd name="T71" fmla="*/ 39 h 45"/>
                <a:gd name="T72" fmla="*/ 43 w 46"/>
                <a:gd name="T73" fmla="*/ 37 h 45"/>
                <a:gd name="T74" fmla="*/ 47 w 46"/>
                <a:gd name="T75" fmla="*/ 34 h 45"/>
                <a:gd name="T76" fmla="*/ 47 w 46"/>
                <a:gd name="T77" fmla="*/ 29 h 45"/>
                <a:gd name="T78" fmla="*/ 47 w 46"/>
                <a:gd name="T79" fmla="*/ 26 h 45"/>
                <a:gd name="T80" fmla="*/ 50 w 46"/>
                <a:gd name="T81" fmla="*/ 23 h 45"/>
                <a:gd name="T82" fmla="*/ 50 w 46"/>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18"/>
                  </a:lnTo>
                  <a:lnTo>
                    <a:pt x="43" y="16"/>
                  </a:lnTo>
                  <a:lnTo>
                    <a:pt x="43" y="13"/>
                  </a:lnTo>
                  <a:lnTo>
                    <a:pt x="40" y="10"/>
                  </a:lnTo>
                  <a:lnTo>
                    <a:pt x="38" y="8"/>
                  </a:lnTo>
                  <a:lnTo>
                    <a:pt x="35" y="5"/>
                  </a:lnTo>
                  <a:lnTo>
                    <a:pt x="32" y="2"/>
                  </a:lnTo>
                  <a:lnTo>
                    <a:pt x="30" y="2"/>
                  </a:lnTo>
                  <a:lnTo>
                    <a:pt x="27" y="0"/>
                  </a:lnTo>
                  <a:lnTo>
                    <a:pt x="22" y="0"/>
                  </a:lnTo>
                  <a:lnTo>
                    <a:pt x="19" y="0"/>
                  </a:lnTo>
                  <a:lnTo>
                    <a:pt x="14" y="2"/>
                  </a:lnTo>
                  <a:lnTo>
                    <a:pt x="11" y="2"/>
                  </a:lnTo>
                  <a:lnTo>
                    <a:pt x="8" y="5"/>
                  </a:lnTo>
                  <a:lnTo>
                    <a:pt x="6" y="8"/>
                  </a:lnTo>
                  <a:lnTo>
                    <a:pt x="3" y="10"/>
                  </a:lnTo>
                  <a:lnTo>
                    <a:pt x="3" y="13"/>
                  </a:lnTo>
                  <a:lnTo>
                    <a:pt x="0" y="16"/>
                  </a:lnTo>
                  <a:lnTo>
                    <a:pt x="0" y="18"/>
                  </a:lnTo>
                  <a:lnTo>
                    <a:pt x="0" y="23"/>
                  </a:lnTo>
                  <a:lnTo>
                    <a:pt x="0" y="26"/>
                  </a:lnTo>
                  <a:lnTo>
                    <a:pt x="0" y="29"/>
                  </a:lnTo>
                  <a:lnTo>
                    <a:pt x="3" y="34"/>
                  </a:lnTo>
                  <a:lnTo>
                    <a:pt x="3" y="37"/>
                  </a:lnTo>
                  <a:lnTo>
                    <a:pt x="6" y="39"/>
                  </a:lnTo>
                  <a:lnTo>
                    <a:pt x="8" y="39"/>
                  </a:lnTo>
                  <a:lnTo>
                    <a:pt x="11" y="42"/>
                  </a:lnTo>
                  <a:lnTo>
                    <a:pt x="14" y="45"/>
                  </a:lnTo>
                  <a:lnTo>
                    <a:pt x="19" y="45"/>
                  </a:lnTo>
                  <a:lnTo>
                    <a:pt x="22" y="45"/>
                  </a:lnTo>
                  <a:lnTo>
                    <a:pt x="27" y="45"/>
                  </a:lnTo>
                  <a:lnTo>
                    <a:pt x="30" y="45"/>
                  </a:lnTo>
                  <a:lnTo>
                    <a:pt x="32" y="42"/>
                  </a:lnTo>
                  <a:lnTo>
                    <a:pt x="35" y="39"/>
                  </a:lnTo>
                  <a:lnTo>
                    <a:pt x="38" y="39"/>
                  </a:lnTo>
                  <a:lnTo>
                    <a:pt x="40" y="37"/>
                  </a:lnTo>
                  <a:lnTo>
                    <a:pt x="43" y="34"/>
                  </a:lnTo>
                  <a:lnTo>
                    <a:pt x="43" y="29"/>
                  </a:lnTo>
                  <a:lnTo>
                    <a:pt x="43" y="26"/>
                  </a:lnTo>
                  <a:lnTo>
                    <a:pt x="46" y="23"/>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6" name="Freeform 72"/>
            <p:cNvSpPr>
              <a:spLocks/>
            </p:cNvSpPr>
            <p:nvPr/>
          </p:nvSpPr>
          <p:spPr bwMode="auto">
            <a:xfrm>
              <a:off x="3245" y="3093"/>
              <a:ext cx="48" cy="45"/>
            </a:xfrm>
            <a:custGeom>
              <a:avLst/>
              <a:gdLst>
                <a:gd name="T0" fmla="*/ 46 w 45"/>
                <a:gd name="T1" fmla="*/ 21 h 45"/>
                <a:gd name="T2" fmla="*/ 46 w 45"/>
                <a:gd name="T3" fmla="*/ 26 h 45"/>
                <a:gd name="T4" fmla="*/ 46 w 45"/>
                <a:gd name="T5" fmla="*/ 29 h 45"/>
                <a:gd name="T6" fmla="*/ 46 w 45"/>
                <a:gd name="T7" fmla="*/ 34 h 45"/>
                <a:gd name="T8" fmla="*/ 43 w 45"/>
                <a:gd name="T9" fmla="*/ 37 h 45"/>
                <a:gd name="T10" fmla="*/ 39 w 45"/>
                <a:gd name="T11" fmla="*/ 39 h 45"/>
                <a:gd name="T12" fmla="*/ 37 w 45"/>
                <a:gd name="T13" fmla="*/ 39 h 45"/>
                <a:gd name="T14" fmla="*/ 34 w 45"/>
                <a:gd name="T15" fmla="*/ 42 h 45"/>
                <a:gd name="T16" fmla="*/ 31 w 45"/>
                <a:gd name="T17" fmla="*/ 45 h 45"/>
                <a:gd name="T18" fmla="*/ 29 w 45"/>
                <a:gd name="T19" fmla="*/ 45 h 45"/>
                <a:gd name="T20" fmla="*/ 22 w 45"/>
                <a:gd name="T21" fmla="*/ 45 h 45"/>
                <a:gd name="T22" fmla="*/ 20 w 45"/>
                <a:gd name="T23" fmla="*/ 45 h 45"/>
                <a:gd name="T24" fmla="*/ 15 w 45"/>
                <a:gd name="T25" fmla="*/ 45 h 45"/>
                <a:gd name="T26" fmla="*/ 12 w 45"/>
                <a:gd name="T27" fmla="*/ 42 h 45"/>
                <a:gd name="T28" fmla="*/ 9 w 45"/>
                <a:gd name="T29" fmla="*/ 39 h 45"/>
                <a:gd name="T30" fmla="*/ 6 w 45"/>
                <a:gd name="T31" fmla="*/ 39 h 45"/>
                <a:gd name="T32" fmla="*/ 3 w 45"/>
                <a:gd name="T33" fmla="*/ 37 h 45"/>
                <a:gd name="T34" fmla="*/ 3 w 45"/>
                <a:gd name="T35" fmla="*/ 34 h 45"/>
                <a:gd name="T36" fmla="*/ 0 w 45"/>
                <a:gd name="T37" fmla="*/ 29 h 45"/>
                <a:gd name="T38" fmla="*/ 0 w 45"/>
                <a:gd name="T39" fmla="*/ 26 h 45"/>
                <a:gd name="T40" fmla="*/ 0 w 45"/>
                <a:gd name="T41" fmla="*/ 23 h 45"/>
                <a:gd name="T42" fmla="*/ 0 w 45"/>
                <a:gd name="T43" fmla="*/ 18 h 45"/>
                <a:gd name="T44" fmla="*/ 0 w 45"/>
                <a:gd name="T45" fmla="*/ 16 h 45"/>
                <a:gd name="T46" fmla="*/ 3 w 45"/>
                <a:gd name="T47" fmla="*/ 13 h 45"/>
                <a:gd name="T48" fmla="*/ 3 w 45"/>
                <a:gd name="T49" fmla="*/ 10 h 45"/>
                <a:gd name="T50" fmla="*/ 6 w 45"/>
                <a:gd name="T51" fmla="*/ 8 h 45"/>
                <a:gd name="T52" fmla="*/ 9 w 45"/>
                <a:gd name="T53" fmla="*/ 5 h 45"/>
                <a:gd name="T54" fmla="*/ 12 w 45"/>
                <a:gd name="T55" fmla="*/ 2 h 45"/>
                <a:gd name="T56" fmla="*/ 15 w 45"/>
                <a:gd name="T57" fmla="*/ 2 h 45"/>
                <a:gd name="T58" fmla="*/ 20 w 45"/>
                <a:gd name="T59" fmla="*/ 0 h 45"/>
                <a:gd name="T60" fmla="*/ 22 w 45"/>
                <a:gd name="T61" fmla="*/ 0 h 45"/>
                <a:gd name="T62" fmla="*/ 29 w 45"/>
                <a:gd name="T63" fmla="*/ 0 h 45"/>
                <a:gd name="T64" fmla="*/ 31 w 45"/>
                <a:gd name="T65" fmla="*/ 2 h 45"/>
                <a:gd name="T66" fmla="*/ 34 w 45"/>
                <a:gd name="T67" fmla="*/ 2 h 45"/>
                <a:gd name="T68" fmla="*/ 37 w 45"/>
                <a:gd name="T69" fmla="*/ 5 h 45"/>
                <a:gd name="T70" fmla="*/ 39 w 45"/>
                <a:gd name="T71" fmla="*/ 8 h 45"/>
                <a:gd name="T72" fmla="*/ 43 w 45"/>
                <a:gd name="T73" fmla="*/ 10 h 45"/>
                <a:gd name="T74" fmla="*/ 46 w 45"/>
                <a:gd name="T75" fmla="*/ 13 h 45"/>
                <a:gd name="T76" fmla="*/ 46 w 45"/>
                <a:gd name="T77" fmla="*/ 16 h 45"/>
                <a:gd name="T78" fmla="*/ 46 w 45"/>
                <a:gd name="T79" fmla="*/ 18 h 45"/>
                <a:gd name="T80" fmla="*/ 48 w 45"/>
                <a:gd name="T81" fmla="*/ 23 h 45"/>
                <a:gd name="T82" fmla="*/ 46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3" y="21"/>
                  </a:moveTo>
                  <a:lnTo>
                    <a:pt x="43" y="26"/>
                  </a:lnTo>
                  <a:lnTo>
                    <a:pt x="43" y="29"/>
                  </a:lnTo>
                  <a:lnTo>
                    <a:pt x="43" y="34"/>
                  </a:lnTo>
                  <a:lnTo>
                    <a:pt x="40" y="37"/>
                  </a:lnTo>
                  <a:lnTo>
                    <a:pt x="37" y="39"/>
                  </a:lnTo>
                  <a:lnTo>
                    <a:pt x="35" y="39"/>
                  </a:lnTo>
                  <a:lnTo>
                    <a:pt x="32" y="42"/>
                  </a:lnTo>
                  <a:lnTo>
                    <a:pt x="29" y="45"/>
                  </a:lnTo>
                  <a:lnTo>
                    <a:pt x="27" y="45"/>
                  </a:lnTo>
                  <a:lnTo>
                    <a:pt x="21" y="45"/>
                  </a:lnTo>
                  <a:lnTo>
                    <a:pt x="19" y="45"/>
                  </a:lnTo>
                  <a:lnTo>
                    <a:pt x="14" y="45"/>
                  </a:lnTo>
                  <a:lnTo>
                    <a:pt x="11" y="42"/>
                  </a:lnTo>
                  <a:lnTo>
                    <a:pt x="8" y="39"/>
                  </a:lnTo>
                  <a:lnTo>
                    <a:pt x="6" y="39"/>
                  </a:lnTo>
                  <a:lnTo>
                    <a:pt x="3" y="37"/>
                  </a:lnTo>
                  <a:lnTo>
                    <a:pt x="3" y="34"/>
                  </a:lnTo>
                  <a:lnTo>
                    <a:pt x="0" y="29"/>
                  </a:lnTo>
                  <a:lnTo>
                    <a:pt x="0" y="26"/>
                  </a:lnTo>
                  <a:lnTo>
                    <a:pt x="0" y="23"/>
                  </a:lnTo>
                  <a:lnTo>
                    <a:pt x="0" y="18"/>
                  </a:lnTo>
                  <a:lnTo>
                    <a:pt x="0" y="16"/>
                  </a:lnTo>
                  <a:lnTo>
                    <a:pt x="3" y="13"/>
                  </a:lnTo>
                  <a:lnTo>
                    <a:pt x="3" y="10"/>
                  </a:lnTo>
                  <a:lnTo>
                    <a:pt x="6" y="8"/>
                  </a:lnTo>
                  <a:lnTo>
                    <a:pt x="8" y="5"/>
                  </a:lnTo>
                  <a:lnTo>
                    <a:pt x="11" y="2"/>
                  </a:lnTo>
                  <a:lnTo>
                    <a:pt x="14" y="2"/>
                  </a:lnTo>
                  <a:lnTo>
                    <a:pt x="19" y="0"/>
                  </a:lnTo>
                  <a:lnTo>
                    <a:pt x="21" y="0"/>
                  </a:lnTo>
                  <a:lnTo>
                    <a:pt x="27" y="0"/>
                  </a:lnTo>
                  <a:lnTo>
                    <a:pt x="29" y="2"/>
                  </a:lnTo>
                  <a:lnTo>
                    <a:pt x="32" y="2"/>
                  </a:lnTo>
                  <a:lnTo>
                    <a:pt x="35" y="5"/>
                  </a:lnTo>
                  <a:lnTo>
                    <a:pt x="37" y="8"/>
                  </a:lnTo>
                  <a:lnTo>
                    <a:pt x="40" y="10"/>
                  </a:lnTo>
                  <a:lnTo>
                    <a:pt x="43" y="13"/>
                  </a:lnTo>
                  <a:lnTo>
                    <a:pt x="43" y="16"/>
                  </a:lnTo>
                  <a:lnTo>
                    <a:pt x="43" y="18"/>
                  </a:lnTo>
                  <a:lnTo>
                    <a:pt x="45" y="23"/>
                  </a:lnTo>
                  <a:lnTo>
                    <a:pt x="4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Freeform 73"/>
            <p:cNvSpPr>
              <a:spLocks/>
            </p:cNvSpPr>
            <p:nvPr/>
          </p:nvSpPr>
          <p:spPr bwMode="auto">
            <a:xfrm>
              <a:off x="3245" y="3093"/>
              <a:ext cx="48" cy="45"/>
            </a:xfrm>
            <a:custGeom>
              <a:avLst/>
              <a:gdLst>
                <a:gd name="T0" fmla="*/ 46 w 45"/>
                <a:gd name="T1" fmla="*/ 21 h 45"/>
                <a:gd name="T2" fmla="*/ 46 w 45"/>
                <a:gd name="T3" fmla="*/ 18 h 45"/>
                <a:gd name="T4" fmla="*/ 46 w 45"/>
                <a:gd name="T5" fmla="*/ 16 h 45"/>
                <a:gd name="T6" fmla="*/ 46 w 45"/>
                <a:gd name="T7" fmla="*/ 13 h 45"/>
                <a:gd name="T8" fmla="*/ 43 w 45"/>
                <a:gd name="T9" fmla="*/ 10 h 45"/>
                <a:gd name="T10" fmla="*/ 39 w 45"/>
                <a:gd name="T11" fmla="*/ 8 h 45"/>
                <a:gd name="T12" fmla="*/ 37 w 45"/>
                <a:gd name="T13" fmla="*/ 5 h 45"/>
                <a:gd name="T14" fmla="*/ 34 w 45"/>
                <a:gd name="T15" fmla="*/ 2 h 45"/>
                <a:gd name="T16" fmla="*/ 31 w 45"/>
                <a:gd name="T17" fmla="*/ 2 h 45"/>
                <a:gd name="T18" fmla="*/ 29 w 45"/>
                <a:gd name="T19" fmla="*/ 0 h 45"/>
                <a:gd name="T20" fmla="*/ 22 w 45"/>
                <a:gd name="T21" fmla="*/ 0 h 45"/>
                <a:gd name="T22" fmla="*/ 20 w 45"/>
                <a:gd name="T23" fmla="*/ 0 h 45"/>
                <a:gd name="T24" fmla="*/ 15 w 45"/>
                <a:gd name="T25" fmla="*/ 2 h 45"/>
                <a:gd name="T26" fmla="*/ 12 w 45"/>
                <a:gd name="T27" fmla="*/ 2 h 45"/>
                <a:gd name="T28" fmla="*/ 9 w 45"/>
                <a:gd name="T29" fmla="*/ 5 h 45"/>
                <a:gd name="T30" fmla="*/ 6 w 45"/>
                <a:gd name="T31" fmla="*/ 8 h 45"/>
                <a:gd name="T32" fmla="*/ 3 w 45"/>
                <a:gd name="T33" fmla="*/ 10 h 45"/>
                <a:gd name="T34" fmla="*/ 3 w 45"/>
                <a:gd name="T35" fmla="*/ 13 h 45"/>
                <a:gd name="T36" fmla="*/ 0 w 45"/>
                <a:gd name="T37" fmla="*/ 16 h 45"/>
                <a:gd name="T38" fmla="*/ 0 w 45"/>
                <a:gd name="T39" fmla="*/ 18 h 45"/>
                <a:gd name="T40" fmla="*/ 0 w 45"/>
                <a:gd name="T41" fmla="*/ 23 h 45"/>
                <a:gd name="T42" fmla="*/ 0 w 45"/>
                <a:gd name="T43" fmla="*/ 26 h 45"/>
                <a:gd name="T44" fmla="*/ 0 w 45"/>
                <a:gd name="T45" fmla="*/ 29 h 45"/>
                <a:gd name="T46" fmla="*/ 3 w 45"/>
                <a:gd name="T47" fmla="*/ 34 h 45"/>
                <a:gd name="T48" fmla="*/ 3 w 45"/>
                <a:gd name="T49" fmla="*/ 37 h 45"/>
                <a:gd name="T50" fmla="*/ 6 w 45"/>
                <a:gd name="T51" fmla="*/ 39 h 45"/>
                <a:gd name="T52" fmla="*/ 9 w 45"/>
                <a:gd name="T53" fmla="*/ 39 h 45"/>
                <a:gd name="T54" fmla="*/ 12 w 45"/>
                <a:gd name="T55" fmla="*/ 42 h 45"/>
                <a:gd name="T56" fmla="*/ 15 w 45"/>
                <a:gd name="T57" fmla="*/ 45 h 45"/>
                <a:gd name="T58" fmla="*/ 20 w 45"/>
                <a:gd name="T59" fmla="*/ 45 h 45"/>
                <a:gd name="T60" fmla="*/ 22 w 45"/>
                <a:gd name="T61" fmla="*/ 45 h 45"/>
                <a:gd name="T62" fmla="*/ 29 w 45"/>
                <a:gd name="T63" fmla="*/ 45 h 45"/>
                <a:gd name="T64" fmla="*/ 31 w 45"/>
                <a:gd name="T65" fmla="*/ 45 h 45"/>
                <a:gd name="T66" fmla="*/ 34 w 45"/>
                <a:gd name="T67" fmla="*/ 42 h 45"/>
                <a:gd name="T68" fmla="*/ 37 w 45"/>
                <a:gd name="T69" fmla="*/ 39 h 45"/>
                <a:gd name="T70" fmla="*/ 39 w 45"/>
                <a:gd name="T71" fmla="*/ 39 h 45"/>
                <a:gd name="T72" fmla="*/ 43 w 45"/>
                <a:gd name="T73" fmla="*/ 37 h 45"/>
                <a:gd name="T74" fmla="*/ 46 w 45"/>
                <a:gd name="T75" fmla="*/ 34 h 45"/>
                <a:gd name="T76" fmla="*/ 46 w 45"/>
                <a:gd name="T77" fmla="*/ 29 h 45"/>
                <a:gd name="T78" fmla="*/ 46 w 45"/>
                <a:gd name="T79" fmla="*/ 26 h 45"/>
                <a:gd name="T80" fmla="*/ 48 w 45"/>
                <a:gd name="T81" fmla="*/ 23 h 45"/>
                <a:gd name="T82" fmla="*/ 48 w 45"/>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3" y="21"/>
                  </a:moveTo>
                  <a:lnTo>
                    <a:pt x="43" y="18"/>
                  </a:lnTo>
                  <a:lnTo>
                    <a:pt x="43" y="16"/>
                  </a:lnTo>
                  <a:lnTo>
                    <a:pt x="43" y="13"/>
                  </a:lnTo>
                  <a:lnTo>
                    <a:pt x="40" y="10"/>
                  </a:lnTo>
                  <a:lnTo>
                    <a:pt x="37" y="8"/>
                  </a:lnTo>
                  <a:lnTo>
                    <a:pt x="35" y="5"/>
                  </a:lnTo>
                  <a:lnTo>
                    <a:pt x="32" y="2"/>
                  </a:lnTo>
                  <a:lnTo>
                    <a:pt x="29" y="2"/>
                  </a:lnTo>
                  <a:lnTo>
                    <a:pt x="27" y="0"/>
                  </a:lnTo>
                  <a:lnTo>
                    <a:pt x="21" y="0"/>
                  </a:lnTo>
                  <a:lnTo>
                    <a:pt x="19" y="0"/>
                  </a:lnTo>
                  <a:lnTo>
                    <a:pt x="14" y="2"/>
                  </a:lnTo>
                  <a:lnTo>
                    <a:pt x="11" y="2"/>
                  </a:lnTo>
                  <a:lnTo>
                    <a:pt x="8" y="5"/>
                  </a:lnTo>
                  <a:lnTo>
                    <a:pt x="6" y="8"/>
                  </a:lnTo>
                  <a:lnTo>
                    <a:pt x="3" y="10"/>
                  </a:lnTo>
                  <a:lnTo>
                    <a:pt x="3" y="13"/>
                  </a:lnTo>
                  <a:lnTo>
                    <a:pt x="0" y="16"/>
                  </a:lnTo>
                  <a:lnTo>
                    <a:pt x="0" y="18"/>
                  </a:lnTo>
                  <a:lnTo>
                    <a:pt x="0" y="23"/>
                  </a:lnTo>
                  <a:lnTo>
                    <a:pt x="0" y="26"/>
                  </a:lnTo>
                  <a:lnTo>
                    <a:pt x="0" y="29"/>
                  </a:lnTo>
                  <a:lnTo>
                    <a:pt x="3" y="34"/>
                  </a:lnTo>
                  <a:lnTo>
                    <a:pt x="3" y="37"/>
                  </a:lnTo>
                  <a:lnTo>
                    <a:pt x="6" y="39"/>
                  </a:lnTo>
                  <a:lnTo>
                    <a:pt x="8" y="39"/>
                  </a:lnTo>
                  <a:lnTo>
                    <a:pt x="11" y="42"/>
                  </a:lnTo>
                  <a:lnTo>
                    <a:pt x="14" y="45"/>
                  </a:lnTo>
                  <a:lnTo>
                    <a:pt x="19" y="45"/>
                  </a:lnTo>
                  <a:lnTo>
                    <a:pt x="21" y="45"/>
                  </a:lnTo>
                  <a:lnTo>
                    <a:pt x="27" y="45"/>
                  </a:lnTo>
                  <a:lnTo>
                    <a:pt x="29" y="45"/>
                  </a:lnTo>
                  <a:lnTo>
                    <a:pt x="32" y="42"/>
                  </a:lnTo>
                  <a:lnTo>
                    <a:pt x="35" y="39"/>
                  </a:lnTo>
                  <a:lnTo>
                    <a:pt x="37" y="39"/>
                  </a:lnTo>
                  <a:lnTo>
                    <a:pt x="40" y="37"/>
                  </a:lnTo>
                  <a:lnTo>
                    <a:pt x="43" y="34"/>
                  </a:lnTo>
                  <a:lnTo>
                    <a:pt x="43" y="29"/>
                  </a:lnTo>
                  <a:lnTo>
                    <a:pt x="43" y="26"/>
                  </a:lnTo>
                  <a:lnTo>
                    <a:pt x="45" y="23"/>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8" name="Text Box 74"/>
            <p:cNvSpPr txBox="1">
              <a:spLocks noChangeArrowheads="1"/>
            </p:cNvSpPr>
            <p:nvPr/>
          </p:nvSpPr>
          <p:spPr bwMode="auto">
            <a:xfrm>
              <a:off x="2184" y="3648"/>
              <a:ext cx="201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ea typeface="宋体" panose="02010600030101010101" pitchFamily="2" charset="-122"/>
                </a:rPr>
                <a:t>Distributed Shared Memory (NUMA)</a:t>
              </a:r>
            </a:p>
          </p:txBody>
        </p:sp>
      </p:grpSp>
      <p:grpSp>
        <p:nvGrpSpPr>
          <p:cNvPr id="189" name="Group 75"/>
          <p:cNvGrpSpPr>
            <a:grpSpLocks/>
          </p:cNvGrpSpPr>
          <p:nvPr/>
        </p:nvGrpSpPr>
        <p:grpSpPr bwMode="auto">
          <a:xfrm>
            <a:off x="3335684" y="1821038"/>
            <a:ext cx="2741612" cy="1909762"/>
            <a:chOff x="624" y="912"/>
            <a:chExt cx="1727" cy="1203"/>
          </a:xfrm>
        </p:grpSpPr>
        <p:sp>
          <p:nvSpPr>
            <p:cNvPr id="190" name="Line 76"/>
            <p:cNvSpPr>
              <a:spLocks noChangeShapeType="1"/>
            </p:cNvSpPr>
            <p:nvPr/>
          </p:nvSpPr>
          <p:spPr bwMode="auto">
            <a:xfrm>
              <a:off x="2176" y="1516"/>
              <a:ext cx="3"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 name="Line 77"/>
            <p:cNvSpPr>
              <a:spLocks noChangeShapeType="1"/>
            </p:cNvSpPr>
            <p:nvPr/>
          </p:nvSpPr>
          <p:spPr bwMode="auto">
            <a:xfrm>
              <a:off x="798" y="1508"/>
              <a:ext cx="5" cy="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78"/>
            <p:cNvSpPr>
              <a:spLocks noChangeShapeType="1"/>
            </p:cNvSpPr>
            <p:nvPr/>
          </p:nvSpPr>
          <p:spPr bwMode="auto">
            <a:xfrm>
              <a:off x="796" y="1227"/>
              <a:ext cx="2" cy="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 name="Freeform 79"/>
            <p:cNvSpPr>
              <a:spLocks/>
            </p:cNvSpPr>
            <p:nvPr/>
          </p:nvSpPr>
          <p:spPr bwMode="auto">
            <a:xfrm>
              <a:off x="626" y="912"/>
              <a:ext cx="344" cy="318"/>
            </a:xfrm>
            <a:custGeom>
              <a:avLst/>
              <a:gdLst>
                <a:gd name="T0" fmla="*/ 342 w 318"/>
                <a:gd name="T1" fmla="*/ 156 h 318"/>
                <a:gd name="T2" fmla="*/ 342 w 318"/>
                <a:gd name="T3" fmla="*/ 186 h 318"/>
                <a:gd name="T4" fmla="*/ 336 w 318"/>
                <a:gd name="T5" fmla="*/ 209 h 318"/>
                <a:gd name="T6" fmla="*/ 325 w 318"/>
                <a:gd name="T7" fmla="*/ 231 h 318"/>
                <a:gd name="T8" fmla="*/ 310 w 318"/>
                <a:gd name="T9" fmla="*/ 252 h 318"/>
                <a:gd name="T10" fmla="*/ 293 w 318"/>
                <a:gd name="T11" fmla="*/ 270 h 318"/>
                <a:gd name="T12" fmla="*/ 273 w 318"/>
                <a:gd name="T13" fmla="*/ 286 h 318"/>
                <a:gd name="T14" fmla="*/ 250 w 318"/>
                <a:gd name="T15" fmla="*/ 300 h 318"/>
                <a:gd name="T16" fmla="*/ 227 w 318"/>
                <a:gd name="T17" fmla="*/ 310 h 318"/>
                <a:gd name="T18" fmla="*/ 198 w 318"/>
                <a:gd name="T19" fmla="*/ 315 h 318"/>
                <a:gd name="T20" fmla="*/ 172 w 318"/>
                <a:gd name="T21" fmla="*/ 318 h 318"/>
                <a:gd name="T22" fmla="*/ 144 w 318"/>
                <a:gd name="T23" fmla="*/ 315 h 318"/>
                <a:gd name="T24" fmla="*/ 118 w 318"/>
                <a:gd name="T25" fmla="*/ 310 h 318"/>
                <a:gd name="T26" fmla="*/ 92 w 318"/>
                <a:gd name="T27" fmla="*/ 300 h 318"/>
                <a:gd name="T28" fmla="*/ 69 w 318"/>
                <a:gd name="T29" fmla="*/ 286 h 318"/>
                <a:gd name="T30" fmla="*/ 49 w 318"/>
                <a:gd name="T31" fmla="*/ 270 h 318"/>
                <a:gd name="T32" fmla="*/ 32 w 318"/>
                <a:gd name="T33" fmla="*/ 252 h 318"/>
                <a:gd name="T34" fmla="*/ 17 w 318"/>
                <a:gd name="T35" fmla="*/ 231 h 318"/>
                <a:gd name="T36" fmla="*/ 9 w 318"/>
                <a:gd name="T37" fmla="*/ 209 h 318"/>
                <a:gd name="T38" fmla="*/ 0 w 318"/>
                <a:gd name="T39" fmla="*/ 186 h 318"/>
                <a:gd name="T40" fmla="*/ 0 w 318"/>
                <a:gd name="T41" fmla="*/ 159 h 318"/>
                <a:gd name="T42" fmla="*/ 0 w 318"/>
                <a:gd name="T43" fmla="*/ 133 h 318"/>
                <a:gd name="T44" fmla="*/ 9 w 318"/>
                <a:gd name="T45" fmla="*/ 109 h 318"/>
                <a:gd name="T46" fmla="*/ 17 w 318"/>
                <a:gd name="T47" fmla="*/ 85 h 318"/>
                <a:gd name="T48" fmla="*/ 32 w 318"/>
                <a:gd name="T49" fmla="*/ 64 h 318"/>
                <a:gd name="T50" fmla="*/ 49 w 318"/>
                <a:gd name="T51" fmla="*/ 45 h 318"/>
                <a:gd name="T52" fmla="*/ 69 w 318"/>
                <a:gd name="T53" fmla="*/ 29 h 318"/>
                <a:gd name="T54" fmla="*/ 92 w 318"/>
                <a:gd name="T55" fmla="*/ 19 h 318"/>
                <a:gd name="T56" fmla="*/ 118 w 318"/>
                <a:gd name="T57" fmla="*/ 8 h 318"/>
                <a:gd name="T58" fmla="*/ 144 w 318"/>
                <a:gd name="T59" fmla="*/ 3 h 318"/>
                <a:gd name="T60" fmla="*/ 172 w 318"/>
                <a:gd name="T61" fmla="*/ 0 h 318"/>
                <a:gd name="T62" fmla="*/ 198 w 318"/>
                <a:gd name="T63" fmla="*/ 3 h 318"/>
                <a:gd name="T64" fmla="*/ 227 w 318"/>
                <a:gd name="T65" fmla="*/ 8 h 318"/>
                <a:gd name="T66" fmla="*/ 250 w 318"/>
                <a:gd name="T67" fmla="*/ 19 h 318"/>
                <a:gd name="T68" fmla="*/ 273 w 318"/>
                <a:gd name="T69" fmla="*/ 29 h 318"/>
                <a:gd name="T70" fmla="*/ 293 w 318"/>
                <a:gd name="T71" fmla="*/ 45 h 318"/>
                <a:gd name="T72" fmla="*/ 310 w 318"/>
                <a:gd name="T73" fmla="*/ 64 h 318"/>
                <a:gd name="T74" fmla="*/ 325 w 318"/>
                <a:gd name="T75" fmla="*/ 85 h 318"/>
                <a:gd name="T76" fmla="*/ 336 w 318"/>
                <a:gd name="T77" fmla="*/ 109 h 318"/>
                <a:gd name="T78" fmla="*/ 342 w 318"/>
                <a:gd name="T79" fmla="*/ 133 h 318"/>
                <a:gd name="T80" fmla="*/ 344 w 318"/>
                <a:gd name="T81" fmla="*/ 159 h 318"/>
                <a:gd name="T82" fmla="*/ 342 w 318"/>
                <a:gd name="T83" fmla="*/ 156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6"/>
                  </a:moveTo>
                  <a:lnTo>
                    <a:pt x="316" y="186"/>
                  </a:lnTo>
                  <a:lnTo>
                    <a:pt x="311" y="209"/>
                  </a:lnTo>
                  <a:lnTo>
                    <a:pt x="300" y="231"/>
                  </a:lnTo>
                  <a:lnTo>
                    <a:pt x="287" y="252"/>
                  </a:lnTo>
                  <a:lnTo>
                    <a:pt x="271" y="270"/>
                  </a:lnTo>
                  <a:lnTo>
                    <a:pt x="252" y="286"/>
                  </a:lnTo>
                  <a:lnTo>
                    <a:pt x="231" y="300"/>
                  </a:lnTo>
                  <a:lnTo>
                    <a:pt x="210" y="310"/>
                  </a:lnTo>
                  <a:lnTo>
                    <a:pt x="183" y="315"/>
                  </a:lnTo>
                  <a:lnTo>
                    <a:pt x="159" y="318"/>
                  </a:lnTo>
                  <a:lnTo>
                    <a:pt x="133" y="315"/>
                  </a:lnTo>
                  <a:lnTo>
                    <a:pt x="109" y="310"/>
                  </a:lnTo>
                  <a:lnTo>
                    <a:pt x="85" y="300"/>
                  </a:lnTo>
                  <a:lnTo>
                    <a:pt x="64" y="286"/>
                  </a:lnTo>
                  <a:lnTo>
                    <a:pt x="45" y="270"/>
                  </a:lnTo>
                  <a:lnTo>
                    <a:pt x="30" y="252"/>
                  </a:lnTo>
                  <a:lnTo>
                    <a:pt x="16" y="231"/>
                  </a:lnTo>
                  <a:lnTo>
                    <a:pt x="8" y="209"/>
                  </a:lnTo>
                  <a:lnTo>
                    <a:pt x="0" y="186"/>
                  </a:lnTo>
                  <a:lnTo>
                    <a:pt x="0" y="159"/>
                  </a:lnTo>
                  <a:lnTo>
                    <a:pt x="0" y="133"/>
                  </a:lnTo>
                  <a:lnTo>
                    <a:pt x="8" y="109"/>
                  </a:lnTo>
                  <a:lnTo>
                    <a:pt x="16" y="85"/>
                  </a:lnTo>
                  <a:lnTo>
                    <a:pt x="30" y="64"/>
                  </a:lnTo>
                  <a:lnTo>
                    <a:pt x="45" y="45"/>
                  </a:lnTo>
                  <a:lnTo>
                    <a:pt x="64" y="29"/>
                  </a:lnTo>
                  <a:lnTo>
                    <a:pt x="85" y="19"/>
                  </a:lnTo>
                  <a:lnTo>
                    <a:pt x="109" y="8"/>
                  </a:lnTo>
                  <a:lnTo>
                    <a:pt x="133" y="3"/>
                  </a:lnTo>
                  <a:lnTo>
                    <a:pt x="159" y="0"/>
                  </a:lnTo>
                  <a:lnTo>
                    <a:pt x="183" y="3"/>
                  </a:lnTo>
                  <a:lnTo>
                    <a:pt x="210" y="8"/>
                  </a:lnTo>
                  <a:lnTo>
                    <a:pt x="231" y="19"/>
                  </a:lnTo>
                  <a:lnTo>
                    <a:pt x="252" y="29"/>
                  </a:lnTo>
                  <a:lnTo>
                    <a:pt x="271" y="45"/>
                  </a:lnTo>
                  <a:lnTo>
                    <a:pt x="287" y="64"/>
                  </a:lnTo>
                  <a:lnTo>
                    <a:pt x="300" y="85"/>
                  </a:lnTo>
                  <a:lnTo>
                    <a:pt x="311" y="109"/>
                  </a:lnTo>
                  <a:lnTo>
                    <a:pt x="316" y="133"/>
                  </a:lnTo>
                  <a:lnTo>
                    <a:pt x="318" y="159"/>
                  </a:lnTo>
                  <a:lnTo>
                    <a:pt x="316"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80"/>
            <p:cNvSpPr>
              <a:spLocks/>
            </p:cNvSpPr>
            <p:nvPr/>
          </p:nvSpPr>
          <p:spPr bwMode="auto">
            <a:xfrm>
              <a:off x="626" y="912"/>
              <a:ext cx="344" cy="318"/>
            </a:xfrm>
            <a:custGeom>
              <a:avLst/>
              <a:gdLst>
                <a:gd name="T0" fmla="*/ 342 w 318"/>
                <a:gd name="T1" fmla="*/ 156 h 318"/>
                <a:gd name="T2" fmla="*/ 342 w 318"/>
                <a:gd name="T3" fmla="*/ 133 h 318"/>
                <a:gd name="T4" fmla="*/ 336 w 318"/>
                <a:gd name="T5" fmla="*/ 109 h 318"/>
                <a:gd name="T6" fmla="*/ 325 w 318"/>
                <a:gd name="T7" fmla="*/ 85 h 318"/>
                <a:gd name="T8" fmla="*/ 310 w 318"/>
                <a:gd name="T9" fmla="*/ 64 h 318"/>
                <a:gd name="T10" fmla="*/ 293 w 318"/>
                <a:gd name="T11" fmla="*/ 45 h 318"/>
                <a:gd name="T12" fmla="*/ 273 w 318"/>
                <a:gd name="T13" fmla="*/ 29 h 318"/>
                <a:gd name="T14" fmla="*/ 250 w 318"/>
                <a:gd name="T15" fmla="*/ 19 h 318"/>
                <a:gd name="T16" fmla="*/ 227 w 318"/>
                <a:gd name="T17" fmla="*/ 8 h 318"/>
                <a:gd name="T18" fmla="*/ 198 w 318"/>
                <a:gd name="T19" fmla="*/ 3 h 318"/>
                <a:gd name="T20" fmla="*/ 172 w 318"/>
                <a:gd name="T21" fmla="*/ 0 h 318"/>
                <a:gd name="T22" fmla="*/ 144 w 318"/>
                <a:gd name="T23" fmla="*/ 3 h 318"/>
                <a:gd name="T24" fmla="*/ 118 w 318"/>
                <a:gd name="T25" fmla="*/ 8 h 318"/>
                <a:gd name="T26" fmla="*/ 92 w 318"/>
                <a:gd name="T27" fmla="*/ 19 h 318"/>
                <a:gd name="T28" fmla="*/ 69 w 318"/>
                <a:gd name="T29" fmla="*/ 29 h 318"/>
                <a:gd name="T30" fmla="*/ 49 w 318"/>
                <a:gd name="T31" fmla="*/ 45 h 318"/>
                <a:gd name="T32" fmla="*/ 32 w 318"/>
                <a:gd name="T33" fmla="*/ 64 h 318"/>
                <a:gd name="T34" fmla="*/ 17 w 318"/>
                <a:gd name="T35" fmla="*/ 85 h 318"/>
                <a:gd name="T36" fmla="*/ 9 w 318"/>
                <a:gd name="T37" fmla="*/ 109 h 318"/>
                <a:gd name="T38" fmla="*/ 0 w 318"/>
                <a:gd name="T39" fmla="*/ 133 h 318"/>
                <a:gd name="T40" fmla="*/ 0 w 318"/>
                <a:gd name="T41" fmla="*/ 159 h 318"/>
                <a:gd name="T42" fmla="*/ 0 w 318"/>
                <a:gd name="T43" fmla="*/ 186 h 318"/>
                <a:gd name="T44" fmla="*/ 9 w 318"/>
                <a:gd name="T45" fmla="*/ 209 h 318"/>
                <a:gd name="T46" fmla="*/ 17 w 318"/>
                <a:gd name="T47" fmla="*/ 231 h 318"/>
                <a:gd name="T48" fmla="*/ 32 w 318"/>
                <a:gd name="T49" fmla="*/ 252 h 318"/>
                <a:gd name="T50" fmla="*/ 49 w 318"/>
                <a:gd name="T51" fmla="*/ 270 h 318"/>
                <a:gd name="T52" fmla="*/ 69 w 318"/>
                <a:gd name="T53" fmla="*/ 286 h 318"/>
                <a:gd name="T54" fmla="*/ 92 w 318"/>
                <a:gd name="T55" fmla="*/ 300 h 318"/>
                <a:gd name="T56" fmla="*/ 118 w 318"/>
                <a:gd name="T57" fmla="*/ 310 h 318"/>
                <a:gd name="T58" fmla="*/ 144 w 318"/>
                <a:gd name="T59" fmla="*/ 315 h 318"/>
                <a:gd name="T60" fmla="*/ 172 w 318"/>
                <a:gd name="T61" fmla="*/ 318 h 318"/>
                <a:gd name="T62" fmla="*/ 198 w 318"/>
                <a:gd name="T63" fmla="*/ 315 h 318"/>
                <a:gd name="T64" fmla="*/ 227 w 318"/>
                <a:gd name="T65" fmla="*/ 310 h 318"/>
                <a:gd name="T66" fmla="*/ 250 w 318"/>
                <a:gd name="T67" fmla="*/ 300 h 318"/>
                <a:gd name="T68" fmla="*/ 273 w 318"/>
                <a:gd name="T69" fmla="*/ 286 h 318"/>
                <a:gd name="T70" fmla="*/ 293 w 318"/>
                <a:gd name="T71" fmla="*/ 270 h 318"/>
                <a:gd name="T72" fmla="*/ 310 w 318"/>
                <a:gd name="T73" fmla="*/ 252 h 318"/>
                <a:gd name="T74" fmla="*/ 325 w 318"/>
                <a:gd name="T75" fmla="*/ 231 h 318"/>
                <a:gd name="T76" fmla="*/ 336 w 318"/>
                <a:gd name="T77" fmla="*/ 209 h 318"/>
                <a:gd name="T78" fmla="*/ 342 w 318"/>
                <a:gd name="T79" fmla="*/ 186 h 318"/>
                <a:gd name="T80" fmla="*/ 344 w 318"/>
                <a:gd name="T81" fmla="*/ 159 h 318"/>
                <a:gd name="T82" fmla="*/ 344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6"/>
                  </a:moveTo>
                  <a:lnTo>
                    <a:pt x="316" y="133"/>
                  </a:lnTo>
                  <a:lnTo>
                    <a:pt x="311" y="109"/>
                  </a:lnTo>
                  <a:lnTo>
                    <a:pt x="300" y="85"/>
                  </a:lnTo>
                  <a:lnTo>
                    <a:pt x="287" y="64"/>
                  </a:lnTo>
                  <a:lnTo>
                    <a:pt x="271" y="45"/>
                  </a:lnTo>
                  <a:lnTo>
                    <a:pt x="252" y="29"/>
                  </a:lnTo>
                  <a:lnTo>
                    <a:pt x="231" y="19"/>
                  </a:lnTo>
                  <a:lnTo>
                    <a:pt x="210" y="8"/>
                  </a:lnTo>
                  <a:lnTo>
                    <a:pt x="183" y="3"/>
                  </a:lnTo>
                  <a:lnTo>
                    <a:pt x="159" y="0"/>
                  </a:lnTo>
                  <a:lnTo>
                    <a:pt x="133" y="3"/>
                  </a:lnTo>
                  <a:lnTo>
                    <a:pt x="109" y="8"/>
                  </a:lnTo>
                  <a:lnTo>
                    <a:pt x="85" y="19"/>
                  </a:lnTo>
                  <a:lnTo>
                    <a:pt x="64" y="29"/>
                  </a:lnTo>
                  <a:lnTo>
                    <a:pt x="45" y="45"/>
                  </a:lnTo>
                  <a:lnTo>
                    <a:pt x="30" y="64"/>
                  </a:lnTo>
                  <a:lnTo>
                    <a:pt x="16" y="85"/>
                  </a:lnTo>
                  <a:lnTo>
                    <a:pt x="8" y="109"/>
                  </a:lnTo>
                  <a:lnTo>
                    <a:pt x="0" y="133"/>
                  </a:lnTo>
                  <a:lnTo>
                    <a:pt x="0" y="159"/>
                  </a:lnTo>
                  <a:lnTo>
                    <a:pt x="0" y="186"/>
                  </a:lnTo>
                  <a:lnTo>
                    <a:pt x="8" y="209"/>
                  </a:lnTo>
                  <a:lnTo>
                    <a:pt x="16" y="231"/>
                  </a:lnTo>
                  <a:lnTo>
                    <a:pt x="30" y="252"/>
                  </a:lnTo>
                  <a:lnTo>
                    <a:pt x="45" y="270"/>
                  </a:lnTo>
                  <a:lnTo>
                    <a:pt x="64" y="286"/>
                  </a:lnTo>
                  <a:lnTo>
                    <a:pt x="85" y="300"/>
                  </a:lnTo>
                  <a:lnTo>
                    <a:pt x="109" y="310"/>
                  </a:lnTo>
                  <a:lnTo>
                    <a:pt x="133" y="315"/>
                  </a:lnTo>
                  <a:lnTo>
                    <a:pt x="159" y="318"/>
                  </a:lnTo>
                  <a:lnTo>
                    <a:pt x="183" y="315"/>
                  </a:lnTo>
                  <a:lnTo>
                    <a:pt x="210" y="310"/>
                  </a:lnTo>
                  <a:lnTo>
                    <a:pt x="231" y="300"/>
                  </a:lnTo>
                  <a:lnTo>
                    <a:pt x="252" y="286"/>
                  </a:lnTo>
                  <a:lnTo>
                    <a:pt x="271" y="270"/>
                  </a:lnTo>
                  <a:lnTo>
                    <a:pt x="287" y="252"/>
                  </a:lnTo>
                  <a:lnTo>
                    <a:pt x="300" y="231"/>
                  </a:lnTo>
                  <a:lnTo>
                    <a:pt x="311"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Freeform 81"/>
            <p:cNvSpPr>
              <a:spLocks/>
            </p:cNvSpPr>
            <p:nvPr/>
          </p:nvSpPr>
          <p:spPr bwMode="auto">
            <a:xfrm>
              <a:off x="624" y="1307"/>
              <a:ext cx="346" cy="201"/>
            </a:xfrm>
            <a:custGeom>
              <a:avLst/>
              <a:gdLst>
                <a:gd name="T0" fmla="*/ 0 w 320"/>
                <a:gd name="T1" fmla="*/ 0 h 201"/>
                <a:gd name="T2" fmla="*/ 346 w 320"/>
                <a:gd name="T3" fmla="*/ 3 h 201"/>
                <a:gd name="T4" fmla="*/ 346 w 320"/>
                <a:gd name="T5" fmla="*/ 201 h 201"/>
                <a:gd name="T6" fmla="*/ 2 w 320"/>
                <a:gd name="T7" fmla="*/ 201 h 201"/>
                <a:gd name="T8" fmla="*/ 2 w 320"/>
                <a:gd name="T9" fmla="*/ 3 h 201"/>
                <a:gd name="T10" fmla="*/ 0 w 320"/>
                <a:gd name="T11" fmla="*/ 0 h 201"/>
                <a:gd name="T12" fmla="*/ 0 60000 65536"/>
                <a:gd name="T13" fmla="*/ 0 60000 65536"/>
                <a:gd name="T14" fmla="*/ 0 60000 65536"/>
                <a:gd name="T15" fmla="*/ 0 60000 65536"/>
                <a:gd name="T16" fmla="*/ 0 60000 65536"/>
                <a:gd name="T17" fmla="*/ 0 60000 65536"/>
                <a:gd name="T18" fmla="*/ 0 w 320"/>
                <a:gd name="T19" fmla="*/ 0 h 201"/>
                <a:gd name="T20" fmla="*/ 320 w 32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320" h="201">
                  <a:moveTo>
                    <a:pt x="0" y="0"/>
                  </a:moveTo>
                  <a:lnTo>
                    <a:pt x="320" y="3"/>
                  </a:lnTo>
                  <a:lnTo>
                    <a:pt x="320" y="201"/>
                  </a:lnTo>
                  <a:lnTo>
                    <a:pt x="2" y="201"/>
                  </a:lnTo>
                  <a:lnTo>
                    <a:pt x="2"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Freeform 82"/>
            <p:cNvSpPr>
              <a:spLocks/>
            </p:cNvSpPr>
            <p:nvPr/>
          </p:nvSpPr>
          <p:spPr bwMode="auto">
            <a:xfrm>
              <a:off x="624" y="1307"/>
              <a:ext cx="346" cy="201"/>
            </a:xfrm>
            <a:custGeom>
              <a:avLst/>
              <a:gdLst>
                <a:gd name="T0" fmla="*/ 0 w 320"/>
                <a:gd name="T1" fmla="*/ 0 h 201"/>
                <a:gd name="T2" fmla="*/ 346 w 320"/>
                <a:gd name="T3" fmla="*/ 3 h 201"/>
                <a:gd name="T4" fmla="*/ 346 w 320"/>
                <a:gd name="T5" fmla="*/ 201 h 201"/>
                <a:gd name="T6" fmla="*/ 2 w 320"/>
                <a:gd name="T7" fmla="*/ 201 h 201"/>
                <a:gd name="T8" fmla="*/ 2 w 320"/>
                <a:gd name="T9" fmla="*/ 3 h 201"/>
                <a:gd name="T10" fmla="*/ 0 60000 65536"/>
                <a:gd name="T11" fmla="*/ 0 60000 65536"/>
                <a:gd name="T12" fmla="*/ 0 60000 65536"/>
                <a:gd name="T13" fmla="*/ 0 60000 65536"/>
                <a:gd name="T14" fmla="*/ 0 60000 65536"/>
                <a:gd name="T15" fmla="*/ 0 w 320"/>
                <a:gd name="T16" fmla="*/ 0 h 201"/>
                <a:gd name="T17" fmla="*/ 320 w 320"/>
                <a:gd name="T18" fmla="*/ 201 h 201"/>
              </a:gdLst>
              <a:ahLst/>
              <a:cxnLst>
                <a:cxn ang="T10">
                  <a:pos x="T0" y="T1"/>
                </a:cxn>
                <a:cxn ang="T11">
                  <a:pos x="T2" y="T3"/>
                </a:cxn>
                <a:cxn ang="T12">
                  <a:pos x="T4" y="T5"/>
                </a:cxn>
                <a:cxn ang="T13">
                  <a:pos x="T6" y="T7"/>
                </a:cxn>
                <a:cxn ang="T14">
                  <a:pos x="T8" y="T9"/>
                </a:cxn>
              </a:cxnLst>
              <a:rect l="T15" t="T16" r="T17" b="T18"/>
              <a:pathLst>
                <a:path w="320" h="201">
                  <a:moveTo>
                    <a:pt x="0" y="0"/>
                  </a:moveTo>
                  <a:lnTo>
                    <a:pt x="320" y="3"/>
                  </a:lnTo>
                  <a:lnTo>
                    <a:pt x="320" y="201"/>
                  </a:lnTo>
                  <a:lnTo>
                    <a:pt x="2" y="201"/>
                  </a:lnTo>
                  <a:lnTo>
                    <a:pt x="2" y="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7" name="Rectangle 83"/>
            <p:cNvSpPr>
              <a:spLocks noChangeArrowheads="1"/>
            </p:cNvSpPr>
            <p:nvPr/>
          </p:nvSpPr>
          <p:spPr bwMode="auto">
            <a:xfrm>
              <a:off x="750" y="1018"/>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198" name="Rectangle 84"/>
            <p:cNvSpPr>
              <a:spLocks noChangeArrowheads="1"/>
            </p:cNvSpPr>
            <p:nvPr/>
          </p:nvSpPr>
          <p:spPr bwMode="auto">
            <a:xfrm>
              <a:off x="796" y="1052"/>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a:t>
              </a:r>
              <a:endParaRPr lang="en-US" altLang="zh-CN" sz="1400">
                <a:ea typeface="宋体" panose="02010600030101010101" pitchFamily="2" charset="-122"/>
              </a:endParaRPr>
            </a:p>
          </p:txBody>
        </p:sp>
        <p:sp>
          <p:nvSpPr>
            <p:cNvPr id="199" name="Rectangle 85"/>
            <p:cNvSpPr>
              <a:spLocks noChangeArrowheads="1"/>
            </p:cNvSpPr>
            <p:nvPr/>
          </p:nvSpPr>
          <p:spPr bwMode="auto">
            <a:xfrm>
              <a:off x="770" y="135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200" name="Line 86"/>
            <p:cNvSpPr>
              <a:spLocks noChangeShapeType="1"/>
            </p:cNvSpPr>
            <p:nvPr/>
          </p:nvSpPr>
          <p:spPr bwMode="auto">
            <a:xfrm>
              <a:off x="2176" y="1238"/>
              <a:ext cx="3" cy="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 name="Freeform 87"/>
            <p:cNvSpPr>
              <a:spLocks/>
            </p:cNvSpPr>
            <p:nvPr/>
          </p:nvSpPr>
          <p:spPr bwMode="auto">
            <a:xfrm>
              <a:off x="2006" y="920"/>
              <a:ext cx="345" cy="318"/>
            </a:xfrm>
            <a:custGeom>
              <a:avLst/>
              <a:gdLst>
                <a:gd name="T0" fmla="*/ 343 w 318"/>
                <a:gd name="T1" fmla="*/ 159 h 318"/>
                <a:gd name="T2" fmla="*/ 343 w 318"/>
                <a:gd name="T3" fmla="*/ 186 h 318"/>
                <a:gd name="T4" fmla="*/ 337 w 318"/>
                <a:gd name="T5" fmla="*/ 209 h 318"/>
                <a:gd name="T6" fmla="*/ 325 w 318"/>
                <a:gd name="T7" fmla="*/ 233 h 318"/>
                <a:gd name="T8" fmla="*/ 311 w 318"/>
                <a:gd name="T9" fmla="*/ 254 h 318"/>
                <a:gd name="T10" fmla="*/ 294 w 318"/>
                <a:gd name="T11" fmla="*/ 273 h 318"/>
                <a:gd name="T12" fmla="*/ 273 w 318"/>
                <a:gd name="T13" fmla="*/ 289 h 318"/>
                <a:gd name="T14" fmla="*/ 251 w 318"/>
                <a:gd name="T15" fmla="*/ 302 h 318"/>
                <a:gd name="T16" fmla="*/ 228 w 318"/>
                <a:gd name="T17" fmla="*/ 310 h 318"/>
                <a:gd name="T18" fmla="*/ 199 w 318"/>
                <a:gd name="T19" fmla="*/ 318 h 318"/>
                <a:gd name="T20" fmla="*/ 173 w 318"/>
                <a:gd name="T21" fmla="*/ 318 h 318"/>
                <a:gd name="T22" fmla="*/ 144 w 318"/>
                <a:gd name="T23" fmla="*/ 318 h 318"/>
                <a:gd name="T24" fmla="*/ 118 w 318"/>
                <a:gd name="T25" fmla="*/ 310 h 318"/>
                <a:gd name="T26" fmla="*/ 92 w 318"/>
                <a:gd name="T27" fmla="*/ 302 h 318"/>
                <a:gd name="T28" fmla="*/ 69 w 318"/>
                <a:gd name="T29" fmla="*/ 289 h 318"/>
                <a:gd name="T30" fmla="*/ 49 w 318"/>
                <a:gd name="T31" fmla="*/ 273 h 318"/>
                <a:gd name="T32" fmla="*/ 33 w 318"/>
                <a:gd name="T33" fmla="*/ 254 h 318"/>
                <a:gd name="T34" fmla="*/ 17 w 318"/>
                <a:gd name="T35" fmla="*/ 233 h 318"/>
                <a:gd name="T36" fmla="*/ 9 w 318"/>
                <a:gd name="T37" fmla="*/ 209 h 318"/>
                <a:gd name="T38" fmla="*/ 0 w 318"/>
                <a:gd name="T39" fmla="*/ 186 h 318"/>
                <a:gd name="T40" fmla="*/ 0 w 318"/>
                <a:gd name="T41" fmla="*/ 159 h 318"/>
                <a:gd name="T42" fmla="*/ 0 w 318"/>
                <a:gd name="T43" fmla="*/ 135 h 318"/>
                <a:gd name="T44" fmla="*/ 9 w 318"/>
                <a:gd name="T45" fmla="*/ 109 h 318"/>
                <a:gd name="T46" fmla="*/ 17 w 318"/>
                <a:gd name="T47" fmla="*/ 87 h 318"/>
                <a:gd name="T48" fmla="*/ 33 w 318"/>
                <a:gd name="T49" fmla="*/ 66 h 318"/>
                <a:gd name="T50" fmla="*/ 49 w 318"/>
                <a:gd name="T51" fmla="*/ 48 h 318"/>
                <a:gd name="T52" fmla="*/ 69 w 318"/>
                <a:gd name="T53" fmla="*/ 32 h 318"/>
                <a:gd name="T54" fmla="*/ 92 w 318"/>
                <a:gd name="T55" fmla="*/ 19 h 318"/>
                <a:gd name="T56" fmla="*/ 118 w 318"/>
                <a:gd name="T57" fmla="*/ 8 h 318"/>
                <a:gd name="T58" fmla="*/ 144 w 318"/>
                <a:gd name="T59" fmla="*/ 3 h 318"/>
                <a:gd name="T60" fmla="*/ 173 w 318"/>
                <a:gd name="T61" fmla="*/ 0 h 318"/>
                <a:gd name="T62" fmla="*/ 199 w 318"/>
                <a:gd name="T63" fmla="*/ 3 h 318"/>
                <a:gd name="T64" fmla="*/ 228 w 318"/>
                <a:gd name="T65" fmla="*/ 8 h 318"/>
                <a:gd name="T66" fmla="*/ 251 w 318"/>
                <a:gd name="T67" fmla="*/ 19 h 318"/>
                <a:gd name="T68" fmla="*/ 273 w 318"/>
                <a:gd name="T69" fmla="*/ 32 h 318"/>
                <a:gd name="T70" fmla="*/ 294 w 318"/>
                <a:gd name="T71" fmla="*/ 48 h 318"/>
                <a:gd name="T72" fmla="*/ 311 w 318"/>
                <a:gd name="T73" fmla="*/ 66 h 318"/>
                <a:gd name="T74" fmla="*/ 325 w 318"/>
                <a:gd name="T75" fmla="*/ 87 h 318"/>
                <a:gd name="T76" fmla="*/ 337 w 318"/>
                <a:gd name="T77" fmla="*/ 109 h 318"/>
                <a:gd name="T78" fmla="*/ 343 w 318"/>
                <a:gd name="T79" fmla="*/ 135 h 318"/>
                <a:gd name="T80" fmla="*/ 345 w 318"/>
                <a:gd name="T81" fmla="*/ 159 h 318"/>
                <a:gd name="T82" fmla="*/ 343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86"/>
                  </a:lnTo>
                  <a:lnTo>
                    <a:pt x="311" y="209"/>
                  </a:lnTo>
                  <a:lnTo>
                    <a:pt x="300" y="233"/>
                  </a:lnTo>
                  <a:lnTo>
                    <a:pt x="287" y="254"/>
                  </a:lnTo>
                  <a:lnTo>
                    <a:pt x="271" y="273"/>
                  </a:lnTo>
                  <a:lnTo>
                    <a:pt x="252" y="289"/>
                  </a:lnTo>
                  <a:lnTo>
                    <a:pt x="231" y="302"/>
                  </a:lnTo>
                  <a:lnTo>
                    <a:pt x="210" y="310"/>
                  </a:lnTo>
                  <a:lnTo>
                    <a:pt x="183" y="318"/>
                  </a:lnTo>
                  <a:lnTo>
                    <a:pt x="159" y="318"/>
                  </a:lnTo>
                  <a:lnTo>
                    <a:pt x="133" y="318"/>
                  </a:lnTo>
                  <a:lnTo>
                    <a:pt x="109" y="310"/>
                  </a:lnTo>
                  <a:lnTo>
                    <a:pt x="85" y="302"/>
                  </a:lnTo>
                  <a:lnTo>
                    <a:pt x="64" y="289"/>
                  </a:lnTo>
                  <a:lnTo>
                    <a:pt x="45" y="273"/>
                  </a:lnTo>
                  <a:lnTo>
                    <a:pt x="30" y="254"/>
                  </a:lnTo>
                  <a:lnTo>
                    <a:pt x="16" y="233"/>
                  </a:lnTo>
                  <a:lnTo>
                    <a:pt x="8" y="209"/>
                  </a:lnTo>
                  <a:lnTo>
                    <a:pt x="0" y="186"/>
                  </a:lnTo>
                  <a:lnTo>
                    <a:pt x="0" y="159"/>
                  </a:lnTo>
                  <a:lnTo>
                    <a:pt x="0" y="135"/>
                  </a:lnTo>
                  <a:lnTo>
                    <a:pt x="8" y="109"/>
                  </a:lnTo>
                  <a:lnTo>
                    <a:pt x="16" y="87"/>
                  </a:lnTo>
                  <a:lnTo>
                    <a:pt x="30" y="66"/>
                  </a:lnTo>
                  <a:lnTo>
                    <a:pt x="45" y="48"/>
                  </a:lnTo>
                  <a:lnTo>
                    <a:pt x="64" y="32"/>
                  </a:lnTo>
                  <a:lnTo>
                    <a:pt x="85" y="19"/>
                  </a:lnTo>
                  <a:lnTo>
                    <a:pt x="109" y="8"/>
                  </a:lnTo>
                  <a:lnTo>
                    <a:pt x="133" y="3"/>
                  </a:lnTo>
                  <a:lnTo>
                    <a:pt x="159" y="0"/>
                  </a:lnTo>
                  <a:lnTo>
                    <a:pt x="183" y="3"/>
                  </a:lnTo>
                  <a:lnTo>
                    <a:pt x="210" y="8"/>
                  </a:lnTo>
                  <a:lnTo>
                    <a:pt x="231" y="19"/>
                  </a:lnTo>
                  <a:lnTo>
                    <a:pt x="252" y="32"/>
                  </a:lnTo>
                  <a:lnTo>
                    <a:pt x="271" y="48"/>
                  </a:lnTo>
                  <a:lnTo>
                    <a:pt x="287" y="66"/>
                  </a:lnTo>
                  <a:lnTo>
                    <a:pt x="300" y="87"/>
                  </a:lnTo>
                  <a:lnTo>
                    <a:pt x="311" y="109"/>
                  </a:lnTo>
                  <a:lnTo>
                    <a:pt x="316" y="135"/>
                  </a:lnTo>
                  <a:lnTo>
                    <a:pt x="318" y="159"/>
                  </a:lnTo>
                  <a:lnTo>
                    <a:pt x="316"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2" name="Freeform 88"/>
            <p:cNvSpPr>
              <a:spLocks/>
            </p:cNvSpPr>
            <p:nvPr/>
          </p:nvSpPr>
          <p:spPr bwMode="auto">
            <a:xfrm>
              <a:off x="2006" y="920"/>
              <a:ext cx="345" cy="318"/>
            </a:xfrm>
            <a:custGeom>
              <a:avLst/>
              <a:gdLst>
                <a:gd name="T0" fmla="*/ 343 w 318"/>
                <a:gd name="T1" fmla="*/ 159 h 318"/>
                <a:gd name="T2" fmla="*/ 343 w 318"/>
                <a:gd name="T3" fmla="*/ 135 h 318"/>
                <a:gd name="T4" fmla="*/ 337 w 318"/>
                <a:gd name="T5" fmla="*/ 109 h 318"/>
                <a:gd name="T6" fmla="*/ 325 w 318"/>
                <a:gd name="T7" fmla="*/ 87 h 318"/>
                <a:gd name="T8" fmla="*/ 311 w 318"/>
                <a:gd name="T9" fmla="*/ 66 h 318"/>
                <a:gd name="T10" fmla="*/ 294 w 318"/>
                <a:gd name="T11" fmla="*/ 48 h 318"/>
                <a:gd name="T12" fmla="*/ 273 w 318"/>
                <a:gd name="T13" fmla="*/ 32 h 318"/>
                <a:gd name="T14" fmla="*/ 251 w 318"/>
                <a:gd name="T15" fmla="*/ 19 h 318"/>
                <a:gd name="T16" fmla="*/ 228 w 318"/>
                <a:gd name="T17" fmla="*/ 8 h 318"/>
                <a:gd name="T18" fmla="*/ 199 w 318"/>
                <a:gd name="T19" fmla="*/ 3 h 318"/>
                <a:gd name="T20" fmla="*/ 173 w 318"/>
                <a:gd name="T21" fmla="*/ 0 h 318"/>
                <a:gd name="T22" fmla="*/ 144 w 318"/>
                <a:gd name="T23" fmla="*/ 3 h 318"/>
                <a:gd name="T24" fmla="*/ 118 w 318"/>
                <a:gd name="T25" fmla="*/ 8 h 318"/>
                <a:gd name="T26" fmla="*/ 92 w 318"/>
                <a:gd name="T27" fmla="*/ 19 h 318"/>
                <a:gd name="T28" fmla="*/ 69 w 318"/>
                <a:gd name="T29" fmla="*/ 32 h 318"/>
                <a:gd name="T30" fmla="*/ 49 w 318"/>
                <a:gd name="T31" fmla="*/ 48 h 318"/>
                <a:gd name="T32" fmla="*/ 33 w 318"/>
                <a:gd name="T33" fmla="*/ 66 h 318"/>
                <a:gd name="T34" fmla="*/ 17 w 318"/>
                <a:gd name="T35" fmla="*/ 87 h 318"/>
                <a:gd name="T36" fmla="*/ 9 w 318"/>
                <a:gd name="T37" fmla="*/ 109 h 318"/>
                <a:gd name="T38" fmla="*/ 0 w 318"/>
                <a:gd name="T39" fmla="*/ 135 h 318"/>
                <a:gd name="T40" fmla="*/ 0 w 318"/>
                <a:gd name="T41" fmla="*/ 159 h 318"/>
                <a:gd name="T42" fmla="*/ 0 w 318"/>
                <a:gd name="T43" fmla="*/ 186 h 318"/>
                <a:gd name="T44" fmla="*/ 9 w 318"/>
                <a:gd name="T45" fmla="*/ 209 h 318"/>
                <a:gd name="T46" fmla="*/ 17 w 318"/>
                <a:gd name="T47" fmla="*/ 233 h 318"/>
                <a:gd name="T48" fmla="*/ 33 w 318"/>
                <a:gd name="T49" fmla="*/ 254 h 318"/>
                <a:gd name="T50" fmla="*/ 49 w 318"/>
                <a:gd name="T51" fmla="*/ 273 h 318"/>
                <a:gd name="T52" fmla="*/ 69 w 318"/>
                <a:gd name="T53" fmla="*/ 289 h 318"/>
                <a:gd name="T54" fmla="*/ 92 w 318"/>
                <a:gd name="T55" fmla="*/ 302 h 318"/>
                <a:gd name="T56" fmla="*/ 118 w 318"/>
                <a:gd name="T57" fmla="*/ 310 h 318"/>
                <a:gd name="T58" fmla="*/ 144 w 318"/>
                <a:gd name="T59" fmla="*/ 318 h 318"/>
                <a:gd name="T60" fmla="*/ 173 w 318"/>
                <a:gd name="T61" fmla="*/ 318 h 318"/>
                <a:gd name="T62" fmla="*/ 199 w 318"/>
                <a:gd name="T63" fmla="*/ 318 h 318"/>
                <a:gd name="T64" fmla="*/ 228 w 318"/>
                <a:gd name="T65" fmla="*/ 310 h 318"/>
                <a:gd name="T66" fmla="*/ 251 w 318"/>
                <a:gd name="T67" fmla="*/ 302 h 318"/>
                <a:gd name="T68" fmla="*/ 273 w 318"/>
                <a:gd name="T69" fmla="*/ 289 h 318"/>
                <a:gd name="T70" fmla="*/ 294 w 318"/>
                <a:gd name="T71" fmla="*/ 273 h 318"/>
                <a:gd name="T72" fmla="*/ 311 w 318"/>
                <a:gd name="T73" fmla="*/ 254 h 318"/>
                <a:gd name="T74" fmla="*/ 325 w 318"/>
                <a:gd name="T75" fmla="*/ 233 h 318"/>
                <a:gd name="T76" fmla="*/ 337 w 318"/>
                <a:gd name="T77" fmla="*/ 209 h 318"/>
                <a:gd name="T78" fmla="*/ 343 w 318"/>
                <a:gd name="T79" fmla="*/ 186 h 318"/>
                <a:gd name="T80" fmla="*/ 345 w 318"/>
                <a:gd name="T81" fmla="*/ 159 h 318"/>
                <a:gd name="T82" fmla="*/ 345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35"/>
                  </a:lnTo>
                  <a:lnTo>
                    <a:pt x="311" y="109"/>
                  </a:lnTo>
                  <a:lnTo>
                    <a:pt x="300" y="87"/>
                  </a:lnTo>
                  <a:lnTo>
                    <a:pt x="287" y="66"/>
                  </a:lnTo>
                  <a:lnTo>
                    <a:pt x="271" y="48"/>
                  </a:lnTo>
                  <a:lnTo>
                    <a:pt x="252" y="32"/>
                  </a:lnTo>
                  <a:lnTo>
                    <a:pt x="231" y="19"/>
                  </a:lnTo>
                  <a:lnTo>
                    <a:pt x="210" y="8"/>
                  </a:lnTo>
                  <a:lnTo>
                    <a:pt x="183" y="3"/>
                  </a:lnTo>
                  <a:lnTo>
                    <a:pt x="159" y="0"/>
                  </a:lnTo>
                  <a:lnTo>
                    <a:pt x="133" y="3"/>
                  </a:lnTo>
                  <a:lnTo>
                    <a:pt x="109" y="8"/>
                  </a:lnTo>
                  <a:lnTo>
                    <a:pt x="85" y="19"/>
                  </a:lnTo>
                  <a:lnTo>
                    <a:pt x="64" y="32"/>
                  </a:lnTo>
                  <a:lnTo>
                    <a:pt x="45" y="48"/>
                  </a:lnTo>
                  <a:lnTo>
                    <a:pt x="30" y="66"/>
                  </a:lnTo>
                  <a:lnTo>
                    <a:pt x="16" y="87"/>
                  </a:lnTo>
                  <a:lnTo>
                    <a:pt x="8" y="109"/>
                  </a:lnTo>
                  <a:lnTo>
                    <a:pt x="0" y="135"/>
                  </a:lnTo>
                  <a:lnTo>
                    <a:pt x="0" y="159"/>
                  </a:lnTo>
                  <a:lnTo>
                    <a:pt x="0" y="186"/>
                  </a:lnTo>
                  <a:lnTo>
                    <a:pt x="8" y="209"/>
                  </a:lnTo>
                  <a:lnTo>
                    <a:pt x="16" y="233"/>
                  </a:lnTo>
                  <a:lnTo>
                    <a:pt x="30" y="254"/>
                  </a:lnTo>
                  <a:lnTo>
                    <a:pt x="45" y="273"/>
                  </a:lnTo>
                  <a:lnTo>
                    <a:pt x="64" y="289"/>
                  </a:lnTo>
                  <a:lnTo>
                    <a:pt x="85" y="302"/>
                  </a:lnTo>
                  <a:lnTo>
                    <a:pt x="109" y="310"/>
                  </a:lnTo>
                  <a:lnTo>
                    <a:pt x="133" y="318"/>
                  </a:lnTo>
                  <a:lnTo>
                    <a:pt x="159" y="318"/>
                  </a:lnTo>
                  <a:lnTo>
                    <a:pt x="183" y="318"/>
                  </a:lnTo>
                  <a:lnTo>
                    <a:pt x="210" y="310"/>
                  </a:lnTo>
                  <a:lnTo>
                    <a:pt x="231" y="302"/>
                  </a:lnTo>
                  <a:lnTo>
                    <a:pt x="252" y="289"/>
                  </a:lnTo>
                  <a:lnTo>
                    <a:pt x="271" y="273"/>
                  </a:lnTo>
                  <a:lnTo>
                    <a:pt x="287" y="254"/>
                  </a:lnTo>
                  <a:lnTo>
                    <a:pt x="300" y="233"/>
                  </a:lnTo>
                  <a:lnTo>
                    <a:pt x="311"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3" name="Freeform 89"/>
            <p:cNvSpPr>
              <a:spLocks/>
            </p:cNvSpPr>
            <p:nvPr/>
          </p:nvSpPr>
          <p:spPr bwMode="auto">
            <a:xfrm>
              <a:off x="2004" y="1318"/>
              <a:ext cx="347" cy="201"/>
            </a:xfrm>
            <a:custGeom>
              <a:avLst/>
              <a:gdLst>
                <a:gd name="T0" fmla="*/ 0 w 320"/>
                <a:gd name="T1" fmla="*/ 0 h 201"/>
                <a:gd name="T2" fmla="*/ 347 w 320"/>
                <a:gd name="T3" fmla="*/ 2 h 201"/>
                <a:gd name="T4" fmla="*/ 347 w 320"/>
                <a:gd name="T5" fmla="*/ 201 h 201"/>
                <a:gd name="T6" fmla="*/ 2 w 320"/>
                <a:gd name="T7" fmla="*/ 201 h 201"/>
                <a:gd name="T8" fmla="*/ 2 w 320"/>
                <a:gd name="T9" fmla="*/ 2 h 201"/>
                <a:gd name="T10" fmla="*/ 0 w 320"/>
                <a:gd name="T11" fmla="*/ 0 h 201"/>
                <a:gd name="T12" fmla="*/ 0 60000 65536"/>
                <a:gd name="T13" fmla="*/ 0 60000 65536"/>
                <a:gd name="T14" fmla="*/ 0 60000 65536"/>
                <a:gd name="T15" fmla="*/ 0 60000 65536"/>
                <a:gd name="T16" fmla="*/ 0 60000 65536"/>
                <a:gd name="T17" fmla="*/ 0 60000 65536"/>
                <a:gd name="T18" fmla="*/ 0 w 320"/>
                <a:gd name="T19" fmla="*/ 0 h 201"/>
                <a:gd name="T20" fmla="*/ 320 w 32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320" h="201">
                  <a:moveTo>
                    <a:pt x="0" y="0"/>
                  </a:moveTo>
                  <a:lnTo>
                    <a:pt x="320" y="2"/>
                  </a:lnTo>
                  <a:lnTo>
                    <a:pt x="320" y="201"/>
                  </a:lnTo>
                  <a:lnTo>
                    <a:pt x="2" y="201"/>
                  </a:lnTo>
                  <a:lnTo>
                    <a:pt x="2" y="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 name="Freeform 90"/>
            <p:cNvSpPr>
              <a:spLocks/>
            </p:cNvSpPr>
            <p:nvPr/>
          </p:nvSpPr>
          <p:spPr bwMode="auto">
            <a:xfrm>
              <a:off x="2004" y="1318"/>
              <a:ext cx="347" cy="201"/>
            </a:xfrm>
            <a:custGeom>
              <a:avLst/>
              <a:gdLst>
                <a:gd name="T0" fmla="*/ 0 w 320"/>
                <a:gd name="T1" fmla="*/ 0 h 201"/>
                <a:gd name="T2" fmla="*/ 347 w 320"/>
                <a:gd name="T3" fmla="*/ 2 h 201"/>
                <a:gd name="T4" fmla="*/ 347 w 320"/>
                <a:gd name="T5" fmla="*/ 201 h 201"/>
                <a:gd name="T6" fmla="*/ 2 w 320"/>
                <a:gd name="T7" fmla="*/ 201 h 201"/>
                <a:gd name="T8" fmla="*/ 2 w 320"/>
                <a:gd name="T9" fmla="*/ 2 h 201"/>
                <a:gd name="T10" fmla="*/ 0 60000 65536"/>
                <a:gd name="T11" fmla="*/ 0 60000 65536"/>
                <a:gd name="T12" fmla="*/ 0 60000 65536"/>
                <a:gd name="T13" fmla="*/ 0 60000 65536"/>
                <a:gd name="T14" fmla="*/ 0 60000 65536"/>
                <a:gd name="T15" fmla="*/ 0 w 320"/>
                <a:gd name="T16" fmla="*/ 0 h 201"/>
                <a:gd name="T17" fmla="*/ 320 w 320"/>
                <a:gd name="T18" fmla="*/ 201 h 201"/>
              </a:gdLst>
              <a:ahLst/>
              <a:cxnLst>
                <a:cxn ang="T10">
                  <a:pos x="T0" y="T1"/>
                </a:cxn>
                <a:cxn ang="T11">
                  <a:pos x="T2" y="T3"/>
                </a:cxn>
                <a:cxn ang="T12">
                  <a:pos x="T4" y="T5"/>
                </a:cxn>
                <a:cxn ang="T13">
                  <a:pos x="T6" y="T7"/>
                </a:cxn>
                <a:cxn ang="T14">
                  <a:pos x="T8" y="T9"/>
                </a:cxn>
              </a:cxnLst>
              <a:rect l="T15" t="T16" r="T17" b="T18"/>
              <a:pathLst>
                <a:path w="320" h="201">
                  <a:moveTo>
                    <a:pt x="0" y="0"/>
                  </a:moveTo>
                  <a:lnTo>
                    <a:pt x="320" y="2"/>
                  </a:lnTo>
                  <a:lnTo>
                    <a:pt x="320" y="201"/>
                  </a:lnTo>
                  <a:lnTo>
                    <a:pt x="2" y="201"/>
                  </a:lnTo>
                  <a:lnTo>
                    <a:pt x="2" y="2"/>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 name="Rectangle 91"/>
            <p:cNvSpPr>
              <a:spLocks noChangeArrowheads="1"/>
            </p:cNvSpPr>
            <p:nvPr/>
          </p:nvSpPr>
          <p:spPr bwMode="auto">
            <a:xfrm>
              <a:off x="2150" y="1365"/>
              <a:ext cx="5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a:t>
              </a:r>
              <a:endParaRPr lang="en-US" altLang="zh-CN" sz="1400">
                <a:ea typeface="宋体" panose="02010600030101010101" pitchFamily="2" charset="-122"/>
              </a:endParaRPr>
            </a:p>
          </p:txBody>
        </p:sp>
        <p:sp>
          <p:nvSpPr>
            <p:cNvPr id="206" name="Rectangle 92"/>
            <p:cNvSpPr>
              <a:spLocks noChangeArrowheads="1"/>
            </p:cNvSpPr>
            <p:nvPr/>
          </p:nvSpPr>
          <p:spPr bwMode="auto">
            <a:xfrm>
              <a:off x="2130" y="1013"/>
              <a:ext cx="5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207" name="Rectangle 93"/>
            <p:cNvSpPr>
              <a:spLocks noChangeArrowheads="1"/>
            </p:cNvSpPr>
            <p:nvPr/>
          </p:nvSpPr>
          <p:spPr bwMode="auto">
            <a:xfrm>
              <a:off x="2179" y="1047"/>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n</a:t>
              </a:r>
              <a:endParaRPr lang="en-US" altLang="zh-CN" sz="1400">
                <a:ea typeface="宋体" panose="02010600030101010101" pitchFamily="2" charset="-122"/>
              </a:endParaRPr>
            </a:p>
          </p:txBody>
        </p:sp>
        <p:sp>
          <p:nvSpPr>
            <p:cNvPr id="208" name="Freeform 94"/>
            <p:cNvSpPr>
              <a:spLocks/>
            </p:cNvSpPr>
            <p:nvPr/>
          </p:nvSpPr>
          <p:spPr bwMode="auto">
            <a:xfrm>
              <a:off x="1232" y="1389"/>
              <a:ext cx="49" cy="45"/>
            </a:xfrm>
            <a:custGeom>
              <a:avLst/>
              <a:gdLst>
                <a:gd name="T0" fmla="*/ 46 w 45"/>
                <a:gd name="T1" fmla="*/ 21 h 45"/>
                <a:gd name="T2" fmla="*/ 46 w 45"/>
                <a:gd name="T3" fmla="*/ 27 h 45"/>
                <a:gd name="T4" fmla="*/ 46 w 45"/>
                <a:gd name="T5" fmla="*/ 29 h 45"/>
                <a:gd name="T6" fmla="*/ 46 w 45"/>
                <a:gd name="T7" fmla="*/ 35 h 45"/>
                <a:gd name="T8" fmla="*/ 42 w 45"/>
                <a:gd name="T9" fmla="*/ 37 h 45"/>
                <a:gd name="T10" fmla="*/ 40 w 45"/>
                <a:gd name="T11" fmla="*/ 40 h 45"/>
                <a:gd name="T12" fmla="*/ 37 w 45"/>
                <a:gd name="T13" fmla="*/ 40 h 45"/>
                <a:gd name="T14" fmla="*/ 34 w 45"/>
                <a:gd name="T15" fmla="*/ 43 h 45"/>
                <a:gd name="T16" fmla="*/ 32 w 45"/>
                <a:gd name="T17" fmla="*/ 45 h 45"/>
                <a:gd name="T18" fmla="*/ 28 w 45"/>
                <a:gd name="T19" fmla="*/ 45 h 45"/>
                <a:gd name="T20" fmla="*/ 23 w 45"/>
                <a:gd name="T21" fmla="*/ 45 h 45"/>
                <a:gd name="T22" fmla="*/ 20 w 45"/>
                <a:gd name="T23" fmla="*/ 45 h 45"/>
                <a:gd name="T24" fmla="*/ 14 w 45"/>
                <a:gd name="T25" fmla="*/ 45 h 45"/>
                <a:gd name="T26" fmla="*/ 11 w 45"/>
                <a:gd name="T27" fmla="*/ 43 h 45"/>
                <a:gd name="T28" fmla="*/ 9 w 45"/>
                <a:gd name="T29" fmla="*/ 40 h 45"/>
                <a:gd name="T30" fmla="*/ 5 w 45"/>
                <a:gd name="T31" fmla="*/ 40 h 45"/>
                <a:gd name="T32" fmla="*/ 2 w 45"/>
                <a:gd name="T33" fmla="*/ 37 h 45"/>
                <a:gd name="T34" fmla="*/ 2 w 45"/>
                <a:gd name="T35" fmla="*/ 35 h 45"/>
                <a:gd name="T36" fmla="*/ 0 w 45"/>
                <a:gd name="T37" fmla="*/ 29 h 45"/>
                <a:gd name="T38" fmla="*/ 0 w 45"/>
                <a:gd name="T39" fmla="*/ 27 h 45"/>
                <a:gd name="T40" fmla="*/ 0 w 45"/>
                <a:gd name="T41" fmla="*/ 24 h 45"/>
                <a:gd name="T42" fmla="*/ 0 w 45"/>
                <a:gd name="T43" fmla="*/ 19 h 45"/>
                <a:gd name="T44" fmla="*/ 0 w 45"/>
                <a:gd name="T45" fmla="*/ 16 h 45"/>
                <a:gd name="T46" fmla="*/ 2 w 45"/>
                <a:gd name="T47" fmla="*/ 13 h 45"/>
                <a:gd name="T48" fmla="*/ 2 w 45"/>
                <a:gd name="T49" fmla="*/ 11 h 45"/>
                <a:gd name="T50" fmla="*/ 5 w 45"/>
                <a:gd name="T51" fmla="*/ 8 h 45"/>
                <a:gd name="T52" fmla="*/ 9 w 45"/>
                <a:gd name="T53" fmla="*/ 5 h 45"/>
                <a:gd name="T54" fmla="*/ 11 w 45"/>
                <a:gd name="T55" fmla="*/ 3 h 45"/>
                <a:gd name="T56" fmla="*/ 14 w 45"/>
                <a:gd name="T57" fmla="*/ 3 h 45"/>
                <a:gd name="T58" fmla="*/ 20 w 45"/>
                <a:gd name="T59" fmla="*/ 0 h 45"/>
                <a:gd name="T60" fmla="*/ 23 w 45"/>
                <a:gd name="T61" fmla="*/ 0 h 45"/>
                <a:gd name="T62" fmla="*/ 28 w 45"/>
                <a:gd name="T63" fmla="*/ 0 h 45"/>
                <a:gd name="T64" fmla="*/ 32 w 45"/>
                <a:gd name="T65" fmla="*/ 3 h 45"/>
                <a:gd name="T66" fmla="*/ 34 w 45"/>
                <a:gd name="T67" fmla="*/ 3 h 45"/>
                <a:gd name="T68" fmla="*/ 37 w 45"/>
                <a:gd name="T69" fmla="*/ 5 h 45"/>
                <a:gd name="T70" fmla="*/ 40 w 45"/>
                <a:gd name="T71" fmla="*/ 8 h 45"/>
                <a:gd name="T72" fmla="*/ 42 w 45"/>
                <a:gd name="T73" fmla="*/ 11 h 45"/>
                <a:gd name="T74" fmla="*/ 46 w 45"/>
                <a:gd name="T75" fmla="*/ 13 h 45"/>
                <a:gd name="T76" fmla="*/ 46 w 45"/>
                <a:gd name="T77" fmla="*/ 16 h 45"/>
                <a:gd name="T78" fmla="*/ 46 w 45"/>
                <a:gd name="T79" fmla="*/ 19 h 45"/>
                <a:gd name="T80" fmla="*/ 49 w 45"/>
                <a:gd name="T81" fmla="*/ 24 h 45"/>
                <a:gd name="T82" fmla="*/ 46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27"/>
                  </a:lnTo>
                  <a:lnTo>
                    <a:pt x="42" y="29"/>
                  </a:lnTo>
                  <a:lnTo>
                    <a:pt x="42" y="35"/>
                  </a:lnTo>
                  <a:lnTo>
                    <a:pt x="39" y="37"/>
                  </a:lnTo>
                  <a:lnTo>
                    <a:pt x="37" y="40"/>
                  </a:lnTo>
                  <a:lnTo>
                    <a:pt x="34" y="40"/>
                  </a:lnTo>
                  <a:lnTo>
                    <a:pt x="31" y="43"/>
                  </a:lnTo>
                  <a:lnTo>
                    <a:pt x="29" y="45"/>
                  </a:lnTo>
                  <a:lnTo>
                    <a:pt x="26" y="45"/>
                  </a:lnTo>
                  <a:lnTo>
                    <a:pt x="21" y="45"/>
                  </a:lnTo>
                  <a:lnTo>
                    <a:pt x="18" y="45"/>
                  </a:lnTo>
                  <a:lnTo>
                    <a:pt x="13" y="45"/>
                  </a:lnTo>
                  <a:lnTo>
                    <a:pt x="10" y="43"/>
                  </a:lnTo>
                  <a:lnTo>
                    <a:pt x="8" y="40"/>
                  </a:lnTo>
                  <a:lnTo>
                    <a:pt x="5" y="40"/>
                  </a:lnTo>
                  <a:lnTo>
                    <a:pt x="2" y="37"/>
                  </a:lnTo>
                  <a:lnTo>
                    <a:pt x="2" y="35"/>
                  </a:lnTo>
                  <a:lnTo>
                    <a:pt x="0" y="29"/>
                  </a:lnTo>
                  <a:lnTo>
                    <a:pt x="0" y="27"/>
                  </a:lnTo>
                  <a:lnTo>
                    <a:pt x="0" y="24"/>
                  </a:lnTo>
                  <a:lnTo>
                    <a:pt x="0" y="19"/>
                  </a:lnTo>
                  <a:lnTo>
                    <a:pt x="0" y="16"/>
                  </a:lnTo>
                  <a:lnTo>
                    <a:pt x="2" y="13"/>
                  </a:lnTo>
                  <a:lnTo>
                    <a:pt x="2" y="11"/>
                  </a:lnTo>
                  <a:lnTo>
                    <a:pt x="5" y="8"/>
                  </a:lnTo>
                  <a:lnTo>
                    <a:pt x="8" y="5"/>
                  </a:lnTo>
                  <a:lnTo>
                    <a:pt x="10" y="3"/>
                  </a:lnTo>
                  <a:lnTo>
                    <a:pt x="13" y="3"/>
                  </a:lnTo>
                  <a:lnTo>
                    <a:pt x="18" y="0"/>
                  </a:lnTo>
                  <a:lnTo>
                    <a:pt x="21" y="0"/>
                  </a:lnTo>
                  <a:lnTo>
                    <a:pt x="26" y="0"/>
                  </a:lnTo>
                  <a:lnTo>
                    <a:pt x="29" y="3"/>
                  </a:lnTo>
                  <a:lnTo>
                    <a:pt x="31" y="3"/>
                  </a:lnTo>
                  <a:lnTo>
                    <a:pt x="34" y="5"/>
                  </a:lnTo>
                  <a:lnTo>
                    <a:pt x="37" y="8"/>
                  </a:lnTo>
                  <a:lnTo>
                    <a:pt x="39" y="11"/>
                  </a:lnTo>
                  <a:lnTo>
                    <a:pt x="42" y="13"/>
                  </a:lnTo>
                  <a:lnTo>
                    <a:pt x="42" y="16"/>
                  </a:lnTo>
                  <a:lnTo>
                    <a:pt x="42" y="19"/>
                  </a:lnTo>
                  <a:lnTo>
                    <a:pt x="45" y="24"/>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9" name="Freeform 95"/>
            <p:cNvSpPr>
              <a:spLocks/>
            </p:cNvSpPr>
            <p:nvPr/>
          </p:nvSpPr>
          <p:spPr bwMode="auto">
            <a:xfrm>
              <a:off x="1232" y="1389"/>
              <a:ext cx="49" cy="45"/>
            </a:xfrm>
            <a:custGeom>
              <a:avLst/>
              <a:gdLst>
                <a:gd name="T0" fmla="*/ 46 w 45"/>
                <a:gd name="T1" fmla="*/ 21 h 45"/>
                <a:gd name="T2" fmla="*/ 46 w 45"/>
                <a:gd name="T3" fmla="*/ 19 h 45"/>
                <a:gd name="T4" fmla="*/ 46 w 45"/>
                <a:gd name="T5" fmla="*/ 16 h 45"/>
                <a:gd name="T6" fmla="*/ 46 w 45"/>
                <a:gd name="T7" fmla="*/ 13 h 45"/>
                <a:gd name="T8" fmla="*/ 42 w 45"/>
                <a:gd name="T9" fmla="*/ 11 h 45"/>
                <a:gd name="T10" fmla="*/ 40 w 45"/>
                <a:gd name="T11" fmla="*/ 8 h 45"/>
                <a:gd name="T12" fmla="*/ 37 w 45"/>
                <a:gd name="T13" fmla="*/ 5 h 45"/>
                <a:gd name="T14" fmla="*/ 34 w 45"/>
                <a:gd name="T15" fmla="*/ 3 h 45"/>
                <a:gd name="T16" fmla="*/ 32 w 45"/>
                <a:gd name="T17" fmla="*/ 3 h 45"/>
                <a:gd name="T18" fmla="*/ 28 w 45"/>
                <a:gd name="T19" fmla="*/ 0 h 45"/>
                <a:gd name="T20" fmla="*/ 23 w 45"/>
                <a:gd name="T21" fmla="*/ 0 h 45"/>
                <a:gd name="T22" fmla="*/ 20 w 45"/>
                <a:gd name="T23" fmla="*/ 0 h 45"/>
                <a:gd name="T24" fmla="*/ 14 w 45"/>
                <a:gd name="T25" fmla="*/ 3 h 45"/>
                <a:gd name="T26" fmla="*/ 11 w 45"/>
                <a:gd name="T27" fmla="*/ 3 h 45"/>
                <a:gd name="T28" fmla="*/ 9 w 45"/>
                <a:gd name="T29" fmla="*/ 5 h 45"/>
                <a:gd name="T30" fmla="*/ 5 w 45"/>
                <a:gd name="T31" fmla="*/ 8 h 45"/>
                <a:gd name="T32" fmla="*/ 2 w 45"/>
                <a:gd name="T33" fmla="*/ 11 h 45"/>
                <a:gd name="T34" fmla="*/ 2 w 45"/>
                <a:gd name="T35" fmla="*/ 13 h 45"/>
                <a:gd name="T36" fmla="*/ 0 w 45"/>
                <a:gd name="T37" fmla="*/ 16 h 45"/>
                <a:gd name="T38" fmla="*/ 0 w 45"/>
                <a:gd name="T39" fmla="*/ 19 h 45"/>
                <a:gd name="T40" fmla="*/ 0 w 45"/>
                <a:gd name="T41" fmla="*/ 24 h 45"/>
                <a:gd name="T42" fmla="*/ 0 w 45"/>
                <a:gd name="T43" fmla="*/ 27 h 45"/>
                <a:gd name="T44" fmla="*/ 0 w 45"/>
                <a:gd name="T45" fmla="*/ 29 h 45"/>
                <a:gd name="T46" fmla="*/ 2 w 45"/>
                <a:gd name="T47" fmla="*/ 35 h 45"/>
                <a:gd name="T48" fmla="*/ 2 w 45"/>
                <a:gd name="T49" fmla="*/ 37 h 45"/>
                <a:gd name="T50" fmla="*/ 5 w 45"/>
                <a:gd name="T51" fmla="*/ 40 h 45"/>
                <a:gd name="T52" fmla="*/ 9 w 45"/>
                <a:gd name="T53" fmla="*/ 40 h 45"/>
                <a:gd name="T54" fmla="*/ 11 w 45"/>
                <a:gd name="T55" fmla="*/ 43 h 45"/>
                <a:gd name="T56" fmla="*/ 14 w 45"/>
                <a:gd name="T57" fmla="*/ 45 h 45"/>
                <a:gd name="T58" fmla="*/ 20 w 45"/>
                <a:gd name="T59" fmla="*/ 45 h 45"/>
                <a:gd name="T60" fmla="*/ 23 w 45"/>
                <a:gd name="T61" fmla="*/ 45 h 45"/>
                <a:gd name="T62" fmla="*/ 28 w 45"/>
                <a:gd name="T63" fmla="*/ 45 h 45"/>
                <a:gd name="T64" fmla="*/ 32 w 45"/>
                <a:gd name="T65" fmla="*/ 45 h 45"/>
                <a:gd name="T66" fmla="*/ 34 w 45"/>
                <a:gd name="T67" fmla="*/ 43 h 45"/>
                <a:gd name="T68" fmla="*/ 37 w 45"/>
                <a:gd name="T69" fmla="*/ 40 h 45"/>
                <a:gd name="T70" fmla="*/ 40 w 45"/>
                <a:gd name="T71" fmla="*/ 40 h 45"/>
                <a:gd name="T72" fmla="*/ 42 w 45"/>
                <a:gd name="T73" fmla="*/ 37 h 45"/>
                <a:gd name="T74" fmla="*/ 46 w 45"/>
                <a:gd name="T75" fmla="*/ 35 h 45"/>
                <a:gd name="T76" fmla="*/ 46 w 45"/>
                <a:gd name="T77" fmla="*/ 29 h 45"/>
                <a:gd name="T78" fmla="*/ 46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19"/>
                  </a:lnTo>
                  <a:lnTo>
                    <a:pt x="42" y="16"/>
                  </a:lnTo>
                  <a:lnTo>
                    <a:pt x="42" y="13"/>
                  </a:lnTo>
                  <a:lnTo>
                    <a:pt x="39" y="11"/>
                  </a:lnTo>
                  <a:lnTo>
                    <a:pt x="37" y="8"/>
                  </a:lnTo>
                  <a:lnTo>
                    <a:pt x="34" y="5"/>
                  </a:lnTo>
                  <a:lnTo>
                    <a:pt x="31" y="3"/>
                  </a:lnTo>
                  <a:lnTo>
                    <a:pt x="29" y="3"/>
                  </a:lnTo>
                  <a:lnTo>
                    <a:pt x="26" y="0"/>
                  </a:lnTo>
                  <a:lnTo>
                    <a:pt x="21" y="0"/>
                  </a:lnTo>
                  <a:lnTo>
                    <a:pt x="18" y="0"/>
                  </a:lnTo>
                  <a:lnTo>
                    <a:pt x="13" y="3"/>
                  </a:lnTo>
                  <a:lnTo>
                    <a:pt x="10" y="3"/>
                  </a:lnTo>
                  <a:lnTo>
                    <a:pt x="8" y="5"/>
                  </a:lnTo>
                  <a:lnTo>
                    <a:pt x="5" y="8"/>
                  </a:lnTo>
                  <a:lnTo>
                    <a:pt x="2" y="11"/>
                  </a:lnTo>
                  <a:lnTo>
                    <a:pt x="2" y="13"/>
                  </a:lnTo>
                  <a:lnTo>
                    <a:pt x="0" y="16"/>
                  </a:lnTo>
                  <a:lnTo>
                    <a:pt x="0" y="19"/>
                  </a:lnTo>
                  <a:lnTo>
                    <a:pt x="0" y="24"/>
                  </a:lnTo>
                  <a:lnTo>
                    <a:pt x="0" y="27"/>
                  </a:lnTo>
                  <a:lnTo>
                    <a:pt x="0" y="29"/>
                  </a:lnTo>
                  <a:lnTo>
                    <a:pt x="2" y="35"/>
                  </a:lnTo>
                  <a:lnTo>
                    <a:pt x="2" y="37"/>
                  </a:lnTo>
                  <a:lnTo>
                    <a:pt x="5" y="40"/>
                  </a:lnTo>
                  <a:lnTo>
                    <a:pt x="8" y="40"/>
                  </a:lnTo>
                  <a:lnTo>
                    <a:pt x="10" y="43"/>
                  </a:lnTo>
                  <a:lnTo>
                    <a:pt x="13" y="45"/>
                  </a:lnTo>
                  <a:lnTo>
                    <a:pt x="18" y="45"/>
                  </a:lnTo>
                  <a:lnTo>
                    <a:pt x="21" y="45"/>
                  </a:lnTo>
                  <a:lnTo>
                    <a:pt x="26" y="45"/>
                  </a:lnTo>
                  <a:lnTo>
                    <a:pt x="29" y="45"/>
                  </a:lnTo>
                  <a:lnTo>
                    <a:pt x="31" y="43"/>
                  </a:lnTo>
                  <a:lnTo>
                    <a:pt x="34" y="40"/>
                  </a:lnTo>
                  <a:lnTo>
                    <a:pt x="37" y="40"/>
                  </a:lnTo>
                  <a:lnTo>
                    <a:pt x="39" y="37"/>
                  </a:lnTo>
                  <a:lnTo>
                    <a:pt x="42" y="35"/>
                  </a:lnTo>
                  <a:lnTo>
                    <a:pt x="42" y="29"/>
                  </a:lnTo>
                  <a:lnTo>
                    <a:pt x="42"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 name="Freeform 96"/>
            <p:cNvSpPr>
              <a:spLocks/>
            </p:cNvSpPr>
            <p:nvPr/>
          </p:nvSpPr>
          <p:spPr bwMode="auto">
            <a:xfrm>
              <a:off x="1430" y="1389"/>
              <a:ext cx="49" cy="45"/>
            </a:xfrm>
            <a:custGeom>
              <a:avLst/>
              <a:gdLst>
                <a:gd name="T0" fmla="*/ 46 w 45"/>
                <a:gd name="T1" fmla="*/ 21 h 45"/>
                <a:gd name="T2" fmla="*/ 49 w 45"/>
                <a:gd name="T3" fmla="*/ 27 h 45"/>
                <a:gd name="T4" fmla="*/ 46 w 45"/>
                <a:gd name="T5" fmla="*/ 29 h 45"/>
                <a:gd name="T6" fmla="*/ 46 w 45"/>
                <a:gd name="T7" fmla="*/ 35 h 45"/>
                <a:gd name="T8" fmla="*/ 42 w 45"/>
                <a:gd name="T9" fmla="*/ 37 h 45"/>
                <a:gd name="T10" fmla="*/ 40 w 45"/>
                <a:gd name="T11" fmla="*/ 40 h 45"/>
                <a:gd name="T12" fmla="*/ 37 w 45"/>
                <a:gd name="T13" fmla="*/ 40 h 45"/>
                <a:gd name="T14" fmla="*/ 34 w 45"/>
                <a:gd name="T15" fmla="*/ 43 h 45"/>
                <a:gd name="T16" fmla="*/ 32 w 45"/>
                <a:gd name="T17" fmla="*/ 45 h 45"/>
                <a:gd name="T18" fmla="*/ 28 w 45"/>
                <a:gd name="T19" fmla="*/ 45 h 45"/>
                <a:gd name="T20" fmla="*/ 23 w 45"/>
                <a:gd name="T21" fmla="*/ 45 h 45"/>
                <a:gd name="T22" fmla="*/ 20 w 45"/>
                <a:gd name="T23" fmla="*/ 45 h 45"/>
                <a:gd name="T24" fmla="*/ 16 w 45"/>
                <a:gd name="T25" fmla="*/ 45 h 45"/>
                <a:gd name="T26" fmla="*/ 14 w 45"/>
                <a:gd name="T27" fmla="*/ 43 h 45"/>
                <a:gd name="T28" fmla="*/ 9 w 45"/>
                <a:gd name="T29" fmla="*/ 40 h 45"/>
                <a:gd name="T30" fmla="*/ 5 w 45"/>
                <a:gd name="T31" fmla="*/ 40 h 45"/>
                <a:gd name="T32" fmla="*/ 5 w 45"/>
                <a:gd name="T33" fmla="*/ 37 h 45"/>
                <a:gd name="T34" fmla="*/ 2 w 45"/>
                <a:gd name="T35" fmla="*/ 35 h 45"/>
                <a:gd name="T36" fmla="*/ 0 w 45"/>
                <a:gd name="T37" fmla="*/ 29 h 45"/>
                <a:gd name="T38" fmla="*/ 0 w 45"/>
                <a:gd name="T39" fmla="*/ 27 h 45"/>
                <a:gd name="T40" fmla="*/ 0 w 45"/>
                <a:gd name="T41" fmla="*/ 24 h 45"/>
                <a:gd name="T42" fmla="*/ 0 w 45"/>
                <a:gd name="T43" fmla="*/ 19 h 45"/>
                <a:gd name="T44" fmla="*/ 0 w 45"/>
                <a:gd name="T45" fmla="*/ 16 h 45"/>
                <a:gd name="T46" fmla="*/ 2 w 45"/>
                <a:gd name="T47" fmla="*/ 13 h 45"/>
                <a:gd name="T48" fmla="*/ 5 w 45"/>
                <a:gd name="T49" fmla="*/ 11 h 45"/>
                <a:gd name="T50" fmla="*/ 5 w 45"/>
                <a:gd name="T51" fmla="*/ 8 h 45"/>
                <a:gd name="T52" fmla="*/ 9 w 45"/>
                <a:gd name="T53" fmla="*/ 5 h 45"/>
                <a:gd name="T54" fmla="*/ 14 w 45"/>
                <a:gd name="T55" fmla="*/ 3 h 45"/>
                <a:gd name="T56" fmla="*/ 16 w 45"/>
                <a:gd name="T57" fmla="*/ 3 h 45"/>
                <a:gd name="T58" fmla="*/ 20 w 45"/>
                <a:gd name="T59" fmla="*/ 0 h 45"/>
                <a:gd name="T60" fmla="*/ 23 w 45"/>
                <a:gd name="T61" fmla="*/ 0 h 45"/>
                <a:gd name="T62" fmla="*/ 28 w 45"/>
                <a:gd name="T63" fmla="*/ 0 h 45"/>
                <a:gd name="T64" fmla="*/ 32 w 45"/>
                <a:gd name="T65" fmla="*/ 3 h 45"/>
                <a:gd name="T66" fmla="*/ 34 w 45"/>
                <a:gd name="T67" fmla="*/ 3 h 45"/>
                <a:gd name="T68" fmla="*/ 37 w 45"/>
                <a:gd name="T69" fmla="*/ 5 h 45"/>
                <a:gd name="T70" fmla="*/ 40 w 45"/>
                <a:gd name="T71" fmla="*/ 8 h 45"/>
                <a:gd name="T72" fmla="*/ 42 w 45"/>
                <a:gd name="T73" fmla="*/ 11 h 45"/>
                <a:gd name="T74" fmla="*/ 46 w 45"/>
                <a:gd name="T75" fmla="*/ 13 h 45"/>
                <a:gd name="T76" fmla="*/ 46 w 45"/>
                <a:gd name="T77" fmla="*/ 16 h 45"/>
                <a:gd name="T78" fmla="*/ 49 w 45"/>
                <a:gd name="T79" fmla="*/ 19 h 45"/>
                <a:gd name="T80" fmla="*/ 49 w 45"/>
                <a:gd name="T81" fmla="*/ 24 h 45"/>
                <a:gd name="T82" fmla="*/ 46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5" y="27"/>
                  </a:lnTo>
                  <a:lnTo>
                    <a:pt x="42" y="29"/>
                  </a:lnTo>
                  <a:lnTo>
                    <a:pt x="42" y="35"/>
                  </a:lnTo>
                  <a:lnTo>
                    <a:pt x="39" y="37"/>
                  </a:lnTo>
                  <a:lnTo>
                    <a:pt x="37" y="40"/>
                  </a:lnTo>
                  <a:lnTo>
                    <a:pt x="34" y="40"/>
                  </a:lnTo>
                  <a:lnTo>
                    <a:pt x="31" y="43"/>
                  </a:lnTo>
                  <a:lnTo>
                    <a:pt x="29" y="45"/>
                  </a:lnTo>
                  <a:lnTo>
                    <a:pt x="26" y="45"/>
                  </a:lnTo>
                  <a:lnTo>
                    <a:pt x="21" y="45"/>
                  </a:lnTo>
                  <a:lnTo>
                    <a:pt x="18" y="45"/>
                  </a:lnTo>
                  <a:lnTo>
                    <a:pt x="15" y="45"/>
                  </a:lnTo>
                  <a:lnTo>
                    <a:pt x="13" y="43"/>
                  </a:lnTo>
                  <a:lnTo>
                    <a:pt x="8" y="40"/>
                  </a:lnTo>
                  <a:lnTo>
                    <a:pt x="5" y="40"/>
                  </a:lnTo>
                  <a:lnTo>
                    <a:pt x="5" y="37"/>
                  </a:lnTo>
                  <a:lnTo>
                    <a:pt x="2" y="35"/>
                  </a:lnTo>
                  <a:lnTo>
                    <a:pt x="0" y="29"/>
                  </a:lnTo>
                  <a:lnTo>
                    <a:pt x="0" y="27"/>
                  </a:lnTo>
                  <a:lnTo>
                    <a:pt x="0" y="24"/>
                  </a:lnTo>
                  <a:lnTo>
                    <a:pt x="0" y="19"/>
                  </a:lnTo>
                  <a:lnTo>
                    <a:pt x="0" y="16"/>
                  </a:lnTo>
                  <a:lnTo>
                    <a:pt x="2" y="13"/>
                  </a:lnTo>
                  <a:lnTo>
                    <a:pt x="5" y="11"/>
                  </a:lnTo>
                  <a:lnTo>
                    <a:pt x="5" y="8"/>
                  </a:lnTo>
                  <a:lnTo>
                    <a:pt x="8" y="5"/>
                  </a:lnTo>
                  <a:lnTo>
                    <a:pt x="13" y="3"/>
                  </a:lnTo>
                  <a:lnTo>
                    <a:pt x="15" y="3"/>
                  </a:lnTo>
                  <a:lnTo>
                    <a:pt x="18" y="0"/>
                  </a:lnTo>
                  <a:lnTo>
                    <a:pt x="21" y="0"/>
                  </a:lnTo>
                  <a:lnTo>
                    <a:pt x="26" y="0"/>
                  </a:lnTo>
                  <a:lnTo>
                    <a:pt x="29" y="3"/>
                  </a:lnTo>
                  <a:lnTo>
                    <a:pt x="31" y="3"/>
                  </a:lnTo>
                  <a:lnTo>
                    <a:pt x="34" y="5"/>
                  </a:lnTo>
                  <a:lnTo>
                    <a:pt x="37" y="8"/>
                  </a:lnTo>
                  <a:lnTo>
                    <a:pt x="39" y="11"/>
                  </a:lnTo>
                  <a:lnTo>
                    <a:pt x="42" y="13"/>
                  </a:lnTo>
                  <a:lnTo>
                    <a:pt x="42" y="16"/>
                  </a:lnTo>
                  <a:lnTo>
                    <a:pt x="45" y="19"/>
                  </a:lnTo>
                  <a:lnTo>
                    <a:pt x="45" y="24"/>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1" name="Freeform 97"/>
            <p:cNvSpPr>
              <a:spLocks/>
            </p:cNvSpPr>
            <p:nvPr/>
          </p:nvSpPr>
          <p:spPr bwMode="auto">
            <a:xfrm>
              <a:off x="1430" y="1389"/>
              <a:ext cx="49" cy="45"/>
            </a:xfrm>
            <a:custGeom>
              <a:avLst/>
              <a:gdLst>
                <a:gd name="T0" fmla="*/ 46 w 45"/>
                <a:gd name="T1" fmla="*/ 21 h 45"/>
                <a:gd name="T2" fmla="*/ 49 w 45"/>
                <a:gd name="T3" fmla="*/ 19 h 45"/>
                <a:gd name="T4" fmla="*/ 46 w 45"/>
                <a:gd name="T5" fmla="*/ 16 h 45"/>
                <a:gd name="T6" fmla="*/ 46 w 45"/>
                <a:gd name="T7" fmla="*/ 13 h 45"/>
                <a:gd name="T8" fmla="*/ 42 w 45"/>
                <a:gd name="T9" fmla="*/ 11 h 45"/>
                <a:gd name="T10" fmla="*/ 40 w 45"/>
                <a:gd name="T11" fmla="*/ 8 h 45"/>
                <a:gd name="T12" fmla="*/ 37 w 45"/>
                <a:gd name="T13" fmla="*/ 5 h 45"/>
                <a:gd name="T14" fmla="*/ 34 w 45"/>
                <a:gd name="T15" fmla="*/ 3 h 45"/>
                <a:gd name="T16" fmla="*/ 32 w 45"/>
                <a:gd name="T17" fmla="*/ 3 h 45"/>
                <a:gd name="T18" fmla="*/ 28 w 45"/>
                <a:gd name="T19" fmla="*/ 0 h 45"/>
                <a:gd name="T20" fmla="*/ 23 w 45"/>
                <a:gd name="T21" fmla="*/ 0 h 45"/>
                <a:gd name="T22" fmla="*/ 20 w 45"/>
                <a:gd name="T23" fmla="*/ 0 h 45"/>
                <a:gd name="T24" fmla="*/ 16 w 45"/>
                <a:gd name="T25" fmla="*/ 3 h 45"/>
                <a:gd name="T26" fmla="*/ 14 w 45"/>
                <a:gd name="T27" fmla="*/ 3 h 45"/>
                <a:gd name="T28" fmla="*/ 9 w 45"/>
                <a:gd name="T29" fmla="*/ 5 h 45"/>
                <a:gd name="T30" fmla="*/ 5 w 45"/>
                <a:gd name="T31" fmla="*/ 8 h 45"/>
                <a:gd name="T32" fmla="*/ 5 w 45"/>
                <a:gd name="T33" fmla="*/ 11 h 45"/>
                <a:gd name="T34" fmla="*/ 2 w 45"/>
                <a:gd name="T35" fmla="*/ 13 h 45"/>
                <a:gd name="T36" fmla="*/ 0 w 45"/>
                <a:gd name="T37" fmla="*/ 16 h 45"/>
                <a:gd name="T38" fmla="*/ 0 w 45"/>
                <a:gd name="T39" fmla="*/ 19 h 45"/>
                <a:gd name="T40" fmla="*/ 0 w 45"/>
                <a:gd name="T41" fmla="*/ 24 h 45"/>
                <a:gd name="T42" fmla="*/ 0 w 45"/>
                <a:gd name="T43" fmla="*/ 27 h 45"/>
                <a:gd name="T44" fmla="*/ 0 w 45"/>
                <a:gd name="T45" fmla="*/ 29 h 45"/>
                <a:gd name="T46" fmla="*/ 2 w 45"/>
                <a:gd name="T47" fmla="*/ 35 h 45"/>
                <a:gd name="T48" fmla="*/ 5 w 45"/>
                <a:gd name="T49" fmla="*/ 37 h 45"/>
                <a:gd name="T50" fmla="*/ 5 w 45"/>
                <a:gd name="T51" fmla="*/ 40 h 45"/>
                <a:gd name="T52" fmla="*/ 9 w 45"/>
                <a:gd name="T53" fmla="*/ 40 h 45"/>
                <a:gd name="T54" fmla="*/ 14 w 45"/>
                <a:gd name="T55" fmla="*/ 43 h 45"/>
                <a:gd name="T56" fmla="*/ 16 w 45"/>
                <a:gd name="T57" fmla="*/ 45 h 45"/>
                <a:gd name="T58" fmla="*/ 20 w 45"/>
                <a:gd name="T59" fmla="*/ 45 h 45"/>
                <a:gd name="T60" fmla="*/ 23 w 45"/>
                <a:gd name="T61" fmla="*/ 45 h 45"/>
                <a:gd name="T62" fmla="*/ 28 w 45"/>
                <a:gd name="T63" fmla="*/ 45 h 45"/>
                <a:gd name="T64" fmla="*/ 32 w 45"/>
                <a:gd name="T65" fmla="*/ 45 h 45"/>
                <a:gd name="T66" fmla="*/ 34 w 45"/>
                <a:gd name="T67" fmla="*/ 43 h 45"/>
                <a:gd name="T68" fmla="*/ 37 w 45"/>
                <a:gd name="T69" fmla="*/ 40 h 45"/>
                <a:gd name="T70" fmla="*/ 40 w 45"/>
                <a:gd name="T71" fmla="*/ 40 h 45"/>
                <a:gd name="T72" fmla="*/ 42 w 45"/>
                <a:gd name="T73" fmla="*/ 37 h 45"/>
                <a:gd name="T74" fmla="*/ 46 w 45"/>
                <a:gd name="T75" fmla="*/ 35 h 45"/>
                <a:gd name="T76" fmla="*/ 46 w 45"/>
                <a:gd name="T77" fmla="*/ 29 h 45"/>
                <a:gd name="T78" fmla="*/ 49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5" y="19"/>
                  </a:lnTo>
                  <a:lnTo>
                    <a:pt x="42" y="16"/>
                  </a:lnTo>
                  <a:lnTo>
                    <a:pt x="42" y="13"/>
                  </a:lnTo>
                  <a:lnTo>
                    <a:pt x="39" y="11"/>
                  </a:lnTo>
                  <a:lnTo>
                    <a:pt x="37" y="8"/>
                  </a:lnTo>
                  <a:lnTo>
                    <a:pt x="34" y="5"/>
                  </a:lnTo>
                  <a:lnTo>
                    <a:pt x="31" y="3"/>
                  </a:lnTo>
                  <a:lnTo>
                    <a:pt x="29" y="3"/>
                  </a:lnTo>
                  <a:lnTo>
                    <a:pt x="26" y="0"/>
                  </a:lnTo>
                  <a:lnTo>
                    <a:pt x="21" y="0"/>
                  </a:lnTo>
                  <a:lnTo>
                    <a:pt x="18" y="0"/>
                  </a:lnTo>
                  <a:lnTo>
                    <a:pt x="15" y="3"/>
                  </a:lnTo>
                  <a:lnTo>
                    <a:pt x="13" y="3"/>
                  </a:lnTo>
                  <a:lnTo>
                    <a:pt x="8" y="5"/>
                  </a:lnTo>
                  <a:lnTo>
                    <a:pt x="5" y="8"/>
                  </a:lnTo>
                  <a:lnTo>
                    <a:pt x="5" y="11"/>
                  </a:lnTo>
                  <a:lnTo>
                    <a:pt x="2" y="13"/>
                  </a:lnTo>
                  <a:lnTo>
                    <a:pt x="0" y="16"/>
                  </a:lnTo>
                  <a:lnTo>
                    <a:pt x="0" y="19"/>
                  </a:lnTo>
                  <a:lnTo>
                    <a:pt x="0" y="24"/>
                  </a:lnTo>
                  <a:lnTo>
                    <a:pt x="0" y="27"/>
                  </a:lnTo>
                  <a:lnTo>
                    <a:pt x="0" y="29"/>
                  </a:lnTo>
                  <a:lnTo>
                    <a:pt x="2" y="35"/>
                  </a:lnTo>
                  <a:lnTo>
                    <a:pt x="5" y="37"/>
                  </a:lnTo>
                  <a:lnTo>
                    <a:pt x="5" y="40"/>
                  </a:lnTo>
                  <a:lnTo>
                    <a:pt x="8" y="40"/>
                  </a:lnTo>
                  <a:lnTo>
                    <a:pt x="13" y="43"/>
                  </a:lnTo>
                  <a:lnTo>
                    <a:pt x="15" y="45"/>
                  </a:lnTo>
                  <a:lnTo>
                    <a:pt x="18" y="45"/>
                  </a:lnTo>
                  <a:lnTo>
                    <a:pt x="21" y="45"/>
                  </a:lnTo>
                  <a:lnTo>
                    <a:pt x="26" y="45"/>
                  </a:lnTo>
                  <a:lnTo>
                    <a:pt x="29" y="45"/>
                  </a:lnTo>
                  <a:lnTo>
                    <a:pt x="31" y="43"/>
                  </a:lnTo>
                  <a:lnTo>
                    <a:pt x="34" y="40"/>
                  </a:lnTo>
                  <a:lnTo>
                    <a:pt x="37" y="40"/>
                  </a:lnTo>
                  <a:lnTo>
                    <a:pt x="39" y="37"/>
                  </a:lnTo>
                  <a:lnTo>
                    <a:pt x="42" y="35"/>
                  </a:lnTo>
                  <a:lnTo>
                    <a:pt x="42" y="29"/>
                  </a:lnTo>
                  <a:lnTo>
                    <a:pt x="45"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2" name="Freeform 98"/>
            <p:cNvSpPr>
              <a:spLocks/>
            </p:cNvSpPr>
            <p:nvPr/>
          </p:nvSpPr>
          <p:spPr bwMode="auto">
            <a:xfrm>
              <a:off x="1645" y="1389"/>
              <a:ext cx="49" cy="45"/>
            </a:xfrm>
            <a:custGeom>
              <a:avLst/>
              <a:gdLst>
                <a:gd name="T0" fmla="*/ 49 w 45"/>
                <a:gd name="T1" fmla="*/ 21 h 45"/>
                <a:gd name="T2" fmla="*/ 49 w 45"/>
                <a:gd name="T3" fmla="*/ 27 h 45"/>
                <a:gd name="T4" fmla="*/ 49 w 45"/>
                <a:gd name="T5" fmla="*/ 29 h 45"/>
                <a:gd name="T6" fmla="*/ 47 w 45"/>
                <a:gd name="T7" fmla="*/ 35 h 45"/>
                <a:gd name="T8" fmla="*/ 44 w 45"/>
                <a:gd name="T9" fmla="*/ 37 h 45"/>
                <a:gd name="T10" fmla="*/ 44 w 45"/>
                <a:gd name="T11" fmla="*/ 40 h 45"/>
                <a:gd name="T12" fmla="*/ 41 w 45"/>
                <a:gd name="T13" fmla="*/ 40 h 45"/>
                <a:gd name="T14" fmla="*/ 38 w 45"/>
                <a:gd name="T15" fmla="*/ 43 h 45"/>
                <a:gd name="T16" fmla="*/ 33 w 45"/>
                <a:gd name="T17" fmla="*/ 45 h 45"/>
                <a:gd name="T18" fmla="*/ 29 w 45"/>
                <a:gd name="T19" fmla="*/ 45 h 45"/>
                <a:gd name="T20" fmla="*/ 26 w 45"/>
                <a:gd name="T21" fmla="*/ 45 h 45"/>
                <a:gd name="T22" fmla="*/ 21 w 45"/>
                <a:gd name="T23" fmla="*/ 45 h 45"/>
                <a:gd name="T24" fmla="*/ 17 w 45"/>
                <a:gd name="T25" fmla="*/ 45 h 45"/>
                <a:gd name="T26" fmla="*/ 15 w 45"/>
                <a:gd name="T27" fmla="*/ 43 h 45"/>
                <a:gd name="T28" fmla="*/ 12 w 45"/>
                <a:gd name="T29" fmla="*/ 40 h 45"/>
                <a:gd name="T30" fmla="*/ 9 w 45"/>
                <a:gd name="T31" fmla="*/ 40 h 45"/>
                <a:gd name="T32" fmla="*/ 7 w 45"/>
                <a:gd name="T33" fmla="*/ 37 h 45"/>
                <a:gd name="T34" fmla="*/ 3 w 45"/>
                <a:gd name="T35" fmla="*/ 35 h 45"/>
                <a:gd name="T36" fmla="*/ 3 w 45"/>
                <a:gd name="T37" fmla="*/ 29 h 45"/>
                <a:gd name="T38" fmla="*/ 0 w 45"/>
                <a:gd name="T39" fmla="*/ 27 h 45"/>
                <a:gd name="T40" fmla="*/ 0 w 45"/>
                <a:gd name="T41" fmla="*/ 24 h 45"/>
                <a:gd name="T42" fmla="*/ 0 w 45"/>
                <a:gd name="T43" fmla="*/ 19 h 45"/>
                <a:gd name="T44" fmla="*/ 3 w 45"/>
                <a:gd name="T45" fmla="*/ 16 h 45"/>
                <a:gd name="T46" fmla="*/ 3 w 45"/>
                <a:gd name="T47" fmla="*/ 13 h 45"/>
                <a:gd name="T48" fmla="*/ 7 w 45"/>
                <a:gd name="T49" fmla="*/ 11 h 45"/>
                <a:gd name="T50" fmla="*/ 9 w 45"/>
                <a:gd name="T51" fmla="*/ 8 h 45"/>
                <a:gd name="T52" fmla="*/ 12 w 45"/>
                <a:gd name="T53" fmla="*/ 5 h 45"/>
                <a:gd name="T54" fmla="*/ 15 w 45"/>
                <a:gd name="T55" fmla="*/ 3 h 45"/>
                <a:gd name="T56" fmla="*/ 17 w 45"/>
                <a:gd name="T57" fmla="*/ 3 h 45"/>
                <a:gd name="T58" fmla="*/ 21 w 45"/>
                <a:gd name="T59" fmla="*/ 0 h 45"/>
                <a:gd name="T60" fmla="*/ 26 w 45"/>
                <a:gd name="T61" fmla="*/ 0 h 45"/>
                <a:gd name="T62" fmla="*/ 29 w 45"/>
                <a:gd name="T63" fmla="*/ 0 h 45"/>
                <a:gd name="T64" fmla="*/ 33 w 45"/>
                <a:gd name="T65" fmla="*/ 3 h 45"/>
                <a:gd name="T66" fmla="*/ 38 w 45"/>
                <a:gd name="T67" fmla="*/ 3 h 45"/>
                <a:gd name="T68" fmla="*/ 41 w 45"/>
                <a:gd name="T69" fmla="*/ 5 h 45"/>
                <a:gd name="T70" fmla="*/ 44 w 45"/>
                <a:gd name="T71" fmla="*/ 8 h 45"/>
                <a:gd name="T72" fmla="*/ 44 w 45"/>
                <a:gd name="T73" fmla="*/ 11 h 45"/>
                <a:gd name="T74" fmla="*/ 47 w 45"/>
                <a:gd name="T75" fmla="*/ 13 h 45"/>
                <a:gd name="T76" fmla="*/ 49 w 45"/>
                <a:gd name="T77" fmla="*/ 16 h 45"/>
                <a:gd name="T78" fmla="*/ 49 w 45"/>
                <a:gd name="T79" fmla="*/ 19 h 45"/>
                <a:gd name="T80" fmla="*/ 49 w 45"/>
                <a:gd name="T81" fmla="*/ 24 h 45"/>
                <a:gd name="T82" fmla="*/ 49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27"/>
                  </a:lnTo>
                  <a:lnTo>
                    <a:pt x="45" y="29"/>
                  </a:lnTo>
                  <a:lnTo>
                    <a:pt x="43" y="35"/>
                  </a:lnTo>
                  <a:lnTo>
                    <a:pt x="40" y="37"/>
                  </a:lnTo>
                  <a:lnTo>
                    <a:pt x="40" y="40"/>
                  </a:lnTo>
                  <a:lnTo>
                    <a:pt x="38" y="40"/>
                  </a:lnTo>
                  <a:lnTo>
                    <a:pt x="35" y="43"/>
                  </a:lnTo>
                  <a:lnTo>
                    <a:pt x="30" y="45"/>
                  </a:lnTo>
                  <a:lnTo>
                    <a:pt x="27" y="45"/>
                  </a:lnTo>
                  <a:lnTo>
                    <a:pt x="24" y="45"/>
                  </a:lnTo>
                  <a:lnTo>
                    <a:pt x="19" y="45"/>
                  </a:lnTo>
                  <a:lnTo>
                    <a:pt x="16" y="45"/>
                  </a:lnTo>
                  <a:lnTo>
                    <a:pt x="14" y="43"/>
                  </a:lnTo>
                  <a:lnTo>
                    <a:pt x="11" y="40"/>
                  </a:lnTo>
                  <a:lnTo>
                    <a:pt x="8" y="40"/>
                  </a:lnTo>
                  <a:lnTo>
                    <a:pt x="6" y="37"/>
                  </a:lnTo>
                  <a:lnTo>
                    <a:pt x="3" y="35"/>
                  </a:lnTo>
                  <a:lnTo>
                    <a:pt x="3" y="29"/>
                  </a:lnTo>
                  <a:lnTo>
                    <a:pt x="0" y="27"/>
                  </a:lnTo>
                  <a:lnTo>
                    <a:pt x="0" y="24"/>
                  </a:lnTo>
                  <a:lnTo>
                    <a:pt x="0" y="19"/>
                  </a:lnTo>
                  <a:lnTo>
                    <a:pt x="3" y="16"/>
                  </a:lnTo>
                  <a:lnTo>
                    <a:pt x="3" y="13"/>
                  </a:lnTo>
                  <a:lnTo>
                    <a:pt x="6" y="11"/>
                  </a:lnTo>
                  <a:lnTo>
                    <a:pt x="8" y="8"/>
                  </a:lnTo>
                  <a:lnTo>
                    <a:pt x="11" y="5"/>
                  </a:lnTo>
                  <a:lnTo>
                    <a:pt x="14" y="3"/>
                  </a:lnTo>
                  <a:lnTo>
                    <a:pt x="16" y="3"/>
                  </a:lnTo>
                  <a:lnTo>
                    <a:pt x="19" y="0"/>
                  </a:lnTo>
                  <a:lnTo>
                    <a:pt x="24" y="0"/>
                  </a:lnTo>
                  <a:lnTo>
                    <a:pt x="27" y="0"/>
                  </a:lnTo>
                  <a:lnTo>
                    <a:pt x="30" y="3"/>
                  </a:lnTo>
                  <a:lnTo>
                    <a:pt x="35" y="3"/>
                  </a:lnTo>
                  <a:lnTo>
                    <a:pt x="38" y="5"/>
                  </a:lnTo>
                  <a:lnTo>
                    <a:pt x="40" y="8"/>
                  </a:lnTo>
                  <a:lnTo>
                    <a:pt x="40" y="11"/>
                  </a:lnTo>
                  <a:lnTo>
                    <a:pt x="43" y="13"/>
                  </a:lnTo>
                  <a:lnTo>
                    <a:pt x="45" y="16"/>
                  </a:lnTo>
                  <a:lnTo>
                    <a:pt x="45" y="19"/>
                  </a:lnTo>
                  <a:lnTo>
                    <a:pt x="45" y="24"/>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Freeform 99"/>
            <p:cNvSpPr>
              <a:spLocks/>
            </p:cNvSpPr>
            <p:nvPr/>
          </p:nvSpPr>
          <p:spPr bwMode="auto">
            <a:xfrm>
              <a:off x="1645" y="1389"/>
              <a:ext cx="49" cy="45"/>
            </a:xfrm>
            <a:custGeom>
              <a:avLst/>
              <a:gdLst>
                <a:gd name="T0" fmla="*/ 49 w 45"/>
                <a:gd name="T1" fmla="*/ 21 h 45"/>
                <a:gd name="T2" fmla="*/ 49 w 45"/>
                <a:gd name="T3" fmla="*/ 19 h 45"/>
                <a:gd name="T4" fmla="*/ 49 w 45"/>
                <a:gd name="T5" fmla="*/ 16 h 45"/>
                <a:gd name="T6" fmla="*/ 47 w 45"/>
                <a:gd name="T7" fmla="*/ 13 h 45"/>
                <a:gd name="T8" fmla="*/ 44 w 45"/>
                <a:gd name="T9" fmla="*/ 11 h 45"/>
                <a:gd name="T10" fmla="*/ 44 w 45"/>
                <a:gd name="T11" fmla="*/ 8 h 45"/>
                <a:gd name="T12" fmla="*/ 41 w 45"/>
                <a:gd name="T13" fmla="*/ 5 h 45"/>
                <a:gd name="T14" fmla="*/ 38 w 45"/>
                <a:gd name="T15" fmla="*/ 3 h 45"/>
                <a:gd name="T16" fmla="*/ 33 w 45"/>
                <a:gd name="T17" fmla="*/ 3 h 45"/>
                <a:gd name="T18" fmla="*/ 29 w 45"/>
                <a:gd name="T19" fmla="*/ 0 h 45"/>
                <a:gd name="T20" fmla="*/ 26 w 45"/>
                <a:gd name="T21" fmla="*/ 0 h 45"/>
                <a:gd name="T22" fmla="*/ 21 w 45"/>
                <a:gd name="T23" fmla="*/ 0 h 45"/>
                <a:gd name="T24" fmla="*/ 17 w 45"/>
                <a:gd name="T25" fmla="*/ 3 h 45"/>
                <a:gd name="T26" fmla="*/ 15 w 45"/>
                <a:gd name="T27" fmla="*/ 3 h 45"/>
                <a:gd name="T28" fmla="*/ 12 w 45"/>
                <a:gd name="T29" fmla="*/ 5 h 45"/>
                <a:gd name="T30" fmla="*/ 9 w 45"/>
                <a:gd name="T31" fmla="*/ 8 h 45"/>
                <a:gd name="T32" fmla="*/ 7 w 45"/>
                <a:gd name="T33" fmla="*/ 11 h 45"/>
                <a:gd name="T34" fmla="*/ 3 w 45"/>
                <a:gd name="T35" fmla="*/ 13 h 45"/>
                <a:gd name="T36" fmla="*/ 3 w 45"/>
                <a:gd name="T37" fmla="*/ 16 h 45"/>
                <a:gd name="T38" fmla="*/ 0 w 45"/>
                <a:gd name="T39" fmla="*/ 19 h 45"/>
                <a:gd name="T40" fmla="*/ 0 w 45"/>
                <a:gd name="T41" fmla="*/ 24 h 45"/>
                <a:gd name="T42" fmla="*/ 0 w 45"/>
                <a:gd name="T43" fmla="*/ 27 h 45"/>
                <a:gd name="T44" fmla="*/ 3 w 45"/>
                <a:gd name="T45" fmla="*/ 29 h 45"/>
                <a:gd name="T46" fmla="*/ 3 w 45"/>
                <a:gd name="T47" fmla="*/ 35 h 45"/>
                <a:gd name="T48" fmla="*/ 7 w 45"/>
                <a:gd name="T49" fmla="*/ 37 h 45"/>
                <a:gd name="T50" fmla="*/ 9 w 45"/>
                <a:gd name="T51" fmla="*/ 40 h 45"/>
                <a:gd name="T52" fmla="*/ 12 w 45"/>
                <a:gd name="T53" fmla="*/ 40 h 45"/>
                <a:gd name="T54" fmla="*/ 15 w 45"/>
                <a:gd name="T55" fmla="*/ 43 h 45"/>
                <a:gd name="T56" fmla="*/ 17 w 45"/>
                <a:gd name="T57" fmla="*/ 45 h 45"/>
                <a:gd name="T58" fmla="*/ 21 w 45"/>
                <a:gd name="T59" fmla="*/ 45 h 45"/>
                <a:gd name="T60" fmla="*/ 26 w 45"/>
                <a:gd name="T61" fmla="*/ 45 h 45"/>
                <a:gd name="T62" fmla="*/ 29 w 45"/>
                <a:gd name="T63" fmla="*/ 45 h 45"/>
                <a:gd name="T64" fmla="*/ 33 w 45"/>
                <a:gd name="T65" fmla="*/ 45 h 45"/>
                <a:gd name="T66" fmla="*/ 38 w 45"/>
                <a:gd name="T67" fmla="*/ 43 h 45"/>
                <a:gd name="T68" fmla="*/ 41 w 45"/>
                <a:gd name="T69" fmla="*/ 40 h 45"/>
                <a:gd name="T70" fmla="*/ 44 w 45"/>
                <a:gd name="T71" fmla="*/ 40 h 45"/>
                <a:gd name="T72" fmla="*/ 44 w 45"/>
                <a:gd name="T73" fmla="*/ 37 h 45"/>
                <a:gd name="T74" fmla="*/ 47 w 45"/>
                <a:gd name="T75" fmla="*/ 35 h 45"/>
                <a:gd name="T76" fmla="*/ 49 w 45"/>
                <a:gd name="T77" fmla="*/ 29 h 45"/>
                <a:gd name="T78" fmla="*/ 49 w 45"/>
                <a:gd name="T79" fmla="*/ 27 h 45"/>
                <a:gd name="T80" fmla="*/ 49 w 45"/>
                <a:gd name="T81" fmla="*/ 24 h 45"/>
                <a:gd name="T82" fmla="*/ 49 w 45"/>
                <a:gd name="T83" fmla="*/ 24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9"/>
                  </a:lnTo>
                  <a:lnTo>
                    <a:pt x="45" y="16"/>
                  </a:lnTo>
                  <a:lnTo>
                    <a:pt x="43" y="13"/>
                  </a:lnTo>
                  <a:lnTo>
                    <a:pt x="40" y="11"/>
                  </a:lnTo>
                  <a:lnTo>
                    <a:pt x="40" y="8"/>
                  </a:lnTo>
                  <a:lnTo>
                    <a:pt x="38" y="5"/>
                  </a:lnTo>
                  <a:lnTo>
                    <a:pt x="35" y="3"/>
                  </a:lnTo>
                  <a:lnTo>
                    <a:pt x="30" y="3"/>
                  </a:lnTo>
                  <a:lnTo>
                    <a:pt x="27" y="0"/>
                  </a:lnTo>
                  <a:lnTo>
                    <a:pt x="24" y="0"/>
                  </a:lnTo>
                  <a:lnTo>
                    <a:pt x="19" y="0"/>
                  </a:lnTo>
                  <a:lnTo>
                    <a:pt x="16" y="3"/>
                  </a:lnTo>
                  <a:lnTo>
                    <a:pt x="14" y="3"/>
                  </a:lnTo>
                  <a:lnTo>
                    <a:pt x="11" y="5"/>
                  </a:lnTo>
                  <a:lnTo>
                    <a:pt x="8" y="8"/>
                  </a:lnTo>
                  <a:lnTo>
                    <a:pt x="6" y="11"/>
                  </a:lnTo>
                  <a:lnTo>
                    <a:pt x="3" y="13"/>
                  </a:lnTo>
                  <a:lnTo>
                    <a:pt x="3" y="16"/>
                  </a:lnTo>
                  <a:lnTo>
                    <a:pt x="0" y="19"/>
                  </a:lnTo>
                  <a:lnTo>
                    <a:pt x="0" y="24"/>
                  </a:lnTo>
                  <a:lnTo>
                    <a:pt x="0" y="27"/>
                  </a:lnTo>
                  <a:lnTo>
                    <a:pt x="3" y="29"/>
                  </a:lnTo>
                  <a:lnTo>
                    <a:pt x="3" y="35"/>
                  </a:lnTo>
                  <a:lnTo>
                    <a:pt x="6" y="37"/>
                  </a:lnTo>
                  <a:lnTo>
                    <a:pt x="8" y="40"/>
                  </a:lnTo>
                  <a:lnTo>
                    <a:pt x="11" y="40"/>
                  </a:lnTo>
                  <a:lnTo>
                    <a:pt x="14" y="43"/>
                  </a:lnTo>
                  <a:lnTo>
                    <a:pt x="16" y="45"/>
                  </a:lnTo>
                  <a:lnTo>
                    <a:pt x="19" y="45"/>
                  </a:lnTo>
                  <a:lnTo>
                    <a:pt x="24" y="45"/>
                  </a:lnTo>
                  <a:lnTo>
                    <a:pt x="27" y="45"/>
                  </a:lnTo>
                  <a:lnTo>
                    <a:pt x="30" y="45"/>
                  </a:lnTo>
                  <a:lnTo>
                    <a:pt x="35" y="43"/>
                  </a:lnTo>
                  <a:lnTo>
                    <a:pt x="38" y="40"/>
                  </a:lnTo>
                  <a:lnTo>
                    <a:pt x="40" y="40"/>
                  </a:lnTo>
                  <a:lnTo>
                    <a:pt x="40" y="37"/>
                  </a:lnTo>
                  <a:lnTo>
                    <a:pt x="43" y="35"/>
                  </a:lnTo>
                  <a:lnTo>
                    <a:pt x="45" y="29"/>
                  </a:lnTo>
                  <a:lnTo>
                    <a:pt x="45" y="27"/>
                  </a:lnTo>
                  <a:lnTo>
                    <a:pt x="45" y="24"/>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4" name="Line 100"/>
            <p:cNvSpPr>
              <a:spLocks noChangeShapeType="1"/>
            </p:cNvSpPr>
            <p:nvPr/>
          </p:nvSpPr>
          <p:spPr bwMode="auto">
            <a:xfrm>
              <a:off x="2002" y="1584"/>
              <a:ext cx="2" cy="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 name="Line 101"/>
            <p:cNvSpPr>
              <a:spLocks noChangeShapeType="1"/>
            </p:cNvSpPr>
            <p:nvPr/>
          </p:nvSpPr>
          <p:spPr bwMode="auto">
            <a:xfrm>
              <a:off x="914" y="1597"/>
              <a:ext cx="1"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 name="Freeform 102"/>
            <p:cNvSpPr>
              <a:spLocks/>
            </p:cNvSpPr>
            <p:nvPr/>
          </p:nvSpPr>
          <p:spPr bwMode="auto">
            <a:xfrm>
              <a:off x="751" y="1684"/>
              <a:ext cx="353" cy="239"/>
            </a:xfrm>
            <a:custGeom>
              <a:avLst/>
              <a:gdLst>
                <a:gd name="T0" fmla="*/ 0 w 326"/>
                <a:gd name="T1" fmla="*/ 0 h 239"/>
                <a:gd name="T2" fmla="*/ 353 w 326"/>
                <a:gd name="T3" fmla="*/ 0 h 239"/>
                <a:gd name="T4" fmla="*/ 353 w 326"/>
                <a:gd name="T5" fmla="*/ 239 h 239"/>
                <a:gd name="T6" fmla="*/ 3 w 326"/>
                <a:gd name="T7" fmla="*/ 239 h 239"/>
                <a:gd name="T8" fmla="*/ 3 w 326"/>
                <a:gd name="T9" fmla="*/ 0 h 239"/>
                <a:gd name="T10" fmla="*/ 0 w 326"/>
                <a:gd name="T11" fmla="*/ 0 h 239"/>
                <a:gd name="T12" fmla="*/ 0 60000 65536"/>
                <a:gd name="T13" fmla="*/ 0 60000 65536"/>
                <a:gd name="T14" fmla="*/ 0 60000 65536"/>
                <a:gd name="T15" fmla="*/ 0 60000 65536"/>
                <a:gd name="T16" fmla="*/ 0 60000 65536"/>
                <a:gd name="T17" fmla="*/ 0 60000 65536"/>
                <a:gd name="T18" fmla="*/ 0 w 326"/>
                <a:gd name="T19" fmla="*/ 0 h 239"/>
                <a:gd name="T20" fmla="*/ 326 w 326"/>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326" h="239">
                  <a:moveTo>
                    <a:pt x="0" y="0"/>
                  </a:moveTo>
                  <a:lnTo>
                    <a:pt x="326" y="0"/>
                  </a:lnTo>
                  <a:lnTo>
                    <a:pt x="326" y="239"/>
                  </a:lnTo>
                  <a:lnTo>
                    <a:pt x="3" y="239"/>
                  </a:lnTo>
                  <a:lnTo>
                    <a:pt x="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7" name="Freeform 103"/>
            <p:cNvSpPr>
              <a:spLocks/>
            </p:cNvSpPr>
            <p:nvPr/>
          </p:nvSpPr>
          <p:spPr bwMode="auto">
            <a:xfrm>
              <a:off x="647" y="1684"/>
              <a:ext cx="571" cy="239"/>
            </a:xfrm>
            <a:custGeom>
              <a:avLst/>
              <a:gdLst>
                <a:gd name="T0" fmla="*/ 0 w 326"/>
                <a:gd name="T1" fmla="*/ 0 h 239"/>
                <a:gd name="T2" fmla="*/ 571 w 326"/>
                <a:gd name="T3" fmla="*/ 0 h 239"/>
                <a:gd name="T4" fmla="*/ 571 w 326"/>
                <a:gd name="T5" fmla="*/ 239 h 239"/>
                <a:gd name="T6" fmla="*/ 5 w 326"/>
                <a:gd name="T7" fmla="*/ 239 h 239"/>
                <a:gd name="T8" fmla="*/ 5 w 326"/>
                <a:gd name="T9" fmla="*/ 0 h 239"/>
                <a:gd name="T10" fmla="*/ 0 60000 65536"/>
                <a:gd name="T11" fmla="*/ 0 60000 65536"/>
                <a:gd name="T12" fmla="*/ 0 60000 65536"/>
                <a:gd name="T13" fmla="*/ 0 60000 65536"/>
                <a:gd name="T14" fmla="*/ 0 60000 65536"/>
                <a:gd name="T15" fmla="*/ 0 w 326"/>
                <a:gd name="T16" fmla="*/ 0 h 239"/>
                <a:gd name="T17" fmla="*/ 326 w 326"/>
                <a:gd name="T18" fmla="*/ 239 h 239"/>
              </a:gdLst>
              <a:ahLst/>
              <a:cxnLst>
                <a:cxn ang="T10">
                  <a:pos x="T0" y="T1"/>
                </a:cxn>
                <a:cxn ang="T11">
                  <a:pos x="T2" y="T3"/>
                </a:cxn>
                <a:cxn ang="T12">
                  <a:pos x="T4" y="T5"/>
                </a:cxn>
                <a:cxn ang="T13">
                  <a:pos x="T6" y="T7"/>
                </a:cxn>
                <a:cxn ang="T14">
                  <a:pos x="T8" y="T9"/>
                </a:cxn>
              </a:cxnLst>
              <a:rect l="T15" t="T16" r="T17" b="T18"/>
              <a:pathLst>
                <a:path w="326" h="239">
                  <a:moveTo>
                    <a:pt x="0" y="0"/>
                  </a:moveTo>
                  <a:lnTo>
                    <a:pt x="326" y="0"/>
                  </a:lnTo>
                  <a:lnTo>
                    <a:pt x="326" y="239"/>
                  </a:lnTo>
                  <a:lnTo>
                    <a:pt x="3" y="239"/>
                  </a:lnTo>
                  <a:lnTo>
                    <a:pt x="3"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8" name="Rectangle 104"/>
            <p:cNvSpPr>
              <a:spLocks noChangeArrowheads="1"/>
            </p:cNvSpPr>
            <p:nvPr/>
          </p:nvSpPr>
          <p:spPr bwMode="auto">
            <a:xfrm>
              <a:off x="820" y="1751"/>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Mem</a:t>
              </a:r>
              <a:endParaRPr lang="en-US" altLang="zh-CN" sz="1400">
                <a:ea typeface="宋体" panose="02010600030101010101" pitchFamily="2" charset="-122"/>
              </a:endParaRPr>
            </a:p>
          </p:txBody>
        </p:sp>
        <p:sp>
          <p:nvSpPr>
            <p:cNvPr id="219" name="Rectangle 105"/>
            <p:cNvSpPr>
              <a:spLocks noChangeArrowheads="1"/>
            </p:cNvSpPr>
            <p:nvPr/>
          </p:nvSpPr>
          <p:spPr bwMode="auto">
            <a:xfrm>
              <a:off x="1790" y="1728"/>
              <a:ext cx="43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I/O devices</a:t>
              </a:r>
              <a:endParaRPr lang="en-US" altLang="zh-CN" sz="1400">
                <a:ea typeface="宋体" panose="02010600030101010101" pitchFamily="2" charset="-122"/>
              </a:endParaRPr>
            </a:p>
          </p:txBody>
        </p:sp>
        <p:sp>
          <p:nvSpPr>
            <p:cNvPr id="220" name="Text Box 106"/>
            <p:cNvSpPr txBox="1">
              <a:spLocks noChangeArrowheads="1"/>
            </p:cNvSpPr>
            <p:nvPr/>
          </p:nvSpPr>
          <p:spPr bwMode="auto">
            <a:xfrm>
              <a:off x="672" y="1952"/>
              <a:ext cx="155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ea typeface="宋体" panose="02010600030101010101" pitchFamily="2" charset="-122"/>
                </a:rPr>
                <a:t>Bus-based Shared Memory</a:t>
              </a:r>
            </a:p>
          </p:txBody>
        </p:sp>
        <p:sp>
          <p:nvSpPr>
            <p:cNvPr id="221" name="Line 107"/>
            <p:cNvSpPr>
              <a:spLocks noChangeShapeType="1"/>
            </p:cNvSpPr>
            <p:nvPr/>
          </p:nvSpPr>
          <p:spPr bwMode="auto">
            <a:xfrm>
              <a:off x="647" y="1584"/>
              <a:ext cx="16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grpSp>
        <p:nvGrpSpPr>
          <p:cNvPr id="222" name="Group 145"/>
          <p:cNvGrpSpPr>
            <a:grpSpLocks/>
          </p:cNvGrpSpPr>
          <p:nvPr/>
        </p:nvGrpSpPr>
        <p:grpSpPr bwMode="auto">
          <a:xfrm>
            <a:off x="259432" y="2619805"/>
            <a:ext cx="2392213" cy="2969435"/>
            <a:chOff x="912" y="805"/>
            <a:chExt cx="1275" cy="1643"/>
          </a:xfrm>
        </p:grpSpPr>
        <p:sp>
          <p:nvSpPr>
            <p:cNvPr id="223" name="Line 108"/>
            <p:cNvSpPr>
              <a:spLocks noChangeShapeType="1"/>
            </p:cNvSpPr>
            <p:nvPr/>
          </p:nvSpPr>
          <p:spPr bwMode="auto">
            <a:xfrm>
              <a:off x="1071" y="1280"/>
              <a:ext cx="3" cy="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 name="Line 109"/>
            <p:cNvSpPr>
              <a:spLocks noChangeShapeType="1"/>
            </p:cNvSpPr>
            <p:nvPr/>
          </p:nvSpPr>
          <p:spPr bwMode="auto">
            <a:xfrm>
              <a:off x="1392" y="1282"/>
              <a:ext cx="1"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 name="Line 110"/>
            <p:cNvSpPr>
              <a:spLocks noChangeShapeType="1"/>
            </p:cNvSpPr>
            <p:nvPr/>
          </p:nvSpPr>
          <p:spPr bwMode="auto">
            <a:xfrm>
              <a:off x="1710" y="1282"/>
              <a:ext cx="1"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 name="Line 111"/>
            <p:cNvSpPr>
              <a:spLocks noChangeShapeType="1"/>
            </p:cNvSpPr>
            <p:nvPr/>
          </p:nvSpPr>
          <p:spPr bwMode="auto">
            <a:xfrm>
              <a:off x="2028" y="1282"/>
              <a:ext cx="1"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 name="Line 112"/>
            <p:cNvSpPr>
              <a:spLocks noChangeShapeType="1"/>
            </p:cNvSpPr>
            <p:nvPr/>
          </p:nvSpPr>
          <p:spPr bwMode="auto">
            <a:xfrm>
              <a:off x="1074" y="1600"/>
              <a:ext cx="1" cy="1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 name="Line 113"/>
            <p:cNvSpPr>
              <a:spLocks noChangeShapeType="1"/>
            </p:cNvSpPr>
            <p:nvPr/>
          </p:nvSpPr>
          <p:spPr bwMode="auto">
            <a:xfrm>
              <a:off x="1392" y="1600"/>
              <a:ext cx="1" cy="1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 name="Line 114"/>
            <p:cNvSpPr>
              <a:spLocks noChangeShapeType="1"/>
            </p:cNvSpPr>
            <p:nvPr/>
          </p:nvSpPr>
          <p:spPr bwMode="auto">
            <a:xfrm>
              <a:off x="1710" y="1600"/>
              <a:ext cx="1" cy="1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 name="Line 115"/>
            <p:cNvSpPr>
              <a:spLocks noChangeShapeType="1"/>
            </p:cNvSpPr>
            <p:nvPr/>
          </p:nvSpPr>
          <p:spPr bwMode="auto">
            <a:xfrm>
              <a:off x="2028" y="1600"/>
              <a:ext cx="1" cy="1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 name="Freeform 116"/>
            <p:cNvSpPr>
              <a:spLocks/>
            </p:cNvSpPr>
            <p:nvPr/>
          </p:nvSpPr>
          <p:spPr bwMode="auto">
            <a:xfrm>
              <a:off x="912" y="1359"/>
              <a:ext cx="1275" cy="241"/>
            </a:xfrm>
            <a:custGeom>
              <a:avLst/>
              <a:gdLst>
                <a:gd name="T0" fmla="*/ 0 w 1275"/>
                <a:gd name="T1" fmla="*/ 0 h 241"/>
                <a:gd name="T2" fmla="*/ 1275 w 1275"/>
                <a:gd name="T3" fmla="*/ 3 h 241"/>
                <a:gd name="T4" fmla="*/ 1275 w 1275"/>
                <a:gd name="T5" fmla="*/ 241 h 241"/>
                <a:gd name="T6" fmla="*/ 3 w 1275"/>
                <a:gd name="T7" fmla="*/ 241 h 241"/>
                <a:gd name="T8" fmla="*/ 3 w 1275"/>
                <a:gd name="T9" fmla="*/ 3 h 241"/>
                <a:gd name="T10" fmla="*/ 0 w 1275"/>
                <a:gd name="T11" fmla="*/ 0 h 241"/>
                <a:gd name="T12" fmla="*/ 0 60000 65536"/>
                <a:gd name="T13" fmla="*/ 0 60000 65536"/>
                <a:gd name="T14" fmla="*/ 0 60000 65536"/>
                <a:gd name="T15" fmla="*/ 0 60000 65536"/>
                <a:gd name="T16" fmla="*/ 0 60000 65536"/>
                <a:gd name="T17" fmla="*/ 0 60000 65536"/>
                <a:gd name="T18" fmla="*/ 0 w 1275"/>
                <a:gd name="T19" fmla="*/ 0 h 241"/>
                <a:gd name="T20" fmla="*/ 1275 w 1275"/>
                <a:gd name="T21" fmla="*/ 241 h 241"/>
              </a:gdLst>
              <a:ahLst/>
              <a:cxnLst>
                <a:cxn ang="T12">
                  <a:pos x="T0" y="T1"/>
                </a:cxn>
                <a:cxn ang="T13">
                  <a:pos x="T2" y="T3"/>
                </a:cxn>
                <a:cxn ang="T14">
                  <a:pos x="T4" y="T5"/>
                </a:cxn>
                <a:cxn ang="T15">
                  <a:pos x="T6" y="T7"/>
                </a:cxn>
                <a:cxn ang="T16">
                  <a:pos x="T8" y="T9"/>
                </a:cxn>
                <a:cxn ang="T17">
                  <a:pos x="T10" y="T11"/>
                </a:cxn>
              </a:cxnLst>
              <a:rect l="T18" t="T19" r="T20" b="T21"/>
              <a:pathLst>
                <a:path w="1275" h="241">
                  <a:moveTo>
                    <a:pt x="0" y="0"/>
                  </a:moveTo>
                  <a:lnTo>
                    <a:pt x="1275" y="3"/>
                  </a:lnTo>
                  <a:lnTo>
                    <a:pt x="1275" y="241"/>
                  </a:lnTo>
                  <a:lnTo>
                    <a:pt x="3" y="241"/>
                  </a:lnTo>
                  <a:lnTo>
                    <a:pt x="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Freeform 117"/>
            <p:cNvSpPr>
              <a:spLocks/>
            </p:cNvSpPr>
            <p:nvPr/>
          </p:nvSpPr>
          <p:spPr bwMode="auto">
            <a:xfrm>
              <a:off x="912" y="1359"/>
              <a:ext cx="1275" cy="241"/>
            </a:xfrm>
            <a:custGeom>
              <a:avLst/>
              <a:gdLst>
                <a:gd name="T0" fmla="*/ 0 w 1275"/>
                <a:gd name="T1" fmla="*/ 0 h 241"/>
                <a:gd name="T2" fmla="*/ 1275 w 1275"/>
                <a:gd name="T3" fmla="*/ 3 h 241"/>
                <a:gd name="T4" fmla="*/ 1275 w 1275"/>
                <a:gd name="T5" fmla="*/ 241 h 241"/>
                <a:gd name="T6" fmla="*/ 3 w 1275"/>
                <a:gd name="T7" fmla="*/ 241 h 241"/>
                <a:gd name="T8" fmla="*/ 3 w 1275"/>
                <a:gd name="T9" fmla="*/ 3 h 241"/>
                <a:gd name="T10" fmla="*/ 0 60000 65536"/>
                <a:gd name="T11" fmla="*/ 0 60000 65536"/>
                <a:gd name="T12" fmla="*/ 0 60000 65536"/>
                <a:gd name="T13" fmla="*/ 0 60000 65536"/>
                <a:gd name="T14" fmla="*/ 0 60000 65536"/>
                <a:gd name="T15" fmla="*/ 0 w 1275"/>
                <a:gd name="T16" fmla="*/ 0 h 241"/>
                <a:gd name="T17" fmla="*/ 1275 w 1275"/>
                <a:gd name="T18" fmla="*/ 241 h 241"/>
              </a:gdLst>
              <a:ahLst/>
              <a:cxnLst>
                <a:cxn ang="T10">
                  <a:pos x="T0" y="T1"/>
                </a:cxn>
                <a:cxn ang="T11">
                  <a:pos x="T2" y="T3"/>
                </a:cxn>
                <a:cxn ang="T12">
                  <a:pos x="T4" y="T5"/>
                </a:cxn>
                <a:cxn ang="T13">
                  <a:pos x="T6" y="T7"/>
                </a:cxn>
                <a:cxn ang="T14">
                  <a:pos x="T8" y="T9"/>
                </a:cxn>
              </a:cxnLst>
              <a:rect l="T15" t="T16" r="T17" b="T18"/>
              <a:pathLst>
                <a:path w="1275" h="241">
                  <a:moveTo>
                    <a:pt x="0" y="0"/>
                  </a:moveTo>
                  <a:lnTo>
                    <a:pt x="1275" y="3"/>
                  </a:lnTo>
                  <a:lnTo>
                    <a:pt x="1275" y="241"/>
                  </a:lnTo>
                  <a:lnTo>
                    <a:pt x="3" y="241"/>
                  </a:lnTo>
                  <a:lnTo>
                    <a:pt x="3" y="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3" name="Freeform 118"/>
            <p:cNvSpPr>
              <a:spLocks/>
            </p:cNvSpPr>
            <p:nvPr/>
          </p:nvSpPr>
          <p:spPr bwMode="auto">
            <a:xfrm>
              <a:off x="912" y="1730"/>
              <a:ext cx="1275" cy="522"/>
            </a:xfrm>
            <a:custGeom>
              <a:avLst/>
              <a:gdLst>
                <a:gd name="T0" fmla="*/ 0 w 1275"/>
                <a:gd name="T1" fmla="*/ 0 h 522"/>
                <a:gd name="T2" fmla="*/ 1275 w 1275"/>
                <a:gd name="T3" fmla="*/ 0 h 522"/>
                <a:gd name="T4" fmla="*/ 1275 w 1275"/>
                <a:gd name="T5" fmla="*/ 522 h 522"/>
                <a:gd name="T6" fmla="*/ 3 w 1275"/>
                <a:gd name="T7" fmla="*/ 522 h 522"/>
                <a:gd name="T8" fmla="*/ 3 w 1275"/>
                <a:gd name="T9" fmla="*/ 0 h 522"/>
                <a:gd name="T10" fmla="*/ 0 w 1275"/>
                <a:gd name="T11" fmla="*/ 0 h 522"/>
                <a:gd name="T12" fmla="*/ 0 60000 65536"/>
                <a:gd name="T13" fmla="*/ 0 60000 65536"/>
                <a:gd name="T14" fmla="*/ 0 60000 65536"/>
                <a:gd name="T15" fmla="*/ 0 60000 65536"/>
                <a:gd name="T16" fmla="*/ 0 60000 65536"/>
                <a:gd name="T17" fmla="*/ 0 60000 65536"/>
                <a:gd name="T18" fmla="*/ 0 w 1275"/>
                <a:gd name="T19" fmla="*/ 0 h 522"/>
                <a:gd name="T20" fmla="*/ 1275 w 1275"/>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1275" h="522">
                  <a:moveTo>
                    <a:pt x="0" y="0"/>
                  </a:moveTo>
                  <a:lnTo>
                    <a:pt x="1275" y="0"/>
                  </a:lnTo>
                  <a:lnTo>
                    <a:pt x="1275" y="522"/>
                  </a:lnTo>
                  <a:lnTo>
                    <a:pt x="3" y="522"/>
                  </a:lnTo>
                  <a:lnTo>
                    <a:pt x="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 name="Freeform 119"/>
            <p:cNvSpPr>
              <a:spLocks/>
            </p:cNvSpPr>
            <p:nvPr/>
          </p:nvSpPr>
          <p:spPr bwMode="auto">
            <a:xfrm>
              <a:off x="912" y="1730"/>
              <a:ext cx="1275" cy="522"/>
            </a:xfrm>
            <a:custGeom>
              <a:avLst/>
              <a:gdLst>
                <a:gd name="T0" fmla="*/ 0 w 1275"/>
                <a:gd name="T1" fmla="*/ 0 h 522"/>
                <a:gd name="T2" fmla="*/ 1275 w 1275"/>
                <a:gd name="T3" fmla="*/ 0 h 522"/>
                <a:gd name="T4" fmla="*/ 1275 w 1275"/>
                <a:gd name="T5" fmla="*/ 522 h 522"/>
                <a:gd name="T6" fmla="*/ 3 w 1275"/>
                <a:gd name="T7" fmla="*/ 522 h 522"/>
                <a:gd name="T8" fmla="*/ 3 w 1275"/>
                <a:gd name="T9" fmla="*/ 0 h 522"/>
                <a:gd name="T10" fmla="*/ 0 60000 65536"/>
                <a:gd name="T11" fmla="*/ 0 60000 65536"/>
                <a:gd name="T12" fmla="*/ 0 60000 65536"/>
                <a:gd name="T13" fmla="*/ 0 60000 65536"/>
                <a:gd name="T14" fmla="*/ 0 60000 65536"/>
                <a:gd name="T15" fmla="*/ 0 w 1275"/>
                <a:gd name="T16" fmla="*/ 0 h 522"/>
                <a:gd name="T17" fmla="*/ 1275 w 1275"/>
                <a:gd name="T18" fmla="*/ 522 h 522"/>
              </a:gdLst>
              <a:ahLst/>
              <a:cxnLst>
                <a:cxn ang="T10">
                  <a:pos x="T0" y="T1"/>
                </a:cxn>
                <a:cxn ang="T11">
                  <a:pos x="T2" y="T3"/>
                </a:cxn>
                <a:cxn ang="T12">
                  <a:pos x="T4" y="T5"/>
                </a:cxn>
                <a:cxn ang="T13">
                  <a:pos x="T6" y="T7"/>
                </a:cxn>
                <a:cxn ang="T14">
                  <a:pos x="T8" y="T9"/>
                </a:cxn>
              </a:cxnLst>
              <a:rect l="T15" t="T16" r="T17" b="T18"/>
              <a:pathLst>
                <a:path w="1275" h="522">
                  <a:moveTo>
                    <a:pt x="0" y="0"/>
                  </a:moveTo>
                  <a:lnTo>
                    <a:pt x="1275" y="0"/>
                  </a:lnTo>
                  <a:lnTo>
                    <a:pt x="1275" y="522"/>
                  </a:lnTo>
                  <a:lnTo>
                    <a:pt x="3" y="522"/>
                  </a:lnTo>
                  <a:lnTo>
                    <a:pt x="3"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 name="Line 120"/>
            <p:cNvSpPr>
              <a:spLocks noChangeShapeType="1"/>
            </p:cNvSpPr>
            <p:nvPr/>
          </p:nvSpPr>
          <p:spPr bwMode="auto">
            <a:xfrm>
              <a:off x="1071" y="1120"/>
              <a:ext cx="3" cy="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 name="Line 121"/>
            <p:cNvSpPr>
              <a:spLocks noChangeShapeType="1"/>
            </p:cNvSpPr>
            <p:nvPr/>
          </p:nvSpPr>
          <p:spPr bwMode="auto">
            <a:xfrm>
              <a:off x="2028" y="1123"/>
              <a:ext cx="1"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 name="Freeform 122"/>
            <p:cNvSpPr>
              <a:spLocks/>
            </p:cNvSpPr>
            <p:nvPr/>
          </p:nvSpPr>
          <p:spPr bwMode="auto">
            <a:xfrm>
              <a:off x="912" y="1200"/>
              <a:ext cx="1275" cy="82"/>
            </a:xfrm>
            <a:custGeom>
              <a:avLst/>
              <a:gdLst>
                <a:gd name="T0" fmla="*/ 0 w 1275"/>
                <a:gd name="T1" fmla="*/ 0 h 82"/>
                <a:gd name="T2" fmla="*/ 1275 w 1275"/>
                <a:gd name="T3" fmla="*/ 3 h 82"/>
                <a:gd name="T4" fmla="*/ 1275 w 1275"/>
                <a:gd name="T5" fmla="*/ 82 h 82"/>
                <a:gd name="T6" fmla="*/ 3 w 1275"/>
                <a:gd name="T7" fmla="*/ 82 h 82"/>
                <a:gd name="T8" fmla="*/ 3 w 1275"/>
                <a:gd name="T9" fmla="*/ 3 h 82"/>
                <a:gd name="T10" fmla="*/ 0 w 1275"/>
                <a:gd name="T11" fmla="*/ 0 h 82"/>
                <a:gd name="T12" fmla="*/ 0 60000 65536"/>
                <a:gd name="T13" fmla="*/ 0 60000 65536"/>
                <a:gd name="T14" fmla="*/ 0 60000 65536"/>
                <a:gd name="T15" fmla="*/ 0 60000 65536"/>
                <a:gd name="T16" fmla="*/ 0 60000 65536"/>
                <a:gd name="T17" fmla="*/ 0 60000 65536"/>
                <a:gd name="T18" fmla="*/ 0 w 1275"/>
                <a:gd name="T19" fmla="*/ 0 h 82"/>
                <a:gd name="T20" fmla="*/ 1275 w 1275"/>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1275" h="82">
                  <a:moveTo>
                    <a:pt x="0" y="0"/>
                  </a:moveTo>
                  <a:lnTo>
                    <a:pt x="1275" y="3"/>
                  </a:lnTo>
                  <a:lnTo>
                    <a:pt x="1275" y="82"/>
                  </a:lnTo>
                  <a:lnTo>
                    <a:pt x="3" y="82"/>
                  </a:lnTo>
                  <a:lnTo>
                    <a:pt x="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 name="Freeform 123"/>
            <p:cNvSpPr>
              <a:spLocks/>
            </p:cNvSpPr>
            <p:nvPr/>
          </p:nvSpPr>
          <p:spPr bwMode="auto">
            <a:xfrm>
              <a:off x="912" y="1200"/>
              <a:ext cx="1275" cy="82"/>
            </a:xfrm>
            <a:custGeom>
              <a:avLst/>
              <a:gdLst>
                <a:gd name="T0" fmla="*/ 0 w 1275"/>
                <a:gd name="T1" fmla="*/ 0 h 82"/>
                <a:gd name="T2" fmla="*/ 1275 w 1275"/>
                <a:gd name="T3" fmla="*/ 3 h 82"/>
                <a:gd name="T4" fmla="*/ 1275 w 1275"/>
                <a:gd name="T5" fmla="*/ 82 h 82"/>
                <a:gd name="T6" fmla="*/ 3 w 1275"/>
                <a:gd name="T7" fmla="*/ 82 h 82"/>
                <a:gd name="T8" fmla="*/ 3 w 1275"/>
                <a:gd name="T9" fmla="*/ 3 h 82"/>
                <a:gd name="T10" fmla="*/ 0 60000 65536"/>
                <a:gd name="T11" fmla="*/ 0 60000 65536"/>
                <a:gd name="T12" fmla="*/ 0 60000 65536"/>
                <a:gd name="T13" fmla="*/ 0 60000 65536"/>
                <a:gd name="T14" fmla="*/ 0 60000 65536"/>
                <a:gd name="T15" fmla="*/ 0 w 1275"/>
                <a:gd name="T16" fmla="*/ 0 h 82"/>
                <a:gd name="T17" fmla="*/ 1275 w 1275"/>
                <a:gd name="T18" fmla="*/ 82 h 82"/>
              </a:gdLst>
              <a:ahLst/>
              <a:cxnLst>
                <a:cxn ang="T10">
                  <a:pos x="T0" y="T1"/>
                </a:cxn>
                <a:cxn ang="T11">
                  <a:pos x="T2" y="T3"/>
                </a:cxn>
                <a:cxn ang="T12">
                  <a:pos x="T4" y="T5"/>
                </a:cxn>
                <a:cxn ang="T13">
                  <a:pos x="T6" y="T7"/>
                </a:cxn>
                <a:cxn ang="T14">
                  <a:pos x="T8" y="T9"/>
                </a:cxn>
              </a:cxnLst>
              <a:rect l="T15" t="T16" r="T17" b="T18"/>
              <a:pathLst>
                <a:path w="1275" h="82">
                  <a:moveTo>
                    <a:pt x="0" y="0"/>
                  </a:moveTo>
                  <a:lnTo>
                    <a:pt x="1275" y="3"/>
                  </a:lnTo>
                  <a:lnTo>
                    <a:pt x="1275" y="82"/>
                  </a:lnTo>
                  <a:lnTo>
                    <a:pt x="3" y="82"/>
                  </a:lnTo>
                  <a:lnTo>
                    <a:pt x="3" y="3"/>
                  </a:lnTo>
                </a:path>
              </a:pathLst>
            </a:custGeom>
            <a:solidFill>
              <a:srgbClr val="FFFF00"/>
            </a:solidFill>
            <a:ln w="7938">
              <a:solidFill>
                <a:srgbClr val="000000"/>
              </a:solidFill>
              <a:prstDash val="solid"/>
              <a:round/>
              <a:headEnd/>
              <a:tailEnd/>
            </a:ln>
          </p:spPr>
          <p:txBody>
            <a:bodyPr/>
            <a:lstStyle/>
            <a:p>
              <a:endParaRPr lang="zh-CN" altLang="en-US"/>
            </a:p>
          </p:txBody>
        </p:sp>
        <p:sp>
          <p:nvSpPr>
            <p:cNvPr id="239" name="Freeform 124"/>
            <p:cNvSpPr>
              <a:spLocks/>
            </p:cNvSpPr>
            <p:nvPr/>
          </p:nvSpPr>
          <p:spPr bwMode="auto">
            <a:xfrm>
              <a:off x="915" y="805"/>
              <a:ext cx="318" cy="318"/>
            </a:xfrm>
            <a:custGeom>
              <a:avLst/>
              <a:gdLst>
                <a:gd name="T0" fmla="*/ 316 w 318"/>
                <a:gd name="T1" fmla="*/ 159 h 318"/>
                <a:gd name="T2" fmla="*/ 316 w 318"/>
                <a:gd name="T3" fmla="*/ 186 h 318"/>
                <a:gd name="T4" fmla="*/ 310 w 318"/>
                <a:gd name="T5" fmla="*/ 209 h 318"/>
                <a:gd name="T6" fmla="*/ 300 w 318"/>
                <a:gd name="T7" fmla="*/ 231 h 318"/>
                <a:gd name="T8" fmla="*/ 286 w 318"/>
                <a:gd name="T9" fmla="*/ 252 h 318"/>
                <a:gd name="T10" fmla="*/ 270 w 318"/>
                <a:gd name="T11" fmla="*/ 270 h 318"/>
                <a:gd name="T12" fmla="*/ 252 w 318"/>
                <a:gd name="T13" fmla="*/ 286 h 318"/>
                <a:gd name="T14" fmla="*/ 231 w 318"/>
                <a:gd name="T15" fmla="*/ 300 h 318"/>
                <a:gd name="T16" fmla="*/ 209 w 318"/>
                <a:gd name="T17" fmla="*/ 310 h 318"/>
                <a:gd name="T18" fmla="*/ 183 w 318"/>
                <a:gd name="T19" fmla="*/ 315 h 318"/>
                <a:gd name="T20" fmla="*/ 159 w 318"/>
                <a:gd name="T21" fmla="*/ 318 h 318"/>
                <a:gd name="T22" fmla="*/ 133 w 318"/>
                <a:gd name="T23" fmla="*/ 315 h 318"/>
                <a:gd name="T24" fmla="*/ 109 w 318"/>
                <a:gd name="T25" fmla="*/ 310 h 318"/>
                <a:gd name="T26" fmla="*/ 85 w 318"/>
                <a:gd name="T27" fmla="*/ 300 h 318"/>
                <a:gd name="T28" fmla="*/ 64 w 318"/>
                <a:gd name="T29" fmla="*/ 286 h 318"/>
                <a:gd name="T30" fmla="*/ 45 w 318"/>
                <a:gd name="T31" fmla="*/ 270 h 318"/>
                <a:gd name="T32" fmla="*/ 29 w 318"/>
                <a:gd name="T33" fmla="*/ 252 h 318"/>
                <a:gd name="T34" fmla="*/ 16 w 318"/>
                <a:gd name="T35" fmla="*/ 231 h 318"/>
                <a:gd name="T36" fmla="*/ 8 w 318"/>
                <a:gd name="T37" fmla="*/ 209 h 318"/>
                <a:gd name="T38" fmla="*/ 0 w 318"/>
                <a:gd name="T39" fmla="*/ 186 h 318"/>
                <a:gd name="T40" fmla="*/ 0 w 318"/>
                <a:gd name="T41" fmla="*/ 159 h 318"/>
                <a:gd name="T42" fmla="*/ 0 w 318"/>
                <a:gd name="T43" fmla="*/ 133 h 318"/>
                <a:gd name="T44" fmla="*/ 8 w 318"/>
                <a:gd name="T45" fmla="*/ 109 h 318"/>
                <a:gd name="T46" fmla="*/ 16 w 318"/>
                <a:gd name="T47" fmla="*/ 85 h 318"/>
                <a:gd name="T48" fmla="*/ 29 w 318"/>
                <a:gd name="T49" fmla="*/ 64 h 318"/>
                <a:gd name="T50" fmla="*/ 45 w 318"/>
                <a:gd name="T51" fmla="*/ 45 h 318"/>
                <a:gd name="T52" fmla="*/ 64 w 318"/>
                <a:gd name="T53" fmla="*/ 29 h 318"/>
                <a:gd name="T54" fmla="*/ 85 w 318"/>
                <a:gd name="T55" fmla="*/ 19 h 318"/>
                <a:gd name="T56" fmla="*/ 109 w 318"/>
                <a:gd name="T57" fmla="*/ 8 h 318"/>
                <a:gd name="T58" fmla="*/ 133 w 318"/>
                <a:gd name="T59" fmla="*/ 3 h 318"/>
                <a:gd name="T60" fmla="*/ 159 w 318"/>
                <a:gd name="T61" fmla="*/ 0 h 318"/>
                <a:gd name="T62" fmla="*/ 183 w 318"/>
                <a:gd name="T63" fmla="*/ 3 h 318"/>
                <a:gd name="T64" fmla="*/ 209 w 318"/>
                <a:gd name="T65" fmla="*/ 8 h 318"/>
                <a:gd name="T66" fmla="*/ 231 w 318"/>
                <a:gd name="T67" fmla="*/ 19 h 318"/>
                <a:gd name="T68" fmla="*/ 252 w 318"/>
                <a:gd name="T69" fmla="*/ 29 h 318"/>
                <a:gd name="T70" fmla="*/ 270 w 318"/>
                <a:gd name="T71" fmla="*/ 45 h 318"/>
                <a:gd name="T72" fmla="*/ 286 w 318"/>
                <a:gd name="T73" fmla="*/ 64 h 318"/>
                <a:gd name="T74" fmla="*/ 300 w 318"/>
                <a:gd name="T75" fmla="*/ 85 h 318"/>
                <a:gd name="T76" fmla="*/ 310 w 318"/>
                <a:gd name="T77" fmla="*/ 109 h 318"/>
                <a:gd name="T78" fmla="*/ 316 w 318"/>
                <a:gd name="T79" fmla="*/ 133 h 318"/>
                <a:gd name="T80" fmla="*/ 318 w 318"/>
                <a:gd name="T81" fmla="*/ 159 h 318"/>
                <a:gd name="T82" fmla="*/ 316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86"/>
                  </a:lnTo>
                  <a:lnTo>
                    <a:pt x="310" y="209"/>
                  </a:lnTo>
                  <a:lnTo>
                    <a:pt x="300" y="231"/>
                  </a:lnTo>
                  <a:lnTo>
                    <a:pt x="286" y="252"/>
                  </a:lnTo>
                  <a:lnTo>
                    <a:pt x="270" y="270"/>
                  </a:lnTo>
                  <a:lnTo>
                    <a:pt x="252" y="286"/>
                  </a:lnTo>
                  <a:lnTo>
                    <a:pt x="231" y="300"/>
                  </a:lnTo>
                  <a:lnTo>
                    <a:pt x="209" y="310"/>
                  </a:lnTo>
                  <a:lnTo>
                    <a:pt x="183" y="315"/>
                  </a:lnTo>
                  <a:lnTo>
                    <a:pt x="159" y="318"/>
                  </a:lnTo>
                  <a:lnTo>
                    <a:pt x="133" y="315"/>
                  </a:lnTo>
                  <a:lnTo>
                    <a:pt x="109" y="310"/>
                  </a:lnTo>
                  <a:lnTo>
                    <a:pt x="85" y="300"/>
                  </a:lnTo>
                  <a:lnTo>
                    <a:pt x="64" y="286"/>
                  </a:lnTo>
                  <a:lnTo>
                    <a:pt x="45" y="270"/>
                  </a:lnTo>
                  <a:lnTo>
                    <a:pt x="29" y="252"/>
                  </a:lnTo>
                  <a:lnTo>
                    <a:pt x="16" y="231"/>
                  </a:lnTo>
                  <a:lnTo>
                    <a:pt x="8" y="209"/>
                  </a:lnTo>
                  <a:lnTo>
                    <a:pt x="0" y="186"/>
                  </a:lnTo>
                  <a:lnTo>
                    <a:pt x="0" y="159"/>
                  </a:lnTo>
                  <a:lnTo>
                    <a:pt x="0" y="133"/>
                  </a:lnTo>
                  <a:lnTo>
                    <a:pt x="8" y="109"/>
                  </a:lnTo>
                  <a:lnTo>
                    <a:pt x="16" y="85"/>
                  </a:lnTo>
                  <a:lnTo>
                    <a:pt x="29" y="64"/>
                  </a:lnTo>
                  <a:lnTo>
                    <a:pt x="45" y="45"/>
                  </a:lnTo>
                  <a:lnTo>
                    <a:pt x="64" y="29"/>
                  </a:lnTo>
                  <a:lnTo>
                    <a:pt x="85" y="19"/>
                  </a:lnTo>
                  <a:lnTo>
                    <a:pt x="109" y="8"/>
                  </a:lnTo>
                  <a:lnTo>
                    <a:pt x="133" y="3"/>
                  </a:lnTo>
                  <a:lnTo>
                    <a:pt x="159" y="0"/>
                  </a:lnTo>
                  <a:lnTo>
                    <a:pt x="183" y="3"/>
                  </a:lnTo>
                  <a:lnTo>
                    <a:pt x="209" y="8"/>
                  </a:lnTo>
                  <a:lnTo>
                    <a:pt x="231" y="19"/>
                  </a:lnTo>
                  <a:lnTo>
                    <a:pt x="252" y="29"/>
                  </a:lnTo>
                  <a:lnTo>
                    <a:pt x="270" y="45"/>
                  </a:lnTo>
                  <a:lnTo>
                    <a:pt x="286" y="64"/>
                  </a:lnTo>
                  <a:lnTo>
                    <a:pt x="300" y="85"/>
                  </a:lnTo>
                  <a:lnTo>
                    <a:pt x="310" y="109"/>
                  </a:lnTo>
                  <a:lnTo>
                    <a:pt x="316" y="133"/>
                  </a:lnTo>
                  <a:lnTo>
                    <a:pt x="318" y="159"/>
                  </a:lnTo>
                  <a:lnTo>
                    <a:pt x="316"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 name="Freeform 125"/>
            <p:cNvSpPr>
              <a:spLocks/>
            </p:cNvSpPr>
            <p:nvPr/>
          </p:nvSpPr>
          <p:spPr bwMode="auto">
            <a:xfrm>
              <a:off x="915" y="805"/>
              <a:ext cx="318" cy="318"/>
            </a:xfrm>
            <a:custGeom>
              <a:avLst/>
              <a:gdLst>
                <a:gd name="T0" fmla="*/ 316 w 318"/>
                <a:gd name="T1" fmla="*/ 159 h 318"/>
                <a:gd name="T2" fmla="*/ 316 w 318"/>
                <a:gd name="T3" fmla="*/ 133 h 318"/>
                <a:gd name="T4" fmla="*/ 310 w 318"/>
                <a:gd name="T5" fmla="*/ 109 h 318"/>
                <a:gd name="T6" fmla="*/ 300 w 318"/>
                <a:gd name="T7" fmla="*/ 85 h 318"/>
                <a:gd name="T8" fmla="*/ 286 w 318"/>
                <a:gd name="T9" fmla="*/ 64 h 318"/>
                <a:gd name="T10" fmla="*/ 270 w 318"/>
                <a:gd name="T11" fmla="*/ 45 h 318"/>
                <a:gd name="T12" fmla="*/ 252 w 318"/>
                <a:gd name="T13" fmla="*/ 29 h 318"/>
                <a:gd name="T14" fmla="*/ 231 w 318"/>
                <a:gd name="T15" fmla="*/ 19 h 318"/>
                <a:gd name="T16" fmla="*/ 209 w 318"/>
                <a:gd name="T17" fmla="*/ 8 h 318"/>
                <a:gd name="T18" fmla="*/ 183 w 318"/>
                <a:gd name="T19" fmla="*/ 3 h 318"/>
                <a:gd name="T20" fmla="*/ 159 w 318"/>
                <a:gd name="T21" fmla="*/ 0 h 318"/>
                <a:gd name="T22" fmla="*/ 133 w 318"/>
                <a:gd name="T23" fmla="*/ 3 h 318"/>
                <a:gd name="T24" fmla="*/ 109 w 318"/>
                <a:gd name="T25" fmla="*/ 8 h 318"/>
                <a:gd name="T26" fmla="*/ 85 w 318"/>
                <a:gd name="T27" fmla="*/ 19 h 318"/>
                <a:gd name="T28" fmla="*/ 64 w 318"/>
                <a:gd name="T29" fmla="*/ 29 h 318"/>
                <a:gd name="T30" fmla="*/ 45 w 318"/>
                <a:gd name="T31" fmla="*/ 45 h 318"/>
                <a:gd name="T32" fmla="*/ 29 w 318"/>
                <a:gd name="T33" fmla="*/ 64 h 318"/>
                <a:gd name="T34" fmla="*/ 16 w 318"/>
                <a:gd name="T35" fmla="*/ 85 h 318"/>
                <a:gd name="T36" fmla="*/ 8 w 318"/>
                <a:gd name="T37" fmla="*/ 109 h 318"/>
                <a:gd name="T38" fmla="*/ 0 w 318"/>
                <a:gd name="T39" fmla="*/ 133 h 318"/>
                <a:gd name="T40" fmla="*/ 0 w 318"/>
                <a:gd name="T41" fmla="*/ 159 h 318"/>
                <a:gd name="T42" fmla="*/ 0 w 318"/>
                <a:gd name="T43" fmla="*/ 186 h 318"/>
                <a:gd name="T44" fmla="*/ 8 w 318"/>
                <a:gd name="T45" fmla="*/ 209 h 318"/>
                <a:gd name="T46" fmla="*/ 16 w 318"/>
                <a:gd name="T47" fmla="*/ 231 h 318"/>
                <a:gd name="T48" fmla="*/ 29 w 318"/>
                <a:gd name="T49" fmla="*/ 252 h 318"/>
                <a:gd name="T50" fmla="*/ 45 w 318"/>
                <a:gd name="T51" fmla="*/ 270 h 318"/>
                <a:gd name="T52" fmla="*/ 64 w 318"/>
                <a:gd name="T53" fmla="*/ 286 h 318"/>
                <a:gd name="T54" fmla="*/ 85 w 318"/>
                <a:gd name="T55" fmla="*/ 300 h 318"/>
                <a:gd name="T56" fmla="*/ 109 w 318"/>
                <a:gd name="T57" fmla="*/ 310 h 318"/>
                <a:gd name="T58" fmla="*/ 133 w 318"/>
                <a:gd name="T59" fmla="*/ 315 h 318"/>
                <a:gd name="T60" fmla="*/ 159 w 318"/>
                <a:gd name="T61" fmla="*/ 318 h 318"/>
                <a:gd name="T62" fmla="*/ 183 w 318"/>
                <a:gd name="T63" fmla="*/ 315 h 318"/>
                <a:gd name="T64" fmla="*/ 209 w 318"/>
                <a:gd name="T65" fmla="*/ 310 h 318"/>
                <a:gd name="T66" fmla="*/ 231 w 318"/>
                <a:gd name="T67" fmla="*/ 300 h 318"/>
                <a:gd name="T68" fmla="*/ 252 w 318"/>
                <a:gd name="T69" fmla="*/ 286 h 318"/>
                <a:gd name="T70" fmla="*/ 270 w 318"/>
                <a:gd name="T71" fmla="*/ 270 h 318"/>
                <a:gd name="T72" fmla="*/ 286 w 318"/>
                <a:gd name="T73" fmla="*/ 252 h 318"/>
                <a:gd name="T74" fmla="*/ 300 w 318"/>
                <a:gd name="T75" fmla="*/ 231 h 318"/>
                <a:gd name="T76" fmla="*/ 310 w 318"/>
                <a:gd name="T77" fmla="*/ 209 h 318"/>
                <a:gd name="T78" fmla="*/ 316 w 318"/>
                <a:gd name="T79" fmla="*/ 186 h 318"/>
                <a:gd name="T80" fmla="*/ 318 w 318"/>
                <a:gd name="T81" fmla="*/ 159 h 318"/>
                <a:gd name="T82" fmla="*/ 318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33"/>
                  </a:lnTo>
                  <a:lnTo>
                    <a:pt x="310" y="109"/>
                  </a:lnTo>
                  <a:lnTo>
                    <a:pt x="300" y="85"/>
                  </a:lnTo>
                  <a:lnTo>
                    <a:pt x="286" y="64"/>
                  </a:lnTo>
                  <a:lnTo>
                    <a:pt x="270" y="45"/>
                  </a:lnTo>
                  <a:lnTo>
                    <a:pt x="252" y="29"/>
                  </a:lnTo>
                  <a:lnTo>
                    <a:pt x="231" y="19"/>
                  </a:lnTo>
                  <a:lnTo>
                    <a:pt x="209" y="8"/>
                  </a:lnTo>
                  <a:lnTo>
                    <a:pt x="183" y="3"/>
                  </a:lnTo>
                  <a:lnTo>
                    <a:pt x="159" y="0"/>
                  </a:lnTo>
                  <a:lnTo>
                    <a:pt x="133" y="3"/>
                  </a:lnTo>
                  <a:lnTo>
                    <a:pt x="109" y="8"/>
                  </a:lnTo>
                  <a:lnTo>
                    <a:pt x="85" y="19"/>
                  </a:lnTo>
                  <a:lnTo>
                    <a:pt x="64" y="29"/>
                  </a:lnTo>
                  <a:lnTo>
                    <a:pt x="45" y="45"/>
                  </a:lnTo>
                  <a:lnTo>
                    <a:pt x="29" y="64"/>
                  </a:lnTo>
                  <a:lnTo>
                    <a:pt x="16" y="85"/>
                  </a:lnTo>
                  <a:lnTo>
                    <a:pt x="8" y="109"/>
                  </a:lnTo>
                  <a:lnTo>
                    <a:pt x="0" y="133"/>
                  </a:lnTo>
                  <a:lnTo>
                    <a:pt x="0" y="159"/>
                  </a:lnTo>
                  <a:lnTo>
                    <a:pt x="0" y="186"/>
                  </a:lnTo>
                  <a:lnTo>
                    <a:pt x="8" y="209"/>
                  </a:lnTo>
                  <a:lnTo>
                    <a:pt x="16" y="231"/>
                  </a:lnTo>
                  <a:lnTo>
                    <a:pt x="29" y="252"/>
                  </a:lnTo>
                  <a:lnTo>
                    <a:pt x="45" y="270"/>
                  </a:lnTo>
                  <a:lnTo>
                    <a:pt x="64" y="286"/>
                  </a:lnTo>
                  <a:lnTo>
                    <a:pt x="85" y="300"/>
                  </a:lnTo>
                  <a:lnTo>
                    <a:pt x="109" y="310"/>
                  </a:lnTo>
                  <a:lnTo>
                    <a:pt x="133" y="315"/>
                  </a:lnTo>
                  <a:lnTo>
                    <a:pt x="159" y="318"/>
                  </a:lnTo>
                  <a:lnTo>
                    <a:pt x="183" y="315"/>
                  </a:lnTo>
                  <a:lnTo>
                    <a:pt x="209" y="310"/>
                  </a:lnTo>
                  <a:lnTo>
                    <a:pt x="231" y="300"/>
                  </a:lnTo>
                  <a:lnTo>
                    <a:pt x="252" y="286"/>
                  </a:lnTo>
                  <a:lnTo>
                    <a:pt x="270" y="270"/>
                  </a:lnTo>
                  <a:lnTo>
                    <a:pt x="286" y="252"/>
                  </a:lnTo>
                  <a:lnTo>
                    <a:pt x="300" y="231"/>
                  </a:lnTo>
                  <a:lnTo>
                    <a:pt x="310"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1" name="Freeform 126"/>
            <p:cNvSpPr>
              <a:spLocks/>
            </p:cNvSpPr>
            <p:nvPr/>
          </p:nvSpPr>
          <p:spPr bwMode="auto">
            <a:xfrm>
              <a:off x="1869" y="805"/>
              <a:ext cx="318" cy="318"/>
            </a:xfrm>
            <a:custGeom>
              <a:avLst/>
              <a:gdLst>
                <a:gd name="T0" fmla="*/ 316 w 318"/>
                <a:gd name="T1" fmla="*/ 159 h 318"/>
                <a:gd name="T2" fmla="*/ 316 w 318"/>
                <a:gd name="T3" fmla="*/ 186 h 318"/>
                <a:gd name="T4" fmla="*/ 310 w 318"/>
                <a:gd name="T5" fmla="*/ 209 h 318"/>
                <a:gd name="T6" fmla="*/ 300 w 318"/>
                <a:gd name="T7" fmla="*/ 231 h 318"/>
                <a:gd name="T8" fmla="*/ 287 w 318"/>
                <a:gd name="T9" fmla="*/ 252 h 318"/>
                <a:gd name="T10" fmla="*/ 271 w 318"/>
                <a:gd name="T11" fmla="*/ 270 h 318"/>
                <a:gd name="T12" fmla="*/ 252 w 318"/>
                <a:gd name="T13" fmla="*/ 286 h 318"/>
                <a:gd name="T14" fmla="*/ 231 w 318"/>
                <a:gd name="T15" fmla="*/ 300 h 318"/>
                <a:gd name="T16" fmla="*/ 210 w 318"/>
                <a:gd name="T17" fmla="*/ 310 h 318"/>
                <a:gd name="T18" fmla="*/ 183 w 318"/>
                <a:gd name="T19" fmla="*/ 315 h 318"/>
                <a:gd name="T20" fmla="*/ 159 w 318"/>
                <a:gd name="T21" fmla="*/ 318 h 318"/>
                <a:gd name="T22" fmla="*/ 133 w 318"/>
                <a:gd name="T23" fmla="*/ 315 h 318"/>
                <a:gd name="T24" fmla="*/ 109 w 318"/>
                <a:gd name="T25" fmla="*/ 310 h 318"/>
                <a:gd name="T26" fmla="*/ 85 w 318"/>
                <a:gd name="T27" fmla="*/ 300 h 318"/>
                <a:gd name="T28" fmla="*/ 64 w 318"/>
                <a:gd name="T29" fmla="*/ 286 h 318"/>
                <a:gd name="T30" fmla="*/ 45 w 318"/>
                <a:gd name="T31" fmla="*/ 270 h 318"/>
                <a:gd name="T32" fmla="*/ 30 w 318"/>
                <a:gd name="T33" fmla="*/ 252 h 318"/>
                <a:gd name="T34" fmla="*/ 16 w 318"/>
                <a:gd name="T35" fmla="*/ 231 h 318"/>
                <a:gd name="T36" fmla="*/ 8 w 318"/>
                <a:gd name="T37" fmla="*/ 209 h 318"/>
                <a:gd name="T38" fmla="*/ 0 w 318"/>
                <a:gd name="T39" fmla="*/ 186 h 318"/>
                <a:gd name="T40" fmla="*/ 0 w 318"/>
                <a:gd name="T41" fmla="*/ 159 h 318"/>
                <a:gd name="T42" fmla="*/ 0 w 318"/>
                <a:gd name="T43" fmla="*/ 133 h 318"/>
                <a:gd name="T44" fmla="*/ 8 w 318"/>
                <a:gd name="T45" fmla="*/ 109 h 318"/>
                <a:gd name="T46" fmla="*/ 16 w 318"/>
                <a:gd name="T47" fmla="*/ 85 h 318"/>
                <a:gd name="T48" fmla="*/ 30 w 318"/>
                <a:gd name="T49" fmla="*/ 64 h 318"/>
                <a:gd name="T50" fmla="*/ 45 w 318"/>
                <a:gd name="T51" fmla="*/ 45 h 318"/>
                <a:gd name="T52" fmla="*/ 64 w 318"/>
                <a:gd name="T53" fmla="*/ 29 h 318"/>
                <a:gd name="T54" fmla="*/ 85 w 318"/>
                <a:gd name="T55" fmla="*/ 19 h 318"/>
                <a:gd name="T56" fmla="*/ 109 w 318"/>
                <a:gd name="T57" fmla="*/ 8 h 318"/>
                <a:gd name="T58" fmla="*/ 133 w 318"/>
                <a:gd name="T59" fmla="*/ 3 h 318"/>
                <a:gd name="T60" fmla="*/ 159 w 318"/>
                <a:gd name="T61" fmla="*/ 0 h 318"/>
                <a:gd name="T62" fmla="*/ 183 w 318"/>
                <a:gd name="T63" fmla="*/ 3 h 318"/>
                <a:gd name="T64" fmla="*/ 210 w 318"/>
                <a:gd name="T65" fmla="*/ 8 h 318"/>
                <a:gd name="T66" fmla="*/ 231 w 318"/>
                <a:gd name="T67" fmla="*/ 19 h 318"/>
                <a:gd name="T68" fmla="*/ 252 w 318"/>
                <a:gd name="T69" fmla="*/ 29 h 318"/>
                <a:gd name="T70" fmla="*/ 271 w 318"/>
                <a:gd name="T71" fmla="*/ 45 h 318"/>
                <a:gd name="T72" fmla="*/ 287 w 318"/>
                <a:gd name="T73" fmla="*/ 64 h 318"/>
                <a:gd name="T74" fmla="*/ 300 w 318"/>
                <a:gd name="T75" fmla="*/ 85 h 318"/>
                <a:gd name="T76" fmla="*/ 310 w 318"/>
                <a:gd name="T77" fmla="*/ 109 h 318"/>
                <a:gd name="T78" fmla="*/ 316 w 318"/>
                <a:gd name="T79" fmla="*/ 133 h 318"/>
                <a:gd name="T80" fmla="*/ 318 w 318"/>
                <a:gd name="T81" fmla="*/ 159 h 318"/>
                <a:gd name="T82" fmla="*/ 316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86"/>
                  </a:lnTo>
                  <a:lnTo>
                    <a:pt x="310" y="209"/>
                  </a:lnTo>
                  <a:lnTo>
                    <a:pt x="300" y="231"/>
                  </a:lnTo>
                  <a:lnTo>
                    <a:pt x="287" y="252"/>
                  </a:lnTo>
                  <a:lnTo>
                    <a:pt x="271" y="270"/>
                  </a:lnTo>
                  <a:lnTo>
                    <a:pt x="252" y="286"/>
                  </a:lnTo>
                  <a:lnTo>
                    <a:pt x="231" y="300"/>
                  </a:lnTo>
                  <a:lnTo>
                    <a:pt x="210" y="310"/>
                  </a:lnTo>
                  <a:lnTo>
                    <a:pt x="183" y="315"/>
                  </a:lnTo>
                  <a:lnTo>
                    <a:pt x="159" y="318"/>
                  </a:lnTo>
                  <a:lnTo>
                    <a:pt x="133" y="315"/>
                  </a:lnTo>
                  <a:lnTo>
                    <a:pt x="109" y="310"/>
                  </a:lnTo>
                  <a:lnTo>
                    <a:pt x="85" y="300"/>
                  </a:lnTo>
                  <a:lnTo>
                    <a:pt x="64" y="286"/>
                  </a:lnTo>
                  <a:lnTo>
                    <a:pt x="45" y="270"/>
                  </a:lnTo>
                  <a:lnTo>
                    <a:pt x="30" y="252"/>
                  </a:lnTo>
                  <a:lnTo>
                    <a:pt x="16" y="231"/>
                  </a:lnTo>
                  <a:lnTo>
                    <a:pt x="8" y="209"/>
                  </a:lnTo>
                  <a:lnTo>
                    <a:pt x="0" y="186"/>
                  </a:lnTo>
                  <a:lnTo>
                    <a:pt x="0" y="159"/>
                  </a:lnTo>
                  <a:lnTo>
                    <a:pt x="0" y="133"/>
                  </a:lnTo>
                  <a:lnTo>
                    <a:pt x="8" y="109"/>
                  </a:lnTo>
                  <a:lnTo>
                    <a:pt x="16" y="85"/>
                  </a:lnTo>
                  <a:lnTo>
                    <a:pt x="30" y="64"/>
                  </a:lnTo>
                  <a:lnTo>
                    <a:pt x="45" y="45"/>
                  </a:lnTo>
                  <a:lnTo>
                    <a:pt x="64" y="29"/>
                  </a:lnTo>
                  <a:lnTo>
                    <a:pt x="85" y="19"/>
                  </a:lnTo>
                  <a:lnTo>
                    <a:pt x="109" y="8"/>
                  </a:lnTo>
                  <a:lnTo>
                    <a:pt x="133" y="3"/>
                  </a:lnTo>
                  <a:lnTo>
                    <a:pt x="159" y="0"/>
                  </a:lnTo>
                  <a:lnTo>
                    <a:pt x="183" y="3"/>
                  </a:lnTo>
                  <a:lnTo>
                    <a:pt x="210" y="8"/>
                  </a:lnTo>
                  <a:lnTo>
                    <a:pt x="231" y="19"/>
                  </a:lnTo>
                  <a:lnTo>
                    <a:pt x="252" y="29"/>
                  </a:lnTo>
                  <a:lnTo>
                    <a:pt x="271" y="45"/>
                  </a:lnTo>
                  <a:lnTo>
                    <a:pt x="287" y="64"/>
                  </a:lnTo>
                  <a:lnTo>
                    <a:pt x="300" y="85"/>
                  </a:lnTo>
                  <a:lnTo>
                    <a:pt x="310" y="109"/>
                  </a:lnTo>
                  <a:lnTo>
                    <a:pt x="316" y="133"/>
                  </a:lnTo>
                  <a:lnTo>
                    <a:pt x="318" y="159"/>
                  </a:lnTo>
                  <a:lnTo>
                    <a:pt x="316"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2" name="Freeform 127"/>
            <p:cNvSpPr>
              <a:spLocks/>
            </p:cNvSpPr>
            <p:nvPr/>
          </p:nvSpPr>
          <p:spPr bwMode="auto">
            <a:xfrm>
              <a:off x="1869" y="805"/>
              <a:ext cx="318" cy="318"/>
            </a:xfrm>
            <a:custGeom>
              <a:avLst/>
              <a:gdLst>
                <a:gd name="T0" fmla="*/ 316 w 318"/>
                <a:gd name="T1" fmla="*/ 159 h 318"/>
                <a:gd name="T2" fmla="*/ 316 w 318"/>
                <a:gd name="T3" fmla="*/ 133 h 318"/>
                <a:gd name="T4" fmla="*/ 310 w 318"/>
                <a:gd name="T5" fmla="*/ 109 h 318"/>
                <a:gd name="T6" fmla="*/ 300 w 318"/>
                <a:gd name="T7" fmla="*/ 85 h 318"/>
                <a:gd name="T8" fmla="*/ 287 w 318"/>
                <a:gd name="T9" fmla="*/ 64 h 318"/>
                <a:gd name="T10" fmla="*/ 271 w 318"/>
                <a:gd name="T11" fmla="*/ 45 h 318"/>
                <a:gd name="T12" fmla="*/ 252 w 318"/>
                <a:gd name="T13" fmla="*/ 29 h 318"/>
                <a:gd name="T14" fmla="*/ 231 w 318"/>
                <a:gd name="T15" fmla="*/ 19 h 318"/>
                <a:gd name="T16" fmla="*/ 210 w 318"/>
                <a:gd name="T17" fmla="*/ 8 h 318"/>
                <a:gd name="T18" fmla="*/ 183 w 318"/>
                <a:gd name="T19" fmla="*/ 3 h 318"/>
                <a:gd name="T20" fmla="*/ 159 w 318"/>
                <a:gd name="T21" fmla="*/ 0 h 318"/>
                <a:gd name="T22" fmla="*/ 133 w 318"/>
                <a:gd name="T23" fmla="*/ 3 h 318"/>
                <a:gd name="T24" fmla="*/ 109 w 318"/>
                <a:gd name="T25" fmla="*/ 8 h 318"/>
                <a:gd name="T26" fmla="*/ 85 w 318"/>
                <a:gd name="T27" fmla="*/ 19 h 318"/>
                <a:gd name="T28" fmla="*/ 64 w 318"/>
                <a:gd name="T29" fmla="*/ 29 h 318"/>
                <a:gd name="T30" fmla="*/ 45 w 318"/>
                <a:gd name="T31" fmla="*/ 45 h 318"/>
                <a:gd name="T32" fmla="*/ 30 w 318"/>
                <a:gd name="T33" fmla="*/ 64 h 318"/>
                <a:gd name="T34" fmla="*/ 16 w 318"/>
                <a:gd name="T35" fmla="*/ 85 h 318"/>
                <a:gd name="T36" fmla="*/ 8 w 318"/>
                <a:gd name="T37" fmla="*/ 109 h 318"/>
                <a:gd name="T38" fmla="*/ 0 w 318"/>
                <a:gd name="T39" fmla="*/ 133 h 318"/>
                <a:gd name="T40" fmla="*/ 0 w 318"/>
                <a:gd name="T41" fmla="*/ 159 h 318"/>
                <a:gd name="T42" fmla="*/ 0 w 318"/>
                <a:gd name="T43" fmla="*/ 186 h 318"/>
                <a:gd name="T44" fmla="*/ 8 w 318"/>
                <a:gd name="T45" fmla="*/ 209 h 318"/>
                <a:gd name="T46" fmla="*/ 16 w 318"/>
                <a:gd name="T47" fmla="*/ 231 h 318"/>
                <a:gd name="T48" fmla="*/ 30 w 318"/>
                <a:gd name="T49" fmla="*/ 252 h 318"/>
                <a:gd name="T50" fmla="*/ 45 w 318"/>
                <a:gd name="T51" fmla="*/ 270 h 318"/>
                <a:gd name="T52" fmla="*/ 64 w 318"/>
                <a:gd name="T53" fmla="*/ 286 h 318"/>
                <a:gd name="T54" fmla="*/ 85 w 318"/>
                <a:gd name="T55" fmla="*/ 300 h 318"/>
                <a:gd name="T56" fmla="*/ 109 w 318"/>
                <a:gd name="T57" fmla="*/ 310 h 318"/>
                <a:gd name="T58" fmla="*/ 133 w 318"/>
                <a:gd name="T59" fmla="*/ 315 h 318"/>
                <a:gd name="T60" fmla="*/ 159 w 318"/>
                <a:gd name="T61" fmla="*/ 318 h 318"/>
                <a:gd name="T62" fmla="*/ 183 w 318"/>
                <a:gd name="T63" fmla="*/ 315 h 318"/>
                <a:gd name="T64" fmla="*/ 210 w 318"/>
                <a:gd name="T65" fmla="*/ 310 h 318"/>
                <a:gd name="T66" fmla="*/ 231 w 318"/>
                <a:gd name="T67" fmla="*/ 300 h 318"/>
                <a:gd name="T68" fmla="*/ 252 w 318"/>
                <a:gd name="T69" fmla="*/ 286 h 318"/>
                <a:gd name="T70" fmla="*/ 271 w 318"/>
                <a:gd name="T71" fmla="*/ 270 h 318"/>
                <a:gd name="T72" fmla="*/ 287 w 318"/>
                <a:gd name="T73" fmla="*/ 252 h 318"/>
                <a:gd name="T74" fmla="*/ 300 w 318"/>
                <a:gd name="T75" fmla="*/ 231 h 318"/>
                <a:gd name="T76" fmla="*/ 310 w 318"/>
                <a:gd name="T77" fmla="*/ 209 h 318"/>
                <a:gd name="T78" fmla="*/ 316 w 318"/>
                <a:gd name="T79" fmla="*/ 186 h 318"/>
                <a:gd name="T80" fmla="*/ 318 w 318"/>
                <a:gd name="T81" fmla="*/ 159 h 318"/>
                <a:gd name="T82" fmla="*/ 318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6" y="159"/>
                  </a:moveTo>
                  <a:lnTo>
                    <a:pt x="316" y="133"/>
                  </a:lnTo>
                  <a:lnTo>
                    <a:pt x="310" y="109"/>
                  </a:lnTo>
                  <a:lnTo>
                    <a:pt x="300" y="85"/>
                  </a:lnTo>
                  <a:lnTo>
                    <a:pt x="287" y="64"/>
                  </a:lnTo>
                  <a:lnTo>
                    <a:pt x="271" y="45"/>
                  </a:lnTo>
                  <a:lnTo>
                    <a:pt x="252" y="29"/>
                  </a:lnTo>
                  <a:lnTo>
                    <a:pt x="231" y="19"/>
                  </a:lnTo>
                  <a:lnTo>
                    <a:pt x="210" y="8"/>
                  </a:lnTo>
                  <a:lnTo>
                    <a:pt x="183" y="3"/>
                  </a:lnTo>
                  <a:lnTo>
                    <a:pt x="159" y="0"/>
                  </a:lnTo>
                  <a:lnTo>
                    <a:pt x="133" y="3"/>
                  </a:lnTo>
                  <a:lnTo>
                    <a:pt x="109" y="8"/>
                  </a:lnTo>
                  <a:lnTo>
                    <a:pt x="85" y="19"/>
                  </a:lnTo>
                  <a:lnTo>
                    <a:pt x="64" y="29"/>
                  </a:lnTo>
                  <a:lnTo>
                    <a:pt x="45" y="45"/>
                  </a:lnTo>
                  <a:lnTo>
                    <a:pt x="30" y="64"/>
                  </a:lnTo>
                  <a:lnTo>
                    <a:pt x="16" y="85"/>
                  </a:lnTo>
                  <a:lnTo>
                    <a:pt x="8" y="109"/>
                  </a:lnTo>
                  <a:lnTo>
                    <a:pt x="0" y="133"/>
                  </a:lnTo>
                  <a:lnTo>
                    <a:pt x="0" y="159"/>
                  </a:lnTo>
                  <a:lnTo>
                    <a:pt x="0" y="186"/>
                  </a:lnTo>
                  <a:lnTo>
                    <a:pt x="8" y="209"/>
                  </a:lnTo>
                  <a:lnTo>
                    <a:pt x="16" y="231"/>
                  </a:lnTo>
                  <a:lnTo>
                    <a:pt x="30" y="252"/>
                  </a:lnTo>
                  <a:lnTo>
                    <a:pt x="45" y="270"/>
                  </a:lnTo>
                  <a:lnTo>
                    <a:pt x="64" y="286"/>
                  </a:lnTo>
                  <a:lnTo>
                    <a:pt x="85" y="300"/>
                  </a:lnTo>
                  <a:lnTo>
                    <a:pt x="109" y="310"/>
                  </a:lnTo>
                  <a:lnTo>
                    <a:pt x="133" y="315"/>
                  </a:lnTo>
                  <a:lnTo>
                    <a:pt x="159" y="318"/>
                  </a:lnTo>
                  <a:lnTo>
                    <a:pt x="183" y="315"/>
                  </a:lnTo>
                  <a:lnTo>
                    <a:pt x="210" y="310"/>
                  </a:lnTo>
                  <a:lnTo>
                    <a:pt x="231" y="300"/>
                  </a:lnTo>
                  <a:lnTo>
                    <a:pt x="252" y="286"/>
                  </a:lnTo>
                  <a:lnTo>
                    <a:pt x="271" y="270"/>
                  </a:lnTo>
                  <a:lnTo>
                    <a:pt x="287" y="252"/>
                  </a:lnTo>
                  <a:lnTo>
                    <a:pt x="300" y="231"/>
                  </a:lnTo>
                  <a:lnTo>
                    <a:pt x="310" y="209"/>
                  </a:lnTo>
                  <a:lnTo>
                    <a:pt x="316" y="186"/>
                  </a:lnTo>
                  <a:lnTo>
                    <a:pt x="318"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3" name="Rectangle 128"/>
            <p:cNvSpPr>
              <a:spLocks noChangeArrowheads="1"/>
            </p:cNvSpPr>
            <p:nvPr/>
          </p:nvSpPr>
          <p:spPr bwMode="auto">
            <a:xfrm>
              <a:off x="1021" y="917"/>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244" name="Rectangle 129"/>
            <p:cNvSpPr>
              <a:spLocks noChangeArrowheads="1"/>
            </p:cNvSpPr>
            <p:nvPr/>
          </p:nvSpPr>
          <p:spPr bwMode="auto">
            <a:xfrm>
              <a:off x="1066" y="951"/>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a:t>
              </a:r>
              <a:endParaRPr lang="en-US" altLang="zh-CN" sz="1400">
                <a:ea typeface="宋体" panose="02010600030101010101" pitchFamily="2" charset="-122"/>
              </a:endParaRPr>
            </a:p>
          </p:txBody>
        </p:sp>
        <p:sp>
          <p:nvSpPr>
            <p:cNvPr id="245" name="Rectangle 130"/>
            <p:cNvSpPr>
              <a:spLocks noChangeArrowheads="1"/>
            </p:cNvSpPr>
            <p:nvPr/>
          </p:nvSpPr>
          <p:spPr bwMode="auto">
            <a:xfrm>
              <a:off x="1445" y="1081"/>
              <a:ext cx="26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Switch</a:t>
              </a:r>
              <a:endParaRPr lang="en-US" altLang="zh-CN" sz="1400">
                <a:ea typeface="宋体" panose="02010600030101010101" pitchFamily="2" charset="-122"/>
              </a:endParaRPr>
            </a:p>
          </p:txBody>
        </p:sp>
        <p:sp>
          <p:nvSpPr>
            <p:cNvPr id="246" name="Rectangle 131"/>
            <p:cNvSpPr>
              <a:spLocks noChangeArrowheads="1"/>
            </p:cNvSpPr>
            <p:nvPr/>
          </p:nvSpPr>
          <p:spPr bwMode="auto">
            <a:xfrm>
              <a:off x="1299" y="2006"/>
              <a:ext cx="53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Main memory</a:t>
              </a:r>
              <a:endParaRPr lang="en-US" altLang="zh-CN" sz="1400">
                <a:ea typeface="宋体" panose="02010600030101010101" pitchFamily="2" charset="-122"/>
              </a:endParaRPr>
            </a:p>
          </p:txBody>
        </p:sp>
        <p:sp>
          <p:nvSpPr>
            <p:cNvPr id="247" name="Rectangle 132"/>
            <p:cNvSpPr>
              <a:spLocks noChangeArrowheads="1"/>
            </p:cNvSpPr>
            <p:nvPr/>
          </p:nvSpPr>
          <p:spPr bwMode="auto">
            <a:xfrm>
              <a:off x="1981" y="917"/>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P</a:t>
              </a:r>
              <a:endParaRPr lang="en-US" altLang="zh-CN" sz="1400">
                <a:ea typeface="宋体" panose="02010600030101010101" pitchFamily="2" charset="-122"/>
              </a:endParaRPr>
            </a:p>
          </p:txBody>
        </p:sp>
        <p:sp>
          <p:nvSpPr>
            <p:cNvPr id="248" name="Rectangle 133"/>
            <p:cNvSpPr>
              <a:spLocks noChangeArrowheads="1"/>
            </p:cNvSpPr>
            <p:nvPr/>
          </p:nvSpPr>
          <p:spPr bwMode="auto">
            <a:xfrm>
              <a:off x="2023" y="953"/>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n</a:t>
              </a:r>
              <a:endParaRPr lang="en-US" altLang="zh-CN" sz="1400">
                <a:ea typeface="宋体" panose="02010600030101010101" pitchFamily="2" charset="-122"/>
              </a:endParaRPr>
            </a:p>
          </p:txBody>
        </p:sp>
        <p:sp>
          <p:nvSpPr>
            <p:cNvPr id="249" name="Rectangle 134"/>
            <p:cNvSpPr>
              <a:spLocks noChangeArrowheads="1"/>
            </p:cNvSpPr>
            <p:nvPr/>
          </p:nvSpPr>
          <p:spPr bwMode="auto">
            <a:xfrm>
              <a:off x="1341" y="1375"/>
              <a:ext cx="4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Interleaved</a:t>
              </a:r>
              <a:endParaRPr lang="en-US" altLang="zh-CN" sz="1400">
                <a:ea typeface="宋体" panose="02010600030101010101" pitchFamily="2" charset="-122"/>
              </a:endParaRPr>
            </a:p>
          </p:txBody>
        </p:sp>
        <p:sp>
          <p:nvSpPr>
            <p:cNvPr id="250" name="Rectangle 135"/>
            <p:cNvSpPr>
              <a:spLocks noChangeArrowheads="1"/>
            </p:cNvSpPr>
            <p:nvPr/>
          </p:nvSpPr>
          <p:spPr bwMode="auto">
            <a:xfrm>
              <a:off x="1341" y="1824"/>
              <a:ext cx="4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100" b="0">
                  <a:solidFill>
                    <a:srgbClr val="000000"/>
                  </a:solidFill>
                  <a:ea typeface="宋体" panose="02010600030101010101" pitchFamily="2" charset="-122"/>
                </a:rPr>
                <a:t>Interleaved</a:t>
              </a:r>
              <a:endParaRPr lang="en-US" altLang="zh-CN" sz="1400">
                <a:ea typeface="宋体" panose="02010600030101010101" pitchFamily="2" charset="-122"/>
              </a:endParaRPr>
            </a:p>
          </p:txBody>
        </p:sp>
        <p:sp>
          <p:nvSpPr>
            <p:cNvPr id="251" name="Rectangle 136"/>
            <p:cNvSpPr>
              <a:spLocks noChangeArrowheads="1"/>
            </p:cNvSpPr>
            <p:nvPr/>
          </p:nvSpPr>
          <p:spPr bwMode="auto">
            <a:xfrm>
              <a:off x="1425" y="1478"/>
              <a:ext cx="25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1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252" name="Freeform 137"/>
            <p:cNvSpPr>
              <a:spLocks/>
            </p:cNvSpPr>
            <p:nvPr/>
          </p:nvSpPr>
          <p:spPr bwMode="auto">
            <a:xfrm>
              <a:off x="1337" y="946"/>
              <a:ext cx="45" cy="45"/>
            </a:xfrm>
            <a:custGeom>
              <a:avLst/>
              <a:gdLst>
                <a:gd name="T0" fmla="*/ 45 w 45"/>
                <a:gd name="T1" fmla="*/ 21 h 45"/>
                <a:gd name="T2" fmla="*/ 45 w 45"/>
                <a:gd name="T3" fmla="*/ 26 h 45"/>
                <a:gd name="T4" fmla="*/ 45 w 45"/>
                <a:gd name="T5" fmla="*/ 29 h 45"/>
                <a:gd name="T6" fmla="*/ 42 w 45"/>
                <a:gd name="T7" fmla="*/ 31 h 45"/>
                <a:gd name="T8" fmla="*/ 39 w 45"/>
                <a:gd name="T9" fmla="*/ 34 h 45"/>
                <a:gd name="T10" fmla="*/ 39 w 45"/>
                <a:gd name="T11" fmla="*/ 37 h 45"/>
                <a:gd name="T12" fmla="*/ 37 w 45"/>
                <a:gd name="T13" fmla="*/ 39 h 45"/>
                <a:gd name="T14" fmla="*/ 34 w 45"/>
                <a:gd name="T15" fmla="*/ 42 h 45"/>
                <a:gd name="T16" fmla="*/ 29 w 45"/>
                <a:gd name="T17" fmla="*/ 42 h 45"/>
                <a:gd name="T18" fmla="*/ 26 w 45"/>
                <a:gd name="T19" fmla="*/ 45 h 45"/>
                <a:gd name="T20" fmla="*/ 23 w 45"/>
                <a:gd name="T21" fmla="*/ 45 h 45"/>
                <a:gd name="T22" fmla="*/ 18 w 45"/>
                <a:gd name="T23" fmla="*/ 45 h 45"/>
                <a:gd name="T24" fmla="*/ 15 w 45"/>
                <a:gd name="T25" fmla="*/ 42 h 45"/>
                <a:gd name="T26" fmla="*/ 13 w 45"/>
                <a:gd name="T27" fmla="*/ 42 h 45"/>
                <a:gd name="T28" fmla="*/ 10 w 45"/>
                <a:gd name="T29" fmla="*/ 39 h 45"/>
                <a:gd name="T30" fmla="*/ 7 w 45"/>
                <a:gd name="T31" fmla="*/ 37 h 45"/>
                <a:gd name="T32" fmla="*/ 5 w 45"/>
                <a:gd name="T33" fmla="*/ 34 h 45"/>
                <a:gd name="T34" fmla="*/ 2 w 45"/>
                <a:gd name="T35" fmla="*/ 31 h 45"/>
                <a:gd name="T36" fmla="*/ 2 w 45"/>
                <a:gd name="T37" fmla="*/ 29 h 45"/>
                <a:gd name="T38" fmla="*/ 0 w 45"/>
                <a:gd name="T39" fmla="*/ 26 h 45"/>
                <a:gd name="T40" fmla="*/ 0 w 45"/>
                <a:gd name="T41" fmla="*/ 21 h 45"/>
                <a:gd name="T42" fmla="*/ 0 w 45"/>
                <a:gd name="T43" fmla="*/ 18 h 45"/>
                <a:gd name="T44" fmla="*/ 2 w 45"/>
                <a:gd name="T45" fmla="*/ 15 h 45"/>
                <a:gd name="T46" fmla="*/ 2 w 45"/>
                <a:gd name="T47" fmla="*/ 13 h 45"/>
                <a:gd name="T48" fmla="*/ 5 w 45"/>
                <a:gd name="T49" fmla="*/ 8 h 45"/>
                <a:gd name="T50" fmla="*/ 7 w 45"/>
                <a:gd name="T51" fmla="*/ 5 h 45"/>
                <a:gd name="T52" fmla="*/ 10 w 45"/>
                <a:gd name="T53" fmla="*/ 5 h 45"/>
                <a:gd name="T54" fmla="*/ 13 w 45"/>
                <a:gd name="T55" fmla="*/ 2 h 45"/>
                <a:gd name="T56" fmla="*/ 15 w 45"/>
                <a:gd name="T57" fmla="*/ 0 h 45"/>
                <a:gd name="T58" fmla="*/ 18 w 45"/>
                <a:gd name="T59" fmla="*/ 0 h 45"/>
                <a:gd name="T60" fmla="*/ 23 w 45"/>
                <a:gd name="T61" fmla="*/ 0 h 45"/>
                <a:gd name="T62" fmla="*/ 26 w 45"/>
                <a:gd name="T63" fmla="*/ 0 h 45"/>
                <a:gd name="T64" fmla="*/ 29 w 45"/>
                <a:gd name="T65" fmla="*/ 0 h 45"/>
                <a:gd name="T66" fmla="*/ 34 w 45"/>
                <a:gd name="T67" fmla="*/ 2 h 45"/>
                <a:gd name="T68" fmla="*/ 37 w 45"/>
                <a:gd name="T69" fmla="*/ 5 h 45"/>
                <a:gd name="T70" fmla="*/ 39 w 45"/>
                <a:gd name="T71" fmla="*/ 5 h 45"/>
                <a:gd name="T72" fmla="*/ 39 w 45"/>
                <a:gd name="T73" fmla="*/ 8 h 45"/>
                <a:gd name="T74" fmla="*/ 42 w 45"/>
                <a:gd name="T75" fmla="*/ 13 h 45"/>
                <a:gd name="T76" fmla="*/ 45 w 45"/>
                <a:gd name="T77" fmla="*/ 15 h 45"/>
                <a:gd name="T78" fmla="*/ 45 w 45"/>
                <a:gd name="T79" fmla="*/ 18 h 45"/>
                <a:gd name="T80" fmla="*/ 45 w 45"/>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
                <a:gd name="T124" fmla="*/ 0 h 45"/>
                <a:gd name="T125" fmla="*/ 45 w 45"/>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 h="45">
                  <a:moveTo>
                    <a:pt x="45" y="21"/>
                  </a:moveTo>
                  <a:lnTo>
                    <a:pt x="45" y="26"/>
                  </a:lnTo>
                  <a:lnTo>
                    <a:pt x="45" y="29"/>
                  </a:lnTo>
                  <a:lnTo>
                    <a:pt x="42" y="31"/>
                  </a:lnTo>
                  <a:lnTo>
                    <a:pt x="39" y="34"/>
                  </a:lnTo>
                  <a:lnTo>
                    <a:pt x="39" y="37"/>
                  </a:lnTo>
                  <a:lnTo>
                    <a:pt x="37" y="39"/>
                  </a:lnTo>
                  <a:lnTo>
                    <a:pt x="34" y="42"/>
                  </a:lnTo>
                  <a:lnTo>
                    <a:pt x="29" y="42"/>
                  </a:lnTo>
                  <a:lnTo>
                    <a:pt x="26" y="45"/>
                  </a:lnTo>
                  <a:lnTo>
                    <a:pt x="23" y="45"/>
                  </a:lnTo>
                  <a:lnTo>
                    <a:pt x="18" y="45"/>
                  </a:lnTo>
                  <a:lnTo>
                    <a:pt x="15" y="42"/>
                  </a:lnTo>
                  <a:lnTo>
                    <a:pt x="13" y="42"/>
                  </a:lnTo>
                  <a:lnTo>
                    <a:pt x="10" y="39"/>
                  </a:lnTo>
                  <a:lnTo>
                    <a:pt x="7" y="37"/>
                  </a:lnTo>
                  <a:lnTo>
                    <a:pt x="5" y="34"/>
                  </a:lnTo>
                  <a:lnTo>
                    <a:pt x="2" y="31"/>
                  </a:lnTo>
                  <a:lnTo>
                    <a:pt x="2" y="29"/>
                  </a:lnTo>
                  <a:lnTo>
                    <a:pt x="0" y="26"/>
                  </a:lnTo>
                  <a:lnTo>
                    <a:pt x="0" y="21"/>
                  </a:lnTo>
                  <a:lnTo>
                    <a:pt x="0" y="18"/>
                  </a:lnTo>
                  <a:lnTo>
                    <a:pt x="2" y="15"/>
                  </a:lnTo>
                  <a:lnTo>
                    <a:pt x="2" y="13"/>
                  </a:lnTo>
                  <a:lnTo>
                    <a:pt x="5" y="8"/>
                  </a:lnTo>
                  <a:lnTo>
                    <a:pt x="7" y="5"/>
                  </a:lnTo>
                  <a:lnTo>
                    <a:pt x="10" y="5"/>
                  </a:lnTo>
                  <a:lnTo>
                    <a:pt x="13" y="2"/>
                  </a:lnTo>
                  <a:lnTo>
                    <a:pt x="15" y="0"/>
                  </a:lnTo>
                  <a:lnTo>
                    <a:pt x="18" y="0"/>
                  </a:lnTo>
                  <a:lnTo>
                    <a:pt x="23" y="0"/>
                  </a:lnTo>
                  <a:lnTo>
                    <a:pt x="26" y="0"/>
                  </a:lnTo>
                  <a:lnTo>
                    <a:pt x="29" y="0"/>
                  </a:lnTo>
                  <a:lnTo>
                    <a:pt x="34" y="2"/>
                  </a:lnTo>
                  <a:lnTo>
                    <a:pt x="37" y="5"/>
                  </a:lnTo>
                  <a:lnTo>
                    <a:pt x="39" y="5"/>
                  </a:lnTo>
                  <a:lnTo>
                    <a:pt x="39" y="8"/>
                  </a:lnTo>
                  <a:lnTo>
                    <a:pt x="42" y="13"/>
                  </a:lnTo>
                  <a:lnTo>
                    <a:pt x="45" y="15"/>
                  </a:lnTo>
                  <a:lnTo>
                    <a:pt x="45" y="18"/>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3" name="Freeform 138"/>
            <p:cNvSpPr>
              <a:spLocks/>
            </p:cNvSpPr>
            <p:nvPr/>
          </p:nvSpPr>
          <p:spPr bwMode="auto">
            <a:xfrm>
              <a:off x="1337" y="946"/>
              <a:ext cx="45" cy="45"/>
            </a:xfrm>
            <a:custGeom>
              <a:avLst/>
              <a:gdLst>
                <a:gd name="T0" fmla="*/ 45 w 45"/>
                <a:gd name="T1" fmla="*/ 21 h 45"/>
                <a:gd name="T2" fmla="*/ 45 w 45"/>
                <a:gd name="T3" fmla="*/ 18 h 45"/>
                <a:gd name="T4" fmla="*/ 45 w 45"/>
                <a:gd name="T5" fmla="*/ 15 h 45"/>
                <a:gd name="T6" fmla="*/ 42 w 45"/>
                <a:gd name="T7" fmla="*/ 13 h 45"/>
                <a:gd name="T8" fmla="*/ 39 w 45"/>
                <a:gd name="T9" fmla="*/ 8 h 45"/>
                <a:gd name="T10" fmla="*/ 39 w 45"/>
                <a:gd name="T11" fmla="*/ 5 h 45"/>
                <a:gd name="T12" fmla="*/ 37 w 45"/>
                <a:gd name="T13" fmla="*/ 5 h 45"/>
                <a:gd name="T14" fmla="*/ 34 w 45"/>
                <a:gd name="T15" fmla="*/ 2 h 45"/>
                <a:gd name="T16" fmla="*/ 29 w 45"/>
                <a:gd name="T17" fmla="*/ 0 h 45"/>
                <a:gd name="T18" fmla="*/ 26 w 45"/>
                <a:gd name="T19" fmla="*/ 0 h 45"/>
                <a:gd name="T20" fmla="*/ 23 w 45"/>
                <a:gd name="T21" fmla="*/ 0 h 45"/>
                <a:gd name="T22" fmla="*/ 18 w 45"/>
                <a:gd name="T23" fmla="*/ 0 h 45"/>
                <a:gd name="T24" fmla="*/ 15 w 45"/>
                <a:gd name="T25" fmla="*/ 0 h 45"/>
                <a:gd name="T26" fmla="*/ 13 w 45"/>
                <a:gd name="T27" fmla="*/ 2 h 45"/>
                <a:gd name="T28" fmla="*/ 10 w 45"/>
                <a:gd name="T29" fmla="*/ 5 h 45"/>
                <a:gd name="T30" fmla="*/ 7 w 45"/>
                <a:gd name="T31" fmla="*/ 5 h 45"/>
                <a:gd name="T32" fmla="*/ 5 w 45"/>
                <a:gd name="T33" fmla="*/ 8 h 45"/>
                <a:gd name="T34" fmla="*/ 2 w 45"/>
                <a:gd name="T35" fmla="*/ 13 h 45"/>
                <a:gd name="T36" fmla="*/ 2 w 45"/>
                <a:gd name="T37" fmla="*/ 15 h 45"/>
                <a:gd name="T38" fmla="*/ 0 w 45"/>
                <a:gd name="T39" fmla="*/ 18 h 45"/>
                <a:gd name="T40" fmla="*/ 0 w 45"/>
                <a:gd name="T41" fmla="*/ 21 h 45"/>
                <a:gd name="T42" fmla="*/ 0 w 45"/>
                <a:gd name="T43" fmla="*/ 26 h 45"/>
                <a:gd name="T44" fmla="*/ 2 w 45"/>
                <a:gd name="T45" fmla="*/ 29 h 45"/>
                <a:gd name="T46" fmla="*/ 2 w 45"/>
                <a:gd name="T47" fmla="*/ 31 h 45"/>
                <a:gd name="T48" fmla="*/ 5 w 45"/>
                <a:gd name="T49" fmla="*/ 34 h 45"/>
                <a:gd name="T50" fmla="*/ 7 w 45"/>
                <a:gd name="T51" fmla="*/ 37 h 45"/>
                <a:gd name="T52" fmla="*/ 10 w 45"/>
                <a:gd name="T53" fmla="*/ 39 h 45"/>
                <a:gd name="T54" fmla="*/ 13 w 45"/>
                <a:gd name="T55" fmla="*/ 42 h 45"/>
                <a:gd name="T56" fmla="*/ 15 w 45"/>
                <a:gd name="T57" fmla="*/ 42 h 45"/>
                <a:gd name="T58" fmla="*/ 18 w 45"/>
                <a:gd name="T59" fmla="*/ 45 h 45"/>
                <a:gd name="T60" fmla="*/ 23 w 45"/>
                <a:gd name="T61" fmla="*/ 45 h 45"/>
                <a:gd name="T62" fmla="*/ 26 w 45"/>
                <a:gd name="T63" fmla="*/ 45 h 45"/>
                <a:gd name="T64" fmla="*/ 29 w 45"/>
                <a:gd name="T65" fmla="*/ 42 h 45"/>
                <a:gd name="T66" fmla="*/ 34 w 45"/>
                <a:gd name="T67" fmla="*/ 42 h 45"/>
                <a:gd name="T68" fmla="*/ 37 w 45"/>
                <a:gd name="T69" fmla="*/ 39 h 45"/>
                <a:gd name="T70" fmla="*/ 39 w 45"/>
                <a:gd name="T71" fmla="*/ 37 h 45"/>
                <a:gd name="T72" fmla="*/ 39 w 45"/>
                <a:gd name="T73" fmla="*/ 34 h 45"/>
                <a:gd name="T74" fmla="*/ 42 w 45"/>
                <a:gd name="T75" fmla="*/ 31 h 45"/>
                <a:gd name="T76" fmla="*/ 45 w 45"/>
                <a:gd name="T77" fmla="*/ 29 h 45"/>
                <a:gd name="T78" fmla="*/ 45 w 45"/>
                <a:gd name="T79" fmla="*/ 26 h 45"/>
                <a:gd name="T80" fmla="*/ 45 w 45"/>
                <a:gd name="T81" fmla="*/ 21 h 45"/>
                <a:gd name="T82" fmla="*/ 45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8"/>
                  </a:lnTo>
                  <a:lnTo>
                    <a:pt x="45" y="15"/>
                  </a:lnTo>
                  <a:lnTo>
                    <a:pt x="42" y="13"/>
                  </a:lnTo>
                  <a:lnTo>
                    <a:pt x="39" y="8"/>
                  </a:lnTo>
                  <a:lnTo>
                    <a:pt x="39" y="5"/>
                  </a:lnTo>
                  <a:lnTo>
                    <a:pt x="37" y="5"/>
                  </a:lnTo>
                  <a:lnTo>
                    <a:pt x="34" y="2"/>
                  </a:lnTo>
                  <a:lnTo>
                    <a:pt x="29" y="0"/>
                  </a:lnTo>
                  <a:lnTo>
                    <a:pt x="26" y="0"/>
                  </a:lnTo>
                  <a:lnTo>
                    <a:pt x="23" y="0"/>
                  </a:lnTo>
                  <a:lnTo>
                    <a:pt x="18" y="0"/>
                  </a:lnTo>
                  <a:lnTo>
                    <a:pt x="15" y="0"/>
                  </a:lnTo>
                  <a:lnTo>
                    <a:pt x="13" y="2"/>
                  </a:lnTo>
                  <a:lnTo>
                    <a:pt x="10" y="5"/>
                  </a:lnTo>
                  <a:lnTo>
                    <a:pt x="7" y="5"/>
                  </a:lnTo>
                  <a:lnTo>
                    <a:pt x="5" y="8"/>
                  </a:lnTo>
                  <a:lnTo>
                    <a:pt x="2" y="13"/>
                  </a:lnTo>
                  <a:lnTo>
                    <a:pt x="2" y="15"/>
                  </a:lnTo>
                  <a:lnTo>
                    <a:pt x="0" y="18"/>
                  </a:lnTo>
                  <a:lnTo>
                    <a:pt x="0" y="21"/>
                  </a:lnTo>
                  <a:lnTo>
                    <a:pt x="0" y="26"/>
                  </a:lnTo>
                  <a:lnTo>
                    <a:pt x="2" y="29"/>
                  </a:lnTo>
                  <a:lnTo>
                    <a:pt x="2" y="31"/>
                  </a:lnTo>
                  <a:lnTo>
                    <a:pt x="5" y="34"/>
                  </a:lnTo>
                  <a:lnTo>
                    <a:pt x="7" y="37"/>
                  </a:lnTo>
                  <a:lnTo>
                    <a:pt x="10" y="39"/>
                  </a:lnTo>
                  <a:lnTo>
                    <a:pt x="13" y="42"/>
                  </a:lnTo>
                  <a:lnTo>
                    <a:pt x="15" y="42"/>
                  </a:lnTo>
                  <a:lnTo>
                    <a:pt x="18" y="45"/>
                  </a:lnTo>
                  <a:lnTo>
                    <a:pt x="23" y="45"/>
                  </a:lnTo>
                  <a:lnTo>
                    <a:pt x="26" y="45"/>
                  </a:lnTo>
                  <a:lnTo>
                    <a:pt x="29" y="42"/>
                  </a:lnTo>
                  <a:lnTo>
                    <a:pt x="34" y="42"/>
                  </a:lnTo>
                  <a:lnTo>
                    <a:pt x="37" y="39"/>
                  </a:lnTo>
                  <a:lnTo>
                    <a:pt x="39" y="37"/>
                  </a:lnTo>
                  <a:lnTo>
                    <a:pt x="39" y="34"/>
                  </a:lnTo>
                  <a:lnTo>
                    <a:pt x="42" y="31"/>
                  </a:lnTo>
                  <a:lnTo>
                    <a:pt x="45" y="29"/>
                  </a:lnTo>
                  <a:lnTo>
                    <a:pt x="45" y="26"/>
                  </a:lnTo>
                  <a:lnTo>
                    <a:pt x="45"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4" name="Freeform 139"/>
            <p:cNvSpPr>
              <a:spLocks/>
            </p:cNvSpPr>
            <p:nvPr/>
          </p:nvSpPr>
          <p:spPr bwMode="auto">
            <a:xfrm>
              <a:off x="1519" y="946"/>
              <a:ext cx="46" cy="45"/>
            </a:xfrm>
            <a:custGeom>
              <a:avLst/>
              <a:gdLst>
                <a:gd name="T0" fmla="*/ 46 w 46"/>
                <a:gd name="T1" fmla="*/ 21 h 45"/>
                <a:gd name="T2" fmla="*/ 46 w 46"/>
                <a:gd name="T3" fmla="*/ 26 h 45"/>
                <a:gd name="T4" fmla="*/ 46 w 46"/>
                <a:gd name="T5" fmla="*/ 29 h 45"/>
                <a:gd name="T6" fmla="*/ 43 w 46"/>
                <a:gd name="T7" fmla="*/ 31 h 45"/>
                <a:gd name="T8" fmla="*/ 40 w 46"/>
                <a:gd name="T9" fmla="*/ 34 h 45"/>
                <a:gd name="T10" fmla="*/ 40 w 46"/>
                <a:gd name="T11" fmla="*/ 37 h 45"/>
                <a:gd name="T12" fmla="*/ 38 w 46"/>
                <a:gd name="T13" fmla="*/ 39 h 45"/>
                <a:gd name="T14" fmla="*/ 35 w 46"/>
                <a:gd name="T15" fmla="*/ 42 h 45"/>
                <a:gd name="T16" fmla="*/ 30 w 46"/>
                <a:gd name="T17" fmla="*/ 42 h 45"/>
                <a:gd name="T18" fmla="*/ 27 w 46"/>
                <a:gd name="T19" fmla="*/ 45 h 45"/>
                <a:gd name="T20" fmla="*/ 24 w 46"/>
                <a:gd name="T21" fmla="*/ 45 h 45"/>
                <a:gd name="T22" fmla="*/ 19 w 46"/>
                <a:gd name="T23" fmla="*/ 45 h 45"/>
                <a:gd name="T24" fmla="*/ 16 w 46"/>
                <a:gd name="T25" fmla="*/ 42 h 45"/>
                <a:gd name="T26" fmla="*/ 14 w 46"/>
                <a:gd name="T27" fmla="*/ 42 h 45"/>
                <a:gd name="T28" fmla="*/ 11 w 46"/>
                <a:gd name="T29" fmla="*/ 39 h 45"/>
                <a:gd name="T30" fmla="*/ 8 w 46"/>
                <a:gd name="T31" fmla="*/ 37 h 45"/>
                <a:gd name="T32" fmla="*/ 6 w 46"/>
                <a:gd name="T33" fmla="*/ 34 h 45"/>
                <a:gd name="T34" fmla="*/ 3 w 46"/>
                <a:gd name="T35" fmla="*/ 31 h 45"/>
                <a:gd name="T36" fmla="*/ 3 w 46"/>
                <a:gd name="T37" fmla="*/ 29 h 45"/>
                <a:gd name="T38" fmla="*/ 0 w 46"/>
                <a:gd name="T39" fmla="*/ 26 h 45"/>
                <a:gd name="T40" fmla="*/ 0 w 46"/>
                <a:gd name="T41" fmla="*/ 21 h 45"/>
                <a:gd name="T42" fmla="*/ 0 w 46"/>
                <a:gd name="T43" fmla="*/ 18 h 45"/>
                <a:gd name="T44" fmla="*/ 3 w 46"/>
                <a:gd name="T45" fmla="*/ 15 h 45"/>
                <a:gd name="T46" fmla="*/ 3 w 46"/>
                <a:gd name="T47" fmla="*/ 13 h 45"/>
                <a:gd name="T48" fmla="*/ 6 w 46"/>
                <a:gd name="T49" fmla="*/ 8 h 45"/>
                <a:gd name="T50" fmla="*/ 8 w 46"/>
                <a:gd name="T51" fmla="*/ 5 h 45"/>
                <a:gd name="T52" fmla="*/ 11 w 46"/>
                <a:gd name="T53" fmla="*/ 5 h 45"/>
                <a:gd name="T54" fmla="*/ 14 w 46"/>
                <a:gd name="T55" fmla="*/ 2 h 45"/>
                <a:gd name="T56" fmla="*/ 16 w 46"/>
                <a:gd name="T57" fmla="*/ 0 h 45"/>
                <a:gd name="T58" fmla="*/ 19 w 46"/>
                <a:gd name="T59" fmla="*/ 0 h 45"/>
                <a:gd name="T60" fmla="*/ 24 w 46"/>
                <a:gd name="T61" fmla="*/ 0 h 45"/>
                <a:gd name="T62" fmla="*/ 27 w 46"/>
                <a:gd name="T63" fmla="*/ 0 h 45"/>
                <a:gd name="T64" fmla="*/ 30 w 46"/>
                <a:gd name="T65" fmla="*/ 0 h 45"/>
                <a:gd name="T66" fmla="*/ 35 w 46"/>
                <a:gd name="T67" fmla="*/ 2 h 45"/>
                <a:gd name="T68" fmla="*/ 38 w 46"/>
                <a:gd name="T69" fmla="*/ 5 h 45"/>
                <a:gd name="T70" fmla="*/ 40 w 46"/>
                <a:gd name="T71" fmla="*/ 5 h 45"/>
                <a:gd name="T72" fmla="*/ 40 w 46"/>
                <a:gd name="T73" fmla="*/ 8 h 45"/>
                <a:gd name="T74" fmla="*/ 43 w 46"/>
                <a:gd name="T75" fmla="*/ 13 h 45"/>
                <a:gd name="T76" fmla="*/ 46 w 46"/>
                <a:gd name="T77" fmla="*/ 15 h 45"/>
                <a:gd name="T78" fmla="*/ 46 w 46"/>
                <a:gd name="T79" fmla="*/ 18 h 45"/>
                <a:gd name="T80" fmla="*/ 46 w 46"/>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6"/>
                <a:gd name="T124" fmla="*/ 0 h 45"/>
                <a:gd name="T125" fmla="*/ 46 w 46"/>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6" h="45">
                  <a:moveTo>
                    <a:pt x="46" y="21"/>
                  </a:moveTo>
                  <a:lnTo>
                    <a:pt x="46" y="26"/>
                  </a:lnTo>
                  <a:lnTo>
                    <a:pt x="46" y="29"/>
                  </a:lnTo>
                  <a:lnTo>
                    <a:pt x="43" y="31"/>
                  </a:lnTo>
                  <a:lnTo>
                    <a:pt x="40" y="34"/>
                  </a:lnTo>
                  <a:lnTo>
                    <a:pt x="40" y="37"/>
                  </a:lnTo>
                  <a:lnTo>
                    <a:pt x="38" y="39"/>
                  </a:lnTo>
                  <a:lnTo>
                    <a:pt x="35" y="42"/>
                  </a:lnTo>
                  <a:lnTo>
                    <a:pt x="30" y="42"/>
                  </a:lnTo>
                  <a:lnTo>
                    <a:pt x="27" y="45"/>
                  </a:lnTo>
                  <a:lnTo>
                    <a:pt x="24" y="45"/>
                  </a:lnTo>
                  <a:lnTo>
                    <a:pt x="19" y="45"/>
                  </a:lnTo>
                  <a:lnTo>
                    <a:pt x="16" y="42"/>
                  </a:lnTo>
                  <a:lnTo>
                    <a:pt x="14" y="42"/>
                  </a:lnTo>
                  <a:lnTo>
                    <a:pt x="11" y="39"/>
                  </a:lnTo>
                  <a:lnTo>
                    <a:pt x="8" y="37"/>
                  </a:lnTo>
                  <a:lnTo>
                    <a:pt x="6" y="34"/>
                  </a:lnTo>
                  <a:lnTo>
                    <a:pt x="3" y="31"/>
                  </a:lnTo>
                  <a:lnTo>
                    <a:pt x="3" y="29"/>
                  </a:lnTo>
                  <a:lnTo>
                    <a:pt x="0" y="26"/>
                  </a:lnTo>
                  <a:lnTo>
                    <a:pt x="0" y="21"/>
                  </a:lnTo>
                  <a:lnTo>
                    <a:pt x="0" y="18"/>
                  </a:lnTo>
                  <a:lnTo>
                    <a:pt x="3" y="15"/>
                  </a:lnTo>
                  <a:lnTo>
                    <a:pt x="3" y="13"/>
                  </a:lnTo>
                  <a:lnTo>
                    <a:pt x="6" y="8"/>
                  </a:lnTo>
                  <a:lnTo>
                    <a:pt x="8" y="5"/>
                  </a:lnTo>
                  <a:lnTo>
                    <a:pt x="11" y="5"/>
                  </a:lnTo>
                  <a:lnTo>
                    <a:pt x="14" y="2"/>
                  </a:lnTo>
                  <a:lnTo>
                    <a:pt x="16" y="0"/>
                  </a:lnTo>
                  <a:lnTo>
                    <a:pt x="19" y="0"/>
                  </a:lnTo>
                  <a:lnTo>
                    <a:pt x="24" y="0"/>
                  </a:lnTo>
                  <a:lnTo>
                    <a:pt x="27" y="0"/>
                  </a:lnTo>
                  <a:lnTo>
                    <a:pt x="30" y="0"/>
                  </a:lnTo>
                  <a:lnTo>
                    <a:pt x="35" y="2"/>
                  </a:lnTo>
                  <a:lnTo>
                    <a:pt x="38" y="5"/>
                  </a:lnTo>
                  <a:lnTo>
                    <a:pt x="40" y="5"/>
                  </a:lnTo>
                  <a:lnTo>
                    <a:pt x="40" y="8"/>
                  </a:lnTo>
                  <a:lnTo>
                    <a:pt x="43" y="13"/>
                  </a:lnTo>
                  <a:lnTo>
                    <a:pt x="46" y="15"/>
                  </a:lnTo>
                  <a:lnTo>
                    <a:pt x="46" y="18"/>
                  </a:lnTo>
                  <a:lnTo>
                    <a:pt x="4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5" name="Freeform 140"/>
            <p:cNvSpPr>
              <a:spLocks/>
            </p:cNvSpPr>
            <p:nvPr/>
          </p:nvSpPr>
          <p:spPr bwMode="auto">
            <a:xfrm>
              <a:off x="1519" y="946"/>
              <a:ext cx="46" cy="45"/>
            </a:xfrm>
            <a:custGeom>
              <a:avLst/>
              <a:gdLst>
                <a:gd name="T0" fmla="*/ 46 w 46"/>
                <a:gd name="T1" fmla="*/ 21 h 45"/>
                <a:gd name="T2" fmla="*/ 46 w 46"/>
                <a:gd name="T3" fmla="*/ 18 h 45"/>
                <a:gd name="T4" fmla="*/ 46 w 46"/>
                <a:gd name="T5" fmla="*/ 15 h 45"/>
                <a:gd name="T6" fmla="*/ 43 w 46"/>
                <a:gd name="T7" fmla="*/ 13 h 45"/>
                <a:gd name="T8" fmla="*/ 40 w 46"/>
                <a:gd name="T9" fmla="*/ 8 h 45"/>
                <a:gd name="T10" fmla="*/ 40 w 46"/>
                <a:gd name="T11" fmla="*/ 5 h 45"/>
                <a:gd name="T12" fmla="*/ 38 w 46"/>
                <a:gd name="T13" fmla="*/ 5 h 45"/>
                <a:gd name="T14" fmla="*/ 35 w 46"/>
                <a:gd name="T15" fmla="*/ 2 h 45"/>
                <a:gd name="T16" fmla="*/ 30 w 46"/>
                <a:gd name="T17" fmla="*/ 0 h 45"/>
                <a:gd name="T18" fmla="*/ 27 w 46"/>
                <a:gd name="T19" fmla="*/ 0 h 45"/>
                <a:gd name="T20" fmla="*/ 24 w 46"/>
                <a:gd name="T21" fmla="*/ 0 h 45"/>
                <a:gd name="T22" fmla="*/ 19 w 46"/>
                <a:gd name="T23" fmla="*/ 0 h 45"/>
                <a:gd name="T24" fmla="*/ 16 w 46"/>
                <a:gd name="T25" fmla="*/ 0 h 45"/>
                <a:gd name="T26" fmla="*/ 14 w 46"/>
                <a:gd name="T27" fmla="*/ 2 h 45"/>
                <a:gd name="T28" fmla="*/ 11 w 46"/>
                <a:gd name="T29" fmla="*/ 5 h 45"/>
                <a:gd name="T30" fmla="*/ 8 w 46"/>
                <a:gd name="T31" fmla="*/ 5 h 45"/>
                <a:gd name="T32" fmla="*/ 6 w 46"/>
                <a:gd name="T33" fmla="*/ 8 h 45"/>
                <a:gd name="T34" fmla="*/ 3 w 46"/>
                <a:gd name="T35" fmla="*/ 13 h 45"/>
                <a:gd name="T36" fmla="*/ 3 w 46"/>
                <a:gd name="T37" fmla="*/ 15 h 45"/>
                <a:gd name="T38" fmla="*/ 0 w 46"/>
                <a:gd name="T39" fmla="*/ 18 h 45"/>
                <a:gd name="T40" fmla="*/ 0 w 46"/>
                <a:gd name="T41" fmla="*/ 21 h 45"/>
                <a:gd name="T42" fmla="*/ 0 w 46"/>
                <a:gd name="T43" fmla="*/ 26 h 45"/>
                <a:gd name="T44" fmla="*/ 3 w 46"/>
                <a:gd name="T45" fmla="*/ 29 h 45"/>
                <a:gd name="T46" fmla="*/ 3 w 46"/>
                <a:gd name="T47" fmla="*/ 31 h 45"/>
                <a:gd name="T48" fmla="*/ 6 w 46"/>
                <a:gd name="T49" fmla="*/ 34 h 45"/>
                <a:gd name="T50" fmla="*/ 8 w 46"/>
                <a:gd name="T51" fmla="*/ 37 h 45"/>
                <a:gd name="T52" fmla="*/ 11 w 46"/>
                <a:gd name="T53" fmla="*/ 39 h 45"/>
                <a:gd name="T54" fmla="*/ 14 w 46"/>
                <a:gd name="T55" fmla="*/ 42 h 45"/>
                <a:gd name="T56" fmla="*/ 16 w 46"/>
                <a:gd name="T57" fmla="*/ 42 h 45"/>
                <a:gd name="T58" fmla="*/ 19 w 46"/>
                <a:gd name="T59" fmla="*/ 45 h 45"/>
                <a:gd name="T60" fmla="*/ 24 w 46"/>
                <a:gd name="T61" fmla="*/ 45 h 45"/>
                <a:gd name="T62" fmla="*/ 27 w 46"/>
                <a:gd name="T63" fmla="*/ 45 h 45"/>
                <a:gd name="T64" fmla="*/ 30 w 46"/>
                <a:gd name="T65" fmla="*/ 42 h 45"/>
                <a:gd name="T66" fmla="*/ 35 w 46"/>
                <a:gd name="T67" fmla="*/ 42 h 45"/>
                <a:gd name="T68" fmla="*/ 38 w 46"/>
                <a:gd name="T69" fmla="*/ 39 h 45"/>
                <a:gd name="T70" fmla="*/ 40 w 46"/>
                <a:gd name="T71" fmla="*/ 37 h 45"/>
                <a:gd name="T72" fmla="*/ 40 w 46"/>
                <a:gd name="T73" fmla="*/ 34 h 45"/>
                <a:gd name="T74" fmla="*/ 43 w 46"/>
                <a:gd name="T75" fmla="*/ 31 h 45"/>
                <a:gd name="T76" fmla="*/ 46 w 46"/>
                <a:gd name="T77" fmla="*/ 29 h 45"/>
                <a:gd name="T78" fmla="*/ 46 w 46"/>
                <a:gd name="T79" fmla="*/ 26 h 45"/>
                <a:gd name="T80" fmla="*/ 46 w 46"/>
                <a:gd name="T81" fmla="*/ 21 h 45"/>
                <a:gd name="T82" fmla="*/ 46 w 46"/>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6" y="21"/>
                  </a:moveTo>
                  <a:lnTo>
                    <a:pt x="46" y="18"/>
                  </a:lnTo>
                  <a:lnTo>
                    <a:pt x="46" y="15"/>
                  </a:lnTo>
                  <a:lnTo>
                    <a:pt x="43" y="13"/>
                  </a:lnTo>
                  <a:lnTo>
                    <a:pt x="40" y="8"/>
                  </a:lnTo>
                  <a:lnTo>
                    <a:pt x="40" y="5"/>
                  </a:lnTo>
                  <a:lnTo>
                    <a:pt x="38" y="5"/>
                  </a:lnTo>
                  <a:lnTo>
                    <a:pt x="35" y="2"/>
                  </a:lnTo>
                  <a:lnTo>
                    <a:pt x="30" y="0"/>
                  </a:lnTo>
                  <a:lnTo>
                    <a:pt x="27" y="0"/>
                  </a:lnTo>
                  <a:lnTo>
                    <a:pt x="24" y="0"/>
                  </a:lnTo>
                  <a:lnTo>
                    <a:pt x="19" y="0"/>
                  </a:lnTo>
                  <a:lnTo>
                    <a:pt x="16" y="0"/>
                  </a:lnTo>
                  <a:lnTo>
                    <a:pt x="14" y="2"/>
                  </a:lnTo>
                  <a:lnTo>
                    <a:pt x="11" y="5"/>
                  </a:lnTo>
                  <a:lnTo>
                    <a:pt x="8" y="5"/>
                  </a:lnTo>
                  <a:lnTo>
                    <a:pt x="6" y="8"/>
                  </a:lnTo>
                  <a:lnTo>
                    <a:pt x="3" y="13"/>
                  </a:lnTo>
                  <a:lnTo>
                    <a:pt x="3" y="15"/>
                  </a:lnTo>
                  <a:lnTo>
                    <a:pt x="0" y="18"/>
                  </a:lnTo>
                  <a:lnTo>
                    <a:pt x="0" y="21"/>
                  </a:lnTo>
                  <a:lnTo>
                    <a:pt x="0" y="26"/>
                  </a:lnTo>
                  <a:lnTo>
                    <a:pt x="3" y="29"/>
                  </a:lnTo>
                  <a:lnTo>
                    <a:pt x="3" y="31"/>
                  </a:lnTo>
                  <a:lnTo>
                    <a:pt x="6" y="34"/>
                  </a:lnTo>
                  <a:lnTo>
                    <a:pt x="8" y="37"/>
                  </a:lnTo>
                  <a:lnTo>
                    <a:pt x="11" y="39"/>
                  </a:lnTo>
                  <a:lnTo>
                    <a:pt x="14" y="42"/>
                  </a:lnTo>
                  <a:lnTo>
                    <a:pt x="16" y="42"/>
                  </a:lnTo>
                  <a:lnTo>
                    <a:pt x="19" y="45"/>
                  </a:lnTo>
                  <a:lnTo>
                    <a:pt x="24" y="45"/>
                  </a:lnTo>
                  <a:lnTo>
                    <a:pt x="27" y="45"/>
                  </a:lnTo>
                  <a:lnTo>
                    <a:pt x="30" y="42"/>
                  </a:lnTo>
                  <a:lnTo>
                    <a:pt x="35" y="42"/>
                  </a:lnTo>
                  <a:lnTo>
                    <a:pt x="38" y="39"/>
                  </a:lnTo>
                  <a:lnTo>
                    <a:pt x="40" y="37"/>
                  </a:lnTo>
                  <a:lnTo>
                    <a:pt x="40" y="34"/>
                  </a:lnTo>
                  <a:lnTo>
                    <a:pt x="43" y="31"/>
                  </a:lnTo>
                  <a:lnTo>
                    <a:pt x="46" y="29"/>
                  </a:lnTo>
                  <a:lnTo>
                    <a:pt x="46" y="26"/>
                  </a:lnTo>
                  <a:lnTo>
                    <a:pt x="46"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 name="Freeform 141"/>
            <p:cNvSpPr>
              <a:spLocks/>
            </p:cNvSpPr>
            <p:nvPr/>
          </p:nvSpPr>
          <p:spPr bwMode="auto">
            <a:xfrm>
              <a:off x="1718" y="946"/>
              <a:ext cx="45" cy="45"/>
            </a:xfrm>
            <a:custGeom>
              <a:avLst/>
              <a:gdLst>
                <a:gd name="T0" fmla="*/ 45 w 45"/>
                <a:gd name="T1" fmla="*/ 21 h 45"/>
                <a:gd name="T2" fmla="*/ 45 w 45"/>
                <a:gd name="T3" fmla="*/ 26 h 45"/>
                <a:gd name="T4" fmla="*/ 45 w 45"/>
                <a:gd name="T5" fmla="*/ 29 h 45"/>
                <a:gd name="T6" fmla="*/ 43 w 45"/>
                <a:gd name="T7" fmla="*/ 31 h 45"/>
                <a:gd name="T8" fmla="*/ 43 w 45"/>
                <a:gd name="T9" fmla="*/ 34 h 45"/>
                <a:gd name="T10" fmla="*/ 40 w 45"/>
                <a:gd name="T11" fmla="*/ 37 h 45"/>
                <a:gd name="T12" fmla="*/ 37 w 45"/>
                <a:gd name="T13" fmla="*/ 39 h 45"/>
                <a:gd name="T14" fmla="*/ 35 w 45"/>
                <a:gd name="T15" fmla="*/ 42 h 45"/>
                <a:gd name="T16" fmla="*/ 32 w 45"/>
                <a:gd name="T17" fmla="*/ 42 h 45"/>
                <a:gd name="T18" fmla="*/ 27 w 45"/>
                <a:gd name="T19" fmla="*/ 45 h 45"/>
                <a:gd name="T20" fmla="*/ 24 w 45"/>
                <a:gd name="T21" fmla="*/ 45 h 45"/>
                <a:gd name="T22" fmla="*/ 21 w 45"/>
                <a:gd name="T23" fmla="*/ 45 h 45"/>
                <a:gd name="T24" fmla="*/ 16 w 45"/>
                <a:gd name="T25" fmla="*/ 42 h 45"/>
                <a:gd name="T26" fmla="*/ 14 w 45"/>
                <a:gd name="T27" fmla="*/ 42 h 45"/>
                <a:gd name="T28" fmla="*/ 11 w 45"/>
                <a:gd name="T29" fmla="*/ 39 h 45"/>
                <a:gd name="T30" fmla="*/ 8 w 45"/>
                <a:gd name="T31" fmla="*/ 37 h 45"/>
                <a:gd name="T32" fmla="*/ 6 w 45"/>
                <a:gd name="T33" fmla="*/ 34 h 45"/>
                <a:gd name="T34" fmla="*/ 3 w 45"/>
                <a:gd name="T35" fmla="*/ 31 h 45"/>
                <a:gd name="T36" fmla="*/ 3 w 45"/>
                <a:gd name="T37" fmla="*/ 29 h 45"/>
                <a:gd name="T38" fmla="*/ 3 w 45"/>
                <a:gd name="T39" fmla="*/ 26 h 45"/>
                <a:gd name="T40" fmla="*/ 0 w 45"/>
                <a:gd name="T41" fmla="*/ 21 h 45"/>
                <a:gd name="T42" fmla="*/ 3 w 45"/>
                <a:gd name="T43" fmla="*/ 18 h 45"/>
                <a:gd name="T44" fmla="*/ 3 w 45"/>
                <a:gd name="T45" fmla="*/ 15 h 45"/>
                <a:gd name="T46" fmla="*/ 3 w 45"/>
                <a:gd name="T47" fmla="*/ 13 h 45"/>
                <a:gd name="T48" fmla="*/ 6 w 45"/>
                <a:gd name="T49" fmla="*/ 8 h 45"/>
                <a:gd name="T50" fmla="*/ 8 w 45"/>
                <a:gd name="T51" fmla="*/ 5 h 45"/>
                <a:gd name="T52" fmla="*/ 11 w 45"/>
                <a:gd name="T53" fmla="*/ 5 h 45"/>
                <a:gd name="T54" fmla="*/ 14 w 45"/>
                <a:gd name="T55" fmla="*/ 2 h 45"/>
                <a:gd name="T56" fmla="*/ 16 w 45"/>
                <a:gd name="T57" fmla="*/ 0 h 45"/>
                <a:gd name="T58" fmla="*/ 21 w 45"/>
                <a:gd name="T59" fmla="*/ 0 h 45"/>
                <a:gd name="T60" fmla="*/ 24 w 45"/>
                <a:gd name="T61" fmla="*/ 0 h 45"/>
                <a:gd name="T62" fmla="*/ 27 w 45"/>
                <a:gd name="T63" fmla="*/ 0 h 45"/>
                <a:gd name="T64" fmla="*/ 32 w 45"/>
                <a:gd name="T65" fmla="*/ 0 h 45"/>
                <a:gd name="T66" fmla="*/ 35 w 45"/>
                <a:gd name="T67" fmla="*/ 2 h 45"/>
                <a:gd name="T68" fmla="*/ 37 w 45"/>
                <a:gd name="T69" fmla="*/ 5 h 45"/>
                <a:gd name="T70" fmla="*/ 40 w 45"/>
                <a:gd name="T71" fmla="*/ 5 h 45"/>
                <a:gd name="T72" fmla="*/ 43 w 45"/>
                <a:gd name="T73" fmla="*/ 8 h 45"/>
                <a:gd name="T74" fmla="*/ 43 w 45"/>
                <a:gd name="T75" fmla="*/ 13 h 45"/>
                <a:gd name="T76" fmla="*/ 45 w 45"/>
                <a:gd name="T77" fmla="*/ 15 h 45"/>
                <a:gd name="T78" fmla="*/ 45 w 45"/>
                <a:gd name="T79" fmla="*/ 18 h 45"/>
                <a:gd name="T80" fmla="*/ 45 w 45"/>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
                <a:gd name="T124" fmla="*/ 0 h 45"/>
                <a:gd name="T125" fmla="*/ 45 w 45"/>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 h="45">
                  <a:moveTo>
                    <a:pt x="45" y="21"/>
                  </a:moveTo>
                  <a:lnTo>
                    <a:pt x="45" y="26"/>
                  </a:lnTo>
                  <a:lnTo>
                    <a:pt x="45" y="29"/>
                  </a:lnTo>
                  <a:lnTo>
                    <a:pt x="43" y="31"/>
                  </a:lnTo>
                  <a:lnTo>
                    <a:pt x="43" y="34"/>
                  </a:lnTo>
                  <a:lnTo>
                    <a:pt x="40" y="37"/>
                  </a:lnTo>
                  <a:lnTo>
                    <a:pt x="37" y="39"/>
                  </a:lnTo>
                  <a:lnTo>
                    <a:pt x="35" y="42"/>
                  </a:lnTo>
                  <a:lnTo>
                    <a:pt x="32" y="42"/>
                  </a:lnTo>
                  <a:lnTo>
                    <a:pt x="27" y="45"/>
                  </a:lnTo>
                  <a:lnTo>
                    <a:pt x="24" y="45"/>
                  </a:lnTo>
                  <a:lnTo>
                    <a:pt x="21" y="45"/>
                  </a:lnTo>
                  <a:lnTo>
                    <a:pt x="16" y="42"/>
                  </a:lnTo>
                  <a:lnTo>
                    <a:pt x="14" y="42"/>
                  </a:lnTo>
                  <a:lnTo>
                    <a:pt x="11" y="39"/>
                  </a:lnTo>
                  <a:lnTo>
                    <a:pt x="8" y="37"/>
                  </a:lnTo>
                  <a:lnTo>
                    <a:pt x="6" y="34"/>
                  </a:lnTo>
                  <a:lnTo>
                    <a:pt x="3" y="31"/>
                  </a:lnTo>
                  <a:lnTo>
                    <a:pt x="3" y="29"/>
                  </a:lnTo>
                  <a:lnTo>
                    <a:pt x="3" y="26"/>
                  </a:lnTo>
                  <a:lnTo>
                    <a:pt x="0" y="21"/>
                  </a:lnTo>
                  <a:lnTo>
                    <a:pt x="3" y="18"/>
                  </a:lnTo>
                  <a:lnTo>
                    <a:pt x="3" y="15"/>
                  </a:lnTo>
                  <a:lnTo>
                    <a:pt x="3" y="13"/>
                  </a:lnTo>
                  <a:lnTo>
                    <a:pt x="6" y="8"/>
                  </a:lnTo>
                  <a:lnTo>
                    <a:pt x="8" y="5"/>
                  </a:lnTo>
                  <a:lnTo>
                    <a:pt x="11" y="5"/>
                  </a:lnTo>
                  <a:lnTo>
                    <a:pt x="14" y="2"/>
                  </a:lnTo>
                  <a:lnTo>
                    <a:pt x="16" y="0"/>
                  </a:lnTo>
                  <a:lnTo>
                    <a:pt x="21" y="0"/>
                  </a:lnTo>
                  <a:lnTo>
                    <a:pt x="24" y="0"/>
                  </a:lnTo>
                  <a:lnTo>
                    <a:pt x="27" y="0"/>
                  </a:lnTo>
                  <a:lnTo>
                    <a:pt x="32" y="0"/>
                  </a:lnTo>
                  <a:lnTo>
                    <a:pt x="35" y="2"/>
                  </a:lnTo>
                  <a:lnTo>
                    <a:pt x="37" y="5"/>
                  </a:lnTo>
                  <a:lnTo>
                    <a:pt x="40" y="5"/>
                  </a:lnTo>
                  <a:lnTo>
                    <a:pt x="43" y="8"/>
                  </a:lnTo>
                  <a:lnTo>
                    <a:pt x="43" y="13"/>
                  </a:lnTo>
                  <a:lnTo>
                    <a:pt x="45" y="15"/>
                  </a:lnTo>
                  <a:lnTo>
                    <a:pt x="45" y="18"/>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 name="Freeform 142"/>
            <p:cNvSpPr>
              <a:spLocks/>
            </p:cNvSpPr>
            <p:nvPr/>
          </p:nvSpPr>
          <p:spPr bwMode="auto">
            <a:xfrm>
              <a:off x="1718" y="946"/>
              <a:ext cx="45" cy="45"/>
            </a:xfrm>
            <a:custGeom>
              <a:avLst/>
              <a:gdLst>
                <a:gd name="T0" fmla="*/ 45 w 45"/>
                <a:gd name="T1" fmla="*/ 21 h 45"/>
                <a:gd name="T2" fmla="*/ 45 w 45"/>
                <a:gd name="T3" fmla="*/ 18 h 45"/>
                <a:gd name="T4" fmla="*/ 45 w 45"/>
                <a:gd name="T5" fmla="*/ 15 h 45"/>
                <a:gd name="T6" fmla="*/ 43 w 45"/>
                <a:gd name="T7" fmla="*/ 13 h 45"/>
                <a:gd name="T8" fmla="*/ 43 w 45"/>
                <a:gd name="T9" fmla="*/ 8 h 45"/>
                <a:gd name="T10" fmla="*/ 40 w 45"/>
                <a:gd name="T11" fmla="*/ 5 h 45"/>
                <a:gd name="T12" fmla="*/ 37 w 45"/>
                <a:gd name="T13" fmla="*/ 5 h 45"/>
                <a:gd name="T14" fmla="*/ 35 w 45"/>
                <a:gd name="T15" fmla="*/ 2 h 45"/>
                <a:gd name="T16" fmla="*/ 32 w 45"/>
                <a:gd name="T17" fmla="*/ 0 h 45"/>
                <a:gd name="T18" fmla="*/ 27 w 45"/>
                <a:gd name="T19" fmla="*/ 0 h 45"/>
                <a:gd name="T20" fmla="*/ 24 w 45"/>
                <a:gd name="T21" fmla="*/ 0 h 45"/>
                <a:gd name="T22" fmla="*/ 21 w 45"/>
                <a:gd name="T23" fmla="*/ 0 h 45"/>
                <a:gd name="T24" fmla="*/ 16 w 45"/>
                <a:gd name="T25" fmla="*/ 0 h 45"/>
                <a:gd name="T26" fmla="*/ 14 w 45"/>
                <a:gd name="T27" fmla="*/ 2 h 45"/>
                <a:gd name="T28" fmla="*/ 11 w 45"/>
                <a:gd name="T29" fmla="*/ 5 h 45"/>
                <a:gd name="T30" fmla="*/ 8 w 45"/>
                <a:gd name="T31" fmla="*/ 5 h 45"/>
                <a:gd name="T32" fmla="*/ 6 w 45"/>
                <a:gd name="T33" fmla="*/ 8 h 45"/>
                <a:gd name="T34" fmla="*/ 3 w 45"/>
                <a:gd name="T35" fmla="*/ 13 h 45"/>
                <a:gd name="T36" fmla="*/ 3 w 45"/>
                <a:gd name="T37" fmla="*/ 15 h 45"/>
                <a:gd name="T38" fmla="*/ 3 w 45"/>
                <a:gd name="T39" fmla="*/ 18 h 45"/>
                <a:gd name="T40" fmla="*/ 0 w 45"/>
                <a:gd name="T41" fmla="*/ 21 h 45"/>
                <a:gd name="T42" fmla="*/ 3 w 45"/>
                <a:gd name="T43" fmla="*/ 26 h 45"/>
                <a:gd name="T44" fmla="*/ 3 w 45"/>
                <a:gd name="T45" fmla="*/ 29 h 45"/>
                <a:gd name="T46" fmla="*/ 3 w 45"/>
                <a:gd name="T47" fmla="*/ 31 h 45"/>
                <a:gd name="T48" fmla="*/ 6 w 45"/>
                <a:gd name="T49" fmla="*/ 34 h 45"/>
                <a:gd name="T50" fmla="*/ 8 w 45"/>
                <a:gd name="T51" fmla="*/ 37 h 45"/>
                <a:gd name="T52" fmla="*/ 11 w 45"/>
                <a:gd name="T53" fmla="*/ 39 h 45"/>
                <a:gd name="T54" fmla="*/ 14 w 45"/>
                <a:gd name="T55" fmla="*/ 42 h 45"/>
                <a:gd name="T56" fmla="*/ 16 w 45"/>
                <a:gd name="T57" fmla="*/ 42 h 45"/>
                <a:gd name="T58" fmla="*/ 21 w 45"/>
                <a:gd name="T59" fmla="*/ 45 h 45"/>
                <a:gd name="T60" fmla="*/ 24 w 45"/>
                <a:gd name="T61" fmla="*/ 45 h 45"/>
                <a:gd name="T62" fmla="*/ 27 w 45"/>
                <a:gd name="T63" fmla="*/ 45 h 45"/>
                <a:gd name="T64" fmla="*/ 32 w 45"/>
                <a:gd name="T65" fmla="*/ 42 h 45"/>
                <a:gd name="T66" fmla="*/ 35 w 45"/>
                <a:gd name="T67" fmla="*/ 42 h 45"/>
                <a:gd name="T68" fmla="*/ 37 w 45"/>
                <a:gd name="T69" fmla="*/ 39 h 45"/>
                <a:gd name="T70" fmla="*/ 40 w 45"/>
                <a:gd name="T71" fmla="*/ 37 h 45"/>
                <a:gd name="T72" fmla="*/ 43 w 45"/>
                <a:gd name="T73" fmla="*/ 34 h 45"/>
                <a:gd name="T74" fmla="*/ 43 w 45"/>
                <a:gd name="T75" fmla="*/ 31 h 45"/>
                <a:gd name="T76" fmla="*/ 45 w 45"/>
                <a:gd name="T77" fmla="*/ 29 h 45"/>
                <a:gd name="T78" fmla="*/ 45 w 45"/>
                <a:gd name="T79" fmla="*/ 26 h 45"/>
                <a:gd name="T80" fmla="*/ 45 w 45"/>
                <a:gd name="T81" fmla="*/ 21 h 45"/>
                <a:gd name="T82" fmla="*/ 45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8"/>
                  </a:lnTo>
                  <a:lnTo>
                    <a:pt x="45" y="15"/>
                  </a:lnTo>
                  <a:lnTo>
                    <a:pt x="43" y="13"/>
                  </a:lnTo>
                  <a:lnTo>
                    <a:pt x="43" y="8"/>
                  </a:lnTo>
                  <a:lnTo>
                    <a:pt x="40" y="5"/>
                  </a:lnTo>
                  <a:lnTo>
                    <a:pt x="37" y="5"/>
                  </a:lnTo>
                  <a:lnTo>
                    <a:pt x="35" y="2"/>
                  </a:lnTo>
                  <a:lnTo>
                    <a:pt x="32" y="0"/>
                  </a:lnTo>
                  <a:lnTo>
                    <a:pt x="27" y="0"/>
                  </a:lnTo>
                  <a:lnTo>
                    <a:pt x="24" y="0"/>
                  </a:lnTo>
                  <a:lnTo>
                    <a:pt x="21" y="0"/>
                  </a:lnTo>
                  <a:lnTo>
                    <a:pt x="16" y="0"/>
                  </a:lnTo>
                  <a:lnTo>
                    <a:pt x="14" y="2"/>
                  </a:lnTo>
                  <a:lnTo>
                    <a:pt x="11" y="5"/>
                  </a:lnTo>
                  <a:lnTo>
                    <a:pt x="8" y="5"/>
                  </a:lnTo>
                  <a:lnTo>
                    <a:pt x="6" y="8"/>
                  </a:lnTo>
                  <a:lnTo>
                    <a:pt x="3" y="13"/>
                  </a:lnTo>
                  <a:lnTo>
                    <a:pt x="3" y="15"/>
                  </a:lnTo>
                  <a:lnTo>
                    <a:pt x="3" y="18"/>
                  </a:lnTo>
                  <a:lnTo>
                    <a:pt x="0" y="21"/>
                  </a:lnTo>
                  <a:lnTo>
                    <a:pt x="3" y="26"/>
                  </a:lnTo>
                  <a:lnTo>
                    <a:pt x="3" y="29"/>
                  </a:lnTo>
                  <a:lnTo>
                    <a:pt x="3" y="31"/>
                  </a:lnTo>
                  <a:lnTo>
                    <a:pt x="6" y="34"/>
                  </a:lnTo>
                  <a:lnTo>
                    <a:pt x="8" y="37"/>
                  </a:lnTo>
                  <a:lnTo>
                    <a:pt x="11" y="39"/>
                  </a:lnTo>
                  <a:lnTo>
                    <a:pt x="14" y="42"/>
                  </a:lnTo>
                  <a:lnTo>
                    <a:pt x="16" y="42"/>
                  </a:lnTo>
                  <a:lnTo>
                    <a:pt x="21" y="45"/>
                  </a:lnTo>
                  <a:lnTo>
                    <a:pt x="24" y="45"/>
                  </a:lnTo>
                  <a:lnTo>
                    <a:pt x="27" y="45"/>
                  </a:lnTo>
                  <a:lnTo>
                    <a:pt x="32" y="42"/>
                  </a:lnTo>
                  <a:lnTo>
                    <a:pt x="35" y="42"/>
                  </a:lnTo>
                  <a:lnTo>
                    <a:pt x="37" y="39"/>
                  </a:lnTo>
                  <a:lnTo>
                    <a:pt x="40" y="37"/>
                  </a:lnTo>
                  <a:lnTo>
                    <a:pt x="43" y="34"/>
                  </a:lnTo>
                  <a:lnTo>
                    <a:pt x="43" y="31"/>
                  </a:lnTo>
                  <a:lnTo>
                    <a:pt x="45" y="29"/>
                  </a:lnTo>
                  <a:lnTo>
                    <a:pt x="45" y="26"/>
                  </a:lnTo>
                  <a:lnTo>
                    <a:pt x="45"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8" name="Text Box 143"/>
            <p:cNvSpPr txBox="1">
              <a:spLocks noChangeArrowheads="1"/>
            </p:cNvSpPr>
            <p:nvPr/>
          </p:nvSpPr>
          <p:spPr bwMode="auto">
            <a:xfrm>
              <a:off x="1155" y="2285"/>
              <a:ext cx="86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ea typeface="宋体" panose="02010600030101010101" pitchFamily="2" charset="-122"/>
                </a:rPr>
                <a:t>Shared Cache</a:t>
              </a:r>
            </a:p>
          </p:txBody>
        </p:sp>
      </p:grpSp>
    </p:spTree>
    <p:extLst>
      <p:ext uri="{BB962C8B-B14F-4D97-AF65-F5344CB8AC3E}">
        <p14:creationId xmlns:p14="http://schemas.microsoft.com/office/powerpoint/2010/main" val="1677858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为什么要专门研究共享存储系统</a:t>
            </a:r>
            <a:r>
              <a:rPr lang="zh-CN" altLang="en-US" dirty="0"/>
              <a:t>？</a:t>
            </a:r>
          </a:p>
        </p:txBody>
      </p:sp>
      <p:sp>
        <p:nvSpPr>
          <p:cNvPr id="3" name="内容占位符 2"/>
          <p:cNvSpPr>
            <a:spLocks noGrp="1"/>
          </p:cNvSpPr>
          <p:nvPr>
            <p:ph idx="1"/>
          </p:nvPr>
        </p:nvSpPr>
        <p:spPr>
          <a:xfrm>
            <a:off x="407368" y="1556792"/>
            <a:ext cx="6120680" cy="5112568"/>
          </a:xfrm>
        </p:spPr>
        <p:txBody>
          <a:bodyPr/>
          <a:lstStyle/>
          <a:p>
            <a:r>
              <a:rPr lang="zh-CN" altLang="en-US" dirty="0" smtClean="0"/>
              <a:t>随着多核处理器的出现，现在的计算机都是共享存储系统</a:t>
            </a:r>
            <a:endParaRPr lang="en-US" altLang="zh-CN" dirty="0" smtClean="0"/>
          </a:p>
          <a:p>
            <a:pPr lvl="1"/>
            <a:r>
              <a:rPr lang="zh-CN" altLang="en-US" dirty="0" smtClean="0"/>
              <a:t>移动处理器和</a:t>
            </a:r>
            <a:r>
              <a:rPr lang="en-US" altLang="zh-CN" dirty="0" smtClean="0"/>
              <a:t>PC</a:t>
            </a:r>
            <a:r>
              <a:rPr lang="zh-CN" altLang="en-US" dirty="0" smtClean="0"/>
              <a:t>处理器，</a:t>
            </a:r>
            <a:r>
              <a:rPr lang="en-US" altLang="zh-CN" dirty="0" smtClean="0"/>
              <a:t>2-8</a:t>
            </a:r>
            <a:r>
              <a:rPr lang="zh-CN" altLang="en-US" dirty="0" smtClean="0"/>
              <a:t>核</a:t>
            </a:r>
            <a:r>
              <a:rPr lang="en-US" altLang="zh-CN" dirty="0" smtClean="0"/>
              <a:t/>
            </a:r>
            <a:br>
              <a:rPr lang="en-US" altLang="zh-CN" dirty="0" smtClean="0"/>
            </a:br>
            <a:r>
              <a:rPr lang="zh-CN" altLang="en-US" dirty="0" smtClean="0"/>
              <a:t>（</a:t>
            </a:r>
            <a:r>
              <a:rPr lang="en-US" altLang="zh-CN" dirty="0" smtClean="0"/>
              <a:t>SMP</a:t>
            </a:r>
            <a:r>
              <a:rPr lang="zh-CN" altLang="en-US" dirty="0" smtClean="0"/>
              <a:t>，</a:t>
            </a:r>
            <a:r>
              <a:rPr lang="en-US" altLang="zh-CN" dirty="0" smtClean="0"/>
              <a:t>UMA</a:t>
            </a:r>
            <a:r>
              <a:rPr lang="zh-CN" altLang="en-US" dirty="0" smtClean="0"/>
              <a:t>）</a:t>
            </a:r>
            <a:endParaRPr lang="en-US" altLang="zh-CN" dirty="0" smtClean="0"/>
          </a:p>
          <a:p>
            <a:pPr lvl="1"/>
            <a:r>
              <a:rPr lang="zh-CN" altLang="en-US" dirty="0" smtClean="0"/>
              <a:t>单路服务器：一个芯片含几十个核，可能是</a:t>
            </a:r>
            <a:r>
              <a:rPr lang="en-US" altLang="zh-CN" dirty="0" smtClean="0"/>
              <a:t>UMA</a:t>
            </a:r>
            <a:r>
              <a:rPr lang="zh-CN" altLang="en-US" dirty="0" smtClean="0"/>
              <a:t>，也可能是</a:t>
            </a:r>
            <a:r>
              <a:rPr lang="en-US" altLang="zh-CN" dirty="0" smtClean="0"/>
              <a:t>NUMA</a:t>
            </a:r>
          </a:p>
          <a:p>
            <a:pPr lvl="1"/>
            <a:r>
              <a:rPr lang="zh-CN" altLang="en-US" dirty="0" smtClean="0"/>
              <a:t>多路服务器：</a:t>
            </a:r>
            <a:r>
              <a:rPr lang="en-US" altLang="zh-CN" dirty="0" smtClean="0"/>
              <a:t>2-8</a:t>
            </a:r>
            <a:r>
              <a:rPr lang="zh-CN" altLang="en-US" dirty="0" smtClean="0"/>
              <a:t>个芯片，</a:t>
            </a:r>
            <a:r>
              <a:rPr lang="en-US" altLang="zh-CN" dirty="0" smtClean="0"/>
              <a:t>NUMA</a:t>
            </a:r>
            <a:r>
              <a:rPr lang="zh-CN" altLang="en-US" dirty="0" smtClean="0"/>
              <a:t>为主</a:t>
            </a:r>
            <a:endParaRPr lang="en-US" altLang="zh-CN" dirty="0" smtClean="0"/>
          </a:p>
          <a:p>
            <a:r>
              <a:rPr lang="zh-CN" altLang="en-US" dirty="0" smtClean="0"/>
              <a:t>例子：</a:t>
            </a:r>
            <a:r>
              <a:rPr lang="en-US" altLang="zh-CN" dirty="0" smtClean="0"/>
              <a:t>AMD EPYC Zen-1</a:t>
            </a:r>
          </a:p>
          <a:p>
            <a:pPr lvl="1"/>
            <a:r>
              <a:rPr lang="zh-CN" altLang="en-US" dirty="0" smtClean="0"/>
              <a:t>每个</a:t>
            </a:r>
            <a:r>
              <a:rPr lang="en-US" altLang="zh-CN" dirty="0" smtClean="0"/>
              <a:t>die 8</a:t>
            </a:r>
            <a:r>
              <a:rPr lang="zh-CN" altLang="en-US" dirty="0" smtClean="0"/>
              <a:t>核，有自己的</a:t>
            </a:r>
            <a:r>
              <a:rPr lang="en-US" altLang="zh-CN" dirty="0" smtClean="0"/>
              <a:t>DDR4</a:t>
            </a:r>
            <a:r>
              <a:rPr lang="zh-CN" altLang="en-US" dirty="0" smtClean="0"/>
              <a:t>接口</a:t>
            </a:r>
            <a:endParaRPr lang="en-US" altLang="zh-CN" dirty="0" smtClean="0"/>
          </a:p>
          <a:p>
            <a:pPr lvl="1"/>
            <a:r>
              <a:rPr lang="en-US" altLang="zh-CN" dirty="0" smtClean="0"/>
              <a:t>4</a:t>
            </a:r>
            <a:r>
              <a:rPr lang="zh-CN" altLang="en-US" dirty="0" smtClean="0"/>
              <a:t>个</a:t>
            </a:r>
            <a:r>
              <a:rPr lang="en-US" altLang="zh-CN" dirty="0" smtClean="0"/>
              <a:t>die</a:t>
            </a:r>
            <a:r>
              <a:rPr lang="zh-CN" altLang="en-US" dirty="0" smtClean="0"/>
              <a:t>两两互连，形成</a:t>
            </a:r>
            <a:r>
              <a:rPr lang="en-US" altLang="zh-CN" dirty="0" smtClean="0"/>
              <a:t>32</a:t>
            </a:r>
            <a:r>
              <a:rPr lang="zh-CN" altLang="en-US" dirty="0" smtClean="0"/>
              <a:t>核的芯片</a:t>
            </a:r>
            <a:endParaRPr lang="en-US" altLang="zh-CN" dirty="0" smtClean="0"/>
          </a:p>
          <a:p>
            <a:pPr lvl="1"/>
            <a:r>
              <a:rPr lang="zh-CN" altLang="en-US" dirty="0" smtClean="0"/>
              <a:t>处理器访问直连</a:t>
            </a:r>
            <a:r>
              <a:rPr lang="en-US" altLang="zh-CN" dirty="0" smtClean="0"/>
              <a:t>DRAM</a:t>
            </a:r>
            <a:r>
              <a:rPr lang="zh-CN" altLang="en-US" dirty="0" smtClean="0"/>
              <a:t>和非直连</a:t>
            </a:r>
            <a:r>
              <a:rPr lang="en-US" altLang="zh-CN" dirty="0" smtClean="0"/>
              <a:t>DRAM</a:t>
            </a:r>
            <a:br>
              <a:rPr lang="en-US" altLang="zh-CN" dirty="0" smtClean="0"/>
            </a:br>
            <a:r>
              <a:rPr lang="zh-CN" altLang="en-US" dirty="0" smtClean="0"/>
              <a:t>的延迟相差</a:t>
            </a:r>
            <a:r>
              <a:rPr lang="en-US" altLang="zh-CN" dirty="0" smtClean="0"/>
              <a:t>1</a:t>
            </a:r>
            <a:r>
              <a:rPr lang="zh-CN" altLang="en-US" dirty="0" smtClean="0"/>
              <a:t>倍，形成</a:t>
            </a:r>
            <a:r>
              <a:rPr lang="en-US" altLang="zh-CN" dirty="0" smtClean="0"/>
              <a:t>NUMA</a:t>
            </a:r>
          </a:p>
          <a:p>
            <a:pPr lvl="1"/>
            <a:r>
              <a:rPr lang="zh-CN" altLang="en-US" dirty="0" smtClean="0"/>
              <a:t>两个芯片构成双路系统，延迟差更大</a:t>
            </a:r>
            <a:endParaRPr lang="zh-CN" altLang="en-US" dirty="0"/>
          </a:p>
        </p:txBody>
      </p:sp>
      <p:pic>
        <p:nvPicPr>
          <p:cNvPr id="4" name="图片 3"/>
          <p:cNvPicPr>
            <a:picLocks noChangeAspect="1"/>
          </p:cNvPicPr>
          <p:nvPr/>
        </p:nvPicPr>
        <p:blipFill>
          <a:blip r:embed="rId2"/>
          <a:stretch>
            <a:fillRect/>
          </a:stretch>
        </p:blipFill>
        <p:spPr>
          <a:xfrm>
            <a:off x="6816080" y="1844824"/>
            <a:ext cx="5205863" cy="4619537"/>
          </a:xfrm>
          <a:prstGeom prst="rect">
            <a:avLst/>
          </a:prstGeom>
        </p:spPr>
      </p:pic>
    </p:spTree>
    <p:extLst>
      <p:ext uri="{BB962C8B-B14F-4D97-AF65-F5344CB8AC3E}">
        <p14:creationId xmlns:p14="http://schemas.microsoft.com/office/powerpoint/2010/main" val="1319444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共享存储系统的基本问题</a:t>
            </a:r>
            <a:endParaRPr lang="zh-CN" altLang="en-US" dirty="0"/>
          </a:p>
        </p:txBody>
      </p:sp>
      <p:sp>
        <p:nvSpPr>
          <p:cNvPr id="5" name="内容占位符 4"/>
          <p:cNvSpPr>
            <a:spLocks noGrp="1"/>
          </p:cNvSpPr>
          <p:nvPr>
            <p:ph idx="1"/>
          </p:nvPr>
        </p:nvSpPr>
        <p:spPr/>
        <p:txBody>
          <a:bodyPr/>
          <a:lstStyle/>
          <a:p>
            <a:r>
              <a:rPr lang="zh-CN" altLang="en-US" dirty="0" smtClean="0"/>
              <a:t>同步</a:t>
            </a:r>
            <a:r>
              <a:rPr lang="en-US" altLang="zh-CN" dirty="0" smtClean="0"/>
              <a:t>(synchronization, synchronize)</a:t>
            </a:r>
            <a:r>
              <a:rPr lang="zh-CN" altLang="en-US" dirty="0" smtClean="0"/>
              <a:t>机制</a:t>
            </a:r>
            <a:endParaRPr lang="en-US" altLang="zh-CN" dirty="0" smtClean="0"/>
          </a:p>
          <a:p>
            <a:pPr lvl="1"/>
            <a:r>
              <a:rPr lang="zh-CN" altLang="en-US" dirty="0" smtClean="0"/>
              <a:t>控制对共享资源的竞争访问次序</a:t>
            </a:r>
            <a:endParaRPr lang="en-US" altLang="zh-CN" dirty="0" smtClean="0"/>
          </a:p>
          <a:p>
            <a:r>
              <a:rPr lang="zh-CN" altLang="en-US" dirty="0" smtClean="0"/>
              <a:t>存储器一致性</a:t>
            </a:r>
            <a:r>
              <a:rPr lang="en-US" altLang="zh-CN" dirty="0" smtClean="0"/>
              <a:t>(consistency, consistent)</a:t>
            </a:r>
            <a:r>
              <a:rPr lang="zh-CN" altLang="en-US" dirty="0" smtClean="0"/>
              <a:t>模型</a:t>
            </a:r>
            <a:endParaRPr lang="en-US" altLang="zh-CN" dirty="0" smtClean="0"/>
          </a:p>
          <a:p>
            <a:pPr lvl="1"/>
            <a:r>
              <a:rPr lang="zh-CN" altLang="en-US" dirty="0" smtClean="0"/>
              <a:t>规定访存操作被别人看到的次序</a:t>
            </a:r>
            <a:endParaRPr lang="en-US" altLang="zh-CN" dirty="0" smtClean="0"/>
          </a:p>
          <a:p>
            <a:pPr lvl="1"/>
            <a:r>
              <a:rPr lang="zh-CN" altLang="en-US" dirty="0" smtClean="0"/>
              <a:t>涉及访问多个存储器位置的时间关系</a:t>
            </a:r>
            <a:endParaRPr lang="en-US" altLang="zh-CN" dirty="0" smtClean="0"/>
          </a:p>
          <a:p>
            <a:r>
              <a:rPr lang="en-US" altLang="zh-CN" dirty="0" smtClean="0"/>
              <a:t>Cache</a:t>
            </a:r>
            <a:r>
              <a:rPr lang="zh-CN" altLang="en-US" dirty="0" smtClean="0"/>
              <a:t>同一性</a:t>
            </a:r>
            <a:r>
              <a:rPr lang="en-US" altLang="zh-CN" dirty="0" smtClean="0"/>
              <a:t>(coherence, coherent)</a:t>
            </a:r>
            <a:r>
              <a:rPr lang="zh-CN" altLang="en-US" dirty="0" smtClean="0"/>
              <a:t>协议</a:t>
            </a:r>
            <a:endParaRPr lang="en-US" altLang="zh-CN" dirty="0" smtClean="0"/>
          </a:p>
          <a:p>
            <a:pPr lvl="1"/>
            <a:r>
              <a:rPr lang="zh-CN" altLang="en-US" dirty="0" smtClean="0"/>
              <a:t>维持数据块在多个</a:t>
            </a:r>
            <a:r>
              <a:rPr lang="en-US" altLang="zh-CN" dirty="0" smtClean="0"/>
              <a:t>cache</a:t>
            </a:r>
            <a:r>
              <a:rPr lang="zh-CN" altLang="en-US" dirty="0" smtClean="0"/>
              <a:t>中副本的同一</a:t>
            </a:r>
            <a:endParaRPr lang="en-US" altLang="zh-CN" dirty="0" smtClean="0"/>
          </a:p>
          <a:p>
            <a:pPr lvl="1"/>
            <a:r>
              <a:rPr lang="zh-CN" altLang="en-US" dirty="0" smtClean="0"/>
              <a:t>涉及访问单个存储器位置的空间关系</a:t>
            </a:r>
            <a:endParaRPr lang="en-US" altLang="zh-CN" dirty="0" smtClean="0"/>
          </a:p>
          <a:p>
            <a:r>
              <a:rPr lang="zh-CN" altLang="en-US" dirty="0" smtClean="0"/>
              <a:t>实际应用中，三个问题经常纠缠在一起</a:t>
            </a:r>
            <a:endParaRPr lang="en-US" altLang="zh-CN" dirty="0" smtClean="0"/>
          </a:p>
        </p:txBody>
      </p:sp>
    </p:spTree>
    <p:extLst>
      <p:ext uri="{BB962C8B-B14F-4D97-AF65-F5344CB8AC3E}">
        <p14:creationId xmlns:p14="http://schemas.microsoft.com/office/powerpoint/2010/main" val="1925115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总线结构的对称多处理机</a:t>
            </a:r>
            <a:endParaRPr lang="zh-CN" altLang="en-US" dirty="0"/>
          </a:p>
        </p:txBody>
      </p:sp>
      <p:sp>
        <p:nvSpPr>
          <p:cNvPr id="69" name="内容占位符 68"/>
          <p:cNvSpPr>
            <a:spLocks noGrp="1"/>
          </p:cNvSpPr>
          <p:nvPr>
            <p:ph idx="1"/>
          </p:nvPr>
        </p:nvSpPr>
        <p:spPr/>
        <p:txBody>
          <a:bodyPr/>
          <a:lstStyle/>
          <a:p>
            <a:r>
              <a:rPr lang="zh-CN" altLang="en-US" dirty="0" smtClean="0"/>
              <a:t>主流服务器产品</a:t>
            </a:r>
            <a:endParaRPr lang="en-US" altLang="zh-CN" dirty="0" smtClean="0"/>
          </a:p>
          <a:p>
            <a:pPr lvl="1"/>
            <a:r>
              <a:rPr lang="zh-CN" altLang="en-US" dirty="0" smtClean="0"/>
              <a:t>大系统的基本构件</a:t>
            </a:r>
            <a:endParaRPr lang="en-US" altLang="zh-CN" dirty="0" smtClean="0"/>
          </a:p>
          <a:p>
            <a:pPr lvl="1"/>
            <a:r>
              <a:rPr lang="zh-CN" altLang="en-US" dirty="0" smtClean="0"/>
              <a:t>已进入桌面应用</a:t>
            </a:r>
            <a:endParaRPr lang="en-US" altLang="zh-CN" dirty="0" smtClean="0"/>
          </a:p>
          <a:p>
            <a:pPr lvl="2"/>
            <a:r>
              <a:rPr lang="zh-CN" altLang="en-US" dirty="0" smtClean="0"/>
              <a:t>多核处理器的基本结构</a:t>
            </a:r>
            <a:endParaRPr lang="en-US" altLang="zh-CN" dirty="0" smtClean="0"/>
          </a:p>
          <a:p>
            <a:r>
              <a:rPr lang="zh-CN" altLang="en-US" dirty="0" smtClean="0"/>
              <a:t>高吞吐率、并行计算</a:t>
            </a:r>
            <a:endParaRPr lang="en-US" altLang="zh-CN" dirty="0" smtClean="0"/>
          </a:p>
          <a:p>
            <a:pPr lvl="1"/>
            <a:r>
              <a:rPr lang="zh-CN" altLang="en-US" dirty="0" smtClean="0"/>
              <a:t>细粒度资源共享、通过存</a:t>
            </a:r>
            <a:r>
              <a:rPr lang="en-US" altLang="zh-CN" dirty="0" smtClean="0"/>
              <a:t>/</a:t>
            </a:r>
            <a:r>
              <a:rPr lang="zh-CN" altLang="en-US" dirty="0" smtClean="0"/>
              <a:t>取的均匀时间访问</a:t>
            </a:r>
            <a:endParaRPr lang="en-US" altLang="zh-CN" dirty="0" smtClean="0"/>
          </a:p>
          <a:p>
            <a:pPr lvl="1"/>
            <a:r>
              <a:rPr lang="zh-CN" altLang="en-US" dirty="0" smtClean="0"/>
              <a:t>数据在各</a:t>
            </a:r>
            <a:r>
              <a:rPr lang="en-US" altLang="zh-CN" dirty="0" smtClean="0"/>
              <a:t>cache</a:t>
            </a:r>
            <a:r>
              <a:rPr lang="zh-CN" altLang="en-US" dirty="0" smtClean="0"/>
              <a:t>间的自动移动和同一复制</a:t>
            </a:r>
            <a:endParaRPr lang="en-US" altLang="zh-CN" dirty="0" smtClean="0"/>
          </a:p>
          <a:p>
            <a:pPr lvl="1"/>
            <a:r>
              <a:rPr lang="zh-CN" altLang="en-US" dirty="0" smtClean="0"/>
              <a:t>成本低廉、易于扩展</a:t>
            </a:r>
            <a:endParaRPr lang="en-US" altLang="zh-CN" dirty="0" smtClean="0"/>
          </a:p>
          <a:p>
            <a:r>
              <a:rPr lang="zh-CN" altLang="en-US" dirty="0" smtClean="0"/>
              <a:t>访问数据的方式与普通单处理机相同</a:t>
            </a:r>
            <a:endParaRPr lang="en-US" altLang="zh-CN" dirty="0" smtClean="0"/>
          </a:p>
          <a:p>
            <a:pPr lvl="1"/>
            <a:r>
              <a:rPr lang="zh-CN" altLang="en-US" dirty="0" smtClean="0"/>
              <a:t>核心是如何扩展存储器层次来支持多个处理器</a:t>
            </a:r>
            <a:endParaRPr lang="zh-CN" altLang="en-US" dirty="0"/>
          </a:p>
        </p:txBody>
      </p:sp>
      <p:grpSp>
        <p:nvGrpSpPr>
          <p:cNvPr id="70" name="Group 37"/>
          <p:cNvGrpSpPr>
            <a:grpSpLocks/>
          </p:cNvGrpSpPr>
          <p:nvPr/>
        </p:nvGrpSpPr>
        <p:grpSpPr bwMode="auto">
          <a:xfrm>
            <a:off x="7608168" y="1700808"/>
            <a:ext cx="3975100" cy="1905000"/>
            <a:chOff x="3168" y="2400"/>
            <a:chExt cx="2504" cy="1200"/>
          </a:xfrm>
        </p:grpSpPr>
        <p:sp>
          <p:nvSpPr>
            <p:cNvPr id="71" name="Line 5"/>
            <p:cNvSpPr>
              <a:spLocks noChangeShapeType="1"/>
            </p:cNvSpPr>
            <p:nvPr/>
          </p:nvSpPr>
          <p:spPr bwMode="auto">
            <a:xfrm>
              <a:off x="3773" y="3195"/>
              <a:ext cx="1" cy="1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Freeform 6"/>
            <p:cNvSpPr>
              <a:spLocks/>
            </p:cNvSpPr>
            <p:nvPr/>
          </p:nvSpPr>
          <p:spPr bwMode="auto">
            <a:xfrm>
              <a:off x="3336" y="3354"/>
              <a:ext cx="865" cy="238"/>
            </a:xfrm>
            <a:custGeom>
              <a:avLst/>
              <a:gdLst>
                <a:gd name="T0" fmla="*/ 0 w 798"/>
                <a:gd name="T1" fmla="*/ 0 h 238"/>
                <a:gd name="T2" fmla="*/ 865 w 798"/>
                <a:gd name="T3" fmla="*/ 0 h 238"/>
                <a:gd name="T4" fmla="*/ 865 w 798"/>
                <a:gd name="T5" fmla="*/ 238 h 238"/>
                <a:gd name="T6" fmla="*/ 3 w 798"/>
                <a:gd name="T7" fmla="*/ 238 h 238"/>
                <a:gd name="T8" fmla="*/ 3 w 798"/>
                <a:gd name="T9" fmla="*/ 0 h 238"/>
                <a:gd name="T10" fmla="*/ 0 w 798"/>
                <a:gd name="T11" fmla="*/ 0 h 238"/>
                <a:gd name="T12" fmla="*/ 0 60000 65536"/>
                <a:gd name="T13" fmla="*/ 0 60000 65536"/>
                <a:gd name="T14" fmla="*/ 0 60000 65536"/>
                <a:gd name="T15" fmla="*/ 0 60000 65536"/>
                <a:gd name="T16" fmla="*/ 0 60000 65536"/>
                <a:gd name="T17" fmla="*/ 0 60000 65536"/>
                <a:gd name="T18" fmla="*/ 0 w 798"/>
                <a:gd name="T19" fmla="*/ 0 h 238"/>
                <a:gd name="T20" fmla="*/ 798 w 798"/>
                <a:gd name="T21" fmla="*/ 238 h 238"/>
              </a:gdLst>
              <a:ahLst/>
              <a:cxnLst>
                <a:cxn ang="T12">
                  <a:pos x="T0" y="T1"/>
                </a:cxn>
                <a:cxn ang="T13">
                  <a:pos x="T2" y="T3"/>
                </a:cxn>
                <a:cxn ang="T14">
                  <a:pos x="T4" y="T5"/>
                </a:cxn>
                <a:cxn ang="T15">
                  <a:pos x="T6" y="T7"/>
                </a:cxn>
                <a:cxn ang="T16">
                  <a:pos x="T8" y="T9"/>
                </a:cxn>
                <a:cxn ang="T17">
                  <a:pos x="T10" y="T11"/>
                </a:cxn>
              </a:cxnLst>
              <a:rect l="T18" t="T19" r="T20" b="T21"/>
              <a:pathLst>
                <a:path w="798" h="238">
                  <a:moveTo>
                    <a:pt x="0" y="0"/>
                  </a:moveTo>
                  <a:lnTo>
                    <a:pt x="798" y="0"/>
                  </a:lnTo>
                  <a:lnTo>
                    <a:pt x="798" y="238"/>
                  </a:lnTo>
                  <a:lnTo>
                    <a:pt x="3" y="238"/>
                  </a:lnTo>
                  <a:lnTo>
                    <a:pt x="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Rectangle 7"/>
            <p:cNvSpPr>
              <a:spLocks noChangeArrowheads="1"/>
            </p:cNvSpPr>
            <p:nvPr/>
          </p:nvSpPr>
          <p:spPr bwMode="auto">
            <a:xfrm>
              <a:off x="4656" y="3399"/>
              <a:ext cx="7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b="0">
                  <a:solidFill>
                    <a:srgbClr val="000000"/>
                  </a:solidFill>
                  <a:ea typeface="宋体" panose="02010600030101010101" pitchFamily="2" charset="-122"/>
                </a:rPr>
                <a:t>I/O system</a:t>
              </a:r>
              <a:endParaRPr lang="en-US" altLang="zh-CN" sz="1400">
                <a:ea typeface="宋体" panose="02010600030101010101" pitchFamily="2" charset="-122"/>
              </a:endParaRPr>
            </a:p>
          </p:txBody>
        </p:sp>
        <p:sp>
          <p:nvSpPr>
            <p:cNvPr id="74" name="Rectangle 8"/>
            <p:cNvSpPr>
              <a:spLocks noChangeArrowheads="1"/>
            </p:cNvSpPr>
            <p:nvPr/>
          </p:nvSpPr>
          <p:spPr bwMode="auto">
            <a:xfrm>
              <a:off x="3360" y="3407"/>
              <a:ext cx="81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b="0">
                  <a:solidFill>
                    <a:srgbClr val="000000"/>
                  </a:solidFill>
                  <a:ea typeface="宋体" panose="02010600030101010101" pitchFamily="2" charset="-122"/>
                </a:rPr>
                <a:t>Main memory</a:t>
              </a:r>
              <a:endParaRPr lang="en-US" altLang="zh-CN" sz="1400">
                <a:ea typeface="宋体" panose="02010600030101010101" pitchFamily="2" charset="-122"/>
              </a:endParaRPr>
            </a:p>
          </p:txBody>
        </p:sp>
        <p:sp>
          <p:nvSpPr>
            <p:cNvPr id="75" name="Line 9"/>
            <p:cNvSpPr>
              <a:spLocks noChangeShapeType="1"/>
            </p:cNvSpPr>
            <p:nvPr/>
          </p:nvSpPr>
          <p:spPr bwMode="auto">
            <a:xfrm>
              <a:off x="5040" y="3195"/>
              <a:ext cx="2" cy="1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Rectangle 10"/>
            <p:cNvSpPr>
              <a:spLocks noChangeArrowheads="1"/>
            </p:cNvSpPr>
            <p:nvPr/>
          </p:nvSpPr>
          <p:spPr bwMode="auto">
            <a:xfrm>
              <a:off x="4296" y="3007"/>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Bus</a:t>
              </a:r>
              <a:endParaRPr lang="en-US" altLang="zh-CN" sz="1400">
                <a:ea typeface="宋体" panose="02010600030101010101" pitchFamily="2" charset="-122"/>
              </a:endParaRPr>
            </a:p>
          </p:txBody>
        </p:sp>
        <p:sp>
          <p:nvSpPr>
            <p:cNvPr id="77" name="Freeform 11"/>
            <p:cNvSpPr>
              <a:spLocks/>
            </p:cNvSpPr>
            <p:nvPr/>
          </p:nvSpPr>
          <p:spPr bwMode="auto">
            <a:xfrm>
              <a:off x="4136" y="2879"/>
              <a:ext cx="49" cy="45"/>
            </a:xfrm>
            <a:custGeom>
              <a:avLst/>
              <a:gdLst>
                <a:gd name="T0" fmla="*/ 49 w 45"/>
                <a:gd name="T1" fmla="*/ 21 h 45"/>
                <a:gd name="T2" fmla="*/ 49 w 45"/>
                <a:gd name="T3" fmla="*/ 27 h 45"/>
                <a:gd name="T4" fmla="*/ 49 w 45"/>
                <a:gd name="T5" fmla="*/ 29 h 45"/>
                <a:gd name="T6" fmla="*/ 47 w 45"/>
                <a:gd name="T7" fmla="*/ 32 h 45"/>
                <a:gd name="T8" fmla="*/ 44 w 45"/>
                <a:gd name="T9" fmla="*/ 35 h 45"/>
                <a:gd name="T10" fmla="*/ 44 w 45"/>
                <a:gd name="T11" fmla="*/ 37 h 45"/>
                <a:gd name="T12" fmla="*/ 40 w 45"/>
                <a:gd name="T13" fmla="*/ 40 h 45"/>
                <a:gd name="T14" fmla="*/ 38 w 45"/>
                <a:gd name="T15" fmla="*/ 43 h 45"/>
                <a:gd name="T16" fmla="*/ 33 w 45"/>
                <a:gd name="T17" fmla="*/ 43 h 45"/>
                <a:gd name="T18" fmla="*/ 29 w 45"/>
                <a:gd name="T19" fmla="*/ 45 h 45"/>
                <a:gd name="T20" fmla="*/ 26 w 45"/>
                <a:gd name="T21" fmla="*/ 45 h 45"/>
                <a:gd name="T22" fmla="*/ 21 w 45"/>
                <a:gd name="T23" fmla="*/ 45 h 45"/>
                <a:gd name="T24" fmla="*/ 17 w 45"/>
                <a:gd name="T25" fmla="*/ 43 h 45"/>
                <a:gd name="T26" fmla="*/ 15 w 45"/>
                <a:gd name="T27" fmla="*/ 43 h 45"/>
                <a:gd name="T28" fmla="*/ 12 w 45"/>
                <a:gd name="T29" fmla="*/ 40 h 45"/>
                <a:gd name="T30" fmla="*/ 9 w 45"/>
                <a:gd name="T31" fmla="*/ 37 h 45"/>
                <a:gd name="T32" fmla="*/ 7 w 45"/>
                <a:gd name="T33" fmla="*/ 35 h 45"/>
                <a:gd name="T34" fmla="*/ 3 w 45"/>
                <a:gd name="T35" fmla="*/ 32 h 45"/>
                <a:gd name="T36" fmla="*/ 3 w 45"/>
                <a:gd name="T37" fmla="*/ 29 h 45"/>
                <a:gd name="T38" fmla="*/ 0 w 45"/>
                <a:gd name="T39" fmla="*/ 27 h 45"/>
                <a:gd name="T40" fmla="*/ 0 w 45"/>
                <a:gd name="T41" fmla="*/ 21 h 45"/>
                <a:gd name="T42" fmla="*/ 0 w 45"/>
                <a:gd name="T43" fmla="*/ 19 h 45"/>
                <a:gd name="T44" fmla="*/ 3 w 45"/>
                <a:gd name="T45" fmla="*/ 16 h 45"/>
                <a:gd name="T46" fmla="*/ 3 w 45"/>
                <a:gd name="T47" fmla="*/ 14 h 45"/>
                <a:gd name="T48" fmla="*/ 7 w 45"/>
                <a:gd name="T49" fmla="*/ 8 h 45"/>
                <a:gd name="T50" fmla="*/ 9 w 45"/>
                <a:gd name="T51" fmla="*/ 6 h 45"/>
                <a:gd name="T52" fmla="*/ 12 w 45"/>
                <a:gd name="T53" fmla="*/ 6 h 45"/>
                <a:gd name="T54" fmla="*/ 15 w 45"/>
                <a:gd name="T55" fmla="*/ 3 h 45"/>
                <a:gd name="T56" fmla="*/ 17 w 45"/>
                <a:gd name="T57" fmla="*/ 0 h 45"/>
                <a:gd name="T58" fmla="*/ 21 w 45"/>
                <a:gd name="T59" fmla="*/ 0 h 45"/>
                <a:gd name="T60" fmla="*/ 26 w 45"/>
                <a:gd name="T61" fmla="*/ 0 h 45"/>
                <a:gd name="T62" fmla="*/ 29 w 45"/>
                <a:gd name="T63" fmla="*/ 0 h 45"/>
                <a:gd name="T64" fmla="*/ 33 w 45"/>
                <a:gd name="T65" fmla="*/ 0 h 45"/>
                <a:gd name="T66" fmla="*/ 38 w 45"/>
                <a:gd name="T67" fmla="*/ 3 h 45"/>
                <a:gd name="T68" fmla="*/ 40 w 45"/>
                <a:gd name="T69" fmla="*/ 6 h 45"/>
                <a:gd name="T70" fmla="*/ 44 w 45"/>
                <a:gd name="T71" fmla="*/ 6 h 45"/>
                <a:gd name="T72" fmla="*/ 44 w 45"/>
                <a:gd name="T73" fmla="*/ 8 h 45"/>
                <a:gd name="T74" fmla="*/ 47 w 45"/>
                <a:gd name="T75" fmla="*/ 14 h 45"/>
                <a:gd name="T76" fmla="*/ 49 w 45"/>
                <a:gd name="T77" fmla="*/ 16 h 45"/>
                <a:gd name="T78" fmla="*/ 49 w 45"/>
                <a:gd name="T79" fmla="*/ 19 h 45"/>
                <a:gd name="T80" fmla="*/ 49 w 45"/>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
                <a:gd name="T124" fmla="*/ 0 h 45"/>
                <a:gd name="T125" fmla="*/ 45 w 45"/>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 h="45">
                  <a:moveTo>
                    <a:pt x="45" y="21"/>
                  </a:moveTo>
                  <a:lnTo>
                    <a:pt x="45" y="27"/>
                  </a:lnTo>
                  <a:lnTo>
                    <a:pt x="45" y="29"/>
                  </a:lnTo>
                  <a:lnTo>
                    <a:pt x="43" y="32"/>
                  </a:lnTo>
                  <a:lnTo>
                    <a:pt x="40" y="35"/>
                  </a:lnTo>
                  <a:lnTo>
                    <a:pt x="40" y="37"/>
                  </a:lnTo>
                  <a:lnTo>
                    <a:pt x="37" y="40"/>
                  </a:lnTo>
                  <a:lnTo>
                    <a:pt x="35" y="43"/>
                  </a:lnTo>
                  <a:lnTo>
                    <a:pt x="30" y="43"/>
                  </a:lnTo>
                  <a:lnTo>
                    <a:pt x="27" y="45"/>
                  </a:lnTo>
                  <a:lnTo>
                    <a:pt x="24" y="45"/>
                  </a:lnTo>
                  <a:lnTo>
                    <a:pt x="19" y="45"/>
                  </a:lnTo>
                  <a:lnTo>
                    <a:pt x="16" y="43"/>
                  </a:lnTo>
                  <a:lnTo>
                    <a:pt x="14" y="43"/>
                  </a:lnTo>
                  <a:lnTo>
                    <a:pt x="11" y="40"/>
                  </a:lnTo>
                  <a:lnTo>
                    <a:pt x="8" y="37"/>
                  </a:lnTo>
                  <a:lnTo>
                    <a:pt x="6" y="35"/>
                  </a:lnTo>
                  <a:lnTo>
                    <a:pt x="3" y="32"/>
                  </a:lnTo>
                  <a:lnTo>
                    <a:pt x="3" y="29"/>
                  </a:lnTo>
                  <a:lnTo>
                    <a:pt x="0" y="27"/>
                  </a:lnTo>
                  <a:lnTo>
                    <a:pt x="0" y="21"/>
                  </a:lnTo>
                  <a:lnTo>
                    <a:pt x="0" y="19"/>
                  </a:lnTo>
                  <a:lnTo>
                    <a:pt x="3" y="16"/>
                  </a:lnTo>
                  <a:lnTo>
                    <a:pt x="3" y="14"/>
                  </a:lnTo>
                  <a:lnTo>
                    <a:pt x="6" y="8"/>
                  </a:lnTo>
                  <a:lnTo>
                    <a:pt x="8" y="6"/>
                  </a:lnTo>
                  <a:lnTo>
                    <a:pt x="11" y="6"/>
                  </a:lnTo>
                  <a:lnTo>
                    <a:pt x="14" y="3"/>
                  </a:lnTo>
                  <a:lnTo>
                    <a:pt x="16" y="0"/>
                  </a:lnTo>
                  <a:lnTo>
                    <a:pt x="19" y="0"/>
                  </a:lnTo>
                  <a:lnTo>
                    <a:pt x="24" y="0"/>
                  </a:lnTo>
                  <a:lnTo>
                    <a:pt x="27" y="0"/>
                  </a:lnTo>
                  <a:lnTo>
                    <a:pt x="30" y="0"/>
                  </a:lnTo>
                  <a:lnTo>
                    <a:pt x="35" y="3"/>
                  </a:lnTo>
                  <a:lnTo>
                    <a:pt x="37" y="6"/>
                  </a:lnTo>
                  <a:lnTo>
                    <a:pt x="40" y="6"/>
                  </a:lnTo>
                  <a:lnTo>
                    <a:pt x="40" y="8"/>
                  </a:lnTo>
                  <a:lnTo>
                    <a:pt x="43" y="14"/>
                  </a:lnTo>
                  <a:lnTo>
                    <a:pt x="45" y="16"/>
                  </a:lnTo>
                  <a:lnTo>
                    <a:pt x="45" y="19"/>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2"/>
            <p:cNvSpPr>
              <a:spLocks/>
            </p:cNvSpPr>
            <p:nvPr/>
          </p:nvSpPr>
          <p:spPr bwMode="auto">
            <a:xfrm>
              <a:off x="4136" y="2879"/>
              <a:ext cx="49" cy="45"/>
            </a:xfrm>
            <a:custGeom>
              <a:avLst/>
              <a:gdLst>
                <a:gd name="T0" fmla="*/ 49 w 45"/>
                <a:gd name="T1" fmla="*/ 21 h 45"/>
                <a:gd name="T2" fmla="*/ 49 w 45"/>
                <a:gd name="T3" fmla="*/ 19 h 45"/>
                <a:gd name="T4" fmla="*/ 49 w 45"/>
                <a:gd name="T5" fmla="*/ 16 h 45"/>
                <a:gd name="T6" fmla="*/ 47 w 45"/>
                <a:gd name="T7" fmla="*/ 14 h 45"/>
                <a:gd name="T8" fmla="*/ 44 w 45"/>
                <a:gd name="T9" fmla="*/ 8 h 45"/>
                <a:gd name="T10" fmla="*/ 44 w 45"/>
                <a:gd name="T11" fmla="*/ 6 h 45"/>
                <a:gd name="T12" fmla="*/ 40 w 45"/>
                <a:gd name="T13" fmla="*/ 6 h 45"/>
                <a:gd name="T14" fmla="*/ 38 w 45"/>
                <a:gd name="T15" fmla="*/ 3 h 45"/>
                <a:gd name="T16" fmla="*/ 33 w 45"/>
                <a:gd name="T17" fmla="*/ 0 h 45"/>
                <a:gd name="T18" fmla="*/ 29 w 45"/>
                <a:gd name="T19" fmla="*/ 0 h 45"/>
                <a:gd name="T20" fmla="*/ 26 w 45"/>
                <a:gd name="T21" fmla="*/ 0 h 45"/>
                <a:gd name="T22" fmla="*/ 21 w 45"/>
                <a:gd name="T23" fmla="*/ 0 h 45"/>
                <a:gd name="T24" fmla="*/ 17 w 45"/>
                <a:gd name="T25" fmla="*/ 0 h 45"/>
                <a:gd name="T26" fmla="*/ 15 w 45"/>
                <a:gd name="T27" fmla="*/ 3 h 45"/>
                <a:gd name="T28" fmla="*/ 12 w 45"/>
                <a:gd name="T29" fmla="*/ 6 h 45"/>
                <a:gd name="T30" fmla="*/ 9 w 45"/>
                <a:gd name="T31" fmla="*/ 6 h 45"/>
                <a:gd name="T32" fmla="*/ 7 w 45"/>
                <a:gd name="T33" fmla="*/ 8 h 45"/>
                <a:gd name="T34" fmla="*/ 3 w 45"/>
                <a:gd name="T35" fmla="*/ 14 h 45"/>
                <a:gd name="T36" fmla="*/ 3 w 45"/>
                <a:gd name="T37" fmla="*/ 16 h 45"/>
                <a:gd name="T38" fmla="*/ 0 w 45"/>
                <a:gd name="T39" fmla="*/ 19 h 45"/>
                <a:gd name="T40" fmla="*/ 0 w 45"/>
                <a:gd name="T41" fmla="*/ 21 h 45"/>
                <a:gd name="T42" fmla="*/ 0 w 45"/>
                <a:gd name="T43" fmla="*/ 27 h 45"/>
                <a:gd name="T44" fmla="*/ 3 w 45"/>
                <a:gd name="T45" fmla="*/ 29 h 45"/>
                <a:gd name="T46" fmla="*/ 3 w 45"/>
                <a:gd name="T47" fmla="*/ 32 h 45"/>
                <a:gd name="T48" fmla="*/ 7 w 45"/>
                <a:gd name="T49" fmla="*/ 35 h 45"/>
                <a:gd name="T50" fmla="*/ 9 w 45"/>
                <a:gd name="T51" fmla="*/ 37 h 45"/>
                <a:gd name="T52" fmla="*/ 12 w 45"/>
                <a:gd name="T53" fmla="*/ 40 h 45"/>
                <a:gd name="T54" fmla="*/ 15 w 45"/>
                <a:gd name="T55" fmla="*/ 43 h 45"/>
                <a:gd name="T56" fmla="*/ 17 w 45"/>
                <a:gd name="T57" fmla="*/ 43 h 45"/>
                <a:gd name="T58" fmla="*/ 21 w 45"/>
                <a:gd name="T59" fmla="*/ 45 h 45"/>
                <a:gd name="T60" fmla="*/ 26 w 45"/>
                <a:gd name="T61" fmla="*/ 45 h 45"/>
                <a:gd name="T62" fmla="*/ 29 w 45"/>
                <a:gd name="T63" fmla="*/ 45 h 45"/>
                <a:gd name="T64" fmla="*/ 33 w 45"/>
                <a:gd name="T65" fmla="*/ 43 h 45"/>
                <a:gd name="T66" fmla="*/ 38 w 45"/>
                <a:gd name="T67" fmla="*/ 43 h 45"/>
                <a:gd name="T68" fmla="*/ 40 w 45"/>
                <a:gd name="T69" fmla="*/ 40 h 45"/>
                <a:gd name="T70" fmla="*/ 44 w 45"/>
                <a:gd name="T71" fmla="*/ 37 h 45"/>
                <a:gd name="T72" fmla="*/ 44 w 45"/>
                <a:gd name="T73" fmla="*/ 35 h 45"/>
                <a:gd name="T74" fmla="*/ 47 w 45"/>
                <a:gd name="T75" fmla="*/ 32 h 45"/>
                <a:gd name="T76" fmla="*/ 49 w 45"/>
                <a:gd name="T77" fmla="*/ 29 h 45"/>
                <a:gd name="T78" fmla="*/ 49 w 45"/>
                <a:gd name="T79" fmla="*/ 27 h 45"/>
                <a:gd name="T80" fmla="*/ 49 w 45"/>
                <a:gd name="T81" fmla="*/ 21 h 45"/>
                <a:gd name="T82" fmla="*/ 49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9"/>
                  </a:lnTo>
                  <a:lnTo>
                    <a:pt x="45" y="16"/>
                  </a:lnTo>
                  <a:lnTo>
                    <a:pt x="43" y="14"/>
                  </a:lnTo>
                  <a:lnTo>
                    <a:pt x="40" y="8"/>
                  </a:lnTo>
                  <a:lnTo>
                    <a:pt x="40" y="6"/>
                  </a:lnTo>
                  <a:lnTo>
                    <a:pt x="37" y="6"/>
                  </a:lnTo>
                  <a:lnTo>
                    <a:pt x="35" y="3"/>
                  </a:lnTo>
                  <a:lnTo>
                    <a:pt x="30" y="0"/>
                  </a:lnTo>
                  <a:lnTo>
                    <a:pt x="27" y="0"/>
                  </a:lnTo>
                  <a:lnTo>
                    <a:pt x="24" y="0"/>
                  </a:lnTo>
                  <a:lnTo>
                    <a:pt x="19" y="0"/>
                  </a:lnTo>
                  <a:lnTo>
                    <a:pt x="16" y="0"/>
                  </a:lnTo>
                  <a:lnTo>
                    <a:pt x="14" y="3"/>
                  </a:lnTo>
                  <a:lnTo>
                    <a:pt x="11" y="6"/>
                  </a:lnTo>
                  <a:lnTo>
                    <a:pt x="8" y="6"/>
                  </a:lnTo>
                  <a:lnTo>
                    <a:pt x="6" y="8"/>
                  </a:lnTo>
                  <a:lnTo>
                    <a:pt x="3" y="14"/>
                  </a:lnTo>
                  <a:lnTo>
                    <a:pt x="3" y="16"/>
                  </a:lnTo>
                  <a:lnTo>
                    <a:pt x="0" y="19"/>
                  </a:lnTo>
                  <a:lnTo>
                    <a:pt x="0" y="21"/>
                  </a:lnTo>
                  <a:lnTo>
                    <a:pt x="0" y="27"/>
                  </a:lnTo>
                  <a:lnTo>
                    <a:pt x="3" y="29"/>
                  </a:lnTo>
                  <a:lnTo>
                    <a:pt x="3" y="32"/>
                  </a:lnTo>
                  <a:lnTo>
                    <a:pt x="6" y="35"/>
                  </a:lnTo>
                  <a:lnTo>
                    <a:pt x="8" y="37"/>
                  </a:lnTo>
                  <a:lnTo>
                    <a:pt x="11" y="40"/>
                  </a:lnTo>
                  <a:lnTo>
                    <a:pt x="14" y="43"/>
                  </a:lnTo>
                  <a:lnTo>
                    <a:pt x="16" y="43"/>
                  </a:lnTo>
                  <a:lnTo>
                    <a:pt x="19" y="45"/>
                  </a:lnTo>
                  <a:lnTo>
                    <a:pt x="24" y="45"/>
                  </a:lnTo>
                  <a:lnTo>
                    <a:pt x="27" y="45"/>
                  </a:lnTo>
                  <a:lnTo>
                    <a:pt x="30" y="43"/>
                  </a:lnTo>
                  <a:lnTo>
                    <a:pt x="35" y="43"/>
                  </a:lnTo>
                  <a:lnTo>
                    <a:pt x="37" y="40"/>
                  </a:lnTo>
                  <a:lnTo>
                    <a:pt x="40" y="37"/>
                  </a:lnTo>
                  <a:lnTo>
                    <a:pt x="40" y="35"/>
                  </a:lnTo>
                  <a:lnTo>
                    <a:pt x="43" y="32"/>
                  </a:lnTo>
                  <a:lnTo>
                    <a:pt x="45" y="29"/>
                  </a:lnTo>
                  <a:lnTo>
                    <a:pt x="45" y="27"/>
                  </a:lnTo>
                  <a:lnTo>
                    <a:pt x="45"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Freeform 13"/>
            <p:cNvSpPr>
              <a:spLocks/>
            </p:cNvSpPr>
            <p:nvPr/>
          </p:nvSpPr>
          <p:spPr bwMode="auto">
            <a:xfrm>
              <a:off x="4334" y="2879"/>
              <a:ext cx="49" cy="45"/>
            </a:xfrm>
            <a:custGeom>
              <a:avLst/>
              <a:gdLst>
                <a:gd name="T0" fmla="*/ 49 w 45"/>
                <a:gd name="T1" fmla="*/ 21 h 45"/>
                <a:gd name="T2" fmla="*/ 49 w 45"/>
                <a:gd name="T3" fmla="*/ 27 h 45"/>
                <a:gd name="T4" fmla="*/ 49 w 45"/>
                <a:gd name="T5" fmla="*/ 29 h 45"/>
                <a:gd name="T6" fmla="*/ 47 w 45"/>
                <a:gd name="T7" fmla="*/ 32 h 45"/>
                <a:gd name="T8" fmla="*/ 44 w 45"/>
                <a:gd name="T9" fmla="*/ 35 h 45"/>
                <a:gd name="T10" fmla="*/ 44 w 45"/>
                <a:gd name="T11" fmla="*/ 37 h 45"/>
                <a:gd name="T12" fmla="*/ 40 w 45"/>
                <a:gd name="T13" fmla="*/ 40 h 45"/>
                <a:gd name="T14" fmla="*/ 38 w 45"/>
                <a:gd name="T15" fmla="*/ 43 h 45"/>
                <a:gd name="T16" fmla="*/ 32 w 45"/>
                <a:gd name="T17" fmla="*/ 43 h 45"/>
                <a:gd name="T18" fmla="*/ 29 w 45"/>
                <a:gd name="T19" fmla="*/ 45 h 45"/>
                <a:gd name="T20" fmla="*/ 26 w 45"/>
                <a:gd name="T21" fmla="*/ 45 h 45"/>
                <a:gd name="T22" fmla="*/ 21 w 45"/>
                <a:gd name="T23" fmla="*/ 45 h 45"/>
                <a:gd name="T24" fmla="*/ 17 w 45"/>
                <a:gd name="T25" fmla="*/ 43 h 45"/>
                <a:gd name="T26" fmla="*/ 15 w 45"/>
                <a:gd name="T27" fmla="*/ 43 h 45"/>
                <a:gd name="T28" fmla="*/ 12 w 45"/>
                <a:gd name="T29" fmla="*/ 40 h 45"/>
                <a:gd name="T30" fmla="*/ 9 w 45"/>
                <a:gd name="T31" fmla="*/ 37 h 45"/>
                <a:gd name="T32" fmla="*/ 7 w 45"/>
                <a:gd name="T33" fmla="*/ 35 h 45"/>
                <a:gd name="T34" fmla="*/ 3 w 45"/>
                <a:gd name="T35" fmla="*/ 32 h 45"/>
                <a:gd name="T36" fmla="*/ 3 w 45"/>
                <a:gd name="T37" fmla="*/ 29 h 45"/>
                <a:gd name="T38" fmla="*/ 0 w 45"/>
                <a:gd name="T39" fmla="*/ 27 h 45"/>
                <a:gd name="T40" fmla="*/ 0 w 45"/>
                <a:gd name="T41" fmla="*/ 21 h 45"/>
                <a:gd name="T42" fmla="*/ 0 w 45"/>
                <a:gd name="T43" fmla="*/ 19 h 45"/>
                <a:gd name="T44" fmla="*/ 3 w 45"/>
                <a:gd name="T45" fmla="*/ 16 h 45"/>
                <a:gd name="T46" fmla="*/ 3 w 45"/>
                <a:gd name="T47" fmla="*/ 14 h 45"/>
                <a:gd name="T48" fmla="*/ 7 w 45"/>
                <a:gd name="T49" fmla="*/ 8 h 45"/>
                <a:gd name="T50" fmla="*/ 9 w 45"/>
                <a:gd name="T51" fmla="*/ 6 h 45"/>
                <a:gd name="T52" fmla="*/ 12 w 45"/>
                <a:gd name="T53" fmla="*/ 6 h 45"/>
                <a:gd name="T54" fmla="*/ 15 w 45"/>
                <a:gd name="T55" fmla="*/ 3 h 45"/>
                <a:gd name="T56" fmla="*/ 17 w 45"/>
                <a:gd name="T57" fmla="*/ 0 h 45"/>
                <a:gd name="T58" fmla="*/ 21 w 45"/>
                <a:gd name="T59" fmla="*/ 0 h 45"/>
                <a:gd name="T60" fmla="*/ 26 w 45"/>
                <a:gd name="T61" fmla="*/ 0 h 45"/>
                <a:gd name="T62" fmla="*/ 29 w 45"/>
                <a:gd name="T63" fmla="*/ 0 h 45"/>
                <a:gd name="T64" fmla="*/ 32 w 45"/>
                <a:gd name="T65" fmla="*/ 0 h 45"/>
                <a:gd name="T66" fmla="*/ 38 w 45"/>
                <a:gd name="T67" fmla="*/ 3 h 45"/>
                <a:gd name="T68" fmla="*/ 40 w 45"/>
                <a:gd name="T69" fmla="*/ 6 h 45"/>
                <a:gd name="T70" fmla="*/ 44 w 45"/>
                <a:gd name="T71" fmla="*/ 6 h 45"/>
                <a:gd name="T72" fmla="*/ 44 w 45"/>
                <a:gd name="T73" fmla="*/ 8 h 45"/>
                <a:gd name="T74" fmla="*/ 47 w 45"/>
                <a:gd name="T75" fmla="*/ 14 h 45"/>
                <a:gd name="T76" fmla="*/ 49 w 45"/>
                <a:gd name="T77" fmla="*/ 16 h 45"/>
                <a:gd name="T78" fmla="*/ 49 w 45"/>
                <a:gd name="T79" fmla="*/ 19 h 45"/>
                <a:gd name="T80" fmla="*/ 49 w 45"/>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
                <a:gd name="T124" fmla="*/ 0 h 45"/>
                <a:gd name="T125" fmla="*/ 45 w 45"/>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 h="45">
                  <a:moveTo>
                    <a:pt x="45" y="21"/>
                  </a:moveTo>
                  <a:lnTo>
                    <a:pt x="45" y="27"/>
                  </a:lnTo>
                  <a:lnTo>
                    <a:pt x="45" y="29"/>
                  </a:lnTo>
                  <a:lnTo>
                    <a:pt x="43" y="32"/>
                  </a:lnTo>
                  <a:lnTo>
                    <a:pt x="40" y="35"/>
                  </a:lnTo>
                  <a:lnTo>
                    <a:pt x="40" y="37"/>
                  </a:lnTo>
                  <a:lnTo>
                    <a:pt x="37" y="40"/>
                  </a:lnTo>
                  <a:lnTo>
                    <a:pt x="35" y="43"/>
                  </a:lnTo>
                  <a:lnTo>
                    <a:pt x="29" y="43"/>
                  </a:lnTo>
                  <a:lnTo>
                    <a:pt x="27" y="45"/>
                  </a:lnTo>
                  <a:lnTo>
                    <a:pt x="24" y="45"/>
                  </a:lnTo>
                  <a:lnTo>
                    <a:pt x="19" y="45"/>
                  </a:lnTo>
                  <a:lnTo>
                    <a:pt x="16" y="43"/>
                  </a:lnTo>
                  <a:lnTo>
                    <a:pt x="14" y="43"/>
                  </a:lnTo>
                  <a:lnTo>
                    <a:pt x="11" y="40"/>
                  </a:lnTo>
                  <a:lnTo>
                    <a:pt x="8" y="37"/>
                  </a:lnTo>
                  <a:lnTo>
                    <a:pt x="6" y="35"/>
                  </a:lnTo>
                  <a:lnTo>
                    <a:pt x="3" y="32"/>
                  </a:lnTo>
                  <a:lnTo>
                    <a:pt x="3" y="29"/>
                  </a:lnTo>
                  <a:lnTo>
                    <a:pt x="0" y="27"/>
                  </a:lnTo>
                  <a:lnTo>
                    <a:pt x="0" y="21"/>
                  </a:lnTo>
                  <a:lnTo>
                    <a:pt x="0" y="19"/>
                  </a:lnTo>
                  <a:lnTo>
                    <a:pt x="3" y="16"/>
                  </a:lnTo>
                  <a:lnTo>
                    <a:pt x="3" y="14"/>
                  </a:lnTo>
                  <a:lnTo>
                    <a:pt x="6" y="8"/>
                  </a:lnTo>
                  <a:lnTo>
                    <a:pt x="8" y="6"/>
                  </a:lnTo>
                  <a:lnTo>
                    <a:pt x="11" y="6"/>
                  </a:lnTo>
                  <a:lnTo>
                    <a:pt x="14" y="3"/>
                  </a:lnTo>
                  <a:lnTo>
                    <a:pt x="16" y="0"/>
                  </a:lnTo>
                  <a:lnTo>
                    <a:pt x="19" y="0"/>
                  </a:lnTo>
                  <a:lnTo>
                    <a:pt x="24" y="0"/>
                  </a:lnTo>
                  <a:lnTo>
                    <a:pt x="27" y="0"/>
                  </a:lnTo>
                  <a:lnTo>
                    <a:pt x="29" y="0"/>
                  </a:lnTo>
                  <a:lnTo>
                    <a:pt x="35" y="3"/>
                  </a:lnTo>
                  <a:lnTo>
                    <a:pt x="37" y="6"/>
                  </a:lnTo>
                  <a:lnTo>
                    <a:pt x="40" y="6"/>
                  </a:lnTo>
                  <a:lnTo>
                    <a:pt x="40" y="8"/>
                  </a:lnTo>
                  <a:lnTo>
                    <a:pt x="43" y="14"/>
                  </a:lnTo>
                  <a:lnTo>
                    <a:pt x="45" y="16"/>
                  </a:lnTo>
                  <a:lnTo>
                    <a:pt x="45" y="19"/>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4"/>
            <p:cNvSpPr>
              <a:spLocks/>
            </p:cNvSpPr>
            <p:nvPr/>
          </p:nvSpPr>
          <p:spPr bwMode="auto">
            <a:xfrm>
              <a:off x="4334" y="2879"/>
              <a:ext cx="49" cy="45"/>
            </a:xfrm>
            <a:custGeom>
              <a:avLst/>
              <a:gdLst>
                <a:gd name="T0" fmla="*/ 49 w 45"/>
                <a:gd name="T1" fmla="*/ 21 h 45"/>
                <a:gd name="T2" fmla="*/ 49 w 45"/>
                <a:gd name="T3" fmla="*/ 19 h 45"/>
                <a:gd name="T4" fmla="*/ 49 w 45"/>
                <a:gd name="T5" fmla="*/ 16 h 45"/>
                <a:gd name="T6" fmla="*/ 47 w 45"/>
                <a:gd name="T7" fmla="*/ 14 h 45"/>
                <a:gd name="T8" fmla="*/ 44 w 45"/>
                <a:gd name="T9" fmla="*/ 8 h 45"/>
                <a:gd name="T10" fmla="*/ 44 w 45"/>
                <a:gd name="T11" fmla="*/ 6 h 45"/>
                <a:gd name="T12" fmla="*/ 40 w 45"/>
                <a:gd name="T13" fmla="*/ 6 h 45"/>
                <a:gd name="T14" fmla="*/ 38 w 45"/>
                <a:gd name="T15" fmla="*/ 3 h 45"/>
                <a:gd name="T16" fmla="*/ 32 w 45"/>
                <a:gd name="T17" fmla="*/ 0 h 45"/>
                <a:gd name="T18" fmla="*/ 29 w 45"/>
                <a:gd name="T19" fmla="*/ 0 h 45"/>
                <a:gd name="T20" fmla="*/ 26 w 45"/>
                <a:gd name="T21" fmla="*/ 0 h 45"/>
                <a:gd name="T22" fmla="*/ 21 w 45"/>
                <a:gd name="T23" fmla="*/ 0 h 45"/>
                <a:gd name="T24" fmla="*/ 17 w 45"/>
                <a:gd name="T25" fmla="*/ 0 h 45"/>
                <a:gd name="T26" fmla="*/ 15 w 45"/>
                <a:gd name="T27" fmla="*/ 3 h 45"/>
                <a:gd name="T28" fmla="*/ 12 w 45"/>
                <a:gd name="T29" fmla="*/ 6 h 45"/>
                <a:gd name="T30" fmla="*/ 9 w 45"/>
                <a:gd name="T31" fmla="*/ 6 h 45"/>
                <a:gd name="T32" fmla="*/ 7 w 45"/>
                <a:gd name="T33" fmla="*/ 8 h 45"/>
                <a:gd name="T34" fmla="*/ 3 w 45"/>
                <a:gd name="T35" fmla="*/ 14 h 45"/>
                <a:gd name="T36" fmla="*/ 3 w 45"/>
                <a:gd name="T37" fmla="*/ 16 h 45"/>
                <a:gd name="T38" fmla="*/ 0 w 45"/>
                <a:gd name="T39" fmla="*/ 19 h 45"/>
                <a:gd name="T40" fmla="*/ 0 w 45"/>
                <a:gd name="T41" fmla="*/ 21 h 45"/>
                <a:gd name="T42" fmla="*/ 0 w 45"/>
                <a:gd name="T43" fmla="*/ 27 h 45"/>
                <a:gd name="T44" fmla="*/ 3 w 45"/>
                <a:gd name="T45" fmla="*/ 29 h 45"/>
                <a:gd name="T46" fmla="*/ 3 w 45"/>
                <a:gd name="T47" fmla="*/ 32 h 45"/>
                <a:gd name="T48" fmla="*/ 7 w 45"/>
                <a:gd name="T49" fmla="*/ 35 h 45"/>
                <a:gd name="T50" fmla="*/ 9 w 45"/>
                <a:gd name="T51" fmla="*/ 37 h 45"/>
                <a:gd name="T52" fmla="*/ 12 w 45"/>
                <a:gd name="T53" fmla="*/ 40 h 45"/>
                <a:gd name="T54" fmla="*/ 15 w 45"/>
                <a:gd name="T55" fmla="*/ 43 h 45"/>
                <a:gd name="T56" fmla="*/ 17 w 45"/>
                <a:gd name="T57" fmla="*/ 43 h 45"/>
                <a:gd name="T58" fmla="*/ 21 w 45"/>
                <a:gd name="T59" fmla="*/ 45 h 45"/>
                <a:gd name="T60" fmla="*/ 26 w 45"/>
                <a:gd name="T61" fmla="*/ 45 h 45"/>
                <a:gd name="T62" fmla="*/ 29 w 45"/>
                <a:gd name="T63" fmla="*/ 45 h 45"/>
                <a:gd name="T64" fmla="*/ 32 w 45"/>
                <a:gd name="T65" fmla="*/ 43 h 45"/>
                <a:gd name="T66" fmla="*/ 38 w 45"/>
                <a:gd name="T67" fmla="*/ 43 h 45"/>
                <a:gd name="T68" fmla="*/ 40 w 45"/>
                <a:gd name="T69" fmla="*/ 40 h 45"/>
                <a:gd name="T70" fmla="*/ 44 w 45"/>
                <a:gd name="T71" fmla="*/ 37 h 45"/>
                <a:gd name="T72" fmla="*/ 44 w 45"/>
                <a:gd name="T73" fmla="*/ 35 h 45"/>
                <a:gd name="T74" fmla="*/ 47 w 45"/>
                <a:gd name="T75" fmla="*/ 32 h 45"/>
                <a:gd name="T76" fmla="*/ 49 w 45"/>
                <a:gd name="T77" fmla="*/ 29 h 45"/>
                <a:gd name="T78" fmla="*/ 49 w 45"/>
                <a:gd name="T79" fmla="*/ 27 h 45"/>
                <a:gd name="T80" fmla="*/ 49 w 45"/>
                <a:gd name="T81" fmla="*/ 21 h 45"/>
                <a:gd name="T82" fmla="*/ 49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9"/>
                  </a:lnTo>
                  <a:lnTo>
                    <a:pt x="45" y="16"/>
                  </a:lnTo>
                  <a:lnTo>
                    <a:pt x="43" y="14"/>
                  </a:lnTo>
                  <a:lnTo>
                    <a:pt x="40" y="8"/>
                  </a:lnTo>
                  <a:lnTo>
                    <a:pt x="40" y="6"/>
                  </a:lnTo>
                  <a:lnTo>
                    <a:pt x="37" y="6"/>
                  </a:lnTo>
                  <a:lnTo>
                    <a:pt x="35" y="3"/>
                  </a:lnTo>
                  <a:lnTo>
                    <a:pt x="29" y="0"/>
                  </a:lnTo>
                  <a:lnTo>
                    <a:pt x="27" y="0"/>
                  </a:lnTo>
                  <a:lnTo>
                    <a:pt x="24" y="0"/>
                  </a:lnTo>
                  <a:lnTo>
                    <a:pt x="19" y="0"/>
                  </a:lnTo>
                  <a:lnTo>
                    <a:pt x="16" y="0"/>
                  </a:lnTo>
                  <a:lnTo>
                    <a:pt x="14" y="3"/>
                  </a:lnTo>
                  <a:lnTo>
                    <a:pt x="11" y="6"/>
                  </a:lnTo>
                  <a:lnTo>
                    <a:pt x="8" y="6"/>
                  </a:lnTo>
                  <a:lnTo>
                    <a:pt x="6" y="8"/>
                  </a:lnTo>
                  <a:lnTo>
                    <a:pt x="3" y="14"/>
                  </a:lnTo>
                  <a:lnTo>
                    <a:pt x="3" y="16"/>
                  </a:lnTo>
                  <a:lnTo>
                    <a:pt x="0" y="19"/>
                  </a:lnTo>
                  <a:lnTo>
                    <a:pt x="0" y="21"/>
                  </a:lnTo>
                  <a:lnTo>
                    <a:pt x="0" y="27"/>
                  </a:lnTo>
                  <a:lnTo>
                    <a:pt x="3" y="29"/>
                  </a:lnTo>
                  <a:lnTo>
                    <a:pt x="3" y="32"/>
                  </a:lnTo>
                  <a:lnTo>
                    <a:pt x="6" y="35"/>
                  </a:lnTo>
                  <a:lnTo>
                    <a:pt x="8" y="37"/>
                  </a:lnTo>
                  <a:lnTo>
                    <a:pt x="11" y="40"/>
                  </a:lnTo>
                  <a:lnTo>
                    <a:pt x="14" y="43"/>
                  </a:lnTo>
                  <a:lnTo>
                    <a:pt x="16" y="43"/>
                  </a:lnTo>
                  <a:lnTo>
                    <a:pt x="19" y="45"/>
                  </a:lnTo>
                  <a:lnTo>
                    <a:pt x="24" y="45"/>
                  </a:lnTo>
                  <a:lnTo>
                    <a:pt x="27" y="45"/>
                  </a:lnTo>
                  <a:lnTo>
                    <a:pt x="29" y="43"/>
                  </a:lnTo>
                  <a:lnTo>
                    <a:pt x="35" y="43"/>
                  </a:lnTo>
                  <a:lnTo>
                    <a:pt x="37" y="40"/>
                  </a:lnTo>
                  <a:lnTo>
                    <a:pt x="40" y="37"/>
                  </a:lnTo>
                  <a:lnTo>
                    <a:pt x="40" y="35"/>
                  </a:lnTo>
                  <a:lnTo>
                    <a:pt x="43" y="32"/>
                  </a:lnTo>
                  <a:lnTo>
                    <a:pt x="45" y="29"/>
                  </a:lnTo>
                  <a:lnTo>
                    <a:pt x="45" y="27"/>
                  </a:lnTo>
                  <a:lnTo>
                    <a:pt x="45"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Freeform 15"/>
            <p:cNvSpPr>
              <a:spLocks/>
            </p:cNvSpPr>
            <p:nvPr/>
          </p:nvSpPr>
          <p:spPr bwMode="auto">
            <a:xfrm>
              <a:off x="4550" y="2879"/>
              <a:ext cx="48" cy="45"/>
            </a:xfrm>
            <a:custGeom>
              <a:avLst/>
              <a:gdLst>
                <a:gd name="T0" fmla="*/ 48 w 45"/>
                <a:gd name="T1" fmla="*/ 21 h 45"/>
                <a:gd name="T2" fmla="*/ 48 w 45"/>
                <a:gd name="T3" fmla="*/ 27 h 45"/>
                <a:gd name="T4" fmla="*/ 48 w 45"/>
                <a:gd name="T5" fmla="*/ 29 h 45"/>
                <a:gd name="T6" fmla="*/ 45 w 45"/>
                <a:gd name="T7" fmla="*/ 32 h 45"/>
                <a:gd name="T8" fmla="*/ 43 w 45"/>
                <a:gd name="T9" fmla="*/ 35 h 45"/>
                <a:gd name="T10" fmla="*/ 43 w 45"/>
                <a:gd name="T11" fmla="*/ 37 h 45"/>
                <a:gd name="T12" fmla="*/ 39 w 45"/>
                <a:gd name="T13" fmla="*/ 40 h 45"/>
                <a:gd name="T14" fmla="*/ 37 w 45"/>
                <a:gd name="T15" fmla="*/ 43 h 45"/>
                <a:gd name="T16" fmla="*/ 31 w 45"/>
                <a:gd name="T17" fmla="*/ 43 h 45"/>
                <a:gd name="T18" fmla="*/ 29 w 45"/>
                <a:gd name="T19" fmla="*/ 45 h 45"/>
                <a:gd name="T20" fmla="*/ 26 w 45"/>
                <a:gd name="T21" fmla="*/ 45 h 45"/>
                <a:gd name="T22" fmla="*/ 20 w 45"/>
                <a:gd name="T23" fmla="*/ 45 h 45"/>
                <a:gd name="T24" fmla="*/ 17 w 45"/>
                <a:gd name="T25" fmla="*/ 43 h 45"/>
                <a:gd name="T26" fmla="*/ 14 w 45"/>
                <a:gd name="T27" fmla="*/ 43 h 45"/>
                <a:gd name="T28" fmla="*/ 12 w 45"/>
                <a:gd name="T29" fmla="*/ 40 h 45"/>
                <a:gd name="T30" fmla="*/ 9 w 45"/>
                <a:gd name="T31" fmla="*/ 37 h 45"/>
                <a:gd name="T32" fmla="*/ 5 w 45"/>
                <a:gd name="T33" fmla="*/ 35 h 45"/>
                <a:gd name="T34" fmla="*/ 3 w 45"/>
                <a:gd name="T35" fmla="*/ 32 h 45"/>
                <a:gd name="T36" fmla="*/ 3 w 45"/>
                <a:gd name="T37" fmla="*/ 29 h 45"/>
                <a:gd name="T38" fmla="*/ 0 w 45"/>
                <a:gd name="T39" fmla="*/ 27 h 45"/>
                <a:gd name="T40" fmla="*/ 0 w 45"/>
                <a:gd name="T41" fmla="*/ 21 h 45"/>
                <a:gd name="T42" fmla="*/ 0 w 45"/>
                <a:gd name="T43" fmla="*/ 19 h 45"/>
                <a:gd name="T44" fmla="*/ 3 w 45"/>
                <a:gd name="T45" fmla="*/ 16 h 45"/>
                <a:gd name="T46" fmla="*/ 3 w 45"/>
                <a:gd name="T47" fmla="*/ 14 h 45"/>
                <a:gd name="T48" fmla="*/ 5 w 45"/>
                <a:gd name="T49" fmla="*/ 8 h 45"/>
                <a:gd name="T50" fmla="*/ 9 w 45"/>
                <a:gd name="T51" fmla="*/ 6 h 45"/>
                <a:gd name="T52" fmla="*/ 12 w 45"/>
                <a:gd name="T53" fmla="*/ 6 h 45"/>
                <a:gd name="T54" fmla="*/ 14 w 45"/>
                <a:gd name="T55" fmla="*/ 3 h 45"/>
                <a:gd name="T56" fmla="*/ 17 w 45"/>
                <a:gd name="T57" fmla="*/ 0 h 45"/>
                <a:gd name="T58" fmla="*/ 20 w 45"/>
                <a:gd name="T59" fmla="*/ 0 h 45"/>
                <a:gd name="T60" fmla="*/ 26 w 45"/>
                <a:gd name="T61" fmla="*/ 0 h 45"/>
                <a:gd name="T62" fmla="*/ 29 w 45"/>
                <a:gd name="T63" fmla="*/ 0 h 45"/>
                <a:gd name="T64" fmla="*/ 31 w 45"/>
                <a:gd name="T65" fmla="*/ 0 h 45"/>
                <a:gd name="T66" fmla="*/ 37 w 45"/>
                <a:gd name="T67" fmla="*/ 3 h 45"/>
                <a:gd name="T68" fmla="*/ 39 w 45"/>
                <a:gd name="T69" fmla="*/ 6 h 45"/>
                <a:gd name="T70" fmla="*/ 43 w 45"/>
                <a:gd name="T71" fmla="*/ 6 h 45"/>
                <a:gd name="T72" fmla="*/ 43 w 45"/>
                <a:gd name="T73" fmla="*/ 8 h 45"/>
                <a:gd name="T74" fmla="*/ 45 w 45"/>
                <a:gd name="T75" fmla="*/ 14 h 45"/>
                <a:gd name="T76" fmla="*/ 48 w 45"/>
                <a:gd name="T77" fmla="*/ 16 h 45"/>
                <a:gd name="T78" fmla="*/ 48 w 45"/>
                <a:gd name="T79" fmla="*/ 19 h 45"/>
                <a:gd name="T80" fmla="*/ 48 w 45"/>
                <a:gd name="T81" fmla="*/ 21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
                <a:gd name="T124" fmla="*/ 0 h 45"/>
                <a:gd name="T125" fmla="*/ 45 w 45"/>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 h="45">
                  <a:moveTo>
                    <a:pt x="45" y="21"/>
                  </a:moveTo>
                  <a:lnTo>
                    <a:pt x="45" y="27"/>
                  </a:lnTo>
                  <a:lnTo>
                    <a:pt x="45" y="29"/>
                  </a:lnTo>
                  <a:lnTo>
                    <a:pt x="42" y="32"/>
                  </a:lnTo>
                  <a:lnTo>
                    <a:pt x="40" y="35"/>
                  </a:lnTo>
                  <a:lnTo>
                    <a:pt x="40" y="37"/>
                  </a:lnTo>
                  <a:lnTo>
                    <a:pt x="37" y="40"/>
                  </a:lnTo>
                  <a:lnTo>
                    <a:pt x="35" y="43"/>
                  </a:lnTo>
                  <a:lnTo>
                    <a:pt x="29" y="43"/>
                  </a:lnTo>
                  <a:lnTo>
                    <a:pt x="27" y="45"/>
                  </a:lnTo>
                  <a:lnTo>
                    <a:pt x="24" y="45"/>
                  </a:lnTo>
                  <a:lnTo>
                    <a:pt x="19" y="45"/>
                  </a:lnTo>
                  <a:lnTo>
                    <a:pt x="16" y="43"/>
                  </a:lnTo>
                  <a:lnTo>
                    <a:pt x="13" y="43"/>
                  </a:lnTo>
                  <a:lnTo>
                    <a:pt x="11" y="40"/>
                  </a:lnTo>
                  <a:lnTo>
                    <a:pt x="8" y="37"/>
                  </a:lnTo>
                  <a:lnTo>
                    <a:pt x="5" y="35"/>
                  </a:lnTo>
                  <a:lnTo>
                    <a:pt x="3" y="32"/>
                  </a:lnTo>
                  <a:lnTo>
                    <a:pt x="3" y="29"/>
                  </a:lnTo>
                  <a:lnTo>
                    <a:pt x="0" y="27"/>
                  </a:lnTo>
                  <a:lnTo>
                    <a:pt x="0" y="21"/>
                  </a:lnTo>
                  <a:lnTo>
                    <a:pt x="0" y="19"/>
                  </a:lnTo>
                  <a:lnTo>
                    <a:pt x="3" y="16"/>
                  </a:lnTo>
                  <a:lnTo>
                    <a:pt x="3" y="14"/>
                  </a:lnTo>
                  <a:lnTo>
                    <a:pt x="5" y="8"/>
                  </a:lnTo>
                  <a:lnTo>
                    <a:pt x="8" y="6"/>
                  </a:lnTo>
                  <a:lnTo>
                    <a:pt x="11" y="6"/>
                  </a:lnTo>
                  <a:lnTo>
                    <a:pt x="13" y="3"/>
                  </a:lnTo>
                  <a:lnTo>
                    <a:pt x="16" y="0"/>
                  </a:lnTo>
                  <a:lnTo>
                    <a:pt x="19" y="0"/>
                  </a:lnTo>
                  <a:lnTo>
                    <a:pt x="24" y="0"/>
                  </a:lnTo>
                  <a:lnTo>
                    <a:pt x="27" y="0"/>
                  </a:lnTo>
                  <a:lnTo>
                    <a:pt x="29" y="0"/>
                  </a:lnTo>
                  <a:lnTo>
                    <a:pt x="35" y="3"/>
                  </a:lnTo>
                  <a:lnTo>
                    <a:pt x="37" y="6"/>
                  </a:lnTo>
                  <a:lnTo>
                    <a:pt x="40" y="6"/>
                  </a:lnTo>
                  <a:lnTo>
                    <a:pt x="40" y="8"/>
                  </a:lnTo>
                  <a:lnTo>
                    <a:pt x="42" y="14"/>
                  </a:lnTo>
                  <a:lnTo>
                    <a:pt x="45" y="16"/>
                  </a:lnTo>
                  <a:lnTo>
                    <a:pt x="45" y="19"/>
                  </a:lnTo>
                  <a:lnTo>
                    <a:pt x="4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6"/>
            <p:cNvSpPr>
              <a:spLocks/>
            </p:cNvSpPr>
            <p:nvPr/>
          </p:nvSpPr>
          <p:spPr bwMode="auto">
            <a:xfrm>
              <a:off x="4550" y="2879"/>
              <a:ext cx="48" cy="45"/>
            </a:xfrm>
            <a:custGeom>
              <a:avLst/>
              <a:gdLst>
                <a:gd name="T0" fmla="*/ 48 w 45"/>
                <a:gd name="T1" fmla="*/ 21 h 45"/>
                <a:gd name="T2" fmla="*/ 48 w 45"/>
                <a:gd name="T3" fmla="*/ 19 h 45"/>
                <a:gd name="T4" fmla="*/ 48 w 45"/>
                <a:gd name="T5" fmla="*/ 16 h 45"/>
                <a:gd name="T6" fmla="*/ 45 w 45"/>
                <a:gd name="T7" fmla="*/ 14 h 45"/>
                <a:gd name="T8" fmla="*/ 43 w 45"/>
                <a:gd name="T9" fmla="*/ 8 h 45"/>
                <a:gd name="T10" fmla="*/ 43 w 45"/>
                <a:gd name="T11" fmla="*/ 6 h 45"/>
                <a:gd name="T12" fmla="*/ 39 w 45"/>
                <a:gd name="T13" fmla="*/ 6 h 45"/>
                <a:gd name="T14" fmla="*/ 37 w 45"/>
                <a:gd name="T15" fmla="*/ 3 h 45"/>
                <a:gd name="T16" fmla="*/ 31 w 45"/>
                <a:gd name="T17" fmla="*/ 0 h 45"/>
                <a:gd name="T18" fmla="*/ 29 w 45"/>
                <a:gd name="T19" fmla="*/ 0 h 45"/>
                <a:gd name="T20" fmla="*/ 26 w 45"/>
                <a:gd name="T21" fmla="*/ 0 h 45"/>
                <a:gd name="T22" fmla="*/ 20 w 45"/>
                <a:gd name="T23" fmla="*/ 0 h 45"/>
                <a:gd name="T24" fmla="*/ 17 w 45"/>
                <a:gd name="T25" fmla="*/ 0 h 45"/>
                <a:gd name="T26" fmla="*/ 14 w 45"/>
                <a:gd name="T27" fmla="*/ 3 h 45"/>
                <a:gd name="T28" fmla="*/ 12 w 45"/>
                <a:gd name="T29" fmla="*/ 6 h 45"/>
                <a:gd name="T30" fmla="*/ 9 w 45"/>
                <a:gd name="T31" fmla="*/ 6 h 45"/>
                <a:gd name="T32" fmla="*/ 5 w 45"/>
                <a:gd name="T33" fmla="*/ 8 h 45"/>
                <a:gd name="T34" fmla="*/ 3 w 45"/>
                <a:gd name="T35" fmla="*/ 14 h 45"/>
                <a:gd name="T36" fmla="*/ 3 w 45"/>
                <a:gd name="T37" fmla="*/ 16 h 45"/>
                <a:gd name="T38" fmla="*/ 0 w 45"/>
                <a:gd name="T39" fmla="*/ 19 h 45"/>
                <a:gd name="T40" fmla="*/ 0 w 45"/>
                <a:gd name="T41" fmla="*/ 21 h 45"/>
                <a:gd name="T42" fmla="*/ 0 w 45"/>
                <a:gd name="T43" fmla="*/ 27 h 45"/>
                <a:gd name="T44" fmla="*/ 3 w 45"/>
                <a:gd name="T45" fmla="*/ 29 h 45"/>
                <a:gd name="T46" fmla="*/ 3 w 45"/>
                <a:gd name="T47" fmla="*/ 32 h 45"/>
                <a:gd name="T48" fmla="*/ 5 w 45"/>
                <a:gd name="T49" fmla="*/ 35 h 45"/>
                <a:gd name="T50" fmla="*/ 9 w 45"/>
                <a:gd name="T51" fmla="*/ 37 h 45"/>
                <a:gd name="T52" fmla="*/ 12 w 45"/>
                <a:gd name="T53" fmla="*/ 40 h 45"/>
                <a:gd name="T54" fmla="*/ 14 w 45"/>
                <a:gd name="T55" fmla="*/ 43 h 45"/>
                <a:gd name="T56" fmla="*/ 17 w 45"/>
                <a:gd name="T57" fmla="*/ 43 h 45"/>
                <a:gd name="T58" fmla="*/ 20 w 45"/>
                <a:gd name="T59" fmla="*/ 45 h 45"/>
                <a:gd name="T60" fmla="*/ 26 w 45"/>
                <a:gd name="T61" fmla="*/ 45 h 45"/>
                <a:gd name="T62" fmla="*/ 29 w 45"/>
                <a:gd name="T63" fmla="*/ 45 h 45"/>
                <a:gd name="T64" fmla="*/ 31 w 45"/>
                <a:gd name="T65" fmla="*/ 43 h 45"/>
                <a:gd name="T66" fmla="*/ 37 w 45"/>
                <a:gd name="T67" fmla="*/ 43 h 45"/>
                <a:gd name="T68" fmla="*/ 39 w 45"/>
                <a:gd name="T69" fmla="*/ 40 h 45"/>
                <a:gd name="T70" fmla="*/ 43 w 45"/>
                <a:gd name="T71" fmla="*/ 37 h 45"/>
                <a:gd name="T72" fmla="*/ 43 w 45"/>
                <a:gd name="T73" fmla="*/ 35 h 45"/>
                <a:gd name="T74" fmla="*/ 45 w 45"/>
                <a:gd name="T75" fmla="*/ 32 h 45"/>
                <a:gd name="T76" fmla="*/ 48 w 45"/>
                <a:gd name="T77" fmla="*/ 29 h 45"/>
                <a:gd name="T78" fmla="*/ 48 w 45"/>
                <a:gd name="T79" fmla="*/ 27 h 45"/>
                <a:gd name="T80" fmla="*/ 48 w 45"/>
                <a:gd name="T81" fmla="*/ 21 h 45"/>
                <a:gd name="T82" fmla="*/ 48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5" y="21"/>
                  </a:moveTo>
                  <a:lnTo>
                    <a:pt x="45" y="19"/>
                  </a:lnTo>
                  <a:lnTo>
                    <a:pt x="45" y="16"/>
                  </a:lnTo>
                  <a:lnTo>
                    <a:pt x="42" y="14"/>
                  </a:lnTo>
                  <a:lnTo>
                    <a:pt x="40" y="8"/>
                  </a:lnTo>
                  <a:lnTo>
                    <a:pt x="40" y="6"/>
                  </a:lnTo>
                  <a:lnTo>
                    <a:pt x="37" y="6"/>
                  </a:lnTo>
                  <a:lnTo>
                    <a:pt x="35" y="3"/>
                  </a:lnTo>
                  <a:lnTo>
                    <a:pt x="29" y="0"/>
                  </a:lnTo>
                  <a:lnTo>
                    <a:pt x="27" y="0"/>
                  </a:lnTo>
                  <a:lnTo>
                    <a:pt x="24" y="0"/>
                  </a:lnTo>
                  <a:lnTo>
                    <a:pt x="19" y="0"/>
                  </a:lnTo>
                  <a:lnTo>
                    <a:pt x="16" y="0"/>
                  </a:lnTo>
                  <a:lnTo>
                    <a:pt x="13" y="3"/>
                  </a:lnTo>
                  <a:lnTo>
                    <a:pt x="11" y="6"/>
                  </a:lnTo>
                  <a:lnTo>
                    <a:pt x="8" y="6"/>
                  </a:lnTo>
                  <a:lnTo>
                    <a:pt x="5" y="8"/>
                  </a:lnTo>
                  <a:lnTo>
                    <a:pt x="3" y="14"/>
                  </a:lnTo>
                  <a:lnTo>
                    <a:pt x="3" y="16"/>
                  </a:lnTo>
                  <a:lnTo>
                    <a:pt x="0" y="19"/>
                  </a:lnTo>
                  <a:lnTo>
                    <a:pt x="0" y="21"/>
                  </a:lnTo>
                  <a:lnTo>
                    <a:pt x="0" y="27"/>
                  </a:lnTo>
                  <a:lnTo>
                    <a:pt x="3" y="29"/>
                  </a:lnTo>
                  <a:lnTo>
                    <a:pt x="3" y="32"/>
                  </a:lnTo>
                  <a:lnTo>
                    <a:pt x="5" y="35"/>
                  </a:lnTo>
                  <a:lnTo>
                    <a:pt x="8" y="37"/>
                  </a:lnTo>
                  <a:lnTo>
                    <a:pt x="11" y="40"/>
                  </a:lnTo>
                  <a:lnTo>
                    <a:pt x="13" y="43"/>
                  </a:lnTo>
                  <a:lnTo>
                    <a:pt x="16" y="43"/>
                  </a:lnTo>
                  <a:lnTo>
                    <a:pt x="19" y="45"/>
                  </a:lnTo>
                  <a:lnTo>
                    <a:pt x="24" y="45"/>
                  </a:lnTo>
                  <a:lnTo>
                    <a:pt x="27" y="45"/>
                  </a:lnTo>
                  <a:lnTo>
                    <a:pt x="29" y="43"/>
                  </a:lnTo>
                  <a:lnTo>
                    <a:pt x="35" y="43"/>
                  </a:lnTo>
                  <a:lnTo>
                    <a:pt x="37" y="40"/>
                  </a:lnTo>
                  <a:lnTo>
                    <a:pt x="40" y="37"/>
                  </a:lnTo>
                  <a:lnTo>
                    <a:pt x="40" y="35"/>
                  </a:lnTo>
                  <a:lnTo>
                    <a:pt x="42" y="32"/>
                  </a:lnTo>
                  <a:lnTo>
                    <a:pt x="45" y="29"/>
                  </a:lnTo>
                  <a:lnTo>
                    <a:pt x="45" y="27"/>
                  </a:lnTo>
                  <a:lnTo>
                    <a:pt x="45" y="21"/>
                  </a:lnTo>
                </a:path>
              </a:pathLst>
            </a:custGeom>
            <a:noFill/>
            <a:ln w="333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AutoShape 17"/>
            <p:cNvSpPr>
              <a:spLocks noChangeArrowheads="1"/>
            </p:cNvSpPr>
            <p:nvPr/>
          </p:nvSpPr>
          <p:spPr bwMode="auto">
            <a:xfrm>
              <a:off x="3312" y="3360"/>
              <a:ext cx="912" cy="24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84" name="AutoShape 18"/>
            <p:cNvSpPr>
              <a:spLocks noChangeArrowheads="1"/>
            </p:cNvSpPr>
            <p:nvPr/>
          </p:nvSpPr>
          <p:spPr bwMode="auto">
            <a:xfrm>
              <a:off x="4608" y="3360"/>
              <a:ext cx="864" cy="240"/>
            </a:xfrm>
            <a:prstGeom prst="roundRect">
              <a:avLst>
                <a:gd name="adj" fmla="val 23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85" name="Line 20"/>
            <p:cNvSpPr>
              <a:spLocks noChangeShapeType="1"/>
            </p:cNvSpPr>
            <p:nvPr/>
          </p:nvSpPr>
          <p:spPr bwMode="auto">
            <a:xfrm flipH="1">
              <a:off x="3660" y="2736"/>
              <a:ext cx="0" cy="4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Freeform 21"/>
            <p:cNvSpPr>
              <a:spLocks/>
            </p:cNvSpPr>
            <p:nvPr/>
          </p:nvSpPr>
          <p:spPr bwMode="auto">
            <a:xfrm>
              <a:off x="3484" y="2413"/>
              <a:ext cx="345" cy="318"/>
            </a:xfrm>
            <a:custGeom>
              <a:avLst/>
              <a:gdLst>
                <a:gd name="T0" fmla="*/ 342 w 319"/>
                <a:gd name="T1" fmla="*/ 159 h 318"/>
                <a:gd name="T2" fmla="*/ 342 w 319"/>
                <a:gd name="T3" fmla="*/ 132 h 318"/>
                <a:gd name="T4" fmla="*/ 336 w 319"/>
                <a:gd name="T5" fmla="*/ 108 h 318"/>
                <a:gd name="T6" fmla="*/ 324 w 319"/>
                <a:gd name="T7" fmla="*/ 85 h 318"/>
                <a:gd name="T8" fmla="*/ 310 w 319"/>
                <a:gd name="T9" fmla="*/ 63 h 318"/>
                <a:gd name="T10" fmla="*/ 293 w 319"/>
                <a:gd name="T11" fmla="*/ 45 h 318"/>
                <a:gd name="T12" fmla="*/ 273 w 319"/>
                <a:gd name="T13" fmla="*/ 29 h 318"/>
                <a:gd name="T14" fmla="*/ 250 w 319"/>
                <a:gd name="T15" fmla="*/ 18 h 318"/>
                <a:gd name="T16" fmla="*/ 227 w 319"/>
                <a:gd name="T17" fmla="*/ 8 h 318"/>
                <a:gd name="T18" fmla="*/ 198 w 319"/>
                <a:gd name="T19" fmla="*/ 2 h 318"/>
                <a:gd name="T20" fmla="*/ 173 w 319"/>
                <a:gd name="T21" fmla="*/ 0 h 318"/>
                <a:gd name="T22" fmla="*/ 144 w 319"/>
                <a:gd name="T23" fmla="*/ 2 h 318"/>
                <a:gd name="T24" fmla="*/ 118 w 319"/>
                <a:gd name="T25" fmla="*/ 8 h 318"/>
                <a:gd name="T26" fmla="*/ 92 w 319"/>
                <a:gd name="T27" fmla="*/ 18 h 318"/>
                <a:gd name="T28" fmla="*/ 69 w 319"/>
                <a:gd name="T29" fmla="*/ 29 h 318"/>
                <a:gd name="T30" fmla="*/ 50 w 319"/>
                <a:gd name="T31" fmla="*/ 45 h 318"/>
                <a:gd name="T32" fmla="*/ 32 w 319"/>
                <a:gd name="T33" fmla="*/ 63 h 318"/>
                <a:gd name="T34" fmla="*/ 17 w 319"/>
                <a:gd name="T35" fmla="*/ 85 h 318"/>
                <a:gd name="T36" fmla="*/ 9 w 319"/>
                <a:gd name="T37" fmla="*/ 108 h 318"/>
                <a:gd name="T38" fmla="*/ 0 w 319"/>
                <a:gd name="T39" fmla="*/ 132 h 318"/>
                <a:gd name="T40" fmla="*/ 0 w 319"/>
                <a:gd name="T41" fmla="*/ 159 h 318"/>
                <a:gd name="T42" fmla="*/ 0 w 319"/>
                <a:gd name="T43" fmla="*/ 185 h 318"/>
                <a:gd name="T44" fmla="*/ 9 w 319"/>
                <a:gd name="T45" fmla="*/ 209 h 318"/>
                <a:gd name="T46" fmla="*/ 17 w 319"/>
                <a:gd name="T47" fmla="*/ 230 h 318"/>
                <a:gd name="T48" fmla="*/ 32 w 319"/>
                <a:gd name="T49" fmla="*/ 252 h 318"/>
                <a:gd name="T50" fmla="*/ 50 w 319"/>
                <a:gd name="T51" fmla="*/ 270 h 318"/>
                <a:gd name="T52" fmla="*/ 69 w 319"/>
                <a:gd name="T53" fmla="*/ 286 h 318"/>
                <a:gd name="T54" fmla="*/ 92 w 319"/>
                <a:gd name="T55" fmla="*/ 299 h 318"/>
                <a:gd name="T56" fmla="*/ 118 w 319"/>
                <a:gd name="T57" fmla="*/ 310 h 318"/>
                <a:gd name="T58" fmla="*/ 144 w 319"/>
                <a:gd name="T59" fmla="*/ 315 h 318"/>
                <a:gd name="T60" fmla="*/ 173 w 319"/>
                <a:gd name="T61" fmla="*/ 318 h 318"/>
                <a:gd name="T62" fmla="*/ 198 w 319"/>
                <a:gd name="T63" fmla="*/ 315 h 318"/>
                <a:gd name="T64" fmla="*/ 227 w 319"/>
                <a:gd name="T65" fmla="*/ 310 h 318"/>
                <a:gd name="T66" fmla="*/ 250 w 319"/>
                <a:gd name="T67" fmla="*/ 299 h 318"/>
                <a:gd name="T68" fmla="*/ 273 w 319"/>
                <a:gd name="T69" fmla="*/ 286 h 318"/>
                <a:gd name="T70" fmla="*/ 293 w 319"/>
                <a:gd name="T71" fmla="*/ 270 h 318"/>
                <a:gd name="T72" fmla="*/ 310 w 319"/>
                <a:gd name="T73" fmla="*/ 252 h 318"/>
                <a:gd name="T74" fmla="*/ 324 w 319"/>
                <a:gd name="T75" fmla="*/ 230 h 318"/>
                <a:gd name="T76" fmla="*/ 336 w 319"/>
                <a:gd name="T77" fmla="*/ 209 h 318"/>
                <a:gd name="T78" fmla="*/ 342 w 319"/>
                <a:gd name="T79" fmla="*/ 185 h 318"/>
                <a:gd name="T80" fmla="*/ 345 w 319"/>
                <a:gd name="T81" fmla="*/ 159 h 318"/>
                <a:gd name="T82" fmla="*/ 345 w 319"/>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6" y="159"/>
                  </a:moveTo>
                  <a:lnTo>
                    <a:pt x="316" y="132"/>
                  </a:lnTo>
                  <a:lnTo>
                    <a:pt x="311" y="108"/>
                  </a:lnTo>
                  <a:lnTo>
                    <a:pt x="300" y="85"/>
                  </a:lnTo>
                  <a:lnTo>
                    <a:pt x="287" y="63"/>
                  </a:lnTo>
                  <a:lnTo>
                    <a:pt x="271" y="45"/>
                  </a:lnTo>
                  <a:lnTo>
                    <a:pt x="252" y="29"/>
                  </a:lnTo>
                  <a:lnTo>
                    <a:pt x="231" y="18"/>
                  </a:lnTo>
                  <a:lnTo>
                    <a:pt x="210" y="8"/>
                  </a:lnTo>
                  <a:lnTo>
                    <a:pt x="183" y="2"/>
                  </a:lnTo>
                  <a:lnTo>
                    <a:pt x="160" y="0"/>
                  </a:lnTo>
                  <a:lnTo>
                    <a:pt x="133" y="2"/>
                  </a:lnTo>
                  <a:lnTo>
                    <a:pt x="109" y="8"/>
                  </a:lnTo>
                  <a:lnTo>
                    <a:pt x="85" y="18"/>
                  </a:lnTo>
                  <a:lnTo>
                    <a:pt x="64" y="29"/>
                  </a:lnTo>
                  <a:lnTo>
                    <a:pt x="46" y="45"/>
                  </a:lnTo>
                  <a:lnTo>
                    <a:pt x="30" y="63"/>
                  </a:lnTo>
                  <a:lnTo>
                    <a:pt x="16" y="85"/>
                  </a:lnTo>
                  <a:lnTo>
                    <a:pt x="8" y="108"/>
                  </a:lnTo>
                  <a:lnTo>
                    <a:pt x="0" y="132"/>
                  </a:lnTo>
                  <a:lnTo>
                    <a:pt x="0" y="159"/>
                  </a:lnTo>
                  <a:lnTo>
                    <a:pt x="0" y="185"/>
                  </a:lnTo>
                  <a:lnTo>
                    <a:pt x="8" y="209"/>
                  </a:lnTo>
                  <a:lnTo>
                    <a:pt x="16" y="230"/>
                  </a:lnTo>
                  <a:lnTo>
                    <a:pt x="30" y="252"/>
                  </a:lnTo>
                  <a:lnTo>
                    <a:pt x="46" y="270"/>
                  </a:lnTo>
                  <a:lnTo>
                    <a:pt x="64" y="286"/>
                  </a:lnTo>
                  <a:lnTo>
                    <a:pt x="85" y="299"/>
                  </a:lnTo>
                  <a:lnTo>
                    <a:pt x="109" y="310"/>
                  </a:lnTo>
                  <a:lnTo>
                    <a:pt x="133" y="315"/>
                  </a:lnTo>
                  <a:lnTo>
                    <a:pt x="160" y="318"/>
                  </a:lnTo>
                  <a:lnTo>
                    <a:pt x="183" y="315"/>
                  </a:lnTo>
                  <a:lnTo>
                    <a:pt x="210" y="310"/>
                  </a:lnTo>
                  <a:lnTo>
                    <a:pt x="231" y="299"/>
                  </a:lnTo>
                  <a:lnTo>
                    <a:pt x="252" y="286"/>
                  </a:lnTo>
                  <a:lnTo>
                    <a:pt x="271" y="270"/>
                  </a:lnTo>
                  <a:lnTo>
                    <a:pt x="287" y="252"/>
                  </a:lnTo>
                  <a:lnTo>
                    <a:pt x="300" y="230"/>
                  </a:lnTo>
                  <a:lnTo>
                    <a:pt x="311" y="209"/>
                  </a:lnTo>
                  <a:lnTo>
                    <a:pt x="316" y="185"/>
                  </a:lnTo>
                  <a:lnTo>
                    <a:pt x="319"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Rectangle 22"/>
            <p:cNvSpPr>
              <a:spLocks noChangeArrowheads="1"/>
            </p:cNvSpPr>
            <p:nvPr/>
          </p:nvSpPr>
          <p:spPr bwMode="auto">
            <a:xfrm>
              <a:off x="3564" y="2496"/>
              <a:ext cx="1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b="0">
                  <a:solidFill>
                    <a:srgbClr val="000000"/>
                  </a:solidFill>
                  <a:ea typeface="宋体" panose="02010600030101010101" pitchFamily="2" charset="-122"/>
                </a:rPr>
                <a:t>P1</a:t>
              </a:r>
              <a:endParaRPr lang="en-US" altLang="zh-CN">
                <a:ea typeface="宋体" panose="02010600030101010101" pitchFamily="2" charset="-122"/>
              </a:endParaRPr>
            </a:p>
          </p:txBody>
        </p:sp>
        <p:sp>
          <p:nvSpPr>
            <p:cNvPr id="88" name="Freeform 24"/>
            <p:cNvSpPr>
              <a:spLocks/>
            </p:cNvSpPr>
            <p:nvPr/>
          </p:nvSpPr>
          <p:spPr bwMode="auto">
            <a:xfrm>
              <a:off x="3408" y="2810"/>
              <a:ext cx="520" cy="239"/>
            </a:xfrm>
            <a:custGeom>
              <a:avLst/>
              <a:gdLst>
                <a:gd name="T0" fmla="*/ 0 w 480"/>
                <a:gd name="T1" fmla="*/ 0 h 239"/>
                <a:gd name="T2" fmla="*/ 520 w 480"/>
                <a:gd name="T3" fmla="*/ 0 h 239"/>
                <a:gd name="T4" fmla="*/ 520 w 480"/>
                <a:gd name="T5" fmla="*/ 239 h 239"/>
                <a:gd name="T6" fmla="*/ 3 w 480"/>
                <a:gd name="T7" fmla="*/ 239 h 239"/>
                <a:gd name="T8" fmla="*/ 3 w 480"/>
                <a:gd name="T9" fmla="*/ 0 h 239"/>
                <a:gd name="T10" fmla="*/ 0 w 480"/>
                <a:gd name="T11" fmla="*/ 0 h 239"/>
                <a:gd name="T12" fmla="*/ 0 60000 65536"/>
                <a:gd name="T13" fmla="*/ 0 60000 65536"/>
                <a:gd name="T14" fmla="*/ 0 60000 65536"/>
                <a:gd name="T15" fmla="*/ 0 60000 65536"/>
                <a:gd name="T16" fmla="*/ 0 60000 65536"/>
                <a:gd name="T17" fmla="*/ 0 60000 65536"/>
                <a:gd name="T18" fmla="*/ 0 w 480"/>
                <a:gd name="T19" fmla="*/ 0 h 239"/>
                <a:gd name="T20" fmla="*/ 480 w 480"/>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480" h="239">
                  <a:moveTo>
                    <a:pt x="0" y="0"/>
                  </a:moveTo>
                  <a:lnTo>
                    <a:pt x="480" y="0"/>
                  </a:lnTo>
                  <a:lnTo>
                    <a:pt x="480" y="239"/>
                  </a:lnTo>
                  <a:lnTo>
                    <a:pt x="3" y="239"/>
                  </a:lnTo>
                  <a:lnTo>
                    <a:pt x="3"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5"/>
            <p:cNvSpPr>
              <a:spLocks/>
            </p:cNvSpPr>
            <p:nvPr/>
          </p:nvSpPr>
          <p:spPr bwMode="auto">
            <a:xfrm>
              <a:off x="3408" y="2810"/>
              <a:ext cx="540" cy="310"/>
            </a:xfrm>
            <a:custGeom>
              <a:avLst/>
              <a:gdLst>
                <a:gd name="T0" fmla="*/ 0 w 480"/>
                <a:gd name="T1" fmla="*/ 0 h 239"/>
                <a:gd name="T2" fmla="*/ 540 w 480"/>
                <a:gd name="T3" fmla="*/ 0 h 239"/>
                <a:gd name="T4" fmla="*/ 540 w 480"/>
                <a:gd name="T5" fmla="*/ 310 h 239"/>
                <a:gd name="T6" fmla="*/ 3 w 480"/>
                <a:gd name="T7" fmla="*/ 310 h 239"/>
                <a:gd name="T8" fmla="*/ 3 w 480"/>
                <a:gd name="T9" fmla="*/ 0 h 239"/>
                <a:gd name="T10" fmla="*/ 0 60000 65536"/>
                <a:gd name="T11" fmla="*/ 0 60000 65536"/>
                <a:gd name="T12" fmla="*/ 0 60000 65536"/>
                <a:gd name="T13" fmla="*/ 0 60000 65536"/>
                <a:gd name="T14" fmla="*/ 0 60000 65536"/>
                <a:gd name="T15" fmla="*/ 0 w 480"/>
                <a:gd name="T16" fmla="*/ 0 h 239"/>
                <a:gd name="T17" fmla="*/ 480 w 480"/>
                <a:gd name="T18" fmla="*/ 239 h 239"/>
              </a:gdLst>
              <a:ahLst/>
              <a:cxnLst>
                <a:cxn ang="T10">
                  <a:pos x="T0" y="T1"/>
                </a:cxn>
                <a:cxn ang="T11">
                  <a:pos x="T2" y="T3"/>
                </a:cxn>
                <a:cxn ang="T12">
                  <a:pos x="T4" y="T5"/>
                </a:cxn>
                <a:cxn ang="T13">
                  <a:pos x="T6" y="T7"/>
                </a:cxn>
                <a:cxn ang="T14">
                  <a:pos x="T8" y="T9"/>
                </a:cxn>
              </a:cxnLst>
              <a:rect l="T15" t="T16" r="T17" b="T18"/>
              <a:pathLst>
                <a:path w="480" h="239">
                  <a:moveTo>
                    <a:pt x="0" y="0"/>
                  </a:moveTo>
                  <a:lnTo>
                    <a:pt x="480" y="0"/>
                  </a:lnTo>
                  <a:lnTo>
                    <a:pt x="480" y="239"/>
                  </a:lnTo>
                  <a:lnTo>
                    <a:pt x="3" y="239"/>
                  </a:lnTo>
                  <a:lnTo>
                    <a:pt x="3" y="0"/>
                  </a:lnTo>
                </a:path>
              </a:pathLst>
            </a:custGeom>
            <a:solidFill>
              <a:schemeClr val="bg1"/>
            </a:solidFill>
            <a:ln w="7938">
              <a:solidFill>
                <a:srgbClr val="000000"/>
              </a:solidFill>
              <a:prstDash val="solid"/>
              <a:round/>
              <a:headEnd/>
              <a:tailEnd/>
            </a:ln>
          </p:spPr>
          <p:txBody>
            <a:bodyPr/>
            <a:lstStyle/>
            <a:p>
              <a:endParaRPr lang="zh-CN" altLang="en-US"/>
            </a:p>
          </p:txBody>
        </p:sp>
        <p:sp>
          <p:nvSpPr>
            <p:cNvPr id="90" name="Rectangle 26"/>
            <p:cNvSpPr>
              <a:spLocks noChangeArrowheads="1"/>
            </p:cNvSpPr>
            <p:nvPr/>
          </p:nvSpPr>
          <p:spPr bwMode="auto">
            <a:xfrm>
              <a:off x="3434" y="2832"/>
              <a:ext cx="502" cy="2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b="0">
                  <a:solidFill>
                    <a:srgbClr val="000000"/>
                  </a:solidFill>
                  <a:ea typeface="宋体" panose="02010600030101010101" pitchFamily="2" charset="-122"/>
                </a:rPr>
                <a:t>Multilevel</a:t>
              </a:r>
            </a:p>
            <a:p>
              <a:pPr algn="ctr"/>
              <a:r>
                <a:rPr lang="en-US" altLang="zh-CN" sz="14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91" name="Line 28"/>
            <p:cNvSpPr>
              <a:spLocks noChangeShapeType="1"/>
            </p:cNvSpPr>
            <p:nvPr/>
          </p:nvSpPr>
          <p:spPr bwMode="auto">
            <a:xfrm flipH="1">
              <a:off x="5148" y="2723"/>
              <a:ext cx="0" cy="4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Freeform 29"/>
            <p:cNvSpPr>
              <a:spLocks/>
            </p:cNvSpPr>
            <p:nvPr/>
          </p:nvSpPr>
          <p:spPr bwMode="auto">
            <a:xfrm>
              <a:off x="4972" y="2400"/>
              <a:ext cx="345" cy="318"/>
            </a:xfrm>
            <a:custGeom>
              <a:avLst/>
              <a:gdLst>
                <a:gd name="T0" fmla="*/ 342 w 319"/>
                <a:gd name="T1" fmla="*/ 159 h 318"/>
                <a:gd name="T2" fmla="*/ 342 w 319"/>
                <a:gd name="T3" fmla="*/ 132 h 318"/>
                <a:gd name="T4" fmla="*/ 336 w 319"/>
                <a:gd name="T5" fmla="*/ 108 h 318"/>
                <a:gd name="T6" fmla="*/ 324 w 319"/>
                <a:gd name="T7" fmla="*/ 85 h 318"/>
                <a:gd name="T8" fmla="*/ 310 w 319"/>
                <a:gd name="T9" fmla="*/ 63 h 318"/>
                <a:gd name="T10" fmla="*/ 293 w 319"/>
                <a:gd name="T11" fmla="*/ 45 h 318"/>
                <a:gd name="T12" fmla="*/ 273 w 319"/>
                <a:gd name="T13" fmla="*/ 29 h 318"/>
                <a:gd name="T14" fmla="*/ 250 w 319"/>
                <a:gd name="T15" fmla="*/ 18 h 318"/>
                <a:gd name="T16" fmla="*/ 227 w 319"/>
                <a:gd name="T17" fmla="*/ 8 h 318"/>
                <a:gd name="T18" fmla="*/ 198 w 319"/>
                <a:gd name="T19" fmla="*/ 2 h 318"/>
                <a:gd name="T20" fmla="*/ 173 w 319"/>
                <a:gd name="T21" fmla="*/ 0 h 318"/>
                <a:gd name="T22" fmla="*/ 144 w 319"/>
                <a:gd name="T23" fmla="*/ 2 h 318"/>
                <a:gd name="T24" fmla="*/ 118 w 319"/>
                <a:gd name="T25" fmla="*/ 8 h 318"/>
                <a:gd name="T26" fmla="*/ 92 w 319"/>
                <a:gd name="T27" fmla="*/ 18 h 318"/>
                <a:gd name="T28" fmla="*/ 69 w 319"/>
                <a:gd name="T29" fmla="*/ 29 h 318"/>
                <a:gd name="T30" fmla="*/ 50 w 319"/>
                <a:gd name="T31" fmla="*/ 45 h 318"/>
                <a:gd name="T32" fmla="*/ 32 w 319"/>
                <a:gd name="T33" fmla="*/ 63 h 318"/>
                <a:gd name="T34" fmla="*/ 17 w 319"/>
                <a:gd name="T35" fmla="*/ 85 h 318"/>
                <a:gd name="T36" fmla="*/ 9 w 319"/>
                <a:gd name="T37" fmla="*/ 108 h 318"/>
                <a:gd name="T38" fmla="*/ 0 w 319"/>
                <a:gd name="T39" fmla="*/ 132 h 318"/>
                <a:gd name="T40" fmla="*/ 0 w 319"/>
                <a:gd name="T41" fmla="*/ 159 h 318"/>
                <a:gd name="T42" fmla="*/ 0 w 319"/>
                <a:gd name="T43" fmla="*/ 185 h 318"/>
                <a:gd name="T44" fmla="*/ 9 w 319"/>
                <a:gd name="T45" fmla="*/ 209 h 318"/>
                <a:gd name="T46" fmla="*/ 17 w 319"/>
                <a:gd name="T47" fmla="*/ 230 h 318"/>
                <a:gd name="T48" fmla="*/ 32 w 319"/>
                <a:gd name="T49" fmla="*/ 252 h 318"/>
                <a:gd name="T50" fmla="*/ 50 w 319"/>
                <a:gd name="T51" fmla="*/ 270 h 318"/>
                <a:gd name="T52" fmla="*/ 69 w 319"/>
                <a:gd name="T53" fmla="*/ 286 h 318"/>
                <a:gd name="T54" fmla="*/ 92 w 319"/>
                <a:gd name="T55" fmla="*/ 299 h 318"/>
                <a:gd name="T56" fmla="*/ 118 w 319"/>
                <a:gd name="T57" fmla="*/ 310 h 318"/>
                <a:gd name="T58" fmla="*/ 144 w 319"/>
                <a:gd name="T59" fmla="*/ 315 h 318"/>
                <a:gd name="T60" fmla="*/ 173 w 319"/>
                <a:gd name="T61" fmla="*/ 318 h 318"/>
                <a:gd name="T62" fmla="*/ 198 w 319"/>
                <a:gd name="T63" fmla="*/ 315 h 318"/>
                <a:gd name="T64" fmla="*/ 227 w 319"/>
                <a:gd name="T65" fmla="*/ 310 h 318"/>
                <a:gd name="T66" fmla="*/ 250 w 319"/>
                <a:gd name="T67" fmla="*/ 299 h 318"/>
                <a:gd name="T68" fmla="*/ 273 w 319"/>
                <a:gd name="T69" fmla="*/ 286 h 318"/>
                <a:gd name="T70" fmla="*/ 293 w 319"/>
                <a:gd name="T71" fmla="*/ 270 h 318"/>
                <a:gd name="T72" fmla="*/ 310 w 319"/>
                <a:gd name="T73" fmla="*/ 252 h 318"/>
                <a:gd name="T74" fmla="*/ 324 w 319"/>
                <a:gd name="T75" fmla="*/ 230 h 318"/>
                <a:gd name="T76" fmla="*/ 336 w 319"/>
                <a:gd name="T77" fmla="*/ 209 h 318"/>
                <a:gd name="T78" fmla="*/ 342 w 319"/>
                <a:gd name="T79" fmla="*/ 185 h 318"/>
                <a:gd name="T80" fmla="*/ 345 w 319"/>
                <a:gd name="T81" fmla="*/ 159 h 318"/>
                <a:gd name="T82" fmla="*/ 345 w 319"/>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6" y="159"/>
                  </a:moveTo>
                  <a:lnTo>
                    <a:pt x="316" y="132"/>
                  </a:lnTo>
                  <a:lnTo>
                    <a:pt x="311" y="108"/>
                  </a:lnTo>
                  <a:lnTo>
                    <a:pt x="300" y="85"/>
                  </a:lnTo>
                  <a:lnTo>
                    <a:pt x="287" y="63"/>
                  </a:lnTo>
                  <a:lnTo>
                    <a:pt x="271" y="45"/>
                  </a:lnTo>
                  <a:lnTo>
                    <a:pt x="252" y="29"/>
                  </a:lnTo>
                  <a:lnTo>
                    <a:pt x="231" y="18"/>
                  </a:lnTo>
                  <a:lnTo>
                    <a:pt x="210" y="8"/>
                  </a:lnTo>
                  <a:lnTo>
                    <a:pt x="183" y="2"/>
                  </a:lnTo>
                  <a:lnTo>
                    <a:pt x="160" y="0"/>
                  </a:lnTo>
                  <a:lnTo>
                    <a:pt x="133" y="2"/>
                  </a:lnTo>
                  <a:lnTo>
                    <a:pt x="109" y="8"/>
                  </a:lnTo>
                  <a:lnTo>
                    <a:pt x="85" y="18"/>
                  </a:lnTo>
                  <a:lnTo>
                    <a:pt x="64" y="29"/>
                  </a:lnTo>
                  <a:lnTo>
                    <a:pt x="46" y="45"/>
                  </a:lnTo>
                  <a:lnTo>
                    <a:pt x="30" y="63"/>
                  </a:lnTo>
                  <a:lnTo>
                    <a:pt x="16" y="85"/>
                  </a:lnTo>
                  <a:lnTo>
                    <a:pt x="8" y="108"/>
                  </a:lnTo>
                  <a:lnTo>
                    <a:pt x="0" y="132"/>
                  </a:lnTo>
                  <a:lnTo>
                    <a:pt x="0" y="159"/>
                  </a:lnTo>
                  <a:lnTo>
                    <a:pt x="0" y="185"/>
                  </a:lnTo>
                  <a:lnTo>
                    <a:pt x="8" y="209"/>
                  </a:lnTo>
                  <a:lnTo>
                    <a:pt x="16" y="230"/>
                  </a:lnTo>
                  <a:lnTo>
                    <a:pt x="30" y="252"/>
                  </a:lnTo>
                  <a:lnTo>
                    <a:pt x="46" y="270"/>
                  </a:lnTo>
                  <a:lnTo>
                    <a:pt x="64" y="286"/>
                  </a:lnTo>
                  <a:lnTo>
                    <a:pt x="85" y="299"/>
                  </a:lnTo>
                  <a:lnTo>
                    <a:pt x="109" y="310"/>
                  </a:lnTo>
                  <a:lnTo>
                    <a:pt x="133" y="315"/>
                  </a:lnTo>
                  <a:lnTo>
                    <a:pt x="160" y="318"/>
                  </a:lnTo>
                  <a:lnTo>
                    <a:pt x="183" y="315"/>
                  </a:lnTo>
                  <a:lnTo>
                    <a:pt x="210" y="310"/>
                  </a:lnTo>
                  <a:lnTo>
                    <a:pt x="231" y="299"/>
                  </a:lnTo>
                  <a:lnTo>
                    <a:pt x="252" y="286"/>
                  </a:lnTo>
                  <a:lnTo>
                    <a:pt x="271" y="270"/>
                  </a:lnTo>
                  <a:lnTo>
                    <a:pt x="287" y="252"/>
                  </a:lnTo>
                  <a:lnTo>
                    <a:pt x="300" y="230"/>
                  </a:lnTo>
                  <a:lnTo>
                    <a:pt x="311" y="209"/>
                  </a:lnTo>
                  <a:lnTo>
                    <a:pt x="316" y="185"/>
                  </a:lnTo>
                  <a:lnTo>
                    <a:pt x="319" y="159"/>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 name="Rectangle 30"/>
            <p:cNvSpPr>
              <a:spLocks noChangeArrowheads="1"/>
            </p:cNvSpPr>
            <p:nvPr/>
          </p:nvSpPr>
          <p:spPr bwMode="auto">
            <a:xfrm>
              <a:off x="5052" y="2483"/>
              <a:ext cx="1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b="0">
                  <a:solidFill>
                    <a:srgbClr val="000000"/>
                  </a:solidFill>
                  <a:ea typeface="宋体" panose="02010600030101010101" pitchFamily="2" charset="-122"/>
                </a:rPr>
                <a:t>Pn</a:t>
              </a:r>
              <a:endParaRPr lang="en-US" altLang="zh-CN">
                <a:ea typeface="宋体" panose="02010600030101010101" pitchFamily="2" charset="-122"/>
              </a:endParaRPr>
            </a:p>
          </p:txBody>
        </p:sp>
        <p:sp>
          <p:nvSpPr>
            <p:cNvPr id="94" name="Freeform 32"/>
            <p:cNvSpPr>
              <a:spLocks/>
            </p:cNvSpPr>
            <p:nvPr/>
          </p:nvSpPr>
          <p:spPr bwMode="auto">
            <a:xfrm>
              <a:off x="4896" y="2797"/>
              <a:ext cx="520" cy="239"/>
            </a:xfrm>
            <a:custGeom>
              <a:avLst/>
              <a:gdLst>
                <a:gd name="T0" fmla="*/ 0 w 480"/>
                <a:gd name="T1" fmla="*/ 0 h 239"/>
                <a:gd name="T2" fmla="*/ 520 w 480"/>
                <a:gd name="T3" fmla="*/ 0 h 239"/>
                <a:gd name="T4" fmla="*/ 520 w 480"/>
                <a:gd name="T5" fmla="*/ 239 h 239"/>
                <a:gd name="T6" fmla="*/ 3 w 480"/>
                <a:gd name="T7" fmla="*/ 239 h 239"/>
                <a:gd name="T8" fmla="*/ 3 w 480"/>
                <a:gd name="T9" fmla="*/ 0 h 239"/>
                <a:gd name="T10" fmla="*/ 0 w 480"/>
                <a:gd name="T11" fmla="*/ 0 h 239"/>
                <a:gd name="T12" fmla="*/ 0 60000 65536"/>
                <a:gd name="T13" fmla="*/ 0 60000 65536"/>
                <a:gd name="T14" fmla="*/ 0 60000 65536"/>
                <a:gd name="T15" fmla="*/ 0 60000 65536"/>
                <a:gd name="T16" fmla="*/ 0 60000 65536"/>
                <a:gd name="T17" fmla="*/ 0 60000 65536"/>
                <a:gd name="T18" fmla="*/ 0 w 480"/>
                <a:gd name="T19" fmla="*/ 0 h 239"/>
                <a:gd name="T20" fmla="*/ 480 w 480"/>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480" h="239">
                  <a:moveTo>
                    <a:pt x="0" y="0"/>
                  </a:moveTo>
                  <a:lnTo>
                    <a:pt x="480" y="0"/>
                  </a:lnTo>
                  <a:lnTo>
                    <a:pt x="480" y="239"/>
                  </a:lnTo>
                  <a:lnTo>
                    <a:pt x="3" y="239"/>
                  </a:lnTo>
                  <a:lnTo>
                    <a:pt x="3"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33"/>
            <p:cNvSpPr>
              <a:spLocks/>
            </p:cNvSpPr>
            <p:nvPr/>
          </p:nvSpPr>
          <p:spPr bwMode="auto">
            <a:xfrm>
              <a:off x="4896" y="2797"/>
              <a:ext cx="540" cy="310"/>
            </a:xfrm>
            <a:custGeom>
              <a:avLst/>
              <a:gdLst>
                <a:gd name="T0" fmla="*/ 0 w 480"/>
                <a:gd name="T1" fmla="*/ 0 h 239"/>
                <a:gd name="T2" fmla="*/ 540 w 480"/>
                <a:gd name="T3" fmla="*/ 0 h 239"/>
                <a:gd name="T4" fmla="*/ 540 w 480"/>
                <a:gd name="T5" fmla="*/ 310 h 239"/>
                <a:gd name="T6" fmla="*/ 3 w 480"/>
                <a:gd name="T7" fmla="*/ 310 h 239"/>
                <a:gd name="T8" fmla="*/ 3 w 480"/>
                <a:gd name="T9" fmla="*/ 0 h 239"/>
                <a:gd name="T10" fmla="*/ 0 60000 65536"/>
                <a:gd name="T11" fmla="*/ 0 60000 65536"/>
                <a:gd name="T12" fmla="*/ 0 60000 65536"/>
                <a:gd name="T13" fmla="*/ 0 60000 65536"/>
                <a:gd name="T14" fmla="*/ 0 60000 65536"/>
                <a:gd name="T15" fmla="*/ 0 w 480"/>
                <a:gd name="T16" fmla="*/ 0 h 239"/>
                <a:gd name="T17" fmla="*/ 480 w 480"/>
                <a:gd name="T18" fmla="*/ 239 h 239"/>
              </a:gdLst>
              <a:ahLst/>
              <a:cxnLst>
                <a:cxn ang="T10">
                  <a:pos x="T0" y="T1"/>
                </a:cxn>
                <a:cxn ang="T11">
                  <a:pos x="T2" y="T3"/>
                </a:cxn>
                <a:cxn ang="T12">
                  <a:pos x="T4" y="T5"/>
                </a:cxn>
                <a:cxn ang="T13">
                  <a:pos x="T6" y="T7"/>
                </a:cxn>
                <a:cxn ang="T14">
                  <a:pos x="T8" y="T9"/>
                </a:cxn>
              </a:cxnLst>
              <a:rect l="T15" t="T16" r="T17" b="T18"/>
              <a:pathLst>
                <a:path w="480" h="239">
                  <a:moveTo>
                    <a:pt x="0" y="0"/>
                  </a:moveTo>
                  <a:lnTo>
                    <a:pt x="480" y="0"/>
                  </a:lnTo>
                  <a:lnTo>
                    <a:pt x="480" y="239"/>
                  </a:lnTo>
                  <a:lnTo>
                    <a:pt x="3" y="239"/>
                  </a:lnTo>
                  <a:lnTo>
                    <a:pt x="3" y="0"/>
                  </a:lnTo>
                </a:path>
              </a:pathLst>
            </a:custGeom>
            <a:solidFill>
              <a:schemeClr val="bg1"/>
            </a:solidFill>
            <a:ln w="7938">
              <a:solidFill>
                <a:srgbClr val="000000"/>
              </a:solidFill>
              <a:prstDash val="solid"/>
              <a:round/>
              <a:headEnd/>
              <a:tailEnd/>
            </a:ln>
          </p:spPr>
          <p:txBody>
            <a:bodyPr/>
            <a:lstStyle/>
            <a:p>
              <a:endParaRPr lang="zh-CN" altLang="en-US"/>
            </a:p>
          </p:txBody>
        </p:sp>
        <p:sp>
          <p:nvSpPr>
            <p:cNvPr id="96" name="Rectangle 34"/>
            <p:cNvSpPr>
              <a:spLocks noChangeArrowheads="1"/>
            </p:cNvSpPr>
            <p:nvPr/>
          </p:nvSpPr>
          <p:spPr bwMode="auto">
            <a:xfrm>
              <a:off x="4922" y="2819"/>
              <a:ext cx="502" cy="2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b="0">
                  <a:solidFill>
                    <a:srgbClr val="000000"/>
                  </a:solidFill>
                  <a:ea typeface="宋体" panose="02010600030101010101" pitchFamily="2" charset="-122"/>
                </a:rPr>
                <a:t>Multilevel</a:t>
              </a:r>
            </a:p>
            <a:p>
              <a:pPr algn="ctr"/>
              <a:r>
                <a:rPr lang="en-US" altLang="zh-CN" sz="14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97" name="Line 35"/>
            <p:cNvSpPr>
              <a:spLocks noChangeShapeType="1"/>
            </p:cNvSpPr>
            <p:nvPr/>
          </p:nvSpPr>
          <p:spPr bwMode="auto">
            <a:xfrm>
              <a:off x="3168" y="3195"/>
              <a:ext cx="2504" cy="1"/>
            </a:xfrm>
            <a:prstGeom prst="line">
              <a:avLst/>
            </a:prstGeom>
            <a:noFill/>
            <a:ln w="76200">
              <a:solidFill>
                <a:srgbClr val="114FFB"/>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2150497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Cache</a:t>
            </a:r>
            <a:r>
              <a:rPr lang="zh-CN" altLang="en-US" smtClean="0"/>
              <a:t>对性能至关重要</a:t>
            </a:r>
            <a:endParaRPr lang="zh-CN" altLang="en-US" dirty="0"/>
          </a:p>
        </p:txBody>
      </p:sp>
      <p:sp>
        <p:nvSpPr>
          <p:cNvPr id="3" name="内容占位符 2"/>
          <p:cNvSpPr>
            <a:spLocks noGrp="1"/>
          </p:cNvSpPr>
          <p:nvPr>
            <p:ph idx="1"/>
          </p:nvPr>
        </p:nvSpPr>
        <p:spPr>
          <a:xfrm>
            <a:off x="838200" y="1772816"/>
            <a:ext cx="10515600" cy="4896544"/>
          </a:xfrm>
        </p:spPr>
        <p:txBody>
          <a:bodyPr/>
          <a:lstStyle/>
          <a:p>
            <a:r>
              <a:rPr lang="zh-CN" altLang="en-US" dirty="0" smtClean="0"/>
              <a:t>降低平均</a:t>
            </a:r>
            <a:r>
              <a:rPr lang="zh-CN" altLang="en-US" dirty="0" smtClean="0">
                <a:solidFill>
                  <a:srgbClr val="FF0000"/>
                </a:solidFill>
              </a:rPr>
              <a:t>延迟</a:t>
            </a:r>
            <a:endParaRPr lang="en-US" altLang="zh-CN" dirty="0" smtClean="0">
              <a:solidFill>
                <a:srgbClr val="FF0000"/>
              </a:solidFill>
            </a:endParaRPr>
          </a:p>
          <a:p>
            <a:pPr lvl="1"/>
            <a:r>
              <a:rPr lang="zh-CN" altLang="en-US" dirty="0" smtClean="0"/>
              <a:t>访问主存需要上百个周期</a:t>
            </a:r>
            <a:endParaRPr lang="en-US" altLang="zh-CN" dirty="0" smtClean="0"/>
          </a:p>
          <a:p>
            <a:pPr lvl="1"/>
            <a:r>
              <a:rPr lang="en-US" altLang="zh-CN" dirty="0" smtClean="0"/>
              <a:t>Cache</a:t>
            </a:r>
            <a:r>
              <a:rPr lang="zh-CN" altLang="en-US" dirty="0" smtClean="0"/>
              <a:t>可把延迟缩短到几个周期</a:t>
            </a:r>
            <a:endParaRPr lang="en-US" altLang="zh-CN" dirty="0" smtClean="0"/>
          </a:p>
          <a:p>
            <a:r>
              <a:rPr lang="zh-CN" altLang="en-US" dirty="0" smtClean="0"/>
              <a:t>降低数据总线</a:t>
            </a:r>
            <a:r>
              <a:rPr lang="en-US" altLang="zh-CN" dirty="0" smtClean="0"/>
              <a:t>/</a:t>
            </a:r>
            <a:r>
              <a:rPr lang="zh-CN" altLang="en-US" dirty="0" smtClean="0"/>
              <a:t>存储器平均</a:t>
            </a:r>
            <a:r>
              <a:rPr lang="zh-CN" altLang="en-US" dirty="0" smtClean="0">
                <a:solidFill>
                  <a:srgbClr val="FF0000"/>
                </a:solidFill>
              </a:rPr>
              <a:t>带宽</a:t>
            </a:r>
            <a:r>
              <a:rPr lang="zh-CN" altLang="en-US" dirty="0" smtClean="0"/>
              <a:t>（需求）</a:t>
            </a:r>
            <a:endParaRPr lang="en-US" altLang="zh-CN" dirty="0" smtClean="0"/>
          </a:p>
          <a:p>
            <a:r>
              <a:rPr lang="zh-CN" altLang="en-US" dirty="0" smtClean="0"/>
              <a:t>自动</a:t>
            </a:r>
            <a:r>
              <a:rPr lang="zh-CN" altLang="en-US" dirty="0" smtClean="0">
                <a:solidFill>
                  <a:srgbClr val="FF0000"/>
                </a:solidFill>
              </a:rPr>
              <a:t>迁移</a:t>
            </a:r>
            <a:r>
              <a:rPr lang="zh-CN" altLang="en-US" dirty="0" smtClean="0"/>
              <a:t>数据</a:t>
            </a:r>
            <a:endParaRPr lang="en-US" altLang="zh-CN" dirty="0" smtClean="0"/>
          </a:p>
          <a:p>
            <a:pPr lvl="1"/>
            <a:r>
              <a:rPr lang="zh-CN" altLang="en-US" dirty="0" smtClean="0"/>
              <a:t>把数据搬运到离处理器更近的地方</a:t>
            </a:r>
            <a:endParaRPr lang="en-US" altLang="zh-CN" dirty="0" smtClean="0"/>
          </a:p>
          <a:p>
            <a:r>
              <a:rPr lang="zh-CN" altLang="en-US" dirty="0" smtClean="0"/>
              <a:t>自动</a:t>
            </a:r>
            <a:r>
              <a:rPr lang="zh-CN" altLang="en-US" dirty="0" smtClean="0">
                <a:solidFill>
                  <a:srgbClr val="FF0000"/>
                </a:solidFill>
              </a:rPr>
              <a:t>复制</a:t>
            </a:r>
            <a:r>
              <a:rPr lang="zh-CN" altLang="en-US" dirty="0" smtClean="0"/>
              <a:t>数据</a:t>
            </a:r>
            <a:endParaRPr lang="en-US" altLang="zh-CN" dirty="0" smtClean="0"/>
          </a:p>
          <a:p>
            <a:pPr lvl="1"/>
            <a:r>
              <a:rPr lang="zh-CN" altLang="en-US" dirty="0" smtClean="0"/>
              <a:t>共享数据可按需复制，多个处理器高效共享</a:t>
            </a:r>
            <a:endParaRPr lang="en-US" altLang="zh-CN" dirty="0"/>
          </a:p>
          <a:p>
            <a:r>
              <a:rPr lang="zh-CN" altLang="en-US" dirty="0" smtClean="0"/>
              <a:t>当存、取发生在不同处理器上时，会发生什么？</a:t>
            </a:r>
            <a:endParaRPr lang="en-US" altLang="zh-CN" dirty="0" smtClean="0"/>
          </a:p>
          <a:p>
            <a:pPr lvl="1"/>
            <a:r>
              <a:rPr lang="zh-CN" altLang="en-US" dirty="0" smtClean="0"/>
              <a:t>如果</a:t>
            </a:r>
            <a:r>
              <a:rPr lang="en-US" altLang="zh-CN" dirty="0" smtClean="0"/>
              <a:t>cache</a:t>
            </a:r>
            <a:r>
              <a:rPr lang="zh-CN" altLang="en-US" dirty="0" smtClean="0"/>
              <a:t>是处理器私有的，就会发生问题</a:t>
            </a:r>
            <a:endParaRPr lang="zh-CN" altLang="en-US" dirty="0"/>
          </a:p>
        </p:txBody>
      </p:sp>
      <p:grpSp>
        <p:nvGrpSpPr>
          <p:cNvPr id="32" name="Group 4"/>
          <p:cNvGrpSpPr>
            <a:grpSpLocks/>
          </p:cNvGrpSpPr>
          <p:nvPr/>
        </p:nvGrpSpPr>
        <p:grpSpPr bwMode="auto">
          <a:xfrm>
            <a:off x="8040216" y="1772816"/>
            <a:ext cx="3673624" cy="2870448"/>
            <a:chOff x="3848" y="1296"/>
            <a:chExt cx="1924" cy="1536"/>
          </a:xfrm>
        </p:grpSpPr>
        <p:grpSp>
          <p:nvGrpSpPr>
            <p:cNvPr id="33" name="Group 5"/>
            <p:cNvGrpSpPr>
              <a:grpSpLocks/>
            </p:cNvGrpSpPr>
            <p:nvPr/>
          </p:nvGrpSpPr>
          <p:grpSpPr bwMode="auto">
            <a:xfrm>
              <a:off x="3848" y="1296"/>
              <a:ext cx="1924" cy="1536"/>
              <a:chOff x="3552" y="1392"/>
              <a:chExt cx="1584" cy="1440"/>
            </a:xfrm>
          </p:grpSpPr>
          <p:grpSp>
            <p:nvGrpSpPr>
              <p:cNvPr id="37" name="Group 6"/>
              <p:cNvGrpSpPr>
                <a:grpSpLocks/>
              </p:cNvGrpSpPr>
              <p:nvPr/>
            </p:nvGrpSpPr>
            <p:grpSpPr bwMode="auto">
              <a:xfrm>
                <a:off x="3600" y="2400"/>
                <a:ext cx="192" cy="432"/>
                <a:chOff x="1392" y="2976"/>
                <a:chExt cx="192" cy="288"/>
              </a:xfrm>
            </p:grpSpPr>
            <p:sp>
              <p:nvSpPr>
                <p:cNvPr id="59" name="Rectangle 7"/>
                <p:cNvSpPr>
                  <a:spLocks noChangeArrowheads="1"/>
                </p:cNvSpPr>
                <p:nvPr/>
              </p:nvSpPr>
              <p:spPr bwMode="auto">
                <a:xfrm>
                  <a:off x="1392" y="3072"/>
                  <a:ext cx="192" cy="192"/>
                </a:xfrm>
                <a:prstGeom prst="rect">
                  <a:avLst/>
                </a:prstGeom>
                <a:solidFill>
                  <a:schemeClr val="bg1"/>
                </a:solidFill>
                <a:ln w="9525">
                  <a:solidFill>
                    <a:srgbClr val="000000"/>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ea typeface="宋体" panose="02010600030101010101" pitchFamily="2" charset="-122"/>
                    </a:rPr>
                    <a:t>P</a:t>
                  </a:r>
                </a:p>
              </p:txBody>
            </p:sp>
            <p:sp>
              <p:nvSpPr>
                <p:cNvPr id="60" name="Line 8"/>
                <p:cNvSpPr>
                  <a:spLocks noChangeShapeType="1"/>
                </p:cNvSpPr>
                <p:nvPr/>
              </p:nvSpPr>
              <p:spPr bwMode="auto">
                <a:xfrm flipV="1">
                  <a:off x="1488" y="2976"/>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sp>
            <p:nvSpPr>
              <p:cNvPr id="38" name="Rectangle 9"/>
              <p:cNvSpPr>
                <a:spLocks noChangeArrowheads="1"/>
              </p:cNvSpPr>
              <p:nvPr/>
            </p:nvSpPr>
            <p:spPr bwMode="auto">
              <a:xfrm>
                <a:off x="3552" y="2160"/>
                <a:ext cx="28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39" name="Rectangle 10"/>
              <p:cNvSpPr>
                <a:spLocks noChangeArrowheads="1"/>
              </p:cNvSpPr>
              <p:nvPr/>
            </p:nvSpPr>
            <p:spPr bwMode="auto">
              <a:xfrm>
                <a:off x="3552" y="1392"/>
                <a:ext cx="1584" cy="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0" name="Rectangle 11"/>
              <p:cNvSpPr>
                <a:spLocks noChangeArrowheads="1"/>
              </p:cNvSpPr>
              <p:nvPr/>
            </p:nvSpPr>
            <p:spPr bwMode="auto">
              <a:xfrm>
                <a:off x="3600" y="2256"/>
                <a:ext cx="192" cy="48"/>
              </a:xfrm>
              <a:prstGeom prst="rect">
                <a:avLst/>
              </a:prstGeom>
              <a:solidFill>
                <a:srgbClr val="FF0000"/>
              </a:solidFill>
              <a:ln w="9525">
                <a:solidFill>
                  <a:schemeClr val="tx1"/>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1" name="Rectangle 12"/>
              <p:cNvSpPr>
                <a:spLocks noChangeArrowheads="1"/>
              </p:cNvSpPr>
              <p:nvPr/>
            </p:nvSpPr>
            <p:spPr bwMode="auto">
              <a:xfrm>
                <a:off x="3648" y="1584"/>
                <a:ext cx="528"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2" name="Rectangle 13"/>
              <p:cNvSpPr>
                <a:spLocks noChangeArrowheads="1"/>
              </p:cNvSpPr>
              <p:nvPr/>
            </p:nvSpPr>
            <p:spPr bwMode="auto">
              <a:xfrm>
                <a:off x="3840" y="1584"/>
                <a:ext cx="192" cy="48"/>
              </a:xfrm>
              <a:prstGeom prst="rect">
                <a:avLst/>
              </a:prstGeom>
              <a:solidFill>
                <a:srgbClr val="FF0000"/>
              </a:solidFill>
              <a:ln w="9525">
                <a:solidFill>
                  <a:srgbClr val="FF0000"/>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3" name="Line 14"/>
              <p:cNvSpPr>
                <a:spLocks noChangeShapeType="1"/>
              </p:cNvSpPr>
              <p:nvPr/>
            </p:nvSpPr>
            <p:spPr bwMode="auto">
              <a:xfrm flipV="1">
                <a:off x="3696" y="196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nvGrpSpPr>
              <p:cNvPr id="44" name="Group 15"/>
              <p:cNvGrpSpPr>
                <a:grpSpLocks/>
              </p:cNvGrpSpPr>
              <p:nvPr/>
            </p:nvGrpSpPr>
            <p:grpSpPr bwMode="auto">
              <a:xfrm>
                <a:off x="3984" y="2400"/>
                <a:ext cx="192" cy="432"/>
                <a:chOff x="1392" y="2976"/>
                <a:chExt cx="192" cy="288"/>
              </a:xfrm>
            </p:grpSpPr>
            <p:sp>
              <p:nvSpPr>
                <p:cNvPr id="57" name="Rectangle 16"/>
                <p:cNvSpPr>
                  <a:spLocks noChangeArrowheads="1"/>
                </p:cNvSpPr>
                <p:nvPr/>
              </p:nvSpPr>
              <p:spPr bwMode="auto">
                <a:xfrm>
                  <a:off x="1392" y="3072"/>
                  <a:ext cx="192" cy="192"/>
                </a:xfrm>
                <a:prstGeom prst="rect">
                  <a:avLst/>
                </a:prstGeom>
                <a:solidFill>
                  <a:schemeClr val="bg1"/>
                </a:solidFill>
                <a:ln w="9525">
                  <a:solidFill>
                    <a:srgbClr val="000000"/>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ea typeface="宋体" panose="02010600030101010101" pitchFamily="2" charset="-122"/>
                    </a:rPr>
                    <a:t>P</a:t>
                  </a:r>
                </a:p>
              </p:txBody>
            </p:sp>
            <p:sp>
              <p:nvSpPr>
                <p:cNvPr id="58" name="Line 17"/>
                <p:cNvSpPr>
                  <a:spLocks noChangeShapeType="1"/>
                </p:cNvSpPr>
                <p:nvPr/>
              </p:nvSpPr>
              <p:spPr bwMode="auto">
                <a:xfrm flipV="1">
                  <a:off x="1488" y="2976"/>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sp>
            <p:nvSpPr>
              <p:cNvPr id="45" name="Rectangle 18"/>
              <p:cNvSpPr>
                <a:spLocks noChangeArrowheads="1"/>
              </p:cNvSpPr>
              <p:nvPr/>
            </p:nvSpPr>
            <p:spPr bwMode="auto">
              <a:xfrm>
                <a:off x="3936" y="2160"/>
                <a:ext cx="28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6" name="Rectangle 19"/>
              <p:cNvSpPr>
                <a:spLocks noChangeArrowheads="1"/>
              </p:cNvSpPr>
              <p:nvPr/>
            </p:nvSpPr>
            <p:spPr bwMode="auto">
              <a:xfrm>
                <a:off x="3984" y="2256"/>
                <a:ext cx="192" cy="48"/>
              </a:xfrm>
              <a:prstGeom prst="rect">
                <a:avLst/>
              </a:prstGeom>
              <a:solidFill>
                <a:srgbClr val="0332B7"/>
              </a:solidFill>
              <a:ln w="9525">
                <a:solidFill>
                  <a:schemeClr val="tx1"/>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47" name="Line 20"/>
              <p:cNvSpPr>
                <a:spLocks noChangeShapeType="1"/>
              </p:cNvSpPr>
              <p:nvPr/>
            </p:nvSpPr>
            <p:spPr bwMode="auto">
              <a:xfrm flipV="1">
                <a:off x="4080" y="196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nvGrpSpPr>
              <p:cNvPr id="48" name="Group 21"/>
              <p:cNvGrpSpPr>
                <a:grpSpLocks/>
              </p:cNvGrpSpPr>
              <p:nvPr/>
            </p:nvGrpSpPr>
            <p:grpSpPr bwMode="auto">
              <a:xfrm>
                <a:off x="4800" y="2400"/>
                <a:ext cx="192" cy="432"/>
                <a:chOff x="1392" y="2976"/>
                <a:chExt cx="192" cy="288"/>
              </a:xfrm>
            </p:grpSpPr>
            <p:sp>
              <p:nvSpPr>
                <p:cNvPr id="55" name="Rectangle 22"/>
                <p:cNvSpPr>
                  <a:spLocks noChangeArrowheads="1"/>
                </p:cNvSpPr>
                <p:nvPr/>
              </p:nvSpPr>
              <p:spPr bwMode="auto">
                <a:xfrm>
                  <a:off x="1392" y="3072"/>
                  <a:ext cx="192" cy="192"/>
                </a:xfrm>
                <a:prstGeom prst="rect">
                  <a:avLst/>
                </a:prstGeom>
                <a:solidFill>
                  <a:schemeClr val="bg1"/>
                </a:solidFill>
                <a:ln w="9525">
                  <a:solidFill>
                    <a:srgbClr val="000000"/>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ea typeface="宋体" panose="02010600030101010101" pitchFamily="2" charset="-122"/>
                    </a:rPr>
                    <a:t>P</a:t>
                  </a:r>
                </a:p>
              </p:txBody>
            </p:sp>
            <p:sp>
              <p:nvSpPr>
                <p:cNvPr id="56" name="Line 23"/>
                <p:cNvSpPr>
                  <a:spLocks noChangeShapeType="1"/>
                </p:cNvSpPr>
                <p:nvPr/>
              </p:nvSpPr>
              <p:spPr bwMode="auto">
                <a:xfrm flipV="1">
                  <a:off x="1488" y="2976"/>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grpSp>
          <p:sp>
            <p:nvSpPr>
              <p:cNvPr id="49" name="Rectangle 24"/>
              <p:cNvSpPr>
                <a:spLocks noChangeArrowheads="1"/>
              </p:cNvSpPr>
              <p:nvPr/>
            </p:nvSpPr>
            <p:spPr bwMode="auto">
              <a:xfrm>
                <a:off x="4752" y="2160"/>
                <a:ext cx="28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50" name="Line 25"/>
              <p:cNvSpPr>
                <a:spLocks noChangeShapeType="1"/>
              </p:cNvSpPr>
              <p:nvPr/>
            </p:nvSpPr>
            <p:spPr bwMode="auto">
              <a:xfrm flipV="1">
                <a:off x="4896" y="196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bIns="0" anchor="ctr"/>
              <a:lstStyle/>
              <a:p>
                <a:endParaRPr lang="zh-CN" altLang="en-US"/>
              </a:p>
            </p:txBody>
          </p:sp>
          <p:sp>
            <p:nvSpPr>
              <p:cNvPr id="51" name="Rectangle 26"/>
              <p:cNvSpPr>
                <a:spLocks noChangeArrowheads="1"/>
              </p:cNvSpPr>
              <p:nvPr/>
            </p:nvSpPr>
            <p:spPr bwMode="auto">
              <a:xfrm>
                <a:off x="3888" y="1728"/>
                <a:ext cx="528"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52" name="Rectangle 27"/>
              <p:cNvSpPr>
                <a:spLocks noChangeArrowheads="1"/>
              </p:cNvSpPr>
              <p:nvPr/>
            </p:nvSpPr>
            <p:spPr bwMode="auto">
              <a:xfrm>
                <a:off x="4080" y="1728"/>
                <a:ext cx="192" cy="48"/>
              </a:xfrm>
              <a:prstGeom prst="rect">
                <a:avLst/>
              </a:prstGeom>
              <a:solidFill>
                <a:srgbClr val="0332B7"/>
              </a:solidFill>
              <a:ln w="9525">
                <a:solidFill>
                  <a:schemeClr val="tx1"/>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53" name="Rectangle 28"/>
              <p:cNvSpPr>
                <a:spLocks noChangeArrowheads="1"/>
              </p:cNvSpPr>
              <p:nvPr/>
            </p:nvSpPr>
            <p:spPr bwMode="auto">
              <a:xfrm>
                <a:off x="4464" y="1536"/>
                <a:ext cx="528"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54" name="Rectangle 29"/>
              <p:cNvSpPr>
                <a:spLocks noChangeArrowheads="1"/>
              </p:cNvSpPr>
              <p:nvPr/>
            </p:nvSpPr>
            <p:spPr bwMode="auto">
              <a:xfrm>
                <a:off x="4656" y="1536"/>
                <a:ext cx="192" cy="48"/>
              </a:xfrm>
              <a:prstGeom prst="rect">
                <a:avLst/>
              </a:prstGeom>
              <a:solidFill>
                <a:srgbClr val="FFFF00"/>
              </a:solidFill>
              <a:ln w="9525">
                <a:solidFill>
                  <a:schemeClr val="tx1"/>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grpSp>
        <p:cxnSp>
          <p:nvCxnSpPr>
            <p:cNvPr id="34" name="AutoShape 30"/>
            <p:cNvCxnSpPr>
              <a:cxnSpLocks noChangeShapeType="1"/>
              <a:stCxn id="42" idx="2"/>
              <a:endCxn id="40" idx="0"/>
            </p:cNvCxnSpPr>
            <p:nvPr/>
          </p:nvCxnSpPr>
          <p:spPr bwMode="auto">
            <a:xfrm rot="5400000">
              <a:off x="3836" y="1739"/>
              <a:ext cx="666" cy="292"/>
            </a:xfrm>
            <a:prstGeom prst="curvedConnector3">
              <a:avLst>
                <a:gd name="adj1" fmla="val 50000"/>
              </a:avLst>
            </a:prstGeom>
            <a:noFill/>
            <a:ln w="12700">
              <a:solidFill>
                <a:srgbClr val="114FFB"/>
              </a:solidFill>
              <a:round/>
              <a:headEnd/>
              <a:tailEnd type="triangle" w="med" len="med"/>
            </a:ln>
            <a:extLst>
              <a:ext uri="{909E8E84-426E-40DD-AFC4-6F175D3DCCD1}">
                <a14:hiddenFill xmlns:a14="http://schemas.microsoft.com/office/drawing/2010/main">
                  <a:noFill/>
                </a14:hiddenFill>
              </a:ext>
            </a:extLst>
          </p:spPr>
        </p:cxnSp>
        <p:sp>
          <p:nvSpPr>
            <p:cNvPr id="35" name="Rectangle 31"/>
            <p:cNvSpPr>
              <a:spLocks noChangeArrowheads="1"/>
            </p:cNvSpPr>
            <p:nvPr/>
          </p:nvSpPr>
          <p:spPr bwMode="auto">
            <a:xfrm>
              <a:off x="5356" y="2256"/>
              <a:ext cx="208" cy="48"/>
            </a:xfrm>
            <a:prstGeom prst="rect">
              <a:avLst/>
            </a:prstGeom>
            <a:solidFill>
              <a:srgbClr val="FF0000"/>
            </a:solidFill>
            <a:ln w="9525">
              <a:solidFill>
                <a:schemeClr val="tx1"/>
              </a:solidFill>
              <a:miter lim="800000"/>
              <a:headEnd/>
              <a:tailEnd/>
            </a:ln>
          </p:spPr>
          <p:txBody>
            <a:bodyPr wrap="none" bIns="0"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36" name="Line 32"/>
            <p:cNvSpPr>
              <a:spLocks noChangeShapeType="1"/>
            </p:cNvSpPr>
            <p:nvPr/>
          </p:nvSpPr>
          <p:spPr bwMode="auto">
            <a:xfrm>
              <a:off x="4316" y="1536"/>
              <a:ext cx="1092"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bIns="0" anchor="ctr"/>
            <a:lstStyle/>
            <a:p>
              <a:endParaRPr lang="zh-CN" altLang="en-US"/>
            </a:p>
          </p:txBody>
        </p:sp>
      </p:grpSp>
      <p:sp>
        <p:nvSpPr>
          <p:cNvPr id="4" name="矩形 3"/>
          <p:cNvSpPr/>
          <p:nvPr/>
        </p:nvSpPr>
        <p:spPr>
          <a:xfrm>
            <a:off x="8462242" y="4990185"/>
            <a:ext cx="3386182" cy="830997"/>
          </a:xfrm>
          <a:prstGeom prst="rect">
            <a:avLst/>
          </a:prstGeom>
        </p:spPr>
        <p:txBody>
          <a:bodyPr wrap="square">
            <a:spAutoFit/>
          </a:bodyPr>
          <a:lstStyle/>
          <a:p>
            <a:pPr lvl="1"/>
            <a:r>
              <a:rPr lang="en-US" altLang="zh-CN" sz="2400" dirty="0"/>
              <a:t>store </a:t>
            </a:r>
            <a:r>
              <a:rPr lang="en-US" altLang="zh-CN" sz="2400" dirty="0" err="1"/>
              <a:t>reg</a:t>
            </a:r>
            <a:r>
              <a:rPr lang="en-US" altLang="zh-CN" sz="2400" dirty="0"/>
              <a:t> --&gt; mem</a:t>
            </a:r>
          </a:p>
          <a:p>
            <a:pPr lvl="1"/>
            <a:r>
              <a:rPr lang="en-US" altLang="zh-CN" sz="2400" dirty="0"/>
              <a:t>load  </a:t>
            </a:r>
            <a:r>
              <a:rPr lang="en-US" altLang="zh-CN" sz="2400" dirty="0" err="1"/>
              <a:t>reg</a:t>
            </a:r>
            <a:r>
              <a:rPr lang="en-US" altLang="zh-CN" sz="2400" dirty="0"/>
              <a:t> &lt;-- mem</a:t>
            </a:r>
          </a:p>
        </p:txBody>
      </p:sp>
    </p:spTree>
    <p:extLst>
      <p:ext uri="{BB962C8B-B14F-4D97-AF65-F5344CB8AC3E}">
        <p14:creationId xmlns:p14="http://schemas.microsoft.com/office/powerpoint/2010/main" val="10137620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Cache</a:t>
            </a:r>
            <a:r>
              <a:rPr kumimoji="1" lang="zh-CN" altLang="en-US" dirty="0" smtClean="0"/>
              <a:t>数据不同一的问题</a:t>
            </a:r>
            <a:endParaRPr kumimoji="1" lang="zh-CN" altLang="en-US" dirty="0"/>
          </a:p>
        </p:txBody>
      </p:sp>
      <p:sp>
        <p:nvSpPr>
          <p:cNvPr id="3" name="内容占位符 2"/>
          <p:cNvSpPr>
            <a:spLocks noGrp="1"/>
          </p:cNvSpPr>
          <p:nvPr>
            <p:ph idx="1"/>
          </p:nvPr>
        </p:nvSpPr>
        <p:spPr>
          <a:xfrm>
            <a:off x="623392" y="4922838"/>
            <a:ext cx="9536608" cy="1063053"/>
          </a:xfrm>
        </p:spPr>
        <p:txBody>
          <a:bodyPr/>
          <a:lstStyle/>
          <a:p>
            <a:r>
              <a:rPr lang="zh-CN" altLang="en-US" sz="2400" dirty="0"/>
              <a:t>第</a:t>
            </a:r>
            <a:r>
              <a:rPr lang="en-US" altLang="zh-CN" sz="2400" dirty="0"/>
              <a:t>3</a:t>
            </a:r>
            <a:r>
              <a:rPr lang="zh-CN" altLang="en-US" sz="2400" dirty="0"/>
              <a:t>步后，</a:t>
            </a:r>
            <a:r>
              <a:rPr kumimoji="1" lang="zh-CN" altLang="en-US" sz="2400" dirty="0"/>
              <a:t>处理器们看到不同的</a:t>
            </a:r>
            <a:r>
              <a:rPr kumimoji="1" lang="en-US" altLang="zh-CN" sz="2400" dirty="0"/>
              <a:t>u</a:t>
            </a:r>
            <a:r>
              <a:rPr kumimoji="1" lang="zh-CN" altLang="en-US" sz="2400" dirty="0"/>
              <a:t>值</a:t>
            </a:r>
            <a:endParaRPr kumimoji="1" lang="en-US" altLang="zh-CN" sz="2400" dirty="0"/>
          </a:p>
          <a:p>
            <a:r>
              <a:rPr kumimoji="1" lang="zh-CN" altLang="en-US" sz="2400" dirty="0"/>
              <a:t>对直写型</a:t>
            </a:r>
            <a:r>
              <a:rPr lang="en-US" altLang="zh-CN" sz="2400" dirty="0"/>
              <a:t>cache</a:t>
            </a:r>
            <a:r>
              <a:rPr lang="zh-CN" altLang="en-US" sz="2400" dirty="0"/>
              <a:t>，不命中的读操作可得到存储器中新值</a:t>
            </a:r>
            <a:endParaRPr kumimoji="1" lang="en-US" altLang="zh-CN" sz="2400" dirty="0"/>
          </a:p>
          <a:p>
            <a:r>
              <a:rPr kumimoji="1" lang="zh-CN" altLang="en-US" sz="2400" dirty="0"/>
              <a:t>对后写型</a:t>
            </a:r>
            <a:r>
              <a:rPr kumimoji="1" lang="en-US" altLang="zh-CN" sz="2400" dirty="0"/>
              <a:t>cache</a:t>
            </a:r>
            <a:r>
              <a:rPr kumimoji="1" lang="zh-CN" altLang="en-US" sz="2400" dirty="0"/>
              <a:t>，存储器中的值可能已经非常</a:t>
            </a:r>
            <a:r>
              <a:rPr kumimoji="1" lang="zh-CN" altLang="en-US" sz="2400" dirty="0">
                <a:solidFill>
                  <a:srgbClr val="FF0000"/>
                </a:solidFill>
              </a:rPr>
              <a:t>陈旧</a:t>
            </a:r>
            <a:r>
              <a:rPr kumimoji="1" lang="zh-CN" altLang="en-US" sz="2400" dirty="0"/>
              <a:t>了</a:t>
            </a:r>
            <a:endParaRPr kumimoji="1" lang="en-US" altLang="zh-CN" sz="2400" dirty="0"/>
          </a:p>
          <a:p>
            <a:r>
              <a:rPr lang="zh-CN" altLang="en-US" sz="2400" dirty="0"/>
              <a:t>两种情况，对程序都是不可接受的</a:t>
            </a:r>
            <a:endParaRPr kumimoji="1" lang="zh-CN" altLang="en-US" sz="2400" dirty="0"/>
          </a:p>
        </p:txBody>
      </p:sp>
      <p:sp>
        <p:nvSpPr>
          <p:cNvPr id="93" name="Line 4"/>
          <p:cNvSpPr>
            <a:spLocks noChangeShapeType="1"/>
          </p:cNvSpPr>
          <p:nvPr/>
        </p:nvSpPr>
        <p:spPr bwMode="auto">
          <a:xfrm>
            <a:off x="872728" y="3462739"/>
            <a:ext cx="5827713" cy="15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5"/>
          <p:cNvSpPr>
            <a:spLocks noChangeShapeType="1"/>
          </p:cNvSpPr>
          <p:nvPr/>
        </p:nvSpPr>
        <p:spPr bwMode="auto">
          <a:xfrm>
            <a:off x="2520553" y="3462739"/>
            <a:ext cx="1588" cy="33496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Rectangle 6"/>
          <p:cNvSpPr>
            <a:spLocks noChangeArrowheads="1"/>
          </p:cNvSpPr>
          <p:nvPr/>
        </p:nvSpPr>
        <p:spPr bwMode="auto">
          <a:xfrm>
            <a:off x="1602978" y="3772301"/>
            <a:ext cx="1820863" cy="663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96" name="Rectangle 7"/>
          <p:cNvSpPr>
            <a:spLocks noChangeArrowheads="1"/>
          </p:cNvSpPr>
          <p:nvPr/>
        </p:nvSpPr>
        <p:spPr bwMode="auto">
          <a:xfrm>
            <a:off x="1602978" y="3797701"/>
            <a:ext cx="1820863" cy="638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97" name="Rectangle 8"/>
          <p:cNvSpPr>
            <a:spLocks noChangeArrowheads="1"/>
          </p:cNvSpPr>
          <p:nvPr/>
        </p:nvSpPr>
        <p:spPr bwMode="auto">
          <a:xfrm>
            <a:off x="5243116" y="3875489"/>
            <a:ext cx="7620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I/O devices</a:t>
            </a:r>
            <a:endParaRPr lang="en-US" altLang="zh-CN" sz="1400">
              <a:ea typeface="宋体" panose="02010600030101010101" pitchFamily="2" charset="-122"/>
            </a:endParaRPr>
          </a:p>
        </p:txBody>
      </p:sp>
      <p:sp>
        <p:nvSpPr>
          <p:cNvPr id="98" name="Rectangle 9"/>
          <p:cNvSpPr>
            <a:spLocks noChangeArrowheads="1"/>
          </p:cNvSpPr>
          <p:nvPr/>
        </p:nvSpPr>
        <p:spPr bwMode="auto">
          <a:xfrm>
            <a:off x="2466578" y="3902476"/>
            <a:ext cx="549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Memory</a:t>
            </a:r>
            <a:endParaRPr lang="en-US" altLang="zh-CN" sz="1400">
              <a:ea typeface="宋体" panose="02010600030101010101" pitchFamily="2" charset="-122"/>
            </a:endParaRPr>
          </a:p>
        </p:txBody>
      </p:sp>
      <p:sp>
        <p:nvSpPr>
          <p:cNvPr id="99" name="Line 10"/>
          <p:cNvSpPr>
            <a:spLocks noChangeShapeType="1"/>
          </p:cNvSpPr>
          <p:nvPr/>
        </p:nvSpPr>
        <p:spPr bwMode="auto">
          <a:xfrm>
            <a:off x="1422003" y="3126189"/>
            <a:ext cx="1588" cy="336550"/>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1"/>
          <p:cNvSpPr>
            <a:spLocks noChangeShapeType="1"/>
          </p:cNvSpPr>
          <p:nvPr/>
        </p:nvSpPr>
        <p:spPr bwMode="auto">
          <a:xfrm>
            <a:off x="1422003" y="2287989"/>
            <a:ext cx="1588" cy="1666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2"/>
          <p:cNvSpPr>
            <a:spLocks/>
          </p:cNvSpPr>
          <p:nvPr/>
        </p:nvSpPr>
        <p:spPr bwMode="auto">
          <a:xfrm>
            <a:off x="1058466" y="1616476"/>
            <a:ext cx="728662" cy="671513"/>
          </a:xfrm>
          <a:custGeom>
            <a:avLst/>
            <a:gdLst>
              <a:gd name="T0" fmla="*/ 723494 w 423"/>
              <a:gd name="T1" fmla="*/ 331788 h 423"/>
              <a:gd name="T2" fmla="*/ 723494 w 423"/>
              <a:gd name="T3" fmla="*/ 388938 h 423"/>
              <a:gd name="T4" fmla="*/ 709713 w 423"/>
              <a:gd name="T5" fmla="*/ 438150 h 423"/>
              <a:gd name="T6" fmla="*/ 685597 w 423"/>
              <a:gd name="T7" fmla="*/ 487363 h 423"/>
              <a:gd name="T8" fmla="*/ 656313 w 423"/>
              <a:gd name="T9" fmla="*/ 533400 h 423"/>
              <a:gd name="T10" fmla="*/ 621861 w 423"/>
              <a:gd name="T11" fmla="*/ 573088 h 423"/>
              <a:gd name="T12" fmla="*/ 578795 w 423"/>
              <a:gd name="T13" fmla="*/ 604838 h 423"/>
              <a:gd name="T14" fmla="*/ 528840 w 423"/>
              <a:gd name="T15" fmla="*/ 631825 h 423"/>
              <a:gd name="T16" fmla="*/ 480607 w 423"/>
              <a:gd name="T17" fmla="*/ 654050 h 423"/>
              <a:gd name="T18" fmla="*/ 422038 w 423"/>
              <a:gd name="T19" fmla="*/ 666750 h 423"/>
              <a:gd name="T20" fmla="*/ 363470 w 423"/>
              <a:gd name="T21" fmla="*/ 671513 h 423"/>
              <a:gd name="T22" fmla="*/ 306624 w 423"/>
              <a:gd name="T23" fmla="*/ 666750 h 423"/>
              <a:gd name="T24" fmla="*/ 248055 w 423"/>
              <a:gd name="T25" fmla="*/ 654050 h 423"/>
              <a:gd name="T26" fmla="*/ 194654 w 423"/>
              <a:gd name="T27" fmla="*/ 631825 h 423"/>
              <a:gd name="T28" fmla="*/ 149867 w 423"/>
              <a:gd name="T29" fmla="*/ 604838 h 423"/>
              <a:gd name="T30" fmla="*/ 106802 w 423"/>
              <a:gd name="T31" fmla="*/ 573088 h 423"/>
              <a:gd name="T32" fmla="*/ 67182 w 423"/>
              <a:gd name="T33" fmla="*/ 533400 h 423"/>
              <a:gd name="T34" fmla="*/ 37897 w 423"/>
              <a:gd name="T35" fmla="*/ 487363 h 423"/>
              <a:gd name="T36" fmla="*/ 18949 w 423"/>
              <a:gd name="T37" fmla="*/ 438150 h 423"/>
              <a:gd name="T38" fmla="*/ 5168 w 423"/>
              <a:gd name="T39" fmla="*/ 388938 h 423"/>
              <a:gd name="T40" fmla="*/ 0 w 423"/>
              <a:gd name="T41" fmla="*/ 336550 h 423"/>
              <a:gd name="T42" fmla="*/ 5168 w 423"/>
              <a:gd name="T43" fmla="*/ 282575 h 423"/>
              <a:gd name="T44" fmla="*/ 18949 w 423"/>
              <a:gd name="T45" fmla="*/ 228600 h 423"/>
              <a:gd name="T46" fmla="*/ 37897 w 423"/>
              <a:gd name="T47" fmla="*/ 179388 h 423"/>
              <a:gd name="T48" fmla="*/ 67182 w 423"/>
              <a:gd name="T49" fmla="*/ 134938 h 423"/>
              <a:gd name="T50" fmla="*/ 106802 w 423"/>
              <a:gd name="T51" fmla="*/ 98425 h 423"/>
              <a:gd name="T52" fmla="*/ 149867 w 423"/>
              <a:gd name="T53" fmla="*/ 61913 h 423"/>
              <a:gd name="T54" fmla="*/ 194654 w 423"/>
              <a:gd name="T55" fmla="*/ 34925 h 423"/>
              <a:gd name="T56" fmla="*/ 248055 w 423"/>
              <a:gd name="T57" fmla="*/ 17463 h 423"/>
              <a:gd name="T58" fmla="*/ 306624 w 423"/>
              <a:gd name="T59" fmla="*/ 4763 h 423"/>
              <a:gd name="T60" fmla="*/ 363470 w 423"/>
              <a:gd name="T61" fmla="*/ 0 h 423"/>
              <a:gd name="T62" fmla="*/ 422038 w 423"/>
              <a:gd name="T63" fmla="*/ 4763 h 423"/>
              <a:gd name="T64" fmla="*/ 480607 w 423"/>
              <a:gd name="T65" fmla="*/ 17463 h 423"/>
              <a:gd name="T66" fmla="*/ 528840 w 423"/>
              <a:gd name="T67" fmla="*/ 34925 h 423"/>
              <a:gd name="T68" fmla="*/ 578795 w 423"/>
              <a:gd name="T69" fmla="*/ 61913 h 423"/>
              <a:gd name="T70" fmla="*/ 621861 w 423"/>
              <a:gd name="T71" fmla="*/ 98425 h 423"/>
              <a:gd name="T72" fmla="*/ 656313 w 423"/>
              <a:gd name="T73" fmla="*/ 134938 h 423"/>
              <a:gd name="T74" fmla="*/ 685597 w 423"/>
              <a:gd name="T75" fmla="*/ 179388 h 423"/>
              <a:gd name="T76" fmla="*/ 709713 w 423"/>
              <a:gd name="T77" fmla="*/ 228600 h 423"/>
              <a:gd name="T78" fmla="*/ 723494 w 423"/>
              <a:gd name="T79" fmla="*/ 282575 h 423"/>
              <a:gd name="T80" fmla="*/ 728662 w 423"/>
              <a:gd name="T81" fmla="*/ 336550 h 423"/>
              <a:gd name="T82" fmla="*/ 723494 w 423"/>
              <a:gd name="T83" fmla="*/ 331788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3"/>
              <a:gd name="T127" fmla="*/ 0 h 423"/>
              <a:gd name="T128" fmla="*/ 423 w 423"/>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3" h="423">
                <a:moveTo>
                  <a:pt x="420" y="209"/>
                </a:moveTo>
                <a:lnTo>
                  <a:pt x="420" y="245"/>
                </a:lnTo>
                <a:lnTo>
                  <a:pt x="412" y="276"/>
                </a:lnTo>
                <a:lnTo>
                  <a:pt x="398" y="307"/>
                </a:lnTo>
                <a:lnTo>
                  <a:pt x="381" y="336"/>
                </a:lnTo>
                <a:lnTo>
                  <a:pt x="361" y="361"/>
                </a:lnTo>
                <a:lnTo>
                  <a:pt x="336" y="381"/>
                </a:lnTo>
                <a:lnTo>
                  <a:pt x="307" y="398"/>
                </a:lnTo>
                <a:lnTo>
                  <a:pt x="279" y="412"/>
                </a:lnTo>
                <a:lnTo>
                  <a:pt x="245" y="420"/>
                </a:lnTo>
                <a:lnTo>
                  <a:pt x="211" y="423"/>
                </a:lnTo>
                <a:lnTo>
                  <a:pt x="178" y="420"/>
                </a:lnTo>
                <a:lnTo>
                  <a:pt x="144" y="412"/>
                </a:lnTo>
                <a:lnTo>
                  <a:pt x="113" y="398"/>
                </a:lnTo>
                <a:lnTo>
                  <a:pt x="87" y="381"/>
                </a:lnTo>
                <a:lnTo>
                  <a:pt x="62" y="361"/>
                </a:lnTo>
                <a:lnTo>
                  <a:pt x="39" y="336"/>
                </a:lnTo>
                <a:lnTo>
                  <a:pt x="22" y="307"/>
                </a:lnTo>
                <a:lnTo>
                  <a:pt x="11" y="276"/>
                </a:lnTo>
                <a:lnTo>
                  <a:pt x="3" y="245"/>
                </a:lnTo>
                <a:lnTo>
                  <a:pt x="0" y="212"/>
                </a:lnTo>
                <a:lnTo>
                  <a:pt x="3" y="178"/>
                </a:lnTo>
                <a:lnTo>
                  <a:pt x="11" y="144"/>
                </a:lnTo>
                <a:lnTo>
                  <a:pt x="22" y="113"/>
                </a:lnTo>
                <a:lnTo>
                  <a:pt x="39" y="85"/>
                </a:lnTo>
                <a:lnTo>
                  <a:pt x="62" y="62"/>
                </a:lnTo>
                <a:lnTo>
                  <a:pt x="87" y="39"/>
                </a:lnTo>
                <a:lnTo>
                  <a:pt x="113" y="22"/>
                </a:lnTo>
                <a:lnTo>
                  <a:pt x="144" y="11"/>
                </a:lnTo>
                <a:lnTo>
                  <a:pt x="178" y="3"/>
                </a:lnTo>
                <a:lnTo>
                  <a:pt x="211" y="0"/>
                </a:lnTo>
                <a:lnTo>
                  <a:pt x="245" y="3"/>
                </a:lnTo>
                <a:lnTo>
                  <a:pt x="279" y="11"/>
                </a:lnTo>
                <a:lnTo>
                  <a:pt x="307" y="22"/>
                </a:lnTo>
                <a:lnTo>
                  <a:pt x="336" y="39"/>
                </a:lnTo>
                <a:lnTo>
                  <a:pt x="361" y="62"/>
                </a:lnTo>
                <a:lnTo>
                  <a:pt x="381" y="85"/>
                </a:lnTo>
                <a:lnTo>
                  <a:pt x="398" y="113"/>
                </a:lnTo>
                <a:lnTo>
                  <a:pt x="412" y="144"/>
                </a:lnTo>
                <a:lnTo>
                  <a:pt x="420" y="178"/>
                </a:lnTo>
                <a:lnTo>
                  <a:pt x="423" y="212"/>
                </a:lnTo>
                <a:lnTo>
                  <a:pt x="420" y="2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Freeform 13"/>
          <p:cNvSpPr>
            <a:spLocks/>
          </p:cNvSpPr>
          <p:nvPr/>
        </p:nvSpPr>
        <p:spPr bwMode="auto">
          <a:xfrm>
            <a:off x="1058466" y="1616476"/>
            <a:ext cx="728662" cy="671513"/>
          </a:xfrm>
          <a:custGeom>
            <a:avLst/>
            <a:gdLst>
              <a:gd name="T0" fmla="*/ 723494 w 423"/>
              <a:gd name="T1" fmla="*/ 331788 h 423"/>
              <a:gd name="T2" fmla="*/ 723494 w 423"/>
              <a:gd name="T3" fmla="*/ 282575 h 423"/>
              <a:gd name="T4" fmla="*/ 709713 w 423"/>
              <a:gd name="T5" fmla="*/ 228600 h 423"/>
              <a:gd name="T6" fmla="*/ 685597 w 423"/>
              <a:gd name="T7" fmla="*/ 179388 h 423"/>
              <a:gd name="T8" fmla="*/ 656313 w 423"/>
              <a:gd name="T9" fmla="*/ 134938 h 423"/>
              <a:gd name="T10" fmla="*/ 621861 w 423"/>
              <a:gd name="T11" fmla="*/ 98425 h 423"/>
              <a:gd name="T12" fmla="*/ 578795 w 423"/>
              <a:gd name="T13" fmla="*/ 61913 h 423"/>
              <a:gd name="T14" fmla="*/ 528840 w 423"/>
              <a:gd name="T15" fmla="*/ 34925 h 423"/>
              <a:gd name="T16" fmla="*/ 480607 w 423"/>
              <a:gd name="T17" fmla="*/ 17463 h 423"/>
              <a:gd name="T18" fmla="*/ 422038 w 423"/>
              <a:gd name="T19" fmla="*/ 4763 h 423"/>
              <a:gd name="T20" fmla="*/ 363470 w 423"/>
              <a:gd name="T21" fmla="*/ 0 h 423"/>
              <a:gd name="T22" fmla="*/ 306624 w 423"/>
              <a:gd name="T23" fmla="*/ 4763 h 423"/>
              <a:gd name="T24" fmla="*/ 248055 w 423"/>
              <a:gd name="T25" fmla="*/ 17463 h 423"/>
              <a:gd name="T26" fmla="*/ 194654 w 423"/>
              <a:gd name="T27" fmla="*/ 34925 h 423"/>
              <a:gd name="T28" fmla="*/ 149867 w 423"/>
              <a:gd name="T29" fmla="*/ 61913 h 423"/>
              <a:gd name="T30" fmla="*/ 106802 w 423"/>
              <a:gd name="T31" fmla="*/ 98425 h 423"/>
              <a:gd name="T32" fmla="*/ 67182 w 423"/>
              <a:gd name="T33" fmla="*/ 134938 h 423"/>
              <a:gd name="T34" fmla="*/ 37897 w 423"/>
              <a:gd name="T35" fmla="*/ 179388 h 423"/>
              <a:gd name="T36" fmla="*/ 18949 w 423"/>
              <a:gd name="T37" fmla="*/ 228600 h 423"/>
              <a:gd name="T38" fmla="*/ 5168 w 423"/>
              <a:gd name="T39" fmla="*/ 282575 h 423"/>
              <a:gd name="T40" fmla="*/ 0 w 423"/>
              <a:gd name="T41" fmla="*/ 336550 h 423"/>
              <a:gd name="T42" fmla="*/ 5168 w 423"/>
              <a:gd name="T43" fmla="*/ 388938 h 423"/>
              <a:gd name="T44" fmla="*/ 18949 w 423"/>
              <a:gd name="T45" fmla="*/ 438150 h 423"/>
              <a:gd name="T46" fmla="*/ 37897 w 423"/>
              <a:gd name="T47" fmla="*/ 487363 h 423"/>
              <a:gd name="T48" fmla="*/ 67182 w 423"/>
              <a:gd name="T49" fmla="*/ 533400 h 423"/>
              <a:gd name="T50" fmla="*/ 106802 w 423"/>
              <a:gd name="T51" fmla="*/ 573088 h 423"/>
              <a:gd name="T52" fmla="*/ 149867 w 423"/>
              <a:gd name="T53" fmla="*/ 604838 h 423"/>
              <a:gd name="T54" fmla="*/ 194654 w 423"/>
              <a:gd name="T55" fmla="*/ 631825 h 423"/>
              <a:gd name="T56" fmla="*/ 248055 w 423"/>
              <a:gd name="T57" fmla="*/ 654050 h 423"/>
              <a:gd name="T58" fmla="*/ 306624 w 423"/>
              <a:gd name="T59" fmla="*/ 666750 h 423"/>
              <a:gd name="T60" fmla="*/ 363470 w 423"/>
              <a:gd name="T61" fmla="*/ 671513 h 423"/>
              <a:gd name="T62" fmla="*/ 422038 w 423"/>
              <a:gd name="T63" fmla="*/ 666750 h 423"/>
              <a:gd name="T64" fmla="*/ 480607 w 423"/>
              <a:gd name="T65" fmla="*/ 654050 h 423"/>
              <a:gd name="T66" fmla="*/ 528840 w 423"/>
              <a:gd name="T67" fmla="*/ 631825 h 423"/>
              <a:gd name="T68" fmla="*/ 578795 w 423"/>
              <a:gd name="T69" fmla="*/ 604838 h 423"/>
              <a:gd name="T70" fmla="*/ 621861 w 423"/>
              <a:gd name="T71" fmla="*/ 573088 h 423"/>
              <a:gd name="T72" fmla="*/ 656313 w 423"/>
              <a:gd name="T73" fmla="*/ 533400 h 423"/>
              <a:gd name="T74" fmla="*/ 685597 w 423"/>
              <a:gd name="T75" fmla="*/ 487363 h 423"/>
              <a:gd name="T76" fmla="*/ 709713 w 423"/>
              <a:gd name="T77" fmla="*/ 438150 h 423"/>
              <a:gd name="T78" fmla="*/ 723494 w 423"/>
              <a:gd name="T79" fmla="*/ 388938 h 423"/>
              <a:gd name="T80" fmla="*/ 728662 w 423"/>
              <a:gd name="T81" fmla="*/ 336550 h 423"/>
              <a:gd name="T82" fmla="*/ 728662 w 423"/>
              <a:gd name="T83" fmla="*/ 336550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3"/>
              <a:gd name="T127" fmla="*/ 0 h 423"/>
              <a:gd name="T128" fmla="*/ 423 w 423"/>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3" h="423">
                <a:moveTo>
                  <a:pt x="420" y="209"/>
                </a:moveTo>
                <a:lnTo>
                  <a:pt x="420" y="178"/>
                </a:lnTo>
                <a:lnTo>
                  <a:pt x="412" y="144"/>
                </a:lnTo>
                <a:lnTo>
                  <a:pt x="398" y="113"/>
                </a:lnTo>
                <a:lnTo>
                  <a:pt x="381" y="85"/>
                </a:lnTo>
                <a:lnTo>
                  <a:pt x="361" y="62"/>
                </a:lnTo>
                <a:lnTo>
                  <a:pt x="336" y="39"/>
                </a:lnTo>
                <a:lnTo>
                  <a:pt x="307" y="22"/>
                </a:lnTo>
                <a:lnTo>
                  <a:pt x="279" y="11"/>
                </a:lnTo>
                <a:lnTo>
                  <a:pt x="245" y="3"/>
                </a:lnTo>
                <a:lnTo>
                  <a:pt x="211" y="0"/>
                </a:lnTo>
                <a:lnTo>
                  <a:pt x="178" y="3"/>
                </a:lnTo>
                <a:lnTo>
                  <a:pt x="144" y="11"/>
                </a:lnTo>
                <a:lnTo>
                  <a:pt x="113" y="22"/>
                </a:lnTo>
                <a:lnTo>
                  <a:pt x="87" y="39"/>
                </a:lnTo>
                <a:lnTo>
                  <a:pt x="62" y="62"/>
                </a:lnTo>
                <a:lnTo>
                  <a:pt x="39" y="85"/>
                </a:lnTo>
                <a:lnTo>
                  <a:pt x="22" y="113"/>
                </a:lnTo>
                <a:lnTo>
                  <a:pt x="11" y="144"/>
                </a:lnTo>
                <a:lnTo>
                  <a:pt x="3" y="178"/>
                </a:lnTo>
                <a:lnTo>
                  <a:pt x="0" y="212"/>
                </a:lnTo>
                <a:lnTo>
                  <a:pt x="3" y="245"/>
                </a:lnTo>
                <a:lnTo>
                  <a:pt x="11" y="276"/>
                </a:lnTo>
                <a:lnTo>
                  <a:pt x="22" y="307"/>
                </a:lnTo>
                <a:lnTo>
                  <a:pt x="39" y="336"/>
                </a:lnTo>
                <a:lnTo>
                  <a:pt x="62" y="361"/>
                </a:lnTo>
                <a:lnTo>
                  <a:pt x="87" y="381"/>
                </a:lnTo>
                <a:lnTo>
                  <a:pt x="113" y="398"/>
                </a:lnTo>
                <a:lnTo>
                  <a:pt x="144" y="412"/>
                </a:lnTo>
                <a:lnTo>
                  <a:pt x="178" y="420"/>
                </a:lnTo>
                <a:lnTo>
                  <a:pt x="211" y="423"/>
                </a:lnTo>
                <a:lnTo>
                  <a:pt x="245" y="420"/>
                </a:lnTo>
                <a:lnTo>
                  <a:pt x="279" y="412"/>
                </a:lnTo>
                <a:lnTo>
                  <a:pt x="307" y="398"/>
                </a:lnTo>
                <a:lnTo>
                  <a:pt x="336" y="381"/>
                </a:lnTo>
                <a:lnTo>
                  <a:pt x="361" y="361"/>
                </a:lnTo>
                <a:lnTo>
                  <a:pt x="381" y="336"/>
                </a:lnTo>
                <a:lnTo>
                  <a:pt x="398" y="307"/>
                </a:lnTo>
                <a:lnTo>
                  <a:pt x="412" y="276"/>
                </a:lnTo>
                <a:lnTo>
                  <a:pt x="420" y="245"/>
                </a:lnTo>
                <a:lnTo>
                  <a:pt x="423" y="212"/>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 name="Rectangle 14"/>
          <p:cNvSpPr>
            <a:spLocks noChangeArrowheads="1"/>
          </p:cNvSpPr>
          <p:nvPr/>
        </p:nvSpPr>
        <p:spPr bwMode="auto">
          <a:xfrm>
            <a:off x="872728" y="2454676"/>
            <a:ext cx="1095375" cy="6715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04" name="Rectangle 15"/>
          <p:cNvSpPr>
            <a:spLocks noChangeArrowheads="1"/>
          </p:cNvSpPr>
          <p:nvPr/>
        </p:nvSpPr>
        <p:spPr bwMode="auto">
          <a:xfrm>
            <a:off x="872728" y="2454676"/>
            <a:ext cx="1095375" cy="671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05" name="Rectangle 16"/>
          <p:cNvSpPr>
            <a:spLocks noChangeArrowheads="1"/>
          </p:cNvSpPr>
          <p:nvPr/>
        </p:nvSpPr>
        <p:spPr bwMode="auto">
          <a:xfrm>
            <a:off x="1320403" y="1864126"/>
            <a:ext cx="1857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P1</a:t>
            </a:r>
            <a:endParaRPr lang="en-US" altLang="zh-CN" sz="1400">
              <a:ea typeface="宋体" panose="02010600030101010101" pitchFamily="2" charset="-122"/>
            </a:endParaRPr>
          </a:p>
        </p:txBody>
      </p:sp>
      <p:sp>
        <p:nvSpPr>
          <p:cNvPr id="106" name="Rectangle 17"/>
          <p:cNvSpPr>
            <a:spLocks noChangeArrowheads="1"/>
          </p:cNvSpPr>
          <p:nvPr/>
        </p:nvSpPr>
        <p:spPr bwMode="auto">
          <a:xfrm>
            <a:off x="942578" y="2545164"/>
            <a:ext cx="4048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107" name="Line 18"/>
          <p:cNvSpPr>
            <a:spLocks noChangeShapeType="1"/>
          </p:cNvSpPr>
          <p:nvPr/>
        </p:nvSpPr>
        <p:spPr bwMode="auto">
          <a:xfrm>
            <a:off x="5608241" y="3462739"/>
            <a:ext cx="1587" cy="33496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19"/>
          <p:cNvSpPr>
            <a:spLocks noChangeShapeType="1"/>
          </p:cNvSpPr>
          <p:nvPr/>
        </p:nvSpPr>
        <p:spPr bwMode="auto">
          <a:xfrm>
            <a:off x="3787378" y="3126189"/>
            <a:ext cx="1588" cy="336550"/>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20"/>
          <p:cNvSpPr>
            <a:spLocks noChangeShapeType="1"/>
          </p:cNvSpPr>
          <p:nvPr/>
        </p:nvSpPr>
        <p:spPr bwMode="auto">
          <a:xfrm>
            <a:off x="3787378" y="2287989"/>
            <a:ext cx="1588" cy="1666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Freeform 21"/>
          <p:cNvSpPr>
            <a:spLocks/>
          </p:cNvSpPr>
          <p:nvPr/>
        </p:nvSpPr>
        <p:spPr bwMode="auto">
          <a:xfrm>
            <a:off x="3423841" y="1616476"/>
            <a:ext cx="727075" cy="671513"/>
          </a:xfrm>
          <a:custGeom>
            <a:avLst/>
            <a:gdLst>
              <a:gd name="T0" fmla="*/ 727075 w 423"/>
              <a:gd name="T1" fmla="*/ 331788 h 423"/>
              <a:gd name="T2" fmla="*/ 721918 w 423"/>
              <a:gd name="T3" fmla="*/ 388938 h 423"/>
              <a:gd name="T4" fmla="*/ 708168 w 423"/>
              <a:gd name="T5" fmla="*/ 438150 h 423"/>
              <a:gd name="T6" fmla="*/ 687541 w 423"/>
              <a:gd name="T7" fmla="*/ 487363 h 423"/>
              <a:gd name="T8" fmla="*/ 660040 w 423"/>
              <a:gd name="T9" fmla="*/ 533400 h 423"/>
              <a:gd name="T10" fmla="*/ 620506 w 423"/>
              <a:gd name="T11" fmla="*/ 573088 h 423"/>
              <a:gd name="T12" fmla="*/ 580973 w 423"/>
              <a:gd name="T13" fmla="*/ 604838 h 423"/>
              <a:gd name="T14" fmla="*/ 532845 w 423"/>
              <a:gd name="T15" fmla="*/ 631825 h 423"/>
              <a:gd name="T16" fmla="*/ 479560 w 423"/>
              <a:gd name="T17" fmla="*/ 654050 h 423"/>
              <a:gd name="T18" fmla="*/ 421119 w 423"/>
              <a:gd name="T19" fmla="*/ 666750 h 423"/>
              <a:gd name="T20" fmla="*/ 362678 w 423"/>
              <a:gd name="T21" fmla="*/ 671513 h 423"/>
              <a:gd name="T22" fmla="*/ 304237 w 423"/>
              <a:gd name="T23" fmla="*/ 666750 h 423"/>
              <a:gd name="T24" fmla="*/ 250953 w 423"/>
              <a:gd name="T25" fmla="*/ 654050 h 423"/>
              <a:gd name="T26" fmla="*/ 197668 w 423"/>
              <a:gd name="T27" fmla="*/ 631825 h 423"/>
              <a:gd name="T28" fmla="*/ 149540 w 423"/>
              <a:gd name="T29" fmla="*/ 604838 h 423"/>
              <a:gd name="T30" fmla="*/ 106569 w 423"/>
              <a:gd name="T31" fmla="*/ 573088 h 423"/>
              <a:gd name="T32" fmla="*/ 72192 w 423"/>
              <a:gd name="T33" fmla="*/ 533400 h 423"/>
              <a:gd name="T34" fmla="*/ 42971 w 423"/>
              <a:gd name="T35" fmla="*/ 487363 h 423"/>
              <a:gd name="T36" fmla="*/ 18907 w 423"/>
              <a:gd name="T37" fmla="*/ 438150 h 423"/>
              <a:gd name="T38" fmla="*/ 3438 w 423"/>
              <a:gd name="T39" fmla="*/ 388938 h 423"/>
              <a:gd name="T40" fmla="*/ 0 w 423"/>
              <a:gd name="T41" fmla="*/ 336550 h 423"/>
              <a:gd name="T42" fmla="*/ 3438 w 423"/>
              <a:gd name="T43" fmla="*/ 282575 h 423"/>
              <a:gd name="T44" fmla="*/ 18907 w 423"/>
              <a:gd name="T45" fmla="*/ 228600 h 423"/>
              <a:gd name="T46" fmla="*/ 42971 w 423"/>
              <a:gd name="T47" fmla="*/ 179388 h 423"/>
              <a:gd name="T48" fmla="*/ 72192 w 423"/>
              <a:gd name="T49" fmla="*/ 134938 h 423"/>
              <a:gd name="T50" fmla="*/ 106569 w 423"/>
              <a:gd name="T51" fmla="*/ 98425 h 423"/>
              <a:gd name="T52" fmla="*/ 149540 w 423"/>
              <a:gd name="T53" fmla="*/ 61913 h 423"/>
              <a:gd name="T54" fmla="*/ 197668 w 423"/>
              <a:gd name="T55" fmla="*/ 34925 h 423"/>
              <a:gd name="T56" fmla="*/ 250953 w 423"/>
              <a:gd name="T57" fmla="*/ 17463 h 423"/>
              <a:gd name="T58" fmla="*/ 304237 w 423"/>
              <a:gd name="T59" fmla="*/ 4763 h 423"/>
              <a:gd name="T60" fmla="*/ 362678 w 423"/>
              <a:gd name="T61" fmla="*/ 0 h 423"/>
              <a:gd name="T62" fmla="*/ 421119 w 423"/>
              <a:gd name="T63" fmla="*/ 4763 h 423"/>
              <a:gd name="T64" fmla="*/ 479560 w 423"/>
              <a:gd name="T65" fmla="*/ 17463 h 423"/>
              <a:gd name="T66" fmla="*/ 532845 w 423"/>
              <a:gd name="T67" fmla="*/ 34925 h 423"/>
              <a:gd name="T68" fmla="*/ 580973 w 423"/>
              <a:gd name="T69" fmla="*/ 61913 h 423"/>
              <a:gd name="T70" fmla="*/ 620506 w 423"/>
              <a:gd name="T71" fmla="*/ 98425 h 423"/>
              <a:gd name="T72" fmla="*/ 660040 w 423"/>
              <a:gd name="T73" fmla="*/ 134938 h 423"/>
              <a:gd name="T74" fmla="*/ 687541 w 423"/>
              <a:gd name="T75" fmla="*/ 179388 h 423"/>
              <a:gd name="T76" fmla="*/ 708168 w 423"/>
              <a:gd name="T77" fmla="*/ 228600 h 423"/>
              <a:gd name="T78" fmla="*/ 721918 w 423"/>
              <a:gd name="T79" fmla="*/ 282575 h 423"/>
              <a:gd name="T80" fmla="*/ 727075 w 423"/>
              <a:gd name="T81" fmla="*/ 336550 h 423"/>
              <a:gd name="T82" fmla="*/ 727075 w 423"/>
              <a:gd name="T83" fmla="*/ 331788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3"/>
              <a:gd name="T127" fmla="*/ 0 h 423"/>
              <a:gd name="T128" fmla="*/ 423 w 423"/>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3" h="423">
                <a:moveTo>
                  <a:pt x="423" y="209"/>
                </a:moveTo>
                <a:lnTo>
                  <a:pt x="420" y="245"/>
                </a:lnTo>
                <a:lnTo>
                  <a:pt x="412" y="276"/>
                </a:lnTo>
                <a:lnTo>
                  <a:pt x="400" y="307"/>
                </a:lnTo>
                <a:lnTo>
                  <a:pt x="384" y="336"/>
                </a:lnTo>
                <a:lnTo>
                  <a:pt x="361" y="361"/>
                </a:lnTo>
                <a:lnTo>
                  <a:pt x="338" y="381"/>
                </a:lnTo>
                <a:lnTo>
                  <a:pt x="310" y="398"/>
                </a:lnTo>
                <a:lnTo>
                  <a:pt x="279" y="412"/>
                </a:lnTo>
                <a:lnTo>
                  <a:pt x="245" y="420"/>
                </a:lnTo>
                <a:lnTo>
                  <a:pt x="211" y="423"/>
                </a:lnTo>
                <a:lnTo>
                  <a:pt x="177" y="420"/>
                </a:lnTo>
                <a:lnTo>
                  <a:pt x="146" y="412"/>
                </a:lnTo>
                <a:lnTo>
                  <a:pt x="115" y="398"/>
                </a:lnTo>
                <a:lnTo>
                  <a:pt x="87" y="381"/>
                </a:lnTo>
                <a:lnTo>
                  <a:pt x="62" y="361"/>
                </a:lnTo>
                <a:lnTo>
                  <a:pt x="42" y="336"/>
                </a:lnTo>
                <a:lnTo>
                  <a:pt x="25" y="307"/>
                </a:lnTo>
                <a:lnTo>
                  <a:pt x="11" y="276"/>
                </a:lnTo>
                <a:lnTo>
                  <a:pt x="2" y="245"/>
                </a:lnTo>
                <a:lnTo>
                  <a:pt x="0" y="212"/>
                </a:lnTo>
                <a:lnTo>
                  <a:pt x="2" y="178"/>
                </a:lnTo>
                <a:lnTo>
                  <a:pt x="11" y="144"/>
                </a:lnTo>
                <a:lnTo>
                  <a:pt x="25" y="113"/>
                </a:lnTo>
                <a:lnTo>
                  <a:pt x="42" y="85"/>
                </a:lnTo>
                <a:lnTo>
                  <a:pt x="62" y="62"/>
                </a:lnTo>
                <a:lnTo>
                  <a:pt x="87" y="39"/>
                </a:lnTo>
                <a:lnTo>
                  <a:pt x="115" y="22"/>
                </a:lnTo>
                <a:lnTo>
                  <a:pt x="146" y="11"/>
                </a:lnTo>
                <a:lnTo>
                  <a:pt x="177" y="3"/>
                </a:lnTo>
                <a:lnTo>
                  <a:pt x="211" y="0"/>
                </a:lnTo>
                <a:lnTo>
                  <a:pt x="245" y="3"/>
                </a:lnTo>
                <a:lnTo>
                  <a:pt x="279" y="11"/>
                </a:lnTo>
                <a:lnTo>
                  <a:pt x="310" y="22"/>
                </a:lnTo>
                <a:lnTo>
                  <a:pt x="338" y="39"/>
                </a:lnTo>
                <a:lnTo>
                  <a:pt x="361" y="62"/>
                </a:lnTo>
                <a:lnTo>
                  <a:pt x="384" y="85"/>
                </a:lnTo>
                <a:lnTo>
                  <a:pt x="400" y="113"/>
                </a:lnTo>
                <a:lnTo>
                  <a:pt x="412" y="144"/>
                </a:lnTo>
                <a:lnTo>
                  <a:pt x="420" y="178"/>
                </a:lnTo>
                <a:lnTo>
                  <a:pt x="423" y="212"/>
                </a:lnTo>
                <a:lnTo>
                  <a:pt x="423" y="2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22"/>
          <p:cNvSpPr>
            <a:spLocks/>
          </p:cNvSpPr>
          <p:nvPr/>
        </p:nvSpPr>
        <p:spPr bwMode="auto">
          <a:xfrm>
            <a:off x="3423841" y="1616476"/>
            <a:ext cx="727075" cy="671513"/>
          </a:xfrm>
          <a:custGeom>
            <a:avLst/>
            <a:gdLst>
              <a:gd name="T0" fmla="*/ 727075 w 423"/>
              <a:gd name="T1" fmla="*/ 331788 h 423"/>
              <a:gd name="T2" fmla="*/ 721918 w 423"/>
              <a:gd name="T3" fmla="*/ 282575 h 423"/>
              <a:gd name="T4" fmla="*/ 708168 w 423"/>
              <a:gd name="T5" fmla="*/ 228600 h 423"/>
              <a:gd name="T6" fmla="*/ 687541 w 423"/>
              <a:gd name="T7" fmla="*/ 179388 h 423"/>
              <a:gd name="T8" fmla="*/ 660040 w 423"/>
              <a:gd name="T9" fmla="*/ 134938 h 423"/>
              <a:gd name="T10" fmla="*/ 620506 w 423"/>
              <a:gd name="T11" fmla="*/ 98425 h 423"/>
              <a:gd name="T12" fmla="*/ 580973 w 423"/>
              <a:gd name="T13" fmla="*/ 61913 h 423"/>
              <a:gd name="T14" fmla="*/ 532845 w 423"/>
              <a:gd name="T15" fmla="*/ 34925 h 423"/>
              <a:gd name="T16" fmla="*/ 479560 w 423"/>
              <a:gd name="T17" fmla="*/ 17463 h 423"/>
              <a:gd name="T18" fmla="*/ 421119 w 423"/>
              <a:gd name="T19" fmla="*/ 4763 h 423"/>
              <a:gd name="T20" fmla="*/ 362678 w 423"/>
              <a:gd name="T21" fmla="*/ 0 h 423"/>
              <a:gd name="T22" fmla="*/ 304237 w 423"/>
              <a:gd name="T23" fmla="*/ 4763 h 423"/>
              <a:gd name="T24" fmla="*/ 250953 w 423"/>
              <a:gd name="T25" fmla="*/ 17463 h 423"/>
              <a:gd name="T26" fmla="*/ 197668 w 423"/>
              <a:gd name="T27" fmla="*/ 34925 h 423"/>
              <a:gd name="T28" fmla="*/ 149540 w 423"/>
              <a:gd name="T29" fmla="*/ 61913 h 423"/>
              <a:gd name="T30" fmla="*/ 106569 w 423"/>
              <a:gd name="T31" fmla="*/ 98425 h 423"/>
              <a:gd name="T32" fmla="*/ 72192 w 423"/>
              <a:gd name="T33" fmla="*/ 134938 h 423"/>
              <a:gd name="T34" fmla="*/ 42971 w 423"/>
              <a:gd name="T35" fmla="*/ 179388 h 423"/>
              <a:gd name="T36" fmla="*/ 18907 w 423"/>
              <a:gd name="T37" fmla="*/ 228600 h 423"/>
              <a:gd name="T38" fmla="*/ 3438 w 423"/>
              <a:gd name="T39" fmla="*/ 282575 h 423"/>
              <a:gd name="T40" fmla="*/ 0 w 423"/>
              <a:gd name="T41" fmla="*/ 336550 h 423"/>
              <a:gd name="T42" fmla="*/ 3438 w 423"/>
              <a:gd name="T43" fmla="*/ 388938 h 423"/>
              <a:gd name="T44" fmla="*/ 18907 w 423"/>
              <a:gd name="T45" fmla="*/ 438150 h 423"/>
              <a:gd name="T46" fmla="*/ 42971 w 423"/>
              <a:gd name="T47" fmla="*/ 487363 h 423"/>
              <a:gd name="T48" fmla="*/ 72192 w 423"/>
              <a:gd name="T49" fmla="*/ 533400 h 423"/>
              <a:gd name="T50" fmla="*/ 106569 w 423"/>
              <a:gd name="T51" fmla="*/ 573088 h 423"/>
              <a:gd name="T52" fmla="*/ 149540 w 423"/>
              <a:gd name="T53" fmla="*/ 604838 h 423"/>
              <a:gd name="T54" fmla="*/ 197668 w 423"/>
              <a:gd name="T55" fmla="*/ 631825 h 423"/>
              <a:gd name="T56" fmla="*/ 250953 w 423"/>
              <a:gd name="T57" fmla="*/ 654050 h 423"/>
              <a:gd name="T58" fmla="*/ 304237 w 423"/>
              <a:gd name="T59" fmla="*/ 666750 h 423"/>
              <a:gd name="T60" fmla="*/ 362678 w 423"/>
              <a:gd name="T61" fmla="*/ 671513 h 423"/>
              <a:gd name="T62" fmla="*/ 421119 w 423"/>
              <a:gd name="T63" fmla="*/ 666750 h 423"/>
              <a:gd name="T64" fmla="*/ 479560 w 423"/>
              <a:gd name="T65" fmla="*/ 654050 h 423"/>
              <a:gd name="T66" fmla="*/ 532845 w 423"/>
              <a:gd name="T67" fmla="*/ 631825 h 423"/>
              <a:gd name="T68" fmla="*/ 580973 w 423"/>
              <a:gd name="T69" fmla="*/ 604838 h 423"/>
              <a:gd name="T70" fmla="*/ 620506 w 423"/>
              <a:gd name="T71" fmla="*/ 573088 h 423"/>
              <a:gd name="T72" fmla="*/ 660040 w 423"/>
              <a:gd name="T73" fmla="*/ 533400 h 423"/>
              <a:gd name="T74" fmla="*/ 687541 w 423"/>
              <a:gd name="T75" fmla="*/ 487363 h 423"/>
              <a:gd name="T76" fmla="*/ 708168 w 423"/>
              <a:gd name="T77" fmla="*/ 438150 h 423"/>
              <a:gd name="T78" fmla="*/ 721918 w 423"/>
              <a:gd name="T79" fmla="*/ 388938 h 423"/>
              <a:gd name="T80" fmla="*/ 727075 w 423"/>
              <a:gd name="T81" fmla="*/ 336550 h 423"/>
              <a:gd name="T82" fmla="*/ 727075 w 423"/>
              <a:gd name="T83" fmla="*/ 336550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3"/>
              <a:gd name="T127" fmla="*/ 0 h 423"/>
              <a:gd name="T128" fmla="*/ 423 w 423"/>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3" h="423">
                <a:moveTo>
                  <a:pt x="423" y="209"/>
                </a:moveTo>
                <a:lnTo>
                  <a:pt x="420" y="178"/>
                </a:lnTo>
                <a:lnTo>
                  <a:pt x="412" y="144"/>
                </a:lnTo>
                <a:lnTo>
                  <a:pt x="400" y="113"/>
                </a:lnTo>
                <a:lnTo>
                  <a:pt x="384" y="85"/>
                </a:lnTo>
                <a:lnTo>
                  <a:pt x="361" y="62"/>
                </a:lnTo>
                <a:lnTo>
                  <a:pt x="338" y="39"/>
                </a:lnTo>
                <a:lnTo>
                  <a:pt x="310" y="22"/>
                </a:lnTo>
                <a:lnTo>
                  <a:pt x="279" y="11"/>
                </a:lnTo>
                <a:lnTo>
                  <a:pt x="245" y="3"/>
                </a:lnTo>
                <a:lnTo>
                  <a:pt x="211" y="0"/>
                </a:lnTo>
                <a:lnTo>
                  <a:pt x="177" y="3"/>
                </a:lnTo>
                <a:lnTo>
                  <a:pt x="146" y="11"/>
                </a:lnTo>
                <a:lnTo>
                  <a:pt x="115" y="22"/>
                </a:lnTo>
                <a:lnTo>
                  <a:pt x="87" y="39"/>
                </a:lnTo>
                <a:lnTo>
                  <a:pt x="62" y="62"/>
                </a:lnTo>
                <a:lnTo>
                  <a:pt x="42" y="85"/>
                </a:lnTo>
                <a:lnTo>
                  <a:pt x="25" y="113"/>
                </a:lnTo>
                <a:lnTo>
                  <a:pt x="11" y="144"/>
                </a:lnTo>
                <a:lnTo>
                  <a:pt x="2" y="178"/>
                </a:lnTo>
                <a:lnTo>
                  <a:pt x="0" y="212"/>
                </a:lnTo>
                <a:lnTo>
                  <a:pt x="2" y="245"/>
                </a:lnTo>
                <a:lnTo>
                  <a:pt x="11" y="276"/>
                </a:lnTo>
                <a:lnTo>
                  <a:pt x="25" y="307"/>
                </a:lnTo>
                <a:lnTo>
                  <a:pt x="42" y="336"/>
                </a:lnTo>
                <a:lnTo>
                  <a:pt x="62" y="361"/>
                </a:lnTo>
                <a:lnTo>
                  <a:pt x="87" y="381"/>
                </a:lnTo>
                <a:lnTo>
                  <a:pt x="115" y="398"/>
                </a:lnTo>
                <a:lnTo>
                  <a:pt x="146" y="412"/>
                </a:lnTo>
                <a:lnTo>
                  <a:pt x="177" y="420"/>
                </a:lnTo>
                <a:lnTo>
                  <a:pt x="211" y="423"/>
                </a:lnTo>
                <a:lnTo>
                  <a:pt x="245" y="420"/>
                </a:lnTo>
                <a:lnTo>
                  <a:pt x="279" y="412"/>
                </a:lnTo>
                <a:lnTo>
                  <a:pt x="310" y="398"/>
                </a:lnTo>
                <a:lnTo>
                  <a:pt x="338" y="381"/>
                </a:lnTo>
                <a:lnTo>
                  <a:pt x="361" y="361"/>
                </a:lnTo>
                <a:lnTo>
                  <a:pt x="384" y="336"/>
                </a:lnTo>
                <a:lnTo>
                  <a:pt x="400" y="307"/>
                </a:lnTo>
                <a:lnTo>
                  <a:pt x="412" y="276"/>
                </a:lnTo>
                <a:lnTo>
                  <a:pt x="420" y="245"/>
                </a:lnTo>
                <a:lnTo>
                  <a:pt x="423" y="212"/>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 name="Rectangle 23"/>
          <p:cNvSpPr>
            <a:spLocks noChangeArrowheads="1"/>
          </p:cNvSpPr>
          <p:nvPr/>
        </p:nvSpPr>
        <p:spPr bwMode="auto">
          <a:xfrm>
            <a:off x="3244453" y="2454676"/>
            <a:ext cx="1090613" cy="6715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13" name="Rectangle 24"/>
          <p:cNvSpPr>
            <a:spLocks noChangeArrowheads="1"/>
          </p:cNvSpPr>
          <p:nvPr/>
        </p:nvSpPr>
        <p:spPr bwMode="auto">
          <a:xfrm>
            <a:off x="3244453" y="2454676"/>
            <a:ext cx="1090613" cy="671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14" name="Line 25"/>
          <p:cNvSpPr>
            <a:spLocks noChangeShapeType="1"/>
          </p:cNvSpPr>
          <p:nvPr/>
        </p:nvSpPr>
        <p:spPr bwMode="auto">
          <a:xfrm>
            <a:off x="6155928" y="3126189"/>
            <a:ext cx="1588" cy="336550"/>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Line 26"/>
          <p:cNvSpPr>
            <a:spLocks noChangeShapeType="1"/>
          </p:cNvSpPr>
          <p:nvPr/>
        </p:nvSpPr>
        <p:spPr bwMode="auto">
          <a:xfrm>
            <a:off x="6155928" y="2287989"/>
            <a:ext cx="1588" cy="1666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 name="Freeform 27"/>
          <p:cNvSpPr>
            <a:spLocks/>
          </p:cNvSpPr>
          <p:nvPr/>
        </p:nvSpPr>
        <p:spPr bwMode="auto">
          <a:xfrm>
            <a:off x="5792391" y="1616476"/>
            <a:ext cx="730250" cy="671513"/>
          </a:xfrm>
          <a:custGeom>
            <a:avLst/>
            <a:gdLst>
              <a:gd name="T0" fmla="*/ 725083 w 424"/>
              <a:gd name="T1" fmla="*/ 331788 h 423"/>
              <a:gd name="T2" fmla="*/ 725083 w 424"/>
              <a:gd name="T3" fmla="*/ 388938 h 423"/>
              <a:gd name="T4" fmla="*/ 709583 w 424"/>
              <a:gd name="T5" fmla="*/ 438150 h 423"/>
              <a:gd name="T6" fmla="*/ 685471 w 424"/>
              <a:gd name="T7" fmla="*/ 487363 h 423"/>
              <a:gd name="T8" fmla="*/ 656192 w 424"/>
              <a:gd name="T9" fmla="*/ 533400 h 423"/>
              <a:gd name="T10" fmla="*/ 623468 w 424"/>
              <a:gd name="T11" fmla="*/ 573088 h 423"/>
              <a:gd name="T12" fmla="*/ 578689 w 424"/>
              <a:gd name="T13" fmla="*/ 604838 h 423"/>
              <a:gd name="T14" fmla="*/ 530465 w 424"/>
              <a:gd name="T15" fmla="*/ 631825 h 423"/>
              <a:gd name="T16" fmla="*/ 482241 w 424"/>
              <a:gd name="T17" fmla="*/ 654050 h 423"/>
              <a:gd name="T18" fmla="*/ 423683 w 424"/>
              <a:gd name="T19" fmla="*/ 666750 h 423"/>
              <a:gd name="T20" fmla="*/ 365125 w 424"/>
              <a:gd name="T21" fmla="*/ 671513 h 423"/>
              <a:gd name="T22" fmla="*/ 306567 w 424"/>
              <a:gd name="T23" fmla="*/ 666750 h 423"/>
              <a:gd name="T24" fmla="*/ 248009 w 424"/>
              <a:gd name="T25" fmla="*/ 654050 h 423"/>
              <a:gd name="T26" fmla="*/ 194619 w 424"/>
              <a:gd name="T27" fmla="*/ 631825 h 423"/>
              <a:gd name="T28" fmla="*/ 151561 w 424"/>
              <a:gd name="T29" fmla="*/ 604838 h 423"/>
              <a:gd name="T30" fmla="*/ 106782 w 424"/>
              <a:gd name="T31" fmla="*/ 573088 h 423"/>
              <a:gd name="T32" fmla="*/ 68892 w 424"/>
              <a:gd name="T33" fmla="*/ 533400 h 423"/>
              <a:gd name="T34" fmla="*/ 39613 w 424"/>
              <a:gd name="T35" fmla="*/ 487363 h 423"/>
              <a:gd name="T36" fmla="*/ 20667 w 424"/>
              <a:gd name="T37" fmla="*/ 438150 h 423"/>
              <a:gd name="T38" fmla="*/ 5167 w 424"/>
              <a:gd name="T39" fmla="*/ 388938 h 423"/>
              <a:gd name="T40" fmla="*/ 0 w 424"/>
              <a:gd name="T41" fmla="*/ 336550 h 423"/>
              <a:gd name="T42" fmla="*/ 5167 w 424"/>
              <a:gd name="T43" fmla="*/ 282575 h 423"/>
              <a:gd name="T44" fmla="*/ 20667 w 424"/>
              <a:gd name="T45" fmla="*/ 228600 h 423"/>
              <a:gd name="T46" fmla="*/ 39613 w 424"/>
              <a:gd name="T47" fmla="*/ 179388 h 423"/>
              <a:gd name="T48" fmla="*/ 68892 w 424"/>
              <a:gd name="T49" fmla="*/ 134938 h 423"/>
              <a:gd name="T50" fmla="*/ 106782 w 424"/>
              <a:gd name="T51" fmla="*/ 98425 h 423"/>
              <a:gd name="T52" fmla="*/ 151561 w 424"/>
              <a:gd name="T53" fmla="*/ 61913 h 423"/>
              <a:gd name="T54" fmla="*/ 194619 w 424"/>
              <a:gd name="T55" fmla="*/ 34925 h 423"/>
              <a:gd name="T56" fmla="*/ 248009 w 424"/>
              <a:gd name="T57" fmla="*/ 17463 h 423"/>
              <a:gd name="T58" fmla="*/ 306567 w 424"/>
              <a:gd name="T59" fmla="*/ 4763 h 423"/>
              <a:gd name="T60" fmla="*/ 365125 w 424"/>
              <a:gd name="T61" fmla="*/ 0 h 423"/>
              <a:gd name="T62" fmla="*/ 423683 w 424"/>
              <a:gd name="T63" fmla="*/ 4763 h 423"/>
              <a:gd name="T64" fmla="*/ 482241 w 424"/>
              <a:gd name="T65" fmla="*/ 17463 h 423"/>
              <a:gd name="T66" fmla="*/ 530465 w 424"/>
              <a:gd name="T67" fmla="*/ 34925 h 423"/>
              <a:gd name="T68" fmla="*/ 578689 w 424"/>
              <a:gd name="T69" fmla="*/ 61913 h 423"/>
              <a:gd name="T70" fmla="*/ 623468 w 424"/>
              <a:gd name="T71" fmla="*/ 98425 h 423"/>
              <a:gd name="T72" fmla="*/ 656192 w 424"/>
              <a:gd name="T73" fmla="*/ 134938 h 423"/>
              <a:gd name="T74" fmla="*/ 685471 w 424"/>
              <a:gd name="T75" fmla="*/ 179388 h 423"/>
              <a:gd name="T76" fmla="*/ 709583 w 424"/>
              <a:gd name="T77" fmla="*/ 228600 h 423"/>
              <a:gd name="T78" fmla="*/ 725083 w 424"/>
              <a:gd name="T79" fmla="*/ 282575 h 423"/>
              <a:gd name="T80" fmla="*/ 730250 w 424"/>
              <a:gd name="T81" fmla="*/ 336550 h 423"/>
              <a:gd name="T82" fmla="*/ 725083 w 424"/>
              <a:gd name="T83" fmla="*/ 331788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4"/>
              <a:gd name="T127" fmla="*/ 0 h 423"/>
              <a:gd name="T128" fmla="*/ 424 w 424"/>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4" h="423">
                <a:moveTo>
                  <a:pt x="421" y="209"/>
                </a:moveTo>
                <a:lnTo>
                  <a:pt x="421" y="245"/>
                </a:lnTo>
                <a:lnTo>
                  <a:pt x="412" y="276"/>
                </a:lnTo>
                <a:lnTo>
                  <a:pt x="398" y="307"/>
                </a:lnTo>
                <a:lnTo>
                  <a:pt x="381" y="336"/>
                </a:lnTo>
                <a:lnTo>
                  <a:pt x="362" y="361"/>
                </a:lnTo>
                <a:lnTo>
                  <a:pt x="336" y="381"/>
                </a:lnTo>
                <a:lnTo>
                  <a:pt x="308" y="398"/>
                </a:lnTo>
                <a:lnTo>
                  <a:pt x="280" y="412"/>
                </a:lnTo>
                <a:lnTo>
                  <a:pt x="246" y="420"/>
                </a:lnTo>
                <a:lnTo>
                  <a:pt x="212" y="423"/>
                </a:lnTo>
                <a:lnTo>
                  <a:pt x="178" y="420"/>
                </a:lnTo>
                <a:lnTo>
                  <a:pt x="144" y="412"/>
                </a:lnTo>
                <a:lnTo>
                  <a:pt x="113" y="398"/>
                </a:lnTo>
                <a:lnTo>
                  <a:pt x="88" y="381"/>
                </a:lnTo>
                <a:lnTo>
                  <a:pt x="62" y="361"/>
                </a:lnTo>
                <a:lnTo>
                  <a:pt x="40" y="336"/>
                </a:lnTo>
                <a:lnTo>
                  <a:pt x="23" y="307"/>
                </a:lnTo>
                <a:lnTo>
                  <a:pt x="12" y="276"/>
                </a:lnTo>
                <a:lnTo>
                  <a:pt x="3" y="245"/>
                </a:lnTo>
                <a:lnTo>
                  <a:pt x="0" y="212"/>
                </a:lnTo>
                <a:lnTo>
                  <a:pt x="3" y="178"/>
                </a:lnTo>
                <a:lnTo>
                  <a:pt x="12" y="144"/>
                </a:lnTo>
                <a:lnTo>
                  <a:pt x="23" y="113"/>
                </a:lnTo>
                <a:lnTo>
                  <a:pt x="40" y="85"/>
                </a:lnTo>
                <a:lnTo>
                  <a:pt x="62" y="62"/>
                </a:lnTo>
                <a:lnTo>
                  <a:pt x="88" y="39"/>
                </a:lnTo>
                <a:lnTo>
                  <a:pt x="113" y="22"/>
                </a:lnTo>
                <a:lnTo>
                  <a:pt x="144" y="11"/>
                </a:lnTo>
                <a:lnTo>
                  <a:pt x="178" y="3"/>
                </a:lnTo>
                <a:lnTo>
                  <a:pt x="212" y="0"/>
                </a:lnTo>
                <a:lnTo>
                  <a:pt x="246" y="3"/>
                </a:lnTo>
                <a:lnTo>
                  <a:pt x="280" y="11"/>
                </a:lnTo>
                <a:lnTo>
                  <a:pt x="308" y="22"/>
                </a:lnTo>
                <a:lnTo>
                  <a:pt x="336" y="39"/>
                </a:lnTo>
                <a:lnTo>
                  <a:pt x="362" y="62"/>
                </a:lnTo>
                <a:lnTo>
                  <a:pt x="381" y="85"/>
                </a:lnTo>
                <a:lnTo>
                  <a:pt x="398" y="113"/>
                </a:lnTo>
                <a:lnTo>
                  <a:pt x="412" y="144"/>
                </a:lnTo>
                <a:lnTo>
                  <a:pt x="421" y="178"/>
                </a:lnTo>
                <a:lnTo>
                  <a:pt x="424" y="212"/>
                </a:lnTo>
                <a:lnTo>
                  <a:pt x="421" y="2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28"/>
          <p:cNvSpPr>
            <a:spLocks/>
          </p:cNvSpPr>
          <p:nvPr/>
        </p:nvSpPr>
        <p:spPr bwMode="auto">
          <a:xfrm>
            <a:off x="5792391" y="1616476"/>
            <a:ext cx="730250" cy="671513"/>
          </a:xfrm>
          <a:custGeom>
            <a:avLst/>
            <a:gdLst>
              <a:gd name="T0" fmla="*/ 725083 w 424"/>
              <a:gd name="T1" fmla="*/ 331788 h 423"/>
              <a:gd name="T2" fmla="*/ 725083 w 424"/>
              <a:gd name="T3" fmla="*/ 282575 h 423"/>
              <a:gd name="T4" fmla="*/ 709583 w 424"/>
              <a:gd name="T5" fmla="*/ 228600 h 423"/>
              <a:gd name="T6" fmla="*/ 685471 w 424"/>
              <a:gd name="T7" fmla="*/ 179388 h 423"/>
              <a:gd name="T8" fmla="*/ 656192 w 424"/>
              <a:gd name="T9" fmla="*/ 134938 h 423"/>
              <a:gd name="T10" fmla="*/ 623468 w 424"/>
              <a:gd name="T11" fmla="*/ 98425 h 423"/>
              <a:gd name="T12" fmla="*/ 578689 w 424"/>
              <a:gd name="T13" fmla="*/ 61913 h 423"/>
              <a:gd name="T14" fmla="*/ 530465 w 424"/>
              <a:gd name="T15" fmla="*/ 34925 h 423"/>
              <a:gd name="T16" fmla="*/ 482241 w 424"/>
              <a:gd name="T17" fmla="*/ 17463 h 423"/>
              <a:gd name="T18" fmla="*/ 423683 w 424"/>
              <a:gd name="T19" fmla="*/ 4763 h 423"/>
              <a:gd name="T20" fmla="*/ 365125 w 424"/>
              <a:gd name="T21" fmla="*/ 0 h 423"/>
              <a:gd name="T22" fmla="*/ 306567 w 424"/>
              <a:gd name="T23" fmla="*/ 4763 h 423"/>
              <a:gd name="T24" fmla="*/ 248009 w 424"/>
              <a:gd name="T25" fmla="*/ 17463 h 423"/>
              <a:gd name="T26" fmla="*/ 194619 w 424"/>
              <a:gd name="T27" fmla="*/ 34925 h 423"/>
              <a:gd name="T28" fmla="*/ 151561 w 424"/>
              <a:gd name="T29" fmla="*/ 61913 h 423"/>
              <a:gd name="T30" fmla="*/ 106782 w 424"/>
              <a:gd name="T31" fmla="*/ 98425 h 423"/>
              <a:gd name="T32" fmla="*/ 68892 w 424"/>
              <a:gd name="T33" fmla="*/ 134938 h 423"/>
              <a:gd name="T34" fmla="*/ 39613 w 424"/>
              <a:gd name="T35" fmla="*/ 179388 h 423"/>
              <a:gd name="T36" fmla="*/ 20667 w 424"/>
              <a:gd name="T37" fmla="*/ 228600 h 423"/>
              <a:gd name="T38" fmla="*/ 5167 w 424"/>
              <a:gd name="T39" fmla="*/ 282575 h 423"/>
              <a:gd name="T40" fmla="*/ 0 w 424"/>
              <a:gd name="T41" fmla="*/ 336550 h 423"/>
              <a:gd name="T42" fmla="*/ 5167 w 424"/>
              <a:gd name="T43" fmla="*/ 388938 h 423"/>
              <a:gd name="T44" fmla="*/ 20667 w 424"/>
              <a:gd name="T45" fmla="*/ 438150 h 423"/>
              <a:gd name="T46" fmla="*/ 39613 w 424"/>
              <a:gd name="T47" fmla="*/ 487363 h 423"/>
              <a:gd name="T48" fmla="*/ 68892 w 424"/>
              <a:gd name="T49" fmla="*/ 533400 h 423"/>
              <a:gd name="T50" fmla="*/ 106782 w 424"/>
              <a:gd name="T51" fmla="*/ 573088 h 423"/>
              <a:gd name="T52" fmla="*/ 151561 w 424"/>
              <a:gd name="T53" fmla="*/ 604838 h 423"/>
              <a:gd name="T54" fmla="*/ 194619 w 424"/>
              <a:gd name="T55" fmla="*/ 631825 h 423"/>
              <a:gd name="T56" fmla="*/ 248009 w 424"/>
              <a:gd name="T57" fmla="*/ 654050 h 423"/>
              <a:gd name="T58" fmla="*/ 306567 w 424"/>
              <a:gd name="T59" fmla="*/ 666750 h 423"/>
              <a:gd name="T60" fmla="*/ 365125 w 424"/>
              <a:gd name="T61" fmla="*/ 671513 h 423"/>
              <a:gd name="T62" fmla="*/ 423683 w 424"/>
              <a:gd name="T63" fmla="*/ 666750 h 423"/>
              <a:gd name="T64" fmla="*/ 482241 w 424"/>
              <a:gd name="T65" fmla="*/ 654050 h 423"/>
              <a:gd name="T66" fmla="*/ 530465 w 424"/>
              <a:gd name="T67" fmla="*/ 631825 h 423"/>
              <a:gd name="T68" fmla="*/ 578689 w 424"/>
              <a:gd name="T69" fmla="*/ 604838 h 423"/>
              <a:gd name="T70" fmla="*/ 623468 w 424"/>
              <a:gd name="T71" fmla="*/ 573088 h 423"/>
              <a:gd name="T72" fmla="*/ 656192 w 424"/>
              <a:gd name="T73" fmla="*/ 533400 h 423"/>
              <a:gd name="T74" fmla="*/ 685471 w 424"/>
              <a:gd name="T75" fmla="*/ 487363 h 423"/>
              <a:gd name="T76" fmla="*/ 709583 w 424"/>
              <a:gd name="T77" fmla="*/ 438150 h 423"/>
              <a:gd name="T78" fmla="*/ 725083 w 424"/>
              <a:gd name="T79" fmla="*/ 388938 h 423"/>
              <a:gd name="T80" fmla="*/ 730250 w 424"/>
              <a:gd name="T81" fmla="*/ 336550 h 423"/>
              <a:gd name="T82" fmla="*/ 730250 w 424"/>
              <a:gd name="T83" fmla="*/ 336550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4"/>
              <a:gd name="T127" fmla="*/ 0 h 423"/>
              <a:gd name="T128" fmla="*/ 424 w 424"/>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4" h="423">
                <a:moveTo>
                  <a:pt x="421" y="209"/>
                </a:moveTo>
                <a:lnTo>
                  <a:pt x="421" y="178"/>
                </a:lnTo>
                <a:lnTo>
                  <a:pt x="412" y="144"/>
                </a:lnTo>
                <a:lnTo>
                  <a:pt x="398" y="113"/>
                </a:lnTo>
                <a:lnTo>
                  <a:pt x="381" y="85"/>
                </a:lnTo>
                <a:lnTo>
                  <a:pt x="362" y="62"/>
                </a:lnTo>
                <a:lnTo>
                  <a:pt x="336" y="39"/>
                </a:lnTo>
                <a:lnTo>
                  <a:pt x="308" y="22"/>
                </a:lnTo>
                <a:lnTo>
                  <a:pt x="280" y="11"/>
                </a:lnTo>
                <a:lnTo>
                  <a:pt x="246" y="3"/>
                </a:lnTo>
                <a:lnTo>
                  <a:pt x="212" y="0"/>
                </a:lnTo>
                <a:lnTo>
                  <a:pt x="178" y="3"/>
                </a:lnTo>
                <a:lnTo>
                  <a:pt x="144" y="11"/>
                </a:lnTo>
                <a:lnTo>
                  <a:pt x="113" y="22"/>
                </a:lnTo>
                <a:lnTo>
                  <a:pt x="88" y="39"/>
                </a:lnTo>
                <a:lnTo>
                  <a:pt x="62" y="62"/>
                </a:lnTo>
                <a:lnTo>
                  <a:pt x="40" y="85"/>
                </a:lnTo>
                <a:lnTo>
                  <a:pt x="23" y="113"/>
                </a:lnTo>
                <a:lnTo>
                  <a:pt x="12" y="144"/>
                </a:lnTo>
                <a:lnTo>
                  <a:pt x="3" y="178"/>
                </a:lnTo>
                <a:lnTo>
                  <a:pt x="0" y="212"/>
                </a:lnTo>
                <a:lnTo>
                  <a:pt x="3" y="245"/>
                </a:lnTo>
                <a:lnTo>
                  <a:pt x="12" y="276"/>
                </a:lnTo>
                <a:lnTo>
                  <a:pt x="23" y="307"/>
                </a:lnTo>
                <a:lnTo>
                  <a:pt x="40" y="336"/>
                </a:lnTo>
                <a:lnTo>
                  <a:pt x="62" y="361"/>
                </a:lnTo>
                <a:lnTo>
                  <a:pt x="88" y="381"/>
                </a:lnTo>
                <a:lnTo>
                  <a:pt x="113" y="398"/>
                </a:lnTo>
                <a:lnTo>
                  <a:pt x="144" y="412"/>
                </a:lnTo>
                <a:lnTo>
                  <a:pt x="178" y="420"/>
                </a:lnTo>
                <a:lnTo>
                  <a:pt x="212" y="423"/>
                </a:lnTo>
                <a:lnTo>
                  <a:pt x="246" y="420"/>
                </a:lnTo>
                <a:lnTo>
                  <a:pt x="280" y="412"/>
                </a:lnTo>
                <a:lnTo>
                  <a:pt x="308" y="398"/>
                </a:lnTo>
                <a:lnTo>
                  <a:pt x="336" y="381"/>
                </a:lnTo>
                <a:lnTo>
                  <a:pt x="362" y="361"/>
                </a:lnTo>
                <a:lnTo>
                  <a:pt x="381" y="336"/>
                </a:lnTo>
                <a:lnTo>
                  <a:pt x="398" y="307"/>
                </a:lnTo>
                <a:lnTo>
                  <a:pt x="412" y="276"/>
                </a:lnTo>
                <a:lnTo>
                  <a:pt x="421" y="245"/>
                </a:lnTo>
                <a:lnTo>
                  <a:pt x="424" y="212"/>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 name="Rectangle 29"/>
          <p:cNvSpPr>
            <a:spLocks noChangeArrowheads="1"/>
          </p:cNvSpPr>
          <p:nvPr/>
        </p:nvSpPr>
        <p:spPr bwMode="auto">
          <a:xfrm>
            <a:off x="5647928" y="2476901"/>
            <a:ext cx="1092200" cy="6715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19" name="Rectangle 30"/>
          <p:cNvSpPr>
            <a:spLocks noChangeArrowheads="1"/>
          </p:cNvSpPr>
          <p:nvPr/>
        </p:nvSpPr>
        <p:spPr bwMode="auto">
          <a:xfrm>
            <a:off x="5565378" y="2476901"/>
            <a:ext cx="1195388" cy="671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120" name="Rectangle 31"/>
          <p:cNvSpPr>
            <a:spLocks noChangeArrowheads="1"/>
          </p:cNvSpPr>
          <p:nvPr/>
        </p:nvSpPr>
        <p:spPr bwMode="auto">
          <a:xfrm>
            <a:off x="3700066" y="1849839"/>
            <a:ext cx="1857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P2</a:t>
            </a:r>
            <a:endParaRPr lang="en-US" altLang="zh-CN" sz="1400">
              <a:ea typeface="宋体" panose="02010600030101010101" pitchFamily="2" charset="-122"/>
            </a:endParaRPr>
          </a:p>
        </p:txBody>
      </p:sp>
      <p:sp>
        <p:nvSpPr>
          <p:cNvPr id="121" name="Rectangle 32"/>
          <p:cNvSpPr>
            <a:spLocks noChangeArrowheads="1"/>
          </p:cNvSpPr>
          <p:nvPr/>
        </p:nvSpPr>
        <p:spPr bwMode="auto">
          <a:xfrm>
            <a:off x="6040041" y="1864126"/>
            <a:ext cx="1857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P3</a:t>
            </a:r>
            <a:endParaRPr lang="en-US" altLang="zh-CN" sz="1400">
              <a:ea typeface="宋体" panose="02010600030101010101" pitchFamily="2" charset="-122"/>
            </a:endParaRPr>
          </a:p>
        </p:txBody>
      </p:sp>
      <p:grpSp>
        <p:nvGrpSpPr>
          <p:cNvPr id="122" name="Group 33"/>
          <p:cNvGrpSpPr>
            <a:grpSpLocks/>
          </p:cNvGrpSpPr>
          <p:nvPr/>
        </p:nvGrpSpPr>
        <p:grpSpPr bwMode="auto">
          <a:xfrm>
            <a:off x="3914378" y="2095901"/>
            <a:ext cx="550863" cy="1244600"/>
            <a:chOff x="2888" y="1155"/>
            <a:chExt cx="320" cy="784"/>
          </a:xfrm>
        </p:grpSpPr>
        <p:sp>
          <p:nvSpPr>
            <p:cNvPr id="123" name="Freeform 34"/>
            <p:cNvSpPr>
              <a:spLocks/>
            </p:cNvSpPr>
            <p:nvPr/>
          </p:nvSpPr>
          <p:spPr bwMode="auto">
            <a:xfrm>
              <a:off x="2993" y="1361"/>
              <a:ext cx="211" cy="211"/>
            </a:xfrm>
            <a:custGeom>
              <a:avLst/>
              <a:gdLst>
                <a:gd name="T0" fmla="*/ 211 w 211"/>
                <a:gd name="T1" fmla="*/ 104 h 211"/>
                <a:gd name="T2" fmla="*/ 211 w 211"/>
                <a:gd name="T3" fmla="*/ 124 h 211"/>
                <a:gd name="T4" fmla="*/ 206 w 211"/>
                <a:gd name="T5" fmla="*/ 141 h 211"/>
                <a:gd name="T6" fmla="*/ 200 w 211"/>
                <a:gd name="T7" fmla="*/ 155 h 211"/>
                <a:gd name="T8" fmla="*/ 192 w 211"/>
                <a:gd name="T9" fmla="*/ 169 h 211"/>
                <a:gd name="T10" fmla="*/ 180 w 211"/>
                <a:gd name="T11" fmla="*/ 180 h 211"/>
                <a:gd name="T12" fmla="*/ 169 w 211"/>
                <a:gd name="T13" fmla="*/ 192 h 211"/>
                <a:gd name="T14" fmla="*/ 155 w 211"/>
                <a:gd name="T15" fmla="*/ 200 h 211"/>
                <a:gd name="T16" fmla="*/ 141 w 211"/>
                <a:gd name="T17" fmla="*/ 206 h 211"/>
                <a:gd name="T18" fmla="*/ 124 w 211"/>
                <a:gd name="T19" fmla="*/ 211 h 211"/>
                <a:gd name="T20" fmla="*/ 107 w 211"/>
                <a:gd name="T21" fmla="*/ 211 h 211"/>
                <a:gd name="T22" fmla="*/ 90 w 211"/>
                <a:gd name="T23" fmla="*/ 211 h 211"/>
                <a:gd name="T24" fmla="*/ 73 w 211"/>
                <a:gd name="T25" fmla="*/ 206 h 211"/>
                <a:gd name="T26" fmla="*/ 59 w 211"/>
                <a:gd name="T27" fmla="*/ 200 h 211"/>
                <a:gd name="T28" fmla="*/ 45 w 211"/>
                <a:gd name="T29" fmla="*/ 192 h 211"/>
                <a:gd name="T30" fmla="*/ 31 w 211"/>
                <a:gd name="T31" fmla="*/ 180 h 211"/>
                <a:gd name="T32" fmla="*/ 22 w 211"/>
                <a:gd name="T33" fmla="*/ 169 h 211"/>
                <a:gd name="T34" fmla="*/ 14 w 211"/>
                <a:gd name="T35" fmla="*/ 155 h 211"/>
                <a:gd name="T36" fmla="*/ 5 w 211"/>
                <a:gd name="T37" fmla="*/ 141 h 211"/>
                <a:gd name="T38" fmla="*/ 2 w 211"/>
                <a:gd name="T39" fmla="*/ 124 h 211"/>
                <a:gd name="T40" fmla="*/ 0 w 211"/>
                <a:gd name="T41" fmla="*/ 107 h 211"/>
                <a:gd name="T42" fmla="*/ 2 w 211"/>
                <a:gd name="T43" fmla="*/ 90 h 211"/>
                <a:gd name="T44" fmla="*/ 5 w 211"/>
                <a:gd name="T45" fmla="*/ 73 h 211"/>
                <a:gd name="T46" fmla="*/ 14 w 211"/>
                <a:gd name="T47" fmla="*/ 59 h 211"/>
                <a:gd name="T48" fmla="*/ 22 w 211"/>
                <a:gd name="T49" fmla="*/ 45 h 211"/>
                <a:gd name="T50" fmla="*/ 31 w 211"/>
                <a:gd name="T51" fmla="*/ 31 h 211"/>
                <a:gd name="T52" fmla="*/ 45 w 211"/>
                <a:gd name="T53" fmla="*/ 19 h 211"/>
                <a:gd name="T54" fmla="*/ 59 w 211"/>
                <a:gd name="T55" fmla="*/ 11 h 211"/>
                <a:gd name="T56" fmla="*/ 73 w 211"/>
                <a:gd name="T57" fmla="*/ 5 h 211"/>
                <a:gd name="T58" fmla="*/ 90 w 211"/>
                <a:gd name="T59" fmla="*/ 3 h 211"/>
                <a:gd name="T60" fmla="*/ 107 w 211"/>
                <a:gd name="T61" fmla="*/ 0 h 211"/>
                <a:gd name="T62" fmla="*/ 124 w 211"/>
                <a:gd name="T63" fmla="*/ 3 h 211"/>
                <a:gd name="T64" fmla="*/ 141 w 211"/>
                <a:gd name="T65" fmla="*/ 5 h 211"/>
                <a:gd name="T66" fmla="*/ 155 w 211"/>
                <a:gd name="T67" fmla="*/ 11 h 211"/>
                <a:gd name="T68" fmla="*/ 169 w 211"/>
                <a:gd name="T69" fmla="*/ 19 h 211"/>
                <a:gd name="T70" fmla="*/ 180 w 211"/>
                <a:gd name="T71" fmla="*/ 31 h 211"/>
                <a:gd name="T72" fmla="*/ 192 w 211"/>
                <a:gd name="T73" fmla="*/ 45 h 211"/>
                <a:gd name="T74" fmla="*/ 200 w 211"/>
                <a:gd name="T75" fmla="*/ 59 h 211"/>
                <a:gd name="T76" fmla="*/ 206 w 211"/>
                <a:gd name="T77" fmla="*/ 73 h 211"/>
                <a:gd name="T78" fmla="*/ 211 w 211"/>
                <a:gd name="T79" fmla="*/ 90 h 211"/>
                <a:gd name="T80" fmla="*/ 211 w 211"/>
                <a:gd name="T81" fmla="*/ 107 h 211"/>
                <a:gd name="T82" fmla="*/ 211 w 211"/>
                <a:gd name="T83" fmla="*/ 104 h 2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1"/>
                <a:gd name="T127" fmla="*/ 0 h 211"/>
                <a:gd name="T128" fmla="*/ 211 w 211"/>
                <a:gd name="T129" fmla="*/ 211 h 2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1" h="211">
                  <a:moveTo>
                    <a:pt x="211" y="104"/>
                  </a:moveTo>
                  <a:lnTo>
                    <a:pt x="211" y="124"/>
                  </a:lnTo>
                  <a:lnTo>
                    <a:pt x="206" y="141"/>
                  </a:lnTo>
                  <a:lnTo>
                    <a:pt x="200" y="155"/>
                  </a:lnTo>
                  <a:lnTo>
                    <a:pt x="192" y="169"/>
                  </a:lnTo>
                  <a:lnTo>
                    <a:pt x="180" y="180"/>
                  </a:lnTo>
                  <a:lnTo>
                    <a:pt x="169" y="192"/>
                  </a:lnTo>
                  <a:lnTo>
                    <a:pt x="155" y="200"/>
                  </a:lnTo>
                  <a:lnTo>
                    <a:pt x="141" y="206"/>
                  </a:lnTo>
                  <a:lnTo>
                    <a:pt x="124" y="211"/>
                  </a:lnTo>
                  <a:lnTo>
                    <a:pt x="107" y="211"/>
                  </a:lnTo>
                  <a:lnTo>
                    <a:pt x="90" y="211"/>
                  </a:lnTo>
                  <a:lnTo>
                    <a:pt x="73" y="206"/>
                  </a:lnTo>
                  <a:lnTo>
                    <a:pt x="59" y="200"/>
                  </a:lnTo>
                  <a:lnTo>
                    <a:pt x="45" y="192"/>
                  </a:lnTo>
                  <a:lnTo>
                    <a:pt x="31" y="180"/>
                  </a:lnTo>
                  <a:lnTo>
                    <a:pt x="22" y="169"/>
                  </a:lnTo>
                  <a:lnTo>
                    <a:pt x="14" y="155"/>
                  </a:lnTo>
                  <a:lnTo>
                    <a:pt x="5" y="141"/>
                  </a:lnTo>
                  <a:lnTo>
                    <a:pt x="2" y="124"/>
                  </a:lnTo>
                  <a:lnTo>
                    <a:pt x="0" y="107"/>
                  </a:lnTo>
                  <a:lnTo>
                    <a:pt x="2" y="90"/>
                  </a:lnTo>
                  <a:lnTo>
                    <a:pt x="5" y="73"/>
                  </a:lnTo>
                  <a:lnTo>
                    <a:pt x="14" y="59"/>
                  </a:lnTo>
                  <a:lnTo>
                    <a:pt x="22" y="45"/>
                  </a:lnTo>
                  <a:lnTo>
                    <a:pt x="31" y="31"/>
                  </a:lnTo>
                  <a:lnTo>
                    <a:pt x="45" y="19"/>
                  </a:lnTo>
                  <a:lnTo>
                    <a:pt x="59" y="11"/>
                  </a:lnTo>
                  <a:lnTo>
                    <a:pt x="73" y="5"/>
                  </a:lnTo>
                  <a:lnTo>
                    <a:pt x="90" y="3"/>
                  </a:lnTo>
                  <a:lnTo>
                    <a:pt x="107" y="0"/>
                  </a:lnTo>
                  <a:lnTo>
                    <a:pt x="124" y="3"/>
                  </a:lnTo>
                  <a:lnTo>
                    <a:pt x="141" y="5"/>
                  </a:lnTo>
                  <a:lnTo>
                    <a:pt x="155" y="11"/>
                  </a:lnTo>
                  <a:lnTo>
                    <a:pt x="169" y="19"/>
                  </a:lnTo>
                  <a:lnTo>
                    <a:pt x="180" y="31"/>
                  </a:lnTo>
                  <a:lnTo>
                    <a:pt x="192" y="45"/>
                  </a:lnTo>
                  <a:lnTo>
                    <a:pt x="200" y="59"/>
                  </a:lnTo>
                  <a:lnTo>
                    <a:pt x="206" y="73"/>
                  </a:lnTo>
                  <a:lnTo>
                    <a:pt x="211" y="90"/>
                  </a:lnTo>
                  <a:lnTo>
                    <a:pt x="211" y="107"/>
                  </a:lnTo>
                  <a:lnTo>
                    <a:pt x="211" y="104"/>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Freeform 35"/>
            <p:cNvSpPr>
              <a:spLocks/>
            </p:cNvSpPr>
            <p:nvPr/>
          </p:nvSpPr>
          <p:spPr bwMode="auto">
            <a:xfrm>
              <a:off x="2993" y="1361"/>
              <a:ext cx="211" cy="211"/>
            </a:xfrm>
            <a:custGeom>
              <a:avLst/>
              <a:gdLst>
                <a:gd name="T0" fmla="*/ 211 w 211"/>
                <a:gd name="T1" fmla="*/ 104 h 211"/>
                <a:gd name="T2" fmla="*/ 211 w 211"/>
                <a:gd name="T3" fmla="*/ 90 h 211"/>
                <a:gd name="T4" fmla="*/ 206 w 211"/>
                <a:gd name="T5" fmla="*/ 73 h 211"/>
                <a:gd name="T6" fmla="*/ 200 w 211"/>
                <a:gd name="T7" fmla="*/ 59 h 211"/>
                <a:gd name="T8" fmla="*/ 192 w 211"/>
                <a:gd name="T9" fmla="*/ 45 h 211"/>
                <a:gd name="T10" fmla="*/ 180 w 211"/>
                <a:gd name="T11" fmla="*/ 31 h 211"/>
                <a:gd name="T12" fmla="*/ 169 w 211"/>
                <a:gd name="T13" fmla="*/ 19 h 211"/>
                <a:gd name="T14" fmla="*/ 155 w 211"/>
                <a:gd name="T15" fmla="*/ 11 h 211"/>
                <a:gd name="T16" fmla="*/ 141 w 211"/>
                <a:gd name="T17" fmla="*/ 5 h 211"/>
                <a:gd name="T18" fmla="*/ 124 w 211"/>
                <a:gd name="T19" fmla="*/ 3 h 211"/>
                <a:gd name="T20" fmla="*/ 107 w 211"/>
                <a:gd name="T21" fmla="*/ 0 h 211"/>
                <a:gd name="T22" fmla="*/ 90 w 211"/>
                <a:gd name="T23" fmla="*/ 3 h 211"/>
                <a:gd name="T24" fmla="*/ 73 w 211"/>
                <a:gd name="T25" fmla="*/ 5 h 211"/>
                <a:gd name="T26" fmla="*/ 59 w 211"/>
                <a:gd name="T27" fmla="*/ 11 h 211"/>
                <a:gd name="T28" fmla="*/ 45 w 211"/>
                <a:gd name="T29" fmla="*/ 19 h 211"/>
                <a:gd name="T30" fmla="*/ 31 w 211"/>
                <a:gd name="T31" fmla="*/ 31 h 211"/>
                <a:gd name="T32" fmla="*/ 22 w 211"/>
                <a:gd name="T33" fmla="*/ 45 h 211"/>
                <a:gd name="T34" fmla="*/ 14 w 211"/>
                <a:gd name="T35" fmla="*/ 59 h 211"/>
                <a:gd name="T36" fmla="*/ 5 w 211"/>
                <a:gd name="T37" fmla="*/ 73 h 211"/>
                <a:gd name="T38" fmla="*/ 2 w 211"/>
                <a:gd name="T39" fmla="*/ 90 h 211"/>
                <a:gd name="T40" fmla="*/ 0 w 211"/>
                <a:gd name="T41" fmla="*/ 107 h 211"/>
                <a:gd name="T42" fmla="*/ 2 w 211"/>
                <a:gd name="T43" fmla="*/ 124 h 211"/>
                <a:gd name="T44" fmla="*/ 5 w 211"/>
                <a:gd name="T45" fmla="*/ 141 h 211"/>
                <a:gd name="T46" fmla="*/ 14 w 211"/>
                <a:gd name="T47" fmla="*/ 155 h 211"/>
                <a:gd name="T48" fmla="*/ 22 w 211"/>
                <a:gd name="T49" fmla="*/ 169 h 211"/>
                <a:gd name="T50" fmla="*/ 31 w 211"/>
                <a:gd name="T51" fmla="*/ 180 h 211"/>
                <a:gd name="T52" fmla="*/ 45 w 211"/>
                <a:gd name="T53" fmla="*/ 192 h 211"/>
                <a:gd name="T54" fmla="*/ 59 w 211"/>
                <a:gd name="T55" fmla="*/ 200 h 211"/>
                <a:gd name="T56" fmla="*/ 73 w 211"/>
                <a:gd name="T57" fmla="*/ 206 h 211"/>
                <a:gd name="T58" fmla="*/ 90 w 211"/>
                <a:gd name="T59" fmla="*/ 211 h 211"/>
                <a:gd name="T60" fmla="*/ 107 w 211"/>
                <a:gd name="T61" fmla="*/ 211 h 211"/>
                <a:gd name="T62" fmla="*/ 124 w 211"/>
                <a:gd name="T63" fmla="*/ 211 h 211"/>
                <a:gd name="T64" fmla="*/ 141 w 211"/>
                <a:gd name="T65" fmla="*/ 206 h 211"/>
                <a:gd name="T66" fmla="*/ 155 w 211"/>
                <a:gd name="T67" fmla="*/ 200 h 211"/>
                <a:gd name="T68" fmla="*/ 169 w 211"/>
                <a:gd name="T69" fmla="*/ 192 h 211"/>
                <a:gd name="T70" fmla="*/ 180 w 211"/>
                <a:gd name="T71" fmla="*/ 180 h 211"/>
                <a:gd name="T72" fmla="*/ 192 w 211"/>
                <a:gd name="T73" fmla="*/ 169 h 211"/>
                <a:gd name="T74" fmla="*/ 200 w 211"/>
                <a:gd name="T75" fmla="*/ 155 h 211"/>
                <a:gd name="T76" fmla="*/ 206 w 211"/>
                <a:gd name="T77" fmla="*/ 141 h 211"/>
                <a:gd name="T78" fmla="*/ 211 w 211"/>
                <a:gd name="T79" fmla="*/ 124 h 211"/>
                <a:gd name="T80" fmla="*/ 211 w 211"/>
                <a:gd name="T81" fmla="*/ 107 h 211"/>
                <a:gd name="T82" fmla="*/ 211 w 211"/>
                <a:gd name="T83" fmla="*/ 107 h 2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1"/>
                <a:gd name="T127" fmla="*/ 0 h 211"/>
                <a:gd name="T128" fmla="*/ 211 w 211"/>
                <a:gd name="T129" fmla="*/ 211 h 2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1" h="211">
                  <a:moveTo>
                    <a:pt x="211" y="104"/>
                  </a:moveTo>
                  <a:lnTo>
                    <a:pt x="211" y="90"/>
                  </a:lnTo>
                  <a:lnTo>
                    <a:pt x="206" y="73"/>
                  </a:lnTo>
                  <a:lnTo>
                    <a:pt x="200" y="59"/>
                  </a:lnTo>
                  <a:lnTo>
                    <a:pt x="192" y="45"/>
                  </a:lnTo>
                  <a:lnTo>
                    <a:pt x="180" y="31"/>
                  </a:lnTo>
                  <a:lnTo>
                    <a:pt x="169" y="19"/>
                  </a:lnTo>
                  <a:lnTo>
                    <a:pt x="155" y="11"/>
                  </a:lnTo>
                  <a:lnTo>
                    <a:pt x="141" y="5"/>
                  </a:lnTo>
                  <a:lnTo>
                    <a:pt x="124" y="3"/>
                  </a:lnTo>
                  <a:lnTo>
                    <a:pt x="107" y="0"/>
                  </a:lnTo>
                  <a:lnTo>
                    <a:pt x="90" y="3"/>
                  </a:lnTo>
                  <a:lnTo>
                    <a:pt x="73" y="5"/>
                  </a:lnTo>
                  <a:lnTo>
                    <a:pt x="59" y="11"/>
                  </a:lnTo>
                  <a:lnTo>
                    <a:pt x="45" y="19"/>
                  </a:lnTo>
                  <a:lnTo>
                    <a:pt x="31" y="31"/>
                  </a:lnTo>
                  <a:lnTo>
                    <a:pt x="22" y="45"/>
                  </a:lnTo>
                  <a:lnTo>
                    <a:pt x="14" y="59"/>
                  </a:lnTo>
                  <a:lnTo>
                    <a:pt x="5" y="73"/>
                  </a:lnTo>
                  <a:lnTo>
                    <a:pt x="2" y="90"/>
                  </a:lnTo>
                  <a:lnTo>
                    <a:pt x="0" y="107"/>
                  </a:lnTo>
                  <a:lnTo>
                    <a:pt x="2" y="124"/>
                  </a:lnTo>
                  <a:lnTo>
                    <a:pt x="5" y="141"/>
                  </a:lnTo>
                  <a:lnTo>
                    <a:pt x="14" y="155"/>
                  </a:lnTo>
                  <a:lnTo>
                    <a:pt x="22" y="169"/>
                  </a:lnTo>
                  <a:lnTo>
                    <a:pt x="31" y="180"/>
                  </a:lnTo>
                  <a:lnTo>
                    <a:pt x="45" y="192"/>
                  </a:lnTo>
                  <a:lnTo>
                    <a:pt x="59" y="200"/>
                  </a:lnTo>
                  <a:lnTo>
                    <a:pt x="73" y="206"/>
                  </a:lnTo>
                  <a:lnTo>
                    <a:pt x="90" y="211"/>
                  </a:lnTo>
                  <a:lnTo>
                    <a:pt x="107" y="211"/>
                  </a:lnTo>
                  <a:lnTo>
                    <a:pt x="124" y="211"/>
                  </a:lnTo>
                  <a:lnTo>
                    <a:pt x="141" y="206"/>
                  </a:lnTo>
                  <a:lnTo>
                    <a:pt x="155" y="200"/>
                  </a:lnTo>
                  <a:lnTo>
                    <a:pt x="169" y="192"/>
                  </a:lnTo>
                  <a:lnTo>
                    <a:pt x="180" y="180"/>
                  </a:lnTo>
                  <a:lnTo>
                    <a:pt x="192" y="169"/>
                  </a:lnTo>
                  <a:lnTo>
                    <a:pt x="200" y="155"/>
                  </a:lnTo>
                  <a:lnTo>
                    <a:pt x="206" y="141"/>
                  </a:lnTo>
                  <a:lnTo>
                    <a:pt x="211" y="124"/>
                  </a:lnTo>
                  <a:lnTo>
                    <a:pt x="211" y="107"/>
                  </a:lnTo>
                </a:path>
              </a:pathLst>
            </a:custGeom>
            <a:solidFill>
              <a:srgbClr val="FFFF00"/>
            </a:solidFill>
            <a:ln w="9525">
              <a:solidFill>
                <a:srgbClr val="000000"/>
              </a:solidFill>
              <a:prstDash val="solid"/>
              <a:round/>
              <a:headEnd/>
              <a:tailEnd/>
            </a:ln>
          </p:spPr>
          <p:txBody>
            <a:bodyPr/>
            <a:lstStyle/>
            <a:p>
              <a:endParaRPr lang="zh-CN" altLang="en-US"/>
            </a:p>
          </p:txBody>
        </p:sp>
        <p:sp>
          <p:nvSpPr>
            <p:cNvPr id="125" name="Rectangle 36"/>
            <p:cNvSpPr>
              <a:spLocks noChangeArrowheads="1"/>
            </p:cNvSpPr>
            <p:nvPr/>
          </p:nvSpPr>
          <p:spPr bwMode="auto">
            <a:xfrm>
              <a:off x="3066" y="1420"/>
              <a:ext cx="49" cy="11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5</a:t>
              </a:r>
              <a:endParaRPr lang="en-US" altLang="zh-CN" sz="1400">
                <a:ea typeface="宋体" panose="02010600030101010101" pitchFamily="2" charset="-122"/>
              </a:endParaRPr>
            </a:p>
          </p:txBody>
        </p:sp>
        <p:sp>
          <p:nvSpPr>
            <p:cNvPr id="126" name="Freeform 37"/>
            <p:cNvSpPr>
              <a:spLocks/>
            </p:cNvSpPr>
            <p:nvPr/>
          </p:nvSpPr>
          <p:spPr bwMode="auto">
            <a:xfrm>
              <a:off x="2888" y="1155"/>
              <a:ext cx="51" cy="90"/>
            </a:xfrm>
            <a:custGeom>
              <a:avLst/>
              <a:gdLst>
                <a:gd name="T0" fmla="*/ 26 w 51"/>
                <a:gd name="T1" fmla="*/ 82 h 90"/>
                <a:gd name="T2" fmla="*/ 3 w 51"/>
                <a:gd name="T3" fmla="*/ 90 h 90"/>
                <a:gd name="T4" fmla="*/ 0 w 51"/>
                <a:gd name="T5" fmla="*/ 0 h 90"/>
                <a:gd name="T6" fmla="*/ 51 w 51"/>
                <a:gd name="T7" fmla="*/ 73 h 90"/>
                <a:gd name="T8" fmla="*/ 28 w 51"/>
                <a:gd name="T9" fmla="*/ 82 h 90"/>
                <a:gd name="T10" fmla="*/ 0 60000 65536"/>
                <a:gd name="T11" fmla="*/ 0 60000 65536"/>
                <a:gd name="T12" fmla="*/ 0 60000 65536"/>
                <a:gd name="T13" fmla="*/ 0 60000 65536"/>
                <a:gd name="T14" fmla="*/ 0 60000 65536"/>
                <a:gd name="T15" fmla="*/ 0 w 51"/>
                <a:gd name="T16" fmla="*/ 0 h 90"/>
                <a:gd name="T17" fmla="*/ 51 w 51"/>
                <a:gd name="T18" fmla="*/ 90 h 90"/>
              </a:gdLst>
              <a:ahLst/>
              <a:cxnLst>
                <a:cxn ang="T10">
                  <a:pos x="T0" y="T1"/>
                </a:cxn>
                <a:cxn ang="T11">
                  <a:pos x="T2" y="T3"/>
                </a:cxn>
                <a:cxn ang="T12">
                  <a:pos x="T4" y="T5"/>
                </a:cxn>
                <a:cxn ang="T13">
                  <a:pos x="T6" y="T7"/>
                </a:cxn>
                <a:cxn ang="T14">
                  <a:pos x="T8" y="T9"/>
                </a:cxn>
              </a:cxnLst>
              <a:rect l="T15" t="T16" r="T17" b="T18"/>
              <a:pathLst>
                <a:path w="51" h="90">
                  <a:moveTo>
                    <a:pt x="26" y="82"/>
                  </a:moveTo>
                  <a:lnTo>
                    <a:pt x="3" y="90"/>
                  </a:lnTo>
                  <a:lnTo>
                    <a:pt x="0" y="0"/>
                  </a:lnTo>
                  <a:lnTo>
                    <a:pt x="51" y="73"/>
                  </a:lnTo>
                  <a:lnTo>
                    <a:pt x="28" y="82"/>
                  </a:lnTo>
                </a:path>
              </a:pathLst>
            </a:custGeom>
            <a:solidFill>
              <a:srgbClr val="FFFF00"/>
            </a:solidFill>
            <a:ln w="9525">
              <a:solidFill>
                <a:srgbClr val="000000"/>
              </a:solidFill>
              <a:prstDash val="solid"/>
              <a:round/>
              <a:headEnd/>
              <a:tailEnd/>
            </a:ln>
          </p:spPr>
          <p:txBody>
            <a:bodyPr/>
            <a:lstStyle/>
            <a:p>
              <a:endParaRPr lang="zh-CN" altLang="en-US"/>
            </a:p>
          </p:txBody>
        </p:sp>
        <p:sp>
          <p:nvSpPr>
            <p:cNvPr id="127" name="Freeform 38"/>
            <p:cNvSpPr>
              <a:spLocks/>
            </p:cNvSpPr>
            <p:nvPr/>
          </p:nvSpPr>
          <p:spPr bwMode="auto">
            <a:xfrm>
              <a:off x="2888" y="1155"/>
              <a:ext cx="51" cy="90"/>
            </a:xfrm>
            <a:custGeom>
              <a:avLst/>
              <a:gdLst>
                <a:gd name="T0" fmla="*/ 26 w 51"/>
                <a:gd name="T1" fmla="*/ 82 h 90"/>
                <a:gd name="T2" fmla="*/ 3 w 51"/>
                <a:gd name="T3" fmla="*/ 90 h 90"/>
                <a:gd name="T4" fmla="*/ 0 w 51"/>
                <a:gd name="T5" fmla="*/ 0 h 90"/>
                <a:gd name="T6" fmla="*/ 51 w 51"/>
                <a:gd name="T7" fmla="*/ 73 h 90"/>
                <a:gd name="T8" fmla="*/ 26 w 51"/>
                <a:gd name="T9" fmla="*/ 82 h 90"/>
                <a:gd name="T10" fmla="*/ 0 60000 65536"/>
                <a:gd name="T11" fmla="*/ 0 60000 65536"/>
                <a:gd name="T12" fmla="*/ 0 60000 65536"/>
                <a:gd name="T13" fmla="*/ 0 60000 65536"/>
                <a:gd name="T14" fmla="*/ 0 60000 65536"/>
                <a:gd name="T15" fmla="*/ 0 w 51"/>
                <a:gd name="T16" fmla="*/ 0 h 90"/>
                <a:gd name="T17" fmla="*/ 51 w 51"/>
                <a:gd name="T18" fmla="*/ 90 h 90"/>
              </a:gdLst>
              <a:ahLst/>
              <a:cxnLst>
                <a:cxn ang="T10">
                  <a:pos x="T0" y="T1"/>
                </a:cxn>
                <a:cxn ang="T11">
                  <a:pos x="T2" y="T3"/>
                </a:cxn>
                <a:cxn ang="T12">
                  <a:pos x="T4" y="T5"/>
                </a:cxn>
                <a:cxn ang="T13">
                  <a:pos x="T6" y="T7"/>
                </a:cxn>
                <a:cxn ang="T14">
                  <a:pos x="T8" y="T9"/>
                </a:cxn>
              </a:cxnLst>
              <a:rect l="T15" t="T16" r="T17" b="T18"/>
              <a:pathLst>
                <a:path w="51" h="90">
                  <a:moveTo>
                    <a:pt x="26" y="82"/>
                  </a:moveTo>
                  <a:lnTo>
                    <a:pt x="3" y="90"/>
                  </a:lnTo>
                  <a:lnTo>
                    <a:pt x="0" y="0"/>
                  </a:lnTo>
                  <a:lnTo>
                    <a:pt x="51" y="73"/>
                  </a:lnTo>
                  <a:lnTo>
                    <a:pt x="26" y="82"/>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39"/>
            <p:cNvSpPr>
              <a:spLocks/>
            </p:cNvSpPr>
            <p:nvPr/>
          </p:nvSpPr>
          <p:spPr bwMode="auto">
            <a:xfrm>
              <a:off x="2916" y="1239"/>
              <a:ext cx="48" cy="700"/>
            </a:xfrm>
            <a:custGeom>
              <a:avLst/>
              <a:gdLst>
                <a:gd name="T0" fmla="*/ 34 w 48"/>
                <a:gd name="T1" fmla="*/ 700 h 700"/>
                <a:gd name="T2" fmla="*/ 40 w 48"/>
                <a:gd name="T3" fmla="*/ 633 h 700"/>
                <a:gd name="T4" fmla="*/ 43 w 48"/>
                <a:gd name="T5" fmla="*/ 562 h 700"/>
                <a:gd name="T6" fmla="*/ 46 w 48"/>
                <a:gd name="T7" fmla="*/ 491 h 700"/>
                <a:gd name="T8" fmla="*/ 48 w 48"/>
                <a:gd name="T9" fmla="*/ 421 h 700"/>
                <a:gd name="T10" fmla="*/ 48 w 48"/>
                <a:gd name="T11" fmla="*/ 348 h 700"/>
                <a:gd name="T12" fmla="*/ 46 w 48"/>
                <a:gd name="T13" fmla="*/ 277 h 700"/>
                <a:gd name="T14" fmla="*/ 40 w 48"/>
                <a:gd name="T15" fmla="*/ 206 h 700"/>
                <a:gd name="T16" fmla="*/ 31 w 48"/>
                <a:gd name="T17" fmla="*/ 136 h 700"/>
                <a:gd name="T18" fmla="*/ 17 w 48"/>
                <a:gd name="T19" fmla="*/ 68 h 700"/>
                <a:gd name="T20" fmla="*/ 0 w 48"/>
                <a:gd name="T21" fmla="*/ 0 h 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700"/>
                <a:gd name="T35" fmla="*/ 48 w 48"/>
                <a:gd name="T36" fmla="*/ 700 h 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700">
                  <a:moveTo>
                    <a:pt x="34" y="700"/>
                  </a:moveTo>
                  <a:lnTo>
                    <a:pt x="40" y="633"/>
                  </a:lnTo>
                  <a:lnTo>
                    <a:pt x="43" y="562"/>
                  </a:lnTo>
                  <a:lnTo>
                    <a:pt x="46" y="491"/>
                  </a:lnTo>
                  <a:lnTo>
                    <a:pt x="48" y="421"/>
                  </a:lnTo>
                  <a:lnTo>
                    <a:pt x="48" y="348"/>
                  </a:lnTo>
                  <a:lnTo>
                    <a:pt x="46" y="277"/>
                  </a:lnTo>
                  <a:lnTo>
                    <a:pt x="40" y="206"/>
                  </a:lnTo>
                  <a:lnTo>
                    <a:pt x="31" y="136"/>
                  </a:lnTo>
                  <a:lnTo>
                    <a:pt x="17" y="68"/>
                  </a:lnTo>
                  <a:lnTo>
                    <a:pt x="0" y="0"/>
                  </a:lnTo>
                </a:path>
              </a:pathLst>
            </a:custGeom>
            <a:solidFill>
              <a:srgbClr val="FFFF00"/>
            </a:solidFill>
            <a:ln w="9525">
              <a:solidFill>
                <a:srgbClr val="000000"/>
              </a:solidFill>
              <a:prstDash val="solid"/>
              <a:round/>
              <a:headEnd/>
              <a:tailEnd/>
            </a:ln>
          </p:spPr>
          <p:txBody>
            <a:bodyPr/>
            <a:lstStyle/>
            <a:p>
              <a:endParaRPr lang="zh-CN" altLang="en-US"/>
            </a:p>
          </p:txBody>
        </p:sp>
        <p:sp>
          <p:nvSpPr>
            <p:cNvPr id="129" name="Rectangle 40"/>
            <p:cNvSpPr>
              <a:spLocks noChangeArrowheads="1"/>
            </p:cNvSpPr>
            <p:nvPr/>
          </p:nvSpPr>
          <p:spPr bwMode="auto">
            <a:xfrm>
              <a:off x="3007" y="1226"/>
              <a:ext cx="49" cy="11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u</a:t>
              </a:r>
              <a:endParaRPr lang="en-US" altLang="zh-CN" sz="1400">
                <a:ea typeface="宋体" panose="02010600030101010101" pitchFamily="2" charset="-122"/>
              </a:endParaRPr>
            </a:p>
          </p:txBody>
        </p:sp>
        <p:sp>
          <p:nvSpPr>
            <p:cNvPr id="130" name="Rectangle 41"/>
            <p:cNvSpPr>
              <a:spLocks noChangeArrowheads="1"/>
            </p:cNvSpPr>
            <p:nvPr/>
          </p:nvSpPr>
          <p:spPr bwMode="auto">
            <a:xfrm>
              <a:off x="3058" y="1226"/>
              <a:ext cx="150" cy="11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 = ?</a:t>
              </a:r>
              <a:endParaRPr lang="en-US" altLang="zh-CN" sz="1400">
                <a:ea typeface="宋体" panose="02010600030101010101" pitchFamily="2" charset="-122"/>
              </a:endParaRPr>
            </a:p>
          </p:txBody>
        </p:sp>
      </p:grpSp>
      <p:grpSp>
        <p:nvGrpSpPr>
          <p:cNvPr id="131" name="Group 42"/>
          <p:cNvGrpSpPr>
            <a:grpSpLocks/>
          </p:cNvGrpSpPr>
          <p:nvPr/>
        </p:nvGrpSpPr>
        <p:grpSpPr bwMode="auto">
          <a:xfrm>
            <a:off x="1439466" y="2095901"/>
            <a:ext cx="612775" cy="641350"/>
            <a:chOff x="1496" y="1160"/>
            <a:chExt cx="357" cy="452"/>
          </a:xfrm>
        </p:grpSpPr>
        <p:sp>
          <p:nvSpPr>
            <p:cNvPr id="132" name="Freeform 43"/>
            <p:cNvSpPr>
              <a:spLocks/>
            </p:cNvSpPr>
            <p:nvPr/>
          </p:nvSpPr>
          <p:spPr bwMode="auto">
            <a:xfrm>
              <a:off x="1496" y="1160"/>
              <a:ext cx="71" cy="88"/>
            </a:xfrm>
            <a:custGeom>
              <a:avLst/>
              <a:gdLst>
                <a:gd name="T0" fmla="*/ 51 w 71"/>
                <a:gd name="T1" fmla="*/ 71 h 88"/>
                <a:gd name="T2" fmla="*/ 31 w 71"/>
                <a:gd name="T3" fmla="*/ 88 h 88"/>
                <a:gd name="T4" fmla="*/ 0 w 71"/>
                <a:gd name="T5" fmla="*/ 0 h 88"/>
                <a:gd name="T6" fmla="*/ 71 w 71"/>
                <a:gd name="T7" fmla="*/ 57 h 88"/>
                <a:gd name="T8" fmla="*/ 51 w 71"/>
                <a:gd name="T9" fmla="*/ 71 h 88"/>
                <a:gd name="T10" fmla="*/ 0 60000 65536"/>
                <a:gd name="T11" fmla="*/ 0 60000 65536"/>
                <a:gd name="T12" fmla="*/ 0 60000 65536"/>
                <a:gd name="T13" fmla="*/ 0 60000 65536"/>
                <a:gd name="T14" fmla="*/ 0 60000 65536"/>
                <a:gd name="T15" fmla="*/ 0 w 71"/>
                <a:gd name="T16" fmla="*/ 0 h 88"/>
                <a:gd name="T17" fmla="*/ 71 w 71"/>
                <a:gd name="T18" fmla="*/ 88 h 88"/>
              </a:gdLst>
              <a:ahLst/>
              <a:cxnLst>
                <a:cxn ang="T10">
                  <a:pos x="T0" y="T1"/>
                </a:cxn>
                <a:cxn ang="T11">
                  <a:pos x="T2" y="T3"/>
                </a:cxn>
                <a:cxn ang="T12">
                  <a:pos x="T4" y="T5"/>
                </a:cxn>
                <a:cxn ang="T13">
                  <a:pos x="T6" y="T7"/>
                </a:cxn>
                <a:cxn ang="T14">
                  <a:pos x="T8" y="T9"/>
                </a:cxn>
              </a:cxnLst>
              <a:rect l="T15" t="T16" r="T17" b="T18"/>
              <a:pathLst>
                <a:path w="71" h="88">
                  <a:moveTo>
                    <a:pt x="51" y="71"/>
                  </a:moveTo>
                  <a:lnTo>
                    <a:pt x="31" y="88"/>
                  </a:lnTo>
                  <a:lnTo>
                    <a:pt x="0" y="0"/>
                  </a:lnTo>
                  <a:lnTo>
                    <a:pt x="71" y="57"/>
                  </a:lnTo>
                  <a:lnTo>
                    <a:pt x="51" y="71"/>
                  </a:lnTo>
                </a:path>
              </a:pathLst>
            </a:custGeom>
            <a:solidFill>
              <a:srgbClr val="FFFF00"/>
            </a:solidFill>
            <a:ln w="9525">
              <a:solidFill>
                <a:srgbClr val="000000"/>
              </a:solidFill>
              <a:prstDash val="solid"/>
              <a:round/>
              <a:headEnd/>
              <a:tailEnd/>
            </a:ln>
          </p:spPr>
          <p:txBody>
            <a:bodyPr/>
            <a:lstStyle/>
            <a:p>
              <a:endParaRPr lang="zh-CN" altLang="en-US"/>
            </a:p>
          </p:txBody>
        </p:sp>
        <p:sp>
          <p:nvSpPr>
            <p:cNvPr id="133" name="Freeform 44"/>
            <p:cNvSpPr>
              <a:spLocks/>
            </p:cNvSpPr>
            <p:nvPr/>
          </p:nvSpPr>
          <p:spPr bwMode="auto">
            <a:xfrm>
              <a:off x="1496" y="1160"/>
              <a:ext cx="71" cy="88"/>
            </a:xfrm>
            <a:custGeom>
              <a:avLst/>
              <a:gdLst>
                <a:gd name="T0" fmla="*/ 51 w 71"/>
                <a:gd name="T1" fmla="*/ 71 h 88"/>
                <a:gd name="T2" fmla="*/ 31 w 71"/>
                <a:gd name="T3" fmla="*/ 88 h 88"/>
                <a:gd name="T4" fmla="*/ 0 w 71"/>
                <a:gd name="T5" fmla="*/ 0 h 88"/>
                <a:gd name="T6" fmla="*/ 71 w 71"/>
                <a:gd name="T7" fmla="*/ 57 h 88"/>
                <a:gd name="T8" fmla="*/ 51 w 71"/>
                <a:gd name="T9" fmla="*/ 71 h 88"/>
                <a:gd name="T10" fmla="*/ 0 60000 65536"/>
                <a:gd name="T11" fmla="*/ 0 60000 65536"/>
                <a:gd name="T12" fmla="*/ 0 60000 65536"/>
                <a:gd name="T13" fmla="*/ 0 60000 65536"/>
                <a:gd name="T14" fmla="*/ 0 60000 65536"/>
                <a:gd name="T15" fmla="*/ 0 w 71"/>
                <a:gd name="T16" fmla="*/ 0 h 88"/>
                <a:gd name="T17" fmla="*/ 71 w 71"/>
                <a:gd name="T18" fmla="*/ 88 h 88"/>
              </a:gdLst>
              <a:ahLst/>
              <a:cxnLst>
                <a:cxn ang="T10">
                  <a:pos x="T0" y="T1"/>
                </a:cxn>
                <a:cxn ang="T11">
                  <a:pos x="T2" y="T3"/>
                </a:cxn>
                <a:cxn ang="T12">
                  <a:pos x="T4" y="T5"/>
                </a:cxn>
                <a:cxn ang="T13">
                  <a:pos x="T6" y="T7"/>
                </a:cxn>
                <a:cxn ang="T14">
                  <a:pos x="T8" y="T9"/>
                </a:cxn>
              </a:cxnLst>
              <a:rect l="T15" t="T16" r="T17" b="T18"/>
              <a:pathLst>
                <a:path w="71" h="88">
                  <a:moveTo>
                    <a:pt x="51" y="71"/>
                  </a:moveTo>
                  <a:lnTo>
                    <a:pt x="31" y="88"/>
                  </a:lnTo>
                  <a:lnTo>
                    <a:pt x="0" y="0"/>
                  </a:lnTo>
                  <a:lnTo>
                    <a:pt x="71" y="57"/>
                  </a:lnTo>
                  <a:lnTo>
                    <a:pt x="51" y="7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Freeform 45"/>
            <p:cNvSpPr>
              <a:spLocks/>
            </p:cNvSpPr>
            <p:nvPr/>
          </p:nvSpPr>
          <p:spPr bwMode="auto">
            <a:xfrm>
              <a:off x="1550" y="1234"/>
              <a:ext cx="40" cy="378"/>
            </a:xfrm>
            <a:custGeom>
              <a:avLst/>
              <a:gdLst>
                <a:gd name="T0" fmla="*/ 14 w 40"/>
                <a:gd name="T1" fmla="*/ 378 h 378"/>
                <a:gd name="T2" fmla="*/ 20 w 40"/>
                <a:gd name="T3" fmla="*/ 344 h 378"/>
                <a:gd name="T4" fmla="*/ 25 w 40"/>
                <a:gd name="T5" fmla="*/ 305 h 378"/>
                <a:gd name="T6" fmla="*/ 28 w 40"/>
                <a:gd name="T7" fmla="*/ 265 h 378"/>
                <a:gd name="T8" fmla="*/ 34 w 40"/>
                <a:gd name="T9" fmla="*/ 226 h 378"/>
                <a:gd name="T10" fmla="*/ 37 w 40"/>
                <a:gd name="T11" fmla="*/ 183 h 378"/>
                <a:gd name="T12" fmla="*/ 40 w 40"/>
                <a:gd name="T13" fmla="*/ 144 h 378"/>
                <a:gd name="T14" fmla="*/ 37 w 40"/>
                <a:gd name="T15" fmla="*/ 104 h 378"/>
                <a:gd name="T16" fmla="*/ 28 w 40"/>
                <a:gd name="T17" fmla="*/ 67 h 378"/>
                <a:gd name="T18" fmla="*/ 17 w 40"/>
                <a:gd name="T19" fmla="*/ 34 h 378"/>
                <a:gd name="T20" fmla="*/ 0 w 40"/>
                <a:gd name="T21" fmla="*/ 0 h 3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378"/>
                <a:gd name="T35" fmla="*/ 40 w 40"/>
                <a:gd name="T36" fmla="*/ 378 h 3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378">
                  <a:moveTo>
                    <a:pt x="14" y="378"/>
                  </a:moveTo>
                  <a:lnTo>
                    <a:pt x="20" y="344"/>
                  </a:lnTo>
                  <a:lnTo>
                    <a:pt x="25" y="305"/>
                  </a:lnTo>
                  <a:lnTo>
                    <a:pt x="28" y="265"/>
                  </a:lnTo>
                  <a:lnTo>
                    <a:pt x="34" y="226"/>
                  </a:lnTo>
                  <a:lnTo>
                    <a:pt x="37" y="183"/>
                  </a:lnTo>
                  <a:lnTo>
                    <a:pt x="40" y="144"/>
                  </a:lnTo>
                  <a:lnTo>
                    <a:pt x="37" y="104"/>
                  </a:lnTo>
                  <a:lnTo>
                    <a:pt x="28" y="67"/>
                  </a:lnTo>
                  <a:lnTo>
                    <a:pt x="17" y="34"/>
                  </a:lnTo>
                  <a:lnTo>
                    <a:pt x="0" y="0"/>
                  </a:lnTo>
                </a:path>
              </a:pathLst>
            </a:custGeom>
            <a:solidFill>
              <a:srgbClr val="FFFF00"/>
            </a:solidFill>
            <a:ln w="9525">
              <a:solidFill>
                <a:srgbClr val="000000"/>
              </a:solidFill>
              <a:prstDash val="solid"/>
              <a:round/>
              <a:headEnd/>
              <a:tailEnd/>
            </a:ln>
          </p:spPr>
          <p:txBody>
            <a:bodyPr/>
            <a:lstStyle/>
            <a:p>
              <a:endParaRPr lang="zh-CN" altLang="en-US"/>
            </a:p>
          </p:txBody>
        </p:sp>
        <p:sp>
          <p:nvSpPr>
            <p:cNvPr id="135" name="Freeform 46"/>
            <p:cNvSpPr>
              <a:spLocks/>
            </p:cNvSpPr>
            <p:nvPr/>
          </p:nvSpPr>
          <p:spPr bwMode="auto">
            <a:xfrm>
              <a:off x="1609" y="1369"/>
              <a:ext cx="212" cy="212"/>
            </a:xfrm>
            <a:custGeom>
              <a:avLst/>
              <a:gdLst>
                <a:gd name="T0" fmla="*/ 209 w 212"/>
                <a:gd name="T1" fmla="*/ 105 h 212"/>
                <a:gd name="T2" fmla="*/ 209 w 212"/>
                <a:gd name="T3" fmla="*/ 124 h 212"/>
                <a:gd name="T4" fmla="*/ 206 w 212"/>
                <a:gd name="T5" fmla="*/ 141 h 212"/>
                <a:gd name="T6" fmla="*/ 201 w 212"/>
                <a:gd name="T7" fmla="*/ 155 h 212"/>
                <a:gd name="T8" fmla="*/ 192 w 212"/>
                <a:gd name="T9" fmla="*/ 170 h 212"/>
                <a:gd name="T10" fmla="*/ 181 w 212"/>
                <a:gd name="T11" fmla="*/ 181 h 212"/>
                <a:gd name="T12" fmla="*/ 167 w 212"/>
                <a:gd name="T13" fmla="*/ 192 h 212"/>
                <a:gd name="T14" fmla="*/ 156 w 212"/>
                <a:gd name="T15" fmla="*/ 201 h 212"/>
                <a:gd name="T16" fmla="*/ 139 w 212"/>
                <a:gd name="T17" fmla="*/ 206 h 212"/>
                <a:gd name="T18" fmla="*/ 122 w 212"/>
                <a:gd name="T19" fmla="*/ 212 h 212"/>
                <a:gd name="T20" fmla="*/ 105 w 212"/>
                <a:gd name="T21" fmla="*/ 212 h 212"/>
                <a:gd name="T22" fmla="*/ 88 w 212"/>
                <a:gd name="T23" fmla="*/ 212 h 212"/>
                <a:gd name="T24" fmla="*/ 71 w 212"/>
                <a:gd name="T25" fmla="*/ 206 h 212"/>
                <a:gd name="T26" fmla="*/ 57 w 212"/>
                <a:gd name="T27" fmla="*/ 201 h 212"/>
                <a:gd name="T28" fmla="*/ 43 w 212"/>
                <a:gd name="T29" fmla="*/ 192 h 212"/>
                <a:gd name="T30" fmla="*/ 31 w 212"/>
                <a:gd name="T31" fmla="*/ 181 h 212"/>
                <a:gd name="T32" fmla="*/ 20 w 212"/>
                <a:gd name="T33" fmla="*/ 170 h 212"/>
                <a:gd name="T34" fmla="*/ 12 w 212"/>
                <a:gd name="T35" fmla="*/ 155 h 212"/>
                <a:gd name="T36" fmla="*/ 6 w 212"/>
                <a:gd name="T37" fmla="*/ 141 h 212"/>
                <a:gd name="T38" fmla="*/ 0 w 212"/>
                <a:gd name="T39" fmla="*/ 124 h 212"/>
                <a:gd name="T40" fmla="*/ 0 w 212"/>
                <a:gd name="T41" fmla="*/ 107 h 212"/>
                <a:gd name="T42" fmla="*/ 0 w 212"/>
                <a:gd name="T43" fmla="*/ 91 h 212"/>
                <a:gd name="T44" fmla="*/ 6 w 212"/>
                <a:gd name="T45" fmla="*/ 74 h 212"/>
                <a:gd name="T46" fmla="*/ 12 w 212"/>
                <a:gd name="T47" fmla="*/ 59 h 212"/>
                <a:gd name="T48" fmla="*/ 20 w 212"/>
                <a:gd name="T49" fmla="*/ 45 h 212"/>
                <a:gd name="T50" fmla="*/ 31 w 212"/>
                <a:gd name="T51" fmla="*/ 31 h 212"/>
                <a:gd name="T52" fmla="*/ 43 w 212"/>
                <a:gd name="T53" fmla="*/ 20 h 212"/>
                <a:gd name="T54" fmla="*/ 57 w 212"/>
                <a:gd name="T55" fmla="*/ 11 h 212"/>
                <a:gd name="T56" fmla="*/ 71 w 212"/>
                <a:gd name="T57" fmla="*/ 6 h 212"/>
                <a:gd name="T58" fmla="*/ 88 w 212"/>
                <a:gd name="T59" fmla="*/ 3 h 212"/>
                <a:gd name="T60" fmla="*/ 105 w 212"/>
                <a:gd name="T61" fmla="*/ 0 h 212"/>
                <a:gd name="T62" fmla="*/ 122 w 212"/>
                <a:gd name="T63" fmla="*/ 3 h 212"/>
                <a:gd name="T64" fmla="*/ 139 w 212"/>
                <a:gd name="T65" fmla="*/ 6 h 212"/>
                <a:gd name="T66" fmla="*/ 156 w 212"/>
                <a:gd name="T67" fmla="*/ 11 h 212"/>
                <a:gd name="T68" fmla="*/ 167 w 212"/>
                <a:gd name="T69" fmla="*/ 20 h 212"/>
                <a:gd name="T70" fmla="*/ 181 w 212"/>
                <a:gd name="T71" fmla="*/ 31 h 212"/>
                <a:gd name="T72" fmla="*/ 192 w 212"/>
                <a:gd name="T73" fmla="*/ 45 h 212"/>
                <a:gd name="T74" fmla="*/ 201 w 212"/>
                <a:gd name="T75" fmla="*/ 59 h 212"/>
                <a:gd name="T76" fmla="*/ 206 w 212"/>
                <a:gd name="T77" fmla="*/ 74 h 212"/>
                <a:gd name="T78" fmla="*/ 209 w 212"/>
                <a:gd name="T79" fmla="*/ 91 h 212"/>
                <a:gd name="T80" fmla="*/ 212 w 212"/>
                <a:gd name="T81" fmla="*/ 107 h 212"/>
                <a:gd name="T82" fmla="*/ 209 w 212"/>
                <a:gd name="T83" fmla="*/ 105 h 2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2"/>
                <a:gd name="T127" fmla="*/ 0 h 212"/>
                <a:gd name="T128" fmla="*/ 212 w 212"/>
                <a:gd name="T129" fmla="*/ 212 h 21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2" h="212">
                  <a:moveTo>
                    <a:pt x="209" y="105"/>
                  </a:moveTo>
                  <a:lnTo>
                    <a:pt x="209" y="124"/>
                  </a:lnTo>
                  <a:lnTo>
                    <a:pt x="206" y="141"/>
                  </a:lnTo>
                  <a:lnTo>
                    <a:pt x="201" y="155"/>
                  </a:lnTo>
                  <a:lnTo>
                    <a:pt x="192" y="170"/>
                  </a:lnTo>
                  <a:lnTo>
                    <a:pt x="181" y="181"/>
                  </a:lnTo>
                  <a:lnTo>
                    <a:pt x="167" y="192"/>
                  </a:lnTo>
                  <a:lnTo>
                    <a:pt x="156" y="201"/>
                  </a:lnTo>
                  <a:lnTo>
                    <a:pt x="139" y="206"/>
                  </a:lnTo>
                  <a:lnTo>
                    <a:pt x="122" y="212"/>
                  </a:lnTo>
                  <a:lnTo>
                    <a:pt x="105" y="212"/>
                  </a:lnTo>
                  <a:lnTo>
                    <a:pt x="88" y="212"/>
                  </a:lnTo>
                  <a:lnTo>
                    <a:pt x="71" y="206"/>
                  </a:lnTo>
                  <a:lnTo>
                    <a:pt x="57" y="201"/>
                  </a:lnTo>
                  <a:lnTo>
                    <a:pt x="43" y="192"/>
                  </a:lnTo>
                  <a:lnTo>
                    <a:pt x="31" y="181"/>
                  </a:lnTo>
                  <a:lnTo>
                    <a:pt x="20" y="170"/>
                  </a:lnTo>
                  <a:lnTo>
                    <a:pt x="12" y="155"/>
                  </a:lnTo>
                  <a:lnTo>
                    <a:pt x="6" y="141"/>
                  </a:lnTo>
                  <a:lnTo>
                    <a:pt x="0" y="124"/>
                  </a:lnTo>
                  <a:lnTo>
                    <a:pt x="0" y="107"/>
                  </a:lnTo>
                  <a:lnTo>
                    <a:pt x="0" y="91"/>
                  </a:lnTo>
                  <a:lnTo>
                    <a:pt x="6" y="74"/>
                  </a:lnTo>
                  <a:lnTo>
                    <a:pt x="12" y="59"/>
                  </a:lnTo>
                  <a:lnTo>
                    <a:pt x="20" y="45"/>
                  </a:lnTo>
                  <a:lnTo>
                    <a:pt x="31" y="31"/>
                  </a:lnTo>
                  <a:lnTo>
                    <a:pt x="43" y="20"/>
                  </a:lnTo>
                  <a:lnTo>
                    <a:pt x="57" y="11"/>
                  </a:lnTo>
                  <a:lnTo>
                    <a:pt x="71" y="6"/>
                  </a:lnTo>
                  <a:lnTo>
                    <a:pt x="88" y="3"/>
                  </a:lnTo>
                  <a:lnTo>
                    <a:pt x="105" y="0"/>
                  </a:lnTo>
                  <a:lnTo>
                    <a:pt x="122" y="3"/>
                  </a:lnTo>
                  <a:lnTo>
                    <a:pt x="139" y="6"/>
                  </a:lnTo>
                  <a:lnTo>
                    <a:pt x="156" y="11"/>
                  </a:lnTo>
                  <a:lnTo>
                    <a:pt x="167" y="20"/>
                  </a:lnTo>
                  <a:lnTo>
                    <a:pt x="181" y="31"/>
                  </a:lnTo>
                  <a:lnTo>
                    <a:pt x="192" y="45"/>
                  </a:lnTo>
                  <a:lnTo>
                    <a:pt x="201" y="59"/>
                  </a:lnTo>
                  <a:lnTo>
                    <a:pt x="206" y="74"/>
                  </a:lnTo>
                  <a:lnTo>
                    <a:pt x="209" y="91"/>
                  </a:lnTo>
                  <a:lnTo>
                    <a:pt x="212" y="107"/>
                  </a:lnTo>
                  <a:lnTo>
                    <a:pt x="209" y="105"/>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 name="Freeform 47"/>
            <p:cNvSpPr>
              <a:spLocks/>
            </p:cNvSpPr>
            <p:nvPr/>
          </p:nvSpPr>
          <p:spPr bwMode="auto">
            <a:xfrm>
              <a:off x="1609" y="1369"/>
              <a:ext cx="212" cy="212"/>
            </a:xfrm>
            <a:custGeom>
              <a:avLst/>
              <a:gdLst>
                <a:gd name="T0" fmla="*/ 209 w 212"/>
                <a:gd name="T1" fmla="*/ 105 h 212"/>
                <a:gd name="T2" fmla="*/ 209 w 212"/>
                <a:gd name="T3" fmla="*/ 91 h 212"/>
                <a:gd name="T4" fmla="*/ 206 w 212"/>
                <a:gd name="T5" fmla="*/ 74 h 212"/>
                <a:gd name="T6" fmla="*/ 201 w 212"/>
                <a:gd name="T7" fmla="*/ 59 h 212"/>
                <a:gd name="T8" fmla="*/ 192 w 212"/>
                <a:gd name="T9" fmla="*/ 45 h 212"/>
                <a:gd name="T10" fmla="*/ 181 w 212"/>
                <a:gd name="T11" fmla="*/ 31 h 212"/>
                <a:gd name="T12" fmla="*/ 167 w 212"/>
                <a:gd name="T13" fmla="*/ 20 h 212"/>
                <a:gd name="T14" fmla="*/ 156 w 212"/>
                <a:gd name="T15" fmla="*/ 11 h 212"/>
                <a:gd name="T16" fmla="*/ 139 w 212"/>
                <a:gd name="T17" fmla="*/ 6 h 212"/>
                <a:gd name="T18" fmla="*/ 122 w 212"/>
                <a:gd name="T19" fmla="*/ 3 h 212"/>
                <a:gd name="T20" fmla="*/ 105 w 212"/>
                <a:gd name="T21" fmla="*/ 0 h 212"/>
                <a:gd name="T22" fmla="*/ 88 w 212"/>
                <a:gd name="T23" fmla="*/ 3 h 212"/>
                <a:gd name="T24" fmla="*/ 71 w 212"/>
                <a:gd name="T25" fmla="*/ 6 h 212"/>
                <a:gd name="T26" fmla="*/ 57 w 212"/>
                <a:gd name="T27" fmla="*/ 11 h 212"/>
                <a:gd name="T28" fmla="*/ 43 w 212"/>
                <a:gd name="T29" fmla="*/ 20 h 212"/>
                <a:gd name="T30" fmla="*/ 31 w 212"/>
                <a:gd name="T31" fmla="*/ 31 h 212"/>
                <a:gd name="T32" fmla="*/ 20 w 212"/>
                <a:gd name="T33" fmla="*/ 45 h 212"/>
                <a:gd name="T34" fmla="*/ 12 w 212"/>
                <a:gd name="T35" fmla="*/ 59 h 212"/>
                <a:gd name="T36" fmla="*/ 6 w 212"/>
                <a:gd name="T37" fmla="*/ 74 h 212"/>
                <a:gd name="T38" fmla="*/ 0 w 212"/>
                <a:gd name="T39" fmla="*/ 91 h 212"/>
                <a:gd name="T40" fmla="*/ 0 w 212"/>
                <a:gd name="T41" fmla="*/ 107 h 212"/>
                <a:gd name="T42" fmla="*/ 0 w 212"/>
                <a:gd name="T43" fmla="*/ 124 h 212"/>
                <a:gd name="T44" fmla="*/ 6 w 212"/>
                <a:gd name="T45" fmla="*/ 141 h 212"/>
                <a:gd name="T46" fmla="*/ 12 w 212"/>
                <a:gd name="T47" fmla="*/ 155 h 212"/>
                <a:gd name="T48" fmla="*/ 20 w 212"/>
                <a:gd name="T49" fmla="*/ 170 h 212"/>
                <a:gd name="T50" fmla="*/ 31 w 212"/>
                <a:gd name="T51" fmla="*/ 181 h 212"/>
                <a:gd name="T52" fmla="*/ 43 w 212"/>
                <a:gd name="T53" fmla="*/ 192 h 212"/>
                <a:gd name="T54" fmla="*/ 57 w 212"/>
                <a:gd name="T55" fmla="*/ 201 h 212"/>
                <a:gd name="T56" fmla="*/ 71 w 212"/>
                <a:gd name="T57" fmla="*/ 206 h 212"/>
                <a:gd name="T58" fmla="*/ 88 w 212"/>
                <a:gd name="T59" fmla="*/ 212 h 212"/>
                <a:gd name="T60" fmla="*/ 105 w 212"/>
                <a:gd name="T61" fmla="*/ 212 h 212"/>
                <a:gd name="T62" fmla="*/ 122 w 212"/>
                <a:gd name="T63" fmla="*/ 212 h 212"/>
                <a:gd name="T64" fmla="*/ 139 w 212"/>
                <a:gd name="T65" fmla="*/ 206 h 212"/>
                <a:gd name="T66" fmla="*/ 156 w 212"/>
                <a:gd name="T67" fmla="*/ 201 h 212"/>
                <a:gd name="T68" fmla="*/ 167 w 212"/>
                <a:gd name="T69" fmla="*/ 192 h 212"/>
                <a:gd name="T70" fmla="*/ 181 w 212"/>
                <a:gd name="T71" fmla="*/ 181 h 212"/>
                <a:gd name="T72" fmla="*/ 192 w 212"/>
                <a:gd name="T73" fmla="*/ 170 h 212"/>
                <a:gd name="T74" fmla="*/ 201 w 212"/>
                <a:gd name="T75" fmla="*/ 155 h 212"/>
                <a:gd name="T76" fmla="*/ 206 w 212"/>
                <a:gd name="T77" fmla="*/ 141 h 212"/>
                <a:gd name="T78" fmla="*/ 209 w 212"/>
                <a:gd name="T79" fmla="*/ 124 h 212"/>
                <a:gd name="T80" fmla="*/ 212 w 212"/>
                <a:gd name="T81" fmla="*/ 107 h 212"/>
                <a:gd name="T82" fmla="*/ 212 w 212"/>
                <a:gd name="T83" fmla="*/ 107 h 2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2"/>
                <a:gd name="T127" fmla="*/ 0 h 212"/>
                <a:gd name="T128" fmla="*/ 212 w 212"/>
                <a:gd name="T129" fmla="*/ 212 h 21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2" h="212">
                  <a:moveTo>
                    <a:pt x="209" y="105"/>
                  </a:moveTo>
                  <a:lnTo>
                    <a:pt x="209" y="91"/>
                  </a:lnTo>
                  <a:lnTo>
                    <a:pt x="206" y="74"/>
                  </a:lnTo>
                  <a:lnTo>
                    <a:pt x="201" y="59"/>
                  </a:lnTo>
                  <a:lnTo>
                    <a:pt x="192" y="45"/>
                  </a:lnTo>
                  <a:lnTo>
                    <a:pt x="181" y="31"/>
                  </a:lnTo>
                  <a:lnTo>
                    <a:pt x="167" y="20"/>
                  </a:lnTo>
                  <a:lnTo>
                    <a:pt x="156" y="11"/>
                  </a:lnTo>
                  <a:lnTo>
                    <a:pt x="139" y="6"/>
                  </a:lnTo>
                  <a:lnTo>
                    <a:pt x="122" y="3"/>
                  </a:lnTo>
                  <a:lnTo>
                    <a:pt x="105" y="0"/>
                  </a:lnTo>
                  <a:lnTo>
                    <a:pt x="88" y="3"/>
                  </a:lnTo>
                  <a:lnTo>
                    <a:pt x="71" y="6"/>
                  </a:lnTo>
                  <a:lnTo>
                    <a:pt x="57" y="11"/>
                  </a:lnTo>
                  <a:lnTo>
                    <a:pt x="43" y="20"/>
                  </a:lnTo>
                  <a:lnTo>
                    <a:pt x="31" y="31"/>
                  </a:lnTo>
                  <a:lnTo>
                    <a:pt x="20" y="45"/>
                  </a:lnTo>
                  <a:lnTo>
                    <a:pt x="12" y="59"/>
                  </a:lnTo>
                  <a:lnTo>
                    <a:pt x="6" y="74"/>
                  </a:lnTo>
                  <a:lnTo>
                    <a:pt x="0" y="91"/>
                  </a:lnTo>
                  <a:lnTo>
                    <a:pt x="0" y="107"/>
                  </a:lnTo>
                  <a:lnTo>
                    <a:pt x="0" y="124"/>
                  </a:lnTo>
                  <a:lnTo>
                    <a:pt x="6" y="141"/>
                  </a:lnTo>
                  <a:lnTo>
                    <a:pt x="12" y="155"/>
                  </a:lnTo>
                  <a:lnTo>
                    <a:pt x="20" y="170"/>
                  </a:lnTo>
                  <a:lnTo>
                    <a:pt x="31" y="181"/>
                  </a:lnTo>
                  <a:lnTo>
                    <a:pt x="43" y="192"/>
                  </a:lnTo>
                  <a:lnTo>
                    <a:pt x="57" y="201"/>
                  </a:lnTo>
                  <a:lnTo>
                    <a:pt x="71" y="206"/>
                  </a:lnTo>
                  <a:lnTo>
                    <a:pt x="88" y="212"/>
                  </a:lnTo>
                  <a:lnTo>
                    <a:pt x="105" y="212"/>
                  </a:lnTo>
                  <a:lnTo>
                    <a:pt x="122" y="212"/>
                  </a:lnTo>
                  <a:lnTo>
                    <a:pt x="139" y="206"/>
                  </a:lnTo>
                  <a:lnTo>
                    <a:pt x="156" y="201"/>
                  </a:lnTo>
                  <a:lnTo>
                    <a:pt x="167" y="192"/>
                  </a:lnTo>
                  <a:lnTo>
                    <a:pt x="181" y="181"/>
                  </a:lnTo>
                  <a:lnTo>
                    <a:pt x="192" y="170"/>
                  </a:lnTo>
                  <a:lnTo>
                    <a:pt x="201" y="155"/>
                  </a:lnTo>
                  <a:lnTo>
                    <a:pt x="206" y="141"/>
                  </a:lnTo>
                  <a:lnTo>
                    <a:pt x="209" y="124"/>
                  </a:lnTo>
                  <a:lnTo>
                    <a:pt x="212" y="107"/>
                  </a:lnTo>
                </a:path>
              </a:pathLst>
            </a:custGeom>
            <a:solidFill>
              <a:srgbClr val="FFFF00"/>
            </a:solidFill>
            <a:ln w="9525">
              <a:solidFill>
                <a:srgbClr val="000000"/>
              </a:solidFill>
              <a:prstDash val="solid"/>
              <a:round/>
              <a:headEnd/>
              <a:tailEnd/>
            </a:ln>
          </p:spPr>
          <p:txBody>
            <a:bodyPr/>
            <a:lstStyle/>
            <a:p>
              <a:endParaRPr lang="zh-CN" altLang="en-US"/>
            </a:p>
          </p:txBody>
        </p:sp>
        <p:sp>
          <p:nvSpPr>
            <p:cNvPr id="137" name="Rectangle 48"/>
            <p:cNvSpPr>
              <a:spLocks noChangeArrowheads="1"/>
            </p:cNvSpPr>
            <p:nvPr/>
          </p:nvSpPr>
          <p:spPr bwMode="auto">
            <a:xfrm>
              <a:off x="1680" y="1429"/>
              <a:ext cx="49" cy="12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4</a:t>
              </a:r>
              <a:endParaRPr lang="en-US" altLang="zh-CN" sz="1400">
                <a:ea typeface="宋体" panose="02010600030101010101" pitchFamily="2" charset="-122"/>
              </a:endParaRPr>
            </a:p>
          </p:txBody>
        </p:sp>
        <p:sp>
          <p:nvSpPr>
            <p:cNvPr id="138" name="Rectangle 49"/>
            <p:cNvSpPr>
              <a:spLocks noChangeArrowheads="1"/>
            </p:cNvSpPr>
            <p:nvPr/>
          </p:nvSpPr>
          <p:spPr bwMode="auto">
            <a:xfrm>
              <a:off x="1649" y="1209"/>
              <a:ext cx="49" cy="12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u</a:t>
              </a:r>
              <a:endParaRPr lang="en-US" altLang="zh-CN" sz="1400">
                <a:ea typeface="宋体" panose="02010600030101010101" pitchFamily="2" charset="-122"/>
              </a:endParaRPr>
            </a:p>
          </p:txBody>
        </p:sp>
        <p:sp>
          <p:nvSpPr>
            <p:cNvPr id="139" name="Rectangle 50"/>
            <p:cNvSpPr>
              <a:spLocks noChangeArrowheads="1"/>
            </p:cNvSpPr>
            <p:nvPr/>
          </p:nvSpPr>
          <p:spPr bwMode="auto">
            <a:xfrm>
              <a:off x="1702" y="1209"/>
              <a:ext cx="151" cy="12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 = ?</a:t>
              </a:r>
              <a:endParaRPr lang="en-US" altLang="zh-CN" sz="1400">
                <a:ea typeface="宋体" panose="02010600030101010101" pitchFamily="2" charset="-122"/>
              </a:endParaRPr>
            </a:p>
          </p:txBody>
        </p:sp>
      </p:grpSp>
      <p:grpSp>
        <p:nvGrpSpPr>
          <p:cNvPr id="140" name="Group 51"/>
          <p:cNvGrpSpPr>
            <a:grpSpLocks/>
          </p:cNvGrpSpPr>
          <p:nvPr/>
        </p:nvGrpSpPr>
        <p:grpSpPr bwMode="auto">
          <a:xfrm>
            <a:off x="2098278" y="4153301"/>
            <a:ext cx="347663" cy="274638"/>
            <a:chOff x="1784" y="2425"/>
            <a:chExt cx="202" cy="173"/>
          </a:xfrm>
        </p:grpSpPr>
        <p:sp>
          <p:nvSpPr>
            <p:cNvPr id="141" name="Rectangle 52"/>
            <p:cNvSpPr>
              <a:spLocks noChangeArrowheads="1"/>
            </p:cNvSpPr>
            <p:nvPr/>
          </p:nvSpPr>
          <p:spPr bwMode="auto">
            <a:xfrm>
              <a:off x="1784" y="2425"/>
              <a:ext cx="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a:solidFill>
                    <a:srgbClr val="FF0000"/>
                  </a:solidFill>
                  <a:ea typeface="宋体" panose="02010600030101010101" pitchFamily="2" charset="-122"/>
                </a:rPr>
                <a:t>u</a:t>
              </a:r>
              <a:endParaRPr lang="en-US" altLang="zh-CN" sz="2000">
                <a:solidFill>
                  <a:srgbClr val="FF0000"/>
                </a:solidFill>
                <a:ea typeface="宋体" panose="02010600030101010101" pitchFamily="2" charset="-122"/>
              </a:endParaRPr>
            </a:p>
          </p:txBody>
        </p:sp>
        <p:sp>
          <p:nvSpPr>
            <p:cNvPr id="142" name="Rectangle 53"/>
            <p:cNvSpPr>
              <a:spLocks noChangeArrowheads="1"/>
            </p:cNvSpPr>
            <p:nvPr/>
          </p:nvSpPr>
          <p:spPr bwMode="auto">
            <a:xfrm>
              <a:off x="1838" y="2425"/>
              <a:ext cx="1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dirty="0">
                  <a:solidFill>
                    <a:srgbClr val="FF0000"/>
                  </a:solidFill>
                  <a:ea typeface="宋体" panose="02010600030101010101" pitchFamily="2" charset="-122"/>
                </a:rPr>
                <a:t> :5</a:t>
              </a:r>
              <a:endParaRPr lang="en-US" altLang="zh-CN" sz="2000" dirty="0">
                <a:solidFill>
                  <a:srgbClr val="FF0000"/>
                </a:solidFill>
                <a:ea typeface="宋体" panose="02010600030101010101" pitchFamily="2" charset="-122"/>
              </a:endParaRPr>
            </a:p>
          </p:txBody>
        </p:sp>
      </p:grpSp>
      <p:grpSp>
        <p:nvGrpSpPr>
          <p:cNvPr id="143" name="Group 54"/>
          <p:cNvGrpSpPr>
            <a:grpSpLocks/>
          </p:cNvGrpSpPr>
          <p:nvPr/>
        </p:nvGrpSpPr>
        <p:grpSpPr bwMode="auto">
          <a:xfrm>
            <a:off x="2593578" y="2781701"/>
            <a:ext cx="3473450" cy="1630363"/>
            <a:chOff x="2112" y="1584"/>
            <a:chExt cx="2020" cy="1027"/>
          </a:xfrm>
        </p:grpSpPr>
        <p:sp>
          <p:nvSpPr>
            <p:cNvPr id="144" name="Freeform 55"/>
            <p:cNvSpPr>
              <a:spLocks/>
            </p:cNvSpPr>
            <p:nvPr/>
          </p:nvSpPr>
          <p:spPr bwMode="auto">
            <a:xfrm>
              <a:off x="2112" y="1776"/>
              <a:ext cx="1776" cy="768"/>
            </a:xfrm>
            <a:custGeom>
              <a:avLst/>
              <a:gdLst>
                <a:gd name="T0" fmla="*/ 0 w 1900"/>
                <a:gd name="T1" fmla="*/ 768 h 728"/>
                <a:gd name="T2" fmla="*/ 139 w 1900"/>
                <a:gd name="T3" fmla="*/ 741 h 728"/>
                <a:gd name="T4" fmla="*/ 279 w 1900"/>
                <a:gd name="T5" fmla="*/ 723 h 728"/>
                <a:gd name="T6" fmla="*/ 422 w 1900"/>
                <a:gd name="T7" fmla="*/ 706 h 728"/>
                <a:gd name="T8" fmla="*/ 567 w 1900"/>
                <a:gd name="T9" fmla="*/ 690 h 728"/>
                <a:gd name="T10" fmla="*/ 709 w 1900"/>
                <a:gd name="T11" fmla="*/ 673 h 728"/>
                <a:gd name="T12" fmla="*/ 852 w 1900"/>
                <a:gd name="T13" fmla="*/ 649 h 728"/>
                <a:gd name="T14" fmla="*/ 992 w 1900"/>
                <a:gd name="T15" fmla="*/ 613 h 728"/>
                <a:gd name="T16" fmla="*/ 1124 w 1900"/>
                <a:gd name="T17" fmla="*/ 565 h 728"/>
                <a:gd name="T18" fmla="*/ 1253 w 1900"/>
                <a:gd name="T19" fmla="*/ 503 h 728"/>
                <a:gd name="T20" fmla="*/ 1375 w 1900"/>
                <a:gd name="T21" fmla="*/ 420 h 728"/>
                <a:gd name="T22" fmla="*/ 1420 w 1900"/>
                <a:gd name="T23" fmla="*/ 381 h 728"/>
                <a:gd name="T24" fmla="*/ 1462 w 1900"/>
                <a:gd name="T25" fmla="*/ 342 h 728"/>
                <a:gd name="T26" fmla="*/ 1501 w 1900"/>
                <a:gd name="T27" fmla="*/ 301 h 728"/>
                <a:gd name="T28" fmla="*/ 1540 w 1900"/>
                <a:gd name="T29" fmla="*/ 258 h 728"/>
                <a:gd name="T30" fmla="*/ 1581 w 1900"/>
                <a:gd name="T31" fmla="*/ 214 h 728"/>
                <a:gd name="T32" fmla="*/ 1620 w 1900"/>
                <a:gd name="T33" fmla="*/ 170 h 728"/>
                <a:gd name="T34" fmla="*/ 1657 w 1900"/>
                <a:gd name="T35" fmla="*/ 128 h 728"/>
                <a:gd name="T36" fmla="*/ 1697 w 1900"/>
                <a:gd name="T37" fmla="*/ 83 h 728"/>
                <a:gd name="T38" fmla="*/ 1736 w 1900"/>
                <a:gd name="T39" fmla="*/ 41 h 728"/>
                <a:gd name="T40" fmla="*/ 1776 w 1900"/>
                <a:gd name="T41" fmla="*/ 0 h 7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00"/>
                <a:gd name="T64" fmla="*/ 0 h 728"/>
                <a:gd name="T65" fmla="*/ 1900 w 1900"/>
                <a:gd name="T66" fmla="*/ 728 h 7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00" h="728">
                  <a:moveTo>
                    <a:pt x="0" y="728"/>
                  </a:moveTo>
                  <a:lnTo>
                    <a:pt x="149" y="702"/>
                  </a:lnTo>
                  <a:lnTo>
                    <a:pt x="299" y="685"/>
                  </a:lnTo>
                  <a:lnTo>
                    <a:pt x="451" y="669"/>
                  </a:lnTo>
                  <a:lnTo>
                    <a:pt x="607" y="654"/>
                  </a:lnTo>
                  <a:lnTo>
                    <a:pt x="759" y="638"/>
                  </a:lnTo>
                  <a:lnTo>
                    <a:pt x="912" y="615"/>
                  </a:lnTo>
                  <a:lnTo>
                    <a:pt x="1061" y="581"/>
                  </a:lnTo>
                  <a:lnTo>
                    <a:pt x="1202" y="536"/>
                  </a:lnTo>
                  <a:lnTo>
                    <a:pt x="1341" y="477"/>
                  </a:lnTo>
                  <a:lnTo>
                    <a:pt x="1471" y="398"/>
                  </a:lnTo>
                  <a:lnTo>
                    <a:pt x="1519" y="361"/>
                  </a:lnTo>
                  <a:lnTo>
                    <a:pt x="1564" y="324"/>
                  </a:lnTo>
                  <a:lnTo>
                    <a:pt x="1606" y="285"/>
                  </a:lnTo>
                  <a:lnTo>
                    <a:pt x="1648" y="245"/>
                  </a:lnTo>
                  <a:lnTo>
                    <a:pt x="1691" y="203"/>
                  </a:lnTo>
                  <a:lnTo>
                    <a:pt x="1733" y="161"/>
                  </a:lnTo>
                  <a:lnTo>
                    <a:pt x="1773" y="121"/>
                  </a:lnTo>
                  <a:lnTo>
                    <a:pt x="1815" y="79"/>
                  </a:lnTo>
                  <a:lnTo>
                    <a:pt x="1857" y="39"/>
                  </a:lnTo>
                  <a:lnTo>
                    <a:pt x="1900" y="0"/>
                  </a:lnTo>
                </a:path>
              </a:pathLst>
            </a:custGeom>
            <a:noFill/>
            <a:ln w="9525">
              <a:solidFill>
                <a:srgbClr val="000000"/>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sp>
          <p:nvSpPr>
            <p:cNvPr id="145" name="Freeform 56"/>
            <p:cNvSpPr>
              <a:spLocks/>
            </p:cNvSpPr>
            <p:nvPr/>
          </p:nvSpPr>
          <p:spPr bwMode="auto">
            <a:xfrm>
              <a:off x="3216" y="2400"/>
              <a:ext cx="194" cy="211"/>
            </a:xfrm>
            <a:custGeom>
              <a:avLst/>
              <a:gdLst>
                <a:gd name="T0" fmla="*/ 194 w 212"/>
                <a:gd name="T1" fmla="*/ 104 h 211"/>
                <a:gd name="T2" fmla="*/ 191 w 212"/>
                <a:gd name="T3" fmla="*/ 87 h 211"/>
                <a:gd name="T4" fmla="*/ 189 w 212"/>
                <a:gd name="T5" fmla="*/ 70 h 211"/>
                <a:gd name="T6" fmla="*/ 184 w 212"/>
                <a:gd name="T7" fmla="*/ 56 h 211"/>
                <a:gd name="T8" fmla="*/ 176 w 212"/>
                <a:gd name="T9" fmla="*/ 42 h 211"/>
                <a:gd name="T10" fmla="*/ 166 w 212"/>
                <a:gd name="T11" fmla="*/ 31 h 211"/>
                <a:gd name="T12" fmla="*/ 153 w 212"/>
                <a:gd name="T13" fmla="*/ 19 h 211"/>
                <a:gd name="T14" fmla="*/ 143 w 212"/>
                <a:gd name="T15" fmla="*/ 11 h 211"/>
                <a:gd name="T16" fmla="*/ 127 w 212"/>
                <a:gd name="T17" fmla="*/ 5 h 211"/>
                <a:gd name="T18" fmla="*/ 112 w 212"/>
                <a:gd name="T19" fmla="*/ 0 h 211"/>
                <a:gd name="T20" fmla="*/ 96 w 212"/>
                <a:gd name="T21" fmla="*/ 0 h 211"/>
                <a:gd name="T22" fmla="*/ 81 w 212"/>
                <a:gd name="T23" fmla="*/ 0 h 211"/>
                <a:gd name="T24" fmla="*/ 65 w 212"/>
                <a:gd name="T25" fmla="*/ 5 h 211"/>
                <a:gd name="T26" fmla="*/ 52 w 212"/>
                <a:gd name="T27" fmla="*/ 11 h 211"/>
                <a:gd name="T28" fmla="*/ 39 w 212"/>
                <a:gd name="T29" fmla="*/ 19 h 211"/>
                <a:gd name="T30" fmla="*/ 28 w 212"/>
                <a:gd name="T31" fmla="*/ 31 h 211"/>
                <a:gd name="T32" fmla="*/ 18 w 212"/>
                <a:gd name="T33" fmla="*/ 42 h 211"/>
                <a:gd name="T34" fmla="*/ 11 w 212"/>
                <a:gd name="T35" fmla="*/ 56 h 211"/>
                <a:gd name="T36" fmla="*/ 5 w 212"/>
                <a:gd name="T37" fmla="*/ 70 h 211"/>
                <a:gd name="T38" fmla="*/ 0 w 212"/>
                <a:gd name="T39" fmla="*/ 87 h 211"/>
                <a:gd name="T40" fmla="*/ 0 w 212"/>
                <a:gd name="T41" fmla="*/ 104 h 211"/>
                <a:gd name="T42" fmla="*/ 0 w 212"/>
                <a:gd name="T43" fmla="*/ 121 h 211"/>
                <a:gd name="T44" fmla="*/ 5 w 212"/>
                <a:gd name="T45" fmla="*/ 138 h 211"/>
                <a:gd name="T46" fmla="*/ 11 w 212"/>
                <a:gd name="T47" fmla="*/ 152 h 211"/>
                <a:gd name="T48" fmla="*/ 18 w 212"/>
                <a:gd name="T49" fmla="*/ 166 h 211"/>
                <a:gd name="T50" fmla="*/ 28 w 212"/>
                <a:gd name="T51" fmla="*/ 180 h 211"/>
                <a:gd name="T52" fmla="*/ 39 w 212"/>
                <a:gd name="T53" fmla="*/ 189 h 211"/>
                <a:gd name="T54" fmla="*/ 52 w 212"/>
                <a:gd name="T55" fmla="*/ 200 h 211"/>
                <a:gd name="T56" fmla="*/ 65 w 212"/>
                <a:gd name="T57" fmla="*/ 206 h 211"/>
                <a:gd name="T58" fmla="*/ 81 w 212"/>
                <a:gd name="T59" fmla="*/ 209 h 211"/>
                <a:gd name="T60" fmla="*/ 96 w 212"/>
                <a:gd name="T61" fmla="*/ 211 h 211"/>
                <a:gd name="T62" fmla="*/ 112 w 212"/>
                <a:gd name="T63" fmla="*/ 209 h 211"/>
                <a:gd name="T64" fmla="*/ 127 w 212"/>
                <a:gd name="T65" fmla="*/ 206 h 211"/>
                <a:gd name="T66" fmla="*/ 143 w 212"/>
                <a:gd name="T67" fmla="*/ 200 h 211"/>
                <a:gd name="T68" fmla="*/ 153 w 212"/>
                <a:gd name="T69" fmla="*/ 189 h 211"/>
                <a:gd name="T70" fmla="*/ 166 w 212"/>
                <a:gd name="T71" fmla="*/ 180 h 211"/>
                <a:gd name="T72" fmla="*/ 176 w 212"/>
                <a:gd name="T73" fmla="*/ 166 h 211"/>
                <a:gd name="T74" fmla="*/ 184 w 212"/>
                <a:gd name="T75" fmla="*/ 152 h 211"/>
                <a:gd name="T76" fmla="*/ 189 w 212"/>
                <a:gd name="T77" fmla="*/ 138 h 211"/>
                <a:gd name="T78" fmla="*/ 191 w 212"/>
                <a:gd name="T79" fmla="*/ 121 h 211"/>
                <a:gd name="T80" fmla="*/ 194 w 212"/>
                <a:gd name="T81" fmla="*/ 104 h 211"/>
                <a:gd name="T82" fmla="*/ 194 w 212"/>
                <a:gd name="T83" fmla="*/ 104 h 2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2"/>
                <a:gd name="T127" fmla="*/ 0 h 211"/>
                <a:gd name="T128" fmla="*/ 212 w 212"/>
                <a:gd name="T129" fmla="*/ 211 h 2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2" h="211">
                  <a:moveTo>
                    <a:pt x="212" y="104"/>
                  </a:moveTo>
                  <a:lnTo>
                    <a:pt x="209" y="87"/>
                  </a:lnTo>
                  <a:lnTo>
                    <a:pt x="206" y="70"/>
                  </a:lnTo>
                  <a:lnTo>
                    <a:pt x="201" y="56"/>
                  </a:lnTo>
                  <a:lnTo>
                    <a:pt x="192" y="42"/>
                  </a:lnTo>
                  <a:lnTo>
                    <a:pt x="181" y="31"/>
                  </a:lnTo>
                  <a:lnTo>
                    <a:pt x="167" y="19"/>
                  </a:lnTo>
                  <a:lnTo>
                    <a:pt x="156" y="11"/>
                  </a:lnTo>
                  <a:lnTo>
                    <a:pt x="139" y="5"/>
                  </a:lnTo>
                  <a:lnTo>
                    <a:pt x="122" y="0"/>
                  </a:lnTo>
                  <a:lnTo>
                    <a:pt x="105" y="0"/>
                  </a:lnTo>
                  <a:lnTo>
                    <a:pt x="88" y="0"/>
                  </a:lnTo>
                  <a:lnTo>
                    <a:pt x="71" y="5"/>
                  </a:lnTo>
                  <a:lnTo>
                    <a:pt x="57" y="11"/>
                  </a:lnTo>
                  <a:lnTo>
                    <a:pt x="43" y="19"/>
                  </a:lnTo>
                  <a:lnTo>
                    <a:pt x="31" y="31"/>
                  </a:lnTo>
                  <a:lnTo>
                    <a:pt x="20" y="42"/>
                  </a:lnTo>
                  <a:lnTo>
                    <a:pt x="12" y="56"/>
                  </a:lnTo>
                  <a:lnTo>
                    <a:pt x="6" y="70"/>
                  </a:lnTo>
                  <a:lnTo>
                    <a:pt x="0" y="87"/>
                  </a:lnTo>
                  <a:lnTo>
                    <a:pt x="0" y="104"/>
                  </a:lnTo>
                  <a:lnTo>
                    <a:pt x="0" y="121"/>
                  </a:lnTo>
                  <a:lnTo>
                    <a:pt x="6" y="138"/>
                  </a:lnTo>
                  <a:lnTo>
                    <a:pt x="12" y="152"/>
                  </a:lnTo>
                  <a:lnTo>
                    <a:pt x="20" y="166"/>
                  </a:lnTo>
                  <a:lnTo>
                    <a:pt x="31" y="180"/>
                  </a:lnTo>
                  <a:lnTo>
                    <a:pt x="43" y="189"/>
                  </a:lnTo>
                  <a:lnTo>
                    <a:pt x="57" y="200"/>
                  </a:lnTo>
                  <a:lnTo>
                    <a:pt x="71" y="206"/>
                  </a:lnTo>
                  <a:lnTo>
                    <a:pt x="88" y="209"/>
                  </a:lnTo>
                  <a:lnTo>
                    <a:pt x="105" y="211"/>
                  </a:lnTo>
                  <a:lnTo>
                    <a:pt x="122" y="209"/>
                  </a:lnTo>
                  <a:lnTo>
                    <a:pt x="139" y="206"/>
                  </a:lnTo>
                  <a:lnTo>
                    <a:pt x="156" y="200"/>
                  </a:lnTo>
                  <a:lnTo>
                    <a:pt x="167" y="189"/>
                  </a:lnTo>
                  <a:lnTo>
                    <a:pt x="181" y="180"/>
                  </a:lnTo>
                  <a:lnTo>
                    <a:pt x="192" y="166"/>
                  </a:lnTo>
                  <a:lnTo>
                    <a:pt x="201" y="152"/>
                  </a:lnTo>
                  <a:lnTo>
                    <a:pt x="206" y="138"/>
                  </a:lnTo>
                  <a:lnTo>
                    <a:pt x="209" y="121"/>
                  </a:lnTo>
                  <a:lnTo>
                    <a:pt x="212" y="104"/>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sp>
          <p:nvSpPr>
            <p:cNvPr id="146" name="Rectangle 57"/>
            <p:cNvSpPr>
              <a:spLocks noChangeArrowheads="1"/>
            </p:cNvSpPr>
            <p:nvPr/>
          </p:nvSpPr>
          <p:spPr bwMode="auto">
            <a:xfrm>
              <a:off x="3271" y="245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dirty="0">
                  <a:ea typeface="宋体" panose="02010600030101010101" pitchFamily="2" charset="-122"/>
                </a:rPr>
                <a:t>2</a:t>
              </a:r>
              <a:endParaRPr lang="en-US" altLang="zh-CN" sz="1400" dirty="0">
                <a:ea typeface="宋体" panose="02010600030101010101" pitchFamily="2" charset="-122"/>
              </a:endParaRPr>
            </a:p>
          </p:txBody>
        </p:sp>
        <p:grpSp>
          <p:nvGrpSpPr>
            <p:cNvPr id="147" name="Group 58"/>
            <p:cNvGrpSpPr>
              <a:grpSpLocks/>
            </p:cNvGrpSpPr>
            <p:nvPr/>
          </p:nvGrpSpPr>
          <p:grpSpPr bwMode="auto">
            <a:xfrm>
              <a:off x="3909" y="1584"/>
              <a:ext cx="223" cy="174"/>
              <a:chOff x="1784" y="2425"/>
              <a:chExt cx="161" cy="174"/>
            </a:xfrm>
          </p:grpSpPr>
          <p:sp>
            <p:nvSpPr>
              <p:cNvPr id="148" name="Rectangle 59"/>
              <p:cNvSpPr>
                <a:spLocks noChangeArrowheads="1"/>
              </p:cNvSpPr>
              <p:nvPr/>
            </p:nvSpPr>
            <p:spPr bwMode="auto">
              <a:xfrm>
                <a:off x="1784" y="2425"/>
                <a:ext cx="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dirty="0">
                    <a:solidFill>
                      <a:srgbClr val="FF0000"/>
                    </a:solidFill>
                    <a:ea typeface="宋体" panose="02010600030101010101" pitchFamily="2" charset="-122"/>
                  </a:rPr>
                  <a:t>u</a:t>
                </a:r>
                <a:endParaRPr lang="en-US" altLang="zh-CN" sz="2000" dirty="0">
                  <a:solidFill>
                    <a:srgbClr val="FF0000"/>
                  </a:solidFill>
                  <a:ea typeface="宋体" panose="02010600030101010101" pitchFamily="2" charset="-122"/>
                </a:endParaRPr>
              </a:p>
            </p:txBody>
          </p:sp>
          <p:sp>
            <p:nvSpPr>
              <p:cNvPr id="149" name="Rectangle 60"/>
              <p:cNvSpPr>
                <a:spLocks noChangeArrowheads="1"/>
              </p:cNvSpPr>
              <p:nvPr/>
            </p:nvSpPr>
            <p:spPr bwMode="auto">
              <a:xfrm>
                <a:off x="1838" y="2425"/>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dirty="0">
                    <a:solidFill>
                      <a:srgbClr val="FF0000"/>
                    </a:solidFill>
                    <a:ea typeface="宋体" panose="02010600030101010101" pitchFamily="2" charset="-122"/>
                  </a:rPr>
                  <a:t> :5</a:t>
                </a:r>
                <a:endParaRPr lang="en-US" altLang="zh-CN" sz="2000" dirty="0">
                  <a:solidFill>
                    <a:srgbClr val="FF0000"/>
                  </a:solidFill>
                  <a:ea typeface="宋体" panose="02010600030101010101" pitchFamily="2" charset="-122"/>
                </a:endParaRPr>
              </a:p>
            </p:txBody>
          </p:sp>
        </p:grpSp>
      </p:grpSp>
      <p:grpSp>
        <p:nvGrpSpPr>
          <p:cNvPr id="150" name="Group 61"/>
          <p:cNvGrpSpPr>
            <a:grpSpLocks/>
          </p:cNvGrpSpPr>
          <p:nvPr/>
        </p:nvGrpSpPr>
        <p:grpSpPr bwMode="auto">
          <a:xfrm>
            <a:off x="6143228" y="2019701"/>
            <a:ext cx="733425" cy="1036638"/>
            <a:chOff x="4896" y="1104"/>
            <a:chExt cx="426" cy="653"/>
          </a:xfrm>
        </p:grpSpPr>
        <p:sp>
          <p:nvSpPr>
            <p:cNvPr id="151" name="Freeform 62"/>
            <p:cNvSpPr>
              <a:spLocks/>
            </p:cNvSpPr>
            <p:nvPr/>
          </p:nvSpPr>
          <p:spPr bwMode="auto">
            <a:xfrm>
              <a:off x="4975" y="1104"/>
              <a:ext cx="112" cy="421"/>
            </a:xfrm>
            <a:custGeom>
              <a:avLst/>
              <a:gdLst>
                <a:gd name="T0" fmla="*/ 0 w 112"/>
                <a:gd name="T1" fmla="*/ 0 h 421"/>
                <a:gd name="T2" fmla="*/ 22 w 112"/>
                <a:gd name="T3" fmla="*/ 37 h 421"/>
                <a:gd name="T4" fmla="*/ 45 w 112"/>
                <a:gd name="T5" fmla="*/ 79 h 421"/>
                <a:gd name="T6" fmla="*/ 67 w 112"/>
                <a:gd name="T7" fmla="*/ 124 h 421"/>
                <a:gd name="T8" fmla="*/ 84 w 112"/>
                <a:gd name="T9" fmla="*/ 169 h 421"/>
                <a:gd name="T10" fmla="*/ 101 w 112"/>
                <a:gd name="T11" fmla="*/ 217 h 421"/>
                <a:gd name="T12" fmla="*/ 110 w 112"/>
                <a:gd name="T13" fmla="*/ 262 h 421"/>
                <a:gd name="T14" fmla="*/ 112 w 112"/>
                <a:gd name="T15" fmla="*/ 308 h 421"/>
                <a:gd name="T16" fmla="*/ 107 w 112"/>
                <a:gd name="T17" fmla="*/ 350 h 421"/>
                <a:gd name="T18" fmla="*/ 93 w 112"/>
                <a:gd name="T19" fmla="*/ 387 h 421"/>
                <a:gd name="T20" fmla="*/ 67 w 112"/>
                <a:gd name="T21" fmla="*/ 421 h 4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2"/>
                <a:gd name="T34" fmla="*/ 0 h 421"/>
                <a:gd name="T35" fmla="*/ 112 w 112"/>
                <a:gd name="T36" fmla="*/ 421 h 4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2" h="421">
                  <a:moveTo>
                    <a:pt x="0" y="0"/>
                  </a:moveTo>
                  <a:lnTo>
                    <a:pt x="22" y="37"/>
                  </a:lnTo>
                  <a:lnTo>
                    <a:pt x="45" y="79"/>
                  </a:lnTo>
                  <a:lnTo>
                    <a:pt x="67" y="124"/>
                  </a:lnTo>
                  <a:lnTo>
                    <a:pt x="84" y="169"/>
                  </a:lnTo>
                  <a:lnTo>
                    <a:pt x="101" y="217"/>
                  </a:lnTo>
                  <a:lnTo>
                    <a:pt x="110" y="262"/>
                  </a:lnTo>
                  <a:lnTo>
                    <a:pt x="112" y="308"/>
                  </a:lnTo>
                  <a:lnTo>
                    <a:pt x="107" y="350"/>
                  </a:lnTo>
                  <a:lnTo>
                    <a:pt x="93" y="387"/>
                  </a:lnTo>
                  <a:lnTo>
                    <a:pt x="67" y="421"/>
                  </a:lnTo>
                </a:path>
              </a:pathLst>
            </a:custGeom>
            <a:noFill/>
            <a:ln w="9525">
              <a:solidFill>
                <a:srgbClr val="114FFB"/>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Freeform 63"/>
            <p:cNvSpPr>
              <a:spLocks/>
            </p:cNvSpPr>
            <p:nvPr/>
          </p:nvSpPr>
          <p:spPr bwMode="auto">
            <a:xfrm>
              <a:off x="5110" y="1138"/>
              <a:ext cx="212" cy="211"/>
            </a:xfrm>
            <a:custGeom>
              <a:avLst/>
              <a:gdLst>
                <a:gd name="T0" fmla="*/ 209 w 212"/>
                <a:gd name="T1" fmla="*/ 104 h 211"/>
                <a:gd name="T2" fmla="*/ 209 w 212"/>
                <a:gd name="T3" fmla="*/ 124 h 211"/>
                <a:gd name="T4" fmla="*/ 206 w 212"/>
                <a:gd name="T5" fmla="*/ 141 h 211"/>
                <a:gd name="T6" fmla="*/ 201 w 212"/>
                <a:gd name="T7" fmla="*/ 155 h 211"/>
                <a:gd name="T8" fmla="*/ 192 w 212"/>
                <a:gd name="T9" fmla="*/ 169 h 211"/>
                <a:gd name="T10" fmla="*/ 181 w 212"/>
                <a:gd name="T11" fmla="*/ 180 h 211"/>
                <a:gd name="T12" fmla="*/ 167 w 212"/>
                <a:gd name="T13" fmla="*/ 192 h 211"/>
                <a:gd name="T14" fmla="*/ 155 w 212"/>
                <a:gd name="T15" fmla="*/ 200 h 211"/>
                <a:gd name="T16" fmla="*/ 138 w 212"/>
                <a:gd name="T17" fmla="*/ 206 h 211"/>
                <a:gd name="T18" fmla="*/ 122 w 212"/>
                <a:gd name="T19" fmla="*/ 211 h 211"/>
                <a:gd name="T20" fmla="*/ 105 w 212"/>
                <a:gd name="T21" fmla="*/ 211 h 211"/>
                <a:gd name="T22" fmla="*/ 88 w 212"/>
                <a:gd name="T23" fmla="*/ 211 h 211"/>
                <a:gd name="T24" fmla="*/ 71 w 212"/>
                <a:gd name="T25" fmla="*/ 206 h 211"/>
                <a:gd name="T26" fmla="*/ 57 w 212"/>
                <a:gd name="T27" fmla="*/ 200 h 211"/>
                <a:gd name="T28" fmla="*/ 42 w 212"/>
                <a:gd name="T29" fmla="*/ 192 h 211"/>
                <a:gd name="T30" fmla="*/ 31 w 212"/>
                <a:gd name="T31" fmla="*/ 180 h 211"/>
                <a:gd name="T32" fmla="*/ 20 w 212"/>
                <a:gd name="T33" fmla="*/ 169 h 211"/>
                <a:gd name="T34" fmla="*/ 11 w 212"/>
                <a:gd name="T35" fmla="*/ 155 h 211"/>
                <a:gd name="T36" fmla="*/ 6 w 212"/>
                <a:gd name="T37" fmla="*/ 141 h 211"/>
                <a:gd name="T38" fmla="*/ 0 w 212"/>
                <a:gd name="T39" fmla="*/ 124 h 211"/>
                <a:gd name="T40" fmla="*/ 0 w 212"/>
                <a:gd name="T41" fmla="*/ 107 h 211"/>
                <a:gd name="T42" fmla="*/ 0 w 212"/>
                <a:gd name="T43" fmla="*/ 90 h 211"/>
                <a:gd name="T44" fmla="*/ 6 w 212"/>
                <a:gd name="T45" fmla="*/ 73 h 211"/>
                <a:gd name="T46" fmla="*/ 11 w 212"/>
                <a:gd name="T47" fmla="*/ 59 h 211"/>
                <a:gd name="T48" fmla="*/ 20 w 212"/>
                <a:gd name="T49" fmla="*/ 45 h 211"/>
                <a:gd name="T50" fmla="*/ 31 w 212"/>
                <a:gd name="T51" fmla="*/ 31 h 211"/>
                <a:gd name="T52" fmla="*/ 42 w 212"/>
                <a:gd name="T53" fmla="*/ 19 h 211"/>
                <a:gd name="T54" fmla="*/ 57 w 212"/>
                <a:gd name="T55" fmla="*/ 11 h 211"/>
                <a:gd name="T56" fmla="*/ 71 w 212"/>
                <a:gd name="T57" fmla="*/ 5 h 211"/>
                <a:gd name="T58" fmla="*/ 88 w 212"/>
                <a:gd name="T59" fmla="*/ 3 h 211"/>
                <a:gd name="T60" fmla="*/ 105 w 212"/>
                <a:gd name="T61" fmla="*/ 0 h 211"/>
                <a:gd name="T62" fmla="*/ 122 w 212"/>
                <a:gd name="T63" fmla="*/ 3 h 211"/>
                <a:gd name="T64" fmla="*/ 138 w 212"/>
                <a:gd name="T65" fmla="*/ 5 h 211"/>
                <a:gd name="T66" fmla="*/ 155 w 212"/>
                <a:gd name="T67" fmla="*/ 11 h 211"/>
                <a:gd name="T68" fmla="*/ 167 w 212"/>
                <a:gd name="T69" fmla="*/ 19 h 211"/>
                <a:gd name="T70" fmla="*/ 181 w 212"/>
                <a:gd name="T71" fmla="*/ 31 h 211"/>
                <a:gd name="T72" fmla="*/ 192 w 212"/>
                <a:gd name="T73" fmla="*/ 45 h 211"/>
                <a:gd name="T74" fmla="*/ 201 w 212"/>
                <a:gd name="T75" fmla="*/ 59 h 211"/>
                <a:gd name="T76" fmla="*/ 206 w 212"/>
                <a:gd name="T77" fmla="*/ 73 h 211"/>
                <a:gd name="T78" fmla="*/ 209 w 212"/>
                <a:gd name="T79" fmla="*/ 90 h 211"/>
                <a:gd name="T80" fmla="*/ 212 w 212"/>
                <a:gd name="T81" fmla="*/ 107 h 211"/>
                <a:gd name="T82" fmla="*/ 209 w 212"/>
                <a:gd name="T83" fmla="*/ 104 h 2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2"/>
                <a:gd name="T127" fmla="*/ 0 h 211"/>
                <a:gd name="T128" fmla="*/ 212 w 212"/>
                <a:gd name="T129" fmla="*/ 211 h 2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2" h="211">
                  <a:moveTo>
                    <a:pt x="209" y="104"/>
                  </a:moveTo>
                  <a:lnTo>
                    <a:pt x="209" y="124"/>
                  </a:lnTo>
                  <a:lnTo>
                    <a:pt x="206" y="141"/>
                  </a:lnTo>
                  <a:lnTo>
                    <a:pt x="201" y="155"/>
                  </a:lnTo>
                  <a:lnTo>
                    <a:pt x="192" y="169"/>
                  </a:lnTo>
                  <a:lnTo>
                    <a:pt x="181" y="180"/>
                  </a:lnTo>
                  <a:lnTo>
                    <a:pt x="167" y="192"/>
                  </a:lnTo>
                  <a:lnTo>
                    <a:pt x="155" y="200"/>
                  </a:lnTo>
                  <a:lnTo>
                    <a:pt x="138" y="206"/>
                  </a:lnTo>
                  <a:lnTo>
                    <a:pt x="122" y="211"/>
                  </a:lnTo>
                  <a:lnTo>
                    <a:pt x="105" y="211"/>
                  </a:lnTo>
                  <a:lnTo>
                    <a:pt x="88" y="211"/>
                  </a:lnTo>
                  <a:lnTo>
                    <a:pt x="71" y="206"/>
                  </a:lnTo>
                  <a:lnTo>
                    <a:pt x="57" y="200"/>
                  </a:lnTo>
                  <a:lnTo>
                    <a:pt x="42" y="192"/>
                  </a:lnTo>
                  <a:lnTo>
                    <a:pt x="31" y="180"/>
                  </a:lnTo>
                  <a:lnTo>
                    <a:pt x="20" y="169"/>
                  </a:lnTo>
                  <a:lnTo>
                    <a:pt x="11" y="155"/>
                  </a:lnTo>
                  <a:lnTo>
                    <a:pt x="6" y="141"/>
                  </a:lnTo>
                  <a:lnTo>
                    <a:pt x="0" y="124"/>
                  </a:lnTo>
                  <a:lnTo>
                    <a:pt x="0" y="107"/>
                  </a:lnTo>
                  <a:lnTo>
                    <a:pt x="0" y="90"/>
                  </a:lnTo>
                  <a:lnTo>
                    <a:pt x="6" y="73"/>
                  </a:lnTo>
                  <a:lnTo>
                    <a:pt x="11" y="59"/>
                  </a:lnTo>
                  <a:lnTo>
                    <a:pt x="20" y="45"/>
                  </a:lnTo>
                  <a:lnTo>
                    <a:pt x="31" y="31"/>
                  </a:lnTo>
                  <a:lnTo>
                    <a:pt x="42" y="19"/>
                  </a:lnTo>
                  <a:lnTo>
                    <a:pt x="57" y="11"/>
                  </a:lnTo>
                  <a:lnTo>
                    <a:pt x="71" y="5"/>
                  </a:lnTo>
                  <a:lnTo>
                    <a:pt x="88" y="3"/>
                  </a:lnTo>
                  <a:lnTo>
                    <a:pt x="105" y="0"/>
                  </a:lnTo>
                  <a:lnTo>
                    <a:pt x="122" y="3"/>
                  </a:lnTo>
                  <a:lnTo>
                    <a:pt x="138" y="5"/>
                  </a:lnTo>
                  <a:lnTo>
                    <a:pt x="155" y="11"/>
                  </a:lnTo>
                  <a:lnTo>
                    <a:pt x="167" y="19"/>
                  </a:lnTo>
                  <a:lnTo>
                    <a:pt x="181" y="31"/>
                  </a:lnTo>
                  <a:lnTo>
                    <a:pt x="192" y="45"/>
                  </a:lnTo>
                  <a:lnTo>
                    <a:pt x="201" y="59"/>
                  </a:lnTo>
                  <a:lnTo>
                    <a:pt x="206" y="73"/>
                  </a:lnTo>
                  <a:lnTo>
                    <a:pt x="209" y="90"/>
                  </a:lnTo>
                  <a:lnTo>
                    <a:pt x="212" y="107"/>
                  </a:lnTo>
                  <a:lnTo>
                    <a:pt x="209" y="1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 name="Freeform 64"/>
            <p:cNvSpPr>
              <a:spLocks/>
            </p:cNvSpPr>
            <p:nvPr/>
          </p:nvSpPr>
          <p:spPr bwMode="auto">
            <a:xfrm>
              <a:off x="5088" y="1141"/>
              <a:ext cx="212" cy="211"/>
            </a:xfrm>
            <a:custGeom>
              <a:avLst/>
              <a:gdLst>
                <a:gd name="T0" fmla="*/ 209 w 212"/>
                <a:gd name="T1" fmla="*/ 104 h 211"/>
                <a:gd name="T2" fmla="*/ 209 w 212"/>
                <a:gd name="T3" fmla="*/ 90 h 211"/>
                <a:gd name="T4" fmla="*/ 206 w 212"/>
                <a:gd name="T5" fmla="*/ 73 h 211"/>
                <a:gd name="T6" fmla="*/ 201 w 212"/>
                <a:gd name="T7" fmla="*/ 59 h 211"/>
                <a:gd name="T8" fmla="*/ 192 w 212"/>
                <a:gd name="T9" fmla="*/ 45 h 211"/>
                <a:gd name="T10" fmla="*/ 181 w 212"/>
                <a:gd name="T11" fmla="*/ 31 h 211"/>
                <a:gd name="T12" fmla="*/ 167 w 212"/>
                <a:gd name="T13" fmla="*/ 19 h 211"/>
                <a:gd name="T14" fmla="*/ 155 w 212"/>
                <a:gd name="T15" fmla="*/ 11 h 211"/>
                <a:gd name="T16" fmla="*/ 138 w 212"/>
                <a:gd name="T17" fmla="*/ 5 h 211"/>
                <a:gd name="T18" fmla="*/ 122 w 212"/>
                <a:gd name="T19" fmla="*/ 3 h 211"/>
                <a:gd name="T20" fmla="*/ 105 w 212"/>
                <a:gd name="T21" fmla="*/ 0 h 211"/>
                <a:gd name="T22" fmla="*/ 88 w 212"/>
                <a:gd name="T23" fmla="*/ 3 h 211"/>
                <a:gd name="T24" fmla="*/ 71 w 212"/>
                <a:gd name="T25" fmla="*/ 5 h 211"/>
                <a:gd name="T26" fmla="*/ 57 w 212"/>
                <a:gd name="T27" fmla="*/ 11 h 211"/>
                <a:gd name="T28" fmla="*/ 42 w 212"/>
                <a:gd name="T29" fmla="*/ 19 h 211"/>
                <a:gd name="T30" fmla="*/ 31 w 212"/>
                <a:gd name="T31" fmla="*/ 31 h 211"/>
                <a:gd name="T32" fmla="*/ 20 w 212"/>
                <a:gd name="T33" fmla="*/ 45 h 211"/>
                <a:gd name="T34" fmla="*/ 11 w 212"/>
                <a:gd name="T35" fmla="*/ 59 h 211"/>
                <a:gd name="T36" fmla="*/ 6 w 212"/>
                <a:gd name="T37" fmla="*/ 73 h 211"/>
                <a:gd name="T38" fmla="*/ 0 w 212"/>
                <a:gd name="T39" fmla="*/ 90 h 211"/>
                <a:gd name="T40" fmla="*/ 0 w 212"/>
                <a:gd name="T41" fmla="*/ 107 h 211"/>
                <a:gd name="T42" fmla="*/ 0 w 212"/>
                <a:gd name="T43" fmla="*/ 124 h 211"/>
                <a:gd name="T44" fmla="*/ 6 w 212"/>
                <a:gd name="T45" fmla="*/ 141 h 211"/>
                <a:gd name="T46" fmla="*/ 11 w 212"/>
                <a:gd name="T47" fmla="*/ 155 h 211"/>
                <a:gd name="T48" fmla="*/ 20 w 212"/>
                <a:gd name="T49" fmla="*/ 169 h 211"/>
                <a:gd name="T50" fmla="*/ 31 w 212"/>
                <a:gd name="T51" fmla="*/ 180 h 211"/>
                <a:gd name="T52" fmla="*/ 42 w 212"/>
                <a:gd name="T53" fmla="*/ 192 h 211"/>
                <a:gd name="T54" fmla="*/ 57 w 212"/>
                <a:gd name="T55" fmla="*/ 200 h 211"/>
                <a:gd name="T56" fmla="*/ 71 w 212"/>
                <a:gd name="T57" fmla="*/ 206 h 211"/>
                <a:gd name="T58" fmla="*/ 88 w 212"/>
                <a:gd name="T59" fmla="*/ 211 h 211"/>
                <a:gd name="T60" fmla="*/ 105 w 212"/>
                <a:gd name="T61" fmla="*/ 211 h 211"/>
                <a:gd name="T62" fmla="*/ 122 w 212"/>
                <a:gd name="T63" fmla="*/ 211 h 211"/>
                <a:gd name="T64" fmla="*/ 138 w 212"/>
                <a:gd name="T65" fmla="*/ 206 h 211"/>
                <a:gd name="T66" fmla="*/ 155 w 212"/>
                <a:gd name="T67" fmla="*/ 200 h 211"/>
                <a:gd name="T68" fmla="*/ 167 w 212"/>
                <a:gd name="T69" fmla="*/ 192 h 211"/>
                <a:gd name="T70" fmla="*/ 181 w 212"/>
                <a:gd name="T71" fmla="*/ 180 h 211"/>
                <a:gd name="T72" fmla="*/ 192 w 212"/>
                <a:gd name="T73" fmla="*/ 169 h 211"/>
                <a:gd name="T74" fmla="*/ 201 w 212"/>
                <a:gd name="T75" fmla="*/ 155 h 211"/>
                <a:gd name="T76" fmla="*/ 206 w 212"/>
                <a:gd name="T77" fmla="*/ 141 h 211"/>
                <a:gd name="T78" fmla="*/ 209 w 212"/>
                <a:gd name="T79" fmla="*/ 124 h 211"/>
                <a:gd name="T80" fmla="*/ 212 w 212"/>
                <a:gd name="T81" fmla="*/ 107 h 211"/>
                <a:gd name="T82" fmla="*/ 212 w 212"/>
                <a:gd name="T83" fmla="*/ 107 h 2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2"/>
                <a:gd name="T127" fmla="*/ 0 h 211"/>
                <a:gd name="T128" fmla="*/ 212 w 212"/>
                <a:gd name="T129" fmla="*/ 211 h 2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2" h="211">
                  <a:moveTo>
                    <a:pt x="209" y="104"/>
                  </a:moveTo>
                  <a:lnTo>
                    <a:pt x="209" y="90"/>
                  </a:lnTo>
                  <a:lnTo>
                    <a:pt x="206" y="73"/>
                  </a:lnTo>
                  <a:lnTo>
                    <a:pt x="201" y="59"/>
                  </a:lnTo>
                  <a:lnTo>
                    <a:pt x="192" y="45"/>
                  </a:lnTo>
                  <a:lnTo>
                    <a:pt x="181" y="31"/>
                  </a:lnTo>
                  <a:lnTo>
                    <a:pt x="167" y="19"/>
                  </a:lnTo>
                  <a:lnTo>
                    <a:pt x="155" y="11"/>
                  </a:lnTo>
                  <a:lnTo>
                    <a:pt x="138" y="5"/>
                  </a:lnTo>
                  <a:lnTo>
                    <a:pt x="122" y="3"/>
                  </a:lnTo>
                  <a:lnTo>
                    <a:pt x="105" y="0"/>
                  </a:lnTo>
                  <a:lnTo>
                    <a:pt x="88" y="3"/>
                  </a:lnTo>
                  <a:lnTo>
                    <a:pt x="71" y="5"/>
                  </a:lnTo>
                  <a:lnTo>
                    <a:pt x="57" y="11"/>
                  </a:lnTo>
                  <a:lnTo>
                    <a:pt x="42" y="19"/>
                  </a:lnTo>
                  <a:lnTo>
                    <a:pt x="31" y="31"/>
                  </a:lnTo>
                  <a:lnTo>
                    <a:pt x="20" y="45"/>
                  </a:lnTo>
                  <a:lnTo>
                    <a:pt x="11" y="59"/>
                  </a:lnTo>
                  <a:lnTo>
                    <a:pt x="6" y="73"/>
                  </a:lnTo>
                  <a:lnTo>
                    <a:pt x="0" y="90"/>
                  </a:lnTo>
                  <a:lnTo>
                    <a:pt x="0" y="107"/>
                  </a:lnTo>
                  <a:lnTo>
                    <a:pt x="0" y="124"/>
                  </a:lnTo>
                  <a:lnTo>
                    <a:pt x="6" y="141"/>
                  </a:lnTo>
                  <a:lnTo>
                    <a:pt x="11" y="155"/>
                  </a:lnTo>
                  <a:lnTo>
                    <a:pt x="20" y="169"/>
                  </a:lnTo>
                  <a:lnTo>
                    <a:pt x="31" y="180"/>
                  </a:lnTo>
                  <a:lnTo>
                    <a:pt x="42" y="192"/>
                  </a:lnTo>
                  <a:lnTo>
                    <a:pt x="57" y="200"/>
                  </a:lnTo>
                  <a:lnTo>
                    <a:pt x="71" y="206"/>
                  </a:lnTo>
                  <a:lnTo>
                    <a:pt x="88" y="211"/>
                  </a:lnTo>
                  <a:lnTo>
                    <a:pt x="105" y="211"/>
                  </a:lnTo>
                  <a:lnTo>
                    <a:pt x="122" y="211"/>
                  </a:lnTo>
                  <a:lnTo>
                    <a:pt x="138" y="206"/>
                  </a:lnTo>
                  <a:lnTo>
                    <a:pt x="155" y="200"/>
                  </a:lnTo>
                  <a:lnTo>
                    <a:pt x="167" y="192"/>
                  </a:lnTo>
                  <a:lnTo>
                    <a:pt x="181" y="180"/>
                  </a:lnTo>
                  <a:lnTo>
                    <a:pt x="192" y="169"/>
                  </a:lnTo>
                  <a:lnTo>
                    <a:pt x="201" y="155"/>
                  </a:lnTo>
                  <a:lnTo>
                    <a:pt x="206" y="141"/>
                  </a:lnTo>
                  <a:lnTo>
                    <a:pt x="209" y="124"/>
                  </a:lnTo>
                  <a:lnTo>
                    <a:pt x="212" y="107"/>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Rectangle 65"/>
            <p:cNvSpPr>
              <a:spLocks noChangeArrowheads="1"/>
            </p:cNvSpPr>
            <p:nvPr/>
          </p:nvSpPr>
          <p:spPr bwMode="auto">
            <a:xfrm>
              <a:off x="5184" y="1189"/>
              <a:ext cx="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3</a:t>
              </a:r>
              <a:endParaRPr lang="en-US" altLang="zh-CN" sz="1400">
                <a:ea typeface="宋体" panose="02010600030101010101" pitchFamily="2" charset="-122"/>
              </a:endParaRPr>
            </a:p>
          </p:txBody>
        </p:sp>
        <p:sp>
          <p:nvSpPr>
            <p:cNvPr id="155" name="Rectangle 66"/>
            <p:cNvSpPr>
              <a:spLocks noChangeArrowheads="1"/>
            </p:cNvSpPr>
            <p:nvPr/>
          </p:nvSpPr>
          <p:spPr bwMode="auto">
            <a:xfrm>
              <a:off x="4896" y="1584"/>
              <a:ext cx="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a:solidFill>
                    <a:srgbClr val="114FFB"/>
                  </a:solidFill>
                  <a:ea typeface="宋体" panose="02010600030101010101" pitchFamily="2" charset="-122"/>
                </a:rPr>
                <a:t>u</a:t>
              </a:r>
              <a:endParaRPr lang="en-US" altLang="zh-CN" sz="2000">
                <a:solidFill>
                  <a:srgbClr val="114FFB"/>
                </a:solidFill>
                <a:ea typeface="宋体" panose="02010600030101010101" pitchFamily="2" charset="-122"/>
              </a:endParaRPr>
            </a:p>
          </p:txBody>
        </p:sp>
        <p:sp>
          <p:nvSpPr>
            <p:cNvPr id="156" name="Rectangle 67"/>
            <p:cNvSpPr>
              <a:spLocks noChangeArrowheads="1"/>
            </p:cNvSpPr>
            <p:nvPr/>
          </p:nvSpPr>
          <p:spPr bwMode="auto">
            <a:xfrm>
              <a:off x="4947" y="1584"/>
              <a:ext cx="2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a:solidFill>
                    <a:srgbClr val="114FFB"/>
                  </a:solidFill>
                  <a:ea typeface="宋体" panose="02010600030101010101" pitchFamily="2" charset="-122"/>
                </a:rPr>
                <a:t> = 7</a:t>
              </a:r>
              <a:endParaRPr lang="en-US" altLang="zh-CN" sz="2000">
                <a:solidFill>
                  <a:srgbClr val="114FFB"/>
                </a:solidFill>
                <a:ea typeface="宋体" panose="02010600030101010101" pitchFamily="2" charset="-122"/>
              </a:endParaRPr>
            </a:p>
          </p:txBody>
        </p:sp>
      </p:grpSp>
      <p:grpSp>
        <p:nvGrpSpPr>
          <p:cNvPr id="157" name="Group 68"/>
          <p:cNvGrpSpPr>
            <a:grpSpLocks/>
          </p:cNvGrpSpPr>
          <p:nvPr/>
        </p:nvGrpSpPr>
        <p:grpSpPr bwMode="auto">
          <a:xfrm>
            <a:off x="942578" y="2705501"/>
            <a:ext cx="990600" cy="1600200"/>
            <a:chOff x="1152" y="1536"/>
            <a:chExt cx="576" cy="1008"/>
          </a:xfrm>
        </p:grpSpPr>
        <p:sp>
          <p:nvSpPr>
            <p:cNvPr id="158" name="Rectangle 69"/>
            <p:cNvSpPr>
              <a:spLocks noChangeArrowheads="1"/>
            </p:cNvSpPr>
            <p:nvPr/>
          </p:nvSpPr>
          <p:spPr bwMode="auto">
            <a:xfrm>
              <a:off x="1251" y="2321"/>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dirty="0">
                  <a:ea typeface="宋体" panose="02010600030101010101" pitchFamily="2" charset="-122"/>
                </a:rPr>
                <a:t>1</a:t>
              </a:r>
              <a:endParaRPr lang="en-US" altLang="zh-CN" sz="1400" dirty="0">
                <a:ea typeface="宋体" panose="02010600030101010101" pitchFamily="2" charset="-122"/>
              </a:endParaRPr>
            </a:p>
          </p:txBody>
        </p:sp>
        <p:grpSp>
          <p:nvGrpSpPr>
            <p:cNvPr id="159" name="Group 70"/>
            <p:cNvGrpSpPr>
              <a:grpSpLocks/>
            </p:cNvGrpSpPr>
            <p:nvPr/>
          </p:nvGrpSpPr>
          <p:grpSpPr bwMode="auto">
            <a:xfrm>
              <a:off x="1152" y="1536"/>
              <a:ext cx="576" cy="1008"/>
              <a:chOff x="1152" y="1536"/>
              <a:chExt cx="576" cy="1008"/>
            </a:xfrm>
          </p:grpSpPr>
          <p:sp>
            <p:nvSpPr>
              <p:cNvPr id="160" name="Freeform 71"/>
              <p:cNvSpPr>
                <a:spLocks/>
              </p:cNvSpPr>
              <p:nvPr/>
            </p:nvSpPr>
            <p:spPr bwMode="auto">
              <a:xfrm>
                <a:off x="1172" y="2272"/>
                <a:ext cx="211" cy="212"/>
              </a:xfrm>
              <a:custGeom>
                <a:avLst/>
                <a:gdLst>
                  <a:gd name="T0" fmla="*/ 209 w 211"/>
                  <a:gd name="T1" fmla="*/ 105 h 212"/>
                  <a:gd name="T2" fmla="*/ 209 w 211"/>
                  <a:gd name="T3" fmla="*/ 91 h 212"/>
                  <a:gd name="T4" fmla="*/ 206 w 211"/>
                  <a:gd name="T5" fmla="*/ 74 h 212"/>
                  <a:gd name="T6" fmla="*/ 200 w 211"/>
                  <a:gd name="T7" fmla="*/ 60 h 212"/>
                  <a:gd name="T8" fmla="*/ 192 w 211"/>
                  <a:gd name="T9" fmla="*/ 46 h 212"/>
                  <a:gd name="T10" fmla="*/ 180 w 211"/>
                  <a:gd name="T11" fmla="*/ 31 h 212"/>
                  <a:gd name="T12" fmla="*/ 166 w 211"/>
                  <a:gd name="T13" fmla="*/ 20 h 212"/>
                  <a:gd name="T14" fmla="*/ 155 w 211"/>
                  <a:gd name="T15" fmla="*/ 12 h 212"/>
                  <a:gd name="T16" fmla="*/ 138 w 211"/>
                  <a:gd name="T17" fmla="*/ 6 h 212"/>
                  <a:gd name="T18" fmla="*/ 121 w 211"/>
                  <a:gd name="T19" fmla="*/ 3 h 212"/>
                  <a:gd name="T20" fmla="*/ 104 w 211"/>
                  <a:gd name="T21" fmla="*/ 0 h 212"/>
                  <a:gd name="T22" fmla="*/ 87 w 211"/>
                  <a:gd name="T23" fmla="*/ 3 h 212"/>
                  <a:gd name="T24" fmla="*/ 70 w 211"/>
                  <a:gd name="T25" fmla="*/ 6 h 212"/>
                  <a:gd name="T26" fmla="*/ 56 w 211"/>
                  <a:gd name="T27" fmla="*/ 12 h 212"/>
                  <a:gd name="T28" fmla="*/ 42 w 211"/>
                  <a:gd name="T29" fmla="*/ 20 h 212"/>
                  <a:gd name="T30" fmla="*/ 31 w 211"/>
                  <a:gd name="T31" fmla="*/ 31 h 212"/>
                  <a:gd name="T32" fmla="*/ 19 w 211"/>
                  <a:gd name="T33" fmla="*/ 46 h 212"/>
                  <a:gd name="T34" fmla="*/ 11 w 211"/>
                  <a:gd name="T35" fmla="*/ 60 h 212"/>
                  <a:gd name="T36" fmla="*/ 5 w 211"/>
                  <a:gd name="T37" fmla="*/ 74 h 212"/>
                  <a:gd name="T38" fmla="*/ 0 w 211"/>
                  <a:gd name="T39" fmla="*/ 91 h 212"/>
                  <a:gd name="T40" fmla="*/ 0 w 211"/>
                  <a:gd name="T41" fmla="*/ 108 h 212"/>
                  <a:gd name="T42" fmla="*/ 0 w 211"/>
                  <a:gd name="T43" fmla="*/ 125 h 212"/>
                  <a:gd name="T44" fmla="*/ 5 w 211"/>
                  <a:gd name="T45" fmla="*/ 142 h 212"/>
                  <a:gd name="T46" fmla="*/ 11 w 211"/>
                  <a:gd name="T47" fmla="*/ 156 h 212"/>
                  <a:gd name="T48" fmla="*/ 19 w 211"/>
                  <a:gd name="T49" fmla="*/ 170 h 212"/>
                  <a:gd name="T50" fmla="*/ 31 w 211"/>
                  <a:gd name="T51" fmla="*/ 181 h 212"/>
                  <a:gd name="T52" fmla="*/ 42 w 211"/>
                  <a:gd name="T53" fmla="*/ 192 h 212"/>
                  <a:gd name="T54" fmla="*/ 56 w 211"/>
                  <a:gd name="T55" fmla="*/ 201 h 212"/>
                  <a:gd name="T56" fmla="*/ 70 w 211"/>
                  <a:gd name="T57" fmla="*/ 206 h 212"/>
                  <a:gd name="T58" fmla="*/ 87 w 211"/>
                  <a:gd name="T59" fmla="*/ 212 h 212"/>
                  <a:gd name="T60" fmla="*/ 104 w 211"/>
                  <a:gd name="T61" fmla="*/ 212 h 212"/>
                  <a:gd name="T62" fmla="*/ 121 w 211"/>
                  <a:gd name="T63" fmla="*/ 212 h 212"/>
                  <a:gd name="T64" fmla="*/ 138 w 211"/>
                  <a:gd name="T65" fmla="*/ 206 h 212"/>
                  <a:gd name="T66" fmla="*/ 155 w 211"/>
                  <a:gd name="T67" fmla="*/ 201 h 212"/>
                  <a:gd name="T68" fmla="*/ 166 w 211"/>
                  <a:gd name="T69" fmla="*/ 192 h 212"/>
                  <a:gd name="T70" fmla="*/ 180 w 211"/>
                  <a:gd name="T71" fmla="*/ 181 h 212"/>
                  <a:gd name="T72" fmla="*/ 192 w 211"/>
                  <a:gd name="T73" fmla="*/ 170 h 212"/>
                  <a:gd name="T74" fmla="*/ 200 w 211"/>
                  <a:gd name="T75" fmla="*/ 156 h 212"/>
                  <a:gd name="T76" fmla="*/ 206 w 211"/>
                  <a:gd name="T77" fmla="*/ 142 h 212"/>
                  <a:gd name="T78" fmla="*/ 209 w 211"/>
                  <a:gd name="T79" fmla="*/ 125 h 212"/>
                  <a:gd name="T80" fmla="*/ 211 w 211"/>
                  <a:gd name="T81" fmla="*/ 108 h 212"/>
                  <a:gd name="T82" fmla="*/ 211 w 211"/>
                  <a:gd name="T83" fmla="*/ 108 h 2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1"/>
                  <a:gd name="T127" fmla="*/ 0 h 212"/>
                  <a:gd name="T128" fmla="*/ 211 w 211"/>
                  <a:gd name="T129" fmla="*/ 212 h 21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1" h="212">
                    <a:moveTo>
                      <a:pt x="209" y="105"/>
                    </a:moveTo>
                    <a:lnTo>
                      <a:pt x="209" y="91"/>
                    </a:lnTo>
                    <a:lnTo>
                      <a:pt x="206" y="74"/>
                    </a:lnTo>
                    <a:lnTo>
                      <a:pt x="200" y="60"/>
                    </a:lnTo>
                    <a:lnTo>
                      <a:pt x="192" y="46"/>
                    </a:lnTo>
                    <a:lnTo>
                      <a:pt x="180" y="31"/>
                    </a:lnTo>
                    <a:lnTo>
                      <a:pt x="166" y="20"/>
                    </a:lnTo>
                    <a:lnTo>
                      <a:pt x="155" y="12"/>
                    </a:lnTo>
                    <a:lnTo>
                      <a:pt x="138" y="6"/>
                    </a:lnTo>
                    <a:lnTo>
                      <a:pt x="121" y="3"/>
                    </a:lnTo>
                    <a:lnTo>
                      <a:pt x="104" y="0"/>
                    </a:lnTo>
                    <a:lnTo>
                      <a:pt x="87" y="3"/>
                    </a:lnTo>
                    <a:lnTo>
                      <a:pt x="70" y="6"/>
                    </a:lnTo>
                    <a:lnTo>
                      <a:pt x="56" y="12"/>
                    </a:lnTo>
                    <a:lnTo>
                      <a:pt x="42" y="20"/>
                    </a:lnTo>
                    <a:lnTo>
                      <a:pt x="31" y="31"/>
                    </a:lnTo>
                    <a:lnTo>
                      <a:pt x="19" y="46"/>
                    </a:lnTo>
                    <a:lnTo>
                      <a:pt x="11" y="60"/>
                    </a:lnTo>
                    <a:lnTo>
                      <a:pt x="5" y="74"/>
                    </a:lnTo>
                    <a:lnTo>
                      <a:pt x="0" y="91"/>
                    </a:lnTo>
                    <a:lnTo>
                      <a:pt x="0" y="108"/>
                    </a:lnTo>
                    <a:lnTo>
                      <a:pt x="0" y="125"/>
                    </a:lnTo>
                    <a:lnTo>
                      <a:pt x="5" y="142"/>
                    </a:lnTo>
                    <a:lnTo>
                      <a:pt x="11" y="156"/>
                    </a:lnTo>
                    <a:lnTo>
                      <a:pt x="19" y="170"/>
                    </a:lnTo>
                    <a:lnTo>
                      <a:pt x="31" y="181"/>
                    </a:lnTo>
                    <a:lnTo>
                      <a:pt x="42" y="192"/>
                    </a:lnTo>
                    <a:lnTo>
                      <a:pt x="56" y="201"/>
                    </a:lnTo>
                    <a:lnTo>
                      <a:pt x="70" y="206"/>
                    </a:lnTo>
                    <a:lnTo>
                      <a:pt x="87" y="212"/>
                    </a:lnTo>
                    <a:lnTo>
                      <a:pt x="104" y="212"/>
                    </a:lnTo>
                    <a:lnTo>
                      <a:pt x="121" y="212"/>
                    </a:lnTo>
                    <a:lnTo>
                      <a:pt x="138" y="206"/>
                    </a:lnTo>
                    <a:lnTo>
                      <a:pt x="155" y="201"/>
                    </a:lnTo>
                    <a:lnTo>
                      <a:pt x="166" y="192"/>
                    </a:lnTo>
                    <a:lnTo>
                      <a:pt x="180" y="181"/>
                    </a:lnTo>
                    <a:lnTo>
                      <a:pt x="192" y="170"/>
                    </a:lnTo>
                    <a:lnTo>
                      <a:pt x="200" y="156"/>
                    </a:lnTo>
                    <a:lnTo>
                      <a:pt x="206" y="142"/>
                    </a:lnTo>
                    <a:lnTo>
                      <a:pt x="209" y="125"/>
                    </a:lnTo>
                    <a:lnTo>
                      <a:pt x="211" y="108"/>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grpSp>
            <p:nvGrpSpPr>
              <p:cNvPr id="161" name="Group 72"/>
              <p:cNvGrpSpPr>
                <a:grpSpLocks/>
              </p:cNvGrpSpPr>
              <p:nvPr/>
            </p:nvGrpSpPr>
            <p:grpSpPr bwMode="auto">
              <a:xfrm>
                <a:off x="1152" y="1536"/>
                <a:ext cx="219" cy="174"/>
                <a:chOff x="1784" y="2425"/>
                <a:chExt cx="167" cy="174"/>
              </a:xfrm>
            </p:grpSpPr>
            <p:sp>
              <p:nvSpPr>
                <p:cNvPr id="163" name="Rectangle 73"/>
                <p:cNvSpPr>
                  <a:spLocks noChangeArrowheads="1"/>
                </p:cNvSpPr>
                <p:nvPr/>
              </p:nvSpPr>
              <p:spPr bwMode="auto">
                <a:xfrm>
                  <a:off x="1784" y="2425"/>
                  <a:ext cx="5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a:solidFill>
                        <a:srgbClr val="FF0000"/>
                      </a:solidFill>
                      <a:ea typeface="宋体" panose="02010600030101010101" pitchFamily="2" charset="-122"/>
                    </a:rPr>
                    <a:t>u</a:t>
                  </a:r>
                  <a:endParaRPr lang="en-US" altLang="zh-CN" sz="2000">
                    <a:solidFill>
                      <a:srgbClr val="FF0000"/>
                    </a:solidFill>
                    <a:ea typeface="宋体" panose="02010600030101010101" pitchFamily="2" charset="-122"/>
                  </a:endParaRPr>
                </a:p>
              </p:txBody>
            </p:sp>
            <p:sp>
              <p:nvSpPr>
                <p:cNvPr id="164" name="Rectangle 74"/>
                <p:cNvSpPr>
                  <a:spLocks noChangeArrowheads="1"/>
                </p:cNvSpPr>
                <p:nvPr/>
              </p:nvSpPr>
              <p:spPr bwMode="auto">
                <a:xfrm>
                  <a:off x="1838" y="2425"/>
                  <a:ext cx="11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b="0" dirty="0">
                      <a:solidFill>
                        <a:srgbClr val="FF0000"/>
                      </a:solidFill>
                      <a:ea typeface="宋体" panose="02010600030101010101" pitchFamily="2" charset="-122"/>
                    </a:rPr>
                    <a:t> :5</a:t>
                  </a:r>
                  <a:endParaRPr lang="en-US" altLang="zh-CN" sz="2000" dirty="0">
                    <a:solidFill>
                      <a:srgbClr val="FF0000"/>
                    </a:solidFill>
                    <a:ea typeface="宋体" panose="02010600030101010101" pitchFamily="2" charset="-122"/>
                  </a:endParaRPr>
                </a:p>
              </p:txBody>
            </p:sp>
          </p:grpSp>
          <p:sp>
            <p:nvSpPr>
              <p:cNvPr id="162" name="Freeform 75"/>
              <p:cNvSpPr>
                <a:spLocks/>
              </p:cNvSpPr>
              <p:nvPr/>
            </p:nvSpPr>
            <p:spPr bwMode="auto">
              <a:xfrm>
                <a:off x="1262" y="1728"/>
                <a:ext cx="466" cy="816"/>
              </a:xfrm>
              <a:custGeom>
                <a:avLst/>
                <a:gdLst>
                  <a:gd name="T0" fmla="*/ 0 w 339"/>
                  <a:gd name="T1" fmla="*/ 0 h 646"/>
                  <a:gd name="T2" fmla="*/ 15 w 339"/>
                  <a:gd name="T3" fmla="*/ 96 h 646"/>
                  <a:gd name="T4" fmla="*/ 32 w 339"/>
                  <a:gd name="T5" fmla="*/ 193 h 646"/>
                  <a:gd name="T6" fmla="*/ 55 w 339"/>
                  <a:gd name="T7" fmla="*/ 285 h 646"/>
                  <a:gd name="T8" fmla="*/ 85 w 339"/>
                  <a:gd name="T9" fmla="*/ 375 h 646"/>
                  <a:gd name="T10" fmla="*/ 128 w 339"/>
                  <a:gd name="T11" fmla="*/ 464 h 646"/>
                  <a:gd name="T12" fmla="*/ 175 w 339"/>
                  <a:gd name="T13" fmla="*/ 546 h 646"/>
                  <a:gd name="T14" fmla="*/ 232 w 339"/>
                  <a:gd name="T15" fmla="*/ 624 h 646"/>
                  <a:gd name="T16" fmla="*/ 298 w 339"/>
                  <a:gd name="T17" fmla="*/ 696 h 646"/>
                  <a:gd name="T18" fmla="*/ 381 w 339"/>
                  <a:gd name="T19" fmla="*/ 759 h 646"/>
                  <a:gd name="T20" fmla="*/ 466 w 339"/>
                  <a:gd name="T21" fmla="*/ 816 h 6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9"/>
                  <a:gd name="T34" fmla="*/ 0 h 646"/>
                  <a:gd name="T35" fmla="*/ 339 w 339"/>
                  <a:gd name="T36" fmla="*/ 646 h 6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9" h="646">
                    <a:moveTo>
                      <a:pt x="0" y="0"/>
                    </a:moveTo>
                    <a:lnTo>
                      <a:pt x="11" y="76"/>
                    </a:lnTo>
                    <a:lnTo>
                      <a:pt x="23" y="153"/>
                    </a:lnTo>
                    <a:lnTo>
                      <a:pt x="40" y="226"/>
                    </a:lnTo>
                    <a:lnTo>
                      <a:pt x="62" y="297"/>
                    </a:lnTo>
                    <a:lnTo>
                      <a:pt x="93" y="367"/>
                    </a:lnTo>
                    <a:lnTo>
                      <a:pt x="127" y="432"/>
                    </a:lnTo>
                    <a:lnTo>
                      <a:pt x="169" y="494"/>
                    </a:lnTo>
                    <a:lnTo>
                      <a:pt x="217" y="551"/>
                    </a:lnTo>
                    <a:lnTo>
                      <a:pt x="277" y="601"/>
                    </a:lnTo>
                    <a:lnTo>
                      <a:pt x="339" y="646"/>
                    </a:lnTo>
                  </a:path>
                </a:pathLst>
              </a:custGeom>
              <a:noFill/>
              <a:ln w="9525">
                <a:solidFill>
                  <a:srgbClr val="000000"/>
                </a:solidFill>
                <a:prstDash val="solid"/>
                <a:round/>
                <a:headEnd type="triangle" w="lg" len="lg"/>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grpSp>
      </p:grpSp>
      <p:sp>
        <p:nvSpPr>
          <p:cNvPr id="165" name="Rectangle 76"/>
          <p:cNvSpPr>
            <a:spLocks noChangeArrowheads="1"/>
          </p:cNvSpPr>
          <p:nvPr/>
        </p:nvSpPr>
        <p:spPr bwMode="auto">
          <a:xfrm>
            <a:off x="3304778" y="2553101"/>
            <a:ext cx="4048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166" name="Rectangle 77"/>
          <p:cNvSpPr>
            <a:spLocks noChangeArrowheads="1"/>
          </p:cNvSpPr>
          <p:nvPr/>
        </p:nvSpPr>
        <p:spPr bwMode="auto">
          <a:xfrm>
            <a:off x="5643166" y="2553101"/>
            <a:ext cx="4048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rPr>
              <a:t>cache</a:t>
            </a:r>
            <a:endParaRPr lang="en-US" altLang="zh-CN" sz="1400">
              <a:ea typeface="宋体" panose="02010600030101010101" pitchFamily="2" charset="-122"/>
            </a:endParaRPr>
          </a:p>
        </p:txBody>
      </p:sp>
      <p:sp>
        <p:nvSpPr>
          <p:cNvPr id="59" name="矩形 58"/>
          <p:cNvSpPr/>
          <p:nvPr/>
        </p:nvSpPr>
        <p:spPr>
          <a:xfrm>
            <a:off x="7307401" y="1584774"/>
            <a:ext cx="4671874" cy="3748719"/>
          </a:xfrm>
          <a:prstGeom prst="rect">
            <a:avLst/>
          </a:prstGeom>
        </p:spPr>
        <p:txBody>
          <a:bodyPr wrap="square">
            <a:spAutoFit/>
          </a:bodyPr>
          <a:lstStyle/>
          <a:p>
            <a:pPr marL="342900" indent="-342900">
              <a:spcBef>
                <a:spcPct val="30000"/>
              </a:spcBef>
            </a:pPr>
            <a:r>
              <a:rPr lang="zh-CN" altLang="en-US" sz="2400" dirty="0" smtClean="0">
                <a:solidFill>
                  <a:srgbClr val="0000FF"/>
                </a:solidFill>
              </a:rPr>
              <a:t>单处理机系统中，</a:t>
            </a:r>
            <a:r>
              <a:rPr lang="en-US" altLang="zh-CN" sz="2400" dirty="0" smtClean="0">
                <a:solidFill>
                  <a:srgbClr val="0000FF"/>
                </a:solidFill>
              </a:rPr>
              <a:t>CPU</a:t>
            </a:r>
            <a:r>
              <a:rPr lang="zh-CN" altLang="en-US" sz="2400" dirty="0" smtClean="0">
                <a:solidFill>
                  <a:srgbClr val="0000FF"/>
                </a:solidFill>
              </a:rPr>
              <a:t>与</a:t>
            </a:r>
            <a:r>
              <a:rPr lang="en-US" altLang="en-US" sz="2400" dirty="0" smtClean="0">
                <a:solidFill>
                  <a:srgbClr val="0000FF"/>
                </a:solidFill>
              </a:rPr>
              <a:t>I/O </a:t>
            </a:r>
            <a:r>
              <a:rPr lang="zh-CN" altLang="en-US" sz="2400" dirty="0" smtClean="0">
                <a:solidFill>
                  <a:srgbClr val="0000FF"/>
                </a:solidFill>
              </a:rPr>
              <a:t>并发操作也会发生类似问题</a:t>
            </a:r>
            <a:endParaRPr lang="en-US" altLang="en-US" sz="2400" dirty="0">
              <a:solidFill>
                <a:srgbClr val="0000FF"/>
              </a:solidFill>
            </a:endParaRPr>
          </a:p>
          <a:p>
            <a:pPr marL="285750" indent="-342900">
              <a:spcBef>
                <a:spcPct val="30000"/>
              </a:spcBef>
              <a:buFont typeface="Arial" panose="020B0604020202020204" pitchFamily="34" charset="0"/>
              <a:buChar char="•"/>
            </a:pPr>
            <a:r>
              <a:rPr lang="en-US" altLang="en-US" sz="2400" dirty="0" smtClean="0">
                <a:solidFill>
                  <a:srgbClr val="0000FF"/>
                </a:solidFill>
              </a:rPr>
              <a:t>DMA</a:t>
            </a:r>
            <a:r>
              <a:rPr lang="zh-CN" altLang="en-US" sz="2400" dirty="0" smtClean="0">
                <a:solidFill>
                  <a:srgbClr val="0000FF"/>
                </a:solidFill>
              </a:rPr>
              <a:t>让</a:t>
            </a:r>
            <a:r>
              <a:rPr lang="en-US" altLang="en-US" sz="2400" dirty="0" smtClean="0">
                <a:solidFill>
                  <a:srgbClr val="0000FF"/>
                </a:solidFill>
              </a:rPr>
              <a:t>I/O</a:t>
            </a:r>
            <a:r>
              <a:rPr lang="zh-CN" altLang="en-US" sz="2400" dirty="0" smtClean="0">
                <a:solidFill>
                  <a:srgbClr val="0000FF"/>
                </a:solidFill>
              </a:rPr>
              <a:t>设备直接访问存储器</a:t>
            </a:r>
            <a:endParaRPr lang="en-US" altLang="en-US" sz="2400" dirty="0">
              <a:solidFill>
                <a:srgbClr val="0000FF"/>
              </a:solidFill>
            </a:endParaRPr>
          </a:p>
          <a:p>
            <a:pPr marL="285750" indent="-342900">
              <a:spcBef>
                <a:spcPct val="30000"/>
              </a:spcBef>
              <a:buFont typeface="Arial" panose="020B0604020202020204" pitchFamily="34" charset="0"/>
              <a:buChar char="•"/>
            </a:pPr>
            <a:r>
              <a:rPr lang="zh-CN" altLang="en-US" sz="2400" dirty="0" smtClean="0">
                <a:solidFill>
                  <a:srgbClr val="0000FF"/>
                </a:solidFill>
              </a:rPr>
              <a:t>如果处理器已经更新了</a:t>
            </a:r>
            <a:r>
              <a:rPr lang="en-US" altLang="zh-CN" sz="2400" dirty="0" smtClean="0">
                <a:solidFill>
                  <a:srgbClr val="0000FF"/>
                </a:solidFill>
              </a:rPr>
              <a:t>cache</a:t>
            </a:r>
            <a:r>
              <a:rPr lang="zh-CN" altLang="en-US" sz="2400" dirty="0" smtClean="0">
                <a:solidFill>
                  <a:srgbClr val="0000FF"/>
                </a:solidFill>
              </a:rPr>
              <a:t>内容，那</a:t>
            </a:r>
            <a:r>
              <a:rPr lang="en-US" altLang="zh-CN" sz="2400" dirty="0" smtClean="0">
                <a:solidFill>
                  <a:srgbClr val="0000FF"/>
                </a:solidFill>
              </a:rPr>
              <a:t>I/O</a:t>
            </a:r>
            <a:r>
              <a:rPr lang="zh-CN" altLang="en-US" sz="2400" dirty="0" smtClean="0">
                <a:solidFill>
                  <a:srgbClr val="0000FF"/>
                </a:solidFill>
              </a:rPr>
              <a:t>设备就会读到内存中的</a:t>
            </a:r>
            <a:r>
              <a:rPr lang="zh-CN" altLang="en-US" sz="2400" dirty="0" smtClean="0">
                <a:solidFill>
                  <a:srgbClr val="FF0000"/>
                </a:solidFill>
              </a:rPr>
              <a:t>旧</a:t>
            </a:r>
            <a:r>
              <a:rPr lang="zh-CN" altLang="en-US" sz="2400" dirty="0" smtClean="0">
                <a:solidFill>
                  <a:srgbClr val="0000FF"/>
                </a:solidFill>
              </a:rPr>
              <a:t>值</a:t>
            </a:r>
            <a:endParaRPr lang="en-US" altLang="en-US" sz="2400" dirty="0">
              <a:solidFill>
                <a:srgbClr val="0000FF"/>
              </a:solidFill>
            </a:endParaRPr>
          </a:p>
          <a:p>
            <a:pPr marL="285750" indent="-342900">
              <a:spcBef>
                <a:spcPct val="30000"/>
              </a:spcBef>
              <a:buFont typeface="Arial" panose="020B0604020202020204" pitchFamily="34" charset="0"/>
              <a:buChar char="•"/>
            </a:pPr>
            <a:r>
              <a:rPr lang="zh-CN" altLang="en-US" sz="2400" dirty="0" smtClean="0">
                <a:solidFill>
                  <a:srgbClr val="0000FF"/>
                </a:solidFill>
              </a:rPr>
              <a:t>如果</a:t>
            </a:r>
            <a:r>
              <a:rPr lang="en-US" altLang="zh-CN" sz="2400" dirty="0" smtClean="0">
                <a:solidFill>
                  <a:srgbClr val="0000FF"/>
                </a:solidFill>
              </a:rPr>
              <a:t>I/O</a:t>
            </a:r>
            <a:r>
              <a:rPr lang="zh-CN" altLang="en-US" sz="2400" dirty="0" smtClean="0">
                <a:solidFill>
                  <a:srgbClr val="0000FF"/>
                </a:solidFill>
              </a:rPr>
              <a:t>设备更新了存储器的内容，那处理器就会读到</a:t>
            </a:r>
            <a:r>
              <a:rPr lang="en-US" altLang="zh-CN" sz="2400" dirty="0" smtClean="0">
                <a:solidFill>
                  <a:srgbClr val="0000FF"/>
                </a:solidFill>
              </a:rPr>
              <a:t>cache</a:t>
            </a:r>
            <a:r>
              <a:rPr lang="zh-CN" altLang="en-US" sz="2400" dirty="0" smtClean="0">
                <a:solidFill>
                  <a:srgbClr val="0000FF"/>
                </a:solidFill>
              </a:rPr>
              <a:t>中的</a:t>
            </a:r>
            <a:r>
              <a:rPr lang="zh-CN" altLang="en-US" sz="2400" dirty="0" smtClean="0">
                <a:solidFill>
                  <a:srgbClr val="FF0000"/>
                </a:solidFill>
              </a:rPr>
              <a:t>旧</a:t>
            </a:r>
            <a:r>
              <a:rPr lang="zh-CN" altLang="en-US" sz="2400" dirty="0" smtClean="0">
                <a:solidFill>
                  <a:srgbClr val="0000FF"/>
                </a:solidFill>
              </a:rPr>
              <a:t>值</a:t>
            </a:r>
            <a:endParaRPr lang="en-US" altLang="en-US" sz="2400" dirty="0">
              <a:solidFill>
                <a:srgbClr val="0000FF"/>
              </a:solidFill>
            </a:endParaRPr>
          </a:p>
        </p:txBody>
      </p:sp>
    </p:spTree>
    <p:extLst>
      <p:ext uri="{BB962C8B-B14F-4D97-AF65-F5344CB8AC3E}">
        <p14:creationId xmlns:p14="http://schemas.microsoft.com/office/powerpoint/2010/main" val="254115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 calcmode="lin" valueType="num">
                                      <p:cBhvr additive="base">
                                        <p:cTn id="7" dur="500" fill="hold"/>
                                        <p:tgtEl>
                                          <p:spTgt spid="157"/>
                                        </p:tgtEl>
                                        <p:attrNameLst>
                                          <p:attrName>ppt_x</p:attrName>
                                        </p:attrNameLst>
                                      </p:cBhvr>
                                      <p:tavLst>
                                        <p:tav tm="0">
                                          <p:val>
                                            <p:strVal val="0-#ppt_w/2"/>
                                          </p:val>
                                        </p:tav>
                                        <p:tav tm="100000">
                                          <p:val>
                                            <p:strVal val="#ppt_x"/>
                                          </p:val>
                                        </p:tav>
                                      </p:tavLst>
                                    </p:anim>
                                    <p:anim calcmode="lin" valueType="num">
                                      <p:cBhvr additive="base">
                                        <p:cTn id="8" dur="500" fill="hold"/>
                                        <p:tgtEl>
                                          <p:spTgt spid="1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3"/>
                                        </p:tgtEl>
                                        <p:attrNameLst>
                                          <p:attrName>style.visibility</p:attrName>
                                        </p:attrNameLst>
                                      </p:cBhvr>
                                      <p:to>
                                        <p:strVal val="visible"/>
                                      </p:to>
                                    </p:set>
                                    <p:anim calcmode="lin" valueType="num">
                                      <p:cBhvr additive="base">
                                        <p:cTn id="13" dur="500" fill="hold"/>
                                        <p:tgtEl>
                                          <p:spTgt spid="143"/>
                                        </p:tgtEl>
                                        <p:attrNameLst>
                                          <p:attrName>ppt_x</p:attrName>
                                        </p:attrNameLst>
                                      </p:cBhvr>
                                      <p:tavLst>
                                        <p:tav tm="0">
                                          <p:val>
                                            <p:strVal val="0-#ppt_w/2"/>
                                          </p:val>
                                        </p:tav>
                                        <p:tav tm="100000">
                                          <p:val>
                                            <p:strVal val="#ppt_x"/>
                                          </p:val>
                                        </p:tav>
                                      </p:tavLst>
                                    </p:anim>
                                    <p:anim calcmode="lin" valueType="num">
                                      <p:cBhvr additive="base">
                                        <p:cTn id="14" dur="500" fill="hold"/>
                                        <p:tgtEl>
                                          <p:spTgt spid="14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50"/>
                                        </p:tgtEl>
                                        <p:attrNameLst>
                                          <p:attrName>style.visibility</p:attrName>
                                        </p:attrNameLst>
                                      </p:cBhvr>
                                      <p:to>
                                        <p:strVal val="visible"/>
                                      </p:to>
                                    </p:set>
                                    <p:anim calcmode="lin" valueType="num">
                                      <p:cBhvr additive="base">
                                        <p:cTn id="19" dur="500" fill="hold"/>
                                        <p:tgtEl>
                                          <p:spTgt spid="150"/>
                                        </p:tgtEl>
                                        <p:attrNameLst>
                                          <p:attrName>ppt_x</p:attrName>
                                        </p:attrNameLst>
                                      </p:cBhvr>
                                      <p:tavLst>
                                        <p:tav tm="0">
                                          <p:val>
                                            <p:strVal val="0-#ppt_w/2"/>
                                          </p:val>
                                        </p:tav>
                                        <p:tav tm="100000">
                                          <p:val>
                                            <p:strVal val="#ppt_x"/>
                                          </p:val>
                                        </p:tav>
                                      </p:tavLst>
                                    </p:anim>
                                    <p:anim calcmode="lin" valueType="num">
                                      <p:cBhvr additive="base">
                                        <p:cTn id="20" dur="500" fill="hold"/>
                                        <p:tgtEl>
                                          <p:spTgt spid="1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For </a:t>
            </a:r>
            <a:r>
              <a:rPr lang="en-US" altLang="zh-CN" dirty="0"/>
              <a:t>a single memory location (X), read and written by two processors (A and </a:t>
            </a:r>
            <a:r>
              <a:rPr lang="en-US" altLang="zh-CN" dirty="0" smtClean="0"/>
              <a:t>B)</a:t>
            </a:r>
          </a:p>
          <a:p>
            <a:pPr lvl="1"/>
            <a:r>
              <a:rPr lang="en-US" altLang="zh-CN" dirty="0" smtClean="0"/>
              <a:t>Initially neither </a:t>
            </a:r>
            <a:r>
              <a:rPr lang="en-US" altLang="zh-CN" dirty="0"/>
              <a:t>cache contains the variable and that X =</a:t>
            </a:r>
            <a:r>
              <a:rPr lang="en-US" altLang="zh-CN" dirty="0" smtClean="0"/>
              <a:t> 1</a:t>
            </a:r>
          </a:p>
          <a:p>
            <a:pPr lvl="1"/>
            <a:r>
              <a:rPr lang="en-US" altLang="zh-CN" dirty="0" smtClean="0"/>
              <a:t>Assume write-through </a:t>
            </a:r>
            <a:r>
              <a:rPr lang="en-US" altLang="zh-CN" dirty="0"/>
              <a:t>cache; </a:t>
            </a:r>
            <a:r>
              <a:rPr lang="en-US" altLang="zh-CN" dirty="0" smtClean="0"/>
              <a:t>write-back adds </a:t>
            </a:r>
            <a:r>
              <a:rPr lang="en-US" altLang="zh-CN" dirty="0"/>
              <a:t>some </a:t>
            </a:r>
            <a:r>
              <a:rPr lang="en-US" altLang="zh-CN" dirty="0" smtClean="0"/>
              <a:t>complications</a:t>
            </a:r>
          </a:p>
          <a:p>
            <a:pPr lvl="1"/>
            <a:r>
              <a:rPr lang="en-US" altLang="zh-CN" dirty="0" smtClean="0"/>
              <a:t>After </a:t>
            </a:r>
            <a:r>
              <a:rPr lang="en-US" altLang="zh-CN" dirty="0"/>
              <a:t>the value of X has been written by A, A's cache and the memory both contain the new </a:t>
            </a:r>
            <a:r>
              <a:rPr lang="en-US" altLang="zh-CN" dirty="0" smtClean="0"/>
              <a:t>value</a:t>
            </a:r>
          </a:p>
          <a:p>
            <a:pPr lvl="1"/>
            <a:r>
              <a:rPr lang="en-US" altLang="zh-CN" dirty="0" smtClean="0"/>
              <a:t>But </a:t>
            </a:r>
            <a:r>
              <a:rPr lang="en-US" altLang="zh-CN" dirty="0"/>
              <a:t>B's cache does not, and if B reads the value of X it will receive 1!.</a:t>
            </a:r>
          </a:p>
          <a:p>
            <a:endParaRPr lang="zh-CN" altLang="en-US" dirty="0"/>
          </a:p>
        </p:txBody>
      </p:sp>
      <p:sp>
        <p:nvSpPr>
          <p:cNvPr id="10242"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0244" name="Picture 2" descr="X:\02_GRAPHICS\BOOKS\02_PPTs\MKCAD(Hennessy)\PPT\Ch05\f05-03-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4437112"/>
            <a:ext cx="10237601"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cache coherence problem</a:t>
            </a:r>
            <a:endParaRPr lang="zh-CN" altLang="en-US" dirty="0"/>
          </a:p>
        </p:txBody>
      </p:sp>
    </p:spTree>
    <p:extLst>
      <p:ext uri="{BB962C8B-B14F-4D97-AF65-F5344CB8AC3E}">
        <p14:creationId xmlns:p14="http://schemas.microsoft.com/office/powerpoint/2010/main" val="61319104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多</a:t>
            </a:r>
            <a:r>
              <a:rPr lang="en-US" altLang="zh-CN" smtClean="0"/>
              <a:t>cache</a:t>
            </a:r>
            <a:r>
              <a:rPr lang="zh-CN" altLang="en-US" smtClean="0"/>
              <a:t>的同一性</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smtClean="0"/>
              <a:t>Cache</a:t>
            </a:r>
            <a:r>
              <a:rPr lang="zh-CN" altLang="en-US" dirty="0" smtClean="0"/>
              <a:t>在共享存储器系统中非常重要</a:t>
            </a:r>
            <a:endParaRPr lang="en-US" altLang="zh-CN" dirty="0" smtClean="0"/>
          </a:p>
          <a:p>
            <a:pPr>
              <a:lnSpc>
                <a:spcPct val="100000"/>
              </a:lnSpc>
            </a:pPr>
            <a:r>
              <a:rPr lang="zh-CN" altLang="en-US" dirty="0"/>
              <a:t>但</a:t>
            </a:r>
            <a:r>
              <a:rPr lang="zh-CN" altLang="en-US" dirty="0" smtClean="0"/>
              <a:t>处理器私有的</a:t>
            </a:r>
            <a:r>
              <a:rPr lang="en-US" altLang="zh-CN" dirty="0" smtClean="0"/>
              <a:t>cache</a:t>
            </a:r>
            <a:r>
              <a:rPr lang="zh-CN" altLang="en-US" dirty="0" smtClean="0"/>
              <a:t>带来了问题</a:t>
            </a:r>
            <a:endParaRPr lang="en-US" altLang="zh-CN" dirty="0" smtClean="0"/>
          </a:p>
          <a:p>
            <a:pPr lvl="1">
              <a:lnSpc>
                <a:spcPct val="100000"/>
              </a:lnSpc>
            </a:pPr>
            <a:r>
              <a:rPr lang="zh-CN" altLang="en-US" dirty="0" smtClean="0"/>
              <a:t>同一变量的多个副本出现在多个</a:t>
            </a:r>
            <a:r>
              <a:rPr lang="en-US" altLang="zh-CN" dirty="0" smtClean="0"/>
              <a:t>cache</a:t>
            </a:r>
            <a:r>
              <a:rPr lang="zh-CN" altLang="en-US" dirty="0" smtClean="0"/>
              <a:t>中</a:t>
            </a:r>
            <a:endParaRPr lang="en-US" altLang="zh-CN" dirty="0" smtClean="0"/>
          </a:p>
          <a:p>
            <a:pPr lvl="1">
              <a:lnSpc>
                <a:spcPct val="100000"/>
              </a:lnSpc>
            </a:pPr>
            <a:r>
              <a:rPr lang="zh-CN" altLang="en-US" dirty="0" smtClean="0"/>
              <a:t>某处理器的写操作未必能被其它处理器看到</a:t>
            </a:r>
            <a:endParaRPr lang="en-US" altLang="zh-CN" dirty="0" smtClean="0"/>
          </a:p>
          <a:p>
            <a:pPr lvl="2">
              <a:lnSpc>
                <a:spcPct val="100000"/>
              </a:lnSpc>
            </a:pPr>
            <a:r>
              <a:rPr lang="zh-CN" altLang="en-US" dirty="0" smtClean="0"/>
              <a:t>它们会继续访问自己</a:t>
            </a:r>
            <a:r>
              <a:rPr lang="en-US" altLang="zh-CN" dirty="0" smtClean="0"/>
              <a:t>cache</a:t>
            </a:r>
            <a:r>
              <a:rPr lang="zh-CN" altLang="en-US" dirty="0" smtClean="0"/>
              <a:t>或主存中的过期数据</a:t>
            </a:r>
            <a:endParaRPr lang="en-US" altLang="zh-CN" dirty="0" smtClean="0"/>
          </a:p>
          <a:p>
            <a:pPr lvl="1">
              <a:lnSpc>
                <a:spcPct val="100000"/>
              </a:lnSpc>
            </a:pPr>
            <a:r>
              <a:rPr lang="zh-CN" altLang="en-US" dirty="0" smtClean="0"/>
              <a:t>这就引出了</a:t>
            </a:r>
            <a:r>
              <a:rPr lang="en-US" altLang="zh-CN" dirty="0" smtClean="0"/>
              <a:t>cache</a:t>
            </a:r>
            <a:r>
              <a:rPr lang="zh-CN" altLang="en-US" dirty="0" smtClean="0"/>
              <a:t>不同一的问题</a:t>
            </a:r>
            <a:endParaRPr lang="en-US" altLang="zh-CN" dirty="0" smtClean="0"/>
          </a:p>
          <a:p>
            <a:pPr>
              <a:lnSpc>
                <a:spcPct val="100000"/>
              </a:lnSpc>
            </a:pPr>
            <a:r>
              <a:rPr lang="zh-CN" altLang="en-US" dirty="0" smtClean="0"/>
              <a:t>两种基本的解决方案</a:t>
            </a:r>
            <a:endParaRPr lang="en-US" altLang="zh-CN" dirty="0" smtClean="0"/>
          </a:p>
          <a:p>
            <a:pPr lvl="1">
              <a:lnSpc>
                <a:spcPct val="100000"/>
              </a:lnSpc>
            </a:pPr>
            <a:r>
              <a:rPr lang="zh-CN" altLang="en-US" dirty="0" smtClean="0"/>
              <a:t>采用不出现上述问题的存储器结构</a:t>
            </a:r>
            <a:endParaRPr lang="en-US" altLang="zh-CN" dirty="0" smtClean="0"/>
          </a:p>
          <a:p>
            <a:pPr lvl="2">
              <a:lnSpc>
                <a:spcPct val="100000"/>
              </a:lnSpc>
            </a:pPr>
            <a:r>
              <a:rPr lang="zh-CN" altLang="en-US" dirty="0" smtClean="0"/>
              <a:t>没有私有</a:t>
            </a:r>
            <a:r>
              <a:rPr lang="en-US" altLang="zh-CN" dirty="0" smtClean="0"/>
              <a:t>cache</a:t>
            </a:r>
            <a:r>
              <a:rPr lang="zh-CN" altLang="en-US" dirty="0"/>
              <a:t>：</a:t>
            </a:r>
            <a:r>
              <a:rPr lang="zh-CN" altLang="en-US" dirty="0" smtClean="0"/>
              <a:t>用共享</a:t>
            </a:r>
            <a:r>
              <a:rPr lang="en-US" altLang="zh-CN" dirty="0" smtClean="0"/>
              <a:t>cache</a:t>
            </a:r>
            <a:r>
              <a:rPr lang="zh-CN" altLang="en-US" dirty="0" smtClean="0"/>
              <a:t>的话，带宽要求巨大，交叉开关的硬件成本太高</a:t>
            </a:r>
            <a:endParaRPr lang="en-US" altLang="zh-CN" dirty="0" smtClean="0"/>
          </a:p>
          <a:p>
            <a:pPr lvl="2">
              <a:lnSpc>
                <a:spcPct val="100000"/>
              </a:lnSpc>
            </a:pPr>
            <a:r>
              <a:rPr lang="zh-CN" altLang="en-US" dirty="0" smtClean="0"/>
              <a:t>共享数据不进私有</a:t>
            </a:r>
            <a:r>
              <a:rPr lang="en-US" altLang="zh-CN" dirty="0" smtClean="0"/>
              <a:t>cache</a:t>
            </a:r>
            <a:r>
              <a:rPr lang="zh-CN" altLang="en-US" dirty="0" smtClean="0"/>
              <a:t>：不能有效利用</a:t>
            </a:r>
            <a:r>
              <a:rPr lang="en-US" altLang="zh-CN" dirty="0" smtClean="0"/>
              <a:t>cache</a:t>
            </a:r>
            <a:r>
              <a:rPr lang="zh-CN" altLang="en-US" dirty="0" smtClean="0"/>
              <a:t>，影响性能</a:t>
            </a:r>
            <a:endParaRPr lang="en-US" altLang="zh-CN" dirty="0" smtClean="0"/>
          </a:p>
          <a:p>
            <a:pPr lvl="1">
              <a:lnSpc>
                <a:spcPct val="100000"/>
              </a:lnSpc>
            </a:pPr>
            <a:r>
              <a:rPr lang="zh-CN" altLang="en-US" dirty="0" smtClean="0"/>
              <a:t>检测</a:t>
            </a:r>
            <a:r>
              <a:rPr lang="en-US" altLang="zh-CN" dirty="0" smtClean="0"/>
              <a:t>cache</a:t>
            </a:r>
            <a:r>
              <a:rPr lang="zh-CN" altLang="en-US" dirty="0" smtClean="0"/>
              <a:t>不同一，并采取行动，保持同一</a:t>
            </a:r>
            <a:endParaRPr lang="zh-CN" altLang="en-US" dirty="0"/>
          </a:p>
        </p:txBody>
      </p:sp>
    </p:spTree>
    <p:extLst>
      <p:ext uri="{BB962C8B-B14F-4D97-AF65-F5344CB8AC3E}">
        <p14:creationId xmlns:p14="http://schemas.microsoft.com/office/powerpoint/2010/main" val="416627264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共享</a:t>
            </a:r>
            <a:r>
              <a:rPr kumimoji="1" lang="en-US" altLang="zh-CN" dirty="0" smtClean="0"/>
              <a:t>cache</a:t>
            </a:r>
            <a:r>
              <a:rPr kumimoji="1" lang="zh-CN" altLang="en-US" dirty="0" smtClean="0"/>
              <a:t>的例子</a:t>
            </a:r>
            <a:endParaRPr kumimoji="1" lang="zh-CN" altLang="en-US" dirty="0"/>
          </a:p>
        </p:txBody>
      </p:sp>
      <p:sp>
        <p:nvSpPr>
          <p:cNvPr id="3" name="内容占位符 2"/>
          <p:cNvSpPr>
            <a:spLocks noGrp="1"/>
          </p:cNvSpPr>
          <p:nvPr>
            <p:ph idx="1"/>
          </p:nvPr>
        </p:nvSpPr>
        <p:spPr/>
        <p:txBody>
          <a:bodyPr/>
          <a:lstStyle/>
          <a:p>
            <a:r>
              <a:rPr lang="en-US" altLang="zh-CN" dirty="0" smtClean="0"/>
              <a:t>Aliant FX-8, 1980</a:t>
            </a:r>
            <a:r>
              <a:rPr lang="zh-CN" altLang="en-US" dirty="0" smtClean="0"/>
              <a:t>年代早期的机器</a:t>
            </a:r>
            <a:endParaRPr lang="en-US" altLang="zh-CN" dirty="0" smtClean="0"/>
          </a:p>
          <a:p>
            <a:pPr lvl="1"/>
            <a:r>
              <a:rPr kumimoji="1" lang="en-US" altLang="zh-CN" dirty="0" smtClean="0"/>
              <a:t>8</a:t>
            </a:r>
            <a:r>
              <a:rPr kumimoji="1" lang="zh-CN" altLang="en-US" dirty="0" smtClean="0"/>
              <a:t>个</a:t>
            </a:r>
            <a:r>
              <a:rPr kumimoji="1" lang="en-US" altLang="zh-CN" dirty="0" smtClean="0"/>
              <a:t>M68020</a:t>
            </a:r>
            <a:r>
              <a:rPr kumimoji="1" lang="zh-CN" altLang="en-US" dirty="0" smtClean="0"/>
              <a:t>，交叉开关，</a:t>
            </a:r>
            <a:r>
              <a:rPr kumimoji="1" lang="en-US" altLang="zh-CN" dirty="0" smtClean="0"/>
              <a:t>512KB</a:t>
            </a:r>
            <a:r>
              <a:rPr kumimoji="1" lang="zh-CN" altLang="en-US" dirty="0" smtClean="0"/>
              <a:t>交错</a:t>
            </a:r>
            <a:r>
              <a:rPr kumimoji="1" lang="en-US" altLang="zh-CN" dirty="0" smtClean="0"/>
              <a:t>cache</a:t>
            </a:r>
          </a:p>
          <a:p>
            <a:r>
              <a:rPr lang="en-US" altLang="zh-CN" dirty="0" smtClean="0"/>
              <a:t>Encore &amp; Sequent</a:t>
            </a:r>
            <a:r>
              <a:rPr lang="zh-CN" altLang="en-US" dirty="0" smtClean="0"/>
              <a:t>，</a:t>
            </a:r>
            <a:r>
              <a:rPr lang="en-US" altLang="zh-CN" dirty="0" smtClean="0"/>
              <a:t>1990</a:t>
            </a:r>
            <a:r>
              <a:rPr lang="zh-CN" altLang="en-US" dirty="0" smtClean="0"/>
              <a:t>年代后期的机器</a:t>
            </a:r>
            <a:endParaRPr lang="en-US" altLang="zh-CN" dirty="0" smtClean="0"/>
          </a:p>
          <a:p>
            <a:pPr lvl="1"/>
            <a:r>
              <a:rPr kumimoji="1" lang="zh-CN" altLang="en-US" dirty="0" smtClean="0"/>
              <a:t>基于</a:t>
            </a:r>
            <a:r>
              <a:rPr kumimoji="1" lang="en-US" altLang="zh-CN" dirty="0" smtClean="0"/>
              <a:t>N32032</a:t>
            </a:r>
            <a:r>
              <a:rPr kumimoji="1" lang="zh-CN" altLang="en-US" dirty="0" smtClean="0"/>
              <a:t>微处理器</a:t>
            </a:r>
            <a:endParaRPr kumimoji="1" lang="en-US" altLang="zh-CN" dirty="0" smtClean="0"/>
          </a:p>
          <a:p>
            <a:pPr lvl="1"/>
            <a:r>
              <a:rPr lang="zh-CN" altLang="en-US" dirty="0" smtClean="0"/>
              <a:t>早期无片内</a:t>
            </a:r>
            <a:r>
              <a:rPr lang="en-US" altLang="zh-CN" dirty="0" smtClean="0"/>
              <a:t>cache</a:t>
            </a:r>
            <a:endParaRPr kumimoji="1" lang="en-US" altLang="zh-CN" dirty="0" smtClean="0"/>
          </a:p>
        </p:txBody>
      </p:sp>
      <p:graphicFrame>
        <p:nvGraphicFramePr>
          <p:cNvPr id="7" name="Object 4">
            <a:hlinkClick r:id="" action="ppaction://ole?verb=0"/>
          </p:cNvPr>
          <p:cNvGraphicFramePr>
            <a:graphicFrameLocks/>
          </p:cNvGraphicFramePr>
          <p:nvPr>
            <p:extLst>
              <p:ext uri="{D42A27DB-BD31-4B8C-83A1-F6EECF244321}">
                <p14:modId xmlns:p14="http://schemas.microsoft.com/office/powerpoint/2010/main" val="3513343195"/>
              </p:ext>
            </p:extLst>
          </p:nvPr>
        </p:nvGraphicFramePr>
        <p:xfrm>
          <a:off x="6384032" y="3068960"/>
          <a:ext cx="4756720" cy="3552056"/>
        </p:xfrm>
        <a:graphic>
          <a:graphicData uri="http://schemas.openxmlformats.org/presentationml/2006/ole">
            <mc:AlternateContent xmlns:mc="http://schemas.openxmlformats.org/markup-compatibility/2006">
              <mc:Choice xmlns:v="urn:schemas-microsoft-com:vml" Requires="v">
                <p:oleObj spid="_x0000_s1059" name="Chart" r:id="rId4" imgW="5155096" imgH="3962400" progId="Excel.Chart.8">
                  <p:embed followColorScheme="full"/>
                </p:oleObj>
              </mc:Choice>
              <mc:Fallback>
                <p:oleObj name="Chart" r:id="rId4" imgW="5155096" imgH="3962400" progId="Excel.Chart.8">
                  <p:embed followColorScheme="full"/>
                  <p:pic>
                    <p:nvPicPr>
                      <p:cNvPr id="7" name="Object 4">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032" y="3068960"/>
                        <a:ext cx="4756720" cy="3552056"/>
                      </a:xfrm>
                      <a:prstGeom prst="rect">
                        <a:avLst/>
                      </a:prstGeom>
                      <a:noFill/>
                      <a:ln>
                        <a:noFill/>
                      </a:ln>
                      <a:effectLst/>
                      <a:extLst/>
                    </p:spPr>
                  </p:pic>
                </p:oleObj>
              </mc:Fallback>
            </mc:AlternateContent>
          </a:graphicData>
        </a:graphic>
      </p:graphicFrame>
      <p:pic>
        <p:nvPicPr>
          <p:cNvPr id="4" name="图片 3"/>
          <p:cNvPicPr>
            <a:picLocks noChangeAspect="1"/>
          </p:cNvPicPr>
          <p:nvPr/>
        </p:nvPicPr>
        <p:blipFill>
          <a:blip r:embed="rId6"/>
          <a:stretch>
            <a:fillRect/>
          </a:stretch>
        </p:blipFill>
        <p:spPr>
          <a:xfrm>
            <a:off x="2351584" y="3796478"/>
            <a:ext cx="3024336" cy="3048403"/>
          </a:xfrm>
          <a:prstGeom prst="rect">
            <a:avLst/>
          </a:prstGeom>
        </p:spPr>
      </p:pic>
    </p:spTree>
    <p:extLst>
      <p:ext uri="{BB962C8B-B14F-4D97-AF65-F5344CB8AC3E}">
        <p14:creationId xmlns:p14="http://schemas.microsoft.com/office/powerpoint/2010/main" val="25094220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共享</a:t>
            </a:r>
            <a:r>
              <a:rPr kumimoji="1" lang="en-US" altLang="zh-CN" dirty="0" smtClean="0"/>
              <a:t>cache</a:t>
            </a:r>
            <a:r>
              <a:rPr kumimoji="1" lang="zh-CN" altLang="en-US" dirty="0" smtClean="0"/>
              <a:t>的</a:t>
            </a:r>
            <a:r>
              <a:rPr kumimoji="1" lang="en-US" altLang="zh-CN" dirty="0" smtClean="0"/>
              <a:t>Pros and Cons</a:t>
            </a:r>
            <a:endParaRPr kumimoji="1" lang="zh-CN" altLang="en-US" dirty="0"/>
          </a:p>
        </p:txBody>
      </p:sp>
      <p:sp>
        <p:nvSpPr>
          <p:cNvPr id="3" name="内容占位符 2"/>
          <p:cNvSpPr>
            <a:spLocks noGrp="1"/>
          </p:cNvSpPr>
          <p:nvPr>
            <p:ph sz="half" idx="1"/>
          </p:nvPr>
        </p:nvSpPr>
        <p:spPr>
          <a:xfrm>
            <a:off x="551384" y="1628800"/>
            <a:ext cx="5468416" cy="4968552"/>
          </a:xfrm>
        </p:spPr>
        <p:txBody>
          <a:bodyPr/>
          <a:lstStyle/>
          <a:p>
            <a:r>
              <a:rPr lang="en-US" altLang="zh-CN" sz="2400" dirty="0"/>
              <a:t>Cache</a:t>
            </a:r>
            <a:r>
              <a:rPr lang="zh-CN" altLang="en-US" sz="2400" dirty="0"/>
              <a:t>块放置策略与单</a:t>
            </a:r>
            <a:r>
              <a:rPr lang="en-US" altLang="zh-CN" sz="2400" dirty="0"/>
              <a:t>cache</a:t>
            </a:r>
            <a:r>
              <a:rPr lang="zh-CN" altLang="en-US" sz="2400" dirty="0"/>
              <a:t>相同</a:t>
            </a:r>
            <a:endParaRPr kumimoji="1" lang="en-US" altLang="zh-CN" sz="2400" dirty="0"/>
          </a:p>
          <a:p>
            <a:pPr lvl="1"/>
            <a:r>
              <a:rPr kumimoji="1" lang="zh-CN" altLang="en-US" sz="2000" dirty="0"/>
              <a:t>每个</a:t>
            </a:r>
            <a:r>
              <a:rPr kumimoji="1" lang="en-US" altLang="zh-CN" sz="2000" dirty="0"/>
              <a:t>cache</a:t>
            </a:r>
            <a:r>
              <a:rPr kumimoji="1" lang="zh-CN" altLang="en-US" sz="2000" dirty="0"/>
              <a:t>块最多只有一个副本</a:t>
            </a:r>
            <a:endParaRPr kumimoji="1" lang="en-US" altLang="zh-CN" sz="2000" dirty="0"/>
          </a:p>
          <a:p>
            <a:r>
              <a:rPr kumimoji="1" lang="zh-CN" altLang="en-US" sz="2400" dirty="0"/>
              <a:t>高速、细粒度的处理机间共享</a:t>
            </a:r>
            <a:endParaRPr kumimoji="1" lang="en-US" altLang="zh-CN" sz="2400" dirty="0"/>
          </a:p>
          <a:p>
            <a:pPr lvl="1"/>
            <a:r>
              <a:rPr lang="zh-CN" altLang="en-US" sz="2000" dirty="0"/>
              <a:t>通信延迟短至仅数个时钟周期</a:t>
            </a:r>
            <a:endParaRPr lang="en-US" altLang="zh-CN" sz="2000" dirty="0"/>
          </a:p>
          <a:p>
            <a:pPr lvl="1"/>
            <a:r>
              <a:rPr kumimoji="1" lang="en-US" altLang="zh-CN" sz="2000" dirty="0"/>
              <a:t>Cray XMP</a:t>
            </a:r>
            <a:r>
              <a:rPr kumimoji="1" lang="zh-CN" altLang="en-US" sz="2000" dirty="0"/>
              <a:t>还有共享的寄存器</a:t>
            </a:r>
            <a:endParaRPr kumimoji="1" lang="en-US" altLang="zh-CN" sz="2000" dirty="0"/>
          </a:p>
          <a:p>
            <a:r>
              <a:rPr lang="zh-CN" altLang="en-US" sz="2400" dirty="0"/>
              <a:t>具有正面干扰的潜力</a:t>
            </a:r>
            <a:endParaRPr lang="en-US" altLang="zh-CN" sz="2400" dirty="0"/>
          </a:p>
          <a:p>
            <a:pPr lvl="1"/>
            <a:r>
              <a:rPr kumimoji="1" lang="zh-CN" altLang="en-US" sz="2000" dirty="0"/>
              <a:t>一个处理器为另一个处理器预取数据</a:t>
            </a:r>
            <a:endParaRPr kumimoji="1" lang="en-US" altLang="zh-CN" sz="2000" dirty="0"/>
          </a:p>
          <a:p>
            <a:r>
              <a:rPr lang="zh-CN" altLang="en-US" sz="2400" dirty="0"/>
              <a:t>减少存储器用量：</a:t>
            </a:r>
            <a:r>
              <a:rPr kumimoji="1" lang="zh-CN" altLang="en-US" sz="2000" dirty="0"/>
              <a:t>单副本</a:t>
            </a:r>
            <a:r>
              <a:rPr kumimoji="1" lang="en-US" altLang="zh-CN" sz="2000" dirty="0"/>
              <a:t> vs. </a:t>
            </a:r>
            <a:r>
              <a:rPr kumimoji="1" lang="zh-CN" altLang="en-US" sz="2000" dirty="0"/>
              <a:t>多副本</a:t>
            </a:r>
            <a:endParaRPr kumimoji="1" lang="en-US" altLang="zh-CN" sz="2000" dirty="0"/>
          </a:p>
          <a:p>
            <a:r>
              <a:rPr kumimoji="1" lang="zh-CN" altLang="en-US" sz="2400" dirty="0"/>
              <a:t>多处理器共享一个块时，无乒乓现象</a:t>
            </a:r>
            <a:endParaRPr kumimoji="1" lang="en-US" altLang="zh-CN" sz="2400" dirty="0"/>
          </a:p>
          <a:p>
            <a:pPr lvl="1"/>
            <a:r>
              <a:rPr kumimoji="1" lang="zh-CN" altLang="en-US" sz="2000" dirty="0"/>
              <a:t>很大的块也不会导致假共享</a:t>
            </a:r>
          </a:p>
        </p:txBody>
      </p:sp>
      <p:sp>
        <p:nvSpPr>
          <p:cNvPr id="4" name="内容占位符 3"/>
          <p:cNvSpPr>
            <a:spLocks noGrp="1"/>
          </p:cNvSpPr>
          <p:nvPr>
            <p:ph sz="half" idx="2"/>
          </p:nvPr>
        </p:nvSpPr>
        <p:spPr>
          <a:xfrm>
            <a:off x="6019800" y="1628800"/>
            <a:ext cx="5764832" cy="4968552"/>
          </a:xfrm>
        </p:spPr>
        <p:txBody>
          <a:bodyPr/>
          <a:lstStyle/>
          <a:p>
            <a:r>
              <a:rPr lang="zh-CN" altLang="en-US" sz="2400" dirty="0"/>
              <a:t>带宽受限</a:t>
            </a:r>
            <a:endParaRPr lang="en-US" altLang="zh-CN" sz="2400" dirty="0"/>
          </a:p>
          <a:p>
            <a:pPr lvl="1"/>
            <a:r>
              <a:rPr lang="zh-CN" altLang="en-US" sz="2000" dirty="0"/>
              <a:t>难以支撑多个高速处理器的运行</a:t>
            </a:r>
            <a:endParaRPr lang="en-US" altLang="zh-CN" sz="2000" dirty="0"/>
          </a:p>
          <a:p>
            <a:r>
              <a:rPr lang="zh-CN" altLang="en-US" sz="2400" dirty="0"/>
              <a:t>增加了所有访问（包括非共享）的延迟</a:t>
            </a:r>
            <a:endParaRPr lang="en-US" altLang="zh-CN" sz="2400" dirty="0"/>
          </a:p>
          <a:p>
            <a:pPr lvl="1"/>
            <a:r>
              <a:rPr lang="zh-CN" altLang="en-US" sz="2000" dirty="0"/>
              <a:t>交叉开关、共享</a:t>
            </a:r>
            <a:r>
              <a:rPr lang="en-US" altLang="zh-CN" sz="2000" dirty="0"/>
              <a:t>cache</a:t>
            </a:r>
            <a:r>
              <a:rPr lang="zh-CN" altLang="en-US" sz="2000" dirty="0"/>
              <a:t>的容量必然要大一点</a:t>
            </a:r>
            <a:endParaRPr lang="en-US" altLang="zh-CN" sz="2000" dirty="0"/>
          </a:p>
          <a:p>
            <a:pPr lvl="1"/>
            <a:r>
              <a:rPr lang="zh-CN" altLang="en-US" sz="2000" dirty="0"/>
              <a:t>一级</a:t>
            </a:r>
            <a:r>
              <a:rPr lang="en-US" altLang="zh-CN" sz="2000" dirty="0"/>
              <a:t>cache</a:t>
            </a:r>
            <a:r>
              <a:rPr lang="zh-CN" altLang="en-US" sz="2000" dirty="0"/>
              <a:t>命中时间决定了</a:t>
            </a:r>
            <a:r>
              <a:rPr lang="en-US" altLang="zh-CN" sz="2000" dirty="0"/>
              <a:t>CPU</a:t>
            </a:r>
            <a:r>
              <a:rPr lang="zh-CN" altLang="en-US" sz="2000" dirty="0"/>
              <a:t>时钟周期！</a:t>
            </a:r>
            <a:endParaRPr lang="en-US" altLang="zh-CN" sz="2000" dirty="0"/>
          </a:p>
          <a:p>
            <a:r>
              <a:rPr lang="zh-CN" altLang="en-US" sz="2400" dirty="0"/>
              <a:t>具有负面干扰的潜力</a:t>
            </a:r>
            <a:endParaRPr lang="en-US" altLang="zh-CN" sz="2400" dirty="0"/>
          </a:p>
          <a:p>
            <a:pPr lvl="1"/>
            <a:r>
              <a:rPr lang="zh-CN" altLang="en-US" sz="2000" dirty="0"/>
              <a:t>一个处理器刷掉别的处理器正在用的数据</a:t>
            </a:r>
            <a:endParaRPr lang="en-US" altLang="zh-CN" sz="2000" dirty="0"/>
          </a:p>
          <a:p>
            <a:r>
              <a:rPr lang="zh-CN" altLang="en-US" sz="2400" dirty="0"/>
              <a:t>不适用于含片内</a:t>
            </a:r>
            <a:r>
              <a:rPr lang="en-US" altLang="zh-CN" sz="2400" dirty="0"/>
              <a:t>cache</a:t>
            </a:r>
            <a:r>
              <a:rPr lang="zh-CN" altLang="en-US" sz="2400" dirty="0"/>
              <a:t>的处理器芯片</a:t>
            </a:r>
            <a:endParaRPr lang="en-US" altLang="zh-CN" sz="2400" dirty="0"/>
          </a:p>
          <a:p>
            <a:pPr lvl="1"/>
            <a:r>
              <a:rPr lang="zh-CN" altLang="en-US" sz="2000" dirty="0"/>
              <a:t>有些系统实现了共享的二级</a:t>
            </a:r>
            <a:r>
              <a:rPr lang="en-US" altLang="zh-CN" sz="2000" dirty="0"/>
              <a:t>cache</a:t>
            </a:r>
          </a:p>
          <a:p>
            <a:pPr lvl="2"/>
            <a:r>
              <a:rPr lang="zh-CN" altLang="en-US" sz="1800" dirty="0"/>
              <a:t>包括一些多核</a:t>
            </a:r>
            <a:r>
              <a:rPr lang="zh-CN" altLang="en-US" sz="1800" dirty="0" smtClean="0"/>
              <a:t>处理器</a:t>
            </a:r>
            <a:endParaRPr lang="zh-CN" altLang="en-US" sz="1800" dirty="0"/>
          </a:p>
        </p:txBody>
      </p:sp>
    </p:spTree>
    <p:extLst>
      <p:ext uri="{BB962C8B-B14F-4D97-AF65-F5344CB8AC3E}">
        <p14:creationId xmlns:p14="http://schemas.microsoft.com/office/powerpoint/2010/main" val="20131595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强制实行</a:t>
            </a:r>
            <a:r>
              <a:rPr lang="en-US" altLang="zh-CN" dirty="0" smtClean="0"/>
              <a:t>cache</a:t>
            </a:r>
            <a:r>
              <a:rPr lang="zh-CN" altLang="en-US" dirty="0" smtClean="0"/>
              <a:t>内容的同一</a:t>
            </a:r>
            <a:endParaRPr lang="en-AU" dirty="0"/>
          </a:p>
        </p:txBody>
      </p:sp>
      <p:sp>
        <p:nvSpPr>
          <p:cNvPr id="242691" name="Rectangle 3"/>
          <p:cNvSpPr>
            <a:spLocks noGrp="1" noChangeArrowheads="1"/>
          </p:cNvSpPr>
          <p:nvPr>
            <p:ph sz="half" idx="1"/>
          </p:nvPr>
        </p:nvSpPr>
        <p:spPr>
          <a:xfrm>
            <a:off x="407368" y="1556792"/>
            <a:ext cx="6192688" cy="4968552"/>
          </a:xfrm>
        </p:spPr>
        <p:txBody>
          <a:bodyPr/>
          <a:lstStyle/>
          <a:p>
            <a:pPr>
              <a:lnSpc>
                <a:spcPct val="90000"/>
              </a:lnSpc>
            </a:pPr>
            <a:r>
              <a:rPr lang="en-US" dirty="0" smtClean="0"/>
              <a:t>Cache</a:t>
            </a:r>
            <a:r>
              <a:rPr lang="zh-CN" altLang="en-US" dirty="0" smtClean="0"/>
              <a:t>同一带来的好处</a:t>
            </a:r>
            <a:endParaRPr lang="en-US" dirty="0" smtClean="0"/>
          </a:p>
          <a:p>
            <a:pPr lvl="1">
              <a:lnSpc>
                <a:spcPct val="90000"/>
              </a:lnSpc>
            </a:pPr>
            <a:r>
              <a:rPr lang="zh-CN" altLang="en-US" dirty="0" smtClean="0"/>
              <a:t>迁移</a:t>
            </a:r>
            <a:r>
              <a:rPr lang="en-US" dirty="0" smtClean="0"/>
              <a:t>:  </a:t>
            </a:r>
            <a:r>
              <a:rPr lang="zh-CN" altLang="en-US" dirty="0" smtClean="0"/>
              <a:t>数据可以按需自由移动</a:t>
            </a:r>
            <a:endParaRPr lang="en-US" dirty="0" smtClean="0"/>
          </a:p>
          <a:p>
            <a:pPr lvl="1">
              <a:lnSpc>
                <a:spcPct val="90000"/>
              </a:lnSpc>
            </a:pPr>
            <a:r>
              <a:rPr lang="zh-CN" altLang="en-US" dirty="0" smtClean="0"/>
              <a:t>复制</a:t>
            </a:r>
            <a:r>
              <a:rPr lang="en-US" dirty="0" smtClean="0"/>
              <a:t>:  </a:t>
            </a:r>
            <a:r>
              <a:rPr lang="zh-CN" altLang="en-US" dirty="0" smtClean="0"/>
              <a:t>同一个数据有多个副本</a:t>
            </a:r>
            <a:endParaRPr lang="en-US" altLang="zh-CN" dirty="0" smtClean="0"/>
          </a:p>
          <a:p>
            <a:pPr lvl="1"/>
            <a:r>
              <a:rPr lang="en-US" altLang="zh-CN" dirty="0" smtClean="0"/>
              <a:t>Migration &amp; Replication</a:t>
            </a:r>
            <a:endParaRPr lang="en-US" dirty="0" smtClean="0"/>
          </a:p>
          <a:p>
            <a:r>
              <a:rPr lang="en-US" altLang="zh-CN" dirty="0" smtClean="0"/>
              <a:t>Cache</a:t>
            </a:r>
            <a:r>
              <a:rPr lang="zh-CN" altLang="en-US" dirty="0" smtClean="0"/>
              <a:t>同一协议</a:t>
            </a:r>
            <a:endParaRPr lang="en-US" altLang="zh-CN" dirty="0" smtClean="0"/>
          </a:p>
          <a:p>
            <a:pPr lvl="1"/>
            <a:r>
              <a:rPr lang="zh-CN" altLang="en-US" dirty="0" smtClean="0"/>
              <a:t>实施</a:t>
            </a:r>
            <a:r>
              <a:rPr lang="en-US" altLang="zh-CN" dirty="0" smtClean="0"/>
              <a:t>cache</a:t>
            </a:r>
            <a:r>
              <a:rPr lang="zh-CN" altLang="en-US" dirty="0" smtClean="0"/>
              <a:t>内容同一的一组动作</a:t>
            </a:r>
            <a:endParaRPr lang="en-US" altLang="zh-CN" dirty="0" smtClean="0"/>
          </a:p>
          <a:p>
            <a:pPr lvl="1"/>
            <a:r>
              <a:rPr lang="zh-CN" altLang="en-US" dirty="0" smtClean="0"/>
              <a:t>可由硬件、软件或二者协作完成</a:t>
            </a:r>
            <a:endParaRPr lang="en-US" altLang="zh-CN" dirty="0" smtClean="0"/>
          </a:p>
          <a:p>
            <a:r>
              <a:rPr lang="zh-CN" altLang="en-US" dirty="0" smtClean="0"/>
              <a:t>软件方案：常用于工作站或</a:t>
            </a:r>
            <a:r>
              <a:rPr lang="en-US" altLang="zh-CN" dirty="0" smtClean="0"/>
              <a:t>PC</a:t>
            </a:r>
            <a:r>
              <a:rPr lang="zh-CN" altLang="en-US" dirty="0" smtClean="0"/>
              <a:t>集群</a:t>
            </a:r>
            <a:endParaRPr lang="en-US" altLang="zh-CN" dirty="0" smtClean="0"/>
          </a:p>
          <a:p>
            <a:pPr lvl="1"/>
            <a:r>
              <a:rPr lang="zh-CN" altLang="en-US" dirty="0" smtClean="0"/>
              <a:t>扩展虚存系统，发生缺页时做更多工作</a:t>
            </a:r>
            <a:endParaRPr lang="en-US" altLang="zh-CN" dirty="0" smtClean="0"/>
          </a:p>
          <a:p>
            <a:pPr lvl="2"/>
            <a:r>
              <a:rPr lang="zh-CN" altLang="en-US" dirty="0" smtClean="0"/>
              <a:t>发送消息到远程处理器，取回远程页面</a:t>
            </a:r>
            <a:endParaRPr lang="en-US" altLang="zh-CN" dirty="0" smtClean="0"/>
          </a:p>
          <a:p>
            <a:pPr lvl="2"/>
            <a:r>
              <a:rPr lang="zh-CN" altLang="en-US" dirty="0" smtClean="0"/>
              <a:t>第一个</a:t>
            </a:r>
            <a:r>
              <a:rPr lang="en-US" altLang="zh-CN" dirty="0" smtClean="0"/>
              <a:t>SVM</a:t>
            </a:r>
            <a:r>
              <a:rPr lang="zh-CN" altLang="en-US" dirty="0" smtClean="0"/>
              <a:t>：李凯的</a:t>
            </a:r>
            <a:r>
              <a:rPr lang="en-US" altLang="zh-CN" dirty="0" smtClean="0"/>
              <a:t>IVY</a:t>
            </a:r>
            <a:r>
              <a:rPr lang="zh-CN" altLang="en-US" dirty="0" smtClean="0"/>
              <a:t>系统</a:t>
            </a:r>
            <a:endParaRPr lang="en-US" altLang="zh-CN" dirty="0" smtClean="0"/>
          </a:p>
        </p:txBody>
      </p:sp>
      <p:sp>
        <p:nvSpPr>
          <p:cNvPr id="2" name="内容占位符 1"/>
          <p:cNvSpPr>
            <a:spLocks noGrp="1"/>
          </p:cNvSpPr>
          <p:nvPr>
            <p:ph sz="half" idx="2"/>
          </p:nvPr>
        </p:nvSpPr>
        <p:spPr>
          <a:xfrm>
            <a:off x="6240016" y="1628800"/>
            <a:ext cx="5760640" cy="4968552"/>
          </a:xfrm>
        </p:spPr>
        <p:txBody>
          <a:bodyPr/>
          <a:lstStyle/>
          <a:p>
            <a:r>
              <a:rPr lang="zh-CN" altLang="en-US" dirty="0" smtClean="0"/>
              <a:t>两种常用的硬件方案</a:t>
            </a:r>
            <a:endParaRPr lang="en-US" altLang="zh-CN" dirty="0"/>
          </a:p>
          <a:p>
            <a:pPr lvl="1"/>
            <a:r>
              <a:rPr lang="zh-CN" altLang="en-US" dirty="0"/>
              <a:t>侦听</a:t>
            </a:r>
            <a:r>
              <a:rPr lang="en-US" altLang="zh-CN" dirty="0"/>
              <a:t>(snooping)</a:t>
            </a:r>
            <a:r>
              <a:rPr lang="zh-CN" altLang="en-US" dirty="0"/>
              <a:t>机制：</a:t>
            </a:r>
            <a:endParaRPr lang="en-US" altLang="zh-CN" dirty="0"/>
          </a:p>
          <a:p>
            <a:pPr lvl="2"/>
            <a:r>
              <a:rPr lang="zh-CN" altLang="en-US" dirty="0"/>
              <a:t>常用于总线型多处理机，在</a:t>
            </a:r>
            <a:r>
              <a:rPr lang="en-US" altLang="zh-CN" dirty="0"/>
              <a:t>cache</a:t>
            </a:r>
            <a:r>
              <a:rPr lang="zh-CN" altLang="en-US" dirty="0"/>
              <a:t>块中记录状态</a:t>
            </a:r>
            <a:endParaRPr lang="en-US" altLang="zh-CN" dirty="0"/>
          </a:p>
          <a:p>
            <a:pPr lvl="2"/>
            <a:r>
              <a:rPr lang="zh-CN" altLang="en-US" dirty="0"/>
              <a:t>每个处理器追踪每个</a:t>
            </a:r>
            <a:r>
              <a:rPr lang="en-US" altLang="zh-CN" dirty="0"/>
              <a:t>cache</a:t>
            </a:r>
            <a:r>
              <a:rPr lang="zh-CN" altLang="en-US" dirty="0"/>
              <a:t>块的共享状态</a:t>
            </a:r>
            <a:endParaRPr lang="en-US" altLang="zh-CN" dirty="0"/>
          </a:p>
          <a:p>
            <a:pPr lvl="2"/>
            <a:r>
              <a:rPr lang="zh-CN" altLang="en-US" dirty="0"/>
              <a:t>基于广播效应监测同一需求和流过的信息</a:t>
            </a:r>
            <a:endParaRPr lang="en-US" altLang="zh-CN" dirty="0"/>
          </a:p>
          <a:p>
            <a:pPr lvl="2"/>
            <a:endParaRPr lang="en-US" altLang="zh-CN" dirty="0"/>
          </a:p>
          <a:p>
            <a:pPr lvl="1"/>
            <a:r>
              <a:rPr lang="zh-CN" altLang="en-US" dirty="0"/>
              <a:t>目录</a:t>
            </a:r>
            <a:r>
              <a:rPr lang="en-US" altLang="zh-CN" dirty="0"/>
              <a:t>(directory)</a:t>
            </a:r>
            <a:r>
              <a:rPr lang="zh-CN" altLang="en-US" dirty="0"/>
              <a:t>机制：</a:t>
            </a:r>
            <a:endParaRPr lang="en-US" altLang="zh-CN" dirty="0"/>
          </a:p>
          <a:p>
            <a:pPr lvl="2"/>
            <a:r>
              <a:rPr lang="zh-CN" altLang="en-US" dirty="0"/>
              <a:t>用于更大规模的多处理机</a:t>
            </a:r>
            <a:endParaRPr lang="en-US" altLang="zh-CN" dirty="0"/>
          </a:p>
          <a:p>
            <a:pPr lvl="2"/>
            <a:r>
              <a:rPr lang="zh-CN" altLang="en-US" dirty="0"/>
              <a:t>在内存块中记录信息，避免使用广播</a:t>
            </a:r>
            <a:endParaRPr lang="en-US" altLang="zh-CN" dirty="0"/>
          </a:p>
          <a:p>
            <a:pPr lvl="2"/>
            <a:r>
              <a:rPr lang="zh-CN" altLang="en-US" dirty="0"/>
              <a:t>每个</a:t>
            </a:r>
            <a:r>
              <a:rPr lang="en-US" altLang="zh-CN" dirty="0"/>
              <a:t>cache</a:t>
            </a:r>
            <a:r>
              <a:rPr lang="zh-CN" altLang="en-US" dirty="0"/>
              <a:t>块的共享状态统一记录在某个位置</a:t>
            </a:r>
            <a:endParaRPr lang="en-US" altLang="zh-CN" dirty="0"/>
          </a:p>
          <a:p>
            <a:pPr lvl="2"/>
            <a:endParaRPr lang="zh-CN" altLang="en-US" dirty="0"/>
          </a:p>
          <a:p>
            <a:endParaRPr lang="zh-CN" altLang="en-US" dirty="0"/>
          </a:p>
        </p:txBody>
      </p:sp>
    </p:spTree>
    <p:extLst>
      <p:ext uri="{BB962C8B-B14F-4D97-AF65-F5344CB8AC3E}">
        <p14:creationId xmlns:p14="http://schemas.microsoft.com/office/powerpoint/2010/main" val="28392099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直观的存储器模型</a:t>
            </a:r>
            <a:endParaRPr kumimoji="1" lang="zh-CN" altLang="en-US" dirty="0"/>
          </a:p>
        </p:txBody>
      </p:sp>
      <p:sp>
        <p:nvSpPr>
          <p:cNvPr id="3" name="内容占位符 2"/>
          <p:cNvSpPr>
            <a:spLocks noGrp="1"/>
          </p:cNvSpPr>
          <p:nvPr>
            <p:ph idx="1"/>
          </p:nvPr>
        </p:nvSpPr>
        <p:spPr>
          <a:xfrm>
            <a:off x="623391" y="1844824"/>
            <a:ext cx="7744499" cy="4213076"/>
          </a:xfrm>
        </p:spPr>
        <p:txBody>
          <a:bodyPr/>
          <a:lstStyle/>
          <a:p>
            <a:pPr>
              <a:lnSpc>
                <a:spcPct val="100000"/>
              </a:lnSpc>
            </a:pPr>
            <a:r>
              <a:rPr kumimoji="1" lang="zh-CN" altLang="en-US" dirty="0"/>
              <a:t>读某地址，应该</a:t>
            </a:r>
            <a:r>
              <a:rPr kumimoji="1" lang="zh-CN" altLang="en-US" dirty="0" smtClean="0">
                <a:solidFill>
                  <a:srgbClr val="FF0000"/>
                </a:solidFill>
              </a:rPr>
              <a:t>返回</a:t>
            </a:r>
            <a:r>
              <a:rPr kumimoji="1" lang="zh-CN" altLang="en-US" dirty="0" smtClean="0">
                <a:solidFill>
                  <a:srgbClr val="00B050"/>
                </a:solidFill>
              </a:rPr>
              <a:t>最近一次</a:t>
            </a:r>
            <a:r>
              <a:rPr kumimoji="1" lang="zh-CN" altLang="en-US" dirty="0"/>
              <a:t>写入该地址的</a:t>
            </a:r>
            <a:r>
              <a:rPr kumimoji="1" lang="zh-CN" altLang="en-US" dirty="0">
                <a:solidFill>
                  <a:srgbClr val="FF0000"/>
                </a:solidFill>
              </a:rPr>
              <a:t>值</a:t>
            </a:r>
            <a:endParaRPr kumimoji="1" lang="en-US" altLang="zh-CN" dirty="0">
              <a:solidFill>
                <a:srgbClr val="FF0000"/>
              </a:solidFill>
            </a:endParaRPr>
          </a:p>
          <a:p>
            <a:pPr>
              <a:lnSpc>
                <a:spcPct val="100000"/>
              </a:lnSpc>
            </a:pPr>
            <a:r>
              <a:rPr lang="zh-CN" altLang="en-US" dirty="0"/>
              <a:t>单处理机容易做到</a:t>
            </a:r>
            <a:endParaRPr lang="en-US" altLang="zh-CN" dirty="0"/>
          </a:p>
          <a:p>
            <a:pPr lvl="1">
              <a:lnSpc>
                <a:spcPct val="100000"/>
              </a:lnSpc>
            </a:pPr>
            <a:r>
              <a:rPr lang="zh-CN" altLang="en-US" dirty="0" smtClean="0"/>
              <a:t>因为</a:t>
            </a:r>
            <a:r>
              <a:rPr lang="en-US" altLang="zh-CN" dirty="0" smtClean="0"/>
              <a:t>CPU</a:t>
            </a:r>
            <a:r>
              <a:rPr lang="zh-CN" altLang="en-US" dirty="0" smtClean="0"/>
              <a:t>私有</a:t>
            </a:r>
            <a:r>
              <a:rPr lang="en-US" altLang="zh-CN" dirty="0" smtClean="0"/>
              <a:t>cache</a:t>
            </a:r>
            <a:r>
              <a:rPr lang="zh-CN" altLang="en-US" dirty="0" smtClean="0"/>
              <a:t>，</a:t>
            </a:r>
            <a:r>
              <a:rPr lang="en-US" altLang="zh-CN" dirty="0" smtClean="0"/>
              <a:t>I/O</a:t>
            </a:r>
            <a:r>
              <a:rPr lang="zh-CN" altLang="en-US" dirty="0" smtClean="0"/>
              <a:t>导致内存与</a:t>
            </a:r>
            <a:r>
              <a:rPr lang="en-US" altLang="zh-CN" dirty="0" smtClean="0"/>
              <a:t>cache</a:t>
            </a:r>
            <a:r>
              <a:rPr lang="zh-CN" altLang="en-US" dirty="0" smtClean="0"/>
              <a:t>不同</a:t>
            </a:r>
            <a:r>
              <a:rPr lang="zh-CN" altLang="en-US" dirty="0"/>
              <a:t>一</a:t>
            </a:r>
            <a:endParaRPr lang="en-US" altLang="zh-CN" dirty="0"/>
          </a:p>
          <a:p>
            <a:pPr lvl="1">
              <a:lnSpc>
                <a:spcPct val="100000"/>
              </a:lnSpc>
            </a:pPr>
            <a:r>
              <a:rPr lang="zh-CN" altLang="en-US" dirty="0"/>
              <a:t>出现不频繁，软件解决</a:t>
            </a:r>
            <a:endParaRPr lang="en-US" altLang="zh-CN" dirty="0"/>
          </a:p>
          <a:p>
            <a:pPr lvl="2">
              <a:lnSpc>
                <a:spcPct val="100000"/>
              </a:lnSpc>
            </a:pPr>
            <a:r>
              <a:rPr lang="zh-CN" altLang="en-US" dirty="0"/>
              <a:t>不入</a:t>
            </a:r>
            <a:r>
              <a:rPr lang="en-US" altLang="zh-CN" dirty="0"/>
              <a:t>cache</a:t>
            </a:r>
            <a:r>
              <a:rPr lang="zh-CN" altLang="en-US" dirty="0"/>
              <a:t>；清除</a:t>
            </a:r>
            <a:r>
              <a:rPr lang="en-US" altLang="zh-CN" dirty="0"/>
              <a:t>cache</a:t>
            </a:r>
            <a:r>
              <a:rPr lang="zh-CN" altLang="en-US" dirty="0"/>
              <a:t>；</a:t>
            </a:r>
            <a:r>
              <a:rPr lang="en-US" altLang="zh-CN" dirty="0"/>
              <a:t>… </a:t>
            </a:r>
          </a:p>
          <a:p>
            <a:pPr>
              <a:lnSpc>
                <a:spcPct val="100000"/>
              </a:lnSpc>
            </a:pPr>
            <a:r>
              <a:rPr lang="zh-CN" altLang="en-US" dirty="0"/>
              <a:t>希望多处理机也一样</a:t>
            </a:r>
            <a:endParaRPr lang="en-US" altLang="zh-CN" dirty="0"/>
          </a:p>
          <a:p>
            <a:pPr lvl="1">
              <a:lnSpc>
                <a:spcPct val="100000"/>
              </a:lnSpc>
            </a:pPr>
            <a:r>
              <a:rPr kumimoji="1" lang="zh-CN" altLang="en-US" dirty="0" smtClean="0"/>
              <a:t>运行结果相当于：多</a:t>
            </a:r>
            <a:r>
              <a:rPr kumimoji="1" lang="zh-CN" altLang="en-US" dirty="0"/>
              <a:t>进程交错执行在单机上</a:t>
            </a:r>
            <a:endParaRPr kumimoji="1" lang="en-US" altLang="zh-CN" dirty="0"/>
          </a:p>
          <a:p>
            <a:pPr>
              <a:lnSpc>
                <a:spcPct val="100000"/>
              </a:lnSpc>
            </a:pPr>
            <a:r>
              <a:rPr kumimoji="1" lang="zh-CN" altLang="en-US" dirty="0"/>
              <a:t>实际上更复杂、更深入</a:t>
            </a:r>
            <a:endParaRPr kumimoji="1" lang="en-US" altLang="zh-CN" dirty="0"/>
          </a:p>
          <a:p>
            <a:pPr lvl="1">
              <a:lnSpc>
                <a:spcPct val="100000"/>
              </a:lnSpc>
            </a:pPr>
            <a:r>
              <a:rPr kumimoji="1" lang="zh-CN" altLang="en-US" dirty="0"/>
              <a:t>对硬件设计和系统性能有很大的影响</a:t>
            </a:r>
          </a:p>
        </p:txBody>
      </p:sp>
      <p:grpSp>
        <p:nvGrpSpPr>
          <p:cNvPr id="6" name="Group 25"/>
          <p:cNvGrpSpPr>
            <a:grpSpLocks/>
          </p:cNvGrpSpPr>
          <p:nvPr/>
        </p:nvGrpSpPr>
        <p:grpSpPr bwMode="auto">
          <a:xfrm>
            <a:off x="7608167" y="2216894"/>
            <a:ext cx="3816425" cy="3477311"/>
            <a:chOff x="995" y="676"/>
            <a:chExt cx="1929" cy="1816"/>
          </a:xfrm>
        </p:grpSpPr>
        <p:sp>
          <p:nvSpPr>
            <p:cNvPr id="7" name="Line 2"/>
            <p:cNvSpPr>
              <a:spLocks noChangeShapeType="1"/>
            </p:cNvSpPr>
            <p:nvPr/>
          </p:nvSpPr>
          <p:spPr bwMode="auto">
            <a:xfrm flipH="1">
              <a:off x="1981" y="976"/>
              <a:ext cx="195" cy="1000"/>
            </a:xfrm>
            <a:prstGeom prst="line">
              <a:avLst/>
            </a:prstGeom>
            <a:noFill/>
            <a:ln w="50800">
              <a:pattFill prst="pct50">
                <a:fgClr>
                  <a:schemeClr val="tx1"/>
                </a:fgClr>
                <a:bgClr>
                  <a:schemeClr val="bg1"/>
                </a:bgClr>
              </a:pattFill>
              <a:round/>
              <a:headEnd/>
              <a:tailEnd/>
            </a:ln>
            <a:effectLst/>
          </p:spPr>
          <p:txBody>
            <a:bodyPr wrap="none" anchor="ctr"/>
            <a:lstStyle/>
            <a:p>
              <a:endParaRPr lang="zh-CN" altLang="en-US">
                <a:latin typeface="+mn-lt"/>
              </a:endParaRPr>
            </a:p>
          </p:txBody>
        </p:sp>
        <p:sp>
          <p:nvSpPr>
            <p:cNvPr id="8" name="Rectangle 4"/>
            <p:cNvSpPr>
              <a:spLocks noChangeArrowheads="1"/>
            </p:cNvSpPr>
            <p:nvPr/>
          </p:nvSpPr>
          <p:spPr bwMode="auto">
            <a:xfrm>
              <a:off x="2099" y="731"/>
              <a:ext cx="152"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P</a:t>
              </a:r>
            </a:p>
          </p:txBody>
        </p:sp>
        <p:sp>
          <p:nvSpPr>
            <p:cNvPr id="9" name="Oval 5"/>
            <p:cNvSpPr>
              <a:spLocks noChangeArrowheads="1"/>
            </p:cNvSpPr>
            <p:nvPr/>
          </p:nvSpPr>
          <p:spPr bwMode="auto">
            <a:xfrm>
              <a:off x="2068" y="676"/>
              <a:ext cx="232" cy="280"/>
            </a:xfrm>
            <a:prstGeom prst="ellipse">
              <a:avLst/>
            </a:prstGeom>
            <a:noFill/>
            <a:ln w="12700">
              <a:solidFill>
                <a:schemeClr val="tx1"/>
              </a:solidFill>
              <a:round/>
              <a:headEnd/>
              <a:tailEnd/>
            </a:ln>
            <a:effectLst/>
          </p:spPr>
          <p:txBody>
            <a:bodyPr wrap="none" anchor="ctr"/>
            <a:lstStyle/>
            <a:p>
              <a:endParaRPr lang="zh-CN" altLang="en-US">
                <a:latin typeface="+mn-lt"/>
              </a:endParaRPr>
            </a:p>
          </p:txBody>
        </p:sp>
        <p:sp>
          <p:nvSpPr>
            <p:cNvPr id="10" name="Line 6"/>
            <p:cNvSpPr>
              <a:spLocks noChangeShapeType="1"/>
            </p:cNvSpPr>
            <p:nvPr/>
          </p:nvSpPr>
          <p:spPr bwMode="auto">
            <a:xfrm flipH="1">
              <a:off x="1244" y="964"/>
              <a:ext cx="920" cy="148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1" name="Line 7"/>
            <p:cNvSpPr>
              <a:spLocks noChangeShapeType="1"/>
            </p:cNvSpPr>
            <p:nvPr/>
          </p:nvSpPr>
          <p:spPr bwMode="auto">
            <a:xfrm>
              <a:off x="2164" y="964"/>
              <a:ext cx="760" cy="1528"/>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2" name="Line 8"/>
            <p:cNvSpPr>
              <a:spLocks noChangeShapeType="1"/>
            </p:cNvSpPr>
            <p:nvPr/>
          </p:nvSpPr>
          <p:spPr bwMode="auto">
            <a:xfrm>
              <a:off x="1924" y="1344"/>
              <a:ext cx="424"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3" name="Line 9"/>
            <p:cNvSpPr>
              <a:spLocks noChangeShapeType="1"/>
            </p:cNvSpPr>
            <p:nvPr/>
          </p:nvSpPr>
          <p:spPr bwMode="auto">
            <a:xfrm>
              <a:off x="1684" y="1728"/>
              <a:ext cx="856"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4" name="Line 10"/>
            <p:cNvSpPr>
              <a:spLocks noChangeShapeType="1"/>
            </p:cNvSpPr>
            <p:nvPr/>
          </p:nvSpPr>
          <p:spPr bwMode="auto">
            <a:xfrm>
              <a:off x="1444" y="2112"/>
              <a:ext cx="1288"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5" name="Line 11"/>
            <p:cNvSpPr>
              <a:spLocks noChangeShapeType="1"/>
            </p:cNvSpPr>
            <p:nvPr/>
          </p:nvSpPr>
          <p:spPr bwMode="auto">
            <a:xfrm>
              <a:off x="1252" y="2448"/>
              <a:ext cx="1672"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6" name="Rectangle 12"/>
            <p:cNvSpPr>
              <a:spLocks noChangeArrowheads="1"/>
            </p:cNvSpPr>
            <p:nvPr/>
          </p:nvSpPr>
          <p:spPr bwMode="auto">
            <a:xfrm>
              <a:off x="1043" y="2218"/>
              <a:ext cx="289"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Disk</a:t>
              </a:r>
            </a:p>
          </p:txBody>
        </p:sp>
        <p:sp>
          <p:nvSpPr>
            <p:cNvPr id="17" name="Rectangle 13"/>
            <p:cNvSpPr>
              <a:spLocks noChangeArrowheads="1"/>
            </p:cNvSpPr>
            <p:nvPr/>
          </p:nvSpPr>
          <p:spPr bwMode="auto">
            <a:xfrm>
              <a:off x="995" y="1883"/>
              <a:ext cx="499"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Memory</a:t>
              </a:r>
            </a:p>
          </p:txBody>
        </p:sp>
        <p:sp>
          <p:nvSpPr>
            <p:cNvPr id="18" name="Rectangle 14"/>
            <p:cNvSpPr>
              <a:spLocks noChangeArrowheads="1"/>
            </p:cNvSpPr>
            <p:nvPr/>
          </p:nvSpPr>
          <p:spPr bwMode="auto">
            <a:xfrm>
              <a:off x="1523" y="1404"/>
              <a:ext cx="201"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L2</a:t>
              </a:r>
            </a:p>
          </p:txBody>
        </p:sp>
        <p:sp>
          <p:nvSpPr>
            <p:cNvPr id="19" name="Rectangle 15"/>
            <p:cNvSpPr>
              <a:spLocks noChangeArrowheads="1"/>
            </p:cNvSpPr>
            <p:nvPr/>
          </p:nvSpPr>
          <p:spPr bwMode="auto">
            <a:xfrm>
              <a:off x="1811" y="1019"/>
              <a:ext cx="201"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L1</a:t>
              </a:r>
            </a:p>
          </p:txBody>
        </p:sp>
        <p:sp>
          <p:nvSpPr>
            <p:cNvPr id="20" name="Rectangle 16"/>
            <p:cNvSpPr>
              <a:spLocks noChangeArrowheads="1"/>
            </p:cNvSpPr>
            <p:nvPr/>
          </p:nvSpPr>
          <p:spPr bwMode="auto">
            <a:xfrm>
              <a:off x="1816" y="1949"/>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100:34</a:t>
              </a:r>
            </a:p>
          </p:txBody>
        </p:sp>
        <p:sp>
          <p:nvSpPr>
            <p:cNvPr id="21" name="Oval 18"/>
            <p:cNvSpPr>
              <a:spLocks noChangeArrowheads="1"/>
            </p:cNvSpPr>
            <p:nvPr/>
          </p:nvSpPr>
          <p:spPr bwMode="auto">
            <a:xfrm>
              <a:off x="2456" y="680"/>
              <a:ext cx="224" cy="272"/>
            </a:xfrm>
            <a:prstGeom prst="ellips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2" name="Line 19"/>
            <p:cNvSpPr>
              <a:spLocks noChangeShapeType="1"/>
            </p:cNvSpPr>
            <p:nvPr/>
          </p:nvSpPr>
          <p:spPr bwMode="auto">
            <a:xfrm flipH="1">
              <a:off x="1240" y="968"/>
              <a:ext cx="1264" cy="1472"/>
            </a:xfrm>
            <a:prstGeom prst="lin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3" name="Line 20"/>
            <p:cNvSpPr>
              <a:spLocks noChangeShapeType="1"/>
            </p:cNvSpPr>
            <p:nvPr/>
          </p:nvSpPr>
          <p:spPr bwMode="auto">
            <a:xfrm>
              <a:off x="2648" y="968"/>
              <a:ext cx="272" cy="1472"/>
            </a:xfrm>
            <a:prstGeom prst="lin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4" name="Rectangle 21"/>
            <p:cNvSpPr>
              <a:spLocks noChangeArrowheads="1"/>
            </p:cNvSpPr>
            <p:nvPr/>
          </p:nvSpPr>
          <p:spPr bwMode="auto">
            <a:xfrm>
              <a:off x="1907" y="1576"/>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100:35</a:t>
              </a:r>
            </a:p>
          </p:txBody>
        </p:sp>
        <p:sp>
          <p:nvSpPr>
            <p:cNvPr id="25" name="Rectangle 22"/>
            <p:cNvSpPr>
              <a:spLocks noChangeArrowheads="1"/>
            </p:cNvSpPr>
            <p:nvPr/>
          </p:nvSpPr>
          <p:spPr bwMode="auto">
            <a:xfrm>
              <a:off x="1955" y="1199"/>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100:67</a:t>
              </a:r>
            </a:p>
          </p:txBody>
        </p:sp>
      </p:grpSp>
    </p:spTree>
    <p:extLst>
      <p:ext uri="{BB962C8B-B14F-4D97-AF65-F5344CB8AC3E}">
        <p14:creationId xmlns:p14="http://schemas.microsoft.com/office/powerpoint/2010/main" val="35711872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基于侦听的</a:t>
            </a:r>
            <a:r>
              <a:rPr lang="en-US" altLang="zh-CN" dirty="0" smtClean="0"/>
              <a:t>cache</a:t>
            </a:r>
            <a:r>
              <a:rPr lang="zh-CN" altLang="en-US" dirty="0" smtClean="0"/>
              <a:t>同一协议</a:t>
            </a:r>
            <a:endParaRPr kumimoji="1" lang="zh-CN" altLang="en-US" dirty="0"/>
          </a:p>
        </p:txBody>
      </p:sp>
      <p:sp>
        <p:nvSpPr>
          <p:cNvPr id="3" name="内容占位符 2"/>
          <p:cNvSpPr>
            <a:spLocks noGrp="1"/>
          </p:cNvSpPr>
          <p:nvPr>
            <p:ph idx="1"/>
          </p:nvPr>
        </p:nvSpPr>
        <p:spPr>
          <a:xfrm>
            <a:off x="695400" y="4480103"/>
            <a:ext cx="9464600" cy="1548780"/>
          </a:xfrm>
        </p:spPr>
        <p:txBody>
          <a:bodyPr/>
          <a:lstStyle/>
          <a:p>
            <a:r>
              <a:rPr kumimoji="1" lang="zh-CN" altLang="en-US" dirty="0" smtClean="0"/>
              <a:t>总线是广播媒介，</a:t>
            </a:r>
            <a:r>
              <a:rPr lang="en-US" altLang="zh-CN" dirty="0" smtClean="0"/>
              <a:t>cache</a:t>
            </a:r>
            <a:r>
              <a:rPr lang="zh-CN" altLang="en-US" dirty="0" smtClean="0"/>
              <a:t>知道自己有什么数据</a:t>
            </a:r>
            <a:endParaRPr lang="en-US" altLang="zh-CN" dirty="0" smtClean="0"/>
          </a:p>
          <a:p>
            <a:r>
              <a:rPr lang="en-US" altLang="zh-CN" dirty="0" smtClean="0"/>
              <a:t>C</a:t>
            </a:r>
            <a:r>
              <a:rPr kumimoji="1" lang="en-US" altLang="zh-CN" dirty="0" smtClean="0"/>
              <a:t>ache</a:t>
            </a:r>
            <a:r>
              <a:rPr kumimoji="1" lang="zh-CN" altLang="en-US" dirty="0" smtClean="0"/>
              <a:t>控制器持续</a:t>
            </a:r>
            <a:r>
              <a:rPr kumimoji="1" lang="zh-CN" altLang="en-US" dirty="0" smtClean="0">
                <a:solidFill>
                  <a:srgbClr val="FF0000"/>
                </a:solidFill>
              </a:rPr>
              <a:t>侦听</a:t>
            </a:r>
            <a:r>
              <a:rPr kumimoji="1" lang="zh-CN" altLang="en-US" dirty="0" smtClean="0"/>
              <a:t>共享总线上</a:t>
            </a:r>
            <a:r>
              <a:rPr lang="zh-CN" altLang="en-US" dirty="0" smtClean="0"/>
              <a:t>的</a:t>
            </a:r>
            <a:r>
              <a:rPr kumimoji="1" lang="zh-CN" altLang="en-US" dirty="0" smtClean="0"/>
              <a:t>事务 </a:t>
            </a:r>
            <a:r>
              <a:rPr kumimoji="1" lang="en-US" altLang="zh-CN" dirty="0" smtClean="0"/>
              <a:t>(transaction)</a:t>
            </a:r>
          </a:p>
          <a:p>
            <a:pPr lvl="1"/>
            <a:r>
              <a:rPr lang="zh-CN" altLang="en-US" dirty="0" smtClean="0"/>
              <a:t>若涉及自己持有的</a:t>
            </a:r>
            <a:r>
              <a:rPr lang="en-US" altLang="zh-CN" dirty="0" smtClean="0"/>
              <a:t>cache</a:t>
            </a:r>
            <a:r>
              <a:rPr lang="zh-CN" altLang="en-US" dirty="0" smtClean="0"/>
              <a:t>块，则为“</a:t>
            </a:r>
            <a:r>
              <a:rPr lang="zh-CN" altLang="en-US" dirty="0" smtClean="0">
                <a:solidFill>
                  <a:srgbClr val="FF0000"/>
                </a:solidFill>
              </a:rPr>
              <a:t>相关事务</a:t>
            </a:r>
            <a:r>
              <a:rPr lang="zh-CN" altLang="en-US" dirty="0" smtClean="0"/>
              <a:t>”</a:t>
            </a:r>
            <a:endParaRPr lang="en-US" altLang="zh-CN" dirty="0" smtClean="0"/>
          </a:p>
          <a:p>
            <a:pPr lvl="1"/>
            <a:r>
              <a:rPr kumimoji="1" lang="zh-CN" altLang="en-US" dirty="0" smtClean="0"/>
              <a:t>采取保障同一的行动：使无效、更新、供值</a:t>
            </a:r>
            <a:endParaRPr kumimoji="1" lang="en-US" altLang="zh-CN" dirty="0" smtClean="0"/>
          </a:p>
          <a:p>
            <a:pPr lvl="1"/>
            <a:r>
              <a:rPr lang="zh-CN" altLang="en-US" dirty="0" smtClean="0"/>
              <a:t>基于</a:t>
            </a:r>
            <a:r>
              <a:rPr lang="en-US" altLang="zh-CN" dirty="0" smtClean="0"/>
              <a:t>cache</a:t>
            </a:r>
            <a:r>
              <a:rPr lang="zh-CN" altLang="en-US" dirty="0" smtClean="0"/>
              <a:t>块的状态，及同一协议的规定</a:t>
            </a:r>
            <a:endParaRPr kumimoji="1" lang="zh-CN" altLang="en-US" dirty="0"/>
          </a:p>
        </p:txBody>
      </p:sp>
      <p:pic>
        <p:nvPicPr>
          <p:cNvPr id="4" name="图片 3"/>
          <p:cNvPicPr>
            <a:picLocks noChangeAspect="1"/>
          </p:cNvPicPr>
          <p:nvPr/>
        </p:nvPicPr>
        <p:blipFill>
          <a:blip r:embed="rId3"/>
          <a:stretch>
            <a:fillRect/>
          </a:stretch>
        </p:blipFill>
        <p:spPr>
          <a:xfrm>
            <a:off x="872067" y="1628800"/>
            <a:ext cx="10340629" cy="2563532"/>
          </a:xfrm>
          <a:prstGeom prst="rect">
            <a:avLst/>
          </a:prstGeom>
        </p:spPr>
      </p:pic>
    </p:spTree>
    <p:extLst>
      <p:ext uri="{BB962C8B-B14F-4D97-AF65-F5344CB8AC3E}">
        <p14:creationId xmlns:p14="http://schemas.microsoft.com/office/powerpoint/2010/main" val="79048828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实现侦听协议</a:t>
            </a:r>
            <a:endParaRPr kumimoji="1" lang="zh-CN" altLang="en-US" dirty="0"/>
          </a:p>
        </p:txBody>
      </p:sp>
      <p:sp>
        <p:nvSpPr>
          <p:cNvPr id="3" name="内容占位符 2"/>
          <p:cNvSpPr>
            <a:spLocks noGrp="1"/>
          </p:cNvSpPr>
          <p:nvPr>
            <p:ph idx="1"/>
          </p:nvPr>
        </p:nvSpPr>
        <p:spPr>
          <a:xfrm>
            <a:off x="838200" y="1556792"/>
            <a:ext cx="11018440" cy="5112568"/>
          </a:xfrm>
        </p:spPr>
        <p:txBody>
          <a:bodyPr/>
          <a:lstStyle/>
          <a:p>
            <a:pPr>
              <a:lnSpc>
                <a:spcPct val="100000"/>
              </a:lnSpc>
            </a:pPr>
            <a:r>
              <a:rPr kumimoji="1" lang="en-US" altLang="zh-CN" dirty="0" smtClean="0"/>
              <a:t>Cache</a:t>
            </a:r>
            <a:r>
              <a:rPr kumimoji="1" lang="zh-CN" altLang="en-US" dirty="0" smtClean="0"/>
              <a:t>控制器原来只接收处理器的请求，改为接收来自两方的输入</a:t>
            </a:r>
            <a:endParaRPr kumimoji="1" lang="en-US" altLang="zh-CN" dirty="0" smtClean="0"/>
          </a:p>
          <a:p>
            <a:pPr lvl="1">
              <a:lnSpc>
                <a:spcPct val="100000"/>
              </a:lnSpc>
            </a:pPr>
            <a:r>
              <a:rPr lang="zh-CN" altLang="en-US" dirty="0" smtClean="0"/>
              <a:t>从处理器来的请求</a:t>
            </a:r>
            <a:endParaRPr lang="en-US" altLang="zh-CN" dirty="0" smtClean="0"/>
          </a:p>
          <a:p>
            <a:pPr lvl="1">
              <a:lnSpc>
                <a:spcPct val="100000"/>
              </a:lnSpc>
            </a:pPr>
            <a:r>
              <a:rPr lang="zh-CN" altLang="en-US" dirty="0" smtClean="0"/>
              <a:t>来自侦听方的总线请求</a:t>
            </a:r>
            <a:r>
              <a:rPr lang="en-US" altLang="zh-CN" dirty="0" smtClean="0"/>
              <a:t>(request)/</a:t>
            </a:r>
            <a:r>
              <a:rPr lang="zh-CN" altLang="en-US" dirty="0" smtClean="0"/>
              <a:t>响应</a:t>
            </a:r>
            <a:r>
              <a:rPr lang="en-US" altLang="zh-CN" dirty="0" smtClean="0"/>
              <a:t>(response)</a:t>
            </a:r>
          </a:p>
          <a:p>
            <a:pPr>
              <a:lnSpc>
                <a:spcPct val="100000"/>
              </a:lnSpc>
            </a:pPr>
            <a:r>
              <a:rPr kumimoji="1" lang="zh-CN" altLang="en-US" dirty="0" smtClean="0"/>
              <a:t>根据具体输入情况，采取或不采取行动</a:t>
            </a:r>
            <a:endParaRPr kumimoji="1" lang="en-US" altLang="zh-CN" dirty="0" smtClean="0"/>
          </a:p>
          <a:p>
            <a:pPr lvl="1">
              <a:lnSpc>
                <a:spcPct val="100000"/>
              </a:lnSpc>
            </a:pPr>
            <a:r>
              <a:rPr kumimoji="1" lang="zh-CN" altLang="en-US" dirty="0" smtClean="0"/>
              <a:t>更新状态、提供数据、产生新的总线事务</a:t>
            </a:r>
            <a:endParaRPr kumimoji="1" lang="en-US" altLang="zh-CN" dirty="0" smtClean="0"/>
          </a:p>
          <a:p>
            <a:pPr>
              <a:lnSpc>
                <a:spcPct val="100000"/>
              </a:lnSpc>
            </a:pPr>
            <a:r>
              <a:rPr lang="zh-CN" altLang="en-US" dirty="0" smtClean="0"/>
              <a:t>同一协议是一种</a:t>
            </a:r>
            <a:r>
              <a:rPr lang="zh-CN" altLang="en-US" dirty="0" smtClean="0">
                <a:solidFill>
                  <a:srgbClr val="FF0000"/>
                </a:solidFill>
              </a:rPr>
              <a:t>分布式算法</a:t>
            </a:r>
            <a:endParaRPr lang="en-US" altLang="zh-CN" dirty="0" smtClean="0"/>
          </a:p>
          <a:p>
            <a:pPr lvl="1">
              <a:lnSpc>
                <a:spcPct val="100000"/>
              </a:lnSpc>
            </a:pPr>
            <a:r>
              <a:rPr lang="zh-CN" altLang="en-US" dirty="0" smtClean="0"/>
              <a:t>互相协作的状态机</a:t>
            </a:r>
            <a:endParaRPr lang="en-US" altLang="zh-CN" dirty="0" smtClean="0"/>
          </a:p>
          <a:p>
            <a:pPr lvl="1">
              <a:lnSpc>
                <a:spcPct val="100000"/>
              </a:lnSpc>
            </a:pPr>
            <a:r>
              <a:rPr kumimoji="1" lang="zh-CN" altLang="en-US" dirty="0" smtClean="0"/>
              <a:t>一组状态、状态转换图、动作</a:t>
            </a:r>
            <a:endParaRPr kumimoji="1" lang="en-US" altLang="zh-CN" dirty="0" smtClean="0"/>
          </a:p>
          <a:p>
            <a:pPr>
              <a:lnSpc>
                <a:spcPct val="100000"/>
              </a:lnSpc>
            </a:pPr>
            <a:r>
              <a:rPr kumimoji="1" lang="zh-CN" altLang="en-US" dirty="0" smtClean="0"/>
              <a:t>保障同一的粒度通常是</a:t>
            </a:r>
            <a:r>
              <a:rPr kumimoji="1" lang="en-US" altLang="zh-CN" dirty="0" smtClean="0"/>
              <a:t>cache</a:t>
            </a:r>
            <a:r>
              <a:rPr kumimoji="1" lang="zh-CN" altLang="en-US" dirty="0" smtClean="0"/>
              <a:t>块</a:t>
            </a:r>
            <a:endParaRPr kumimoji="1" lang="en-US" altLang="zh-CN" dirty="0" smtClean="0"/>
          </a:p>
        </p:txBody>
      </p:sp>
      <p:pic>
        <p:nvPicPr>
          <p:cNvPr id="4" name="图片 3"/>
          <p:cNvPicPr>
            <a:picLocks noChangeAspect="1"/>
          </p:cNvPicPr>
          <p:nvPr/>
        </p:nvPicPr>
        <p:blipFill>
          <a:blip r:embed="rId3"/>
          <a:stretch>
            <a:fillRect/>
          </a:stretch>
        </p:blipFill>
        <p:spPr>
          <a:xfrm>
            <a:off x="7464152" y="3068960"/>
            <a:ext cx="4215278" cy="3715020"/>
          </a:xfrm>
          <a:prstGeom prst="rect">
            <a:avLst/>
          </a:prstGeom>
        </p:spPr>
      </p:pic>
    </p:spTree>
    <p:extLst>
      <p:ext uri="{BB962C8B-B14F-4D97-AF65-F5344CB8AC3E}">
        <p14:creationId xmlns:p14="http://schemas.microsoft.com/office/powerpoint/2010/main" val="417601945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例：直写、使无效</a:t>
            </a:r>
            <a:r>
              <a:rPr lang="en-US" altLang="zh-CN" dirty="0" smtClean="0"/>
              <a:t/>
            </a:r>
            <a:br>
              <a:rPr lang="en-US" altLang="zh-CN" dirty="0" smtClean="0"/>
            </a:br>
            <a:r>
              <a:rPr lang="en-US" altLang="zh-CN" dirty="0" smtClean="0"/>
              <a:t>write through, write-invalidate</a:t>
            </a:r>
            <a:endParaRPr kumimoji="1" lang="zh-CN" altLang="en-US" dirty="0"/>
          </a:p>
        </p:txBody>
      </p:sp>
      <p:sp>
        <p:nvSpPr>
          <p:cNvPr id="98" name="内容占位符 97"/>
          <p:cNvSpPr>
            <a:spLocks noGrp="1"/>
          </p:cNvSpPr>
          <p:nvPr>
            <p:ph idx="1"/>
          </p:nvPr>
        </p:nvSpPr>
        <p:spPr>
          <a:xfrm>
            <a:off x="623391" y="1582738"/>
            <a:ext cx="10533605" cy="4654574"/>
          </a:xfrm>
        </p:spPr>
        <p:txBody>
          <a:bodyPr/>
          <a:lstStyle/>
          <a:p>
            <a:r>
              <a:rPr lang="zh-CN" altLang="en-US" sz="2400" dirty="0" smtClean="0"/>
              <a:t>第</a:t>
            </a:r>
            <a:r>
              <a:rPr lang="en-US" altLang="zh-CN" sz="2400" dirty="0" smtClean="0"/>
              <a:t>3</a:t>
            </a:r>
            <a:r>
              <a:rPr lang="zh-CN" altLang="en-US" sz="2400" dirty="0" smtClean="0"/>
              <a:t>步，</a:t>
            </a:r>
            <a:r>
              <a:rPr lang="en-US" altLang="zh-CN" sz="2400" dirty="0" smtClean="0"/>
              <a:t>P3</a:t>
            </a:r>
            <a:r>
              <a:rPr lang="zh-CN" altLang="en-US" sz="2400" dirty="0"/>
              <a:t>写前，先</a:t>
            </a:r>
            <a:r>
              <a:rPr lang="zh-CN" altLang="en-US" sz="2400" dirty="0" smtClean="0"/>
              <a:t>置其它</a:t>
            </a:r>
            <a:r>
              <a:rPr lang="en-US" altLang="zh-CN" sz="2400" dirty="0" smtClean="0"/>
              <a:t>cache</a:t>
            </a:r>
            <a:r>
              <a:rPr lang="zh-CN" altLang="en-US" sz="2400" dirty="0" smtClean="0"/>
              <a:t>中</a:t>
            </a:r>
            <a:r>
              <a:rPr lang="en-US" altLang="zh-CN" sz="2400" dirty="0" smtClean="0"/>
              <a:t/>
            </a:r>
            <a:br>
              <a:rPr lang="en-US" altLang="zh-CN" sz="2400" dirty="0" smtClean="0"/>
            </a:br>
            <a:r>
              <a:rPr lang="zh-CN" altLang="en-US" sz="2400" dirty="0" smtClean="0"/>
              <a:t>副本的</a:t>
            </a:r>
            <a:r>
              <a:rPr lang="zh-CN" altLang="en-US" sz="2400" dirty="0"/>
              <a:t>状态为无效</a:t>
            </a:r>
            <a:endParaRPr lang="en-US" altLang="zh-CN" sz="2400" dirty="0"/>
          </a:p>
          <a:p>
            <a:r>
              <a:rPr lang="en-US" altLang="zh-CN" sz="2400" dirty="0"/>
              <a:t>P3</a:t>
            </a:r>
            <a:r>
              <a:rPr lang="zh-CN" altLang="en-US" sz="2400" dirty="0"/>
              <a:t>写入本地</a:t>
            </a:r>
            <a:r>
              <a:rPr lang="en-US" altLang="zh-CN" sz="2400" dirty="0"/>
              <a:t>cache</a:t>
            </a:r>
            <a:r>
              <a:rPr lang="zh-CN" altLang="en-US" sz="2400" dirty="0" smtClean="0"/>
              <a:t>的同时</a:t>
            </a:r>
            <a:r>
              <a:rPr lang="zh-CN" altLang="en-US" sz="2400" dirty="0"/>
              <a:t>，写入主存</a:t>
            </a:r>
            <a:endParaRPr lang="en-US" altLang="zh-CN" sz="2400" dirty="0"/>
          </a:p>
          <a:p>
            <a:r>
              <a:rPr lang="zh-CN" altLang="en-US" sz="2400" dirty="0" smtClean="0"/>
              <a:t>第</a:t>
            </a:r>
            <a:r>
              <a:rPr lang="en-US" altLang="zh-CN" sz="2400" dirty="0" smtClean="0"/>
              <a:t>4</a:t>
            </a:r>
            <a:r>
              <a:rPr lang="zh-CN" altLang="en-US" sz="2400" dirty="0" smtClean="0"/>
              <a:t>步和第</a:t>
            </a:r>
            <a:r>
              <a:rPr lang="en-US" altLang="zh-CN" sz="2400" dirty="0" smtClean="0"/>
              <a:t>5</a:t>
            </a:r>
            <a:r>
              <a:rPr lang="zh-CN" altLang="en-US" sz="2400" dirty="0" smtClean="0"/>
              <a:t>步，</a:t>
            </a:r>
            <a:r>
              <a:rPr lang="en-US" altLang="zh-CN" sz="2400" dirty="0" smtClean="0"/>
              <a:t>P1</a:t>
            </a:r>
            <a:r>
              <a:rPr lang="zh-CN" altLang="en-US" sz="2400" dirty="0" smtClean="0"/>
              <a:t>和</a:t>
            </a:r>
            <a:r>
              <a:rPr lang="en-US" altLang="zh-CN" sz="2400" dirty="0" smtClean="0"/>
              <a:t>P2</a:t>
            </a:r>
            <a:r>
              <a:rPr lang="zh-CN" altLang="en-US" sz="2400" dirty="0" smtClean="0"/>
              <a:t>的访问均</a:t>
            </a:r>
            <a:r>
              <a:rPr lang="en-US" altLang="zh-CN" sz="2400" dirty="0" smtClean="0"/>
              <a:t/>
            </a:r>
            <a:br>
              <a:rPr lang="en-US" altLang="zh-CN" sz="2400" dirty="0" smtClean="0"/>
            </a:br>
            <a:r>
              <a:rPr lang="zh-CN" altLang="en-US" sz="2400" dirty="0" smtClean="0"/>
              <a:t>不命中，需要从</a:t>
            </a:r>
            <a:r>
              <a:rPr lang="zh-CN" altLang="en-US" sz="2400" dirty="0"/>
              <a:t>主存取数</a:t>
            </a:r>
            <a:endParaRPr lang="en-US" altLang="zh-CN" sz="2400" dirty="0"/>
          </a:p>
          <a:p>
            <a:endParaRPr kumimoji="1" lang="en-US" altLang="zh-CN" sz="2400" dirty="0"/>
          </a:p>
          <a:p>
            <a:endParaRPr lang="en-US" altLang="zh-CN" sz="2400" dirty="0"/>
          </a:p>
          <a:p>
            <a:endParaRPr lang="en-US" altLang="zh-CN" sz="2400" dirty="0"/>
          </a:p>
          <a:p>
            <a:r>
              <a:rPr kumimoji="1" lang="zh-CN" altLang="en-US" dirty="0"/>
              <a:t>对单处理机的扩展</a:t>
            </a:r>
            <a:r>
              <a:rPr kumimoji="1" lang="zh-CN" altLang="en-US" dirty="0" smtClean="0"/>
              <a:t>：</a:t>
            </a:r>
            <a:r>
              <a:rPr kumimoji="1" lang="zh-CN" altLang="en-US" dirty="0"/>
              <a:t>增加</a:t>
            </a:r>
            <a:r>
              <a:rPr kumimoji="1" lang="en-US" altLang="zh-CN" dirty="0" smtClean="0"/>
              <a:t>cache</a:t>
            </a:r>
            <a:r>
              <a:rPr kumimoji="1" lang="zh-CN" altLang="en-US" dirty="0"/>
              <a:t>的</a:t>
            </a:r>
            <a:r>
              <a:rPr kumimoji="1" lang="zh-CN" altLang="en-US" dirty="0" smtClean="0"/>
              <a:t>侦听功能、</a:t>
            </a:r>
            <a:r>
              <a:rPr kumimoji="1" lang="zh-CN" altLang="en-US" dirty="0"/>
              <a:t>使无效或</a:t>
            </a:r>
            <a:r>
              <a:rPr kumimoji="1" lang="zh-CN" altLang="en-US" dirty="0" smtClean="0"/>
              <a:t>更新策略</a:t>
            </a:r>
            <a:endParaRPr kumimoji="1" lang="en-US" altLang="zh-CN" dirty="0"/>
          </a:p>
          <a:p>
            <a:pPr lvl="1"/>
            <a:r>
              <a:rPr kumimoji="1" lang="zh-CN" altLang="en-US" dirty="0" smtClean="0"/>
              <a:t>可能需要增加</a:t>
            </a:r>
            <a:r>
              <a:rPr kumimoji="1" lang="zh-CN" altLang="en-US" dirty="0"/>
              <a:t>新</a:t>
            </a:r>
            <a:r>
              <a:rPr kumimoji="1" lang="zh-CN" altLang="en-US" dirty="0" smtClean="0"/>
              <a:t>的</a:t>
            </a:r>
            <a:r>
              <a:rPr kumimoji="1" lang="en-US" altLang="zh-CN" dirty="0" smtClean="0"/>
              <a:t>cache</a:t>
            </a:r>
            <a:r>
              <a:rPr kumimoji="1" lang="zh-CN" altLang="en-US" dirty="0" smtClean="0"/>
              <a:t>状态</a:t>
            </a:r>
            <a:r>
              <a:rPr kumimoji="1" lang="zh-CN" altLang="en-US" dirty="0"/>
              <a:t>或总线事务；两种具体协议</a:t>
            </a:r>
            <a:endParaRPr kumimoji="1" lang="en-US" altLang="zh-CN" dirty="0"/>
          </a:p>
          <a:p>
            <a:r>
              <a:rPr lang="zh-CN" altLang="en-US" dirty="0"/>
              <a:t>写传播：更新时，后面的读可以得到新值</a:t>
            </a:r>
            <a:endParaRPr lang="en-US" altLang="zh-CN" dirty="0"/>
          </a:p>
          <a:p>
            <a:pPr lvl="1"/>
            <a:r>
              <a:rPr kumimoji="1" lang="zh-CN" altLang="en-US" dirty="0"/>
              <a:t>使无效时，后面的读会不命中，内存中有新值</a:t>
            </a:r>
            <a:r>
              <a:rPr lang="zh-CN" altLang="en-US" dirty="0"/>
              <a:t>（直写）</a:t>
            </a:r>
            <a:endParaRPr kumimoji="1" lang="zh-CN" altLang="en-US" dirty="0"/>
          </a:p>
        </p:txBody>
      </p:sp>
      <p:sp>
        <p:nvSpPr>
          <p:cNvPr id="7" name="Line 4"/>
          <p:cNvSpPr>
            <a:spLocks noChangeShapeType="1"/>
          </p:cNvSpPr>
          <p:nvPr/>
        </p:nvSpPr>
        <p:spPr bwMode="auto">
          <a:xfrm>
            <a:off x="6172248" y="3382119"/>
            <a:ext cx="5378450" cy="1587"/>
          </a:xfrm>
          <a:prstGeom prst="line">
            <a:avLst/>
          </a:prstGeom>
          <a:noFill/>
          <a:ln w="26988">
            <a:solidFill>
              <a:srgbClr val="000000"/>
            </a:solidFill>
            <a:round/>
            <a:headEnd/>
            <a:tailEnd/>
          </a:ln>
        </p:spPr>
        <p:txBody>
          <a:bodyPr/>
          <a:lstStyle/>
          <a:p>
            <a:endParaRPr lang="zh-CN" altLang="en-US"/>
          </a:p>
        </p:txBody>
      </p:sp>
      <p:sp>
        <p:nvSpPr>
          <p:cNvPr id="8" name="Line 5"/>
          <p:cNvSpPr>
            <a:spLocks noChangeShapeType="1"/>
          </p:cNvSpPr>
          <p:nvPr/>
        </p:nvSpPr>
        <p:spPr bwMode="auto">
          <a:xfrm>
            <a:off x="7691487" y="3382118"/>
            <a:ext cx="1587" cy="334962"/>
          </a:xfrm>
          <a:prstGeom prst="line">
            <a:avLst/>
          </a:prstGeom>
          <a:noFill/>
          <a:ln w="26988">
            <a:solidFill>
              <a:srgbClr val="000000"/>
            </a:solidFill>
            <a:round/>
            <a:headEnd/>
            <a:tailEnd/>
          </a:ln>
        </p:spPr>
        <p:txBody>
          <a:bodyPr/>
          <a:lstStyle/>
          <a:p>
            <a:endParaRPr lang="zh-CN" altLang="en-US"/>
          </a:p>
        </p:txBody>
      </p:sp>
      <p:sp>
        <p:nvSpPr>
          <p:cNvPr id="9" name="Rectangle 6"/>
          <p:cNvSpPr>
            <a:spLocks noChangeArrowheads="1"/>
          </p:cNvSpPr>
          <p:nvPr/>
        </p:nvSpPr>
        <p:spPr bwMode="auto">
          <a:xfrm>
            <a:off x="6845349" y="3691681"/>
            <a:ext cx="1681163" cy="1008063"/>
          </a:xfrm>
          <a:prstGeom prst="rect">
            <a:avLst/>
          </a:prstGeom>
          <a:solidFill>
            <a:srgbClr val="FFFFFF"/>
          </a:solidFill>
          <a:ln w="9525">
            <a:noFill/>
            <a:miter lim="800000"/>
            <a:headEnd/>
            <a:tailEnd/>
          </a:ln>
        </p:spPr>
        <p:txBody>
          <a:bodyPr/>
          <a:lstStyle/>
          <a:p>
            <a:endParaRPr lang="zh-CN" altLang="en-US"/>
          </a:p>
        </p:txBody>
      </p:sp>
      <p:sp>
        <p:nvSpPr>
          <p:cNvPr id="10" name="Rectangle 7"/>
          <p:cNvSpPr>
            <a:spLocks noChangeArrowheads="1"/>
          </p:cNvSpPr>
          <p:nvPr/>
        </p:nvSpPr>
        <p:spPr bwMode="auto">
          <a:xfrm>
            <a:off x="6845349" y="3717081"/>
            <a:ext cx="1681163" cy="1008063"/>
          </a:xfrm>
          <a:prstGeom prst="rect">
            <a:avLst/>
          </a:prstGeom>
          <a:noFill/>
          <a:ln w="9525">
            <a:solidFill>
              <a:srgbClr val="000000"/>
            </a:solidFill>
            <a:miter lim="800000"/>
            <a:headEnd/>
            <a:tailEnd/>
          </a:ln>
        </p:spPr>
        <p:txBody>
          <a:bodyPr/>
          <a:lstStyle/>
          <a:p>
            <a:endParaRPr lang="zh-CN" altLang="en-US"/>
          </a:p>
        </p:txBody>
      </p:sp>
      <p:sp>
        <p:nvSpPr>
          <p:cNvPr id="11" name="Rectangle 8"/>
          <p:cNvSpPr>
            <a:spLocks noChangeArrowheads="1"/>
          </p:cNvSpPr>
          <p:nvPr/>
        </p:nvSpPr>
        <p:spPr bwMode="auto">
          <a:xfrm>
            <a:off x="10206087" y="3794868"/>
            <a:ext cx="769441"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I/O devices</a:t>
            </a:r>
            <a:endParaRPr lang="en-US" altLang="zh-CN"/>
          </a:p>
        </p:txBody>
      </p:sp>
      <p:sp>
        <p:nvSpPr>
          <p:cNvPr id="12" name="Rectangle 9"/>
          <p:cNvSpPr>
            <a:spLocks noChangeArrowheads="1"/>
          </p:cNvSpPr>
          <p:nvPr/>
        </p:nvSpPr>
        <p:spPr bwMode="auto">
          <a:xfrm>
            <a:off x="7418437" y="4488605"/>
            <a:ext cx="554639"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Memory</a:t>
            </a:r>
            <a:endParaRPr lang="en-US" altLang="zh-CN"/>
          </a:p>
        </p:txBody>
      </p:sp>
      <p:sp>
        <p:nvSpPr>
          <p:cNvPr id="13" name="Line 10"/>
          <p:cNvSpPr>
            <a:spLocks noChangeShapeType="1"/>
          </p:cNvSpPr>
          <p:nvPr/>
        </p:nvSpPr>
        <p:spPr bwMode="auto">
          <a:xfrm>
            <a:off x="6678662" y="3045568"/>
            <a:ext cx="1587" cy="336550"/>
          </a:xfrm>
          <a:prstGeom prst="line">
            <a:avLst/>
          </a:prstGeom>
          <a:noFill/>
          <a:ln w="26988">
            <a:solidFill>
              <a:srgbClr val="000000"/>
            </a:solidFill>
            <a:round/>
            <a:headEnd/>
            <a:tailEnd/>
          </a:ln>
        </p:spPr>
        <p:txBody>
          <a:bodyPr/>
          <a:lstStyle/>
          <a:p>
            <a:endParaRPr lang="zh-CN" altLang="en-US"/>
          </a:p>
        </p:txBody>
      </p:sp>
      <p:sp>
        <p:nvSpPr>
          <p:cNvPr id="14" name="Line 11"/>
          <p:cNvSpPr>
            <a:spLocks noChangeShapeType="1"/>
          </p:cNvSpPr>
          <p:nvPr/>
        </p:nvSpPr>
        <p:spPr bwMode="auto">
          <a:xfrm>
            <a:off x="6678662" y="2207369"/>
            <a:ext cx="1587" cy="166687"/>
          </a:xfrm>
          <a:prstGeom prst="line">
            <a:avLst/>
          </a:prstGeom>
          <a:noFill/>
          <a:ln w="26988">
            <a:solidFill>
              <a:srgbClr val="000000"/>
            </a:solidFill>
            <a:round/>
            <a:headEnd/>
            <a:tailEnd/>
          </a:ln>
        </p:spPr>
        <p:txBody>
          <a:bodyPr/>
          <a:lstStyle/>
          <a:p>
            <a:endParaRPr lang="zh-CN" altLang="en-US"/>
          </a:p>
        </p:txBody>
      </p:sp>
      <p:sp>
        <p:nvSpPr>
          <p:cNvPr id="15" name="Freeform 12"/>
          <p:cNvSpPr>
            <a:spLocks/>
          </p:cNvSpPr>
          <p:nvPr/>
        </p:nvSpPr>
        <p:spPr bwMode="auto">
          <a:xfrm>
            <a:off x="6343699" y="1535856"/>
            <a:ext cx="671513" cy="671513"/>
          </a:xfrm>
          <a:custGeom>
            <a:avLst/>
            <a:gdLst/>
            <a:ahLst/>
            <a:cxnLst>
              <a:cxn ang="0">
                <a:pos x="420" y="209"/>
              </a:cxn>
              <a:cxn ang="0">
                <a:pos x="420" y="245"/>
              </a:cxn>
              <a:cxn ang="0">
                <a:pos x="412" y="276"/>
              </a:cxn>
              <a:cxn ang="0">
                <a:pos x="398" y="307"/>
              </a:cxn>
              <a:cxn ang="0">
                <a:pos x="381" y="336"/>
              </a:cxn>
              <a:cxn ang="0">
                <a:pos x="361" y="361"/>
              </a:cxn>
              <a:cxn ang="0">
                <a:pos x="336" y="381"/>
              </a:cxn>
              <a:cxn ang="0">
                <a:pos x="307" y="398"/>
              </a:cxn>
              <a:cxn ang="0">
                <a:pos x="279" y="412"/>
              </a:cxn>
              <a:cxn ang="0">
                <a:pos x="245" y="420"/>
              </a:cxn>
              <a:cxn ang="0">
                <a:pos x="211" y="423"/>
              </a:cxn>
              <a:cxn ang="0">
                <a:pos x="178" y="420"/>
              </a:cxn>
              <a:cxn ang="0">
                <a:pos x="144" y="412"/>
              </a:cxn>
              <a:cxn ang="0">
                <a:pos x="113" y="398"/>
              </a:cxn>
              <a:cxn ang="0">
                <a:pos x="87" y="381"/>
              </a:cxn>
              <a:cxn ang="0">
                <a:pos x="62" y="361"/>
              </a:cxn>
              <a:cxn ang="0">
                <a:pos x="39" y="336"/>
              </a:cxn>
              <a:cxn ang="0">
                <a:pos x="22" y="307"/>
              </a:cxn>
              <a:cxn ang="0">
                <a:pos x="11" y="276"/>
              </a:cxn>
              <a:cxn ang="0">
                <a:pos x="3" y="245"/>
              </a:cxn>
              <a:cxn ang="0">
                <a:pos x="0" y="212"/>
              </a:cxn>
              <a:cxn ang="0">
                <a:pos x="3" y="178"/>
              </a:cxn>
              <a:cxn ang="0">
                <a:pos x="11" y="144"/>
              </a:cxn>
              <a:cxn ang="0">
                <a:pos x="22" y="113"/>
              </a:cxn>
              <a:cxn ang="0">
                <a:pos x="39" y="85"/>
              </a:cxn>
              <a:cxn ang="0">
                <a:pos x="62" y="62"/>
              </a:cxn>
              <a:cxn ang="0">
                <a:pos x="87" y="39"/>
              </a:cxn>
              <a:cxn ang="0">
                <a:pos x="113" y="22"/>
              </a:cxn>
              <a:cxn ang="0">
                <a:pos x="144" y="11"/>
              </a:cxn>
              <a:cxn ang="0">
                <a:pos x="178" y="3"/>
              </a:cxn>
              <a:cxn ang="0">
                <a:pos x="211" y="0"/>
              </a:cxn>
              <a:cxn ang="0">
                <a:pos x="245" y="3"/>
              </a:cxn>
              <a:cxn ang="0">
                <a:pos x="279" y="11"/>
              </a:cxn>
              <a:cxn ang="0">
                <a:pos x="307" y="22"/>
              </a:cxn>
              <a:cxn ang="0">
                <a:pos x="336" y="39"/>
              </a:cxn>
              <a:cxn ang="0">
                <a:pos x="361" y="62"/>
              </a:cxn>
              <a:cxn ang="0">
                <a:pos x="381" y="85"/>
              </a:cxn>
              <a:cxn ang="0">
                <a:pos x="398" y="113"/>
              </a:cxn>
              <a:cxn ang="0">
                <a:pos x="412" y="144"/>
              </a:cxn>
              <a:cxn ang="0">
                <a:pos x="420" y="178"/>
              </a:cxn>
              <a:cxn ang="0">
                <a:pos x="423" y="212"/>
              </a:cxn>
              <a:cxn ang="0">
                <a:pos x="420" y="209"/>
              </a:cxn>
            </a:cxnLst>
            <a:rect l="0" t="0" r="r" b="b"/>
            <a:pathLst>
              <a:path w="423" h="423">
                <a:moveTo>
                  <a:pt x="420" y="209"/>
                </a:moveTo>
                <a:lnTo>
                  <a:pt x="420" y="245"/>
                </a:lnTo>
                <a:lnTo>
                  <a:pt x="412" y="276"/>
                </a:lnTo>
                <a:lnTo>
                  <a:pt x="398" y="307"/>
                </a:lnTo>
                <a:lnTo>
                  <a:pt x="381" y="336"/>
                </a:lnTo>
                <a:lnTo>
                  <a:pt x="361" y="361"/>
                </a:lnTo>
                <a:lnTo>
                  <a:pt x="336" y="381"/>
                </a:lnTo>
                <a:lnTo>
                  <a:pt x="307" y="398"/>
                </a:lnTo>
                <a:lnTo>
                  <a:pt x="279" y="412"/>
                </a:lnTo>
                <a:lnTo>
                  <a:pt x="245" y="420"/>
                </a:lnTo>
                <a:lnTo>
                  <a:pt x="211" y="423"/>
                </a:lnTo>
                <a:lnTo>
                  <a:pt x="178" y="420"/>
                </a:lnTo>
                <a:lnTo>
                  <a:pt x="144" y="412"/>
                </a:lnTo>
                <a:lnTo>
                  <a:pt x="113" y="398"/>
                </a:lnTo>
                <a:lnTo>
                  <a:pt x="87" y="381"/>
                </a:lnTo>
                <a:lnTo>
                  <a:pt x="62" y="361"/>
                </a:lnTo>
                <a:lnTo>
                  <a:pt x="39" y="336"/>
                </a:lnTo>
                <a:lnTo>
                  <a:pt x="22" y="307"/>
                </a:lnTo>
                <a:lnTo>
                  <a:pt x="11" y="276"/>
                </a:lnTo>
                <a:lnTo>
                  <a:pt x="3" y="245"/>
                </a:lnTo>
                <a:lnTo>
                  <a:pt x="0" y="212"/>
                </a:lnTo>
                <a:lnTo>
                  <a:pt x="3" y="178"/>
                </a:lnTo>
                <a:lnTo>
                  <a:pt x="11" y="144"/>
                </a:lnTo>
                <a:lnTo>
                  <a:pt x="22" y="113"/>
                </a:lnTo>
                <a:lnTo>
                  <a:pt x="39" y="85"/>
                </a:lnTo>
                <a:lnTo>
                  <a:pt x="62" y="62"/>
                </a:lnTo>
                <a:lnTo>
                  <a:pt x="87" y="39"/>
                </a:lnTo>
                <a:lnTo>
                  <a:pt x="113" y="22"/>
                </a:lnTo>
                <a:lnTo>
                  <a:pt x="144" y="11"/>
                </a:lnTo>
                <a:lnTo>
                  <a:pt x="178" y="3"/>
                </a:lnTo>
                <a:lnTo>
                  <a:pt x="211" y="0"/>
                </a:lnTo>
                <a:lnTo>
                  <a:pt x="245" y="3"/>
                </a:lnTo>
                <a:lnTo>
                  <a:pt x="279" y="11"/>
                </a:lnTo>
                <a:lnTo>
                  <a:pt x="307" y="22"/>
                </a:lnTo>
                <a:lnTo>
                  <a:pt x="336" y="39"/>
                </a:lnTo>
                <a:lnTo>
                  <a:pt x="361" y="62"/>
                </a:lnTo>
                <a:lnTo>
                  <a:pt x="381" y="85"/>
                </a:lnTo>
                <a:lnTo>
                  <a:pt x="398" y="113"/>
                </a:lnTo>
                <a:lnTo>
                  <a:pt x="412" y="144"/>
                </a:lnTo>
                <a:lnTo>
                  <a:pt x="420" y="178"/>
                </a:lnTo>
                <a:lnTo>
                  <a:pt x="423" y="212"/>
                </a:lnTo>
                <a:lnTo>
                  <a:pt x="420" y="209"/>
                </a:lnTo>
                <a:close/>
              </a:path>
            </a:pathLst>
          </a:custGeom>
          <a:solidFill>
            <a:srgbClr val="FFFFFF"/>
          </a:solidFill>
          <a:ln w="9525">
            <a:noFill/>
            <a:round/>
            <a:headEnd/>
            <a:tailEnd/>
          </a:ln>
        </p:spPr>
        <p:txBody>
          <a:bodyPr/>
          <a:lstStyle/>
          <a:p>
            <a:endParaRPr lang="zh-CN" altLang="en-US"/>
          </a:p>
        </p:txBody>
      </p:sp>
      <p:sp>
        <p:nvSpPr>
          <p:cNvPr id="16" name="Freeform 13"/>
          <p:cNvSpPr>
            <a:spLocks/>
          </p:cNvSpPr>
          <p:nvPr/>
        </p:nvSpPr>
        <p:spPr bwMode="auto">
          <a:xfrm>
            <a:off x="6343699" y="1535856"/>
            <a:ext cx="671513" cy="671513"/>
          </a:xfrm>
          <a:custGeom>
            <a:avLst/>
            <a:gdLst/>
            <a:ahLst/>
            <a:cxnLst>
              <a:cxn ang="0">
                <a:pos x="420" y="209"/>
              </a:cxn>
              <a:cxn ang="0">
                <a:pos x="420" y="178"/>
              </a:cxn>
              <a:cxn ang="0">
                <a:pos x="412" y="144"/>
              </a:cxn>
              <a:cxn ang="0">
                <a:pos x="398" y="113"/>
              </a:cxn>
              <a:cxn ang="0">
                <a:pos x="381" y="85"/>
              </a:cxn>
              <a:cxn ang="0">
                <a:pos x="361" y="62"/>
              </a:cxn>
              <a:cxn ang="0">
                <a:pos x="336" y="39"/>
              </a:cxn>
              <a:cxn ang="0">
                <a:pos x="307" y="22"/>
              </a:cxn>
              <a:cxn ang="0">
                <a:pos x="279" y="11"/>
              </a:cxn>
              <a:cxn ang="0">
                <a:pos x="245" y="3"/>
              </a:cxn>
              <a:cxn ang="0">
                <a:pos x="211" y="0"/>
              </a:cxn>
              <a:cxn ang="0">
                <a:pos x="178" y="3"/>
              </a:cxn>
              <a:cxn ang="0">
                <a:pos x="144" y="11"/>
              </a:cxn>
              <a:cxn ang="0">
                <a:pos x="113" y="22"/>
              </a:cxn>
              <a:cxn ang="0">
                <a:pos x="87" y="39"/>
              </a:cxn>
              <a:cxn ang="0">
                <a:pos x="62" y="62"/>
              </a:cxn>
              <a:cxn ang="0">
                <a:pos x="39" y="85"/>
              </a:cxn>
              <a:cxn ang="0">
                <a:pos x="22" y="113"/>
              </a:cxn>
              <a:cxn ang="0">
                <a:pos x="11" y="144"/>
              </a:cxn>
              <a:cxn ang="0">
                <a:pos x="3" y="178"/>
              </a:cxn>
              <a:cxn ang="0">
                <a:pos x="0" y="212"/>
              </a:cxn>
              <a:cxn ang="0">
                <a:pos x="3" y="245"/>
              </a:cxn>
              <a:cxn ang="0">
                <a:pos x="11" y="276"/>
              </a:cxn>
              <a:cxn ang="0">
                <a:pos x="22" y="307"/>
              </a:cxn>
              <a:cxn ang="0">
                <a:pos x="39" y="336"/>
              </a:cxn>
              <a:cxn ang="0">
                <a:pos x="62" y="361"/>
              </a:cxn>
              <a:cxn ang="0">
                <a:pos x="87" y="381"/>
              </a:cxn>
              <a:cxn ang="0">
                <a:pos x="113" y="398"/>
              </a:cxn>
              <a:cxn ang="0">
                <a:pos x="144" y="412"/>
              </a:cxn>
              <a:cxn ang="0">
                <a:pos x="178" y="420"/>
              </a:cxn>
              <a:cxn ang="0">
                <a:pos x="211" y="423"/>
              </a:cxn>
              <a:cxn ang="0">
                <a:pos x="245" y="420"/>
              </a:cxn>
              <a:cxn ang="0">
                <a:pos x="279" y="412"/>
              </a:cxn>
              <a:cxn ang="0">
                <a:pos x="307" y="398"/>
              </a:cxn>
              <a:cxn ang="0">
                <a:pos x="336" y="381"/>
              </a:cxn>
              <a:cxn ang="0">
                <a:pos x="361" y="361"/>
              </a:cxn>
              <a:cxn ang="0">
                <a:pos x="381" y="336"/>
              </a:cxn>
              <a:cxn ang="0">
                <a:pos x="398" y="307"/>
              </a:cxn>
              <a:cxn ang="0">
                <a:pos x="412" y="276"/>
              </a:cxn>
              <a:cxn ang="0">
                <a:pos x="420" y="245"/>
              </a:cxn>
              <a:cxn ang="0">
                <a:pos x="423" y="212"/>
              </a:cxn>
              <a:cxn ang="0">
                <a:pos x="423" y="212"/>
              </a:cxn>
            </a:cxnLst>
            <a:rect l="0" t="0" r="r" b="b"/>
            <a:pathLst>
              <a:path w="423" h="423">
                <a:moveTo>
                  <a:pt x="420" y="209"/>
                </a:moveTo>
                <a:lnTo>
                  <a:pt x="420" y="178"/>
                </a:lnTo>
                <a:lnTo>
                  <a:pt x="412" y="144"/>
                </a:lnTo>
                <a:lnTo>
                  <a:pt x="398" y="113"/>
                </a:lnTo>
                <a:lnTo>
                  <a:pt x="381" y="85"/>
                </a:lnTo>
                <a:lnTo>
                  <a:pt x="361" y="62"/>
                </a:lnTo>
                <a:lnTo>
                  <a:pt x="336" y="39"/>
                </a:lnTo>
                <a:lnTo>
                  <a:pt x="307" y="22"/>
                </a:lnTo>
                <a:lnTo>
                  <a:pt x="279" y="11"/>
                </a:lnTo>
                <a:lnTo>
                  <a:pt x="245" y="3"/>
                </a:lnTo>
                <a:lnTo>
                  <a:pt x="211" y="0"/>
                </a:lnTo>
                <a:lnTo>
                  <a:pt x="178" y="3"/>
                </a:lnTo>
                <a:lnTo>
                  <a:pt x="144" y="11"/>
                </a:lnTo>
                <a:lnTo>
                  <a:pt x="113" y="22"/>
                </a:lnTo>
                <a:lnTo>
                  <a:pt x="87" y="39"/>
                </a:lnTo>
                <a:lnTo>
                  <a:pt x="62" y="62"/>
                </a:lnTo>
                <a:lnTo>
                  <a:pt x="39" y="85"/>
                </a:lnTo>
                <a:lnTo>
                  <a:pt x="22" y="113"/>
                </a:lnTo>
                <a:lnTo>
                  <a:pt x="11" y="144"/>
                </a:lnTo>
                <a:lnTo>
                  <a:pt x="3" y="178"/>
                </a:lnTo>
                <a:lnTo>
                  <a:pt x="0" y="212"/>
                </a:lnTo>
                <a:lnTo>
                  <a:pt x="3" y="245"/>
                </a:lnTo>
                <a:lnTo>
                  <a:pt x="11" y="276"/>
                </a:lnTo>
                <a:lnTo>
                  <a:pt x="22" y="307"/>
                </a:lnTo>
                <a:lnTo>
                  <a:pt x="39" y="336"/>
                </a:lnTo>
                <a:lnTo>
                  <a:pt x="62" y="361"/>
                </a:lnTo>
                <a:lnTo>
                  <a:pt x="87" y="381"/>
                </a:lnTo>
                <a:lnTo>
                  <a:pt x="113" y="398"/>
                </a:lnTo>
                <a:lnTo>
                  <a:pt x="144" y="412"/>
                </a:lnTo>
                <a:lnTo>
                  <a:pt x="178" y="420"/>
                </a:lnTo>
                <a:lnTo>
                  <a:pt x="211" y="423"/>
                </a:lnTo>
                <a:lnTo>
                  <a:pt x="245" y="420"/>
                </a:lnTo>
                <a:lnTo>
                  <a:pt x="279" y="412"/>
                </a:lnTo>
                <a:lnTo>
                  <a:pt x="307" y="398"/>
                </a:lnTo>
                <a:lnTo>
                  <a:pt x="336" y="381"/>
                </a:lnTo>
                <a:lnTo>
                  <a:pt x="361" y="361"/>
                </a:lnTo>
                <a:lnTo>
                  <a:pt x="381" y="336"/>
                </a:lnTo>
                <a:lnTo>
                  <a:pt x="398" y="307"/>
                </a:lnTo>
                <a:lnTo>
                  <a:pt x="412" y="276"/>
                </a:lnTo>
                <a:lnTo>
                  <a:pt x="420" y="245"/>
                </a:lnTo>
                <a:lnTo>
                  <a:pt x="423" y="212"/>
                </a:lnTo>
                <a:lnTo>
                  <a:pt x="423" y="212"/>
                </a:lnTo>
              </a:path>
            </a:pathLst>
          </a:custGeom>
          <a:noFill/>
          <a:ln w="26988">
            <a:solidFill>
              <a:srgbClr val="000000"/>
            </a:solidFill>
            <a:prstDash val="solid"/>
            <a:round/>
            <a:headEnd/>
            <a:tailEnd/>
          </a:ln>
        </p:spPr>
        <p:txBody>
          <a:bodyPr/>
          <a:lstStyle/>
          <a:p>
            <a:endParaRPr lang="zh-CN" altLang="en-US"/>
          </a:p>
        </p:txBody>
      </p:sp>
      <p:sp>
        <p:nvSpPr>
          <p:cNvPr id="17" name="Rectangle 14"/>
          <p:cNvSpPr>
            <a:spLocks noChangeArrowheads="1"/>
          </p:cNvSpPr>
          <p:nvPr/>
        </p:nvSpPr>
        <p:spPr bwMode="auto">
          <a:xfrm>
            <a:off x="6172248" y="2374056"/>
            <a:ext cx="1009650" cy="671513"/>
          </a:xfrm>
          <a:prstGeom prst="rect">
            <a:avLst/>
          </a:prstGeom>
          <a:solidFill>
            <a:srgbClr val="FFFFFF"/>
          </a:solidFill>
          <a:ln w="9525">
            <a:noFill/>
            <a:miter lim="800000"/>
            <a:headEnd/>
            <a:tailEnd/>
          </a:ln>
        </p:spPr>
        <p:txBody>
          <a:bodyPr/>
          <a:lstStyle/>
          <a:p>
            <a:endParaRPr lang="zh-CN" altLang="en-US"/>
          </a:p>
        </p:txBody>
      </p:sp>
      <p:sp>
        <p:nvSpPr>
          <p:cNvPr id="18" name="Rectangle 15"/>
          <p:cNvSpPr>
            <a:spLocks noChangeArrowheads="1"/>
          </p:cNvSpPr>
          <p:nvPr/>
        </p:nvSpPr>
        <p:spPr bwMode="auto">
          <a:xfrm>
            <a:off x="6172248" y="2374056"/>
            <a:ext cx="1009650" cy="671513"/>
          </a:xfrm>
          <a:prstGeom prst="rect">
            <a:avLst/>
          </a:prstGeom>
          <a:noFill/>
          <a:ln w="9525">
            <a:solidFill>
              <a:srgbClr val="000000"/>
            </a:solidFill>
            <a:miter lim="800000"/>
            <a:headEnd/>
            <a:tailEnd/>
          </a:ln>
        </p:spPr>
        <p:txBody>
          <a:bodyPr/>
          <a:lstStyle/>
          <a:p>
            <a:endParaRPr lang="zh-CN" altLang="en-US"/>
          </a:p>
        </p:txBody>
      </p:sp>
      <p:sp>
        <p:nvSpPr>
          <p:cNvPr id="19" name="Rectangle 16"/>
          <p:cNvSpPr>
            <a:spLocks noChangeArrowheads="1"/>
          </p:cNvSpPr>
          <p:nvPr/>
        </p:nvSpPr>
        <p:spPr bwMode="auto">
          <a:xfrm>
            <a:off x="6584998" y="1783505"/>
            <a:ext cx="10259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P</a:t>
            </a:r>
            <a:endParaRPr lang="en-US" altLang="zh-CN"/>
          </a:p>
        </p:txBody>
      </p:sp>
      <p:sp>
        <p:nvSpPr>
          <p:cNvPr id="20" name="Rectangle 17"/>
          <p:cNvSpPr>
            <a:spLocks noChangeArrowheads="1"/>
          </p:cNvSpPr>
          <p:nvPr/>
        </p:nvSpPr>
        <p:spPr bwMode="auto">
          <a:xfrm>
            <a:off x="6656436" y="1845418"/>
            <a:ext cx="70532" cy="153888"/>
          </a:xfrm>
          <a:prstGeom prst="rect">
            <a:avLst/>
          </a:prstGeom>
          <a:noFill/>
          <a:ln w="9525">
            <a:noFill/>
            <a:miter lim="800000"/>
            <a:headEnd/>
            <a:tailEnd/>
          </a:ln>
        </p:spPr>
        <p:txBody>
          <a:bodyPr wrap="none" lIns="0" tIns="0" rIns="0" bIns="0">
            <a:spAutoFit/>
          </a:bodyPr>
          <a:lstStyle/>
          <a:p>
            <a:r>
              <a:rPr lang="zh-CN" altLang="en-US" sz="1000">
                <a:solidFill>
                  <a:srgbClr val="000000"/>
                </a:solidFill>
              </a:rPr>
              <a:t>1</a:t>
            </a:r>
            <a:endParaRPr lang="zh-CN" altLang="en-US"/>
          </a:p>
        </p:txBody>
      </p:sp>
      <p:sp>
        <p:nvSpPr>
          <p:cNvPr id="21" name="Rectangle 18"/>
          <p:cNvSpPr>
            <a:spLocks noChangeArrowheads="1"/>
          </p:cNvSpPr>
          <p:nvPr/>
        </p:nvSpPr>
        <p:spPr bwMode="auto">
          <a:xfrm>
            <a:off x="6626273" y="2464543"/>
            <a:ext cx="84960" cy="18466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a:t>
            </a:r>
            <a:endParaRPr lang="zh-CN" altLang="en-US"/>
          </a:p>
        </p:txBody>
      </p:sp>
      <p:sp>
        <p:nvSpPr>
          <p:cNvPr id="22" name="Line 19"/>
          <p:cNvSpPr>
            <a:spLocks noChangeShapeType="1"/>
          </p:cNvSpPr>
          <p:nvPr/>
        </p:nvSpPr>
        <p:spPr bwMode="auto">
          <a:xfrm>
            <a:off x="10542637" y="3382118"/>
            <a:ext cx="1587" cy="334962"/>
          </a:xfrm>
          <a:prstGeom prst="line">
            <a:avLst/>
          </a:prstGeom>
          <a:noFill/>
          <a:ln w="26988">
            <a:solidFill>
              <a:srgbClr val="000000"/>
            </a:solidFill>
            <a:round/>
            <a:headEnd/>
            <a:tailEnd/>
          </a:ln>
        </p:spPr>
        <p:txBody>
          <a:bodyPr/>
          <a:lstStyle/>
          <a:p>
            <a:endParaRPr lang="zh-CN" altLang="en-US"/>
          </a:p>
        </p:txBody>
      </p:sp>
      <p:sp>
        <p:nvSpPr>
          <p:cNvPr id="23" name="Line 20"/>
          <p:cNvSpPr>
            <a:spLocks noChangeShapeType="1"/>
          </p:cNvSpPr>
          <p:nvPr/>
        </p:nvSpPr>
        <p:spPr bwMode="auto">
          <a:xfrm>
            <a:off x="8861473" y="3045568"/>
            <a:ext cx="1588" cy="336550"/>
          </a:xfrm>
          <a:prstGeom prst="line">
            <a:avLst/>
          </a:prstGeom>
          <a:noFill/>
          <a:ln w="26988">
            <a:solidFill>
              <a:srgbClr val="000000"/>
            </a:solidFill>
            <a:round/>
            <a:headEnd/>
            <a:tailEnd/>
          </a:ln>
        </p:spPr>
        <p:txBody>
          <a:bodyPr/>
          <a:lstStyle/>
          <a:p>
            <a:endParaRPr lang="zh-CN" altLang="en-US"/>
          </a:p>
        </p:txBody>
      </p:sp>
      <p:sp>
        <p:nvSpPr>
          <p:cNvPr id="24" name="Line 21"/>
          <p:cNvSpPr>
            <a:spLocks noChangeShapeType="1"/>
          </p:cNvSpPr>
          <p:nvPr/>
        </p:nvSpPr>
        <p:spPr bwMode="auto">
          <a:xfrm>
            <a:off x="8861473" y="2207369"/>
            <a:ext cx="1588" cy="166687"/>
          </a:xfrm>
          <a:prstGeom prst="line">
            <a:avLst/>
          </a:prstGeom>
          <a:noFill/>
          <a:ln w="26988">
            <a:solidFill>
              <a:srgbClr val="000000"/>
            </a:solidFill>
            <a:round/>
            <a:headEnd/>
            <a:tailEnd/>
          </a:ln>
        </p:spPr>
        <p:txBody>
          <a:bodyPr/>
          <a:lstStyle/>
          <a:p>
            <a:endParaRPr lang="zh-CN" altLang="en-US"/>
          </a:p>
        </p:txBody>
      </p:sp>
      <p:sp>
        <p:nvSpPr>
          <p:cNvPr id="25" name="Freeform 22"/>
          <p:cNvSpPr>
            <a:spLocks/>
          </p:cNvSpPr>
          <p:nvPr/>
        </p:nvSpPr>
        <p:spPr bwMode="auto">
          <a:xfrm>
            <a:off x="8526511" y="1535856"/>
            <a:ext cx="671512" cy="671513"/>
          </a:xfrm>
          <a:custGeom>
            <a:avLst/>
            <a:gdLst/>
            <a:ahLst/>
            <a:cxnLst>
              <a:cxn ang="0">
                <a:pos x="423" y="209"/>
              </a:cxn>
              <a:cxn ang="0">
                <a:pos x="420" y="245"/>
              </a:cxn>
              <a:cxn ang="0">
                <a:pos x="412" y="276"/>
              </a:cxn>
              <a:cxn ang="0">
                <a:pos x="400" y="307"/>
              </a:cxn>
              <a:cxn ang="0">
                <a:pos x="384" y="336"/>
              </a:cxn>
              <a:cxn ang="0">
                <a:pos x="361" y="361"/>
              </a:cxn>
              <a:cxn ang="0">
                <a:pos x="338" y="381"/>
              </a:cxn>
              <a:cxn ang="0">
                <a:pos x="310" y="398"/>
              </a:cxn>
              <a:cxn ang="0">
                <a:pos x="279" y="412"/>
              </a:cxn>
              <a:cxn ang="0">
                <a:pos x="245" y="420"/>
              </a:cxn>
              <a:cxn ang="0">
                <a:pos x="211" y="423"/>
              </a:cxn>
              <a:cxn ang="0">
                <a:pos x="177" y="420"/>
              </a:cxn>
              <a:cxn ang="0">
                <a:pos x="146" y="412"/>
              </a:cxn>
              <a:cxn ang="0">
                <a:pos x="115" y="398"/>
              </a:cxn>
              <a:cxn ang="0">
                <a:pos x="87" y="381"/>
              </a:cxn>
              <a:cxn ang="0">
                <a:pos x="62" y="361"/>
              </a:cxn>
              <a:cxn ang="0">
                <a:pos x="42" y="336"/>
              </a:cxn>
              <a:cxn ang="0">
                <a:pos x="25" y="307"/>
              </a:cxn>
              <a:cxn ang="0">
                <a:pos x="11" y="276"/>
              </a:cxn>
              <a:cxn ang="0">
                <a:pos x="2" y="245"/>
              </a:cxn>
              <a:cxn ang="0">
                <a:pos x="0" y="212"/>
              </a:cxn>
              <a:cxn ang="0">
                <a:pos x="2" y="178"/>
              </a:cxn>
              <a:cxn ang="0">
                <a:pos x="11" y="144"/>
              </a:cxn>
              <a:cxn ang="0">
                <a:pos x="25" y="113"/>
              </a:cxn>
              <a:cxn ang="0">
                <a:pos x="42" y="85"/>
              </a:cxn>
              <a:cxn ang="0">
                <a:pos x="62" y="62"/>
              </a:cxn>
              <a:cxn ang="0">
                <a:pos x="87" y="39"/>
              </a:cxn>
              <a:cxn ang="0">
                <a:pos x="115" y="22"/>
              </a:cxn>
              <a:cxn ang="0">
                <a:pos x="146" y="11"/>
              </a:cxn>
              <a:cxn ang="0">
                <a:pos x="177" y="3"/>
              </a:cxn>
              <a:cxn ang="0">
                <a:pos x="211" y="0"/>
              </a:cxn>
              <a:cxn ang="0">
                <a:pos x="245" y="3"/>
              </a:cxn>
              <a:cxn ang="0">
                <a:pos x="279" y="11"/>
              </a:cxn>
              <a:cxn ang="0">
                <a:pos x="310" y="22"/>
              </a:cxn>
              <a:cxn ang="0">
                <a:pos x="338" y="39"/>
              </a:cxn>
              <a:cxn ang="0">
                <a:pos x="361" y="62"/>
              </a:cxn>
              <a:cxn ang="0">
                <a:pos x="384" y="85"/>
              </a:cxn>
              <a:cxn ang="0">
                <a:pos x="400" y="113"/>
              </a:cxn>
              <a:cxn ang="0">
                <a:pos x="412" y="144"/>
              </a:cxn>
              <a:cxn ang="0">
                <a:pos x="420" y="178"/>
              </a:cxn>
              <a:cxn ang="0">
                <a:pos x="423" y="212"/>
              </a:cxn>
              <a:cxn ang="0">
                <a:pos x="423" y="209"/>
              </a:cxn>
            </a:cxnLst>
            <a:rect l="0" t="0" r="r" b="b"/>
            <a:pathLst>
              <a:path w="423" h="423">
                <a:moveTo>
                  <a:pt x="423" y="209"/>
                </a:moveTo>
                <a:lnTo>
                  <a:pt x="420" y="245"/>
                </a:lnTo>
                <a:lnTo>
                  <a:pt x="412" y="276"/>
                </a:lnTo>
                <a:lnTo>
                  <a:pt x="400" y="307"/>
                </a:lnTo>
                <a:lnTo>
                  <a:pt x="384" y="336"/>
                </a:lnTo>
                <a:lnTo>
                  <a:pt x="361" y="361"/>
                </a:lnTo>
                <a:lnTo>
                  <a:pt x="338" y="381"/>
                </a:lnTo>
                <a:lnTo>
                  <a:pt x="310" y="398"/>
                </a:lnTo>
                <a:lnTo>
                  <a:pt x="279" y="412"/>
                </a:lnTo>
                <a:lnTo>
                  <a:pt x="245" y="420"/>
                </a:lnTo>
                <a:lnTo>
                  <a:pt x="211" y="423"/>
                </a:lnTo>
                <a:lnTo>
                  <a:pt x="177" y="420"/>
                </a:lnTo>
                <a:lnTo>
                  <a:pt x="146" y="412"/>
                </a:lnTo>
                <a:lnTo>
                  <a:pt x="115" y="398"/>
                </a:lnTo>
                <a:lnTo>
                  <a:pt x="87" y="381"/>
                </a:lnTo>
                <a:lnTo>
                  <a:pt x="62" y="361"/>
                </a:lnTo>
                <a:lnTo>
                  <a:pt x="42" y="336"/>
                </a:lnTo>
                <a:lnTo>
                  <a:pt x="25" y="307"/>
                </a:lnTo>
                <a:lnTo>
                  <a:pt x="11" y="276"/>
                </a:lnTo>
                <a:lnTo>
                  <a:pt x="2" y="245"/>
                </a:lnTo>
                <a:lnTo>
                  <a:pt x="0" y="212"/>
                </a:lnTo>
                <a:lnTo>
                  <a:pt x="2" y="178"/>
                </a:lnTo>
                <a:lnTo>
                  <a:pt x="11" y="144"/>
                </a:lnTo>
                <a:lnTo>
                  <a:pt x="25" y="113"/>
                </a:lnTo>
                <a:lnTo>
                  <a:pt x="42" y="85"/>
                </a:lnTo>
                <a:lnTo>
                  <a:pt x="62" y="62"/>
                </a:lnTo>
                <a:lnTo>
                  <a:pt x="87" y="39"/>
                </a:lnTo>
                <a:lnTo>
                  <a:pt x="115" y="22"/>
                </a:lnTo>
                <a:lnTo>
                  <a:pt x="146" y="11"/>
                </a:lnTo>
                <a:lnTo>
                  <a:pt x="177" y="3"/>
                </a:lnTo>
                <a:lnTo>
                  <a:pt x="211" y="0"/>
                </a:lnTo>
                <a:lnTo>
                  <a:pt x="245" y="3"/>
                </a:lnTo>
                <a:lnTo>
                  <a:pt x="279" y="11"/>
                </a:lnTo>
                <a:lnTo>
                  <a:pt x="310" y="22"/>
                </a:lnTo>
                <a:lnTo>
                  <a:pt x="338" y="39"/>
                </a:lnTo>
                <a:lnTo>
                  <a:pt x="361" y="62"/>
                </a:lnTo>
                <a:lnTo>
                  <a:pt x="384" y="85"/>
                </a:lnTo>
                <a:lnTo>
                  <a:pt x="400" y="113"/>
                </a:lnTo>
                <a:lnTo>
                  <a:pt x="412" y="144"/>
                </a:lnTo>
                <a:lnTo>
                  <a:pt x="420" y="178"/>
                </a:lnTo>
                <a:lnTo>
                  <a:pt x="423" y="212"/>
                </a:lnTo>
                <a:lnTo>
                  <a:pt x="423" y="209"/>
                </a:lnTo>
                <a:close/>
              </a:path>
            </a:pathLst>
          </a:custGeom>
          <a:solidFill>
            <a:srgbClr val="FFFFFF"/>
          </a:solidFill>
          <a:ln w="9525">
            <a:noFill/>
            <a:round/>
            <a:headEnd/>
            <a:tailEnd/>
          </a:ln>
        </p:spPr>
        <p:txBody>
          <a:bodyPr/>
          <a:lstStyle/>
          <a:p>
            <a:endParaRPr lang="zh-CN" altLang="en-US"/>
          </a:p>
        </p:txBody>
      </p:sp>
      <p:sp>
        <p:nvSpPr>
          <p:cNvPr id="26" name="Freeform 23"/>
          <p:cNvSpPr>
            <a:spLocks/>
          </p:cNvSpPr>
          <p:nvPr/>
        </p:nvSpPr>
        <p:spPr bwMode="auto">
          <a:xfrm>
            <a:off x="8526511" y="1535856"/>
            <a:ext cx="671512" cy="671513"/>
          </a:xfrm>
          <a:custGeom>
            <a:avLst/>
            <a:gdLst/>
            <a:ahLst/>
            <a:cxnLst>
              <a:cxn ang="0">
                <a:pos x="423" y="209"/>
              </a:cxn>
              <a:cxn ang="0">
                <a:pos x="420" y="178"/>
              </a:cxn>
              <a:cxn ang="0">
                <a:pos x="412" y="144"/>
              </a:cxn>
              <a:cxn ang="0">
                <a:pos x="400" y="113"/>
              </a:cxn>
              <a:cxn ang="0">
                <a:pos x="384" y="85"/>
              </a:cxn>
              <a:cxn ang="0">
                <a:pos x="361" y="62"/>
              </a:cxn>
              <a:cxn ang="0">
                <a:pos x="338" y="39"/>
              </a:cxn>
              <a:cxn ang="0">
                <a:pos x="310" y="22"/>
              </a:cxn>
              <a:cxn ang="0">
                <a:pos x="279" y="11"/>
              </a:cxn>
              <a:cxn ang="0">
                <a:pos x="245" y="3"/>
              </a:cxn>
              <a:cxn ang="0">
                <a:pos x="211" y="0"/>
              </a:cxn>
              <a:cxn ang="0">
                <a:pos x="177" y="3"/>
              </a:cxn>
              <a:cxn ang="0">
                <a:pos x="146" y="11"/>
              </a:cxn>
              <a:cxn ang="0">
                <a:pos x="115" y="22"/>
              </a:cxn>
              <a:cxn ang="0">
                <a:pos x="87" y="39"/>
              </a:cxn>
              <a:cxn ang="0">
                <a:pos x="62" y="62"/>
              </a:cxn>
              <a:cxn ang="0">
                <a:pos x="42" y="85"/>
              </a:cxn>
              <a:cxn ang="0">
                <a:pos x="25" y="113"/>
              </a:cxn>
              <a:cxn ang="0">
                <a:pos x="11" y="144"/>
              </a:cxn>
              <a:cxn ang="0">
                <a:pos x="2" y="178"/>
              </a:cxn>
              <a:cxn ang="0">
                <a:pos x="0" y="212"/>
              </a:cxn>
              <a:cxn ang="0">
                <a:pos x="2" y="245"/>
              </a:cxn>
              <a:cxn ang="0">
                <a:pos x="11" y="276"/>
              </a:cxn>
              <a:cxn ang="0">
                <a:pos x="25" y="307"/>
              </a:cxn>
              <a:cxn ang="0">
                <a:pos x="42" y="336"/>
              </a:cxn>
              <a:cxn ang="0">
                <a:pos x="62" y="361"/>
              </a:cxn>
              <a:cxn ang="0">
                <a:pos x="87" y="381"/>
              </a:cxn>
              <a:cxn ang="0">
                <a:pos x="115" y="398"/>
              </a:cxn>
              <a:cxn ang="0">
                <a:pos x="146" y="412"/>
              </a:cxn>
              <a:cxn ang="0">
                <a:pos x="177" y="420"/>
              </a:cxn>
              <a:cxn ang="0">
                <a:pos x="211" y="423"/>
              </a:cxn>
              <a:cxn ang="0">
                <a:pos x="245" y="420"/>
              </a:cxn>
              <a:cxn ang="0">
                <a:pos x="279" y="412"/>
              </a:cxn>
              <a:cxn ang="0">
                <a:pos x="310" y="398"/>
              </a:cxn>
              <a:cxn ang="0">
                <a:pos x="338" y="381"/>
              </a:cxn>
              <a:cxn ang="0">
                <a:pos x="361" y="361"/>
              </a:cxn>
              <a:cxn ang="0">
                <a:pos x="384" y="336"/>
              </a:cxn>
              <a:cxn ang="0">
                <a:pos x="400" y="307"/>
              </a:cxn>
              <a:cxn ang="0">
                <a:pos x="412" y="276"/>
              </a:cxn>
              <a:cxn ang="0">
                <a:pos x="420" y="245"/>
              </a:cxn>
              <a:cxn ang="0">
                <a:pos x="423" y="212"/>
              </a:cxn>
              <a:cxn ang="0">
                <a:pos x="423" y="212"/>
              </a:cxn>
            </a:cxnLst>
            <a:rect l="0" t="0" r="r" b="b"/>
            <a:pathLst>
              <a:path w="423" h="423">
                <a:moveTo>
                  <a:pt x="423" y="209"/>
                </a:moveTo>
                <a:lnTo>
                  <a:pt x="420" y="178"/>
                </a:lnTo>
                <a:lnTo>
                  <a:pt x="412" y="144"/>
                </a:lnTo>
                <a:lnTo>
                  <a:pt x="400" y="113"/>
                </a:lnTo>
                <a:lnTo>
                  <a:pt x="384" y="85"/>
                </a:lnTo>
                <a:lnTo>
                  <a:pt x="361" y="62"/>
                </a:lnTo>
                <a:lnTo>
                  <a:pt x="338" y="39"/>
                </a:lnTo>
                <a:lnTo>
                  <a:pt x="310" y="22"/>
                </a:lnTo>
                <a:lnTo>
                  <a:pt x="279" y="11"/>
                </a:lnTo>
                <a:lnTo>
                  <a:pt x="245" y="3"/>
                </a:lnTo>
                <a:lnTo>
                  <a:pt x="211" y="0"/>
                </a:lnTo>
                <a:lnTo>
                  <a:pt x="177" y="3"/>
                </a:lnTo>
                <a:lnTo>
                  <a:pt x="146" y="11"/>
                </a:lnTo>
                <a:lnTo>
                  <a:pt x="115" y="22"/>
                </a:lnTo>
                <a:lnTo>
                  <a:pt x="87" y="39"/>
                </a:lnTo>
                <a:lnTo>
                  <a:pt x="62" y="62"/>
                </a:lnTo>
                <a:lnTo>
                  <a:pt x="42" y="85"/>
                </a:lnTo>
                <a:lnTo>
                  <a:pt x="25" y="113"/>
                </a:lnTo>
                <a:lnTo>
                  <a:pt x="11" y="144"/>
                </a:lnTo>
                <a:lnTo>
                  <a:pt x="2" y="178"/>
                </a:lnTo>
                <a:lnTo>
                  <a:pt x="0" y="212"/>
                </a:lnTo>
                <a:lnTo>
                  <a:pt x="2" y="245"/>
                </a:lnTo>
                <a:lnTo>
                  <a:pt x="11" y="276"/>
                </a:lnTo>
                <a:lnTo>
                  <a:pt x="25" y="307"/>
                </a:lnTo>
                <a:lnTo>
                  <a:pt x="42" y="336"/>
                </a:lnTo>
                <a:lnTo>
                  <a:pt x="62" y="361"/>
                </a:lnTo>
                <a:lnTo>
                  <a:pt x="87" y="381"/>
                </a:lnTo>
                <a:lnTo>
                  <a:pt x="115" y="398"/>
                </a:lnTo>
                <a:lnTo>
                  <a:pt x="146" y="412"/>
                </a:lnTo>
                <a:lnTo>
                  <a:pt x="177" y="420"/>
                </a:lnTo>
                <a:lnTo>
                  <a:pt x="211" y="423"/>
                </a:lnTo>
                <a:lnTo>
                  <a:pt x="245" y="420"/>
                </a:lnTo>
                <a:lnTo>
                  <a:pt x="279" y="412"/>
                </a:lnTo>
                <a:lnTo>
                  <a:pt x="310" y="398"/>
                </a:lnTo>
                <a:lnTo>
                  <a:pt x="338" y="381"/>
                </a:lnTo>
                <a:lnTo>
                  <a:pt x="361" y="361"/>
                </a:lnTo>
                <a:lnTo>
                  <a:pt x="384" y="336"/>
                </a:lnTo>
                <a:lnTo>
                  <a:pt x="400" y="307"/>
                </a:lnTo>
                <a:lnTo>
                  <a:pt x="412" y="276"/>
                </a:lnTo>
                <a:lnTo>
                  <a:pt x="420" y="245"/>
                </a:lnTo>
                <a:lnTo>
                  <a:pt x="423" y="212"/>
                </a:lnTo>
                <a:lnTo>
                  <a:pt x="423" y="212"/>
                </a:lnTo>
              </a:path>
            </a:pathLst>
          </a:custGeom>
          <a:noFill/>
          <a:ln w="26988">
            <a:solidFill>
              <a:srgbClr val="000000"/>
            </a:solidFill>
            <a:prstDash val="solid"/>
            <a:round/>
            <a:headEnd/>
            <a:tailEnd/>
          </a:ln>
        </p:spPr>
        <p:txBody>
          <a:bodyPr/>
          <a:lstStyle/>
          <a:p>
            <a:endParaRPr lang="zh-CN" altLang="en-US"/>
          </a:p>
        </p:txBody>
      </p:sp>
      <p:sp>
        <p:nvSpPr>
          <p:cNvPr id="27" name="Rectangle 24"/>
          <p:cNvSpPr>
            <a:spLocks noChangeArrowheads="1"/>
          </p:cNvSpPr>
          <p:nvPr/>
        </p:nvSpPr>
        <p:spPr bwMode="auto">
          <a:xfrm>
            <a:off x="8359824" y="2374056"/>
            <a:ext cx="1008063" cy="671513"/>
          </a:xfrm>
          <a:prstGeom prst="rect">
            <a:avLst/>
          </a:prstGeom>
          <a:solidFill>
            <a:srgbClr val="FFFFFF"/>
          </a:solidFill>
          <a:ln w="9525">
            <a:noFill/>
            <a:miter lim="800000"/>
            <a:headEnd/>
            <a:tailEnd/>
          </a:ln>
        </p:spPr>
        <p:txBody>
          <a:bodyPr/>
          <a:lstStyle/>
          <a:p>
            <a:endParaRPr lang="zh-CN" altLang="en-US"/>
          </a:p>
        </p:txBody>
      </p:sp>
      <p:sp>
        <p:nvSpPr>
          <p:cNvPr id="28" name="Rectangle 25"/>
          <p:cNvSpPr>
            <a:spLocks noChangeArrowheads="1"/>
          </p:cNvSpPr>
          <p:nvPr/>
        </p:nvSpPr>
        <p:spPr bwMode="auto">
          <a:xfrm>
            <a:off x="8359824" y="2374056"/>
            <a:ext cx="1008063" cy="671513"/>
          </a:xfrm>
          <a:prstGeom prst="rect">
            <a:avLst/>
          </a:prstGeom>
          <a:noFill/>
          <a:ln w="9525">
            <a:solidFill>
              <a:srgbClr val="000000"/>
            </a:solidFill>
            <a:miter lim="800000"/>
            <a:headEnd/>
            <a:tailEnd/>
          </a:ln>
        </p:spPr>
        <p:txBody>
          <a:bodyPr/>
          <a:lstStyle/>
          <a:p>
            <a:endParaRPr lang="zh-CN" altLang="en-US"/>
          </a:p>
        </p:txBody>
      </p:sp>
      <p:sp>
        <p:nvSpPr>
          <p:cNvPr id="29" name="Rectangle 26"/>
          <p:cNvSpPr>
            <a:spLocks noChangeArrowheads="1"/>
          </p:cNvSpPr>
          <p:nvPr/>
        </p:nvSpPr>
        <p:spPr bwMode="auto">
          <a:xfrm>
            <a:off x="8839248" y="2464543"/>
            <a:ext cx="84960" cy="18466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a:t>
            </a:r>
            <a:endParaRPr lang="zh-CN" altLang="en-US"/>
          </a:p>
        </p:txBody>
      </p:sp>
      <p:sp>
        <p:nvSpPr>
          <p:cNvPr id="30" name="Line 27"/>
          <p:cNvSpPr>
            <a:spLocks noChangeShapeType="1"/>
          </p:cNvSpPr>
          <p:nvPr/>
        </p:nvSpPr>
        <p:spPr bwMode="auto">
          <a:xfrm>
            <a:off x="11049048" y="3045568"/>
            <a:ext cx="1588" cy="336550"/>
          </a:xfrm>
          <a:prstGeom prst="line">
            <a:avLst/>
          </a:prstGeom>
          <a:noFill/>
          <a:ln w="26988">
            <a:solidFill>
              <a:srgbClr val="000000"/>
            </a:solidFill>
            <a:round/>
            <a:headEnd/>
            <a:tailEnd/>
          </a:ln>
        </p:spPr>
        <p:txBody>
          <a:bodyPr/>
          <a:lstStyle/>
          <a:p>
            <a:endParaRPr lang="zh-CN" altLang="en-US"/>
          </a:p>
        </p:txBody>
      </p:sp>
      <p:sp>
        <p:nvSpPr>
          <p:cNvPr id="31" name="Line 28"/>
          <p:cNvSpPr>
            <a:spLocks noChangeShapeType="1"/>
          </p:cNvSpPr>
          <p:nvPr/>
        </p:nvSpPr>
        <p:spPr bwMode="auto">
          <a:xfrm>
            <a:off x="11049048" y="2207369"/>
            <a:ext cx="1588" cy="166687"/>
          </a:xfrm>
          <a:prstGeom prst="line">
            <a:avLst/>
          </a:prstGeom>
          <a:noFill/>
          <a:ln w="26988">
            <a:solidFill>
              <a:srgbClr val="000000"/>
            </a:solidFill>
            <a:round/>
            <a:headEnd/>
            <a:tailEnd/>
          </a:ln>
        </p:spPr>
        <p:txBody>
          <a:bodyPr/>
          <a:lstStyle/>
          <a:p>
            <a:endParaRPr lang="zh-CN" altLang="en-US"/>
          </a:p>
        </p:txBody>
      </p:sp>
      <p:sp>
        <p:nvSpPr>
          <p:cNvPr id="32" name="Freeform 29"/>
          <p:cNvSpPr>
            <a:spLocks/>
          </p:cNvSpPr>
          <p:nvPr/>
        </p:nvSpPr>
        <p:spPr bwMode="auto">
          <a:xfrm>
            <a:off x="10712498" y="1535856"/>
            <a:ext cx="673100" cy="671513"/>
          </a:xfrm>
          <a:custGeom>
            <a:avLst/>
            <a:gdLst/>
            <a:ahLst/>
            <a:cxnLst>
              <a:cxn ang="0">
                <a:pos x="421" y="209"/>
              </a:cxn>
              <a:cxn ang="0">
                <a:pos x="421" y="245"/>
              </a:cxn>
              <a:cxn ang="0">
                <a:pos x="412" y="276"/>
              </a:cxn>
              <a:cxn ang="0">
                <a:pos x="398" y="307"/>
              </a:cxn>
              <a:cxn ang="0">
                <a:pos x="381" y="336"/>
              </a:cxn>
              <a:cxn ang="0">
                <a:pos x="362" y="361"/>
              </a:cxn>
              <a:cxn ang="0">
                <a:pos x="336" y="381"/>
              </a:cxn>
              <a:cxn ang="0">
                <a:pos x="308" y="398"/>
              </a:cxn>
              <a:cxn ang="0">
                <a:pos x="280" y="412"/>
              </a:cxn>
              <a:cxn ang="0">
                <a:pos x="246" y="420"/>
              </a:cxn>
              <a:cxn ang="0">
                <a:pos x="212" y="423"/>
              </a:cxn>
              <a:cxn ang="0">
                <a:pos x="178" y="420"/>
              </a:cxn>
              <a:cxn ang="0">
                <a:pos x="144" y="412"/>
              </a:cxn>
              <a:cxn ang="0">
                <a:pos x="113" y="398"/>
              </a:cxn>
              <a:cxn ang="0">
                <a:pos x="88" y="381"/>
              </a:cxn>
              <a:cxn ang="0">
                <a:pos x="62" y="361"/>
              </a:cxn>
              <a:cxn ang="0">
                <a:pos x="40" y="336"/>
              </a:cxn>
              <a:cxn ang="0">
                <a:pos x="23" y="307"/>
              </a:cxn>
              <a:cxn ang="0">
                <a:pos x="12" y="276"/>
              </a:cxn>
              <a:cxn ang="0">
                <a:pos x="3" y="245"/>
              </a:cxn>
              <a:cxn ang="0">
                <a:pos x="0" y="212"/>
              </a:cxn>
              <a:cxn ang="0">
                <a:pos x="3" y="178"/>
              </a:cxn>
              <a:cxn ang="0">
                <a:pos x="12" y="144"/>
              </a:cxn>
              <a:cxn ang="0">
                <a:pos x="23" y="113"/>
              </a:cxn>
              <a:cxn ang="0">
                <a:pos x="40" y="85"/>
              </a:cxn>
              <a:cxn ang="0">
                <a:pos x="62" y="62"/>
              </a:cxn>
              <a:cxn ang="0">
                <a:pos x="88" y="39"/>
              </a:cxn>
              <a:cxn ang="0">
                <a:pos x="113" y="22"/>
              </a:cxn>
              <a:cxn ang="0">
                <a:pos x="144" y="11"/>
              </a:cxn>
              <a:cxn ang="0">
                <a:pos x="178" y="3"/>
              </a:cxn>
              <a:cxn ang="0">
                <a:pos x="212" y="0"/>
              </a:cxn>
              <a:cxn ang="0">
                <a:pos x="246" y="3"/>
              </a:cxn>
              <a:cxn ang="0">
                <a:pos x="280" y="11"/>
              </a:cxn>
              <a:cxn ang="0">
                <a:pos x="308" y="22"/>
              </a:cxn>
              <a:cxn ang="0">
                <a:pos x="336" y="39"/>
              </a:cxn>
              <a:cxn ang="0">
                <a:pos x="362" y="62"/>
              </a:cxn>
              <a:cxn ang="0">
                <a:pos x="381" y="85"/>
              </a:cxn>
              <a:cxn ang="0">
                <a:pos x="398" y="113"/>
              </a:cxn>
              <a:cxn ang="0">
                <a:pos x="412" y="144"/>
              </a:cxn>
              <a:cxn ang="0">
                <a:pos x="421" y="178"/>
              </a:cxn>
              <a:cxn ang="0">
                <a:pos x="424" y="212"/>
              </a:cxn>
              <a:cxn ang="0">
                <a:pos x="421" y="209"/>
              </a:cxn>
            </a:cxnLst>
            <a:rect l="0" t="0" r="r" b="b"/>
            <a:pathLst>
              <a:path w="424" h="423">
                <a:moveTo>
                  <a:pt x="421" y="209"/>
                </a:moveTo>
                <a:lnTo>
                  <a:pt x="421" y="245"/>
                </a:lnTo>
                <a:lnTo>
                  <a:pt x="412" y="276"/>
                </a:lnTo>
                <a:lnTo>
                  <a:pt x="398" y="307"/>
                </a:lnTo>
                <a:lnTo>
                  <a:pt x="381" y="336"/>
                </a:lnTo>
                <a:lnTo>
                  <a:pt x="362" y="361"/>
                </a:lnTo>
                <a:lnTo>
                  <a:pt x="336" y="381"/>
                </a:lnTo>
                <a:lnTo>
                  <a:pt x="308" y="398"/>
                </a:lnTo>
                <a:lnTo>
                  <a:pt x="280" y="412"/>
                </a:lnTo>
                <a:lnTo>
                  <a:pt x="246" y="420"/>
                </a:lnTo>
                <a:lnTo>
                  <a:pt x="212" y="423"/>
                </a:lnTo>
                <a:lnTo>
                  <a:pt x="178" y="420"/>
                </a:lnTo>
                <a:lnTo>
                  <a:pt x="144" y="412"/>
                </a:lnTo>
                <a:lnTo>
                  <a:pt x="113" y="398"/>
                </a:lnTo>
                <a:lnTo>
                  <a:pt x="88" y="381"/>
                </a:lnTo>
                <a:lnTo>
                  <a:pt x="62" y="361"/>
                </a:lnTo>
                <a:lnTo>
                  <a:pt x="40" y="336"/>
                </a:lnTo>
                <a:lnTo>
                  <a:pt x="23" y="307"/>
                </a:lnTo>
                <a:lnTo>
                  <a:pt x="12" y="276"/>
                </a:lnTo>
                <a:lnTo>
                  <a:pt x="3" y="245"/>
                </a:lnTo>
                <a:lnTo>
                  <a:pt x="0" y="212"/>
                </a:lnTo>
                <a:lnTo>
                  <a:pt x="3" y="178"/>
                </a:lnTo>
                <a:lnTo>
                  <a:pt x="12" y="144"/>
                </a:lnTo>
                <a:lnTo>
                  <a:pt x="23" y="113"/>
                </a:lnTo>
                <a:lnTo>
                  <a:pt x="40" y="85"/>
                </a:lnTo>
                <a:lnTo>
                  <a:pt x="62" y="62"/>
                </a:lnTo>
                <a:lnTo>
                  <a:pt x="88" y="39"/>
                </a:lnTo>
                <a:lnTo>
                  <a:pt x="113" y="22"/>
                </a:lnTo>
                <a:lnTo>
                  <a:pt x="144" y="11"/>
                </a:lnTo>
                <a:lnTo>
                  <a:pt x="178" y="3"/>
                </a:lnTo>
                <a:lnTo>
                  <a:pt x="212" y="0"/>
                </a:lnTo>
                <a:lnTo>
                  <a:pt x="246" y="3"/>
                </a:lnTo>
                <a:lnTo>
                  <a:pt x="280" y="11"/>
                </a:lnTo>
                <a:lnTo>
                  <a:pt x="308" y="22"/>
                </a:lnTo>
                <a:lnTo>
                  <a:pt x="336" y="39"/>
                </a:lnTo>
                <a:lnTo>
                  <a:pt x="362" y="62"/>
                </a:lnTo>
                <a:lnTo>
                  <a:pt x="381" y="85"/>
                </a:lnTo>
                <a:lnTo>
                  <a:pt x="398" y="113"/>
                </a:lnTo>
                <a:lnTo>
                  <a:pt x="412" y="144"/>
                </a:lnTo>
                <a:lnTo>
                  <a:pt x="421" y="178"/>
                </a:lnTo>
                <a:lnTo>
                  <a:pt x="424" y="212"/>
                </a:lnTo>
                <a:lnTo>
                  <a:pt x="421" y="209"/>
                </a:lnTo>
                <a:close/>
              </a:path>
            </a:pathLst>
          </a:custGeom>
          <a:solidFill>
            <a:srgbClr val="FFFFFF"/>
          </a:solidFill>
          <a:ln w="9525">
            <a:noFill/>
            <a:round/>
            <a:headEnd/>
            <a:tailEnd/>
          </a:ln>
        </p:spPr>
        <p:txBody>
          <a:bodyPr/>
          <a:lstStyle/>
          <a:p>
            <a:endParaRPr lang="zh-CN" altLang="en-US"/>
          </a:p>
        </p:txBody>
      </p:sp>
      <p:sp>
        <p:nvSpPr>
          <p:cNvPr id="33" name="Freeform 30"/>
          <p:cNvSpPr>
            <a:spLocks/>
          </p:cNvSpPr>
          <p:nvPr/>
        </p:nvSpPr>
        <p:spPr bwMode="auto">
          <a:xfrm>
            <a:off x="10712498" y="1535856"/>
            <a:ext cx="673100" cy="671513"/>
          </a:xfrm>
          <a:custGeom>
            <a:avLst/>
            <a:gdLst/>
            <a:ahLst/>
            <a:cxnLst>
              <a:cxn ang="0">
                <a:pos x="421" y="209"/>
              </a:cxn>
              <a:cxn ang="0">
                <a:pos x="421" y="178"/>
              </a:cxn>
              <a:cxn ang="0">
                <a:pos x="412" y="144"/>
              </a:cxn>
              <a:cxn ang="0">
                <a:pos x="398" y="113"/>
              </a:cxn>
              <a:cxn ang="0">
                <a:pos x="381" y="85"/>
              </a:cxn>
              <a:cxn ang="0">
                <a:pos x="362" y="62"/>
              </a:cxn>
              <a:cxn ang="0">
                <a:pos x="336" y="39"/>
              </a:cxn>
              <a:cxn ang="0">
                <a:pos x="308" y="22"/>
              </a:cxn>
              <a:cxn ang="0">
                <a:pos x="280" y="11"/>
              </a:cxn>
              <a:cxn ang="0">
                <a:pos x="246" y="3"/>
              </a:cxn>
              <a:cxn ang="0">
                <a:pos x="212" y="0"/>
              </a:cxn>
              <a:cxn ang="0">
                <a:pos x="178" y="3"/>
              </a:cxn>
              <a:cxn ang="0">
                <a:pos x="144" y="11"/>
              </a:cxn>
              <a:cxn ang="0">
                <a:pos x="113" y="22"/>
              </a:cxn>
              <a:cxn ang="0">
                <a:pos x="88" y="39"/>
              </a:cxn>
              <a:cxn ang="0">
                <a:pos x="62" y="62"/>
              </a:cxn>
              <a:cxn ang="0">
                <a:pos x="40" y="85"/>
              </a:cxn>
              <a:cxn ang="0">
                <a:pos x="23" y="113"/>
              </a:cxn>
              <a:cxn ang="0">
                <a:pos x="12" y="144"/>
              </a:cxn>
              <a:cxn ang="0">
                <a:pos x="3" y="178"/>
              </a:cxn>
              <a:cxn ang="0">
                <a:pos x="0" y="212"/>
              </a:cxn>
              <a:cxn ang="0">
                <a:pos x="3" y="245"/>
              </a:cxn>
              <a:cxn ang="0">
                <a:pos x="12" y="276"/>
              </a:cxn>
              <a:cxn ang="0">
                <a:pos x="23" y="307"/>
              </a:cxn>
              <a:cxn ang="0">
                <a:pos x="40" y="336"/>
              </a:cxn>
              <a:cxn ang="0">
                <a:pos x="62" y="361"/>
              </a:cxn>
              <a:cxn ang="0">
                <a:pos x="88" y="381"/>
              </a:cxn>
              <a:cxn ang="0">
                <a:pos x="113" y="398"/>
              </a:cxn>
              <a:cxn ang="0">
                <a:pos x="144" y="412"/>
              </a:cxn>
              <a:cxn ang="0">
                <a:pos x="178" y="420"/>
              </a:cxn>
              <a:cxn ang="0">
                <a:pos x="212" y="423"/>
              </a:cxn>
              <a:cxn ang="0">
                <a:pos x="246" y="420"/>
              </a:cxn>
              <a:cxn ang="0">
                <a:pos x="280" y="412"/>
              </a:cxn>
              <a:cxn ang="0">
                <a:pos x="308" y="398"/>
              </a:cxn>
              <a:cxn ang="0">
                <a:pos x="336" y="381"/>
              </a:cxn>
              <a:cxn ang="0">
                <a:pos x="362" y="361"/>
              </a:cxn>
              <a:cxn ang="0">
                <a:pos x="381" y="336"/>
              </a:cxn>
              <a:cxn ang="0">
                <a:pos x="398" y="307"/>
              </a:cxn>
              <a:cxn ang="0">
                <a:pos x="412" y="276"/>
              </a:cxn>
              <a:cxn ang="0">
                <a:pos x="421" y="245"/>
              </a:cxn>
              <a:cxn ang="0">
                <a:pos x="424" y="212"/>
              </a:cxn>
              <a:cxn ang="0">
                <a:pos x="424" y="212"/>
              </a:cxn>
            </a:cxnLst>
            <a:rect l="0" t="0" r="r" b="b"/>
            <a:pathLst>
              <a:path w="424" h="423">
                <a:moveTo>
                  <a:pt x="421" y="209"/>
                </a:moveTo>
                <a:lnTo>
                  <a:pt x="421" y="178"/>
                </a:lnTo>
                <a:lnTo>
                  <a:pt x="412" y="144"/>
                </a:lnTo>
                <a:lnTo>
                  <a:pt x="398" y="113"/>
                </a:lnTo>
                <a:lnTo>
                  <a:pt x="381" y="85"/>
                </a:lnTo>
                <a:lnTo>
                  <a:pt x="362" y="62"/>
                </a:lnTo>
                <a:lnTo>
                  <a:pt x="336" y="39"/>
                </a:lnTo>
                <a:lnTo>
                  <a:pt x="308" y="22"/>
                </a:lnTo>
                <a:lnTo>
                  <a:pt x="280" y="11"/>
                </a:lnTo>
                <a:lnTo>
                  <a:pt x="246" y="3"/>
                </a:lnTo>
                <a:lnTo>
                  <a:pt x="212" y="0"/>
                </a:lnTo>
                <a:lnTo>
                  <a:pt x="178" y="3"/>
                </a:lnTo>
                <a:lnTo>
                  <a:pt x="144" y="11"/>
                </a:lnTo>
                <a:lnTo>
                  <a:pt x="113" y="22"/>
                </a:lnTo>
                <a:lnTo>
                  <a:pt x="88" y="39"/>
                </a:lnTo>
                <a:lnTo>
                  <a:pt x="62" y="62"/>
                </a:lnTo>
                <a:lnTo>
                  <a:pt x="40" y="85"/>
                </a:lnTo>
                <a:lnTo>
                  <a:pt x="23" y="113"/>
                </a:lnTo>
                <a:lnTo>
                  <a:pt x="12" y="144"/>
                </a:lnTo>
                <a:lnTo>
                  <a:pt x="3" y="178"/>
                </a:lnTo>
                <a:lnTo>
                  <a:pt x="0" y="212"/>
                </a:lnTo>
                <a:lnTo>
                  <a:pt x="3" y="245"/>
                </a:lnTo>
                <a:lnTo>
                  <a:pt x="12" y="276"/>
                </a:lnTo>
                <a:lnTo>
                  <a:pt x="23" y="307"/>
                </a:lnTo>
                <a:lnTo>
                  <a:pt x="40" y="336"/>
                </a:lnTo>
                <a:lnTo>
                  <a:pt x="62" y="361"/>
                </a:lnTo>
                <a:lnTo>
                  <a:pt x="88" y="381"/>
                </a:lnTo>
                <a:lnTo>
                  <a:pt x="113" y="398"/>
                </a:lnTo>
                <a:lnTo>
                  <a:pt x="144" y="412"/>
                </a:lnTo>
                <a:lnTo>
                  <a:pt x="178" y="420"/>
                </a:lnTo>
                <a:lnTo>
                  <a:pt x="212" y="423"/>
                </a:lnTo>
                <a:lnTo>
                  <a:pt x="246" y="420"/>
                </a:lnTo>
                <a:lnTo>
                  <a:pt x="280" y="412"/>
                </a:lnTo>
                <a:lnTo>
                  <a:pt x="308" y="398"/>
                </a:lnTo>
                <a:lnTo>
                  <a:pt x="336" y="381"/>
                </a:lnTo>
                <a:lnTo>
                  <a:pt x="362" y="361"/>
                </a:lnTo>
                <a:lnTo>
                  <a:pt x="381" y="336"/>
                </a:lnTo>
                <a:lnTo>
                  <a:pt x="398" y="307"/>
                </a:lnTo>
                <a:lnTo>
                  <a:pt x="412" y="276"/>
                </a:lnTo>
                <a:lnTo>
                  <a:pt x="421" y="245"/>
                </a:lnTo>
                <a:lnTo>
                  <a:pt x="424" y="212"/>
                </a:lnTo>
                <a:lnTo>
                  <a:pt x="424" y="212"/>
                </a:lnTo>
              </a:path>
            </a:pathLst>
          </a:custGeom>
          <a:noFill/>
          <a:ln w="26988">
            <a:solidFill>
              <a:srgbClr val="000000"/>
            </a:solidFill>
            <a:prstDash val="solid"/>
            <a:round/>
            <a:headEnd/>
            <a:tailEnd/>
          </a:ln>
        </p:spPr>
        <p:txBody>
          <a:bodyPr/>
          <a:lstStyle/>
          <a:p>
            <a:endParaRPr lang="zh-CN" altLang="en-US"/>
          </a:p>
        </p:txBody>
      </p:sp>
      <p:sp>
        <p:nvSpPr>
          <p:cNvPr id="34" name="Rectangle 31"/>
          <p:cNvSpPr>
            <a:spLocks noChangeArrowheads="1"/>
          </p:cNvSpPr>
          <p:nvPr/>
        </p:nvSpPr>
        <p:spPr bwMode="auto">
          <a:xfrm>
            <a:off x="10579149" y="2396281"/>
            <a:ext cx="1008063" cy="671513"/>
          </a:xfrm>
          <a:prstGeom prst="rect">
            <a:avLst/>
          </a:prstGeom>
          <a:solidFill>
            <a:srgbClr val="FFFFFF"/>
          </a:solidFill>
          <a:ln w="9525">
            <a:noFill/>
            <a:miter lim="800000"/>
            <a:headEnd/>
            <a:tailEnd/>
          </a:ln>
        </p:spPr>
        <p:txBody>
          <a:bodyPr/>
          <a:lstStyle/>
          <a:p>
            <a:endParaRPr lang="zh-CN" altLang="en-US"/>
          </a:p>
        </p:txBody>
      </p:sp>
      <p:sp>
        <p:nvSpPr>
          <p:cNvPr id="35" name="Rectangle 32"/>
          <p:cNvSpPr>
            <a:spLocks noChangeArrowheads="1"/>
          </p:cNvSpPr>
          <p:nvPr/>
        </p:nvSpPr>
        <p:spPr bwMode="auto">
          <a:xfrm>
            <a:off x="10542636" y="2374056"/>
            <a:ext cx="1008062" cy="671513"/>
          </a:xfrm>
          <a:prstGeom prst="rect">
            <a:avLst/>
          </a:prstGeom>
          <a:noFill/>
          <a:ln w="9525">
            <a:solidFill>
              <a:srgbClr val="000000"/>
            </a:solidFill>
            <a:miter lim="800000"/>
            <a:headEnd/>
            <a:tailEnd/>
          </a:ln>
        </p:spPr>
        <p:txBody>
          <a:bodyPr/>
          <a:lstStyle/>
          <a:p>
            <a:endParaRPr lang="zh-CN" altLang="en-US"/>
          </a:p>
        </p:txBody>
      </p:sp>
      <p:sp>
        <p:nvSpPr>
          <p:cNvPr id="36" name="Rectangle 33"/>
          <p:cNvSpPr>
            <a:spLocks noChangeArrowheads="1"/>
          </p:cNvSpPr>
          <p:nvPr/>
        </p:nvSpPr>
        <p:spPr bwMode="auto">
          <a:xfrm>
            <a:off x="10995073" y="2437555"/>
            <a:ext cx="84960" cy="18466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a:t>
            </a:r>
            <a:endParaRPr lang="zh-CN" altLang="en-US"/>
          </a:p>
        </p:txBody>
      </p:sp>
      <p:sp>
        <p:nvSpPr>
          <p:cNvPr id="37" name="Rectangle 34"/>
          <p:cNvSpPr>
            <a:spLocks noChangeArrowheads="1"/>
          </p:cNvSpPr>
          <p:nvPr/>
        </p:nvSpPr>
        <p:spPr bwMode="auto">
          <a:xfrm>
            <a:off x="8780511" y="1769218"/>
            <a:ext cx="10259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P</a:t>
            </a:r>
            <a:endParaRPr lang="en-US" altLang="zh-CN"/>
          </a:p>
        </p:txBody>
      </p:sp>
      <p:sp>
        <p:nvSpPr>
          <p:cNvPr id="38" name="Rectangle 35"/>
          <p:cNvSpPr>
            <a:spLocks noChangeArrowheads="1"/>
          </p:cNvSpPr>
          <p:nvPr/>
        </p:nvSpPr>
        <p:spPr bwMode="auto">
          <a:xfrm>
            <a:off x="8856711" y="1832718"/>
            <a:ext cx="70532" cy="153888"/>
          </a:xfrm>
          <a:prstGeom prst="rect">
            <a:avLst/>
          </a:prstGeom>
          <a:noFill/>
          <a:ln w="9525">
            <a:noFill/>
            <a:miter lim="800000"/>
            <a:headEnd/>
            <a:tailEnd/>
          </a:ln>
        </p:spPr>
        <p:txBody>
          <a:bodyPr wrap="none" lIns="0" tIns="0" rIns="0" bIns="0">
            <a:spAutoFit/>
          </a:bodyPr>
          <a:lstStyle/>
          <a:p>
            <a:r>
              <a:rPr lang="zh-CN" altLang="en-US" sz="1000">
                <a:solidFill>
                  <a:srgbClr val="000000"/>
                </a:solidFill>
              </a:rPr>
              <a:t>2</a:t>
            </a:r>
            <a:endParaRPr lang="zh-CN" altLang="en-US"/>
          </a:p>
        </p:txBody>
      </p:sp>
      <p:sp>
        <p:nvSpPr>
          <p:cNvPr id="39" name="Rectangle 36"/>
          <p:cNvSpPr>
            <a:spLocks noChangeArrowheads="1"/>
          </p:cNvSpPr>
          <p:nvPr/>
        </p:nvSpPr>
        <p:spPr bwMode="auto">
          <a:xfrm>
            <a:off x="10941098" y="1783505"/>
            <a:ext cx="10259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P</a:t>
            </a:r>
            <a:endParaRPr lang="en-US" altLang="zh-CN"/>
          </a:p>
        </p:txBody>
      </p:sp>
      <p:sp>
        <p:nvSpPr>
          <p:cNvPr id="40" name="Rectangle 37"/>
          <p:cNvSpPr>
            <a:spLocks noChangeArrowheads="1"/>
          </p:cNvSpPr>
          <p:nvPr/>
        </p:nvSpPr>
        <p:spPr bwMode="auto">
          <a:xfrm>
            <a:off x="11012536" y="1845418"/>
            <a:ext cx="70532" cy="153888"/>
          </a:xfrm>
          <a:prstGeom prst="rect">
            <a:avLst/>
          </a:prstGeom>
          <a:noFill/>
          <a:ln w="9525">
            <a:noFill/>
            <a:miter lim="800000"/>
            <a:headEnd/>
            <a:tailEnd/>
          </a:ln>
        </p:spPr>
        <p:txBody>
          <a:bodyPr wrap="none" lIns="0" tIns="0" rIns="0" bIns="0">
            <a:spAutoFit/>
          </a:bodyPr>
          <a:lstStyle/>
          <a:p>
            <a:r>
              <a:rPr lang="zh-CN" altLang="en-US" sz="1000">
                <a:solidFill>
                  <a:srgbClr val="000000"/>
                </a:solidFill>
              </a:rPr>
              <a:t>3</a:t>
            </a:r>
            <a:endParaRPr lang="zh-CN" altLang="en-US"/>
          </a:p>
        </p:txBody>
      </p:sp>
      <p:sp>
        <p:nvSpPr>
          <p:cNvPr id="41" name="Freeform 38"/>
          <p:cNvSpPr>
            <a:spLocks/>
          </p:cNvSpPr>
          <p:nvPr/>
        </p:nvSpPr>
        <p:spPr bwMode="auto">
          <a:xfrm>
            <a:off x="6450061" y="2924919"/>
            <a:ext cx="80962" cy="142875"/>
          </a:xfrm>
          <a:custGeom>
            <a:avLst/>
            <a:gdLst/>
            <a:ahLst/>
            <a:cxnLst>
              <a:cxn ang="0">
                <a:pos x="23" y="87"/>
              </a:cxn>
              <a:cxn ang="0">
                <a:pos x="0" y="90"/>
              </a:cxn>
              <a:cxn ang="0">
                <a:pos x="20" y="0"/>
              </a:cxn>
              <a:cxn ang="0">
                <a:pos x="51" y="87"/>
              </a:cxn>
              <a:cxn ang="0">
                <a:pos x="26" y="87"/>
              </a:cxn>
            </a:cxnLst>
            <a:rect l="0" t="0" r="r" b="b"/>
            <a:pathLst>
              <a:path w="51" h="90">
                <a:moveTo>
                  <a:pt x="23" y="87"/>
                </a:moveTo>
                <a:lnTo>
                  <a:pt x="0" y="90"/>
                </a:lnTo>
                <a:lnTo>
                  <a:pt x="20" y="0"/>
                </a:lnTo>
                <a:lnTo>
                  <a:pt x="51" y="87"/>
                </a:lnTo>
                <a:lnTo>
                  <a:pt x="26" y="87"/>
                </a:lnTo>
              </a:path>
            </a:pathLst>
          </a:custGeom>
          <a:noFill/>
          <a:ln w="9525">
            <a:solidFill>
              <a:srgbClr val="000000"/>
            </a:solidFill>
            <a:prstDash val="solid"/>
            <a:round/>
            <a:headEnd/>
            <a:tailEnd/>
          </a:ln>
        </p:spPr>
        <p:txBody>
          <a:bodyPr/>
          <a:lstStyle/>
          <a:p>
            <a:endParaRPr lang="zh-CN" altLang="en-US"/>
          </a:p>
        </p:txBody>
      </p:sp>
      <p:sp>
        <p:nvSpPr>
          <p:cNvPr id="42" name="Freeform 39"/>
          <p:cNvSpPr>
            <a:spLocks/>
          </p:cNvSpPr>
          <p:nvPr/>
        </p:nvSpPr>
        <p:spPr bwMode="auto">
          <a:xfrm>
            <a:off x="6450061" y="2924919"/>
            <a:ext cx="80962" cy="142875"/>
          </a:xfrm>
          <a:custGeom>
            <a:avLst/>
            <a:gdLst/>
            <a:ahLst/>
            <a:cxnLst>
              <a:cxn ang="0">
                <a:pos x="23" y="87"/>
              </a:cxn>
              <a:cxn ang="0">
                <a:pos x="0" y="90"/>
              </a:cxn>
              <a:cxn ang="0">
                <a:pos x="20" y="0"/>
              </a:cxn>
              <a:cxn ang="0">
                <a:pos x="51" y="87"/>
              </a:cxn>
              <a:cxn ang="0">
                <a:pos x="23" y="87"/>
              </a:cxn>
            </a:cxnLst>
            <a:rect l="0" t="0" r="r" b="b"/>
            <a:pathLst>
              <a:path w="51" h="90">
                <a:moveTo>
                  <a:pt x="23" y="87"/>
                </a:moveTo>
                <a:lnTo>
                  <a:pt x="0" y="90"/>
                </a:lnTo>
                <a:lnTo>
                  <a:pt x="20" y="0"/>
                </a:lnTo>
                <a:lnTo>
                  <a:pt x="51" y="87"/>
                </a:lnTo>
                <a:lnTo>
                  <a:pt x="23" y="87"/>
                </a:lnTo>
                <a:close/>
              </a:path>
            </a:pathLst>
          </a:custGeom>
          <a:solidFill>
            <a:srgbClr val="000000"/>
          </a:solidFill>
          <a:ln w="9525">
            <a:noFill/>
            <a:round/>
            <a:headEnd/>
            <a:tailEnd/>
          </a:ln>
        </p:spPr>
        <p:txBody>
          <a:bodyPr/>
          <a:lstStyle/>
          <a:p>
            <a:endParaRPr lang="zh-CN" altLang="en-US"/>
          </a:p>
        </p:txBody>
      </p:sp>
      <p:grpSp>
        <p:nvGrpSpPr>
          <p:cNvPr id="43" name="Group 41"/>
          <p:cNvGrpSpPr>
            <a:grpSpLocks/>
          </p:cNvGrpSpPr>
          <p:nvPr/>
        </p:nvGrpSpPr>
        <p:grpSpPr bwMode="auto">
          <a:xfrm>
            <a:off x="8978949" y="2015280"/>
            <a:ext cx="531813" cy="1244600"/>
            <a:chOff x="2888" y="1155"/>
            <a:chExt cx="335" cy="784"/>
          </a:xfrm>
        </p:grpSpPr>
        <p:sp>
          <p:nvSpPr>
            <p:cNvPr id="44" name="Freeform 42"/>
            <p:cNvSpPr>
              <a:spLocks/>
            </p:cNvSpPr>
            <p:nvPr/>
          </p:nvSpPr>
          <p:spPr bwMode="auto">
            <a:xfrm>
              <a:off x="2993" y="1361"/>
              <a:ext cx="211" cy="211"/>
            </a:xfrm>
            <a:custGeom>
              <a:avLst/>
              <a:gdLst/>
              <a:ahLst/>
              <a:cxnLst>
                <a:cxn ang="0">
                  <a:pos x="211" y="104"/>
                </a:cxn>
                <a:cxn ang="0">
                  <a:pos x="211" y="124"/>
                </a:cxn>
                <a:cxn ang="0">
                  <a:pos x="206" y="141"/>
                </a:cxn>
                <a:cxn ang="0">
                  <a:pos x="200" y="155"/>
                </a:cxn>
                <a:cxn ang="0">
                  <a:pos x="192" y="169"/>
                </a:cxn>
                <a:cxn ang="0">
                  <a:pos x="180" y="180"/>
                </a:cxn>
                <a:cxn ang="0">
                  <a:pos x="169" y="192"/>
                </a:cxn>
                <a:cxn ang="0">
                  <a:pos x="155" y="200"/>
                </a:cxn>
                <a:cxn ang="0">
                  <a:pos x="141" y="206"/>
                </a:cxn>
                <a:cxn ang="0">
                  <a:pos x="124" y="211"/>
                </a:cxn>
                <a:cxn ang="0">
                  <a:pos x="107" y="211"/>
                </a:cxn>
                <a:cxn ang="0">
                  <a:pos x="90" y="211"/>
                </a:cxn>
                <a:cxn ang="0">
                  <a:pos x="73" y="206"/>
                </a:cxn>
                <a:cxn ang="0">
                  <a:pos x="59" y="200"/>
                </a:cxn>
                <a:cxn ang="0">
                  <a:pos x="45" y="192"/>
                </a:cxn>
                <a:cxn ang="0">
                  <a:pos x="31" y="180"/>
                </a:cxn>
                <a:cxn ang="0">
                  <a:pos x="22" y="169"/>
                </a:cxn>
                <a:cxn ang="0">
                  <a:pos x="14" y="155"/>
                </a:cxn>
                <a:cxn ang="0">
                  <a:pos x="5" y="141"/>
                </a:cxn>
                <a:cxn ang="0">
                  <a:pos x="2" y="124"/>
                </a:cxn>
                <a:cxn ang="0">
                  <a:pos x="0" y="107"/>
                </a:cxn>
                <a:cxn ang="0">
                  <a:pos x="2" y="90"/>
                </a:cxn>
                <a:cxn ang="0">
                  <a:pos x="5" y="73"/>
                </a:cxn>
                <a:cxn ang="0">
                  <a:pos x="14" y="59"/>
                </a:cxn>
                <a:cxn ang="0">
                  <a:pos x="22" y="45"/>
                </a:cxn>
                <a:cxn ang="0">
                  <a:pos x="31" y="31"/>
                </a:cxn>
                <a:cxn ang="0">
                  <a:pos x="45" y="19"/>
                </a:cxn>
                <a:cxn ang="0">
                  <a:pos x="59" y="11"/>
                </a:cxn>
                <a:cxn ang="0">
                  <a:pos x="73" y="5"/>
                </a:cxn>
                <a:cxn ang="0">
                  <a:pos x="90" y="3"/>
                </a:cxn>
                <a:cxn ang="0">
                  <a:pos x="107" y="0"/>
                </a:cxn>
                <a:cxn ang="0">
                  <a:pos x="124" y="3"/>
                </a:cxn>
                <a:cxn ang="0">
                  <a:pos x="141" y="5"/>
                </a:cxn>
                <a:cxn ang="0">
                  <a:pos x="155" y="11"/>
                </a:cxn>
                <a:cxn ang="0">
                  <a:pos x="169" y="19"/>
                </a:cxn>
                <a:cxn ang="0">
                  <a:pos x="180" y="31"/>
                </a:cxn>
                <a:cxn ang="0">
                  <a:pos x="192" y="45"/>
                </a:cxn>
                <a:cxn ang="0">
                  <a:pos x="200" y="59"/>
                </a:cxn>
                <a:cxn ang="0">
                  <a:pos x="206" y="73"/>
                </a:cxn>
                <a:cxn ang="0">
                  <a:pos x="211" y="90"/>
                </a:cxn>
                <a:cxn ang="0">
                  <a:pos x="211" y="107"/>
                </a:cxn>
                <a:cxn ang="0">
                  <a:pos x="211" y="104"/>
                </a:cxn>
              </a:cxnLst>
              <a:rect l="0" t="0" r="r" b="b"/>
              <a:pathLst>
                <a:path w="211" h="211">
                  <a:moveTo>
                    <a:pt x="211" y="104"/>
                  </a:moveTo>
                  <a:lnTo>
                    <a:pt x="211" y="124"/>
                  </a:lnTo>
                  <a:lnTo>
                    <a:pt x="206" y="141"/>
                  </a:lnTo>
                  <a:lnTo>
                    <a:pt x="200" y="155"/>
                  </a:lnTo>
                  <a:lnTo>
                    <a:pt x="192" y="169"/>
                  </a:lnTo>
                  <a:lnTo>
                    <a:pt x="180" y="180"/>
                  </a:lnTo>
                  <a:lnTo>
                    <a:pt x="169" y="192"/>
                  </a:lnTo>
                  <a:lnTo>
                    <a:pt x="155" y="200"/>
                  </a:lnTo>
                  <a:lnTo>
                    <a:pt x="141" y="206"/>
                  </a:lnTo>
                  <a:lnTo>
                    <a:pt x="124" y="211"/>
                  </a:lnTo>
                  <a:lnTo>
                    <a:pt x="107" y="211"/>
                  </a:lnTo>
                  <a:lnTo>
                    <a:pt x="90" y="211"/>
                  </a:lnTo>
                  <a:lnTo>
                    <a:pt x="73" y="206"/>
                  </a:lnTo>
                  <a:lnTo>
                    <a:pt x="59" y="200"/>
                  </a:lnTo>
                  <a:lnTo>
                    <a:pt x="45" y="192"/>
                  </a:lnTo>
                  <a:lnTo>
                    <a:pt x="31" y="180"/>
                  </a:lnTo>
                  <a:lnTo>
                    <a:pt x="22" y="169"/>
                  </a:lnTo>
                  <a:lnTo>
                    <a:pt x="14" y="155"/>
                  </a:lnTo>
                  <a:lnTo>
                    <a:pt x="5" y="141"/>
                  </a:lnTo>
                  <a:lnTo>
                    <a:pt x="2" y="124"/>
                  </a:lnTo>
                  <a:lnTo>
                    <a:pt x="0" y="107"/>
                  </a:lnTo>
                  <a:lnTo>
                    <a:pt x="2" y="90"/>
                  </a:lnTo>
                  <a:lnTo>
                    <a:pt x="5" y="73"/>
                  </a:lnTo>
                  <a:lnTo>
                    <a:pt x="14" y="59"/>
                  </a:lnTo>
                  <a:lnTo>
                    <a:pt x="22" y="45"/>
                  </a:lnTo>
                  <a:lnTo>
                    <a:pt x="31" y="31"/>
                  </a:lnTo>
                  <a:lnTo>
                    <a:pt x="45" y="19"/>
                  </a:lnTo>
                  <a:lnTo>
                    <a:pt x="59" y="11"/>
                  </a:lnTo>
                  <a:lnTo>
                    <a:pt x="73" y="5"/>
                  </a:lnTo>
                  <a:lnTo>
                    <a:pt x="90" y="3"/>
                  </a:lnTo>
                  <a:lnTo>
                    <a:pt x="107" y="0"/>
                  </a:lnTo>
                  <a:lnTo>
                    <a:pt x="124" y="3"/>
                  </a:lnTo>
                  <a:lnTo>
                    <a:pt x="141" y="5"/>
                  </a:lnTo>
                  <a:lnTo>
                    <a:pt x="155" y="11"/>
                  </a:lnTo>
                  <a:lnTo>
                    <a:pt x="169" y="19"/>
                  </a:lnTo>
                  <a:lnTo>
                    <a:pt x="180" y="31"/>
                  </a:lnTo>
                  <a:lnTo>
                    <a:pt x="192" y="45"/>
                  </a:lnTo>
                  <a:lnTo>
                    <a:pt x="200" y="59"/>
                  </a:lnTo>
                  <a:lnTo>
                    <a:pt x="206" y="73"/>
                  </a:lnTo>
                  <a:lnTo>
                    <a:pt x="211" y="90"/>
                  </a:lnTo>
                  <a:lnTo>
                    <a:pt x="211" y="107"/>
                  </a:lnTo>
                  <a:lnTo>
                    <a:pt x="211" y="104"/>
                  </a:lnTo>
                  <a:close/>
                </a:path>
              </a:pathLst>
            </a:custGeom>
            <a:solidFill>
              <a:srgbClr val="FFFF00"/>
            </a:solidFill>
            <a:ln w="9525">
              <a:noFill/>
              <a:round/>
              <a:headEnd/>
              <a:tailEnd/>
            </a:ln>
          </p:spPr>
          <p:txBody>
            <a:bodyPr/>
            <a:lstStyle/>
            <a:p>
              <a:endParaRPr lang="zh-CN" altLang="en-US"/>
            </a:p>
          </p:txBody>
        </p:sp>
        <p:sp>
          <p:nvSpPr>
            <p:cNvPr id="45" name="Freeform 43"/>
            <p:cNvSpPr>
              <a:spLocks/>
            </p:cNvSpPr>
            <p:nvPr/>
          </p:nvSpPr>
          <p:spPr bwMode="auto">
            <a:xfrm>
              <a:off x="2993" y="1361"/>
              <a:ext cx="211" cy="211"/>
            </a:xfrm>
            <a:custGeom>
              <a:avLst/>
              <a:gdLst/>
              <a:ahLst/>
              <a:cxnLst>
                <a:cxn ang="0">
                  <a:pos x="211" y="104"/>
                </a:cxn>
                <a:cxn ang="0">
                  <a:pos x="211" y="90"/>
                </a:cxn>
                <a:cxn ang="0">
                  <a:pos x="206" y="73"/>
                </a:cxn>
                <a:cxn ang="0">
                  <a:pos x="200" y="59"/>
                </a:cxn>
                <a:cxn ang="0">
                  <a:pos x="192" y="45"/>
                </a:cxn>
                <a:cxn ang="0">
                  <a:pos x="180" y="31"/>
                </a:cxn>
                <a:cxn ang="0">
                  <a:pos x="169" y="19"/>
                </a:cxn>
                <a:cxn ang="0">
                  <a:pos x="155" y="11"/>
                </a:cxn>
                <a:cxn ang="0">
                  <a:pos x="141" y="5"/>
                </a:cxn>
                <a:cxn ang="0">
                  <a:pos x="124" y="3"/>
                </a:cxn>
                <a:cxn ang="0">
                  <a:pos x="107" y="0"/>
                </a:cxn>
                <a:cxn ang="0">
                  <a:pos x="90" y="3"/>
                </a:cxn>
                <a:cxn ang="0">
                  <a:pos x="73" y="5"/>
                </a:cxn>
                <a:cxn ang="0">
                  <a:pos x="59" y="11"/>
                </a:cxn>
                <a:cxn ang="0">
                  <a:pos x="45" y="19"/>
                </a:cxn>
                <a:cxn ang="0">
                  <a:pos x="31" y="31"/>
                </a:cxn>
                <a:cxn ang="0">
                  <a:pos x="22" y="45"/>
                </a:cxn>
                <a:cxn ang="0">
                  <a:pos x="14" y="59"/>
                </a:cxn>
                <a:cxn ang="0">
                  <a:pos x="5" y="73"/>
                </a:cxn>
                <a:cxn ang="0">
                  <a:pos x="2" y="90"/>
                </a:cxn>
                <a:cxn ang="0">
                  <a:pos x="0" y="107"/>
                </a:cxn>
                <a:cxn ang="0">
                  <a:pos x="2" y="124"/>
                </a:cxn>
                <a:cxn ang="0">
                  <a:pos x="5" y="141"/>
                </a:cxn>
                <a:cxn ang="0">
                  <a:pos x="14" y="155"/>
                </a:cxn>
                <a:cxn ang="0">
                  <a:pos x="22" y="169"/>
                </a:cxn>
                <a:cxn ang="0">
                  <a:pos x="31" y="180"/>
                </a:cxn>
                <a:cxn ang="0">
                  <a:pos x="45" y="192"/>
                </a:cxn>
                <a:cxn ang="0">
                  <a:pos x="59" y="200"/>
                </a:cxn>
                <a:cxn ang="0">
                  <a:pos x="73" y="206"/>
                </a:cxn>
                <a:cxn ang="0">
                  <a:pos x="90" y="211"/>
                </a:cxn>
                <a:cxn ang="0">
                  <a:pos x="107" y="211"/>
                </a:cxn>
                <a:cxn ang="0">
                  <a:pos x="124" y="211"/>
                </a:cxn>
                <a:cxn ang="0">
                  <a:pos x="141" y="206"/>
                </a:cxn>
                <a:cxn ang="0">
                  <a:pos x="155" y="200"/>
                </a:cxn>
                <a:cxn ang="0">
                  <a:pos x="169" y="192"/>
                </a:cxn>
                <a:cxn ang="0">
                  <a:pos x="180" y="180"/>
                </a:cxn>
                <a:cxn ang="0">
                  <a:pos x="192" y="169"/>
                </a:cxn>
                <a:cxn ang="0">
                  <a:pos x="200" y="155"/>
                </a:cxn>
                <a:cxn ang="0">
                  <a:pos x="206" y="141"/>
                </a:cxn>
                <a:cxn ang="0">
                  <a:pos x="211" y="124"/>
                </a:cxn>
                <a:cxn ang="0">
                  <a:pos x="211" y="107"/>
                </a:cxn>
                <a:cxn ang="0">
                  <a:pos x="211" y="107"/>
                </a:cxn>
              </a:cxnLst>
              <a:rect l="0" t="0" r="r" b="b"/>
              <a:pathLst>
                <a:path w="211" h="211">
                  <a:moveTo>
                    <a:pt x="211" y="104"/>
                  </a:moveTo>
                  <a:lnTo>
                    <a:pt x="211" y="90"/>
                  </a:lnTo>
                  <a:lnTo>
                    <a:pt x="206" y="73"/>
                  </a:lnTo>
                  <a:lnTo>
                    <a:pt x="200" y="59"/>
                  </a:lnTo>
                  <a:lnTo>
                    <a:pt x="192" y="45"/>
                  </a:lnTo>
                  <a:lnTo>
                    <a:pt x="180" y="31"/>
                  </a:lnTo>
                  <a:lnTo>
                    <a:pt x="169" y="19"/>
                  </a:lnTo>
                  <a:lnTo>
                    <a:pt x="155" y="11"/>
                  </a:lnTo>
                  <a:lnTo>
                    <a:pt x="141" y="5"/>
                  </a:lnTo>
                  <a:lnTo>
                    <a:pt x="124" y="3"/>
                  </a:lnTo>
                  <a:lnTo>
                    <a:pt x="107" y="0"/>
                  </a:lnTo>
                  <a:lnTo>
                    <a:pt x="90" y="3"/>
                  </a:lnTo>
                  <a:lnTo>
                    <a:pt x="73" y="5"/>
                  </a:lnTo>
                  <a:lnTo>
                    <a:pt x="59" y="11"/>
                  </a:lnTo>
                  <a:lnTo>
                    <a:pt x="45" y="19"/>
                  </a:lnTo>
                  <a:lnTo>
                    <a:pt x="31" y="31"/>
                  </a:lnTo>
                  <a:lnTo>
                    <a:pt x="22" y="45"/>
                  </a:lnTo>
                  <a:lnTo>
                    <a:pt x="14" y="59"/>
                  </a:lnTo>
                  <a:lnTo>
                    <a:pt x="5" y="73"/>
                  </a:lnTo>
                  <a:lnTo>
                    <a:pt x="2" y="90"/>
                  </a:lnTo>
                  <a:lnTo>
                    <a:pt x="0" y="107"/>
                  </a:lnTo>
                  <a:lnTo>
                    <a:pt x="2" y="124"/>
                  </a:lnTo>
                  <a:lnTo>
                    <a:pt x="5" y="141"/>
                  </a:lnTo>
                  <a:lnTo>
                    <a:pt x="14" y="155"/>
                  </a:lnTo>
                  <a:lnTo>
                    <a:pt x="22" y="169"/>
                  </a:lnTo>
                  <a:lnTo>
                    <a:pt x="31" y="180"/>
                  </a:lnTo>
                  <a:lnTo>
                    <a:pt x="45" y="192"/>
                  </a:lnTo>
                  <a:lnTo>
                    <a:pt x="59" y="200"/>
                  </a:lnTo>
                  <a:lnTo>
                    <a:pt x="73" y="206"/>
                  </a:lnTo>
                  <a:lnTo>
                    <a:pt x="90" y="211"/>
                  </a:lnTo>
                  <a:lnTo>
                    <a:pt x="107" y="211"/>
                  </a:lnTo>
                  <a:lnTo>
                    <a:pt x="124" y="211"/>
                  </a:lnTo>
                  <a:lnTo>
                    <a:pt x="141" y="206"/>
                  </a:lnTo>
                  <a:lnTo>
                    <a:pt x="155" y="200"/>
                  </a:lnTo>
                  <a:lnTo>
                    <a:pt x="169" y="192"/>
                  </a:lnTo>
                  <a:lnTo>
                    <a:pt x="180" y="180"/>
                  </a:lnTo>
                  <a:lnTo>
                    <a:pt x="192" y="169"/>
                  </a:lnTo>
                  <a:lnTo>
                    <a:pt x="200" y="155"/>
                  </a:lnTo>
                  <a:lnTo>
                    <a:pt x="206" y="141"/>
                  </a:lnTo>
                  <a:lnTo>
                    <a:pt x="211" y="124"/>
                  </a:lnTo>
                  <a:lnTo>
                    <a:pt x="211" y="107"/>
                  </a:lnTo>
                  <a:lnTo>
                    <a:pt x="211" y="107"/>
                  </a:lnTo>
                </a:path>
              </a:pathLst>
            </a:custGeom>
            <a:solidFill>
              <a:srgbClr val="FFFF00"/>
            </a:solidFill>
            <a:ln w="9525">
              <a:solidFill>
                <a:srgbClr val="000000"/>
              </a:solidFill>
              <a:prstDash val="solid"/>
              <a:round/>
              <a:headEnd/>
              <a:tailEnd/>
            </a:ln>
          </p:spPr>
          <p:txBody>
            <a:bodyPr/>
            <a:lstStyle/>
            <a:p>
              <a:endParaRPr lang="zh-CN" altLang="en-US"/>
            </a:p>
          </p:txBody>
        </p:sp>
        <p:sp>
          <p:nvSpPr>
            <p:cNvPr id="46" name="Rectangle 44"/>
            <p:cNvSpPr>
              <a:spLocks noChangeArrowheads="1"/>
            </p:cNvSpPr>
            <p:nvPr/>
          </p:nvSpPr>
          <p:spPr bwMode="auto">
            <a:xfrm>
              <a:off x="3066" y="1420"/>
              <a:ext cx="54" cy="116"/>
            </a:xfrm>
            <a:prstGeom prst="rect">
              <a:avLst/>
            </a:prstGeom>
            <a:solidFill>
              <a:srgbClr val="FFFF00"/>
            </a:solidFill>
            <a:ln w="9525">
              <a:noFill/>
              <a:miter lim="800000"/>
              <a:headEnd/>
              <a:tailEnd/>
            </a:ln>
          </p:spPr>
          <p:txBody>
            <a:bodyPr wrap="none" lIns="0" tIns="0" rIns="0" bIns="0">
              <a:spAutoFit/>
            </a:bodyPr>
            <a:lstStyle/>
            <a:p>
              <a:r>
                <a:rPr lang="zh-CN" altLang="en-US" sz="1200">
                  <a:solidFill>
                    <a:srgbClr val="000000"/>
                  </a:solidFill>
                </a:rPr>
                <a:t>5</a:t>
              </a:r>
              <a:endParaRPr lang="zh-CN" altLang="en-US"/>
            </a:p>
          </p:txBody>
        </p:sp>
        <p:sp>
          <p:nvSpPr>
            <p:cNvPr id="47" name="Freeform 45"/>
            <p:cNvSpPr>
              <a:spLocks/>
            </p:cNvSpPr>
            <p:nvPr/>
          </p:nvSpPr>
          <p:spPr bwMode="auto">
            <a:xfrm>
              <a:off x="2888" y="1155"/>
              <a:ext cx="51" cy="90"/>
            </a:xfrm>
            <a:custGeom>
              <a:avLst/>
              <a:gdLst/>
              <a:ahLst/>
              <a:cxnLst>
                <a:cxn ang="0">
                  <a:pos x="26" y="82"/>
                </a:cxn>
                <a:cxn ang="0">
                  <a:pos x="3" y="90"/>
                </a:cxn>
                <a:cxn ang="0">
                  <a:pos x="0" y="0"/>
                </a:cxn>
                <a:cxn ang="0">
                  <a:pos x="51" y="73"/>
                </a:cxn>
                <a:cxn ang="0">
                  <a:pos x="28" y="82"/>
                </a:cxn>
              </a:cxnLst>
              <a:rect l="0" t="0" r="r" b="b"/>
              <a:pathLst>
                <a:path w="51" h="90">
                  <a:moveTo>
                    <a:pt x="26" y="82"/>
                  </a:moveTo>
                  <a:lnTo>
                    <a:pt x="3" y="90"/>
                  </a:lnTo>
                  <a:lnTo>
                    <a:pt x="0" y="0"/>
                  </a:lnTo>
                  <a:lnTo>
                    <a:pt x="51" y="73"/>
                  </a:lnTo>
                  <a:lnTo>
                    <a:pt x="28" y="82"/>
                  </a:lnTo>
                </a:path>
              </a:pathLst>
            </a:custGeom>
            <a:solidFill>
              <a:srgbClr val="FFFF00"/>
            </a:solidFill>
            <a:ln w="9525">
              <a:solidFill>
                <a:srgbClr val="000000"/>
              </a:solidFill>
              <a:prstDash val="solid"/>
              <a:round/>
              <a:headEnd/>
              <a:tailEnd/>
            </a:ln>
          </p:spPr>
          <p:txBody>
            <a:bodyPr/>
            <a:lstStyle/>
            <a:p>
              <a:endParaRPr lang="zh-CN" altLang="en-US"/>
            </a:p>
          </p:txBody>
        </p:sp>
        <p:sp>
          <p:nvSpPr>
            <p:cNvPr id="48" name="Freeform 46"/>
            <p:cNvSpPr>
              <a:spLocks/>
            </p:cNvSpPr>
            <p:nvPr/>
          </p:nvSpPr>
          <p:spPr bwMode="auto">
            <a:xfrm>
              <a:off x="2888" y="1155"/>
              <a:ext cx="51" cy="90"/>
            </a:xfrm>
            <a:custGeom>
              <a:avLst/>
              <a:gdLst/>
              <a:ahLst/>
              <a:cxnLst>
                <a:cxn ang="0">
                  <a:pos x="26" y="82"/>
                </a:cxn>
                <a:cxn ang="0">
                  <a:pos x="3" y="90"/>
                </a:cxn>
                <a:cxn ang="0">
                  <a:pos x="0" y="0"/>
                </a:cxn>
                <a:cxn ang="0">
                  <a:pos x="51" y="73"/>
                </a:cxn>
                <a:cxn ang="0">
                  <a:pos x="26" y="82"/>
                </a:cxn>
              </a:cxnLst>
              <a:rect l="0" t="0" r="r" b="b"/>
              <a:pathLst>
                <a:path w="51" h="90">
                  <a:moveTo>
                    <a:pt x="26" y="82"/>
                  </a:moveTo>
                  <a:lnTo>
                    <a:pt x="3" y="90"/>
                  </a:lnTo>
                  <a:lnTo>
                    <a:pt x="0" y="0"/>
                  </a:lnTo>
                  <a:lnTo>
                    <a:pt x="51" y="73"/>
                  </a:lnTo>
                  <a:lnTo>
                    <a:pt x="26" y="82"/>
                  </a:lnTo>
                  <a:close/>
                </a:path>
              </a:pathLst>
            </a:custGeom>
            <a:solidFill>
              <a:srgbClr val="FFFF00"/>
            </a:solidFill>
            <a:ln w="9525">
              <a:noFill/>
              <a:round/>
              <a:headEnd/>
              <a:tailEnd/>
            </a:ln>
          </p:spPr>
          <p:txBody>
            <a:bodyPr/>
            <a:lstStyle/>
            <a:p>
              <a:endParaRPr lang="zh-CN" altLang="en-US"/>
            </a:p>
          </p:txBody>
        </p:sp>
        <p:sp>
          <p:nvSpPr>
            <p:cNvPr id="49" name="Freeform 47"/>
            <p:cNvSpPr>
              <a:spLocks/>
            </p:cNvSpPr>
            <p:nvPr/>
          </p:nvSpPr>
          <p:spPr bwMode="auto">
            <a:xfrm>
              <a:off x="2916" y="1239"/>
              <a:ext cx="48" cy="700"/>
            </a:xfrm>
            <a:custGeom>
              <a:avLst/>
              <a:gdLst/>
              <a:ahLst/>
              <a:cxnLst>
                <a:cxn ang="0">
                  <a:pos x="34" y="700"/>
                </a:cxn>
                <a:cxn ang="0">
                  <a:pos x="40" y="633"/>
                </a:cxn>
                <a:cxn ang="0">
                  <a:pos x="43" y="562"/>
                </a:cxn>
                <a:cxn ang="0">
                  <a:pos x="46" y="491"/>
                </a:cxn>
                <a:cxn ang="0">
                  <a:pos x="48" y="421"/>
                </a:cxn>
                <a:cxn ang="0">
                  <a:pos x="48" y="348"/>
                </a:cxn>
                <a:cxn ang="0">
                  <a:pos x="46" y="277"/>
                </a:cxn>
                <a:cxn ang="0">
                  <a:pos x="40" y="206"/>
                </a:cxn>
                <a:cxn ang="0">
                  <a:pos x="31" y="136"/>
                </a:cxn>
                <a:cxn ang="0">
                  <a:pos x="17" y="68"/>
                </a:cxn>
                <a:cxn ang="0">
                  <a:pos x="0" y="0"/>
                </a:cxn>
              </a:cxnLst>
              <a:rect l="0" t="0" r="r" b="b"/>
              <a:pathLst>
                <a:path w="48" h="700">
                  <a:moveTo>
                    <a:pt x="34" y="700"/>
                  </a:moveTo>
                  <a:lnTo>
                    <a:pt x="40" y="633"/>
                  </a:lnTo>
                  <a:lnTo>
                    <a:pt x="43" y="562"/>
                  </a:lnTo>
                  <a:lnTo>
                    <a:pt x="46" y="491"/>
                  </a:lnTo>
                  <a:lnTo>
                    <a:pt x="48" y="421"/>
                  </a:lnTo>
                  <a:lnTo>
                    <a:pt x="48" y="348"/>
                  </a:lnTo>
                  <a:lnTo>
                    <a:pt x="46" y="277"/>
                  </a:lnTo>
                  <a:lnTo>
                    <a:pt x="40" y="206"/>
                  </a:lnTo>
                  <a:lnTo>
                    <a:pt x="31" y="136"/>
                  </a:lnTo>
                  <a:lnTo>
                    <a:pt x="17" y="68"/>
                  </a:lnTo>
                  <a:lnTo>
                    <a:pt x="0" y="0"/>
                  </a:lnTo>
                </a:path>
              </a:pathLst>
            </a:custGeom>
            <a:solidFill>
              <a:srgbClr val="FFFF00"/>
            </a:solidFill>
            <a:ln w="9525">
              <a:solidFill>
                <a:srgbClr val="000000"/>
              </a:solidFill>
              <a:prstDash val="solid"/>
              <a:round/>
              <a:headEnd/>
              <a:tailEnd/>
            </a:ln>
          </p:spPr>
          <p:txBody>
            <a:bodyPr/>
            <a:lstStyle/>
            <a:p>
              <a:endParaRPr lang="zh-CN" altLang="en-US"/>
            </a:p>
          </p:txBody>
        </p:sp>
        <p:sp>
          <p:nvSpPr>
            <p:cNvPr id="50" name="Rectangle 48"/>
            <p:cNvSpPr>
              <a:spLocks noChangeArrowheads="1"/>
            </p:cNvSpPr>
            <p:nvPr/>
          </p:nvSpPr>
          <p:spPr bwMode="auto">
            <a:xfrm>
              <a:off x="3007" y="1226"/>
              <a:ext cx="54" cy="116"/>
            </a:xfrm>
            <a:prstGeom prst="rect">
              <a:avLst/>
            </a:prstGeom>
            <a:solidFill>
              <a:srgbClr val="FFFF00"/>
            </a:solidFill>
            <a:ln w="9525">
              <a:noFill/>
              <a:miter lim="800000"/>
              <a:headEnd/>
              <a:tailEnd/>
            </a:ln>
          </p:spPr>
          <p:txBody>
            <a:bodyPr wrap="none" lIns="0" tIns="0" rIns="0" bIns="0">
              <a:spAutoFit/>
            </a:bodyPr>
            <a:lstStyle/>
            <a:p>
              <a:r>
                <a:rPr lang="en-US" altLang="zh-CN" sz="1200">
                  <a:solidFill>
                    <a:srgbClr val="000000"/>
                  </a:solidFill>
                </a:rPr>
                <a:t>u</a:t>
              </a:r>
              <a:endParaRPr lang="en-US" altLang="zh-CN"/>
            </a:p>
          </p:txBody>
        </p:sp>
        <p:sp>
          <p:nvSpPr>
            <p:cNvPr id="51" name="Rectangle 49"/>
            <p:cNvSpPr>
              <a:spLocks noChangeArrowheads="1"/>
            </p:cNvSpPr>
            <p:nvPr/>
          </p:nvSpPr>
          <p:spPr bwMode="auto">
            <a:xfrm>
              <a:off x="3058" y="1226"/>
              <a:ext cx="165" cy="116"/>
            </a:xfrm>
            <a:prstGeom prst="rect">
              <a:avLst/>
            </a:prstGeom>
            <a:solidFill>
              <a:srgbClr val="FFFF00"/>
            </a:solidFill>
            <a:ln w="9525">
              <a:noFill/>
              <a:miter lim="800000"/>
              <a:headEnd/>
              <a:tailEnd/>
            </a:ln>
          </p:spPr>
          <p:txBody>
            <a:bodyPr wrap="none" lIns="0" tIns="0" rIns="0" bIns="0">
              <a:spAutoFit/>
            </a:bodyPr>
            <a:lstStyle/>
            <a:p>
              <a:r>
                <a:rPr lang="zh-CN" altLang="en-US" sz="1200">
                  <a:solidFill>
                    <a:srgbClr val="000000"/>
                  </a:solidFill>
                </a:rPr>
                <a:t> = ?</a:t>
              </a:r>
              <a:endParaRPr lang="zh-CN" altLang="en-US"/>
            </a:p>
          </p:txBody>
        </p:sp>
      </p:grpSp>
      <p:grpSp>
        <p:nvGrpSpPr>
          <p:cNvPr id="52" name="Group 50"/>
          <p:cNvGrpSpPr>
            <a:grpSpLocks/>
          </p:cNvGrpSpPr>
          <p:nvPr/>
        </p:nvGrpSpPr>
        <p:grpSpPr bwMode="auto">
          <a:xfrm>
            <a:off x="6692949" y="1939080"/>
            <a:ext cx="588963" cy="717550"/>
            <a:chOff x="1496" y="1160"/>
            <a:chExt cx="371" cy="452"/>
          </a:xfrm>
        </p:grpSpPr>
        <p:sp>
          <p:nvSpPr>
            <p:cNvPr id="53" name="Freeform 51"/>
            <p:cNvSpPr>
              <a:spLocks/>
            </p:cNvSpPr>
            <p:nvPr/>
          </p:nvSpPr>
          <p:spPr bwMode="auto">
            <a:xfrm>
              <a:off x="1496" y="1160"/>
              <a:ext cx="71" cy="88"/>
            </a:xfrm>
            <a:custGeom>
              <a:avLst/>
              <a:gdLst/>
              <a:ahLst/>
              <a:cxnLst>
                <a:cxn ang="0">
                  <a:pos x="51" y="71"/>
                </a:cxn>
                <a:cxn ang="0">
                  <a:pos x="31" y="88"/>
                </a:cxn>
                <a:cxn ang="0">
                  <a:pos x="0" y="0"/>
                </a:cxn>
                <a:cxn ang="0">
                  <a:pos x="71" y="57"/>
                </a:cxn>
                <a:cxn ang="0">
                  <a:pos x="51" y="71"/>
                </a:cxn>
              </a:cxnLst>
              <a:rect l="0" t="0" r="r" b="b"/>
              <a:pathLst>
                <a:path w="71" h="88">
                  <a:moveTo>
                    <a:pt x="51" y="71"/>
                  </a:moveTo>
                  <a:lnTo>
                    <a:pt x="31" y="88"/>
                  </a:lnTo>
                  <a:lnTo>
                    <a:pt x="0" y="0"/>
                  </a:lnTo>
                  <a:lnTo>
                    <a:pt x="71" y="57"/>
                  </a:lnTo>
                  <a:lnTo>
                    <a:pt x="51" y="71"/>
                  </a:lnTo>
                </a:path>
              </a:pathLst>
            </a:custGeom>
            <a:solidFill>
              <a:srgbClr val="FFFF00"/>
            </a:solidFill>
            <a:ln w="9525">
              <a:solidFill>
                <a:srgbClr val="000000"/>
              </a:solidFill>
              <a:prstDash val="solid"/>
              <a:round/>
              <a:headEnd/>
              <a:tailEnd/>
            </a:ln>
          </p:spPr>
          <p:txBody>
            <a:bodyPr/>
            <a:lstStyle/>
            <a:p>
              <a:endParaRPr lang="zh-CN" altLang="en-US"/>
            </a:p>
          </p:txBody>
        </p:sp>
        <p:sp>
          <p:nvSpPr>
            <p:cNvPr id="54" name="Freeform 52"/>
            <p:cNvSpPr>
              <a:spLocks/>
            </p:cNvSpPr>
            <p:nvPr/>
          </p:nvSpPr>
          <p:spPr bwMode="auto">
            <a:xfrm>
              <a:off x="1496" y="1160"/>
              <a:ext cx="71" cy="88"/>
            </a:xfrm>
            <a:custGeom>
              <a:avLst/>
              <a:gdLst/>
              <a:ahLst/>
              <a:cxnLst>
                <a:cxn ang="0">
                  <a:pos x="51" y="71"/>
                </a:cxn>
                <a:cxn ang="0">
                  <a:pos x="31" y="88"/>
                </a:cxn>
                <a:cxn ang="0">
                  <a:pos x="0" y="0"/>
                </a:cxn>
                <a:cxn ang="0">
                  <a:pos x="71" y="57"/>
                </a:cxn>
                <a:cxn ang="0">
                  <a:pos x="51" y="71"/>
                </a:cxn>
              </a:cxnLst>
              <a:rect l="0" t="0" r="r" b="b"/>
              <a:pathLst>
                <a:path w="71" h="88">
                  <a:moveTo>
                    <a:pt x="51" y="71"/>
                  </a:moveTo>
                  <a:lnTo>
                    <a:pt x="31" y="88"/>
                  </a:lnTo>
                  <a:lnTo>
                    <a:pt x="0" y="0"/>
                  </a:lnTo>
                  <a:lnTo>
                    <a:pt x="71" y="57"/>
                  </a:lnTo>
                  <a:lnTo>
                    <a:pt x="51" y="71"/>
                  </a:lnTo>
                  <a:close/>
                </a:path>
              </a:pathLst>
            </a:custGeom>
            <a:solidFill>
              <a:srgbClr val="FFFF00"/>
            </a:solidFill>
            <a:ln w="9525">
              <a:noFill/>
              <a:round/>
              <a:headEnd/>
              <a:tailEnd/>
            </a:ln>
          </p:spPr>
          <p:txBody>
            <a:bodyPr/>
            <a:lstStyle/>
            <a:p>
              <a:endParaRPr lang="zh-CN" altLang="en-US"/>
            </a:p>
          </p:txBody>
        </p:sp>
        <p:sp>
          <p:nvSpPr>
            <p:cNvPr id="55" name="Freeform 53"/>
            <p:cNvSpPr>
              <a:spLocks/>
            </p:cNvSpPr>
            <p:nvPr/>
          </p:nvSpPr>
          <p:spPr bwMode="auto">
            <a:xfrm>
              <a:off x="1550" y="1234"/>
              <a:ext cx="40" cy="378"/>
            </a:xfrm>
            <a:custGeom>
              <a:avLst/>
              <a:gdLst/>
              <a:ahLst/>
              <a:cxnLst>
                <a:cxn ang="0">
                  <a:pos x="14" y="378"/>
                </a:cxn>
                <a:cxn ang="0">
                  <a:pos x="20" y="344"/>
                </a:cxn>
                <a:cxn ang="0">
                  <a:pos x="25" y="305"/>
                </a:cxn>
                <a:cxn ang="0">
                  <a:pos x="28" y="265"/>
                </a:cxn>
                <a:cxn ang="0">
                  <a:pos x="34" y="226"/>
                </a:cxn>
                <a:cxn ang="0">
                  <a:pos x="37" y="183"/>
                </a:cxn>
                <a:cxn ang="0">
                  <a:pos x="40" y="144"/>
                </a:cxn>
                <a:cxn ang="0">
                  <a:pos x="37" y="104"/>
                </a:cxn>
                <a:cxn ang="0">
                  <a:pos x="28" y="67"/>
                </a:cxn>
                <a:cxn ang="0">
                  <a:pos x="17" y="34"/>
                </a:cxn>
                <a:cxn ang="0">
                  <a:pos x="0" y="0"/>
                </a:cxn>
              </a:cxnLst>
              <a:rect l="0" t="0" r="r" b="b"/>
              <a:pathLst>
                <a:path w="40" h="378">
                  <a:moveTo>
                    <a:pt x="14" y="378"/>
                  </a:moveTo>
                  <a:lnTo>
                    <a:pt x="20" y="344"/>
                  </a:lnTo>
                  <a:lnTo>
                    <a:pt x="25" y="305"/>
                  </a:lnTo>
                  <a:lnTo>
                    <a:pt x="28" y="265"/>
                  </a:lnTo>
                  <a:lnTo>
                    <a:pt x="34" y="226"/>
                  </a:lnTo>
                  <a:lnTo>
                    <a:pt x="37" y="183"/>
                  </a:lnTo>
                  <a:lnTo>
                    <a:pt x="40" y="144"/>
                  </a:lnTo>
                  <a:lnTo>
                    <a:pt x="37" y="104"/>
                  </a:lnTo>
                  <a:lnTo>
                    <a:pt x="28" y="67"/>
                  </a:lnTo>
                  <a:lnTo>
                    <a:pt x="17" y="34"/>
                  </a:lnTo>
                  <a:lnTo>
                    <a:pt x="0" y="0"/>
                  </a:lnTo>
                </a:path>
              </a:pathLst>
            </a:custGeom>
            <a:solidFill>
              <a:srgbClr val="FFFF00"/>
            </a:solidFill>
            <a:ln w="9525">
              <a:solidFill>
                <a:srgbClr val="000000"/>
              </a:solidFill>
              <a:prstDash val="solid"/>
              <a:round/>
              <a:headEnd/>
              <a:tailEnd/>
            </a:ln>
          </p:spPr>
          <p:txBody>
            <a:bodyPr/>
            <a:lstStyle/>
            <a:p>
              <a:endParaRPr lang="zh-CN" altLang="en-US"/>
            </a:p>
          </p:txBody>
        </p:sp>
        <p:sp>
          <p:nvSpPr>
            <p:cNvPr id="56" name="Freeform 54"/>
            <p:cNvSpPr>
              <a:spLocks/>
            </p:cNvSpPr>
            <p:nvPr/>
          </p:nvSpPr>
          <p:spPr bwMode="auto">
            <a:xfrm>
              <a:off x="1609" y="1369"/>
              <a:ext cx="212" cy="212"/>
            </a:xfrm>
            <a:custGeom>
              <a:avLst/>
              <a:gdLst/>
              <a:ahLst/>
              <a:cxnLst>
                <a:cxn ang="0">
                  <a:pos x="209" y="105"/>
                </a:cxn>
                <a:cxn ang="0">
                  <a:pos x="209" y="124"/>
                </a:cxn>
                <a:cxn ang="0">
                  <a:pos x="206" y="141"/>
                </a:cxn>
                <a:cxn ang="0">
                  <a:pos x="201" y="155"/>
                </a:cxn>
                <a:cxn ang="0">
                  <a:pos x="192" y="170"/>
                </a:cxn>
                <a:cxn ang="0">
                  <a:pos x="181" y="181"/>
                </a:cxn>
                <a:cxn ang="0">
                  <a:pos x="167" y="192"/>
                </a:cxn>
                <a:cxn ang="0">
                  <a:pos x="156" y="201"/>
                </a:cxn>
                <a:cxn ang="0">
                  <a:pos x="139" y="206"/>
                </a:cxn>
                <a:cxn ang="0">
                  <a:pos x="122" y="212"/>
                </a:cxn>
                <a:cxn ang="0">
                  <a:pos x="105" y="212"/>
                </a:cxn>
                <a:cxn ang="0">
                  <a:pos x="88" y="212"/>
                </a:cxn>
                <a:cxn ang="0">
                  <a:pos x="71" y="206"/>
                </a:cxn>
                <a:cxn ang="0">
                  <a:pos x="57" y="201"/>
                </a:cxn>
                <a:cxn ang="0">
                  <a:pos x="43" y="192"/>
                </a:cxn>
                <a:cxn ang="0">
                  <a:pos x="31" y="181"/>
                </a:cxn>
                <a:cxn ang="0">
                  <a:pos x="20" y="170"/>
                </a:cxn>
                <a:cxn ang="0">
                  <a:pos x="12" y="155"/>
                </a:cxn>
                <a:cxn ang="0">
                  <a:pos x="6" y="141"/>
                </a:cxn>
                <a:cxn ang="0">
                  <a:pos x="0" y="124"/>
                </a:cxn>
                <a:cxn ang="0">
                  <a:pos x="0" y="107"/>
                </a:cxn>
                <a:cxn ang="0">
                  <a:pos x="0" y="91"/>
                </a:cxn>
                <a:cxn ang="0">
                  <a:pos x="6" y="74"/>
                </a:cxn>
                <a:cxn ang="0">
                  <a:pos x="12" y="59"/>
                </a:cxn>
                <a:cxn ang="0">
                  <a:pos x="20" y="45"/>
                </a:cxn>
                <a:cxn ang="0">
                  <a:pos x="31" y="31"/>
                </a:cxn>
                <a:cxn ang="0">
                  <a:pos x="43" y="20"/>
                </a:cxn>
                <a:cxn ang="0">
                  <a:pos x="57" y="11"/>
                </a:cxn>
                <a:cxn ang="0">
                  <a:pos x="71" y="6"/>
                </a:cxn>
                <a:cxn ang="0">
                  <a:pos x="88" y="3"/>
                </a:cxn>
                <a:cxn ang="0">
                  <a:pos x="105" y="0"/>
                </a:cxn>
                <a:cxn ang="0">
                  <a:pos x="122" y="3"/>
                </a:cxn>
                <a:cxn ang="0">
                  <a:pos x="139" y="6"/>
                </a:cxn>
                <a:cxn ang="0">
                  <a:pos x="156" y="11"/>
                </a:cxn>
                <a:cxn ang="0">
                  <a:pos x="167" y="20"/>
                </a:cxn>
                <a:cxn ang="0">
                  <a:pos x="181" y="31"/>
                </a:cxn>
                <a:cxn ang="0">
                  <a:pos x="192" y="45"/>
                </a:cxn>
                <a:cxn ang="0">
                  <a:pos x="201" y="59"/>
                </a:cxn>
                <a:cxn ang="0">
                  <a:pos x="206" y="74"/>
                </a:cxn>
                <a:cxn ang="0">
                  <a:pos x="209" y="91"/>
                </a:cxn>
                <a:cxn ang="0">
                  <a:pos x="212" y="107"/>
                </a:cxn>
                <a:cxn ang="0">
                  <a:pos x="209" y="105"/>
                </a:cxn>
              </a:cxnLst>
              <a:rect l="0" t="0" r="r" b="b"/>
              <a:pathLst>
                <a:path w="212" h="212">
                  <a:moveTo>
                    <a:pt x="209" y="105"/>
                  </a:moveTo>
                  <a:lnTo>
                    <a:pt x="209" y="124"/>
                  </a:lnTo>
                  <a:lnTo>
                    <a:pt x="206" y="141"/>
                  </a:lnTo>
                  <a:lnTo>
                    <a:pt x="201" y="155"/>
                  </a:lnTo>
                  <a:lnTo>
                    <a:pt x="192" y="170"/>
                  </a:lnTo>
                  <a:lnTo>
                    <a:pt x="181" y="181"/>
                  </a:lnTo>
                  <a:lnTo>
                    <a:pt x="167" y="192"/>
                  </a:lnTo>
                  <a:lnTo>
                    <a:pt x="156" y="201"/>
                  </a:lnTo>
                  <a:lnTo>
                    <a:pt x="139" y="206"/>
                  </a:lnTo>
                  <a:lnTo>
                    <a:pt x="122" y="212"/>
                  </a:lnTo>
                  <a:lnTo>
                    <a:pt x="105" y="212"/>
                  </a:lnTo>
                  <a:lnTo>
                    <a:pt x="88" y="212"/>
                  </a:lnTo>
                  <a:lnTo>
                    <a:pt x="71" y="206"/>
                  </a:lnTo>
                  <a:lnTo>
                    <a:pt x="57" y="201"/>
                  </a:lnTo>
                  <a:lnTo>
                    <a:pt x="43" y="192"/>
                  </a:lnTo>
                  <a:lnTo>
                    <a:pt x="31" y="181"/>
                  </a:lnTo>
                  <a:lnTo>
                    <a:pt x="20" y="170"/>
                  </a:lnTo>
                  <a:lnTo>
                    <a:pt x="12" y="155"/>
                  </a:lnTo>
                  <a:lnTo>
                    <a:pt x="6" y="141"/>
                  </a:lnTo>
                  <a:lnTo>
                    <a:pt x="0" y="124"/>
                  </a:lnTo>
                  <a:lnTo>
                    <a:pt x="0" y="107"/>
                  </a:lnTo>
                  <a:lnTo>
                    <a:pt x="0" y="91"/>
                  </a:lnTo>
                  <a:lnTo>
                    <a:pt x="6" y="74"/>
                  </a:lnTo>
                  <a:lnTo>
                    <a:pt x="12" y="59"/>
                  </a:lnTo>
                  <a:lnTo>
                    <a:pt x="20" y="45"/>
                  </a:lnTo>
                  <a:lnTo>
                    <a:pt x="31" y="31"/>
                  </a:lnTo>
                  <a:lnTo>
                    <a:pt x="43" y="20"/>
                  </a:lnTo>
                  <a:lnTo>
                    <a:pt x="57" y="11"/>
                  </a:lnTo>
                  <a:lnTo>
                    <a:pt x="71" y="6"/>
                  </a:lnTo>
                  <a:lnTo>
                    <a:pt x="88" y="3"/>
                  </a:lnTo>
                  <a:lnTo>
                    <a:pt x="105" y="0"/>
                  </a:lnTo>
                  <a:lnTo>
                    <a:pt x="122" y="3"/>
                  </a:lnTo>
                  <a:lnTo>
                    <a:pt x="139" y="6"/>
                  </a:lnTo>
                  <a:lnTo>
                    <a:pt x="156" y="11"/>
                  </a:lnTo>
                  <a:lnTo>
                    <a:pt x="167" y="20"/>
                  </a:lnTo>
                  <a:lnTo>
                    <a:pt x="181" y="31"/>
                  </a:lnTo>
                  <a:lnTo>
                    <a:pt x="192" y="45"/>
                  </a:lnTo>
                  <a:lnTo>
                    <a:pt x="201" y="59"/>
                  </a:lnTo>
                  <a:lnTo>
                    <a:pt x="206" y="74"/>
                  </a:lnTo>
                  <a:lnTo>
                    <a:pt x="209" y="91"/>
                  </a:lnTo>
                  <a:lnTo>
                    <a:pt x="212" y="107"/>
                  </a:lnTo>
                  <a:lnTo>
                    <a:pt x="209" y="105"/>
                  </a:lnTo>
                  <a:close/>
                </a:path>
              </a:pathLst>
            </a:custGeom>
            <a:solidFill>
              <a:srgbClr val="FFFF00"/>
            </a:solidFill>
            <a:ln w="9525">
              <a:noFill/>
              <a:round/>
              <a:headEnd/>
              <a:tailEnd/>
            </a:ln>
          </p:spPr>
          <p:txBody>
            <a:bodyPr/>
            <a:lstStyle/>
            <a:p>
              <a:endParaRPr lang="zh-CN" altLang="en-US"/>
            </a:p>
          </p:txBody>
        </p:sp>
        <p:sp>
          <p:nvSpPr>
            <p:cNvPr id="57" name="Freeform 55"/>
            <p:cNvSpPr>
              <a:spLocks/>
            </p:cNvSpPr>
            <p:nvPr/>
          </p:nvSpPr>
          <p:spPr bwMode="auto">
            <a:xfrm>
              <a:off x="1609" y="1369"/>
              <a:ext cx="212" cy="212"/>
            </a:xfrm>
            <a:custGeom>
              <a:avLst/>
              <a:gdLst/>
              <a:ahLst/>
              <a:cxnLst>
                <a:cxn ang="0">
                  <a:pos x="209" y="105"/>
                </a:cxn>
                <a:cxn ang="0">
                  <a:pos x="209" y="91"/>
                </a:cxn>
                <a:cxn ang="0">
                  <a:pos x="206" y="74"/>
                </a:cxn>
                <a:cxn ang="0">
                  <a:pos x="201" y="59"/>
                </a:cxn>
                <a:cxn ang="0">
                  <a:pos x="192" y="45"/>
                </a:cxn>
                <a:cxn ang="0">
                  <a:pos x="181" y="31"/>
                </a:cxn>
                <a:cxn ang="0">
                  <a:pos x="167" y="20"/>
                </a:cxn>
                <a:cxn ang="0">
                  <a:pos x="156" y="11"/>
                </a:cxn>
                <a:cxn ang="0">
                  <a:pos x="139" y="6"/>
                </a:cxn>
                <a:cxn ang="0">
                  <a:pos x="122" y="3"/>
                </a:cxn>
                <a:cxn ang="0">
                  <a:pos x="105" y="0"/>
                </a:cxn>
                <a:cxn ang="0">
                  <a:pos x="88" y="3"/>
                </a:cxn>
                <a:cxn ang="0">
                  <a:pos x="71" y="6"/>
                </a:cxn>
                <a:cxn ang="0">
                  <a:pos x="57" y="11"/>
                </a:cxn>
                <a:cxn ang="0">
                  <a:pos x="43" y="20"/>
                </a:cxn>
                <a:cxn ang="0">
                  <a:pos x="31" y="31"/>
                </a:cxn>
                <a:cxn ang="0">
                  <a:pos x="20" y="45"/>
                </a:cxn>
                <a:cxn ang="0">
                  <a:pos x="12" y="59"/>
                </a:cxn>
                <a:cxn ang="0">
                  <a:pos x="6" y="74"/>
                </a:cxn>
                <a:cxn ang="0">
                  <a:pos x="0" y="91"/>
                </a:cxn>
                <a:cxn ang="0">
                  <a:pos x="0" y="107"/>
                </a:cxn>
                <a:cxn ang="0">
                  <a:pos x="0" y="124"/>
                </a:cxn>
                <a:cxn ang="0">
                  <a:pos x="6" y="141"/>
                </a:cxn>
                <a:cxn ang="0">
                  <a:pos x="12" y="155"/>
                </a:cxn>
                <a:cxn ang="0">
                  <a:pos x="20" y="170"/>
                </a:cxn>
                <a:cxn ang="0">
                  <a:pos x="31" y="181"/>
                </a:cxn>
                <a:cxn ang="0">
                  <a:pos x="43" y="192"/>
                </a:cxn>
                <a:cxn ang="0">
                  <a:pos x="57" y="201"/>
                </a:cxn>
                <a:cxn ang="0">
                  <a:pos x="71" y="206"/>
                </a:cxn>
                <a:cxn ang="0">
                  <a:pos x="88" y="212"/>
                </a:cxn>
                <a:cxn ang="0">
                  <a:pos x="105" y="212"/>
                </a:cxn>
                <a:cxn ang="0">
                  <a:pos x="122" y="212"/>
                </a:cxn>
                <a:cxn ang="0">
                  <a:pos x="139" y="206"/>
                </a:cxn>
                <a:cxn ang="0">
                  <a:pos x="156" y="201"/>
                </a:cxn>
                <a:cxn ang="0">
                  <a:pos x="167" y="192"/>
                </a:cxn>
                <a:cxn ang="0">
                  <a:pos x="181" y="181"/>
                </a:cxn>
                <a:cxn ang="0">
                  <a:pos x="192" y="170"/>
                </a:cxn>
                <a:cxn ang="0">
                  <a:pos x="201" y="155"/>
                </a:cxn>
                <a:cxn ang="0">
                  <a:pos x="206" y="141"/>
                </a:cxn>
                <a:cxn ang="0">
                  <a:pos x="209" y="124"/>
                </a:cxn>
                <a:cxn ang="0">
                  <a:pos x="212" y="107"/>
                </a:cxn>
                <a:cxn ang="0">
                  <a:pos x="212" y="107"/>
                </a:cxn>
              </a:cxnLst>
              <a:rect l="0" t="0" r="r" b="b"/>
              <a:pathLst>
                <a:path w="212" h="212">
                  <a:moveTo>
                    <a:pt x="209" y="105"/>
                  </a:moveTo>
                  <a:lnTo>
                    <a:pt x="209" y="91"/>
                  </a:lnTo>
                  <a:lnTo>
                    <a:pt x="206" y="74"/>
                  </a:lnTo>
                  <a:lnTo>
                    <a:pt x="201" y="59"/>
                  </a:lnTo>
                  <a:lnTo>
                    <a:pt x="192" y="45"/>
                  </a:lnTo>
                  <a:lnTo>
                    <a:pt x="181" y="31"/>
                  </a:lnTo>
                  <a:lnTo>
                    <a:pt x="167" y="20"/>
                  </a:lnTo>
                  <a:lnTo>
                    <a:pt x="156" y="11"/>
                  </a:lnTo>
                  <a:lnTo>
                    <a:pt x="139" y="6"/>
                  </a:lnTo>
                  <a:lnTo>
                    <a:pt x="122" y="3"/>
                  </a:lnTo>
                  <a:lnTo>
                    <a:pt x="105" y="0"/>
                  </a:lnTo>
                  <a:lnTo>
                    <a:pt x="88" y="3"/>
                  </a:lnTo>
                  <a:lnTo>
                    <a:pt x="71" y="6"/>
                  </a:lnTo>
                  <a:lnTo>
                    <a:pt x="57" y="11"/>
                  </a:lnTo>
                  <a:lnTo>
                    <a:pt x="43" y="20"/>
                  </a:lnTo>
                  <a:lnTo>
                    <a:pt x="31" y="31"/>
                  </a:lnTo>
                  <a:lnTo>
                    <a:pt x="20" y="45"/>
                  </a:lnTo>
                  <a:lnTo>
                    <a:pt x="12" y="59"/>
                  </a:lnTo>
                  <a:lnTo>
                    <a:pt x="6" y="74"/>
                  </a:lnTo>
                  <a:lnTo>
                    <a:pt x="0" y="91"/>
                  </a:lnTo>
                  <a:lnTo>
                    <a:pt x="0" y="107"/>
                  </a:lnTo>
                  <a:lnTo>
                    <a:pt x="0" y="124"/>
                  </a:lnTo>
                  <a:lnTo>
                    <a:pt x="6" y="141"/>
                  </a:lnTo>
                  <a:lnTo>
                    <a:pt x="12" y="155"/>
                  </a:lnTo>
                  <a:lnTo>
                    <a:pt x="20" y="170"/>
                  </a:lnTo>
                  <a:lnTo>
                    <a:pt x="31" y="181"/>
                  </a:lnTo>
                  <a:lnTo>
                    <a:pt x="43" y="192"/>
                  </a:lnTo>
                  <a:lnTo>
                    <a:pt x="57" y="201"/>
                  </a:lnTo>
                  <a:lnTo>
                    <a:pt x="71" y="206"/>
                  </a:lnTo>
                  <a:lnTo>
                    <a:pt x="88" y="212"/>
                  </a:lnTo>
                  <a:lnTo>
                    <a:pt x="105" y="212"/>
                  </a:lnTo>
                  <a:lnTo>
                    <a:pt x="122" y="212"/>
                  </a:lnTo>
                  <a:lnTo>
                    <a:pt x="139" y="206"/>
                  </a:lnTo>
                  <a:lnTo>
                    <a:pt x="156" y="201"/>
                  </a:lnTo>
                  <a:lnTo>
                    <a:pt x="167" y="192"/>
                  </a:lnTo>
                  <a:lnTo>
                    <a:pt x="181" y="181"/>
                  </a:lnTo>
                  <a:lnTo>
                    <a:pt x="192" y="170"/>
                  </a:lnTo>
                  <a:lnTo>
                    <a:pt x="201" y="155"/>
                  </a:lnTo>
                  <a:lnTo>
                    <a:pt x="206" y="141"/>
                  </a:lnTo>
                  <a:lnTo>
                    <a:pt x="209" y="124"/>
                  </a:lnTo>
                  <a:lnTo>
                    <a:pt x="212" y="107"/>
                  </a:lnTo>
                  <a:lnTo>
                    <a:pt x="212" y="107"/>
                  </a:lnTo>
                </a:path>
              </a:pathLst>
            </a:custGeom>
            <a:solidFill>
              <a:srgbClr val="FFFF00"/>
            </a:solidFill>
            <a:ln w="9525">
              <a:solidFill>
                <a:srgbClr val="000000"/>
              </a:solidFill>
              <a:prstDash val="solid"/>
              <a:round/>
              <a:headEnd/>
              <a:tailEnd/>
            </a:ln>
          </p:spPr>
          <p:txBody>
            <a:bodyPr/>
            <a:lstStyle/>
            <a:p>
              <a:endParaRPr lang="zh-CN" altLang="en-US"/>
            </a:p>
          </p:txBody>
        </p:sp>
        <p:sp>
          <p:nvSpPr>
            <p:cNvPr id="58" name="Rectangle 56"/>
            <p:cNvSpPr>
              <a:spLocks noChangeArrowheads="1"/>
            </p:cNvSpPr>
            <p:nvPr/>
          </p:nvSpPr>
          <p:spPr bwMode="auto">
            <a:xfrm>
              <a:off x="1680" y="1429"/>
              <a:ext cx="54" cy="116"/>
            </a:xfrm>
            <a:prstGeom prst="rect">
              <a:avLst/>
            </a:prstGeom>
            <a:solidFill>
              <a:srgbClr val="FFFF00"/>
            </a:solidFill>
            <a:ln w="9525">
              <a:noFill/>
              <a:miter lim="800000"/>
              <a:headEnd/>
              <a:tailEnd/>
            </a:ln>
          </p:spPr>
          <p:txBody>
            <a:bodyPr wrap="none" lIns="0" tIns="0" rIns="0" bIns="0">
              <a:spAutoFit/>
            </a:bodyPr>
            <a:lstStyle/>
            <a:p>
              <a:r>
                <a:rPr lang="zh-CN" altLang="en-US" sz="1200">
                  <a:solidFill>
                    <a:srgbClr val="000000"/>
                  </a:solidFill>
                </a:rPr>
                <a:t>4</a:t>
              </a:r>
              <a:endParaRPr lang="zh-CN" altLang="en-US"/>
            </a:p>
          </p:txBody>
        </p:sp>
        <p:sp>
          <p:nvSpPr>
            <p:cNvPr id="59" name="Rectangle 57"/>
            <p:cNvSpPr>
              <a:spLocks noChangeArrowheads="1"/>
            </p:cNvSpPr>
            <p:nvPr/>
          </p:nvSpPr>
          <p:spPr bwMode="auto">
            <a:xfrm>
              <a:off x="1649" y="1209"/>
              <a:ext cx="54" cy="116"/>
            </a:xfrm>
            <a:prstGeom prst="rect">
              <a:avLst/>
            </a:prstGeom>
            <a:solidFill>
              <a:srgbClr val="FFFF00"/>
            </a:solidFill>
            <a:ln w="9525">
              <a:noFill/>
              <a:miter lim="800000"/>
              <a:headEnd/>
              <a:tailEnd/>
            </a:ln>
          </p:spPr>
          <p:txBody>
            <a:bodyPr wrap="none" lIns="0" tIns="0" rIns="0" bIns="0">
              <a:spAutoFit/>
            </a:bodyPr>
            <a:lstStyle/>
            <a:p>
              <a:r>
                <a:rPr lang="en-US" altLang="zh-CN" sz="1200">
                  <a:solidFill>
                    <a:srgbClr val="000000"/>
                  </a:solidFill>
                </a:rPr>
                <a:t>u</a:t>
              </a:r>
              <a:endParaRPr lang="en-US" altLang="zh-CN"/>
            </a:p>
          </p:txBody>
        </p:sp>
        <p:sp>
          <p:nvSpPr>
            <p:cNvPr id="60" name="Rectangle 58"/>
            <p:cNvSpPr>
              <a:spLocks noChangeArrowheads="1"/>
            </p:cNvSpPr>
            <p:nvPr/>
          </p:nvSpPr>
          <p:spPr bwMode="auto">
            <a:xfrm>
              <a:off x="1702" y="1209"/>
              <a:ext cx="165" cy="116"/>
            </a:xfrm>
            <a:prstGeom prst="rect">
              <a:avLst/>
            </a:prstGeom>
            <a:solidFill>
              <a:srgbClr val="FFFF00"/>
            </a:solidFill>
            <a:ln w="9525">
              <a:noFill/>
              <a:miter lim="800000"/>
              <a:headEnd/>
              <a:tailEnd/>
            </a:ln>
          </p:spPr>
          <p:txBody>
            <a:bodyPr wrap="none" lIns="0" tIns="0" rIns="0" bIns="0">
              <a:spAutoFit/>
            </a:bodyPr>
            <a:lstStyle/>
            <a:p>
              <a:r>
                <a:rPr lang="zh-CN" altLang="en-US" sz="1200">
                  <a:solidFill>
                    <a:srgbClr val="000000"/>
                  </a:solidFill>
                </a:rPr>
                <a:t> = ?</a:t>
              </a:r>
              <a:endParaRPr lang="zh-CN" altLang="en-US"/>
            </a:p>
          </p:txBody>
        </p:sp>
      </p:grpSp>
      <p:grpSp>
        <p:nvGrpSpPr>
          <p:cNvPr id="61" name="Group 59"/>
          <p:cNvGrpSpPr>
            <a:grpSpLocks/>
          </p:cNvGrpSpPr>
          <p:nvPr/>
        </p:nvGrpSpPr>
        <p:grpSpPr bwMode="auto">
          <a:xfrm>
            <a:off x="7239048" y="4036163"/>
            <a:ext cx="342900" cy="307974"/>
            <a:chOff x="1784" y="2425"/>
            <a:chExt cx="216" cy="194"/>
          </a:xfrm>
        </p:grpSpPr>
        <p:sp>
          <p:nvSpPr>
            <p:cNvPr id="62" name="Rectangle 60"/>
            <p:cNvSpPr>
              <a:spLocks noChangeArrowheads="1"/>
            </p:cNvSpPr>
            <p:nvPr/>
          </p:nvSpPr>
          <p:spPr bwMode="auto">
            <a:xfrm>
              <a:off x="1784" y="2425"/>
              <a:ext cx="81" cy="194"/>
            </a:xfrm>
            <a:prstGeom prst="rect">
              <a:avLst/>
            </a:prstGeom>
            <a:noFill/>
            <a:ln w="9525">
              <a:noFill/>
              <a:miter lim="800000"/>
              <a:headEnd/>
              <a:tailEnd/>
            </a:ln>
          </p:spPr>
          <p:txBody>
            <a:bodyPr wrap="none" lIns="0" tIns="0" rIns="0" bIns="0">
              <a:spAutoFit/>
            </a:bodyPr>
            <a:lstStyle/>
            <a:p>
              <a:r>
                <a:rPr lang="en-US" altLang="zh-CN">
                  <a:solidFill>
                    <a:schemeClr val="hlink"/>
                  </a:solidFill>
                </a:rPr>
                <a:t>u</a:t>
              </a:r>
              <a:endParaRPr lang="en-US" altLang="zh-CN" sz="2000">
                <a:solidFill>
                  <a:schemeClr val="hlink"/>
                </a:solidFill>
              </a:endParaRPr>
            </a:p>
          </p:txBody>
        </p:sp>
        <p:sp>
          <p:nvSpPr>
            <p:cNvPr id="63" name="Rectangle 61"/>
            <p:cNvSpPr>
              <a:spLocks noChangeArrowheads="1"/>
            </p:cNvSpPr>
            <p:nvPr/>
          </p:nvSpPr>
          <p:spPr bwMode="auto">
            <a:xfrm>
              <a:off x="1838" y="2425"/>
              <a:ext cx="162" cy="194"/>
            </a:xfrm>
            <a:prstGeom prst="rect">
              <a:avLst/>
            </a:prstGeom>
            <a:noFill/>
            <a:ln w="9525">
              <a:noFill/>
              <a:miter lim="800000"/>
              <a:headEnd/>
              <a:tailEnd/>
            </a:ln>
          </p:spPr>
          <p:txBody>
            <a:bodyPr wrap="none" lIns="0" tIns="0" rIns="0" bIns="0">
              <a:spAutoFit/>
            </a:bodyPr>
            <a:lstStyle/>
            <a:p>
              <a:r>
                <a:rPr lang="zh-CN" altLang="en-US">
                  <a:solidFill>
                    <a:schemeClr val="hlink"/>
                  </a:solidFill>
                </a:rPr>
                <a:t> :5</a:t>
              </a:r>
              <a:endParaRPr lang="zh-CN" altLang="en-US" sz="2000">
                <a:solidFill>
                  <a:schemeClr val="hlink"/>
                </a:solidFill>
              </a:endParaRPr>
            </a:p>
          </p:txBody>
        </p:sp>
      </p:grpSp>
      <p:grpSp>
        <p:nvGrpSpPr>
          <p:cNvPr id="64" name="Group 62"/>
          <p:cNvGrpSpPr>
            <a:grpSpLocks/>
          </p:cNvGrpSpPr>
          <p:nvPr/>
        </p:nvGrpSpPr>
        <p:grpSpPr bwMode="auto">
          <a:xfrm>
            <a:off x="6230988" y="2701080"/>
            <a:ext cx="793751" cy="1468438"/>
            <a:chOff x="1149" y="1536"/>
            <a:chExt cx="500" cy="925"/>
          </a:xfrm>
        </p:grpSpPr>
        <p:sp>
          <p:nvSpPr>
            <p:cNvPr id="65" name="Rectangle 63"/>
            <p:cNvSpPr>
              <a:spLocks noChangeArrowheads="1"/>
            </p:cNvSpPr>
            <p:nvPr/>
          </p:nvSpPr>
          <p:spPr bwMode="auto">
            <a:xfrm>
              <a:off x="1299" y="2273"/>
              <a:ext cx="54" cy="11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1</a:t>
              </a:r>
              <a:endParaRPr lang="zh-CN" altLang="en-US"/>
            </a:p>
          </p:txBody>
        </p:sp>
        <p:grpSp>
          <p:nvGrpSpPr>
            <p:cNvPr id="66" name="Group 64"/>
            <p:cNvGrpSpPr>
              <a:grpSpLocks/>
            </p:cNvGrpSpPr>
            <p:nvPr/>
          </p:nvGrpSpPr>
          <p:grpSpPr bwMode="auto">
            <a:xfrm>
              <a:off x="1149" y="1536"/>
              <a:ext cx="500" cy="925"/>
              <a:chOff x="1149" y="1536"/>
              <a:chExt cx="500" cy="925"/>
            </a:xfrm>
          </p:grpSpPr>
          <p:grpSp>
            <p:nvGrpSpPr>
              <p:cNvPr id="67" name="Group 65"/>
              <p:cNvGrpSpPr>
                <a:grpSpLocks/>
              </p:cNvGrpSpPr>
              <p:nvPr/>
            </p:nvGrpSpPr>
            <p:grpSpPr bwMode="auto">
              <a:xfrm>
                <a:off x="1220" y="1815"/>
                <a:ext cx="429" cy="646"/>
                <a:chOff x="1220" y="1815"/>
                <a:chExt cx="429" cy="646"/>
              </a:xfrm>
            </p:grpSpPr>
            <p:sp>
              <p:nvSpPr>
                <p:cNvPr id="71" name="Freeform 66"/>
                <p:cNvSpPr>
                  <a:spLocks/>
                </p:cNvSpPr>
                <p:nvPr/>
              </p:nvSpPr>
              <p:spPr bwMode="auto">
                <a:xfrm>
                  <a:off x="1310" y="1815"/>
                  <a:ext cx="339" cy="646"/>
                </a:xfrm>
                <a:custGeom>
                  <a:avLst/>
                  <a:gdLst/>
                  <a:ahLst/>
                  <a:cxnLst>
                    <a:cxn ang="0">
                      <a:pos x="0" y="0"/>
                    </a:cxn>
                    <a:cxn ang="0">
                      <a:pos x="11" y="76"/>
                    </a:cxn>
                    <a:cxn ang="0">
                      <a:pos x="23" y="153"/>
                    </a:cxn>
                    <a:cxn ang="0">
                      <a:pos x="40" y="226"/>
                    </a:cxn>
                    <a:cxn ang="0">
                      <a:pos x="62" y="297"/>
                    </a:cxn>
                    <a:cxn ang="0">
                      <a:pos x="93" y="367"/>
                    </a:cxn>
                    <a:cxn ang="0">
                      <a:pos x="127" y="432"/>
                    </a:cxn>
                    <a:cxn ang="0">
                      <a:pos x="169" y="494"/>
                    </a:cxn>
                    <a:cxn ang="0">
                      <a:pos x="217" y="551"/>
                    </a:cxn>
                    <a:cxn ang="0">
                      <a:pos x="277" y="601"/>
                    </a:cxn>
                    <a:cxn ang="0">
                      <a:pos x="339" y="646"/>
                    </a:cxn>
                  </a:cxnLst>
                  <a:rect l="0" t="0" r="r" b="b"/>
                  <a:pathLst>
                    <a:path w="339" h="646">
                      <a:moveTo>
                        <a:pt x="0" y="0"/>
                      </a:moveTo>
                      <a:lnTo>
                        <a:pt x="11" y="76"/>
                      </a:lnTo>
                      <a:lnTo>
                        <a:pt x="23" y="153"/>
                      </a:lnTo>
                      <a:lnTo>
                        <a:pt x="40" y="226"/>
                      </a:lnTo>
                      <a:lnTo>
                        <a:pt x="62" y="297"/>
                      </a:lnTo>
                      <a:lnTo>
                        <a:pt x="93" y="367"/>
                      </a:lnTo>
                      <a:lnTo>
                        <a:pt x="127" y="432"/>
                      </a:lnTo>
                      <a:lnTo>
                        <a:pt x="169" y="494"/>
                      </a:lnTo>
                      <a:lnTo>
                        <a:pt x="217" y="551"/>
                      </a:lnTo>
                      <a:lnTo>
                        <a:pt x="277" y="601"/>
                      </a:lnTo>
                      <a:lnTo>
                        <a:pt x="339" y="646"/>
                      </a:lnTo>
                    </a:path>
                  </a:pathLst>
                </a:custGeom>
                <a:noFill/>
                <a:ln w="9525">
                  <a:solidFill>
                    <a:srgbClr val="000000"/>
                  </a:solidFill>
                  <a:prstDash val="solid"/>
                  <a:round/>
                  <a:headEnd/>
                  <a:tailEnd/>
                </a:ln>
              </p:spPr>
              <p:txBody>
                <a:bodyPr/>
                <a:lstStyle/>
                <a:p>
                  <a:endParaRPr lang="zh-CN" altLang="en-US"/>
                </a:p>
              </p:txBody>
            </p:sp>
            <p:sp>
              <p:nvSpPr>
                <p:cNvPr id="72" name="Freeform 67"/>
                <p:cNvSpPr>
                  <a:spLocks/>
                </p:cNvSpPr>
                <p:nvPr/>
              </p:nvSpPr>
              <p:spPr bwMode="auto">
                <a:xfrm>
                  <a:off x="1220" y="2224"/>
                  <a:ext cx="211" cy="212"/>
                </a:xfrm>
                <a:custGeom>
                  <a:avLst/>
                  <a:gdLst/>
                  <a:ahLst/>
                  <a:cxnLst>
                    <a:cxn ang="0">
                      <a:pos x="209" y="105"/>
                    </a:cxn>
                    <a:cxn ang="0">
                      <a:pos x="209" y="91"/>
                    </a:cxn>
                    <a:cxn ang="0">
                      <a:pos x="206" y="74"/>
                    </a:cxn>
                    <a:cxn ang="0">
                      <a:pos x="200" y="60"/>
                    </a:cxn>
                    <a:cxn ang="0">
                      <a:pos x="192" y="46"/>
                    </a:cxn>
                    <a:cxn ang="0">
                      <a:pos x="180" y="31"/>
                    </a:cxn>
                    <a:cxn ang="0">
                      <a:pos x="166" y="20"/>
                    </a:cxn>
                    <a:cxn ang="0">
                      <a:pos x="155" y="12"/>
                    </a:cxn>
                    <a:cxn ang="0">
                      <a:pos x="138" y="6"/>
                    </a:cxn>
                    <a:cxn ang="0">
                      <a:pos x="121" y="3"/>
                    </a:cxn>
                    <a:cxn ang="0">
                      <a:pos x="104" y="0"/>
                    </a:cxn>
                    <a:cxn ang="0">
                      <a:pos x="87" y="3"/>
                    </a:cxn>
                    <a:cxn ang="0">
                      <a:pos x="70" y="6"/>
                    </a:cxn>
                    <a:cxn ang="0">
                      <a:pos x="56" y="12"/>
                    </a:cxn>
                    <a:cxn ang="0">
                      <a:pos x="42" y="20"/>
                    </a:cxn>
                    <a:cxn ang="0">
                      <a:pos x="31" y="31"/>
                    </a:cxn>
                    <a:cxn ang="0">
                      <a:pos x="19" y="46"/>
                    </a:cxn>
                    <a:cxn ang="0">
                      <a:pos x="11" y="60"/>
                    </a:cxn>
                    <a:cxn ang="0">
                      <a:pos x="5" y="74"/>
                    </a:cxn>
                    <a:cxn ang="0">
                      <a:pos x="0" y="91"/>
                    </a:cxn>
                    <a:cxn ang="0">
                      <a:pos x="0" y="108"/>
                    </a:cxn>
                    <a:cxn ang="0">
                      <a:pos x="0" y="125"/>
                    </a:cxn>
                    <a:cxn ang="0">
                      <a:pos x="5" y="142"/>
                    </a:cxn>
                    <a:cxn ang="0">
                      <a:pos x="11" y="156"/>
                    </a:cxn>
                    <a:cxn ang="0">
                      <a:pos x="19" y="170"/>
                    </a:cxn>
                    <a:cxn ang="0">
                      <a:pos x="31" y="181"/>
                    </a:cxn>
                    <a:cxn ang="0">
                      <a:pos x="42" y="192"/>
                    </a:cxn>
                    <a:cxn ang="0">
                      <a:pos x="56" y="201"/>
                    </a:cxn>
                    <a:cxn ang="0">
                      <a:pos x="70" y="206"/>
                    </a:cxn>
                    <a:cxn ang="0">
                      <a:pos x="87" y="212"/>
                    </a:cxn>
                    <a:cxn ang="0">
                      <a:pos x="104" y="212"/>
                    </a:cxn>
                    <a:cxn ang="0">
                      <a:pos x="121" y="212"/>
                    </a:cxn>
                    <a:cxn ang="0">
                      <a:pos x="138" y="206"/>
                    </a:cxn>
                    <a:cxn ang="0">
                      <a:pos x="155" y="201"/>
                    </a:cxn>
                    <a:cxn ang="0">
                      <a:pos x="166" y="192"/>
                    </a:cxn>
                    <a:cxn ang="0">
                      <a:pos x="180" y="181"/>
                    </a:cxn>
                    <a:cxn ang="0">
                      <a:pos x="192" y="170"/>
                    </a:cxn>
                    <a:cxn ang="0">
                      <a:pos x="200" y="156"/>
                    </a:cxn>
                    <a:cxn ang="0">
                      <a:pos x="206" y="142"/>
                    </a:cxn>
                    <a:cxn ang="0">
                      <a:pos x="209" y="125"/>
                    </a:cxn>
                    <a:cxn ang="0">
                      <a:pos x="211" y="108"/>
                    </a:cxn>
                    <a:cxn ang="0">
                      <a:pos x="211" y="108"/>
                    </a:cxn>
                  </a:cxnLst>
                  <a:rect l="0" t="0" r="r" b="b"/>
                  <a:pathLst>
                    <a:path w="211" h="212">
                      <a:moveTo>
                        <a:pt x="209" y="105"/>
                      </a:moveTo>
                      <a:lnTo>
                        <a:pt x="209" y="91"/>
                      </a:lnTo>
                      <a:lnTo>
                        <a:pt x="206" y="74"/>
                      </a:lnTo>
                      <a:lnTo>
                        <a:pt x="200" y="60"/>
                      </a:lnTo>
                      <a:lnTo>
                        <a:pt x="192" y="46"/>
                      </a:lnTo>
                      <a:lnTo>
                        <a:pt x="180" y="31"/>
                      </a:lnTo>
                      <a:lnTo>
                        <a:pt x="166" y="20"/>
                      </a:lnTo>
                      <a:lnTo>
                        <a:pt x="155" y="12"/>
                      </a:lnTo>
                      <a:lnTo>
                        <a:pt x="138" y="6"/>
                      </a:lnTo>
                      <a:lnTo>
                        <a:pt x="121" y="3"/>
                      </a:lnTo>
                      <a:lnTo>
                        <a:pt x="104" y="0"/>
                      </a:lnTo>
                      <a:lnTo>
                        <a:pt x="87" y="3"/>
                      </a:lnTo>
                      <a:lnTo>
                        <a:pt x="70" y="6"/>
                      </a:lnTo>
                      <a:lnTo>
                        <a:pt x="56" y="12"/>
                      </a:lnTo>
                      <a:lnTo>
                        <a:pt x="42" y="20"/>
                      </a:lnTo>
                      <a:lnTo>
                        <a:pt x="31" y="31"/>
                      </a:lnTo>
                      <a:lnTo>
                        <a:pt x="19" y="46"/>
                      </a:lnTo>
                      <a:lnTo>
                        <a:pt x="11" y="60"/>
                      </a:lnTo>
                      <a:lnTo>
                        <a:pt x="5" y="74"/>
                      </a:lnTo>
                      <a:lnTo>
                        <a:pt x="0" y="91"/>
                      </a:lnTo>
                      <a:lnTo>
                        <a:pt x="0" y="108"/>
                      </a:lnTo>
                      <a:lnTo>
                        <a:pt x="0" y="125"/>
                      </a:lnTo>
                      <a:lnTo>
                        <a:pt x="5" y="142"/>
                      </a:lnTo>
                      <a:lnTo>
                        <a:pt x="11" y="156"/>
                      </a:lnTo>
                      <a:lnTo>
                        <a:pt x="19" y="170"/>
                      </a:lnTo>
                      <a:lnTo>
                        <a:pt x="31" y="181"/>
                      </a:lnTo>
                      <a:lnTo>
                        <a:pt x="42" y="192"/>
                      </a:lnTo>
                      <a:lnTo>
                        <a:pt x="56" y="201"/>
                      </a:lnTo>
                      <a:lnTo>
                        <a:pt x="70" y="206"/>
                      </a:lnTo>
                      <a:lnTo>
                        <a:pt x="87" y="212"/>
                      </a:lnTo>
                      <a:lnTo>
                        <a:pt x="104" y="212"/>
                      </a:lnTo>
                      <a:lnTo>
                        <a:pt x="121" y="212"/>
                      </a:lnTo>
                      <a:lnTo>
                        <a:pt x="138" y="206"/>
                      </a:lnTo>
                      <a:lnTo>
                        <a:pt x="155" y="201"/>
                      </a:lnTo>
                      <a:lnTo>
                        <a:pt x="166" y="192"/>
                      </a:lnTo>
                      <a:lnTo>
                        <a:pt x="180" y="181"/>
                      </a:lnTo>
                      <a:lnTo>
                        <a:pt x="192" y="170"/>
                      </a:lnTo>
                      <a:lnTo>
                        <a:pt x="200" y="156"/>
                      </a:lnTo>
                      <a:lnTo>
                        <a:pt x="206" y="142"/>
                      </a:lnTo>
                      <a:lnTo>
                        <a:pt x="209" y="125"/>
                      </a:lnTo>
                      <a:lnTo>
                        <a:pt x="211" y="108"/>
                      </a:lnTo>
                      <a:lnTo>
                        <a:pt x="211" y="108"/>
                      </a:lnTo>
                    </a:path>
                  </a:pathLst>
                </a:custGeom>
                <a:noFill/>
                <a:ln w="9525">
                  <a:solidFill>
                    <a:srgbClr val="000000"/>
                  </a:solidFill>
                  <a:prstDash val="solid"/>
                  <a:round/>
                  <a:headEnd/>
                  <a:tailEnd/>
                </a:ln>
              </p:spPr>
              <p:txBody>
                <a:bodyPr/>
                <a:lstStyle/>
                <a:p>
                  <a:endParaRPr lang="zh-CN" altLang="en-US"/>
                </a:p>
              </p:txBody>
            </p:sp>
          </p:grpSp>
          <p:grpSp>
            <p:nvGrpSpPr>
              <p:cNvPr id="68" name="Group 68"/>
              <p:cNvGrpSpPr>
                <a:grpSpLocks/>
              </p:cNvGrpSpPr>
              <p:nvPr/>
            </p:nvGrpSpPr>
            <p:grpSpPr bwMode="auto">
              <a:xfrm>
                <a:off x="1149" y="1536"/>
                <a:ext cx="232" cy="194"/>
                <a:chOff x="1784" y="2425"/>
                <a:chExt cx="177" cy="194"/>
              </a:xfrm>
            </p:grpSpPr>
            <p:sp>
              <p:nvSpPr>
                <p:cNvPr id="69" name="Rectangle 69"/>
                <p:cNvSpPr>
                  <a:spLocks noChangeArrowheads="1"/>
                </p:cNvSpPr>
                <p:nvPr/>
              </p:nvSpPr>
              <p:spPr bwMode="auto">
                <a:xfrm>
                  <a:off x="1784" y="2425"/>
                  <a:ext cx="62" cy="194"/>
                </a:xfrm>
                <a:prstGeom prst="rect">
                  <a:avLst/>
                </a:prstGeom>
                <a:noFill/>
                <a:ln w="9525">
                  <a:noFill/>
                  <a:miter lim="800000"/>
                  <a:headEnd/>
                  <a:tailEnd/>
                </a:ln>
              </p:spPr>
              <p:txBody>
                <a:bodyPr wrap="none" lIns="0" tIns="0" rIns="0" bIns="0">
                  <a:spAutoFit/>
                </a:bodyPr>
                <a:lstStyle/>
                <a:p>
                  <a:r>
                    <a:rPr lang="en-US" altLang="zh-CN">
                      <a:solidFill>
                        <a:schemeClr val="hlink"/>
                      </a:solidFill>
                    </a:rPr>
                    <a:t>u</a:t>
                  </a:r>
                  <a:endParaRPr lang="en-US" altLang="zh-CN" sz="2000">
                    <a:solidFill>
                      <a:schemeClr val="hlink"/>
                    </a:solidFill>
                  </a:endParaRPr>
                </a:p>
              </p:txBody>
            </p:sp>
            <p:sp>
              <p:nvSpPr>
                <p:cNvPr id="70" name="Rectangle 70"/>
                <p:cNvSpPr>
                  <a:spLocks noChangeArrowheads="1"/>
                </p:cNvSpPr>
                <p:nvPr/>
              </p:nvSpPr>
              <p:spPr bwMode="auto">
                <a:xfrm>
                  <a:off x="1838" y="2425"/>
                  <a:ext cx="123" cy="194"/>
                </a:xfrm>
                <a:prstGeom prst="rect">
                  <a:avLst/>
                </a:prstGeom>
                <a:noFill/>
                <a:ln w="9525">
                  <a:noFill/>
                  <a:miter lim="800000"/>
                  <a:headEnd/>
                  <a:tailEnd/>
                </a:ln>
              </p:spPr>
              <p:txBody>
                <a:bodyPr wrap="none" lIns="0" tIns="0" rIns="0" bIns="0">
                  <a:spAutoFit/>
                </a:bodyPr>
                <a:lstStyle/>
                <a:p>
                  <a:r>
                    <a:rPr lang="zh-CN" altLang="en-US">
                      <a:solidFill>
                        <a:schemeClr val="hlink"/>
                      </a:solidFill>
                    </a:rPr>
                    <a:t> :5</a:t>
                  </a:r>
                  <a:endParaRPr lang="zh-CN" altLang="en-US" sz="2000">
                    <a:solidFill>
                      <a:schemeClr val="hlink"/>
                    </a:solidFill>
                  </a:endParaRPr>
                </a:p>
              </p:txBody>
            </p:sp>
          </p:grpSp>
        </p:grpSp>
      </p:grpSp>
      <p:grpSp>
        <p:nvGrpSpPr>
          <p:cNvPr id="73" name="Group 71"/>
          <p:cNvGrpSpPr>
            <a:grpSpLocks/>
          </p:cNvGrpSpPr>
          <p:nvPr/>
        </p:nvGrpSpPr>
        <p:grpSpPr bwMode="auto">
          <a:xfrm>
            <a:off x="7531149" y="2701081"/>
            <a:ext cx="3517901" cy="1522413"/>
            <a:chOff x="2016" y="1584"/>
            <a:chExt cx="2216" cy="959"/>
          </a:xfrm>
        </p:grpSpPr>
        <p:sp>
          <p:nvSpPr>
            <p:cNvPr id="74" name="Freeform 72"/>
            <p:cNvSpPr>
              <a:spLocks/>
            </p:cNvSpPr>
            <p:nvPr/>
          </p:nvSpPr>
          <p:spPr bwMode="auto">
            <a:xfrm>
              <a:off x="3888" y="1714"/>
              <a:ext cx="81" cy="79"/>
            </a:xfrm>
            <a:custGeom>
              <a:avLst/>
              <a:gdLst/>
              <a:ahLst/>
              <a:cxnLst>
                <a:cxn ang="0">
                  <a:pos x="14" y="59"/>
                </a:cxn>
                <a:cxn ang="0">
                  <a:pos x="0" y="39"/>
                </a:cxn>
                <a:cxn ang="0">
                  <a:pos x="81" y="0"/>
                </a:cxn>
                <a:cxn ang="0">
                  <a:pos x="33" y="79"/>
                </a:cxn>
                <a:cxn ang="0">
                  <a:pos x="16" y="59"/>
                </a:cxn>
              </a:cxnLst>
              <a:rect l="0" t="0" r="r" b="b"/>
              <a:pathLst>
                <a:path w="81" h="79">
                  <a:moveTo>
                    <a:pt x="14" y="59"/>
                  </a:moveTo>
                  <a:lnTo>
                    <a:pt x="0" y="39"/>
                  </a:lnTo>
                  <a:lnTo>
                    <a:pt x="81" y="0"/>
                  </a:lnTo>
                  <a:lnTo>
                    <a:pt x="33" y="79"/>
                  </a:lnTo>
                  <a:lnTo>
                    <a:pt x="16" y="59"/>
                  </a:lnTo>
                </a:path>
              </a:pathLst>
            </a:custGeom>
            <a:noFill/>
            <a:ln w="9525">
              <a:solidFill>
                <a:srgbClr val="000000"/>
              </a:solidFill>
              <a:prstDash val="solid"/>
              <a:round/>
              <a:headEnd/>
              <a:tailEnd/>
            </a:ln>
          </p:spPr>
          <p:txBody>
            <a:bodyPr/>
            <a:lstStyle/>
            <a:p>
              <a:endParaRPr lang="zh-CN" altLang="en-US"/>
            </a:p>
          </p:txBody>
        </p:sp>
        <p:sp>
          <p:nvSpPr>
            <p:cNvPr id="75" name="Freeform 73"/>
            <p:cNvSpPr>
              <a:spLocks/>
            </p:cNvSpPr>
            <p:nvPr/>
          </p:nvSpPr>
          <p:spPr bwMode="auto">
            <a:xfrm>
              <a:off x="3888" y="1714"/>
              <a:ext cx="81" cy="79"/>
            </a:xfrm>
            <a:custGeom>
              <a:avLst/>
              <a:gdLst/>
              <a:ahLst/>
              <a:cxnLst>
                <a:cxn ang="0">
                  <a:pos x="14" y="59"/>
                </a:cxn>
                <a:cxn ang="0">
                  <a:pos x="0" y="39"/>
                </a:cxn>
                <a:cxn ang="0">
                  <a:pos x="81" y="0"/>
                </a:cxn>
                <a:cxn ang="0">
                  <a:pos x="33" y="79"/>
                </a:cxn>
                <a:cxn ang="0">
                  <a:pos x="14" y="59"/>
                </a:cxn>
              </a:cxnLst>
              <a:rect l="0" t="0" r="r" b="b"/>
              <a:pathLst>
                <a:path w="81" h="79">
                  <a:moveTo>
                    <a:pt x="14" y="59"/>
                  </a:moveTo>
                  <a:lnTo>
                    <a:pt x="0" y="39"/>
                  </a:lnTo>
                  <a:lnTo>
                    <a:pt x="81" y="0"/>
                  </a:lnTo>
                  <a:lnTo>
                    <a:pt x="33" y="79"/>
                  </a:lnTo>
                  <a:lnTo>
                    <a:pt x="14" y="59"/>
                  </a:lnTo>
                  <a:close/>
                </a:path>
              </a:pathLst>
            </a:custGeom>
            <a:solidFill>
              <a:srgbClr val="000000"/>
            </a:solidFill>
            <a:ln w="9525">
              <a:noFill/>
              <a:round/>
              <a:headEnd/>
              <a:tailEnd/>
            </a:ln>
          </p:spPr>
          <p:txBody>
            <a:bodyPr/>
            <a:lstStyle/>
            <a:p>
              <a:endParaRPr lang="zh-CN" altLang="en-US"/>
            </a:p>
          </p:txBody>
        </p:sp>
        <p:grpSp>
          <p:nvGrpSpPr>
            <p:cNvPr id="76" name="Group 74"/>
            <p:cNvGrpSpPr>
              <a:grpSpLocks/>
            </p:cNvGrpSpPr>
            <p:nvPr/>
          </p:nvGrpSpPr>
          <p:grpSpPr bwMode="auto">
            <a:xfrm>
              <a:off x="2016" y="1584"/>
              <a:ext cx="2216" cy="959"/>
              <a:chOff x="2016" y="1584"/>
              <a:chExt cx="2216" cy="959"/>
            </a:xfrm>
          </p:grpSpPr>
          <p:grpSp>
            <p:nvGrpSpPr>
              <p:cNvPr id="77" name="Group 75"/>
              <p:cNvGrpSpPr>
                <a:grpSpLocks/>
              </p:cNvGrpSpPr>
              <p:nvPr/>
            </p:nvGrpSpPr>
            <p:grpSpPr bwMode="auto">
              <a:xfrm>
                <a:off x="2016" y="1776"/>
                <a:ext cx="1900" cy="767"/>
                <a:chOff x="2002" y="1776"/>
                <a:chExt cx="1900" cy="767"/>
              </a:xfrm>
            </p:grpSpPr>
            <p:sp>
              <p:nvSpPr>
                <p:cNvPr id="82" name="Freeform 76"/>
                <p:cNvSpPr>
                  <a:spLocks/>
                </p:cNvSpPr>
                <p:nvPr/>
              </p:nvSpPr>
              <p:spPr bwMode="auto">
                <a:xfrm>
                  <a:off x="2002" y="1776"/>
                  <a:ext cx="1900" cy="728"/>
                </a:xfrm>
                <a:custGeom>
                  <a:avLst/>
                  <a:gdLst/>
                  <a:ahLst/>
                  <a:cxnLst>
                    <a:cxn ang="0">
                      <a:pos x="0" y="728"/>
                    </a:cxn>
                    <a:cxn ang="0">
                      <a:pos x="149" y="702"/>
                    </a:cxn>
                    <a:cxn ang="0">
                      <a:pos x="299" y="685"/>
                    </a:cxn>
                    <a:cxn ang="0">
                      <a:pos x="451" y="669"/>
                    </a:cxn>
                    <a:cxn ang="0">
                      <a:pos x="607" y="654"/>
                    </a:cxn>
                    <a:cxn ang="0">
                      <a:pos x="759" y="638"/>
                    </a:cxn>
                    <a:cxn ang="0">
                      <a:pos x="912" y="615"/>
                    </a:cxn>
                    <a:cxn ang="0">
                      <a:pos x="1061" y="581"/>
                    </a:cxn>
                    <a:cxn ang="0">
                      <a:pos x="1202" y="536"/>
                    </a:cxn>
                    <a:cxn ang="0">
                      <a:pos x="1341" y="477"/>
                    </a:cxn>
                    <a:cxn ang="0">
                      <a:pos x="1471" y="398"/>
                    </a:cxn>
                    <a:cxn ang="0">
                      <a:pos x="1519" y="361"/>
                    </a:cxn>
                    <a:cxn ang="0">
                      <a:pos x="1564" y="324"/>
                    </a:cxn>
                    <a:cxn ang="0">
                      <a:pos x="1606" y="285"/>
                    </a:cxn>
                    <a:cxn ang="0">
                      <a:pos x="1648" y="245"/>
                    </a:cxn>
                    <a:cxn ang="0">
                      <a:pos x="1691" y="203"/>
                    </a:cxn>
                    <a:cxn ang="0">
                      <a:pos x="1733" y="161"/>
                    </a:cxn>
                    <a:cxn ang="0">
                      <a:pos x="1773" y="121"/>
                    </a:cxn>
                    <a:cxn ang="0">
                      <a:pos x="1815" y="79"/>
                    </a:cxn>
                    <a:cxn ang="0">
                      <a:pos x="1857" y="39"/>
                    </a:cxn>
                    <a:cxn ang="0">
                      <a:pos x="1900" y="0"/>
                    </a:cxn>
                  </a:cxnLst>
                  <a:rect l="0" t="0" r="r" b="b"/>
                  <a:pathLst>
                    <a:path w="1900" h="728">
                      <a:moveTo>
                        <a:pt x="0" y="728"/>
                      </a:moveTo>
                      <a:lnTo>
                        <a:pt x="149" y="702"/>
                      </a:lnTo>
                      <a:lnTo>
                        <a:pt x="299" y="685"/>
                      </a:lnTo>
                      <a:lnTo>
                        <a:pt x="451" y="669"/>
                      </a:lnTo>
                      <a:lnTo>
                        <a:pt x="607" y="654"/>
                      </a:lnTo>
                      <a:lnTo>
                        <a:pt x="759" y="638"/>
                      </a:lnTo>
                      <a:lnTo>
                        <a:pt x="912" y="615"/>
                      </a:lnTo>
                      <a:lnTo>
                        <a:pt x="1061" y="581"/>
                      </a:lnTo>
                      <a:lnTo>
                        <a:pt x="1202" y="536"/>
                      </a:lnTo>
                      <a:lnTo>
                        <a:pt x="1341" y="477"/>
                      </a:lnTo>
                      <a:lnTo>
                        <a:pt x="1471" y="398"/>
                      </a:lnTo>
                      <a:lnTo>
                        <a:pt x="1519" y="361"/>
                      </a:lnTo>
                      <a:lnTo>
                        <a:pt x="1564" y="324"/>
                      </a:lnTo>
                      <a:lnTo>
                        <a:pt x="1606" y="285"/>
                      </a:lnTo>
                      <a:lnTo>
                        <a:pt x="1648" y="245"/>
                      </a:lnTo>
                      <a:lnTo>
                        <a:pt x="1691" y="203"/>
                      </a:lnTo>
                      <a:lnTo>
                        <a:pt x="1733" y="161"/>
                      </a:lnTo>
                      <a:lnTo>
                        <a:pt x="1773" y="121"/>
                      </a:lnTo>
                      <a:lnTo>
                        <a:pt x="1815" y="79"/>
                      </a:lnTo>
                      <a:lnTo>
                        <a:pt x="1857" y="39"/>
                      </a:lnTo>
                      <a:lnTo>
                        <a:pt x="1900" y="0"/>
                      </a:lnTo>
                    </a:path>
                  </a:pathLst>
                </a:custGeom>
                <a:noFill/>
                <a:ln w="9525">
                  <a:solidFill>
                    <a:srgbClr val="000000"/>
                  </a:solidFill>
                  <a:prstDash val="solid"/>
                  <a:round/>
                  <a:headEnd/>
                  <a:tailEnd/>
                </a:ln>
              </p:spPr>
              <p:txBody>
                <a:bodyPr/>
                <a:lstStyle/>
                <a:p>
                  <a:endParaRPr lang="zh-CN" altLang="en-US"/>
                </a:p>
              </p:txBody>
            </p:sp>
            <p:sp>
              <p:nvSpPr>
                <p:cNvPr id="83" name="Freeform 77"/>
                <p:cNvSpPr>
                  <a:spLocks/>
                </p:cNvSpPr>
                <p:nvPr/>
              </p:nvSpPr>
              <p:spPr bwMode="auto">
                <a:xfrm>
                  <a:off x="3125" y="2332"/>
                  <a:ext cx="212" cy="211"/>
                </a:xfrm>
                <a:custGeom>
                  <a:avLst/>
                  <a:gdLst/>
                  <a:ahLst/>
                  <a:cxnLst>
                    <a:cxn ang="0">
                      <a:pos x="212" y="104"/>
                    </a:cxn>
                    <a:cxn ang="0">
                      <a:pos x="209" y="87"/>
                    </a:cxn>
                    <a:cxn ang="0">
                      <a:pos x="206" y="70"/>
                    </a:cxn>
                    <a:cxn ang="0">
                      <a:pos x="201" y="56"/>
                    </a:cxn>
                    <a:cxn ang="0">
                      <a:pos x="192" y="42"/>
                    </a:cxn>
                    <a:cxn ang="0">
                      <a:pos x="181" y="31"/>
                    </a:cxn>
                    <a:cxn ang="0">
                      <a:pos x="167" y="19"/>
                    </a:cxn>
                    <a:cxn ang="0">
                      <a:pos x="156" y="11"/>
                    </a:cxn>
                    <a:cxn ang="0">
                      <a:pos x="139" y="5"/>
                    </a:cxn>
                    <a:cxn ang="0">
                      <a:pos x="122" y="0"/>
                    </a:cxn>
                    <a:cxn ang="0">
                      <a:pos x="105" y="0"/>
                    </a:cxn>
                    <a:cxn ang="0">
                      <a:pos x="88" y="0"/>
                    </a:cxn>
                    <a:cxn ang="0">
                      <a:pos x="71" y="5"/>
                    </a:cxn>
                    <a:cxn ang="0">
                      <a:pos x="57" y="11"/>
                    </a:cxn>
                    <a:cxn ang="0">
                      <a:pos x="43" y="19"/>
                    </a:cxn>
                    <a:cxn ang="0">
                      <a:pos x="31" y="31"/>
                    </a:cxn>
                    <a:cxn ang="0">
                      <a:pos x="20" y="42"/>
                    </a:cxn>
                    <a:cxn ang="0">
                      <a:pos x="12" y="56"/>
                    </a:cxn>
                    <a:cxn ang="0">
                      <a:pos x="6" y="70"/>
                    </a:cxn>
                    <a:cxn ang="0">
                      <a:pos x="0" y="87"/>
                    </a:cxn>
                    <a:cxn ang="0">
                      <a:pos x="0" y="104"/>
                    </a:cxn>
                    <a:cxn ang="0">
                      <a:pos x="0" y="121"/>
                    </a:cxn>
                    <a:cxn ang="0">
                      <a:pos x="6" y="138"/>
                    </a:cxn>
                    <a:cxn ang="0">
                      <a:pos x="12" y="152"/>
                    </a:cxn>
                    <a:cxn ang="0">
                      <a:pos x="20" y="166"/>
                    </a:cxn>
                    <a:cxn ang="0">
                      <a:pos x="31" y="180"/>
                    </a:cxn>
                    <a:cxn ang="0">
                      <a:pos x="43" y="189"/>
                    </a:cxn>
                    <a:cxn ang="0">
                      <a:pos x="57" y="200"/>
                    </a:cxn>
                    <a:cxn ang="0">
                      <a:pos x="71" y="206"/>
                    </a:cxn>
                    <a:cxn ang="0">
                      <a:pos x="88" y="209"/>
                    </a:cxn>
                    <a:cxn ang="0">
                      <a:pos x="105" y="211"/>
                    </a:cxn>
                    <a:cxn ang="0">
                      <a:pos x="122" y="209"/>
                    </a:cxn>
                    <a:cxn ang="0">
                      <a:pos x="139" y="206"/>
                    </a:cxn>
                    <a:cxn ang="0">
                      <a:pos x="156" y="200"/>
                    </a:cxn>
                    <a:cxn ang="0">
                      <a:pos x="167" y="189"/>
                    </a:cxn>
                    <a:cxn ang="0">
                      <a:pos x="181" y="180"/>
                    </a:cxn>
                    <a:cxn ang="0">
                      <a:pos x="192" y="166"/>
                    </a:cxn>
                    <a:cxn ang="0">
                      <a:pos x="201" y="152"/>
                    </a:cxn>
                    <a:cxn ang="0">
                      <a:pos x="206" y="138"/>
                    </a:cxn>
                    <a:cxn ang="0">
                      <a:pos x="209" y="121"/>
                    </a:cxn>
                    <a:cxn ang="0">
                      <a:pos x="212" y="104"/>
                    </a:cxn>
                    <a:cxn ang="0">
                      <a:pos x="212" y="104"/>
                    </a:cxn>
                  </a:cxnLst>
                  <a:rect l="0" t="0" r="r" b="b"/>
                  <a:pathLst>
                    <a:path w="212" h="211">
                      <a:moveTo>
                        <a:pt x="212" y="104"/>
                      </a:moveTo>
                      <a:lnTo>
                        <a:pt x="209" y="87"/>
                      </a:lnTo>
                      <a:lnTo>
                        <a:pt x="206" y="70"/>
                      </a:lnTo>
                      <a:lnTo>
                        <a:pt x="201" y="56"/>
                      </a:lnTo>
                      <a:lnTo>
                        <a:pt x="192" y="42"/>
                      </a:lnTo>
                      <a:lnTo>
                        <a:pt x="181" y="31"/>
                      </a:lnTo>
                      <a:lnTo>
                        <a:pt x="167" y="19"/>
                      </a:lnTo>
                      <a:lnTo>
                        <a:pt x="156" y="11"/>
                      </a:lnTo>
                      <a:lnTo>
                        <a:pt x="139" y="5"/>
                      </a:lnTo>
                      <a:lnTo>
                        <a:pt x="122" y="0"/>
                      </a:lnTo>
                      <a:lnTo>
                        <a:pt x="105" y="0"/>
                      </a:lnTo>
                      <a:lnTo>
                        <a:pt x="88" y="0"/>
                      </a:lnTo>
                      <a:lnTo>
                        <a:pt x="71" y="5"/>
                      </a:lnTo>
                      <a:lnTo>
                        <a:pt x="57" y="11"/>
                      </a:lnTo>
                      <a:lnTo>
                        <a:pt x="43" y="19"/>
                      </a:lnTo>
                      <a:lnTo>
                        <a:pt x="31" y="31"/>
                      </a:lnTo>
                      <a:lnTo>
                        <a:pt x="20" y="42"/>
                      </a:lnTo>
                      <a:lnTo>
                        <a:pt x="12" y="56"/>
                      </a:lnTo>
                      <a:lnTo>
                        <a:pt x="6" y="70"/>
                      </a:lnTo>
                      <a:lnTo>
                        <a:pt x="0" y="87"/>
                      </a:lnTo>
                      <a:lnTo>
                        <a:pt x="0" y="104"/>
                      </a:lnTo>
                      <a:lnTo>
                        <a:pt x="0" y="121"/>
                      </a:lnTo>
                      <a:lnTo>
                        <a:pt x="6" y="138"/>
                      </a:lnTo>
                      <a:lnTo>
                        <a:pt x="12" y="152"/>
                      </a:lnTo>
                      <a:lnTo>
                        <a:pt x="20" y="166"/>
                      </a:lnTo>
                      <a:lnTo>
                        <a:pt x="31" y="180"/>
                      </a:lnTo>
                      <a:lnTo>
                        <a:pt x="43" y="189"/>
                      </a:lnTo>
                      <a:lnTo>
                        <a:pt x="57" y="200"/>
                      </a:lnTo>
                      <a:lnTo>
                        <a:pt x="71" y="206"/>
                      </a:lnTo>
                      <a:lnTo>
                        <a:pt x="88" y="209"/>
                      </a:lnTo>
                      <a:lnTo>
                        <a:pt x="105" y="211"/>
                      </a:lnTo>
                      <a:lnTo>
                        <a:pt x="122" y="209"/>
                      </a:lnTo>
                      <a:lnTo>
                        <a:pt x="139" y="206"/>
                      </a:lnTo>
                      <a:lnTo>
                        <a:pt x="156" y="200"/>
                      </a:lnTo>
                      <a:lnTo>
                        <a:pt x="167" y="189"/>
                      </a:lnTo>
                      <a:lnTo>
                        <a:pt x="181" y="180"/>
                      </a:lnTo>
                      <a:lnTo>
                        <a:pt x="192" y="166"/>
                      </a:lnTo>
                      <a:lnTo>
                        <a:pt x="201" y="152"/>
                      </a:lnTo>
                      <a:lnTo>
                        <a:pt x="206" y="138"/>
                      </a:lnTo>
                      <a:lnTo>
                        <a:pt x="209" y="121"/>
                      </a:lnTo>
                      <a:lnTo>
                        <a:pt x="212" y="104"/>
                      </a:lnTo>
                      <a:lnTo>
                        <a:pt x="212" y="104"/>
                      </a:lnTo>
                    </a:path>
                  </a:pathLst>
                </a:custGeom>
                <a:noFill/>
                <a:ln w="9525">
                  <a:solidFill>
                    <a:srgbClr val="000000"/>
                  </a:solidFill>
                  <a:prstDash val="solid"/>
                  <a:round/>
                  <a:headEnd/>
                  <a:tailEnd/>
                </a:ln>
              </p:spPr>
              <p:txBody>
                <a:bodyPr/>
                <a:lstStyle/>
                <a:p>
                  <a:endParaRPr lang="zh-CN" altLang="en-US"/>
                </a:p>
              </p:txBody>
            </p:sp>
          </p:grpSp>
          <p:sp>
            <p:nvSpPr>
              <p:cNvPr id="78" name="Rectangle 78"/>
              <p:cNvSpPr>
                <a:spLocks noChangeArrowheads="1"/>
              </p:cNvSpPr>
              <p:nvPr/>
            </p:nvSpPr>
            <p:spPr bwMode="auto">
              <a:xfrm>
                <a:off x="3199" y="2386"/>
                <a:ext cx="54" cy="11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2</a:t>
                </a:r>
                <a:endParaRPr lang="zh-CN" altLang="en-US"/>
              </a:p>
            </p:txBody>
          </p:sp>
          <p:grpSp>
            <p:nvGrpSpPr>
              <p:cNvPr id="79" name="Group 79"/>
              <p:cNvGrpSpPr>
                <a:grpSpLocks/>
              </p:cNvGrpSpPr>
              <p:nvPr/>
            </p:nvGrpSpPr>
            <p:grpSpPr bwMode="auto">
              <a:xfrm>
                <a:off x="3989" y="1584"/>
                <a:ext cx="243" cy="194"/>
                <a:chOff x="1784" y="2425"/>
                <a:chExt cx="161" cy="194"/>
              </a:xfrm>
            </p:grpSpPr>
            <p:sp>
              <p:nvSpPr>
                <p:cNvPr id="80" name="Rectangle 80"/>
                <p:cNvSpPr>
                  <a:spLocks noChangeArrowheads="1"/>
                </p:cNvSpPr>
                <p:nvPr/>
              </p:nvSpPr>
              <p:spPr bwMode="auto">
                <a:xfrm>
                  <a:off x="1784" y="2425"/>
                  <a:ext cx="54" cy="194"/>
                </a:xfrm>
                <a:prstGeom prst="rect">
                  <a:avLst/>
                </a:prstGeom>
                <a:noFill/>
                <a:ln w="9525">
                  <a:noFill/>
                  <a:miter lim="800000"/>
                  <a:headEnd/>
                  <a:tailEnd/>
                </a:ln>
              </p:spPr>
              <p:txBody>
                <a:bodyPr wrap="none" lIns="0" tIns="0" rIns="0" bIns="0">
                  <a:spAutoFit/>
                </a:bodyPr>
                <a:lstStyle/>
                <a:p>
                  <a:r>
                    <a:rPr lang="en-US" altLang="zh-CN">
                      <a:solidFill>
                        <a:schemeClr val="hlink"/>
                      </a:solidFill>
                    </a:rPr>
                    <a:t>u</a:t>
                  </a:r>
                  <a:endParaRPr lang="en-US" altLang="zh-CN" sz="2000">
                    <a:solidFill>
                      <a:schemeClr val="hlink"/>
                    </a:solidFill>
                  </a:endParaRPr>
                </a:p>
              </p:txBody>
            </p:sp>
            <p:sp>
              <p:nvSpPr>
                <p:cNvPr id="81" name="Rectangle 81"/>
                <p:cNvSpPr>
                  <a:spLocks noChangeArrowheads="1"/>
                </p:cNvSpPr>
                <p:nvPr/>
              </p:nvSpPr>
              <p:spPr bwMode="auto">
                <a:xfrm>
                  <a:off x="1838" y="2425"/>
                  <a:ext cx="107" cy="194"/>
                </a:xfrm>
                <a:prstGeom prst="rect">
                  <a:avLst/>
                </a:prstGeom>
                <a:noFill/>
                <a:ln w="9525">
                  <a:noFill/>
                  <a:miter lim="800000"/>
                  <a:headEnd/>
                  <a:tailEnd/>
                </a:ln>
              </p:spPr>
              <p:txBody>
                <a:bodyPr wrap="none" lIns="0" tIns="0" rIns="0" bIns="0">
                  <a:spAutoFit/>
                </a:bodyPr>
                <a:lstStyle/>
                <a:p>
                  <a:r>
                    <a:rPr lang="zh-CN" altLang="en-US">
                      <a:solidFill>
                        <a:schemeClr val="hlink"/>
                      </a:solidFill>
                    </a:rPr>
                    <a:t> :5</a:t>
                  </a:r>
                  <a:endParaRPr lang="zh-CN" altLang="en-US" sz="2000">
                    <a:solidFill>
                      <a:schemeClr val="hlink"/>
                    </a:solidFill>
                  </a:endParaRPr>
                </a:p>
              </p:txBody>
            </p:sp>
          </p:grpSp>
        </p:grpSp>
      </p:grpSp>
      <p:grpSp>
        <p:nvGrpSpPr>
          <p:cNvPr id="94" name="Group 95"/>
          <p:cNvGrpSpPr>
            <a:grpSpLocks/>
          </p:cNvGrpSpPr>
          <p:nvPr/>
        </p:nvGrpSpPr>
        <p:grpSpPr bwMode="auto">
          <a:xfrm>
            <a:off x="6083348" y="2091480"/>
            <a:ext cx="5029200" cy="1282700"/>
            <a:chOff x="1056" y="1200"/>
            <a:chExt cx="3168" cy="808"/>
          </a:xfrm>
        </p:grpSpPr>
        <p:sp>
          <p:nvSpPr>
            <p:cNvPr id="95" name="Freeform 92"/>
            <p:cNvSpPr>
              <a:spLocks/>
            </p:cNvSpPr>
            <p:nvPr/>
          </p:nvSpPr>
          <p:spPr bwMode="auto">
            <a:xfrm>
              <a:off x="1280" y="1200"/>
              <a:ext cx="2944" cy="808"/>
            </a:xfrm>
            <a:custGeom>
              <a:avLst/>
              <a:gdLst/>
              <a:ahLst/>
              <a:cxnLst>
                <a:cxn ang="0">
                  <a:pos x="2848" y="0"/>
                </a:cxn>
                <a:cxn ang="0">
                  <a:pos x="2800" y="672"/>
                </a:cxn>
                <a:cxn ang="0">
                  <a:pos x="1984" y="768"/>
                </a:cxn>
                <a:cxn ang="0">
                  <a:pos x="304" y="768"/>
                </a:cxn>
                <a:cxn ang="0">
                  <a:pos x="160" y="528"/>
                </a:cxn>
              </a:cxnLst>
              <a:rect l="0" t="0" r="r" b="b"/>
              <a:pathLst>
                <a:path w="2944" h="808">
                  <a:moveTo>
                    <a:pt x="2848" y="0"/>
                  </a:moveTo>
                  <a:cubicBezTo>
                    <a:pt x="2896" y="272"/>
                    <a:pt x="2944" y="544"/>
                    <a:pt x="2800" y="672"/>
                  </a:cubicBezTo>
                  <a:cubicBezTo>
                    <a:pt x="2656" y="800"/>
                    <a:pt x="2400" y="752"/>
                    <a:pt x="1984" y="768"/>
                  </a:cubicBezTo>
                  <a:cubicBezTo>
                    <a:pt x="1568" y="784"/>
                    <a:pt x="608" y="808"/>
                    <a:pt x="304" y="768"/>
                  </a:cubicBezTo>
                  <a:cubicBezTo>
                    <a:pt x="0" y="728"/>
                    <a:pt x="80" y="628"/>
                    <a:pt x="160" y="528"/>
                  </a:cubicBezTo>
                </a:path>
              </a:pathLst>
            </a:custGeom>
            <a:noFill/>
            <a:ln w="28575" cap="flat" cmpd="sng">
              <a:solidFill>
                <a:schemeClr val="hlink"/>
              </a:solidFill>
              <a:prstDash val="solid"/>
              <a:round/>
              <a:headEnd type="none" w="med" len="med"/>
              <a:tailEnd type="triangle" w="med" len="med"/>
            </a:ln>
            <a:effectLst/>
          </p:spPr>
          <p:txBody>
            <a:bodyPr wrap="none" bIns="0" anchor="ctr"/>
            <a:lstStyle/>
            <a:p>
              <a:endParaRPr lang="zh-CN" altLang="en-US"/>
            </a:p>
          </p:txBody>
        </p:sp>
        <p:sp>
          <p:nvSpPr>
            <p:cNvPr id="96" name="Line 93"/>
            <p:cNvSpPr>
              <a:spLocks noChangeShapeType="1"/>
            </p:cNvSpPr>
            <p:nvPr/>
          </p:nvSpPr>
          <p:spPr bwMode="auto">
            <a:xfrm flipV="1">
              <a:off x="1056" y="1632"/>
              <a:ext cx="384" cy="96"/>
            </a:xfrm>
            <a:prstGeom prst="line">
              <a:avLst/>
            </a:prstGeom>
            <a:noFill/>
            <a:ln w="38100">
              <a:solidFill>
                <a:srgbClr val="FF0000"/>
              </a:solidFill>
              <a:round/>
              <a:headEnd/>
              <a:tailEnd/>
            </a:ln>
            <a:effectLst/>
          </p:spPr>
          <p:txBody>
            <a:bodyPr wrap="none" bIns="0" anchor="ctr"/>
            <a:lstStyle/>
            <a:p>
              <a:endParaRPr lang="zh-CN" altLang="en-US"/>
            </a:p>
          </p:txBody>
        </p:sp>
      </p:grpSp>
      <p:grpSp>
        <p:nvGrpSpPr>
          <p:cNvPr id="2" name="组合 1"/>
          <p:cNvGrpSpPr/>
          <p:nvPr/>
        </p:nvGrpSpPr>
        <p:grpSpPr>
          <a:xfrm>
            <a:off x="7655428" y="1922355"/>
            <a:ext cx="4088946" cy="2532819"/>
            <a:chOff x="7655428" y="1922355"/>
            <a:chExt cx="4088946" cy="2532819"/>
          </a:xfrm>
        </p:grpSpPr>
        <p:grpSp>
          <p:nvGrpSpPr>
            <p:cNvPr id="84" name="Group 82"/>
            <p:cNvGrpSpPr>
              <a:grpSpLocks/>
            </p:cNvGrpSpPr>
            <p:nvPr/>
          </p:nvGrpSpPr>
          <p:grpSpPr bwMode="auto">
            <a:xfrm>
              <a:off x="11112548" y="1922355"/>
              <a:ext cx="631826" cy="1120777"/>
              <a:chOff x="4204" y="1118"/>
              <a:chExt cx="398" cy="676"/>
            </a:xfrm>
          </p:grpSpPr>
          <p:sp>
            <p:nvSpPr>
              <p:cNvPr id="85" name="Freeform 83"/>
              <p:cNvSpPr>
                <a:spLocks/>
              </p:cNvSpPr>
              <p:nvPr/>
            </p:nvSpPr>
            <p:spPr bwMode="auto">
              <a:xfrm>
                <a:off x="4255" y="1522"/>
                <a:ext cx="81" cy="76"/>
              </a:xfrm>
              <a:custGeom>
                <a:avLst/>
                <a:gdLst/>
                <a:ahLst/>
                <a:cxnLst>
                  <a:cxn ang="0">
                    <a:pos x="62" y="17"/>
                  </a:cxn>
                  <a:cxn ang="0">
                    <a:pos x="81" y="36"/>
                  </a:cxn>
                  <a:cxn ang="0">
                    <a:pos x="0" y="76"/>
                  </a:cxn>
                  <a:cxn ang="0">
                    <a:pos x="48" y="0"/>
                  </a:cxn>
                  <a:cxn ang="0">
                    <a:pos x="62" y="17"/>
                  </a:cxn>
                </a:cxnLst>
                <a:rect l="0" t="0" r="r" b="b"/>
                <a:pathLst>
                  <a:path w="81" h="76">
                    <a:moveTo>
                      <a:pt x="62" y="17"/>
                    </a:moveTo>
                    <a:lnTo>
                      <a:pt x="81" y="36"/>
                    </a:lnTo>
                    <a:lnTo>
                      <a:pt x="0" y="76"/>
                    </a:lnTo>
                    <a:lnTo>
                      <a:pt x="48" y="0"/>
                    </a:lnTo>
                    <a:lnTo>
                      <a:pt x="62" y="17"/>
                    </a:lnTo>
                    <a:close/>
                  </a:path>
                </a:pathLst>
              </a:custGeom>
              <a:solidFill>
                <a:srgbClr val="000000"/>
              </a:solidFill>
              <a:ln w="9525">
                <a:noFill/>
                <a:round/>
                <a:headEnd/>
                <a:tailEnd/>
              </a:ln>
            </p:spPr>
            <p:txBody>
              <a:bodyPr/>
              <a:lstStyle/>
              <a:p>
                <a:endParaRPr lang="zh-CN" altLang="en-US"/>
              </a:p>
            </p:txBody>
          </p:sp>
          <p:sp>
            <p:nvSpPr>
              <p:cNvPr id="86" name="Freeform 84"/>
              <p:cNvSpPr>
                <a:spLocks/>
              </p:cNvSpPr>
              <p:nvPr/>
            </p:nvSpPr>
            <p:spPr bwMode="auto">
              <a:xfrm>
                <a:off x="4255" y="1118"/>
                <a:ext cx="112" cy="421"/>
              </a:xfrm>
              <a:custGeom>
                <a:avLst/>
                <a:gdLst/>
                <a:ahLst/>
                <a:cxnLst>
                  <a:cxn ang="0">
                    <a:pos x="0" y="0"/>
                  </a:cxn>
                  <a:cxn ang="0">
                    <a:pos x="22" y="37"/>
                  </a:cxn>
                  <a:cxn ang="0">
                    <a:pos x="45" y="79"/>
                  </a:cxn>
                  <a:cxn ang="0">
                    <a:pos x="67" y="124"/>
                  </a:cxn>
                  <a:cxn ang="0">
                    <a:pos x="84" y="169"/>
                  </a:cxn>
                  <a:cxn ang="0">
                    <a:pos x="101" y="217"/>
                  </a:cxn>
                  <a:cxn ang="0">
                    <a:pos x="110" y="262"/>
                  </a:cxn>
                  <a:cxn ang="0">
                    <a:pos x="112" y="308"/>
                  </a:cxn>
                  <a:cxn ang="0">
                    <a:pos x="107" y="350"/>
                  </a:cxn>
                  <a:cxn ang="0">
                    <a:pos x="93" y="387"/>
                  </a:cxn>
                  <a:cxn ang="0">
                    <a:pos x="67" y="421"/>
                  </a:cxn>
                </a:cxnLst>
                <a:rect l="0" t="0" r="r" b="b"/>
                <a:pathLst>
                  <a:path w="112" h="421">
                    <a:moveTo>
                      <a:pt x="0" y="0"/>
                    </a:moveTo>
                    <a:lnTo>
                      <a:pt x="22" y="37"/>
                    </a:lnTo>
                    <a:lnTo>
                      <a:pt x="45" y="79"/>
                    </a:lnTo>
                    <a:lnTo>
                      <a:pt x="67" y="124"/>
                    </a:lnTo>
                    <a:lnTo>
                      <a:pt x="84" y="169"/>
                    </a:lnTo>
                    <a:lnTo>
                      <a:pt x="101" y="217"/>
                    </a:lnTo>
                    <a:lnTo>
                      <a:pt x="110" y="262"/>
                    </a:lnTo>
                    <a:lnTo>
                      <a:pt x="112" y="308"/>
                    </a:lnTo>
                    <a:lnTo>
                      <a:pt x="107" y="350"/>
                    </a:lnTo>
                    <a:lnTo>
                      <a:pt x="93" y="387"/>
                    </a:lnTo>
                    <a:lnTo>
                      <a:pt x="67" y="421"/>
                    </a:lnTo>
                  </a:path>
                </a:pathLst>
              </a:custGeom>
              <a:noFill/>
              <a:ln w="9525">
                <a:solidFill>
                  <a:srgbClr val="114FFB"/>
                </a:solidFill>
                <a:prstDash val="solid"/>
                <a:round/>
                <a:headEnd/>
                <a:tailEnd/>
              </a:ln>
            </p:spPr>
            <p:txBody>
              <a:bodyPr/>
              <a:lstStyle/>
              <a:p>
                <a:endParaRPr lang="zh-CN" altLang="en-US"/>
              </a:p>
            </p:txBody>
          </p:sp>
          <p:grpSp>
            <p:nvGrpSpPr>
              <p:cNvPr id="87" name="Group 85"/>
              <p:cNvGrpSpPr>
                <a:grpSpLocks/>
              </p:cNvGrpSpPr>
              <p:nvPr/>
            </p:nvGrpSpPr>
            <p:grpSpPr bwMode="auto">
              <a:xfrm>
                <a:off x="4368" y="1152"/>
                <a:ext cx="234" cy="214"/>
                <a:chOff x="4704" y="1389"/>
                <a:chExt cx="234" cy="214"/>
              </a:xfrm>
            </p:grpSpPr>
            <p:sp>
              <p:nvSpPr>
                <p:cNvPr id="91" name="Freeform 86"/>
                <p:cNvSpPr>
                  <a:spLocks/>
                </p:cNvSpPr>
                <p:nvPr/>
              </p:nvSpPr>
              <p:spPr bwMode="auto">
                <a:xfrm>
                  <a:off x="4726" y="1389"/>
                  <a:ext cx="212" cy="211"/>
                </a:xfrm>
                <a:custGeom>
                  <a:avLst/>
                  <a:gdLst/>
                  <a:ahLst/>
                  <a:cxnLst>
                    <a:cxn ang="0">
                      <a:pos x="209" y="104"/>
                    </a:cxn>
                    <a:cxn ang="0">
                      <a:pos x="209" y="124"/>
                    </a:cxn>
                    <a:cxn ang="0">
                      <a:pos x="206" y="141"/>
                    </a:cxn>
                    <a:cxn ang="0">
                      <a:pos x="201" y="155"/>
                    </a:cxn>
                    <a:cxn ang="0">
                      <a:pos x="192" y="169"/>
                    </a:cxn>
                    <a:cxn ang="0">
                      <a:pos x="181" y="180"/>
                    </a:cxn>
                    <a:cxn ang="0">
                      <a:pos x="167" y="192"/>
                    </a:cxn>
                    <a:cxn ang="0">
                      <a:pos x="155" y="200"/>
                    </a:cxn>
                    <a:cxn ang="0">
                      <a:pos x="138" y="206"/>
                    </a:cxn>
                    <a:cxn ang="0">
                      <a:pos x="122" y="211"/>
                    </a:cxn>
                    <a:cxn ang="0">
                      <a:pos x="105" y="211"/>
                    </a:cxn>
                    <a:cxn ang="0">
                      <a:pos x="88" y="211"/>
                    </a:cxn>
                    <a:cxn ang="0">
                      <a:pos x="71" y="206"/>
                    </a:cxn>
                    <a:cxn ang="0">
                      <a:pos x="57" y="200"/>
                    </a:cxn>
                    <a:cxn ang="0">
                      <a:pos x="42" y="192"/>
                    </a:cxn>
                    <a:cxn ang="0">
                      <a:pos x="31" y="180"/>
                    </a:cxn>
                    <a:cxn ang="0">
                      <a:pos x="20" y="169"/>
                    </a:cxn>
                    <a:cxn ang="0">
                      <a:pos x="11" y="155"/>
                    </a:cxn>
                    <a:cxn ang="0">
                      <a:pos x="6" y="141"/>
                    </a:cxn>
                    <a:cxn ang="0">
                      <a:pos x="0" y="124"/>
                    </a:cxn>
                    <a:cxn ang="0">
                      <a:pos x="0" y="107"/>
                    </a:cxn>
                    <a:cxn ang="0">
                      <a:pos x="0" y="90"/>
                    </a:cxn>
                    <a:cxn ang="0">
                      <a:pos x="6" y="73"/>
                    </a:cxn>
                    <a:cxn ang="0">
                      <a:pos x="11" y="59"/>
                    </a:cxn>
                    <a:cxn ang="0">
                      <a:pos x="20" y="45"/>
                    </a:cxn>
                    <a:cxn ang="0">
                      <a:pos x="31" y="31"/>
                    </a:cxn>
                    <a:cxn ang="0">
                      <a:pos x="42" y="19"/>
                    </a:cxn>
                    <a:cxn ang="0">
                      <a:pos x="57" y="11"/>
                    </a:cxn>
                    <a:cxn ang="0">
                      <a:pos x="71" y="5"/>
                    </a:cxn>
                    <a:cxn ang="0">
                      <a:pos x="88" y="3"/>
                    </a:cxn>
                    <a:cxn ang="0">
                      <a:pos x="105" y="0"/>
                    </a:cxn>
                    <a:cxn ang="0">
                      <a:pos x="122" y="3"/>
                    </a:cxn>
                    <a:cxn ang="0">
                      <a:pos x="138" y="5"/>
                    </a:cxn>
                    <a:cxn ang="0">
                      <a:pos x="155" y="11"/>
                    </a:cxn>
                    <a:cxn ang="0">
                      <a:pos x="167" y="19"/>
                    </a:cxn>
                    <a:cxn ang="0">
                      <a:pos x="181" y="31"/>
                    </a:cxn>
                    <a:cxn ang="0">
                      <a:pos x="192" y="45"/>
                    </a:cxn>
                    <a:cxn ang="0">
                      <a:pos x="201" y="59"/>
                    </a:cxn>
                    <a:cxn ang="0">
                      <a:pos x="206" y="73"/>
                    </a:cxn>
                    <a:cxn ang="0">
                      <a:pos x="209" y="90"/>
                    </a:cxn>
                    <a:cxn ang="0">
                      <a:pos x="212" y="107"/>
                    </a:cxn>
                    <a:cxn ang="0">
                      <a:pos x="209" y="104"/>
                    </a:cxn>
                  </a:cxnLst>
                  <a:rect l="0" t="0" r="r" b="b"/>
                  <a:pathLst>
                    <a:path w="212" h="211">
                      <a:moveTo>
                        <a:pt x="209" y="104"/>
                      </a:moveTo>
                      <a:lnTo>
                        <a:pt x="209" y="124"/>
                      </a:lnTo>
                      <a:lnTo>
                        <a:pt x="206" y="141"/>
                      </a:lnTo>
                      <a:lnTo>
                        <a:pt x="201" y="155"/>
                      </a:lnTo>
                      <a:lnTo>
                        <a:pt x="192" y="169"/>
                      </a:lnTo>
                      <a:lnTo>
                        <a:pt x="181" y="180"/>
                      </a:lnTo>
                      <a:lnTo>
                        <a:pt x="167" y="192"/>
                      </a:lnTo>
                      <a:lnTo>
                        <a:pt x="155" y="200"/>
                      </a:lnTo>
                      <a:lnTo>
                        <a:pt x="138" y="206"/>
                      </a:lnTo>
                      <a:lnTo>
                        <a:pt x="122" y="211"/>
                      </a:lnTo>
                      <a:lnTo>
                        <a:pt x="105" y="211"/>
                      </a:lnTo>
                      <a:lnTo>
                        <a:pt x="88" y="211"/>
                      </a:lnTo>
                      <a:lnTo>
                        <a:pt x="71" y="206"/>
                      </a:lnTo>
                      <a:lnTo>
                        <a:pt x="57" y="200"/>
                      </a:lnTo>
                      <a:lnTo>
                        <a:pt x="42" y="192"/>
                      </a:lnTo>
                      <a:lnTo>
                        <a:pt x="31" y="180"/>
                      </a:lnTo>
                      <a:lnTo>
                        <a:pt x="20" y="169"/>
                      </a:lnTo>
                      <a:lnTo>
                        <a:pt x="11" y="155"/>
                      </a:lnTo>
                      <a:lnTo>
                        <a:pt x="6" y="141"/>
                      </a:lnTo>
                      <a:lnTo>
                        <a:pt x="0" y="124"/>
                      </a:lnTo>
                      <a:lnTo>
                        <a:pt x="0" y="107"/>
                      </a:lnTo>
                      <a:lnTo>
                        <a:pt x="0" y="90"/>
                      </a:lnTo>
                      <a:lnTo>
                        <a:pt x="6" y="73"/>
                      </a:lnTo>
                      <a:lnTo>
                        <a:pt x="11" y="59"/>
                      </a:lnTo>
                      <a:lnTo>
                        <a:pt x="20" y="45"/>
                      </a:lnTo>
                      <a:lnTo>
                        <a:pt x="31" y="31"/>
                      </a:lnTo>
                      <a:lnTo>
                        <a:pt x="42" y="19"/>
                      </a:lnTo>
                      <a:lnTo>
                        <a:pt x="57" y="11"/>
                      </a:lnTo>
                      <a:lnTo>
                        <a:pt x="71" y="5"/>
                      </a:lnTo>
                      <a:lnTo>
                        <a:pt x="88" y="3"/>
                      </a:lnTo>
                      <a:lnTo>
                        <a:pt x="105" y="0"/>
                      </a:lnTo>
                      <a:lnTo>
                        <a:pt x="122" y="3"/>
                      </a:lnTo>
                      <a:lnTo>
                        <a:pt x="138" y="5"/>
                      </a:lnTo>
                      <a:lnTo>
                        <a:pt x="155" y="11"/>
                      </a:lnTo>
                      <a:lnTo>
                        <a:pt x="167" y="19"/>
                      </a:lnTo>
                      <a:lnTo>
                        <a:pt x="181" y="31"/>
                      </a:lnTo>
                      <a:lnTo>
                        <a:pt x="192" y="45"/>
                      </a:lnTo>
                      <a:lnTo>
                        <a:pt x="201" y="59"/>
                      </a:lnTo>
                      <a:lnTo>
                        <a:pt x="206" y="73"/>
                      </a:lnTo>
                      <a:lnTo>
                        <a:pt x="209" y="90"/>
                      </a:lnTo>
                      <a:lnTo>
                        <a:pt x="212" y="107"/>
                      </a:lnTo>
                      <a:lnTo>
                        <a:pt x="209" y="104"/>
                      </a:lnTo>
                      <a:close/>
                    </a:path>
                  </a:pathLst>
                </a:custGeom>
                <a:solidFill>
                  <a:srgbClr val="FFFFFF"/>
                </a:solidFill>
                <a:ln w="9525">
                  <a:noFill/>
                  <a:round/>
                  <a:headEnd/>
                  <a:tailEnd/>
                </a:ln>
              </p:spPr>
              <p:txBody>
                <a:bodyPr/>
                <a:lstStyle/>
                <a:p>
                  <a:endParaRPr lang="zh-CN" altLang="en-US"/>
                </a:p>
              </p:txBody>
            </p:sp>
            <p:sp>
              <p:nvSpPr>
                <p:cNvPr id="92" name="Freeform 87"/>
                <p:cNvSpPr>
                  <a:spLocks/>
                </p:cNvSpPr>
                <p:nvPr/>
              </p:nvSpPr>
              <p:spPr bwMode="auto">
                <a:xfrm>
                  <a:off x="4704" y="1392"/>
                  <a:ext cx="212" cy="211"/>
                </a:xfrm>
                <a:custGeom>
                  <a:avLst/>
                  <a:gdLst/>
                  <a:ahLst/>
                  <a:cxnLst>
                    <a:cxn ang="0">
                      <a:pos x="209" y="104"/>
                    </a:cxn>
                    <a:cxn ang="0">
                      <a:pos x="209" y="90"/>
                    </a:cxn>
                    <a:cxn ang="0">
                      <a:pos x="206" y="73"/>
                    </a:cxn>
                    <a:cxn ang="0">
                      <a:pos x="201" y="59"/>
                    </a:cxn>
                    <a:cxn ang="0">
                      <a:pos x="192" y="45"/>
                    </a:cxn>
                    <a:cxn ang="0">
                      <a:pos x="181" y="31"/>
                    </a:cxn>
                    <a:cxn ang="0">
                      <a:pos x="167" y="19"/>
                    </a:cxn>
                    <a:cxn ang="0">
                      <a:pos x="155" y="11"/>
                    </a:cxn>
                    <a:cxn ang="0">
                      <a:pos x="138" y="5"/>
                    </a:cxn>
                    <a:cxn ang="0">
                      <a:pos x="122" y="3"/>
                    </a:cxn>
                    <a:cxn ang="0">
                      <a:pos x="105" y="0"/>
                    </a:cxn>
                    <a:cxn ang="0">
                      <a:pos x="88" y="3"/>
                    </a:cxn>
                    <a:cxn ang="0">
                      <a:pos x="71" y="5"/>
                    </a:cxn>
                    <a:cxn ang="0">
                      <a:pos x="57" y="11"/>
                    </a:cxn>
                    <a:cxn ang="0">
                      <a:pos x="42" y="19"/>
                    </a:cxn>
                    <a:cxn ang="0">
                      <a:pos x="31" y="31"/>
                    </a:cxn>
                    <a:cxn ang="0">
                      <a:pos x="20" y="45"/>
                    </a:cxn>
                    <a:cxn ang="0">
                      <a:pos x="11" y="59"/>
                    </a:cxn>
                    <a:cxn ang="0">
                      <a:pos x="6" y="73"/>
                    </a:cxn>
                    <a:cxn ang="0">
                      <a:pos x="0" y="90"/>
                    </a:cxn>
                    <a:cxn ang="0">
                      <a:pos x="0" y="107"/>
                    </a:cxn>
                    <a:cxn ang="0">
                      <a:pos x="0" y="124"/>
                    </a:cxn>
                    <a:cxn ang="0">
                      <a:pos x="6" y="141"/>
                    </a:cxn>
                    <a:cxn ang="0">
                      <a:pos x="11" y="155"/>
                    </a:cxn>
                    <a:cxn ang="0">
                      <a:pos x="20" y="169"/>
                    </a:cxn>
                    <a:cxn ang="0">
                      <a:pos x="31" y="180"/>
                    </a:cxn>
                    <a:cxn ang="0">
                      <a:pos x="42" y="192"/>
                    </a:cxn>
                    <a:cxn ang="0">
                      <a:pos x="57" y="200"/>
                    </a:cxn>
                    <a:cxn ang="0">
                      <a:pos x="71" y="206"/>
                    </a:cxn>
                    <a:cxn ang="0">
                      <a:pos x="88" y="211"/>
                    </a:cxn>
                    <a:cxn ang="0">
                      <a:pos x="105" y="211"/>
                    </a:cxn>
                    <a:cxn ang="0">
                      <a:pos x="122" y="211"/>
                    </a:cxn>
                    <a:cxn ang="0">
                      <a:pos x="138" y="206"/>
                    </a:cxn>
                    <a:cxn ang="0">
                      <a:pos x="155" y="200"/>
                    </a:cxn>
                    <a:cxn ang="0">
                      <a:pos x="167" y="192"/>
                    </a:cxn>
                    <a:cxn ang="0">
                      <a:pos x="181" y="180"/>
                    </a:cxn>
                    <a:cxn ang="0">
                      <a:pos x="192" y="169"/>
                    </a:cxn>
                    <a:cxn ang="0">
                      <a:pos x="201" y="155"/>
                    </a:cxn>
                    <a:cxn ang="0">
                      <a:pos x="206" y="141"/>
                    </a:cxn>
                    <a:cxn ang="0">
                      <a:pos x="209" y="124"/>
                    </a:cxn>
                    <a:cxn ang="0">
                      <a:pos x="212" y="107"/>
                    </a:cxn>
                    <a:cxn ang="0">
                      <a:pos x="212" y="107"/>
                    </a:cxn>
                  </a:cxnLst>
                  <a:rect l="0" t="0" r="r" b="b"/>
                  <a:pathLst>
                    <a:path w="212" h="211">
                      <a:moveTo>
                        <a:pt x="209" y="104"/>
                      </a:moveTo>
                      <a:lnTo>
                        <a:pt x="209" y="90"/>
                      </a:lnTo>
                      <a:lnTo>
                        <a:pt x="206" y="73"/>
                      </a:lnTo>
                      <a:lnTo>
                        <a:pt x="201" y="59"/>
                      </a:lnTo>
                      <a:lnTo>
                        <a:pt x="192" y="45"/>
                      </a:lnTo>
                      <a:lnTo>
                        <a:pt x="181" y="31"/>
                      </a:lnTo>
                      <a:lnTo>
                        <a:pt x="167" y="19"/>
                      </a:lnTo>
                      <a:lnTo>
                        <a:pt x="155" y="11"/>
                      </a:lnTo>
                      <a:lnTo>
                        <a:pt x="138" y="5"/>
                      </a:lnTo>
                      <a:lnTo>
                        <a:pt x="122" y="3"/>
                      </a:lnTo>
                      <a:lnTo>
                        <a:pt x="105" y="0"/>
                      </a:lnTo>
                      <a:lnTo>
                        <a:pt x="88" y="3"/>
                      </a:lnTo>
                      <a:lnTo>
                        <a:pt x="71" y="5"/>
                      </a:lnTo>
                      <a:lnTo>
                        <a:pt x="57" y="11"/>
                      </a:lnTo>
                      <a:lnTo>
                        <a:pt x="42" y="19"/>
                      </a:lnTo>
                      <a:lnTo>
                        <a:pt x="31" y="31"/>
                      </a:lnTo>
                      <a:lnTo>
                        <a:pt x="20" y="45"/>
                      </a:lnTo>
                      <a:lnTo>
                        <a:pt x="11" y="59"/>
                      </a:lnTo>
                      <a:lnTo>
                        <a:pt x="6" y="73"/>
                      </a:lnTo>
                      <a:lnTo>
                        <a:pt x="0" y="90"/>
                      </a:lnTo>
                      <a:lnTo>
                        <a:pt x="0" y="107"/>
                      </a:lnTo>
                      <a:lnTo>
                        <a:pt x="0" y="124"/>
                      </a:lnTo>
                      <a:lnTo>
                        <a:pt x="6" y="141"/>
                      </a:lnTo>
                      <a:lnTo>
                        <a:pt x="11" y="155"/>
                      </a:lnTo>
                      <a:lnTo>
                        <a:pt x="20" y="169"/>
                      </a:lnTo>
                      <a:lnTo>
                        <a:pt x="31" y="180"/>
                      </a:lnTo>
                      <a:lnTo>
                        <a:pt x="42" y="192"/>
                      </a:lnTo>
                      <a:lnTo>
                        <a:pt x="57" y="200"/>
                      </a:lnTo>
                      <a:lnTo>
                        <a:pt x="71" y="206"/>
                      </a:lnTo>
                      <a:lnTo>
                        <a:pt x="88" y="211"/>
                      </a:lnTo>
                      <a:lnTo>
                        <a:pt x="105" y="211"/>
                      </a:lnTo>
                      <a:lnTo>
                        <a:pt x="122" y="211"/>
                      </a:lnTo>
                      <a:lnTo>
                        <a:pt x="138" y="206"/>
                      </a:lnTo>
                      <a:lnTo>
                        <a:pt x="155" y="200"/>
                      </a:lnTo>
                      <a:lnTo>
                        <a:pt x="167" y="192"/>
                      </a:lnTo>
                      <a:lnTo>
                        <a:pt x="181" y="180"/>
                      </a:lnTo>
                      <a:lnTo>
                        <a:pt x="192" y="169"/>
                      </a:lnTo>
                      <a:lnTo>
                        <a:pt x="201" y="155"/>
                      </a:lnTo>
                      <a:lnTo>
                        <a:pt x="206" y="141"/>
                      </a:lnTo>
                      <a:lnTo>
                        <a:pt x="209" y="124"/>
                      </a:lnTo>
                      <a:lnTo>
                        <a:pt x="212" y="107"/>
                      </a:lnTo>
                      <a:lnTo>
                        <a:pt x="212" y="107"/>
                      </a:lnTo>
                    </a:path>
                  </a:pathLst>
                </a:custGeom>
                <a:noFill/>
                <a:ln w="9525">
                  <a:solidFill>
                    <a:srgbClr val="000000"/>
                  </a:solidFill>
                  <a:prstDash val="solid"/>
                  <a:round/>
                  <a:headEnd/>
                  <a:tailEnd/>
                </a:ln>
              </p:spPr>
              <p:txBody>
                <a:bodyPr/>
                <a:lstStyle/>
                <a:p>
                  <a:endParaRPr lang="zh-CN" altLang="en-US"/>
                </a:p>
              </p:txBody>
            </p:sp>
            <p:sp>
              <p:nvSpPr>
                <p:cNvPr id="93" name="Rectangle 88"/>
                <p:cNvSpPr>
                  <a:spLocks noChangeArrowheads="1"/>
                </p:cNvSpPr>
                <p:nvPr/>
              </p:nvSpPr>
              <p:spPr bwMode="auto">
                <a:xfrm>
                  <a:off x="4800" y="1440"/>
                  <a:ext cx="54" cy="11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3</a:t>
                  </a:r>
                  <a:endParaRPr lang="zh-CN" altLang="en-US"/>
                </a:p>
              </p:txBody>
            </p:sp>
          </p:grpSp>
          <p:sp>
            <p:nvSpPr>
              <p:cNvPr id="90" name="Rectangle 91"/>
              <p:cNvSpPr>
                <a:spLocks noChangeArrowheads="1"/>
              </p:cNvSpPr>
              <p:nvPr/>
            </p:nvSpPr>
            <p:spPr bwMode="auto">
              <a:xfrm>
                <a:off x="4204" y="1600"/>
                <a:ext cx="287" cy="194"/>
              </a:xfrm>
              <a:prstGeom prst="rect">
                <a:avLst/>
              </a:prstGeom>
              <a:noFill/>
              <a:ln w="9525">
                <a:noFill/>
                <a:miter lim="800000"/>
                <a:headEnd/>
                <a:tailEnd/>
              </a:ln>
            </p:spPr>
            <p:txBody>
              <a:bodyPr wrap="none" lIns="0" tIns="0" rIns="0" bIns="0">
                <a:spAutoFit/>
              </a:bodyPr>
              <a:lstStyle/>
              <a:p>
                <a:r>
                  <a:rPr lang="zh-CN" altLang="en-US" dirty="0">
                    <a:solidFill>
                      <a:srgbClr val="FF0000"/>
                    </a:solidFill>
                  </a:rPr>
                  <a:t> </a:t>
                </a:r>
                <a:r>
                  <a:rPr lang="en-US" altLang="zh-CN" dirty="0" smtClean="0">
                    <a:solidFill>
                      <a:srgbClr val="FF0000"/>
                    </a:solidFill>
                  </a:rPr>
                  <a:t>u</a:t>
                </a:r>
                <a:r>
                  <a:rPr lang="zh-CN" altLang="en-US" dirty="0" smtClean="0">
                    <a:solidFill>
                      <a:srgbClr val="FF0000"/>
                    </a:solidFill>
                  </a:rPr>
                  <a:t>=7</a:t>
                </a:r>
                <a:endParaRPr lang="zh-CN" altLang="en-US" sz="2000" dirty="0">
                  <a:solidFill>
                    <a:srgbClr val="FF0000"/>
                  </a:solidFill>
                </a:endParaRPr>
              </a:p>
            </p:txBody>
          </p:sp>
        </p:grpSp>
        <p:sp>
          <p:nvSpPr>
            <p:cNvPr id="99" name="Rectangle 91"/>
            <p:cNvSpPr>
              <a:spLocks noChangeArrowheads="1"/>
            </p:cNvSpPr>
            <p:nvPr/>
          </p:nvSpPr>
          <p:spPr bwMode="auto">
            <a:xfrm>
              <a:off x="7655428" y="4147199"/>
              <a:ext cx="605625" cy="307975"/>
            </a:xfrm>
            <a:prstGeom prst="rect">
              <a:avLst/>
            </a:prstGeom>
            <a:noFill/>
            <a:ln w="9525">
              <a:noFill/>
              <a:miter lim="800000"/>
              <a:headEnd/>
              <a:tailEnd/>
            </a:ln>
          </p:spPr>
          <p:txBody>
            <a:bodyPr wrap="square" lIns="0" tIns="0" rIns="0" bIns="0">
              <a:spAutoFit/>
            </a:bodyPr>
            <a:lstStyle/>
            <a:p>
              <a:r>
                <a:rPr lang="zh-CN" altLang="en-US" dirty="0">
                  <a:solidFill>
                    <a:srgbClr val="FF0000"/>
                  </a:solidFill>
                </a:rPr>
                <a:t> </a:t>
              </a:r>
              <a:r>
                <a:rPr lang="en-US" altLang="zh-CN" dirty="0" smtClean="0">
                  <a:solidFill>
                    <a:srgbClr val="FF0000"/>
                  </a:solidFill>
                </a:rPr>
                <a:t>u</a:t>
              </a:r>
              <a:r>
                <a:rPr lang="zh-CN" altLang="en-US" dirty="0" smtClean="0">
                  <a:solidFill>
                    <a:srgbClr val="FF0000"/>
                  </a:solidFill>
                </a:rPr>
                <a:t>=7</a:t>
              </a:r>
              <a:endParaRPr lang="zh-CN" altLang="en-US" sz="2000" dirty="0">
                <a:solidFill>
                  <a:srgbClr val="FF0000"/>
                </a:solidFill>
              </a:endParaRPr>
            </a:p>
          </p:txBody>
        </p:sp>
      </p:grpSp>
    </p:spTree>
    <p:extLst>
      <p:ext uri="{BB962C8B-B14F-4D97-AF65-F5344CB8AC3E}">
        <p14:creationId xmlns:p14="http://schemas.microsoft.com/office/powerpoint/2010/main" val="404722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解决同一问题的基本策略</a:t>
            </a:r>
            <a:endParaRPr lang="zh-CN" altLang="en-US" dirty="0"/>
          </a:p>
        </p:txBody>
      </p:sp>
      <p:sp>
        <p:nvSpPr>
          <p:cNvPr id="3" name="内容占位符 2"/>
          <p:cNvSpPr>
            <a:spLocks noGrp="1"/>
          </p:cNvSpPr>
          <p:nvPr>
            <p:ph idx="1"/>
          </p:nvPr>
        </p:nvSpPr>
        <p:spPr/>
        <p:txBody>
          <a:bodyPr/>
          <a:lstStyle/>
          <a:p>
            <a:r>
              <a:rPr lang="zh-CN" altLang="en-US" dirty="0" smtClean="0"/>
              <a:t>为原本自然发生的事件，增添新的解释</a:t>
            </a:r>
            <a:endParaRPr lang="en-US" altLang="zh-CN" dirty="0" smtClean="0"/>
          </a:p>
          <a:p>
            <a:pPr lvl="1"/>
            <a:r>
              <a:rPr lang="zh-CN" altLang="en-US" dirty="0" smtClean="0"/>
              <a:t>处理器本身没有任何改变，程序也不用改</a:t>
            </a:r>
            <a:endParaRPr lang="en-US" altLang="zh-CN" dirty="0" smtClean="0"/>
          </a:p>
          <a:p>
            <a:r>
              <a:rPr lang="zh-CN" altLang="en-US" dirty="0" smtClean="0"/>
              <a:t>总线事务</a:t>
            </a:r>
            <a:endParaRPr lang="en-US" altLang="zh-CN" dirty="0" smtClean="0"/>
          </a:p>
          <a:p>
            <a:pPr lvl="1"/>
            <a:r>
              <a:rPr lang="zh-CN" altLang="en-US" dirty="0" smtClean="0"/>
              <a:t>总线</a:t>
            </a:r>
            <a:r>
              <a:rPr lang="zh-CN" altLang="en-US" dirty="0"/>
              <a:t>：一种系统互连设计的</a:t>
            </a:r>
            <a:r>
              <a:rPr lang="zh-CN" altLang="en-US" dirty="0" smtClean="0"/>
              <a:t>抽象，包含一组连接多个设备的互连线</a:t>
            </a:r>
            <a:endParaRPr lang="en-US" altLang="zh-CN" dirty="0" smtClean="0"/>
          </a:p>
          <a:p>
            <a:pPr lvl="1"/>
            <a:r>
              <a:rPr lang="zh-CN" altLang="en-US" dirty="0" smtClean="0"/>
              <a:t>总线协议：仲裁、命令、地址、数据的传送关系</a:t>
            </a:r>
            <a:endParaRPr lang="en-US" altLang="zh-CN" dirty="0" smtClean="0"/>
          </a:p>
          <a:p>
            <a:pPr lvl="1"/>
            <a:r>
              <a:rPr lang="zh-CN" altLang="en-US" dirty="0" smtClean="0"/>
              <a:t>总线上每个设备都能观察到每个事务</a:t>
            </a:r>
            <a:endParaRPr lang="en-US" altLang="zh-CN" dirty="0" smtClean="0"/>
          </a:p>
          <a:p>
            <a:pPr lvl="1"/>
            <a:r>
              <a:rPr lang="zh-CN" altLang="en-US" dirty="0" smtClean="0"/>
              <a:t>需要增加新的总线事务，支持</a:t>
            </a:r>
            <a:r>
              <a:rPr lang="en-US" altLang="zh-CN" dirty="0" smtClean="0"/>
              <a:t>cache</a:t>
            </a:r>
            <a:r>
              <a:rPr lang="zh-CN" altLang="en-US" dirty="0" smtClean="0"/>
              <a:t>同一</a:t>
            </a:r>
            <a:endParaRPr lang="en-US" altLang="zh-CN" dirty="0" smtClean="0"/>
          </a:p>
          <a:p>
            <a:r>
              <a:rPr lang="en-US" altLang="zh-CN" dirty="0" smtClean="0"/>
              <a:t>Cache</a:t>
            </a:r>
            <a:r>
              <a:rPr lang="zh-CN" altLang="en-US" dirty="0" smtClean="0"/>
              <a:t>块的状态转换图</a:t>
            </a:r>
            <a:endParaRPr lang="en-US" altLang="zh-CN" dirty="0" smtClean="0"/>
          </a:p>
          <a:p>
            <a:pPr lvl="1"/>
            <a:r>
              <a:rPr lang="zh-CN" altLang="en-US" dirty="0" smtClean="0"/>
              <a:t>指示</a:t>
            </a:r>
            <a:r>
              <a:rPr lang="en-US" altLang="zh-CN" dirty="0" smtClean="0"/>
              <a:t>cache</a:t>
            </a:r>
            <a:r>
              <a:rPr lang="zh-CN" altLang="en-US" dirty="0" smtClean="0"/>
              <a:t>块状态</a:t>
            </a:r>
            <a:r>
              <a:rPr lang="en-US" altLang="zh-CN" dirty="0" smtClean="0"/>
              <a:t>/</a:t>
            </a:r>
            <a:r>
              <a:rPr lang="zh-CN" altLang="en-US" dirty="0" smtClean="0"/>
              <a:t>部署转换关系的有限自动机，指导对应的逻辑设计</a:t>
            </a:r>
            <a:endParaRPr lang="en-US" altLang="zh-CN" dirty="0" smtClean="0"/>
          </a:p>
          <a:p>
            <a:pPr lvl="2"/>
            <a:r>
              <a:rPr lang="zh-CN" altLang="en-US" dirty="0" smtClean="0"/>
              <a:t>无效、有效、写过，等等</a:t>
            </a:r>
            <a:endParaRPr lang="en-US" altLang="zh-CN" dirty="0" smtClean="0"/>
          </a:p>
          <a:p>
            <a:pPr lvl="1"/>
            <a:r>
              <a:rPr lang="zh-CN" altLang="en-US" dirty="0" smtClean="0"/>
              <a:t>增加新的状态转换关系，及与总线事务的对应关系</a:t>
            </a:r>
            <a:endParaRPr lang="zh-CN" altLang="en-US" dirty="0"/>
          </a:p>
        </p:txBody>
      </p:sp>
    </p:spTree>
    <p:extLst>
      <p:ext uri="{BB962C8B-B14F-4D97-AF65-F5344CB8AC3E}">
        <p14:creationId xmlns:p14="http://schemas.microsoft.com/office/powerpoint/2010/main" val="16985385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基本的设计</a:t>
            </a:r>
            <a:r>
              <a:rPr lang="zh-CN" altLang="en-US" dirty="0"/>
              <a:t>方案</a:t>
            </a:r>
          </a:p>
        </p:txBody>
      </p:sp>
      <p:sp>
        <p:nvSpPr>
          <p:cNvPr id="3" name="内容占位符 2"/>
          <p:cNvSpPr>
            <a:spLocks noGrp="1"/>
          </p:cNvSpPr>
          <p:nvPr>
            <p:ph idx="1"/>
          </p:nvPr>
        </p:nvSpPr>
        <p:spPr/>
        <p:txBody>
          <a:bodyPr/>
          <a:lstStyle/>
          <a:p>
            <a:r>
              <a:rPr lang="en-US" altLang="zh-CN" dirty="0" smtClean="0"/>
              <a:t>Cache</a:t>
            </a:r>
            <a:r>
              <a:rPr lang="zh-CN" altLang="en-US" dirty="0" smtClean="0"/>
              <a:t>控制器根据侦听到的总线事件</a:t>
            </a:r>
            <a:endParaRPr lang="en-US" altLang="zh-CN" dirty="0" smtClean="0"/>
          </a:p>
          <a:p>
            <a:pPr lvl="1"/>
            <a:r>
              <a:rPr lang="zh-CN" altLang="en-US" dirty="0" smtClean="0"/>
              <a:t>更新</a:t>
            </a:r>
            <a:r>
              <a:rPr lang="en-US" altLang="zh-CN" dirty="0" smtClean="0"/>
              <a:t>cache</a:t>
            </a:r>
            <a:r>
              <a:rPr lang="zh-CN" altLang="en-US" dirty="0" smtClean="0"/>
              <a:t>块状态，产生新的总线事务</a:t>
            </a:r>
            <a:endParaRPr lang="en-US" altLang="zh-CN" dirty="0" smtClean="0"/>
          </a:p>
          <a:p>
            <a:r>
              <a:rPr lang="zh-CN" altLang="en-US" dirty="0" smtClean="0"/>
              <a:t>侦听协议</a:t>
            </a:r>
            <a:endParaRPr lang="en-US" altLang="zh-CN" dirty="0" smtClean="0"/>
          </a:p>
          <a:p>
            <a:pPr lvl="1"/>
            <a:r>
              <a:rPr lang="zh-CN" altLang="en-US" dirty="0" smtClean="0"/>
              <a:t>一组状态</a:t>
            </a:r>
            <a:endParaRPr lang="en-US" altLang="zh-CN" dirty="0" smtClean="0"/>
          </a:p>
          <a:p>
            <a:pPr lvl="1"/>
            <a:r>
              <a:rPr lang="zh-CN" altLang="en-US" dirty="0" smtClean="0"/>
              <a:t>状态转换图</a:t>
            </a:r>
            <a:endParaRPr lang="en-US" altLang="zh-CN" dirty="0" smtClean="0"/>
          </a:p>
          <a:p>
            <a:pPr lvl="1"/>
            <a:r>
              <a:rPr lang="zh-CN" altLang="en-US" dirty="0" smtClean="0"/>
              <a:t>动作</a:t>
            </a:r>
            <a:endParaRPr lang="en-US" altLang="zh-CN" dirty="0" smtClean="0"/>
          </a:p>
          <a:p>
            <a:r>
              <a:rPr lang="zh-CN" altLang="en-US" dirty="0" smtClean="0"/>
              <a:t>基本选择</a:t>
            </a:r>
            <a:endParaRPr lang="en-US" altLang="zh-CN" dirty="0" smtClean="0"/>
          </a:p>
          <a:p>
            <a:pPr lvl="1"/>
            <a:r>
              <a:rPr lang="zh-CN" altLang="en-US" dirty="0" smtClean="0"/>
              <a:t>直写</a:t>
            </a:r>
            <a:r>
              <a:rPr lang="en-US" altLang="zh-CN" dirty="0" smtClean="0"/>
              <a:t>vs.</a:t>
            </a:r>
            <a:r>
              <a:rPr lang="zh-CN" altLang="en-US" dirty="0" smtClean="0"/>
              <a:t>后写</a:t>
            </a:r>
            <a:endParaRPr lang="en-US" altLang="zh-CN" dirty="0" smtClean="0"/>
          </a:p>
          <a:p>
            <a:pPr lvl="1"/>
            <a:r>
              <a:rPr lang="zh-CN" altLang="en-US" dirty="0" smtClean="0"/>
              <a:t>使无效</a:t>
            </a:r>
            <a:r>
              <a:rPr lang="en-US" altLang="zh-CN" dirty="0" smtClean="0"/>
              <a:t>vs.</a:t>
            </a:r>
            <a:r>
              <a:rPr lang="zh-CN" altLang="en-US" dirty="0" smtClean="0"/>
              <a:t>更新</a:t>
            </a:r>
            <a:endParaRPr lang="zh-CN" altLang="en-US" dirty="0"/>
          </a:p>
        </p:txBody>
      </p:sp>
      <p:sp>
        <p:nvSpPr>
          <p:cNvPr id="6" name="Rectangle 22"/>
          <p:cNvSpPr>
            <a:spLocks noChangeArrowheads="1"/>
          </p:cNvSpPr>
          <p:nvPr/>
        </p:nvSpPr>
        <p:spPr bwMode="auto">
          <a:xfrm>
            <a:off x="6312024" y="6289805"/>
            <a:ext cx="1215362" cy="397545"/>
          </a:xfrm>
          <a:prstGeom prst="rect">
            <a:avLst/>
          </a:prstGeom>
          <a:noFill/>
          <a:ln w="12700">
            <a:noFill/>
            <a:miter lim="800000"/>
            <a:headEnd/>
            <a:tailEnd/>
          </a:ln>
          <a:effectLst/>
        </p:spPr>
        <p:txBody>
          <a:bodyPr wrap="square" lIns="90488" tIns="44450" rIns="90488" bIns="44450">
            <a:spAutoFit/>
          </a:bodyPr>
          <a:lstStyle/>
          <a:p>
            <a:r>
              <a:rPr lang="en-US" altLang="zh-CN" sz="2000" dirty="0">
                <a:solidFill>
                  <a:srgbClr val="FF0000"/>
                </a:solidFill>
                <a:latin typeface="+mn-lt"/>
              </a:rPr>
              <a:t>Snoop</a:t>
            </a:r>
          </a:p>
        </p:txBody>
      </p:sp>
      <p:grpSp>
        <p:nvGrpSpPr>
          <p:cNvPr id="7" name="Group 25"/>
          <p:cNvGrpSpPr>
            <a:grpSpLocks/>
          </p:cNvGrpSpPr>
          <p:nvPr/>
        </p:nvGrpSpPr>
        <p:grpSpPr bwMode="auto">
          <a:xfrm>
            <a:off x="6528048" y="2708920"/>
            <a:ext cx="5130850" cy="3635995"/>
            <a:chOff x="3015" y="610"/>
            <a:chExt cx="2261" cy="1610"/>
          </a:xfrm>
        </p:grpSpPr>
        <p:sp>
          <p:nvSpPr>
            <p:cNvPr id="8" name="Rectangle 4"/>
            <p:cNvSpPr>
              <a:spLocks noChangeArrowheads="1"/>
            </p:cNvSpPr>
            <p:nvPr/>
          </p:nvSpPr>
          <p:spPr bwMode="auto">
            <a:xfrm>
              <a:off x="3600" y="1311"/>
              <a:ext cx="811" cy="176"/>
            </a:xfrm>
            <a:prstGeom prst="rect">
              <a:avLst/>
            </a:prstGeom>
            <a:noFill/>
            <a:ln w="12700">
              <a:noFill/>
              <a:miter lim="800000"/>
              <a:headEnd/>
              <a:tailEnd/>
            </a:ln>
            <a:effectLst/>
          </p:spPr>
          <p:txBody>
            <a:bodyPr wrap="none" lIns="90488" tIns="44450" rIns="90488" bIns="44450">
              <a:spAutoFit/>
            </a:bodyPr>
            <a:lstStyle/>
            <a:p>
              <a:r>
                <a:rPr lang="en-US" altLang="zh-CN" sz="2000" b="0" dirty="0">
                  <a:latin typeface="+mn-lt"/>
                </a:rPr>
                <a:t>State  Tag   Data</a:t>
              </a:r>
            </a:p>
          </p:txBody>
        </p:sp>
        <p:grpSp>
          <p:nvGrpSpPr>
            <p:cNvPr id="9" name="Group 5"/>
            <p:cNvGrpSpPr>
              <a:grpSpLocks/>
            </p:cNvGrpSpPr>
            <p:nvPr/>
          </p:nvGrpSpPr>
          <p:grpSpPr bwMode="auto">
            <a:xfrm>
              <a:off x="3556" y="1300"/>
              <a:ext cx="1624" cy="184"/>
              <a:chOff x="3556" y="1300"/>
              <a:chExt cx="1624" cy="184"/>
            </a:xfrm>
          </p:grpSpPr>
          <p:sp>
            <p:nvSpPr>
              <p:cNvPr id="25" name="Rectangle 6"/>
              <p:cNvSpPr>
                <a:spLocks noChangeArrowheads="1"/>
              </p:cNvSpPr>
              <p:nvPr/>
            </p:nvSpPr>
            <p:spPr bwMode="auto">
              <a:xfrm>
                <a:off x="3556" y="1300"/>
                <a:ext cx="1624" cy="184"/>
              </a:xfrm>
              <a:prstGeom prst="rect">
                <a:avLst/>
              </a:prstGeom>
              <a:noFill/>
              <a:ln w="12700">
                <a:solidFill>
                  <a:schemeClr val="tx1"/>
                </a:solidFill>
                <a:miter lim="800000"/>
                <a:headEnd/>
                <a:tailEnd/>
              </a:ln>
              <a:effectLst/>
            </p:spPr>
            <p:txBody>
              <a:bodyPr wrap="none" anchor="ctr"/>
              <a:lstStyle/>
              <a:p>
                <a:endParaRPr lang="zh-CN" altLang="en-US" sz="2000">
                  <a:latin typeface="+mn-lt"/>
                </a:endParaRPr>
              </a:p>
            </p:txBody>
          </p:sp>
          <p:sp>
            <p:nvSpPr>
              <p:cNvPr id="26" name="Line 7"/>
              <p:cNvSpPr>
                <a:spLocks noChangeShapeType="1"/>
              </p:cNvSpPr>
              <p:nvPr/>
            </p:nvSpPr>
            <p:spPr bwMode="auto">
              <a:xfrm>
                <a:off x="3888" y="1300"/>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sp>
            <p:nvSpPr>
              <p:cNvPr id="27" name="Line 8"/>
              <p:cNvSpPr>
                <a:spLocks noChangeShapeType="1"/>
              </p:cNvSpPr>
              <p:nvPr/>
            </p:nvSpPr>
            <p:spPr bwMode="auto">
              <a:xfrm>
                <a:off x="4128" y="1300"/>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grpSp>
        <p:grpSp>
          <p:nvGrpSpPr>
            <p:cNvPr id="10" name="Group 9"/>
            <p:cNvGrpSpPr>
              <a:grpSpLocks/>
            </p:cNvGrpSpPr>
            <p:nvPr/>
          </p:nvGrpSpPr>
          <p:grpSpPr bwMode="auto">
            <a:xfrm>
              <a:off x="3556" y="1492"/>
              <a:ext cx="1624" cy="184"/>
              <a:chOff x="3556" y="1492"/>
              <a:chExt cx="1624" cy="184"/>
            </a:xfrm>
          </p:grpSpPr>
          <p:sp>
            <p:nvSpPr>
              <p:cNvPr id="22" name="Rectangle 10"/>
              <p:cNvSpPr>
                <a:spLocks noChangeArrowheads="1"/>
              </p:cNvSpPr>
              <p:nvPr/>
            </p:nvSpPr>
            <p:spPr bwMode="auto">
              <a:xfrm>
                <a:off x="3556" y="1492"/>
                <a:ext cx="1624" cy="184"/>
              </a:xfrm>
              <a:prstGeom prst="rect">
                <a:avLst/>
              </a:prstGeom>
              <a:noFill/>
              <a:ln w="12700">
                <a:solidFill>
                  <a:schemeClr val="tx1"/>
                </a:solidFill>
                <a:miter lim="800000"/>
                <a:headEnd/>
                <a:tailEnd/>
              </a:ln>
              <a:effectLst/>
            </p:spPr>
            <p:txBody>
              <a:bodyPr wrap="none" anchor="ctr"/>
              <a:lstStyle/>
              <a:p>
                <a:endParaRPr lang="zh-CN" altLang="en-US" sz="2000">
                  <a:latin typeface="+mn-lt"/>
                </a:endParaRPr>
              </a:p>
            </p:txBody>
          </p:sp>
          <p:sp>
            <p:nvSpPr>
              <p:cNvPr id="23" name="Line 11"/>
              <p:cNvSpPr>
                <a:spLocks noChangeShapeType="1"/>
              </p:cNvSpPr>
              <p:nvPr/>
            </p:nvSpPr>
            <p:spPr bwMode="auto">
              <a:xfrm>
                <a:off x="3888" y="1492"/>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sp>
            <p:nvSpPr>
              <p:cNvPr id="24" name="Line 12"/>
              <p:cNvSpPr>
                <a:spLocks noChangeShapeType="1"/>
              </p:cNvSpPr>
              <p:nvPr/>
            </p:nvSpPr>
            <p:spPr bwMode="auto">
              <a:xfrm>
                <a:off x="4128" y="1492"/>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grpSp>
        <p:grpSp>
          <p:nvGrpSpPr>
            <p:cNvPr id="11" name="Group 13"/>
            <p:cNvGrpSpPr>
              <a:grpSpLocks/>
            </p:cNvGrpSpPr>
            <p:nvPr/>
          </p:nvGrpSpPr>
          <p:grpSpPr bwMode="auto">
            <a:xfrm>
              <a:off x="3556" y="1828"/>
              <a:ext cx="1624" cy="184"/>
              <a:chOff x="3556" y="1828"/>
              <a:chExt cx="1624" cy="184"/>
            </a:xfrm>
          </p:grpSpPr>
          <p:sp>
            <p:nvSpPr>
              <p:cNvPr id="19" name="Rectangle 14"/>
              <p:cNvSpPr>
                <a:spLocks noChangeArrowheads="1"/>
              </p:cNvSpPr>
              <p:nvPr/>
            </p:nvSpPr>
            <p:spPr bwMode="auto">
              <a:xfrm>
                <a:off x="3556" y="1828"/>
                <a:ext cx="1624" cy="184"/>
              </a:xfrm>
              <a:prstGeom prst="rect">
                <a:avLst/>
              </a:prstGeom>
              <a:noFill/>
              <a:ln w="12700">
                <a:solidFill>
                  <a:schemeClr val="tx1"/>
                </a:solidFill>
                <a:miter lim="800000"/>
                <a:headEnd/>
                <a:tailEnd/>
              </a:ln>
              <a:effectLst/>
            </p:spPr>
            <p:txBody>
              <a:bodyPr wrap="none" anchor="ctr"/>
              <a:lstStyle/>
              <a:p>
                <a:endParaRPr lang="zh-CN" altLang="en-US" sz="2000">
                  <a:latin typeface="+mn-lt"/>
                </a:endParaRPr>
              </a:p>
            </p:txBody>
          </p:sp>
          <p:sp>
            <p:nvSpPr>
              <p:cNvPr id="20" name="Line 15"/>
              <p:cNvSpPr>
                <a:spLocks noChangeShapeType="1"/>
              </p:cNvSpPr>
              <p:nvPr/>
            </p:nvSpPr>
            <p:spPr bwMode="auto">
              <a:xfrm>
                <a:off x="3888" y="1828"/>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sp>
            <p:nvSpPr>
              <p:cNvPr id="21" name="Line 16"/>
              <p:cNvSpPr>
                <a:spLocks noChangeShapeType="1"/>
              </p:cNvSpPr>
              <p:nvPr/>
            </p:nvSpPr>
            <p:spPr bwMode="auto">
              <a:xfrm>
                <a:off x="4128" y="1828"/>
                <a:ext cx="0" cy="184"/>
              </a:xfrm>
              <a:prstGeom prst="line">
                <a:avLst/>
              </a:prstGeom>
              <a:noFill/>
              <a:ln w="12700">
                <a:solidFill>
                  <a:schemeClr val="tx1"/>
                </a:solidFill>
                <a:round/>
                <a:headEnd/>
                <a:tailEnd/>
              </a:ln>
              <a:effectLst/>
            </p:spPr>
            <p:txBody>
              <a:bodyPr wrap="none" anchor="ctr"/>
              <a:lstStyle/>
              <a:p>
                <a:endParaRPr lang="zh-CN" altLang="en-US" sz="2000">
                  <a:latin typeface="+mn-lt"/>
                </a:endParaRPr>
              </a:p>
            </p:txBody>
          </p:sp>
        </p:grpSp>
        <p:sp>
          <p:nvSpPr>
            <p:cNvPr id="12" name="Rectangle 17"/>
            <p:cNvSpPr>
              <a:spLocks noChangeArrowheads="1"/>
            </p:cNvSpPr>
            <p:nvPr/>
          </p:nvSpPr>
          <p:spPr bwMode="auto">
            <a:xfrm>
              <a:off x="4071" y="1695"/>
              <a:ext cx="470" cy="176"/>
            </a:xfrm>
            <a:prstGeom prst="rect">
              <a:avLst/>
            </a:prstGeom>
            <a:noFill/>
            <a:ln w="12700">
              <a:noFill/>
              <a:miter lim="800000"/>
              <a:headEnd/>
              <a:tailEnd/>
            </a:ln>
            <a:effectLst/>
          </p:spPr>
          <p:txBody>
            <a:bodyPr wrap="none" lIns="90488" tIns="44450" rIns="90488" bIns="44450">
              <a:spAutoFit/>
            </a:bodyPr>
            <a:lstStyle/>
            <a:p>
              <a:r>
                <a:rPr lang="zh-CN" altLang="en-US" sz="2000" b="0" dirty="0">
                  <a:latin typeface="+mn-lt"/>
                </a:rPr>
                <a:t>° ° °</a:t>
              </a:r>
            </a:p>
          </p:txBody>
        </p:sp>
        <p:sp>
          <p:nvSpPr>
            <p:cNvPr id="13" name="Rectangle 18"/>
            <p:cNvSpPr>
              <a:spLocks noChangeArrowheads="1"/>
            </p:cNvSpPr>
            <p:nvPr/>
          </p:nvSpPr>
          <p:spPr bwMode="auto">
            <a:xfrm>
              <a:off x="3399" y="1119"/>
              <a:ext cx="846" cy="176"/>
            </a:xfrm>
            <a:prstGeom prst="rect">
              <a:avLst/>
            </a:prstGeom>
            <a:noFill/>
            <a:ln w="12700">
              <a:noFill/>
              <a:miter lim="800000"/>
              <a:headEnd/>
              <a:tailEnd/>
            </a:ln>
            <a:effectLst/>
          </p:spPr>
          <p:txBody>
            <a:bodyPr wrap="none" lIns="90488" tIns="44450" rIns="90488" bIns="44450">
              <a:spAutoFit/>
            </a:bodyPr>
            <a:lstStyle/>
            <a:p>
              <a:r>
                <a:rPr lang="en-US" altLang="zh-CN" sz="2000" b="0">
                  <a:latin typeface="+mn-lt"/>
                </a:rPr>
                <a:t>Cache Controller</a:t>
              </a:r>
            </a:p>
          </p:txBody>
        </p:sp>
        <p:sp>
          <p:nvSpPr>
            <p:cNvPr id="14" name="AutoShape 19"/>
            <p:cNvSpPr>
              <a:spLocks noChangeArrowheads="1"/>
            </p:cNvSpPr>
            <p:nvPr/>
          </p:nvSpPr>
          <p:spPr bwMode="auto">
            <a:xfrm>
              <a:off x="3364" y="1060"/>
              <a:ext cx="1912" cy="1096"/>
            </a:xfrm>
            <a:prstGeom prst="roundRect">
              <a:avLst>
                <a:gd name="adj" fmla="val 12495"/>
              </a:avLst>
            </a:prstGeom>
            <a:noFill/>
            <a:ln w="12700">
              <a:solidFill>
                <a:schemeClr val="tx1"/>
              </a:solidFill>
              <a:round/>
              <a:headEnd/>
              <a:tailEnd/>
            </a:ln>
            <a:effectLst/>
          </p:spPr>
          <p:txBody>
            <a:bodyPr wrap="none" anchor="ctr"/>
            <a:lstStyle/>
            <a:p>
              <a:endParaRPr lang="zh-CN" altLang="en-US" sz="2000">
                <a:latin typeface="+mn-lt"/>
              </a:endParaRPr>
            </a:p>
          </p:txBody>
        </p:sp>
        <p:sp>
          <p:nvSpPr>
            <p:cNvPr id="15" name="Rectangle 20"/>
            <p:cNvSpPr>
              <a:spLocks noChangeArrowheads="1"/>
            </p:cNvSpPr>
            <p:nvPr/>
          </p:nvSpPr>
          <p:spPr bwMode="auto">
            <a:xfrm>
              <a:off x="3015" y="610"/>
              <a:ext cx="529" cy="176"/>
            </a:xfrm>
            <a:prstGeom prst="rect">
              <a:avLst/>
            </a:prstGeom>
            <a:noFill/>
            <a:ln w="12700">
              <a:noFill/>
              <a:miter lim="800000"/>
              <a:headEnd/>
              <a:tailEnd/>
            </a:ln>
            <a:effectLst/>
          </p:spPr>
          <p:txBody>
            <a:bodyPr wrap="none" lIns="90488" tIns="44450" rIns="90488" bIns="44450">
              <a:spAutoFit/>
            </a:bodyPr>
            <a:lstStyle/>
            <a:p>
              <a:r>
                <a:rPr lang="en-US" altLang="zh-CN" sz="2000" dirty="0">
                  <a:latin typeface="+mn-lt"/>
                </a:rPr>
                <a:t>Processor</a:t>
              </a:r>
            </a:p>
          </p:txBody>
        </p:sp>
        <p:sp>
          <p:nvSpPr>
            <p:cNvPr id="16" name="Line 21"/>
            <p:cNvSpPr>
              <a:spLocks noChangeShapeType="1"/>
            </p:cNvSpPr>
            <p:nvPr/>
          </p:nvSpPr>
          <p:spPr bwMode="auto">
            <a:xfrm>
              <a:off x="3276" y="828"/>
              <a:ext cx="72" cy="264"/>
            </a:xfrm>
            <a:prstGeom prst="line">
              <a:avLst/>
            </a:prstGeom>
            <a:noFill/>
            <a:ln w="38100" cmpd="dbl">
              <a:solidFill>
                <a:schemeClr val="tx1"/>
              </a:solidFill>
              <a:round/>
              <a:headEnd/>
              <a:tailEnd type="triangle" w="med" len="med"/>
            </a:ln>
            <a:effectLst/>
          </p:spPr>
          <p:txBody>
            <a:bodyPr wrap="none" anchor="ctr"/>
            <a:lstStyle/>
            <a:p>
              <a:endParaRPr lang="zh-CN" altLang="en-US" sz="2000">
                <a:latin typeface="+mn-lt"/>
              </a:endParaRPr>
            </a:p>
          </p:txBody>
        </p:sp>
        <p:sp>
          <p:nvSpPr>
            <p:cNvPr id="17" name="Line 23"/>
            <p:cNvSpPr>
              <a:spLocks noChangeShapeType="1"/>
            </p:cNvSpPr>
            <p:nvPr/>
          </p:nvSpPr>
          <p:spPr bwMode="auto">
            <a:xfrm flipV="1">
              <a:off x="3084" y="2052"/>
              <a:ext cx="264" cy="168"/>
            </a:xfrm>
            <a:prstGeom prst="line">
              <a:avLst/>
            </a:prstGeom>
            <a:noFill/>
            <a:ln w="38100" cmpd="dbl">
              <a:solidFill>
                <a:schemeClr val="tx1"/>
              </a:solidFill>
              <a:round/>
              <a:headEnd/>
              <a:tailEnd type="triangle" w="med" len="med"/>
            </a:ln>
            <a:effectLst/>
          </p:spPr>
          <p:txBody>
            <a:bodyPr wrap="none" anchor="ctr"/>
            <a:lstStyle/>
            <a:p>
              <a:endParaRPr lang="zh-CN" altLang="en-US" sz="2000">
                <a:latin typeface="+mn-lt"/>
              </a:endParaRPr>
            </a:p>
          </p:txBody>
        </p:sp>
        <p:sp>
          <p:nvSpPr>
            <p:cNvPr id="18" name="Rectangle 24"/>
            <p:cNvSpPr>
              <a:spLocks noChangeArrowheads="1"/>
            </p:cNvSpPr>
            <p:nvPr/>
          </p:nvSpPr>
          <p:spPr bwMode="auto">
            <a:xfrm>
              <a:off x="3351" y="831"/>
              <a:ext cx="321" cy="176"/>
            </a:xfrm>
            <a:prstGeom prst="rect">
              <a:avLst/>
            </a:prstGeom>
            <a:noFill/>
            <a:ln w="12700">
              <a:noFill/>
              <a:miter lim="800000"/>
              <a:headEnd/>
              <a:tailEnd/>
            </a:ln>
            <a:effectLst/>
          </p:spPr>
          <p:txBody>
            <a:bodyPr wrap="none" lIns="90488" tIns="44450" rIns="90488" bIns="44450">
              <a:spAutoFit/>
            </a:bodyPr>
            <a:lstStyle/>
            <a:p>
              <a:r>
                <a:rPr lang="en-US" altLang="zh-CN" sz="2000" b="0">
                  <a:latin typeface="+mn-lt"/>
                </a:rPr>
                <a:t>Ld/St</a:t>
              </a:r>
            </a:p>
          </p:txBody>
        </p:sp>
      </p:grpSp>
    </p:spTree>
    <p:extLst>
      <p:ext uri="{BB962C8B-B14F-4D97-AF65-F5344CB8AC3E}">
        <p14:creationId xmlns:p14="http://schemas.microsoft.com/office/powerpoint/2010/main" val="10839832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直写使无效协议</a:t>
            </a:r>
            <a:endParaRPr lang="zh-CN" altLang="en-US" dirty="0"/>
          </a:p>
        </p:txBody>
      </p:sp>
      <p:sp>
        <p:nvSpPr>
          <p:cNvPr id="3" name="内容占位符 2"/>
          <p:cNvSpPr>
            <a:spLocks noGrp="1"/>
          </p:cNvSpPr>
          <p:nvPr>
            <p:ph idx="1"/>
          </p:nvPr>
        </p:nvSpPr>
        <p:spPr>
          <a:xfrm>
            <a:off x="407368" y="1556792"/>
            <a:ext cx="6739486" cy="5112568"/>
          </a:xfrm>
        </p:spPr>
        <p:txBody>
          <a:bodyPr/>
          <a:lstStyle/>
          <a:p>
            <a:r>
              <a:rPr lang="zh-CN" altLang="en-US" dirty="0" smtClean="0"/>
              <a:t>每</a:t>
            </a:r>
            <a:r>
              <a:rPr lang="en-US" altLang="zh-CN" dirty="0" smtClean="0"/>
              <a:t>cache</a:t>
            </a:r>
            <a:r>
              <a:rPr lang="zh-CN" altLang="en-US" dirty="0" smtClean="0"/>
              <a:t>块有两状态</a:t>
            </a:r>
            <a:endParaRPr lang="en-US" altLang="zh-CN" dirty="0" smtClean="0"/>
          </a:p>
          <a:p>
            <a:pPr lvl="1"/>
            <a:r>
              <a:rPr lang="zh-CN" altLang="en-US" dirty="0" smtClean="0"/>
              <a:t>与单处理机一样 </a:t>
            </a:r>
            <a:r>
              <a:rPr lang="en-US" altLang="zh-CN" dirty="0" smtClean="0"/>
              <a:t>(Valid, Invalid)</a:t>
            </a:r>
          </a:p>
          <a:p>
            <a:pPr lvl="1"/>
            <a:r>
              <a:rPr lang="zh-CN" altLang="en-US" dirty="0" smtClean="0"/>
              <a:t>每个内存块有一个虚拟状态向量：</a:t>
            </a:r>
            <a:r>
              <a:rPr lang="en-US" altLang="zh-CN" dirty="0" smtClean="0"/>
              <a:t>n</a:t>
            </a:r>
            <a:r>
              <a:rPr lang="zh-CN" altLang="en-US" dirty="0" smtClean="0"/>
              <a:t>个分量</a:t>
            </a:r>
            <a:endParaRPr lang="en-US" altLang="zh-CN" dirty="0" smtClean="0"/>
          </a:p>
          <a:p>
            <a:pPr lvl="1"/>
            <a:r>
              <a:rPr lang="zh-CN" altLang="en-US" dirty="0" smtClean="0"/>
              <a:t>在某</a:t>
            </a:r>
            <a:r>
              <a:rPr lang="en-US" altLang="zh-CN" dirty="0" smtClean="0"/>
              <a:t>cache</a:t>
            </a:r>
            <a:r>
              <a:rPr lang="zh-CN" altLang="en-US" dirty="0" smtClean="0"/>
              <a:t>中，硬件状态位</a:t>
            </a:r>
            <a:endParaRPr lang="en-US" altLang="zh-CN" dirty="0" smtClean="0"/>
          </a:p>
          <a:p>
            <a:pPr lvl="1"/>
            <a:r>
              <a:rPr lang="zh-CN" altLang="en-US" dirty="0" smtClean="0"/>
              <a:t>不在某</a:t>
            </a:r>
            <a:r>
              <a:rPr lang="en-US" altLang="zh-CN" dirty="0" smtClean="0"/>
              <a:t>cache</a:t>
            </a:r>
            <a:r>
              <a:rPr lang="zh-CN" altLang="en-US" dirty="0" smtClean="0"/>
              <a:t>中，</a:t>
            </a:r>
            <a:r>
              <a:rPr lang="en-US" altLang="zh-CN" dirty="0" smtClean="0"/>
              <a:t>invalid</a:t>
            </a:r>
          </a:p>
          <a:p>
            <a:r>
              <a:rPr lang="zh-CN" altLang="en-US" dirty="0" smtClean="0"/>
              <a:t>对某块的写操作迫使所有其它</a:t>
            </a:r>
            <a:r>
              <a:rPr lang="en-US" altLang="zh-CN" dirty="0" smtClean="0"/>
              <a:t>cache</a:t>
            </a:r>
            <a:r>
              <a:rPr lang="zh-CN" altLang="en-US" dirty="0" smtClean="0"/>
              <a:t>中的该块副本无效</a:t>
            </a:r>
            <a:endParaRPr lang="en-US" altLang="zh-CN" dirty="0" smtClean="0"/>
          </a:p>
          <a:p>
            <a:pPr lvl="1"/>
            <a:r>
              <a:rPr lang="zh-CN" altLang="en-US" dirty="0" smtClean="0"/>
              <a:t>一个块可能有多个读访问者</a:t>
            </a:r>
            <a:endParaRPr lang="en-US" altLang="zh-CN" dirty="0" smtClean="0"/>
          </a:p>
          <a:p>
            <a:pPr lvl="1"/>
            <a:r>
              <a:rPr lang="zh-CN" altLang="en-US" dirty="0" smtClean="0"/>
              <a:t>写操作置它们均为无效</a:t>
            </a:r>
            <a:endParaRPr lang="en-US" altLang="zh-CN" dirty="0" smtClean="0"/>
          </a:p>
          <a:p>
            <a:r>
              <a:rPr lang="en-US" altLang="zh-CN" dirty="0" smtClean="0"/>
              <a:t>Cache</a:t>
            </a:r>
            <a:r>
              <a:rPr lang="zh-CN" altLang="en-US" dirty="0" smtClean="0"/>
              <a:t>状态转换图中的记号</a:t>
            </a:r>
            <a:endParaRPr lang="en-US" altLang="zh-CN" dirty="0" smtClean="0"/>
          </a:p>
          <a:p>
            <a:pPr lvl="1"/>
            <a:r>
              <a:rPr lang="zh-CN" altLang="en-US" dirty="0"/>
              <a:t>接收到的处理器请求或总线</a:t>
            </a:r>
            <a:r>
              <a:rPr lang="zh-CN" altLang="en-US" dirty="0" smtClean="0"/>
              <a:t>请求 </a:t>
            </a:r>
            <a:r>
              <a:rPr lang="en-US" altLang="zh-CN" dirty="0" smtClean="0"/>
              <a:t>/ </a:t>
            </a:r>
            <a:r>
              <a:rPr lang="zh-CN" altLang="en-US" dirty="0" smtClean="0">
                <a:solidFill>
                  <a:srgbClr val="00B050"/>
                </a:solidFill>
              </a:rPr>
              <a:t>随</a:t>
            </a:r>
            <a:r>
              <a:rPr lang="zh-CN" altLang="en-US" dirty="0">
                <a:solidFill>
                  <a:srgbClr val="00B050"/>
                </a:solidFill>
              </a:rPr>
              <a:t>之发出的总线请求</a:t>
            </a:r>
          </a:p>
          <a:p>
            <a:pPr lvl="1"/>
            <a:endParaRPr lang="zh-CN" altLang="en-US" dirty="0"/>
          </a:p>
        </p:txBody>
      </p:sp>
      <p:grpSp>
        <p:nvGrpSpPr>
          <p:cNvPr id="6" name="Group 63"/>
          <p:cNvGrpSpPr>
            <a:grpSpLocks/>
          </p:cNvGrpSpPr>
          <p:nvPr/>
        </p:nvGrpSpPr>
        <p:grpSpPr bwMode="auto">
          <a:xfrm>
            <a:off x="7431333" y="1491691"/>
            <a:ext cx="3705227" cy="2743200"/>
            <a:chOff x="1512" y="837"/>
            <a:chExt cx="2334" cy="1947"/>
          </a:xfrm>
        </p:grpSpPr>
        <p:sp>
          <p:nvSpPr>
            <p:cNvPr id="7" name="Freeform 5"/>
            <p:cNvSpPr>
              <a:spLocks/>
            </p:cNvSpPr>
            <p:nvPr/>
          </p:nvSpPr>
          <p:spPr bwMode="auto">
            <a:xfrm>
              <a:off x="2360" y="1767"/>
              <a:ext cx="207" cy="412"/>
            </a:xfrm>
            <a:custGeom>
              <a:avLst/>
              <a:gdLst/>
              <a:ahLst/>
              <a:cxnLst>
                <a:cxn ang="0">
                  <a:pos x="205" y="0"/>
                </a:cxn>
                <a:cxn ang="0">
                  <a:pos x="207" y="412"/>
                </a:cxn>
                <a:cxn ang="0">
                  <a:pos x="172" y="408"/>
                </a:cxn>
                <a:cxn ang="0">
                  <a:pos x="141" y="391"/>
                </a:cxn>
                <a:cxn ang="0">
                  <a:pos x="111" y="368"/>
                </a:cxn>
                <a:cxn ang="0">
                  <a:pos x="85" y="335"/>
                </a:cxn>
                <a:cxn ang="0">
                  <a:pos x="61" y="292"/>
                </a:cxn>
                <a:cxn ang="0">
                  <a:pos x="40" y="245"/>
                </a:cxn>
                <a:cxn ang="0">
                  <a:pos x="24" y="191"/>
                </a:cxn>
                <a:cxn ang="0">
                  <a:pos x="9" y="132"/>
                </a:cxn>
                <a:cxn ang="0">
                  <a:pos x="2" y="69"/>
                </a:cxn>
                <a:cxn ang="0">
                  <a:pos x="0" y="0"/>
                </a:cxn>
                <a:cxn ang="0">
                  <a:pos x="205" y="0"/>
                </a:cxn>
              </a:cxnLst>
              <a:rect l="0" t="0" r="r" b="b"/>
              <a:pathLst>
                <a:path w="207" h="412">
                  <a:moveTo>
                    <a:pt x="205" y="0"/>
                  </a:moveTo>
                  <a:lnTo>
                    <a:pt x="207" y="412"/>
                  </a:lnTo>
                  <a:lnTo>
                    <a:pt x="172" y="408"/>
                  </a:lnTo>
                  <a:lnTo>
                    <a:pt x="141" y="391"/>
                  </a:lnTo>
                  <a:lnTo>
                    <a:pt x="111" y="368"/>
                  </a:lnTo>
                  <a:lnTo>
                    <a:pt x="85" y="335"/>
                  </a:lnTo>
                  <a:lnTo>
                    <a:pt x="61" y="292"/>
                  </a:lnTo>
                  <a:lnTo>
                    <a:pt x="40" y="245"/>
                  </a:lnTo>
                  <a:lnTo>
                    <a:pt x="24" y="191"/>
                  </a:lnTo>
                  <a:lnTo>
                    <a:pt x="9" y="132"/>
                  </a:lnTo>
                  <a:lnTo>
                    <a:pt x="2" y="69"/>
                  </a:lnTo>
                  <a:lnTo>
                    <a:pt x="0" y="0"/>
                  </a:lnTo>
                  <a:lnTo>
                    <a:pt x="205" y="0"/>
                  </a:lnTo>
                  <a:close/>
                </a:path>
              </a:pathLst>
            </a:custGeom>
            <a:solidFill>
              <a:srgbClr val="FFFFFF"/>
            </a:solidFill>
            <a:ln w="9525">
              <a:noFill/>
              <a:round/>
              <a:headEnd/>
              <a:tailEnd/>
            </a:ln>
          </p:spPr>
          <p:txBody>
            <a:bodyPr/>
            <a:lstStyle/>
            <a:p>
              <a:endParaRPr lang="zh-CN" altLang="en-US">
                <a:latin typeface="+mn-lt"/>
              </a:endParaRPr>
            </a:p>
          </p:txBody>
        </p:sp>
        <p:sp>
          <p:nvSpPr>
            <p:cNvPr id="8" name="Freeform 6"/>
            <p:cNvSpPr>
              <a:spLocks/>
            </p:cNvSpPr>
            <p:nvPr/>
          </p:nvSpPr>
          <p:spPr bwMode="auto">
            <a:xfrm>
              <a:off x="2360" y="1767"/>
              <a:ext cx="207" cy="412"/>
            </a:xfrm>
            <a:custGeom>
              <a:avLst/>
              <a:gdLst/>
              <a:ahLst/>
              <a:cxnLst>
                <a:cxn ang="0">
                  <a:pos x="0" y="0"/>
                </a:cxn>
                <a:cxn ang="0">
                  <a:pos x="2" y="69"/>
                </a:cxn>
                <a:cxn ang="0">
                  <a:pos x="9" y="132"/>
                </a:cxn>
                <a:cxn ang="0">
                  <a:pos x="24" y="191"/>
                </a:cxn>
                <a:cxn ang="0">
                  <a:pos x="40" y="245"/>
                </a:cxn>
                <a:cxn ang="0">
                  <a:pos x="61" y="292"/>
                </a:cxn>
                <a:cxn ang="0">
                  <a:pos x="85" y="335"/>
                </a:cxn>
                <a:cxn ang="0">
                  <a:pos x="111" y="368"/>
                </a:cxn>
                <a:cxn ang="0">
                  <a:pos x="141" y="391"/>
                </a:cxn>
                <a:cxn ang="0">
                  <a:pos x="172" y="408"/>
                </a:cxn>
                <a:cxn ang="0">
                  <a:pos x="207" y="412"/>
                </a:cxn>
              </a:cxnLst>
              <a:rect l="0" t="0" r="r" b="b"/>
              <a:pathLst>
                <a:path w="207" h="412">
                  <a:moveTo>
                    <a:pt x="0" y="0"/>
                  </a:moveTo>
                  <a:lnTo>
                    <a:pt x="2" y="69"/>
                  </a:lnTo>
                  <a:lnTo>
                    <a:pt x="9" y="132"/>
                  </a:lnTo>
                  <a:lnTo>
                    <a:pt x="24" y="191"/>
                  </a:lnTo>
                  <a:lnTo>
                    <a:pt x="40" y="245"/>
                  </a:lnTo>
                  <a:lnTo>
                    <a:pt x="61" y="292"/>
                  </a:lnTo>
                  <a:lnTo>
                    <a:pt x="85" y="335"/>
                  </a:lnTo>
                  <a:lnTo>
                    <a:pt x="111" y="368"/>
                  </a:lnTo>
                  <a:lnTo>
                    <a:pt x="141" y="391"/>
                  </a:lnTo>
                  <a:lnTo>
                    <a:pt x="172" y="408"/>
                  </a:lnTo>
                  <a:lnTo>
                    <a:pt x="207" y="412"/>
                  </a:lnTo>
                </a:path>
              </a:pathLst>
            </a:custGeom>
            <a:noFill/>
            <a:ln w="7938">
              <a:solidFill>
                <a:srgbClr val="000000"/>
              </a:solidFill>
              <a:prstDash val="solid"/>
              <a:round/>
              <a:headEnd/>
              <a:tailEnd/>
            </a:ln>
          </p:spPr>
          <p:txBody>
            <a:bodyPr/>
            <a:lstStyle/>
            <a:p>
              <a:endParaRPr lang="zh-CN" altLang="en-US">
                <a:latin typeface="+mn-lt"/>
              </a:endParaRPr>
            </a:p>
          </p:txBody>
        </p:sp>
        <p:sp>
          <p:nvSpPr>
            <p:cNvPr id="9" name="Freeform 7"/>
            <p:cNvSpPr>
              <a:spLocks/>
            </p:cNvSpPr>
            <p:nvPr/>
          </p:nvSpPr>
          <p:spPr bwMode="auto">
            <a:xfrm>
              <a:off x="2772" y="2431"/>
              <a:ext cx="86" cy="176"/>
            </a:xfrm>
            <a:custGeom>
              <a:avLst/>
              <a:gdLst/>
              <a:ahLst/>
              <a:cxnLst>
                <a:cxn ang="0">
                  <a:pos x="86" y="176"/>
                </a:cxn>
                <a:cxn ang="0">
                  <a:pos x="86" y="146"/>
                </a:cxn>
                <a:cxn ang="0">
                  <a:pos x="82" y="120"/>
                </a:cxn>
                <a:cxn ang="0">
                  <a:pos x="77" y="94"/>
                </a:cxn>
                <a:cxn ang="0">
                  <a:pos x="70" y="71"/>
                </a:cxn>
                <a:cxn ang="0">
                  <a:pos x="61" y="52"/>
                </a:cxn>
                <a:cxn ang="0">
                  <a:pos x="51" y="33"/>
                </a:cxn>
                <a:cxn ang="0">
                  <a:pos x="39" y="19"/>
                </a:cxn>
                <a:cxn ang="0">
                  <a:pos x="28" y="7"/>
                </a:cxn>
                <a:cxn ang="0">
                  <a:pos x="14" y="2"/>
                </a:cxn>
                <a:cxn ang="0">
                  <a:pos x="0" y="0"/>
                </a:cxn>
              </a:cxnLst>
              <a:rect l="0" t="0" r="r" b="b"/>
              <a:pathLst>
                <a:path w="86" h="176">
                  <a:moveTo>
                    <a:pt x="86" y="176"/>
                  </a:moveTo>
                  <a:lnTo>
                    <a:pt x="86" y="146"/>
                  </a:lnTo>
                  <a:lnTo>
                    <a:pt x="82" y="120"/>
                  </a:lnTo>
                  <a:lnTo>
                    <a:pt x="77" y="94"/>
                  </a:lnTo>
                  <a:lnTo>
                    <a:pt x="70" y="71"/>
                  </a:lnTo>
                  <a:lnTo>
                    <a:pt x="61" y="52"/>
                  </a:lnTo>
                  <a:lnTo>
                    <a:pt x="51" y="33"/>
                  </a:lnTo>
                  <a:lnTo>
                    <a:pt x="39" y="19"/>
                  </a:lnTo>
                  <a:lnTo>
                    <a:pt x="28" y="7"/>
                  </a:lnTo>
                  <a:lnTo>
                    <a:pt x="14" y="2"/>
                  </a:lnTo>
                  <a:lnTo>
                    <a:pt x="0" y="0"/>
                  </a:lnTo>
                </a:path>
              </a:pathLst>
            </a:custGeom>
            <a:noFill/>
            <a:ln w="7938">
              <a:solidFill>
                <a:srgbClr val="000000"/>
              </a:solidFill>
              <a:prstDash val="solid"/>
              <a:round/>
              <a:headEnd/>
              <a:tailEnd/>
            </a:ln>
          </p:spPr>
          <p:txBody>
            <a:bodyPr/>
            <a:lstStyle/>
            <a:p>
              <a:endParaRPr lang="zh-CN" altLang="en-US">
                <a:latin typeface="+mn-lt"/>
              </a:endParaRPr>
            </a:p>
          </p:txBody>
        </p:sp>
        <p:sp>
          <p:nvSpPr>
            <p:cNvPr id="10" name="Freeform 8"/>
            <p:cNvSpPr>
              <a:spLocks/>
            </p:cNvSpPr>
            <p:nvPr/>
          </p:nvSpPr>
          <p:spPr bwMode="auto">
            <a:xfrm>
              <a:off x="2532" y="1118"/>
              <a:ext cx="352" cy="353"/>
            </a:xfrm>
            <a:custGeom>
              <a:avLst/>
              <a:gdLst/>
              <a:ahLst/>
              <a:cxnLst>
                <a:cxn ang="0">
                  <a:pos x="350" y="177"/>
                </a:cxn>
                <a:cxn ang="0">
                  <a:pos x="350" y="207"/>
                </a:cxn>
                <a:cxn ang="0">
                  <a:pos x="343" y="233"/>
                </a:cxn>
                <a:cxn ang="0">
                  <a:pos x="331" y="259"/>
                </a:cxn>
                <a:cxn ang="0">
                  <a:pos x="317" y="282"/>
                </a:cxn>
                <a:cxn ang="0">
                  <a:pos x="301" y="301"/>
                </a:cxn>
                <a:cxn ang="0">
                  <a:pos x="279" y="320"/>
                </a:cxn>
                <a:cxn ang="0">
                  <a:pos x="256" y="334"/>
                </a:cxn>
                <a:cxn ang="0">
                  <a:pos x="232" y="346"/>
                </a:cxn>
                <a:cxn ang="0">
                  <a:pos x="204" y="351"/>
                </a:cxn>
                <a:cxn ang="0">
                  <a:pos x="176" y="353"/>
                </a:cxn>
                <a:cxn ang="0">
                  <a:pos x="148" y="351"/>
                </a:cxn>
                <a:cxn ang="0">
                  <a:pos x="120" y="346"/>
                </a:cxn>
                <a:cxn ang="0">
                  <a:pos x="94" y="334"/>
                </a:cxn>
                <a:cxn ang="0">
                  <a:pos x="73" y="320"/>
                </a:cxn>
                <a:cxn ang="0">
                  <a:pos x="51" y="301"/>
                </a:cxn>
                <a:cxn ang="0">
                  <a:pos x="33" y="282"/>
                </a:cxn>
                <a:cxn ang="0">
                  <a:pos x="18" y="259"/>
                </a:cxn>
                <a:cxn ang="0">
                  <a:pos x="9" y="233"/>
                </a:cxn>
                <a:cxn ang="0">
                  <a:pos x="2" y="207"/>
                </a:cxn>
                <a:cxn ang="0">
                  <a:pos x="0" y="177"/>
                </a:cxn>
                <a:cxn ang="0">
                  <a:pos x="2" y="148"/>
                </a:cxn>
                <a:cxn ang="0">
                  <a:pos x="9" y="122"/>
                </a:cxn>
                <a:cxn ang="0">
                  <a:pos x="18" y="97"/>
                </a:cxn>
                <a:cxn ang="0">
                  <a:pos x="33" y="73"/>
                </a:cxn>
                <a:cxn ang="0">
                  <a:pos x="51" y="52"/>
                </a:cxn>
                <a:cxn ang="0">
                  <a:pos x="73" y="35"/>
                </a:cxn>
                <a:cxn ang="0">
                  <a:pos x="94" y="21"/>
                </a:cxn>
                <a:cxn ang="0">
                  <a:pos x="120" y="10"/>
                </a:cxn>
                <a:cxn ang="0">
                  <a:pos x="148" y="2"/>
                </a:cxn>
                <a:cxn ang="0">
                  <a:pos x="176" y="0"/>
                </a:cxn>
                <a:cxn ang="0">
                  <a:pos x="204" y="2"/>
                </a:cxn>
                <a:cxn ang="0">
                  <a:pos x="232" y="10"/>
                </a:cxn>
                <a:cxn ang="0">
                  <a:pos x="256" y="21"/>
                </a:cxn>
                <a:cxn ang="0">
                  <a:pos x="279" y="35"/>
                </a:cxn>
                <a:cxn ang="0">
                  <a:pos x="301" y="52"/>
                </a:cxn>
                <a:cxn ang="0">
                  <a:pos x="317" y="73"/>
                </a:cxn>
                <a:cxn ang="0">
                  <a:pos x="331" y="97"/>
                </a:cxn>
                <a:cxn ang="0">
                  <a:pos x="343" y="122"/>
                </a:cxn>
                <a:cxn ang="0">
                  <a:pos x="350" y="148"/>
                </a:cxn>
                <a:cxn ang="0">
                  <a:pos x="352" y="177"/>
                </a:cxn>
                <a:cxn ang="0">
                  <a:pos x="350" y="177"/>
                </a:cxn>
              </a:cxnLst>
              <a:rect l="0" t="0" r="r" b="b"/>
              <a:pathLst>
                <a:path w="352" h="353">
                  <a:moveTo>
                    <a:pt x="350" y="177"/>
                  </a:moveTo>
                  <a:lnTo>
                    <a:pt x="350" y="207"/>
                  </a:lnTo>
                  <a:lnTo>
                    <a:pt x="343" y="233"/>
                  </a:lnTo>
                  <a:lnTo>
                    <a:pt x="331" y="259"/>
                  </a:lnTo>
                  <a:lnTo>
                    <a:pt x="317" y="282"/>
                  </a:lnTo>
                  <a:lnTo>
                    <a:pt x="301" y="301"/>
                  </a:lnTo>
                  <a:lnTo>
                    <a:pt x="279" y="320"/>
                  </a:lnTo>
                  <a:lnTo>
                    <a:pt x="256" y="334"/>
                  </a:lnTo>
                  <a:lnTo>
                    <a:pt x="232" y="346"/>
                  </a:lnTo>
                  <a:lnTo>
                    <a:pt x="204" y="351"/>
                  </a:lnTo>
                  <a:lnTo>
                    <a:pt x="176" y="353"/>
                  </a:lnTo>
                  <a:lnTo>
                    <a:pt x="148" y="351"/>
                  </a:lnTo>
                  <a:lnTo>
                    <a:pt x="120" y="346"/>
                  </a:lnTo>
                  <a:lnTo>
                    <a:pt x="94" y="334"/>
                  </a:lnTo>
                  <a:lnTo>
                    <a:pt x="73" y="320"/>
                  </a:lnTo>
                  <a:lnTo>
                    <a:pt x="51" y="301"/>
                  </a:lnTo>
                  <a:lnTo>
                    <a:pt x="33" y="282"/>
                  </a:lnTo>
                  <a:lnTo>
                    <a:pt x="18" y="259"/>
                  </a:lnTo>
                  <a:lnTo>
                    <a:pt x="9" y="233"/>
                  </a:lnTo>
                  <a:lnTo>
                    <a:pt x="2" y="207"/>
                  </a:lnTo>
                  <a:lnTo>
                    <a:pt x="0" y="177"/>
                  </a:lnTo>
                  <a:lnTo>
                    <a:pt x="2" y="148"/>
                  </a:lnTo>
                  <a:lnTo>
                    <a:pt x="9" y="122"/>
                  </a:lnTo>
                  <a:lnTo>
                    <a:pt x="18" y="97"/>
                  </a:lnTo>
                  <a:lnTo>
                    <a:pt x="33" y="73"/>
                  </a:lnTo>
                  <a:lnTo>
                    <a:pt x="51" y="52"/>
                  </a:lnTo>
                  <a:lnTo>
                    <a:pt x="73" y="35"/>
                  </a:lnTo>
                  <a:lnTo>
                    <a:pt x="94" y="21"/>
                  </a:lnTo>
                  <a:lnTo>
                    <a:pt x="120" y="10"/>
                  </a:lnTo>
                  <a:lnTo>
                    <a:pt x="148" y="2"/>
                  </a:lnTo>
                  <a:lnTo>
                    <a:pt x="176" y="0"/>
                  </a:lnTo>
                  <a:lnTo>
                    <a:pt x="204" y="2"/>
                  </a:lnTo>
                  <a:lnTo>
                    <a:pt x="232" y="10"/>
                  </a:lnTo>
                  <a:lnTo>
                    <a:pt x="256" y="21"/>
                  </a:lnTo>
                  <a:lnTo>
                    <a:pt x="279" y="35"/>
                  </a:lnTo>
                  <a:lnTo>
                    <a:pt x="301" y="52"/>
                  </a:lnTo>
                  <a:lnTo>
                    <a:pt x="317" y="73"/>
                  </a:lnTo>
                  <a:lnTo>
                    <a:pt x="331" y="97"/>
                  </a:lnTo>
                  <a:lnTo>
                    <a:pt x="343" y="122"/>
                  </a:lnTo>
                  <a:lnTo>
                    <a:pt x="350" y="148"/>
                  </a:lnTo>
                  <a:lnTo>
                    <a:pt x="352" y="177"/>
                  </a:lnTo>
                  <a:lnTo>
                    <a:pt x="350" y="177"/>
                  </a:lnTo>
                  <a:close/>
                </a:path>
              </a:pathLst>
            </a:custGeom>
            <a:solidFill>
              <a:srgbClr val="FFFFFF"/>
            </a:solidFill>
            <a:ln w="9525">
              <a:noFill/>
              <a:round/>
              <a:headEnd/>
              <a:tailEnd/>
            </a:ln>
          </p:spPr>
          <p:txBody>
            <a:bodyPr/>
            <a:lstStyle/>
            <a:p>
              <a:endParaRPr lang="zh-CN" altLang="en-US">
                <a:latin typeface="+mn-lt"/>
              </a:endParaRPr>
            </a:p>
          </p:txBody>
        </p:sp>
        <p:sp>
          <p:nvSpPr>
            <p:cNvPr id="11" name="Freeform 9"/>
            <p:cNvSpPr>
              <a:spLocks/>
            </p:cNvSpPr>
            <p:nvPr/>
          </p:nvSpPr>
          <p:spPr bwMode="auto">
            <a:xfrm>
              <a:off x="2532" y="1118"/>
              <a:ext cx="352" cy="353"/>
            </a:xfrm>
            <a:custGeom>
              <a:avLst/>
              <a:gdLst/>
              <a:ahLst/>
              <a:cxnLst>
                <a:cxn ang="0">
                  <a:pos x="350" y="177"/>
                </a:cxn>
                <a:cxn ang="0">
                  <a:pos x="350" y="148"/>
                </a:cxn>
                <a:cxn ang="0">
                  <a:pos x="343" y="122"/>
                </a:cxn>
                <a:cxn ang="0">
                  <a:pos x="331" y="97"/>
                </a:cxn>
                <a:cxn ang="0">
                  <a:pos x="317" y="73"/>
                </a:cxn>
                <a:cxn ang="0">
                  <a:pos x="301" y="52"/>
                </a:cxn>
                <a:cxn ang="0">
                  <a:pos x="279" y="35"/>
                </a:cxn>
                <a:cxn ang="0">
                  <a:pos x="256" y="21"/>
                </a:cxn>
                <a:cxn ang="0">
                  <a:pos x="232" y="10"/>
                </a:cxn>
                <a:cxn ang="0">
                  <a:pos x="204" y="2"/>
                </a:cxn>
                <a:cxn ang="0">
                  <a:pos x="176" y="0"/>
                </a:cxn>
                <a:cxn ang="0">
                  <a:pos x="148" y="2"/>
                </a:cxn>
                <a:cxn ang="0">
                  <a:pos x="120" y="10"/>
                </a:cxn>
                <a:cxn ang="0">
                  <a:pos x="94" y="21"/>
                </a:cxn>
                <a:cxn ang="0">
                  <a:pos x="73" y="35"/>
                </a:cxn>
                <a:cxn ang="0">
                  <a:pos x="51" y="52"/>
                </a:cxn>
                <a:cxn ang="0">
                  <a:pos x="33" y="73"/>
                </a:cxn>
                <a:cxn ang="0">
                  <a:pos x="18" y="97"/>
                </a:cxn>
                <a:cxn ang="0">
                  <a:pos x="9" y="122"/>
                </a:cxn>
                <a:cxn ang="0">
                  <a:pos x="2" y="148"/>
                </a:cxn>
                <a:cxn ang="0">
                  <a:pos x="0" y="177"/>
                </a:cxn>
                <a:cxn ang="0">
                  <a:pos x="2" y="207"/>
                </a:cxn>
                <a:cxn ang="0">
                  <a:pos x="9" y="233"/>
                </a:cxn>
                <a:cxn ang="0">
                  <a:pos x="18" y="259"/>
                </a:cxn>
                <a:cxn ang="0">
                  <a:pos x="33" y="282"/>
                </a:cxn>
                <a:cxn ang="0">
                  <a:pos x="51" y="301"/>
                </a:cxn>
                <a:cxn ang="0">
                  <a:pos x="73" y="320"/>
                </a:cxn>
                <a:cxn ang="0">
                  <a:pos x="94" y="334"/>
                </a:cxn>
                <a:cxn ang="0">
                  <a:pos x="120" y="346"/>
                </a:cxn>
                <a:cxn ang="0">
                  <a:pos x="148" y="351"/>
                </a:cxn>
                <a:cxn ang="0">
                  <a:pos x="176" y="353"/>
                </a:cxn>
                <a:cxn ang="0">
                  <a:pos x="204" y="351"/>
                </a:cxn>
                <a:cxn ang="0">
                  <a:pos x="232" y="346"/>
                </a:cxn>
                <a:cxn ang="0">
                  <a:pos x="256" y="334"/>
                </a:cxn>
                <a:cxn ang="0">
                  <a:pos x="279" y="320"/>
                </a:cxn>
                <a:cxn ang="0">
                  <a:pos x="301" y="301"/>
                </a:cxn>
                <a:cxn ang="0">
                  <a:pos x="317" y="282"/>
                </a:cxn>
                <a:cxn ang="0">
                  <a:pos x="331" y="259"/>
                </a:cxn>
                <a:cxn ang="0">
                  <a:pos x="343" y="233"/>
                </a:cxn>
                <a:cxn ang="0">
                  <a:pos x="350" y="207"/>
                </a:cxn>
                <a:cxn ang="0">
                  <a:pos x="352" y="177"/>
                </a:cxn>
                <a:cxn ang="0">
                  <a:pos x="352" y="177"/>
                </a:cxn>
              </a:cxnLst>
              <a:rect l="0" t="0" r="r" b="b"/>
              <a:pathLst>
                <a:path w="352" h="353">
                  <a:moveTo>
                    <a:pt x="350" y="177"/>
                  </a:moveTo>
                  <a:lnTo>
                    <a:pt x="350" y="148"/>
                  </a:lnTo>
                  <a:lnTo>
                    <a:pt x="343" y="122"/>
                  </a:lnTo>
                  <a:lnTo>
                    <a:pt x="331" y="97"/>
                  </a:lnTo>
                  <a:lnTo>
                    <a:pt x="317" y="73"/>
                  </a:lnTo>
                  <a:lnTo>
                    <a:pt x="301" y="52"/>
                  </a:lnTo>
                  <a:lnTo>
                    <a:pt x="279" y="35"/>
                  </a:lnTo>
                  <a:lnTo>
                    <a:pt x="256" y="21"/>
                  </a:lnTo>
                  <a:lnTo>
                    <a:pt x="232" y="10"/>
                  </a:lnTo>
                  <a:lnTo>
                    <a:pt x="204" y="2"/>
                  </a:lnTo>
                  <a:lnTo>
                    <a:pt x="176" y="0"/>
                  </a:lnTo>
                  <a:lnTo>
                    <a:pt x="148" y="2"/>
                  </a:lnTo>
                  <a:lnTo>
                    <a:pt x="120" y="10"/>
                  </a:lnTo>
                  <a:lnTo>
                    <a:pt x="94" y="21"/>
                  </a:lnTo>
                  <a:lnTo>
                    <a:pt x="73" y="35"/>
                  </a:lnTo>
                  <a:lnTo>
                    <a:pt x="51" y="52"/>
                  </a:lnTo>
                  <a:lnTo>
                    <a:pt x="33" y="73"/>
                  </a:lnTo>
                  <a:lnTo>
                    <a:pt x="18" y="97"/>
                  </a:lnTo>
                  <a:lnTo>
                    <a:pt x="9" y="122"/>
                  </a:lnTo>
                  <a:lnTo>
                    <a:pt x="2" y="148"/>
                  </a:lnTo>
                  <a:lnTo>
                    <a:pt x="0" y="177"/>
                  </a:lnTo>
                  <a:lnTo>
                    <a:pt x="2" y="207"/>
                  </a:lnTo>
                  <a:lnTo>
                    <a:pt x="9" y="233"/>
                  </a:lnTo>
                  <a:lnTo>
                    <a:pt x="18" y="259"/>
                  </a:lnTo>
                  <a:lnTo>
                    <a:pt x="33" y="282"/>
                  </a:lnTo>
                  <a:lnTo>
                    <a:pt x="51" y="301"/>
                  </a:lnTo>
                  <a:lnTo>
                    <a:pt x="73" y="320"/>
                  </a:lnTo>
                  <a:lnTo>
                    <a:pt x="94" y="334"/>
                  </a:lnTo>
                  <a:lnTo>
                    <a:pt x="120" y="346"/>
                  </a:lnTo>
                  <a:lnTo>
                    <a:pt x="148" y="351"/>
                  </a:lnTo>
                  <a:lnTo>
                    <a:pt x="176" y="353"/>
                  </a:lnTo>
                  <a:lnTo>
                    <a:pt x="204" y="351"/>
                  </a:lnTo>
                  <a:lnTo>
                    <a:pt x="232" y="346"/>
                  </a:lnTo>
                  <a:lnTo>
                    <a:pt x="256" y="334"/>
                  </a:lnTo>
                  <a:lnTo>
                    <a:pt x="279" y="320"/>
                  </a:lnTo>
                  <a:lnTo>
                    <a:pt x="301" y="301"/>
                  </a:lnTo>
                  <a:lnTo>
                    <a:pt x="317" y="282"/>
                  </a:lnTo>
                  <a:lnTo>
                    <a:pt x="331" y="259"/>
                  </a:lnTo>
                  <a:lnTo>
                    <a:pt x="343" y="233"/>
                  </a:lnTo>
                  <a:lnTo>
                    <a:pt x="350" y="207"/>
                  </a:lnTo>
                  <a:lnTo>
                    <a:pt x="352" y="177"/>
                  </a:lnTo>
                  <a:lnTo>
                    <a:pt x="352" y="177"/>
                  </a:lnTo>
                </a:path>
              </a:pathLst>
            </a:custGeom>
            <a:noFill/>
            <a:ln w="22225">
              <a:solidFill>
                <a:srgbClr val="000000"/>
              </a:solidFill>
              <a:prstDash val="solid"/>
              <a:round/>
              <a:headEnd/>
              <a:tailEnd/>
            </a:ln>
          </p:spPr>
          <p:txBody>
            <a:bodyPr/>
            <a:lstStyle/>
            <a:p>
              <a:endParaRPr lang="zh-CN" altLang="en-US">
                <a:latin typeface="+mn-lt"/>
              </a:endParaRPr>
            </a:p>
          </p:txBody>
        </p:sp>
        <p:sp>
          <p:nvSpPr>
            <p:cNvPr id="12" name="Freeform 10"/>
            <p:cNvSpPr>
              <a:spLocks/>
            </p:cNvSpPr>
            <p:nvPr/>
          </p:nvSpPr>
          <p:spPr bwMode="auto">
            <a:xfrm>
              <a:off x="2536" y="2099"/>
              <a:ext cx="353" cy="353"/>
            </a:xfrm>
            <a:custGeom>
              <a:avLst/>
              <a:gdLst/>
              <a:ahLst/>
              <a:cxnLst>
                <a:cxn ang="0">
                  <a:pos x="351" y="177"/>
                </a:cxn>
                <a:cxn ang="0">
                  <a:pos x="351" y="207"/>
                </a:cxn>
                <a:cxn ang="0">
                  <a:pos x="344" y="233"/>
                </a:cxn>
                <a:cxn ang="0">
                  <a:pos x="332" y="259"/>
                </a:cxn>
                <a:cxn ang="0">
                  <a:pos x="318" y="283"/>
                </a:cxn>
                <a:cxn ang="0">
                  <a:pos x="301" y="301"/>
                </a:cxn>
                <a:cxn ang="0">
                  <a:pos x="280" y="320"/>
                </a:cxn>
                <a:cxn ang="0">
                  <a:pos x="257" y="334"/>
                </a:cxn>
                <a:cxn ang="0">
                  <a:pos x="233" y="346"/>
                </a:cxn>
                <a:cxn ang="0">
                  <a:pos x="205" y="351"/>
                </a:cxn>
                <a:cxn ang="0">
                  <a:pos x="177" y="353"/>
                </a:cxn>
                <a:cxn ang="0">
                  <a:pos x="149" y="351"/>
                </a:cxn>
                <a:cxn ang="0">
                  <a:pos x="120" y="346"/>
                </a:cxn>
                <a:cxn ang="0">
                  <a:pos x="94" y="334"/>
                </a:cxn>
                <a:cxn ang="0">
                  <a:pos x="73" y="320"/>
                </a:cxn>
                <a:cxn ang="0">
                  <a:pos x="52" y="301"/>
                </a:cxn>
                <a:cxn ang="0">
                  <a:pos x="33" y="283"/>
                </a:cxn>
                <a:cxn ang="0">
                  <a:pos x="19" y="259"/>
                </a:cxn>
                <a:cxn ang="0">
                  <a:pos x="10" y="233"/>
                </a:cxn>
                <a:cxn ang="0">
                  <a:pos x="3" y="207"/>
                </a:cxn>
                <a:cxn ang="0">
                  <a:pos x="0" y="177"/>
                </a:cxn>
                <a:cxn ang="0">
                  <a:pos x="3" y="148"/>
                </a:cxn>
                <a:cxn ang="0">
                  <a:pos x="10" y="123"/>
                </a:cxn>
                <a:cxn ang="0">
                  <a:pos x="19" y="97"/>
                </a:cxn>
                <a:cxn ang="0">
                  <a:pos x="33" y="73"/>
                </a:cxn>
                <a:cxn ang="0">
                  <a:pos x="52" y="52"/>
                </a:cxn>
                <a:cxn ang="0">
                  <a:pos x="73" y="36"/>
                </a:cxn>
                <a:cxn ang="0">
                  <a:pos x="94" y="21"/>
                </a:cxn>
                <a:cxn ang="0">
                  <a:pos x="120" y="10"/>
                </a:cxn>
                <a:cxn ang="0">
                  <a:pos x="149" y="3"/>
                </a:cxn>
                <a:cxn ang="0">
                  <a:pos x="177" y="0"/>
                </a:cxn>
                <a:cxn ang="0">
                  <a:pos x="205" y="3"/>
                </a:cxn>
                <a:cxn ang="0">
                  <a:pos x="233" y="10"/>
                </a:cxn>
                <a:cxn ang="0">
                  <a:pos x="257" y="21"/>
                </a:cxn>
                <a:cxn ang="0">
                  <a:pos x="280" y="36"/>
                </a:cxn>
                <a:cxn ang="0">
                  <a:pos x="301" y="52"/>
                </a:cxn>
                <a:cxn ang="0">
                  <a:pos x="318" y="73"/>
                </a:cxn>
                <a:cxn ang="0">
                  <a:pos x="332" y="97"/>
                </a:cxn>
                <a:cxn ang="0">
                  <a:pos x="344" y="123"/>
                </a:cxn>
                <a:cxn ang="0">
                  <a:pos x="351" y="148"/>
                </a:cxn>
                <a:cxn ang="0">
                  <a:pos x="353" y="177"/>
                </a:cxn>
                <a:cxn ang="0">
                  <a:pos x="351" y="177"/>
                </a:cxn>
              </a:cxnLst>
              <a:rect l="0" t="0" r="r" b="b"/>
              <a:pathLst>
                <a:path w="353" h="353">
                  <a:moveTo>
                    <a:pt x="351" y="177"/>
                  </a:moveTo>
                  <a:lnTo>
                    <a:pt x="351" y="207"/>
                  </a:lnTo>
                  <a:lnTo>
                    <a:pt x="344" y="233"/>
                  </a:lnTo>
                  <a:lnTo>
                    <a:pt x="332" y="259"/>
                  </a:lnTo>
                  <a:lnTo>
                    <a:pt x="318" y="283"/>
                  </a:lnTo>
                  <a:lnTo>
                    <a:pt x="301" y="301"/>
                  </a:lnTo>
                  <a:lnTo>
                    <a:pt x="280" y="320"/>
                  </a:lnTo>
                  <a:lnTo>
                    <a:pt x="257" y="334"/>
                  </a:lnTo>
                  <a:lnTo>
                    <a:pt x="233" y="346"/>
                  </a:lnTo>
                  <a:lnTo>
                    <a:pt x="205" y="351"/>
                  </a:lnTo>
                  <a:lnTo>
                    <a:pt x="177" y="353"/>
                  </a:lnTo>
                  <a:lnTo>
                    <a:pt x="149" y="351"/>
                  </a:lnTo>
                  <a:lnTo>
                    <a:pt x="120" y="346"/>
                  </a:lnTo>
                  <a:lnTo>
                    <a:pt x="94" y="334"/>
                  </a:lnTo>
                  <a:lnTo>
                    <a:pt x="73" y="320"/>
                  </a:lnTo>
                  <a:lnTo>
                    <a:pt x="52" y="301"/>
                  </a:lnTo>
                  <a:lnTo>
                    <a:pt x="33" y="283"/>
                  </a:lnTo>
                  <a:lnTo>
                    <a:pt x="19" y="259"/>
                  </a:lnTo>
                  <a:lnTo>
                    <a:pt x="10" y="233"/>
                  </a:lnTo>
                  <a:lnTo>
                    <a:pt x="3" y="207"/>
                  </a:lnTo>
                  <a:lnTo>
                    <a:pt x="0" y="177"/>
                  </a:lnTo>
                  <a:lnTo>
                    <a:pt x="3" y="148"/>
                  </a:lnTo>
                  <a:lnTo>
                    <a:pt x="10" y="123"/>
                  </a:lnTo>
                  <a:lnTo>
                    <a:pt x="19" y="97"/>
                  </a:lnTo>
                  <a:lnTo>
                    <a:pt x="33" y="73"/>
                  </a:lnTo>
                  <a:lnTo>
                    <a:pt x="52" y="52"/>
                  </a:lnTo>
                  <a:lnTo>
                    <a:pt x="73" y="36"/>
                  </a:lnTo>
                  <a:lnTo>
                    <a:pt x="94" y="21"/>
                  </a:lnTo>
                  <a:lnTo>
                    <a:pt x="120" y="10"/>
                  </a:lnTo>
                  <a:lnTo>
                    <a:pt x="149" y="3"/>
                  </a:lnTo>
                  <a:lnTo>
                    <a:pt x="177" y="0"/>
                  </a:lnTo>
                  <a:lnTo>
                    <a:pt x="205" y="3"/>
                  </a:lnTo>
                  <a:lnTo>
                    <a:pt x="233" y="10"/>
                  </a:lnTo>
                  <a:lnTo>
                    <a:pt x="257" y="21"/>
                  </a:lnTo>
                  <a:lnTo>
                    <a:pt x="280" y="36"/>
                  </a:lnTo>
                  <a:lnTo>
                    <a:pt x="301" y="52"/>
                  </a:lnTo>
                  <a:lnTo>
                    <a:pt x="318" y="73"/>
                  </a:lnTo>
                  <a:lnTo>
                    <a:pt x="332" y="97"/>
                  </a:lnTo>
                  <a:lnTo>
                    <a:pt x="344" y="123"/>
                  </a:lnTo>
                  <a:lnTo>
                    <a:pt x="351" y="148"/>
                  </a:lnTo>
                  <a:lnTo>
                    <a:pt x="353" y="177"/>
                  </a:lnTo>
                  <a:lnTo>
                    <a:pt x="351" y="177"/>
                  </a:lnTo>
                  <a:close/>
                </a:path>
              </a:pathLst>
            </a:custGeom>
            <a:solidFill>
              <a:srgbClr val="FFFFFF"/>
            </a:solidFill>
            <a:ln w="9525">
              <a:noFill/>
              <a:round/>
              <a:headEnd/>
              <a:tailEnd/>
            </a:ln>
          </p:spPr>
          <p:txBody>
            <a:bodyPr/>
            <a:lstStyle/>
            <a:p>
              <a:endParaRPr lang="zh-CN" altLang="en-US">
                <a:latin typeface="+mn-lt"/>
              </a:endParaRPr>
            </a:p>
          </p:txBody>
        </p:sp>
        <p:sp>
          <p:nvSpPr>
            <p:cNvPr id="13" name="Freeform 11"/>
            <p:cNvSpPr>
              <a:spLocks/>
            </p:cNvSpPr>
            <p:nvPr/>
          </p:nvSpPr>
          <p:spPr bwMode="auto">
            <a:xfrm>
              <a:off x="2536" y="2099"/>
              <a:ext cx="353" cy="353"/>
            </a:xfrm>
            <a:custGeom>
              <a:avLst/>
              <a:gdLst/>
              <a:ahLst/>
              <a:cxnLst>
                <a:cxn ang="0">
                  <a:pos x="351" y="177"/>
                </a:cxn>
                <a:cxn ang="0">
                  <a:pos x="351" y="148"/>
                </a:cxn>
                <a:cxn ang="0">
                  <a:pos x="344" y="123"/>
                </a:cxn>
                <a:cxn ang="0">
                  <a:pos x="332" y="97"/>
                </a:cxn>
                <a:cxn ang="0">
                  <a:pos x="318" y="73"/>
                </a:cxn>
                <a:cxn ang="0">
                  <a:pos x="301" y="52"/>
                </a:cxn>
                <a:cxn ang="0">
                  <a:pos x="280" y="36"/>
                </a:cxn>
                <a:cxn ang="0">
                  <a:pos x="257" y="21"/>
                </a:cxn>
                <a:cxn ang="0">
                  <a:pos x="233" y="10"/>
                </a:cxn>
                <a:cxn ang="0">
                  <a:pos x="205" y="3"/>
                </a:cxn>
                <a:cxn ang="0">
                  <a:pos x="177" y="0"/>
                </a:cxn>
                <a:cxn ang="0">
                  <a:pos x="149" y="3"/>
                </a:cxn>
                <a:cxn ang="0">
                  <a:pos x="120" y="10"/>
                </a:cxn>
                <a:cxn ang="0">
                  <a:pos x="94" y="21"/>
                </a:cxn>
                <a:cxn ang="0">
                  <a:pos x="73" y="36"/>
                </a:cxn>
                <a:cxn ang="0">
                  <a:pos x="52" y="52"/>
                </a:cxn>
                <a:cxn ang="0">
                  <a:pos x="33" y="73"/>
                </a:cxn>
                <a:cxn ang="0">
                  <a:pos x="19" y="97"/>
                </a:cxn>
                <a:cxn ang="0">
                  <a:pos x="10" y="123"/>
                </a:cxn>
                <a:cxn ang="0">
                  <a:pos x="3" y="148"/>
                </a:cxn>
                <a:cxn ang="0">
                  <a:pos x="0" y="177"/>
                </a:cxn>
                <a:cxn ang="0">
                  <a:pos x="3" y="207"/>
                </a:cxn>
                <a:cxn ang="0">
                  <a:pos x="10" y="233"/>
                </a:cxn>
                <a:cxn ang="0">
                  <a:pos x="19" y="259"/>
                </a:cxn>
                <a:cxn ang="0">
                  <a:pos x="33" y="283"/>
                </a:cxn>
                <a:cxn ang="0">
                  <a:pos x="52" y="301"/>
                </a:cxn>
                <a:cxn ang="0">
                  <a:pos x="73" y="320"/>
                </a:cxn>
                <a:cxn ang="0">
                  <a:pos x="94" y="334"/>
                </a:cxn>
                <a:cxn ang="0">
                  <a:pos x="120" y="346"/>
                </a:cxn>
                <a:cxn ang="0">
                  <a:pos x="149" y="351"/>
                </a:cxn>
                <a:cxn ang="0">
                  <a:pos x="177" y="353"/>
                </a:cxn>
                <a:cxn ang="0">
                  <a:pos x="205" y="351"/>
                </a:cxn>
                <a:cxn ang="0">
                  <a:pos x="233" y="346"/>
                </a:cxn>
                <a:cxn ang="0">
                  <a:pos x="257" y="334"/>
                </a:cxn>
                <a:cxn ang="0">
                  <a:pos x="280" y="320"/>
                </a:cxn>
                <a:cxn ang="0">
                  <a:pos x="301" y="301"/>
                </a:cxn>
                <a:cxn ang="0">
                  <a:pos x="318" y="283"/>
                </a:cxn>
                <a:cxn ang="0">
                  <a:pos x="332" y="259"/>
                </a:cxn>
                <a:cxn ang="0">
                  <a:pos x="344" y="233"/>
                </a:cxn>
                <a:cxn ang="0">
                  <a:pos x="351" y="207"/>
                </a:cxn>
                <a:cxn ang="0">
                  <a:pos x="353" y="177"/>
                </a:cxn>
                <a:cxn ang="0">
                  <a:pos x="353" y="177"/>
                </a:cxn>
              </a:cxnLst>
              <a:rect l="0" t="0" r="r" b="b"/>
              <a:pathLst>
                <a:path w="353" h="353">
                  <a:moveTo>
                    <a:pt x="351" y="177"/>
                  </a:moveTo>
                  <a:lnTo>
                    <a:pt x="351" y="148"/>
                  </a:lnTo>
                  <a:lnTo>
                    <a:pt x="344" y="123"/>
                  </a:lnTo>
                  <a:lnTo>
                    <a:pt x="332" y="97"/>
                  </a:lnTo>
                  <a:lnTo>
                    <a:pt x="318" y="73"/>
                  </a:lnTo>
                  <a:lnTo>
                    <a:pt x="301" y="52"/>
                  </a:lnTo>
                  <a:lnTo>
                    <a:pt x="280" y="36"/>
                  </a:lnTo>
                  <a:lnTo>
                    <a:pt x="257" y="21"/>
                  </a:lnTo>
                  <a:lnTo>
                    <a:pt x="233" y="10"/>
                  </a:lnTo>
                  <a:lnTo>
                    <a:pt x="205" y="3"/>
                  </a:lnTo>
                  <a:lnTo>
                    <a:pt x="177" y="0"/>
                  </a:lnTo>
                  <a:lnTo>
                    <a:pt x="149" y="3"/>
                  </a:lnTo>
                  <a:lnTo>
                    <a:pt x="120" y="10"/>
                  </a:lnTo>
                  <a:lnTo>
                    <a:pt x="94" y="21"/>
                  </a:lnTo>
                  <a:lnTo>
                    <a:pt x="73" y="36"/>
                  </a:lnTo>
                  <a:lnTo>
                    <a:pt x="52" y="52"/>
                  </a:lnTo>
                  <a:lnTo>
                    <a:pt x="33" y="73"/>
                  </a:lnTo>
                  <a:lnTo>
                    <a:pt x="19" y="97"/>
                  </a:lnTo>
                  <a:lnTo>
                    <a:pt x="10" y="123"/>
                  </a:lnTo>
                  <a:lnTo>
                    <a:pt x="3" y="148"/>
                  </a:lnTo>
                  <a:lnTo>
                    <a:pt x="0" y="177"/>
                  </a:lnTo>
                  <a:lnTo>
                    <a:pt x="3" y="207"/>
                  </a:lnTo>
                  <a:lnTo>
                    <a:pt x="10" y="233"/>
                  </a:lnTo>
                  <a:lnTo>
                    <a:pt x="19" y="259"/>
                  </a:lnTo>
                  <a:lnTo>
                    <a:pt x="33" y="283"/>
                  </a:lnTo>
                  <a:lnTo>
                    <a:pt x="52" y="301"/>
                  </a:lnTo>
                  <a:lnTo>
                    <a:pt x="73" y="320"/>
                  </a:lnTo>
                  <a:lnTo>
                    <a:pt x="94" y="334"/>
                  </a:lnTo>
                  <a:lnTo>
                    <a:pt x="120" y="346"/>
                  </a:lnTo>
                  <a:lnTo>
                    <a:pt x="149" y="351"/>
                  </a:lnTo>
                  <a:lnTo>
                    <a:pt x="177" y="353"/>
                  </a:lnTo>
                  <a:lnTo>
                    <a:pt x="205" y="351"/>
                  </a:lnTo>
                  <a:lnTo>
                    <a:pt x="233" y="346"/>
                  </a:lnTo>
                  <a:lnTo>
                    <a:pt x="257" y="334"/>
                  </a:lnTo>
                  <a:lnTo>
                    <a:pt x="280" y="320"/>
                  </a:lnTo>
                  <a:lnTo>
                    <a:pt x="301" y="301"/>
                  </a:lnTo>
                  <a:lnTo>
                    <a:pt x="318" y="283"/>
                  </a:lnTo>
                  <a:lnTo>
                    <a:pt x="332" y="259"/>
                  </a:lnTo>
                  <a:lnTo>
                    <a:pt x="344" y="233"/>
                  </a:lnTo>
                  <a:lnTo>
                    <a:pt x="351" y="207"/>
                  </a:lnTo>
                  <a:lnTo>
                    <a:pt x="353" y="177"/>
                  </a:lnTo>
                  <a:lnTo>
                    <a:pt x="353" y="177"/>
                  </a:lnTo>
                </a:path>
              </a:pathLst>
            </a:custGeom>
            <a:noFill/>
            <a:ln w="22225">
              <a:solidFill>
                <a:srgbClr val="000000"/>
              </a:solidFill>
              <a:prstDash val="solid"/>
              <a:round/>
              <a:headEnd/>
              <a:tailEnd/>
            </a:ln>
          </p:spPr>
          <p:txBody>
            <a:bodyPr/>
            <a:lstStyle/>
            <a:p>
              <a:endParaRPr lang="zh-CN" altLang="en-US">
                <a:latin typeface="+mn-lt"/>
              </a:endParaRPr>
            </a:p>
          </p:txBody>
        </p:sp>
        <p:sp>
          <p:nvSpPr>
            <p:cNvPr id="14" name="Rectangle 12"/>
            <p:cNvSpPr>
              <a:spLocks noChangeArrowheads="1"/>
            </p:cNvSpPr>
            <p:nvPr/>
          </p:nvSpPr>
          <p:spPr bwMode="auto">
            <a:xfrm>
              <a:off x="2703" y="2217"/>
              <a:ext cx="24" cy="131"/>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n-lt"/>
                </a:rPr>
                <a:t>I</a:t>
              </a:r>
              <a:endParaRPr lang="en-US" altLang="zh-CN" sz="1600">
                <a:latin typeface="+mn-lt"/>
              </a:endParaRPr>
            </a:p>
          </p:txBody>
        </p:sp>
        <p:sp>
          <p:nvSpPr>
            <p:cNvPr id="15" name="Rectangle 13"/>
            <p:cNvSpPr>
              <a:spLocks noChangeArrowheads="1"/>
            </p:cNvSpPr>
            <p:nvPr/>
          </p:nvSpPr>
          <p:spPr bwMode="auto">
            <a:xfrm>
              <a:off x="2682" y="1255"/>
              <a:ext cx="55" cy="131"/>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n-lt"/>
                </a:rPr>
                <a:t>V</a:t>
              </a:r>
              <a:endParaRPr lang="en-US" altLang="zh-CN" sz="1600">
                <a:latin typeface="+mn-lt"/>
              </a:endParaRPr>
            </a:p>
          </p:txBody>
        </p:sp>
        <p:sp>
          <p:nvSpPr>
            <p:cNvPr id="16" name="Freeform 34"/>
            <p:cNvSpPr>
              <a:spLocks/>
            </p:cNvSpPr>
            <p:nvPr/>
          </p:nvSpPr>
          <p:spPr bwMode="auto">
            <a:xfrm>
              <a:off x="2360" y="1372"/>
              <a:ext cx="186" cy="395"/>
            </a:xfrm>
            <a:custGeom>
              <a:avLst/>
              <a:gdLst/>
              <a:ahLst/>
              <a:cxnLst>
                <a:cxn ang="0">
                  <a:pos x="0" y="395"/>
                </a:cxn>
                <a:cxn ang="0">
                  <a:pos x="2" y="332"/>
                </a:cxn>
                <a:cxn ang="0">
                  <a:pos x="9" y="271"/>
                </a:cxn>
                <a:cxn ang="0">
                  <a:pos x="21" y="214"/>
                </a:cxn>
                <a:cxn ang="0">
                  <a:pos x="35" y="163"/>
                </a:cxn>
                <a:cxn ang="0">
                  <a:pos x="54" y="116"/>
                </a:cxn>
                <a:cxn ang="0">
                  <a:pos x="75" y="76"/>
                </a:cxn>
                <a:cxn ang="0">
                  <a:pos x="101" y="43"/>
                </a:cxn>
                <a:cxn ang="0">
                  <a:pos x="127" y="19"/>
                </a:cxn>
                <a:cxn ang="0">
                  <a:pos x="155" y="5"/>
                </a:cxn>
                <a:cxn ang="0">
                  <a:pos x="186" y="0"/>
                </a:cxn>
                <a:cxn ang="0">
                  <a:pos x="0" y="395"/>
                </a:cxn>
              </a:cxnLst>
              <a:rect l="0" t="0" r="r" b="b"/>
              <a:pathLst>
                <a:path w="186" h="395">
                  <a:moveTo>
                    <a:pt x="0" y="395"/>
                  </a:moveTo>
                  <a:lnTo>
                    <a:pt x="2" y="332"/>
                  </a:lnTo>
                  <a:lnTo>
                    <a:pt x="9" y="271"/>
                  </a:lnTo>
                  <a:lnTo>
                    <a:pt x="21" y="214"/>
                  </a:lnTo>
                  <a:lnTo>
                    <a:pt x="35" y="163"/>
                  </a:lnTo>
                  <a:lnTo>
                    <a:pt x="54" y="116"/>
                  </a:lnTo>
                  <a:lnTo>
                    <a:pt x="75" y="76"/>
                  </a:lnTo>
                  <a:lnTo>
                    <a:pt x="101" y="43"/>
                  </a:lnTo>
                  <a:lnTo>
                    <a:pt x="127" y="19"/>
                  </a:lnTo>
                  <a:lnTo>
                    <a:pt x="155" y="5"/>
                  </a:lnTo>
                  <a:lnTo>
                    <a:pt x="186" y="0"/>
                  </a:lnTo>
                  <a:lnTo>
                    <a:pt x="0" y="395"/>
                  </a:lnTo>
                  <a:close/>
                </a:path>
              </a:pathLst>
            </a:custGeom>
            <a:solidFill>
              <a:srgbClr val="FFFFFF"/>
            </a:solidFill>
            <a:ln w="9525">
              <a:noFill/>
              <a:round/>
              <a:headEnd/>
              <a:tailEnd/>
            </a:ln>
          </p:spPr>
          <p:txBody>
            <a:bodyPr/>
            <a:lstStyle/>
            <a:p>
              <a:endParaRPr lang="zh-CN" altLang="en-US">
                <a:latin typeface="+mn-lt"/>
              </a:endParaRPr>
            </a:p>
          </p:txBody>
        </p:sp>
        <p:sp>
          <p:nvSpPr>
            <p:cNvPr id="17" name="Freeform 35"/>
            <p:cNvSpPr>
              <a:spLocks/>
            </p:cNvSpPr>
            <p:nvPr/>
          </p:nvSpPr>
          <p:spPr bwMode="auto">
            <a:xfrm>
              <a:off x="2464" y="1375"/>
              <a:ext cx="75" cy="49"/>
            </a:xfrm>
            <a:custGeom>
              <a:avLst/>
              <a:gdLst/>
              <a:ahLst/>
              <a:cxnLst>
                <a:cxn ang="0">
                  <a:pos x="7" y="30"/>
                </a:cxn>
                <a:cxn ang="0">
                  <a:pos x="0" y="11"/>
                </a:cxn>
                <a:cxn ang="0">
                  <a:pos x="75" y="0"/>
                </a:cxn>
                <a:cxn ang="0">
                  <a:pos x="16" y="49"/>
                </a:cxn>
                <a:cxn ang="0">
                  <a:pos x="7" y="30"/>
                </a:cxn>
              </a:cxnLst>
              <a:rect l="0" t="0" r="r" b="b"/>
              <a:pathLst>
                <a:path w="75" h="49">
                  <a:moveTo>
                    <a:pt x="7" y="30"/>
                  </a:moveTo>
                  <a:lnTo>
                    <a:pt x="0" y="11"/>
                  </a:lnTo>
                  <a:lnTo>
                    <a:pt x="75" y="0"/>
                  </a:lnTo>
                  <a:lnTo>
                    <a:pt x="16" y="49"/>
                  </a:lnTo>
                  <a:lnTo>
                    <a:pt x="7" y="30"/>
                  </a:lnTo>
                </a:path>
              </a:pathLst>
            </a:custGeom>
            <a:noFill/>
            <a:ln w="7938">
              <a:solidFill>
                <a:srgbClr val="000000"/>
              </a:solidFill>
              <a:prstDash val="solid"/>
              <a:round/>
              <a:headEnd/>
              <a:tailEnd/>
            </a:ln>
          </p:spPr>
          <p:txBody>
            <a:bodyPr/>
            <a:lstStyle/>
            <a:p>
              <a:endParaRPr lang="zh-CN" altLang="en-US">
                <a:latin typeface="+mn-lt"/>
              </a:endParaRPr>
            </a:p>
          </p:txBody>
        </p:sp>
        <p:sp>
          <p:nvSpPr>
            <p:cNvPr id="18" name="Freeform 36"/>
            <p:cNvSpPr>
              <a:spLocks/>
            </p:cNvSpPr>
            <p:nvPr/>
          </p:nvSpPr>
          <p:spPr bwMode="auto">
            <a:xfrm>
              <a:off x="2464" y="1375"/>
              <a:ext cx="75" cy="49"/>
            </a:xfrm>
            <a:custGeom>
              <a:avLst/>
              <a:gdLst/>
              <a:ahLst/>
              <a:cxnLst>
                <a:cxn ang="0">
                  <a:pos x="7" y="30"/>
                </a:cxn>
                <a:cxn ang="0">
                  <a:pos x="0" y="11"/>
                </a:cxn>
                <a:cxn ang="0">
                  <a:pos x="75" y="0"/>
                </a:cxn>
                <a:cxn ang="0">
                  <a:pos x="16" y="49"/>
                </a:cxn>
                <a:cxn ang="0">
                  <a:pos x="7" y="30"/>
                </a:cxn>
              </a:cxnLst>
              <a:rect l="0" t="0" r="r" b="b"/>
              <a:pathLst>
                <a:path w="75" h="49">
                  <a:moveTo>
                    <a:pt x="7" y="30"/>
                  </a:moveTo>
                  <a:lnTo>
                    <a:pt x="0" y="11"/>
                  </a:lnTo>
                  <a:lnTo>
                    <a:pt x="75" y="0"/>
                  </a:lnTo>
                  <a:lnTo>
                    <a:pt x="16" y="49"/>
                  </a:lnTo>
                  <a:lnTo>
                    <a:pt x="7" y="30"/>
                  </a:lnTo>
                  <a:close/>
                </a:path>
              </a:pathLst>
            </a:custGeom>
            <a:solidFill>
              <a:srgbClr val="000000"/>
            </a:solidFill>
            <a:ln w="9525">
              <a:noFill/>
              <a:round/>
              <a:headEnd/>
              <a:tailEnd/>
            </a:ln>
          </p:spPr>
          <p:txBody>
            <a:bodyPr/>
            <a:lstStyle/>
            <a:p>
              <a:endParaRPr lang="zh-CN" altLang="en-US">
                <a:latin typeface="+mn-lt"/>
              </a:endParaRPr>
            </a:p>
          </p:txBody>
        </p:sp>
        <p:sp>
          <p:nvSpPr>
            <p:cNvPr id="19" name="Freeform 37"/>
            <p:cNvSpPr>
              <a:spLocks/>
            </p:cNvSpPr>
            <p:nvPr/>
          </p:nvSpPr>
          <p:spPr bwMode="auto">
            <a:xfrm>
              <a:off x="2360" y="1408"/>
              <a:ext cx="108" cy="359"/>
            </a:xfrm>
            <a:custGeom>
              <a:avLst/>
              <a:gdLst/>
              <a:ahLst/>
              <a:cxnLst>
                <a:cxn ang="0">
                  <a:pos x="0" y="359"/>
                </a:cxn>
                <a:cxn ang="0">
                  <a:pos x="0" y="312"/>
                </a:cxn>
                <a:cxn ang="0">
                  <a:pos x="5" y="265"/>
                </a:cxn>
                <a:cxn ang="0">
                  <a:pos x="7" y="218"/>
                </a:cxn>
                <a:cxn ang="0">
                  <a:pos x="14" y="174"/>
                </a:cxn>
                <a:cxn ang="0">
                  <a:pos x="24" y="134"/>
                </a:cxn>
                <a:cxn ang="0">
                  <a:pos x="35" y="96"/>
                </a:cxn>
                <a:cxn ang="0">
                  <a:pos x="49" y="63"/>
                </a:cxn>
                <a:cxn ang="0">
                  <a:pos x="66" y="35"/>
                </a:cxn>
                <a:cxn ang="0">
                  <a:pos x="87" y="14"/>
                </a:cxn>
                <a:cxn ang="0">
                  <a:pos x="108" y="0"/>
                </a:cxn>
              </a:cxnLst>
              <a:rect l="0" t="0" r="r" b="b"/>
              <a:pathLst>
                <a:path w="108" h="359">
                  <a:moveTo>
                    <a:pt x="0" y="359"/>
                  </a:moveTo>
                  <a:lnTo>
                    <a:pt x="0" y="312"/>
                  </a:lnTo>
                  <a:lnTo>
                    <a:pt x="5" y="265"/>
                  </a:lnTo>
                  <a:lnTo>
                    <a:pt x="7" y="218"/>
                  </a:lnTo>
                  <a:lnTo>
                    <a:pt x="14" y="174"/>
                  </a:lnTo>
                  <a:lnTo>
                    <a:pt x="24" y="134"/>
                  </a:lnTo>
                  <a:lnTo>
                    <a:pt x="35" y="96"/>
                  </a:lnTo>
                  <a:lnTo>
                    <a:pt x="49" y="63"/>
                  </a:lnTo>
                  <a:lnTo>
                    <a:pt x="66" y="35"/>
                  </a:lnTo>
                  <a:lnTo>
                    <a:pt x="87" y="14"/>
                  </a:lnTo>
                  <a:lnTo>
                    <a:pt x="108" y="0"/>
                  </a:lnTo>
                </a:path>
              </a:pathLst>
            </a:custGeom>
            <a:noFill/>
            <a:ln w="7938">
              <a:solidFill>
                <a:srgbClr val="000000"/>
              </a:solidFill>
              <a:prstDash val="solid"/>
              <a:round/>
              <a:headEnd/>
              <a:tailEnd/>
            </a:ln>
          </p:spPr>
          <p:txBody>
            <a:bodyPr/>
            <a:lstStyle/>
            <a:p>
              <a:endParaRPr lang="zh-CN" altLang="en-US">
                <a:latin typeface="+mn-lt"/>
              </a:endParaRPr>
            </a:p>
          </p:txBody>
        </p:sp>
        <p:sp>
          <p:nvSpPr>
            <p:cNvPr id="20" name="Freeform 38"/>
            <p:cNvSpPr>
              <a:spLocks/>
            </p:cNvSpPr>
            <p:nvPr/>
          </p:nvSpPr>
          <p:spPr bwMode="auto">
            <a:xfrm>
              <a:off x="2889" y="1372"/>
              <a:ext cx="176" cy="395"/>
            </a:xfrm>
            <a:custGeom>
              <a:avLst/>
              <a:gdLst/>
              <a:ahLst/>
              <a:cxnLst>
                <a:cxn ang="0">
                  <a:pos x="0" y="395"/>
                </a:cxn>
                <a:cxn ang="0">
                  <a:pos x="0" y="0"/>
                </a:cxn>
                <a:cxn ang="0">
                  <a:pos x="28" y="5"/>
                </a:cxn>
                <a:cxn ang="0">
                  <a:pos x="56" y="19"/>
                </a:cxn>
                <a:cxn ang="0">
                  <a:pos x="80" y="43"/>
                </a:cxn>
                <a:cxn ang="0">
                  <a:pos x="104" y="76"/>
                </a:cxn>
                <a:cxn ang="0">
                  <a:pos x="125" y="116"/>
                </a:cxn>
                <a:cxn ang="0">
                  <a:pos x="143" y="163"/>
                </a:cxn>
                <a:cxn ang="0">
                  <a:pos x="158" y="214"/>
                </a:cxn>
                <a:cxn ang="0">
                  <a:pos x="167" y="271"/>
                </a:cxn>
                <a:cxn ang="0">
                  <a:pos x="174" y="332"/>
                </a:cxn>
                <a:cxn ang="0">
                  <a:pos x="176" y="395"/>
                </a:cxn>
                <a:cxn ang="0">
                  <a:pos x="0" y="395"/>
                </a:cxn>
              </a:cxnLst>
              <a:rect l="0" t="0" r="r" b="b"/>
              <a:pathLst>
                <a:path w="176" h="395">
                  <a:moveTo>
                    <a:pt x="0" y="395"/>
                  </a:moveTo>
                  <a:lnTo>
                    <a:pt x="0" y="0"/>
                  </a:lnTo>
                  <a:lnTo>
                    <a:pt x="28" y="5"/>
                  </a:lnTo>
                  <a:lnTo>
                    <a:pt x="56" y="19"/>
                  </a:lnTo>
                  <a:lnTo>
                    <a:pt x="80" y="43"/>
                  </a:lnTo>
                  <a:lnTo>
                    <a:pt x="104" y="76"/>
                  </a:lnTo>
                  <a:lnTo>
                    <a:pt x="125" y="116"/>
                  </a:lnTo>
                  <a:lnTo>
                    <a:pt x="143" y="163"/>
                  </a:lnTo>
                  <a:lnTo>
                    <a:pt x="158" y="214"/>
                  </a:lnTo>
                  <a:lnTo>
                    <a:pt x="167" y="271"/>
                  </a:lnTo>
                  <a:lnTo>
                    <a:pt x="174" y="332"/>
                  </a:lnTo>
                  <a:lnTo>
                    <a:pt x="176" y="395"/>
                  </a:lnTo>
                  <a:lnTo>
                    <a:pt x="0" y="395"/>
                  </a:lnTo>
                  <a:close/>
                </a:path>
              </a:pathLst>
            </a:custGeom>
            <a:solidFill>
              <a:srgbClr val="FFFFFF"/>
            </a:solidFill>
            <a:ln w="9525">
              <a:noFill/>
              <a:round/>
              <a:headEnd/>
              <a:tailEnd/>
            </a:ln>
          </p:spPr>
          <p:txBody>
            <a:bodyPr/>
            <a:lstStyle/>
            <a:p>
              <a:endParaRPr lang="zh-CN" altLang="en-US">
                <a:latin typeface="+mn-lt"/>
              </a:endParaRPr>
            </a:p>
          </p:txBody>
        </p:sp>
        <p:sp>
          <p:nvSpPr>
            <p:cNvPr id="21" name="Freeform 39"/>
            <p:cNvSpPr>
              <a:spLocks/>
            </p:cNvSpPr>
            <p:nvPr/>
          </p:nvSpPr>
          <p:spPr bwMode="auto">
            <a:xfrm>
              <a:off x="2889" y="1372"/>
              <a:ext cx="176" cy="395"/>
            </a:xfrm>
            <a:custGeom>
              <a:avLst/>
              <a:gdLst/>
              <a:ahLst/>
              <a:cxnLst>
                <a:cxn ang="0">
                  <a:pos x="176" y="395"/>
                </a:cxn>
                <a:cxn ang="0">
                  <a:pos x="174" y="332"/>
                </a:cxn>
                <a:cxn ang="0">
                  <a:pos x="167" y="271"/>
                </a:cxn>
                <a:cxn ang="0">
                  <a:pos x="158" y="214"/>
                </a:cxn>
                <a:cxn ang="0">
                  <a:pos x="143" y="163"/>
                </a:cxn>
                <a:cxn ang="0">
                  <a:pos x="125" y="116"/>
                </a:cxn>
                <a:cxn ang="0">
                  <a:pos x="104" y="76"/>
                </a:cxn>
                <a:cxn ang="0">
                  <a:pos x="80" y="43"/>
                </a:cxn>
                <a:cxn ang="0">
                  <a:pos x="56" y="19"/>
                </a:cxn>
                <a:cxn ang="0">
                  <a:pos x="28" y="5"/>
                </a:cxn>
                <a:cxn ang="0">
                  <a:pos x="0" y="0"/>
                </a:cxn>
              </a:cxnLst>
              <a:rect l="0" t="0" r="r" b="b"/>
              <a:pathLst>
                <a:path w="176" h="395">
                  <a:moveTo>
                    <a:pt x="176" y="395"/>
                  </a:moveTo>
                  <a:lnTo>
                    <a:pt x="174" y="332"/>
                  </a:lnTo>
                  <a:lnTo>
                    <a:pt x="167" y="271"/>
                  </a:lnTo>
                  <a:lnTo>
                    <a:pt x="158" y="214"/>
                  </a:lnTo>
                  <a:lnTo>
                    <a:pt x="143" y="163"/>
                  </a:lnTo>
                  <a:lnTo>
                    <a:pt x="125" y="116"/>
                  </a:lnTo>
                  <a:lnTo>
                    <a:pt x="104" y="76"/>
                  </a:lnTo>
                  <a:lnTo>
                    <a:pt x="80" y="43"/>
                  </a:lnTo>
                  <a:lnTo>
                    <a:pt x="56" y="19"/>
                  </a:lnTo>
                  <a:lnTo>
                    <a:pt x="28" y="5"/>
                  </a:lnTo>
                  <a:lnTo>
                    <a:pt x="0" y="0"/>
                  </a:lnTo>
                </a:path>
              </a:pathLst>
            </a:custGeom>
            <a:noFill/>
            <a:ln w="7938" cap="flat">
              <a:solidFill>
                <a:srgbClr val="000000"/>
              </a:solidFill>
              <a:prstDash val="dash"/>
              <a:round/>
              <a:headEnd/>
              <a:tailEnd/>
            </a:ln>
          </p:spPr>
          <p:txBody>
            <a:bodyPr/>
            <a:lstStyle/>
            <a:p>
              <a:endParaRPr lang="zh-CN" altLang="en-US">
                <a:latin typeface="+mn-lt"/>
              </a:endParaRPr>
            </a:p>
          </p:txBody>
        </p:sp>
        <p:sp>
          <p:nvSpPr>
            <p:cNvPr id="22" name="Freeform 40"/>
            <p:cNvSpPr>
              <a:spLocks/>
            </p:cNvSpPr>
            <p:nvPr/>
          </p:nvSpPr>
          <p:spPr bwMode="auto">
            <a:xfrm>
              <a:off x="2861" y="1767"/>
              <a:ext cx="204" cy="412"/>
            </a:xfrm>
            <a:custGeom>
              <a:avLst/>
              <a:gdLst/>
              <a:ahLst/>
              <a:cxnLst>
                <a:cxn ang="0">
                  <a:pos x="204" y="0"/>
                </a:cxn>
                <a:cxn ang="0">
                  <a:pos x="202" y="69"/>
                </a:cxn>
                <a:cxn ang="0">
                  <a:pos x="195" y="132"/>
                </a:cxn>
                <a:cxn ang="0">
                  <a:pos x="181" y="191"/>
                </a:cxn>
                <a:cxn ang="0">
                  <a:pos x="164" y="245"/>
                </a:cxn>
                <a:cxn ang="0">
                  <a:pos x="143" y="292"/>
                </a:cxn>
                <a:cxn ang="0">
                  <a:pos x="120" y="335"/>
                </a:cxn>
                <a:cxn ang="0">
                  <a:pos x="94" y="368"/>
                </a:cxn>
                <a:cxn ang="0">
                  <a:pos x="63" y="391"/>
                </a:cxn>
                <a:cxn ang="0">
                  <a:pos x="33" y="408"/>
                </a:cxn>
                <a:cxn ang="0">
                  <a:pos x="0" y="412"/>
                </a:cxn>
                <a:cxn ang="0">
                  <a:pos x="204" y="0"/>
                </a:cxn>
              </a:cxnLst>
              <a:rect l="0" t="0" r="r" b="b"/>
              <a:pathLst>
                <a:path w="204" h="412">
                  <a:moveTo>
                    <a:pt x="204" y="0"/>
                  </a:moveTo>
                  <a:lnTo>
                    <a:pt x="202" y="69"/>
                  </a:lnTo>
                  <a:lnTo>
                    <a:pt x="195" y="132"/>
                  </a:lnTo>
                  <a:lnTo>
                    <a:pt x="181" y="191"/>
                  </a:lnTo>
                  <a:lnTo>
                    <a:pt x="164" y="245"/>
                  </a:lnTo>
                  <a:lnTo>
                    <a:pt x="143" y="292"/>
                  </a:lnTo>
                  <a:lnTo>
                    <a:pt x="120" y="335"/>
                  </a:lnTo>
                  <a:lnTo>
                    <a:pt x="94" y="368"/>
                  </a:lnTo>
                  <a:lnTo>
                    <a:pt x="63" y="391"/>
                  </a:lnTo>
                  <a:lnTo>
                    <a:pt x="33" y="408"/>
                  </a:lnTo>
                  <a:lnTo>
                    <a:pt x="0" y="412"/>
                  </a:lnTo>
                  <a:lnTo>
                    <a:pt x="204" y="0"/>
                  </a:lnTo>
                  <a:close/>
                </a:path>
              </a:pathLst>
            </a:custGeom>
            <a:solidFill>
              <a:srgbClr val="FFFFFF"/>
            </a:solidFill>
            <a:ln w="9525">
              <a:noFill/>
              <a:round/>
              <a:headEnd/>
              <a:tailEnd/>
            </a:ln>
          </p:spPr>
          <p:txBody>
            <a:bodyPr/>
            <a:lstStyle/>
            <a:p>
              <a:endParaRPr lang="zh-CN" altLang="en-US">
                <a:latin typeface="+mn-lt"/>
              </a:endParaRPr>
            </a:p>
          </p:txBody>
        </p:sp>
        <p:sp>
          <p:nvSpPr>
            <p:cNvPr id="23" name="Freeform 41"/>
            <p:cNvSpPr>
              <a:spLocks/>
            </p:cNvSpPr>
            <p:nvPr/>
          </p:nvSpPr>
          <p:spPr bwMode="auto">
            <a:xfrm>
              <a:off x="2868" y="2130"/>
              <a:ext cx="75" cy="47"/>
            </a:xfrm>
            <a:custGeom>
              <a:avLst/>
              <a:gdLst/>
              <a:ahLst/>
              <a:cxnLst>
                <a:cxn ang="0">
                  <a:pos x="68" y="19"/>
                </a:cxn>
                <a:cxn ang="0">
                  <a:pos x="75" y="40"/>
                </a:cxn>
                <a:cxn ang="0">
                  <a:pos x="0" y="47"/>
                </a:cxn>
                <a:cxn ang="0">
                  <a:pos x="61" y="0"/>
                </a:cxn>
                <a:cxn ang="0">
                  <a:pos x="68" y="19"/>
                </a:cxn>
              </a:cxnLst>
              <a:rect l="0" t="0" r="r" b="b"/>
              <a:pathLst>
                <a:path w="75" h="47">
                  <a:moveTo>
                    <a:pt x="68" y="19"/>
                  </a:moveTo>
                  <a:lnTo>
                    <a:pt x="75" y="40"/>
                  </a:lnTo>
                  <a:lnTo>
                    <a:pt x="0" y="47"/>
                  </a:lnTo>
                  <a:lnTo>
                    <a:pt x="61" y="0"/>
                  </a:lnTo>
                  <a:lnTo>
                    <a:pt x="68" y="19"/>
                  </a:lnTo>
                </a:path>
              </a:pathLst>
            </a:custGeom>
            <a:noFill/>
            <a:ln w="7938">
              <a:solidFill>
                <a:srgbClr val="000000"/>
              </a:solidFill>
              <a:prstDash val="solid"/>
              <a:round/>
              <a:headEnd/>
              <a:tailEnd/>
            </a:ln>
          </p:spPr>
          <p:txBody>
            <a:bodyPr/>
            <a:lstStyle/>
            <a:p>
              <a:endParaRPr lang="zh-CN" altLang="en-US">
                <a:latin typeface="+mn-lt"/>
              </a:endParaRPr>
            </a:p>
          </p:txBody>
        </p:sp>
        <p:sp>
          <p:nvSpPr>
            <p:cNvPr id="24" name="Freeform 42"/>
            <p:cNvSpPr>
              <a:spLocks/>
            </p:cNvSpPr>
            <p:nvPr/>
          </p:nvSpPr>
          <p:spPr bwMode="auto">
            <a:xfrm>
              <a:off x="2868" y="2130"/>
              <a:ext cx="75" cy="47"/>
            </a:xfrm>
            <a:custGeom>
              <a:avLst/>
              <a:gdLst/>
              <a:ahLst/>
              <a:cxnLst>
                <a:cxn ang="0">
                  <a:pos x="68" y="19"/>
                </a:cxn>
                <a:cxn ang="0">
                  <a:pos x="75" y="40"/>
                </a:cxn>
                <a:cxn ang="0">
                  <a:pos x="0" y="47"/>
                </a:cxn>
                <a:cxn ang="0">
                  <a:pos x="61" y="0"/>
                </a:cxn>
                <a:cxn ang="0">
                  <a:pos x="68" y="19"/>
                </a:cxn>
              </a:cxnLst>
              <a:rect l="0" t="0" r="r" b="b"/>
              <a:pathLst>
                <a:path w="75" h="47">
                  <a:moveTo>
                    <a:pt x="68" y="19"/>
                  </a:moveTo>
                  <a:lnTo>
                    <a:pt x="75" y="40"/>
                  </a:lnTo>
                  <a:lnTo>
                    <a:pt x="0" y="47"/>
                  </a:lnTo>
                  <a:lnTo>
                    <a:pt x="61" y="0"/>
                  </a:lnTo>
                  <a:lnTo>
                    <a:pt x="68" y="19"/>
                  </a:lnTo>
                  <a:close/>
                </a:path>
              </a:pathLst>
            </a:custGeom>
            <a:solidFill>
              <a:srgbClr val="000000"/>
            </a:solidFill>
            <a:ln w="9525">
              <a:noFill/>
              <a:round/>
              <a:headEnd/>
              <a:tailEnd/>
            </a:ln>
          </p:spPr>
          <p:txBody>
            <a:bodyPr/>
            <a:lstStyle/>
            <a:p>
              <a:endParaRPr lang="zh-CN" altLang="en-US">
                <a:latin typeface="+mn-lt"/>
              </a:endParaRPr>
            </a:p>
          </p:txBody>
        </p:sp>
        <p:sp>
          <p:nvSpPr>
            <p:cNvPr id="25" name="Freeform 43"/>
            <p:cNvSpPr>
              <a:spLocks/>
            </p:cNvSpPr>
            <p:nvPr/>
          </p:nvSpPr>
          <p:spPr bwMode="auto">
            <a:xfrm>
              <a:off x="2938" y="1767"/>
              <a:ext cx="127" cy="382"/>
            </a:xfrm>
            <a:custGeom>
              <a:avLst/>
              <a:gdLst/>
              <a:ahLst/>
              <a:cxnLst>
                <a:cxn ang="0">
                  <a:pos x="127" y="0"/>
                </a:cxn>
                <a:cxn ang="0">
                  <a:pos x="127" y="52"/>
                </a:cxn>
                <a:cxn ang="0">
                  <a:pos x="123" y="104"/>
                </a:cxn>
                <a:cxn ang="0">
                  <a:pos x="118" y="153"/>
                </a:cxn>
                <a:cxn ang="0">
                  <a:pos x="109" y="198"/>
                </a:cxn>
                <a:cxn ang="0">
                  <a:pos x="97" y="243"/>
                </a:cxn>
                <a:cxn ang="0">
                  <a:pos x="85" y="283"/>
                </a:cxn>
                <a:cxn ang="0">
                  <a:pos x="69" y="316"/>
                </a:cxn>
                <a:cxn ang="0">
                  <a:pos x="47" y="344"/>
                </a:cxn>
                <a:cxn ang="0">
                  <a:pos x="26" y="368"/>
                </a:cxn>
                <a:cxn ang="0">
                  <a:pos x="0" y="382"/>
                </a:cxn>
              </a:cxnLst>
              <a:rect l="0" t="0" r="r" b="b"/>
              <a:pathLst>
                <a:path w="127" h="382">
                  <a:moveTo>
                    <a:pt x="127" y="0"/>
                  </a:moveTo>
                  <a:lnTo>
                    <a:pt x="127" y="52"/>
                  </a:lnTo>
                  <a:lnTo>
                    <a:pt x="123" y="104"/>
                  </a:lnTo>
                  <a:lnTo>
                    <a:pt x="118" y="153"/>
                  </a:lnTo>
                  <a:lnTo>
                    <a:pt x="109" y="198"/>
                  </a:lnTo>
                  <a:lnTo>
                    <a:pt x="97" y="243"/>
                  </a:lnTo>
                  <a:lnTo>
                    <a:pt x="85" y="283"/>
                  </a:lnTo>
                  <a:lnTo>
                    <a:pt x="69" y="316"/>
                  </a:lnTo>
                  <a:lnTo>
                    <a:pt x="47" y="344"/>
                  </a:lnTo>
                  <a:lnTo>
                    <a:pt x="26" y="368"/>
                  </a:lnTo>
                  <a:lnTo>
                    <a:pt x="0" y="382"/>
                  </a:lnTo>
                </a:path>
              </a:pathLst>
            </a:custGeom>
            <a:noFill/>
            <a:ln w="7938" cap="flat">
              <a:solidFill>
                <a:srgbClr val="000000"/>
              </a:solidFill>
              <a:prstDash val="dash"/>
              <a:round/>
              <a:headEnd/>
              <a:tailEnd/>
            </a:ln>
          </p:spPr>
          <p:txBody>
            <a:bodyPr/>
            <a:lstStyle/>
            <a:p>
              <a:endParaRPr lang="zh-CN" altLang="en-US">
                <a:latin typeface="+mn-lt"/>
              </a:endParaRPr>
            </a:p>
          </p:txBody>
        </p:sp>
        <p:sp>
          <p:nvSpPr>
            <p:cNvPr id="26" name="Freeform 44"/>
            <p:cNvSpPr>
              <a:spLocks/>
            </p:cNvSpPr>
            <p:nvPr/>
          </p:nvSpPr>
          <p:spPr bwMode="auto">
            <a:xfrm>
              <a:off x="2536" y="1010"/>
              <a:ext cx="50" cy="141"/>
            </a:xfrm>
            <a:custGeom>
              <a:avLst/>
              <a:gdLst/>
              <a:ahLst/>
              <a:cxnLst>
                <a:cxn ang="0">
                  <a:pos x="0" y="0"/>
                </a:cxn>
                <a:cxn ang="0">
                  <a:pos x="0" y="23"/>
                </a:cxn>
                <a:cxn ang="0">
                  <a:pos x="3" y="45"/>
                </a:cxn>
                <a:cxn ang="0">
                  <a:pos x="5" y="66"/>
                </a:cxn>
                <a:cxn ang="0">
                  <a:pos x="10" y="85"/>
                </a:cxn>
                <a:cxn ang="0">
                  <a:pos x="14" y="101"/>
                </a:cxn>
                <a:cxn ang="0">
                  <a:pos x="22" y="115"/>
                </a:cxn>
                <a:cxn ang="0">
                  <a:pos x="26" y="125"/>
                </a:cxn>
                <a:cxn ang="0">
                  <a:pos x="33" y="134"/>
                </a:cxn>
                <a:cxn ang="0">
                  <a:pos x="40" y="139"/>
                </a:cxn>
                <a:cxn ang="0">
                  <a:pos x="50" y="141"/>
                </a:cxn>
              </a:cxnLst>
              <a:rect l="0" t="0" r="r" b="b"/>
              <a:pathLst>
                <a:path w="50" h="141">
                  <a:moveTo>
                    <a:pt x="0" y="0"/>
                  </a:moveTo>
                  <a:lnTo>
                    <a:pt x="0" y="23"/>
                  </a:lnTo>
                  <a:lnTo>
                    <a:pt x="3" y="45"/>
                  </a:lnTo>
                  <a:lnTo>
                    <a:pt x="5" y="66"/>
                  </a:lnTo>
                  <a:lnTo>
                    <a:pt x="10" y="85"/>
                  </a:lnTo>
                  <a:lnTo>
                    <a:pt x="14" y="101"/>
                  </a:lnTo>
                  <a:lnTo>
                    <a:pt x="22" y="115"/>
                  </a:lnTo>
                  <a:lnTo>
                    <a:pt x="26" y="125"/>
                  </a:lnTo>
                  <a:lnTo>
                    <a:pt x="33" y="134"/>
                  </a:lnTo>
                  <a:lnTo>
                    <a:pt x="40" y="139"/>
                  </a:lnTo>
                  <a:lnTo>
                    <a:pt x="50" y="141"/>
                  </a:lnTo>
                </a:path>
              </a:pathLst>
            </a:custGeom>
            <a:noFill/>
            <a:ln w="7938">
              <a:solidFill>
                <a:srgbClr val="000000"/>
              </a:solidFill>
              <a:prstDash val="solid"/>
              <a:round/>
              <a:headEnd/>
              <a:tailEnd/>
            </a:ln>
          </p:spPr>
          <p:txBody>
            <a:bodyPr/>
            <a:lstStyle/>
            <a:p>
              <a:endParaRPr lang="zh-CN" altLang="en-US">
                <a:latin typeface="+mn-lt"/>
              </a:endParaRPr>
            </a:p>
          </p:txBody>
        </p:sp>
        <p:sp>
          <p:nvSpPr>
            <p:cNvPr id="27" name="Freeform 45"/>
            <p:cNvSpPr>
              <a:spLocks/>
            </p:cNvSpPr>
            <p:nvPr/>
          </p:nvSpPr>
          <p:spPr bwMode="auto">
            <a:xfrm>
              <a:off x="2536" y="848"/>
              <a:ext cx="177" cy="162"/>
            </a:xfrm>
            <a:custGeom>
              <a:avLst/>
              <a:gdLst/>
              <a:ahLst/>
              <a:cxnLst>
                <a:cxn ang="0">
                  <a:pos x="177" y="0"/>
                </a:cxn>
                <a:cxn ang="0">
                  <a:pos x="149" y="2"/>
                </a:cxn>
                <a:cxn ang="0">
                  <a:pos x="120" y="7"/>
                </a:cxn>
                <a:cxn ang="0">
                  <a:pos x="97" y="16"/>
                </a:cxn>
                <a:cxn ang="0">
                  <a:pos x="73" y="30"/>
                </a:cxn>
                <a:cxn ang="0">
                  <a:pos x="52" y="47"/>
                </a:cxn>
                <a:cxn ang="0">
                  <a:pos x="36" y="65"/>
                </a:cxn>
                <a:cxn ang="0">
                  <a:pos x="19" y="87"/>
                </a:cxn>
                <a:cxn ang="0">
                  <a:pos x="10" y="110"/>
                </a:cxn>
                <a:cxn ang="0">
                  <a:pos x="3" y="136"/>
                </a:cxn>
                <a:cxn ang="0">
                  <a:pos x="0" y="162"/>
                </a:cxn>
              </a:cxnLst>
              <a:rect l="0" t="0" r="r" b="b"/>
              <a:pathLst>
                <a:path w="177" h="162">
                  <a:moveTo>
                    <a:pt x="177" y="0"/>
                  </a:moveTo>
                  <a:lnTo>
                    <a:pt x="149" y="2"/>
                  </a:lnTo>
                  <a:lnTo>
                    <a:pt x="120" y="7"/>
                  </a:lnTo>
                  <a:lnTo>
                    <a:pt x="97" y="16"/>
                  </a:lnTo>
                  <a:lnTo>
                    <a:pt x="73" y="30"/>
                  </a:lnTo>
                  <a:lnTo>
                    <a:pt x="52" y="47"/>
                  </a:lnTo>
                  <a:lnTo>
                    <a:pt x="36" y="65"/>
                  </a:lnTo>
                  <a:lnTo>
                    <a:pt x="19" y="87"/>
                  </a:lnTo>
                  <a:lnTo>
                    <a:pt x="10" y="110"/>
                  </a:lnTo>
                  <a:lnTo>
                    <a:pt x="3" y="136"/>
                  </a:lnTo>
                  <a:lnTo>
                    <a:pt x="0" y="162"/>
                  </a:lnTo>
                </a:path>
              </a:pathLst>
            </a:custGeom>
            <a:noFill/>
            <a:ln w="7938">
              <a:solidFill>
                <a:srgbClr val="000000"/>
              </a:solidFill>
              <a:prstDash val="solid"/>
              <a:round/>
              <a:headEnd/>
              <a:tailEnd/>
            </a:ln>
          </p:spPr>
          <p:txBody>
            <a:bodyPr/>
            <a:lstStyle/>
            <a:p>
              <a:endParaRPr lang="zh-CN" altLang="en-US">
                <a:latin typeface="+mn-lt"/>
              </a:endParaRPr>
            </a:p>
          </p:txBody>
        </p:sp>
        <p:sp>
          <p:nvSpPr>
            <p:cNvPr id="28" name="Freeform 46"/>
            <p:cNvSpPr>
              <a:spLocks/>
            </p:cNvSpPr>
            <p:nvPr/>
          </p:nvSpPr>
          <p:spPr bwMode="auto">
            <a:xfrm>
              <a:off x="2830" y="1083"/>
              <a:ext cx="64" cy="70"/>
            </a:xfrm>
            <a:custGeom>
              <a:avLst/>
              <a:gdLst/>
              <a:ahLst/>
              <a:cxnLst>
                <a:cxn ang="0">
                  <a:pos x="47" y="14"/>
                </a:cxn>
                <a:cxn ang="0">
                  <a:pos x="64" y="26"/>
                </a:cxn>
                <a:cxn ang="0">
                  <a:pos x="0" y="70"/>
                </a:cxn>
                <a:cxn ang="0">
                  <a:pos x="31" y="0"/>
                </a:cxn>
                <a:cxn ang="0">
                  <a:pos x="47" y="14"/>
                </a:cxn>
              </a:cxnLst>
              <a:rect l="0" t="0" r="r" b="b"/>
              <a:pathLst>
                <a:path w="64" h="70">
                  <a:moveTo>
                    <a:pt x="47" y="14"/>
                  </a:moveTo>
                  <a:lnTo>
                    <a:pt x="64" y="26"/>
                  </a:lnTo>
                  <a:lnTo>
                    <a:pt x="0" y="70"/>
                  </a:lnTo>
                  <a:lnTo>
                    <a:pt x="31" y="0"/>
                  </a:lnTo>
                  <a:lnTo>
                    <a:pt x="47" y="14"/>
                  </a:lnTo>
                </a:path>
              </a:pathLst>
            </a:custGeom>
            <a:noFill/>
            <a:ln w="7938">
              <a:solidFill>
                <a:srgbClr val="000000"/>
              </a:solidFill>
              <a:prstDash val="solid"/>
              <a:round/>
              <a:headEnd/>
              <a:tailEnd/>
            </a:ln>
          </p:spPr>
          <p:txBody>
            <a:bodyPr/>
            <a:lstStyle/>
            <a:p>
              <a:endParaRPr lang="zh-CN" altLang="en-US">
                <a:latin typeface="+mn-lt"/>
              </a:endParaRPr>
            </a:p>
          </p:txBody>
        </p:sp>
        <p:sp>
          <p:nvSpPr>
            <p:cNvPr id="29" name="Freeform 47"/>
            <p:cNvSpPr>
              <a:spLocks/>
            </p:cNvSpPr>
            <p:nvPr/>
          </p:nvSpPr>
          <p:spPr bwMode="auto">
            <a:xfrm>
              <a:off x="2830" y="1083"/>
              <a:ext cx="64" cy="70"/>
            </a:xfrm>
            <a:custGeom>
              <a:avLst/>
              <a:gdLst/>
              <a:ahLst/>
              <a:cxnLst>
                <a:cxn ang="0">
                  <a:pos x="45" y="12"/>
                </a:cxn>
                <a:cxn ang="0">
                  <a:pos x="64" y="26"/>
                </a:cxn>
                <a:cxn ang="0">
                  <a:pos x="0" y="70"/>
                </a:cxn>
                <a:cxn ang="0">
                  <a:pos x="31" y="0"/>
                </a:cxn>
                <a:cxn ang="0">
                  <a:pos x="45" y="12"/>
                </a:cxn>
              </a:cxnLst>
              <a:rect l="0" t="0" r="r" b="b"/>
              <a:pathLst>
                <a:path w="64" h="70">
                  <a:moveTo>
                    <a:pt x="45" y="12"/>
                  </a:moveTo>
                  <a:lnTo>
                    <a:pt x="64" y="26"/>
                  </a:lnTo>
                  <a:lnTo>
                    <a:pt x="0" y="70"/>
                  </a:lnTo>
                  <a:lnTo>
                    <a:pt x="31" y="0"/>
                  </a:lnTo>
                  <a:lnTo>
                    <a:pt x="45" y="12"/>
                  </a:lnTo>
                  <a:close/>
                </a:path>
              </a:pathLst>
            </a:custGeom>
            <a:solidFill>
              <a:srgbClr val="000000"/>
            </a:solidFill>
            <a:ln w="9525">
              <a:noFill/>
              <a:round/>
              <a:headEnd/>
              <a:tailEnd/>
            </a:ln>
          </p:spPr>
          <p:txBody>
            <a:bodyPr/>
            <a:lstStyle/>
            <a:p>
              <a:endParaRPr lang="zh-CN" altLang="en-US">
                <a:latin typeface="+mn-lt"/>
              </a:endParaRPr>
            </a:p>
          </p:txBody>
        </p:sp>
        <p:sp>
          <p:nvSpPr>
            <p:cNvPr id="30" name="Freeform 48"/>
            <p:cNvSpPr>
              <a:spLocks/>
            </p:cNvSpPr>
            <p:nvPr/>
          </p:nvSpPr>
          <p:spPr bwMode="auto">
            <a:xfrm>
              <a:off x="2877" y="1010"/>
              <a:ext cx="12" cy="85"/>
            </a:xfrm>
            <a:custGeom>
              <a:avLst/>
              <a:gdLst/>
              <a:ahLst/>
              <a:cxnLst>
                <a:cxn ang="0">
                  <a:pos x="12" y="0"/>
                </a:cxn>
                <a:cxn ang="0">
                  <a:pos x="12" y="9"/>
                </a:cxn>
                <a:cxn ang="0">
                  <a:pos x="12" y="19"/>
                </a:cxn>
                <a:cxn ang="0">
                  <a:pos x="12" y="28"/>
                </a:cxn>
                <a:cxn ang="0">
                  <a:pos x="12" y="38"/>
                </a:cxn>
                <a:cxn ang="0">
                  <a:pos x="12" y="47"/>
                </a:cxn>
                <a:cxn ang="0">
                  <a:pos x="12" y="56"/>
                </a:cxn>
                <a:cxn ang="0">
                  <a:pos x="10" y="63"/>
                </a:cxn>
                <a:cxn ang="0">
                  <a:pos x="7" y="70"/>
                </a:cxn>
                <a:cxn ang="0">
                  <a:pos x="5" y="78"/>
                </a:cxn>
                <a:cxn ang="0">
                  <a:pos x="0" y="85"/>
                </a:cxn>
              </a:cxnLst>
              <a:rect l="0" t="0" r="r" b="b"/>
              <a:pathLst>
                <a:path w="12" h="85">
                  <a:moveTo>
                    <a:pt x="12" y="0"/>
                  </a:moveTo>
                  <a:lnTo>
                    <a:pt x="12" y="9"/>
                  </a:lnTo>
                  <a:lnTo>
                    <a:pt x="12" y="19"/>
                  </a:lnTo>
                  <a:lnTo>
                    <a:pt x="12" y="28"/>
                  </a:lnTo>
                  <a:lnTo>
                    <a:pt x="12" y="38"/>
                  </a:lnTo>
                  <a:lnTo>
                    <a:pt x="12" y="47"/>
                  </a:lnTo>
                  <a:lnTo>
                    <a:pt x="12" y="56"/>
                  </a:lnTo>
                  <a:lnTo>
                    <a:pt x="10" y="63"/>
                  </a:lnTo>
                  <a:lnTo>
                    <a:pt x="7" y="70"/>
                  </a:lnTo>
                  <a:lnTo>
                    <a:pt x="5" y="78"/>
                  </a:lnTo>
                  <a:lnTo>
                    <a:pt x="0" y="85"/>
                  </a:lnTo>
                </a:path>
              </a:pathLst>
            </a:custGeom>
            <a:noFill/>
            <a:ln w="7938">
              <a:solidFill>
                <a:srgbClr val="000000"/>
              </a:solidFill>
              <a:prstDash val="solid"/>
              <a:round/>
              <a:headEnd/>
              <a:tailEnd/>
            </a:ln>
          </p:spPr>
          <p:txBody>
            <a:bodyPr/>
            <a:lstStyle/>
            <a:p>
              <a:endParaRPr lang="zh-CN" altLang="en-US">
                <a:latin typeface="+mn-lt"/>
              </a:endParaRPr>
            </a:p>
          </p:txBody>
        </p:sp>
        <p:sp>
          <p:nvSpPr>
            <p:cNvPr id="31" name="Freeform 49"/>
            <p:cNvSpPr>
              <a:spLocks/>
            </p:cNvSpPr>
            <p:nvPr/>
          </p:nvSpPr>
          <p:spPr bwMode="auto">
            <a:xfrm>
              <a:off x="2713" y="848"/>
              <a:ext cx="176" cy="162"/>
            </a:xfrm>
            <a:custGeom>
              <a:avLst/>
              <a:gdLst/>
              <a:ahLst/>
              <a:cxnLst>
                <a:cxn ang="0">
                  <a:pos x="176" y="162"/>
                </a:cxn>
                <a:cxn ang="0">
                  <a:pos x="174" y="136"/>
                </a:cxn>
                <a:cxn ang="0">
                  <a:pos x="167" y="110"/>
                </a:cxn>
                <a:cxn ang="0">
                  <a:pos x="157" y="87"/>
                </a:cxn>
                <a:cxn ang="0">
                  <a:pos x="143" y="65"/>
                </a:cxn>
                <a:cxn ang="0">
                  <a:pos x="124" y="47"/>
                </a:cxn>
                <a:cxn ang="0">
                  <a:pos x="103" y="30"/>
                </a:cxn>
                <a:cxn ang="0">
                  <a:pos x="80" y="16"/>
                </a:cxn>
                <a:cxn ang="0">
                  <a:pos x="56" y="7"/>
                </a:cxn>
                <a:cxn ang="0">
                  <a:pos x="28" y="2"/>
                </a:cxn>
                <a:cxn ang="0">
                  <a:pos x="0" y="0"/>
                </a:cxn>
              </a:cxnLst>
              <a:rect l="0" t="0" r="r" b="b"/>
              <a:pathLst>
                <a:path w="176" h="162">
                  <a:moveTo>
                    <a:pt x="176" y="162"/>
                  </a:moveTo>
                  <a:lnTo>
                    <a:pt x="174" y="136"/>
                  </a:lnTo>
                  <a:lnTo>
                    <a:pt x="167" y="110"/>
                  </a:lnTo>
                  <a:lnTo>
                    <a:pt x="157" y="87"/>
                  </a:lnTo>
                  <a:lnTo>
                    <a:pt x="143" y="65"/>
                  </a:lnTo>
                  <a:lnTo>
                    <a:pt x="124" y="47"/>
                  </a:lnTo>
                  <a:lnTo>
                    <a:pt x="103" y="30"/>
                  </a:lnTo>
                  <a:lnTo>
                    <a:pt x="80" y="16"/>
                  </a:lnTo>
                  <a:lnTo>
                    <a:pt x="56" y="7"/>
                  </a:lnTo>
                  <a:lnTo>
                    <a:pt x="28" y="2"/>
                  </a:lnTo>
                  <a:lnTo>
                    <a:pt x="0" y="0"/>
                  </a:lnTo>
                </a:path>
              </a:pathLst>
            </a:custGeom>
            <a:noFill/>
            <a:ln w="7938">
              <a:solidFill>
                <a:srgbClr val="000000"/>
              </a:solidFill>
              <a:prstDash val="solid"/>
              <a:round/>
              <a:headEnd/>
              <a:tailEnd/>
            </a:ln>
          </p:spPr>
          <p:txBody>
            <a:bodyPr/>
            <a:lstStyle/>
            <a:p>
              <a:endParaRPr lang="zh-CN" altLang="en-US">
                <a:latin typeface="+mn-lt"/>
              </a:endParaRPr>
            </a:p>
          </p:txBody>
        </p:sp>
        <p:sp>
          <p:nvSpPr>
            <p:cNvPr id="32" name="Freeform 50"/>
            <p:cNvSpPr>
              <a:spLocks/>
            </p:cNvSpPr>
            <p:nvPr/>
          </p:nvSpPr>
          <p:spPr bwMode="auto">
            <a:xfrm>
              <a:off x="2682" y="2607"/>
              <a:ext cx="176" cy="177"/>
            </a:xfrm>
            <a:custGeom>
              <a:avLst/>
              <a:gdLst/>
              <a:ahLst/>
              <a:cxnLst>
                <a:cxn ang="0">
                  <a:pos x="0" y="177"/>
                </a:cxn>
                <a:cxn ang="0">
                  <a:pos x="31" y="175"/>
                </a:cxn>
                <a:cxn ang="0">
                  <a:pos x="57" y="168"/>
                </a:cxn>
                <a:cxn ang="0">
                  <a:pos x="82" y="156"/>
                </a:cxn>
                <a:cxn ang="0">
                  <a:pos x="106" y="142"/>
                </a:cxn>
                <a:cxn ang="0">
                  <a:pos x="125" y="125"/>
                </a:cxn>
                <a:cxn ang="0">
                  <a:pos x="144" y="104"/>
                </a:cxn>
                <a:cxn ang="0">
                  <a:pos x="158" y="80"/>
                </a:cxn>
                <a:cxn ang="0">
                  <a:pos x="169" y="55"/>
                </a:cxn>
                <a:cxn ang="0">
                  <a:pos x="174" y="29"/>
                </a:cxn>
                <a:cxn ang="0">
                  <a:pos x="176" y="0"/>
                </a:cxn>
              </a:cxnLst>
              <a:rect l="0" t="0" r="r" b="b"/>
              <a:pathLst>
                <a:path w="176" h="177">
                  <a:moveTo>
                    <a:pt x="0" y="177"/>
                  </a:moveTo>
                  <a:lnTo>
                    <a:pt x="31" y="175"/>
                  </a:lnTo>
                  <a:lnTo>
                    <a:pt x="57" y="168"/>
                  </a:lnTo>
                  <a:lnTo>
                    <a:pt x="82" y="156"/>
                  </a:lnTo>
                  <a:lnTo>
                    <a:pt x="106" y="142"/>
                  </a:lnTo>
                  <a:lnTo>
                    <a:pt x="125" y="125"/>
                  </a:lnTo>
                  <a:lnTo>
                    <a:pt x="144" y="104"/>
                  </a:lnTo>
                  <a:lnTo>
                    <a:pt x="158" y="80"/>
                  </a:lnTo>
                  <a:lnTo>
                    <a:pt x="169" y="55"/>
                  </a:lnTo>
                  <a:lnTo>
                    <a:pt x="174" y="29"/>
                  </a:lnTo>
                  <a:lnTo>
                    <a:pt x="176" y="0"/>
                  </a:lnTo>
                </a:path>
              </a:pathLst>
            </a:custGeom>
            <a:noFill/>
            <a:ln w="7938">
              <a:solidFill>
                <a:srgbClr val="000000"/>
              </a:solidFill>
              <a:prstDash val="solid"/>
              <a:round/>
              <a:headEnd/>
              <a:tailEnd/>
            </a:ln>
          </p:spPr>
          <p:txBody>
            <a:bodyPr/>
            <a:lstStyle/>
            <a:p>
              <a:endParaRPr lang="zh-CN" altLang="en-US">
                <a:latin typeface="+mn-lt"/>
              </a:endParaRPr>
            </a:p>
          </p:txBody>
        </p:sp>
        <p:sp>
          <p:nvSpPr>
            <p:cNvPr id="33" name="Freeform 51"/>
            <p:cNvSpPr>
              <a:spLocks/>
            </p:cNvSpPr>
            <p:nvPr/>
          </p:nvSpPr>
          <p:spPr bwMode="auto">
            <a:xfrm>
              <a:off x="2544" y="2448"/>
              <a:ext cx="73" cy="57"/>
            </a:xfrm>
            <a:custGeom>
              <a:avLst/>
              <a:gdLst/>
              <a:ahLst/>
              <a:cxnLst>
                <a:cxn ang="0">
                  <a:pos x="9" y="40"/>
                </a:cxn>
                <a:cxn ang="0">
                  <a:pos x="0" y="21"/>
                </a:cxn>
                <a:cxn ang="0">
                  <a:pos x="73" y="0"/>
                </a:cxn>
                <a:cxn ang="0">
                  <a:pos x="21" y="57"/>
                </a:cxn>
                <a:cxn ang="0">
                  <a:pos x="9" y="40"/>
                </a:cxn>
              </a:cxnLst>
              <a:rect l="0" t="0" r="r" b="b"/>
              <a:pathLst>
                <a:path w="73" h="57">
                  <a:moveTo>
                    <a:pt x="9" y="40"/>
                  </a:moveTo>
                  <a:lnTo>
                    <a:pt x="0" y="21"/>
                  </a:lnTo>
                  <a:lnTo>
                    <a:pt x="73" y="0"/>
                  </a:lnTo>
                  <a:lnTo>
                    <a:pt x="21" y="57"/>
                  </a:lnTo>
                  <a:lnTo>
                    <a:pt x="9" y="40"/>
                  </a:lnTo>
                </a:path>
              </a:pathLst>
            </a:custGeom>
            <a:noFill/>
            <a:ln w="7938">
              <a:solidFill>
                <a:srgbClr val="000000"/>
              </a:solidFill>
              <a:prstDash val="solid"/>
              <a:round/>
              <a:headEnd/>
              <a:tailEnd/>
            </a:ln>
          </p:spPr>
          <p:txBody>
            <a:bodyPr/>
            <a:lstStyle/>
            <a:p>
              <a:endParaRPr lang="zh-CN" altLang="en-US">
                <a:latin typeface="+mn-lt"/>
              </a:endParaRPr>
            </a:p>
          </p:txBody>
        </p:sp>
        <p:sp>
          <p:nvSpPr>
            <p:cNvPr id="34" name="Freeform 53"/>
            <p:cNvSpPr>
              <a:spLocks/>
            </p:cNvSpPr>
            <p:nvPr/>
          </p:nvSpPr>
          <p:spPr bwMode="auto">
            <a:xfrm>
              <a:off x="2496" y="2496"/>
              <a:ext cx="42" cy="146"/>
            </a:xfrm>
            <a:custGeom>
              <a:avLst/>
              <a:gdLst/>
              <a:ahLst/>
              <a:cxnLst>
                <a:cxn ang="0">
                  <a:pos x="0" y="146"/>
                </a:cxn>
                <a:cxn ang="0">
                  <a:pos x="0" y="130"/>
                </a:cxn>
                <a:cxn ang="0">
                  <a:pos x="2" y="111"/>
                </a:cxn>
                <a:cxn ang="0">
                  <a:pos x="2" y="94"/>
                </a:cxn>
                <a:cxn ang="0">
                  <a:pos x="5" y="78"/>
                </a:cxn>
                <a:cxn ang="0">
                  <a:pos x="7" y="61"/>
                </a:cxn>
                <a:cxn ang="0">
                  <a:pos x="12" y="45"/>
                </a:cxn>
                <a:cxn ang="0">
                  <a:pos x="16" y="31"/>
                </a:cxn>
                <a:cxn ang="0">
                  <a:pos x="23" y="19"/>
                </a:cxn>
                <a:cxn ang="0">
                  <a:pos x="30" y="10"/>
                </a:cxn>
                <a:cxn ang="0">
                  <a:pos x="42" y="0"/>
                </a:cxn>
              </a:cxnLst>
              <a:rect l="0" t="0" r="r" b="b"/>
              <a:pathLst>
                <a:path w="42" h="146">
                  <a:moveTo>
                    <a:pt x="0" y="146"/>
                  </a:moveTo>
                  <a:lnTo>
                    <a:pt x="0" y="130"/>
                  </a:lnTo>
                  <a:lnTo>
                    <a:pt x="2" y="111"/>
                  </a:lnTo>
                  <a:lnTo>
                    <a:pt x="2" y="94"/>
                  </a:lnTo>
                  <a:lnTo>
                    <a:pt x="5" y="78"/>
                  </a:lnTo>
                  <a:lnTo>
                    <a:pt x="7" y="61"/>
                  </a:lnTo>
                  <a:lnTo>
                    <a:pt x="12" y="45"/>
                  </a:lnTo>
                  <a:lnTo>
                    <a:pt x="16" y="31"/>
                  </a:lnTo>
                  <a:lnTo>
                    <a:pt x="23" y="19"/>
                  </a:lnTo>
                  <a:lnTo>
                    <a:pt x="30" y="10"/>
                  </a:lnTo>
                  <a:lnTo>
                    <a:pt x="42" y="0"/>
                  </a:lnTo>
                </a:path>
              </a:pathLst>
            </a:custGeom>
            <a:noFill/>
            <a:ln w="7938">
              <a:solidFill>
                <a:srgbClr val="000000"/>
              </a:solidFill>
              <a:prstDash val="solid"/>
              <a:round/>
              <a:headEnd/>
              <a:tailEnd/>
            </a:ln>
          </p:spPr>
          <p:txBody>
            <a:bodyPr/>
            <a:lstStyle/>
            <a:p>
              <a:endParaRPr lang="zh-CN" altLang="en-US">
                <a:latin typeface="+mn-lt"/>
              </a:endParaRPr>
            </a:p>
          </p:txBody>
        </p:sp>
        <p:sp>
          <p:nvSpPr>
            <p:cNvPr id="35" name="Freeform 54"/>
            <p:cNvSpPr>
              <a:spLocks/>
            </p:cNvSpPr>
            <p:nvPr/>
          </p:nvSpPr>
          <p:spPr bwMode="auto">
            <a:xfrm>
              <a:off x="2506" y="2607"/>
              <a:ext cx="176" cy="177"/>
            </a:xfrm>
            <a:custGeom>
              <a:avLst/>
              <a:gdLst/>
              <a:ahLst/>
              <a:cxnLst>
                <a:cxn ang="0">
                  <a:pos x="0" y="0"/>
                </a:cxn>
                <a:cxn ang="0">
                  <a:pos x="2" y="29"/>
                </a:cxn>
                <a:cxn ang="0">
                  <a:pos x="9" y="55"/>
                </a:cxn>
                <a:cxn ang="0">
                  <a:pos x="21" y="80"/>
                </a:cxn>
                <a:cxn ang="0">
                  <a:pos x="35" y="104"/>
                </a:cxn>
                <a:cxn ang="0">
                  <a:pos x="52" y="125"/>
                </a:cxn>
                <a:cxn ang="0">
                  <a:pos x="73" y="142"/>
                </a:cxn>
                <a:cxn ang="0">
                  <a:pos x="96" y="156"/>
                </a:cxn>
                <a:cxn ang="0">
                  <a:pos x="122" y="168"/>
                </a:cxn>
                <a:cxn ang="0">
                  <a:pos x="148" y="175"/>
                </a:cxn>
                <a:cxn ang="0">
                  <a:pos x="176" y="177"/>
                </a:cxn>
              </a:cxnLst>
              <a:rect l="0" t="0" r="r" b="b"/>
              <a:pathLst>
                <a:path w="176" h="177">
                  <a:moveTo>
                    <a:pt x="0" y="0"/>
                  </a:moveTo>
                  <a:lnTo>
                    <a:pt x="2" y="29"/>
                  </a:lnTo>
                  <a:lnTo>
                    <a:pt x="9" y="55"/>
                  </a:lnTo>
                  <a:lnTo>
                    <a:pt x="21" y="80"/>
                  </a:lnTo>
                  <a:lnTo>
                    <a:pt x="35" y="104"/>
                  </a:lnTo>
                  <a:lnTo>
                    <a:pt x="52" y="125"/>
                  </a:lnTo>
                  <a:lnTo>
                    <a:pt x="73" y="142"/>
                  </a:lnTo>
                  <a:lnTo>
                    <a:pt x="96" y="156"/>
                  </a:lnTo>
                  <a:lnTo>
                    <a:pt x="122" y="168"/>
                  </a:lnTo>
                  <a:lnTo>
                    <a:pt x="148" y="175"/>
                  </a:lnTo>
                  <a:lnTo>
                    <a:pt x="176" y="177"/>
                  </a:lnTo>
                </a:path>
              </a:pathLst>
            </a:custGeom>
            <a:noFill/>
            <a:ln w="7938">
              <a:solidFill>
                <a:srgbClr val="000000"/>
              </a:solidFill>
              <a:prstDash val="solid"/>
              <a:round/>
              <a:headEnd/>
              <a:tailEnd/>
            </a:ln>
          </p:spPr>
          <p:txBody>
            <a:bodyPr/>
            <a:lstStyle/>
            <a:p>
              <a:endParaRPr lang="zh-CN" altLang="en-US">
                <a:latin typeface="+mn-lt"/>
              </a:endParaRPr>
            </a:p>
          </p:txBody>
        </p:sp>
        <p:sp>
          <p:nvSpPr>
            <p:cNvPr id="36" name="Text Box 59"/>
            <p:cNvSpPr txBox="1">
              <a:spLocks noChangeArrowheads="1"/>
            </p:cNvSpPr>
            <p:nvPr/>
          </p:nvSpPr>
          <p:spPr bwMode="auto">
            <a:xfrm>
              <a:off x="3072" y="1392"/>
              <a:ext cx="671" cy="229"/>
            </a:xfrm>
            <a:prstGeom prst="rect">
              <a:avLst/>
            </a:prstGeom>
            <a:noFill/>
            <a:ln w="9525">
              <a:noFill/>
              <a:miter lim="800000"/>
              <a:headEnd/>
              <a:tailEnd/>
            </a:ln>
            <a:effectLst/>
          </p:spPr>
          <p:txBody>
            <a:bodyPr wrap="none" bIns="0">
              <a:spAutoFit/>
            </a:bodyPr>
            <a:lstStyle/>
            <a:p>
              <a:r>
                <a:rPr lang="en-US" altLang="zh-CN" dirty="0" err="1">
                  <a:solidFill>
                    <a:srgbClr val="FF0000"/>
                  </a:solidFill>
                  <a:latin typeface="+mn-lt"/>
                </a:rPr>
                <a:t>BusWr</a:t>
              </a:r>
              <a:r>
                <a:rPr lang="en-US" altLang="zh-CN" dirty="0">
                  <a:latin typeface="+mn-lt"/>
                </a:rPr>
                <a:t> / -</a:t>
              </a:r>
            </a:p>
          </p:txBody>
        </p:sp>
        <p:sp>
          <p:nvSpPr>
            <p:cNvPr id="37" name="Text Box 60"/>
            <p:cNvSpPr txBox="1">
              <a:spLocks noChangeArrowheads="1"/>
            </p:cNvSpPr>
            <p:nvPr/>
          </p:nvSpPr>
          <p:spPr bwMode="auto">
            <a:xfrm>
              <a:off x="2918" y="837"/>
              <a:ext cx="928" cy="426"/>
            </a:xfrm>
            <a:prstGeom prst="rect">
              <a:avLst/>
            </a:prstGeom>
            <a:noFill/>
            <a:ln w="9525">
              <a:noFill/>
              <a:miter lim="800000"/>
              <a:headEnd/>
              <a:tailEnd/>
            </a:ln>
            <a:effectLst/>
          </p:spPr>
          <p:txBody>
            <a:bodyPr wrap="none" bIns="0">
              <a:spAutoFit/>
            </a:bodyPr>
            <a:lstStyle/>
            <a:p>
              <a:r>
                <a:rPr lang="en-US" altLang="zh-CN" dirty="0" err="1">
                  <a:solidFill>
                    <a:srgbClr val="114FFB"/>
                  </a:solidFill>
                  <a:latin typeface="+mn-lt"/>
                </a:rPr>
                <a:t>PrRd</a:t>
              </a:r>
              <a:r>
                <a:rPr lang="en-US" altLang="zh-CN" dirty="0">
                  <a:latin typeface="+mn-lt"/>
                </a:rPr>
                <a:t>/ --</a:t>
              </a:r>
            </a:p>
            <a:p>
              <a:r>
                <a:rPr lang="en-US" altLang="zh-CN" dirty="0" err="1">
                  <a:solidFill>
                    <a:srgbClr val="114FFB"/>
                  </a:solidFill>
                  <a:latin typeface="+mn-lt"/>
                </a:rPr>
                <a:t>PrWr</a:t>
              </a:r>
              <a:r>
                <a:rPr lang="en-US" altLang="zh-CN" dirty="0">
                  <a:latin typeface="+mn-lt"/>
                </a:rPr>
                <a:t> / </a:t>
              </a:r>
              <a:r>
                <a:rPr lang="en-US" altLang="zh-CN" dirty="0" err="1">
                  <a:solidFill>
                    <a:srgbClr val="008000"/>
                  </a:solidFill>
                  <a:latin typeface="+mn-lt"/>
                </a:rPr>
                <a:t>BusWr</a:t>
              </a:r>
              <a:endParaRPr lang="en-US" altLang="zh-CN" dirty="0">
                <a:solidFill>
                  <a:srgbClr val="008000"/>
                </a:solidFill>
                <a:latin typeface="+mn-lt"/>
              </a:endParaRPr>
            </a:p>
          </p:txBody>
        </p:sp>
        <p:sp>
          <p:nvSpPr>
            <p:cNvPr id="38" name="Text Box 61"/>
            <p:cNvSpPr txBox="1">
              <a:spLocks noChangeArrowheads="1"/>
            </p:cNvSpPr>
            <p:nvPr/>
          </p:nvSpPr>
          <p:spPr bwMode="auto">
            <a:xfrm>
              <a:off x="2870" y="2517"/>
              <a:ext cx="928" cy="229"/>
            </a:xfrm>
            <a:prstGeom prst="rect">
              <a:avLst/>
            </a:prstGeom>
            <a:noFill/>
            <a:ln w="9525">
              <a:noFill/>
              <a:miter lim="800000"/>
              <a:headEnd/>
              <a:tailEnd/>
            </a:ln>
            <a:effectLst/>
          </p:spPr>
          <p:txBody>
            <a:bodyPr wrap="none" bIns="0">
              <a:spAutoFit/>
            </a:bodyPr>
            <a:lstStyle/>
            <a:p>
              <a:r>
                <a:rPr lang="en-US" altLang="zh-CN" dirty="0" err="1">
                  <a:solidFill>
                    <a:srgbClr val="114FFB"/>
                  </a:solidFill>
                  <a:latin typeface="+mn-lt"/>
                </a:rPr>
                <a:t>PrWr</a:t>
              </a:r>
              <a:r>
                <a:rPr lang="en-US" altLang="zh-CN" dirty="0">
                  <a:latin typeface="+mn-lt"/>
                </a:rPr>
                <a:t> / </a:t>
              </a:r>
              <a:r>
                <a:rPr lang="en-US" altLang="zh-CN" dirty="0" err="1">
                  <a:solidFill>
                    <a:srgbClr val="008000"/>
                  </a:solidFill>
                  <a:latin typeface="+mn-lt"/>
                </a:rPr>
                <a:t>BusWr</a:t>
              </a:r>
              <a:endParaRPr lang="en-US" altLang="zh-CN" dirty="0">
                <a:solidFill>
                  <a:srgbClr val="008000"/>
                </a:solidFill>
                <a:latin typeface="+mn-lt"/>
              </a:endParaRPr>
            </a:p>
          </p:txBody>
        </p:sp>
        <p:sp>
          <p:nvSpPr>
            <p:cNvPr id="39" name="Text Box 62"/>
            <p:cNvSpPr txBox="1">
              <a:spLocks noChangeArrowheads="1"/>
            </p:cNvSpPr>
            <p:nvPr/>
          </p:nvSpPr>
          <p:spPr bwMode="auto">
            <a:xfrm>
              <a:off x="1512" y="1968"/>
              <a:ext cx="888" cy="229"/>
            </a:xfrm>
            <a:prstGeom prst="rect">
              <a:avLst/>
            </a:prstGeom>
            <a:noFill/>
            <a:ln w="9525">
              <a:noFill/>
              <a:miter lim="800000"/>
              <a:headEnd/>
              <a:tailEnd/>
            </a:ln>
            <a:effectLst/>
          </p:spPr>
          <p:txBody>
            <a:bodyPr wrap="none" bIns="0">
              <a:spAutoFit/>
            </a:bodyPr>
            <a:lstStyle/>
            <a:p>
              <a:r>
                <a:rPr lang="en-US" altLang="zh-CN" dirty="0" err="1">
                  <a:solidFill>
                    <a:srgbClr val="114FFB"/>
                  </a:solidFill>
                  <a:latin typeface="+mn-lt"/>
                </a:rPr>
                <a:t>PrRd</a:t>
              </a:r>
              <a:r>
                <a:rPr lang="en-US" altLang="zh-CN" dirty="0">
                  <a:latin typeface="+mn-lt"/>
                </a:rPr>
                <a:t> / </a:t>
              </a:r>
              <a:r>
                <a:rPr lang="en-US" altLang="zh-CN" dirty="0" err="1">
                  <a:solidFill>
                    <a:srgbClr val="008000"/>
                  </a:solidFill>
                  <a:latin typeface="+mn-lt"/>
                </a:rPr>
                <a:t>BusRd</a:t>
              </a:r>
              <a:endParaRPr lang="en-US" altLang="zh-CN" dirty="0">
                <a:solidFill>
                  <a:srgbClr val="008000"/>
                </a:solidFill>
                <a:latin typeface="+mn-lt"/>
              </a:endParaRPr>
            </a:p>
          </p:txBody>
        </p:sp>
      </p:grpSp>
      <p:grpSp>
        <p:nvGrpSpPr>
          <p:cNvPr id="40" name="Group 85"/>
          <p:cNvGrpSpPr>
            <a:grpSpLocks/>
          </p:cNvGrpSpPr>
          <p:nvPr/>
        </p:nvGrpSpPr>
        <p:grpSpPr bwMode="auto">
          <a:xfrm>
            <a:off x="7582272" y="4666526"/>
            <a:ext cx="1304838" cy="375723"/>
            <a:chOff x="3792" y="3293"/>
            <a:chExt cx="720" cy="203"/>
          </a:xfrm>
        </p:grpSpPr>
        <p:sp>
          <p:nvSpPr>
            <p:cNvPr id="41" name="Rectangle 65"/>
            <p:cNvSpPr>
              <a:spLocks noChangeArrowheads="1"/>
            </p:cNvSpPr>
            <p:nvPr/>
          </p:nvSpPr>
          <p:spPr bwMode="auto">
            <a:xfrm>
              <a:off x="3792" y="3293"/>
              <a:ext cx="650" cy="148"/>
            </a:xfrm>
            <a:prstGeom prst="rect">
              <a:avLst/>
            </a:prstGeom>
            <a:noFill/>
            <a:ln w="12700">
              <a:noFill/>
              <a:miter lim="800000"/>
              <a:headEnd/>
              <a:tailEnd/>
            </a:ln>
            <a:effectLst/>
          </p:spPr>
          <p:txBody>
            <a:bodyPr wrap="none" lIns="90488" tIns="44450" rIns="90488" bIns="44450">
              <a:spAutoFit/>
            </a:bodyPr>
            <a:lstStyle/>
            <a:p>
              <a:r>
                <a:rPr lang="en-US" altLang="zh-CN" sz="1200" dirty="0">
                  <a:latin typeface="+mn-lt"/>
                </a:rPr>
                <a:t>State  Tag   Data</a:t>
              </a:r>
            </a:p>
          </p:txBody>
        </p:sp>
        <p:sp>
          <p:nvSpPr>
            <p:cNvPr id="42" name="Rectangle 67"/>
            <p:cNvSpPr>
              <a:spLocks noChangeArrowheads="1"/>
            </p:cNvSpPr>
            <p:nvPr/>
          </p:nvSpPr>
          <p:spPr bwMode="auto">
            <a:xfrm>
              <a:off x="3840" y="3312"/>
              <a:ext cx="672" cy="184"/>
            </a:xfrm>
            <a:prstGeom prst="rect">
              <a:avLst/>
            </a:prstGeom>
            <a:noFill/>
            <a:ln w="12700">
              <a:solidFill>
                <a:schemeClr val="tx1"/>
              </a:solidFill>
              <a:miter lim="800000"/>
              <a:headEnd/>
              <a:tailEnd/>
            </a:ln>
            <a:effectLst/>
          </p:spPr>
          <p:txBody>
            <a:bodyPr wrap="none" anchor="ctr"/>
            <a:lstStyle/>
            <a:p>
              <a:endParaRPr lang="zh-CN" altLang="en-US">
                <a:latin typeface="+mn-lt"/>
              </a:endParaRPr>
            </a:p>
          </p:txBody>
        </p:sp>
        <p:sp>
          <p:nvSpPr>
            <p:cNvPr id="43" name="Line 68"/>
            <p:cNvSpPr>
              <a:spLocks noChangeShapeType="1"/>
            </p:cNvSpPr>
            <p:nvPr/>
          </p:nvSpPr>
          <p:spPr bwMode="auto">
            <a:xfrm>
              <a:off x="4053" y="3312"/>
              <a:ext cx="0" cy="184"/>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44" name="Line 69"/>
            <p:cNvSpPr>
              <a:spLocks noChangeShapeType="1"/>
            </p:cNvSpPr>
            <p:nvPr/>
          </p:nvSpPr>
          <p:spPr bwMode="auto">
            <a:xfrm>
              <a:off x="4207" y="3312"/>
              <a:ext cx="0" cy="184"/>
            </a:xfrm>
            <a:prstGeom prst="line">
              <a:avLst/>
            </a:prstGeom>
            <a:noFill/>
            <a:ln w="12700">
              <a:solidFill>
                <a:schemeClr val="tx1"/>
              </a:solidFill>
              <a:round/>
              <a:headEnd/>
              <a:tailEnd/>
            </a:ln>
            <a:effectLst/>
          </p:spPr>
          <p:txBody>
            <a:bodyPr wrap="none" anchor="ctr"/>
            <a:lstStyle/>
            <a:p>
              <a:endParaRPr lang="zh-CN" altLang="en-US">
                <a:latin typeface="+mn-lt"/>
              </a:endParaRPr>
            </a:p>
          </p:txBody>
        </p:sp>
      </p:grpSp>
      <p:grpSp>
        <p:nvGrpSpPr>
          <p:cNvPr id="45" name="Group 86"/>
          <p:cNvGrpSpPr>
            <a:grpSpLocks/>
          </p:cNvGrpSpPr>
          <p:nvPr/>
        </p:nvGrpSpPr>
        <p:grpSpPr bwMode="auto">
          <a:xfrm>
            <a:off x="7734672" y="5123726"/>
            <a:ext cx="3473896" cy="1617642"/>
            <a:chOff x="1584" y="816"/>
            <a:chExt cx="2409" cy="1206"/>
          </a:xfrm>
        </p:grpSpPr>
        <p:sp>
          <p:nvSpPr>
            <p:cNvPr id="46" name="Line 87"/>
            <p:cNvSpPr>
              <a:spLocks noChangeShapeType="1"/>
            </p:cNvSpPr>
            <p:nvPr/>
          </p:nvSpPr>
          <p:spPr bwMode="auto">
            <a:xfrm>
              <a:off x="1624" y="1611"/>
              <a:ext cx="2311" cy="1"/>
            </a:xfrm>
            <a:prstGeom prst="line">
              <a:avLst/>
            </a:prstGeom>
            <a:noFill/>
            <a:ln w="76200">
              <a:solidFill>
                <a:srgbClr val="114FFB"/>
              </a:solidFill>
              <a:round/>
              <a:headEnd type="triangle" w="med" len="med"/>
              <a:tailEnd type="triangle" w="med" len="med"/>
            </a:ln>
          </p:spPr>
          <p:txBody>
            <a:bodyPr/>
            <a:lstStyle/>
            <a:p>
              <a:endParaRPr lang="zh-CN" altLang="en-US">
                <a:latin typeface="+mn-lt"/>
              </a:endParaRPr>
            </a:p>
          </p:txBody>
        </p:sp>
        <p:sp>
          <p:nvSpPr>
            <p:cNvPr id="47" name="Line 88"/>
            <p:cNvSpPr>
              <a:spLocks noChangeShapeType="1"/>
            </p:cNvSpPr>
            <p:nvPr/>
          </p:nvSpPr>
          <p:spPr bwMode="auto">
            <a:xfrm>
              <a:off x="2109" y="1611"/>
              <a:ext cx="1" cy="159"/>
            </a:xfrm>
            <a:prstGeom prst="line">
              <a:avLst/>
            </a:prstGeom>
            <a:noFill/>
            <a:ln w="25400">
              <a:solidFill>
                <a:srgbClr val="000000"/>
              </a:solidFill>
              <a:round/>
              <a:headEnd/>
              <a:tailEnd/>
            </a:ln>
          </p:spPr>
          <p:txBody>
            <a:bodyPr/>
            <a:lstStyle/>
            <a:p>
              <a:endParaRPr lang="zh-CN" altLang="en-US">
                <a:latin typeface="+mn-lt"/>
              </a:endParaRPr>
            </a:p>
          </p:txBody>
        </p:sp>
        <p:sp>
          <p:nvSpPr>
            <p:cNvPr id="48" name="Freeform 89"/>
            <p:cNvSpPr>
              <a:spLocks/>
            </p:cNvSpPr>
            <p:nvPr/>
          </p:nvSpPr>
          <p:spPr bwMode="auto">
            <a:xfrm>
              <a:off x="1706" y="1770"/>
              <a:ext cx="798" cy="238"/>
            </a:xfrm>
            <a:custGeom>
              <a:avLst/>
              <a:gdLst/>
              <a:ahLst/>
              <a:cxnLst>
                <a:cxn ang="0">
                  <a:pos x="0" y="0"/>
                </a:cxn>
                <a:cxn ang="0">
                  <a:pos x="798" y="0"/>
                </a:cxn>
                <a:cxn ang="0">
                  <a:pos x="798" y="238"/>
                </a:cxn>
                <a:cxn ang="0">
                  <a:pos x="3" y="238"/>
                </a:cxn>
                <a:cxn ang="0">
                  <a:pos x="3" y="0"/>
                </a:cxn>
                <a:cxn ang="0">
                  <a:pos x="0" y="0"/>
                </a:cxn>
              </a:cxnLst>
              <a:rect l="0" t="0" r="r" b="b"/>
              <a:pathLst>
                <a:path w="798" h="238">
                  <a:moveTo>
                    <a:pt x="0" y="0"/>
                  </a:moveTo>
                  <a:lnTo>
                    <a:pt x="798" y="0"/>
                  </a:lnTo>
                  <a:lnTo>
                    <a:pt x="798" y="238"/>
                  </a:lnTo>
                  <a:lnTo>
                    <a:pt x="3" y="238"/>
                  </a:lnTo>
                  <a:lnTo>
                    <a:pt x="3" y="0"/>
                  </a:lnTo>
                  <a:lnTo>
                    <a:pt x="0" y="0"/>
                  </a:lnTo>
                  <a:close/>
                </a:path>
              </a:pathLst>
            </a:custGeom>
            <a:solidFill>
              <a:srgbClr val="FFFFFF"/>
            </a:solidFill>
            <a:ln w="9525">
              <a:noFill/>
              <a:round/>
              <a:headEnd/>
              <a:tailEnd/>
            </a:ln>
          </p:spPr>
          <p:txBody>
            <a:bodyPr/>
            <a:lstStyle/>
            <a:p>
              <a:endParaRPr lang="zh-CN" altLang="en-US">
                <a:latin typeface="+mn-lt"/>
              </a:endParaRPr>
            </a:p>
          </p:txBody>
        </p:sp>
        <p:sp>
          <p:nvSpPr>
            <p:cNvPr id="49" name="Freeform 90"/>
            <p:cNvSpPr>
              <a:spLocks/>
            </p:cNvSpPr>
            <p:nvPr/>
          </p:nvSpPr>
          <p:spPr bwMode="auto">
            <a:xfrm>
              <a:off x="1706" y="1770"/>
              <a:ext cx="798" cy="238"/>
            </a:xfrm>
            <a:custGeom>
              <a:avLst/>
              <a:gdLst/>
              <a:ahLst/>
              <a:cxnLst>
                <a:cxn ang="0">
                  <a:pos x="0" y="0"/>
                </a:cxn>
                <a:cxn ang="0">
                  <a:pos x="798" y="0"/>
                </a:cxn>
                <a:cxn ang="0">
                  <a:pos x="798" y="238"/>
                </a:cxn>
                <a:cxn ang="0">
                  <a:pos x="3" y="238"/>
                </a:cxn>
                <a:cxn ang="0">
                  <a:pos x="3" y="0"/>
                </a:cxn>
              </a:cxnLst>
              <a:rect l="0" t="0" r="r" b="b"/>
              <a:pathLst>
                <a:path w="798" h="238">
                  <a:moveTo>
                    <a:pt x="0" y="0"/>
                  </a:moveTo>
                  <a:lnTo>
                    <a:pt x="798" y="0"/>
                  </a:lnTo>
                  <a:lnTo>
                    <a:pt x="798" y="238"/>
                  </a:lnTo>
                  <a:lnTo>
                    <a:pt x="3" y="238"/>
                  </a:lnTo>
                  <a:lnTo>
                    <a:pt x="3" y="0"/>
                  </a:lnTo>
                </a:path>
              </a:pathLst>
            </a:custGeom>
            <a:noFill/>
            <a:ln w="7938">
              <a:solidFill>
                <a:srgbClr val="000000"/>
              </a:solidFill>
              <a:prstDash val="solid"/>
              <a:round/>
              <a:headEnd/>
              <a:tailEnd/>
            </a:ln>
          </p:spPr>
          <p:txBody>
            <a:bodyPr/>
            <a:lstStyle/>
            <a:p>
              <a:endParaRPr lang="zh-CN" altLang="en-US">
                <a:latin typeface="+mn-lt"/>
              </a:endParaRPr>
            </a:p>
          </p:txBody>
        </p:sp>
        <p:sp>
          <p:nvSpPr>
            <p:cNvPr id="50" name="Rectangle 91"/>
            <p:cNvSpPr>
              <a:spLocks noChangeArrowheads="1"/>
            </p:cNvSpPr>
            <p:nvPr/>
          </p:nvSpPr>
          <p:spPr bwMode="auto">
            <a:xfrm>
              <a:off x="3302" y="1816"/>
              <a:ext cx="691" cy="201"/>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I/O devices</a:t>
              </a:r>
              <a:endParaRPr lang="en-US" altLang="zh-CN">
                <a:latin typeface="+mn-lt"/>
              </a:endParaRPr>
            </a:p>
          </p:txBody>
        </p:sp>
        <p:sp>
          <p:nvSpPr>
            <p:cNvPr id="51" name="Rectangle 92"/>
            <p:cNvSpPr>
              <a:spLocks noChangeArrowheads="1"/>
            </p:cNvSpPr>
            <p:nvPr/>
          </p:nvSpPr>
          <p:spPr bwMode="auto">
            <a:xfrm>
              <a:off x="2006" y="1823"/>
              <a:ext cx="336" cy="199"/>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Mem</a:t>
              </a:r>
              <a:endParaRPr lang="en-US" altLang="zh-CN">
                <a:latin typeface="+mn-lt"/>
              </a:endParaRPr>
            </a:p>
          </p:txBody>
        </p:sp>
        <p:sp>
          <p:nvSpPr>
            <p:cNvPr id="52" name="Line 93"/>
            <p:cNvSpPr>
              <a:spLocks noChangeShapeType="1"/>
            </p:cNvSpPr>
            <p:nvPr/>
          </p:nvSpPr>
          <p:spPr bwMode="auto">
            <a:xfrm>
              <a:off x="1823" y="1465"/>
              <a:ext cx="3" cy="140"/>
            </a:xfrm>
            <a:prstGeom prst="line">
              <a:avLst/>
            </a:prstGeom>
            <a:noFill/>
            <a:ln w="25400">
              <a:solidFill>
                <a:srgbClr val="000000"/>
              </a:solidFill>
              <a:round/>
              <a:headEnd/>
              <a:tailEnd/>
            </a:ln>
          </p:spPr>
          <p:txBody>
            <a:bodyPr/>
            <a:lstStyle/>
            <a:p>
              <a:endParaRPr lang="zh-CN" altLang="en-US">
                <a:latin typeface="+mn-lt"/>
              </a:endParaRPr>
            </a:p>
          </p:txBody>
        </p:sp>
        <p:sp>
          <p:nvSpPr>
            <p:cNvPr id="53" name="Line 94"/>
            <p:cNvSpPr>
              <a:spLocks noChangeShapeType="1"/>
            </p:cNvSpPr>
            <p:nvPr/>
          </p:nvSpPr>
          <p:spPr bwMode="auto">
            <a:xfrm>
              <a:off x="1826" y="1147"/>
              <a:ext cx="1" cy="79"/>
            </a:xfrm>
            <a:prstGeom prst="line">
              <a:avLst/>
            </a:prstGeom>
            <a:noFill/>
            <a:ln w="25400">
              <a:solidFill>
                <a:srgbClr val="000000"/>
              </a:solidFill>
              <a:round/>
              <a:headEnd/>
              <a:tailEnd/>
            </a:ln>
          </p:spPr>
          <p:txBody>
            <a:bodyPr/>
            <a:lstStyle/>
            <a:p>
              <a:endParaRPr lang="zh-CN" altLang="en-US">
                <a:latin typeface="+mn-lt"/>
              </a:endParaRPr>
            </a:p>
          </p:txBody>
        </p:sp>
        <p:sp>
          <p:nvSpPr>
            <p:cNvPr id="54" name="Freeform 95"/>
            <p:cNvSpPr>
              <a:spLocks/>
            </p:cNvSpPr>
            <p:nvPr/>
          </p:nvSpPr>
          <p:spPr bwMode="auto">
            <a:xfrm>
              <a:off x="1666" y="829"/>
              <a:ext cx="319" cy="318"/>
            </a:xfrm>
            <a:custGeom>
              <a:avLst/>
              <a:gdLst/>
              <a:ahLst/>
              <a:cxnLst>
                <a:cxn ang="0">
                  <a:pos x="316" y="159"/>
                </a:cxn>
                <a:cxn ang="0">
                  <a:pos x="316" y="185"/>
                </a:cxn>
                <a:cxn ang="0">
                  <a:pos x="311" y="209"/>
                </a:cxn>
                <a:cxn ang="0">
                  <a:pos x="300" y="230"/>
                </a:cxn>
                <a:cxn ang="0">
                  <a:pos x="287" y="252"/>
                </a:cxn>
                <a:cxn ang="0">
                  <a:pos x="271" y="270"/>
                </a:cxn>
                <a:cxn ang="0">
                  <a:pos x="252" y="286"/>
                </a:cxn>
                <a:cxn ang="0">
                  <a:pos x="231" y="299"/>
                </a:cxn>
                <a:cxn ang="0">
                  <a:pos x="210" y="310"/>
                </a:cxn>
                <a:cxn ang="0">
                  <a:pos x="183" y="315"/>
                </a:cxn>
                <a:cxn ang="0">
                  <a:pos x="160" y="318"/>
                </a:cxn>
                <a:cxn ang="0">
                  <a:pos x="133" y="315"/>
                </a:cxn>
                <a:cxn ang="0">
                  <a:pos x="109" y="310"/>
                </a:cxn>
                <a:cxn ang="0">
                  <a:pos x="85" y="299"/>
                </a:cxn>
                <a:cxn ang="0">
                  <a:pos x="64" y="286"/>
                </a:cxn>
                <a:cxn ang="0">
                  <a:pos x="46" y="270"/>
                </a:cxn>
                <a:cxn ang="0">
                  <a:pos x="30" y="252"/>
                </a:cxn>
                <a:cxn ang="0">
                  <a:pos x="16" y="230"/>
                </a:cxn>
                <a:cxn ang="0">
                  <a:pos x="8" y="209"/>
                </a:cxn>
                <a:cxn ang="0">
                  <a:pos x="0" y="185"/>
                </a:cxn>
                <a:cxn ang="0">
                  <a:pos x="0" y="159"/>
                </a:cxn>
                <a:cxn ang="0">
                  <a:pos x="0" y="132"/>
                </a:cxn>
                <a:cxn ang="0">
                  <a:pos x="8" y="108"/>
                </a:cxn>
                <a:cxn ang="0">
                  <a:pos x="16" y="85"/>
                </a:cxn>
                <a:cxn ang="0">
                  <a:pos x="30" y="63"/>
                </a:cxn>
                <a:cxn ang="0">
                  <a:pos x="46" y="45"/>
                </a:cxn>
                <a:cxn ang="0">
                  <a:pos x="64" y="29"/>
                </a:cxn>
                <a:cxn ang="0">
                  <a:pos x="85" y="18"/>
                </a:cxn>
                <a:cxn ang="0">
                  <a:pos x="109" y="8"/>
                </a:cxn>
                <a:cxn ang="0">
                  <a:pos x="133" y="2"/>
                </a:cxn>
                <a:cxn ang="0">
                  <a:pos x="160" y="0"/>
                </a:cxn>
                <a:cxn ang="0">
                  <a:pos x="183" y="2"/>
                </a:cxn>
                <a:cxn ang="0">
                  <a:pos x="210" y="8"/>
                </a:cxn>
                <a:cxn ang="0">
                  <a:pos x="231" y="18"/>
                </a:cxn>
                <a:cxn ang="0">
                  <a:pos x="252" y="29"/>
                </a:cxn>
                <a:cxn ang="0">
                  <a:pos x="271" y="45"/>
                </a:cxn>
                <a:cxn ang="0">
                  <a:pos x="287" y="63"/>
                </a:cxn>
                <a:cxn ang="0">
                  <a:pos x="300" y="85"/>
                </a:cxn>
                <a:cxn ang="0">
                  <a:pos x="311" y="108"/>
                </a:cxn>
                <a:cxn ang="0">
                  <a:pos x="316" y="132"/>
                </a:cxn>
                <a:cxn ang="0">
                  <a:pos x="319" y="159"/>
                </a:cxn>
                <a:cxn ang="0">
                  <a:pos x="316" y="159"/>
                </a:cxn>
              </a:cxnLst>
              <a:rect l="0" t="0" r="r" b="b"/>
              <a:pathLst>
                <a:path w="319" h="318">
                  <a:moveTo>
                    <a:pt x="316" y="159"/>
                  </a:moveTo>
                  <a:lnTo>
                    <a:pt x="316" y="185"/>
                  </a:lnTo>
                  <a:lnTo>
                    <a:pt x="311" y="209"/>
                  </a:lnTo>
                  <a:lnTo>
                    <a:pt x="300" y="230"/>
                  </a:lnTo>
                  <a:lnTo>
                    <a:pt x="287" y="252"/>
                  </a:lnTo>
                  <a:lnTo>
                    <a:pt x="271" y="270"/>
                  </a:lnTo>
                  <a:lnTo>
                    <a:pt x="252" y="286"/>
                  </a:lnTo>
                  <a:lnTo>
                    <a:pt x="231" y="299"/>
                  </a:lnTo>
                  <a:lnTo>
                    <a:pt x="210" y="310"/>
                  </a:lnTo>
                  <a:lnTo>
                    <a:pt x="183" y="315"/>
                  </a:lnTo>
                  <a:lnTo>
                    <a:pt x="160" y="318"/>
                  </a:lnTo>
                  <a:lnTo>
                    <a:pt x="133" y="315"/>
                  </a:lnTo>
                  <a:lnTo>
                    <a:pt x="109" y="310"/>
                  </a:lnTo>
                  <a:lnTo>
                    <a:pt x="85" y="299"/>
                  </a:lnTo>
                  <a:lnTo>
                    <a:pt x="64" y="286"/>
                  </a:lnTo>
                  <a:lnTo>
                    <a:pt x="46" y="270"/>
                  </a:lnTo>
                  <a:lnTo>
                    <a:pt x="30" y="252"/>
                  </a:lnTo>
                  <a:lnTo>
                    <a:pt x="16" y="230"/>
                  </a:lnTo>
                  <a:lnTo>
                    <a:pt x="8" y="209"/>
                  </a:lnTo>
                  <a:lnTo>
                    <a:pt x="0" y="185"/>
                  </a:lnTo>
                  <a:lnTo>
                    <a:pt x="0" y="159"/>
                  </a:lnTo>
                  <a:lnTo>
                    <a:pt x="0" y="132"/>
                  </a:lnTo>
                  <a:lnTo>
                    <a:pt x="8" y="108"/>
                  </a:lnTo>
                  <a:lnTo>
                    <a:pt x="16" y="85"/>
                  </a:lnTo>
                  <a:lnTo>
                    <a:pt x="30" y="63"/>
                  </a:lnTo>
                  <a:lnTo>
                    <a:pt x="46" y="45"/>
                  </a:lnTo>
                  <a:lnTo>
                    <a:pt x="64" y="29"/>
                  </a:lnTo>
                  <a:lnTo>
                    <a:pt x="85" y="18"/>
                  </a:lnTo>
                  <a:lnTo>
                    <a:pt x="109" y="8"/>
                  </a:lnTo>
                  <a:lnTo>
                    <a:pt x="133" y="2"/>
                  </a:lnTo>
                  <a:lnTo>
                    <a:pt x="160" y="0"/>
                  </a:lnTo>
                  <a:lnTo>
                    <a:pt x="183" y="2"/>
                  </a:lnTo>
                  <a:lnTo>
                    <a:pt x="210" y="8"/>
                  </a:lnTo>
                  <a:lnTo>
                    <a:pt x="231" y="18"/>
                  </a:lnTo>
                  <a:lnTo>
                    <a:pt x="252" y="29"/>
                  </a:lnTo>
                  <a:lnTo>
                    <a:pt x="271" y="45"/>
                  </a:lnTo>
                  <a:lnTo>
                    <a:pt x="287" y="63"/>
                  </a:lnTo>
                  <a:lnTo>
                    <a:pt x="300" y="85"/>
                  </a:lnTo>
                  <a:lnTo>
                    <a:pt x="311" y="108"/>
                  </a:lnTo>
                  <a:lnTo>
                    <a:pt x="316" y="132"/>
                  </a:lnTo>
                  <a:lnTo>
                    <a:pt x="319" y="159"/>
                  </a:lnTo>
                  <a:lnTo>
                    <a:pt x="316" y="159"/>
                  </a:lnTo>
                  <a:close/>
                </a:path>
              </a:pathLst>
            </a:custGeom>
            <a:solidFill>
              <a:srgbClr val="FFFFFF"/>
            </a:solidFill>
            <a:ln w="9525">
              <a:noFill/>
              <a:round/>
              <a:headEnd/>
              <a:tailEnd/>
            </a:ln>
          </p:spPr>
          <p:txBody>
            <a:bodyPr/>
            <a:lstStyle/>
            <a:p>
              <a:endParaRPr lang="zh-CN" altLang="en-US">
                <a:latin typeface="+mn-lt"/>
              </a:endParaRPr>
            </a:p>
          </p:txBody>
        </p:sp>
        <p:sp>
          <p:nvSpPr>
            <p:cNvPr id="55" name="Freeform 96"/>
            <p:cNvSpPr>
              <a:spLocks/>
            </p:cNvSpPr>
            <p:nvPr/>
          </p:nvSpPr>
          <p:spPr bwMode="auto">
            <a:xfrm>
              <a:off x="1666" y="829"/>
              <a:ext cx="319" cy="318"/>
            </a:xfrm>
            <a:custGeom>
              <a:avLst/>
              <a:gdLst/>
              <a:ahLst/>
              <a:cxnLst>
                <a:cxn ang="0">
                  <a:pos x="316" y="159"/>
                </a:cxn>
                <a:cxn ang="0">
                  <a:pos x="316" y="132"/>
                </a:cxn>
                <a:cxn ang="0">
                  <a:pos x="311" y="108"/>
                </a:cxn>
                <a:cxn ang="0">
                  <a:pos x="300" y="85"/>
                </a:cxn>
                <a:cxn ang="0">
                  <a:pos x="287" y="63"/>
                </a:cxn>
                <a:cxn ang="0">
                  <a:pos x="271" y="45"/>
                </a:cxn>
                <a:cxn ang="0">
                  <a:pos x="252" y="29"/>
                </a:cxn>
                <a:cxn ang="0">
                  <a:pos x="231" y="18"/>
                </a:cxn>
                <a:cxn ang="0">
                  <a:pos x="210" y="8"/>
                </a:cxn>
                <a:cxn ang="0">
                  <a:pos x="183" y="2"/>
                </a:cxn>
                <a:cxn ang="0">
                  <a:pos x="160" y="0"/>
                </a:cxn>
                <a:cxn ang="0">
                  <a:pos x="133" y="2"/>
                </a:cxn>
                <a:cxn ang="0">
                  <a:pos x="109" y="8"/>
                </a:cxn>
                <a:cxn ang="0">
                  <a:pos x="85" y="18"/>
                </a:cxn>
                <a:cxn ang="0">
                  <a:pos x="64" y="29"/>
                </a:cxn>
                <a:cxn ang="0">
                  <a:pos x="46" y="45"/>
                </a:cxn>
                <a:cxn ang="0">
                  <a:pos x="30" y="63"/>
                </a:cxn>
                <a:cxn ang="0">
                  <a:pos x="16" y="85"/>
                </a:cxn>
                <a:cxn ang="0">
                  <a:pos x="8" y="108"/>
                </a:cxn>
                <a:cxn ang="0">
                  <a:pos x="0" y="132"/>
                </a:cxn>
                <a:cxn ang="0">
                  <a:pos x="0" y="159"/>
                </a:cxn>
                <a:cxn ang="0">
                  <a:pos x="0" y="185"/>
                </a:cxn>
                <a:cxn ang="0">
                  <a:pos x="8" y="209"/>
                </a:cxn>
                <a:cxn ang="0">
                  <a:pos x="16" y="230"/>
                </a:cxn>
                <a:cxn ang="0">
                  <a:pos x="30" y="252"/>
                </a:cxn>
                <a:cxn ang="0">
                  <a:pos x="46" y="270"/>
                </a:cxn>
                <a:cxn ang="0">
                  <a:pos x="64" y="286"/>
                </a:cxn>
                <a:cxn ang="0">
                  <a:pos x="85" y="299"/>
                </a:cxn>
                <a:cxn ang="0">
                  <a:pos x="109" y="310"/>
                </a:cxn>
                <a:cxn ang="0">
                  <a:pos x="133" y="315"/>
                </a:cxn>
                <a:cxn ang="0">
                  <a:pos x="160" y="318"/>
                </a:cxn>
                <a:cxn ang="0">
                  <a:pos x="183" y="315"/>
                </a:cxn>
                <a:cxn ang="0">
                  <a:pos x="210" y="310"/>
                </a:cxn>
                <a:cxn ang="0">
                  <a:pos x="231" y="299"/>
                </a:cxn>
                <a:cxn ang="0">
                  <a:pos x="252" y="286"/>
                </a:cxn>
                <a:cxn ang="0">
                  <a:pos x="271" y="270"/>
                </a:cxn>
                <a:cxn ang="0">
                  <a:pos x="287" y="252"/>
                </a:cxn>
                <a:cxn ang="0">
                  <a:pos x="300" y="230"/>
                </a:cxn>
                <a:cxn ang="0">
                  <a:pos x="311" y="209"/>
                </a:cxn>
                <a:cxn ang="0">
                  <a:pos x="316" y="185"/>
                </a:cxn>
                <a:cxn ang="0">
                  <a:pos x="319" y="159"/>
                </a:cxn>
                <a:cxn ang="0">
                  <a:pos x="319" y="159"/>
                </a:cxn>
              </a:cxnLst>
              <a:rect l="0" t="0" r="r" b="b"/>
              <a:pathLst>
                <a:path w="319" h="318">
                  <a:moveTo>
                    <a:pt x="316" y="159"/>
                  </a:moveTo>
                  <a:lnTo>
                    <a:pt x="316" y="132"/>
                  </a:lnTo>
                  <a:lnTo>
                    <a:pt x="311" y="108"/>
                  </a:lnTo>
                  <a:lnTo>
                    <a:pt x="300" y="85"/>
                  </a:lnTo>
                  <a:lnTo>
                    <a:pt x="287" y="63"/>
                  </a:lnTo>
                  <a:lnTo>
                    <a:pt x="271" y="45"/>
                  </a:lnTo>
                  <a:lnTo>
                    <a:pt x="252" y="29"/>
                  </a:lnTo>
                  <a:lnTo>
                    <a:pt x="231" y="18"/>
                  </a:lnTo>
                  <a:lnTo>
                    <a:pt x="210" y="8"/>
                  </a:lnTo>
                  <a:lnTo>
                    <a:pt x="183" y="2"/>
                  </a:lnTo>
                  <a:lnTo>
                    <a:pt x="160" y="0"/>
                  </a:lnTo>
                  <a:lnTo>
                    <a:pt x="133" y="2"/>
                  </a:lnTo>
                  <a:lnTo>
                    <a:pt x="109" y="8"/>
                  </a:lnTo>
                  <a:lnTo>
                    <a:pt x="85" y="18"/>
                  </a:lnTo>
                  <a:lnTo>
                    <a:pt x="64" y="29"/>
                  </a:lnTo>
                  <a:lnTo>
                    <a:pt x="46" y="45"/>
                  </a:lnTo>
                  <a:lnTo>
                    <a:pt x="30" y="63"/>
                  </a:lnTo>
                  <a:lnTo>
                    <a:pt x="16" y="85"/>
                  </a:lnTo>
                  <a:lnTo>
                    <a:pt x="8" y="108"/>
                  </a:lnTo>
                  <a:lnTo>
                    <a:pt x="0" y="132"/>
                  </a:lnTo>
                  <a:lnTo>
                    <a:pt x="0" y="159"/>
                  </a:lnTo>
                  <a:lnTo>
                    <a:pt x="0" y="185"/>
                  </a:lnTo>
                  <a:lnTo>
                    <a:pt x="8" y="209"/>
                  </a:lnTo>
                  <a:lnTo>
                    <a:pt x="16" y="230"/>
                  </a:lnTo>
                  <a:lnTo>
                    <a:pt x="30" y="252"/>
                  </a:lnTo>
                  <a:lnTo>
                    <a:pt x="46" y="270"/>
                  </a:lnTo>
                  <a:lnTo>
                    <a:pt x="64" y="286"/>
                  </a:lnTo>
                  <a:lnTo>
                    <a:pt x="85" y="299"/>
                  </a:lnTo>
                  <a:lnTo>
                    <a:pt x="109" y="310"/>
                  </a:lnTo>
                  <a:lnTo>
                    <a:pt x="133" y="315"/>
                  </a:lnTo>
                  <a:lnTo>
                    <a:pt x="160" y="318"/>
                  </a:lnTo>
                  <a:lnTo>
                    <a:pt x="183" y="315"/>
                  </a:lnTo>
                  <a:lnTo>
                    <a:pt x="210" y="310"/>
                  </a:lnTo>
                  <a:lnTo>
                    <a:pt x="231" y="299"/>
                  </a:lnTo>
                  <a:lnTo>
                    <a:pt x="252" y="286"/>
                  </a:lnTo>
                  <a:lnTo>
                    <a:pt x="271" y="270"/>
                  </a:lnTo>
                  <a:lnTo>
                    <a:pt x="287" y="252"/>
                  </a:lnTo>
                  <a:lnTo>
                    <a:pt x="300" y="230"/>
                  </a:lnTo>
                  <a:lnTo>
                    <a:pt x="311" y="209"/>
                  </a:lnTo>
                  <a:lnTo>
                    <a:pt x="316" y="185"/>
                  </a:lnTo>
                  <a:lnTo>
                    <a:pt x="319" y="159"/>
                  </a:lnTo>
                  <a:lnTo>
                    <a:pt x="319"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56" name="Freeform 97"/>
            <p:cNvSpPr>
              <a:spLocks/>
            </p:cNvSpPr>
            <p:nvPr/>
          </p:nvSpPr>
          <p:spPr bwMode="auto">
            <a:xfrm>
              <a:off x="1584" y="1226"/>
              <a:ext cx="480" cy="239"/>
            </a:xfrm>
            <a:custGeom>
              <a:avLst/>
              <a:gdLst/>
              <a:ahLst/>
              <a:cxnLst>
                <a:cxn ang="0">
                  <a:pos x="0" y="0"/>
                </a:cxn>
                <a:cxn ang="0">
                  <a:pos x="480" y="0"/>
                </a:cxn>
                <a:cxn ang="0">
                  <a:pos x="480" y="239"/>
                </a:cxn>
                <a:cxn ang="0">
                  <a:pos x="3" y="239"/>
                </a:cxn>
                <a:cxn ang="0">
                  <a:pos x="3" y="0"/>
                </a:cxn>
                <a:cxn ang="0">
                  <a:pos x="0" y="0"/>
                </a:cxn>
              </a:cxnLst>
              <a:rect l="0" t="0" r="r" b="b"/>
              <a:pathLst>
                <a:path w="480" h="239">
                  <a:moveTo>
                    <a:pt x="0" y="0"/>
                  </a:moveTo>
                  <a:lnTo>
                    <a:pt x="480" y="0"/>
                  </a:lnTo>
                  <a:lnTo>
                    <a:pt x="480" y="239"/>
                  </a:lnTo>
                  <a:lnTo>
                    <a:pt x="3" y="239"/>
                  </a:lnTo>
                  <a:lnTo>
                    <a:pt x="3" y="0"/>
                  </a:lnTo>
                  <a:lnTo>
                    <a:pt x="0" y="0"/>
                  </a:lnTo>
                  <a:close/>
                </a:path>
              </a:pathLst>
            </a:custGeom>
            <a:solidFill>
              <a:srgbClr val="FFFFFF"/>
            </a:solidFill>
            <a:ln w="9525">
              <a:noFill/>
              <a:round/>
              <a:headEnd/>
              <a:tailEnd/>
            </a:ln>
          </p:spPr>
          <p:txBody>
            <a:bodyPr/>
            <a:lstStyle/>
            <a:p>
              <a:endParaRPr lang="zh-CN" altLang="en-US">
                <a:latin typeface="+mn-lt"/>
              </a:endParaRPr>
            </a:p>
          </p:txBody>
        </p:sp>
        <p:sp>
          <p:nvSpPr>
            <p:cNvPr id="57" name="Freeform 98"/>
            <p:cNvSpPr>
              <a:spLocks/>
            </p:cNvSpPr>
            <p:nvPr/>
          </p:nvSpPr>
          <p:spPr bwMode="auto">
            <a:xfrm>
              <a:off x="1584" y="1226"/>
              <a:ext cx="480" cy="239"/>
            </a:xfrm>
            <a:custGeom>
              <a:avLst/>
              <a:gdLst/>
              <a:ahLst/>
              <a:cxnLst>
                <a:cxn ang="0">
                  <a:pos x="0" y="0"/>
                </a:cxn>
                <a:cxn ang="0">
                  <a:pos x="480" y="0"/>
                </a:cxn>
                <a:cxn ang="0">
                  <a:pos x="480" y="239"/>
                </a:cxn>
                <a:cxn ang="0">
                  <a:pos x="3" y="239"/>
                </a:cxn>
                <a:cxn ang="0">
                  <a:pos x="3" y="0"/>
                </a:cxn>
              </a:cxnLst>
              <a:rect l="0" t="0" r="r" b="b"/>
              <a:pathLst>
                <a:path w="480" h="239">
                  <a:moveTo>
                    <a:pt x="0" y="0"/>
                  </a:moveTo>
                  <a:lnTo>
                    <a:pt x="480" y="0"/>
                  </a:lnTo>
                  <a:lnTo>
                    <a:pt x="480" y="239"/>
                  </a:lnTo>
                  <a:lnTo>
                    <a:pt x="3" y="239"/>
                  </a:lnTo>
                  <a:lnTo>
                    <a:pt x="3" y="0"/>
                  </a:lnTo>
                </a:path>
              </a:pathLst>
            </a:custGeom>
            <a:noFill/>
            <a:ln w="7938">
              <a:solidFill>
                <a:srgbClr val="000000"/>
              </a:solidFill>
              <a:prstDash val="solid"/>
              <a:round/>
              <a:headEnd/>
              <a:tailEnd/>
            </a:ln>
          </p:spPr>
          <p:txBody>
            <a:bodyPr/>
            <a:lstStyle/>
            <a:p>
              <a:endParaRPr lang="zh-CN" altLang="en-US">
                <a:latin typeface="+mn-lt"/>
              </a:endParaRPr>
            </a:p>
          </p:txBody>
        </p:sp>
        <p:sp>
          <p:nvSpPr>
            <p:cNvPr id="58" name="Rectangle 99"/>
            <p:cNvSpPr>
              <a:spLocks noChangeArrowheads="1"/>
            </p:cNvSpPr>
            <p:nvPr/>
          </p:nvSpPr>
          <p:spPr bwMode="auto">
            <a:xfrm>
              <a:off x="1780" y="935"/>
              <a:ext cx="79" cy="201"/>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P</a:t>
              </a:r>
              <a:endParaRPr lang="en-US" altLang="zh-CN">
                <a:latin typeface="+mn-lt"/>
              </a:endParaRPr>
            </a:p>
          </p:txBody>
        </p:sp>
        <p:sp>
          <p:nvSpPr>
            <p:cNvPr id="59" name="Rectangle 100"/>
            <p:cNvSpPr>
              <a:spLocks noChangeArrowheads="1"/>
            </p:cNvSpPr>
            <p:nvPr/>
          </p:nvSpPr>
          <p:spPr bwMode="auto">
            <a:xfrm>
              <a:off x="1823" y="969"/>
              <a:ext cx="62" cy="161"/>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mn-lt"/>
                </a:rPr>
                <a:t>1</a:t>
              </a:r>
              <a:endParaRPr lang="zh-CN" altLang="en-US">
                <a:latin typeface="+mn-lt"/>
              </a:endParaRPr>
            </a:p>
          </p:txBody>
        </p:sp>
        <p:sp>
          <p:nvSpPr>
            <p:cNvPr id="60" name="Rectangle 101"/>
            <p:cNvSpPr>
              <a:spLocks noChangeArrowheads="1"/>
            </p:cNvSpPr>
            <p:nvPr/>
          </p:nvSpPr>
          <p:spPr bwMode="auto">
            <a:xfrm>
              <a:off x="1799" y="1291"/>
              <a:ext cx="77" cy="201"/>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mn-lt"/>
                </a:rPr>
                <a:t>$</a:t>
              </a:r>
              <a:endParaRPr lang="zh-CN" altLang="en-US">
                <a:latin typeface="+mn-lt"/>
              </a:endParaRPr>
            </a:p>
          </p:txBody>
        </p:sp>
        <p:sp>
          <p:nvSpPr>
            <p:cNvPr id="61" name="Line 102"/>
            <p:cNvSpPr>
              <a:spLocks noChangeShapeType="1"/>
            </p:cNvSpPr>
            <p:nvPr/>
          </p:nvSpPr>
          <p:spPr bwMode="auto">
            <a:xfrm>
              <a:off x="3456" y="1611"/>
              <a:ext cx="2" cy="159"/>
            </a:xfrm>
            <a:prstGeom prst="line">
              <a:avLst/>
            </a:prstGeom>
            <a:noFill/>
            <a:ln w="25400">
              <a:solidFill>
                <a:srgbClr val="000000"/>
              </a:solidFill>
              <a:round/>
              <a:headEnd/>
              <a:tailEnd/>
            </a:ln>
          </p:spPr>
          <p:txBody>
            <a:bodyPr/>
            <a:lstStyle/>
            <a:p>
              <a:endParaRPr lang="zh-CN" altLang="en-US">
                <a:latin typeface="+mn-lt"/>
              </a:endParaRPr>
            </a:p>
          </p:txBody>
        </p:sp>
        <p:sp>
          <p:nvSpPr>
            <p:cNvPr id="62" name="Line 103"/>
            <p:cNvSpPr>
              <a:spLocks noChangeShapeType="1"/>
            </p:cNvSpPr>
            <p:nvPr/>
          </p:nvSpPr>
          <p:spPr bwMode="auto">
            <a:xfrm>
              <a:off x="3697" y="1452"/>
              <a:ext cx="1" cy="159"/>
            </a:xfrm>
            <a:prstGeom prst="line">
              <a:avLst/>
            </a:prstGeom>
            <a:noFill/>
            <a:ln w="25400">
              <a:solidFill>
                <a:srgbClr val="000000"/>
              </a:solidFill>
              <a:round/>
              <a:headEnd/>
              <a:tailEnd/>
            </a:ln>
          </p:spPr>
          <p:txBody>
            <a:bodyPr/>
            <a:lstStyle/>
            <a:p>
              <a:endParaRPr lang="zh-CN" altLang="en-US">
                <a:latin typeface="+mn-lt"/>
              </a:endParaRPr>
            </a:p>
          </p:txBody>
        </p:sp>
        <p:sp>
          <p:nvSpPr>
            <p:cNvPr id="63" name="Line 104"/>
            <p:cNvSpPr>
              <a:spLocks noChangeShapeType="1"/>
            </p:cNvSpPr>
            <p:nvPr/>
          </p:nvSpPr>
          <p:spPr bwMode="auto">
            <a:xfrm>
              <a:off x="3697" y="1134"/>
              <a:ext cx="1" cy="79"/>
            </a:xfrm>
            <a:prstGeom prst="line">
              <a:avLst/>
            </a:prstGeom>
            <a:noFill/>
            <a:ln w="25400">
              <a:solidFill>
                <a:srgbClr val="000000"/>
              </a:solidFill>
              <a:round/>
              <a:headEnd/>
              <a:tailEnd/>
            </a:ln>
          </p:spPr>
          <p:txBody>
            <a:bodyPr/>
            <a:lstStyle/>
            <a:p>
              <a:endParaRPr lang="zh-CN" altLang="en-US">
                <a:latin typeface="+mn-lt"/>
              </a:endParaRPr>
            </a:p>
          </p:txBody>
        </p:sp>
        <p:sp>
          <p:nvSpPr>
            <p:cNvPr id="64" name="Freeform 105"/>
            <p:cNvSpPr>
              <a:spLocks/>
            </p:cNvSpPr>
            <p:nvPr/>
          </p:nvSpPr>
          <p:spPr bwMode="auto">
            <a:xfrm>
              <a:off x="3538" y="816"/>
              <a:ext cx="318" cy="318"/>
            </a:xfrm>
            <a:custGeom>
              <a:avLst/>
              <a:gdLst/>
              <a:ahLst/>
              <a:cxnLst>
                <a:cxn ang="0">
                  <a:pos x="315" y="159"/>
                </a:cxn>
                <a:cxn ang="0">
                  <a:pos x="315" y="185"/>
                </a:cxn>
                <a:cxn ang="0">
                  <a:pos x="310" y="209"/>
                </a:cxn>
                <a:cxn ang="0">
                  <a:pos x="299" y="233"/>
                </a:cxn>
                <a:cxn ang="0">
                  <a:pos x="286" y="254"/>
                </a:cxn>
                <a:cxn ang="0">
                  <a:pos x="270" y="273"/>
                </a:cxn>
                <a:cxn ang="0">
                  <a:pos x="252" y="288"/>
                </a:cxn>
                <a:cxn ang="0">
                  <a:pos x="230" y="302"/>
                </a:cxn>
                <a:cxn ang="0">
                  <a:pos x="209" y="310"/>
                </a:cxn>
                <a:cxn ang="0">
                  <a:pos x="183" y="318"/>
                </a:cxn>
                <a:cxn ang="0">
                  <a:pos x="159" y="318"/>
                </a:cxn>
                <a:cxn ang="0">
                  <a:pos x="132" y="318"/>
                </a:cxn>
                <a:cxn ang="0">
                  <a:pos x="109" y="310"/>
                </a:cxn>
                <a:cxn ang="0">
                  <a:pos x="85" y="302"/>
                </a:cxn>
                <a:cxn ang="0">
                  <a:pos x="64" y="288"/>
                </a:cxn>
                <a:cxn ang="0">
                  <a:pos x="45" y="273"/>
                </a:cxn>
                <a:cxn ang="0">
                  <a:pos x="29" y="254"/>
                </a:cxn>
                <a:cxn ang="0">
                  <a:pos x="16" y="233"/>
                </a:cxn>
                <a:cxn ang="0">
                  <a:pos x="8" y="209"/>
                </a:cxn>
                <a:cxn ang="0">
                  <a:pos x="0" y="185"/>
                </a:cxn>
                <a:cxn ang="0">
                  <a:pos x="0" y="159"/>
                </a:cxn>
                <a:cxn ang="0">
                  <a:pos x="0" y="135"/>
                </a:cxn>
                <a:cxn ang="0">
                  <a:pos x="8" y="108"/>
                </a:cxn>
                <a:cxn ang="0">
                  <a:pos x="16" y="87"/>
                </a:cxn>
                <a:cxn ang="0">
                  <a:pos x="29" y="66"/>
                </a:cxn>
                <a:cxn ang="0">
                  <a:pos x="45" y="47"/>
                </a:cxn>
                <a:cxn ang="0">
                  <a:pos x="64" y="31"/>
                </a:cxn>
                <a:cxn ang="0">
                  <a:pos x="85" y="18"/>
                </a:cxn>
                <a:cxn ang="0">
                  <a:pos x="109" y="7"/>
                </a:cxn>
                <a:cxn ang="0">
                  <a:pos x="132" y="2"/>
                </a:cxn>
                <a:cxn ang="0">
                  <a:pos x="159" y="0"/>
                </a:cxn>
                <a:cxn ang="0">
                  <a:pos x="183" y="2"/>
                </a:cxn>
                <a:cxn ang="0">
                  <a:pos x="209" y="7"/>
                </a:cxn>
                <a:cxn ang="0">
                  <a:pos x="230" y="18"/>
                </a:cxn>
                <a:cxn ang="0">
                  <a:pos x="252" y="31"/>
                </a:cxn>
                <a:cxn ang="0">
                  <a:pos x="270" y="47"/>
                </a:cxn>
                <a:cxn ang="0">
                  <a:pos x="286" y="66"/>
                </a:cxn>
                <a:cxn ang="0">
                  <a:pos x="299" y="87"/>
                </a:cxn>
                <a:cxn ang="0">
                  <a:pos x="310" y="108"/>
                </a:cxn>
                <a:cxn ang="0">
                  <a:pos x="315" y="135"/>
                </a:cxn>
                <a:cxn ang="0">
                  <a:pos x="318" y="159"/>
                </a:cxn>
                <a:cxn ang="0">
                  <a:pos x="315" y="159"/>
                </a:cxn>
              </a:cxnLst>
              <a:rect l="0" t="0" r="r" b="b"/>
              <a:pathLst>
                <a:path w="318" h="318">
                  <a:moveTo>
                    <a:pt x="315" y="159"/>
                  </a:moveTo>
                  <a:lnTo>
                    <a:pt x="315" y="185"/>
                  </a:lnTo>
                  <a:lnTo>
                    <a:pt x="310" y="209"/>
                  </a:lnTo>
                  <a:lnTo>
                    <a:pt x="299" y="233"/>
                  </a:lnTo>
                  <a:lnTo>
                    <a:pt x="286" y="254"/>
                  </a:lnTo>
                  <a:lnTo>
                    <a:pt x="270" y="273"/>
                  </a:lnTo>
                  <a:lnTo>
                    <a:pt x="252" y="288"/>
                  </a:lnTo>
                  <a:lnTo>
                    <a:pt x="230" y="302"/>
                  </a:lnTo>
                  <a:lnTo>
                    <a:pt x="209" y="310"/>
                  </a:lnTo>
                  <a:lnTo>
                    <a:pt x="183" y="318"/>
                  </a:lnTo>
                  <a:lnTo>
                    <a:pt x="159" y="318"/>
                  </a:lnTo>
                  <a:lnTo>
                    <a:pt x="132" y="318"/>
                  </a:lnTo>
                  <a:lnTo>
                    <a:pt x="109" y="310"/>
                  </a:lnTo>
                  <a:lnTo>
                    <a:pt x="85" y="302"/>
                  </a:lnTo>
                  <a:lnTo>
                    <a:pt x="64" y="288"/>
                  </a:lnTo>
                  <a:lnTo>
                    <a:pt x="45" y="273"/>
                  </a:lnTo>
                  <a:lnTo>
                    <a:pt x="29" y="254"/>
                  </a:lnTo>
                  <a:lnTo>
                    <a:pt x="16" y="233"/>
                  </a:lnTo>
                  <a:lnTo>
                    <a:pt x="8" y="209"/>
                  </a:lnTo>
                  <a:lnTo>
                    <a:pt x="0" y="185"/>
                  </a:lnTo>
                  <a:lnTo>
                    <a:pt x="0" y="159"/>
                  </a:lnTo>
                  <a:lnTo>
                    <a:pt x="0" y="135"/>
                  </a:lnTo>
                  <a:lnTo>
                    <a:pt x="8" y="108"/>
                  </a:lnTo>
                  <a:lnTo>
                    <a:pt x="16" y="87"/>
                  </a:lnTo>
                  <a:lnTo>
                    <a:pt x="29" y="66"/>
                  </a:lnTo>
                  <a:lnTo>
                    <a:pt x="45" y="47"/>
                  </a:lnTo>
                  <a:lnTo>
                    <a:pt x="64" y="31"/>
                  </a:lnTo>
                  <a:lnTo>
                    <a:pt x="85" y="18"/>
                  </a:lnTo>
                  <a:lnTo>
                    <a:pt x="109" y="7"/>
                  </a:lnTo>
                  <a:lnTo>
                    <a:pt x="132" y="2"/>
                  </a:lnTo>
                  <a:lnTo>
                    <a:pt x="159" y="0"/>
                  </a:lnTo>
                  <a:lnTo>
                    <a:pt x="183" y="2"/>
                  </a:lnTo>
                  <a:lnTo>
                    <a:pt x="209" y="7"/>
                  </a:lnTo>
                  <a:lnTo>
                    <a:pt x="230" y="18"/>
                  </a:lnTo>
                  <a:lnTo>
                    <a:pt x="252" y="31"/>
                  </a:lnTo>
                  <a:lnTo>
                    <a:pt x="270" y="47"/>
                  </a:lnTo>
                  <a:lnTo>
                    <a:pt x="286" y="66"/>
                  </a:lnTo>
                  <a:lnTo>
                    <a:pt x="299" y="87"/>
                  </a:lnTo>
                  <a:lnTo>
                    <a:pt x="310" y="108"/>
                  </a:lnTo>
                  <a:lnTo>
                    <a:pt x="315" y="135"/>
                  </a:lnTo>
                  <a:lnTo>
                    <a:pt x="318" y="159"/>
                  </a:lnTo>
                  <a:lnTo>
                    <a:pt x="315" y="159"/>
                  </a:lnTo>
                  <a:close/>
                </a:path>
              </a:pathLst>
            </a:custGeom>
            <a:solidFill>
              <a:srgbClr val="FFFFFF"/>
            </a:solidFill>
            <a:ln w="9525">
              <a:noFill/>
              <a:round/>
              <a:headEnd/>
              <a:tailEnd/>
            </a:ln>
          </p:spPr>
          <p:txBody>
            <a:bodyPr/>
            <a:lstStyle/>
            <a:p>
              <a:endParaRPr lang="zh-CN" altLang="en-US">
                <a:latin typeface="+mn-lt"/>
              </a:endParaRPr>
            </a:p>
          </p:txBody>
        </p:sp>
        <p:sp>
          <p:nvSpPr>
            <p:cNvPr id="65" name="Freeform 106"/>
            <p:cNvSpPr>
              <a:spLocks/>
            </p:cNvSpPr>
            <p:nvPr/>
          </p:nvSpPr>
          <p:spPr bwMode="auto">
            <a:xfrm>
              <a:off x="3538" y="816"/>
              <a:ext cx="318" cy="318"/>
            </a:xfrm>
            <a:custGeom>
              <a:avLst/>
              <a:gdLst/>
              <a:ahLst/>
              <a:cxnLst>
                <a:cxn ang="0">
                  <a:pos x="315" y="159"/>
                </a:cxn>
                <a:cxn ang="0">
                  <a:pos x="315" y="135"/>
                </a:cxn>
                <a:cxn ang="0">
                  <a:pos x="310" y="108"/>
                </a:cxn>
                <a:cxn ang="0">
                  <a:pos x="299" y="87"/>
                </a:cxn>
                <a:cxn ang="0">
                  <a:pos x="286" y="66"/>
                </a:cxn>
                <a:cxn ang="0">
                  <a:pos x="270" y="47"/>
                </a:cxn>
                <a:cxn ang="0">
                  <a:pos x="252" y="31"/>
                </a:cxn>
                <a:cxn ang="0">
                  <a:pos x="230" y="18"/>
                </a:cxn>
                <a:cxn ang="0">
                  <a:pos x="209" y="7"/>
                </a:cxn>
                <a:cxn ang="0">
                  <a:pos x="183" y="2"/>
                </a:cxn>
                <a:cxn ang="0">
                  <a:pos x="159" y="0"/>
                </a:cxn>
                <a:cxn ang="0">
                  <a:pos x="132" y="2"/>
                </a:cxn>
                <a:cxn ang="0">
                  <a:pos x="109" y="7"/>
                </a:cxn>
                <a:cxn ang="0">
                  <a:pos x="85" y="18"/>
                </a:cxn>
                <a:cxn ang="0">
                  <a:pos x="64" y="31"/>
                </a:cxn>
                <a:cxn ang="0">
                  <a:pos x="45" y="47"/>
                </a:cxn>
                <a:cxn ang="0">
                  <a:pos x="29" y="66"/>
                </a:cxn>
                <a:cxn ang="0">
                  <a:pos x="16" y="87"/>
                </a:cxn>
                <a:cxn ang="0">
                  <a:pos x="8" y="108"/>
                </a:cxn>
                <a:cxn ang="0">
                  <a:pos x="0" y="135"/>
                </a:cxn>
                <a:cxn ang="0">
                  <a:pos x="0" y="159"/>
                </a:cxn>
                <a:cxn ang="0">
                  <a:pos x="0" y="185"/>
                </a:cxn>
                <a:cxn ang="0">
                  <a:pos x="8" y="209"/>
                </a:cxn>
                <a:cxn ang="0">
                  <a:pos x="16" y="233"/>
                </a:cxn>
                <a:cxn ang="0">
                  <a:pos x="29" y="254"/>
                </a:cxn>
                <a:cxn ang="0">
                  <a:pos x="45" y="273"/>
                </a:cxn>
                <a:cxn ang="0">
                  <a:pos x="64" y="288"/>
                </a:cxn>
                <a:cxn ang="0">
                  <a:pos x="85" y="302"/>
                </a:cxn>
                <a:cxn ang="0">
                  <a:pos x="109" y="310"/>
                </a:cxn>
                <a:cxn ang="0">
                  <a:pos x="132" y="318"/>
                </a:cxn>
                <a:cxn ang="0">
                  <a:pos x="159" y="318"/>
                </a:cxn>
                <a:cxn ang="0">
                  <a:pos x="183" y="318"/>
                </a:cxn>
                <a:cxn ang="0">
                  <a:pos x="209" y="310"/>
                </a:cxn>
                <a:cxn ang="0">
                  <a:pos x="230" y="302"/>
                </a:cxn>
                <a:cxn ang="0">
                  <a:pos x="252" y="288"/>
                </a:cxn>
                <a:cxn ang="0">
                  <a:pos x="270" y="273"/>
                </a:cxn>
                <a:cxn ang="0">
                  <a:pos x="286" y="254"/>
                </a:cxn>
                <a:cxn ang="0">
                  <a:pos x="299" y="233"/>
                </a:cxn>
                <a:cxn ang="0">
                  <a:pos x="310" y="209"/>
                </a:cxn>
                <a:cxn ang="0">
                  <a:pos x="315" y="185"/>
                </a:cxn>
                <a:cxn ang="0">
                  <a:pos x="318" y="159"/>
                </a:cxn>
                <a:cxn ang="0">
                  <a:pos x="318" y="159"/>
                </a:cxn>
              </a:cxnLst>
              <a:rect l="0" t="0" r="r" b="b"/>
              <a:pathLst>
                <a:path w="318" h="318">
                  <a:moveTo>
                    <a:pt x="315" y="159"/>
                  </a:moveTo>
                  <a:lnTo>
                    <a:pt x="315" y="135"/>
                  </a:lnTo>
                  <a:lnTo>
                    <a:pt x="310" y="108"/>
                  </a:lnTo>
                  <a:lnTo>
                    <a:pt x="299" y="87"/>
                  </a:lnTo>
                  <a:lnTo>
                    <a:pt x="286" y="66"/>
                  </a:lnTo>
                  <a:lnTo>
                    <a:pt x="270" y="47"/>
                  </a:lnTo>
                  <a:lnTo>
                    <a:pt x="252" y="31"/>
                  </a:lnTo>
                  <a:lnTo>
                    <a:pt x="230" y="18"/>
                  </a:lnTo>
                  <a:lnTo>
                    <a:pt x="209" y="7"/>
                  </a:lnTo>
                  <a:lnTo>
                    <a:pt x="183" y="2"/>
                  </a:lnTo>
                  <a:lnTo>
                    <a:pt x="159" y="0"/>
                  </a:lnTo>
                  <a:lnTo>
                    <a:pt x="132" y="2"/>
                  </a:lnTo>
                  <a:lnTo>
                    <a:pt x="109" y="7"/>
                  </a:lnTo>
                  <a:lnTo>
                    <a:pt x="85" y="18"/>
                  </a:lnTo>
                  <a:lnTo>
                    <a:pt x="64" y="31"/>
                  </a:lnTo>
                  <a:lnTo>
                    <a:pt x="45" y="47"/>
                  </a:lnTo>
                  <a:lnTo>
                    <a:pt x="29" y="66"/>
                  </a:lnTo>
                  <a:lnTo>
                    <a:pt x="16" y="87"/>
                  </a:lnTo>
                  <a:lnTo>
                    <a:pt x="8" y="108"/>
                  </a:lnTo>
                  <a:lnTo>
                    <a:pt x="0" y="135"/>
                  </a:lnTo>
                  <a:lnTo>
                    <a:pt x="0" y="159"/>
                  </a:lnTo>
                  <a:lnTo>
                    <a:pt x="0" y="185"/>
                  </a:lnTo>
                  <a:lnTo>
                    <a:pt x="8" y="209"/>
                  </a:lnTo>
                  <a:lnTo>
                    <a:pt x="16" y="233"/>
                  </a:lnTo>
                  <a:lnTo>
                    <a:pt x="29" y="254"/>
                  </a:lnTo>
                  <a:lnTo>
                    <a:pt x="45" y="273"/>
                  </a:lnTo>
                  <a:lnTo>
                    <a:pt x="64" y="288"/>
                  </a:lnTo>
                  <a:lnTo>
                    <a:pt x="85" y="302"/>
                  </a:lnTo>
                  <a:lnTo>
                    <a:pt x="109" y="310"/>
                  </a:lnTo>
                  <a:lnTo>
                    <a:pt x="132" y="318"/>
                  </a:lnTo>
                  <a:lnTo>
                    <a:pt x="159" y="318"/>
                  </a:lnTo>
                  <a:lnTo>
                    <a:pt x="183" y="318"/>
                  </a:lnTo>
                  <a:lnTo>
                    <a:pt x="209" y="310"/>
                  </a:lnTo>
                  <a:lnTo>
                    <a:pt x="230" y="302"/>
                  </a:lnTo>
                  <a:lnTo>
                    <a:pt x="252" y="288"/>
                  </a:lnTo>
                  <a:lnTo>
                    <a:pt x="270" y="273"/>
                  </a:lnTo>
                  <a:lnTo>
                    <a:pt x="286" y="254"/>
                  </a:lnTo>
                  <a:lnTo>
                    <a:pt x="299" y="233"/>
                  </a:lnTo>
                  <a:lnTo>
                    <a:pt x="310" y="209"/>
                  </a:lnTo>
                  <a:lnTo>
                    <a:pt x="315" y="185"/>
                  </a:lnTo>
                  <a:lnTo>
                    <a:pt x="318" y="159"/>
                  </a:lnTo>
                  <a:lnTo>
                    <a:pt x="318"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66" name="Freeform 107"/>
            <p:cNvSpPr>
              <a:spLocks/>
            </p:cNvSpPr>
            <p:nvPr/>
          </p:nvSpPr>
          <p:spPr bwMode="auto">
            <a:xfrm>
              <a:off x="3456" y="1213"/>
              <a:ext cx="479" cy="239"/>
            </a:xfrm>
            <a:custGeom>
              <a:avLst/>
              <a:gdLst/>
              <a:ahLst/>
              <a:cxnLst>
                <a:cxn ang="0">
                  <a:pos x="0" y="0"/>
                </a:cxn>
                <a:cxn ang="0">
                  <a:pos x="479" y="0"/>
                </a:cxn>
                <a:cxn ang="0">
                  <a:pos x="479" y="239"/>
                </a:cxn>
                <a:cxn ang="0">
                  <a:pos x="2" y="239"/>
                </a:cxn>
                <a:cxn ang="0">
                  <a:pos x="2" y="0"/>
                </a:cxn>
                <a:cxn ang="0">
                  <a:pos x="0" y="0"/>
                </a:cxn>
              </a:cxnLst>
              <a:rect l="0" t="0" r="r" b="b"/>
              <a:pathLst>
                <a:path w="479" h="239">
                  <a:moveTo>
                    <a:pt x="0" y="0"/>
                  </a:moveTo>
                  <a:lnTo>
                    <a:pt x="479" y="0"/>
                  </a:lnTo>
                  <a:lnTo>
                    <a:pt x="479" y="239"/>
                  </a:lnTo>
                  <a:lnTo>
                    <a:pt x="2" y="239"/>
                  </a:lnTo>
                  <a:lnTo>
                    <a:pt x="2" y="0"/>
                  </a:lnTo>
                  <a:lnTo>
                    <a:pt x="0" y="0"/>
                  </a:lnTo>
                  <a:close/>
                </a:path>
              </a:pathLst>
            </a:custGeom>
            <a:solidFill>
              <a:srgbClr val="FFFFFF"/>
            </a:solidFill>
            <a:ln w="9525">
              <a:noFill/>
              <a:round/>
              <a:headEnd/>
              <a:tailEnd/>
            </a:ln>
          </p:spPr>
          <p:txBody>
            <a:bodyPr/>
            <a:lstStyle/>
            <a:p>
              <a:endParaRPr lang="zh-CN" altLang="en-US">
                <a:latin typeface="+mn-lt"/>
              </a:endParaRPr>
            </a:p>
          </p:txBody>
        </p:sp>
        <p:sp>
          <p:nvSpPr>
            <p:cNvPr id="67" name="Freeform 108"/>
            <p:cNvSpPr>
              <a:spLocks/>
            </p:cNvSpPr>
            <p:nvPr/>
          </p:nvSpPr>
          <p:spPr bwMode="auto">
            <a:xfrm>
              <a:off x="3456" y="1213"/>
              <a:ext cx="479" cy="239"/>
            </a:xfrm>
            <a:custGeom>
              <a:avLst/>
              <a:gdLst/>
              <a:ahLst/>
              <a:cxnLst>
                <a:cxn ang="0">
                  <a:pos x="0" y="0"/>
                </a:cxn>
                <a:cxn ang="0">
                  <a:pos x="479" y="0"/>
                </a:cxn>
                <a:cxn ang="0">
                  <a:pos x="479" y="239"/>
                </a:cxn>
                <a:cxn ang="0">
                  <a:pos x="2" y="239"/>
                </a:cxn>
                <a:cxn ang="0">
                  <a:pos x="2" y="0"/>
                </a:cxn>
              </a:cxnLst>
              <a:rect l="0" t="0" r="r" b="b"/>
              <a:pathLst>
                <a:path w="479" h="239">
                  <a:moveTo>
                    <a:pt x="0" y="0"/>
                  </a:moveTo>
                  <a:lnTo>
                    <a:pt x="479" y="0"/>
                  </a:lnTo>
                  <a:lnTo>
                    <a:pt x="479" y="239"/>
                  </a:lnTo>
                  <a:lnTo>
                    <a:pt x="2" y="239"/>
                  </a:lnTo>
                  <a:lnTo>
                    <a:pt x="2" y="0"/>
                  </a:lnTo>
                </a:path>
              </a:pathLst>
            </a:custGeom>
            <a:noFill/>
            <a:ln w="7938">
              <a:solidFill>
                <a:srgbClr val="000000"/>
              </a:solidFill>
              <a:prstDash val="solid"/>
              <a:round/>
              <a:headEnd/>
              <a:tailEnd/>
            </a:ln>
          </p:spPr>
          <p:txBody>
            <a:bodyPr/>
            <a:lstStyle/>
            <a:p>
              <a:endParaRPr lang="zh-CN" altLang="en-US">
                <a:latin typeface="+mn-lt"/>
              </a:endParaRPr>
            </a:p>
          </p:txBody>
        </p:sp>
        <p:sp>
          <p:nvSpPr>
            <p:cNvPr id="68" name="Rectangle 109"/>
            <p:cNvSpPr>
              <a:spLocks noChangeArrowheads="1"/>
            </p:cNvSpPr>
            <p:nvPr/>
          </p:nvSpPr>
          <p:spPr bwMode="auto">
            <a:xfrm>
              <a:off x="3670" y="1277"/>
              <a:ext cx="77" cy="201"/>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mn-lt"/>
                </a:rPr>
                <a:t>$</a:t>
              </a:r>
              <a:endParaRPr lang="zh-CN" altLang="en-US">
                <a:latin typeface="+mn-lt"/>
              </a:endParaRPr>
            </a:p>
          </p:txBody>
        </p:sp>
        <p:sp>
          <p:nvSpPr>
            <p:cNvPr id="69" name="Rectangle 110"/>
            <p:cNvSpPr>
              <a:spLocks noChangeArrowheads="1"/>
            </p:cNvSpPr>
            <p:nvPr/>
          </p:nvSpPr>
          <p:spPr bwMode="auto">
            <a:xfrm>
              <a:off x="3660" y="917"/>
              <a:ext cx="79" cy="201"/>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P</a:t>
              </a:r>
              <a:endParaRPr lang="en-US" altLang="zh-CN">
                <a:latin typeface="+mn-lt"/>
              </a:endParaRPr>
            </a:p>
          </p:txBody>
        </p:sp>
        <p:sp>
          <p:nvSpPr>
            <p:cNvPr id="70" name="Rectangle 111"/>
            <p:cNvSpPr>
              <a:spLocks noChangeArrowheads="1"/>
            </p:cNvSpPr>
            <p:nvPr/>
          </p:nvSpPr>
          <p:spPr bwMode="auto">
            <a:xfrm>
              <a:off x="3705" y="951"/>
              <a:ext cx="63" cy="161"/>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n-lt"/>
                </a:rPr>
                <a:t>n</a:t>
              </a:r>
              <a:endParaRPr lang="en-US" altLang="zh-CN">
                <a:latin typeface="+mn-lt"/>
              </a:endParaRPr>
            </a:p>
          </p:txBody>
        </p:sp>
        <p:sp>
          <p:nvSpPr>
            <p:cNvPr id="71" name="Rectangle 112"/>
            <p:cNvSpPr>
              <a:spLocks noChangeArrowheads="1"/>
            </p:cNvSpPr>
            <p:nvPr/>
          </p:nvSpPr>
          <p:spPr bwMode="auto">
            <a:xfrm>
              <a:off x="2665" y="1423"/>
              <a:ext cx="222" cy="201"/>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mn-lt"/>
                </a:rPr>
                <a:t>Bus</a:t>
              </a:r>
              <a:endParaRPr lang="en-US" altLang="zh-CN">
                <a:latin typeface="+mn-lt"/>
              </a:endParaRPr>
            </a:p>
          </p:txBody>
        </p:sp>
        <p:sp>
          <p:nvSpPr>
            <p:cNvPr id="72" name="Freeform 113"/>
            <p:cNvSpPr>
              <a:spLocks/>
            </p:cNvSpPr>
            <p:nvPr/>
          </p:nvSpPr>
          <p:spPr bwMode="auto">
            <a:xfrm>
              <a:off x="2517" y="1295"/>
              <a:ext cx="45" cy="45"/>
            </a:xfrm>
            <a:custGeom>
              <a:avLst/>
              <a:gdLst/>
              <a:ahLst/>
              <a:cxnLst>
                <a:cxn ang="0">
                  <a:pos x="45" y="21"/>
                </a:cxn>
                <a:cxn ang="0">
                  <a:pos x="45" y="27"/>
                </a:cxn>
                <a:cxn ang="0">
                  <a:pos x="45" y="29"/>
                </a:cxn>
                <a:cxn ang="0">
                  <a:pos x="43" y="32"/>
                </a:cxn>
                <a:cxn ang="0">
                  <a:pos x="40" y="35"/>
                </a:cxn>
                <a:cxn ang="0">
                  <a:pos x="40" y="37"/>
                </a:cxn>
                <a:cxn ang="0">
                  <a:pos x="37" y="40"/>
                </a:cxn>
                <a:cxn ang="0">
                  <a:pos x="35" y="43"/>
                </a:cxn>
                <a:cxn ang="0">
                  <a:pos x="30" y="43"/>
                </a:cxn>
                <a:cxn ang="0">
                  <a:pos x="27" y="45"/>
                </a:cxn>
                <a:cxn ang="0">
                  <a:pos x="24" y="45"/>
                </a:cxn>
                <a:cxn ang="0">
                  <a:pos x="19" y="45"/>
                </a:cxn>
                <a:cxn ang="0">
                  <a:pos x="16" y="43"/>
                </a:cxn>
                <a:cxn ang="0">
                  <a:pos x="14" y="43"/>
                </a:cxn>
                <a:cxn ang="0">
                  <a:pos x="11" y="40"/>
                </a:cxn>
                <a:cxn ang="0">
                  <a:pos x="8" y="37"/>
                </a:cxn>
                <a:cxn ang="0">
                  <a:pos x="6" y="35"/>
                </a:cxn>
                <a:cxn ang="0">
                  <a:pos x="3" y="32"/>
                </a:cxn>
                <a:cxn ang="0">
                  <a:pos x="3" y="29"/>
                </a:cxn>
                <a:cxn ang="0">
                  <a:pos x="0" y="27"/>
                </a:cxn>
                <a:cxn ang="0">
                  <a:pos x="0" y="21"/>
                </a:cxn>
                <a:cxn ang="0">
                  <a:pos x="0" y="19"/>
                </a:cxn>
                <a:cxn ang="0">
                  <a:pos x="3" y="16"/>
                </a:cxn>
                <a:cxn ang="0">
                  <a:pos x="3" y="14"/>
                </a:cxn>
                <a:cxn ang="0">
                  <a:pos x="6" y="8"/>
                </a:cxn>
                <a:cxn ang="0">
                  <a:pos x="8" y="6"/>
                </a:cxn>
                <a:cxn ang="0">
                  <a:pos x="11" y="6"/>
                </a:cxn>
                <a:cxn ang="0">
                  <a:pos x="14" y="3"/>
                </a:cxn>
                <a:cxn ang="0">
                  <a:pos x="16" y="0"/>
                </a:cxn>
                <a:cxn ang="0">
                  <a:pos x="19" y="0"/>
                </a:cxn>
                <a:cxn ang="0">
                  <a:pos x="24" y="0"/>
                </a:cxn>
                <a:cxn ang="0">
                  <a:pos x="27" y="0"/>
                </a:cxn>
                <a:cxn ang="0">
                  <a:pos x="30" y="0"/>
                </a:cxn>
                <a:cxn ang="0">
                  <a:pos x="35" y="3"/>
                </a:cxn>
                <a:cxn ang="0">
                  <a:pos x="37" y="6"/>
                </a:cxn>
                <a:cxn ang="0">
                  <a:pos x="40" y="6"/>
                </a:cxn>
                <a:cxn ang="0">
                  <a:pos x="40" y="8"/>
                </a:cxn>
                <a:cxn ang="0">
                  <a:pos x="43" y="14"/>
                </a:cxn>
                <a:cxn ang="0">
                  <a:pos x="45" y="16"/>
                </a:cxn>
                <a:cxn ang="0">
                  <a:pos x="45" y="19"/>
                </a:cxn>
                <a:cxn ang="0">
                  <a:pos x="45" y="21"/>
                </a:cxn>
              </a:cxnLst>
              <a:rect l="0" t="0" r="r" b="b"/>
              <a:pathLst>
                <a:path w="45" h="45">
                  <a:moveTo>
                    <a:pt x="45" y="21"/>
                  </a:moveTo>
                  <a:lnTo>
                    <a:pt x="45" y="27"/>
                  </a:lnTo>
                  <a:lnTo>
                    <a:pt x="45" y="29"/>
                  </a:lnTo>
                  <a:lnTo>
                    <a:pt x="43" y="32"/>
                  </a:lnTo>
                  <a:lnTo>
                    <a:pt x="40" y="35"/>
                  </a:lnTo>
                  <a:lnTo>
                    <a:pt x="40" y="37"/>
                  </a:lnTo>
                  <a:lnTo>
                    <a:pt x="37" y="40"/>
                  </a:lnTo>
                  <a:lnTo>
                    <a:pt x="35" y="43"/>
                  </a:lnTo>
                  <a:lnTo>
                    <a:pt x="30" y="43"/>
                  </a:lnTo>
                  <a:lnTo>
                    <a:pt x="27" y="45"/>
                  </a:lnTo>
                  <a:lnTo>
                    <a:pt x="24" y="45"/>
                  </a:lnTo>
                  <a:lnTo>
                    <a:pt x="19" y="45"/>
                  </a:lnTo>
                  <a:lnTo>
                    <a:pt x="16" y="43"/>
                  </a:lnTo>
                  <a:lnTo>
                    <a:pt x="14" y="43"/>
                  </a:lnTo>
                  <a:lnTo>
                    <a:pt x="11" y="40"/>
                  </a:lnTo>
                  <a:lnTo>
                    <a:pt x="8" y="37"/>
                  </a:lnTo>
                  <a:lnTo>
                    <a:pt x="6" y="35"/>
                  </a:lnTo>
                  <a:lnTo>
                    <a:pt x="3" y="32"/>
                  </a:lnTo>
                  <a:lnTo>
                    <a:pt x="3" y="29"/>
                  </a:lnTo>
                  <a:lnTo>
                    <a:pt x="0" y="27"/>
                  </a:lnTo>
                  <a:lnTo>
                    <a:pt x="0" y="21"/>
                  </a:lnTo>
                  <a:lnTo>
                    <a:pt x="0" y="19"/>
                  </a:lnTo>
                  <a:lnTo>
                    <a:pt x="3" y="16"/>
                  </a:lnTo>
                  <a:lnTo>
                    <a:pt x="3" y="14"/>
                  </a:lnTo>
                  <a:lnTo>
                    <a:pt x="6" y="8"/>
                  </a:lnTo>
                  <a:lnTo>
                    <a:pt x="8" y="6"/>
                  </a:lnTo>
                  <a:lnTo>
                    <a:pt x="11" y="6"/>
                  </a:lnTo>
                  <a:lnTo>
                    <a:pt x="14" y="3"/>
                  </a:lnTo>
                  <a:lnTo>
                    <a:pt x="16" y="0"/>
                  </a:lnTo>
                  <a:lnTo>
                    <a:pt x="19" y="0"/>
                  </a:lnTo>
                  <a:lnTo>
                    <a:pt x="24" y="0"/>
                  </a:lnTo>
                  <a:lnTo>
                    <a:pt x="27" y="0"/>
                  </a:lnTo>
                  <a:lnTo>
                    <a:pt x="30" y="0"/>
                  </a:lnTo>
                  <a:lnTo>
                    <a:pt x="35" y="3"/>
                  </a:lnTo>
                  <a:lnTo>
                    <a:pt x="37" y="6"/>
                  </a:lnTo>
                  <a:lnTo>
                    <a:pt x="40" y="6"/>
                  </a:lnTo>
                  <a:lnTo>
                    <a:pt x="40" y="8"/>
                  </a:lnTo>
                  <a:lnTo>
                    <a:pt x="43" y="14"/>
                  </a:lnTo>
                  <a:lnTo>
                    <a:pt x="45" y="16"/>
                  </a:lnTo>
                  <a:lnTo>
                    <a:pt x="45" y="19"/>
                  </a:lnTo>
                  <a:lnTo>
                    <a:pt x="45" y="21"/>
                  </a:lnTo>
                  <a:close/>
                </a:path>
              </a:pathLst>
            </a:custGeom>
            <a:solidFill>
              <a:srgbClr val="000000"/>
            </a:solidFill>
            <a:ln w="9525">
              <a:noFill/>
              <a:round/>
              <a:headEnd/>
              <a:tailEnd/>
            </a:ln>
          </p:spPr>
          <p:txBody>
            <a:bodyPr/>
            <a:lstStyle/>
            <a:p>
              <a:endParaRPr lang="zh-CN" altLang="en-US">
                <a:latin typeface="+mn-lt"/>
              </a:endParaRPr>
            </a:p>
          </p:txBody>
        </p:sp>
        <p:sp>
          <p:nvSpPr>
            <p:cNvPr id="73" name="Freeform 114"/>
            <p:cNvSpPr>
              <a:spLocks/>
            </p:cNvSpPr>
            <p:nvPr/>
          </p:nvSpPr>
          <p:spPr bwMode="auto">
            <a:xfrm>
              <a:off x="2517" y="1295"/>
              <a:ext cx="45" cy="45"/>
            </a:xfrm>
            <a:custGeom>
              <a:avLst/>
              <a:gdLst/>
              <a:ahLst/>
              <a:cxnLst>
                <a:cxn ang="0">
                  <a:pos x="45" y="21"/>
                </a:cxn>
                <a:cxn ang="0">
                  <a:pos x="45" y="19"/>
                </a:cxn>
                <a:cxn ang="0">
                  <a:pos x="45" y="16"/>
                </a:cxn>
                <a:cxn ang="0">
                  <a:pos x="43" y="14"/>
                </a:cxn>
                <a:cxn ang="0">
                  <a:pos x="40" y="8"/>
                </a:cxn>
                <a:cxn ang="0">
                  <a:pos x="40" y="6"/>
                </a:cxn>
                <a:cxn ang="0">
                  <a:pos x="37" y="6"/>
                </a:cxn>
                <a:cxn ang="0">
                  <a:pos x="35" y="3"/>
                </a:cxn>
                <a:cxn ang="0">
                  <a:pos x="30" y="0"/>
                </a:cxn>
                <a:cxn ang="0">
                  <a:pos x="27" y="0"/>
                </a:cxn>
                <a:cxn ang="0">
                  <a:pos x="24" y="0"/>
                </a:cxn>
                <a:cxn ang="0">
                  <a:pos x="19" y="0"/>
                </a:cxn>
                <a:cxn ang="0">
                  <a:pos x="16" y="0"/>
                </a:cxn>
                <a:cxn ang="0">
                  <a:pos x="14" y="3"/>
                </a:cxn>
                <a:cxn ang="0">
                  <a:pos x="11" y="6"/>
                </a:cxn>
                <a:cxn ang="0">
                  <a:pos x="8" y="6"/>
                </a:cxn>
                <a:cxn ang="0">
                  <a:pos x="6" y="8"/>
                </a:cxn>
                <a:cxn ang="0">
                  <a:pos x="3" y="14"/>
                </a:cxn>
                <a:cxn ang="0">
                  <a:pos x="3" y="16"/>
                </a:cxn>
                <a:cxn ang="0">
                  <a:pos x="0" y="19"/>
                </a:cxn>
                <a:cxn ang="0">
                  <a:pos x="0" y="21"/>
                </a:cxn>
                <a:cxn ang="0">
                  <a:pos x="0" y="27"/>
                </a:cxn>
                <a:cxn ang="0">
                  <a:pos x="3" y="29"/>
                </a:cxn>
                <a:cxn ang="0">
                  <a:pos x="3" y="32"/>
                </a:cxn>
                <a:cxn ang="0">
                  <a:pos x="6" y="35"/>
                </a:cxn>
                <a:cxn ang="0">
                  <a:pos x="8" y="37"/>
                </a:cxn>
                <a:cxn ang="0">
                  <a:pos x="11" y="40"/>
                </a:cxn>
                <a:cxn ang="0">
                  <a:pos x="14" y="43"/>
                </a:cxn>
                <a:cxn ang="0">
                  <a:pos x="16" y="43"/>
                </a:cxn>
                <a:cxn ang="0">
                  <a:pos x="19" y="45"/>
                </a:cxn>
                <a:cxn ang="0">
                  <a:pos x="24" y="45"/>
                </a:cxn>
                <a:cxn ang="0">
                  <a:pos x="27" y="45"/>
                </a:cxn>
                <a:cxn ang="0">
                  <a:pos x="30" y="43"/>
                </a:cxn>
                <a:cxn ang="0">
                  <a:pos x="35" y="43"/>
                </a:cxn>
                <a:cxn ang="0">
                  <a:pos x="37" y="40"/>
                </a:cxn>
                <a:cxn ang="0">
                  <a:pos x="40" y="37"/>
                </a:cxn>
                <a:cxn ang="0">
                  <a:pos x="40" y="35"/>
                </a:cxn>
                <a:cxn ang="0">
                  <a:pos x="43" y="32"/>
                </a:cxn>
                <a:cxn ang="0">
                  <a:pos x="45" y="29"/>
                </a:cxn>
                <a:cxn ang="0">
                  <a:pos x="45" y="27"/>
                </a:cxn>
                <a:cxn ang="0">
                  <a:pos x="45" y="21"/>
                </a:cxn>
                <a:cxn ang="0">
                  <a:pos x="45" y="21"/>
                </a:cxn>
              </a:cxnLst>
              <a:rect l="0" t="0" r="r" b="b"/>
              <a:pathLst>
                <a:path w="45" h="45">
                  <a:moveTo>
                    <a:pt x="45" y="21"/>
                  </a:moveTo>
                  <a:lnTo>
                    <a:pt x="45" y="19"/>
                  </a:lnTo>
                  <a:lnTo>
                    <a:pt x="45" y="16"/>
                  </a:lnTo>
                  <a:lnTo>
                    <a:pt x="43" y="14"/>
                  </a:lnTo>
                  <a:lnTo>
                    <a:pt x="40" y="8"/>
                  </a:lnTo>
                  <a:lnTo>
                    <a:pt x="40" y="6"/>
                  </a:lnTo>
                  <a:lnTo>
                    <a:pt x="37" y="6"/>
                  </a:lnTo>
                  <a:lnTo>
                    <a:pt x="35" y="3"/>
                  </a:lnTo>
                  <a:lnTo>
                    <a:pt x="30" y="0"/>
                  </a:lnTo>
                  <a:lnTo>
                    <a:pt x="27" y="0"/>
                  </a:lnTo>
                  <a:lnTo>
                    <a:pt x="24" y="0"/>
                  </a:lnTo>
                  <a:lnTo>
                    <a:pt x="19" y="0"/>
                  </a:lnTo>
                  <a:lnTo>
                    <a:pt x="16" y="0"/>
                  </a:lnTo>
                  <a:lnTo>
                    <a:pt x="14" y="3"/>
                  </a:lnTo>
                  <a:lnTo>
                    <a:pt x="11" y="6"/>
                  </a:lnTo>
                  <a:lnTo>
                    <a:pt x="8" y="6"/>
                  </a:lnTo>
                  <a:lnTo>
                    <a:pt x="6" y="8"/>
                  </a:lnTo>
                  <a:lnTo>
                    <a:pt x="3" y="14"/>
                  </a:lnTo>
                  <a:lnTo>
                    <a:pt x="3" y="16"/>
                  </a:lnTo>
                  <a:lnTo>
                    <a:pt x="0" y="19"/>
                  </a:lnTo>
                  <a:lnTo>
                    <a:pt x="0" y="21"/>
                  </a:lnTo>
                  <a:lnTo>
                    <a:pt x="0" y="27"/>
                  </a:lnTo>
                  <a:lnTo>
                    <a:pt x="3" y="29"/>
                  </a:lnTo>
                  <a:lnTo>
                    <a:pt x="3" y="32"/>
                  </a:lnTo>
                  <a:lnTo>
                    <a:pt x="6" y="35"/>
                  </a:lnTo>
                  <a:lnTo>
                    <a:pt x="8" y="37"/>
                  </a:lnTo>
                  <a:lnTo>
                    <a:pt x="11" y="40"/>
                  </a:lnTo>
                  <a:lnTo>
                    <a:pt x="14" y="43"/>
                  </a:lnTo>
                  <a:lnTo>
                    <a:pt x="16" y="43"/>
                  </a:lnTo>
                  <a:lnTo>
                    <a:pt x="19" y="45"/>
                  </a:lnTo>
                  <a:lnTo>
                    <a:pt x="24" y="45"/>
                  </a:lnTo>
                  <a:lnTo>
                    <a:pt x="27" y="45"/>
                  </a:lnTo>
                  <a:lnTo>
                    <a:pt x="30" y="43"/>
                  </a:lnTo>
                  <a:lnTo>
                    <a:pt x="35" y="43"/>
                  </a:lnTo>
                  <a:lnTo>
                    <a:pt x="37" y="40"/>
                  </a:lnTo>
                  <a:lnTo>
                    <a:pt x="40" y="37"/>
                  </a:lnTo>
                  <a:lnTo>
                    <a:pt x="40" y="35"/>
                  </a:lnTo>
                  <a:lnTo>
                    <a:pt x="43" y="32"/>
                  </a:lnTo>
                  <a:lnTo>
                    <a:pt x="45" y="29"/>
                  </a:lnTo>
                  <a:lnTo>
                    <a:pt x="45" y="27"/>
                  </a:lnTo>
                  <a:lnTo>
                    <a:pt x="45" y="21"/>
                  </a:lnTo>
                  <a:lnTo>
                    <a:pt x="45" y="21"/>
                  </a:lnTo>
                </a:path>
              </a:pathLst>
            </a:custGeom>
            <a:noFill/>
            <a:ln w="33338">
              <a:solidFill>
                <a:srgbClr val="000000"/>
              </a:solidFill>
              <a:prstDash val="solid"/>
              <a:round/>
              <a:headEnd/>
              <a:tailEnd/>
            </a:ln>
          </p:spPr>
          <p:txBody>
            <a:bodyPr/>
            <a:lstStyle/>
            <a:p>
              <a:endParaRPr lang="zh-CN" altLang="en-US">
                <a:latin typeface="+mn-lt"/>
              </a:endParaRPr>
            </a:p>
          </p:txBody>
        </p:sp>
        <p:sp>
          <p:nvSpPr>
            <p:cNvPr id="74" name="Freeform 115"/>
            <p:cNvSpPr>
              <a:spLocks/>
            </p:cNvSpPr>
            <p:nvPr/>
          </p:nvSpPr>
          <p:spPr bwMode="auto">
            <a:xfrm>
              <a:off x="2700" y="1295"/>
              <a:ext cx="45" cy="45"/>
            </a:xfrm>
            <a:custGeom>
              <a:avLst/>
              <a:gdLst/>
              <a:ahLst/>
              <a:cxnLst>
                <a:cxn ang="0">
                  <a:pos x="45" y="21"/>
                </a:cxn>
                <a:cxn ang="0">
                  <a:pos x="45" y="27"/>
                </a:cxn>
                <a:cxn ang="0">
                  <a:pos x="45" y="29"/>
                </a:cxn>
                <a:cxn ang="0">
                  <a:pos x="43" y="32"/>
                </a:cxn>
                <a:cxn ang="0">
                  <a:pos x="40" y="35"/>
                </a:cxn>
                <a:cxn ang="0">
                  <a:pos x="40" y="37"/>
                </a:cxn>
                <a:cxn ang="0">
                  <a:pos x="37" y="40"/>
                </a:cxn>
                <a:cxn ang="0">
                  <a:pos x="35" y="43"/>
                </a:cxn>
                <a:cxn ang="0">
                  <a:pos x="29" y="43"/>
                </a:cxn>
                <a:cxn ang="0">
                  <a:pos x="27" y="45"/>
                </a:cxn>
                <a:cxn ang="0">
                  <a:pos x="24" y="45"/>
                </a:cxn>
                <a:cxn ang="0">
                  <a:pos x="19" y="45"/>
                </a:cxn>
                <a:cxn ang="0">
                  <a:pos x="16" y="43"/>
                </a:cxn>
                <a:cxn ang="0">
                  <a:pos x="14" y="43"/>
                </a:cxn>
                <a:cxn ang="0">
                  <a:pos x="11" y="40"/>
                </a:cxn>
                <a:cxn ang="0">
                  <a:pos x="8" y="37"/>
                </a:cxn>
                <a:cxn ang="0">
                  <a:pos x="6" y="35"/>
                </a:cxn>
                <a:cxn ang="0">
                  <a:pos x="3" y="32"/>
                </a:cxn>
                <a:cxn ang="0">
                  <a:pos x="3" y="29"/>
                </a:cxn>
                <a:cxn ang="0">
                  <a:pos x="0" y="27"/>
                </a:cxn>
                <a:cxn ang="0">
                  <a:pos x="0" y="21"/>
                </a:cxn>
                <a:cxn ang="0">
                  <a:pos x="0" y="19"/>
                </a:cxn>
                <a:cxn ang="0">
                  <a:pos x="3" y="16"/>
                </a:cxn>
                <a:cxn ang="0">
                  <a:pos x="3" y="14"/>
                </a:cxn>
                <a:cxn ang="0">
                  <a:pos x="6" y="8"/>
                </a:cxn>
                <a:cxn ang="0">
                  <a:pos x="8" y="6"/>
                </a:cxn>
                <a:cxn ang="0">
                  <a:pos x="11" y="6"/>
                </a:cxn>
                <a:cxn ang="0">
                  <a:pos x="14" y="3"/>
                </a:cxn>
                <a:cxn ang="0">
                  <a:pos x="16" y="0"/>
                </a:cxn>
                <a:cxn ang="0">
                  <a:pos x="19" y="0"/>
                </a:cxn>
                <a:cxn ang="0">
                  <a:pos x="24" y="0"/>
                </a:cxn>
                <a:cxn ang="0">
                  <a:pos x="27" y="0"/>
                </a:cxn>
                <a:cxn ang="0">
                  <a:pos x="29" y="0"/>
                </a:cxn>
                <a:cxn ang="0">
                  <a:pos x="35" y="3"/>
                </a:cxn>
                <a:cxn ang="0">
                  <a:pos x="37" y="6"/>
                </a:cxn>
                <a:cxn ang="0">
                  <a:pos x="40" y="6"/>
                </a:cxn>
                <a:cxn ang="0">
                  <a:pos x="40" y="8"/>
                </a:cxn>
                <a:cxn ang="0">
                  <a:pos x="43" y="14"/>
                </a:cxn>
                <a:cxn ang="0">
                  <a:pos x="45" y="16"/>
                </a:cxn>
                <a:cxn ang="0">
                  <a:pos x="45" y="19"/>
                </a:cxn>
                <a:cxn ang="0">
                  <a:pos x="45" y="21"/>
                </a:cxn>
              </a:cxnLst>
              <a:rect l="0" t="0" r="r" b="b"/>
              <a:pathLst>
                <a:path w="45" h="45">
                  <a:moveTo>
                    <a:pt x="45" y="21"/>
                  </a:moveTo>
                  <a:lnTo>
                    <a:pt x="45" y="27"/>
                  </a:lnTo>
                  <a:lnTo>
                    <a:pt x="45" y="29"/>
                  </a:lnTo>
                  <a:lnTo>
                    <a:pt x="43" y="32"/>
                  </a:lnTo>
                  <a:lnTo>
                    <a:pt x="40" y="35"/>
                  </a:lnTo>
                  <a:lnTo>
                    <a:pt x="40" y="37"/>
                  </a:lnTo>
                  <a:lnTo>
                    <a:pt x="37" y="40"/>
                  </a:lnTo>
                  <a:lnTo>
                    <a:pt x="35" y="43"/>
                  </a:lnTo>
                  <a:lnTo>
                    <a:pt x="29" y="43"/>
                  </a:lnTo>
                  <a:lnTo>
                    <a:pt x="27" y="45"/>
                  </a:lnTo>
                  <a:lnTo>
                    <a:pt x="24" y="45"/>
                  </a:lnTo>
                  <a:lnTo>
                    <a:pt x="19" y="45"/>
                  </a:lnTo>
                  <a:lnTo>
                    <a:pt x="16" y="43"/>
                  </a:lnTo>
                  <a:lnTo>
                    <a:pt x="14" y="43"/>
                  </a:lnTo>
                  <a:lnTo>
                    <a:pt x="11" y="40"/>
                  </a:lnTo>
                  <a:lnTo>
                    <a:pt x="8" y="37"/>
                  </a:lnTo>
                  <a:lnTo>
                    <a:pt x="6" y="35"/>
                  </a:lnTo>
                  <a:lnTo>
                    <a:pt x="3" y="32"/>
                  </a:lnTo>
                  <a:lnTo>
                    <a:pt x="3" y="29"/>
                  </a:lnTo>
                  <a:lnTo>
                    <a:pt x="0" y="27"/>
                  </a:lnTo>
                  <a:lnTo>
                    <a:pt x="0" y="21"/>
                  </a:lnTo>
                  <a:lnTo>
                    <a:pt x="0" y="19"/>
                  </a:lnTo>
                  <a:lnTo>
                    <a:pt x="3" y="16"/>
                  </a:lnTo>
                  <a:lnTo>
                    <a:pt x="3" y="14"/>
                  </a:lnTo>
                  <a:lnTo>
                    <a:pt x="6" y="8"/>
                  </a:lnTo>
                  <a:lnTo>
                    <a:pt x="8" y="6"/>
                  </a:lnTo>
                  <a:lnTo>
                    <a:pt x="11" y="6"/>
                  </a:lnTo>
                  <a:lnTo>
                    <a:pt x="14" y="3"/>
                  </a:lnTo>
                  <a:lnTo>
                    <a:pt x="16" y="0"/>
                  </a:lnTo>
                  <a:lnTo>
                    <a:pt x="19" y="0"/>
                  </a:lnTo>
                  <a:lnTo>
                    <a:pt x="24" y="0"/>
                  </a:lnTo>
                  <a:lnTo>
                    <a:pt x="27" y="0"/>
                  </a:lnTo>
                  <a:lnTo>
                    <a:pt x="29" y="0"/>
                  </a:lnTo>
                  <a:lnTo>
                    <a:pt x="35" y="3"/>
                  </a:lnTo>
                  <a:lnTo>
                    <a:pt x="37" y="6"/>
                  </a:lnTo>
                  <a:lnTo>
                    <a:pt x="40" y="6"/>
                  </a:lnTo>
                  <a:lnTo>
                    <a:pt x="40" y="8"/>
                  </a:lnTo>
                  <a:lnTo>
                    <a:pt x="43" y="14"/>
                  </a:lnTo>
                  <a:lnTo>
                    <a:pt x="45" y="16"/>
                  </a:lnTo>
                  <a:lnTo>
                    <a:pt x="45" y="19"/>
                  </a:lnTo>
                  <a:lnTo>
                    <a:pt x="45" y="21"/>
                  </a:lnTo>
                  <a:close/>
                </a:path>
              </a:pathLst>
            </a:custGeom>
            <a:solidFill>
              <a:srgbClr val="000000"/>
            </a:solidFill>
            <a:ln w="9525">
              <a:noFill/>
              <a:round/>
              <a:headEnd/>
              <a:tailEnd/>
            </a:ln>
          </p:spPr>
          <p:txBody>
            <a:bodyPr/>
            <a:lstStyle/>
            <a:p>
              <a:endParaRPr lang="zh-CN" altLang="en-US">
                <a:latin typeface="+mn-lt"/>
              </a:endParaRPr>
            </a:p>
          </p:txBody>
        </p:sp>
        <p:sp>
          <p:nvSpPr>
            <p:cNvPr id="75" name="Freeform 116"/>
            <p:cNvSpPr>
              <a:spLocks/>
            </p:cNvSpPr>
            <p:nvPr/>
          </p:nvSpPr>
          <p:spPr bwMode="auto">
            <a:xfrm>
              <a:off x="2700" y="1295"/>
              <a:ext cx="45" cy="45"/>
            </a:xfrm>
            <a:custGeom>
              <a:avLst/>
              <a:gdLst/>
              <a:ahLst/>
              <a:cxnLst>
                <a:cxn ang="0">
                  <a:pos x="45" y="21"/>
                </a:cxn>
                <a:cxn ang="0">
                  <a:pos x="45" y="19"/>
                </a:cxn>
                <a:cxn ang="0">
                  <a:pos x="45" y="16"/>
                </a:cxn>
                <a:cxn ang="0">
                  <a:pos x="43" y="14"/>
                </a:cxn>
                <a:cxn ang="0">
                  <a:pos x="40" y="8"/>
                </a:cxn>
                <a:cxn ang="0">
                  <a:pos x="40" y="6"/>
                </a:cxn>
                <a:cxn ang="0">
                  <a:pos x="37" y="6"/>
                </a:cxn>
                <a:cxn ang="0">
                  <a:pos x="35" y="3"/>
                </a:cxn>
                <a:cxn ang="0">
                  <a:pos x="29" y="0"/>
                </a:cxn>
                <a:cxn ang="0">
                  <a:pos x="27" y="0"/>
                </a:cxn>
                <a:cxn ang="0">
                  <a:pos x="24" y="0"/>
                </a:cxn>
                <a:cxn ang="0">
                  <a:pos x="19" y="0"/>
                </a:cxn>
                <a:cxn ang="0">
                  <a:pos x="16" y="0"/>
                </a:cxn>
                <a:cxn ang="0">
                  <a:pos x="14" y="3"/>
                </a:cxn>
                <a:cxn ang="0">
                  <a:pos x="11" y="6"/>
                </a:cxn>
                <a:cxn ang="0">
                  <a:pos x="8" y="6"/>
                </a:cxn>
                <a:cxn ang="0">
                  <a:pos x="6" y="8"/>
                </a:cxn>
                <a:cxn ang="0">
                  <a:pos x="3" y="14"/>
                </a:cxn>
                <a:cxn ang="0">
                  <a:pos x="3" y="16"/>
                </a:cxn>
                <a:cxn ang="0">
                  <a:pos x="0" y="19"/>
                </a:cxn>
                <a:cxn ang="0">
                  <a:pos x="0" y="21"/>
                </a:cxn>
                <a:cxn ang="0">
                  <a:pos x="0" y="27"/>
                </a:cxn>
                <a:cxn ang="0">
                  <a:pos x="3" y="29"/>
                </a:cxn>
                <a:cxn ang="0">
                  <a:pos x="3" y="32"/>
                </a:cxn>
                <a:cxn ang="0">
                  <a:pos x="6" y="35"/>
                </a:cxn>
                <a:cxn ang="0">
                  <a:pos x="8" y="37"/>
                </a:cxn>
                <a:cxn ang="0">
                  <a:pos x="11" y="40"/>
                </a:cxn>
                <a:cxn ang="0">
                  <a:pos x="14" y="43"/>
                </a:cxn>
                <a:cxn ang="0">
                  <a:pos x="16" y="43"/>
                </a:cxn>
                <a:cxn ang="0">
                  <a:pos x="19" y="45"/>
                </a:cxn>
                <a:cxn ang="0">
                  <a:pos x="24" y="45"/>
                </a:cxn>
                <a:cxn ang="0">
                  <a:pos x="27" y="45"/>
                </a:cxn>
                <a:cxn ang="0">
                  <a:pos x="29" y="43"/>
                </a:cxn>
                <a:cxn ang="0">
                  <a:pos x="35" y="43"/>
                </a:cxn>
                <a:cxn ang="0">
                  <a:pos x="37" y="40"/>
                </a:cxn>
                <a:cxn ang="0">
                  <a:pos x="40" y="37"/>
                </a:cxn>
                <a:cxn ang="0">
                  <a:pos x="40" y="35"/>
                </a:cxn>
                <a:cxn ang="0">
                  <a:pos x="43" y="32"/>
                </a:cxn>
                <a:cxn ang="0">
                  <a:pos x="45" y="29"/>
                </a:cxn>
                <a:cxn ang="0">
                  <a:pos x="45" y="27"/>
                </a:cxn>
                <a:cxn ang="0">
                  <a:pos x="45" y="21"/>
                </a:cxn>
                <a:cxn ang="0">
                  <a:pos x="45" y="21"/>
                </a:cxn>
              </a:cxnLst>
              <a:rect l="0" t="0" r="r" b="b"/>
              <a:pathLst>
                <a:path w="45" h="45">
                  <a:moveTo>
                    <a:pt x="45" y="21"/>
                  </a:moveTo>
                  <a:lnTo>
                    <a:pt x="45" y="19"/>
                  </a:lnTo>
                  <a:lnTo>
                    <a:pt x="45" y="16"/>
                  </a:lnTo>
                  <a:lnTo>
                    <a:pt x="43" y="14"/>
                  </a:lnTo>
                  <a:lnTo>
                    <a:pt x="40" y="8"/>
                  </a:lnTo>
                  <a:lnTo>
                    <a:pt x="40" y="6"/>
                  </a:lnTo>
                  <a:lnTo>
                    <a:pt x="37" y="6"/>
                  </a:lnTo>
                  <a:lnTo>
                    <a:pt x="35" y="3"/>
                  </a:lnTo>
                  <a:lnTo>
                    <a:pt x="29" y="0"/>
                  </a:lnTo>
                  <a:lnTo>
                    <a:pt x="27" y="0"/>
                  </a:lnTo>
                  <a:lnTo>
                    <a:pt x="24" y="0"/>
                  </a:lnTo>
                  <a:lnTo>
                    <a:pt x="19" y="0"/>
                  </a:lnTo>
                  <a:lnTo>
                    <a:pt x="16" y="0"/>
                  </a:lnTo>
                  <a:lnTo>
                    <a:pt x="14" y="3"/>
                  </a:lnTo>
                  <a:lnTo>
                    <a:pt x="11" y="6"/>
                  </a:lnTo>
                  <a:lnTo>
                    <a:pt x="8" y="6"/>
                  </a:lnTo>
                  <a:lnTo>
                    <a:pt x="6" y="8"/>
                  </a:lnTo>
                  <a:lnTo>
                    <a:pt x="3" y="14"/>
                  </a:lnTo>
                  <a:lnTo>
                    <a:pt x="3" y="16"/>
                  </a:lnTo>
                  <a:lnTo>
                    <a:pt x="0" y="19"/>
                  </a:lnTo>
                  <a:lnTo>
                    <a:pt x="0" y="21"/>
                  </a:lnTo>
                  <a:lnTo>
                    <a:pt x="0" y="27"/>
                  </a:lnTo>
                  <a:lnTo>
                    <a:pt x="3" y="29"/>
                  </a:lnTo>
                  <a:lnTo>
                    <a:pt x="3" y="32"/>
                  </a:lnTo>
                  <a:lnTo>
                    <a:pt x="6" y="35"/>
                  </a:lnTo>
                  <a:lnTo>
                    <a:pt x="8" y="37"/>
                  </a:lnTo>
                  <a:lnTo>
                    <a:pt x="11" y="40"/>
                  </a:lnTo>
                  <a:lnTo>
                    <a:pt x="14" y="43"/>
                  </a:lnTo>
                  <a:lnTo>
                    <a:pt x="16" y="43"/>
                  </a:lnTo>
                  <a:lnTo>
                    <a:pt x="19" y="45"/>
                  </a:lnTo>
                  <a:lnTo>
                    <a:pt x="24" y="45"/>
                  </a:lnTo>
                  <a:lnTo>
                    <a:pt x="27" y="45"/>
                  </a:lnTo>
                  <a:lnTo>
                    <a:pt x="29" y="43"/>
                  </a:lnTo>
                  <a:lnTo>
                    <a:pt x="35" y="43"/>
                  </a:lnTo>
                  <a:lnTo>
                    <a:pt x="37" y="40"/>
                  </a:lnTo>
                  <a:lnTo>
                    <a:pt x="40" y="37"/>
                  </a:lnTo>
                  <a:lnTo>
                    <a:pt x="40" y="35"/>
                  </a:lnTo>
                  <a:lnTo>
                    <a:pt x="43" y="32"/>
                  </a:lnTo>
                  <a:lnTo>
                    <a:pt x="45" y="29"/>
                  </a:lnTo>
                  <a:lnTo>
                    <a:pt x="45" y="27"/>
                  </a:lnTo>
                  <a:lnTo>
                    <a:pt x="45" y="21"/>
                  </a:lnTo>
                  <a:lnTo>
                    <a:pt x="45" y="21"/>
                  </a:lnTo>
                </a:path>
              </a:pathLst>
            </a:custGeom>
            <a:noFill/>
            <a:ln w="33338">
              <a:solidFill>
                <a:srgbClr val="000000"/>
              </a:solidFill>
              <a:prstDash val="solid"/>
              <a:round/>
              <a:headEnd/>
              <a:tailEnd/>
            </a:ln>
          </p:spPr>
          <p:txBody>
            <a:bodyPr/>
            <a:lstStyle/>
            <a:p>
              <a:endParaRPr lang="zh-CN" altLang="en-US">
                <a:latin typeface="+mn-lt"/>
              </a:endParaRPr>
            </a:p>
          </p:txBody>
        </p:sp>
        <p:sp>
          <p:nvSpPr>
            <p:cNvPr id="76" name="Freeform 117"/>
            <p:cNvSpPr>
              <a:spLocks/>
            </p:cNvSpPr>
            <p:nvPr/>
          </p:nvSpPr>
          <p:spPr bwMode="auto">
            <a:xfrm>
              <a:off x="2899" y="1295"/>
              <a:ext cx="45" cy="45"/>
            </a:xfrm>
            <a:custGeom>
              <a:avLst/>
              <a:gdLst/>
              <a:ahLst/>
              <a:cxnLst>
                <a:cxn ang="0">
                  <a:pos x="45" y="21"/>
                </a:cxn>
                <a:cxn ang="0">
                  <a:pos x="45" y="27"/>
                </a:cxn>
                <a:cxn ang="0">
                  <a:pos x="45" y="29"/>
                </a:cxn>
                <a:cxn ang="0">
                  <a:pos x="42" y="32"/>
                </a:cxn>
                <a:cxn ang="0">
                  <a:pos x="40" y="35"/>
                </a:cxn>
                <a:cxn ang="0">
                  <a:pos x="40" y="37"/>
                </a:cxn>
                <a:cxn ang="0">
                  <a:pos x="37" y="40"/>
                </a:cxn>
                <a:cxn ang="0">
                  <a:pos x="35" y="43"/>
                </a:cxn>
                <a:cxn ang="0">
                  <a:pos x="29" y="43"/>
                </a:cxn>
                <a:cxn ang="0">
                  <a:pos x="27" y="45"/>
                </a:cxn>
                <a:cxn ang="0">
                  <a:pos x="24" y="45"/>
                </a:cxn>
                <a:cxn ang="0">
                  <a:pos x="19" y="45"/>
                </a:cxn>
                <a:cxn ang="0">
                  <a:pos x="16" y="43"/>
                </a:cxn>
                <a:cxn ang="0">
                  <a:pos x="13" y="43"/>
                </a:cxn>
                <a:cxn ang="0">
                  <a:pos x="11" y="40"/>
                </a:cxn>
                <a:cxn ang="0">
                  <a:pos x="8" y="37"/>
                </a:cxn>
                <a:cxn ang="0">
                  <a:pos x="5" y="35"/>
                </a:cxn>
                <a:cxn ang="0">
                  <a:pos x="3" y="32"/>
                </a:cxn>
                <a:cxn ang="0">
                  <a:pos x="3" y="29"/>
                </a:cxn>
                <a:cxn ang="0">
                  <a:pos x="0" y="27"/>
                </a:cxn>
                <a:cxn ang="0">
                  <a:pos x="0" y="21"/>
                </a:cxn>
                <a:cxn ang="0">
                  <a:pos x="0" y="19"/>
                </a:cxn>
                <a:cxn ang="0">
                  <a:pos x="3" y="16"/>
                </a:cxn>
                <a:cxn ang="0">
                  <a:pos x="3" y="14"/>
                </a:cxn>
                <a:cxn ang="0">
                  <a:pos x="5" y="8"/>
                </a:cxn>
                <a:cxn ang="0">
                  <a:pos x="8" y="6"/>
                </a:cxn>
                <a:cxn ang="0">
                  <a:pos x="11" y="6"/>
                </a:cxn>
                <a:cxn ang="0">
                  <a:pos x="13" y="3"/>
                </a:cxn>
                <a:cxn ang="0">
                  <a:pos x="16" y="0"/>
                </a:cxn>
                <a:cxn ang="0">
                  <a:pos x="19" y="0"/>
                </a:cxn>
                <a:cxn ang="0">
                  <a:pos x="24" y="0"/>
                </a:cxn>
                <a:cxn ang="0">
                  <a:pos x="27" y="0"/>
                </a:cxn>
                <a:cxn ang="0">
                  <a:pos x="29" y="0"/>
                </a:cxn>
                <a:cxn ang="0">
                  <a:pos x="35" y="3"/>
                </a:cxn>
                <a:cxn ang="0">
                  <a:pos x="37" y="6"/>
                </a:cxn>
                <a:cxn ang="0">
                  <a:pos x="40" y="6"/>
                </a:cxn>
                <a:cxn ang="0">
                  <a:pos x="40" y="8"/>
                </a:cxn>
                <a:cxn ang="0">
                  <a:pos x="42" y="14"/>
                </a:cxn>
                <a:cxn ang="0">
                  <a:pos x="45" y="16"/>
                </a:cxn>
                <a:cxn ang="0">
                  <a:pos x="45" y="19"/>
                </a:cxn>
                <a:cxn ang="0">
                  <a:pos x="45" y="21"/>
                </a:cxn>
              </a:cxnLst>
              <a:rect l="0" t="0" r="r" b="b"/>
              <a:pathLst>
                <a:path w="45" h="45">
                  <a:moveTo>
                    <a:pt x="45" y="21"/>
                  </a:moveTo>
                  <a:lnTo>
                    <a:pt x="45" y="27"/>
                  </a:lnTo>
                  <a:lnTo>
                    <a:pt x="45" y="29"/>
                  </a:lnTo>
                  <a:lnTo>
                    <a:pt x="42" y="32"/>
                  </a:lnTo>
                  <a:lnTo>
                    <a:pt x="40" y="35"/>
                  </a:lnTo>
                  <a:lnTo>
                    <a:pt x="40" y="37"/>
                  </a:lnTo>
                  <a:lnTo>
                    <a:pt x="37" y="40"/>
                  </a:lnTo>
                  <a:lnTo>
                    <a:pt x="35" y="43"/>
                  </a:lnTo>
                  <a:lnTo>
                    <a:pt x="29" y="43"/>
                  </a:lnTo>
                  <a:lnTo>
                    <a:pt x="27" y="45"/>
                  </a:lnTo>
                  <a:lnTo>
                    <a:pt x="24" y="45"/>
                  </a:lnTo>
                  <a:lnTo>
                    <a:pt x="19" y="45"/>
                  </a:lnTo>
                  <a:lnTo>
                    <a:pt x="16" y="43"/>
                  </a:lnTo>
                  <a:lnTo>
                    <a:pt x="13" y="43"/>
                  </a:lnTo>
                  <a:lnTo>
                    <a:pt x="11" y="40"/>
                  </a:lnTo>
                  <a:lnTo>
                    <a:pt x="8" y="37"/>
                  </a:lnTo>
                  <a:lnTo>
                    <a:pt x="5" y="35"/>
                  </a:lnTo>
                  <a:lnTo>
                    <a:pt x="3" y="32"/>
                  </a:lnTo>
                  <a:lnTo>
                    <a:pt x="3" y="29"/>
                  </a:lnTo>
                  <a:lnTo>
                    <a:pt x="0" y="27"/>
                  </a:lnTo>
                  <a:lnTo>
                    <a:pt x="0" y="21"/>
                  </a:lnTo>
                  <a:lnTo>
                    <a:pt x="0" y="19"/>
                  </a:lnTo>
                  <a:lnTo>
                    <a:pt x="3" y="16"/>
                  </a:lnTo>
                  <a:lnTo>
                    <a:pt x="3" y="14"/>
                  </a:lnTo>
                  <a:lnTo>
                    <a:pt x="5" y="8"/>
                  </a:lnTo>
                  <a:lnTo>
                    <a:pt x="8" y="6"/>
                  </a:lnTo>
                  <a:lnTo>
                    <a:pt x="11" y="6"/>
                  </a:lnTo>
                  <a:lnTo>
                    <a:pt x="13" y="3"/>
                  </a:lnTo>
                  <a:lnTo>
                    <a:pt x="16" y="0"/>
                  </a:lnTo>
                  <a:lnTo>
                    <a:pt x="19" y="0"/>
                  </a:lnTo>
                  <a:lnTo>
                    <a:pt x="24" y="0"/>
                  </a:lnTo>
                  <a:lnTo>
                    <a:pt x="27" y="0"/>
                  </a:lnTo>
                  <a:lnTo>
                    <a:pt x="29" y="0"/>
                  </a:lnTo>
                  <a:lnTo>
                    <a:pt x="35" y="3"/>
                  </a:lnTo>
                  <a:lnTo>
                    <a:pt x="37" y="6"/>
                  </a:lnTo>
                  <a:lnTo>
                    <a:pt x="40" y="6"/>
                  </a:lnTo>
                  <a:lnTo>
                    <a:pt x="40" y="8"/>
                  </a:lnTo>
                  <a:lnTo>
                    <a:pt x="42" y="14"/>
                  </a:lnTo>
                  <a:lnTo>
                    <a:pt x="45" y="16"/>
                  </a:lnTo>
                  <a:lnTo>
                    <a:pt x="45" y="19"/>
                  </a:lnTo>
                  <a:lnTo>
                    <a:pt x="45" y="21"/>
                  </a:lnTo>
                  <a:close/>
                </a:path>
              </a:pathLst>
            </a:custGeom>
            <a:solidFill>
              <a:srgbClr val="000000"/>
            </a:solidFill>
            <a:ln w="9525">
              <a:noFill/>
              <a:round/>
              <a:headEnd/>
              <a:tailEnd/>
            </a:ln>
          </p:spPr>
          <p:txBody>
            <a:bodyPr/>
            <a:lstStyle/>
            <a:p>
              <a:endParaRPr lang="zh-CN" altLang="en-US">
                <a:latin typeface="+mn-lt"/>
              </a:endParaRPr>
            </a:p>
          </p:txBody>
        </p:sp>
        <p:sp>
          <p:nvSpPr>
            <p:cNvPr id="77" name="Freeform 118"/>
            <p:cNvSpPr>
              <a:spLocks/>
            </p:cNvSpPr>
            <p:nvPr/>
          </p:nvSpPr>
          <p:spPr bwMode="auto">
            <a:xfrm>
              <a:off x="2899" y="1295"/>
              <a:ext cx="45" cy="45"/>
            </a:xfrm>
            <a:custGeom>
              <a:avLst/>
              <a:gdLst/>
              <a:ahLst/>
              <a:cxnLst>
                <a:cxn ang="0">
                  <a:pos x="45" y="21"/>
                </a:cxn>
                <a:cxn ang="0">
                  <a:pos x="45" y="19"/>
                </a:cxn>
                <a:cxn ang="0">
                  <a:pos x="45" y="16"/>
                </a:cxn>
                <a:cxn ang="0">
                  <a:pos x="42" y="14"/>
                </a:cxn>
                <a:cxn ang="0">
                  <a:pos x="40" y="8"/>
                </a:cxn>
                <a:cxn ang="0">
                  <a:pos x="40" y="6"/>
                </a:cxn>
                <a:cxn ang="0">
                  <a:pos x="37" y="6"/>
                </a:cxn>
                <a:cxn ang="0">
                  <a:pos x="35" y="3"/>
                </a:cxn>
                <a:cxn ang="0">
                  <a:pos x="29" y="0"/>
                </a:cxn>
                <a:cxn ang="0">
                  <a:pos x="27" y="0"/>
                </a:cxn>
                <a:cxn ang="0">
                  <a:pos x="24" y="0"/>
                </a:cxn>
                <a:cxn ang="0">
                  <a:pos x="19" y="0"/>
                </a:cxn>
                <a:cxn ang="0">
                  <a:pos x="16" y="0"/>
                </a:cxn>
                <a:cxn ang="0">
                  <a:pos x="13" y="3"/>
                </a:cxn>
                <a:cxn ang="0">
                  <a:pos x="11" y="6"/>
                </a:cxn>
                <a:cxn ang="0">
                  <a:pos x="8" y="6"/>
                </a:cxn>
                <a:cxn ang="0">
                  <a:pos x="5" y="8"/>
                </a:cxn>
                <a:cxn ang="0">
                  <a:pos x="3" y="14"/>
                </a:cxn>
                <a:cxn ang="0">
                  <a:pos x="3" y="16"/>
                </a:cxn>
                <a:cxn ang="0">
                  <a:pos x="0" y="19"/>
                </a:cxn>
                <a:cxn ang="0">
                  <a:pos x="0" y="21"/>
                </a:cxn>
                <a:cxn ang="0">
                  <a:pos x="0" y="27"/>
                </a:cxn>
                <a:cxn ang="0">
                  <a:pos x="3" y="29"/>
                </a:cxn>
                <a:cxn ang="0">
                  <a:pos x="3" y="32"/>
                </a:cxn>
                <a:cxn ang="0">
                  <a:pos x="5" y="35"/>
                </a:cxn>
                <a:cxn ang="0">
                  <a:pos x="8" y="37"/>
                </a:cxn>
                <a:cxn ang="0">
                  <a:pos x="11" y="40"/>
                </a:cxn>
                <a:cxn ang="0">
                  <a:pos x="13" y="43"/>
                </a:cxn>
                <a:cxn ang="0">
                  <a:pos x="16" y="43"/>
                </a:cxn>
                <a:cxn ang="0">
                  <a:pos x="19" y="45"/>
                </a:cxn>
                <a:cxn ang="0">
                  <a:pos x="24" y="45"/>
                </a:cxn>
                <a:cxn ang="0">
                  <a:pos x="27" y="45"/>
                </a:cxn>
                <a:cxn ang="0">
                  <a:pos x="29" y="43"/>
                </a:cxn>
                <a:cxn ang="0">
                  <a:pos x="35" y="43"/>
                </a:cxn>
                <a:cxn ang="0">
                  <a:pos x="37" y="40"/>
                </a:cxn>
                <a:cxn ang="0">
                  <a:pos x="40" y="37"/>
                </a:cxn>
                <a:cxn ang="0">
                  <a:pos x="40" y="35"/>
                </a:cxn>
                <a:cxn ang="0">
                  <a:pos x="42" y="32"/>
                </a:cxn>
                <a:cxn ang="0">
                  <a:pos x="45" y="29"/>
                </a:cxn>
                <a:cxn ang="0">
                  <a:pos x="45" y="27"/>
                </a:cxn>
                <a:cxn ang="0">
                  <a:pos x="45" y="21"/>
                </a:cxn>
                <a:cxn ang="0">
                  <a:pos x="45" y="21"/>
                </a:cxn>
              </a:cxnLst>
              <a:rect l="0" t="0" r="r" b="b"/>
              <a:pathLst>
                <a:path w="45" h="45">
                  <a:moveTo>
                    <a:pt x="45" y="21"/>
                  </a:moveTo>
                  <a:lnTo>
                    <a:pt x="45" y="19"/>
                  </a:lnTo>
                  <a:lnTo>
                    <a:pt x="45" y="16"/>
                  </a:lnTo>
                  <a:lnTo>
                    <a:pt x="42" y="14"/>
                  </a:lnTo>
                  <a:lnTo>
                    <a:pt x="40" y="8"/>
                  </a:lnTo>
                  <a:lnTo>
                    <a:pt x="40" y="6"/>
                  </a:lnTo>
                  <a:lnTo>
                    <a:pt x="37" y="6"/>
                  </a:lnTo>
                  <a:lnTo>
                    <a:pt x="35" y="3"/>
                  </a:lnTo>
                  <a:lnTo>
                    <a:pt x="29" y="0"/>
                  </a:lnTo>
                  <a:lnTo>
                    <a:pt x="27" y="0"/>
                  </a:lnTo>
                  <a:lnTo>
                    <a:pt x="24" y="0"/>
                  </a:lnTo>
                  <a:lnTo>
                    <a:pt x="19" y="0"/>
                  </a:lnTo>
                  <a:lnTo>
                    <a:pt x="16" y="0"/>
                  </a:lnTo>
                  <a:lnTo>
                    <a:pt x="13" y="3"/>
                  </a:lnTo>
                  <a:lnTo>
                    <a:pt x="11" y="6"/>
                  </a:lnTo>
                  <a:lnTo>
                    <a:pt x="8" y="6"/>
                  </a:lnTo>
                  <a:lnTo>
                    <a:pt x="5" y="8"/>
                  </a:lnTo>
                  <a:lnTo>
                    <a:pt x="3" y="14"/>
                  </a:lnTo>
                  <a:lnTo>
                    <a:pt x="3" y="16"/>
                  </a:lnTo>
                  <a:lnTo>
                    <a:pt x="0" y="19"/>
                  </a:lnTo>
                  <a:lnTo>
                    <a:pt x="0" y="21"/>
                  </a:lnTo>
                  <a:lnTo>
                    <a:pt x="0" y="27"/>
                  </a:lnTo>
                  <a:lnTo>
                    <a:pt x="3" y="29"/>
                  </a:lnTo>
                  <a:lnTo>
                    <a:pt x="3" y="32"/>
                  </a:lnTo>
                  <a:lnTo>
                    <a:pt x="5" y="35"/>
                  </a:lnTo>
                  <a:lnTo>
                    <a:pt x="8" y="37"/>
                  </a:lnTo>
                  <a:lnTo>
                    <a:pt x="11" y="40"/>
                  </a:lnTo>
                  <a:lnTo>
                    <a:pt x="13" y="43"/>
                  </a:lnTo>
                  <a:lnTo>
                    <a:pt x="16" y="43"/>
                  </a:lnTo>
                  <a:lnTo>
                    <a:pt x="19" y="45"/>
                  </a:lnTo>
                  <a:lnTo>
                    <a:pt x="24" y="45"/>
                  </a:lnTo>
                  <a:lnTo>
                    <a:pt x="27" y="45"/>
                  </a:lnTo>
                  <a:lnTo>
                    <a:pt x="29" y="43"/>
                  </a:lnTo>
                  <a:lnTo>
                    <a:pt x="35" y="43"/>
                  </a:lnTo>
                  <a:lnTo>
                    <a:pt x="37" y="40"/>
                  </a:lnTo>
                  <a:lnTo>
                    <a:pt x="40" y="37"/>
                  </a:lnTo>
                  <a:lnTo>
                    <a:pt x="40" y="35"/>
                  </a:lnTo>
                  <a:lnTo>
                    <a:pt x="42" y="32"/>
                  </a:lnTo>
                  <a:lnTo>
                    <a:pt x="45" y="29"/>
                  </a:lnTo>
                  <a:lnTo>
                    <a:pt x="45" y="27"/>
                  </a:lnTo>
                  <a:lnTo>
                    <a:pt x="45" y="21"/>
                  </a:lnTo>
                  <a:lnTo>
                    <a:pt x="45" y="21"/>
                  </a:lnTo>
                </a:path>
              </a:pathLst>
            </a:custGeom>
            <a:noFill/>
            <a:ln w="33338">
              <a:solidFill>
                <a:srgbClr val="000000"/>
              </a:solidFill>
              <a:prstDash val="solid"/>
              <a:round/>
              <a:headEnd/>
              <a:tailEnd/>
            </a:ln>
          </p:spPr>
          <p:txBody>
            <a:bodyPr/>
            <a:lstStyle/>
            <a:p>
              <a:endParaRPr lang="zh-CN" altLang="en-US">
                <a:latin typeface="+mn-lt"/>
              </a:endParaRPr>
            </a:p>
          </p:txBody>
        </p:sp>
      </p:grpSp>
      <p:grpSp>
        <p:nvGrpSpPr>
          <p:cNvPr id="78" name="Group 119"/>
          <p:cNvGrpSpPr>
            <a:grpSpLocks/>
          </p:cNvGrpSpPr>
          <p:nvPr/>
        </p:nvGrpSpPr>
        <p:grpSpPr bwMode="auto">
          <a:xfrm>
            <a:off x="9868272" y="4666526"/>
            <a:ext cx="1304838" cy="375723"/>
            <a:chOff x="3792" y="3293"/>
            <a:chExt cx="720" cy="203"/>
          </a:xfrm>
        </p:grpSpPr>
        <p:sp>
          <p:nvSpPr>
            <p:cNvPr id="79" name="Rectangle 120"/>
            <p:cNvSpPr>
              <a:spLocks noChangeArrowheads="1"/>
            </p:cNvSpPr>
            <p:nvPr/>
          </p:nvSpPr>
          <p:spPr bwMode="auto">
            <a:xfrm>
              <a:off x="3792" y="3293"/>
              <a:ext cx="650" cy="148"/>
            </a:xfrm>
            <a:prstGeom prst="rect">
              <a:avLst/>
            </a:prstGeom>
            <a:noFill/>
            <a:ln w="12700">
              <a:noFill/>
              <a:miter lim="800000"/>
              <a:headEnd/>
              <a:tailEnd/>
            </a:ln>
            <a:effectLst/>
          </p:spPr>
          <p:txBody>
            <a:bodyPr wrap="none" lIns="90488" tIns="44450" rIns="90488" bIns="44450">
              <a:spAutoFit/>
            </a:bodyPr>
            <a:lstStyle/>
            <a:p>
              <a:r>
                <a:rPr lang="en-US" altLang="zh-CN" sz="1200" dirty="0">
                  <a:latin typeface="+mn-lt"/>
                </a:rPr>
                <a:t>State  Tag   Data</a:t>
              </a:r>
            </a:p>
          </p:txBody>
        </p:sp>
        <p:sp>
          <p:nvSpPr>
            <p:cNvPr id="80" name="Rectangle 121"/>
            <p:cNvSpPr>
              <a:spLocks noChangeArrowheads="1"/>
            </p:cNvSpPr>
            <p:nvPr/>
          </p:nvSpPr>
          <p:spPr bwMode="auto">
            <a:xfrm>
              <a:off x="3840" y="3312"/>
              <a:ext cx="672" cy="184"/>
            </a:xfrm>
            <a:prstGeom prst="rect">
              <a:avLst/>
            </a:prstGeom>
            <a:noFill/>
            <a:ln w="12700">
              <a:solidFill>
                <a:schemeClr val="tx1"/>
              </a:solidFill>
              <a:miter lim="800000"/>
              <a:headEnd/>
              <a:tailEnd/>
            </a:ln>
            <a:effectLst/>
          </p:spPr>
          <p:txBody>
            <a:bodyPr wrap="none" anchor="ctr"/>
            <a:lstStyle/>
            <a:p>
              <a:endParaRPr lang="zh-CN" altLang="en-US">
                <a:latin typeface="+mn-lt"/>
              </a:endParaRPr>
            </a:p>
          </p:txBody>
        </p:sp>
        <p:sp>
          <p:nvSpPr>
            <p:cNvPr id="81" name="Line 122"/>
            <p:cNvSpPr>
              <a:spLocks noChangeShapeType="1"/>
            </p:cNvSpPr>
            <p:nvPr/>
          </p:nvSpPr>
          <p:spPr bwMode="auto">
            <a:xfrm>
              <a:off x="4053" y="3312"/>
              <a:ext cx="0" cy="184"/>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82" name="Line 123"/>
            <p:cNvSpPr>
              <a:spLocks noChangeShapeType="1"/>
            </p:cNvSpPr>
            <p:nvPr/>
          </p:nvSpPr>
          <p:spPr bwMode="auto">
            <a:xfrm>
              <a:off x="4207" y="3312"/>
              <a:ext cx="0" cy="184"/>
            </a:xfrm>
            <a:prstGeom prst="line">
              <a:avLst/>
            </a:prstGeom>
            <a:noFill/>
            <a:ln w="12700">
              <a:solidFill>
                <a:schemeClr val="tx1"/>
              </a:solidFill>
              <a:round/>
              <a:headEnd/>
              <a:tailEnd/>
            </a:ln>
            <a:effectLst/>
          </p:spPr>
          <p:txBody>
            <a:bodyPr wrap="none" anchor="ctr"/>
            <a:lstStyle/>
            <a:p>
              <a:endParaRPr lang="zh-CN" altLang="en-US">
                <a:latin typeface="+mn-lt"/>
              </a:endParaRPr>
            </a:p>
          </p:txBody>
        </p:sp>
      </p:grpSp>
      <p:sp>
        <p:nvSpPr>
          <p:cNvPr id="83" name="文本框 82"/>
          <p:cNvSpPr txBox="1"/>
          <p:nvPr/>
        </p:nvSpPr>
        <p:spPr>
          <a:xfrm>
            <a:off x="7454578" y="4181018"/>
            <a:ext cx="3482813" cy="400110"/>
          </a:xfrm>
          <a:prstGeom prst="rect">
            <a:avLst/>
          </a:prstGeom>
          <a:noFill/>
        </p:spPr>
        <p:txBody>
          <a:bodyPr wrap="none" rtlCol="0">
            <a:spAutoFit/>
          </a:bodyPr>
          <a:lstStyle/>
          <a:p>
            <a:r>
              <a:rPr lang="en-US" altLang="zh-CN" sz="2000" dirty="0">
                <a:latin typeface="+mn-lt"/>
              </a:rPr>
              <a:t>write-through write-no-allocate</a:t>
            </a:r>
            <a:endParaRPr lang="zh-CN" altLang="en-US" sz="2000" dirty="0">
              <a:latin typeface="+mn-lt"/>
            </a:endParaRPr>
          </a:p>
        </p:txBody>
      </p:sp>
    </p:spTree>
    <p:extLst>
      <p:ext uri="{BB962C8B-B14F-4D97-AF65-F5344CB8AC3E}">
        <p14:creationId xmlns:p14="http://schemas.microsoft.com/office/powerpoint/2010/main" val="374681870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使无效与更新</a:t>
            </a:r>
            <a:endParaRPr kumimoji="1" lang="zh-CN" altLang="en-US" dirty="0"/>
          </a:p>
        </p:txBody>
      </p:sp>
      <p:sp>
        <p:nvSpPr>
          <p:cNvPr id="3" name="内容占位符 2"/>
          <p:cNvSpPr>
            <a:spLocks noGrp="1"/>
          </p:cNvSpPr>
          <p:nvPr>
            <p:ph idx="1"/>
          </p:nvPr>
        </p:nvSpPr>
        <p:spPr>
          <a:xfrm>
            <a:off x="623392" y="1700808"/>
            <a:ext cx="9536608" cy="4322068"/>
          </a:xfrm>
        </p:spPr>
        <p:txBody>
          <a:bodyPr/>
          <a:lstStyle/>
          <a:p>
            <a:r>
              <a:rPr lang="zh-CN" altLang="en-US" dirty="0"/>
              <a:t>关于</a:t>
            </a:r>
            <a:r>
              <a:rPr kumimoji="1" lang="zh-CN" altLang="en-US" dirty="0"/>
              <a:t>程序行为的简单问题</a:t>
            </a:r>
            <a:endParaRPr kumimoji="1" lang="en-US" altLang="zh-CN" dirty="0"/>
          </a:p>
          <a:p>
            <a:pPr lvl="1"/>
            <a:r>
              <a:rPr lang="zh-CN" altLang="en-US" dirty="0"/>
              <a:t>写过的块在被重写前，是否会被其它处理器读？</a:t>
            </a:r>
            <a:endParaRPr lang="en-US" altLang="zh-CN" dirty="0"/>
          </a:p>
          <a:p>
            <a:r>
              <a:rPr kumimoji="1" lang="zh-CN" altLang="en-US" dirty="0"/>
              <a:t>写使无效</a:t>
            </a:r>
            <a:endParaRPr kumimoji="1" lang="en-US" altLang="zh-CN" dirty="0"/>
          </a:p>
          <a:p>
            <a:pPr lvl="1"/>
            <a:r>
              <a:rPr lang="zh-CN" altLang="en-US" dirty="0"/>
              <a:t>会读：读的处理器遭遇不命中</a:t>
            </a:r>
            <a:endParaRPr lang="en-US" altLang="zh-CN" dirty="0"/>
          </a:p>
          <a:p>
            <a:pPr lvl="1"/>
            <a:r>
              <a:rPr kumimoji="1" lang="zh-CN" altLang="en-US" dirty="0"/>
              <a:t>不会：多个相继的写操作不产生额外流量</a:t>
            </a:r>
            <a:endParaRPr kumimoji="1" lang="en-US" altLang="zh-CN" dirty="0"/>
          </a:p>
          <a:p>
            <a:pPr lvl="2"/>
            <a:r>
              <a:rPr lang="zh-CN" altLang="en-US" dirty="0"/>
              <a:t>还清除了不再被使用的数据副本</a:t>
            </a:r>
            <a:endParaRPr lang="en-US" altLang="zh-CN" dirty="0"/>
          </a:p>
          <a:p>
            <a:r>
              <a:rPr kumimoji="1" lang="zh-CN" altLang="en-US" dirty="0"/>
              <a:t>写更新</a:t>
            </a:r>
            <a:endParaRPr kumimoji="1" lang="en-US" altLang="zh-CN" dirty="0"/>
          </a:p>
          <a:p>
            <a:pPr lvl="1"/>
            <a:r>
              <a:rPr lang="zh-CN" altLang="en-US" dirty="0"/>
              <a:t>会读：读的处理器避免了不命中</a:t>
            </a:r>
            <a:endParaRPr lang="en-US" altLang="zh-CN" dirty="0"/>
          </a:p>
          <a:p>
            <a:pPr lvl="1"/>
            <a:r>
              <a:rPr kumimoji="1" lang="zh-CN" altLang="en-US" dirty="0"/>
              <a:t>不会：若干无用的更新浪费流量和</a:t>
            </a:r>
            <a:r>
              <a:rPr kumimoji="1" lang="en-US" altLang="zh-CN" dirty="0"/>
              <a:t>cache</a:t>
            </a:r>
            <a:r>
              <a:rPr kumimoji="1" lang="zh-CN" altLang="en-US" dirty="0"/>
              <a:t>空间</a:t>
            </a:r>
            <a:endParaRPr kumimoji="1" lang="en-US" altLang="zh-CN" dirty="0"/>
          </a:p>
          <a:p>
            <a:r>
              <a:rPr lang="zh-CN" altLang="en-US" dirty="0"/>
              <a:t>依赖于程序的访问行为及硬件实现复杂度</a:t>
            </a:r>
            <a:endParaRPr lang="en-US" altLang="zh-CN" dirty="0"/>
          </a:p>
          <a:p>
            <a:pPr lvl="1"/>
            <a:r>
              <a:rPr kumimoji="1" lang="zh-CN" altLang="en-US" dirty="0"/>
              <a:t>但</a:t>
            </a:r>
            <a:r>
              <a:rPr kumimoji="1" lang="zh-CN" altLang="en-US" dirty="0">
                <a:solidFill>
                  <a:srgbClr val="FF0000"/>
                </a:solidFill>
              </a:rPr>
              <a:t>首先需要保证正确性</a:t>
            </a:r>
          </a:p>
        </p:txBody>
      </p:sp>
    </p:spTree>
    <p:extLst>
      <p:ext uri="{BB962C8B-B14F-4D97-AF65-F5344CB8AC3E}">
        <p14:creationId xmlns:p14="http://schemas.microsoft.com/office/powerpoint/2010/main" val="34581388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重新审视存储器模型</a:t>
            </a:r>
            <a:endParaRPr kumimoji="1" lang="zh-CN" altLang="en-US" dirty="0"/>
          </a:p>
        </p:txBody>
      </p:sp>
      <p:sp>
        <p:nvSpPr>
          <p:cNvPr id="3" name="内容占位符 2"/>
          <p:cNvSpPr>
            <a:spLocks noGrp="1"/>
          </p:cNvSpPr>
          <p:nvPr>
            <p:ph idx="1"/>
          </p:nvPr>
        </p:nvSpPr>
        <p:spPr/>
        <p:txBody>
          <a:bodyPr/>
          <a:lstStyle/>
          <a:p>
            <a:pPr>
              <a:lnSpc>
                <a:spcPct val="100000"/>
              </a:lnSpc>
            </a:pPr>
            <a:r>
              <a:rPr lang="zh-CN" altLang="en-US" dirty="0" smtClean="0"/>
              <a:t>直观的存储器模型？？？</a:t>
            </a:r>
            <a:endParaRPr lang="en-US" altLang="zh-CN" dirty="0" smtClean="0"/>
          </a:p>
          <a:p>
            <a:pPr lvl="1">
              <a:lnSpc>
                <a:spcPct val="100000"/>
              </a:lnSpc>
            </a:pPr>
            <a:r>
              <a:rPr lang="zh-CN" altLang="en-US" dirty="0" smtClean="0"/>
              <a:t>读一个地址时，应该</a:t>
            </a:r>
            <a:r>
              <a:rPr lang="en-US" altLang="zh-CN" dirty="0" smtClean="0"/>
              <a:t/>
            </a:r>
            <a:br>
              <a:rPr lang="en-US" altLang="zh-CN" dirty="0" smtClean="0"/>
            </a:br>
            <a:r>
              <a:rPr lang="zh-CN" altLang="en-US" dirty="0" smtClean="0">
                <a:solidFill>
                  <a:srgbClr val="FF0000"/>
                </a:solidFill>
              </a:rPr>
              <a:t>返回</a:t>
            </a:r>
            <a:r>
              <a:rPr lang="zh-CN" altLang="en-US" dirty="0" smtClean="0">
                <a:solidFill>
                  <a:srgbClr val="00B050"/>
                </a:solidFill>
              </a:rPr>
              <a:t>最近一次</a:t>
            </a:r>
            <a:r>
              <a:rPr lang="zh-CN" altLang="en-US" dirty="0"/>
              <a:t>写入该地址的</a:t>
            </a:r>
            <a:r>
              <a:rPr lang="zh-CN" altLang="en-US" dirty="0">
                <a:solidFill>
                  <a:srgbClr val="FF0000"/>
                </a:solidFill>
              </a:rPr>
              <a:t>值</a:t>
            </a:r>
            <a:endParaRPr lang="en-US" altLang="zh-CN" dirty="0">
              <a:solidFill>
                <a:srgbClr val="FF0000"/>
              </a:solidFill>
            </a:endParaRPr>
          </a:p>
          <a:p>
            <a:pPr lvl="1">
              <a:lnSpc>
                <a:spcPct val="100000"/>
              </a:lnSpc>
            </a:pPr>
            <a:r>
              <a:rPr kumimoji="1" lang="zh-CN" altLang="en-US" dirty="0" smtClean="0"/>
              <a:t>这个要求对多处理机</a:t>
            </a:r>
            <a:r>
              <a:rPr kumimoji="1" lang="en-US" altLang="zh-CN" dirty="0" smtClean="0"/>
              <a:t/>
            </a:r>
            <a:br>
              <a:rPr kumimoji="1" lang="en-US" altLang="zh-CN" dirty="0" smtClean="0"/>
            </a:br>
            <a:r>
              <a:rPr kumimoji="1" lang="zh-CN" altLang="en-US" dirty="0" smtClean="0"/>
              <a:t>意味着什么？</a:t>
            </a:r>
            <a:endParaRPr kumimoji="1" lang="en-US" altLang="zh-CN" dirty="0" smtClean="0"/>
          </a:p>
          <a:p>
            <a:pPr>
              <a:lnSpc>
                <a:spcPct val="100000"/>
              </a:lnSpc>
            </a:pPr>
            <a:r>
              <a:rPr lang="zh-CN" altLang="en-US" dirty="0" smtClean="0"/>
              <a:t>涉及两方面问题</a:t>
            </a:r>
            <a:endParaRPr lang="en-US" altLang="zh-CN" dirty="0" smtClean="0"/>
          </a:p>
          <a:p>
            <a:pPr lvl="1">
              <a:lnSpc>
                <a:spcPct val="100000"/>
              </a:lnSpc>
            </a:pPr>
            <a:r>
              <a:rPr kumimoji="1" lang="zh-CN" altLang="en-US" dirty="0" smtClean="0"/>
              <a:t>如何定义</a:t>
            </a:r>
            <a:r>
              <a:rPr kumimoji="1" lang="zh-CN" altLang="en-US" dirty="0" smtClean="0">
                <a:solidFill>
                  <a:srgbClr val="00B050"/>
                </a:solidFill>
              </a:rPr>
              <a:t>最近一次</a:t>
            </a:r>
            <a:r>
              <a:rPr kumimoji="1" lang="zh-CN" altLang="en-US" dirty="0" smtClean="0"/>
              <a:t>？</a:t>
            </a:r>
            <a:endParaRPr kumimoji="1" lang="en-US" altLang="zh-CN" dirty="0" smtClean="0"/>
          </a:p>
          <a:p>
            <a:pPr lvl="1">
              <a:lnSpc>
                <a:spcPct val="100000"/>
              </a:lnSpc>
            </a:pPr>
            <a:r>
              <a:rPr lang="zh-CN" altLang="en-US" dirty="0" smtClean="0"/>
              <a:t>如何</a:t>
            </a:r>
            <a:r>
              <a:rPr lang="zh-CN" altLang="en-US" dirty="0" smtClean="0">
                <a:solidFill>
                  <a:srgbClr val="FF0000"/>
                </a:solidFill>
              </a:rPr>
              <a:t>返回值</a:t>
            </a:r>
            <a:r>
              <a:rPr lang="zh-CN" altLang="en-US" dirty="0" smtClean="0"/>
              <a:t>？</a:t>
            </a:r>
            <a:endParaRPr kumimoji="1" lang="zh-CN" altLang="en-US" dirty="0"/>
          </a:p>
        </p:txBody>
      </p:sp>
      <p:grpSp>
        <p:nvGrpSpPr>
          <p:cNvPr id="6" name="Group 25"/>
          <p:cNvGrpSpPr>
            <a:grpSpLocks/>
          </p:cNvGrpSpPr>
          <p:nvPr/>
        </p:nvGrpSpPr>
        <p:grpSpPr bwMode="auto">
          <a:xfrm>
            <a:off x="5735961" y="2504926"/>
            <a:ext cx="3816425" cy="3477311"/>
            <a:chOff x="995" y="676"/>
            <a:chExt cx="1929" cy="1816"/>
          </a:xfrm>
        </p:grpSpPr>
        <p:sp>
          <p:nvSpPr>
            <p:cNvPr id="7" name="Line 2"/>
            <p:cNvSpPr>
              <a:spLocks noChangeShapeType="1"/>
            </p:cNvSpPr>
            <p:nvPr/>
          </p:nvSpPr>
          <p:spPr bwMode="auto">
            <a:xfrm flipH="1">
              <a:off x="1955" y="976"/>
              <a:ext cx="221" cy="1030"/>
            </a:xfrm>
            <a:prstGeom prst="line">
              <a:avLst/>
            </a:prstGeom>
            <a:noFill/>
            <a:ln w="50800">
              <a:pattFill prst="pct50">
                <a:fgClr>
                  <a:schemeClr val="tx1"/>
                </a:fgClr>
                <a:bgClr>
                  <a:schemeClr val="bg1"/>
                </a:bgClr>
              </a:pattFill>
              <a:round/>
              <a:headEnd/>
              <a:tailEnd/>
            </a:ln>
            <a:effectLst/>
          </p:spPr>
          <p:txBody>
            <a:bodyPr wrap="none" anchor="ctr"/>
            <a:lstStyle/>
            <a:p>
              <a:endParaRPr lang="zh-CN" altLang="en-US">
                <a:latin typeface="+mn-lt"/>
              </a:endParaRPr>
            </a:p>
          </p:txBody>
        </p:sp>
        <p:sp>
          <p:nvSpPr>
            <p:cNvPr id="8" name="Rectangle 4"/>
            <p:cNvSpPr>
              <a:spLocks noChangeArrowheads="1"/>
            </p:cNvSpPr>
            <p:nvPr/>
          </p:nvSpPr>
          <p:spPr bwMode="auto">
            <a:xfrm>
              <a:off x="2099" y="731"/>
              <a:ext cx="152"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P</a:t>
              </a:r>
            </a:p>
          </p:txBody>
        </p:sp>
        <p:sp>
          <p:nvSpPr>
            <p:cNvPr id="9" name="Oval 5"/>
            <p:cNvSpPr>
              <a:spLocks noChangeArrowheads="1"/>
            </p:cNvSpPr>
            <p:nvPr/>
          </p:nvSpPr>
          <p:spPr bwMode="auto">
            <a:xfrm>
              <a:off x="2068" y="676"/>
              <a:ext cx="232" cy="280"/>
            </a:xfrm>
            <a:prstGeom prst="ellipse">
              <a:avLst/>
            </a:prstGeom>
            <a:noFill/>
            <a:ln w="12700">
              <a:solidFill>
                <a:schemeClr val="tx1"/>
              </a:solidFill>
              <a:round/>
              <a:headEnd/>
              <a:tailEnd/>
            </a:ln>
            <a:effectLst/>
          </p:spPr>
          <p:txBody>
            <a:bodyPr wrap="none" anchor="ctr"/>
            <a:lstStyle/>
            <a:p>
              <a:endParaRPr lang="zh-CN" altLang="en-US">
                <a:latin typeface="+mn-lt"/>
              </a:endParaRPr>
            </a:p>
          </p:txBody>
        </p:sp>
        <p:sp>
          <p:nvSpPr>
            <p:cNvPr id="10" name="Line 6"/>
            <p:cNvSpPr>
              <a:spLocks noChangeShapeType="1"/>
            </p:cNvSpPr>
            <p:nvPr/>
          </p:nvSpPr>
          <p:spPr bwMode="auto">
            <a:xfrm flipH="1">
              <a:off x="1244" y="964"/>
              <a:ext cx="920" cy="148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1" name="Line 7"/>
            <p:cNvSpPr>
              <a:spLocks noChangeShapeType="1"/>
            </p:cNvSpPr>
            <p:nvPr/>
          </p:nvSpPr>
          <p:spPr bwMode="auto">
            <a:xfrm>
              <a:off x="2164" y="964"/>
              <a:ext cx="760" cy="1528"/>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2" name="Line 8"/>
            <p:cNvSpPr>
              <a:spLocks noChangeShapeType="1"/>
            </p:cNvSpPr>
            <p:nvPr/>
          </p:nvSpPr>
          <p:spPr bwMode="auto">
            <a:xfrm>
              <a:off x="1924" y="1344"/>
              <a:ext cx="424"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3" name="Line 9"/>
            <p:cNvSpPr>
              <a:spLocks noChangeShapeType="1"/>
            </p:cNvSpPr>
            <p:nvPr/>
          </p:nvSpPr>
          <p:spPr bwMode="auto">
            <a:xfrm>
              <a:off x="1684" y="1728"/>
              <a:ext cx="856"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4" name="Line 10"/>
            <p:cNvSpPr>
              <a:spLocks noChangeShapeType="1"/>
            </p:cNvSpPr>
            <p:nvPr/>
          </p:nvSpPr>
          <p:spPr bwMode="auto">
            <a:xfrm>
              <a:off x="1444" y="2112"/>
              <a:ext cx="1288"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5" name="Line 11"/>
            <p:cNvSpPr>
              <a:spLocks noChangeShapeType="1"/>
            </p:cNvSpPr>
            <p:nvPr/>
          </p:nvSpPr>
          <p:spPr bwMode="auto">
            <a:xfrm>
              <a:off x="1252" y="2448"/>
              <a:ext cx="1672" cy="0"/>
            </a:xfrm>
            <a:prstGeom prst="line">
              <a:avLst/>
            </a:prstGeom>
            <a:noFill/>
            <a:ln w="12700">
              <a:solidFill>
                <a:schemeClr val="tx1"/>
              </a:solidFill>
              <a:round/>
              <a:headEnd/>
              <a:tailEnd/>
            </a:ln>
            <a:effectLst/>
          </p:spPr>
          <p:txBody>
            <a:bodyPr wrap="none" anchor="ctr"/>
            <a:lstStyle/>
            <a:p>
              <a:endParaRPr lang="zh-CN" altLang="en-US">
                <a:latin typeface="+mn-lt"/>
              </a:endParaRPr>
            </a:p>
          </p:txBody>
        </p:sp>
        <p:sp>
          <p:nvSpPr>
            <p:cNvPr id="16" name="Rectangle 12"/>
            <p:cNvSpPr>
              <a:spLocks noChangeArrowheads="1"/>
            </p:cNvSpPr>
            <p:nvPr/>
          </p:nvSpPr>
          <p:spPr bwMode="auto">
            <a:xfrm>
              <a:off x="1043" y="2218"/>
              <a:ext cx="289"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Disk</a:t>
              </a:r>
            </a:p>
          </p:txBody>
        </p:sp>
        <p:sp>
          <p:nvSpPr>
            <p:cNvPr id="17" name="Rectangle 13"/>
            <p:cNvSpPr>
              <a:spLocks noChangeArrowheads="1"/>
            </p:cNvSpPr>
            <p:nvPr/>
          </p:nvSpPr>
          <p:spPr bwMode="auto">
            <a:xfrm>
              <a:off x="995" y="1883"/>
              <a:ext cx="499"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Memory</a:t>
              </a:r>
            </a:p>
          </p:txBody>
        </p:sp>
        <p:sp>
          <p:nvSpPr>
            <p:cNvPr id="18" name="Rectangle 14"/>
            <p:cNvSpPr>
              <a:spLocks noChangeArrowheads="1"/>
            </p:cNvSpPr>
            <p:nvPr/>
          </p:nvSpPr>
          <p:spPr bwMode="auto">
            <a:xfrm>
              <a:off x="1523" y="1404"/>
              <a:ext cx="201"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L2</a:t>
              </a:r>
            </a:p>
          </p:txBody>
        </p:sp>
        <p:sp>
          <p:nvSpPr>
            <p:cNvPr id="19" name="Rectangle 15"/>
            <p:cNvSpPr>
              <a:spLocks noChangeArrowheads="1"/>
            </p:cNvSpPr>
            <p:nvPr/>
          </p:nvSpPr>
          <p:spPr bwMode="auto">
            <a:xfrm>
              <a:off x="1811" y="1019"/>
              <a:ext cx="201" cy="192"/>
            </a:xfrm>
            <a:prstGeom prst="rect">
              <a:avLst/>
            </a:prstGeom>
            <a:noFill/>
            <a:ln w="12700">
              <a:noFill/>
              <a:miter lim="800000"/>
              <a:headEnd/>
              <a:tailEnd/>
            </a:ln>
            <a:effectLst/>
          </p:spPr>
          <p:txBody>
            <a:bodyPr wrap="none" lIns="90488" tIns="44450" rIns="90488" bIns="44450">
              <a:spAutoFit/>
            </a:bodyPr>
            <a:lstStyle/>
            <a:p>
              <a:r>
                <a:rPr lang="en-US" altLang="zh-CN" b="0">
                  <a:latin typeface="+mn-lt"/>
                </a:rPr>
                <a:t>L1</a:t>
              </a:r>
            </a:p>
          </p:txBody>
        </p:sp>
        <p:sp>
          <p:nvSpPr>
            <p:cNvPr id="20" name="Rectangle 16"/>
            <p:cNvSpPr>
              <a:spLocks noChangeArrowheads="1"/>
            </p:cNvSpPr>
            <p:nvPr/>
          </p:nvSpPr>
          <p:spPr bwMode="auto">
            <a:xfrm>
              <a:off x="1762" y="1957"/>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100:34</a:t>
              </a:r>
            </a:p>
          </p:txBody>
        </p:sp>
        <p:sp>
          <p:nvSpPr>
            <p:cNvPr id="21" name="Oval 18"/>
            <p:cNvSpPr>
              <a:spLocks noChangeArrowheads="1"/>
            </p:cNvSpPr>
            <p:nvPr/>
          </p:nvSpPr>
          <p:spPr bwMode="auto">
            <a:xfrm>
              <a:off x="2456" y="680"/>
              <a:ext cx="224" cy="272"/>
            </a:xfrm>
            <a:prstGeom prst="ellips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2" name="Line 19"/>
            <p:cNvSpPr>
              <a:spLocks noChangeShapeType="1"/>
            </p:cNvSpPr>
            <p:nvPr/>
          </p:nvSpPr>
          <p:spPr bwMode="auto">
            <a:xfrm flipH="1">
              <a:off x="1240" y="968"/>
              <a:ext cx="1264" cy="1472"/>
            </a:xfrm>
            <a:prstGeom prst="lin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3" name="Line 20"/>
            <p:cNvSpPr>
              <a:spLocks noChangeShapeType="1"/>
            </p:cNvSpPr>
            <p:nvPr/>
          </p:nvSpPr>
          <p:spPr bwMode="auto">
            <a:xfrm>
              <a:off x="2648" y="968"/>
              <a:ext cx="272" cy="1472"/>
            </a:xfrm>
            <a:prstGeom prst="line">
              <a:avLst/>
            </a:prstGeom>
            <a:noFill/>
            <a:ln w="25400">
              <a:pattFill prst="pct25">
                <a:fgClr>
                  <a:schemeClr val="tx1"/>
                </a:fgClr>
                <a:bgClr>
                  <a:schemeClr val="bg1"/>
                </a:bgClr>
              </a:pattFill>
              <a:round/>
              <a:headEnd/>
              <a:tailEnd/>
            </a:ln>
            <a:effectLst/>
          </p:spPr>
          <p:txBody>
            <a:bodyPr wrap="none" anchor="ctr"/>
            <a:lstStyle/>
            <a:p>
              <a:endParaRPr lang="zh-CN" altLang="en-US">
                <a:latin typeface="+mn-lt"/>
              </a:endParaRPr>
            </a:p>
          </p:txBody>
        </p:sp>
        <p:sp>
          <p:nvSpPr>
            <p:cNvPr id="24" name="Rectangle 21"/>
            <p:cNvSpPr>
              <a:spLocks noChangeArrowheads="1"/>
            </p:cNvSpPr>
            <p:nvPr/>
          </p:nvSpPr>
          <p:spPr bwMode="auto">
            <a:xfrm>
              <a:off x="1907" y="1576"/>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100:35</a:t>
              </a:r>
            </a:p>
          </p:txBody>
        </p:sp>
        <p:sp>
          <p:nvSpPr>
            <p:cNvPr id="25" name="Rectangle 22"/>
            <p:cNvSpPr>
              <a:spLocks noChangeArrowheads="1"/>
            </p:cNvSpPr>
            <p:nvPr/>
          </p:nvSpPr>
          <p:spPr bwMode="auto">
            <a:xfrm>
              <a:off x="1955" y="1199"/>
              <a:ext cx="420" cy="192"/>
            </a:xfrm>
            <a:prstGeom prst="rect">
              <a:avLst/>
            </a:prstGeom>
            <a:noFill/>
            <a:ln w="12700">
              <a:noFill/>
              <a:miter lim="800000"/>
              <a:headEnd/>
              <a:tailEnd/>
            </a:ln>
            <a:effectLst/>
          </p:spPr>
          <p:txBody>
            <a:bodyPr wrap="none" lIns="90488" tIns="44450" rIns="90488" bIns="44450">
              <a:spAutoFit/>
            </a:bodyPr>
            <a:lstStyle/>
            <a:p>
              <a:r>
                <a:rPr lang="zh-CN" altLang="en-US" dirty="0">
                  <a:latin typeface="+mn-lt"/>
                </a:rPr>
                <a:t>100:67</a:t>
              </a:r>
            </a:p>
          </p:txBody>
        </p:sp>
      </p:grpSp>
    </p:spTree>
    <p:extLst>
      <p:ext uri="{BB962C8B-B14F-4D97-AF65-F5344CB8AC3E}">
        <p14:creationId xmlns:p14="http://schemas.microsoft.com/office/powerpoint/2010/main" val="166762111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直观理解中的“最近一次”</a:t>
            </a:r>
            <a:endParaRPr kumimoji="1" lang="zh-CN" altLang="en-US" dirty="0"/>
          </a:p>
        </p:txBody>
      </p:sp>
      <p:sp>
        <p:nvSpPr>
          <p:cNvPr id="3" name="内容占位符 2"/>
          <p:cNvSpPr>
            <a:spLocks noGrp="1"/>
          </p:cNvSpPr>
          <p:nvPr>
            <p:ph idx="1"/>
          </p:nvPr>
        </p:nvSpPr>
        <p:spPr/>
        <p:txBody>
          <a:bodyPr/>
          <a:lstStyle/>
          <a:p>
            <a:r>
              <a:rPr kumimoji="1" lang="zh-CN" altLang="en-US" dirty="0" smtClean="0"/>
              <a:t>“最近一次”或“上次”没有被明确地定义</a:t>
            </a:r>
            <a:endParaRPr kumimoji="1" lang="en-US" altLang="zh-CN" dirty="0" smtClean="0"/>
          </a:p>
          <a:p>
            <a:r>
              <a:rPr lang="zh-CN" altLang="en-US" dirty="0" smtClean="0"/>
              <a:t>在串行程序中，这是通过程序序而非时间定义的</a:t>
            </a:r>
            <a:endParaRPr lang="en-US" altLang="zh-CN" dirty="0" smtClean="0"/>
          </a:p>
          <a:p>
            <a:pPr lvl="1"/>
            <a:r>
              <a:rPr lang="zh-CN" altLang="en-US" dirty="0" smtClean="0"/>
              <a:t>处理器看到的是机器语言程序中呈现的操作次序</a:t>
            </a:r>
            <a:endParaRPr lang="en-US" altLang="zh-CN" dirty="0" smtClean="0"/>
          </a:p>
          <a:p>
            <a:pPr lvl="1"/>
            <a:r>
              <a:rPr lang="zh-CN" altLang="en-US" dirty="0" smtClean="0"/>
              <a:t>“在</a:t>
            </a:r>
            <a:r>
              <a:rPr lang="en-US" altLang="zh-CN" dirty="0" smtClean="0"/>
              <a:t>…</a:t>
            </a:r>
            <a:r>
              <a:rPr lang="zh-CN" altLang="en-US" dirty="0" smtClean="0"/>
              <a:t>前面”、</a:t>
            </a:r>
            <a:r>
              <a:rPr lang="zh-CN" altLang="zh-CN" dirty="0" smtClean="0"/>
              <a:t>“</a:t>
            </a:r>
            <a:r>
              <a:rPr lang="zh-CN" altLang="en-US" dirty="0" smtClean="0"/>
              <a:t>在</a:t>
            </a:r>
            <a:r>
              <a:rPr lang="en-US" altLang="zh-CN" dirty="0" smtClean="0"/>
              <a:t>…</a:t>
            </a:r>
            <a:r>
              <a:rPr lang="zh-CN" altLang="en-US" dirty="0" smtClean="0"/>
              <a:t>后面”的定义也类似</a:t>
            </a:r>
            <a:endParaRPr lang="en-US" altLang="zh-CN" dirty="0" smtClean="0"/>
          </a:p>
          <a:p>
            <a:r>
              <a:rPr lang="zh-CN" altLang="en-US" dirty="0" smtClean="0"/>
              <a:t>在并行程序中</a:t>
            </a:r>
            <a:endParaRPr lang="en-US" altLang="zh-CN" dirty="0" smtClean="0"/>
          </a:p>
          <a:p>
            <a:pPr lvl="1"/>
            <a:r>
              <a:rPr lang="zh-CN" altLang="en-US" dirty="0" smtClean="0"/>
              <a:t>程序序在单个进程中是有定义的</a:t>
            </a:r>
            <a:endParaRPr lang="en-US" altLang="zh-CN" dirty="0" smtClean="0"/>
          </a:p>
          <a:p>
            <a:pPr lvl="1"/>
            <a:r>
              <a:rPr lang="zh-CN" altLang="en-US" dirty="0" smtClean="0"/>
              <a:t>但横跨多个进程的序具有什么含义？该如何定义？</a:t>
            </a:r>
            <a:endParaRPr lang="en-US" altLang="zh-CN" dirty="0" smtClean="0"/>
          </a:p>
          <a:p>
            <a:r>
              <a:rPr lang="zh-CN" altLang="en-US" dirty="0" smtClean="0"/>
              <a:t>必须定义一个有意义的语义</a:t>
            </a:r>
            <a:endParaRPr lang="en-US" altLang="zh-CN" dirty="0" smtClean="0"/>
          </a:p>
          <a:p>
            <a:pPr lvl="1"/>
            <a:r>
              <a:rPr lang="zh-CN" altLang="en-US" dirty="0" smtClean="0"/>
              <a:t>包括“</a:t>
            </a:r>
            <a:r>
              <a:rPr lang="en-US" altLang="zh-CN" dirty="0" smtClean="0"/>
              <a:t>cache</a:t>
            </a:r>
            <a:r>
              <a:rPr lang="zh-CN" altLang="en-US" dirty="0" smtClean="0"/>
              <a:t>同一性”和“存储器一致性”</a:t>
            </a:r>
            <a:endParaRPr lang="en-US" altLang="zh-CN" dirty="0" smtClean="0"/>
          </a:p>
          <a:p>
            <a:pPr lvl="1"/>
            <a:r>
              <a:rPr lang="zh-CN" altLang="en-US" dirty="0" smtClean="0"/>
              <a:t>即“如何返回值”和“什么是最近一次”</a:t>
            </a:r>
            <a:endParaRPr lang="en-US" altLang="zh-CN" dirty="0" smtClean="0"/>
          </a:p>
        </p:txBody>
      </p:sp>
    </p:spTree>
    <p:extLst>
      <p:ext uri="{BB962C8B-B14F-4D97-AF65-F5344CB8AC3E}">
        <p14:creationId xmlns:p14="http://schemas.microsoft.com/office/powerpoint/2010/main" val="368861058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同一性</a:t>
            </a:r>
            <a:r>
              <a:rPr lang="zh-CN" altLang="en-US" dirty="0" smtClean="0"/>
              <a:t>的含义是什么？</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a:t>确实，</a:t>
            </a:r>
            <a:r>
              <a:rPr lang="en-US" altLang="zh-CN" dirty="0"/>
              <a:t>cache</a:t>
            </a:r>
            <a:r>
              <a:rPr lang="zh-CN" altLang="en-US" dirty="0"/>
              <a:t>的透明复制带</a:t>
            </a:r>
            <a:r>
              <a:rPr lang="zh-CN" altLang="en-US" dirty="0" smtClean="0"/>
              <a:t>来了多副本不同一的问题</a:t>
            </a:r>
            <a:endParaRPr lang="en-US" altLang="zh-CN" dirty="0"/>
          </a:p>
          <a:p>
            <a:pPr lvl="1">
              <a:lnSpc>
                <a:spcPct val="100000"/>
              </a:lnSpc>
            </a:pPr>
            <a:r>
              <a:rPr kumimoji="1" lang="zh-CN" altLang="en-US" dirty="0"/>
              <a:t>那么，没有</a:t>
            </a:r>
            <a:r>
              <a:rPr kumimoji="1" lang="en-US" altLang="zh-CN" dirty="0"/>
              <a:t>cache</a:t>
            </a:r>
            <a:r>
              <a:rPr kumimoji="1" lang="zh-CN" altLang="en-US" dirty="0"/>
              <a:t>的情况下，会如何呢？</a:t>
            </a:r>
            <a:endParaRPr kumimoji="1" lang="en-US" altLang="zh-CN" dirty="0"/>
          </a:p>
          <a:p>
            <a:pPr>
              <a:lnSpc>
                <a:spcPct val="100000"/>
              </a:lnSpc>
            </a:pPr>
            <a:r>
              <a:rPr lang="zh-CN" altLang="en-US" dirty="0"/>
              <a:t>每个访存操作都直接针对存储器中的位置</a:t>
            </a:r>
            <a:endParaRPr lang="en-US" altLang="zh-CN" dirty="0"/>
          </a:p>
          <a:p>
            <a:pPr lvl="1">
              <a:lnSpc>
                <a:spcPct val="100000"/>
              </a:lnSpc>
            </a:pPr>
            <a:r>
              <a:rPr kumimoji="1" lang="zh-CN" altLang="en-US" dirty="0"/>
              <a:t>存储器中可能有多个交错访问的存储体</a:t>
            </a:r>
            <a:endParaRPr kumimoji="1" lang="en-US" altLang="zh-CN" dirty="0"/>
          </a:p>
          <a:p>
            <a:pPr lvl="1">
              <a:lnSpc>
                <a:spcPct val="100000"/>
              </a:lnSpc>
            </a:pPr>
            <a:r>
              <a:rPr lang="zh-CN" altLang="en-US" dirty="0"/>
              <a:t>针对一个特定位置的所有操作应该是串行的</a:t>
            </a:r>
            <a:endParaRPr lang="en-US" altLang="zh-CN" dirty="0"/>
          </a:p>
          <a:p>
            <a:pPr lvl="2">
              <a:lnSpc>
                <a:spcPct val="100000"/>
              </a:lnSpc>
            </a:pPr>
            <a:r>
              <a:rPr kumimoji="1" lang="zh-CN" altLang="en-US" dirty="0"/>
              <a:t>所有处理器应该看到该串行次序</a:t>
            </a:r>
            <a:endParaRPr kumimoji="1" lang="en-US" altLang="zh-CN" dirty="0"/>
          </a:p>
          <a:p>
            <a:pPr>
              <a:lnSpc>
                <a:spcPct val="100000"/>
              </a:lnSpc>
            </a:pPr>
            <a:r>
              <a:rPr lang="zh-CN" altLang="en-US" dirty="0"/>
              <a:t>来自不同处理器的访问是交替进行的</a:t>
            </a:r>
            <a:endParaRPr lang="en-US" altLang="zh-CN" dirty="0"/>
          </a:p>
          <a:p>
            <a:pPr lvl="1">
              <a:lnSpc>
                <a:spcPct val="100000"/>
              </a:lnSpc>
            </a:pPr>
            <a:r>
              <a:rPr kumimoji="1" lang="zh-CN" altLang="en-US" dirty="0"/>
              <a:t>在单个处理器内部</a:t>
            </a:r>
            <a:r>
              <a:rPr kumimoji="1" lang="en-US" altLang="zh-CN" dirty="0"/>
              <a:t>=&gt;</a:t>
            </a:r>
            <a:r>
              <a:rPr kumimoji="1" lang="zh-CN" altLang="en-US" dirty="0"/>
              <a:t>程序序</a:t>
            </a:r>
            <a:endParaRPr kumimoji="1" lang="en-US" altLang="zh-CN" dirty="0"/>
          </a:p>
          <a:p>
            <a:pPr lvl="1">
              <a:lnSpc>
                <a:spcPct val="100000"/>
              </a:lnSpc>
            </a:pPr>
            <a:r>
              <a:rPr lang="zh-CN" altLang="en-US" dirty="0"/>
              <a:t>在多个处理器之间无序</a:t>
            </a:r>
            <a:r>
              <a:rPr lang="en-US" altLang="zh-CN" dirty="0"/>
              <a:t>=&gt;</a:t>
            </a:r>
            <a:r>
              <a:rPr lang="zh-CN" altLang="en-US" dirty="0"/>
              <a:t>只受显式同步操作的约束</a:t>
            </a:r>
            <a:endParaRPr lang="en-US" altLang="zh-CN" dirty="0"/>
          </a:p>
          <a:p>
            <a:pPr>
              <a:lnSpc>
                <a:spcPct val="100000"/>
              </a:lnSpc>
            </a:pPr>
            <a:r>
              <a:rPr kumimoji="1" lang="zh-CN" altLang="en-US" dirty="0">
                <a:solidFill>
                  <a:srgbClr val="FF0000"/>
                </a:solidFill>
              </a:rPr>
              <a:t>处理器只能通过发出访存操作来观察存储器系统的状态</a:t>
            </a:r>
          </a:p>
        </p:txBody>
      </p:sp>
    </p:spTree>
    <p:extLst>
      <p:ext uri="{BB962C8B-B14F-4D97-AF65-F5344CB8AC3E}">
        <p14:creationId xmlns:p14="http://schemas.microsoft.com/office/powerpoint/2010/main" val="248804399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一些定义</a:t>
            </a:r>
            <a:endParaRPr kumimoji="1" lang="zh-CN" altLang="en-US" dirty="0"/>
          </a:p>
        </p:txBody>
      </p:sp>
      <p:sp>
        <p:nvSpPr>
          <p:cNvPr id="3" name="内容占位符 2"/>
          <p:cNvSpPr>
            <a:spLocks noGrp="1"/>
          </p:cNvSpPr>
          <p:nvPr>
            <p:ph idx="1"/>
          </p:nvPr>
        </p:nvSpPr>
        <p:spPr>
          <a:xfrm>
            <a:off x="1127448" y="1700808"/>
            <a:ext cx="10226352" cy="4178052"/>
          </a:xfrm>
        </p:spPr>
        <p:txBody>
          <a:bodyPr/>
          <a:lstStyle/>
          <a:p>
            <a:pPr>
              <a:lnSpc>
                <a:spcPct val="100000"/>
              </a:lnSpc>
            </a:pPr>
            <a:r>
              <a:rPr kumimoji="1" lang="zh-CN" altLang="en-US" dirty="0" smtClean="0"/>
              <a:t>存储器操作：取、存、读改写</a:t>
            </a:r>
            <a:r>
              <a:rPr kumimoji="1" lang="en-US" altLang="zh-CN" dirty="0" smtClean="0"/>
              <a:t>(read-modify-write)</a:t>
            </a:r>
            <a:r>
              <a:rPr kumimoji="1" lang="zh-CN" altLang="en-US" dirty="0" smtClean="0"/>
              <a:t>等</a:t>
            </a:r>
            <a:endParaRPr kumimoji="1" lang="en-US" altLang="zh-CN" dirty="0" smtClean="0"/>
          </a:p>
          <a:p>
            <a:pPr lvl="1">
              <a:lnSpc>
                <a:spcPct val="100000"/>
              </a:lnSpc>
            </a:pPr>
            <a:r>
              <a:rPr lang="zh-CN" altLang="en-US" dirty="0" smtClean="0"/>
              <a:t>发出：离开处理器的内部环境，呈交到存储器子系统（</a:t>
            </a:r>
            <a:r>
              <a:rPr lang="en-US" altLang="zh-CN" dirty="0" smtClean="0"/>
              <a:t>cache</a:t>
            </a:r>
            <a:r>
              <a:rPr lang="zh-CN" altLang="en-US" dirty="0" smtClean="0"/>
              <a:t>、缓冲、总线、</a:t>
            </a:r>
            <a:r>
              <a:rPr lang="en-US" altLang="zh-CN" dirty="0" smtClean="0"/>
              <a:t>DRAM</a:t>
            </a:r>
            <a:r>
              <a:rPr lang="zh-CN" altLang="en-US" dirty="0" smtClean="0"/>
              <a:t>等等）</a:t>
            </a:r>
            <a:endParaRPr lang="en-US" altLang="zh-CN" dirty="0" smtClean="0"/>
          </a:p>
          <a:p>
            <a:pPr>
              <a:lnSpc>
                <a:spcPct val="100000"/>
              </a:lnSpc>
            </a:pPr>
            <a:r>
              <a:rPr kumimoji="1" lang="zh-CN" altLang="en-US" dirty="0" smtClean="0"/>
              <a:t>访存操作相对于某处理器完成</a:t>
            </a:r>
            <a:endParaRPr kumimoji="1" lang="en-US" altLang="zh-CN" dirty="0" smtClean="0"/>
          </a:p>
          <a:p>
            <a:pPr lvl="1">
              <a:lnSpc>
                <a:spcPct val="100000"/>
              </a:lnSpc>
            </a:pPr>
            <a:r>
              <a:rPr lang="zh-CN" altLang="en-US" dirty="0" smtClean="0"/>
              <a:t>写：后续的读能返回写入的值</a:t>
            </a:r>
            <a:endParaRPr lang="en-US" altLang="zh-CN" dirty="0" smtClean="0"/>
          </a:p>
          <a:p>
            <a:pPr lvl="1">
              <a:lnSpc>
                <a:spcPct val="100000"/>
              </a:lnSpc>
            </a:pPr>
            <a:r>
              <a:rPr kumimoji="1" lang="zh-CN" altLang="en-US" dirty="0" smtClean="0"/>
              <a:t>读：后续的写不会影响读出的值</a:t>
            </a:r>
            <a:endParaRPr kumimoji="1" lang="en-US" altLang="zh-CN" dirty="0" smtClean="0"/>
          </a:p>
          <a:p>
            <a:pPr>
              <a:lnSpc>
                <a:spcPct val="100000"/>
              </a:lnSpc>
            </a:pPr>
            <a:r>
              <a:rPr lang="zh-CN" altLang="en-US" dirty="0" smtClean="0"/>
              <a:t>同一的存储器系统</a:t>
            </a:r>
            <a:endParaRPr lang="en-US" altLang="zh-CN" dirty="0" smtClean="0"/>
          </a:p>
          <a:p>
            <a:pPr lvl="1">
              <a:lnSpc>
                <a:spcPct val="100000"/>
              </a:lnSpc>
            </a:pPr>
            <a:r>
              <a:rPr kumimoji="1" lang="zh-CN" altLang="en-US" dirty="0" smtClean="0"/>
              <a:t>每个存储位置上都存在一个访存操作的串行序</a:t>
            </a:r>
            <a:endParaRPr kumimoji="1" lang="en-US" altLang="zh-CN" dirty="0" smtClean="0"/>
          </a:p>
          <a:p>
            <a:pPr lvl="2">
              <a:lnSpc>
                <a:spcPct val="100000"/>
              </a:lnSpc>
            </a:pPr>
            <a:r>
              <a:rPr lang="zh-CN" altLang="en-US" dirty="0" smtClean="0"/>
              <a:t>在此序中，某处理器发出的操作都遵从发出的序</a:t>
            </a:r>
            <a:endParaRPr lang="en-US" altLang="zh-CN" dirty="0" smtClean="0"/>
          </a:p>
          <a:p>
            <a:pPr lvl="2">
              <a:lnSpc>
                <a:spcPct val="100000"/>
              </a:lnSpc>
            </a:pPr>
            <a:r>
              <a:rPr kumimoji="1" lang="zh-CN" altLang="en-US" dirty="0" smtClean="0"/>
              <a:t>每个读返回的值都是此串行序中前一个写的结果</a:t>
            </a:r>
            <a:endParaRPr kumimoji="1" lang="en-US" altLang="zh-CN" dirty="0" smtClean="0"/>
          </a:p>
          <a:p>
            <a:pPr>
              <a:lnSpc>
                <a:spcPct val="100000"/>
              </a:lnSpc>
            </a:pPr>
            <a:r>
              <a:rPr kumimoji="1" lang="zh-CN" altLang="en-US" dirty="0" smtClean="0"/>
              <a:t>两个主要特性：</a:t>
            </a:r>
            <a:r>
              <a:rPr lang="zh-CN" altLang="en-US" dirty="0" smtClean="0">
                <a:solidFill>
                  <a:srgbClr val="FF0000"/>
                </a:solidFill>
              </a:rPr>
              <a:t>写的传播、写的串行化</a:t>
            </a:r>
            <a:endParaRPr kumimoji="1" lang="zh-CN" altLang="en-US" dirty="0">
              <a:solidFill>
                <a:srgbClr val="FF0000"/>
              </a:solidFill>
            </a:endParaRPr>
          </a:p>
        </p:txBody>
      </p:sp>
    </p:spTree>
    <p:extLst>
      <p:ext uri="{BB962C8B-B14F-4D97-AF65-F5344CB8AC3E}">
        <p14:creationId xmlns:p14="http://schemas.microsoft.com/office/powerpoint/2010/main" val="186289538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前述双状态协议是同一的吗？</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a:t>设：总线事务和访存操作是原子的</a:t>
            </a:r>
            <a:r>
              <a:rPr kumimoji="1" lang="zh-CN" altLang="en-US" dirty="0" smtClean="0"/>
              <a:t>，只有单</a:t>
            </a:r>
            <a:r>
              <a:rPr kumimoji="1" lang="zh-CN" altLang="en-US" dirty="0"/>
              <a:t>层</a:t>
            </a:r>
            <a:r>
              <a:rPr kumimoji="1" lang="en-US" altLang="zh-CN" dirty="0"/>
              <a:t>cache</a:t>
            </a:r>
          </a:p>
          <a:p>
            <a:pPr lvl="1">
              <a:lnSpc>
                <a:spcPct val="100000"/>
              </a:lnSpc>
            </a:pPr>
            <a:r>
              <a:rPr lang="zh-CN" altLang="en-US" dirty="0"/>
              <a:t>一个总线事务的所有阶段结束后，才开始另一个事务</a:t>
            </a:r>
            <a:endParaRPr lang="en-US" altLang="zh-CN" dirty="0"/>
          </a:p>
          <a:p>
            <a:pPr lvl="1">
              <a:lnSpc>
                <a:spcPct val="100000"/>
              </a:lnSpc>
            </a:pPr>
            <a:r>
              <a:rPr kumimoji="1" lang="zh-CN" altLang="en-US" dirty="0"/>
              <a:t>处理器总是等到访存操作结束后，才发出下一个操作</a:t>
            </a:r>
            <a:endParaRPr kumimoji="1" lang="en-US" altLang="zh-CN" dirty="0"/>
          </a:p>
          <a:p>
            <a:pPr lvl="1">
              <a:lnSpc>
                <a:spcPct val="100000"/>
              </a:lnSpc>
            </a:pPr>
            <a:r>
              <a:rPr lang="zh-CN" altLang="en-US" dirty="0"/>
              <a:t>在单层</a:t>
            </a:r>
            <a:r>
              <a:rPr lang="en-US" altLang="zh-CN" dirty="0"/>
              <a:t>cache</a:t>
            </a:r>
            <a:r>
              <a:rPr lang="zh-CN" altLang="en-US" dirty="0"/>
              <a:t>中，假设使无效发生在总线事务期间</a:t>
            </a:r>
            <a:endParaRPr lang="en-US" altLang="zh-CN" dirty="0"/>
          </a:p>
          <a:p>
            <a:pPr>
              <a:lnSpc>
                <a:spcPct val="100000"/>
              </a:lnSpc>
            </a:pPr>
            <a:r>
              <a:rPr kumimoji="1" lang="zh-CN" altLang="en-US" dirty="0"/>
              <a:t>所有写操作都进入</a:t>
            </a:r>
            <a:r>
              <a:rPr lang="zh-CN" altLang="en-US" dirty="0"/>
              <a:t>总线＋原子操作</a:t>
            </a:r>
            <a:endParaRPr lang="en-US" altLang="zh-CN" dirty="0"/>
          </a:p>
          <a:p>
            <a:pPr lvl="1">
              <a:lnSpc>
                <a:spcPct val="100000"/>
              </a:lnSpc>
            </a:pPr>
            <a:r>
              <a:rPr kumimoji="1" lang="zh-CN" altLang="en-US" dirty="0"/>
              <a:t>按写操作出现在总线上的次序，写串行化了</a:t>
            </a:r>
            <a:endParaRPr kumimoji="1" lang="en-US" altLang="zh-CN" dirty="0"/>
          </a:p>
          <a:p>
            <a:pPr lvl="1">
              <a:lnSpc>
                <a:spcPct val="100000"/>
              </a:lnSpc>
            </a:pPr>
            <a:r>
              <a:rPr lang="zh-CN" altLang="en-US" dirty="0"/>
              <a:t>使无效操作也按照总线次序应用到</a:t>
            </a:r>
            <a:r>
              <a:rPr lang="en-US" altLang="zh-CN" dirty="0"/>
              <a:t>cache</a:t>
            </a:r>
            <a:r>
              <a:rPr lang="zh-CN" altLang="en-US" dirty="0"/>
              <a:t>中</a:t>
            </a:r>
            <a:endParaRPr lang="en-US" altLang="zh-CN" dirty="0"/>
          </a:p>
          <a:p>
            <a:pPr>
              <a:lnSpc>
                <a:spcPct val="100000"/>
              </a:lnSpc>
            </a:pPr>
            <a:r>
              <a:rPr kumimoji="1" lang="zh-CN" altLang="en-US" dirty="0"/>
              <a:t>如何在此序中插入读操作？</a:t>
            </a:r>
            <a:endParaRPr kumimoji="1" lang="en-US" altLang="zh-CN" dirty="0"/>
          </a:p>
          <a:p>
            <a:pPr lvl="1">
              <a:lnSpc>
                <a:spcPct val="100000"/>
              </a:lnSpc>
            </a:pPr>
            <a:r>
              <a:rPr kumimoji="1" lang="zh-CN" altLang="en-US" dirty="0"/>
              <a:t>处理器只能通过读来看到写，决定了写串行化是否被</a:t>
            </a:r>
            <a:r>
              <a:rPr kumimoji="1" lang="zh-CN" altLang="en-US" dirty="0" smtClean="0"/>
              <a:t>满足</a:t>
            </a:r>
            <a:endParaRPr kumimoji="1" lang="en-US" altLang="zh-CN" dirty="0" smtClean="0"/>
          </a:p>
          <a:p>
            <a:pPr lvl="1">
              <a:lnSpc>
                <a:spcPct val="100000"/>
              </a:lnSpc>
            </a:pPr>
            <a:r>
              <a:rPr lang="zh-CN" altLang="en-US" dirty="0" smtClean="0"/>
              <a:t>但</a:t>
            </a:r>
            <a:r>
              <a:rPr lang="zh-CN" altLang="en-US" dirty="0"/>
              <a:t>读命中之间互相独立，且不出现在总线上，或不直接以总线次序进入总线</a:t>
            </a:r>
            <a:endParaRPr kumimoji="1" lang="zh-CN" altLang="en-US" dirty="0"/>
          </a:p>
        </p:txBody>
      </p:sp>
    </p:spTree>
    <p:extLst>
      <p:ext uri="{BB962C8B-B14F-4D97-AF65-F5344CB8AC3E}">
        <p14:creationId xmlns:p14="http://schemas.microsoft.com/office/powerpoint/2010/main" val="345544373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排序读操作</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smtClean="0"/>
              <a:t>读不命中</a:t>
            </a:r>
            <a:endParaRPr kumimoji="1" lang="en-US" altLang="zh-CN" dirty="0" smtClean="0"/>
          </a:p>
          <a:p>
            <a:pPr lvl="1"/>
            <a:r>
              <a:rPr lang="zh-CN" altLang="en-US" dirty="0" smtClean="0"/>
              <a:t>出现在总线上，会看到总线序中的上一个写</a:t>
            </a:r>
            <a:endParaRPr lang="en-US" altLang="zh-CN" dirty="0" smtClean="0"/>
          </a:p>
          <a:p>
            <a:r>
              <a:rPr kumimoji="1" lang="zh-CN" altLang="en-US" dirty="0" smtClean="0"/>
              <a:t>读命中</a:t>
            </a:r>
            <a:endParaRPr kumimoji="1" lang="en-US" altLang="zh-CN" dirty="0" smtClean="0"/>
          </a:p>
          <a:p>
            <a:pPr lvl="1"/>
            <a:r>
              <a:rPr kumimoji="1" lang="zh-CN" altLang="en-US" dirty="0" smtClean="0"/>
              <a:t>不出现在总线上</a:t>
            </a:r>
            <a:endParaRPr kumimoji="1" lang="en-US" altLang="zh-CN" dirty="0" smtClean="0"/>
          </a:p>
          <a:p>
            <a:pPr lvl="1"/>
            <a:r>
              <a:rPr lang="zh-CN" altLang="en-US" dirty="0" smtClean="0"/>
              <a:t>但读到的值是用如下方式放入</a:t>
            </a:r>
            <a:r>
              <a:rPr lang="en-US" altLang="zh-CN" dirty="0" smtClean="0"/>
              <a:t>cache</a:t>
            </a:r>
            <a:r>
              <a:rPr lang="zh-CN" altLang="en-US" dirty="0" smtClean="0"/>
              <a:t>的</a:t>
            </a:r>
            <a:endParaRPr lang="en-US" altLang="zh-CN" dirty="0" smtClean="0"/>
          </a:p>
          <a:p>
            <a:pPr lvl="2"/>
            <a:r>
              <a:rPr kumimoji="1" lang="zh-CN" altLang="en-US" dirty="0" smtClean="0"/>
              <a:t>本处理器的最近一次写操作，或</a:t>
            </a:r>
            <a:endParaRPr kumimoji="1" lang="en-US" altLang="zh-CN" dirty="0" smtClean="0"/>
          </a:p>
          <a:p>
            <a:pPr lvl="2"/>
            <a:r>
              <a:rPr kumimoji="1" lang="zh-CN" altLang="en-US" dirty="0" smtClean="0"/>
              <a:t>本处理器的最近一次读不命中</a:t>
            </a:r>
            <a:endParaRPr kumimoji="1" lang="en-US" altLang="zh-CN" dirty="0" smtClean="0"/>
          </a:p>
          <a:p>
            <a:pPr lvl="1"/>
            <a:r>
              <a:rPr lang="zh-CN" altLang="en-US" dirty="0" smtClean="0"/>
              <a:t>这两种情形都会出现在总线上的</a:t>
            </a:r>
            <a:endParaRPr lang="en-US" altLang="zh-CN" dirty="0" smtClean="0"/>
          </a:p>
          <a:p>
            <a:pPr lvl="1"/>
            <a:r>
              <a:rPr kumimoji="1" lang="zh-CN" altLang="en-US" dirty="0" smtClean="0"/>
              <a:t>所以读命中也能按照总线次序看到写的值</a:t>
            </a:r>
            <a:endParaRPr kumimoji="1" lang="zh-CN" altLang="en-US" dirty="0"/>
          </a:p>
        </p:txBody>
      </p:sp>
    </p:spTree>
    <p:extLst>
      <p:ext uri="{BB962C8B-B14F-4D97-AF65-F5344CB8AC3E}">
        <p14:creationId xmlns:p14="http://schemas.microsoft.com/office/powerpoint/2010/main" val="200910734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更一般的定序</a:t>
            </a:r>
            <a:endParaRPr lang="zh-CN" altLang="en-US" dirty="0"/>
          </a:p>
        </p:txBody>
      </p:sp>
      <p:sp>
        <p:nvSpPr>
          <p:cNvPr id="3" name="内容占位符 2"/>
          <p:cNvSpPr>
            <a:spLocks noGrp="1"/>
          </p:cNvSpPr>
          <p:nvPr>
            <p:ph idx="1"/>
          </p:nvPr>
        </p:nvSpPr>
        <p:spPr>
          <a:xfrm>
            <a:off x="838200" y="1556792"/>
            <a:ext cx="10946432" cy="5112568"/>
          </a:xfrm>
        </p:spPr>
        <p:txBody>
          <a:bodyPr/>
          <a:lstStyle/>
          <a:p>
            <a:r>
              <a:rPr lang="zh-CN" altLang="en-US" dirty="0" smtClean="0"/>
              <a:t>访存操作</a:t>
            </a:r>
            <a:r>
              <a:rPr lang="en-US" altLang="zh-CN" dirty="0" smtClean="0"/>
              <a:t>M2</a:t>
            </a:r>
            <a:r>
              <a:rPr lang="zh-CN" altLang="en-US" dirty="0" smtClean="0"/>
              <a:t>后于访存操作</a:t>
            </a:r>
            <a:r>
              <a:rPr lang="en-US" altLang="zh-CN" dirty="0" smtClean="0"/>
              <a:t>M1 (M2&gt;&gt;M1)</a:t>
            </a:r>
          </a:p>
          <a:p>
            <a:pPr lvl="1"/>
            <a:r>
              <a:rPr lang="zh-CN" altLang="en-US" dirty="0" smtClean="0"/>
              <a:t>两个操作都由同一个处理器发出，且</a:t>
            </a:r>
            <a:endParaRPr lang="en-US" altLang="zh-CN" dirty="0" smtClean="0"/>
          </a:p>
          <a:p>
            <a:pPr lvl="1"/>
            <a:r>
              <a:rPr lang="zh-CN" altLang="en-US" dirty="0" smtClean="0"/>
              <a:t>在程序序上，</a:t>
            </a:r>
            <a:r>
              <a:rPr lang="en-US" altLang="zh-CN" dirty="0" smtClean="0"/>
              <a:t>M2</a:t>
            </a:r>
            <a:r>
              <a:rPr lang="zh-CN" altLang="en-US" dirty="0" smtClean="0"/>
              <a:t>在</a:t>
            </a:r>
            <a:r>
              <a:rPr lang="en-US" altLang="zh-CN" dirty="0" smtClean="0"/>
              <a:t>M1</a:t>
            </a:r>
            <a:r>
              <a:rPr lang="zh-CN" altLang="en-US" dirty="0" smtClean="0"/>
              <a:t>之后</a:t>
            </a:r>
            <a:endParaRPr lang="en-US" altLang="zh-CN" dirty="0" smtClean="0"/>
          </a:p>
          <a:p>
            <a:r>
              <a:rPr lang="zh-CN" altLang="en-US" dirty="0" smtClean="0"/>
              <a:t>读操作</a:t>
            </a:r>
            <a:r>
              <a:rPr lang="en-US" altLang="zh-CN" dirty="0" smtClean="0"/>
              <a:t>R &gt;&gt; </a:t>
            </a:r>
            <a:r>
              <a:rPr lang="zh-CN" altLang="en-US" dirty="0" smtClean="0"/>
              <a:t>写操作</a:t>
            </a:r>
            <a:r>
              <a:rPr lang="en-US" altLang="zh-CN" dirty="0" smtClean="0"/>
              <a:t>W</a:t>
            </a:r>
            <a:r>
              <a:rPr lang="zh-CN" altLang="en-US" dirty="0" smtClean="0"/>
              <a:t>，若</a:t>
            </a:r>
            <a:endParaRPr lang="en-US" altLang="zh-CN" dirty="0" smtClean="0"/>
          </a:p>
          <a:p>
            <a:pPr lvl="1"/>
            <a:r>
              <a:rPr lang="zh-CN" altLang="en-US" dirty="0" smtClean="0"/>
              <a:t>读产生了排在写事务之后的总线事务</a:t>
            </a:r>
            <a:endParaRPr lang="en-US" altLang="zh-CN" dirty="0" smtClean="0"/>
          </a:p>
          <a:p>
            <a:r>
              <a:rPr lang="zh-CN" altLang="en-US" dirty="0" smtClean="0"/>
              <a:t>写操作</a:t>
            </a:r>
            <a:r>
              <a:rPr lang="en-US" altLang="zh-CN" dirty="0" smtClean="0"/>
              <a:t>W &gt;&gt; </a:t>
            </a:r>
            <a:r>
              <a:rPr lang="zh-CN" altLang="en-US" dirty="0" smtClean="0"/>
              <a:t>读或写操作</a:t>
            </a:r>
            <a:r>
              <a:rPr lang="en-US" altLang="zh-CN" dirty="0" smtClean="0"/>
              <a:t>M</a:t>
            </a:r>
            <a:r>
              <a:rPr lang="zh-CN" altLang="en-US" dirty="0" smtClean="0"/>
              <a:t>，若</a:t>
            </a:r>
            <a:endParaRPr lang="en-US" altLang="zh-CN" dirty="0" smtClean="0"/>
          </a:p>
          <a:p>
            <a:pPr lvl="1"/>
            <a:r>
              <a:rPr lang="en-US" altLang="zh-CN" dirty="0" smtClean="0"/>
              <a:t>M</a:t>
            </a:r>
            <a:r>
              <a:rPr lang="zh-CN" altLang="en-US" dirty="0" smtClean="0"/>
              <a:t>产生了总线事务，且</a:t>
            </a:r>
            <a:r>
              <a:rPr lang="en-US" altLang="zh-CN" dirty="0" smtClean="0"/>
              <a:t>W</a:t>
            </a:r>
            <a:r>
              <a:rPr lang="zh-CN" altLang="en-US" dirty="0" smtClean="0"/>
              <a:t>事务排在</a:t>
            </a:r>
            <a:r>
              <a:rPr lang="en-US" altLang="zh-CN" dirty="0" smtClean="0"/>
              <a:t>M</a:t>
            </a:r>
            <a:r>
              <a:rPr lang="zh-CN" altLang="en-US" dirty="0" smtClean="0"/>
              <a:t>事务之后</a:t>
            </a:r>
            <a:endParaRPr lang="en-US" altLang="zh-CN" dirty="0" smtClean="0"/>
          </a:p>
          <a:p>
            <a:r>
              <a:rPr lang="zh-CN" altLang="en-US" dirty="0" smtClean="0"/>
              <a:t>写操作</a:t>
            </a:r>
            <a:r>
              <a:rPr lang="en-US" altLang="zh-CN" dirty="0" smtClean="0"/>
              <a:t>W &gt;&gt; </a:t>
            </a:r>
            <a:r>
              <a:rPr lang="zh-CN" altLang="en-US" dirty="0" smtClean="0"/>
              <a:t>读操作</a:t>
            </a:r>
            <a:r>
              <a:rPr lang="en-US" altLang="zh-CN" dirty="0" smtClean="0"/>
              <a:t>R</a:t>
            </a:r>
            <a:r>
              <a:rPr lang="zh-CN" altLang="en-US" dirty="0" smtClean="0"/>
              <a:t>，若</a:t>
            </a:r>
            <a:endParaRPr lang="en-US" altLang="zh-CN" dirty="0" smtClean="0"/>
          </a:p>
          <a:p>
            <a:pPr lvl="1"/>
            <a:r>
              <a:rPr lang="zh-CN" altLang="en-US" dirty="0" smtClean="0"/>
              <a:t>读操作</a:t>
            </a:r>
            <a:r>
              <a:rPr lang="en-US" altLang="zh-CN" dirty="0" smtClean="0"/>
              <a:t>R</a:t>
            </a:r>
            <a:r>
              <a:rPr lang="zh-CN" altLang="en-US" dirty="0" smtClean="0"/>
              <a:t>没有产生总线事务，且没有另一个总线事务把它和写操作</a:t>
            </a:r>
            <a:r>
              <a:rPr lang="en-US" altLang="zh-CN" dirty="0" smtClean="0"/>
              <a:t>W</a:t>
            </a:r>
            <a:r>
              <a:rPr lang="zh-CN" altLang="en-US" dirty="0" smtClean="0"/>
              <a:t>分开</a:t>
            </a:r>
            <a:endParaRPr lang="en-US" altLang="zh-CN" dirty="0" smtClean="0"/>
          </a:p>
          <a:p>
            <a:pPr lvl="1"/>
            <a:r>
              <a:rPr lang="zh-CN" altLang="en-US" dirty="0" smtClean="0"/>
              <a:t>写操作会产生总线事务，若</a:t>
            </a:r>
            <a:r>
              <a:rPr lang="en-US" altLang="zh-CN" dirty="0" smtClean="0"/>
              <a:t>W</a:t>
            </a:r>
            <a:r>
              <a:rPr lang="zh-CN" altLang="en-US" dirty="0" smtClean="0"/>
              <a:t>在</a:t>
            </a:r>
            <a:r>
              <a:rPr lang="en-US" altLang="zh-CN" dirty="0" smtClean="0"/>
              <a:t>R</a:t>
            </a:r>
            <a:r>
              <a:rPr lang="zh-CN" altLang="en-US" dirty="0" smtClean="0"/>
              <a:t>之前，则有</a:t>
            </a:r>
            <a:r>
              <a:rPr lang="en-US" altLang="zh-CN" dirty="0" err="1" smtClean="0"/>
              <a:t>BusWr</a:t>
            </a:r>
            <a:r>
              <a:rPr lang="zh-CN" altLang="en-US" dirty="0" smtClean="0"/>
              <a:t>事务把</a:t>
            </a:r>
            <a:r>
              <a:rPr lang="en-US" altLang="zh-CN" dirty="0" smtClean="0"/>
              <a:t>W</a:t>
            </a:r>
            <a:r>
              <a:rPr lang="zh-CN" altLang="en-US" dirty="0" smtClean="0"/>
              <a:t>跟</a:t>
            </a:r>
            <a:r>
              <a:rPr lang="en-US" altLang="zh-CN" dirty="0" smtClean="0"/>
              <a:t>R</a:t>
            </a:r>
            <a:r>
              <a:rPr lang="zh-CN" altLang="en-US" dirty="0" smtClean="0"/>
              <a:t>分开</a:t>
            </a:r>
            <a:endParaRPr lang="zh-CN" altLang="en-US" dirty="0"/>
          </a:p>
        </p:txBody>
      </p:sp>
    </p:spTree>
    <p:extLst>
      <p:ext uri="{BB962C8B-B14F-4D97-AF65-F5344CB8AC3E}">
        <p14:creationId xmlns:p14="http://schemas.microsoft.com/office/powerpoint/2010/main" val="68234797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定序 </a:t>
            </a:r>
            <a:r>
              <a:rPr kumimoji="1" lang="en-US" altLang="zh-CN" dirty="0" smtClean="0"/>
              <a:t>(Ordering)</a:t>
            </a:r>
            <a:endParaRPr kumimoji="1" lang="zh-CN" altLang="en-US" dirty="0"/>
          </a:p>
        </p:txBody>
      </p:sp>
      <p:sp>
        <p:nvSpPr>
          <p:cNvPr id="3" name="内容占位符 2"/>
          <p:cNvSpPr>
            <a:spLocks noGrp="1"/>
          </p:cNvSpPr>
          <p:nvPr>
            <p:ph idx="1"/>
          </p:nvPr>
        </p:nvSpPr>
        <p:spPr>
          <a:xfrm>
            <a:off x="1981200" y="4149080"/>
            <a:ext cx="8178800" cy="1908820"/>
          </a:xfrm>
        </p:spPr>
        <p:txBody>
          <a:bodyPr/>
          <a:lstStyle/>
          <a:p>
            <a:r>
              <a:rPr kumimoji="1" lang="zh-CN" altLang="en-US" dirty="0" smtClean="0"/>
              <a:t>写操作建立一个偏序关系</a:t>
            </a:r>
            <a:endParaRPr kumimoji="1" lang="en-US" altLang="zh-CN" dirty="0" smtClean="0"/>
          </a:p>
          <a:p>
            <a:r>
              <a:rPr lang="zh-CN" altLang="en-US" dirty="0" smtClean="0"/>
              <a:t>并不限制读操作的次序</a:t>
            </a:r>
            <a:endParaRPr lang="en-US" altLang="zh-CN" dirty="0" smtClean="0"/>
          </a:p>
          <a:p>
            <a:pPr lvl="1"/>
            <a:r>
              <a:rPr kumimoji="1" lang="zh-CN" altLang="en-US" dirty="0" smtClean="0"/>
              <a:t>但总线也会给读不命中排出顺序</a:t>
            </a:r>
            <a:endParaRPr kumimoji="1" lang="en-US" altLang="zh-CN" dirty="0" smtClean="0"/>
          </a:p>
          <a:p>
            <a:pPr lvl="1"/>
            <a:r>
              <a:rPr kumimoji="1" lang="zh-CN" altLang="en-US" dirty="0" smtClean="0"/>
              <a:t>两个写之间的读顺序可随意，只要满足程序序</a:t>
            </a:r>
            <a:endParaRPr kumimoji="1" lang="zh-CN" altLang="en-US" dirty="0"/>
          </a:p>
        </p:txBody>
      </p:sp>
      <p:pic>
        <p:nvPicPr>
          <p:cNvPr id="6" name="Picture 4" descr="0506"/>
          <p:cNvPicPr>
            <a:picLocks noChangeAspect="1" noChangeArrowheads="1"/>
          </p:cNvPicPr>
          <p:nvPr/>
        </p:nvPicPr>
        <p:blipFill>
          <a:blip r:embed="rId2"/>
          <a:srcRect/>
          <a:stretch>
            <a:fillRect/>
          </a:stretch>
        </p:blipFill>
        <p:spPr bwMode="auto">
          <a:xfrm>
            <a:off x="2590800" y="1326506"/>
            <a:ext cx="6870700" cy="2822575"/>
          </a:xfrm>
          <a:prstGeom prst="rect">
            <a:avLst/>
          </a:prstGeom>
          <a:noFill/>
        </p:spPr>
      </p:pic>
    </p:spTree>
    <p:extLst>
      <p:ext uri="{BB962C8B-B14F-4D97-AF65-F5344CB8AC3E}">
        <p14:creationId xmlns:p14="http://schemas.microsoft.com/office/powerpoint/2010/main" val="220862879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直写的问题</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smtClean="0"/>
              <a:t>直写协议较简单，容易验证其正确性</a:t>
            </a:r>
            <a:endParaRPr lang="en-US" altLang="zh-CN" dirty="0" smtClean="0"/>
          </a:p>
          <a:p>
            <a:pPr lvl="1">
              <a:lnSpc>
                <a:spcPct val="100000"/>
              </a:lnSpc>
            </a:pPr>
            <a:r>
              <a:rPr lang="zh-CN" altLang="en-US" dirty="0" smtClean="0"/>
              <a:t>所有写操作都是总线上可见的</a:t>
            </a:r>
            <a:endParaRPr lang="en-US" altLang="zh-CN" dirty="0" smtClean="0"/>
          </a:p>
          <a:p>
            <a:pPr>
              <a:lnSpc>
                <a:spcPct val="100000"/>
              </a:lnSpc>
            </a:pPr>
            <a:r>
              <a:rPr lang="zh-CN" altLang="en-US" dirty="0" smtClean="0"/>
              <a:t>每个写操作都放到总线上</a:t>
            </a:r>
            <a:endParaRPr lang="en-US" altLang="zh-CN" dirty="0" smtClean="0"/>
          </a:p>
          <a:p>
            <a:pPr lvl="1">
              <a:lnSpc>
                <a:spcPct val="100000"/>
              </a:lnSpc>
            </a:pPr>
            <a:r>
              <a:rPr lang="zh-CN" altLang="en-US" dirty="0" smtClean="0"/>
              <a:t>任一时刻，所有处理器中，只有一个能写</a:t>
            </a:r>
            <a:endParaRPr lang="en-US" altLang="zh-CN" dirty="0" smtClean="0"/>
          </a:p>
          <a:p>
            <a:pPr lvl="1">
              <a:lnSpc>
                <a:spcPct val="100000"/>
              </a:lnSpc>
            </a:pPr>
            <a:r>
              <a:rPr lang="zh-CN" altLang="en-US" dirty="0" smtClean="0"/>
              <a:t>总线为写的串行化提供了保障</a:t>
            </a:r>
            <a:endParaRPr lang="en-US" altLang="zh-CN" dirty="0" smtClean="0"/>
          </a:p>
          <a:p>
            <a:pPr>
              <a:lnSpc>
                <a:spcPct val="100000"/>
              </a:lnSpc>
            </a:pPr>
            <a:r>
              <a:rPr lang="zh-CN" altLang="en-US" dirty="0" smtClean="0"/>
              <a:t>缺点：需要使用大量的总线带宽</a:t>
            </a:r>
            <a:endParaRPr lang="en-US" altLang="zh-CN" dirty="0" smtClean="0"/>
          </a:p>
          <a:p>
            <a:pPr lvl="1">
              <a:lnSpc>
                <a:spcPct val="100000"/>
              </a:lnSpc>
            </a:pPr>
            <a:r>
              <a:rPr lang="zh-CN" altLang="en-US" dirty="0" smtClean="0"/>
              <a:t>例：</a:t>
            </a:r>
            <a:r>
              <a:rPr lang="en-US" altLang="zh-CN" dirty="0" smtClean="0"/>
              <a:t>1GHz</a:t>
            </a:r>
            <a:r>
              <a:rPr lang="zh-CN" altLang="en-US" dirty="0" smtClean="0"/>
              <a:t>双发射，</a:t>
            </a:r>
            <a:r>
              <a:rPr lang="en-US" altLang="zh-CN" dirty="0" smtClean="0"/>
              <a:t>CPI=2, 15%</a:t>
            </a:r>
            <a:r>
              <a:rPr lang="zh-CN" altLang="en-US" dirty="0" smtClean="0"/>
              <a:t>写</a:t>
            </a:r>
            <a:r>
              <a:rPr lang="en-US" altLang="zh-CN" dirty="0" smtClean="0"/>
              <a:t>8</a:t>
            </a:r>
            <a:r>
              <a:rPr lang="zh-CN" altLang="en-US" dirty="0" smtClean="0"/>
              <a:t>字节字</a:t>
            </a:r>
            <a:endParaRPr lang="en-US" altLang="zh-CN" dirty="0" smtClean="0"/>
          </a:p>
          <a:p>
            <a:pPr lvl="2">
              <a:lnSpc>
                <a:spcPct val="100000"/>
              </a:lnSpc>
            </a:pPr>
            <a:r>
              <a:rPr lang="zh-CN" altLang="en-US" sz="2400" dirty="0" smtClean="0"/>
              <a:t>每秒每处理器写</a:t>
            </a:r>
            <a:r>
              <a:rPr lang="en-US" altLang="zh-CN" sz="2400" dirty="0" smtClean="0"/>
              <a:t>300M</a:t>
            </a:r>
            <a:r>
              <a:rPr lang="zh-CN" altLang="en-US" sz="2400" dirty="0" smtClean="0"/>
              <a:t>字，即需要</a:t>
            </a:r>
            <a:r>
              <a:rPr lang="en-US" altLang="zh-CN" sz="2400" dirty="0" smtClean="0"/>
              <a:t>2.4GB/s</a:t>
            </a:r>
          </a:p>
          <a:p>
            <a:pPr lvl="2">
              <a:lnSpc>
                <a:spcPct val="100000"/>
              </a:lnSpc>
            </a:pPr>
            <a:r>
              <a:rPr lang="en-US" altLang="zh-CN" sz="2400" dirty="0" smtClean="0"/>
              <a:t>10GB/s</a:t>
            </a:r>
            <a:r>
              <a:rPr lang="zh-CN" altLang="en-US" sz="2400" dirty="0" smtClean="0"/>
              <a:t>的总线只能支持</a:t>
            </a:r>
            <a:r>
              <a:rPr lang="en-US" altLang="zh-CN" sz="2400" dirty="0" smtClean="0"/>
              <a:t>4</a:t>
            </a:r>
            <a:r>
              <a:rPr lang="zh-CN" altLang="en-US" sz="2400" dirty="0" smtClean="0"/>
              <a:t>个处理器</a:t>
            </a:r>
            <a:endParaRPr lang="en-US" altLang="zh-CN" sz="2400" dirty="0" smtClean="0"/>
          </a:p>
          <a:p>
            <a:pPr lvl="2">
              <a:lnSpc>
                <a:spcPct val="100000"/>
              </a:lnSpc>
            </a:pPr>
            <a:r>
              <a:rPr lang="zh-CN" altLang="en-US" sz="2400" dirty="0" smtClean="0"/>
              <a:t>还没有考虑读不命中所需要的带宽</a:t>
            </a:r>
            <a:endParaRPr lang="zh-CN" altLang="en-US" sz="2400" dirty="0"/>
          </a:p>
        </p:txBody>
      </p:sp>
    </p:spTree>
    <p:extLst>
      <p:ext uri="{BB962C8B-B14F-4D97-AF65-F5344CB8AC3E}">
        <p14:creationId xmlns:p14="http://schemas.microsoft.com/office/powerpoint/2010/main" val="77138993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When </a:t>
            </a:r>
            <a:r>
              <a:rPr lang="en-US" altLang="zh-CN" dirty="0"/>
              <a:t>the second miss by B occurs, processor A responds with the value canceling the response from </a:t>
            </a:r>
            <a:r>
              <a:rPr lang="en-US" altLang="zh-CN" dirty="0" smtClean="0"/>
              <a:t>memory</a:t>
            </a:r>
          </a:p>
          <a:p>
            <a:pPr lvl="1"/>
            <a:r>
              <a:rPr lang="en-US" altLang="zh-CN" dirty="0"/>
              <a:t>B</a:t>
            </a:r>
            <a:r>
              <a:rPr lang="en-US" altLang="zh-CN" dirty="0" smtClean="0"/>
              <a:t>oth </a:t>
            </a:r>
            <a:r>
              <a:rPr lang="en-US" altLang="zh-CN" dirty="0"/>
              <a:t>the contents of B's cache and the memory </a:t>
            </a:r>
            <a:r>
              <a:rPr lang="en-US" altLang="zh-CN" dirty="0" smtClean="0"/>
              <a:t>X </a:t>
            </a:r>
            <a:r>
              <a:rPr lang="en-US" altLang="zh-CN" dirty="0"/>
              <a:t>are </a:t>
            </a:r>
            <a:r>
              <a:rPr lang="en-US" altLang="zh-CN" dirty="0" smtClean="0"/>
              <a:t>updated</a:t>
            </a:r>
          </a:p>
          <a:p>
            <a:pPr lvl="1"/>
            <a:r>
              <a:rPr lang="en-US" altLang="zh-CN" dirty="0" smtClean="0"/>
              <a:t>This </a:t>
            </a:r>
            <a:r>
              <a:rPr lang="en-US" altLang="zh-CN" dirty="0"/>
              <a:t>requires the introduction of an additional status bit indicating ownership of a block. The ownership bit indicates that a block may be shared for reads, but only the owning processor can write the block, and </a:t>
            </a:r>
            <a:r>
              <a:rPr lang="en-US" altLang="zh-CN" dirty="0" smtClean="0"/>
              <a:t>is </a:t>
            </a:r>
            <a:r>
              <a:rPr lang="en-US" altLang="zh-CN" dirty="0"/>
              <a:t>responsible for updating any other processors and </a:t>
            </a:r>
            <a:r>
              <a:rPr lang="en-US" altLang="zh-CN" dirty="0" smtClean="0"/>
              <a:t>memory</a:t>
            </a:r>
            <a:endParaRPr lang="zh-CN" altLang="en-US" dirty="0"/>
          </a:p>
        </p:txBody>
      </p:sp>
      <p:sp>
        <p:nvSpPr>
          <p:cNvPr id="12290"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2292" name="Picture 2" descr="X:\02_GRAPHICS\BOOKS\02_PPTs\MKCAD(Hennessy)\PPT\Ch05\f05-04-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8" y="4185739"/>
            <a:ext cx="8061139" cy="26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Invalidation </a:t>
            </a:r>
            <a:r>
              <a:rPr lang="en-US" altLang="zh-CN" dirty="0"/>
              <a:t>protocol </a:t>
            </a:r>
            <a:r>
              <a:rPr lang="en-US" altLang="zh-CN" dirty="0" smtClean="0"/>
              <a:t>with </a:t>
            </a:r>
            <a:r>
              <a:rPr lang="en-US" altLang="zh-CN" dirty="0"/>
              <a:t>write-back caches</a:t>
            </a:r>
            <a:endParaRPr lang="zh-CN" altLang="en-US" dirty="0"/>
          </a:p>
        </p:txBody>
      </p:sp>
    </p:spTree>
    <p:extLst>
      <p:ext uri="{BB962C8B-B14F-4D97-AF65-F5344CB8AC3E}">
        <p14:creationId xmlns:p14="http://schemas.microsoft.com/office/powerpoint/2010/main" val="6538412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后写的侦听协议</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smtClean="0"/>
              <a:t>后写型</a:t>
            </a:r>
            <a:r>
              <a:rPr lang="en-US" altLang="zh-CN" dirty="0" smtClean="0"/>
              <a:t>cache</a:t>
            </a:r>
            <a:r>
              <a:rPr lang="zh-CN" altLang="en-US" dirty="0" smtClean="0"/>
              <a:t>可以吸收许多命中的写访问</a:t>
            </a:r>
            <a:endParaRPr lang="en-US" altLang="zh-CN" dirty="0" smtClean="0"/>
          </a:p>
          <a:p>
            <a:pPr lvl="1">
              <a:lnSpc>
                <a:spcPct val="100000"/>
              </a:lnSpc>
            </a:pPr>
            <a:r>
              <a:rPr lang="zh-CN" altLang="en-US" dirty="0" smtClean="0"/>
              <a:t>命中的写操作不会到总线上去</a:t>
            </a:r>
            <a:endParaRPr lang="en-US" altLang="zh-CN" dirty="0" smtClean="0"/>
          </a:p>
          <a:p>
            <a:pPr>
              <a:lnSpc>
                <a:spcPct val="100000"/>
              </a:lnSpc>
            </a:pPr>
            <a:r>
              <a:rPr lang="zh-CN" altLang="en-US" dirty="0" smtClean="0"/>
              <a:t>但在多机中，如何保证写传播和串行化？</a:t>
            </a:r>
            <a:endParaRPr lang="en-US" altLang="zh-CN" dirty="0" smtClean="0"/>
          </a:p>
          <a:p>
            <a:pPr lvl="1">
              <a:lnSpc>
                <a:spcPct val="100000"/>
              </a:lnSpc>
            </a:pPr>
            <a:r>
              <a:rPr lang="zh-CN" altLang="en-US" dirty="0" smtClean="0"/>
              <a:t>需要更精细的协议：一个更大的设计空间</a:t>
            </a:r>
            <a:endParaRPr lang="en-US" altLang="zh-CN" dirty="0" smtClean="0"/>
          </a:p>
          <a:p>
            <a:pPr lvl="1">
              <a:lnSpc>
                <a:spcPct val="100000"/>
              </a:lnSpc>
            </a:pPr>
            <a:r>
              <a:rPr lang="zh-CN" altLang="en-US" dirty="0" smtClean="0"/>
              <a:t>不改处理器、主存、</a:t>
            </a:r>
            <a:r>
              <a:rPr lang="en-US" altLang="zh-CN" dirty="0" smtClean="0"/>
              <a:t>cache</a:t>
            </a:r>
          </a:p>
          <a:p>
            <a:pPr lvl="2">
              <a:lnSpc>
                <a:spcPct val="100000"/>
              </a:lnSpc>
            </a:pPr>
            <a:r>
              <a:rPr lang="zh-CN" altLang="en-US" dirty="0" smtClean="0"/>
              <a:t>扩充</a:t>
            </a:r>
            <a:r>
              <a:rPr lang="en-US" altLang="zh-CN" dirty="0" smtClean="0"/>
              <a:t>cache</a:t>
            </a:r>
            <a:r>
              <a:rPr lang="zh-CN" altLang="en-US" dirty="0" smtClean="0"/>
              <a:t>控制器，开发总线的更多功能</a:t>
            </a:r>
            <a:endParaRPr lang="en-US" altLang="zh-CN" dirty="0" smtClean="0"/>
          </a:p>
          <a:p>
            <a:pPr lvl="1">
              <a:lnSpc>
                <a:spcPct val="100000"/>
              </a:lnSpc>
            </a:pPr>
            <a:r>
              <a:rPr lang="zh-CN" altLang="en-US" dirty="0" smtClean="0"/>
              <a:t>写过</a:t>
            </a:r>
            <a:r>
              <a:rPr lang="en-US" altLang="zh-CN" dirty="0" smtClean="0"/>
              <a:t>(dirty)</a:t>
            </a:r>
            <a:r>
              <a:rPr lang="zh-CN" altLang="en-US" dirty="0" smtClean="0"/>
              <a:t>状态现在也用来指示独占的拥有权</a:t>
            </a:r>
            <a:r>
              <a:rPr lang="en-US" altLang="zh-CN" dirty="0" smtClean="0"/>
              <a:t>(Ownership)</a:t>
            </a:r>
          </a:p>
          <a:p>
            <a:pPr lvl="2">
              <a:lnSpc>
                <a:spcPct val="100000"/>
              </a:lnSpc>
            </a:pPr>
            <a:r>
              <a:rPr lang="zh-CN" altLang="en-US" dirty="0" smtClean="0"/>
              <a:t>独占</a:t>
            </a:r>
            <a:r>
              <a:rPr lang="en-US" altLang="zh-CN" dirty="0" smtClean="0"/>
              <a:t>Exclusive</a:t>
            </a:r>
            <a:r>
              <a:rPr lang="zh-CN" altLang="en-US" dirty="0" smtClean="0"/>
              <a:t>：仅</a:t>
            </a:r>
            <a:r>
              <a:rPr lang="en-US" altLang="zh-CN" dirty="0" smtClean="0"/>
              <a:t>cache</a:t>
            </a:r>
            <a:r>
              <a:rPr lang="zh-CN" altLang="en-US" dirty="0" smtClean="0"/>
              <a:t>有合法副本（主存也许有）</a:t>
            </a:r>
            <a:endParaRPr lang="en-US" altLang="zh-CN" dirty="0" smtClean="0"/>
          </a:p>
          <a:p>
            <a:pPr lvl="2">
              <a:lnSpc>
                <a:spcPct val="100000"/>
              </a:lnSpc>
            </a:pPr>
            <a:r>
              <a:rPr lang="zh-CN" altLang="en-US" dirty="0" smtClean="0"/>
              <a:t>拥有</a:t>
            </a:r>
            <a:r>
              <a:rPr lang="en-US" altLang="zh-CN" dirty="0" smtClean="0"/>
              <a:t>Owner</a:t>
            </a:r>
            <a:r>
              <a:rPr lang="zh-CN" altLang="en-US" dirty="0" smtClean="0"/>
              <a:t>：当有请求时负责提供数据</a:t>
            </a:r>
            <a:endParaRPr lang="en-US" altLang="zh-CN" dirty="0" smtClean="0"/>
          </a:p>
          <a:p>
            <a:pPr>
              <a:lnSpc>
                <a:spcPct val="100000"/>
              </a:lnSpc>
            </a:pPr>
            <a:r>
              <a:rPr lang="zh-CN" altLang="en-US" dirty="0" smtClean="0"/>
              <a:t>先来了解与序有关的其它问题</a:t>
            </a:r>
            <a:endParaRPr lang="zh-CN" altLang="en-US" dirty="0"/>
          </a:p>
        </p:txBody>
      </p:sp>
    </p:spTree>
    <p:extLst>
      <p:ext uri="{BB962C8B-B14F-4D97-AF65-F5344CB8AC3E}">
        <p14:creationId xmlns:p14="http://schemas.microsoft.com/office/powerpoint/2010/main" val="392758118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存储器的</a:t>
            </a:r>
            <a:r>
              <a:rPr kumimoji="1" lang="zh-CN" altLang="en-US" dirty="0" smtClean="0"/>
              <a:t>一致</a:t>
            </a:r>
            <a:r>
              <a:rPr kumimoji="1" lang="zh-CN" altLang="en-US" dirty="0"/>
              <a:t>性</a:t>
            </a:r>
            <a:r>
              <a:rPr kumimoji="1" lang="zh-CN" altLang="en-US" dirty="0" smtClean="0"/>
              <a:t>问题</a:t>
            </a:r>
            <a:endParaRPr kumimoji="1" lang="zh-CN" altLang="en-US" dirty="0"/>
          </a:p>
        </p:txBody>
      </p:sp>
      <p:sp>
        <p:nvSpPr>
          <p:cNvPr id="3" name="内容占位符 2"/>
          <p:cNvSpPr>
            <a:spLocks noGrp="1"/>
          </p:cNvSpPr>
          <p:nvPr>
            <p:ph idx="1"/>
          </p:nvPr>
        </p:nvSpPr>
        <p:spPr>
          <a:xfrm>
            <a:off x="551384" y="1556792"/>
            <a:ext cx="10802416" cy="5112568"/>
          </a:xfrm>
        </p:spPr>
        <p:txBody>
          <a:bodyPr/>
          <a:lstStyle/>
          <a:p>
            <a:pPr>
              <a:lnSpc>
                <a:spcPct val="100000"/>
              </a:lnSpc>
            </a:pPr>
            <a:r>
              <a:rPr kumimoji="1" lang="zh-CN" altLang="en-US" dirty="0" smtClean="0"/>
              <a:t>同一性</a:t>
            </a:r>
            <a:r>
              <a:rPr kumimoji="1" lang="en-US" altLang="zh-CN" dirty="0" smtClean="0"/>
              <a:t> =&gt; </a:t>
            </a:r>
            <a:r>
              <a:rPr lang="zh-CN" altLang="en-US" dirty="0" smtClean="0"/>
              <a:t>所有处理机都以同样的次序观察到</a:t>
            </a:r>
            <a:r>
              <a:rPr kumimoji="1" lang="zh-CN" altLang="en-US" dirty="0" smtClean="0"/>
              <a:t>对某个位置的写操作</a:t>
            </a:r>
            <a:endParaRPr kumimoji="1" lang="en-US" altLang="zh-CN" dirty="0" smtClean="0"/>
          </a:p>
          <a:p>
            <a:pPr>
              <a:lnSpc>
                <a:spcPct val="100000"/>
              </a:lnSpc>
            </a:pPr>
            <a:r>
              <a:rPr kumimoji="1" lang="zh-CN" altLang="en-US" dirty="0" smtClean="0"/>
              <a:t>但在</a:t>
            </a:r>
            <a:r>
              <a:rPr kumimoji="1" lang="en-US" altLang="zh-CN" dirty="0" smtClean="0"/>
              <a:t>write back</a:t>
            </a:r>
            <a:r>
              <a:rPr kumimoji="1" lang="zh-CN" altLang="en-US" dirty="0" smtClean="0"/>
              <a:t>的情况下，一个写操作什么时候才能被观察到？</a:t>
            </a:r>
            <a:endParaRPr kumimoji="1" lang="en-US" altLang="zh-CN" dirty="0" smtClean="0"/>
          </a:p>
          <a:p>
            <a:pPr>
              <a:lnSpc>
                <a:spcPct val="100000"/>
              </a:lnSpc>
            </a:pPr>
            <a:r>
              <a:rPr lang="zh-CN" altLang="en-US" dirty="0" smtClean="0"/>
              <a:t>我们如何建立不同处理器的写操作和读操作之间的次序关系？</a:t>
            </a:r>
            <a:endParaRPr lang="en-US" altLang="zh-CN" dirty="0" smtClean="0"/>
          </a:p>
          <a:p>
            <a:pPr lvl="1">
              <a:lnSpc>
                <a:spcPct val="100000"/>
              </a:lnSpc>
            </a:pPr>
            <a:r>
              <a:rPr kumimoji="1" lang="zh-CN" altLang="en-US" dirty="0" smtClean="0"/>
              <a:t>事件同步也许是一种方式</a:t>
            </a:r>
            <a:endParaRPr kumimoji="1" lang="en-US" altLang="zh-CN" dirty="0" smtClean="0"/>
          </a:p>
          <a:p>
            <a:pPr>
              <a:lnSpc>
                <a:spcPct val="100000"/>
              </a:lnSpc>
            </a:pPr>
            <a:r>
              <a:rPr kumimoji="1" lang="zh-CN" altLang="en-US" dirty="0" smtClean="0"/>
              <a:t>实际系统</a:t>
            </a:r>
            <a:r>
              <a:rPr kumimoji="1" lang="en-US" altLang="zh-CN" dirty="0" smtClean="0"/>
              <a:t>/</a:t>
            </a:r>
            <a:r>
              <a:rPr kumimoji="1" lang="zh-CN" altLang="en-US" dirty="0" smtClean="0"/>
              <a:t>应用</a:t>
            </a:r>
            <a:r>
              <a:rPr lang="zh-CN" altLang="en-US" dirty="0" smtClean="0"/>
              <a:t>中</a:t>
            </a:r>
            <a:r>
              <a:rPr kumimoji="1" lang="zh-CN" altLang="en-US" dirty="0" smtClean="0"/>
              <a:t>往往涉及许多存储位置！</a:t>
            </a:r>
            <a:endParaRPr kumimoji="1" lang="zh-CN" altLang="en-US" dirty="0"/>
          </a:p>
        </p:txBody>
      </p:sp>
    </p:spTree>
    <p:extLst>
      <p:ext uri="{BB962C8B-B14F-4D97-AF65-F5344CB8AC3E}">
        <p14:creationId xmlns:p14="http://schemas.microsoft.com/office/powerpoint/2010/main" val="27379620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例子（为简单，</a:t>
            </a:r>
            <a:r>
              <a:rPr kumimoji="1" lang="zh-CN" altLang="en-US" dirty="0"/>
              <a:t>暂</a:t>
            </a:r>
            <a:r>
              <a:rPr kumimoji="1" lang="zh-CN" altLang="en-US" dirty="0" smtClean="0"/>
              <a:t>设不使用</a:t>
            </a:r>
            <a:r>
              <a:rPr kumimoji="1" lang="en-US" altLang="zh-CN" dirty="0" smtClean="0"/>
              <a:t>cache</a:t>
            </a:r>
            <a:r>
              <a:rPr kumimoji="1" lang="zh-CN" altLang="en-US" dirty="0" smtClean="0"/>
              <a:t>）</a:t>
            </a:r>
            <a:endParaRPr kumimoji="1" lang="zh-CN" altLang="en-US" dirty="0"/>
          </a:p>
        </p:txBody>
      </p:sp>
      <p:sp>
        <p:nvSpPr>
          <p:cNvPr id="3" name="内容占位符 2"/>
          <p:cNvSpPr>
            <a:spLocks noGrp="1"/>
          </p:cNvSpPr>
          <p:nvPr>
            <p:ph idx="1"/>
          </p:nvPr>
        </p:nvSpPr>
        <p:spPr>
          <a:xfrm>
            <a:off x="412186" y="3140968"/>
            <a:ext cx="11003786" cy="3520356"/>
          </a:xfrm>
        </p:spPr>
        <p:txBody>
          <a:bodyPr/>
          <a:lstStyle/>
          <a:p>
            <a:pPr>
              <a:lnSpc>
                <a:spcPct val="100000"/>
              </a:lnSpc>
            </a:pPr>
            <a:r>
              <a:rPr kumimoji="1" lang="en-US" altLang="zh-CN" dirty="0" smtClean="0"/>
              <a:t>P2</a:t>
            </a:r>
            <a:r>
              <a:rPr kumimoji="1" lang="zh-CN" altLang="en-US" dirty="0" smtClean="0"/>
              <a:t>打印出的</a:t>
            </a:r>
            <a:r>
              <a:rPr kumimoji="1" lang="en-US" altLang="zh-CN" dirty="0" smtClean="0"/>
              <a:t>A</a:t>
            </a:r>
            <a:r>
              <a:rPr kumimoji="1" lang="zh-CN" altLang="en-US" dirty="0" smtClean="0"/>
              <a:t>肯定是</a:t>
            </a:r>
            <a:r>
              <a:rPr kumimoji="1" lang="en-US" altLang="zh-CN" dirty="0" smtClean="0"/>
              <a:t>1</a:t>
            </a:r>
            <a:r>
              <a:rPr kumimoji="1" lang="zh-CN" altLang="en-US" dirty="0" smtClean="0"/>
              <a:t>吗？不一定</a:t>
            </a:r>
            <a:endParaRPr kumimoji="1" lang="en-US" altLang="zh-CN" dirty="0" smtClean="0"/>
          </a:p>
          <a:p>
            <a:pPr lvl="1">
              <a:lnSpc>
                <a:spcPct val="100000"/>
              </a:lnSpc>
            </a:pPr>
            <a:r>
              <a:rPr kumimoji="1" lang="en-US" altLang="zh-CN" dirty="0" smtClean="0"/>
              <a:t>P1</a:t>
            </a:r>
            <a:r>
              <a:rPr kumimoji="1" lang="zh-CN" altLang="en-US" dirty="0" smtClean="0"/>
              <a:t>乱序执行，</a:t>
            </a:r>
            <a:r>
              <a:rPr kumimoji="1" lang="en-US" altLang="zh-CN" dirty="0" smtClean="0"/>
              <a:t>flag=1</a:t>
            </a:r>
            <a:r>
              <a:rPr kumimoji="1" lang="zh-CN" altLang="en-US" dirty="0" smtClean="0"/>
              <a:t>先完成</a:t>
            </a:r>
            <a:endParaRPr kumimoji="1" lang="en-US" altLang="zh-CN" dirty="0" smtClean="0"/>
          </a:p>
          <a:p>
            <a:pPr lvl="1">
              <a:lnSpc>
                <a:spcPct val="100000"/>
              </a:lnSpc>
            </a:pPr>
            <a:r>
              <a:rPr kumimoji="1" lang="zh-CN" altLang="en-US" dirty="0" smtClean="0"/>
              <a:t>因为网络的延迟，</a:t>
            </a:r>
            <a:r>
              <a:rPr kumimoji="1" lang="en-US" altLang="zh-CN" dirty="0" smtClean="0"/>
              <a:t>A</a:t>
            </a:r>
            <a:r>
              <a:rPr kumimoji="1" lang="zh-CN" altLang="en-US" dirty="0" smtClean="0"/>
              <a:t>的传输晚于</a:t>
            </a:r>
            <a:r>
              <a:rPr kumimoji="1" lang="en-US" altLang="zh-CN" dirty="0" smtClean="0"/>
              <a:t>flag</a:t>
            </a:r>
            <a:r>
              <a:rPr kumimoji="1" lang="zh-CN" altLang="en-US" dirty="0" smtClean="0"/>
              <a:t>到过</a:t>
            </a:r>
            <a:r>
              <a:rPr kumimoji="1" lang="en-US" altLang="zh-CN" dirty="0" smtClean="0"/>
              <a:t>P2</a:t>
            </a:r>
          </a:p>
          <a:p>
            <a:pPr>
              <a:lnSpc>
                <a:spcPct val="100000"/>
              </a:lnSpc>
            </a:pPr>
            <a:r>
              <a:rPr kumimoji="1" lang="zh-CN" altLang="en-US" dirty="0" smtClean="0"/>
              <a:t>同一的存储器并不保障我们的直觉</a:t>
            </a:r>
            <a:endParaRPr kumimoji="1" lang="en-US" altLang="zh-CN" dirty="0" smtClean="0"/>
          </a:p>
          <a:p>
            <a:pPr lvl="1">
              <a:lnSpc>
                <a:spcPct val="100000"/>
              </a:lnSpc>
            </a:pPr>
            <a:r>
              <a:rPr lang="zh-CN" altLang="en-US" dirty="0" smtClean="0"/>
              <a:t>期望存储器遵从相同进程发出的针对不同地址的访问次序，从而保证不同进程对相同地址的访问次序</a:t>
            </a:r>
            <a:endParaRPr lang="en-US" altLang="zh-CN" dirty="0" smtClean="0"/>
          </a:p>
          <a:p>
            <a:pPr lvl="1">
              <a:lnSpc>
                <a:spcPct val="100000"/>
              </a:lnSpc>
            </a:pPr>
            <a:r>
              <a:rPr lang="zh-CN" altLang="en-US" dirty="0" smtClean="0"/>
              <a:t>只有同一性是不够的</a:t>
            </a:r>
            <a:endParaRPr lang="en-US" altLang="zh-CN" dirty="0" smtClean="0"/>
          </a:p>
          <a:p>
            <a:pPr lvl="2">
              <a:lnSpc>
                <a:spcPct val="100000"/>
              </a:lnSpc>
            </a:pPr>
            <a:r>
              <a:rPr lang="zh-CN" altLang="en-US" dirty="0" smtClean="0"/>
              <a:t>它只考虑单个存储位置</a:t>
            </a:r>
            <a:endParaRPr lang="en-US" altLang="zh-CN" dirty="0" smtClean="0"/>
          </a:p>
          <a:p>
            <a:pPr marL="457200" lvl="1" indent="0">
              <a:lnSpc>
                <a:spcPct val="100000"/>
              </a:lnSpc>
              <a:buNone/>
            </a:pPr>
            <a:endParaRPr kumimoji="1" lang="zh-CN" altLang="en-US" dirty="0"/>
          </a:p>
        </p:txBody>
      </p:sp>
      <p:grpSp>
        <p:nvGrpSpPr>
          <p:cNvPr id="6" name="Group 5"/>
          <p:cNvGrpSpPr>
            <a:grpSpLocks/>
          </p:cNvGrpSpPr>
          <p:nvPr/>
        </p:nvGrpSpPr>
        <p:grpSpPr bwMode="auto">
          <a:xfrm>
            <a:off x="2362200" y="1524000"/>
            <a:ext cx="7519988" cy="1468438"/>
            <a:chOff x="527" y="2046"/>
            <a:chExt cx="4737" cy="925"/>
          </a:xfrm>
        </p:grpSpPr>
        <p:sp>
          <p:nvSpPr>
            <p:cNvPr id="7" name="Rectangle 6"/>
            <p:cNvSpPr>
              <a:spLocks noChangeArrowheads="1"/>
            </p:cNvSpPr>
            <p:nvPr/>
          </p:nvSpPr>
          <p:spPr bwMode="auto">
            <a:xfrm>
              <a:off x="1084" y="2046"/>
              <a:ext cx="97" cy="233"/>
            </a:xfrm>
            <a:prstGeom prst="rect">
              <a:avLst/>
            </a:prstGeom>
            <a:noFill/>
            <a:ln w="9525">
              <a:noFill/>
              <a:miter lim="800000"/>
              <a:headEnd/>
              <a:tailEnd/>
            </a:ln>
          </p:spPr>
          <p:txBody>
            <a:bodyPr wrap="none" lIns="0" tIns="0" rIns="0" bIns="0">
              <a:spAutoFit/>
            </a:bodyPr>
            <a:lstStyle/>
            <a:p>
              <a:r>
                <a:rPr lang="en-US" altLang="zh-CN" b="1" dirty="0">
                  <a:solidFill>
                    <a:srgbClr val="0000FF"/>
                  </a:solidFill>
                </a:rPr>
                <a:t>P</a:t>
              </a:r>
              <a:endParaRPr lang="en-US" altLang="zh-CN" sz="2400" b="1" dirty="0">
                <a:solidFill>
                  <a:srgbClr val="0000FF"/>
                </a:solidFill>
                <a:latin typeface="Times New Roman" charset="0"/>
              </a:endParaRPr>
            </a:p>
          </p:txBody>
        </p:sp>
        <p:sp>
          <p:nvSpPr>
            <p:cNvPr id="8" name="Rectangle 7"/>
            <p:cNvSpPr>
              <a:spLocks noChangeArrowheads="1"/>
            </p:cNvSpPr>
            <p:nvPr/>
          </p:nvSpPr>
          <p:spPr bwMode="auto">
            <a:xfrm>
              <a:off x="1166" y="2108"/>
              <a:ext cx="68" cy="145"/>
            </a:xfrm>
            <a:prstGeom prst="rect">
              <a:avLst/>
            </a:prstGeom>
            <a:noFill/>
            <a:ln w="9525">
              <a:noFill/>
              <a:miter lim="800000"/>
              <a:headEnd/>
              <a:tailEnd/>
            </a:ln>
          </p:spPr>
          <p:txBody>
            <a:bodyPr wrap="none" lIns="0" tIns="0" rIns="0" bIns="0">
              <a:spAutoFit/>
            </a:bodyPr>
            <a:lstStyle/>
            <a:p>
              <a:r>
                <a:rPr lang="zh-CN" altLang="en-US" sz="1500" b="1">
                  <a:solidFill>
                    <a:srgbClr val="0000FF"/>
                  </a:solidFill>
                </a:rPr>
                <a:t>1</a:t>
              </a:r>
              <a:endParaRPr lang="zh-CN" altLang="en-US" sz="2400" b="1">
                <a:solidFill>
                  <a:srgbClr val="0000FF"/>
                </a:solidFill>
                <a:latin typeface="Times New Roman" charset="0"/>
              </a:endParaRPr>
            </a:p>
          </p:txBody>
        </p:sp>
        <p:sp>
          <p:nvSpPr>
            <p:cNvPr id="9" name="Rectangle 8"/>
            <p:cNvSpPr>
              <a:spLocks noChangeArrowheads="1"/>
            </p:cNvSpPr>
            <p:nvPr/>
          </p:nvSpPr>
          <p:spPr bwMode="auto">
            <a:xfrm>
              <a:off x="3646" y="2046"/>
              <a:ext cx="97" cy="233"/>
            </a:xfrm>
            <a:prstGeom prst="rect">
              <a:avLst/>
            </a:prstGeom>
            <a:noFill/>
            <a:ln w="9525">
              <a:noFill/>
              <a:miter lim="800000"/>
              <a:headEnd/>
              <a:tailEnd/>
            </a:ln>
          </p:spPr>
          <p:txBody>
            <a:bodyPr wrap="none" lIns="0" tIns="0" rIns="0" bIns="0">
              <a:spAutoFit/>
            </a:bodyPr>
            <a:lstStyle/>
            <a:p>
              <a:r>
                <a:rPr lang="en-US" altLang="zh-CN" b="1" dirty="0">
                  <a:solidFill>
                    <a:srgbClr val="0000FF"/>
                  </a:solidFill>
                </a:rPr>
                <a:t>P</a:t>
              </a:r>
              <a:endParaRPr lang="en-US" altLang="zh-CN" sz="2400" b="1" dirty="0">
                <a:solidFill>
                  <a:srgbClr val="0000FF"/>
                </a:solidFill>
                <a:latin typeface="Times New Roman" charset="0"/>
              </a:endParaRPr>
            </a:p>
          </p:txBody>
        </p:sp>
        <p:sp>
          <p:nvSpPr>
            <p:cNvPr id="10" name="Rectangle 9"/>
            <p:cNvSpPr>
              <a:spLocks noChangeArrowheads="1"/>
            </p:cNvSpPr>
            <p:nvPr/>
          </p:nvSpPr>
          <p:spPr bwMode="auto">
            <a:xfrm>
              <a:off x="3727" y="2108"/>
              <a:ext cx="68" cy="145"/>
            </a:xfrm>
            <a:prstGeom prst="rect">
              <a:avLst/>
            </a:prstGeom>
            <a:noFill/>
            <a:ln w="9525">
              <a:noFill/>
              <a:miter lim="800000"/>
              <a:headEnd/>
              <a:tailEnd/>
            </a:ln>
          </p:spPr>
          <p:txBody>
            <a:bodyPr wrap="none" lIns="0" tIns="0" rIns="0" bIns="0">
              <a:spAutoFit/>
            </a:bodyPr>
            <a:lstStyle/>
            <a:p>
              <a:r>
                <a:rPr lang="zh-CN" altLang="en-US" sz="1500" b="1">
                  <a:solidFill>
                    <a:srgbClr val="0000FF"/>
                  </a:solidFill>
                </a:rPr>
                <a:t>2</a:t>
              </a:r>
              <a:endParaRPr lang="zh-CN" altLang="en-US" sz="2400" b="1">
                <a:solidFill>
                  <a:srgbClr val="0000FF"/>
                </a:solidFill>
                <a:latin typeface="Times New Roman" charset="0"/>
              </a:endParaRPr>
            </a:p>
          </p:txBody>
        </p:sp>
        <p:sp>
          <p:nvSpPr>
            <p:cNvPr id="11" name="Rectangle 10"/>
            <p:cNvSpPr>
              <a:spLocks noChangeArrowheads="1"/>
            </p:cNvSpPr>
            <p:nvPr/>
          </p:nvSpPr>
          <p:spPr bwMode="auto">
            <a:xfrm>
              <a:off x="1235" y="2290"/>
              <a:ext cx="2825" cy="233"/>
            </a:xfrm>
            <a:prstGeom prst="rect">
              <a:avLst/>
            </a:prstGeom>
            <a:noFill/>
            <a:ln w="9525">
              <a:noFill/>
              <a:miter lim="800000"/>
              <a:headEnd/>
              <a:tailEnd/>
            </a:ln>
          </p:spPr>
          <p:txBody>
            <a:bodyPr wrap="none" lIns="0" tIns="0" rIns="0" bIns="0">
              <a:spAutoFit/>
            </a:bodyPr>
            <a:lstStyle/>
            <a:p>
              <a:r>
                <a:rPr lang="zh-CN" altLang="en-US" b="1" dirty="0">
                  <a:solidFill>
                    <a:srgbClr val="0000FF"/>
                  </a:solidFill>
                </a:rPr>
                <a:t>/*</a:t>
              </a:r>
              <a:r>
                <a:rPr lang="en-US" altLang="zh-CN" b="1" dirty="0">
                  <a:solidFill>
                    <a:srgbClr val="0000FF"/>
                  </a:solidFill>
                </a:rPr>
                <a:t>Assume initial value of A and  </a:t>
              </a:r>
              <a:r>
                <a:rPr lang="en-US" altLang="zh-CN" b="1" dirty="0" smtClean="0">
                  <a:solidFill>
                    <a:srgbClr val="0000FF"/>
                  </a:solidFill>
                </a:rPr>
                <a:t>flag </a:t>
              </a:r>
              <a:r>
                <a:rPr lang="en-US" altLang="zh-CN" b="1" dirty="0">
                  <a:solidFill>
                    <a:srgbClr val="0000FF"/>
                  </a:solidFill>
                </a:rPr>
                <a:t>is 0*/</a:t>
              </a:r>
              <a:endParaRPr lang="en-US" altLang="zh-CN" sz="2400" b="1" dirty="0">
                <a:solidFill>
                  <a:srgbClr val="0000FF"/>
                </a:solidFill>
                <a:latin typeface="Times New Roman" charset="0"/>
              </a:endParaRPr>
            </a:p>
          </p:txBody>
        </p:sp>
        <p:sp>
          <p:nvSpPr>
            <p:cNvPr id="12" name="Rectangle 11"/>
            <p:cNvSpPr>
              <a:spLocks noChangeArrowheads="1"/>
            </p:cNvSpPr>
            <p:nvPr/>
          </p:nvSpPr>
          <p:spPr bwMode="auto">
            <a:xfrm>
              <a:off x="721" y="2514"/>
              <a:ext cx="521" cy="233"/>
            </a:xfrm>
            <a:prstGeom prst="rect">
              <a:avLst/>
            </a:prstGeom>
            <a:noFill/>
            <a:ln w="9525">
              <a:noFill/>
              <a:miter lim="800000"/>
              <a:headEnd/>
              <a:tailEnd/>
            </a:ln>
          </p:spPr>
          <p:txBody>
            <a:bodyPr wrap="none" lIns="0" tIns="0" rIns="0" bIns="0">
              <a:spAutoFit/>
            </a:bodyPr>
            <a:lstStyle/>
            <a:p>
              <a:r>
                <a:rPr lang="en-US" altLang="zh-CN" b="1">
                  <a:solidFill>
                    <a:srgbClr val="0000FF"/>
                  </a:solidFill>
                  <a:latin typeface="Courier New" pitchFamily="49" charset="-52"/>
                </a:rPr>
                <a:t>A = 1;</a:t>
              </a:r>
              <a:endParaRPr lang="en-US" altLang="zh-CN" sz="2400" b="1">
                <a:solidFill>
                  <a:srgbClr val="0000FF"/>
                </a:solidFill>
                <a:latin typeface="Times New Roman" charset="0"/>
              </a:endParaRPr>
            </a:p>
          </p:txBody>
        </p:sp>
        <p:sp>
          <p:nvSpPr>
            <p:cNvPr id="13" name="Rectangle 12"/>
            <p:cNvSpPr>
              <a:spLocks noChangeArrowheads="1"/>
            </p:cNvSpPr>
            <p:nvPr/>
          </p:nvSpPr>
          <p:spPr bwMode="auto">
            <a:xfrm>
              <a:off x="2563" y="2514"/>
              <a:ext cx="1650" cy="233"/>
            </a:xfrm>
            <a:prstGeom prst="rect">
              <a:avLst/>
            </a:prstGeom>
            <a:noFill/>
            <a:ln w="9525">
              <a:noFill/>
              <a:miter lim="800000"/>
              <a:headEnd/>
              <a:tailEnd/>
            </a:ln>
          </p:spPr>
          <p:txBody>
            <a:bodyPr wrap="none" lIns="0" tIns="0" rIns="0" bIns="0">
              <a:spAutoFit/>
            </a:bodyPr>
            <a:lstStyle/>
            <a:p>
              <a:r>
                <a:rPr lang="en-US" altLang="zh-CN" b="1" dirty="0">
                  <a:solidFill>
                    <a:srgbClr val="0000FF"/>
                  </a:solidFill>
                  <a:latin typeface="Courier New" pitchFamily="49" charset="-52"/>
                </a:rPr>
                <a:t>while (flag == 0); </a:t>
              </a:r>
              <a:endParaRPr lang="en-US" altLang="zh-CN" sz="2400" b="1" dirty="0">
                <a:solidFill>
                  <a:srgbClr val="0000FF"/>
                </a:solidFill>
                <a:latin typeface="Times New Roman" charset="0"/>
              </a:endParaRPr>
            </a:p>
          </p:txBody>
        </p:sp>
        <p:sp>
          <p:nvSpPr>
            <p:cNvPr id="14" name="Rectangle 13"/>
            <p:cNvSpPr>
              <a:spLocks noChangeArrowheads="1"/>
            </p:cNvSpPr>
            <p:nvPr/>
          </p:nvSpPr>
          <p:spPr bwMode="auto">
            <a:xfrm>
              <a:off x="4203" y="2499"/>
              <a:ext cx="784" cy="233"/>
            </a:xfrm>
            <a:prstGeom prst="rect">
              <a:avLst/>
            </a:prstGeom>
            <a:noFill/>
            <a:ln w="9525">
              <a:noFill/>
              <a:miter lim="800000"/>
              <a:headEnd/>
              <a:tailEnd/>
            </a:ln>
          </p:spPr>
          <p:txBody>
            <a:bodyPr wrap="none" lIns="0" tIns="0" rIns="0" bIns="0">
              <a:spAutoFit/>
            </a:bodyPr>
            <a:lstStyle/>
            <a:p>
              <a:r>
                <a:rPr lang="zh-CN" altLang="en-US" b="1">
                  <a:solidFill>
                    <a:srgbClr val="0000FF"/>
                  </a:solidFill>
                </a:rPr>
                <a:t>/*</a:t>
              </a:r>
              <a:r>
                <a:rPr lang="en-US" altLang="zh-CN" b="1">
                  <a:solidFill>
                    <a:srgbClr val="0000FF"/>
                  </a:solidFill>
                </a:rPr>
                <a:t>spin idly*/</a:t>
              </a:r>
              <a:endParaRPr lang="en-US" altLang="zh-CN" sz="2400" b="1">
                <a:solidFill>
                  <a:srgbClr val="0000FF"/>
                </a:solidFill>
                <a:latin typeface="Times New Roman" charset="0"/>
              </a:endParaRPr>
            </a:p>
          </p:txBody>
        </p:sp>
        <p:sp>
          <p:nvSpPr>
            <p:cNvPr id="15" name="Rectangle 14"/>
            <p:cNvSpPr>
              <a:spLocks noChangeArrowheads="1"/>
            </p:cNvSpPr>
            <p:nvPr/>
          </p:nvSpPr>
          <p:spPr bwMode="auto">
            <a:xfrm>
              <a:off x="721" y="2738"/>
              <a:ext cx="782" cy="233"/>
            </a:xfrm>
            <a:prstGeom prst="rect">
              <a:avLst/>
            </a:prstGeom>
            <a:noFill/>
            <a:ln w="9525">
              <a:noFill/>
              <a:miter lim="800000"/>
              <a:headEnd/>
              <a:tailEnd/>
            </a:ln>
          </p:spPr>
          <p:txBody>
            <a:bodyPr wrap="none" lIns="0" tIns="0" rIns="0" bIns="0">
              <a:spAutoFit/>
            </a:bodyPr>
            <a:lstStyle/>
            <a:p>
              <a:r>
                <a:rPr lang="en-US" altLang="zh-CN" b="1">
                  <a:solidFill>
                    <a:srgbClr val="0000FF"/>
                  </a:solidFill>
                  <a:latin typeface="Courier New" pitchFamily="49" charset="-52"/>
                </a:rPr>
                <a:t>flag = 1;</a:t>
              </a:r>
              <a:endParaRPr lang="en-US" altLang="zh-CN" sz="2400" b="1">
                <a:solidFill>
                  <a:srgbClr val="0000FF"/>
                </a:solidFill>
                <a:latin typeface="Times New Roman" charset="0"/>
              </a:endParaRPr>
            </a:p>
          </p:txBody>
        </p:sp>
        <p:sp>
          <p:nvSpPr>
            <p:cNvPr id="16" name="Rectangle 15"/>
            <p:cNvSpPr>
              <a:spLocks noChangeArrowheads="1"/>
            </p:cNvSpPr>
            <p:nvPr/>
          </p:nvSpPr>
          <p:spPr bwMode="auto">
            <a:xfrm>
              <a:off x="2563" y="2738"/>
              <a:ext cx="695" cy="233"/>
            </a:xfrm>
            <a:prstGeom prst="rect">
              <a:avLst/>
            </a:prstGeom>
            <a:noFill/>
            <a:ln w="9525">
              <a:noFill/>
              <a:miter lim="800000"/>
              <a:headEnd/>
              <a:tailEnd/>
            </a:ln>
          </p:spPr>
          <p:txBody>
            <a:bodyPr wrap="none" lIns="0" tIns="0" rIns="0" bIns="0">
              <a:spAutoFit/>
            </a:bodyPr>
            <a:lstStyle/>
            <a:p>
              <a:r>
                <a:rPr lang="en-US" altLang="zh-CN" b="1">
                  <a:solidFill>
                    <a:srgbClr val="0000FF"/>
                  </a:solidFill>
                  <a:latin typeface="Courier New" pitchFamily="49" charset="-52"/>
                </a:rPr>
                <a:t>print A;</a:t>
              </a:r>
              <a:endParaRPr lang="en-US" altLang="zh-CN" sz="2400" b="1">
                <a:solidFill>
                  <a:srgbClr val="0000FF"/>
                </a:solidFill>
                <a:latin typeface="Times New Roman" charset="0"/>
              </a:endParaRPr>
            </a:p>
          </p:txBody>
        </p:sp>
        <p:sp>
          <p:nvSpPr>
            <p:cNvPr id="17" name="Line 16"/>
            <p:cNvSpPr>
              <a:spLocks noChangeShapeType="1"/>
            </p:cNvSpPr>
            <p:nvPr/>
          </p:nvSpPr>
          <p:spPr bwMode="auto">
            <a:xfrm>
              <a:off x="527" y="2258"/>
              <a:ext cx="4737" cy="1"/>
            </a:xfrm>
            <a:prstGeom prst="line">
              <a:avLst/>
            </a:prstGeom>
            <a:noFill/>
            <a:ln w="12700">
              <a:solidFill>
                <a:srgbClr val="000000"/>
              </a:solidFill>
              <a:round/>
              <a:headEnd/>
              <a:tailEnd/>
            </a:ln>
          </p:spPr>
          <p:txBody>
            <a:bodyPr/>
            <a:lstStyle/>
            <a:p>
              <a:endParaRPr lang="zh-CN" altLang="en-US" b="1">
                <a:solidFill>
                  <a:srgbClr val="0000FF"/>
                </a:solidFill>
              </a:endParaRPr>
            </a:p>
          </p:txBody>
        </p:sp>
      </p:grpSp>
      <p:sp>
        <p:nvSpPr>
          <p:cNvPr id="18" name="Line 17"/>
          <p:cNvSpPr>
            <a:spLocks noChangeShapeType="1"/>
          </p:cNvSpPr>
          <p:nvPr/>
        </p:nvSpPr>
        <p:spPr bwMode="auto">
          <a:xfrm>
            <a:off x="8496559" y="3858292"/>
            <a:ext cx="2919413" cy="1588"/>
          </a:xfrm>
          <a:prstGeom prst="line">
            <a:avLst/>
          </a:prstGeom>
          <a:noFill/>
          <a:ln w="76200">
            <a:solidFill>
              <a:srgbClr val="114FFB"/>
            </a:solidFill>
            <a:round/>
            <a:headEnd/>
            <a:tailEnd/>
          </a:ln>
        </p:spPr>
        <p:txBody>
          <a:bodyPr/>
          <a:lstStyle/>
          <a:p>
            <a:endParaRPr lang="zh-CN" altLang="en-US">
              <a:latin typeface="+mn-lt"/>
            </a:endParaRPr>
          </a:p>
        </p:txBody>
      </p:sp>
      <p:sp>
        <p:nvSpPr>
          <p:cNvPr id="19" name="Line 18"/>
          <p:cNvSpPr>
            <a:spLocks noChangeShapeType="1"/>
          </p:cNvSpPr>
          <p:nvPr/>
        </p:nvSpPr>
        <p:spPr bwMode="auto">
          <a:xfrm>
            <a:off x="9793547" y="3888456"/>
            <a:ext cx="1587" cy="211137"/>
          </a:xfrm>
          <a:prstGeom prst="line">
            <a:avLst/>
          </a:prstGeom>
          <a:noFill/>
          <a:ln w="25400">
            <a:solidFill>
              <a:srgbClr val="000000"/>
            </a:solidFill>
            <a:round/>
            <a:headEnd/>
            <a:tailEnd/>
          </a:ln>
        </p:spPr>
        <p:txBody>
          <a:bodyPr/>
          <a:lstStyle/>
          <a:p>
            <a:endParaRPr lang="zh-CN" altLang="en-US">
              <a:latin typeface="+mn-lt"/>
            </a:endParaRPr>
          </a:p>
        </p:txBody>
      </p:sp>
      <p:sp>
        <p:nvSpPr>
          <p:cNvPr id="20" name="Freeform 19"/>
          <p:cNvSpPr>
            <a:spLocks/>
          </p:cNvSpPr>
          <p:nvPr/>
        </p:nvSpPr>
        <p:spPr bwMode="auto">
          <a:xfrm>
            <a:off x="9283959" y="4099593"/>
            <a:ext cx="1008063" cy="315913"/>
          </a:xfrm>
          <a:custGeom>
            <a:avLst/>
            <a:gdLst/>
            <a:ahLst/>
            <a:cxnLst>
              <a:cxn ang="0">
                <a:pos x="0" y="0"/>
              </a:cxn>
              <a:cxn ang="0">
                <a:pos x="798" y="0"/>
              </a:cxn>
              <a:cxn ang="0">
                <a:pos x="798" y="238"/>
              </a:cxn>
              <a:cxn ang="0">
                <a:pos x="3" y="238"/>
              </a:cxn>
              <a:cxn ang="0">
                <a:pos x="3" y="0"/>
              </a:cxn>
              <a:cxn ang="0">
                <a:pos x="0" y="0"/>
              </a:cxn>
            </a:cxnLst>
            <a:rect l="0" t="0" r="r" b="b"/>
            <a:pathLst>
              <a:path w="798" h="238">
                <a:moveTo>
                  <a:pt x="0" y="0"/>
                </a:moveTo>
                <a:lnTo>
                  <a:pt x="798" y="0"/>
                </a:lnTo>
                <a:lnTo>
                  <a:pt x="798" y="238"/>
                </a:lnTo>
                <a:lnTo>
                  <a:pt x="3" y="238"/>
                </a:lnTo>
                <a:lnTo>
                  <a:pt x="3" y="0"/>
                </a:lnTo>
                <a:lnTo>
                  <a:pt x="0" y="0"/>
                </a:lnTo>
                <a:close/>
              </a:path>
            </a:pathLst>
          </a:custGeom>
          <a:solidFill>
            <a:srgbClr val="FFFFFF"/>
          </a:solidFill>
          <a:ln w="9525">
            <a:noFill/>
            <a:round/>
            <a:headEnd/>
            <a:tailEnd/>
          </a:ln>
        </p:spPr>
        <p:txBody>
          <a:bodyPr/>
          <a:lstStyle/>
          <a:p>
            <a:endParaRPr lang="zh-CN" altLang="en-US">
              <a:latin typeface="+mn-lt"/>
            </a:endParaRPr>
          </a:p>
        </p:txBody>
      </p:sp>
      <p:sp>
        <p:nvSpPr>
          <p:cNvPr id="21" name="Freeform 20"/>
          <p:cNvSpPr>
            <a:spLocks/>
          </p:cNvSpPr>
          <p:nvPr/>
        </p:nvSpPr>
        <p:spPr bwMode="auto">
          <a:xfrm>
            <a:off x="9283958" y="4099592"/>
            <a:ext cx="1371600" cy="381000"/>
          </a:xfrm>
          <a:custGeom>
            <a:avLst/>
            <a:gdLst/>
            <a:ahLst/>
            <a:cxnLst>
              <a:cxn ang="0">
                <a:pos x="0" y="0"/>
              </a:cxn>
              <a:cxn ang="0">
                <a:pos x="798" y="0"/>
              </a:cxn>
              <a:cxn ang="0">
                <a:pos x="798" y="238"/>
              </a:cxn>
              <a:cxn ang="0">
                <a:pos x="3" y="238"/>
              </a:cxn>
              <a:cxn ang="0">
                <a:pos x="3" y="0"/>
              </a:cxn>
            </a:cxnLst>
            <a:rect l="0" t="0" r="r" b="b"/>
            <a:pathLst>
              <a:path w="798" h="238">
                <a:moveTo>
                  <a:pt x="0" y="0"/>
                </a:moveTo>
                <a:lnTo>
                  <a:pt x="798" y="0"/>
                </a:lnTo>
                <a:lnTo>
                  <a:pt x="798" y="238"/>
                </a:lnTo>
                <a:lnTo>
                  <a:pt x="3" y="238"/>
                </a:lnTo>
                <a:lnTo>
                  <a:pt x="3" y="0"/>
                </a:lnTo>
              </a:path>
            </a:pathLst>
          </a:custGeom>
          <a:noFill/>
          <a:ln w="7938">
            <a:solidFill>
              <a:srgbClr val="000000"/>
            </a:solidFill>
            <a:prstDash val="solid"/>
            <a:round/>
            <a:headEnd/>
            <a:tailEnd/>
          </a:ln>
        </p:spPr>
        <p:txBody>
          <a:bodyPr/>
          <a:lstStyle/>
          <a:p>
            <a:endParaRPr lang="zh-CN" altLang="en-US">
              <a:latin typeface="+mn-lt"/>
            </a:endParaRPr>
          </a:p>
        </p:txBody>
      </p:sp>
      <p:sp>
        <p:nvSpPr>
          <p:cNvPr id="22" name="Rectangle 21"/>
          <p:cNvSpPr>
            <a:spLocks noChangeArrowheads="1"/>
          </p:cNvSpPr>
          <p:nvPr/>
        </p:nvSpPr>
        <p:spPr bwMode="auto">
          <a:xfrm>
            <a:off x="9663371" y="4169443"/>
            <a:ext cx="455954" cy="246221"/>
          </a:xfrm>
          <a:prstGeom prst="rect">
            <a:avLst/>
          </a:prstGeom>
          <a:noFill/>
          <a:ln w="9525">
            <a:noFill/>
            <a:miter lim="800000"/>
            <a:headEnd/>
            <a:tailEnd/>
          </a:ln>
        </p:spPr>
        <p:txBody>
          <a:bodyPr wrap="none" lIns="0" tIns="0" rIns="0" bIns="0">
            <a:spAutoFit/>
          </a:bodyPr>
          <a:lstStyle/>
          <a:p>
            <a:r>
              <a:rPr lang="en-US" altLang="zh-CN" sz="1600">
                <a:solidFill>
                  <a:srgbClr val="000000"/>
                </a:solidFill>
                <a:latin typeface="+mn-lt"/>
              </a:rPr>
              <a:t>Mem</a:t>
            </a:r>
            <a:endParaRPr lang="en-US" altLang="zh-CN">
              <a:latin typeface="+mn-lt"/>
            </a:endParaRPr>
          </a:p>
        </p:txBody>
      </p:sp>
      <p:sp>
        <p:nvSpPr>
          <p:cNvPr id="23" name="Freeform 22"/>
          <p:cNvSpPr>
            <a:spLocks/>
          </p:cNvSpPr>
          <p:nvPr/>
        </p:nvSpPr>
        <p:spPr bwMode="auto">
          <a:xfrm>
            <a:off x="8826759" y="3108993"/>
            <a:ext cx="403225" cy="422275"/>
          </a:xfrm>
          <a:custGeom>
            <a:avLst/>
            <a:gdLst/>
            <a:ahLst/>
            <a:cxnLst>
              <a:cxn ang="0">
                <a:pos x="316" y="159"/>
              </a:cxn>
              <a:cxn ang="0">
                <a:pos x="316" y="185"/>
              </a:cxn>
              <a:cxn ang="0">
                <a:pos x="311" y="209"/>
              </a:cxn>
              <a:cxn ang="0">
                <a:pos x="300" y="230"/>
              </a:cxn>
              <a:cxn ang="0">
                <a:pos x="287" y="252"/>
              </a:cxn>
              <a:cxn ang="0">
                <a:pos x="271" y="270"/>
              </a:cxn>
              <a:cxn ang="0">
                <a:pos x="252" y="286"/>
              </a:cxn>
              <a:cxn ang="0">
                <a:pos x="231" y="299"/>
              </a:cxn>
              <a:cxn ang="0">
                <a:pos x="210" y="310"/>
              </a:cxn>
              <a:cxn ang="0">
                <a:pos x="183" y="315"/>
              </a:cxn>
              <a:cxn ang="0">
                <a:pos x="160" y="318"/>
              </a:cxn>
              <a:cxn ang="0">
                <a:pos x="133" y="315"/>
              </a:cxn>
              <a:cxn ang="0">
                <a:pos x="109" y="310"/>
              </a:cxn>
              <a:cxn ang="0">
                <a:pos x="85" y="299"/>
              </a:cxn>
              <a:cxn ang="0">
                <a:pos x="64" y="286"/>
              </a:cxn>
              <a:cxn ang="0">
                <a:pos x="46" y="270"/>
              </a:cxn>
              <a:cxn ang="0">
                <a:pos x="30" y="252"/>
              </a:cxn>
              <a:cxn ang="0">
                <a:pos x="16" y="230"/>
              </a:cxn>
              <a:cxn ang="0">
                <a:pos x="8" y="209"/>
              </a:cxn>
              <a:cxn ang="0">
                <a:pos x="0" y="185"/>
              </a:cxn>
              <a:cxn ang="0">
                <a:pos x="0" y="159"/>
              </a:cxn>
              <a:cxn ang="0">
                <a:pos x="0" y="132"/>
              </a:cxn>
              <a:cxn ang="0">
                <a:pos x="8" y="108"/>
              </a:cxn>
              <a:cxn ang="0">
                <a:pos x="16" y="85"/>
              </a:cxn>
              <a:cxn ang="0">
                <a:pos x="30" y="63"/>
              </a:cxn>
              <a:cxn ang="0">
                <a:pos x="46" y="45"/>
              </a:cxn>
              <a:cxn ang="0">
                <a:pos x="64" y="29"/>
              </a:cxn>
              <a:cxn ang="0">
                <a:pos x="85" y="18"/>
              </a:cxn>
              <a:cxn ang="0">
                <a:pos x="109" y="8"/>
              </a:cxn>
              <a:cxn ang="0">
                <a:pos x="133" y="2"/>
              </a:cxn>
              <a:cxn ang="0">
                <a:pos x="160" y="0"/>
              </a:cxn>
              <a:cxn ang="0">
                <a:pos x="183" y="2"/>
              </a:cxn>
              <a:cxn ang="0">
                <a:pos x="210" y="8"/>
              </a:cxn>
              <a:cxn ang="0">
                <a:pos x="231" y="18"/>
              </a:cxn>
              <a:cxn ang="0">
                <a:pos x="252" y="29"/>
              </a:cxn>
              <a:cxn ang="0">
                <a:pos x="271" y="45"/>
              </a:cxn>
              <a:cxn ang="0">
                <a:pos x="287" y="63"/>
              </a:cxn>
              <a:cxn ang="0">
                <a:pos x="300" y="85"/>
              </a:cxn>
              <a:cxn ang="0">
                <a:pos x="311" y="108"/>
              </a:cxn>
              <a:cxn ang="0">
                <a:pos x="316" y="132"/>
              </a:cxn>
              <a:cxn ang="0">
                <a:pos x="319" y="159"/>
              </a:cxn>
              <a:cxn ang="0">
                <a:pos x="316" y="159"/>
              </a:cxn>
            </a:cxnLst>
            <a:rect l="0" t="0" r="r" b="b"/>
            <a:pathLst>
              <a:path w="319" h="318">
                <a:moveTo>
                  <a:pt x="316" y="159"/>
                </a:moveTo>
                <a:lnTo>
                  <a:pt x="316" y="185"/>
                </a:lnTo>
                <a:lnTo>
                  <a:pt x="311" y="209"/>
                </a:lnTo>
                <a:lnTo>
                  <a:pt x="300" y="230"/>
                </a:lnTo>
                <a:lnTo>
                  <a:pt x="287" y="252"/>
                </a:lnTo>
                <a:lnTo>
                  <a:pt x="271" y="270"/>
                </a:lnTo>
                <a:lnTo>
                  <a:pt x="252" y="286"/>
                </a:lnTo>
                <a:lnTo>
                  <a:pt x="231" y="299"/>
                </a:lnTo>
                <a:lnTo>
                  <a:pt x="210" y="310"/>
                </a:lnTo>
                <a:lnTo>
                  <a:pt x="183" y="315"/>
                </a:lnTo>
                <a:lnTo>
                  <a:pt x="160" y="318"/>
                </a:lnTo>
                <a:lnTo>
                  <a:pt x="133" y="315"/>
                </a:lnTo>
                <a:lnTo>
                  <a:pt x="109" y="310"/>
                </a:lnTo>
                <a:lnTo>
                  <a:pt x="85" y="299"/>
                </a:lnTo>
                <a:lnTo>
                  <a:pt x="64" y="286"/>
                </a:lnTo>
                <a:lnTo>
                  <a:pt x="46" y="270"/>
                </a:lnTo>
                <a:lnTo>
                  <a:pt x="30" y="252"/>
                </a:lnTo>
                <a:lnTo>
                  <a:pt x="16" y="230"/>
                </a:lnTo>
                <a:lnTo>
                  <a:pt x="8" y="209"/>
                </a:lnTo>
                <a:lnTo>
                  <a:pt x="0" y="185"/>
                </a:lnTo>
                <a:lnTo>
                  <a:pt x="0" y="159"/>
                </a:lnTo>
                <a:lnTo>
                  <a:pt x="0" y="132"/>
                </a:lnTo>
                <a:lnTo>
                  <a:pt x="8" y="108"/>
                </a:lnTo>
                <a:lnTo>
                  <a:pt x="16" y="85"/>
                </a:lnTo>
                <a:lnTo>
                  <a:pt x="30" y="63"/>
                </a:lnTo>
                <a:lnTo>
                  <a:pt x="46" y="45"/>
                </a:lnTo>
                <a:lnTo>
                  <a:pt x="64" y="29"/>
                </a:lnTo>
                <a:lnTo>
                  <a:pt x="85" y="18"/>
                </a:lnTo>
                <a:lnTo>
                  <a:pt x="109" y="8"/>
                </a:lnTo>
                <a:lnTo>
                  <a:pt x="133" y="2"/>
                </a:lnTo>
                <a:lnTo>
                  <a:pt x="160" y="0"/>
                </a:lnTo>
                <a:lnTo>
                  <a:pt x="183" y="2"/>
                </a:lnTo>
                <a:lnTo>
                  <a:pt x="210" y="8"/>
                </a:lnTo>
                <a:lnTo>
                  <a:pt x="231" y="18"/>
                </a:lnTo>
                <a:lnTo>
                  <a:pt x="252" y="29"/>
                </a:lnTo>
                <a:lnTo>
                  <a:pt x="271" y="45"/>
                </a:lnTo>
                <a:lnTo>
                  <a:pt x="287" y="63"/>
                </a:lnTo>
                <a:lnTo>
                  <a:pt x="300" y="85"/>
                </a:lnTo>
                <a:lnTo>
                  <a:pt x="311" y="108"/>
                </a:lnTo>
                <a:lnTo>
                  <a:pt x="316" y="132"/>
                </a:lnTo>
                <a:lnTo>
                  <a:pt x="319" y="159"/>
                </a:lnTo>
                <a:lnTo>
                  <a:pt x="316" y="159"/>
                </a:lnTo>
                <a:close/>
              </a:path>
            </a:pathLst>
          </a:custGeom>
          <a:solidFill>
            <a:srgbClr val="FFFFFF"/>
          </a:solidFill>
          <a:ln w="9525">
            <a:noFill/>
            <a:round/>
            <a:headEnd/>
            <a:tailEnd/>
          </a:ln>
        </p:spPr>
        <p:txBody>
          <a:bodyPr/>
          <a:lstStyle/>
          <a:p>
            <a:endParaRPr lang="zh-CN" altLang="en-US">
              <a:latin typeface="+mn-lt"/>
            </a:endParaRPr>
          </a:p>
        </p:txBody>
      </p:sp>
      <p:sp>
        <p:nvSpPr>
          <p:cNvPr id="24" name="Freeform 23"/>
          <p:cNvSpPr>
            <a:spLocks/>
          </p:cNvSpPr>
          <p:nvPr/>
        </p:nvSpPr>
        <p:spPr bwMode="auto">
          <a:xfrm>
            <a:off x="8826759" y="3108993"/>
            <a:ext cx="403225" cy="422275"/>
          </a:xfrm>
          <a:custGeom>
            <a:avLst/>
            <a:gdLst/>
            <a:ahLst/>
            <a:cxnLst>
              <a:cxn ang="0">
                <a:pos x="316" y="159"/>
              </a:cxn>
              <a:cxn ang="0">
                <a:pos x="316" y="132"/>
              </a:cxn>
              <a:cxn ang="0">
                <a:pos x="311" y="108"/>
              </a:cxn>
              <a:cxn ang="0">
                <a:pos x="300" y="85"/>
              </a:cxn>
              <a:cxn ang="0">
                <a:pos x="287" y="63"/>
              </a:cxn>
              <a:cxn ang="0">
                <a:pos x="271" y="45"/>
              </a:cxn>
              <a:cxn ang="0">
                <a:pos x="252" y="29"/>
              </a:cxn>
              <a:cxn ang="0">
                <a:pos x="231" y="18"/>
              </a:cxn>
              <a:cxn ang="0">
                <a:pos x="210" y="8"/>
              </a:cxn>
              <a:cxn ang="0">
                <a:pos x="183" y="2"/>
              </a:cxn>
              <a:cxn ang="0">
                <a:pos x="160" y="0"/>
              </a:cxn>
              <a:cxn ang="0">
                <a:pos x="133" y="2"/>
              </a:cxn>
              <a:cxn ang="0">
                <a:pos x="109" y="8"/>
              </a:cxn>
              <a:cxn ang="0">
                <a:pos x="85" y="18"/>
              </a:cxn>
              <a:cxn ang="0">
                <a:pos x="64" y="29"/>
              </a:cxn>
              <a:cxn ang="0">
                <a:pos x="46" y="45"/>
              </a:cxn>
              <a:cxn ang="0">
                <a:pos x="30" y="63"/>
              </a:cxn>
              <a:cxn ang="0">
                <a:pos x="16" y="85"/>
              </a:cxn>
              <a:cxn ang="0">
                <a:pos x="8" y="108"/>
              </a:cxn>
              <a:cxn ang="0">
                <a:pos x="0" y="132"/>
              </a:cxn>
              <a:cxn ang="0">
                <a:pos x="0" y="159"/>
              </a:cxn>
              <a:cxn ang="0">
                <a:pos x="0" y="185"/>
              </a:cxn>
              <a:cxn ang="0">
                <a:pos x="8" y="209"/>
              </a:cxn>
              <a:cxn ang="0">
                <a:pos x="16" y="230"/>
              </a:cxn>
              <a:cxn ang="0">
                <a:pos x="30" y="252"/>
              </a:cxn>
              <a:cxn ang="0">
                <a:pos x="46" y="270"/>
              </a:cxn>
              <a:cxn ang="0">
                <a:pos x="64" y="286"/>
              </a:cxn>
              <a:cxn ang="0">
                <a:pos x="85" y="299"/>
              </a:cxn>
              <a:cxn ang="0">
                <a:pos x="109" y="310"/>
              </a:cxn>
              <a:cxn ang="0">
                <a:pos x="133" y="315"/>
              </a:cxn>
              <a:cxn ang="0">
                <a:pos x="160" y="318"/>
              </a:cxn>
              <a:cxn ang="0">
                <a:pos x="183" y="315"/>
              </a:cxn>
              <a:cxn ang="0">
                <a:pos x="210" y="310"/>
              </a:cxn>
              <a:cxn ang="0">
                <a:pos x="231" y="299"/>
              </a:cxn>
              <a:cxn ang="0">
                <a:pos x="252" y="286"/>
              </a:cxn>
              <a:cxn ang="0">
                <a:pos x="271" y="270"/>
              </a:cxn>
              <a:cxn ang="0">
                <a:pos x="287" y="252"/>
              </a:cxn>
              <a:cxn ang="0">
                <a:pos x="300" y="230"/>
              </a:cxn>
              <a:cxn ang="0">
                <a:pos x="311" y="209"/>
              </a:cxn>
              <a:cxn ang="0">
                <a:pos x="316" y="185"/>
              </a:cxn>
              <a:cxn ang="0">
                <a:pos x="319" y="159"/>
              </a:cxn>
              <a:cxn ang="0">
                <a:pos x="319" y="159"/>
              </a:cxn>
            </a:cxnLst>
            <a:rect l="0" t="0" r="r" b="b"/>
            <a:pathLst>
              <a:path w="319" h="318">
                <a:moveTo>
                  <a:pt x="316" y="159"/>
                </a:moveTo>
                <a:lnTo>
                  <a:pt x="316" y="132"/>
                </a:lnTo>
                <a:lnTo>
                  <a:pt x="311" y="108"/>
                </a:lnTo>
                <a:lnTo>
                  <a:pt x="300" y="85"/>
                </a:lnTo>
                <a:lnTo>
                  <a:pt x="287" y="63"/>
                </a:lnTo>
                <a:lnTo>
                  <a:pt x="271" y="45"/>
                </a:lnTo>
                <a:lnTo>
                  <a:pt x="252" y="29"/>
                </a:lnTo>
                <a:lnTo>
                  <a:pt x="231" y="18"/>
                </a:lnTo>
                <a:lnTo>
                  <a:pt x="210" y="8"/>
                </a:lnTo>
                <a:lnTo>
                  <a:pt x="183" y="2"/>
                </a:lnTo>
                <a:lnTo>
                  <a:pt x="160" y="0"/>
                </a:lnTo>
                <a:lnTo>
                  <a:pt x="133" y="2"/>
                </a:lnTo>
                <a:lnTo>
                  <a:pt x="109" y="8"/>
                </a:lnTo>
                <a:lnTo>
                  <a:pt x="85" y="18"/>
                </a:lnTo>
                <a:lnTo>
                  <a:pt x="64" y="29"/>
                </a:lnTo>
                <a:lnTo>
                  <a:pt x="46" y="45"/>
                </a:lnTo>
                <a:lnTo>
                  <a:pt x="30" y="63"/>
                </a:lnTo>
                <a:lnTo>
                  <a:pt x="16" y="85"/>
                </a:lnTo>
                <a:lnTo>
                  <a:pt x="8" y="108"/>
                </a:lnTo>
                <a:lnTo>
                  <a:pt x="0" y="132"/>
                </a:lnTo>
                <a:lnTo>
                  <a:pt x="0" y="159"/>
                </a:lnTo>
                <a:lnTo>
                  <a:pt x="0" y="185"/>
                </a:lnTo>
                <a:lnTo>
                  <a:pt x="8" y="209"/>
                </a:lnTo>
                <a:lnTo>
                  <a:pt x="16" y="230"/>
                </a:lnTo>
                <a:lnTo>
                  <a:pt x="30" y="252"/>
                </a:lnTo>
                <a:lnTo>
                  <a:pt x="46" y="270"/>
                </a:lnTo>
                <a:lnTo>
                  <a:pt x="64" y="286"/>
                </a:lnTo>
                <a:lnTo>
                  <a:pt x="85" y="299"/>
                </a:lnTo>
                <a:lnTo>
                  <a:pt x="109" y="310"/>
                </a:lnTo>
                <a:lnTo>
                  <a:pt x="133" y="315"/>
                </a:lnTo>
                <a:lnTo>
                  <a:pt x="160" y="318"/>
                </a:lnTo>
                <a:lnTo>
                  <a:pt x="183" y="315"/>
                </a:lnTo>
                <a:lnTo>
                  <a:pt x="210" y="310"/>
                </a:lnTo>
                <a:lnTo>
                  <a:pt x="231" y="299"/>
                </a:lnTo>
                <a:lnTo>
                  <a:pt x="252" y="286"/>
                </a:lnTo>
                <a:lnTo>
                  <a:pt x="271" y="270"/>
                </a:lnTo>
                <a:lnTo>
                  <a:pt x="287" y="252"/>
                </a:lnTo>
                <a:lnTo>
                  <a:pt x="300" y="230"/>
                </a:lnTo>
                <a:lnTo>
                  <a:pt x="311" y="209"/>
                </a:lnTo>
                <a:lnTo>
                  <a:pt x="316" y="185"/>
                </a:lnTo>
                <a:lnTo>
                  <a:pt x="319" y="159"/>
                </a:lnTo>
                <a:lnTo>
                  <a:pt x="319"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25" name="Rectangle 24"/>
          <p:cNvSpPr>
            <a:spLocks noChangeArrowheads="1"/>
          </p:cNvSpPr>
          <p:nvPr/>
        </p:nvSpPr>
        <p:spPr bwMode="auto">
          <a:xfrm>
            <a:off x="8971221" y="3248693"/>
            <a:ext cx="105798" cy="246221"/>
          </a:xfrm>
          <a:prstGeom prst="rect">
            <a:avLst/>
          </a:prstGeom>
          <a:noFill/>
          <a:ln w="9525">
            <a:noFill/>
            <a:miter lim="800000"/>
            <a:headEnd/>
            <a:tailEnd/>
          </a:ln>
        </p:spPr>
        <p:txBody>
          <a:bodyPr wrap="none" lIns="0" tIns="0" rIns="0" bIns="0">
            <a:spAutoFit/>
          </a:bodyPr>
          <a:lstStyle/>
          <a:p>
            <a:r>
              <a:rPr lang="en-US" altLang="zh-CN" sz="1600">
                <a:solidFill>
                  <a:srgbClr val="000000"/>
                </a:solidFill>
                <a:latin typeface="+mn-lt"/>
              </a:rPr>
              <a:t>P</a:t>
            </a:r>
            <a:endParaRPr lang="en-US" altLang="zh-CN">
              <a:latin typeface="+mn-lt"/>
            </a:endParaRPr>
          </a:p>
        </p:txBody>
      </p:sp>
      <p:sp>
        <p:nvSpPr>
          <p:cNvPr id="26" name="Rectangle 25"/>
          <p:cNvSpPr>
            <a:spLocks noChangeArrowheads="1"/>
          </p:cNvSpPr>
          <p:nvPr/>
        </p:nvSpPr>
        <p:spPr bwMode="auto">
          <a:xfrm>
            <a:off x="9055358" y="3337592"/>
            <a:ext cx="78548" cy="184666"/>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mn-lt"/>
              </a:rPr>
              <a:t>1</a:t>
            </a:r>
            <a:endParaRPr lang="zh-CN" altLang="en-US">
              <a:latin typeface="+mn-lt"/>
            </a:endParaRPr>
          </a:p>
        </p:txBody>
      </p:sp>
      <p:sp>
        <p:nvSpPr>
          <p:cNvPr id="27" name="Line 26"/>
          <p:cNvSpPr>
            <a:spLocks noChangeShapeType="1"/>
          </p:cNvSpPr>
          <p:nvPr/>
        </p:nvSpPr>
        <p:spPr bwMode="auto">
          <a:xfrm>
            <a:off x="10731758" y="3413792"/>
            <a:ext cx="1588" cy="363538"/>
          </a:xfrm>
          <a:prstGeom prst="line">
            <a:avLst/>
          </a:prstGeom>
          <a:noFill/>
          <a:ln w="25400">
            <a:solidFill>
              <a:srgbClr val="000000"/>
            </a:solidFill>
            <a:round/>
            <a:headEnd/>
            <a:tailEnd/>
          </a:ln>
        </p:spPr>
        <p:txBody>
          <a:bodyPr/>
          <a:lstStyle/>
          <a:p>
            <a:endParaRPr lang="zh-CN" altLang="en-US">
              <a:latin typeface="+mn-lt"/>
            </a:endParaRPr>
          </a:p>
        </p:txBody>
      </p:sp>
      <p:sp>
        <p:nvSpPr>
          <p:cNvPr id="28" name="Freeform 27"/>
          <p:cNvSpPr>
            <a:spLocks/>
          </p:cNvSpPr>
          <p:nvPr/>
        </p:nvSpPr>
        <p:spPr bwMode="auto">
          <a:xfrm>
            <a:off x="10503158" y="3032793"/>
            <a:ext cx="401638" cy="422275"/>
          </a:xfrm>
          <a:custGeom>
            <a:avLst/>
            <a:gdLst/>
            <a:ahLst/>
            <a:cxnLst>
              <a:cxn ang="0">
                <a:pos x="315" y="159"/>
              </a:cxn>
              <a:cxn ang="0">
                <a:pos x="315" y="185"/>
              </a:cxn>
              <a:cxn ang="0">
                <a:pos x="310" y="209"/>
              </a:cxn>
              <a:cxn ang="0">
                <a:pos x="299" y="233"/>
              </a:cxn>
              <a:cxn ang="0">
                <a:pos x="286" y="254"/>
              </a:cxn>
              <a:cxn ang="0">
                <a:pos x="270" y="273"/>
              </a:cxn>
              <a:cxn ang="0">
                <a:pos x="252" y="288"/>
              </a:cxn>
              <a:cxn ang="0">
                <a:pos x="230" y="302"/>
              </a:cxn>
              <a:cxn ang="0">
                <a:pos x="209" y="310"/>
              </a:cxn>
              <a:cxn ang="0">
                <a:pos x="183" y="318"/>
              </a:cxn>
              <a:cxn ang="0">
                <a:pos x="159" y="318"/>
              </a:cxn>
              <a:cxn ang="0">
                <a:pos x="132" y="318"/>
              </a:cxn>
              <a:cxn ang="0">
                <a:pos x="109" y="310"/>
              </a:cxn>
              <a:cxn ang="0">
                <a:pos x="85" y="302"/>
              </a:cxn>
              <a:cxn ang="0">
                <a:pos x="64" y="288"/>
              </a:cxn>
              <a:cxn ang="0">
                <a:pos x="45" y="273"/>
              </a:cxn>
              <a:cxn ang="0">
                <a:pos x="29" y="254"/>
              </a:cxn>
              <a:cxn ang="0">
                <a:pos x="16" y="233"/>
              </a:cxn>
              <a:cxn ang="0">
                <a:pos x="8" y="209"/>
              </a:cxn>
              <a:cxn ang="0">
                <a:pos x="0" y="185"/>
              </a:cxn>
              <a:cxn ang="0">
                <a:pos x="0" y="159"/>
              </a:cxn>
              <a:cxn ang="0">
                <a:pos x="0" y="135"/>
              </a:cxn>
              <a:cxn ang="0">
                <a:pos x="8" y="108"/>
              </a:cxn>
              <a:cxn ang="0">
                <a:pos x="16" y="87"/>
              </a:cxn>
              <a:cxn ang="0">
                <a:pos x="29" y="66"/>
              </a:cxn>
              <a:cxn ang="0">
                <a:pos x="45" y="47"/>
              </a:cxn>
              <a:cxn ang="0">
                <a:pos x="64" y="31"/>
              </a:cxn>
              <a:cxn ang="0">
                <a:pos x="85" y="18"/>
              </a:cxn>
              <a:cxn ang="0">
                <a:pos x="109" y="7"/>
              </a:cxn>
              <a:cxn ang="0">
                <a:pos x="132" y="2"/>
              </a:cxn>
              <a:cxn ang="0">
                <a:pos x="159" y="0"/>
              </a:cxn>
              <a:cxn ang="0">
                <a:pos x="183" y="2"/>
              </a:cxn>
              <a:cxn ang="0">
                <a:pos x="209" y="7"/>
              </a:cxn>
              <a:cxn ang="0">
                <a:pos x="230" y="18"/>
              </a:cxn>
              <a:cxn ang="0">
                <a:pos x="252" y="31"/>
              </a:cxn>
              <a:cxn ang="0">
                <a:pos x="270" y="47"/>
              </a:cxn>
              <a:cxn ang="0">
                <a:pos x="286" y="66"/>
              </a:cxn>
              <a:cxn ang="0">
                <a:pos x="299" y="87"/>
              </a:cxn>
              <a:cxn ang="0">
                <a:pos x="310" y="108"/>
              </a:cxn>
              <a:cxn ang="0">
                <a:pos x="315" y="135"/>
              </a:cxn>
              <a:cxn ang="0">
                <a:pos x="318" y="159"/>
              </a:cxn>
              <a:cxn ang="0">
                <a:pos x="315" y="159"/>
              </a:cxn>
            </a:cxnLst>
            <a:rect l="0" t="0" r="r" b="b"/>
            <a:pathLst>
              <a:path w="318" h="318">
                <a:moveTo>
                  <a:pt x="315" y="159"/>
                </a:moveTo>
                <a:lnTo>
                  <a:pt x="315" y="185"/>
                </a:lnTo>
                <a:lnTo>
                  <a:pt x="310" y="209"/>
                </a:lnTo>
                <a:lnTo>
                  <a:pt x="299" y="233"/>
                </a:lnTo>
                <a:lnTo>
                  <a:pt x="286" y="254"/>
                </a:lnTo>
                <a:lnTo>
                  <a:pt x="270" y="273"/>
                </a:lnTo>
                <a:lnTo>
                  <a:pt x="252" y="288"/>
                </a:lnTo>
                <a:lnTo>
                  <a:pt x="230" y="302"/>
                </a:lnTo>
                <a:lnTo>
                  <a:pt x="209" y="310"/>
                </a:lnTo>
                <a:lnTo>
                  <a:pt x="183" y="318"/>
                </a:lnTo>
                <a:lnTo>
                  <a:pt x="159" y="318"/>
                </a:lnTo>
                <a:lnTo>
                  <a:pt x="132" y="318"/>
                </a:lnTo>
                <a:lnTo>
                  <a:pt x="109" y="310"/>
                </a:lnTo>
                <a:lnTo>
                  <a:pt x="85" y="302"/>
                </a:lnTo>
                <a:lnTo>
                  <a:pt x="64" y="288"/>
                </a:lnTo>
                <a:lnTo>
                  <a:pt x="45" y="273"/>
                </a:lnTo>
                <a:lnTo>
                  <a:pt x="29" y="254"/>
                </a:lnTo>
                <a:lnTo>
                  <a:pt x="16" y="233"/>
                </a:lnTo>
                <a:lnTo>
                  <a:pt x="8" y="209"/>
                </a:lnTo>
                <a:lnTo>
                  <a:pt x="0" y="185"/>
                </a:lnTo>
                <a:lnTo>
                  <a:pt x="0" y="159"/>
                </a:lnTo>
                <a:lnTo>
                  <a:pt x="0" y="135"/>
                </a:lnTo>
                <a:lnTo>
                  <a:pt x="8" y="108"/>
                </a:lnTo>
                <a:lnTo>
                  <a:pt x="16" y="87"/>
                </a:lnTo>
                <a:lnTo>
                  <a:pt x="29" y="66"/>
                </a:lnTo>
                <a:lnTo>
                  <a:pt x="45" y="47"/>
                </a:lnTo>
                <a:lnTo>
                  <a:pt x="64" y="31"/>
                </a:lnTo>
                <a:lnTo>
                  <a:pt x="85" y="18"/>
                </a:lnTo>
                <a:lnTo>
                  <a:pt x="109" y="7"/>
                </a:lnTo>
                <a:lnTo>
                  <a:pt x="132" y="2"/>
                </a:lnTo>
                <a:lnTo>
                  <a:pt x="159" y="0"/>
                </a:lnTo>
                <a:lnTo>
                  <a:pt x="183" y="2"/>
                </a:lnTo>
                <a:lnTo>
                  <a:pt x="209" y="7"/>
                </a:lnTo>
                <a:lnTo>
                  <a:pt x="230" y="18"/>
                </a:lnTo>
                <a:lnTo>
                  <a:pt x="252" y="31"/>
                </a:lnTo>
                <a:lnTo>
                  <a:pt x="270" y="47"/>
                </a:lnTo>
                <a:lnTo>
                  <a:pt x="286" y="66"/>
                </a:lnTo>
                <a:lnTo>
                  <a:pt x="299" y="87"/>
                </a:lnTo>
                <a:lnTo>
                  <a:pt x="310" y="108"/>
                </a:lnTo>
                <a:lnTo>
                  <a:pt x="315" y="135"/>
                </a:lnTo>
                <a:lnTo>
                  <a:pt x="318" y="159"/>
                </a:lnTo>
                <a:lnTo>
                  <a:pt x="315" y="159"/>
                </a:lnTo>
                <a:close/>
              </a:path>
            </a:pathLst>
          </a:custGeom>
          <a:solidFill>
            <a:srgbClr val="FFFFFF"/>
          </a:solidFill>
          <a:ln w="9525">
            <a:noFill/>
            <a:round/>
            <a:headEnd/>
            <a:tailEnd/>
          </a:ln>
        </p:spPr>
        <p:txBody>
          <a:bodyPr/>
          <a:lstStyle/>
          <a:p>
            <a:endParaRPr lang="zh-CN" altLang="en-US">
              <a:latin typeface="+mn-lt"/>
            </a:endParaRPr>
          </a:p>
        </p:txBody>
      </p:sp>
      <p:sp>
        <p:nvSpPr>
          <p:cNvPr id="29" name="Freeform 28"/>
          <p:cNvSpPr>
            <a:spLocks/>
          </p:cNvSpPr>
          <p:nvPr/>
        </p:nvSpPr>
        <p:spPr bwMode="auto">
          <a:xfrm>
            <a:off x="10503158" y="3032793"/>
            <a:ext cx="401638" cy="422275"/>
          </a:xfrm>
          <a:custGeom>
            <a:avLst/>
            <a:gdLst/>
            <a:ahLst/>
            <a:cxnLst>
              <a:cxn ang="0">
                <a:pos x="315" y="159"/>
              </a:cxn>
              <a:cxn ang="0">
                <a:pos x="315" y="135"/>
              </a:cxn>
              <a:cxn ang="0">
                <a:pos x="310" y="108"/>
              </a:cxn>
              <a:cxn ang="0">
                <a:pos x="299" y="87"/>
              </a:cxn>
              <a:cxn ang="0">
                <a:pos x="286" y="66"/>
              </a:cxn>
              <a:cxn ang="0">
                <a:pos x="270" y="47"/>
              </a:cxn>
              <a:cxn ang="0">
                <a:pos x="252" y="31"/>
              </a:cxn>
              <a:cxn ang="0">
                <a:pos x="230" y="18"/>
              </a:cxn>
              <a:cxn ang="0">
                <a:pos x="209" y="7"/>
              </a:cxn>
              <a:cxn ang="0">
                <a:pos x="183" y="2"/>
              </a:cxn>
              <a:cxn ang="0">
                <a:pos x="159" y="0"/>
              </a:cxn>
              <a:cxn ang="0">
                <a:pos x="132" y="2"/>
              </a:cxn>
              <a:cxn ang="0">
                <a:pos x="109" y="7"/>
              </a:cxn>
              <a:cxn ang="0">
                <a:pos x="85" y="18"/>
              </a:cxn>
              <a:cxn ang="0">
                <a:pos x="64" y="31"/>
              </a:cxn>
              <a:cxn ang="0">
                <a:pos x="45" y="47"/>
              </a:cxn>
              <a:cxn ang="0">
                <a:pos x="29" y="66"/>
              </a:cxn>
              <a:cxn ang="0">
                <a:pos x="16" y="87"/>
              </a:cxn>
              <a:cxn ang="0">
                <a:pos x="8" y="108"/>
              </a:cxn>
              <a:cxn ang="0">
                <a:pos x="0" y="135"/>
              </a:cxn>
              <a:cxn ang="0">
                <a:pos x="0" y="159"/>
              </a:cxn>
              <a:cxn ang="0">
                <a:pos x="0" y="185"/>
              </a:cxn>
              <a:cxn ang="0">
                <a:pos x="8" y="209"/>
              </a:cxn>
              <a:cxn ang="0">
                <a:pos x="16" y="233"/>
              </a:cxn>
              <a:cxn ang="0">
                <a:pos x="29" y="254"/>
              </a:cxn>
              <a:cxn ang="0">
                <a:pos x="45" y="273"/>
              </a:cxn>
              <a:cxn ang="0">
                <a:pos x="64" y="288"/>
              </a:cxn>
              <a:cxn ang="0">
                <a:pos x="85" y="302"/>
              </a:cxn>
              <a:cxn ang="0">
                <a:pos x="109" y="310"/>
              </a:cxn>
              <a:cxn ang="0">
                <a:pos x="132" y="318"/>
              </a:cxn>
              <a:cxn ang="0">
                <a:pos x="159" y="318"/>
              </a:cxn>
              <a:cxn ang="0">
                <a:pos x="183" y="318"/>
              </a:cxn>
              <a:cxn ang="0">
                <a:pos x="209" y="310"/>
              </a:cxn>
              <a:cxn ang="0">
                <a:pos x="230" y="302"/>
              </a:cxn>
              <a:cxn ang="0">
                <a:pos x="252" y="288"/>
              </a:cxn>
              <a:cxn ang="0">
                <a:pos x="270" y="273"/>
              </a:cxn>
              <a:cxn ang="0">
                <a:pos x="286" y="254"/>
              </a:cxn>
              <a:cxn ang="0">
                <a:pos x="299" y="233"/>
              </a:cxn>
              <a:cxn ang="0">
                <a:pos x="310" y="209"/>
              </a:cxn>
              <a:cxn ang="0">
                <a:pos x="315" y="185"/>
              </a:cxn>
              <a:cxn ang="0">
                <a:pos x="318" y="159"/>
              </a:cxn>
              <a:cxn ang="0">
                <a:pos x="318" y="159"/>
              </a:cxn>
            </a:cxnLst>
            <a:rect l="0" t="0" r="r" b="b"/>
            <a:pathLst>
              <a:path w="318" h="318">
                <a:moveTo>
                  <a:pt x="315" y="159"/>
                </a:moveTo>
                <a:lnTo>
                  <a:pt x="315" y="135"/>
                </a:lnTo>
                <a:lnTo>
                  <a:pt x="310" y="108"/>
                </a:lnTo>
                <a:lnTo>
                  <a:pt x="299" y="87"/>
                </a:lnTo>
                <a:lnTo>
                  <a:pt x="286" y="66"/>
                </a:lnTo>
                <a:lnTo>
                  <a:pt x="270" y="47"/>
                </a:lnTo>
                <a:lnTo>
                  <a:pt x="252" y="31"/>
                </a:lnTo>
                <a:lnTo>
                  <a:pt x="230" y="18"/>
                </a:lnTo>
                <a:lnTo>
                  <a:pt x="209" y="7"/>
                </a:lnTo>
                <a:lnTo>
                  <a:pt x="183" y="2"/>
                </a:lnTo>
                <a:lnTo>
                  <a:pt x="159" y="0"/>
                </a:lnTo>
                <a:lnTo>
                  <a:pt x="132" y="2"/>
                </a:lnTo>
                <a:lnTo>
                  <a:pt x="109" y="7"/>
                </a:lnTo>
                <a:lnTo>
                  <a:pt x="85" y="18"/>
                </a:lnTo>
                <a:lnTo>
                  <a:pt x="64" y="31"/>
                </a:lnTo>
                <a:lnTo>
                  <a:pt x="45" y="47"/>
                </a:lnTo>
                <a:lnTo>
                  <a:pt x="29" y="66"/>
                </a:lnTo>
                <a:lnTo>
                  <a:pt x="16" y="87"/>
                </a:lnTo>
                <a:lnTo>
                  <a:pt x="8" y="108"/>
                </a:lnTo>
                <a:lnTo>
                  <a:pt x="0" y="135"/>
                </a:lnTo>
                <a:lnTo>
                  <a:pt x="0" y="159"/>
                </a:lnTo>
                <a:lnTo>
                  <a:pt x="0" y="185"/>
                </a:lnTo>
                <a:lnTo>
                  <a:pt x="8" y="209"/>
                </a:lnTo>
                <a:lnTo>
                  <a:pt x="16" y="233"/>
                </a:lnTo>
                <a:lnTo>
                  <a:pt x="29" y="254"/>
                </a:lnTo>
                <a:lnTo>
                  <a:pt x="45" y="273"/>
                </a:lnTo>
                <a:lnTo>
                  <a:pt x="64" y="288"/>
                </a:lnTo>
                <a:lnTo>
                  <a:pt x="85" y="302"/>
                </a:lnTo>
                <a:lnTo>
                  <a:pt x="109" y="310"/>
                </a:lnTo>
                <a:lnTo>
                  <a:pt x="132" y="318"/>
                </a:lnTo>
                <a:lnTo>
                  <a:pt x="159" y="318"/>
                </a:lnTo>
                <a:lnTo>
                  <a:pt x="183" y="318"/>
                </a:lnTo>
                <a:lnTo>
                  <a:pt x="209" y="310"/>
                </a:lnTo>
                <a:lnTo>
                  <a:pt x="230" y="302"/>
                </a:lnTo>
                <a:lnTo>
                  <a:pt x="252" y="288"/>
                </a:lnTo>
                <a:lnTo>
                  <a:pt x="270" y="273"/>
                </a:lnTo>
                <a:lnTo>
                  <a:pt x="286" y="254"/>
                </a:lnTo>
                <a:lnTo>
                  <a:pt x="299" y="233"/>
                </a:lnTo>
                <a:lnTo>
                  <a:pt x="310" y="209"/>
                </a:lnTo>
                <a:lnTo>
                  <a:pt x="315" y="185"/>
                </a:lnTo>
                <a:lnTo>
                  <a:pt x="318" y="159"/>
                </a:lnTo>
                <a:lnTo>
                  <a:pt x="318" y="159"/>
                </a:lnTo>
              </a:path>
            </a:pathLst>
          </a:custGeom>
          <a:noFill/>
          <a:ln w="25400">
            <a:solidFill>
              <a:srgbClr val="000000"/>
            </a:solidFill>
            <a:prstDash val="solid"/>
            <a:round/>
            <a:headEnd/>
            <a:tailEnd/>
          </a:ln>
        </p:spPr>
        <p:txBody>
          <a:bodyPr/>
          <a:lstStyle/>
          <a:p>
            <a:endParaRPr lang="zh-CN" altLang="en-US">
              <a:latin typeface="+mn-lt"/>
            </a:endParaRPr>
          </a:p>
        </p:txBody>
      </p:sp>
      <p:sp>
        <p:nvSpPr>
          <p:cNvPr id="30" name="Rectangle 29"/>
          <p:cNvSpPr>
            <a:spLocks noChangeArrowheads="1"/>
          </p:cNvSpPr>
          <p:nvPr/>
        </p:nvSpPr>
        <p:spPr bwMode="auto">
          <a:xfrm>
            <a:off x="10657146" y="3166143"/>
            <a:ext cx="105798" cy="246221"/>
          </a:xfrm>
          <a:prstGeom prst="rect">
            <a:avLst/>
          </a:prstGeom>
          <a:noFill/>
          <a:ln w="9525">
            <a:noFill/>
            <a:miter lim="800000"/>
            <a:headEnd/>
            <a:tailEnd/>
          </a:ln>
        </p:spPr>
        <p:txBody>
          <a:bodyPr wrap="none" lIns="0" tIns="0" rIns="0" bIns="0">
            <a:spAutoFit/>
          </a:bodyPr>
          <a:lstStyle/>
          <a:p>
            <a:r>
              <a:rPr lang="en-US" altLang="zh-CN" sz="1600">
                <a:solidFill>
                  <a:srgbClr val="000000"/>
                </a:solidFill>
                <a:latin typeface="+mn-lt"/>
              </a:rPr>
              <a:t>P</a:t>
            </a:r>
            <a:endParaRPr lang="en-US" altLang="zh-CN">
              <a:latin typeface="+mn-lt"/>
            </a:endParaRPr>
          </a:p>
        </p:txBody>
      </p:sp>
      <p:sp>
        <p:nvSpPr>
          <p:cNvPr id="31" name="Rectangle 30"/>
          <p:cNvSpPr>
            <a:spLocks noChangeArrowheads="1"/>
          </p:cNvSpPr>
          <p:nvPr/>
        </p:nvSpPr>
        <p:spPr bwMode="auto">
          <a:xfrm>
            <a:off x="10731758" y="3261392"/>
            <a:ext cx="80150"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n-lt"/>
              </a:rPr>
              <a:t>n</a:t>
            </a:r>
            <a:endParaRPr lang="en-US" altLang="zh-CN">
              <a:latin typeface="+mn-lt"/>
            </a:endParaRPr>
          </a:p>
        </p:txBody>
      </p:sp>
      <p:sp>
        <p:nvSpPr>
          <p:cNvPr id="32" name="Line 31"/>
          <p:cNvSpPr>
            <a:spLocks noChangeShapeType="1"/>
          </p:cNvSpPr>
          <p:nvPr/>
        </p:nvSpPr>
        <p:spPr bwMode="auto">
          <a:xfrm>
            <a:off x="9055358" y="3489992"/>
            <a:ext cx="1588" cy="363538"/>
          </a:xfrm>
          <a:prstGeom prst="line">
            <a:avLst/>
          </a:prstGeom>
          <a:noFill/>
          <a:ln w="25400">
            <a:solidFill>
              <a:srgbClr val="000000"/>
            </a:solidFill>
            <a:round/>
            <a:headEnd/>
            <a:tailEnd/>
          </a:ln>
        </p:spPr>
        <p:txBody>
          <a:bodyPr/>
          <a:lstStyle/>
          <a:p>
            <a:endParaRPr lang="zh-CN" altLang="en-US">
              <a:latin typeface="+mn-lt"/>
            </a:endParaRPr>
          </a:p>
        </p:txBody>
      </p:sp>
      <p:sp>
        <p:nvSpPr>
          <p:cNvPr id="33" name="Text Box 32"/>
          <p:cNvSpPr txBox="1">
            <a:spLocks noChangeArrowheads="1"/>
          </p:cNvSpPr>
          <p:nvPr/>
        </p:nvSpPr>
        <p:spPr bwMode="auto">
          <a:xfrm>
            <a:off x="7963158" y="4010693"/>
            <a:ext cx="1172822" cy="538609"/>
          </a:xfrm>
          <a:prstGeom prst="rect">
            <a:avLst/>
          </a:prstGeom>
          <a:noFill/>
          <a:ln w="9525">
            <a:noFill/>
            <a:miter lim="800000"/>
            <a:headEnd/>
            <a:tailEnd/>
          </a:ln>
          <a:effectLst/>
        </p:spPr>
        <p:txBody>
          <a:bodyPr wrap="none" bIns="0">
            <a:spAutoFit/>
          </a:bodyPr>
          <a:lstStyle/>
          <a:p>
            <a:r>
              <a:rPr lang="en-US" altLang="zh-CN" sz="1600">
                <a:latin typeface="+mn-lt"/>
              </a:rPr>
              <a:t>Conceptual </a:t>
            </a:r>
          </a:p>
          <a:p>
            <a:r>
              <a:rPr lang="en-US" altLang="zh-CN" sz="1600">
                <a:latin typeface="+mn-lt"/>
              </a:rPr>
              <a:t>Picture</a:t>
            </a:r>
          </a:p>
        </p:txBody>
      </p:sp>
    </p:spTree>
    <p:extLst>
      <p:ext uri="{BB962C8B-B14F-4D97-AF65-F5344CB8AC3E}">
        <p14:creationId xmlns:p14="http://schemas.microsoft.com/office/powerpoint/2010/main" val="63357840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关于序的另一个例子</a:t>
            </a:r>
            <a:endParaRPr kumimoji="1" lang="zh-CN" altLang="en-US" dirty="0"/>
          </a:p>
        </p:txBody>
      </p:sp>
      <p:sp>
        <p:nvSpPr>
          <p:cNvPr id="3" name="内容占位符 2"/>
          <p:cNvSpPr>
            <a:spLocks noGrp="1"/>
          </p:cNvSpPr>
          <p:nvPr>
            <p:ph idx="1"/>
          </p:nvPr>
        </p:nvSpPr>
        <p:spPr>
          <a:xfrm>
            <a:off x="1055440" y="3501008"/>
            <a:ext cx="9104560" cy="2556892"/>
          </a:xfrm>
        </p:spPr>
        <p:txBody>
          <a:bodyPr/>
          <a:lstStyle/>
          <a:p>
            <a:r>
              <a:rPr kumimoji="1" lang="zh-CN" altLang="en-US" dirty="0" smtClean="0"/>
              <a:t>直观理解是什么样的？</a:t>
            </a:r>
            <a:endParaRPr kumimoji="1" lang="en-US" altLang="zh-CN" dirty="0" smtClean="0"/>
          </a:p>
          <a:p>
            <a:pPr lvl="1"/>
            <a:r>
              <a:rPr kumimoji="1" lang="en-US" altLang="zh-CN" dirty="0" smtClean="0"/>
              <a:t>P2</a:t>
            </a:r>
            <a:r>
              <a:rPr kumimoji="1" lang="zh-CN" altLang="en-US" dirty="0" smtClean="0"/>
              <a:t>能打印出“</a:t>
            </a:r>
            <a:r>
              <a:rPr kumimoji="1" lang="en-US" altLang="zh-CN" dirty="0" smtClean="0"/>
              <a:t>2</a:t>
            </a:r>
            <a:r>
              <a:rPr kumimoji="1" lang="zh-CN" altLang="en-US" dirty="0" smtClean="0"/>
              <a:t>、</a:t>
            </a:r>
            <a:r>
              <a:rPr kumimoji="1" lang="en-US" altLang="zh-CN" dirty="0" smtClean="0"/>
              <a:t>1</a:t>
            </a:r>
            <a:r>
              <a:rPr kumimoji="1" lang="zh-CN" altLang="en-US" dirty="0" smtClean="0"/>
              <a:t>”来吗？</a:t>
            </a:r>
            <a:endParaRPr kumimoji="1" lang="en-US" altLang="zh-CN" dirty="0" smtClean="0"/>
          </a:p>
          <a:p>
            <a:r>
              <a:rPr lang="zh-CN" altLang="en-US" dirty="0" smtClean="0"/>
              <a:t>无论如何理解，需要一个定序模型</a:t>
            </a:r>
            <a:endParaRPr lang="en-US" altLang="zh-CN" dirty="0" smtClean="0"/>
          </a:p>
          <a:p>
            <a:pPr lvl="1"/>
            <a:r>
              <a:rPr kumimoji="1" lang="zh-CN" altLang="en-US" dirty="0" smtClean="0"/>
              <a:t>确保清晰的语义，跨越多个位置都成立</a:t>
            </a:r>
            <a:endParaRPr kumimoji="1" lang="en-US" altLang="zh-CN" dirty="0" smtClean="0"/>
          </a:p>
          <a:p>
            <a:pPr lvl="1"/>
            <a:r>
              <a:rPr lang="zh-CN" altLang="en-US" dirty="0" smtClean="0"/>
              <a:t>程序员可据此推理，哪些结果是可能的</a:t>
            </a:r>
            <a:endParaRPr lang="en-US" altLang="zh-CN" dirty="0" smtClean="0"/>
          </a:p>
          <a:p>
            <a:r>
              <a:rPr kumimoji="1" lang="zh-CN" altLang="en-US" dirty="0" smtClean="0"/>
              <a:t>这就是存储器一致性模型</a:t>
            </a:r>
            <a:endParaRPr kumimoji="1" lang="en-US" altLang="zh-CN" dirty="0" smtClean="0"/>
          </a:p>
          <a:p>
            <a:pPr lvl="1"/>
            <a:r>
              <a:rPr kumimoji="1" lang="en-US" altLang="zh-CN" dirty="0" smtClean="0"/>
              <a:t>Memory Consistency Models</a:t>
            </a:r>
            <a:endParaRPr kumimoji="1" lang="zh-CN" altLang="en-US" dirty="0"/>
          </a:p>
        </p:txBody>
      </p:sp>
      <p:sp>
        <p:nvSpPr>
          <p:cNvPr id="6" name="Rectangle 4"/>
          <p:cNvSpPr>
            <a:spLocks noChangeArrowheads="1"/>
          </p:cNvSpPr>
          <p:nvPr/>
        </p:nvSpPr>
        <p:spPr bwMode="auto">
          <a:xfrm>
            <a:off x="3160713" y="1492002"/>
            <a:ext cx="129844" cy="292388"/>
          </a:xfrm>
          <a:prstGeom prst="rect">
            <a:avLst/>
          </a:prstGeom>
          <a:noFill/>
          <a:ln w="9525">
            <a:noFill/>
            <a:miter lim="800000"/>
            <a:headEnd/>
            <a:tailEnd/>
          </a:ln>
        </p:spPr>
        <p:txBody>
          <a:bodyPr wrap="none" lIns="0" tIns="0" rIns="0" bIns="0">
            <a:spAutoFit/>
          </a:bodyPr>
          <a:lstStyle/>
          <a:p>
            <a:r>
              <a:rPr lang="en-US" altLang="zh-CN" sz="1900" b="1" dirty="0">
                <a:solidFill>
                  <a:srgbClr val="0000FF"/>
                </a:solidFill>
                <a:latin typeface="+mn-lt"/>
              </a:rPr>
              <a:t>P</a:t>
            </a:r>
            <a:endParaRPr lang="en-US" altLang="zh-CN" sz="2400" b="1" dirty="0">
              <a:solidFill>
                <a:srgbClr val="0000FF"/>
              </a:solidFill>
              <a:latin typeface="+mn-lt"/>
            </a:endParaRPr>
          </a:p>
        </p:txBody>
      </p:sp>
      <p:sp>
        <p:nvSpPr>
          <p:cNvPr id="7" name="Rectangle 5"/>
          <p:cNvSpPr>
            <a:spLocks noChangeArrowheads="1"/>
          </p:cNvSpPr>
          <p:nvPr/>
        </p:nvSpPr>
        <p:spPr bwMode="auto">
          <a:xfrm>
            <a:off x="3297238" y="1593602"/>
            <a:ext cx="97784" cy="230832"/>
          </a:xfrm>
          <a:prstGeom prst="rect">
            <a:avLst/>
          </a:prstGeom>
          <a:noFill/>
          <a:ln w="9525">
            <a:noFill/>
            <a:miter lim="800000"/>
            <a:headEnd/>
            <a:tailEnd/>
          </a:ln>
        </p:spPr>
        <p:txBody>
          <a:bodyPr wrap="none" lIns="0" tIns="0" rIns="0" bIns="0">
            <a:spAutoFit/>
          </a:bodyPr>
          <a:lstStyle/>
          <a:p>
            <a:r>
              <a:rPr lang="zh-CN" altLang="en-US" sz="1500" b="1">
                <a:solidFill>
                  <a:srgbClr val="0000FF"/>
                </a:solidFill>
                <a:latin typeface="+mn-lt"/>
              </a:rPr>
              <a:t>1</a:t>
            </a:r>
            <a:endParaRPr lang="zh-CN" altLang="en-US" sz="2400" b="1">
              <a:solidFill>
                <a:srgbClr val="0000FF"/>
              </a:solidFill>
              <a:latin typeface="+mn-lt"/>
            </a:endParaRPr>
          </a:p>
        </p:txBody>
      </p:sp>
      <p:sp>
        <p:nvSpPr>
          <p:cNvPr id="8" name="Rectangle 6"/>
          <p:cNvSpPr>
            <a:spLocks noChangeArrowheads="1"/>
          </p:cNvSpPr>
          <p:nvPr/>
        </p:nvSpPr>
        <p:spPr bwMode="auto">
          <a:xfrm>
            <a:off x="7440613" y="1492002"/>
            <a:ext cx="129844" cy="292388"/>
          </a:xfrm>
          <a:prstGeom prst="rect">
            <a:avLst/>
          </a:prstGeom>
          <a:noFill/>
          <a:ln w="9525">
            <a:noFill/>
            <a:miter lim="800000"/>
            <a:headEnd/>
            <a:tailEnd/>
          </a:ln>
        </p:spPr>
        <p:txBody>
          <a:bodyPr wrap="none" lIns="0" tIns="0" rIns="0" bIns="0">
            <a:spAutoFit/>
          </a:bodyPr>
          <a:lstStyle/>
          <a:p>
            <a:r>
              <a:rPr lang="en-US" altLang="zh-CN" sz="1900" b="1" dirty="0">
                <a:solidFill>
                  <a:srgbClr val="0000FF"/>
                </a:solidFill>
                <a:latin typeface="+mn-lt"/>
              </a:rPr>
              <a:t>P</a:t>
            </a:r>
            <a:endParaRPr lang="en-US" altLang="zh-CN" sz="2400" b="1" dirty="0">
              <a:solidFill>
                <a:srgbClr val="0000FF"/>
              </a:solidFill>
              <a:latin typeface="+mn-lt"/>
            </a:endParaRPr>
          </a:p>
        </p:txBody>
      </p:sp>
      <p:sp>
        <p:nvSpPr>
          <p:cNvPr id="9" name="Rectangle 7"/>
          <p:cNvSpPr>
            <a:spLocks noChangeArrowheads="1"/>
          </p:cNvSpPr>
          <p:nvPr/>
        </p:nvSpPr>
        <p:spPr bwMode="auto">
          <a:xfrm>
            <a:off x="7577138" y="1593602"/>
            <a:ext cx="97784" cy="230832"/>
          </a:xfrm>
          <a:prstGeom prst="rect">
            <a:avLst/>
          </a:prstGeom>
          <a:noFill/>
          <a:ln w="9525">
            <a:noFill/>
            <a:miter lim="800000"/>
            <a:headEnd/>
            <a:tailEnd/>
          </a:ln>
        </p:spPr>
        <p:txBody>
          <a:bodyPr wrap="none" lIns="0" tIns="0" rIns="0" bIns="0">
            <a:spAutoFit/>
          </a:bodyPr>
          <a:lstStyle/>
          <a:p>
            <a:r>
              <a:rPr lang="zh-CN" altLang="en-US" sz="1500" b="1">
                <a:solidFill>
                  <a:srgbClr val="0000FF"/>
                </a:solidFill>
                <a:latin typeface="+mn-lt"/>
              </a:rPr>
              <a:t>2</a:t>
            </a:r>
            <a:endParaRPr lang="zh-CN" altLang="en-US" sz="2400" b="1">
              <a:solidFill>
                <a:srgbClr val="0000FF"/>
              </a:solidFill>
              <a:latin typeface="+mn-lt"/>
            </a:endParaRPr>
          </a:p>
        </p:txBody>
      </p:sp>
      <p:sp>
        <p:nvSpPr>
          <p:cNvPr id="10" name="Rectangle 8"/>
          <p:cNvSpPr>
            <a:spLocks noChangeArrowheads="1"/>
          </p:cNvSpPr>
          <p:nvPr/>
        </p:nvSpPr>
        <p:spPr bwMode="auto">
          <a:xfrm>
            <a:off x="3505200" y="1868239"/>
            <a:ext cx="3879332" cy="292388"/>
          </a:xfrm>
          <a:prstGeom prst="rect">
            <a:avLst/>
          </a:prstGeom>
          <a:noFill/>
          <a:ln w="9525">
            <a:noFill/>
            <a:miter lim="800000"/>
            <a:headEnd/>
            <a:tailEnd/>
          </a:ln>
        </p:spPr>
        <p:txBody>
          <a:bodyPr wrap="none" lIns="0" tIns="0" rIns="0" bIns="0">
            <a:spAutoFit/>
          </a:bodyPr>
          <a:lstStyle/>
          <a:p>
            <a:r>
              <a:rPr lang="zh-CN" altLang="en-US" sz="1900" b="1" dirty="0">
                <a:solidFill>
                  <a:srgbClr val="0000FF"/>
                </a:solidFill>
                <a:latin typeface="+mn-lt"/>
              </a:rPr>
              <a:t>/*</a:t>
            </a:r>
            <a:r>
              <a:rPr lang="en-US" altLang="zh-CN" sz="1900" b="1" dirty="0">
                <a:solidFill>
                  <a:srgbClr val="0000FF"/>
                </a:solidFill>
                <a:latin typeface="+mn-lt"/>
              </a:rPr>
              <a:t> Assume initial values of A and B are</a:t>
            </a:r>
            <a:endParaRPr lang="en-US" altLang="zh-CN" sz="2400" b="1" dirty="0">
              <a:solidFill>
                <a:srgbClr val="0000FF"/>
              </a:solidFill>
              <a:latin typeface="+mn-lt"/>
            </a:endParaRPr>
          </a:p>
        </p:txBody>
      </p:sp>
      <p:sp>
        <p:nvSpPr>
          <p:cNvPr id="11" name="Rectangle 9"/>
          <p:cNvSpPr>
            <a:spLocks noChangeArrowheads="1"/>
          </p:cNvSpPr>
          <p:nvPr/>
        </p:nvSpPr>
        <p:spPr bwMode="auto">
          <a:xfrm>
            <a:off x="7896201" y="1844824"/>
            <a:ext cx="458459" cy="292388"/>
          </a:xfrm>
          <a:prstGeom prst="rect">
            <a:avLst/>
          </a:prstGeom>
          <a:noFill/>
          <a:ln w="9525">
            <a:noFill/>
            <a:miter lim="800000"/>
            <a:headEnd/>
            <a:tailEnd/>
          </a:ln>
        </p:spPr>
        <p:txBody>
          <a:bodyPr wrap="none" lIns="0" tIns="0" rIns="0" bIns="0">
            <a:spAutoFit/>
          </a:bodyPr>
          <a:lstStyle/>
          <a:p>
            <a:r>
              <a:rPr lang="zh-CN" altLang="en-US" sz="1900" b="1" dirty="0">
                <a:solidFill>
                  <a:srgbClr val="0000FF"/>
                </a:solidFill>
                <a:latin typeface="+mn-lt"/>
              </a:rPr>
              <a:t> 0</a:t>
            </a:r>
            <a:r>
              <a:rPr lang="en-US" altLang="zh-CN" sz="1900" b="1" dirty="0">
                <a:solidFill>
                  <a:srgbClr val="0000FF"/>
                </a:solidFill>
                <a:latin typeface="+mn-lt"/>
              </a:rPr>
              <a:t> </a:t>
            </a:r>
            <a:r>
              <a:rPr lang="zh-CN" altLang="en-US" sz="1900" b="1" dirty="0">
                <a:solidFill>
                  <a:srgbClr val="0000FF"/>
                </a:solidFill>
                <a:latin typeface="+mn-lt"/>
              </a:rPr>
              <a:t>*/</a:t>
            </a:r>
            <a:endParaRPr lang="zh-CN" altLang="en-US" sz="2400" b="1" dirty="0">
              <a:solidFill>
                <a:srgbClr val="0000FF"/>
              </a:solidFill>
              <a:latin typeface="+mn-lt"/>
            </a:endParaRPr>
          </a:p>
        </p:txBody>
      </p:sp>
      <p:sp>
        <p:nvSpPr>
          <p:cNvPr id="12" name="Rectangle 10"/>
          <p:cNvSpPr>
            <a:spLocks noChangeArrowheads="1"/>
          </p:cNvSpPr>
          <p:nvPr/>
        </p:nvSpPr>
        <p:spPr bwMode="auto">
          <a:xfrm>
            <a:off x="2551113" y="2276227"/>
            <a:ext cx="1604606" cy="292388"/>
          </a:xfrm>
          <a:prstGeom prst="rect">
            <a:avLst/>
          </a:prstGeom>
          <a:noFill/>
          <a:ln w="9525">
            <a:noFill/>
            <a:miter lim="800000"/>
            <a:headEnd/>
            <a:tailEnd/>
          </a:ln>
        </p:spPr>
        <p:txBody>
          <a:bodyPr wrap="none" lIns="0" tIns="0" rIns="0" bIns="0">
            <a:spAutoFit/>
          </a:bodyPr>
          <a:lstStyle/>
          <a:p>
            <a:r>
              <a:rPr lang="zh-CN" altLang="en-US" sz="1900" b="1">
                <a:solidFill>
                  <a:srgbClr val="0000FF"/>
                </a:solidFill>
                <a:latin typeface="Courier New" pitchFamily="49" charset="-52"/>
              </a:rPr>
              <a:t>(1</a:t>
            </a:r>
            <a:r>
              <a:rPr lang="en-US" altLang="zh-CN" sz="1900" b="1">
                <a:solidFill>
                  <a:srgbClr val="0000FF"/>
                </a:solidFill>
                <a:latin typeface="Courier New" pitchFamily="49" charset="-52"/>
              </a:rPr>
              <a:t>a) A = 1;</a:t>
            </a:r>
            <a:endParaRPr lang="en-US" altLang="zh-CN" sz="2400" b="1">
              <a:solidFill>
                <a:srgbClr val="0000FF"/>
              </a:solidFill>
              <a:latin typeface="Times New Roman" charset="0"/>
            </a:endParaRPr>
          </a:p>
        </p:txBody>
      </p:sp>
      <p:sp>
        <p:nvSpPr>
          <p:cNvPr id="13" name="Rectangle 11"/>
          <p:cNvSpPr>
            <a:spLocks noChangeArrowheads="1"/>
          </p:cNvSpPr>
          <p:nvPr/>
        </p:nvSpPr>
        <p:spPr bwMode="auto">
          <a:xfrm>
            <a:off x="6680201" y="2276227"/>
            <a:ext cx="1896353" cy="292388"/>
          </a:xfrm>
          <a:prstGeom prst="rect">
            <a:avLst/>
          </a:prstGeom>
          <a:noFill/>
          <a:ln w="9525">
            <a:noFill/>
            <a:miter lim="800000"/>
            <a:headEnd/>
            <a:tailEnd/>
          </a:ln>
        </p:spPr>
        <p:txBody>
          <a:bodyPr wrap="none" lIns="0" tIns="0" rIns="0" bIns="0">
            <a:spAutoFit/>
          </a:bodyPr>
          <a:lstStyle/>
          <a:p>
            <a:r>
              <a:rPr lang="zh-CN" altLang="en-US" sz="1900" b="1">
                <a:solidFill>
                  <a:srgbClr val="0000FF"/>
                </a:solidFill>
                <a:latin typeface="Courier New" pitchFamily="49" charset="-52"/>
              </a:rPr>
              <a:t>(2</a:t>
            </a:r>
            <a:r>
              <a:rPr lang="en-US" altLang="zh-CN" sz="1900" b="1">
                <a:solidFill>
                  <a:srgbClr val="0000FF"/>
                </a:solidFill>
                <a:latin typeface="Courier New" pitchFamily="49" charset="-52"/>
              </a:rPr>
              <a:t>a) print B;</a:t>
            </a:r>
            <a:endParaRPr lang="en-US" altLang="zh-CN" sz="2400" b="1">
              <a:solidFill>
                <a:srgbClr val="0000FF"/>
              </a:solidFill>
              <a:latin typeface="Times New Roman" charset="0"/>
            </a:endParaRPr>
          </a:p>
        </p:txBody>
      </p:sp>
      <p:sp>
        <p:nvSpPr>
          <p:cNvPr id="14" name="Rectangle 12"/>
          <p:cNvSpPr>
            <a:spLocks noChangeArrowheads="1"/>
          </p:cNvSpPr>
          <p:nvPr/>
        </p:nvSpPr>
        <p:spPr bwMode="auto">
          <a:xfrm>
            <a:off x="2551113" y="2652464"/>
            <a:ext cx="1604606" cy="292388"/>
          </a:xfrm>
          <a:prstGeom prst="rect">
            <a:avLst/>
          </a:prstGeom>
          <a:noFill/>
          <a:ln w="9525">
            <a:noFill/>
            <a:miter lim="800000"/>
            <a:headEnd/>
            <a:tailEnd/>
          </a:ln>
        </p:spPr>
        <p:txBody>
          <a:bodyPr wrap="none" lIns="0" tIns="0" rIns="0" bIns="0">
            <a:spAutoFit/>
          </a:bodyPr>
          <a:lstStyle/>
          <a:p>
            <a:r>
              <a:rPr lang="zh-CN" altLang="en-US" sz="1900" b="1">
                <a:solidFill>
                  <a:srgbClr val="0000FF"/>
                </a:solidFill>
                <a:latin typeface="Courier New" pitchFamily="49" charset="-52"/>
              </a:rPr>
              <a:t>(1</a:t>
            </a:r>
            <a:r>
              <a:rPr lang="en-US" altLang="zh-CN" sz="1900" b="1">
                <a:solidFill>
                  <a:srgbClr val="0000FF"/>
                </a:solidFill>
                <a:latin typeface="Courier New" pitchFamily="49" charset="-52"/>
              </a:rPr>
              <a:t>b) B = 2;</a:t>
            </a:r>
            <a:endParaRPr lang="en-US" altLang="zh-CN" sz="2400" b="1">
              <a:solidFill>
                <a:srgbClr val="0000FF"/>
              </a:solidFill>
              <a:latin typeface="Times New Roman" charset="0"/>
            </a:endParaRPr>
          </a:p>
        </p:txBody>
      </p:sp>
      <p:sp>
        <p:nvSpPr>
          <p:cNvPr id="15" name="Rectangle 13"/>
          <p:cNvSpPr>
            <a:spLocks noChangeArrowheads="1"/>
          </p:cNvSpPr>
          <p:nvPr/>
        </p:nvSpPr>
        <p:spPr bwMode="auto">
          <a:xfrm>
            <a:off x="6680201" y="2652464"/>
            <a:ext cx="1896353" cy="292388"/>
          </a:xfrm>
          <a:prstGeom prst="rect">
            <a:avLst/>
          </a:prstGeom>
          <a:noFill/>
          <a:ln w="9525">
            <a:noFill/>
            <a:miter lim="800000"/>
            <a:headEnd/>
            <a:tailEnd/>
          </a:ln>
        </p:spPr>
        <p:txBody>
          <a:bodyPr wrap="none" lIns="0" tIns="0" rIns="0" bIns="0">
            <a:spAutoFit/>
          </a:bodyPr>
          <a:lstStyle/>
          <a:p>
            <a:r>
              <a:rPr lang="zh-CN" altLang="en-US" sz="1900" b="1">
                <a:solidFill>
                  <a:srgbClr val="0000FF"/>
                </a:solidFill>
                <a:latin typeface="Courier New" pitchFamily="49" charset="-52"/>
              </a:rPr>
              <a:t>(2</a:t>
            </a:r>
            <a:r>
              <a:rPr lang="en-US" altLang="zh-CN" sz="1900" b="1">
                <a:solidFill>
                  <a:srgbClr val="0000FF"/>
                </a:solidFill>
                <a:latin typeface="Courier New" pitchFamily="49" charset="-52"/>
              </a:rPr>
              <a:t>b) print A;</a:t>
            </a:r>
            <a:endParaRPr lang="en-US" altLang="zh-CN" sz="2400" b="1">
              <a:solidFill>
                <a:srgbClr val="0000FF"/>
              </a:solidFill>
              <a:latin typeface="Times New Roman" charset="0"/>
            </a:endParaRPr>
          </a:p>
        </p:txBody>
      </p:sp>
      <p:sp>
        <p:nvSpPr>
          <p:cNvPr id="16" name="Line 14"/>
          <p:cNvSpPr>
            <a:spLocks noChangeShapeType="1"/>
          </p:cNvSpPr>
          <p:nvPr/>
        </p:nvSpPr>
        <p:spPr bwMode="auto">
          <a:xfrm>
            <a:off x="2225676" y="1847603"/>
            <a:ext cx="7904163" cy="1587"/>
          </a:xfrm>
          <a:prstGeom prst="line">
            <a:avLst/>
          </a:prstGeom>
          <a:noFill/>
          <a:ln w="12700">
            <a:solidFill>
              <a:srgbClr val="000000"/>
            </a:solidFill>
            <a:round/>
            <a:headEnd/>
            <a:tailEnd/>
          </a:ln>
        </p:spPr>
        <p:txBody>
          <a:bodyPr/>
          <a:lstStyle/>
          <a:p>
            <a:endParaRPr lang="zh-CN" altLang="en-US" b="1">
              <a:solidFill>
                <a:srgbClr val="0000FF"/>
              </a:solidFill>
              <a:latin typeface="+mn-lt"/>
            </a:endParaRPr>
          </a:p>
        </p:txBody>
      </p:sp>
    </p:spTree>
    <p:extLst>
      <p:ext uri="{BB962C8B-B14F-4D97-AF65-F5344CB8AC3E}">
        <p14:creationId xmlns:p14="http://schemas.microsoft.com/office/powerpoint/2010/main" val="278746462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存储器一致</a:t>
            </a:r>
            <a:r>
              <a:rPr kumimoji="1" lang="zh-CN" altLang="en-US" dirty="0"/>
              <a:t>性</a:t>
            </a:r>
            <a:r>
              <a:rPr kumimoji="1" lang="zh-CN" altLang="en-US" dirty="0" smtClean="0"/>
              <a:t>模型</a:t>
            </a:r>
            <a:endParaRPr kumimoji="1" lang="zh-CN" altLang="en-US" dirty="0"/>
          </a:p>
        </p:txBody>
      </p:sp>
      <p:sp>
        <p:nvSpPr>
          <p:cNvPr id="3" name="内容占位符 2"/>
          <p:cNvSpPr>
            <a:spLocks noGrp="1"/>
          </p:cNvSpPr>
          <p:nvPr>
            <p:ph idx="1"/>
          </p:nvPr>
        </p:nvSpPr>
        <p:spPr>
          <a:xfrm>
            <a:off x="838200" y="1556792"/>
            <a:ext cx="10802416" cy="5112568"/>
          </a:xfrm>
        </p:spPr>
        <p:txBody>
          <a:bodyPr/>
          <a:lstStyle/>
          <a:p>
            <a:pPr>
              <a:lnSpc>
                <a:spcPct val="100000"/>
              </a:lnSpc>
            </a:pPr>
            <a:r>
              <a:rPr kumimoji="1" lang="zh-CN" altLang="en-US" dirty="0"/>
              <a:t>规定了对（访存操作相对于彼此必须显现的完成执行的）次序的约束</a:t>
            </a:r>
            <a:endParaRPr kumimoji="1" lang="en-US" altLang="zh-CN" dirty="0"/>
          </a:p>
          <a:p>
            <a:pPr lvl="1">
              <a:lnSpc>
                <a:spcPct val="100000"/>
              </a:lnSpc>
            </a:pPr>
            <a:r>
              <a:rPr lang="en-US" altLang="zh-CN" dirty="0"/>
              <a:t>Specifies constraints on the order in which memory operations must appear to be performed (i.e., to become visible to the processors) with respect to one another</a:t>
            </a:r>
          </a:p>
          <a:p>
            <a:pPr lvl="1">
              <a:lnSpc>
                <a:spcPct val="100000"/>
              </a:lnSpc>
            </a:pPr>
            <a:r>
              <a:rPr lang="zh-CN" altLang="en-US" dirty="0"/>
              <a:t>包括从相同处理器或不同处理器发出的对相同地址或不同地址的访存操作</a:t>
            </a:r>
            <a:endParaRPr lang="en-US" altLang="zh-CN" dirty="0"/>
          </a:p>
          <a:p>
            <a:pPr>
              <a:lnSpc>
                <a:spcPct val="100000"/>
              </a:lnSpc>
            </a:pPr>
            <a:r>
              <a:rPr lang="zh-CN" altLang="en-US" dirty="0"/>
              <a:t>例如：对取数操作，存储器一致模型</a:t>
            </a:r>
            <a:endParaRPr lang="en-US" altLang="zh-CN" dirty="0"/>
          </a:p>
          <a:p>
            <a:pPr lvl="1">
              <a:lnSpc>
                <a:spcPct val="100000"/>
              </a:lnSpc>
            </a:pPr>
            <a:r>
              <a:rPr lang="zh-CN" altLang="en-US" dirty="0"/>
              <a:t>限制了它返回的值的可能范围（某几个写的结果）</a:t>
            </a:r>
            <a:endParaRPr lang="en-US" altLang="zh-CN" dirty="0"/>
          </a:p>
          <a:p>
            <a:pPr>
              <a:lnSpc>
                <a:spcPct val="100000"/>
              </a:lnSpc>
            </a:pPr>
            <a:r>
              <a:rPr lang="zh-CN" altLang="en-US" dirty="0"/>
              <a:t>具体问题：哪些次序是必须保证的</a:t>
            </a:r>
            <a:r>
              <a:rPr lang="zh-CN" altLang="en-US" dirty="0" smtClean="0"/>
              <a:t>？如何实现</a:t>
            </a:r>
            <a:r>
              <a:rPr lang="zh-CN" altLang="en-US" dirty="0"/>
              <a:t>？</a:t>
            </a:r>
            <a:endParaRPr lang="en-US" altLang="zh-CN" dirty="0"/>
          </a:p>
        </p:txBody>
      </p:sp>
    </p:spTree>
    <p:extLst>
      <p:ext uri="{BB962C8B-B14F-4D97-AF65-F5344CB8AC3E}">
        <p14:creationId xmlns:p14="http://schemas.microsoft.com/office/powerpoint/2010/main" val="37813112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存储器一致模型（续）</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smtClean="0"/>
              <a:t>基本作用</a:t>
            </a:r>
            <a:endParaRPr kumimoji="1" lang="en-US" altLang="zh-CN" dirty="0" smtClean="0"/>
          </a:p>
          <a:p>
            <a:pPr lvl="1">
              <a:lnSpc>
                <a:spcPct val="100000"/>
              </a:lnSpc>
            </a:pPr>
            <a:r>
              <a:rPr lang="zh-CN" altLang="en-US" dirty="0" smtClean="0"/>
              <a:t>根据模型推理共享存储程序的执行行为</a:t>
            </a:r>
            <a:endParaRPr lang="en-US" altLang="zh-CN" dirty="0" smtClean="0"/>
          </a:p>
          <a:p>
            <a:pPr lvl="2">
              <a:lnSpc>
                <a:spcPct val="100000"/>
              </a:lnSpc>
            </a:pPr>
            <a:r>
              <a:rPr lang="zh-CN" altLang="en-US" dirty="0" smtClean="0"/>
              <a:t>哪些是合理的执行，哪些是不合理的执行</a:t>
            </a:r>
            <a:endParaRPr lang="en-US" altLang="zh-CN" dirty="0" smtClean="0"/>
          </a:p>
          <a:p>
            <a:pPr>
              <a:lnSpc>
                <a:spcPct val="100000"/>
              </a:lnSpc>
            </a:pPr>
            <a:r>
              <a:rPr kumimoji="1" lang="zh-CN" altLang="en-US" dirty="0" smtClean="0"/>
              <a:t>对程序设计和系统设计的意义</a:t>
            </a:r>
            <a:endParaRPr kumimoji="1" lang="en-US" altLang="zh-CN" dirty="0" smtClean="0"/>
          </a:p>
          <a:p>
            <a:pPr lvl="1">
              <a:lnSpc>
                <a:spcPct val="100000"/>
              </a:lnSpc>
            </a:pPr>
            <a:r>
              <a:rPr lang="zh-CN" altLang="en-US" dirty="0" smtClean="0"/>
              <a:t>程序员据此思考程序的正确性和可能的结果</a:t>
            </a:r>
            <a:endParaRPr lang="en-US" altLang="zh-CN" dirty="0" smtClean="0"/>
          </a:p>
          <a:p>
            <a:pPr lvl="1">
              <a:lnSpc>
                <a:spcPct val="100000"/>
              </a:lnSpc>
            </a:pPr>
            <a:r>
              <a:rPr kumimoji="1" lang="zh-CN" altLang="en-US" dirty="0" smtClean="0"/>
              <a:t>系统设计师用来限制硬件和编译器</a:t>
            </a:r>
            <a:endParaRPr kumimoji="1" lang="en-US" altLang="zh-CN" dirty="0" smtClean="0"/>
          </a:p>
          <a:p>
            <a:pPr lvl="2">
              <a:lnSpc>
                <a:spcPct val="100000"/>
              </a:lnSpc>
            </a:pPr>
            <a:r>
              <a:rPr lang="zh-CN" altLang="en-US" dirty="0" smtClean="0"/>
              <a:t>哪些访存操作可以重新排序以提高性能</a:t>
            </a:r>
            <a:endParaRPr lang="en-US" altLang="zh-CN" dirty="0" smtClean="0"/>
          </a:p>
          <a:p>
            <a:pPr lvl="2">
              <a:lnSpc>
                <a:spcPct val="100000"/>
              </a:lnSpc>
            </a:pPr>
            <a:r>
              <a:rPr kumimoji="1" lang="zh-CN" altLang="en-US" dirty="0" smtClean="0"/>
              <a:t>哪此访存操作必须遵从程序序以保证正确</a:t>
            </a:r>
            <a:endParaRPr kumimoji="1" lang="en-US" altLang="zh-CN" dirty="0" smtClean="0"/>
          </a:p>
          <a:p>
            <a:pPr>
              <a:lnSpc>
                <a:spcPct val="100000"/>
              </a:lnSpc>
            </a:pPr>
            <a:r>
              <a:rPr lang="zh-CN" altLang="en-US" dirty="0" smtClean="0"/>
              <a:t>是程序员和共享存储系统间的一个合约</a:t>
            </a:r>
            <a:endParaRPr kumimoji="1" lang="zh-CN" altLang="en-US" dirty="0"/>
          </a:p>
        </p:txBody>
      </p:sp>
    </p:spTree>
    <p:extLst>
      <p:ext uri="{BB962C8B-B14F-4D97-AF65-F5344CB8AC3E}">
        <p14:creationId xmlns:p14="http://schemas.microsoft.com/office/powerpoint/2010/main" val="134890963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顺序一致性 </a:t>
            </a:r>
            <a:r>
              <a:rPr lang="en-US" altLang="zh-CN" dirty="0" smtClean="0"/>
              <a:t>(Sequential Consistency)</a:t>
            </a:r>
            <a:endParaRPr kumimoji="1" lang="zh-CN" altLang="en-US" dirty="0"/>
          </a:p>
        </p:txBody>
      </p:sp>
      <p:sp>
        <p:nvSpPr>
          <p:cNvPr id="3" name="内容占位符 2"/>
          <p:cNvSpPr>
            <a:spLocks noGrp="1"/>
          </p:cNvSpPr>
          <p:nvPr>
            <p:ph idx="1"/>
          </p:nvPr>
        </p:nvSpPr>
        <p:spPr>
          <a:xfrm>
            <a:off x="695400" y="1484784"/>
            <a:ext cx="10658400" cy="2052835"/>
          </a:xfrm>
        </p:spPr>
        <p:txBody>
          <a:bodyPr/>
          <a:lstStyle/>
          <a:p>
            <a:r>
              <a:rPr kumimoji="1" lang="zh-CN" altLang="en-US" dirty="0"/>
              <a:t>把来自不同处理器的访问交错起来</a:t>
            </a:r>
            <a:r>
              <a:rPr kumimoji="1" lang="zh-CN" altLang="en-US" dirty="0" smtClean="0"/>
              <a:t>，形成一个全序</a:t>
            </a:r>
            <a:endParaRPr kumimoji="1" lang="en-US" altLang="zh-CN" dirty="0"/>
          </a:p>
          <a:p>
            <a:pPr lvl="1"/>
            <a:r>
              <a:rPr kumimoji="1" lang="zh-CN" altLang="en-US" dirty="0"/>
              <a:t>维持程序序，来自所有处理器的访存操作相对彼此都显现出</a:t>
            </a:r>
            <a:r>
              <a:rPr kumimoji="1" lang="zh-CN" altLang="en-US" dirty="0" smtClean="0"/>
              <a:t>原子（即不可分割</a:t>
            </a:r>
            <a:r>
              <a:rPr kumimoji="1" lang="zh-CN" altLang="en-US" dirty="0"/>
              <a:t>）</a:t>
            </a:r>
            <a:r>
              <a:rPr kumimoji="1" lang="zh-CN" altLang="en-US" dirty="0" smtClean="0"/>
              <a:t>的</a:t>
            </a:r>
            <a:r>
              <a:rPr lang="zh-CN" altLang="en-US" dirty="0"/>
              <a:t>“</a:t>
            </a:r>
            <a:r>
              <a:rPr kumimoji="1" lang="zh-CN" altLang="en-US" dirty="0" smtClean="0"/>
              <a:t>发出</a:t>
            </a:r>
            <a:r>
              <a:rPr kumimoji="1" lang="zh-CN" altLang="en-US" dirty="0"/>
              <a:t>、执行、</a:t>
            </a:r>
            <a:r>
              <a:rPr kumimoji="1" lang="zh-CN" altLang="en-US" dirty="0" smtClean="0"/>
              <a:t>完成</a:t>
            </a:r>
            <a:r>
              <a:rPr kumimoji="1" lang="zh-CN" altLang="en-US" dirty="0"/>
              <a:t>”</a:t>
            </a:r>
            <a:r>
              <a:rPr kumimoji="1" lang="zh-CN" altLang="en-US" dirty="0" smtClean="0"/>
              <a:t>次序</a:t>
            </a:r>
            <a:endParaRPr kumimoji="1" lang="en-US" altLang="zh-CN" dirty="0"/>
          </a:p>
          <a:p>
            <a:pPr lvl="1"/>
            <a:r>
              <a:rPr lang="zh-CN" altLang="en-US" dirty="0"/>
              <a:t>好象系统中没有</a:t>
            </a:r>
            <a:r>
              <a:rPr lang="en-US" altLang="zh-CN" dirty="0"/>
              <a:t>cache</a:t>
            </a:r>
            <a:r>
              <a:rPr lang="zh-CN" altLang="en-US" dirty="0"/>
              <a:t>、只有单一存储器</a:t>
            </a:r>
            <a:endParaRPr lang="en-US" altLang="zh-CN" dirty="0"/>
          </a:p>
          <a:p>
            <a:pPr lvl="1"/>
            <a:r>
              <a:rPr lang="en-US" altLang="en-US" sz="2000" dirty="0">
                <a:solidFill>
                  <a:srgbClr val="0070C0"/>
                </a:solidFill>
              </a:rPr>
              <a:t>“A multiprocessor is sequentially consistent if the result of any execution is the same as if the operations of all the processors were executed in some sequential order, and the operations of each individual processor appear in this sequence in the order specified by its program.” </a:t>
            </a:r>
            <a:r>
              <a:rPr lang="en-US" altLang="en-US" sz="2000" dirty="0" smtClean="0">
                <a:solidFill>
                  <a:srgbClr val="0070C0"/>
                </a:solidFill>
              </a:rPr>
              <a:t>[Leslie </a:t>
            </a:r>
            <a:r>
              <a:rPr lang="en-US" altLang="en-US" sz="2000" dirty="0" err="1" smtClean="0">
                <a:solidFill>
                  <a:srgbClr val="0070C0"/>
                </a:solidFill>
              </a:rPr>
              <a:t>Lamport</a:t>
            </a:r>
            <a:r>
              <a:rPr lang="en-US" altLang="en-US" sz="2000" dirty="0">
                <a:solidFill>
                  <a:srgbClr val="0070C0"/>
                </a:solidFill>
              </a:rPr>
              <a:t>, 1979]</a:t>
            </a:r>
            <a:endParaRPr kumimoji="1" lang="zh-CN" altLang="en-US" sz="2000" dirty="0">
              <a:solidFill>
                <a:srgbClr val="0070C0"/>
              </a:solidFill>
            </a:endParaRPr>
          </a:p>
        </p:txBody>
      </p:sp>
      <p:pic>
        <p:nvPicPr>
          <p:cNvPr id="4" name="图片 3"/>
          <p:cNvPicPr>
            <a:picLocks noChangeAspect="1"/>
          </p:cNvPicPr>
          <p:nvPr/>
        </p:nvPicPr>
        <p:blipFill>
          <a:blip r:embed="rId2"/>
          <a:stretch>
            <a:fillRect/>
          </a:stretch>
        </p:blipFill>
        <p:spPr>
          <a:xfrm>
            <a:off x="3178355" y="4114562"/>
            <a:ext cx="8175445" cy="2743438"/>
          </a:xfrm>
          <a:prstGeom prst="rect">
            <a:avLst/>
          </a:prstGeom>
        </p:spPr>
      </p:pic>
    </p:spTree>
    <p:extLst>
      <p:ext uri="{BB962C8B-B14F-4D97-AF65-F5344CB8AC3E}">
        <p14:creationId xmlns:p14="http://schemas.microsoft.com/office/powerpoint/2010/main" val="50883811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程序序究竟为何物？</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smtClean="0"/>
              <a:t>直观地看，是操作在源程序中显现的次序</a:t>
            </a:r>
            <a:endParaRPr kumimoji="1" lang="en-US" altLang="zh-CN" dirty="0" smtClean="0"/>
          </a:p>
          <a:p>
            <a:pPr lvl="1">
              <a:lnSpc>
                <a:spcPct val="100000"/>
              </a:lnSpc>
            </a:pPr>
            <a:r>
              <a:rPr lang="zh-CN" altLang="en-US" dirty="0" smtClean="0"/>
              <a:t>把源程序直截了当地翻译成汇编码</a:t>
            </a:r>
            <a:endParaRPr lang="en-US" altLang="zh-CN" dirty="0" smtClean="0"/>
          </a:p>
          <a:p>
            <a:pPr lvl="1">
              <a:lnSpc>
                <a:spcPct val="100000"/>
              </a:lnSpc>
            </a:pPr>
            <a:r>
              <a:rPr lang="zh-CN" altLang="en-US" dirty="0" smtClean="0"/>
              <a:t>每条指令里最多只能放一个访存操作</a:t>
            </a:r>
            <a:endParaRPr lang="en-US" altLang="zh-CN" dirty="0" smtClean="0"/>
          </a:p>
          <a:p>
            <a:pPr>
              <a:lnSpc>
                <a:spcPct val="100000"/>
              </a:lnSpc>
            </a:pPr>
            <a:r>
              <a:rPr kumimoji="1" lang="zh-CN" altLang="en-US" dirty="0" smtClean="0"/>
              <a:t>显然，不同于编译器呈现给硬件的那个序</a:t>
            </a:r>
            <a:endParaRPr kumimoji="1" lang="en-US" altLang="zh-CN" dirty="0" smtClean="0"/>
          </a:p>
          <a:p>
            <a:pPr>
              <a:lnSpc>
                <a:spcPct val="100000"/>
              </a:lnSpc>
            </a:pPr>
            <a:r>
              <a:rPr lang="zh-CN" altLang="en-US" dirty="0" smtClean="0"/>
              <a:t>所以，什么才是程序序？</a:t>
            </a:r>
            <a:endParaRPr lang="en-US" altLang="zh-CN" dirty="0" smtClean="0"/>
          </a:p>
          <a:p>
            <a:pPr>
              <a:lnSpc>
                <a:spcPct val="100000"/>
              </a:lnSpc>
            </a:pPr>
            <a:r>
              <a:rPr kumimoji="1" lang="zh-CN" altLang="en-US" dirty="0" smtClean="0"/>
              <a:t>答案依赖于在哪个层次问这个问题</a:t>
            </a:r>
            <a:endParaRPr kumimoji="1" lang="en-US" altLang="zh-CN" dirty="0" smtClean="0"/>
          </a:p>
          <a:p>
            <a:pPr lvl="1">
              <a:lnSpc>
                <a:spcPct val="100000"/>
              </a:lnSpc>
            </a:pPr>
            <a:r>
              <a:rPr lang="zh-CN" altLang="en-US" dirty="0" smtClean="0"/>
              <a:t>谁在基于程序序推演程序和系统的行为</a:t>
            </a:r>
            <a:endParaRPr lang="en-US" altLang="zh-CN" dirty="0" smtClean="0"/>
          </a:p>
          <a:p>
            <a:pPr>
              <a:lnSpc>
                <a:spcPct val="100000"/>
              </a:lnSpc>
            </a:pPr>
            <a:r>
              <a:rPr lang="zh-CN" altLang="en-US" dirty="0" smtClean="0"/>
              <a:t>这里假设是程序员所看到的次序</a:t>
            </a:r>
            <a:endParaRPr kumimoji="1" lang="zh-CN" altLang="en-US" dirty="0"/>
          </a:p>
        </p:txBody>
      </p:sp>
    </p:spTree>
    <p:extLst>
      <p:ext uri="{BB962C8B-B14F-4D97-AF65-F5344CB8AC3E}">
        <p14:creationId xmlns:p14="http://schemas.microsoft.com/office/powerpoint/2010/main" val="2380776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顺序一致</a:t>
            </a:r>
            <a:r>
              <a:rPr kumimoji="1" lang="zh-CN" altLang="en-US" dirty="0"/>
              <a:t>性</a:t>
            </a:r>
            <a:r>
              <a:rPr kumimoji="1" lang="zh-CN" altLang="en-US" dirty="0" smtClean="0"/>
              <a:t>的例子</a:t>
            </a:r>
            <a:endParaRPr kumimoji="1" lang="zh-CN" altLang="en-US" dirty="0"/>
          </a:p>
        </p:txBody>
      </p:sp>
      <p:sp>
        <p:nvSpPr>
          <p:cNvPr id="3" name="内容占位符 2"/>
          <p:cNvSpPr>
            <a:spLocks noGrp="1"/>
          </p:cNvSpPr>
          <p:nvPr>
            <p:ph idx="1"/>
          </p:nvPr>
        </p:nvSpPr>
        <p:spPr>
          <a:xfrm>
            <a:off x="623392" y="3148659"/>
            <a:ext cx="11017224" cy="3592710"/>
          </a:xfrm>
        </p:spPr>
        <p:txBody>
          <a:bodyPr/>
          <a:lstStyle/>
          <a:p>
            <a:pPr>
              <a:lnSpc>
                <a:spcPct val="100000"/>
              </a:lnSpc>
            </a:pPr>
            <a:r>
              <a:rPr kumimoji="1" lang="zh-CN" altLang="en-US" sz="2400" dirty="0"/>
              <a:t>真正要紧的是显现出的操作执行次序，而不是按时间顺序排列的事件序列</a:t>
            </a:r>
            <a:endParaRPr kumimoji="1" lang="en-US" altLang="zh-CN" sz="2400" dirty="0"/>
          </a:p>
          <a:p>
            <a:pPr>
              <a:lnSpc>
                <a:spcPct val="100000"/>
              </a:lnSpc>
            </a:pPr>
            <a:r>
              <a:rPr lang="en-US" altLang="zh-CN" sz="2400" dirty="0" smtClean="0"/>
              <a:t>P2 Print</a:t>
            </a:r>
            <a:r>
              <a:rPr lang="zh-CN" altLang="en-US" sz="2400" dirty="0" smtClean="0"/>
              <a:t>结果</a:t>
            </a:r>
            <a:r>
              <a:rPr lang="en-US" altLang="zh-CN" sz="2400" dirty="0"/>
              <a:t>(A,B)</a:t>
            </a:r>
            <a:r>
              <a:rPr lang="zh-CN" altLang="en-US" sz="2400" dirty="0"/>
              <a:t>的可能组合</a:t>
            </a:r>
            <a:r>
              <a:rPr lang="zh-CN" altLang="en-US" sz="2400" dirty="0">
                <a:sym typeface="Wingdings"/>
              </a:rPr>
              <a:t>：</a:t>
            </a:r>
            <a:r>
              <a:rPr lang="en-US" altLang="zh-CN" sz="2400" dirty="0">
                <a:sym typeface="Wingdings"/>
              </a:rPr>
              <a:t>(0,0), (1,0), (1,2)</a:t>
            </a:r>
          </a:p>
          <a:p>
            <a:pPr>
              <a:lnSpc>
                <a:spcPct val="100000"/>
              </a:lnSpc>
            </a:pPr>
            <a:r>
              <a:rPr lang="zh-CN" altLang="en-US" sz="2400" dirty="0">
                <a:sym typeface="Wingdings"/>
              </a:rPr>
              <a:t>出现</a:t>
            </a:r>
            <a:r>
              <a:rPr lang="en-US" altLang="zh-CN" sz="2400" dirty="0">
                <a:sym typeface="Wingdings"/>
              </a:rPr>
              <a:t>(0,2)</a:t>
            </a:r>
            <a:r>
              <a:rPr lang="zh-CN" altLang="en-US" sz="2400" dirty="0">
                <a:sym typeface="Wingdings"/>
              </a:rPr>
              <a:t>组合是怎么回事？</a:t>
            </a:r>
            <a:endParaRPr lang="en-US" altLang="zh-CN" sz="2400" dirty="0">
              <a:sym typeface="Wingdings"/>
            </a:endParaRPr>
          </a:p>
          <a:p>
            <a:pPr lvl="1">
              <a:lnSpc>
                <a:spcPct val="100000"/>
              </a:lnSpc>
            </a:pPr>
            <a:r>
              <a:rPr kumimoji="1" lang="zh-CN" altLang="en-US" sz="2000" dirty="0">
                <a:sym typeface="Wingdings"/>
              </a:rPr>
              <a:t>程序序</a:t>
            </a:r>
            <a:r>
              <a:rPr lang="zh-CN" altLang="en-US" sz="2000" dirty="0">
                <a:sym typeface="Wingdings"/>
              </a:rPr>
              <a:t>：</a:t>
            </a:r>
            <a:r>
              <a:rPr kumimoji="1" lang="en-US" altLang="zh-CN" sz="2000" dirty="0">
                <a:sym typeface="Wingdings"/>
              </a:rPr>
              <a:t>1</a:t>
            </a:r>
            <a:r>
              <a:rPr lang="en-US" altLang="zh-CN" sz="2000" dirty="0">
                <a:sym typeface="Wingdings"/>
              </a:rPr>
              <a:t>a =</a:t>
            </a:r>
            <a:r>
              <a:rPr kumimoji="1" lang="en-US" altLang="zh-CN" sz="2000" dirty="0">
                <a:sym typeface="Wingdings"/>
              </a:rPr>
              <a:t>&gt; 1b </a:t>
            </a:r>
            <a:r>
              <a:rPr kumimoji="1" lang="zh-CN" altLang="en-US" sz="2000" dirty="0">
                <a:sym typeface="Wingdings"/>
              </a:rPr>
              <a:t>和</a:t>
            </a:r>
            <a:r>
              <a:rPr kumimoji="1" lang="en-US" altLang="zh-CN" sz="2000" dirty="0">
                <a:sym typeface="Wingdings"/>
              </a:rPr>
              <a:t> 2a =&gt; 2b</a:t>
            </a:r>
          </a:p>
          <a:p>
            <a:pPr lvl="1">
              <a:lnSpc>
                <a:spcPct val="100000"/>
              </a:lnSpc>
            </a:pPr>
            <a:r>
              <a:rPr lang="en-US" altLang="zh-CN" sz="2000" dirty="0">
                <a:sym typeface="Wingdings"/>
              </a:rPr>
              <a:t>A=0</a:t>
            </a:r>
            <a:r>
              <a:rPr lang="zh-CN" altLang="en-US" sz="2000" dirty="0">
                <a:sym typeface="Wingdings"/>
              </a:rPr>
              <a:t>意味着：</a:t>
            </a:r>
            <a:r>
              <a:rPr lang="en-US" altLang="zh-CN" sz="2000" dirty="0">
                <a:sym typeface="Wingdings"/>
              </a:rPr>
              <a:t>2b=&gt;1a</a:t>
            </a:r>
            <a:r>
              <a:rPr lang="zh-CN" altLang="en-US" sz="2000" dirty="0">
                <a:sym typeface="Wingdings"/>
              </a:rPr>
              <a:t>，即</a:t>
            </a:r>
            <a:r>
              <a:rPr lang="en-US" altLang="zh-CN" sz="2000" dirty="0">
                <a:sym typeface="Wingdings"/>
              </a:rPr>
              <a:t>2a=&gt;1b</a:t>
            </a:r>
          </a:p>
          <a:p>
            <a:pPr lvl="1">
              <a:lnSpc>
                <a:spcPct val="100000"/>
              </a:lnSpc>
            </a:pPr>
            <a:r>
              <a:rPr kumimoji="1" lang="en-US" altLang="zh-CN" sz="2000" dirty="0">
                <a:sym typeface="Wingdings"/>
              </a:rPr>
              <a:t>B=2</a:t>
            </a:r>
            <a:r>
              <a:rPr kumimoji="1" lang="zh-CN" altLang="en-US" sz="2000" dirty="0">
                <a:sym typeface="Wingdings"/>
              </a:rPr>
              <a:t>意味着：</a:t>
            </a:r>
            <a:r>
              <a:rPr kumimoji="1" lang="en-US" altLang="zh-CN" sz="2000" dirty="0">
                <a:sym typeface="Wingdings"/>
              </a:rPr>
              <a:t>1b=&gt;2a</a:t>
            </a:r>
            <a:r>
              <a:rPr kumimoji="1" lang="zh-CN" altLang="en-US" sz="2000" dirty="0">
                <a:sym typeface="Wingdings"/>
              </a:rPr>
              <a:t>，推出矛盾</a:t>
            </a:r>
            <a:endParaRPr kumimoji="1" lang="en-US" altLang="zh-CN" sz="2000" dirty="0">
              <a:sym typeface="Wingdings"/>
            </a:endParaRPr>
          </a:p>
          <a:p>
            <a:pPr>
              <a:lnSpc>
                <a:spcPct val="100000"/>
              </a:lnSpc>
            </a:pPr>
            <a:r>
              <a:rPr kumimoji="1" lang="en-US" altLang="zh-CN" sz="2400" dirty="0"/>
              <a:t>1b=&gt;1a=&gt;2b</a:t>
            </a:r>
            <a:r>
              <a:rPr kumimoji="1" lang="en-US" altLang="zh-CN" sz="2400" dirty="0" smtClean="0"/>
              <a:t>=&gt;2a</a:t>
            </a:r>
            <a:r>
              <a:rPr kumimoji="1" lang="zh-CN" altLang="en-US" sz="2400" dirty="0"/>
              <a:t>的真正执行是什么样的？</a:t>
            </a:r>
            <a:endParaRPr kumimoji="1" lang="en-US" altLang="zh-CN" sz="2400" dirty="0"/>
          </a:p>
          <a:p>
            <a:pPr lvl="1">
              <a:lnSpc>
                <a:spcPct val="100000"/>
              </a:lnSpc>
            </a:pPr>
            <a:r>
              <a:rPr lang="zh-CN" altLang="en-US" sz="2000" dirty="0"/>
              <a:t>从结果上看，与</a:t>
            </a:r>
            <a:r>
              <a:rPr lang="en-US" altLang="zh-CN" sz="2000" dirty="0"/>
              <a:t>1a=&gt;1b=&gt;2a=&gt;2b</a:t>
            </a:r>
            <a:r>
              <a:rPr lang="zh-CN" altLang="en-US" sz="2000" dirty="0"/>
              <a:t>是一样的</a:t>
            </a:r>
            <a:endParaRPr lang="en-US" altLang="zh-CN" sz="2000" dirty="0"/>
          </a:p>
          <a:p>
            <a:pPr lvl="1">
              <a:lnSpc>
                <a:spcPct val="100000"/>
              </a:lnSpc>
            </a:pPr>
            <a:r>
              <a:rPr kumimoji="1" lang="zh-CN" altLang="en-US" sz="2000" dirty="0"/>
              <a:t>但</a:t>
            </a:r>
            <a:r>
              <a:rPr lang="en-US" altLang="zh-CN" sz="2000" dirty="0"/>
              <a:t>1b=&gt;2a=&gt;2b=1a</a:t>
            </a:r>
            <a:r>
              <a:rPr lang="zh-CN" altLang="en-US" sz="2000" dirty="0"/>
              <a:t>的真正执行就不一样</a:t>
            </a:r>
            <a:endParaRPr kumimoji="1" lang="zh-CN" altLang="en-US" sz="2000" dirty="0"/>
          </a:p>
        </p:txBody>
      </p:sp>
      <p:sp>
        <p:nvSpPr>
          <p:cNvPr id="18" name="Rectangle 4"/>
          <p:cNvSpPr>
            <a:spLocks noChangeArrowheads="1"/>
          </p:cNvSpPr>
          <p:nvPr/>
        </p:nvSpPr>
        <p:spPr bwMode="auto">
          <a:xfrm>
            <a:off x="3160713" y="1447056"/>
            <a:ext cx="126638" cy="292388"/>
          </a:xfrm>
          <a:prstGeom prst="rect">
            <a:avLst/>
          </a:prstGeom>
          <a:noFill/>
          <a:ln w="9525">
            <a:noFill/>
            <a:miter lim="800000"/>
            <a:headEnd/>
            <a:tailEnd/>
          </a:ln>
        </p:spPr>
        <p:txBody>
          <a:bodyPr wrap="none" lIns="0" tIns="0" rIns="0" bIns="0">
            <a:spAutoFit/>
          </a:bodyPr>
          <a:lstStyle/>
          <a:p>
            <a:r>
              <a:rPr lang="en-US" altLang="zh-CN" sz="1900" dirty="0">
                <a:solidFill>
                  <a:srgbClr val="000000"/>
                </a:solidFill>
                <a:latin typeface="+mn-lt"/>
              </a:rPr>
              <a:t>P</a:t>
            </a:r>
            <a:endParaRPr lang="en-US" altLang="zh-CN" sz="2400" dirty="0">
              <a:latin typeface="+mn-lt"/>
            </a:endParaRPr>
          </a:p>
        </p:txBody>
      </p:sp>
      <p:sp>
        <p:nvSpPr>
          <p:cNvPr id="19" name="Rectangle 5"/>
          <p:cNvSpPr>
            <a:spLocks noChangeArrowheads="1"/>
          </p:cNvSpPr>
          <p:nvPr/>
        </p:nvSpPr>
        <p:spPr bwMode="auto">
          <a:xfrm>
            <a:off x="3297238" y="1548656"/>
            <a:ext cx="97784" cy="230832"/>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mn-lt"/>
              </a:rPr>
              <a:t>1</a:t>
            </a:r>
            <a:endParaRPr lang="zh-CN" altLang="en-US" sz="2400">
              <a:latin typeface="+mn-lt"/>
            </a:endParaRPr>
          </a:p>
        </p:txBody>
      </p:sp>
      <p:sp>
        <p:nvSpPr>
          <p:cNvPr id="20" name="Rectangle 6"/>
          <p:cNvSpPr>
            <a:spLocks noChangeArrowheads="1"/>
          </p:cNvSpPr>
          <p:nvPr/>
        </p:nvSpPr>
        <p:spPr bwMode="auto">
          <a:xfrm>
            <a:off x="7440613" y="1447056"/>
            <a:ext cx="126638" cy="292388"/>
          </a:xfrm>
          <a:prstGeom prst="rect">
            <a:avLst/>
          </a:prstGeom>
          <a:noFill/>
          <a:ln w="9525">
            <a:noFill/>
            <a:miter lim="800000"/>
            <a:headEnd/>
            <a:tailEnd/>
          </a:ln>
        </p:spPr>
        <p:txBody>
          <a:bodyPr wrap="none" lIns="0" tIns="0" rIns="0" bIns="0">
            <a:spAutoFit/>
          </a:bodyPr>
          <a:lstStyle/>
          <a:p>
            <a:r>
              <a:rPr lang="en-US" altLang="zh-CN" sz="1900" dirty="0">
                <a:solidFill>
                  <a:srgbClr val="000000"/>
                </a:solidFill>
                <a:latin typeface="+mn-lt"/>
              </a:rPr>
              <a:t>P</a:t>
            </a:r>
            <a:endParaRPr lang="en-US" altLang="zh-CN" sz="2400" dirty="0">
              <a:latin typeface="+mn-lt"/>
            </a:endParaRPr>
          </a:p>
        </p:txBody>
      </p:sp>
      <p:sp>
        <p:nvSpPr>
          <p:cNvPr id="21" name="Rectangle 7"/>
          <p:cNvSpPr>
            <a:spLocks noChangeArrowheads="1"/>
          </p:cNvSpPr>
          <p:nvPr/>
        </p:nvSpPr>
        <p:spPr bwMode="auto">
          <a:xfrm>
            <a:off x="7577138" y="1548656"/>
            <a:ext cx="97784" cy="230832"/>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mn-lt"/>
              </a:rPr>
              <a:t>2</a:t>
            </a:r>
            <a:endParaRPr lang="zh-CN" altLang="en-US" sz="2400">
              <a:latin typeface="+mn-lt"/>
            </a:endParaRPr>
          </a:p>
        </p:txBody>
      </p:sp>
      <p:sp>
        <p:nvSpPr>
          <p:cNvPr id="22" name="Rectangle 8"/>
          <p:cNvSpPr>
            <a:spLocks noChangeArrowheads="1"/>
          </p:cNvSpPr>
          <p:nvPr/>
        </p:nvSpPr>
        <p:spPr bwMode="auto">
          <a:xfrm>
            <a:off x="3505200" y="1823293"/>
            <a:ext cx="3773084" cy="292388"/>
          </a:xfrm>
          <a:prstGeom prst="rect">
            <a:avLst/>
          </a:prstGeom>
          <a:noFill/>
          <a:ln w="9525">
            <a:noFill/>
            <a:miter lim="800000"/>
            <a:headEnd/>
            <a:tailEnd/>
          </a:ln>
        </p:spPr>
        <p:txBody>
          <a:bodyPr wrap="none" lIns="0" tIns="0" rIns="0" bIns="0">
            <a:spAutoFit/>
          </a:bodyPr>
          <a:lstStyle/>
          <a:p>
            <a:r>
              <a:rPr lang="zh-CN" altLang="en-US" sz="1900" dirty="0">
                <a:solidFill>
                  <a:srgbClr val="000000"/>
                </a:solidFill>
                <a:latin typeface="+mn-lt"/>
              </a:rPr>
              <a:t>/*</a:t>
            </a:r>
            <a:r>
              <a:rPr lang="en-US" altLang="zh-CN" sz="1900" dirty="0">
                <a:solidFill>
                  <a:srgbClr val="000000"/>
                </a:solidFill>
                <a:latin typeface="+mn-lt"/>
              </a:rPr>
              <a:t> Assume initial values of A and B are</a:t>
            </a:r>
            <a:endParaRPr lang="en-US" altLang="zh-CN" sz="2400" dirty="0">
              <a:latin typeface="+mn-lt"/>
            </a:endParaRPr>
          </a:p>
        </p:txBody>
      </p:sp>
      <p:sp>
        <p:nvSpPr>
          <p:cNvPr id="23" name="Rectangle 9"/>
          <p:cNvSpPr>
            <a:spLocks noChangeArrowheads="1"/>
          </p:cNvSpPr>
          <p:nvPr/>
        </p:nvSpPr>
        <p:spPr bwMode="auto">
          <a:xfrm>
            <a:off x="7696920" y="1855043"/>
            <a:ext cx="448841" cy="292388"/>
          </a:xfrm>
          <a:prstGeom prst="rect">
            <a:avLst/>
          </a:prstGeom>
          <a:noFill/>
          <a:ln w="9525">
            <a:noFill/>
            <a:miter lim="800000"/>
            <a:headEnd/>
            <a:tailEnd/>
          </a:ln>
        </p:spPr>
        <p:txBody>
          <a:bodyPr wrap="none" lIns="0" tIns="0" rIns="0" bIns="0">
            <a:spAutoFit/>
          </a:bodyPr>
          <a:lstStyle/>
          <a:p>
            <a:r>
              <a:rPr lang="zh-CN" altLang="en-US" sz="1900" dirty="0">
                <a:solidFill>
                  <a:srgbClr val="000000"/>
                </a:solidFill>
                <a:latin typeface="+mn-lt"/>
              </a:rPr>
              <a:t> 0</a:t>
            </a:r>
            <a:r>
              <a:rPr lang="en-US" altLang="zh-CN" sz="1900" dirty="0">
                <a:solidFill>
                  <a:srgbClr val="000000"/>
                </a:solidFill>
                <a:latin typeface="+mn-lt"/>
              </a:rPr>
              <a:t> </a:t>
            </a:r>
            <a:r>
              <a:rPr lang="zh-CN" altLang="en-US" sz="1900" dirty="0">
                <a:solidFill>
                  <a:srgbClr val="000000"/>
                </a:solidFill>
                <a:latin typeface="+mn-lt"/>
              </a:rPr>
              <a:t>*/</a:t>
            </a:r>
            <a:endParaRPr lang="zh-CN" altLang="en-US" sz="2400" dirty="0">
              <a:latin typeface="+mn-lt"/>
            </a:endParaRPr>
          </a:p>
        </p:txBody>
      </p:sp>
      <p:sp>
        <p:nvSpPr>
          <p:cNvPr id="24" name="Rectangle 10"/>
          <p:cNvSpPr>
            <a:spLocks noChangeArrowheads="1"/>
          </p:cNvSpPr>
          <p:nvPr/>
        </p:nvSpPr>
        <p:spPr bwMode="auto">
          <a:xfrm>
            <a:off x="2551113" y="2231281"/>
            <a:ext cx="1604606" cy="292388"/>
          </a:xfrm>
          <a:prstGeom prst="rect">
            <a:avLst/>
          </a:prstGeom>
          <a:noFill/>
          <a:ln w="9525">
            <a:noFill/>
            <a:miter lim="800000"/>
            <a:headEnd/>
            <a:tailEnd/>
          </a:ln>
        </p:spPr>
        <p:txBody>
          <a:bodyPr wrap="none" lIns="0" tIns="0" rIns="0" bIns="0">
            <a:spAutoFit/>
          </a:bodyPr>
          <a:lstStyle/>
          <a:p>
            <a:r>
              <a:rPr lang="zh-CN" altLang="en-US" sz="1900">
                <a:solidFill>
                  <a:srgbClr val="000000"/>
                </a:solidFill>
                <a:latin typeface="Courier New" pitchFamily="49" charset="-52"/>
              </a:rPr>
              <a:t>(1</a:t>
            </a:r>
            <a:r>
              <a:rPr lang="en-US" altLang="zh-CN" sz="1900">
                <a:solidFill>
                  <a:srgbClr val="000000"/>
                </a:solidFill>
                <a:latin typeface="Courier New" pitchFamily="49" charset="-52"/>
              </a:rPr>
              <a:t>a) A = 1;</a:t>
            </a:r>
            <a:endParaRPr lang="en-US" altLang="zh-CN" sz="2400">
              <a:latin typeface="Times New Roman" charset="0"/>
            </a:endParaRPr>
          </a:p>
        </p:txBody>
      </p:sp>
      <p:sp>
        <p:nvSpPr>
          <p:cNvPr id="25" name="Rectangle 11"/>
          <p:cNvSpPr>
            <a:spLocks noChangeArrowheads="1"/>
          </p:cNvSpPr>
          <p:nvPr/>
        </p:nvSpPr>
        <p:spPr bwMode="auto">
          <a:xfrm>
            <a:off x="6680201" y="2231281"/>
            <a:ext cx="1896353" cy="292388"/>
          </a:xfrm>
          <a:prstGeom prst="rect">
            <a:avLst/>
          </a:prstGeom>
          <a:noFill/>
          <a:ln w="9525">
            <a:noFill/>
            <a:miter lim="800000"/>
            <a:headEnd/>
            <a:tailEnd/>
          </a:ln>
        </p:spPr>
        <p:txBody>
          <a:bodyPr wrap="none" lIns="0" tIns="0" rIns="0" bIns="0">
            <a:spAutoFit/>
          </a:bodyPr>
          <a:lstStyle/>
          <a:p>
            <a:r>
              <a:rPr lang="zh-CN" altLang="en-US" sz="1900" dirty="0">
                <a:solidFill>
                  <a:srgbClr val="000000"/>
                </a:solidFill>
                <a:latin typeface="Courier New" pitchFamily="49" charset="-52"/>
              </a:rPr>
              <a:t>(2</a:t>
            </a:r>
            <a:r>
              <a:rPr lang="en-US" altLang="zh-CN" sz="1900" dirty="0">
                <a:solidFill>
                  <a:srgbClr val="000000"/>
                </a:solidFill>
                <a:latin typeface="Courier New" pitchFamily="49" charset="-52"/>
              </a:rPr>
              <a:t>a) print B;</a:t>
            </a:r>
            <a:endParaRPr lang="en-US" altLang="zh-CN" sz="2400" dirty="0">
              <a:latin typeface="Times New Roman" charset="0"/>
            </a:endParaRPr>
          </a:p>
        </p:txBody>
      </p:sp>
      <p:sp>
        <p:nvSpPr>
          <p:cNvPr id="26" name="Rectangle 12"/>
          <p:cNvSpPr>
            <a:spLocks noChangeArrowheads="1"/>
          </p:cNvSpPr>
          <p:nvPr/>
        </p:nvSpPr>
        <p:spPr bwMode="auto">
          <a:xfrm>
            <a:off x="2551113" y="2607518"/>
            <a:ext cx="1604606" cy="292388"/>
          </a:xfrm>
          <a:prstGeom prst="rect">
            <a:avLst/>
          </a:prstGeom>
          <a:noFill/>
          <a:ln w="9525">
            <a:noFill/>
            <a:miter lim="800000"/>
            <a:headEnd/>
            <a:tailEnd/>
          </a:ln>
        </p:spPr>
        <p:txBody>
          <a:bodyPr wrap="none" lIns="0" tIns="0" rIns="0" bIns="0">
            <a:spAutoFit/>
          </a:bodyPr>
          <a:lstStyle/>
          <a:p>
            <a:r>
              <a:rPr lang="zh-CN" altLang="en-US" sz="1900">
                <a:solidFill>
                  <a:srgbClr val="000000"/>
                </a:solidFill>
                <a:latin typeface="Courier New" pitchFamily="49" charset="-52"/>
              </a:rPr>
              <a:t>(1</a:t>
            </a:r>
            <a:r>
              <a:rPr lang="en-US" altLang="zh-CN" sz="1900">
                <a:solidFill>
                  <a:srgbClr val="000000"/>
                </a:solidFill>
                <a:latin typeface="Courier New" pitchFamily="49" charset="-52"/>
              </a:rPr>
              <a:t>b) B = 2;</a:t>
            </a:r>
            <a:endParaRPr lang="en-US" altLang="zh-CN" sz="2400">
              <a:latin typeface="Times New Roman" charset="0"/>
            </a:endParaRPr>
          </a:p>
        </p:txBody>
      </p:sp>
      <p:sp>
        <p:nvSpPr>
          <p:cNvPr id="27" name="Rectangle 13"/>
          <p:cNvSpPr>
            <a:spLocks noChangeArrowheads="1"/>
          </p:cNvSpPr>
          <p:nvPr/>
        </p:nvSpPr>
        <p:spPr bwMode="auto">
          <a:xfrm>
            <a:off x="6680201" y="2607518"/>
            <a:ext cx="1896353" cy="292388"/>
          </a:xfrm>
          <a:prstGeom prst="rect">
            <a:avLst/>
          </a:prstGeom>
          <a:noFill/>
          <a:ln w="9525">
            <a:noFill/>
            <a:miter lim="800000"/>
            <a:headEnd/>
            <a:tailEnd/>
          </a:ln>
        </p:spPr>
        <p:txBody>
          <a:bodyPr wrap="none" lIns="0" tIns="0" rIns="0" bIns="0">
            <a:spAutoFit/>
          </a:bodyPr>
          <a:lstStyle/>
          <a:p>
            <a:r>
              <a:rPr lang="zh-CN" altLang="en-US" sz="1900" dirty="0">
                <a:solidFill>
                  <a:srgbClr val="000000"/>
                </a:solidFill>
                <a:latin typeface="Courier New" pitchFamily="49" charset="-52"/>
              </a:rPr>
              <a:t>(2</a:t>
            </a:r>
            <a:r>
              <a:rPr lang="en-US" altLang="zh-CN" sz="1900" dirty="0">
                <a:solidFill>
                  <a:srgbClr val="000000"/>
                </a:solidFill>
                <a:latin typeface="Courier New" pitchFamily="49" charset="-52"/>
              </a:rPr>
              <a:t>b) print A;</a:t>
            </a:r>
            <a:endParaRPr lang="en-US" altLang="zh-CN" sz="2400" dirty="0">
              <a:latin typeface="Times New Roman" charset="0"/>
            </a:endParaRPr>
          </a:p>
        </p:txBody>
      </p:sp>
      <p:sp>
        <p:nvSpPr>
          <p:cNvPr id="28" name="Line 14"/>
          <p:cNvSpPr>
            <a:spLocks noChangeShapeType="1"/>
          </p:cNvSpPr>
          <p:nvPr/>
        </p:nvSpPr>
        <p:spPr bwMode="auto">
          <a:xfrm>
            <a:off x="2225676" y="1802657"/>
            <a:ext cx="7904163" cy="1587"/>
          </a:xfrm>
          <a:prstGeom prst="line">
            <a:avLst/>
          </a:prstGeom>
          <a:noFill/>
          <a:ln w="12700">
            <a:solidFill>
              <a:srgbClr val="000000"/>
            </a:solidFill>
            <a:round/>
            <a:headEnd/>
            <a:tailEnd/>
          </a:ln>
        </p:spPr>
        <p:txBody>
          <a:bodyPr/>
          <a:lstStyle/>
          <a:p>
            <a:endParaRPr lang="zh-CN" altLang="en-US">
              <a:latin typeface="+mn-lt"/>
            </a:endParaRPr>
          </a:p>
        </p:txBody>
      </p:sp>
      <p:grpSp>
        <p:nvGrpSpPr>
          <p:cNvPr id="29" name="Group 19"/>
          <p:cNvGrpSpPr>
            <a:grpSpLocks/>
          </p:cNvGrpSpPr>
          <p:nvPr/>
        </p:nvGrpSpPr>
        <p:grpSpPr bwMode="auto">
          <a:xfrm>
            <a:off x="2424113" y="2243337"/>
            <a:ext cx="4129088" cy="644525"/>
            <a:chOff x="567" y="1488"/>
            <a:chExt cx="2601" cy="406"/>
          </a:xfrm>
        </p:grpSpPr>
        <p:sp>
          <p:nvSpPr>
            <p:cNvPr id="30" name="Line 17"/>
            <p:cNvSpPr>
              <a:spLocks noChangeShapeType="1"/>
            </p:cNvSpPr>
            <p:nvPr/>
          </p:nvSpPr>
          <p:spPr bwMode="auto">
            <a:xfrm>
              <a:off x="567" y="1510"/>
              <a:ext cx="0" cy="384"/>
            </a:xfrm>
            <a:prstGeom prst="line">
              <a:avLst/>
            </a:prstGeom>
            <a:noFill/>
            <a:ln w="12700">
              <a:solidFill>
                <a:srgbClr val="FF0000"/>
              </a:solidFill>
              <a:round/>
              <a:headEnd/>
              <a:tailEnd type="triangle" w="med" len="med"/>
            </a:ln>
            <a:effectLst/>
          </p:spPr>
          <p:txBody>
            <a:bodyPr wrap="none" bIns="0" anchor="ctr"/>
            <a:lstStyle/>
            <a:p>
              <a:endParaRPr lang="zh-CN" altLang="en-US"/>
            </a:p>
          </p:txBody>
        </p:sp>
        <p:sp>
          <p:nvSpPr>
            <p:cNvPr id="31" name="Line 18"/>
            <p:cNvSpPr>
              <a:spLocks noChangeShapeType="1"/>
            </p:cNvSpPr>
            <p:nvPr/>
          </p:nvSpPr>
          <p:spPr bwMode="auto">
            <a:xfrm>
              <a:off x="3168" y="1488"/>
              <a:ext cx="0" cy="384"/>
            </a:xfrm>
            <a:prstGeom prst="line">
              <a:avLst/>
            </a:prstGeom>
            <a:noFill/>
            <a:ln w="12700">
              <a:solidFill>
                <a:srgbClr val="FF0000"/>
              </a:solidFill>
              <a:round/>
              <a:headEnd/>
              <a:tailEnd type="triangle" w="med" len="med"/>
            </a:ln>
            <a:effectLst/>
          </p:spPr>
          <p:txBody>
            <a:bodyPr wrap="none" bIns="0" anchor="ctr"/>
            <a:lstStyle/>
            <a:p>
              <a:endParaRPr lang="zh-CN" altLang="en-US"/>
            </a:p>
          </p:txBody>
        </p:sp>
      </p:grpSp>
      <p:grpSp>
        <p:nvGrpSpPr>
          <p:cNvPr id="32" name="Group 22"/>
          <p:cNvGrpSpPr>
            <a:grpSpLocks/>
          </p:cNvGrpSpPr>
          <p:nvPr/>
        </p:nvGrpSpPr>
        <p:grpSpPr bwMode="auto">
          <a:xfrm>
            <a:off x="4155719" y="2387352"/>
            <a:ext cx="2451341" cy="499864"/>
            <a:chOff x="1584" y="1488"/>
            <a:chExt cx="1536" cy="432"/>
          </a:xfrm>
        </p:grpSpPr>
        <p:sp>
          <p:nvSpPr>
            <p:cNvPr id="33" name="Line 20"/>
            <p:cNvSpPr>
              <a:spLocks noChangeShapeType="1"/>
            </p:cNvSpPr>
            <p:nvPr/>
          </p:nvSpPr>
          <p:spPr bwMode="auto">
            <a:xfrm flipH="1" flipV="1">
              <a:off x="1584" y="1488"/>
              <a:ext cx="1536" cy="432"/>
            </a:xfrm>
            <a:prstGeom prst="line">
              <a:avLst/>
            </a:prstGeom>
            <a:noFill/>
            <a:ln w="9525">
              <a:solidFill>
                <a:srgbClr val="114FFB"/>
              </a:solidFill>
              <a:round/>
              <a:headEnd/>
              <a:tailEnd type="triangle" w="med" len="med"/>
            </a:ln>
            <a:effectLst/>
          </p:spPr>
          <p:txBody>
            <a:bodyPr wrap="none" bIns="0" anchor="ctr"/>
            <a:lstStyle/>
            <a:p>
              <a:endParaRPr lang="zh-CN" altLang="en-US"/>
            </a:p>
          </p:txBody>
        </p:sp>
        <p:sp>
          <p:nvSpPr>
            <p:cNvPr id="34" name="Text Box 21"/>
            <p:cNvSpPr txBox="1">
              <a:spLocks noChangeArrowheads="1"/>
            </p:cNvSpPr>
            <p:nvPr/>
          </p:nvSpPr>
          <p:spPr bwMode="auto">
            <a:xfrm>
              <a:off x="2599" y="1576"/>
              <a:ext cx="329" cy="279"/>
            </a:xfrm>
            <a:prstGeom prst="rect">
              <a:avLst/>
            </a:prstGeom>
            <a:noFill/>
            <a:ln w="9525">
              <a:noFill/>
              <a:miter lim="800000"/>
              <a:headEnd/>
              <a:tailEnd/>
            </a:ln>
            <a:effectLst/>
          </p:spPr>
          <p:txBody>
            <a:bodyPr wrap="none" bIns="0">
              <a:spAutoFit/>
            </a:bodyPr>
            <a:lstStyle/>
            <a:p>
              <a:r>
                <a:rPr lang="en-US" altLang="zh-CN" dirty="0">
                  <a:solidFill>
                    <a:srgbClr val="0000FF"/>
                  </a:solidFill>
                  <a:latin typeface="+mn-lt"/>
                </a:rPr>
                <a:t>A=0</a:t>
              </a:r>
            </a:p>
          </p:txBody>
        </p:sp>
      </p:grpSp>
      <p:sp>
        <p:nvSpPr>
          <p:cNvPr id="35" name="Line 23"/>
          <p:cNvSpPr>
            <a:spLocks noChangeShapeType="1"/>
          </p:cNvSpPr>
          <p:nvPr/>
        </p:nvSpPr>
        <p:spPr bwMode="auto">
          <a:xfrm flipV="1">
            <a:off x="3962400" y="2239144"/>
            <a:ext cx="2438400" cy="685800"/>
          </a:xfrm>
          <a:prstGeom prst="line">
            <a:avLst/>
          </a:prstGeom>
          <a:noFill/>
          <a:ln w="9525">
            <a:solidFill>
              <a:srgbClr val="008000"/>
            </a:solidFill>
            <a:round/>
            <a:headEnd/>
            <a:tailEnd type="triangle" w="med" len="med"/>
          </a:ln>
          <a:effectLst/>
        </p:spPr>
        <p:txBody>
          <a:bodyPr wrap="none" bIns="0" anchor="ctr"/>
          <a:lstStyle/>
          <a:p>
            <a:endParaRPr lang="zh-CN" altLang="en-US"/>
          </a:p>
        </p:txBody>
      </p:sp>
      <p:sp>
        <p:nvSpPr>
          <p:cNvPr id="36" name="Text Box 24"/>
          <p:cNvSpPr txBox="1">
            <a:spLocks noChangeArrowheads="1"/>
          </p:cNvSpPr>
          <p:nvPr/>
        </p:nvSpPr>
        <p:spPr bwMode="auto">
          <a:xfrm>
            <a:off x="4141490" y="2599184"/>
            <a:ext cx="542136" cy="323165"/>
          </a:xfrm>
          <a:prstGeom prst="rect">
            <a:avLst/>
          </a:prstGeom>
          <a:noFill/>
          <a:ln w="9525">
            <a:noFill/>
            <a:miter lim="800000"/>
            <a:headEnd/>
            <a:tailEnd/>
          </a:ln>
          <a:effectLst/>
        </p:spPr>
        <p:txBody>
          <a:bodyPr wrap="none" bIns="0">
            <a:spAutoFit/>
          </a:bodyPr>
          <a:lstStyle/>
          <a:p>
            <a:r>
              <a:rPr lang="en-US" altLang="zh-CN" dirty="0">
                <a:solidFill>
                  <a:srgbClr val="008000"/>
                </a:solidFill>
                <a:latin typeface="+mn-lt"/>
              </a:rPr>
              <a:t>B=2</a:t>
            </a:r>
          </a:p>
        </p:txBody>
      </p:sp>
    </p:spTree>
    <p:extLst>
      <p:ext uri="{BB962C8B-B14F-4D97-AF65-F5344CB8AC3E}">
        <p14:creationId xmlns:p14="http://schemas.microsoft.com/office/powerpoint/2010/main" val="151335309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顺序一致性的实现</a:t>
            </a:r>
            <a:endParaRPr kumimoji="1" lang="zh-CN" altLang="en-US" dirty="0"/>
          </a:p>
        </p:txBody>
      </p:sp>
      <p:sp>
        <p:nvSpPr>
          <p:cNvPr id="3" name="内容占位符 2"/>
          <p:cNvSpPr>
            <a:spLocks noGrp="1"/>
          </p:cNvSpPr>
          <p:nvPr>
            <p:ph idx="1"/>
          </p:nvPr>
        </p:nvSpPr>
        <p:spPr>
          <a:xfrm>
            <a:off x="838200" y="1628800"/>
            <a:ext cx="10370368" cy="4250060"/>
          </a:xfrm>
        </p:spPr>
        <p:txBody>
          <a:bodyPr/>
          <a:lstStyle/>
          <a:p>
            <a:pPr>
              <a:lnSpc>
                <a:spcPct val="100000"/>
              </a:lnSpc>
            </a:pPr>
            <a:r>
              <a:rPr lang="zh-CN" altLang="en-US" dirty="0"/>
              <a:t>两大主要要求</a:t>
            </a:r>
            <a:endParaRPr lang="en-US" altLang="zh-CN" dirty="0"/>
          </a:p>
          <a:p>
            <a:pPr lvl="1">
              <a:lnSpc>
                <a:spcPct val="100000"/>
              </a:lnSpc>
            </a:pPr>
            <a:r>
              <a:rPr lang="zh-CN" altLang="en-US" dirty="0"/>
              <a:t>程序序：</a:t>
            </a:r>
            <a:r>
              <a:rPr kumimoji="1" lang="zh-CN" altLang="en-US" dirty="0"/>
              <a:t>由某进程发出的访存操作必须显现为按程序序执行，即被自己和其它进程看到的完成次序符合程序序</a:t>
            </a:r>
            <a:endParaRPr kumimoji="1" lang="en-US" altLang="zh-CN" dirty="0"/>
          </a:p>
          <a:p>
            <a:pPr lvl="1">
              <a:lnSpc>
                <a:spcPct val="100000"/>
              </a:lnSpc>
            </a:pPr>
            <a:r>
              <a:rPr kumimoji="1" lang="zh-CN" altLang="en-US" dirty="0"/>
              <a:t>原子性：</a:t>
            </a:r>
            <a:r>
              <a:rPr lang="zh-CN" altLang="en-US" dirty="0"/>
              <a:t>在</a:t>
            </a:r>
            <a:r>
              <a:rPr kumimoji="1" lang="zh-CN" altLang="en-US" dirty="0"/>
              <a:t>一个假想的整体访存全序中，一个访存操作相对于所有进程都执行完成后，下一个访存才可以发出</a:t>
            </a:r>
            <a:endParaRPr kumimoji="1" lang="en-US" altLang="zh-CN" dirty="0"/>
          </a:p>
          <a:p>
            <a:pPr lvl="2">
              <a:lnSpc>
                <a:spcPct val="100000"/>
              </a:lnSpc>
            </a:pPr>
            <a:r>
              <a:rPr lang="zh-CN" altLang="en-US" dirty="0"/>
              <a:t>确保跨越所有进程的全序都是一致的</a:t>
            </a:r>
            <a:endParaRPr lang="en-US" altLang="zh-CN" dirty="0"/>
          </a:p>
          <a:p>
            <a:pPr>
              <a:lnSpc>
                <a:spcPct val="100000"/>
              </a:lnSpc>
            </a:pPr>
            <a:r>
              <a:rPr kumimoji="1" lang="zh-CN" altLang="en-US" dirty="0"/>
              <a:t>关键是保证写操作的原子性：</a:t>
            </a:r>
            <a:r>
              <a:rPr kumimoji="1" lang="en-US" altLang="zh-CN" dirty="0"/>
              <a:t>P3</a:t>
            </a:r>
            <a:r>
              <a:rPr kumimoji="1" lang="zh-CN" altLang="en-US" dirty="0"/>
              <a:t>应该输出</a:t>
            </a:r>
            <a:r>
              <a:rPr kumimoji="1" lang="en-US" altLang="zh-CN" dirty="0"/>
              <a:t>1</a:t>
            </a:r>
          </a:p>
          <a:p>
            <a:pPr marL="0" indent="0">
              <a:lnSpc>
                <a:spcPct val="100000"/>
              </a:lnSpc>
              <a:buNone/>
            </a:pPr>
            <a:r>
              <a:rPr lang="en-US" altLang="zh-CN" sz="2400" dirty="0"/>
              <a:t> P1               P2                      P3            </a:t>
            </a:r>
            <a:r>
              <a:rPr lang="en-US" altLang="zh-CN" sz="2400" dirty="0" smtClean="0"/>
              <a:t>		P2</a:t>
            </a:r>
            <a:r>
              <a:rPr lang="zh-CN" altLang="en-US" sz="2400" dirty="0"/>
              <a:t>读到</a:t>
            </a:r>
            <a:r>
              <a:rPr lang="en-US" altLang="zh-CN" sz="2400" dirty="0"/>
              <a:t>A=1</a:t>
            </a:r>
            <a:r>
              <a:rPr lang="zh-CN" altLang="en-US" sz="2400" dirty="0"/>
              <a:t>，但</a:t>
            </a:r>
            <a:r>
              <a:rPr lang="en-US" altLang="zh-CN" sz="2400" dirty="0"/>
              <a:t>P1</a:t>
            </a:r>
          </a:p>
          <a:p>
            <a:pPr marL="0" indent="0">
              <a:lnSpc>
                <a:spcPct val="100000"/>
              </a:lnSpc>
              <a:buNone/>
            </a:pPr>
            <a:r>
              <a:rPr kumimoji="1" lang="en-US" altLang="zh-CN" sz="2400" dirty="0"/>
              <a:t>A=1; </a:t>
            </a:r>
            <a:r>
              <a:rPr lang="en-US" altLang="zh-CN" sz="2400" dirty="0"/>
              <a:t>→</a:t>
            </a:r>
            <a:r>
              <a:rPr kumimoji="1" lang="en-US" altLang="zh-CN" sz="2400" dirty="0"/>
              <a:t> while (A==0);                             </a:t>
            </a:r>
            <a:r>
              <a:rPr kumimoji="1" lang="en-US" altLang="zh-CN" sz="2400" dirty="0" smtClean="0"/>
              <a:t>		</a:t>
            </a:r>
            <a:r>
              <a:rPr kumimoji="1" lang="zh-CN" altLang="en-US" sz="2400" dirty="0" smtClean="0"/>
              <a:t>的</a:t>
            </a:r>
            <a:r>
              <a:rPr kumimoji="1" lang="zh-CN" altLang="en-US" sz="2400" dirty="0"/>
              <a:t>写还没有全局完</a:t>
            </a:r>
            <a:r>
              <a:rPr kumimoji="1" lang="en-US" altLang="zh-CN" sz="2400" dirty="0"/>
              <a:t>  </a:t>
            </a:r>
          </a:p>
          <a:p>
            <a:pPr marL="0" indent="0">
              <a:lnSpc>
                <a:spcPct val="100000"/>
              </a:lnSpc>
              <a:buNone/>
            </a:pPr>
            <a:r>
              <a:rPr lang="en-US" altLang="zh-CN" sz="2400" dirty="0"/>
              <a:t>                    B=1;      →   while (B==0);  </a:t>
            </a:r>
            <a:r>
              <a:rPr lang="en-US" altLang="zh-CN" sz="2400" dirty="0" smtClean="0"/>
              <a:t>		</a:t>
            </a:r>
            <a:r>
              <a:rPr lang="zh-CN" altLang="en-US" sz="2400" dirty="0" smtClean="0"/>
              <a:t>成</a:t>
            </a:r>
            <a:r>
              <a:rPr lang="zh-CN" altLang="en-US" sz="2400" dirty="0"/>
              <a:t>即发出</a:t>
            </a:r>
            <a:r>
              <a:rPr lang="en-US" altLang="zh-CN" sz="2400" dirty="0" smtClean="0"/>
              <a:t>B=1</a:t>
            </a:r>
            <a:endParaRPr lang="en-US" altLang="zh-CN" sz="2400" dirty="0"/>
          </a:p>
          <a:p>
            <a:pPr marL="0" indent="0">
              <a:lnSpc>
                <a:spcPct val="100000"/>
              </a:lnSpc>
              <a:buNone/>
            </a:pPr>
            <a:r>
              <a:rPr kumimoji="1" lang="en-US" altLang="zh-CN" sz="2400" dirty="0"/>
              <a:t>                                             Print A;      </a:t>
            </a:r>
            <a:r>
              <a:rPr kumimoji="1" lang="en-US" altLang="zh-CN" sz="2400" dirty="0" smtClean="0"/>
              <a:t>		P3</a:t>
            </a:r>
            <a:r>
              <a:rPr kumimoji="1" lang="zh-CN" altLang="en-US" sz="2400" dirty="0" smtClean="0"/>
              <a:t>看不到</a:t>
            </a:r>
            <a:r>
              <a:rPr kumimoji="1" lang="en-US" altLang="zh-CN" sz="2400" dirty="0"/>
              <a:t>A=1</a:t>
            </a:r>
            <a:endParaRPr kumimoji="1" lang="zh-CN" altLang="en-US" sz="2400" dirty="0"/>
          </a:p>
        </p:txBody>
      </p:sp>
    </p:spTree>
    <p:extLst>
      <p:ext uri="{BB962C8B-B14F-4D97-AF65-F5344CB8AC3E}">
        <p14:creationId xmlns:p14="http://schemas.microsoft.com/office/powerpoint/2010/main" val="136167763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顺序一致性的实现</a:t>
            </a:r>
            <a:endParaRPr kumimoji="1" lang="zh-CN" altLang="en-US" dirty="0"/>
          </a:p>
        </p:txBody>
      </p:sp>
      <p:sp>
        <p:nvSpPr>
          <p:cNvPr id="3" name="内容占位符 2"/>
          <p:cNvSpPr>
            <a:spLocks noGrp="1"/>
          </p:cNvSpPr>
          <p:nvPr>
            <p:ph idx="1"/>
          </p:nvPr>
        </p:nvSpPr>
        <p:spPr/>
        <p:txBody>
          <a:bodyPr/>
          <a:lstStyle/>
          <a:p>
            <a:pPr>
              <a:lnSpc>
                <a:spcPct val="100000"/>
              </a:lnSpc>
            </a:pPr>
            <a:r>
              <a:rPr lang="zh-CN" altLang="en-US" dirty="0" smtClean="0"/>
              <a:t>存在交替执</a:t>
            </a:r>
            <a:r>
              <a:rPr lang="zh-CN" altLang="en-US" dirty="0"/>
              <a:t>行的操作全序，</a:t>
            </a:r>
            <a:r>
              <a:rPr lang="zh-CN" altLang="en-US" dirty="0" smtClean="0"/>
              <a:t>与具体执行的偏序相对应</a:t>
            </a:r>
            <a:endParaRPr lang="en-US" altLang="zh-CN" dirty="0" smtClean="0"/>
          </a:p>
          <a:p>
            <a:pPr>
              <a:lnSpc>
                <a:spcPct val="100000"/>
              </a:lnSpc>
            </a:pPr>
            <a:r>
              <a:rPr lang="zh-CN" altLang="en-US" dirty="0" smtClean="0"/>
              <a:t>充分条件</a:t>
            </a:r>
            <a:endParaRPr lang="en-US" altLang="zh-CN" dirty="0" smtClean="0"/>
          </a:p>
          <a:p>
            <a:pPr lvl="1">
              <a:lnSpc>
                <a:spcPct val="100000"/>
              </a:lnSpc>
            </a:pPr>
            <a:r>
              <a:rPr lang="zh-CN" altLang="en-US" dirty="0" smtClean="0"/>
              <a:t>每个进程按程序序发出访存操作</a:t>
            </a:r>
            <a:endParaRPr lang="en-US" altLang="zh-CN" dirty="0" smtClean="0"/>
          </a:p>
          <a:p>
            <a:pPr lvl="1">
              <a:lnSpc>
                <a:spcPct val="100000"/>
              </a:lnSpc>
            </a:pPr>
            <a:r>
              <a:rPr lang="zh-CN" altLang="en-US" dirty="0" smtClean="0"/>
              <a:t>发出写操作的处理器等到该操作完成后，再发出下一个访存操作</a:t>
            </a:r>
            <a:endParaRPr lang="en-US" altLang="zh-CN" dirty="0" smtClean="0"/>
          </a:p>
          <a:p>
            <a:pPr lvl="1">
              <a:lnSpc>
                <a:spcPct val="100000"/>
              </a:lnSpc>
            </a:pPr>
            <a:r>
              <a:rPr lang="zh-CN" altLang="en-US" dirty="0" smtClean="0"/>
              <a:t>发出读操作的处理器等到该操作完成，且为该读操作供值的那个写操作全局完成后，再发出下一个访存操作</a:t>
            </a:r>
            <a:endParaRPr lang="en-US" altLang="zh-CN" dirty="0" smtClean="0"/>
          </a:p>
          <a:p>
            <a:pPr>
              <a:lnSpc>
                <a:spcPct val="100000"/>
              </a:lnSpc>
            </a:pPr>
            <a:r>
              <a:rPr lang="zh-CN" altLang="en-US" dirty="0" smtClean="0"/>
              <a:t>违反</a:t>
            </a:r>
            <a:r>
              <a:rPr lang="en-US" altLang="zh-CN" dirty="0" smtClean="0"/>
              <a:t>SC</a:t>
            </a:r>
            <a:r>
              <a:rPr lang="zh-CN" altLang="en-US" dirty="0" smtClean="0"/>
              <a:t>的行为存在于编译和体系结构中</a:t>
            </a:r>
            <a:endParaRPr lang="en-US" altLang="zh-CN" dirty="0"/>
          </a:p>
        </p:txBody>
      </p:sp>
    </p:spTree>
    <p:extLst>
      <p:ext uri="{BB962C8B-B14F-4D97-AF65-F5344CB8AC3E}">
        <p14:creationId xmlns:p14="http://schemas.microsoft.com/office/powerpoint/2010/main" val="133807864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违反顺序一致的优化</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smtClean="0"/>
              <a:t>并行程序通常采用为单机设计的编译器</a:t>
            </a:r>
            <a:endParaRPr kumimoji="1" lang="en-US" altLang="zh-CN" dirty="0" smtClean="0"/>
          </a:p>
          <a:p>
            <a:pPr lvl="1">
              <a:lnSpc>
                <a:spcPct val="100000"/>
              </a:lnSpc>
            </a:pPr>
            <a:r>
              <a:rPr lang="en-US" altLang="zh-CN" dirty="0" smtClean="0"/>
              <a:t>O0</a:t>
            </a:r>
            <a:r>
              <a:rPr lang="zh-CN" altLang="en-US" dirty="0" smtClean="0"/>
              <a:t>：源程序里的程序序可能不同于汇编程序里的程序序</a:t>
            </a:r>
            <a:endParaRPr lang="en-US" altLang="zh-CN" dirty="0" smtClean="0"/>
          </a:p>
          <a:p>
            <a:pPr lvl="1">
              <a:lnSpc>
                <a:spcPct val="100000"/>
              </a:lnSpc>
            </a:pPr>
            <a:r>
              <a:rPr kumimoji="1" lang="en-US" altLang="zh-CN" dirty="0" smtClean="0"/>
              <a:t>O2</a:t>
            </a:r>
            <a:r>
              <a:rPr kumimoji="1" lang="zh-CN" altLang="en-US" dirty="0" smtClean="0"/>
              <a:t>：大量调整序，只要不改变数据依赖关系</a:t>
            </a:r>
            <a:endParaRPr kumimoji="1" lang="en-US" altLang="zh-CN" dirty="0" smtClean="0"/>
          </a:p>
          <a:p>
            <a:pPr lvl="2">
              <a:lnSpc>
                <a:spcPct val="100000"/>
              </a:lnSpc>
            </a:pPr>
            <a:r>
              <a:rPr lang="zh-CN" altLang="en-US" dirty="0" smtClean="0"/>
              <a:t>消除公共子表达式、常数传播、寄存器分配</a:t>
            </a:r>
            <a:endParaRPr lang="en-US" altLang="zh-CN" dirty="0" smtClean="0"/>
          </a:p>
          <a:p>
            <a:pPr lvl="2">
              <a:lnSpc>
                <a:spcPct val="100000"/>
              </a:lnSpc>
            </a:pPr>
            <a:r>
              <a:rPr lang="zh-CN" altLang="en-US" dirty="0" smtClean="0"/>
              <a:t>循环变换：分裂、合并、倒序、分块</a:t>
            </a:r>
            <a:endParaRPr lang="en-US" altLang="zh-CN" dirty="0" smtClean="0"/>
          </a:p>
          <a:p>
            <a:pPr lvl="1">
              <a:lnSpc>
                <a:spcPct val="100000"/>
              </a:lnSpc>
            </a:pPr>
            <a:r>
              <a:rPr kumimoji="1" lang="zh-CN" altLang="en-US" dirty="0" smtClean="0"/>
              <a:t>寄存器分配甚至可以消除部分访存操作</a:t>
            </a:r>
            <a:endParaRPr kumimoji="1" lang="en-US" altLang="zh-CN" dirty="0" smtClean="0"/>
          </a:p>
          <a:p>
            <a:pPr lvl="2">
              <a:lnSpc>
                <a:spcPct val="100000"/>
              </a:lnSpc>
            </a:pPr>
            <a:r>
              <a:rPr lang="zh-CN" altLang="en-US" dirty="0" smtClean="0"/>
              <a:t>考虑</a:t>
            </a:r>
            <a:r>
              <a:rPr lang="en-US" altLang="zh-CN" dirty="0" smtClean="0"/>
              <a:t>while (flag==0); </a:t>
            </a:r>
            <a:r>
              <a:rPr lang="zh-CN" altLang="en-US" dirty="0" smtClean="0"/>
              <a:t>若</a:t>
            </a:r>
            <a:r>
              <a:rPr lang="en-US" altLang="zh-CN" dirty="0" smtClean="0"/>
              <a:t>flag</a:t>
            </a:r>
            <a:r>
              <a:rPr lang="zh-CN" altLang="en-US" dirty="0" smtClean="0"/>
              <a:t>分配给寄存器了</a:t>
            </a:r>
            <a:endParaRPr lang="en-US" altLang="zh-CN" dirty="0" smtClean="0"/>
          </a:p>
          <a:p>
            <a:pPr lvl="2">
              <a:lnSpc>
                <a:spcPct val="100000"/>
              </a:lnSpc>
            </a:pPr>
            <a:r>
              <a:rPr kumimoji="1" lang="zh-CN" altLang="en-US" dirty="0" smtClean="0"/>
              <a:t>别的处理器置</a:t>
            </a:r>
            <a:r>
              <a:rPr kumimoji="1" lang="en-US" altLang="zh-CN" dirty="0" smtClean="0"/>
              <a:t>flag=1</a:t>
            </a:r>
            <a:r>
              <a:rPr kumimoji="1" lang="zh-CN" altLang="en-US" dirty="0" smtClean="0"/>
              <a:t>后，</a:t>
            </a:r>
            <a:r>
              <a:rPr kumimoji="1" lang="en-US" altLang="zh-CN" dirty="0" smtClean="0"/>
              <a:t>cache</a:t>
            </a:r>
            <a:r>
              <a:rPr kumimoji="1" lang="zh-CN" altLang="en-US" dirty="0" smtClean="0"/>
              <a:t>同一协议无法传新值给寄存器</a:t>
            </a:r>
            <a:endParaRPr kumimoji="1" lang="en-US" altLang="zh-CN" dirty="0" smtClean="0"/>
          </a:p>
          <a:p>
            <a:pPr lvl="1">
              <a:lnSpc>
                <a:spcPct val="100000"/>
              </a:lnSpc>
            </a:pPr>
            <a:r>
              <a:rPr lang="zh-CN" altLang="en-US" dirty="0" smtClean="0"/>
              <a:t>一种常用的方案：声明</a:t>
            </a:r>
            <a:r>
              <a:rPr lang="en-US" altLang="zh-CN" dirty="0" smtClean="0"/>
              <a:t>volatile</a:t>
            </a:r>
            <a:r>
              <a:rPr lang="zh-CN" altLang="en-US" dirty="0" smtClean="0"/>
              <a:t>变量</a:t>
            </a:r>
            <a:endParaRPr lang="en-US" altLang="zh-CN" dirty="0" smtClean="0"/>
          </a:p>
          <a:p>
            <a:pPr>
              <a:lnSpc>
                <a:spcPct val="100000"/>
              </a:lnSpc>
            </a:pPr>
            <a:r>
              <a:rPr kumimoji="1" lang="zh-CN" altLang="en-US" dirty="0" smtClean="0"/>
              <a:t>先进处理器中的乱序执行机制？</a:t>
            </a:r>
            <a:endParaRPr kumimoji="1" lang="en-US" altLang="zh-CN" dirty="0" smtClean="0"/>
          </a:p>
          <a:p>
            <a:pPr lvl="1">
              <a:lnSpc>
                <a:spcPct val="100000"/>
              </a:lnSpc>
            </a:pPr>
            <a:r>
              <a:rPr kumimoji="1" lang="zh-CN" altLang="en-US" dirty="0" smtClean="0"/>
              <a:t>很多先进处理器并不完全支持顺序一致性</a:t>
            </a:r>
            <a:endParaRPr kumimoji="1" lang="zh-CN" altLang="en-US" dirty="0"/>
          </a:p>
        </p:txBody>
      </p:sp>
    </p:spTree>
    <p:extLst>
      <p:ext uri="{BB962C8B-B14F-4D97-AF65-F5344CB8AC3E}">
        <p14:creationId xmlns:p14="http://schemas.microsoft.com/office/powerpoint/2010/main" val="66734664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后写型</a:t>
            </a:r>
            <a:r>
              <a:rPr kumimoji="1" lang="en-US" altLang="zh-CN" dirty="0" smtClean="0"/>
              <a:t>cache</a:t>
            </a:r>
            <a:r>
              <a:rPr kumimoji="1" lang="zh-CN" altLang="en-US" dirty="0" smtClean="0"/>
              <a:t>如何保持同一</a:t>
            </a:r>
            <a:endParaRPr kumimoji="1" lang="zh-CN" altLang="en-US" dirty="0"/>
          </a:p>
        </p:txBody>
      </p:sp>
      <p:sp>
        <p:nvSpPr>
          <p:cNvPr id="3" name="内容占位符 2"/>
          <p:cNvSpPr>
            <a:spLocks noGrp="1"/>
          </p:cNvSpPr>
          <p:nvPr>
            <p:ph idx="1"/>
          </p:nvPr>
        </p:nvSpPr>
        <p:spPr>
          <a:xfrm>
            <a:off x="838200" y="1637632"/>
            <a:ext cx="9321800" cy="4313236"/>
          </a:xfrm>
        </p:spPr>
        <p:txBody>
          <a:bodyPr/>
          <a:lstStyle/>
          <a:p>
            <a:r>
              <a:rPr kumimoji="1" lang="en-US" altLang="zh-CN" dirty="0"/>
              <a:t>3</a:t>
            </a:r>
            <a:r>
              <a:rPr kumimoji="1" lang="zh-CN" altLang="en-US" dirty="0" smtClean="0"/>
              <a:t>种处理器或</a:t>
            </a:r>
            <a:r>
              <a:rPr kumimoji="1" lang="en-US" altLang="zh-CN" dirty="0" smtClean="0"/>
              <a:t>Cache</a:t>
            </a:r>
            <a:r>
              <a:rPr kumimoji="1" lang="zh-CN" altLang="en-US" dirty="0" smtClean="0"/>
              <a:t>操作</a:t>
            </a:r>
            <a:endParaRPr kumimoji="1" lang="en-US" altLang="zh-CN" dirty="0"/>
          </a:p>
          <a:p>
            <a:pPr lvl="1"/>
            <a:r>
              <a:rPr lang="en-US" altLang="zh-CN" dirty="0" err="1">
                <a:solidFill>
                  <a:srgbClr val="FF0000"/>
                </a:solidFill>
              </a:rPr>
              <a:t>PrRd</a:t>
            </a:r>
            <a:r>
              <a:rPr lang="en-US" altLang="zh-CN" dirty="0"/>
              <a:t>, </a:t>
            </a:r>
            <a:r>
              <a:rPr lang="en-US" altLang="zh-CN" dirty="0" err="1" smtClean="0">
                <a:solidFill>
                  <a:srgbClr val="FF0000"/>
                </a:solidFill>
              </a:rPr>
              <a:t>PrWr</a:t>
            </a:r>
            <a:r>
              <a:rPr lang="en-US" altLang="zh-CN" dirty="0" smtClean="0"/>
              <a:t>, Block </a:t>
            </a:r>
            <a:r>
              <a:rPr lang="en-US" altLang="zh-CN" dirty="0" smtClean="0">
                <a:solidFill>
                  <a:srgbClr val="FF0000"/>
                </a:solidFill>
              </a:rPr>
              <a:t>Replace</a:t>
            </a:r>
            <a:endParaRPr lang="en-US" altLang="zh-CN" dirty="0">
              <a:solidFill>
                <a:srgbClr val="FF0000"/>
              </a:solidFill>
            </a:endParaRPr>
          </a:p>
          <a:p>
            <a:r>
              <a:rPr kumimoji="1" lang="en-US" altLang="zh-CN" dirty="0"/>
              <a:t>3</a:t>
            </a:r>
            <a:r>
              <a:rPr kumimoji="1" lang="zh-CN" altLang="en-US" dirty="0"/>
              <a:t>种状态（同单机）</a:t>
            </a:r>
            <a:endParaRPr kumimoji="1" lang="en-US" altLang="zh-CN" dirty="0"/>
          </a:p>
          <a:p>
            <a:pPr lvl="1"/>
            <a:r>
              <a:rPr lang="en-US" altLang="zh-CN" dirty="0"/>
              <a:t>I</a:t>
            </a:r>
            <a:r>
              <a:rPr lang="zh-CN" altLang="en-US" dirty="0"/>
              <a:t>无效、</a:t>
            </a:r>
            <a:r>
              <a:rPr lang="en-US" altLang="zh-CN" dirty="0"/>
              <a:t>V</a:t>
            </a:r>
            <a:r>
              <a:rPr lang="zh-CN" altLang="en-US" dirty="0" smtClean="0"/>
              <a:t>有效</a:t>
            </a:r>
            <a:r>
              <a:rPr lang="en-US" altLang="zh-CN" dirty="0" smtClean="0"/>
              <a:t>(clean)</a:t>
            </a:r>
            <a:r>
              <a:rPr lang="zh-CN" altLang="en-US" dirty="0" smtClean="0"/>
              <a:t>、</a:t>
            </a:r>
            <a:r>
              <a:rPr lang="en-US" altLang="zh-CN" dirty="0"/>
              <a:t>M</a:t>
            </a:r>
            <a:r>
              <a:rPr lang="zh-CN" altLang="en-US" dirty="0" smtClean="0"/>
              <a:t>改过</a:t>
            </a:r>
            <a:r>
              <a:rPr lang="en-US" altLang="zh-CN" dirty="0" smtClean="0"/>
              <a:t>(modified, dirty)</a:t>
            </a:r>
            <a:endParaRPr lang="en-US" altLang="zh-CN" dirty="0"/>
          </a:p>
          <a:p>
            <a:r>
              <a:rPr lang="en-US" altLang="zh-CN" dirty="0"/>
              <a:t>2</a:t>
            </a:r>
            <a:r>
              <a:rPr lang="zh-CN" altLang="en-US" dirty="0"/>
              <a:t>种总线事务</a:t>
            </a:r>
            <a:endParaRPr lang="en-US" altLang="zh-CN" dirty="0"/>
          </a:p>
          <a:p>
            <a:pPr lvl="1"/>
            <a:r>
              <a:rPr lang="en-US" altLang="zh-CN" dirty="0" err="1" smtClean="0"/>
              <a:t>BusRd</a:t>
            </a:r>
            <a:r>
              <a:rPr lang="en-US" altLang="zh-CN" dirty="0" smtClean="0"/>
              <a:t>(read), </a:t>
            </a:r>
            <a:r>
              <a:rPr lang="en-US" altLang="zh-CN" dirty="0" err="1"/>
              <a:t>BusWB</a:t>
            </a:r>
            <a:r>
              <a:rPr lang="en-US" altLang="zh-CN" dirty="0"/>
              <a:t> (write back)</a:t>
            </a:r>
          </a:p>
          <a:p>
            <a:pPr lvl="1"/>
            <a:r>
              <a:rPr lang="zh-CN" altLang="en-US" dirty="0" smtClean="0"/>
              <a:t>这里只</a:t>
            </a:r>
            <a:r>
              <a:rPr lang="zh-CN" altLang="en-US" dirty="0"/>
              <a:t>讨论</a:t>
            </a:r>
            <a:r>
              <a:rPr lang="en-US" altLang="zh-CN" dirty="0"/>
              <a:t>cache</a:t>
            </a:r>
            <a:r>
              <a:rPr lang="zh-CN" altLang="en-US" dirty="0" smtClean="0"/>
              <a:t>块的传送</a:t>
            </a:r>
            <a:endParaRPr lang="en-US" altLang="zh-CN" dirty="0"/>
          </a:p>
          <a:p>
            <a:r>
              <a:rPr lang="zh-CN" altLang="en-US" dirty="0"/>
              <a:t>引入一个新的总线事务</a:t>
            </a:r>
            <a:endParaRPr lang="en-US" altLang="zh-CN" dirty="0"/>
          </a:p>
          <a:p>
            <a:pPr lvl="1"/>
            <a:r>
              <a:rPr lang="en-US" altLang="zh-CN" dirty="0" smtClean="0"/>
              <a:t>read-exclusive</a:t>
            </a:r>
            <a:r>
              <a:rPr lang="en-US" altLang="zh-CN" dirty="0"/>
              <a:t>: </a:t>
            </a:r>
            <a:r>
              <a:rPr lang="zh-CN" altLang="en-US" dirty="0"/>
              <a:t>为了修改而读</a:t>
            </a:r>
            <a:r>
              <a:rPr lang="en-US" altLang="zh-CN" dirty="0"/>
              <a:t>(read-to-own)</a:t>
            </a:r>
            <a:endParaRPr lang="zh-CN" altLang="en-US" dirty="0"/>
          </a:p>
          <a:p>
            <a:r>
              <a:rPr kumimoji="1" lang="en-US" altLang="zh-CN" dirty="0"/>
              <a:t>valid=shared, modified=Exclusive</a:t>
            </a:r>
          </a:p>
          <a:p>
            <a:pPr marL="800100" lvl="2" indent="-400050"/>
            <a:r>
              <a:rPr lang="en-US" altLang="zh-CN" dirty="0" smtClean="0"/>
              <a:t>M</a:t>
            </a:r>
            <a:r>
              <a:rPr lang="zh-CN" altLang="en-US" dirty="0" smtClean="0"/>
              <a:t>态的</a:t>
            </a:r>
            <a:r>
              <a:rPr lang="en-US" altLang="zh-CN" dirty="0" smtClean="0"/>
              <a:t>cache</a:t>
            </a:r>
            <a:r>
              <a:rPr lang="zh-CN" altLang="en-US" dirty="0" smtClean="0"/>
              <a:t>为数据块的属主</a:t>
            </a:r>
            <a:r>
              <a:rPr lang="en-US" altLang="zh-CN" dirty="0" smtClean="0"/>
              <a:t>(owner)</a:t>
            </a:r>
            <a:r>
              <a:rPr lang="zh-CN" altLang="en-US" dirty="0" smtClean="0"/>
              <a:t>：</a:t>
            </a:r>
            <a:r>
              <a:rPr lang="zh-CN" altLang="en-US" dirty="0"/>
              <a:t>负责</a:t>
            </a:r>
            <a:r>
              <a:rPr lang="zh-CN" altLang="en-US" dirty="0" smtClean="0"/>
              <a:t>供数</a:t>
            </a:r>
            <a:endParaRPr lang="en-US" altLang="zh-CN" dirty="0"/>
          </a:p>
        </p:txBody>
      </p:sp>
      <p:pic>
        <p:nvPicPr>
          <p:cNvPr id="4" name="图片 3"/>
          <p:cNvPicPr>
            <a:picLocks noChangeAspect="1"/>
          </p:cNvPicPr>
          <p:nvPr/>
        </p:nvPicPr>
        <p:blipFill>
          <a:blip r:embed="rId2"/>
          <a:stretch>
            <a:fillRect/>
          </a:stretch>
        </p:blipFill>
        <p:spPr>
          <a:xfrm>
            <a:off x="7752184" y="1458038"/>
            <a:ext cx="3888432" cy="5373358"/>
          </a:xfrm>
          <a:prstGeom prst="rect">
            <a:avLst/>
          </a:prstGeom>
        </p:spPr>
      </p:pic>
    </p:spTree>
    <p:extLst>
      <p:ext uri="{BB962C8B-B14F-4D97-AF65-F5344CB8AC3E}">
        <p14:creationId xmlns:p14="http://schemas.microsoft.com/office/powerpoint/2010/main" val="183217755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后写使无效的协议</a:t>
            </a:r>
            <a:r>
              <a:rPr lang="en-US" altLang="zh-CN" dirty="0" smtClean="0"/>
              <a:t/>
            </a:r>
            <a:br>
              <a:rPr lang="en-US" altLang="zh-CN" dirty="0" smtClean="0"/>
            </a:br>
            <a:r>
              <a:rPr lang="en-US" altLang="zh-CN" dirty="0" smtClean="0"/>
              <a:t>Write back, Write-invalidate</a:t>
            </a:r>
            <a:endParaRPr lang="zh-CN" altLang="en-US" dirty="0"/>
          </a:p>
        </p:txBody>
      </p:sp>
      <p:sp>
        <p:nvSpPr>
          <p:cNvPr id="3" name="内容占位符 2"/>
          <p:cNvSpPr>
            <a:spLocks noGrp="1"/>
          </p:cNvSpPr>
          <p:nvPr>
            <p:ph idx="1"/>
          </p:nvPr>
        </p:nvSpPr>
        <p:spPr/>
        <p:txBody>
          <a:bodyPr/>
          <a:lstStyle/>
          <a:p>
            <a:r>
              <a:rPr lang="zh-CN" altLang="en-US" dirty="0" smtClean="0"/>
              <a:t>独占状态意味着可不通知别人就修改它</a:t>
            </a:r>
            <a:endParaRPr lang="en-US" altLang="zh-CN" dirty="0" smtClean="0"/>
          </a:p>
          <a:p>
            <a:pPr lvl="1"/>
            <a:r>
              <a:rPr lang="zh-CN" altLang="en-US" dirty="0" smtClean="0"/>
              <a:t>不必产生新的总线事务</a:t>
            </a:r>
            <a:endParaRPr lang="en-US" altLang="zh-CN" dirty="0" smtClean="0"/>
          </a:p>
          <a:p>
            <a:r>
              <a:rPr lang="zh-CN" altLang="en-US" dirty="0" smtClean="0"/>
              <a:t>实施写之前，必须先达到块的独占状态</a:t>
            </a:r>
            <a:endParaRPr lang="en-US" altLang="zh-CN" dirty="0" smtClean="0"/>
          </a:p>
          <a:p>
            <a:pPr lvl="1"/>
            <a:r>
              <a:rPr lang="zh-CN" altLang="en-US" dirty="0" smtClean="0"/>
              <a:t>即便已经在有效</a:t>
            </a:r>
            <a:r>
              <a:rPr lang="en-US" altLang="zh-CN" dirty="0" smtClean="0"/>
              <a:t>V</a:t>
            </a:r>
            <a:r>
              <a:rPr lang="zh-CN" altLang="en-US" dirty="0" smtClean="0"/>
              <a:t>状态了，仍需总线事务，即写不命中</a:t>
            </a:r>
            <a:endParaRPr lang="en-US" altLang="zh-CN" dirty="0" smtClean="0"/>
          </a:p>
          <a:p>
            <a:pPr lvl="1"/>
            <a:r>
              <a:rPr lang="zh-CN" altLang="en-US" dirty="0" smtClean="0"/>
              <a:t>因为此数据块可能也被其它</a:t>
            </a:r>
            <a:r>
              <a:rPr lang="en-US" altLang="zh-CN" dirty="0" smtClean="0"/>
              <a:t>cache</a:t>
            </a:r>
            <a:r>
              <a:rPr lang="zh-CN" altLang="en-US" dirty="0" smtClean="0"/>
              <a:t>共享，在别的</a:t>
            </a:r>
            <a:r>
              <a:rPr lang="en-US" altLang="zh-CN" dirty="0" smtClean="0"/>
              <a:t>cache</a:t>
            </a:r>
            <a:r>
              <a:rPr lang="zh-CN" altLang="en-US" dirty="0" smtClean="0"/>
              <a:t>中有</a:t>
            </a:r>
            <a:r>
              <a:rPr lang="en-US" altLang="zh-CN" dirty="0" smtClean="0"/>
              <a:t>V</a:t>
            </a:r>
            <a:r>
              <a:rPr lang="zh-CN" altLang="en-US" dirty="0" smtClean="0"/>
              <a:t>的状态</a:t>
            </a:r>
            <a:endParaRPr lang="en-US" altLang="zh-CN" dirty="0" smtClean="0"/>
          </a:p>
          <a:p>
            <a:r>
              <a:rPr lang="zh-CN" altLang="en-US" dirty="0" smtClean="0"/>
              <a:t>写往</a:t>
            </a:r>
            <a:r>
              <a:rPr lang="en-US" altLang="zh-CN" dirty="0" smtClean="0"/>
              <a:t>V</a:t>
            </a:r>
            <a:r>
              <a:rPr lang="zh-CN" altLang="en-US" dirty="0" smtClean="0"/>
              <a:t>状态的共享块或非改过块，将产生</a:t>
            </a:r>
            <a:r>
              <a:rPr lang="en-US" altLang="zh-CN" dirty="0" smtClean="0"/>
              <a:t>read-exclusive</a:t>
            </a:r>
            <a:r>
              <a:rPr lang="zh-CN" altLang="en-US" dirty="0" smtClean="0"/>
              <a:t>总线事务</a:t>
            </a:r>
            <a:endParaRPr lang="en-US" altLang="zh-CN" dirty="0" smtClean="0"/>
          </a:p>
          <a:p>
            <a:pPr lvl="1"/>
            <a:r>
              <a:rPr lang="zh-CN" altLang="en-US" dirty="0" smtClean="0"/>
              <a:t>告诉其它</a:t>
            </a:r>
            <a:r>
              <a:rPr lang="en-US" altLang="zh-CN" dirty="0" smtClean="0"/>
              <a:t>cache</a:t>
            </a:r>
            <a:r>
              <a:rPr lang="zh-CN" altLang="en-US" dirty="0" smtClean="0"/>
              <a:t>有写操作在等待中，需要获得独占拥有权</a:t>
            </a:r>
            <a:endParaRPr lang="en-US" altLang="zh-CN" dirty="0" smtClean="0"/>
          </a:p>
          <a:p>
            <a:pPr lvl="2"/>
            <a:r>
              <a:rPr lang="zh-CN" altLang="en-US" dirty="0" smtClean="0"/>
              <a:t>然后实施写操作，使其为其它处理器可见（通过后来的读不命中）</a:t>
            </a:r>
            <a:endParaRPr lang="en-US" altLang="zh-CN" dirty="0" smtClean="0"/>
          </a:p>
          <a:p>
            <a:pPr lvl="1"/>
            <a:r>
              <a:rPr lang="zh-CN" altLang="en-US" dirty="0" smtClean="0"/>
              <a:t>同一时刻对一个块，仅一个</a:t>
            </a:r>
            <a:r>
              <a:rPr lang="en-US" altLang="zh-CN" dirty="0" err="1" smtClean="0"/>
              <a:t>RdX</a:t>
            </a:r>
            <a:r>
              <a:rPr lang="zh-CN" altLang="en-US" dirty="0" smtClean="0"/>
              <a:t>会成功：总线串行化</a:t>
            </a:r>
            <a:endParaRPr lang="en-US" altLang="zh-CN" dirty="0" smtClean="0"/>
          </a:p>
          <a:p>
            <a:r>
              <a:rPr lang="zh-CN" altLang="en-US" dirty="0" smtClean="0"/>
              <a:t>读</a:t>
            </a:r>
            <a:r>
              <a:rPr lang="en-US" altLang="zh-CN" dirty="0" smtClean="0"/>
              <a:t>Rd</a:t>
            </a:r>
            <a:r>
              <a:rPr lang="zh-CN" altLang="en-US" dirty="0" smtClean="0"/>
              <a:t>和读独占</a:t>
            </a:r>
            <a:r>
              <a:rPr lang="en-US" altLang="zh-CN" dirty="0" err="1" smtClean="0"/>
              <a:t>RdX</a:t>
            </a:r>
            <a:r>
              <a:rPr lang="zh-CN" altLang="en-US" dirty="0" smtClean="0"/>
              <a:t>总线事务启动保障同一的动作</a:t>
            </a:r>
            <a:endParaRPr lang="en-US" altLang="zh-CN" dirty="0" smtClean="0"/>
          </a:p>
          <a:p>
            <a:pPr lvl="1"/>
            <a:r>
              <a:rPr lang="zh-CN" altLang="en-US" dirty="0" smtClean="0"/>
              <a:t>写回</a:t>
            </a:r>
            <a:r>
              <a:rPr lang="en-US" altLang="zh-CN" dirty="0" smtClean="0"/>
              <a:t>WB</a:t>
            </a:r>
            <a:r>
              <a:rPr lang="zh-CN" altLang="en-US" dirty="0" smtClean="0"/>
              <a:t>事务也启动同一保障动作，但原因是替换操作</a:t>
            </a:r>
            <a:endParaRPr lang="en-US" altLang="zh-CN" dirty="0" smtClean="0"/>
          </a:p>
          <a:p>
            <a:pPr lvl="1"/>
            <a:r>
              <a:rPr lang="zh-CN" altLang="en-US" dirty="0" smtClean="0"/>
              <a:t>非改过</a:t>
            </a:r>
            <a:r>
              <a:rPr lang="en-US" altLang="zh-CN" dirty="0" smtClean="0"/>
              <a:t>M</a:t>
            </a:r>
            <a:r>
              <a:rPr lang="zh-CN" altLang="en-US" dirty="0" smtClean="0"/>
              <a:t>状态的块（即</a:t>
            </a:r>
            <a:r>
              <a:rPr lang="en-US" altLang="zh-CN" dirty="0" smtClean="0"/>
              <a:t>V</a:t>
            </a:r>
            <a:r>
              <a:rPr lang="zh-CN" altLang="en-US" dirty="0" smtClean="0"/>
              <a:t>状态的块）被替换时，不用写回</a:t>
            </a:r>
            <a:endParaRPr lang="zh-CN" altLang="en-US" dirty="0"/>
          </a:p>
        </p:txBody>
      </p:sp>
    </p:spTree>
    <p:extLst>
      <p:ext uri="{BB962C8B-B14F-4D97-AF65-F5344CB8AC3E}">
        <p14:creationId xmlns:p14="http://schemas.microsoft.com/office/powerpoint/2010/main" val="189758580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MSI Write-Back Invalidation Protocol</a:t>
            </a:r>
            <a:endParaRPr lang="zh-CN" altLang="en-US" dirty="0"/>
          </a:p>
        </p:txBody>
      </p:sp>
      <p:sp>
        <p:nvSpPr>
          <p:cNvPr id="3" name="内容占位符 2"/>
          <p:cNvSpPr>
            <a:spLocks noGrp="1"/>
          </p:cNvSpPr>
          <p:nvPr>
            <p:ph idx="1"/>
          </p:nvPr>
        </p:nvSpPr>
        <p:spPr>
          <a:xfrm>
            <a:off x="335360" y="1628800"/>
            <a:ext cx="11018440" cy="5112568"/>
          </a:xfrm>
        </p:spPr>
        <p:txBody>
          <a:bodyPr/>
          <a:lstStyle/>
          <a:p>
            <a:r>
              <a:rPr lang="en-US" altLang="zh-CN" dirty="0">
                <a:ea typeface="宋体" panose="02010600030101010101" pitchFamily="2" charset="-122"/>
              </a:rPr>
              <a:t>Three States:</a:t>
            </a:r>
          </a:p>
          <a:p>
            <a:pPr lvl="1"/>
            <a:r>
              <a:rPr lang="en-US" altLang="zh-CN" b="1" dirty="0">
                <a:solidFill>
                  <a:srgbClr val="FF0000"/>
                </a:solidFill>
                <a:ea typeface="宋体" panose="02010600030101010101" pitchFamily="2" charset="-122"/>
              </a:rPr>
              <a:t>Modified</a:t>
            </a:r>
            <a:r>
              <a:rPr lang="en-US" altLang="zh-CN" dirty="0">
                <a:ea typeface="宋体" panose="02010600030101010101" pitchFamily="2" charset="-122"/>
              </a:rPr>
              <a:t>: only this cache has a modified valid </a:t>
            </a:r>
            <a:r>
              <a:rPr lang="en-US" altLang="zh-CN" dirty="0" smtClean="0">
                <a:ea typeface="宋体" panose="02010600030101010101" pitchFamily="2" charset="-122"/>
              </a:rPr>
              <a:t>copy</a:t>
            </a:r>
            <a:endParaRPr lang="en-US" altLang="zh-CN" dirty="0">
              <a:ea typeface="宋体" panose="02010600030101010101" pitchFamily="2" charset="-122"/>
            </a:endParaRPr>
          </a:p>
          <a:p>
            <a:pPr lvl="1"/>
            <a:r>
              <a:rPr lang="en-US" altLang="zh-CN" b="1" dirty="0">
                <a:solidFill>
                  <a:srgbClr val="FF0000"/>
                </a:solidFill>
                <a:ea typeface="宋体" panose="02010600030101010101" pitchFamily="2" charset="-122"/>
              </a:rPr>
              <a:t>Shared</a:t>
            </a:r>
            <a:r>
              <a:rPr lang="en-US" altLang="zh-CN" dirty="0">
                <a:ea typeface="宋体" panose="02010600030101010101" pitchFamily="2" charset="-122"/>
              </a:rPr>
              <a:t>:</a:t>
            </a:r>
            <a:r>
              <a:rPr lang="en-US" altLang="zh-CN" dirty="0">
                <a:solidFill>
                  <a:schemeClr val="hlink"/>
                </a:solidFill>
                <a:ea typeface="宋体" panose="02010600030101010101" pitchFamily="2" charset="-122"/>
              </a:rPr>
              <a:t> </a:t>
            </a:r>
            <a:r>
              <a:rPr lang="en-US" altLang="zh-CN" dirty="0">
                <a:ea typeface="宋体" panose="02010600030101010101" pitchFamily="2" charset="-122"/>
              </a:rPr>
              <a:t>block is clean and may be cached in more </a:t>
            </a:r>
            <a:r>
              <a:rPr lang="en-US" altLang="zh-CN" dirty="0" smtClean="0">
                <a:ea typeface="宋体" panose="02010600030101010101" pitchFamily="2" charset="-122"/>
              </a:rPr>
              <a:t/>
            </a:r>
            <a:br>
              <a:rPr lang="en-US" altLang="zh-CN" dirty="0" smtClean="0">
                <a:ea typeface="宋体" panose="02010600030101010101" pitchFamily="2" charset="-122"/>
              </a:rPr>
            </a:br>
            <a:r>
              <a:rPr lang="en-US" altLang="zh-CN" dirty="0" smtClean="0">
                <a:ea typeface="宋体" panose="02010600030101010101" pitchFamily="2" charset="-122"/>
              </a:rPr>
              <a:t>than </a:t>
            </a:r>
            <a:r>
              <a:rPr lang="en-US" altLang="zh-CN" dirty="0">
                <a:ea typeface="宋体" panose="02010600030101010101" pitchFamily="2" charset="-122"/>
              </a:rPr>
              <a:t>one cache, memory is up-to-date</a:t>
            </a:r>
          </a:p>
          <a:p>
            <a:pPr lvl="1"/>
            <a:r>
              <a:rPr lang="en-US" altLang="zh-CN" b="1" dirty="0">
                <a:solidFill>
                  <a:srgbClr val="FF0000"/>
                </a:solidFill>
                <a:ea typeface="宋体" panose="02010600030101010101" pitchFamily="2" charset="-122"/>
              </a:rPr>
              <a:t>Invalid</a:t>
            </a:r>
            <a:r>
              <a:rPr lang="en-US" altLang="zh-CN" dirty="0">
                <a:ea typeface="宋体" panose="02010600030101010101" pitchFamily="2" charset="-122"/>
              </a:rPr>
              <a:t>: block is invalid</a:t>
            </a:r>
          </a:p>
          <a:p>
            <a:r>
              <a:rPr lang="en-US" altLang="zh-CN" dirty="0">
                <a:ea typeface="宋体" panose="02010600030101010101" pitchFamily="2" charset="-122"/>
              </a:rPr>
              <a:t>Four bus transactions: </a:t>
            </a:r>
          </a:p>
          <a:p>
            <a:pPr lvl="1"/>
            <a:r>
              <a:rPr lang="en-US" altLang="zh-CN" dirty="0">
                <a:ea typeface="宋体" panose="02010600030101010101" pitchFamily="2" charset="-122"/>
              </a:rPr>
              <a:t>Bus Read: </a:t>
            </a:r>
            <a:r>
              <a:rPr lang="en-US" altLang="zh-CN" b="1" dirty="0" err="1">
                <a:solidFill>
                  <a:srgbClr val="FF0000"/>
                </a:solidFill>
                <a:ea typeface="宋体" panose="02010600030101010101" pitchFamily="2" charset="-122"/>
              </a:rPr>
              <a:t>BusRd</a:t>
            </a:r>
            <a:r>
              <a:rPr lang="en-US" altLang="zh-CN" b="1" dirty="0">
                <a:solidFill>
                  <a:schemeClr val="hlink"/>
                </a:solidFill>
                <a:ea typeface="宋体" panose="02010600030101010101" pitchFamily="2" charset="-122"/>
              </a:rPr>
              <a:t> </a:t>
            </a:r>
            <a:r>
              <a:rPr lang="en-US" altLang="zh-CN" dirty="0">
                <a:ea typeface="宋体" panose="02010600030101010101" pitchFamily="2" charset="-122"/>
              </a:rPr>
              <a:t>on a read miss</a:t>
            </a:r>
          </a:p>
          <a:p>
            <a:pPr lvl="1"/>
            <a:r>
              <a:rPr lang="en-US" altLang="zh-CN" dirty="0">
                <a:ea typeface="宋体" panose="02010600030101010101" pitchFamily="2" charset="-122"/>
              </a:rPr>
              <a:t>Bus Read Exclusive: </a:t>
            </a:r>
            <a:r>
              <a:rPr lang="en-US" altLang="zh-CN" b="1" dirty="0" err="1">
                <a:solidFill>
                  <a:srgbClr val="FF0000"/>
                </a:solidFill>
                <a:ea typeface="宋体" panose="02010600030101010101" pitchFamily="2" charset="-122"/>
              </a:rPr>
              <a:t>BusRdX</a:t>
            </a:r>
            <a:endParaRPr lang="en-US" altLang="zh-CN" dirty="0">
              <a:solidFill>
                <a:srgbClr val="FF0000"/>
              </a:solidFill>
              <a:ea typeface="宋体" panose="02010600030101010101" pitchFamily="2" charset="-122"/>
            </a:endParaRPr>
          </a:p>
          <a:p>
            <a:pPr lvl="2"/>
            <a:r>
              <a:rPr lang="en-US" altLang="zh-CN" dirty="0">
                <a:ea typeface="宋体" panose="02010600030101010101" pitchFamily="2" charset="-122"/>
              </a:rPr>
              <a:t>Obtain exclusive copy of cache block</a:t>
            </a:r>
          </a:p>
          <a:p>
            <a:pPr lvl="1"/>
            <a:r>
              <a:rPr lang="en-US" altLang="zh-CN" dirty="0">
                <a:ea typeface="宋体" panose="02010600030101010101" pitchFamily="2" charset="-122"/>
              </a:rPr>
              <a:t>Bus Write-Back: </a:t>
            </a:r>
            <a:r>
              <a:rPr lang="en-US" altLang="zh-CN" b="1" dirty="0" err="1">
                <a:solidFill>
                  <a:srgbClr val="FF0000"/>
                </a:solidFill>
                <a:ea typeface="宋体" panose="02010600030101010101" pitchFamily="2" charset="-122"/>
              </a:rPr>
              <a:t>BusWB</a:t>
            </a:r>
            <a:r>
              <a:rPr lang="en-US" altLang="zh-CN" dirty="0">
                <a:solidFill>
                  <a:schemeClr val="hlink"/>
                </a:solidFill>
                <a:ea typeface="宋体" panose="02010600030101010101" pitchFamily="2" charset="-122"/>
              </a:rPr>
              <a:t> </a:t>
            </a:r>
            <a:r>
              <a:rPr lang="en-US" altLang="zh-CN" dirty="0">
                <a:ea typeface="宋体" panose="02010600030101010101" pitchFamily="2" charset="-122"/>
              </a:rPr>
              <a:t>on replacement</a:t>
            </a:r>
          </a:p>
          <a:p>
            <a:pPr lvl="1"/>
            <a:r>
              <a:rPr lang="en-US" altLang="zh-CN" b="1" dirty="0">
                <a:solidFill>
                  <a:srgbClr val="FF0000"/>
                </a:solidFill>
                <a:ea typeface="宋体" panose="02010600030101010101" pitchFamily="2" charset="-122"/>
              </a:rPr>
              <a:t>Flush</a:t>
            </a:r>
            <a:r>
              <a:rPr lang="en-US" altLang="zh-CN" b="1" dirty="0">
                <a:solidFill>
                  <a:schemeClr val="hlink"/>
                </a:solidFill>
                <a:ea typeface="宋体" panose="02010600030101010101" pitchFamily="2" charset="-122"/>
              </a:rPr>
              <a:t> </a:t>
            </a:r>
            <a:r>
              <a:rPr lang="en-US" altLang="zh-CN" dirty="0">
                <a:ea typeface="宋体" panose="02010600030101010101" pitchFamily="2" charset="-122"/>
              </a:rPr>
              <a:t>on </a:t>
            </a:r>
            <a:r>
              <a:rPr lang="en-US" altLang="zh-CN" dirty="0" err="1">
                <a:ea typeface="宋体" panose="02010600030101010101" pitchFamily="2" charset="-122"/>
              </a:rPr>
              <a:t>BusRd</a:t>
            </a:r>
            <a:r>
              <a:rPr lang="en-US" altLang="zh-CN" dirty="0">
                <a:ea typeface="宋体" panose="02010600030101010101" pitchFamily="2" charset="-122"/>
              </a:rPr>
              <a:t> or </a:t>
            </a:r>
            <a:r>
              <a:rPr lang="en-US" altLang="zh-CN" dirty="0" err="1">
                <a:ea typeface="宋体" panose="02010600030101010101" pitchFamily="2" charset="-122"/>
              </a:rPr>
              <a:t>BusRdX</a:t>
            </a:r>
            <a:endParaRPr lang="en-US" altLang="zh-CN" b="1" dirty="0">
              <a:ea typeface="宋体" panose="02010600030101010101" pitchFamily="2" charset="-122"/>
            </a:endParaRPr>
          </a:p>
          <a:p>
            <a:pPr lvl="2"/>
            <a:r>
              <a:rPr lang="en-US" altLang="zh-CN" dirty="0">
                <a:ea typeface="宋体" panose="02010600030101010101" pitchFamily="2" charset="-122"/>
              </a:rPr>
              <a:t>Cache puts data block on the bus, </a:t>
            </a:r>
            <a:r>
              <a:rPr lang="en-US" altLang="zh-CN" dirty="0" smtClean="0">
                <a:ea typeface="宋体" panose="02010600030101010101" pitchFamily="2" charset="-122"/>
              </a:rPr>
              <a:t>not memory </a:t>
            </a:r>
            <a:br>
              <a:rPr lang="en-US" altLang="zh-CN" dirty="0" smtClean="0">
                <a:ea typeface="宋体" panose="02010600030101010101" pitchFamily="2" charset="-122"/>
              </a:rPr>
            </a:br>
            <a:r>
              <a:rPr lang="en-US" altLang="zh-CN" dirty="0" smtClean="0">
                <a:ea typeface="宋体" panose="02010600030101010101" pitchFamily="2" charset="-122"/>
              </a:rPr>
              <a:t>Cache-to-cache </a:t>
            </a:r>
            <a:r>
              <a:rPr lang="en-US" altLang="zh-CN" dirty="0">
                <a:ea typeface="宋体" panose="02010600030101010101" pitchFamily="2" charset="-122"/>
              </a:rPr>
              <a:t>transfer and memory is updated</a:t>
            </a:r>
          </a:p>
        </p:txBody>
      </p:sp>
      <p:pic>
        <p:nvPicPr>
          <p:cNvPr id="4" name="图片 3"/>
          <p:cNvPicPr>
            <a:picLocks noChangeAspect="1"/>
          </p:cNvPicPr>
          <p:nvPr/>
        </p:nvPicPr>
        <p:blipFill>
          <a:blip r:embed="rId3"/>
          <a:stretch>
            <a:fillRect/>
          </a:stretch>
        </p:blipFill>
        <p:spPr>
          <a:xfrm>
            <a:off x="7104112" y="1511800"/>
            <a:ext cx="4608512" cy="5229568"/>
          </a:xfrm>
          <a:prstGeom prst="rect">
            <a:avLst/>
          </a:prstGeom>
        </p:spPr>
      </p:pic>
    </p:spTree>
    <p:extLst>
      <p:ext uri="{BB962C8B-B14F-4D97-AF65-F5344CB8AC3E}">
        <p14:creationId xmlns:p14="http://schemas.microsoft.com/office/powerpoint/2010/main" val="368970447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State Transitions in the MSI Protocol</a:t>
            </a:r>
            <a:endParaRPr lang="zh-CN" altLang="en-US" dirty="0"/>
          </a:p>
        </p:txBody>
      </p:sp>
      <p:sp>
        <p:nvSpPr>
          <p:cNvPr id="3" name="内容占位符 2"/>
          <p:cNvSpPr>
            <a:spLocks noGrp="1"/>
          </p:cNvSpPr>
          <p:nvPr>
            <p:ph idx="1"/>
          </p:nvPr>
        </p:nvSpPr>
        <p:spPr>
          <a:xfrm>
            <a:off x="335360" y="1556792"/>
            <a:ext cx="11018440" cy="5112568"/>
          </a:xfrm>
        </p:spPr>
        <p:txBody>
          <a:bodyPr/>
          <a:lstStyle/>
          <a:p>
            <a:pPr>
              <a:spcBef>
                <a:spcPct val="10000"/>
              </a:spcBef>
            </a:pPr>
            <a:r>
              <a:rPr lang="en-US" altLang="zh-CN" dirty="0">
                <a:ea typeface="宋体" panose="02010600030101010101" pitchFamily="2" charset="-122"/>
              </a:rPr>
              <a:t>Processor Read</a:t>
            </a:r>
          </a:p>
          <a:p>
            <a:pPr lvl="1">
              <a:spcBef>
                <a:spcPct val="10000"/>
              </a:spcBef>
            </a:pPr>
            <a:r>
              <a:rPr lang="en-US" altLang="zh-CN" dirty="0">
                <a:ea typeface="宋体" panose="02010600030101010101" pitchFamily="2" charset="-122"/>
              </a:rPr>
              <a:t>Cache miss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causes a Bus Read</a:t>
            </a:r>
          </a:p>
          <a:p>
            <a:pPr lvl="1">
              <a:spcBef>
                <a:spcPct val="10000"/>
              </a:spcBef>
            </a:pPr>
            <a:r>
              <a:rPr lang="en-US" altLang="zh-CN" dirty="0">
                <a:ea typeface="宋体" panose="02010600030101010101" pitchFamily="2" charset="-122"/>
              </a:rPr>
              <a:t>Cache hit  (S or M)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no bus activity</a:t>
            </a:r>
          </a:p>
          <a:p>
            <a:pPr>
              <a:spcBef>
                <a:spcPct val="10000"/>
              </a:spcBef>
            </a:pPr>
            <a:r>
              <a:rPr lang="en-US" altLang="zh-CN" dirty="0">
                <a:ea typeface="宋体" panose="02010600030101010101" pitchFamily="2" charset="-122"/>
              </a:rPr>
              <a:t>Processor Write</a:t>
            </a:r>
          </a:p>
          <a:p>
            <a:pPr lvl="1">
              <a:spcBef>
                <a:spcPct val="10000"/>
              </a:spcBef>
            </a:pPr>
            <a:r>
              <a:rPr lang="en-US" altLang="zh-CN" dirty="0">
                <a:ea typeface="宋体" panose="02010600030101010101" pitchFamily="2" charset="-122"/>
              </a:rPr>
              <a:t>Generates a </a:t>
            </a:r>
            <a:r>
              <a:rPr lang="en-US" altLang="zh-CN" dirty="0" err="1">
                <a:ea typeface="宋体" panose="02010600030101010101" pitchFamily="2" charset="-122"/>
              </a:rPr>
              <a:t>BusRdX</a:t>
            </a:r>
            <a:r>
              <a:rPr lang="en-US" altLang="zh-CN" dirty="0">
                <a:ea typeface="宋体" panose="02010600030101010101" pitchFamily="2" charset="-122"/>
              </a:rPr>
              <a:t> when not Modified</a:t>
            </a:r>
          </a:p>
          <a:p>
            <a:pPr lvl="2">
              <a:spcBef>
                <a:spcPct val="10000"/>
              </a:spcBef>
            </a:pPr>
            <a:r>
              <a:rPr lang="en-US" altLang="zh-CN" dirty="0" err="1">
                <a:ea typeface="宋体" panose="02010600030101010101" pitchFamily="2" charset="-122"/>
              </a:rPr>
              <a:t>BusRdX</a:t>
            </a:r>
            <a:r>
              <a:rPr lang="en-US" altLang="zh-CN" dirty="0">
                <a:ea typeface="宋体" panose="02010600030101010101" pitchFamily="2" charset="-122"/>
              </a:rPr>
              <a:t> causes other caches to invalidate </a:t>
            </a:r>
          </a:p>
          <a:p>
            <a:pPr lvl="1">
              <a:spcBef>
                <a:spcPct val="10000"/>
              </a:spcBef>
            </a:pPr>
            <a:r>
              <a:rPr lang="en-US" altLang="zh-CN" dirty="0">
                <a:ea typeface="宋体" panose="02010600030101010101" pitchFamily="2" charset="-122"/>
              </a:rPr>
              <a:t>No bus activity when Modified block</a:t>
            </a:r>
          </a:p>
          <a:p>
            <a:pPr>
              <a:spcBef>
                <a:spcPct val="10000"/>
              </a:spcBef>
            </a:pPr>
            <a:r>
              <a:rPr lang="en-US" altLang="zh-CN" dirty="0">
                <a:ea typeface="宋体" panose="02010600030101010101" pitchFamily="2" charset="-122"/>
              </a:rPr>
              <a:t>Observing a Bus Read</a:t>
            </a:r>
          </a:p>
          <a:p>
            <a:pPr lvl="1">
              <a:spcBef>
                <a:spcPct val="10000"/>
              </a:spcBef>
            </a:pPr>
            <a:r>
              <a:rPr lang="en-US" altLang="zh-CN" dirty="0">
                <a:ea typeface="宋体" panose="02010600030101010101" pitchFamily="2" charset="-122"/>
              </a:rPr>
              <a:t>If Modified, flush block on bus</a:t>
            </a:r>
          </a:p>
          <a:p>
            <a:pPr lvl="2">
              <a:spcBef>
                <a:spcPct val="10000"/>
              </a:spcBef>
            </a:pPr>
            <a:r>
              <a:rPr lang="en-US" altLang="zh-CN" dirty="0">
                <a:ea typeface="宋体" panose="02010600030101010101" pitchFamily="2" charset="-122"/>
              </a:rPr>
              <a:t>Picked by memory and requesting cache</a:t>
            </a:r>
          </a:p>
          <a:p>
            <a:pPr lvl="2">
              <a:spcBef>
                <a:spcPct val="10000"/>
              </a:spcBef>
            </a:pPr>
            <a:r>
              <a:rPr lang="en-US" altLang="zh-CN" dirty="0">
                <a:ea typeface="宋体" panose="02010600030101010101" pitchFamily="2" charset="-122"/>
              </a:rPr>
              <a:t>Block is now shared </a:t>
            </a:r>
          </a:p>
          <a:p>
            <a:pPr>
              <a:spcBef>
                <a:spcPct val="10000"/>
              </a:spcBef>
            </a:pPr>
            <a:r>
              <a:rPr lang="en-US" altLang="zh-CN" dirty="0">
                <a:ea typeface="宋体" panose="02010600030101010101" pitchFamily="2" charset="-122"/>
              </a:rPr>
              <a:t>Observing a Bus Read Exclusive</a:t>
            </a:r>
          </a:p>
          <a:p>
            <a:pPr lvl="1">
              <a:spcBef>
                <a:spcPct val="10000"/>
              </a:spcBef>
            </a:pPr>
            <a:r>
              <a:rPr lang="en-US" altLang="zh-CN" dirty="0">
                <a:ea typeface="宋体" panose="02010600030101010101" pitchFamily="2" charset="-122"/>
              </a:rPr>
              <a:t>Invalidate block</a:t>
            </a:r>
          </a:p>
          <a:p>
            <a:pPr lvl="1">
              <a:spcBef>
                <a:spcPct val="10000"/>
              </a:spcBef>
            </a:pPr>
            <a:r>
              <a:rPr lang="en-US" altLang="zh-CN" dirty="0">
                <a:ea typeface="宋体" panose="02010600030101010101" pitchFamily="2" charset="-122"/>
              </a:rPr>
              <a:t>Flush data on bus if block is modified</a:t>
            </a:r>
          </a:p>
          <a:p>
            <a:pPr marL="0" indent="0">
              <a:buNone/>
            </a:pPr>
            <a:endParaRPr lang="en-US" altLang="zh-CN" dirty="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7104112" y="1511800"/>
            <a:ext cx="4608512" cy="5229568"/>
          </a:xfrm>
          <a:prstGeom prst="rect">
            <a:avLst/>
          </a:prstGeom>
        </p:spPr>
      </p:pic>
    </p:spTree>
    <p:extLst>
      <p:ext uri="{BB962C8B-B14F-4D97-AF65-F5344CB8AC3E}">
        <p14:creationId xmlns:p14="http://schemas.microsoft.com/office/powerpoint/2010/main" val="355970756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MSI</a:t>
            </a:r>
            <a:r>
              <a:rPr lang="zh-CN" altLang="en-US" smtClean="0"/>
              <a:t>使无效协议</a:t>
            </a:r>
            <a:endParaRPr lang="zh-CN" altLang="en-US" dirty="0"/>
          </a:p>
        </p:txBody>
      </p:sp>
      <p:sp>
        <p:nvSpPr>
          <p:cNvPr id="3" name="内容占位符 2"/>
          <p:cNvSpPr>
            <a:spLocks noGrp="1"/>
          </p:cNvSpPr>
          <p:nvPr>
            <p:ph idx="1"/>
          </p:nvPr>
        </p:nvSpPr>
        <p:spPr>
          <a:xfrm>
            <a:off x="838200" y="1628800"/>
            <a:ext cx="10515600" cy="5112568"/>
          </a:xfrm>
        </p:spPr>
        <p:txBody>
          <a:bodyPr/>
          <a:lstStyle/>
          <a:p>
            <a:r>
              <a:rPr lang="zh-CN" altLang="en-US" dirty="0" smtClean="0"/>
              <a:t>读操作得到</a:t>
            </a:r>
            <a:r>
              <a:rPr lang="en-US" altLang="zh-CN" dirty="0" smtClean="0"/>
              <a:t>S</a:t>
            </a:r>
            <a:r>
              <a:rPr lang="zh-CN" altLang="en-US" dirty="0" smtClean="0"/>
              <a:t>块 </a:t>
            </a:r>
            <a:r>
              <a:rPr lang="en-US" altLang="zh-CN" dirty="0" smtClean="0"/>
              <a:t>(Shared)</a:t>
            </a:r>
          </a:p>
          <a:p>
            <a:pPr lvl="1"/>
            <a:r>
              <a:rPr lang="zh-CN" altLang="en-US" dirty="0" smtClean="0"/>
              <a:t>即使全系统仅此一个副本</a:t>
            </a:r>
            <a:endParaRPr lang="en-US" altLang="zh-CN" dirty="0" smtClean="0"/>
          </a:p>
          <a:p>
            <a:r>
              <a:rPr lang="zh-CN" altLang="en-US" dirty="0" smtClean="0"/>
              <a:t>写之前取得所有权</a:t>
            </a:r>
            <a:r>
              <a:rPr lang="en-US" altLang="zh-CN" dirty="0" smtClean="0"/>
              <a:t>(</a:t>
            </a:r>
            <a:r>
              <a:rPr lang="zh-CN" altLang="en-US" dirty="0" smtClean="0"/>
              <a:t>成为</a:t>
            </a:r>
            <a:r>
              <a:rPr lang="en-US" altLang="zh-CN" dirty="0" smtClean="0"/>
              <a:t>Owner</a:t>
            </a:r>
            <a:r>
              <a:rPr lang="zh-CN" altLang="en-US" dirty="0" smtClean="0"/>
              <a:t>属主</a:t>
            </a:r>
            <a:r>
              <a:rPr lang="en-US" altLang="zh-CN" dirty="0" smtClean="0"/>
              <a:t>)</a:t>
            </a:r>
          </a:p>
          <a:p>
            <a:pPr lvl="1"/>
            <a:r>
              <a:rPr lang="en-US" altLang="zh-CN" dirty="0" err="1" smtClean="0"/>
              <a:t>BusRdX</a:t>
            </a:r>
            <a:r>
              <a:rPr lang="zh-CN" altLang="en-US" dirty="0" smtClean="0"/>
              <a:t>置其它副本的状态为无效</a:t>
            </a:r>
            <a:endParaRPr lang="en-US" altLang="zh-CN" dirty="0" smtClean="0"/>
          </a:p>
          <a:p>
            <a:pPr lvl="2"/>
            <a:r>
              <a:rPr lang="zh-CN" altLang="en-US" dirty="0" smtClean="0"/>
              <a:t>也称为降级</a:t>
            </a:r>
            <a:r>
              <a:rPr lang="en-US" altLang="zh-CN" dirty="0" smtClean="0"/>
              <a:t>(demote)</a:t>
            </a:r>
            <a:r>
              <a:rPr lang="zh-CN" altLang="en-US" dirty="0" smtClean="0"/>
              <a:t>：</a:t>
            </a:r>
            <a:r>
              <a:rPr lang="en-US" altLang="zh-CN" dirty="0" smtClean="0"/>
              <a:t>M/S=&gt;I</a:t>
            </a:r>
          </a:p>
          <a:p>
            <a:pPr lvl="1"/>
            <a:r>
              <a:rPr lang="zh-CN" altLang="en-US" dirty="0" smtClean="0"/>
              <a:t>若其它</a:t>
            </a:r>
            <a:r>
              <a:rPr lang="en-US" altLang="zh-CN" dirty="0" smtClean="0"/>
              <a:t>cache</a:t>
            </a:r>
            <a:r>
              <a:rPr lang="zh-CN" altLang="en-US" dirty="0" smtClean="0"/>
              <a:t>中对应块的状态为</a:t>
            </a:r>
            <a:r>
              <a:rPr lang="en-US" altLang="zh-CN" dirty="0" smtClean="0"/>
              <a:t>M</a:t>
            </a:r>
            <a:br>
              <a:rPr lang="en-US" altLang="zh-CN" dirty="0" smtClean="0"/>
            </a:br>
            <a:r>
              <a:rPr lang="zh-CN" altLang="en-US" dirty="0" smtClean="0"/>
              <a:t>则先清刷</a:t>
            </a:r>
            <a:r>
              <a:rPr lang="en-US" altLang="zh-CN" dirty="0" smtClean="0"/>
              <a:t>(flush)</a:t>
            </a:r>
            <a:r>
              <a:rPr lang="zh-CN" altLang="en-US" dirty="0" smtClean="0"/>
              <a:t>该块（写回到内存）</a:t>
            </a:r>
            <a:endParaRPr lang="en-US" altLang="zh-CN" dirty="0" smtClean="0"/>
          </a:p>
          <a:p>
            <a:pPr lvl="1"/>
            <a:r>
              <a:rPr lang="zh-CN" altLang="en-US" dirty="0" smtClean="0"/>
              <a:t>块状态为</a:t>
            </a:r>
            <a:r>
              <a:rPr lang="en-US" altLang="zh-CN" dirty="0" smtClean="0"/>
              <a:t>S</a:t>
            </a:r>
            <a:r>
              <a:rPr lang="zh-CN" altLang="en-US" dirty="0" smtClean="0"/>
              <a:t>时，似乎是本地命中，但</a:t>
            </a:r>
            <a:endParaRPr lang="en-US" altLang="zh-CN" dirty="0" smtClean="0"/>
          </a:p>
          <a:p>
            <a:pPr lvl="2"/>
            <a:r>
              <a:rPr lang="zh-CN" altLang="en-US" dirty="0" smtClean="0"/>
              <a:t>仍发</a:t>
            </a:r>
            <a:r>
              <a:rPr lang="en-US" altLang="zh-CN" dirty="0" err="1" smtClean="0"/>
              <a:t>BusRdX</a:t>
            </a:r>
            <a:r>
              <a:rPr lang="zh-CN" altLang="en-US" dirty="0" smtClean="0"/>
              <a:t>，并升级</a:t>
            </a:r>
            <a:r>
              <a:rPr lang="en-US" altLang="zh-CN" dirty="0" smtClean="0"/>
              <a:t>(upgrade)</a:t>
            </a:r>
            <a:r>
              <a:rPr lang="zh-CN" altLang="en-US" dirty="0" smtClean="0"/>
              <a:t>到</a:t>
            </a:r>
            <a:r>
              <a:rPr lang="en-US" altLang="zh-CN" dirty="0" smtClean="0"/>
              <a:t>M</a:t>
            </a:r>
            <a:r>
              <a:rPr lang="zh-CN" altLang="en-US" dirty="0" smtClean="0"/>
              <a:t>状态</a:t>
            </a:r>
            <a:endParaRPr lang="en-US" altLang="zh-CN" dirty="0" smtClean="0"/>
          </a:p>
          <a:p>
            <a:r>
              <a:rPr lang="zh-CN" altLang="en-US" dirty="0" smtClean="0"/>
              <a:t>发生替换时，修改出</a:t>
            </a:r>
            <a:r>
              <a:rPr lang="en-US" altLang="zh-CN" dirty="0" smtClean="0"/>
              <a:t>/</a:t>
            </a:r>
            <a:r>
              <a:rPr lang="zh-CN" altLang="en-US" dirty="0"/>
              <a:t>入</a:t>
            </a:r>
            <a:r>
              <a:rPr lang="zh-CN" altLang="en-US" dirty="0" smtClean="0"/>
              <a:t>两块的状态</a:t>
            </a:r>
            <a:endParaRPr lang="en-US" altLang="zh-CN" dirty="0" smtClean="0"/>
          </a:p>
          <a:p>
            <a:pPr lvl="1"/>
            <a:r>
              <a:rPr lang="zh-CN" altLang="en-US" dirty="0" smtClean="0"/>
              <a:t>出：</a:t>
            </a:r>
            <a:r>
              <a:rPr lang="en-US" altLang="zh-CN" dirty="0" smtClean="0"/>
              <a:t>S=&gt;I</a:t>
            </a:r>
            <a:r>
              <a:rPr lang="zh-CN" altLang="en-US" dirty="0" smtClean="0"/>
              <a:t>或</a:t>
            </a:r>
            <a:r>
              <a:rPr lang="en-US" altLang="zh-CN" dirty="0" smtClean="0"/>
              <a:t>M=&gt;I</a:t>
            </a:r>
            <a:r>
              <a:rPr lang="zh-CN" altLang="en-US" dirty="0" smtClean="0"/>
              <a:t>（需</a:t>
            </a:r>
            <a:r>
              <a:rPr lang="en-US" altLang="zh-CN" dirty="0" smtClean="0"/>
              <a:t>write back</a:t>
            </a:r>
            <a:r>
              <a:rPr lang="zh-CN" altLang="en-US" dirty="0" smtClean="0"/>
              <a:t>）</a:t>
            </a:r>
            <a:endParaRPr lang="en-US" altLang="zh-CN" dirty="0" smtClean="0"/>
          </a:p>
          <a:p>
            <a:pPr lvl="1"/>
            <a:r>
              <a:rPr lang="zh-CN" altLang="en-US" dirty="0" smtClean="0"/>
              <a:t>入：</a:t>
            </a:r>
            <a:r>
              <a:rPr lang="en-US" altLang="zh-CN" dirty="0" smtClean="0"/>
              <a:t>I=&gt;S/M</a:t>
            </a:r>
            <a:endParaRPr lang="zh-CN" altLang="en-US" dirty="0"/>
          </a:p>
        </p:txBody>
      </p:sp>
      <p:pic>
        <p:nvPicPr>
          <p:cNvPr id="4" name="图片 3"/>
          <p:cNvPicPr>
            <a:picLocks noChangeAspect="1"/>
          </p:cNvPicPr>
          <p:nvPr/>
        </p:nvPicPr>
        <p:blipFill>
          <a:blip r:embed="rId2"/>
          <a:stretch>
            <a:fillRect/>
          </a:stretch>
        </p:blipFill>
        <p:spPr>
          <a:xfrm>
            <a:off x="7104112" y="1511800"/>
            <a:ext cx="4608512" cy="5229568"/>
          </a:xfrm>
          <a:prstGeom prst="rect">
            <a:avLst/>
          </a:prstGeom>
        </p:spPr>
      </p:pic>
    </p:spTree>
    <p:extLst>
      <p:ext uri="{BB962C8B-B14F-4D97-AF65-F5344CB8AC3E}">
        <p14:creationId xmlns:p14="http://schemas.microsoft.com/office/powerpoint/2010/main" val="151699731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4340" name="Picture 2" descr="X:\02_GRAPHICS\BOOKS\02_PPTs\MKCAD(Hennessy)\PPT\Ch05\f05-05-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091" y="116632"/>
            <a:ext cx="7727473" cy="674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t>过程详解</a:t>
            </a:r>
            <a:endParaRPr lang="zh-CN" altLang="en-US" dirty="0"/>
          </a:p>
        </p:txBody>
      </p:sp>
      <p:sp>
        <p:nvSpPr>
          <p:cNvPr id="4" name="内容占位符 3"/>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332908854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en-US" smtClean="0"/>
              <a:t>Example on MSI Write-Back Protocol</a:t>
            </a:r>
          </a:p>
        </p:txBody>
      </p:sp>
      <p:sp>
        <p:nvSpPr>
          <p:cNvPr id="25604" name="Line 5"/>
          <p:cNvSpPr>
            <a:spLocks noChangeShapeType="1"/>
          </p:cNvSpPr>
          <p:nvPr/>
        </p:nvSpPr>
        <p:spPr bwMode="auto">
          <a:xfrm>
            <a:off x="3041651" y="3636094"/>
            <a:ext cx="5827713" cy="158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5" name="Line 6"/>
          <p:cNvSpPr>
            <a:spLocks noChangeShapeType="1"/>
          </p:cNvSpPr>
          <p:nvPr/>
        </p:nvSpPr>
        <p:spPr bwMode="auto">
          <a:xfrm>
            <a:off x="4687889" y="3636093"/>
            <a:ext cx="1587" cy="33496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3770313" y="3971056"/>
            <a:ext cx="1822450" cy="7334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07" name="Rectangle 9"/>
          <p:cNvSpPr>
            <a:spLocks noChangeArrowheads="1"/>
          </p:cNvSpPr>
          <p:nvPr/>
        </p:nvSpPr>
        <p:spPr bwMode="auto">
          <a:xfrm>
            <a:off x="7412039" y="4048843"/>
            <a:ext cx="76944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rPr>
              <a:t>I/O devices</a:t>
            </a:r>
            <a:endParaRPr lang="en-US" altLang="zh-CN" sz="1400"/>
          </a:p>
        </p:txBody>
      </p:sp>
      <p:sp>
        <p:nvSpPr>
          <p:cNvPr id="25608" name="Rectangle 10"/>
          <p:cNvSpPr>
            <a:spLocks noChangeArrowheads="1"/>
          </p:cNvSpPr>
          <p:nvPr/>
        </p:nvSpPr>
        <p:spPr bwMode="auto">
          <a:xfrm>
            <a:off x="3856039" y="4018680"/>
            <a:ext cx="55463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rPr>
              <a:t>Memory</a:t>
            </a:r>
            <a:endParaRPr lang="en-US" altLang="zh-CN" sz="1400"/>
          </a:p>
        </p:txBody>
      </p:sp>
      <p:sp>
        <p:nvSpPr>
          <p:cNvPr id="25609" name="Line 11"/>
          <p:cNvSpPr>
            <a:spLocks noChangeShapeType="1"/>
          </p:cNvSpPr>
          <p:nvPr/>
        </p:nvSpPr>
        <p:spPr bwMode="auto">
          <a:xfrm>
            <a:off x="7777164" y="3636093"/>
            <a:ext cx="1587" cy="33496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0" name="Rectangle 13"/>
          <p:cNvSpPr>
            <a:spLocks noChangeArrowheads="1"/>
          </p:cNvSpPr>
          <p:nvPr/>
        </p:nvSpPr>
        <p:spPr bwMode="auto">
          <a:xfrm>
            <a:off x="4038600" y="4293319"/>
            <a:ext cx="2746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a:t>u:</a:t>
            </a:r>
            <a:endParaRPr lang="en-US" altLang="zh-CN" sz="2000"/>
          </a:p>
        </p:txBody>
      </p:sp>
      <p:grpSp>
        <p:nvGrpSpPr>
          <p:cNvPr id="25611" name="Group 15"/>
          <p:cNvGrpSpPr>
            <a:grpSpLocks/>
          </p:cNvGrpSpPr>
          <p:nvPr/>
        </p:nvGrpSpPr>
        <p:grpSpPr bwMode="auto">
          <a:xfrm>
            <a:off x="3109914" y="1812055"/>
            <a:ext cx="1652587" cy="1828800"/>
            <a:chOff x="1152" y="864"/>
            <a:chExt cx="960" cy="1152"/>
          </a:xfrm>
        </p:grpSpPr>
        <p:sp>
          <p:nvSpPr>
            <p:cNvPr id="25691" name="Rectangle 16"/>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92" name="Rectangle 17"/>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93" name="Rectangle 18"/>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94" name="Oval 19"/>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t>P</a:t>
              </a:r>
              <a:r>
                <a:rPr lang="en-US" altLang="zh-CN" sz="1400" baseline="-25000"/>
                <a:t>1</a:t>
              </a:r>
              <a:endParaRPr lang="en-US" altLang="zh-CN" sz="1400"/>
            </a:p>
          </p:txBody>
        </p:sp>
        <p:sp>
          <p:nvSpPr>
            <p:cNvPr id="25695" name="Line 20"/>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96" name="Line 21"/>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12" name="Group 22"/>
          <p:cNvGrpSpPr>
            <a:grpSpLocks/>
          </p:cNvGrpSpPr>
          <p:nvPr/>
        </p:nvGrpSpPr>
        <p:grpSpPr bwMode="auto">
          <a:xfrm>
            <a:off x="5257800" y="1812055"/>
            <a:ext cx="1651000" cy="1828800"/>
            <a:chOff x="1152" y="864"/>
            <a:chExt cx="960" cy="1152"/>
          </a:xfrm>
        </p:grpSpPr>
        <p:sp>
          <p:nvSpPr>
            <p:cNvPr id="25685" name="Rectangle 23"/>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6" name="Rectangle 24"/>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7" name="Rectangle 25"/>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8" name="Oval 26"/>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t>P</a:t>
              </a:r>
              <a:r>
                <a:rPr lang="en-US" altLang="zh-CN" sz="1400" baseline="-25000"/>
                <a:t>2</a:t>
              </a:r>
              <a:endParaRPr lang="en-US" altLang="zh-CN" sz="1400"/>
            </a:p>
          </p:txBody>
        </p:sp>
        <p:sp>
          <p:nvSpPr>
            <p:cNvPr id="25689" name="Line 27"/>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90" name="Line 28"/>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13" name="Group 29"/>
          <p:cNvGrpSpPr>
            <a:grpSpLocks/>
          </p:cNvGrpSpPr>
          <p:nvPr/>
        </p:nvGrpSpPr>
        <p:grpSpPr bwMode="auto">
          <a:xfrm>
            <a:off x="7651750" y="1812055"/>
            <a:ext cx="1651000" cy="1828800"/>
            <a:chOff x="1152" y="864"/>
            <a:chExt cx="960" cy="1152"/>
          </a:xfrm>
        </p:grpSpPr>
        <p:sp>
          <p:nvSpPr>
            <p:cNvPr id="25679" name="Rectangle 30"/>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0" name="Rectangle 31"/>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1" name="Rectangle 32"/>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p>
          </p:txBody>
        </p:sp>
        <p:sp>
          <p:nvSpPr>
            <p:cNvPr id="25682" name="Oval 33"/>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p:spPr>
          <p:txBody>
            <a:bodyPr wrap="none" anchor="ct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400"/>
                <a:t>P</a:t>
              </a:r>
              <a:r>
                <a:rPr lang="en-US" altLang="zh-CN" sz="1400" baseline="-25000"/>
                <a:t>3</a:t>
              </a:r>
              <a:endParaRPr lang="en-US" altLang="zh-CN" sz="1400"/>
            </a:p>
          </p:txBody>
        </p:sp>
        <p:sp>
          <p:nvSpPr>
            <p:cNvPr id="25683" name="Line 34"/>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84" name="Line 35"/>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67654" name="Text Box 38"/>
          <p:cNvSpPr txBox="1">
            <a:spLocks noChangeArrowheads="1"/>
          </p:cNvSpPr>
          <p:nvPr/>
        </p:nvSpPr>
        <p:spPr bwMode="auto">
          <a:xfrm>
            <a:off x="2740025" y="2755030"/>
            <a:ext cx="29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u</a:t>
            </a:r>
          </a:p>
        </p:txBody>
      </p:sp>
      <p:sp>
        <p:nvSpPr>
          <p:cNvPr id="367655" name="Text Box 39"/>
          <p:cNvSpPr txBox="1">
            <a:spLocks noChangeArrowheads="1"/>
          </p:cNvSpPr>
          <p:nvPr/>
        </p:nvSpPr>
        <p:spPr bwMode="auto">
          <a:xfrm>
            <a:off x="3106738" y="2755030"/>
            <a:ext cx="303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S</a:t>
            </a:r>
          </a:p>
        </p:txBody>
      </p:sp>
      <p:sp>
        <p:nvSpPr>
          <p:cNvPr id="367656" name="Text Box 40"/>
          <p:cNvSpPr txBox="1">
            <a:spLocks noChangeArrowheads="1"/>
          </p:cNvSpPr>
          <p:nvPr/>
        </p:nvSpPr>
        <p:spPr bwMode="auto">
          <a:xfrm>
            <a:off x="3684589" y="275503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5</a:t>
            </a:r>
          </a:p>
        </p:txBody>
      </p:sp>
      <p:sp>
        <p:nvSpPr>
          <p:cNvPr id="367666" name="Text Box 50"/>
          <p:cNvSpPr txBox="1">
            <a:spLocks noChangeArrowheads="1"/>
          </p:cNvSpPr>
          <p:nvPr/>
        </p:nvSpPr>
        <p:spPr bwMode="auto">
          <a:xfrm>
            <a:off x="7334250" y="2755030"/>
            <a:ext cx="29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u</a:t>
            </a:r>
          </a:p>
        </p:txBody>
      </p:sp>
      <p:sp>
        <p:nvSpPr>
          <p:cNvPr id="367667" name="Text Box 51"/>
          <p:cNvSpPr txBox="1">
            <a:spLocks noChangeArrowheads="1"/>
          </p:cNvSpPr>
          <p:nvPr/>
        </p:nvSpPr>
        <p:spPr bwMode="auto">
          <a:xfrm>
            <a:off x="7664451" y="2755030"/>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S</a:t>
            </a:r>
          </a:p>
        </p:txBody>
      </p:sp>
      <p:sp>
        <p:nvSpPr>
          <p:cNvPr id="367668" name="Text Box 52"/>
          <p:cNvSpPr txBox="1">
            <a:spLocks noChangeArrowheads="1"/>
          </p:cNvSpPr>
          <p:nvPr/>
        </p:nvSpPr>
        <p:spPr bwMode="auto">
          <a:xfrm>
            <a:off x="8240714" y="275503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5</a:t>
            </a:r>
          </a:p>
        </p:txBody>
      </p:sp>
      <p:sp>
        <p:nvSpPr>
          <p:cNvPr id="367672" name="Text Box 56"/>
          <p:cNvSpPr txBox="1">
            <a:spLocks noChangeArrowheads="1"/>
          </p:cNvSpPr>
          <p:nvPr/>
        </p:nvSpPr>
        <p:spPr bwMode="auto">
          <a:xfrm>
            <a:off x="7650164" y="2755030"/>
            <a:ext cx="331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rPr>
              <a:t>M</a:t>
            </a:r>
          </a:p>
        </p:txBody>
      </p:sp>
      <p:sp>
        <p:nvSpPr>
          <p:cNvPr id="367673" name="Text Box 57"/>
          <p:cNvSpPr txBox="1">
            <a:spLocks noChangeArrowheads="1"/>
          </p:cNvSpPr>
          <p:nvPr/>
        </p:nvSpPr>
        <p:spPr bwMode="auto">
          <a:xfrm>
            <a:off x="8245476" y="275503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rPr>
              <a:t>7</a:t>
            </a:r>
          </a:p>
        </p:txBody>
      </p:sp>
      <p:grpSp>
        <p:nvGrpSpPr>
          <p:cNvPr id="5" name="Group 67"/>
          <p:cNvGrpSpPr>
            <a:grpSpLocks/>
          </p:cNvGrpSpPr>
          <p:nvPr/>
        </p:nvGrpSpPr>
        <p:grpSpPr bwMode="auto">
          <a:xfrm>
            <a:off x="4940300" y="2755030"/>
            <a:ext cx="1189038" cy="304800"/>
            <a:chOff x="950" y="1495"/>
            <a:chExt cx="692" cy="192"/>
          </a:xfrm>
        </p:grpSpPr>
        <p:sp>
          <p:nvSpPr>
            <p:cNvPr id="25676" name="Text Box 68"/>
            <p:cNvSpPr txBox="1">
              <a:spLocks noChangeArrowheads="1"/>
            </p:cNvSpPr>
            <p:nvPr/>
          </p:nvSpPr>
          <p:spPr bwMode="auto">
            <a:xfrm>
              <a:off x="950" y="1495"/>
              <a:ext cx="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u</a:t>
              </a:r>
            </a:p>
          </p:txBody>
        </p:sp>
        <p:sp>
          <p:nvSpPr>
            <p:cNvPr id="25677" name="Text Box 69"/>
            <p:cNvSpPr txBox="1">
              <a:spLocks noChangeArrowheads="1"/>
            </p:cNvSpPr>
            <p:nvPr/>
          </p:nvSpPr>
          <p:spPr bwMode="auto">
            <a:xfrm>
              <a:off x="1142" y="14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S</a:t>
              </a:r>
            </a:p>
          </p:txBody>
        </p:sp>
        <p:sp>
          <p:nvSpPr>
            <p:cNvPr id="25678" name="Text Box 70"/>
            <p:cNvSpPr txBox="1">
              <a:spLocks noChangeArrowheads="1"/>
            </p:cNvSpPr>
            <p:nvPr/>
          </p:nvSpPr>
          <p:spPr bwMode="auto">
            <a:xfrm>
              <a:off x="1478" y="1495"/>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t>7</a:t>
              </a:r>
            </a:p>
          </p:txBody>
        </p:sp>
      </p:grpSp>
      <p:sp>
        <p:nvSpPr>
          <p:cNvPr id="367691" name="Text Box 75"/>
          <p:cNvSpPr txBox="1">
            <a:spLocks noChangeArrowheads="1"/>
          </p:cNvSpPr>
          <p:nvPr/>
        </p:nvSpPr>
        <p:spPr bwMode="auto">
          <a:xfrm>
            <a:off x="3673476" y="2755030"/>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zh-CN" sz="1400">
                <a:solidFill>
                  <a:srgbClr val="0332B7"/>
                </a:solidFill>
              </a:rPr>
              <a:t>7</a:t>
            </a:r>
          </a:p>
        </p:txBody>
      </p:sp>
      <p:grpSp>
        <p:nvGrpSpPr>
          <p:cNvPr id="6" name="Group 118"/>
          <p:cNvGrpSpPr>
            <a:grpSpLocks/>
          </p:cNvGrpSpPr>
          <p:nvPr/>
        </p:nvGrpSpPr>
        <p:grpSpPr bwMode="auto">
          <a:xfrm>
            <a:off x="2255839" y="5253756"/>
            <a:ext cx="7597775" cy="246063"/>
            <a:chOff x="730" y="3286"/>
            <a:chExt cx="4786" cy="155"/>
          </a:xfrm>
        </p:grpSpPr>
        <p:sp>
          <p:nvSpPr>
            <p:cNvPr id="25670" name="Rectangle 86"/>
            <p:cNvSpPr>
              <a:spLocks noChangeArrowheads="1"/>
            </p:cNvSpPr>
            <p:nvPr/>
          </p:nvSpPr>
          <p:spPr bwMode="auto">
            <a:xfrm>
              <a:off x="730" y="3287"/>
              <a:ext cx="7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1. P1 reads u</a:t>
              </a:r>
            </a:p>
          </p:txBody>
        </p:sp>
        <p:sp>
          <p:nvSpPr>
            <p:cNvPr id="25671" name="Rectangle 91"/>
            <p:cNvSpPr>
              <a:spLocks noChangeArrowheads="1"/>
            </p:cNvSpPr>
            <p:nvPr/>
          </p:nvSpPr>
          <p:spPr bwMode="auto">
            <a:xfrm>
              <a:off x="2036" y="328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72" name="Rectangle 96"/>
            <p:cNvSpPr>
              <a:spLocks noChangeArrowheads="1"/>
            </p:cNvSpPr>
            <p:nvPr/>
          </p:nvSpPr>
          <p:spPr bwMode="auto">
            <a:xfrm>
              <a:off x="2699" y="3286"/>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cs typeface="Arial" panose="020B0604020202020204" pitchFamily="34" charset="0"/>
              </a:endParaRPr>
            </a:p>
          </p:txBody>
        </p:sp>
        <p:sp>
          <p:nvSpPr>
            <p:cNvPr id="25673" name="Rectangle 101"/>
            <p:cNvSpPr>
              <a:spLocks noChangeArrowheads="1"/>
            </p:cNvSpPr>
            <p:nvPr/>
          </p:nvSpPr>
          <p:spPr bwMode="auto">
            <a:xfrm>
              <a:off x="3391" y="3286"/>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cs typeface="Arial" panose="020B0604020202020204" pitchFamily="34" charset="0"/>
              </a:endParaRPr>
            </a:p>
          </p:txBody>
        </p:sp>
        <p:sp>
          <p:nvSpPr>
            <p:cNvPr id="25674" name="Rectangle 106"/>
            <p:cNvSpPr>
              <a:spLocks noChangeArrowheads="1"/>
            </p:cNvSpPr>
            <p:nvPr/>
          </p:nvSpPr>
          <p:spPr bwMode="auto">
            <a:xfrm>
              <a:off x="4022" y="3287"/>
              <a:ext cx="4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BusRd</a:t>
              </a:r>
            </a:p>
          </p:txBody>
        </p:sp>
        <p:sp>
          <p:nvSpPr>
            <p:cNvPr id="25675" name="Rectangle 111"/>
            <p:cNvSpPr>
              <a:spLocks noChangeArrowheads="1"/>
            </p:cNvSpPr>
            <p:nvPr/>
          </p:nvSpPr>
          <p:spPr bwMode="auto">
            <a:xfrm>
              <a:off x="5025" y="3287"/>
              <a:ext cx="4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Memory</a:t>
              </a:r>
            </a:p>
          </p:txBody>
        </p:sp>
      </p:grpSp>
      <p:grpSp>
        <p:nvGrpSpPr>
          <p:cNvPr id="7" name="Group 119"/>
          <p:cNvGrpSpPr>
            <a:grpSpLocks/>
          </p:cNvGrpSpPr>
          <p:nvPr/>
        </p:nvGrpSpPr>
        <p:grpSpPr bwMode="auto">
          <a:xfrm>
            <a:off x="2255839" y="5518868"/>
            <a:ext cx="7597775" cy="246062"/>
            <a:chOff x="730" y="3446"/>
            <a:chExt cx="4786" cy="155"/>
          </a:xfrm>
        </p:grpSpPr>
        <p:sp>
          <p:nvSpPr>
            <p:cNvPr id="25664" name="Rectangle 87"/>
            <p:cNvSpPr>
              <a:spLocks noChangeArrowheads="1"/>
            </p:cNvSpPr>
            <p:nvPr/>
          </p:nvSpPr>
          <p:spPr bwMode="auto">
            <a:xfrm>
              <a:off x="730" y="3447"/>
              <a:ext cx="7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2. P3 reads u</a:t>
              </a:r>
            </a:p>
          </p:txBody>
        </p:sp>
        <p:sp>
          <p:nvSpPr>
            <p:cNvPr id="25665" name="Rectangle 92"/>
            <p:cNvSpPr>
              <a:spLocks noChangeArrowheads="1"/>
            </p:cNvSpPr>
            <p:nvPr/>
          </p:nvSpPr>
          <p:spPr bwMode="auto">
            <a:xfrm>
              <a:off x="2036" y="344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66" name="Rectangle 97"/>
            <p:cNvSpPr>
              <a:spLocks noChangeArrowheads="1"/>
            </p:cNvSpPr>
            <p:nvPr/>
          </p:nvSpPr>
          <p:spPr bwMode="auto">
            <a:xfrm>
              <a:off x="2699" y="3446"/>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cs typeface="Arial" panose="020B0604020202020204" pitchFamily="34" charset="0"/>
              </a:endParaRPr>
            </a:p>
          </p:txBody>
        </p:sp>
        <p:sp>
          <p:nvSpPr>
            <p:cNvPr id="25667" name="Rectangle 102"/>
            <p:cNvSpPr>
              <a:spLocks noChangeArrowheads="1"/>
            </p:cNvSpPr>
            <p:nvPr/>
          </p:nvSpPr>
          <p:spPr bwMode="auto">
            <a:xfrm>
              <a:off x="3420" y="344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68" name="Rectangle 107"/>
            <p:cNvSpPr>
              <a:spLocks noChangeArrowheads="1"/>
            </p:cNvSpPr>
            <p:nvPr/>
          </p:nvSpPr>
          <p:spPr bwMode="auto">
            <a:xfrm>
              <a:off x="4022" y="3447"/>
              <a:ext cx="4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BusRd</a:t>
              </a:r>
            </a:p>
          </p:txBody>
        </p:sp>
        <p:sp>
          <p:nvSpPr>
            <p:cNvPr id="25669" name="Rectangle 112"/>
            <p:cNvSpPr>
              <a:spLocks noChangeArrowheads="1"/>
            </p:cNvSpPr>
            <p:nvPr/>
          </p:nvSpPr>
          <p:spPr bwMode="auto">
            <a:xfrm>
              <a:off x="5025" y="3447"/>
              <a:ext cx="4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Memory</a:t>
              </a:r>
            </a:p>
          </p:txBody>
        </p:sp>
      </p:grpSp>
      <p:grpSp>
        <p:nvGrpSpPr>
          <p:cNvPr id="8" name="Group 120"/>
          <p:cNvGrpSpPr>
            <a:grpSpLocks/>
          </p:cNvGrpSpPr>
          <p:nvPr/>
        </p:nvGrpSpPr>
        <p:grpSpPr bwMode="auto">
          <a:xfrm>
            <a:off x="2255839" y="5772868"/>
            <a:ext cx="7597775" cy="246062"/>
            <a:chOff x="730" y="3606"/>
            <a:chExt cx="4786" cy="155"/>
          </a:xfrm>
        </p:grpSpPr>
        <p:sp>
          <p:nvSpPr>
            <p:cNvPr id="25658" name="Rectangle 88"/>
            <p:cNvSpPr>
              <a:spLocks noChangeArrowheads="1"/>
            </p:cNvSpPr>
            <p:nvPr/>
          </p:nvSpPr>
          <p:spPr bwMode="auto">
            <a:xfrm>
              <a:off x="730" y="3607"/>
              <a:ext cx="8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chemeClr val="hlink"/>
                  </a:solidFill>
                  <a:cs typeface="Arial" panose="020B0604020202020204" pitchFamily="34" charset="0"/>
                </a:rPr>
                <a:t>3. P3 writes u</a:t>
              </a:r>
            </a:p>
          </p:txBody>
        </p:sp>
        <p:sp>
          <p:nvSpPr>
            <p:cNvPr id="25659" name="Rectangle 93"/>
            <p:cNvSpPr>
              <a:spLocks noChangeArrowheads="1"/>
            </p:cNvSpPr>
            <p:nvPr/>
          </p:nvSpPr>
          <p:spPr bwMode="auto">
            <a:xfrm>
              <a:off x="2051" y="360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chemeClr val="hlink"/>
                  </a:solidFill>
                  <a:cs typeface="Arial" panose="020B0604020202020204" pitchFamily="34" charset="0"/>
                </a:rPr>
                <a:t>I</a:t>
              </a:r>
            </a:p>
          </p:txBody>
        </p:sp>
        <p:sp>
          <p:nvSpPr>
            <p:cNvPr id="25660" name="Rectangle 98"/>
            <p:cNvSpPr>
              <a:spLocks noChangeArrowheads="1"/>
            </p:cNvSpPr>
            <p:nvPr/>
          </p:nvSpPr>
          <p:spPr bwMode="auto">
            <a:xfrm>
              <a:off x="2699" y="3606"/>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solidFill>
                  <a:schemeClr val="hlink"/>
                </a:solidFill>
                <a:cs typeface="Arial" panose="020B0604020202020204" pitchFamily="34" charset="0"/>
              </a:endParaRPr>
            </a:p>
          </p:txBody>
        </p:sp>
        <p:sp>
          <p:nvSpPr>
            <p:cNvPr id="25661" name="Rectangle 103"/>
            <p:cNvSpPr>
              <a:spLocks noChangeArrowheads="1"/>
            </p:cNvSpPr>
            <p:nvPr/>
          </p:nvSpPr>
          <p:spPr bwMode="auto">
            <a:xfrm>
              <a:off x="3399" y="3607"/>
              <a:ext cx="10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chemeClr val="hlink"/>
                  </a:solidFill>
                  <a:cs typeface="Arial" panose="020B0604020202020204" pitchFamily="34" charset="0"/>
                </a:rPr>
                <a:t>M</a:t>
              </a:r>
            </a:p>
          </p:txBody>
        </p:sp>
        <p:sp>
          <p:nvSpPr>
            <p:cNvPr id="25662" name="Rectangle 108"/>
            <p:cNvSpPr>
              <a:spLocks noChangeArrowheads="1"/>
            </p:cNvSpPr>
            <p:nvPr/>
          </p:nvSpPr>
          <p:spPr bwMode="auto">
            <a:xfrm>
              <a:off x="4022" y="3607"/>
              <a:ext cx="4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chemeClr val="hlink"/>
                  </a:solidFill>
                  <a:cs typeface="Arial" panose="020B0604020202020204" pitchFamily="34" charset="0"/>
                </a:rPr>
                <a:t>BusRdX</a:t>
              </a:r>
            </a:p>
          </p:txBody>
        </p:sp>
        <p:sp>
          <p:nvSpPr>
            <p:cNvPr id="25663" name="Rectangle 113"/>
            <p:cNvSpPr>
              <a:spLocks noChangeArrowheads="1"/>
            </p:cNvSpPr>
            <p:nvPr/>
          </p:nvSpPr>
          <p:spPr bwMode="auto">
            <a:xfrm>
              <a:off x="5025" y="3607"/>
              <a:ext cx="4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chemeClr val="hlink"/>
                  </a:solidFill>
                  <a:cs typeface="Arial" panose="020B0604020202020204" pitchFamily="34" charset="0"/>
                </a:rPr>
                <a:t>Memory</a:t>
              </a:r>
            </a:p>
          </p:txBody>
        </p:sp>
      </p:grpSp>
      <p:grpSp>
        <p:nvGrpSpPr>
          <p:cNvPr id="9" name="Group 121"/>
          <p:cNvGrpSpPr>
            <a:grpSpLocks/>
          </p:cNvGrpSpPr>
          <p:nvPr/>
        </p:nvGrpSpPr>
        <p:grpSpPr bwMode="auto">
          <a:xfrm>
            <a:off x="2255839" y="6025293"/>
            <a:ext cx="7697787" cy="247651"/>
            <a:chOff x="730" y="3765"/>
            <a:chExt cx="4849" cy="156"/>
          </a:xfrm>
        </p:grpSpPr>
        <p:sp>
          <p:nvSpPr>
            <p:cNvPr id="25652" name="Rectangle 89"/>
            <p:cNvSpPr>
              <a:spLocks noChangeArrowheads="1"/>
            </p:cNvSpPr>
            <p:nvPr/>
          </p:nvSpPr>
          <p:spPr bwMode="auto">
            <a:xfrm>
              <a:off x="730" y="3766"/>
              <a:ext cx="7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332B7"/>
                  </a:solidFill>
                  <a:cs typeface="Arial" panose="020B0604020202020204" pitchFamily="34" charset="0"/>
                </a:rPr>
                <a:t>4. P1 reads u</a:t>
              </a:r>
            </a:p>
          </p:txBody>
        </p:sp>
        <p:sp>
          <p:nvSpPr>
            <p:cNvPr id="25653" name="Rectangle 94"/>
            <p:cNvSpPr>
              <a:spLocks noChangeArrowheads="1"/>
            </p:cNvSpPr>
            <p:nvPr/>
          </p:nvSpPr>
          <p:spPr bwMode="auto">
            <a:xfrm>
              <a:off x="2036" y="3766"/>
              <a:ext cx="8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332B7"/>
                  </a:solidFill>
                  <a:cs typeface="Arial" panose="020B0604020202020204" pitchFamily="34" charset="0"/>
                </a:rPr>
                <a:t>S</a:t>
              </a:r>
            </a:p>
          </p:txBody>
        </p:sp>
        <p:sp>
          <p:nvSpPr>
            <p:cNvPr id="25654" name="Rectangle 99"/>
            <p:cNvSpPr>
              <a:spLocks noChangeArrowheads="1"/>
            </p:cNvSpPr>
            <p:nvPr/>
          </p:nvSpPr>
          <p:spPr bwMode="auto">
            <a:xfrm>
              <a:off x="2699" y="376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endParaRPr lang="zh-CN" altLang="zh-CN">
                <a:solidFill>
                  <a:srgbClr val="0332B7"/>
                </a:solidFill>
                <a:cs typeface="Arial" panose="020B0604020202020204" pitchFamily="34" charset="0"/>
              </a:endParaRPr>
            </a:p>
          </p:txBody>
        </p:sp>
        <p:sp>
          <p:nvSpPr>
            <p:cNvPr id="25655" name="Rectangle 104"/>
            <p:cNvSpPr>
              <a:spLocks noChangeArrowheads="1"/>
            </p:cNvSpPr>
            <p:nvPr/>
          </p:nvSpPr>
          <p:spPr bwMode="auto">
            <a:xfrm>
              <a:off x="3420" y="3766"/>
              <a:ext cx="8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332B7"/>
                  </a:solidFill>
                  <a:cs typeface="Arial" panose="020B0604020202020204" pitchFamily="34" charset="0"/>
                </a:rPr>
                <a:t>S</a:t>
              </a:r>
            </a:p>
          </p:txBody>
        </p:sp>
        <p:sp>
          <p:nvSpPr>
            <p:cNvPr id="25656" name="Rectangle 109"/>
            <p:cNvSpPr>
              <a:spLocks noChangeArrowheads="1"/>
            </p:cNvSpPr>
            <p:nvPr/>
          </p:nvSpPr>
          <p:spPr bwMode="auto">
            <a:xfrm>
              <a:off x="4022" y="3766"/>
              <a:ext cx="8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332B7"/>
                  </a:solidFill>
                  <a:cs typeface="Arial" panose="020B0604020202020204" pitchFamily="34" charset="0"/>
                </a:rPr>
                <a:t>BusRd, Flush</a:t>
              </a:r>
            </a:p>
          </p:txBody>
        </p:sp>
        <p:sp>
          <p:nvSpPr>
            <p:cNvPr id="25657" name="Rectangle 114"/>
            <p:cNvSpPr>
              <a:spLocks noChangeArrowheads="1"/>
            </p:cNvSpPr>
            <p:nvPr/>
          </p:nvSpPr>
          <p:spPr bwMode="auto">
            <a:xfrm>
              <a:off x="5025" y="3766"/>
              <a:ext cx="55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332B7"/>
                  </a:solidFill>
                  <a:cs typeface="Arial" panose="020B0604020202020204" pitchFamily="34" charset="0"/>
                </a:rPr>
                <a:t>P3 cache</a:t>
              </a:r>
            </a:p>
          </p:txBody>
        </p:sp>
      </p:grpSp>
      <p:grpSp>
        <p:nvGrpSpPr>
          <p:cNvPr id="10" name="Group 122"/>
          <p:cNvGrpSpPr>
            <a:grpSpLocks/>
          </p:cNvGrpSpPr>
          <p:nvPr/>
        </p:nvGrpSpPr>
        <p:grpSpPr bwMode="auto">
          <a:xfrm>
            <a:off x="2255839" y="6280869"/>
            <a:ext cx="7597775" cy="244475"/>
            <a:chOff x="730" y="3926"/>
            <a:chExt cx="4786" cy="154"/>
          </a:xfrm>
        </p:grpSpPr>
        <p:sp>
          <p:nvSpPr>
            <p:cNvPr id="25646" name="Rectangle 90"/>
            <p:cNvSpPr>
              <a:spLocks noChangeArrowheads="1"/>
            </p:cNvSpPr>
            <p:nvPr/>
          </p:nvSpPr>
          <p:spPr bwMode="auto">
            <a:xfrm>
              <a:off x="730" y="3926"/>
              <a:ext cx="7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5. P2 reads u</a:t>
              </a:r>
            </a:p>
          </p:txBody>
        </p:sp>
        <p:sp>
          <p:nvSpPr>
            <p:cNvPr id="25647" name="Rectangle 95"/>
            <p:cNvSpPr>
              <a:spLocks noChangeArrowheads="1"/>
            </p:cNvSpPr>
            <p:nvPr/>
          </p:nvSpPr>
          <p:spPr bwMode="auto">
            <a:xfrm>
              <a:off x="2036" y="3926"/>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48" name="Rectangle 100"/>
            <p:cNvSpPr>
              <a:spLocks noChangeArrowheads="1"/>
            </p:cNvSpPr>
            <p:nvPr/>
          </p:nvSpPr>
          <p:spPr bwMode="auto">
            <a:xfrm>
              <a:off x="2728" y="3926"/>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49" name="Rectangle 105"/>
            <p:cNvSpPr>
              <a:spLocks noChangeArrowheads="1"/>
            </p:cNvSpPr>
            <p:nvPr/>
          </p:nvSpPr>
          <p:spPr bwMode="auto">
            <a:xfrm>
              <a:off x="3420" y="3926"/>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S</a:t>
              </a:r>
            </a:p>
          </p:txBody>
        </p:sp>
        <p:sp>
          <p:nvSpPr>
            <p:cNvPr id="25650" name="Rectangle 110"/>
            <p:cNvSpPr>
              <a:spLocks noChangeArrowheads="1"/>
            </p:cNvSpPr>
            <p:nvPr/>
          </p:nvSpPr>
          <p:spPr bwMode="auto">
            <a:xfrm>
              <a:off x="4022" y="3926"/>
              <a:ext cx="4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BusRd</a:t>
              </a:r>
            </a:p>
          </p:txBody>
        </p:sp>
        <p:sp>
          <p:nvSpPr>
            <p:cNvPr id="25651" name="Rectangle 115"/>
            <p:cNvSpPr>
              <a:spLocks noChangeArrowheads="1"/>
            </p:cNvSpPr>
            <p:nvPr/>
          </p:nvSpPr>
          <p:spPr bwMode="auto">
            <a:xfrm>
              <a:off x="5025" y="3926"/>
              <a:ext cx="4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cs typeface="Arial" panose="020B0604020202020204" pitchFamily="34" charset="0"/>
                </a:rPr>
                <a:t>Memory</a:t>
              </a:r>
            </a:p>
          </p:txBody>
        </p:sp>
      </p:grpSp>
      <p:grpSp>
        <p:nvGrpSpPr>
          <p:cNvPr id="25629" name="Group 117"/>
          <p:cNvGrpSpPr>
            <a:grpSpLocks/>
          </p:cNvGrpSpPr>
          <p:nvPr/>
        </p:nvGrpSpPr>
        <p:grpSpPr bwMode="auto">
          <a:xfrm>
            <a:off x="2087563" y="4842593"/>
            <a:ext cx="7848600" cy="311150"/>
            <a:chOff x="624" y="3020"/>
            <a:chExt cx="4944" cy="196"/>
          </a:xfrm>
        </p:grpSpPr>
        <p:sp>
          <p:nvSpPr>
            <p:cNvPr id="25639" name="Rectangle 79"/>
            <p:cNvSpPr>
              <a:spLocks noChangeArrowheads="1"/>
            </p:cNvSpPr>
            <p:nvPr/>
          </p:nvSpPr>
          <p:spPr bwMode="auto">
            <a:xfrm>
              <a:off x="624" y="3024"/>
              <a:ext cx="115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Processor Action</a:t>
              </a:r>
              <a:endParaRPr lang="en-US" altLang="zh-CN">
                <a:cs typeface="Arial" panose="020B0604020202020204" pitchFamily="34" charset="0"/>
              </a:endParaRPr>
            </a:p>
          </p:txBody>
        </p:sp>
        <p:sp>
          <p:nvSpPr>
            <p:cNvPr id="25640" name="Rectangle 80"/>
            <p:cNvSpPr>
              <a:spLocks noChangeArrowheads="1"/>
            </p:cNvSpPr>
            <p:nvPr/>
          </p:nvSpPr>
          <p:spPr bwMode="auto">
            <a:xfrm>
              <a:off x="1824" y="3020"/>
              <a:ext cx="50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State P1</a:t>
              </a:r>
              <a:endParaRPr lang="en-US" altLang="zh-CN">
                <a:cs typeface="Arial" panose="020B0604020202020204" pitchFamily="34" charset="0"/>
              </a:endParaRPr>
            </a:p>
          </p:txBody>
        </p:sp>
        <p:sp>
          <p:nvSpPr>
            <p:cNvPr id="25641" name="Rectangle 81"/>
            <p:cNvSpPr>
              <a:spLocks noChangeArrowheads="1"/>
            </p:cNvSpPr>
            <p:nvPr/>
          </p:nvSpPr>
          <p:spPr bwMode="auto">
            <a:xfrm>
              <a:off x="2486" y="3020"/>
              <a:ext cx="50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State P2</a:t>
              </a:r>
              <a:endParaRPr lang="en-US" altLang="zh-CN">
                <a:cs typeface="Arial" panose="020B0604020202020204" pitchFamily="34" charset="0"/>
              </a:endParaRPr>
            </a:p>
          </p:txBody>
        </p:sp>
        <p:sp>
          <p:nvSpPr>
            <p:cNvPr id="25642" name="Rectangle 82"/>
            <p:cNvSpPr>
              <a:spLocks noChangeArrowheads="1"/>
            </p:cNvSpPr>
            <p:nvPr/>
          </p:nvSpPr>
          <p:spPr bwMode="auto">
            <a:xfrm>
              <a:off x="3178" y="3020"/>
              <a:ext cx="7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State P3</a:t>
              </a:r>
              <a:endParaRPr lang="en-US" altLang="zh-CN">
                <a:cs typeface="Arial" panose="020B0604020202020204" pitchFamily="34" charset="0"/>
              </a:endParaRPr>
            </a:p>
          </p:txBody>
        </p:sp>
        <p:sp>
          <p:nvSpPr>
            <p:cNvPr id="25643" name="Rectangle 83"/>
            <p:cNvSpPr>
              <a:spLocks noChangeArrowheads="1"/>
            </p:cNvSpPr>
            <p:nvPr/>
          </p:nvSpPr>
          <p:spPr bwMode="auto">
            <a:xfrm>
              <a:off x="3898" y="3020"/>
              <a:ext cx="67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Bus Action</a:t>
              </a:r>
              <a:endParaRPr lang="en-US" altLang="zh-CN">
                <a:cs typeface="Arial" panose="020B0604020202020204" pitchFamily="34" charset="0"/>
              </a:endParaRPr>
            </a:p>
          </p:txBody>
        </p:sp>
        <p:sp>
          <p:nvSpPr>
            <p:cNvPr id="25644" name="Rectangle 84"/>
            <p:cNvSpPr>
              <a:spLocks noChangeArrowheads="1"/>
            </p:cNvSpPr>
            <p:nvPr/>
          </p:nvSpPr>
          <p:spPr bwMode="auto">
            <a:xfrm>
              <a:off x="4970" y="3020"/>
              <a:ext cx="5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a:solidFill>
                    <a:srgbClr val="000000"/>
                  </a:solidFill>
                  <a:cs typeface="Arial" panose="020B0604020202020204" pitchFamily="34" charset="0"/>
                </a:rPr>
                <a:t>Data from</a:t>
              </a:r>
              <a:endParaRPr lang="en-US" altLang="zh-CN">
                <a:cs typeface="Arial" panose="020B0604020202020204" pitchFamily="34" charset="0"/>
              </a:endParaRPr>
            </a:p>
          </p:txBody>
        </p:sp>
        <p:sp>
          <p:nvSpPr>
            <p:cNvPr id="25645" name="Line 116"/>
            <p:cNvSpPr>
              <a:spLocks noChangeShapeType="1"/>
            </p:cNvSpPr>
            <p:nvPr/>
          </p:nvSpPr>
          <p:spPr bwMode="auto">
            <a:xfrm>
              <a:off x="624" y="3216"/>
              <a:ext cx="49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5630" name="Rectangle 123"/>
          <p:cNvSpPr>
            <a:spLocks noChangeArrowheads="1"/>
          </p:cNvSpPr>
          <p:nvPr/>
        </p:nvSpPr>
        <p:spPr bwMode="auto">
          <a:xfrm>
            <a:off x="4357689" y="4293319"/>
            <a:ext cx="274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a:t>5</a:t>
            </a:r>
            <a:endParaRPr lang="en-US" altLang="zh-CN" sz="2000"/>
          </a:p>
        </p:txBody>
      </p:sp>
      <p:sp>
        <p:nvSpPr>
          <p:cNvPr id="367740" name="Rectangle 124"/>
          <p:cNvSpPr>
            <a:spLocks noChangeArrowheads="1"/>
          </p:cNvSpPr>
          <p:nvPr/>
        </p:nvSpPr>
        <p:spPr bwMode="auto">
          <a:xfrm>
            <a:off x="4541839" y="4293319"/>
            <a:ext cx="274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800">
                <a:solidFill>
                  <a:srgbClr val="0332B7"/>
                </a:solidFill>
              </a:rPr>
              <a:t>7</a:t>
            </a:r>
            <a:endParaRPr lang="en-US" altLang="zh-CN" sz="2000">
              <a:solidFill>
                <a:srgbClr val="0332B7"/>
              </a:solidFill>
            </a:endParaRPr>
          </a:p>
        </p:txBody>
      </p:sp>
      <p:sp>
        <p:nvSpPr>
          <p:cNvPr id="367741" name="Line 125"/>
          <p:cNvSpPr>
            <a:spLocks noChangeShapeType="1"/>
          </p:cNvSpPr>
          <p:nvPr/>
        </p:nvSpPr>
        <p:spPr bwMode="auto">
          <a:xfrm flipH="1">
            <a:off x="4359276" y="4293319"/>
            <a:ext cx="136525"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7743" name="Text Box 127"/>
          <p:cNvSpPr txBox="1">
            <a:spLocks noChangeArrowheads="1"/>
          </p:cNvSpPr>
          <p:nvPr/>
        </p:nvSpPr>
        <p:spPr bwMode="auto">
          <a:xfrm>
            <a:off x="3124201" y="2755030"/>
            <a:ext cx="233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chemeClr val="hlink"/>
                </a:solidFill>
              </a:rPr>
              <a:t>I</a:t>
            </a:r>
          </a:p>
        </p:txBody>
      </p:sp>
      <p:sp>
        <p:nvSpPr>
          <p:cNvPr id="367744" name="Text Box 128"/>
          <p:cNvSpPr txBox="1">
            <a:spLocks noChangeArrowheads="1"/>
          </p:cNvSpPr>
          <p:nvPr/>
        </p:nvSpPr>
        <p:spPr bwMode="auto">
          <a:xfrm>
            <a:off x="7650163" y="2755030"/>
            <a:ext cx="303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rgbClr val="0332B7"/>
                </a:solidFill>
              </a:rPr>
              <a:t>S</a:t>
            </a:r>
          </a:p>
        </p:txBody>
      </p:sp>
      <p:sp>
        <p:nvSpPr>
          <p:cNvPr id="367745" name="Text Box 129"/>
          <p:cNvSpPr txBox="1">
            <a:spLocks noChangeArrowheads="1"/>
          </p:cNvSpPr>
          <p:nvPr/>
        </p:nvSpPr>
        <p:spPr bwMode="auto">
          <a:xfrm>
            <a:off x="3124201" y="2755030"/>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a:solidFill>
                  <a:srgbClr val="0332B7"/>
                </a:solidFill>
              </a:rPr>
              <a:t>S</a:t>
            </a:r>
          </a:p>
        </p:txBody>
      </p:sp>
      <p:grpSp>
        <p:nvGrpSpPr>
          <p:cNvPr id="12" name="Group 134"/>
          <p:cNvGrpSpPr>
            <a:grpSpLocks/>
          </p:cNvGrpSpPr>
          <p:nvPr/>
        </p:nvGrpSpPr>
        <p:grpSpPr bwMode="auto">
          <a:xfrm>
            <a:off x="3856038" y="2950293"/>
            <a:ext cx="4781550" cy="1206500"/>
            <a:chOff x="1709" y="1573"/>
            <a:chExt cx="3012" cy="760"/>
          </a:xfrm>
        </p:grpSpPr>
        <p:sp>
          <p:nvSpPr>
            <p:cNvPr id="25637" name="Freeform 131"/>
            <p:cNvSpPr>
              <a:spLocks/>
            </p:cNvSpPr>
            <p:nvPr/>
          </p:nvSpPr>
          <p:spPr bwMode="auto">
            <a:xfrm>
              <a:off x="1709" y="1573"/>
              <a:ext cx="3012" cy="385"/>
            </a:xfrm>
            <a:custGeom>
              <a:avLst/>
              <a:gdLst>
                <a:gd name="T0" fmla="*/ 2974 w 3134"/>
                <a:gd name="T1" fmla="*/ 0 h 436"/>
                <a:gd name="T2" fmla="*/ 2587 w 3134"/>
                <a:gd name="T3" fmla="*/ 330 h 436"/>
                <a:gd name="T4" fmla="*/ 426 w 3134"/>
                <a:gd name="T5" fmla="*/ 330 h 436"/>
                <a:gd name="T6" fmla="*/ 34 w 3134"/>
                <a:gd name="T7" fmla="*/ 10 h 436"/>
                <a:gd name="T8" fmla="*/ 0 60000 65536"/>
                <a:gd name="T9" fmla="*/ 0 60000 65536"/>
                <a:gd name="T10" fmla="*/ 0 60000 65536"/>
                <a:gd name="T11" fmla="*/ 0 60000 65536"/>
                <a:gd name="T12" fmla="*/ 0 w 3134"/>
                <a:gd name="T13" fmla="*/ 0 h 436"/>
                <a:gd name="T14" fmla="*/ 3134 w 3134"/>
                <a:gd name="T15" fmla="*/ 436 h 436"/>
              </a:gdLst>
              <a:ahLst/>
              <a:cxnLst>
                <a:cxn ang="T8">
                  <a:pos x="T0" y="T1"/>
                </a:cxn>
                <a:cxn ang="T9">
                  <a:pos x="T2" y="T3"/>
                </a:cxn>
                <a:cxn ang="T10">
                  <a:pos x="T4" y="T5"/>
                </a:cxn>
                <a:cxn ang="T11">
                  <a:pos x="T6" y="T7"/>
                </a:cxn>
              </a:cxnLst>
              <a:rect l="T12" t="T13" r="T14" b="T15"/>
              <a:pathLst>
                <a:path w="3134" h="436">
                  <a:moveTo>
                    <a:pt x="3094" y="0"/>
                  </a:moveTo>
                  <a:cubicBezTo>
                    <a:pt x="3027" y="62"/>
                    <a:pt x="3134" y="312"/>
                    <a:pt x="2692" y="374"/>
                  </a:cubicBezTo>
                  <a:cubicBezTo>
                    <a:pt x="2250" y="436"/>
                    <a:pt x="886" y="434"/>
                    <a:pt x="443" y="374"/>
                  </a:cubicBezTo>
                  <a:cubicBezTo>
                    <a:pt x="0" y="314"/>
                    <a:pt x="120" y="87"/>
                    <a:pt x="35" y="11"/>
                  </a:cubicBezTo>
                </a:path>
              </a:pathLst>
            </a:custGeom>
            <a:noFill/>
            <a:ln w="28575" cap="flat" cmpd="sng">
              <a:solidFill>
                <a:srgbClr val="0332B7"/>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5638" name="Freeform 132"/>
            <p:cNvSpPr>
              <a:spLocks/>
            </p:cNvSpPr>
            <p:nvPr/>
          </p:nvSpPr>
          <p:spPr bwMode="auto">
            <a:xfrm>
              <a:off x="2256" y="1901"/>
              <a:ext cx="778" cy="432"/>
            </a:xfrm>
            <a:custGeom>
              <a:avLst/>
              <a:gdLst>
                <a:gd name="T0" fmla="*/ 778 w 778"/>
                <a:gd name="T1" fmla="*/ 45 h 386"/>
                <a:gd name="T2" fmla="*/ 313 w 778"/>
                <a:gd name="T3" fmla="*/ 93 h 386"/>
                <a:gd name="T4" fmla="*/ 0 w 778"/>
                <a:gd name="T5" fmla="*/ 432 h 386"/>
                <a:gd name="T6" fmla="*/ 0 60000 65536"/>
                <a:gd name="T7" fmla="*/ 0 60000 65536"/>
                <a:gd name="T8" fmla="*/ 0 60000 65536"/>
                <a:gd name="T9" fmla="*/ 0 w 778"/>
                <a:gd name="T10" fmla="*/ 0 h 386"/>
                <a:gd name="T11" fmla="*/ 778 w 778"/>
                <a:gd name="T12" fmla="*/ 386 h 386"/>
              </a:gdLst>
              <a:ahLst/>
              <a:cxnLst>
                <a:cxn ang="T6">
                  <a:pos x="T0" y="T1"/>
                </a:cxn>
                <a:cxn ang="T7">
                  <a:pos x="T2" y="T3"/>
                </a:cxn>
                <a:cxn ang="T8">
                  <a:pos x="T4" y="T5"/>
                </a:cxn>
              </a:cxnLst>
              <a:rect l="T9" t="T10" r="T11" b="T12"/>
              <a:pathLst>
                <a:path w="778" h="386">
                  <a:moveTo>
                    <a:pt x="778" y="40"/>
                  </a:moveTo>
                  <a:cubicBezTo>
                    <a:pt x="701" y="47"/>
                    <a:pt x="551" y="0"/>
                    <a:pt x="313" y="83"/>
                  </a:cubicBezTo>
                  <a:cubicBezTo>
                    <a:pt x="75" y="166"/>
                    <a:pt x="65" y="323"/>
                    <a:pt x="0" y="386"/>
                  </a:cubicBezTo>
                </a:path>
              </a:pathLst>
            </a:custGeom>
            <a:noFill/>
            <a:ln w="28575" cap="flat" cmpd="sng">
              <a:solidFill>
                <a:srgbClr val="0332B7"/>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Tree>
    <p:extLst>
      <p:ext uri="{BB962C8B-B14F-4D97-AF65-F5344CB8AC3E}">
        <p14:creationId xmlns:p14="http://schemas.microsoft.com/office/powerpoint/2010/main" val="663206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76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76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76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76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76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766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367655"/>
                                        </p:tgtEl>
                                        <p:attrNameLst>
                                          <p:attrName>style.visibility</p:attrName>
                                        </p:attrNameLst>
                                      </p:cBhvr>
                                      <p:to>
                                        <p:strVal val="hidden"/>
                                      </p:to>
                                    </p:set>
                                  </p:childTnLst>
                                </p:cTn>
                              </p:par>
                            </p:childTnLst>
                          </p:cTn>
                        </p:par>
                        <p:par>
                          <p:cTn id="35" fill="hold" nodeType="afterGroup">
                            <p:stCondLst>
                              <p:cond delay="0"/>
                            </p:stCondLst>
                            <p:childTnLst>
                              <p:par>
                                <p:cTn id="36" presetID="1" presetClass="entr" presetSubtype="0" fill="hold" grpId="0" nodeType="afterEffect">
                                  <p:stCondLst>
                                    <p:cond delay="1000"/>
                                  </p:stCondLst>
                                  <p:childTnLst>
                                    <p:set>
                                      <p:cBhvr>
                                        <p:cTn id="37" dur="1" fill="hold">
                                          <p:stCondLst>
                                            <p:cond delay="0"/>
                                          </p:stCondLst>
                                        </p:cTn>
                                        <p:tgtEl>
                                          <p:spTgt spid="36774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xit" presetSubtype="0" fill="hold" grpId="1" nodeType="clickEffect">
                                  <p:stCondLst>
                                    <p:cond delay="0"/>
                                  </p:stCondLst>
                                  <p:childTnLst>
                                    <p:set>
                                      <p:cBhvr>
                                        <p:cTn id="41" dur="1" fill="hold">
                                          <p:stCondLst>
                                            <p:cond delay="0"/>
                                          </p:stCondLst>
                                        </p:cTn>
                                        <p:tgtEl>
                                          <p:spTgt spid="367667"/>
                                        </p:tgtEl>
                                        <p:attrNameLst>
                                          <p:attrName>style.visibility</p:attrName>
                                        </p:attrNameLst>
                                      </p:cBhvr>
                                      <p:to>
                                        <p:strVal val="hidden"/>
                                      </p:to>
                                    </p:set>
                                  </p:childTnLst>
                                </p:cTn>
                              </p:par>
                            </p:childTnLst>
                          </p:cTn>
                        </p:par>
                        <p:par>
                          <p:cTn id="42" fill="hold" nodeType="afterGroup">
                            <p:stCondLst>
                              <p:cond delay="0"/>
                            </p:stCondLst>
                            <p:childTnLst>
                              <p:par>
                                <p:cTn id="43" presetID="1" presetClass="entr" presetSubtype="0" fill="hold" grpId="0" nodeType="afterEffect">
                                  <p:stCondLst>
                                    <p:cond delay="1000"/>
                                  </p:stCondLst>
                                  <p:childTnLst>
                                    <p:set>
                                      <p:cBhvr>
                                        <p:cTn id="44" dur="1" fill="hold">
                                          <p:stCondLst>
                                            <p:cond delay="0"/>
                                          </p:stCondLst>
                                        </p:cTn>
                                        <p:tgtEl>
                                          <p:spTgt spid="367672"/>
                                        </p:tgtEl>
                                        <p:attrNameLst>
                                          <p:attrName>style.visibility</p:attrName>
                                        </p:attrNameLst>
                                      </p:cBhvr>
                                      <p:to>
                                        <p:strVal val="visible"/>
                                      </p:to>
                                    </p:set>
                                  </p:childTnLst>
                                </p:cTn>
                              </p:par>
                              <p:par>
                                <p:cTn id="45" presetID="1" presetClass="exit" presetSubtype="0" fill="hold" grpId="1" nodeType="withEffect">
                                  <p:stCondLst>
                                    <p:cond delay="1000"/>
                                  </p:stCondLst>
                                  <p:childTnLst>
                                    <p:set>
                                      <p:cBhvr>
                                        <p:cTn id="46" dur="1" fill="hold">
                                          <p:stCondLst>
                                            <p:cond delay="0"/>
                                          </p:stCondLst>
                                        </p:cTn>
                                        <p:tgtEl>
                                          <p:spTgt spid="367668"/>
                                        </p:tgtEl>
                                        <p:attrNameLst>
                                          <p:attrName>style.visibility</p:attrName>
                                        </p:attrNameLst>
                                      </p:cBhvr>
                                      <p:to>
                                        <p:strVal val="hidden"/>
                                      </p:to>
                                    </p:set>
                                  </p:childTnLst>
                                </p:cTn>
                              </p:par>
                              <p:par>
                                <p:cTn id="47" presetID="1" presetClass="entr" presetSubtype="0" fill="hold" grpId="0" nodeType="withEffect">
                                  <p:stCondLst>
                                    <p:cond delay="1000"/>
                                  </p:stCondLst>
                                  <p:childTnLst>
                                    <p:set>
                                      <p:cBhvr>
                                        <p:cTn id="48" dur="1" fill="hold">
                                          <p:stCondLst>
                                            <p:cond delay="0"/>
                                          </p:stCondLst>
                                        </p:cTn>
                                        <p:tgtEl>
                                          <p:spTgt spid="367673"/>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367656"/>
                                        </p:tgtEl>
                                        <p:attrNameLst>
                                          <p:attrName>style.visibility</p:attrName>
                                        </p:attrNameLst>
                                      </p:cBhvr>
                                      <p:to>
                                        <p:strVal val="hidden"/>
                                      </p:to>
                                    </p:set>
                                  </p:childTnLst>
                                </p:cTn>
                              </p:par>
                            </p:childTnLst>
                          </p:cTn>
                        </p:par>
                        <p:par>
                          <p:cTn id="61" fill="hold" nodeType="afterGroup">
                            <p:stCondLst>
                              <p:cond delay="0"/>
                            </p:stCondLst>
                            <p:childTnLst>
                              <p:par>
                                <p:cTn id="62" presetID="1" presetClass="entr" presetSubtype="0" fill="hold" grpId="0" nodeType="afterEffect">
                                  <p:stCondLst>
                                    <p:cond delay="1000"/>
                                  </p:stCondLst>
                                  <p:childTnLst>
                                    <p:set>
                                      <p:cBhvr>
                                        <p:cTn id="63" dur="1" fill="hold">
                                          <p:stCondLst>
                                            <p:cond delay="0"/>
                                          </p:stCondLst>
                                        </p:cTn>
                                        <p:tgtEl>
                                          <p:spTgt spid="367691"/>
                                        </p:tgtEl>
                                        <p:attrNameLst>
                                          <p:attrName>style.visibility</p:attrName>
                                        </p:attrNameLst>
                                      </p:cBhvr>
                                      <p:to>
                                        <p:strVal val="visible"/>
                                      </p:to>
                                    </p:set>
                                  </p:childTnLst>
                                </p:cTn>
                              </p:par>
                            </p:childTnLst>
                          </p:cTn>
                        </p:par>
                        <p:par>
                          <p:cTn id="64" fill="hold" nodeType="afterGroup">
                            <p:stCondLst>
                              <p:cond delay="1000"/>
                            </p:stCondLst>
                            <p:childTnLst>
                              <p:par>
                                <p:cTn id="65" presetID="1" presetClass="exit" presetSubtype="0" fill="hold" grpId="1" nodeType="afterEffect">
                                  <p:stCondLst>
                                    <p:cond delay="1000"/>
                                  </p:stCondLst>
                                  <p:childTnLst>
                                    <p:set>
                                      <p:cBhvr>
                                        <p:cTn id="66" dur="1" fill="hold">
                                          <p:stCondLst>
                                            <p:cond delay="0"/>
                                          </p:stCondLst>
                                        </p:cTn>
                                        <p:tgtEl>
                                          <p:spTgt spid="367743"/>
                                        </p:tgtEl>
                                        <p:attrNameLst>
                                          <p:attrName>style.visibility</p:attrName>
                                        </p:attrNameLst>
                                      </p:cBhvr>
                                      <p:to>
                                        <p:strVal val="hidden"/>
                                      </p:to>
                                    </p:set>
                                  </p:childTnLst>
                                </p:cTn>
                              </p:par>
                            </p:childTnLst>
                          </p:cTn>
                        </p:par>
                        <p:par>
                          <p:cTn id="67" fill="hold" nodeType="afterGroup">
                            <p:stCondLst>
                              <p:cond delay="2000"/>
                            </p:stCondLst>
                            <p:childTnLst>
                              <p:par>
                                <p:cTn id="68" presetID="1" presetClass="entr" presetSubtype="0" fill="hold" grpId="0" nodeType="afterEffect">
                                  <p:stCondLst>
                                    <p:cond delay="1000"/>
                                  </p:stCondLst>
                                  <p:childTnLst>
                                    <p:set>
                                      <p:cBhvr>
                                        <p:cTn id="69" dur="1" fill="hold">
                                          <p:stCondLst>
                                            <p:cond delay="0"/>
                                          </p:stCondLst>
                                        </p:cTn>
                                        <p:tgtEl>
                                          <p:spTgt spid="367745"/>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0"/>
                                          </p:stCondLst>
                                        </p:cTn>
                                        <p:tgtEl>
                                          <p:spTgt spid="367741"/>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1000"/>
                                  </p:stCondLst>
                                  <p:childTnLst>
                                    <p:set>
                                      <p:cBhvr>
                                        <p:cTn id="76" dur="1" fill="hold">
                                          <p:stCondLst>
                                            <p:cond delay="0"/>
                                          </p:stCondLst>
                                        </p:cTn>
                                        <p:tgtEl>
                                          <p:spTgt spid="367740">
                                            <p:txEl>
                                              <p:pRg st="0" end="0"/>
                                            </p:txEl>
                                          </p:spTgt>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367672"/>
                                        </p:tgtEl>
                                        <p:attrNameLst>
                                          <p:attrName>style.visibility</p:attrName>
                                        </p:attrNameLst>
                                      </p:cBhvr>
                                      <p:to>
                                        <p:strVal val="hidden"/>
                                      </p:to>
                                    </p:set>
                                  </p:childTnLst>
                                </p:cTn>
                              </p:par>
                            </p:childTnLst>
                          </p:cTn>
                        </p:par>
                        <p:par>
                          <p:cTn id="81" fill="hold" nodeType="afterGroup">
                            <p:stCondLst>
                              <p:cond delay="0"/>
                            </p:stCondLst>
                            <p:childTnLst>
                              <p:par>
                                <p:cTn id="82" presetID="1" presetClass="entr" presetSubtype="0" fill="hold" grpId="0" nodeType="afterEffect">
                                  <p:stCondLst>
                                    <p:cond delay="0"/>
                                  </p:stCondLst>
                                  <p:childTnLst>
                                    <p:set>
                                      <p:cBhvr>
                                        <p:cTn id="83" dur="1" fill="hold">
                                          <p:stCondLst>
                                            <p:cond delay="0"/>
                                          </p:stCondLst>
                                        </p:cTn>
                                        <p:tgtEl>
                                          <p:spTgt spid="36774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10"/>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12"/>
                                        </p:tgtEl>
                                        <p:attrNameLst>
                                          <p:attrName>style.visibility</p:attrName>
                                        </p:attrNameLst>
                                      </p:cBhvr>
                                      <p:to>
                                        <p:strVal val="hidden"/>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54" grpId="0"/>
      <p:bldP spid="367655" grpId="0"/>
      <p:bldP spid="367655" grpId="1"/>
      <p:bldP spid="367656" grpId="0"/>
      <p:bldP spid="367656" grpId="1"/>
      <p:bldP spid="367666" grpId="0"/>
      <p:bldP spid="367667" grpId="0"/>
      <p:bldP spid="367667" grpId="1"/>
      <p:bldP spid="367668" grpId="0"/>
      <p:bldP spid="367668" grpId="1"/>
      <p:bldP spid="367672" grpId="0"/>
      <p:bldP spid="367672" grpId="1"/>
      <p:bldP spid="367673" grpId="0"/>
      <p:bldP spid="367691" grpId="0"/>
      <p:bldP spid="367743" grpId="0"/>
      <p:bldP spid="367743" grpId="1"/>
      <p:bldP spid="367744" grpId="0"/>
      <p:bldP spid="36774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后写协议示例</a:t>
            </a:r>
            <a:endParaRPr kumimoji="1" lang="zh-CN" altLang="en-US" dirty="0"/>
          </a:p>
        </p:txBody>
      </p:sp>
      <p:sp>
        <p:nvSpPr>
          <p:cNvPr id="80" name="内容占位符 79"/>
          <p:cNvSpPr>
            <a:spLocks noGrp="1"/>
          </p:cNvSpPr>
          <p:nvPr>
            <p:ph idx="1"/>
          </p:nvPr>
        </p:nvSpPr>
        <p:spPr>
          <a:xfrm>
            <a:off x="479376" y="5063452"/>
            <a:ext cx="11233248" cy="1245867"/>
          </a:xfrm>
        </p:spPr>
        <p:txBody>
          <a:bodyPr/>
          <a:lstStyle/>
          <a:p>
            <a:r>
              <a:rPr lang="zh-CN" altLang="en-US" dirty="0"/>
              <a:t>正确性之写传播：写不命中何时执行？</a:t>
            </a:r>
            <a:endParaRPr lang="en-US" altLang="zh-CN" dirty="0"/>
          </a:p>
          <a:p>
            <a:pPr lvl="1"/>
            <a:r>
              <a:rPr kumimoji="1" lang="zh-CN" altLang="en-US" dirty="0"/>
              <a:t>写者如何观察到写操作？写操作如何为其它进程所见？</a:t>
            </a:r>
            <a:endParaRPr kumimoji="1" lang="en-US" altLang="zh-CN" dirty="0"/>
          </a:p>
          <a:p>
            <a:pPr lvl="1"/>
            <a:r>
              <a:rPr lang="zh-CN" altLang="en-US" dirty="0"/>
              <a:t>其它进程如何观察到写操作</a:t>
            </a:r>
            <a:r>
              <a:rPr lang="zh-CN" altLang="en-US" dirty="0" smtClean="0"/>
              <a:t>？写操作被观察到之前，</a:t>
            </a:r>
            <a:r>
              <a:rPr lang="en-US" altLang="zh-CN" dirty="0" smtClean="0"/>
              <a:t>P0/P1</a:t>
            </a:r>
            <a:r>
              <a:rPr lang="zh-CN" altLang="en-US" dirty="0" smtClean="0"/>
              <a:t>的读操作合法吗？</a:t>
            </a:r>
            <a:endParaRPr lang="en-US" altLang="zh-CN" dirty="0"/>
          </a:p>
          <a:p>
            <a:r>
              <a:rPr kumimoji="1" lang="zh-CN" altLang="en-US" dirty="0"/>
              <a:t>写命中时，写操作如何为其它进程所见</a:t>
            </a:r>
          </a:p>
        </p:txBody>
      </p:sp>
      <p:grpSp>
        <p:nvGrpSpPr>
          <p:cNvPr id="6" name="Group 123"/>
          <p:cNvGrpSpPr>
            <a:grpSpLocks/>
          </p:cNvGrpSpPr>
          <p:nvPr/>
        </p:nvGrpSpPr>
        <p:grpSpPr bwMode="auto">
          <a:xfrm>
            <a:off x="3276600" y="1539310"/>
            <a:ext cx="5778500" cy="3167063"/>
            <a:chOff x="1112" y="864"/>
            <a:chExt cx="3640" cy="1995"/>
          </a:xfrm>
        </p:grpSpPr>
        <p:sp>
          <p:nvSpPr>
            <p:cNvPr id="7" name="Line 4"/>
            <p:cNvSpPr>
              <a:spLocks noChangeShapeType="1"/>
            </p:cNvSpPr>
            <p:nvPr/>
          </p:nvSpPr>
          <p:spPr bwMode="auto">
            <a:xfrm>
              <a:off x="1112" y="2013"/>
              <a:ext cx="3388" cy="1"/>
            </a:xfrm>
            <a:prstGeom prst="line">
              <a:avLst/>
            </a:prstGeom>
            <a:noFill/>
            <a:ln w="26988">
              <a:solidFill>
                <a:srgbClr val="000000"/>
              </a:solidFill>
              <a:round/>
              <a:headEnd/>
              <a:tailEnd/>
            </a:ln>
          </p:spPr>
          <p:txBody>
            <a:bodyPr/>
            <a:lstStyle/>
            <a:p>
              <a:endParaRPr lang="zh-CN" altLang="en-US" sz="1600">
                <a:latin typeface="+mn-lt"/>
              </a:endParaRPr>
            </a:p>
          </p:txBody>
        </p:sp>
        <p:sp>
          <p:nvSpPr>
            <p:cNvPr id="8" name="Line 5"/>
            <p:cNvSpPr>
              <a:spLocks noChangeShapeType="1"/>
            </p:cNvSpPr>
            <p:nvPr/>
          </p:nvSpPr>
          <p:spPr bwMode="auto">
            <a:xfrm>
              <a:off x="2069" y="2013"/>
              <a:ext cx="1" cy="211"/>
            </a:xfrm>
            <a:prstGeom prst="line">
              <a:avLst/>
            </a:prstGeom>
            <a:noFill/>
            <a:ln w="26988">
              <a:solidFill>
                <a:srgbClr val="000000"/>
              </a:solidFill>
              <a:round/>
              <a:headEnd/>
              <a:tailEnd/>
            </a:ln>
          </p:spPr>
          <p:txBody>
            <a:bodyPr/>
            <a:lstStyle/>
            <a:p>
              <a:endParaRPr lang="zh-CN" altLang="en-US" sz="1600">
                <a:latin typeface="+mn-lt"/>
              </a:endParaRPr>
            </a:p>
          </p:txBody>
        </p:sp>
        <p:sp>
          <p:nvSpPr>
            <p:cNvPr id="9" name="Rectangle 6"/>
            <p:cNvSpPr>
              <a:spLocks noChangeArrowheads="1"/>
            </p:cNvSpPr>
            <p:nvPr/>
          </p:nvSpPr>
          <p:spPr bwMode="auto">
            <a:xfrm>
              <a:off x="1536" y="2208"/>
              <a:ext cx="1059" cy="635"/>
            </a:xfrm>
            <a:prstGeom prst="rect">
              <a:avLst/>
            </a:prstGeom>
            <a:solidFill>
              <a:srgbClr val="FFFFFF"/>
            </a:solidFill>
            <a:ln w="9525">
              <a:noFill/>
              <a:miter lim="800000"/>
              <a:headEnd/>
              <a:tailEnd/>
            </a:ln>
          </p:spPr>
          <p:txBody>
            <a:bodyPr/>
            <a:lstStyle/>
            <a:p>
              <a:endParaRPr lang="zh-CN" altLang="en-US">
                <a:latin typeface="+mn-lt"/>
              </a:endParaRPr>
            </a:p>
          </p:txBody>
        </p:sp>
        <p:sp>
          <p:nvSpPr>
            <p:cNvPr id="10" name="Rectangle 7"/>
            <p:cNvSpPr>
              <a:spLocks noChangeArrowheads="1"/>
            </p:cNvSpPr>
            <p:nvPr/>
          </p:nvSpPr>
          <p:spPr bwMode="auto">
            <a:xfrm>
              <a:off x="1536" y="2224"/>
              <a:ext cx="1059" cy="635"/>
            </a:xfrm>
            <a:prstGeom prst="rect">
              <a:avLst/>
            </a:prstGeom>
            <a:noFill/>
            <a:ln w="9525">
              <a:solidFill>
                <a:srgbClr val="000000"/>
              </a:solidFill>
              <a:miter lim="800000"/>
              <a:headEnd/>
              <a:tailEnd/>
            </a:ln>
          </p:spPr>
          <p:txBody>
            <a:bodyPr/>
            <a:lstStyle/>
            <a:p>
              <a:endParaRPr lang="zh-CN" altLang="en-US" sz="1600">
                <a:latin typeface="+mn-lt"/>
              </a:endParaRPr>
            </a:p>
          </p:txBody>
        </p:sp>
        <p:sp>
          <p:nvSpPr>
            <p:cNvPr id="11" name="Rectangle 8"/>
            <p:cNvSpPr>
              <a:spLocks noChangeArrowheads="1"/>
            </p:cNvSpPr>
            <p:nvPr/>
          </p:nvSpPr>
          <p:spPr bwMode="auto">
            <a:xfrm>
              <a:off x="3653" y="2273"/>
              <a:ext cx="367" cy="97"/>
            </a:xfrm>
            <a:prstGeom prst="rect">
              <a:avLst/>
            </a:prstGeom>
            <a:noFill/>
            <a:ln w="9525">
              <a:noFill/>
              <a:miter lim="800000"/>
              <a:headEnd/>
              <a:tailEnd/>
            </a:ln>
          </p:spPr>
          <p:txBody>
            <a:bodyPr wrap="none" lIns="0" tIns="0" rIns="0" bIns="0">
              <a:spAutoFit/>
            </a:bodyPr>
            <a:lstStyle/>
            <a:p>
              <a:pPr algn="l"/>
              <a:r>
                <a:rPr lang="en-US" altLang="zh-CN" sz="1000">
                  <a:solidFill>
                    <a:srgbClr val="000000"/>
                  </a:solidFill>
                  <a:latin typeface="+mn-lt"/>
                </a:rPr>
                <a:t>I/O devices</a:t>
              </a:r>
              <a:endParaRPr lang="en-US" altLang="zh-CN" sz="1600">
                <a:latin typeface="+mn-lt"/>
              </a:endParaRPr>
            </a:p>
          </p:txBody>
        </p:sp>
        <p:sp>
          <p:nvSpPr>
            <p:cNvPr id="12" name="Rectangle 9"/>
            <p:cNvSpPr>
              <a:spLocks noChangeArrowheads="1"/>
            </p:cNvSpPr>
            <p:nvPr/>
          </p:nvSpPr>
          <p:spPr bwMode="auto">
            <a:xfrm>
              <a:off x="1897" y="2710"/>
              <a:ext cx="281" cy="97"/>
            </a:xfrm>
            <a:prstGeom prst="rect">
              <a:avLst/>
            </a:prstGeom>
            <a:noFill/>
            <a:ln w="9525">
              <a:noFill/>
              <a:miter lim="800000"/>
              <a:headEnd/>
              <a:tailEnd/>
            </a:ln>
          </p:spPr>
          <p:txBody>
            <a:bodyPr wrap="none" lIns="0" tIns="0" rIns="0" bIns="0">
              <a:spAutoFit/>
            </a:bodyPr>
            <a:lstStyle/>
            <a:p>
              <a:pPr algn="l"/>
              <a:r>
                <a:rPr lang="en-US" altLang="zh-CN" sz="1000">
                  <a:solidFill>
                    <a:srgbClr val="000000"/>
                  </a:solidFill>
                  <a:latin typeface="+mn-lt"/>
                </a:rPr>
                <a:t>Memory</a:t>
              </a:r>
              <a:endParaRPr lang="en-US" altLang="zh-CN" sz="1600">
                <a:latin typeface="+mn-lt"/>
              </a:endParaRPr>
            </a:p>
          </p:txBody>
        </p:sp>
        <p:sp>
          <p:nvSpPr>
            <p:cNvPr id="13" name="Line 19"/>
            <p:cNvSpPr>
              <a:spLocks noChangeShapeType="1"/>
            </p:cNvSpPr>
            <p:nvPr/>
          </p:nvSpPr>
          <p:spPr bwMode="auto">
            <a:xfrm>
              <a:off x="3865" y="2013"/>
              <a:ext cx="1" cy="211"/>
            </a:xfrm>
            <a:prstGeom prst="line">
              <a:avLst/>
            </a:prstGeom>
            <a:noFill/>
            <a:ln w="26988">
              <a:solidFill>
                <a:srgbClr val="000000"/>
              </a:solidFill>
              <a:round/>
              <a:headEnd/>
              <a:tailEnd/>
            </a:ln>
          </p:spPr>
          <p:txBody>
            <a:bodyPr/>
            <a:lstStyle/>
            <a:p>
              <a:endParaRPr lang="zh-CN" altLang="en-US" sz="1600">
                <a:latin typeface="+mn-lt"/>
              </a:endParaRPr>
            </a:p>
          </p:txBody>
        </p:sp>
        <p:grpSp>
          <p:nvGrpSpPr>
            <p:cNvPr id="14" name="Group 59"/>
            <p:cNvGrpSpPr>
              <a:grpSpLocks/>
            </p:cNvGrpSpPr>
            <p:nvPr/>
          </p:nvGrpSpPr>
          <p:grpSpPr bwMode="auto">
            <a:xfrm>
              <a:off x="1784" y="2425"/>
              <a:ext cx="152" cy="116"/>
              <a:chOff x="1784" y="2425"/>
              <a:chExt cx="152" cy="116"/>
            </a:xfrm>
          </p:grpSpPr>
          <p:sp>
            <p:nvSpPr>
              <p:cNvPr id="36" name="Rectangle 60"/>
              <p:cNvSpPr>
                <a:spLocks noChangeArrowheads="1"/>
              </p:cNvSpPr>
              <p:nvPr/>
            </p:nvSpPr>
            <p:spPr bwMode="auto">
              <a:xfrm>
                <a:off x="1784" y="2425"/>
                <a:ext cx="50" cy="116"/>
              </a:xfrm>
              <a:prstGeom prst="rect">
                <a:avLst/>
              </a:prstGeom>
              <a:noFill/>
              <a:ln w="9525">
                <a:noFill/>
                <a:miter lim="800000"/>
                <a:headEnd/>
                <a:tailEnd/>
              </a:ln>
            </p:spPr>
            <p:txBody>
              <a:bodyPr wrap="none" lIns="0" tIns="0" rIns="0" bIns="0">
                <a:spAutoFit/>
              </a:bodyPr>
              <a:lstStyle/>
              <a:p>
                <a:pPr algn="l"/>
                <a:r>
                  <a:rPr lang="en-US" altLang="zh-CN" sz="1200" dirty="0">
                    <a:solidFill>
                      <a:schemeClr val="hlink"/>
                    </a:solidFill>
                    <a:latin typeface="+mn-lt"/>
                  </a:rPr>
                  <a:t>u</a:t>
                </a:r>
                <a:endParaRPr lang="en-US" altLang="zh-CN" sz="1400" dirty="0">
                  <a:solidFill>
                    <a:schemeClr val="hlink"/>
                  </a:solidFill>
                  <a:latin typeface="+mn-lt"/>
                </a:endParaRPr>
              </a:p>
            </p:txBody>
          </p:sp>
          <p:sp>
            <p:nvSpPr>
              <p:cNvPr id="37" name="Rectangle 61"/>
              <p:cNvSpPr>
                <a:spLocks noChangeArrowheads="1"/>
              </p:cNvSpPr>
              <p:nvPr/>
            </p:nvSpPr>
            <p:spPr bwMode="auto">
              <a:xfrm>
                <a:off x="1838" y="2425"/>
                <a:ext cx="98" cy="116"/>
              </a:xfrm>
              <a:prstGeom prst="rect">
                <a:avLst/>
              </a:prstGeom>
              <a:noFill/>
              <a:ln w="9525">
                <a:noFill/>
                <a:miter lim="800000"/>
                <a:headEnd/>
                <a:tailEnd/>
              </a:ln>
            </p:spPr>
            <p:txBody>
              <a:bodyPr wrap="none" lIns="0" tIns="0" rIns="0" bIns="0">
                <a:spAutoFit/>
              </a:bodyPr>
              <a:lstStyle/>
              <a:p>
                <a:pPr algn="l"/>
                <a:r>
                  <a:rPr lang="zh-CN" altLang="en-US" sz="1200" dirty="0">
                    <a:solidFill>
                      <a:schemeClr val="hlink"/>
                    </a:solidFill>
                    <a:latin typeface="+mn-lt"/>
                  </a:rPr>
                  <a:t> :5</a:t>
                </a:r>
                <a:endParaRPr lang="zh-CN" altLang="en-US" sz="1400" dirty="0">
                  <a:solidFill>
                    <a:schemeClr val="hlink"/>
                  </a:solidFill>
                  <a:latin typeface="+mn-lt"/>
                </a:endParaRPr>
              </a:p>
            </p:txBody>
          </p:sp>
        </p:grpSp>
        <p:grpSp>
          <p:nvGrpSpPr>
            <p:cNvPr id="15" name="Group 108"/>
            <p:cNvGrpSpPr>
              <a:grpSpLocks/>
            </p:cNvGrpSpPr>
            <p:nvPr/>
          </p:nvGrpSpPr>
          <p:grpSpPr bwMode="auto">
            <a:xfrm>
              <a:off x="1152" y="864"/>
              <a:ext cx="960" cy="1152"/>
              <a:chOff x="1152" y="864"/>
              <a:chExt cx="960" cy="1152"/>
            </a:xfrm>
          </p:grpSpPr>
          <p:sp>
            <p:nvSpPr>
              <p:cNvPr id="30" name="Rectangle 101"/>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31" name="Rectangle 102"/>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32" name="Rectangle 103"/>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33" name="Oval 104"/>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a:effectLst/>
            </p:spPr>
            <p:txBody>
              <a:bodyPr wrap="none" anchor="ctr"/>
              <a:lstStyle/>
              <a:p>
                <a:r>
                  <a:rPr lang="en-US" altLang="zh-CN" sz="1600">
                    <a:latin typeface="+mn-lt"/>
                  </a:rPr>
                  <a:t>P</a:t>
                </a:r>
                <a:r>
                  <a:rPr lang="en-US" altLang="zh-CN" sz="1600" baseline="-25000">
                    <a:latin typeface="+mn-lt"/>
                  </a:rPr>
                  <a:t>0</a:t>
                </a:r>
                <a:endParaRPr lang="en-US" altLang="zh-CN" sz="1600">
                  <a:latin typeface="+mn-lt"/>
                </a:endParaRPr>
              </a:p>
            </p:txBody>
          </p:sp>
          <p:sp>
            <p:nvSpPr>
              <p:cNvPr id="34" name="Line 106"/>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ffectLst/>
            </p:spPr>
            <p:txBody>
              <a:bodyPr wrap="none" anchor="ctr"/>
              <a:lstStyle/>
              <a:p>
                <a:endParaRPr lang="zh-CN" altLang="en-US" sz="1600">
                  <a:latin typeface="+mn-lt"/>
                </a:endParaRPr>
              </a:p>
            </p:txBody>
          </p:sp>
          <p:sp>
            <p:nvSpPr>
              <p:cNvPr id="35" name="Line 107"/>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ffectLst/>
            </p:spPr>
            <p:txBody>
              <a:bodyPr wrap="none" anchor="ctr"/>
              <a:lstStyle/>
              <a:p>
                <a:endParaRPr lang="zh-CN" altLang="en-US" sz="1600">
                  <a:latin typeface="+mn-lt"/>
                </a:endParaRPr>
              </a:p>
            </p:txBody>
          </p:sp>
        </p:grpSp>
        <p:grpSp>
          <p:nvGrpSpPr>
            <p:cNvPr id="16" name="Group 109"/>
            <p:cNvGrpSpPr>
              <a:grpSpLocks/>
            </p:cNvGrpSpPr>
            <p:nvPr/>
          </p:nvGrpSpPr>
          <p:grpSpPr bwMode="auto">
            <a:xfrm>
              <a:off x="2400" y="864"/>
              <a:ext cx="960" cy="1152"/>
              <a:chOff x="1152" y="864"/>
              <a:chExt cx="960" cy="1152"/>
            </a:xfrm>
          </p:grpSpPr>
          <p:sp>
            <p:nvSpPr>
              <p:cNvPr id="24" name="Rectangle 110"/>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25" name="Rectangle 111"/>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26" name="Rectangle 112"/>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27" name="Oval 113"/>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a:effectLst/>
            </p:spPr>
            <p:txBody>
              <a:bodyPr wrap="none" anchor="ctr"/>
              <a:lstStyle/>
              <a:p>
                <a:r>
                  <a:rPr lang="en-US" altLang="zh-CN" sz="1600">
                    <a:latin typeface="+mn-lt"/>
                  </a:rPr>
                  <a:t>P</a:t>
                </a:r>
                <a:r>
                  <a:rPr lang="en-US" altLang="zh-CN" sz="1600" baseline="-25000">
                    <a:latin typeface="+mn-lt"/>
                  </a:rPr>
                  <a:t>1</a:t>
                </a:r>
                <a:endParaRPr lang="en-US" altLang="zh-CN" sz="1600">
                  <a:latin typeface="+mn-lt"/>
                </a:endParaRPr>
              </a:p>
            </p:txBody>
          </p:sp>
          <p:sp>
            <p:nvSpPr>
              <p:cNvPr id="28" name="Line 114"/>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ffectLst/>
            </p:spPr>
            <p:txBody>
              <a:bodyPr wrap="none" anchor="ctr"/>
              <a:lstStyle/>
              <a:p>
                <a:endParaRPr lang="zh-CN" altLang="en-US" sz="1600">
                  <a:latin typeface="+mn-lt"/>
                </a:endParaRPr>
              </a:p>
            </p:txBody>
          </p:sp>
          <p:sp>
            <p:nvSpPr>
              <p:cNvPr id="29" name="Line 115"/>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ffectLst/>
            </p:spPr>
            <p:txBody>
              <a:bodyPr wrap="none" anchor="ctr"/>
              <a:lstStyle/>
              <a:p>
                <a:endParaRPr lang="zh-CN" altLang="en-US" sz="1600">
                  <a:latin typeface="+mn-lt"/>
                </a:endParaRPr>
              </a:p>
            </p:txBody>
          </p:sp>
        </p:grpSp>
        <p:grpSp>
          <p:nvGrpSpPr>
            <p:cNvPr id="17" name="Group 116"/>
            <p:cNvGrpSpPr>
              <a:grpSpLocks/>
            </p:cNvGrpSpPr>
            <p:nvPr/>
          </p:nvGrpSpPr>
          <p:grpSpPr bwMode="auto">
            <a:xfrm>
              <a:off x="3792" y="864"/>
              <a:ext cx="960" cy="1152"/>
              <a:chOff x="1152" y="864"/>
              <a:chExt cx="960" cy="1152"/>
            </a:xfrm>
          </p:grpSpPr>
          <p:sp>
            <p:nvSpPr>
              <p:cNvPr id="18" name="Rectangle 117"/>
              <p:cNvSpPr>
                <a:spLocks noChangeArrowheads="1"/>
              </p:cNvSpPr>
              <p:nvPr/>
            </p:nvSpPr>
            <p:spPr bwMode="auto">
              <a:xfrm>
                <a:off x="1152" y="1344"/>
                <a:ext cx="960" cy="432"/>
              </a:xfrm>
              <a:prstGeom prst="rect">
                <a:avLst/>
              </a:prstGeom>
              <a:solidFill>
                <a:schemeClr val="bg1"/>
              </a:solidFill>
              <a:ln w="28575">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19" name="Rectangle 118"/>
              <p:cNvSpPr>
                <a:spLocks noChangeArrowheads="1"/>
              </p:cNvSpPr>
              <p:nvPr/>
            </p:nvSpPr>
            <p:spPr bwMode="auto">
              <a:xfrm>
                <a:off x="1152" y="1488"/>
                <a:ext cx="192"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20" name="Rectangle 119"/>
              <p:cNvSpPr>
                <a:spLocks noChangeArrowheads="1"/>
              </p:cNvSpPr>
              <p:nvPr/>
            </p:nvSpPr>
            <p:spPr bwMode="auto">
              <a:xfrm>
                <a:off x="1344" y="1488"/>
                <a:ext cx="768" cy="144"/>
              </a:xfrm>
              <a:prstGeom prst="rect">
                <a:avLst/>
              </a:prstGeom>
              <a:solidFill>
                <a:schemeClr val="bg1"/>
              </a:solidFill>
              <a:ln w="12700">
                <a:solidFill>
                  <a:schemeClr val="tx1"/>
                </a:solidFill>
                <a:miter lim="800000"/>
                <a:headEnd type="none" w="sm" len="sm"/>
                <a:tailEnd type="none" w="sm" len="sm"/>
              </a:ln>
              <a:effectLst/>
            </p:spPr>
            <p:txBody>
              <a:bodyPr wrap="none" anchor="ctr"/>
              <a:lstStyle/>
              <a:p>
                <a:endParaRPr lang="zh-CN" altLang="en-US" sz="1600">
                  <a:latin typeface="+mn-lt"/>
                </a:endParaRPr>
              </a:p>
            </p:txBody>
          </p:sp>
          <p:sp>
            <p:nvSpPr>
              <p:cNvPr id="21" name="Oval 120"/>
              <p:cNvSpPr>
                <a:spLocks noChangeArrowheads="1"/>
              </p:cNvSpPr>
              <p:nvPr/>
            </p:nvSpPr>
            <p:spPr bwMode="auto">
              <a:xfrm>
                <a:off x="1440" y="864"/>
                <a:ext cx="336" cy="288"/>
              </a:xfrm>
              <a:prstGeom prst="ellipse">
                <a:avLst/>
              </a:prstGeom>
              <a:solidFill>
                <a:schemeClr val="bg1"/>
              </a:solidFill>
              <a:ln w="12700">
                <a:solidFill>
                  <a:schemeClr val="tx1"/>
                </a:solidFill>
                <a:round/>
                <a:headEnd type="none" w="sm" len="sm"/>
                <a:tailEnd type="none" w="sm" len="sm"/>
              </a:ln>
              <a:effectLst/>
            </p:spPr>
            <p:txBody>
              <a:bodyPr wrap="none" anchor="ctr"/>
              <a:lstStyle/>
              <a:p>
                <a:r>
                  <a:rPr lang="en-US" altLang="zh-CN" sz="1600">
                    <a:latin typeface="+mn-lt"/>
                  </a:rPr>
                  <a:t>P</a:t>
                </a:r>
                <a:r>
                  <a:rPr lang="en-US" altLang="zh-CN" sz="1600" baseline="-25000">
                    <a:latin typeface="+mn-lt"/>
                  </a:rPr>
                  <a:t>4</a:t>
                </a:r>
                <a:endParaRPr lang="en-US" altLang="zh-CN" sz="1600">
                  <a:latin typeface="+mn-lt"/>
                </a:endParaRPr>
              </a:p>
            </p:txBody>
          </p:sp>
          <p:sp>
            <p:nvSpPr>
              <p:cNvPr id="22" name="Line 121"/>
              <p:cNvSpPr>
                <a:spLocks noChangeShapeType="1"/>
              </p:cNvSpPr>
              <p:nvPr/>
            </p:nvSpPr>
            <p:spPr bwMode="auto">
              <a:xfrm>
                <a:off x="1584" y="1152"/>
                <a:ext cx="0" cy="192"/>
              </a:xfrm>
              <a:prstGeom prst="line">
                <a:avLst/>
              </a:prstGeom>
              <a:noFill/>
              <a:ln w="19050">
                <a:solidFill>
                  <a:schemeClr val="tx1"/>
                </a:solidFill>
                <a:round/>
                <a:headEnd type="none" w="sm" len="sm"/>
                <a:tailEnd type="none" w="sm" len="sm"/>
              </a:ln>
              <a:effectLst/>
            </p:spPr>
            <p:txBody>
              <a:bodyPr wrap="none" anchor="ctr"/>
              <a:lstStyle/>
              <a:p>
                <a:endParaRPr lang="zh-CN" altLang="en-US" sz="1600">
                  <a:latin typeface="+mn-lt"/>
                </a:endParaRPr>
              </a:p>
            </p:txBody>
          </p:sp>
          <p:sp>
            <p:nvSpPr>
              <p:cNvPr id="23" name="Line 122"/>
              <p:cNvSpPr>
                <a:spLocks noChangeShapeType="1"/>
              </p:cNvSpPr>
              <p:nvPr/>
            </p:nvSpPr>
            <p:spPr bwMode="auto">
              <a:xfrm>
                <a:off x="1536" y="1776"/>
                <a:ext cx="0" cy="240"/>
              </a:xfrm>
              <a:prstGeom prst="line">
                <a:avLst/>
              </a:prstGeom>
              <a:noFill/>
              <a:ln w="28575">
                <a:solidFill>
                  <a:schemeClr val="tx1"/>
                </a:solidFill>
                <a:round/>
                <a:headEnd type="none" w="sm" len="sm"/>
                <a:tailEnd type="none" w="sm" len="sm"/>
              </a:ln>
              <a:effectLst/>
            </p:spPr>
            <p:txBody>
              <a:bodyPr wrap="none" anchor="ctr"/>
              <a:lstStyle/>
              <a:p>
                <a:endParaRPr lang="zh-CN" altLang="en-US" sz="1600">
                  <a:latin typeface="+mn-lt"/>
                </a:endParaRPr>
              </a:p>
            </p:txBody>
          </p:sp>
        </p:grpSp>
      </p:grpSp>
      <p:sp>
        <p:nvSpPr>
          <p:cNvPr id="38" name="Text Box 124"/>
          <p:cNvSpPr txBox="1">
            <a:spLocks noChangeArrowheads="1"/>
          </p:cNvSpPr>
          <p:nvPr/>
        </p:nvSpPr>
        <p:spPr bwMode="auto">
          <a:xfrm>
            <a:off x="2895600" y="1615509"/>
            <a:ext cx="760144" cy="338554"/>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rgbClr val="114FFB"/>
                </a:solidFill>
                <a:latin typeface="+mn-lt"/>
              </a:rPr>
              <a:t>PrRd U</a:t>
            </a:r>
          </a:p>
        </p:txBody>
      </p:sp>
      <p:grpSp>
        <p:nvGrpSpPr>
          <p:cNvPr id="39" name="Group 130"/>
          <p:cNvGrpSpPr>
            <a:grpSpLocks/>
          </p:cNvGrpSpPr>
          <p:nvPr/>
        </p:nvGrpSpPr>
        <p:grpSpPr bwMode="auto">
          <a:xfrm>
            <a:off x="3032126" y="2492896"/>
            <a:ext cx="1125538" cy="338138"/>
            <a:chOff x="950" y="1495"/>
            <a:chExt cx="709" cy="213"/>
          </a:xfrm>
        </p:grpSpPr>
        <p:sp>
          <p:nvSpPr>
            <p:cNvPr id="40" name="Text Box 125"/>
            <p:cNvSpPr txBox="1">
              <a:spLocks noChangeArrowheads="1"/>
            </p:cNvSpPr>
            <p:nvPr/>
          </p:nvSpPr>
          <p:spPr bwMode="auto">
            <a:xfrm>
              <a:off x="950" y="1495"/>
              <a:ext cx="199" cy="213"/>
            </a:xfrm>
            <a:prstGeom prst="rect">
              <a:avLst/>
            </a:prstGeom>
            <a:noFill/>
            <a:ln w="12700">
              <a:noFill/>
              <a:miter lim="800000"/>
              <a:headEnd type="none" w="sm" len="sm"/>
              <a:tailEnd type="none" w="sm" len="sm"/>
            </a:ln>
            <a:effectLst/>
          </p:spPr>
          <p:txBody>
            <a:bodyPr wrap="none">
              <a:spAutoFit/>
            </a:bodyPr>
            <a:lstStyle/>
            <a:p>
              <a:pPr algn="l"/>
              <a:r>
                <a:rPr lang="en-US" altLang="zh-CN" sz="1600" dirty="0">
                  <a:solidFill>
                    <a:schemeClr val="hlink"/>
                  </a:solidFill>
                  <a:latin typeface="+mn-lt"/>
                </a:rPr>
                <a:t>U</a:t>
              </a:r>
            </a:p>
          </p:txBody>
        </p:sp>
        <p:sp>
          <p:nvSpPr>
            <p:cNvPr id="41" name="Text Box 126"/>
            <p:cNvSpPr txBox="1">
              <a:spLocks noChangeArrowheads="1"/>
            </p:cNvSpPr>
            <p:nvPr/>
          </p:nvSpPr>
          <p:spPr bwMode="auto">
            <a:xfrm>
              <a:off x="1142" y="1495"/>
              <a:ext cx="17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S</a:t>
              </a:r>
              <a:endParaRPr lang="en-US" altLang="zh-CN" sz="1600">
                <a:latin typeface="+mn-lt"/>
              </a:endParaRPr>
            </a:p>
          </p:txBody>
        </p:sp>
        <p:sp>
          <p:nvSpPr>
            <p:cNvPr id="42" name="Text Box 127"/>
            <p:cNvSpPr txBox="1">
              <a:spLocks noChangeArrowheads="1"/>
            </p:cNvSpPr>
            <p:nvPr/>
          </p:nvSpPr>
          <p:spPr bwMode="auto">
            <a:xfrm>
              <a:off x="1478" y="1495"/>
              <a:ext cx="181" cy="213"/>
            </a:xfrm>
            <a:prstGeom prst="rect">
              <a:avLst/>
            </a:prstGeom>
            <a:noFill/>
            <a:ln w="12700">
              <a:noFill/>
              <a:miter lim="800000"/>
              <a:headEnd type="none" w="sm" len="sm"/>
              <a:tailEnd type="none" w="sm" len="sm"/>
            </a:ln>
            <a:effectLst/>
          </p:spPr>
          <p:txBody>
            <a:bodyPr wrap="none">
              <a:spAutoFit/>
            </a:bodyPr>
            <a:lstStyle/>
            <a:p>
              <a:pPr algn="l"/>
              <a:r>
                <a:rPr lang="zh-CN" altLang="en-US" sz="1600">
                  <a:solidFill>
                    <a:schemeClr val="hlink"/>
                  </a:solidFill>
                  <a:latin typeface="+mn-lt"/>
                </a:rPr>
                <a:t>5</a:t>
              </a:r>
              <a:endParaRPr lang="zh-CN" altLang="en-US" sz="1600">
                <a:latin typeface="+mn-lt"/>
              </a:endParaRPr>
            </a:p>
          </p:txBody>
        </p:sp>
      </p:grpSp>
      <p:grpSp>
        <p:nvGrpSpPr>
          <p:cNvPr id="43" name="Group 131"/>
          <p:cNvGrpSpPr>
            <a:grpSpLocks/>
          </p:cNvGrpSpPr>
          <p:nvPr/>
        </p:nvGrpSpPr>
        <p:grpSpPr bwMode="auto">
          <a:xfrm>
            <a:off x="3108326" y="2682308"/>
            <a:ext cx="1539875" cy="1111250"/>
            <a:chOff x="998" y="1584"/>
            <a:chExt cx="970" cy="700"/>
          </a:xfrm>
        </p:grpSpPr>
        <p:sp>
          <p:nvSpPr>
            <p:cNvPr id="44" name="Line 128"/>
            <p:cNvSpPr>
              <a:spLocks noChangeShapeType="1"/>
            </p:cNvSpPr>
            <p:nvPr/>
          </p:nvSpPr>
          <p:spPr bwMode="auto">
            <a:xfrm flipH="1" flipV="1">
              <a:off x="1680" y="1584"/>
              <a:ext cx="288" cy="624"/>
            </a:xfrm>
            <a:prstGeom prst="line">
              <a:avLst/>
            </a:prstGeom>
            <a:noFill/>
            <a:ln w="12700">
              <a:solidFill>
                <a:schemeClr val="hlink"/>
              </a:solidFill>
              <a:round/>
              <a:headEnd type="none" w="sm" len="sm"/>
              <a:tailEnd type="triangle" w="med" len="med"/>
            </a:ln>
            <a:effectLst/>
          </p:spPr>
          <p:txBody>
            <a:bodyPr wrap="none" anchor="ctr"/>
            <a:lstStyle/>
            <a:p>
              <a:endParaRPr lang="zh-CN" altLang="en-US" sz="1600">
                <a:latin typeface="+mn-lt"/>
              </a:endParaRPr>
            </a:p>
          </p:txBody>
        </p:sp>
        <p:sp>
          <p:nvSpPr>
            <p:cNvPr id="45" name="Text Box 129"/>
            <p:cNvSpPr txBox="1">
              <a:spLocks noChangeArrowheads="1"/>
            </p:cNvSpPr>
            <p:nvPr/>
          </p:nvSpPr>
          <p:spPr bwMode="auto">
            <a:xfrm>
              <a:off x="998" y="2071"/>
              <a:ext cx="55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BusRd U</a:t>
              </a:r>
              <a:endParaRPr lang="en-US" altLang="zh-CN" sz="1600">
                <a:latin typeface="+mn-lt"/>
              </a:endParaRPr>
            </a:p>
          </p:txBody>
        </p:sp>
      </p:grpSp>
      <p:grpSp>
        <p:nvGrpSpPr>
          <p:cNvPr id="46" name="Group 141"/>
          <p:cNvGrpSpPr>
            <a:grpSpLocks/>
          </p:cNvGrpSpPr>
          <p:nvPr/>
        </p:nvGrpSpPr>
        <p:grpSpPr bwMode="auto">
          <a:xfrm>
            <a:off x="3124201" y="1615509"/>
            <a:ext cx="6475413" cy="2471738"/>
            <a:chOff x="1008" y="912"/>
            <a:chExt cx="4079" cy="1557"/>
          </a:xfrm>
        </p:grpSpPr>
        <p:sp>
          <p:nvSpPr>
            <p:cNvPr id="47" name="Text Box 132"/>
            <p:cNvSpPr txBox="1">
              <a:spLocks noChangeArrowheads="1"/>
            </p:cNvSpPr>
            <p:nvPr/>
          </p:nvSpPr>
          <p:spPr bwMode="auto">
            <a:xfrm>
              <a:off x="4608" y="912"/>
              <a:ext cx="479"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rgbClr val="114FFB"/>
                  </a:solidFill>
                  <a:latin typeface="+mn-lt"/>
                </a:rPr>
                <a:t>PrRd U</a:t>
              </a:r>
            </a:p>
          </p:txBody>
        </p:sp>
        <p:grpSp>
          <p:nvGrpSpPr>
            <p:cNvPr id="48" name="Group 136"/>
            <p:cNvGrpSpPr>
              <a:grpSpLocks/>
            </p:cNvGrpSpPr>
            <p:nvPr/>
          </p:nvGrpSpPr>
          <p:grpSpPr bwMode="auto">
            <a:xfrm>
              <a:off x="1008" y="1920"/>
              <a:ext cx="3024" cy="549"/>
              <a:chOff x="1008" y="1920"/>
              <a:chExt cx="3024" cy="549"/>
            </a:xfrm>
          </p:grpSpPr>
          <p:sp>
            <p:nvSpPr>
              <p:cNvPr id="49" name="Line 134"/>
              <p:cNvSpPr>
                <a:spLocks noChangeShapeType="1"/>
              </p:cNvSpPr>
              <p:nvPr/>
            </p:nvSpPr>
            <p:spPr bwMode="auto">
              <a:xfrm flipV="1">
                <a:off x="2064" y="1920"/>
                <a:ext cx="1968" cy="288"/>
              </a:xfrm>
              <a:prstGeom prst="line">
                <a:avLst/>
              </a:prstGeom>
              <a:noFill/>
              <a:ln w="12700">
                <a:solidFill>
                  <a:schemeClr val="hlink"/>
                </a:solidFill>
                <a:round/>
                <a:headEnd type="none" w="sm" len="sm"/>
                <a:tailEnd type="triangle" w="med" len="med"/>
              </a:ln>
              <a:effectLst/>
            </p:spPr>
            <p:txBody>
              <a:bodyPr wrap="none" anchor="ctr"/>
              <a:lstStyle/>
              <a:p>
                <a:endParaRPr lang="zh-CN" altLang="en-US" sz="1600">
                  <a:latin typeface="+mn-lt"/>
                </a:endParaRPr>
              </a:p>
            </p:txBody>
          </p:sp>
          <p:sp>
            <p:nvSpPr>
              <p:cNvPr id="50" name="Text Box 135"/>
              <p:cNvSpPr txBox="1">
                <a:spLocks noChangeArrowheads="1"/>
              </p:cNvSpPr>
              <p:nvPr/>
            </p:nvSpPr>
            <p:spPr bwMode="auto">
              <a:xfrm>
                <a:off x="1008" y="2256"/>
                <a:ext cx="55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BusRd U</a:t>
                </a:r>
                <a:endParaRPr lang="en-US" altLang="zh-CN" sz="1600">
                  <a:latin typeface="+mn-lt"/>
                </a:endParaRPr>
              </a:p>
            </p:txBody>
          </p:sp>
        </p:grpSp>
      </p:grpSp>
      <p:grpSp>
        <p:nvGrpSpPr>
          <p:cNvPr id="51" name="Group 137"/>
          <p:cNvGrpSpPr>
            <a:grpSpLocks/>
          </p:cNvGrpSpPr>
          <p:nvPr/>
        </p:nvGrpSpPr>
        <p:grpSpPr bwMode="auto">
          <a:xfrm>
            <a:off x="7239001" y="2529912"/>
            <a:ext cx="1125538" cy="338138"/>
            <a:chOff x="950" y="1495"/>
            <a:chExt cx="709" cy="213"/>
          </a:xfrm>
        </p:grpSpPr>
        <p:sp>
          <p:nvSpPr>
            <p:cNvPr id="52" name="Text Box 138"/>
            <p:cNvSpPr txBox="1">
              <a:spLocks noChangeArrowheads="1"/>
            </p:cNvSpPr>
            <p:nvPr/>
          </p:nvSpPr>
          <p:spPr bwMode="auto">
            <a:xfrm>
              <a:off x="950" y="1495"/>
              <a:ext cx="199"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U</a:t>
              </a:r>
            </a:p>
          </p:txBody>
        </p:sp>
        <p:sp>
          <p:nvSpPr>
            <p:cNvPr id="53" name="Text Box 139"/>
            <p:cNvSpPr txBox="1">
              <a:spLocks noChangeArrowheads="1"/>
            </p:cNvSpPr>
            <p:nvPr/>
          </p:nvSpPr>
          <p:spPr bwMode="auto">
            <a:xfrm>
              <a:off x="1142" y="1495"/>
              <a:ext cx="17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S</a:t>
              </a:r>
              <a:endParaRPr lang="en-US" altLang="zh-CN" sz="1600">
                <a:latin typeface="+mn-lt"/>
              </a:endParaRPr>
            </a:p>
          </p:txBody>
        </p:sp>
        <p:sp>
          <p:nvSpPr>
            <p:cNvPr id="54" name="Text Box 140"/>
            <p:cNvSpPr txBox="1">
              <a:spLocks noChangeArrowheads="1"/>
            </p:cNvSpPr>
            <p:nvPr/>
          </p:nvSpPr>
          <p:spPr bwMode="auto">
            <a:xfrm>
              <a:off x="1478" y="1495"/>
              <a:ext cx="181" cy="213"/>
            </a:xfrm>
            <a:prstGeom prst="rect">
              <a:avLst/>
            </a:prstGeom>
            <a:noFill/>
            <a:ln w="12700">
              <a:noFill/>
              <a:miter lim="800000"/>
              <a:headEnd type="none" w="sm" len="sm"/>
              <a:tailEnd type="none" w="sm" len="sm"/>
            </a:ln>
            <a:effectLst/>
          </p:spPr>
          <p:txBody>
            <a:bodyPr wrap="none">
              <a:spAutoFit/>
            </a:bodyPr>
            <a:lstStyle/>
            <a:p>
              <a:pPr algn="l"/>
              <a:r>
                <a:rPr lang="zh-CN" altLang="en-US" sz="1600">
                  <a:solidFill>
                    <a:schemeClr val="hlink"/>
                  </a:solidFill>
                  <a:latin typeface="+mn-lt"/>
                </a:rPr>
                <a:t>5</a:t>
              </a:r>
              <a:endParaRPr lang="zh-CN" altLang="en-US" sz="1600">
                <a:latin typeface="+mn-lt"/>
              </a:endParaRPr>
            </a:p>
          </p:txBody>
        </p:sp>
      </p:grpSp>
      <p:sp>
        <p:nvSpPr>
          <p:cNvPr id="55" name="Text Box 142"/>
          <p:cNvSpPr txBox="1">
            <a:spLocks noChangeArrowheads="1"/>
          </p:cNvSpPr>
          <p:nvPr/>
        </p:nvSpPr>
        <p:spPr bwMode="auto">
          <a:xfrm>
            <a:off x="8839200" y="1844109"/>
            <a:ext cx="940066" cy="338554"/>
          </a:xfrm>
          <a:prstGeom prst="rect">
            <a:avLst/>
          </a:prstGeom>
          <a:noFill/>
          <a:ln w="12700">
            <a:noFill/>
            <a:miter lim="800000"/>
            <a:headEnd type="none" w="sm" len="sm"/>
            <a:tailEnd type="none" w="sm" len="sm"/>
          </a:ln>
          <a:effectLst/>
        </p:spPr>
        <p:txBody>
          <a:bodyPr wrap="none">
            <a:spAutoFit/>
          </a:bodyPr>
          <a:lstStyle/>
          <a:p>
            <a:pPr algn="l"/>
            <a:r>
              <a:rPr lang="en-US" altLang="zh-CN" sz="1600" dirty="0" err="1">
                <a:solidFill>
                  <a:srgbClr val="008000"/>
                </a:solidFill>
                <a:latin typeface="+mn-lt"/>
              </a:rPr>
              <a:t>PrWr</a:t>
            </a:r>
            <a:r>
              <a:rPr lang="en-US" altLang="zh-CN" sz="1600" dirty="0">
                <a:solidFill>
                  <a:srgbClr val="008000"/>
                </a:solidFill>
                <a:latin typeface="+mn-lt"/>
              </a:rPr>
              <a:t> U 7</a:t>
            </a:r>
          </a:p>
        </p:txBody>
      </p:sp>
      <p:grpSp>
        <p:nvGrpSpPr>
          <p:cNvPr id="56" name="Group 147"/>
          <p:cNvGrpSpPr>
            <a:grpSpLocks/>
          </p:cNvGrpSpPr>
          <p:nvPr/>
        </p:nvGrpSpPr>
        <p:grpSpPr bwMode="auto">
          <a:xfrm>
            <a:off x="7239001" y="2529912"/>
            <a:ext cx="1125538" cy="338138"/>
            <a:chOff x="950" y="1495"/>
            <a:chExt cx="709" cy="213"/>
          </a:xfrm>
        </p:grpSpPr>
        <p:sp>
          <p:nvSpPr>
            <p:cNvPr id="57" name="Text Box 148"/>
            <p:cNvSpPr txBox="1">
              <a:spLocks noChangeArrowheads="1"/>
            </p:cNvSpPr>
            <p:nvPr/>
          </p:nvSpPr>
          <p:spPr bwMode="auto">
            <a:xfrm>
              <a:off x="950" y="1495"/>
              <a:ext cx="199"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accent2"/>
                  </a:solidFill>
                  <a:latin typeface="+mn-lt"/>
                </a:rPr>
                <a:t>U</a:t>
              </a:r>
            </a:p>
          </p:txBody>
        </p:sp>
        <p:sp>
          <p:nvSpPr>
            <p:cNvPr id="58" name="Text Box 149"/>
            <p:cNvSpPr txBox="1">
              <a:spLocks noChangeArrowheads="1"/>
            </p:cNvSpPr>
            <p:nvPr/>
          </p:nvSpPr>
          <p:spPr bwMode="auto">
            <a:xfrm>
              <a:off x="1142" y="1495"/>
              <a:ext cx="22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accent2"/>
                  </a:solidFill>
                  <a:latin typeface="+mn-lt"/>
                </a:rPr>
                <a:t>M</a:t>
              </a:r>
            </a:p>
          </p:txBody>
        </p:sp>
        <p:sp>
          <p:nvSpPr>
            <p:cNvPr id="59" name="Text Box 150"/>
            <p:cNvSpPr txBox="1">
              <a:spLocks noChangeArrowheads="1"/>
            </p:cNvSpPr>
            <p:nvPr/>
          </p:nvSpPr>
          <p:spPr bwMode="auto">
            <a:xfrm>
              <a:off x="1478" y="1495"/>
              <a:ext cx="181" cy="213"/>
            </a:xfrm>
            <a:prstGeom prst="rect">
              <a:avLst/>
            </a:prstGeom>
            <a:noFill/>
            <a:ln w="12700">
              <a:noFill/>
              <a:miter lim="800000"/>
              <a:headEnd type="none" w="sm" len="sm"/>
              <a:tailEnd type="none" w="sm" len="sm"/>
            </a:ln>
            <a:effectLst/>
          </p:spPr>
          <p:txBody>
            <a:bodyPr wrap="none">
              <a:spAutoFit/>
            </a:bodyPr>
            <a:lstStyle/>
            <a:p>
              <a:pPr algn="l"/>
              <a:r>
                <a:rPr lang="zh-CN" altLang="en-US" sz="1600">
                  <a:solidFill>
                    <a:schemeClr val="accent2"/>
                  </a:solidFill>
                  <a:latin typeface="+mn-lt"/>
                </a:rPr>
                <a:t>7</a:t>
              </a:r>
            </a:p>
          </p:txBody>
        </p:sp>
      </p:grpSp>
      <p:grpSp>
        <p:nvGrpSpPr>
          <p:cNvPr id="60" name="Group 153"/>
          <p:cNvGrpSpPr>
            <a:grpSpLocks/>
          </p:cNvGrpSpPr>
          <p:nvPr/>
        </p:nvGrpSpPr>
        <p:grpSpPr bwMode="auto">
          <a:xfrm>
            <a:off x="2895600" y="2529910"/>
            <a:ext cx="4953000" cy="1862138"/>
            <a:chOff x="864" y="1488"/>
            <a:chExt cx="3120" cy="1173"/>
          </a:xfrm>
        </p:grpSpPr>
        <p:grpSp>
          <p:nvGrpSpPr>
            <p:cNvPr id="61" name="Group 151"/>
            <p:cNvGrpSpPr>
              <a:grpSpLocks/>
            </p:cNvGrpSpPr>
            <p:nvPr/>
          </p:nvGrpSpPr>
          <p:grpSpPr bwMode="auto">
            <a:xfrm>
              <a:off x="864" y="1488"/>
              <a:ext cx="816" cy="1173"/>
              <a:chOff x="864" y="1488"/>
              <a:chExt cx="816" cy="1173"/>
            </a:xfrm>
          </p:grpSpPr>
          <p:sp>
            <p:nvSpPr>
              <p:cNvPr id="63" name="Text Box 143"/>
              <p:cNvSpPr txBox="1">
                <a:spLocks noChangeArrowheads="1"/>
              </p:cNvSpPr>
              <p:nvPr/>
            </p:nvSpPr>
            <p:spPr bwMode="auto">
              <a:xfrm>
                <a:off x="864" y="2448"/>
                <a:ext cx="611" cy="213"/>
              </a:xfrm>
              <a:prstGeom prst="rect">
                <a:avLst/>
              </a:prstGeom>
              <a:noFill/>
              <a:ln w="12700">
                <a:noFill/>
                <a:miter lim="800000"/>
                <a:headEnd type="none" w="sm" len="sm"/>
                <a:tailEnd type="none" w="sm" len="sm"/>
              </a:ln>
              <a:effectLst/>
            </p:spPr>
            <p:txBody>
              <a:bodyPr wrap="none">
                <a:spAutoFit/>
              </a:bodyPr>
              <a:lstStyle/>
              <a:p>
                <a:pPr algn="l"/>
                <a:r>
                  <a:rPr lang="en-US" altLang="zh-CN" sz="1600" dirty="0" err="1">
                    <a:solidFill>
                      <a:srgbClr val="008000"/>
                    </a:solidFill>
                    <a:latin typeface="+mn-lt"/>
                  </a:rPr>
                  <a:t>BusRdx</a:t>
                </a:r>
                <a:r>
                  <a:rPr lang="en-US" altLang="zh-CN" sz="1600" dirty="0">
                    <a:solidFill>
                      <a:srgbClr val="008000"/>
                    </a:solidFill>
                    <a:latin typeface="+mn-lt"/>
                  </a:rPr>
                  <a:t> U</a:t>
                </a:r>
              </a:p>
            </p:txBody>
          </p:sp>
          <p:sp>
            <p:nvSpPr>
              <p:cNvPr id="64" name="Line 145"/>
              <p:cNvSpPr>
                <a:spLocks noChangeShapeType="1"/>
              </p:cNvSpPr>
              <p:nvPr/>
            </p:nvSpPr>
            <p:spPr bwMode="auto">
              <a:xfrm flipH="1">
                <a:off x="1152" y="1488"/>
                <a:ext cx="192" cy="144"/>
              </a:xfrm>
              <a:prstGeom prst="line">
                <a:avLst/>
              </a:prstGeom>
              <a:noFill/>
              <a:ln w="12700">
                <a:solidFill>
                  <a:schemeClr val="tx1"/>
                </a:solidFill>
                <a:round/>
                <a:headEnd type="none" w="sm" len="sm"/>
                <a:tailEnd type="none" w="sm" len="sm"/>
              </a:ln>
              <a:effectLst/>
            </p:spPr>
            <p:txBody>
              <a:bodyPr wrap="none" anchor="ctr"/>
              <a:lstStyle/>
              <a:p>
                <a:endParaRPr lang="zh-CN" altLang="en-US" sz="1600">
                  <a:latin typeface="+mn-lt"/>
                </a:endParaRPr>
              </a:p>
            </p:txBody>
          </p:sp>
          <p:sp>
            <p:nvSpPr>
              <p:cNvPr id="65" name="Line 146"/>
              <p:cNvSpPr>
                <a:spLocks noChangeShapeType="1"/>
              </p:cNvSpPr>
              <p:nvPr/>
            </p:nvSpPr>
            <p:spPr bwMode="auto">
              <a:xfrm flipV="1">
                <a:off x="1488" y="1488"/>
                <a:ext cx="192" cy="144"/>
              </a:xfrm>
              <a:prstGeom prst="line">
                <a:avLst/>
              </a:prstGeom>
              <a:noFill/>
              <a:ln w="12700">
                <a:solidFill>
                  <a:schemeClr val="tx1"/>
                </a:solidFill>
                <a:round/>
                <a:headEnd type="none" w="sm" len="sm"/>
                <a:tailEnd type="none" w="sm" len="sm"/>
              </a:ln>
              <a:effectLst/>
            </p:spPr>
            <p:txBody>
              <a:bodyPr wrap="none" anchor="ctr"/>
              <a:lstStyle/>
              <a:p>
                <a:endParaRPr lang="zh-CN" altLang="en-US" sz="1600">
                  <a:latin typeface="+mn-lt"/>
                </a:endParaRPr>
              </a:p>
            </p:txBody>
          </p:sp>
        </p:grpSp>
        <p:sp>
          <p:nvSpPr>
            <p:cNvPr id="62" name="Line 152"/>
            <p:cNvSpPr>
              <a:spLocks noChangeShapeType="1"/>
            </p:cNvSpPr>
            <p:nvPr/>
          </p:nvSpPr>
          <p:spPr bwMode="auto">
            <a:xfrm flipH="1">
              <a:off x="3792" y="1488"/>
              <a:ext cx="192" cy="144"/>
            </a:xfrm>
            <a:prstGeom prst="line">
              <a:avLst/>
            </a:prstGeom>
            <a:noFill/>
            <a:ln w="12700">
              <a:solidFill>
                <a:schemeClr val="tx1"/>
              </a:solidFill>
              <a:round/>
              <a:headEnd type="none" w="sm" len="sm"/>
              <a:tailEnd type="none" w="sm" len="sm"/>
            </a:ln>
            <a:effectLst/>
          </p:spPr>
          <p:txBody>
            <a:bodyPr wrap="none" anchor="ctr"/>
            <a:lstStyle/>
            <a:p>
              <a:endParaRPr lang="zh-CN" altLang="en-US" sz="1600">
                <a:latin typeface="+mn-lt"/>
              </a:endParaRPr>
            </a:p>
          </p:txBody>
        </p:sp>
      </p:grpSp>
      <p:sp>
        <p:nvSpPr>
          <p:cNvPr id="66" name="Text Box 158"/>
          <p:cNvSpPr txBox="1">
            <a:spLocks noChangeArrowheads="1"/>
          </p:cNvSpPr>
          <p:nvPr/>
        </p:nvSpPr>
        <p:spPr bwMode="auto">
          <a:xfrm>
            <a:off x="4953000" y="1539309"/>
            <a:ext cx="760144" cy="338554"/>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rgbClr val="114FFB"/>
                </a:solidFill>
                <a:latin typeface="+mn-lt"/>
              </a:rPr>
              <a:t>PrRd U</a:t>
            </a:r>
          </a:p>
        </p:txBody>
      </p:sp>
      <p:grpSp>
        <p:nvGrpSpPr>
          <p:cNvPr id="67" name="Group 165"/>
          <p:cNvGrpSpPr>
            <a:grpSpLocks/>
          </p:cNvGrpSpPr>
          <p:nvPr/>
        </p:nvGrpSpPr>
        <p:grpSpPr bwMode="auto">
          <a:xfrm>
            <a:off x="4495800" y="2493398"/>
            <a:ext cx="3868738" cy="1822451"/>
            <a:chOff x="1872" y="1465"/>
            <a:chExt cx="2437" cy="1148"/>
          </a:xfrm>
        </p:grpSpPr>
        <p:grpSp>
          <p:nvGrpSpPr>
            <p:cNvPr id="68" name="Group 163"/>
            <p:cNvGrpSpPr>
              <a:grpSpLocks/>
            </p:cNvGrpSpPr>
            <p:nvPr/>
          </p:nvGrpSpPr>
          <p:grpSpPr bwMode="auto">
            <a:xfrm>
              <a:off x="2208" y="1465"/>
              <a:ext cx="2101" cy="213"/>
              <a:chOff x="2208" y="1465"/>
              <a:chExt cx="2101" cy="213"/>
            </a:xfrm>
          </p:grpSpPr>
          <p:grpSp>
            <p:nvGrpSpPr>
              <p:cNvPr id="70" name="Group 154"/>
              <p:cNvGrpSpPr>
                <a:grpSpLocks/>
              </p:cNvGrpSpPr>
              <p:nvPr/>
            </p:nvGrpSpPr>
            <p:grpSpPr bwMode="auto">
              <a:xfrm>
                <a:off x="2208" y="1465"/>
                <a:ext cx="709" cy="213"/>
                <a:chOff x="950" y="1472"/>
                <a:chExt cx="709" cy="213"/>
              </a:xfrm>
            </p:grpSpPr>
            <p:sp>
              <p:nvSpPr>
                <p:cNvPr id="75" name="Text Box 155"/>
                <p:cNvSpPr txBox="1">
                  <a:spLocks noChangeArrowheads="1"/>
                </p:cNvSpPr>
                <p:nvPr/>
              </p:nvSpPr>
              <p:spPr bwMode="auto">
                <a:xfrm>
                  <a:off x="950" y="1472"/>
                  <a:ext cx="199" cy="213"/>
                </a:xfrm>
                <a:prstGeom prst="rect">
                  <a:avLst/>
                </a:prstGeom>
                <a:noFill/>
                <a:ln w="12700">
                  <a:noFill/>
                  <a:miter lim="800000"/>
                  <a:headEnd type="none" w="sm" len="sm"/>
                  <a:tailEnd type="none" w="sm" len="sm"/>
                </a:ln>
                <a:effectLst/>
              </p:spPr>
              <p:txBody>
                <a:bodyPr wrap="none">
                  <a:spAutoFit/>
                </a:bodyPr>
                <a:lstStyle/>
                <a:p>
                  <a:pPr algn="l"/>
                  <a:r>
                    <a:rPr lang="en-US" altLang="zh-CN" sz="1600" dirty="0">
                      <a:solidFill>
                        <a:schemeClr val="hlink"/>
                      </a:solidFill>
                      <a:latin typeface="+mn-lt"/>
                    </a:rPr>
                    <a:t>U</a:t>
                  </a:r>
                </a:p>
              </p:txBody>
            </p:sp>
            <p:sp>
              <p:nvSpPr>
                <p:cNvPr id="76" name="Text Box 156"/>
                <p:cNvSpPr txBox="1">
                  <a:spLocks noChangeArrowheads="1"/>
                </p:cNvSpPr>
                <p:nvPr/>
              </p:nvSpPr>
              <p:spPr bwMode="auto">
                <a:xfrm>
                  <a:off x="1142" y="1472"/>
                  <a:ext cx="176" cy="213"/>
                </a:xfrm>
                <a:prstGeom prst="rect">
                  <a:avLst/>
                </a:prstGeom>
                <a:noFill/>
                <a:ln w="12700">
                  <a:noFill/>
                  <a:miter lim="800000"/>
                  <a:headEnd type="none" w="sm" len="sm"/>
                  <a:tailEnd type="none" w="sm" len="sm"/>
                </a:ln>
                <a:effectLst/>
              </p:spPr>
              <p:txBody>
                <a:bodyPr wrap="none">
                  <a:spAutoFit/>
                </a:bodyPr>
                <a:lstStyle/>
                <a:p>
                  <a:pPr algn="l"/>
                  <a:r>
                    <a:rPr lang="en-US" altLang="zh-CN" sz="1600" dirty="0">
                      <a:solidFill>
                        <a:schemeClr val="hlink"/>
                      </a:solidFill>
                      <a:latin typeface="+mn-lt"/>
                    </a:rPr>
                    <a:t>S</a:t>
                  </a:r>
                  <a:endParaRPr lang="en-US" altLang="zh-CN" sz="1600" dirty="0">
                    <a:latin typeface="+mn-lt"/>
                  </a:endParaRPr>
                </a:p>
              </p:txBody>
            </p:sp>
            <p:sp>
              <p:nvSpPr>
                <p:cNvPr id="77" name="Text Box 157"/>
                <p:cNvSpPr txBox="1">
                  <a:spLocks noChangeArrowheads="1"/>
                </p:cNvSpPr>
                <p:nvPr/>
              </p:nvSpPr>
              <p:spPr bwMode="auto">
                <a:xfrm>
                  <a:off x="1478" y="1472"/>
                  <a:ext cx="181" cy="213"/>
                </a:xfrm>
                <a:prstGeom prst="rect">
                  <a:avLst/>
                </a:prstGeom>
                <a:noFill/>
                <a:ln w="12700">
                  <a:noFill/>
                  <a:miter lim="800000"/>
                  <a:headEnd type="none" w="sm" len="sm"/>
                  <a:tailEnd type="none" w="sm" len="sm"/>
                </a:ln>
                <a:effectLst/>
              </p:spPr>
              <p:txBody>
                <a:bodyPr wrap="none">
                  <a:spAutoFit/>
                </a:bodyPr>
                <a:lstStyle/>
                <a:p>
                  <a:pPr algn="l"/>
                  <a:r>
                    <a:rPr lang="zh-CN" altLang="en-US" sz="1600">
                      <a:solidFill>
                        <a:schemeClr val="hlink"/>
                      </a:solidFill>
                      <a:latin typeface="+mn-lt"/>
                    </a:rPr>
                    <a:t>7</a:t>
                  </a:r>
                  <a:endParaRPr lang="zh-CN" altLang="en-US" sz="1600">
                    <a:latin typeface="+mn-lt"/>
                  </a:endParaRPr>
                </a:p>
              </p:txBody>
            </p:sp>
          </p:grpSp>
          <p:grpSp>
            <p:nvGrpSpPr>
              <p:cNvPr id="71" name="Group 159"/>
              <p:cNvGrpSpPr>
                <a:grpSpLocks/>
              </p:cNvGrpSpPr>
              <p:nvPr/>
            </p:nvGrpSpPr>
            <p:grpSpPr bwMode="auto">
              <a:xfrm>
                <a:off x="3600" y="1465"/>
                <a:ext cx="709" cy="213"/>
                <a:chOff x="950" y="1472"/>
                <a:chExt cx="709" cy="213"/>
              </a:xfrm>
            </p:grpSpPr>
            <p:sp>
              <p:nvSpPr>
                <p:cNvPr id="72" name="Text Box 160"/>
                <p:cNvSpPr txBox="1">
                  <a:spLocks noChangeArrowheads="1"/>
                </p:cNvSpPr>
                <p:nvPr/>
              </p:nvSpPr>
              <p:spPr bwMode="auto">
                <a:xfrm>
                  <a:off x="950" y="1472"/>
                  <a:ext cx="199" cy="213"/>
                </a:xfrm>
                <a:prstGeom prst="rect">
                  <a:avLst/>
                </a:prstGeom>
                <a:noFill/>
                <a:ln w="12700">
                  <a:noFill/>
                  <a:miter lim="800000"/>
                  <a:headEnd type="none" w="sm" len="sm"/>
                  <a:tailEnd type="none" w="sm" len="sm"/>
                </a:ln>
                <a:effectLst/>
              </p:spPr>
              <p:txBody>
                <a:bodyPr wrap="none">
                  <a:spAutoFit/>
                </a:bodyPr>
                <a:lstStyle/>
                <a:p>
                  <a:pPr algn="l"/>
                  <a:r>
                    <a:rPr lang="en-US" altLang="zh-CN" sz="1600" dirty="0">
                      <a:solidFill>
                        <a:schemeClr val="hlink"/>
                      </a:solidFill>
                      <a:latin typeface="+mn-lt"/>
                    </a:rPr>
                    <a:t>U</a:t>
                  </a:r>
                </a:p>
              </p:txBody>
            </p:sp>
            <p:sp>
              <p:nvSpPr>
                <p:cNvPr id="73" name="Text Box 161"/>
                <p:cNvSpPr txBox="1">
                  <a:spLocks noChangeArrowheads="1"/>
                </p:cNvSpPr>
                <p:nvPr/>
              </p:nvSpPr>
              <p:spPr bwMode="auto">
                <a:xfrm>
                  <a:off x="1142" y="1472"/>
                  <a:ext cx="176" cy="213"/>
                </a:xfrm>
                <a:prstGeom prst="rect">
                  <a:avLst/>
                </a:prstGeom>
                <a:noFill/>
                <a:ln w="12700">
                  <a:noFill/>
                  <a:miter lim="800000"/>
                  <a:headEnd type="none" w="sm" len="sm"/>
                  <a:tailEnd type="none" w="sm" len="sm"/>
                </a:ln>
                <a:effectLst/>
              </p:spPr>
              <p:txBody>
                <a:bodyPr wrap="none">
                  <a:spAutoFit/>
                </a:bodyPr>
                <a:lstStyle/>
                <a:p>
                  <a:pPr algn="l"/>
                  <a:r>
                    <a:rPr lang="en-US" altLang="zh-CN" sz="1600">
                      <a:solidFill>
                        <a:schemeClr val="hlink"/>
                      </a:solidFill>
                      <a:latin typeface="+mn-lt"/>
                    </a:rPr>
                    <a:t>S</a:t>
                  </a:r>
                  <a:endParaRPr lang="en-US" altLang="zh-CN" sz="1600">
                    <a:latin typeface="+mn-lt"/>
                  </a:endParaRPr>
                </a:p>
              </p:txBody>
            </p:sp>
            <p:sp>
              <p:nvSpPr>
                <p:cNvPr id="74" name="Text Box 162"/>
                <p:cNvSpPr txBox="1">
                  <a:spLocks noChangeArrowheads="1"/>
                </p:cNvSpPr>
                <p:nvPr/>
              </p:nvSpPr>
              <p:spPr bwMode="auto">
                <a:xfrm>
                  <a:off x="1478" y="1472"/>
                  <a:ext cx="181" cy="213"/>
                </a:xfrm>
                <a:prstGeom prst="rect">
                  <a:avLst/>
                </a:prstGeom>
                <a:noFill/>
                <a:ln w="12700">
                  <a:noFill/>
                  <a:miter lim="800000"/>
                  <a:headEnd type="none" w="sm" len="sm"/>
                  <a:tailEnd type="none" w="sm" len="sm"/>
                </a:ln>
                <a:effectLst/>
              </p:spPr>
              <p:txBody>
                <a:bodyPr wrap="none">
                  <a:spAutoFit/>
                </a:bodyPr>
                <a:lstStyle/>
                <a:p>
                  <a:pPr algn="l"/>
                  <a:r>
                    <a:rPr lang="zh-CN" altLang="en-US" sz="1600" dirty="0">
                      <a:solidFill>
                        <a:schemeClr val="hlink"/>
                      </a:solidFill>
                      <a:latin typeface="+mn-lt"/>
                    </a:rPr>
                    <a:t>7</a:t>
                  </a:r>
                  <a:endParaRPr lang="zh-CN" altLang="en-US" sz="1600" dirty="0">
                    <a:latin typeface="+mn-lt"/>
                  </a:endParaRPr>
                </a:p>
              </p:txBody>
            </p:sp>
          </p:grpSp>
        </p:grpSp>
        <p:sp>
          <p:nvSpPr>
            <p:cNvPr id="69" name="Text Box 164"/>
            <p:cNvSpPr txBox="1">
              <a:spLocks noChangeArrowheads="1"/>
            </p:cNvSpPr>
            <p:nvPr/>
          </p:nvSpPr>
          <p:spPr bwMode="auto">
            <a:xfrm>
              <a:off x="1872" y="2400"/>
              <a:ext cx="116" cy="213"/>
            </a:xfrm>
            <a:prstGeom prst="rect">
              <a:avLst/>
            </a:prstGeom>
            <a:noFill/>
            <a:ln w="12700">
              <a:noFill/>
              <a:miter lim="800000"/>
              <a:headEnd type="none" w="sm" len="sm"/>
              <a:tailEnd type="none" w="sm" len="sm"/>
            </a:ln>
            <a:effectLst/>
          </p:spPr>
          <p:txBody>
            <a:bodyPr>
              <a:spAutoFit/>
            </a:bodyPr>
            <a:lstStyle/>
            <a:p>
              <a:pPr algn="l">
                <a:spcBef>
                  <a:spcPct val="50000"/>
                </a:spcBef>
              </a:pPr>
              <a:r>
                <a:rPr lang="zh-CN" altLang="en-US" sz="1600">
                  <a:latin typeface="+mn-lt"/>
                </a:rPr>
                <a:t>7</a:t>
              </a:r>
            </a:p>
          </p:txBody>
        </p:sp>
      </p:grpSp>
      <p:sp>
        <p:nvSpPr>
          <p:cNvPr id="78" name="Text Box 166"/>
          <p:cNvSpPr txBox="1">
            <a:spLocks noChangeArrowheads="1"/>
          </p:cNvSpPr>
          <p:nvPr/>
        </p:nvSpPr>
        <p:spPr bwMode="auto">
          <a:xfrm>
            <a:off x="2971801" y="4358709"/>
            <a:ext cx="704039" cy="338554"/>
          </a:xfrm>
          <a:prstGeom prst="rect">
            <a:avLst/>
          </a:prstGeom>
          <a:noFill/>
          <a:ln w="12700">
            <a:noFill/>
            <a:miter lim="800000"/>
            <a:headEnd type="none" w="sm" len="sm"/>
            <a:tailEnd type="none" w="sm" len="sm"/>
          </a:ln>
          <a:effectLst/>
        </p:spPr>
        <p:txBody>
          <a:bodyPr wrap="none">
            <a:spAutoFit/>
          </a:bodyPr>
          <a:lstStyle/>
          <a:p>
            <a:pPr algn="l"/>
            <a:r>
              <a:rPr lang="en-US" altLang="zh-CN" sz="1600">
                <a:latin typeface="+mn-lt"/>
              </a:rPr>
              <a:t>BusRd</a:t>
            </a:r>
          </a:p>
        </p:txBody>
      </p:sp>
      <p:sp>
        <p:nvSpPr>
          <p:cNvPr id="79" name="Text Box 167"/>
          <p:cNvSpPr txBox="1">
            <a:spLocks noChangeArrowheads="1"/>
          </p:cNvSpPr>
          <p:nvPr/>
        </p:nvSpPr>
        <p:spPr bwMode="auto">
          <a:xfrm>
            <a:off x="2955926" y="4674622"/>
            <a:ext cx="620683" cy="338554"/>
          </a:xfrm>
          <a:prstGeom prst="rect">
            <a:avLst/>
          </a:prstGeom>
          <a:noFill/>
          <a:ln w="12700">
            <a:noFill/>
            <a:miter lim="800000"/>
            <a:headEnd type="none" w="sm" len="sm"/>
            <a:tailEnd type="none" w="sm" len="sm"/>
          </a:ln>
          <a:effectLst/>
        </p:spPr>
        <p:txBody>
          <a:bodyPr wrap="none">
            <a:spAutoFit/>
          </a:bodyPr>
          <a:lstStyle/>
          <a:p>
            <a:pPr algn="l"/>
            <a:r>
              <a:rPr lang="en-US" altLang="zh-CN" sz="1600">
                <a:latin typeface="+mn-lt"/>
              </a:rPr>
              <a:t>Flush</a:t>
            </a:r>
          </a:p>
        </p:txBody>
      </p:sp>
    </p:spTree>
    <p:extLst>
      <p:ext uri="{BB962C8B-B14F-4D97-AF65-F5344CB8AC3E}">
        <p14:creationId xmlns:p14="http://schemas.microsoft.com/office/powerpoint/2010/main" val="399969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down)">
                                      <p:cBhvr>
                                        <p:cTn id="11" dur="500"/>
                                        <p:tgtEl>
                                          <p:spTgt spid="43"/>
                                        </p:tgtEl>
                                      </p:cBhvr>
                                    </p:animEffect>
                                  </p:childTnLst>
                                  <p:subTnLst>
                                    <p:animClr clrSpc="rgb" dir="cw">
                                      <p:cBhvr override="childStyle">
                                        <p:cTn dur="1" fill="hold" display="0" masterRel="nextClick" afterEffect="1"/>
                                        <p:tgtEl>
                                          <p:spTgt spid="43"/>
                                        </p:tgtEl>
                                        <p:attrNameLst>
                                          <p:attrName>ppt_c</p:attrName>
                                        </p:attrNameLst>
                                      </p:cBhvr>
                                      <p:to>
                                        <a:schemeClr val="bg2"/>
                                      </p:to>
                                    </p:animClr>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46"/>
                                        </p:tgtEl>
                                        <p:attrNameLst>
                                          <p:attrName>style.visibility</p:attrName>
                                        </p:attrNameLst>
                                      </p:cBhvr>
                                      <p:to>
                                        <p:strVal val="visible"/>
                                      </p:to>
                                    </p:set>
                                  </p:childTnLst>
                                  <p:subTnLst>
                                    <p:animClr clrSpc="rgb" dir="cw">
                                      <p:cBhvr override="childStyle">
                                        <p:cTn dur="1" fill="hold" display="0" masterRel="nextClick" afterEffect="1"/>
                                        <p:tgtEl>
                                          <p:spTgt spid="46"/>
                                        </p:tgtEl>
                                        <p:attrNameLst>
                                          <p:attrName>ppt_c</p:attrName>
                                        </p:attrNameLst>
                                      </p:cBhvr>
                                      <p:to>
                                        <a:schemeClr val="bg2"/>
                                      </p:to>
                                    </p:animClr>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5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5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5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6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7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7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55" grpId="0" autoUpdateAnimBg="0"/>
      <p:bldP spid="66" grpId="0" autoUpdateAnimBg="0"/>
      <p:bldP spid="78" grpId="0" autoUpdateAnimBg="0"/>
      <p:bldP spid="79"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6388" name="Picture 2" descr="X:\02_GRAPHICS\BOOKS\02_PPTs\MKCAD(Hennessy)\PPT\Ch05\f05-06-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72" y="1700808"/>
            <a:ext cx="9597008" cy="502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State Transition diagram</a:t>
            </a:r>
            <a:endParaRPr lang="zh-CN" altLang="en-US" dirty="0"/>
          </a:p>
        </p:txBody>
      </p:sp>
    </p:spTree>
    <p:extLst>
      <p:ext uri="{BB962C8B-B14F-4D97-AF65-F5344CB8AC3E}">
        <p14:creationId xmlns:p14="http://schemas.microsoft.com/office/powerpoint/2010/main" val="30430224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8436" name="Picture 2" descr="X:\02_GRAPHICS\BOOKS\02_PPTs\MKCAD(Hennessy)\PPT\Ch05\f05-07-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64" y="457455"/>
            <a:ext cx="6264696" cy="640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Combined State Diagram</a:t>
            </a:r>
            <a:endParaRPr lang="zh-CN" altLang="en-US" dirty="0"/>
          </a:p>
        </p:txBody>
      </p:sp>
    </p:spTree>
    <p:extLst>
      <p:ext uri="{BB962C8B-B14F-4D97-AF65-F5344CB8AC3E}">
        <p14:creationId xmlns:p14="http://schemas.microsoft.com/office/powerpoint/2010/main" val="19148777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20484" name="Picture 2" descr="X:\02_GRAPHICS\BOOKS\02_PPTs\MKCAD(Hennessy)\PPT\Ch05\f05-08-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711" y="1556792"/>
            <a:ext cx="5482953" cy="5121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A single-chip </a:t>
            </a:r>
            <a:r>
              <a:rPr lang="en-US" altLang="zh-CN" dirty="0"/>
              <a:t>multicore with a </a:t>
            </a:r>
            <a:r>
              <a:rPr lang="en-US" altLang="zh-CN" dirty="0" smtClean="0"/>
              <a:t/>
            </a:r>
            <a:br>
              <a:rPr lang="en-US" altLang="zh-CN" dirty="0" smtClean="0"/>
            </a:br>
            <a:r>
              <a:rPr lang="en-US" altLang="zh-CN" dirty="0" smtClean="0"/>
              <a:t>distributed but still shared cache</a:t>
            </a:r>
            <a:endParaRPr lang="zh-CN" altLang="en-US" dirty="0"/>
          </a:p>
        </p:txBody>
      </p:sp>
      <p:sp>
        <p:nvSpPr>
          <p:cNvPr id="3" name="内容占位符 2"/>
          <p:cNvSpPr>
            <a:spLocks noGrp="1"/>
          </p:cNvSpPr>
          <p:nvPr>
            <p:ph idx="1"/>
          </p:nvPr>
        </p:nvSpPr>
        <p:spPr>
          <a:xfrm>
            <a:off x="551384" y="1556792"/>
            <a:ext cx="6120680" cy="5112568"/>
          </a:xfrm>
        </p:spPr>
        <p:txBody>
          <a:bodyPr/>
          <a:lstStyle/>
          <a:p>
            <a:r>
              <a:rPr lang="en-US" altLang="zh-CN" dirty="0" smtClean="0"/>
              <a:t>In </a:t>
            </a:r>
            <a:r>
              <a:rPr lang="en-US" altLang="zh-CN" dirty="0"/>
              <a:t>current designs, the distributed shared cache is usually L3, and levels L1 and L2 are private. There are typically multiple memory channels (2–8 in today's </a:t>
            </a:r>
            <a:r>
              <a:rPr lang="en-US" altLang="zh-CN" dirty="0" smtClean="0"/>
              <a:t>designs)</a:t>
            </a:r>
          </a:p>
          <a:p>
            <a:r>
              <a:rPr lang="en-US" altLang="zh-CN" dirty="0" smtClean="0"/>
              <a:t>This </a:t>
            </a:r>
            <a:r>
              <a:rPr lang="en-US" altLang="zh-CN" dirty="0"/>
              <a:t>design is NUCA, since the access time to L3 portions varies with faster access time for the directly attached core. Because it is NUCA, it is also </a:t>
            </a:r>
            <a:r>
              <a:rPr lang="en-US" altLang="zh-CN" dirty="0" smtClean="0"/>
              <a:t>NUMA</a:t>
            </a:r>
            <a:endParaRPr lang="en-US" altLang="zh-CN" dirty="0"/>
          </a:p>
          <a:p>
            <a:endParaRPr lang="zh-CN" altLang="en-US" dirty="0"/>
          </a:p>
        </p:txBody>
      </p:sp>
    </p:spTree>
    <p:extLst>
      <p:ext uri="{BB962C8B-B14F-4D97-AF65-F5344CB8AC3E}">
        <p14:creationId xmlns:p14="http://schemas.microsoft.com/office/powerpoint/2010/main" val="222812966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同一要求的写串行化与写传播</a:t>
            </a:r>
            <a:endParaRPr lang="zh-CN" altLang="en-US" dirty="0"/>
          </a:p>
        </p:txBody>
      </p:sp>
      <p:sp>
        <p:nvSpPr>
          <p:cNvPr id="3" name="内容占位符 2"/>
          <p:cNvSpPr>
            <a:spLocks noGrp="1"/>
          </p:cNvSpPr>
          <p:nvPr>
            <p:ph sz="half" idx="1"/>
          </p:nvPr>
        </p:nvSpPr>
        <p:spPr>
          <a:xfrm>
            <a:off x="479376" y="1628800"/>
            <a:ext cx="6912768" cy="4968552"/>
          </a:xfrm>
        </p:spPr>
        <p:txBody>
          <a:bodyPr/>
          <a:lstStyle/>
          <a:p>
            <a:r>
              <a:rPr lang="zh-CN" altLang="en-US" dirty="0" smtClean="0"/>
              <a:t>出现在总线上</a:t>
            </a:r>
            <a:r>
              <a:rPr lang="zh-CN" altLang="en-US" dirty="0"/>
              <a:t>的</a:t>
            </a:r>
            <a:r>
              <a:rPr lang="zh-CN" altLang="en-US" dirty="0" smtClean="0"/>
              <a:t>写操作</a:t>
            </a:r>
            <a:r>
              <a:rPr lang="en-US" altLang="zh-CN" dirty="0" smtClean="0"/>
              <a:t>(</a:t>
            </a:r>
            <a:r>
              <a:rPr lang="en-US" altLang="zh-CN" dirty="0" err="1" smtClean="0"/>
              <a:t>BusRdX</a:t>
            </a:r>
            <a:r>
              <a:rPr lang="en-US" altLang="zh-CN" dirty="0" smtClean="0"/>
              <a:t>)</a:t>
            </a:r>
            <a:r>
              <a:rPr lang="zh-CN" altLang="en-US" dirty="0" smtClean="0"/>
              <a:t>由总线定序</a:t>
            </a:r>
            <a:endParaRPr lang="en-US" altLang="zh-CN" dirty="0" smtClean="0"/>
          </a:p>
          <a:p>
            <a:pPr lvl="1"/>
            <a:r>
              <a:rPr lang="zh-CN" altLang="en-US" dirty="0" smtClean="0"/>
              <a:t>先于其它事务，在写者</a:t>
            </a:r>
            <a:r>
              <a:rPr lang="en-US" altLang="zh-CN" dirty="0" smtClean="0"/>
              <a:t>cache</a:t>
            </a:r>
            <a:r>
              <a:rPr lang="zh-CN" altLang="en-US" dirty="0" smtClean="0"/>
              <a:t>中执行</a:t>
            </a:r>
            <a:endParaRPr lang="en-US" altLang="zh-CN" dirty="0" smtClean="0"/>
          </a:p>
          <a:p>
            <a:pPr lvl="1"/>
            <a:r>
              <a:rPr lang="zh-CN" altLang="en-US" dirty="0" smtClean="0"/>
              <a:t>从而可相对所有处理器（包括写者）定序</a:t>
            </a:r>
            <a:endParaRPr lang="en-US" altLang="zh-CN" dirty="0" smtClean="0"/>
          </a:p>
          <a:p>
            <a:pPr lvl="1"/>
            <a:r>
              <a:rPr lang="zh-CN" altLang="en-US" dirty="0" smtClean="0"/>
              <a:t>读不命中也按此定序</a:t>
            </a:r>
            <a:endParaRPr lang="en-US" altLang="zh-CN" dirty="0" smtClean="0"/>
          </a:p>
          <a:p>
            <a:r>
              <a:rPr lang="zh-CN" altLang="en-US" dirty="0" smtClean="0"/>
              <a:t>不出现在总线上的写操作呢？</a:t>
            </a:r>
            <a:endParaRPr lang="en-US" altLang="zh-CN" dirty="0" smtClean="0"/>
          </a:p>
          <a:p>
            <a:pPr lvl="1"/>
            <a:r>
              <a:rPr lang="en-US" altLang="zh-CN" dirty="0" smtClean="0"/>
              <a:t>P</a:t>
            </a:r>
            <a:r>
              <a:rPr lang="zh-CN" altLang="en-US" dirty="0" smtClean="0"/>
              <a:t>发出了</a:t>
            </a:r>
            <a:r>
              <a:rPr lang="en-US" altLang="zh-CN" dirty="0" err="1" smtClean="0"/>
              <a:t>BusRdX</a:t>
            </a:r>
            <a:r>
              <a:rPr lang="en-US" altLang="zh-CN" dirty="0" smtClean="0"/>
              <a:t> </a:t>
            </a:r>
            <a:r>
              <a:rPr lang="zh-CN" altLang="en-US" dirty="0" smtClean="0"/>
              <a:t>Ａ</a:t>
            </a:r>
            <a:endParaRPr lang="en-US" altLang="zh-CN" dirty="0" smtClean="0"/>
          </a:p>
          <a:p>
            <a:pPr lvl="1"/>
            <a:r>
              <a:rPr lang="zh-CN" altLang="en-US" dirty="0" smtClean="0"/>
              <a:t>接着很多对Ａ的访问，直到</a:t>
            </a:r>
            <a:r>
              <a:rPr lang="en-US" altLang="zh-CN" dirty="0" smtClean="0"/>
              <a:t>P</a:t>
            </a:r>
            <a:r>
              <a:rPr lang="zh-CN" altLang="en-US" dirty="0" smtClean="0"/>
              <a:t>发出下一个事务</a:t>
            </a:r>
            <a:endParaRPr lang="en-US" altLang="zh-CN" dirty="0" smtClean="0"/>
          </a:p>
          <a:p>
            <a:pPr lvl="2"/>
            <a:r>
              <a:rPr lang="en-US" altLang="zh-CN" dirty="0" smtClean="0"/>
              <a:t>P</a:t>
            </a:r>
            <a:r>
              <a:rPr lang="zh-CN" altLang="en-US" dirty="0" smtClean="0"/>
              <a:t>产生一些读和写命中；它们都是按程序序执行的</a:t>
            </a:r>
            <a:endParaRPr lang="en-US" altLang="zh-CN" dirty="0" smtClean="0"/>
          </a:p>
          <a:p>
            <a:pPr lvl="1"/>
            <a:r>
              <a:rPr lang="zh-CN" altLang="en-US" dirty="0" smtClean="0"/>
              <a:t>对来自另一个处理器的读和写操作</a:t>
            </a:r>
            <a:endParaRPr lang="en-US" altLang="zh-CN" dirty="0" smtClean="0"/>
          </a:p>
          <a:p>
            <a:pPr lvl="2"/>
            <a:r>
              <a:rPr lang="zh-CN" altLang="en-US" dirty="0" smtClean="0"/>
              <a:t>由处理这些操作的总线事务隔离开来</a:t>
            </a:r>
            <a:endParaRPr lang="zh-CN" altLang="en-US" dirty="0"/>
          </a:p>
        </p:txBody>
      </p:sp>
      <p:sp>
        <p:nvSpPr>
          <p:cNvPr id="4" name="内容占位符 3"/>
          <p:cNvSpPr>
            <a:spLocks noGrp="1"/>
          </p:cNvSpPr>
          <p:nvPr>
            <p:ph sz="half" idx="2"/>
          </p:nvPr>
        </p:nvSpPr>
        <p:spPr>
          <a:xfrm>
            <a:off x="7392144" y="1628800"/>
            <a:ext cx="4321696" cy="4968552"/>
          </a:xfrm>
        </p:spPr>
        <p:txBody>
          <a:bodyPr/>
          <a:lstStyle/>
          <a:p>
            <a:pPr>
              <a:lnSpc>
                <a:spcPct val="100000"/>
              </a:lnSpc>
            </a:pPr>
            <a:r>
              <a:rPr lang="zh-CN" altLang="en-US" dirty="0" smtClean="0"/>
              <a:t>对共享或无效块的写操作如何被所有其它</a:t>
            </a:r>
            <a:r>
              <a:rPr lang="en-US" altLang="zh-CN" dirty="0" smtClean="0"/>
              <a:t>cache</a:t>
            </a:r>
            <a:r>
              <a:rPr lang="zh-CN" altLang="en-US" dirty="0" smtClean="0"/>
              <a:t>看到</a:t>
            </a:r>
            <a:endParaRPr lang="en-US" altLang="zh-CN" dirty="0"/>
          </a:p>
          <a:p>
            <a:pPr lvl="1">
              <a:lnSpc>
                <a:spcPct val="100000"/>
              </a:lnSpc>
            </a:pPr>
            <a:r>
              <a:rPr lang="zh-CN" altLang="en-US" dirty="0" smtClean="0"/>
              <a:t>使用</a:t>
            </a:r>
            <a:r>
              <a:rPr lang="en-US" altLang="zh-CN" dirty="0" err="1" smtClean="0"/>
              <a:t>BusRdX</a:t>
            </a:r>
            <a:r>
              <a:rPr lang="zh-CN" altLang="en-US" dirty="0" smtClean="0"/>
              <a:t>事务</a:t>
            </a:r>
            <a:endParaRPr lang="en-US" altLang="zh-CN" dirty="0"/>
          </a:p>
          <a:p>
            <a:pPr lvl="1">
              <a:lnSpc>
                <a:spcPct val="100000"/>
              </a:lnSpc>
            </a:pPr>
            <a:r>
              <a:rPr lang="en-US" altLang="zh-CN" dirty="0" err="1" smtClean="0"/>
              <a:t>BusRdX</a:t>
            </a:r>
            <a:r>
              <a:rPr lang="zh-CN" altLang="en-US" dirty="0" smtClean="0"/>
              <a:t>事务产生的使无效操作</a:t>
            </a:r>
            <a:endParaRPr lang="en-US" altLang="zh-CN" dirty="0"/>
          </a:p>
          <a:p>
            <a:pPr lvl="1">
              <a:lnSpc>
                <a:spcPct val="100000"/>
              </a:lnSpc>
            </a:pPr>
            <a:r>
              <a:rPr lang="zh-CN" altLang="en-US" dirty="0" smtClean="0"/>
              <a:t>其它处理器在观察到写入的值 之前，都会经历一次</a:t>
            </a:r>
            <a:r>
              <a:rPr lang="en-US" altLang="zh-CN" dirty="0" smtClean="0"/>
              <a:t>cache</a:t>
            </a:r>
            <a:r>
              <a:rPr lang="zh-CN" altLang="en-US" dirty="0" smtClean="0"/>
              <a:t>不命中</a:t>
            </a:r>
            <a:endParaRPr lang="zh-CN" altLang="en-US" dirty="0"/>
          </a:p>
        </p:txBody>
      </p:sp>
    </p:spTree>
    <p:extLst>
      <p:ext uri="{BB962C8B-B14F-4D97-AF65-F5344CB8AC3E}">
        <p14:creationId xmlns:p14="http://schemas.microsoft.com/office/powerpoint/2010/main" val="340131173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满足顺序一致：构建全局序</a:t>
            </a:r>
            <a:endParaRPr kumimoji="1" lang="zh-CN" altLang="en-US" dirty="0"/>
          </a:p>
        </p:txBody>
      </p:sp>
      <p:sp>
        <p:nvSpPr>
          <p:cNvPr id="3" name="内容占位符 2"/>
          <p:cNvSpPr>
            <a:spLocks noGrp="1"/>
          </p:cNvSpPr>
          <p:nvPr>
            <p:ph idx="1"/>
          </p:nvPr>
        </p:nvSpPr>
        <p:spPr/>
        <p:txBody>
          <a:bodyPr/>
          <a:lstStyle/>
          <a:p>
            <a:r>
              <a:rPr kumimoji="1" lang="zh-CN" altLang="en-US" dirty="0"/>
              <a:t>总线为所有位置的总线事务确定了全序</a:t>
            </a:r>
            <a:endParaRPr kumimoji="1" lang="en-US" altLang="zh-CN" dirty="0"/>
          </a:p>
          <a:p>
            <a:r>
              <a:rPr lang="zh-CN" altLang="en-US" dirty="0"/>
              <a:t>在事务之间，处理器按程序序执行本地读写</a:t>
            </a:r>
            <a:endParaRPr lang="en-US" altLang="zh-CN" dirty="0"/>
          </a:p>
          <a:p>
            <a:r>
              <a:rPr kumimoji="1" lang="zh-CN" altLang="en-US" dirty="0"/>
              <a:t>从而所有执行都定义了一个自然的偏序</a:t>
            </a:r>
            <a:endParaRPr kumimoji="1" lang="en-US" altLang="zh-CN" dirty="0"/>
          </a:p>
          <a:p>
            <a:pPr lvl="1"/>
            <a:r>
              <a:rPr kumimoji="1" lang="en-US" altLang="zh-CN" dirty="0" err="1"/>
              <a:t>Mj</a:t>
            </a:r>
            <a:r>
              <a:rPr kumimoji="1" lang="zh-CN" altLang="en-US" dirty="0"/>
              <a:t>后于</a:t>
            </a:r>
            <a:r>
              <a:rPr kumimoji="1" lang="en-US" altLang="zh-CN" dirty="0" err="1"/>
              <a:t>Mi</a:t>
            </a:r>
            <a:r>
              <a:rPr lang="zh-CN" altLang="en-US" dirty="0"/>
              <a:t>，如果</a:t>
            </a:r>
            <a:endParaRPr lang="en-US" altLang="zh-CN" dirty="0"/>
          </a:p>
          <a:p>
            <a:pPr marL="1371600" lvl="2" indent="-457200">
              <a:buFont typeface="+mj-lt"/>
              <a:buAutoNum type="arabicPeriod"/>
            </a:pPr>
            <a:r>
              <a:rPr kumimoji="1" lang="zh-CN" altLang="en-US" dirty="0"/>
              <a:t>依据同一处理器的程序序，有此关系</a:t>
            </a:r>
            <a:endParaRPr kumimoji="1" lang="en-US" altLang="zh-CN" dirty="0"/>
          </a:p>
          <a:p>
            <a:pPr marL="1371600" lvl="2" indent="-457200">
              <a:buFont typeface="+mj-lt"/>
              <a:buAutoNum type="arabicPeriod"/>
            </a:pPr>
            <a:r>
              <a:rPr kumimoji="1" lang="en-US" altLang="zh-CN" dirty="0" err="1"/>
              <a:t>Mj</a:t>
            </a:r>
            <a:r>
              <a:rPr kumimoji="1" lang="zh-CN" altLang="en-US" dirty="0"/>
              <a:t>产生了跟随在</a:t>
            </a:r>
            <a:r>
              <a:rPr kumimoji="1" lang="en-US" altLang="zh-CN" dirty="0" err="1"/>
              <a:t>Mi</a:t>
            </a:r>
            <a:r>
              <a:rPr kumimoji="1" lang="zh-CN" altLang="en-US" dirty="0"/>
              <a:t>的访存操作之后的总线事务</a:t>
            </a:r>
            <a:endParaRPr kumimoji="1" lang="en-US" altLang="zh-CN" dirty="0"/>
          </a:p>
          <a:p>
            <a:r>
              <a:rPr kumimoji="1" lang="zh-CN" altLang="en-US" dirty="0"/>
              <a:t>在两个总线事务之间的区段内，本地程序序的所有交替执行都符合一致的全序</a:t>
            </a:r>
            <a:endParaRPr kumimoji="1" lang="en-US" altLang="zh-CN" dirty="0"/>
          </a:p>
          <a:p>
            <a:r>
              <a:rPr lang="zh-CN" altLang="en-US" dirty="0"/>
              <a:t>处理器</a:t>
            </a:r>
            <a:r>
              <a:rPr lang="en-US" altLang="zh-CN" dirty="0"/>
              <a:t>P</a:t>
            </a:r>
            <a:r>
              <a:rPr lang="zh-CN" altLang="en-US" dirty="0"/>
              <a:t>观察到相同区段内多个写操作的次序</a:t>
            </a:r>
            <a:endParaRPr lang="en-US" altLang="zh-CN" dirty="0"/>
          </a:p>
          <a:p>
            <a:pPr lvl="1"/>
            <a:r>
              <a:rPr lang="zh-CN" altLang="en-US" dirty="0"/>
              <a:t>来自其它处理器的写，根据</a:t>
            </a:r>
            <a:r>
              <a:rPr lang="en-US" altLang="zh-CN" dirty="0"/>
              <a:t>P</a:t>
            </a:r>
            <a:r>
              <a:rPr lang="zh-CN" altLang="en-US" dirty="0"/>
              <a:t>发出的总线事务</a:t>
            </a:r>
            <a:endParaRPr lang="en-US" altLang="zh-CN" dirty="0"/>
          </a:p>
          <a:p>
            <a:pPr lvl="1"/>
            <a:r>
              <a:rPr lang="zh-CN" altLang="en-US" dirty="0"/>
              <a:t>来自处理器</a:t>
            </a:r>
            <a:r>
              <a:rPr lang="en-US" altLang="zh-CN" dirty="0"/>
              <a:t>P</a:t>
            </a:r>
            <a:r>
              <a:rPr lang="zh-CN" altLang="en-US" dirty="0"/>
              <a:t>的写，根据其程序序</a:t>
            </a:r>
            <a:endParaRPr lang="en-US" altLang="zh-CN" dirty="0"/>
          </a:p>
        </p:txBody>
      </p:sp>
    </p:spTree>
    <p:extLst>
      <p:ext uri="{BB962C8B-B14F-4D97-AF65-F5344CB8AC3E}">
        <p14:creationId xmlns:p14="http://schemas.microsoft.com/office/powerpoint/2010/main" val="174923779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根据充分条件的判断</a:t>
            </a:r>
            <a:endParaRPr kumimoji="1" lang="zh-CN" altLang="en-US" dirty="0"/>
          </a:p>
        </p:txBody>
      </p:sp>
      <p:sp>
        <p:nvSpPr>
          <p:cNvPr id="3" name="内容占位符 2"/>
          <p:cNvSpPr>
            <a:spLocks noGrp="1"/>
          </p:cNvSpPr>
          <p:nvPr>
            <p:ph idx="1"/>
          </p:nvPr>
        </p:nvSpPr>
        <p:spPr>
          <a:xfrm>
            <a:off x="623392" y="1772816"/>
            <a:ext cx="9536608" cy="4106044"/>
          </a:xfrm>
        </p:spPr>
        <p:txBody>
          <a:bodyPr/>
          <a:lstStyle/>
          <a:p>
            <a:r>
              <a:rPr lang="zh-CN" altLang="en-US" dirty="0"/>
              <a:t>充分条件</a:t>
            </a:r>
            <a:endParaRPr lang="en-US" altLang="zh-CN" dirty="0"/>
          </a:p>
          <a:p>
            <a:pPr lvl="1"/>
            <a:r>
              <a:rPr lang="zh-CN" altLang="en-US" dirty="0"/>
              <a:t>每个进程按程序序发出访存操作</a:t>
            </a:r>
            <a:endParaRPr lang="en-US" altLang="zh-CN" dirty="0"/>
          </a:p>
          <a:p>
            <a:pPr lvl="1"/>
            <a:r>
              <a:rPr lang="zh-CN" altLang="en-US" dirty="0"/>
              <a:t>发出写操作的处理器等到该操作完成后，再发出下一个访存操作</a:t>
            </a:r>
            <a:endParaRPr lang="en-US" altLang="zh-CN" dirty="0"/>
          </a:p>
          <a:p>
            <a:pPr lvl="1"/>
            <a:r>
              <a:rPr lang="zh-CN" altLang="en-US" dirty="0"/>
              <a:t>发出读操作的处理器等到该操作完成，</a:t>
            </a:r>
            <a:r>
              <a:rPr lang="zh-CN" altLang="en-US" dirty="0">
                <a:solidFill>
                  <a:srgbClr val="FF0000"/>
                </a:solidFill>
              </a:rPr>
              <a:t>且为该读操作供值的那个写操作全局完成后，再发出下个访存操作</a:t>
            </a:r>
            <a:endParaRPr lang="en-US" altLang="zh-CN" dirty="0">
              <a:solidFill>
                <a:srgbClr val="FF0000"/>
              </a:solidFill>
            </a:endParaRPr>
          </a:p>
          <a:p>
            <a:r>
              <a:rPr kumimoji="1" lang="zh-CN" altLang="en-US" dirty="0"/>
              <a:t>写操作全局完成</a:t>
            </a:r>
            <a:r>
              <a:rPr lang="zh-CN" altLang="en-US" dirty="0"/>
              <a:t>的检测</a:t>
            </a:r>
            <a:endParaRPr kumimoji="1" lang="en-US" altLang="zh-CN" dirty="0"/>
          </a:p>
          <a:p>
            <a:pPr lvl="1"/>
            <a:r>
              <a:rPr lang="zh-CN" altLang="en-US" dirty="0"/>
              <a:t>写操作</a:t>
            </a:r>
            <a:r>
              <a:rPr lang="en-US" altLang="zh-CN" dirty="0" err="1"/>
              <a:t>BusRdX</a:t>
            </a:r>
            <a:r>
              <a:rPr lang="zh-CN" altLang="en-US" dirty="0"/>
              <a:t>出现在总线上并写入</a:t>
            </a:r>
            <a:r>
              <a:rPr lang="en-US" altLang="zh-CN" dirty="0"/>
              <a:t>cache</a:t>
            </a:r>
            <a:r>
              <a:rPr lang="zh-CN" altLang="en-US" dirty="0"/>
              <a:t>，即告完成</a:t>
            </a:r>
            <a:endParaRPr lang="en-US" altLang="zh-CN" dirty="0"/>
          </a:p>
          <a:p>
            <a:r>
              <a:rPr kumimoji="1" lang="zh-CN" altLang="en-US" dirty="0"/>
              <a:t>读完成（隐含写的原子性）</a:t>
            </a:r>
            <a:endParaRPr kumimoji="1" lang="en-US" altLang="zh-CN" dirty="0"/>
          </a:p>
          <a:p>
            <a:pPr marL="914400" lvl="1" indent="-457200">
              <a:buFont typeface="+mj-lt"/>
              <a:buAutoNum type="arabicPeriod"/>
            </a:pPr>
            <a:r>
              <a:rPr kumimoji="1" lang="zh-CN" altLang="en-US" dirty="0"/>
              <a:t>读操作产生总线事务，返回写入的值时，写已完成</a:t>
            </a:r>
            <a:endParaRPr kumimoji="1" lang="en-US" altLang="zh-CN" dirty="0"/>
          </a:p>
          <a:p>
            <a:pPr marL="914400" lvl="1" indent="-457200">
              <a:buFont typeface="+mj-lt"/>
              <a:buAutoNum type="arabicPeriod"/>
            </a:pPr>
            <a:r>
              <a:rPr kumimoji="1" lang="zh-CN" altLang="en-US" dirty="0"/>
              <a:t>程序序上跟随在</a:t>
            </a:r>
            <a:r>
              <a:rPr kumimoji="1" lang="en-US" altLang="zh-CN" dirty="0"/>
              <a:t>1</a:t>
            </a:r>
            <a:r>
              <a:rPr lang="en-US" altLang="zh-CN" dirty="0"/>
              <a:t>.</a:t>
            </a:r>
            <a:r>
              <a:rPr kumimoji="1" lang="zh-CN" altLang="en-US" dirty="0"/>
              <a:t>后的读操作</a:t>
            </a:r>
            <a:endParaRPr kumimoji="1" lang="en-US" altLang="zh-CN" dirty="0"/>
          </a:p>
          <a:p>
            <a:pPr marL="914400" lvl="1" indent="-457200">
              <a:buFont typeface="+mj-lt"/>
              <a:buAutoNum type="arabicPeriod"/>
            </a:pPr>
            <a:r>
              <a:rPr lang="zh-CN" altLang="en-US" dirty="0"/>
              <a:t>程序序上跟随在写操作之后的读操作</a:t>
            </a:r>
            <a:endParaRPr kumimoji="1" lang="en-US" altLang="zh-CN" dirty="0"/>
          </a:p>
        </p:txBody>
      </p:sp>
    </p:spTree>
    <p:extLst>
      <p:ext uri="{BB962C8B-B14F-4D97-AF65-F5344CB8AC3E}">
        <p14:creationId xmlns:p14="http://schemas.microsoft.com/office/powerpoint/2010/main" val="98980277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更细致的协议选项</a:t>
            </a:r>
            <a:endParaRPr lang="zh-CN" altLang="en-US" dirty="0"/>
          </a:p>
        </p:txBody>
      </p:sp>
      <p:sp>
        <p:nvSpPr>
          <p:cNvPr id="3" name="内容占位符 2"/>
          <p:cNvSpPr>
            <a:spLocks noGrp="1"/>
          </p:cNvSpPr>
          <p:nvPr>
            <p:ph idx="1"/>
          </p:nvPr>
        </p:nvSpPr>
        <p:spPr/>
        <p:txBody>
          <a:bodyPr/>
          <a:lstStyle/>
          <a:p>
            <a:r>
              <a:rPr lang="en-US" altLang="zh-CN" dirty="0" smtClean="0"/>
              <a:t>Cache</a:t>
            </a:r>
            <a:r>
              <a:rPr lang="zh-CN" altLang="en-US" dirty="0" smtClean="0"/>
              <a:t>为</a:t>
            </a:r>
            <a:r>
              <a:rPr lang="en-US" altLang="zh-CN" dirty="0" smtClean="0"/>
              <a:t>M</a:t>
            </a:r>
            <a:r>
              <a:rPr lang="zh-CN" altLang="en-US" dirty="0" smtClean="0"/>
              <a:t>状态时观察到</a:t>
            </a:r>
            <a:r>
              <a:rPr lang="en-US" altLang="zh-CN" dirty="0" err="1" smtClean="0"/>
              <a:t>BusRd</a:t>
            </a:r>
            <a:r>
              <a:rPr lang="zh-CN" altLang="en-US" dirty="0" smtClean="0"/>
              <a:t>请求，应作何种状态转换？</a:t>
            </a:r>
            <a:endParaRPr lang="en-US" altLang="zh-CN" dirty="0" smtClean="0"/>
          </a:p>
          <a:p>
            <a:pPr lvl="1"/>
            <a:r>
              <a:rPr lang="zh-CN" altLang="en-US" dirty="0" smtClean="0"/>
              <a:t>从</a:t>
            </a:r>
            <a:r>
              <a:rPr lang="en-US" altLang="zh-CN" dirty="0" smtClean="0"/>
              <a:t>M</a:t>
            </a:r>
            <a:r>
              <a:rPr lang="zh-CN" altLang="en-US" dirty="0" smtClean="0"/>
              <a:t>到</a:t>
            </a:r>
            <a:r>
              <a:rPr lang="en-US" altLang="zh-CN" dirty="0" smtClean="0"/>
              <a:t>I</a:t>
            </a:r>
            <a:r>
              <a:rPr lang="zh-CN" altLang="en-US" dirty="0" smtClean="0"/>
              <a:t>还是到</a:t>
            </a:r>
            <a:r>
              <a:rPr lang="en-US" altLang="zh-CN" dirty="0" smtClean="0"/>
              <a:t>S</a:t>
            </a:r>
            <a:r>
              <a:rPr lang="zh-CN" altLang="en-US" dirty="0" smtClean="0"/>
              <a:t>？基于对访问模式的期望</a:t>
            </a:r>
            <a:endParaRPr lang="en-US" altLang="zh-CN" dirty="0" smtClean="0"/>
          </a:p>
          <a:p>
            <a:pPr lvl="1"/>
            <a:r>
              <a:rPr lang="zh-CN" altLang="en-US" dirty="0" smtClean="0"/>
              <a:t>转换到</a:t>
            </a:r>
            <a:r>
              <a:rPr lang="en-US" altLang="zh-CN" dirty="0" smtClean="0"/>
              <a:t>S</a:t>
            </a:r>
            <a:r>
              <a:rPr lang="zh-CN" altLang="en-US" dirty="0" smtClean="0"/>
              <a:t>状态：假设我很快又要读，而不是别人将要写</a:t>
            </a:r>
            <a:endParaRPr lang="en-US" altLang="zh-CN" dirty="0" smtClean="0"/>
          </a:p>
          <a:p>
            <a:pPr lvl="1"/>
            <a:r>
              <a:rPr lang="zh-CN" altLang="en-US" dirty="0" smtClean="0"/>
              <a:t>这对主要是读的数据是合适的，但对迁移型数据呢？</a:t>
            </a:r>
            <a:endParaRPr lang="en-US" altLang="zh-CN" dirty="0" smtClean="0"/>
          </a:p>
          <a:p>
            <a:pPr lvl="1"/>
            <a:r>
              <a:rPr lang="zh-CN" altLang="en-US" dirty="0" smtClean="0"/>
              <a:t>先是</a:t>
            </a:r>
            <a:r>
              <a:rPr lang="en-US" altLang="zh-CN" dirty="0" smtClean="0"/>
              <a:t>A</a:t>
            </a:r>
            <a:r>
              <a:rPr lang="zh-CN" altLang="en-US" dirty="0" smtClean="0"/>
              <a:t>读和写，后是</a:t>
            </a:r>
            <a:r>
              <a:rPr lang="en-US" altLang="zh-CN" dirty="0" smtClean="0"/>
              <a:t>B</a:t>
            </a:r>
            <a:r>
              <a:rPr lang="zh-CN" altLang="en-US" dirty="0" smtClean="0"/>
              <a:t>读和写，再是</a:t>
            </a:r>
            <a:r>
              <a:rPr lang="en-US" altLang="zh-CN" dirty="0" smtClean="0"/>
              <a:t>C</a:t>
            </a:r>
            <a:r>
              <a:rPr lang="zh-CN" altLang="en-US" dirty="0" smtClean="0"/>
              <a:t>读和写，</a:t>
            </a:r>
            <a:r>
              <a:rPr lang="en-US" altLang="zh-CN" dirty="0" smtClean="0"/>
              <a:t>…</a:t>
            </a:r>
          </a:p>
          <a:p>
            <a:pPr lvl="1"/>
            <a:r>
              <a:rPr lang="zh-CN" altLang="en-US" dirty="0" smtClean="0"/>
              <a:t>如果是迁移型数据，变为</a:t>
            </a:r>
            <a:r>
              <a:rPr lang="en-US" altLang="zh-CN" dirty="0" smtClean="0"/>
              <a:t>I</a:t>
            </a:r>
            <a:r>
              <a:rPr lang="zh-CN" altLang="en-US" dirty="0" smtClean="0"/>
              <a:t>更好些，至少不必在别人写时再被无效</a:t>
            </a:r>
            <a:endParaRPr lang="en-US" altLang="zh-CN" dirty="0" smtClean="0"/>
          </a:p>
          <a:p>
            <a:pPr lvl="1"/>
            <a:r>
              <a:rPr lang="en-US" altLang="zh-CN" dirty="0" smtClean="0"/>
              <a:t>Sequent Symmetry</a:t>
            </a:r>
            <a:r>
              <a:rPr lang="zh-CN" altLang="en-US" dirty="0" smtClean="0"/>
              <a:t>和</a:t>
            </a:r>
            <a:r>
              <a:rPr lang="en-US" altLang="zh-CN" dirty="0" smtClean="0"/>
              <a:t>MIT Alewife</a:t>
            </a:r>
            <a:r>
              <a:rPr lang="zh-CN" altLang="en-US" dirty="0" smtClean="0"/>
              <a:t>采用适应性协议</a:t>
            </a:r>
            <a:endParaRPr lang="en-US" altLang="zh-CN" dirty="0" smtClean="0"/>
          </a:p>
          <a:p>
            <a:r>
              <a:rPr lang="zh-CN" altLang="en-US" dirty="0" smtClean="0"/>
              <a:t>存储器怎么知道是不是应该为</a:t>
            </a:r>
            <a:r>
              <a:rPr lang="en-US" altLang="zh-CN" dirty="0" err="1" smtClean="0"/>
              <a:t>BusRd</a:t>
            </a:r>
            <a:r>
              <a:rPr lang="zh-CN" altLang="en-US" dirty="0" smtClean="0"/>
              <a:t>供数？</a:t>
            </a:r>
            <a:endParaRPr lang="en-US" altLang="zh-CN" dirty="0" smtClean="0"/>
          </a:p>
          <a:p>
            <a:pPr lvl="1"/>
            <a:r>
              <a:rPr lang="zh-CN" altLang="en-US" dirty="0" smtClean="0"/>
              <a:t>存储器总是试图供数</a:t>
            </a:r>
            <a:endParaRPr lang="en-US" altLang="zh-CN" dirty="0" smtClean="0"/>
          </a:p>
          <a:p>
            <a:pPr lvl="1"/>
            <a:r>
              <a:rPr lang="zh-CN" altLang="en-US" dirty="0" smtClean="0"/>
              <a:t>处于</a:t>
            </a:r>
            <a:r>
              <a:rPr lang="en-US" altLang="zh-CN" dirty="0" smtClean="0"/>
              <a:t>S</a:t>
            </a:r>
            <a:r>
              <a:rPr lang="zh-CN" altLang="en-US" dirty="0" smtClean="0"/>
              <a:t>状态的</a:t>
            </a:r>
            <a:r>
              <a:rPr lang="en-US" altLang="zh-CN" dirty="0" smtClean="0"/>
              <a:t>cache</a:t>
            </a:r>
            <a:r>
              <a:rPr lang="zh-CN" altLang="en-US" dirty="0" smtClean="0"/>
              <a:t>不响应</a:t>
            </a:r>
            <a:r>
              <a:rPr lang="en-US" altLang="zh-CN" dirty="0" err="1" smtClean="0"/>
              <a:t>BusRd</a:t>
            </a:r>
            <a:r>
              <a:rPr lang="zh-CN" altLang="en-US" dirty="0" smtClean="0"/>
              <a:t>，请求者得到内存块</a:t>
            </a:r>
            <a:endParaRPr lang="en-US" altLang="zh-CN" dirty="0" smtClean="0"/>
          </a:p>
          <a:p>
            <a:pPr lvl="1"/>
            <a:r>
              <a:rPr lang="zh-CN" altLang="en-US" dirty="0" smtClean="0"/>
              <a:t>处于</a:t>
            </a:r>
            <a:r>
              <a:rPr lang="en-US" altLang="zh-CN" dirty="0" smtClean="0"/>
              <a:t>M</a:t>
            </a:r>
            <a:r>
              <a:rPr lang="zh-CN" altLang="en-US" dirty="0" smtClean="0"/>
              <a:t>状态的</a:t>
            </a:r>
            <a:r>
              <a:rPr lang="en-US" altLang="zh-CN" dirty="0" smtClean="0"/>
              <a:t>cache</a:t>
            </a:r>
            <a:r>
              <a:rPr lang="zh-CN" altLang="en-US" dirty="0" smtClean="0"/>
              <a:t>用</a:t>
            </a:r>
            <a:r>
              <a:rPr lang="en-US" altLang="zh-CN" dirty="0" smtClean="0"/>
              <a:t>flush</a:t>
            </a:r>
            <a:r>
              <a:rPr lang="zh-CN" altLang="en-US" dirty="0" smtClean="0"/>
              <a:t>中断存储器供数</a:t>
            </a:r>
            <a:endParaRPr lang="en-US" altLang="zh-CN" dirty="0" smtClean="0"/>
          </a:p>
          <a:p>
            <a:pPr lvl="1"/>
            <a:r>
              <a:rPr lang="zh-CN" altLang="en-US" dirty="0" smtClean="0"/>
              <a:t>写回</a:t>
            </a:r>
            <a:r>
              <a:rPr lang="en-US" altLang="zh-CN" dirty="0" smtClean="0"/>
              <a:t>cache</a:t>
            </a:r>
            <a:r>
              <a:rPr lang="zh-CN" altLang="en-US" dirty="0" smtClean="0"/>
              <a:t>块到存储器，并送数给请求者</a:t>
            </a:r>
            <a:endParaRPr lang="en-US" altLang="zh-CN" dirty="0"/>
          </a:p>
        </p:txBody>
      </p:sp>
    </p:spTree>
    <p:extLst>
      <p:ext uri="{BB962C8B-B14F-4D97-AF65-F5344CB8AC3E}">
        <p14:creationId xmlns:p14="http://schemas.microsoft.com/office/powerpoint/2010/main" val="167526888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更细致的协议选项</a:t>
            </a:r>
            <a:endParaRPr lang="zh-CN" altLang="en-US" dirty="0"/>
          </a:p>
        </p:txBody>
      </p:sp>
      <p:sp>
        <p:nvSpPr>
          <p:cNvPr id="3" name="内容占位符 2"/>
          <p:cNvSpPr>
            <a:spLocks noGrp="1"/>
          </p:cNvSpPr>
          <p:nvPr>
            <p:ph idx="1"/>
          </p:nvPr>
        </p:nvSpPr>
        <p:spPr/>
        <p:txBody>
          <a:bodyPr/>
          <a:lstStyle/>
          <a:p>
            <a:r>
              <a:rPr lang="zh-CN" altLang="en-US" dirty="0"/>
              <a:t>写</a:t>
            </a:r>
            <a:r>
              <a:rPr lang="zh-CN" altLang="en-US" dirty="0" smtClean="0"/>
              <a:t>共享状态的</a:t>
            </a:r>
            <a:r>
              <a:rPr lang="en-US" altLang="zh-CN" dirty="0" smtClean="0"/>
              <a:t>S</a:t>
            </a:r>
            <a:r>
              <a:rPr lang="zh-CN" altLang="en-US" dirty="0"/>
              <a:t>块时，也需要</a:t>
            </a:r>
            <a:r>
              <a:rPr lang="en-US" altLang="zh-CN" dirty="0" err="1"/>
              <a:t>BusRdX</a:t>
            </a:r>
            <a:r>
              <a:rPr lang="zh-CN" altLang="en-US" dirty="0"/>
              <a:t>，获得独占权</a:t>
            </a:r>
            <a:endParaRPr lang="en-US" altLang="zh-CN" dirty="0"/>
          </a:p>
          <a:p>
            <a:pPr lvl="1"/>
            <a:r>
              <a:rPr lang="zh-CN" altLang="en-US" dirty="0"/>
              <a:t>内存会据此供数，但被请求者忽略（</a:t>
            </a:r>
            <a:r>
              <a:rPr lang="en-US" altLang="zh-CN" dirty="0"/>
              <a:t>cache</a:t>
            </a:r>
            <a:r>
              <a:rPr lang="zh-CN" altLang="en-US" dirty="0" smtClean="0"/>
              <a:t>内已经有该数据块）</a:t>
            </a:r>
            <a:endParaRPr lang="en-US" altLang="zh-CN" dirty="0"/>
          </a:p>
          <a:p>
            <a:pPr lvl="1"/>
            <a:r>
              <a:rPr lang="zh-CN" altLang="en-US" dirty="0"/>
              <a:t>优化：引入新事务</a:t>
            </a:r>
            <a:r>
              <a:rPr lang="en-US" altLang="zh-CN" dirty="0" err="1"/>
              <a:t>BusUpgr</a:t>
            </a:r>
            <a:r>
              <a:rPr lang="zh-CN" altLang="en-US" dirty="0"/>
              <a:t>，只</a:t>
            </a:r>
            <a:r>
              <a:rPr lang="zh-CN" altLang="en-US" dirty="0" smtClean="0"/>
              <a:t>使其它副本无效</a:t>
            </a:r>
            <a:r>
              <a:rPr lang="zh-CN" altLang="en-US" dirty="0"/>
              <a:t>，不必供数</a:t>
            </a:r>
            <a:endParaRPr lang="en-US" altLang="zh-CN" dirty="0"/>
          </a:p>
          <a:p>
            <a:r>
              <a:rPr lang="en-US" altLang="zh-CN" dirty="0"/>
              <a:t>MSI</a:t>
            </a:r>
            <a:r>
              <a:rPr lang="zh-CN" altLang="en-US" dirty="0"/>
              <a:t>的问题：先读后写需要</a:t>
            </a:r>
            <a:r>
              <a:rPr lang="en-US" altLang="zh-CN" dirty="0"/>
              <a:t>2</a:t>
            </a:r>
            <a:r>
              <a:rPr lang="zh-CN" altLang="en-US" dirty="0"/>
              <a:t>个总线事务</a:t>
            </a:r>
            <a:endParaRPr lang="en-US" altLang="zh-CN" dirty="0"/>
          </a:p>
          <a:p>
            <a:pPr lvl="1"/>
            <a:r>
              <a:rPr lang="zh-CN" altLang="en-US" dirty="0"/>
              <a:t>即使无共享，比如在并行机上执行的串行程序</a:t>
            </a:r>
            <a:endParaRPr lang="en-US" altLang="zh-CN" dirty="0"/>
          </a:p>
          <a:p>
            <a:pPr lvl="1"/>
            <a:r>
              <a:rPr lang="zh-CN" altLang="en-US" dirty="0"/>
              <a:t>用</a:t>
            </a:r>
            <a:r>
              <a:rPr lang="en-US" altLang="zh-CN" dirty="0" err="1"/>
              <a:t>BusRd</a:t>
            </a:r>
            <a:r>
              <a:rPr lang="en-US" altLang="zh-CN" dirty="0"/>
              <a:t> (I=&gt;S)</a:t>
            </a:r>
            <a:r>
              <a:rPr lang="zh-CN" altLang="en-US" dirty="0"/>
              <a:t>来读，再用</a:t>
            </a:r>
            <a:r>
              <a:rPr lang="en-US" altLang="zh-CN" dirty="0" err="1"/>
              <a:t>BusRdX</a:t>
            </a:r>
            <a:r>
              <a:rPr lang="zh-CN" altLang="en-US" dirty="0"/>
              <a:t>或</a:t>
            </a:r>
            <a:r>
              <a:rPr lang="en-US" altLang="zh-CN" dirty="0" err="1"/>
              <a:t>BusUpgr</a:t>
            </a:r>
            <a:r>
              <a:rPr lang="en-US" altLang="zh-CN" dirty="0"/>
              <a:t> (S=&gt;M)</a:t>
            </a:r>
            <a:r>
              <a:rPr lang="zh-CN" altLang="en-US" dirty="0"/>
              <a:t>来写</a:t>
            </a:r>
            <a:endParaRPr lang="en-US" altLang="zh-CN" sz="2800" dirty="0"/>
          </a:p>
          <a:p>
            <a:r>
              <a:rPr lang="zh-CN" altLang="en-US" dirty="0"/>
              <a:t>解决</a:t>
            </a:r>
            <a:r>
              <a:rPr lang="zh-CN" altLang="en-US" dirty="0" smtClean="0"/>
              <a:t>方案：引入</a:t>
            </a:r>
            <a:r>
              <a:rPr lang="zh-CN" altLang="en-US" dirty="0"/>
              <a:t>介于</a:t>
            </a:r>
            <a:r>
              <a:rPr lang="en-US" altLang="zh-CN" dirty="0"/>
              <a:t>S</a:t>
            </a:r>
            <a:r>
              <a:rPr lang="zh-CN" altLang="en-US" dirty="0"/>
              <a:t>和</a:t>
            </a:r>
            <a:r>
              <a:rPr lang="en-US" altLang="zh-CN" dirty="0"/>
              <a:t>M</a:t>
            </a:r>
            <a:r>
              <a:rPr lang="zh-CN" altLang="en-US" dirty="0"/>
              <a:t>间的独占新状态</a:t>
            </a:r>
            <a:r>
              <a:rPr lang="en-US" altLang="zh-CN" dirty="0"/>
              <a:t>E</a:t>
            </a:r>
            <a:r>
              <a:rPr lang="zh-CN" altLang="en-US" dirty="0"/>
              <a:t>（</a:t>
            </a:r>
            <a:r>
              <a:rPr lang="en-US" altLang="zh-CN" dirty="0"/>
              <a:t>Exclusive</a:t>
            </a:r>
            <a:r>
              <a:rPr lang="zh-CN" altLang="en-US" dirty="0"/>
              <a:t>）</a:t>
            </a:r>
            <a:endParaRPr lang="en-US" altLang="zh-CN" dirty="0"/>
          </a:p>
          <a:p>
            <a:pPr lvl="1"/>
            <a:r>
              <a:rPr lang="zh-CN" altLang="en-US" dirty="0"/>
              <a:t>也称</a:t>
            </a:r>
            <a:r>
              <a:rPr lang="en-US" altLang="zh-CN" dirty="0"/>
              <a:t>Exclusive-Clean, Exclusive-</a:t>
            </a:r>
            <a:r>
              <a:rPr lang="en-US" altLang="zh-CN" dirty="0" err="1"/>
              <a:t>unowned</a:t>
            </a:r>
            <a:endParaRPr lang="en-US" altLang="zh-CN" dirty="0"/>
          </a:p>
          <a:p>
            <a:pPr lvl="1"/>
            <a:r>
              <a:rPr lang="zh-CN" altLang="en-US" dirty="0"/>
              <a:t>独占：不必通知他人</a:t>
            </a:r>
            <a:r>
              <a:rPr lang="zh-CN" altLang="en-US" dirty="0" smtClean="0"/>
              <a:t>（通过总线</a:t>
            </a:r>
            <a:r>
              <a:rPr lang="zh-CN" altLang="en-US" dirty="0"/>
              <a:t>事务）就能写</a:t>
            </a:r>
            <a:endParaRPr lang="en-US" altLang="zh-CN" dirty="0"/>
          </a:p>
          <a:p>
            <a:pPr lvl="1"/>
            <a:r>
              <a:rPr lang="zh-CN" altLang="en-US" dirty="0"/>
              <a:t>非属主：看到读请求时不必供数（内存负责供数）</a:t>
            </a:r>
          </a:p>
        </p:txBody>
      </p:sp>
    </p:spTree>
    <p:extLst>
      <p:ext uri="{BB962C8B-B14F-4D97-AF65-F5344CB8AC3E}">
        <p14:creationId xmlns:p14="http://schemas.microsoft.com/office/powerpoint/2010/main" val="41064708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MESI</a:t>
            </a:r>
            <a:r>
              <a:rPr lang="zh-CN" altLang="en-US" smtClean="0"/>
              <a:t>使无效协议</a:t>
            </a:r>
            <a:endParaRPr lang="zh-CN" altLang="en-US" dirty="0"/>
          </a:p>
        </p:txBody>
      </p:sp>
      <p:sp>
        <p:nvSpPr>
          <p:cNvPr id="3" name="内容占位符 2"/>
          <p:cNvSpPr>
            <a:spLocks noGrp="1"/>
          </p:cNvSpPr>
          <p:nvPr>
            <p:ph idx="1"/>
          </p:nvPr>
        </p:nvSpPr>
        <p:spPr/>
        <p:txBody>
          <a:bodyPr/>
          <a:lstStyle/>
          <a:p>
            <a:r>
              <a:rPr lang="zh-CN" altLang="en-US" dirty="0" smtClean="0"/>
              <a:t>增加了“</a:t>
            </a:r>
            <a:r>
              <a:rPr lang="en-US" altLang="zh-CN" dirty="0" smtClean="0"/>
              <a:t>E</a:t>
            </a:r>
            <a:r>
              <a:rPr lang="zh-CN" altLang="en-US" dirty="0" smtClean="0"/>
              <a:t>独占</a:t>
            </a:r>
            <a:r>
              <a:rPr lang="zh-CN" altLang="zh-CN" dirty="0" smtClean="0"/>
              <a:t>”</a:t>
            </a:r>
            <a:r>
              <a:rPr lang="zh-CN" altLang="en-US" dirty="0" smtClean="0"/>
              <a:t>状态</a:t>
            </a:r>
            <a:endParaRPr lang="en-US" altLang="zh-CN" dirty="0" smtClean="0"/>
          </a:p>
          <a:p>
            <a:pPr lvl="1"/>
            <a:r>
              <a:rPr lang="zh-CN" altLang="en-US" dirty="0" smtClean="0"/>
              <a:t>区分独占（可写）和拥有（写过）</a:t>
            </a:r>
            <a:endParaRPr lang="en-US" altLang="zh-CN" dirty="0" smtClean="0"/>
          </a:p>
          <a:p>
            <a:pPr lvl="1"/>
            <a:r>
              <a:rPr lang="zh-CN" altLang="en-US" dirty="0" smtClean="0"/>
              <a:t>存储器里数据是最新的，</a:t>
            </a:r>
            <a:r>
              <a:rPr lang="en-US" altLang="zh-CN" dirty="0" smtClean="0"/>
              <a:t>cache</a:t>
            </a:r>
            <a:r>
              <a:rPr lang="zh-CN" altLang="en-US" dirty="0" smtClean="0"/>
              <a:t>不必是属主</a:t>
            </a:r>
            <a:r>
              <a:rPr lang="en-US" altLang="zh-CN" dirty="0" smtClean="0"/>
              <a:t>(owner)</a:t>
            </a:r>
          </a:p>
          <a:p>
            <a:pPr lvl="1"/>
            <a:r>
              <a:rPr lang="zh-CN" altLang="en-US" dirty="0" smtClean="0"/>
              <a:t>可</a:t>
            </a:r>
            <a:r>
              <a:rPr lang="zh-CN" altLang="en-US" dirty="0"/>
              <a:t>直接</a:t>
            </a:r>
            <a:r>
              <a:rPr lang="zh-CN" altLang="en-US" dirty="0" smtClean="0"/>
              <a:t>实施本地写操作</a:t>
            </a:r>
            <a:endParaRPr lang="en-US" altLang="zh-CN" dirty="0" smtClean="0"/>
          </a:p>
          <a:p>
            <a:r>
              <a:rPr lang="zh-CN" altLang="en-US" dirty="0" smtClean="0"/>
              <a:t>这个协议共需四种状态（</a:t>
            </a:r>
            <a:r>
              <a:rPr lang="en-US" altLang="zh-CN" dirty="0" smtClean="0"/>
              <a:t>UIUC</a:t>
            </a:r>
            <a:r>
              <a:rPr lang="zh-CN" altLang="en-US" dirty="0" smtClean="0"/>
              <a:t>最早发表，也称</a:t>
            </a:r>
            <a:r>
              <a:rPr lang="en-US" altLang="zh-CN" dirty="0" smtClean="0"/>
              <a:t>Illinois Protocol</a:t>
            </a:r>
            <a:r>
              <a:rPr lang="zh-CN" altLang="en-US" dirty="0" smtClean="0"/>
              <a:t>）</a:t>
            </a:r>
            <a:endParaRPr lang="en-US" altLang="zh-CN" dirty="0" smtClean="0"/>
          </a:p>
          <a:p>
            <a:pPr lvl="1"/>
            <a:r>
              <a:rPr lang="en-US" altLang="zh-CN" dirty="0" smtClean="0"/>
              <a:t>Invalid</a:t>
            </a:r>
            <a:r>
              <a:rPr lang="zh-CN" altLang="en-US" dirty="0" smtClean="0"/>
              <a:t>无效，本</a:t>
            </a:r>
            <a:r>
              <a:rPr lang="en-US" altLang="zh-CN" dirty="0" smtClean="0"/>
              <a:t>cache</a:t>
            </a:r>
            <a:r>
              <a:rPr lang="zh-CN" altLang="en-US" dirty="0" smtClean="0"/>
              <a:t>中无此副本</a:t>
            </a:r>
            <a:endParaRPr lang="en-US" altLang="zh-CN" dirty="0" smtClean="0"/>
          </a:p>
          <a:p>
            <a:pPr lvl="1"/>
            <a:r>
              <a:rPr lang="en-US" altLang="zh-CN" dirty="0" smtClean="0"/>
              <a:t>Exclusive</a:t>
            </a:r>
            <a:r>
              <a:rPr lang="zh-CN" altLang="en-US" dirty="0" smtClean="0"/>
              <a:t>独占，仅本</a:t>
            </a:r>
            <a:r>
              <a:rPr lang="en-US" altLang="zh-CN" dirty="0" smtClean="0"/>
              <a:t>cache</a:t>
            </a:r>
            <a:r>
              <a:rPr lang="zh-CN" altLang="en-US" dirty="0" smtClean="0"/>
              <a:t>有此副本，内存数据有效</a:t>
            </a:r>
            <a:endParaRPr lang="en-US" altLang="zh-CN" dirty="0" smtClean="0"/>
          </a:p>
          <a:p>
            <a:pPr lvl="1"/>
            <a:r>
              <a:rPr lang="en-US" altLang="zh-CN" dirty="0" smtClean="0"/>
              <a:t>Shared</a:t>
            </a:r>
            <a:r>
              <a:rPr lang="zh-CN" altLang="en-US" dirty="0" smtClean="0"/>
              <a:t>共享，</a:t>
            </a:r>
            <a:r>
              <a:rPr lang="en-US" altLang="zh-CN" dirty="0" smtClean="0"/>
              <a:t>2</a:t>
            </a:r>
            <a:r>
              <a:rPr lang="zh-CN" altLang="en-US" dirty="0" smtClean="0"/>
              <a:t>个以上的</a:t>
            </a:r>
            <a:r>
              <a:rPr lang="en-US" altLang="zh-CN" dirty="0" smtClean="0"/>
              <a:t>cache</a:t>
            </a:r>
            <a:r>
              <a:rPr lang="zh-CN" altLang="en-US" dirty="0" smtClean="0"/>
              <a:t>有此副本（不一定？）</a:t>
            </a:r>
            <a:endParaRPr lang="en-US" altLang="zh-CN" dirty="0" smtClean="0"/>
          </a:p>
          <a:p>
            <a:pPr lvl="1"/>
            <a:r>
              <a:rPr lang="en-US" altLang="zh-CN" dirty="0" smtClean="0"/>
              <a:t>Modified</a:t>
            </a:r>
            <a:r>
              <a:rPr lang="zh-CN" altLang="en-US" dirty="0" smtClean="0"/>
              <a:t>改过，仅本</a:t>
            </a:r>
            <a:r>
              <a:rPr lang="en-US" altLang="zh-CN" dirty="0" smtClean="0"/>
              <a:t>cache</a:t>
            </a:r>
            <a:r>
              <a:rPr lang="zh-CN" altLang="en-US" dirty="0" smtClean="0"/>
              <a:t>有此副本，内存数据已经过时</a:t>
            </a:r>
            <a:endParaRPr lang="en-US" altLang="zh-CN" dirty="0" smtClean="0"/>
          </a:p>
          <a:p>
            <a:r>
              <a:rPr lang="zh-CN" altLang="en-US" dirty="0" smtClean="0"/>
              <a:t>如果无</a:t>
            </a:r>
            <a:r>
              <a:rPr lang="en-US" altLang="zh-CN" dirty="0" smtClean="0"/>
              <a:t>cache</a:t>
            </a:r>
            <a:r>
              <a:rPr lang="zh-CN" altLang="en-US" dirty="0" smtClean="0"/>
              <a:t>有副本，</a:t>
            </a:r>
            <a:r>
              <a:rPr lang="en-US" altLang="zh-CN" dirty="0" err="1" smtClean="0"/>
              <a:t>PrRd</a:t>
            </a:r>
            <a:r>
              <a:rPr lang="zh-CN" altLang="en-US" dirty="0" smtClean="0"/>
              <a:t>时，</a:t>
            </a:r>
            <a:r>
              <a:rPr lang="en-US" altLang="zh-CN" dirty="0" smtClean="0"/>
              <a:t>I=&gt;E</a:t>
            </a:r>
          </a:p>
          <a:p>
            <a:pPr lvl="1"/>
            <a:r>
              <a:rPr lang="zh-CN" altLang="en-US" dirty="0" smtClean="0"/>
              <a:t>怎么知道没有其它副本？</a:t>
            </a:r>
            <a:endParaRPr lang="zh-CN" altLang="en-US" dirty="0"/>
          </a:p>
        </p:txBody>
      </p:sp>
    </p:spTree>
    <p:extLst>
      <p:ext uri="{BB962C8B-B14F-4D97-AF65-F5344CB8AC3E}">
        <p14:creationId xmlns:p14="http://schemas.microsoft.com/office/powerpoint/2010/main" val="21746154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MESI</a:t>
            </a:r>
            <a:r>
              <a:rPr lang="zh-CN" altLang="en-US" dirty="0" smtClean="0"/>
              <a:t>的硬件支持</a:t>
            </a:r>
            <a:endParaRPr kumimoji="1" lang="zh-CN" altLang="en-US" dirty="0"/>
          </a:p>
        </p:txBody>
      </p:sp>
      <p:sp>
        <p:nvSpPr>
          <p:cNvPr id="3" name="内容占位符 2"/>
          <p:cNvSpPr>
            <a:spLocks noGrp="1"/>
          </p:cNvSpPr>
          <p:nvPr>
            <p:ph idx="1"/>
          </p:nvPr>
        </p:nvSpPr>
        <p:spPr>
          <a:xfrm>
            <a:off x="906736" y="4729212"/>
            <a:ext cx="10085808" cy="1332756"/>
          </a:xfrm>
        </p:spPr>
        <p:txBody>
          <a:bodyPr/>
          <a:lstStyle/>
          <a:p>
            <a:r>
              <a:rPr kumimoji="1" lang="zh-CN" altLang="en-US" dirty="0" smtClean="0"/>
              <a:t>所有</a:t>
            </a:r>
            <a:r>
              <a:rPr kumimoji="1" lang="en-US" altLang="zh-CN" dirty="0" smtClean="0"/>
              <a:t>cache</a:t>
            </a:r>
            <a:r>
              <a:rPr kumimoji="1" lang="zh-CN" altLang="en-US" dirty="0" smtClean="0"/>
              <a:t>控制器都在同时侦听总线上的</a:t>
            </a:r>
            <a:r>
              <a:rPr kumimoji="1" lang="en-US" altLang="zh-CN" dirty="0" err="1" smtClean="0"/>
              <a:t>BusRd</a:t>
            </a:r>
            <a:r>
              <a:rPr kumimoji="1" lang="zh-CN" altLang="en-US" dirty="0"/>
              <a:t>请求</a:t>
            </a:r>
            <a:endParaRPr kumimoji="1" lang="en-US" altLang="zh-CN" dirty="0" smtClean="0"/>
          </a:p>
          <a:p>
            <a:r>
              <a:rPr lang="zh-CN" altLang="en-US" dirty="0" smtClean="0"/>
              <a:t>如果有数据块</a:t>
            </a:r>
            <a:r>
              <a:rPr lang="en-US" altLang="zh-CN" dirty="0" smtClean="0"/>
              <a:t>(</a:t>
            </a:r>
            <a:r>
              <a:rPr lang="zh-CN" altLang="en-US" dirty="0" smtClean="0"/>
              <a:t>状态为</a:t>
            </a:r>
            <a:r>
              <a:rPr lang="en-US" altLang="zh-CN" dirty="0" smtClean="0"/>
              <a:t>S/E/M</a:t>
            </a:r>
            <a:r>
              <a:rPr lang="en-US" altLang="zh-CN" dirty="0"/>
              <a:t>)</a:t>
            </a:r>
            <a:r>
              <a:rPr lang="zh-CN" altLang="en-US" dirty="0" smtClean="0"/>
              <a:t>就抬高</a:t>
            </a:r>
            <a:r>
              <a:rPr lang="en-US" altLang="zh-CN" dirty="0" smtClean="0"/>
              <a:t>shared</a:t>
            </a:r>
            <a:r>
              <a:rPr lang="zh-CN" altLang="en-US" dirty="0" smtClean="0"/>
              <a:t>信号</a:t>
            </a:r>
            <a:endParaRPr lang="en-US" altLang="zh-CN" dirty="0" smtClean="0"/>
          </a:p>
          <a:p>
            <a:r>
              <a:rPr lang="zh-CN" altLang="en-US" dirty="0" smtClean="0"/>
              <a:t>请求者根据情况，选择</a:t>
            </a:r>
            <a:r>
              <a:rPr lang="en-US" altLang="zh-CN" dirty="0" smtClean="0"/>
              <a:t>S</a:t>
            </a:r>
            <a:r>
              <a:rPr lang="zh-CN" altLang="en-US" dirty="0" smtClean="0"/>
              <a:t>或</a:t>
            </a:r>
            <a:r>
              <a:rPr lang="en-US" altLang="zh-CN" dirty="0" smtClean="0"/>
              <a:t>E</a:t>
            </a:r>
          </a:p>
          <a:p>
            <a:pPr lvl="1"/>
            <a:r>
              <a:rPr lang="zh-CN" altLang="en-US" dirty="0" smtClean="0"/>
              <a:t>它什么时候才知道，所有人都已经表过态？</a:t>
            </a:r>
            <a:endParaRPr kumimoji="1" lang="zh-CN" altLang="en-US" dirty="0"/>
          </a:p>
        </p:txBody>
      </p:sp>
      <p:pic>
        <p:nvPicPr>
          <p:cNvPr id="4" name="图片 3"/>
          <p:cNvPicPr>
            <a:picLocks noChangeAspect="1"/>
          </p:cNvPicPr>
          <p:nvPr/>
        </p:nvPicPr>
        <p:blipFill>
          <a:blip r:embed="rId2"/>
          <a:stretch>
            <a:fillRect/>
          </a:stretch>
        </p:blipFill>
        <p:spPr>
          <a:xfrm>
            <a:off x="1271464" y="1484784"/>
            <a:ext cx="9148238" cy="3144484"/>
          </a:xfrm>
          <a:prstGeom prst="rect">
            <a:avLst/>
          </a:prstGeom>
        </p:spPr>
      </p:pic>
    </p:spTree>
    <p:extLst>
      <p:ext uri="{BB962C8B-B14F-4D97-AF65-F5344CB8AC3E}">
        <p14:creationId xmlns:p14="http://schemas.microsoft.com/office/powerpoint/2010/main" val="39282731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1556792"/>
            <a:ext cx="7099740" cy="4610100"/>
          </a:xfrm>
        </p:spPr>
        <p:txBody>
          <a:bodyPr/>
          <a:lstStyle/>
          <a:p>
            <a:pPr>
              <a:spcBef>
                <a:spcPct val="15000"/>
              </a:spcBef>
            </a:pPr>
            <a:r>
              <a:rPr lang="en-US" altLang="en-US" dirty="0"/>
              <a:t>Processor Read</a:t>
            </a:r>
          </a:p>
          <a:p>
            <a:pPr lvl="1">
              <a:spcBef>
                <a:spcPct val="15000"/>
              </a:spcBef>
            </a:pPr>
            <a:r>
              <a:rPr lang="en-US" altLang="en-US" dirty="0"/>
              <a:t>Causes a </a:t>
            </a:r>
            <a:r>
              <a:rPr lang="en-US" altLang="en-US" dirty="0" err="1"/>
              <a:t>BusRd</a:t>
            </a:r>
            <a:r>
              <a:rPr lang="en-US" altLang="en-US" dirty="0"/>
              <a:t> on a read miss</a:t>
            </a:r>
          </a:p>
          <a:p>
            <a:pPr lvl="1">
              <a:spcBef>
                <a:spcPct val="15000"/>
              </a:spcBef>
            </a:pPr>
            <a:r>
              <a:rPr lang="en-US" altLang="en-US" dirty="0" err="1"/>
              <a:t>BusRd</a:t>
            </a:r>
            <a:r>
              <a:rPr lang="en-US" altLang="en-US" dirty="0"/>
              <a:t>(</a:t>
            </a:r>
            <a:r>
              <a:rPr lang="en-US" altLang="en-US" dirty="0">
                <a:solidFill>
                  <a:srgbClr val="FF0000"/>
                </a:solidFill>
              </a:rPr>
              <a:t>S</a:t>
            </a:r>
            <a:r>
              <a:rPr lang="en-US" altLang="en-US" dirty="0"/>
              <a:t>) =&gt; shared line asserted</a:t>
            </a:r>
          </a:p>
          <a:p>
            <a:pPr lvl="2">
              <a:spcBef>
                <a:spcPct val="15000"/>
              </a:spcBef>
            </a:pPr>
            <a:r>
              <a:rPr lang="en-US" altLang="en-US" dirty="0"/>
              <a:t>Valid copy in another cache</a:t>
            </a:r>
          </a:p>
          <a:p>
            <a:pPr lvl="2">
              <a:spcBef>
                <a:spcPct val="15000"/>
              </a:spcBef>
            </a:pPr>
            <a:r>
              <a:rPr lang="en-US" altLang="en-US" dirty="0" err="1"/>
              <a:t>Goto</a:t>
            </a:r>
            <a:r>
              <a:rPr lang="en-US" altLang="en-US" dirty="0"/>
              <a:t> state </a:t>
            </a:r>
            <a:r>
              <a:rPr lang="en-US" altLang="en-US" i="1" dirty="0"/>
              <a:t>S</a:t>
            </a:r>
          </a:p>
          <a:p>
            <a:pPr lvl="1">
              <a:spcBef>
                <a:spcPct val="15000"/>
              </a:spcBef>
            </a:pPr>
            <a:r>
              <a:rPr lang="en-US" altLang="en-US" dirty="0" err="1"/>
              <a:t>BusRd</a:t>
            </a:r>
            <a:r>
              <a:rPr lang="en-US" altLang="en-US" dirty="0"/>
              <a:t>(</a:t>
            </a:r>
            <a:r>
              <a:rPr lang="en-US" altLang="en-US" dirty="0">
                <a:solidFill>
                  <a:srgbClr val="FF0000"/>
                </a:solidFill>
              </a:rPr>
              <a:t>~S</a:t>
            </a:r>
            <a:r>
              <a:rPr lang="en-US" altLang="en-US" dirty="0"/>
              <a:t>) =&gt; shared line not asserted</a:t>
            </a:r>
          </a:p>
          <a:p>
            <a:pPr lvl="2">
              <a:spcBef>
                <a:spcPct val="15000"/>
              </a:spcBef>
            </a:pPr>
            <a:r>
              <a:rPr lang="en-US" altLang="en-US" dirty="0"/>
              <a:t>No cache has this block</a:t>
            </a:r>
          </a:p>
          <a:p>
            <a:pPr lvl="2">
              <a:spcBef>
                <a:spcPct val="15000"/>
              </a:spcBef>
            </a:pPr>
            <a:r>
              <a:rPr lang="en-US" altLang="en-US" dirty="0" err="1"/>
              <a:t>Goto</a:t>
            </a:r>
            <a:r>
              <a:rPr lang="en-US" altLang="en-US" dirty="0"/>
              <a:t> state </a:t>
            </a:r>
            <a:r>
              <a:rPr lang="en-US" altLang="en-US" i="1" dirty="0"/>
              <a:t>E</a:t>
            </a:r>
          </a:p>
          <a:p>
            <a:pPr lvl="1">
              <a:spcBef>
                <a:spcPct val="15000"/>
              </a:spcBef>
            </a:pPr>
            <a:r>
              <a:rPr lang="en-US" altLang="en-US" dirty="0"/>
              <a:t>No bus transaction on a read hit</a:t>
            </a:r>
          </a:p>
          <a:p>
            <a:pPr>
              <a:spcBef>
                <a:spcPct val="15000"/>
              </a:spcBef>
            </a:pPr>
            <a:r>
              <a:rPr lang="en-US" altLang="en-US" dirty="0"/>
              <a:t>Processor Write</a:t>
            </a:r>
          </a:p>
          <a:p>
            <a:pPr lvl="1">
              <a:spcBef>
                <a:spcPct val="15000"/>
              </a:spcBef>
            </a:pPr>
            <a:r>
              <a:rPr lang="en-US" altLang="en-US" dirty="0"/>
              <a:t>Promotes block to state </a:t>
            </a:r>
            <a:r>
              <a:rPr lang="en-US" altLang="en-US" i="1" dirty="0"/>
              <a:t>M</a:t>
            </a:r>
            <a:endParaRPr lang="en-US" altLang="en-US" dirty="0"/>
          </a:p>
          <a:p>
            <a:pPr lvl="1">
              <a:spcBef>
                <a:spcPct val="15000"/>
              </a:spcBef>
            </a:pPr>
            <a:r>
              <a:rPr lang="en-US" altLang="en-US" dirty="0"/>
              <a:t>Causes </a:t>
            </a:r>
            <a:r>
              <a:rPr lang="en-US" altLang="en-US" dirty="0" err="1"/>
              <a:t>BusRdX</a:t>
            </a:r>
            <a:r>
              <a:rPr lang="en-US" altLang="en-US" dirty="0"/>
              <a:t> / </a:t>
            </a:r>
            <a:r>
              <a:rPr lang="en-US" altLang="en-US" dirty="0" err="1"/>
              <a:t>BusUpgr</a:t>
            </a:r>
            <a:r>
              <a:rPr lang="en-US" altLang="en-US" dirty="0"/>
              <a:t> for states </a:t>
            </a:r>
            <a:r>
              <a:rPr lang="en-US" altLang="en-US" i="1" dirty="0"/>
              <a:t>I</a:t>
            </a:r>
            <a:r>
              <a:rPr lang="en-US" altLang="en-US" dirty="0"/>
              <a:t> </a:t>
            </a:r>
            <a:r>
              <a:rPr lang="en-US" altLang="zh-CN" dirty="0" smtClean="0"/>
              <a:t>or</a:t>
            </a:r>
            <a:r>
              <a:rPr lang="en-US" altLang="en-US" dirty="0" smtClean="0"/>
              <a:t> </a:t>
            </a:r>
            <a:r>
              <a:rPr lang="en-US" altLang="en-US" i="1" dirty="0"/>
              <a:t>S</a:t>
            </a:r>
          </a:p>
          <a:p>
            <a:pPr lvl="2">
              <a:spcBef>
                <a:spcPct val="15000"/>
              </a:spcBef>
            </a:pPr>
            <a:r>
              <a:rPr lang="en-US" altLang="en-US" dirty="0"/>
              <a:t>To invalidate other copies</a:t>
            </a:r>
          </a:p>
          <a:p>
            <a:pPr lvl="1">
              <a:spcBef>
                <a:spcPct val="15000"/>
              </a:spcBef>
            </a:pPr>
            <a:r>
              <a:rPr lang="en-US" altLang="en-US" dirty="0"/>
              <a:t>No bus transaction for states </a:t>
            </a:r>
            <a:r>
              <a:rPr lang="en-US" altLang="en-US" i="1" dirty="0"/>
              <a:t>E </a:t>
            </a:r>
            <a:r>
              <a:rPr lang="en-US" altLang="en-US" dirty="0"/>
              <a:t>and</a:t>
            </a:r>
            <a:r>
              <a:rPr lang="en-US" altLang="en-US" i="1" dirty="0"/>
              <a:t> M</a:t>
            </a:r>
            <a:endParaRPr lang="en-US" altLang="en-US" dirty="0"/>
          </a:p>
        </p:txBody>
      </p:sp>
      <p:sp>
        <p:nvSpPr>
          <p:cNvPr id="2" name="标题 1"/>
          <p:cNvSpPr>
            <a:spLocks noGrp="1"/>
          </p:cNvSpPr>
          <p:nvPr>
            <p:ph type="title"/>
          </p:nvPr>
        </p:nvSpPr>
        <p:spPr/>
        <p:txBody>
          <a:bodyPr/>
          <a:lstStyle/>
          <a:p>
            <a:r>
              <a:rPr kumimoji="1" lang="en-US" altLang="zh-CN" dirty="0" smtClean="0"/>
              <a:t>MESI</a:t>
            </a:r>
            <a:r>
              <a:rPr kumimoji="1" lang="zh-CN" altLang="en-US" dirty="0" smtClean="0"/>
              <a:t>协议的状态转换图</a:t>
            </a:r>
            <a:endParaRPr kumimoji="1" lang="zh-CN" altLang="en-US" dirty="0"/>
          </a:p>
        </p:txBody>
      </p:sp>
      <p:pic>
        <p:nvPicPr>
          <p:cNvPr id="4" name="图片 3"/>
          <p:cNvPicPr>
            <a:picLocks noChangeAspect="1"/>
          </p:cNvPicPr>
          <p:nvPr/>
        </p:nvPicPr>
        <p:blipFill>
          <a:blip r:embed="rId3"/>
          <a:stretch>
            <a:fillRect/>
          </a:stretch>
        </p:blipFill>
        <p:spPr>
          <a:xfrm>
            <a:off x="7894984" y="1484784"/>
            <a:ext cx="4105672" cy="5361124"/>
          </a:xfrm>
          <a:prstGeom prst="rect">
            <a:avLst/>
          </a:prstGeom>
        </p:spPr>
      </p:pic>
    </p:spTree>
    <p:extLst>
      <p:ext uri="{BB962C8B-B14F-4D97-AF65-F5344CB8AC3E}">
        <p14:creationId xmlns:p14="http://schemas.microsoft.com/office/powerpoint/2010/main" val="276923246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altLang="en-US" smtClean="0"/>
              <a:t>MESI State Transition Diagram – cont’d</a:t>
            </a:r>
            <a:endParaRPr lang="en-US" altLang="en-US" dirty="0" smtClean="0"/>
          </a:p>
        </p:txBody>
      </p:sp>
      <p:sp>
        <p:nvSpPr>
          <p:cNvPr id="32772" name="Rectangle 3"/>
          <p:cNvSpPr>
            <a:spLocks noGrp="1" noChangeArrowheads="1"/>
          </p:cNvSpPr>
          <p:nvPr>
            <p:ph type="body" idx="1"/>
          </p:nvPr>
        </p:nvSpPr>
        <p:spPr>
          <a:xfrm>
            <a:off x="407368" y="1556792"/>
            <a:ext cx="10946432" cy="5112568"/>
          </a:xfrm>
        </p:spPr>
        <p:txBody>
          <a:bodyPr/>
          <a:lstStyle/>
          <a:p>
            <a:r>
              <a:rPr lang="en-US" altLang="en-US" dirty="0" smtClean="0"/>
              <a:t>Observing a </a:t>
            </a:r>
            <a:r>
              <a:rPr lang="en-US" altLang="en-US" dirty="0" err="1" smtClean="0"/>
              <a:t>BusRd</a:t>
            </a:r>
            <a:endParaRPr lang="en-US" altLang="en-US" dirty="0" smtClean="0"/>
          </a:p>
          <a:p>
            <a:pPr lvl="1"/>
            <a:r>
              <a:rPr lang="en-US" altLang="en-US" dirty="0" smtClean="0"/>
              <a:t>Demotes a block from E to S state</a:t>
            </a:r>
          </a:p>
          <a:p>
            <a:pPr lvl="2"/>
            <a:r>
              <a:rPr lang="en-US" altLang="en-US" dirty="0" smtClean="0"/>
              <a:t>Since another cached copy exists</a:t>
            </a:r>
          </a:p>
          <a:p>
            <a:pPr lvl="1"/>
            <a:r>
              <a:rPr lang="en-US" altLang="en-US" dirty="0" smtClean="0"/>
              <a:t>Demotes a block from M to S state</a:t>
            </a:r>
          </a:p>
          <a:p>
            <a:pPr lvl="2"/>
            <a:r>
              <a:rPr lang="en-US" altLang="en-US" dirty="0" smtClean="0"/>
              <a:t>Will cause modified block to be flushed</a:t>
            </a:r>
          </a:p>
          <a:p>
            <a:pPr lvl="2"/>
            <a:r>
              <a:rPr lang="en-US" altLang="en-US" dirty="0" smtClean="0"/>
              <a:t>Block is picked up by requesting cache and main memory</a:t>
            </a:r>
          </a:p>
          <a:p>
            <a:r>
              <a:rPr lang="en-US" altLang="en-US" dirty="0" smtClean="0"/>
              <a:t>Observing a </a:t>
            </a:r>
            <a:r>
              <a:rPr lang="en-US" altLang="en-US" dirty="0" err="1" smtClean="0"/>
              <a:t>BusRdX</a:t>
            </a:r>
            <a:r>
              <a:rPr lang="en-US" altLang="en-US" dirty="0" smtClean="0"/>
              <a:t> or </a:t>
            </a:r>
            <a:r>
              <a:rPr lang="en-US" altLang="en-US" dirty="0" err="1" smtClean="0"/>
              <a:t>BusUpgr</a:t>
            </a:r>
            <a:endParaRPr lang="en-US" altLang="en-US" dirty="0" smtClean="0"/>
          </a:p>
          <a:p>
            <a:pPr lvl="1"/>
            <a:r>
              <a:rPr lang="en-US" altLang="en-US" dirty="0" smtClean="0"/>
              <a:t>Will invalidate block</a:t>
            </a:r>
          </a:p>
          <a:p>
            <a:pPr lvl="1"/>
            <a:r>
              <a:rPr lang="en-US" altLang="en-US" dirty="0" smtClean="0"/>
              <a:t>Will cause a modified block to be flushed</a:t>
            </a:r>
          </a:p>
          <a:p>
            <a:r>
              <a:rPr lang="en-US" altLang="en-US" dirty="0" smtClean="0"/>
              <a:t>Cache-to-Cache (C2C) Sharing</a:t>
            </a:r>
          </a:p>
          <a:p>
            <a:pPr lvl="1"/>
            <a:r>
              <a:rPr lang="en-US" altLang="en-US" dirty="0" smtClean="0"/>
              <a:t>Supported by original Illinois version</a:t>
            </a:r>
          </a:p>
          <a:p>
            <a:pPr lvl="1"/>
            <a:r>
              <a:rPr lang="en-US" altLang="en-US" dirty="0" smtClean="0"/>
              <a:t>Cache rather than memory supplies data</a:t>
            </a:r>
          </a:p>
        </p:txBody>
      </p:sp>
      <p:pic>
        <p:nvPicPr>
          <p:cNvPr id="4" name="图片 3"/>
          <p:cNvPicPr>
            <a:picLocks noChangeAspect="1"/>
          </p:cNvPicPr>
          <p:nvPr/>
        </p:nvPicPr>
        <p:blipFill>
          <a:blip r:embed="rId3"/>
          <a:stretch>
            <a:fillRect/>
          </a:stretch>
        </p:blipFill>
        <p:spPr>
          <a:xfrm>
            <a:off x="8082728" y="1454528"/>
            <a:ext cx="4109060" cy="5358848"/>
          </a:xfrm>
          <a:prstGeom prst="rect">
            <a:avLst/>
          </a:prstGeom>
        </p:spPr>
      </p:pic>
    </p:spTree>
    <p:extLst>
      <p:ext uri="{BB962C8B-B14F-4D97-AF65-F5344CB8AC3E}">
        <p14:creationId xmlns:p14="http://schemas.microsoft.com/office/powerpoint/2010/main" val="394261671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协议实现中的其它选择</a:t>
            </a:r>
            <a:endParaRPr kumimoji="1" lang="zh-CN" altLang="en-US" dirty="0"/>
          </a:p>
        </p:txBody>
      </p:sp>
      <p:sp>
        <p:nvSpPr>
          <p:cNvPr id="3" name="内容占位符 2"/>
          <p:cNvSpPr>
            <a:spLocks noGrp="1"/>
          </p:cNvSpPr>
          <p:nvPr>
            <p:ph idx="1"/>
          </p:nvPr>
        </p:nvSpPr>
        <p:spPr/>
        <p:txBody>
          <a:bodyPr/>
          <a:lstStyle/>
          <a:p>
            <a:pPr>
              <a:lnSpc>
                <a:spcPct val="100000"/>
              </a:lnSpc>
            </a:pPr>
            <a:r>
              <a:rPr kumimoji="1" lang="zh-CN" altLang="en-US" dirty="0"/>
              <a:t>不在</a:t>
            </a:r>
            <a:r>
              <a:rPr kumimoji="1" lang="en-US" altLang="zh-CN" dirty="0"/>
              <a:t>M</a:t>
            </a:r>
            <a:r>
              <a:rPr kumimoji="1" lang="zh-CN" altLang="en-US" dirty="0"/>
              <a:t>状态时，谁为不命中提供数据</a:t>
            </a:r>
            <a:r>
              <a:rPr kumimoji="1" lang="en-US" altLang="zh-CN" dirty="0"/>
              <a:t>(cache/</a:t>
            </a:r>
            <a:r>
              <a:rPr kumimoji="1" lang="zh-CN" altLang="en-US" dirty="0"/>
              <a:t>主存</a:t>
            </a:r>
            <a:r>
              <a:rPr kumimoji="1" lang="en-US" altLang="zh-CN" dirty="0"/>
              <a:t>)</a:t>
            </a:r>
          </a:p>
          <a:p>
            <a:pPr lvl="1">
              <a:lnSpc>
                <a:spcPct val="100000"/>
              </a:lnSpc>
            </a:pPr>
            <a:r>
              <a:rPr lang="zh-CN" altLang="en-US" dirty="0"/>
              <a:t>早期</a:t>
            </a:r>
            <a:r>
              <a:rPr lang="en-US" altLang="zh-CN" dirty="0"/>
              <a:t>Illinois MESI</a:t>
            </a:r>
            <a:r>
              <a:rPr lang="zh-CN" altLang="en-US" dirty="0"/>
              <a:t>：</a:t>
            </a:r>
            <a:r>
              <a:rPr lang="en-US" altLang="zh-CN" dirty="0"/>
              <a:t>cache</a:t>
            </a:r>
            <a:r>
              <a:rPr lang="zh-CN" altLang="en-US" dirty="0"/>
              <a:t>提供，因为它比主存快</a:t>
            </a:r>
            <a:endParaRPr lang="en-US" altLang="zh-CN" dirty="0"/>
          </a:p>
          <a:p>
            <a:pPr lvl="1">
              <a:lnSpc>
                <a:spcPct val="100000"/>
              </a:lnSpc>
            </a:pPr>
            <a:r>
              <a:rPr kumimoji="1" lang="zh-CN" altLang="en-US" dirty="0"/>
              <a:t>现代系统未必</a:t>
            </a:r>
            <a:r>
              <a:rPr lang="zh-CN" altLang="en-US" dirty="0"/>
              <a:t>：干涉另一</a:t>
            </a:r>
            <a:r>
              <a:rPr lang="en-US" altLang="zh-CN" dirty="0"/>
              <a:t>cache</a:t>
            </a:r>
            <a:r>
              <a:rPr lang="zh-CN" altLang="en-US" dirty="0"/>
              <a:t>比从主存取数更复杂</a:t>
            </a:r>
            <a:endParaRPr lang="en-US" altLang="zh-CN" dirty="0"/>
          </a:p>
          <a:p>
            <a:pPr>
              <a:lnSpc>
                <a:spcPct val="100000"/>
              </a:lnSpc>
            </a:pPr>
            <a:r>
              <a:rPr kumimoji="1" lang="zh-CN" altLang="en-US" dirty="0"/>
              <a:t>从</a:t>
            </a:r>
            <a:r>
              <a:rPr kumimoji="1" lang="en-US" altLang="zh-CN" dirty="0"/>
              <a:t>cache</a:t>
            </a:r>
            <a:r>
              <a:rPr kumimoji="1" lang="zh-CN" altLang="en-US" dirty="0"/>
              <a:t>到</a:t>
            </a:r>
            <a:r>
              <a:rPr kumimoji="1" lang="en-US" altLang="zh-CN" dirty="0"/>
              <a:t>cache</a:t>
            </a:r>
            <a:r>
              <a:rPr kumimoji="1" lang="zh-CN" altLang="en-US" dirty="0"/>
              <a:t>的共享增加了复杂性</a:t>
            </a:r>
            <a:endParaRPr kumimoji="1" lang="en-US" altLang="zh-CN" dirty="0"/>
          </a:p>
          <a:p>
            <a:pPr lvl="1">
              <a:lnSpc>
                <a:spcPct val="100000"/>
              </a:lnSpc>
            </a:pPr>
            <a:r>
              <a:rPr lang="zh-CN" altLang="en-US" dirty="0"/>
              <a:t>存储器如何知道它应该提供</a:t>
            </a:r>
            <a:r>
              <a:rPr lang="zh-CN" altLang="en-US" dirty="0" smtClean="0"/>
              <a:t>数据：</a:t>
            </a:r>
            <a:r>
              <a:rPr kumimoji="1" lang="zh-CN" altLang="en-US" dirty="0" smtClean="0"/>
              <a:t>必须</a:t>
            </a:r>
            <a:r>
              <a:rPr kumimoji="1" lang="zh-CN" altLang="en-US" dirty="0"/>
              <a:t>等待，直到没有</a:t>
            </a:r>
            <a:r>
              <a:rPr kumimoji="1" lang="en-US" altLang="zh-CN" dirty="0"/>
              <a:t>cache</a:t>
            </a:r>
            <a:r>
              <a:rPr kumimoji="1" lang="zh-CN" altLang="en-US" dirty="0"/>
              <a:t>能供数</a:t>
            </a:r>
            <a:endParaRPr kumimoji="1" lang="en-US" altLang="zh-CN" dirty="0"/>
          </a:p>
          <a:p>
            <a:pPr lvl="1">
              <a:lnSpc>
                <a:spcPct val="100000"/>
              </a:lnSpc>
            </a:pPr>
            <a:r>
              <a:rPr lang="zh-CN" altLang="en-US" dirty="0"/>
              <a:t>如果多个</a:t>
            </a:r>
            <a:r>
              <a:rPr lang="en-US" altLang="zh-CN" dirty="0"/>
              <a:t>cache</a:t>
            </a:r>
            <a:r>
              <a:rPr lang="zh-CN" altLang="en-US" dirty="0"/>
              <a:t>有合法数据，需要选择</a:t>
            </a:r>
            <a:endParaRPr lang="en-US" altLang="zh-CN" dirty="0"/>
          </a:p>
          <a:p>
            <a:pPr>
              <a:lnSpc>
                <a:spcPct val="100000"/>
              </a:lnSpc>
            </a:pPr>
            <a:r>
              <a:rPr kumimoji="1" lang="zh-CN" altLang="en-US" dirty="0"/>
              <a:t>对分布存储且</a:t>
            </a:r>
            <a:r>
              <a:rPr kumimoji="1" lang="en-US" altLang="zh-CN" dirty="0"/>
              <a:t>cache</a:t>
            </a:r>
            <a:r>
              <a:rPr kumimoji="1" lang="zh-CN" altLang="en-US" dirty="0"/>
              <a:t>同一的机器是有益的</a:t>
            </a:r>
            <a:endParaRPr kumimoji="1" lang="en-US" altLang="zh-CN" dirty="0"/>
          </a:p>
          <a:p>
            <a:pPr lvl="1">
              <a:lnSpc>
                <a:spcPct val="100000"/>
              </a:lnSpc>
            </a:pPr>
            <a:r>
              <a:rPr kumimoji="1" lang="zh-CN" altLang="en-US" dirty="0"/>
              <a:t>从邻近的</a:t>
            </a:r>
            <a:r>
              <a:rPr kumimoji="1" lang="en-US" altLang="zh-CN" dirty="0"/>
              <a:t>cache</a:t>
            </a:r>
            <a:r>
              <a:rPr kumimoji="1" lang="zh-CN" altLang="en-US" dirty="0"/>
              <a:t>取数也许比从较远的存储器取数更方便</a:t>
            </a:r>
            <a:endParaRPr kumimoji="1" lang="en-US" altLang="zh-CN" dirty="0"/>
          </a:p>
          <a:p>
            <a:pPr lvl="1">
              <a:lnSpc>
                <a:spcPct val="100000"/>
              </a:lnSpc>
            </a:pPr>
            <a:r>
              <a:rPr kumimoji="1" lang="zh-CN" altLang="en-US" dirty="0"/>
              <a:t>尤其当系统是基于</a:t>
            </a:r>
            <a:r>
              <a:rPr kumimoji="1" lang="en-US" altLang="zh-CN" dirty="0"/>
              <a:t>SMP</a:t>
            </a:r>
            <a:r>
              <a:rPr kumimoji="1" lang="zh-CN" altLang="en-US" dirty="0"/>
              <a:t>结点构建时</a:t>
            </a:r>
            <a:endParaRPr kumimoji="1" lang="en-US" altLang="zh-CN" dirty="0"/>
          </a:p>
          <a:p>
            <a:pPr lvl="2">
              <a:lnSpc>
                <a:spcPct val="100000"/>
              </a:lnSpc>
            </a:pPr>
            <a:r>
              <a:rPr lang="zh-CN" altLang="en-US" dirty="0"/>
              <a:t>如</a:t>
            </a:r>
            <a:r>
              <a:rPr lang="en-US" altLang="zh-CN" dirty="0"/>
              <a:t>Stanford </a:t>
            </a:r>
            <a:r>
              <a:rPr lang="en-US" altLang="zh-CN" dirty="0" smtClean="0"/>
              <a:t>DASH</a:t>
            </a:r>
          </a:p>
        </p:txBody>
      </p:sp>
    </p:spTree>
    <p:extLst>
      <p:ext uri="{BB962C8B-B14F-4D97-AF65-F5344CB8AC3E}">
        <p14:creationId xmlns:p14="http://schemas.microsoft.com/office/powerpoint/2010/main" val="138548385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MOESI</a:t>
            </a:r>
            <a:endParaRPr lang="zh-CN" altLang="en-US" dirty="0"/>
          </a:p>
        </p:txBody>
      </p:sp>
      <p:sp>
        <p:nvSpPr>
          <p:cNvPr id="3" name="内容占位符 2"/>
          <p:cNvSpPr>
            <a:spLocks noGrp="1"/>
          </p:cNvSpPr>
          <p:nvPr>
            <p:ph idx="1"/>
          </p:nvPr>
        </p:nvSpPr>
        <p:spPr/>
        <p:txBody>
          <a:bodyPr/>
          <a:lstStyle/>
          <a:p>
            <a:r>
              <a:rPr lang="en-US" altLang="en-US" dirty="0"/>
              <a:t>Flushing data on the bus when block is Modified</a:t>
            </a:r>
          </a:p>
          <a:p>
            <a:pPr lvl="1"/>
            <a:r>
              <a:rPr lang="en-US" altLang="en-US" dirty="0"/>
              <a:t>Data is picked up by the requesting cache and by main memory</a:t>
            </a:r>
          </a:p>
          <a:p>
            <a:pPr lvl="1"/>
            <a:r>
              <a:rPr lang="en-US" altLang="en-US" dirty="0"/>
              <a:t>But main memory is slower than requesting cache, so the block might be picked up only by the requesting cache and not by main memory</a:t>
            </a:r>
          </a:p>
          <a:p>
            <a:pPr lvl="1"/>
            <a:r>
              <a:rPr lang="en-US" altLang="en-US" dirty="0"/>
              <a:t>This requires a fifth state: </a:t>
            </a:r>
            <a:r>
              <a:rPr lang="en-US" altLang="en-US" dirty="0">
                <a:solidFill>
                  <a:srgbClr val="FF0000"/>
                </a:solidFill>
              </a:rPr>
              <a:t>Owned</a:t>
            </a:r>
            <a:r>
              <a:rPr lang="en-US" altLang="en-US" dirty="0"/>
              <a:t> state </a:t>
            </a:r>
            <a:r>
              <a:rPr lang="en-US" altLang="en-US" dirty="0">
                <a:sym typeface="Symbol" panose="05050102010706020507" pitchFamily="18" charset="2"/>
              </a:rPr>
              <a:t> </a:t>
            </a:r>
            <a:r>
              <a:rPr lang="en-US" altLang="en-US" dirty="0">
                <a:solidFill>
                  <a:srgbClr val="FF0000"/>
                </a:solidFill>
                <a:sym typeface="Symbol" panose="05050102010706020507" pitchFamily="18" charset="2"/>
              </a:rPr>
              <a:t>MOESI</a:t>
            </a:r>
            <a:r>
              <a:rPr lang="en-US" altLang="en-US" dirty="0">
                <a:sym typeface="Symbol" panose="05050102010706020507" pitchFamily="18" charset="2"/>
              </a:rPr>
              <a:t> Protocol</a:t>
            </a:r>
          </a:p>
          <a:p>
            <a:pPr lvl="1"/>
            <a:r>
              <a:rPr lang="en-US" altLang="en-US" dirty="0"/>
              <a:t>Owned state is a Shared Modified state where memory is not up-to-date</a:t>
            </a:r>
          </a:p>
          <a:p>
            <a:pPr lvl="2"/>
            <a:r>
              <a:rPr lang="en-US" altLang="en-US" dirty="0"/>
              <a:t>The block can be shared in more than one cache but owned by only </a:t>
            </a:r>
            <a:r>
              <a:rPr lang="en-US" altLang="en-US" dirty="0" smtClean="0"/>
              <a:t>one</a:t>
            </a:r>
            <a:endParaRPr lang="en-US" altLang="zh-CN" dirty="0" smtClean="0"/>
          </a:p>
          <a:p>
            <a:r>
              <a:rPr kumimoji="1" lang="zh-CN" altLang="en-US" dirty="0" smtClean="0"/>
              <a:t>增加</a:t>
            </a:r>
            <a:r>
              <a:rPr kumimoji="1" lang="zh-CN" altLang="en-US" dirty="0"/>
              <a:t>拥有</a:t>
            </a:r>
            <a:r>
              <a:rPr kumimoji="1" lang="en-US" altLang="zh-CN" dirty="0"/>
              <a:t>(Owner)</a:t>
            </a:r>
            <a:r>
              <a:rPr kumimoji="1" lang="zh-CN" altLang="en-US" dirty="0"/>
              <a:t>状态：</a:t>
            </a:r>
            <a:r>
              <a:rPr kumimoji="1" lang="en-US" altLang="zh-CN" dirty="0"/>
              <a:t>M</a:t>
            </a:r>
            <a:r>
              <a:rPr kumimoji="1" lang="zh-CN" altLang="en-US" dirty="0"/>
              <a:t>转</a:t>
            </a:r>
            <a:r>
              <a:rPr kumimoji="1" lang="en-US" altLang="zh-CN" dirty="0"/>
              <a:t>S</a:t>
            </a:r>
            <a:r>
              <a:rPr kumimoji="1" lang="zh-CN" altLang="en-US" dirty="0"/>
              <a:t>改为转</a:t>
            </a:r>
            <a:r>
              <a:rPr kumimoji="1" lang="en-US" altLang="zh-CN" dirty="0"/>
              <a:t>O</a:t>
            </a:r>
          </a:p>
          <a:p>
            <a:pPr lvl="1"/>
            <a:r>
              <a:rPr kumimoji="1" lang="zh-CN" altLang="en-US" dirty="0"/>
              <a:t>数据不是独占的但存储器数据不再有效</a:t>
            </a:r>
            <a:endParaRPr kumimoji="1" lang="en-US" altLang="zh-CN" dirty="0"/>
          </a:p>
          <a:p>
            <a:pPr lvl="1"/>
            <a:r>
              <a:rPr kumimoji="1" lang="en-US" altLang="zh-CN" dirty="0"/>
              <a:t>Owner</a:t>
            </a:r>
            <a:r>
              <a:rPr kumimoji="1" lang="zh-CN" altLang="en-US" dirty="0"/>
              <a:t>负责向新的请求者供数</a:t>
            </a:r>
            <a:endParaRPr kumimoji="1" lang="en-US" altLang="zh-CN" dirty="0"/>
          </a:p>
          <a:p>
            <a:pPr lvl="1"/>
            <a:r>
              <a:rPr kumimoji="1" lang="en-US" altLang="zh-CN" dirty="0"/>
              <a:t>Owner</a:t>
            </a:r>
            <a:r>
              <a:rPr kumimoji="1" lang="zh-CN" altLang="en-US" dirty="0"/>
              <a:t>在被替换或补无效时，需要写回存储器</a:t>
            </a:r>
          </a:p>
          <a:p>
            <a:pPr lvl="2"/>
            <a:endParaRPr kumimoji="1" lang="zh-CN" altLang="en-US" dirty="0"/>
          </a:p>
          <a:p>
            <a:endParaRPr lang="zh-CN" altLang="en-US" dirty="0"/>
          </a:p>
        </p:txBody>
      </p:sp>
    </p:spTree>
    <p:extLst>
      <p:ext uri="{BB962C8B-B14F-4D97-AF65-F5344CB8AC3E}">
        <p14:creationId xmlns:p14="http://schemas.microsoft.com/office/powerpoint/2010/main" val="1045159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a:t>
            </a:r>
            <a:r>
              <a:rPr lang="zh-CN" altLang="en-US" dirty="0" smtClean="0"/>
              <a:t>更新</a:t>
            </a:r>
            <a:r>
              <a:rPr lang="en-US" altLang="zh-CN" dirty="0" smtClean="0"/>
              <a:t>(update)</a:t>
            </a:r>
            <a:r>
              <a:rPr lang="zh-CN" altLang="en-US" dirty="0" smtClean="0"/>
              <a:t>的协议</a:t>
            </a:r>
            <a:endParaRPr kumimoji="1" lang="zh-CN" altLang="en-US" dirty="0"/>
          </a:p>
        </p:txBody>
      </p:sp>
      <p:sp>
        <p:nvSpPr>
          <p:cNvPr id="3" name="内容占位符 2"/>
          <p:cNvSpPr>
            <a:spLocks noGrp="1"/>
          </p:cNvSpPr>
          <p:nvPr>
            <p:ph sz="half" idx="1"/>
          </p:nvPr>
        </p:nvSpPr>
        <p:spPr>
          <a:xfrm>
            <a:off x="623392" y="1628800"/>
            <a:ext cx="4608512" cy="4968552"/>
          </a:xfrm>
        </p:spPr>
        <p:txBody>
          <a:bodyPr/>
          <a:lstStyle/>
          <a:p>
            <a:r>
              <a:rPr kumimoji="1" lang="zh-CN" altLang="en-US" dirty="0" smtClean="0"/>
              <a:t>如果数据需要在处理器之间通信的话</a:t>
            </a:r>
            <a:endParaRPr kumimoji="1" lang="en-US" altLang="zh-CN" dirty="0" smtClean="0"/>
          </a:p>
          <a:p>
            <a:pPr lvl="1"/>
            <a:r>
              <a:rPr lang="zh-CN" altLang="en-US" dirty="0" smtClean="0"/>
              <a:t>使无效协议就显得低效了</a:t>
            </a:r>
            <a:endParaRPr lang="en-US" altLang="zh-CN" dirty="0" smtClean="0"/>
          </a:p>
          <a:p>
            <a:r>
              <a:rPr kumimoji="1" lang="zh-CN" altLang="en-US" dirty="0" smtClean="0"/>
              <a:t>例如一个共享的旗标</a:t>
            </a:r>
            <a:r>
              <a:rPr kumimoji="1" lang="en-US" altLang="zh-CN" dirty="0" smtClean="0"/>
              <a:t>(Flag)</a:t>
            </a:r>
          </a:p>
          <a:p>
            <a:pPr lvl="1"/>
            <a:r>
              <a:rPr lang="en-US" altLang="zh-CN" dirty="0" smtClean="0"/>
              <a:t>P0</a:t>
            </a:r>
            <a:r>
              <a:rPr lang="zh-CN" altLang="en-US" dirty="0" smtClean="0"/>
              <a:t>等待它变为</a:t>
            </a:r>
            <a:r>
              <a:rPr lang="en-US" altLang="zh-CN" dirty="0" smtClean="0"/>
              <a:t>0</a:t>
            </a:r>
            <a:r>
              <a:rPr lang="zh-CN" altLang="en-US" dirty="0" smtClean="0"/>
              <a:t>，然后做些工作，再置它为</a:t>
            </a:r>
            <a:r>
              <a:rPr lang="en-US" altLang="zh-CN" dirty="0" smtClean="0"/>
              <a:t>1</a:t>
            </a:r>
          </a:p>
          <a:p>
            <a:pPr lvl="1"/>
            <a:r>
              <a:rPr kumimoji="1" lang="en-US" altLang="zh-CN" dirty="0" smtClean="0"/>
              <a:t>P1</a:t>
            </a:r>
            <a:r>
              <a:rPr kumimoji="1" lang="zh-CN" altLang="en-US" dirty="0" smtClean="0"/>
              <a:t>等待它变为</a:t>
            </a:r>
            <a:r>
              <a:rPr kumimoji="1" lang="en-US" altLang="zh-CN" dirty="0" smtClean="0"/>
              <a:t>1</a:t>
            </a:r>
            <a:r>
              <a:rPr kumimoji="1" lang="zh-CN" altLang="en-US" dirty="0" smtClean="0"/>
              <a:t>，然后做些工作，再置它为</a:t>
            </a:r>
            <a:r>
              <a:rPr kumimoji="1" lang="en-US" altLang="zh-CN" dirty="0" smtClean="0"/>
              <a:t>0</a:t>
            </a:r>
          </a:p>
          <a:p>
            <a:r>
              <a:rPr lang="zh-CN" altLang="en-US" dirty="0" smtClean="0"/>
              <a:t>会产生多少总线事务？</a:t>
            </a:r>
            <a:endParaRPr kumimoji="1" lang="zh-CN" altLang="en-US" dirty="0"/>
          </a:p>
        </p:txBody>
      </p:sp>
      <p:sp>
        <p:nvSpPr>
          <p:cNvPr id="4" name="内容占位符 3"/>
          <p:cNvSpPr>
            <a:spLocks noGrp="1"/>
          </p:cNvSpPr>
          <p:nvPr>
            <p:ph sz="half" idx="2"/>
          </p:nvPr>
        </p:nvSpPr>
        <p:spPr>
          <a:xfrm>
            <a:off x="5734744" y="1628800"/>
            <a:ext cx="5905872" cy="4968552"/>
          </a:xfrm>
        </p:spPr>
        <p:txBody>
          <a:bodyPr/>
          <a:lstStyle/>
          <a:p>
            <a:r>
              <a:rPr kumimoji="1" lang="zh-CN" altLang="en-US" dirty="0"/>
              <a:t>写</a:t>
            </a:r>
            <a:r>
              <a:rPr kumimoji="1" lang="zh-CN" altLang="en-US" dirty="0" smtClean="0"/>
              <a:t>操作主动更新</a:t>
            </a:r>
            <a:r>
              <a:rPr kumimoji="1" lang="zh-CN" altLang="en-US" dirty="0"/>
              <a:t>其它</a:t>
            </a:r>
            <a:r>
              <a:rPr kumimoji="1" lang="en-US" altLang="zh-CN" dirty="0"/>
              <a:t>cache</a:t>
            </a:r>
            <a:r>
              <a:rPr kumimoji="1" lang="zh-CN" altLang="en-US" dirty="0"/>
              <a:t>中的值</a:t>
            </a:r>
            <a:endParaRPr kumimoji="1" lang="en-US" altLang="zh-CN" dirty="0"/>
          </a:p>
          <a:p>
            <a:pPr lvl="1"/>
            <a:r>
              <a:rPr lang="zh-CN" altLang="en-US" dirty="0"/>
              <a:t>需要新的更新总线事务</a:t>
            </a:r>
            <a:endParaRPr lang="en-US" altLang="zh-CN" dirty="0"/>
          </a:p>
          <a:p>
            <a:r>
              <a:rPr kumimoji="1" lang="zh-CN" altLang="en-US" dirty="0"/>
              <a:t>优点</a:t>
            </a:r>
            <a:endParaRPr kumimoji="1" lang="en-US" altLang="zh-CN" dirty="0"/>
          </a:p>
          <a:p>
            <a:pPr lvl="1"/>
            <a:r>
              <a:rPr lang="zh-CN" altLang="en-US" dirty="0"/>
              <a:t>其它处理器在下次访问时会命中：降低了延迟</a:t>
            </a:r>
            <a:endParaRPr lang="en-US" altLang="zh-CN" dirty="0"/>
          </a:p>
          <a:p>
            <a:pPr lvl="1"/>
            <a:r>
              <a:rPr kumimoji="1" lang="zh-CN" altLang="en-US" dirty="0"/>
              <a:t>单个总线事务更新多个</a:t>
            </a:r>
            <a:r>
              <a:rPr kumimoji="1" lang="en-US" altLang="zh-CN" dirty="0"/>
              <a:t>cache</a:t>
            </a:r>
            <a:r>
              <a:rPr kumimoji="1" lang="zh-CN" altLang="en-US" dirty="0"/>
              <a:t>，节省了带宽</a:t>
            </a:r>
            <a:endParaRPr kumimoji="1" lang="en-US" altLang="zh-CN" dirty="0"/>
          </a:p>
          <a:p>
            <a:pPr lvl="2"/>
            <a:r>
              <a:rPr lang="zh-CN" altLang="en-US" dirty="0" smtClean="0"/>
              <a:t>实际上只需要传送写入</a:t>
            </a:r>
            <a:r>
              <a:rPr lang="zh-CN" altLang="en-US" dirty="0"/>
              <a:t>的那个</a:t>
            </a:r>
            <a:r>
              <a:rPr lang="zh-CN" altLang="en-US" dirty="0" smtClean="0"/>
              <a:t>字，</a:t>
            </a:r>
            <a:r>
              <a:rPr lang="zh-CN" altLang="en-US" dirty="0"/>
              <a:t>而不是整个</a:t>
            </a:r>
            <a:r>
              <a:rPr lang="en-US" altLang="zh-CN" dirty="0"/>
              <a:t>cache</a:t>
            </a:r>
            <a:r>
              <a:rPr lang="zh-CN" altLang="en-US" dirty="0"/>
              <a:t>块</a:t>
            </a:r>
            <a:endParaRPr lang="en-US" altLang="zh-CN" dirty="0"/>
          </a:p>
          <a:p>
            <a:r>
              <a:rPr kumimoji="1" lang="zh-CN" altLang="en-US" dirty="0"/>
              <a:t>缺点</a:t>
            </a:r>
            <a:endParaRPr kumimoji="1" lang="en-US" altLang="zh-CN" dirty="0"/>
          </a:p>
          <a:p>
            <a:pPr lvl="1"/>
            <a:r>
              <a:rPr lang="zh-CN" altLang="en-US" dirty="0"/>
              <a:t>同一处理器的多个写操作导致许多更新事务</a:t>
            </a:r>
            <a:endParaRPr lang="en-US" altLang="zh-CN" dirty="0"/>
          </a:p>
          <a:p>
            <a:pPr lvl="2"/>
            <a:r>
              <a:rPr kumimoji="1" lang="zh-CN" altLang="en-US" dirty="0"/>
              <a:t>使无效时，仅第一个写产生总线事务</a:t>
            </a:r>
          </a:p>
          <a:p>
            <a:endParaRPr lang="zh-CN" altLang="en-US" dirty="0"/>
          </a:p>
        </p:txBody>
      </p:sp>
    </p:spTree>
    <p:extLst>
      <p:ext uri="{BB962C8B-B14F-4D97-AF65-F5344CB8AC3E}">
        <p14:creationId xmlns:p14="http://schemas.microsoft.com/office/powerpoint/2010/main" val="18054859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Dragon</a:t>
            </a:r>
            <a:r>
              <a:rPr kumimoji="1" lang="zh-CN" altLang="en-US" dirty="0" smtClean="0"/>
              <a:t>后写更新协议</a:t>
            </a:r>
            <a:r>
              <a:rPr kumimoji="1" lang="en-US" altLang="zh-CN" dirty="0" smtClean="0"/>
              <a:t/>
            </a:r>
            <a:br>
              <a:rPr kumimoji="1" lang="en-US" altLang="zh-CN" dirty="0" smtClean="0"/>
            </a:br>
            <a:r>
              <a:rPr kumimoji="1" lang="en-US" altLang="zh-CN" dirty="0" smtClean="0"/>
              <a:t>Write back, Write update</a:t>
            </a:r>
            <a:endParaRPr kumimoji="1" lang="zh-CN" altLang="en-US" dirty="0"/>
          </a:p>
        </p:txBody>
      </p:sp>
      <p:sp>
        <p:nvSpPr>
          <p:cNvPr id="3" name="内容占位符 2"/>
          <p:cNvSpPr>
            <a:spLocks noGrp="1"/>
          </p:cNvSpPr>
          <p:nvPr>
            <p:ph idx="1"/>
          </p:nvPr>
        </p:nvSpPr>
        <p:spPr>
          <a:xfrm>
            <a:off x="767408" y="1556792"/>
            <a:ext cx="10873208" cy="4322068"/>
          </a:xfrm>
        </p:spPr>
        <p:txBody>
          <a:bodyPr/>
          <a:lstStyle/>
          <a:p>
            <a:pPr>
              <a:lnSpc>
                <a:spcPct val="100000"/>
              </a:lnSpc>
            </a:pPr>
            <a:r>
              <a:rPr kumimoji="1" lang="en-US" altLang="zh-CN" dirty="0"/>
              <a:t>4</a:t>
            </a:r>
            <a:r>
              <a:rPr kumimoji="1" lang="zh-CN" altLang="en-US" dirty="0"/>
              <a:t>种状态</a:t>
            </a:r>
            <a:endParaRPr kumimoji="1" lang="en-US" altLang="zh-CN" dirty="0"/>
          </a:p>
          <a:p>
            <a:pPr lvl="1">
              <a:lnSpc>
                <a:spcPct val="100000"/>
              </a:lnSpc>
            </a:pPr>
            <a:r>
              <a:rPr lang="zh-CN" altLang="en-US" dirty="0" smtClean="0"/>
              <a:t>独占</a:t>
            </a:r>
            <a:r>
              <a:rPr lang="zh-CN" altLang="en-US" dirty="0"/>
              <a:t>且</a:t>
            </a:r>
            <a:r>
              <a:rPr lang="zh-CN" altLang="en-US" dirty="0" smtClean="0"/>
              <a:t>干净</a:t>
            </a:r>
            <a:r>
              <a:rPr lang="en-US" altLang="zh-CN" dirty="0"/>
              <a:t>(E)</a:t>
            </a:r>
            <a:r>
              <a:rPr lang="zh-CN" altLang="en-US" dirty="0"/>
              <a:t>：仅</a:t>
            </a:r>
            <a:r>
              <a:rPr lang="zh-CN" altLang="en-US" dirty="0" smtClean="0"/>
              <a:t>我这个</a:t>
            </a:r>
            <a:r>
              <a:rPr lang="en-US" altLang="zh-CN" dirty="0" smtClean="0"/>
              <a:t>cache</a:t>
            </a:r>
            <a:r>
              <a:rPr lang="zh-CN" altLang="en-US" dirty="0" smtClean="0"/>
              <a:t>有数据块，存储器数据是最新的</a:t>
            </a:r>
            <a:endParaRPr lang="en-US" altLang="zh-CN" dirty="0"/>
          </a:p>
          <a:p>
            <a:pPr lvl="1">
              <a:lnSpc>
                <a:spcPct val="100000"/>
              </a:lnSpc>
            </a:pPr>
            <a:r>
              <a:rPr lang="zh-CN" altLang="en-US" dirty="0" smtClean="0"/>
              <a:t>共享且干净</a:t>
            </a:r>
            <a:r>
              <a:rPr lang="en-US" altLang="zh-CN" dirty="0"/>
              <a:t>(</a:t>
            </a:r>
            <a:r>
              <a:rPr lang="en-US" altLang="zh-CN" dirty="0" err="1"/>
              <a:t>Sc</a:t>
            </a:r>
            <a:r>
              <a:rPr lang="en-US" altLang="zh-CN" dirty="0"/>
              <a:t>)</a:t>
            </a:r>
            <a:r>
              <a:rPr lang="zh-CN" altLang="en-US" dirty="0"/>
              <a:t>：我和</a:t>
            </a:r>
            <a:r>
              <a:rPr lang="zh-CN" altLang="en-US" dirty="0" smtClean="0"/>
              <a:t>其它</a:t>
            </a:r>
            <a:r>
              <a:rPr lang="en-US" altLang="zh-CN" dirty="0" smtClean="0"/>
              <a:t>cache</a:t>
            </a:r>
            <a:r>
              <a:rPr lang="zh-CN" altLang="en-US" dirty="0" smtClean="0"/>
              <a:t>都有数据块，但我不是属主</a:t>
            </a:r>
            <a:r>
              <a:rPr lang="en-US" altLang="zh-CN" dirty="0" smtClean="0"/>
              <a:t>(owner)</a:t>
            </a:r>
          </a:p>
          <a:p>
            <a:pPr lvl="2">
              <a:lnSpc>
                <a:spcPct val="100000"/>
              </a:lnSpc>
            </a:pPr>
            <a:r>
              <a:rPr lang="zh-CN" altLang="en-US" dirty="0" smtClean="0"/>
              <a:t>存储器也许是、也许不是最新的</a:t>
            </a:r>
            <a:endParaRPr lang="en-US" altLang="zh-CN" dirty="0"/>
          </a:p>
          <a:p>
            <a:pPr lvl="1">
              <a:lnSpc>
                <a:spcPct val="100000"/>
              </a:lnSpc>
            </a:pPr>
            <a:r>
              <a:rPr kumimoji="1" lang="zh-CN" altLang="en-US" dirty="0" smtClean="0"/>
              <a:t>共享已修改</a:t>
            </a:r>
            <a:r>
              <a:rPr kumimoji="1" lang="en-US" altLang="zh-CN" dirty="0"/>
              <a:t>(</a:t>
            </a:r>
            <a:r>
              <a:rPr kumimoji="1" lang="en-US" altLang="zh-CN" dirty="0" err="1"/>
              <a:t>Sm</a:t>
            </a:r>
            <a:r>
              <a:rPr kumimoji="1" lang="en-US" altLang="zh-CN" dirty="0"/>
              <a:t>)</a:t>
            </a:r>
            <a:r>
              <a:rPr kumimoji="1" lang="zh-CN" altLang="en-US" dirty="0"/>
              <a:t>：我和</a:t>
            </a:r>
            <a:r>
              <a:rPr kumimoji="1" lang="zh-CN" altLang="en-US" dirty="0" smtClean="0"/>
              <a:t>其它</a:t>
            </a:r>
            <a:r>
              <a:rPr kumimoji="1" lang="en-US" altLang="zh-CN" dirty="0" smtClean="0"/>
              <a:t>cache</a:t>
            </a:r>
            <a:r>
              <a:rPr kumimoji="1" lang="zh-CN" altLang="en-US" dirty="0" smtClean="0"/>
              <a:t>都有数据块，且</a:t>
            </a:r>
            <a:r>
              <a:rPr lang="zh-CN" altLang="en-US" dirty="0" smtClean="0"/>
              <a:t>我</a:t>
            </a:r>
            <a:r>
              <a:rPr lang="zh-CN" altLang="en-US" dirty="0"/>
              <a:t>是属主</a:t>
            </a:r>
            <a:endParaRPr lang="en-US" altLang="zh-CN" dirty="0"/>
          </a:p>
          <a:p>
            <a:pPr lvl="2">
              <a:lnSpc>
                <a:spcPct val="100000"/>
              </a:lnSpc>
            </a:pPr>
            <a:r>
              <a:rPr kumimoji="1" lang="zh-CN" altLang="en-US" dirty="0" smtClean="0"/>
              <a:t>存储器不是最新的。</a:t>
            </a:r>
            <a:r>
              <a:rPr kumimoji="1" lang="en-US" altLang="zh-CN" dirty="0" smtClean="0"/>
              <a:t>Sm</a:t>
            </a:r>
            <a:r>
              <a:rPr kumimoji="1" lang="zh-CN" altLang="en-US" dirty="0"/>
              <a:t>和</a:t>
            </a:r>
            <a:r>
              <a:rPr kumimoji="1" lang="en-US" altLang="zh-CN" dirty="0" err="1"/>
              <a:t>Sc</a:t>
            </a:r>
            <a:r>
              <a:rPr kumimoji="1" lang="zh-CN" altLang="en-US" dirty="0"/>
              <a:t>可在不同</a:t>
            </a:r>
            <a:r>
              <a:rPr kumimoji="1" lang="en-US" altLang="zh-CN" dirty="0"/>
              <a:t>cache</a:t>
            </a:r>
            <a:r>
              <a:rPr kumimoji="1" lang="zh-CN" altLang="en-US" dirty="0"/>
              <a:t>中共存</a:t>
            </a:r>
            <a:r>
              <a:rPr lang="zh-CN" altLang="en-US" dirty="0" smtClean="0"/>
              <a:t>，其中仅</a:t>
            </a:r>
            <a:r>
              <a:rPr lang="zh-CN" altLang="en-US" dirty="0"/>
              <a:t>有一</a:t>
            </a:r>
            <a:r>
              <a:rPr lang="zh-CN" altLang="en-US" dirty="0" smtClean="0"/>
              <a:t>个</a:t>
            </a:r>
            <a:r>
              <a:rPr lang="en-US" altLang="zh-CN" dirty="0" smtClean="0"/>
              <a:t>cache</a:t>
            </a:r>
            <a:r>
              <a:rPr lang="zh-CN" altLang="en-US" dirty="0" smtClean="0"/>
              <a:t>是</a:t>
            </a:r>
            <a:r>
              <a:rPr lang="en-US" altLang="zh-CN" dirty="0" smtClean="0"/>
              <a:t>Sm</a:t>
            </a:r>
            <a:r>
              <a:rPr lang="zh-CN" altLang="en-US" dirty="0"/>
              <a:t>态</a:t>
            </a:r>
            <a:endParaRPr lang="en-US" altLang="zh-CN" dirty="0"/>
          </a:p>
          <a:p>
            <a:pPr lvl="1">
              <a:lnSpc>
                <a:spcPct val="100000"/>
              </a:lnSpc>
            </a:pPr>
            <a:r>
              <a:rPr kumimoji="1" lang="zh-CN" altLang="en-US" dirty="0"/>
              <a:t>改过或脏的</a:t>
            </a:r>
            <a:r>
              <a:rPr kumimoji="1" lang="en-US" altLang="zh-CN" dirty="0"/>
              <a:t>(</a:t>
            </a:r>
            <a:r>
              <a:rPr lang="en-US" altLang="zh-CN" dirty="0"/>
              <a:t>M</a:t>
            </a:r>
            <a:r>
              <a:rPr kumimoji="1" lang="en-US" altLang="zh-CN" dirty="0"/>
              <a:t>)</a:t>
            </a:r>
            <a:r>
              <a:rPr kumimoji="1" lang="zh-CN" altLang="en-US" dirty="0"/>
              <a:t>：仅</a:t>
            </a:r>
            <a:r>
              <a:rPr kumimoji="1" lang="zh-CN" altLang="en-US" dirty="0" smtClean="0"/>
              <a:t>我这里有数据</a:t>
            </a:r>
            <a:r>
              <a:rPr lang="zh-CN" altLang="en-US" dirty="0" smtClean="0"/>
              <a:t>，存储器内容不是最新的</a:t>
            </a:r>
            <a:endParaRPr kumimoji="1" lang="en-US" altLang="zh-CN" dirty="0"/>
          </a:p>
          <a:p>
            <a:pPr>
              <a:lnSpc>
                <a:spcPct val="100000"/>
              </a:lnSpc>
            </a:pPr>
            <a:r>
              <a:rPr lang="zh-CN" altLang="en-US" dirty="0"/>
              <a:t>没有无效</a:t>
            </a:r>
            <a:r>
              <a:rPr lang="en-US" altLang="zh-CN" dirty="0"/>
              <a:t>(I)</a:t>
            </a:r>
            <a:r>
              <a:rPr lang="zh-CN" altLang="en-US" dirty="0"/>
              <a:t>状态</a:t>
            </a:r>
            <a:r>
              <a:rPr lang="zh-CN" altLang="en-US" dirty="0" smtClean="0"/>
              <a:t>，</a:t>
            </a:r>
            <a:r>
              <a:rPr lang="en-US" altLang="zh-CN" dirty="0" smtClean="0"/>
              <a:t>cache</a:t>
            </a:r>
            <a:r>
              <a:rPr lang="zh-CN" altLang="en-US" dirty="0" smtClean="0"/>
              <a:t>块不会被无效，只会被替换</a:t>
            </a:r>
            <a:endParaRPr lang="en-US" altLang="zh-CN" dirty="0" smtClean="0"/>
          </a:p>
          <a:p>
            <a:pPr lvl="1">
              <a:lnSpc>
                <a:spcPct val="100000"/>
              </a:lnSpc>
            </a:pPr>
            <a:r>
              <a:rPr lang="zh-CN" altLang="en-US" dirty="0" smtClean="0"/>
              <a:t>初始化时，需要</a:t>
            </a:r>
            <a:r>
              <a:rPr lang="zh-CN" altLang="en-US" dirty="0"/>
              <a:t>强制</a:t>
            </a:r>
            <a:r>
              <a:rPr lang="zh-CN" altLang="en-US" dirty="0" smtClean="0"/>
              <a:t>每个</a:t>
            </a:r>
            <a:r>
              <a:rPr lang="en-US" altLang="zh-CN" dirty="0" smtClean="0"/>
              <a:t>cache set</a:t>
            </a:r>
            <a:r>
              <a:rPr lang="zh-CN" altLang="en-US" dirty="0" smtClean="0"/>
              <a:t>出现</a:t>
            </a:r>
            <a:r>
              <a:rPr lang="zh-CN" altLang="en-US" dirty="0"/>
              <a:t>未</a:t>
            </a:r>
            <a:r>
              <a:rPr lang="zh-CN" altLang="en-US" dirty="0" smtClean="0"/>
              <a:t>命中，</a:t>
            </a:r>
            <a:r>
              <a:rPr lang="zh-CN" altLang="en-US" dirty="0"/>
              <a:t>以此启动协议</a:t>
            </a:r>
            <a:r>
              <a:rPr lang="zh-CN" altLang="en-US" dirty="0" smtClean="0"/>
              <a:t>流程</a:t>
            </a:r>
            <a:endParaRPr lang="en-US" altLang="zh-CN" dirty="0"/>
          </a:p>
        </p:txBody>
      </p:sp>
    </p:spTree>
    <p:extLst>
      <p:ext uri="{BB962C8B-B14F-4D97-AF65-F5344CB8AC3E}">
        <p14:creationId xmlns:p14="http://schemas.microsoft.com/office/powerpoint/2010/main" val="34384648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smtClean="0"/>
              <a:t>Dragon</a:t>
            </a:r>
            <a:r>
              <a:rPr lang="zh-CN" altLang="en-US" dirty="0" smtClean="0"/>
              <a:t>的状态转换图</a:t>
            </a:r>
            <a:endParaRPr kumimoji="1" lang="zh-CN" altLang="en-US" dirty="0"/>
          </a:p>
        </p:txBody>
      </p:sp>
      <p:sp>
        <p:nvSpPr>
          <p:cNvPr id="3" name="内容占位符 2"/>
          <p:cNvSpPr>
            <a:spLocks noGrp="1"/>
          </p:cNvSpPr>
          <p:nvPr>
            <p:ph idx="1"/>
          </p:nvPr>
        </p:nvSpPr>
        <p:spPr/>
        <p:txBody>
          <a:bodyPr/>
          <a:lstStyle/>
          <a:p>
            <a:pPr>
              <a:spcBef>
                <a:spcPct val="10000"/>
              </a:spcBef>
            </a:pPr>
            <a:r>
              <a:rPr lang="en-US" altLang="en-US" dirty="0"/>
              <a:t>Cache Miss Events</a:t>
            </a:r>
          </a:p>
          <a:p>
            <a:pPr lvl="1">
              <a:spcBef>
                <a:spcPct val="10000"/>
              </a:spcBef>
            </a:pPr>
            <a:r>
              <a:rPr lang="en-US" altLang="en-US" dirty="0" err="1">
                <a:solidFill>
                  <a:srgbClr val="FF0000"/>
                </a:solidFill>
              </a:rPr>
              <a:t>PrRdMiss</a:t>
            </a:r>
            <a:r>
              <a:rPr lang="en-US" altLang="en-US" dirty="0">
                <a:solidFill>
                  <a:srgbClr val="FF0000"/>
                </a:solidFill>
              </a:rPr>
              <a:t>, </a:t>
            </a:r>
            <a:r>
              <a:rPr lang="en-US" altLang="en-US" dirty="0" err="1">
                <a:solidFill>
                  <a:srgbClr val="FF0000"/>
                </a:solidFill>
              </a:rPr>
              <a:t>PrWrMiss</a:t>
            </a:r>
            <a:endParaRPr lang="en-US" altLang="en-US" dirty="0">
              <a:solidFill>
                <a:srgbClr val="FF0000"/>
              </a:solidFill>
            </a:endParaRPr>
          </a:p>
          <a:p>
            <a:pPr lvl="2">
              <a:spcBef>
                <a:spcPct val="10000"/>
              </a:spcBef>
            </a:pPr>
            <a:r>
              <a:rPr lang="en-US" altLang="en-US" dirty="0"/>
              <a:t>Block is not present in cache</a:t>
            </a:r>
          </a:p>
          <a:p>
            <a:pPr>
              <a:spcBef>
                <a:spcPct val="10000"/>
              </a:spcBef>
            </a:pPr>
            <a:r>
              <a:rPr lang="en-US" altLang="en-US" dirty="0"/>
              <a:t>New Bus Transaction</a:t>
            </a:r>
          </a:p>
          <a:p>
            <a:pPr lvl="1">
              <a:spcBef>
                <a:spcPct val="10000"/>
              </a:spcBef>
            </a:pPr>
            <a:r>
              <a:rPr lang="en-US" altLang="en-US" dirty="0"/>
              <a:t>Bus Update: </a:t>
            </a:r>
            <a:r>
              <a:rPr lang="en-US" altLang="en-US" dirty="0" err="1">
                <a:solidFill>
                  <a:srgbClr val="FF0000"/>
                </a:solidFill>
              </a:rPr>
              <a:t>BusUpd</a:t>
            </a:r>
            <a:endParaRPr lang="en-US" altLang="en-US" dirty="0">
              <a:solidFill>
                <a:srgbClr val="FF0000"/>
              </a:solidFill>
            </a:endParaRPr>
          </a:p>
          <a:p>
            <a:pPr lvl="1">
              <a:spcBef>
                <a:spcPct val="10000"/>
              </a:spcBef>
            </a:pPr>
            <a:r>
              <a:rPr lang="en-US" altLang="en-US" dirty="0"/>
              <a:t>Broadcast single word on bus</a:t>
            </a:r>
          </a:p>
          <a:p>
            <a:pPr lvl="1">
              <a:spcBef>
                <a:spcPct val="10000"/>
              </a:spcBef>
            </a:pPr>
            <a:r>
              <a:rPr lang="en-US" altLang="en-US" dirty="0"/>
              <a:t>Update other relevant caches</a:t>
            </a:r>
          </a:p>
          <a:p>
            <a:pPr>
              <a:spcBef>
                <a:spcPct val="30000"/>
              </a:spcBef>
            </a:pPr>
            <a:r>
              <a:rPr lang="en-US" altLang="en-US" dirty="0"/>
              <a:t>Read Hit: no action required</a:t>
            </a:r>
          </a:p>
          <a:p>
            <a:pPr>
              <a:spcBef>
                <a:spcPct val="10000"/>
              </a:spcBef>
            </a:pPr>
            <a:r>
              <a:rPr lang="en-US" altLang="en-US" dirty="0"/>
              <a:t>Read Miss: </a:t>
            </a:r>
            <a:r>
              <a:rPr lang="en-US" altLang="en-US" dirty="0" err="1"/>
              <a:t>BusRd</a:t>
            </a:r>
            <a:r>
              <a:rPr lang="en-US" altLang="en-US" dirty="0"/>
              <a:t> Transaction</a:t>
            </a:r>
          </a:p>
          <a:p>
            <a:pPr lvl="1">
              <a:spcBef>
                <a:spcPct val="10000"/>
              </a:spcBef>
            </a:pPr>
            <a:r>
              <a:rPr lang="en-US" altLang="en-US" dirty="0"/>
              <a:t>Block loaded into E or </a:t>
            </a:r>
            <a:r>
              <a:rPr lang="en-US" altLang="en-US" dirty="0" err="1"/>
              <a:t>Sc</a:t>
            </a:r>
            <a:r>
              <a:rPr lang="en-US" altLang="en-US" dirty="0"/>
              <a:t> state</a:t>
            </a:r>
          </a:p>
          <a:p>
            <a:pPr lvl="2">
              <a:spcBef>
                <a:spcPct val="10000"/>
              </a:spcBef>
            </a:pPr>
            <a:r>
              <a:rPr lang="en-US" altLang="en-US" dirty="0"/>
              <a:t>Depending on shared signal </a:t>
            </a:r>
            <a:r>
              <a:rPr lang="en-US" altLang="en-US" i="1" dirty="0"/>
              <a:t>S</a:t>
            </a:r>
            <a:endParaRPr lang="en-US" altLang="en-US" dirty="0"/>
          </a:p>
          <a:p>
            <a:pPr lvl="1">
              <a:spcBef>
                <a:spcPct val="10000"/>
              </a:spcBef>
            </a:pPr>
            <a:r>
              <a:rPr lang="en-US" altLang="en-US" dirty="0"/>
              <a:t>If block exists in another cache</a:t>
            </a:r>
          </a:p>
          <a:p>
            <a:pPr lvl="2">
              <a:spcBef>
                <a:spcPct val="10000"/>
              </a:spcBef>
            </a:pPr>
            <a:r>
              <a:rPr lang="en-US" altLang="en-US" dirty="0"/>
              <a:t>If in M or Sm state then cache </a:t>
            </a:r>
            <a:r>
              <a:rPr lang="en-US" altLang="en-US" dirty="0" smtClean="0"/>
              <a:t/>
            </a:r>
            <a:br>
              <a:rPr lang="en-US" altLang="en-US" dirty="0" smtClean="0"/>
            </a:br>
            <a:r>
              <a:rPr lang="en-US" altLang="en-US" dirty="0" smtClean="0"/>
              <a:t>supplies </a:t>
            </a:r>
            <a:r>
              <a:rPr lang="en-US" altLang="en-US" dirty="0"/>
              <a:t>data &amp; changes state to Sm</a:t>
            </a:r>
          </a:p>
          <a:p>
            <a:endParaRPr lang="zh-CN" altLang="en-US" dirty="0"/>
          </a:p>
        </p:txBody>
      </p:sp>
      <p:pic>
        <p:nvPicPr>
          <p:cNvPr id="2" name="图片 1"/>
          <p:cNvPicPr>
            <a:picLocks noChangeAspect="1"/>
          </p:cNvPicPr>
          <p:nvPr/>
        </p:nvPicPr>
        <p:blipFill>
          <a:blip r:embed="rId3"/>
          <a:stretch>
            <a:fillRect/>
          </a:stretch>
        </p:blipFill>
        <p:spPr>
          <a:xfrm>
            <a:off x="6888088" y="1469279"/>
            <a:ext cx="5112568" cy="5388721"/>
          </a:xfrm>
          <a:prstGeom prst="rect">
            <a:avLst/>
          </a:prstGeom>
        </p:spPr>
      </p:pic>
    </p:spTree>
    <p:extLst>
      <p:ext uri="{BB962C8B-B14F-4D97-AF65-F5344CB8AC3E}">
        <p14:creationId xmlns:p14="http://schemas.microsoft.com/office/powerpoint/2010/main" val="366753956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en-US" altLang="en-US" smtClean="0"/>
              <a:t>Dragon State Transition Diagram - cont’d</a:t>
            </a:r>
            <a:endParaRPr lang="en-US" altLang="zh-CN" smtClean="0"/>
          </a:p>
        </p:txBody>
      </p:sp>
      <p:sp>
        <p:nvSpPr>
          <p:cNvPr id="36868" name="Rectangle 3"/>
          <p:cNvSpPr>
            <a:spLocks noGrp="1" noChangeArrowheads="1"/>
          </p:cNvSpPr>
          <p:nvPr>
            <p:ph type="body" idx="1"/>
          </p:nvPr>
        </p:nvSpPr>
        <p:spPr/>
        <p:txBody>
          <a:bodyPr/>
          <a:lstStyle/>
          <a:p>
            <a:r>
              <a:rPr lang="en-US" altLang="en-US" smtClean="0"/>
              <a:t>Write Hit: </a:t>
            </a:r>
          </a:p>
          <a:p>
            <a:pPr lvl="1"/>
            <a:r>
              <a:rPr lang="en-US" altLang="zh-CN" smtClean="0"/>
              <a:t>If Modified, no action needed</a:t>
            </a:r>
          </a:p>
          <a:p>
            <a:pPr lvl="1"/>
            <a:r>
              <a:rPr lang="en-US" altLang="zh-CN" smtClean="0"/>
              <a:t>If Exclusive then </a:t>
            </a:r>
          </a:p>
          <a:p>
            <a:pPr lvl="2"/>
            <a:r>
              <a:rPr lang="en-US" altLang="zh-CN" smtClean="0"/>
              <a:t>Make it Modified</a:t>
            </a:r>
          </a:p>
          <a:p>
            <a:pPr lvl="2"/>
            <a:r>
              <a:rPr lang="en-US" altLang="zh-CN" smtClean="0"/>
              <a:t>No bus action needed</a:t>
            </a:r>
          </a:p>
          <a:p>
            <a:pPr lvl="1"/>
            <a:r>
              <a:rPr lang="en-US" altLang="zh-CN" smtClean="0"/>
              <a:t>If shared (Sc or Sm)</a:t>
            </a:r>
          </a:p>
          <a:p>
            <a:pPr lvl="2"/>
            <a:r>
              <a:rPr lang="en-US" altLang="zh-CN" smtClean="0"/>
              <a:t>Bus Update transaction</a:t>
            </a:r>
          </a:p>
          <a:p>
            <a:pPr lvl="1"/>
            <a:r>
              <a:rPr lang="en-US" altLang="zh-CN" smtClean="0"/>
              <a:t>If any other cache has a copy</a:t>
            </a:r>
          </a:p>
          <a:p>
            <a:pPr lvl="2"/>
            <a:r>
              <a:rPr lang="en-US" altLang="zh-CN" smtClean="0"/>
              <a:t>It asserts the shared signal S</a:t>
            </a:r>
          </a:p>
          <a:p>
            <a:pPr lvl="2"/>
            <a:r>
              <a:rPr lang="en-US" altLang="zh-CN" smtClean="0"/>
              <a:t>Updates its block</a:t>
            </a:r>
          </a:p>
          <a:p>
            <a:pPr lvl="2"/>
            <a:r>
              <a:rPr lang="en-US" altLang="zh-CN" smtClean="0"/>
              <a:t>Goto Sc state</a:t>
            </a:r>
          </a:p>
          <a:p>
            <a:pPr lvl="1"/>
            <a:r>
              <a:rPr lang="en-US" altLang="zh-CN" smtClean="0"/>
              <a:t>Issuing cache goes to</a:t>
            </a:r>
          </a:p>
          <a:p>
            <a:pPr lvl="2"/>
            <a:r>
              <a:rPr lang="en-US" altLang="zh-CN" smtClean="0"/>
              <a:t>Sm state if block is shared</a:t>
            </a:r>
          </a:p>
          <a:p>
            <a:pPr lvl="2"/>
            <a:r>
              <a:rPr lang="en-US" altLang="zh-CN" smtClean="0"/>
              <a:t>M state if block is not shared</a:t>
            </a:r>
          </a:p>
        </p:txBody>
      </p:sp>
      <p:pic>
        <p:nvPicPr>
          <p:cNvPr id="82" name="图片 81"/>
          <p:cNvPicPr>
            <a:picLocks noChangeAspect="1"/>
          </p:cNvPicPr>
          <p:nvPr/>
        </p:nvPicPr>
        <p:blipFill>
          <a:blip r:embed="rId2"/>
          <a:stretch>
            <a:fillRect/>
          </a:stretch>
        </p:blipFill>
        <p:spPr>
          <a:xfrm>
            <a:off x="6888088" y="1469279"/>
            <a:ext cx="5112568" cy="5388721"/>
          </a:xfrm>
          <a:prstGeom prst="rect">
            <a:avLst/>
          </a:prstGeom>
        </p:spPr>
      </p:pic>
    </p:spTree>
    <p:extLst>
      <p:ext uri="{BB962C8B-B14F-4D97-AF65-F5344CB8AC3E}">
        <p14:creationId xmlns:p14="http://schemas.microsoft.com/office/powerpoint/2010/main" val="165744633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altLang="en-US" smtClean="0"/>
              <a:t>Dragon State Transition Diagram - cont’d</a:t>
            </a:r>
            <a:endParaRPr lang="en-US" altLang="zh-CN" smtClean="0"/>
          </a:p>
        </p:txBody>
      </p:sp>
      <p:sp>
        <p:nvSpPr>
          <p:cNvPr id="37892" name="Rectangle 3"/>
          <p:cNvSpPr>
            <a:spLocks noGrp="1" noChangeArrowheads="1"/>
          </p:cNvSpPr>
          <p:nvPr>
            <p:ph type="body" idx="1"/>
          </p:nvPr>
        </p:nvSpPr>
        <p:spPr/>
        <p:txBody>
          <a:bodyPr/>
          <a:lstStyle/>
          <a:p>
            <a:r>
              <a:rPr lang="en-US" altLang="zh-CN" smtClean="0"/>
              <a:t>Write Miss:</a:t>
            </a:r>
          </a:p>
          <a:p>
            <a:pPr lvl="1"/>
            <a:r>
              <a:rPr lang="en-US" altLang="zh-CN" smtClean="0"/>
              <a:t>First, a BusRd is generated</a:t>
            </a:r>
          </a:p>
          <a:p>
            <a:pPr lvl="1"/>
            <a:r>
              <a:rPr lang="en-US" altLang="zh-CN" smtClean="0"/>
              <a:t>Shared signal S is examined</a:t>
            </a:r>
          </a:p>
          <a:p>
            <a:pPr lvl="1"/>
            <a:r>
              <a:rPr lang="en-US" altLang="zh-CN" smtClean="0"/>
              <a:t>If block is found is other caches </a:t>
            </a:r>
          </a:p>
          <a:p>
            <a:pPr lvl="2"/>
            <a:r>
              <a:rPr lang="en-US" altLang="zh-CN" smtClean="0"/>
              <a:t>Block is loaded in Sm state</a:t>
            </a:r>
          </a:p>
          <a:p>
            <a:pPr lvl="2"/>
            <a:r>
              <a:rPr lang="en-US" altLang="zh-CN" smtClean="0"/>
              <a:t>Bus update is also required</a:t>
            </a:r>
          </a:p>
          <a:p>
            <a:pPr lvl="2"/>
            <a:r>
              <a:rPr lang="en-US" altLang="zh-CN" smtClean="0"/>
              <a:t>2 bus transactions needed</a:t>
            </a:r>
          </a:p>
          <a:p>
            <a:pPr lvl="1"/>
            <a:r>
              <a:rPr lang="en-US" altLang="zh-CN" smtClean="0"/>
              <a:t>If the block is not found</a:t>
            </a:r>
          </a:p>
          <a:p>
            <a:pPr lvl="2"/>
            <a:r>
              <a:rPr lang="en-US" altLang="zh-CN" smtClean="0"/>
              <a:t>Block is loaded in M state</a:t>
            </a:r>
          </a:p>
          <a:p>
            <a:pPr lvl="2"/>
            <a:r>
              <a:rPr lang="en-US" altLang="zh-CN" smtClean="0"/>
              <a:t>No Bus update is required</a:t>
            </a:r>
          </a:p>
          <a:p>
            <a:r>
              <a:rPr lang="en-US" altLang="en-US" smtClean="0"/>
              <a:t>Replacement:</a:t>
            </a:r>
          </a:p>
          <a:p>
            <a:pPr lvl="1"/>
            <a:r>
              <a:rPr lang="en-US" altLang="en-US" smtClean="0"/>
              <a:t>Block is written back if modified</a:t>
            </a:r>
          </a:p>
          <a:p>
            <a:pPr lvl="2"/>
            <a:r>
              <a:rPr lang="en-US" altLang="en-US" smtClean="0"/>
              <a:t>M or Sm state only</a:t>
            </a:r>
            <a:endParaRPr lang="en-US" altLang="zh-CN" smtClean="0"/>
          </a:p>
        </p:txBody>
      </p:sp>
      <p:pic>
        <p:nvPicPr>
          <p:cNvPr id="82" name="图片 81"/>
          <p:cNvPicPr>
            <a:picLocks noChangeAspect="1"/>
          </p:cNvPicPr>
          <p:nvPr/>
        </p:nvPicPr>
        <p:blipFill>
          <a:blip r:embed="rId2"/>
          <a:stretch>
            <a:fillRect/>
          </a:stretch>
        </p:blipFill>
        <p:spPr>
          <a:xfrm>
            <a:off x="6888088" y="1469279"/>
            <a:ext cx="5112568" cy="5388721"/>
          </a:xfrm>
          <a:prstGeom prst="rect">
            <a:avLst/>
          </a:prstGeom>
        </p:spPr>
      </p:pic>
    </p:spTree>
    <p:extLst>
      <p:ext uri="{BB962C8B-B14F-4D97-AF65-F5344CB8AC3E}">
        <p14:creationId xmlns:p14="http://schemas.microsoft.com/office/powerpoint/2010/main" val="37574039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更细致的协议选择</a:t>
            </a:r>
            <a:endParaRPr lang="zh-CN" altLang="en-US" dirty="0"/>
          </a:p>
        </p:txBody>
      </p:sp>
      <p:sp>
        <p:nvSpPr>
          <p:cNvPr id="5" name="内容占位符 4"/>
          <p:cNvSpPr>
            <a:spLocks noGrp="1"/>
          </p:cNvSpPr>
          <p:nvPr>
            <p:ph idx="1"/>
          </p:nvPr>
        </p:nvSpPr>
        <p:spPr/>
        <p:txBody>
          <a:bodyPr/>
          <a:lstStyle/>
          <a:p>
            <a:pPr>
              <a:lnSpc>
                <a:spcPct val="100000"/>
              </a:lnSpc>
            </a:pPr>
            <a:r>
              <a:rPr lang="zh-CN" altLang="en-US" dirty="0" smtClean="0"/>
              <a:t>可否消除共享修改</a:t>
            </a:r>
            <a:r>
              <a:rPr lang="en-US" altLang="zh-CN" dirty="0" smtClean="0"/>
              <a:t>(Sm)</a:t>
            </a:r>
            <a:r>
              <a:rPr lang="zh-CN" altLang="en-US" dirty="0" smtClean="0"/>
              <a:t>状态？</a:t>
            </a:r>
            <a:endParaRPr lang="en-US" altLang="zh-CN" dirty="0" smtClean="0"/>
          </a:p>
          <a:p>
            <a:pPr lvl="1">
              <a:lnSpc>
                <a:spcPct val="100000"/>
              </a:lnSpc>
            </a:pPr>
            <a:r>
              <a:rPr lang="zh-CN" altLang="en-US" dirty="0" smtClean="0"/>
              <a:t>如果在</a:t>
            </a:r>
            <a:r>
              <a:rPr lang="en-US" altLang="zh-CN" dirty="0" err="1" smtClean="0"/>
              <a:t>BusUpd</a:t>
            </a:r>
            <a:r>
              <a:rPr lang="zh-CN" altLang="en-US" dirty="0" smtClean="0"/>
              <a:t>事务时也更新存储器就</a:t>
            </a:r>
            <a:r>
              <a:rPr lang="zh-CN" altLang="en-US" dirty="0"/>
              <a:t>可以</a:t>
            </a:r>
            <a:r>
              <a:rPr lang="en-US" altLang="zh-CN" dirty="0" smtClean="0"/>
              <a:t>(</a:t>
            </a:r>
            <a:r>
              <a:rPr lang="zh-CN" altLang="en-US" dirty="0" smtClean="0"/>
              <a:t>如</a:t>
            </a:r>
            <a:r>
              <a:rPr lang="en-US" altLang="zh-CN" dirty="0" smtClean="0"/>
              <a:t>DEC Firefly</a:t>
            </a:r>
            <a:r>
              <a:rPr lang="zh-CN" altLang="en-US" dirty="0" smtClean="0"/>
              <a:t>多处理机</a:t>
            </a:r>
            <a:r>
              <a:rPr lang="en-US" altLang="zh-CN" dirty="0" smtClean="0"/>
              <a:t>)</a:t>
            </a:r>
          </a:p>
          <a:p>
            <a:pPr lvl="1">
              <a:lnSpc>
                <a:spcPct val="100000"/>
              </a:lnSpc>
            </a:pPr>
            <a:r>
              <a:rPr lang="en-US" altLang="zh-CN" dirty="0" smtClean="0"/>
              <a:t>Dragon</a:t>
            </a:r>
            <a:r>
              <a:rPr lang="zh-CN" altLang="en-US" dirty="0" smtClean="0"/>
              <a:t>协议没这么做（假设</a:t>
            </a:r>
            <a:r>
              <a:rPr lang="en-US" altLang="zh-CN" dirty="0" smtClean="0"/>
              <a:t>DRAM</a:t>
            </a:r>
            <a:r>
              <a:rPr lang="zh-CN" altLang="en-US" dirty="0" smtClean="0"/>
              <a:t>更新较慢，故只更新</a:t>
            </a:r>
            <a:r>
              <a:rPr lang="en-US" altLang="zh-CN" dirty="0" smtClean="0"/>
              <a:t>cache</a:t>
            </a:r>
            <a:r>
              <a:rPr lang="zh-CN" altLang="en-US" dirty="0" smtClean="0"/>
              <a:t>）</a:t>
            </a:r>
            <a:endParaRPr lang="en-US" altLang="zh-CN" dirty="0" smtClean="0"/>
          </a:p>
          <a:p>
            <a:pPr>
              <a:lnSpc>
                <a:spcPct val="100000"/>
              </a:lnSpc>
            </a:pPr>
            <a:r>
              <a:rPr lang="zh-CN" altLang="en-US" dirty="0" smtClean="0"/>
              <a:t>替换</a:t>
            </a:r>
            <a:r>
              <a:rPr lang="en-US" altLang="zh-CN" dirty="0" err="1" smtClean="0"/>
              <a:t>Sc</a:t>
            </a:r>
            <a:r>
              <a:rPr lang="zh-CN" altLang="en-US" dirty="0" smtClean="0"/>
              <a:t>块时，是否应该通知其它</a:t>
            </a:r>
            <a:r>
              <a:rPr lang="en-US" altLang="zh-CN" dirty="0" err="1" smtClean="0"/>
              <a:t>Sc</a:t>
            </a:r>
            <a:r>
              <a:rPr lang="en-US" altLang="zh-CN" dirty="0" smtClean="0"/>
              <a:t>/Sm</a:t>
            </a:r>
            <a:r>
              <a:rPr lang="zh-CN" altLang="en-US" dirty="0" smtClean="0"/>
              <a:t>？</a:t>
            </a:r>
            <a:endParaRPr lang="en-US" altLang="zh-CN" dirty="0" smtClean="0"/>
          </a:p>
          <a:p>
            <a:pPr lvl="1">
              <a:lnSpc>
                <a:spcPct val="100000"/>
              </a:lnSpc>
            </a:pPr>
            <a:r>
              <a:rPr lang="zh-CN" altLang="en-US" dirty="0" smtClean="0"/>
              <a:t>可</a:t>
            </a:r>
            <a:r>
              <a:rPr lang="zh-CN" altLang="en-US" dirty="0"/>
              <a:t>允</a:t>
            </a:r>
            <a:r>
              <a:rPr lang="zh-CN" altLang="en-US" dirty="0" smtClean="0"/>
              <a:t>许最后一个副本转为</a:t>
            </a:r>
            <a:r>
              <a:rPr lang="en-US" altLang="zh-CN" dirty="0" smtClean="0"/>
              <a:t>E/M</a:t>
            </a:r>
            <a:r>
              <a:rPr lang="zh-CN" altLang="en-US" dirty="0" smtClean="0"/>
              <a:t>状态，以后不必再行更新</a:t>
            </a:r>
            <a:endParaRPr lang="en-US" altLang="zh-CN" dirty="0" smtClean="0"/>
          </a:p>
          <a:p>
            <a:pPr lvl="1">
              <a:lnSpc>
                <a:spcPct val="100000"/>
              </a:lnSpc>
            </a:pPr>
            <a:r>
              <a:rPr lang="zh-CN" altLang="en-US" dirty="0" smtClean="0"/>
              <a:t>权衡：增加替换</a:t>
            </a:r>
            <a:r>
              <a:rPr lang="en-US" altLang="zh-CN" dirty="0" err="1" smtClean="0"/>
              <a:t>Sc</a:t>
            </a:r>
            <a:r>
              <a:rPr lang="zh-CN" altLang="en-US" dirty="0" smtClean="0"/>
              <a:t>的时间</a:t>
            </a:r>
            <a:r>
              <a:rPr lang="en-US" altLang="zh-CN" dirty="0" smtClean="0"/>
              <a:t>vs.</a:t>
            </a:r>
            <a:r>
              <a:rPr lang="zh-CN" altLang="en-US" dirty="0" smtClean="0"/>
              <a:t>节省稍后更新时间</a:t>
            </a:r>
            <a:endParaRPr lang="en-US" altLang="zh-CN" dirty="0" smtClean="0"/>
          </a:p>
          <a:p>
            <a:pPr>
              <a:lnSpc>
                <a:spcPct val="100000"/>
              </a:lnSpc>
            </a:pPr>
            <a:r>
              <a:rPr lang="zh-CN" altLang="en-US" dirty="0" smtClean="0"/>
              <a:t>写命中时，可否先更新本地副本，再到总线？</a:t>
            </a:r>
            <a:endParaRPr lang="en-US" altLang="zh-CN" dirty="0" smtClean="0"/>
          </a:p>
          <a:p>
            <a:pPr lvl="1">
              <a:lnSpc>
                <a:spcPct val="100000"/>
              </a:lnSpc>
            </a:pPr>
            <a:r>
              <a:rPr lang="zh-CN" altLang="en-US" dirty="0" smtClean="0"/>
              <a:t>会搞乱串行化</a:t>
            </a:r>
            <a:endParaRPr lang="en-US" altLang="zh-CN" dirty="0" smtClean="0"/>
          </a:p>
          <a:p>
            <a:pPr>
              <a:lnSpc>
                <a:spcPct val="100000"/>
              </a:lnSpc>
            </a:pPr>
            <a:r>
              <a:rPr lang="zh-CN" altLang="en-US" dirty="0" smtClean="0"/>
              <a:t>满足同一性和一致性的推理很像直写的情形</a:t>
            </a:r>
            <a:endParaRPr lang="en-US" altLang="zh-CN" dirty="0" smtClean="0"/>
          </a:p>
          <a:p>
            <a:pPr lvl="1">
              <a:lnSpc>
                <a:spcPct val="100000"/>
              </a:lnSpc>
            </a:pPr>
            <a:r>
              <a:rPr lang="zh-CN" altLang="en-US" dirty="0" smtClean="0"/>
              <a:t>别的</a:t>
            </a:r>
            <a:r>
              <a:rPr lang="en-US" altLang="zh-CN" dirty="0" smtClean="0"/>
              <a:t>cache</a:t>
            </a:r>
            <a:r>
              <a:rPr lang="zh-CN" altLang="en-US" dirty="0" smtClean="0"/>
              <a:t>有共享数据块时，所有写操作都要放到总线上</a:t>
            </a:r>
            <a:endParaRPr lang="zh-CN" altLang="en-US" dirty="0"/>
          </a:p>
        </p:txBody>
      </p:sp>
    </p:spTree>
    <p:extLst>
      <p:ext uri="{BB962C8B-B14F-4D97-AF65-F5344CB8AC3E}">
        <p14:creationId xmlns:p14="http://schemas.microsoft.com/office/powerpoint/2010/main" val="219360278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侦听协议实现中的复杂性</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多级</a:t>
            </a:r>
            <a:r>
              <a:rPr lang="en-US" altLang="zh-CN" dirty="0" smtClean="0"/>
              <a:t>cache</a:t>
            </a:r>
            <a:r>
              <a:rPr lang="zh-CN" altLang="en-US" dirty="0" smtClean="0"/>
              <a:t>带来的问题</a:t>
            </a:r>
            <a:endParaRPr lang="en-US" dirty="0" smtClean="0"/>
          </a:p>
          <a:p>
            <a:pPr>
              <a:lnSpc>
                <a:spcPct val="90000"/>
              </a:lnSpc>
            </a:pPr>
            <a:r>
              <a:rPr lang="zh-CN" altLang="en-US" dirty="0" smtClean="0"/>
              <a:t>许多操作非原子的（是可分离的）</a:t>
            </a:r>
            <a:endParaRPr lang="en-US" dirty="0" smtClean="0"/>
          </a:p>
          <a:p>
            <a:pPr lvl="1">
              <a:lnSpc>
                <a:spcPct val="90000"/>
              </a:lnSpc>
            </a:pPr>
            <a:r>
              <a:rPr lang="zh-CN" altLang="en-US" dirty="0" smtClean="0"/>
              <a:t>如检查缺失、获得总线、接收响应</a:t>
            </a:r>
            <a:endParaRPr lang="en-US" dirty="0" smtClean="0"/>
          </a:p>
          <a:p>
            <a:pPr lvl="1">
              <a:lnSpc>
                <a:spcPct val="90000"/>
              </a:lnSpc>
            </a:pPr>
            <a:r>
              <a:rPr lang="zh-CN" altLang="en-US" dirty="0" smtClean="0"/>
              <a:t>可能造成死锁、竞争、活锁等问题</a:t>
            </a:r>
            <a:endParaRPr lang="en-US" dirty="0" smtClean="0"/>
          </a:p>
          <a:p>
            <a:pPr lvl="1">
              <a:lnSpc>
                <a:spcPct val="90000"/>
              </a:lnSpc>
            </a:pPr>
            <a:r>
              <a:rPr lang="zh-CN" altLang="en-US" dirty="0" smtClean="0"/>
              <a:t>一种方案：发出使无效的处理器一直抓住总线不放松，直到所有处理器都接受到使无效命令</a:t>
            </a:r>
            <a:endParaRPr lang="en-US" altLang="zh-CN" dirty="0" smtClean="0"/>
          </a:p>
          <a:p>
            <a:pPr>
              <a:lnSpc>
                <a:spcPct val="90000"/>
              </a:lnSpc>
            </a:pPr>
            <a:r>
              <a:rPr lang="zh-CN" altLang="en-US" dirty="0" smtClean="0"/>
              <a:t>在分离事务的总线上怎么办？</a:t>
            </a:r>
            <a:endParaRPr lang="en-US" altLang="zh-CN" dirty="0" smtClean="0"/>
          </a:p>
          <a:p>
            <a:pPr lvl="1">
              <a:lnSpc>
                <a:spcPct val="90000"/>
              </a:lnSpc>
            </a:pPr>
            <a:r>
              <a:rPr lang="en-US" dirty="0" smtClean="0"/>
              <a:t>Split transaction buses</a:t>
            </a:r>
          </a:p>
          <a:p>
            <a:pPr lvl="1">
              <a:lnSpc>
                <a:spcPct val="90000"/>
              </a:lnSpc>
            </a:pPr>
            <a:r>
              <a:rPr lang="zh-CN" altLang="en-US" dirty="0" smtClean="0"/>
              <a:t>请求</a:t>
            </a:r>
            <a:r>
              <a:rPr lang="en-US" dirty="0" smtClean="0"/>
              <a:t>Request</a:t>
            </a:r>
            <a:r>
              <a:rPr lang="zh-CN" altLang="en-US" dirty="0" smtClean="0"/>
              <a:t>和响应</a:t>
            </a:r>
            <a:r>
              <a:rPr lang="en-US" altLang="zh-CN" dirty="0" smtClean="0"/>
              <a:t>response</a:t>
            </a:r>
            <a:r>
              <a:rPr lang="zh-CN" altLang="en-US" dirty="0" smtClean="0"/>
              <a:t>是分开的</a:t>
            </a:r>
            <a:endParaRPr lang="en-US" altLang="zh-CN" dirty="0" smtClean="0"/>
          </a:p>
          <a:p>
            <a:pPr lvl="2">
              <a:lnSpc>
                <a:spcPct val="90000"/>
              </a:lnSpc>
            </a:pPr>
            <a:r>
              <a:rPr lang="zh-CN" altLang="en-US" dirty="0" smtClean="0"/>
              <a:t>中间释放总线、供别人使用，以提高效率</a:t>
            </a:r>
            <a:endParaRPr lang="en-US" dirty="0" smtClean="0"/>
          </a:p>
        </p:txBody>
      </p:sp>
    </p:spTree>
    <p:extLst>
      <p:ext uri="{BB962C8B-B14F-4D97-AF65-F5344CB8AC3E}">
        <p14:creationId xmlns:p14="http://schemas.microsoft.com/office/powerpoint/2010/main" val="6246801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cstate="print"/>
          <a:srcRect/>
          <a:stretch>
            <a:fillRect/>
          </a:stretch>
        </p:blipFill>
        <p:spPr bwMode="auto">
          <a:xfrm>
            <a:off x="6816080" y="1556791"/>
            <a:ext cx="5375920" cy="5195973"/>
          </a:xfrm>
          <a:prstGeom prst="rect">
            <a:avLst/>
          </a:prstGeom>
          <a:noFill/>
          <a:ln w="9525">
            <a:noFill/>
            <a:miter lim="800000"/>
            <a:headEnd/>
            <a:tailEnd/>
          </a:ln>
        </p:spPr>
      </p:pic>
      <p:sp>
        <p:nvSpPr>
          <p:cNvPr id="242690" name="Rectangle 2"/>
          <p:cNvSpPr>
            <a:spLocks noGrp="1" noChangeArrowheads="1"/>
          </p:cNvSpPr>
          <p:nvPr>
            <p:ph type="title"/>
          </p:nvPr>
        </p:nvSpPr>
        <p:spPr/>
        <p:txBody>
          <a:bodyPr/>
          <a:lstStyle/>
          <a:p>
            <a:r>
              <a:rPr lang="zh-CN" altLang="en-US" smtClean="0"/>
              <a:t>规模扩大以后的性能问题</a:t>
            </a:r>
            <a:endParaRPr lang="en-AU" dirty="0"/>
          </a:p>
        </p:txBody>
      </p:sp>
      <p:sp>
        <p:nvSpPr>
          <p:cNvPr id="242691" name="Rectangle 3"/>
          <p:cNvSpPr>
            <a:spLocks noGrp="1" noChangeArrowheads="1"/>
          </p:cNvSpPr>
          <p:nvPr>
            <p:ph type="body" idx="1"/>
          </p:nvPr>
        </p:nvSpPr>
        <p:spPr>
          <a:xfrm>
            <a:off x="838200" y="1556792"/>
            <a:ext cx="5905872" cy="5112568"/>
          </a:xfrm>
        </p:spPr>
        <p:txBody>
          <a:bodyPr/>
          <a:lstStyle/>
          <a:p>
            <a:r>
              <a:rPr lang="zh-CN" altLang="en-US" dirty="0" smtClean="0"/>
              <a:t>扩展</a:t>
            </a:r>
            <a:r>
              <a:rPr lang="en-US" altLang="zh-CN" dirty="0" smtClean="0"/>
              <a:t>SMP</a:t>
            </a:r>
            <a:r>
              <a:rPr lang="zh-CN" altLang="en-US" dirty="0" smtClean="0"/>
              <a:t>，共享总线和侦听带宽成为瓶颈</a:t>
            </a:r>
            <a:endParaRPr lang="en-US" dirty="0" smtClean="0"/>
          </a:p>
          <a:p>
            <a:pPr lvl="1"/>
            <a:r>
              <a:rPr lang="zh-CN" altLang="en-US" dirty="0" smtClean="0"/>
              <a:t>复制</a:t>
            </a:r>
            <a:r>
              <a:rPr lang="en-US" dirty="0" smtClean="0"/>
              <a:t>tag</a:t>
            </a:r>
            <a:r>
              <a:rPr lang="zh-CN" altLang="en-US" dirty="0" smtClean="0"/>
              <a:t>，避免</a:t>
            </a:r>
            <a:r>
              <a:rPr lang="en-US" altLang="zh-CN" dirty="0" smtClean="0"/>
              <a:t>CPU</a:t>
            </a:r>
            <a:r>
              <a:rPr lang="zh-CN" altLang="en-US" dirty="0" smtClean="0"/>
              <a:t>和侦听部件的访问冲突</a:t>
            </a:r>
            <a:endParaRPr lang="en-US" dirty="0" smtClean="0"/>
          </a:p>
          <a:p>
            <a:pPr lvl="1"/>
            <a:r>
              <a:rPr lang="zh-CN" altLang="en-US" dirty="0" smtClean="0"/>
              <a:t>在最外侧的</a:t>
            </a:r>
            <a:r>
              <a:rPr lang="en-US" altLang="zh-CN" dirty="0" smtClean="0"/>
              <a:t>cache</a:t>
            </a:r>
            <a:r>
              <a:rPr lang="zh-CN" altLang="en-US" dirty="0" smtClean="0"/>
              <a:t>中放置目录</a:t>
            </a:r>
            <a:endParaRPr lang="en-US" dirty="0" smtClean="0"/>
          </a:p>
          <a:p>
            <a:pPr lvl="1"/>
            <a:r>
              <a:rPr lang="zh-CN" altLang="en-US" dirty="0" smtClean="0"/>
              <a:t>采用多体存储器，用交叉开关或点对点网络连接处理器和存储器 </a:t>
            </a:r>
            <a:endParaRPr lang="en-US" dirty="0" smtClean="0"/>
          </a:p>
          <a:p>
            <a:pPr lvl="2"/>
            <a:endParaRPr lang="en-US" dirty="0" smtClean="0"/>
          </a:p>
        </p:txBody>
      </p:sp>
    </p:spTree>
    <p:extLst>
      <p:ext uri="{BB962C8B-B14F-4D97-AF65-F5344CB8AC3E}">
        <p14:creationId xmlns:p14="http://schemas.microsoft.com/office/powerpoint/2010/main" val="354544661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6064484" y="1628800"/>
            <a:ext cx="6080188" cy="4896544"/>
          </a:xfrm>
          <a:prstGeom prst="rect">
            <a:avLst/>
          </a:prstGeom>
        </p:spPr>
      </p:pic>
      <p:sp>
        <p:nvSpPr>
          <p:cNvPr id="242690" name="Rectangle 2"/>
          <p:cNvSpPr>
            <a:spLocks noGrp="1" noChangeArrowheads="1"/>
          </p:cNvSpPr>
          <p:nvPr>
            <p:ph type="title"/>
          </p:nvPr>
        </p:nvSpPr>
        <p:spPr/>
        <p:txBody>
          <a:bodyPr/>
          <a:lstStyle/>
          <a:p>
            <a:r>
              <a:rPr lang="zh-CN" altLang="en-US" dirty="0" smtClean="0"/>
              <a:t>基于多核处理器的</a:t>
            </a:r>
            <a:r>
              <a:rPr lang="en-US" altLang="zh-CN" dirty="0" smtClean="0"/>
              <a:t>SMP</a:t>
            </a:r>
            <a:r>
              <a:rPr lang="zh-CN" altLang="en-US" dirty="0" smtClean="0"/>
              <a:t>系统</a:t>
            </a:r>
            <a:endParaRPr lang="en-AU" dirty="0"/>
          </a:p>
        </p:txBody>
      </p:sp>
      <p:sp>
        <p:nvSpPr>
          <p:cNvPr id="242691" name="Rectangle 3"/>
          <p:cNvSpPr>
            <a:spLocks noGrp="1" noChangeArrowheads="1"/>
          </p:cNvSpPr>
          <p:nvPr>
            <p:ph type="body" idx="1"/>
          </p:nvPr>
        </p:nvSpPr>
        <p:spPr>
          <a:xfrm>
            <a:off x="407368" y="1556792"/>
            <a:ext cx="6048672" cy="5112568"/>
          </a:xfrm>
        </p:spPr>
        <p:txBody>
          <a:bodyPr/>
          <a:lstStyle/>
          <a:p>
            <a:pPr>
              <a:lnSpc>
                <a:spcPct val="90000"/>
              </a:lnSpc>
            </a:pPr>
            <a:r>
              <a:rPr lang="zh-CN" altLang="en-US" dirty="0" smtClean="0"/>
              <a:t>每个芯片</a:t>
            </a:r>
            <a:r>
              <a:rPr lang="en-US" altLang="zh-CN" dirty="0" smtClean="0"/>
              <a:t>4-16</a:t>
            </a:r>
            <a:r>
              <a:rPr lang="zh-CN" altLang="en-US" dirty="0" smtClean="0"/>
              <a:t>核</a:t>
            </a:r>
            <a:endParaRPr lang="en-US" altLang="zh-CN" dirty="0" smtClean="0"/>
          </a:p>
          <a:p>
            <a:pPr lvl="1">
              <a:lnSpc>
                <a:spcPct val="90000"/>
              </a:lnSpc>
            </a:pPr>
            <a:r>
              <a:rPr lang="zh-CN" altLang="en-US" dirty="0" smtClean="0"/>
              <a:t>已经是一个片上的</a:t>
            </a:r>
            <a:r>
              <a:rPr lang="en-US" altLang="zh-CN" dirty="0" smtClean="0"/>
              <a:t>SMP</a:t>
            </a:r>
            <a:r>
              <a:rPr lang="zh-CN" altLang="en-US" dirty="0" smtClean="0"/>
              <a:t>了</a:t>
            </a:r>
            <a:endParaRPr lang="en-US" dirty="0" smtClean="0"/>
          </a:p>
          <a:p>
            <a:pPr>
              <a:lnSpc>
                <a:spcPct val="90000"/>
              </a:lnSpc>
            </a:pPr>
            <a:r>
              <a:rPr lang="en-US" dirty="0" smtClean="0"/>
              <a:t>AMD </a:t>
            </a:r>
            <a:r>
              <a:rPr lang="en-US" dirty="0" err="1" smtClean="0"/>
              <a:t>Opteron</a:t>
            </a:r>
            <a:endParaRPr lang="en-US" dirty="0" smtClean="0"/>
          </a:p>
          <a:p>
            <a:pPr lvl="1">
              <a:lnSpc>
                <a:spcPct val="90000"/>
              </a:lnSpc>
            </a:pPr>
            <a:r>
              <a:rPr lang="zh-CN" altLang="en-US" dirty="0" smtClean="0"/>
              <a:t>存储器直接连接到每个多核芯片上，组织成</a:t>
            </a:r>
            <a:r>
              <a:rPr lang="en-US" dirty="0" smtClean="0"/>
              <a:t>NUMA</a:t>
            </a:r>
            <a:r>
              <a:rPr lang="zh-CN" altLang="en-US" dirty="0" smtClean="0"/>
              <a:t>的样子</a:t>
            </a:r>
            <a:endParaRPr lang="en-US" dirty="0" smtClean="0"/>
          </a:p>
          <a:p>
            <a:pPr lvl="1">
              <a:lnSpc>
                <a:spcPct val="90000"/>
              </a:lnSpc>
            </a:pPr>
            <a:r>
              <a:rPr lang="zh-CN" altLang="en-US" dirty="0" smtClean="0"/>
              <a:t>采用点对点连接来实现同一协议</a:t>
            </a:r>
            <a:endParaRPr lang="en-US" dirty="0" smtClean="0"/>
          </a:p>
          <a:p>
            <a:pPr lvl="1">
              <a:lnSpc>
                <a:spcPct val="90000"/>
              </a:lnSpc>
            </a:pPr>
            <a:r>
              <a:rPr lang="zh-CN" altLang="en-US" dirty="0" smtClean="0"/>
              <a:t>用显式的应答消息来给操作排序</a:t>
            </a:r>
            <a:endParaRPr lang="en-US" dirty="0" smtClean="0"/>
          </a:p>
          <a:p>
            <a:r>
              <a:rPr lang="en-US" altLang="zh-CN" dirty="0" smtClean="0"/>
              <a:t>AMD Zen5 4-socket</a:t>
            </a:r>
          </a:p>
          <a:p>
            <a:pPr lvl="1"/>
            <a:r>
              <a:rPr lang="zh-CN" altLang="en-US" dirty="0" smtClean="0"/>
              <a:t>每</a:t>
            </a:r>
            <a:r>
              <a:rPr lang="en-US" altLang="zh-CN" dirty="0" smtClean="0"/>
              <a:t>die 8</a:t>
            </a:r>
            <a:r>
              <a:rPr lang="zh-CN" altLang="en-US" dirty="0" smtClean="0"/>
              <a:t>核，每片</a:t>
            </a:r>
            <a:r>
              <a:rPr lang="en-US" altLang="zh-CN" dirty="0" smtClean="0"/>
              <a:t>8 CPU die+1 I/O die</a:t>
            </a:r>
          </a:p>
          <a:p>
            <a:pPr lvl="1"/>
            <a:r>
              <a:rPr lang="en-US" dirty="0" smtClean="0"/>
              <a:t>NUMA Architecture</a:t>
            </a:r>
          </a:p>
          <a:p>
            <a:pPr lvl="1"/>
            <a:r>
              <a:rPr lang="en-US" dirty="0" smtClean="0"/>
              <a:t>Non-unified DRAM latency</a:t>
            </a:r>
          </a:p>
          <a:p>
            <a:pPr lvl="1"/>
            <a:r>
              <a:rPr lang="en-US" altLang="zh-CN" dirty="0" smtClean="0"/>
              <a:t>110-199ns</a:t>
            </a:r>
            <a:endParaRPr lang="en-US" dirty="0" smtClean="0"/>
          </a:p>
        </p:txBody>
      </p:sp>
      <p:cxnSp>
        <p:nvCxnSpPr>
          <p:cNvPr id="9" name="直接箭头连接符 8"/>
          <p:cNvCxnSpPr/>
          <p:nvPr/>
        </p:nvCxnSpPr>
        <p:spPr>
          <a:xfrm flipV="1">
            <a:off x="7896200" y="2025257"/>
            <a:ext cx="0" cy="18722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896200" y="3897465"/>
            <a:ext cx="201622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9912424" y="3897465"/>
            <a:ext cx="0" cy="8996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7464152" y="4869160"/>
            <a:ext cx="43204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7896200" y="4869160"/>
            <a:ext cx="0" cy="11521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24751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smtClean="0"/>
              <a:t>SMP</a:t>
            </a:r>
            <a:r>
              <a:rPr lang="zh-CN" altLang="en-US" dirty="0" smtClean="0"/>
              <a:t>的性能</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sz="3200" dirty="0"/>
              <a:t>同一操作会影响 </a:t>
            </a:r>
            <a:r>
              <a:rPr lang="en-US" sz="3200" dirty="0"/>
              <a:t>cache</a:t>
            </a:r>
            <a:r>
              <a:rPr lang="zh-CN" altLang="en-US" sz="3200" dirty="0"/>
              <a:t>的缺失率</a:t>
            </a:r>
            <a:endParaRPr lang="en-US" altLang="zh-CN" sz="3200" dirty="0"/>
          </a:p>
          <a:p>
            <a:pPr>
              <a:lnSpc>
                <a:spcPct val="90000"/>
              </a:lnSpc>
            </a:pPr>
            <a:r>
              <a:rPr lang="zh-CN" altLang="en-US" dirty="0" smtClean="0"/>
              <a:t>单机中</a:t>
            </a:r>
            <a:r>
              <a:rPr lang="en-US" altLang="zh-CN" dirty="0" smtClean="0"/>
              <a:t>cache</a:t>
            </a:r>
            <a:r>
              <a:rPr lang="zh-CN" altLang="en-US" dirty="0" smtClean="0"/>
              <a:t>缺失的三种情况</a:t>
            </a:r>
            <a:endParaRPr lang="en-US" altLang="zh-CN" dirty="0" smtClean="0"/>
          </a:p>
          <a:p>
            <a:pPr lvl="1">
              <a:lnSpc>
                <a:spcPct val="90000"/>
              </a:lnSpc>
            </a:pPr>
            <a:r>
              <a:rPr lang="en-US" sz="2800" dirty="0"/>
              <a:t>3C: Compulsory</a:t>
            </a:r>
            <a:r>
              <a:rPr lang="en-US" dirty="0" smtClean="0"/>
              <a:t>, Capacity, Conflict</a:t>
            </a:r>
          </a:p>
          <a:p>
            <a:pPr lvl="1">
              <a:lnSpc>
                <a:spcPct val="90000"/>
              </a:lnSpc>
            </a:pPr>
            <a:r>
              <a:rPr lang="zh-CN" altLang="en-US" dirty="0" smtClean="0"/>
              <a:t>冷启（强迫）、容量不足、位置冲突</a:t>
            </a:r>
            <a:endParaRPr lang="en-US" sz="2800" dirty="0"/>
          </a:p>
          <a:p>
            <a:pPr>
              <a:lnSpc>
                <a:spcPct val="90000"/>
              </a:lnSpc>
            </a:pPr>
            <a:r>
              <a:rPr lang="en-US" altLang="zh-CN" sz="3200" dirty="0"/>
              <a:t>SMP</a:t>
            </a:r>
            <a:r>
              <a:rPr lang="zh-CN" altLang="en-US" sz="3200" dirty="0"/>
              <a:t>中，引入第</a:t>
            </a:r>
            <a:r>
              <a:rPr lang="en-US" altLang="zh-CN" sz="3200" dirty="0"/>
              <a:t>4</a:t>
            </a:r>
            <a:r>
              <a:rPr lang="zh-CN" altLang="en-US" sz="3200" dirty="0"/>
              <a:t>个</a:t>
            </a:r>
            <a:r>
              <a:rPr lang="en-US" altLang="zh-CN" sz="3200" dirty="0"/>
              <a:t>C</a:t>
            </a:r>
            <a:r>
              <a:rPr lang="zh-CN" altLang="en-US" sz="3200" dirty="0"/>
              <a:t>：</a:t>
            </a:r>
            <a:r>
              <a:rPr lang="en-US" sz="3200" dirty="0"/>
              <a:t>Coherence misses</a:t>
            </a:r>
          </a:p>
          <a:p>
            <a:pPr lvl="1">
              <a:lnSpc>
                <a:spcPct val="90000"/>
              </a:lnSpc>
            </a:pPr>
            <a:r>
              <a:rPr lang="zh-CN" altLang="en-US" sz="2800" dirty="0"/>
              <a:t>真共享</a:t>
            </a:r>
            <a:r>
              <a:rPr lang="en-US" altLang="zh-CN" sz="2800" dirty="0"/>
              <a:t>(true sharing)</a:t>
            </a:r>
            <a:r>
              <a:rPr lang="zh-CN" altLang="en-US" sz="2800" dirty="0"/>
              <a:t>导致的缺失</a:t>
            </a:r>
            <a:endParaRPr lang="en-US" sz="2800" dirty="0"/>
          </a:p>
          <a:p>
            <a:pPr lvl="2">
              <a:lnSpc>
                <a:spcPct val="90000"/>
              </a:lnSpc>
            </a:pPr>
            <a:r>
              <a:rPr lang="zh-CN" altLang="en-US" sz="2400" dirty="0"/>
              <a:t>写入共享的数据块，使无效被传递到各副本</a:t>
            </a:r>
            <a:endParaRPr lang="en-US" sz="2400" dirty="0"/>
          </a:p>
          <a:p>
            <a:pPr lvl="2">
              <a:lnSpc>
                <a:spcPct val="90000"/>
              </a:lnSpc>
            </a:pPr>
            <a:r>
              <a:rPr lang="zh-CN" altLang="en-US" sz="2400" dirty="0"/>
              <a:t>读一个已被无效的块，引起缺失</a:t>
            </a:r>
            <a:endParaRPr lang="en-US" sz="2400" dirty="0"/>
          </a:p>
          <a:p>
            <a:pPr lvl="1">
              <a:lnSpc>
                <a:spcPct val="90000"/>
              </a:lnSpc>
            </a:pPr>
            <a:r>
              <a:rPr lang="zh-CN" altLang="en-US" sz="2800" dirty="0"/>
              <a:t>假共享</a:t>
            </a:r>
            <a:r>
              <a:rPr lang="en-US" altLang="zh-CN" sz="2800" dirty="0"/>
              <a:t>(false sharing)</a:t>
            </a:r>
            <a:r>
              <a:rPr lang="zh-CN" altLang="en-US" sz="2800" dirty="0"/>
              <a:t>导致的缺失</a:t>
            </a:r>
            <a:endParaRPr lang="en-US" sz="2800" dirty="0"/>
          </a:p>
          <a:p>
            <a:pPr lvl="2">
              <a:lnSpc>
                <a:spcPct val="90000"/>
              </a:lnSpc>
            </a:pPr>
            <a:r>
              <a:rPr lang="zh-CN" altLang="en-US" sz="2400" dirty="0"/>
              <a:t>被无效的块里只有部分内容（字）被修改</a:t>
            </a:r>
            <a:endParaRPr lang="en-US" sz="2400" dirty="0"/>
          </a:p>
          <a:p>
            <a:pPr lvl="2">
              <a:lnSpc>
                <a:spcPct val="90000"/>
              </a:lnSpc>
            </a:pPr>
            <a:r>
              <a:rPr lang="zh-CN" altLang="en-US" dirty="0" smtClean="0"/>
              <a:t>读取已被无效的块中未修改的字时引起的缺失</a:t>
            </a:r>
            <a:endParaRPr lang="en-US" sz="2400" dirty="0"/>
          </a:p>
        </p:txBody>
      </p:sp>
    </p:spTree>
    <p:extLst>
      <p:ext uri="{BB962C8B-B14F-4D97-AF65-F5344CB8AC3E}">
        <p14:creationId xmlns:p14="http://schemas.microsoft.com/office/powerpoint/2010/main" val="2324628744"/>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22532" name="Picture 2" descr="X:\02_GRAPHICS\BOOKS\02_PPTs\MKCAD(Hennessy)\PPT\Ch05\f05-09-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2494686"/>
            <a:ext cx="9865096" cy="432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Cache </a:t>
            </a:r>
            <a:r>
              <a:rPr lang="en-US" altLang="zh-CN" dirty="0"/>
              <a:t>hierarchy of the Alpha 21164 </a:t>
            </a:r>
            <a:r>
              <a:rPr lang="en-US" altLang="zh-CN" dirty="0" smtClean="0"/>
              <a:t>and </a:t>
            </a:r>
            <a:r>
              <a:rPr lang="en-US" altLang="zh-CN" dirty="0"/>
              <a:t>the Intel i7</a:t>
            </a:r>
            <a:endParaRPr lang="zh-CN" altLang="en-US" dirty="0"/>
          </a:p>
        </p:txBody>
      </p:sp>
      <p:sp>
        <p:nvSpPr>
          <p:cNvPr id="3" name="内容占位符 2"/>
          <p:cNvSpPr>
            <a:spLocks noGrp="1"/>
          </p:cNvSpPr>
          <p:nvPr>
            <p:ph idx="1"/>
          </p:nvPr>
        </p:nvSpPr>
        <p:spPr/>
        <p:txBody>
          <a:bodyPr/>
          <a:lstStyle/>
          <a:p>
            <a:r>
              <a:rPr lang="en-US" altLang="zh-CN" dirty="0" smtClean="0"/>
              <a:t>Both </a:t>
            </a:r>
            <a:r>
              <a:rPr lang="en-US" altLang="zh-CN" dirty="0"/>
              <a:t>systems have a high penalty (125 cycles or more) for a transfer required from a private cache</a:t>
            </a:r>
            <a:endParaRPr lang="zh-CN" altLang="en-US" dirty="0"/>
          </a:p>
        </p:txBody>
      </p:sp>
    </p:spTree>
    <p:extLst>
      <p:ext uri="{BB962C8B-B14F-4D97-AF65-F5344CB8AC3E}">
        <p14:creationId xmlns:p14="http://schemas.microsoft.com/office/powerpoint/2010/main" val="24188630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2"/>
          <p:cNvSpPr>
            <a:spLocks noGrp="1" noChangeArrowheads="1"/>
          </p:cNvSpPr>
          <p:nvPr>
            <p:ph type="title"/>
          </p:nvPr>
        </p:nvSpPr>
        <p:spPr>
          <a:xfrm>
            <a:off x="407368" y="128588"/>
            <a:ext cx="11161240" cy="1143000"/>
          </a:xfrm>
        </p:spPr>
        <p:txBody>
          <a:bodyPr/>
          <a:lstStyle/>
          <a:p>
            <a:r>
              <a:rPr lang="en-US" altLang="zh-CN" sz="2800" dirty="0">
                <a:ea typeface="ＭＳ Ｐゴシック" charset="-128"/>
                <a:cs typeface="ＭＳ Ｐゴシック" charset="-128"/>
              </a:rPr>
              <a:t>S</a:t>
            </a:r>
            <a:r>
              <a:rPr lang="en-US" sz="2800" dirty="0">
                <a:ea typeface="ＭＳ Ｐゴシック" charset="-128"/>
                <a:cs typeface="ＭＳ Ｐゴシック" charset="-128"/>
              </a:rPr>
              <a:t>MP Performance 4 Processor </a:t>
            </a:r>
            <a:br>
              <a:rPr lang="en-US" sz="2800" dirty="0">
                <a:ea typeface="ＭＳ Ｐゴシック" charset="-128"/>
                <a:cs typeface="ＭＳ Ｐゴシック" charset="-128"/>
              </a:rPr>
            </a:br>
            <a:r>
              <a:rPr lang="en-US" sz="2800" dirty="0">
                <a:ea typeface="ＭＳ Ｐゴシック" charset="-128"/>
                <a:cs typeface="ＭＳ Ｐゴシック" charset="-128"/>
              </a:rPr>
              <a:t>Commercial Workload: OLTP, Decision Support (Database), Search Engine</a:t>
            </a:r>
          </a:p>
        </p:txBody>
      </p:sp>
      <p:graphicFrame>
        <p:nvGraphicFramePr>
          <p:cNvPr id="28674" name="Object 2"/>
          <p:cNvGraphicFramePr>
            <a:graphicFrameLocks noChangeAspect="1"/>
          </p:cNvGraphicFramePr>
          <p:nvPr>
            <p:extLst>
              <p:ext uri="{D42A27DB-BD31-4B8C-83A1-F6EECF244321}">
                <p14:modId xmlns:p14="http://schemas.microsoft.com/office/powerpoint/2010/main" val="4243561694"/>
              </p:ext>
            </p:extLst>
          </p:nvPr>
        </p:nvGraphicFramePr>
        <p:xfrm>
          <a:off x="4038600" y="1374596"/>
          <a:ext cx="8019168" cy="5483404"/>
        </p:xfrm>
        <a:graphic>
          <a:graphicData uri="http://schemas.openxmlformats.org/presentationml/2006/ole">
            <mc:AlternateContent xmlns:mc="http://schemas.openxmlformats.org/markup-compatibility/2006">
              <mc:Choice xmlns:v="urn:schemas-microsoft-com:vml" Requires="v">
                <p:oleObj spid="_x0000_s2082" name="Worksheet" r:id="rId4" imgW="8658000" imgH="5915160" progId="Excel.Sheet.8">
                  <p:embed/>
                </p:oleObj>
              </mc:Choice>
              <mc:Fallback>
                <p:oleObj name="Worksheet" r:id="rId4" imgW="8658000" imgH="5915160" progId="Excel.Sheet.8">
                  <p:embed/>
                  <p:pic>
                    <p:nvPicPr>
                      <p:cNvPr id="286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1374596"/>
                        <a:ext cx="8019168" cy="5483404"/>
                      </a:xfrm>
                      <a:prstGeom prst="rect">
                        <a:avLst/>
                      </a:prstGeom>
                      <a:noFill/>
                      <a:extLst/>
                    </p:spPr>
                  </p:pic>
                </p:oleObj>
              </mc:Fallback>
            </mc:AlternateContent>
          </a:graphicData>
        </a:graphic>
      </p:graphicFrame>
      <p:sp>
        <p:nvSpPr>
          <p:cNvPr id="28679" name="Text Box 4"/>
          <p:cNvSpPr txBox="1">
            <a:spLocks noChangeArrowheads="1"/>
          </p:cNvSpPr>
          <p:nvPr/>
        </p:nvSpPr>
        <p:spPr bwMode="auto">
          <a:xfrm>
            <a:off x="2041526" y="1838325"/>
            <a:ext cx="184731" cy="261610"/>
          </a:xfrm>
          <a:prstGeom prst="rect">
            <a:avLst/>
          </a:prstGeom>
          <a:noFill/>
          <a:ln w="9525">
            <a:noFill/>
            <a:miter lim="800000"/>
            <a:headEnd/>
            <a:tailEnd/>
          </a:ln>
        </p:spPr>
        <p:txBody>
          <a:bodyPr wrap="none" bIns="0">
            <a:prstTxWarp prst="textNoShape">
              <a:avLst/>
            </a:prstTxWarp>
            <a:spAutoFit/>
          </a:bodyPr>
          <a:lstStyle/>
          <a:p>
            <a:pPr algn="l">
              <a:spcBef>
                <a:spcPct val="0"/>
              </a:spcBef>
            </a:pPr>
            <a:endParaRPr lang="en-US" sz="1400" b="1"/>
          </a:p>
        </p:txBody>
      </p:sp>
      <p:sp>
        <p:nvSpPr>
          <p:cNvPr id="28680" name="Text Box 5"/>
          <p:cNvSpPr txBox="1">
            <a:spLocks noChangeArrowheads="1"/>
          </p:cNvSpPr>
          <p:nvPr/>
        </p:nvSpPr>
        <p:spPr bwMode="auto">
          <a:xfrm>
            <a:off x="407368" y="1700808"/>
            <a:ext cx="3240361" cy="3862596"/>
          </a:xfrm>
          <a:prstGeom prst="rect">
            <a:avLst/>
          </a:prstGeom>
          <a:noFill/>
          <a:ln w="9525">
            <a:noFill/>
            <a:miter lim="800000"/>
            <a:headEnd/>
            <a:tailEnd/>
          </a:ln>
        </p:spPr>
        <p:txBody>
          <a:bodyPr wrap="square" bIns="0">
            <a:prstTxWarp prst="textNoShape">
              <a:avLst/>
            </a:prstTxWarp>
            <a:spAutoFit/>
          </a:bodyPr>
          <a:lstStyle/>
          <a:p>
            <a:pPr>
              <a:buFontTx/>
              <a:buChar char="•"/>
            </a:pPr>
            <a:r>
              <a:rPr lang="zh-CN" altLang="en-US" sz="2400" dirty="0">
                <a:solidFill>
                  <a:srgbClr val="0000FF"/>
                </a:solidFill>
                <a:latin typeface="+mn-lt"/>
                <a:ea typeface="+mn-ea"/>
                <a:cs typeface="Calibri"/>
              </a:rPr>
              <a:t>基于</a:t>
            </a:r>
            <a:r>
              <a:rPr lang="en-US" altLang="zh-CN" sz="2400" dirty="0">
                <a:solidFill>
                  <a:srgbClr val="0000FF"/>
                </a:solidFill>
                <a:latin typeface="+mn-lt"/>
                <a:ea typeface="+mn-ea"/>
                <a:cs typeface="Calibri"/>
              </a:rPr>
              <a:t>Alpha 21264</a:t>
            </a:r>
            <a:r>
              <a:rPr lang="zh-CN" altLang="en-US" sz="2400" dirty="0">
                <a:solidFill>
                  <a:srgbClr val="0000FF"/>
                </a:solidFill>
                <a:latin typeface="+mn-lt"/>
                <a:ea typeface="+mn-ea"/>
                <a:cs typeface="Calibri"/>
              </a:rPr>
              <a:t>的结构，</a:t>
            </a:r>
            <a:r>
              <a:rPr lang="en-US" altLang="zh-CN" sz="2400" dirty="0">
                <a:solidFill>
                  <a:srgbClr val="0000FF"/>
                </a:solidFill>
                <a:latin typeface="+mn-lt"/>
                <a:ea typeface="+mn-ea"/>
                <a:cs typeface="Calibri"/>
              </a:rPr>
              <a:t>L3</a:t>
            </a:r>
            <a:r>
              <a:rPr lang="zh-CN" altLang="en-US" sz="2400" dirty="0">
                <a:solidFill>
                  <a:srgbClr val="0000FF"/>
                </a:solidFill>
                <a:latin typeface="+mn-lt"/>
                <a:ea typeface="+mn-ea"/>
                <a:cs typeface="Calibri"/>
              </a:rPr>
              <a:t>从</a:t>
            </a:r>
            <a:r>
              <a:rPr lang="en-US" altLang="zh-CN" dirty="0" smtClean="0">
                <a:solidFill>
                  <a:srgbClr val="0000FF"/>
                </a:solidFill>
                <a:latin typeface="+mn-lt"/>
                <a:ea typeface="+mn-ea"/>
                <a:cs typeface="Calibri"/>
              </a:rPr>
              <a:t>1MB</a:t>
            </a:r>
            <a:r>
              <a:rPr lang="zh-CN" altLang="en-US" dirty="0" smtClean="0">
                <a:solidFill>
                  <a:srgbClr val="0000FF"/>
                </a:solidFill>
                <a:latin typeface="+mn-lt"/>
                <a:ea typeface="+mn-ea"/>
                <a:cs typeface="Calibri"/>
              </a:rPr>
              <a:t>到</a:t>
            </a:r>
            <a:r>
              <a:rPr lang="en-US" altLang="zh-CN" dirty="0" smtClean="0">
                <a:solidFill>
                  <a:srgbClr val="0000FF"/>
                </a:solidFill>
                <a:latin typeface="+mn-lt"/>
                <a:ea typeface="+mn-ea"/>
                <a:cs typeface="Calibri"/>
              </a:rPr>
              <a:t>8 MB </a:t>
            </a:r>
            <a:endParaRPr lang="en-US" altLang="zh-CN" sz="2000" dirty="0">
              <a:solidFill>
                <a:srgbClr val="0000FF"/>
              </a:solidFill>
              <a:latin typeface="+mn-lt"/>
              <a:ea typeface="+mn-ea"/>
              <a:cs typeface="Calibri"/>
            </a:endParaRPr>
          </a:p>
          <a:p>
            <a:pPr>
              <a:buFontTx/>
              <a:buChar char="•"/>
            </a:pPr>
            <a:endParaRPr lang="en-US" altLang="zh-CN" sz="2000" dirty="0">
              <a:solidFill>
                <a:srgbClr val="0000FF"/>
              </a:solidFill>
              <a:latin typeface="+mn-lt"/>
              <a:ea typeface="+mn-ea"/>
              <a:cs typeface="Calibri"/>
            </a:endParaRPr>
          </a:p>
          <a:p>
            <a:pPr>
              <a:buFontTx/>
              <a:buChar char="•"/>
            </a:pPr>
            <a:r>
              <a:rPr lang="zh-CN" altLang="en-US" sz="2400" dirty="0" smtClean="0">
                <a:solidFill>
                  <a:srgbClr val="0000FF"/>
                </a:solidFill>
                <a:latin typeface="+mn-lt"/>
                <a:ea typeface="+mn-ea"/>
                <a:cs typeface="Calibri"/>
              </a:rPr>
              <a:t>单处理机相关的缺失随</a:t>
            </a:r>
            <a:r>
              <a:rPr lang="en-US" sz="2400" dirty="0">
                <a:solidFill>
                  <a:srgbClr val="0000FF"/>
                </a:solidFill>
                <a:latin typeface="+mn-lt"/>
                <a:ea typeface="+mn-ea"/>
                <a:cs typeface="Calibri"/>
              </a:rPr>
              <a:t>cache</a:t>
            </a:r>
            <a:r>
              <a:rPr lang="zh-CN" altLang="en-US" sz="2400" dirty="0">
                <a:solidFill>
                  <a:srgbClr val="0000FF"/>
                </a:solidFill>
                <a:latin typeface="+mn-lt"/>
                <a:ea typeface="+mn-ea"/>
                <a:cs typeface="Calibri"/>
              </a:rPr>
              <a:t>增大而降低</a:t>
            </a:r>
            <a:r>
              <a:rPr lang="en-US" sz="2400" dirty="0">
                <a:solidFill>
                  <a:srgbClr val="0000FF"/>
                </a:solidFill>
                <a:latin typeface="+mn-lt"/>
                <a:ea typeface="+mn-ea"/>
                <a:cs typeface="Calibri"/>
              </a:rPr>
              <a:t> </a:t>
            </a:r>
            <a:r>
              <a:rPr lang="en-US" sz="2000" dirty="0">
                <a:solidFill>
                  <a:srgbClr val="0000FF"/>
                </a:solidFill>
                <a:latin typeface="+mn-lt"/>
                <a:ea typeface="+mn-ea"/>
                <a:cs typeface="Calibri"/>
              </a:rPr>
              <a:t>(Instruction, Capacity/Conflict, Compulsory)</a:t>
            </a:r>
            <a:r>
              <a:rPr lang="en-US" dirty="0" smtClean="0">
                <a:solidFill>
                  <a:srgbClr val="0000FF"/>
                </a:solidFill>
                <a:latin typeface="+mn-lt"/>
                <a:ea typeface="+mn-ea"/>
                <a:cs typeface="Calibri"/>
              </a:rPr>
              <a:t> </a:t>
            </a:r>
          </a:p>
          <a:p>
            <a:pPr algn="l">
              <a:spcBef>
                <a:spcPct val="0"/>
              </a:spcBef>
              <a:buFontTx/>
              <a:buChar char="•"/>
            </a:pPr>
            <a:endParaRPr lang="en-US" sz="2400" dirty="0">
              <a:solidFill>
                <a:srgbClr val="0000FF"/>
              </a:solidFill>
              <a:latin typeface="+mn-lt"/>
              <a:ea typeface="+mn-ea"/>
              <a:cs typeface="Calibri"/>
            </a:endParaRPr>
          </a:p>
          <a:p>
            <a:pPr algn="l">
              <a:spcBef>
                <a:spcPct val="0"/>
              </a:spcBef>
              <a:buFontTx/>
              <a:buChar char="•"/>
            </a:pPr>
            <a:r>
              <a:rPr lang="zh-CN" altLang="en-US" sz="2400" dirty="0">
                <a:solidFill>
                  <a:srgbClr val="0000FF"/>
                </a:solidFill>
                <a:latin typeface="+mn-lt"/>
                <a:ea typeface="+mn-ea"/>
                <a:cs typeface="Calibri"/>
              </a:rPr>
              <a:t>真共享和假共享基本不变</a:t>
            </a:r>
            <a:r>
              <a:rPr lang="en-US" sz="2400" dirty="0">
                <a:solidFill>
                  <a:srgbClr val="0000FF"/>
                </a:solidFill>
                <a:latin typeface="+mn-lt"/>
                <a:ea typeface="+mn-ea"/>
                <a:cs typeface="Calibri"/>
              </a:rPr>
              <a:t> </a:t>
            </a:r>
          </a:p>
        </p:txBody>
      </p:sp>
    </p:spTree>
    <p:extLst>
      <p:ext uri="{BB962C8B-B14F-4D97-AF65-F5344CB8AC3E}">
        <p14:creationId xmlns:p14="http://schemas.microsoft.com/office/powerpoint/2010/main" val="3960756210"/>
      </p:ext>
    </p:extLst>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2"/>
          <p:cNvSpPr>
            <a:spLocks noGrp="1" noChangeArrowheads="1"/>
          </p:cNvSpPr>
          <p:nvPr>
            <p:ph type="title"/>
          </p:nvPr>
        </p:nvSpPr>
        <p:spPr>
          <a:xfrm>
            <a:off x="407368" y="476672"/>
            <a:ext cx="10873207" cy="736600"/>
          </a:xfrm>
        </p:spPr>
        <p:txBody>
          <a:bodyPr/>
          <a:lstStyle/>
          <a:p>
            <a:r>
              <a:rPr lang="en-US" sz="2800" dirty="0" smtClean="0">
                <a:ea typeface="ＭＳ Ｐゴシック" charset="-128"/>
                <a:cs typeface="ＭＳ Ｐゴシック" charset="-128"/>
              </a:rPr>
              <a:t>SMP </a:t>
            </a:r>
            <a:r>
              <a:rPr lang="en-US" sz="2800" dirty="0">
                <a:ea typeface="ＭＳ Ｐゴシック" charset="-128"/>
                <a:cs typeface="ＭＳ Ｐゴシック" charset="-128"/>
              </a:rPr>
              <a:t>Performance 2MB Cache </a:t>
            </a:r>
            <a:br>
              <a:rPr lang="en-US" sz="2800" dirty="0">
                <a:ea typeface="ＭＳ Ｐゴシック" charset="-128"/>
                <a:cs typeface="ＭＳ Ｐゴシック" charset="-128"/>
              </a:rPr>
            </a:br>
            <a:r>
              <a:rPr lang="en-US" sz="2800" dirty="0">
                <a:ea typeface="ＭＳ Ｐゴシック" charset="-128"/>
                <a:cs typeface="ＭＳ Ｐゴシック" charset="-128"/>
              </a:rPr>
              <a:t>Commercial Workload: OLTP, Decision Support (Database), Search Engine</a:t>
            </a:r>
          </a:p>
        </p:txBody>
      </p:sp>
      <p:graphicFrame>
        <p:nvGraphicFramePr>
          <p:cNvPr id="30722" name="Object 2"/>
          <p:cNvGraphicFramePr>
            <a:graphicFrameLocks noGrp="1" noChangeAspect="1"/>
          </p:cNvGraphicFramePr>
          <p:nvPr>
            <p:ph idx="1"/>
            <p:extLst>
              <p:ext uri="{D42A27DB-BD31-4B8C-83A1-F6EECF244321}">
                <p14:modId xmlns:p14="http://schemas.microsoft.com/office/powerpoint/2010/main" val="3985045969"/>
              </p:ext>
            </p:extLst>
          </p:nvPr>
        </p:nvGraphicFramePr>
        <p:xfrm>
          <a:off x="4190999" y="1542752"/>
          <a:ext cx="7772549" cy="5315248"/>
        </p:xfrm>
        <a:graphic>
          <a:graphicData uri="http://schemas.openxmlformats.org/presentationml/2006/ole">
            <mc:AlternateContent xmlns:mc="http://schemas.openxmlformats.org/markup-compatibility/2006">
              <mc:Choice xmlns:v="urn:schemas-microsoft-com:vml" Requires="v">
                <p:oleObj spid="_x0000_s3108" name="Worksheet" r:id="rId4" imgW="8658000" imgH="5915160" progId="Excel.Sheet.8">
                  <p:embed/>
                </p:oleObj>
              </mc:Choice>
              <mc:Fallback>
                <p:oleObj name="Worksheet" r:id="rId4" imgW="8658000" imgH="5915160" progId="Excel.Sheet.8">
                  <p:embed/>
                  <p:pic>
                    <p:nvPicPr>
                      <p:cNvPr id="30722"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0999" y="1542752"/>
                        <a:ext cx="7772549" cy="5315248"/>
                      </a:xfrm>
                      <a:prstGeom prst="rect">
                        <a:avLst/>
                      </a:prstGeom>
                      <a:noFill/>
                      <a:ln>
                        <a:noFill/>
                      </a:ln>
                      <a:effectLst/>
                      <a:extLst/>
                    </p:spPr>
                  </p:pic>
                </p:oleObj>
              </mc:Fallback>
            </mc:AlternateContent>
          </a:graphicData>
        </a:graphic>
      </p:graphicFrame>
      <p:sp>
        <p:nvSpPr>
          <p:cNvPr id="30727" name="Text Box 3"/>
          <p:cNvSpPr txBox="1">
            <a:spLocks noChangeArrowheads="1"/>
          </p:cNvSpPr>
          <p:nvPr/>
        </p:nvSpPr>
        <p:spPr bwMode="auto">
          <a:xfrm>
            <a:off x="2041526" y="1709738"/>
            <a:ext cx="184731" cy="261610"/>
          </a:xfrm>
          <a:prstGeom prst="rect">
            <a:avLst/>
          </a:prstGeom>
          <a:noFill/>
          <a:ln w="9525">
            <a:noFill/>
            <a:miter lim="800000"/>
            <a:headEnd/>
            <a:tailEnd/>
          </a:ln>
        </p:spPr>
        <p:txBody>
          <a:bodyPr wrap="none" bIns="0">
            <a:prstTxWarp prst="textNoShape">
              <a:avLst/>
            </a:prstTxWarp>
            <a:spAutoFit/>
          </a:bodyPr>
          <a:lstStyle/>
          <a:p>
            <a:pPr algn="l">
              <a:spcBef>
                <a:spcPct val="0"/>
              </a:spcBef>
            </a:pPr>
            <a:endParaRPr lang="en-US" sz="1400" b="1"/>
          </a:p>
        </p:txBody>
      </p:sp>
      <p:sp>
        <p:nvSpPr>
          <p:cNvPr id="30728" name="Text Box 4"/>
          <p:cNvSpPr txBox="1">
            <a:spLocks noChangeArrowheads="1"/>
          </p:cNvSpPr>
          <p:nvPr/>
        </p:nvSpPr>
        <p:spPr bwMode="auto">
          <a:xfrm>
            <a:off x="618221" y="1709738"/>
            <a:ext cx="2846609" cy="4847481"/>
          </a:xfrm>
          <a:prstGeom prst="rect">
            <a:avLst/>
          </a:prstGeom>
          <a:noFill/>
          <a:ln w="9525">
            <a:noFill/>
            <a:miter lim="800000"/>
            <a:headEnd/>
            <a:tailEnd/>
          </a:ln>
        </p:spPr>
        <p:txBody>
          <a:bodyPr wrap="square" bIns="0">
            <a:prstTxWarp prst="textNoShape">
              <a:avLst/>
            </a:prstTxWarp>
            <a:spAutoFit/>
          </a:bodyPr>
          <a:lstStyle/>
          <a:p>
            <a:pPr algn="l">
              <a:spcBef>
                <a:spcPct val="0"/>
              </a:spcBef>
              <a:buFontTx/>
              <a:buChar char="•"/>
            </a:pPr>
            <a:r>
              <a:rPr lang="en-US" altLang="zh-CN" sz="2400" dirty="0">
                <a:solidFill>
                  <a:srgbClr val="0000FF"/>
                </a:solidFill>
                <a:latin typeface="+mn-lt"/>
                <a:ea typeface="+mn-ea"/>
                <a:cs typeface="Calibri"/>
              </a:rPr>
              <a:t> </a:t>
            </a:r>
            <a:r>
              <a:rPr lang="zh-CN" altLang="en-US" sz="2400" dirty="0" smtClean="0">
                <a:solidFill>
                  <a:srgbClr val="0000FF"/>
                </a:solidFill>
                <a:latin typeface="+mn-lt"/>
                <a:ea typeface="+mn-ea"/>
                <a:cs typeface="Calibri"/>
              </a:rPr>
              <a:t>固定</a:t>
            </a:r>
            <a:r>
              <a:rPr lang="en-US" altLang="zh-CN" sz="2400" dirty="0" smtClean="0">
                <a:solidFill>
                  <a:srgbClr val="0000FF"/>
                </a:solidFill>
                <a:latin typeface="+mn-lt"/>
                <a:ea typeface="+mn-ea"/>
                <a:cs typeface="Calibri"/>
              </a:rPr>
              <a:t>L3</a:t>
            </a:r>
            <a:r>
              <a:rPr lang="zh-CN" altLang="en-US" sz="2400" dirty="0" smtClean="0">
                <a:solidFill>
                  <a:srgbClr val="0000FF"/>
                </a:solidFill>
                <a:latin typeface="+mn-lt"/>
                <a:ea typeface="+mn-ea"/>
                <a:cs typeface="Calibri"/>
              </a:rPr>
              <a:t>为</a:t>
            </a:r>
            <a:r>
              <a:rPr lang="en-US" altLang="zh-CN" sz="2400" dirty="0" smtClean="0">
                <a:solidFill>
                  <a:srgbClr val="0000FF"/>
                </a:solidFill>
                <a:latin typeface="+mn-lt"/>
                <a:ea typeface="+mn-ea"/>
                <a:cs typeface="Calibri"/>
              </a:rPr>
              <a:t>2MB</a:t>
            </a:r>
          </a:p>
          <a:p>
            <a:pPr algn="l">
              <a:spcBef>
                <a:spcPct val="0"/>
              </a:spcBef>
              <a:buFontTx/>
              <a:buChar char="•"/>
            </a:pPr>
            <a:r>
              <a:rPr lang="zh-CN" altLang="en-US" sz="2400" dirty="0" smtClean="0">
                <a:solidFill>
                  <a:srgbClr val="0000FF"/>
                </a:solidFill>
                <a:latin typeface="+mn-lt"/>
                <a:ea typeface="+mn-ea"/>
                <a:cs typeface="Calibri"/>
              </a:rPr>
              <a:t>处理器处理数量从</a:t>
            </a:r>
            <a:r>
              <a:rPr lang="en-US" altLang="zh-CN" sz="2400" dirty="0" smtClean="0">
                <a:solidFill>
                  <a:srgbClr val="0000FF"/>
                </a:solidFill>
                <a:latin typeface="+mn-lt"/>
                <a:ea typeface="+mn-ea"/>
                <a:cs typeface="Calibri"/>
              </a:rPr>
              <a:t>1</a:t>
            </a:r>
            <a:r>
              <a:rPr lang="zh-CN" altLang="en-US" sz="2400" dirty="0" smtClean="0">
                <a:solidFill>
                  <a:srgbClr val="0000FF"/>
                </a:solidFill>
                <a:latin typeface="+mn-lt"/>
                <a:ea typeface="+mn-ea"/>
                <a:cs typeface="Calibri"/>
              </a:rPr>
              <a:t>变到</a:t>
            </a:r>
            <a:r>
              <a:rPr lang="en-US" altLang="zh-CN" sz="2400" dirty="0" smtClean="0">
                <a:solidFill>
                  <a:srgbClr val="0000FF"/>
                </a:solidFill>
                <a:latin typeface="+mn-lt"/>
                <a:ea typeface="+mn-ea"/>
                <a:cs typeface="Calibri"/>
              </a:rPr>
              <a:t>8</a:t>
            </a:r>
          </a:p>
          <a:p>
            <a:pPr algn="l">
              <a:spcBef>
                <a:spcPct val="0"/>
              </a:spcBef>
              <a:buFontTx/>
              <a:buChar char="•"/>
            </a:pPr>
            <a:endParaRPr lang="en-US" altLang="zh-CN" sz="2400" dirty="0" smtClean="0">
              <a:solidFill>
                <a:srgbClr val="0000FF"/>
              </a:solidFill>
              <a:latin typeface="+mn-lt"/>
              <a:ea typeface="+mn-ea"/>
              <a:cs typeface="Calibri"/>
            </a:endParaRPr>
          </a:p>
          <a:p>
            <a:pPr algn="l">
              <a:spcBef>
                <a:spcPct val="0"/>
              </a:spcBef>
              <a:buFontTx/>
              <a:buChar char="•"/>
            </a:pPr>
            <a:r>
              <a:rPr lang="zh-CN" altLang="en-US" sz="2400" dirty="0" smtClean="0">
                <a:solidFill>
                  <a:srgbClr val="0000FF"/>
                </a:solidFill>
                <a:latin typeface="+mn-lt"/>
                <a:ea typeface="+mn-ea"/>
                <a:cs typeface="Calibri"/>
              </a:rPr>
              <a:t>真共享、假共享数量逐步增加</a:t>
            </a:r>
            <a:endParaRPr lang="en-US" altLang="zh-CN" sz="2400" dirty="0" smtClean="0">
              <a:solidFill>
                <a:srgbClr val="0000FF"/>
              </a:solidFill>
              <a:latin typeface="+mn-lt"/>
              <a:ea typeface="+mn-ea"/>
              <a:cs typeface="Calibri"/>
            </a:endParaRPr>
          </a:p>
          <a:p>
            <a:pPr algn="l">
              <a:spcBef>
                <a:spcPct val="0"/>
              </a:spcBef>
              <a:buFontTx/>
              <a:buChar char="•"/>
            </a:pPr>
            <a:endParaRPr lang="en-US" altLang="zh-CN" sz="2400" dirty="0">
              <a:solidFill>
                <a:srgbClr val="0000FF"/>
              </a:solidFill>
              <a:latin typeface="+mn-lt"/>
              <a:ea typeface="+mn-ea"/>
              <a:cs typeface="Calibri"/>
            </a:endParaRPr>
          </a:p>
          <a:p>
            <a:pPr>
              <a:buFontTx/>
              <a:buChar char="•"/>
            </a:pPr>
            <a:r>
              <a:rPr lang="en-US" altLang="zh-CN" sz="2400" dirty="0">
                <a:solidFill>
                  <a:srgbClr val="0000FF"/>
                </a:solidFill>
                <a:latin typeface="+mn-lt"/>
                <a:ea typeface="+mn-ea"/>
                <a:cs typeface="Calibri"/>
              </a:rPr>
              <a:t>The compulsory misses slightly increase because each processor must now handle more compulsory misses</a:t>
            </a:r>
            <a:endParaRPr lang="en-US" altLang="zh-CN" sz="2400" dirty="0" smtClean="0">
              <a:solidFill>
                <a:srgbClr val="0000FF"/>
              </a:solidFill>
              <a:latin typeface="+mn-lt"/>
              <a:ea typeface="+mn-ea"/>
              <a:cs typeface="Calibri"/>
            </a:endParaRPr>
          </a:p>
        </p:txBody>
      </p:sp>
    </p:spTree>
    <p:extLst>
      <p:ext uri="{BB962C8B-B14F-4D97-AF65-F5344CB8AC3E}">
        <p14:creationId xmlns:p14="http://schemas.microsoft.com/office/powerpoint/2010/main" val="2419316671"/>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noChangeArrowheads="1"/>
          </p:cNvSpPr>
          <p:nvPr/>
        </p:nvSpPr>
        <p:spPr bwMode="auto">
          <a:xfrm>
            <a:off x="1930401" y="365126"/>
            <a:ext cx="36513" cy="36513"/>
          </a:xfrm>
          <a:custGeom>
            <a:avLst/>
            <a:gdLst>
              <a:gd name="T0" fmla="*/ 0 w 102"/>
              <a:gd name="T1" fmla="*/ 0 h 102"/>
              <a:gd name="T2" fmla="*/ 2147483646 w 102"/>
              <a:gd name="T3" fmla="*/ 0 h 102"/>
              <a:gd name="T4" fmla="*/ 2147483646 w 102"/>
              <a:gd name="T5" fmla="*/ 2147483646 h 102"/>
              <a:gd name="T6" fmla="*/ 0 w 102"/>
              <a:gd name="T7" fmla="*/ 2147483646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24580" name="Picture 2" descr="X:\02_GRAPHICS\BOOKS\02_PPTs\MKCAD(Hennessy)\PPT\Ch05\f05-10-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446" y="1844824"/>
            <a:ext cx="5748452" cy="4603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OLTP Performance with L3 Size</a:t>
            </a:r>
            <a:endParaRPr lang="zh-CN" altLang="en-US" dirty="0"/>
          </a:p>
        </p:txBody>
      </p:sp>
      <p:sp>
        <p:nvSpPr>
          <p:cNvPr id="3" name="内容占位符 2"/>
          <p:cNvSpPr>
            <a:spLocks noGrp="1"/>
          </p:cNvSpPr>
          <p:nvPr>
            <p:ph idx="1"/>
          </p:nvPr>
        </p:nvSpPr>
        <p:spPr>
          <a:xfrm>
            <a:off x="335360" y="1556792"/>
            <a:ext cx="5996086" cy="5112568"/>
          </a:xfrm>
        </p:spPr>
        <p:txBody>
          <a:bodyPr/>
          <a:lstStyle/>
          <a:p>
            <a:r>
              <a:rPr lang="en-US" altLang="zh-CN" dirty="0"/>
              <a:t>The idle time </a:t>
            </a:r>
            <a:r>
              <a:rPr lang="en-US" altLang="zh-CN" dirty="0" smtClean="0"/>
              <a:t>grows with </a:t>
            </a:r>
            <a:r>
              <a:rPr lang="en-US" altLang="zh-CN" dirty="0"/>
              <a:t>cache </a:t>
            </a:r>
            <a:r>
              <a:rPr lang="en-US" altLang="zh-CN" dirty="0" smtClean="0"/>
              <a:t>size</a:t>
            </a:r>
          </a:p>
          <a:p>
            <a:pPr lvl="1"/>
            <a:r>
              <a:rPr lang="en-US" altLang="zh-CN" dirty="0"/>
              <a:t>W</a:t>
            </a:r>
            <a:r>
              <a:rPr lang="en-US" altLang="zh-CN" dirty="0" smtClean="0"/>
              <a:t>ith </a:t>
            </a:r>
            <a:r>
              <a:rPr lang="en-US" altLang="zh-CN" dirty="0"/>
              <a:t>fewer memory system stalls, more server processes are needed to cover the I/O </a:t>
            </a:r>
            <a:r>
              <a:rPr lang="en-US" altLang="zh-CN" dirty="0" smtClean="0"/>
              <a:t>latency</a:t>
            </a:r>
          </a:p>
          <a:p>
            <a:r>
              <a:rPr lang="en-US" altLang="zh-CN" dirty="0" smtClean="0"/>
              <a:t>The </a:t>
            </a:r>
            <a:r>
              <a:rPr lang="en-US" altLang="zh-CN" dirty="0"/>
              <a:t>PAL code is a set of sequences of specialized OS-level instructions executed in privileged mode; an example is the TLB miss handler.</a:t>
            </a:r>
            <a:endParaRPr lang="zh-CN" altLang="en-US" dirty="0"/>
          </a:p>
        </p:txBody>
      </p:sp>
    </p:spTree>
    <p:extLst>
      <p:ext uri="{BB962C8B-B14F-4D97-AF65-F5344CB8AC3E}">
        <p14:creationId xmlns:p14="http://schemas.microsoft.com/office/powerpoint/2010/main" val="17718162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2" descr="X:\02_GRAPHICS\BOOKS\02_PPTs\MKCAD(Hennessy)\PPT\Ch05\f05-13-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9894" y="260648"/>
            <a:ext cx="6577660" cy="654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Miss per 1000 inst.</a:t>
            </a:r>
            <a:endParaRPr lang="zh-CN" altLang="en-US" dirty="0"/>
          </a:p>
        </p:txBody>
      </p:sp>
      <p:sp>
        <p:nvSpPr>
          <p:cNvPr id="3" name="内容占位符 2"/>
          <p:cNvSpPr>
            <a:spLocks noGrp="1"/>
          </p:cNvSpPr>
          <p:nvPr>
            <p:ph idx="1"/>
          </p:nvPr>
        </p:nvSpPr>
        <p:spPr>
          <a:xfrm>
            <a:off x="407368" y="1556792"/>
            <a:ext cx="5202526" cy="5112568"/>
          </a:xfrm>
        </p:spPr>
        <p:txBody>
          <a:bodyPr/>
          <a:lstStyle/>
          <a:p>
            <a:r>
              <a:rPr lang="en-US" altLang="zh-CN" dirty="0"/>
              <a:t>The number of misses per 1000 instructions drops steadily as the block size of the L3 cache is increased, making a good case for an L3 block size of at least 128 </a:t>
            </a:r>
            <a:r>
              <a:rPr lang="en-US" altLang="zh-CN" dirty="0" smtClean="0"/>
              <a:t>bytes</a:t>
            </a:r>
          </a:p>
          <a:p>
            <a:r>
              <a:rPr lang="en-US" altLang="zh-CN" dirty="0" smtClean="0"/>
              <a:t>The </a:t>
            </a:r>
            <a:r>
              <a:rPr lang="en-US" altLang="zh-CN" dirty="0"/>
              <a:t>L3 cache is 2 </a:t>
            </a:r>
            <a:r>
              <a:rPr lang="en-US" altLang="zh-CN" dirty="0" err="1"/>
              <a:t>MiB</a:t>
            </a:r>
            <a:r>
              <a:rPr lang="en-US" altLang="zh-CN" dirty="0"/>
              <a:t>, two-way set </a:t>
            </a:r>
            <a:r>
              <a:rPr lang="en-US" altLang="zh-CN" dirty="0" smtClean="0"/>
              <a:t>associative</a:t>
            </a:r>
            <a:endParaRPr lang="zh-CN" altLang="en-US" dirty="0"/>
          </a:p>
        </p:txBody>
      </p:sp>
    </p:spTree>
    <p:extLst>
      <p:ext uri="{BB962C8B-B14F-4D97-AF65-F5344CB8AC3E}">
        <p14:creationId xmlns:p14="http://schemas.microsoft.com/office/powerpoint/2010/main" val="369999036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2" descr="X:\02_GRAPHICS\BOOKS\02_PPTs\MKCAD(Hennessy)\PPT\Ch05\f05-14-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4437112"/>
            <a:ext cx="9421693"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Parallel “make”</a:t>
            </a:r>
            <a:endParaRPr lang="zh-CN" altLang="en-US" dirty="0"/>
          </a:p>
        </p:txBody>
      </p:sp>
      <p:sp>
        <p:nvSpPr>
          <p:cNvPr id="3" name="内容占位符 2"/>
          <p:cNvSpPr>
            <a:spLocks noGrp="1"/>
          </p:cNvSpPr>
          <p:nvPr>
            <p:ph idx="1"/>
          </p:nvPr>
        </p:nvSpPr>
        <p:spPr/>
        <p:txBody>
          <a:bodyPr/>
          <a:lstStyle/>
          <a:p>
            <a:r>
              <a:rPr lang="en-US" altLang="zh-CN" dirty="0"/>
              <a:t>The distribution of execution time in the </a:t>
            </a:r>
            <a:r>
              <a:rPr lang="en-US" altLang="zh-CN" dirty="0" err="1"/>
              <a:t>multiprogrammed</a:t>
            </a:r>
            <a:r>
              <a:rPr lang="en-US" altLang="zh-CN" dirty="0"/>
              <a:t> parallel “make” </a:t>
            </a:r>
            <a:r>
              <a:rPr lang="en-US" altLang="zh-CN" dirty="0" smtClean="0"/>
              <a:t>workload</a:t>
            </a:r>
          </a:p>
          <a:p>
            <a:r>
              <a:rPr lang="en-US" altLang="zh-CN" dirty="0" smtClean="0"/>
              <a:t>The </a:t>
            </a:r>
            <a:r>
              <a:rPr lang="en-US" altLang="zh-CN" dirty="0"/>
              <a:t>high fraction of idle time is due to disk latency when only one of the eight processors is </a:t>
            </a:r>
            <a:r>
              <a:rPr lang="en-US" altLang="zh-CN" dirty="0" smtClean="0"/>
              <a:t>active</a:t>
            </a:r>
          </a:p>
          <a:p>
            <a:r>
              <a:rPr lang="en-US" altLang="zh-CN" dirty="0" smtClean="0"/>
              <a:t>These </a:t>
            </a:r>
            <a:r>
              <a:rPr lang="en-US" altLang="zh-CN" dirty="0"/>
              <a:t>data and the subsequent measurements for this workload were collected with the </a:t>
            </a:r>
            <a:r>
              <a:rPr lang="en-US" altLang="zh-CN" dirty="0" err="1"/>
              <a:t>SimOS</a:t>
            </a:r>
            <a:r>
              <a:rPr lang="en-US" altLang="zh-CN" dirty="0"/>
              <a:t> system</a:t>
            </a:r>
            <a:endParaRPr lang="zh-CN" altLang="en-US" dirty="0"/>
          </a:p>
        </p:txBody>
      </p:sp>
    </p:spTree>
    <p:extLst>
      <p:ext uri="{BB962C8B-B14F-4D97-AF65-F5344CB8AC3E}">
        <p14:creationId xmlns:p14="http://schemas.microsoft.com/office/powerpoint/2010/main" val="71751772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2" descr="X:\02_GRAPHICS\BOOKS\02_PPTs\MKCAD(Hennessy)\PPT\Ch05\f05-15-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648" y="2806675"/>
            <a:ext cx="9073008" cy="400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Cache/Block size’s impact to data access</a:t>
            </a:r>
            <a:endParaRPr lang="zh-CN" altLang="en-US" dirty="0"/>
          </a:p>
        </p:txBody>
      </p:sp>
      <p:sp>
        <p:nvSpPr>
          <p:cNvPr id="3" name="内容占位符 2"/>
          <p:cNvSpPr>
            <a:spLocks noGrp="1"/>
          </p:cNvSpPr>
          <p:nvPr>
            <p:ph idx="1"/>
          </p:nvPr>
        </p:nvSpPr>
        <p:spPr>
          <a:xfrm>
            <a:off x="335360" y="1556792"/>
            <a:ext cx="11233248" cy="5112568"/>
          </a:xfrm>
        </p:spPr>
        <p:txBody>
          <a:bodyPr/>
          <a:lstStyle/>
          <a:p>
            <a:r>
              <a:rPr lang="en-US" altLang="zh-CN" dirty="0"/>
              <a:t>Increasing the </a:t>
            </a:r>
            <a:r>
              <a:rPr lang="en-US" altLang="zh-CN" dirty="0" smtClean="0"/>
              <a:t>cache size causes </a:t>
            </a:r>
            <a:r>
              <a:rPr lang="en-US" altLang="zh-CN" dirty="0"/>
              <a:t>the user miss rate to decrease proportionately more than the kernel miss rate: </a:t>
            </a:r>
            <a:endParaRPr lang="en-US" altLang="zh-CN" dirty="0" smtClean="0"/>
          </a:p>
          <a:p>
            <a:pPr lvl="1"/>
            <a:r>
              <a:rPr lang="en-US" altLang="zh-CN" dirty="0"/>
              <a:t>U</a:t>
            </a:r>
            <a:r>
              <a:rPr lang="en-US" altLang="zh-CN" dirty="0" smtClean="0"/>
              <a:t>ser-level </a:t>
            </a:r>
            <a:r>
              <a:rPr lang="en-US" altLang="zh-CN" dirty="0"/>
              <a:t>miss rate drops by </a:t>
            </a:r>
            <a:r>
              <a:rPr lang="en-US" altLang="zh-CN" dirty="0" smtClean="0"/>
              <a:t>factor </a:t>
            </a:r>
            <a:r>
              <a:rPr lang="en-US" altLang="zh-CN" dirty="0"/>
              <a:t>of 3, </a:t>
            </a:r>
            <a:r>
              <a:rPr lang="en-US" altLang="zh-CN" dirty="0" smtClean="0"/>
              <a:t>kernel-level factor </a:t>
            </a:r>
            <a:r>
              <a:rPr lang="en-US" altLang="zh-CN" dirty="0"/>
              <a:t>of only </a:t>
            </a:r>
            <a:r>
              <a:rPr lang="en-US" altLang="zh-CN" dirty="0" smtClean="0"/>
              <a:t>1.3</a:t>
            </a:r>
          </a:p>
          <a:p>
            <a:r>
              <a:rPr lang="zh-CN" altLang="en-US" dirty="0" smtClean="0"/>
              <a:t>块大小对内核</a:t>
            </a:r>
            <a:r>
              <a:rPr lang="en-US" altLang="zh-CN" dirty="0" smtClean="0"/>
              <a:t/>
            </a:r>
            <a:br>
              <a:rPr lang="en-US" altLang="zh-CN" dirty="0" smtClean="0"/>
            </a:br>
            <a:r>
              <a:rPr lang="zh-CN" altLang="en-US" dirty="0" smtClean="0"/>
              <a:t>数据</a:t>
            </a:r>
            <a:r>
              <a:rPr lang="en-US" altLang="zh-CN" dirty="0" smtClean="0"/>
              <a:t>miss rate</a:t>
            </a:r>
            <a:br>
              <a:rPr lang="en-US" altLang="zh-CN" dirty="0" smtClean="0"/>
            </a:br>
            <a:r>
              <a:rPr lang="zh-CN" altLang="en-US" dirty="0" smtClean="0"/>
              <a:t>的影响更大</a:t>
            </a:r>
            <a:endParaRPr lang="en-US" altLang="zh-CN" dirty="0"/>
          </a:p>
          <a:p>
            <a:endParaRPr lang="zh-CN" altLang="en-US" dirty="0"/>
          </a:p>
        </p:txBody>
      </p:sp>
    </p:spTree>
    <p:extLst>
      <p:ext uri="{BB962C8B-B14F-4D97-AF65-F5344CB8AC3E}">
        <p14:creationId xmlns:p14="http://schemas.microsoft.com/office/powerpoint/2010/main" val="273626367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2" descr="X:\02_GRAPHICS\BOOKS\02_PPTs\MKCAD(Hennessy)\PPT\Ch05\f05-16-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376" y="1556792"/>
            <a:ext cx="10480329" cy="51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Components </a:t>
            </a:r>
            <a:r>
              <a:rPr lang="en-US" altLang="zh-CN" dirty="0"/>
              <a:t>of the kernel data miss rate</a:t>
            </a:r>
            <a:endParaRPr lang="zh-CN" altLang="en-US" dirty="0"/>
          </a:p>
        </p:txBody>
      </p:sp>
      <p:sp>
        <p:nvSpPr>
          <p:cNvPr id="5" name="矩形 4"/>
          <p:cNvSpPr/>
          <p:nvPr/>
        </p:nvSpPr>
        <p:spPr>
          <a:xfrm>
            <a:off x="8735254" y="3356992"/>
            <a:ext cx="3265401" cy="1938992"/>
          </a:xfrm>
          <a:prstGeom prst="rect">
            <a:avLst/>
          </a:prstGeom>
        </p:spPr>
        <p:txBody>
          <a:bodyPr wrap="square">
            <a:spAutoFit/>
          </a:bodyPr>
          <a:lstStyle/>
          <a:p>
            <a:r>
              <a:rPr lang="zh-CN" altLang="en-US" sz="2400" dirty="0"/>
              <a:t>随着缓存容量的扩大，因容量不足被替换</a:t>
            </a:r>
            <a:r>
              <a:rPr lang="zh-CN" altLang="en-US" sz="2400" dirty="0" smtClean="0"/>
              <a:t>的</a:t>
            </a:r>
            <a:r>
              <a:rPr lang="en-US" altLang="zh-CN" sz="2400" dirty="0" smtClean="0"/>
              <a:t>cache block</a:t>
            </a:r>
            <a:r>
              <a:rPr lang="zh-CN" altLang="en-US" sz="2400" dirty="0" smtClean="0"/>
              <a:t>减少</a:t>
            </a:r>
            <a:r>
              <a:rPr lang="zh-CN" altLang="en-US" sz="2400" dirty="0"/>
              <a:t>，导致由失效操作</a:t>
            </a:r>
            <a:r>
              <a:rPr lang="zh-CN" altLang="en-US" sz="2400" dirty="0" smtClean="0"/>
              <a:t>引发</a:t>
            </a:r>
            <a:r>
              <a:rPr lang="en-US" altLang="zh-CN" sz="2400" dirty="0" smtClean="0"/>
              <a:t>miss</a:t>
            </a:r>
            <a:r>
              <a:rPr lang="zh-CN" altLang="en-US" sz="2400" dirty="0" smtClean="0"/>
              <a:t>的概率</a:t>
            </a:r>
            <a:r>
              <a:rPr lang="zh-CN" altLang="en-US" sz="2400" dirty="0"/>
              <a:t>相对</a:t>
            </a:r>
            <a:r>
              <a:rPr lang="zh-CN" altLang="en-US" sz="2400" dirty="0" smtClean="0"/>
              <a:t>上升</a:t>
            </a:r>
            <a:endParaRPr lang="zh-CN" altLang="en-US" sz="2400" dirty="0"/>
          </a:p>
        </p:txBody>
      </p:sp>
    </p:spTree>
    <p:extLst>
      <p:ext uri="{BB962C8B-B14F-4D97-AF65-F5344CB8AC3E}">
        <p14:creationId xmlns:p14="http://schemas.microsoft.com/office/powerpoint/2010/main" val="70726907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目录协议</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a:t>主要用于大型分布式共享存储系统</a:t>
            </a:r>
            <a:endParaRPr lang="en-US" altLang="zh-CN" dirty="0"/>
          </a:p>
          <a:p>
            <a:pPr>
              <a:lnSpc>
                <a:spcPct val="90000"/>
              </a:lnSpc>
            </a:pPr>
            <a:r>
              <a:rPr lang="zh-CN" altLang="en-US" dirty="0"/>
              <a:t>由目录（专用数据结构）追踪每个存储块的状态</a:t>
            </a:r>
            <a:endParaRPr lang="en-US" dirty="0"/>
          </a:p>
          <a:p>
            <a:pPr lvl="1">
              <a:lnSpc>
                <a:spcPct val="90000"/>
              </a:lnSpc>
            </a:pPr>
            <a:r>
              <a:rPr lang="zh-CN" altLang="en-US" dirty="0"/>
              <a:t>每个块在哪几个</a:t>
            </a:r>
            <a:r>
              <a:rPr lang="en-US" dirty="0"/>
              <a:t>cache</a:t>
            </a:r>
            <a:r>
              <a:rPr lang="zh-CN" altLang="en-US" dirty="0"/>
              <a:t>中有副本、是否被写过？</a:t>
            </a:r>
            <a:endParaRPr lang="en-US" dirty="0"/>
          </a:p>
          <a:p>
            <a:pPr>
              <a:lnSpc>
                <a:spcPct val="90000"/>
              </a:lnSpc>
            </a:pPr>
            <a:r>
              <a:rPr lang="zh-CN" altLang="en-US" dirty="0"/>
              <a:t>因为内存是分布</a:t>
            </a:r>
            <a:r>
              <a:rPr lang="zh-CN" altLang="en-US" dirty="0" smtClean="0"/>
              <a:t>的</a:t>
            </a:r>
            <a:endParaRPr lang="en-US" altLang="zh-CN" dirty="0" smtClean="0"/>
          </a:p>
          <a:p>
            <a:pPr lvl="1"/>
            <a:r>
              <a:rPr lang="zh-CN" altLang="en-US" dirty="0" smtClean="0"/>
              <a:t>所以</a:t>
            </a:r>
            <a:r>
              <a:rPr lang="zh-CN" altLang="en-US" dirty="0"/>
              <a:t>目录也是分布的</a:t>
            </a:r>
            <a:endParaRPr lang="en-US" dirty="0"/>
          </a:p>
        </p:txBody>
      </p:sp>
      <p:pic>
        <p:nvPicPr>
          <p:cNvPr id="5" name="Picture 2" descr="X:\02_GRAPHICS\BOOKS\02_PPTs\MKCAD(Hennessy)\PPT\Ch05\f05-18-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1909" y="3068960"/>
            <a:ext cx="6097587"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右大括号 1"/>
          <p:cNvSpPr/>
          <p:nvPr/>
        </p:nvSpPr>
        <p:spPr>
          <a:xfrm>
            <a:off x="4367808" y="3789040"/>
            <a:ext cx="1224136" cy="24482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3143672" y="3940021"/>
            <a:ext cx="1749197" cy="2585323"/>
          </a:xfrm>
          <a:prstGeom prst="rect">
            <a:avLst/>
          </a:prstGeom>
          <a:noFill/>
        </p:spPr>
        <p:txBody>
          <a:bodyPr wrap="none" rtlCol="0">
            <a:spAutoFit/>
          </a:bodyPr>
          <a:lstStyle/>
          <a:p>
            <a:r>
              <a:rPr lang="zh-CN" altLang="en-US" dirty="0" smtClean="0"/>
              <a:t>总线</a:t>
            </a:r>
            <a:r>
              <a:rPr lang="en-US" altLang="zh-CN" dirty="0" smtClean="0"/>
              <a:t>(bus)</a:t>
            </a:r>
          </a:p>
          <a:p>
            <a:r>
              <a:rPr lang="zh-CN" altLang="en-US" dirty="0" smtClean="0"/>
              <a:t>格网</a:t>
            </a:r>
            <a:r>
              <a:rPr lang="en-US" altLang="zh-CN" dirty="0" smtClean="0"/>
              <a:t>(mesh)</a:t>
            </a:r>
          </a:p>
          <a:p>
            <a:r>
              <a:rPr lang="zh-CN" altLang="en-US" dirty="0" smtClean="0"/>
              <a:t>环网</a:t>
            </a:r>
            <a:r>
              <a:rPr lang="en-US" altLang="zh-CN" dirty="0" smtClean="0"/>
              <a:t>(torus)</a:t>
            </a:r>
          </a:p>
          <a:p>
            <a:r>
              <a:rPr lang="zh-CN" altLang="en-US" dirty="0" smtClean="0"/>
              <a:t>蝶网</a:t>
            </a:r>
            <a:r>
              <a:rPr lang="en-US" altLang="zh-CN" dirty="0" smtClean="0"/>
              <a:t>(butterfly)</a:t>
            </a:r>
          </a:p>
          <a:p>
            <a:r>
              <a:rPr lang="zh-CN" altLang="en-US" dirty="0" smtClean="0"/>
              <a:t>蜓网</a:t>
            </a:r>
            <a:r>
              <a:rPr lang="en-US" altLang="zh-CN" dirty="0" smtClean="0"/>
              <a:t>(dragonfly)</a:t>
            </a:r>
          </a:p>
          <a:p>
            <a:r>
              <a:rPr lang="zh-CN" altLang="en-US" dirty="0" smtClean="0"/>
              <a:t>树</a:t>
            </a:r>
            <a:r>
              <a:rPr lang="en-US" altLang="zh-CN" dirty="0" smtClean="0"/>
              <a:t>(tree)</a:t>
            </a:r>
          </a:p>
          <a:p>
            <a:r>
              <a:rPr lang="zh-CN" altLang="en-US" dirty="0" smtClean="0"/>
              <a:t>胖树</a:t>
            </a:r>
            <a:r>
              <a:rPr lang="en-US" altLang="zh-CN" dirty="0" smtClean="0"/>
              <a:t>(fat tree)</a:t>
            </a:r>
          </a:p>
          <a:p>
            <a:r>
              <a:rPr lang="zh-CN" altLang="en-US" dirty="0" smtClean="0"/>
              <a:t>交叉开关</a:t>
            </a:r>
            <a:endParaRPr lang="en-US" altLang="zh-CN" dirty="0" smtClean="0"/>
          </a:p>
          <a:p>
            <a:r>
              <a:rPr lang="en-US" altLang="zh-CN" dirty="0" smtClean="0"/>
              <a:t>(crossbar)</a:t>
            </a:r>
            <a:endParaRPr lang="zh-CN" altLang="en-US" dirty="0"/>
          </a:p>
        </p:txBody>
      </p:sp>
      <p:sp>
        <p:nvSpPr>
          <p:cNvPr id="4" name="文本框 3"/>
          <p:cNvSpPr txBox="1"/>
          <p:nvPr/>
        </p:nvSpPr>
        <p:spPr>
          <a:xfrm>
            <a:off x="1283050" y="4586351"/>
            <a:ext cx="1415772" cy="1200329"/>
          </a:xfrm>
          <a:prstGeom prst="rect">
            <a:avLst/>
          </a:prstGeom>
          <a:noFill/>
        </p:spPr>
        <p:txBody>
          <a:bodyPr wrap="none" rtlCol="0">
            <a:spAutoFit/>
          </a:bodyPr>
          <a:lstStyle/>
          <a:p>
            <a:r>
              <a:rPr lang="zh-CN" altLang="en-US" dirty="0" smtClean="0"/>
              <a:t>超立方体</a:t>
            </a:r>
            <a:endParaRPr lang="en-US" altLang="zh-CN" dirty="0" smtClean="0"/>
          </a:p>
          <a:p>
            <a:r>
              <a:rPr lang="en-US" altLang="zh-CN" dirty="0" smtClean="0"/>
              <a:t>(hypercube)</a:t>
            </a:r>
          </a:p>
          <a:p>
            <a:endParaRPr lang="en-US" altLang="zh-CN" dirty="0"/>
          </a:p>
          <a:p>
            <a:r>
              <a:rPr lang="en-US" altLang="zh-CN" dirty="0" smtClean="0"/>
              <a:t>… …</a:t>
            </a:r>
            <a:endParaRPr lang="zh-CN" altLang="en-US" dirty="0"/>
          </a:p>
        </p:txBody>
      </p:sp>
    </p:spTree>
    <p:extLst>
      <p:ext uri="{BB962C8B-B14F-4D97-AF65-F5344CB8AC3E}">
        <p14:creationId xmlns:p14="http://schemas.microsoft.com/office/powerpoint/2010/main" val="11521213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目录的内容</a:t>
            </a:r>
            <a:endParaRPr lang="en-AU" dirty="0"/>
          </a:p>
        </p:txBody>
      </p:sp>
      <p:sp>
        <p:nvSpPr>
          <p:cNvPr id="242691" name="Rectangle 3"/>
          <p:cNvSpPr>
            <a:spLocks noGrp="1" noChangeArrowheads="1"/>
          </p:cNvSpPr>
          <p:nvPr>
            <p:ph type="body" idx="1"/>
          </p:nvPr>
        </p:nvSpPr>
        <p:spPr>
          <a:xfrm>
            <a:off x="838200" y="1556792"/>
            <a:ext cx="10730408" cy="5112568"/>
          </a:xfrm>
        </p:spPr>
        <p:txBody>
          <a:bodyPr/>
          <a:lstStyle/>
          <a:p>
            <a:pPr>
              <a:lnSpc>
                <a:spcPct val="90000"/>
              </a:lnSpc>
            </a:pPr>
            <a:r>
              <a:rPr lang="zh-CN" altLang="en-US" dirty="0"/>
              <a:t>对每个块，目录维持如下状态：</a:t>
            </a:r>
            <a:endParaRPr lang="en-US" dirty="0"/>
          </a:p>
          <a:p>
            <a:pPr lvl="1">
              <a:lnSpc>
                <a:spcPct val="90000"/>
              </a:lnSpc>
            </a:pPr>
            <a:r>
              <a:rPr lang="zh-CN" altLang="en-US" dirty="0"/>
              <a:t>共享</a:t>
            </a:r>
            <a:r>
              <a:rPr lang="en-US" altLang="zh-CN" dirty="0"/>
              <a:t>(</a:t>
            </a:r>
            <a:r>
              <a:rPr lang="en-US" dirty="0"/>
              <a:t>Shared)</a:t>
            </a:r>
          </a:p>
          <a:p>
            <a:pPr lvl="2">
              <a:lnSpc>
                <a:spcPct val="90000"/>
              </a:lnSpc>
            </a:pPr>
            <a:r>
              <a:rPr lang="zh-CN" altLang="en-US" sz="2400" dirty="0" smtClean="0"/>
              <a:t>一个或多个结点的</a:t>
            </a:r>
            <a:r>
              <a:rPr lang="en-US" altLang="zh-CN" sz="2400" dirty="0" smtClean="0"/>
              <a:t>cache</a:t>
            </a:r>
            <a:r>
              <a:rPr lang="zh-CN" altLang="en-US" sz="2400" dirty="0" smtClean="0"/>
              <a:t>中有此块的副本，内存块中的数据是最新的</a:t>
            </a:r>
            <a:endParaRPr lang="en-US" sz="2400" dirty="0" smtClean="0"/>
          </a:p>
          <a:p>
            <a:pPr lvl="2">
              <a:lnSpc>
                <a:spcPct val="90000"/>
              </a:lnSpc>
            </a:pPr>
            <a:r>
              <a:rPr lang="zh-CN" altLang="en-US" sz="2400" dirty="0" smtClean="0"/>
              <a:t>需要记录持有该数据块副本的所有结点的</a:t>
            </a:r>
            <a:r>
              <a:rPr lang="en-US" sz="2400" dirty="0" smtClean="0"/>
              <a:t>ID</a:t>
            </a:r>
            <a:r>
              <a:rPr lang="zh-CN" altLang="en-US" sz="2400" dirty="0" smtClean="0"/>
              <a:t>集合</a:t>
            </a:r>
            <a:endParaRPr lang="en-US" sz="2400" dirty="0" smtClean="0"/>
          </a:p>
          <a:p>
            <a:pPr lvl="1">
              <a:lnSpc>
                <a:spcPct val="90000"/>
              </a:lnSpc>
            </a:pPr>
            <a:r>
              <a:rPr lang="zh-CN" altLang="en-US" dirty="0"/>
              <a:t>未用</a:t>
            </a:r>
            <a:r>
              <a:rPr lang="en-US" altLang="zh-CN" dirty="0"/>
              <a:t>(</a:t>
            </a:r>
            <a:r>
              <a:rPr lang="en-US" dirty="0" err="1"/>
              <a:t>Uncached</a:t>
            </a:r>
            <a:r>
              <a:rPr lang="en-US" dirty="0"/>
              <a:t>)</a:t>
            </a:r>
          </a:p>
          <a:p>
            <a:pPr lvl="1">
              <a:lnSpc>
                <a:spcPct val="90000"/>
              </a:lnSpc>
            </a:pPr>
            <a:r>
              <a:rPr lang="zh-CN" altLang="en-US" dirty="0"/>
              <a:t>改过</a:t>
            </a:r>
            <a:r>
              <a:rPr lang="en-US" altLang="zh-CN" dirty="0"/>
              <a:t>(</a:t>
            </a:r>
            <a:r>
              <a:rPr lang="en-US" dirty="0"/>
              <a:t>Modified)</a:t>
            </a:r>
          </a:p>
          <a:p>
            <a:pPr lvl="2">
              <a:lnSpc>
                <a:spcPct val="90000"/>
              </a:lnSpc>
            </a:pPr>
            <a:r>
              <a:rPr lang="zh-CN" altLang="en-US" sz="2400" dirty="0" smtClean="0"/>
              <a:t>只有一个结点的</a:t>
            </a:r>
            <a:r>
              <a:rPr lang="en-US" altLang="zh-CN" sz="2400" dirty="0" smtClean="0"/>
              <a:t>cache</a:t>
            </a:r>
            <a:r>
              <a:rPr lang="zh-CN" altLang="en-US" sz="2400" dirty="0" smtClean="0"/>
              <a:t>中有此块的副本，内存中的数据已经过时</a:t>
            </a:r>
            <a:endParaRPr lang="en-US" sz="2400" dirty="0" smtClean="0"/>
          </a:p>
          <a:p>
            <a:pPr lvl="2">
              <a:lnSpc>
                <a:spcPct val="90000"/>
              </a:lnSpc>
            </a:pPr>
            <a:r>
              <a:rPr lang="zh-CN" altLang="en-US" sz="2400" dirty="0" smtClean="0"/>
              <a:t>需要记录属主结点</a:t>
            </a:r>
            <a:r>
              <a:rPr lang="en-US" altLang="zh-CN" sz="2400" dirty="0" smtClean="0"/>
              <a:t>(</a:t>
            </a:r>
            <a:r>
              <a:rPr lang="en-US" sz="2400" dirty="0" smtClean="0"/>
              <a:t>Owner)</a:t>
            </a:r>
            <a:r>
              <a:rPr lang="zh-CN" altLang="en-US" sz="2400" dirty="0" smtClean="0"/>
              <a:t>的</a:t>
            </a:r>
            <a:r>
              <a:rPr lang="en-US" sz="2400" dirty="0" smtClean="0"/>
              <a:t>ID</a:t>
            </a:r>
          </a:p>
          <a:p>
            <a:pPr>
              <a:lnSpc>
                <a:spcPct val="90000"/>
              </a:lnSpc>
            </a:pPr>
            <a:r>
              <a:rPr lang="zh-CN" altLang="en-US" dirty="0"/>
              <a:t>目录控制器根据读写请求，维护块的状态，发送相应的使无效</a:t>
            </a:r>
            <a:r>
              <a:rPr lang="zh-CN" altLang="en-US" dirty="0" smtClean="0"/>
              <a:t>消息</a:t>
            </a:r>
            <a:endParaRPr lang="en-US" altLang="zh-CN" dirty="0" smtClean="0"/>
          </a:p>
          <a:p>
            <a:pPr lvl="1"/>
            <a:r>
              <a:rPr lang="en-US" dirty="0" smtClean="0"/>
              <a:t>Ordinary message in Interconnection </a:t>
            </a:r>
            <a:r>
              <a:rPr lang="en-US" altLang="zh-CN" dirty="0" smtClean="0"/>
              <a:t>Network is point-to-point</a:t>
            </a:r>
          </a:p>
          <a:p>
            <a:pPr lvl="2"/>
            <a:r>
              <a:rPr lang="en-US" altLang="zh-CN" dirty="0" smtClean="0"/>
              <a:t>May also support collective communication: Multicast, Broadcast, Reduction, …</a:t>
            </a:r>
          </a:p>
          <a:p>
            <a:pPr lvl="1"/>
            <a:r>
              <a:rPr lang="en-US" altLang="zh-CN" dirty="0" smtClean="0"/>
              <a:t>Transactions in Bus system are all broadcasting</a:t>
            </a:r>
          </a:p>
          <a:p>
            <a:pPr lvl="1"/>
            <a:endParaRPr lang="en-US" dirty="0"/>
          </a:p>
        </p:txBody>
      </p:sp>
    </p:spTree>
    <p:extLst>
      <p:ext uri="{BB962C8B-B14F-4D97-AF65-F5344CB8AC3E}">
        <p14:creationId xmlns:p14="http://schemas.microsoft.com/office/powerpoint/2010/main" val="178292354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目录协议中的典型消息</a:t>
            </a:r>
            <a:endParaRPr lang="en-AU" dirty="0"/>
          </a:p>
        </p:txBody>
      </p:sp>
      <p:pic>
        <p:nvPicPr>
          <p:cNvPr id="4" name="Picture 2" descr="X:\02_GRAPHICS\BOOKS\02_PPTs\MKCAD(Hennessy)\PPT\Ch05\f05-19-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2" y="1891915"/>
            <a:ext cx="8784976" cy="493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306860" y="1484784"/>
            <a:ext cx="9578280" cy="369332"/>
          </a:xfrm>
          <a:prstGeom prst="rect">
            <a:avLst/>
          </a:prstGeom>
        </p:spPr>
        <p:txBody>
          <a:bodyPr wrap="square">
            <a:spAutoFit/>
          </a:bodyPr>
          <a:lstStyle/>
          <a:p>
            <a:r>
              <a:rPr lang="en-US" altLang="zh-CN" dirty="0"/>
              <a:t>P = requesting node number, A = requested address, and D = data contents</a:t>
            </a:r>
            <a:endParaRPr lang="zh-CN" altLang="en-US" dirty="0"/>
          </a:p>
        </p:txBody>
      </p:sp>
    </p:spTree>
    <p:extLst>
      <p:ext uri="{BB962C8B-B14F-4D97-AF65-F5344CB8AC3E}">
        <p14:creationId xmlns:p14="http://schemas.microsoft.com/office/powerpoint/2010/main" val="262369587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目录协议的状态机</a:t>
            </a:r>
            <a:endParaRPr lang="en-AU" dirty="0"/>
          </a:p>
        </p:txBody>
      </p:sp>
      <p:pic>
        <p:nvPicPr>
          <p:cNvPr id="4" name="Picture 2" descr="X:\02_GRAPHICS\BOOKS\02_PPTs\MKCAD(Hennessy)\PPT\Ch05\f05-20-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24" y="1592792"/>
            <a:ext cx="4754880" cy="486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X:\02_GRAPHICS\BOOKS\02_PPTs\MKCAD(Hennessy)\PPT\Ch05\f05-21-978012811905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016" y="1570420"/>
            <a:ext cx="5400600" cy="5053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407368" y="1700808"/>
            <a:ext cx="1338828" cy="369332"/>
          </a:xfrm>
          <a:prstGeom prst="rect">
            <a:avLst/>
          </a:prstGeom>
          <a:noFill/>
        </p:spPr>
        <p:txBody>
          <a:bodyPr wrap="none" rtlCol="0">
            <a:spAutoFit/>
          </a:bodyPr>
          <a:lstStyle/>
          <a:p>
            <a:r>
              <a:rPr lang="en-US" altLang="zh-CN" dirty="0" smtClean="0"/>
              <a:t>Cache side</a:t>
            </a:r>
            <a:endParaRPr lang="zh-CN" altLang="en-US" dirty="0"/>
          </a:p>
        </p:txBody>
      </p:sp>
      <p:sp>
        <p:nvSpPr>
          <p:cNvPr id="3" name="文本框 2"/>
          <p:cNvSpPr txBox="1"/>
          <p:nvPr/>
        </p:nvSpPr>
        <p:spPr>
          <a:xfrm>
            <a:off x="10056440" y="5589240"/>
            <a:ext cx="1633781" cy="369332"/>
          </a:xfrm>
          <a:prstGeom prst="rect">
            <a:avLst/>
          </a:prstGeom>
          <a:noFill/>
        </p:spPr>
        <p:txBody>
          <a:bodyPr wrap="none" rtlCol="0">
            <a:spAutoFit/>
          </a:bodyPr>
          <a:lstStyle/>
          <a:p>
            <a:r>
              <a:rPr lang="en-US" altLang="zh-CN" dirty="0" smtClean="0"/>
              <a:t>Directory Side</a:t>
            </a:r>
            <a:endParaRPr lang="zh-CN" altLang="en-US" dirty="0"/>
          </a:p>
        </p:txBody>
      </p:sp>
    </p:spTree>
    <p:extLst>
      <p:ext uri="{BB962C8B-B14F-4D97-AF65-F5344CB8AC3E}">
        <p14:creationId xmlns:p14="http://schemas.microsoft.com/office/powerpoint/2010/main" val="350899861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smtClean="0"/>
              <a:t>目录协议的基本流程</a:t>
            </a:r>
            <a:endParaRPr lang="en-AU" dirty="0"/>
          </a:p>
        </p:txBody>
      </p:sp>
      <p:sp>
        <p:nvSpPr>
          <p:cNvPr id="242691" name="Rectangle 3"/>
          <p:cNvSpPr>
            <a:spLocks noGrp="1" noChangeArrowheads="1"/>
          </p:cNvSpPr>
          <p:nvPr>
            <p:ph type="body" idx="1"/>
          </p:nvPr>
        </p:nvSpPr>
        <p:spPr/>
        <p:txBody>
          <a:bodyPr/>
          <a:lstStyle/>
          <a:p>
            <a:r>
              <a:rPr lang="zh-CN" altLang="en-US" smtClean="0"/>
              <a:t>若数据块未被使用</a:t>
            </a:r>
            <a:r>
              <a:rPr lang="en-US" altLang="zh-CN" smtClean="0"/>
              <a:t>(</a:t>
            </a:r>
            <a:r>
              <a:rPr lang="en-US" smtClean="0"/>
              <a:t>uncached)</a:t>
            </a:r>
          </a:p>
          <a:p>
            <a:pPr lvl="1"/>
            <a:r>
              <a:rPr lang="zh-CN" altLang="en-US" smtClean="0"/>
              <a:t>读缺失</a:t>
            </a:r>
            <a:endParaRPr lang="en-US" smtClean="0"/>
          </a:p>
          <a:p>
            <a:pPr lvl="2"/>
            <a:r>
              <a:rPr lang="zh-CN" altLang="en-US" smtClean="0"/>
              <a:t>向请求结点发送所请求的数据块，置请求结点为唯一的共享结点，目录中块的状态改为共享</a:t>
            </a:r>
            <a:r>
              <a:rPr lang="en-US" altLang="zh-CN" smtClean="0"/>
              <a:t>(</a:t>
            </a:r>
            <a:r>
              <a:rPr lang="en-US" smtClean="0"/>
              <a:t>shared)</a:t>
            </a:r>
          </a:p>
          <a:p>
            <a:pPr lvl="1"/>
            <a:r>
              <a:rPr lang="zh-CN" altLang="en-US" smtClean="0"/>
              <a:t>写缺失</a:t>
            </a:r>
            <a:endParaRPr lang="en-US" smtClean="0"/>
          </a:p>
          <a:p>
            <a:pPr lvl="2"/>
            <a:r>
              <a:rPr lang="zh-CN" altLang="en-US" smtClean="0"/>
              <a:t>向请求结点发送所请求的数据块，置请求结点为唯一的共享结点，目录中块的状态改为独占</a:t>
            </a:r>
            <a:r>
              <a:rPr lang="en-US" altLang="zh-CN" smtClean="0"/>
              <a:t>(</a:t>
            </a:r>
            <a:r>
              <a:rPr lang="en-US" smtClean="0"/>
              <a:t>exclusive)</a:t>
            </a:r>
          </a:p>
          <a:p>
            <a:r>
              <a:rPr lang="zh-CN" altLang="en-US" smtClean="0"/>
              <a:t>若数据块是共享的</a:t>
            </a:r>
            <a:r>
              <a:rPr lang="en-US" altLang="zh-CN" smtClean="0"/>
              <a:t>(</a:t>
            </a:r>
            <a:r>
              <a:rPr lang="en-US" smtClean="0"/>
              <a:t>shared)</a:t>
            </a:r>
          </a:p>
          <a:p>
            <a:pPr lvl="1"/>
            <a:r>
              <a:rPr lang="zh-CN" altLang="en-US" smtClean="0"/>
              <a:t>读缺失</a:t>
            </a:r>
            <a:endParaRPr lang="en-US" smtClean="0"/>
          </a:p>
          <a:p>
            <a:pPr lvl="2"/>
            <a:r>
              <a:rPr lang="zh-CN" altLang="en-US" smtClean="0"/>
              <a:t>从内存中向请求结点发送所请求的数据块，把请求结点的</a:t>
            </a:r>
            <a:r>
              <a:rPr lang="en-US" altLang="zh-CN" smtClean="0"/>
              <a:t>ID</a:t>
            </a:r>
            <a:r>
              <a:rPr lang="zh-CN" altLang="en-US" smtClean="0"/>
              <a:t>加入目录中的共享列表，状态保持不变</a:t>
            </a:r>
            <a:endParaRPr lang="en-US" smtClean="0"/>
          </a:p>
          <a:p>
            <a:pPr lvl="1"/>
            <a:r>
              <a:rPr lang="zh-CN" altLang="en-US" smtClean="0"/>
              <a:t>写缺失</a:t>
            </a:r>
            <a:endParaRPr lang="en-US" smtClean="0"/>
          </a:p>
          <a:p>
            <a:pPr lvl="2"/>
            <a:r>
              <a:rPr lang="zh-CN" altLang="en-US" smtClean="0"/>
              <a:t>向请求结点发送所请求的数据块（结点已经有共享数据时，不发送）</a:t>
            </a:r>
            <a:endParaRPr lang="en-US" altLang="zh-CN" smtClean="0"/>
          </a:p>
          <a:p>
            <a:pPr lvl="2"/>
            <a:r>
              <a:rPr lang="zh-CN" altLang="en-US" smtClean="0"/>
              <a:t>向共享列表中的所有结点发送使无效消息，清除共享列表，只包含请求者的</a:t>
            </a:r>
            <a:r>
              <a:rPr lang="en-US" altLang="zh-CN" smtClean="0"/>
              <a:t>ID</a:t>
            </a:r>
            <a:r>
              <a:rPr lang="zh-CN" altLang="en-US" smtClean="0"/>
              <a:t>，目录中块的状态改为独占</a:t>
            </a:r>
            <a:r>
              <a:rPr lang="en-US" altLang="zh-CN" smtClean="0"/>
              <a:t>(</a:t>
            </a:r>
            <a:r>
              <a:rPr lang="en-US" smtClean="0"/>
              <a:t>exclusive)</a:t>
            </a:r>
            <a:endParaRPr lang="en-US" dirty="0"/>
          </a:p>
        </p:txBody>
      </p:sp>
    </p:spTree>
    <p:extLst>
      <p:ext uri="{BB962C8B-B14F-4D97-AF65-F5344CB8AC3E}">
        <p14:creationId xmlns:p14="http://schemas.microsoft.com/office/powerpoint/2010/main" val="2772135697"/>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smtClean="0"/>
              <a:t>目录协议的基本流程（续）</a:t>
            </a:r>
            <a:endParaRPr lang="en-AU" dirty="0"/>
          </a:p>
        </p:txBody>
      </p:sp>
      <p:sp>
        <p:nvSpPr>
          <p:cNvPr id="242691" name="Rectangle 3"/>
          <p:cNvSpPr>
            <a:spLocks noGrp="1" noChangeArrowheads="1"/>
          </p:cNvSpPr>
          <p:nvPr>
            <p:ph type="body" idx="1"/>
          </p:nvPr>
        </p:nvSpPr>
        <p:spPr/>
        <p:txBody>
          <a:bodyPr/>
          <a:lstStyle/>
          <a:p>
            <a:r>
              <a:rPr lang="zh-CN" altLang="en-US" smtClean="0"/>
              <a:t>若数据块是独占的</a:t>
            </a:r>
            <a:r>
              <a:rPr lang="en-US" altLang="zh-CN" smtClean="0"/>
              <a:t>(</a:t>
            </a:r>
            <a:r>
              <a:rPr lang="en-US" smtClean="0"/>
              <a:t>exclusive)</a:t>
            </a:r>
          </a:p>
          <a:p>
            <a:pPr lvl="1"/>
            <a:r>
              <a:rPr lang="zh-CN" altLang="en-US" smtClean="0"/>
              <a:t>读缺失</a:t>
            </a:r>
            <a:endParaRPr lang="en-US" smtClean="0"/>
          </a:p>
          <a:p>
            <a:pPr lvl="2"/>
            <a:r>
              <a:rPr lang="zh-CN" altLang="en-US" smtClean="0"/>
              <a:t>向主结点</a:t>
            </a:r>
            <a:r>
              <a:rPr lang="en-US" altLang="zh-CN" smtClean="0"/>
              <a:t>(</a:t>
            </a:r>
            <a:r>
              <a:rPr lang="en-US" smtClean="0"/>
              <a:t>owner)</a:t>
            </a:r>
            <a:r>
              <a:rPr lang="zh-CN" altLang="en-US" smtClean="0"/>
              <a:t>发送取数据的消息，把块状态设为共享，由主结点把数据送回目录，目录把数据写回到存储器，在共享列表中加入请求者的</a:t>
            </a:r>
            <a:r>
              <a:rPr lang="en-US" altLang="zh-CN" smtClean="0"/>
              <a:t>ID</a:t>
            </a:r>
            <a:r>
              <a:rPr lang="zh-CN" altLang="en-US" smtClean="0"/>
              <a:t>（共享者还包括原来的主结点）</a:t>
            </a:r>
            <a:endParaRPr lang="en-US" smtClean="0"/>
          </a:p>
          <a:p>
            <a:pPr lvl="1"/>
            <a:r>
              <a:rPr lang="zh-CN" altLang="en-US" smtClean="0"/>
              <a:t>数据写回</a:t>
            </a:r>
            <a:endParaRPr lang="en-US" smtClean="0"/>
          </a:p>
          <a:p>
            <a:pPr lvl="2"/>
            <a:r>
              <a:rPr lang="zh-CN" altLang="en-US" smtClean="0"/>
              <a:t>块状态变为未用</a:t>
            </a:r>
            <a:r>
              <a:rPr lang="en-US" altLang="zh-CN" smtClean="0"/>
              <a:t>(</a:t>
            </a:r>
            <a:r>
              <a:rPr lang="en-US" smtClean="0"/>
              <a:t>uncached)</a:t>
            </a:r>
            <a:r>
              <a:rPr lang="zh-CN" altLang="en-US" smtClean="0"/>
              <a:t>，清空共享列表</a:t>
            </a:r>
            <a:endParaRPr lang="en-US" smtClean="0"/>
          </a:p>
          <a:p>
            <a:pPr lvl="1"/>
            <a:r>
              <a:rPr lang="zh-CN" altLang="en-US" smtClean="0"/>
              <a:t>写缺失</a:t>
            </a:r>
            <a:endParaRPr lang="en-US" smtClean="0"/>
          </a:p>
          <a:p>
            <a:pPr lvl="2"/>
            <a:r>
              <a:rPr lang="zh-CN" altLang="en-US" smtClean="0"/>
              <a:t>向老的主结点</a:t>
            </a:r>
            <a:r>
              <a:rPr lang="en-US" altLang="zh-CN" smtClean="0"/>
              <a:t>(old owner)</a:t>
            </a:r>
            <a:r>
              <a:rPr lang="zh-CN" altLang="en-US" smtClean="0"/>
              <a:t>发送使无效消息，并要求它把数据块送回目录，请求者成为新的主结点</a:t>
            </a:r>
            <a:r>
              <a:rPr lang="en-US" altLang="zh-CN" smtClean="0"/>
              <a:t>(</a:t>
            </a:r>
            <a:r>
              <a:rPr lang="en-US" smtClean="0"/>
              <a:t>new owner)</a:t>
            </a:r>
            <a:r>
              <a:rPr lang="zh-CN" altLang="en-US" smtClean="0"/>
              <a:t>，块的状态依然是独占的</a:t>
            </a:r>
            <a:r>
              <a:rPr lang="en-US" altLang="zh-CN" smtClean="0"/>
              <a:t>(</a:t>
            </a:r>
            <a:r>
              <a:rPr lang="en-US" smtClean="0"/>
              <a:t>exclusive)</a:t>
            </a:r>
            <a:endParaRPr lang="en-US" dirty="0" smtClean="0"/>
          </a:p>
        </p:txBody>
      </p:sp>
    </p:spTree>
    <p:extLst>
      <p:ext uri="{BB962C8B-B14F-4D97-AF65-F5344CB8AC3E}">
        <p14:creationId xmlns:p14="http://schemas.microsoft.com/office/powerpoint/2010/main" val="2972034895"/>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2" descr="X:\02_GRAPHICS\BOOKS\02_PPTs\MKCAD(Hennessy)\PPT\Ch05\f05-22-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1484926"/>
            <a:ext cx="8496944" cy="536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Cache coherence steps and bus traffic</a:t>
            </a:r>
            <a:endParaRPr lang="zh-CN" altLang="en-US" dirty="0"/>
          </a:p>
        </p:txBody>
      </p:sp>
    </p:spTree>
    <p:extLst>
      <p:ext uri="{BB962C8B-B14F-4D97-AF65-F5344CB8AC3E}">
        <p14:creationId xmlns:p14="http://schemas.microsoft.com/office/powerpoint/2010/main" val="68145488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目录实现中的复杂性</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目录如何存储</a:t>
            </a:r>
            <a:endParaRPr lang="en-US" altLang="zh-CN" dirty="0"/>
          </a:p>
          <a:p>
            <a:pPr lvl="1">
              <a:lnSpc>
                <a:spcPct val="90000"/>
              </a:lnSpc>
            </a:pPr>
            <a:r>
              <a:rPr lang="zh-CN" altLang="en-US" dirty="0"/>
              <a:t>原则上，每个内存块有一个目录项，实际上很难扩展</a:t>
            </a:r>
            <a:endParaRPr lang="en-US" altLang="zh-CN" dirty="0"/>
          </a:p>
          <a:p>
            <a:pPr lvl="2">
              <a:lnSpc>
                <a:spcPct val="90000"/>
              </a:lnSpc>
            </a:pPr>
            <a:r>
              <a:rPr lang="zh-CN" altLang="en-US" dirty="0"/>
              <a:t>目录项数量正比于总内存容量</a:t>
            </a:r>
            <a:endParaRPr lang="en-US" altLang="zh-CN" dirty="0"/>
          </a:p>
          <a:p>
            <a:pPr lvl="2">
              <a:lnSpc>
                <a:spcPct val="90000"/>
              </a:lnSpc>
            </a:pPr>
            <a:r>
              <a:rPr lang="zh-CN" altLang="en-US" dirty="0"/>
              <a:t>目录项大小正比于处理结点数量（记录共享者</a:t>
            </a:r>
            <a:r>
              <a:rPr lang="en-US" altLang="zh-CN" dirty="0"/>
              <a:t>ID</a:t>
            </a:r>
            <a:r>
              <a:rPr lang="zh-CN" altLang="en-US" dirty="0"/>
              <a:t>）</a:t>
            </a:r>
            <a:endParaRPr lang="en-US" altLang="zh-CN" dirty="0"/>
          </a:p>
          <a:p>
            <a:pPr lvl="1">
              <a:lnSpc>
                <a:spcPct val="90000"/>
              </a:lnSpc>
            </a:pPr>
            <a:r>
              <a:rPr lang="zh-CN" altLang="en-US" dirty="0"/>
              <a:t>基于</a:t>
            </a:r>
            <a:r>
              <a:rPr lang="en-US" altLang="zh-CN" dirty="0"/>
              <a:t>cache</a:t>
            </a:r>
            <a:r>
              <a:rPr lang="zh-CN" altLang="en-US" dirty="0"/>
              <a:t>的链式目录结构</a:t>
            </a:r>
            <a:endParaRPr lang="en-US" altLang="zh-CN" dirty="0"/>
          </a:p>
          <a:p>
            <a:pPr lvl="1">
              <a:lnSpc>
                <a:spcPct val="90000"/>
              </a:lnSpc>
            </a:pPr>
            <a:r>
              <a:rPr lang="zh-CN" altLang="en-US" dirty="0"/>
              <a:t>稀疏目录，或目录的</a:t>
            </a:r>
            <a:r>
              <a:rPr lang="en-US" altLang="zh-CN" dirty="0"/>
              <a:t>cache</a:t>
            </a:r>
          </a:p>
          <a:p>
            <a:pPr lvl="2">
              <a:lnSpc>
                <a:spcPct val="90000"/>
              </a:lnSpc>
            </a:pPr>
            <a:r>
              <a:rPr lang="zh-CN" altLang="en-US" dirty="0"/>
              <a:t>如可基于每个多核芯片的共享</a:t>
            </a:r>
            <a:r>
              <a:rPr lang="en-US" altLang="zh-CN" dirty="0"/>
              <a:t> LLC</a:t>
            </a:r>
            <a:r>
              <a:rPr lang="zh-CN" altLang="en-US" dirty="0"/>
              <a:t>来实现</a:t>
            </a:r>
            <a:endParaRPr lang="en-US" altLang="zh-CN" dirty="0"/>
          </a:p>
          <a:p>
            <a:pPr>
              <a:lnSpc>
                <a:spcPct val="90000"/>
              </a:lnSpc>
            </a:pPr>
            <a:r>
              <a:rPr lang="zh-CN" altLang="en-US" dirty="0"/>
              <a:t>并发事件的处理</a:t>
            </a:r>
            <a:endParaRPr lang="en-US" altLang="zh-CN" dirty="0"/>
          </a:p>
          <a:p>
            <a:pPr lvl="1">
              <a:lnSpc>
                <a:spcPct val="90000"/>
              </a:lnSpc>
            </a:pPr>
            <a:r>
              <a:rPr lang="zh-CN" altLang="en-US" dirty="0"/>
              <a:t>针对同一个数据块的冲突访问请求</a:t>
            </a:r>
            <a:endParaRPr lang="en-US" altLang="zh-CN" dirty="0"/>
          </a:p>
          <a:p>
            <a:pPr lvl="1">
              <a:lnSpc>
                <a:spcPct val="90000"/>
              </a:lnSpc>
            </a:pPr>
            <a:r>
              <a:rPr lang="zh-CN" altLang="en-US" dirty="0"/>
              <a:t>先处理哪个请求？如何排队？</a:t>
            </a:r>
            <a:endParaRPr lang="en-US" altLang="zh-CN" dirty="0"/>
          </a:p>
          <a:p>
            <a:pPr lvl="2">
              <a:lnSpc>
                <a:spcPct val="90000"/>
              </a:lnSpc>
            </a:pPr>
            <a:r>
              <a:rPr lang="zh-CN" altLang="en-US" dirty="0"/>
              <a:t>未被服务的请求是缓冲起来，还是打回去让它重试？</a:t>
            </a:r>
            <a:endParaRPr lang="en-US" altLang="zh-CN" dirty="0"/>
          </a:p>
          <a:p>
            <a:pPr lvl="2">
              <a:lnSpc>
                <a:spcPct val="90000"/>
              </a:lnSpc>
            </a:pPr>
            <a:r>
              <a:rPr lang="zh-CN" altLang="en-US" dirty="0"/>
              <a:t>缓冲区满了怎么办？</a:t>
            </a:r>
            <a:endParaRPr lang="en-US" altLang="zh-CN" dirty="0"/>
          </a:p>
          <a:p>
            <a:pPr lvl="2">
              <a:lnSpc>
                <a:spcPct val="90000"/>
              </a:lnSpc>
            </a:pPr>
            <a:r>
              <a:rPr lang="zh-CN" altLang="en-US" dirty="0"/>
              <a:t>正确性、死锁、活锁</a:t>
            </a:r>
            <a:endParaRPr lang="en-US" altLang="zh-CN" dirty="0"/>
          </a:p>
          <a:p>
            <a:endParaRPr lang="zh-CN" altLang="en-US" sz="3600" dirty="0"/>
          </a:p>
        </p:txBody>
      </p:sp>
    </p:spTree>
    <p:extLst>
      <p:ext uri="{BB962C8B-B14F-4D97-AF65-F5344CB8AC3E}">
        <p14:creationId xmlns:p14="http://schemas.microsoft.com/office/powerpoint/2010/main" val="318211680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kumimoji="1" lang="en-US" altLang="zh-CN" dirty="0" smtClean="0"/>
              <a:t>ache</a:t>
            </a:r>
            <a:r>
              <a:rPr kumimoji="1" lang="zh-CN" altLang="en-US" dirty="0" smtClean="0"/>
              <a:t>同一协议小结</a:t>
            </a:r>
            <a:endParaRPr kumimoji="1" lang="zh-CN" altLang="en-US" dirty="0"/>
          </a:p>
        </p:txBody>
      </p:sp>
      <p:sp>
        <p:nvSpPr>
          <p:cNvPr id="3" name="内容占位符 2"/>
          <p:cNvSpPr>
            <a:spLocks noGrp="1"/>
          </p:cNvSpPr>
          <p:nvPr>
            <p:ph idx="1"/>
          </p:nvPr>
        </p:nvSpPr>
        <p:spPr/>
        <p:txBody>
          <a:bodyPr/>
          <a:lstStyle/>
          <a:p>
            <a:r>
              <a:rPr kumimoji="1" lang="zh-CN" altLang="en-US" dirty="0" smtClean="0"/>
              <a:t>用有限状态机描述</a:t>
            </a:r>
            <a:r>
              <a:rPr kumimoji="1" lang="en-US" altLang="zh-CN" dirty="0" smtClean="0"/>
              <a:t>cache</a:t>
            </a:r>
            <a:r>
              <a:rPr kumimoji="1" lang="zh-CN" altLang="en-US" dirty="0" smtClean="0"/>
              <a:t>同一算法</a:t>
            </a:r>
            <a:endParaRPr kumimoji="1" lang="en-US" altLang="zh-CN" dirty="0" smtClean="0"/>
          </a:p>
          <a:p>
            <a:pPr lvl="1"/>
            <a:r>
              <a:rPr kumimoji="1" lang="zh-CN" altLang="en-US" dirty="0" smtClean="0"/>
              <a:t>存在许多可选的设计方案</a:t>
            </a:r>
            <a:endParaRPr kumimoji="1" lang="en-US" altLang="zh-CN" dirty="0" smtClean="0"/>
          </a:p>
          <a:p>
            <a:pPr lvl="1"/>
            <a:r>
              <a:rPr kumimoji="1" lang="zh-CN" altLang="en-US" dirty="0" smtClean="0"/>
              <a:t>需要证明同一</a:t>
            </a:r>
            <a:r>
              <a:rPr kumimoji="1" lang="zh-CN" altLang="en-US" dirty="0"/>
              <a:t>性</a:t>
            </a:r>
            <a:r>
              <a:rPr kumimoji="1" lang="zh-CN" altLang="en-US" dirty="0" smtClean="0"/>
              <a:t>和一致性确已得到实现</a:t>
            </a:r>
            <a:endParaRPr kumimoji="1" lang="en-US" altLang="zh-CN" dirty="0" smtClean="0"/>
          </a:p>
          <a:p>
            <a:pPr lvl="1"/>
            <a:r>
              <a:rPr lang="zh-CN" altLang="en-US" dirty="0" smtClean="0"/>
              <a:t>正确性的验证是最关键的</a:t>
            </a:r>
            <a:endParaRPr lang="en-US" altLang="zh-CN" dirty="0" smtClean="0"/>
          </a:p>
          <a:p>
            <a:pPr lvl="1"/>
            <a:endParaRPr lang="en-US" altLang="zh-CN" dirty="0" smtClean="0"/>
          </a:p>
          <a:p>
            <a:r>
              <a:rPr kumimoji="1" lang="en-US" altLang="zh-CN" dirty="0" smtClean="0"/>
              <a:t> Cache</a:t>
            </a:r>
            <a:r>
              <a:rPr kumimoji="1" lang="zh-CN" altLang="en-US" dirty="0" smtClean="0"/>
              <a:t>同一性和存储器一致性，并不是</a:t>
            </a:r>
            <a:r>
              <a:rPr lang="zh-CN" altLang="en-US" dirty="0" smtClean="0"/>
              <a:t>孤</a:t>
            </a:r>
            <a:r>
              <a:rPr kumimoji="1" lang="zh-CN" altLang="en-US" dirty="0" smtClean="0"/>
              <a:t>立的</a:t>
            </a:r>
            <a:endParaRPr kumimoji="1" lang="en-US" altLang="zh-CN" dirty="0" smtClean="0"/>
          </a:p>
          <a:p>
            <a:pPr lvl="1"/>
            <a:r>
              <a:rPr lang="zh-CN" altLang="en-US" dirty="0" smtClean="0"/>
              <a:t>对共享数据的访问，应用本身有次序的约束</a:t>
            </a:r>
            <a:endParaRPr lang="en-US" altLang="zh-CN" dirty="0" smtClean="0"/>
          </a:p>
          <a:p>
            <a:pPr lvl="1"/>
            <a:r>
              <a:rPr kumimoji="1" lang="zh-CN" altLang="en-US" dirty="0" smtClean="0"/>
              <a:t>这种次序，常常以同步的要求体现出来</a:t>
            </a:r>
            <a:endParaRPr kumimoji="1" lang="en-US" altLang="zh-CN" dirty="0" smtClean="0"/>
          </a:p>
        </p:txBody>
      </p:sp>
    </p:spTree>
    <p:extLst>
      <p:ext uri="{BB962C8B-B14F-4D97-AF65-F5344CB8AC3E}">
        <p14:creationId xmlns:p14="http://schemas.microsoft.com/office/powerpoint/2010/main" val="219800839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同步</a:t>
            </a:r>
            <a:r>
              <a:rPr kumimoji="1" lang="en-US" altLang="zh-CN" dirty="0" smtClean="0"/>
              <a:t>(synchronization)</a:t>
            </a:r>
            <a:r>
              <a:rPr kumimoji="1" lang="zh-CN" altLang="en-US" dirty="0" smtClean="0"/>
              <a:t>机制</a:t>
            </a:r>
            <a:endParaRPr kumimoji="1" lang="zh-CN" altLang="en-US" dirty="0"/>
          </a:p>
        </p:txBody>
      </p:sp>
      <p:sp>
        <p:nvSpPr>
          <p:cNvPr id="3" name="内容占位符 2"/>
          <p:cNvSpPr>
            <a:spLocks noGrp="1"/>
          </p:cNvSpPr>
          <p:nvPr>
            <p:ph sz="half" idx="1"/>
          </p:nvPr>
        </p:nvSpPr>
        <p:spPr>
          <a:xfrm>
            <a:off x="335360" y="1628800"/>
            <a:ext cx="4392488" cy="4968552"/>
          </a:xfrm>
        </p:spPr>
        <p:txBody>
          <a:bodyPr/>
          <a:lstStyle/>
          <a:p>
            <a:r>
              <a:rPr kumimoji="1" lang="zh-CN" altLang="en-US" dirty="0" smtClean="0"/>
              <a:t>解决多个处理器之间的协作问题</a:t>
            </a:r>
            <a:endParaRPr kumimoji="1" lang="en-US" altLang="zh-CN" dirty="0" smtClean="0"/>
          </a:p>
          <a:p>
            <a:r>
              <a:rPr lang="zh-CN" altLang="en-US" dirty="0" smtClean="0"/>
              <a:t>同步的类型</a:t>
            </a:r>
            <a:endParaRPr lang="en-US" altLang="zh-CN" dirty="0" smtClean="0"/>
          </a:p>
          <a:p>
            <a:pPr lvl="1"/>
            <a:r>
              <a:rPr kumimoji="1" lang="zh-CN" altLang="en-US" dirty="0" smtClean="0"/>
              <a:t>互斥访问</a:t>
            </a:r>
            <a:endParaRPr kumimoji="1" lang="en-US" altLang="zh-CN" dirty="0" smtClean="0"/>
          </a:p>
          <a:p>
            <a:pPr lvl="1"/>
            <a:r>
              <a:rPr lang="zh-CN" altLang="en-US" dirty="0" smtClean="0"/>
              <a:t>事件同步</a:t>
            </a:r>
            <a:endParaRPr lang="en-US" altLang="zh-CN" dirty="0" smtClean="0"/>
          </a:p>
          <a:p>
            <a:pPr lvl="2"/>
            <a:r>
              <a:rPr kumimoji="1" lang="zh-CN" altLang="en-US" sz="2400" dirty="0" smtClean="0"/>
              <a:t>点对点、群组间、</a:t>
            </a:r>
            <a:r>
              <a:rPr kumimoji="1" lang="en-US" altLang="zh-CN" sz="2400" dirty="0" smtClean="0"/>
              <a:t/>
            </a:r>
            <a:br>
              <a:rPr kumimoji="1" lang="en-US" altLang="zh-CN" sz="2400" dirty="0" smtClean="0"/>
            </a:br>
            <a:r>
              <a:rPr kumimoji="1" lang="zh-CN" altLang="en-US" sz="2400" dirty="0" smtClean="0"/>
              <a:t>全局（栅障）</a:t>
            </a:r>
            <a:endParaRPr kumimoji="1" lang="en-US" altLang="zh-CN" sz="2400" dirty="0" smtClean="0"/>
          </a:p>
          <a:p>
            <a:r>
              <a:rPr lang="zh-CN" altLang="en-US" dirty="0" smtClean="0"/>
              <a:t>需要何种硬件支持？</a:t>
            </a:r>
            <a:endParaRPr lang="en-US" altLang="zh-CN" dirty="0" smtClean="0"/>
          </a:p>
          <a:p>
            <a:pPr lvl="1"/>
            <a:r>
              <a:rPr kumimoji="1" lang="zh-CN" altLang="en-US" dirty="0" smtClean="0"/>
              <a:t>高层次操作？</a:t>
            </a:r>
            <a:endParaRPr kumimoji="1" lang="en-US" altLang="zh-CN" dirty="0" smtClean="0"/>
          </a:p>
          <a:p>
            <a:pPr lvl="1"/>
            <a:r>
              <a:rPr kumimoji="1" lang="zh-CN" altLang="en-US" dirty="0" smtClean="0"/>
              <a:t>原子指令？</a:t>
            </a:r>
            <a:endParaRPr kumimoji="1" lang="en-US" altLang="zh-CN" dirty="0" smtClean="0"/>
          </a:p>
          <a:p>
            <a:pPr lvl="1"/>
            <a:r>
              <a:rPr lang="zh-CN" altLang="en-US" dirty="0" smtClean="0"/>
              <a:t>专用的互连机构？</a:t>
            </a:r>
            <a:endParaRPr kumimoji="1" lang="zh-CN" altLang="en-US" dirty="0"/>
          </a:p>
        </p:txBody>
      </p:sp>
      <p:sp>
        <p:nvSpPr>
          <p:cNvPr id="5" name="内容占位符 4"/>
          <p:cNvSpPr>
            <a:spLocks noGrp="1"/>
          </p:cNvSpPr>
          <p:nvPr>
            <p:ph sz="half" idx="2"/>
          </p:nvPr>
        </p:nvSpPr>
        <p:spPr>
          <a:xfrm>
            <a:off x="5375920" y="1628800"/>
            <a:ext cx="6336704" cy="4968552"/>
          </a:xfrm>
        </p:spPr>
        <p:txBody>
          <a:bodyPr/>
          <a:lstStyle/>
          <a:p>
            <a:r>
              <a:rPr kumimoji="1" lang="zh-CN" altLang="en-US" dirty="0" smtClean="0"/>
              <a:t>同步事件的组成</a:t>
            </a:r>
            <a:endParaRPr kumimoji="1" lang="en-US" altLang="zh-CN" dirty="0" smtClean="0"/>
          </a:p>
          <a:p>
            <a:pPr lvl="1"/>
            <a:r>
              <a:rPr kumimoji="1" lang="zh-CN" altLang="en-US" dirty="0" smtClean="0"/>
              <a:t>获取方法：</a:t>
            </a:r>
            <a:r>
              <a:rPr lang="zh-CN" altLang="en-US" dirty="0" smtClean="0"/>
              <a:t>获得</a:t>
            </a:r>
            <a:r>
              <a:rPr lang="zh-CN" altLang="en-US" dirty="0"/>
              <a:t>同步权限，如进入临界区、通过事件</a:t>
            </a:r>
            <a:endParaRPr lang="en-US" altLang="zh-CN" dirty="0"/>
          </a:p>
          <a:p>
            <a:pPr lvl="1"/>
            <a:r>
              <a:rPr kumimoji="1" lang="zh-CN" altLang="en-US" dirty="0"/>
              <a:t>等待算法</a:t>
            </a:r>
            <a:endParaRPr kumimoji="1" lang="en-US" altLang="zh-CN" dirty="0"/>
          </a:p>
          <a:p>
            <a:pPr lvl="2"/>
            <a:r>
              <a:rPr lang="zh-CN" altLang="en-US" dirty="0"/>
              <a:t>同步变量不可用时，等待它变为可用</a:t>
            </a:r>
            <a:endParaRPr lang="en-US" altLang="zh-CN" dirty="0"/>
          </a:p>
          <a:p>
            <a:pPr lvl="2"/>
            <a:r>
              <a:rPr lang="zh-CN" altLang="en-US" dirty="0"/>
              <a:t>忙等待、阻塞（挂起）、或混合</a:t>
            </a:r>
            <a:endParaRPr lang="en-US" altLang="zh-CN" dirty="0"/>
          </a:p>
          <a:p>
            <a:pPr lvl="1"/>
            <a:r>
              <a:rPr kumimoji="1" lang="zh-CN" altLang="en-US" dirty="0"/>
              <a:t>释放</a:t>
            </a:r>
            <a:r>
              <a:rPr kumimoji="1" lang="zh-CN" altLang="en-US" dirty="0" smtClean="0"/>
              <a:t>方法：</a:t>
            </a:r>
            <a:r>
              <a:rPr lang="zh-CN" altLang="en-US" dirty="0" smtClean="0"/>
              <a:t>让</a:t>
            </a:r>
            <a:r>
              <a:rPr lang="zh-CN" altLang="en-US" dirty="0"/>
              <a:t>别的进程获得同步的权限</a:t>
            </a:r>
            <a:endParaRPr lang="en-US" altLang="zh-CN" dirty="0"/>
          </a:p>
          <a:p>
            <a:r>
              <a:rPr kumimoji="1" lang="zh-CN" altLang="en-US" dirty="0" smtClean="0"/>
              <a:t>其中的等待</a:t>
            </a:r>
            <a:r>
              <a:rPr kumimoji="1" lang="zh-CN" altLang="en-US" dirty="0"/>
              <a:t>算法是独立于具体的同步类型的</a:t>
            </a:r>
            <a:endParaRPr kumimoji="1" lang="en-US" altLang="zh-CN" dirty="0"/>
          </a:p>
          <a:p>
            <a:pPr lvl="1"/>
            <a:r>
              <a:rPr lang="zh-CN" altLang="en-US" dirty="0"/>
              <a:t>放在硬件里没有意义</a:t>
            </a:r>
            <a:endParaRPr kumimoji="1" lang="zh-CN" altLang="en-US" dirty="0"/>
          </a:p>
          <a:p>
            <a:endParaRPr lang="zh-CN" altLang="en-US" dirty="0"/>
          </a:p>
        </p:txBody>
      </p:sp>
    </p:spTree>
    <p:extLst>
      <p:ext uri="{BB962C8B-B14F-4D97-AF65-F5344CB8AC3E}">
        <p14:creationId xmlns:p14="http://schemas.microsoft.com/office/powerpoint/2010/main" val="150363052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两种主要的等待方法：忙等待与阻塞</a:t>
            </a:r>
            <a:endParaRPr kumimoji="1" lang="zh-CN" altLang="en-US" dirty="0"/>
          </a:p>
        </p:txBody>
      </p:sp>
      <p:sp>
        <p:nvSpPr>
          <p:cNvPr id="3" name="内容占位符 2"/>
          <p:cNvSpPr>
            <a:spLocks noGrp="1"/>
          </p:cNvSpPr>
          <p:nvPr>
            <p:ph idx="1"/>
          </p:nvPr>
        </p:nvSpPr>
        <p:spPr>
          <a:xfrm>
            <a:off x="838200" y="1556792"/>
            <a:ext cx="6193904" cy="5112568"/>
          </a:xfrm>
        </p:spPr>
        <p:txBody>
          <a:bodyPr/>
          <a:lstStyle/>
          <a:p>
            <a:r>
              <a:rPr kumimoji="1" lang="zh-CN" altLang="en-US" dirty="0" smtClean="0"/>
              <a:t>忙等待</a:t>
            </a:r>
            <a:r>
              <a:rPr kumimoji="1" lang="en-US" altLang="zh-CN" dirty="0" smtClean="0"/>
              <a:t>(busy waiting</a:t>
            </a:r>
            <a:r>
              <a:rPr lang="en-US" altLang="zh-CN" dirty="0"/>
              <a:t>)</a:t>
            </a:r>
            <a:endParaRPr kumimoji="1" lang="en-US" altLang="zh-CN" dirty="0" smtClean="0"/>
          </a:p>
          <a:p>
            <a:pPr lvl="1"/>
            <a:r>
              <a:rPr lang="zh-CN" altLang="en-US" dirty="0" smtClean="0"/>
              <a:t>用循环操作测试同步变量的可用性</a:t>
            </a:r>
            <a:endParaRPr lang="en-US" altLang="zh-CN" dirty="0" smtClean="0"/>
          </a:p>
          <a:p>
            <a:pPr lvl="1"/>
            <a:r>
              <a:rPr kumimoji="1" lang="zh-CN" altLang="en-US" dirty="0" smtClean="0"/>
              <a:t>占用</a:t>
            </a:r>
            <a:r>
              <a:rPr kumimoji="1" lang="en-US" altLang="zh-CN" dirty="0" smtClean="0"/>
              <a:t>CPU/</a:t>
            </a:r>
            <a:r>
              <a:rPr kumimoji="1" lang="zh-CN" altLang="en-US" dirty="0" smtClean="0"/>
              <a:t>总线</a:t>
            </a:r>
            <a:r>
              <a:rPr kumimoji="1" lang="en-US" altLang="zh-CN" dirty="0" smtClean="0"/>
              <a:t>/</a:t>
            </a:r>
            <a:r>
              <a:rPr kumimoji="1" lang="zh-CN" altLang="en-US" dirty="0" smtClean="0"/>
              <a:t>存储器资源</a:t>
            </a:r>
            <a:endParaRPr kumimoji="1" lang="en-US" altLang="zh-CN" dirty="0" smtClean="0"/>
          </a:p>
          <a:p>
            <a:pPr lvl="1"/>
            <a:r>
              <a:rPr kumimoji="1" lang="zh-CN" altLang="en-US" dirty="0" smtClean="0"/>
              <a:t>也称为自旋锁</a:t>
            </a:r>
            <a:r>
              <a:rPr kumimoji="1" lang="en-US" altLang="zh-CN" dirty="0" smtClean="0"/>
              <a:t>(spin lock)</a:t>
            </a:r>
          </a:p>
          <a:p>
            <a:r>
              <a:rPr lang="zh-CN" altLang="en-US" dirty="0" smtClean="0"/>
              <a:t>阻塞</a:t>
            </a:r>
            <a:r>
              <a:rPr lang="en-US" altLang="zh-CN" dirty="0" smtClean="0"/>
              <a:t>(blocking)</a:t>
            </a:r>
          </a:p>
          <a:p>
            <a:pPr lvl="1"/>
            <a:r>
              <a:rPr lang="zh-CN" altLang="en-US" dirty="0" smtClean="0"/>
              <a:t>放弃占用处理器，睡眠等待同步变量</a:t>
            </a:r>
            <a:endParaRPr lang="en-US" altLang="zh-CN" dirty="0" smtClean="0"/>
          </a:p>
          <a:p>
            <a:pPr lvl="1"/>
            <a:endParaRPr lang="en-US" altLang="zh-CN" dirty="0" smtClean="0"/>
          </a:p>
          <a:p>
            <a:r>
              <a:rPr kumimoji="1" lang="zh-CN" altLang="en-US" dirty="0" smtClean="0"/>
              <a:t>适用忙等待的条件</a:t>
            </a:r>
            <a:endParaRPr kumimoji="1" lang="en-US" altLang="zh-CN" dirty="0" smtClean="0"/>
          </a:p>
          <a:p>
            <a:pPr lvl="1"/>
            <a:r>
              <a:rPr lang="zh-CN" altLang="en-US" dirty="0" smtClean="0"/>
              <a:t>调度开销大于期望的等待时间</a:t>
            </a:r>
            <a:endParaRPr lang="en-US" altLang="zh-CN" dirty="0" smtClean="0"/>
          </a:p>
          <a:p>
            <a:pPr lvl="1"/>
            <a:r>
              <a:rPr kumimoji="1" lang="zh-CN" altLang="en-US" dirty="0" smtClean="0"/>
              <a:t>没有其它任务在等着使用处理器资源</a:t>
            </a:r>
            <a:endParaRPr kumimoji="1" lang="en-US" altLang="zh-CN" dirty="0" smtClean="0"/>
          </a:p>
          <a:p>
            <a:pPr lvl="1"/>
            <a:r>
              <a:rPr lang="zh-CN" altLang="en-US" dirty="0" smtClean="0"/>
              <a:t>阻塞调度不适用（如在</a:t>
            </a:r>
            <a:r>
              <a:rPr lang="en-US" altLang="zh-CN" dirty="0" smtClean="0"/>
              <a:t>OS</a:t>
            </a:r>
            <a:r>
              <a:rPr lang="zh-CN" altLang="en-US" dirty="0" smtClean="0"/>
              <a:t>核心中）</a:t>
            </a:r>
            <a:endParaRPr kumimoji="1" lang="zh-CN" altLang="en-US" dirty="0"/>
          </a:p>
        </p:txBody>
      </p:sp>
      <p:sp>
        <p:nvSpPr>
          <p:cNvPr id="4" name="文本框 3"/>
          <p:cNvSpPr txBox="1"/>
          <p:nvPr/>
        </p:nvSpPr>
        <p:spPr>
          <a:xfrm>
            <a:off x="8254027" y="2060848"/>
            <a:ext cx="3134191" cy="461665"/>
          </a:xfrm>
          <a:prstGeom prst="rect">
            <a:avLst/>
          </a:prstGeom>
          <a:noFill/>
        </p:spPr>
        <p:txBody>
          <a:bodyPr wrap="none" rtlCol="0">
            <a:spAutoFit/>
          </a:bodyPr>
          <a:lstStyle/>
          <a:p>
            <a:r>
              <a:rPr lang="en-US" altLang="zh-CN" sz="2400" b="1" dirty="0" smtClean="0">
                <a:solidFill>
                  <a:srgbClr val="0000FF"/>
                </a:solidFill>
                <a:latin typeface="Courier New" panose="02070309020205020404" pitchFamily="49" charset="0"/>
                <a:cs typeface="Courier New" panose="02070309020205020404" pitchFamily="49" charset="0"/>
              </a:rPr>
              <a:t>While (flag!=0);</a:t>
            </a:r>
            <a:endParaRPr lang="zh-CN" altLang="en-US" sz="2400" b="1" dirty="0">
              <a:solidFill>
                <a:srgbClr val="0000FF"/>
              </a:solidFill>
              <a:latin typeface="Courier New" panose="02070309020205020404" pitchFamily="49" charset="0"/>
              <a:cs typeface="Courier New" panose="02070309020205020404" pitchFamily="49" charset="0"/>
            </a:endParaRPr>
          </a:p>
        </p:txBody>
      </p:sp>
      <p:sp>
        <p:nvSpPr>
          <p:cNvPr id="5" name="文本框 4"/>
          <p:cNvSpPr txBox="1"/>
          <p:nvPr/>
        </p:nvSpPr>
        <p:spPr>
          <a:xfrm>
            <a:off x="7884534" y="3573016"/>
            <a:ext cx="3873176" cy="830997"/>
          </a:xfrm>
          <a:prstGeom prst="rect">
            <a:avLst/>
          </a:prstGeom>
          <a:noFill/>
        </p:spPr>
        <p:txBody>
          <a:bodyPr wrap="none" rtlCol="0">
            <a:spAutoFit/>
          </a:bodyPr>
          <a:lstStyle/>
          <a:p>
            <a:r>
              <a:rPr lang="en-US" altLang="zh-CN" sz="2400" b="1" dirty="0" smtClean="0">
                <a:solidFill>
                  <a:srgbClr val="0000FF"/>
                </a:solidFill>
                <a:latin typeface="Courier New" panose="02070309020205020404" pitchFamily="49" charset="0"/>
                <a:cs typeface="Courier New" panose="02070309020205020404" pitchFamily="49" charset="0"/>
              </a:rPr>
              <a:t>if (flag!=0)</a:t>
            </a:r>
          </a:p>
          <a:p>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smtClean="0">
                <a:solidFill>
                  <a:srgbClr val="0000FF"/>
                </a:solidFill>
                <a:latin typeface="Courier New" panose="02070309020205020404" pitchFamily="49" charset="0"/>
                <a:cs typeface="Courier New" panose="02070309020205020404" pitchFamily="49" charset="0"/>
              </a:rPr>
              <a:t>sleep_on</a:t>
            </a:r>
            <a:r>
              <a:rPr lang="en-US" altLang="zh-CN" sz="2400" b="1" dirty="0" smtClean="0">
                <a:solidFill>
                  <a:srgbClr val="0000FF"/>
                </a:solidFill>
                <a:latin typeface="Courier New" panose="02070309020205020404" pitchFamily="49" charset="0"/>
                <a:cs typeface="Courier New" panose="02070309020205020404" pitchFamily="49" charset="0"/>
              </a:rPr>
              <a:t>(flag);</a:t>
            </a:r>
            <a:endParaRPr lang="zh-CN" altLang="en-US" sz="2400" b="1" dirty="0">
              <a:solidFill>
                <a:srgbClr val="0000FF"/>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165353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稻草人式的锁</a:t>
            </a:r>
            <a:endParaRPr kumimoji="1" lang="zh-CN" altLang="en-US" dirty="0"/>
          </a:p>
        </p:txBody>
      </p:sp>
      <p:sp>
        <p:nvSpPr>
          <p:cNvPr id="6" name="Rectangle 3"/>
          <p:cNvSpPr txBox="1">
            <a:spLocks noChangeArrowheads="1"/>
          </p:cNvSpPr>
          <p:nvPr/>
        </p:nvSpPr>
        <p:spPr>
          <a:xfrm>
            <a:off x="1487488" y="1935063"/>
            <a:ext cx="9217024" cy="2718073"/>
          </a:xfrm>
          <a:prstGeom prst="rect">
            <a:avLst/>
          </a:prstGeom>
          <a:noFill/>
          <a:ln/>
        </p:spPr>
        <p:txBody>
          <a:bodyPr lIns="90487" tIns="44450" rIns="90487" bIns="44450"/>
          <a:lstStyle>
            <a:lvl1pPr marL="342900" indent="-342900" algn="l" rtl="0" eaLnBrk="1" fontAlgn="base" hangingPunct="1">
              <a:spcBef>
                <a:spcPct val="20000"/>
              </a:spcBef>
              <a:spcAft>
                <a:spcPct val="0"/>
              </a:spcAft>
              <a:buClrTx/>
              <a:buFont typeface="Wingdings" charset="2"/>
              <a:buChar char="n"/>
              <a:defRPr kumimoji="1" sz="3200">
                <a:solidFill>
                  <a:srgbClr val="0000FF"/>
                </a:solidFill>
                <a:latin typeface="+mn-lt"/>
                <a:ea typeface="+mn-ea"/>
                <a:cs typeface="+mn-cs"/>
              </a:defRPr>
            </a:lvl1pPr>
            <a:lvl2pPr marL="742950" indent="-285750" algn="l" rtl="0" eaLnBrk="1" fontAlgn="base" hangingPunct="1">
              <a:spcBef>
                <a:spcPct val="20000"/>
              </a:spcBef>
              <a:spcAft>
                <a:spcPct val="0"/>
              </a:spcAft>
              <a:buClrTx/>
              <a:buFont typeface="Wingdings" charset="2"/>
              <a:buChar char="n"/>
              <a:defRPr kumimoji="1" sz="2800">
                <a:solidFill>
                  <a:srgbClr val="0000FF"/>
                </a:solidFill>
                <a:latin typeface="+mn-lt"/>
                <a:ea typeface="+mn-ea"/>
                <a:cs typeface="+mn-cs"/>
              </a:defRPr>
            </a:lvl2pPr>
            <a:lvl3pPr marL="1143000" indent="-228600" algn="l" rtl="0" eaLnBrk="1" fontAlgn="base" hangingPunct="1">
              <a:spcBef>
                <a:spcPct val="20000"/>
              </a:spcBef>
              <a:spcAft>
                <a:spcPct val="0"/>
              </a:spcAft>
              <a:buClrTx/>
              <a:buFont typeface="Wingdings" charset="2"/>
              <a:buChar char="n"/>
              <a:defRPr kumimoji="1" sz="2400">
                <a:solidFill>
                  <a:srgbClr val="0000FF"/>
                </a:solidFill>
                <a:latin typeface="+mn-lt"/>
                <a:ea typeface="+mn-ea"/>
                <a:cs typeface="+mn-cs"/>
              </a:defRPr>
            </a:lvl3pPr>
            <a:lvl4pPr marL="16002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4pPr>
            <a:lvl5pPr marL="20574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5pPr>
            <a:lvl6pPr marL="25146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6pPr>
            <a:lvl7pPr marL="29718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7pPr>
            <a:lvl8pPr marL="34290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8pPr>
            <a:lvl9pPr marL="38862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9pPr>
          </a:lstStyle>
          <a:p>
            <a:pPr marL="0" indent="0">
              <a:buNone/>
              <a:tabLst>
                <a:tab pos="977900" algn="l"/>
                <a:tab pos="1490663" algn="l"/>
                <a:tab pos="3997325" algn="l"/>
              </a:tabLst>
            </a:pPr>
            <a:r>
              <a:rPr lang="en-US" altLang="en-US" sz="1800" b="1" dirty="0">
                <a:latin typeface="Courier" pitchFamily="49" charset="0"/>
              </a:rPr>
              <a:t>lock:	ld	register, location</a:t>
            </a:r>
            <a:r>
              <a:rPr lang="en-US" altLang="en-US" sz="1800" b="1" dirty="0"/>
              <a:t>   	 </a:t>
            </a:r>
            <a:r>
              <a:rPr lang="en-US" altLang="en-US" sz="1800" b="1" i="1" dirty="0"/>
              <a:t>/* copy location to register */</a:t>
            </a:r>
            <a:endParaRPr lang="en-US" altLang="en-US" sz="1800" b="1" dirty="0"/>
          </a:p>
          <a:p>
            <a:pPr marL="0" indent="0">
              <a:buNone/>
              <a:tabLst>
                <a:tab pos="977900" algn="l"/>
                <a:tab pos="1490663" algn="l"/>
                <a:tab pos="3997325" algn="l"/>
              </a:tabLst>
            </a:pPr>
            <a:r>
              <a:rPr lang="en-US" altLang="en-US" sz="1800" b="1" dirty="0"/>
              <a:t>	</a:t>
            </a:r>
            <a:r>
              <a:rPr lang="en-US" altLang="en-US" sz="1800" b="1" dirty="0" err="1">
                <a:latin typeface="Courier" pitchFamily="49" charset="0"/>
              </a:rPr>
              <a:t>cmp</a:t>
            </a:r>
            <a:r>
              <a:rPr lang="en-US" altLang="en-US" sz="1800" b="1" dirty="0">
                <a:latin typeface="Courier" pitchFamily="49" charset="0"/>
              </a:rPr>
              <a:t>	location, #0</a:t>
            </a:r>
            <a:r>
              <a:rPr lang="en-US" altLang="en-US" sz="1800" b="1" dirty="0"/>
              <a:t>	  </a:t>
            </a:r>
            <a:r>
              <a:rPr lang="en-US" altLang="en-US" sz="1800" b="1" dirty="0" smtClean="0"/>
              <a:t>	 </a:t>
            </a:r>
            <a:r>
              <a:rPr lang="en-US" altLang="en-US" sz="1800" b="1" i="1" dirty="0"/>
              <a:t>/* compare with 0 */</a:t>
            </a:r>
            <a:endParaRPr lang="en-US" altLang="en-US" sz="1800" b="1" dirty="0"/>
          </a:p>
          <a:p>
            <a:pPr marL="0" indent="0">
              <a:buNone/>
              <a:tabLst>
                <a:tab pos="977900" algn="l"/>
                <a:tab pos="1490663" algn="l"/>
                <a:tab pos="3997325" algn="l"/>
              </a:tabLst>
            </a:pPr>
            <a:r>
              <a:rPr lang="en-US" altLang="en-US" sz="1800" b="1" dirty="0"/>
              <a:t>	</a:t>
            </a:r>
            <a:r>
              <a:rPr lang="en-US" altLang="en-US" sz="1800" b="1" dirty="0" err="1">
                <a:latin typeface="Courier" pitchFamily="49" charset="0"/>
              </a:rPr>
              <a:t>bnz</a:t>
            </a:r>
            <a:r>
              <a:rPr lang="en-US" altLang="en-US" sz="1800" b="1" dirty="0">
                <a:latin typeface="Courier" pitchFamily="49" charset="0"/>
              </a:rPr>
              <a:t>	lock</a:t>
            </a:r>
            <a:r>
              <a:rPr lang="en-US" altLang="en-US" sz="1800" b="1" dirty="0"/>
              <a:t>	  </a:t>
            </a:r>
            <a:r>
              <a:rPr lang="en-US" altLang="en-US" sz="1800" b="1" dirty="0" smtClean="0"/>
              <a:t>	</a:t>
            </a:r>
            <a:r>
              <a:rPr lang="en-US" altLang="en-US" sz="1800" b="1" i="1" dirty="0" smtClean="0"/>
              <a:t>/* </a:t>
            </a:r>
            <a:r>
              <a:rPr lang="en-US" altLang="en-US" sz="1800" b="1" i="1" dirty="0"/>
              <a:t>if not 0, try again */</a:t>
            </a:r>
            <a:endParaRPr lang="en-US" altLang="en-US" sz="1800" b="1" dirty="0"/>
          </a:p>
          <a:p>
            <a:pPr marL="0" indent="0">
              <a:buNone/>
              <a:tabLst>
                <a:tab pos="977900" algn="l"/>
                <a:tab pos="1490663" algn="l"/>
                <a:tab pos="3997325" algn="l"/>
              </a:tabLst>
            </a:pPr>
            <a:r>
              <a:rPr lang="en-US" altLang="en-US" sz="1800" b="1" dirty="0"/>
              <a:t>	</a:t>
            </a:r>
            <a:r>
              <a:rPr lang="en-US" altLang="en-US" sz="1800" b="1" dirty="0" err="1">
                <a:latin typeface="Courier" pitchFamily="49" charset="0"/>
              </a:rPr>
              <a:t>st</a:t>
            </a:r>
            <a:r>
              <a:rPr lang="en-US" altLang="en-US" sz="1800" b="1" dirty="0">
                <a:latin typeface="Courier" pitchFamily="49" charset="0"/>
              </a:rPr>
              <a:t>	location, #1</a:t>
            </a:r>
            <a:r>
              <a:rPr lang="en-US" altLang="en-US" sz="1800" b="1" dirty="0"/>
              <a:t>	</a:t>
            </a:r>
            <a:r>
              <a:rPr lang="en-US" altLang="en-US" sz="1800" b="1" dirty="0" smtClean="0"/>
              <a:t>	</a:t>
            </a:r>
            <a:r>
              <a:rPr lang="en-US" altLang="en-US" sz="1800" b="1" i="1" dirty="0" smtClean="0"/>
              <a:t>/* </a:t>
            </a:r>
            <a:r>
              <a:rPr lang="en-US" altLang="en-US" sz="1800" b="1" i="1" dirty="0"/>
              <a:t>store 1 to mark it locked */</a:t>
            </a:r>
            <a:endParaRPr lang="en-US" altLang="en-US" sz="1800" b="1" dirty="0"/>
          </a:p>
          <a:p>
            <a:pPr marL="0" indent="0">
              <a:buNone/>
              <a:tabLst>
                <a:tab pos="977900" algn="l"/>
                <a:tab pos="1490663" algn="l"/>
                <a:tab pos="3997325" algn="l"/>
              </a:tabLst>
            </a:pPr>
            <a:r>
              <a:rPr lang="en-US" altLang="en-US" sz="1800" b="1" dirty="0"/>
              <a:t>	</a:t>
            </a:r>
            <a:r>
              <a:rPr lang="en-US" altLang="en-US" sz="1800" b="1" dirty="0">
                <a:latin typeface="Courier" pitchFamily="49" charset="0"/>
              </a:rPr>
              <a:t>ret</a:t>
            </a:r>
            <a:r>
              <a:rPr lang="en-US" altLang="en-US" sz="1800" b="1" dirty="0"/>
              <a:t>		</a:t>
            </a:r>
            <a:r>
              <a:rPr lang="en-US" altLang="en-US" sz="1800" b="1" dirty="0" smtClean="0"/>
              <a:t>	</a:t>
            </a:r>
            <a:r>
              <a:rPr lang="en-US" altLang="en-US" sz="1800" b="1" i="1" dirty="0" smtClean="0"/>
              <a:t>/* </a:t>
            </a:r>
            <a:r>
              <a:rPr lang="en-US" altLang="en-US" sz="1800" b="1" i="1" dirty="0"/>
              <a:t>return control to caller */</a:t>
            </a:r>
            <a:endParaRPr lang="en-US" altLang="en-US" sz="1800" b="1" dirty="0"/>
          </a:p>
          <a:p>
            <a:pPr marL="0" indent="0">
              <a:buNone/>
              <a:tabLst>
                <a:tab pos="977900" algn="l"/>
                <a:tab pos="1490663" algn="l"/>
                <a:tab pos="3997325" algn="l"/>
              </a:tabLst>
            </a:pPr>
            <a:endParaRPr lang="en-US" altLang="en-US" sz="1800" b="1" dirty="0"/>
          </a:p>
          <a:p>
            <a:pPr marL="0" indent="0">
              <a:buNone/>
              <a:tabLst>
                <a:tab pos="977900" algn="l"/>
                <a:tab pos="1490663" algn="l"/>
                <a:tab pos="3997325" algn="l"/>
              </a:tabLst>
            </a:pPr>
            <a:r>
              <a:rPr lang="en-US" altLang="en-US" sz="1800" b="1" dirty="0">
                <a:latin typeface="Courier" pitchFamily="49" charset="0"/>
              </a:rPr>
              <a:t>unlock:	</a:t>
            </a:r>
            <a:r>
              <a:rPr lang="en-US" altLang="en-US" sz="1800" b="1" dirty="0" err="1">
                <a:latin typeface="Courier" pitchFamily="49" charset="0"/>
              </a:rPr>
              <a:t>st</a:t>
            </a:r>
            <a:r>
              <a:rPr lang="en-US" altLang="en-US" sz="1800" b="1" dirty="0">
                <a:latin typeface="Courier" pitchFamily="49" charset="0"/>
              </a:rPr>
              <a:t> 	location, #0</a:t>
            </a:r>
            <a:r>
              <a:rPr lang="en-US" altLang="en-US" sz="1800" b="1" dirty="0"/>
              <a:t>	</a:t>
            </a:r>
            <a:r>
              <a:rPr lang="en-US" altLang="en-US" sz="1800" b="1" dirty="0" smtClean="0"/>
              <a:t>	</a:t>
            </a:r>
            <a:r>
              <a:rPr lang="en-US" altLang="en-US" sz="1800" b="1" i="1" dirty="0" smtClean="0"/>
              <a:t>/* </a:t>
            </a:r>
            <a:r>
              <a:rPr lang="en-US" altLang="en-US" sz="1800" b="1" i="1" dirty="0"/>
              <a:t>write 0 to location */</a:t>
            </a:r>
            <a:endParaRPr lang="en-US" altLang="en-US" sz="1800" b="1" dirty="0"/>
          </a:p>
          <a:p>
            <a:pPr marL="0" indent="0">
              <a:buNone/>
              <a:tabLst>
                <a:tab pos="977900" algn="l"/>
                <a:tab pos="1490663" algn="l"/>
                <a:tab pos="3997325" algn="l"/>
              </a:tabLst>
            </a:pPr>
            <a:r>
              <a:rPr lang="en-US" altLang="en-US" sz="1800" b="1" dirty="0"/>
              <a:t>	</a:t>
            </a:r>
            <a:r>
              <a:rPr lang="en-US" altLang="en-US" sz="1800" b="1" dirty="0">
                <a:latin typeface="Courier" pitchFamily="49" charset="0"/>
              </a:rPr>
              <a:t>ret</a:t>
            </a:r>
            <a:r>
              <a:rPr lang="en-US" altLang="en-US" sz="1800" b="1" dirty="0"/>
              <a:t>		</a:t>
            </a:r>
            <a:r>
              <a:rPr lang="en-US" altLang="en-US" sz="1800" b="1" dirty="0" smtClean="0"/>
              <a:t>	</a:t>
            </a:r>
            <a:r>
              <a:rPr lang="en-US" altLang="en-US" sz="1800" b="1" i="1" dirty="0" smtClean="0"/>
              <a:t>/* </a:t>
            </a:r>
            <a:r>
              <a:rPr lang="en-US" altLang="en-US" sz="1800" b="1" i="1" dirty="0"/>
              <a:t>return control to caller */</a:t>
            </a:r>
            <a:endParaRPr lang="en-US" altLang="en-US" sz="1800" b="1" dirty="0"/>
          </a:p>
        </p:txBody>
      </p:sp>
      <p:sp>
        <p:nvSpPr>
          <p:cNvPr id="7" name="Rectangle 4"/>
          <p:cNvSpPr>
            <a:spLocks noChangeArrowheads="1"/>
          </p:cNvSpPr>
          <p:nvPr/>
        </p:nvSpPr>
        <p:spPr bwMode="auto">
          <a:xfrm>
            <a:off x="1487488" y="1863054"/>
            <a:ext cx="4104456" cy="1061890"/>
          </a:xfrm>
          <a:prstGeom prst="rect">
            <a:avLst/>
          </a:prstGeom>
          <a:noFill/>
          <a:ln w="12700">
            <a:solidFill>
              <a:srgbClr val="114FFB"/>
            </a:solidFill>
            <a:miter lim="800000"/>
            <a:headEnd type="none" w="sm" len="sm"/>
            <a:tailEnd type="none" w="sm" len="sm"/>
          </a:ln>
          <a:effectLst/>
        </p:spPr>
        <p:txBody>
          <a:bodyPr wrap="none" anchor="ctr"/>
          <a:lstStyle/>
          <a:p>
            <a:endParaRPr lang="zh-CN" altLang="en-US" sz="2800"/>
          </a:p>
        </p:txBody>
      </p:sp>
      <p:sp>
        <p:nvSpPr>
          <p:cNvPr id="8" name="Text Box 5"/>
          <p:cNvSpPr txBox="1">
            <a:spLocks noChangeArrowheads="1"/>
          </p:cNvSpPr>
          <p:nvPr/>
        </p:nvSpPr>
        <p:spPr bwMode="auto">
          <a:xfrm>
            <a:off x="4762892" y="1405631"/>
            <a:ext cx="1413207" cy="369332"/>
          </a:xfrm>
          <a:prstGeom prst="rect">
            <a:avLst/>
          </a:prstGeom>
          <a:noFill/>
          <a:ln w="12700">
            <a:noFill/>
            <a:miter lim="800000"/>
            <a:headEnd type="none" w="sm" len="sm"/>
            <a:tailEnd type="none" w="sm" len="sm"/>
          </a:ln>
          <a:effectLst/>
        </p:spPr>
        <p:txBody>
          <a:bodyPr wrap="none">
            <a:spAutoFit/>
          </a:bodyPr>
          <a:lstStyle/>
          <a:p>
            <a:r>
              <a:rPr lang="en-US" altLang="zh-CN" dirty="0" smtClean="0">
                <a:solidFill>
                  <a:srgbClr val="114FFB"/>
                </a:solidFill>
                <a:latin typeface="+mn-lt"/>
              </a:rPr>
              <a:t>Busy-Waiting</a:t>
            </a:r>
            <a:endParaRPr lang="en-US" altLang="zh-CN" dirty="0">
              <a:solidFill>
                <a:srgbClr val="114FFB"/>
              </a:solidFill>
              <a:latin typeface="+mn-lt"/>
            </a:endParaRPr>
          </a:p>
        </p:txBody>
      </p:sp>
      <p:sp>
        <p:nvSpPr>
          <p:cNvPr id="9" name="Line 6"/>
          <p:cNvSpPr>
            <a:spLocks noChangeShapeType="1"/>
          </p:cNvSpPr>
          <p:nvPr/>
        </p:nvSpPr>
        <p:spPr bwMode="auto">
          <a:xfrm flipH="1">
            <a:off x="4648200" y="1558255"/>
            <a:ext cx="228600" cy="304800"/>
          </a:xfrm>
          <a:prstGeom prst="line">
            <a:avLst/>
          </a:prstGeom>
          <a:noFill/>
          <a:ln w="12700">
            <a:solidFill>
              <a:srgbClr val="114FFB"/>
            </a:solidFill>
            <a:round/>
            <a:headEnd type="none" w="sm" len="sm"/>
            <a:tailEnd type="none" w="sm" len="sm"/>
          </a:ln>
          <a:effectLst/>
        </p:spPr>
        <p:txBody>
          <a:bodyPr wrap="none" anchor="ctr"/>
          <a:lstStyle/>
          <a:p>
            <a:endParaRPr lang="zh-CN" altLang="en-US" sz="2800"/>
          </a:p>
        </p:txBody>
      </p:sp>
      <p:sp>
        <p:nvSpPr>
          <p:cNvPr id="10" name="Text Box 7"/>
          <p:cNvSpPr txBox="1">
            <a:spLocks noChangeArrowheads="1"/>
          </p:cNvSpPr>
          <p:nvPr/>
        </p:nvSpPr>
        <p:spPr bwMode="auto">
          <a:xfrm>
            <a:off x="838200" y="4797152"/>
            <a:ext cx="10802416" cy="1926681"/>
          </a:xfrm>
          <a:prstGeom prst="rect">
            <a:avLst/>
          </a:prstGeom>
          <a:noFill/>
          <a:ln w="12700">
            <a:noFill/>
            <a:miter lim="800000"/>
            <a:headEnd type="none" w="sm" len="sm"/>
            <a:tailEnd type="none" w="sm" len="sm"/>
          </a:ln>
          <a:effectLst/>
        </p:spPr>
        <p:txBody>
          <a:bodyPr wrap="square">
            <a:spAutoFit/>
          </a:bodyPr>
          <a:lstStyle/>
          <a:p>
            <a:pPr marL="457200" indent="-457200">
              <a:spcBef>
                <a:spcPct val="20000"/>
              </a:spcBef>
              <a:buFont typeface="Wingdings" charset="2"/>
              <a:buChar char="n"/>
            </a:pPr>
            <a:r>
              <a:rPr lang="zh-CN" altLang="en-US" sz="2800" dirty="0">
                <a:solidFill>
                  <a:srgbClr val="0000FF"/>
                </a:solidFill>
                <a:latin typeface="微软雅黑" panose="020B0503020204020204" pitchFamily="34" charset="-122"/>
                <a:ea typeface="微软雅黑" panose="020B0503020204020204" pitchFamily="34" charset="-122"/>
              </a:rPr>
              <a:t>为什么这里获取锁的方法会失效？</a:t>
            </a:r>
            <a:endParaRPr lang="en-US" altLang="zh-CN" sz="2800" dirty="0">
              <a:solidFill>
                <a:srgbClr val="0000FF"/>
              </a:solidFill>
              <a:latin typeface="微软雅黑" panose="020B0503020204020204" pitchFamily="34" charset="-122"/>
              <a:ea typeface="微软雅黑" panose="020B0503020204020204" pitchFamily="34" charset="-122"/>
            </a:endParaRPr>
          </a:p>
          <a:p>
            <a:pPr marL="914400" lvl="1" indent="-457200">
              <a:spcBef>
                <a:spcPct val="20000"/>
              </a:spcBef>
              <a:buFont typeface="Wingdings" charset="2"/>
              <a:buChar char="n"/>
            </a:pPr>
            <a:r>
              <a:rPr lang="zh-CN" altLang="en-US" sz="2400" dirty="0" smtClean="0">
                <a:solidFill>
                  <a:srgbClr val="0000FF"/>
                </a:solidFill>
                <a:latin typeface="微软雅黑" panose="020B0503020204020204" pitchFamily="34" charset="-122"/>
                <a:ea typeface="微软雅黑" panose="020B0503020204020204" pitchFamily="34" charset="-122"/>
              </a:rPr>
              <a:t>方框内的关键操作是可分割的（</a:t>
            </a:r>
            <a:r>
              <a:rPr lang="en-US" altLang="zh-CN" sz="2400" dirty="0" smtClean="0">
                <a:solidFill>
                  <a:srgbClr val="0000FF"/>
                </a:solidFill>
                <a:latin typeface="微软雅黑" panose="020B0503020204020204" pitchFamily="34" charset="-122"/>
                <a:ea typeface="微软雅黑" panose="020B0503020204020204" pitchFamily="34" charset="-122"/>
              </a:rPr>
              <a:t>non-atomic)</a:t>
            </a:r>
            <a:r>
              <a:rPr lang="zh-CN" altLang="en-US" sz="2400" dirty="0" smtClean="0">
                <a:solidFill>
                  <a:srgbClr val="0000FF"/>
                </a:solidFill>
                <a:latin typeface="微软雅黑" panose="020B0503020204020204" pitchFamily="34" charset="-122"/>
                <a:ea typeface="微软雅黑" panose="020B0503020204020204" pitchFamily="34" charset="-122"/>
              </a:rPr>
              <a:t>，多个进程的指令会交错</a:t>
            </a:r>
            <a:endParaRPr lang="en-US" altLang="zh-CN" sz="3600" dirty="0">
              <a:solidFill>
                <a:srgbClr val="0000FF"/>
              </a:solidFill>
              <a:latin typeface="微软雅黑" panose="020B0503020204020204" pitchFamily="34" charset="-122"/>
              <a:ea typeface="微软雅黑" panose="020B0503020204020204" pitchFamily="34" charset="-122"/>
            </a:endParaRPr>
          </a:p>
          <a:p>
            <a:pPr marL="457200" indent="-457200">
              <a:spcBef>
                <a:spcPct val="20000"/>
              </a:spcBef>
              <a:buFont typeface="Wingdings" charset="2"/>
              <a:buChar char="n"/>
            </a:pPr>
            <a:r>
              <a:rPr lang="zh-CN" altLang="en-US" sz="2800" dirty="0">
                <a:solidFill>
                  <a:srgbClr val="0000FF"/>
                </a:solidFill>
                <a:latin typeface="微软雅黑" panose="020B0503020204020204" pitchFamily="34" charset="-122"/>
                <a:ea typeface="微软雅黑" panose="020B0503020204020204" pitchFamily="34" charset="-122"/>
              </a:rPr>
              <a:t>释放方法呢？</a:t>
            </a:r>
            <a:endParaRPr lang="en-US" altLang="zh-CN" sz="2800" dirty="0">
              <a:solidFill>
                <a:srgbClr val="0000FF"/>
              </a:solidFill>
              <a:latin typeface="微软雅黑" panose="020B0503020204020204" pitchFamily="34" charset="-122"/>
              <a:ea typeface="微软雅黑" panose="020B0503020204020204" pitchFamily="34" charset="-122"/>
            </a:endParaRPr>
          </a:p>
          <a:p>
            <a:pPr marL="914400" lvl="1" indent="-457200">
              <a:spcBef>
                <a:spcPct val="20000"/>
              </a:spcBef>
              <a:buFont typeface="Wingdings" charset="2"/>
              <a:buChar char="n"/>
            </a:pPr>
            <a:r>
              <a:rPr lang="zh-CN" altLang="en-US" sz="2400" dirty="0" smtClean="0">
                <a:solidFill>
                  <a:srgbClr val="0000FF"/>
                </a:solidFill>
                <a:latin typeface="微软雅黑" panose="020B0503020204020204" pitchFamily="34" charset="-122"/>
                <a:ea typeface="微软雅黑" panose="020B0503020204020204" pitchFamily="34" charset="-122"/>
              </a:rPr>
              <a:t>仅一条指令，是不可分割的</a:t>
            </a:r>
            <a:endParaRPr lang="en-US" altLang="zh-CN" sz="2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453382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需要原子指令</a:t>
            </a:r>
            <a:endParaRPr lang="zh-CN" altLang="en-US" dirty="0"/>
          </a:p>
        </p:txBody>
      </p:sp>
      <p:sp>
        <p:nvSpPr>
          <p:cNvPr id="5" name="内容占位符 4"/>
          <p:cNvSpPr>
            <a:spLocks noGrp="1"/>
          </p:cNvSpPr>
          <p:nvPr>
            <p:ph idx="1"/>
          </p:nvPr>
        </p:nvSpPr>
        <p:spPr/>
        <p:txBody>
          <a:bodyPr/>
          <a:lstStyle/>
          <a:p>
            <a:r>
              <a:rPr lang="zh-CN" altLang="en-US" dirty="0" smtClean="0"/>
              <a:t>指定锁的位置、测试锁值的寄存器</a:t>
            </a:r>
            <a:endParaRPr lang="en-US" altLang="zh-CN" dirty="0" smtClean="0"/>
          </a:p>
          <a:p>
            <a:pPr lvl="1"/>
            <a:r>
              <a:rPr lang="zh-CN" altLang="en-US" dirty="0"/>
              <a:t>原子</a:t>
            </a:r>
            <a:r>
              <a:rPr lang="zh-CN" altLang="en-US" dirty="0" smtClean="0"/>
              <a:t>操作：把位置中的值读入寄存器，另一个值存入位置</a:t>
            </a:r>
            <a:endParaRPr lang="en-US" altLang="zh-CN" dirty="0" smtClean="0"/>
          </a:p>
          <a:p>
            <a:pPr lvl="2"/>
            <a:r>
              <a:rPr lang="zh-CN" altLang="en-US" dirty="0" smtClean="0"/>
              <a:t>另一个值可能是读入值的函数，也可能无关</a:t>
            </a:r>
            <a:endParaRPr lang="en-US" altLang="zh-CN" dirty="0" smtClean="0"/>
          </a:p>
          <a:p>
            <a:r>
              <a:rPr lang="zh-CN" altLang="en-US" dirty="0" smtClean="0"/>
              <a:t>许多变种</a:t>
            </a:r>
            <a:endParaRPr lang="en-US" altLang="zh-CN" dirty="0" smtClean="0"/>
          </a:p>
          <a:p>
            <a:pPr lvl="1"/>
            <a:r>
              <a:rPr lang="zh-CN" altLang="en-US" dirty="0" smtClean="0"/>
              <a:t>主要差别在于：存入值的花样（灵活程度）</a:t>
            </a:r>
            <a:endParaRPr lang="en-US" altLang="zh-CN" dirty="0" smtClean="0"/>
          </a:p>
          <a:p>
            <a:r>
              <a:rPr lang="zh-CN" altLang="en-US" dirty="0" smtClean="0"/>
              <a:t>最简单的例子：</a:t>
            </a:r>
            <a:r>
              <a:rPr lang="en-US" altLang="zh-CN" dirty="0" smtClean="0"/>
              <a:t>test &amp; set</a:t>
            </a:r>
          </a:p>
          <a:p>
            <a:pPr lvl="1"/>
            <a:r>
              <a:rPr lang="zh-CN" altLang="en-US" dirty="0" smtClean="0"/>
              <a:t>原子操作</a:t>
            </a:r>
            <a:r>
              <a:rPr lang="en-US" altLang="zh-CN" dirty="0" smtClean="0"/>
              <a:t>1</a:t>
            </a:r>
            <a:r>
              <a:rPr lang="zh-CN" altLang="en-US" dirty="0" smtClean="0"/>
              <a:t>：把位置中的值读进指定的寄存器，并把常数</a:t>
            </a:r>
            <a:r>
              <a:rPr lang="en-US" altLang="zh-CN" dirty="0" smtClean="0"/>
              <a:t>1</a:t>
            </a:r>
            <a:r>
              <a:rPr lang="zh-CN" altLang="en-US" dirty="0" smtClean="0"/>
              <a:t>存入该位置</a:t>
            </a:r>
            <a:endParaRPr lang="en-US" altLang="zh-CN" dirty="0" smtClean="0"/>
          </a:p>
          <a:p>
            <a:pPr lvl="2"/>
            <a:r>
              <a:rPr lang="zh-CN" altLang="en-US" dirty="0"/>
              <a:t>若取入寄存器的值是</a:t>
            </a:r>
            <a:r>
              <a:rPr lang="en-US" altLang="zh-CN" dirty="0"/>
              <a:t>0</a:t>
            </a:r>
            <a:r>
              <a:rPr lang="zh-CN" altLang="en-US" dirty="0"/>
              <a:t>，则成功获得锁（或同步权）</a:t>
            </a:r>
            <a:endParaRPr lang="en-US" altLang="zh-CN" dirty="0"/>
          </a:p>
          <a:p>
            <a:pPr lvl="1"/>
            <a:r>
              <a:rPr lang="zh-CN" altLang="en-US" dirty="0" smtClean="0"/>
              <a:t>原子操作</a:t>
            </a:r>
            <a:r>
              <a:rPr lang="en-US" altLang="zh-CN" dirty="0" smtClean="0"/>
              <a:t>2</a:t>
            </a:r>
            <a:r>
              <a:rPr lang="zh-CN" altLang="en-US" dirty="0" smtClean="0"/>
              <a:t>：测试指定寄存器的内容是否为</a:t>
            </a:r>
            <a:r>
              <a:rPr lang="en-US" altLang="zh-CN" dirty="0" smtClean="0"/>
              <a:t>0</a:t>
            </a:r>
            <a:r>
              <a:rPr lang="zh-CN" altLang="en-US" dirty="0" smtClean="0"/>
              <a:t>，并把常数</a:t>
            </a:r>
            <a:r>
              <a:rPr lang="en-US" altLang="zh-CN" dirty="0" smtClean="0"/>
              <a:t>1</a:t>
            </a:r>
            <a:r>
              <a:rPr lang="zh-CN" altLang="en-US" dirty="0" smtClean="0"/>
              <a:t>存入该位置</a:t>
            </a:r>
            <a:endParaRPr lang="en-US" altLang="zh-CN" dirty="0" smtClean="0"/>
          </a:p>
          <a:p>
            <a:pPr lvl="1"/>
            <a:r>
              <a:rPr lang="zh-CN" altLang="en-US" dirty="0" smtClean="0"/>
              <a:t>值</a:t>
            </a:r>
            <a:r>
              <a:rPr lang="en-US" altLang="zh-CN" dirty="0" smtClean="0"/>
              <a:t>1</a:t>
            </a:r>
            <a:r>
              <a:rPr lang="zh-CN" altLang="en-US" dirty="0" smtClean="0"/>
              <a:t>和</a:t>
            </a:r>
            <a:r>
              <a:rPr lang="en-US" altLang="zh-CN" dirty="0" smtClean="0"/>
              <a:t>0</a:t>
            </a:r>
            <a:r>
              <a:rPr lang="zh-CN" altLang="en-US" dirty="0" smtClean="0"/>
              <a:t>也可以用其它常数代替</a:t>
            </a:r>
            <a:endParaRPr lang="zh-CN" altLang="en-US" dirty="0"/>
          </a:p>
        </p:txBody>
      </p:sp>
    </p:spTree>
    <p:extLst>
      <p:ext uri="{BB962C8B-B14F-4D97-AF65-F5344CB8AC3E}">
        <p14:creationId xmlns:p14="http://schemas.microsoft.com/office/powerpoint/2010/main" val="225034636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基于</a:t>
            </a:r>
            <a:r>
              <a:rPr kumimoji="1" lang="en-US" altLang="zh-CN" dirty="0" smtClean="0"/>
              <a:t>Test &amp; Set</a:t>
            </a:r>
            <a:r>
              <a:rPr kumimoji="1" lang="zh-CN" altLang="en-US" dirty="0" smtClean="0"/>
              <a:t>的简单锁</a:t>
            </a:r>
            <a:endParaRPr kumimoji="1" lang="zh-CN" altLang="en-US" dirty="0"/>
          </a:p>
        </p:txBody>
      </p:sp>
      <p:sp>
        <p:nvSpPr>
          <p:cNvPr id="3" name="内容占位符 2"/>
          <p:cNvSpPr>
            <a:spLocks noGrp="1"/>
          </p:cNvSpPr>
          <p:nvPr>
            <p:ph idx="1"/>
          </p:nvPr>
        </p:nvSpPr>
        <p:spPr/>
        <p:txBody>
          <a:bodyPr/>
          <a:lstStyle/>
          <a:p>
            <a:pPr marL="0" indent="0">
              <a:buNone/>
              <a:tabLst>
                <a:tab pos="1316038" algn="l"/>
                <a:tab pos="2005013" algn="l"/>
                <a:tab pos="4575175" algn="l"/>
              </a:tabLst>
            </a:pPr>
            <a:r>
              <a:rPr lang="en-US" altLang="en-US" sz="2000" b="1" dirty="0">
                <a:latin typeface="Courier" pitchFamily="49" charset="0"/>
              </a:rPr>
              <a:t>lock:	</a:t>
            </a:r>
            <a:r>
              <a:rPr lang="en-US" altLang="en-US" sz="2000" b="1" dirty="0" err="1">
                <a:latin typeface="Courier" pitchFamily="49" charset="0"/>
              </a:rPr>
              <a:t>t&amp;s</a:t>
            </a:r>
            <a:r>
              <a:rPr lang="en-US" altLang="en-US" sz="2000" b="1" dirty="0">
                <a:latin typeface="Courier" pitchFamily="49" charset="0"/>
              </a:rPr>
              <a:t>	register, location</a:t>
            </a:r>
            <a:r>
              <a:rPr lang="en-US" altLang="en-US" sz="2000" b="1" dirty="0"/>
              <a:t> </a:t>
            </a:r>
            <a:r>
              <a:rPr lang="en-US" altLang="en-US" sz="2000" dirty="0"/>
              <a:t>	</a:t>
            </a:r>
          </a:p>
          <a:p>
            <a:pPr marL="0" indent="0">
              <a:buNone/>
              <a:tabLst>
                <a:tab pos="1316038" algn="l"/>
                <a:tab pos="2005013" algn="l"/>
                <a:tab pos="4575175" algn="l"/>
              </a:tabLst>
            </a:pPr>
            <a:r>
              <a:rPr lang="en-US" altLang="en-US" sz="2000" dirty="0"/>
              <a:t>	</a:t>
            </a:r>
            <a:r>
              <a:rPr lang="en-US" altLang="en-US" sz="2000" b="1" dirty="0" err="1">
                <a:latin typeface="Courier" pitchFamily="49" charset="0"/>
              </a:rPr>
              <a:t>bnz</a:t>
            </a:r>
            <a:r>
              <a:rPr lang="en-US" altLang="en-US" sz="2000" b="1" dirty="0">
                <a:latin typeface="Courier" pitchFamily="49" charset="0"/>
              </a:rPr>
              <a:t>	lock</a:t>
            </a:r>
            <a:r>
              <a:rPr lang="en-US" altLang="en-US" sz="2000" dirty="0"/>
              <a:t>	 </a:t>
            </a:r>
            <a:r>
              <a:rPr lang="en-US" altLang="en-US" sz="2000" i="1" dirty="0"/>
              <a:t>/* if not 0, try again */</a:t>
            </a:r>
            <a:endParaRPr lang="en-US" altLang="en-US" sz="2000" dirty="0"/>
          </a:p>
          <a:p>
            <a:pPr marL="0" indent="0">
              <a:buNone/>
              <a:tabLst>
                <a:tab pos="1316038" algn="l"/>
                <a:tab pos="2005013" algn="l"/>
                <a:tab pos="4575175" algn="l"/>
              </a:tabLst>
            </a:pPr>
            <a:r>
              <a:rPr lang="en-US" altLang="en-US" sz="2000" dirty="0"/>
              <a:t>	</a:t>
            </a:r>
            <a:r>
              <a:rPr lang="en-US" altLang="en-US" sz="2000" b="1" dirty="0">
                <a:latin typeface="Courier" pitchFamily="49" charset="0"/>
              </a:rPr>
              <a:t>ret</a:t>
            </a:r>
            <a:r>
              <a:rPr lang="en-US" altLang="en-US" sz="2000" dirty="0"/>
              <a:t>		</a:t>
            </a:r>
            <a:r>
              <a:rPr lang="en-US" altLang="en-US" sz="2000" i="1" dirty="0"/>
              <a:t>/* return control to caller */</a:t>
            </a:r>
            <a:endParaRPr lang="en-US" altLang="en-US" sz="2000" dirty="0"/>
          </a:p>
          <a:p>
            <a:pPr marL="0" indent="0">
              <a:buNone/>
              <a:tabLst>
                <a:tab pos="1316038" algn="l"/>
                <a:tab pos="2005013" algn="l"/>
                <a:tab pos="4575175" algn="l"/>
              </a:tabLst>
            </a:pPr>
            <a:r>
              <a:rPr lang="en-US" altLang="en-US" sz="2000" b="1" dirty="0">
                <a:latin typeface="Courier" pitchFamily="49" charset="0"/>
              </a:rPr>
              <a:t>unlock:	</a:t>
            </a:r>
            <a:r>
              <a:rPr lang="en-US" altLang="en-US" sz="2000" b="1" dirty="0" err="1">
                <a:latin typeface="Courier" pitchFamily="49" charset="0"/>
              </a:rPr>
              <a:t>st</a:t>
            </a:r>
            <a:r>
              <a:rPr lang="en-US" altLang="en-US" sz="2000" b="1" dirty="0">
                <a:latin typeface="Courier" pitchFamily="49" charset="0"/>
              </a:rPr>
              <a:t> 	location, #0</a:t>
            </a:r>
            <a:r>
              <a:rPr lang="en-US" altLang="en-US" sz="2000" dirty="0"/>
              <a:t>	</a:t>
            </a:r>
            <a:r>
              <a:rPr lang="en-US" altLang="en-US" sz="2000" i="1" dirty="0"/>
              <a:t>/* write 0 to location */</a:t>
            </a:r>
            <a:endParaRPr lang="en-US" altLang="en-US" sz="2000" dirty="0"/>
          </a:p>
          <a:p>
            <a:pPr marL="0" indent="0">
              <a:buNone/>
              <a:tabLst>
                <a:tab pos="1316038" algn="l"/>
                <a:tab pos="2005013" algn="l"/>
                <a:tab pos="4575175" algn="l"/>
              </a:tabLst>
            </a:pPr>
            <a:r>
              <a:rPr lang="en-US" altLang="en-US" sz="2000" dirty="0"/>
              <a:t>	</a:t>
            </a:r>
            <a:r>
              <a:rPr lang="en-US" altLang="en-US" sz="2000" b="1" dirty="0">
                <a:latin typeface="Courier" pitchFamily="49" charset="0"/>
              </a:rPr>
              <a:t>ret</a:t>
            </a:r>
            <a:r>
              <a:rPr lang="en-US" altLang="en-US" sz="2000" dirty="0"/>
              <a:t>		</a:t>
            </a:r>
            <a:r>
              <a:rPr lang="en-US" altLang="en-US" sz="2000" i="1" dirty="0"/>
              <a:t>/* return control to caller */</a:t>
            </a:r>
            <a:endParaRPr kumimoji="1" lang="en-US" altLang="zh-CN" sz="2000" dirty="0"/>
          </a:p>
          <a:p>
            <a:r>
              <a:rPr kumimoji="1" lang="zh-CN" altLang="en-US" dirty="0" smtClean="0"/>
              <a:t>其它的“读－改－写”原语</a:t>
            </a:r>
            <a:endParaRPr kumimoji="1" lang="en-US" altLang="zh-CN" dirty="0" smtClean="0"/>
          </a:p>
          <a:p>
            <a:pPr lvl="1"/>
            <a:r>
              <a:rPr lang="en-US" altLang="zh-CN" dirty="0" smtClean="0"/>
              <a:t>Swap</a:t>
            </a:r>
            <a:r>
              <a:rPr lang="zh-CN" altLang="en-US" dirty="0" smtClean="0"/>
              <a:t>、</a:t>
            </a:r>
            <a:r>
              <a:rPr lang="en-US" altLang="zh-CN" dirty="0" smtClean="0"/>
              <a:t>Fetch &amp; Op</a:t>
            </a:r>
            <a:r>
              <a:rPr lang="zh-CN" altLang="en-US" dirty="0" smtClean="0"/>
              <a:t>（增量、减量、加）</a:t>
            </a:r>
            <a:endParaRPr lang="en-US" altLang="zh-CN" dirty="0" smtClean="0"/>
          </a:p>
          <a:p>
            <a:pPr lvl="1"/>
            <a:r>
              <a:rPr kumimoji="1" lang="en-US" altLang="zh-CN" dirty="0" smtClean="0"/>
              <a:t>Compare &amp; Swap</a:t>
            </a:r>
          </a:p>
          <a:p>
            <a:pPr lvl="2"/>
            <a:r>
              <a:rPr lang="zh-CN" altLang="en-US" dirty="0" smtClean="0"/>
              <a:t>三个操作数：位置、比较的寄存器、交换的寄存器</a:t>
            </a:r>
            <a:endParaRPr lang="en-US" altLang="zh-CN" dirty="0" smtClean="0"/>
          </a:p>
          <a:p>
            <a:pPr lvl="2"/>
            <a:r>
              <a:rPr kumimoji="1" lang="en-US" altLang="zh-CN" dirty="0" smtClean="0"/>
              <a:t>RISC</a:t>
            </a:r>
            <a:r>
              <a:rPr kumimoji="1" lang="zh-CN" altLang="en-US" dirty="0" smtClean="0"/>
              <a:t>指令系统通常不支持这类复杂的指令</a:t>
            </a:r>
            <a:endParaRPr kumimoji="1" lang="en-US" altLang="zh-CN" dirty="0" smtClean="0"/>
          </a:p>
          <a:p>
            <a:r>
              <a:rPr lang="zh-CN" altLang="en-US" dirty="0" smtClean="0"/>
              <a:t>锁变量可入</a:t>
            </a:r>
            <a:r>
              <a:rPr lang="en-US" altLang="zh-CN" dirty="0" smtClean="0"/>
              <a:t>cache</a:t>
            </a:r>
            <a:r>
              <a:rPr lang="zh-CN" altLang="en-US" dirty="0" smtClean="0"/>
              <a:t>或不可入</a:t>
            </a:r>
            <a:r>
              <a:rPr lang="en-US" altLang="zh-CN" dirty="0" smtClean="0"/>
              <a:t>cache</a:t>
            </a:r>
            <a:endParaRPr kumimoji="1" lang="zh-CN" altLang="en-US" dirty="0"/>
          </a:p>
        </p:txBody>
      </p:sp>
    </p:spTree>
    <p:extLst>
      <p:ext uri="{BB962C8B-B14F-4D97-AF65-F5344CB8AC3E}">
        <p14:creationId xmlns:p14="http://schemas.microsoft.com/office/powerpoint/2010/main" val="6144679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对同步的硬件支持</a:t>
            </a:r>
            <a:endParaRPr kumimoji="1" lang="zh-CN" altLang="en-US" dirty="0"/>
          </a:p>
        </p:txBody>
      </p:sp>
      <p:sp>
        <p:nvSpPr>
          <p:cNvPr id="3" name="内容占位符 2"/>
          <p:cNvSpPr>
            <a:spLocks noGrp="1"/>
          </p:cNvSpPr>
          <p:nvPr>
            <p:ph sz="half" idx="1"/>
          </p:nvPr>
        </p:nvSpPr>
        <p:spPr>
          <a:xfrm>
            <a:off x="6675040" y="1628800"/>
            <a:ext cx="5181600" cy="4968552"/>
          </a:xfrm>
        </p:spPr>
        <p:txBody>
          <a:bodyPr/>
          <a:lstStyle/>
          <a:p>
            <a:r>
              <a:rPr lang="zh-CN" altLang="en-US" dirty="0" smtClean="0"/>
              <a:t>硬件对“锁”的专门支持</a:t>
            </a:r>
            <a:endParaRPr lang="en-US" altLang="zh-CN" dirty="0" smtClean="0"/>
          </a:p>
          <a:p>
            <a:pPr lvl="1"/>
            <a:r>
              <a:rPr lang="zh-CN" altLang="en-US" dirty="0" smtClean="0"/>
              <a:t>主要用于实现不可分割的同步操作，保证它是原子的</a:t>
            </a:r>
            <a:r>
              <a:rPr lang="en-US" altLang="zh-CN" dirty="0" smtClean="0"/>
              <a:t>(Atomic)</a:t>
            </a:r>
            <a:endParaRPr kumimoji="1" lang="en-US" altLang="zh-CN" dirty="0" smtClean="0"/>
          </a:p>
          <a:p>
            <a:r>
              <a:rPr kumimoji="1" lang="zh-CN" altLang="en-US" dirty="0" smtClean="0"/>
              <a:t>总线上有专门的“锁”信号线</a:t>
            </a:r>
            <a:endParaRPr kumimoji="1" lang="en-US" altLang="zh-CN" dirty="0" smtClean="0"/>
          </a:p>
          <a:p>
            <a:r>
              <a:rPr lang="zh-CN" altLang="en-US" dirty="0" smtClean="0"/>
              <a:t>存储器里有放“锁”的位置</a:t>
            </a:r>
            <a:endParaRPr lang="en-US" altLang="zh-CN" dirty="0" smtClean="0"/>
          </a:p>
          <a:p>
            <a:r>
              <a:rPr lang="en-US" altLang="zh-CN" dirty="0" smtClean="0"/>
              <a:t>Cray XMP</a:t>
            </a:r>
            <a:r>
              <a:rPr lang="zh-CN" altLang="en-US" dirty="0" smtClean="0"/>
              <a:t>里的锁寄存器</a:t>
            </a:r>
            <a:endParaRPr lang="en-US" altLang="zh-CN" dirty="0" smtClean="0"/>
          </a:p>
          <a:p>
            <a:r>
              <a:rPr kumimoji="1" lang="en-US" altLang="zh-CN" dirty="0" err="1" smtClean="0"/>
              <a:t>Tera</a:t>
            </a:r>
            <a:r>
              <a:rPr kumimoji="1" lang="zh-CN" altLang="en-US" dirty="0" smtClean="0"/>
              <a:t>机器中的硬件</a:t>
            </a:r>
            <a:r>
              <a:rPr kumimoji="1" lang="en-US" altLang="zh-CN" dirty="0" smtClean="0"/>
              <a:t>full/empty</a:t>
            </a:r>
            <a:r>
              <a:rPr kumimoji="1" lang="zh-CN" altLang="en-US" dirty="0" smtClean="0"/>
              <a:t>位</a:t>
            </a:r>
            <a:endParaRPr kumimoji="1" lang="en-US" altLang="zh-CN" dirty="0" smtClean="0"/>
          </a:p>
          <a:p>
            <a:r>
              <a:rPr kumimoji="1" lang="zh-CN" altLang="en-US" dirty="0" smtClean="0"/>
              <a:t>对中断分派的总线支持</a:t>
            </a:r>
            <a:endParaRPr kumimoji="1" lang="en-US" altLang="zh-CN" dirty="0" smtClean="0"/>
          </a:p>
          <a:p>
            <a:pPr lvl="1"/>
            <a:r>
              <a:rPr lang="en-US" altLang="zh-CN" dirty="0" smtClean="0"/>
              <a:t>interrupt dispatch</a:t>
            </a:r>
            <a:endParaRPr kumimoji="1" lang="zh-CN" altLang="en-US" dirty="0"/>
          </a:p>
        </p:txBody>
      </p:sp>
      <p:sp>
        <p:nvSpPr>
          <p:cNvPr id="5" name="内容占位符 3"/>
          <p:cNvSpPr>
            <a:spLocks noGrp="1"/>
          </p:cNvSpPr>
          <p:nvPr>
            <p:ph sz="half" idx="2"/>
          </p:nvPr>
        </p:nvSpPr>
        <p:spPr>
          <a:xfrm>
            <a:off x="0" y="1700808"/>
            <a:ext cx="6312024" cy="4968552"/>
          </a:xfrm>
        </p:spPr>
        <p:txBody>
          <a:bodyPr/>
          <a:lstStyle/>
          <a:p>
            <a:r>
              <a:rPr lang="zh-CN" altLang="en-US" dirty="0"/>
              <a:t>用</a:t>
            </a:r>
            <a:r>
              <a:rPr lang="zh-CN" altLang="en-US" dirty="0" smtClean="0"/>
              <a:t>原子“</a:t>
            </a:r>
            <a:r>
              <a:rPr lang="zh-CN" altLang="en-US" dirty="0"/>
              <a:t>读－改－写”</a:t>
            </a:r>
            <a:r>
              <a:rPr lang="zh-CN" altLang="en-US" dirty="0" smtClean="0"/>
              <a:t>指令支持同步</a:t>
            </a:r>
            <a:endParaRPr lang="en-US" altLang="zh-CN" dirty="0"/>
          </a:p>
          <a:p>
            <a:pPr lvl="1"/>
            <a:r>
              <a:rPr lang="en-US" altLang="zh-CN" dirty="0"/>
              <a:t>IBM370</a:t>
            </a:r>
            <a:r>
              <a:rPr lang="zh-CN" altLang="en-US" dirty="0"/>
              <a:t>：</a:t>
            </a:r>
            <a:r>
              <a:rPr lang="en-US" altLang="zh-CN" dirty="0"/>
              <a:t>compare &amp; swap</a:t>
            </a:r>
            <a:r>
              <a:rPr lang="zh-CN" altLang="en-US" dirty="0"/>
              <a:t>，支持多道程序</a:t>
            </a:r>
            <a:endParaRPr lang="en-US" altLang="zh-CN" dirty="0"/>
          </a:p>
          <a:p>
            <a:pPr lvl="1"/>
            <a:r>
              <a:rPr lang="en-US" altLang="zh-CN" dirty="0"/>
              <a:t>x86</a:t>
            </a:r>
            <a:r>
              <a:rPr lang="zh-CN" altLang="en-US" dirty="0"/>
              <a:t>：所有指令都可加上</a:t>
            </a:r>
            <a:r>
              <a:rPr lang="en-US" altLang="zh-CN" dirty="0"/>
              <a:t>lock</a:t>
            </a:r>
            <a:r>
              <a:rPr lang="zh-CN" altLang="en-US" dirty="0"/>
              <a:t>前缀</a:t>
            </a:r>
            <a:endParaRPr lang="en-US" altLang="zh-CN" dirty="0"/>
          </a:p>
          <a:p>
            <a:pPr lvl="1"/>
            <a:r>
              <a:rPr lang="zh-CN" altLang="en-US" dirty="0"/>
              <a:t>高级语言机器期望硬件提供锁、栅障</a:t>
            </a:r>
            <a:endParaRPr lang="en-US" altLang="zh-CN" dirty="0"/>
          </a:p>
          <a:p>
            <a:pPr lvl="2"/>
            <a:r>
              <a:rPr lang="zh-CN" altLang="en-US" dirty="0"/>
              <a:t>不符合</a:t>
            </a:r>
            <a:r>
              <a:rPr lang="en-US" altLang="zh-CN" dirty="0"/>
              <a:t>RISC</a:t>
            </a:r>
            <a:r>
              <a:rPr lang="zh-CN" altLang="en-US" dirty="0"/>
              <a:t>潮流，还有其它问题</a:t>
            </a:r>
            <a:endParaRPr lang="en-US" altLang="zh-CN" dirty="0"/>
          </a:p>
          <a:p>
            <a:pPr lvl="1"/>
            <a:r>
              <a:rPr lang="en-US" altLang="zh-CN" dirty="0"/>
              <a:t>SPARC</a:t>
            </a:r>
            <a:r>
              <a:rPr lang="zh-CN" altLang="en-US" dirty="0"/>
              <a:t>：原子的寄存器－存储器操作</a:t>
            </a:r>
            <a:endParaRPr lang="en-US" altLang="zh-CN" dirty="0"/>
          </a:p>
          <a:p>
            <a:pPr lvl="2"/>
            <a:r>
              <a:rPr lang="en-US" altLang="zh-CN" dirty="0"/>
              <a:t>swap, compare &amp; swap</a:t>
            </a:r>
          </a:p>
          <a:p>
            <a:pPr lvl="1"/>
            <a:r>
              <a:rPr lang="en-US" altLang="zh-CN" dirty="0"/>
              <a:t>MIPS/IBM Power</a:t>
            </a:r>
            <a:r>
              <a:rPr lang="zh-CN" altLang="en-US" dirty="0"/>
              <a:t>：无原子操作，用一对指令</a:t>
            </a:r>
            <a:endParaRPr lang="en-US" altLang="zh-CN" dirty="0"/>
          </a:p>
          <a:p>
            <a:pPr lvl="2"/>
            <a:r>
              <a:rPr lang="en-US" altLang="zh-CN" dirty="0"/>
              <a:t>Load-locked, store-conditional</a:t>
            </a:r>
          </a:p>
          <a:p>
            <a:pPr lvl="2"/>
            <a:r>
              <a:rPr lang="zh-CN" altLang="en-US" dirty="0"/>
              <a:t>后来也用于</a:t>
            </a:r>
            <a:r>
              <a:rPr lang="en-US" altLang="zh-CN" dirty="0"/>
              <a:t>PowerPC</a:t>
            </a:r>
            <a:r>
              <a:rPr lang="zh-CN" altLang="en-US" dirty="0"/>
              <a:t>和</a:t>
            </a:r>
            <a:r>
              <a:rPr lang="en-US" altLang="zh-CN" dirty="0"/>
              <a:t>DEC Alpha</a:t>
            </a:r>
          </a:p>
          <a:p>
            <a:r>
              <a:rPr lang="zh-CN" altLang="en-US" dirty="0"/>
              <a:t>存在大量的折衷方案</a:t>
            </a:r>
          </a:p>
          <a:p>
            <a:endParaRPr lang="zh-CN" altLang="en-US" dirty="0"/>
          </a:p>
        </p:txBody>
      </p:sp>
    </p:spTree>
    <p:extLst>
      <p:ext uri="{BB962C8B-B14F-4D97-AF65-F5344CB8AC3E}">
        <p14:creationId xmlns:p14="http://schemas.microsoft.com/office/powerpoint/2010/main" val="16370680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同步操作的性能标准</a:t>
            </a:r>
            <a:endParaRPr kumimoji="1" lang="zh-CN" altLang="en-US" dirty="0"/>
          </a:p>
        </p:txBody>
      </p:sp>
      <p:sp>
        <p:nvSpPr>
          <p:cNvPr id="3" name="内容占位符 2"/>
          <p:cNvSpPr>
            <a:spLocks noGrp="1"/>
          </p:cNvSpPr>
          <p:nvPr>
            <p:ph idx="1"/>
          </p:nvPr>
        </p:nvSpPr>
        <p:spPr/>
        <p:txBody>
          <a:bodyPr/>
          <a:lstStyle/>
          <a:p>
            <a:r>
              <a:rPr kumimoji="1" lang="zh-CN" altLang="en-US" dirty="0" smtClean="0"/>
              <a:t>低延迟（</a:t>
            </a:r>
            <a:r>
              <a:rPr lang="zh-CN" altLang="en-US" dirty="0" smtClean="0"/>
              <a:t>同步</a:t>
            </a:r>
            <a:r>
              <a:rPr kumimoji="1" lang="zh-CN" altLang="en-US" dirty="0" smtClean="0"/>
              <a:t>操作花费的时间）</a:t>
            </a:r>
            <a:endParaRPr kumimoji="1" lang="en-US" altLang="zh-CN" dirty="0" smtClean="0"/>
          </a:p>
          <a:p>
            <a:pPr lvl="1"/>
            <a:r>
              <a:rPr lang="zh-CN" altLang="en-US" dirty="0" smtClean="0"/>
              <a:t>当轻度冲突时，用延迟衡量</a:t>
            </a:r>
            <a:endParaRPr lang="en-US" altLang="zh-CN" dirty="0" smtClean="0"/>
          </a:p>
          <a:p>
            <a:r>
              <a:rPr kumimoji="1" lang="zh-CN" altLang="en-US" dirty="0" smtClean="0"/>
              <a:t>低流量（</a:t>
            </a:r>
            <a:r>
              <a:rPr lang="zh-CN" altLang="en-US" dirty="0" smtClean="0"/>
              <a:t>减</a:t>
            </a:r>
            <a:r>
              <a:rPr kumimoji="1" lang="zh-CN" altLang="en-US" dirty="0" smtClean="0"/>
              <a:t>少对正常操作的影响）</a:t>
            </a:r>
            <a:endParaRPr kumimoji="1" lang="en-US" altLang="zh-CN" dirty="0" smtClean="0"/>
          </a:p>
          <a:p>
            <a:pPr lvl="1"/>
            <a:r>
              <a:rPr lang="zh-CN" altLang="en-US" dirty="0" smtClean="0"/>
              <a:t>当重度冲突时，用流量衡量</a:t>
            </a:r>
            <a:endParaRPr lang="en-US" altLang="zh-CN" dirty="0" smtClean="0"/>
          </a:p>
          <a:p>
            <a:pPr lvl="1"/>
            <a:r>
              <a:rPr lang="zh-CN" altLang="en-US" dirty="0" smtClean="0"/>
              <a:t>尤其是冲突竞争失败后，持续竞争的流量</a:t>
            </a:r>
            <a:endParaRPr lang="en-US" altLang="zh-CN" dirty="0" smtClean="0"/>
          </a:p>
          <a:p>
            <a:r>
              <a:rPr lang="zh-CN" altLang="en-US" dirty="0" smtClean="0"/>
              <a:t>扩展性好</a:t>
            </a:r>
            <a:endParaRPr lang="en-US" altLang="zh-CN" dirty="0" smtClean="0"/>
          </a:p>
          <a:p>
            <a:pPr lvl="1"/>
            <a:r>
              <a:rPr lang="zh-CN" altLang="en-US" dirty="0" smtClean="0"/>
              <a:t>参与竞争的处理器增加后，延迟不明显增加</a:t>
            </a:r>
            <a:endParaRPr kumimoji="1" lang="en-US" altLang="zh-CN" dirty="0" smtClean="0"/>
          </a:p>
          <a:p>
            <a:pPr lvl="1"/>
            <a:r>
              <a:rPr kumimoji="1" lang="zh-CN" altLang="en-US" dirty="0" smtClean="0"/>
              <a:t>总线多处理机中，指合理的处理器数量</a:t>
            </a:r>
            <a:endParaRPr kumimoji="1" lang="en-US" altLang="zh-CN" dirty="0" smtClean="0"/>
          </a:p>
          <a:p>
            <a:r>
              <a:rPr lang="zh-CN" altLang="en-US" dirty="0" smtClean="0"/>
              <a:t>存储量少、相对</a:t>
            </a:r>
            <a:r>
              <a:rPr kumimoji="1" lang="zh-CN" altLang="en-US" dirty="0" smtClean="0"/>
              <a:t>公平性</a:t>
            </a:r>
            <a:endParaRPr kumimoji="1" lang="zh-CN" altLang="en-US" dirty="0"/>
          </a:p>
        </p:txBody>
      </p:sp>
    </p:spTree>
    <p:extLst>
      <p:ext uri="{BB962C8B-B14F-4D97-AF65-F5344CB8AC3E}">
        <p14:creationId xmlns:p14="http://schemas.microsoft.com/office/powerpoint/2010/main" val="156299614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SGI </a:t>
            </a:r>
            <a:r>
              <a:rPr lang="en-US" altLang="zh-CN" dirty="0" smtClean="0"/>
              <a:t>Challenge</a:t>
            </a:r>
            <a:r>
              <a:rPr lang="zh-CN" altLang="en-US" dirty="0" smtClean="0"/>
              <a:t>上</a:t>
            </a:r>
            <a:r>
              <a:rPr kumimoji="1" lang="en-US" altLang="zh-CN" dirty="0" smtClean="0"/>
              <a:t>T&amp;S</a:t>
            </a:r>
            <a:r>
              <a:rPr lang="zh-CN" altLang="en-US" dirty="0" smtClean="0"/>
              <a:t>锁的微基准</a:t>
            </a:r>
            <a:endParaRPr kumimoji="1" lang="zh-CN" altLang="en-US" dirty="0"/>
          </a:p>
        </p:txBody>
      </p:sp>
      <p:sp>
        <p:nvSpPr>
          <p:cNvPr id="3" name="内容占位符 2"/>
          <p:cNvSpPr>
            <a:spLocks noGrp="1"/>
          </p:cNvSpPr>
          <p:nvPr>
            <p:ph idx="1"/>
          </p:nvPr>
        </p:nvSpPr>
        <p:spPr>
          <a:xfrm>
            <a:off x="123105" y="4992686"/>
            <a:ext cx="3775885" cy="828700"/>
          </a:xfrm>
        </p:spPr>
        <p:txBody>
          <a:bodyPr/>
          <a:lstStyle/>
          <a:p>
            <a:r>
              <a:rPr kumimoji="1" lang="zh-CN" altLang="en-US" sz="2400" dirty="0"/>
              <a:t>什么原因导致性能波动和</a:t>
            </a:r>
            <a:r>
              <a:rPr kumimoji="1" lang="zh-CN" altLang="en-US" sz="2400" dirty="0" smtClean="0"/>
              <a:t>降级：频繁的总线事务</a:t>
            </a:r>
            <a:endParaRPr kumimoji="1" lang="en-US" altLang="zh-CN" sz="2400" dirty="0"/>
          </a:p>
        </p:txBody>
      </p:sp>
      <p:sp>
        <p:nvSpPr>
          <p:cNvPr id="137" name="TextBox 136"/>
          <p:cNvSpPr txBox="1"/>
          <p:nvPr/>
        </p:nvSpPr>
        <p:spPr>
          <a:xfrm>
            <a:off x="222960" y="1557159"/>
            <a:ext cx="4357115" cy="1938992"/>
          </a:xfrm>
          <a:prstGeom prst="rect">
            <a:avLst/>
          </a:prstGeom>
          <a:noFill/>
        </p:spPr>
        <p:txBody>
          <a:bodyPr wrap="square" rtlCol="0">
            <a:spAutoFit/>
          </a:bodyPr>
          <a:lstStyle/>
          <a:p>
            <a:r>
              <a:rPr lang="en-US" altLang="zh-CN" sz="2400" dirty="0" smtClean="0">
                <a:solidFill>
                  <a:srgbClr val="0000FF"/>
                </a:solidFill>
                <a:latin typeface="+mn-ea"/>
                <a:ea typeface="+mn-ea"/>
              </a:rPr>
              <a:t>Micro Benchmark</a:t>
            </a:r>
          </a:p>
          <a:p>
            <a:r>
              <a:rPr lang="zh-CN" altLang="en-US" sz="2400" dirty="0" smtClean="0">
                <a:solidFill>
                  <a:srgbClr val="0000FF"/>
                </a:solidFill>
                <a:latin typeface="+mn-ea"/>
                <a:ea typeface="+mn-ea"/>
              </a:rPr>
              <a:t>对锁的调用数量相同（与处理器数量无关）</a:t>
            </a:r>
            <a:endParaRPr lang="en-US" altLang="zh-CN" sz="2400" dirty="0" smtClean="0">
              <a:solidFill>
                <a:srgbClr val="0000FF"/>
              </a:solidFill>
              <a:latin typeface="+mn-ea"/>
              <a:ea typeface="+mn-ea"/>
            </a:endParaRPr>
          </a:p>
          <a:p>
            <a:r>
              <a:rPr lang="zh-CN" altLang="en-US" sz="2400" dirty="0" smtClean="0">
                <a:solidFill>
                  <a:srgbClr val="0000FF"/>
                </a:solidFill>
                <a:latin typeface="+mn-ea"/>
                <a:ea typeface="+mn-ea"/>
              </a:rPr>
              <a:t>纵轴：通过锁的平均时间，已扣除了临界区内的工作延迟</a:t>
            </a:r>
            <a:endParaRPr lang="zh-CN" altLang="en-US" sz="2400" dirty="0">
              <a:solidFill>
                <a:srgbClr val="0000FF"/>
              </a:solidFill>
              <a:latin typeface="+mn-ea"/>
              <a:ea typeface="+mn-ea"/>
            </a:endParaRPr>
          </a:p>
        </p:txBody>
      </p:sp>
      <p:grpSp>
        <p:nvGrpSpPr>
          <p:cNvPr id="138" name="Group 153"/>
          <p:cNvGrpSpPr>
            <a:grpSpLocks/>
          </p:cNvGrpSpPr>
          <p:nvPr/>
        </p:nvGrpSpPr>
        <p:grpSpPr bwMode="auto">
          <a:xfrm>
            <a:off x="4151784" y="1748986"/>
            <a:ext cx="7920880" cy="4632342"/>
            <a:chOff x="520" y="835"/>
            <a:chExt cx="3666" cy="2304"/>
          </a:xfrm>
        </p:grpSpPr>
        <p:sp>
          <p:nvSpPr>
            <p:cNvPr id="139" name="Line 6"/>
            <p:cNvSpPr>
              <a:spLocks noChangeShapeType="1"/>
            </p:cNvSpPr>
            <p:nvPr/>
          </p:nvSpPr>
          <p:spPr bwMode="auto">
            <a:xfrm>
              <a:off x="791" y="2684"/>
              <a:ext cx="337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7"/>
            <p:cNvSpPr>
              <a:spLocks noChangeShapeType="1"/>
            </p:cNvSpPr>
            <p:nvPr/>
          </p:nvSpPr>
          <p:spPr bwMode="auto">
            <a:xfrm>
              <a:off x="791" y="2283"/>
              <a:ext cx="337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Line 8"/>
            <p:cNvSpPr>
              <a:spLocks noChangeShapeType="1"/>
            </p:cNvSpPr>
            <p:nvPr/>
          </p:nvSpPr>
          <p:spPr bwMode="auto">
            <a:xfrm>
              <a:off x="791" y="1880"/>
              <a:ext cx="337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9"/>
            <p:cNvSpPr>
              <a:spLocks noChangeShapeType="1"/>
            </p:cNvSpPr>
            <p:nvPr/>
          </p:nvSpPr>
          <p:spPr bwMode="auto">
            <a:xfrm>
              <a:off x="791" y="1476"/>
              <a:ext cx="337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 name="Line 10"/>
            <p:cNvSpPr>
              <a:spLocks noChangeShapeType="1"/>
            </p:cNvSpPr>
            <p:nvPr/>
          </p:nvSpPr>
          <p:spPr bwMode="auto">
            <a:xfrm>
              <a:off x="791" y="1076"/>
              <a:ext cx="337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Line 11"/>
            <p:cNvSpPr>
              <a:spLocks noChangeShapeType="1"/>
            </p:cNvSpPr>
            <p:nvPr/>
          </p:nvSpPr>
          <p:spPr bwMode="auto">
            <a:xfrm flipV="1">
              <a:off x="1016"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 name="Line 12"/>
            <p:cNvSpPr>
              <a:spLocks noChangeShapeType="1"/>
            </p:cNvSpPr>
            <p:nvPr/>
          </p:nvSpPr>
          <p:spPr bwMode="auto">
            <a:xfrm flipV="1">
              <a:off x="1242"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Line 13"/>
            <p:cNvSpPr>
              <a:spLocks noChangeShapeType="1"/>
            </p:cNvSpPr>
            <p:nvPr/>
          </p:nvSpPr>
          <p:spPr bwMode="auto">
            <a:xfrm flipV="1">
              <a:off x="1467"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 name="Line 14"/>
            <p:cNvSpPr>
              <a:spLocks noChangeShapeType="1"/>
            </p:cNvSpPr>
            <p:nvPr/>
          </p:nvSpPr>
          <p:spPr bwMode="auto">
            <a:xfrm flipV="1">
              <a:off x="1691"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 name="Line 15"/>
            <p:cNvSpPr>
              <a:spLocks noChangeShapeType="1"/>
            </p:cNvSpPr>
            <p:nvPr/>
          </p:nvSpPr>
          <p:spPr bwMode="auto">
            <a:xfrm flipV="1">
              <a:off x="1916" y="2855"/>
              <a:ext cx="2"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Line 16"/>
            <p:cNvSpPr>
              <a:spLocks noChangeShapeType="1"/>
            </p:cNvSpPr>
            <p:nvPr/>
          </p:nvSpPr>
          <p:spPr bwMode="auto">
            <a:xfrm flipV="1">
              <a:off x="2140"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 name="Line 17"/>
            <p:cNvSpPr>
              <a:spLocks noChangeShapeType="1"/>
            </p:cNvSpPr>
            <p:nvPr/>
          </p:nvSpPr>
          <p:spPr bwMode="auto">
            <a:xfrm flipV="1">
              <a:off x="2365"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 name="Line 18"/>
            <p:cNvSpPr>
              <a:spLocks noChangeShapeType="1"/>
            </p:cNvSpPr>
            <p:nvPr/>
          </p:nvSpPr>
          <p:spPr bwMode="auto">
            <a:xfrm flipV="1">
              <a:off x="2589"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Line 19"/>
            <p:cNvSpPr>
              <a:spLocks noChangeShapeType="1"/>
            </p:cNvSpPr>
            <p:nvPr/>
          </p:nvSpPr>
          <p:spPr bwMode="auto">
            <a:xfrm flipV="1">
              <a:off x="2815"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 name="Line 20"/>
            <p:cNvSpPr>
              <a:spLocks noChangeShapeType="1"/>
            </p:cNvSpPr>
            <p:nvPr/>
          </p:nvSpPr>
          <p:spPr bwMode="auto">
            <a:xfrm flipV="1">
              <a:off x="3040"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 name="Line 21"/>
            <p:cNvSpPr>
              <a:spLocks noChangeShapeType="1"/>
            </p:cNvSpPr>
            <p:nvPr/>
          </p:nvSpPr>
          <p:spPr bwMode="auto">
            <a:xfrm flipV="1">
              <a:off x="3265"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 name="Line 22"/>
            <p:cNvSpPr>
              <a:spLocks noChangeShapeType="1"/>
            </p:cNvSpPr>
            <p:nvPr/>
          </p:nvSpPr>
          <p:spPr bwMode="auto">
            <a:xfrm flipV="1">
              <a:off x="3491"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 name="Line 23"/>
            <p:cNvSpPr>
              <a:spLocks noChangeShapeType="1"/>
            </p:cNvSpPr>
            <p:nvPr/>
          </p:nvSpPr>
          <p:spPr bwMode="auto">
            <a:xfrm flipV="1">
              <a:off x="3713"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 name="Line 24"/>
            <p:cNvSpPr>
              <a:spLocks noChangeShapeType="1"/>
            </p:cNvSpPr>
            <p:nvPr/>
          </p:nvSpPr>
          <p:spPr bwMode="auto">
            <a:xfrm flipV="1">
              <a:off x="3938"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 name="Line 25"/>
            <p:cNvSpPr>
              <a:spLocks noChangeShapeType="1"/>
            </p:cNvSpPr>
            <p:nvPr/>
          </p:nvSpPr>
          <p:spPr bwMode="auto">
            <a:xfrm flipV="1">
              <a:off x="4163" y="2855"/>
              <a:ext cx="1" cy="3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26"/>
            <p:cNvSpPr>
              <a:spLocks noChangeShapeType="1"/>
            </p:cNvSpPr>
            <p:nvPr/>
          </p:nvSpPr>
          <p:spPr bwMode="auto">
            <a:xfrm flipV="1">
              <a:off x="791" y="873"/>
              <a:ext cx="1" cy="20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 name="Line 27"/>
            <p:cNvSpPr>
              <a:spLocks noChangeShapeType="1"/>
            </p:cNvSpPr>
            <p:nvPr/>
          </p:nvSpPr>
          <p:spPr bwMode="auto">
            <a:xfrm>
              <a:off x="793" y="873"/>
              <a:ext cx="4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Line 28"/>
            <p:cNvSpPr>
              <a:spLocks noChangeShapeType="1"/>
            </p:cNvSpPr>
            <p:nvPr/>
          </p:nvSpPr>
          <p:spPr bwMode="auto">
            <a:xfrm>
              <a:off x="793" y="1277"/>
              <a:ext cx="4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29"/>
            <p:cNvSpPr>
              <a:spLocks noChangeShapeType="1"/>
            </p:cNvSpPr>
            <p:nvPr/>
          </p:nvSpPr>
          <p:spPr bwMode="auto">
            <a:xfrm>
              <a:off x="793" y="1678"/>
              <a:ext cx="4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30"/>
            <p:cNvSpPr>
              <a:spLocks noChangeShapeType="1"/>
            </p:cNvSpPr>
            <p:nvPr/>
          </p:nvSpPr>
          <p:spPr bwMode="auto">
            <a:xfrm>
              <a:off x="793" y="2081"/>
              <a:ext cx="4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Line 31"/>
            <p:cNvSpPr>
              <a:spLocks noChangeShapeType="1"/>
            </p:cNvSpPr>
            <p:nvPr/>
          </p:nvSpPr>
          <p:spPr bwMode="auto">
            <a:xfrm>
              <a:off x="793" y="2485"/>
              <a:ext cx="49"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 name="Line 32"/>
            <p:cNvSpPr>
              <a:spLocks noChangeShapeType="1"/>
            </p:cNvSpPr>
            <p:nvPr/>
          </p:nvSpPr>
          <p:spPr bwMode="auto">
            <a:xfrm>
              <a:off x="791" y="2886"/>
              <a:ext cx="3372"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Freeform 34"/>
            <p:cNvSpPr>
              <a:spLocks/>
            </p:cNvSpPr>
            <p:nvPr/>
          </p:nvSpPr>
          <p:spPr bwMode="auto">
            <a:xfrm>
              <a:off x="791" y="932"/>
              <a:ext cx="3372" cy="1923"/>
            </a:xfrm>
            <a:custGeom>
              <a:avLst/>
              <a:gdLst>
                <a:gd name="T0" fmla="*/ 0 w 3113"/>
                <a:gd name="T1" fmla="*/ 1527 h 2158"/>
                <a:gd name="T2" fmla="*/ 264 w 3113"/>
                <a:gd name="T3" fmla="*/ 1473 h 2158"/>
                <a:gd name="T4" fmla="*/ 530 w 3113"/>
                <a:gd name="T5" fmla="*/ 1404 h 2158"/>
                <a:gd name="T6" fmla="*/ 793 w 3113"/>
                <a:gd name="T7" fmla="*/ 1351 h 2158"/>
                <a:gd name="T8" fmla="*/ 1056 w 3113"/>
                <a:gd name="T9" fmla="*/ 1312 h 2158"/>
                <a:gd name="T10" fmla="*/ 1320 w 3113"/>
                <a:gd name="T11" fmla="*/ 1286 h 2158"/>
                <a:gd name="T12" fmla="*/ 1583 w 3113"/>
                <a:gd name="T13" fmla="*/ 1182 h 2158"/>
                <a:gd name="T14" fmla="*/ 1847 w 3113"/>
                <a:gd name="T15" fmla="*/ 964 h 2158"/>
                <a:gd name="T16" fmla="*/ 2110 w 3113"/>
                <a:gd name="T17" fmla="*/ 798 h 2158"/>
                <a:gd name="T18" fmla="*/ 2373 w 3113"/>
                <a:gd name="T19" fmla="*/ 751 h 2158"/>
                <a:gd name="T20" fmla="*/ 2639 w 3113"/>
                <a:gd name="T21" fmla="*/ 725 h 2158"/>
                <a:gd name="T22" fmla="*/ 2903 w 3113"/>
                <a:gd name="T23" fmla="*/ 622 h 2158"/>
                <a:gd name="T24" fmla="*/ 3167 w 3113"/>
                <a:gd name="T25" fmla="*/ 470 h 2158"/>
                <a:gd name="T26" fmla="*/ 3427 w 3113"/>
                <a:gd name="T27" fmla="*/ 432 h 2158"/>
                <a:gd name="T28" fmla="*/ 3693 w 3113"/>
                <a:gd name="T29" fmla="*/ 285 h 2158"/>
                <a:gd name="T30" fmla="*/ 3957 w 3113"/>
                <a:gd name="T31" fmla="*/ 0 h 215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13" h="2158">
                  <a:moveTo>
                    <a:pt x="0" y="2158"/>
                  </a:moveTo>
                  <a:lnTo>
                    <a:pt x="208" y="2082"/>
                  </a:lnTo>
                  <a:lnTo>
                    <a:pt x="416" y="1985"/>
                  </a:lnTo>
                  <a:lnTo>
                    <a:pt x="624" y="1909"/>
                  </a:lnTo>
                  <a:lnTo>
                    <a:pt x="831" y="1854"/>
                  </a:lnTo>
                  <a:lnTo>
                    <a:pt x="1039" y="1817"/>
                  </a:lnTo>
                  <a:lnTo>
                    <a:pt x="1245" y="1671"/>
                  </a:lnTo>
                  <a:lnTo>
                    <a:pt x="1453" y="1362"/>
                  </a:lnTo>
                  <a:lnTo>
                    <a:pt x="1660" y="1128"/>
                  </a:lnTo>
                  <a:lnTo>
                    <a:pt x="1868" y="1062"/>
                  </a:lnTo>
                  <a:lnTo>
                    <a:pt x="2076" y="1025"/>
                  </a:lnTo>
                  <a:lnTo>
                    <a:pt x="2284" y="879"/>
                  </a:lnTo>
                  <a:lnTo>
                    <a:pt x="2492" y="663"/>
                  </a:lnTo>
                  <a:lnTo>
                    <a:pt x="2697" y="611"/>
                  </a:lnTo>
                  <a:lnTo>
                    <a:pt x="2905" y="403"/>
                  </a:lnTo>
                  <a:lnTo>
                    <a:pt x="3113"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7" name="Freeform 35"/>
            <p:cNvSpPr>
              <a:spLocks/>
            </p:cNvSpPr>
            <p:nvPr/>
          </p:nvSpPr>
          <p:spPr bwMode="auto">
            <a:xfrm>
              <a:off x="791" y="1121"/>
              <a:ext cx="3372" cy="1725"/>
            </a:xfrm>
            <a:custGeom>
              <a:avLst/>
              <a:gdLst>
                <a:gd name="T0" fmla="*/ 0 w 3113"/>
                <a:gd name="T1" fmla="*/ 1369 h 1936"/>
                <a:gd name="T2" fmla="*/ 264 w 3113"/>
                <a:gd name="T3" fmla="*/ 1339 h 1936"/>
                <a:gd name="T4" fmla="*/ 530 w 3113"/>
                <a:gd name="T5" fmla="*/ 1337 h 1936"/>
                <a:gd name="T6" fmla="*/ 793 w 3113"/>
                <a:gd name="T7" fmla="*/ 1328 h 1936"/>
                <a:gd name="T8" fmla="*/ 1056 w 3113"/>
                <a:gd name="T9" fmla="*/ 1233 h 1936"/>
                <a:gd name="T10" fmla="*/ 1320 w 3113"/>
                <a:gd name="T11" fmla="*/ 1144 h 1936"/>
                <a:gd name="T12" fmla="*/ 1583 w 3113"/>
                <a:gd name="T13" fmla="*/ 1055 h 1936"/>
                <a:gd name="T14" fmla="*/ 1847 w 3113"/>
                <a:gd name="T15" fmla="*/ 931 h 1936"/>
                <a:gd name="T16" fmla="*/ 2110 w 3113"/>
                <a:gd name="T17" fmla="*/ 808 h 1936"/>
                <a:gd name="T18" fmla="*/ 2373 w 3113"/>
                <a:gd name="T19" fmla="*/ 733 h 1936"/>
                <a:gd name="T20" fmla="*/ 2639 w 3113"/>
                <a:gd name="T21" fmla="*/ 696 h 1936"/>
                <a:gd name="T22" fmla="*/ 2903 w 3113"/>
                <a:gd name="T23" fmla="*/ 620 h 1936"/>
                <a:gd name="T24" fmla="*/ 3167 w 3113"/>
                <a:gd name="T25" fmla="*/ 465 h 1936"/>
                <a:gd name="T26" fmla="*/ 3427 w 3113"/>
                <a:gd name="T27" fmla="*/ 419 h 1936"/>
                <a:gd name="T28" fmla="*/ 3693 w 3113"/>
                <a:gd name="T29" fmla="*/ 278 h 1936"/>
                <a:gd name="T30" fmla="*/ 3957 w 3113"/>
                <a:gd name="T31" fmla="*/ 0 h 19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13" h="1936">
                  <a:moveTo>
                    <a:pt x="0" y="1936"/>
                  </a:moveTo>
                  <a:lnTo>
                    <a:pt x="208" y="1893"/>
                  </a:lnTo>
                  <a:lnTo>
                    <a:pt x="416" y="1891"/>
                  </a:lnTo>
                  <a:lnTo>
                    <a:pt x="624" y="1876"/>
                  </a:lnTo>
                  <a:lnTo>
                    <a:pt x="831" y="1743"/>
                  </a:lnTo>
                  <a:lnTo>
                    <a:pt x="1039" y="1617"/>
                  </a:lnTo>
                  <a:lnTo>
                    <a:pt x="1245" y="1492"/>
                  </a:lnTo>
                  <a:lnTo>
                    <a:pt x="1453" y="1317"/>
                  </a:lnTo>
                  <a:lnTo>
                    <a:pt x="1660" y="1142"/>
                  </a:lnTo>
                  <a:lnTo>
                    <a:pt x="1868" y="1037"/>
                  </a:lnTo>
                  <a:lnTo>
                    <a:pt x="2076" y="983"/>
                  </a:lnTo>
                  <a:lnTo>
                    <a:pt x="2284" y="876"/>
                  </a:lnTo>
                  <a:lnTo>
                    <a:pt x="2492" y="658"/>
                  </a:lnTo>
                  <a:lnTo>
                    <a:pt x="2697" y="593"/>
                  </a:lnTo>
                  <a:lnTo>
                    <a:pt x="2905" y="393"/>
                  </a:lnTo>
                  <a:lnTo>
                    <a:pt x="3113"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 name="Freeform 36"/>
            <p:cNvSpPr>
              <a:spLocks/>
            </p:cNvSpPr>
            <p:nvPr/>
          </p:nvSpPr>
          <p:spPr bwMode="auto">
            <a:xfrm>
              <a:off x="791" y="2776"/>
              <a:ext cx="3372" cy="75"/>
            </a:xfrm>
            <a:custGeom>
              <a:avLst/>
              <a:gdLst>
                <a:gd name="T0" fmla="*/ 0 w 3113"/>
                <a:gd name="T1" fmla="*/ 60 h 84"/>
                <a:gd name="T2" fmla="*/ 264 w 3113"/>
                <a:gd name="T3" fmla="*/ 0 h 84"/>
                <a:gd name="T4" fmla="*/ 3957 w 3113"/>
                <a:gd name="T5" fmla="*/ 0 h 84"/>
                <a:gd name="T6" fmla="*/ 0 60000 65536"/>
                <a:gd name="T7" fmla="*/ 0 60000 65536"/>
                <a:gd name="T8" fmla="*/ 0 60000 65536"/>
              </a:gdLst>
              <a:ahLst/>
              <a:cxnLst>
                <a:cxn ang="T6">
                  <a:pos x="T0" y="T1"/>
                </a:cxn>
                <a:cxn ang="T7">
                  <a:pos x="T2" y="T3"/>
                </a:cxn>
                <a:cxn ang="T8">
                  <a:pos x="T4" y="T5"/>
                </a:cxn>
              </a:cxnLst>
              <a:rect l="0" t="0" r="r" b="b"/>
              <a:pathLst>
                <a:path w="3113" h="84">
                  <a:moveTo>
                    <a:pt x="0" y="84"/>
                  </a:moveTo>
                  <a:lnTo>
                    <a:pt x="208" y="0"/>
                  </a:lnTo>
                  <a:lnTo>
                    <a:pt x="3113"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 name="Rectangle 37"/>
            <p:cNvSpPr>
              <a:spLocks noChangeArrowheads="1"/>
            </p:cNvSpPr>
            <p:nvPr/>
          </p:nvSpPr>
          <p:spPr bwMode="auto">
            <a:xfrm>
              <a:off x="762" y="2822"/>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0" name="Rectangle 38"/>
            <p:cNvSpPr>
              <a:spLocks noChangeArrowheads="1"/>
            </p:cNvSpPr>
            <p:nvPr/>
          </p:nvSpPr>
          <p:spPr bwMode="auto">
            <a:xfrm>
              <a:off x="987" y="2710"/>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1" name="Rectangle 39"/>
            <p:cNvSpPr>
              <a:spLocks noChangeArrowheads="1"/>
            </p:cNvSpPr>
            <p:nvPr/>
          </p:nvSpPr>
          <p:spPr bwMode="auto">
            <a:xfrm>
              <a:off x="1212" y="2538"/>
              <a:ext cx="3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2" name="Rectangle 40"/>
            <p:cNvSpPr>
              <a:spLocks noChangeArrowheads="1"/>
            </p:cNvSpPr>
            <p:nvPr/>
          </p:nvSpPr>
          <p:spPr bwMode="auto">
            <a:xfrm>
              <a:off x="1435" y="1798"/>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3" name="Rectangle 41"/>
            <p:cNvSpPr>
              <a:spLocks noChangeArrowheads="1"/>
            </p:cNvSpPr>
            <p:nvPr/>
          </p:nvSpPr>
          <p:spPr bwMode="auto">
            <a:xfrm>
              <a:off x="1661" y="1587"/>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4" name="Rectangle 42"/>
            <p:cNvSpPr>
              <a:spLocks noChangeArrowheads="1"/>
            </p:cNvSpPr>
            <p:nvPr/>
          </p:nvSpPr>
          <p:spPr bwMode="auto">
            <a:xfrm>
              <a:off x="1885" y="1743"/>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5" name="Rectangle 43"/>
            <p:cNvSpPr>
              <a:spLocks noChangeArrowheads="1"/>
            </p:cNvSpPr>
            <p:nvPr/>
          </p:nvSpPr>
          <p:spPr bwMode="auto">
            <a:xfrm>
              <a:off x="2110" y="1932"/>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6" name="Rectangle 44"/>
            <p:cNvSpPr>
              <a:spLocks noChangeArrowheads="1"/>
            </p:cNvSpPr>
            <p:nvPr/>
          </p:nvSpPr>
          <p:spPr bwMode="auto">
            <a:xfrm>
              <a:off x="2336" y="1644"/>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7" name="Rectangle 45"/>
            <p:cNvSpPr>
              <a:spLocks noChangeArrowheads="1"/>
            </p:cNvSpPr>
            <p:nvPr/>
          </p:nvSpPr>
          <p:spPr bwMode="auto">
            <a:xfrm>
              <a:off x="2561" y="1504"/>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8" name="Rectangle 48"/>
            <p:cNvSpPr>
              <a:spLocks noChangeArrowheads="1"/>
            </p:cNvSpPr>
            <p:nvPr/>
          </p:nvSpPr>
          <p:spPr bwMode="auto">
            <a:xfrm>
              <a:off x="3234" y="1417"/>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79" name="Rectangle 49"/>
            <p:cNvSpPr>
              <a:spLocks noChangeArrowheads="1"/>
            </p:cNvSpPr>
            <p:nvPr/>
          </p:nvSpPr>
          <p:spPr bwMode="auto">
            <a:xfrm>
              <a:off x="3459" y="1284"/>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80" name="Rectangle 50"/>
            <p:cNvSpPr>
              <a:spLocks noChangeArrowheads="1"/>
            </p:cNvSpPr>
            <p:nvPr/>
          </p:nvSpPr>
          <p:spPr bwMode="auto">
            <a:xfrm>
              <a:off x="3684" y="1240"/>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81" name="Rectangle 51"/>
            <p:cNvSpPr>
              <a:spLocks noChangeArrowheads="1"/>
            </p:cNvSpPr>
            <p:nvPr/>
          </p:nvSpPr>
          <p:spPr bwMode="auto">
            <a:xfrm>
              <a:off x="3909" y="1032"/>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82" name="Rectangle 52"/>
            <p:cNvSpPr>
              <a:spLocks noChangeArrowheads="1"/>
            </p:cNvSpPr>
            <p:nvPr/>
          </p:nvSpPr>
          <p:spPr bwMode="auto">
            <a:xfrm>
              <a:off x="4134" y="956"/>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183" name="Rectangle 53"/>
            <p:cNvSpPr>
              <a:spLocks noChangeArrowheads="1"/>
            </p:cNvSpPr>
            <p:nvPr/>
          </p:nvSpPr>
          <p:spPr bwMode="auto">
            <a:xfrm>
              <a:off x="764" y="2828"/>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4" name="Rectangle 54"/>
            <p:cNvSpPr>
              <a:spLocks noChangeArrowheads="1"/>
            </p:cNvSpPr>
            <p:nvPr/>
          </p:nvSpPr>
          <p:spPr bwMode="auto">
            <a:xfrm>
              <a:off x="989" y="2760"/>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5" name="Rectangle 55"/>
            <p:cNvSpPr>
              <a:spLocks noChangeArrowheads="1"/>
            </p:cNvSpPr>
            <p:nvPr/>
          </p:nvSpPr>
          <p:spPr bwMode="auto">
            <a:xfrm>
              <a:off x="1214" y="2674"/>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6" name="Rectangle 56"/>
            <p:cNvSpPr>
              <a:spLocks noChangeArrowheads="1"/>
            </p:cNvSpPr>
            <p:nvPr/>
          </p:nvSpPr>
          <p:spPr bwMode="auto">
            <a:xfrm>
              <a:off x="1440" y="2606"/>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7" name="Rectangle 57"/>
            <p:cNvSpPr>
              <a:spLocks noChangeArrowheads="1"/>
            </p:cNvSpPr>
            <p:nvPr/>
          </p:nvSpPr>
          <p:spPr bwMode="auto">
            <a:xfrm>
              <a:off x="1665" y="255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8" name="Rectangle 58"/>
            <p:cNvSpPr>
              <a:spLocks noChangeArrowheads="1"/>
            </p:cNvSpPr>
            <p:nvPr/>
          </p:nvSpPr>
          <p:spPr bwMode="auto">
            <a:xfrm>
              <a:off x="1889" y="2523"/>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89" name="Rectangle 59"/>
            <p:cNvSpPr>
              <a:spLocks noChangeArrowheads="1"/>
            </p:cNvSpPr>
            <p:nvPr/>
          </p:nvSpPr>
          <p:spPr bwMode="auto">
            <a:xfrm>
              <a:off x="2113" y="2393"/>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0" name="Rectangle 60"/>
            <p:cNvSpPr>
              <a:spLocks noChangeArrowheads="1"/>
            </p:cNvSpPr>
            <p:nvPr/>
          </p:nvSpPr>
          <p:spPr bwMode="auto">
            <a:xfrm>
              <a:off x="2338" y="2119"/>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1" name="Rectangle 61"/>
            <p:cNvSpPr>
              <a:spLocks noChangeArrowheads="1"/>
            </p:cNvSpPr>
            <p:nvPr/>
          </p:nvSpPr>
          <p:spPr bwMode="auto">
            <a:xfrm>
              <a:off x="2563" y="1909"/>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2" name="Rectangle 62"/>
            <p:cNvSpPr>
              <a:spLocks noChangeArrowheads="1"/>
            </p:cNvSpPr>
            <p:nvPr/>
          </p:nvSpPr>
          <p:spPr bwMode="auto">
            <a:xfrm>
              <a:off x="2789" y="1851"/>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3" name="Rectangle 63"/>
            <p:cNvSpPr>
              <a:spLocks noChangeArrowheads="1"/>
            </p:cNvSpPr>
            <p:nvPr/>
          </p:nvSpPr>
          <p:spPr bwMode="auto">
            <a:xfrm>
              <a:off x="3013" y="1818"/>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4" name="Rectangle 64"/>
            <p:cNvSpPr>
              <a:spLocks noChangeArrowheads="1"/>
            </p:cNvSpPr>
            <p:nvPr/>
          </p:nvSpPr>
          <p:spPr bwMode="auto">
            <a:xfrm>
              <a:off x="3238" y="168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5" name="Rectangle 65"/>
            <p:cNvSpPr>
              <a:spLocks noChangeArrowheads="1"/>
            </p:cNvSpPr>
            <p:nvPr/>
          </p:nvSpPr>
          <p:spPr bwMode="auto">
            <a:xfrm>
              <a:off x="3463" y="149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6" name="Rectangle 66"/>
            <p:cNvSpPr>
              <a:spLocks noChangeArrowheads="1"/>
            </p:cNvSpPr>
            <p:nvPr/>
          </p:nvSpPr>
          <p:spPr bwMode="auto">
            <a:xfrm>
              <a:off x="3689" y="1450"/>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7" name="Rectangle 67"/>
            <p:cNvSpPr>
              <a:spLocks noChangeArrowheads="1"/>
            </p:cNvSpPr>
            <p:nvPr/>
          </p:nvSpPr>
          <p:spPr bwMode="auto">
            <a:xfrm>
              <a:off x="3912" y="1264"/>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8" name="Rectangle 68"/>
            <p:cNvSpPr>
              <a:spLocks noChangeArrowheads="1"/>
            </p:cNvSpPr>
            <p:nvPr/>
          </p:nvSpPr>
          <p:spPr bwMode="auto">
            <a:xfrm>
              <a:off x="4136" y="90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199" name="Rectangle 69"/>
            <p:cNvSpPr>
              <a:spLocks noChangeArrowheads="1"/>
            </p:cNvSpPr>
            <p:nvPr/>
          </p:nvSpPr>
          <p:spPr bwMode="auto">
            <a:xfrm>
              <a:off x="766" y="281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0" name="Rectangle 70"/>
            <p:cNvSpPr>
              <a:spLocks noChangeArrowheads="1"/>
            </p:cNvSpPr>
            <p:nvPr/>
          </p:nvSpPr>
          <p:spPr bwMode="auto">
            <a:xfrm>
              <a:off x="991" y="2780"/>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1" name="Rectangle 71"/>
            <p:cNvSpPr>
              <a:spLocks noChangeArrowheads="1"/>
            </p:cNvSpPr>
            <p:nvPr/>
          </p:nvSpPr>
          <p:spPr bwMode="auto">
            <a:xfrm>
              <a:off x="1214" y="277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2" name="Rectangle 72"/>
            <p:cNvSpPr>
              <a:spLocks noChangeArrowheads="1"/>
            </p:cNvSpPr>
            <p:nvPr/>
          </p:nvSpPr>
          <p:spPr bwMode="auto">
            <a:xfrm>
              <a:off x="1440" y="2765"/>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3" name="Rectangle 73"/>
            <p:cNvSpPr>
              <a:spLocks noChangeArrowheads="1"/>
            </p:cNvSpPr>
            <p:nvPr/>
          </p:nvSpPr>
          <p:spPr bwMode="auto">
            <a:xfrm>
              <a:off x="1665" y="264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4" name="Rectangle 74"/>
            <p:cNvSpPr>
              <a:spLocks noChangeArrowheads="1"/>
            </p:cNvSpPr>
            <p:nvPr/>
          </p:nvSpPr>
          <p:spPr bwMode="auto">
            <a:xfrm>
              <a:off x="1889" y="253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5" name="Rectangle 75"/>
            <p:cNvSpPr>
              <a:spLocks noChangeArrowheads="1"/>
            </p:cNvSpPr>
            <p:nvPr/>
          </p:nvSpPr>
          <p:spPr bwMode="auto">
            <a:xfrm>
              <a:off x="2115" y="2422"/>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6" name="Rectangle 76"/>
            <p:cNvSpPr>
              <a:spLocks noChangeArrowheads="1"/>
            </p:cNvSpPr>
            <p:nvPr/>
          </p:nvSpPr>
          <p:spPr bwMode="auto">
            <a:xfrm>
              <a:off x="2340" y="226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7" name="Rectangle 77"/>
            <p:cNvSpPr>
              <a:spLocks noChangeArrowheads="1"/>
            </p:cNvSpPr>
            <p:nvPr/>
          </p:nvSpPr>
          <p:spPr bwMode="auto">
            <a:xfrm>
              <a:off x="2565" y="2111"/>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8" name="Rectangle 78"/>
            <p:cNvSpPr>
              <a:spLocks noChangeArrowheads="1"/>
            </p:cNvSpPr>
            <p:nvPr/>
          </p:nvSpPr>
          <p:spPr bwMode="auto">
            <a:xfrm>
              <a:off x="2789" y="201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09" name="Rectangle 79"/>
            <p:cNvSpPr>
              <a:spLocks noChangeArrowheads="1"/>
            </p:cNvSpPr>
            <p:nvPr/>
          </p:nvSpPr>
          <p:spPr bwMode="auto">
            <a:xfrm>
              <a:off x="3013" y="1970"/>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0" name="Rectangle 80"/>
            <p:cNvSpPr>
              <a:spLocks noChangeArrowheads="1"/>
            </p:cNvSpPr>
            <p:nvPr/>
          </p:nvSpPr>
          <p:spPr bwMode="auto">
            <a:xfrm>
              <a:off x="3238" y="18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1" name="Rectangle 81"/>
            <p:cNvSpPr>
              <a:spLocks noChangeArrowheads="1"/>
            </p:cNvSpPr>
            <p:nvPr/>
          </p:nvSpPr>
          <p:spPr bwMode="auto">
            <a:xfrm>
              <a:off x="3463" y="1680"/>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2" name="Rectangle 82"/>
            <p:cNvSpPr>
              <a:spLocks noChangeArrowheads="1"/>
            </p:cNvSpPr>
            <p:nvPr/>
          </p:nvSpPr>
          <p:spPr bwMode="auto">
            <a:xfrm>
              <a:off x="3689" y="1622"/>
              <a:ext cx="4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3" name="Rectangle 83"/>
            <p:cNvSpPr>
              <a:spLocks noChangeArrowheads="1"/>
            </p:cNvSpPr>
            <p:nvPr/>
          </p:nvSpPr>
          <p:spPr bwMode="auto">
            <a:xfrm>
              <a:off x="3914" y="1443"/>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4" name="Rectangle 84"/>
            <p:cNvSpPr>
              <a:spLocks noChangeArrowheads="1"/>
            </p:cNvSpPr>
            <p:nvPr/>
          </p:nvSpPr>
          <p:spPr bwMode="auto">
            <a:xfrm>
              <a:off x="4138" y="1094"/>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15" name="Rectangle 85"/>
            <p:cNvSpPr>
              <a:spLocks noChangeArrowheads="1"/>
            </p:cNvSpPr>
            <p:nvPr/>
          </p:nvSpPr>
          <p:spPr bwMode="auto">
            <a:xfrm>
              <a:off x="764" y="2824"/>
              <a:ext cx="6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endParaRPr lang="en-US" altLang="zh-CN" sz="2400" b="0">
                <a:latin typeface="Times New Roman" panose="02020603050405020304" pitchFamily="18" charset="0"/>
                <a:ea typeface="宋体" panose="02010600030101010101" pitchFamily="2" charset="-122"/>
              </a:endParaRPr>
            </a:p>
          </p:txBody>
        </p:sp>
        <p:sp>
          <p:nvSpPr>
            <p:cNvPr id="216" name="Rectangle 86"/>
            <p:cNvSpPr>
              <a:spLocks noChangeArrowheads="1"/>
            </p:cNvSpPr>
            <p:nvPr/>
          </p:nvSpPr>
          <p:spPr bwMode="auto">
            <a:xfrm>
              <a:off x="989"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17" name="Rectangle 87"/>
            <p:cNvSpPr>
              <a:spLocks noChangeArrowheads="1"/>
            </p:cNvSpPr>
            <p:nvPr/>
          </p:nvSpPr>
          <p:spPr bwMode="auto">
            <a:xfrm>
              <a:off x="2027" y="3024"/>
              <a:ext cx="137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pPr algn="ctr"/>
              <a:r>
                <a:rPr lang="en-US" altLang="zh-CN" sz="1200" b="0">
                  <a:solidFill>
                    <a:srgbClr val="000000"/>
                  </a:solidFill>
                  <a:ea typeface="宋体" panose="02010600030101010101" pitchFamily="2" charset="-122"/>
                  <a:cs typeface="Arial" panose="020B0604020202020204" pitchFamily="34" charset="0"/>
                </a:rPr>
                <a:t>Number of processors</a:t>
              </a:r>
              <a:endParaRPr lang="en-US" altLang="zh-CN" sz="1200" b="0">
                <a:ea typeface="宋体" panose="02010600030101010101" pitchFamily="2" charset="-122"/>
                <a:cs typeface="Arial" panose="020B0604020202020204" pitchFamily="34" charset="0"/>
              </a:endParaRPr>
            </a:p>
          </p:txBody>
        </p:sp>
        <p:sp>
          <p:nvSpPr>
            <p:cNvPr id="218" name="Rectangle 89"/>
            <p:cNvSpPr>
              <a:spLocks noChangeArrowheads="1"/>
            </p:cNvSpPr>
            <p:nvPr/>
          </p:nvSpPr>
          <p:spPr bwMode="auto">
            <a:xfrm rot="-5400000">
              <a:off x="375" y="1698"/>
              <a:ext cx="40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cs typeface="Arial" panose="020B0604020202020204" pitchFamily="34" charset="0"/>
                </a:rPr>
                <a:t>Time (us)</a:t>
              </a:r>
              <a:endParaRPr lang="en-US" altLang="zh-CN" sz="1200" b="0">
                <a:ea typeface="宋体" panose="02010600030101010101" pitchFamily="2" charset="-122"/>
                <a:cs typeface="Arial" panose="020B0604020202020204" pitchFamily="34" charset="0"/>
              </a:endParaRPr>
            </a:p>
          </p:txBody>
        </p:sp>
        <p:sp>
          <p:nvSpPr>
            <p:cNvPr id="219" name="Rectangle 92"/>
            <p:cNvSpPr>
              <a:spLocks noChangeArrowheads="1"/>
            </p:cNvSpPr>
            <p:nvPr/>
          </p:nvSpPr>
          <p:spPr bwMode="auto">
            <a:xfrm>
              <a:off x="2998" y="2902"/>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11</a:t>
              </a:r>
              <a:endParaRPr lang="en-US" altLang="zh-CN" sz="2400" b="0">
                <a:latin typeface="Times New Roman" panose="02020603050405020304" pitchFamily="18" charset="0"/>
                <a:ea typeface="宋体" panose="02010600030101010101" pitchFamily="2" charset="-122"/>
              </a:endParaRPr>
            </a:p>
          </p:txBody>
        </p:sp>
        <p:sp>
          <p:nvSpPr>
            <p:cNvPr id="220" name="Rectangle 93"/>
            <p:cNvSpPr>
              <a:spLocks noChangeArrowheads="1"/>
            </p:cNvSpPr>
            <p:nvPr/>
          </p:nvSpPr>
          <p:spPr bwMode="auto">
            <a:xfrm>
              <a:off x="3448" y="2902"/>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13</a:t>
              </a:r>
              <a:endParaRPr lang="en-US" altLang="zh-CN" sz="2400" b="0">
                <a:latin typeface="Times New Roman" panose="02020603050405020304" pitchFamily="18" charset="0"/>
                <a:ea typeface="宋体" panose="02010600030101010101" pitchFamily="2" charset="-122"/>
              </a:endParaRPr>
            </a:p>
          </p:txBody>
        </p:sp>
        <p:sp>
          <p:nvSpPr>
            <p:cNvPr id="221" name="Rectangle 94"/>
            <p:cNvSpPr>
              <a:spLocks noChangeArrowheads="1"/>
            </p:cNvSpPr>
            <p:nvPr/>
          </p:nvSpPr>
          <p:spPr bwMode="auto">
            <a:xfrm>
              <a:off x="3896" y="2902"/>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15</a:t>
              </a:r>
              <a:endParaRPr lang="en-US" altLang="zh-CN" sz="2400" b="0">
                <a:latin typeface="Times New Roman" panose="02020603050405020304" pitchFamily="18" charset="0"/>
                <a:ea typeface="宋体" panose="02010600030101010101" pitchFamily="2" charset="-122"/>
              </a:endParaRPr>
            </a:p>
          </p:txBody>
        </p:sp>
        <p:sp>
          <p:nvSpPr>
            <p:cNvPr id="222" name="Rectangle 95"/>
            <p:cNvSpPr>
              <a:spLocks noChangeArrowheads="1"/>
            </p:cNvSpPr>
            <p:nvPr/>
          </p:nvSpPr>
          <p:spPr bwMode="auto">
            <a:xfrm>
              <a:off x="715" y="2847"/>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223" name="Rectangle 96"/>
            <p:cNvSpPr>
              <a:spLocks noChangeArrowheads="1"/>
            </p:cNvSpPr>
            <p:nvPr/>
          </p:nvSpPr>
          <p:spPr bwMode="auto">
            <a:xfrm>
              <a:off x="715" y="2645"/>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224" name="Rectangle 97"/>
            <p:cNvSpPr>
              <a:spLocks noChangeArrowheads="1"/>
            </p:cNvSpPr>
            <p:nvPr/>
          </p:nvSpPr>
          <p:spPr bwMode="auto">
            <a:xfrm>
              <a:off x="715" y="244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4</a:t>
              </a:r>
              <a:endParaRPr lang="en-US" altLang="zh-CN" sz="2400" b="0">
                <a:latin typeface="Times New Roman" panose="02020603050405020304" pitchFamily="18" charset="0"/>
                <a:ea typeface="宋体" panose="02010600030101010101" pitchFamily="2" charset="-122"/>
              </a:endParaRPr>
            </a:p>
          </p:txBody>
        </p:sp>
        <p:sp>
          <p:nvSpPr>
            <p:cNvPr id="225" name="Rectangle 98"/>
            <p:cNvSpPr>
              <a:spLocks noChangeArrowheads="1"/>
            </p:cNvSpPr>
            <p:nvPr/>
          </p:nvSpPr>
          <p:spPr bwMode="auto">
            <a:xfrm>
              <a:off x="715" y="224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6</a:t>
              </a:r>
              <a:endParaRPr lang="en-US" altLang="zh-CN" sz="2400" b="0">
                <a:latin typeface="Times New Roman" panose="02020603050405020304" pitchFamily="18" charset="0"/>
                <a:ea typeface="宋体" panose="02010600030101010101" pitchFamily="2" charset="-122"/>
              </a:endParaRPr>
            </a:p>
          </p:txBody>
        </p:sp>
        <p:sp>
          <p:nvSpPr>
            <p:cNvPr id="226" name="Rectangle 99"/>
            <p:cNvSpPr>
              <a:spLocks noChangeArrowheads="1"/>
            </p:cNvSpPr>
            <p:nvPr/>
          </p:nvSpPr>
          <p:spPr bwMode="auto">
            <a:xfrm>
              <a:off x="715" y="2043"/>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8</a:t>
              </a:r>
              <a:endParaRPr lang="en-US" altLang="zh-CN" sz="2400" b="0">
                <a:latin typeface="Times New Roman" panose="02020603050405020304" pitchFamily="18" charset="0"/>
                <a:ea typeface="宋体" panose="02010600030101010101" pitchFamily="2" charset="-122"/>
              </a:endParaRPr>
            </a:p>
          </p:txBody>
        </p:sp>
        <p:sp>
          <p:nvSpPr>
            <p:cNvPr id="227" name="Rectangle 100"/>
            <p:cNvSpPr>
              <a:spLocks noChangeArrowheads="1"/>
            </p:cNvSpPr>
            <p:nvPr/>
          </p:nvSpPr>
          <p:spPr bwMode="auto">
            <a:xfrm>
              <a:off x="675" y="1841"/>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10</a:t>
              </a:r>
              <a:endParaRPr lang="en-US" altLang="zh-CN" sz="2400" b="0">
                <a:latin typeface="Times New Roman" panose="02020603050405020304" pitchFamily="18" charset="0"/>
                <a:ea typeface="宋体" panose="02010600030101010101" pitchFamily="2" charset="-122"/>
              </a:endParaRPr>
            </a:p>
          </p:txBody>
        </p:sp>
        <p:sp>
          <p:nvSpPr>
            <p:cNvPr id="228" name="Rectangle 101"/>
            <p:cNvSpPr>
              <a:spLocks noChangeArrowheads="1"/>
            </p:cNvSpPr>
            <p:nvPr/>
          </p:nvSpPr>
          <p:spPr bwMode="auto">
            <a:xfrm>
              <a:off x="675" y="1639"/>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12</a:t>
              </a:r>
              <a:endParaRPr lang="en-US" altLang="zh-CN" sz="2400" b="0">
                <a:latin typeface="Times New Roman" panose="02020603050405020304" pitchFamily="18" charset="0"/>
                <a:ea typeface="宋体" panose="02010600030101010101" pitchFamily="2" charset="-122"/>
              </a:endParaRPr>
            </a:p>
          </p:txBody>
        </p:sp>
        <p:sp>
          <p:nvSpPr>
            <p:cNvPr id="229" name="Rectangle 102"/>
            <p:cNvSpPr>
              <a:spLocks noChangeArrowheads="1"/>
            </p:cNvSpPr>
            <p:nvPr/>
          </p:nvSpPr>
          <p:spPr bwMode="auto">
            <a:xfrm>
              <a:off x="675" y="1440"/>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14</a:t>
              </a:r>
              <a:endParaRPr lang="en-US" altLang="zh-CN" sz="2400" b="0">
                <a:latin typeface="Times New Roman" panose="02020603050405020304" pitchFamily="18" charset="0"/>
                <a:ea typeface="宋体" panose="02010600030101010101" pitchFamily="2" charset="-122"/>
              </a:endParaRPr>
            </a:p>
          </p:txBody>
        </p:sp>
        <p:sp>
          <p:nvSpPr>
            <p:cNvPr id="230" name="Rectangle 103"/>
            <p:cNvSpPr>
              <a:spLocks noChangeArrowheads="1"/>
            </p:cNvSpPr>
            <p:nvPr/>
          </p:nvSpPr>
          <p:spPr bwMode="auto">
            <a:xfrm>
              <a:off x="675" y="1239"/>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16</a:t>
              </a:r>
              <a:endParaRPr lang="en-US" altLang="zh-CN" sz="2400" b="0">
                <a:latin typeface="Times New Roman" panose="02020603050405020304" pitchFamily="18" charset="0"/>
                <a:ea typeface="宋体" panose="02010600030101010101" pitchFamily="2" charset="-122"/>
              </a:endParaRPr>
            </a:p>
          </p:txBody>
        </p:sp>
        <p:sp>
          <p:nvSpPr>
            <p:cNvPr id="231" name="Rectangle 104"/>
            <p:cNvSpPr>
              <a:spLocks noChangeArrowheads="1"/>
            </p:cNvSpPr>
            <p:nvPr/>
          </p:nvSpPr>
          <p:spPr bwMode="auto">
            <a:xfrm>
              <a:off x="675" y="1036"/>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18</a:t>
              </a:r>
              <a:endParaRPr lang="en-US" altLang="zh-CN" sz="2400" b="0">
                <a:latin typeface="Times New Roman" panose="02020603050405020304" pitchFamily="18" charset="0"/>
                <a:ea typeface="宋体" panose="02010600030101010101" pitchFamily="2" charset="-122"/>
              </a:endParaRPr>
            </a:p>
          </p:txBody>
        </p:sp>
        <p:sp>
          <p:nvSpPr>
            <p:cNvPr id="232" name="Rectangle 105"/>
            <p:cNvSpPr>
              <a:spLocks noChangeArrowheads="1"/>
            </p:cNvSpPr>
            <p:nvPr/>
          </p:nvSpPr>
          <p:spPr bwMode="auto">
            <a:xfrm>
              <a:off x="675" y="835"/>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20</a:t>
              </a:r>
              <a:endParaRPr lang="en-US" altLang="zh-CN" sz="2400" b="0">
                <a:latin typeface="Times New Roman" panose="02020603050405020304" pitchFamily="18" charset="0"/>
                <a:ea typeface="宋体" panose="02010600030101010101" pitchFamily="2" charset="-122"/>
              </a:endParaRPr>
            </a:p>
          </p:txBody>
        </p:sp>
        <p:grpSp>
          <p:nvGrpSpPr>
            <p:cNvPr id="233" name="Group 135"/>
            <p:cNvGrpSpPr>
              <a:grpSpLocks/>
            </p:cNvGrpSpPr>
            <p:nvPr/>
          </p:nvGrpSpPr>
          <p:grpSpPr bwMode="auto">
            <a:xfrm>
              <a:off x="922" y="835"/>
              <a:ext cx="1968" cy="547"/>
              <a:chOff x="2418" y="835"/>
              <a:chExt cx="2142" cy="547"/>
            </a:xfrm>
          </p:grpSpPr>
          <p:sp>
            <p:nvSpPr>
              <p:cNvPr id="255" name="Freeform 106"/>
              <p:cNvSpPr>
                <a:spLocks/>
              </p:cNvSpPr>
              <p:nvPr/>
            </p:nvSpPr>
            <p:spPr bwMode="auto">
              <a:xfrm>
                <a:off x="2418" y="872"/>
                <a:ext cx="1675" cy="410"/>
              </a:xfrm>
              <a:custGeom>
                <a:avLst/>
                <a:gdLst>
                  <a:gd name="T0" fmla="*/ 0 w 1546"/>
                  <a:gd name="T1" fmla="*/ 0 h 461"/>
                  <a:gd name="T2" fmla="*/ 1966 w 1546"/>
                  <a:gd name="T3" fmla="*/ 2 h 461"/>
                  <a:gd name="T4" fmla="*/ 1966 w 1546"/>
                  <a:gd name="T5" fmla="*/ 325 h 461"/>
                  <a:gd name="T6" fmla="*/ 0 w 1546"/>
                  <a:gd name="T7" fmla="*/ 325 h 461"/>
                  <a:gd name="T8" fmla="*/ 0 w 1546"/>
                  <a:gd name="T9" fmla="*/ 2 h 461"/>
                  <a:gd name="T10" fmla="*/ 0 w 1546"/>
                  <a:gd name="T11" fmla="*/ 0 h 46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6" h="461">
                    <a:moveTo>
                      <a:pt x="0" y="0"/>
                    </a:moveTo>
                    <a:lnTo>
                      <a:pt x="1546" y="2"/>
                    </a:lnTo>
                    <a:lnTo>
                      <a:pt x="1546" y="461"/>
                    </a:lnTo>
                    <a:lnTo>
                      <a:pt x="0" y="461"/>
                    </a:lnTo>
                    <a:lnTo>
                      <a:pt x="0" y="2"/>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 name="Freeform 107"/>
              <p:cNvSpPr>
                <a:spLocks/>
              </p:cNvSpPr>
              <p:nvPr/>
            </p:nvSpPr>
            <p:spPr bwMode="auto">
              <a:xfrm>
                <a:off x="2429" y="835"/>
                <a:ext cx="2131" cy="547"/>
              </a:xfrm>
              <a:custGeom>
                <a:avLst/>
                <a:gdLst>
                  <a:gd name="T0" fmla="*/ 0 w 1546"/>
                  <a:gd name="T1" fmla="*/ 0 h 461"/>
                  <a:gd name="T2" fmla="*/ 4048 w 1546"/>
                  <a:gd name="T3" fmla="*/ 2 h 461"/>
                  <a:gd name="T4" fmla="*/ 4048 w 1546"/>
                  <a:gd name="T5" fmla="*/ 770 h 461"/>
                  <a:gd name="T6" fmla="*/ 0 w 1546"/>
                  <a:gd name="T7" fmla="*/ 770 h 461"/>
                  <a:gd name="T8" fmla="*/ 0 w 1546"/>
                  <a:gd name="T9" fmla="*/ 2 h 4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6" h="461">
                    <a:moveTo>
                      <a:pt x="0" y="0"/>
                    </a:moveTo>
                    <a:lnTo>
                      <a:pt x="1546" y="2"/>
                    </a:lnTo>
                    <a:lnTo>
                      <a:pt x="1546" y="461"/>
                    </a:lnTo>
                    <a:lnTo>
                      <a:pt x="0" y="461"/>
                    </a:lnTo>
                    <a:lnTo>
                      <a:pt x="0" y="2"/>
                    </a:lnTo>
                  </a:path>
                </a:pathLst>
              </a:custGeom>
              <a:solidFill>
                <a:schemeClr val="bg1"/>
              </a:solidFill>
              <a:ln w="6350">
                <a:solidFill>
                  <a:srgbClr val="000000"/>
                </a:solidFill>
                <a:prstDash val="solid"/>
                <a:round/>
                <a:headEnd/>
                <a:tailEnd/>
              </a:ln>
            </p:spPr>
            <p:txBody>
              <a:bodyPr/>
              <a:lstStyle/>
              <a:p>
                <a:endParaRPr lang="zh-CN" altLang="en-US"/>
              </a:p>
            </p:txBody>
          </p:sp>
          <p:sp>
            <p:nvSpPr>
              <p:cNvPr id="257" name="Line 108"/>
              <p:cNvSpPr>
                <a:spLocks noChangeShapeType="1"/>
              </p:cNvSpPr>
              <p:nvPr/>
            </p:nvSpPr>
            <p:spPr bwMode="auto">
              <a:xfrm>
                <a:off x="2499" y="951"/>
                <a:ext cx="14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Rectangle 109"/>
              <p:cNvSpPr>
                <a:spLocks noChangeArrowheads="1"/>
              </p:cNvSpPr>
              <p:nvPr/>
            </p:nvSpPr>
            <p:spPr bwMode="auto">
              <a:xfrm>
                <a:off x="2544" y="874"/>
                <a:ext cx="29"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latin typeface="Monotype Sorts" pitchFamily="2" charset="2"/>
                    <a:ea typeface="宋体" panose="02010600030101010101" pitchFamily="2" charset="-122"/>
                  </a:rPr>
                  <a:t>s</a:t>
                </a:r>
                <a:endParaRPr lang="en-US" altLang="zh-CN" sz="1400" b="0">
                  <a:latin typeface="Times New Roman" panose="02020603050405020304" pitchFamily="18" charset="0"/>
                  <a:ea typeface="宋体" panose="02010600030101010101" pitchFamily="2" charset="-122"/>
                </a:endParaRPr>
              </a:p>
            </p:txBody>
          </p:sp>
          <p:sp>
            <p:nvSpPr>
              <p:cNvPr id="259" name="Rectangle 111"/>
              <p:cNvSpPr>
                <a:spLocks noChangeArrowheads="1"/>
              </p:cNvSpPr>
              <p:nvPr/>
            </p:nvSpPr>
            <p:spPr bwMode="auto">
              <a:xfrm>
                <a:off x="2696" y="864"/>
                <a:ext cx="700" cy="1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cs typeface="Arial" panose="020B0604020202020204" pitchFamily="34" charset="0"/>
                  </a:rPr>
                  <a:t>Test&amp;set, c = 0</a:t>
                </a:r>
                <a:endParaRPr lang="en-US" altLang="zh-CN" sz="1200" b="0">
                  <a:ea typeface="宋体" panose="02010600030101010101" pitchFamily="2" charset="-122"/>
                  <a:cs typeface="Arial" panose="020B0604020202020204" pitchFamily="34" charset="0"/>
                </a:endParaRPr>
              </a:p>
            </p:txBody>
          </p:sp>
          <p:sp>
            <p:nvSpPr>
              <p:cNvPr id="260" name="Line 114"/>
              <p:cNvSpPr>
                <a:spLocks noChangeShapeType="1"/>
              </p:cNvSpPr>
              <p:nvPr/>
            </p:nvSpPr>
            <p:spPr bwMode="auto">
              <a:xfrm>
                <a:off x="2499" y="1070"/>
                <a:ext cx="149"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 name="Rectangle 115"/>
              <p:cNvSpPr>
                <a:spLocks noChangeArrowheads="1"/>
              </p:cNvSpPr>
              <p:nvPr/>
            </p:nvSpPr>
            <p:spPr bwMode="auto">
              <a:xfrm>
                <a:off x="2548" y="1037"/>
                <a:ext cx="51" cy="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l</a:t>
                </a:r>
                <a:endParaRPr lang="en-US" altLang="zh-CN" sz="2400" b="0">
                  <a:latin typeface="Times New Roman" panose="02020603050405020304" pitchFamily="18" charset="0"/>
                  <a:ea typeface="宋体" panose="02010600030101010101" pitchFamily="2" charset="-122"/>
                </a:endParaRPr>
              </a:p>
            </p:txBody>
          </p:sp>
          <p:sp>
            <p:nvSpPr>
              <p:cNvPr id="262" name="Rectangle 117"/>
              <p:cNvSpPr>
                <a:spLocks noChangeArrowheads="1"/>
              </p:cNvSpPr>
              <p:nvPr/>
            </p:nvSpPr>
            <p:spPr bwMode="auto">
              <a:xfrm>
                <a:off x="2688" y="1000"/>
                <a:ext cx="1801" cy="1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cs typeface="Arial" panose="020B0604020202020204" pitchFamily="34" charset="0"/>
                  </a:rPr>
                  <a:t>Test&amp;set, exponential backoff, c = 3.64</a:t>
                </a:r>
                <a:endParaRPr lang="en-US" altLang="zh-CN" sz="1200" b="0">
                  <a:ea typeface="宋体" panose="02010600030101010101" pitchFamily="2" charset="-122"/>
                  <a:cs typeface="Arial" panose="020B0604020202020204" pitchFamily="34" charset="0"/>
                </a:endParaRPr>
              </a:p>
            </p:txBody>
          </p:sp>
          <p:sp>
            <p:nvSpPr>
              <p:cNvPr id="263" name="Line 121"/>
              <p:cNvSpPr>
                <a:spLocks noChangeShapeType="1"/>
              </p:cNvSpPr>
              <p:nvPr/>
            </p:nvSpPr>
            <p:spPr bwMode="auto">
              <a:xfrm>
                <a:off x="2499" y="1188"/>
                <a:ext cx="1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Rectangle 122"/>
              <p:cNvSpPr>
                <a:spLocks noChangeArrowheads="1"/>
              </p:cNvSpPr>
              <p:nvPr/>
            </p:nvSpPr>
            <p:spPr bwMode="auto">
              <a:xfrm>
                <a:off x="2548" y="1152"/>
                <a:ext cx="51" cy="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n</a:t>
                </a:r>
                <a:endParaRPr lang="en-US" altLang="zh-CN" sz="2400" b="0">
                  <a:latin typeface="Times New Roman" panose="02020603050405020304" pitchFamily="18" charset="0"/>
                  <a:ea typeface="宋体" panose="02010600030101010101" pitchFamily="2" charset="-122"/>
                </a:endParaRPr>
              </a:p>
            </p:txBody>
          </p:sp>
          <p:sp>
            <p:nvSpPr>
              <p:cNvPr id="265" name="Rectangle 124"/>
              <p:cNvSpPr>
                <a:spLocks noChangeArrowheads="1"/>
              </p:cNvSpPr>
              <p:nvPr/>
            </p:nvSpPr>
            <p:spPr bwMode="auto">
              <a:xfrm>
                <a:off x="2692" y="1123"/>
                <a:ext cx="1657" cy="1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dirty="0" err="1">
                    <a:solidFill>
                      <a:srgbClr val="000000"/>
                    </a:solidFill>
                    <a:ea typeface="宋体" panose="02010600030101010101" pitchFamily="2" charset="-122"/>
                    <a:cs typeface="Arial" panose="020B0604020202020204" pitchFamily="34" charset="0"/>
                  </a:rPr>
                  <a:t>Test&amp;set</a:t>
                </a:r>
                <a:r>
                  <a:rPr lang="en-US" altLang="zh-CN" sz="1200" b="0" dirty="0">
                    <a:solidFill>
                      <a:srgbClr val="000000"/>
                    </a:solidFill>
                    <a:ea typeface="宋体" panose="02010600030101010101" pitchFamily="2" charset="-122"/>
                    <a:cs typeface="Arial" panose="020B0604020202020204" pitchFamily="34" charset="0"/>
                  </a:rPr>
                  <a:t>, exponential </a:t>
                </a:r>
                <a:r>
                  <a:rPr lang="en-US" altLang="zh-CN" sz="1200" b="0" dirty="0" err="1">
                    <a:solidFill>
                      <a:srgbClr val="000000"/>
                    </a:solidFill>
                    <a:ea typeface="宋体" panose="02010600030101010101" pitchFamily="2" charset="-122"/>
                    <a:cs typeface="Arial" panose="020B0604020202020204" pitchFamily="34" charset="0"/>
                  </a:rPr>
                  <a:t>backoff</a:t>
                </a:r>
                <a:r>
                  <a:rPr lang="en-US" altLang="zh-CN" sz="1200" b="0" dirty="0">
                    <a:solidFill>
                      <a:srgbClr val="000000"/>
                    </a:solidFill>
                    <a:ea typeface="宋体" panose="02010600030101010101" pitchFamily="2" charset="-122"/>
                    <a:cs typeface="Arial" panose="020B0604020202020204" pitchFamily="34" charset="0"/>
                  </a:rPr>
                  <a:t>, c = 0</a:t>
                </a:r>
                <a:endParaRPr lang="en-US" altLang="zh-CN" sz="1200" b="0" dirty="0">
                  <a:ea typeface="宋体" panose="02010600030101010101" pitchFamily="2" charset="-122"/>
                  <a:cs typeface="Arial" panose="020B0604020202020204" pitchFamily="34" charset="0"/>
                </a:endParaRPr>
              </a:p>
            </p:txBody>
          </p:sp>
          <p:sp>
            <p:nvSpPr>
              <p:cNvPr id="266" name="Line 128"/>
              <p:cNvSpPr>
                <a:spLocks noChangeShapeType="1"/>
              </p:cNvSpPr>
              <p:nvPr/>
            </p:nvSpPr>
            <p:spPr bwMode="auto">
              <a:xfrm>
                <a:off x="2499" y="1324"/>
                <a:ext cx="14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Rectangle 129"/>
              <p:cNvSpPr>
                <a:spLocks noChangeArrowheads="1"/>
              </p:cNvSpPr>
              <p:nvPr/>
            </p:nvSpPr>
            <p:spPr bwMode="auto">
              <a:xfrm>
                <a:off x="2548" y="1277"/>
                <a:ext cx="67" cy="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endParaRPr lang="en-US" altLang="zh-CN" sz="2400" b="0">
                  <a:latin typeface="Times New Roman" panose="02020603050405020304" pitchFamily="18" charset="0"/>
                  <a:ea typeface="宋体" panose="02010600030101010101" pitchFamily="2" charset="-122"/>
                </a:endParaRPr>
              </a:p>
            </p:txBody>
          </p:sp>
          <p:sp>
            <p:nvSpPr>
              <p:cNvPr id="268" name="Rectangle 130"/>
              <p:cNvSpPr>
                <a:spLocks noChangeArrowheads="1"/>
              </p:cNvSpPr>
              <p:nvPr/>
            </p:nvSpPr>
            <p:spPr bwMode="auto">
              <a:xfrm>
                <a:off x="2688" y="1239"/>
                <a:ext cx="225" cy="1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ea typeface="宋体" panose="02010600030101010101" pitchFamily="2" charset="-122"/>
                    <a:cs typeface="Arial" panose="020B0604020202020204" pitchFamily="34" charset="0"/>
                  </a:rPr>
                  <a:t>Ideal</a:t>
                </a:r>
                <a:endParaRPr lang="en-US" altLang="zh-CN" sz="1200" b="0">
                  <a:ea typeface="宋体" panose="02010600030101010101" pitchFamily="2" charset="-122"/>
                  <a:cs typeface="Arial" panose="020B0604020202020204" pitchFamily="34" charset="0"/>
                </a:endParaRPr>
              </a:p>
            </p:txBody>
          </p:sp>
        </p:grpSp>
        <p:sp>
          <p:nvSpPr>
            <p:cNvPr id="234" name="Rectangle 131"/>
            <p:cNvSpPr>
              <a:spLocks noChangeArrowheads="1"/>
            </p:cNvSpPr>
            <p:nvPr/>
          </p:nvSpPr>
          <p:spPr bwMode="auto">
            <a:xfrm>
              <a:off x="2570" y="2900"/>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9</a:t>
              </a:r>
              <a:endParaRPr lang="en-US" altLang="zh-CN" sz="2400" b="0">
                <a:latin typeface="Times New Roman" panose="02020603050405020304" pitchFamily="18" charset="0"/>
                <a:ea typeface="宋体" panose="02010600030101010101" pitchFamily="2" charset="-122"/>
              </a:endParaRPr>
            </a:p>
          </p:txBody>
        </p:sp>
        <p:sp>
          <p:nvSpPr>
            <p:cNvPr id="235" name="Rectangle 132"/>
            <p:cNvSpPr>
              <a:spLocks noChangeArrowheads="1"/>
            </p:cNvSpPr>
            <p:nvPr/>
          </p:nvSpPr>
          <p:spPr bwMode="auto">
            <a:xfrm>
              <a:off x="2120" y="2900"/>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7</a:t>
              </a:r>
              <a:endParaRPr lang="en-US" altLang="zh-CN" sz="2400" b="0">
                <a:latin typeface="Times New Roman" panose="02020603050405020304" pitchFamily="18" charset="0"/>
                <a:ea typeface="宋体" panose="02010600030101010101" pitchFamily="2" charset="-122"/>
              </a:endParaRPr>
            </a:p>
          </p:txBody>
        </p:sp>
        <p:sp>
          <p:nvSpPr>
            <p:cNvPr id="236" name="Rectangle 133"/>
            <p:cNvSpPr>
              <a:spLocks noChangeArrowheads="1"/>
            </p:cNvSpPr>
            <p:nvPr/>
          </p:nvSpPr>
          <p:spPr bwMode="auto">
            <a:xfrm>
              <a:off x="1673" y="2900"/>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5</a:t>
              </a:r>
              <a:endParaRPr lang="en-US" altLang="zh-CN" sz="2400" b="0">
                <a:latin typeface="Times New Roman" panose="02020603050405020304" pitchFamily="18" charset="0"/>
                <a:ea typeface="宋体" panose="02010600030101010101" pitchFamily="2" charset="-122"/>
              </a:endParaRPr>
            </a:p>
          </p:txBody>
        </p:sp>
        <p:sp>
          <p:nvSpPr>
            <p:cNvPr id="237" name="Rectangle 134"/>
            <p:cNvSpPr>
              <a:spLocks noChangeArrowheads="1"/>
            </p:cNvSpPr>
            <p:nvPr/>
          </p:nvSpPr>
          <p:spPr bwMode="auto">
            <a:xfrm>
              <a:off x="1222" y="2900"/>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900" b="0">
                  <a:solidFill>
                    <a:srgbClr val="000000"/>
                  </a:solidFill>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238" name="Rectangle 46"/>
            <p:cNvSpPr>
              <a:spLocks noChangeArrowheads="1"/>
            </p:cNvSpPr>
            <p:nvPr/>
          </p:nvSpPr>
          <p:spPr bwMode="auto">
            <a:xfrm>
              <a:off x="2786" y="1720"/>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239" name="Rectangle 47"/>
            <p:cNvSpPr>
              <a:spLocks noChangeArrowheads="1"/>
            </p:cNvSpPr>
            <p:nvPr/>
          </p:nvSpPr>
          <p:spPr bwMode="auto">
            <a:xfrm>
              <a:off x="3008" y="1195"/>
              <a:ext cx="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s</a:t>
              </a:r>
              <a:endParaRPr lang="en-US" altLang="zh-CN" sz="2400" b="0">
                <a:latin typeface="Times New Roman" panose="02020603050405020304" pitchFamily="18" charset="0"/>
                <a:ea typeface="宋体" panose="02010600030101010101" pitchFamily="2" charset="-122"/>
              </a:endParaRPr>
            </a:p>
          </p:txBody>
        </p:sp>
        <p:sp>
          <p:nvSpPr>
            <p:cNvPr id="240" name="Freeform 33"/>
            <p:cNvSpPr>
              <a:spLocks/>
            </p:cNvSpPr>
            <p:nvPr/>
          </p:nvSpPr>
          <p:spPr bwMode="auto">
            <a:xfrm>
              <a:off x="791" y="984"/>
              <a:ext cx="3372" cy="1865"/>
            </a:xfrm>
            <a:custGeom>
              <a:avLst/>
              <a:gdLst>
                <a:gd name="T0" fmla="*/ 0 w 3113"/>
                <a:gd name="T1" fmla="*/ 1479 h 2094"/>
                <a:gd name="T2" fmla="*/ 264 w 3113"/>
                <a:gd name="T3" fmla="*/ 1391 h 2094"/>
                <a:gd name="T4" fmla="*/ 530 w 3113"/>
                <a:gd name="T5" fmla="*/ 1254 h 2094"/>
                <a:gd name="T6" fmla="*/ 793 w 3113"/>
                <a:gd name="T7" fmla="*/ 667 h 2094"/>
                <a:gd name="T8" fmla="*/ 1056 w 3113"/>
                <a:gd name="T9" fmla="*/ 500 h 2094"/>
                <a:gd name="T10" fmla="*/ 1320 w 3113"/>
                <a:gd name="T11" fmla="*/ 623 h 2094"/>
                <a:gd name="T12" fmla="*/ 1583 w 3113"/>
                <a:gd name="T13" fmla="*/ 772 h 2094"/>
                <a:gd name="T14" fmla="*/ 1847 w 3113"/>
                <a:gd name="T15" fmla="*/ 545 h 2094"/>
                <a:gd name="T16" fmla="*/ 2110 w 3113"/>
                <a:gd name="T17" fmla="*/ 435 h 2094"/>
                <a:gd name="T18" fmla="*/ 2373 w 3113"/>
                <a:gd name="T19" fmla="*/ 606 h 2094"/>
                <a:gd name="T20" fmla="*/ 2639 w 3113"/>
                <a:gd name="T21" fmla="*/ 189 h 2094"/>
                <a:gd name="T22" fmla="*/ 2903 w 3113"/>
                <a:gd name="T23" fmla="*/ 365 h 2094"/>
                <a:gd name="T24" fmla="*/ 3167 w 3113"/>
                <a:gd name="T25" fmla="*/ 260 h 2094"/>
                <a:gd name="T26" fmla="*/ 3427 w 3113"/>
                <a:gd name="T27" fmla="*/ 225 h 2094"/>
                <a:gd name="T28" fmla="*/ 3693 w 3113"/>
                <a:gd name="T29" fmla="*/ 60 h 2094"/>
                <a:gd name="T30" fmla="*/ 3957 w 3113"/>
                <a:gd name="T31" fmla="*/ 0 h 20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13" h="2094">
                  <a:moveTo>
                    <a:pt x="0" y="2094"/>
                  </a:moveTo>
                  <a:lnTo>
                    <a:pt x="208" y="1969"/>
                  </a:lnTo>
                  <a:lnTo>
                    <a:pt x="416" y="1775"/>
                  </a:lnTo>
                  <a:lnTo>
                    <a:pt x="624" y="944"/>
                  </a:lnTo>
                  <a:lnTo>
                    <a:pt x="831" y="707"/>
                  </a:lnTo>
                  <a:lnTo>
                    <a:pt x="1039" y="882"/>
                  </a:lnTo>
                  <a:lnTo>
                    <a:pt x="1245" y="1094"/>
                  </a:lnTo>
                  <a:lnTo>
                    <a:pt x="1453" y="771"/>
                  </a:lnTo>
                  <a:lnTo>
                    <a:pt x="1660" y="615"/>
                  </a:lnTo>
                  <a:lnTo>
                    <a:pt x="1868" y="858"/>
                  </a:lnTo>
                  <a:lnTo>
                    <a:pt x="2076" y="267"/>
                  </a:lnTo>
                  <a:lnTo>
                    <a:pt x="2284" y="516"/>
                  </a:lnTo>
                  <a:lnTo>
                    <a:pt x="2492" y="368"/>
                  </a:lnTo>
                  <a:lnTo>
                    <a:pt x="2697" y="319"/>
                  </a:lnTo>
                  <a:lnTo>
                    <a:pt x="2905" y="84"/>
                  </a:lnTo>
                  <a:lnTo>
                    <a:pt x="3113"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1" name="Rectangle 138"/>
            <p:cNvSpPr>
              <a:spLocks noChangeArrowheads="1"/>
            </p:cNvSpPr>
            <p:nvPr/>
          </p:nvSpPr>
          <p:spPr bwMode="auto">
            <a:xfrm>
              <a:off x="1220"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2" name="Rectangle 139"/>
            <p:cNvSpPr>
              <a:spLocks noChangeArrowheads="1"/>
            </p:cNvSpPr>
            <p:nvPr/>
          </p:nvSpPr>
          <p:spPr bwMode="auto">
            <a:xfrm>
              <a:off x="1422"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3" name="Rectangle 140"/>
            <p:cNvSpPr>
              <a:spLocks noChangeArrowheads="1"/>
            </p:cNvSpPr>
            <p:nvPr/>
          </p:nvSpPr>
          <p:spPr bwMode="auto">
            <a:xfrm>
              <a:off x="1652"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4" name="Rectangle 141"/>
            <p:cNvSpPr>
              <a:spLocks noChangeArrowheads="1"/>
            </p:cNvSpPr>
            <p:nvPr/>
          </p:nvSpPr>
          <p:spPr bwMode="auto">
            <a:xfrm>
              <a:off x="1882"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5" name="Rectangle 142"/>
            <p:cNvSpPr>
              <a:spLocks noChangeArrowheads="1"/>
            </p:cNvSpPr>
            <p:nvPr/>
          </p:nvSpPr>
          <p:spPr bwMode="auto">
            <a:xfrm>
              <a:off x="2112"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6" name="Rectangle 143"/>
            <p:cNvSpPr>
              <a:spLocks noChangeArrowheads="1"/>
            </p:cNvSpPr>
            <p:nvPr/>
          </p:nvSpPr>
          <p:spPr bwMode="auto">
            <a:xfrm>
              <a:off x="2343"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7" name="Rectangle 144"/>
            <p:cNvSpPr>
              <a:spLocks noChangeArrowheads="1"/>
            </p:cNvSpPr>
            <p:nvPr/>
          </p:nvSpPr>
          <p:spPr bwMode="auto">
            <a:xfrm>
              <a:off x="2573"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8" name="Rectangle 145"/>
            <p:cNvSpPr>
              <a:spLocks noChangeArrowheads="1"/>
            </p:cNvSpPr>
            <p:nvPr/>
          </p:nvSpPr>
          <p:spPr bwMode="auto">
            <a:xfrm>
              <a:off x="2775"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49" name="Rectangle 146"/>
            <p:cNvSpPr>
              <a:spLocks noChangeArrowheads="1"/>
            </p:cNvSpPr>
            <p:nvPr/>
          </p:nvSpPr>
          <p:spPr bwMode="auto">
            <a:xfrm>
              <a:off x="3005"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50" name="Rectangle 147"/>
            <p:cNvSpPr>
              <a:spLocks noChangeArrowheads="1"/>
            </p:cNvSpPr>
            <p:nvPr/>
          </p:nvSpPr>
          <p:spPr bwMode="auto">
            <a:xfrm>
              <a:off x="3235"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51" name="Rectangle 148"/>
            <p:cNvSpPr>
              <a:spLocks noChangeArrowheads="1"/>
            </p:cNvSpPr>
            <p:nvPr/>
          </p:nvSpPr>
          <p:spPr bwMode="auto">
            <a:xfrm>
              <a:off x="3465"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52" name="Rectangle 149"/>
            <p:cNvSpPr>
              <a:spLocks noChangeArrowheads="1"/>
            </p:cNvSpPr>
            <p:nvPr/>
          </p:nvSpPr>
          <p:spPr bwMode="auto">
            <a:xfrm>
              <a:off x="3696"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53" name="Rectangle 150"/>
            <p:cNvSpPr>
              <a:spLocks noChangeArrowheads="1"/>
            </p:cNvSpPr>
            <p:nvPr/>
          </p:nvSpPr>
          <p:spPr bwMode="auto">
            <a:xfrm>
              <a:off x="3898"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sp>
          <p:nvSpPr>
            <p:cNvPr id="254" name="Rectangle 151"/>
            <p:cNvSpPr>
              <a:spLocks noChangeArrowheads="1"/>
            </p:cNvSpPr>
            <p:nvPr/>
          </p:nvSpPr>
          <p:spPr bwMode="auto">
            <a:xfrm>
              <a:off x="4128" y="2736"/>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800" b="0">
                  <a:solidFill>
                    <a:srgbClr val="000000"/>
                  </a:solidFill>
                  <a:latin typeface="Monotype Sorts" pitchFamily="2" charset="2"/>
                  <a:ea typeface="宋体" panose="02010600030101010101" pitchFamily="2" charset="-122"/>
                </a:rPr>
                <a:t>u</a:t>
              </a:r>
            </a:p>
          </p:txBody>
        </p:sp>
      </p:grpSp>
      <p:sp>
        <p:nvSpPr>
          <p:cNvPr id="269" name="Text Box 137"/>
          <p:cNvSpPr txBox="1">
            <a:spLocks noChangeArrowheads="1"/>
          </p:cNvSpPr>
          <p:nvPr/>
        </p:nvSpPr>
        <p:spPr bwMode="auto">
          <a:xfrm>
            <a:off x="8813476" y="4356871"/>
            <a:ext cx="3292475" cy="1019175"/>
          </a:xfrm>
          <a:prstGeom prst="rect">
            <a:avLst/>
          </a:prstGeom>
          <a:solidFill>
            <a:schemeClr val="bg1"/>
          </a:solidFill>
          <a:ln w="12700">
            <a:solidFill>
              <a:srgbClr val="114FFB"/>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en-US" sz="2000">
                <a:latin typeface="Courier New" panose="02070309020205020404" pitchFamily="49" charset="0"/>
                <a:cs typeface="Courier New" panose="02070309020205020404" pitchFamily="49" charset="0"/>
              </a:rPr>
              <a:t>lock(l);</a:t>
            </a:r>
          </a:p>
          <a:p>
            <a:r>
              <a:rPr lang="en-US" altLang="en-US" sz="2000">
                <a:latin typeface="Courier New" panose="02070309020205020404" pitchFamily="49" charset="0"/>
                <a:cs typeface="Courier New" panose="02070309020205020404" pitchFamily="49" charset="0"/>
              </a:rPr>
              <a:t>critical_section(c);</a:t>
            </a:r>
          </a:p>
          <a:p>
            <a:r>
              <a:rPr lang="en-US" altLang="en-US" sz="2000">
                <a:latin typeface="Courier New" panose="02070309020205020404" pitchFamily="49" charset="0"/>
                <a:cs typeface="Courier New" panose="02070309020205020404" pitchFamily="49" charset="0"/>
              </a:rPr>
              <a:t>unlock(l);</a:t>
            </a:r>
            <a:endParaRPr lang="en-US" altLang="zh-CN" sz="2000">
              <a:latin typeface="Courier New" panose="02070309020205020404" pitchFamily="49"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424495316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对简单锁的改进</a:t>
            </a:r>
            <a:endParaRPr lang="zh-CN" altLang="en-US" dirty="0"/>
          </a:p>
        </p:txBody>
      </p:sp>
      <p:sp>
        <p:nvSpPr>
          <p:cNvPr id="3" name="内容占位符 2"/>
          <p:cNvSpPr>
            <a:spLocks noGrp="1"/>
          </p:cNvSpPr>
          <p:nvPr>
            <p:ph idx="1"/>
          </p:nvPr>
        </p:nvSpPr>
        <p:spPr/>
        <p:txBody>
          <a:bodyPr/>
          <a:lstStyle/>
          <a:p>
            <a:r>
              <a:rPr lang="zh-CN" altLang="en-US" dirty="0" smtClean="0"/>
              <a:t>不应该无间歇地访问锁，要减少等待期间发出</a:t>
            </a:r>
            <a:r>
              <a:rPr lang="en-US" altLang="zh-CN" dirty="0" smtClean="0"/>
              <a:t>T&amp;S</a:t>
            </a:r>
            <a:r>
              <a:rPr lang="zh-CN" altLang="en-US" dirty="0" smtClean="0"/>
              <a:t>指令的频度</a:t>
            </a:r>
            <a:endParaRPr lang="en-US" altLang="zh-CN" dirty="0" smtClean="0"/>
          </a:p>
          <a:p>
            <a:pPr lvl="1"/>
            <a:r>
              <a:rPr lang="zh-CN" altLang="en-US" dirty="0" smtClean="0"/>
              <a:t>带后退</a:t>
            </a:r>
            <a:r>
              <a:rPr lang="en-US" altLang="zh-CN" dirty="0" smtClean="0"/>
              <a:t>(</a:t>
            </a:r>
            <a:r>
              <a:rPr lang="en-US" altLang="zh-CN" dirty="0" err="1" smtClean="0"/>
              <a:t>backoff</a:t>
            </a:r>
            <a:r>
              <a:rPr lang="en-US" altLang="zh-CN" dirty="0" smtClean="0"/>
              <a:t>)</a:t>
            </a:r>
            <a:r>
              <a:rPr lang="zh-CN" altLang="en-US" dirty="0" smtClean="0"/>
              <a:t>的</a:t>
            </a:r>
            <a:r>
              <a:rPr lang="en-US" altLang="zh-CN" dirty="0" smtClean="0"/>
              <a:t>test &amp; set</a:t>
            </a:r>
            <a:r>
              <a:rPr lang="zh-CN" altLang="en-US" dirty="0" smtClean="0"/>
              <a:t>锁，失败时等一小会儿再去检测</a:t>
            </a:r>
            <a:endParaRPr lang="en-US" altLang="zh-CN" dirty="0" smtClean="0"/>
          </a:p>
          <a:p>
            <a:pPr lvl="2"/>
            <a:r>
              <a:rPr lang="zh-CN" altLang="en-US" sz="2400" dirty="0" smtClean="0"/>
              <a:t>但不能后退太多，否则锁空出来时，还在后退中</a:t>
            </a:r>
            <a:endParaRPr lang="en-US" altLang="zh-CN" sz="2400" dirty="0" smtClean="0"/>
          </a:p>
          <a:p>
            <a:pPr lvl="1"/>
            <a:r>
              <a:rPr lang="zh-CN" altLang="en-US" dirty="0" smtClean="0"/>
              <a:t>实际经验用指数型后退较好：第</a:t>
            </a:r>
            <a:r>
              <a:rPr lang="en-US" altLang="en-US" dirty="0" err="1" smtClean="0"/>
              <a:t>i</a:t>
            </a:r>
            <a:r>
              <a:rPr lang="zh-CN" altLang="en-US" dirty="0" smtClean="0"/>
              <a:t>次时间</a:t>
            </a:r>
            <a:r>
              <a:rPr lang="en-US" altLang="en-US" dirty="0" smtClean="0"/>
              <a:t>= k*c</a:t>
            </a:r>
            <a:r>
              <a:rPr lang="en-US" altLang="en-US" baseline="30000" dirty="0" smtClean="0"/>
              <a:t>i</a:t>
            </a:r>
          </a:p>
          <a:p>
            <a:pPr lvl="2"/>
            <a:r>
              <a:rPr lang="zh-CN" altLang="en-US" sz="2400" dirty="0" smtClean="0"/>
              <a:t>但竞争激烈时会产生饥饿现象：新来者后退的时间短，总是先抢到锁</a:t>
            </a:r>
            <a:endParaRPr lang="en-US" altLang="en-US" sz="2400" dirty="0" smtClean="0"/>
          </a:p>
          <a:p>
            <a:r>
              <a:rPr lang="zh-CN" altLang="en-US" dirty="0" smtClean="0"/>
              <a:t>忙等待时用读操作，而不是</a:t>
            </a:r>
            <a:r>
              <a:rPr lang="en-US" altLang="zh-CN" dirty="0" smtClean="0"/>
              <a:t>T&amp;S</a:t>
            </a:r>
            <a:r>
              <a:rPr lang="zh-CN" altLang="en-US" dirty="0" smtClean="0"/>
              <a:t>指令</a:t>
            </a:r>
            <a:endParaRPr lang="en-US" altLang="zh-CN" dirty="0" smtClean="0"/>
          </a:p>
          <a:p>
            <a:pPr lvl="1"/>
            <a:r>
              <a:rPr lang="en-US" altLang="zh-CN" dirty="0" smtClean="0"/>
              <a:t>T&amp;S</a:t>
            </a:r>
            <a:r>
              <a:rPr lang="zh-CN" altLang="en-US" dirty="0" smtClean="0"/>
              <a:t>指令包含写操作，频繁地写，导致大量总线事务和</a:t>
            </a:r>
            <a:r>
              <a:rPr lang="en-US" altLang="zh-CN" dirty="0" smtClean="0"/>
              <a:t>Invalidation</a:t>
            </a:r>
          </a:p>
          <a:p>
            <a:pPr lvl="1"/>
            <a:r>
              <a:rPr lang="zh-CN" altLang="en-US" dirty="0" smtClean="0"/>
              <a:t>先测试锁，成功后，再</a:t>
            </a:r>
            <a:r>
              <a:rPr lang="en-US" altLang="zh-CN" dirty="0" smtClean="0"/>
              <a:t>Test &amp; Set</a:t>
            </a:r>
            <a:r>
              <a:rPr lang="zh-CN" altLang="en-US" dirty="0" smtClean="0"/>
              <a:t>锁</a:t>
            </a:r>
            <a:endParaRPr lang="en-US" altLang="zh-CN" dirty="0" smtClean="0"/>
          </a:p>
          <a:p>
            <a:pPr lvl="1"/>
            <a:r>
              <a:rPr lang="zh-CN" altLang="en-US" dirty="0" smtClean="0"/>
              <a:t>用普通取数持续测试</a:t>
            </a:r>
            <a:endParaRPr lang="en-US" altLang="zh-CN" dirty="0" smtClean="0"/>
          </a:p>
          <a:p>
            <a:pPr lvl="2"/>
            <a:r>
              <a:rPr lang="zh-CN" altLang="en-US" sz="2400" dirty="0" smtClean="0"/>
              <a:t>当锁被释放时，</a:t>
            </a:r>
            <a:r>
              <a:rPr lang="en-US" altLang="zh-CN" sz="2400" dirty="0" smtClean="0"/>
              <a:t>cache</a:t>
            </a:r>
            <a:r>
              <a:rPr lang="zh-CN" altLang="en-US" sz="2400" dirty="0" smtClean="0"/>
              <a:t>中的锁变量会被无效</a:t>
            </a:r>
            <a:endParaRPr lang="en-US" altLang="zh-CN" sz="2400" dirty="0" smtClean="0"/>
          </a:p>
          <a:p>
            <a:pPr lvl="1"/>
            <a:r>
              <a:rPr lang="zh-CN" altLang="en-US" dirty="0" smtClean="0"/>
              <a:t>测得值改变（为</a:t>
            </a:r>
            <a:r>
              <a:rPr lang="en-US" altLang="zh-CN" dirty="0" smtClean="0"/>
              <a:t>0</a:t>
            </a:r>
            <a:r>
              <a:rPr lang="zh-CN" altLang="en-US" dirty="0" smtClean="0"/>
              <a:t>）时，再试</a:t>
            </a:r>
            <a:r>
              <a:rPr lang="en-US" altLang="zh-CN" dirty="0" smtClean="0"/>
              <a:t>T&amp;S</a:t>
            </a:r>
            <a:r>
              <a:rPr lang="zh-CN" altLang="en-US" dirty="0" smtClean="0"/>
              <a:t>获得锁</a:t>
            </a:r>
            <a:endParaRPr lang="en-US" altLang="zh-CN" dirty="0" smtClean="0"/>
          </a:p>
          <a:p>
            <a:pPr lvl="2"/>
            <a:r>
              <a:rPr lang="zh-CN" altLang="en-US" sz="2400" dirty="0" smtClean="0"/>
              <a:t>仅一个进程成功，其它失败后继续下一轮测试</a:t>
            </a:r>
            <a:endParaRPr lang="en-US" altLang="zh-CN" sz="2400" dirty="0" smtClean="0"/>
          </a:p>
        </p:txBody>
      </p:sp>
    </p:spTree>
    <p:extLst>
      <p:ext uri="{BB962C8B-B14F-4D97-AF65-F5344CB8AC3E}">
        <p14:creationId xmlns:p14="http://schemas.microsoft.com/office/powerpoint/2010/main" val="248031705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Test and Test and Set</a:t>
            </a:r>
            <a:endParaRPr kumimoji="1" lang="zh-CN" altLang="en-US" dirty="0"/>
          </a:p>
        </p:txBody>
      </p:sp>
      <p:sp>
        <p:nvSpPr>
          <p:cNvPr id="3" name="内容占位符 2"/>
          <p:cNvSpPr>
            <a:spLocks noGrp="1"/>
          </p:cNvSpPr>
          <p:nvPr>
            <p:ph idx="1"/>
          </p:nvPr>
        </p:nvSpPr>
        <p:spPr>
          <a:xfrm>
            <a:off x="551384" y="1556792"/>
            <a:ext cx="10802416" cy="5112568"/>
          </a:xfrm>
        </p:spPr>
        <p:txBody>
          <a:bodyPr/>
          <a:lstStyle/>
          <a:p>
            <a:pPr marL="0" indent="0">
              <a:buNone/>
            </a:pPr>
            <a:r>
              <a:rPr kumimoji="1" lang="en-US" altLang="zh-CN" b="1" dirty="0">
                <a:latin typeface="Courier"/>
                <a:cs typeface="Courier"/>
              </a:rPr>
              <a:t>A: While (lock != free);</a:t>
            </a:r>
          </a:p>
          <a:p>
            <a:pPr marL="0" indent="0">
              <a:buNone/>
            </a:pPr>
            <a:r>
              <a:rPr lang="en-US" altLang="zh-CN" b="1" dirty="0">
                <a:latin typeface="Courier"/>
                <a:cs typeface="Courier"/>
              </a:rPr>
              <a:t>    if (</a:t>
            </a:r>
            <a:r>
              <a:rPr lang="en-US" altLang="zh-CN" b="1" dirty="0" err="1">
                <a:latin typeface="Courier"/>
                <a:cs typeface="Courier"/>
              </a:rPr>
              <a:t>test&amp;set</a:t>
            </a:r>
            <a:r>
              <a:rPr lang="en-US" altLang="zh-CN" b="1" dirty="0">
                <a:latin typeface="Courier"/>
                <a:cs typeface="Courier"/>
              </a:rPr>
              <a:t>(lock) == free) {</a:t>
            </a:r>
          </a:p>
          <a:p>
            <a:pPr marL="0" indent="0">
              <a:buNone/>
            </a:pPr>
            <a:r>
              <a:rPr lang="en-US" altLang="zh-CN" b="1" dirty="0">
                <a:latin typeface="Courier"/>
                <a:cs typeface="Courier"/>
              </a:rPr>
              <a:t>         critical section;</a:t>
            </a:r>
          </a:p>
          <a:p>
            <a:pPr marL="0" indent="0">
              <a:buNone/>
            </a:pPr>
            <a:r>
              <a:rPr lang="en-US" altLang="zh-CN" b="1" dirty="0">
                <a:latin typeface="Courier"/>
                <a:cs typeface="Courier"/>
              </a:rPr>
              <a:t>    }</a:t>
            </a:r>
          </a:p>
          <a:p>
            <a:pPr marL="0" indent="0">
              <a:buNone/>
            </a:pPr>
            <a:r>
              <a:rPr lang="en-US" altLang="zh-CN" b="1" dirty="0">
                <a:latin typeface="Courier"/>
                <a:cs typeface="Courier"/>
              </a:rPr>
              <a:t>     else </a:t>
            </a:r>
            <a:r>
              <a:rPr lang="en-US" altLang="zh-CN" b="1" dirty="0" err="1">
                <a:latin typeface="Courier"/>
                <a:cs typeface="Courier"/>
              </a:rPr>
              <a:t>goto</a:t>
            </a:r>
            <a:r>
              <a:rPr lang="en-US" altLang="zh-CN" b="1" dirty="0">
                <a:latin typeface="Courier"/>
                <a:cs typeface="Courier"/>
              </a:rPr>
              <a:t> A;</a:t>
            </a:r>
          </a:p>
          <a:p>
            <a:endParaRPr lang="en-US" altLang="zh-CN" dirty="0"/>
          </a:p>
          <a:p>
            <a:r>
              <a:rPr lang="en-US" altLang="zh-CN" dirty="0"/>
              <a:t>(</a:t>
            </a:r>
            <a:r>
              <a:rPr lang="zh-CN" altLang="en-US" dirty="0"/>
              <a:t>＋</a:t>
            </a:r>
            <a:r>
              <a:rPr lang="en-US" altLang="zh-CN" dirty="0"/>
              <a:t>) </a:t>
            </a:r>
            <a:r>
              <a:rPr lang="zh-CN" altLang="en-US" dirty="0"/>
              <a:t>对锁的自旋等待发生在</a:t>
            </a:r>
            <a:r>
              <a:rPr lang="en-US" altLang="zh-CN" dirty="0"/>
              <a:t>cache</a:t>
            </a:r>
            <a:r>
              <a:rPr lang="zh-CN" altLang="en-US" dirty="0"/>
              <a:t>里</a:t>
            </a:r>
            <a:endParaRPr lang="en-US" altLang="zh-CN" dirty="0"/>
          </a:p>
          <a:p>
            <a:r>
              <a:rPr lang="en-US" altLang="zh-CN" dirty="0"/>
              <a:t>(</a:t>
            </a:r>
            <a:r>
              <a:rPr lang="zh-CN" altLang="en-US" dirty="0"/>
              <a:t>－</a:t>
            </a:r>
            <a:r>
              <a:rPr lang="en-US" altLang="zh-CN" dirty="0"/>
              <a:t>) </a:t>
            </a:r>
            <a:r>
              <a:rPr lang="zh-CN" altLang="en-US" dirty="0"/>
              <a:t>当释放锁时，许多处理器一起</a:t>
            </a:r>
            <a:r>
              <a:rPr lang="zh-CN" altLang="en-US" dirty="0" smtClean="0"/>
              <a:t>做</a:t>
            </a:r>
            <a:r>
              <a:rPr lang="en-US" altLang="zh-CN" dirty="0" smtClean="0"/>
              <a:t/>
            </a:r>
            <a:br>
              <a:rPr lang="en-US" altLang="zh-CN" dirty="0" smtClean="0"/>
            </a:br>
            <a:r>
              <a:rPr lang="en-US" altLang="zh-CN" dirty="0" err="1" smtClean="0"/>
              <a:t>test&amp;set</a:t>
            </a:r>
            <a:endParaRPr lang="en-US" altLang="zh-CN" dirty="0"/>
          </a:p>
          <a:p>
            <a:pPr lvl="1"/>
            <a:r>
              <a:rPr lang="zh-CN" altLang="en-US" dirty="0"/>
              <a:t>大量读不命中、一起出去抢总线</a:t>
            </a:r>
            <a:endParaRPr lang="en-US" altLang="zh-CN" dirty="0"/>
          </a:p>
          <a:p>
            <a:pPr lvl="1"/>
            <a:r>
              <a:rPr lang="zh-CN" altLang="en-US" dirty="0"/>
              <a:t>轮番执行</a:t>
            </a:r>
            <a:r>
              <a:rPr lang="en-US" altLang="zh-CN" dirty="0"/>
              <a:t>T&amp;S</a:t>
            </a:r>
            <a:r>
              <a:rPr lang="zh-CN" altLang="en-US" dirty="0"/>
              <a:t>，瞬时流量可能极大</a:t>
            </a:r>
            <a:endParaRPr lang="en-US" altLang="zh-CN" dirty="0"/>
          </a:p>
        </p:txBody>
      </p:sp>
      <p:sp>
        <p:nvSpPr>
          <p:cNvPr id="4" name="矩形 3"/>
          <p:cNvSpPr/>
          <p:nvPr/>
        </p:nvSpPr>
        <p:spPr>
          <a:xfrm>
            <a:off x="6672064" y="3212976"/>
            <a:ext cx="5303912" cy="3046988"/>
          </a:xfrm>
          <a:prstGeom prst="rect">
            <a:avLst/>
          </a:prstGeom>
        </p:spPr>
        <p:txBody>
          <a:bodyPr wrap="square">
            <a:spAutoFit/>
          </a:bodyPr>
          <a:lstStyle/>
          <a:p>
            <a:pPr marL="342900" indent="-342900">
              <a:buFont typeface="Arial" panose="020B0604020202020204" pitchFamily="34" charset="0"/>
              <a:buChar char="•"/>
            </a:pPr>
            <a:r>
              <a:rPr lang="en-US" altLang="zh-CN" sz="2400" dirty="0">
                <a:solidFill>
                  <a:srgbClr val="0070C0"/>
                </a:solidFill>
              </a:rPr>
              <a:t>Traffic is O(p</a:t>
            </a:r>
            <a:r>
              <a:rPr lang="en-US" altLang="zh-CN" sz="2400" baseline="30000" dirty="0">
                <a:solidFill>
                  <a:srgbClr val="0070C0"/>
                </a:solidFill>
              </a:rPr>
              <a:t>2</a:t>
            </a:r>
            <a:r>
              <a:rPr lang="en-US" altLang="zh-CN" sz="2400" dirty="0">
                <a:solidFill>
                  <a:srgbClr val="0070C0"/>
                </a:solidFill>
              </a:rPr>
              <a:t>) for p processors, each to acquire the lock once</a:t>
            </a:r>
          </a:p>
          <a:p>
            <a:pPr marL="342900" indent="-342900">
              <a:buFont typeface="Arial" panose="020B0604020202020204" pitchFamily="34" charset="0"/>
              <a:buChar char="•"/>
            </a:pPr>
            <a:r>
              <a:rPr lang="en-US" altLang="zh-CN" sz="2400" dirty="0">
                <a:solidFill>
                  <a:srgbClr val="FF0000"/>
                </a:solidFill>
              </a:rPr>
              <a:t>Each</a:t>
            </a:r>
            <a:r>
              <a:rPr lang="en-US" altLang="zh-CN" sz="2400" dirty="0">
                <a:solidFill>
                  <a:srgbClr val="0070C0"/>
                </a:solidFill>
              </a:rPr>
              <a:t> one of the p releases causes an invalidation that results in </a:t>
            </a:r>
          </a:p>
          <a:p>
            <a:pPr marL="800100" lvl="1" indent="-342900">
              <a:buFont typeface="Arial" panose="020B0604020202020204" pitchFamily="34" charset="0"/>
              <a:buChar char="•"/>
            </a:pPr>
            <a:r>
              <a:rPr lang="en-US" altLang="zh-CN" sz="2400" dirty="0">
                <a:solidFill>
                  <a:srgbClr val="0070C0"/>
                </a:solidFill>
              </a:rPr>
              <a:t>O(p) cache misses on load</a:t>
            </a:r>
          </a:p>
          <a:p>
            <a:pPr marL="800100" lvl="1" indent="-342900">
              <a:buFont typeface="Arial" panose="020B0604020202020204" pitchFamily="34" charset="0"/>
              <a:buChar char="•"/>
            </a:pPr>
            <a:r>
              <a:rPr lang="en-US" altLang="zh-CN" sz="2400" dirty="0">
                <a:solidFill>
                  <a:srgbClr val="0070C0"/>
                </a:solidFill>
              </a:rPr>
              <a:t>O(p) processes trying to perform the </a:t>
            </a:r>
            <a:r>
              <a:rPr lang="en-US" altLang="zh-CN" sz="2400" dirty="0" err="1">
                <a:solidFill>
                  <a:srgbClr val="0070C0"/>
                </a:solidFill>
              </a:rPr>
              <a:t>test&amp;set</a:t>
            </a:r>
            <a:r>
              <a:rPr lang="en-US" altLang="zh-CN" sz="2400" dirty="0">
                <a:solidFill>
                  <a:srgbClr val="0070C0"/>
                </a:solidFill>
              </a:rPr>
              <a:t> resulting in O(p) transactions</a:t>
            </a:r>
          </a:p>
        </p:txBody>
      </p:sp>
    </p:spTree>
    <p:extLst>
      <p:ext uri="{BB962C8B-B14F-4D97-AF65-F5344CB8AC3E}">
        <p14:creationId xmlns:p14="http://schemas.microsoft.com/office/powerpoint/2010/main" val="36217102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用原子交换实现的自旋锁</a:t>
            </a:r>
            <a:endParaRPr lang="en-AU" dirty="0"/>
          </a:p>
        </p:txBody>
      </p:sp>
      <p:sp>
        <p:nvSpPr>
          <p:cNvPr id="242691" name="Rectangle 3"/>
          <p:cNvSpPr>
            <a:spLocks noGrp="1" noChangeArrowheads="1"/>
          </p:cNvSpPr>
          <p:nvPr>
            <p:ph type="body" idx="1"/>
          </p:nvPr>
        </p:nvSpPr>
        <p:spPr>
          <a:xfrm>
            <a:off x="838200" y="1628800"/>
            <a:ext cx="9506272" cy="4429100"/>
          </a:xfrm>
        </p:spPr>
        <p:txBody>
          <a:bodyPr/>
          <a:lstStyle/>
          <a:p>
            <a:pPr>
              <a:lnSpc>
                <a:spcPct val="90000"/>
              </a:lnSpc>
            </a:pPr>
            <a:r>
              <a:rPr lang="en-US" dirty="0" smtClean="0"/>
              <a:t>Spin lock</a:t>
            </a:r>
          </a:p>
          <a:p>
            <a:pPr lvl="1">
              <a:lnSpc>
                <a:spcPct val="90000"/>
              </a:lnSpc>
            </a:pPr>
            <a:r>
              <a:rPr lang="en-US" dirty="0" smtClean="0"/>
              <a:t>If no coherence:</a:t>
            </a:r>
          </a:p>
          <a:p>
            <a:pPr>
              <a:buNone/>
            </a:pPr>
            <a:r>
              <a:rPr lang="en-US" sz="2400" dirty="0"/>
              <a:t>			</a:t>
            </a:r>
            <a:r>
              <a:rPr lang="en-US" sz="2000" dirty="0"/>
              <a:t>DADDUI	R2,R0,#</a:t>
            </a:r>
            <a:r>
              <a:rPr lang="en-US" sz="2000" dirty="0" smtClean="0"/>
              <a:t>1	;R2=1</a:t>
            </a:r>
            <a:endParaRPr lang="en-US" sz="2000" dirty="0"/>
          </a:p>
          <a:p>
            <a:pPr>
              <a:buNone/>
            </a:pPr>
            <a:r>
              <a:rPr lang="en-US" sz="2000" dirty="0" err="1"/>
              <a:t>lockit</a:t>
            </a:r>
            <a:r>
              <a:rPr lang="en-US" sz="2000" dirty="0"/>
              <a:t>:		EXCH		R2,0(R1)	;atomic exchange</a:t>
            </a:r>
          </a:p>
          <a:p>
            <a:pPr>
              <a:buNone/>
            </a:pPr>
            <a:r>
              <a:rPr lang="en-US" sz="2000" dirty="0"/>
              <a:t>			BNEZ		R2,lockit	;already locked?</a:t>
            </a:r>
          </a:p>
          <a:p>
            <a:endParaRPr lang="en-US" sz="2000" dirty="0"/>
          </a:p>
          <a:p>
            <a:pPr lvl="1"/>
            <a:r>
              <a:rPr lang="en-US" dirty="0" smtClean="0"/>
              <a:t>If coherence:</a:t>
            </a:r>
          </a:p>
          <a:p>
            <a:pPr>
              <a:buNone/>
            </a:pPr>
            <a:r>
              <a:rPr lang="en-US" sz="2000" dirty="0" err="1"/>
              <a:t>lockit</a:t>
            </a:r>
            <a:r>
              <a:rPr lang="en-US" sz="2000" dirty="0"/>
              <a:t>:		LD 		R2,0(R1)	;load of lock</a:t>
            </a:r>
          </a:p>
          <a:p>
            <a:pPr>
              <a:buNone/>
            </a:pPr>
            <a:r>
              <a:rPr lang="en-US" sz="2000" dirty="0"/>
              <a:t>			BNEZ		R2,lockit	;not available-spin</a:t>
            </a:r>
          </a:p>
          <a:p>
            <a:pPr>
              <a:buNone/>
            </a:pPr>
            <a:r>
              <a:rPr lang="en-US" sz="2000" dirty="0"/>
              <a:t>			DADDUI	R2,R0,#1	;load locked </a:t>
            </a:r>
            <a:r>
              <a:rPr lang="en-US" sz="2000" dirty="0" smtClean="0"/>
              <a:t>value R2=1</a:t>
            </a:r>
            <a:endParaRPr lang="en-US" sz="2000" dirty="0"/>
          </a:p>
          <a:p>
            <a:pPr>
              <a:buNone/>
            </a:pPr>
            <a:r>
              <a:rPr lang="en-US" sz="2000" dirty="0"/>
              <a:t>			EXCH		R2,0(R1)	;swap</a:t>
            </a:r>
          </a:p>
          <a:p>
            <a:pPr>
              <a:buNone/>
            </a:pPr>
            <a:r>
              <a:rPr lang="en-US" sz="2000" dirty="0"/>
              <a:t>			BNEZ		R2,lockit	;branch if lock wasn’t 0</a:t>
            </a:r>
          </a:p>
        </p:txBody>
      </p:sp>
    </p:spTree>
    <p:extLst>
      <p:ext uri="{BB962C8B-B14F-4D97-AF65-F5344CB8AC3E}">
        <p14:creationId xmlns:p14="http://schemas.microsoft.com/office/powerpoint/2010/main" val="1926262813"/>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减少存储器的访问流量</a:t>
            </a:r>
            <a:endParaRPr lang="en-AU" dirty="0"/>
          </a:p>
        </p:txBody>
      </p:sp>
      <p:pic>
        <p:nvPicPr>
          <p:cNvPr id="14338" name="Picture 2"/>
          <p:cNvPicPr>
            <a:picLocks noChangeAspect="1" noChangeArrowheads="1"/>
          </p:cNvPicPr>
          <p:nvPr/>
        </p:nvPicPr>
        <p:blipFill>
          <a:blip r:embed="rId3" cstate="print"/>
          <a:srcRect/>
          <a:stretch>
            <a:fillRect/>
          </a:stretch>
        </p:blipFill>
        <p:spPr bwMode="auto">
          <a:xfrm>
            <a:off x="1919536" y="1484784"/>
            <a:ext cx="8173843" cy="5231734"/>
          </a:xfrm>
          <a:prstGeom prst="rect">
            <a:avLst/>
          </a:prstGeom>
          <a:noFill/>
          <a:ln w="9525">
            <a:noFill/>
            <a:miter lim="800000"/>
            <a:headEnd/>
            <a:tailEnd/>
          </a:ln>
        </p:spPr>
      </p:pic>
    </p:spTree>
    <p:extLst>
      <p:ext uri="{BB962C8B-B14F-4D97-AF65-F5344CB8AC3E}">
        <p14:creationId xmlns:p14="http://schemas.microsoft.com/office/powerpoint/2010/main" val="3173560243"/>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带更新的</a:t>
            </a:r>
            <a:r>
              <a:rPr kumimoji="1" lang="en-US" altLang="zh-CN" dirty="0" smtClean="0"/>
              <a:t>Test &amp; Set</a:t>
            </a:r>
            <a:endParaRPr kumimoji="1" lang="zh-CN" altLang="en-US" dirty="0"/>
          </a:p>
        </p:txBody>
      </p:sp>
      <p:sp>
        <p:nvSpPr>
          <p:cNvPr id="3" name="内容占位符 2"/>
          <p:cNvSpPr>
            <a:spLocks noGrp="1"/>
          </p:cNvSpPr>
          <p:nvPr>
            <p:ph idx="1"/>
          </p:nvPr>
        </p:nvSpPr>
        <p:spPr/>
        <p:txBody>
          <a:bodyPr/>
          <a:lstStyle/>
          <a:p>
            <a:r>
              <a:rPr lang="en-US" altLang="zh-CN" dirty="0"/>
              <a:t>T&amp;S</a:t>
            </a:r>
            <a:r>
              <a:rPr lang="zh-CN" altLang="en-US" dirty="0"/>
              <a:t>向</a:t>
            </a:r>
            <a:r>
              <a:rPr lang="en-US" altLang="zh-CN" dirty="0"/>
              <a:t>cache</a:t>
            </a:r>
            <a:r>
              <a:rPr lang="zh-CN" altLang="en-US" dirty="0"/>
              <a:t>中存有锁副本的处理器发更新信息</a:t>
            </a:r>
            <a:endParaRPr lang="en-US" altLang="zh-CN" dirty="0"/>
          </a:p>
          <a:p>
            <a:r>
              <a:rPr lang="zh-CN" altLang="en-US" dirty="0"/>
              <a:t>优缺点</a:t>
            </a:r>
            <a:endParaRPr kumimoji="1" lang="en-US" altLang="zh-CN" dirty="0"/>
          </a:p>
          <a:p>
            <a:pPr lvl="1"/>
            <a:r>
              <a:rPr lang="en-US" altLang="zh-CN" dirty="0"/>
              <a:t>(</a:t>
            </a:r>
            <a:r>
              <a:rPr lang="zh-CN" altLang="en-US" dirty="0"/>
              <a:t>＋</a:t>
            </a:r>
            <a:r>
              <a:rPr lang="en-US" altLang="zh-CN" dirty="0"/>
              <a:t>) </a:t>
            </a:r>
            <a:r>
              <a:rPr lang="zh-CN" altLang="en-US" dirty="0"/>
              <a:t>适合于总线结构的系统</a:t>
            </a:r>
            <a:endParaRPr lang="en-US" altLang="zh-CN" dirty="0"/>
          </a:p>
          <a:p>
            <a:pPr lvl="1"/>
            <a:r>
              <a:rPr lang="en-US" altLang="zh-CN" dirty="0"/>
              <a:t>(</a:t>
            </a:r>
            <a:r>
              <a:rPr lang="zh-CN" altLang="en-US" dirty="0"/>
              <a:t>－</a:t>
            </a:r>
            <a:r>
              <a:rPr lang="en-US" altLang="zh-CN" dirty="0"/>
              <a:t>) </a:t>
            </a:r>
            <a:r>
              <a:rPr lang="zh-CN" altLang="en-US" dirty="0"/>
              <a:t>在分布式网络中还会产生许多流量</a:t>
            </a:r>
            <a:endParaRPr lang="en-US" altLang="zh-CN" dirty="0"/>
          </a:p>
          <a:p>
            <a:r>
              <a:rPr kumimoji="1" lang="zh-CN" altLang="en-US" dirty="0"/>
              <a:t>基于</a:t>
            </a:r>
            <a:r>
              <a:rPr kumimoji="1" lang="en-US" altLang="zh-CN" dirty="0"/>
              <a:t>Test &amp; Set</a:t>
            </a:r>
            <a:r>
              <a:rPr kumimoji="1" lang="zh-CN" altLang="en-US" dirty="0"/>
              <a:t>的机制的主要问题</a:t>
            </a:r>
            <a:endParaRPr kumimoji="1" lang="en-US" altLang="zh-CN" dirty="0"/>
          </a:p>
          <a:p>
            <a:pPr lvl="1"/>
            <a:r>
              <a:rPr lang="zh-CN" altLang="en-US" dirty="0"/>
              <a:t>释放锁的操作导致所有等待者去抢锁：不命中、冲突</a:t>
            </a:r>
            <a:endParaRPr lang="en-US" altLang="zh-CN" dirty="0"/>
          </a:p>
          <a:p>
            <a:pPr lvl="1"/>
            <a:r>
              <a:rPr kumimoji="1" lang="zh-CN" altLang="en-US" dirty="0"/>
              <a:t>大家都用</a:t>
            </a:r>
            <a:r>
              <a:rPr kumimoji="1" lang="en-US" altLang="zh-CN" dirty="0"/>
              <a:t>Test &amp; Set</a:t>
            </a:r>
            <a:r>
              <a:rPr kumimoji="1" lang="zh-CN" altLang="en-US" dirty="0"/>
              <a:t>去获取锁：大量使无效</a:t>
            </a:r>
            <a:endParaRPr kumimoji="1" lang="en-US" altLang="zh-CN" dirty="0"/>
          </a:p>
          <a:p>
            <a:r>
              <a:rPr lang="zh-CN" altLang="en-US" dirty="0"/>
              <a:t>改进的方向</a:t>
            </a:r>
            <a:endParaRPr lang="en-US" altLang="zh-CN" dirty="0"/>
          </a:p>
          <a:p>
            <a:pPr lvl="1"/>
            <a:r>
              <a:rPr kumimoji="1" lang="zh-CN" altLang="en-US" dirty="0"/>
              <a:t>没抢到锁的，就别去无效别人</a:t>
            </a:r>
            <a:r>
              <a:rPr kumimoji="1" lang="en-US" altLang="zh-CN" dirty="0"/>
              <a:t>cache</a:t>
            </a:r>
            <a:r>
              <a:rPr kumimoji="1" lang="zh-CN" altLang="en-US" dirty="0"/>
              <a:t>里的锁副本了</a:t>
            </a:r>
            <a:endParaRPr kumimoji="1" lang="en-US" altLang="zh-CN" dirty="0"/>
          </a:p>
          <a:p>
            <a:pPr lvl="1"/>
            <a:r>
              <a:rPr lang="zh-CN" altLang="en-US" dirty="0"/>
              <a:t>锁被释放时，不要大家都去抢，最好就一个人去拿</a:t>
            </a:r>
            <a:endParaRPr lang="en-US" altLang="zh-CN" dirty="0"/>
          </a:p>
          <a:p>
            <a:pPr lvl="1"/>
            <a:r>
              <a:rPr kumimoji="1" lang="zh-CN" altLang="en-US" dirty="0"/>
              <a:t>锁被释放时，不要大家都不命中，只一个人不命中</a:t>
            </a:r>
          </a:p>
        </p:txBody>
      </p:sp>
    </p:spTree>
    <p:extLst>
      <p:ext uri="{BB962C8B-B14F-4D97-AF65-F5344CB8AC3E}">
        <p14:creationId xmlns:p14="http://schemas.microsoft.com/office/powerpoint/2010/main" val="14047333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改进硬件原语：</a:t>
            </a:r>
            <a:r>
              <a:rPr lang="en-US" altLang="zh-CN" smtClean="0"/>
              <a:t>LL-SC</a:t>
            </a:r>
            <a:endParaRPr lang="zh-CN" altLang="en-US" dirty="0"/>
          </a:p>
        </p:txBody>
      </p:sp>
      <p:sp>
        <p:nvSpPr>
          <p:cNvPr id="3" name="内容占位符 2"/>
          <p:cNvSpPr>
            <a:spLocks noGrp="1"/>
          </p:cNvSpPr>
          <p:nvPr>
            <p:ph idx="1"/>
          </p:nvPr>
        </p:nvSpPr>
        <p:spPr/>
        <p:txBody>
          <a:bodyPr/>
          <a:lstStyle/>
          <a:p>
            <a:r>
              <a:rPr lang="zh-CN" altLang="en-US" dirty="0" smtClean="0"/>
              <a:t>目标</a:t>
            </a:r>
            <a:endParaRPr lang="en-US" altLang="zh-CN" dirty="0" smtClean="0"/>
          </a:p>
          <a:p>
            <a:pPr lvl="1"/>
            <a:r>
              <a:rPr lang="zh-CN" altLang="en-US" dirty="0" smtClean="0"/>
              <a:t>用读作测试，失败的读改写不产生使</a:t>
            </a:r>
            <a:r>
              <a:rPr lang="en-US" altLang="zh-CN" dirty="0" smtClean="0"/>
              <a:t>cache</a:t>
            </a:r>
            <a:r>
              <a:rPr lang="zh-CN" altLang="en-US" dirty="0" smtClean="0"/>
              <a:t>无效的操作</a:t>
            </a:r>
            <a:endParaRPr lang="en-US" altLang="zh-CN" dirty="0" smtClean="0"/>
          </a:p>
          <a:p>
            <a:pPr lvl="1"/>
            <a:r>
              <a:rPr lang="zh-CN" altLang="en-US" dirty="0" smtClean="0"/>
              <a:t>用简单原语可实现复杂、灵活的读改写操作，且适合</a:t>
            </a:r>
            <a:r>
              <a:rPr lang="en-US" altLang="zh-CN" dirty="0" smtClean="0"/>
              <a:t>RISC</a:t>
            </a:r>
            <a:r>
              <a:rPr lang="zh-CN" altLang="en-US" dirty="0" smtClean="0"/>
              <a:t>系统</a:t>
            </a:r>
            <a:endParaRPr lang="en-US" altLang="zh-CN" dirty="0" smtClean="0"/>
          </a:p>
          <a:p>
            <a:r>
              <a:rPr lang="en-US" altLang="zh-CN" dirty="0" smtClean="0"/>
              <a:t>Load-Locked (-linked), Store-Conditional</a:t>
            </a:r>
          </a:p>
          <a:p>
            <a:pPr lvl="1"/>
            <a:r>
              <a:rPr lang="en-US" altLang="zh-CN" dirty="0" smtClean="0"/>
              <a:t>LL</a:t>
            </a:r>
            <a:r>
              <a:rPr lang="zh-CN" altLang="en-US" dirty="0" smtClean="0"/>
              <a:t>把锁变量读入寄存器，地址存入</a:t>
            </a:r>
            <a:r>
              <a:rPr lang="en-US" altLang="zh-CN" dirty="0" smtClean="0"/>
              <a:t>lock address register</a:t>
            </a:r>
            <a:r>
              <a:rPr lang="zh-CN" altLang="en-US" dirty="0" smtClean="0"/>
              <a:t>，并置</a:t>
            </a:r>
            <a:r>
              <a:rPr lang="en-US" altLang="zh-CN" dirty="0" smtClean="0"/>
              <a:t>lock flag</a:t>
            </a:r>
          </a:p>
          <a:p>
            <a:pPr lvl="1"/>
            <a:r>
              <a:rPr lang="zh-CN" altLang="en-US" dirty="0" smtClean="0"/>
              <a:t>后面跟随任意指令来对值进行操作</a:t>
            </a:r>
            <a:endParaRPr lang="en-US" altLang="zh-CN" dirty="0" smtClean="0"/>
          </a:p>
          <a:p>
            <a:pPr lvl="1"/>
            <a:r>
              <a:rPr lang="en-US" altLang="zh-CN" dirty="0" smtClean="0"/>
              <a:t>SC</a:t>
            </a:r>
            <a:r>
              <a:rPr lang="zh-CN" altLang="en-US" dirty="0" smtClean="0"/>
              <a:t>试图把新值存回锁的存储位置</a:t>
            </a:r>
            <a:endParaRPr lang="en-US" altLang="zh-CN" dirty="0" smtClean="0"/>
          </a:p>
          <a:p>
            <a:pPr lvl="1"/>
            <a:r>
              <a:rPr lang="en-US" altLang="zh-CN" dirty="0" smtClean="0"/>
              <a:t>SC</a:t>
            </a:r>
            <a:r>
              <a:rPr lang="zh-CN" altLang="en-US" dirty="0" smtClean="0"/>
              <a:t>成功的条件：当且仅当自该</a:t>
            </a:r>
            <a:r>
              <a:rPr lang="en-US" altLang="zh-CN" dirty="0" smtClean="0"/>
              <a:t>LL</a:t>
            </a:r>
            <a:r>
              <a:rPr lang="zh-CN" altLang="en-US" dirty="0" smtClean="0"/>
              <a:t>后没有其它对该变量的写操作</a:t>
            </a:r>
            <a:endParaRPr lang="en-US" altLang="zh-CN" dirty="0" smtClean="0"/>
          </a:p>
          <a:p>
            <a:pPr lvl="2"/>
            <a:r>
              <a:rPr lang="zh-CN" altLang="en-US" dirty="0" smtClean="0"/>
              <a:t>可以通过检查</a:t>
            </a:r>
            <a:r>
              <a:rPr lang="en-US" altLang="zh-CN" dirty="0" smtClean="0"/>
              <a:t>lock address register</a:t>
            </a:r>
            <a:r>
              <a:rPr lang="zh-CN" altLang="en-US" dirty="0" smtClean="0"/>
              <a:t>和</a:t>
            </a:r>
            <a:r>
              <a:rPr lang="en-US" altLang="zh-CN" dirty="0" smtClean="0"/>
              <a:t>lock flag</a:t>
            </a:r>
            <a:r>
              <a:rPr lang="zh-CN" altLang="en-US" dirty="0" smtClean="0"/>
              <a:t>来判断是否存在介于中间的写操作</a:t>
            </a:r>
            <a:endParaRPr lang="en-US" altLang="zh-CN" dirty="0" smtClean="0"/>
          </a:p>
          <a:p>
            <a:r>
              <a:rPr lang="zh-CN" altLang="en-US" dirty="0" smtClean="0"/>
              <a:t>若</a:t>
            </a:r>
            <a:r>
              <a:rPr lang="en-US" altLang="zh-CN" dirty="0" smtClean="0"/>
              <a:t>SC</a:t>
            </a:r>
            <a:r>
              <a:rPr lang="zh-CN" altLang="en-US" dirty="0" smtClean="0"/>
              <a:t>成功，从</a:t>
            </a:r>
            <a:r>
              <a:rPr lang="en-US" altLang="zh-CN" dirty="0"/>
              <a:t>LL</a:t>
            </a:r>
            <a:r>
              <a:rPr lang="zh-CN" altLang="en-US" dirty="0" smtClean="0"/>
              <a:t>到</a:t>
            </a:r>
            <a:r>
              <a:rPr lang="en-US" altLang="zh-CN" dirty="0"/>
              <a:t>SC</a:t>
            </a:r>
            <a:r>
              <a:rPr lang="zh-CN" altLang="en-US" dirty="0" smtClean="0"/>
              <a:t>的所有三步相当于以原子方式完成</a:t>
            </a:r>
            <a:endParaRPr lang="en-US" altLang="zh-CN" dirty="0" smtClean="0"/>
          </a:p>
          <a:p>
            <a:pPr lvl="1"/>
            <a:r>
              <a:rPr lang="zh-CN" altLang="en-US" dirty="0" smtClean="0"/>
              <a:t>若</a:t>
            </a:r>
            <a:r>
              <a:rPr lang="en-US" altLang="zh-CN" dirty="0" smtClean="0"/>
              <a:t>SC</a:t>
            </a:r>
            <a:r>
              <a:rPr lang="zh-CN" altLang="en-US" dirty="0" smtClean="0"/>
              <a:t>失败，不会写新值，也不产生无效操作</a:t>
            </a:r>
            <a:endParaRPr lang="en-US" altLang="zh-CN" dirty="0" smtClean="0"/>
          </a:p>
          <a:p>
            <a:pPr lvl="1"/>
            <a:r>
              <a:rPr lang="zh-CN" altLang="en-US" dirty="0" smtClean="0"/>
              <a:t>但必须重试获取锁的操作；成功</a:t>
            </a:r>
            <a:r>
              <a:rPr lang="zh-CN" altLang="en-US" dirty="0"/>
              <a:t>信息可以由条件码或返回值指示</a:t>
            </a:r>
            <a:endParaRPr lang="en-US" altLang="zh-CN" dirty="0"/>
          </a:p>
          <a:p>
            <a:pPr lvl="1"/>
            <a:endParaRPr lang="zh-CN" altLang="en-US" dirty="0"/>
          </a:p>
        </p:txBody>
      </p:sp>
    </p:spTree>
    <p:extLst>
      <p:ext uri="{BB962C8B-B14F-4D97-AF65-F5344CB8AC3E}">
        <p14:creationId xmlns:p14="http://schemas.microsoft.com/office/powerpoint/2010/main" val="210487665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用</a:t>
            </a:r>
            <a:r>
              <a:rPr lang="en-US" altLang="zh-CN" smtClean="0"/>
              <a:t>LL-SC</a:t>
            </a:r>
            <a:r>
              <a:rPr lang="zh-CN" altLang="en-US" smtClean="0"/>
              <a:t>实现的简单锁</a:t>
            </a:r>
            <a:endParaRPr kumimoji="1" lang="zh-CN" altLang="en-US" dirty="0"/>
          </a:p>
        </p:txBody>
      </p:sp>
      <p:sp>
        <p:nvSpPr>
          <p:cNvPr id="3" name="内容占位符 2"/>
          <p:cNvSpPr>
            <a:spLocks noGrp="1"/>
          </p:cNvSpPr>
          <p:nvPr>
            <p:ph idx="1"/>
          </p:nvPr>
        </p:nvSpPr>
        <p:spPr>
          <a:xfrm>
            <a:off x="838200" y="1628800"/>
            <a:ext cx="10442376" cy="4320480"/>
          </a:xfrm>
        </p:spPr>
        <p:txBody>
          <a:bodyPr/>
          <a:lstStyle/>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lock:  	</a:t>
            </a:r>
            <a:r>
              <a:rPr lang="en-US" altLang="en-US" sz="2000" b="1" dirty="0" err="1">
                <a:latin typeface="Courier New" panose="02070309020205020404" pitchFamily="49" charset="0"/>
                <a:cs typeface="Courier New" panose="02070309020205020404" pitchFamily="49" charset="0"/>
              </a:rPr>
              <a:t>ll</a:t>
            </a: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reg</a:t>
            </a:r>
            <a:r>
              <a:rPr lang="en-US" altLang="en-US" sz="2000" b="1" dirty="0">
                <a:latin typeface="Courier New" panose="02070309020205020404" pitchFamily="49" charset="0"/>
                <a:cs typeface="Courier New" panose="02070309020205020404" pitchFamily="49" charset="0"/>
              </a:rPr>
              <a:t>, location</a:t>
            </a:r>
            <a:r>
              <a:rPr lang="en-US" altLang="en-US" sz="2000" dirty="0"/>
              <a:t>	</a:t>
            </a:r>
            <a:r>
              <a:rPr lang="en-US" altLang="en-US" sz="2000" i="1" dirty="0"/>
              <a:t>/* load locked </a:t>
            </a:r>
            <a:r>
              <a:rPr lang="en-US" altLang="en-US" sz="2000" i="1" dirty="0" err="1"/>
              <a:t>reg</a:t>
            </a:r>
            <a:r>
              <a:rPr lang="en-US" altLang="en-US" sz="2000" i="1" dirty="0"/>
              <a:t> ← location */</a:t>
            </a:r>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bnz</a:t>
            </a: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reg</a:t>
            </a:r>
            <a:r>
              <a:rPr lang="en-US" altLang="en-US" sz="2000" b="1" dirty="0">
                <a:latin typeface="Courier New" panose="02070309020205020404" pitchFamily="49" charset="0"/>
                <a:cs typeface="Courier New" panose="02070309020205020404" pitchFamily="49" charset="0"/>
              </a:rPr>
              <a:t>, lock</a:t>
            </a:r>
            <a:r>
              <a:rPr lang="en-US" altLang="en-US" sz="2000" dirty="0"/>
              <a:t>	</a:t>
            </a:r>
            <a:r>
              <a:rPr lang="en-US" altLang="en-US" sz="2000" i="1" dirty="0"/>
              <a:t>/* try again if not zero */</a:t>
            </a:r>
          </a:p>
          <a:p>
            <a:pPr marL="347663" indent="-347663">
              <a:spcBef>
                <a:spcPct val="0"/>
              </a:spcBef>
              <a:buFont typeface="Wingdings" panose="05000000000000000000" pitchFamily="2" charset="2"/>
              <a:buNone/>
              <a:tabLst>
                <a:tab pos="1379538" algn="l"/>
                <a:tab pos="2293938" algn="l"/>
                <a:tab pos="4687888" algn="l"/>
              </a:tabLst>
            </a:pPr>
            <a:r>
              <a:rPr lang="en-US" altLang="en-US" sz="2000" dirty="0"/>
              <a:t>		</a:t>
            </a:r>
            <a:r>
              <a:rPr lang="en-US" altLang="en-US" sz="2000" b="1" dirty="0">
                <a:latin typeface="Courier New" panose="02070309020205020404" pitchFamily="49" charset="0"/>
                <a:cs typeface="Courier New" panose="02070309020205020404" pitchFamily="49" charset="0"/>
              </a:rPr>
              <a:t>move	</a:t>
            </a:r>
            <a:r>
              <a:rPr lang="en-US" altLang="en-US" sz="2000" b="1" dirty="0" err="1">
                <a:latin typeface="Courier New" panose="02070309020205020404" pitchFamily="49" charset="0"/>
                <a:cs typeface="Courier New" panose="02070309020205020404" pitchFamily="49" charset="0"/>
              </a:rPr>
              <a:t>reg</a:t>
            </a:r>
            <a:r>
              <a:rPr lang="en-US" altLang="en-US" sz="2000" b="1" dirty="0">
                <a:latin typeface="Courier New" panose="02070309020205020404" pitchFamily="49" charset="0"/>
                <a:cs typeface="Courier New" panose="02070309020205020404" pitchFamily="49" charset="0"/>
              </a:rPr>
              <a:t>, #1	</a:t>
            </a:r>
            <a:r>
              <a:rPr lang="en-US" altLang="en-US" sz="2000" i="1" dirty="0"/>
              <a:t>/* </a:t>
            </a:r>
            <a:r>
              <a:rPr lang="en-US" altLang="en-US" sz="2000" i="1" dirty="0" err="1"/>
              <a:t>reg</a:t>
            </a:r>
            <a:r>
              <a:rPr lang="en-US" altLang="en-US" sz="2000" i="1" dirty="0"/>
              <a:t> ← 1 */</a:t>
            </a:r>
            <a:endParaRPr lang="en-US" altLang="en-US" sz="2000" b="1" dirty="0">
              <a:latin typeface="Courier New" panose="02070309020205020404" pitchFamily="49" charset="0"/>
              <a:cs typeface="Courier New" panose="02070309020205020404" pitchFamily="49" charset="0"/>
            </a:endParaRPr>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sc</a:t>
            </a:r>
            <a:r>
              <a:rPr lang="en-US" altLang="en-US" sz="2000" b="1" dirty="0">
                <a:latin typeface="Courier New" panose="02070309020205020404" pitchFamily="49" charset="0"/>
                <a:cs typeface="Courier New" panose="02070309020205020404" pitchFamily="49" charset="0"/>
              </a:rPr>
              <a:t>	location, </a:t>
            </a:r>
            <a:r>
              <a:rPr lang="en-US" altLang="en-US" sz="2000" b="1" dirty="0" err="1">
                <a:latin typeface="Courier New" panose="02070309020205020404" pitchFamily="49" charset="0"/>
                <a:cs typeface="Courier New" panose="02070309020205020404" pitchFamily="49" charset="0"/>
              </a:rPr>
              <a:t>reg</a:t>
            </a:r>
            <a:r>
              <a:rPr lang="en-US" altLang="en-US" sz="2000" dirty="0"/>
              <a:t>	</a:t>
            </a:r>
            <a:r>
              <a:rPr lang="en-US" altLang="en-US" sz="2000" i="1" dirty="0"/>
              <a:t>/* store </a:t>
            </a:r>
            <a:r>
              <a:rPr lang="en-US" altLang="en-US" sz="2000" i="1" dirty="0" err="1"/>
              <a:t>cond</a:t>
            </a:r>
            <a:r>
              <a:rPr lang="en-US" altLang="en-US" sz="2000" i="1" dirty="0"/>
              <a:t> location ← 1 */</a:t>
            </a:r>
            <a:endParaRPr lang="en-US" altLang="en-US" sz="2000" dirty="0"/>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beqz</a:t>
            </a: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reg</a:t>
            </a:r>
            <a:r>
              <a:rPr lang="en-US" altLang="en-US" sz="2000" b="1" dirty="0">
                <a:latin typeface="Courier New" panose="02070309020205020404" pitchFamily="49" charset="0"/>
                <a:cs typeface="Courier New" panose="02070309020205020404" pitchFamily="49" charset="0"/>
              </a:rPr>
              <a:t>, lock</a:t>
            </a:r>
            <a:r>
              <a:rPr lang="en-US" altLang="en-US" sz="2000" dirty="0"/>
              <a:t>	</a:t>
            </a:r>
            <a:r>
              <a:rPr lang="en-US" altLang="en-US" sz="2000" i="1" dirty="0"/>
              <a:t>/* try again if </a:t>
            </a:r>
            <a:r>
              <a:rPr lang="en-US" altLang="en-US" sz="2000" i="1" dirty="0" err="1"/>
              <a:t>sc</a:t>
            </a:r>
            <a:r>
              <a:rPr lang="en-US" altLang="en-US" sz="2000" i="1" dirty="0"/>
              <a:t> failed*/</a:t>
            </a:r>
            <a:endParaRPr lang="en-US" altLang="en-US" sz="2000" dirty="0"/>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		ret				</a:t>
            </a:r>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unlock: 	</a:t>
            </a:r>
            <a:r>
              <a:rPr lang="en-US" altLang="en-US" sz="2000" b="1" dirty="0" err="1">
                <a:latin typeface="Courier New" panose="02070309020205020404" pitchFamily="49" charset="0"/>
                <a:cs typeface="Courier New" panose="02070309020205020404" pitchFamily="49" charset="0"/>
              </a:rPr>
              <a:t>st</a:t>
            </a:r>
            <a:r>
              <a:rPr lang="en-US" altLang="en-US" sz="2000" b="1" dirty="0">
                <a:latin typeface="Courier New" panose="02070309020205020404" pitchFamily="49" charset="0"/>
                <a:cs typeface="Courier New" panose="02070309020205020404" pitchFamily="49" charset="0"/>
              </a:rPr>
              <a:t> 	location, #0</a:t>
            </a:r>
            <a:r>
              <a:rPr lang="en-US" altLang="en-US" sz="2000" dirty="0"/>
              <a:t>	</a:t>
            </a:r>
            <a:r>
              <a:rPr lang="en-US" altLang="en-US" sz="2000" i="1" dirty="0"/>
              <a:t>/* write 0 to location */</a:t>
            </a:r>
            <a:endParaRPr lang="en-US" altLang="en-US" sz="2000" dirty="0"/>
          </a:p>
          <a:p>
            <a:pPr marL="347663" indent="-347663">
              <a:spcBef>
                <a:spcPct val="0"/>
              </a:spcBef>
              <a:buFont typeface="Wingdings" panose="05000000000000000000" pitchFamily="2" charset="2"/>
              <a:buNone/>
              <a:tabLst>
                <a:tab pos="1379538" algn="l"/>
                <a:tab pos="2293938" algn="l"/>
                <a:tab pos="4687888" algn="l"/>
              </a:tabLst>
            </a:pPr>
            <a:r>
              <a:rPr lang="en-US" altLang="en-US" sz="2000" b="1" dirty="0">
                <a:latin typeface="Courier New" panose="02070309020205020404" pitchFamily="49" charset="0"/>
                <a:cs typeface="Courier New" panose="02070309020205020404" pitchFamily="49" charset="0"/>
              </a:rPr>
              <a:t>		ret</a:t>
            </a:r>
            <a:endParaRPr lang="en-US" altLang="en-US" sz="2000" dirty="0"/>
          </a:p>
          <a:p>
            <a:pPr>
              <a:spcBef>
                <a:spcPts val="600"/>
              </a:spcBef>
            </a:pPr>
            <a:r>
              <a:rPr kumimoji="1" lang="zh-CN" altLang="en-US" dirty="0" smtClean="0"/>
              <a:t>修改</a:t>
            </a:r>
            <a:r>
              <a:rPr lang="en-US" altLang="zh-CN" dirty="0" smtClean="0"/>
              <a:t>LL</a:t>
            </a:r>
            <a:r>
              <a:rPr lang="zh-CN" altLang="en-US" dirty="0" smtClean="0"/>
              <a:t>和</a:t>
            </a:r>
            <a:r>
              <a:rPr lang="en-US" altLang="zh-CN" dirty="0" smtClean="0"/>
              <a:t>SC</a:t>
            </a:r>
            <a:r>
              <a:rPr lang="zh-CN" altLang="en-US" dirty="0" smtClean="0"/>
              <a:t>间的指令可实现许多奇特的原子操作</a:t>
            </a:r>
            <a:endParaRPr lang="en-US" altLang="zh-CN" dirty="0" smtClean="0"/>
          </a:p>
          <a:p>
            <a:pPr lvl="1">
              <a:spcBef>
                <a:spcPts val="600"/>
              </a:spcBef>
            </a:pPr>
            <a:r>
              <a:rPr kumimoji="1" lang="zh-CN" altLang="en-US" dirty="0" smtClean="0"/>
              <a:t>但要保持区间较小，以增大</a:t>
            </a:r>
            <a:r>
              <a:rPr kumimoji="1" lang="en-US" altLang="zh-CN" dirty="0" smtClean="0"/>
              <a:t>SC</a:t>
            </a:r>
            <a:r>
              <a:rPr lang="zh-CN" altLang="en-US" dirty="0" smtClean="0"/>
              <a:t>成功的可能</a:t>
            </a:r>
            <a:endParaRPr lang="en-US" altLang="zh-CN" dirty="0" smtClean="0"/>
          </a:p>
          <a:p>
            <a:pPr lvl="1">
              <a:spcBef>
                <a:spcPts val="600"/>
              </a:spcBef>
            </a:pPr>
            <a:r>
              <a:rPr lang="zh-CN" altLang="en-US" dirty="0" smtClean="0"/>
              <a:t>不能包含需要被取消的指令（如存数、修改机器状态等）</a:t>
            </a:r>
            <a:endParaRPr lang="en-US" altLang="zh-CN" dirty="0" smtClean="0"/>
          </a:p>
          <a:p>
            <a:pPr>
              <a:spcBef>
                <a:spcPts val="600"/>
              </a:spcBef>
            </a:pPr>
            <a:r>
              <a:rPr kumimoji="1" lang="en-US" altLang="zh-CN" dirty="0" smtClean="0"/>
              <a:t>SC</a:t>
            </a:r>
            <a:r>
              <a:rPr kumimoji="1" lang="zh-CN" altLang="en-US" dirty="0" smtClean="0"/>
              <a:t>可能失败（不产生总线事务），若</a:t>
            </a:r>
            <a:endParaRPr kumimoji="1" lang="en-US" altLang="zh-CN" dirty="0" smtClean="0"/>
          </a:p>
          <a:p>
            <a:pPr lvl="1">
              <a:spcBef>
                <a:spcPts val="600"/>
              </a:spcBef>
            </a:pPr>
            <a:r>
              <a:rPr lang="zh-CN" altLang="en-US" dirty="0" smtClean="0"/>
              <a:t>在试图上总线前，检测到冲突的写操作</a:t>
            </a:r>
            <a:endParaRPr lang="en-US" altLang="zh-CN" dirty="0" smtClean="0"/>
          </a:p>
          <a:p>
            <a:pPr lvl="1">
              <a:spcBef>
                <a:spcPts val="600"/>
              </a:spcBef>
            </a:pPr>
            <a:r>
              <a:rPr kumimoji="1" lang="zh-CN" altLang="en-US" dirty="0" smtClean="0"/>
              <a:t>正在试图获得总线，但另一处理器的</a:t>
            </a:r>
            <a:r>
              <a:rPr kumimoji="1" lang="en-US" altLang="zh-CN" dirty="0" smtClean="0"/>
              <a:t>SC</a:t>
            </a:r>
            <a:r>
              <a:rPr kumimoji="1" lang="zh-CN" altLang="en-US" dirty="0" smtClean="0"/>
              <a:t>领先了</a:t>
            </a:r>
            <a:endParaRPr kumimoji="1" lang="zh-CN" altLang="en-US" dirty="0"/>
          </a:p>
        </p:txBody>
      </p:sp>
    </p:spTree>
    <p:extLst>
      <p:ext uri="{BB962C8B-B14F-4D97-AF65-F5344CB8AC3E}">
        <p14:creationId xmlns:p14="http://schemas.microsoft.com/office/powerpoint/2010/main" val="19200446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a:t>
            </a:r>
            <a:r>
              <a:rPr lang="en-US" altLang="zh-CN" dirty="0" smtClean="0"/>
              <a:t>LL-SC</a:t>
            </a:r>
            <a:r>
              <a:rPr lang="zh-CN" altLang="en-US" dirty="0" smtClean="0"/>
              <a:t>的</a:t>
            </a:r>
            <a:r>
              <a:rPr lang="en-US" altLang="zh-CN" dirty="0" smtClean="0"/>
              <a:t>Fetch &amp; OP</a:t>
            </a:r>
            <a:r>
              <a:rPr lang="zh-CN" altLang="en-US" dirty="0" smtClean="0"/>
              <a:t>的实现</a:t>
            </a:r>
            <a:endParaRPr kumimoji="1" lang="zh-CN" altLang="en-US" dirty="0"/>
          </a:p>
        </p:txBody>
      </p:sp>
      <p:sp>
        <p:nvSpPr>
          <p:cNvPr id="3" name="内容占位符 2"/>
          <p:cNvSpPr>
            <a:spLocks noGrp="1"/>
          </p:cNvSpPr>
          <p:nvPr>
            <p:ph idx="1"/>
          </p:nvPr>
        </p:nvSpPr>
        <p:spPr>
          <a:xfrm>
            <a:off x="767408" y="1628800"/>
            <a:ext cx="10586392" cy="4429100"/>
          </a:xfrm>
        </p:spPr>
        <p:txBody>
          <a:bodyPr/>
          <a:lstStyle/>
          <a:p>
            <a:pPr marL="0" indent="0">
              <a:buNone/>
            </a:pPr>
            <a:r>
              <a:rPr lang="en-US" altLang="zh-CN" sz="2400" b="1" dirty="0" err="1" smtClean="0">
                <a:latin typeface="Courier"/>
                <a:cs typeface="Courier"/>
              </a:rPr>
              <a:t>Fetch&amp;Store</a:t>
            </a:r>
            <a:r>
              <a:rPr lang="en-US" altLang="zh-CN" sz="2400" b="1" dirty="0" smtClean="0">
                <a:latin typeface="Courier"/>
                <a:cs typeface="Courier"/>
              </a:rPr>
              <a:t>: </a:t>
            </a:r>
            <a:r>
              <a:rPr lang="en-US" altLang="zh-CN" sz="2400" b="1" dirty="0" err="1" smtClean="0">
                <a:latin typeface="Courier"/>
                <a:cs typeface="Courier"/>
              </a:rPr>
              <a:t>ll</a:t>
            </a:r>
            <a:r>
              <a:rPr lang="en-US" altLang="zh-CN" sz="2400" b="1" dirty="0" smtClean="0">
                <a:latin typeface="Courier"/>
                <a:cs typeface="Courier"/>
              </a:rPr>
              <a:t> reg1, location</a:t>
            </a:r>
            <a:r>
              <a:rPr lang="en-US" altLang="zh-CN" sz="2400" dirty="0" smtClean="0">
                <a:latin typeface="Courier"/>
                <a:cs typeface="Courier"/>
              </a:rPr>
              <a:t> 	</a:t>
            </a:r>
            <a:r>
              <a:rPr lang="en-US" altLang="zh-CN" sz="2400" dirty="0" smtClean="0">
                <a:cs typeface="Courier"/>
              </a:rPr>
              <a:t>/* LL location to reg1 */</a:t>
            </a:r>
          </a:p>
          <a:p>
            <a:pPr marL="0" indent="0">
              <a:buNone/>
            </a:pPr>
            <a:r>
              <a:rPr lang="en-US" altLang="zh-CN" sz="2400" dirty="0">
                <a:latin typeface="Courier"/>
                <a:cs typeface="Courier"/>
              </a:rPr>
              <a:t>	</a:t>
            </a:r>
            <a:r>
              <a:rPr lang="en-US" altLang="zh-CN" sz="2400" b="1" dirty="0" err="1">
                <a:latin typeface="Courier"/>
                <a:cs typeface="Courier"/>
              </a:rPr>
              <a:t>bnz</a:t>
            </a:r>
            <a:r>
              <a:rPr lang="en-US" altLang="zh-CN" sz="2400" b="1" dirty="0">
                <a:latin typeface="Courier"/>
                <a:cs typeface="Courier"/>
              </a:rPr>
              <a:t> reg1, lock </a:t>
            </a:r>
            <a:r>
              <a:rPr lang="en-US" altLang="zh-CN" sz="2400" dirty="0">
                <a:latin typeface="Courier"/>
                <a:cs typeface="Courier"/>
              </a:rPr>
              <a:t>		</a:t>
            </a:r>
            <a:r>
              <a:rPr lang="en-US" altLang="zh-CN" sz="2400" dirty="0" smtClean="0">
                <a:latin typeface="Courier"/>
                <a:cs typeface="Courier"/>
              </a:rPr>
              <a:t>		</a:t>
            </a:r>
            <a:r>
              <a:rPr lang="en-US" altLang="zh-CN" sz="2400" dirty="0" smtClean="0">
                <a:cs typeface="Courier"/>
              </a:rPr>
              <a:t>/* </a:t>
            </a:r>
            <a:r>
              <a:rPr lang="en-US" altLang="zh-CN" sz="2400" dirty="0">
                <a:cs typeface="Courier"/>
              </a:rPr>
              <a:t>check if location locked*/</a:t>
            </a:r>
          </a:p>
          <a:p>
            <a:pPr marL="0" indent="0">
              <a:buNone/>
            </a:pPr>
            <a:r>
              <a:rPr lang="en-US" altLang="zh-CN" sz="2400" dirty="0">
                <a:latin typeface="Courier"/>
                <a:cs typeface="Courier"/>
              </a:rPr>
              <a:t>	</a:t>
            </a:r>
            <a:r>
              <a:rPr lang="en-US" altLang="zh-CN" sz="2400" b="1" dirty="0">
                <a:latin typeface="Courier"/>
                <a:cs typeface="Courier"/>
              </a:rPr>
              <a:t>sc location, reg2 </a:t>
            </a:r>
            <a:r>
              <a:rPr lang="en-US" altLang="zh-CN" sz="2400" dirty="0">
                <a:latin typeface="Courier"/>
                <a:cs typeface="Courier"/>
              </a:rPr>
              <a:t>		</a:t>
            </a:r>
            <a:r>
              <a:rPr lang="en-US" altLang="zh-CN" sz="2400" dirty="0" smtClean="0">
                <a:latin typeface="Courier"/>
                <a:cs typeface="Courier"/>
              </a:rPr>
              <a:t>	</a:t>
            </a:r>
            <a:r>
              <a:rPr lang="en-US" altLang="zh-CN" sz="2400" dirty="0" smtClean="0">
                <a:cs typeface="Courier"/>
              </a:rPr>
              <a:t>/* </a:t>
            </a:r>
            <a:r>
              <a:rPr lang="en-US" altLang="zh-CN" sz="2400" dirty="0">
                <a:cs typeface="Courier"/>
              </a:rPr>
              <a:t>SC reg2 into location*/</a:t>
            </a:r>
          </a:p>
          <a:p>
            <a:pPr marL="0" indent="0">
              <a:buNone/>
            </a:pPr>
            <a:r>
              <a:rPr lang="en-US" altLang="zh-CN" sz="2400" dirty="0">
                <a:latin typeface="Courier"/>
                <a:cs typeface="Courier"/>
              </a:rPr>
              <a:t>	</a:t>
            </a:r>
            <a:r>
              <a:rPr lang="en-US" altLang="zh-CN" sz="2400" b="1" dirty="0" err="1">
                <a:latin typeface="Courier"/>
                <a:cs typeface="Courier"/>
              </a:rPr>
              <a:t>beqz</a:t>
            </a:r>
            <a:r>
              <a:rPr lang="en-US" altLang="zh-CN" sz="2400" b="1" dirty="0">
                <a:latin typeface="Courier"/>
                <a:cs typeface="Courier"/>
              </a:rPr>
              <a:t> reg2, </a:t>
            </a:r>
            <a:r>
              <a:rPr lang="en-US" altLang="zh-CN" sz="2400" b="1" dirty="0" err="1" smtClean="0">
                <a:latin typeface="Courier"/>
                <a:cs typeface="Courier"/>
              </a:rPr>
              <a:t>Fetch&amp;Store</a:t>
            </a:r>
            <a:r>
              <a:rPr lang="en-US" altLang="zh-CN" sz="2400" dirty="0">
                <a:latin typeface="Courier"/>
                <a:cs typeface="Courier"/>
              </a:rPr>
              <a:t>	</a:t>
            </a:r>
            <a:r>
              <a:rPr lang="en-US" altLang="zh-CN" sz="2400" dirty="0" smtClean="0">
                <a:latin typeface="Courier"/>
                <a:cs typeface="Courier"/>
              </a:rPr>
              <a:t>	</a:t>
            </a:r>
            <a:r>
              <a:rPr lang="en-US" altLang="zh-CN" sz="2400" dirty="0" smtClean="0">
                <a:cs typeface="Courier"/>
              </a:rPr>
              <a:t>/* </a:t>
            </a:r>
            <a:r>
              <a:rPr lang="en-US" altLang="zh-CN" sz="2400" dirty="0">
                <a:cs typeface="Courier"/>
              </a:rPr>
              <a:t>if failed, start again */</a:t>
            </a:r>
          </a:p>
          <a:p>
            <a:pPr marL="0" indent="0">
              <a:buNone/>
            </a:pPr>
            <a:r>
              <a:rPr lang="en-US" altLang="zh-CN" sz="2400" dirty="0">
                <a:latin typeface="Courier"/>
                <a:cs typeface="Courier"/>
              </a:rPr>
              <a:t>	</a:t>
            </a:r>
            <a:r>
              <a:rPr lang="en-US" altLang="zh-CN" sz="2400" b="1" dirty="0">
                <a:latin typeface="Courier"/>
                <a:cs typeface="Courier"/>
              </a:rPr>
              <a:t>ret</a:t>
            </a:r>
          </a:p>
          <a:p>
            <a:pPr>
              <a:spcBef>
                <a:spcPct val="50000"/>
              </a:spcBef>
              <a:buNone/>
              <a:tabLst>
                <a:tab pos="739775" algn="l"/>
                <a:tab pos="1712913" algn="l"/>
                <a:tab pos="4122738" algn="l"/>
              </a:tabLst>
            </a:pPr>
            <a:r>
              <a:rPr lang="en-US" altLang="en-US" sz="2400" b="1" dirty="0" err="1" smtClean="0">
                <a:latin typeface="Courier New" panose="02070309020205020404" pitchFamily="49" charset="0"/>
                <a:cs typeface="Courier New" panose="02070309020205020404" pitchFamily="49" charset="0"/>
              </a:rPr>
              <a:t>Fetch&amp;Inc</a:t>
            </a:r>
            <a:r>
              <a:rPr lang="en-US" altLang="en-US" sz="2400" b="1" dirty="0">
                <a:latin typeface="Courier New" panose="02070309020205020404" pitchFamily="49" charset="0"/>
                <a:cs typeface="Courier New" panose="02070309020205020404" pitchFamily="49" charset="0"/>
              </a:rPr>
              <a:t>:</a:t>
            </a:r>
          </a:p>
          <a:p>
            <a:pPr>
              <a:buNone/>
              <a:tabLst>
                <a:tab pos="739775" algn="l"/>
                <a:tab pos="1712913" algn="l"/>
                <a:tab pos="4122738" algn="l"/>
              </a:tabLst>
            </a:pP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ll</a:t>
            </a: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reg</a:t>
            </a:r>
            <a:r>
              <a:rPr lang="en-US" altLang="en-US" sz="2400" b="1" dirty="0">
                <a:latin typeface="Courier New" panose="02070309020205020404" pitchFamily="49" charset="0"/>
                <a:cs typeface="Courier New" panose="02070309020205020404" pitchFamily="49" charset="0"/>
              </a:rPr>
              <a:t>, location</a:t>
            </a:r>
            <a:r>
              <a:rPr lang="en-US" altLang="en-US" sz="2400" dirty="0"/>
              <a:t>	</a:t>
            </a:r>
            <a:r>
              <a:rPr lang="en-US" altLang="en-US" sz="2400" dirty="0" smtClean="0"/>
              <a:t>		</a:t>
            </a:r>
            <a:r>
              <a:rPr lang="en-US" altLang="en-US" sz="2400" i="1" dirty="0" smtClean="0"/>
              <a:t>/* </a:t>
            </a:r>
            <a:r>
              <a:rPr lang="en-US" altLang="en-US" sz="2400" i="1" dirty="0"/>
              <a:t>load locked </a:t>
            </a:r>
            <a:r>
              <a:rPr lang="en-US" altLang="en-US" sz="2400" i="1" dirty="0" err="1"/>
              <a:t>reg</a:t>
            </a:r>
            <a:r>
              <a:rPr lang="en-US" altLang="en-US" sz="2400" i="1" dirty="0"/>
              <a:t> ← location */</a:t>
            </a:r>
          </a:p>
          <a:p>
            <a:pPr>
              <a:buNone/>
              <a:tabLst>
                <a:tab pos="739775" algn="l"/>
                <a:tab pos="1712913" algn="l"/>
                <a:tab pos="4122738" algn="l"/>
              </a:tabLst>
            </a:pPr>
            <a:r>
              <a:rPr lang="en-US" altLang="en-US" sz="2400" b="1" dirty="0">
                <a:latin typeface="Courier New" panose="02070309020205020404" pitchFamily="49" charset="0"/>
                <a:cs typeface="Courier New" panose="02070309020205020404" pitchFamily="49" charset="0"/>
              </a:rPr>
              <a:t>		add	</a:t>
            </a:r>
            <a:r>
              <a:rPr lang="en-US" altLang="en-US" sz="2400" b="1" dirty="0" err="1">
                <a:latin typeface="Courier New" panose="02070309020205020404" pitchFamily="49" charset="0"/>
                <a:cs typeface="Courier New" panose="02070309020205020404" pitchFamily="49" charset="0"/>
              </a:rPr>
              <a:t>reg</a:t>
            </a: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reg</a:t>
            </a:r>
            <a:r>
              <a:rPr lang="en-US" altLang="en-US" sz="2400" b="1" dirty="0">
                <a:latin typeface="Courier New" panose="02070309020205020404" pitchFamily="49" charset="0"/>
                <a:cs typeface="Courier New" panose="02070309020205020404" pitchFamily="49" charset="0"/>
              </a:rPr>
              <a:t>, #1</a:t>
            </a:r>
            <a:r>
              <a:rPr lang="en-US" altLang="en-US" sz="2400" dirty="0"/>
              <a:t>	</a:t>
            </a:r>
            <a:r>
              <a:rPr lang="en-US" altLang="en-US" sz="2400" dirty="0" smtClean="0"/>
              <a:t>		</a:t>
            </a:r>
            <a:r>
              <a:rPr lang="en-US" altLang="en-US" sz="2400" i="1" dirty="0" smtClean="0"/>
              <a:t>/* </a:t>
            </a:r>
            <a:r>
              <a:rPr lang="en-US" altLang="en-US" sz="2400" i="1" dirty="0"/>
              <a:t>increment register */</a:t>
            </a:r>
            <a:endParaRPr lang="en-US" altLang="en-US" sz="2400" dirty="0"/>
          </a:p>
          <a:p>
            <a:pPr>
              <a:buNone/>
              <a:tabLst>
                <a:tab pos="739775" algn="l"/>
                <a:tab pos="1712913" algn="l"/>
                <a:tab pos="4122738" algn="l"/>
              </a:tabLst>
            </a:pP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sc</a:t>
            </a:r>
            <a:r>
              <a:rPr lang="en-US" altLang="en-US" sz="2400" b="1" dirty="0">
                <a:latin typeface="Courier New" panose="02070309020205020404" pitchFamily="49" charset="0"/>
                <a:cs typeface="Courier New" panose="02070309020205020404" pitchFamily="49" charset="0"/>
              </a:rPr>
              <a:t>	location, </a:t>
            </a:r>
            <a:r>
              <a:rPr lang="en-US" altLang="en-US" sz="2400" b="1" dirty="0" err="1">
                <a:latin typeface="Courier New" panose="02070309020205020404" pitchFamily="49" charset="0"/>
                <a:cs typeface="Courier New" panose="02070309020205020404" pitchFamily="49" charset="0"/>
              </a:rPr>
              <a:t>reg</a:t>
            </a:r>
            <a:r>
              <a:rPr lang="en-US" altLang="en-US" sz="2400" dirty="0"/>
              <a:t>	</a:t>
            </a:r>
            <a:r>
              <a:rPr lang="en-US" altLang="en-US" sz="2400" dirty="0" smtClean="0"/>
              <a:t>		</a:t>
            </a:r>
            <a:r>
              <a:rPr lang="en-US" altLang="en-US" sz="2400" i="1" dirty="0" smtClean="0"/>
              <a:t>/* </a:t>
            </a:r>
            <a:r>
              <a:rPr lang="en-US" altLang="en-US" sz="2400" i="1" dirty="0"/>
              <a:t>store </a:t>
            </a:r>
            <a:r>
              <a:rPr lang="en-US" altLang="en-US" sz="2400" i="1" dirty="0" err="1"/>
              <a:t>cond</a:t>
            </a:r>
            <a:r>
              <a:rPr lang="en-US" altLang="en-US" sz="2400" i="1" dirty="0"/>
              <a:t> location ← </a:t>
            </a:r>
            <a:r>
              <a:rPr lang="en-US" altLang="en-US" sz="2400" i="1" dirty="0" err="1"/>
              <a:t>reg</a:t>
            </a:r>
            <a:r>
              <a:rPr lang="en-US" altLang="en-US" sz="2400" i="1" dirty="0"/>
              <a:t> */</a:t>
            </a:r>
            <a:endParaRPr lang="en-US" altLang="en-US" sz="2400" dirty="0"/>
          </a:p>
          <a:p>
            <a:pPr>
              <a:buNone/>
              <a:tabLst>
                <a:tab pos="739775" algn="l"/>
                <a:tab pos="1712913" algn="l"/>
                <a:tab pos="4122738" algn="l"/>
              </a:tabLst>
            </a:pP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beqz</a:t>
            </a: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reg</a:t>
            </a: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Fetch&amp;Inc</a:t>
            </a:r>
            <a:r>
              <a:rPr lang="en-US" altLang="en-US" sz="2400" dirty="0"/>
              <a:t>	</a:t>
            </a:r>
            <a:r>
              <a:rPr lang="en-US" altLang="en-US" sz="2400" dirty="0" smtClean="0"/>
              <a:t>	</a:t>
            </a:r>
            <a:r>
              <a:rPr lang="en-US" altLang="en-US" sz="2400" i="1" dirty="0" smtClean="0"/>
              <a:t>/* </a:t>
            </a:r>
            <a:r>
              <a:rPr lang="en-US" altLang="en-US" sz="2400" i="1" dirty="0"/>
              <a:t>retry if </a:t>
            </a:r>
            <a:r>
              <a:rPr lang="en-US" altLang="en-US" sz="2400" i="1" dirty="0" err="1"/>
              <a:t>sc</a:t>
            </a:r>
            <a:r>
              <a:rPr lang="en-US" altLang="en-US" sz="2400" i="1" dirty="0"/>
              <a:t> failed*/</a:t>
            </a:r>
            <a:endParaRPr lang="en-US" altLang="en-US" sz="2400" dirty="0"/>
          </a:p>
          <a:p>
            <a:pPr>
              <a:buNone/>
              <a:tabLst>
                <a:tab pos="739775" algn="l"/>
                <a:tab pos="1712913" algn="l"/>
                <a:tab pos="4122738" algn="l"/>
              </a:tabLst>
            </a:pPr>
            <a:r>
              <a:rPr lang="en-US" altLang="en-US" sz="2400" b="1" dirty="0">
                <a:latin typeface="Courier New" panose="02070309020205020404" pitchFamily="49" charset="0"/>
                <a:cs typeface="Courier New" panose="02070309020205020404" pitchFamily="49" charset="0"/>
              </a:rPr>
              <a:t>		</a:t>
            </a:r>
            <a:r>
              <a:rPr lang="en-US" altLang="en-US" sz="2400" b="1" dirty="0" smtClean="0">
                <a:latin typeface="Courier New" panose="02070309020205020404" pitchFamily="49" charset="0"/>
                <a:cs typeface="Courier New" panose="02070309020205020404" pitchFamily="49" charset="0"/>
              </a:rPr>
              <a:t>ret</a:t>
            </a:r>
            <a:endParaRPr lang="en-US"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1788769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LL-SC</a:t>
            </a:r>
            <a:r>
              <a:rPr lang="zh-CN" altLang="en-US" smtClean="0"/>
              <a:t>的性能</a:t>
            </a:r>
            <a:endParaRPr lang="zh-CN" altLang="en-US" dirty="0"/>
          </a:p>
        </p:txBody>
      </p:sp>
      <p:sp>
        <p:nvSpPr>
          <p:cNvPr id="3" name="内容占位符 2"/>
          <p:cNvSpPr>
            <a:spLocks noGrp="1"/>
          </p:cNvSpPr>
          <p:nvPr>
            <p:ph idx="1"/>
          </p:nvPr>
        </p:nvSpPr>
        <p:spPr>
          <a:xfrm>
            <a:off x="838200" y="1556792"/>
            <a:ext cx="10802416" cy="5112568"/>
          </a:xfrm>
        </p:spPr>
        <p:txBody>
          <a:bodyPr/>
          <a:lstStyle/>
          <a:p>
            <a:r>
              <a:rPr lang="en-US" altLang="zh-CN" dirty="0" smtClean="0"/>
              <a:t>LL</a:t>
            </a:r>
            <a:r>
              <a:rPr lang="zh-CN" altLang="en-US" dirty="0" smtClean="0"/>
              <a:t>和</a:t>
            </a:r>
            <a:r>
              <a:rPr lang="en-US" altLang="zh-CN" dirty="0" smtClean="0"/>
              <a:t>SC</a:t>
            </a:r>
            <a:r>
              <a:rPr lang="zh-CN" altLang="en-US" dirty="0" smtClean="0"/>
              <a:t>不是分别对应</a:t>
            </a:r>
            <a:r>
              <a:rPr lang="en-US" altLang="zh-CN" dirty="0" smtClean="0"/>
              <a:t>lock</a:t>
            </a:r>
            <a:r>
              <a:rPr lang="zh-CN" altLang="en-US" dirty="0" smtClean="0"/>
              <a:t>和</a:t>
            </a:r>
            <a:r>
              <a:rPr lang="en-US" altLang="zh-CN" dirty="0" smtClean="0"/>
              <a:t>unlock</a:t>
            </a:r>
            <a:r>
              <a:rPr lang="zh-CN" altLang="en-US" dirty="0" smtClean="0"/>
              <a:t>的</a:t>
            </a:r>
            <a:endParaRPr lang="en-US" altLang="zh-CN" dirty="0" smtClean="0"/>
          </a:p>
          <a:p>
            <a:pPr lvl="1"/>
            <a:r>
              <a:rPr lang="zh-CN" altLang="en-US" dirty="0" smtClean="0"/>
              <a:t>只保障</a:t>
            </a:r>
            <a:r>
              <a:rPr lang="en-US" altLang="zh-CN" dirty="0" smtClean="0"/>
              <a:t>LL</a:t>
            </a:r>
            <a:r>
              <a:rPr lang="zh-CN" altLang="en-US" dirty="0" smtClean="0"/>
              <a:t>和</a:t>
            </a:r>
            <a:r>
              <a:rPr lang="en-US" altLang="zh-CN" dirty="0" smtClean="0"/>
              <a:t>SC</a:t>
            </a:r>
            <a:r>
              <a:rPr lang="zh-CN" altLang="en-US" dirty="0" smtClean="0"/>
              <a:t>之间没有其它处理器写锁变量</a:t>
            </a:r>
            <a:endParaRPr lang="en-US" altLang="zh-CN" dirty="0" smtClean="0"/>
          </a:p>
          <a:p>
            <a:pPr lvl="1"/>
            <a:r>
              <a:rPr lang="zh-CN" altLang="en-US" dirty="0" smtClean="0"/>
              <a:t>但可用于直接实现对共享变量的简单操作</a:t>
            </a:r>
            <a:endParaRPr lang="en-US" altLang="zh-CN" dirty="0" smtClean="0"/>
          </a:p>
          <a:p>
            <a:pPr lvl="2"/>
            <a:r>
              <a:rPr lang="zh-CN" altLang="en-US" dirty="0" smtClean="0"/>
              <a:t>如</a:t>
            </a:r>
            <a:r>
              <a:rPr lang="en-US" altLang="zh-CN" dirty="0" smtClean="0"/>
              <a:t>LL/SC</a:t>
            </a:r>
            <a:r>
              <a:rPr lang="zh-CN" altLang="en-US" dirty="0" smtClean="0"/>
              <a:t>的对象是一个全局和，则无需临界区</a:t>
            </a:r>
          </a:p>
          <a:p>
            <a:r>
              <a:rPr lang="zh-CN" altLang="en-US" dirty="0" smtClean="0"/>
              <a:t>迄今考虑的权衡</a:t>
            </a:r>
            <a:endParaRPr lang="en-US" altLang="zh-CN" dirty="0" smtClean="0"/>
          </a:p>
          <a:p>
            <a:pPr lvl="1"/>
            <a:r>
              <a:rPr lang="zh-CN" altLang="en-US" dirty="0" smtClean="0"/>
              <a:t>延迟、流量、扩展性、存储量、公平性</a:t>
            </a:r>
            <a:endParaRPr lang="en-US" altLang="zh-CN" dirty="0" smtClean="0"/>
          </a:p>
          <a:p>
            <a:pPr marL="228600" lvl="1">
              <a:spcBef>
                <a:spcPts val="1000"/>
              </a:spcBef>
            </a:pPr>
            <a:r>
              <a:rPr lang="en-US" altLang="zh-CN" sz="2800" dirty="0" smtClean="0"/>
              <a:t>LL-SC</a:t>
            </a:r>
            <a:r>
              <a:rPr lang="zh-CN" altLang="en-US" sz="2800" dirty="0" smtClean="0"/>
              <a:t>的优势：只有</a:t>
            </a:r>
            <a:r>
              <a:rPr lang="zh-CN" altLang="en-US" sz="2800" dirty="0"/>
              <a:t>成功获锁的那个处理器会无效其它</a:t>
            </a:r>
            <a:r>
              <a:rPr lang="zh-CN" altLang="en-US" sz="2800" dirty="0" smtClean="0"/>
              <a:t>副本</a:t>
            </a:r>
            <a:endParaRPr lang="en-US" altLang="zh-CN" sz="2800" dirty="0" smtClean="0"/>
          </a:p>
          <a:p>
            <a:pPr marL="685800" lvl="2">
              <a:spcBef>
                <a:spcPts val="1000"/>
              </a:spcBef>
            </a:pPr>
            <a:r>
              <a:rPr lang="zh-CN" altLang="en-US" sz="2400" dirty="0" smtClean="0"/>
              <a:t>但流量还没有降到最小</a:t>
            </a:r>
            <a:endParaRPr lang="zh-CN" altLang="en-US" sz="2400" dirty="0"/>
          </a:p>
          <a:p>
            <a:r>
              <a:rPr lang="zh-CN" altLang="en-US" dirty="0" smtClean="0"/>
              <a:t>当多个处理器在等待同一把锁，而锁突然被释放时，会发生什么？</a:t>
            </a:r>
            <a:endParaRPr lang="en-US" altLang="zh-CN" dirty="0" smtClean="0"/>
          </a:p>
          <a:p>
            <a:pPr lvl="1"/>
            <a:r>
              <a:rPr lang="en-US" altLang="zh-CN" dirty="0" smtClean="0"/>
              <a:t>P</a:t>
            </a:r>
            <a:r>
              <a:rPr lang="zh-CN" altLang="en-US" dirty="0" smtClean="0"/>
              <a:t>个同时的锁操作，会产生什么流量？</a:t>
            </a:r>
            <a:endParaRPr lang="en-US" altLang="zh-CN" dirty="0" smtClean="0"/>
          </a:p>
          <a:p>
            <a:pPr lvl="1"/>
            <a:r>
              <a:rPr lang="zh-CN" altLang="en-US" dirty="0" smtClean="0"/>
              <a:t>还可以用</a:t>
            </a:r>
            <a:r>
              <a:rPr lang="en-US" altLang="zh-CN" dirty="0" smtClean="0"/>
              <a:t>back-off</a:t>
            </a:r>
            <a:r>
              <a:rPr lang="zh-CN" altLang="en-US" dirty="0" smtClean="0"/>
              <a:t>的方法减少流量，但公平性问题依然存在</a:t>
            </a:r>
            <a:endParaRPr lang="en-US" altLang="zh-CN" dirty="0" smtClean="0"/>
          </a:p>
        </p:txBody>
      </p:sp>
    </p:spTree>
    <p:extLst>
      <p:ext uri="{BB962C8B-B14F-4D97-AF65-F5344CB8AC3E}">
        <p14:creationId xmlns:p14="http://schemas.microsoft.com/office/powerpoint/2010/main" val="8042999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排号锁</a:t>
            </a:r>
            <a:r>
              <a:rPr lang="en-US" altLang="zh-CN" dirty="0" smtClean="0"/>
              <a:t>(Ticket Lock)</a:t>
            </a:r>
            <a:endParaRPr kumimoji="1" lang="zh-CN" altLang="en-US" dirty="0"/>
          </a:p>
        </p:txBody>
      </p:sp>
      <p:sp>
        <p:nvSpPr>
          <p:cNvPr id="3" name="内容占位符 2"/>
          <p:cNvSpPr>
            <a:spLocks noGrp="1"/>
          </p:cNvSpPr>
          <p:nvPr>
            <p:ph idx="1"/>
          </p:nvPr>
        </p:nvSpPr>
        <p:spPr>
          <a:xfrm>
            <a:off x="911424" y="1556792"/>
            <a:ext cx="10225136" cy="4322068"/>
          </a:xfrm>
        </p:spPr>
        <p:txBody>
          <a:bodyPr/>
          <a:lstStyle/>
          <a:p>
            <a:r>
              <a:rPr kumimoji="1" lang="zh-CN" altLang="en-US" dirty="0"/>
              <a:t>每次获锁仅一个</a:t>
            </a:r>
            <a:r>
              <a:rPr lang="zh-CN" altLang="zh-CN" dirty="0"/>
              <a:t>“</a:t>
            </a:r>
            <a:r>
              <a:rPr lang="zh-CN" altLang="en-US" dirty="0"/>
              <a:t>读改写”操作</a:t>
            </a:r>
            <a:endParaRPr lang="en-US" altLang="zh-CN" dirty="0"/>
          </a:p>
          <a:p>
            <a:pPr lvl="1"/>
            <a:r>
              <a:rPr kumimoji="1" lang="zh-CN" altLang="en-US" dirty="0"/>
              <a:t>每个锁有两个计数器（</a:t>
            </a:r>
            <a:r>
              <a:rPr kumimoji="1" lang="en-US" altLang="zh-CN" dirty="0"/>
              <a:t>next-ticket, now-serving</a:t>
            </a:r>
            <a:r>
              <a:rPr kumimoji="1" lang="zh-CN" altLang="en-US" dirty="0"/>
              <a:t>）</a:t>
            </a:r>
            <a:endParaRPr kumimoji="1" lang="en-US" altLang="zh-CN" dirty="0"/>
          </a:p>
          <a:p>
            <a:pPr lvl="2"/>
            <a:r>
              <a:rPr lang="zh-CN" altLang="en-US" dirty="0"/>
              <a:t>到达时拿号：</a:t>
            </a:r>
            <a:r>
              <a:rPr lang="en-US" altLang="zh-CN" dirty="0"/>
              <a:t>my-ticket = </a:t>
            </a:r>
            <a:r>
              <a:rPr lang="en-US" altLang="en-US" dirty="0" err="1"/>
              <a:t>fetch&amp;inc</a:t>
            </a:r>
            <a:r>
              <a:rPr lang="en-US" altLang="en-US" dirty="0"/>
              <a:t> next-ticket;</a:t>
            </a:r>
          </a:p>
          <a:p>
            <a:pPr lvl="2"/>
            <a:r>
              <a:rPr lang="zh-CN" altLang="en-US" dirty="0"/>
              <a:t>然后等叫号：</a:t>
            </a:r>
            <a:r>
              <a:rPr lang="en-US" altLang="zh-CN" dirty="0"/>
              <a:t>busy </a:t>
            </a:r>
            <a:r>
              <a:rPr lang="en-US" altLang="en-US" dirty="0"/>
              <a:t>wait for (now-serving == my-ticket)</a:t>
            </a:r>
          </a:p>
          <a:p>
            <a:pPr lvl="1"/>
            <a:r>
              <a:rPr lang="zh-CN" altLang="en-US" dirty="0"/>
              <a:t>仅到达锁时需要一次原子操作（故较少冲突）</a:t>
            </a:r>
            <a:endParaRPr lang="en-US" altLang="zh-CN" dirty="0"/>
          </a:p>
          <a:p>
            <a:pPr lvl="1"/>
            <a:r>
              <a:rPr lang="zh-CN" altLang="en-US" dirty="0"/>
              <a:t>释放锁：</a:t>
            </a:r>
            <a:r>
              <a:rPr lang="en-US" altLang="en-US" dirty="0"/>
              <a:t>increment now-serving</a:t>
            </a:r>
          </a:p>
          <a:p>
            <a:r>
              <a:rPr kumimoji="1" lang="zh-CN" altLang="en-US" dirty="0"/>
              <a:t>性能：冲突少时延迟低</a:t>
            </a:r>
            <a:r>
              <a:rPr lang="zh-CN" altLang="en-US" dirty="0"/>
              <a:t>－若各变量可入</a:t>
            </a:r>
            <a:r>
              <a:rPr lang="en-US" altLang="zh-CN" dirty="0"/>
              <a:t>cache</a:t>
            </a:r>
          </a:p>
          <a:p>
            <a:pPr lvl="1"/>
            <a:r>
              <a:rPr lang="zh-CN" altLang="en-US" dirty="0"/>
              <a:t>释放时</a:t>
            </a:r>
            <a:r>
              <a:rPr lang="en-US" altLang="zh-CN" dirty="0"/>
              <a:t>O(p)</a:t>
            </a:r>
            <a:r>
              <a:rPr lang="zh-CN" altLang="en-US" dirty="0"/>
              <a:t>个读不命中，所有处理器都在等同一把</a:t>
            </a:r>
            <a:r>
              <a:rPr lang="zh-CN" altLang="en-US" dirty="0" smtClean="0"/>
              <a:t>锁</a:t>
            </a:r>
            <a:r>
              <a:rPr lang="en-US" altLang="zh-CN" dirty="0" smtClean="0"/>
              <a:t>now-serving</a:t>
            </a:r>
            <a:endParaRPr lang="en-US" altLang="zh-CN" dirty="0"/>
          </a:p>
          <a:p>
            <a:pPr lvl="2"/>
            <a:r>
              <a:rPr lang="zh-CN" altLang="en-US" dirty="0"/>
              <a:t>像简单</a:t>
            </a:r>
            <a:r>
              <a:rPr lang="en-US" altLang="zh-CN" dirty="0"/>
              <a:t>LL-SC</a:t>
            </a:r>
            <a:r>
              <a:rPr lang="zh-CN" altLang="en-US" dirty="0"/>
              <a:t>锁，但</a:t>
            </a:r>
            <a:r>
              <a:rPr lang="en-US" altLang="zh-CN" dirty="0"/>
              <a:t>SC</a:t>
            </a:r>
            <a:r>
              <a:rPr lang="zh-CN" altLang="en-US" dirty="0"/>
              <a:t>成功时多一次对其它副本的无效</a:t>
            </a:r>
            <a:endParaRPr lang="en-US" altLang="zh-CN" dirty="0"/>
          </a:p>
          <a:p>
            <a:pPr lvl="2"/>
            <a:r>
              <a:rPr lang="zh-CN" altLang="en-US" dirty="0"/>
              <a:t>可以</a:t>
            </a:r>
            <a:r>
              <a:rPr lang="zh-CN" altLang="en-US" dirty="0" smtClean="0"/>
              <a:t>用</a:t>
            </a:r>
            <a:r>
              <a:rPr lang="zh-CN" altLang="en-US" dirty="0"/>
              <a:t>后退减少冲突：后退间隔正比于</a:t>
            </a:r>
            <a:r>
              <a:rPr lang="en-US" altLang="zh-CN" dirty="0"/>
              <a:t>my-ticket</a:t>
            </a:r>
            <a:r>
              <a:rPr lang="zh-CN" altLang="en-US" dirty="0"/>
              <a:t>与</a:t>
            </a:r>
            <a:r>
              <a:rPr lang="en-US" altLang="zh-CN" dirty="0"/>
              <a:t>now-serving</a:t>
            </a:r>
            <a:r>
              <a:rPr lang="zh-CN" altLang="en-US" dirty="0"/>
              <a:t>之差</a:t>
            </a:r>
            <a:endParaRPr lang="en-US" altLang="zh-CN" dirty="0"/>
          </a:p>
          <a:p>
            <a:pPr lvl="1"/>
            <a:r>
              <a:rPr kumimoji="1" lang="en-US" altLang="zh-CN" dirty="0"/>
              <a:t>FIFO</a:t>
            </a:r>
            <a:r>
              <a:rPr kumimoji="1" lang="zh-CN" altLang="en-US" dirty="0"/>
              <a:t>顺序获得锁，比较公平</a:t>
            </a:r>
            <a:endParaRPr kumimoji="1" lang="en-US" altLang="zh-CN" dirty="0"/>
          </a:p>
          <a:p>
            <a:r>
              <a:rPr kumimoji="1" lang="zh-CN" altLang="en-US" dirty="0"/>
              <a:t>查询不同位置的方法，会不会更好？</a:t>
            </a:r>
          </a:p>
        </p:txBody>
      </p:sp>
    </p:spTree>
    <p:extLst>
      <p:ext uri="{BB962C8B-B14F-4D97-AF65-F5344CB8AC3E}">
        <p14:creationId xmlns:p14="http://schemas.microsoft.com/office/powerpoint/2010/main" val="38721455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基于数组的队列锁</a:t>
            </a:r>
            <a:endParaRPr lang="zh-CN" altLang="en-US" dirty="0"/>
          </a:p>
        </p:txBody>
      </p:sp>
      <p:sp>
        <p:nvSpPr>
          <p:cNvPr id="3" name="内容占位符 2"/>
          <p:cNvSpPr>
            <a:spLocks noGrp="1"/>
          </p:cNvSpPr>
          <p:nvPr>
            <p:ph idx="1"/>
          </p:nvPr>
        </p:nvSpPr>
        <p:spPr>
          <a:xfrm>
            <a:off x="838200" y="1628800"/>
            <a:ext cx="10515600" cy="5112568"/>
          </a:xfrm>
        </p:spPr>
        <p:txBody>
          <a:bodyPr/>
          <a:lstStyle/>
          <a:p>
            <a:r>
              <a:rPr lang="zh-CN" altLang="en-US" dirty="0" smtClean="0"/>
              <a:t>构建一个锁的</a:t>
            </a:r>
            <a:r>
              <a:rPr lang="en-US" altLang="zh-CN" dirty="0" smtClean="0"/>
              <a:t>p</a:t>
            </a:r>
            <a:r>
              <a:rPr lang="zh-CN" altLang="en-US" dirty="0" smtClean="0"/>
              <a:t>元数组，等待的进程查询其中不同位置</a:t>
            </a:r>
            <a:endParaRPr lang="en-US" altLang="zh-CN" dirty="0" smtClean="0"/>
          </a:p>
          <a:p>
            <a:pPr lvl="1"/>
            <a:r>
              <a:rPr lang="zh-CN" altLang="en-US" dirty="0" smtClean="0"/>
              <a:t>需要共享的数组</a:t>
            </a:r>
            <a:r>
              <a:rPr lang="en-US" altLang="zh-CN" dirty="0" smtClean="0"/>
              <a:t>lock[ ]</a:t>
            </a:r>
            <a:r>
              <a:rPr lang="zh-CN" altLang="en-US" dirty="0" smtClean="0"/>
              <a:t>和共享的</a:t>
            </a:r>
            <a:r>
              <a:rPr lang="en-US" altLang="zh-CN" dirty="0" err="1" smtClean="0"/>
              <a:t>next_address</a:t>
            </a:r>
            <a:endParaRPr lang="en-US" altLang="zh-CN" dirty="0" smtClean="0"/>
          </a:p>
          <a:p>
            <a:r>
              <a:rPr lang="zh-CN" altLang="en-US" dirty="0" smtClean="0"/>
              <a:t>获取锁：</a:t>
            </a:r>
            <a:r>
              <a:rPr lang="en-US" altLang="zh-CN" dirty="0" err="1" smtClean="0"/>
              <a:t>fetch&amp;add</a:t>
            </a:r>
            <a:r>
              <a:rPr lang="en-US" altLang="zh-CN" dirty="0" smtClean="0"/>
              <a:t> </a:t>
            </a:r>
            <a:r>
              <a:rPr lang="en-US" altLang="zh-CN" dirty="0" err="1"/>
              <a:t>my_address</a:t>
            </a:r>
            <a:r>
              <a:rPr lang="en-US" altLang="zh-CN" dirty="0"/>
              <a:t> ← </a:t>
            </a:r>
            <a:r>
              <a:rPr lang="en-US" altLang="zh-CN" dirty="0" err="1"/>
              <a:t>next_address</a:t>
            </a:r>
            <a:r>
              <a:rPr lang="en-US" altLang="zh-CN" dirty="0"/>
              <a:t>, </a:t>
            </a:r>
            <a:r>
              <a:rPr lang="en-US" altLang="zh-CN" dirty="0" err="1" smtClean="0"/>
              <a:t>block_size</a:t>
            </a:r>
            <a:endParaRPr lang="en-US" altLang="zh-CN" dirty="0" smtClean="0"/>
          </a:p>
          <a:p>
            <a:pPr lvl="1"/>
            <a:r>
              <a:rPr lang="zh-CN" altLang="en-US" dirty="0" smtClean="0"/>
              <a:t>然后 </a:t>
            </a:r>
            <a:r>
              <a:rPr lang="en-US" altLang="en-US" dirty="0"/>
              <a:t>Wait until </a:t>
            </a:r>
            <a:r>
              <a:rPr lang="en-US" altLang="en-US" b="1" dirty="0">
                <a:latin typeface="Courier New" panose="02070309020205020404" pitchFamily="49" charset="0"/>
                <a:cs typeface="Courier New" panose="02070309020205020404" pitchFamily="49" charset="0"/>
              </a:rPr>
              <a:t>lock[</a:t>
            </a:r>
            <a:r>
              <a:rPr lang="en-US" altLang="en-US" b="1" dirty="0" err="1">
                <a:latin typeface="Courier New" panose="02070309020205020404" pitchFamily="49" charset="0"/>
                <a:cs typeface="Courier New" panose="02070309020205020404" pitchFamily="49" charset="0"/>
              </a:rPr>
              <a:t>my_address</a:t>
            </a:r>
            <a:r>
              <a:rPr lang="en-US" altLang="en-US" b="1" dirty="0">
                <a:latin typeface="Courier New" panose="02070309020205020404" pitchFamily="49" charset="0"/>
                <a:cs typeface="Courier New" panose="02070309020205020404" pitchFamily="49" charset="0"/>
              </a:rPr>
              <a:t>] == </a:t>
            </a:r>
            <a:r>
              <a:rPr lang="en-US" altLang="en-US" b="1" dirty="0" smtClean="0">
                <a:latin typeface="Courier New" panose="02070309020205020404" pitchFamily="49" charset="0"/>
                <a:cs typeface="Courier New" panose="02070309020205020404" pitchFamily="49" charset="0"/>
              </a:rPr>
              <a:t>1</a:t>
            </a:r>
            <a:endParaRPr lang="en-US" altLang="zh-CN" dirty="0" smtClean="0"/>
          </a:p>
          <a:p>
            <a:pPr lvl="1"/>
            <a:r>
              <a:rPr lang="zh-CN" altLang="en-US" dirty="0" smtClean="0"/>
              <a:t>加</a:t>
            </a:r>
            <a:r>
              <a:rPr lang="en-US" altLang="zh-CN" dirty="0" smtClean="0"/>
              <a:t>block size</a:t>
            </a:r>
            <a:r>
              <a:rPr lang="zh-CN" altLang="en-US" dirty="0" smtClean="0"/>
              <a:t>是为了保证这些数组单元位于不同的</a:t>
            </a:r>
            <a:r>
              <a:rPr lang="en-US" altLang="zh-CN" dirty="0" smtClean="0"/>
              <a:t>cache</a:t>
            </a:r>
            <a:r>
              <a:rPr lang="zh-CN" altLang="en-US" dirty="0" smtClean="0"/>
              <a:t>行中</a:t>
            </a:r>
            <a:endParaRPr lang="en-US" altLang="zh-CN" dirty="0" smtClean="0"/>
          </a:p>
          <a:p>
            <a:pPr lvl="1"/>
            <a:r>
              <a:rPr lang="zh-CN" altLang="en-US" dirty="0" smtClean="0"/>
              <a:t>否则会出现假共享、影响性能</a:t>
            </a:r>
            <a:endParaRPr lang="en-US" altLang="zh-CN" dirty="0" smtClean="0"/>
          </a:p>
          <a:p>
            <a:r>
              <a:rPr lang="zh-CN" altLang="en-US" dirty="0" smtClean="0"/>
              <a:t>释放</a:t>
            </a:r>
            <a:r>
              <a:rPr lang="zh-CN" altLang="en-US" dirty="0"/>
              <a:t>锁</a:t>
            </a:r>
            <a:r>
              <a:rPr lang="zh-CN" altLang="en-US" dirty="0" smtClean="0"/>
              <a:t>：</a:t>
            </a:r>
            <a:r>
              <a:rPr lang="en-US" altLang="en-US" b="1" dirty="0">
                <a:latin typeface="Courier New" panose="02070309020205020404" pitchFamily="49" charset="0"/>
                <a:cs typeface="Courier New" panose="02070309020205020404" pitchFamily="49" charset="0"/>
              </a:rPr>
              <a:t>lock[</a:t>
            </a:r>
            <a:r>
              <a:rPr lang="en-US" altLang="en-US" b="1" dirty="0" err="1">
                <a:latin typeface="Courier New" panose="02070309020205020404" pitchFamily="49" charset="0"/>
                <a:cs typeface="Courier New" panose="02070309020205020404" pitchFamily="49" charset="0"/>
              </a:rPr>
              <a:t>my_address</a:t>
            </a:r>
            <a:r>
              <a:rPr lang="en-US" altLang="en-US" b="1" dirty="0">
                <a:latin typeface="Courier New" panose="02070309020205020404" pitchFamily="49" charset="0"/>
                <a:cs typeface="Courier New" panose="02070309020205020404" pitchFamily="49" charset="0"/>
              </a:rPr>
              <a:t>] = 0; </a:t>
            </a:r>
          </a:p>
          <a:p>
            <a:pPr lvl="1"/>
            <a:r>
              <a:rPr lang="en-US" altLang="en-US" b="1" dirty="0">
                <a:latin typeface="Courier New" panose="02070309020205020404" pitchFamily="49" charset="0"/>
                <a:cs typeface="Courier New" panose="02070309020205020404" pitchFamily="49" charset="0"/>
              </a:rPr>
              <a:t>lock[</a:t>
            </a:r>
            <a:r>
              <a:rPr lang="en-US" altLang="en-US" b="1" dirty="0" err="1">
                <a:latin typeface="Courier New" panose="02070309020205020404" pitchFamily="49" charset="0"/>
                <a:cs typeface="Courier New" panose="02070309020205020404" pitchFamily="49" charset="0"/>
              </a:rPr>
              <a:t>my_address</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block_size</a:t>
            </a:r>
            <a:r>
              <a:rPr lang="en-US" altLang="en-US" b="1" dirty="0">
                <a:latin typeface="Courier New" panose="02070309020205020404" pitchFamily="49" charset="0"/>
                <a:cs typeface="Courier New" panose="02070309020205020404" pitchFamily="49" charset="0"/>
              </a:rPr>
              <a:t>] = 1; </a:t>
            </a:r>
            <a:r>
              <a:rPr lang="en-US" altLang="en-US" i="1" dirty="0"/>
              <a:t>// to wakeup </a:t>
            </a:r>
            <a:r>
              <a:rPr lang="en-US" altLang="en-US" i="1" dirty="0" smtClean="0"/>
              <a:t>next</a:t>
            </a:r>
            <a:endParaRPr lang="en-US" altLang="zh-CN" dirty="0" smtClean="0"/>
          </a:p>
          <a:p>
            <a:r>
              <a:rPr lang="zh-CN" altLang="en-US" dirty="0" smtClean="0"/>
              <a:t>性能：</a:t>
            </a:r>
            <a:r>
              <a:rPr lang="en-US" altLang="zh-CN" dirty="0" smtClean="0"/>
              <a:t>Cache</a:t>
            </a:r>
            <a:r>
              <a:rPr lang="zh-CN" altLang="en-US" dirty="0" smtClean="0"/>
              <a:t>同一时，每次获取的流量为</a:t>
            </a:r>
            <a:r>
              <a:rPr lang="en-US" altLang="zh-CN" dirty="0" smtClean="0"/>
              <a:t>O(1)</a:t>
            </a:r>
          </a:p>
          <a:p>
            <a:pPr lvl="1"/>
            <a:r>
              <a:rPr lang="en-US" altLang="zh-CN" dirty="0" smtClean="0"/>
              <a:t>FIFO</a:t>
            </a:r>
            <a:r>
              <a:rPr lang="zh-CN" altLang="en-US" dirty="0" smtClean="0"/>
              <a:t>次序，同排号锁，但每锁占用</a:t>
            </a:r>
            <a:r>
              <a:rPr lang="en-US" altLang="zh-CN" dirty="0" smtClean="0"/>
              <a:t>O(p)</a:t>
            </a:r>
            <a:r>
              <a:rPr lang="zh-CN" altLang="en-US" dirty="0" smtClean="0"/>
              <a:t>空间</a:t>
            </a:r>
            <a:endParaRPr lang="en-US" altLang="zh-CN" dirty="0" smtClean="0"/>
          </a:p>
          <a:p>
            <a:pPr lvl="1"/>
            <a:r>
              <a:rPr lang="zh-CN" altLang="en-US" dirty="0" smtClean="0"/>
              <a:t>对</a:t>
            </a:r>
            <a:r>
              <a:rPr lang="en-US" altLang="zh-CN" dirty="0" smtClean="0"/>
              <a:t>cache</a:t>
            </a:r>
            <a:r>
              <a:rPr lang="zh-CN" altLang="en-US" dirty="0" smtClean="0"/>
              <a:t>不同一且分布存储的机器，没这么好</a:t>
            </a:r>
            <a:endParaRPr lang="en-US" altLang="zh-CN" dirty="0" smtClean="0"/>
          </a:p>
          <a:p>
            <a:pPr lvl="2"/>
            <a:r>
              <a:rPr lang="zh-CN" altLang="en-US" dirty="0" smtClean="0"/>
              <a:t>自旋等待的地址很可能不在自己的本地存储器中</a:t>
            </a:r>
            <a:endParaRPr lang="zh-CN" altLang="en-US" dirty="0"/>
          </a:p>
        </p:txBody>
      </p:sp>
      <p:pic>
        <p:nvPicPr>
          <p:cNvPr id="4" name="图片 3"/>
          <p:cNvPicPr>
            <a:picLocks noChangeAspect="1"/>
          </p:cNvPicPr>
          <p:nvPr/>
        </p:nvPicPr>
        <p:blipFill>
          <a:blip r:embed="rId2"/>
          <a:stretch>
            <a:fillRect/>
          </a:stretch>
        </p:blipFill>
        <p:spPr>
          <a:xfrm>
            <a:off x="8472264" y="5373216"/>
            <a:ext cx="3527313" cy="1253929"/>
          </a:xfrm>
          <a:prstGeom prst="rect">
            <a:avLst/>
          </a:prstGeom>
        </p:spPr>
      </p:pic>
    </p:spTree>
    <p:extLst>
      <p:ext uri="{BB962C8B-B14F-4D97-AF65-F5344CB8AC3E}">
        <p14:creationId xmlns:p14="http://schemas.microsoft.com/office/powerpoint/2010/main" val="346959127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基于链表的队列锁</a:t>
            </a:r>
            <a:r>
              <a:rPr kumimoji="1" lang="en-US" altLang="zh-CN" dirty="0" smtClean="0"/>
              <a:t>(MCS)</a:t>
            </a:r>
            <a:endParaRPr kumimoji="1" lang="zh-CN" altLang="en-US" dirty="0"/>
          </a:p>
        </p:txBody>
      </p:sp>
      <p:sp>
        <p:nvSpPr>
          <p:cNvPr id="3" name="内容占位符 2"/>
          <p:cNvSpPr>
            <a:spLocks noGrp="1"/>
          </p:cNvSpPr>
          <p:nvPr>
            <p:ph idx="1"/>
          </p:nvPr>
        </p:nvSpPr>
        <p:spPr/>
        <p:txBody>
          <a:bodyPr/>
          <a:lstStyle/>
          <a:p>
            <a:r>
              <a:rPr kumimoji="1" lang="zh-CN" altLang="en-US" dirty="0"/>
              <a:t>每把锁对应一个链表</a:t>
            </a:r>
            <a:endParaRPr kumimoji="1" lang="en-US" altLang="zh-CN" dirty="0"/>
          </a:p>
          <a:p>
            <a:pPr lvl="1"/>
            <a:r>
              <a:rPr lang="zh-CN" altLang="en-US" dirty="0"/>
              <a:t>链表头是当前获锁的处理器</a:t>
            </a:r>
            <a:endParaRPr lang="en-US" altLang="zh-CN" dirty="0"/>
          </a:p>
          <a:p>
            <a:pPr lvl="1"/>
            <a:r>
              <a:rPr lang="zh-CN" altLang="en-US" dirty="0"/>
              <a:t>申请锁的处理器按到达顺序依次排在后面</a:t>
            </a:r>
            <a:endParaRPr lang="en-US" altLang="zh-CN" dirty="0"/>
          </a:p>
          <a:p>
            <a:pPr lvl="1"/>
            <a:r>
              <a:rPr lang="zh-CN" altLang="en-US" dirty="0"/>
              <a:t>每个链表项有本地分配的旗标，用于</a:t>
            </a:r>
            <a:r>
              <a:rPr lang="zh-CN" altLang="en-US" dirty="0" smtClean="0"/>
              <a:t>自旋等待</a:t>
            </a:r>
            <a:endParaRPr lang="en-US" altLang="zh-CN" dirty="0"/>
          </a:p>
          <a:p>
            <a:pPr lvl="1"/>
            <a:r>
              <a:rPr lang="zh-CN" altLang="en-US" dirty="0"/>
              <a:t>软件上用</a:t>
            </a:r>
            <a:r>
              <a:rPr lang="en-US" altLang="zh-CN" dirty="0"/>
              <a:t>compare &amp; swap</a:t>
            </a:r>
            <a:r>
              <a:rPr lang="zh-CN" altLang="en-US" dirty="0"/>
              <a:t>建立链表</a:t>
            </a:r>
            <a:endParaRPr lang="en-US" altLang="zh-CN" dirty="0"/>
          </a:p>
          <a:p>
            <a:pPr lvl="1"/>
            <a:r>
              <a:rPr lang="zh-CN" altLang="en-US" dirty="0"/>
              <a:t>用</a:t>
            </a:r>
            <a:r>
              <a:rPr lang="en-US" altLang="zh-CN" dirty="0"/>
              <a:t>fetch &amp; store</a:t>
            </a:r>
            <a:r>
              <a:rPr lang="zh-CN" altLang="en-US" dirty="0"/>
              <a:t>也能工作，但不保障</a:t>
            </a:r>
            <a:r>
              <a:rPr lang="en-US" altLang="zh-CN" dirty="0"/>
              <a:t>FIFO</a:t>
            </a:r>
          </a:p>
          <a:p>
            <a:r>
              <a:rPr lang="zh-CN" altLang="en-US" dirty="0"/>
              <a:t>优缺点</a:t>
            </a:r>
            <a:endParaRPr lang="en-US" altLang="zh-CN" dirty="0"/>
          </a:p>
          <a:p>
            <a:pPr lvl="1"/>
            <a:r>
              <a:rPr lang="en-US" altLang="zh-CN" dirty="0"/>
              <a:t>(</a:t>
            </a:r>
            <a:r>
              <a:rPr lang="zh-CN" altLang="en-US" dirty="0"/>
              <a:t>＋</a:t>
            </a:r>
            <a:r>
              <a:rPr lang="en-US" altLang="zh-CN" dirty="0" smtClean="0"/>
              <a:t>) </a:t>
            </a:r>
            <a:r>
              <a:rPr lang="zh-CN" altLang="en-US" dirty="0" smtClean="0"/>
              <a:t>具有</a:t>
            </a:r>
            <a:r>
              <a:rPr lang="zh-CN" altLang="en-US" dirty="0"/>
              <a:t>数组队列的所有好处</a:t>
            </a:r>
            <a:endParaRPr lang="en-US" altLang="zh-CN" dirty="0"/>
          </a:p>
          <a:p>
            <a:pPr lvl="1"/>
            <a:r>
              <a:rPr lang="en-US" altLang="zh-CN" dirty="0"/>
              <a:t>(</a:t>
            </a:r>
            <a:r>
              <a:rPr lang="zh-CN" altLang="en-US" dirty="0"/>
              <a:t>＋</a:t>
            </a:r>
            <a:r>
              <a:rPr lang="en-US" altLang="zh-CN" dirty="0" smtClean="0"/>
              <a:t>) </a:t>
            </a:r>
            <a:r>
              <a:rPr lang="zh-CN" altLang="en-US" dirty="0" smtClean="0"/>
              <a:t>比</a:t>
            </a:r>
            <a:r>
              <a:rPr lang="zh-CN" altLang="en-US" dirty="0"/>
              <a:t>数组队列少用存储器，扩展性好</a:t>
            </a:r>
            <a:endParaRPr lang="en-US" altLang="zh-CN" dirty="0"/>
          </a:p>
          <a:p>
            <a:pPr lvl="1"/>
            <a:r>
              <a:rPr lang="en-US" altLang="zh-CN" dirty="0"/>
              <a:t>(</a:t>
            </a:r>
            <a:r>
              <a:rPr lang="zh-CN" altLang="en-US" dirty="0"/>
              <a:t>＋</a:t>
            </a:r>
            <a:r>
              <a:rPr lang="en-US" altLang="zh-CN" dirty="0"/>
              <a:t>) </a:t>
            </a:r>
            <a:r>
              <a:rPr lang="zh-CN" altLang="en-US" dirty="0"/>
              <a:t>本地自旋：即使没有</a:t>
            </a:r>
            <a:r>
              <a:rPr lang="en-US" altLang="zh-CN" dirty="0"/>
              <a:t>cache</a:t>
            </a:r>
            <a:r>
              <a:rPr lang="zh-CN" altLang="en-US" dirty="0"/>
              <a:t>同一性，也是</a:t>
            </a:r>
            <a:r>
              <a:rPr lang="en-US" altLang="zh-CN" dirty="0"/>
              <a:t>O(1)</a:t>
            </a:r>
            <a:r>
              <a:rPr lang="zh-CN" altLang="en-US" dirty="0"/>
              <a:t>流量</a:t>
            </a:r>
            <a:endParaRPr lang="en-US" altLang="zh-CN" dirty="0"/>
          </a:p>
          <a:p>
            <a:pPr lvl="1"/>
            <a:r>
              <a:rPr lang="en-US" altLang="zh-CN" dirty="0"/>
              <a:t>(</a:t>
            </a:r>
            <a:r>
              <a:rPr lang="zh-CN" altLang="en-US" dirty="0"/>
              <a:t>－</a:t>
            </a:r>
            <a:r>
              <a:rPr lang="en-US" altLang="zh-CN" dirty="0"/>
              <a:t>) compare &amp; swap</a:t>
            </a:r>
            <a:r>
              <a:rPr lang="zh-CN" altLang="en-US" dirty="0"/>
              <a:t>不容易实现</a:t>
            </a:r>
            <a:endParaRPr lang="en-US" altLang="zh-CN" dirty="0"/>
          </a:p>
          <a:p>
            <a:pPr lvl="1"/>
            <a:endParaRPr kumimoji="1" lang="zh-CN" altLang="en-US" dirty="0"/>
          </a:p>
        </p:txBody>
      </p:sp>
    </p:spTree>
    <p:extLst>
      <p:ext uri="{BB962C8B-B14F-4D97-AF65-F5344CB8AC3E}">
        <p14:creationId xmlns:p14="http://schemas.microsoft.com/office/powerpoint/2010/main" val="2355970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点对点事件同步</a:t>
            </a:r>
            <a:endParaRPr kumimoji="1" lang="zh-CN" altLang="en-US" dirty="0"/>
          </a:p>
        </p:txBody>
      </p:sp>
      <p:sp>
        <p:nvSpPr>
          <p:cNvPr id="3" name="内容占位符 2"/>
          <p:cNvSpPr>
            <a:spLocks noGrp="1"/>
          </p:cNvSpPr>
          <p:nvPr>
            <p:ph idx="1"/>
          </p:nvPr>
        </p:nvSpPr>
        <p:spPr>
          <a:xfrm>
            <a:off x="479376" y="1556792"/>
            <a:ext cx="11305256" cy="4394076"/>
          </a:xfrm>
        </p:spPr>
        <p:txBody>
          <a:bodyPr/>
          <a:lstStyle/>
          <a:p>
            <a:r>
              <a:rPr kumimoji="1" lang="zh-CN" altLang="en-US" dirty="0"/>
              <a:t>软件</a:t>
            </a:r>
            <a:r>
              <a:rPr kumimoji="1" lang="zh-CN" altLang="en-US" dirty="0" smtClean="0"/>
              <a:t>方法</a:t>
            </a:r>
            <a:endParaRPr kumimoji="1" lang="en-US" altLang="zh-CN" dirty="0"/>
          </a:p>
          <a:p>
            <a:pPr lvl="1"/>
            <a:r>
              <a:rPr lang="zh-CN" altLang="en-US" dirty="0"/>
              <a:t>忙等待</a:t>
            </a:r>
            <a:r>
              <a:rPr lang="zh-CN" altLang="en-US" dirty="0" smtClean="0"/>
              <a:t>：可以用普通变量作为旗标</a:t>
            </a:r>
            <a:endParaRPr lang="en-US" altLang="zh-CN" dirty="0"/>
          </a:p>
          <a:p>
            <a:pPr lvl="1"/>
            <a:r>
              <a:rPr lang="zh-CN" altLang="en-US" dirty="0" smtClean="0"/>
              <a:t>中断</a:t>
            </a:r>
            <a:r>
              <a:rPr lang="en-US" altLang="zh-CN" dirty="0"/>
              <a:t>(signaling)</a:t>
            </a:r>
            <a:r>
              <a:rPr lang="zh-CN" altLang="en-US" dirty="0"/>
              <a:t>；阻塞</a:t>
            </a:r>
            <a:r>
              <a:rPr lang="en-US" altLang="zh-CN" dirty="0"/>
              <a:t>(blocking)</a:t>
            </a:r>
            <a:r>
              <a:rPr lang="zh-CN" altLang="en-US" dirty="0"/>
              <a:t>：用信号量方法</a:t>
            </a:r>
            <a:endParaRPr lang="en-US" altLang="zh-CN" dirty="0"/>
          </a:p>
          <a:p>
            <a:r>
              <a:rPr kumimoji="1" lang="zh-CN" altLang="en-US" dirty="0" smtClean="0"/>
              <a:t>算法如下</a:t>
            </a:r>
            <a:endParaRPr kumimoji="1" lang="en-US" altLang="zh-CN" dirty="0"/>
          </a:p>
          <a:p>
            <a:pPr marL="0" indent="0">
              <a:buNone/>
            </a:pPr>
            <a:r>
              <a:rPr lang="en-US" altLang="zh-CN" sz="2400" dirty="0"/>
              <a:t>        </a:t>
            </a:r>
            <a:r>
              <a:rPr lang="en-US" altLang="zh-CN" sz="2400" u="sng" dirty="0"/>
              <a:t>  P1                                 P2                              </a:t>
            </a:r>
            <a:r>
              <a:rPr lang="en-US" altLang="zh-CN" sz="2400" dirty="0"/>
              <a:t> </a:t>
            </a:r>
          </a:p>
          <a:p>
            <a:pPr marL="0" indent="0">
              <a:buNone/>
            </a:pPr>
            <a:r>
              <a:rPr lang="en-US" altLang="zh-CN" sz="2400" dirty="0"/>
              <a:t>          a = f(x);  /* set a */        while (flag is 0) </a:t>
            </a:r>
            <a:r>
              <a:rPr lang="en-US" altLang="zh-CN" sz="2400" dirty="0" smtClean="0"/>
              <a:t>;   /* do nothing, busy wait */</a:t>
            </a:r>
            <a:endParaRPr lang="en-US" altLang="zh-CN" sz="2400" dirty="0"/>
          </a:p>
          <a:p>
            <a:pPr marL="0" indent="0">
              <a:buNone/>
            </a:pPr>
            <a:r>
              <a:rPr lang="en-US" altLang="zh-CN" sz="2400" dirty="0"/>
              <a:t>          f</a:t>
            </a:r>
            <a:r>
              <a:rPr kumimoji="1" lang="en-US" altLang="zh-CN" sz="2400" dirty="0"/>
              <a:t>lag = 1;                        b = g(a);   </a:t>
            </a:r>
            <a:r>
              <a:rPr kumimoji="1" lang="en-US" altLang="zh-CN" sz="2400" dirty="0" smtClean="0"/>
              <a:t>             /* </a:t>
            </a:r>
            <a:r>
              <a:rPr kumimoji="1" lang="en-US" altLang="zh-CN" sz="2400" dirty="0"/>
              <a:t>use a */</a:t>
            </a:r>
          </a:p>
          <a:p>
            <a:pPr lvl="1"/>
            <a:r>
              <a:rPr lang="zh-CN" altLang="en-US" dirty="0"/>
              <a:t>如果知道</a:t>
            </a:r>
            <a:r>
              <a:rPr lang="en-US" altLang="zh-CN" dirty="0"/>
              <a:t>a</a:t>
            </a:r>
            <a:r>
              <a:rPr lang="zh-CN" altLang="en-US" dirty="0"/>
              <a:t>初值为</a:t>
            </a:r>
            <a:r>
              <a:rPr lang="en-US" altLang="zh-CN" dirty="0"/>
              <a:t>0</a:t>
            </a:r>
            <a:r>
              <a:rPr lang="zh-CN" altLang="en-US" dirty="0"/>
              <a:t>，以后会变为非</a:t>
            </a:r>
            <a:r>
              <a:rPr lang="en-US" altLang="zh-CN" dirty="0"/>
              <a:t>0</a:t>
            </a:r>
            <a:r>
              <a:rPr lang="zh-CN" altLang="en-US" dirty="0"/>
              <a:t>，则可用普通变量</a:t>
            </a:r>
            <a:r>
              <a:rPr lang="en-US" altLang="zh-CN" dirty="0"/>
              <a:t>a</a:t>
            </a:r>
            <a:r>
              <a:rPr lang="zh-CN" altLang="en-US" dirty="0"/>
              <a:t>作旗标，</a:t>
            </a:r>
            <a:r>
              <a:rPr lang="zh-CN" altLang="en-US" dirty="0" smtClean="0"/>
              <a:t>省掉</a:t>
            </a:r>
            <a:r>
              <a:rPr lang="en-US" altLang="zh-CN" dirty="0" smtClean="0"/>
              <a:t>flag</a:t>
            </a:r>
            <a:endParaRPr lang="en-US" altLang="zh-CN" dirty="0"/>
          </a:p>
          <a:p>
            <a:pPr marL="457200" lvl="1" indent="0">
              <a:buNone/>
            </a:pPr>
            <a:r>
              <a:rPr lang="en-US" altLang="zh-CN" dirty="0"/>
              <a:t>  </a:t>
            </a:r>
            <a:r>
              <a:rPr lang="en-US" altLang="zh-CN" u="sng" dirty="0"/>
              <a:t>  P1                                P2</a:t>
            </a:r>
          </a:p>
          <a:p>
            <a:pPr marL="457200" lvl="1" indent="0">
              <a:buNone/>
            </a:pPr>
            <a:r>
              <a:rPr lang="en-US" altLang="zh-CN" dirty="0"/>
              <a:t>    a = f(x);  /* set a*/        while (a is 0) ; </a:t>
            </a:r>
            <a:r>
              <a:rPr lang="en-US" altLang="zh-CN" dirty="0" smtClean="0"/>
              <a:t>      /* </a:t>
            </a:r>
            <a:r>
              <a:rPr lang="en-US" altLang="zh-CN" dirty="0"/>
              <a:t>do nothing, busy </a:t>
            </a:r>
            <a:r>
              <a:rPr lang="en-US" altLang="zh-CN" dirty="0" smtClean="0"/>
              <a:t>wait  </a:t>
            </a:r>
            <a:r>
              <a:rPr lang="en-US" altLang="zh-CN" dirty="0"/>
              <a:t>*/</a:t>
            </a:r>
          </a:p>
          <a:p>
            <a:pPr marL="457200" lvl="1" indent="0">
              <a:buNone/>
            </a:pPr>
            <a:r>
              <a:rPr lang="en-US" altLang="zh-CN" dirty="0"/>
              <a:t>                                        b = g(a);  </a:t>
            </a:r>
            <a:r>
              <a:rPr lang="en-US" altLang="zh-CN" dirty="0" smtClean="0"/>
              <a:t>              /* </a:t>
            </a:r>
            <a:r>
              <a:rPr lang="en-US" altLang="zh-CN" dirty="0"/>
              <a:t>use a */</a:t>
            </a:r>
          </a:p>
          <a:p>
            <a:pPr marL="0" indent="0">
              <a:buNone/>
            </a:pPr>
            <a:endParaRPr kumimoji="1" lang="zh-CN" altLang="en-US" sz="1800" dirty="0"/>
          </a:p>
        </p:txBody>
      </p:sp>
    </p:spTree>
    <p:extLst>
      <p:ext uri="{BB962C8B-B14F-4D97-AF65-F5344CB8AC3E}">
        <p14:creationId xmlns:p14="http://schemas.microsoft.com/office/powerpoint/2010/main" val="20686551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硬件支持：</a:t>
            </a:r>
            <a:r>
              <a:rPr lang="en-US" altLang="zh-CN" smtClean="0"/>
              <a:t>Full/Empty bits</a:t>
            </a:r>
            <a:endParaRPr lang="zh-CN" altLang="en-US" dirty="0"/>
          </a:p>
        </p:txBody>
      </p:sp>
      <p:sp>
        <p:nvSpPr>
          <p:cNvPr id="3" name="内容占位符 2"/>
          <p:cNvSpPr>
            <a:spLocks noGrp="1"/>
          </p:cNvSpPr>
          <p:nvPr>
            <p:ph idx="1"/>
          </p:nvPr>
        </p:nvSpPr>
        <p:spPr/>
        <p:txBody>
          <a:bodyPr/>
          <a:lstStyle/>
          <a:p>
            <a:r>
              <a:rPr lang="zh-CN" altLang="en-US" dirty="0" smtClean="0"/>
              <a:t>每个存储字配备“满</a:t>
            </a:r>
            <a:r>
              <a:rPr lang="en-US" altLang="zh-CN" dirty="0" smtClean="0"/>
              <a:t>-</a:t>
            </a:r>
            <a:r>
              <a:rPr lang="zh-CN" altLang="en-US" dirty="0" smtClean="0"/>
              <a:t>空”位</a:t>
            </a:r>
            <a:endParaRPr lang="en-US" altLang="zh-CN" dirty="0" smtClean="0"/>
          </a:p>
          <a:p>
            <a:pPr lvl="1"/>
            <a:r>
              <a:rPr lang="zh-CN" altLang="en-US" dirty="0" smtClean="0"/>
              <a:t>新产生数据（写字）时为满，置位（</a:t>
            </a:r>
            <a:r>
              <a:rPr lang="en-US" altLang="zh-CN" dirty="0" smtClean="0"/>
              <a:t>1</a:t>
            </a:r>
            <a:r>
              <a:rPr lang="zh-CN" altLang="en-US" dirty="0" smtClean="0"/>
              <a:t>）</a:t>
            </a:r>
            <a:endParaRPr lang="en-US" altLang="zh-CN" dirty="0" smtClean="0"/>
          </a:p>
          <a:p>
            <a:pPr lvl="1"/>
            <a:r>
              <a:rPr lang="zh-CN" altLang="en-US" dirty="0" smtClean="0"/>
              <a:t>已消费数据（读字）时为空，复位（</a:t>
            </a:r>
            <a:r>
              <a:rPr lang="en-US" altLang="zh-CN" dirty="0" smtClean="0"/>
              <a:t>0</a:t>
            </a:r>
            <a:r>
              <a:rPr lang="zh-CN" altLang="en-US" dirty="0" smtClean="0"/>
              <a:t>）</a:t>
            </a:r>
            <a:endParaRPr lang="en-US" altLang="zh-CN" dirty="0" smtClean="0"/>
          </a:p>
          <a:p>
            <a:pPr lvl="1"/>
            <a:r>
              <a:rPr lang="zh-CN" altLang="en-US" dirty="0" smtClean="0"/>
              <a:t>对细粒度（字级）的生产者－消费者同步是非常自然的</a:t>
            </a:r>
            <a:endParaRPr lang="en-US" altLang="zh-CN" dirty="0" smtClean="0"/>
          </a:p>
          <a:p>
            <a:pPr lvl="2"/>
            <a:r>
              <a:rPr lang="zh-CN" altLang="en-US" dirty="0" smtClean="0"/>
              <a:t>生产者：空时可写置为满；</a:t>
            </a:r>
            <a:endParaRPr lang="en-US" altLang="zh-CN" dirty="0" smtClean="0"/>
          </a:p>
          <a:p>
            <a:pPr lvl="2"/>
            <a:r>
              <a:rPr lang="zh-CN" altLang="en-US" dirty="0" smtClean="0"/>
              <a:t>消费者：满时可读置为空</a:t>
            </a:r>
            <a:endParaRPr lang="en-US" altLang="zh-CN" dirty="0" smtClean="0"/>
          </a:p>
          <a:p>
            <a:pPr lvl="1"/>
            <a:r>
              <a:rPr lang="zh-CN" altLang="en-US" dirty="0" smtClean="0"/>
              <a:t>硬件维持（读</a:t>
            </a:r>
            <a:r>
              <a:rPr lang="en-US" altLang="zh-CN" dirty="0" smtClean="0"/>
              <a:t>/</a:t>
            </a:r>
            <a:r>
              <a:rPr lang="zh-CN" altLang="en-US" dirty="0" smtClean="0"/>
              <a:t>写）“满</a:t>
            </a:r>
            <a:r>
              <a:rPr lang="en-US" altLang="zh-CN" dirty="0" smtClean="0"/>
              <a:t>/</a:t>
            </a:r>
            <a:r>
              <a:rPr lang="zh-CN" altLang="en-US" dirty="0" smtClean="0"/>
              <a:t>空”位操作的原子性</a:t>
            </a:r>
            <a:endParaRPr lang="en-US" altLang="zh-CN" dirty="0" smtClean="0"/>
          </a:p>
          <a:p>
            <a:pPr lvl="1"/>
            <a:r>
              <a:rPr lang="zh-CN" altLang="en-US" dirty="0" smtClean="0"/>
              <a:t>问题在于灵活性</a:t>
            </a:r>
            <a:endParaRPr lang="en-US" altLang="zh-CN" dirty="0" smtClean="0"/>
          </a:p>
          <a:p>
            <a:pPr lvl="2"/>
            <a:r>
              <a:rPr lang="zh-CN" altLang="en-US" dirty="0" smtClean="0"/>
              <a:t>多个消费者呢？消费者读前，有多个写呢？</a:t>
            </a:r>
            <a:endParaRPr lang="en-US" altLang="zh-CN" dirty="0" smtClean="0"/>
          </a:p>
          <a:p>
            <a:pPr lvl="2"/>
            <a:r>
              <a:rPr lang="zh-CN" altLang="en-US" dirty="0" smtClean="0"/>
              <a:t>需要语言支持来指定何时使用；复合的数据结构？</a:t>
            </a:r>
          </a:p>
        </p:txBody>
      </p:sp>
    </p:spTree>
    <p:extLst>
      <p:ext uri="{BB962C8B-B14F-4D97-AF65-F5344CB8AC3E}">
        <p14:creationId xmlns:p14="http://schemas.microsoft.com/office/powerpoint/2010/main" val="242456042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栅障</a:t>
            </a:r>
            <a:r>
              <a:rPr lang="en-US" altLang="zh-CN" dirty="0" smtClean="0"/>
              <a:t>(Barrier)</a:t>
            </a:r>
            <a:r>
              <a:rPr lang="zh-CN" altLang="en-US" dirty="0" smtClean="0"/>
              <a:t>：全局事件同步</a:t>
            </a:r>
            <a:endParaRPr lang="zh-CN" altLang="en-US" dirty="0"/>
          </a:p>
        </p:txBody>
      </p:sp>
      <p:sp>
        <p:nvSpPr>
          <p:cNvPr id="3" name="内容占位符 2"/>
          <p:cNvSpPr>
            <a:spLocks noGrp="1"/>
          </p:cNvSpPr>
          <p:nvPr>
            <p:ph idx="1"/>
          </p:nvPr>
        </p:nvSpPr>
        <p:spPr/>
        <p:txBody>
          <a:bodyPr/>
          <a:lstStyle/>
          <a:p>
            <a:r>
              <a:rPr lang="zh-CN" altLang="en-US" dirty="0"/>
              <a:t>硬件栅障</a:t>
            </a:r>
            <a:endParaRPr lang="en-US" altLang="zh-CN" dirty="0"/>
          </a:p>
          <a:p>
            <a:pPr lvl="1"/>
            <a:r>
              <a:rPr lang="zh-CN" altLang="en-US" dirty="0"/>
              <a:t>地址</a:t>
            </a:r>
            <a:r>
              <a:rPr lang="en-US" altLang="zh-CN" dirty="0"/>
              <a:t>/</a:t>
            </a:r>
            <a:r>
              <a:rPr lang="zh-CN" altLang="en-US" dirty="0"/>
              <a:t>数据总线之外的“线与”</a:t>
            </a:r>
            <a:r>
              <a:rPr lang="en-US" altLang="zh-CN" dirty="0"/>
              <a:t>barrier</a:t>
            </a:r>
            <a:r>
              <a:rPr lang="zh-CN" altLang="en-US" dirty="0"/>
              <a:t>线</a:t>
            </a:r>
            <a:endParaRPr lang="en-US" altLang="zh-CN" dirty="0"/>
          </a:p>
          <a:p>
            <a:pPr lvl="2"/>
            <a:r>
              <a:rPr lang="zh-CN" altLang="en-US" dirty="0"/>
              <a:t>处理器到达时置输入为高</a:t>
            </a:r>
            <a:r>
              <a:rPr lang="zh-CN" altLang="en-US" dirty="0" smtClean="0"/>
              <a:t>；等到</a:t>
            </a:r>
            <a:r>
              <a:rPr lang="en-US" altLang="zh-CN" dirty="0" smtClean="0"/>
              <a:t>barrier</a:t>
            </a:r>
            <a:r>
              <a:rPr lang="zh-CN" altLang="en-US" dirty="0" smtClean="0"/>
              <a:t>线的输出</a:t>
            </a:r>
            <a:r>
              <a:rPr lang="zh-CN" altLang="en-US" dirty="0"/>
              <a:t>为高时可</a:t>
            </a:r>
            <a:r>
              <a:rPr lang="zh-CN" altLang="en-US" dirty="0" smtClean="0"/>
              <a:t>离开栅障</a:t>
            </a:r>
            <a:endParaRPr lang="en-US" altLang="zh-CN" dirty="0"/>
          </a:p>
          <a:p>
            <a:pPr lvl="1"/>
            <a:r>
              <a:rPr lang="zh-CN" altLang="en-US" dirty="0"/>
              <a:t>实践中，用多条线，</a:t>
            </a:r>
            <a:r>
              <a:rPr lang="zh-CN" altLang="en-US" dirty="0" smtClean="0"/>
              <a:t>允许多个</a:t>
            </a:r>
            <a:r>
              <a:rPr lang="en-US" altLang="zh-CN" dirty="0" smtClean="0"/>
              <a:t>barrier</a:t>
            </a:r>
            <a:r>
              <a:rPr lang="zh-CN" altLang="en-US" dirty="0" smtClean="0"/>
              <a:t>时的重用</a:t>
            </a:r>
            <a:endParaRPr lang="en-US" altLang="zh-CN" dirty="0"/>
          </a:p>
          <a:p>
            <a:pPr lvl="1"/>
            <a:r>
              <a:rPr lang="zh-CN" altLang="en-US" dirty="0"/>
              <a:t>需要全局栅障且使用较为频繁时，很有用</a:t>
            </a:r>
            <a:endParaRPr lang="en-US" altLang="zh-CN" dirty="0"/>
          </a:p>
          <a:p>
            <a:pPr lvl="1"/>
            <a:r>
              <a:rPr lang="zh-CN" altLang="en-US" dirty="0"/>
              <a:t>较难支持处理器任意子集内的栅障</a:t>
            </a:r>
            <a:endParaRPr lang="en-US" altLang="zh-CN" dirty="0"/>
          </a:p>
          <a:p>
            <a:pPr lvl="2"/>
            <a:r>
              <a:rPr lang="zh-CN" altLang="en-US" dirty="0"/>
              <a:t>每个处理器上有多个进程时，更难处理</a:t>
            </a:r>
            <a:endParaRPr lang="en-US" altLang="zh-CN" dirty="0"/>
          </a:p>
          <a:p>
            <a:pPr lvl="1"/>
            <a:r>
              <a:rPr lang="zh-CN" altLang="en-US" dirty="0"/>
              <a:t>较难处理参与者数量和身份动态改变的情形</a:t>
            </a:r>
            <a:endParaRPr lang="en-US" altLang="zh-CN" dirty="0"/>
          </a:p>
          <a:p>
            <a:pPr lvl="2"/>
            <a:r>
              <a:rPr lang="zh-CN" altLang="en-US" dirty="0"/>
              <a:t>例如，后者出现在进程迁移之后</a:t>
            </a:r>
            <a:endParaRPr lang="en-US" altLang="zh-CN" dirty="0"/>
          </a:p>
          <a:p>
            <a:pPr lvl="1"/>
            <a:r>
              <a:rPr lang="zh-CN" altLang="en-US" dirty="0"/>
              <a:t>在如今的总线多处理机中，已不常见</a:t>
            </a:r>
          </a:p>
          <a:p>
            <a:r>
              <a:rPr lang="zh-CN" altLang="en-US" dirty="0" smtClean="0"/>
              <a:t>用锁、旗标、计数器实现的软件算法</a:t>
            </a:r>
            <a:endParaRPr lang="en-US" altLang="zh-CN" dirty="0" smtClean="0"/>
          </a:p>
        </p:txBody>
      </p:sp>
    </p:spTree>
    <p:extLst>
      <p:ext uri="{BB962C8B-B14F-4D97-AF65-F5344CB8AC3E}">
        <p14:creationId xmlns:p14="http://schemas.microsoft.com/office/powerpoint/2010/main" val="237014025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简单的集中化栅障</a:t>
            </a:r>
            <a:endParaRPr lang="zh-CN" altLang="en-US" dirty="0"/>
          </a:p>
        </p:txBody>
      </p:sp>
      <p:sp>
        <p:nvSpPr>
          <p:cNvPr id="3" name="内容占位符 2"/>
          <p:cNvSpPr>
            <a:spLocks noGrp="1"/>
          </p:cNvSpPr>
          <p:nvPr>
            <p:ph idx="1"/>
          </p:nvPr>
        </p:nvSpPr>
        <p:spPr/>
        <p:txBody>
          <a:bodyPr/>
          <a:lstStyle/>
          <a:p>
            <a:r>
              <a:rPr lang="zh-CN" altLang="en-US" dirty="0" smtClean="0"/>
              <a:t>用共享的计数器记录到达栅障的处理器数</a:t>
            </a:r>
            <a:endParaRPr lang="en-US" altLang="zh-CN" dirty="0" smtClean="0"/>
          </a:p>
          <a:p>
            <a:pPr lvl="1"/>
            <a:r>
              <a:rPr lang="zh-CN" altLang="en-US" dirty="0" smtClean="0"/>
              <a:t>来个处理器就增量（锁），直到所有均到达</a:t>
            </a:r>
            <a:endParaRPr lang="en-US" altLang="zh-CN" dirty="0" smtClean="0"/>
          </a:p>
        </p:txBody>
      </p:sp>
      <p:sp>
        <p:nvSpPr>
          <p:cNvPr id="6" name="Rectangle 4"/>
          <p:cNvSpPr>
            <a:spLocks noChangeArrowheads="1"/>
          </p:cNvSpPr>
          <p:nvPr/>
        </p:nvSpPr>
        <p:spPr bwMode="auto">
          <a:xfrm>
            <a:off x="660004" y="2456795"/>
            <a:ext cx="10871992" cy="4401205"/>
          </a:xfrm>
          <a:prstGeom prst="rect">
            <a:avLst/>
          </a:prstGeom>
          <a:noFill/>
          <a:ln w="9525">
            <a:noFill/>
            <a:miter lim="800000"/>
            <a:headEnd/>
            <a:tailEnd/>
          </a:ln>
          <a:effectLst/>
        </p:spPr>
        <p:txBody>
          <a:bodyPr wrap="square">
            <a:spAutoFit/>
          </a:bodyPr>
          <a:lstStyle/>
          <a:p>
            <a:pPr>
              <a:spcBef>
                <a:spcPts val="800"/>
              </a:spcBef>
              <a:tabLst>
                <a:tab pos="450850" algn="l"/>
              </a:tabLst>
            </a:pPr>
            <a:r>
              <a:rPr lang="en-US" altLang="en-US" sz="2000" b="1" dirty="0" err="1">
                <a:solidFill>
                  <a:srgbClr val="0000FF"/>
                </a:solidFill>
                <a:latin typeface="Courier" pitchFamily="49" charset="0"/>
              </a:rPr>
              <a:t>struct</a:t>
            </a: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bar_type</a:t>
            </a: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int</a:t>
            </a:r>
            <a:r>
              <a:rPr lang="en-US" altLang="en-US" sz="2000" b="1" dirty="0">
                <a:solidFill>
                  <a:srgbClr val="0000FF"/>
                </a:solidFill>
                <a:latin typeface="Courier" pitchFamily="49" charset="0"/>
              </a:rPr>
              <a:t> counter; </a:t>
            </a:r>
            <a:r>
              <a:rPr lang="en-US" altLang="en-US" sz="2000" b="1" dirty="0" err="1">
                <a:solidFill>
                  <a:srgbClr val="0000FF"/>
                </a:solidFill>
                <a:latin typeface="Courier" pitchFamily="49" charset="0"/>
              </a:rPr>
              <a:t>struct</a:t>
            </a: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lock_type</a:t>
            </a:r>
            <a:r>
              <a:rPr lang="en-US" altLang="en-US" sz="2000" b="1" dirty="0">
                <a:solidFill>
                  <a:srgbClr val="0000FF"/>
                </a:solidFill>
                <a:latin typeface="Courier" pitchFamily="49" charset="0"/>
              </a:rPr>
              <a:t> lock; 	</a:t>
            </a:r>
            <a:r>
              <a:rPr lang="en-US" altLang="zh-CN" sz="2000" b="1" dirty="0" err="1" smtClean="0">
                <a:solidFill>
                  <a:srgbClr val="0000FF"/>
                </a:solidFill>
                <a:latin typeface="Courier" pitchFamily="49" charset="0"/>
              </a:rPr>
              <a:t>i</a:t>
            </a:r>
            <a:r>
              <a:rPr lang="en-US" altLang="en-US" sz="2000" b="1" dirty="0" err="1" smtClean="0">
                <a:solidFill>
                  <a:srgbClr val="0000FF"/>
                </a:solidFill>
                <a:latin typeface="Courier" pitchFamily="49" charset="0"/>
              </a:rPr>
              <a:t>nt</a:t>
            </a:r>
            <a:r>
              <a:rPr lang="en-US" altLang="en-US" sz="2000" b="1" dirty="0" smtClean="0">
                <a:solidFill>
                  <a:srgbClr val="0000FF"/>
                </a:solidFill>
                <a:latin typeface="Courier" pitchFamily="49" charset="0"/>
              </a:rPr>
              <a:t> </a:t>
            </a:r>
            <a:r>
              <a:rPr lang="en-US" altLang="en-US" sz="2000" b="1" dirty="0">
                <a:solidFill>
                  <a:srgbClr val="0000FF"/>
                </a:solidFill>
                <a:latin typeface="Courier" pitchFamily="49" charset="0"/>
              </a:rPr>
              <a:t>flag = 0;} </a:t>
            </a:r>
            <a:r>
              <a:rPr lang="en-US" altLang="en-US" sz="2000" b="1" dirty="0" smtClean="0">
                <a:solidFill>
                  <a:srgbClr val="0000FF"/>
                </a:solidFill>
                <a:latin typeface="Courier" pitchFamily="49" charset="0"/>
              </a:rPr>
              <a:t>		</a:t>
            </a:r>
            <a:r>
              <a:rPr lang="en-US" altLang="en-US" sz="2000" b="1" dirty="0" err="1" smtClean="0">
                <a:solidFill>
                  <a:srgbClr val="0000FF"/>
                </a:solidFill>
                <a:latin typeface="Courier" pitchFamily="49" charset="0"/>
              </a:rPr>
              <a:t>bar_name</a:t>
            </a:r>
            <a:r>
              <a:rPr lang="en-US" altLang="en-US" sz="2000" b="1" dirty="0">
                <a:solidFill>
                  <a:srgbClr val="0000FF"/>
                </a:solidFill>
                <a:latin typeface="Courier" pitchFamily="49" charset="0"/>
              </a:rPr>
              <a:t>;</a:t>
            </a:r>
          </a:p>
          <a:p>
            <a:pPr>
              <a:tabLst>
                <a:tab pos="450850" algn="l"/>
              </a:tabLst>
            </a:pPr>
            <a:r>
              <a:rPr lang="en-US" altLang="en-US" sz="2000" b="1" dirty="0">
                <a:solidFill>
                  <a:srgbClr val="0000FF"/>
                </a:solidFill>
                <a:latin typeface="Courier" pitchFamily="49" charset="0"/>
              </a:rPr>
              <a:t>BARRIER (</a:t>
            </a:r>
            <a:r>
              <a:rPr lang="en-US" altLang="en-US" sz="2000" b="1" dirty="0" err="1">
                <a:solidFill>
                  <a:srgbClr val="0000FF"/>
                </a:solidFill>
                <a:latin typeface="Courier" pitchFamily="49" charset="0"/>
              </a:rPr>
              <a:t>bar_name</a:t>
            </a:r>
            <a:r>
              <a:rPr lang="en-US" altLang="en-US" sz="2000" b="1" dirty="0">
                <a:solidFill>
                  <a:srgbClr val="0000FF"/>
                </a:solidFill>
                <a:latin typeface="Courier" pitchFamily="49" charset="0"/>
              </a:rPr>
              <a:t>, p) {</a:t>
            </a:r>
          </a:p>
          <a:p>
            <a:pPr>
              <a:tabLst>
                <a:tab pos="450850" algn="l"/>
              </a:tabLst>
            </a:pPr>
            <a:r>
              <a:rPr lang="en-US" altLang="en-US" sz="2000" b="1" dirty="0">
                <a:solidFill>
                  <a:srgbClr val="0000FF"/>
                </a:solidFill>
                <a:latin typeface="Courier" pitchFamily="49" charset="0"/>
              </a:rPr>
              <a:t>	LOCK(</a:t>
            </a:r>
            <a:r>
              <a:rPr lang="en-US" altLang="en-US" sz="2000" b="1" dirty="0" err="1">
                <a:solidFill>
                  <a:srgbClr val="0000FF"/>
                </a:solidFill>
                <a:latin typeface="Courier" pitchFamily="49" charset="0"/>
              </a:rPr>
              <a:t>bar_name.lock</a:t>
            </a:r>
            <a:r>
              <a:rPr lang="en-US" altLang="en-US" sz="2000" b="1" dirty="0">
                <a:solidFill>
                  <a:srgbClr val="0000FF"/>
                </a:solidFill>
                <a:latin typeface="Courier" pitchFamily="49" charset="0"/>
              </a:rPr>
              <a:t>);</a:t>
            </a:r>
          </a:p>
          <a:p>
            <a:pPr>
              <a:tabLst>
                <a:tab pos="450850" algn="l"/>
              </a:tabLst>
            </a:pPr>
            <a:r>
              <a:rPr lang="en-US" altLang="en-US" sz="2000" b="1" dirty="0">
                <a:solidFill>
                  <a:srgbClr val="0000FF"/>
                </a:solidFill>
                <a:latin typeface="Courier" pitchFamily="49" charset="0"/>
              </a:rPr>
              <a:t>	if (</a:t>
            </a:r>
            <a:r>
              <a:rPr lang="en-US" altLang="en-US" sz="2000" b="1" dirty="0" err="1">
                <a:solidFill>
                  <a:srgbClr val="0000FF"/>
                </a:solidFill>
                <a:latin typeface="Courier" pitchFamily="49" charset="0"/>
              </a:rPr>
              <a:t>bar_name.counter</a:t>
            </a:r>
            <a:r>
              <a:rPr lang="en-US" altLang="en-US" sz="2000" b="1" dirty="0">
                <a:solidFill>
                  <a:srgbClr val="0000FF"/>
                </a:solidFill>
                <a:latin typeface="Courier" pitchFamily="49" charset="0"/>
              </a:rPr>
              <a:t> == 0) </a:t>
            </a:r>
          </a:p>
          <a:p>
            <a:pPr>
              <a:tabLst>
                <a:tab pos="450850"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bar_name.flag</a:t>
            </a:r>
            <a:r>
              <a:rPr lang="en-US" altLang="en-US" sz="2000" b="1" dirty="0">
                <a:solidFill>
                  <a:srgbClr val="0000FF"/>
                </a:solidFill>
                <a:latin typeface="Courier" pitchFamily="49" charset="0"/>
              </a:rPr>
              <a:t> = 0; 		</a:t>
            </a:r>
            <a:r>
              <a:rPr lang="en-US" altLang="en-US" sz="2000" b="1" dirty="0" smtClean="0">
                <a:solidFill>
                  <a:srgbClr val="0000FF"/>
                </a:solidFill>
                <a:latin typeface="Courier" pitchFamily="49" charset="0"/>
              </a:rPr>
              <a:t>	</a:t>
            </a:r>
            <a:r>
              <a:rPr lang="en-US" altLang="en-US" sz="2000" b="1" i="1" dirty="0" smtClean="0">
                <a:solidFill>
                  <a:srgbClr val="0000FF"/>
                </a:solidFill>
                <a:latin typeface="Times New Roman" charset="0"/>
              </a:rPr>
              <a:t>/* </a:t>
            </a:r>
            <a:r>
              <a:rPr lang="en-US" altLang="en-US" sz="2000" b="1" i="1" dirty="0">
                <a:solidFill>
                  <a:srgbClr val="0000FF"/>
                </a:solidFill>
                <a:latin typeface="Times New Roman" charset="0"/>
              </a:rPr>
              <a:t>reset busy </a:t>
            </a:r>
            <a:r>
              <a:rPr lang="en-US" altLang="en-US" sz="2000" b="1" i="1" dirty="0" smtClean="0">
                <a:solidFill>
                  <a:srgbClr val="0000FF"/>
                </a:solidFill>
                <a:latin typeface="Times New Roman" charset="0"/>
              </a:rPr>
              <a:t>wait flag </a:t>
            </a:r>
            <a:r>
              <a:rPr lang="en-US" altLang="en-US" sz="2000" b="1" i="1" dirty="0">
                <a:solidFill>
                  <a:srgbClr val="0000FF"/>
                </a:solidFill>
                <a:latin typeface="Times New Roman" charset="0"/>
              </a:rPr>
              <a:t>if first to </a:t>
            </a:r>
            <a:r>
              <a:rPr lang="en-US" altLang="en-US" sz="2000" b="1" i="1" dirty="0" smtClean="0">
                <a:solidFill>
                  <a:srgbClr val="0000FF"/>
                </a:solidFill>
                <a:latin typeface="Times New Roman" charset="0"/>
              </a:rPr>
              <a:t>reach */</a:t>
            </a:r>
            <a:endParaRPr lang="en-US" altLang="en-US" sz="2000" b="1" dirty="0">
              <a:solidFill>
                <a:srgbClr val="0000FF"/>
              </a:solidFill>
              <a:latin typeface="Courier" pitchFamily="49" charset="0"/>
            </a:endParaRPr>
          </a:p>
          <a:p>
            <a:pPr>
              <a:tabLst>
                <a:tab pos="450850"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mycount</a:t>
            </a:r>
            <a:r>
              <a:rPr lang="en-US" altLang="en-US" sz="2000" b="1" dirty="0">
                <a:solidFill>
                  <a:srgbClr val="0000FF"/>
                </a:solidFill>
                <a:latin typeface="Courier" pitchFamily="49" charset="0"/>
              </a:rPr>
              <a:t> = </a:t>
            </a:r>
            <a:r>
              <a:rPr lang="en-US" altLang="en-US" sz="2000" b="1" dirty="0" err="1">
                <a:solidFill>
                  <a:srgbClr val="0000FF"/>
                </a:solidFill>
                <a:latin typeface="Courier" pitchFamily="49" charset="0"/>
              </a:rPr>
              <a:t>bar_name.counter</a:t>
            </a:r>
            <a:r>
              <a:rPr lang="en-US" altLang="en-US" sz="2000" b="1" dirty="0">
                <a:solidFill>
                  <a:srgbClr val="0000FF"/>
                </a:solidFill>
                <a:latin typeface="Courier" pitchFamily="49" charset="0"/>
              </a:rPr>
              <a:t>++;		</a:t>
            </a:r>
            <a:r>
              <a:rPr lang="en-US" altLang="en-US" sz="2000" b="1" i="1" dirty="0">
                <a:solidFill>
                  <a:srgbClr val="0000FF"/>
                </a:solidFill>
                <a:latin typeface="Times New Roman" charset="0"/>
              </a:rPr>
              <a:t>/* </a:t>
            </a:r>
            <a:r>
              <a:rPr lang="en-US" altLang="en-US" sz="2000" b="1" i="1" dirty="0" err="1">
                <a:solidFill>
                  <a:srgbClr val="0000FF"/>
                </a:solidFill>
                <a:latin typeface="Times New Roman" charset="0"/>
              </a:rPr>
              <a:t>mycount</a:t>
            </a:r>
            <a:r>
              <a:rPr lang="en-US" altLang="en-US" sz="2000" b="1" i="1" dirty="0">
                <a:solidFill>
                  <a:srgbClr val="0000FF"/>
                </a:solidFill>
                <a:latin typeface="Times New Roman" charset="0"/>
              </a:rPr>
              <a:t> is private */</a:t>
            </a:r>
            <a:endParaRPr lang="en-US" altLang="en-US" sz="2000" b="1" dirty="0">
              <a:solidFill>
                <a:srgbClr val="0000FF"/>
              </a:solidFill>
              <a:latin typeface="Courier" pitchFamily="49" charset="0"/>
            </a:endParaRPr>
          </a:p>
          <a:p>
            <a:pPr>
              <a:tabLst>
                <a:tab pos="450850" algn="l"/>
              </a:tabLst>
            </a:pPr>
            <a:r>
              <a:rPr lang="en-US" altLang="en-US" sz="2000" b="1" dirty="0">
                <a:solidFill>
                  <a:srgbClr val="0000FF"/>
                </a:solidFill>
                <a:latin typeface="Courier" pitchFamily="49" charset="0"/>
              </a:rPr>
              <a:t>	UNLOCK(</a:t>
            </a:r>
            <a:r>
              <a:rPr lang="en-US" altLang="en-US" sz="2000" b="1" dirty="0" err="1">
                <a:solidFill>
                  <a:srgbClr val="0000FF"/>
                </a:solidFill>
                <a:latin typeface="Courier" pitchFamily="49" charset="0"/>
              </a:rPr>
              <a:t>bar_name.lock</a:t>
            </a:r>
            <a:r>
              <a:rPr lang="en-US" altLang="en-US" sz="2000" b="1" dirty="0">
                <a:solidFill>
                  <a:srgbClr val="0000FF"/>
                </a:solidFill>
                <a:latin typeface="Courier" pitchFamily="49" charset="0"/>
              </a:rPr>
              <a:t>);</a:t>
            </a:r>
          </a:p>
          <a:p>
            <a:pPr>
              <a:tabLst>
                <a:tab pos="450850" algn="l"/>
              </a:tabLst>
            </a:pPr>
            <a:r>
              <a:rPr lang="en-US" altLang="en-US" sz="2000" b="1" dirty="0">
                <a:solidFill>
                  <a:srgbClr val="0000FF"/>
                </a:solidFill>
                <a:latin typeface="Courier" pitchFamily="49" charset="0"/>
              </a:rPr>
              <a:t>	if (</a:t>
            </a:r>
            <a:r>
              <a:rPr lang="en-US" altLang="en-US" sz="2000" b="1" dirty="0" err="1">
                <a:solidFill>
                  <a:srgbClr val="0000FF"/>
                </a:solidFill>
                <a:latin typeface="Courier" pitchFamily="49" charset="0"/>
              </a:rPr>
              <a:t>mycount</a:t>
            </a:r>
            <a:r>
              <a:rPr lang="en-US" altLang="en-US" sz="2000" b="1" dirty="0">
                <a:solidFill>
                  <a:srgbClr val="0000FF"/>
                </a:solidFill>
                <a:latin typeface="Courier" pitchFamily="49" charset="0"/>
              </a:rPr>
              <a:t> == p) {			</a:t>
            </a:r>
            <a:r>
              <a:rPr lang="en-US" altLang="en-US" sz="2000" b="1" dirty="0" smtClean="0">
                <a:solidFill>
                  <a:srgbClr val="0000FF"/>
                </a:solidFill>
                <a:latin typeface="Courier" pitchFamily="49" charset="0"/>
              </a:rPr>
              <a:t>	</a:t>
            </a:r>
            <a:r>
              <a:rPr lang="en-US" altLang="en-US" sz="2000" b="1" i="1" dirty="0" smtClean="0">
                <a:solidFill>
                  <a:srgbClr val="0000FF"/>
                </a:solidFill>
                <a:latin typeface="Times New Roman" charset="0"/>
              </a:rPr>
              <a:t>/* </a:t>
            </a:r>
            <a:r>
              <a:rPr lang="en-US" altLang="en-US" sz="2000" b="1" i="1" dirty="0">
                <a:solidFill>
                  <a:srgbClr val="0000FF"/>
                </a:solidFill>
                <a:latin typeface="Times New Roman" charset="0"/>
              </a:rPr>
              <a:t>last to arrive */</a:t>
            </a:r>
            <a:r>
              <a:rPr lang="en-US" altLang="en-US" sz="2000" b="1" dirty="0">
                <a:solidFill>
                  <a:srgbClr val="0000FF"/>
                </a:solidFill>
                <a:latin typeface="Courier" pitchFamily="49" charset="0"/>
              </a:rPr>
              <a:t>	</a:t>
            </a:r>
          </a:p>
          <a:p>
            <a:pPr>
              <a:tabLst>
                <a:tab pos="450850"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bar_name.counter</a:t>
            </a:r>
            <a:r>
              <a:rPr lang="en-US" altLang="en-US" sz="2000" b="1" dirty="0">
                <a:solidFill>
                  <a:srgbClr val="0000FF"/>
                </a:solidFill>
                <a:latin typeface="Courier" pitchFamily="49" charset="0"/>
              </a:rPr>
              <a:t> = 0;		</a:t>
            </a:r>
            <a:r>
              <a:rPr lang="en-US" altLang="en-US" sz="2000" b="1" dirty="0" smtClean="0">
                <a:solidFill>
                  <a:srgbClr val="0000FF"/>
                </a:solidFill>
                <a:latin typeface="Courier" pitchFamily="49" charset="0"/>
              </a:rPr>
              <a:t>	</a:t>
            </a:r>
            <a:r>
              <a:rPr lang="en-US" altLang="en-US" sz="2000" b="1" i="1" dirty="0" smtClean="0">
                <a:solidFill>
                  <a:srgbClr val="0000FF"/>
                </a:solidFill>
                <a:latin typeface="Times New Roman" charset="0"/>
              </a:rPr>
              <a:t>/* </a:t>
            </a:r>
            <a:r>
              <a:rPr lang="en-US" altLang="en-US" sz="2000" b="1" i="1" dirty="0">
                <a:solidFill>
                  <a:srgbClr val="0000FF"/>
                </a:solidFill>
                <a:latin typeface="Times New Roman" charset="0"/>
              </a:rPr>
              <a:t>reset for next </a:t>
            </a:r>
            <a:r>
              <a:rPr lang="en-US" altLang="en-US" sz="2000" b="1" i="1" dirty="0" smtClean="0">
                <a:solidFill>
                  <a:srgbClr val="0000FF"/>
                </a:solidFill>
                <a:latin typeface="Times New Roman" charset="0"/>
              </a:rPr>
              <a:t>barrier usage </a:t>
            </a:r>
            <a:r>
              <a:rPr lang="en-US" altLang="en-US" sz="2000" b="1" i="1" dirty="0">
                <a:solidFill>
                  <a:srgbClr val="0000FF"/>
                </a:solidFill>
                <a:latin typeface="Times New Roman" charset="0"/>
              </a:rPr>
              <a:t>*/</a:t>
            </a:r>
            <a:endParaRPr lang="en-US" altLang="en-US" sz="2000" b="1" dirty="0">
              <a:solidFill>
                <a:srgbClr val="0000FF"/>
              </a:solidFill>
              <a:latin typeface="Courier" pitchFamily="49" charset="0"/>
            </a:endParaRPr>
          </a:p>
          <a:p>
            <a:pPr>
              <a:tabLst>
                <a:tab pos="450850"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bar_name.flag</a:t>
            </a:r>
            <a:r>
              <a:rPr lang="en-US" altLang="en-US" sz="2000" b="1" dirty="0">
                <a:solidFill>
                  <a:srgbClr val="0000FF"/>
                </a:solidFill>
                <a:latin typeface="Courier" pitchFamily="49" charset="0"/>
              </a:rPr>
              <a:t> = 1;			</a:t>
            </a:r>
            <a:r>
              <a:rPr lang="en-US" altLang="en-US" sz="2000" b="1" i="1" dirty="0">
                <a:solidFill>
                  <a:srgbClr val="0000FF"/>
                </a:solidFill>
                <a:latin typeface="Times New Roman" charset="0"/>
              </a:rPr>
              <a:t>/* release </a:t>
            </a:r>
            <a:r>
              <a:rPr lang="en-US" altLang="en-US" sz="2000" b="1" i="1" dirty="0" smtClean="0">
                <a:solidFill>
                  <a:srgbClr val="0000FF"/>
                </a:solidFill>
                <a:latin typeface="Times New Roman" charset="0"/>
              </a:rPr>
              <a:t>all p-1 waiters </a:t>
            </a:r>
            <a:r>
              <a:rPr lang="en-US" altLang="en-US" sz="2000" b="1" i="1" dirty="0">
                <a:solidFill>
                  <a:srgbClr val="0000FF"/>
                </a:solidFill>
                <a:latin typeface="Times New Roman" charset="0"/>
              </a:rPr>
              <a:t>*/</a:t>
            </a:r>
            <a:endParaRPr lang="en-US" altLang="en-US" sz="2000" b="1" dirty="0">
              <a:solidFill>
                <a:srgbClr val="0000FF"/>
              </a:solidFill>
              <a:latin typeface="Courier" pitchFamily="49" charset="0"/>
            </a:endParaRPr>
          </a:p>
          <a:p>
            <a:pPr>
              <a:tabLst>
                <a:tab pos="450850" algn="l"/>
              </a:tabLst>
            </a:pPr>
            <a:r>
              <a:rPr lang="en-US" altLang="en-US" sz="2000" b="1" dirty="0">
                <a:solidFill>
                  <a:srgbClr val="0000FF"/>
                </a:solidFill>
                <a:latin typeface="Courier" pitchFamily="49" charset="0"/>
              </a:rPr>
              <a:t>	}</a:t>
            </a:r>
          </a:p>
          <a:p>
            <a:pPr>
              <a:tabLst>
                <a:tab pos="450850" algn="l"/>
              </a:tabLst>
            </a:pPr>
            <a:r>
              <a:rPr lang="en-US" altLang="en-US" sz="2000" b="1" dirty="0">
                <a:solidFill>
                  <a:srgbClr val="0000FF"/>
                </a:solidFill>
                <a:latin typeface="Courier" pitchFamily="49" charset="0"/>
              </a:rPr>
              <a:t>	else while (</a:t>
            </a:r>
            <a:r>
              <a:rPr lang="en-US" altLang="en-US" sz="2000" b="1" dirty="0" err="1">
                <a:solidFill>
                  <a:srgbClr val="0000FF"/>
                </a:solidFill>
                <a:latin typeface="Courier" pitchFamily="49" charset="0"/>
              </a:rPr>
              <a:t>bar_name.flag</a:t>
            </a:r>
            <a:r>
              <a:rPr lang="en-US" altLang="en-US" sz="2000" b="1" dirty="0">
                <a:solidFill>
                  <a:srgbClr val="0000FF"/>
                </a:solidFill>
                <a:latin typeface="Courier" pitchFamily="49" charset="0"/>
              </a:rPr>
              <a:t> == 0) {};  	</a:t>
            </a:r>
            <a:r>
              <a:rPr lang="en-US" altLang="en-US" sz="2000" b="1" i="1" dirty="0">
                <a:solidFill>
                  <a:srgbClr val="0000FF"/>
                </a:solidFill>
                <a:latin typeface="Times New Roman" charset="0"/>
              </a:rPr>
              <a:t>/* busy wait for release */</a:t>
            </a:r>
            <a:endParaRPr lang="en-US" altLang="en-US" sz="2000" b="1" dirty="0">
              <a:solidFill>
                <a:srgbClr val="0000FF"/>
              </a:solidFill>
              <a:latin typeface="Courier" pitchFamily="49" charset="0"/>
            </a:endParaRPr>
          </a:p>
          <a:p>
            <a:pPr>
              <a:tabLst>
                <a:tab pos="450850" algn="l"/>
              </a:tabLst>
            </a:pPr>
            <a:r>
              <a:rPr lang="en-US" altLang="en-US" sz="2000" b="1" dirty="0">
                <a:solidFill>
                  <a:srgbClr val="0000FF"/>
                </a:solidFill>
                <a:latin typeface="Courier" pitchFamily="49" charset="0"/>
              </a:rPr>
              <a:t>}</a:t>
            </a:r>
          </a:p>
        </p:txBody>
      </p:sp>
    </p:spTree>
    <p:extLst>
      <p:ext uri="{BB962C8B-B14F-4D97-AF65-F5344CB8AC3E}">
        <p14:creationId xmlns:p14="http://schemas.microsoft.com/office/powerpoint/2010/main" val="247685084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正确的集中化栅障</a:t>
            </a:r>
            <a:endParaRPr lang="zh-CN" altLang="en-US" dirty="0"/>
          </a:p>
        </p:txBody>
      </p:sp>
      <p:sp>
        <p:nvSpPr>
          <p:cNvPr id="3" name="内容占位符 2"/>
          <p:cNvSpPr>
            <a:spLocks noGrp="1"/>
          </p:cNvSpPr>
          <p:nvPr>
            <p:ph idx="1"/>
          </p:nvPr>
        </p:nvSpPr>
        <p:spPr/>
        <p:txBody>
          <a:bodyPr/>
          <a:lstStyle/>
          <a:p>
            <a:r>
              <a:rPr lang="zh-CN" altLang="en-US" dirty="0" smtClean="0"/>
              <a:t>第一个离开的进程又连续地进入同名栅障</a:t>
            </a:r>
            <a:endParaRPr lang="en-US" altLang="zh-CN" dirty="0" smtClean="0"/>
          </a:p>
          <a:p>
            <a:pPr lvl="1"/>
            <a:r>
              <a:rPr lang="zh-CN" altLang="en-US" dirty="0" smtClean="0"/>
              <a:t>重置</a:t>
            </a:r>
            <a:r>
              <a:rPr lang="en-US" altLang="zh-CN" dirty="0" smtClean="0"/>
              <a:t>flag</a:t>
            </a:r>
            <a:r>
              <a:rPr lang="zh-CN" altLang="en-US" dirty="0" smtClean="0"/>
              <a:t>为</a:t>
            </a:r>
            <a:r>
              <a:rPr lang="en-US" altLang="zh-CN" dirty="0" smtClean="0"/>
              <a:t>0</a:t>
            </a:r>
            <a:r>
              <a:rPr lang="zh-CN" altLang="en-US" dirty="0" smtClean="0"/>
              <a:t>，但此时还有进程尚未离开第一个栅障</a:t>
            </a:r>
            <a:endParaRPr lang="en-US" altLang="zh-CN" dirty="0" smtClean="0"/>
          </a:p>
          <a:p>
            <a:pPr lvl="1"/>
            <a:r>
              <a:rPr lang="zh-CN" altLang="en-US" dirty="0" smtClean="0"/>
              <a:t>导致部分进程可能陷入第一个栅障，永远不能离开</a:t>
            </a:r>
            <a:endParaRPr lang="en-US" altLang="zh-CN" dirty="0" smtClean="0"/>
          </a:p>
          <a:p>
            <a:r>
              <a:rPr lang="zh-CN" altLang="en-US" dirty="0" smtClean="0"/>
              <a:t>必须防止新进程进入同名栅障，直到所有进程离开上一个栅障</a:t>
            </a:r>
            <a:endParaRPr lang="en-US" altLang="zh-CN" dirty="0" smtClean="0"/>
          </a:p>
          <a:p>
            <a:pPr lvl="1"/>
            <a:r>
              <a:rPr lang="zh-CN" altLang="en-US" dirty="0" smtClean="0"/>
              <a:t>也许可用另一个计数器，但增加了延迟和冲突</a:t>
            </a:r>
            <a:endParaRPr lang="en-US" altLang="zh-CN" dirty="0" smtClean="0"/>
          </a:p>
          <a:p>
            <a:pPr lvl="1"/>
            <a:r>
              <a:rPr lang="zh-CN" altLang="en-US" dirty="0" smtClean="0"/>
              <a:t>或</a:t>
            </a:r>
            <a:r>
              <a:rPr lang="zh-CN" altLang="en-US" dirty="0"/>
              <a:t>要求程序使用新的栅障</a:t>
            </a:r>
            <a:r>
              <a:rPr lang="zh-CN" altLang="en-US" dirty="0" smtClean="0"/>
              <a:t>，灵活性上有所限制</a:t>
            </a:r>
            <a:endParaRPr lang="en-US" altLang="zh-CN" dirty="0" smtClean="0"/>
          </a:p>
          <a:p>
            <a:r>
              <a:rPr lang="zh-CN" altLang="en-US" dirty="0" smtClean="0"/>
              <a:t>采用逆转式</a:t>
            </a:r>
            <a:r>
              <a:rPr lang="en-US" altLang="zh-CN" dirty="0" smtClean="0"/>
              <a:t>(sense reversal)</a:t>
            </a:r>
            <a:r>
              <a:rPr lang="zh-CN" altLang="en-US" dirty="0" smtClean="0"/>
              <a:t>旗标</a:t>
            </a:r>
            <a:endParaRPr lang="en-US" altLang="zh-CN" dirty="0"/>
          </a:p>
          <a:p>
            <a:pPr lvl="1"/>
            <a:r>
              <a:rPr lang="zh-CN" altLang="en-US" dirty="0" smtClean="0"/>
              <a:t>第二次进入时，旗标取下一个不同的值</a:t>
            </a:r>
            <a:endParaRPr lang="en-US" altLang="zh-CN" dirty="0" smtClean="0"/>
          </a:p>
          <a:p>
            <a:pPr lvl="1"/>
            <a:r>
              <a:rPr lang="zh-CN" altLang="en-US" dirty="0" smtClean="0"/>
              <a:t>实际上只需要两个值，如</a:t>
            </a:r>
            <a:r>
              <a:rPr lang="en-US" altLang="zh-CN" dirty="0" smtClean="0"/>
              <a:t>0</a:t>
            </a:r>
            <a:r>
              <a:rPr lang="zh-CN" altLang="en-US" dirty="0" smtClean="0"/>
              <a:t>和</a:t>
            </a:r>
            <a:r>
              <a:rPr lang="en-US" altLang="zh-CN" dirty="0" smtClean="0"/>
              <a:t>1</a:t>
            </a:r>
            <a:r>
              <a:rPr lang="zh-CN" altLang="en-US" dirty="0" smtClean="0"/>
              <a:t>，来回切换</a:t>
            </a:r>
            <a:endParaRPr lang="en-US" altLang="zh-CN" dirty="0" smtClean="0"/>
          </a:p>
          <a:p>
            <a:pPr lvl="1"/>
            <a:r>
              <a:rPr lang="zh-CN" altLang="en-US" dirty="0" smtClean="0"/>
              <a:t>仅当所有进程到达时，才切换此值</a:t>
            </a:r>
            <a:endParaRPr lang="en-US" altLang="zh-CN" dirty="0"/>
          </a:p>
        </p:txBody>
      </p:sp>
      <p:sp>
        <p:nvSpPr>
          <p:cNvPr id="7" name="TextBox 6"/>
          <p:cNvSpPr txBox="1"/>
          <p:nvPr/>
        </p:nvSpPr>
        <p:spPr>
          <a:xfrm>
            <a:off x="8112224" y="4113076"/>
            <a:ext cx="3384376" cy="1569660"/>
          </a:xfrm>
          <a:prstGeom prst="rect">
            <a:avLst/>
          </a:prstGeom>
          <a:noFill/>
        </p:spPr>
        <p:txBody>
          <a:bodyPr wrap="square" rtlCol="0">
            <a:spAutoFit/>
          </a:bodyPr>
          <a:lstStyle/>
          <a:p>
            <a:r>
              <a:rPr lang="en-US" altLang="zh-CN" sz="2400" b="1" dirty="0">
                <a:solidFill>
                  <a:srgbClr val="0070C0"/>
                </a:solidFill>
                <a:latin typeface="+mn-lt"/>
              </a:rPr>
              <a:t>Some</a:t>
            </a:r>
            <a:r>
              <a:rPr lang="en-US" altLang="zh-CN" sz="2400" b="1" dirty="0" smtClean="0">
                <a:solidFill>
                  <a:srgbClr val="0070C0"/>
                </a:solidFill>
                <a:latin typeface="Courier"/>
              </a:rPr>
              <a:t> </a:t>
            </a:r>
            <a:r>
              <a:rPr lang="en-US" altLang="zh-CN" sz="2400" b="1" dirty="0">
                <a:solidFill>
                  <a:srgbClr val="0070C0"/>
                </a:solidFill>
                <a:latin typeface="+mn-lt"/>
              </a:rPr>
              <a:t>computation</a:t>
            </a:r>
          </a:p>
          <a:p>
            <a:r>
              <a:rPr lang="en-US" altLang="zh-CN" sz="2400" b="1" dirty="0" smtClean="0">
                <a:solidFill>
                  <a:srgbClr val="0070C0"/>
                </a:solidFill>
                <a:latin typeface="Courier"/>
              </a:rPr>
              <a:t>Barrier(bar1,p</a:t>
            </a:r>
            <a:r>
              <a:rPr lang="en-US" altLang="zh-CN" sz="2400" b="1" dirty="0">
                <a:solidFill>
                  <a:srgbClr val="0070C0"/>
                </a:solidFill>
                <a:latin typeface="Courier"/>
              </a:rPr>
              <a:t>)</a:t>
            </a:r>
          </a:p>
          <a:p>
            <a:r>
              <a:rPr lang="en-US" altLang="zh-CN" sz="2400" b="1" dirty="0">
                <a:solidFill>
                  <a:srgbClr val="0070C0"/>
                </a:solidFill>
                <a:latin typeface="+mn-lt"/>
              </a:rPr>
              <a:t>Do some </a:t>
            </a:r>
            <a:r>
              <a:rPr lang="en-US" altLang="zh-CN" sz="2400" b="1" dirty="0" smtClean="0">
                <a:solidFill>
                  <a:srgbClr val="0070C0"/>
                </a:solidFill>
                <a:latin typeface="+mn-lt"/>
              </a:rPr>
              <a:t>more work</a:t>
            </a:r>
            <a:endParaRPr lang="en-US" altLang="zh-CN" sz="2400" b="1" dirty="0">
              <a:solidFill>
                <a:srgbClr val="0070C0"/>
              </a:solidFill>
              <a:latin typeface="+mn-lt"/>
            </a:endParaRPr>
          </a:p>
          <a:p>
            <a:r>
              <a:rPr lang="en-US" altLang="zh-CN" sz="2400" b="1" dirty="0">
                <a:solidFill>
                  <a:srgbClr val="0070C0"/>
                </a:solidFill>
                <a:latin typeface="Courier"/>
              </a:rPr>
              <a:t>Barrier(bar1,p)</a:t>
            </a:r>
            <a:endParaRPr lang="zh-CN" altLang="en-US" sz="2400" b="1" dirty="0">
              <a:solidFill>
                <a:srgbClr val="0070C0"/>
              </a:solidFill>
              <a:latin typeface="Courier"/>
            </a:endParaRPr>
          </a:p>
        </p:txBody>
      </p:sp>
    </p:spTree>
    <p:extLst>
      <p:ext uri="{BB962C8B-B14F-4D97-AF65-F5344CB8AC3E}">
        <p14:creationId xmlns:p14="http://schemas.microsoft.com/office/powerpoint/2010/main" val="310376491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集中式栅障的性能</a:t>
            </a:r>
            <a:endParaRPr kumimoji="1" lang="zh-CN" altLang="en-US" dirty="0"/>
          </a:p>
        </p:txBody>
      </p:sp>
      <p:sp>
        <p:nvSpPr>
          <p:cNvPr id="3" name="内容占位符 2"/>
          <p:cNvSpPr>
            <a:spLocks noGrp="1"/>
          </p:cNvSpPr>
          <p:nvPr>
            <p:ph idx="1"/>
          </p:nvPr>
        </p:nvSpPr>
        <p:spPr>
          <a:xfrm>
            <a:off x="407368" y="1578083"/>
            <a:ext cx="5832648" cy="5112568"/>
          </a:xfrm>
        </p:spPr>
        <p:txBody>
          <a:bodyPr/>
          <a:lstStyle/>
          <a:p>
            <a:r>
              <a:rPr kumimoji="1" lang="zh-CN" altLang="en-US" dirty="0" smtClean="0"/>
              <a:t>延迟：</a:t>
            </a:r>
            <a:r>
              <a:rPr lang="zh-CN" altLang="en-US" dirty="0" smtClean="0"/>
              <a:t>关键路径长度至少正比于</a:t>
            </a:r>
            <a:r>
              <a:rPr lang="en-US" altLang="zh-CN" dirty="0" smtClean="0"/>
              <a:t>p</a:t>
            </a:r>
          </a:p>
          <a:p>
            <a:r>
              <a:rPr lang="zh-CN" altLang="en-US" dirty="0" smtClean="0"/>
              <a:t>流量：</a:t>
            </a:r>
            <a:r>
              <a:rPr kumimoji="1" lang="zh-CN" altLang="en-US" dirty="0" smtClean="0"/>
              <a:t>大约</a:t>
            </a:r>
            <a:r>
              <a:rPr kumimoji="1" lang="en-US" altLang="zh-CN" dirty="0" smtClean="0"/>
              <a:t>3p</a:t>
            </a:r>
            <a:r>
              <a:rPr kumimoji="1" lang="zh-CN" altLang="en-US" dirty="0" smtClean="0"/>
              <a:t>个总线事务</a:t>
            </a:r>
            <a:endParaRPr kumimoji="1" lang="en-US" altLang="zh-CN" dirty="0" smtClean="0"/>
          </a:p>
          <a:p>
            <a:r>
              <a:rPr lang="zh-CN" altLang="en-US" dirty="0" smtClean="0"/>
              <a:t>存储器成本</a:t>
            </a:r>
            <a:endParaRPr lang="en-US" altLang="zh-CN" dirty="0" smtClean="0"/>
          </a:p>
          <a:p>
            <a:pPr lvl="1"/>
            <a:r>
              <a:rPr kumimoji="1" lang="zh-CN" altLang="en-US" dirty="0" smtClean="0"/>
              <a:t>非常低：集中化的计数器和旗标</a:t>
            </a:r>
            <a:endParaRPr kumimoji="1" lang="en-US" altLang="zh-CN" dirty="0" smtClean="0"/>
          </a:p>
          <a:p>
            <a:r>
              <a:rPr lang="zh-CN" altLang="en-US" dirty="0" smtClean="0"/>
              <a:t>公平性</a:t>
            </a:r>
            <a:endParaRPr lang="en-US" altLang="zh-CN" dirty="0" smtClean="0"/>
          </a:p>
          <a:p>
            <a:pPr lvl="1"/>
            <a:r>
              <a:rPr kumimoji="1" lang="zh-CN" altLang="en-US" dirty="0" smtClean="0"/>
              <a:t>同一处理器不应该总是最后一个离开栅障的</a:t>
            </a:r>
            <a:endParaRPr kumimoji="1" lang="en-US" altLang="zh-CN" dirty="0" smtClean="0"/>
          </a:p>
          <a:p>
            <a:pPr lvl="1"/>
            <a:r>
              <a:rPr lang="zh-CN" altLang="en-US" dirty="0" smtClean="0"/>
              <a:t>集中化时无此（偏好）问题</a:t>
            </a:r>
            <a:endParaRPr lang="en-US" altLang="zh-CN" dirty="0" smtClean="0"/>
          </a:p>
          <a:p>
            <a:r>
              <a:rPr kumimoji="1" lang="zh-CN" altLang="en-US" dirty="0" smtClean="0"/>
              <a:t>集中式栅障的主要问题是延迟和流量</a:t>
            </a:r>
            <a:endParaRPr kumimoji="1" lang="en-US" altLang="zh-CN" dirty="0" smtClean="0"/>
          </a:p>
          <a:p>
            <a:pPr lvl="1"/>
            <a:r>
              <a:rPr lang="zh-CN" altLang="en-US" dirty="0" smtClean="0"/>
              <a:t>尤其当存储器分布时，流量走向同一结点</a:t>
            </a:r>
            <a:endParaRPr kumimoji="1" lang="zh-CN" altLang="en-US" dirty="0"/>
          </a:p>
        </p:txBody>
      </p:sp>
      <p:sp>
        <p:nvSpPr>
          <p:cNvPr id="4" name="Rectangle 5"/>
          <p:cNvSpPr>
            <a:spLocks noChangeArrowheads="1"/>
          </p:cNvSpPr>
          <p:nvPr/>
        </p:nvSpPr>
        <p:spPr bwMode="auto">
          <a:xfrm>
            <a:off x="6384032" y="1556792"/>
            <a:ext cx="5688632" cy="5016758"/>
          </a:xfrm>
          <a:prstGeom prst="rect">
            <a:avLst/>
          </a:prstGeom>
          <a:noFill/>
          <a:ln w="12700">
            <a:noFill/>
            <a:miter lim="800000"/>
            <a:headEnd type="none" w="sm" len="sm"/>
            <a:tailEnd type="none" w="sm" len="sm"/>
          </a:ln>
          <a:effectLst/>
        </p:spPr>
        <p:txBody>
          <a:bodyPr wrap="square">
            <a:spAutoFit/>
          </a:bodyPr>
          <a:lstStyle/>
          <a:p>
            <a:pPr>
              <a:tabLst>
                <a:tab pos="576263" algn="l"/>
              </a:tabLst>
            </a:pPr>
            <a:r>
              <a:rPr lang="en-US" altLang="en-US" sz="2000" b="1" dirty="0">
                <a:solidFill>
                  <a:srgbClr val="0000FF"/>
                </a:solidFill>
                <a:latin typeface="Courier" pitchFamily="49" charset="0"/>
              </a:rPr>
              <a:t>BARRIER (</a:t>
            </a:r>
            <a:r>
              <a:rPr lang="en-US" altLang="en-US" sz="2000" b="1" dirty="0" err="1">
                <a:solidFill>
                  <a:srgbClr val="0000FF"/>
                </a:solidFill>
                <a:latin typeface="Courier" pitchFamily="49" charset="0"/>
              </a:rPr>
              <a:t>bar_name</a:t>
            </a:r>
            <a:r>
              <a:rPr lang="en-US" altLang="en-US" sz="2000" b="1" dirty="0">
                <a:solidFill>
                  <a:srgbClr val="0000FF"/>
                </a:solidFill>
                <a:latin typeface="Courier" pitchFamily="49" charset="0"/>
              </a:rPr>
              <a:t>, p) {</a:t>
            </a:r>
          </a:p>
          <a:p>
            <a:pPr>
              <a:tabLst>
                <a:tab pos="576263"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local_sense</a:t>
            </a:r>
            <a:r>
              <a:rPr lang="en-US" altLang="en-US" sz="2000" b="1" dirty="0">
                <a:solidFill>
                  <a:srgbClr val="0000FF"/>
                </a:solidFill>
                <a:latin typeface="Courier" pitchFamily="49" charset="0"/>
              </a:rPr>
              <a:t> = </a:t>
            </a:r>
            <a:r>
              <a:rPr lang="en-US" altLang="en-US" sz="2000" b="1" dirty="0" smtClean="0">
                <a:solidFill>
                  <a:srgbClr val="0000FF"/>
                </a:solidFill>
                <a:latin typeface="Courier" pitchFamily="49" charset="0"/>
              </a:rPr>
              <a:t>!(</a:t>
            </a:r>
            <a:r>
              <a:rPr lang="en-US" altLang="en-US" sz="2000" b="1" dirty="0" err="1" smtClean="0">
                <a:solidFill>
                  <a:srgbClr val="0000FF"/>
                </a:solidFill>
                <a:latin typeface="Courier" pitchFamily="49" charset="0"/>
              </a:rPr>
              <a:t>bar_name.flag</a:t>
            </a:r>
            <a:r>
              <a:rPr lang="en-US" altLang="en-US" sz="2000" b="1" dirty="0" smtClean="0">
                <a:solidFill>
                  <a:srgbClr val="0000FF"/>
                </a:solidFill>
                <a:latin typeface="Courier" pitchFamily="49" charset="0"/>
              </a:rPr>
              <a:t>); </a:t>
            </a: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	</a:t>
            </a:r>
            <a:r>
              <a:rPr lang="en-US" altLang="en-US" sz="2000" b="1" i="1" dirty="0" smtClean="0">
                <a:solidFill>
                  <a:srgbClr val="0000FF"/>
                </a:solidFill>
              </a:rPr>
              <a:t>/* </a:t>
            </a:r>
            <a:r>
              <a:rPr lang="en-US" altLang="en-US" sz="2000" b="1" i="1" dirty="0">
                <a:solidFill>
                  <a:srgbClr val="0000FF"/>
                </a:solidFill>
              </a:rPr>
              <a:t>toggle private sense variable */</a:t>
            </a:r>
            <a:endParaRPr lang="en-US" altLang="en-US" sz="2000" b="1" dirty="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LOCK(</a:t>
            </a:r>
            <a:r>
              <a:rPr lang="en-US" altLang="en-US" sz="2000" b="1" dirty="0" err="1">
                <a:solidFill>
                  <a:srgbClr val="0000FF"/>
                </a:solidFill>
                <a:latin typeface="Courier" pitchFamily="49" charset="0"/>
              </a:rPr>
              <a:t>bar_name.lock</a:t>
            </a:r>
            <a:r>
              <a:rPr lang="en-US" altLang="en-US" sz="2000" b="1" dirty="0">
                <a:solidFill>
                  <a:srgbClr val="0000FF"/>
                </a:solidFill>
                <a:latin typeface="Courier" pitchFamily="49" charset="0"/>
              </a:rPr>
              <a:t>);</a:t>
            </a:r>
          </a:p>
          <a:p>
            <a:pPr>
              <a:tabLst>
                <a:tab pos="576263" algn="l"/>
              </a:tabLst>
            </a:pP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mycount</a:t>
            </a:r>
            <a:r>
              <a:rPr lang="en-US" altLang="en-US" sz="2000" b="1" dirty="0">
                <a:solidFill>
                  <a:srgbClr val="0000FF"/>
                </a:solidFill>
                <a:latin typeface="Courier" pitchFamily="49" charset="0"/>
              </a:rPr>
              <a:t> = </a:t>
            </a:r>
            <a:r>
              <a:rPr lang="en-US" altLang="en-US" sz="2000" b="1" dirty="0" err="1">
                <a:solidFill>
                  <a:srgbClr val="0000FF"/>
                </a:solidFill>
                <a:latin typeface="Courier" pitchFamily="49" charset="0"/>
              </a:rPr>
              <a:t>bar_name.counter</a:t>
            </a: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			</a:t>
            </a:r>
            <a:r>
              <a:rPr lang="en-US" altLang="en-US" sz="2000" b="1" i="1" dirty="0" smtClean="0">
                <a:solidFill>
                  <a:srgbClr val="0000FF"/>
                </a:solidFill>
              </a:rPr>
              <a:t>/* </a:t>
            </a:r>
            <a:r>
              <a:rPr lang="en-US" altLang="en-US" sz="2000" b="1" i="1" dirty="0" err="1">
                <a:solidFill>
                  <a:srgbClr val="0000FF"/>
                </a:solidFill>
              </a:rPr>
              <a:t>mycount</a:t>
            </a:r>
            <a:r>
              <a:rPr lang="en-US" altLang="en-US" sz="2000" b="1" i="1" dirty="0">
                <a:solidFill>
                  <a:srgbClr val="0000FF"/>
                </a:solidFill>
              </a:rPr>
              <a:t> is private */</a:t>
            </a:r>
            <a:endParaRPr lang="en-US" altLang="en-US" sz="2000" b="1" dirty="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UNLOCK(</a:t>
            </a:r>
            <a:r>
              <a:rPr lang="en-US" altLang="en-US" sz="2000" b="1" dirty="0" err="1">
                <a:solidFill>
                  <a:srgbClr val="0000FF"/>
                </a:solidFill>
                <a:latin typeface="Courier" pitchFamily="49" charset="0"/>
              </a:rPr>
              <a:t>bar_name.lock</a:t>
            </a:r>
            <a:r>
              <a:rPr lang="en-US" altLang="en-US" sz="2000" b="1" dirty="0">
                <a:solidFill>
                  <a:srgbClr val="0000FF"/>
                </a:solidFill>
                <a:latin typeface="Courier" pitchFamily="49" charset="0"/>
              </a:rPr>
              <a:t>); </a:t>
            </a:r>
            <a:endParaRPr lang="en-US" altLang="en-US" sz="2000" b="1" dirty="0" smtClean="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if </a:t>
            </a:r>
            <a:r>
              <a:rPr lang="en-US" altLang="en-US" sz="2000" b="1" dirty="0">
                <a:solidFill>
                  <a:srgbClr val="0000FF"/>
                </a:solidFill>
                <a:latin typeface="Courier" pitchFamily="49" charset="0"/>
              </a:rPr>
              <a:t>(</a:t>
            </a:r>
            <a:r>
              <a:rPr lang="en-US" altLang="en-US" sz="2000" b="1" dirty="0" err="1">
                <a:solidFill>
                  <a:srgbClr val="0000FF"/>
                </a:solidFill>
                <a:latin typeface="Courier" pitchFamily="49" charset="0"/>
              </a:rPr>
              <a:t>bar_name.counter</a:t>
            </a:r>
            <a:r>
              <a:rPr lang="en-US" altLang="en-US" sz="2000" b="1" dirty="0">
                <a:solidFill>
                  <a:srgbClr val="0000FF"/>
                </a:solidFill>
                <a:latin typeface="Courier" pitchFamily="49" charset="0"/>
              </a:rPr>
              <a:t> == p) </a:t>
            </a:r>
            <a:r>
              <a:rPr lang="en-US" altLang="en-US" sz="2000" b="1" dirty="0" smtClean="0">
                <a:solidFill>
                  <a:srgbClr val="0000FF"/>
                </a:solidFill>
                <a:latin typeface="Courier" pitchFamily="49" charset="0"/>
              </a:rPr>
              <a:t>{</a:t>
            </a:r>
            <a:endParaRPr lang="en-US" altLang="en-US" sz="2000" b="1" dirty="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a:t>
            </a:r>
            <a:r>
              <a:rPr lang="en-US" altLang="zh-CN" sz="2000" b="1" dirty="0" err="1" smtClean="0">
                <a:solidFill>
                  <a:srgbClr val="0000FF"/>
                </a:solidFill>
                <a:latin typeface="Courier" pitchFamily="49" charset="0"/>
              </a:rPr>
              <a:t>bar_name.counter</a:t>
            </a:r>
            <a:r>
              <a:rPr lang="en-US" altLang="zh-CN" sz="2000" b="1" dirty="0" smtClean="0">
                <a:solidFill>
                  <a:srgbClr val="0000FF"/>
                </a:solidFill>
                <a:latin typeface="Courier" pitchFamily="49" charset="0"/>
              </a:rPr>
              <a:t> = 0;</a:t>
            </a: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	  </a:t>
            </a:r>
            <a:r>
              <a:rPr lang="en-US" altLang="en-US" sz="2000" b="1" dirty="0" err="1" smtClean="0">
                <a:solidFill>
                  <a:srgbClr val="0000FF"/>
                </a:solidFill>
                <a:latin typeface="Courier" pitchFamily="49" charset="0"/>
              </a:rPr>
              <a:t>bar_name.flag</a:t>
            </a:r>
            <a:r>
              <a:rPr lang="en-US" altLang="en-US" sz="2000" b="1" dirty="0" smtClean="0">
                <a:solidFill>
                  <a:srgbClr val="0000FF"/>
                </a:solidFill>
                <a:latin typeface="Courier" pitchFamily="49" charset="0"/>
              </a:rPr>
              <a:t> </a:t>
            </a:r>
            <a:r>
              <a:rPr lang="en-US" altLang="en-US" sz="2000" b="1" dirty="0">
                <a:solidFill>
                  <a:srgbClr val="0000FF"/>
                </a:solidFill>
                <a:latin typeface="Courier" pitchFamily="49" charset="0"/>
              </a:rPr>
              <a:t>= </a:t>
            </a:r>
            <a:r>
              <a:rPr lang="en-US" altLang="en-US" sz="2000" b="1" dirty="0" err="1">
                <a:solidFill>
                  <a:srgbClr val="0000FF"/>
                </a:solidFill>
                <a:latin typeface="Courier" pitchFamily="49" charset="0"/>
              </a:rPr>
              <a:t>local_sense</a:t>
            </a: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
            </a:r>
            <a:br>
              <a:rPr lang="en-US" altLang="en-US" sz="2000" b="1" dirty="0" smtClean="0">
                <a:solidFill>
                  <a:srgbClr val="0000FF"/>
                </a:solidFill>
                <a:latin typeface="Courier" pitchFamily="49" charset="0"/>
              </a:rPr>
            </a:br>
            <a:r>
              <a:rPr lang="en-US" altLang="en-US" sz="2000" b="1" dirty="0" smtClean="0">
                <a:solidFill>
                  <a:srgbClr val="0000FF"/>
                </a:solidFill>
                <a:latin typeface="Courier" pitchFamily="49" charset="0"/>
              </a:rPr>
              <a:t>	}			</a:t>
            </a:r>
            <a:r>
              <a:rPr lang="en-US" altLang="en-US" sz="2000" b="1" i="1" dirty="0" smtClean="0">
                <a:solidFill>
                  <a:srgbClr val="0000FF"/>
                </a:solidFill>
              </a:rPr>
              <a:t>/* </a:t>
            </a:r>
            <a:r>
              <a:rPr lang="en-US" altLang="en-US" sz="2000" b="1" i="1" dirty="0">
                <a:solidFill>
                  <a:srgbClr val="0000FF"/>
                </a:solidFill>
              </a:rPr>
              <a:t>release waiters</a:t>
            </a:r>
            <a:r>
              <a:rPr lang="en-US" altLang="en-US" sz="2000" b="1" i="1" dirty="0" smtClean="0">
                <a:solidFill>
                  <a:srgbClr val="0000FF"/>
                </a:solidFill>
              </a:rPr>
              <a:t>*/</a:t>
            </a:r>
            <a:endParaRPr lang="en-US" altLang="en-US" sz="2000" b="1" dirty="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else   {</a:t>
            </a:r>
            <a:endParaRPr lang="en-US" altLang="en-US" sz="2000" b="1" dirty="0">
              <a:solidFill>
                <a:srgbClr val="0000FF"/>
              </a:solidFill>
              <a:latin typeface="Courier" pitchFamily="49" charset="0"/>
            </a:endParaRPr>
          </a:p>
          <a:p>
            <a:pPr>
              <a:tabLst>
                <a:tab pos="576263" algn="l"/>
              </a:tabLst>
            </a:pPr>
            <a:r>
              <a:rPr lang="en-US" altLang="en-US" sz="2000" b="1" dirty="0">
                <a:solidFill>
                  <a:srgbClr val="0000FF"/>
                </a:solidFill>
                <a:latin typeface="Courier" pitchFamily="49" charset="0"/>
              </a:rPr>
              <a:t>		while (</a:t>
            </a:r>
            <a:r>
              <a:rPr lang="en-US" altLang="en-US" sz="2000" b="1" dirty="0" err="1">
                <a:solidFill>
                  <a:srgbClr val="0000FF"/>
                </a:solidFill>
                <a:latin typeface="Courier" pitchFamily="49" charset="0"/>
              </a:rPr>
              <a:t>bar_name.flag</a:t>
            </a:r>
            <a:r>
              <a:rPr lang="en-US" altLang="en-US" sz="2000" b="1" dirty="0">
                <a:solidFill>
                  <a:srgbClr val="0000FF"/>
                </a:solidFill>
                <a:latin typeface="Courier" pitchFamily="49" charset="0"/>
              </a:rPr>
              <a:t> != </a:t>
            </a:r>
            <a:r>
              <a:rPr lang="en-US" altLang="en-US" sz="2000" b="1" dirty="0" smtClean="0">
                <a:solidFill>
                  <a:srgbClr val="0000FF"/>
                </a:solidFill>
                <a:latin typeface="Courier" pitchFamily="49" charset="0"/>
              </a:rPr>
              <a:t>					</a:t>
            </a:r>
            <a:r>
              <a:rPr lang="en-US" altLang="en-US" sz="2000" b="1" dirty="0" err="1" smtClean="0">
                <a:solidFill>
                  <a:srgbClr val="0000FF"/>
                </a:solidFill>
                <a:latin typeface="Courier" pitchFamily="49" charset="0"/>
              </a:rPr>
              <a:t>local_sense</a:t>
            </a: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a:t>
            </a:r>
          </a:p>
          <a:p>
            <a:pPr>
              <a:tabLst>
                <a:tab pos="576263" algn="l"/>
              </a:tabLst>
            </a:pPr>
            <a:r>
              <a:rPr lang="en-US" altLang="en-US" sz="2000" b="1" dirty="0">
                <a:solidFill>
                  <a:srgbClr val="0000FF"/>
                </a:solidFill>
                <a:latin typeface="Courier" pitchFamily="49" charset="0"/>
              </a:rPr>
              <a:t>	</a:t>
            </a:r>
            <a:r>
              <a:rPr lang="en-US" altLang="en-US" sz="2000" b="1" dirty="0" smtClean="0">
                <a:solidFill>
                  <a:srgbClr val="0000FF"/>
                </a:solidFill>
                <a:latin typeface="Courier" pitchFamily="49" charset="0"/>
              </a:rPr>
              <a:t> </a:t>
            </a:r>
            <a:r>
              <a:rPr lang="en-US" altLang="en-US" sz="2000" b="1" dirty="0">
                <a:solidFill>
                  <a:srgbClr val="0000FF"/>
                </a:solidFill>
                <a:latin typeface="Courier" pitchFamily="49" charset="0"/>
              </a:rPr>
              <a:t>}</a:t>
            </a:r>
          </a:p>
          <a:p>
            <a:pPr>
              <a:tabLst>
                <a:tab pos="576263" algn="l"/>
              </a:tabLst>
            </a:pPr>
            <a:r>
              <a:rPr lang="en-US" altLang="en-US" sz="2000" b="1" dirty="0">
                <a:solidFill>
                  <a:srgbClr val="0000FF"/>
                </a:solidFill>
                <a:latin typeface="Courier" pitchFamily="49" charset="0"/>
              </a:rPr>
              <a:t>}</a:t>
            </a:r>
          </a:p>
        </p:txBody>
      </p:sp>
    </p:spTree>
    <p:extLst>
      <p:ext uri="{BB962C8B-B14F-4D97-AF65-F5344CB8AC3E}">
        <p14:creationId xmlns:p14="http://schemas.microsoft.com/office/powerpoint/2010/main" val="27990939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针对总线改进的栅障算法</a:t>
            </a:r>
            <a:endParaRPr kumimoji="1" lang="zh-CN" altLang="en-US" dirty="0"/>
          </a:p>
        </p:txBody>
      </p:sp>
      <p:sp>
        <p:nvSpPr>
          <p:cNvPr id="3" name="内容占位符 2"/>
          <p:cNvSpPr>
            <a:spLocks noGrp="1"/>
          </p:cNvSpPr>
          <p:nvPr>
            <p:ph idx="1"/>
          </p:nvPr>
        </p:nvSpPr>
        <p:spPr>
          <a:xfrm>
            <a:off x="983432" y="1484784"/>
            <a:ext cx="9176568" cy="4394076"/>
          </a:xfrm>
        </p:spPr>
        <p:txBody>
          <a:bodyPr/>
          <a:lstStyle/>
          <a:p>
            <a:r>
              <a:rPr kumimoji="1" lang="zh-CN" altLang="en-US" dirty="0"/>
              <a:t>基于软件的合并树</a:t>
            </a:r>
            <a:endParaRPr kumimoji="1" lang="en-US" altLang="zh-CN" dirty="0"/>
          </a:p>
          <a:p>
            <a:pPr lvl="1"/>
            <a:r>
              <a:rPr lang="zh-CN" altLang="en-US" dirty="0"/>
              <a:t>只有</a:t>
            </a:r>
            <a:r>
              <a:rPr lang="en-US" altLang="zh-CN" dirty="0"/>
              <a:t>k</a:t>
            </a:r>
            <a:r>
              <a:rPr lang="zh-CN" altLang="en-US" dirty="0"/>
              <a:t>个处理器访问同一位置，</a:t>
            </a:r>
            <a:r>
              <a:rPr lang="en-US" altLang="zh-CN" dirty="0"/>
              <a:t>k</a:t>
            </a:r>
            <a:r>
              <a:rPr lang="zh-CN" altLang="en-US" dirty="0"/>
              <a:t>为树的度</a:t>
            </a:r>
            <a:endParaRPr lang="en-US" altLang="zh-CN" dirty="0"/>
          </a:p>
          <a:p>
            <a:pPr lvl="1"/>
            <a:endParaRPr lang="en-US" altLang="zh-CN" dirty="0"/>
          </a:p>
          <a:p>
            <a:pPr lvl="1"/>
            <a:endParaRPr kumimoji="1" lang="en-US" altLang="zh-CN" dirty="0"/>
          </a:p>
          <a:p>
            <a:pPr lvl="1"/>
            <a:endParaRPr lang="en-US" altLang="zh-CN" dirty="0"/>
          </a:p>
          <a:p>
            <a:pPr lvl="1"/>
            <a:endParaRPr kumimoji="1" lang="en-US" altLang="zh-CN" dirty="0"/>
          </a:p>
          <a:p>
            <a:pPr lvl="1"/>
            <a:endParaRPr lang="en-US" altLang="zh-CN" dirty="0"/>
          </a:p>
          <a:p>
            <a:r>
              <a:rPr kumimoji="1" lang="zh-CN" altLang="en-US" sz="2400" dirty="0"/>
              <a:t>单独的到达和出口树，并采用</a:t>
            </a:r>
            <a:r>
              <a:rPr kumimoji="1" lang="zh-CN" altLang="en-US" sz="2400" dirty="0" smtClean="0"/>
              <a:t>逆</a:t>
            </a:r>
            <a:r>
              <a:rPr kumimoji="1" lang="zh-CN" altLang="en-US" sz="2400" dirty="0"/>
              <a:t>转</a:t>
            </a:r>
            <a:r>
              <a:rPr kumimoji="1" lang="en-US" altLang="zh-CN" sz="2400" dirty="0" smtClean="0"/>
              <a:t>(sense </a:t>
            </a:r>
            <a:r>
              <a:rPr kumimoji="1" lang="en-US" altLang="zh-CN" sz="2400" dirty="0"/>
              <a:t>reversal)</a:t>
            </a:r>
            <a:r>
              <a:rPr lang="zh-CN" altLang="en-US" sz="2400" dirty="0"/>
              <a:t>旗标</a:t>
            </a:r>
            <a:endParaRPr kumimoji="1" lang="en-US" altLang="zh-CN" sz="2400" dirty="0"/>
          </a:p>
          <a:p>
            <a:r>
              <a:rPr lang="zh-CN" altLang="en-US" sz="2400" dirty="0"/>
              <a:t>对分布式网络很有价值：</a:t>
            </a:r>
            <a:r>
              <a:rPr lang="zh-CN" altLang="en-US" sz="2400" dirty="0" smtClean="0"/>
              <a:t>通信可走不同的并行路径</a:t>
            </a:r>
            <a:endParaRPr lang="en-US" altLang="zh-CN" sz="2400" dirty="0"/>
          </a:p>
          <a:p>
            <a:r>
              <a:rPr lang="zh-CN" altLang="en-US" sz="2400" dirty="0"/>
              <a:t>对</a:t>
            </a:r>
            <a:r>
              <a:rPr kumimoji="1" lang="zh-CN" altLang="en-US" sz="2400" dirty="0"/>
              <a:t>总线，所有流量走向同一总线，总量无法减少</a:t>
            </a:r>
            <a:endParaRPr kumimoji="1" lang="en-US" altLang="zh-CN" sz="2400" dirty="0"/>
          </a:p>
          <a:p>
            <a:r>
              <a:rPr lang="zh-CN" altLang="en-US" sz="2400" dirty="0" smtClean="0"/>
              <a:t>且延迟</a:t>
            </a:r>
            <a:r>
              <a:rPr lang="zh-CN" altLang="en-US" sz="2400" dirty="0"/>
              <a:t>更大了</a:t>
            </a:r>
            <a:r>
              <a:rPr lang="en-US" altLang="zh-CN" sz="2400" dirty="0"/>
              <a:t>(</a:t>
            </a:r>
            <a:r>
              <a:rPr lang="en-US" altLang="zh-CN" sz="2400" dirty="0" err="1"/>
              <a:t>logp</a:t>
            </a:r>
            <a:r>
              <a:rPr lang="zh-CN" altLang="en-US" sz="2400" dirty="0"/>
              <a:t>步工作，</a:t>
            </a:r>
            <a:r>
              <a:rPr lang="en-US" altLang="zh-CN" sz="2400" dirty="0"/>
              <a:t>O(p)</a:t>
            </a:r>
            <a:r>
              <a:rPr lang="zh-CN" altLang="en-US" sz="2400" dirty="0"/>
              <a:t>个串行的总线事务</a:t>
            </a:r>
            <a:endParaRPr lang="en-US" altLang="zh-CN" sz="2400" dirty="0"/>
          </a:p>
          <a:p>
            <a:r>
              <a:rPr kumimoji="1" lang="zh-CN" altLang="en-US" sz="2400" dirty="0"/>
              <a:t>在总线上的优势是用普通的读</a:t>
            </a:r>
            <a:r>
              <a:rPr kumimoji="1" lang="en-US" altLang="zh-CN" sz="2400" dirty="0"/>
              <a:t>/</a:t>
            </a:r>
            <a:r>
              <a:rPr kumimoji="1" lang="zh-CN" altLang="en-US" sz="2400" dirty="0"/>
              <a:t>写操作，而不是锁</a:t>
            </a:r>
          </a:p>
        </p:txBody>
      </p:sp>
      <p:pic>
        <p:nvPicPr>
          <p:cNvPr id="4" name="图片 3"/>
          <p:cNvPicPr>
            <a:picLocks noChangeAspect="1"/>
          </p:cNvPicPr>
          <p:nvPr/>
        </p:nvPicPr>
        <p:blipFill>
          <a:blip r:embed="rId2"/>
          <a:stretch>
            <a:fillRect/>
          </a:stretch>
        </p:blipFill>
        <p:spPr>
          <a:xfrm>
            <a:off x="4367808" y="2348880"/>
            <a:ext cx="7437765" cy="2158171"/>
          </a:xfrm>
          <a:prstGeom prst="rect">
            <a:avLst/>
          </a:prstGeom>
        </p:spPr>
      </p:pic>
    </p:spTree>
    <p:extLst>
      <p:ext uri="{BB962C8B-B14F-4D97-AF65-F5344CB8AC3E}">
        <p14:creationId xmlns:p14="http://schemas.microsoft.com/office/powerpoint/2010/main" val="289367397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栅障性能</a:t>
            </a:r>
            <a:r>
              <a:rPr kumimoji="1" lang="en-US" altLang="zh-CN" dirty="0" smtClean="0"/>
              <a:t>(SGI Challenge)</a:t>
            </a:r>
            <a:endParaRPr kumimoji="1" lang="zh-CN" altLang="en-US" dirty="0"/>
          </a:p>
        </p:txBody>
      </p:sp>
      <p:sp>
        <p:nvSpPr>
          <p:cNvPr id="3" name="内容占位符 2"/>
          <p:cNvSpPr>
            <a:spLocks noGrp="1"/>
          </p:cNvSpPr>
          <p:nvPr>
            <p:ph idx="1"/>
          </p:nvPr>
        </p:nvSpPr>
        <p:spPr>
          <a:xfrm>
            <a:off x="767408" y="1628800"/>
            <a:ext cx="9361040" cy="4213076"/>
          </a:xfrm>
        </p:spPr>
        <p:txBody>
          <a:bodyPr/>
          <a:lstStyle/>
          <a:p>
            <a:r>
              <a:rPr lang="zh-CN" altLang="en-US" dirty="0"/>
              <a:t>集中化工作得挺</a:t>
            </a:r>
            <a:r>
              <a:rPr lang="zh-CN" altLang="en-US" dirty="0" smtClean="0"/>
              <a:t>好</a:t>
            </a:r>
            <a:endParaRPr lang="en-US" altLang="zh-CN" dirty="0" smtClean="0"/>
          </a:p>
          <a:p>
            <a:r>
              <a:rPr lang="zh-CN" altLang="en-US" dirty="0" smtClean="0"/>
              <a:t>合并树更适合分布式网络</a:t>
            </a:r>
            <a:endParaRPr lang="en-US" altLang="zh-CN" dirty="0"/>
          </a:p>
          <a:p>
            <a:r>
              <a:rPr lang="zh-CN" altLang="en-US" dirty="0" smtClean="0"/>
              <a:t>进一步</a:t>
            </a:r>
            <a:r>
              <a:rPr lang="zh-CN" altLang="en-US" dirty="0"/>
              <a:t>的硬件支持</a:t>
            </a:r>
            <a:endParaRPr lang="en-US" altLang="zh-CN" dirty="0"/>
          </a:p>
          <a:p>
            <a:pPr lvl="1"/>
            <a:r>
              <a:rPr lang="zh-CN" altLang="en-US" dirty="0"/>
              <a:t>总线上附带回读不命中</a:t>
            </a:r>
            <a:endParaRPr lang="en-US" altLang="zh-CN" dirty="0"/>
          </a:p>
          <a:p>
            <a:pPr lvl="2"/>
            <a:r>
              <a:rPr lang="en-US" altLang="zh-CN" dirty="0"/>
              <a:t>Piggybacking</a:t>
            </a:r>
          </a:p>
          <a:p>
            <a:r>
              <a:rPr lang="zh-CN" altLang="en-US" dirty="0"/>
              <a:t>置旗标后，所有等待它的</a:t>
            </a:r>
            <a:r>
              <a:rPr lang="en-US" altLang="zh-CN" dirty="0"/>
              <a:t/>
            </a:r>
            <a:br>
              <a:rPr lang="en-US" altLang="zh-CN" dirty="0"/>
            </a:br>
            <a:r>
              <a:rPr lang="zh-CN" altLang="en-US" dirty="0"/>
              <a:t>处理器都被无效</a:t>
            </a:r>
            <a:endParaRPr lang="en-US" altLang="zh-CN" dirty="0"/>
          </a:p>
          <a:p>
            <a:pPr lvl="1"/>
            <a:r>
              <a:rPr lang="zh-CN" altLang="en-US" dirty="0"/>
              <a:t>引发大量读不命中，纷纷抢总线</a:t>
            </a:r>
            <a:endParaRPr lang="en-US" altLang="zh-CN" dirty="0"/>
          </a:p>
          <a:p>
            <a:pPr lvl="1"/>
            <a:r>
              <a:rPr lang="zh-CN" altLang="en-US" dirty="0"/>
              <a:t>仅一处理器获得总线，通过过读不命中获得旗标新值</a:t>
            </a:r>
            <a:endParaRPr lang="en-US" altLang="zh-CN" dirty="0"/>
          </a:p>
          <a:p>
            <a:pPr lvl="1"/>
            <a:r>
              <a:rPr lang="zh-CN" altLang="en-US" dirty="0"/>
              <a:t>其它处理器侦测到总线上对同一地址的读不命中</a:t>
            </a:r>
            <a:endParaRPr lang="en-US" altLang="zh-CN" dirty="0"/>
          </a:p>
          <a:p>
            <a:pPr lvl="1"/>
            <a:r>
              <a:rPr lang="zh-CN" altLang="en-US" dirty="0"/>
              <a:t>放弃自己的读不命中，直接从总线上捡取返回的值</a:t>
            </a:r>
            <a:endParaRPr lang="en-US" altLang="zh-CN" dirty="0"/>
          </a:p>
        </p:txBody>
      </p:sp>
      <p:grpSp>
        <p:nvGrpSpPr>
          <p:cNvPr id="5" name="Group 88"/>
          <p:cNvGrpSpPr>
            <a:grpSpLocks/>
          </p:cNvGrpSpPr>
          <p:nvPr/>
        </p:nvGrpSpPr>
        <p:grpSpPr bwMode="auto">
          <a:xfrm>
            <a:off x="5087888" y="1772816"/>
            <a:ext cx="6726237" cy="2813050"/>
            <a:chOff x="1584" y="798"/>
            <a:chExt cx="4251" cy="2159"/>
          </a:xfrm>
        </p:grpSpPr>
        <p:sp>
          <p:nvSpPr>
            <p:cNvPr id="7" name="Line 7"/>
            <p:cNvSpPr>
              <a:spLocks noChangeShapeType="1"/>
            </p:cNvSpPr>
            <p:nvPr/>
          </p:nvSpPr>
          <p:spPr bwMode="auto">
            <a:xfrm>
              <a:off x="2018" y="2484"/>
              <a:ext cx="2597" cy="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a:off x="2018" y="1948"/>
              <a:ext cx="2597"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9"/>
            <p:cNvSpPr>
              <a:spLocks noChangeShapeType="1"/>
            </p:cNvSpPr>
            <p:nvPr/>
          </p:nvSpPr>
          <p:spPr bwMode="auto">
            <a:xfrm>
              <a:off x="2018" y="1409"/>
              <a:ext cx="2597"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0"/>
            <p:cNvSpPr>
              <a:spLocks noChangeShapeType="1"/>
            </p:cNvSpPr>
            <p:nvPr/>
          </p:nvSpPr>
          <p:spPr bwMode="auto">
            <a:xfrm>
              <a:off x="2018" y="870"/>
              <a:ext cx="2597"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11"/>
            <p:cNvSpPr>
              <a:spLocks noChangeArrowheads="1"/>
            </p:cNvSpPr>
            <p:nvPr/>
          </p:nvSpPr>
          <p:spPr bwMode="auto">
            <a:xfrm>
              <a:off x="4733" y="2736"/>
              <a:ext cx="110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Number of processors</a:t>
              </a:r>
              <a:endParaRPr lang="en-US" altLang="zh-CN">
                <a:ea typeface="宋体" panose="02010600030101010101" pitchFamily="2" charset="-122"/>
              </a:endParaRPr>
            </a:p>
          </p:txBody>
        </p:sp>
        <p:sp>
          <p:nvSpPr>
            <p:cNvPr id="12" name="Rectangle 12"/>
            <p:cNvSpPr>
              <a:spLocks noChangeArrowheads="1"/>
            </p:cNvSpPr>
            <p:nvPr/>
          </p:nvSpPr>
          <p:spPr bwMode="auto">
            <a:xfrm rot="-5400000">
              <a:off x="1619" y="1868"/>
              <a:ext cx="8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T</a:t>
              </a:r>
              <a:endParaRPr lang="en-US" altLang="zh-CN">
                <a:ea typeface="宋体" panose="02010600030101010101" pitchFamily="2" charset="-122"/>
              </a:endParaRPr>
            </a:p>
          </p:txBody>
        </p:sp>
        <p:sp>
          <p:nvSpPr>
            <p:cNvPr id="13" name="Rectangle 13"/>
            <p:cNvSpPr>
              <a:spLocks noChangeArrowheads="1"/>
            </p:cNvSpPr>
            <p:nvPr/>
          </p:nvSpPr>
          <p:spPr bwMode="auto">
            <a:xfrm rot="-5400000">
              <a:off x="1509" y="1691"/>
              <a:ext cx="3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ime (</a:t>
              </a:r>
              <a:endParaRPr lang="en-US" altLang="zh-CN">
                <a:ea typeface="宋体" panose="02010600030101010101" pitchFamily="2" charset="-122"/>
              </a:endParaRPr>
            </a:p>
          </p:txBody>
        </p:sp>
        <p:sp>
          <p:nvSpPr>
            <p:cNvPr id="14" name="Rectangle 14"/>
            <p:cNvSpPr>
              <a:spLocks noChangeArrowheads="1"/>
            </p:cNvSpPr>
            <p:nvPr/>
          </p:nvSpPr>
          <p:spPr bwMode="auto">
            <a:xfrm rot="-5400000">
              <a:off x="1611" y="1543"/>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latin typeface="Symbol" panose="05050102010706020507" pitchFamily="18" charset="2"/>
                  <a:ea typeface="宋体" panose="02010600030101010101" pitchFamily="2" charset="-122"/>
                </a:rPr>
                <a:t>m</a:t>
              </a:r>
              <a:endParaRPr lang="en-US" altLang="zh-CN">
                <a:ea typeface="宋体" panose="02010600030101010101" pitchFamily="2" charset="-122"/>
              </a:endParaRPr>
            </a:p>
          </p:txBody>
        </p:sp>
        <p:sp>
          <p:nvSpPr>
            <p:cNvPr id="15" name="Rectangle 15"/>
            <p:cNvSpPr>
              <a:spLocks noChangeArrowheads="1"/>
            </p:cNvSpPr>
            <p:nvPr/>
          </p:nvSpPr>
          <p:spPr bwMode="auto">
            <a:xfrm rot="-5400000">
              <a:off x="1604" y="1461"/>
              <a:ext cx="1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s)</a:t>
              </a:r>
              <a:endParaRPr lang="en-US" altLang="zh-CN">
                <a:ea typeface="宋体" panose="02010600030101010101" pitchFamily="2" charset="-122"/>
              </a:endParaRPr>
            </a:p>
          </p:txBody>
        </p:sp>
        <p:sp>
          <p:nvSpPr>
            <p:cNvPr id="16" name="Line 16"/>
            <p:cNvSpPr>
              <a:spLocks noChangeShapeType="1"/>
            </p:cNvSpPr>
            <p:nvPr/>
          </p:nvSpPr>
          <p:spPr bwMode="auto">
            <a:xfrm>
              <a:off x="2388" y="2695"/>
              <a:ext cx="4"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7"/>
            <p:cNvSpPr>
              <a:spLocks noChangeShapeType="1"/>
            </p:cNvSpPr>
            <p:nvPr/>
          </p:nvSpPr>
          <p:spPr bwMode="auto">
            <a:xfrm>
              <a:off x="2762"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a:off x="3132"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a:off x="3501"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a:off x="2026" y="1136"/>
              <a:ext cx="6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2026" y="1678"/>
              <a:ext cx="6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2026" y="2221"/>
              <a:ext cx="6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3871"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4245"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5"/>
            <p:cNvSpPr>
              <a:spLocks noChangeShapeType="1"/>
            </p:cNvSpPr>
            <p:nvPr/>
          </p:nvSpPr>
          <p:spPr bwMode="auto">
            <a:xfrm>
              <a:off x="4615" y="2695"/>
              <a:ext cx="1" cy="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6"/>
            <p:cNvSpPr>
              <a:spLocks noChangeShapeType="1"/>
            </p:cNvSpPr>
            <p:nvPr/>
          </p:nvSpPr>
          <p:spPr bwMode="auto">
            <a:xfrm flipV="1">
              <a:off x="2018" y="870"/>
              <a:ext cx="1" cy="189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7"/>
            <p:cNvSpPr>
              <a:spLocks noChangeShapeType="1"/>
            </p:cNvSpPr>
            <p:nvPr/>
          </p:nvSpPr>
          <p:spPr bwMode="auto">
            <a:xfrm>
              <a:off x="2018" y="2760"/>
              <a:ext cx="2597"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Freeform 28"/>
            <p:cNvSpPr>
              <a:spLocks/>
            </p:cNvSpPr>
            <p:nvPr/>
          </p:nvSpPr>
          <p:spPr bwMode="auto">
            <a:xfrm>
              <a:off x="2018" y="1412"/>
              <a:ext cx="2597" cy="1311"/>
            </a:xfrm>
            <a:custGeom>
              <a:avLst/>
              <a:gdLst>
                <a:gd name="T0" fmla="*/ 0 w 2597"/>
                <a:gd name="T1" fmla="*/ 1311 h 1311"/>
                <a:gd name="T2" fmla="*/ 374 w 2597"/>
                <a:gd name="T3" fmla="*/ 1004 h 1311"/>
                <a:gd name="T4" fmla="*/ 744 w 2597"/>
                <a:gd name="T5" fmla="*/ 829 h 1311"/>
                <a:gd name="T6" fmla="*/ 1114 w 2597"/>
                <a:gd name="T7" fmla="*/ 649 h 1311"/>
                <a:gd name="T8" fmla="*/ 1483 w 2597"/>
                <a:gd name="T9" fmla="*/ 495 h 1311"/>
                <a:gd name="T10" fmla="*/ 1853 w 2597"/>
                <a:gd name="T11" fmla="*/ 331 h 1311"/>
                <a:gd name="T12" fmla="*/ 2227 w 2597"/>
                <a:gd name="T13" fmla="*/ 208 h 1311"/>
                <a:gd name="T14" fmla="*/ 2597 w 2597"/>
                <a:gd name="T15" fmla="*/ 0 h 13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97" h="1311">
                  <a:moveTo>
                    <a:pt x="0" y="1311"/>
                  </a:moveTo>
                  <a:lnTo>
                    <a:pt x="374" y="1004"/>
                  </a:lnTo>
                  <a:lnTo>
                    <a:pt x="744" y="829"/>
                  </a:lnTo>
                  <a:lnTo>
                    <a:pt x="1114" y="649"/>
                  </a:lnTo>
                  <a:lnTo>
                    <a:pt x="1483" y="495"/>
                  </a:lnTo>
                  <a:lnTo>
                    <a:pt x="1853" y="331"/>
                  </a:lnTo>
                  <a:lnTo>
                    <a:pt x="2227" y="208"/>
                  </a:lnTo>
                  <a:lnTo>
                    <a:pt x="2597" y="0"/>
                  </a:lnTo>
                </a:path>
              </a:pathLst>
            </a:custGeom>
            <a:noFill/>
            <a:ln w="238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 name="Freeform 29"/>
            <p:cNvSpPr>
              <a:spLocks/>
            </p:cNvSpPr>
            <p:nvPr/>
          </p:nvSpPr>
          <p:spPr bwMode="auto">
            <a:xfrm>
              <a:off x="2018" y="999"/>
              <a:ext cx="2597" cy="1730"/>
            </a:xfrm>
            <a:custGeom>
              <a:avLst/>
              <a:gdLst>
                <a:gd name="T0" fmla="*/ 0 w 2597"/>
                <a:gd name="T1" fmla="*/ 1730 h 1730"/>
                <a:gd name="T2" fmla="*/ 374 w 2597"/>
                <a:gd name="T3" fmla="*/ 1277 h 1730"/>
                <a:gd name="T4" fmla="*/ 744 w 2597"/>
                <a:gd name="T5" fmla="*/ 1157 h 1730"/>
                <a:gd name="T6" fmla="*/ 1114 w 2597"/>
                <a:gd name="T7" fmla="*/ 857 h 1730"/>
                <a:gd name="T8" fmla="*/ 1483 w 2597"/>
                <a:gd name="T9" fmla="*/ 437 h 1730"/>
                <a:gd name="T10" fmla="*/ 1853 w 2597"/>
                <a:gd name="T11" fmla="*/ 519 h 1730"/>
                <a:gd name="T12" fmla="*/ 2227 w 2597"/>
                <a:gd name="T13" fmla="*/ 154 h 1730"/>
                <a:gd name="T14" fmla="*/ 2597 w 2597"/>
                <a:gd name="T15" fmla="*/ 0 h 17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97" h="1730">
                  <a:moveTo>
                    <a:pt x="0" y="1730"/>
                  </a:moveTo>
                  <a:lnTo>
                    <a:pt x="374" y="1277"/>
                  </a:lnTo>
                  <a:lnTo>
                    <a:pt x="744" y="1157"/>
                  </a:lnTo>
                  <a:lnTo>
                    <a:pt x="1114" y="857"/>
                  </a:lnTo>
                  <a:lnTo>
                    <a:pt x="1483" y="437"/>
                  </a:lnTo>
                  <a:lnTo>
                    <a:pt x="1853" y="519"/>
                  </a:lnTo>
                  <a:lnTo>
                    <a:pt x="2227" y="154"/>
                  </a:lnTo>
                  <a:lnTo>
                    <a:pt x="2597" y="0"/>
                  </a:lnTo>
                </a:path>
              </a:pathLst>
            </a:custGeom>
            <a:noFill/>
            <a:ln w="238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 name="Rectangle 32"/>
            <p:cNvSpPr>
              <a:spLocks noChangeArrowheads="1"/>
            </p:cNvSpPr>
            <p:nvPr/>
          </p:nvSpPr>
          <p:spPr bwMode="auto">
            <a:xfrm>
              <a:off x="1974" y="2662"/>
              <a:ext cx="73"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1" name="Rectangle 33"/>
            <p:cNvSpPr>
              <a:spLocks noChangeArrowheads="1"/>
            </p:cNvSpPr>
            <p:nvPr/>
          </p:nvSpPr>
          <p:spPr bwMode="auto">
            <a:xfrm>
              <a:off x="2344" y="2353"/>
              <a:ext cx="7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2" name="Rectangle 34"/>
            <p:cNvSpPr>
              <a:spLocks noChangeArrowheads="1"/>
            </p:cNvSpPr>
            <p:nvPr/>
          </p:nvSpPr>
          <p:spPr bwMode="auto">
            <a:xfrm>
              <a:off x="2714" y="2180"/>
              <a:ext cx="7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3" name="Rectangle 35"/>
            <p:cNvSpPr>
              <a:spLocks noChangeArrowheads="1"/>
            </p:cNvSpPr>
            <p:nvPr/>
          </p:nvSpPr>
          <p:spPr bwMode="auto">
            <a:xfrm>
              <a:off x="3087" y="1999"/>
              <a:ext cx="7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4" name="Rectangle 36"/>
            <p:cNvSpPr>
              <a:spLocks noChangeArrowheads="1"/>
            </p:cNvSpPr>
            <p:nvPr/>
          </p:nvSpPr>
          <p:spPr bwMode="auto">
            <a:xfrm>
              <a:off x="3457" y="1845"/>
              <a:ext cx="7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5" name="Rectangle 37"/>
            <p:cNvSpPr>
              <a:spLocks noChangeArrowheads="1"/>
            </p:cNvSpPr>
            <p:nvPr/>
          </p:nvSpPr>
          <p:spPr bwMode="auto">
            <a:xfrm>
              <a:off x="3827" y="1683"/>
              <a:ext cx="73"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6" name="Rectangle 38"/>
            <p:cNvSpPr>
              <a:spLocks noChangeArrowheads="1"/>
            </p:cNvSpPr>
            <p:nvPr/>
          </p:nvSpPr>
          <p:spPr bwMode="auto">
            <a:xfrm>
              <a:off x="4197" y="1559"/>
              <a:ext cx="72"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7" name="Rectangle 39"/>
            <p:cNvSpPr>
              <a:spLocks noChangeArrowheads="1"/>
            </p:cNvSpPr>
            <p:nvPr/>
          </p:nvSpPr>
          <p:spPr bwMode="auto">
            <a:xfrm>
              <a:off x="4570" y="1350"/>
              <a:ext cx="7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38" name="Rectangle 40"/>
            <p:cNvSpPr>
              <a:spLocks noChangeArrowheads="1"/>
            </p:cNvSpPr>
            <p:nvPr/>
          </p:nvSpPr>
          <p:spPr bwMode="auto">
            <a:xfrm>
              <a:off x="1974" y="2668"/>
              <a:ext cx="9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39" name="Rectangle 41"/>
            <p:cNvSpPr>
              <a:spLocks noChangeArrowheads="1"/>
            </p:cNvSpPr>
            <p:nvPr/>
          </p:nvSpPr>
          <p:spPr bwMode="auto">
            <a:xfrm>
              <a:off x="2344" y="2214"/>
              <a:ext cx="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0" name="Rectangle 42"/>
            <p:cNvSpPr>
              <a:spLocks noChangeArrowheads="1"/>
            </p:cNvSpPr>
            <p:nvPr/>
          </p:nvSpPr>
          <p:spPr bwMode="auto">
            <a:xfrm>
              <a:off x="2717" y="2094"/>
              <a:ext cx="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1" name="Rectangle 43"/>
            <p:cNvSpPr>
              <a:spLocks noChangeArrowheads="1"/>
            </p:cNvSpPr>
            <p:nvPr/>
          </p:nvSpPr>
          <p:spPr bwMode="auto">
            <a:xfrm>
              <a:off x="3087" y="1793"/>
              <a:ext cx="95"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2" name="Rectangle 44"/>
            <p:cNvSpPr>
              <a:spLocks noChangeArrowheads="1"/>
            </p:cNvSpPr>
            <p:nvPr/>
          </p:nvSpPr>
          <p:spPr bwMode="auto">
            <a:xfrm>
              <a:off x="3457" y="1374"/>
              <a:ext cx="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3" name="Rectangle 45"/>
            <p:cNvSpPr>
              <a:spLocks noChangeArrowheads="1"/>
            </p:cNvSpPr>
            <p:nvPr/>
          </p:nvSpPr>
          <p:spPr bwMode="auto">
            <a:xfrm>
              <a:off x="3827" y="1456"/>
              <a:ext cx="9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4" name="Rectangle 46"/>
            <p:cNvSpPr>
              <a:spLocks noChangeArrowheads="1"/>
            </p:cNvSpPr>
            <p:nvPr/>
          </p:nvSpPr>
          <p:spPr bwMode="auto">
            <a:xfrm>
              <a:off x="4197" y="1090"/>
              <a:ext cx="95"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5" name="Rectangle 47"/>
            <p:cNvSpPr>
              <a:spLocks noChangeArrowheads="1"/>
            </p:cNvSpPr>
            <p:nvPr/>
          </p:nvSpPr>
          <p:spPr bwMode="auto">
            <a:xfrm>
              <a:off x="4570" y="937"/>
              <a:ext cx="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46" name="Rectangle 64"/>
            <p:cNvSpPr>
              <a:spLocks noChangeArrowheads="1"/>
            </p:cNvSpPr>
            <p:nvPr/>
          </p:nvSpPr>
          <p:spPr bwMode="auto">
            <a:xfrm>
              <a:off x="1981" y="2793"/>
              <a:ext cx="266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1          2          3          4          5          6          7         8</a:t>
              </a:r>
              <a:endParaRPr lang="en-US" altLang="zh-CN">
                <a:ea typeface="宋体" panose="02010600030101010101" pitchFamily="2" charset="-122"/>
              </a:endParaRPr>
            </a:p>
          </p:txBody>
        </p:sp>
        <p:sp>
          <p:nvSpPr>
            <p:cNvPr id="47" name="Rectangle 65"/>
            <p:cNvSpPr>
              <a:spLocks noChangeArrowheads="1"/>
            </p:cNvSpPr>
            <p:nvPr/>
          </p:nvSpPr>
          <p:spPr bwMode="auto">
            <a:xfrm>
              <a:off x="1882" y="2689"/>
              <a:ext cx="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0</a:t>
              </a:r>
              <a:endParaRPr lang="en-US" altLang="zh-CN">
                <a:ea typeface="宋体" panose="02010600030101010101" pitchFamily="2" charset="-122"/>
              </a:endParaRPr>
            </a:p>
          </p:txBody>
        </p:sp>
        <p:sp>
          <p:nvSpPr>
            <p:cNvPr id="48" name="Rectangle 66"/>
            <p:cNvSpPr>
              <a:spLocks noChangeArrowheads="1"/>
            </p:cNvSpPr>
            <p:nvPr/>
          </p:nvSpPr>
          <p:spPr bwMode="auto">
            <a:xfrm>
              <a:off x="1882" y="2419"/>
              <a:ext cx="6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5</a:t>
              </a:r>
              <a:endParaRPr lang="en-US" altLang="zh-CN">
                <a:ea typeface="宋体" panose="02010600030101010101" pitchFamily="2" charset="-122"/>
              </a:endParaRPr>
            </a:p>
          </p:txBody>
        </p:sp>
        <p:sp>
          <p:nvSpPr>
            <p:cNvPr id="49" name="Rectangle 67"/>
            <p:cNvSpPr>
              <a:spLocks noChangeArrowheads="1"/>
            </p:cNvSpPr>
            <p:nvPr/>
          </p:nvSpPr>
          <p:spPr bwMode="auto">
            <a:xfrm>
              <a:off x="1815" y="2149"/>
              <a:ext cx="12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10</a:t>
              </a:r>
              <a:endParaRPr lang="en-US" altLang="zh-CN">
                <a:ea typeface="宋体" panose="02010600030101010101" pitchFamily="2" charset="-122"/>
              </a:endParaRPr>
            </a:p>
          </p:txBody>
        </p:sp>
        <p:sp>
          <p:nvSpPr>
            <p:cNvPr id="50" name="Rectangle 68"/>
            <p:cNvSpPr>
              <a:spLocks noChangeArrowheads="1"/>
            </p:cNvSpPr>
            <p:nvPr/>
          </p:nvSpPr>
          <p:spPr bwMode="auto">
            <a:xfrm>
              <a:off x="1815" y="1877"/>
              <a:ext cx="12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15</a:t>
              </a:r>
              <a:endParaRPr lang="en-US" altLang="zh-CN">
                <a:ea typeface="宋体" panose="02010600030101010101" pitchFamily="2" charset="-122"/>
              </a:endParaRPr>
            </a:p>
          </p:txBody>
        </p:sp>
        <p:sp>
          <p:nvSpPr>
            <p:cNvPr id="51" name="Rectangle 69"/>
            <p:cNvSpPr>
              <a:spLocks noChangeArrowheads="1"/>
            </p:cNvSpPr>
            <p:nvPr/>
          </p:nvSpPr>
          <p:spPr bwMode="auto">
            <a:xfrm>
              <a:off x="1815" y="1608"/>
              <a:ext cx="12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20</a:t>
              </a:r>
              <a:endParaRPr lang="en-US" altLang="zh-CN">
                <a:ea typeface="宋体" panose="02010600030101010101" pitchFamily="2" charset="-122"/>
              </a:endParaRPr>
            </a:p>
          </p:txBody>
        </p:sp>
        <p:sp>
          <p:nvSpPr>
            <p:cNvPr id="52" name="Rectangle 70"/>
            <p:cNvSpPr>
              <a:spLocks noChangeArrowheads="1"/>
            </p:cNvSpPr>
            <p:nvPr/>
          </p:nvSpPr>
          <p:spPr bwMode="auto">
            <a:xfrm>
              <a:off x="1815" y="1336"/>
              <a:ext cx="12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25</a:t>
              </a:r>
              <a:endParaRPr lang="en-US" altLang="zh-CN">
                <a:ea typeface="宋体" panose="02010600030101010101" pitchFamily="2" charset="-122"/>
              </a:endParaRPr>
            </a:p>
          </p:txBody>
        </p:sp>
        <p:sp>
          <p:nvSpPr>
            <p:cNvPr id="53" name="Rectangle 71"/>
            <p:cNvSpPr>
              <a:spLocks noChangeArrowheads="1"/>
            </p:cNvSpPr>
            <p:nvPr/>
          </p:nvSpPr>
          <p:spPr bwMode="auto">
            <a:xfrm>
              <a:off x="1815" y="1067"/>
              <a:ext cx="12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30</a:t>
              </a:r>
              <a:endParaRPr lang="en-US" altLang="zh-CN">
                <a:ea typeface="宋体" panose="02010600030101010101" pitchFamily="2" charset="-122"/>
              </a:endParaRPr>
            </a:p>
          </p:txBody>
        </p:sp>
        <p:sp>
          <p:nvSpPr>
            <p:cNvPr id="54" name="Rectangle 72"/>
            <p:cNvSpPr>
              <a:spLocks noChangeArrowheads="1"/>
            </p:cNvSpPr>
            <p:nvPr/>
          </p:nvSpPr>
          <p:spPr bwMode="auto">
            <a:xfrm>
              <a:off x="1815" y="798"/>
              <a:ext cx="12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35</a:t>
              </a:r>
              <a:endParaRPr lang="en-US" altLang="zh-CN">
                <a:ea typeface="宋体" panose="02010600030101010101" pitchFamily="2" charset="-122"/>
              </a:endParaRPr>
            </a:p>
          </p:txBody>
        </p:sp>
        <p:sp>
          <p:nvSpPr>
            <p:cNvPr id="55" name="Freeform 73"/>
            <p:cNvSpPr>
              <a:spLocks/>
            </p:cNvSpPr>
            <p:nvPr/>
          </p:nvSpPr>
          <p:spPr bwMode="auto">
            <a:xfrm>
              <a:off x="2112" y="950"/>
              <a:ext cx="1450" cy="432"/>
            </a:xfrm>
            <a:custGeom>
              <a:avLst/>
              <a:gdLst>
                <a:gd name="T0" fmla="*/ 0 w 1450"/>
                <a:gd name="T1" fmla="*/ 0 h 679"/>
                <a:gd name="T2" fmla="*/ 1450 w 1450"/>
                <a:gd name="T3" fmla="*/ 0 h 679"/>
                <a:gd name="T4" fmla="*/ 1450 w 1450"/>
                <a:gd name="T5" fmla="*/ 175 h 679"/>
                <a:gd name="T6" fmla="*/ 4 w 1450"/>
                <a:gd name="T7" fmla="*/ 175 h 679"/>
                <a:gd name="T8" fmla="*/ 4 w 1450"/>
                <a:gd name="T9" fmla="*/ 0 h 679"/>
                <a:gd name="T10" fmla="*/ 0 w 1450"/>
                <a:gd name="T11" fmla="*/ 0 h 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50" h="679">
                  <a:moveTo>
                    <a:pt x="0" y="0"/>
                  </a:moveTo>
                  <a:lnTo>
                    <a:pt x="1450" y="0"/>
                  </a:lnTo>
                  <a:lnTo>
                    <a:pt x="1450" y="679"/>
                  </a:lnTo>
                  <a:lnTo>
                    <a:pt x="4" y="679"/>
                  </a:lnTo>
                  <a:lnTo>
                    <a:pt x="4"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74"/>
            <p:cNvSpPr>
              <a:spLocks/>
            </p:cNvSpPr>
            <p:nvPr/>
          </p:nvSpPr>
          <p:spPr bwMode="auto">
            <a:xfrm>
              <a:off x="2122" y="950"/>
              <a:ext cx="1450" cy="403"/>
            </a:xfrm>
            <a:custGeom>
              <a:avLst/>
              <a:gdLst>
                <a:gd name="T0" fmla="*/ 0 w 1450"/>
                <a:gd name="T1" fmla="*/ 0 h 679"/>
                <a:gd name="T2" fmla="*/ 1450 w 1450"/>
                <a:gd name="T3" fmla="*/ 0 h 679"/>
                <a:gd name="T4" fmla="*/ 1450 w 1450"/>
                <a:gd name="T5" fmla="*/ 142 h 679"/>
                <a:gd name="T6" fmla="*/ 4 w 1450"/>
                <a:gd name="T7" fmla="*/ 142 h 679"/>
                <a:gd name="T8" fmla="*/ 4 w 1450"/>
                <a:gd name="T9" fmla="*/ 0 h 6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0" h="679">
                  <a:moveTo>
                    <a:pt x="0" y="0"/>
                  </a:moveTo>
                  <a:lnTo>
                    <a:pt x="1450" y="0"/>
                  </a:lnTo>
                  <a:lnTo>
                    <a:pt x="1450" y="679"/>
                  </a:lnTo>
                  <a:lnTo>
                    <a:pt x="4" y="679"/>
                  </a:lnTo>
                  <a:lnTo>
                    <a:pt x="4"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Line 75"/>
            <p:cNvSpPr>
              <a:spLocks noChangeShapeType="1"/>
            </p:cNvSpPr>
            <p:nvPr/>
          </p:nvSpPr>
          <p:spPr bwMode="auto">
            <a:xfrm>
              <a:off x="2211" y="1070"/>
              <a:ext cx="24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Rectangle 76"/>
            <p:cNvSpPr>
              <a:spLocks noChangeArrowheads="1"/>
            </p:cNvSpPr>
            <p:nvPr/>
          </p:nvSpPr>
          <p:spPr bwMode="auto">
            <a:xfrm>
              <a:off x="2292" y="1008"/>
              <a:ext cx="73"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l</a:t>
              </a:r>
              <a:endParaRPr lang="en-US" altLang="zh-CN">
                <a:ea typeface="宋体" panose="02010600030101010101" pitchFamily="2" charset="-122"/>
              </a:endParaRPr>
            </a:p>
          </p:txBody>
        </p:sp>
        <p:sp>
          <p:nvSpPr>
            <p:cNvPr id="59" name="Rectangle 77"/>
            <p:cNvSpPr>
              <a:spLocks noChangeArrowheads="1"/>
            </p:cNvSpPr>
            <p:nvPr/>
          </p:nvSpPr>
          <p:spPr bwMode="auto">
            <a:xfrm>
              <a:off x="2569" y="998"/>
              <a:ext cx="5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Centralized</a:t>
              </a:r>
              <a:endParaRPr lang="en-US" altLang="zh-CN">
                <a:ea typeface="宋体" panose="02010600030101010101" pitchFamily="2" charset="-122"/>
              </a:endParaRPr>
            </a:p>
          </p:txBody>
        </p:sp>
        <p:sp>
          <p:nvSpPr>
            <p:cNvPr id="60" name="Line 78"/>
            <p:cNvSpPr>
              <a:spLocks noChangeShapeType="1"/>
            </p:cNvSpPr>
            <p:nvPr/>
          </p:nvSpPr>
          <p:spPr bwMode="auto">
            <a:xfrm>
              <a:off x="2211" y="1220"/>
              <a:ext cx="24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Rectangle 79"/>
            <p:cNvSpPr>
              <a:spLocks noChangeArrowheads="1"/>
            </p:cNvSpPr>
            <p:nvPr/>
          </p:nvSpPr>
          <p:spPr bwMode="auto">
            <a:xfrm>
              <a:off x="2292" y="1159"/>
              <a:ext cx="9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200" b="0">
                  <a:solidFill>
                    <a:srgbClr val="000000"/>
                  </a:solidFill>
                  <a:latin typeface="Monotype Sorts" pitchFamily="2" charset="2"/>
                  <a:ea typeface="宋体" panose="02010600030101010101" pitchFamily="2" charset="-122"/>
                </a:rPr>
                <a:t>u</a:t>
              </a:r>
              <a:endParaRPr lang="en-US" altLang="zh-CN">
                <a:ea typeface="宋体" panose="02010600030101010101" pitchFamily="2" charset="-122"/>
              </a:endParaRPr>
            </a:p>
          </p:txBody>
        </p:sp>
        <p:sp>
          <p:nvSpPr>
            <p:cNvPr id="62" name="Rectangle 80"/>
            <p:cNvSpPr>
              <a:spLocks noChangeArrowheads="1"/>
            </p:cNvSpPr>
            <p:nvPr/>
          </p:nvSpPr>
          <p:spPr bwMode="auto">
            <a:xfrm>
              <a:off x="2569" y="1148"/>
              <a:ext cx="76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cs typeface="Times New Roman" panose="02020603050405020304" pitchFamily="18" charset="0"/>
                </a:defRPr>
              </a:lvl1pPr>
              <a:lvl2pPr marL="742950" indent="-285750">
                <a:defRPr sz="1600" b="1">
                  <a:solidFill>
                    <a:schemeClr val="tx1"/>
                  </a:solidFill>
                  <a:latin typeface="Arial" panose="020B0604020202020204" pitchFamily="34" charset="0"/>
                  <a:cs typeface="Times New Roman" panose="02020603050405020304" pitchFamily="18" charset="0"/>
                </a:defRPr>
              </a:lvl2pPr>
              <a:lvl3pPr marL="1143000" indent="-228600">
                <a:defRPr sz="1600" b="1">
                  <a:solidFill>
                    <a:schemeClr val="tx1"/>
                  </a:solidFill>
                  <a:latin typeface="Arial" panose="020B0604020202020204" pitchFamily="34" charset="0"/>
                  <a:cs typeface="Times New Roman" panose="02020603050405020304" pitchFamily="18" charset="0"/>
                </a:defRPr>
              </a:lvl3pPr>
              <a:lvl4pPr marL="1600200" indent="-228600">
                <a:defRPr sz="1600" b="1">
                  <a:solidFill>
                    <a:schemeClr val="tx1"/>
                  </a:solidFill>
                  <a:latin typeface="Arial" panose="020B0604020202020204" pitchFamily="34" charset="0"/>
                  <a:cs typeface="Times New Roman" panose="02020603050405020304" pitchFamily="18" charset="0"/>
                </a:defRPr>
              </a:lvl4pPr>
              <a:lvl5pPr marL="2057400" indent="-228600">
                <a:defRPr sz="1600" b="1">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cs typeface="Times New Roman" panose="02020603050405020304" pitchFamily="18" charset="0"/>
                </a:defRPr>
              </a:lvl9pPr>
            </a:lstStyle>
            <a:p>
              <a:r>
                <a:rPr lang="en-US" altLang="zh-CN" sz="1400" b="0">
                  <a:solidFill>
                    <a:srgbClr val="000000"/>
                  </a:solidFill>
                  <a:ea typeface="宋体" panose="02010600030101010101" pitchFamily="2" charset="-122"/>
                </a:rPr>
                <a:t>Combining tree</a:t>
              </a:r>
              <a:endParaRPr lang="en-US" altLang="zh-CN">
                <a:ea typeface="宋体" panose="02010600030101010101" pitchFamily="2" charset="-122"/>
              </a:endParaRPr>
            </a:p>
          </p:txBody>
        </p:sp>
      </p:grpSp>
    </p:spTree>
    <p:extLst>
      <p:ext uri="{BB962C8B-B14F-4D97-AF65-F5344CB8AC3E}">
        <p14:creationId xmlns:p14="http://schemas.microsoft.com/office/powerpoint/2010/main" val="1050014602"/>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同步小结</a:t>
            </a:r>
            <a:endParaRPr lang="zh-CN" altLang="en-US" dirty="0"/>
          </a:p>
        </p:txBody>
      </p:sp>
      <p:sp>
        <p:nvSpPr>
          <p:cNvPr id="3" name="内容占位符 2"/>
          <p:cNvSpPr>
            <a:spLocks noGrp="1"/>
          </p:cNvSpPr>
          <p:nvPr>
            <p:ph idx="1"/>
          </p:nvPr>
        </p:nvSpPr>
        <p:spPr/>
        <p:txBody>
          <a:bodyPr/>
          <a:lstStyle/>
          <a:p>
            <a:r>
              <a:rPr lang="zh-CN" altLang="en-US" smtClean="0"/>
              <a:t>硬件与软件的相互影响与折衷</a:t>
            </a:r>
            <a:endParaRPr lang="en-US" altLang="zh-CN" smtClean="0"/>
          </a:p>
          <a:p>
            <a:pPr lvl="1"/>
            <a:r>
              <a:rPr lang="zh-CN" altLang="en-US" smtClean="0"/>
              <a:t>必须把硬件原语与软件算法放在一起评估</a:t>
            </a:r>
            <a:endParaRPr lang="en-US" altLang="zh-CN" smtClean="0"/>
          </a:p>
          <a:p>
            <a:pPr lvl="2"/>
            <a:r>
              <a:rPr lang="zh-CN" altLang="en-US" smtClean="0"/>
              <a:t>原语决定了哪种算法工作得更好</a:t>
            </a:r>
            <a:endParaRPr lang="en-US" altLang="zh-CN" smtClean="0"/>
          </a:p>
          <a:p>
            <a:pPr lvl="1"/>
            <a:r>
              <a:rPr lang="zh-CN" altLang="en-US" smtClean="0"/>
              <a:t>评估的方法也很有挑战性</a:t>
            </a:r>
            <a:endParaRPr lang="en-US" altLang="zh-CN" smtClean="0"/>
          </a:p>
          <a:p>
            <a:pPr lvl="2"/>
            <a:r>
              <a:rPr lang="zh-CN" altLang="en-US" smtClean="0"/>
              <a:t>用微基准测延迟，用真实负荷测实际影响</a:t>
            </a:r>
            <a:endParaRPr lang="en-US" altLang="zh-CN" smtClean="0"/>
          </a:p>
          <a:p>
            <a:r>
              <a:rPr lang="zh-CN" altLang="en-US" smtClean="0"/>
              <a:t>总线型多处理机</a:t>
            </a:r>
            <a:endParaRPr lang="en-US" altLang="zh-CN" smtClean="0"/>
          </a:p>
          <a:p>
            <a:pPr lvl="1"/>
            <a:r>
              <a:rPr lang="zh-CN" altLang="en-US" smtClean="0"/>
              <a:t>常见的硬件原语＋简单软件算法工作得很好</a:t>
            </a:r>
            <a:endParaRPr lang="en-US" altLang="zh-CN" smtClean="0"/>
          </a:p>
          <a:p>
            <a:pPr lvl="2"/>
            <a:r>
              <a:rPr lang="zh-CN" altLang="en-US" smtClean="0"/>
              <a:t>硬件如何支持，仍值得讨论</a:t>
            </a:r>
            <a:endParaRPr lang="en-US" altLang="zh-CN" smtClean="0"/>
          </a:p>
          <a:p>
            <a:pPr lvl="1"/>
            <a:r>
              <a:rPr lang="zh-CN" altLang="en-US" smtClean="0"/>
              <a:t>理论研究更支持</a:t>
            </a:r>
            <a:r>
              <a:rPr lang="en-US" altLang="zh-CN" smtClean="0"/>
              <a:t>swap</a:t>
            </a:r>
            <a:r>
              <a:rPr lang="zh-CN" altLang="en-US" smtClean="0"/>
              <a:t>或</a:t>
            </a:r>
            <a:r>
              <a:rPr lang="en-US" altLang="zh-CN" smtClean="0"/>
              <a:t>compare &amp; swap</a:t>
            </a:r>
          </a:p>
          <a:p>
            <a:pPr lvl="2"/>
            <a:r>
              <a:rPr lang="zh-CN" altLang="en-US" smtClean="0"/>
              <a:t>由算法保证常数时间的访问，但很复杂</a:t>
            </a:r>
            <a:endParaRPr lang="en-US" altLang="zh-CN" smtClean="0"/>
          </a:p>
          <a:p>
            <a:pPr lvl="2"/>
            <a:r>
              <a:rPr lang="en-US" altLang="zh-CN" smtClean="0"/>
              <a:t>Lock-free, non-blocking, wait-free</a:t>
            </a:r>
            <a:endParaRPr lang="en-US" altLang="zh-CN" dirty="0" smtClean="0"/>
          </a:p>
        </p:txBody>
      </p:sp>
    </p:spTree>
    <p:extLst>
      <p:ext uri="{BB962C8B-B14F-4D97-AF65-F5344CB8AC3E}">
        <p14:creationId xmlns:p14="http://schemas.microsoft.com/office/powerpoint/2010/main" val="386338727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对软件的含意</a:t>
            </a:r>
            <a:endParaRPr kumimoji="1" lang="zh-CN" altLang="en-US" dirty="0"/>
          </a:p>
        </p:txBody>
      </p:sp>
      <p:sp>
        <p:nvSpPr>
          <p:cNvPr id="3" name="内容占位符 2"/>
          <p:cNvSpPr>
            <a:spLocks noGrp="1"/>
          </p:cNvSpPr>
          <p:nvPr>
            <p:ph idx="1"/>
          </p:nvPr>
        </p:nvSpPr>
        <p:spPr>
          <a:xfrm>
            <a:off x="695400" y="1706564"/>
            <a:ext cx="9464600" cy="4351336"/>
          </a:xfrm>
        </p:spPr>
        <p:txBody>
          <a:bodyPr/>
          <a:lstStyle/>
          <a:p>
            <a:r>
              <a:rPr lang="zh-CN" altLang="en-US" dirty="0"/>
              <a:t>四类不命中</a:t>
            </a:r>
            <a:endParaRPr lang="en-US" altLang="zh-CN" dirty="0"/>
          </a:p>
          <a:p>
            <a:pPr lvl="1"/>
            <a:r>
              <a:rPr lang="zh-CN" altLang="en-US" dirty="0"/>
              <a:t>冷启、真</a:t>
            </a:r>
            <a:r>
              <a:rPr lang="en-US" altLang="zh-CN" dirty="0"/>
              <a:t>/</a:t>
            </a:r>
            <a:r>
              <a:rPr lang="zh-CN" altLang="en-US" dirty="0"/>
              <a:t>假共享</a:t>
            </a:r>
            <a:endParaRPr lang="en-US" altLang="zh-CN" dirty="0"/>
          </a:p>
          <a:p>
            <a:pPr lvl="1"/>
            <a:r>
              <a:rPr lang="zh-CN" altLang="en-US" dirty="0"/>
              <a:t>容量（含冲突）</a:t>
            </a:r>
            <a:endParaRPr lang="en-US" altLang="zh-CN" dirty="0"/>
          </a:p>
          <a:p>
            <a:r>
              <a:rPr lang="zh-CN" altLang="en-US" dirty="0"/>
              <a:t>减少写共享数据</a:t>
            </a:r>
            <a:endParaRPr lang="en-US" altLang="zh-CN" dirty="0"/>
          </a:p>
          <a:p>
            <a:pPr lvl="1"/>
            <a:r>
              <a:rPr lang="zh-CN" altLang="en-US" dirty="0"/>
              <a:t>减少写使无效</a:t>
            </a:r>
            <a:endParaRPr lang="en-US" altLang="zh-CN" dirty="0"/>
          </a:p>
          <a:p>
            <a:pPr lvl="1"/>
            <a:r>
              <a:rPr lang="zh-CN" altLang="en-US" dirty="0"/>
              <a:t>减少固有通信</a:t>
            </a:r>
            <a:endParaRPr lang="en-US" altLang="zh-CN" dirty="0"/>
          </a:p>
          <a:p>
            <a:r>
              <a:rPr lang="zh-CN" altLang="en-US" dirty="0"/>
              <a:t>时间局部性</a:t>
            </a:r>
            <a:endParaRPr lang="en-US" altLang="zh-CN" dirty="0"/>
          </a:p>
          <a:p>
            <a:pPr lvl="1"/>
            <a:r>
              <a:rPr lang="zh-CN" altLang="en-US" dirty="0"/>
              <a:t>处理器</a:t>
            </a:r>
            <a:r>
              <a:rPr lang="en-US" altLang="zh-CN" dirty="0"/>
              <a:t>cache</a:t>
            </a:r>
            <a:r>
              <a:rPr lang="zh-CN" altLang="en-US" dirty="0"/>
              <a:t>能很好地支持（工作集适合的话）</a:t>
            </a:r>
            <a:endParaRPr lang="en-US" altLang="zh-CN" dirty="0"/>
          </a:p>
          <a:p>
            <a:r>
              <a:rPr lang="zh-CN" altLang="en-US" dirty="0"/>
              <a:t>大</a:t>
            </a:r>
            <a:r>
              <a:rPr lang="en-US" altLang="zh-CN" dirty="0"/>
              <a:t>cache</a:t>
            </a:r>
            <a:r>
              <a:rPr lang="zh-CN" altLang="en-US" dirty="0"/>
              <a:t>行（空间局部性）不太有效</a:t>
            </a:r>
            <a:endParaRPr lang="en-US" altLang="zh-CN" dirty="0"/>
          </a:p>
          <a:p>
            <a:pPr lvl="1"/>
            <a:r>
              <a:rPr lang="zh-CN" altLang="en-US" dirty="0"/>
              <a:t>碎片：取一个大块，但只有一部分数字是自己需要用的</a:t>
            </a:r>
            <a:endParaRPr lang="en-US" altLang="zh-CN" dirty="0"/>
          </a:p>
          <a:p>
            <a:pPr lvl="1"/>
            <a:r>
              <a:rPr lang="zh-CN" altLang="en-US" dirty="0"/>
              <a:t>假共享：大块中的不同数据被不同处理器读、写</a:t>
            </a:r>
            <a:endParaRPr kumimoji="1" lang="zh-CN" altLang="en-US" dirty="0"/>
          </a:p>
        </p:txBody>
      </p:sp>
      <p:grpSp>
        <p:nvGrpSpPr>
          <p:cNvPr id="6" name="Group 129"/>
          <p:cNvGrpSpPr>
            <a:grpSpLocks/>
          </p:cNvGrpSpPr>
          <p:nvPr/>
        </p:nvGrpSpPr>
        <p:grpSpPr bwMode="auto">
          <a:xfrm>
            <a:off x="5615962" y="365126"/>
            <a:ext cx="6240677" cy="3905138"/>
            <a:chOff x="1055" y="1444"/>
            <a:chExt cx="3598" cy="2198"/>
          </a:xfrm>
        </p:grpSpPr>
        <p:sp>
          <p:nvSpPr>
            <p:cNvPr id="7" name="Line 6"/>
            <p:cNvSpPr>
              <a:spLocks noChangeShapeType="1"/>
            </p:cNvSpPr>
            <p:nvPr/>
          </p:nvSpPr>
          <p:spPr bwMode="auto">
            <a:xfrm flipH="1">
              <a:off x="2354" y="1698"/>
              <a:ext cx="220" cy="223"/>
            </a:xfrm>
            <a:prstGeom prst="line">
              <a:avLst/>
            </a:prstGeom>
            <a:noFill/>
            <a:ln w="9525">
              <a:solidFill>
                <a:srgbClr val="000000"/>
              </a:solidFill>
              <a:round/>
              <a:headEnd/>
              <a:tailEnd/>
            </a:ln>
          </p:spPr>
          <p:txBody>
            <a:bodyPr/>
            <a:lstStyle/>
            <a:p>
              <a:endParaRPr lang="zh-CN" altLang="en-US"/>
            </a:p>
          </p:txBody>
        </p:sp>
        <p:sp>
          <p:nvSpPr>
            <p:cNvPr id="8" name="Freeform 7"/>
            <p:cNvSpPr>
              <a:spLocks/>
            </p:cNvSpPr>
            <p:nvPr/>
          </p:nvSpPr>
          <p:spPr bwMode="auto">
            <a:xfrm>
              <a:off x="2318" y="1901"/>
              <a:ext cx="56" cy="56"/>
            </a:xfrm>
            <a:custGeom>
              <a:avLst/>
              <a:gdLst/>
              <a:ahLst/>
              <a:cxnLst>
                <a:cxn ang="0">
                  <a:pos x="56" y="23"/>
                </a:cxn>
                <a:cxn ang="0">
                  <a:pos x="0" y="56"/>
                </a:cxn>
                <a:cxn ang="0">
                  <a:pos x="33" y="0"/>
                </a:cxn>
                <a:cxn ang="0">
                  <a:pos x="56" y="23"/>
                </a:cxn>
                <a:cxn ang="0">
                  <a:pos x="56" y="23"/>
                </a:cxn>
              </a:cxnLst>
              <a:rect l="0" t="0" r="r" b="b"/>
              <a:pathLst>
                <a:path w="56" h="56">
                  <a:moveTo>
                    <a:pt x="56" y="23"/>
                  </a:moveTo>
                  <a:lnTo>
                    <a:pt x="0" y="56"/>
                  </a:lnTo>
                  <a:lnTo>
                    <a:pt x="33" y="0"/>
                  </a:lnTo>
                  <a:lnTo>
                    <a:pt x="56" y="23"/>
                  </a:lnTo>
                  <a:lnTo>
                    <a:pt x="56" y="23"/>
                  </a:lnTo>
                  <a:close/>
                </a:path>
              </a:pathLst>
            </a:custGeom>
            <a:solidFill>
              <a:srgbClr val="000000"/>
            </a:solidFill>
            <a:ln w="9525">
              <a:noFill/>
              <a:round/>
              <a:headEnd/>
              <a:tailEnd/>
            </a:ln>
          </p:spPr>
          <p:txBody>
            <a:bodyPr/>
            <a:lstStyle/>
            <a:p>
              <a:endParaRPr lang="zh-CN" altLang="en-US"/>
            </a:p>
          </p:txBody>
        </p:sp>
        <p:sp>
          <p:nvSpPr>
            <p:cNvPr id="9" name="Line 8"/>
            <p:cNvSpPr>
              <a:spLocks noChangeShapeType="1"/>
            </p:cNvSpPr>
            <p:nvPr/>
          </p:nvSpPr>
          <p:spPr bwMode="auto">
            <a:xfrm flipH="1">
              <a:off x="3929" y="2657"/>
              <a:ext cx="220" cy="222"/>
            </a:xfrm>
            <a:prstGeom prst="line">
              <a:avLst/>
            </a:prstGeom>
            <a:noFill/>
            <a:ln w="9525">
              <a:solidFill>
                <a:srgbClr val="000000"/>
              </a:solidFill>
              <a:round/>
              <a:headEnd/>
              <a:tailEnd/>
            </a:ln>
          </p:spPr>
          <p:txBody>
            <a:bodyPr/>
            <a:lstStyle/>
            <a:p>
              <a:endParaRPr lang="zh-CN" altLang="en-US"/>
            </a:p>
          </p:txBody>
        </p:sp>
        <p:sp>
          <p:nvSpPr>
            <p:cNvPr id="10" name="Freeform 9"/>
            <p:cNvSpPr>
              <a:spLocks/>
            </p:cNvSpPr>
            <p:nvPr/>
          </p:nvSpPr>
          <p:spPr bwMode="auto">
            <a:xfrm>
              <a:off x="3890" y="2857"/>
              <a:ext cx="58" cy="59"/>
            </a:xfrm>
            <a:custGeom>
              <a:avLst/>
              <a:gdLst/>
              <a:ahLst/>
              <a:cxnLst>
                <a:cxn ang="0">
                  <a:pos x="55" y="25"/>
                </a:cxn>
                <a:cxn ang="0">
                  <a:pos x="0" y="59"/>
                </a:cxn>
                <a:cxn ang="0">
                  <a:pos x="33" y="0"/>
                </a:cxn>
                <a:cxn ang="0">
                  <a:pos x="58" y="25"/>
                </a:cxn>
                <a:cxn ang="0">
                  <a:pos x="58" y="25"/>
                </a:cxn>
                <a:cxn ang="0">
                  <a:pos x="55" y="25"/>
                </a:cxn>
              </a:cxnLst>
              <a:rect l="0" t="0" r="r" b="b"/>
              <a:pathLst>
                <a:path w="58" h="59">
                  <a:moveTo>
                    <a:pt x="55" y="25"/>
                  </a:moveTo>
                  <a:lnTo>
                    <a:pt x="0" y="59"/>
                  </a:lnTo>
                  <a:lnTo>
                    <a:pt x="33" y="0"/>
                  </a:lnTo>
                  <a:lnTo>
                    <a:pt x="58" y="25"/>
                  </a:lnTo>
                  <a:lnTo>
                    <a:pt x="58" y="25"/>
                  </a:lnTo>
                  <a:lnTo>
                    <a:pt x="55" y="25"/>
                  </a:lnTo>
                  <a:close/>
                </a:path>
              </a:pathLst>
            </a:custGeom>
            <a:solidFill>
              <a:srgbClr val="000000"/>
            </a:solidFill>
            <a:ln w="9525">
              <a:noFill/>
              <a:round/>
              <a:headEnd/>
              <a:tailEnd/>
            </a:ln>
          </p:spPr>
          <p:txBody>
            <a:bodyPr/>
            <a:lstStyle/>
            <a:p>
              <a:endParaRPr lang="zh-CN" altLang="en-US"/>
            </a:p>
          </p:txBody>
        </p:sp>
        <p:sp>
          <p:nvSpPr>
            <p:cNvPr id="11" name="Line 10"/>
            <p:cNvSpPr>
              <a:spLocks noChangeShapeType="1"/>
            </p:cNvSpPr>
            <p:nvPr/>
          </p:nvSpPr>
          <p:spPr bwMode="auto">
            <a:xfrm flipV="1">
              <a:off x="1197" y="1899"/>
              <a:ext cx="3" cy="100"/>
            </a:xfrm>
            <a:prstGeom prst="line">
              <a:avLst/>
            </a:prstGeom>
            <a:noFill/>
            <a:ln w="17463">
              <a:solidFill>
                <a:srgbClr val="000000"/>
              </a:solidFill>
              <a:round/>
              <a:headEnd/>
              <a:tailEnd/>
            </a:ln>
          </p:spPr>
          <p:txBody>
            <a:bodyPr/>
            <a:lstStyle/>
            <a:p>
              <a:endParaRPr lang="zh-CN" altLang="en-US"/>
            </a:p>
          </p:txBody>
        </p:sp>
        <p:sp>
          <p:nvSpPr>
            <p:cNvPr id="12" name="Freeform 43"/>
            <p:cNvSpPr>
              <a:spLocks/>
            </p:cNvSpPr>
            <p:nvPr/>
          </p:nvSpPr>
          <p:spPr bwMode="auto">
            <a:xfrm>
              <a:off x="1393" y="3325"/>
              <a:ext cx="3215" cy="179"/>
            </a:xfrm>
            <a:custGeom>
              <a:avLst/>
              <a:gdLst/>
              <a:ahLst/>
              <a:cxnLst>
                <a:cxn ang="0">
                  <a:pos x="0" y="0"/>
                </a:cxn>
                <a:cxn ang="0">
                  <a:pos x="0" y="179"/>
                </a:cxn>
                <a:cxn ang="0">
                  <a:pos x="3215" y="179"/>
                </a:cxn>
                <a:cxn ang="0">
                  <a:pos x="3215" y="3"/>
                </a:cxn>
                <a:cxn ang="0">
                  <a:pos x="0" y="3"/>
                </a:cxn>
                <a:cxn ang="0">
                  <a:pos x="0" y="3"/>
                </a:cxn>
                <a:cxn ang="0">
                  <a:pos x="0" y="0"/>
                </a:cxn>
              </a:cxnLst>
              <a:rect l="0" t="0" r="r" b="b"/>
              <a:pathLst>
                <a:path w="3215" h="179">
                  <a:moveTo>
                    <a:pt x="0" y="0"/>
                  </a:moveTo>
                  <a:lnTo>
                    <a:pt x="0" y="179"/>
                  </a:lnTo>
                  <a:lnTo>
                    <a:pt x="3215" y="179"/>
                  </a:lnTo>
                  <a:lnTo>
                    <a:pt x="3215" y="3"/>
                  </a:lnTo>
                  <a:lnTo>
                    <a:pt x="0" y="3"/>
                  </a:lnTo>
                  <a:lnTo>
                    <a:pt x="0" y="3"/>
                  </a:lnTo>
                  <a:lnTo>
                    <a:pt x="0" y="0"/>
                  </a:lnTo>
                  <a:close/>
                </a:path>
              </a:pathLst>
            </a:custGeom>
            <a:solidFill>
              <a:srgbClr val="000000"/>
            </a:solidFill>
            <a:ln w="9525">
              <a:noFill/>
              <a:round/>
              <a:headEnd/>
              <a:tailEnd/>
            </a:ln>
          </p:spPr>
          <p:txBody>
            <a:bodyPr/>
            <a:lstStyle/>
            <a:p>
              <a:endParaRPr lang="zh-CN" altLang="en-US"/>
            </a:p>
          </p:txBody>
        </p:sp>
        <p:sp>
          <p:nvSpPr>
            <p:cNvPr id="13" name="Line 44"/>
            <p:cNvSpPr>
              <a:spLocks noChangeShapeType="1"/>
            </p:cNvSpPr>
            <p:nvPr/>
          </p:nvSpPr>
          <p:spPr bwMode="auto">
            <a:xfrm flipH="1">
              <a:off x="1398" y="2938"/>
              <a:ext cx="2467" cy="1"/>
            </a:xfrm>
            <a:prstGeom prst="line">
              <a:avLst/>
            </a:prstGeom>
            <a:noFill/>
            <a:ln w="17463">
              <a:solidFill>
                <a:srgbClr val="000000"/>
              </a:solidFill>
              <a:round/>
              <a:headEnd/>
              <a:tailEnd/>
            </a:ln>
          </p:spPr>
          <p:txBody>
            <a:bodyPr/>
            <a:lstStyle/>
            <a:p>
              <a:endParaRPr lang="zh-CN" altLang="en-US"/>
            </a:p>
          </p:txBody>
        </p:sp>
        <p:sp>
          <p:nvSpPr>
            <p:cNvPr id="14" name="Freeform 45"/>
            <p:cNvSpPr>
              <a:spLocks/>
            </p:cNvSpPr>
            <p:nvPr/>
          </p:nvSpPr>
          <p:spPr bwMode="auto">
            <a:xfrm>
              <a:off x="1393" y="3102"/>
              <a:ext cx="3215" cy="1"/>
            </a:xfrm>
            <a:custGeom>
              <a:avLst/>
              <a:gdLst/>
              <a:ahLst/>
              <a:cxnLst>
                <a:cxn ang="0">
                  <a:pos x="0" y="0"/>
                </a:cxn>
                <a:cxn ang="0">
                  <a:pos x="3215" y="0"/>
                </a:cxn>
                <a:cxn ang="0">
                  <a:pos x="0" y="0"/>
                </a:cxn>
              </a:cxnLst>
              <a:rect l="0" t="0" r="r" b="b"/>
              <a:pathLst>
                <a:path w="3215">
                  <a:moveTo>
                    <a:pt x="0" y="0"/>
                  </a:moveTo>
                  <a:lnTo>
                    <a:pt x="3215" y="0"/>
                  </a:lnTo>
                  <a:lnTo>
                    <a:pt x="0" y="0"/>
                  </a:lnTo>
                  <a:close/>
                </a:path>
              </a:pathLst>
            </a:custGeom>
            <a:solidFill>
              <a:srgbClr val="FFFFFF"/>
            </a:solidFill>
            <a:ln w="9525">
              <a:noFill/>
              <a:round/>
              <a:headEnd/>
              <a:tailEnd/>
            </a:ln>
          </p:spPr>
          <p:txBody>
            <a:bodyPr/>
            <a:lstStyle/>
            <a:p>
              <a:endParaRPr lang="zh-CN" altLang="en-US"/>
            </a:p>
          </p:txBody>
        </p:sp>
        <p:sp>
          <p:nvSpPr>
            <p:cNvPr id="15" name="Line 46"/>
            <p:cNvSpPr>
              <a:spLocks noChangeShapeType="1"/>
            </p:cNvSpPr>
            <p:nvPr/>
          </p:nvSpPr>
          <p:spPr bwMode="auto">
            <a:xfrm>
              <a:off x="1393" y="3102"/>
              <a:ext cx="3215" cy="1"/>
            </a:xfrm>
            <a:prstGeom prst="line">
              <a:avLst/>
            </a:prstGeom>
            <a:noFill/>
            <a:ln w="17463">
              <a:solidFill>
                <a:srgbClr val="FFFFFF"/>
              </a:solidFill>
              <a:round/>
              <a:headEnd/>
              <a:tailEnd/>
            </a:ln>
          </p:spPr>
          <p:txBody>
            <a:bodyPr/>
            <a:lstStyle/>
            <a:p>
              <a:endParaRPr lang="zh-CN" altLang="en-US"/>
            </a:p>
          </p:txBody>
        </p:sp>
        <p:sp>
          <p:nvSpPr>
            <p:cNvPr id="16" name="Freeform 47"/>
            <p:cNvSpPr>
              <a:spLocks/>
            </p:cNvSpPr>
            <p:nvPr/>
          </p:nvSpPr>
          <p:spPr bwMode="auto">
            <a:xfrm>
              <a:off x="1393" y="3339"/>
              <a:ext cx="3215" cy="3"/>
            </a:xfrm>
            <a:custGeom>
              <a:avLst/>
              <a:gdLst/>
              <a:ahLst/>
              <a:cxnLst>
                <a:cxn ang="0">
                  <a:pos x="0" y="0"/>
                </a:cxn>
                <a:cxn ang="0">
                  <a:pos x="3215" y="3"/>
                </a:cxn>
                <a:cxn ang="0">
                  <a:pos x="0" y="0"/>
                </a:cxn>
              </a:cxnLst>
              <a:rect l="0" t="0" r="r" b="b"/>
              <a:pathLst>
                <a:path w="3215" h="3">
                  <a:moveTo>
                    <a:pt x="0" y="0"/>
                  </a:moveTo>
                  <a:lnTo>
                    <a:pt x="3215" y="3"/>
                  </a:lnTo>
                  <a:lnTo>
                    <a:pt x="0" y="0"/>
                  </a:lnTo>
                  <a:close/>
                </a:path>
              </a:pathLst>
            </a:custGeom>
            <a:solidFill>
              <a:srgbClr val="FFFFFF"/>
            </a:solidFill>
            <a:ln w="9525">
              <a:noFill/>
              <a:round/>
              <a:headEnd/>
              <a:tailEnd/>
            </a:ln>
          </p:spPr>
          <p:txBody>
            <a:bodyPr/>
            <a:lstStyle/>
            <a:p>
              <a:endParaRPr lang="zh-CN" altLang="en-US"/>
            </a:p>
          </p:txBody>
        </p:sp>
        <p:sp>
          <p:nvSpPr>
            <p:cNvPr id="17" name="Line 48"/>
            <p:cNvSpPr>
              <a:spLocks noChangeShapeType="1"/>
            </p:cNvSpPr>
            <p:nvPr/>
          </p:nvSpPr>
          <p:spPr bwMode="auto">
            <a:xfrm>
              <a:off x="1393" y="3339"/>
              <a:ext cx="3215" cy="3"/>
            </a:xfrm>
            <a:prstGeom prst="line">
              <a:avLst/>
            </a:prstGeom>
            <a:noFill/>
            <a:ln w="17463">
              <a:solidFill>
                <a:srgbClr val="FFFFFF"/>
              </a:solidFill>
              <a:round/>
              <a:headEnd/>
              <a:tailEnd/>
            </a:ln>
          </p:spPr>
          <p:txBody>
            <a:bodyPr/>
            <a:lstStyle/>
            <a:p>
              <a:endParaRPr lang="zh-CN" altLang="en-US"/>
            </a:p>
          </p:txBody>
        </p:sp>
        <p:sp>
          <p:nvSpPr>
            <p:cNvPr id="18" name="Freeform 49"/>
            <p:cNvSpPr>
              <a:spLocks/>
            </p:cNvSpPr>
            <p:nvPr/>
          </p:nvSpPr>
          <p:spPr bwMode="auto">
            <a:xfrm>
              <a:off x="1393" y="3127"/>
              <a:ext cx="3215" cy="201"/>
            </a:xfrm>
            <a:custGeom>
              <a:avLst/>
              <a:gdLst/>
              <a:ahLst/>
              <a:cxnLst>
                <a:cxn ang="0">
                  <a:pos x="0" y="0"/>
                </a:cxn>
                <a:cxn ang="0">
                  <a:pos x="0" y="201"/>
                </a:cxn>
                <a:cxn ang="0">
                  <a:pos x="3215" y="201"/>
                </a:cxn>
                <a:cxn ang="0">
                  <a:pos x="3215" y="0"/>
                </a:cxn>
                <a:cxn ang="0">
                  <a:pos x="0" y="0"/>
                </a:cxn>
                <a:cxn ang="0">
                  <a:pos x="0" y="0"/>
                </a:cxn>
              </a:cxnLst>
              <a:rect l="0" t="0" r="r" b="b"/>
              <a:pathLst>
                <a:path w="3215" h="201">
                  <a:moveTo>
                    <a:pt x="0" y="0"/>
                  </a:moveTo>
                  <a:lnTo>
                    <a:pt x="0" y="201"/>
                  </a:lnTo>
                  <a:lnTo>
                    <a:pt x="3215" y="201"/>
                  </a:lnTo>
                  <a:lnTo>
                    <a:pt x="3215" y="0"/>
                  </a:lnTo>
                  <a:lnTo>
                    <a:pt x="0" y="0"/>
                  </a:lnTo>
                  <a:lnTo>
                    <a:pt x="0" y="0"/>
                  </a:lnTo>
                  <a:close/>
                </a:path>
              </a:pathLst>
            </a:custGeom>
            <a:solidFill>
              <a:srgbClr val="FFFFFF"/>
            </a:solidFill>
            <a:ln w="9525">
              <a:noFill/>
              <a:round/>
              <a:headEnd/>
              <a:tailEnd/>
            </a:ln>
          </p:spPr>
          <p:txBody>
            <a:bodyPr/>
            <a:lstStyle/>
            <a:p>
              <a:endParaRPr lang="zh-CN" altLang="en-US"/>
            </a:p>
          </p:txBody>
        </p:sp>
        <p:sp>
          <p:nvSpPr>
            <p:cNvPr id="19" name="Freeform 50"/>
            <p:cNvSpPr>
              <a:spLocks/>
            </p:cNvSpPr>
            <p:nvPr/>
          </p:nvSpPr>
          <p:spPr bwMode="auto">
            <a:xfrm>
              <a:off x="1393" y="3127"/>
              <a:ext cx="3215" cy="201"/>
            </a:xfrm>
            <a:custGeom>
              <a:avLst/>
              <a:gdLst/>
              <a:ahLst/>
              <a:cxnLst>
                <a:cxn ang="0">
                  <a:pos x="0" y="0"/>
                </a:cxn>
                <a:cxn ang="0">
                  <a:pos x="0" y="201"/>
                </a:cxn>
                <a:cxn ang="0">
                  <a:pos x="3215" y="201"/>
                </a:cxn>
                <a:cxn ang="0">
                  <a:pos x="3215" y="0"/>
                </a:cxn>
                <a:cxn ang="0">
                  <a:pos x="0" y="0"/>
                </a:cxn>
                <a:cxn ang="0">
                  <a:pos x="0" y="0"/>
                </a:cxn>
              </a:cxnLst>
              <a:rect l="0" t="0" r="r" b="b"/>
              <a:pathLst>
                <a:path w="3215" h="201">
                  <a:moveTo>
                    <a:pt x="0" y="0"/>
                  </a:moveTo>
                  <a:lnTo>
                    <a:pt x="0" y="201"/>
                  </a:lnTo>
                  <a:lnTo>
                    <a:pt x="3215" y="201"/>
                  </a:lnTo>
                  <a:lnTo>
                    <a:pt x="3215" y="0"/>
                  </a:lnTo>
                  <a:lnTo>
                    <a:pt x="0" y="0"/>
                  </a:lnTo>
                  <a:lnTo>
                    <a:pt x="0" y="0"/>
                  </a:lnTo>
                </a:path>
              </a:pathLst>
            </a:custGeom>
            <a:noFill/>
            <a:ln w="17463">
              <a:solidFill>
                <a:srgbClr val="FFFFFF"/>
              </a:solidFill>
              <a:prstDash val="solid"/>
              <a:round/>
              <a:headEnd/>
              <a:tailEnd/>
            </a:ln>
          </p:spPr>
          <p:txBody>
            <a:bodyPr/>
            <a:lstStyle/>
            <a:p>
              <a:endParaRPr lang="zh-CN" altLang="en-US"/>
            </a:p>
          </p:txBody>
        </p:sp>
        <p:sp>
          <p:nvSpPr>
            <p:cNvPr id="20" name="Line 51"/>
            <p:cNvSpPr>
              <a:spLocks noChangeShapeType="1"/>
            </p:cNvSpPr>
            <p:nvPr/>
          </p:nvSpPr>
          <p:spPr bwMode="auto">
            <a:xfrm>
              <a:off x="1398" y="3119"/>
              <a:ext cx="51" cy="234"/>
            </a:xfrm>
            <a:prstGeom prst="line">
              <a:avLst/>
            </a:prstGeom>
            <a:noFill/>
            <a:ln w="9525">
              <a:solidFill>
                <a:srgbClr val="000000"/>
              </a:solidFill>
              <a:round/>
              <a:headEnd/>
              <a:tailEnd/>
            </a:ln>
          </p:spPr>
          <p:txBody>
            <a:bodyPr/>
            <a:lstStyle/>
            <a:p>
              <a:endParaRPr lang="zh-CN" altLang="en-US"/>
            </a:p>
          </p:txBody>
        </p:sp>
        <p:sp>
          <p:nvSpPr>
            <p:cNvPr id="21" name="Line 52"/>
            <p:cNvSpPr>
              <a:spLocks noChangeShapeType="1"/>
            </p:cNvSpPr>
            <p:nvPr/>
          </p:nvSpPr>
          <p:spPr bwMode="auto">
            <a:xfrm>
              <a:off x="1454" y="3119"/>
              <a:ext cx="50" cy="234"/>
            </a:xfrm>
            <a:prstGeom prst="line">
              <a:avLst/>
            </a:prstGeom>
            <a:noFill/>
            <a:ln w="9525">
              <a:solidFill>
                <a:srgbClr val="000000"/>
              </a:solidFill>
              <a:round/>
              <a:headEnd/>
              <a:tailEnd/>
            </a:ln>
          </p:spPr>
          <p:txBody>
            <a:bodyPr/>
            <a:lstStyle/>
            <a:p>
              <a:endParaRPr lang="zh-CN" altLang="en-US"/>
            </a:p>
          </p:txBody>
        </p:sp>
        <p:sp>
          <p:nvSpPr>
            <p:cNvPr id="22" name="Line 53"/>
            <p:cNvSpPr>
              <a:spLocks noChangeShapeType="1"/>
            </p:cNvSpPr>
            <p:nvPr/>
          </p:nvSpPr>
          <p:spPr bwMode="auto">
            <a:xfrm>
              <a:off x="1510" y="3119"/>
              <a:ext cx="50" cy="234"/>
            </a:xfrm>
            <a:prstGeom prst="line">
              <a:avLst/>
            </a:prstGeom>
            <a:noFill/>
            <a:ln w="9525">
              <a:solidFill>
                <a:srgbClr val="000000"/>
              </a:solidFill>
              <a:round/>
              <a:headEnd/>
              <a:tailEnd/>
            </a:ln>
          </p:spPr>
          <p:txBody>
            <a:bodyPr/>
            <a:lstStyle/>
            <a:p>
              <a:endParaRPr lang="zh-CN" altLang="en-US"/>
            </a:p>
          </p:txBody>
        </p:sp>
        <p:sp>
          <p:nvSpPr>
            <p:cNvPr id="23" name="Line 54"/>
            <p:cNvSpPr>
              <a:spLocks noChangeShapeType="1"/>
            </p:cNvSpPr>
            <p:nvPr/>
          </p:nvSpPr>
          <p:spPr bwMode="auto">
            <a:xfrm>
              <a:off x="1566" y="3119"/>
              <a:ext cx="53" cy="234"/>
            </a:xfrm>
            <a:prstGeom prst="line">
              <a:avLst/>
            </a:prstGeom>
            <a:noFill/>
            <a:ln w="9525">
              <a:solidFill>
                <a:srgbClr val="000000"/>
              </a:solidFill>
              <a:round/>
              <a:headEnd/>
              <a:tailEnd/>
            </a:ln>
          </p:spPr>
          <p:txBody>
            <a:bodyPr/>
            <a:lstStyle/>
            <a:p>
              <a:endParaRPr lang="zh-CN" altLang="en-US"/>
            </a:p>
          </p:txBody>
        </p:sp>
        <p:sp>
          <p:nvSpPr>
            <p:cNvPr id="24" name="Line 55"/>
            <p:cNvSpPr>
              <a:spLocks noChangeShapeType="1"/>
            </p:cNvSpPr>
            <p:nvPr/>
          </p:nvSpPr>
          <p:spPr bwMode="auto">
            <a:xfrm>
              <a:off x="1621" y="3119"/>
              <a:ext cx="53" cy="234"/>
            </a:xfrm>
            <a:prstGeom prst="line">
              <a:avLst/>
            </a:prstGeom>
            <a:noFill/>
            <a:ln w="9525">
              <a:solidFill>
                <a:srgbClr val="000000"/>
              </a:solidFill>
              <a:round/>
              <a:headEnd/>
              <a:tailEnd/>
            </a:ln>
          </p:spPr>
          <p:txBody>
            <a:bodyPr/>
            <a:lstStyle/>
            <a:p>
              <a:endParaRPr lang="zh-CN" altLang="en-US"/>
            </a:p>
          </p:txBody>
        </p:sp>
        <p:sp>
          <p:nvSpPr>
            <p:cNvPr id="25" name="Line 56"/>
            <p:cNvSpPr>
              <a:spLocks noChangeShapeType="1"/>
            </p:cNvSpPr>
            <p:nvPr/>
          </p:nvSpPr>
          <p:spPr bwMode="auto">
            <a:xfrm>
              <a:off x="1677" y="3119"/>
              <a:ext cx="53" cy="234"/>
            </a:xfrm>
            <a:prstGeom prst="line">
              <a:avLst/>
            </a:prstGeom>
            <a:noFill/>
            <a:ln w="9525">
              <a:solidFill>
                <a:srgbClr val="000000"/>
              </a:solidFill>
              <a:round/>
              <a:headEnd/>
              <a:tailEnd/>
            </a:ln>
          </p:spPr>
          <p:txBody>
            <a:bodyPr/>
            <a:lstStyle/>
            <a:p>
              <a:endParaRPr lang="zh-CN" altLang="en-US"/>
            </a:p>
          </p:txBody>
        </p:sp>
        <p:sp>
          <p:nvSpPr>
            <p:cNvPr id="26" name="Line 57"/>
            <p:cNvSpPr>
              <a:spLocks noChangeShapeType="1"/>
            </p:cNvSpPr>
            <p:nvPr/>
          </p:nvSpPr>
          <p:spPr bwMode="auto">
            <a:xfrm>
              <a:off x="1733" y="3119"/>
              <a:ext cx="53" cy="234"/>
            </a:xfrm>
            <a:prstGeom prst="line">
              <a:avLst/>
            </a:prstGeom>
            <a:noFill/>
            <a:ln w="9525">
              <a:solidFill>
                <a:srgbClr val="000000"/>
              </a:solidFill>
              <a:round/>
              <a:headEnd/>
              <a:tailEnd/>
            </a:ln>
          </p:spPr>
          <p:txBody>
            <a:bodyPr/>
            <a:lstStyle/>
            <a:p>
              <a:endParaRPr lang="zh-CN" altLang="en-US"/>
            </a:p>
          </p:txBody>
        </p:sp>
        <p:sp>
          <p:nvSpPr>
            <p:cNvPr id="27" name="Line 58"/>
            <p:cNvSpPr>
              <a:spLocks noChangeShapeType="1"/>
            </p:cNvSpPr>
            <p:nvPr/>
          </p:nvSpPr>
          <p:spPr bwMode="auto">
            <a:xfrm>
              <a:off x="1791" y="3119"/>
              <a:ext cx="51" cy="234"/>
            </a:xfrm>
            <a:prstGeom prst="line">
              <a:avLst/>
            </a:prstGeom>
            <a:noFill/>
            <a:ln w="9525">
              <a:solidFill>
                <a:srgbClr val="000000"/>
              </a:solidFill>
              <a:round/>
              <a:headEnd/>
              <a:tailEnd/>
            </a:ln>
          </p:spPr>
          <p:txBody>
            <a:bodyPr/>
            <a:lstStyle/>
            <a:p>
              <a:endParaRPr lang="zh-CN" altLang="en-US"/>
            </a:p>
          </p:txBody>
        </p:sp>
        <p:sp>
          <p:nvSpPr>
            <p:cNvPr id="28" name="Line 59"/>
            <p:cNvSpPr>
              <a:spLocks noChangeShapeType="1"/>
            </p:cNvSpPr>
            <p:nvPr/>
          </p:nvSpPr>
          <p:spPr bwMode="auto">
            <a:xfrm>
              <a:off x="1847" y="3119"/>
              <a:ext cx="50" cy="234"/>
            </a:xfrm>
            <a:prstGeom prst="line">
              <a:avLst/>
            </a:prstGeom>
            <a:noFill/>
            <a:ln w="9525">
              <a:solidFill>
                <a:srgbClr val="000000"/>
              </a:solidFill>
              <a:round/>
              <a:headEnd/>
              <a:tailEnd/>
            </a:ln>
          </p:spPr>
          <p:txBody>
            <a:bodyPr/>
            <a:lstStyle/>
            <a:p>
              <a:endParaRPr lang="zh-CN" altLang="en-US"/>
            </a:p>
          </p:txBody>
        </p:sp>
        <p:sp>
          <p:nvSpPr>
            <p:cNvPr id="29" name="Line 60"/>
            <p:cNvSpPr>
              <a:spLocks noChangeShapeType="1"/>
            </p:cNvSpPr>
            <p:nvPr/>
          </p:nvSpPr>
          <p:spPr bwMode="auto">
            <a:xfrm>
              <a:off x="1903" y="3119"/>
              <a:ext cx="50" cy="234"/>
            </a:xfrm>
            <a:prstGeom prst="line">
              <a:avLst/>
            </a:prstGeom>
            <a:noFill/>
            <a:ln w="9525">
              <a:solidFill>
                <a:srgbClr val="000000"/>
              </a:solidFill>
              <a:round/>
              <a:headEnd/>
              <a:tailEnd/>
            </a:ln>
          </p:spPr>
          <p:txBody>
            <a:bodyPr/>
            <a:lstStyle/>
            <a:p>
              <a:endParaRPr lang="zh-CN" altLang="en-US"/>
            </a:p>
          </p:txBody>
        </p:sp>
        <p:sp>
          <p:nvSpPr>
            <p:cNvPr id="30" name="Line 61"/>
            <p:cNvSpPr>
              <a:spLocks noChangeShapeType="1"/>
            </p:cNvSpPr>
            <p:nvPr/>
          </p:nvSpPr>
          <p:spPr bwMode="auto">
            <a:xfrm>
              <a:off x="1959" y="3119"/>
              <a:ext cx="52" cy="234"/>
            </a:xfrm>
            <a:prstGeom prst="line">
              <a:avLst/>
            </a:prstGeom>
            <a:noFill/>
            <a:ln w="9525">
              <a:solidFill>
                <a:srgbClr val="000000"/>
              </a:solidFill>
              <a:round/>
              <a:headEnd/>
              <a:tailEnd/>
            </a:ln>
          </p:spPr>
          <p:txBody>
            <a:bodyPr/>
            <a:lstStyle/>
            <a:p>
              <a:endParaRPr lang="zh-CN" altLang="en-US"/>
            </a:p>
          </p:txBody>
        </p:sp>
        <p:sp>
          <p:nvSpPr>
            <p:cNvPr id="31" name="Line 62"/>
            <p:cNvSpPr>
              <a:spLocks noChangeShapeType="1"/>
            </p:cNvSpPr>
            <p:nvPr/>
          </p:nvSpPr>
          <p:spPr bwMode="auto">
            <a:xfrm>
              <a:off x="2014" y="3119"/>
              <a:ext cx="53" cy="234"/>
            </a:xfrm>
            <a:prstGeom prst="line">
              <a:avLst/>
            </a:prstGeom>
            <a:noFill/>
            <a:ln w="9525">
              <a:solidFill>
                <a:srgbClr val="000000"/>
              </a:solidFill>
              <a:round/>
              <a:headEnd/>
              <a:tailEnd/>
            </a:ln>
          </p:spPr>
          <p:txBody>
            <a:bodyPr/>
            <a:lstStyle/>
            <a:p>
              <a:endParaRPr lang="zh-CN" altLang="en-US"/>
            </a:p>
          </p:txBody>
        </p:sp>
        <p:sp>
          <p:nvSpPr>
            <p:cNvPr id="32" name="Line 63"/>
            <p:cNvSpPr>
              <a:spLocks noChangeShapeType="1"/>
            </p:cNvSpPr>
            <p:nvPr/>
          </p:nvSpPr>
          <p:spPr bwMode="auto">
            <a:xfrm>
              <a:off x="2070" y="3119"/>
              <a:ext cx="53" cy="234"/>
            </a:xfrm>
            <a:prstGeom prst="line">
              <a:avLst/>
            </a:prstGeom>
            <a:noFill/>
            <a:ln w="9525">
              <a:solidFill>
                <a:srgbClr val="000000"/>
              </a:solidFill>
              <a:round/>
              <a:headEnd/>
              <a:tailEnd/>
            </a:ln>
          </p:spPr>
          <p:txBody>
            <a:bodyPr/>
            <a:lstStyle/>
            <a:p>
              <a:endParaRPr lang="zh-CN" altLang="en-US"/>
            </a:p>
          </p:txBody>
        </p:sp>
        <p:sp>
          <p:nvSpPr>
            <p:cNvPr id="33" name="Line 64"/>
            <p:cNvSpPr>
              <a:spLocks noChangeShapeType="1"/>
            </p:cNvSpPr>
            <p:nvPr/>
          </p:nvSpPr>
          <p:spPr bwMode="auto">
            <a:xfrm>
              <a:off x="2126" y="3119"/>
              <a:ext cx="53" cy="234"/>
            </a:xfrm>
            <a:prstGeom prst="line">
              <a:avLst/>
            </a:prstGeom>
            <a:noFill/>
            <a:ln w="9525">
              <a:solidFill>
                <a:srgbClr val="000000"/>
              </a:solidFill>
              <a:round/>
              <a:headEnd/>
              <a:tailEnd/>
            </a:ln>
          </p:spPr>
          <p:txBody>
            <a:bodyPr/>
            <a:lstStyle/>
            <a:p>
              <a:endParaRPr lang="zh-CN" altLang="en-US"/>
            </a:p>
          </p:txBody>
        </p:sp>
        <p:sp>
          <p:nvSpPr>
            <p:cNvPr id="34" name="Line 65"/>
            <p:cNvSpPr>
              <a:spLocks noChangeShapeType="1"/>
            </p:cNvSpPr>
            <p:nvPr/>
          </p:nvSpPr>
          <p:spPr bwMode="auto">
            <a:xfrm>
              <a:off x="2184" y="3119"/>
              <a:ext cx="50" cy="234"/>
            </a:xfrm>
            <a:prstGeom prst="line">
              <a:avLst/>
            </a:prstGeom>
            <a:noFill/>
            <a:ln w="9525">
              <a:solidFill>
                <a:srgbClr val="000000"/>
              </a:solidFill>
              <a:round/>
              <a:headEnd/>
              <a:tailEnd/>
            </a:ln>
          </p:spPr>
          <p:txBody>
            <a:bodyPr/>
            <a:lstStyle/>
            <a:p>
              <a:endParaRPr lang="zh-CN" altLang="en-US"/>
            </a:p>
          </p:txBody>
        </p:sp>
        <p:sp>
          <p:nvSpPr>
            <p:cNvPr id="35" name="Line 66"/>
            <p:cNvSpPr>
              <a:spLocks noChangeShapeType="1"/>
            </p:cNvSpPr>
            <p:nvPr/>
          </p:nvSpPr>
          <p:spPr bwMode="auto">
            <a:xfrm>
              <a:off x="2240" y="3119"/>
              <a:ext cx="50" cy="234"/>
            </a:xfrm>
            <a:prstGeom prst="line">
              <a:avLst/>
            </a:prstGeom>
            <a:noFill/>
            <a:ln w="9525">
              <a:solidFill>
                <a:srgbClr val="000000"/>
              </a:solidFill>
              <a:round/>
              <a:headEnd/>
              <a:tailEnd/>
            </a:ln>
          </p:spPr>
          <p:txBody>
            <a:bodyPr/>
            <a:lstStyle/>
            <a:p>
              <a:endParaRPr lang="zh-CN" altLang="en-US"/>
            </a:p>
          </p:txBody>
        </p:sp>
        <p:sp>
          <p:nvSpPr>
            <p:cNvPr id="36" name="Line 67"/>
            <p:cNvSpPr>
              <a:spLocks noChangeShapeType="1"/>
            </p:cNvSpPr>
            <p:nvPr/>
          </p:nvSpPr>
          <p:spPr bwMode="auto">
            <a:xfrm>
              <a:off x="2296" y="3119"/>
              <a:ext cx="50" cy="234"/>
            </a:xfrm>
            <a:prstGeom prst="line">
              <a:avLst/>
            </a:prstGeom>
            <a:noFill/>
            <a:ln w="9525">
              <a:solidFill>
                <a:srgbClr val="000000"/>
              </a:solidFill>
              <a:round/>
              <a:headEnd/>
              <a:tailEnd/>
            </a:ln>
          </p:spPr>
          <p:txBody>
            <a:bodyPr/>
            <a:lstStyle/>
            <a:p>
              <a:endParaRPr lang="zh-CN" altLang="en-US"/>
            </a:p>
          </p:txBody>
        </p:sp>
        <p:sp>
          <p:nvSpPr>
            <p:cNvPr id="37" name="Line 68"/>
            <p:cNvSpPr>
              <a:spLocks noChangeShapeType="1"/>
            </p:cNvSpPr>
            <p:nvPr/>
          </p:nvSpPr>
          <p:spPr bwMode="auto">
            <a:xfrm>
              <a:off x="2351" y="3119"/>
              <a:ext cx="51" cy="234"/>
            </a:xfrm>
            <a:prstGeom prst="line">
              <a:avLst/>
            </a:prstGeom>
            <a:noFill/>
            <a:ln w="9525">
              <a:solidFill>
                <a:srgbClr val="000000"/>
              </a:solidFill>
              <a:round/>
              <a:headEnd/>
              <a:tailEnd/>
            </a:ln>
          </p:spPr>
          <p:txBody>
            <a:bodyPr/>
            <a:lstStyle/>
            <a:p>
              <a:endParaRPr lang="zh-CN" altLang="en-US"/>
            </a:p>
          </p:txBody>
        </p:sp>
        <p:sp>
          <p:nvSpPr>
            <p:cNvPr id="38" name="Line 69"/>
            <p:cNvSpPr>
              <a:spLocks noChangeShapeType="1"/>
            </p:cNvSpPr>
            <p:nvPr/>
          </p:nvSpPr>
          <p:spPr bwMode="auto">
            <a:xfrm>
              <a:off x="2407" y="3119"/>
              <a:ext cx="53" cy="234"/>
            </a:xfrm>
            <a:prstGeom prst="line">
              <a:avLst/>
            </a:prstGeom>
            <a:noFill/>
            <a:ln w="9525">
              <a:solidFill>
                <a:srgbClr val="000000"/>
              </a:solidFill>
              <a:round/>
              <a:headEnd/>
              <a:tailEnd/>
            </a:ln>
          </p:spPr>
          <p:txBody>
            <a:bodyPr/>
            <a:lstStyle/>
            <a:p>
              <a:endParaRPr lang="zh-CN" altLang="en-US"/>
            </a:p>
          </p:txBody>
        </p:sp>
        <p:sp>
          <p:nvSpPr>
            <p:cNvPr id="39" name="Line 70"/>
            <p:cNvSpPr>
              <a:spLocks noChangeShapeType="1"/>
            </p:cNvSpPr>
            <p:nvPr/>
          </p:nvSpPr>
          <p:spPr bwMode="auto">
            <a:xfrm>
              <a:off x="2463" y="3119"/>
              <a:ext cx="53" cy="234"/>
            </a:xfrm>
            <a:prstGeom prst="line">
              <a:avLst/>
            </a:prstGeom>
            <a:noFill/>
            <a:ln w="9525">
              <a:solidFill>
                <a:srgbClr val="000000"/>
              </a:solidFill>
              <a:round/>
              <a:headEnd/>
              <a:tailEnd/>
            </a:ln>
          </p:spPr>
          <p:txBody>
            <a:bodyPr/>
            <a:lstStyle/>
            <a:p>
              <a:endParaRPr lang="zh-CN" altLang="en-US"/>
            </a:p>
          </p:txBody>
        </p:sp>
        <p:sp>
          <p:nvSpPr>
            <p:cNvPr id="40" name="Line 71"/>
            <p:cNvSpPr>
              <a:spLocks noChangeShapeType="1"/>
            </p:cNvSpPr>
            <p:nvPr/>
          </p:nvSpPr>
          <p:spPr bwMode="auto">
            <a:xfrm>
              <a:off x="2519" y="3119"/>
              <a:ext cx="53" cy="234"/>
            </a:xfrm>
            <a:prstGeom prst="line">
              <a:avLst/>
            </a:prstGeom>
            <a:noFill/>
            <a:ln w="9525">
              <a:solidFill>
                <a:srgbClr val="000000"/>
              </a:solidFill>
              <a:round/>
              <a:headEnd/>
              <a:tailEnd/>
            </a:ln>
          </p:spPr>
          <p:txBody>
            <a:bodyPr/>
            <a:lstStyle/>
            <a:p>
              <a:endParaRPr lang="zh-CN" altLang="en-US"/>
            </a:p>
          </p:txBody>
        </p:sp>
        <p:sp>
          <p:nvSpPr>
            <p:cNvPr id="41" name="Line 72"/>
            <p:cNvSpPr>
              <a:spLocks noChangeShapeType="1"/>
            </p:cNvSpPr>
            <p:nvPr/>
          </p:nvSpPr>
          <p:spPr bwMode="auto">
            <a:xfrm>
              <a:off x="2577" y="3119"/>
              <a:ext cx="50" cy="234"/>
            </a:xfrm>
            <a:prstGeom prst="line">
              <a:avLst/>
            </a:prstGeom>
            <a:noFill/>
            <a:ln w="9525">
              <a:solidFill>
                <a:srgbClr val="000000"/>
              </a:solidFill>
              <a:round/>
              <a:headEnd/>
              <a:tailEnd/>
            </a:ln>
          </p:spPr>
          <p:txBody>
            <a:bodyPr/>
            <a:lstStyle/>
            <a:p>
              <a:endParaRPr lang="zh-CN" altLang="en-US"/>
            </a:p>
          </p:txBody>
        </p:sp>
        <p:sp>
          <p:nvSpPr>
            <p:cNvPr id="42" name="Line 73"/>
            <p:cNvSpPr>
              <a:spLocks noChangeShapeType="1"/>
            </p:cNvSpPr>
            <p:nvPr/>
          </p:nvSpPr>
          <p:spPr bwMode="auto">
            <a:xfrm>
              <a:off x="2633" y="3119"/>
              <a:ext cx="50" cy="234"/>
            </a:xfrm>
            <a:prstGeom prst="line">
              <a:avLst/>
            </a:prstGeom>
            <a:noFill/>
            <a:ln w="9525">
              <a:solidFill>
                <a:srgbClr val="000000"/>
              </a:solidFill>
              <a:round/>
              <a:headEnd/>
              <a:tailEnd/>
            </a:ln>
          </p:spPr>
          <p:txBody>
            <a:bodyPr/>
            <a:lstStyle/>
            <a:p>
              <a:endParaRPr lang="zh-CN" altLang="en-US"/>
            </a:p>
          </p:txBody>
        </p:sp>
        <p:sp>
          <p:nvSpPr>
            <p:cNvPr id="43" name="Line 74"/>
            <p:cNvSpPr>
              <a:spLocks noChangeShapeType="1"/>
            </p:cNvSpPr>
            <p:nvPr/>
          </p:nvSpPr>
          <p:spPr bwMode="auto">
            <a:xfrm>
              <a:off x="2689" y="3119"/>
              <a:ext cx="50" cy="234"/>
            </a:xfrm>
            <a:prstGeom prst="line">
              <a:avLst/>
            </a:prstGeom>
            <a:noFill/>
            <a:ln w="9525">
              <a:solidFill>
                <a:srgbClr val="000000"/>
              </a:solidFill>
              <a:round/>
              <a:headEnd/>
              <a:tailEnd/>
            </a:ln>
          </p:spPr>
          <p:txBody>
            <a:bodyPr/>
            <a:lstStyle/>
            <a:p>
              <a:endParaRPr lang="zh-CN" altLang="en-US"/>
            </a:p>
          </p:txBody>
        </p:sp>
        <p:sp>
          <p:nvSpPr>
            <p:cNvPr id="44" name="Line 75"/>
            <p:cNvSpPr>
              <a:spLocks noChangeShapeType="1"/>
            </p:cNvSpPr>
            <p:nvPr/>
          </p:nvSpPr>
          <p:spPr bwMode="auto">
            <a:xfrm>
              <a:off x="2744" y="3119"/>
              <a:ext cx="50" cy="234"/>
            </a:xfrm>
            <a:prstGeom prst="line">
              <a:avLst/>
            </a:prstGeom>
            <a:noFill/>
            <a:ln w="9525">
              <a:solidFill>
                <a:srgbClr val="000000"/>
              </a:solidFill>
              <a:round/>
              <a:headEnd/>
              <a:tailEnd/>
            </a:ln>
          </p:spPr>
          <p:txBody>
            <a:bodyPr/>
            <a:lstStyle/>
            <a:p>
              <a:endParaRPr lang="zh-CN" altLang="en-US"/>
            </a:p>
          </p:txBody>
        </p:sp>
        <p:sp>
          <p:nvSpPr>
            <p:cNvPr id="45" name="Line 76"/>
            <p:cNvSpPr>
              <a:spLocks noChangeShapeType="1"/>
            </p:cNvSpPr>
            <p:nvPr/>
          </p:nvSpPr>
          <p:spPr bwMode="auto">
            <a:xfrm>
              <a:off x="2800" y="3119"/>
              <a:ext cx="53" cy="234"/>
            </a:xfrm>
            <a:prstGeom prst="line">
              <a:avLst/>
            </a:prstGeom>
            <a:noFill/>
            <a:ln w="9525">
              <a:solidFill>
                <a:srgbClr val="000000"/>
              </a:solidFill>
              <a:round/>
              <a:headEnd/>
              <a:tailEnd/>
            </a:ln>
          </p:spPr>
          <p:txBody>
            <a:bodyPr/>
            <a:lstStyle/>
            <a:p>
              <a:endParaRPr lang="zh-CN" altLang="en-US"/>
            </a:p>
          </p:txBody>
        </p:sp>
        <p:sp>
          <p:nvSpPr>
            <p:cNvPr id="46" name="Line 77"/>
            <p:cNvSpPr>
              <a:spLocks noChangeShapeType="1"/>
            </p:cNvSpPr>
            <p:nvPr/>
          </p:nvSpPr>
          <p:spPr bwMode="auto">
            <a:xfrm>
              <a:off x="2856" y="3119"/>
              <a:ext cx="53" cy="234"/>
            </a:xfrm>
            <a:prstGeom prst="line">
              <a:avLst/>
            </a:prstGeom>
            <a:noFill/>
            <a:ln w="9525">
              <a:solidFill>
                <a:srgbClr val="000000"/>
              </a:solidFill>
              <a:round/>
              <a:headEnd/>
              <a:tailEnd/>
            </a:ln>
          </p:spPr>
          <p:txBody>
            <a:bodyPr/>
            <a:lstStyle/>
            <a:p>
              <a:endParaRPr lang="zh-CN" altLang="en-US"/>
            </a:p>
          </p:txBody>
        </p:sp>
        <p:sp>
          <p:nvSpPr>
            <p:cNvPr id="47" name="Line 78"/>
            <p:cNvSpPr>
              <a:spLocks noChangeShapeType="1"/>
            </p:cNvSpPr>
            <p:nvPr/>
          </p:nvSpPr>
          <p:spPr bwMode="auto">
            <a:xfrm>
              <a:off x="2912" y="3119"/>
              <a:ext cx="52" cy="234"/>
            </a:xfrm>
            <a:prstGeom prst="line">
              <a:avLst/>
            </a:prstGeom>
            <a:noFill/>
            <a:ln w="9525">
              <a:solidFill>
                <a:srgbClr val="000000"/>
              </a:solidFill>
              <a:round/>
              <a:headEnd/>
              <a:tailEnd/>
            </a:ln>
          </p:spPr>
          <p:txBody>
            <a:bodyPr/>
            <a:lstStyle/>
            <a:p>
              <a:endParaRPr lang="zh-CN" altLang="en-US"/>
            </a:p>
          </p:txBody>
        </p:sp>
        <p:sp>
          <p:nvSpPr>
            <p:cNvPr id="48" name="Line 79"/>
            <p:cNvSpPr>
              <a:spLocks noChangeShapeType="1"/>
            </p:cNvSpPr>
            <p:nvPr/>
          </p:nvSpPr>
          <p:spPr bwMode="auto">
            <a:xfrm>
              <a:off x="2967" y="3119"/>
              <a:ext cx="53" cy="234"/>
            </a:xfrm>
            <a:prstGeom prst="line">
              <a:avLst/>
            </a:prstGeom>
            <a:noFill/>
            <a:ln w="9525">
              <a:solidFill>
                <a:srgbClr val="000000"/>
              </a:solidFill>
              <a:round/>
              <a:headEnd/>
              <a:tailEnd/>
            </a:ln>
          </p:spPr>
          <p:txBody>
            <a:bodyPr/>
            <a:lstStyle/>
            <a:p>
              <a:endParaRPr lang="zh-CN" altLang="en-US"/>
            </a:p>
          </p:txBody>
        </p:sp>
        <p:sp>
          <p:nvSpPr>
            <p:cNvPr id="49" name="Line 80"/>
            <p:cNvSpPr>
              <a:spLocks noChangeShapeType="1"/>
            </p:cNvSpPr>
            <p:nvPr/>
          </p:nvSpPr>
          <p:spPr bwMode="auto">
            <a:xfrm>
              <a:off x="3026" y="3119"/>
              <a:ext cx="50" cy="234"/>
            </a:xfrm>
            <a:prstGeom prst="line">
              <a:avLst/>
            </a:prstGeom>
            <a:noFill/>
            <a:ln w="9525">
              <a:solidFill>
                <a:srgbClr val="000000"/>
              </a:solidFill>
              <a:round/>
              <a:headEnd/>
              <a:tailEnd/>
            </a:ln>
          </p:spPr>
          <p:txBody>
            <a:bodyPr/>
            <a:lstStyle/>
            <a:p>
              <a:endParaRPr lang="zh-CN" altLang="en-US"/>
            </a:p>
          </p:txBody>
        </p:sp>
        <p:sp>
          <p:nvSpPr>
            <p:cNvPr id="50" name="Line 81"/>
            <p:cNvSpPr>
              <a:spLocks noChangeShapeType="1"/>
            </p:cNvSpPr>
            <p:nvPr/>
          </p:nvSpPr>
          <p:spPr bwMode="auto">
            <a:xfrm>
              <a:off x="3082" y="3119"/>
              <a:ext cx="50" cy="234"/>
            </a:xfrm>
            <a:prstGeom prst="line">
              <a:avLst/>
            </a:prstGeom>
            <a:noFill/>
            <a:ln w="9525">
              <a:solidFill>
                <a:srgbClr val="000000"/>
              </a:solidFill>
              <a:round/>
              <a:headEnd/>
              <a:tailEnd/>
            </a:ln>
          </p:spPr>
          <p:txBody>
            <a:bodyPr/>
            <a:lstStyle/>
            <a:p>
              <a:endParaRPr lang="zh-CN" altLang="en-US"/>
            </a:p>
          </p:txBody>
        </p:sp>
        <p:sp>
          <p:nvSpPr>
            <p:cNvPr id="51" name="Line 82"/>
            <p:cNvSpPr>
              <a:spLocks noChangeShapeType="1"/>
            </p:cNvSpPr>
            <p:nvPr/>
          </p:nvSpPr>
          <p:spPr bwMode="auto">
            <a:xfrm>
              <a:off x="3137" y="3119"/>
              <a:ext cx="50" cy="234"/>
            </a:xfrm>
            <a:prstGeom prst="line">
              <a:avLst/>
            </a:prstGeom>
            <a:noFill/>
            <a:ln w="9525">
              <a:solidFill>
                <a:srgbClr val="000000"/>
              </a:solidFill>
              <a:round/>
              <a:headEnd/>
              <a:tailEnd/>
            </a:ln>
          </p:spPr>
          <p:txBody>
            <a:bodyPr/>
            <a:lstStyle/>
            <a:p>
              <a:endParaRPr lang="zh-CN" altLang="en-US"/>
            </a:p>
          </p:txBody>
        </p:sp>
        <p:sp>
          <p:nvSpPr>
            <p:cNvPr id="52" name="Line 83"/>
            <p:cNvSpPr>
              <a:spLocks noChangeShapeType="1"/>
            </p:cNvSpPr>
            <p:nvPr/>
          </p:nvSpPr>
          <p:spPr bwMode="auto">
            <a:xfrm>
              <a:off x="3193" y="3119"/>
              <a:ext cx="53" cy="234"/>
            </a:xfrm>
            <a:prstGeom prst="line">
              <a:avLst/>
            </a:prstGeom>
            <a:noFill/>
            <a:ln w="9525">
              <a:solidFill>
                <a:srgbClr val="000000"/>
              </a:solidFill>
              <a:round/>
              <a:headEnd/>
              <a:tailEnd/>
            </a:ln>
          </p:spPr>
          <p:txBody>
            <a:bodyPr/>
            <a:lstStyle/>
            <a:p>
              <a:endParaRPr lang="zh-CN" altLang="en-US"/>
            </a:p>
          </p:txBody>
        </p:sp>
        <p:sp>
          <p:nvSpPr>
            <p:cNvPr id="53" name="Line 84"/>
            <p:cNvSpPr>
              <a:spLocks noChangeShapeType="1"/>
            </p:cNvSpPr>
            <p:nvPr/>
          </p:nvSpPr>
          <p:spPr bwMode="auto">
            <a:xfrm>
              <a:off x="3249" y="3119"/>
              <a:ext cx="53" cy="234"/>
            </a:xfrm>
            <a:prstGeom prst="line">
              <a:avLst/>
            </a:prstGeom>
            <a:noFill/>
            <a:ln w="9525">
              <a:solidFill>
                <a:srgbClr val="000000"/>
              </a:solidFill>
              <a:round/>
              <a:headEnd/>
              <a:tailEnd/>
            </a:ln>
          </p:spPr>
          <p:txBody>
            <a:bodyPr/>
            <a:lstStyle/>
            <a:p>
              <a:endParaRPr lang="zh-CN" altLang="en-US"/>
            </a:p>
          </p:txBody>
        </p:sp>
        <p:sp>
          <p:nvSpPr>
            <p:cNvPr id="54" name="Line 85"/>
            <p:cNvSpPr>
              <a:spLocks noChangeShapeType="1"/>
            </p:cNvSpPr>
            <p:nvPr/>
          </p:nvSpPr>
          <p:spPr bwMode="auto">
            <a:xfrm>
              <a:off x="3304" y="3119"/>
              <a:ext cx="53" cy="234"/>
            </a:xfrm>
            <a:prstGeom prst="line">
              <a:avLst/>
            </a:prstGeom>
            <a:noFill/>
            <a:ln w="9525">
              <a:solidFill>
                <a:srgbClr val="000000"/>
              </a:solidFill>
              <a:round/>
              <a:headEnd/>
              <a:tailEnd/>
            </a:ln>
          </p:spPr>
          <p:txBody>
            <a:bodyPr/>
            <a:lstStyle/>
            <a:p>
              <a:endParaRPr lang="zh-CN" altLang="en-US"/>
            </a:p>
          </p:txBody>
        </p:sp>
        <p:sp>
          <p:nvSpPr>
            <p:cNvPr id="55" name="Line 86"/>
            <p:cNvSpPr>
              <a:spLocks noChangeShapeType="1"/>
            </p:cNvSpPr>
            <p:nvPr/>
          </p:nvSpPr>
          <p:spPr bwMode="auto">
            <a:xfrm>
              <a:off x="3360" y="3119"/>
              <a:ext cx="53" cy="234"/>
            </a:xfrm>
            <a:prstGeom prst="line">
              <a:avLst/>
            </a:prstGeom>
            <a:noFill/>
            <a:ln w="9525">
              <a:solidFill>
                <a:srgbClr val="000000"/>
              </a:solidFill>
              <a:round/>
              <a:headEnd/>
              <a:tailEnd/>
            </a:ln>
          </p:spPr>
          <p:txBody>
            <a:bodyPr/>
            <a:lstStyle/>
            <a:p>
              <a:endParaRPr lang="zh-CN" altLang="en-US"/>
            </a:p>
          </p:txBody>
        </p:sp>
        <p:sp>
          <p:nvSpPr>
            <p:cNvPr id="56" name="Line 87"/>
            <p:cNvSpPr>
              <a:spLocks noChangeShapeType="1"/>
            </p:cNvSpPr>
            <p:nvPr/>
          </p:nvSpPr>
          <p:spPr bwMode="auto">
            <a:xfrm>
              <a:off x="3419" y="3119"/>
              <a:ext cx="50" cy="234"/>
            </a:xfrm>
            <a:prstGeom prst="line">
              <a:avLst/>
            </a:prstGeom>
            <a:noFill/>
            <a:ln w="9525">
              <a:solidFill>
                <a:srgbClr val="000000"/>
              </a:solidFill>
              <a:round/>
              <a:headEnd/>
              <a:tailEnd/>
            </a:ln>
          </p:spPr>
          <p:txBody>
            <a:bodyPr/>
            <a:lstStyle/>
            <a:p>
              <a:endParaRPr lang="zh-CN" altLang="en-US"/>
            </a:p>
          </p:txBody>
        </p:sp>
        <p:sp>
          <p:nvSpPr>
            <p:cNvPr id="57" name="Line 88"/>
            <p:cNvSpPr>
              <a:spLocks noChangeShapeType="1"/>
            </p:cNvSpPr>
            <p:nvPr/>
          </p:nvSpPr>
          <p:spPr bwMode="auto">
            <a:xfrm>
              <a:off x="3474" y="3119"/>
              <a:ext cx="51" cy="234"/>
            </a:xfrm>
            <a:prstGeom prst="line">
              <a:avLst/>
            </a:prstGeom>
            <a:noFill/>
            <a:ln w="9525">
              <a:solidFill>
                <a:srgbClr val="000000"/>
              </a:solidFill>
              <a:round/>
              <a:headEnd/>
              <a:tailEnd/>
            </a:ln>
          </p:spPr>
          <p:txBody>
            <a:bodyPr/>
            <a:lstStyle/>
            <a:p>
              <a:endParaRPr lang="zh-CN" altLang="en-US"/>
            </a:p>
          </p:txBody>
        </p:sp>
        <p:sp>
          <p:nvSpPr>
            <p:cNvPr id="58" name="Line 89"/>
            <p:cNvSpPr>
              <a:spLocks noChangeShapeType="1"/>
            </p:cNvSpPr>
            <p:nvPr/>
          </p:nvSpPr>
          <p:spPr bwMode="auto">
            <a:xfrm>
              <a:off x="3530" y="3119"/>
              <a:ext cx="50" cy="234"/>
            </a:xfrm>
            <a:prstGeom prst="line">
              <a:avLst/>
            </a:prstGeom>
            <a:noFill/>
            <a:ln w="9525">
              <a:solidFill>
                <a:srgbClr val="000000"/>
              </a:solidFill>
              <a:round/>
              <a:headEnd/>
              <a:tailEnd/>
            </a:ln>
          </p:spPr>
          <p:txBody>
            <a:bodyPr/>
            <a:lstStyle/>
            <a:p>
              <a:endParaRPr lang="zh-CN" altLang="en-US"/>
            </a:p>
          </p:txBody>
        </p:sp>
        <p:sp>
          <p:nvSpPr>
            <p:cNvPr id="59" name="Line 90"/>
            <p:cNvSpPr>
              <a:spLocks noChangeShapeType="1"/>
            </p:cNvSpPr>
            <p:nvPr/>
          </p:nvSpPr>
          <p:spPr bwMode="auto">
            <a:xfrm>
              <a:off x="3586" y="3119"/>
              <a:ext cx="53" cy="234"/>
            </a:xfrm>
            <a:prstGeom prst="line">
              <a:avLst/>
            </a:prstGeom>
            <a:noFill/>
            <a:ln w="9525">
              <a:solidFill>
                <a:srgbClr val="000000"/>
              </a:solidFill>
              <a:round/>
              <a:headEnd/>
              <a:tailEnd/>
            </a:ln>
          </p:spPr>
          <p:txBody>
            <a:bodyPr/>
            <a:lstStyle/>
            <a:p>
              <a:endParaRPr lang="zh-CN" altLang="en-US"/>
            </a:p>
          </p:txBody>
        </p:sp>
        <p:sp>
          <p:nvSpPr>
            <p:cNvPr id="60" name="Line 91"/>
            <p:cNvSpPr>
              <a:spLocks noChangeShapeType="1"/>
            </p:cNvSpPr>
            <p:nvPr/>
          </p:nvSpPr>
          <p:spPr bwMode="auto">
            <a:xfrm>
              <a:off x="3642" y="3119"/>
              <a:ext cx="53" cy="234"/>
            </a:xfrm>
            <a:prstGeom prst="line">
              <a:avLst/>
            </a:prstGeom>
            <a:noFill/>
            <a:ln w="9525">
              <a:solidFill>
                <a:srgbClr val="000000"/>
              </a:solidFill>
              <a:round/>
              <a:headEnd/>
              <a:tailEnd/>
            </a:ln>
          </p:spPr>
          <p:txBody>
            <a:bodyPr/>
            <a:lstStyle/>
            <a:p>
              <a:endParaRPr lang="zh-CN" altLang="en-US"/>
            </a:p>
          </p:txBody>
        </p:sp>
        <p:sp>
          <p:nvSpPr>
            <p:cNvPr id="61" name="Line 92"/>
            <p:cNvSpPr>
              <a:spLocks noChangeShapeType="1"/>
            </p:cNvSpPr>
            <p:nvPr/>
          </p:nvSpPr>
          <p:spPr bwMode="auto">
            <a:xfrm>
              <a:off x="3697" y="3119"/>
              <a:ext cx="53" cy="234"/>
            </a:xfrm>
            <a:prstGeom prst="line">
              <a:avLst/>
            </a:prstGeom>
            <a:noFill/>
            <a:ln w="9525">
              <a:solidFill>
                <a:srgbClr val="000000"/>
              </a:solidFill>
              <a:round/>
              <a:headEnd/>
              <a:tailEnd/>
            </a:ln>
          </p:spPr>
          <p:txBody>
            <a:bodyPr/>
            <a:lstStyle/>
            <a:p>
              <a:endParaRPr lang="zh-CN" altLang="en-US"/>
            </a:p>
          </p:txBody>
        </p:sp>
        <p:sp>
          <p:nvSpPr>
            <p:cNvPr id="62" name="Line 93"/>
            <p:cNvSpPr>
              <a:spLocks noChangeShapeType="1"/>
            </p:cNvSpPr>
            <p:nvPr/>
          </p:nvSpPr>
          <p:spPr bwMode="auto">
            <a:xfrm>
              <a:off x="3753" y="3119"/>
              <a:ext cx="53" cy="234"/>
            </a:xfrm>
            <a:prstGeom prst="line">
              <a:avLst/>
            </a:prstGeom>
            <a:noFill/>
            <a:ln w="9525">
              <a:solidFill>
                <a:srgbClr val="000000"/>
              </a:solidFill>
              <a:round/>
              <a:headEnd/>
              <a:tailEnd/>
            </a:ln>
          </p:spPr>
          <p:txBody>
            <a:bodyPr/>
            <a:lstStyle/>
            <a:p>
              <a:endParaRPr lang="zh-CN" altLang="en-US"/>
            </a:p>
          </p:txBody>
        </p:sp>
        <p:sp>
          <p:nvSpPr>
            <p:cNvPr id="63" name="Line 94"/>
            <p:cNvSpPr>
              <a:spLocks noChangeShapeType="1"/>
            </p:cNvSpPr>
            <p:nvPr/>
          </p:nvSpPr>
          <p:spPr bwMode="auto">
            <a:xfrm>
              <a:off x="3812" y="3119"/>
              <a:ext cx="50" cy="234"/>
            </a:xfrm>
            <a:prstGeom prst="line">
              <a:avLst/>
            </a:prstGeom>
            <a:noFill/>
            <a:ln w="9525">
              <a:solidFill>
                <a:srgbClr val="000000"/>
              </a:solidFill>
              <a:round/>
              <a:headEnd/>
              <a:tailEnd/>
            </a:ln>
          </p:spPr>
          <p:txBody>
            <a:bodyPr/>
            <a:lstStyle/>
            <a:p>
              <a:endParaRPr lang="zh-CN" altLang="en-US"/>
            </a:p>
          </p:txBody>
        </p:sp>
        <p:sp>
          <p:nvSpPr>
            <p:cNvPr id="64" name="Line 95"/>
            <p:cNvSpPr>
              <a:spLocks noChangeShapeType="1"/>
            </p:cNvSpPr>
            <p:nvPr/>
          </p:nvSpPr>
          <p:spPr bwMode="auto">
            <a:xfrm>
              <a:off x="3867" y="3119"/>
              <a:ext cx="50" cy="234"/>
            </a:xfrm>
            <a:prstGeom prst="line">
              <a:avLst/>
            </a:prstGeom>
            <a:noFill/>
            <a:ln w="9525">
              <a:solidFill>
                <a:srgbClr val="000000"/>
              </a:solidFill>
              <a:round/>
              <a:headEnd/>
              <a:tailEnd/>
            </a:ln>
          </p:spPr>
          <p:txBody>
            <a:bodyPr/>
            <a:lstStyle/>
            <a:p>
              <a:endParaRPr lang="zh-CN" altLang="en-US"/>
            </a:p>
          </p:txBody>
        </p:sp>
        <p:sp>
          <p:nvSpPr>
            <p:cNvPr id="65" name="Line 96"/>
            <p:cNvSpPr>
              <a:spLocks noChangeShapeType="1"/>
            </p:cNvSpPr>
            <p:nvPr/>
          </p:nvSpPr>
          <p:spPr bwMode="auto">
            <a:xfrm>
              <a:off x="3923" y="3119"/>
              <a:ext cx="50" cy="234"/>
            </a:xfrm>
            <a:prstGeom prst="line">
              <a:avLst/>
            </a:prstGeom>
            <a:noFill/>
            <a:ln w="9525">
              <a:solidFill>
                <a:srgbClr val="000000"/>
              </a:solidFill>
              <a:round/>
              <a:headEnd/>
              <a:tailEnd/>
            </a:ln>
          </p:spPr>
          <p:txBody>
            <a:bodyPr/>
            <a:lstStyle/>
            <a:p>
              <a:endParaRPr lang="zh-CN" altLang="en-US"/>
            </a:p>
          </p:txBody>
        </p:sp>
        <p:sp>
          <p:nvSpPr>
            <p:cNvPr id="66" name="Line 97"/>
            <p:cNvSpPr>
              <a:spLocks noChangeShapeType="1"/>
            </p:cNvSpPr>
            <p:nvPr/>
          </p:nvSpPr>
          <p:spPr bwMode="auto">
            <a:xfrm>
              <a:off x="3979" y="3119"/>
              <a:ext cx="53" cy="234"/>
            </a:xfrm>
            <a:prstGeom prst="line">
              <a:avLst/>
            </a:prstGeom>
            <a:noFill/>
            <a:ln w="9525">
              <a:solidFill>
                <a:srgbClr val="000000"/>
              </a:solidFill>
              <a:round/>
              <a:headEnd/>
              <a:tailEnd/>
            </a:ln>
          </p:spPr>
          <p:txBody>
            <a:bodyPr/>
            <a:lstStyle/>
            <a:p>
              <a:endParaRPr lang="zh-CN" altLang="en-US"/>
            </a:p>
          </p:txBody>
        </p:sp>
        <p:sp>
          <p:nvSpPr>
            <p:cNvPr id="67" name="Line 98"/>
            <p:cNvSpPr>
              <a:spLocks noChangeShapeType="1"/>
            </p:cNvSpPr>
            <p:nvPr/>
          </p:nvSpPr>
          <p:spPr bwMode="auto">
            <a:xfrm>
              <a:off x="4034" y="3119"/>
              <a:ext cx="53" cy="234"/>
            </a:xfrm>
            <a:prstGeom prst="line">
              <a:avLst/>
            </a:prstGeom>
            <a:noFill/>
            <a:ln w="9525">
              <a:solidFill>
                <a:srgbClr val="000000"/>
              </a:solidFill>
              <a:round/>
              <a:headEnd/>
              <a:tailEnd/>
            </a:ln>
          </p:spPr>
          <p:txBody>
            <a:bodyPr/>
            <a:lstStyle/>
            <a:p>
              <a:endParaRPr lang="zh-CN" altLang="en-US"/>
            </a:p>
          </p:txBody>
        </p:sp>
        <p:sp>
          <p:nvSpPr>
            <p:cNvPr id="68" name="Line 99"/>
            <p:cNvSpPr>
              <a:spLocks noChangeShapeType="1"/>
            </p:cNvSpPr>
            <p:nvPr/>
          </p:nvSpPr>
          <p:spPr bwMode="auto">
            <a:xfrm>
              <a:off x="4090" y="3119"/>
              <a:ext cx="53" cy="234"/>
            </a:xfrm>
            <a:prstGeom prst="line">
              <a:avLst/>
            </a:prstGeom>
            <a:noFill/>
            <a:ln w="9525">
              <a:solidFill>
                <a:srgbClr val="000000"/>
              </a:solidFill>
              <a:round/>
              <a:headEnd/>
              <a:tailEnd/>
            </a:ln>
          </p:spPr>
          <p:txBody>
            <a:bodyPr/>
            <a:lstStyle/>
            <a:p>
              <a:endParaRPr lang="zh-CN" altLang="en-US"/>
            </a:p>
          </p:txBody>
        </p:sp>
        <p:sp>
          <p:nvSpPr>
            <p:cNvPr id="69" name="Line 100"/>
            <p:cNvSpPr>
              <a:spLocks noChangeShapeType="1"/>
            </p:cNvSpPr>
            <p:nvPr/>
          </p:nvSpPr>
          <p:spPr bwMode="auto">
            <a:xfrm>
              <a:off x="4146" y="3119"/>
              <a:ext cx="53" cy="234"/>
            </a:xfrm>
            <a:prstGeom prst="line">
              <a:avLst/>
            </a:prstGeom>
            <a:noFill/>
            <a:ln w="9525">
              <a:solidFill>
                <a:srgbClr val="000000"/>
              </a:solidFill>
              <a:round/>
              <a:headEnd/>
              <a:tailEnd/>
            </a:ln>
          </p:spPr>
          <p:txBody>
            <a:bodyPr/>
            <a:lstStyle/>
            <a:p>
              <a:endParaRPr lang="zh-CN" altLang="en-US"/>
            </a:p>
          </p:txBody>
        </p:sp>
        <p:sp>
          <p:nvSpPr>
            <p:cNvPr id="70" name="Line 101"/>
            <p:cNvSpPr>
              <a:spLocks noChangeShapeType="1"/>
            </p:cNvSpPr>
            <p:nvPr/>
          </p:nvSpPr>
          <p:spPr bwMode="auto">
            <a:xfrm>
              <a:off x="4204" y="3119"/>
              <a:ext cx="51" cy="234"/>
            </a:xfrm>
            <a:prstGeom prst="line">
              <a:avLst/>
            </a:prstGeom>
            <a:noFill/>
            <a:ln w="9525">
              <a:solidFill>
                <a:srgbClr val="000000"/>
              </a:solidFill>
              <a:round/>
              <a:headEnd/>
              <a:tailEnd/>
            </a:ln>
          </p:spPr>
          <p:txBody>
            <a:bodyPr/>
            <a:lstStyle/>
            <a:p>
              <a:endParaRPr lang="zh-CN" altLang="en-US"/>
            </a:p>
          </p:txBody>
        </p:sp>
        <p:sp>
          <p:nvSpPr>
            <p:cNvPr id="71" name="Line 102"/>
            <p:cNvSpPr>
              <a:spLocks noChangeShapeType="1"/>
            </p:cNvSpPr>
            <p:nvPr/>
          </p:nvSpPr>
          <p:spPr bwMode="auto">
            <a:xfrm>
              <a:off x="4260" y="3119"/>
              <a:ext cx="50" cy="234"/>
            </a:xfrm>
            <a:prstGeom prst="line">
              <a:avLst/>
            </a:prstGeom>
            <a:noFill/>
            <a:ln w="9525">
              <a:solidFill>
                <a:srgbClr val="000000"/>
              </a:solidFill>
              <a:round/>
              <a:headEnd/>
              <a:tailEnd/>
            </a:ln>
          </p:spPr>
          <p:txBody>
            <a:bodyPr/>
            <a:lstStyle/>
            <a:p>
              <a:endParaRPr lang="zh-CN" altLang="en-US"/>
            </a:p>
          </p:txBody>
        </p:sp>
        <p:sp>
          <p:nvSpPr>
            <p:cNvPr id="72" name="Line 103"/>
            <p:cNvSpPr>
              <a:spLocks noChangeShapeType="1"/>
            </p:cNvSpPr>
            <p:nvPr/>
          </p:nvSpPr>
          <p:spPr bwMode="auto">
            <a:xfrm>
              <a:off x="4316" y="3119"/>
              <a:ext cx="50" cy="234"/>
            </a:xfrm>
            <a:prstGeom prst="line">
              <a:avLst/>
            </a:prstGeom>
            <a:noFill/>
            <a:ln w="9525">
              <a:solidFill>
                <a:srgbClr val="000000"/>
              </a:solidFill>
              <a:round/>
              <a:headEnd/>
              <a:tailEnd/>
            </a:ln>
          </p:spPr>
          <p:txBody>
            <a:bodyPr/>
            <a:lstStyle/>
            <a:p>
              <a:endParaRPr lang="zh-CN" altLang="en-US"/>
            </a:p>
          </p:txBody>
        </p:sp>
        <p:sp>
          <p:nvSpPr>
            <p:cNvPr id="73" name="Line 104"/>
            <p:cNvSpPr>
              <a:spLocks noChangeShapeType="1"/>
            </p:cNvSpPr>
            <p:nvPr/>
          </p:nvSpPr>
          <p:spPr bwMode="auto">
            <a:xfrm>
              <a:off x="4372" y="3119"/>
              <a:ext cx="50" cy="234"/>
            </a:xfrm>
            <a:prstGeom prst="line">
              <a:avLst/>
            </a:prstGeom>
            <a:noFill/>
            <a:ln w="9525">
              <a:solidFill>
                <a:srgbClr val="000000"/>
              </a:solidFill>
              <a:round/>
              <a:headEnd/>
              <a:tailEnd/>
            </a:ln>
          </p:spPr>
          <p:txBody>
            <a:bodyPr/>
            <a:lstStyle/>
            <a:p>
              <a:endParaRPr lang="zh-CN" altLang="en-US"/>
            </a:p>
          </p:txBody>
        </p:sp>
        <p:sp>
          <p:nvSpPr>
            <p:cNvPr id="74" name="Line 105"/>
            <p:cNvSpPr>
              <a:spLocks noChangeShapeType="1"/>
            </p:cNvSpPr>
            <p:nvPr/>
          </p:nvSpPr>
          <p:spPr bwMode="auto">
            <a:xfrm>
              <a:off x="4427" y="3119"/>
              <a:ext cx="53" cy="234"/>
            </a:xfrm>
            <a:prstGeom prst="line">
              <a:avLst/>
            </a:prstGeom>
            <a:noFill/>
            <a:ln w="9525">
              <a:solidFill>
                <a:srgbClr val="000000"/>
              </a:solidFill>
              <a:round/>
              <a:headEnd/>
              <a:tailEnd/>
            </a:ln>
          </p:spPr>
          <p:txBody>
            <a:bodyPr/>
            <a:lstStyle/>
            <a:p>
              <a:endParaRPr lang="zh-CN" altLang="en-US"/>
            </a:p>
          </p:txBody>
        </p:sp>
        <p:sp>
          <p:nvSpPr>
            <p:cNvPr id="75" name="Line 106"/>
            <p:cNvSpPr>
              <a:spLocks noChangeShapeType="1"/>
            </p:cNvSpPr>
            <p:nvPr/>
          </p:nvSpPr>
          <p:spPr bwMode="auto">
            <a:xfrm>
              <a:off x="4483" y="3119"/>
              <a:ext cx="53" cy="234"/>
            </a:xfrm>
            <a:prstGeom prst="line">
              <a:avLst/>
            </a:prstGeom>
            <a:noFill/>
            <a:ln w="9525">
              <a:solidFill>
                <a:srgbClr val="000000"/>
              </a:solidFill>
              <a:round/>
              <a:headEnd/>
              <a:tailEnd/>
            </a:ln>
          </p:spPr>
          <p:txBody>
            <a:bodyPr/>
            <a:lstStyle/>
            <a:p>
              <a:endParaRPr lang="zh-CN" altLang="en-US"/>
            </a:p>
          </p:txBody>
        </p:sp>
        <p:sp>
          <p:nvSpPr>
            <p:cNvPr id="76" name="Line 107"/>
            <p:cNvSpPr>
              <a:spLocks noChangeShapeType="1"/>
            </p:cNvSpPr>
            <p:nvPr/>
          </p:nvSpPr>
          <p:spPr bwMode="auto">
            <a:xfrm>
              <a:off x="4539" y="3119"/>
              <a:ext cx="53" cy="234"/>
            </a:xfrm>
            <a:prstGeom prst="line">
              <a:avLst/>
            </a:prstGeom>
            <a:noFill/>
            <a:ln w="9525">
              <a:solidFill>
                <a:srgbClr val="000000"/>
              </a:solidFill>
              <a:round/>
              <a:headEnd/>
              <a:tailEnd/>
            </a:ln>
          </p:spPr>
          <p:txBody>
            <a:bodyPr/>
            <a:lstStyle/>
            <a:p>
              <a:endParaRPr lang="zh-CN" altLang="en-US"/>
            </a:p>
          </p:txBody>
        </p:sp>
        <p:sp>
          <p:nvSpPr>
            <p:cNvPr id="77" name="Freeform 108"/>
            <p:cNvSpPr>
              <a:spLocks/>
            </p:cNvSpPr>
            <p:nvPr/>
          </p:nvSpPr>
          <p:spPr bwMode="auto">
            <a:xfrm>
              <a:off x="1390" y="1444"/>
              <a:ext cx="3218" cy="2060"/>
            </a:xfrm>
            <a:custGeom>
              <a:avLst/>
              <a:gdLst/>
              <a:ahLst/>
              <a:cxnLst>
                <a:cxn ang="0">
                  <a:pos x="0" y="0"/>
                </a:cxn>
                <a:cxn ang="0">
                  <a:pos x="3" y="2060"/>
                </a:cxn>
                <a:cxn ang="0">
                  <a:pos x="3218" y="2060"/>
                </a:cxn>
                <a:cxn ang="0">
                  <a:pos x="3218" y="1494"/>
                </a:cxn>
                <a:cxn ang="0">
                  <a:pos x="2475" y="1494"/>
                </a:cxn>
                <a:cxn ang="0">
                  <a:pos x="2224" y="672"/>
                </a:cxn>
                <a:cxn ang="0">
                  <a:pos x="892" y="541"/>
                </a:cxn>
                <a:cxn ang="0">
                  <a:pos x="822" y="148"/>
                </a:cxn>
                <a:cxn ang="0">
                  <a:pos x="3" y="0"/>
                </a:cxn>
                <a:cxn ang="0">
                  <a:pos x="3" y="0"/>
                </a:cxn>
              </a:cxnLst>
              <a:rect l="0" t="0" r="r" b="b"/>
              <a:pathLst>
                <a:path w="3218" h="2060">
                  <a:moveTo>
                    <a:pt x="0" y="0"/>
                  </a:moveTo>
                  <a:lnTo>
                    <a:pt x="3" y="2060"/>
                  </a:lnTo>
                  <a:lnTo>
                    <a:pt x="3218" y="2060"/>
                  </a:lnTo>
                  <a:lnTo>
                    <a:pt x="3218" y="1494"/>
                  </a:lnTo>
                  <a:lnTo>
                    <a:pt x="2475" y="1494"/>
                  </a:lnTo>
                  <a:lnTo>
                    <a:pt x="2224" y="672"/>
                  </a:lnTo>
                  <a:lnTo>
                    <a:pt x="892" y="541"/>
                  </a:lnTo>
                  <a:lnTo>
                    <a:pt x="822" y="148"/>
                  </a:lnTo>
                  <a:lnTo>
                    <a:pt x="3" y="0"/>
                  </a:lnTo>
                  <a:lnTo>
                    <a:pt x="3" y="0"/>
                  </a:lnTo>
                </a:path>
              </a:pathLst>
            </a:custGeom>
            <a:noFill/>
            <a:ln w="17463">
              <a:solidFill>
                <a:srgbClr val="000000"/>
              </a:solidFill>
              <a:prstDash val="solid"/>
              <a:round/>
              <a:headEnd/>
              <a:tailEnd/>
            </a:ln>
          </p:spPr>
          <p:txBody>
            <a:bodyPr/>
            <a:lstStyle/>
            <a:p>
              <a:endParaRPr lang="zh-CN" altLang="en-US"/>
            </a:p>
          </p:txBody>
        </p:sp>
        <p:sp>
          <p:nvSpPr>
            <p:cNvPr id="78" name="Freeform 109"/>
            <p:cNvSpPr>
              <a:spLocks/>
            </p:cNvSpPr>
            <p:nvPr/>
          </p:nvSpPr>
          <p:spPr bwMode="auto">
            <a:xfrm>
              <a:off x="1398" y="2938"/>
              <a:ext cx="3210" cy="184"/>
            </a:xfrm>
            <a:custGeom>
              <a:avLst/>
              <a:gdLst/>
              <a:ahLst/>
              <a:cxnLst>
                <a:cxn ang="0">
                  <a:pos x="3210" y="181"/>
                </a:cxn>
                <a:cxn ang="0">
                  <a:pos x="3210" y="0"/>
                </a:cxn>
                <a:cxn ang="0">
                  <a:pos x="0" y="0"/>
                </a:cxn>
                <a:cxn ang="0">
                  <a:pos x="0" y="184"/>
                </a:cxn>
                <a:cxn ang="0">
                  <a:pos x="3210" y="184"/>
                </a:cxn>
                <a:cxn ang="0">
                  <a:pos x="3210" y="184"/>
                </a:cxn>
                <a:cxn ang="0">
                  <a:pos x="3210" y="181"/>
                </a:cxn>
              </a:cxnLst>
              <a:rect l="0" t="0" r="r" b="b"/>
              <a:pathLst>
                <a:path w="3210" h="184">
                  <a:moveTo>
                    <a:pt x="3210" y="181"/>
                  </a:moveTo>
                  <a:lnTo>
                    <a:pt x="3210" y="0"/>
                  </a:lnTo>
                  <a:lnTo>
                    <a:pt x="0" y="0"/>
                  </a:lnTo>
                  <a:lnTo>
                    <a:pt x="0" y="184"/>
                  </a:lnTo>
                  <a:lnTo>
                    <a:pt x="3210" y="184"/>
                  </a:lnTo>
                  <a:lnTo>
                    <a:pt x="3210" y="184"/>
                  </a:lnTo>
                  <a:lnTo>
                    <a:pt x="3210" y="181"/>
                  </a:lnTo>
                  <a:close/>
                </a:path>
              </a:pathLst>
            </a:custGeom>
            <a:solidFill>
              <a:srgbClr val="BFBFBF"/>
            </a:solidFill>
            <a:ln w="9525">
              <a:noFill/>
              <a:round/>
              <a:headEnd/>
              <a:tailEnd/>
            </a:ln>
          </p:spPr>
          <p:txBody>
            <a:bodyPr/>
            <a:lstStyle/>
            <a:p>
              <a:endParaRPr lang="zh-CN" altLang="en-US"/>
            </a:p>
          </p:txBody>
        </p:sp>
        <p:sp>
          <p:nvSpPr>
            <p:cNvPr id="79" name="Freeform 110"/>
            <p:cNvSpPr>
              <a:spLocks/>
            </p:cNvSpPr>
            <p:nvPr/>
          </p:nvSpPr>
          <p:spPr bwMode="auto">
            <a:xfrm>
              <a:off x="1398" y="2938"/>
              <a:ext cx="3210" cy="184"/>
            </a:xfrm>
            <a:custGeom>
              <a:avLst/>
              <a:gdLst/>
              <a:ahLst/>
              <a:cxnLst>
                <a:cxn ang="0">
                  <a:pos x="3210" y="181"/>
                </a:cxn>
                <a:cxn ang="0">
                  <a:pos x="3210" y="0"/>
                </a:cxn>
                <a:cxn ang="0">
                  <a:pos x="0" y="0"/>
                </a:cxn>
                <a:cxn ang="0">
                  <a:pos x="0" y="184"/>
                </a:cxn>
                <a:cxn ang="0">
                  <a:pos x="3210" y="184"/>
                </a:cxn>
                <a:cxn ang="0">
                  <a:pos x="3210" y="184"/>
                </a:cxn>
              </a:cxnLst>
              <a:rect l="0" t="0" r="r" b="b"/>
              <a:pathLst>
                <a:path w="3210" h="184">
                  <a:moveTo>
                    <a:pt x="3210" y="181"/>
                  </a:moveTo>
                  <a:lnTo>
                    <a:pt x="3210" y="0"/>
                  </a:lnTo>
                  <a:lnTo>
                    <a:pt x="0" y="0"/>
                  </a:lnTo>
                  <a:lnTo>
                    <a:pt x="0" y="184"/>
                  </a:lnTo>
                  <a:lnTo>
                    <a:pt x="3210" y="184"/>
                  </a:lnTo>
                  <a:lnTo>
                    <a:pt x="3210" y="184"/>
                  </a:lnTo>
                </a:path>
              </a:pathLst>
            </a:custGeom>
            <a:noFill/>
            <a:ln w="17463">
              <a:solidFill>
                <a:srgbClr val="000000"/>
              </a:solidFill>
              <a:prstDash val="solid"/>
              <a:round/>
              <a:headEnd/>
              <a:tailEnd/>
            </a:ln>
          </p:spPr>
          <p:txBody>
            <a:bodyPr/>
            <a:lstStyle/>
            <a:p>
              <a:endParaRPr lang="zh-CN" altLang="en-US"/>
            </a:p>
          </p:txBody>
        </p:sp>
        <p:sp>
          <p:nvSpPr>
            <p:cNvPr id="80" name="Freeform 111"/>
            <p:cNvSpPr>
              <a:spLocks/>
            </p:cNvSpPr>
            <p:nvPr/>
          </p:nvSpPr>
          <p:spPr bwMode="auto">
            <a:xfrm>
              <a:off x="1607" y="2256"/>
              <a:ext cx="1129" cy="242"/>
            </a:xfrm>
            <a:custGeom>
              <a:avLst/>
              <a:gdLst/>
              <a:ahLst/>
              <a:cxnLst>
                <a:cxn ang="0">
                  <a:pos x="1059" y="0"/>
                </a:cxn>
                <a:cxn ang="0">
                  <a:pos x="0" y="3"/>
                </a:cxn>
                <a:cxn ang="0">
                  <a:pos x="0" y="131"/>
                </a:cxn>
                <a:cxn ang="0">
                  <a:pos x="123" y="131"/>
                </a:cxn>
                <a:cxn ang="0">
                  <a:pos x="123" y="232"/>
                </a:cxn>
                <a:cxn ang="0">
                  <a:pos x="928" y="232"/>
                </a:cxn>
                <a:cxn ang="0">
                  <a:pos x="928" y="131"/>
                </a:cxn>
                <a:cxn ang="0">
                  <a:pos x="1062" y="131"/>
                </a:cxn>
                <a:cxn ang="0">
                  <a:pos x="1062" y="3"/>
                </a:cxn>
                <a:cxn ang="0">
                  <a:pos x="1062" y="3"/>
                </a:cxn>
                <a:cxn ang="0">
                  <a:pos x="1059" y="0"/>
                </a:cxn>
              </a:cxnLst>
              <a:rect l="0" t="0" r="r" b="b"/>
              <a:pathLst>
                <a:path w="1062" h="232">
                  <a:moveTo>
                    <a:pt x="1059" y="0"/>
                  </a:moveTo>
                  <a:lnTo>
                    <a:pt x="0" y="3"/>
                  </a:lnTo>
                  <a:lnTo>
                    <a:pt x="0" y="131"/>
                  </a:lnTo>
                  <a:lnTo>
                    <a:pt x="123" y="131"/>
                  </a:lnTo>
                  <a:lnTo>
                    <a:pt x="123" y="232"/>
                  </a:lnTo>
                  <a:lnTo>
                    <a:pt x="928" y="232"/>
                  </a:lnTo>
                  <a:lnTo>
                    <a:pt x="928" y="131"/>
                  </a:lnTo>
                  <a:lnTo>
                    <a:pt x="1062" y="131"/>
                  </a:lnTo>
                  <a:lnTo>
                    <a:pt x="1062" y="3"/>
                  </a:lnTo>
                  <a:lnTo>
                    <a:pt x="1062" y="3"/>
                  </a:lnTo>
                  <a:lnTo>
                    <a:pt x="1059" y="0"/>
                  </a:lnTo>
                  <a:close/>
                </a:path>
              </a:pathLst>
            </a:custGeom>
            <a:solidFill>
              <a:srgbClr val="FFFFFF"/>
            </a:solidFill>
            <a:ln w="9525">
              <a:noFill/>
              <a:round/>
              <a:headEnd/>
              <a:tailEnd/>
            </a:ln>
          </p:spPr>
          <p:txBody>
            <a:bodyPr/>
            <a:lstStyle/>
            <a:p>
              <a:endParaRPr lang="zh-CN" altLang="en-US"/>
            </a:p>
          </p:txBody>
        </p:sp>
        <p:sp>
          <p:nvSpPr>
            <p:cNvPr id="81" name="Freeform 112"/>
            <p:cNvSpPr>
              <a:spLocks/>
            </p:cNvSpPr>
            <p:nvPr/>
          </p:nvSpPr>
          <p:spPr bwMode="auto">
            <a:xfrm>
              <a:off x="1607" y="2256"/>
              <a:ext cx="1129" cy="242"/>
            </a:xfrm>
            <a:custGeom>
              <a:avLst/>
              <a:gdLst/>
              <a:ahLst/>
              <a:cxnLst>
                <a:cxn ang="0">
                  <a:pos x="1059" y="0"/>
                </a:cxn>
                <a:cxn ang="0">
                  <a:pos x="0" y="3"/>
                </a:cxn>
                <a:cxn ang="0">
                  <a:pos x="0" y="131"/>
                </a:cxn>
                <a:cxn ang="0">
                  <a:pos x="123" y="131"/>
                </a:cxn>
                <a:cxn ang="0">
                  <a:pos x="123" y="232"/>
                </a:cxn>
                <a:cxn ang="0">
                  <a:pos x="928" y="232"/>
                </a:cxn>
                <a:cxn ang="0">
                  <a:pos x="928" y="131"/>
                </a:cxn>
                <a:cxn ang="0">
                  <a:pos x="1062" y="131"/>
                </a:cxn>
                <a:cxn ang="0">
                  <a:pos x="1062" y="3"/>
                </a:cxn>
                <a:cxn ang="0">
                  <a:pos x="1062" y="3"/>
                </a:cxn>
              </a:cxnLst>
              <a:rect l="0" t="0" r="r" b="b"/>
              <a:pathLst>
                <a:path w="1062" h="232">
                  <a:moveTo>
                    <a:pt x="1059" y="0"/>
                  </a:moveTo>
                  <a:lnTo>
                    <a:pt x="0" y="3"/>
                  </a:lnTo>
                  <a:lnTo>
                    <a:pt x="0" y="131"/>
                  </a:lnTo>
                  <a:lnTo>
                    <a:pt x="123" y="131"/>
                  </a:lnTo>
                  <a:lnTo>
                    <a:pt x="123" y="232"/>
                  </a:lnTo>
                  <a:lnTo>
                    <a:pt x="928" y="232"/>
                  </a:lnTo>
                  <a:lnTo>
                    <a:pt x="928" y="131"/>
                  </a:lnTo>
                  <a:lnTo>
                    <a:pt x="1062" y="131"/>
                  </a:lnTo>
                  <a:lnTo>
                    <a:pt x="1062" y="3"/>
                  </a:lnTo>
                  <a:lnTo>
                    <a:pt x="1062" y="3"/>
                  </a:lnTo>
                </a:path>
              </a:pathLst>
            </a:custGeom>
            <a:noFill/>
            <a:ln w="9525">
              <a:solidFill>
                <a:srgbClr val="000000"/>
              </a:solidFill>
              <a:prstDash val="solid"/>
              <a:round/>
              <a:headEnd/>
              <a:tailEnd/>
            </a:ln>
          </p:spPr>
          <p:txBody>
            <a:bodyPr/>
            <a:lstStyle/>
            <a:p>
              <a:endParaRPr lang="zh-CN" altLang="en-US"/>
            </a:p>
          </p:txBody>
        </p:sp>
        <p:sp>
          <p:nvSpPr>
            <p:cNvPr id="82" name="Rectangle 113"/>
            <p:cNvSpPr>
              <a:spLocks noChangeArrowheads="1"/>
            </p:cNvSpPr>
            <p:nvPr/>
          </p:nvSpPr>
          <p:spPr bwMode="auto">
            <a:xfrm>
              <a:off x="2257" y="1587"/>
              <a:ext cx="705" cy="11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First working set</a:t>
              </a:r>
              <a:endParaRPr lang="en-US" altLang="zh-CN" sz="2400">
                <a:latin typeface="Times New Roman" charset="0"/>
              </a:endParaRPr>
            </a:p>
          </p:txBody>
        </p:sp>
        <p:sp>
          <p:nvSpPr>
            <p:cNvPr id="83" name="Rectangle 114"/>
            <p:cNvSpPr>
              <a:spLocks noChangeArrowheads="1"/>
            </p:cNvSpPr>
            <p:nvPr/>
          </p:nvSpPr>
          <p:spPr bwMode="auto">
            <a:xfrm>
              <a:off x="1618" y="2274"/>
              <a:ext cx="1105" cy="11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Capacity-generated traffic</a:t>
              </a:r>
              <a:endParaRPr lang="en-US" altLang="zh-CN" sz="2400">
                <a:latin typeface="Times New Roman" charset="0"/>
              </a:endParaRPr>
            </a:p>
          </p:txBody>
        </p:sp>
        <p:sp>
          <p:nvSpPr>
            <p:cNvPr id="84" name="Rectangle 115"/>
            <p:cNvSpPr>
              <a:spLocks noChangeArrowheads="1"/>
            </p:cNvSpPr>
            <p:nvPr/>
          </p:nvSpPr>
          <p:spPr bwMode="auto">
            <a:xfrm>
              <a:off x="1750" y="2378"/>
              <a:ext cx="821" cy="116"/>
            </a:xfrm>
            <a:prstGeom prst="rect">
              <a:avLst/>
            </a:prstGeom>
            <a:noFill/>
            <a:ln w="9525">
              <a:noFill/>
              <a:miter lim="800000"/>
              <a:headEnd/>
              <a:tailEnd/>
            </a:ln>
          </p:spPr>
          <p:txBody>
            <a:bodyPr wrap="none" lIns="0" tIns="0" rIns="0" bIns="0">
              <a:spAutoFit/>
            </a:bodyPr>
            <a:lstStyle/>
            <a:p>
              <a:r>
                <a:rPr lang="zh-CN" altLang="en-US" sz="1200">
                  <a:solidFill>
                    <a:srgbClr val="000000"/>
                  </a:solidFill>
                </a:rPr>
                <a:t>(</a:t>
              </a:r>
              <a:r>
                <a:rPr lang="en-US" altLang="zh-CN" sz="1200">
                  <a:solidFill>
                    <a:srgbClr val="000000"/>
                  </a:solidFill>
                </a:rPr>
                <a:t>including conflicts)</a:t>
              </a:r>
              <a:endParaRPr lang="en-US" altLang="zh-CN" sz="2400">
                <a:latin typeface="Times New Roman" charset="0"/>
              </a:endParaRPr>
            </a:p>
          </p:txBody>
        </p:sp>
        <p:sp>
          <p:nvSpPr>
            <p:cNvPr id="85" name="Rectangle 116"/>
            <p:cNvSpPr>
              <a:spLocks noChangeArrowheads="1"/>
            </p:cNvSpPr>
            <p:nvPr/>
          </p:nvSpPr>
          <p:spPr bwMode="auto">
            <a:xfrm>
              <a:off x="3795" y="2545"/>
              <a:ext cx="843" cy="11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Second working set</a:t>
              </a:r>
              <a:endParaRPr lang="en-US" altLang="zh-CN" sz="2400">
                <a:latin typeface="Times New Roman" charset="0"/>
              </a:endParaRPr>
            </a:p>
          </p:txBody>
        </p:sp>
        <p:sp>
          <p:nvSpPr>
            <p:cNvPr id="86" name="Rectangle 117"/>
            <p:cNvSpPr>
              <a:spLocks noChangeArrowheads="1"/>
            </p:cNvSpPr>
            <p:nvPr/>
          </p:nvSpPr>
          <p:spPr bwMode="auto">
            <a:xfrm rot="16200000">
              <a:off x="901" y="2168"/>
              <a:ext cx="475" cy="165"/>
            </a:xfrm>
            <a:prstGeom prst="rect">
              <a:avLst/>
            </a:prstGeom>
            <a:noFill/>
            <a:ln w="9525">
              <a:noFill/>
              <a:miter lim="800000"/>
              <a:headEnd/>
              <a:tailEnd/>
            </a:ln>
          </p:spPr>
          <p:txBody>
            <a:bodyPr wrap="none" lIns="0" tIns="0" rIns="0" bIns="0">
              <a:spAutoFit/>
            </a:bodyPr>
            <a:lstStyle/>
            <a:p>
              <a:r>
                <a:rPr lang="en-US" altLang="zh-CN" sz="1700" dirty="0">
                  <a:solidFill>
                    <a:srgbClr val="000000"/>
                  </a:solidFill>
                </a:rPr>
                <a:t>Bus </a:t>
              </a:r>
              <a:r>
                <a:rPr lang="en-US" altLang="zh-CN" sz="1700" dirty="0" err="1">
                  <a:solidFill>
                    <a:srgbClr val="000000"/>
                  </a:solidFill>
                </a:rPr>
                <a:t>traf</a:t>
              </a:r>
              <a:endParaRPr lang="en-US" altLang="zh-CN" sz="3200" dirty="0">
                <a:latin typeface="Times New Roman" charset="0"/>
              </a:endParaRPr>
            </a:p>
          </p:txBody>
        </p:sp>
        <p:sp>
          <p:nvSpPr>
            <p:cNvPr id="87" name="Rectangle 118"/>
            <p:cNvSpPr>
              <a:spLocks noChangeArrowheads="1"/>
            </p:cNvSpPr>
            <p:nvPr/>
          </p:nvSpPr>
          <p:spPr bwMode="auto">
            <a:xfrm rot="16200000">
              <a:off x="1069" y="1868"/>
              <a:ext cx="137" cy="165"/>
            </a:xfrm>
            <a:prstGeom prst="rect">
              <a:avLst/>
            </a:prstGeom>
            <a:noFill/>
            <a:ln w="9525">
              <a:noFill/>
              <a:miter lim="800000"/>
              <a:headEnd/>
              <a:tailEnd/>
            </a:ln>
          </p:spPr>
          <p:txBody>
            <a:bodyPr wrap="none" lIns="0" tIns="0" rIns="0" bIns="0">
              <a:spAutoFit/>
            </a:bodyPr>
            <a:lstStyle/>
            <a:p>
              <a:r>
                <a:rPr lang="en-US" altLang="zh-CN" sz="1700">
                  <a:solidFill>
                    <a:srgbClr val="000000"/>
                  </a:solidFill>
                </a:rPr>
                <a:t>fic</a:t>
              </a:r>
              <a:endParaRPr lang="en-US" altLang="zh-CN" sz="3200">
                <a:latin typeface="Times New Roman" charset="0"/>
              </a:endParaRPr>
            </a:p>
          </p:txBody>
        </p:sp>
        <p:sp>
          <p:nvSpPr>
            <p:cNvPr id="88" name="Freeform 119"/>
            <p:cNvSpPr>
              <a:spLocks/>
            </p:cNvSpPr>
            <p:nvPr/>
          </p:nvSpPr>
          <p:spPr bwMode="auto">
            <a:xfrm>
              <a:off x="2204" y="3168"/>
              <a:ext cx="1684" cy="107"/>
            </a:xfrm>
            <a:custGeom>
              <a:avLst/>
              <a:gdLst/>
              <a:ahLst/>
              <a:cxnLst>
                <a:cxn ang="0">
                  <a:pos x="1543" y="95"/>
                </a:cxn>
                <a:cxn ang="0">
                  <a:pos x="1543" y="0"/>
                </a:cxn>
                <a:cxn ang="0">
                  <a:pos x="0" y="0"/>
                </a:cxn>
                <a:cxn ang="0">
                  <a:pos x="0" y="95"/>
                </a:cxn>
                <a:cxn ang="0">
                  <a:pos x="1543" y="95"/>
                </a:cxn>
                <a:cxn ang="0">
                  <a:pos x="1543" y="95"/>
                </a:cxn>
              </a:cxnLst>
              <a:rect l="0" t="0" r="r" b="b"/>
              <a:pathLst>
                <a:path w="1543" h="95">
                  <a:moveTo>
                    <a:pt x="1543" y="95"/>
                  </a:moveTo>
                  <a:lnTo>
                    <a:pt x="1543" y="0"/>
                  </a:lnTo>
                  <a:lnTo>
                    <a:pt x="0" y="0"/>
                  </a:lnTo>
                  <a:lnTo>
                    <a:pt x="0" y="95"/>
                  </a:lnTo>
                  <a:lnTo>
                    <a:pt x="1543" y="95"/>
                  </a:lnTo>
                  <a:lnTo>
                    <a:pt x="1543" y="95"/>
                  </a:lnTo>
                  <a:close/>
                </a:path>
              </a:pathLst>
            </a:custGeom>
            <a:solidFill>
              <a:srgbClr val="FFFFFF"/>
            </a:solidFill>
            <a:ln w="9525">
              <a:noFill/>
              <a:round/>
              <a:headEnd/>
              <a:tailEnd/>
            </a:ln>
          </p:spPr>
          <p:txBody>
            <a:bodyPr/>
            <a:lstStyle/>
            <a:p>
              <a:endParaRPr lang="zh-CN" altLang="en-US"/>
            </a:p>
          </p:txBody>
        </p:sp>
        <p:sp>
          <p:nvSpPr>
            <p:cNvPr id="89" name="Freeform 120"/>
            <p:cNvSpPr>
              <a:spLocks/>
            </p:cNvSpPr>
            <p:nvPr/>
          </p:nvSpPr>
          <p:spPr bwMode="auto">
            <a:xfrm>
              <a:off x="2204" y="3168"/>
              <a:ext cx="1684" cy="107"/>
            </a:xfrm>
            <a:custGeom>
              <a:avLst/>
              <a:gdLst/>
              <a:ahLst/>
              <a:cxnLst>
                <a:cxn ang="0">
                  <a:pos x="1543" y="95"/>
                </a:cxn>
                <a:cxn ang="0">
                  <a:pos x="1543" y="0"/>
                </a:cxn>
                <a:cxn ang="0">
                  <a:pos x="0" y="0"/>
                </a:cxn>
                <a:cxn ang="0">
                  <a:pos x="0" y="95"/>
                </a:cxn>
                <a:cxn ang="0">
                  <a:pos x="1543" y="95"/>
                </a:cxn>
                <a:cxn ang="0">
                  <a:pos x="1543" y="95"/>
                </a:cxn>
              </a:cxnLst>
              <a:rect l="0" t="0" r="r" b="b"/>
              <a:pathLst>
                <a:path w="1543" h="95">
                  <a:moveTo>
                    <a:pt x="1543" y="95"/>
                  </a:moveTo>
                  <a:lnTo>
                    <a:pt x="1543" y="0"/>
                  </a:lnTo>
                  <a:lnTo>
                    <a:pt x="0" y="0"/>
                  </a:lnTo>
                  <a:lnTo>
                    <a:pt x="0" y="95"/>
                  </a:lnTo>
                  <a:lnTo>
                    <a:pt x="1543" y="95"/>
                  </a:lnTo>
                  <a:lnTo>
                    <a:pt x="1543" y="95"/>
                  </a:lnTo>
                </a:path>
              </a:pathLst>
            </a:custGeom>
            <a:noFill/>
            <a:ln w="9525">
              <a:solidFill>
                <a:srgbClr val="000000"/>
              </a:solidFill>
              <a:prstDash val="solid"/>
              <a:round/>
              <a:headEnd/>
              <a:tailEnd/>
            </a:ln>
          </p:spPr>
          <p:txBody>
            <a:bodyPr/>
            <a:lstStyle/>
            <a:p>
              <a:endParaRPr lang="zh-CN" altLang="en-US"/>
            </a:p>
          </p:txBody>
        </p:sp>
        <p:sp>
          <p:nvSpPr>
            <p:cNvPr id="90" name="Rectangle 121"/>
            <p:cNvSpPr>
              <a:spLocks noChangeArrowheads="1"/>
            </p:cNvSpPr>
            <p:nvPr/>
          </p:nvSpPr>
          <p:spPr bwMode="auto">
            <a:xfrm>
              <a:off x="2216" y="3161"/>
              <a:ext cx="1672" cy="116"/>
            </a:xfrm>
            <a:prstGeom prst="rect">
              <a:avLst/>
            </a:prstGeom>
            <a:noFill/>
            <a:ln w="9525">
              <a:noFill/>
              <a:miter lim="800000"/>
              <a:headEnd/>
              <a:tailEnd/>
            </a:ln>
          </p:spPr>
          <p:txBody>
            <a:bodyPr lIns="0" tIns="0" rIns="0" bIns="0">
              <a:spAutoFit/>
            </a:bodyPr>
            <a:lstStyle/>
            <a:p>
              <a:r>
                <a:rPr lang="en-US" altLang="zh-CN" sz="1200" dirty="0">
                  <a:solidFill>
                    <a:srgbClr val="000000"/>
                  </a:solidFill>
                </a:rPr>
                <a:t>True sharing (inherent communication)</a:t>
              </a:r>
              <a:endParaRPr lang="en-US" altLang="zh-CN" sz="2400" dirty="0">
                <a:latin typeface="Times New Roman" charset="0"/>
              </a:endParaRPr>
            </a:p>
          </p:txBody>
        </p:sp>
        <p:sp>
          <p:nvSpPr>
            <p:cNvPr id="91" name="Freeform 122"/>
            <p:cNvSpPr>
              <a:spLocks/>
            </p:cNvSpPr>
            <p:nvPr/>
          </p:nvSpPr>
          <p:spPr bwMode="auto">
            <a:xfrm>
              <a:off x="2377" y="3373"/>
              <a:ext cx="1319" cy="108"/>
            </a:xfrm>
            <a:custGeom>
              <a:avLst/>
              <a:gdLst/>
              <a:ahLst/>
              <a:cxnLst>
                <a:cxn ang="0">
                  <a:pos x="1242" y="106"/>
                </a:cxn>
                <a:cxn ang="0">
                  <a:pos x="1242" y="0"/>
                </a:cxn>
                <a:cxn ang="0">
                  <a:pos x="0" y="0"/>
                </a:cxn>
                <a:cxn ang="0">
                  <a:pos x="0" y="108"/>
                </a:cxn>
                <a:cxn ang="0">
                  <a:pos x="1242" y="108"/>
                </a:cxn>
                <a:cxn ang="0">
                  <a:pos x="1242" y="108"/>
                </a:cxn>
                <a:cxn ang="0">
                  <a:pos x="1242" y="106"/>
                </a:cxn>
              </a:cxnLst>
              <a:rect l="0" t="0" r="r" b="b"/>
              <a:pathLst>
                <a:path w="1242" h="108">
                  <a:moveTo>
                    <a:pt x="1242" y="106"/>
                  </a:moveTo>
                  <a:lnTo>
                    <a:pt x="1242" y="0"/>
                  </a:lnTo>
                  <a:lnTo>
                    <a:pt x="0" y="0"/>
                  </a:lnTo>
                  <a:lnTo>
                    <a:pt x="0" y="108"/>
                  </a:lnTo>
                  <a:lnTo>
                    <a:pt x="1242" y="108"/>
                  </a:lnTo>
                  <a:lnTo>
                    <a:pt x="1242" y="108"/>
                  </a:lnTo>
                  <a:lnTo>
                    <a:pt x="1242" y="106"/>
                  </a:lnTo>
                  <a:close/>
                </a:path>
              </a:pathLst>
            </a:custGeom>
            <a:solidFill>
              <a:srgbClr val="FFFFFF"/>
            </a:solidFill>
            <a:ln w="9525">
              <a:noFill/>
              <a:round/>
              <a:headEnd/>
              <a:tailEnd/>
            </a:ln>
          </p:spPr>
          <p:txBody>
            <a:bodyPr/>
            <a:lstStyle/>
            <a:p>
              <a:endParaRPr lang="zh-CN" altLang="en-US"/>
            </a:p>
          </p:txBody>
        </p:sp>
        <p:sp>
          <p:nvSpPr>
            <p:cNvPr id="92" name="Freeform 123"/>
            <p:cNvSpPr>
              <a:spLocks/>
            </p:cNvSpPr>
            <p:nvPr/>
          </p:nvSpPr>
          <p:spPr bwMode="auto">
            <a:xfrm>
              <a:off x="2377" y="3373"/>
              <a:ext cx="1319" cy="108"/>
            </a:xfrm>
            <a:custGeom>
              <a:avLst/>
              <a:gdLst/>
              <a:ahLst/>
              <a:cxnLst>
                <a:cxn ang="0">
                  <a:pos x="1242" y="106"/>
                </a:cxn>
                <a:cxn ang="0">
                  <a:pos x="1242" y="0"/>
                </a:cxn>
                <a:cxn ang="0">
                  <a:pos x="0" y="0"/>
                </a:cxn>
                <a:cxn ang="0">
                  <a:pos x="0" y="108"/>
                </a:cxn>
                <a:cxn ang="0">
                  <a:pos x="1242" y="108"/>
                </a:cxn>
                <a:cxn ang="0">
                  <a:pos x="1242" y="108"/>
                </a:cxn>
              </a:cxnLst>
              <a:rect l="0" t="0" r="r" b="b"/>
              <a:pathLst>
                <a:path w="1242" h="108">
                  <a:moveTo>
                    <a:pt x="1242" y="106"/>
                  </a:moveTo>
                  <a:lnTo>
                    <a:pt x="1242" y="0"/>
                  </a:lnTo>
                  <a:lnTo>
                    <a:pt x="0" y="0"/>
                  </a:lnTo>
                  <a:lnTo>
                    <a:pt x="0" y="108"/>
                  </a:lnTo>
                  <a:lnTo>
                    <a:pt x="1242" y="108"/>
                  </a:lnTo>
                  <a:lnTo>
                    <a:pt x="1242" y="108"/>
                  </a:lnTo>
                </a:path>
              </a:pathLst>
            </a:custGeom>
            <a:noFill/>
            <a:ln w="9525">
              <a:solidFill>
                <a:srgbClr val="000000"/>
              </a:solidFill>
              <a:prstDash val="solid"/>
              <a:round/>
              <a:headEnd/>
              <a:tailEnd/>
            </a:ln>
          </p:spPr>
          <p:txBody>
            <a:bodyPr/>
            <a:lstStyle/>
            <a:p>
              <a:endParaRPr lang="zh-CN" altLang="en-US"/>
            </a:p>
          </p:txBody>
        </p:sp>
        <p:sp>
          <p:nvSpPr>
            <p:cNvPr id="93" name="Rectangle 124"/>
            <p:cNvSpPr>
              <a:spLocks noChangeArrowheads="1"/>
            </p:cNvSpPr>
            <p:nvPr/>
          </p:nvSpPr>
          <p:spPr bwMode="auto">
            <a:xfrm>
              <a:off x="2400" y="3368"/>
              <a:ext cx="1268" cy="116"/>
            </a:xfrm>
            <a:prstGeom prst="rect">
              <a:avLst/>
            </a:prstGeom>
            <a:noFill/>
            <a:ln w="9525">
              <a:noFill/>
              <a:miter lim="800000"/>
              <a:headEnd/>
              <a:tailEnd/>
            </a:ln>
          </p:spPr>
          <p:txBody>
            <a:bodyPr wrap="none" lIns="0" tIns="0" rIns="0" bIns="0">
              <a:spAutoFit/>
            </a:bodyPr>
            <a:lstStyle/>
            <a:p>
              <a:r>
                <a:rPr lang="en-US" altLang="zh-CN" sz="1200">
                  <a:solidFill>
                    <a:srgbClr val="000000"/>
                  </a:solidFill>
                </a:rPr>
                <a:t>Cold-start (compulsory) traffic</a:t>
              </a:r>
              <a:endParaRPr lang="en-US" altLang="zh-CN" sz="2400">
                <a:latin typeface="Times New Roman" charset="0"/>
              </a:endParaRPr>
            </a:p>
          </p:txBody>
        </p:sp>
        <p:sp>
          <p:nvSpPr>
            <p:cNvPr id="94" name="Rectangle 125"/>
            <p:cNvSpPr>
              <a:spLocks noChangeArrowheads="1"/>
            </p:cNvSpPr>
            <p:nvPr/>
          </p:nvSpPr>
          <p:spPr bwMode="auto">
            <a:xfrm>
              <a:off x="4138" y="3517"/>
              <a:ext cx="515" cy="125"/>
            </a:xfrm>
            <a:prstGeom prst="rect">
              <a:avLst/>
            </a:prstGeom>
            <a:noFill/>
            <a:ln w="9525">
              <a:noFill/>
              <a:miter lim="800000"/>
              <a:headEnd/>
              <a:tailEnd/>
            </a:ln>
          </p:spPr>
          <p:txBody>
            <a:bodyPr wrap="none" lIns="0" tIns="0" rIns="0" bIns="0">
              <a:spAutoFit/>
            </a:bodyPr>
            <a:lstStyle/>
            <a:p>
              <a:r>
                <a:rPr lang="en-US" altLang="zh-CN" sz="1300">
                  <a:solidFill>
                    <a:srgbClr val="000000"/>
                  </a:solidFill>
                </a:rPr>
                <a:t>Cache size</a:t>
              </a:r>
              <a:endParaRPr lang="en-US" altLang="zh-CN" sz="2400">
                <a:latin typeface="Times New Roman" charset="0"/>
              </a:endParaRPr>
            </a:p>
          </p:txBody>
        </p:sp>
        <p:sp>
          <p:nvSpPr>
            <p:cNvPr id="95" name="Freeform 126"/>
            <p:cNvSpPr>
              <a:spLocks/>
            </p:cNvSpPr>
            <p:nvPr/>
          </p:nvSpPr>
          <p:spPr bwMode="auto">
            <a:xfrm>
              <a:off x="2689" y="2960"/>
              <a:ext cx="596" cy="103"/>
            </a:xfrm>
            <a:custGeom>
              <a:avLst/>
              <a:gdLst/>
              <a:ahLst/>
              <a:cxnLst>
                <a:cxn ang="0">
                  <a:pos x="593" y="101"/>
                </a:cxn>
                <a:cxn ang="0">
                  <a:pos x="596" y="0"/>
                </a:cxn>
                <a:cxn ang="0">
                  <a:pos x="0" y="0"/>
                </a:cxn>
                <a:cxn ang="0">
                  <a:pos x="0" y="103"/>
                </a:cxn>
                <a:cxn ang="0">
                  <a:pos x="596" y="103"/>
                </a:cxn>
                <a:cxn ang="0">
                  <a:pos x="596" y="103"/>
                </a:cxn>
                <a:cxn ang="0">
                  <a:pos x="593" y="101"/>
                </a:cxn>
              </a:cxnLst>
              <a:rect l="0" t="0" r="r" b="b"/>
              <a:pathLst>
                <a:path w="596" h="103">
                  <a:moveTo>
                    <a:pt x="593" y="101"/>
                  </a:moveTo>
                  <a:lnTo>
                    <a:pt x="596" y="0"/>
                  </a:lnTo>
                  <a:lnTo>
                    <a:pt x="0" y="0"/>
                  </a:lnTo>
                  <a:lnTo>
                    <a:pt x="0" y="103"/>
                  </a:lnTo>
                  <a:lnTo>
                    <a:pt x="596" y="103"/>
                  </a:lnTo>
                  <a:lnTo>
                    <a:pt x="596" y="103"/>
                  </a:lnTo>
                  <a:lnTo>
                    <a:pt x="593" y="101"/>
                  </a:lnTo>
                  <a:close/>
                </a:path>
              </a:pathLst>
            </a:custGeom>
            <a:solidFill>
              <a:srgbClr val="FFFFFF"/>
            </a:solidFill>
            <a:ln w="9525">
              <a:noFill/>
              <a:round/>
              <a:headEnd/>
              <a:tailEnd/>
            </a:ln>
          </p:spPr>
          <p:txBody>
            <a:bodyPr/>
            <a:lstStyle/>
            <a:p>
              <a:endParaRPr lang="zh-CN" altLang="en-US"/>
            </a:p>
          </p:txBody>
        </p:sp>
        <p:sp>
          <p:nvSpPr>
            <p:cNvPr id="96" name="Freeform 127"/>
            <p:cNvSpPr>
              <a:spLocks/>
            </p:cNvSpPr>
            <p:nvPr/>
          </p:nvSpPr>
          <p:spPr bwMode="auto">
            <a:xfrm>
              <a:off x="2689" y="2960"/>
              <a:ext cx="596" cy="103"/>
            </a:xfrm>
            <a:custGeom>
              <a:avLst/>
              <a:gdLst/>
              <a:ahLst/>
              <a:cxnLst>
                <a:cxn ang="0">
                  <a:pos x="593" y="101"/>
                </a:cxn>
                <a:cxn ang="0">
                  <a:pos x="596" y="0"/>
                </a:cxn>
                <a:cxn ang="0">
                  <a:pos x="0" y="0"/>
                </a:cxn>
                <a:cxn ang="0">
                  <a:pos x="0" y="103"/>
                </a:cxn>
                <a:cxn ang="0">
                  <a:pos x="596" y="103"/>
                </a:cxn>
                <a:cxn ang="0">
                  <a:pos x="596" y="103"/>
                </a:cxn>
              </a:cxnLst>
              <a:rect l="0" t="0" r="r" b="b"/>
              <a:pathLst>
                <a:path w="596" h="103">
                  <a:moveTo>
                    <a:pt x="593" y="101"/>
                  </a:moveTo>
                  <a:lnTo>
                    <a:pt x="596" y="0"/>
                  </a:lnTo>
                  <a:lnTo>
                    <a:pt x="0" y="0"/>
                  </a:lnTo>
                  <a:lnTo>
                    <a:pt x="0" y="103"/>
                  </a:lnTo>
                  <a:lnTo>
                    <a:pt x="596" y="103"/>
                  </a:lnTo>
                  <a:lnTo>
                    <a:pt x="596" y="103"/>
                  </a:lnTo>
                </a:path>
              </a:pathLst>
            </a:custGeom>
            <a:noFill/>
            <a:ln w="9525">
              <a:solidFill>
                <a:srgbClr val="000000"/>
              </a:solidFill>
              <a:prstDash val="solid"/>
              <a:round/>
              <a:headEnd/>
              <a:tailEnd/>
            </a:ln>
          </p:spPr>
          <p:txBody>
            <a:bodyPr/>
            <a:lstStyle/>
            <a:p>
              <a:endParaRPr lang="zh-CN" altLang="en-US"/>
            </a:p>
          </p:txBody>
        </p:sp>
        <p:sp>
          <p:nvSpPr>
            <p:cNvPr id="97" name="Rectangle 128"/>
            <p:cNvSpPr>
              <a:spLocks noChangeArrowheads="1"/>
            </p:cNvSpPr>
            <p:nvPr/>
          </p:nvSpPr>
          <p:spPr bwMode="auto">
            <a:xfrm>
              <a:off x="2729" y="2959"/>
              <a:ext cx="529" cy="106"/>
            </a:xfrm>
            <a:prstGeom prst="rect">
              <a:avLst/>
            </a:prstGeom>
            <a:noFill/>
            <a:ln w="9525">
              <a:noFill/>
              <a:miter lim="800000"/>
              <a:headEnd/>
              <a:tailEnd/>
            </a:ln>
          </p:spPr>
          <p:txBody>
            <a:bodyPr wrap="none" lIns="0" tIns="0" rIns="0" bIns="0">
              <a:spAutoFit/>
            </a:bodyPr>
            <a:lstStyle/>
            <a:p>
              <a:r>
                <a:rPr lang="en-US" altLang="zh-CN" sz="1100">
                  <a:solidFill>
                    <a:srgbClr val="000000"/>
                  </a:solidFill>
                </a:rPr>
                <a:t>False sharing</a:t>
              </a:r>
              <a:endParaRPr lang="en-US" altLang="zh-CN" sz="2400">
                <a:latin typeface="Times New Roman" charset="0"/>
              </a:endParaRPr>
            </a:p>
          </p:txBody>
        </p:sp>
      </p:grpSp>
    </p:spTree>
    <p:extLst>
      <p:ext uri="{BB962C8B-B14F-4D97-AF65-F5344CB8AC3E}">
        <p14:creationId xmlns:p14="http://schemas.microsoft.com/office/powerpoint/2010/main" val="42189656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a:t>
            </a:r>
            <a:r>
              <a:rPr kumimoji="1" lang="zh-CN" altLang="en-US" dirty="0" smtClean="0"/>
              <a:t>空间局部性的技巧</a:t>
            </a:r>
            <a:endParaRPr kumimoji="1" lang="zh-CN" altLang="en-US" dirty="0"/>
          </a:p>
        </p:txBody>
      </p:sp>
      <p:sp>
        <p:nvSpPr>
          <p:cNvPr id="3" name="内容占位符 2"/>
          <p:cNvSpPr>
            <a:spLocks noGrp="1"/>
          </p:cNvSpPr>
          <p:nvPr>
            <p:ph idx="1"/>
          </p:nvPr>
        </p:nvSpPr>
        <p:spPr>
          <a:xfrm>
            <a:off x="695400" y="1604740"/>
            <a:ext cx="9464600" cy="4346128"/>
          </a:xfrm>
        </p:spPr>
        <p:txBody>
          <a:bodyPr/>
          <a:lstStyle/>
          <a:p>
            <a:r>
              <a:rPr kumimoji="1" lang="zh-CN" altLang="en-US" sz="2400" dirty="0"/>
              <a:t>分配任务减少不同处理器的空间交错访问</a:t>
            </a:r>
            <a:endParaRPr kumimoji="1" lang="en-US" altLang="zh-CN" sz="2400" dirty="0"/>
          </a:p>
          <a:p>
            <a:pPr lvl="1"/>
            <a:r>
              <a:rPr lang="zh-CN" altLang="en-US" sz="2000" dirty="0"/>
              <a:t>空间上连续地，而不是交错地在处理器间分配数据元素</a:t>
            </a:r>
            <a:endParaRPr lang="en-US" altLang="zh-CN" sz="2000" dirty="0"/>
          </a:p>
          <a:p>
            <a:r>
              <a:rPr kumimoji="1" lang="zh-CN" altLang="en-US" sz="2400" dirty="0"/>
              <a:t>结构化数据以减少空间交错访问</a:t>
            </a:r>
            <a:endParaRPr kumimoji="1" lang="en-US" altLang="zh-CN" sz="2400" dirty="0"/>
          </a:p>
          <a:p>
            <a:pPr lvl="1"/>
            <a:r>
              <a:rPr lang="zh-CN" altLang="en-US" sz="2000" dirty="0"/>
              <a:t>用高维数组保持分割区的连续性</a:t>
            </a:r>
            <a:endParaRPr lang="en-US" altLang="zh-CN" sz="2000" dirty="0"/>
          </a:p>
          <a:p>
            <a:pPr lvl="1"/>
            <a:r>
              <a:rPr kumimoji="1" lang="zh-CN" altLang="en-US" sz="2000" dirty="0"/>
              <a:t>减少假共享、碎片、及冲突不命中</a:t>
            </a:r>
          </a:p>
        </p:txBody>
      </p:sp>
      <p:grpSp>
        <p:nvGrpSpPr>
          <p:cNvPr id="6" name="Group 364"/>
          <p:cNvGrpSpPr>
            <a:grpSpLocks/>
          </p:cNvGrpSpPr>
          <p:nvPr/>
        </p:nvGrpSpPr>
        <p:grpSpPr bwMode="auto">
          <a:xfrm>
            <a:off x="5087888" y="3284984"/>
            <a:ext cx="6719888" cy="3371850"/>
            <a:chOff x="875" y="2026"/>
            <a:chExt cx="4233" cy="2124"/>
          </a:xfrm>
        </p:grpSpPr>
        <p:grpSp>
          <p:nvGrpSpPr>
            <p:cNvPr id="7" name="Group 4"/>
            <p:cNvGrpSpPr>
              <a:grpSpLocks/>
            </p:cNvGrpSpPr>
            <p:nvPr/>
          </p:nvGrpSpPr>
          <p:grpSpPr bwMode="auto">
            <a:xfrm>
              <a:off x="875" y="2026"/>
              <a:ext cx="4114" cy="1922"/>
              <a:chOff x="875" y="2026"/>
              <a:chExt cx="4114" cy="1922"/>
            </a:xfrm>
          </p:grpSpPr>
          <p:sp>
            <p:nvSpPr>
              <p:cNvPr id="167" name="Line 5"/>
              <p:cNvSpPr>
                <a:spLocks noChangeShapeType="1"/>
              </p:cNvSpPr>
              <p:nvPr/>
            </p:nvSpPr>
            <p:spPr bwMode="auto">
              <a:xfrm>
                <a:off x="875" y="2467"/>
                <a:ext cx="1559" cy="2"/>
              </a:xfrm>
              <a:prstGeom prst="line">
                <a:avLst/>
              </a:prstGeom>
              <a:noFill/>
              <a:ln w="7938">
                <a:solidFill>
                  <a:srgbClr val="808080"/>
                </a:solidFill>
                <a:round/>
                <a:headEnd/>
                <a:tailEnd/>
              </a:ln>
            </p:spPr>
            <p:txBody>
              <a:bodyPr/>
              <a:lstStyle/>
              <a:p>
                <a:endParaRPr lang="zh-CN" altLang="en-US"/>
              </a:p>
            </p:txBody>
          </p:sp>
          <p:sp>
            <p:nvSpPr>
              <p:cNvPr id="168" name="Line 6"/>
              <p:cNvSpPr>
                <a:spLocks noChangeShapeType="1"/>
              </p:cNvSpPr>
              <p:nvPr/>
            </p:nvSpPr>
            <p:spPr bwMode="auto">
              <a:xfrm>
                <a:off x="875" y="2547"/>
                <a:ext cx="1559" cy="1"/>
              </a:xfrm>
              <a:prstGeom prst="line">
                <a:avLst/>
              </a:prstGeom>
              <a:noFill/>
              <a:ln w="7938">
                <a:solidFill>
                  <a:srgbClr val="808080"/>
                </a:solidFill>
                <a:round/>
                <a:headEnd/>
                <a:tailEnd/>
              </a:ln>
            </p:spPr>
            <p:txBody>
              <a:bodyPr/>
              <a:lstStyle/>
              <a:p>
                <a:endParaRPr lang="zh-CN" altLang="en-US"/>
              </a:p>
            </p:txBody>
          </p:sp>
          <p:sp>
            <p:nvSpPr>
              <p:cNvPr id="169" name="Line 7"/>
              <p:cNvSpPr>
                <a:spLocks noChangeShapeType="1"/>
              </p:cNvSpPr>
              <p:nvPr/>
            </p:nvSpPr>
            <p:spPr bwMode="auto">
              <a:xfrm>
                <a:off x="875" y="2625"/>
                <a:ext cx="1559" cy="1"/>
              </a:xfrm>
              <a:prstGeom prst="line">
                <a:avLst/>
              </a:prstGeom>
              <a:noFill/>
              <a:ln w="7938">
                <a:solidFill>
                  <a:srgbClr val="808080"/>
                </a:solidFill>
                <a:round/>
                <a:headEnd/>
                <a:tailEnd/>
              </a:ln>
            </p:spPr>
            <p:txBody>
              <a:bodyPr/>
              <a:lstStyle/>
              <a:p>
                <a:endParaRPr lang="zh-CN" altLang="en-US"/>
              </a:p>
            </p:txBody>
          </p:sp>
          <p:sp>
            <p:nvSpPr>
              <p:cNvPr id="170" name="Line 8"/>
              <p:cNvSpPr>
                <a:spLocks noChangeShapeType="1"/>
              </p:cNvSpPr>
              <p:nvPr/>
            </p:nvSpPr>
            <p:spPr bwMode="auto">
              <a:xfrm>
                <a:off x="875" y="2702"/>
                <a:ext cx="1559" cy="1"/>
              </a:xfrm>
              <a:prstGeom prst="line">
                <a:avLst/>
              </a:prstGeom>
              <a:noFill/>
              <a:ln w="7938">
                <a:solidFill>
                  <a:srgbClr val="808080"/>
                </a:solidFill>
                <a:round/>
                <a:headEnd/>
                <a:tailEnd/>
              </a:ln>
            </p:spPr>
            <p:txBody>
              <a:bodyPr/>
              <a:lstStyle/>
              <a:p>
                <a:endParaRPr lang="zh-CN" altLang="en-US"/>
              </a:p>
            </p:txBody>
          </p:sp>
          <p:sp>
            <p:nvSpPr>
              <p:cNvPr id="171" name="Line 9"/>
              <p:cNvSpPr>
                <a:spLocks noChangeShapeType="1"/>
              </p:cNvSpPr>
              <p:nvPr/>
            </p:nvSpPr>
            <p:spPr bwMode="auto">
              <a:xfrm>
                <a:off x="875" y="2857"/>
                <a:ext cx="1559" cy="1"/>
              </a:xfrm>
              <a:prstGeom prst="line">
                <a:avLst/>
              </a:prstGeom>
              <a:noFill/>
              <a:ln w="7938">
                <a:solidFill>
                  <a:srgbClr val="808080"/>
                </a:solidFill>
                <a:round/>
                <a:headEnd/>
                <a:tailEnd/>
              </a:ln>
            </p:spPr>
            <p:txBody>
              <a:bodyPr/>
              <a:lstStyle/>
              <a:p>
                <a:endParaRPr lang="zh-CN" altLang="en-US"/>
              </a:p>
            </p:txBody>
          </p:sp>
          <p:sp>
            <p:nvSpPr>
              <p:cNvPr id="172" name="Line 10"/>
              <p:cNvSpPr>
                <a:spLocks noChangeShapeType="1"/>
              </p:cNvSpPr>
              <p:nvPr/>
            </p:nvSpPr>
            <p:spPr bwMode="auto">
              <a:xfrm>
                <a:off x="875" y="2935"/>
                <a:ext cx="1559" cy="1"/>
              </a:xfrm>
              <a:prstGeom prst="line">
                <a:avLst/>
              </a:prstGeom>
              <a:noFill/>
              <a:ln w="7938">
                <a:solidFill>
                  <a:srgbClr val="808080"/>
                </a:solidFill>
                <a:round/>
                <a:headEnd/>
                <a:tailEnd/>
              </a:ln>
            </p:spPr>
            <p:txBody>
              <a:bodyPr/>
              <a:lstStyle/>
              <a:p>
                <a:endParaRPr lang="zh-CN" altLang="en-US"/>
              </a:p>
            </p:txBody>
          </p:sp>
          <p:sp>
            <p:nvSpPr>
              <p:cNvPr id="173" name="Line 11"/>
              <p:cNvSpPr>
                <a:spLocks noChangeShapeType="1"/>
              </p:cNvSpPr>
              <p:nvPr/>
            </p:nvSpPr>
            <p:spPr bwMode="auto">
              <a:xfrm>
                <a:off x="875" y="3015"/>
                <a:ext cx="1559" cy="1"/>
              </a:xfrm>
              <a:prstGeom prst="line">
                <a:avLst/>
              </a:prstGeom>
              <a:noFill/>
              <a:ln w="7938">
                <a:solidFill>
                  <a:srgbClr val="808080"/>
                </a:solidFill>
                <a:round/>
                <a:headEnd/>
                <a:tailEnd/>
              </a:ln>
            </p:spPr>
            <p:txBody>
              <a:bodyPr/>
              <a:lstStyle/>
              <a:p>
                <a:endParaRPr lang="zh-CN" altLang="en-US"/>
              </a:p>
            </p:txBody>
          </p:sp>
          <p:sp>
            <p:nvSpPr>
              <p:cNvPr id="174" name="Line 12"/>
              <p:cNvSpPr>
                <a:spLocks noChangeShapeType="1"/>
              </p:cNvSpPr>
              <p:nvPr/>
            </p:nvSpPr>
            <p:spPr bwMode="auto">
              <a:xfrm>
                <a:off x="875" y="3092"/>
                <a:ext cx="1559" cy="1"/>
              </a:xfrm>
              <a:prstGeom prst="line">
                <a:avLst/>
              </a:prstGeom>
              <a:noFill/>
              <a:ln w="7938">
                <a:solidFill>
                  <a:srgbClr val="808080"/>
                </a:solidFill>
                <a:round/>
                <a:headEnd/>
                <a:tailEnd/>
              </a:ln>
            </p:spPr>
            <p:txBody>
              <a:bodyPr/>
              <a:lstStyle/>
              <a:p>
                <a:endParaRPr lang="zh-CN" altLang="en-US"/>
              </a:p>
            </p:txBody>
          </p:sp>
          <p:sp>
            <p:nvSpPr>
              <p:cNvPr id="175" name="Line 13"/>
              <p:cNvSpPr>
                <a:spLocks noChangeShapeType="1"/>
              </p:cNvSpPr>
              <p:nvPr/>
            </p:nvSpPr>
            <p:spPr bwMode="auto">
              <a:xfrm>
                <a:off x="875" y="3247"/>
                <a:ext cx="1559" cy="1"/>
              </a:xfrm>
              <a:prstGeom prst="line">
                <a:avLst/>
              </a:prstGeom>
              <a:noFill/>
              <a:ln w="7938">
                <a:solidFill>
                  <a:srgbClr val="808080"/>
                </a:solidFill>
                <a:round/>
                <a:headEnd/>
                <a:tailEnd/>
              </a:ln>
            </p:spPr>
            <p:txBody>
              <a:bodyPr/>
              <a:lstStyle/>
              <a:p>
                <a:endParaRPr lang="zh-CN" altLang="en-US"/>
              </a:p>
            </p:txBody>
          </p:sp>
          <p:sp>
            <p:nvSpPr>
              <p:cNvPr id="176" name="Line 14"/>
              <p:cNvSpPr>
                <a:spLocks noChangeShapeType="1"/>
              </p:cNvSpPr>
              <p:nvPr/>
            </p:nvSpPr>
            <p:spPr bwMode="auto">
              <a:xfrm>
                <a:off x="875" y="3325"/>
                <a:ext cx="1559" cy="1"/>
              </a:xfrm>
              <a:prstGeom prst="line">
                <a:avLst/>
              </a:prstGeom>
              <a:noFill/>
              <a:ln w="7938">
                <a:solidFill>
                  <a:srgbClr val="808080"/>
                </a:solidFill>
                <a:round/>
                <a:headEnd/>
                <a:tailEnd/>
              </a:ln>
            </p:spPr>
            <p:txBody>
              <a:bodyPr/>
              <a:lstStyle/>
              <a:p>
                <a:endParaRPr lang="zh-CN" altLang="en-US"/>
              </a:p>
            </p:txBody>
          </p:sp>
          <p:sp>
            <p:nvSpPr>
              <p:cNvPr id="177" name="Line 15"/>
              <p:cNvSpPr>
                <a:spLocks noChangeShapeType="1"/>
              </p:cNvSpPr>
              <p:nvPr/>
            </p:nvSpPr>
            <p:spPr bwMode="auto">
              <a:xfrm>
                <a:off x="875" y="3402"/>
                <a:ext cx="1559" cy="1"/>
              </a:xfrm>
              <a:prstGeom prst="line">
                <a:avLst/>
              </a:prstGeom>
              <a:noFill/>
              <a:ln w="7938">
                <a:solidFill>
                  <a:srgbClr val="808080"/>
                </a:solidFill>
                <a:round/>
                <a:headEnd/>
                <a:tailEnd/>
              </a:ln>
            </p:spPr>
            <p:txBody>
              <a:bodyPr/>
              <a:lstStyle/>
              <a:p>
                <a:endParaRPr lang="zh-CN" altLang="en-US"/>
              </a:p>
            </p:txBody>
          </p:sp>
          <p:sp>
            <p:nvSpPr>
              <p:cNvPr id="178" name="Line 16"/>
              <p:cNvSpPr>
                <a:spLocks noChangeShapeType="1"/>
              </p:cNvSpPr>
              <p:nvPr/>
            </p:nvSpPr>
            <p:spPr bwMode="auto">
              <a:xfrm>
                <a:off x="875" y="3480"/>
                <a:ext cx="1559" cy="1"/>
              </a:xfrm>
              <a:prstGeom prst="line">
                <a:avLst/>
              </a:prstGeom>
              <a:noFill/>
              <a:ln w="7938">
                <a:solidFill>
                  <a:srgbClr val="808080"/>
                </a:solidFill>
                <a:round/>
                <a:headEnd/>
                <a:tailEnd/>
              </a:ln>
            </p:spPr>
            <p:txBody>
              <a:bodyPr/>
              <a:lstStyle/>
              <a:p>
                <a:endParaRPr lang="zh-CN" altLang="en-US"/>
              </a:p>
            </p:txBody>
          </p:sp>
          <p:sp>
            <p:nvSpPr>
              <p:cNvPr id="179" name="Line 17"/>
              <p:cNvSpPr>
                <a:spLocks noChangeShapeType="1"/>
              </p:cNvSpPr>
              <p:nvPr/>
            </p:nvSpPr>
            <p:spPr bwMode="auto">
              <a:xfrm>
                <a:off x="875" y="3635"/>
                <a:ext cx="1559" cy="1"/>
              </a:xfrm>
              <a:prstGeom prst="line">
                <a:avLst/>
              </a:prstGeom>
              <a:noFill/>
              <a:ln w="7938">
                <a:solidFill>
                  <a:srgbClr val="808080"/>
                </a:solidFill>
                <a:round/>
                <a:headEnd/>
                <a:tailEnd/>
              </a:ln>
            </p:spPr>
            <p:txBody>
              <a:bodyPr/>
              <a:lstStyle/>
              <a:p>
                <a:endParaRPr lang="zh-CN" altLang="en-US"/>
              </a:p>
            </p:txBody>
          </p:sp>
          <p:sp>
            <p:nvSpPr>
              <p:cNvPr id="180" name="Line 18"/>
              <p:cNvSpPr>
                <a:spLocks noChangeShapeType="1"/>
              </p:cNvSpPr>
              <p:nvPr/>
            </p:nvSpPr>
            <p:spPr bwMode="auto">
              <a:xfrm>
                <a:off x="875" y="3713"/>
                <a:ext cx="1559" cy="1"/>
              </a:xfrm>
              <a:prstGeom prst="line">
                <a:avLst/>
              </a:prstGeom>
              <a:noFill/>
              <a:ln w="7938">
                <a:solidFill>
                  <a:srgbClr val="808080"/>
                </a:solidFill>
                <a:round/>
                <a:headEnd/>
                <a:tailEnd/>
              </a:ln>
            </p:spPr>
            <p:txBody>
              <a:bodyPr/>
              <a:lstStyle/>
              <a:p>
                <a:endParaRPr lang="zh-CN" altLang="en-US"/>
              </a:p>
            </p:txBody>
          </p:sp>
          <p:sp>
            <p:nvSpPr>
              <p:cNvPr id="181" name="Line 19"/>
              <p:cNvSpPr>
                <a:spLocks noChangeShapeType="1"/>
              </p:cNvSpPr>
              <p:nvPr/>
            </p:nvSpPr>
            <p:spPr bwMode="auto">
              <a:xfrm>
                <a:off x="875" y="3793"/>
                <a:ext cx="1559" cy="1"/>
              </a:xfrm>
              <a:prstGeom prst="line">
                <a:avLst/>
              </a:prstGeom>
              <a:noFill/>
              <a:ln w="7938">
                <a:solidFill>
                  <a:srgbClr val="808080"/>
                </a:solidFill>
                <a:round/>
                <a:headEnd/>
                <a:tailEnd/>
              </a:ln>
            </p:spPr>
            <p:txBody>
              <a:bodyPr/>
              <a:lstStyle/>
              <a:p>
                <a:endParaRPr lang="zh-CN" altLang="en-US"/>
              </a:p>
            </p:txBody>
          </p:sp>
          <p:sp>
            <p:nvSpPr>
              <p:cNvPr id="182" name="Line 20"/>
              <p:cNvSpPr>
                <a:spLocks noChangeShapeType="1"/>
              </p:cNvSpPr>
              <p:nvPr/>
            </p:nvSpPr>
            <p:spPr bwMode="auto">
              <a:xfrm>
                <a:off x="875" y="3870"/>
                <a:ext cx="1559" cy="1"/>
              </a:xfrm>
              <a:prstGeom prst="line">
                <a:avLst/>
              </a:prstGeom>
              <a:noFill/>
              <a:ln w="7938">
                <a:solidFill>
                  <a:srgbClr val="808080"/>
                </a:solidFill>
                <a:round/>
                <a:headEnd/>
                <a:tailEnd/>
              </a:ln>
            </p:spPr>
            <p:txBody>
              <a:bodyPr/>
              <a:lstStyle/>
              <a:p>
                <a:endParaRPr lang="zh-CN" altLang="en-US"/>
              </a:p>
            </p:txBody>
          </p:sp>
          <p:sp>
            <p:nvSpPr>
              <p:cNvPr id="183" name="Line 21"/>
              <p:cNvSpPr>
                <a:spLocks noChangeShapeType="1"/>
              </p:cNvSpPr>
              <p:nvPr/>
            </p:nvSpPr>
            <p:spPr bwMode="auto">
              <a:xfrm flipV="1">
                <a:off x="955" y="2392"/>
                <a:ext cx="1" cy="1556"/>
              </a:xfrm>
              <a:prstGeom prst="line">
                <a:avLst/>
              </a:prstGeom>
              <a:noFill/>
              <a:ln w="7938">
                <a:solidFill>
                  <a:srgbClr val="808080"/>
                </a:solidFill>
                <a:round/>
                <a:headEnd/>
                <a:tailEnd/>
              </a:ln>
            </p:spPr>
            <p:txBody>
              <a:bodyPr/>
              <a:lstStyle/>
              <a:p>
                <a:endParaRPr lang="zh-CN" altLang="en-US"/>
              </a:p>
            </p:txBody>
          </p:sp>
          <p:sp>
            <p:nvSpPr>
              <p:cNvPr id="184" name="Line 22"/>
              <p:cNvSpPr>
                <a:spLocks noChangeShapeType="1"/>
              </p:cNvSpPr>
              <p:nvPr/>
            </p:nvSpPr>
            <p:spPr bwMode="auto">
              <a:xfrm flipV="1">
                <a:off x="1033" y="2392"/>
                <a:ext cx="1" cy="1556"/>
              </a:xfrm>
              <a:prstGeom prst="line">
                <a:avLst/>
              </a:prstGeom>
              <a:noFill/>
              <a:ln w="7938">
                <a:solidFill>
                  <a:srgbClr val="808080"/>
                </a:solidFill>
                <a:round/>
                <a:headEnd/>
                <a:tailEnd/>
              </a:ln>
            </p:spPr>
            <p:txBody>
              <a:bodyPr/>
              <a:lstStyle/>
              <a:p>
                <a:endParaRPr lang="zh-CN" altLang="en-US"/>
              </a:p>
            </p:txBody>
          </p:sp>
          <p:sp>
            <p:nvSpPr>
              <p:cNvPr id="185" name="Line 23"/>
              <p:cNvSpPr>
                <a:spLocks noChangeShapeType="1"/>
              </p:cNvSpPr>
              <p:nvPr/>
            </p:nvSpPr>
            <p:spPr bwMode="auto">
              <a:xfrm flipV="1">
                <a:off x="1110" y="2392"/>
                <a:ext cx="1" cy="1556"/>
              </a:xfrm>
              <a:prstGeom prst="line">
                <a:avLst/>
              </a:prstGeom>
              <a:noFill/>
              <a:ln w="7938">
                <a:solidFill>
                  <a:srgbClr val="808080"/>
                </a:solidFill>
                <a:round/>
                <a:headEnd/>
                <a:tailEnd/>
              </a:ln>
            </p:spPr>
            <p:txBody>
              <a:bodyPr/>
              <a:lstStyle/>
              <a:p>
                <a:endParaRPr lang="zh-CN" altLang="en-US"/>
              </a:p>
            </p:txBody>
          </p:sp>
          <p:sp>
            <p:nvSpPr>
              <p:cNvPr id="186" name="Line 24"/>
              <p:cNvSpPr>
                <a:spLocks noChangeShapeType="1"/>
              </p:cNvSpPr>
              <p:nvPr/>
            </p:nvSpPr>
            <p:spPr bwMode="auto">
              <a:xfrm flipV="1">
                <a:off x="1420" y="2392"/>
                <a:ext cx="1" cy="1556"/>
              </a:xfrm>
              <a:prstGeom prst="line">
                <a:avLst/>
              </a:prstGeom>
              <a:noFill/>
              <a:ln w="7938">
                <a:solidFill>
                  <a:srgbClr val="808080"/>
                </a:solidFill>
                <a:round/>
                <a:headEnd/>
                <a:tailEnd/>
              </a:ln>
            </p:spPr>
            <p:txBody>
              <a:bodyPr/>
              <a:lstStyle/>
              <a:p>
                <a:endParaRPr lang="zh-CN" altLang="en-US"/>
              </a:p>
            </p:txBody>
          </p:sp>
          <p:sp>
            <p:nvSpPr>
              <p:cNvPr id="187" name="Line 25"/>
              <p:cNvSpPr>
                <a:spLocks noChangeShapeType="1"/>
              </p:cNvSpPr>
              <p:nvPr/>
            </p:nvSpPr>
            <p:spPr bwMode="auto">
              <a:xfrm flipV="1">
                <a:off x="1498" y="2392"/>
                <a:ext cx="1" cy="1556"/>
              </a:xfrm>
              <a:prstGeom prst="line">
                <a:avLst/>
              </a:prstGeom>
              <a:noFill/>
              <a:ln w="7938">
                <a:solidFill>
                  <a:srgbClr val="808080"/>
                </a:solidFill>
                <a:round/>
                <a:headEnd/>
                <a:tailEnd/>
              </a:ln>
            </p:spPr>
            <p:txBody>
              <a:bodyPr/>
              <a:lstStyle/>
              <a:p>
                <a:endParaRPr lang="zh-CN" altLang="en-US"/>
              </a:p>
            </p:txBody>
          </p:sp>
          <p:sp>
            <p:nvSpPr>
              <p:cNvPr id="188" name="Line 26"/>
              <p:cNvSpPr>
                <a:spLocks noChangeShapeType="1"/>
              </p:cNvSpPr>
              <p:nvPr/>
            </p:nvSpPr>
            <p:spPr bwMode="auto">
              <a:xfrm flipV="1">
                <a:off x="1576" y="2392"/>
                <a:ext cx="1" cy="1556"/>
              </a:xfrm>
              <a:prstGeom prst="line">
                <a:avLst/>
              </a:prstGeom>
              <a:noFill/>
              <a:ln w="7938">
                <a:solidFill>
                  <a:srgbClr val="808080"/>
                </a:solidFill>
                <a:round/>
                <a:headEnd/>
                <a:tailEnd/>
              </a:ln>
            </p:spPr>
            <p:txBody>
              <a:bodyPr/>
              <a:lstStyle/>
              <a:p>
                <a:endParaRPr lang="zh-CN" altLang="en-US"/>
              </a:p>
            </p:txBody>
          </p:sp>
          <p:sp>
            <p:nvSpPr>
              <p:cNvPr id="189" name="Line 27"/>
              <p:cNvSpPr>
                <a:spLocks noChangeShapeType="1"/>
              </p:cNvSpPr>
              <p:nvPr/>
            </p:nvSpPr>
            <p:spPr bwMode="auto">
              <a:xfrm flipV="1">
                <a:off x="1733" y="2392"/>
                <a:ext cx="1" cy="1556"/>
              </a:xfrm>
              <a:prstGeom prst="line">
                <a:avLst/>
              </a:prstGeom>
              <a:noFill/>
              <a:ln w="7938">
                <a:solidFill>
                  <a:srgbClr val="808080"/>
                </a:solidFill>
                <a:round/>
                <a:headEnd/>
                <a:tailEnd/>
              </a:ln>
            </p:spPr>
            <p:txBody>
              <a:bodyPr/>
              <a:lstStyle/>
              <a:p>
                <a:endParaRPr lang="zh-CN" altLang="en-US"/>
              </a:p>
            </p:txBody>
          </p:sp>
          <p:sp>
            <p:nvSpPr>
              <p:cNvPr id="190" name="Line 28"/>
              <p:cNvSpPr>
                <a:spLocks noChangeShapeType="1"/>
              </p:cNvSpPr>
              <p:nvPr/>
            </p:nvSpPr>
            <p:spPr bwMode="auto">
              <a:xfrm flipV="1">
                <a:off x="1811" y="2392"/>
                <a:ext cx="1" cy="1556"/>
              </a:xfrm>
              <a:prstGeom prst="line">
                <a:avLst/>
              </a:prstGeom>
              <a:noFill/>
              <a:ln w="7938">
                <a:solidFill>
                  <a:srgbClr val="808080"/>
                </a:solidFill>
                <a:round/>
                <a:headEnd/>
                <a:tailEnd/>
              </a:ln>
            </p:spPr>
            <p:txBody>
              <a:bodyPr/>
              <a:lstStyle/>
              <a:p>
                <a:endParaRPr lang="zh-CN" altLang="en-US"/>
              </a:p>
            </p:txBody>
          </p:sp>
          <p:sp>
            <p:nvSpPr>
              <p:cNvPr id="191" name="Line 29"/>
              <p:cNvSpPr>
                <a:spLocks noChangeShapeType="1"/>
              </p:cNvSpPr>
              <p:nvPr/>
            </p:nvSpPr>
            <p:spPr bwMode="auto">
              <a:xfrm flipV="1">
                <a:off x="1888" y="2392"/>
                <a:ext cx="1" cy="1556"/>
              </a:xfrm>
              <a:prstGeom prst="line">
                <a:avLst/>
              </a:prstGeom>
              <a:noFill/>
              <a:ln w="7938">
                <a:solidFill>
                  <a:srgbClr val="808080"/>
                </a:solidFill>
                <a:round/>
                <a:headEnd/>
                <a:tailEnd/>
              </a:ln>
            </p:spPr>
            <p:txBody>
              <a:bodyPr/>
              <a:lstStyle/>
              <a:p>
                <a:endParaRPr lang="zh-CN" altLang="en-US"/>
              </a:p>
            </p:txBody>
          </p:sp>
          <p:sp>
            <p:nvSpPr>
              <p:cNvPr id="192" name="Line 30"/>
              <p:cNvSpPr>
                <a:spLocks noChangeShapeType="1"/>
              </p:cNvSpPr>
              <p:nvPr/>
            </p:nvSpPr>
            <p:spPr bwMode="auto">
              <a:xfrm flipV="1">
                <a:off x="2121" y="2392"/>
                <a:ext cx="1" cy="1556"/>
              </a:xfrm>
              <a:prstGeom prst="line">
                <a:avLst/>
              </a:prstGeom>
              <a:noFill/>
              <a:ln w="7938">
                <a:solidFill>
                  <a:srgbClr val="808080"/>
                </a:solidFill>
                <a:round/>
                <a:headEnd/>
                <a:tailEnd/>
              </a:ln>
            </p:spPr>
            <p:txBody>
              <a:bodyPr/>
              <a:lstStyle/>
              <a:p>
                <a:endParaRPr lang="zh-CN" altLang="en-US"/>
              </a:p>
            </p:txBody>
          </p:sp>
          <p:sp>
            <p:nvSpPr>
              <p:cNvPr id="193" name="Line 31"/>
              <p:cNvSpPr>
                <a:spLocks noChangeShapeType="1"/>
              </p:cNvSpPr>
              <p:nvPr/>
            </p:nvSpPr>
            <p:spPr bwMode="auto">
              <a:xfrm flipV="1">
                <a:off x="2276" y="2392"/>
                <a:ext cx="1" cy="1556"/>
              </a:xfrm>
              <a:prstGeom prst="line">
                <a:avLst/>
              </a:prstGeom>
              <a:noFill/>
              <a:ln w="7938">
                <a:solidFill>
                  <a:srgbClr val="808080"/>
                </a:solidFill>
                <a:round/>
                <a:headEnd/>
                <a:tailEnd/>
              </a:ln>
            </p:spPr>
            <p:txBody>
              <a:bodyPr/>
              <a:lstStyle/>
              <a:p>
                <a:endParaRPr lang="zh-CN" altLang="en-US"/>
              </a:p>
            </p:txBody>
          </p:sp>
          <p:sp>
            <p:nvSpPr>
              <p:cNvPr id="194" name="Line 32"/>
              <p:cNvSpPr>
                <a:spLocks noChangeShapeType="1"/>
              </p:cNvSpPr>
              <p:nvPr/>
            </p:nvSpPr>
            <p:spPr bwMode="auto">
              <a:xfrm flipV="1">
                <a:off x="2354" y="2392"/>
                <a:ext cx="1" cy="1556"/>
              </a:xfrm>
              <a:prstGeom prst="line">
                <a:avLst/>
              </a:prstGeom>
              <a:noFill/>
              <a:ln w="7938">
                <a:solidFill>
                  <a:srgbClr val="808080"/>
                </a:solidFill>
                <a:round/>
                <a:headEnd/>
                <a:tailEnd/>
              </a:ln>
            </p:spPr>
            <p:txBody>
              <a:bodyPr/>
              <a:lstStyle/>
              <a:p>
                <a:endParaRPr lang="zh-CN" altLang="en-US"/>
              </a:p>
            </p:txBody>
          </p:sp>
          <p:sp>
            <p:nvSpPr>
              <p:cNvPr id="195" name="Line 33"/>
              <p:cNvSpPr>
                <a:spLocks noChangeShapeType="1"/>
              </p:cNvSpPr>
              <p:nvPr/>
            </p:nvSpPr>
            <p:spPr bwMode="auto">
              <a:xfrm flipV="1">
                <a:off x="1966" y="2392"/>
                <a:ext cx="1" cy="1556"/>
              </a:xfrm>
              <a:prstGeom prst="line">
                <a:avLst/>
              </a:prstGeom>
              <a:noFill/>
              <a:ln w="7938">
                <a:solidFill>
                  <a:srgbClr val="808080"/>
                </a:solidFill>
                <a:round/>
                <a:headEnd/>
                <a:tailEnd/>
              </a:ln>
            </p:spPr>
            <p:txBody>
              <a:bodyPr/>
              <a:lstStyle/>
              <a:p>
                <a:endParaRPr lang="zh-CN" altLang="en-US"/>
              </a:p>
            </p:txBody>
          </p:sp>
          <p:sp>
            <p:nvSpPr>
              <p:cNvPr id="196" name="Freeform 34"/>
              <p:cNvSpPr>
                <a:spLocks/>
              </p:cNvSpPr>
              <p:nvPr/>
            </p:nvSpPr>
            <p:spPr bwMode="auto">
              <a:xfrm>
                <a:off x="1961" y="3020"/>
                <a:ext cx="227" cy="78"/>
              </a:xfrm>
              <a:custGeom>
                <a:avLst/>
                <a:gdLst/>
                <a:ahLst/>
                <a:cxnLst>
                  <a:cxn ang="0">
                    <a:pos x="0" y="0"/>
                  </a:cxn>
                  <a:cxn ang="0">
                    <a:pos x="227" y="0"/>
                  </a:cxn>
                  <a:cxn ang="0">
                    <a:pos x="227" y="78"/>
                  </a:cxn>
                  <a:cxn ang="0">
                    <a:pos x="2" y="78"/>
                  </a:cxn>
                  <a:cxn ang="0">
                    <a:pos x="2" y="0"/>
                  </a:cxn>
                  <a:cxn ang="0">
                    <a:pos x="2" y="0"/>
                  </a:cxn>
                  <a:cxn ang="0">
                    <a:pos x="0" y="0"/>
                  </a:cxn>
                </a:cxnLst>
                <a:rect l="0" t="0" r="r" b="b"/>
                <a:pathLst>
                  <a:path w="227" h="78">
                    <a:moveTo>
                      <a:pt x="0" y="0"/>
                    </a:moveTo>
                    <a:lnTo>
                      <a:pt x="227" y="0"/>
                    </a:lnTo>
                    <a:lnTo>
                      <a:pt x="227" y="78"/>
                    </a:lnTo>
                    <a:lnTo>
                      <a:pt x="2" y="78"/>
                    </a:lnTo>
                    <a:lnTo>
                      <a:pt x="2" y="0"/>
                    </a:lnTo>
                    <a:lnTo>
                      <a:pt x="2" y="0"/>
                    </a:lnTo>
                    <a:lnTo>
                      <a:pt x="0" y="0"/>
                    </a:lnTo>
                    <a:close/>
                  </a:path>
                </a:pathLst>
              </a:custGeom>
              <a:solidFill>
                <a:srgbClr val="FFFFFF"/>
              </a:solidFill>
              <a:ln w="9525">
                <a:noFill/>
                <a:round/>
                <a:headEnd/>
                <a:tailEnd/>
              </a:ln>
            </p:spPr>
            <p:txBody>
              <a:bodyPr/>
              <a:lstStyle/>
              <a:p>
                <a:endParaRPr lang="zh-CN" altLang="en-US"/>
              </a:p>
            </p:txBody>
          </p:sp>
          <p:sp>
            <p:nvSpPr>
              <p:cNvPr id="197" name="Freeform 35"/>
              <p:cNvSpPr>
                <a:spLocks/>
              </p:cNvSpPr>
              <p:nvPr/>
            </p:nvSpPr>
            <p:spPr bwMode="auto">
              <a:xfrm>
                <a:off x="1961" y="3020"/>
                <a:ext cx="227" cy="78"/>
              </a:xfrm>
              <a:custGeom>
                <a:avLst/>
                <a:gdLst/>
                <a:ahLst/>
                <a:cxnLst>
                  <a:cxn ang="0">
                    <a:pos x="0" y="0"/>
                  </a:cxn>
                  <a:cxn ang="0">
                    <a:pos x="227" y="0"/>
                  </a:cxn>
                  <a:cxn ang="0">
                    <a:pos x="227" y="78"/>
                  </a:cxn>
                  <a:cxn ang="0">
                    <a:pos x="2" y="78"/>
                  </a:cxn>
                  <a:cxn ang="0">
                    <a:pos x="2" y="0"/>
                  </a:cxn>
                  <a:cxn ang="0">
                    <a:pos x="2" y="0"/>
                  </a:cxn>
                  <a:cxn ang="0">
                    <a:pos x="0" y="0"/>
                  </a:cxn>
                </a:cxnLst>
                <a:rect l="0" t="0" r="r" b="b"/>
                <a:pathLst>
                  <a:path w="227" h="78">
                    <a:moveTo>
                      <a:pt x="0" y="0"/>
                    </a:moveTo>
                    <a:lnTo>
                      <a:pt x="227" y="0"/>
                    </a:lnTo>
                    <a:lnTo>
                      <a:pt x="227" y="78"/>
                    </a:lnTo>
                    <a:lnTo>
                      <a:pt x="2" y="78"/>
                    </a:lnTo>
                    <a:lnTo>
                      <a:pt x="2" y="0"/>
                    </a:lnTo>
                    <a:lnTo>
                      <a:pt x="2" y="0"/>
                    </a:lnTo>
                    <a:lnTo>
                      <a:pt x="0" y="0"/>
                    </a:lnTo>
                    <a:close/>
                  </a:path>
                </a:pathLst>
              </a:custGeom>
              <a:solidFill>
                <a:srgbClr val="FFFFFF"/>
              </a:solidFill>
              <a:ln w="9525">
                <a:noFill/>
                <a:round/>
                <a:headEnd/>
                <a:tailEnd/>
              </a:ln>
            </p:spPr>
            <p:txBody>
              <a:bodyPr/>
              <a:lstStyle/>
              <a:p>
                <a:endParaRPr lang="zh-CN" altLang="en-US"/>
              </a:p>
            </p:txBody>
          </p:sp>
          <p:sp>
            <p:nvSpPr>
              <p:cNvPr id="198" name="Freeform 36"/>
              <p:cNvSpPr>
                <a:spLocks/>
              </p:cNvSpPr>
              <p:nvPr/>
            </p:nvSpPr>
            <p:spPr bwMode="auto">
              <a:xfrm>
                <a:off x="1961" y="3020"/>
                <a:ext cx="227" cy="78"/>
              </a:xfrm>
              <a:custGeom>
                <a:avLst/>
                <a:gdLst/>
                <a:ahLst/>
                <a:cxnLst>
                  <a:cxn ang="0">
                    <a:pos x="0" y="0"/>
                  </a:cxn>
                  <a:cxn ang="0">
                    <a:pos x="227" y="0"/>
                  </a:cxn>
                  <a:cxn ang="0">
                    <a:pos x="227" y="78"/>
                  </a:cxn>
                  <a:cxn ang="0">
                    <a:pos x="2" y="78"/>
                  </a:cxn>
                  <a:cxn ang="0">
                    <a:pos x="2" y="0"/>
                  </a:cxn>
                  <a:cxn ang="0">
                    <a:pos x="2" y="0"/>
                  </a:cxn>
                </a:cxnLst>
                <a:rect l="0" t="0" r="r" b="b"/>
                <a:pathLst>
                  <a:path w="227" h="78">
                    <a:moveTo>
                      <a:pt x="0" y="0"/>
                    </a:moveTo>
                    <a:lnTo>
                      <a:pt x="227" y="0"/>
                    </a:lnTo>
                    <a:lnTo>
                      <a:pt x="227" y="78"/>
                    </a:lnTo>
                    <a:lnTo>
                      <a:pt x="2" y="78"/>
                    </a:lnTo>
                    <a:lnTo>
                      <a:pt x="2" y="0"/>
                    </a:lnTo>
                    <a:lnTo>
                      <a:pt x="2" y="0"/>
                    </a:lnTo>
                  </a:path>
                </a:pathLst>
              </a:custGeom>
              <a:noFill/>
              <a:ln w="7938">
                <a:solidFill>
                  <a:srgbClr val="0000FF"/>
                </a:solidFill>
                <a:prstDash val="solid"/>
                <a:round/>
                <a:headEnd/>
                <a:tailEnd/>
              </a:ln>
            </p:spPr>
            <p:txBody>
              <a:bodyPr/>
              <a:lstStyle/>
              <a:p>
                <a:endParaRPr lang="zh-CN" altLang="en-US"/>
              </a:p>
            </p:txBody>
          </p:sp>
          <p:sp>
            <p:nvSpPr>
              <p:cNvPr id="199" name="Freeform 37"/>
              <p:cNvSpPr>
                <a:spLocks/>
              </p:cNvSpPr>
              <p:nvPr/>
            </p:nvSpPr>
            <p:spPr bwMode="auto">
              <a:xfrm>
                <a:off x="2284" y="2496"/>
                <a:ext cx="86" cy="48"/>
              </a:xfrm>
              <a:custGeom>
                <a:avLst/>
                <a:gdLst/>
                <a:ahLst/>
                <a:cxnLst>
                  <a:cxn ang="0">
                    <a:pos x="0" y="24"/>
                  </a:cxn>
                  <a:cxn ang="0">
                    <a:pos x="3" y="0"/>
                  </a:cxn>
                  <a:cxn ang="0">
                    <a:pos x="86" y="24"/>
                  </a:cxn>
                  <a:cxn ang="0">
                    <a:pos x="3" y="48"/>
                  </a:cxn>
                  <a:cxn ang="0">
                    <a:pos x="3" y="24"/>
                  </a:cxn>
                  <a:cxn ang="0">
                    <a:pos x="3" y="24"/>
                  </a:cxn>
                </a:cxnLst>
                <a:rect l="0" t="0" r="r" b="b"/>
                <a:pathLst>
                  <a:path w="86" h="48">
                    <a:moveTo>
                      <a:pt x="0" y="24"/>
                    </a:moveTo>
                    <a:lnTo>
                      <a:pt x="3" y="0"/>
                    </a:lnTo>
                    <a:lnTo>
                      <a:pt x="86" y="24"/>
                    </a:lnTo>
                    <a:lnTo>
                      <a:pt x="3" y="48"/>
                    </a:lnTo>
                    <a:lnTo>
                      <a:pt x="3" y="24"/>
                    </a:lnTo>
                    <a:lnTo>
                      <a:pt x="3" y="24"/>
                    </a:lnTo>
                  </a:path>
                </a:pathLst>
              </a:custGeom>
              <a:noFill/>
              <a:ln w="7938">
                <a:solidFill>
                  <a:srgbClr val="00FF00"/>
                </a:solidFill>
                <a:prstDash val="solid"/>
                <a:round/>
                <a:headEnd/>
                <a:tailEnd/>
              </a:ln>
            </p:spPr>
            <p:txBody>
              <a:bodyPr/>
              <a:lstStyle/>
              <a:p>
                <a:endParaRPr lang="zh-CN" altLang="en-US"/>
              </a:p>
            </p:txBody>
          </p:sp>
          <p:sp>
            <p:nvSpPr>
              <p:cNvPr id="200" name="Freeform 38"/>
              <p:cNvSpPr>
                <a:spLocks/>
              </p:cNvSpPr>
              <p:nvPr/>
            </p:nvSpPr>
            <p:spPr bwMode="auto">
              <a:xfrm>
                <a:off x="2284" y="2496"/>
                <a:ext cx="86" cy="48"/>
              </a:xfrm>
              <a:custGeom>
                <a:avLst/>
                <a:gdLst/>
                <a:ahLst/>
                <a:cxnLst>
                  <a:cxn ang="0">
                    <a:pos x="0" y="24"/>
                  </a:cxn>
                  <a:cxn ang="0">
                    <a:pos x="3" y="0"/>
                  </a:cxn>
                  <a:cxn ang="0">
                    <a:pos x="86" y="24"/>
                  </a:cxn>
                  <a:cxn ang="0">
                    <a:pos x="3" y="48"/>
                  </a:cxn>
                  <a:cxn ang="0">
                    <a:pos x="0" y="24"/>
                  </a:cxn>
                </a:cxnLst>
                <a:rect l="0" t="0" r="r" b="b"/>
                <a:pathLst>
                  <a:path w="86" h="48">
                    <a:moveTo>
                      <a:pt x="0" y="24"/>
                    </a:moveTo>
                    <a:lnTo>
                      <a:pt x="3" y="0"/>
                    </a:lnTo>
                    <a:lnTo>
                      <a:pt x="86" y="24"/>
                    </a:lnTo>
                    <a:lnTo>
                      <a:pt x="3" y="48"/>
                    </a:lnTo>
                    <a:lnTo>
                      <a:pt x="0" y="24"/>
                    </a:lnTo>
                    <a:close/>
                  </a:path>
                </a:pathLst>
              </a:custGeom>
              <a:solidFill>
                <a:srgbClr val="00FF00"/>
              </a:solidFill>
              <a:ln w="9525">
                <a:noFill/>
                <a:round/>
                <a:headEnd/>
                <a:tailEnd/>
              </a:ln>
            </p:spPr>
            <p:txBody>
              <a:bodyPr/>
              <a:lstStyle/>
              <a:p>
                <a:endParaRPr lang="zh-CN" altLang="en-US"/>
              </a:p>
            </p:txBody>
          </p:sp>
          <p:sp>
            <p:nvSpPr>
              <p:cNvPr id="201" name="Line 39"/>
              <p:cNvSpPr>
                <a:spLocks noChangeShapeType="1"/>
              </p:cNvSpPr>
              <p:nvPr/>
            </p:nvSpPr>
            <p:spPr bwMode="auto">
              <a:xfrm>
                <a:off x="899" y="2520"/>
                <a:ext cx="1385" cy="1"/>
              </a:xfrm>
              <a:prstGeom prst="line">
                <a:avLst/>
              </a:prstGeom>
              <a:noFill/>
              <a:ln w="7938">
                <a:solidFill>
                  <a:srgbClr val="00FF00"/>
                </a:solidFill>
                <a:round/>
                <a:headEnd/>
                <a:tailEnd/>
              </a:ln>
            </p:spPr>
            <p:txBody>
              <a:bodyPr/>
              <a:lstStyle/>
              <a:p>
                <a:endParaRPr lang="zh-CN" altLang="en-US"/>
              </a:p>
            </p:txBody>
          </p:sp>
          <p:sp>
            <p:nvSpPr>
              <p:cNvPr id="202" name="Freeform 40"/>
              <p:cNvSpPr>
                <a:spLocks/>
              </p:cNvSpPr>
              <p:nvPr/>
            </p:nvSpPr>
            <p:spPr bwMode="auto">
              <a:xfrm>
                <a:off x="2287" y="2576"/>
                <a:ext cx="83" cy="46"/>
              </a:xfrm>
              <a:custGeom>
                <a:avLst/>
                <a:gdLst/>
                <a:ahLst/>
                <a:cxnLst>
                  <a:cxn ang="0">
                    <a:pos x="0" y="24"/>
                  </a:cxn>
                  <a:cxn ang="0">
                    <a:pos x="0" y="0"/>
                  </a:cxn>
                  <a:cxn ang="0">
                    <a:pos x="83" y="24"/>
                  </a:cxn>
                  <a:cxn ang="0">
                    <a:pos x="0" y="46"/>
                  </a:cxn>
                  <a:cxn ang="0">
                    <a:pos x="0" y="24"/>
                  </a:cxn>
                  <a:cxn ang="0">
                    <a:pos x="0" y="24"/>
                  </a:cxn>
                </a:cxnLst>
                <a:rect l="0" t="0" r="r" b="b"/>
                <a:pathLst>
                  <a:path w="83" h="46">
                    <a:moveTo>
                      <a:pt x="0" y="24"/>
                    </a:moveTo>
                    <a:lnTo>
                      <a:pt x="0" y="0"/>
                    </a:lnTo>
                    <a:lnTo>
                      <a:pt x="83" y="24"/>
                    </a:lnTo>
                    <a:lnTo>
                      <a:pt x="0" y="46"/>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03" name="Freeform 41"/>
              <p:cNvSpPr>
                <a:spLocks/>
              </p:cNvSpPr>
              <p:nvPr/>
            </p:nvSpPr>
            <p:spPr bwMode="auto">
              <a:xfrm>
                <a:off x="2284" y="2576"/>
                <a:ext cx="86" cy="46"/>
              </a:xfrm>
              <a:custGeom>
                <a:avLst/>
                <a:gdLst/>
                <a:ahLst/>
                <a:cxnLst>
                  <a:cxn ang="0">
                    <a:pos x="0" y="22"/>
                  </a:cxn>
                  <a:cxn ang="0">
                    <a:pos x="3" y="0"/>
                  </a:cxn>
                  <a:cxn ang="0">
                    <a:pos x="86" y="24"/>
                  </a:cxn>
                  <a:cxn ang="0">
                    <a:pos x="3" y="46"/>
                  </a:cxn>
                  <a:cxn ang="0">
                    <a:pos x="0" y="22"/>
                  </a:cxn>
                </a:cxnLst>
                <a:rect l="0" t="0" r="r" b="b"/>
                <a:pathLst>
                  <a:path w="86" h="46">
                    <a:moveTo>
                      <a:pt x="0" y="22"/>
                    </a:moveTo>
                    <a:lnTo>
                      <a:pt x="3" y="0"/>
                    </a:lnTo>
                    <a:lnTo>
                      <a:pt x="86" y="24"/>
                    </a:lnTo>
                    <a:lnTo>
                      <a:pt x="3" y="46"/>
                    </a:lnTo>
                    <a:lnTo>
                      <a:pt x="0" y="22"/>
                    </a:lnTo>
                    <a:close/>
                  </a:path>
                </a:pathLst>
              </a:custGeom>
              <a:solidFill>
                <a:srgbClr val="00FF00"/>
              </a:solidFill>
              <a:ln w="9525">
                <a:noFill/>
                <a:round/>
                <a:headEnd/>
                <a:tailEnd/>
              </a:ln>
            </p:spPr>
            <p:txBody>
              <a:bodyPr/>
              <a:lstStyle/>
              <a:p>
                <a:endParaRPr lang="zh-CN" altLang="en-US"/>
              </a:p>
            </p:txBody>
          </p:sp>
          <p:sp>
            <p:nvSpPr>
              <p:cNvPr id="204" name="Line 42"/>
              <p:cNvSpPr>
                <a:spLocks noChangeShapeType="1"/>
              </p:cNvSpPr>
              <p:nvPr/>
            </p:nvSpPr>
            <p:spPr bwMode="auto">
              <a:xfrm>
                <a:off x="899" y="2598"/>
                <a:ext cx="1385" cy="2"/>
              </a:xfrm>
              <a:prstGeom prst="line">
                <a:avLst/>
              </a:prstGeom>
              <a:noFill/>
              <a:ln w="7938">
                <a:solidFill>
                  <a:srgbClr val="00FF00"/>
                </a:solidFill>
                <a:round/>
                <a:headEnd/>
                <a:tailEnd/>
              </a:ln>
            </p:spPr>
            <p:txBody>
              <a:bodyPr/>
              <a:lstStyle/>
              <a:p>
                <a:endParaRPr lang="zh-CN" altLang="en-US"/>
              </a:p>
            </p:txBody>
          </p:sp>
          <p:sp>
            <p:nvSpPr>
              <p:cNvPr id="205" name="Freeform 43"/>
              <p:cNvSpPr>
                <a:spLocks/>
              </p:cNvSpPr>
              <p:nvPr/>
            </p:nvSpPr>
            <p:spPr bwMode="auto">
              <a:xfrm>
                <a:off x="2287" y="2654"/>
                <a:ext cx="83" cy="48"/>
              </a:xfrm>
              <a:custGeom>
                <a:avLst/>
                <a:gdLst/>
                <a:ahLst/>
                <a:cxnLst>
                  <a:cxn ang="0">
                    <a:pos x="0" y="24"/>
                  </a:cxn>
                  <a:cxn ang="0">
                    <a:pos x="0" y="0"/>
                  </a:cxn>
                  <a:cxn ang="0">
                    <a:pos x="83" y="24"/>
                  </a:cxn>
                  <a:cxn ang="0">
                    <a:pos x="0" y="48"/>
                  </a:cxn>
                  <a:cxn ang="0">
                    <a:pos x="0" y="24"/>
                  </a:cxn>
                  <a:cxn ang="0">
                    <a:pos x="0" y="24"/>
                  </a:cxn>
                </a:cxnLst>
                <a:rect l="0" t="0" r="r" b="b"/>
                <a:pathLst>
                  <a:path w="83" h="48">
                    <a:moveTo>
                      <a:pt x="0" y="24"/>
                    </a:moveTo>
                    <a:lnTo>
                      <a:pt x="0" y="0"/>
                    </a:lnTo>
                    <a:lnTo>
                      <a:pt x="83"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06" name="Freeform 44"/>
              <p:cNvSpPr>
                <a:spLocks/>
              </p:cNvSpPr>
              <p:nvPr/>
            </p:nvSpPr>
            <p:spPr bwMode="auto">
              <a:xfrm>
                <a:off x="2284" y="2654"/>
                <a:ext cx="86" cy="48"/>
              </a:xfrm>
              <a:custGeom>
                <a:avLst/>
                <a:gdLst/>
                <a:ahLst/>
                <a:cxnLst>
                  <a:cxn ang="0">
                    <a:pos x="0" y="21"/>
                  </a:cxn>
                  <a:cxn ang="0">
                    <a:pos x="3" y="0"/>
                  </a:cxn>
                  <a:cxn ang="0">
                    <a:pos x="86" y="24"/>
                  </a:cxn>
                  <a:cxn ang="0">
                    <a:pos x="3" y="48"/>
                  </a:cxn>
                  <a:cxn ang="0">
                    <a:pos x="0" y="21"/>
                  </a:cxn>
                </a:cxnLst>
                <a:rect l="0" t="0" r="r" b="b"/>
                <a:pathLst>
                  <a:path w="86" h="48">
                    <a:moveTo>
                      <a:pt x="0" y="21"/>
                    </a:moveTo>
                    <a:lnTo>
                      <a:pt x="3" y="0"/>
                    </a:lnTo>
                    <a:lnTo>
                      <a:pt x="86" y="24"/>
                    </a:lnTo>
                    <a:lnTo>
                      <a:pt x="3" y="48"/>
                    </a:lnTo>
                    <a:lnTo>
                      <a:pt x="0" y="21"/>
                    </a:lnTo>
                    <a:close/>
                  </a:path>
                </a:pathLst>
              </a:custGeom>
              <a:solidFill>
                <a:srgbClr val="00FF00"/>
              </a:solidFill>
              <a:ln w="9525">
                <a:noFill/>
                <a:round/>
                <a:headEnd/>
                <a:tailEnd/>
              </a:ln>
            </p:spPr>
            <p:txBody>
              <a:bodyPr/>
              <a:lstStyle/>
              <a:p>
                <a:endParaRPr lang="zh-CN" altLang="en-US"/>
              </a:p>
            </p:txBody>
          </p:sp>
          <p:sp>
            <p:nvSpPr>
              <p:cNvPr id="207" name="Line 45"/>
              <p:cNvSpPr>
                <a:spLocks noChangeShapeType="1"/>
              </p:cNvSpPr>
              <p:nvPr/>
            </p:nvSpPr>
            <p:spPr bwMode="auto">
              <a:xfrm>
                <a:off x="899" y="2675"/>
                <a:ext cx="1385" cy="3"/>
              </a:xfrm>
              <a:prstGeom prst="line">
                <a:avLst/>
              </a:prstGeom>
              <a:noFill/>
              <a:ln w="7938">
                <a:solidFill>
                  <a:srgbClr val="00FF00"/>
                </a:solidFill>
                <a:round/>
                <a:headEnd/>
                <a:tailEnd/>
              </a:ln>
            </p:spPr>
            <p:txBody>
              <a:bodyPr/>
              <a:lstStyle/>
              <a:p>
                <a:endParaRPr lang="zh-CN" altLang="en-US"/>
              </a:p>
            </p:txBody>
          </p:sp>
          <p:sp>
            <p:nvSpPr>
              <p:cNvPr id="208" name="Freeform 46"/>
              <p:cNvSpPr>
                <a:spLocks/>
              </p:cNvSpPr>
              <p:nvPr/>
            </p:nvSpPr>
            <p:spPr bwMode="auto">
              <a:xfrm>
                <a:off x="2287" y="2721"/>
                <a:ext cx="83" cy="48"/>
              </a:xfrm>
              <a:custGeom>
                <a:avLst/>
                <a:gdLst/>
                <a:ahLst/>
                <a:cxnLst>
                  <a:cxn ang="0">
                    <a:pos x="0" y="24"/>
                  </a:cxn>
                  <a:cxn ang="0">
                    <a:pos x="0" y="0"/>
                  </a:cxn>
                  <a:cxn ang="0">
                    <a:pos x="83" y="24"/>
                  </a:cxn>
                  <a:cxn ang="0">
                    <a:pos x="0" y="48"/>
                  </a:cxn>
                  <a:cxn ang="0">
                    <a:pos x="0" y="24"/>
                  </a:cxn>
                  <a:cxn ang="0">
                    <a:pos x="0" y="24"/>
                  </a:cxn>
                </a:cxnLst>
                <a:rect l="0" t="0" r="r" b="b"/>
                <a:pathLst>
                  <a:path w="83" h="48">
                    <a:moveTo>
                      <a:pt x="0" y="24"/>
                    </a:moveTo>
                    <a:lnTo>
                      <a:pt x="0" y="0"/>
                    </a:lnTo>
                    <a:lnTo>
                      <a:pt x="83"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09" name="Freeform 47"/>
              <p:cNvSpPr>
                <a:spLocks/>
              </p:cNvSpPr>
              <p:nvPr/>
            </p:nvSpPr>
            <p:spPr bwMode="auto">
              <a:xfrm>
                <a:off x="2284" y="2721"/>
                <a:ext cx="86" cy="48"/>
              </a:xfrm>
              <a:custGeom>
                <a:avLst/>
                <a:gdLst/>
                <a:ahLst/>
                <a:cxnLst>
                  <a:cxn ang="0">
                    <a:pos x="0" y="24"/>
                  </a:cxn>
                  <a:cxn ang="0">
                    <a:pos x="3" y="0"/>
                  </a:cxn>
                  <a:cxn ang="0">
                    <a:pos x="86" y="24"/>
                  </a:cxn>
                  <a:cxn ang="0">
                    <a:pos x="3" y="48"/>
                  </a:cxn>
                  <a:cxn ang="0">
                    <a:pos x="0" y="24"/>
                  </a:cxn>
                </a:cxnLst>
                <a:rect l="0" t="0" r="r" b="b"/>
                <a:pathLst>
                  <a:path w="86" h="48">
                    <a:moveTo>
                      <a:pt x="0" y="24"/>
                    </a:moveTo>
                    <a:lnTo>
                      <a:pt x="3" y="0"/>
                    </a:lnTo>
                    <a:lnTo>
                      <a:pt x="86" y="24"/>
                    </a:lnTo>
                    <a:lnTo>
                      <a:pt x="3" y="48"/>
                    </a:lnTo>
                    <a:lnTo>
                      <a:pt x="0" y="24"/>
                    </a:lnTo>
                    <a:close/>
                  </a:path>
                </a:pathLst>
              </a:custGeom>
              <a:solidFill>
                <a:srgbClr val="00FF00"/>
              </a:solidFill>
              <a:ln w="9525">
                <a:noFill/>
                <a:round/>
                <a:headEnd/>
                <a:tailEnd/>
              </a:ln>
            </p:spPr>
            <p:txBody>
              <a:bodyPr/>
              <a:lstStyle/>
              <a:p>
                <a:endParaRPr lang="zh-CN" altLang="en-US"/>
              </a:p>
            </p:txBody>
          </p:sp>
          <p:sp>
            <p:nvSpPr>
              <p:cNvPr id="210" name="Line 48"/>
              <p:cNvSpPr>
                <a:spLocks noChangeShapeType="1"/>
              </p:cNvSpPr>
              <p:nvPr/>
            </p:nvSpPr>
            <p:spPr bwMode="auto">
              <a:xfrm>
                <a:off x="899" y="2745"/>
                <a:ext cx="1385" cy="1"/>
              </a:xfrm>
              <a:prstGeom prst="line">
                <a:avLst/>
              </a:prstGeom>
              <a:noFill/>
              <a:ln w="7938">
                <a:solidFill>
                  <a:srgbClr val="00FF00"/>
                </a:solidFill>
                <a:round/>
                <a:headEnd/>
                <a:tailEnd/>
              </a:ln>
            </p:spPr>
            <p:txBody>
              <a:bodyPr/>
              <a:lstStyle/>
              <a:p>
                <a:endParaRPr lang="zh-CN" altLang="en-US"/>
              </a:p>
            </p:txBody>
          </p:sp>
          <p:sp>
            <p:nvSpPr>
              <p:cNvPr id="211" name="Line 49"/>
              <p:cNvSpPr>
                <a:spLocks noChangeShapeType="1"/>
              </p:cNvSpPr>
              <p:nvPr/>
            </p:nvSpPr>
            <p:spPr bwMode="auto">
              <a:xfrm flipV="1">
                <a:off x="2199" y="2392"/>
                <a:ext cx="1" cy="1553"/>
              </a:xfrm>
              <a:prstGeom prst="line">
                <a:avLst/>
              </a:prstGeom>
              <a:noFill/>
              <a:ln w="7938">
                <a:solidFill>
                  <a:srgbClr val="808080"/>
                </a:solidFill>
                <a:round/>
                <a:headEnd/>
                <a:tailEnd/>
              </a:ln>
            </p:spPr>
            <p:txBody>
              <a:bodyPr/>
              <a:lstStyle/>
              <a:p>
                <a:endParaRPr lang="zh-CN" altLang="en-US"/>
              </a:p>
            </p:txBody>
          </p:sp>
          <p:sp>
            <p:nvSpPr>
              <p:cNvPr id="212" name="Freeform 50"/>
              <p:cNvSpPr>
                <a:spLocks/>
              </p:cNvSpPr>
              <p:nvPr/>
            </p:nvSpPr>
            <p:spPr bwMode="auto">
              <a:xfrm>
                <a:off x="875" y="2389"/>
                <a:ext cx="1559" cy="1559"/>
              </a:xfrm>
              <a:custGeom>
                <a:avLst/>
                <a:gdLst/>
                <a:ahLst/>
                <a:cxnLst>
                  <a:cxn ang="0">
                    <a:pos x="0" y="0"/>
                  </a:cxn>
                  <a:cxn ang="0">
                    <a:pos x="1559" y="3"/>
                  </a:cxn>
                  <a:cxn ang="0">
                    <a:pos x="1559" y="1559"/>
                  </a:cxn>
                  <a:cxn ang="0">
                    <a:pos x="0" y="1559"/>
                  </a:cxn>
                  <a:cxn ang="0">
                    <a:pos x="0" y="3"/>
                  </a:cxn>
                  <a:cxn ang="0">
                    <a:pos x="0" y="3"/>
                  </a:cxn>
                </a:cxnLst>
                <a:rect l="0" t="0" r="r" b="b"/>
                <a:pathLst>
                  <a:path w="1559" h="1559">
                    <a:moveTo>
                      <a:pt x="0" y="0"/>
                    </a:moveTo>
                    <a:lnTo>
                      <a:pt x="1559" y="3"/>
                    </a:lnTo>
                    <a:lnTo>
                      <a:pt x="1559" y="1559"/>
                    </a:lnTo>
                    <a:lnTo>
                      <a:pt x="0" y="1559"/>
                    </a:lnTo>
                    <a:lnTo>
                      <a:pt x="0" y="3"/>
                    </a:lnTo>
                    <a:lnTo>
                      <a:pt x="0" y="3"/>
                    </a:lnTo>
                  </a:path>
                </a:pathLst>
              </a:custGeom>
              <a:noFill/>
              <a:ln w="7938">
                <a:solidFill>
                  <a:srgbClr val="000000"/>
                </a:solidFill>
                <a:prstDash val="solid"/>
                <a:round/>
                <a:headEnd/>
                <a:tailEnd/>
              </a:ln>
            </p:spPr>
            <p:txBody>
              <a:bodyPr/>
              <a:lstStyle/>
              <a:p>
                <a:endParaRPr lang="zh-CN" altLang="en-US"/>
              </a:p>
            </p:txBody>
          </p:sp>
          <p:sp>
            <p:nvSpPr>
              <p:cNvPr id="213" name="Freeform 51"/>
              <p:cNvSpPr>
                <a:spLocks/>
              </p:cNvSpPr>
              <p:nvPr/>
            </p:nvSpPr>
            <p:spPr bwMode="auto">
              <a:xfrm>
                <a:off x="4076" y="2395"/>
                <a:ext cx="86" cy="48"/>
              </a:xfrm>
              <a:custGeom>
                <a:avLst/>
                <a:gdLst/>
                <a:ahLst/>
                <a:cxnLst>
                  <a:cxn ang="0">
                    <a:pos x="0" y="24"/>
                  </a:cxn>
                  <a:cxn ang="0">
                    <a:pos x="0" y="0"/>
                  </a:cxn>
                  <a:cxn ang="0">
                    <a:pos x="86" y="24"/>
                  </a:cxn>
                  <a:cxn ang="0">
                    <a:pos x="0" y="48"/>
                  </a:cxn>
                  <a:cxn ang="0">
                    <a:pos x="0" y="24"/>
                  </a:cxn>
                  <a:cxn ang="0">
                    <a:pos x="0" y="24"/>
                  </a:cxn>
                </a:cxnLst>
                <a:rect l="0" t="0" r="r" b="b"/>
                <a:pathLst>
                  <a:path w="86" h="48">
                    <a:moveTo>
                      <a:pt x="0" y="24"/>
                    </a:moveTo>
                    <a:lnTo>
                      <a:pt x="0" y="0"/>
                    </a:lnTo>
                    <a:lnTo>
                      <a:pt x="86"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14" name="Freeform 52"/>
              <p:cNvSpPr>
                <a:spLocks/>
              </p:cNvSpPr>
              <p:nvPr/>
            </p:nvSpPr>
            <p:spPr bwMode="auto">
              <a:xfrm>
                <a:off x="4076" y="2395"/>
                <a:ext cx="86" cy="48"/>
              </a:xfrm>
              <a:custGeom>
                <a:avLst/>
                <a:gdLst/>
                <a:ahLst/>
                <a:cxnLst>
                  <a:cxn ang="0">
                    <a:pos x="0" y="24"/>
                  </a:cxn>
                  <a:cxn ang="0">
                    <a:pos x="0" y="0"/>
                  </a:cxn>
                  <a:cxn ang="0">
                    <a:pos x="86" y="24"/>
                  </a:cxn>
                  <a:cxn ang="0">
                    <a:pos x="0" y="48"/>
                  </a:cxn>
                  <a:cxn ang="0">
                    <a:pos x="0" y="24"/>
                  </a:cxn>
                </a:cxnLst>
                <a:rect l="0" t="0" r="r" b="b"/>
                <a:pathLst>
                  <a:path w="86" h="48">
                    <a:moveTo>
                      <a:pt x="0" y="24"/>
                    </a:moveTo>
                    <a:lnTo>
                      <a:pt x="0" y="0"/>
                    </a:lnTo>
                    <a:lnTo>
                      <a:pt x="86"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215" name="Line 53"/>
              <p:cNvSpPr>
                <a:spLocks noChangeShapeType="1"/>
              </p:cNvSpPr>
              <p:nvPr/>
            </p:nvSpPr>
            <p:spPr bwMode="auto">
              <a:xfrm>
                <a:off x="3860" y="2419"/>
                <a:ext cx="214" cy="1"/>
              </a:xfrm>
              <a:prstGeom prst="line">
                <a:avLst/>
              </a:prstGeom>
              <a:noFill/>
              <a:ln w="7938">
                <a:solidFill>
                  <a:srgbClr val="00FF00"/>
                </a:solidFill>
                <a:round/>
                <a:headEnd/>
                <a:tailEnd/>
              </a:ln>
            </p:spPr>
            <p:txBody>
              <a:bodyPr/>
              <a:lstStyle/>
              <a:p>
                <a:endParaRPr lang="zh-CN" altLang="en-US"/>
              </a:p>
            </p:txBody>
          </p:sp>
          <p:sp>
            <p:nvSpPr>
              <p:cNvPr id="216" name="Freeform 54"/>
              <p:cNvSpPr>
                <a:spLocks/>
              </p:cNvSpPr>
              <p:nvPr/>
            </p:nvSpPr>
            <p:spPr bwMode="auto">
              <a:xfrm>
                <a:off x="3871" y="2451"/>
                <a:ext cx="85" cy="45"/>
              </a:xfrm>
              <a:custGeom>
                <a:avLst/>
                <a:gdLst/>
                <a:ahLst/>
                <a:cxnLst>
                  <a:cxn ang="0">
                    <a:pos x="80" y="24"/>
                  </a:cxn>
                  <a:cxn ang="0">
                    <a:pos x="85" y="45"/>
                  </a:cxn>
                  <a:cxn ang="0">
                    <a:pos x="0" y="43"/>
                  </a:cxn>
                  <a:cxn ang="0">
                    <a:pos x="74" y="0"/>
                  </a:cxn>
                  <a:cxn ang="0">
                    <a:pos x="80" y="24"/>
                  </a:cxn>
                  <a:cxn ang="0">
                    <a:pos x="80" y="24"/>
                  </a:cxn>
                </a:cxnLst>
                <a:rect l="0" t="0" r="r" b="b"/>
                <a:pathLst>
                  <a:path w="85" h="45">
                    <a:moveTo>
                      <a:pt x="80" y="24"/>
                    </a:moveTo>
                    <a:lnTo>
                      <a:pt x="85" y="45"/>
                    </a:lnTo>
                    <a:lnTo>
                      <a:pt x="0" y="43"/>
                    </a:lnTo>
                    <a:lnTo>
                      <a:pt x="74" y="0"/>
                    </a:lnTo>
                    <a:lnTo>
                      <a:pt x="80" y="24"/>
                    </a:lnTo>
                    <a:lnTo>
                      <a:pt x="80" y="24"/>
                    </a:lnTo>
                  </a:path>
                </a:pathLst>
              </a:custGeom>
              <a:noFill/>
              <a:ln w="7938">
                <a:solidFill>
                  <a:srgbClr val="00FF00"/>
                </a:solidFill>
                <a:prstDash val="solid"/>
                <a:round/>
                <a:headEnd/>
                <a:tailEnd/>
              </a:ln>
            </p:spPr>
            <p:txBody>
              <a:bodyPr/>
              <a:lstStyle/>
              <a:p>
                <a:endParaRPr lang="zh-CN" altLang="en-US"/>
              </a:p>
            </p:txBody>
          </p:sp>
          <p:sp>
            <p:nvSpPr>
              <p:cNvPr id="217" name="Freeform 55"/>
              <p:cNvSpPr>
                <a:spLocks/>
              </p:cNvSpPr>
              <p:nvPr/>
            </p:nvSpPr>
            <p:spPr bwMode="auto">
              <a:xfrm>
                <a:off x="3871" y="2451"/>
                <a:ext cx="85" cy="45"/>
              </a:xfrm>
              <a:custGeom>
                <a:avLst/>
                <a:gdLst/>
                <a:ahLst/>
                <a:cxnLst>
                  <a:cxn ang="0">
                    <a:pos x="80" y="21"/>
                  </a:cxn>
                  <a:cxn ang="0">
                    <a:pos x="85" y="45"/>
                  </a:cxn>
                  <a:cxn ang="0">
                    <a:pos x="0" y="43"/>
                  </a:cxn>
                  <a:cxn ang="0">
                    <a:pos x="74" y="0"/>
                  </a:cxn>
                  <a:cxn ang="0">
                    <a:pos x="80" y="21"/>
                  </a:cxn>
                </a:cxnLst>
                <a:rect l="0" t="0" r="r" b="b"/>
                <a:pathLst>
                  <a:path w="85" h="45">
                    <a:moveTo>
                      <a:pt x="80" y="21"/>
                    </a:moveTo>
                    <a:lnTo>
                      <a:pt x="85" y="45"/>
                    </a:lnTo>
                    <a:lnTo>
                      <a:pt x="0" y="43"/>
                    </a:lnTo>
                    <a:lnTo>
                      <a:pt x="74" y="0"/>
                    </a:lnTo>
                    <a:lnTo>
                      <a:pt x="80" y="21"/>
                    </a:lnTo>
                    <a:close/>
                  </a:path>
                </a:pathLst>
              </a:custGeom>
              <a:solidFill>
                <a:srgbClr val="00FF00"/>
              </a:solidFill>
              <a:ln w="9525">
                <a:noFill/>
                <a:round/>
                <a:headEnd/>
                <a:tailEnd/>
              </a:ln>
            </p:spPr>
            <p:txBody>
              <a:bodyPr/>
              <a:lstStyle/>
              <a:p>
                <a:endParaRPr lang="zh-CN" altLang="en-US"/>
              </a:p>
            </p:txBody>
          </p:sp>
          <p:sp>
            <p:nvSpPr>
              <p:cNvPr id="218" name="Line 56"/>
              <p:cNvSpPr>
                <a:spLocks noChangeShapeType="1"/>
              </p:cNvSpPr>
              <p:nvPr/>
            </p:nvSpPr>
            <p:spPr bwMode="auto">
              <a:xfrm flipH="1">
                <a:off x="3953" y="2419"/>
                <a:ext cx="217" cy="53"/>
              </a:xfrm>
              <a:prstGeom prst="line">
                <a:avLst/>
              </a:prstGeom>
              <a:noFill/>
              <a:ln w="7938">
                <a:solidFill>
                  <a:srgbClr val="00FF00"/>
                </a:solidFill>
                <a:round/>
                <a:headEnd/>
                <a:tailEnd/>
              </a:ln>
            </p:spPr>
            <p:txBody>
              <a:bodyPr/>
              <a:lstStyle/>
              <a:p>
                <a:endParaRPr lang="zh-CN" altLang="en-US"/>
              </a:p>
            </p:txBody>
          </p:sp>
          <p:sp>
            <p:nvSpPr>
              <p:cNvPr id="219" name="Freeform 57"/>
              <p:cNvSpPr>
                <a:spLocks/>
              </p:cNvSpPr>
              <p:nvPr/>
            </p:nvSpPr>
            <p:spPr bwMode="auto">
              <a:xfrm>
                <a:off x="4076" y="2472"/>
                <a:ext cx="86" cy="48"/>
              </a:xfrm>
              <a:custGeom>
                <a:avLst/>
                <a:gdLst/>
                <a:ahLst/>
                <a:cxnLst>
                  <a:cxn ang="0">
                    <a:pos x="0" y="24"/>
                  </a:cxn>
                  <a:cxn ang="0">
                    <a:pos x="0" y="0"/>
                  </a:cxn>
                  <a:cxn ang="0">
                    <a:pos x="86" y="24"/>
                  </a:cxn>
                  <a:cxn ang="0">
                    <a:pos x="0" y="48"/>
                  </a:cxn>
                  <a:cxn ang="0">
                    <a:pos x="0" y="24"/>
                  </a:cxn>
                  <a:cxn ang="0">
                    <a:pos x="0" y="24"/>
                  </a:cxn>
                </a:cxnLst>
                <a:rect l="0" t="0" r="r" b="b"/>
                <a:pathLst>
                  <a:path w="86" h="48">
                    <a:moveTo>
                      <a:pt x="0" y="24"/>
                    </a:moveTo>
                    <a:lnTo>
                      <a:pt x="0" y="0"/>
                    </a:lnTo>
                    <a:lnTo>
                      <a:pt x="86"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20" name="Freeform 58"/>
              <p:cNvSpPr>
                <a:spLocks/>
              </p:cNvSpPr>
              <p:nvPr/>
            </p:nvSpPr>
            <p:spPr bwMode="auto">
              <a:xfrm>
                <a:off x="4076" y="2472"/>
                <a:ext cx="86" cy="48"/>
              </a:xfrm>
              <a:custGeom>
                <a:avLst/>
                <a:gdLst/>
                <a:ahLst/>
                <a:cxnLst>
                  <a:cxn ang="0">
                    <a:pos x="0" y="24"/>
                  </a:cxn>
                  <a:cxn ang="0">
                    <a:pos x="0" y="0"/>
                  </a:cxn>
                  <a:cxn ang="0">
                    <a:pos x="86" y="24"/>
                  </a:cxn>
                  <a:cxn ang="0">
                    <a:pos x="0" y="48"/>
                  </a:cxn>
                  <a:cxn ang="0">
                    <a:pos x="0" y="24"/>
                  </a:cxn>
                </a:cxnLst>
                <a:rect l="0" t="0" r="r" b="b"/>
                <a:pathLst>
                  <a:path w="86" h="48">
                    <a:moveTo>
                      <a:pt x="0" y="24"/>
                    </a:moveTo>
                    <a:lnTo>
                      <a:pt x="0" y="0"/>
                    </a:lnTo>
                    <a:lnTo>
                      <a:pt x="86"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221" name="Line 59"/>
              <p:cNvSpPr>
                <a:spLocks noChangeShapeType="1"/>
              </p:cNvSpPr>
              <p:nvPr/>
            </p:nvSpPr>
            <p:spPr bwMode="auto">
              <a:xfrm>
                <a:off x="3860" y="2496"/>
                <a:ext cx="214" cy="1"/>
              </a:xfrm>
              <a:prstGeom prst="line">
                <a:avLst/>
              </a:prstGeom>
              <a:noFill/>
              <a:ln w="7938">
                <a:solidFill>
                  <a:srgbClr val="00FF00"/>
                </a:solidFill>
                <a:round/>
                <a:headEnd/>
                <a:tailEnd/>
              </a:ln>
            </p:spPr>
            <p:txBody>
              <a:bodyPr/>
              <a:lstStyle/>
              <a:p>
                <a:endParaRPr lang="zh-CN" altLang="en-US"/>
              </a:p>
            </p:txBody>
          </p:sp>
          <p:sp>
            <p:nvSpPr>
              <p:cNvPr id="222" name="Freeform 60"/>
              <p:cNvSpPr>
                <a:spLocks/>
              </p:cNvSpPr>
              <p:nvPr/>
            </p:nvSpPr>
            <p:spPr bwMode="auto">
              <a:xfrm>
                <a:off x="3871" y="2528"/>
                <a:ext cx="85" cy="46"/>
              </a:xfrm>
              <a:custGeom>
                <a:avLst/>
                <a:gdLst/>
                <a:ahLst/>
                <a:cxnLst>
                  <a:cxn ang="0">
                    <a:pos x="80" y="24"/>
                  </a:cxn>
                  <a:cxn ang="0">
                    <a:pos x="85" y="46"/>
                  </a:cxn>
                  <a:cxn ang="0">
                    <a:pos x="0" y="43"/>
                  </a:cxn>
                  <a:cxn ang="0">
                    <a:pos x="74" y="0"/>
                  </a:cxn>
                  <a:cxn ang="0">
                    <a:pos x="80" y="24"/>
                  </a:cxn>
                  <a:cxn ang="0">
                    <a:pos x="80" y="24"/>
                  </a:cxn>
                </a:cxnLst>
                <a:rect l="0" t="0" r="r" b="b"/>
                <a:pathLst>
                  <a:path w="85" h="46">
                    <a:moveTo>
                      <a:pt x="80" y="24"/>
                    </a:moveTo>
                    <a:lnTo>
                      <a:pt x="85" y="46"/>
                    </a:lnTo>
                    <a:lnTo>
                      <a:pt x="0" y="43"/>
                    </a:lnTo>
                    <a:lnTo>
                      <a:pt x="74" y="0"/>
                    </a:lnTo>
                    <a:lnTo>
                      <a:pt x="80" y="24"/>
                    </a:lnTo>
                    <a:lnTo>
                      <a:pt x="80" y="24"/>
                    </a:lnTo>
                  </a:path>
                </a:pathLst>
              </a:custGeom>
              <a:noFill/>
              <a:ln w="7938">
                <a:solidFill>
                  <a:srgbClr val="00FF00"/>
                </a:solidFill>
                <a:prstDash val="solid"/>
                <a:round/>
                <a:headEnd/>
                <a:tailEnd/>
              </a:ln>
            </p:spPr>
            <p:txBody>
              <a:bodyPr/>
              <a:lstStyle/>
              <a:p>
                <a:endParaRPr lang="zh-CN" altLang="en-US"/>
              </a:p>
            </p:txBody>
          </p:sp>
          <p:sp>
            <p:nvSpPr>
              <p:cNvPr id="223" name="Freeform 61"/>
              <p:cNvSpPr>
                <a:spLocks/>
              </p:cNvSpPr>
              <p:nvPr/>
            </p:nvSpPr>
            <p:spPr bwMode="auto">
              <a:xfrm>
                <a:off x="3871" y="2528"/>
                <a:ext cx="85" cy="46"/>
              </a:xfrm>
              <a:custGeom>
                <a:avLst/>
                <a:gdLst/>
                <a:ahLst/>
                <a:cxnLst>
                  <a:cxn ang="0">
                    <a:pos x="80" y="22"/>
                  </a:cxn>
                  <a:cxn ang="0">
                    <a:pos x="85" y="46"/>
                  </a:cxn>
                  <a:cxn ang="0">
                    <a:pos x="0" y="43"/>
                  </a:cxn>
                  <a:cxn ang="0">
                    <a:pos x="74" y="0"/>
                  </a:cxn>
                  <a:cxn ang="0">
                    <a:pos x="80" y="22"/>
                  </a:cxn>
                </a:cxnLst>
                <a:rect l="0" t="0" r="r" b="b"/>
                <a:pathLst>
                  <a:path w="85" h="46">
                    <a:moveTo>
                      <a:pt x="80" y="22"/>
                    </a:moveTo>
                    <a:lnTo>
                      <a:pt x="85" y="46"/>
                    </a:lnTo>
                    <a:lnTo>
                      <a:pt x="0" y="43"/>
                    </a:lnTo>
                    <a:lnTo>
                      <a:pt x="74" y="0"/>
                    </a:lnTo>
                    <a:lnTo>
                      <a:pt x="80" y="22"/>
                    </a:lnTo>
                    <a:close/>
                  </a:path>
                </a:pathLst>
              </a:custGeom>
              <a:solidFill>
                <a:srgbClr val="00FF00"/>
              </a:solidFill>
              <a:ln w="9525">
                <a:noFill/>
                <a:round/>
                <a:headEnd/>
                <a:tailEnd/>
              </a:ln>
            </p:spPr>
            <p:txBody>
              <a:bodyPr/>
              <a:lstStyle/>
              <a:p>
                <a:endParaRPr lang="zh-CN" altLang="en-US"/>
              </a:p>
            </p:txBody>
          </p:sp>
          <p:sp>
            <p:nvSpPr>
              <p:cNvPr id="224" name="Line 62"/>
              <p:cNvSpPr>
                <a:spLocks noChangeShapeType="1"/>
              </p:cNvSpPr>
              <p:nvPr/>
            </p:nvSpPr>
            <p:spPr bwMode="auto">
              <a:xfrm flipH="1">
                <a:off x="3953" y="2496"/>
                <a:ext cx="217" cy="54"/>
              </a:xfrm>
              <a:prstGeom prst="line">
                <a:avLst/>
              </a:prstGeom>
              <a:noFill/>
              <a:ln w="7938">
                <a:solidFill>
                  <a:srgbClr val="00FF00"/>
                </a:solidFill>
                <a:round/>
                <a:headEnd/>
                <a:tailEnd/>
              </a:ln>
            </p:spPr>
            <p:txBody>
              <a:bodyPr/>
              <a:lstStyle/>
              <a:p>
                <a:endParaRPr lang="zh-CN" altLang="en-US"/>
              </a:p>
            </p:txBody>
          </p:sp>
          <p:sp>
            <p:nvSpPr>
              <p:cNvPr id="225" name="Freeform 63"/>
              <p:cNvSpPr>
                <a:spLocks/>
              </p:cNvSpPr>
              <p:nvPr/>
            </p:nvSpPr>
            <p:spPr bwMode="auto">
              <a:xfrm>
                <a:off x="4076" y="2550"/>
                <a:ext cx="86" cy="48"/>
              </a:xfrm>
              <a:custGeom>
                <a:avLst/>
                <a:gdLst/>
                <a:ahLst/>
                <a:cxnLst>
                  <a:cxn ang="0">
                    <a:pos x="0" y="24"/>
                  </a:cxn>
                  <a:cxn ang="0">
                    <a:pos x="0" y="0"/>
                  </a:cxn>
                  <a:cxn ang="0">
                    <a:pos x="86" y="24"/>
                  </a:cxn>
                  <a:cxn ang="0">
                    <a:pos x="0" y="48"/>
                  </a:cxn>
                  <a:cxn ang="0">
                    <a:pos x="0" y="24"/>
                  </a:cxn>
                  <a:cxn ang="0">
                    <a:pos x="0" y="24"/>
                  </a:cxn>
                </a:cxnLst>
                <a:rect l="0" t="0" r="r" b="b"/>
                <a:pathLst>
                  <a:path w="86" h="48">
                    <a:moveTo>
                      <a:pt x="0" y="24"/>
                    </a:moveTo>
                    <a:lnTo>
                      <a:pt x="0" y="0"/>
                    </a:lnTo>
                    <a:lnTo>
                      <a:pt x="86"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26" name="Freeform 64"/>
              <p:cNvSpPr>
                <a:spLocks/>
              </p:cNvSpPr>
              <p:nvPr/>
            </p:nvSpPr>
            <p:spPr bwMode="auto">
              <a:xfrm>
                <a:off x="4076" y="2550"/>
                <a:ext cx="86" cy="48"/>
              </a:xfrm>
              <a:custGeom>
                <a:avLst/>
                <a:gdLst/>
                <a:ahLst/>
                <a:cxnLst>
                  <a:cxn ang="0">
                    <a:pos x="0" y="24"/>
                  </a:cxn>
                  <a:cxn ang="0">
                    <a:pos x="0" y="0"/>
                  </a:cxn>
                  <a:cxn ang="0">
                    <a:pos x="86" y="24"/>
                  </a:cxn>
                  <a:cxn ang="0">
                    <a:pos x="0" y="48"/>
                  </a:cxn>
                  <a:cxn ang="0">
                    <a:pos x="0" y="24"/>
                  </a:cxn>
                </a:cxnLst>
                <a:rect l="0" t="0" r="r" b="b"/>
                <a:pathLst>
                  <a:path w="86" h="48">
                    <a:moveTo>
                      <a:pt x="0" y="24"/>
                    </a:moveTo>
                    <a:lnTo>
                      <a:pt x="0" y="0"/>
                    </a:lnTo>
                    <a:lnTo>
                      <a:pt x="86"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227" name="Line 65"/>
              <p:cNvSpPr>
                <a:spLocks noChangeShapeType="1"/>
              </p:cNvSpPr>
              <p:nvPr/>
            </p:nvSpPr>
            <p:spPr bwMode="auto">
              <a:xfrm>
                <a:off x="3860" y="2574"/>
                <a:ext cx="214" cy="1"/>
              </a:xfrm>
              <a:prstGeom prst="line">
                <a:avLst/>
              </a:prstGeom>
              <a:noFill/>
              <a:ln w="7938">
                <a:solidFill>
                  <a:srgbClr val="00FF00"/>
                </a:solidFill>
                <a:round/>
                <a:headEnd/>
                <a:tailEnd/>
              </a:ln>
            </p:spPr>
            <p:txBody>
              <a:bodyPr/>
              <a:lstStyle/>
              <a:p>
                <a:endParaRPr lang="zh-CN" altLang="en-US"/>
              </a:p>
            </p:txBody>
          </p:sp>
          <p:sp>
            <p:nvSpPr>
              <p:cNvPr id="228" name="Freeform 66"/>
              <p:cNvSpPr>
                <a:spLocks/>
              </p:cNvSpPr>
              <p:nvPr/>
            </p:nvSpPr>
            <p:spPr bwMode="auto">
              <a:xfrm>
                <a:off x="3871" y="2606"/>
                <a:ext cx="85" cy="45"/>
              </a:xfrm>
              <a:custGeom>
                <a:avLst/>
                <a:gdLst/>
                <a:ahLst/>
                <a:cxnLst>
                  <a:cxn ang="0">
                    <a:pos x="80" y="24"/>
                  </a:cxn>
                  <a:cxn ang="0">
                    <a:pos x="85" y="45"/>
                  </a:cxn>
                  <a:cxn ang="0">
                    <a:pos x="0" y="43"/>
                  </a:cxn>
                  <a:cxn ang="0">
                    <a:pos x="74" y="0"/>
                  </a:cxn>
                  <a:cxn ang="0">
                    <a:pos x="80" y="24"/>
                  </a:cxn>
                  <a:cxn ang="0">
                    <a:pos x="80" y="24"/>
                  </a:cxn>
                </a:cxnLst>
                <a:rect l="0" t="0" r="r" b="b"/>
                <a:pathLst>
                  <a:path w="85" h="45">
                    <a:moveTo>
                      <a:pt x="80" y="24"/>
                    </a:moveTo>
                    <a:lnTo>
                      <a:pt x="85" y="45"/>
                    </a:lnTo>
                    <a:lnTo>
                      <a:pt x="0" y="43"/>
                    </a:lnTo>
                    <a:lnTo>
                      <a:pt x="74" y="0"/>
                    </a:lnTo>
                    <a:lnTo>
                      <a:pt x="80" y="24"/>
                    </a:lnTo>
                    <a:lnTo>
                      <a:pt x="80" y="24"/>
                    </a:lnTo>
                  </a:path>
                </a:pathLst>
              </a:custGeom>
              <a:noFill/>
              <a:ln w="7938">
                <a:solidFill>
                  <a:srgbClr val="00FF00"/>
                </a:solidFill>
                <a:prstDash val="solid"/>
                <a:round/>
                <a:headEnd/>
                <a:tailEnd/>
              </a:ln>
            </p:spPr>
            <p:txBody>
              <a:bodyPr/>
              <a:lstStyle/>
              <a:p>
                <a:endParaRPr lang="zh-CN" altLang="en-US"/>
              </a:p>
            </p:txBody>
          </p:sp>
          <p:sp>
            <p:nvSpPr>
              <p:cNvPr id="229" name="Freeform 67"/>
              <p:cNvSpPr>
                <a:spLocks/>
              </p:cNvSpPr>
              <p:nvPr/>
            </p:nvSpPr>
            <p:spPr bwMode="auto">
              <a:xfrm>
                <a:off x="3871" y="2606"/>
                <a:ext cx="85" cy="45"/>
              </a:xfrm>
              <a:custGeom>
                <a:avLst/>
                <a:gdLst/>
                <a:ahLst/>
                <a:cxnLst>
                  <a:cxn ang="0">
                    <a:pos x="80" y="21"/>
                  </a:cxn>
                  <a:cxn ang="0">
                    <a:pos x="85" y="45"/>
                  </a:cxn>
                  <a:cxn ang="0">
                    <a:pos x="0" y="43"/>
                  </a:cxn>
                  <a:cxn ang="0">
                    <a:pos x="74" y="0"/>
                  </a:cxn>
                  <a:cxn ang="0">
                    <a:pos x="80" y="21"/>
                  </a:cxn>
                </a:cxnLst>
                <a:rect l="0" t="0" r="r" b="b"/>
                <a:pathLst>
                  <a:path w="85" h="45">
                    <a:moveTo>
                      <a:pt x="80" y="21"/>
                    </a:moveTo>
                    <a:lnTo>
                      <a:pt x="85" y="45"/>
                    </a:lnTo>
                    <a:lnTo>
                      <a:pt x="0" y="43"/>
                    </a:lnTo>
                    <a:lnTo>
                      <a:pt x="74" y="0"/>
                    </a:lnTo>
                    <a:lnTo>
                      <a:pt x="80" y="21"/>
                    </a:lnTo>
                    <a:close/>
                  </a:path>
                </a:pathLst>
              </a:custGeom>
              <a:solidFill>
                <a:srgbClr val="00FF00"/>
              </a:solidFill>
              <a:ln w="9525">
                <a:noFill/>
                <a:round/>
                <a:headEnd/>
                <a:tailEnd/>
              </a:ln>
            </p:spPr>
            <p:txBody>
              <a:bodyPr/>
              <a:lstStyle/>
              <a:p>
                <a:endParaRPr lang="zh-CN" altLang="en-US"/>
              </a:p>
            </p:txBody>
          </p:sp>
          <p:sp>
            <p:nvSpPr>
              <p:cNvPr id="230" name="Line 68"/>
              <p:cNvSpPr>
                <a:spLocks noChangeShapeType="1"/>
              </p:cNvSpPr>
              <p:nvPr/>
            </p:nvSpPr>
            <p:spPr bwMode="auto">
              <a:xfrm flipH="1">
                <a:off x="3953" y="2574"/>
                <a:ext cx="217" cy="56"/>
              </a:xfrm>
              <a:prstGeom prst="line">
                <a:avLst/>
              </a:prstGeom>
              <a:noFill/>
              <a:ln w="7938">
                <a:solidFill>
                  <a:srgbClr val="00FF00"/>
                </a:solidFill>
                <a:round/>
                <a:headEnd/>
                <a:tailEnd/>
              </a:ln>
            </p:spPr>
            <p:txBody>
              <a:bodyPr/>
              <a:lstStyle/>
              <a:p>
                <a:endParaRPr lang="zh-CN" altLang="en-US"/>
              </a:p>
            </p:txBody>
          </p:sp>
          <p:sp>
            <p:nvSpPr>
              <p:cNvPr id="231" name="Freeform 69"/>
              <p:cNvSpPr>
                <a:spLocks/>
              </p:cNvSpPr>
              <p:nvPr/>
            </p:nvSpPr>
            <p:spPr bwMode="auto">
              <a:xfrm>
                <a:off x="4076" y="2627"/>
                <a:ext cx="86" cy="48"/>
              </a:xfrm>
              <a:custGeom>
                <a:avLst/>
                <a:gdLst/>
                <a:ahLst/>
                <a:cxnLst>
                  <a:cxn ang="0">
                    <a:pos x="0" y="24"/>
                  </a:cxn>
                  <a:cxn ang="0">
                    <a:pos x="0" y="0"/>
                  </a:cxn>
                  <a:cxn ang="0">
                    <a:pos x="86" y="24"/>
                  </a:cxn>
                  <a:cxn ang="0">
                    <a:pos x="0" y="48"/>
                  </a:cxn>
                  <a:cxn ang="0">
                    <a:pos x="0" y="24"/>
                  </a:cxn>
                  <a:cxn ang="0">
                    <a:pos x="0" y="24"/>
                  </a:cxn>
                </a:cxnLst>
                <a:rect l="0" t="0" r="r" b="b"/>
                <a:pathLst>
                  <a:path w="86" h="48">
                    <a:moveTo>
                      <a:pt x="0" y="24"/>
                    </a:moveTo>
                    <a:lnTo>
                      <a:pt x="0" y="0"/>
                    </a:lnTo>
                    <a:lnTo>
                      <a:pt x="86"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32" name="Freeform 70"/>
              <p:cNvSpPr>
                <a:spLocks/>
              </p:cNvSpPr>
              <p:nvPr/>
            </p:nvSpPr>
            <p:spPr bwMode="auto">
              <a:xfrm>
                <a:off x="4076" y="2627"/>
                <a:ext cx="86" cy="48"/>
              </a:xfrm>
              <a:custGeom>
                <a:avLst/>
                <a:gdLst/>
                <a:ahLst/>
                <a:cxnLst>
                  <a:cxn ang="0">
                    <a:pos x="0" y="24"/>
                  </a:cxn>
                  <a:cxn ang="0">
                    <a:pos x="0" y="0"/>
                  </a:cxn>
                  <a:cxn ang="0">
                    <a:pos x="86" y="24"/>
                  </a:cxn>
                  <a:cxn ang="0">
                    <a:pos x="0" y="48"/>
                  </a:cxn>
                  <a:cxn ang="0">
                    <a:pos x="0" y="24"/>
                  </a:cxn>
                </a:cxnLst>
                <a:rect l="0" t="0" r="r" b="b"/>
                <a:pathLst>
                  <a:path w="86" h="48">
                    <a:moveTo>
                      <a:pt x="0" y="24"/>
                    </a:moveTo>
                    <a:lnTo>
                      <a:pt x="0" y="0"/>
                    </a:lnTo>
                    <a:lnTo>
                      <a:pt x="86"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233" name="Line 71"/>
              <p:cNvSpPr>
                <a:spLocks noChangeShapeType="1"/>
              </p:cNvSpPr>
              <p:nvPr/>
            </p:nvSpPr>
            <p:spPr bwMode="auto">
              <a:xfrm>
                <a:off x="3860" y="2651"/>
                <a:ext cx="214" cy="1"/>
              </a:xfrm>
              <a:prstGeom prst="line">
                <a:avLst/>
              </a:prstGeom>
              <a:noFill/>
              <a:ln w="7938">
                <a:solidFill>
                  <a:srgbClr val="00FF00"/>
                </a:solidFill>
                <a:round/>
                <a:headEnd/>
                <a:tailEnd/>
              </a:ln>
            </p:spPr>
            <p:txBody>
              <a:bodyPr/>
              <a:lstStyle/>
              <a:p>
                <a:endParaRPr lang="zh-CN" altLang="en-US"/>
              </a:p>
            </p:txBody>
          </p:sp>
          <p:sp>
            <p:nvSpPr>
              <p:cNvPr id="234" name="Freeform 72"/>
              <p:cNvSpPr>
                <a:spLocks/>
              </p:cNvSpPr>
              <p:nvPr/>
            </p:nvSpPr>
            <p:spPr bwMode="auto">
              <a:xfrm>
                <a:off x="3871" y="2683"/>
                <a:ext cx="85" cy="48"/>
              </a:xfrm>
              <a:custGeom>
                <a:avLst/>
                <a:gdLst/>
                <a:ahLst/>
                <a:cxnLst>
                  <a:cxn ang="0">
                    <a:pos x="80" y="24"/>
                  </a:cxn>
                  <a:cxn ang="0">
                    <a:pos x="85" y="48"/>
                  </a:cxn>
                  <a:cxn ang="0">
                    <a:pos x="0" y="43"/>
                  </a:cxn>
                  <a:cxn ang="0">
                    <a:pos x="74" y="0"/>
                  </a:cxn>
                  <a:cxn ang="0">
                    <a:pos x="80" y="24"/>
                  </a:cxn>
                  <a:cxn ang="0">
                    <a:pos x="80" y="24"/>
                  </a:cxn>
                </a:cxnLst>
                <a:rect l="0" t="0" r="r" b="b"/>
                <a:pathLst>
                  <a:path w="85" h="48">
                    <a:moveTo>
                      <a:pt x="80" y="24"/>
                    </a:moveTo>
                    <a:lnTo>
                      <a:pt x="85" y="48"/>
                    </a:lnTo>
                    <a:lnTo>
                      <a:pt x="0" y="43"/>
                    </a:lnTo>
                    <a:lnTo>
                      <a:pt x="74" y="0"/>
                    </a:lnTo>
                    <a:lnTo>
                      <a:pt x="80" y="24"/>
                    </a:lnTo>
                    <a:lnTo>
                      <a:pt x="80" y="24"/>
                    </a:lnTo>
                  </a:path>
                </a:pathLst>
              </a:custGeom>
              <a:noFill/>
              <a:ln w="7938">
                <a:solidFill>
                  <a:srgbClr val="00FF00"/>
                </a:solidFill>
                <a:prstDash val="solid"/>
                <a:round/>
                <a:headEnd/>
                <a:tailEnd/>
              </a:ln>
            </p:spPr>
            <p:txBody>
              <a:bodyPr/>
              <a:lstStyle/>
              <a:p>
                <a:endParaRPr lang="zh-CN" altLang="en-US"/>
              </a:p>
            </p:txBody>
          </p:sp>
          <p:sp>
            <p:nvSpPr>
              <p:cNvPr id="235" name="Freeform 73"/>
              <p:cNvSpPr>
                <a:spLocks/>
              </p:cNvSpPr>
              <p:nvPr/>
            </p:nvSpPr>
            <p:spPr bwMode="auto">
              <a:xfrm>
                <a:off x="3871" y="2683"/>
                <a:ext cx="85" cy="48"/>
              </a:xfrm>
              <a:custGeom>
                <a:avLst/>
                <a:gdLst/>
                <a:ahLst/>
                <a:cxnLst>
                  <a:cxn ang="0">
                    <a:pos x="80" y="22"/>
                  </a:cxn>
                  <a:cxn ang="0">
                    <a:pos x="85" y="48"/>
                  </a:cxn>
                  <a:cxn ang="0">
                    <a:pos x="0" y="43"/>
                  </a:cxn>
                  <a:cxn ang="0">
                    <a:pos x="74" y="0"/>
                  </a:cxn>
                  <a:cxn ang="0">
                    <a:pos x="80" y="22"/>
                  </a:cxn>
                </a:cxnLst>
                <a:rect l="0" t="0" r="r" b="b"/>
                <a:pathLst>
                  <a:path w="85" h="48">
                    <a:moveTo>
                      <a:pt x="80" y="22"/>
                    </a:moveTo>
                    <a:lnTo>
                      <a:pt x="85" y="48"/>
                    </a:lnTo>
                    <a:lnTo>
                      <a:pt x="0" y="43"/>
                    </a:lnTo>
                    <a:lnTo>
                      <a:pt x="74" y="0"/>
                    </a:lnTo>
                    <a:lnTo>
                      <a:pt x="80" y="22"/>
                    </a:lnTo>
                    <a:close/>
                  </a:path>
                </a:pathLst>
              </a:custGeom>
              <a:solidFill>
                <a:srgbClr val="00FF00"/>
              </a:solidFill>
              <a:ln w="9525">
                <a:noFill/>
                <a:round/>
                <a:headEnd/>
                <a:tailEnd/>
              </a:ln>
            </p:spPr>
            <p:txBody>
              <a:bodyPr/>
              <a:lstStyle/>
              <a:p>
                <a:endParaRPr lang="zh-CN" altLang="en-US"/>
              </a:p>
            </p:txBody>
          </p:sp>
          <p:sp>
            <p:nvSpPr>
              <p:cNvPr id="236" name="Line 74"/>
              <p:cNvSpPr>
                <a:spLocks noChangeShapeType="1"/>
              </p:cNvSpPr>
              <p:nvPr/>
            </p:nvSpPr>
            <p:spPr bwMode="auto">
              <a:xfrm flipH="1">
                <a:off x="3953" y="2651"/>
                <a:ext cx="217" cy="56"/>
              </a:xfrm>
              <a:prstGeom prst="line">
                <a:avLst/>
              </a:prstGeom>
              <a:noFill/>
              <a:ln w="7938">
                <a:solidFill>
                  <a:srgbClr val="00FF00"/>
                </a:solidFill>
                <a:round/>
                <a:headEnd/>
                <a:tailEnd/>
              </a:ln>
            </p:spPr>
            <p:txBody>
              <a:bodyPr/>
              <a:lstStyle/>
              <a:p>
                <a:endParaRPr lang="zh-CN" altLang="en-US"/>
              </a:p>
            </p:txBody>
          </p:sp>
          <p:sp>
            <p:nvSpPr>
              <p:cNvPr id="237" name="Freeform 75"/>
              <p:cNvSpPr>
                <a:spLocks/>
              </p:cNvSpPr>
              <p:nvPr/>
            </p:nvSpPr>
            <p:spPr bwMode="auto">
              <a:xfrm>
                <a:off x="4076" y="2705"/>
                <a:ext cx="86" cy="48"/>
              </a:xfrm>
              <a:custGeom>
                <a:avLst/>
                <a:gdLst/>
                <a:ahLst/>
                <a:cxnLst>
                  <a:cxn ang="0">
                    <a:pos x="0" y="24"/>
                  </a:cxn>
                  <a:cxn ang="0">
                    <a:pos x="0" y="0"/>
                  </a:cxn>
                  <a:cxn ang="0">
                    <a:pos x="86" y="24"/>
                  </a:cxn>
                  <a:cxn ang="0">
                    <a:pos x="0" y="48"/>
                  </a:cxn>
                  <a:cxn ang="0">
                    <a:pos x="0" y="24"/>
                  </a:cxn>
                  <a:cxn ang="0">
                    <a:pos x="0" y="24"/>
                  </a:cxn>
                </a:cxnLst>
                <a:rect l="0" t="0" r="r" b="b"/>
                <a:pathLst>
                  <a:path w="86" h="48">
                    <a:moveTo>
                      <a:pt x="0" y="24"/>
                    </a:moveTo>
                    <a:lnTo>
                      <a:pt x="0" y="0"/>
                    </a:lnTo>
                    <a:lnTo>
                      <a:pt x="86"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238" name="Freeform 76"/>
              <p:cNvSpPr>
                <a:spLocks/>
              </p:cNvSpPr>
              <p:nvPr/>
            </p:nvSpPr>
            <p:spPr bwMode="auto">
              <a:xfrm>
                <a:off x="4076" y="2705"/>
                <a:ext cx="86" cy="48"/>
              </a:xfrm>
              <a:custGeom>
                <a:avLst/>
                <a:gdLst/>
                <a:ahLst/>
                <a:cxnLst>
                  <a:cxn ang="0">
                    <a:pos x="0" y="24"/>
                  </a:cxn>
                  <a:cxn ang="0">
                    <a:pos x="0" y="0"/>
                  </a:cxn>
                  <a:cxn ang="0">
                    <a:pos x="86" y="24"/>
                  </a:cxn>
                  <a:cxn ang="0">
                    <a:pos x="0" y="48"/>
                  </a:cxn>
                  <a:cxn ang="0">
                    <a:pos x="0" y="24"/>
                  </a:cxn>
                </a:cxnLst>
                <a:rect l="0" t="0" r="r" b="b"/>
                <a:pathLst>
                  <a:path w="86" h="48">
                    <a:moveTo>
                      <a:pt x="0" y="24"/>
                    </a:moveTo>
                    <a:lnTo>
                      <a:pt x="0" y="0"/>
                    </a:lnTo>
                    <a:lnTo>
                      <a:pt x="86"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239" name="Line 77"/>
              <p:cNvSpPr>
                <a:spLocks noChangeShapeType="1"/>
              </p:cNvSpPr>
              <p:nvPr/>
            </p:nvSpPr>
            <p:spPr bwMode="auto">
              <a:xfrm>
                <a:off x="3860" y="2729"/>
                <a:ext cx="214" cy="1"/>
              </a:xfrm>
              <a:prstGeom prst="line">
                <a:avLst/>
              </a:prstGeom>
              <a:noFill/>
              <a:ln w="7938">
                <a:solidFill>
                  <a:srgbClr val="00FF00"/>
                </a:solidFill>
                <a:round/>
                <a:headEnd/>
                <a:tailEnd/>
              </a:ln>
            </p:spPr>
            <p:txBody>
              <a:bodyPr/>
              <a:lstStyle/>
              <a:p>
                <a:endParaRPr lang="zh-CN" altLang="en-US"/>
              </a:p>
            </p:txBody>
          </p:sp>
          <p:sp>
            <p:nvSpPr>
              <p:cNvPr id="240" name="Line 78"/>
              <p:cNvSpPr>
                <a:spLocks noChangeShapeType="1"/>
              </p:cNvSpPr>
              <p:nvPr/>
            </p:nvSpPr>
            <p:spPr bwMode="auto">
              <a:xfrm>
                <a:off x="3429" y="2467"/>
                <a:ext cx="1560" cy="2"/>
              </a:xfrm>
              <a:prstGeom prst="line">
                <a:avLst/>
              </a:prstGeom>
              <a:noFill/>
              <a:ln w="7938">
                <a:solidFill>
                  <a:srgbClr val="808080"/>
                </a:solidFill>
                <a:round/>
                <a:headEnd/>
                <a:tailEnd/>
              </a:ln>
            </p:spPr>
            <p:txBody>
              <a:bodyPr/>
              <a:lstStyle/>
              <a:p>
                <a:endParaRPr lang="zh-CN" altLang="en-US"/>
              </a:p>
            </p:txBody>
          </p:sp>
          <p:sp>
            <p:nvSpPr>
              <p:cNvPr id="241" name="Line 79"/>
              <p:cNvSpPr>
                <a:spLocks noChangeShapeType="1"/>
              </p:cNvSpPr>
              <p:nvPr/>
            </p:nvSpPr>
            <p:spPr bwMode="auto">
              <a:xfrm>
                <a:off x="3432" y="2547"/>
                <a:ext cx="1557" cy="1"/>
              </a:xfrm>
              <a:prstGeom prst="line">
                <a:avLst/>
              </a:prstGeom>
              <a:noFill/>
              <a:ln w="7938">
                <a:solidFill>
                  <a:srgbClr val="808080"/>
                </a:solidFill>
                <a:round/>
                <a:headEnd/>
                <a:tailEnd/>
              </a:ln>
            </p:spPr>
            <p:txBody>
              <a:bodyPr/>
              <a:lstStyle/>
              <a:p>
                <a:endParaRPr lang="zh-CN" altLang="en-US"/>
              </a:p>
            </p:txBody>
          </p:sp>
          <p:sp>
            <p:nvSpPr>
              <p:cNvPr id="242" name="Line 80"/>
              <p:cNvSpPr>
                <a:spLocks noChangeShapeType="1"/>
              </p:cNvSpPr>
              <p:nvPr/>
            </p:nvSpPr>
            <p:spPr bwMode="auto">
              <a:xfrm>
                <a:off x="3432" y="2625"/>
                <a:ext cx="1557" cy="1"/>
              </a:xfrm>
              <a:prstGeom prst="line">
                <a:avLst/>
              </a:prstGeom>
              <a:noFill/>
              <a:ln w="7938">
                <a:solidFill>
                  <a:srgbClr val="808080"/>
                </a:solidFill>
                <a:round/>
                <a:headEnd/>
                <a:tailEnd/>
              </a:ln>
            </p:spPr>
            <p:txBody>
              <a:bodyPr/>
              <a:lstStyle/>
              <a:p>
                <a:endParaRPr lang="zh-CN" altLang="en-US"/>
              </a:p>
            </p:txBody>
          </p:sp>
          <p:sp>
            <p:nvSpPr>
              <p:cNvPr id="243" name="Line 81"/>
              <p:cNvSpPr>
                <a:spLocks noChangeShapeType="1"/>
              </p:cNvSpPr>
              <p:nvPr/>
            </p:nvSpPr>
            <p:spPr bwMode="auto">
              <a:xfrm>
                <a:off x="3432" y="2702"/>
                <a:ext cx="1557" cy="1"/>
              </a:xfrm>
              <a:prstGeom prst="line">
                <a:avLst/>
              </a:prstGeom>
              <a:noFill/>
              <a:ln w="7938">
                <a:solidFill>
                  <a:srgbClr val="808080"/>
                </a:solidFill>
                <a:round/>
                <a:headEnd/>
                <a:tailEnd/>
              </a:ln>
            </p:spPr>
            <p:txBody>
              <a:bodyPr/>
              <a:lstStyle/>
              <a:p>
                <a:endParaRPr lang="zh-CN" altLang="en-US"/>
              </a:p>
            </p:txBody>
          </p:sp>
          <p:sp>
            <p:nvSpPr>
              <p:cNvPr id="244" name="Line 82"/>
              <p:cNvSpPr>
                <a:spLocks noChangeShapeType="1"/>
              </p:cNvSpPr>
              <p:nvPr/>
            </p:nvSpPr>
            <p:spPr bwMode="auto">
              <a:xfrm>
                <a:off x="3432" y="2857"/>
                <a:ext cx="1557" cy="1"/>
              </a:xfrm>
              <a:prstGeom prst="line">
                <a:avLst/>
              </a:prstGeom>
              <a:noFill/>
              <a:ln w="7938">
                <a:solidFill>
                  <a:srgbClr val="808080"/>
                </a:solidFill>
                <a:round/>
                <a:headEnd/>
                <a:tailEnd/>
              </a:ln>
            </p:spPr>
            <p:txBody>
              <a:bodyPr/>
              <a:lstStyle/>
              <a:p>
                <a:endParaRPr lang="zh-CN" altLang="en-US"/>
              </a:p>
            </p:txBody>
          </p:sp>
          <p:sp>
            <p:nvSpPr>
              <p:cNvPr id="245" name="Line 83"/>
              <p:cNvSpPr>
                <a:spLocks noChangeShapeType="1"/>
              </p:cNvSpPr>
              <p:nvPr/>
            </p:nvSpPr>
            <p:spPr bwMode="auto">
              <a:xfrm>
                <a:off x="3432" y="2935"/>
                <a:ext cx="1557" cy="1"/>
              </a:xfrm>
              <a:prstGeom prst="line">
                <a:avLst/>
              </a:prstGeom>
              <a:noFill/>
              <a:ln w="7938">
                <a:solidFill>
                  <a:srgbClr val="808080"/>
                </a:solidFill>
                <a:round/>
                <a:headEnd/>
                <a:tailEnd/>
              </a:ln>
            </p:spPr>
            <p:txBody>
              <a:bodyPr/>
              <a:lstStyle/>
              <a:p>
                <a:endParaRPr lang="zh-CN" altLang="en-US"/>
              </a:p>
            </p:txBody>
          </p:sp>
          <p:sp>
            <p:nvSpPr>
              <p:cNvPr id="246" name="Line 84"/>
              <p:cNvSpPr>
                <a:spLocks noChangeShapeType="1"/>
              </p:cNvSpPr>
              <p:nvPr/>
            </p:nvSpPr>
            <p:spPr bwMode="auto">
              <a:xfrm>
                <a:off x="3432" y="3015"/>
                <a:ext cx="1557" cy="1"/>
              </a:xfrm>
              <a:prstGeom prst="line">
                <a:avLst/>
              </a:prstGeom>
              <a:noFill/>
              <a:ln w="7938">
                <a:solidFill>
                  <a:srgbClr val="808080"/>
                </a:solidFill>
                <a:round/>
                <a:headEnd/>
                <a:tailEnd/>
              </a:ln>
            </p:spPr>
            <p:txBody>
              <a:bodyPr/>
              <a:lstStyle/>
              <a:p>
                <a:endParaRPr lang="zh-CN" altLang="en-US"/>
              </a:p>
            </p:txBody>
          </p:sp>
          <p:sp>
            <p:nvSpPr>
              <p:cNvPr id="247" name="Line 85"/>
              <p:cNvSpPr>
                <a:spLocks noChangeShapeType="1"/>
              </p:cNvSpPr>
              <p:nvPr/>
            </p:nvSpPr>
            <p:spPr bwMode="auto">
              <a:xfrm>
                <a:off x="3432" y="3092"/>
                <a:ext cx="1557" cy="1"/>
              </a:xfrm>
              <a:prstGeom prst="line">
                <a:avLst/>
              </a:prstGeom>
              <a:noFill/>
              <a:ln w="7938">
                <a:solidFill>
                  <a:srgbClr val="808080"/>
                </a:solidFill>
                <a:round/>
                <a:headEnd/>
                <a:tailEnd/>
              </a:ln>
            </p:spPr>
            <p:txBody>
              <a:bodyPr/>
              <a:lstStyle/>
              <a:p>
                <a:endParaRPr lang="zh-CN" altLang="en-US"/>
              </a:p>
            </p:txBody>
          </p:sp>
          <p:sp>
            <p:nvSpPr>
              <p:cNvPr id="248" name="Line 86"/>
              <p:cNvSpPr>
                <a:spLocks noChangeShapeType="1"/>
              </p:cNvSpPr>
              <p:nvPr/>
            </p:nvSpPr>
            <p:spPr bwMode="auto">
              <a:xfrm>
                <a:off x="3432" y="3247"/>
                <a:ext cx="1557" cy="1"/>
              </a:xfrm>
              <a:prstGeom prst="line">
                <a:avLst/>
              </a:prstGeom>
              <a:noFill/>
              <a:ln w="7938">
                <a:solidFill>
                  <a:srgbClr val="808080"/>
                </a:solidFill>
                <a:round/>
                <a:headEnd/>
                <a:tailEnd/>
              </a:ln>
            </p:spPr>
            <p:txBody>
              <a:bodyPr/>
              <a:lstStyle/>
              <a:p>
                <a:endParaRPr lang="zh-CN" altLang="en-US"/>
              </a:p>
            </p:txBody>
          </p:sp>
          <p:sp>
            <p:nvSpPr>
              <p:cNvPr id="249" name="Line 87"/>
              <p:cNvSpPr>
                <a:spLocks noChangeShapeType="1"/>
              </p:cNvSpPr>
              <p:nvPr/>
            </p:nvSpPr>
            <p:spPr bwMode="auto">
              <a:xfrm>
                <a:off x="3432" y="3325"/>
                <a:ext cx="1557" cy="1"/>
              </a:xfrm>
              <a:prstGeom prst="line">
                <a:avLst/>
              </a:prstGeom>
              <a:noFill/>
              <a:ln w="7938">
                <a:solidFill>
                  <a:srgbClr val="808080"/>
                </a:solidFill>
                <a:round/>
                <a:headEnd/>
                <a:tailEnd/>
              </a:ln>
            </p:spPr>
            <p:txBody>
              <a:bodyPr/>
              <a:lstStyle/>
              <a:p>
                <a:endParaRPr lang="zh-CN" altLang="en-US"/>
              </a:p>
            </p:txBody>
          </p:sp>
          <p:sp>
            <p:nvSpPr>
              <p:cNvPr id="250" name="Line 88"/>
              <p:cNvSpPr>
                <a:spLocks noChangeShapeType="1"/>
              </p:cNvSpPr>
              <p:nvPr/>
            </p:nvSpPr>
            <p:spPr bwMode="auto">
              <a:xfrm>
                <a:off x="3432" y="3402"/>
                <a:ext cx="1557" cy="1"/>
              </a:xfrm>
              <a:prstGeom prst="line">
                <a:avLst/>
              </a:prstGeom>
              <a:noFill/>
              <a:ln w="7938">
                <a:solidFill>
                  <a:srgbClr val="808080"/>
                </a:solidFill>
                <a:round/>
                <a:headEnd/>
                <a:tailEnd/>
              </a:ln>
            </p:spPr>
            <p:txBody>
              <a:bodyPr/>
              <a:lstStyle/>
              <a:p>
                <a:endParaRPr lang="zh-CN" altLang="en-US"/>
              </a:p>
            </p:txBody>
          </p:sp>
          <p:sp>
            <p:nvSpPr>
              <p:cNvPr id="251" name="Line 89"/>
              <p:cNvSpPr>
                <a:spLocks noChangeShapeType="1"/>
              </p:cNvSpPr>
              <p:nvPr/>
            </p:nvSpPr>
            <p:spPr bwMode="auto">
              <a:xfrm>
                <a:off x="3432" y="3480"/>
                <a:ext cx="1557" cy="1"/>
              </a:xfrm>
              <a:prstGeom prst="line">
                <a:avLst/>
              </a:prstGeom>
              <a:noFill/>
              <a:ln w="7938">
                <a:solidFill>
                  <a:srgbClr val="808080"/>
                </a:solidFill>
                <a:round/>
                <a:headEnd/>
                <a:tailEnd/>
              </a:ln>
            </p:spPr>
            <p:txBody>
              <a:bodyPr/>
              <a:lstStyle/>
              <a:p>
                <a:endParaRPr lang="zh-CN" altLang="en-US"/>
              </a:p>
            </p:txBody>
          </p:sp>
          <p:sp>
            <p:nvSpPr>
              <p:cNvPr id="252" name="Line 90"/>
              <p:cNvSpPr>
                <a:spLocks noChangeShapeType="1"/>
              </p:cNvSpPr>
              <p:nvPr/>
            </p:nvSpPr>
            <p:spPr bwMode="auto">
              <a:xfrm>
                <a:off x="3432" y="3635"/>
                <a:ext cx="1557" cy="1"/>
              </a:xfrm>
              <a:prstGeom prst="line">
                <a:avLst/>
              </a:prstGeom>
              <a:noFill/>
              <a:ln w="7938">
                <a:solidFill>
                  <a:srgbClr val="808080"/>
                </a:solidFill>
                <a:round/>
                <a:headEnd/>
                <a:tailEnd/>
              </a:ln>
            </p:spPr>
            <p:txBody>
              <a:bodyPr/>
              <a:lstStyle/>
              <a:p>
                <a:endParaRPr lang="zh-CN" altLang="en-US"/>
              </a:p>
            </p:txBody>
          </p:sp>
          <p:sp>
            <p:nvSpPr>
              <p:cNvPr id="253" name="Line 91"/>
              <p:cNvSpPr>
                <a:spLocks noChangeShapeType="1"/>
              </p:cNvSpPr>
              <p:nvPr/>
            </p:nvSpPr>
            <p:spPr bwMode="auto">
              <a:xfrm>
                <a:off x="3432" y="3713"/>
                <a:ext cx="1557" cy="1"/>
              </a:xfrm>
              <a:prstGeom prst="line">
                <a:avLst/>
              </a:prstGeom>
              <a:noFill/>
              <a:ln w="7938">
                <a:solidFill>
                  <a:srgbClr val="808080"/>
                </a:solidFill>
                <a:round/>
                <a:headEnd/>
                <a:tailEnd/>
              </a:ln>
            </p:spPr>
            <p:txBody>
              <a:bodyPr/>
              <a:lstStyle/>
              <a:p>
                <a:endParaRPr lang="zh-CN" altLang="en-US"/>
              </a:p>
            </p:txBody>
          </p:sp>
          <p:sp>
            <p:nvSpPr>
              <p:cNvPr id="254" name="Line 92"/>
              <p:cNvSpPr>
                <a:spLocks noChangeShapeType="1"/>
              </p:cNvSpPr>
              <p:nvPr/>
            </p:nvSpPr>
            <p:spPr bwMode="auto">
              <a:xfrm>
                <a:off x="3432" y="3793"/>
                <a:ext cx="1557" cy="1"/>
              </a:xfrm>
              <a:prstGeom prst="line">
                <a:avLst/>
              </a:prstGeom>
              <a:noFill/>
              <a:ln w="7938">
                <a:solidFill>
                  <a:srgbClr val="808080"/>
                </a:solidFill>
                <a:round/>
                <a:headEnd/>
                <a:tailEnd/>
              </a:ln>
            </p:spPr>
            <p:txBody>
              <a:bodyPr/>
              <a:lstStyle/>
              <a:p>
                <a:endParaRPr lang="zh-CN" altLang="en-US"/>
              </a:p>
            </p:txBody>
          </p:sp>
          <p:sp>
            <p:nvSpPr>
              <p:cNvPr id="255" name="Line 93"/>
              <p:cNvSpPr>
                <a:spLocks noChangeShapeType="1"/>
              </p:cNvSpPr>
              <p:nvPr/>
            </p:nvSpPr>
            <p:spPr bwMode="auto">
              <a:xfrm>
                <a:off x="3432" y="3870"/>
                <a:ext cx="1557" cy="1"/>
              </a:xfrm>
              <a:prstGeom prst="line">
                <a:avLst/>
              </a:prstGeom>
              <a:noFill/>
              <a:ln w="7938">
                <a:solidFill>
                  <a:srgbClr val="808080"/>
                </a:solidFill>
                <a:round/>
                <a:headEnd/>
                <a:tailEnd/>
              </a:ln>
            </p:spPr>
            <p:txBody>
              <a:bodyPr/>
              <a:lstStyle/>
              <a:p>
                <a:endParaRPr lang="zh-CN" altLang="en-US"/>
              </a:p>
            </p:txBody>
          </p:sp>
          <p:sp>
            <p:nvSpPr>
              <p:cNvPr id="256" name="Line 94"/>
              <p:cNvSpPr>
                <a:spLocks noChangeShapeType="1"/>
              </p:cNvSpPr>
              <p:nvPr/>
            </p:nvSpPr>
            <p:spPr bwMode="auto">
              <a:xfrm flipV="1">
                <a:off x="3509" y="2392"/>
                <a:ext cx="1" cy="1556"/>
              </a:xfrm>
              <a:prstGeom prst="line">
                <a:avLst/>
              </a:prstGeom>
              <a:noFill/>
              <a:ln w="7938">
                <a:solidFill>
                  <a:srgbClr val="808080"/>
                </a:solidFill>
                <a:round/>
                <a:headEnd/>
                <a:tailEnd/>
              </a:ln>
            </p:spPr>
            <p:txBody>
              <a:bodyPr/>
              <a:lstStyle/>
              <a:p>
                <a:endParaRPr lang="zh-CN" altLang="en-US"/>
              </a:p>
            </p:txBody>
          </p:sp>
          <p:sp>
            <p:nvSpPr>
              <p:cNvPr id="257" name="Line 95"/>
              <p:cNvSpPr>
                <a:spLocks noChangeShapeType="1"/>
              </p:cNvSpPr>
              <p:nvPr/>
            </p:nvSpPr>
            <p:spPr bwMode="auto">
              <a:xfrm flipV="1">
                <a:off x="3587" y="2392"/>
                <a:ext cx="1" cy="1556"/>
              </a:xfrm>
              <a:prstGeom prst="line">
                <a:avLst/>
              </a:prstGeom>
              <a:noFill/>
              <a:ln w="7938">
                <a:solidFill>
                  <a:srgbClr val="808080"/>
                </a:solidFill>
                <a:round/>
                <a:headEnd/>
                <a:tailEnd/>
              </a:ln>
            </p:spPr>
            <p:txBody>
              <a:bodyPr/>
              <a:lstStyle/>
              <a:p>
                <a:endParaRPr lang="zh-CN" altLang="en-US"/>
              </a:p>
            </p:txBody>
          </p:sp>
          <p:sp>
            <p:nvSpPr>
              <p:cNvPr id="258" name="Line 96"/>
              <p:cNvSpPr>
                <a:spLocks noChangeShapeType="1"/>
              </p:cNvSpPr>
              <p:nvPr/>
            </p:nvSpPr>
            <p:spPr bwMode="auto">
              <a:xfrm flipV="1">
                <a:off x="3665" y="2392"/>
                <a:ext cx="1" cy="1556"/>
              </a:xfrm>
              <a:prstGeom prst="line">
                <a:avLst/>
              </a:prstGeom>
              <a:noFill/>
              <a:ln w="7938">
                <a:solidFill>
                  <a:srgbClr val="808080"/>
                </a:solidFill>
                <a:round/>
                <a:headEnd/>
                <a:tailEnd/>
              </a:ln>
            </p:spPr>
            <p:txBody>
              <a:bodyPr/>
              <a:lstStyle/>
              <a:p>
                <a:endParaRPr lang="zh-CN" altLang="en-US"/>
              </a:p>
            </p:txBody>
          </p:sp>
          <p:sp>
            <p:nvSpPr>
              <p:cNvPr id="259" name="Line 97"/>
              <p:cNvSpPr>
                <a:spLocks noChangeShapeType="1"/>
              </p:cNvSpPr>
              <p:nvPr/>
            </p:nvSpPr>
            <p:spPr bwMode="auto">
              <a:xfrm flipV="1">
                <a:off x="3742" y="2392"/>
                <a:ext cx="1" cy="1556"/>
              </a:xfrm>
              <a:prstGeom prst="line">
                <a:avLst/>
              </a:prstGeom>
              <a:noFill/>
              <a:ln w="7938">
                <a:solidFill>
                  <a:srgbClr val="808080"/>
                </a:solidFill>
                <a:round/>
                <a:headEnd/>
                <a:tailEnd/>
              </a:ln>
            </p:spPr>
            <p:txBody>
              <a:bodyPr/>
              <a:lstStyle/>
              <a:p>
                <a:endParaRPr lang="zh-CN" altLang="en-US"/>
              </a:p>
            </p:txBody>
          </p:sp>
          <p:sp>
            <p:nvSpPr>
              <p:cNvPr id="260" name="Line 98"/>
              <p:cNvSpPr>
                <a:spLocks noChangeShapeType="1"/>
              </p:cNvSpPr>
              <p:nvPr/>
            </p:nvSpPr>
            <p:spPr bwMode="auto">
              <a:xfrm flipV="1">
                <a:off x="3897" y="2392"/>
                <a:ext cx="1" cy="1556"/>
              </a:xfrm>
              <a:prstGeom prst="line">
                <a:avLst/>
              </a:prstGeom>
              <a:noFill/>
              <a:ln w="7938">
                <a:solidFill>
                  <a:srgbClr val="808080"/>
                </a:solidFill>
                <a:round/>
                <a:headEnd/>
                <a:tailEnd/>
              </a:ln>
            </p:spPr>
            <p:txBody>
              <a:bodyPr/>
              <a:lstStyle/>
              <a:p>
                <a:endParaRPr lang="zh-CN" altLang="en-US"/>
              </a:p>
            </p:txBody>
          </p:sp>
          <p:sp>
            <p:nvSpPr>
              <p:cNvPr id="261" name="Line 99"/>
              <p:cNvSpPr>
                <a:spLocks noChangeShapeType="1"/>
              </p:cNvSpPr>
              <p:nvPr/>
            </p:nvSpPr>
            <p:spPr bwMode="auto">
              <a:xfrm flipV="1">
                <a:off x="3978" y="2392"/>
                <a:ext cx="1" cy="1556"/>
              </a:xfrm>
              <a:prstGeom prst="line">
                <a:avLst/>
              </a:prstGeom>
              <a:noFill/>
              <a:ln w="7938">
                <a:solidFill>
                  <a:srgbClr val="808080"/>
                </a:solidFill>
                <a:round/>
                <a:headEnd/>
                <a:tailEnd/>
              </a:ln>
            </p:spPr>
            <p:txBody>
              <a:bodyPr/>
              <a:lstStyle/>
              <a:p>
                <a:endParaRPr lang="zh-CN" altLang="en-US"/>
              </a:p>
            </p:txBody>
          </p:sp>
          <p:sp>
            <p:nvSpPr>
              <p:cNvPr id="262" name="Line 100"/>
              <p:cNvSpPr>
                <a:spLocks noChangeShapeType="1"/>
              </p:cNvSpPr>
              <p:nvPr/>
            </p:nvSpPr>
            <p:spPr bwMode="auto">
              <a:xfrm flipV="1">
                <a:off x="4055" y="2392"/>
                <a:ext cx="1" cy="1556"/>
              </a:xfrm>
              <a:prstGeom prst="line">
                <a:avLst/>
              </a:prstGeom>
              <a:noFill/>
              <a:ln w="7938">
                <a:solidFill>
                  <a:srgbClr val="808080"/>
                </a:solidFill>
                <a:round/>
                <a:headEnd/>
                <a:tailEnd/>
              </a:ln>
            </p:spPr>
            <p:txBody>
              <a:bodyPr/>
              <a:lstStyle/>
              <a:p>
                <a:endParaRPr lang="zh-CN" altLang="en-US"/>
              </a:p>
            </p:txBody>
          </p:sp>
          <p:sp>
            <p:nvSpPr>
              <p:cNvPr id="263" name="Line 101"/>
              <p:cNvSpPr>
                <a:spLocks noChangeShapeType="1"/>
              </p:cNvSpPr>
              <p:nvPr/>
            </p:nvSpPr>
            <p:spPr bwMode="auto">
              <a:xfrm flipV="1">
                <a:off x="4133" y="2392"/>
                <a:ext cx="1" cy="1556"/>
              </a:xfrm>
              <a:prstGeom prst="line">
                <a:avLst/>
              </a:prstGeom>
              <a:noFill/>
              <a:ln w="7938">
                <a:solidFill>
                  <a:srgbClr val="808080"/>
                </a:solidFill>
                <a:round/>
                <a:headEnd/>
                <a:tailEnd/>
              </a:ln>
            </p:spPr>
            <p:txBody>
              <a:bodyPr/>
              <a:lstStyle/>
              <a:p>
                <a:endParaRPr lang="zh-CN" altLang="en-US"/>
              </a:p>
            </p:txBody>
          </p:sp>
          <p:sp>
            <p:nvSpPr>
              <p:cNvPr id="264" name="Line 102"/>
              <p:cNvSpPr>
                <a:spLocks noChangeShapeType="1"/>
              </p:cNvSpPr>
              <p:nvPr/>
            </p:nvSpPr>
            <p:spPr bwMode="auto">
              <a:xfrm flipV="1">
                <a:off x="4288" y="2392"/>
                <a:ext cx="1" cy="1556"/>
              </a:xfrm>
              <a:prstGeom prst="line">
                <a:avLst/>
              </a:prstGeom>
              <a:noFill/>
              <a:ln w="7938">
                <a:solidFill>
                  <a:srgbClr val="808080"/>
                </a:solidFill>
                <a:round/>
                <a:headEnd/>
                <a:tailEnd/>
              </a:ln>
            </p:spPr>
            <p:txBody>
              <a:bodyPr/>
              <a:lstStyle/>
              <a:p>
                <a:endParaRPr lang="zh-CN" altLang="en-US"/>
              </a:p>
            </p:txBody>
          </p:sp>
          <p:sp>
            <p:nvSpPr>
              <p:cNvPr id="265" name="Line 103"/>
              <p:cNvSpPr>
                <a:spLocks noChangeShapeType="1"/>
              </p:cNvSpPr>
              <p:nvPr/>
            </p:nvSpPr>
            <p:spPr bwMode="auto">
              <a:xfrm flipV="1">
                <a:off x="4365" y="2392"/>
                <a:ext cx="1" cy="1556"/>
              </a:xfrm>
              <a:prstGeom prst="line">
                <a:avLst/>
              </a:prstGeom>
              <a:noFill/>
              <a:ln w="7938">
                <a:solidFill>
                  <a:srgbClr val="808080"/>
                </a:solidFill>
                <a:round/>
                <a:headEnd/>
                <a:tailEnd/>
              </a:ln>
            </p:spPr>
            <p:txBody>
              <a:bodyPr/>
              <a:lstStyle/>
              <a:p>
                <a:endParaRPr lang="zh-CN" altLang="en-US"/>
              </a:p>
            </p:txBody>
          </p:sp>
          <p:sp>
            <p:nvSpPr>
              <p:cNvPr id="266" name="Line 104"/>
              <p:cNvSpPr>
                <a:spLocks noChangeShapeType="1"/>
              </p:cNvSpPr>
              <p:nvPr/>
            </p:nvSpPr>
            <p:spPr bwMode="auto">
              <a:xfrm flipV="1">
                <a:off x="4438" y="2392"/>
                <a:ext cx="1" cy="1556"/>
              </a:xfrm>
              <a:prstGeom prst="line">
                <a:avLst/>
              </a:prstGeom>
              <a:noFill/>
              <a:ln w="7938">
                <a:solidFill>
                  <a:srgbClr val="808080"/>
                </a:solidFill>
                <a:round/>
                <a:headEnd/>
                <a:tailEnd/>
              </a:ln>
            </p:spPr>
            <p:txBody>
              <a:bodyPr/>
              <a:lstStyle/>
              <a:p>
                <a:endParaRPr lang="zh-CN" altLang="en-US"/>
              </a:p>
            </p:txBody>
          </p:sp>
          <p:sp>
            <p:nvSpPr>
              <p:cNvPr id="267" name="Line 105"/>
              <p:cNvSpPr>
                <a:spLocks noChangeShapeType="1"/>
              </p:cNvSpPr>
              <p:nvPr/>
            </p:nvSpPr>
            <p:spPr bwMode="auto">
              <a:xfrm flipV="1">
                <a:off x="4678" y="2392"/>
                <a:ext cx="1" cy="1556"/>
              </a:xfrm>
              <a:prstGeom prst="line">
                <a:avLst/>
              </a:prstGeom>
              <a:noFill/>
              <a:ln w="7938">
                <a:solidFill>
                  <a:srgbClr val="808080"/>
                </a:solidFill>
                <a:round/>
                <a:headEnd/>
                <a:tailEnd/>
              </a:ln>
            </p:spPr>
            <p:txBody>
              <a:bodyPr/>
              <a:lstStyle/>
              <a:p>
                <a:endParaRPr lang="zh-CN" altLang="en-US"/>
              </a:p>
            </p:txBody>
          </p:sp>
          <p:sp>
            <p:nvSpPr>
              <p:cNvPr id="268" name="Line 106"/>
              <p:cNvSpPr>
                <a:spLocks noChangeShapeType="1"/>
              </p:cNvSpPr>
              <p:nvPr/>
            </p:nvSpPr>
            <p:spPr bwMode="auto">
              <a:xfrm flipV="1">
                <a:off x="4833" y="2392"/>
                <a:ext cx="1" cy="1556"/>
              </a:xfrm>
              <a:prstGeom prst="line">
                <a:avLst/>
              </a:prstGeom>
              <a:noFill/>
              <a:ln w="7938">
                <a:solidFill>
                  <a:srgbClr val="808080"/>
                </a:solidFill>
                <a:round/>
                <a:headEnd/>
                <a:tailEnd/>
              </a:ln>
            </p:spPr>
            <p:txBody>
              <a:bodyPr/>
              <a:lstStyle/>
              <a:p>
                <a:endParaRPr lang="zh-CN" altLang="en-US"/>
              </a:p>
            </p:txBody>
          </p:sp>
          <p:sp>
            <p:nvSpPr>
              <p:cNvPr id="269" name="Line 107"/>
              <p:cNvSpPr>
                <a:spLocks noChangeShapeType="1"/>
              </p:cNvSpPr>
              <p:nvPr/>
            </p:nvSpPr>
            <p:spPr bwMode="auto">
              <a:xfrm flipV="1">
                <a:off x="4911" y="2392"/>
                <a:ext cx="1" cy="1556"/>
              </a:xfrm>
              <a:prstGeom prst="line">
                <a:avLst/>
              </a:prstGeom>
              <a:noFill/>
              <a:ln w="7938">
                <a:solidFill>
                  <a:srgbClr val="808080"/>
                </a:solidFill>
                <a:round/>
                <a:headEnd/>
                <a:tailEnd/>
              </a:ln>
            </p:spPr>
            <p:txBody>
              <a:bodyPr/>
              <a:lstStyle/>
              <a:p>
                <a:endParaRPr lang="zh-CN" altLang="en-US"/>
              </a:p>
            </p:txBody>
          </p:sp>
          <p:sp>
            <p:nvSpPr>
              <p:cNvPr id="270" name="Line 108"/>
              <p:cNvSpPr>
                <a:spLocks noChangeShapeType="1"/>
              </p:cNvSpPr>
              <p:nvPr/>
            </p:nvSpPr>
            <p:spPr bwMode="auto">
              <a:xfrm flipV="1">
                <a:off x="4521" y="2392"/>
                <a:ext cx="1" cy="1556"/>
              </a:xfrm>
              <a:prstGeom prst="line">
                <a:avLst/>
              </a:prstGeom>
              <a:noFill/>
              <a:ln w="7938">
                <a:solidFill>
                  <a:srgbClr val="808080"/>
                </a:solidFill>
                <a:round/>
                <a:headEnd/>
                <a:tailEnd/>
              </a:ln>
            </p:spPr>
            <p:txBody>
              <a:bodyPr/>
              <a:lstStyle/>
              <a:p>
                <a:endParaRPr lang="zh-CN" altLang="en-US"/>
              </a:p>
            </p:txBody>
          </p:sp>
          <p:sp>
            <p:nvSpPr>
              <p:cNvPr id="271" name="Freeform 109"/>
              <p:cNvSpPr>
                <a:spLocks/>
              </p:cNvSpPr>
              <p:nvPr/>
            </p:nvSpPr>
            <p:spPr bwMode="auto">
              <a:xfrm>
                <a:off x="4483" y="2932"/>
                <a:ext cx="112" cy="75"/>
              </a:xfrm>
              <a:custGeom>
                <a:avLst/>
                <a:gdLst/>
                <a:ahLst/>
                <a:cxnLst>
                  <a:cxn ang="0">
                    <a:pos x="0" y="0"/>
                  </a:cxn>
                  <a:cxn ang="0">
                    <a:pos x="112" y="0"/>
                  </a:cxn>
                  <a:cxn ang="0">
                    <a:pos x="112" y="75"/>
                  </a:cxn>
                  <a:cxn ang="0">
                    <a:pos x="3" y="75"/>
                  </a:cxn>
                  <a:cxn ang="0">
                    <a:pos x="3" y="0"/>
                  </a:cxn>
                  <a:cxn ang="0">
                    <a:pos x="3" y="0"/>
                  </a:cxn>
                  <a:cxn ang="0">
                    <a:pos x="0" y="0"/>
                  </a:cxn>
                </a:cxnLst>
                <a:rect l="0" t="0" r="r" b="b"/>
                <a:pathLst>
                  <a:path w="112" h="75">
                    <a:moveTo>
                      <a:pt x="0" y="0"/>
                    </a:moveTo>
                    <a:lnTo>
                      <a:pt x="112" y="0"/>
                    </a:lnTo>
                    <a:lnTo>
                      <a:pt x="112" y="75"/>
                    </a:lnTo>
                    <a:lnTo>
                      <a:pt x="3" y="75"/>
                    </a:lnTo>
                    <a:lnTo>
                      <a:pt x="3" y="0"/>
                    </a:lnTo>
                    <a:lnTo>
                      <a:pt x="3" y="0"/>
                    </a:lnTo>
                    <a:lnTo>
                      <a:pt x="0" y="0"/>
                    </a:lnTo>
                    <a:close/>
                  </a:path>
                </a:pathLst>
              </a:custGeom>
              <a:solidFill>
                <a:srgbClr val="FFFFFF"/>
              </a:solidFill>
              <a:ln w="9525">
                <a:noFill/>
                <a:round/>
                <a:headEnd/>
                <a:tailEnd/>
              </a:ln>
            </p:spPr>
            <p:txBody>
              <a:bodyPr/>
              <a:lstStyle/>
              <a:p>
                <a:endParaRPr lang="zh-CN" altLang="en-US"/>
              </a:p>
            </p:txBody>
          </p:sp>
          <p:sp>
            <p:nvSpPr>
              <p:cNvPr id="272" name="Freeform 110"/>
              <p:cNvSpPr>
                <a:spLocks/>
              </p:cNvSpPr>
              <p:nvPr/>
            </p:nvSpPr>
            <p:spPr bwMode="auto">
              <a:xfrm>
                <a:off x="4483" y="2932"/>
                <a:ext cx="112" cy="75"/>
              </a:xfrm>
              <a:custGeom>
                <a:avLst/>
                <a:gdLst/>
                <a:ahLst/>
                <a:cxnLst>
                  <a:cxn ang="0">
                    <a:pos x="0" y="0"/>
                  </a:cxn>
                  <a:cxn ang="0">
                    <a:pos x="112" y="0"/>
                  </a:cxn>
                  <a:cxn ang="0">
                    <a:pos x="112" y="75"/>
                  </a:cxn>
                  <a:cxn ang="0">
                    <a:pos x="3" y="75"/>
                  </a:cxn>
                  <a:cxn ang="0">
                    <a:pos x="3" y="0"/>
                  </a:cxn>
                  <a:cxn ang="0">
                    <a:pos x="3" y="0"/>
                  </a:cxn>
                  <a:cxn ang="0">
                    <a:pos x="0" y="0"/>
                  </a:cxn>
                </a:cxnLst>
                <a:rect l="0" t="0" r="r" b="b"/>
                <a:pathLst>
                  <a:path w="112" h="75">
                    <a:moveTo>
                      <a:pt x="0" y="0"/>
                    </a:moveTo>
                    <a:lnTo>
                      <a:pt x="112" y="0"/>
                    </a:lnTo>
                    <a:lnTo>
                      <a:pt x="112" y="75"/>
                    </a:lnTo>
                    <a:lnTo>
                      <a:pt x="3" y="75"/>
                    </a:lnTo>
                    <a:lnTo>
                      <a:pt x="3" y="0"/>
                    </a:lnTo>
                    <a:lnTo>
                      <a:pt x="3" y="0"/>
                    </a:lnTo>
                    <a:lnTo>
                      <a:pt x="0" y="0"/>
                    </a:lnTo>
                    <a:close/>
                  </a:path>
                </a:pathLst>
              </a:custGeom>
              <a:solidFill>
                <a:srgbClr val="FFFFFF"/>
              </a:solidFill>
              <a:ln w="9525">
                <a:noFill/>
                <a:round/>
                <a:headEnd/>
                <a:tailEnd/>
              </a:ln>
            </p:spPr>
            <p:txBody>
              <a:bodyPr/>
              <a:lstStyle/>
              <a:p>
                <a:endParaRPr lang="zh-CN" altLang="en-US"/>
              </a:p>
            </p:txBody>
          </p:sp>
          <p:sp>
            <p:nvSpPr>
              <p:cNvPr id="273" name="Freeform 111"/>
              <p:cNvSpPr>
                <a:spLocks/>
              </p:cNvSpPr>
              <p:nvPr/>
            </p:nvSpPr>
            <p:spPr bwMode="auto">
              <a:xfrm>
                <a:off x="4483" y="2932"/>
                <a:ext cx="112" cy="75"/>
              </a:xfrm>
              <a:custGeom>
                <a:avLst/>
                <a:gdLst/>
                <a:ahLst/>
                <a:cxnLst>
                  <a:cxn ang="0">
                    <a:pos x="0" y="0"/>
                  </a:cxn>
                  <a:cxn ang="0">
                    <a:pos x="112" y="0"/>
                  </a:cxn>
                  <a:cxn ang="0">
                    <a:pos x="112" y="75"/>
                  </a:cxn>
                  <a:cxn ang="0">
                    <a:pos x="3" y="75"/>
                  </a:cxn>
                  <a:cxn ang="0">
                    <a:pos x="3" y="0"/>
                  </a:cxn>
                  <a:cxn ang="0">
                    <a:pos x="3" y="0"/>
                  </a:cxn>
                </a:cxnLst>
                <a:rect l="0" t="0" r="r" b="b"/>
                <a:pathLst>
                  <a:path w="112" h="75">
                    <a:moveTo>
                      <a:pt x="0" y="0"/>
                    </a:moveTo>
                    <a:lnTo>
                      <a:pt x="112" y="0"/>
                    </a:lnTo>
                    <a:lnTo>
                      <a:pt x="112" y="75"/>
                    </a:lnTo>
                    <a:lnTo>
                      <a:pt x="3" y="75"/>
                    </a:lnTo>
                    <a:lnTo>
                      <a:pt x="3" y="0"/>
                    </a:lnTo>
                    <a:lnTo>
                      <a:pt x="3" y="0"/>
                    </a:lnTo>
                  </a:path>
                </a:pathLst>
              </a:custGeom>
              <a:noFill/>
              <a:ln w="7938">
                <a:solidFill>
                  <a:srgbClr val="0000FF"/>
                </a:solidFill>
                <a:prstDash val="solid"/>
                <a:round/>
                <a:headEnd/>
                <a:tailEnd/>
              </a:ln>
            </p:spPr>
            <p:txBody>
              <a:bodyPr/>
              <a:lstStyle/>
              <a:p>
                <a:endParaRPr lang="zh-CN" altLang="en-US"/>
              </a:p>
            </p:txBody>
          </p:sp>
          <p:sp>
            <p:nvSpPr>
              <p:cNvPr id="274" name="Line 112"/>
              <p:cNvSpPr>
                <a:spLocks noChangeShapeType="1"/>
              </p:cNvSpPr>
              <p:nvPr/>
            </p:nvSpPr>
            <p:spPr bwMode="auto">
              <a:xfrm flipV="1">
                <a:off x="4753" y="2392"/>
                <a:ext cx="3" cy="1553"/>
              </a:xfrm>
              <a:prstGeom prst="line">
                <a:avLst/>
              </a:prstGeom>
              <a:noFill/>
              <a:ln w="7938">
                <a:solidFill>
                  <a:srgbClr val="808080"/>
                </a:solidFill>
                <a:round/>
                <a:headEnd/>
                <a:tailEnd/>
              </a:ln>
            </p:spPr>
            <p:txBody>
              <a:bodyPr/>
              <a:lstStyle/>
              <a:p>
                <a:endParaRPr lang="zh-CN" altLang="en-US"/>
              </a:p>
            </p:txBody>
          </p:sp>
          <p:sp>
            <p:nvSpPr>
              <p:cNvPr id="275" name="Freeform 113"/>
              <p:cNvSpPr>
                <a:spLocks/>
              </p:cNvSpPr>
              <p:nvPr/>
            </p:nvSpPr>
            <p:spPr bwMode="auto">
              <a:xfrm>
                <a:off x="3429" y="2389"/>
                <a:ext cx="1560" cy="1559"/>
              </a:xfrm>
              <a:custGeom>
                <a:avLst/>
                <a:gdLst/>
                <a:ahLst/>
                <a:cxnLst>
                  <a:cxn ang="0">
                    <a:pos x="0" y="0"/>
                  </a:cxn>
                  <a:cxn ang="0">
                    <a:pos x="1560" y="3"/>
                  </a:cxn>
                  <a:cxn ang="0">
                    <a:pos x="1560" y="1559"/>
                  </a:cxn>
                  <a:cxn ang="0">
                    <a:pos x="3" y="1559"/>
                  </a:cxn>
                  <a:cxn ang="0">
                    <a:pos x="3" y="3"/>
                  </a:cxn>
                  <a:cxn ang="0">
                    <a:pos x="3" y="3"/>
                  </a:cxn>
                </a:cxnLst>
                <a:rect l="0" t="0" r="r" b="b"/>
                <a:pathLst>
                  <a:path w="1560" h="1559">
                    <a:moveTo>
                      <a:pt x="0" y="0"/>
                    </a:moveTo>
                    <a:lnTo>
                      <a:pt x="1560" y="3"/>
                    </a:lnTo>
                    <a:lnTo>
                      <a:pt x="1560" y="1559"/>
                    </a:lnTo>
                    <a:lnTo>
                      <a:pt x="3" y="1559"/>
                    </a:lnTo>
                    <a:lnTo>
                      <a:pt x="3" y="3"/>
                    </a:lnTo>
                    <a:lnTo>
                      <a:pt x="3" y="3"/>
                    </a:lnTo>
                  </a:path>
                </a:pathLst>
              </a:custGeom>
              <a:noFill/>
              <a:ln w="7938">
                <a:solidFill>
                  <a:srgbClr val="000000"/>
                </a:solidFill>
                <a:prstDash val="solid"/>
                <a:round/>
                <a:headEnd/>
                <a:tailEnd/>
              </a:ln>
            </p:spPr>
            <p:txBody>
              <a:bodyPr/>
              <a:lstStyle/>
              <a:p>
                <a:endParaRPr lang="zh-CN" altLang="en-US"/>
              </a:p>
            </p:txBody>
          </p:sp>
          <p:sp>
            <p:nvSpPr>
              <p:cNvPr id="276" name="Freeform 114"/>
              <p:cNvSpPr>
                <a:spLocks/>
              </p:cNvSpPr>
              <p:nvPr/>
            </p:nvSpPr>
            <p:spPr bwMode="auto">
              <a:xfrm>
                <a:off x="2284" y="2419"/>
                <a:ext cx="86" cy="48"/>
              </a:xfrm>
              <a:custGeom>
                <a:avLst/>
                <a:gdLst/>
                <a:ahLst/>
                <a:cxnLst>
                  <a:cxn ang="0">
                    <a:pos x="0" y="24"/>
                  </a:cxn>
                  <a:cxn ang="0">
                    <a:pos x="3" y="0"/>
                  </a:cxn>
                  <a:cxn ang="0">
                    <a:pos x="86" y="24"/>
                  </a:cxn>
                  <a:cxn ang="0">
                    <a:pos x="3" y="48"/>
                  </a:cxn>
                  <a:cxn ang="0">
                    <a:pos x="3" y="24"/>
                  </a:cxn>
                  <a:cxn ang="0">
                    <a:pos x="3" y="24"/>
                  </a:cxn>
                </a:cxnLst>
                <a:rect l="0" t="0" r="r" b="b"/>
                <a:pathLst>
                  <a:path w="86" h="48">
                    <a:moveTo>
                      <a:pt x="0" y="24"/>
                    </a:moveTo>
                    <a:lnTo>
                      <a:pt x="3" y="0"/>
                    </a:lnTo>
                    <a:lnTo>
                      <a:pt x="86" y="24"/>
                    </a:lnTo>
                    <a:lnTo>
                      <a:pt x="3" y="48"/>
                    </a:lnTo>
                    <a:lnTo>
                      <a:pt x="3" y="24"/>
                    </a:lnTo>
                    <a:lnTo>
                      <a:pt x="3" y="24"/>
                    </a:lnTo>
                  </a:path>
                </a:pathLst>
              </a:custGeom>
              <a:noFill/>
              <a:ln w="7938">
                <a:solidFill>
                  <a:srgbClr val="00FF00"/>
                </a:solidFill>
                <a:prstDash val="solid"/>
                <a:round/>
                <a:headEnd/>
                <a:tailEnd/>
              </a:ln>
            </p:spPr>
            <p:txBody>
              <a:bodyPr/>
              <a:lstStyle/>
              <a:p>
                <a:endParaRPr lang="zh-CN" altLang="en-US"/>
              </a:p>
            </p:txBody>
          </p:sp>
          <p:sp>
            <p:nvSpPr>
              <p:cNvPr id="277" name="Freeform 115"/>
              <p:cNvSpPr>
                <a:spLocks/>
              </p:cNvSpPr>
              <p:nvPr/>
            </p:nvSpPr>
            <p:spPr bwMode="auto">
              <a:xfrm>
                <a:off x="2284" y="2419"/>
                <a:ext cx="86" cy="48"/>
              </a:xfrm>
              <a:custGeom>
                <a:avLst/>
                <a:gdLst/>
                <a:ahLst/>
                <a:cxnLst>
                  <a:cxn ang="0">
                    <a:pos x="0" y="24"/>
                  </a:cxn>
                  <a:cxn ang="0">
                    <a:pos x="3" y="0"/>
                  </a:cxn>
                  <a:cxn ang="0">
                    <a:pos x="86" y="24"/>
                  </a:cxn>
                  <a:cxn ang="0">
                    <a:pos x="3" y="48"/>
                  </a:cxn>
                  <a:cxn ang="0">
                    <a:pos x="0" y="24"/>
                  </a:cxn>
                </a:cxnLst>
                <a:rect l="0" t="0" r="r" b="b"/>
                <a:pathLst>
                  <a:path w="86" h="48">
                    <a:moveTo>
                      <a:pt x="0" y="24"/>
                    </a:moveTo>
                    <a:lnTo>
                      <a:pt x="3" y="0"/>
                    </a:lnTo>
                    <a:lnTo>
                      <a:pt x="86" y="24"/>
                    </a:lnTo>
                    <a:lnTo>
                      <a:pt x="3" y="48"/>
                    </a:lnTo>
                    <a:lnTo>
                      <a:pt x="0" y="24"/>
                    </a:lnTo>
                    <a:close/>
                  </a:path>
                </a:pathLst>
              </a:custGeom>
              <a:solidFill>
                <a:srgbClr val="00FF00"/>
              </a:solidFill>
              <a:ln w="9525">
                <a:noFill/>
                <a:round/>
                <a:headEnd/>
                <a:tailEnd/>
              </a:ln>
            </p:spPr>
            <p:txBody>
              <a:bodyPr/>
              <a:lstStyle/>
              <a:p>
                <a:endParaRPr lang="zh-CN" altLang="en-US"/>
              </a:p>
            </p:txBody>
          </p:sp>
          <p:sp>
            <p:nvSpPr>
              <p:cNvPr id="278" name="Line 116"/>
              <p:cNvSpPr>
                <a:spLocks noChangeShapeType="1"/>
              </p:cNvSpPr>
              <p:nvPr/>
            </p:nvSpPr>
            <p:spPr bwMode="auto">
              <a:xfrm>
                <a:off x="899" y="2443"/>
                <a:ext cx="1385" cy="1"/>
              </a:xfrm>
              <a:prstGeom prst="line">
                <a:avLst/>
              </a:prstGeom>
              <a:noFill/>
              <a:ln w="7938">
                <a:solidFill>
                  <a:srgbClr val="00FF00"/>
                </a:solidFill>
                <a:round/>
                <a:headEnd/>
                <a:tailEnd/>
              </a:ln>
            </p:spPr>
            <p:txBody>
              <a:bodyPr/>
              <a:lstStyle/>
              <a:p>
                <a:endParaRPr lang="zh-CN" altLang="en-US"/>
              </a:p>
            </p:txBody>
          </p:sp>
          <p:sp>
            <p:nvSpPr>
              <p:cNvPr id="279" name="Line 117"/>
              <p:cNvSpPr>
                <a:spLocks noChangeShapeType="1"/>
              </p:cNvSpPr>
              <p:nvPr/>
            </p:nvSpPr>
            <p:spPr bwMode="auto">
              <a:xfrm flipV="1">
                <a:off x="1185" y="2392"/>
                <a:ext cx="3" cy="1553"/>
              </a:xfrm>
              <a:prstGeom prst="line">
                <a:avLst/>
              </a:prstGeom>
              <a:noFill/>
              <a:ln w="7938">
                <a:solidFill>
                  <a:srgbClr val="808080"/>
                </a:solidFill>
                <a:round/>
                <a:headEnd/>
                <a:tailEnd/>
              </a:ln>
            </p:spPr>
            <p:txBody>
              <a:bodyPr/>
              <a:lstStyle/>
              <a:p>
                <a:endParaRPr lang="zh-CN" altLang="en-US"/>
              </a:p>
            </p:txBody>
          </p:sp>
          <p:sp>
            <p:nvSpPr>
              <p:cNvPr id="280" name="Line 118"/>
              <p:cNvSpPr>
                <a:spLocks noChangeShapeType="1"/>
              </p:cNvSpPr>
              <p:nvPr/>
            </p:nvSpPr>
            <p:spPr bwMode="auto">
              <a:xfrm flipV="1">
                <a:off x="1343" y="2392"/>
                <a:ext cx="1" cy="1556"/>
              </a:xfrm>
              <a:prstGeom prst="line">
                <a:avLst/>
              </a:prstGeom>
              <a:noFill/>
              <a:ln w="7938">
                <a:solidFill>
                  <a:srgbClr val="808080"/>
                </a:solidFill>
                <a:round/>
                <a:headEnd/>
                <a:tailEnd/>
              </a:ln>
            </p:spPr>
            <p:txBody>
              <a:bodyPr/>
              <a:lstStyle/>
              <a:p>
                <a:endParaRPr lang="zh-CN" altLang="en-US"/>
              </a:p>
            </p:txBody>
          </p:sp>
          <p:sp>
            <p:nvSpPr>
              <p:cNvPr id="281" name="Freeform 119"/>
              <p:cNvSpPr>
                <a:spLocks/>
              </p:cNvSpPr>
              <p:nvPr/>
            </p:nvSpPr>
            <p:spPr bwMode="auto">
              <a:xfrm>
                <a:off x="4216" y="2429"/>
                <a:ext cx="45" cy="86"/>
              </a:xfrm>
              <a:custGeom>
                <a:avLst/>
                <a:gdLst/>
                <a:ahLst/>
                <a:cxnLst>
                  <a:cxn ang="0">
                    <a:pos x="21" y="78"/>
                  </a:cxn>
                  <a:cxn ang="0">
                    <a:pos x="0" y="75"/>
                  </a:cxn>
                  <a:cxn ang="0">
                    <a:pos x="42" y="0"/>
                  </a:cxn>
                  <a:cxn ang="0">
                    <a:pos x="45" y="86"/>
                  </a:cxn>
                  <a:cxn ang="0">
                    <a:pos x="24" y="81"/>
                  </a:cxn>
                  <a:cxn ang="0">
                    <a:pos x="24" y="81"/>
                  </a:cxn>
                </a:cxnLst>
                <a:rect l="0" t="0" r="r" b="b"/>
                <a:pathLst>
                  <a:path w="45" h="86">
                    <a:moveTo>
                      <a:pt x="21" y="78"/>
                    </a:moveTo>
                    <a:lnTo>
                      <a:pt x="0" y="75"/>
                    </a:lnTo>
                    <a:lnTo>
                      <a:pt x="42" y="0"/>
                    </a:lnTo>
                    <a:lnTo>
                      <a:pt x="45" y="86"/>
                    </a:lnTo>
                    <a:lnTo>
                      <a:pt x="24" y="81"/>
                    </a:lnTo>
                    <a:lnTo>
                      <a:pt x="24" y="81"/>
                    </a:lnTo>
                  </a:path>
                </a:pathLst>
              </a:custGeom>
              <a:noFill/>
              <a:ln w="7938">
                <a:solidFill>
                  <a:srgbClr val="00FF00"/>
                </a:solidFill>
                <a:prstDash val="solid"/>
                <a:round/>
                <a:headEnd/>
                <a:tailEnd/>
              </a:ln>
            </p:spPr>
            <p:txBody>
              <a:bodyPr/>
              <a:lstStyle/>
              <a:p>
                <a:endParaRPr lang="zh-CN" altLang="en-US"/>
              </a:p>
            </p:txBody>
          </p:sp>
          <p:sp>
            <p:nvSpPr>
              <p:cNvPr id="282" name="Freeform 120"/>
              <p:cNvSpPr>
                <a:spLocks/>
              </p:cNvSpPr>
              <p:nvPr/>
            </p:nvSpPr>
            <p:spPr bwMode="auto">
              <a:xfrm>
                <a:off x="4216" y="2429"/>
                <a:ext cx="45" cy="86"/>
              </a:xfrm>
              <a:custGeom>
                <a:avLst/>
                <a:gdLst/>
                <a:ahLst/>
                <a:cxnLst>
                  <a:cxn ang="0">
                    <a:pos x="21" y="78"/>
                  </a:cxn>
                  <a:cxn ang="0">
                    <a:pos x="0" y="75"/>
                  </a:cxn>
                  <a:cxn ang="0">
                    <a:pos x="42" y="0"/>
                  </a:cxn>
                  <a:cxn ang="0">
                    <a:pos x="45" y="86"/>
                  </a:cxn>
                  <a:cxn ang="0">
                    <a:pos x="21" y="78"/>
                  </a:cxn>
                </a:cxnLst>
                <a:rect l="0" t="0" r="r" b="b"/>
                <a:pathLst>
                  <a:path w="45" h="86">
                    <a:moveTo>
                      <a:pt x="21" y="78"/>
                    </a:moveTo>
                    <a:lnTo>
                      <a:pt x="0" y="75"/>
                    </a:lnTo>
                    <a:lnTo>
                      <a:pt x="42" y="0"/>
                    </a:lnTo>
                    <a:lnTo>
                      <a:pt x="45" y="86"/>
                    </a:lnTo>
                    <a:lnTo>
                      <a:pt x="21" y="78"/>
                    </a:lnTo>
                    <a:close/>
                  </a:path>
                </a:pathLst>
              </a:custGeom>
              <a:solidFill>
                <a:srgbClr val="00FF00"/>
              </a:solidFill>
              <a:ln w="9525">
                <a:noFill/>
                <a:round/>
                <a:headEnd/>
                <a:tailEnd/>
              </a:ln>
            </p:spPr>
            <p:txBody>
              <a:bodyPr/>
              <a:lstStyle/>
              <a:p>
                <a:endParaRPr lang="zh-CN" altLang="en-US"/>
              </a:p>
            </p:txBody>
          </p:sp>
          <p:sp>
            <p:nvSpPr>
              <p:cNvPr id="283" name="Line 121"/>
              <p:cNvSpPr>
                <a:spLocks noChangeShapeType="1"/>
              </p:cNvSpPr>
              <p:nvPr/>
            </p:nvSpPr>
            <p:spPr bwMode="auto">
              <a:xfrm flipV="1">
                <a:off x="4186" y="2512"/>
                <a:ext cx="51" cy="206"/>
              </a:xfrm>
              <a:prstGeom prst="line">
                <a:avLst/>
              </a:prstGeom>
              <a:noFill/>
              <a:ln w="7938">
                <a:solidFill>
                  <a:srgbClr val="00FF00"/>
                </a:solidFill>
                <a:round/>
                <a:headEnd/>
                <a:tailEnd/>
              </a:ln>
            </p:spPr>
            <p:txBody>
              <a:bodyPr/>
              <a:lstStyle/>
              <a:p>
                <a:endParaRPr lang="zh-CN" altLang="en-US"/>
              </a:p>
            </p:txBody>
          </p:sp>
          <p:sp>
            <p:nvSpPr>
              <p:cNvPr id="284" name="Freeform 122"/>
              <p:cNvSpPr>
                <a:spLocks/>
              </p:cNvSpPr>
              <p:nvPr/>
            </p:nvSpPr>
            <p:spPr bwMode="auto">
              <a:xfrm>
                <a:off x="4208" y="3020"/>
                <a:ext cx="112" cy="78"/>
              </a:xfrm>
              <a:custGeom>
                <a:avLst/>
                <a:gdLst/>
                <a:ahLst/>
                <a:cxnLst>
                  <a:cxn ang="0">
                    <a:pos x="0" y="0"/>
                  </a:cxn>
                  <a:cxn ang="0">
                    <a:pos x="112" y="0"/>
                  </a:cxn>
                  <a:cxn ang="0">
                    <a:pos x="112" y="78"/>
                  </a:cxn>
                  <a:cxn ang="0">
                    <a:pos x="2" y="78"/>
                  </a:cxn>
                  <a:cxn ang="0">
                    <a:pos x="2" y="0"/>
                  </a:cxn>
                  <a:cxn ang="0">
                    <a:pos x="2" y="0"/>
                  </a:cxn>
                  <a:cxn ang="0">
                    <a:pos x="0" y="0"/>
                  </a:cxn>
                </a:cxnLst>
                <a:rect l="0" t="0" r="r" b="b"/>
                <a:pathLst>
                  <a:path w="112" h="78">
                    <a:moveTo>
                      <a:pt x="0" y="0"/>
                    </a:moveTo>
                    <a:lnTo>
                      <a:pt x="112" y="0"/>
                    </a:lnTo>
                    <a:lnTo>
                      <a:pt x="112" y="78"/>
                    </a:lnTo>
                    <a:lnTo>
                      <a:pt x="2" y="78"/>
                    </a:lnTo>
                    <a:lnTo>
                      <a:pt x="2" y="0"/>
                    </a:lnTo>
                    <a:lnTo>
                      <a:pt x="2" y="0"/>
                    </a:lnTo>
                    <a:lnTo>
                      <a:pt x="0" y="0"/>
                    </a:lnTo>
                    <a:close/>
                  </a:path>
                </a:pathLst>
              </a:custGeom>
              <a:solidFill>
                <a:srgbClr val="FFFFFF"/>
              </a:solidFill>
              <a:ln w="9525">
                <a:noFill/>
                <a:round/>
                <a:headEnd/>
                <a:tailEnd/>
              </a:ln>
            </p:spPr>
            <p:txBody>
              <a:bodyPr/>
              <a:lstStyle/>
              <a:p>
                <a:endParaRPr lang="zh-CN" altLang="en-US"/>
              </a:p>
            </p:txBody>
          </p:sp>
          <p:sp>
            <p:nvSpPr>
              <p:cNvPr id="285" name="Freeform 123"/>
              <p:cNvSpPr>
                <a:spLocks/>
              </p:cNvSpPr>
              <p:nvPr/>
            </p:nvSpPr>
            <p:spPr bwMode="auto">
              <a:xfrm>
                <a:off x="4208" y="3020"/>
                <a:ext cx="112" cy="78"/>
              </a:xfrm>
              <a:custGeom>
                <a:avLst/>
                <a:gdLst/>
                <a:ahLst/>
                <a:cxnLst>
                  <a:cxn ang="0">
                    <a:pos x="0" y="0"/>
                  </a:cxn>
                  <a:cxn ang="0">
                    <a:pos x="112" y="0"/>
                  </a:cxn>
                  <a:cxn ang="0">
                    <a:pos x="112" y="78"/>
                  </a:cxn>
                  <a:cxn ang="0">
                    <a:pos x="2" y="78"/>
                  </a:cxn>
                  <a:cxn ang="0">
                    <a:pos x="2" y="0"/>
                  </a:cxn>
                  <a:cxn ang="0">
                    <a:pos x="2" y="0"/>
                  </a:cxn>
                  <a:cxn ang="0">
                    <a:pos x="0" y="0"/>
                  </a:cxn>
                </a:cxnLst>
                <a:rect l="0" t="0" r="r" b="b"/>
                <a:pathLst>
                  <a:path w="112" h="78">
                    <a:moveTo>
                      <a:pt x="0" y="0"/>
                    </a:moveTo>
                    <a:lnTo>
                      <a:pt x="112" y="0"/>
                    </a:lnTo>
                    <a:lnTo>
                      <a:pt x="112" y="78"/>
                    </a:lnTo>
                    <a:lnTo>
                      <a:pt x="2" y="78"/>
                    </a:lnTo>
                    <a:lnTo>
                      <a:pt x="2" y="0"/>
                    </a:lnTo>
                    <a:lnTo>
                      <a:pt x="2" y="0"/>
                    </a:lnTo>
                    <a:lnTo>
                      <a:pt x="0" y="0"/>
                    </a:lnTo>
                    <a:close/>
                  </a:path>
                </a:pathLst>
              </a:custGeom>
              <a:solidFill>
                <a:srgbClr val="FFFFFF"/>
              </a:solidFill>
              <a:ln w="9525">
                <a:noFill/>
                <a:round/>
                <a:headEnd/>
                <a:tailEnd/>
              </a:ln>
            </p:spPr>
            <p:txBody>
              <a:bodyPr/>
              <a:lstStyle/>
              <a:p>
                <a:endParaRPr lang="zh-CN" altLang="en-US"/>
              </a:p>
            </p:txBody>
          </p:sp>
          <p:sp>
            <p:nvSpPr>
              <p:cNvPr id="286" name="Freeform 124"/>
              <p:cNvSpPr>
                <a:spLocks/>
              </p:cNvSpPr>
              <p:nvPr/>
            </p:nvSpPr>
            <p:spPr bwMode="auto">
              <a:xfrm>
                <a:off x="4208" y="3020"/>
                <a:ext cx="112" cy="78"/>
              </a:xfrm>
              <a:custGeom>
                <a:avLst/>
                <a:gdLst/>
                <a:ahLst/>
                <a:cxnLst>
                  <a:cxn ang="0">
                    <a:pos x="0" y="0"/>
                  </a:cxn>
                  <a:cxn ang="0">
                    <a:pos x="112" y="0"/>
                  </a:cxn>
                  <a:cxn ang="0">
                    <a:pos x="112" y="78"/>
                  </a:cxn>
                  <a:cxn ang="0">
                    <a:pos x="2" y="78"/>
                  </a:cxn>
                  <a:cxn ang="0">
                    <a:pos x="2" y="0"/>
                  </a:cxn>
                  <a:cxn ang="0">
                    <a:pos x="2" y="0"/>
                  </a:cxn>
                </a:cxnLst>
                <a:rect l="0" t="0" r="r" b="b"/>
                <a:pathLst>
                  <a:path w="112" h="78">
                    <a:moveTo>
                      <a:pt x="0" y="0"/>
                    </a:moveTo>
                    <a:lnTo>
                      <a:pt x="112" y="0"/>
                    </a:lnTo>
                    <a:lnTo>
                      <a:pt x="112" y="78"/>
                    </a:lnTo>
                    <a:lnTo>
                      <a:pt x="2" y="78"/>
                    </a:lnTo>
                    <a:lnTo>
                      <a:pt x="2" y="0"/>
                    </a:lnTo>
                    <a:lnTo>
                      <a:pt x="2" y="0"/>
                    </a:lnTo>
                  </a:path>
                </a:pathLst>
              </a:custGeom>
              <a:noFill/>
              <a:ln w="7938">
                <a:solidFill>
                  <a:srgbClr val="0000FF"/>
                </a:solidFill>
                <a:prstDash val="solid"/>
                <a:round/>
                <a:headEnd/>
                <a:tailEnd/>
              </a:ln>
            </p:spPr>
            <p:txBody>
              <a:bodyPr/>
              <a:lstStyle/>
              <a:p>
                <a:endParaRPr lang="zh-CN" altLang="en-US"/>
              </a:p>
            </p:txBody>
          </p:sp>
          <p:sp>
            <p:nvSpPr>
              <p:cNvPr id="287" name="Rectangle 125"/>
              <p:cNvSpPr>
                <a:spLocks noChangeArrowheads="1"/>
              </p:cNvSpPr>
              <p:nvPr/>
            </p:nvSpPr>
            <p:spPr bwMode="auto">
              <a:xfrm>
                <a:off x="2480"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288" name="Rectangle 126"/>
              <p:cNvSpPr>
                <a:spLocks noChangeArrowheads="1"/>
              </p:cNvSpPr>
              <p:nvPr/>
            </p:nvSpPr>
            <p:spPr bwMode="auto">
              <a:xfrm>
                <a:off x="2533"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289" name="Rectangle 127"/>
              <p:cNvSpPr>
                <a:spLocks noChangeArrowheads="1"/>
              </p:cNvSpPr>
              <p:nvPr/>
            </p:nvSpPr>
            <p:spPr bwMode="auto">
              <a:xfrm>
                <a:off x="2587"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290" name="Rectangle 128"/>
              <p:cNvSpPr>
                <a:spLocks noChangeArrowheads="1"/>
              </p:cNvSpPr>
              <p:nvPr/>
            </p:nvSpPr>
            <p:spPr bwMode="auto">
              <a:xfrm>
                <a:off x="2640"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291" name="Rectangle 129"/>
              <p:cNvSpPr>
                <a:spLocks noChangeArrowheads="1"/>
              </p:cNvSpPr>
              <p:nvPr/>
            </p:nvSpPr>
            <p:spPr bwMode="auto">
              <a:xfrm>
                <a:off x="2694"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292" name="Rectangle 130"/>
              <p:cNvSpPr>
                <a:spLocks noChangeArrowheads="1"/>
              </p:cNvSpPr>
              <p:nvPr/>
            </p:nvSpPr>
            <p:spPr bwMode="auto">
              <a:xfrm>
                <a:off x="2747"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g</a:t>
                </a:r>
                <a:endParaRPr lang="en-US" altLang="zh-CN" sz="2400">
                  <a:latin typeface="Times New Roman" charset="0"/>
                </a:endParaRPr>
              </a:p>
            </p:txBody>
          </p:sp>
          <p:sp>
            <p:nvSpPr>
              <p:cNvPr id="293" name="Rectangle 131"/>
              <p:cNvSpPr>
                <a:spLocks noChangeArrowheads="1"/>
              </p:cNvSpPr>
              <p:nvPr/>
            </p:nvSpPr>
            <p:spPr bwMode="auto">
              <a:xfrm>
                <a:off x="2801"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u</a:t>
                </a:r>
                <a:endParaRPr lang="en-US" altLang="zh-CN" sz="2400">
                  <a:latin typeface="Times New Roman" charset="0"/>
                </a:endParaRPr>
              </a:p>
            </p:txBody>
          </p:sp>
          <p:sp>
            <p:nvSpPr>
              <p:cNvPr id="294" name="Rectangle 132"/>
              <p:cNvSpPr>
                <a:spLocks noChangeArrowheads="1"/>
              </p:cNvSpPr>
              <p:nvPr/>
            </p:nvSpPr>
            <p:spPr bwMode="auto">
              <a:xfrm>
                <a:off x="2854"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295" name="Rectangle 133"/>
              <p:cNvSpPr>
                <a:spLocks noChangeArrowheads="1"/>
              </p:cNvSpPr>
              <p:nvPr/>
            </p:nvSpPr>
            <p:spPr bwMode="auto">
              <a:xfrm>
                <a:off x="2908"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296" name="Rectangle 134"/>
              <p:cNvSpPr>
                <a:spLocks noChangeArrowheads="1"/>
              </p:cNvSpPr>
              <p:nvPr/>
            </p:nvSpPr>
            <p:spPr bwMode="auto">
              <a:xfrm>
                <a:off x="2961"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297" name="Rectangle 135"/>
              <p:cNvSpPr>
                <a:spLocks noChangeArrowheads="1"/>
              </p:cNvSpPr>
              <p:nvPr/>
            </p:nvSpPr>
            <p:spPr bwMode="auto">
              <a:xfrm>
                <a:off x="3015" y="2037"/>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298" name="Rectangle 136"/>
              <p:cNvSpPr>
                <a:spLocks noChangeArrowheads="1"/>
              </p:cNvSpPr>
              <p:nvPr/>
            </p:nvSpPr>
            <p:spPr bwMode="auto">
              <a:xfrm>
                <a:off x="3068"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299" name="Rectangle 137"/>
              <p:cNvSpPr>
                <a:spLocks noChangeArrowheads="1"/>
              </p:cNvSpPr>
              <p:nvPr/>
            </p:nvSpPr>
            <p:spPr bwMode="auto">
              <a:xfrm>
                <a:off x="3122"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300" name="Rectangle 138"/>
              <p:cNvSpPr>
                <a:spLocks noChangeArrowheads="1"/>
              </p:cNvSpPr>
              <p:nvPr/>
            </p:nvSpPr>
            <p:spPr bwMode="auto">
              <a:xfrm>
                <a:off x="3175" y="2037"/>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301" name="Rectangle 139"/>
              <p:cNvSpPr>
                <a:spLocks noChangeArrowheads="1"/>
              </p:cNvSpPr>
              <p:nvPr/>
            </p:nvSpPr>
            <p:spPr bwMode="auto">
              <a:xfrm>
                <a:off x="3229"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m</a:t>
                </a:r>
                <a:endParaRPr lang="en-US" altLang="zh-CN" sz="2400">
                  <a:latin typeface="Times New Roman" charset="0"/>
                </a:endParaRPr>
              </a:p>
            </p:txBody>
          </p:sp>
          <p:sp>
            <p:nvSpPr>
              <p:cNvPr id="302" name="Rectangle 140"/>
              <p:cNvSpPr>
                <a:spLocks noChangeArrowheads="1"/>
              </p:cNvSpPr>
              <p:nvPr/>
            </p:nvSpPr>
            <p:spPr bwMode="auto">
              <a:xfrm>
                <a:off x="3282"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303" name="Rectangle 141"/>
              <p:cNvSpPr>
                <a:spLocks noChangeArrowheads="1"/>
              </p:cNvSpPr>
              <p:nvPr/>
            </p:nvSpPr>
            <p:spPr bwMode="auto">
              <a:xfrm>
                <a:off x="3336"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m</a:t>
                </a:r>
                <a:endParaRPr lang="en-US" altLang="zh-CN" sz="2400">
                  <a:latin typeface="Times New Roman" charset="0"/>
                </a:endParaRPr>
              </a:p>
            </p:txBody>
          </p:sp>
          <p:sp>
            <p:nvSpPr>
              <p:cNvPr id="304" name="Rectangle 142"/>
              <p:cNvSpPr>
                <a:spLocks noChangeArrowheads="1"/>
              </p:cNvSpPr>
              <p:nvPr/>
            </p:nvSpPr>
            <p:spPr bwMode="auto">
              <a:xfrm>
                <a:off x="3389"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05" name="Rectangle 143"/>
              <p:cNvSpPr>
                <a:spLocks noChangeArrowheads="1"/>
              </p:cNvSpPr>
              <p:nvPr/>
            </p:nvSpPr>
            <p:spPr bwMode="auto">
              <a:xfrm>
                <a:off x="3443"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306" name="Rectangle 144"/>
              <p:cNvSpPr>
                <a:spLocks noChangeArrowheads="1"/>
              </p:cNvSpPr>
              <p:nvPr/>
            </p:nvSpPr>
            <p:spPr bwMode="auto">
              <a:xfrm>
                <a:off x="3496"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307" name="Rectangle 145"/>
              <p:cNvSpPr>
                <a:spLocks noChangeArrowheads="1"/>
              </p:cNvSpPr>
              <p:nvPr/>
            </p:nvSpPr>
            <p:spPr bwMode="auto">
              <a:xfrm>
                <a:off x="3550" y="2037"/>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308" name="Rectangle 146"/>
              <p:cNvSpPr>
                <a:spLocks noChangeArrowheads="1"/>
              </p:cNvSpPr>
              <p:nvPr/>
            </p:nvSpPr>
            <p:spPr bwMode="auto">
              <a:xfrm>
                <a:off x="3603"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309" name="Rectangle 147"/>
              <p:cNvSpPr>
                <a:spLocks noChangeArrowheads="1"/>
              </p:cNvSpPr>
              <p:nvPr/>
            </p:nvSpPr>
            <p:spPr bwMode="auto">
              <a:xfrm>
                <a:off x="3657"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10" name="Rectangle 148"/>
              <p:cNvSpPr>
                <a:spLocks noChangeArrowheads="1"/>
              </p:cNvSpPr>
              <p:nvPr/>
            </p:nvSpPr>
            <p:spPr bwMode="auto">
              <a:xfrm>
                <a:off x="3710"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311" name="Rectangle 149"/>
              <p:cNvSpPr>
                <a:spLocks noChangeArrowheads="1"/>
              </p:cNvSpPr>
              <p:nvPr/>
            </p:nvSpPr>
            <p:spPr bwMode="auto">
              <a:xfrm>
                <a:off x="3764"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12" name="Rectangle 150"/>
              <p:cNvSpPr>
                <a:spLocks noChangeArrowheads="1"/>
              </p:cNvSpPr>
              <p:nvPr/>
            </p:nvSpPr>
            <p:spPr bwMode="auto">
              <a:xfrm>
                <a:off x="3817"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u</a:t>
                </a:r>
                <a:endParaRPr lang="en-US" altLang="zh-CN" sz="2400">
                  <a:latin typeface="Times New Roman" charset="0"/>
                </a:endParaRPr>
              </a:p>
            </p:txBody>
          </p:sp>
          <p:sp>
            <p:nvSpPr>
              <p:cNvPr id="313" name="Rectangle 151"/>
              <p:cNvSpPr>
                <a:spLocks noChangeArrowheads="1"/>
              </p:cNvSpPr>
              <p:nvPr/>
            </p:nvSpPr>
            <p:spPr bwMode="auto">
              <a:xfrm>
                <a:off x="3871" y="203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314" name="Freeform 152"/>
              <p:cNvSpPr>
                <a:spLocks/>
              </p:cNvSpPr>
              <p:nvPr/>
            </p:nvSpPr>
            <p:spPr bwMode="auto">
              <a:xfrm>
                <a:off x="2239" y="2389"/>
                <a:ext cx="88" cy="51"/>
              </a:xfrm>
              <a:custGeom>
                <a:avLst/>
                <a:gdLst/>
                <a:ahLst/>
                <a:cxnLst>
                  <a:cxn ang="0">
                    <a:pos x="77" y="22"/>
                  </a:cxn>
                  <a:cxn ang="0">
                    <a:pos x="88" y="46"/>
                  </a:cxn>
                  <a:cxn ang="0">
                    <a:pos x="0" y="51"/>
                  </a:cxn>
                  <a:cxn ang="0">
                    <a:pos x="72" y="0"/>
                  </a:cxn>
                  <a:cxn ang="0">
                    <a:pos x="80" y="24"/>
                  </a:cxn>
                  <a:cxn ang="0">
                    <a:pos x="80" y="24"/>
                  </a:cxn>
                </a:cxnLst>
                <a:rect l="0" t="0" r="r" b="b"/>
                <a:pathLst>
                  <a:path w="88" h="51">
                    <a:moveTo>
                      <a:pt x="77" y="22"/>
                    </a:moveTo>
                    <a:lnTo>
                      <a:pt x="88" y="46"/>
                    </a:lnTo>
                    <a:lnTo>
                      <a:pt x="0" y="51"/>
                    </a:lnTo>
                    <a:lnTo>
                      <a:pt x="72" y="0"/>
                    </a:lnTo>
                    <a:lnTo>
                      <a:pt x="80" y="24"/>
                    </a:lnTo>
                    <a:lnTo>
                      <a:pt x="80" y="24"/>
                    </a:lnTo>
                  </a:path>
                </a:pathLst>
              </a:custGeom>
              <a:noFill/>
              <a:ln w="7938">
                <a:solidFill>
                  <a:srgbClr val="000000"/>
                </a:solidFill>
                <a:prstDash val="solid"/>
                <a:round/>
                <a:headEnd/>
                <a:tailEnd/>
              </a:ln>
            </p:spPr>
            <p:txBody>
              <a:bodyPr/>
              <a:lstStyle/>
              <a:p>
                <a:endParaRPr lang="zh-CN" altLang="en-US"/>
              </a:p>
            </p:txBody>
          </p:sp>
          <p:sp>
            <p:nvSpPr>
              <p:cNvPr id="315" name="Freeform 153"/>
              <p:cNvSpPr>
                <a:spLocks/>
              </p:cNvSpPr>
              <p:nvPr/>
            </p:nvSpPr>
            <p:spPr bwMode="auto">
              <a:xfrm>
                <a:off x="2239" y="2389"/>
                <a:ext cx="88" cy="51"/>
              </a:xfrm>
              <a:custGeom>
                <a:avLst/>
                <a:gdLst/>
                <a:ahLst/>
                <a:cxnLst>
                  <a:cxn ang="0">
                    <a:pos x="77" y="22"/>
                  </a:cxn>
                  <a:cxn ang="0">
                    <a:pos x="88" y="46"/>
                  </a:cxn>
                  <a:cxn ang="0">
                    <a:pos x="0" y="51"/>
                  </a:cxn>
                  <a:cxn ang="0">
                    <a:pos x="72" y="0"/>
                  </a:cxn>
                  <a:cxn ang="0">
                    <a:pos x="77" y="22"/>
                  </a:cxn>
                </a:cxnLst>
                <a:rect l="0" t="0" r="r" b="b"/>
                <a:pathLst>
                  <a:path w="88" h="51">
                    <a:moveTo>
                      <a:pt x="77" y="22"/>
                    </a:moveTo>
                    <a:lnTo>
                      <a:pt x="88" y="46"/>
                    </a:lnTo>
                    <a:lnTo>
                      <a:pt x="0" y="51"/>
                    </a:lnTo>
                    <a:lnTo>
                      <a:pt x="72" y="0"/>
                    </a:lnTo>
                    <a:lnTo>
                      <a:pt x="77" y="22"/>
                    </a:lnTo>
                    <a:close/>
                  </a:path>
                </a:pathLst>
              </a:custGeom>
              <a:solidFill>
                <a:srgbClr val="000000"/>
              </a:solidFill>
              <a:ln w="9525">
                <a:noFill/>
                <a:round/>
                <a:headEnd/>
                <a:tailEnd/>
              </a:ln>
            </p:spPr>
            <p:txBody>
              <a:bodyPr/>
              <a:lstStyle/>
              <a:p>
                <a:endParaRPr lang="zh-CN" altLang="en-US"/>
              </a:p>
            </p:txBody>
          </p:sp>
          <p:sp>
            <p:nvSpPr>
              <p:cNvPr id="316" name="Line 154"/>
              <p:cNvSpPr>
                <a:spLocks noChangeShapeType="1"/>
              </p:cNvSpPr>
              <p:nvPr/>
            </p:nvSpPr>
            <p:spPr bwMode="auto">
              <a:xfrm flipH="1">
                <a:off x="2322" y="2167"/>
                <a:ext cx="685" cy="244"/>
              </a:xfrm>
              <a:prstGeom prst="line">
                <a:avLst/>
              </a:prstGeom>
              <a:noFill/>
              <a:ln w="7938">
                <a:solidFill>
                  <a:srgbClr val="000000"/>
                </a:solidFill>
                <a:round/>
                <a:headEnd/>
                <a:tailEnd/>
              </a:ln>
            </p:spPr>
            <p:txBody>
              <a:bodyPr/>
              <a:lstStyle/>
              <a:p>
                <a:endParaRPr lang="zh-CN" altLang="en-US"/>
              </a:p>
            </p:txBody>
          </p:sp>
          <p:sp>
            <p:nvSpPr>
              <p:cNvPr id="317" name="Freeform 155"/>
              <p:cNvSpPr>
                <a:spLocks/>
              </p:cNvSpPr>
              <p:nvPr/>
            </p:nvSpPr>
            <p:spPr bwMode="auto">
              <a:xfrm>
                <a:off x="3838" y="2416"/>
                <a:ext cx="89" cy="51"/>
              </a:xfrm>
              <a:custGeom>
                <a:avLst/>
                <a:gdLst/>
                <a:ahLst/>
                <a:cxnLst>
                  <a:cxn ang="0">
                    <a:pos x="8" y="24"/>
                  </a:cxn>
                  <a:cxn ang="0">
                    <a:pos x="16" y="0"/>
                  </a:cxn>
                  <a:cxn ang="0">
                    <a:pos x="89" y="51"/>
                  </a:cxn>
                  <a:cxn ang="0">
                    <a:pos x="0" y="45"/>
                  </a:cxn>
                  <a:cxn ang="0">
                    <a:pos x="8" y="24"/>
                  </a:cxn>
                  <a:cxn ang="0">
                    <a:pos x="8" y="24"/>
                  </a:cxn>
                </a:cxnLst>
                <a:rect l="0" t="0" r="r" b="b"/>
                <a:pathLst>
                  <a:path w="89" h="51">
                    <a:moveTo>
                      <a:pt x="8" y="24"/>
                    </a:moveTo>
                    <a:lnTo>
                      <a:pt x="16" y="0"/>
                    </a:lnTo>
                    <a:lnTo>
                      <a:pt x="89" y="51"/>
                    </a:lnTo>
                    <a:lnTo>
                      <a:pt x="0" y="45"/>
                    </a:lnTo>
                    <a:lnTo>
                      <a:pt x="8" y="24"/>
                    </a:lnTo>
                    <a:lnTo>
                      <a:pt x="8" y="24"/>
                    </a:lnTo>
                  </a:path>
                </a:pathLst>
              </a:custGeom>
              <a:noFill/>
              <a:ln w="7938">
                <a:solidFill>
                  <a:srgbClr val="000000"/>
                </a:solidFill>
                <a:prstDash val="solid"/>
                <a:round/>
                <a:headEnd/>
                <a:tailEnd/>
              </a:ln>
            </p:spPr>
            <p:txBody>
              <a:bodyPr/>
              <a:lstStyle/>
              <a:p>
                <a:endParaRPr lang="zh-CN" altLang="en-US"/>
              </a:p>
            </p:txBody>
          </p:sp>
          <p:sp>
            <p:nvSpPr>
              <p:cNvPr id="318" name="Freeform 156"/>
              <p:cNvSpPr>
                <a:spLocks/>
              </p:cNvSpPr>
              <p:nvPr/>
            </p:nvSpPr>
            <p:spPr bwMode="auto">
              <a:xfrm>
                <a:off x="3838" y="2416"/>
                <a:ext cx="89" cy="51"/>
              </a:xfrm>
              <a:custGeom>
                <a:avLst/>
                <a:gdLst/>
                <a:ahLst/>
                <a:cxnLst>
                  <a:cxn ang="0">
                    <a:pos x="8" y="21"/>
                  </a:cxn>
                  <a:cxn ang="0">
                    <a:pos x="16" y="0"/>
                  </a:cxn>
                  <a:cxn ang="0">
                    <a:pos x="89" y="51"/>
                  </a:cxn>
                  <a:cxn ang="0">
                    <a:pos x="0" y="45"/>
                  </a:cxn>
                  <a:cxn ang="0">
                    <a:pos x="8" y="21"/>
                  </a:cxn>
                </a:cxnLst>
                <a:rect l="0" t="0" r="r" b="b"/>
                <a:pathLst>
                  <a:path w="89" h="51">
                    <a:moveTo>
                      <a:pt x="8" y="21"/>
                    </a:moveTo>
                    <a:lnTo>
                      <a:pt x="16" y="0"/>
                    </a:lnTo>
                    <a:lnTo>
                      <a:pt x="89" y="51"/>
                    </a:lnTo>
                    <a:lnTo>
                      <a:pt x="0" y="45"/>
                    </a:lnTo>
                    <a:lnTo>
                      <a:pt x="8" y="21"/>
                    </a:lnTo>
                    <a:close/>
                  </a:path>
                </a:pathLst>
              </a:custGeom>
              <a:solidFill>
                <a:srgbClr val="000000"/>
              </a:solidFill>
              <a:ln w="9525">
                <a:noFill/>
                <a:round/>
                <a:headEnd/>
                <a:tailEnd/>
              </a:ln>
            </p:spPr>
            <p:txBody>
              <a:bodyPr/>
              <a:lstStyle/>
              <a:p>
                <a:endParaRPr lang="zh-CN" altLang="en-US"/>
              </a:p>
            </p:txBody>
          </p:sp>
          <p:sp>
            <p:nvSpPr>
              <p:cNvPr id="319" name="Line 157"/>
              <p:cNvSpPr>
                <a:spLocks noChangeShapeType="1"/>
              </p:cNvSpPr>
              <p:nvPr/>
            </p:nvSpPr>
            <p:spPr bwMode="auto">
              <a:xfrm>
                <a:off x="3007" y="2167"/>
                <a:ext cx="837" cy="273"/>
              </a:xfrm>
              <a:prstGeom prst="line">
                <a:avLst/>
              </a:prstGeom>
              <a:noFill/>
              <a:ln w="7938">
                <a:solidFill>
                  <a:srgbClr val="000000"/>
                </a:solidFill>
                <a:round/>
                <a:headEnd/>
                <a:tailEnd/>
              </a:ln>
            </p:spPr>
            <p:txBody>
              <a:bodyPr/>
              <a:lstStyle/>
              <a:p>
                <a:endParaRPr lang="zh-CN" altLang="en-US"/>
              </a:p>
            </p:txBody>
          </p:sp>
          <p:sp>
            <p:nvSpPr>
              <p:cNvPr id="320" name="Rectangle 158"/>
              <p:cNvSpPr>
                <a:spLocks noChangeArrowheads="1"/>
              </p:cNvSpPr>
              <p:nvPr/>
            </p:nvSpPr>
            <p:spPr bwMode="auto">
              <a:xfrm>
                <a:off x="1479"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21" name="Rectangle 159"/>
              <p:cNvSpPr>
                <a:spLocks noChangeArrowheads="1"/>
              </p:cNvSpPr>
              <p:nvPr/>
            </p:nvSpPr>
            <p:spPr bwMode="auto">
              <a:xfrm>
                <a:off x="1533"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22" name="Rectangle 160"/>
              <p:cNvSpPr>
                <a:spLocks noChangeArrowheads="1"/>
              </p:cNvSpPr>
              <p:nvPr/>
            </p:nvSpPr>
            <p:spPr bwMode="auto">
              <a:xfrm>
                <a:off x="1586"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23" name="Rectangle 161"/>
              <p:cNvSpPr>
                <a:spLocks noChangeArrowheads="1"/>
              </p:cNvSpPr>
              <p:nvPr/>
            </p:nvSpPr>
            <p:spPr bwMode="auto">
              <a:xfrm>
                <a:off x="1640"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h</a:t>
                </a:r>
                <a:endParaRPr lang="en-US" altLang="zh-CN" sz="2400">
                  <a:latin typeface="Times New Roman" charset="0"/>
                </a:endParaRPr>
              </a:p>
            </p:txBody>
          </p:sp>
          <p:sp>
            <p:nvSpPr>
              <p:cNvPr id="324" name="Rectangle 162"/>
              <p:cNvSpPr>
                <a:spLocks noChangeArrowheads="1"/>
              </p:cNvSpPr>
              <p:nvPr/>
            </p:nvSpPr>
            <p:spPr bwMode="auto">
              <a:xfrm>
                <a:off x="1693"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325" name="Rectangle 163"/>
              <p:cNvSpPr>
                <a:spLocks noChangeArrowheads="1"/>
              </p:cNvSpPr>
              <p:nvPr/>
            </p:nvSpPr>
            <p:spPr bwMode="auto">
              <a:xfrm>
                <a:off x="1747" y="202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326" name="Rectangle 164"/>
              <p:cNvSpPr>
                <a:spLocks noChangeArrowheads="1"/>
              </p:cNvSpPr>
              <p:nvPr/>
            </p:nvSpPr>
            <p:spPr bwMode="auto">
              <a:xfrm>
                <a:off x="1800"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b</a:t>
                </a:r>
                <a:endParaRPr lang="en-US" altLang="zh-CN" sz="2400">
                  <a:latin typeface="Times New Roman" charset="0"/>
                </a:endParaRPr>
              </a:p>
            </p:txBody>
          </p:sp>
          <p:sp>
            <p:nvSpPr>
              <p:cNvPr id="327" name="Rectangle 165"/>
              <p:cNvSpPr>
                <a:spLocks noChangeArrowheads="1"/>
              </p:cNvSpPr>
              <p:nvPr/>
            </p:nvSpPr>
            <p:spPr bwMode="auto">
              <a:xfrm>
                <a:off x="1854"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328" name="Rectangle 166"/>
              <p:cNvSpPr>
                <a:spLocks noChangeArrowheads="1"/>
              </p:cNvSpPr>
              <p:nvPr/>
            </p:nvSpPr>
            <p:spPr bwMode="auto">
              <a:xfrm>
                <a:off x="1907"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29" name="Rectangle 167"/>
              <p:cNvSpPr>
                <a:spLocks noChangeArrowheads="1"/>
              </p:cNvSpPr>
              <p:nvPr/>
            </p:nvSpPr>
            <p:spPr bwMode="auto">
              <a:xfrm>
                <a:off x="1961"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30" name="Rectangle 168"/>
              <p:cNvSpPr>
                <a:spLocks noChangeArrowheads="1"/>
              </p:cNvSpPr>
              <p:nvPr/>
            </p:nvSpPr>
            <p:spPr bwMode="auto">
              <a:xfrm>
                <a:off x="2014" y="20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k</a:t>
                </a:r>
                <a:endParaRPr lang="en-US" altLang="zh-CN" sz="2400">
                  <a:latin typeface="Times New Roman" charset="0"/>
                </a:endParaRPr>
              </a:p>
            </p:txBody>
          </p:sp>
          <p:sp>
            <p:nvSpPr>
              <p:cNvPr id="331" name="Rectangle 169"/>
              <p:cNvSpPr>
                <a:spLocks noChangeArrowheads="1"/>
              </p:cNvSpPr>
              <p:nvPr/>
            </p:nvSpPr>
            <p:spPr bwMode="auto">
              <a:xfrm>
                <a:off x="1479"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s</a:t>
                </a:r>
                <a:endParaRPr lang="en-US" altLang="zh-CN" sz="2400">
                  <a:latin typeface="Times New Roman" charset="0"/>
                </a:endParaRPr>
              </a:p>
            </p:txBody>
          </p:sp>
          <p:sp>
            <p:nvSpPr>
              <p:cNvPr id="332" name="Rectangle 170"/>
              <p:cNvSpPr>
                <a:spLocks noChangeArrowheads="1"/>
              </p:cNvSpPr>
              <p:nvPr/>
            </p:nvSpPr>
            <p:spPr bwMode="auto">
              <a:xfrm>
                <a:off x="1533"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333" name="Rectangle 171"/>
              <p:cNvSpPr>
                <a:spLocks noChangeArrowheads="1"/>
              </p:cNvSpPr>
              <p:nvPr/>
            </p:nvSpPr>
            <p:spPr bwMode="auto">
              <a:xfrm>
                <a:off x="1586"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334" name="Rectangle 172"/>
              <p:cNvSpPr>
                <a:spLocks noChangeArrowheads="1"/>
              </p:cNvSpPr>
              <p:nvPr/>
            </p:nvSpPr>
            <p:spPr bwMode="auto">
              <a:xfrm>
                <a:off x="1640"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35" name="Rectangle 173"/>
              <p:cNvSpPr>
                <a:spLocks noChangeArrowheads="1"/>
              </p:cNvSpPr>
              <p:nvPr/>
            </p:nvSpPr>
            <p:spPr bwMode="auto">
              <a:xfrm>
                <a:off x="1693"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d</a:t>
                </a:r>
                <a:endParaRPr lang="en-US" altLang="zh-CN" sz="2400">
                  <a:latin typeface="Times New Roman" charset="0"/>
                </a:endParaRPr>
              </a:p>
            </p:txBody>
          </p:sp>
          <p:sp>
            <p:nvSpPr>
              <p:cNvPr id="336" name="Rectangle 174"/>
              <p:cNvSpPr>
                <a:spLocks noChangeArrowheads="1"/>
              </p:cNvSpPr>
              <p:nvPr/>
            </p:nvSpPr>
            <p:spPr bwMode="auto">
              <a:xfrm>
                <a:off x="1747"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d</a:t>
                </a:r>
                <a:endParaRPr lang="en-US" altLang="zh-CN" sz="2400">
                  <a:latin typeface="Times New Roman" charset="0"/>
                </a:endParaRPr>
              </a:p>
            </p:txBody>
          </p:sp>
          <p:sp>
            <p:nvSpPr>
              <p:cNvPr id="337" name="Rectangle 175"/>
              <p:cNvSpPr>
                <a:spLocks noChangeArrowheads="1"/>
              </p:cNvSpPr>
              <p:nvPr/>
            </p:nvSpPr>
            <p:spPr bwMode="auto">
              <a:xfrm>
                <a:off x="1800"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338" name="Rectangle 176"/>
              <p:cNvSpPr>
                <a:spLocks noChangeArrowheads="1"/>
              </p:cNvSpPr>
              <p:nvPr/>
            </p:nvSpPr>
            <p:spPr bwMode="auto">
              <a:xfrm>
                <a:off x="1854"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339" name="Rectangle 177"/>
              <p:cNvSpPr>
                <a:spLocks noChangeArrowheads="1"/>
              </p:cNvSpPr>
              <p:nvPr/>
            </p:nvSpPr>
            <p:spPr bwMode="auto">
              <a:xfrm>
                <a:off x="1907"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s</a:t>
                </a:r>
                <a:endParaRPr lang="en-US" altLang="zh-CN" sz="2400">
                  <a:latin typeface="Times New Roman" charset="0"/>
                </a:endParaRPr>
              </a:p>
            </p:txBody>
          </p:sp>
          <p:sp>
            <p:nvSpPr>
              <p:cNvPr id="340" name="Rectangle 178"/>
              <p:cNvSpPr>
                <a:spLocks noChangeArrowheads="1"/>
              </p:cNvSpPr>
              <p:nvPr/>
            </p:nvSpPr>
            <p:spPr bwMode="auto">
              <a:xfrm>
                <a:off x="1961" y="2125"/>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341" name="Rectangle 179"/>
              <p:cNvSpPr>
                <a:spLocks noChangeArrowheads="1"/>
              </p:cNvSpPr>
              <p:nvPr/>
            </p:nvSpPr>
            <p:spPr bwMode="auto">
              <a:xfrm>
                <a:off x="2014"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342" name="Rectangle 180"/>
              <p:cNvSpPr>
                <a:spLocks noChangeArrowheads="1"/>
              </p:cNvSpPr>
              <p:nvPr/>
            </p:nvSpPr>
            <p:spPr bwMode="auto">
              <a:xfrm>
                <a:off x="2068"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43" name="Rectangle 181"/>
              <p:cNvSpPr>
                <a:spLocks noChangeArrowheads="1"/>
              </p:cNvSpPr>
              <p:nvPr/>
            </p:nvSpPr>
            <p:spPr bwMode="auto">
              <a:xfrm>
                <a:off x="2121"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344" name="Rectangle 182"/>
              <p:cNvSpPr>
                <a:spLocks noChangeArrowheads="1"/>
              </p:cNvSpPr>
              <p:nvPr/>
            </p:nvSpPr>
            <p:spPr bwMode="auto">
              <a:xfrm>
                <a:off x="2175"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345" name="Rectangle 183"/>
              <p:cNvSpPr>
                <a:spLocks noChangeArrowheads="1"/>
              </p:cNvSpPr>
              <p:nvPr/>
            </p:nvSpPr>
            <p:spPr bwMode="auto">
              <a:xfrm>
                <a:off x="2228"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346" name="Rectangle 184"/>
              <p:cNvSpPr>
                <a:spLocks noChangeArrowheads="1"/>
              </p:cNvSpPr>
              <p:nvPr/>
            </p:nvSpPr>
            <p:spPr bwMode="auto">
              <a:xfrm>
                <a:off x="2282"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347" name="Rectangle 185"/>
              <p:cNvSpPr>
                <a:spLocks noChangeArrowheads="1"/>
              </p:cNvSpPr>
              <p:nvPr/>
            </p:nvSpPr>
            <p:spPr bwMode="auto">
              <a:xfrm>
                <a:off x="2335"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348" name="Rectangle 186"/>
              <p:cNvSpPr>
                <a:spLocks noChangeArrowheads="1"/>
              </p:cNvSpPr>
              <p:nvPr/>
            </p:nvSpPr>
            <p:spPr bwMode="auto">
              <a:xfrm>
                <a:off x="2389"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49" name="Rectangle 187"/>
              <p:cNvSpPr>
                <a:spLocks noChangeArrowheads="1"/>
              </p:cNvSpPr>
              <p:nvPr/>
            </p:nvSpPr>
            <p:spPr bwMode="auto">
              <a:xfrm>
                <a:off x="2442" y="21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350" name="Freeform 188"/>
              <p:cNvSpPr>
                <a:spLocks/>
              </p:cNvSpPr>
              <p:nvPr/>
            </p:nvSpPr>
            <p:spPr bwMode="auto">
              <a:xfrm>
                <a:off x="4266" y="2911"/>
                <a:ext cx="46" cy="88"/>
              </a:xfrm>
              <a:custGeom>
                <a:avLst/>
                <a:gdLst/>
                <a:ahLst/>
                <a:cxnLst>
                  <a:cxn ang="0">
                    <a:pos x="22" y="5"/>
                  </a:cxn>
                  <a:cxn ang="0">
                    <a:pos x="46" y="10"/>
                  </a:cxn>
                  <a:cxn ang="0">
                    <a:pos x="6" y="88"/>
                  </a:cxn>
                  <a:cxn ang="0">
                    <a:pos x="0" y="0"/>
                  </a:cxn>
                  <a:cxn ang="0">
                    <a:pos x="24" y="5"/>
                  </a:cxn>
                  <a:cxn ang="0">
                    <a:pos x="24" y="5"/>
                  </a:cxn>
                </a:cxnLst>
                <a:rect l="0" t="0" r="r" b="b"/>
                <a:pathLst>
                  <a:path w="46" h="88">
                    <a:moveTo>
                      <a:pt x="22" y="5"/>
                    </a:moveTo>
                    <a:lnTo>
                      <a:pt x="46" y="10"/>
                    </a:lnTo>
                    <a:lnTo>
                      <a:pt x="6" y="88"/>
                    </a:lnTo>
                    <a:lnTo>
                      <a:pt x="0" y="0"/>
                    </a:lnTo>
                    <a:lnTo>
                      <a:pt x="24" y="5"/>
                    </a:lnTo>
                    <a:lnTo>
                      <a:pt x="24" y="5"/>
                    </a:lnTo>
                  </a:path>
                </a:pathLst>
              </a:custGeom>
              <a:noFill/>
              <a:ln w="7938">
                <a:solidFill>
                  <a:srgbClr val="000000"/>
                </a:solidFill>
                <a:prstDash val="solid"/>
                <a:round/>
                <a:headEnd/>
                <a:tailEnd/>
              </a:ln>
            </p:spPr>
            <p:txBody>
              <a:bodyPr/>
              <a:lstStyle/>
              <a:p>
                <a:endParaRPr lang="zh-CN" altLang="en-US"/>
              </a:p>
            </p:txBody>
          </p:sp>
          <p:sp>
            <p:nvSpPr>
              <p:cNvPr id="351" name="Freeform 189"/>
              <p:cNvSpPr>
                <a:spLocks/>
              </p:cNvSpPr>
              <p:nvPr/>
            </p:nvSpPr>
            <p:spPr bwMode="auto">
              <a:xfrm>
                <a:off x="4266" y="2911"/>
                <a:ext cx="46" cy="88"/>
              </a:xfrm>
              <a:custGeom>
                <a:avLst/>
                <a:gdLst/>
                <a:ahLst/>
                <a:cxnLst>
                  <a:cxn ang="0">
                    <a:pos x="22" y="5"/>
                  </a:cxn>
                  <a:cxn ang="0">
                    <a:pos x="46" y="10"/>
                  </a:cxn>
                  <a:cxn ang="0">
                    <a:pos x="6" y="88"/>
                  </a:cxn>
                  <a:cxn ang="0">
                    <a:pos x="0" y="0"/>
                  </a:cxn>
                  <a:cxn ang="0">
                    <a:pos x="22" y="5"/>
                  </a:cxn>
                </a:cxnLst>
                <a:rect l="0" t="0" r="r" b="b"/>
                <a:pathLst>
                  <a:path w="46" h="88">
                    <a:moveTo>
                      <a:pt x="22" y="5"/>
                    </a:moveTo>
                    <a:lnTo>
                      <a:pt x="46" y="10"/>
                    </a:lnTo>
                    <a:lnTo>
                      <a:pt x="6" y="88"/>
                    </a:lnTo>
                    <a:lnTo>
                      <a:pt x="0" y="0"/>
                    </a:lnTo>
                    <a:lnTo>
                      <a:pt x="22" y="5"/>
                    </a:lnTo>
                    <a:close/>
                  </a:path>
                </a:pathLst>
              </a:custGeom>
              <a:solidFill>
                <a:srgbClr val="000000"/>
              </a:solidFill>
              <a:ln w="9525">
                <a:noFill/>
                <a:round/>
                <a:headEnd/>
                <a:tailEnd/>
              </a:ln>
            </p:spPr>
            <p:txBody>
              <a:bodyPr/>
              <a:lstStyle/>
              <a:p>
                <a:endParaRPr lang="zh-CN" altLang="en-US"/>
              </a:p>
            </p:txBody>
          </p:sp>
          <p:sp>
            <p:nvSpPr>
              <p:cNvPr id="352" name="Line 190"/>
              <p:cNvSpPr>
                <a:spLocks noChangeShapeType="1"/>
              </p:cNvSpPr>
              <p:nvPr/>
            </p:nvSpPr>
            <p:spPr bwMode="auto">
              <a:xfrm flipH="1">
                <a:off x="4290" y="2293"/>
                <a:ext cx="129" cy="620"/>
              </a:xfrm>
              <a:prstGeom prst="line">
                <a:avLst/>
              </a:prstGeom>
              <a:noFill/>
              <a:ln w="7938">
                <a:solidFill>
                  <a:srgbClr val="000000"/>
                </a:solidFill>
                <a:round/>
                <a:headEnd/>
                <a:tailEnd/>
              </a:ln>
            </p:spPr>
            <p:txBody>
              <a:bodyPr/>
              <a:lstStyle/>
              <a:p>
                <a:endParaRPr lang="zh-CN" altLang="en-US"/>
              </a:p>
            </p:txBody>
          </p:sp>
          <p:sp>
            <p:nvSpPr>
              <p:cNvPr id="353" name="Freeform 191"/>
              <p:cNvSpPr>
                <a:spLocks/>
              </p:cNvSpPr>
              <p:nvPr/>
            </p:nvSpPr>
            <p:spPr bwMode="auto">
              <a:xfrm>
                <a:off x="4494" y="2836"/>
                <a:ext cx="48" cy="85"/>
              </a:xfrm>
              <a:custGeom>
                <a:avLst/>
                <a:gdLst/>
                <a:ahLst/>
                <a:cxnLst>
                  <a:cxn ang="0">
                    <a:pos x="24" y="5"/>
                  </a:cxn>
                  <a:cxn ang="0">
                    <a:pos x="48" y="0"/>
                  </a:cxn>
                  <a:cxn ang="0">
                    <a:pos x="37" y="85"/>
                  </a:cxn>
                  <a:cxn ang="0">
                    <a:pos x="0" y="8"/>
                  </a:cxn>
                  <a:cxn ang="0">
                    <a:pos x="24" y="5"/>
                  </a:cxn>
                  <a:cxn ang="0">
                    <a:pos x="24" y="5"/>
                  </a:cxn>
                </a:cxnLst>
                <a:rect l="0" t="0" r="r" b="b"/>
                <a:pathLst>
                  <a:path w="48" h="85">
                    <a:moveTo>
                      <a:pt x="24" y="5"/>
                    </a:moveTo>
                    <a:lnTo>
                      <a:pt x="48" y="0"/>
                    </a:lnTo>
                    <a:lnTo>
                      <a:pt x="37" y="85"/>
                    </a:lnTo>
                    <a:lnTo>
                      <a:pt x="0" y="8"/>
                    </a:lnTo>
                    <a:lnTo>
                      <a:pt x="24" y="5"/>
                    </a:lnTo>
                    <a:lnTo>
                      <a:pt x="24" y="5"/>
                    </a:lnTo>
                  </a:path>
                </a:pathLst>
              </a:custGeom>
              <a:noFill/>
              <a:ln w="7938">
                <a:solidFill>
                  <a:srgbClr val="000000"/>
                </a:solidFill>
                <a:prstDash val="solid"/>
                <a:round/>
                <a:headEnd/>
                <a:tailEnd/>
              </a:ln>
            </p:spPr>
            <p:txBody>
              <a:bodyPr/>
              <a:lstStyle/>
              <a:p>
                <a:endParaRPr lang="zh-CN" altLang="en-US"/>
              </a:p>
            </p:txBody>
          </p:sp>
          <p:sp>
            <p:nvSpPr>
              <p:cNvPr id="354" name="Freeform 192"/>
              <p:cNvSpPr>
                <a:spLocks/>
              </p:cNvSpPr>
              <p:nvPr/>
            </p:nvSpPr>
            <p:spPr bwMode="auto">
              <a:xfrm>
                <a:off x="4494" y="2836"/>
                <a:ext cx="48" cy="85"/>
              </a:xfrm>
              <a:custGeom>
                <a:avLst/>
                <a:gdLst/>
                <a:ahLst/>
                <a:cxnLst>
                  <a:cxn ang="0">
                    <a:pos x="21" y="2"/>
                  </a:cxn>
                  <a:cxn ang="0">
                    <a:pos x="48" y="0"/>
                  </a:cxn>
                  <a:cxn ang="0">
                    <a:pos x="37" y="85"/>
                  </a:cxn>
                  <a:cxn ang="0">
                    <a:pos x="0" y="8"/>
                  </a:cxn>
                  <a:cxn ang="0">
                    <a:pos x="21" y="2"/>
                  </a:cxn>
                </a:cxnLst>
                <a:rect l="0" t="0" r="r" b="b"/>
                <a:pathLst>
                  <a:path w="48" h="85">
                    <a:moveTo>
                      <a:pt x="21" y="2"/>
                    </a:moveTo>
                    <a:lnTo>
                      <a:pt x="48" y="0"/>
                    </a:lnTo>
                    <a:lnTo>
                      <a:pt x="37" y="85"/>
                    </a:lnTo>
                    <a:lnTo>
                      <a:pt x="0" y="8"/>
                    </a:lnTo>
                    <a:lnTo>
                      <a:pt x="21" y="2"/>
                    </a:lnTo>
                    <a:close/>
                  </a:path>
                </a:pathLst>
              </a:custGeom>
              <a:solidFill>
                <a:srgbClr val="000000"/>
              </a:solidFill>
              <a:ln w="9525">
                <a:noFill/>
                <a:round/>
                <a:headEnd/>
                <a:tailEnd/>
              </a:ln>
            </p:spPr>
            <p:txBody>
              <a:bodyPr/>
              <a:lstStyle/>
              <a:p>
                <a:endParaRPr lang="zh-CN" altLang="en-US"/>
              </a:p>
            </p:txBody>
          </p:sp>
          <p:sp>
            <p:nvSpPr>
              <p:cNvPr id="355" name="Line 193"/>
              <p:cNvSpPr>
                <a:spLocks noChangeShapeType="1"/>
              </p:cNvSpPr>
              <p:nvPr/>
            </p:nvSpPr>
            <p:spPr bwMode="auto">
              <a:xfrm>
                <a:off x="4419" y="2293"/>
                <a:ext cx="99" cy="545"/>
              </a:xfrm>
              <a:prstGeom prst="line">
                <a:avLst/>
              </a:prstGeom>
              <a:noFill/>
              <a:ln w="7938">
                <a:solidFill>
                  <a:srgbClr val="000000"/>
                </a:solidFill>
                <a:round/>
                <a:headEnd/>
                <a:tailEnd/>
              </a:ln>
            </p:spPr>
            <p:txBody>
              <a:bodyPr/>
              <a:lstStyle/>
              <a:p>
                <a:endParaRPr lang="zh-CN" altLang="en-US"/>
              </a:p>
            </p:txBody>
          </p:sp>
          <p:sp>
            <p:nvSpPr>
              <p:cNvPr id="356" name="Rectangle 194"/>
              <p:cNvSpPr>
                <a:spLocks noChangeArrowheads="1"/>
              </p:cNvSpPr>
              <p:nvPr/>
            </p:nvSpPr>
            <p:spPr bwMode="auto">
              <a:xfrm>
                <a:off x="4307"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57" name="Rectangle 195"/>
              <p:cNvSpPr>
                <a:spLocks noChangeArrowheads="1"/>
              </p:cNvSpPr>
              <p:nvPr/>
            </p:nvSpPr>
            <p:spPr bwMode="auto">
              <a:xfrm>
                <a:off x="4360"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58" name="Rectangle 196"/>
              <p:cNvSpPr>
                <a:spLocks noChangeArrowheads="1"/>
              </p:cNvSpPr>
              <p:nvPr/>
            </p:nvSpPr>
            <p:spPr bwMode="auto">
              <a:xfrm>
                <a:off x="4414"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59" name="Rectangle 197"/>
              <p:cNvSpPr>
                <a:spLocks noChangeArrowheads="1"/>
              </p:cNvSpPr>
              <p:nvPr/>
            </p:nvSpPr>
            <p:spPr bwMode="auto">
              <a:xfrm>
                <a:off x="4467"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h</a:t>
                </a:r>
                <a:endParaRPr lang="en-US" altLang="zh-CN" sz="2400">
                  <a:latin typeface="Times New Roman" charset="0"/>
                </a:endParaRPr>
              </a:p>
            </p:txBody>
          </p:sp>
          <p:sp>
            <p:nvSpPr>
              <p:cNvPr id="360" name="Rectangle 198"/>
              <p:cNvSpPr>
                <a:spLocks noChangeArrowheads="1"/>
              </p:cNvSpPr>
              <p:nvPr/>
            </p:nvSpPr>
            <p:spPr bwMode="auto">
              <a:xfrm>
                <a:off x="4521"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361" name="Rectangle 199"/>
              <p:cNvSpPr>
                <a:spLocks noChangeArrowheads="1"/>
              </p:cNvSpPr>
              <p:nvPr/>
            </p:nvSpPr>
            <p:spPr bwMode="auto">
              <a:xfrm>
                <a:off x="4574" y="2077"/>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362" name="Rectangle 200"/>
              <p:cNvSpPr>
                <a:spLocks noChangeArrowheads="1"/>
              </p:cNvSpPr>
              <p:nvPr/>
            </p:nvSpPr>
            <p:spPr bwMode="auto">
              <a:xfrm>
                <a:off x="4627"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b</a:t>
                </a:r>
                <a:endParaRPr lang="en-US" altLang="zh-CN" sz="2400">
                  <a:latin typeface="Times New Roman" charset="0"/>
                </a:endParaRPr>
              </a:p>
            </p:txBody>
          </p:sp>
          <p:sp>
            <p:nvSpPr>
              <p:cNvPr id="363" name="Rectangle 201"/>
              <p:cNvSpPr>
                <a:spLocks noChangeArrowheads="1"/>
              </p:cNvSpPr>
              <p:nvPr/>
            </p:nvSpPr>
            <p:spPr bwMode="auto">
              <a:xfrm>
                <a:off x="4681"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364" name="Rectangle 202"/>
              <p:cNvSpPr>
                <a:spLocks noChangeArrowheads="1"/>
              </p:cNvSpPr>
              <p:nvPr/>
            </p:nvSpPr>
            <p:spPr bwMode="auto">
              <a:xfrm>
                <a:off x="4734"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65" name="Rectangle 203"/>
              <p:cNvSpPr>
                <a:spLocks noChangeArrowheads="1"/>
              </p:cNvSpPr>
              <p:nvPr/>
            </p:nvSpPr>
            <p:spPr bwMode="auto">
              <a:xfrm>
                <a:off x="4788"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c</a:t>
                </a:r>
                <a:endParaRPr lang="en-US" altLang="zh-CN" sz="2400">
                  <a:latin typeface="Times New Roman" charset="0"/>
                </a:endParaRPr>
              </a:p>
            </p:txBody>
          </p:sp>
          <p:sp>
            <p:nvSpPr>
              <p:cNvPr id="366" name="Rectangle 204"/>
              <p:cNvSpPr>
                <a:spLocks noChangeArrowheads="1"/>
              </p:cNvSpPr>
              <p:nvPr/>
            </p:nvSpPr>
            <p:spPr bwMode="auto">
              <a:xfrm>
                <a:off x="4841"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k</a:t>
                </a:r>
                <a:endParaRPr lang="en-US" altLang="zh-CN" sz="2400">
                  <a:latin typeface="Times New Roman" charset="0"/>
                </a:endParaRPr>
              </a:p>
            </p:txBody>
          </p:sp>
        </p:grpSp>
        <p:sp>
          <p:nvSpPr>
            <p:cNvPr id="8" name="Rectangle 205"/>
            <p:cNvSpPr>
              <a:spLocks noChangeArrowheads="1"/>
            </p:cNvSpPr>
            <p:nvPr/>
          </p:nvSpPr>
          <p:spPr bwMode="auto">
            <a:xfrm>
              <a:off x="4895" y="2077"/>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9" name="Rectangle 206"/>
            <p:cNvSpPr>
              <a:spLocks noChangeArrowheads="1"/>
            </p:cNvSpPr>
            <p:nvPr/>
          </p:nvSpPr>
          <p:spPr bwMode="auto">
            <a:xfrm>
              <a:off x="4948"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10" name="Rectangle 207"/>
            <p:cNvSpPr>
              <a:spLocks noChangeArrowheads="1"/>
            </p:cNvSpPr>
            <p:nvPr/>
          </p:nvSpPr>
          <p:spPr bwMode="auto">
            <a:xfrm>
              <a:off x="5002" y="2077"/>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s</a:t>
              </a:r>
              <a:endParaRPr lang="en-US" altLang="zh-CN" sz="2400">
                <a:latin typeface="Times New Roman" charset="0"/>
              </a:endParaRPr>
            </a:p>
          </p:txBody>
        </p:sp>
        <p:sp>
          <p:nvSpPr>
            <p:cNvPr id="11" name="Rectangle 208"/>
            <p:cNvSpPr>
              <a:spLocks noChangeArrowheads="1"/>
            </p:cNvSpPr>
            <p:nvPr/>
          </p:nvSpPr>
          <p:spPr bwMode="auto">
            <a:xfrm>
              <a:off x="5055" y="2077"/>
              <a:ext cx="0" cy="233"/>
            </a:xfrm>
            <a:prstGeom prst="rect">
              <a:avLst/>
            </a:prstGeom>
            <a:noFill/>
            <a:ln w="9525">
              <a:noFill/>
              <a:miter lim="800000"/>
              <a:headEnd/>
              <a:tailEnd/>
            </a:ln>
          </p:spPr>
          <p:txBody>
            <a:bodyPr wrap="none" lIns="0" tIns="0" rIns="0" bIns="0">
              <a:spAutoFit/>
            </a:bodyPr>
            <a:lstStyle/>
            <a:p>
              <a:endParaRPr lang="zh-CN" altLang="en-US" sz="2400">
                <a:latin typeface="Times New Roman" charset="0"/>
              </a:endParaRPr>
            </a:p>
          </p:txBody>
        </p:sp>
        <p:sp>
          <p:nvSpPr>
            <p:cNvPr id="12" name="Rectangle 209"/>
            <p:cNvSpPr>
              <a:spLocks noChangeArrowheads="1"/>
            </p:cNvSpPr>
            <p:nvPr/>
          </p:nvSpPr>
          <p:spPr bwMode="auto">
            <a:xfrm>
              <a:off x="4307"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w</a:t>
              </a:r>
              <a:endParaRPr lang="en-US" altLang="zh-CN" sz="2400">
                <a:latin typeface="Times New Roman" charset="0"/>
              </a:endParaRPr>
            </a:p>
          </p:txBody>
        </p:sp>
        <p:sp>
          <p:nvSpPr>
            <p:cNvPr id="13" name="Rectangle 210"/>
            <p:cNvSpPr>
              <a:spLocks noChangeArrowheads="1"/>
            </p:cNvSpPr>
            <p:nvPr/>
          </p:nvSpPr>
          <p:spPr bwMode="auto">
            <a:xfrm>
              <a:off x="4360"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14" name="Rectangle 211"/>
            <p:cNvSpPr>
              <a:spLocks noChangeArrowheads="1"/>
            </p:cNvSpPr>
            <p:nvPr/>
          </p:nvSpPr>
          <p:spPr bwMode="auto">
            <a:xfrm>
              <a:off x="4414"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15" name="Rectangle 212"/>
            <p:cNvSpPr>
              <a:spLocks noChangeArrowheads="1"/>
            </p:cNvSpPr>
            <p:nvPr/>
          </p:nvSpPr>
          <p:spPr bwMode="auto">
            <a:xfrm>
              <a:off x="4467"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h</a:t>
              </a:r>
              <a:endParaRPr lang="en-US" altLang="zh-CN" sz="2400">
                <a:latin typeface="Times New Roman" charset="0"/>
              </a:endParaRPr>
            </a:p>
          </p:txBody>
        </p:sp>
        <p:sp>
          <p:nvSpPr>
            <p:cNvPr id="16" name="Rectangle 213"/>
            <p:cNvSpPr>
              <a:spLocks noChangeArrowheads="1"/>
            </p:cNvSpPr>
            <p:nvPr/>
          </p:nvSpPr>
          <p:spPr bwMode="auto">
            <a:xfrm>
              <a:off x="4521"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17" name="Rectangle 214"/>
            <p:cNvSpPr>
              <a:spLocks noChangeArrowheads="1"/>
            </p:cNvSpPr>
            <p:nvPr/>
          </p:nvSpPr>
          <p:spPr bwMode="auto">
            <a:xfrm>
              <a:off x="4574"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18" name="Rectangle 215"/>
            <p:cNvSpPr>
              <a:spLocks noChangeArrowheads="1"/>
            </p:cNvSpPr>
            <p:nvPr/>
          </p:nvSpPr>
          <p:spPr bwMode="auto">
            <a:xfrm>
              <a:off x="4627" y="2178"/>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19" name="Rectangle 216"/>
            <p:cNvSpPr>
              <a:spLocks noChangeArrowheads="1"/>
            </p:cNvSpPr>
            <p:nvPr/>
          </p:nvSpPr>
          <p:spPr bwMode="auto">
            <a:xfrm>
              <a:off x="4681"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20" name="Rectangle 217"/>
            <p:cNvSpPr>
              <a:spLocks noChangeArrowheads="1"/>
            </p:cNvSpPr>
            <p:nvPr/>
          </p:nvSpPr>
          <p:spPr bwMode="auto">
            <a:xfrm>
              <a:off x="4734" y="2178"/>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21" name="Rectangle 218"/>
            <p:cNvSpPr>
              <a:spLocks noChangeArrowheads="1"/>
            </p:cNvSpPr>
            <p:nvPr/>
          </p:nvSpPr>
          <p:spPr bwMode="auto">
            <a:xfrm>
              <a:off x="4788"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22" name="Rectangle 219"/>
            <p:cNvSpPr>
              <a:spLocks noChangeArrowheads="1"/>
            </p:cNvSpPr>
            <p:nvPr/>
          </p:nvSpPr>
          <p:spPr bwMode="auto">
            <a:xfrm>
              <a:off x="4841"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23" name="Rectangle 220"/>
            <p:cNvSpPr>
              <a:spLocks noChangeArrowheads="1"/>
            </p:cNvSpPr>
            <p:nvPr/>
          </p:nvSpPr>
          <p:spPr bwMode="auto">
            <a:xfrm>
              <a:off x="4895"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24" name="Rectangle 221"/>
            <p:cNvSpPr>
              <a:spLocks noChangeArrowheads="1"/>
            </p:cNvSpPr>
            <p:nvPr/>
          </p:nvSpPr>
          <p:spPr bwMode="auto">
            <a:xfrm>
              <a:off x="4948"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25" name="Rectangle 222"/>
            <p:cNvSpPr>
              <a:spLocks noChangeArrowheads="1"/>
            </p:cNvSpPr>
            <p:nvPr/>
          </p:nvSpPr>
          <p:spPr bwMode="auto">
            <a:xfrm>
              <a:off x="5002"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26" name="Rectangle 223"/>
            <p:cNvSpPr>
              <a:spLocks noChangeArrowheads="1"/>
            </p:cNvSpPr>
            <p:nvPr/>
          </p:nvSpPr>
          <p:spPr bwMode="auto">
            <a:xfrm>
              <a:off x="5055" y="2178"/>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27" name="Freeform 224"/>
            <p:cNvSpPr>
              <a:spLocks/>
            </p:cNvSpPr>
            <p:nvPr/>
          </p:nvSpPr>
          <p:spPr bwMode="auto">
            <a:xfrm>
              <a:off x="2068" y="2911"/>
              <a:ext cx="48" cy="88"/>
            </a:xfrm>
            <a:custGeom>
              <a:avLst/>
              <a:gdLst/>
              <a:ahLst/>
              <a:cxnLst>
                <a:cxn ang="0">
                  <a:pos x="24" y="5"/>
                </a:cxn>
                <a:cxn ang="0">
                  <a:pos x="48" y="0"/>
                </a:cxn>
                <a:cxn ang="0">
                  <a:pos x="42" y="88"/>
                </a:cxn>
                <a:cxn ang="0">
                  <a:pos x="0" y="10"/>
                </a:cxn>
                <a:cxn ang="0">
                  <a:pos x="24" y="5"/>
                </a:cxn>
                <a:cxn ang="0">
                  <a:pos x="24" y="5"/>
                </a:cxn>
              </a:cxnLst>
              <a:rect l="0" t="0" r="r" b="b"/>
              <a:pathLst>
                <a:path w="48" h="88">
                  <a:moveTo>
                    <a:pt x="24" y="5"/>
                  </a:moveTo>
                  <a:lnTo>
                    <a:pt x="48" y="0"/>
                  </a:lnTo>
                  <a:lnTo>
                    <a:pt x="42" y="88"/>
                  </a:lnTo>
                  <a:lnTo>
                    <a:pt x="0" y="10"/>
                  </a:lnTo>
                  <a:lnTo>
                    <a:pt x="24" y="5"/>
                  </a:lnTo>
                  <a:lnTo>
                    <a:pt x="24" y="5"/>
                  </a:lnTo>
                </a:path>
              </a:pathLst>
            </a:custGeom>
            <a:noFill/>
            <a:ln w="7938">
              <a:solidFill>
                <a:srgbClr val="000000"/>
              </a:solidFill>
              <a:prstDash val="solid"/>
              <a:round/>
              <a:headEnd/>
              <a:tailEnd/>
            </a:ln>
          </p:spPr>
          <p:txBody>
            <a:bodyPr/>
            <a:lstStyle/>
            <a:p>
              <a:endParaRPr lang="zh-CN" altLang="en-US"/>
            </a:p>
          </p:txBody>
        </p:sp>
        <p:sp>
          <p:nvSpPr>
            <p:cNvPr id="28" name="Freeform 225"/>
            <p:cNvSpPr>
              <a:spLocks/>
            </p:cNvSpPr>
            <p:nvPr/>
          </p:nvSpPr>
          <p:spPr bwMode="auto">
            <a:xfrm>
              <a:off x="2068" y="2911"/>
              <a:ext cx="48" cy="88"/>
            </a:xfrm>
            <a:custGeom>
              <a:avLst/>
              <a:gdLst/>
              <a:ahLst/>
              <a:cxnLst>
                <a:cxn ang="0">
                  <a:pos x="24" y="5"/>
                </a:cxn>
                <a:cxn ang="0">
                  <a:pos x="48" y="0"/>
                </a:cxn>
                <a:cxn ang="0">
                  <a:pos x="42" y="88"/>
                </a:cxn>
                <a:cxn ang="0">
                  <a:pos x="0" y="10"/>
                </a:cxn>
                <a:cxn ang="0">
                  <a:pos x="24" y="5"/>
                </a:cxn>
              </a:cxnLst>
              <a:rect l="0" t="0" r="r" b="b"/>
              <a:pathLst>
                <a:path w="48" h="88">
                  <a:moveTo>
                    <a:pt x="24" y="5"/>
                  </a:moveTo>
                  <a:lnTo>
                    <a:pt x="48" y="0"/>
                  </a:lnTo>
                  <a:lnTo>
                    <a:pt x="42" y="88"/>
                  </a:lnTo>
                  <a:lnTo>
                    <a:pt x="0" y="10"/>
                  </a:lnTo>
                  <a:lnTo>
                    <a:pt x="24" y="5"/>
                  </a:lnTo>
                  <a:close/>
                </a:path>
              </a:pathLst>
            </a:custGeom>
            <a:solidFill>
              <a:srgbClr val="000000"/>
            </a:solidFill>
            <a:ln w="9525">
              <a:noFill/>
              <a:round/>
              <a:headEnd/>
              <a:tailEnd/>
            </a:ln>
          </p:spPr>
          <p:txBody>
            <a:bodyPr/>
            <a:lstStyle/>
            <a:p>
              <a:endParaRPr lang="zh-CN" altLang="en-US"/>
            </a:p>
          </p:txBody>
        </p:sp>
        <p:sp>
          <p:nvSpPr>
            <p:cNvPr id="29" name="Line 226"/>
            <p:cNvSpPr>
              <a:spLocks noChangeShapeType="1"/>
            </p:cNvSpPr>
            <p:nvPr/>
          </p:nvSpPr>
          <p:spPr bwMode="auto">
            <a:xfrm>
              <a:off x="1937" y="2266"/>
              <a:ext cx="155" cy="647"/>
            </a:xfrm>
            <a:prstGeom prst="line">
              <a:avLst/>
            </a:prstGeom>
            <a:noFill/>
            <a:ln w="7938">
              <a:solidFill>
                <a:srgbClr val="000000"/>
              </a:solidFill>
              <a:round/>
              <a:headEnd/>
              <a:tailEnd/>
            </a:ln>
          </p:spPr>
          <p:txBody>
            <a:bodyPr/>
            <a:lstStyle/>
            <a:p>
              <a:endParaRPr lang="zh-CN" altLang="en-US"/>
            </a:p>
          </p:txBody>
        </p:sp>
        <p:sp>
          <p:nvSpPr>
            <p:cNvPr id="30" name="Rectangle 227"/>
            <p:cNvSpPr>
              <a:spLocks noChangeArrowheads="1"/>
            </p:cNvSpPr>
            <p:nvPr/>
          </p:nvSpPr>
          <p:spPr bwMode="auto">
            <a:xfrm>
              <a:off x="1479"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b</a:t>
              </a:r>
              <a:endParaRPr lang="en-US" altLang="zh-CN" sz="2400">
                <a:latin typeface="Times New Roman" charset="0"/>
              </a:endParaRPr>
            </a:p>
          </p:txBody>
        </p:sp>
        <p:sp>
          <p:nvSpPr>
            <p:cNvPr id="31" name="Rectangle 228"/>
            <p:cNvSpPr>
              <a:spLocks noChangeArrowheads="1"/>
            </p:cNvSpPr>
            <p:nvPr/>
          </p:nvSpPr>
          <p:spPr bwMode="auto">
            <a:xfrm>
              <a:off x="1533"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32" name="Rectangle 229"/>
            <p:cNvSpPr>
              <a:spLocks noChangeArrowheads="1"/>
            </p:cNvSpPr>
            <p:nvPr/>
          </p:nvSpPr>
          <p:spPr bwMode="auto">
            <a:xfrm>
              <a:off x="1586"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u</a:t>
              </a:r>
              <a:endParaRPr lang="en-US" altLang="zh-CN" sz="2400">
                <a:latin typeface="Times New Roman" charset="0"/>
              </a:endParaRPr>
            </a:p>
          </p:txBody>
        </p:sp>
        <p:sp>
          <p:nvSpPr>
            <p:cNvPr id="33" name="Rectangle 230"/>
            <p:cNvSpPr>
              <a:spLocks noChangeArrowheads="1"/>
            </p:cNvSpPr>
            <p:nvPr/>
          </p:nvSpPr>
          <p:spPr bwMode="auto">
            <a:xfrm>
              <a:off x="1640"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34" name="Rectangle 231"/>
            <p:cNvSpPr>
              <a:spLocks noChangeArrowheads="1"/>
            </p:cNvSpPr>
            <p:nvPr/>
          </p:nvSpPr>
          <p:spPr bwMode="auto">
            <a:xfrm>
              <a:off x="1693"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d</a:t>
              </a:r>
              <a:endParaRPr lang="en-US" altLang="zh-CN" sz="2400">
                <a:latin typeface="Times New Roman" charset="0"/>
              </a:endParaRPr>
            </a:p>
          </p:txBody>
        </p:sp>
        <p:sp>
          <p:nvSpPr>
            <p:cNvPr id="35" name="Rectangle 232"/>
            <p:cNvSpPr>
              <a:spLocks noChangeArrowheads="1"/>
            </p:cNvSpPr>
            <p:nvPr/>
          </p:nvSpPr>
          <p:spPr bwMode="auto">
            <a:xfrm>
              <a:off x="1747"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36" name="Rectangle 233"/>
            <p:cNvSpPr>
              <a:spLocks noChangeArrowheads="1"/>
            </p:cNvSpPr>
            <p:nvPr/>
          </p:nvSpPr>
          <p:spPr bwMode="auto">
            <a:xfrm>
              <a:off x="1800"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37" name="Rectangle 234"/>
            <p:cNvSpPr>
              <a:spLocks noChangeArrowheads="1"/>
            </p:cNvSpPr>
            <p:nvPr/>
          </p:nvSpPr>
          <p:spPr bwMode="auto">
            <a:xfrm>
              <a:off x="1854" y="22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38" name="Rectangle 235"/>
            <p:cNvSpPr>
              <a:spLocks noChangeArrowheads="1"/>
            </p:cNvSpPr>
            <p:nvPr/>
          </p:nvSpPr>
          <p:spPr bwMode="auto">
            <a:xfrm>
              <a:off x="1166" y="403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39" name="Rectangle 236"/>
            <p:cNvSpPr>
              <a:spLocks noChangeArrowheads="1"/>
            </p:cNvSpPr>
            <p:nvPr/>
          </p:nvSpPr>
          <p:spPr bwMode="auto">
            <a:xfrm>
              <a:off x="1220"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40" name="Rectangle 237"/>
            <p:cNvSpPr>
              <a:spLocks noChangeArrowheads="1"/>
            </p:cNvSpPr>
            <p:nvPr/>
          </p:nvSpPr>
          <p:spPr bwMode="auto">
            <a:xfrm>
              <a:off x="1273" y="403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41" name="Rectangle 238"/>
            <p:cNvSpPr>
              <a:spLocks noChangeArrowheads="1"/>
            </p:cNvSpPr>
            <p:nvPr/>
          </p:nvSpPr>
          <p:spPr bwMode="auto">
            <a:xfrm>
              <a:off x="1327" y="403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42" name="Rectangle 239"/>
            <p:cNvSpPr>
              <a:spLocks noChangeArrowheads="1"/>
            </p:cNvSpPr>
            <p:nvPr/>
          </p:nvSpPr>
          <p:spPr bwMode="auto">
            <a:xfrm>
              <a:off x="1380"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T</a:t>
              </a:r>
              <a:endParaRPr lang="en-US" altLang="zh-CN" sz="2400">
                <a:latin typeface="Times New Roman" charset="0"/>
              </a:endParaRPr>
            </a:p>
          </p:txBody>
        </p:sp>
        <p:sp>
          <p:nvSpPr>
            <p:cNvPr id="43" name="Rectangle 240"/>
            <p:cNvSpPr>
              <a:spLocks noChangeArrowheads="1"/>
            </p:cNvSpPr>
            <p:nvPr/>
          </p:nvSpPr>
          <p:spPr bwMode="auto">
            <a:xfrm>
              <a:off x="1426"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w</a:t>
              </a:r>
              <a:endParaRPr lang="en-US" altLang="zh-CN" sz="2400">
                <a:latin typeface="Times New Roman" charset="0"/>
              </a:endParaRPr>
            </a:p>
          </p:txBody>
        </p:sp>
        <p:sp>
          <p:nvSpPr>
            <p:cNvPr id="44" name="Rectangle 241"/>
            <p:cNvSpPr>
              <a:spLocks noChangeArrowheads="1"/>
            </p:cNvSpPr>
            <p:nvPr/>
          </p:nvSpPr>
          <p:spPr bwMode="auto">
            <a:xfrm>
              <a:off x="1479"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45" name="Rectangle 242"/>
            <p:cNvSpPr>
              <a:spLocks noChangeArrowheads="1"/>
            </p:cNvSpPr>
            <p:nvPr/>
          </p:nvSpPr>
          <p:spPr bwMode="auto">
            <a:xfrm>
              <a:off x="1533" y="403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46" name="Rectangle 243"/>
            <p:cNvSpPr>
              <a:spLocks noChangeArrowheads="1"/>
            </p:cNvSpPr>
            <p:nvPr/>
          </p:nvSpPr>
          <p:spPr bwMode="auto">
            <a:xfrm>
              <a:off x="1586"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d</a:t>
              </a:r>
              <a:endParaRPr lang="en-US" altLang="zh-CN" sz="2400">
                <a:latin typeface="Times New Roman" charset="0"/>
              </a:endParaRPr>
            </a:p>
          </p:txBody>
        </p:sp>
        <p:sp>
          <p:nvSpPr>
            <p:cNvPr id="47" name="Rectangle 244"/>
            <p:cNvSpPr>
              <a:spLocks noChangeArrowheads="1"/>
            </p:cNvSpPr>
            <p:nvPr/>
          </p:nvSpPr>
          <p:spPr bwMode="auto">
            <a:xfrm>
              <a:off x="1640"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48" name="Rectangle 245"/>
            <p:cNvSpPr>
              <a:spLocks noChangeArrowheads="1"/>
            </p:cNvSpPr>
            <p:nvPr/>
          </p:nvSpPr>
          <p:spPr bwMode="auto">
            <a:xfrm>
              <a:off x="1693"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m</a:t>
              </a:r>
              <a:endParaRPr lang="en-US" altLang="zh-CN" sz="2400">
                <a:latin typeface="Times New Roman" charset="0"/>
              </a:endParaRPr>
            </a:p>
          </p:txBody>
        </p:sp>
        <p:sp>
          <p:nvSpPr>
            <p:cNvPr id="49" name="Rectangle 246"/>
            <p:cNvSpPr>
              <a:spLocks noChangeArrowheads="1"/>
            </p:cNvSpPr>
            <p:nvPr/>
          </p:nvSpPr>
          <p:spPr bwMode="auto">
            <a:xfrm>
              <a:off x="1747"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50" name="Rectangle 247"/>
            <p:cNvSpPr>
              <a:spLocks noChangeArrowheads="1"/>
            </p:cNvSpPr>
            <p:nvPr/>
          </p:nvSpPr>
          <p:spPr bwMode="auto">
            <a:xfrm>
              <a:off x="1800"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51" name="Rectangle 248"/>
            <p:cNvSpPr>
              <a:spLocks noChangeArrowheads="1"/>
            </p:cNvSpPr>
            <p:nvPr/>
          </p:nvSpPr>
          <p:spPr bwMode="auto">
            <a:xfrm>
              <a:off x="1854"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s</a:t>
              </a:r>
              <a:endParaRPr lang="en-US" altLang="zh-CN" sz="2400">
                <a:latin typeface="Times New Roman" charset="0"/>
              </a:endParaRPr>
            </a:p>
          </p:txBody>
        </p:sp>
        <p:sp>
          <p:nvSpPr>
            <p:cNvPr id="52" name="Rectangle 249"/>
            <p:cNvSpPr>
              <a:spLocks noChangeArrowheads="1"/>
            </p:cNvSpPr>
            <p:nvPr/>
          </p:nvSpPr>
          <p:spPr bwMode="auto">
            <a:xfrm>
              <a:off x="1907"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53" name="Rectangle 250"/>
            <p:cNvSpPr>
              <a:spLocks noChangeArrowheads="1"/>
            </p:cNvSpPr>
            <p:nvPr/>
          </p:nvSpPr>
          <p:spPr bwMode="auto">
            <a:xfrm>
              <a:off x="1961"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54" name="Rectangle 251"/>
            <p:cNvSpPr>
              <a:spLocks noChangeArrowheads="1"/>
            </p:cNvSpPr>
            <p:nvPr/>
          </p:nvSpPr>
          <p:spPr bwMode="auto">
            <a:xfrm>
              <a:off x="2014"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55" name="Rectangle 252"/>
            <p:cNvSpPr>
              <a:spLocks noChangeArrowheads="1"/>
            </p:cNvSpPr>
            <p:nvPr/>
          </p:nvSpPr>
          <p:spPr bwMode="auto">
            <a:xfrm>
              <a:off x="2068"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56" name="Rectangle 253"/>
            <p:cNvSpPr>
              <a:spLocks noChangeArrowheads="1"/>
            </p:cNvSpPr>
            <p:nvPr/>
          </p:nvSpPr>
          <p:spPr bwMode="auto">
            <a:xfrm>
              <a:off x="2121"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57" name="Rectangle 254"/>
            <p:cNvSpPr>
              <a:spLocks noChangeArrowheads="1"/>
            </p:cNvSpPr>
            <p:nvPr/>
          </p:nvSpPr>
          <p:spPr bwMode="auto">
            <a:xfrm>
              <a:off x="2175" y="4036"/>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58" name="Rectangle 255"/>
            <p:cNvSpPr>
              <a:spLocks noChangeArrowheads="1"/>
            </p:cNvSpPr>
            <p:nvPr/>
          </p:nvSpPr>
          <p:spPr bwMode="auto">
            <a:xfrm>
              <a:off x="2228"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59" name="Rectangle 256"/>
            <p:cNvSpPr>
              <a:spLocks noChangeArrowheads="1"/>
            </p:cNvSpPr>
            <p:nvPr/>
          </p:nvSpPr>
          <p:spPr bwMode="auto">
            <a:xfrm>
              <a:off x="2282"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60" name="Rectangle 257"/>
            <p:cNvSpPr>
              <a:spLocks noChangeArrowheads="1"/>
            </p:cNvSpPr>
            <p:nvPr/>
          </p:nvSpPr>
          <p:spPr bwMode="auto">
            <a:xfrm>
              <a:off x="2335"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61" name="Rectangle 258"/>
            <p:cNvSpPr>
              <a:spLocks noChangeArrowheads="1"/>
            </p:cNvSpPr>
            <p:nvPr/>
          </p:nvSpPr>
          <p:spPr bwMode="auto">
            <a:xfrm>
              <a:off x="2389"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62" name="Rectangle 259"/>
            <p:cNvSpPr>
              <a:spLocks noChangeArrowheads="1"/>
            </p:cNvSpPr>
            <p:nvPr/>
          </p:nvSpPr>
          <p:spPr bwMode="auto">
            <a:xfrm>
              <a:off x="2442" y="403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63" name="Rectangle 260"/>
            <p:cNvSpPr>
              <a:spLocks noChangeArrowheads="1"/>
            </p:cNvSpPr>
            <p:nvPr/>
          </p:nvSpPr>
          <p:spPr bwMode="auto">
            <a:xfrm>
              <a:off x="3715" y="4044"/>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64" name="Rectangle 261"/>
            <p:cNvSpPr>
              <a:spLocks noChangeArrowheads="1"/>
            </p:cNvSpPr>
            <p:nvPr/>
          </p:nvSpPr>
          <p:spPr bwMode="auto">
            <a:xfrm>
              <a:off x="3769"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b</a:t>
              </a:r>
              <a:endParaRPr lang="en-US" altLang="zh-CN" sz="2400">
                <a:latin typeface="Times New Roman" charset="0"/>
              </a:endParaRPr>
            </a:p>
          </p:txBody>
        </p:sp>
        <p:sp>
          <p:nvSpPr>
            <p:cNvPr id="65" name="Rectangle 262"/>
            <p:cNvSpPr>
              <a:spLocks noChangeArrowheads="1"/>
            </p:cNvSpPr>
            <p:nvPr/>
          </p:nvSpPr>
          <p:spPr bwMode="auto">
            <a:xfrm>
              <a:off x="3822" y="4044"/>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66" name="Rectangle 263"/>
            <p:cNvSpPr>
              <a:spLocks noChangeArrowheads="1"/>
            </p:cNvSpPr>
            <p:nvPr/>
          </p:nvSpPr>
          <p:spPr bwMode="auto">
            <a:xfrm>
              <a:off x="3876" y="4044"/>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67" name="Rectangle 264"/>
            <p:cNvSpPr>
              <a:spLocks noChangeArrowheads="1"/>
            </p:cNvSpPr>
            <p:nvPr/>
          </p:nvSpPr>
          <p:spPr bwMode="auto">
            <a:xfrm>
              <a:off x="3929"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F</a:t>
              </a:r>
              <a:endParaRPr lang="en-US" altLang="zh-CN" sz="2400">
                <a:latin typeface="Times New Roman" charset="0"/>
              </a:endParaRPr>
            </a:p>
          </p:txBody>
        </p:sp>
        <p:sp>
          <p:nvSpPr>
            <p:cNvPr id="68" name="Rectangle 265"/>
            <p:cNvSpPr>
              <a:spLocks noChangeArrowheads="1"/>
            </p:cNvSpPr>
            <p:nvPr/>
          </p:nvSpPr>
          <p:spPr bwMode="auto">
            <a:xfrm>
              <a:off x="3983"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69" name="Rectangle 266"/>
            <p:cNvSpPr>
              <a:spLocks noChangeArrowheads="1"/>
            </p:cNvSpPr>
            <p:nvPr/>
          </p:nvSpPr>
          <p:spPr bwMode="auto">
            <a:xfrm>
              <a:off x="4036"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u</a:t>
              </a:r>
              <a:endParaRPr lang="en-US" altLang="zh-CN" sz="2400">
                <a:latin typeface="Times New Roman" charset="0"/>
              </a:endParaRPr>
            </a:p>
          </p:txBody>
        </p:sp>
        <p:sp>
          <p:nvSpPr>
            <p:cNvPr id="70" name="Rectangle 267"/>
            <p:cNvSpPr>
              <a:spLocks noChangeArrowheads="1"/>
            </p:cNvSpPr>
            <p:nvPr/>
          </p:nvSpPr>
          <p:spPr bwMode="auto">
            <a:xfrm>
              <a:off x="4090"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71" name="Rectangle 268"/>
            <p:cNvSpPr>
              <a:spLocks noChangeArrowheads="1"/>
            </p:cNvSpPr>
            <p:nvPr/>
          </p:nvSpPr>
          <p:spPr bwMode="auto">
            <a:xfrm>
              <a:off x="4138" y="4044"/>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a:t>
              </a:r>
              <a:endParaRPr lang="zh-CN" altLang="en-US" sz="2400">
                <a:latin typeface="Times New Roman" charset="0"/>
              </a:endParaRPr>
            </a:p>
          </p:txBody>
        </p:sp>
        <p:sp>
          <p:nvSpPr>
            <p:cNvPr id="72" name="Rectangle 269"/>
            <p:cNvSpPr>
              <a:spLocks noChangeArrowheads="1"/>
            </p:cNvSpPr>
            <p:nvPr/>
          </p:nvSpPr>
          <p:spPr bwMode="auto">
            <a:xfrm>
              <a:off x="4191"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d</a:t>
              </a:r>
              <a:endParaRPr lang="en-US" altLang="zh-CN" sz="2400">
                <a:latin typeface="Times New Roman" charset="0"/>
              </a:endParaRPr>
            </a:p>
          </p:txBody>
        </p:sp>
        <p:sp>
          <p:nvSpPr>
            <p:cNvPr id="73" name="Rectangle 270"/>
            <p:cNvSpPr>
              <a:spLocks noChangeArrowheads="1"/>
            </p:cNvSpPr>
            <p:nvPr/>
          </p:nvSpPr>
          <p:spPr bwMode="auto">
            <a:xfrm>
              <a:off x="4245"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74" name="Rectangle 271"/>
            <p:cNvSpPr>
              <a:spLocks noChangeArrowheads="1"/>
            </p:cNvSpPr>
            <p:nvPr/>
          </p:nvSpPr>
          <p:spPr bwMode="auto">
            <a:xfrm>
              <a:off x="4298"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m</a:t>
              </a:r>
              <a:endParaRPr lang="en-US" altLang="zh-CN" sz="2400">
                <a:latin typeface="Times New Roman" charset="0"/>
              </a:endParaRPr>
            </a:p>
          </p:txBody>
        </p:sp>
        <p:sp>
          <p:nvSpPr>
            <p:cNvPr id="75" name="Rectangle 272"/>
            <p:cNvSpPr>
              <a:spLocks noChangeArrowheads="1"/>
            </p:cNvSpPr>
            <p:nvPr/>
          </p:nvSpPr>
          <p:spPr bwMode="auto">
            <a:xfrm>
              <a:off x="4352"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e</a:t>
              </a:r>
              <a:endParaRPr lang="en-US" altLang="zh-CN" sz="2400">
                <a:latin typeface="Times New Roman" charset="0"/>
              </a:endParaRPr>
            </a:p>
          </p:txBody>
        </p:sp>
        <p:sp>
          <p:nvSpPr>
            <p:cNvPr id="76" name="Rectangle 273"/>
            <p:cNvSpPr>
              <a:spLocks noChangeArrowheads="1"/>
            </p:cNvSpPr>
            <p:nvPr/>
          </p:nvSpPr>
          <p:spPr bwMode="auto">
            <a:xfrm>
              <a:off x="4405"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77" name="Rectangle 274"/>
            <p:cNvSpPr>
              <a:spLocks noChangeArrowheads="1"/>
            </p:cNvSpPr>
            <p:nvPr/>
          </p:nvSpPr>
          <p:spPr bwMode="auto">
            <a:xfrm>
              <a:off x="4459"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s</a:t>
              </a:r>
              <a:endParaRPr lang="en-US" altLang="zh-CN" sz="2400">
                <a:latin typeface="Times New Roman" charset="0"/>
              </a:endParaRPr>
            </a:p>
          </p:txBody>
        </p:sp>
        <p:sp>
          <p:nvSpPr>
            <p:cNvPr id="78" name="Rectangle 275"/>
            <p:cNvSpPr>
              <a:spLocks noChangeArrowheads="1"/>
            </p:cNvSpPr>
            <p:nvPr/>
          </p:nvSpPr>
          <p:spPr bwMode="auto">
            <a:xfrm>
              <a:off x="4512"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i</a:t>
              </a:r>
              <a:endParaRPr lang="en-US" altLang="zh-CN" sz="2400">
                <a:latin typeface="Times New Roman" charset="0"/>
              </a:endParaRPr>
            </a:p>
          </p:txBody>
        </p:sp>
        <p:sp>
          <p:nvSpPr>
            <p:cNvPr id="79" name="Rectangle 276"/>
            <p:cNvSpPr>
              <a:spLocks noChangeArrowheads="1"/>
            </p:cNvSpPr>
            <p:nvPr/>
          </p:nvSpPr>
          <p:spPr bwMode="auto">
            <a:xfrm>
              <a:off x="4566"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o</a:t>
              </a:r>
              <a:endParaRPr lang="en-US" altLang="zh-CN" sz="2400">
                <a:latin typeface="Times New Roman" charset="0"/>
              </a:endParaRPr>
            </a:p>
          </p:txBody>
        </p:sp>
        <p:sp>
          <p:nvSpPr>
            <p:cNvPr id="80" name="Rectangle 277"/>
            <p:cNvSpPr>
              <a:spLocks noChangeArrowheads="1"/>
            </p:cNvSpPr>
            <p:nvPr/>
          </p:nvSpPr>
          <p:spPr bwMode="auto">
            <a:xfrm>
              <a:off x="4619"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n</a:t>
              </a:r>
              <a:endParaRPr lang="en-US" altLang="zh-CN" sz="2400">
                <a:latin typeface="Times New Roman" charset="0"/>
              </a:endParaRPr>
            </a:p>
          </p:txBody>
        </p:sp>
        <p:sp>
          <p:nvSpPr>
            <p:cNvPr id="81" name="Rectangle 278"/>
            <p:cNvSpPr>
              <a:spLocks noChangeArrowheads="1"/>
            </p:cNvSpPr>
            <p:nvPr/>
          </p:nvSpPr>
          <p:spPr bwMode="auto">
            <a:xfrm>
              <a:off x="4673"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82" name="Rectangle 279"/>
            <p:cNvSpPr>
              <a:spLocks noChangeArrowheads="1"/>
            </p:cNvSpPr>
            <p:nvPr/>
          </p:nvSpPr>
          <p:spPr bwMode="auto">
            <a:xfrm>
              <a:off x="4726"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l</a:t>
              </a:r>
              <a:endParaRPr lang="en-US" altLang="zh-CN" sz="2400">
                <a:latin typeface="Times New Roman" charset="0"/>
              </a:endParaRPr>
            </a:p>
          </p:txBody>
        </p:sp>
        <p:sp>
          <p:nvSpPr>
            <p:cNvPr id="83" name="Rectangle 280"/>
            <p:cNvSpPr>
              <a:spLocks noChangeArrowheads="1"/>
            </p:cNvSpPr>
            <p:nvPr/>
          </p:nvSpPr>
          <p:spPr bwMode="auto">
            <a:xfrm>
              <a:off x="4780" y="4044"/>
              <a:ext cx="53" cy="106"/>
            </a:xfrm>
            <a:prstGeom prst="rect">
              <a:avLst/>
            </a:prstGeom>
            <a:noFill/>
            <a:ln w="9525">
              <a:noFill/>
              <a:miter lim="800000"/>
              <a:headEnd/>
              <a:tailEnd/>
            </a:ln>
          </p:spPr>
          <p:txBody>
            <a:bodyPr wrap="none" lIns="0" tIns="0" rIns="0" bIns="0">
              <a:spAutoFit/>
            </a:bodyPr>
            <a:lstStyle/>
            <a:p>
              <a:r>
                <a:rPr lang="zh-CN" altLang="en-US" sz="1100">
                  <a:solidFill>
                    <a:srgbClr val="000000"/>
                  </a:solidFill>
                  <a:latin typeface="Courier New" pitchFamily="49" charset="-52"/>
                </a:rPr>
                <a:t> </a:t>
              </a:r>
              <a:endParaRPr lang="zh-CN" altLang="en-US" sz="2400">
                <a:latin typeface="Times New Roman" charset="0"/>
              </a:endParaRPr>
            </a:p>
          </p:txBody>
        </p:sp>
        <p:sp>
          <p:nvSpPr>
            <p:cNvPr id="84" name="Rectangle 281"/>
            <p:cNvSpPr>
              <a:spLocks noChangeArrowheads="1"/>
            </p:cNvSpPr>
            <p:nvPr/>
          </p:nvSpPr>
          <p:spPr bwMode="auto">
            <a:xfrm>
              <a:off x="4833"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85" name="Rectangle 282"/>
            <p:cNvSpPr>
              <a:spLocks noChangeArrowheads="1"/>
            </p:cNvSpPr>
            <p:nvPr/>
          </p:nvSpPr>
          <p:spPr bwMode="auto">
            <a:xfrm>
              <a:off x="4887"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86" name="Rectangle 283"/>
            <p:cNvSpPr>
              <a:spLocks noChangeArrowheads="1"/>
            </p:cNvSpPr>
            <p:nvPr/>
          </p:nvSpPr>
          <p:spPr bwMode="auto">
            <a:xfrm>
              <a:off x="4940"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r</a:t>
              </a:r>
              <a:endParaRPr lang="en-US" altLang="zh-CN" sz="2400">
                <a:latin typeface="Times New Roman" charset="0"/>
              </a:endParaRPr>
            </a:p>
          </p:txBody>
        </p:sp>
        <p:sp>
          <p:nvSpPr>
            <p:cNvPr id="87" name="Rectangle 284"/>
            <p:cNvSpPr>
              <a:spLocks noChangeArrowheads="1"/>
            </p:cNvSpPr>
            <p:nvPr/>
          </p:nvSpPr>
          <p:spPr bwMode="auto">
            <a:xfrm>
              <a:off x="4994"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a</a:t>
              </a:r>
              <a:endParaRPr lang="en-US" altLang="zh-CN" sz="2400">
                <a:latin typeface="Times New Roman" charset="0"/>
              </a:endParaRPr>
            </a:p>
          </p:txBody>
        </p:sp>
        <p:sp>
          <p:nvSpPr>
            <p:cNvPr id="88" name="Rectangle 285"/>
            <p:cNvSpPr>
              <a:spLocks noChangeArrowheads="1"/>
            </p:cNvSpPr>
            <p:nvPr/>
          </p:nvSpPr>
          <p:spPr bwMode="auto">
            <a:xfrm>
              <a:off x="5047" y="404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y</a:t>
              </a:r>
              <a:endParaRPr lang="en-US" altLang="zh-CN" sz="2400">
                <a:latin typeface="Times New Roman" charset="0"/>
              </a:endParaRPr>
            </a:p>
          </p:txBody>
        </p:sp>
        <p:sp>
          <p:nvSpPr>
            <p:cNvPr id="89" name="Rectangle 286"/>
            <p:cNvSpPr>
              <a:spLocks noChangeArrowheads="1"/>
            </p:cNvSpPr>
            <p:nvPr/>
          </p:nvSpPr>
          <p:spPr bwMode="auto">
            <a:xfrm>
              <a:off x="1402" y="250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90" name="Rectangle 287"/>
            <p:cNvSpPr>
              <a:spLocks noChangeArrowheads="1"/>
            </p:cNvSpPr>
            <p:nvPr/>
          </p:nvSpPr>
          <p:spPr bwMode="auto">
            <a:xfrm>
              <a:off x="1450" y="2539"/>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1</a:t>
              </a:r>
              <a:endParaRPr lang="zh-CN" altLang="en-US" sz="2400">
                <a:latin typeface="Times New Roman" charset="0"/>
              </a:endParaRPr>
            </a:p>
          </p:txBody>
        </p:sp>
        <p:sp>
          <p:nvSpPr>
            <p:cNvPr id="91" name="Rectangle 288"/>
            <p:cNvSpPr>
              <a:spLocks noChangeArrowheads="1"/>
            </p:cNvSpPr>
            <p:nvPr/>
          </p:nvSpPr>
          <p:spPr bwMode="auto">
            <a:xfrm>
              <a:off x="1035" y="2523"/>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92" name="Rectangle 289"/>
            <p:cNvSpPr>
              <a:spLocks noChangeArrowheads="1"/>
            </p:cNvSpPr>
            <p:nvPr/>
          </p:nvSpPr>
          <p:spPr bwMode="auto">
            <a:xfrm>
              <a:off x="1083" y="2556"/>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0</a:t>
              </a:r>
              <a:endParaRPr lang="zh-CN" altLang="en-US" sz="2400">
                <a:latin typeface="Times New Roman" charset="0"/>
              </a:endParaRPr>
            </a:p>
          </p:txBody>
        </p:sp>
        <p:sp>
          <p:nvSpPr>
            <p:cNvPr id="93" name="Rectangle 290"/>
            <p:cNvSpPr>
              <a:spLocks noChangeArrowheads="1"/>
            </p:cNvSpPr>
            <p:nvPr/>
          </p:nvSpPr>
          <p:spPr bwMode="auto">
            <a:xfrm>
              <a:off x="1760" y="250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94" name="Rectangle 291"/>
            <p:cNvSpPr>
              <a:spLocks noChangeArrowheads="1"/>
            </p:cNvSpPr>
            <p:nvPr/>
          </p:nvSpPr>
          <p:spPr bwMode="auto">
            <a:xfrm>
              <a:off x="1811" y="2539"/>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2</a:t>
              </a:r>
              <a:endParaRPr lang="zh-CN" altLang="en-US" sz="2400">
                <a:latin typeface="Times New Roman" charset="0"/>
              </a:endParaRPr>
            </a:p>
          </p:txBody>
        </p:sp>
        <p:sp>
          <p:nvSpPr>
            <p:cNvPr id="95" name="Rectangle 292"/>
            <p:cNvSpPr>
              <a:spLocks noChangeArrowheads="1"/>
            </p:cNvSpPr>
            <p:nvPr/>
          </p:nvSpPr>
          <p:spPr bwMode="auto">
            <a:xfrm>
              <a:off x="2169" y="250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96" name="Rectangle 293"/>
            <p:cNvSpPr>
              <a:spLocks noChangeArrowheads="1"/>
            </p:cNvSpPr>
            <p:nvPr/>
          </p:nvSpPr>
          <p:spPr bwMode="auto">
            <a:xfrm>
              <a:off x="2220" y="2539"/>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3</a:t>
              </a:r>
              <a:endParaRPr lang="zh-CN" altLang="en-US" sz="2400">
                <a:latin typeface="Times New Roman" charset="0"/>
              </a:endParaRPr>
            </a:p>
          </p:txBody>
        </p:sp>
        <p:sp>
          <p:nvSpPr>
            <p:cNvPr id="97" name="Rectangle 294"/>
            <p:cNvSpPr>
              <a:spLocks noChangeArrowheads="1"/>
            </p:cNvSpPr>
            <p:nvPr/>
          </p:nvSpPr>
          <p:spPr bwMode="auto">
            <a:xfrm>
              <a:off x="1386" y="292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98" name="Rectangle 295"/>
            <p:cNvSpPr>
              <a:spLocks noChangeArrowheads="1"/>
            </p:cNvSpPr>
            <p:nvPr/>
          </p:nvSpPr>
          <p:spPr bwMode="auto">
            <a:xfrm>
              <a:off x="1434" y="2957"/>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5</a:t>
              </a:r>
              <a:endParaRPr lang="zh-CN" altLang="en-US" sz="2400">
                <a:latin typeface="Times New Roman" charset="0"/>
              </a:endParaRPr>
            </a:p>
          </p:txBody>
        </p:sp>
        <p:sp>
          <p:nvSpPr>
            <p:cNvPr id="99" name="Rectangle 296"/>
            <p:cNvSpPr>
              <a:spLocks noChangeArrowheads="1"/>
            </p:cNvSpPr>
            <p:nvPr/>
          </p:nvSpPr>
          <p:spPr bwMode="auto">
            <a:xfrm>
              <a:off x="1779" y="2921"/>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00" name="Rectangle 297"/>
            <p:cNvSpPr>
              <a:spLocks noChangeArrowheads="1"/>
            </p:cNvSpPr>
            <p:nvPr/>
          </p:nvSpPr>
          <p:spPr bwMode="auto">
            <a:xfrm>
              <a:off x="1827" y="2957"/>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6</a:t>
              </a:r>
              <a:endParaRPr lang="zh-CN" altLang="en-US" sz="2400">
                <a:latin typeface="Times New Roman" charset="0"/>
              </a:endParaRPr>
            </a:p>
          </p:txBody>
        </p:sp>
        <p:sp>
          <p:nvSpPr>
            <p:cNvPr id="101" name="Rectangle 298"/>
            <p:cNvSpPr>
              <a:spLocks noChangeArrowheads="1"/>
            </p:cNvSpPr>
            <p:nvPr/>
          </p:nvSpPr>
          <p:spPr bwMode="auto">
            <a:xfrm>
              <a:off x="2199" y="292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02" name="Rectangle 299"/>
            <p:cNvSpPr>
              <a:spLocks noChangeArrowheads="1"/>
            </p:cNvSpPr>
            <p:nvPr/>
          </p:nvSpPr>
          <p:spPr bwMode="auto">
            <a:xfrm>
              <a:off x="2247" y="2957"/>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7</a:t>
              </a:r>
              <a:endParaRPr lang="zh-CN" altLang="en-US" sz="2400">
                <a:latin typeface="Times New Roman" charset="0"/>
              </a:endParaRPr>
            </a:p>
          </p:txBody>
        </p:sp>
        <p:sp>
          <p:nvSpPr>
            <p:cNvPr id="103" name="Rectangle 300"/>
            <p:cNvSpPr>
              <a:spLocks noChangeArrowheads="1"/>
            </p:cNvSpPr>
            <p:nvPr/>
          </p:nvSpPr>
          <p:spPr bwMode="auto">
            <a:xfrm>
              <a:off x="1016" y="2924"/>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04" name="Rectangle 301"/>
            <p:cNvSpPr>
              <a:spLocks noChangeArrowheads="1"/>
            </p:cNvSpPr>
            <p:nvPr/>
          </p:nvSpPr>
          <p:spPr bwMode="auto">
            <a:xfrm>
              <a:off x="1067" y="2957"/>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4</a:t>
              </a:r>
              <a:endParaRPr lang="zh-CN" altLang="en-US" sz="2400">
                <a:latin typeface="Times New Roman" charset="0"/>
              </a:endParaRPr>
            </a:p>
          </p:txBody>
        </p:sp>
        <p:sp>
          <p:nvSpPr>
            <p:cNvPr id="105" name="Rectangle 302"/>
            <p:cNvSpPr>
              <a:spLocks noChangeArrowheads="1"/>
            </p:cNvSpPr>
            <p:nvPr/>
          </p:nvSpPr>
          <p:spPr bwMode="auto">
            <a:xfrm>
              <a:off x="1016" y="3325"/>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06" name="Rectangle 303"/>
            <p:cNvSpPr>
              <a:spLocks noChangeArrowheads="1"/>
            </p:cNvSpPr>
            <p:nvPr/>
          </p:nvSpPr>
          <p:spPr bwMode="auto">
            <a:xfrm>
              <a:off x="1067" y="3358"/>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8</a:t>
              </a:r>
              <a:endParaRPr lang="zh-CN" altLang="en-US" sz="2400">
                <a:latin typeface="Times New Roman" charset="0"/>
              </a:endParaRPr>
            </a:p>
          </p:txBody>
        </p:sp>
        <p:sp>
          <p:nvSpPr>
            <p:cNvPr id="107" name="Rectangle 304"/>
            <p:cNvSpPr>
              <a:spLocks noChangeArrowheads="1"/>
            </p:cNvSpPr>
            <p:nvPr/>
          </p:nvSpPr>
          <p:spPr bwMode="auto">
            <a:xfrm>
              <a:off x="4368" y="249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08" name="Rectangle 305"/>
            <p:cNvSpPr>
              <a:spLocks noChangeArrowheads="1"/>
            </p:cNvSpPr>
            <p:nvPr/>
          </p:nvSpPr>
          <p:spPr bwMode="auto">
            <a:xfrm>
              <a:off x="4419" y="2529"/>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2</a:t>
              </a:r>
              <a:endParaRPr lang="zh-CN" altLang="en-US" sz="2400">
                <a:latin typeface="Times New Roman" charset="0"/>
              </a:endParaRPr>
            </a:p>
          </p:txBody>
        </p:sp>
        <p:sp>
          <p:nvSpPr>
            <p:cNvPr id="109" name="Rectangle 306"/>
            <p:cNvSpPr>
              <a:spLocks noChangeArrowheads="1"/>
            </p:cNvSpPr>
            <p:nvPr/>
          </p:nvSpPr>
          <p:spPr bwMode="auto">
            <a:xfrm>
              <a:off x="4796" y="252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10" name="Rectangle 307"/>
            <p:cNvSpPr>
              <a:spLocks noChangeArrowheads="1"/>
            </p:cNvSpPr>
            <p:nvPr/>
          </p:nvSpPr>
          <p:spPr bwMode="auto">
            <a:xfrm>
              <a:off x="4844" y="2558"/>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3</a:t>
              </a:r>
              <a:endParaRPr lang="zh-CN" altLang="en-US" sz="2400">
                <a:latin typeface="Times New Roman" charset="0"/>
              </a:endParaRPr>
            </a:p>
          </p:txBody>
        </p:sp>
        <p:sp>
          <p:nvSpPr>
            <p:cNvPr id="111" name="Rectangle 308"/>
            <p:cNvSpPr>
              <a:spLocks noChangeArrowheads="1"/>
            </p:cNvSpPr>
            <p:nvPr/>
          </p:nvSpPr>
          <p:spPr bwMode="auto">
            <a:xfrm>
              <a:off x="3943" y="2911"/>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12" name="Rectangle 309"/>
            <p:cNvSpPr>
              <a:spLocks noChangeArrowheads="1"/>
            </p:cNvSpPr>
            <p:nvPr/>
          </p:nvSpPr>
          <p:spPr bwMode="auto">
            <a:xfrm>
              <a:off x="3994" y="2943"/>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5</a:t>
              </a:r>
              <a:endParaRPr lang="zh-CN" altLang="en-US" sz="2400">
                <a:latin typeface="Times New Roman" charset="0"/>
              </a:endParaRPr>
            </a:p>
          </p:txBody>
        </p:sp>
        <p:sp>
          <p:nvSpPr>
            <p:cNvPr id="113" name="Rectangle 310"/>
            <p:cNvSpPr>
              <a:spLocks noChangeArrowheads="1"/>
            </p:cNvSpPr>
            <p:nvPr/>
          </p:nvSpPr>
          <p:spPr bwMode="auto">
            <a:xfrm>
              <a:off x="4339" y="2911"/>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14" name="Rectangle 311"/>
            <p:cNvSpPr>
              <a:spLocks noChangeArrowheads="1"/>
            </p:cNvSpPr>
            <p:nvPr/>
          </p:nvSpPr>
          <p:spPr bwMode="auto">
            <a:xfrm>
              <a:off x="4389" y="2943"/>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6</a:t>
              </a:r>
              <a:endParaRPr lang="zh-CN" altLang="en-US" sz="2400">
                <a:latin typeface="Times New Roman" charset="0"/>
              </a:endParaRPr>
            </a:p>
          </p:txBody>
        </p:sp>
        <p:sp>
          <p:nvSpPr>
            <p:cNvPr id="115" name="Rectangle 312"/>
            <p:cNvSpPr>
              <a:spLocks noChangeArrowheads="1"/>
            </p:cNvSpPr>
            <p:nvPr/>
          </p:nvSpPr>
          <p:spPr bwMode="auto">
            <a:xfrm>
              <a:off x="4777" y="2911"/>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16" name="Rectangle 313"/>
            <p:cNvSpPr>
              <a:spLocks noChangeArrowheads="1"/>
            </p:cNvSpPr>
            <p:nvPr/>
          </p:nvSpPr>
          <p:spPr bwMode="auto">
            <a:xfrm>
              <a:off x="4828" y="2943"/>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7</a:t>
              </a:r>
              <a:endParaRPr lang="zh-CN" altLang="en-US" sz="2400">
                <a:latin typeface="Times New Roman" charset="0"/>
              </a:endParaRPr>
            </a:p>
          </p:txBody>
        </p:sp>
        <p:sp>
          <p:nvSpPr>
            <p:cNvPr id="117" name="Rectangle 314"/>
            <p:cNvSpPr>
              <a:spLocks noChangeArrowheads="1"/>
            </p:cNvSpPr>
            <p:nvPr/>
          </p:nvSpPr>
          <p:spPr bwMode="auto">
            <a:xfrm>
              <a:off x="3552" y="2916"/>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18" name="Rectangle 315"/>
            <p:cNvSpPr>
              <a:spLocks noChangeArrowheads="1"/>
            </p:cNvSpPr>
            <p:nvPr/>
          </p:nvSpPr>
          <p:spPr bwMode="auto">
            <a:xfrm>
              <a:off x="3603" y="2948"/>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4</a:t>
              </a:r>
              <a:endParaRPr lang="zh-CN" altLang="en-US" sz="2400">
                <a:latin typeface="Times New Roman" charset="0"/>
              </a:endParaRPr>
            </a:p>
          </p:txBody>
        </p:sp>
        <p:sp>
          <p:nvSpPr>
            <p:cNvPr id="119" name="Rectangle 316"/>
            <p:cNvSpPr>
              <a:spLocks noChangeArrowheads="1"/>
            </p:cNvSpPr>
            <p:nvPr/>
          </p:nvSpPr>
          <p:spPr bwMode="auto">
            <a:xfrm>
              <a:off x="3552" y="3312"/>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20" name="Rectangle 317"/>
            <p:cNvSpPr>
              <a:spLocks noChangeArrowheads="1"/>
            </p:cNvSpPr>
            <p:nvPr/>
          </p:nvSpPr>
          <p:spPr bwMode="auto">
            <a:xfrm>
              <a:off x="3603" y="3344"/>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8</a:t>
              </a:r>
              <a:endParaRPr lang="zh-CN" altLang="en-US" sz="2400">
                <a:latin typeface="Times New Roman" charset="0"/>
              </a:endParaRPr>
            </a:p>
          </p:txBody>
        </p:sp>
        <p:sp>
          <p:nvSpPr>
            <p:cNvPr id="121" name="Freeform 318"/>
            <p:cNvSpPr>
              <a:spLocks/>
            </p:cNvSpPr>
            <p:nvPr/>
          </p:nvSpPr>
          <p:spPr bwMode="auto">
            <a:xfrm>
              <a:off x="3697" y="2408"/>
              <a:ext cx="85" cy="48"/>
            </a:xfrm>
            <a:custGeom>
              <a:avLst/>
              <a:gdLst/>
              <a:ahLst/>
              <a:cxnLst>
                <a:cxn ang="0">
                  <a:pos x="0" y="21"/>
                </a:cxn>
                <a:cxn ang="0">
                  <a:pos x="0" y="0"/>
                </a:cxn>
                <a:cxn ang="0">
                  <a:pos x="85" y="24"/>
                </a:cxn>
                <a:cxn ang="0">
                  <a:pos x="0" y="48"/>
                </a:cxn>
                <a:cxn ang="0">
                  <a:pos x="0" y="24"/>
                </a:cxn>
                <a:cxn ang="0">
                  <a:pos x="0" y="24"/>
                </a:cxn>
              </a:cxnLst>
              <a:rect l="0" t="0" r="r" b="b"/>
              <a:pathLst>
                <a:path w="85" h="48">
                  <a:moveTo>
                    <a:pt x="0" y="21"/>
                  </a:moveTo>
                  <a:lnTo>
                    <a:pt x="0" y="0"/>
                  </a:lnTo>
                  <a:lnTo>
                    <a:pt x="85"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122" name="Freeform 319"/>
            <p:cNvSpPr>
              <a:spLocks/>
            </p:cNvSpPr>
            <p:nvPr/>
          </p:nvSpPr>
          <p:spPr bwMode="auto">
            <a:xfrm>
              <a:off x="3697" y="2408"/>
              <a:ext cx="85" cy="48"/>
            </a:xfrm>
            <a:custGeom>
              <a:avLst/>
              <a:gdLst/>
              <a:ahLst/>
              <a:cxnLst>
                <a:cxn ang="0">
                  <a:pos x="0" y="21"/>
                </a:cxn>
                <a:cxn ang="0">
                  <a:pos x="0" y="0"/>
                </a:cxn>
                <a:cxn ang="0">
                  <a:pos x="85" y="24"/>
                </a:cxn>
                <a:cxn ang="0">
                  <a:pos x="0" y="48"/>
                </a:cxn>
                <a:cxn ang="0">
                  <a:pos x="0" y="21"/>
                </a:cxn>
              </a:cxnLst>
              <a:rect l="0" t="0" r="r" b="b"/>
              <a:pathLst>
                <a:path w="85" h="48">
                  <a:moveTo>
                    <a:pt x="0" y="21"/>
                  </a:moveTo>
                  <a:lnTo>
                    <a:pt x="0" y="0"/>
                  </a:lnTo>
                  <a:lnTo>
                    <a:pt x="85" y="24"/>
                  </a:lnTo>
                  <a:lnTo>
                    <a:pt x="0" y="48"/>
                  </a:lnTo>
                  <a:lnTo>
                    <a:pt x="0" y="21"/>
                  </a:lnTo>
                  <a:close/>
                </a:path>
              </a:pathLst>
            </a:custGeom>
            <a:solidFill>
              <a:srgbClr val="00FF00"/>
            </a:solidFill>
            <a:ln w="9525">
              <a:noFill/>
              <a:round/>
              <a:headEnd/>
              <a:tailEnd/>
            </a:ln>
          </p:spPr>
          <p:txBody>
            <a:bodyPr/>
            <a:lstStyle/>
            <a:p>
              <a:endParaRPr lang="zh-CN" altLang="en-US"/>
            </a:p>
          </p:txBody>
        </p:sp>
        <p:sp>
          <p:nvSpPr>
            <p:cNvPr id="123" name="Line 320"/>
            <p:cNvSpPr>
              <a:spLocks noChangeShapeType="1"/>
            </p:cNvSpPr>
            <p:nvPr/>
          </p:nvSpPr>
          <p:spPr bwMode="auto">
            <a:xfrm>
              <a:off x="3480" y="2429"/>
              <a:ext cx="214" cy="3"/>
            </a:xfrm>
            <a:prstGeom prst="line">
              <a:avLst/>
            </a:prstGeom>
            <a:noFill/>
            <a:ln w="7938">
              <a:solidFill>
                <a:srgbClr val="00FF00"/>
              </a:solidFill>
              <a:round/>
              <a:headEnd/>
              <a:tailEnd/>
            </a:ln>
          </p:spPr>
          <p:txBody>
            <a:bodyPr/>
            <a:lstStyle/>
            <a:p>
              <a:endParaRPr lang="zh-CN" altLang="en-US"/>
            </a:p>
          </p:txBody>
        </p:sp>
        <p:sp>
          <p:nvSpPr>
            <p:cNvPr id="124" name="Freeform 321"/>
            <p:cNvSpPr>
              <a:spLocks/>
            </p:cNvSpPr>
            <p:nvPr/>
          </p:nvSpPr>
          <p:spPr bwMode="auto">
            <a:xfrm>
              <a:off x="3491" y="2464"/>
              <a:ext cx="85" cy="46"/>
            </a:xfrm>
            <a:custGeom>
              <a:avLst/>
              <a:gdLst/>
              <a:ahLst/>
              <a:cxnLst>
                <a:cxn ang="0">
                  <a:pos x="80" y="22"/>
                </a:cxn>
                <a:cxn ang="0">
                  <a:pos x="85" y="46"/>
                </a:cxn>
                <a:cxn ang="0">
                  <a:pos x="0" y="43"/>
                </a:cxn>
                <a:cxn ang="0">
                  <a:pos x="75" y="0"/>
                </a:cxn>
                <a:cxn ang="0">
                  <a:pos x="80" y="22"/>
                </a:cxn>
                <a:cxn ang="0">
                  <a:pos x="80" y="22"/>
                </a:cxn>
              </a:cxnLst>
              <a:rect l="0" t="0" r="r" b="b"/>
              <a:pathLst>
                <a:path w="85" h="46">
                  <a:moveTo>
                    <a:pt x="80" y="22"/>
                  </a:moveTo>
                  <a:lnTo>
                    <a:pt x="85" y="46"/>
                  </a:lnTo>
                  <a:lnTo>
                    <a:pt x="0" y="43"/>
                  </a:lnTo>
                  <a:lnTo>
                    <a:pt x="75" y="0"/>
                  </a:lnTo>
                  <a:lnTo>
                    <a:pt x="80" y="22"/>
                  </a:lnTo>
                  <a:lnTo>
                    <a:pt x="80" y="22"/>
                  </a:lnTo>
                </a:path>
              </a:pathLst>
            </a:custGeom>
            <a:noFill/>
            <a:ln w="7938">
              <a:solidFill>
                <a:srgbClr val="00FF00"/>
              </a:solidFill>
              <a:prstDash val="solid"/>
              <a:round/>
              <a:headEnd/>
              <a:tailEnd/>
            </a:ln>
          </p:spPr>
          <p:txBody>
            <a:bodyPr/>
            <a:lstStyle/>
            <a:p>
              <a:endParaRPr lang="zh-CN" altLang="en-US"/>
            </a:p>
          </p:txBody>
        </p:sp>
        <p:sp>
          <p:nvSpPr>
            <p:cNvPr id="125" name="Freeform 322"/>
            <p:cNvSpPr>
              <a:spLocks/>
            </p:cNvSpPr>
            <p:nvPr/>
          </p:nvSpPr>
          <p:spPr bwMode="auto">
            <a:xfrm>
              <a:off x="3491" y="2464"/>
              <a:ext cx="85" cy="46"/>
            </a:xfrm>
            <a:custGeom>
              <a:avLst/>
              <a:gdLst/>
              <a:ahLst/>
              <a:cxnLst>
                <a:cxn ang="0">
                  <a:pos x="80" y="22"/>
                </a:cxn>
                <a:cxn ang="0">
                  <a:pos x="85" y="46"/>
                </a:cxn>
                <a:cxn ang="0">
                  <a:pos x="0" y="43"/>
                </a:cxn>
                <a:cxn ang="0">
                  <a:pos x="75" y="0"/>
                </a:cxn>
                <a:cxn ang="0">
                  <a:pos x="80" y="22"/>
                </a:cxn>
              </a:cxnLst>
              <a:rect l="0" t="0" r="r" b="b"/>
              <a:pathLst>
                <a:path w="85" h="46">
                  <a:moveTo>
                    <a:pt x="80" y="22"/>
                  </a:moveTo>
                  <a:lnTo>
                    <a:pt x="85" y="46"/>
                  </a:lnTo>
                  <a:lnTo>
                    <a:pt x="0" y="43"/>
                  </a:lnTo>
                  <a:lnTo>
                    <a:pt x="75" y="0"/>
                  </a:lnTo>
                  <a:lnTo>
                    <a:pt x="80" y="22"/>
                  </a:lnTo>
                  <a:close/>
                </a:path>
              </a:pathLst>
            </a:custGeom>
            <a:solidFill>
              <a:srgbClr val="00FF00"/>
            </a:solidFill>
            <a:ln w="9525">
              <a:noFill/>
              <a:round/>
              <a:headEnd/>
              <a:tailEnd/>
            </a:ln>
          </p:spPr>
          <p:txBody>
            <a:bodyPr/>
            <a:lstStyle/>
            <a:p>
              <a:endParaRPr lang="zh-CN" altLang="en-US"/>
            </a:p>
          </p:txBody>
        </p:sp>
        <p:sp>
          <p:nvSpPr>
            <p:cNvPr id="126" name="Line 323"/>
            <p:cNvSpPr>
              <a:spLocks noChangeShapeType="1"/>
            </p:cNvSpPr>
            <p:nvPr/>
          </p:nvSpPr>
          <p:spPr bwMode="auto">
            <a:xfrm flipH="1">
              <a:off x="3574" y="2429"/>
              <a:ext cx="216" cy="57"/>
            </a:xfrm>
            <a:prstGeom prst="line">
              <a:avLst/>
            </a:prstGeom>
            <a:noFill/>
            <a:ln w="7938">
              <a:solidFill>
                <a:srgbClr val="00FF00"/>
              </a:solidFill>
              <a:round/>
              <a:headEnd/>
              <a:tailEnd/>
            </a:ln>
          </p:spPr>
          <p:txBody>
            <a:bodyPr/>
            <a:lstStyle/>
            <a:p>
              <a:endParaRPr lang="zh-CN" altLang="en-US"/>
            </a:p>
          </p:txBody>
        </p:sp>
        <p:sp>
          <p:nvSpPr>
            <p:cNvPr id="127" name="Freeform 324"/>
            <p:cNvSpPr>
              <a:spLocks/>
            </p:cNvSpPr>
            <p:nvPr/>
          </p:nvSpPr>
          <p:spPr bwMode="auto">
            <a:xfrm>
              <a:off x="3697" y="2486"/>
              <a:ext cx="85" cy="48"/>
            </a:xfrm>
            <a:custGeom>
              <a:avLst/>
              <a:gdLst/>
              <a:ahLst/>
              <a:cxnLst>
                <a:cxn ang="0">
                  <a:pos x="0" y="24"/>
                </a:cxn>
                <a:cxn ang="0">
                  <a:pos x="0" y="0"/>
                </a:cxn>
                <a:cxn ang="0">
                  <a:pos x="85" y="24"/>
                </a:cxn>
                <a:cxn ang="0">
                  <a:pos x="0" y="48"/>
                </a:cxn>
                <a:cxn ang="0">
                  <a:pos x="0" y="24"/>
                </a:cxn>
                <a:cxn ang="0">
                  <a:pos x="0" y="24"/>
                </a:cxn>
              </a:cxnLst>
              <a:rect l="0" t="0" r="r" b="b"/>
              <a:pathLst>
                <a:path w="85" h="48">
                  <a:moveTo>
                    <a:pt x="0" y="24"/>
                  </a:moveTo>
                  <a:lnTo>
                    <a:pt x="0" y="0"/>
                  </a:lnTo>
                  <a:lnTo>
                    <a:pt x="85"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128" name="Freeform 325"/>
            <p:cNvSpPr>
              <a:spLocks/>
            </p:cNvSpPr>
            <p:nvPr/>
          </p:nvSpPr>
          <p:spPr bwMode="auto">
            <a:xfrm>
              <a:off x="3697" y="2486"/>
              <a:ext cx="85" cy="48"/>
            </a:xfrm>
            <a:custGeom>
              <a:avLst/>
              <a:gdLst/>
              <a:ahLst/>
              <a:cxnLst>
                <a:cxn ang="0">
                  <a:pos x="0" y="21"/>
                </a:cxn>
                <a:cxn ang="0">
                  <a:pos x="0" y="0"/>
                </a:cxn>
                <a:cxn ang="0">
                  <a:pos x="85" y="24"/>
                </a:cxn>
                <a:cxn ang="0">
                  <a:pos x="0" y="48"/>
                </a:cxn>
                <a:cxn ang="0">
                  <a:pos x="0" y="21"/>
                </a:cxn>
              </a:cxnLst>
              <a:rect l="0" t="0" r="r" b="b"/>
              <a:pathLst>
                <a:path w="85" h="48">
                  <a:moveTo>
                    <a:pt x="0" y="21"/>
                  </a:moveTo>
                  <a:lnTo>
                    <a:pt x="0" y="0"/>
                  </a:lnTo>
                  <a:lnTo>
                    <a:pt x="85" y="24"/>
                  </a:lnTo>
                  <a:lnTo>
                    <a:pt x="0" y="48"/>
                  </a:lnTo>
                  <a:lnTo>
                    <a:pt x="0" y="21"/>
                  </a:lnTo>
                  <a:close/>
                </a:path>
              </a:pathLst>
            </a:custGeom>
            <a:solidFill>
              <a:srgbClr val="00FF00"/>
            </a:solidFill>
            <a:ln w="9525">
              <a:noFill/>
              <a:round/>
              <a:headEnd/>
              <a:tailEnd/>
            </a:ln>
          </p:spPr>
          <p:txBody>
            <a:bodyPr/>
            <a:lstStyle/>
            <a:p>
              <a:endParaRPr lang="zh-CN" altLang="en-US"/>
            </a:p>
          </p:txBody>
        </p:sp>
        <p:sp>
          <p:nvSpPr>
            <p:cNvPr id="129" name="Line 326"/>
            <p:cNvSpPr>
              <a:spLocks noChangeShapeType="1"/>
            </p:cNvSpPr>
            <p:nvPr/>
          </p:nvSpPr>
          <p:spPr bwMode="auto">
            <a:xfrm>
              <a:off x="3480" y="2507"/>
              <a:ext cx="214" cy="3"/>
            </a:xfrm>
            <a:prstGeom prst="line">
              <a:avLst/>
            </a:prstGeom>
            <a:noFill/>
            <a:ln w="7938">
              <a:solidFill>
                <a:srgbClr val="00FF00"/>
              </a:solidFill>
              <a:round/>
              <a:headEnd/>
              <a:tailEnd/>
            </a:ln>
          </p:spPr>
          <p:txBody>
            <a:bodyPr/>
            <a:lstStyle/>
            <a:p>
              <a:endParaRPr lang="zh-CN" altLang="en-US"/>
            </a:p>
          </p:txBody>
        </p:sp>
        <p:sp>
          <p:nvSpPr>
            <p:cNvPr id="130" name="Freeform 327"/>
            <p:cNvSpPr>
              <a:spLocks/>
            </p:cNvSpPr>
            <p:nvPr/>
          </p:nvSpPr>
          <p:spPr bwMode="auto">
            <a:xfrm>
              <a:off x="3491" y="2542"/>
              <a:ext cx="85" cy="45"/>
            </a:xfrm>
            <a:custGeom>
              <a:avLst/>
              <a:gdLst/>
              <a:ahLst/>
              <a:cxnLst>
                <a:cxn ang="0">
                  <a:pos x="80" y="21"/>
                </a:cxn>
                <a:cxn ang="0">
                  <a:pos x="85" y="45"/>
                </a:cxn>
                <a:cxn ang="0">
                  <a:pos x="0" y="42"/>
                </a:cxn>
                <a:cxn ang="0">
                  <a:pos x="75" y="0"/>
                </a:cxn>
                <a:cxn ang="0">
                  <a:pos x="80" y="21"/>
                </a:cxn>
                <a:cxn ang="0">
                  <a:pos x="80" y="21"/>
                </a:cxn>
              </a:cxnLst>
              <a:rect l="0" t="0" r="r" b="b"/>
              <a:pathLst>
                <a:path w="85" h="45">
                  <a:moveTo>
                    <a:pt x="80" y="21"/>
                  </a:moveTo>
                  <a:lnTo>
                    <a:pt x="85" y="45"/>
                  </a:lnTo>
                  <a:lnTo>
                    <a:pt x="0" y="42"/>
                  </a:lnTo>
                  <a:lnTo>
                    <a:pt x="75" y="0"/>
                  </a:lnTo>
                  <a:lnTo>
                    <a:pt x="80" y="21"/>
                  </a:lnTo>
                  <a:lnTo>
                    <a:pt x="80" y="21"/>
                  </a:lnTo>
                </a:path>
              </a:pathLst>
            </a:custGeom>
            <a:noFill/>
            <a:ln w="7938">
              <a:solidFill>
                <a:srgbClr val="00FF00"/>
              </a:solidFill>
              <a:prstDash val="solid"/>
              <a:round/>
              <a:headEnd/>
              <a:tailEnd/>
            </a:ln>
          </p:spPr>
          <p:txBody>
            <a:bodyPr/>
            <a:lstStyle/>
            <a:p>
              <a:endParaRPr lang="zh-CN" altLang="en-US"/>
            </a:p>
          </p:txBody>
        </p:sp>
        <p:sp>
          <p:nvSpPr>
            <p:cNvPr id="131" name="Freeform 328"/>
            <p:cNvSpPr>
              <a:spLocks/>
            </p:cNvSpPr>
            <p:nvPr/>
          </p:nvSpPr>
          <p:spPr bwMode="auto">
            <a:xfrm>
              <a:off x="3491" y="2542"/>
              <a:ext cx="85" cy="45"/>
            </a:xfrm>
            <a:custGeom>
              <a:avLst/>
              <a:gdLst/>
              <a:ahLst/>
              <a:cxnLst>
                <a:cxn ang="0">
                  <a:pos x="80" y="21"/>
                </a:cxn>
                <a:cxn ang="0">
                  <a:pos x="85" y="45"/>
                </a:cxn>
                <a:cxn ang="0">
                  <a:pos x="0" y="42"/>
                </a:cxn>
                <a:cxn ang="0">
                  <a:pos x="75" y="0"/>
                </a:cxn>
                <a:cxn ang="0">
                  <a:pos x="80" y="21"/>
                </a:cxn>
              </a:cxnLst>
              <a:rect l="0" t="0" r="r" b="b"/>
              <a:pathLst>
                <a:path w="85" h="45">
                  <a:moveTo>
                    <a:pt x="80" y="21"/>
                  </a:moveTo>
                  <a:lnTo>
                    <a:pt x="85" y="45"/>
                  </a:lnTo>
                  <a:lnTo>
                    <a:pt x="0" y="42"/>
                  </a:lnTo>
                  <a:lnTo>
                    <a:pt x="75" y="0"/>
                  </a:lnTo>
                  <a:lnTo>
                    <a:pt x="80" y="21"/>
                  </a:lnTo>
                  <a:close/>
                </a:path>
              </a:pathLst>
            </a:custGeom>
            <a:solidFill>
              <a:srgbClr val="00FF00"/>
            </a:solidFill>
            <a:ln w="9525">
              <a:noFill/>
              <a:round/>
              <a:headEnd/>
              <a:tailEnd/>
            </a:ln>
          </p:spPr>
          <p:txBody>
            <a:bodyPr/>
            <a:lstStyle/>
            <a:p>
              <a:endParaRPr lang="zh-CN" altLang="en-US"/>
            </a:p>
          </p:txBody>
        </p:sp>
        <p:sp>
          <p:nvSpPr>
            <p:cNvPr id="132" name="Line 329"/>
            <p:cNvSpPr>
              <a:spLocks noChangeShapeType="1"/>
            </p:cNvSpPr>
            <p:nvPr/>
          </p:nvSpPr>
          <p:spPr bwMode="auto">
            <a:xfrm flipH="1">
              <a:off x="3574" y="2507"/>
              <a:ext cx="216" cy="56"/>
            </a:xfrm>
            <a:prstGeom prst="line">
              <a:avLst/>
            </a:prstGeom>
            <a:noFill/>
            <a:ln w="7938">
              <a:solidFill>
                <a:srgbClr val="00FF00"/>
              </a:solidFill>
              <a:round/>
              <a:headEnd/>
              <a:tailEnd/>
            </a:ln>
          </p:spPr>
          <p:txBody>
            <a:bodyPr/>
            <a:lstStyle/>
            <a:p>
              <a:endParaRPr lang="zh-CN" altLang="en-US"/>
            </a:p>
          </p:txBody>
        </p:sp>
        <p:sp>
          <p:nvSpPr>
            <p:cNvPr id="133" name="Freeform 330"/>
            <p:cNvSpPr>
              <a:spLocks/>
            </p:cNvSpPr>
            <p:nvPr/>
          </p:nvSpPr>
          <p:spPr bwMode="auto">
            <a:xfrm>
              <a:off x="3697" y="2563"/>
              <a:ext cx="85" cy="48"/>
            </a:xfrm>
            <a:custGeom>
              <a:avLst/>
              <a:gdLst/>
              <a:ahLst/>
              <a:cxnLst>
                <a:cxn ang="0">
                  <a:pos x="0" y="24"/>
                </a:cxn>
                <a:cxn ang="0">
                  <a:pos x="0" y="0"/>
                </a:cxn>
                <a:cxn ang="0">
                  <a:pos x="85" y="24"/>
                </a:cxn>
                <a:cxn ang="0">
                  <a:pos x="0" y="48"/>
                </a:cxn>
                <a:cxn ang="0">
                  <a:pos x="0" y="24"/>
                </a:cxn>
                <a:cxn ang="0">
                  <a:pos x="0" y="24"/>
                </a:cxn>
              </a:cxnLst>
              <a:rect l="0" t="0" r="r" b="b"/>
              <a:pathLst>
                <a:path w="85" h="48">
                  <a:moveTo>
                    <a:pt x="0" y="24"/>
                  </a:moveTo>
                  <a:lnTo>
                    <a:pt x="0" y="0"/>
                  </a:lnTo>
                  <a:lnTo>
                    <a:pt x="85"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134" name="Freeform 331"/>
            <p:cNvSpPr>
              <a:spLocks/>
            </p:cNvSpPr>
            <p:nvPr/>
          </p:nvSpPr>
          <p:spPr bwMode="auto">
            <a:xfrm>
              <a:off x="3697" y="2563"/>
              <a:ext cx="85" cy="48"/>
            </a:xfrm>
            <a:custGeom>
              <a:avLst/>
              <a:gdLst/>
              <a:ahLst/>
              <a:cxnLst>
                <a:cxn ang="0">
                  <a:pos x="0" y="21"/>
                </a:cxn>
                <a:cxn ang="0">
                  <a:pos x="0" y="0"/>
                </a:cxn>
                <a:cxn ang="0">
                  <a:pos x="85" y="24"/>
                </a:cxn>
                <a:cxn ang="0">
                  <a:pos x="0" y="48"/>
                </a:cxn>
                <a:cxn ang="0">
                  <a:pos x="0" y="21"/>
                </a:cxn>
              </a:cxnLst>
              <a:rect l="0" t="0" r="r" b="b"/>
              <a:pathLst>
                <a:path w="85" h="48">
                  <a:moveTo>
                    <a:pt x="0" y="21"/>
                  </a:moveTo>
                  <a:lnTo>
                    <a:pt x="0" y="0"/>
                  </a:lnTo>
                  <a:lnTo>
                    <a:pt x="85" y="24"/>
                  </a:lnTo>
                  <a:lnTo>
                    <a:pt x="0" y="48"/>
                  </a:lnTo>
                  <a:lnTo>
                    <a:pt x="0" y="21"/>
                  </a:lnTo>
                  <a:close/>
                </a:path>
              </a:pathLst>
            </a:custGeom>
            <a:solidFill>
              <a:srgbClr val="00FF00"/>
            </a:solidFill>
            <a:ln w="9525">
              <a:noFill/>
              <a:round/>
              <a:headEnd/>
              <a:tailEnd/>
            </a:ln>
          </p:spPr>
          <p:txBody>
            <a:bodyPr/>
            <a:lstStyle/>
            <a:p>
              <a:endParaRPr lang="zh-CN" altLang="en-US"/>
            </a:p>
          </p:txBody>
        </p:sp>
        <p:sp>
          <p:nvSpPr>
            <p:cNvPr id="135" name="Line 332"/>
            <p:cNvSpPr>
              <a:spLocks noChangeShapeType="1"/>
            </p:cNvSpPr>
            <p:nvPr/>
          </p:nvSpPr>
          <p:spPr bwMode="auto">
            <a:xfrm>
              <a:off x="3480" y="2584"/>
              <a:ext cx="214" cy="3"/>
            </a:xfrm>
            <a:prstGeom prst="line">
              <a:avLst/>
            </a:prstGeom>
            <a:noFill/>
            <a:ln w="7938">
              <a:solidFill>
                <a:srgbClr val="00FF00"/>
              </a:solidFill>
              <a:round/>
              <a:headEnd/>
              <a:tailEnd/>
            </a:ln>
          </p:spPr>
          <p:txBody>
            <a:bodyPr/>
            <a:lstStyle/>
            <a:p>
              <a:endParaRPr lang="zh-CN" altLang="en-US"/>
            </a:p>
          </p:txBody>
        </p:sp>
        <p:sp>
          <p:nvSpPr>
            <p:cNvPr id="136" name="Freeform 333"/>
            <p:cNvSpPr>
              <a:spLocks/>
            </p:cNvSpPr>
            <p:nvPr/>
          </p:nvSpPr>
          <p:spPr bwMode="auto">
            <a:xfrm>
              <a:off x="3491" y="2619"/>
              <a:ext cx="85" cy="46"/>
            </a:xfrm>
            <a:custGeom>
              <a:avLst/>
              <a:gdLst/>
              <a:ahLst/>
              <a:cxnLst>
                <a:cxn ang="0">
                  <a:pos x="80" y="22"/>
                </a:cxn>
                <a:cxn ang="0">
                  <a:pos x="85" y="46"/>
                </a:cxn>
                <a:cxn ang="0">
                  <a:pos x="0" y="43"/>
                </a:cxn>
                <a:cxn ang="0">
                  <a:pos x="75" y="0"/>
                </a:cxn>
                <a:cxn ang="0">
                  <a:pos x="80" y="22"/>
                </a:cxn>
                <a:cxn ang="0">
                  <a:pos x="80" y="22"/>
                </a:cxn>
              </a:cxnLst>
              <a:rect l="0" t="0" r="r" b="b"/>
              <a:pathLst>
                <a:path w="85" h="46">
                  <a:moveTo>
                    <a:pt x="80" y="22"/>
                  </a:moveTo>
                  <a:lnTo>
                    <a:pt x="85" y="46"/>
                  </a:lnTo>
                  <a:lnTo>
                    <a:pt x="0" y="43"/>
                  </a:lnTo>
                  <a:lnTo>
                    <a:pt x="75" y="0"/>
                  </a:lnTo>
                  <a:lnTo>
                    <a:pt x="80" y="22"/>
                  </a:lnTo>
                  <a:lnTo>
                    <a:pt x="80" y="22"/>
                  </a:lnTo>
                </a:path>
              </a:pathLst>
            </a:custGeom>
            <a:noFill/>
            <a:ln w="7938">
              <a:solidFill>
                <a:srgbClr val="00FF00"/>
              </a:solidFill>
              <a:prstDash val="solid"/>
              <a:round/>
              <a:headEnd/>
              <a:tailEnd/>
            </a:ln>
          </p:spPr>
          <p:txBody>
            <a:bodyPr/>
            <a:lstStyle/>
            <a:p>
              <a:endParaRPr lang="zh-CN" altLang="en-US"/>
            </a:p>
          </p:txBody>
        </p:sp>
        <p:sp>
          <p:nvSpPr>
            <p:cNvPr id="137" name="Freeform 334"/>
            <p:cNvSpPr>
              <a:spLocks/>
            </p:cNvSpPr>
            <p:nvPr/>
          </p:nvSpPr>
          <p:spPr bwMode="auto">
            <a:xfrm>
              <a:off x="3491" y="2619"/>
              <a:ext cx="85" cy="46"/>
            </a:xfrm>
            <a:custGeom>
              <a:avLst/>
              <a:gdLst/>
              <a:ahLst/>
              <a:cxnLst>
                <a:cxn ang="0">
                  <a:pos x="80" y="22"/>
                </a:cxn>
                <a:cxn ang="0">
                  <a:pos x="85" y="46"/>
                </a:cxn>
                <a:cxn ang="0">
                  <a:pos x="0" y="43"/>
                </a:cxn>
                <a:cxn ang="0">
                  <a:pos x="75" y="0"/>
                </a:cxn>
                <a:cxn ang="0">
                  <a:pos x="80" y="22"/>
                </a:cxn>
              </a:cxnLst>
              <a:rect l="0" t="0" r="r" b="b"/>
              <a:pathLst>
                <a:path w="85" h="46">
                  <a:moveTo>
                    <a:pt x="80" y="22"/>
                  </a:moveTo>
                  <a:lnTo>
                    <a:pt x="85" y="46"/>
                  </a:lnTo>
                  <a:lnTo>
                    <a:pt x="0" y="43"/>
                  </a:lnTo>
                  <a:lnTo>
                    <a:pt x="75" y="0"/>
                  </a:lnTo>
                  <a:lnTo>
                    <a:pt x="80" y="22"/>
                  </a:lnTo>
                  <a:close/>
                </a:path>
              </a:pathLst>
            </a:custGeom>
            <a:solidFill>
              <a:srgbClr val="00FF00"/>
            </a:solidFill>
            <a:ln w="9525">
              <a:noFill/>
              <a:round/>
              <a:headEnd/>
              <a:tailEnd/>
            </a:ln>
          </p:spPr>
          <p:txBody>
            <a:bodyPr/>
            <a:lstStyle/>
            <a:p>
              <a:endParaRPr lang="zh-CN" altLang="en-US"/>
            </a:p>
          </p:txBody>
        </p:sp>
        <p:sp>
          <p:nvSpPr>
            <p:cNvPr id="138" name="Line 335"/>
            <p:cNvSpPr>
              <a:spLocks noChangeShapeType="1"/>
            </p:cNvSpPr>
            <p:nvPr/>
          </p:nvSpPr>
          <p:spPr bwMode="auto">
            <a:xfrm flipH="1">
              <a:off x="3574" y="2584"/>
              <a:ext cx="216" cy="57"/>
            </a:xfrm>
            <a:prstGeom prst="line">
              <a:avLst/>
            </a:prstGeom>
            <a:noFill/>
            <a:ln w="7938">
              <a:solidFill>
                <a:srgbClr val="00FF00"/>
              </a:solidFill>
              <a:round/>
              <a:headEnd/>
              <a:tailEnd/>
            </a:ln>
          </p:spPr>
          <p:txBody>
            <a:bodyPr/>
            <a:lstStyle/>
            <a:p>
              <a:endParaRPr lang="zh-CN" altLang="en-US"/>
            </a:p>
          </p:txBody>
        </p:sp>
        <p:sp>
          <p:nvSpPr>
            <p:cNvPr id="139" name="Freeform 336"/>
            <p:cNvSpPr>
              <a:spLocks/>
            </p:cNvSpPr>
            <p:nvPr/>
          </p:nvSpPr>
          <p:spPr bwMode="auto">
            <a:xfrm>
              <a:off x="3697" y="2641"/>
              <a:ext cx="85" cy="48"/>
            </a:xfrm>
            <a:custGeom>
              <a:avLst/>
              <a:gdLst/>
              <a:ahLst/>
              <a:cxnLst>
                <a:cxn ang="0">
                  <a:pos x="0" y="24"/>
                </a:cxn>
                <a:cxn ang="0">
                  <a:pos x="0" y="0"/>
                </a:cxn>
                <a:cxn ang="0">
                  <a:pos x="85" y="24"/>
                </a:cxn>
                <a:cxn ang="0">
                  <a:pos x="0" y="48"/>
                </a:cxn>
                <a:cxn ang="0">
                  <a:pos x="0" y="24"/>
                </a:cxn>
                <a:cxn ang="0">
                  <a:pos x="0" y="24"/>
                </a:cxn>
              </a:cxnLst>
              <a:rect l="0" t="0" r="r" b="b"/>
              <a:pathLst>
                <a:path w="85" h="48">
                  <a:moveTo>
                    <a:pt x="0" y="24"/>
                  </a:moveTo>
                  <a:lnTo>
                    <a:pt x="0" y="0"/>
                  </a:lnTo>
                  <a:lnTo>
                    <a:pt x="85"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140" name="Freeform 337"/>
            <p:cNvSpPr>
              <a:spLocks/>
            </p:cNvSpPr>
            <p:nvPr/>
          </p:nvSpPr>
          <p:spPr bwMode="auto">
            <a:xfrm>
              <a:off x="3697" y="2641"/>
              <a:ext cx="85" cy="48"/>
            </a:xfrm>
            <a:custGeom>
              <a:avLst/>
              <a:gdLst/>
              <a:ahLst/>
              <a:cxnLst>
                <a:cxn ang="0">
                  <a:pos x="0" y="24"/>
                </a:cxn>
                <a:cxn ang="0">
                  <a:pos x="0" y="0"/>
                </a:cxn>
                <a:cxn ang="0">
                  <a:pos x="85" y="24"/>
                </a:cxn>
                <a:cxn ang="0">
                  <a:pos x="0" y="48"/>
                </a:cxn>
                <a:cxn ang="0">
                  <a:pos x="0" y="24"/>
                </a:cxn>
              </a:cxnLst>
              <a:rect l="0" t="0" r="r" b="b"/>
              <a:pathLst>
                <a:path w="85" h="48">
                  <a:moveTo>
                    <a:pt x="0" y="24"/>
                  </a:moveTo>
                  <a:lnTo>
                    <a:pt x="0" y="0"/>
                  </a:lnTo>
                  <a:lnTo>
                    <a:pt x="85"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141" name="Line 338"/>
            <p:cNvSpPr>
              <a:spLocks noChangeShapeType="1"/>
            </p:cNvSpPr>
            <p:nvPr/>
          </p:nvSpPr>
          <p:spPr bwMode="auto">
            <a:xfrm>
              <a:off x="3480" y="2665"/>
              <a:ext cx="214" cy="1"/>
            </a:xfrm>
            <a:prstGeom prst="line">
              <a:avLst/>
            </a:prstGeom>
            <a:noFill/>
            <a:ln w="7938">
              <a:solidFill>
                <a:srgbClr val="00FF00"/>
              </a:solidFill>
              <a:round/>
              <a:headEnd/>
              <a:tailEnd/>
            </a:ln>
          </p:spPr>
          <p:txBody>
            <a:bodyPr/>
            <a:lstStyle/>
            <a:p>
              <a:endParaRPr lang="zh-CN" altLang="en-US"/>
            </a:p>
          </p:txBody>
        </p:sp>
        <p:sp>
          <p:nvSpPr>
            <p:cNvPr id="142" name="Freeform 339"/>
            <p:cNvSpPr>
              <a:spLocks/>
            </p:cNvSpPr>
            <p:nvPr/>
          </p:nvSpPr>
          <p:spPr bwMode="auto">
            <a:xfrm>
              <a:off x="3491" y="2697"/>
              <a:ext cx="85" cy="45"/>
            </a:xfrm>
            <a:custGeom>
              <a:avLst/>
              <a:gdLst/>
              <a:ahLst/>
              <a:cxnLst>
                <a:cxn ang="0">
                  <a:pos x="80" y="24"/>
                </a:cxn>
                <a:cxn ang="0">
                  <a:pos x="85" y="45"/>
                </a:cxn>
                <a:cxn ang="0">
                  <a:pos x="0" y="42"/>
                </a:cxn>
                <a:cxn ang="0">
                  <a:pos x="75" y="0"/>
                </a:cxn>
                <a:cxn ang="0">
                  <a:pos x="80" y="24"/>
                </a:cxn>
                <a:cxn ang="0">
                  <a:pos x="80" y="24"/>
                </a:cxn>
              </a:cxnLst>
              <a:rect l="0" t="0" r="r" b="b"/>
              <a:pathLst>
                <a:path w="85" h="45">
                  <a:moveTo>
                    <a:pt x="80" y="24"/>
                  </a:moveTo>
                  <a:lnTo>
                    <a:pt x="85" y="45"/>
                  </a:lnTo>
                  <a:lnTo>
                    <a:pt x="0" y="42"/>
                  </a:lnTo>
                  <a:lnTo>
                    <a:pt x="75" y="0"/>
                  </a:lnTo>
                  <a:lnTo>
                    <a:pt x="80" y="24"/>
                  </a:lnTo>
                  <a:lnTo>
                    <a:pt x="80" y="24"/>
                  </a:lnTo>
                </a:path>
              </a:pathLst>
            </a:custGeom>
            <a:noFill/>
            <a:ln w="7938">
              <a:solidFill>
                <a:srgbClr val="00FF00"/>
              </a:solidFill>
              <a:prstDash val="solid"/>
              <a:round/>
              <a:headEnd/>
              <a:tailEnd/>
            </a:ln>
          </p:spPr>
          <p:txBody>
            <a:bodyPr/>
            <a:lstStyle/>
            <a:p>
              <a:endParaRPr lang="zh-CN" altLang="en-US"/>
            </a:p>
          </p:txBody>
        </p:sp>
        <p:sp>
          <p:nvSpPr>
            <p:cNvPr id="143" name="Freeform 340"/>
            <p:cNvSpPr>
              <a:spLocks/>
            </p:cNvSpPr>
            <p:nvPr/>
          </p:nvSpPr>
          <p:spPr bwMode="auto">
            <a:xfrm>
              <a:off x="3491" y="2697"/>
              <a:ext cx="85" cy="45"/>
            </a:xfrm>
            <a:custGeom>
              <a:avLst/>
              <a:gdLst/>
              <a:ahLst/>
              <a:cxnLst>
                <a:cxn ang="0">
                  <a:pos x="80" y="21"/>
                </a:cxn>
                <a:cxn ang="0">
                  <a:pos x="85" y="45"/>
                </a:cxn>
                <a:cxn ang="0">
                  <a:pos x="0" y="42"/>
                </a:cxn>
                <a:cxn ang="0">
                  <a:pos x="75" y="0"/>
                </a:cxn>
                <a:cxn ang="0">
                  <a:pos x="80" y="21"/>
                </a:cxn>
              </a:cxnLst>
              <a:rect l="0" t="0" r="r" b="b"/>
              <a:pathLst>
                <a:path w="85" h="45">
                  <a:moveTo>
                    <a:pt x="80" y="21"/>
                  </a:moveTo>
                  <a:lnTo>
                    <a:pt x="85" y="45"/>
                  </a:lnTo>
                  <a:lnTo>
                    <a:pt x="0" y="42"/>
                  </a:lnTo>
                  <a:lnTo>
                    <a:pt x="75" y="0"/>
                  </a:lnTo>
                  <a:lnTo>
                    <a:pt x="80" y="21"/>
                  </a:lnTo>
                  <a:close/>
                </a:path>
              </a:pathLst>
            </a:custGeom>
            <a:solidFill>
              <a:srgbClr val="00FF00"/>
            </a:solidFill>
            <a:ln w="9525">
              <a:noFill/>
              <a:round/>
              <a:headEnd/>
              <a:tailEnd/>
            </a:ln>
          </p:spPr>
          <p:txBody>
            <a:bodyPr/>
            <a:lstStyle/>
            <a:p>
              <a:endParaRPr lang="zh-CN" altLang="en-US"/>
            </a:p>
          </p:txBody>
        </p:sp>
        <p:sp>
          <p:nvSpPr>
            <p:cNvPr id="144" name="Line 341"/>
            <p:cNvSpPr>
              <a:spLocks noChangeShapeType="1"/>
            </p:cNvSpPr>
            <p:nvPr/>
          </p:nvSpPr>
          <p:spPr bwMode="auto">
            <a:xfrm flipH="1">
              <a:off x="3574" y="2665"/>
              <a:ext cx="216" cy="53"/>
            </a:xfrm>
            <a:prstGeom prst="line">
              <a:avLst/>
            </a:prstGeom>
            <a:noFill/>
            <a:ln w="7938">
              <a:solidFill>
                <a:srgbClr val="00FF00"/>
              </a:solidFill>
              <a:round/>
              <a:headEnd/>
              <a:tailEnd/>
            </a:ln>
          </p:spPr>
          <p:txBody>
            <a:bodyPr/>
            <a:lstStyle/>
            <a:p>
              <a:endParaRPr lang="zh-CN" altLang="en-US"/>
            </a:p>
          </p:txBody>
        </p:sp>
        <p:sp>
          <p:nvSpPr>
            <p:cNvPr id="145" name="Freeform 342"/>
            <p:cNvSpPr>
              <a:spLocks/>
            </p:cNvSpPr>
            <p:nvPr/>
          </p:nvSpPr>
          <p:spPr bwMode="auto">
            <a:xfrm>
              <a:off x="3697" y="2718"/>
              <a:ext cx="85" cy="48"/>
            </a:xfrm>
            <a:custGeom>
              <a:avLst/>
              <a:gdLst/>
              <a:ahLst/>
              <a:cxnLst>
                <a:cxn ang="0">
                  <a:pos x="0" y="24"/>
                </a:cxn>
                <a:cxn ang="0">
                  <a:pos x="0" y="0"/>
                </a:cxn>
                <a:cxn ang="0">
                  <a:pos x="85" y="24"/>
                </a:cxn>
                <a:cxn ang="0">
                  <a:pos x="0" y="48"/>
                </a:cxn>
                <a:cxn ang="0">
                  <a:pos x="0" y="24"/>
                </a:cxn>
                <a:cxn ang="0">
                  <a:pos x="0" y="24"/>
                </a:cxn>
              </a:cxnLst>
              <a:rect l="0" t="0" r="r" b="b"/>
              <a:pathLst>
                <a:path w="85" h="48">
                  <a:moveTo>
                    <a:pt x="0" y="24"/>
                  </a:moveTo>
                  <a:lnTo>
                    <a:pt x="0" y="0"/>
                  </a:lnTo>
                  <a:lnTo>
                    <a:pt x="85" y="24"/>
                  </a:lnTo>
                  <a:lnTo>
                    <a:pt x="0" y="48"/>
                  </a:lnTo>
                  <a:lnTo>
                    <a:pt x="0" y="24"/>
                  </a:lnTo>
                  <a:lnTo>
                    <a:pt x="0" y="24"/>
                  </a:lnTo>
                </a:path>
              </a:pathLst>
            </a:custGeom>
            <a:noFill/>
            <a:ln w="7938">
              <a:solidFill>
                <a:srgbClr val="00FF00"/>
              </a:solidFill>
              <a:prstDash val="solid"/>
              <a:round/>
              <a:headEnd/>
              <a:tailEnd/>
            </a:ln>
          </p:spPr>
          <p:txBody>
            <a:bodyPr/>
            <a:lstStyle/>
            <a:p>
              <a:endParaRPr lang="zh-CN" altLang="en-US"/>
            </a:p>
          </p:txBody>
        </p:sp>
        <p:sp>
          <p:nvSpPr>
            <p:cNvPr id="146" name="Freeform 343"/>
            <p:cNvSpPr>
              <a:spLocks/>
            </p:cNvSpPr>
            <p:nvPr/>
          </p:nvSpPr>
          <p:spPr bwMode="auto">
            <a:xfrm>
              <a:off x="3697" y="2718"/>
              <a:ext cx="85" cy="48"/>
            </a:xfrm>
            <a:custGeom>
              <a:avLst/>
              <a:gdLst/>
              <a:ahLst/>
              <a:cxnLst>
                <a:cxn ang="0">
                  <a:pos x="0" y="24"/>
                </a:cxn>
                <a:cxn ang="0">
                  <a:pos x="0" y="0"/>
                </a:cxn>
                <a:cxn ang="0">
                  <a:pos x="85" y="24"/>
                </a:cxn>
                <a:cxn ang="0">
                  <a:pos x="0" y="48"/>
                </a:cxn>
                <a:cxn ang="0">
                  <a:pos x="0" y="24"/>
                </a:cxn>
              </a:cxnLst>
              <a:rect l="0" t="0" r="r" b="b"/>
              <a:pathLst>
                <a:path w="85" h="48">
                  <a:moveTo>
                    <a:pt x="0" y="24"/>
                  </a:moveTo>
                  <a:lnTo>
                    <a:pt x="0" y="0"/>
                  </a:lnTo>
                  <a:lnTo>
                    <a:pt x="85" y="24"/>
                  </a:lnTo>
                  <a:lnTo>
                    <a:pt x="0" y="48"/>
                  </a:lnTo>
                  <a:lnTo>
                    <a:pt x="0" y="24"/>
                  </a:lnTo>
                  <a:close/>
                </a:path>
              </a:pathLst>
            </a:custGeom>
            <a:solidFill>
              <a:srgbClr val="00FF00"/>
            </a:solidFill>
            <a:ln w="9525">
              <a:noFill/>
              <a:round/>
              <a:headEnd/>
              <a:tailEnd/>
            </a:ln>
          </p:spPr>
          <p:txBody>
            <a:bodyPr/>
            <a:lstStyle/>
            <a:p>
              <a:endParaRPr lang="zh-CN" altLang="en-US"/>
            </a:p>
          </p:txBody>
        </p:sp>
        <p:sp>
          <p:nvSpPr>
            <p:cNvPr id="147" name="Line 344"/>
            <p:cNvSpPr>
              <a:spLocks noChangeShapeType="1"/>
            </p:cNvSpPr>
            <p:nvPr/>
          </p:nvSpPr>
          <p:spPr bwMode="auto">
            <a:xfrm>
              <a:off x="3480" y="2742"/>
              <a:ext cx="214" cy="1"/>
            </a:xfrm>
            <a:prstGeom prst="line">
              <a:avLst/>
            </a:prstGeom>
            <a:noFill/>
            <a:ln w="7938">
              <a:solidFill>
                <a:srgbClr val="00FF00"/>
              </a:solidFill>
              <a:round/>
              <a:headEnd/>
              <a:tailEnd/>
            </a:ln>
          </p:spPr>
          <p:txBody>
            <a:bodyPr/>
            <a:lstStyle/>
            <a:p>
              <a:endParaRPr lang="zh-CN" altLang="en-US"/>
            </a:p>
          </p:txBody>
        </p:sp>
        <p:sp>
          <p:nvSpPr>
            <p:cNvPr id="148" name="Freeform 345"/>
            <p:cNvSpPr>
              <a:spLocks/>
            </p:cNvSpPr>
            <p:nvPr/>
          </p:nvSpPr>
          <p:spPr bwMode="auto">
            <a:xfrm>
              <a:off x="3822" y="2429"/>
              <a:ext cx="49" cy="86"/>
            </a:xfrm>
            <a:custGeom>
              <a:avLst/>
              <a:gdLst/>
              <a:ahLst/>
              <a:cxnLst>
                <a:cxn ang="0">
                  <a:pos x="24" y="81"/>
                </a:cxn>
                <a:cxn ang="0">
                  <a:pos x="0" y="75"/>
                </a:cxn>
                <a:cxn ang="0">
                  <a:pos x="43" y="0"/>
                </a:cxn>
                <a:cxn ang="0">
                  <a:pos x="49" y="86"/>
                </a:cxn>
                <a:cxn ang="0">
                  <a:pos x="24" y="81"/>
                </a:cxn>
                <a:cxn ang="0">
                  <a:pos x="24" y="81"/>
                </a:cxn>
              </a:cxnLst>
              <a:rect l="0" t="0" r="r" b="b"/>
              <a:pathLst>
                <a:path w="49" h="86">
                  <a:moveTo>
                    <a:pt x="24" y="81"/>
                  </a:moveTo>
                  <a:lnTo>
                    <a:pt x="0" y="75"/>
                  </a:lnTo>
                  <a:lnTo>
                    <a:pt x="43" y="0"/>
                  </a:lnTo>
                  <a:lnTo>
                    <a:pt x="49" y="86"/>
                  </a:lnTo>
                  <a:lnTo>
                    <a:pt x="24" y="81"/>
                  </a:lnTo>
                  <a:lnTo>
                    <a:pt x="24" y="81"/>
                  </a:lnTo>
                </a:path>
              </a:pathLst>
            </a:custGeom>
            <a:noFill/>
            <a:ln w="7938">
              <a:solidFill>
                <a:srgbClr val="00FF00"/>
              </a:solidFill>
              <a:prstDash val="solid"/>
              <a:round/>
              <a:headEnd/>
              <a:tailEnd/>
            </a:ln>
          </p:spPr>
          <p:txBody>
            <a:bodyPr/>
            <a:lstStyle/>
            <a:p>
              <a:endParaRPr lang="zh-CN" altLang="en-US"/>
            </a:p>
          </p:txBody>
        </p:sp>
        <p:sp>
          <p:nvSpPr>
            <p:cNvPr id="149" name="Freeform 346"/>
            <p:cNvSpPr>
              <a:spLocks/>
            </p:cNvSpPr>
            <p:nvPr/>
          </p:nvSpPr>
          <p:spPr bwMode="auto">
            <a:xfrm>
              <a:off x="3822" y="2429"/>
              <a:ext cx="49" cy="86"/>
            </a:xfrm>
            <a:custGeom>
              <a:avLst/>
              <a:gdLst/>
              <a:ahLst/>
              <a:cxnLst>
                <a:cxn ang="0">
                  <a:pos x="22" y="78"/>
                </a:cxn>
                <a:cxn ang="0">
                  <a:pos x="0" y="75"/>
                </a:cxn>
                <a:cxn ang="0">
                  <a:pos x="43" y="0"/>
                </a:cxn>
                <a:cxn ang="0">
                  <a:pos x="49" y="86"/>
                </a:cxn>
                <a:cxn ang="0">
                  <a:pos x="22" y="78"/>
                </a:cxn>
              </a:cxnLst>
              <a:rect l="0" t="0" r="r" b="b"/>
              <a:pathLst>
                <a:path w="49" h="86">
                  <a:moveTo>
                    <a:pt x="22" y="78"/>
                  </a:moveTo>
                  <a:lnTo>
                    <a:pt x="0" y="75"/>
                  </a:lnTo>
                  <a:lnTo>
                    <a:pt x="43" y="0"/>
                  </a:lnTo>
                  <a:lnTo>
                    <a:pt x="49" y="86"/>
                  </a:lnTo>
                  <a:lnTo>
                    <a:pt x="22" y="78"/>
                  </a:lnTo>
                  <a:close/>
                </a:path>
              </a:pathLst>
            </a:custGeom>
            <a:solidFill>
              <a:srgbClr val="00FF00"/>
            </a:solidFill>
            <a:ln w="9525">
              <a:noFill/>
              <a:round/>
              <a:headEnd/>
              <a:tailEnd/>
            </a:ln>
          </p:spPr>
          <p:txBody>
            <a:bodyPr/>
            <a:lstStyle/>
            <a:p>
              <a:endParaRPr lang="zh-CN" altLang="en-US"/>
            </a:p>
          </p:txBody>
        </p:sp>
        <p:sp>
          <p:nvSpPr>
            <p:cNvPr id="150" name="Line 347"/>
            <p:cNvSpPr>
              <a:spLocks noChangeShapeType="1"/>
            </p:cNvSpPr>
            <p:nvPr/>
          </p:nvSpPr>
          <p:spPr bwMode="auto">
            <a:xfrm flipV="1">
              <a:off x="3793" y="2512"/>
              <a:ext cx="53" cy="206"/>
            </a:xfrm>
            <a:prstGeom prst="line">
              <a:avLst/>
            </a:prstGeom>
            <a:noFill/>
            <a:ln w="7938">
              <a:solidFill>
                <a:srgbClr val="00FF00"/>
              </a:solidFill>
              <a:round/>
              <a:headEnd/>
              <a:tailEnd/>
            </a:ln>
          </p:spPr>
          <p:txBody>
            <a:bodyPr/>
            <a:lstStyle/>
            <a:p>
              <a:endParaRPr lang="zh-CN" altLang="en-US"/>
            </a:p>
          </p:txBody>
        </p:sp>
        <p:sp>
          <p:nvSpPr>
            <p:cNvPr id="151" name="Rectangle 348"/>
            <p:cNvSpPr>
              <a:spLocks noChangeArrowheads="1"/>
            </p:cNvSpPr>
            <p:nvPr/>
          </p:nvSpPr>
          <p:spPr bwMode="auto">
            <a:xfrm>
              <a:off x="3592" y="2510"/>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52" name="Rectangle 349"/>
            <p:cNvSpPr>
              <a:spLocks noChangeArrowheads="1"/>
            </p:cNvSpPr>
            <p:nvPr/>
          </p:nvSpPr>
          <p:spPr bwMode="auto">
            <a:xfrm>
              <a:off x="3640" y="2542"/>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0</a:t>
              </a:r>
              <a:endParaRPr lang="zh-CN" altLang="en-US" sz="2400">
                <a:latin typeface="Times New Roman" charset="0"/>
              </a:endParaRPr>
            </a:p>
          </p:txBody>
        </p:sp>
        <p:sp>
          <p:nvSpPr>
            <p:cNvPr id="153" name="Rectangle 350"/>
            <p:cNvSpPr>
              <a:spLocks noChangeArrowheads="1"/>
            </p:cNvSpPr>
            <p:nvPr/>
          </p:nvSpPr>
          <p:spPr bwMode="auto">
            <a:xfrm>
              <a:off x="3975" y="2510"/>
              <a:ext cx="53" cy="106"/>
            </a:xfrm>
            <a:prstGeom prst="rect">
              <a:avLst/>
            </a:prstGeom>
            <a:noFill/>
            <a:ln w="9525">
              <a:noFill/>
              <a:miter lim="800000"/>
              <a:headEnd/>
              <a:tailEnd/>
            </a:ln>
          </p:spPr>
          <p:txBody>
            <a:bodyPr wrap="none" lIns="0" tIns="0" rIns="0" bIns="0">
              <a:spAutoFit/>
            </a:bodyPr>
            <a:lstStyle/>
            <a:p>
              <a:r>
                <a:rPr lang="en-US" altLang="zh-CN" sz="1100">
                  <a:solidFill>
                    <a:srgbClr val="000000"/>
                  </a:solidFill>
                  <a:latin typeface="Courier New" pitchFamily="49" charset="-52"/>
                </a:rPr>
                <a:t>P</a:t>
              </a:r>
              <a:endParaRPr lang="en-US" altLang="zh-CN" sz="2400">
                <a:latin typeface="Times New Roman" charset="0"/>
              </a:endParaRPr>
            </a:p>
          </p:txBody>
        </p:sp>
        <p:sp>
          <p:nvSpPr>
            <p:cNvPr id="154" name="Rectangle 351"/>
            <p:cNvSpPr>
              <a:spLocks noChangeArrowheads="1"/>
            </p:cNvSpPr>
            <p:nvPr/>
          </p:nvSpPr>
          <p:spPr bwMode="auto">
            <a:xfrm>
              <a:off x="4026" y="2542"/>
              <a:ext cx="43" cy="87"/>
            </a:xfrm>
            <a:prstGeom prst="rect">
              <a:avLst/>
            </a:prstGeom>
            <a:noFill/>
            <a:ln w="9525">
              <a:noFill/>
              <a:miter lim="800000"/>
              <a:headEnd/>
              <a:tailEnd/>
            </a:ln>
          </p:spPr>
          <p:txBody>
            <a:bodyPr wrap="none" lIns="0" tIns="0" rIns="0" bIns="0">
              <a:spAutoFit/>
            </a:bodyPr>
            <a:lstStyle/>
            <a:p>
              <a:r>
                <a:rPr lang="zh-CN" altLang="en-US" sz="900">
                  <a:solidFill>
                    <a:srgbClr val="000000"/>
                  </a:solidFill>
                  <a:latin typeface="Courier New" pitchFamily="49" charset="-52"/>
                </a:rPr>
                <a:t>1</a:t>
              </a:r>
              <a:endParaRPr lang="zh-CN" altLang="en-US" sz="2400">
                <a:latin typeface="Times New Roman" charset="0"/>
              </a:endParaRPr>
            </a:p>
          </p:txBody>
        </p:sp>
        <p:sp>
          <p:nvSpPr>
            <p:cNvPr id="155" name="Line 352"/>
            <p:cNvSpPr>
              <a:spLocks noChangeShapeType="1"/>
            </p:cNvSpPr>
            <p:nvPr/>
          </p:nvSpPr>
          <p:spPr bwMode="auto">
            <a:xfrm>
              <a:off x="1265" y="2389"/>
              <a:ext cx="1" cy="1559"/>
            </a:xfrm>
            <a:prstGeom prst="line">
              <a:avLst/>
            </a:prstGeom>
            <a:noFill/>
            <a:ln w="33338">
              <a:solidFill>
                <a:srgbClr val="000000"/>
              </a:solidFill>
              <a:round/>
              <a:headEnd/>
              <a:tailEnd/>
            </a:ln>
          </p:spPr>
          <p:txBody>
            <a:bodyPr/>
            <a:lstStyle/>
            <a:p>
              <a:endParaRPr lang="zh-CN" altLang="en-US"/>
            </a:p>
          </p:txBody>
        </p:sp>
        <p:sp>
          <p:nvSpPr>
            <p:cNvPr id="156" name="Line 353"/>
            <p:cNvSpPr>
              <a:spLocks noChangeShapeType="1"/>
            </p:cNvSpPr>
            <p:nvPr/>
          </p:nvSpPr>
          <p:spPr bwMode="auto">
            <a:xfrm>
              <a:off x="1653" y="2392"/>
              <a:ext cx="1" cy="1556"/>
            </a:xfrm>
            <a:prstGeom prst="line">
              <a:avLst/>
            </a:prstGeom>
            <a:noFill/>
            <a:ln w="33338">
              <a:solidFill>
                <a:srgbClr val="000000"/>
              </a:solidFill>
              <a:round/>
              <a:headEnd/>
              <a:tailEnd/>
            </a:ln>
          </p:spPr>
          <p:txBody>
            <a:bodyPr/>
            <a:lstStyle/>
            <a:p>
              <a:endParaRPr lang="zh-CN" altLang="en-US"/>
            </a:p>
          </p:txBody>
        </p:sp>
        <p:sp>
          <p:nvSpPr>
            <p:cNvPr id="157" name="Line 354"/>
            <p:cNvSpPr>
              <a:spLocks noChangeShapeType="1"/>
            </p:cNvSpPr>
            <p:nvPr/>
          </p:nvSpPr>
          <p:spPr bwMode="auto">
            <a:xfrm>
              <a:off x="2044" y="2392"/>
              <a:ext cx="1" cy="1556"/>
            </a:xfrm>
            <a:prstGeom prst="line">
              <a:avLst/>
            </a:prstGeom>
            <a:noFill/>
            <a:ln w="33338">
              <a:solidFill>
                <a:srgbClr val="000000"/>
              </a:solidFill>
              <a:round/>
              <a:headEnd/>
              <a:tailEnd/>
            </a:ln>
          </p:spPr>
          <p:txBody>
            <a:bodyPr/>
            <a:lstStyle/>
            <a:p>
              <a:endParaRPr lang="zh-CN" altLang="en-US"/>
            </a:p>
          </p:txBody>
        </p:sp>
        <p:sp>
          <p:nvSpPr>
            <p:cNvPr id="158" name="Line 355"/>
            <p:cNvSpPr>
              <a:spLocks noChangeShapeType="1"/>
            </p:cNvSpPr>
            <p:nvPr/>
          </p:nvSpPr>
          <p:spPr bwMode="auto">
            <a:xfrm>
              <a:off x="875" y="3558"/>
              <a:ext cx="1559" cy="1"/>
            </a:xfrm>
            <a:prstGeom prst="line">
              <a:avLst/>
            </a:prstGeom>
            <a:noFill/>
            <a:ln w="33338">
              <a:solidFill>
                <a:srgbClr val="000000"/>
              </a:solidFill>
              <a:round/>
              <a:headEnd/>
              <a:tailEnd/>
            </a:ln>
          </p:spPr>
          <p:txBody>
            <a:bodyPr/>
            <a:lstStyle/>
            <a:p>
              <a:endParaRPr lang="zh-CN" altLang="en-US"/>
            </a:p>
          </p:txBody>
        </p:sp>
        <p:sp>
          <p:nvSpPr>
            <p:cNvPr id="159" name="Line 356"/>
            <p:cNvSpPr>
              <a:spLocks noChangeShapeType="1"/>
            </p:cNvSpPr>
            <p:nvPr/>
          </p:nvSpPr>
          <p:spPr bwMode="auto">
            <a:xfrm>
              <a:off x="875" y="3170"/>
              <a:ext cx="1559" cy="1"/>
            </a:xfrm>
            <a:prstGeom prst="line">
              <a:avLst/>
            </a:prstGeom>
            <a:noFill/>
            <a:ln w="33338">
              <a:solidFill>
                <a:srgbClr val="000000"/>
              </a:solidFill>
              <a:round/>
              <a:headEnd/>
              <a:tailEnd/>
            </a:ln>
          </p:spPr>
          <p:txBody>
            <a:bodyPr/>
            <a:lstStyle/>
            <a:p>
              <a:endParaRPr lang="zh-CN" altLang="en-US"/>
            </a:p>
          </p:txBody>
        </p:sp>
        <p:sp>
          <p:nvSpPr>
            <p:cNvPr id="160" name="Line 357"/>
            <p:cNvSpPr>
              <a:spLocks noChangeShapeType="1"/>
            </p:cNvSpPr>
            <p:nvPr/>
          </p:nvSpPr>
          <p:spPr bwMode="auto">
            <a:xfrm>
              <a:off x="875" y="2780"/>
              <a:ext cx="1559" cy="1"/>
            </a:xfrm>
            <a:prstGeom prst="line">
              <a:avLst/>
            </a:prstGeom>
            <a:noFill/>
            <a:ln w="33338">
              <a:solidFill>
                <a:srgbClr val="000000"/>
              </a:solidFill>
              <a:round/>
              <a:headEnd/>
              <a:tailEnd/>
            </a:ln>
          </p:spPr>
          <p:txBody>
            <a:bodyPr/>
            <a:lstStyle/>
            <a:p>
              <a:endParaRPr lang="zh-CN" altLang="en-US"/>
            </a:p>
          </p:txBody>
        </p:sp>
        <p:sp>
          <p:nvSpPr>
            <p:cNvPr id="161" name="Line 358"/>
            <p:cNvSpPr>
              <a:spLocks noChangeShapeType="1"/>
            </p:cNvSpPr>
            <p:nvPr/>
          </p:nvSpPr>
          <p:spPr bwMode="auto">
            <a:xfrm>
              <a:off x="4598" y="2392"/>
              <a:ext cx="1" cy="1556"/>
            </a:xfrm>
            <a:prstGeom prst="line">
              <a:avLst/>
            </a:prstGeom>
            <a:noFill/>
            <a:ln w="33338">
              <a:solidFill>
                <a:srgbClr val="000000"/>
              </a:solidFill>
              <a:round/>
              <a:headEnd/>
              <a:tailEnd/>
            </a:ln>
          </p:spPr>
          <p:txBody>
            <a:bodyPr/>
            <a:lstStyle/>
            <a:p>
              <a:endParaRPr lang="zh-CN" altLang="en-US"/>
            </a:p>
          </p:txBody>
        </p:sp>
        <p:sp>
          <p:nvSpPr>
            <p:cNvPr id="162" name="Line 359"/>
            <p:cNvSpPr>
              <a:spLocks noChangeShapeType="1"/>
            </p:cNvSpPr>
            <p:nvPr/>
          </p:nvSpPr>
          <p:spPr bwMode="auto">
            <a:xfrm>
              <a:off x="3432" y="3558"/>
              <a:ext cx="1557" cy="1"/>
            </a:xfrm>
            <a:prstGeom prst="line">
              <a:avLst/>
            </a:prstGeom>
            <a:noFill/>
            <a:ln w="33338">
              <a:solidFill>
                <a:srgbClr val="000000"/>
              </a:solidFill>
              <a:round/>
              <a:headEnd/>
              <a:tailEnd/>
            </a:ln>
          </p:spPr>
          <p:txBody>
            <a:bodyPr/>
            <a:lstStyle/>
            <a:p>
              <a:endParaRPr lang="zh-CN" altLang="en-US"/>
            </a:p>
          </p:txBody>
        </p:sp>
        <p:sp>
          <p:nvSpPr>
            <p:cNvPr id="163" name="Line 360"/>
            <p:cNvSpPr>
              <a:spLocks noChangeShapeType="1"/>
            </p:cNvSpPr>
            <p:nvPr/>
          </p:nvSpPr>
          <p:spPr bwMode="auto">
            <a:xfrm>
              <a:off x="3820" y="2392"/>
              <a:ext cx="1" cy="1556"/>
            </a:xfrm>
            <a:prstGeom prst="line">
              <a:avLst/>
            </a:prstGeom>
            <a:noFill/>
            <a:ln w="33338">
              <a:solidFill>
                <a:srgbClr val="000000"/>
              </a:solidFill>
              <a:round/>
              <a:headEnd/>
              <a:tailEnd/>
            </a:ln>
          </p:spPr>
          <p:txBody>
            <a:bodyPr/>
            <a:lstStyle/>
            <a:p>
              <a:endParaRPr lang="zh-CN" altLang="en-US"/>
            </a:p>
          </p:txBody>
        </p:sp>
        <p:sp>
          <p:nvSpPr>
            <p:cNvPr id="164" name="Line 361"/>
            <p:cNvSpPr>
              <a:spLocks noChangeShapeType="1"/>
            </p:cNvSpPr>
            <p:nvPr/>
          </p:nvSpPr>
          <p:spPr bwMode="auto">
            <a:xfrm>
              <a:off x="4210" y="2392"/>
              <a:ext cx="1" cy="1556"/>
            </a:xfrm>
            <a:prstGeom prst="line">
              <a:avLst/>
            </a:prstGeom>
            <a:noFill/>
            <a:ln w="33338">
              <a:solidFill>
                <a:srgbClr val="000000"/>
              </a:solidFill>
              <a:round/>
              <a:headEnd/>
              <a:tailEnd/>
            </a:ln>
          </p:spPr>
          <p:txBody>
            <a:bodyPr/>
            <a:lstStyle/>
            <a:p>
              <a:endParaRPr lang="zh-CN" altLang="en-US"/>
            </a:p>
          </p:txBody>
        </p:sp>
        <p:sp>
          <p:nvSpPr>
            <p:cNvPr id="165" name="Line 362"/>
            <p:cNvSpPr>
              <a:spLocks noChangeShapeType="1"/>
            </p:cNvSpPr>
            <p:nvPr/>
          </p:nvSpPr>
          <p:spPr bwMode="auto">
            <a:xfrm>
              <a:off x="3432" y="3170"/>
              <a:ext cx="1557" cy="1"/>
            </a:xfrm>
            <a:prstGeom prst="line">
              <a:avLst/>
            </a:prstGeom>
            <a:noFill/>
            <a:ln w="33338">
              <a:solidFill>
                <a:srgbClr val="000000"/>
              </a:solidFill>
              <a:round/>
              <a:headEnd/>
              <a:tailEnd/>
            </a:ln>
          </p:spPr>
          <p:txBody>
            <a:bodyPr/>
            <a:lstStyle/>
            <a:p>
              <a:endParaRPr lang="zh-CN" altLang="en-US"/>
            </a:p>
          </p:txBody>
        </p:sp>
        <p:sp>
          <p:nvSpPr>
            <p:cNvPr id="166" name="Line 363"/>
            <p:cNvSpPr>
              <a:spLocks noChangeShapeType="1"/>
            </p:cNvSpPr>
            <p:nvPr/>
          </p:nvSpPr>
          <p:spPr bwMode="auto">
            <a:xfrm>
              <a:off x="3432" y="2780"/>
              <a:ext cx="1557" cy="1"/>
            </a:xfrm>
            <a:prstGeom prst="line">
              <a:avLst/>
            </a:prstGeom>
            <a:noFill/>
            <a:ln w="33338">
              <a:solidFill>
                <a:srgbClr val="000000"/>
              </a:solidFill>
              <a:round/>
              <a:headEnd/>
              <a:tailEnd/>
            </a:ln>
          </p:spPr>
          <p:txBody>
            <a:bodyPr/>
            <a:lstStyle/>
            <a:p>
              <a:endParaRPr lang="zh-CN" altLang="en-US"/>
            </a:p>
          </p:txBody>
        </p:sp>
      </p:grpSp>
    </p:spTree>
    <p:extLst>
      <p:ext uri="{BB962C8B-B14F-4D97-AF65-F5344CB8AC3E}">
        <p14:creationId xmlns:p14="http://schemas.microsoft.com/office/powerpoint/2010/main" val="18956996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 Box 193"/>
          <p:cNvSpPr txBox="1">
            <a:spLocks noChangeArrowheads="1"/>
          </p:cNvSpPr>
          <p:nvPr/>
        </p:nvSpPr>
        <p:spPr bwMode="auto">
          <a:xfrm>
            <a:off x="6769475" y="1556792"/>
            <a:ext cx="3903664" cy="2554288"/>
          </a:xfrm>
          <a:prstGeom prst="rect">
            <a:avLst/>
          </a:prstGeom>
          <a:noFill/>
          <a:ln w="9525">
            <a:noFill/>
            <a:miter lim="800000"/>
            <a:headEnd/>
            <a:tailEnd/>
          </a:ln>
          <a:effectLst/>
        </p:spPr>
        <p:txBody>
          <a:bodyPr wrap="none">
            <a:spAutoFit/>
          </a:bodyPr>
          <a:lstStyle/>
          <a:p>
            <a:r>
              <a:rPr lang="zh-CN" altLang="en-US" sz="2000" dirty="0">
                <a:solidFill>
                  <a:srgbClr val="0000FF"/>
                </a:solidFill>
                <a:latin typeface="+mn-lt"/>
                <a:ea typeface="+mn-ea"/>
              </a:rPr>
              <a:t>       在二维数据表示中，</a:t>
            </a:r>
            <a:endParaRPr lang="en-US" altLang="zh-CN" sz="2000" dirty="0">
              <a:solidFill>
                <a:srgbClr val="0000FF"/>
              </a:solidFill>
              <a:latin typeface="+mn-lt"/>
              <a:ea typeface="+mn-ea"/>
            </a:endParaRPr>
          </a:p>
          <a:p>
            <a:r>
              <a:rPr lang="zh-CN" altLang="en-US" sz="2000" dirty="0">
                <a:solidFill>
                  <a:srgbClr val="0000FF"/>
                </a:solidFill>
                <a:latin typeface="+mn-lt"/>
                <a:ea typeface="+mn-ea"/>
              </a:rPr>
              <a:t>子行        </a:t>
            </a:r>
            <a:r>
              <a:rPr lang="zh-CN" altLang="en-US" sz="2000" dirty="0" smtClean="0">
                <a:solidFill>
                  <a:srgbClr val="0000FF"/>
                </a:solidFill>
                <a:latin typeface="+mn-lt"/>
                <a:ea typeface="+mn-ea"/>
              </a:rPr>
              <a:t>          和                        中</a:t>
            </a:r>
            <a:endParaRPr lang="en-US" altLang="zh-CN" sz="2000" dirty="0">
              <a:solidFill>
                <a:srgbClr val="0000FF"/>
              </a:solidFill>
              <a:latin typeface="+mn-lt"/>
              <a:ea typeface="+mn-ea"/>
            </a:endParaRPr>
          </a:p>
          <a:p>
            <a:r>
              <a:rPr lang="zh-CN" altLang="en-US" sz="2000" dirty="0">
                <a:solidFill>
                  <a:srgbClr val="0000FF"/>
                </a:solidFill>
                <a:latin typeface="+mn-lt"/>
                <a:ea typeface="+mn-ea"/>
              </a:rPr>
              <a:t>的数据会被映射到</a:t>
            </a:r>
            <a:r>
              <a:rPr lang="en-US" altLang="zh-CN" sz="2000" dirty="0">
                <a:solidFill>
                  <a:srgbClr val="0000FF"/>
                </a:solidFill>
                <a:latin typeface="+mn-lt"/>
                <a:ea typeface="+mn-ea"/>
              </a:rPr>
              <a:t>index</a:t>
            </a:r>
            <a:r>
              <a:rPr lang="zh-CN" altLang="en-US" sz="2000" dirty="0">
                <a:solidFill>
                  <a:srgbClr val="0000FF"/>
                </a:solidFill>
                <a:latin typeface="+mn-lt"/>
                <a:ea typeface="+mn-ea"/>
              </a:rPr>
              <a:t>相同的</a:t>
            </a:r>
            <a:endParaRPr lang="en-US" altLang="zh-CN" sz="2000" dirty="0">
              <a:solidFill>
                <a:srgbClr val="0000FF"/>
              </a:solidFill>
              <a:latin typeface="+mn-lt"/>
              <a:ea typeface="+mn-ea"/>
            </a:endParaRPr>
          </a:p>
          <a:p>
            <a:r>
              <a:rPr lang="en-US" altLang="zh-CN" sz="2000" dirty="0">
                <a:solidFill>
                  <a:srgbClr val="0000FF"/>
                </a:solidFill>
                <a:latin typeface="+mn-lt"/>
                <a:ea typeface="+mn-ea"/>
              </a:rPr>
              <a:t>cache</a:t>
            </a:r>
            <a:r>
              <a:rPr lang="zh-CN" altLang="en-US" sz="2000" dirty="0">
                <a:solidFill>
                  <a:srgbClr val="0000FF"/>
                </a:solidFill>
                <a:latin typeface="+mn-lt"/>
                <a:ea typeface="+mn-ea"/>
              </a:rPr>
              <a:t>块。虽然</a:t>
            </a:r>
            <a:r>
              <a:rPr lang="en-US" altLang="zh-CN" sz="2000" dirty="0">
                <a:solidFill>
                  <a:srgbClr val="0000FF"/>
                </a:solidFill>
                <a:latin typeface="+mn-lt"/>
                <a:ea typeface="+mn-ea"/>
              </a:rPr>
              <a:t>cache</a:t>
            </a:r>
            <a:r>
              <a:rPr lang="zh-CN" altLang="en-US" sz="2000" dirty="0">
                <a:solidFill>
                  <a:srgbClr val="0000FF"/>
                </a:solidFill>
                <a:latin typeface="+mn-lt"/>
                <a:ea typeface="+mn-ea"/>
              </a:rPr>
              <a:t>容量足以</a:t>
            </a:r>
            <a:endParaRPr lang="en-US" altLang="zh-CN" sz="2000" dirty="0">
              <a:solidFill>
                <a:srgbClr val="0000FF"/>
              </a:solidFill>
              <a:latin typeface="+mn-lt"/>
              <a:ea typeface="+mn-ea"/>
            </a:endParaRPr>
          </a:p>
          <a:p>
            <a:r>
              <a:rPr lang="zh-CN" altLang="en-US" sz="2000" dirty="0">
                <a:solidFill>
                  <a:srgbClr val="0000FF"/>
                </a:solidFill>
                <a:latin typeface="+mn-lt"/>
                <a:ea typeface="+mn-ea"/>
              </a:rPr>
              <a:t>放下整个分割区，但分割区中的</a:t>
            </a:r>
            <a:endParaRPr lang="en-US" altLang="zh-CN" sz="2000" dirty="0">
              <a:solidFill>
                <a:srgbClr val="0000FF"/>
              </a:solidFill>
              <a:latin typeface="+mn-lt"/>
              <a:ea typeface="+mn-ea"/>
            </a:endParaRPr>
          </a:p>
          <a:p>
            <a:r>
              <a:rPr lang="zh-CN" altLang="en-US" sz="2000" dirty="0">
                <a:solidFill>
                  <a:srgbClr val="0000FF"/>
                </a:solidFill>
                <a:latin typeface="+mn-lt"/>
                <a:ea typeface="+mn-ea"/>
              </a:rPr>
              <a:t>数据无法被映射到所有其它</a:t>
            </a:r>
            <a:r>
              <a:rPr lang="en-US" altLang="zh-CN" sz="2000" dirty="0">
                <a:solidFill>
                  <a:srgbClr val="0000FF"/>
                </a:solidFill>
                <a:latin typeface="+mn-lt"/>
                <a:ea typeface="+mn-ea"/>
              </a:rPr>
              <a:t>index</a:t>
            </a:r>
          </a:p>
          <a:p>
            <a:r>
              <a:rPr lang="zh-CN" altLang="en-US" sz="2000" dirty="0">
                <a:solidFill>
                  <a:srgbClr val="0000FF"/>
                </a:solidFill>
                <a:latin typeface="+mn-lt"/>
                <a:ea typeface="+mn-ea"/>
              </a:rPr>
              <a:t>值的</a:t>
            </a:r>
            <a:r>
              <a:rPr lang="en-US" altLang="zh-CN" sz="2000" dirty="0">
                <a:solidFill>
                  <a:srgbClr val="0000FF"/>
                </a:solidFill>
                <a:latin typeface="+mn-lt"/>
                <a:ea typeface="+mn-ea"/>
              </a:rPr>
              <a:t>cache</a:t>
            </a:r>
            <a:r>
              <a:rPr lang="zh-CN" altLang="en-US" sz="2000" dirty="0">
                <a:solidFill>
                  <a:srgbClr val="0000FF"/>
                </a:solidFill>
                <a:latin typeface="+mn-lt"/>
                <a:ea typeface="+mn-ea"/>
              </a:rPr>
              <a:t>块。</a:t>
            </a:r>
            <a:endParaRPr lang="en-US" altLang="zh-CN" sz="2000" dirty="0">
              <a:solidFill>
                <a:srgbClr val="0000FF"/>
              </a:solidFill>
              <a:latin typeface="+mn-lt"/>
              <a:ea typeface="+mn-ea"/>
            </a:endParaRPr>
          </a:p>
          <a:p>
            <a:r>
              <a:rPr lang="zh-CN" altLang="en-US" sz="2000" dirty="0">
                <a:solidFill>
                  <a:srgbClr val="0000FF"/>
                </a:solidFill>
                <a:latin typeface="+mn-lt"/>
                <a:ea typeface="+mn-ea"/>
              </a:rPr>
              <a:t>大部分容量被浪费了。</a:t>
            </a:r>
            <a:endParaRPr lang="en-US" altLang="zh-CN" sz="2000" dirty="0">
              <a:solidFill>
                <a:srgbClr val="0000FF"/>
              </a:solidFill>
              <a:latin typeface="+mn-lt"/>
              <a:ea typeface="+mn-ea"/>
            </a:endParaRPr>
          </a:p>
        </p:txBody>
      </p:sp>
      <p:sp>
        <p:nvSpPr>
          <p:cNvPr id="7" name="Freeform 5"/>
          <p:cNvSpPr>
            <a:spLocks/>
          </p:cNvSpPr>
          <p:nvPr/>
        </p:nvSpPr>
        <p:spPr bwMode="auto">
          <a:xfrm>
            <a:off x="8182350" y="4684167"/>
            <a:ext cx="812800" cy="846138"/>
          </a:xfrm>
          <a:custGeom>
            <a:avLst/>
            <a:gdLst/>
            <a:ahLst/>
            <a:cxnLst>
              <a:cxn ang="0">
                <a:pos x="0" y="0"/>
              </a:cxn>
              <a:cxn ang="0">
                <a:pos x="512" y="3"/>
              </a:cxn>
              <a:cxn ang="0">
                <a:pos x="512" y="533"/>
              </a:cxn>
              <a:cxn ang="0">
                <a:pos x="0" y="533"/>
              </a:cxn>
              <a:cxn ang="0">
                <a:pos x="0" y="3"/>
              </a:cxn>
              <a:cxn ang="0">
                <a:pos x="0" y="3"/>
              </a:cxn>
              <a:cxn ang="0">
                <a:pos x="0" y="0"/>
              </a:cxn>
            </a:cxnLst>
            <a:rect l="0" t="0" r="r" b="b"/>
            <a:pathLst>
              <a:path w="512" h="533">
                <a:moveTo>
                  <a:pt x="0" y="0"/>
                </a:moveTo>
                <a:lnTo>
                  <a:pt x="512" y="3"/>
                </a:lnTo>
                <a:lnTo>
                  <a:pt x="512" y="533"/>
                </a:lnTo>
                <a:lnTo>
                  <a:pt x="0" y="533"/>
                </a:lnTo>
                <a:lnTo>
                  <a:pt x="0" y="3"/>
                </a:lnTo>
                <a:lnTo>
                  <a:pt x="0" y="3"/>
                </a:lnTo>
                <a:lnTo>
                  <a:pt x="0" y="0"/>
                </a:lnTo>
                <a:close/>
              </a:path>
            </a:pathLst>
          </a:custGeom>
          <a:solidFill>
            <a:srgbClr val="FFFFFF"/>
          </a:solidFill>
          <a:ln w="9525">
            <a:noFill/>
            <a:round/>
            <a:headEnd/>
            <a:tailEnd/>
          </a:ln>
        </p:spPr>
        <p:txBody>
          <a:bodyPr/>
          <a:lstStyle/>
          <a:p>
            <a:endParaRPr lang="zh-CN" altLang="en-US"/>
          </a:p>
        </p:txBody>
      </p:sp>
      <p:sp>
        <p:nvSpPr>
          <p:cNvPr id="8" name="Freeform 6" descr="Small checker board"/>
          <p:cNvSpPr>
            <a:spLocks/>
          </p:cNvSpPr>
          <p:nvPr/>
        </p:nvSpPr>
        <p:spPr bwMode="auto">
          <a:xfrm>
            <a:off x="8182350" y="4684167"/>
            <a:ext cx="812800" cy="846138"/>
          </a:xfrm>
          <a:custGeom>
            <a:avLst/>
            <a:gdLst/>
            <a:ahLst/>
            <a:cxnLst>
              <a:cxn ang="0">
                <a:pos x="0" y="0"/>
              </a:cxn>
              <a:cxn ang="0">
                <a:pos x="512" y="3"/>
              </a:cxn>
              <a:cxn ang="0">
                <a:pos x="512" y="533"/>
              </a:cxn>
              <a:cxn ang="0">
                <a:pos x="0" y="533"/>
              </a:cxn>
              <a:cxn ang="0">
                <a:pos x="0" y="3"/>
              </a:cxn>
              <a:cxn ang="0">
                <a:pos x="0" y="3"/>
              </a:cxn>
              <a:cxn ang="0">
                <a:pos x="0" y="0"/>
              </a:cxn>
            </a:cxnLst>
            <a:rect l="0" t="0" r="r" b="b"/>
            <a:pathLst>
              <a:path w="512" h="533">
                <a:moveTo>
                  <a:pt x="0" y="0"/>
                </a:moveTo>
                <a:lnTo>
                  <a:pt x="512" y="3"/>
                </a:lnTo>
                <a:lnTo>
                  <a:pt x="512" y="533"/>
                </a:lnTo>
                <a:lnTo>
                  <a:pt x="0" y="533"/>
                </a:lnTo>
                <a:lnTo>
                  <a:pt x="0" y="3"/>
                </a:lnTo>
                <a:lnTo>
                  <a:pt x="0" y="3"/>
                </a:lnTo>
                <a:lnTo>
                  <a:pt x="0" y="0"/>
                </a:lnTo>
                <a:close/>
              </a:path>
            </a:pathLst>
          </a:custGeom>
          <a:pattFill prst="smCheck">
            <a:fgClr>
              <a:schemeClr val="tx1"/>
            </a:fgClr>
            <a:bgClr>
              <a:srgbClr val="FFFFFF"/>
            </a:bgClr>
          </a:pattFill>
          <a:ln w="9525">
            <a:noFill/>
            <a:round/>
            <a:headEnd/>
            <a:tailEnd/>
          </a:ln>
        </p:spPr>
        <p:txBody>
          <a:bodyPr/>
          <a:lstStyle/>
          <a:p>
            <a:endParaRPr lang="zh-CN" altLang="en-US"/>
          </a:p>
        </p:txBody>
      </p:sp>
      <p:sp>
        <p:nvSpPr>
          <p:cNvPr id="9" name="Freeform 7"/>
          <p:cNvSpPr>
            <a:spLocks/>
          </p:cNvSpPr>
          <p:nvPr/>
        </p:nvSpPr>
        <p:spPr bwMode="auto">
          <a:xfrm>
            <a:off x="8182350" y="4684167"/>
            <a:ext cx="812800" cy="846138"/>
          </a:xfrm>
          <a:custGeom>
            <a:avLst/>
            <a:gdLst/>
            <a:ahLst/>
            <a:cxnLst>
              <a:cxn ang="0">
                <a:pos x="0" y="0"/>
              </a:cxn>
              <a:cxn ang="0">
                <a:pos x="512" y="3"/>
              </a:cxn>
              <a:cxn ang="0">
                <a:pos x="512" y="533"/>
              </a:cxn>
              <a:cxn ang="0">
                <a:pos x="0" y="533"/>
              </a:cxn>
              <a:cxn ang="0">
                <a:pos x="0" y="3"/>
              </a:cxn>
              <a:cxn ang="0">
                <a:pos x="0" y="3"/>
              </a:cxn>
            </a:cxnLst>
            <a:rect l="0" t="0" r="r" b="b"/>
            <a:pathLst>
              <a:path w="512" h="533">
                <a:moveTo>
                  <a:pt x="0" y="0"/>
                </a:moveTo>
                <a:lnTo>
                  <a:pt x="512" y="3"/>
                </a:lnTo>
                <a:lnTo>
                  <a:pt x="512" y="533"/>
                </a:lnTo>
                <a:lnTo>
                  <a:pt x="0" y="533"/>
                </a:lnTo>
                <a:lnTo>
                  <a:pt x="0" y="3"/>
                </a:lnTo>
                <a:lnTo>
                  <a:pt x="0" y="3"/>
                </a:lnTo>
              </a:path>
            </a:pathLst>
          </a:custGeom>
          <a:noFill/>
          <a:ln w="11113">
            <a:solidFill>
              <a:srgbClr val="000000"/>
            </a:solidFill>
            <a:prstDash val="solid"/>
            <a:round/>
            <a:headEnd/>
            <a:tailEnd/>
          </a:ln>
        </p:spPr>
        <p:txBody>
          <a:bodyPr/>
          <a:lstStyle/>
          <a:p>
            <a:endParaRPr lang="zh-CN" altLang="en-US"/>
          </a:p>
        </p:txBody>
      </p:sp>
      <p:sp>
        <p:nvSpPr>
          <p:cNvPr id="10" name="Freeform 8"/>
          <p:cNvSpPr>
            <a:spLocks/>
          </p:cNvSpPr>
          <p:nvPr/>
        </p:nvSpPr>
        <p:spPr bwMode="auto">
          <a:xfrm>
            <a:off x="8961813" y="4684167"/>
            <a:ext cx="1081088" cy="846138"/>
          </a:xfrm>
          <a:custGeom>
            <a:avLst/>
            <a:gdLst/>
            <a:ahLst/>
            <a:cxnLst>
              <a:cxn ang="0">
                <a:pos x="0" y="0"/>
              </a:cxn>
              <a:cxn ang="0">
                <a:pos x="681" y="3"/>
              </a:cxn>
              <a:cxn ang="0">
                <a:pos x="681" y="533"/>
              </a:cxn>
              <a:cxn ang="0">
                <a:pos x="3" y="533"/>
              </a:cxn>
              <a:cxn ang="0">
                <a:pos x="3" y="3"/>
              </a:cxn>
              <a:cxn ang="0">
                <a:pos x="3" y="3"/>
              </a:cxn>
              <a:cxn ang="0">
                <a:pos x="0" y="0"/>
              </a:cxn>
            </a:cxnLst>
            <a:rect l="0" t="0" r="r" b="b"/>
            <a:pathLst>
              <a:path w="681" h="533">
                <a:moveTo>
                  <a:pt x="0" y="0"/>
                </a:moveTo>
                <a:lnTo>
                  <a:pt x="681" y="3"/>
                </a:lnTo>
                <a:lnTo>
                  <a:pt x="681" y="533"/>
                </a:lnTo>
                <a:lnTo>
                  <a:pt x="3" y="533"/>
                </a:lnTo>
                <a:lnTo>
                  <a:pt x="3" y="3"/>
                </a:lnTo>
                <a:lnTo>
                  <a:pt x="3" y="3"/>
                </a:lnTo>
                <a:lnTo>
                  <a:pt x="0" y="0"/>
                </a:lnTo>
                <a:close/>
              </a:path>
            </a:pathLst>
          </a:custGeom>
          <a:solidFill>
            <a:srgbClr val="E6E6E6"/>
          </a:solidFill>
          <a:ln w="9525">
            <a:noFill/>
            <a:round/>
            <a:headEnd/>
            <a:tailEnd/>
          </a:ln>
        </p:spPr>
        <p:txBody>
          <a:bodyPr/>
          <a:lstStyle/>
          <a:p>
            <a:endParaRPr lang="zh-CN" altLang="en-US"/>
          </a:p>
        </p:txBody>
      </p:sp>
      <p:sp>
        <p:nvSpPr>
          <p:cNvPr id="11" name="Freeform 9"/>
          <p:cNvSpPr>
            <a:spLocks/>
          </p:cNvSpPr>
          <p:nvPr/>
        </p:nvSpPr>
        <p:spPr bwMode="auto">
          <a:xfrm>
            <a:off x="8961813" y="4684167"/>
            <a:ext cx="1081088" cy="846138"/>
          </a:xfrm>
          <a:custGeom>
            <a:avLst/>
            <a:gdLst/>
            <a:ahLst/>
            <a:cxnLst>
              <a:cxn ang="0">
                <a:pos x="0" y="0"/>
              </a:cxn>
              <a:cxn ang="0">
                <a:pos x="681" y="3"/>
              </a:cxn>
              <a:cxn ang="0">
                <a:pos x="681" y="533"/>
              </a:cxn>
              <a:cxn ang="0">
                <a:pos x="3" y="533"/>
              </a:cxn>
              <a:cxn ang="0">
                <a:pos x="3" y="3"/>
              </a:cxn>
              <a:cxn ang="0">
                <a:pos x="3" y="3"/>
              </a:cxn>
            </a:cxnLst>
            <a:rect l="0" t="0" r="r" b="b"/>
            <a:pathLst>
              <a:path w="681" h="533">
                <a:moveTo>
                  <a:pt x="0" y="0"/>
                </a:moveTo>
                <a:lnTo>
                  <a:pt x="681" y="3"/>
                </a:lnTo>
                <a:lnTo>
                  <a:pt x="681" y="533"/>
                </a:lnTo>
                <a:lnTo>
                  <a:pt x="3" y="533"/>
                </a:lnTo>
                <a:lnTo>
                  <a:pt x="3" y="3"/>
                </a:lnTo>
                <a:lnTo>
                  <a:pt x="3" y="3"/>
                </a:lnTo>
              </a:path>
            </a:pathLst>
          </a:custGeom>
          <a:noFill/>
          <a:ln w="11113">
            <a:solidFill>
              <a:srgbClr val="000000"/>
            </a:solidFill>
            <a:prstDash val="solid"/>
            <a:round/>
            <a:headEnd/>
            <a:tailEnd/>
          </a:ln>
        </p:spPr>
        <p:txBody>
          <a:bodyPr/>
          <a:lstStyle/>
          <a:p>
            <a:endParaRPr lang="zh-CN" altLang="en-US"/>
          </a:p>
        </p:txBody>
      </p:sp>
      <p:sp>
        <p:nvSpPr>
          <p:cNvPr id="12" name="Freeform 10"/>
          <p:cNvSpPr>
            <a:spLocks/>
          </p:cNvSpPr>
          <p:nvPr/>
        </p:nvSpPr>
        <p:spPr bwMode="auto">
          <a:xfrm>
            <a:off x="6932987" y="4684167"/>
            <a:ext cx="1249363" cy="846138"/>
          </a:xfrm>
          <a:custGeom>
            <a:avLst/>
            <a:gdLst/>
            <a:ahLst/>
            <a:cxnLst>
              <a:cxn ang="0">
                <a:pos x="0" y="0"/>
              </a:cxn>
              <a:cxn ang="0">
                <a:pos x="787" y="3"/>
              </a:cxn>
              <a:cxn ang="0">
                <a:pos x="787" y="533"/>
              </a:cxn>
              <a:cxn ang="0">
                <a:pos x="0" y="533"/>
              </a:cxn>
              <a:cxn ang="0">
                <a:pos x="0" y="3"/>
              </a:cxn>
              <a:cxn ang="0">
                <a:pos x="0" y="3"/>
              </a:cxn>
              <a:cxn ang="0">
                <a:pos x="0" y="0"/>
              </a:cxn>
            </a:cxnLst>
            <a:rect l="0" t="0" r="r" b="b"/>
            <a:pathLst>
              <a:path w="787" h="533">
                <a:moveTo>
                  <a:pt x="0" y="0"/>
                </a:moveTo>
                <a:lnTo>
                  <a:pt x="787" y="3"/>
                </a:lnTo>
                <a:lnTo>
                  <a:pt x="787" y="533"/>
                </a:lnTo>
                <a:lnTo>
                  <a:pt x="0" y="533"/>
                </a:lnTo>
                <a:lnTo>
                  <a:pt x="0" y="3"/>
                </a:lnTo>
                <a:lnTo>
                  <a:pt x="0" y="3"/>
                </a:lnTo>
                <a:lnTo>
                  <a:pt x="0" y="0"/>
                </a:lnTo>
                <a:close/>
              </a:path>
            </a:pathLst>
          </a:custGeom>
          <a:solidFill>
            <a:srgbClr val="E6E6E6"/>
          </a:solidFill>
          <a:ln w="9525">
            <a:noFill/>
            <a:round/>
            <a:headEnd/>
            <a:tailEnd/>
          </a:ln>
        </p:spPr>
        <p:txBody>
          <a:bodyPr/>
          <a:lstStyle/>
          <a:p>
            <a:endParaRPr lang="zh-CN" altLang="en-US"/>
          </a:p>
        </p:txBody>
      </p:sp>
      <p:sp>
        <p:nvSpPr>
          <p:cNvPr id="13" name="Freeform 11"/>
          <p:cNvSpPr>
            <a:spLocks/>
          </p:cNvSpPr>
          <p:nvPr/>
        </p:nvSpPr>
        <p:spPr bwMode="auto">
          <a:xfrm>
            <a:off x="6932987" y="4684167"/>
            <a:ext cx="1249363" cy="846138"/>
          </a:xfrm>
          <a:custGeom>
            <a:avLst/>
            <a:gdLst/>
            <a:ahLst/>
            <a:cxnLst>
              <a:cxn ang="0">
                <a:pos x="0" y="0"/>
              </a:cxn>
              <a:cxn ang="0">
                <a:pos x="787" y="3"/>
              </a:cxn>
              <a:cxn ang="0">
                <a:pos x="787" y="533"/>
              </a:cxn>
              <a:cxn ang="0">
                <a:pos x="0" y="533"/>
              </a:cxn>
              <a:cxn ang="0">
                <a:pos x="0" y="3"/>
              </a:cxn>
              <a:cxn ang="0">
                <a:pos x="0" y="3"/>
              </a:cxn>
            </a:cxnLst>
            <a:rect l="0" t="0" r="r" b="b"/>
            <a:pathLst>
              <a:path w="787" h="533">
                <a:moveTo>
                  <a:pt x="0" y="0"/>
                </a:moveTo>
                <a:lnTo>
                  <a:pt x="787" y="3"/>
                </a:lnTo>
                <a:lnTo>
                  <a:pt x="787" y="533"/>
                </a:lnTo>
                <a:lnTo>
                  <a:pt x="0" y="533"/>
                </a:lnTo>
                <a:lnTo>
                  <a:pt x="0" y="3"/>
                </a:lnTo>
                <a:lnTo>
                  <a:pt x="0" y="3"/>
                </a:lnTo>
              </a:path>
            </a:pathLst>
          </a:custGeom>
          <a:noFill/>
          <a:ln w="11113">
            <a:solidFill>
              <a:srgbClr val="000000"/>
            </a:solidFill>
            <a:prstDash val="solid"/>
            <a:round/>
            <a:headEnd/>
            <a:tailEnd/>
          </a:ln>
        </p:spPr>
        <p:txBody>
          <a:bodyPr/>
          <a:lstStyle/>
          <a:p>
            <a:endParaRPr lang="zh-CN" altLang="en-US"/>
          </a:p>
        </p:txBody>
      </p:sp>
      <p:sp>
        <p:nvSpPr>
          <p:cNvPr id="14" name="Freeform 12"/>
          <p:cNvSpPr>
            <a:spLocks/>
          </p:cNvSpPr>
          <p:nvPr/>
        </p:nvSpPr>
        <p:spPr bwMode="auto">
          <a:xfrm>
            <a:off x="6932987" y="4688930"/>
            <a:ext cx="3109914" cy="841375"/>
          </a:xfrm>
          <a:custGeom>
            <a:avLst/>
            <a:gdLst/>
            <a:ahLst/>
            <a:cxnLst>
              <a:cxn ang="0">
                <a:pos x="0" y="0"/>
              </a:cxn>
              <a:cxn ang="0">
                <a:pos x="1959" y="0"/>
              </a:cxn>
              <a:cxn ang="0">
                <a:pos x="1959" y="530"/>
              </a:cxn>
              <a:cxn ang="0">
                <a:pos x="0" y="530"/>
              </a:cxn>
              <a:cxn ang="0">
                <a:pos x="0" y="0"/>
              </a:cxn>
              <a:cxn ang="0">
                <a:pos x="0" y="0"/>
              </a:cxn>
            </a:cxnLst>
            <a:rect l="0" t="0" r="r" b="b"/>
            <a:pathLst>
              <a:path w="1959" h="530">
                <a:moveTo>
                  <a:pt x="0" y="0"/>
                </a:moveTo>
                <a:lnTo>
                  <a:pt x="1959" y="0"/>
                </a:lnTo>
                <a:lnTo>
                  <a:pt x="1959" y="530"/>
                </a:lnTo>
                <a:lnTo>
                  <a:pt x="0" y="530"/>
                </a:lnTo>
                <a:lnTo>
                  <a:pt x="0" y="0"/>
                </a:lnTo>
                <a:lnTo>
                  <a:pt x="0" y="0"/>
                </a:lnTo>
              </a:path>
            </a:pathLst>
          </a:custGeom>
          <a:noFill/>
          <a:ln w="11113">
            <a:solidFill>
              <a:srgbClr val="000000"/>
            </a:solidFill>
            <a:prstDash val="solid"/>
            <a:round/>
            <a:headEnd/>
            <a:tailEnd/>
          </a:ln>
        </p:spPr>
        <p:txBody>
          <a:bodyPr/>
          <a:lstStyle/>
          <a:p>
            <a:endParaRPr lang="zh-CN" altLang="en-US"/>
          </a:p>
        </p:txBody>
      </p:sp>
      <p:sp>
        <p:nvSpPr>
          <p:cNvPr id="15" name="Line 13"/>
          <p:cNvSpPr>
            <a:spLocks noChangeShapeType="1"/>
          </p:cNvSpPr>
          <p:nvPr/>
        </p:nvSpPr>
        <p:spPr bwMode="auto">
          <a:xfrm flipV="1">
            <a:off x="9203113" y="4688930"/>
            <a:ext cx="1588" cy="835025"/>
          </a:xfrm>
          <a:prstGeom prst="line">
            <a:avLst/>
          </a:prstGeom>
          <a:noFill/>
          <a:ln w="11113">
            <a:solidFill>
              <a:srgbClr val="000000"/>
            </a:solidFill>
            <a:round/>
            <a:headEnd/>
            <a:tailEnd/>
          </a:ln>
        </p:spPr>
        <p:txBody>
          <a:bodyPr/>
          <a:lstStyle/>
          <a:p>
            <a:endParaRPr lang="zh-CN" altLang="en-US"/>
          </a:p>
        </p:txBody>
      </p:sp>
      <p:sp>
        <p:nvSpPr>
          <p:cNvPr id="16" name="Line 14"/>
          <p:cNvSpPr>
            <a:spLocks noChangeShapeType="1"/>
          </p:cNvSpPr>
          <p:nvPr/>
        </p:nvSpPr>
        <p:spPr bwMode="auto">
          <a:xfrm flipV="1">
            <a:off x="9415838" y="4688930"/>
            <a:ext cx="1588" cy="841375"/>
          </a:xfrm>
          <a:prstGeom prst="line">
            <a:avLst/>
          </a:prstGeom>
          <a:noFill/>
          <a:ln w="11113">
            <a:solidFill>
              <a:srgbClr val="000000"/>
            </a:solidFill>
            <a:round/>
            <a:headEnd/>
            <a:tailEnd/>
          </a:ln>
        </p:spPr>
        <p:txBody>
          <a:bodyPr/>
          <a:lstStyle/>
          <a:p>
            <a:endParaRPr lang="zh-CN" altLang="en-US"/>
          </a:p>
        </p:txBody>
      </p:sp>
      <p:sp>
        <p:nvSpPr>
          <p:cNvPr id="17" name="Line 15"/>
          <p:cNvSpPr>
            <a:spLocks noChangeShapeType="1"/>
          </p:cNvSpPr>
          <p:nvPr/>
        </p:nvSpPr>
        <p:spPr bwMode="auto">
          <a:xfrm flipV="1">
            <a:off x="9622214" y="4688930"/>
            <a:ext cx="1588" cy="841375"/>
          </a:xfrm>
          <a:prstGeom prst="line">
            <a:avLst/>
          </a:prstGeom>
          <a:noFill/>
          <a:ln w="11113">
            <a:solidFill>
              <a:srgbClr val="000000"/>
            </a:solidFill>
            <a:round/>
            <a:headEnd/>
            <a:tailEnd/>
          </a:ln>
        </p:spPr>
        <p:txBody>
          <a:bodyPr/>
          <a:lstStyle/>
          <a:p>
            <a:endParaRPr lang="zh-CN" altLang="en-US"/>
          </a:p>
        </p:txBody>
      </p:sp>
      <p:sp>
        <p:nvSpPr>
          <p:cNvPr id="18" name="Line 16"/>
          <p:cNvSpPr>
            <a:spLocks noChangeShapeType="1"/>
          </p:cNvSpPr>
          <p:nvPr/>
        </p:nvSpPr>
        <p:spPr bwMode="auto">
          <a:xfrm flipV="1">
            <a:off x="9834939" y="4688930"/>
            <a:ext cx="1588" cy="841375"/>
          </a:xfrm>
          <a:prstGeom prst="line">
            <a:avLst/>
          </a:prstGeom>
          <a:noFill/>
          <a:ln w="11113">
            <a:solidFill>
              <a:srgbClr val="000000"/>
            </a:solidFill>
            <a:round/>
            <a:headEnd/>
            <a:tailEnd/>
          </a:ln>
        </p:spPr>
        <p:txBody>
          <a:bodyPr/>
          <a:lstStyle/>
          <a:p>
            <a:endParaRPr lang="zh-CN" altLang="en-US"/>
          </a:p>
        </p:txBody>
      </p:sp>
      <p:sp>
        <p:nvSpPr>
          <p:cNvPr id="19" name="Rectangle 17"/>
          <p:cNvSpPr>
            <a:spLocks noChangeArrowheads="1"/>
          </p:cNvSpPr>
          <p:nvPr/>
        </p:nvSpPr>
        <p:spPr bwMode="auto">
          <a:xfrm>
            <a:off x="8317288" y="56319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C</a:t>
            </a:r>
            <a:endParaRPr lang="en-US" altLang="zh-CN" sz="2400">
              <a:latin typeface="Times New Roman" charset="0"/>
            </a:endParaRPr>
          </a:p>
        </p:txBody>
      </p:sp>
      <p:sp>
        <p:nvSpPr>
          <p:cNvPr id="20" name="Rectangle 18"/>
          <p:cNvSpPr>
            <a:spLocks noChangeArrowheads="1"/>
          </p:cNvSpPr>
          <p:nvPr/>
        </p:nvSpPr>
        <p:spPr bwMode="auto">
          <a:xfrm>
            <a:off x="8428413" y="56319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a</a:t>
            </a:r>
            <a:endParaRPr lang="en-US" altLang="zh-CN" sz="2400">
              <a:latin typeface="Times New Roman" charset="0"/>
            </a:endParaRPr>
          </a:p>
        </p:txBody>
      </p:sp>
      <p:sp>
        <p:nvSpPr>
          <p:cNvPr id="21" name="Rectangle 19"/>
          <p:cNvSpPr>
            <a:spLocks noChangeArrowheads="1"/>
          </p:cNvSpPr>
          <p:nvPr/>
        </p:nvSpPr>
        <p:spPr bwMode="auto">
          <a:xfrm>
            <a:off x="8541126" y="56319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c</a:t>
            </a:r>
            <a:endParaRPr lang="en-US" altLang="zh-CN" sz="2400">
              <a:latin typeface="Times New Roman" charset="0"/>
            </a:endParaRPr>
          </a:p>
        </p:txBody>
      </p:sp>
      <p:sp>
        <p:nvSpPr>
          <p:cNvPr id="22" name="Rectangle 20"/>
          <p:cNvSpPr>
            <a:spLocks noChangeArrowheads="1"/>
          </p:cNvSpPr>
          <p:nvPr/>
        </p:nvSpPr>
        <p:spPr bwMode="auto">
          <a:xfrm>
            <a:off x="8653838" y="56319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h</a:t>
            </a:r>
            <a:endParaRPr lang="en-US" altLang="zh-CN" sz="2400">
              <a:latin typeface="Times New Roman" charset="0"/>
            </a:endParaRPr>
          </a:p>
        </p:txBody>
      </p:sp>
      <p:sp>
        <p:nvSpPr>
          <p:cNvPr id="23" name="Rectangle 21"/>
          <p:cNvSpPr>
            <a:spLocks noChangeArrowheads="1"/>
          </p:cNvSpPr>
          <p:nvPr/>
        </p:nvSpPr>
        <p:spPr bwMode="auto">
          <a:xfrm>
            <a:off x="8764963" y="56319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e</a:t>
            </a:r>
            <a:endParaRPr lang="en-US" altLang="zh-CN" sz="2400">
              <a:latin typeface="Times New Roman" charset="0"/>
            </a:endParaRPr>
          </a:p>
        </p:txBody>
      </p:sp>
      <p:sp>
        <p:nvSpPr>
          <p:cNvPr id="24" name="Rectangle 22"/>
          <p:cNvSpPr>
            <a:spLocks noChangeArrowheads="1"/>
          </p:cNvSpPr>
          <p:nvPr/>
        </p:nvSpPr>
        <p:spPr bwMode="auto">
          <a:xfrm>
            <a:off x="8317288"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e</a:t>
            </a:r>
            <a:endParaRPr lang="en-US" altLang="zh-CN" sz="2400">
              <a:latin typeface="Times New Roman" charset="0"/>
            </a:endParaRPr>
          </a:p>
        </p:txBody>
      </p:sp>
      <p:sp>
        <p:nvSpPr>
          <p:cNvPr id="25" name="Rectangle 23"/>
          <p:cNvSpPr>
            <a:spLocks noChangeArrowheads="1"/>
          </p:cNvSpPr>
          <p:nvPr/>
        </p:nvSpPr>
        <p:spPr bwMode="auto">
          <a:xfrm>
            <a:off x="8428413"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n</a:t>
            </a:r>
            <a:endParaRPr lang="en-US" altLang="zh-CN" sz="2400">
              <a:latin typeface="Times New Roman" charset="0"/>
            </a:endParaRPr>
          </a:p>
        </p:txBody>
      </p:sp>
      <p:sp>
        <p:nvSpPr>
          <p:cNvPr id="26" name="Rectangle 24"/>
          <p:cNvSpPr>
            <a:spLocks noChangeArrowheads="1"/>
          </p:cNvSpPr>
          <p:nvPr/>
        </p:nvSpPr>
        <p:spPr bwMode="auto">
          <a:xfrm>
            <a:off x="8541126"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t</a:t>
            </a:r>
            <a:endParaRPr lang="en-US" altLang="zh-CN" sz="2400">
              <a:latin typeface="Times New Roman" charset="0"/>
            </a:endParaRPr>
          </a:p>
        </p:txBody>
      </p:sp>
      <p:sp>
        <p:nvSpPr>
          <p:cNvPr id="27" name="Rectangle 25"/>
          <p:cNvSpPr>
            <a:spLocks noChangeArrowheads="1"/>
          </p:cNvSpPr>
          <p:nvPr/>
        </p:nvSpPr>
        <p:spPr bwMode="auto">
          <a:xfrm>
            <a:off x="8653838"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r</a:t>
            </a:r>
            <a:endParaRPr lang="en-US" altLang="zh-CN" sz="2400">
              <a:latin typeface="Times New Roman" charset="0"/>
            </a:endParaRPr>
          </a:p>
        </p:txBody>
      </p:sp>
      <p:sp>
        <p:nvSpPr>
          <p:cNvPr id="28" name="Rectangle 26"/>
          <p:cNvSpPr>
            <a:spLocks noChangeArrowheads="1"/>
          </p:cNvSpPr>
          <p:nvPr/>
        </p:nvSpPr>
        <p:spPr bwMode="auto">
          <a:xfrm>
            <a:off x="8764963"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i</a:t>
            </a:r>
            <a:endParaRPr lang="en-US" altLang="zh-CN" sz="2400">
              <a:latin typeface="Times New Roman" charset="0"/>
            </a:endParaRPr>
          </a:p>
        </p:txBody>
      </p:sp>
      <p:sp>
        <p:nvSpPr>
          <p:cNvPr id="29" name="Rectangle 27"/>
          <p:cNvSpPr>
            <a:spLocks noChangeArrowheads="1"/>
          </p:cNvSpPr>
          <p:nvPr/>
        </p:nvSpPr>
        <p:spPr bwMode="auto">
          <a:xfrm>
            <a:off x="8877676"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e</a:t>
            </a:r>
            <a:endParaRPr lang="en-US" altLang="zh-CN" sz="2400">
              <a:latin typeface="Times New Roman" charset="0"/>
            </a:endParaRPr>
          </a:p>
        </p:txBody>
      </p:sp>
      <p:sp>
        <p:nvSpPr>
          <p:cNvPr id="30" name="Rectangle 28"/>
          <p:cNvSpPr>
            <a:spLocks noChangeArrowheads="1"/>
          </p:cNvSpPr>
          <p:nvPr/>
        </p:nvSpPr>
        <p:spPr bwMode="auto">
          <a:xfrm>
            <a:off x="8988801" y="58668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s</a:t>
            </a:r>
            <a:endParaRPr lang="en-US" altLang="zh-CN" sz="2400">
              <a:latin typeface="Times New Roman" charset="0"/>
            </a:endParaRPr>
          </a:p>
        </p:txBody>
      </p:sp>
      <p:sp>
        <p:nvSpPr>
          <p:cNvPr id="31" name="Freeform 29"/>
          <p:cNvSpPr>
            <a:spLocks/>
          </p:cNvSpPr>
          <p:nvPr/>
        </p:nvSpPr>
        <p:spPr bwMode="auto">
          <a:xfrm>
            <a:off x="9863514" y="5809705"/>
            <a:ext cx="173038" cy="101600"/>
          </a:xfrm>
          <a:custGeom>
            <a:avLst/>
            <a:gdLst/>
            <a:ahLst/>
            <a:cxnLst>
              <a:cxn ang="0">
                <a:pos x="0" y="32"/>
              </a:cxn>
              <a:cxn ang="0">
                <a:pos x="0" y="0"/>
              </a:cxn>
              <a:cxn ang="0">
                <a:pos x="109" y="32"/>
              </a:cxn>
              <a:cxn ang="0">
                <a:pos x="0" y="64"/>
              </a:cxn>
              <a:cxn ang="0">
                <a:pos x="0" y="32"/>
              </a:cxn>
              <a:cxn ang="0">
                <a:pos x="0" y="32"/>
              </a:cxn>
            </a:cxnLst>
            <a:rect l="0" t="0" r="r" b="b"/>
            <a:pathLst>
              <a:path w="109" h="64">
                <a:moveTo>
                  <a:pt x="0" y="32"/>
                </a:moveTo>
                <a:lnTo>
                  <a:pt x="0" y="0"/>
                </a:lnTo>
                <a:lnTo>
                  <a:pt x="109" y="32"/>
                </a:lnTo>
                <a:lnTo>
                  <a:pt x="0" y="64"/>
                </a:lnTo>
                <a:lnTo>
                  <a:pt x="0" y="32"/>
                </a:lnTo>
                <a:lnTo>
                  <a:pt x="0" y="32"/>
                </a:lnTo>
              </a:path>
            </a:pathLst>
          </a:custGeom>
          <a:noFill/>
          <a:ln w="11113">
            <a:solidFill>
              <a:srgbClr val="000000"/>
            </a:solidFill>
            <a:prstDash val="solid"/>
            <a:round/>
            <a:headEnd/>
            <a:tailEnd/>
          </a:ln>
        </p:spPr>
        <p:txBody>
          <a:bodyPr/>
          <a:lstStyle/>
          <a:p>
            <a:endParaRPr lang="zh-CN" altLang="en-US"/>
          </a:p>
        </p:txBody>
      </p:sp>
      <p:sp>
        <p:nvSpPr>
          <p:cNvPr id="32" name="Freeform 30"/>
          <p:cNvSpPr>
            <a:spLocks/>
          </p:cNvSpPr>
          <p:nvPr/>
        </p:nvSpPr>
        <p:spPr bwMode="auto">
          <a:xfrm>
            <a:off x="9863514" y="5809705"/>
            <a:ext cx="173038" cy="101600"/>
          </a:xfrm>
          <a:custGeom>
            <a:avLst/>
            <a:gdLst/>
            <a:ahLst/>
            <a:cxnLst>
              <a:cxn ang="0">
                <a:pos x="0" y="32"/>
              </a:cxn>
              <a:cxn ang="0">
                <a:pos x="0" y="0"/>
              </a:cxn>
              <a:cxn ang="0">
                <a:pos x="109" y="32"/>
              </a:cxn>
              <a:cxn ang="0">
                <a:pos x="0" y="64"/>
              </a:cxn>
              <a:cxn ang="0">
                <a:pos x="0" y="32"/>
              </a:cxn>
            </a:cxnLst>
            <a:rect l="0" t="0" r="r" b="b"/>
            <a:pathLst>
              <a:path w="109" h="64">
                <a:moveTo>
                  <a:pt x="0" y="32"/>
                </a:moveTo>
                <a:lnTo>
                  <a:pt x="0" y="0"/>
                </a:lnTo>
                <a:lnTo>
                  <a:pt x="109" y="32"/>
                </a:lnTo>
                <a:lnTo>
                  <a:pt x="0" y="64"/>
                </a:lnTo>
                <a:lnTo>
                  <a:pt x="0" y="32"/>
                </a:lnTo>
                <a:close/>
              </a:path>
            </a:pathLst>
          </a:custGeom>
          <a:solidFill>
            <a:srgbClr val="000000"/>
          </a:solidFill>
          <a:ln w="9525">
            <a:noFill/>
            <a:round/>
            <a:headEnd/>
            <a:tailEnd/>
          </a:ln>
        </p:spPr>
        <p:txBody>
          <a:bodyPr/>
          <a:lstStyle/>
          <a:p>
            <a:endParaRPr lang="zh-CN" altLang="en-US"/>
          </a:p>
        </p:txBody>
      </p:sp>
      <p:sp>
        <p:nvSpPr>
          <p:cNvPr id="33" name="Line 31"/>
          <p:cNvSpPr>
            <a:spLocks noChangeShapeType="1"/>
          </p:cNvSpPr>
          <p:nvPr/>
        </p:nvSpPr>
        <p:spPr bwMode="auto">
          <a:xfrm>
            <a:off x="8904663" y="5860505"/>
            <a:ext cx="954088" cy="1588"/>
          </a:xfrm>
          <a:prstGeom prst="line">
            <a:avLst/>
          </a:prstGeom>
          <a:noFill/>
          <a:ln w="11113">
            <a:solidFill>
              <a:srgbClr val="000000"/>
            </a:solidFill>
            <a:round/>
            <a:headEnd/>
            <a:tailEnd/>
          </a:ln>
        </p:spPr>
        <p:txBody>
          <a:bodyPr/>
          <a:lstStyle/>
          <a:p>
            <a:endParaRPr lang="zh-CN" altLang="en-US"/>
          </a:p>
        </p:txBody>
      </p:sp>
      <p:sp>
        <p:nvSpPr>
          <p:cNvPr id="34" name="Freeform 32"/>
          <p:cNvSpPr>
            <a:spLocks/>
          </p:cNvSpPr>
          <p:nvPr/>
        </p:nvSpPr>
        <p:spPr bwMode="auto">
          <a:xfrm>
            <a:off x="7033000" y="5809705"/>
            <a:ext cx="174625" cy="101600"/>
          </a:xfrm>
          <a:custGeom>
            <a:avLst/>
            <a:gdLst/>
            <a:ahLst/>
            <a:cxnLst>
              <a:cxn ang="0">
                <a:pos x="110" y="32"/>
              </a:cxn>
              <a:cxn ang="0">
                <a:pos x="110" y="64"/>
              </a:cxn>
              <a:cxn ang="0">
                <a:pos x="0" y="32"/>
              </a:cxn>
              <a:cxn ang="0">
                <a:pos x="110" y="0"/>
              </a:cxn>
              <a:cxn ang="0">
                <a:pos x="110" y="32"/>
              </a:cxn>
              <a:cxn ang="0">
                <a:pos x="110" y="32"/>
              </a:cxn>
            </a:cxnLst>
            <a:rect l="0" t="0" r="r" b="b"/>
            <a:pathLst>
              <a:path w="110" h="64">
                <a:moveTo>
                  <a:pt x="110" y="32"/>
                </a:moveTo>
                <a:lnTo>
                  <a:pt x="110" y="64"/>
                </a:lnTo>
                <a:lnTo>
                  <a:pt x="0" y="32"/>
                </a:lnTo>
                <a:lnTo>
                  <a:pt x="110" y="0"/>
                </a:lnTo>
                <a:lnTo>
                  <a:pt x="110" y="32"/>
                </a:lnTo>
                <a:lnTo>
                  <a:pt x="110" y="32"/>
                </a:lnTo>
              </a:path>
            </a:pathLst>
          </a:custGeom>
          <a:noFill/>
          <a:ln w="11113">
            <a:solidFill>
              <a:srgbClr val="000000"/>
            </a:solidFill>
            <a:prstDash val="solid"/>
            <a:round/>
            <a:headEnd/>
            <a:tailEnd/>
          </a:ln>
        </p:spPr>
        <p:txBody>
          <a:bodyPr/>
          <a:lstStyle/>
          <a:p>
            <a:endParaRPr lang="zh-CN" altLang="en-US"/>
          </a:p>
        </p:txBody>
      </p:sp>
      <p:sp>
        <p:nvSpPr>
          <p:cNvPr id="35" name="Freeform 33"/>
          <p:cNvSpPr>
            <a:spLocks/>
          </p:cNvSpPr>
          <p:nvPr/>
        </p:nvSpPr>
        <p:spPr bwMode="auto">
          <a:xfrm>
            <a:off x="7033000" y="5809705"/>
            <a:ext cx="174625" cy="101600"/>
          </a:xfrm>
          <a:custGeom>
            <a:avLst/>
            <a:gdLst/>
            <a:ahLst/>
            <a:cxnLst>
              <a:cxn ang="0">
                <a:pos x="110" y="32"/>
              </a:cxn>
              <a:cxn ang="0">
                <a:pos x="110" y="64"/>
              </a:cxn>
              <a:cxn ang="0">
                <a:pos x="0" y="32"/>
              </a:cxn>
              <a:cxn ang="0">
                <a:pos x="110" y="0"/>
              </a:cxn>
              <a:cxn ang="0">
                <a:pos x="110" y="32"/>
              </a:cxn>
            </a:cxnLst>
            <a:rect l="0" t="0" r="r" b="b"/>
            <a:pathLst>
              <a:path w="110" h="64">
                <a:moveTo>
                  <a:pt x="110" y="32"/>
                </a:moveTo>
                <a:lnTo>
                  <a:pt x="110" y="64"/>
                </a:lnTo>
                <a:lnTo>
                  <a:pt x="0" y="32"/>
                </a:lnTo>
                <a:lnTo>
                  <a:pt x="110" y="0"/>
                </a:lnTo>
                <a:lnTo>
                  <a:pt x="110" y="32"/>
                </a:lnTo>
                <a:close/>
              </a:path>
            </a:pathLst>
          </a:custGeom>
          <a:solidFill>
            <a:srgbClr val="000000"/>
          </a:solidFill>
          <a:ln w="9525">
            <a:noFill/>
            <a:round/>
            <a:headEnd/>
            <a:tailEnd/>
          </a:ln>
        </p:spPr>
        <p:txBody>
          <a:bodyPr/>
          <a:lstStyle/>
          <a:p>
            <a:endParaRPr lang="zh-CN" altLang="en-US"/>
          </a:p>
        </p:txBody>
      </p:sp>
      <p:sp>
        <p:nvSpPr>
          <p:cNvPr id="36" name="Line 34"/>
          <p:cNvSpPr>
            <a:spLocks noChangeShapeType="1"/>
          </p:cNvSpPr>
          <p:nvPr/>
        </p:nvSpPr>
        <p:spPr bwMode="auto">
          <a:xfrm>
            <a:off x="7212387" y="5860505"/>
            <a:ext cx="958850" cy="1588"/>
          </a:xfrm>
          <a:prstGeom prst="line">
            <a:avLst/>
          </a:prstGeom>
          <a:noFill/>
          <a:ln w="11113">
            <a:solidFill>
              <a:srgbClr val="000000"/>
            </a:solidFill>
            <a:round/>
            <a:headEnd/>
            <a:tailEnd/>
          </a:ln>
        </p:spPr>
        <p:txBody>
          <a:bodyPr/>
          <a:lstStyle/>
          <a:p>
            <a:endParaRPr lang="zh-CN" altLang="en-US"/>
          </a:p>
        </p:txBody>
      </p:sp>
      <p:sp>
        <p:nvSpPr>
          <p:cNvPr id="37" name="Freeform 35"/>
          <p:cNvSpPr>
            <a:spLocks/>
          </p:cNvSpPr>
          <p:nvPr/>
        </p:nvSpPr>
        <p:spPr bwMode="auto">
          <a:xfrm>
            <a:off x="2141910" y="2061617"/>
            <a:ext cx="3362327" cy="3362325"/>
          </a:xfrm>
          <a:custGeom>
            <a:avLst/>
            <a:gdLst/>
            <a:ahLst/>
            <a:cxnLst>
              <a:cxn ang="0">
                <a:pos x="0" y="0"/>
              </a:cxn>
              <a:cxn ang="0">
                <a:pos x="2118" y="0"/>
              </a:cxn>
              <a:cxn ang="0">
                <a:pos x="2118" y="2118"/>
              </a:cxn>
              <a:cxn ang="0">
                <a:pos x="0" y="2118"/>
              </a:cxn>
              <a:cxn ang="0">
                <a:pos x="0" y="0"/>
              </a:cxn>
              <a:cxn ang="0">
                <a:pos x="0" y="0"/>
              </a:cxn>
            </a:cxnLst>
            <a:rect l="0" t="0" r="r" b="b"/>
            <a:pathLst>
              <a:path w="2118" h="2118">
                <a:moveTo>
                  <a:pt x="0" y="0"/>
                </a:moveTo>
                <a:lnTo>
                  <a:pt x="2118" y="0"/>
                </a:lnTo>
                <a:lnTo>
                  <a:pt x="2118" y="2118"/>
                </a:lnTo>
                <a:lnTo>
                  <a:pt x="0" y="2118"/>
                </a:lnTo>
                <a:lnTo>
                  <a:pt x="0" y="0"/>
                </a:lnTo>
                <a:lnTo>
                  <a:pt x="0" y="0"/>
                </a:lnTo>
              </a:path>
            </a:pathLst>
          </a:custGeom>
          <a:noFill/>
          <a:ln w="11113">
            <a:solidFill>
              <a:srgbClr val="000000"/>
            </a:solidFill>
            <a:prstDash val="solid"/>
            <a:round/>
            <a:headEnd/>
            <a:tailEnd/>
          </a:ln>
        </p:spPr>
        <p:txBody>
          <a:bodyPr/>
          <a:lstStyle/>
          <a:p>
            <a:endParaRPr lang="zh-CN" altLang="en-US"/>
          </a:p>
        </p:txBody>
      </p:sp>
      <p:sp>
        <p:nvSpPr>
          <p:cNvPr id="38" name="Line 36"/>
          <p:cNvSpPr>
            <a:spLocks noChangeShapeType="1"/>
          </p:cNvSpPr>
          <p:nvPr/>
        </p:nvSpPr>
        <p:spPr bwMode="auto">
          <a:xfrm>
            <a:off x="2164135" y="3731667"/>
            <a:ext cx="3362327" cy="1588"/>
          </a:xfrm>
          <a:prstGeom prst="line">
            <a:avLst/>
          </a:prstGeom>
          <a:noFill/>
          <a:ln w="11113">
            <a:solidFill>
              <a:srgbClr val="808080"/>
            </a:solidFill>
            <a:round/>
            <a:headEnd/>
            <a:tailEnd/>
          </a:ln>
        </p:spPr>
        <p:txBody>
          <a:bodyPr/>
          <a:lstStyle/>
          <a:p>
            <a:endParaRPr lang="zh-CN" altLang="en-US"/>
          </a:p>
        </p:txBody>
      </p:sp>
      <p:sp>
        <p:nvSpPr>
          <p:cNvPr id="39" name="Line 37"/>
          <p:cNvSpPr>
            <a:spLocks noChangeShapeType="1"/>
          </p:cNvSpPr>
          <p:nvPr/>
        </p:nvSpPr>
        <p:spPr bwMode="auto">
          <a:xfrm>
            <a:off x="3845298" y="2061617"/>
            <a:ext cx="1588" cy="3362325"/>
          </a:xfrm>
          <a:prstGeom prst="line">
            <a:avLst/>
          </a:prstGeom>
          <a:noFill/>
          <a:ln w="11113">
            <a:solidFill>
              <a:srgbClr val="808080"/>
            </a:solidFill>
            <a:round/>
            <a:headEnd/>
            <a:tailEnd/>
          </a:ln>
        </p:spPr>
        <p:txBody>
          <a:bodyPr/>
          <a:lstStyle/>
          <a:p>
            <a:endParaRPr lang="zh-CN" altLang="en-US"/>
          </a:p>
        </p:txBody>
      </p:sp>
      <p:sp>
        <p:nvSpPr>
          <p:cNvPr id="40" name="Line 38"/>
          <p:cNvSpPr>
            <a:spLocks noChangeShapeType="1"/>
          </p:cNvSpPr>
          <p:nvPr/>
        </p:nvSpPr>
        <p:spPr bwMode="auto">
          <a:xfrm>
            <a:off x="3005510" y="2061617"/>
            <a:ext cx="1588" cy="3362325"/>
          </a:xfrm>
          <a:prstGeom prst="line">
            <a:avLst/>
          </a:prstGeom>
          <a:noFill/>
          <a:ln w="11113">
            <a:solidFill>
              <a:srgbClr val="808080"/>
            </a:solidFill>
            <a:round/>
            <a:headEnd/>
            <a:tailEnd/>
          </a:ln>
        </p:spPr>
        <p:txBody>
          <a:bodyPr/>
          <a:lstStyle/>
          <a:p>
            <a:endParaRPr lang="zh-CN" altLang="en-US"/>
          </a:p>
        </p:txBody>
      </p:sp>
      <p:sp>
        <p:nvSpPr>
          <p:cNvPr id="41" name="Line 39"/>
          <p:cNvSpPr>
            <a:spLocks noChangeShapeType="1"/>
          </p:cNvSpPr>
          <p:nvPr/>
        </p:nvSpPr>
        <p:spPr bwMode="auto">
          <a:xfrm>
            <a:off x="4685086" y="2061617"/>
            <a:ext cx="1588" cy="3362325"/>
          </a:xfrm>
          <a:prstGeom prst="line">
            <a:avLst/>
          </a:prstGeom>
          <a:noFill/>
          <a:ln w="11113">
            <a:solidFill>
              <a:srgbClr val="808080"/>
            </a:solidFill>
            <a:round/>
            <a:headEnd/>
            <a:tailEnd/>
          </a:ln>
        </p:spPr>
        <p:txBody>
          <a:bodyPr/>
          <a:lstStyle/>
          <a:p>
            <a:endParaRPr lang="zh-CN" altLang="en-US"/>
          </a:p>
        </p:txBody>
      </p:sp>
      <p:sp>
        <p:nvSpPr>
          <p:cNvPr id="42" name="Line 40"/>
          <p:cNvSpPr>
            <a:spLocks noChangeShapeType="1"/>
          </p:cNvSpPr>
          <p:nvPr/>
        </p:nvSpPr>
        <p:spPr bwMode="auto">
          <a:xfrm flipV="1">
            <a:off x="2135560" y="2890292"/>
            <a:ext cx="3368677" cy="22225"/>
          </a:xfrm>
          <a:prstGeom prst="line">
            <a:avLst/>
          </a:prstGeom>
          <a:noFill/>
          <a:ln w="11113">
            <a:solidFill>
              <a:srgbClr val="808080"/>
            </a:solidFill>
            <a:round/>
            <a:headEnd/>
            <a:tailEnd/>
          </a:ln>
        </p:spPr>
        <p:txBody>
          <a:bodyPr/>
          <a:lstStyle/>
          <a:p>
            <a:endParaRPr lang="zh-CN" altLang="en-US"/>
          </a:p>
        </p:txBody>
      </p:sp>
      <p:sp>
        <p:nvSpPr>
          <p:cNvPr id="43" name="Line 41"/>
          <p:cNvSpPr>
            <a:spLocks noChangeShapeType="1"/>
          </p:cNvSpPr>
          <p:nvPr/>
        </p:nvSpPr>
        <p:spPr bwMode="auto">
          <a:xfrm>
            <a:off x="2153023" y="4582567"/>
            <a:ext cx="3351214" cy="1588"/>
          </a:xfrm>
          <a:prstGeom prst="line">
            <a:avLst/>
          </a:prstGeom>
          <a:noFill/>
          <a:ln w="11113">
            <a:solidFill>
              <a:srgbClr val="808080"/>
            </a:solidFill>
            <a:round/>
            <a:headEnd/>
            <a:tailEnd/>
          </a:ln>
        </p:spPr>
        <p:txBody>
          <a:bodyPr/>
          <a:lstStyle/>
          <a:p>
            <a:endParaRPr lang="zh-CN" altLang="en-US"/>
          </a:p>
        </p:txBody>
      </p:sp>
      <p:sp>
        <p:nvSpPr>
          <p:cNvPr id="44" name="Freeform 42"/>
          <p:cNvSpPr>
            <a:spLocks/>
          </p:cNvSpPr>
          <p:nvPr/>
        </p:nvSpPr>
        <p:spPr bwMode="auto">
          <a:xfrm>
            <a:off x="3845298" y="2890292"/>
            <a:ext cx="839788" cy="841375"/>
          </a:xfrm>
          <a:custGeom>
            <a:avLst/>
            <a:gdLst/>
            <a:ahLst/>
            <a:cxnLst>
              <a:cxn ang="0">
                <a:pos x="0" y="0"/>
              </a:cxn>
              <a:cxn ang="0">
                <a:pos x="529" y="0"/>
              </a:cxn>
              <a:cxn ang="0">
                <a:pos x="529" y="530"/>
              </a:cxn>
              <a:cxn ang="0">
                <a:pos x="0" y="530"/>
              </a:cxn>
              <a:cxn ang="0">
                <a:pos x="0" y="0"/>
              </a:cxn>
              <a:cxn ang="0">
                <a:pos x="0" y="0"/>
              </a:cxn>
            </a:cxnLst>
            <a:rect l="0" t="0" r="r" b="b"/>
            <a:pathLst>
              <a:path w="529" h="530">
                <a:moveTo>
                  <a:pt x="0" y="0"/>
                </a:moveTo>
                <a:lnTo>
                  <a:pt x="529" y="0"/>
                </a:lnTo>
                <a:lnTo>
                  <a:pt x="529" y="530"/>
                </a:lnTo>
                <a:lnTo>
                  <a:pt x="0" y="530"/>
                </a:lnTo>
                <a:lnTo>
                  <a:pt x="0" y="0"/>
                </a:lnTo>
                <a:lnTo>
                  <a:pt x="0" y="0"/>
                </a:lnTo>
              </a:path>
            </a:pathLst>
          </a:custGeom>
          <a:noFill/>
          <a:ln w="11113">
            <a:solidFill>
              <a:srgbClr val="000000"/>
            </a:solidFill>
            <a:prstDash val="solid"/>
            <a:round/>
            <a:headEnd/>
            <a:tailEnd/>
          </a:ln>
        </p:spPr>
        <p:txBody>
          <a:bodyPr/>
          <a:lstStyle/>
          <a:p>
            <a:endParaRPr lang="zh-CN" altLang="en-US"/>
          </a:p>
        </p:txBody>
      </p:sp>
      <p:sp>
        <p:nvSpPr>
          <p:cNvPr id="45" name="Freeform 43"/>
          <p:cNvSpPr>
            <a:spLocks/>
          </p:cNvSpPr>
          <p:nvPr/>
        </p:nvSpPr>
        <p:spPr bwMode="auto">
          <a:xfrm>
            <a:off x="2248273" y="2161630"/>
            <a:ext cx="50800" cy="50800"/>
          </a:xfrm>
          <a:custGeom>
            <a:avLst/>
            <a:gdLst/>
            <a:ahLst/>
            <a:cxnLst>
              <a:cxn ang="0">
                <a:pos x="28" y="14"/>
              </a:cxn>
              <a:cxn ang="0">
                <a:pos x="32" y="18"/>
              </a:cxn>
              <a:cxn ang="0">
                <a:pos x="32" y="21"/>
              </a:cxn>
              <a:cxn ang="0">
                <a:pos x="28" y="25"/>
              </a:cxn>
              <a:cxn ang="0">
                <a:pos x="28" y="25"/>
              </a:cxn>
              <a:cxn ang="0">
                <a:pos x="28" y="28"/>
              </a:cxn>
              <a:cxn ang="0">
                <a:pos x="25" y="28"/>
              </a:cxn>
              <a:cxn ang="0">
                <a:pos x="21" y="32"/>
              </a:cxn>
              <a:cxn ang="0">
                <a:pos x="21" y="32"/>
              </a:cxn>
              <a:cxn ang="0">
                <a:pos x="18" y="32"/>
              </a:cxn>
              <a:cxn ang="0">
                <a:pos x="14" y="32"/>
              </a:cxn>
              <a:cxn ang="0">
                <a:pos x="11" y="32"/>
              </a:cxn>
              <a:cxn ang="0">
                <a:pos x="11" y="32"/>
              </a:cxn>
              <a:cxn ang="0">
                <a:pos x="7" y="32"/>
              </a:cxn>
              <a:cxn ang="0">
                <a:pos x="4" y="28"/>
              </a:cxn>
              <a:cxn ang="0">
                <a:pos x="4" y="28"/>
              </a:cxn>
              <a:cxn ang="0">
                <a:pos x="0" y="25"/>
              </a:cxn>
              <a:cxn ang="0">
                <a:pos x="0" y="25"/>
              </a:cxn>
              <a:cxn ang="0">
                <a:pos x="0" y="21"/>
              </a:cxn>
              <a:cxn ang="0">
                <a:pos x="0" y="18"/>
              </a:cxn>
              <a:cxn ang="0">
                <a:pos x="0" y="18"/>
              </a:cxn>
              <a:cxn ang="0">
                <a:pos x="0" y="14"/>
              </a:cxn>
              <a:cxn ang="0">
                <a:pos x="0" y="11"/>
              </a:cxn>
              <a:cxn ang="0">
                <a:pos x="0" y="11"/>
              </a:cxn>
              <a:cxn ang="0">
                <a:pos x="0" y="7"/>
              </a:cxn>
              <a:cxn ang="0">
                <a:pos x="4" y="4"/>
              </a:cxn>
              <a:cxn ang="0">
                <a:pos x="4" y="4"/>
              </a:cxn>
              <a:cxn ang="0">
                <a:pos x="7" y="4"/>
              </a:cxn>
              <a:cxn ang="0">
                <a:pos x="11" y="0"/>
              </a:cxn>
              <a:cxn ang="0">
                <a:pos x="11" y="0"/>
              </a:cxn>
              <a:cxn ang="0">
                <a:pos x="14" y="0"/>
              </a:cxn>
              <a:cxn ang="0">
                <a:pos x="18" y="0"/>
              </a:cxn>
              <a:cxn ang="0">
                <a:pos x="21" y="0"/>
              </a:cxn>
              <a:cxn ang="0">
                <a:pos x="21" y="4"/>
              </a:cxn>
              <a:cxn ang="0">
                <a:pos x="25" y="4"/>
              </a:cxn>
              <a:cxn ang="0">
                <a:pos x="28" y="4"/>
              </a:cxn>
              <a:cxn ang="0">
                <a:pos x="28" y="7"/>
              </a:cxn>
              <a:cxn ang="0">
                <a:pos x="28" y="11"/>
              </a:cxn>
              <a:cxn ang="0">
                <a:pos x="32" y="11"/>
              </a:cxn>
              <a:cxn ang="0">
                <a:pos x="32" y="14"/>
              </a:cxn>
              <a:cxn ang="0">
                <a:pos x="32" y="18"/>
              </a:cxn>
              <a:cxn ang="0">
                <a:pos x="28" y="14"/>
              </a:cxn>
            </a:cxnLst>
            <a:rect l="0" t="0" r="r" b="b"/>
            <a:pathLst>
              <a:path w="32" h="32">
                <a:moveTo>
                  <a:pt x="28" y="14"/>
                </a:moveTo>
                <a:lnTo>
                  <a:pt x="32" y="18"/>
                </a:lnTo>
                <a:lnTo>
                  <a:pt x="32" y="21"/>
                </a:lnTo>
                <a:lnTo>
                  <a:pt x="28" y="25"/>
                </a:lnTo>
                <a:lnTo>
                  <a:pt x="28" y="25"/>
                </a:lnTo>
                <a:lnTo>
                  <a:pt x="28" y="28"/>
                </a:lnTo>
                <a:lnTo>
                  <a:pt x="25" y="28"/>
                </a:lnTo>
                <a:lnTo>
                  <a:pt x="21" y="32"/>
                </a:lnTo>
                <a:lnTo>
                  <a:pt x="21" y="32"/>
                </a:lnTo>
                <a:lnTo>
                  <a:pt x="18" y="32"/>
                </a:lnTo>
                <a:lnTo>
                  <a:pt x="14" y="32"/>
                </a:lnTo>
                <a:lnTo>
                  <a:pt x="11" y="32"/>
                </a:lnTo>
                <a:lnTo>
                  <a:pt x="11" y="32"/>
                </a:lnTo>
                <a:lnTo>
                  <a:pt x="7" y="32"/>
                </a:lnTo>
                <a:lnTo>
                  <a:pt x="4" y="28"/>
                </a:lnTo>
                <a:lnTo>
                  <a:pt x="4" y="28"/>
                </a:lnTo>
                <a:lnTo>
                  <a:pt x="0" y="25"/>
                </a:lnTo>
                <a:lnTo>
                  <a:pt x="0" y="25"/>
                </a:lnTo>
                <a:lnTo>
                  <a:pt x="0" y="21"/>
                </a:lnTo>
                <a:lnTo>
                  <a:pt x="0" y="18"/>
                </a:lnTo>
                <a:lnTo>
                  <a:pt x="0" y="18"/>
                </a:lnTo>
                <a:lnTo>
                  <a:pt x="0" y="14"/>
                </a:lnTo>
                <a:lnTo>
                  <a:pt x="0" y="11"/>
                </a:lnTo>
                <a:lnTo>
                  <a:pt x="0" y="11"/>
                </a:lnTo>
                <a:lnTo>
                  <a:pt x="0" y="7"/>
                </a:lnTo>
                <a:lnTo>
                  <a:pt x="4" y="4"/>
                </a:lnTo>
                <a:lnTo>
                  <a:pt x="4" y="4"/>
                </a:lnTo>
                <a:lnTo>
                  <a:pt x="7" y="4"/>
                </a:lnTo>
                <a:lnTo>
                  <a:pt x="11" y="0"/>
                </a:lnTo>
                <a:lnTo>
                  <a:pt x="11" y="0"/>
                </a:lnTo>
                <a:lnTo>
                  <a:pt x="14" y="0"/>
                </a:lnTo>
                <a:lnTo>
                  <a:pt x="18" y="0"/>
                </a:lnTo>
                <a:lnTo>
                  <a:pt x="21" y="0"/>
                </a:lnTo>
                <a:lnTo>
                  <a:pt x="21" y="4"/>
                </a:lnTo>
                <a:lnTo>
                  <a:pt x="25" y="4"/>
                </a:lnTo>
                <a:lnTo>
                  <a:pt x="28" y="4"/>
                </a:lnTo>
                <a:lnTo>
                  <a:pt x="28" y="7"/>
                </a:lnTo>
                <a:lnTo>
                  <a:pt x="28" y="11"/>
                </a:lnTo>
                <a:lnTo>
                  <a:pt x="32" y="11"/>
                </a:lnTo>
                <a:lnTo>
                  <a:pt x="32" y="14"/>
                </a:lnTo>
                <a:lnTo>
                  <a:pt x="32" y="18"/>
                </a:lnTo>
                <a:lnTo>
                  <a:pt x="28" y="14"/>
                </a:lnTo>
                <a:close/>
              </a:path>
            </a:pathLst>
          </a:custGeom>
          <a:solidFill>
            <a:srgbClr val="000000"/>
          </a:solidFill>
          <a:ln w="9525">
            <a:noFill/>
            <a:round/>
            <a:headEnd/>
            <a:tailEnd/>
          </a:ln>
        </p:spPr>
        <p:txBody>
          <a:bodyPr/>
          <a:lstStyle/>
          <a:p>
            <a:endParaRPr lang="zh-CN" altLang="en-US"/>
          </a:p>
        </p:txBody>
      </p:sp>
      <p:sp>
        <p:nvSpPr>
          <p:cNvPr id="46" name="Freeform 44"/>
          <p:cNvSpPr>
            <a:spLocks/>
          </p:cNvSpPr>
          <p:nvPr/>
        </p:nvSpPr>
        <p:spPr bwMode="auto">
          <a:xfrm>
            <a:off x="2248273" y="2161630"/>
            <a:ext cx="50800" cy="50800"/>
          </a:xfrm>
          <a:custGeom>
            <a:avLst/>
            <a:gdLst/>
            <a:ahLst/>
            <a:cxnLst>
              <a:cxn ang="0">
                <a:pos x="28" y="14"/>
              </a:cxn>
              <a:cxn ang="0">
                <a:pos x="32" y="14"/>
              </a:cxn>
              <a:cxn ang="0">
                <a:pos x="32" y="11"/>
              </a:cxn>
              <a:cxn ang="0">
                <a:pos x="28" y="11"/>
              </a:cxn>
              <a:cxn ang="0">
                <a:pos x="28" y="7"/>
              </a:cxn>
              <a:cxn ang="0">
                <a:pos x="28" y="4"/>
              </a:cxn>
              <a:cxn ang="0">
                <a:pos x="25" y="4"/>
              </a:cxn>
              <a:cxn ang="0">
                <a:pos x="21" y="4"/>
              </a:cxn>
              <a:cxn ang="0">
                <a:pos x="21" y="0"/>
              </a:cxn>
              <a:cxn ang="0">
                <a:pos x="18" y="0"/>
              </a:cxn>
              <a:cxn ang="0">
                <a:pos x="14" y="0"/>
              </a:cxn>
              <a:cxn ang="0">
                <a:pos x="11" y="0"/>
              </a:cxn>
              <a:cxn ang="0">
                <a:pos x="11" y="0"/>
              </a:cxn>
              <a:cxn ang="0">
                <a:pos x="7" y="4"/>
              </a:cxn>
              <a:cxn ang="0">
                <a:pos x="4" y="4"/>
              </a:cxn>
              <a:cxn ang="0">
                <a:pos x="4" y="4"/>
              </a:cxn>
              <a:cxn ang="0">
                <a:pos x="0" y="7"/>
              </a:cxn>
              <a:cxn ang="0">
                <a:pos x="0" y="11"/>
              </a:cxn>
              <a:cxn ang="0">
                <a:pos x="0" y="11"/>
              </a:cxn>
              <a:cxn ang="0">
                <a:pos x="0" y="14"/>
              </a:cxn>
              <a:cxn ang="0">
                <a:pos x="0" y="18"/>
              </a:cxn>
              <a:cxn ang="0">
                <a:pos x="0" y="18"/>
              </a:cxn>
              <a:cxn ang="0">
                <a:pos x="0" y="21"/>
              </a:cxn>
              <a:cxn ang="0">
                <a:pos x="0" y="25"/>
              </a:cxn>
              <a:cxn ang="0">
                <a:pos x="0" y="25"/>
              </a:cxn>
              <a:cxn ang="0">
                <a:pos x="4" y="28"/>
              </a:cxn>
              <a:cxn ang="0">
                <a:pos x="4" y="28"/>
              </a:cxn>
              <a:cxn ang="0">
                <a:pos x="7" y="32"/>
              </a:cxn>
              <a:cxn ang="0">
                <a:pos x="11" y="32"/>
              </a:cxn>
              <a:cxn ang="0">
                <a:pos x="11" y="32"/>
              </a:cxn>
              <a:cxn ang="0">
                <a:pos x="14" y="32"/>
              </a:cxn>
              <a:cxn ang="0">
                <a:pos x="18" y="32"/>
              </a:cxn>
              <a:cxn ang="0">
                <a:pos x="21" y="32"/>
              </a:cxn>
              <a:cxn ang="0">
                <a:pos x="21" y="32"/>
              </a:cxn>
              <a:cxn ang="0">
                <a:pos x="25" y="28"/>
              </a:cxn>
              <a:cxn ang="0">
                <a:pos x="28" y="28"/>
              </a:cxn>
              <a:cxn ang="0">
                <a:pos x="28" y="25"/>
              </a:cxn>
              <a:cxn ang="0">
                <a:pos x="28" y="25"/>
              </a:cxn>
              <a:cxn ang="0">
                <a:pos x="32" y="21"/>
              </a:cxn>
              <a:cxn ang="0">
                <a:pos x="32" y="18"/>
              </a:cxn>
              <a:cxn ang="0">
                <a:pos x="32" y="18"/>
              </a:cxn>
              <a:cxn ang="0">
                <a:pos x="32" y="18"/>
              </a:cxn>
            </a:cxnLst>
            <a:rect l="0" t="0" r="r" b="b"/>
            <a:pathLst>
              <a:path w="32" h="32">
                <a:moveTo>
                  <a:pt x="28" y="14"/>
                </a:moveTo>
                <a:lnTo>
                  <a:pt x="32" y="14"/>
                </a:lnTo>
                <a:lnTo>
                  <a:pt x="32" y="11"/>
                </a:lnTo>
                <a:lnTo>
                  <a:pt x="28" y="11"/>
                </a:lnTo>
                <a:lnTo>
                  <a:pt x="28" y="7"/>
                </a:lnTo>
                <a:lnTo>
                  <a:pt x="28" y="4"/>
                </a:lnTo>
                <a:lnTo>
                  <a:pt x="25" y="4"/>
                </a:lnTo>
                <a:lnTo>
                  <a:pt x="21" y="4"/>
                </a:lnTo>
                <a:lnTo>
                  <a:pt x="21" y="0"/>
                </a:lnTo>
                <a:lnTo>
                  <a:pt x="18" y="0"/>
                </a:lnTo>
                <a:lnTo>
                  <a:pt x="14" y="0"/>
                </a:lnTo>
                <a:lnTo>
                  <a:pt x="11" y="0"/>
                </a:lnTo>
                <a:lnTo>
                  <a:pt x="11" y="0"/>
                </a:lnTo>
                <a:lnTo>
                  <a:pt x="7" y="4"/>
                </a:lnTo>
                <a:lnTo>
                  <a:pt x="4" y="4"/>
                </a:lnTo>
                <a:lnTo>
                  <a:pt x="4" y="4"/>
                </a:lnTo>
                <a:lnTo>
                  <a:pt x="0" y="7"/>
                </a:lnTo>
                <a:lnTo>
                  <a:pt x="0" y="11"/>
                </a:lnTo>
                <a:lnTo>
                  <a:pt x="0" y="11"/>
                </a:lnTo>
                <a:lnTo>
                  <a:pt x="0" y="14"/>
                </a:lnTo>
                <a:lnTo>
                  <a:pt x="0" y="18"/>
                </a:lnTo>
                <a:lnTo>
                  <a:pt x="0" y="18"/>
                </a:lnTo>
                <a:lnTo>
                  <a:pt x="0" y="21"/>
                </a:lnTo>
                <a:lnTo>
                  <a:pt x="0" y="25"/>
                </a:lnTo>
                <a:lnTo>
                  <a:pt x="0" y="25"/>
                </a:lnTo>
                <a:lnTo>
                  <a:pt x="4" y="28"/>
                </a:lnTo>
                <a:lnTo>
                  <a:pt x="4" y="28"/>
                </a:lnTo>
                <a:lnTo>
                  <a:pt x="7" y="32"/>
                </a:lnTo>
                <a:lnTo>
                  <a:pt x="11" y="32"/>
                </a:lnTo>
                <a:lnTo>
                  <a:pt x="11" y="32"/>
                </a:lnTo>
                <a:lnTo>
                  <a:pt x="14" y="32"/>
                </a:lnTo>
                <a:lnTo>
                  <a:pt x="18" y="32"/>
                </a:lnTo>
                <a:lnTo>
                  <a:pt x="21" y="32"/>
                </a:lnTo>
                <a:lnTo>
                  <a:pt x="21" y="32"/>
                </a:lnTo>
                <a:lnTo>
                  <a:pt x="25" y="28"/>
                </a:lnTo>
                <a:lnTo>
                  <a:pt x="28" y="28"/>
                </a:lnTo>
                <a:lnTo>
                  <a:pt x="28" y="25"/>
                </a:lnTo>
                <a:lnTo>
                  <a:pt x="28" y="25"/>
                </a:lnTo>
                <a:lnTo>
                  <a:pt x="32" y="21"/>
                </a:lnTo>
                <a:lnTo>
                  <a:pt x="32" y="18"/>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47" name="Freeform 45"/>
          <p:cNvSpPr>
            <a:spLocks/>
          </p:cNvSpPr>
          <p:nvPr/>
        </p:nvSpPr>
        <p:spPr bwMode="auto">
          <a:xfrm>
            <a:off x="2349873" y="2161630"/>
            <a:ext cx="49213" cy="50800"/>
          </a:xfrm>
          <a:custGeom>
            <a:avLst/>
            <a:gdLst/>
            <a:ahLst/>
            <a:cxnLst>
              <a:cxn ang="0">
                <a:pos x="31" y="14"/>
              </a:cxn>
              <a:cxn ang="0">
                <a:pos x="31" y="18"/>
              </a:cxn>
              <a:cxn ang="0">
                <a:pos x="31" y="21"/>
              </a:cxn>
              <a:cxn ang="0">
                <a:pos x="31" y="25"/>
              </a:cxn>
              <a:cxn ang="0">
                <a:pos x="28" y="25"/>
              </a:cxn>
              <a:cxn ang="0">
                <a:pos x="28" y="28"/>
              </a:cxn>
              <a:cxn ang="0">
                <a:pos x="24" y="28"/>
              </a:cxn>
              <a:cxn ang="0">
                <a:pos x="24" y="32"/>
              </a:cxn>
              <a:cxn ang="0">
                <a:pos x="21" y="32"/>
              </a:cxn>
              <a:cxn ang="0">
                <a:pos x="17" y="32"/>
              </a:cxn>
              <a:cxn ang="0">
                <a:pos x="17" y="32"/>
              </a:cxn>
              <a:cxn ang="0">
                <a:pos x="14" y="32"/>
              </a:cxn>
              <a:cxn ang="0">
                <a:pos x="10" y="32"/>
              </a:cxn>
              <a:cxn ang="0">
                <a:pos x="10" y="32"/>
              </a:cxn>
              <a:cxn ang="0">
                <a:pos x="7" y="28"/>
              </a:cxn>
              <a:cxn ang="0">
                <a:pos x="3" y="28"/>
              </a:cxn>
              <a:cxn ang="0">
                <a:pos x="3" y="25"/>
              </a:cxn>
              <a:cxn ang="0">
                <a:pos x="3" y="25"/>
              </a:cxn>
              <a:cxn ang="0">
                <a:pos x="0" y="21"/>
              </a:cxn>
              <a:cxn ang="0">
                <a:pos x="0" y="18"/>
              </a:cxn>
              <a:cxn ang="0">
                <a:pos x="0" y="18"/>
              </a:cxn>
              <a:cxn ang="0">
                <a:pos x="0" y="14"/>
              </a:cxn>
              <a:cxn ang="0">
                <a:pos x="0" y="11"/>
              </a:cxn>
              <a:cxn ang="0">
                <a:pos x="3" y="11"/>
              </a:cxn>
              <a:cxn ang="0">
                <a:pos x="3" y="7"/>
              </a:cxn>
              <a:cxn ang="0">
                <a:pos x="3" y="4"/>
              </a:cxn>
              <a:cxn ang="0">
                <a:pos x="7" y="4"/>
              </a:cxn>
              <a:cxn ang="0">
                <a:pos x="10" y="4"/>
              </a:cxn>
              <a:cxn ang="0">
                <a:pos x="10" y="0"/>
              </a:cxn>
              <a:cxn ang="0">
                <a:pos x="14" y="0"/>
              </a:cxn>
              <a:cxn ang="0">
                <a:pos x="17" y="0"/>
              </a:cxn>
              <a:cxn ang="0">
                <a:pos x="17" y="0"/>
              </a:cxn>
              <a:cxn ang="0">
                <a:pos x="21" y="0"/>
              </a:cxn>
              <a:cxn ang="0">
                <a:pos x="24" y="4"/>
              </a:cxn>
              <a:cxn ang="0">
                <a:pos x="24" y="4"/>
              </a:cxn>
              <a:cxn ang="0">
                <a:pos x="28" y="4"/>
              </a:cxn>
              <a:cxn ang="0">
                <a:pos x="28" y="7"/>
              </a:cxn>
              <a:cxn ang="0">
                <a:pos x="31" y="11"/>
              </a:cxn>
              <a:cxn ang="0">
                <a:pos x="31" y="11"/>
              </a:cxn>
              <a:cxn ang="0">
                <a:pos x="31" y="14"/>
              </a:cxn>
              <a:cxn ang="0">
                <a:pos x="31" y="18"/>
              </a:cxn>
              <a:cxn ang="0">
                <a:pos x="31" y="14"/>
              </a:cxn>
            </a:cxnLst>
            <a:rect l="0" t="0" r="r" b="b"/>
            <a:pathLst>
              <a:path w="31" h="32">
                <a:moveTo>
                  <a:pt x="31" y="14"/>
                </a:moveTo>
                <a:lnTo>
                  <a:pt x="31" y="18"/>
                </a:lnTo>
                <a:lnTo>
                  <a:pt x="31" y="21"/>
                </a:lnTo>
                <a:lnTo>
                  <a:pt x="31" y="25"/>
                </a:lnTo>
                <a:lnTo>
                  <a:pt x="28" y="25"/>
                </a:lnTo>
                <a:lnTo>
                  <a:pt x="28" y="28"/>
                </a:lnTo>
                <a:lnTo>
                  <a:pt x="24" y="28"/>
                </a:lnTo>
                <a:lnTo>
                  <a:pt x="24" y="32"/>
                </a:lnTo>
                <a:lnTo>
                  <a:pt x="21" y="32"/>
                </a:lnTo>
                <a:lnTo>
                  <a:pt x="17" y="32"/>
                </a:lnTo>
                <a:lnTo>
                  <a:pt x="17" y="32"/>
                </a:lnTo>
                <a:lnTo>
                  <a:pt x="14" y="32"/>
                </a:lnTo>
                <a:lnTo>
                  <a:pt x="10" y="32"/>
                </a:lnTo>
                <a:lnTo>
                  <a:pt x="10" y="32"/>
                </a:lnTo>
                <a:lnTo>
                  <a:pt x="7" y="28"/>
                </a:lnTo>
                <a:lnTo>
                  <a:pt x="3" y="28"/>
                </a:lnTo>
                <a:lnTo>
                  <a:pt x="3" y="25"/>
                </a:lnTo>
                <a:lnTo>
                  <a:pt x="3" y="25"/>
                </a:lnTo>
                <a:lnTo>
                  <a:pt x="0" y="21"/>
                </a:lnTo>
                <a:lnTo>
                  <a:pt x="0" y="18"/>
                </a:lnTo>
                <a:lnTo>
                  <a:pt x="0" y="18"/>
                </a:lnTo>
                <a:lnTo>
                  <a:pt x="0" y="14"/>
                </a:lnTo>
                <a:lnTo>
                  <a:pt x="0" y="11"/>
                </a:lnTo>
                <a:lnTo>
                  <a:pt x="3" y="11"/>
                </a:lnTo>
                <a:lnTo>
                  <a:pt x="3" y="7"/>
                </a:lnTo>
                <a:lnTo>
                  <a:pt x="3" y="4"/>
                </a:lnTo>
                <a:lnTo>
                  <a:pt x="7" y="4"/>
                </a:lnTo>
                <a:lnTo>
                  <a:pt x="10" y="4"/>
                </a:lnTo>
                <a:lnTo>
                  <a:pt x="10" y="0"/>
                </a:lnTo>
                <a:lnTo>
                  <a:pt x="14" y="0"/>
                </a:lnTo>
                <a:lnTo>
                  <a:pt x="17" y="0"/>
                </a:lnTo>
                <a:lnTo>
                  <a:pt x="17" y="0"/>
                </a:lnTo>
                <a:lnTo>
                  <a:pt x="21" y="0"/>
                </a:lnTo>
                <a:lnTo>
                  <a:pt x="24" y="4"/>
                </a:lnTo>
                <a:lnTo>
                  <a:pt x="24" y="4"/>
                </a:lnTo>
                <a:lnTo>
                  <a:pt x="28" y="4"/>
                </a:lnTo>
                <a:lnTo>
                  <a:pt x="28" y="7"/>
                </a:lnTo>
                <a:lnTo>
                  <a:pt x="31" y="11"/>
                </a:lnTo>
                <a:lnTo>
                  <a:pt x="31" y="11"/>
                </a:lnTo>
                <a:lnTo>
                  <a:pt x="31" y="14"/>
                </a:lnTo>
                <a:lnTo>
                  <a:pt x="31" y="18"/>
                </a:lnTo>
                <a:lnTo>
                  <a:pt x="31" y="14"/>
                </a:lnTo>
                <a:close/>
              </a:path>
            </a:pathLst>
          </a:custGeom>
          <a:solidFill>
            <a:srgbClr val="000000"/>
          </a:solidFill>
          <a:ln w="9525">
            <a:noFill/>
            <a:round/>
            <a:headEnd/>
            <a:tailEnd/>
          </a:ln>
        </p:spPr>
        <p:txBody>
          <a:bodyPr/>
          <a:lstStyle/>
          <a:p>
            <a:endParaRPr lang="zh-CN" altLang="en-US"/>
          </a:p>
        </p:txBody>
      </p:sp>
      <p:sp>
        <p:nvSpPr>
          <p:cNvPr id="48" name="Freeform 46"/>
          <p:cNvSpPr>
            <a:spLocks/>
          </p:cNvSpPr>
          <p:nvPr/>
        </p:nvSpPr>
        <p:spPr bwMode="auto">
          <a:xfrm>
            <a:off x="2349873" y="2161630"/>
            <a:ext cx="49213" cy="50800"/>
          </a:xfrm>
          <a:custGeom>
            <a:avLst/>
            <a:gdLst/>
            <a:ahLst/>
            <a:cxnLst>
              <a:cxn ang="0">
                <a:pos x="31" y="14"/>
              </a:cxn>
              <a:cxn ang="0">
                <a:pos x="31" y="14"/>
              </a:cxn>
              <a:cxn ang="0">
                <a:pos x="31" y="11"/>
              </a:cxn>
              <a:cxn ang="0">
                <a:pos x="31" y="11"/>
              </a:cxn>
              <a:cxn ang="0">
                <a:pos x="28" y="7"/>
              </a:cxn>
              <a:cxn ang="0">
                <a:pos x="28" y="4"/>
              </a:cxn>
              <a:cxn ang="0">
                <a:pos x="24" y="4"/>
              </a:cxn>
              <a:cxn ang="0">
                <a:pos x="24" y="4"/>
              </a:cxn>
              <a:cxn ang="0">
                <a:pos x="21" y="0"/>
              </a:cxn>
              <a:cxn ang="0">
                <a:pos x="17" y="0"/>
              </a:cxn>
              <a:cxn ang="0">
                <a:pos x="17" y="0"/>
              </a:cxn>
              <a:cxn ang="0">
                <a:pos x="14" y="0"/>
              </a:cxn>
              <a:cxn ang="0">
                <a:pos x="10" y="0"/>
              </a:cxn>
              <a:cxn ang="0">
                <a:pos x="10" y="4"/>
              </a:cxn>
              <a:cxn ang="0">
                <a:pos x="7" y="4"/>
              </a:cxn>
              <a:cxn ang="0">
                <a:pos x="3" y="4"/>
              </a:cxn>
              <a:cxn ang="0">
                <a:pos x="3" y="7"/>
              </a:cxn>
              <a:cxn ang="0">
                <a:pos x="3" y="11"/>
              </a:cxn>
              <a:cxn ang="0">
                <a:pos x="0" y="11"/>
              </a:cxn>
              <a:cxn ang="0">
                <a:pos x="0" y="14"/>
              </a:cxn>
              <a:cxn ang="0">
                <a:pos x="0" y="18"/>
              </a:cxn>
              <a:cxn ang="0">
                <a:pos x="0" y="18"/>
              </a:cxn>
              <a:cxn ang="0">
                <a:pos x="0" y="21"/>
              </a:cxn>
              <a:cxn ang="0">
                <a:pos x="3" y="25"/>
              </a:cxn>
              <a:cxn ang="0">
                <a:pos x="3" y="25"/>
              </a:cxn>
              <a:cxn ang="0">
                <a:pos x="3" y="28"/>
              </a:cxn>
              <a:cxn ang="0">
                <a:pos x="7" y="28"/>
              </a:cxn>
              <a:cxn ang="0">
                <a:pos x="10" y="32"/>
              </a:cxn>
              <a:cxn ang="0">
                <a:pos x="10" y="32"/>
              </a:cxn>
              <a:cxn ang="0">
                <a:pos x="14" y="32"/>
              </a:cxn>
              <a:cxn ang="0">
                <a:pos x="17" y="32"/>
              </a:cxn>
              <a:cxn ang="0">
                <a:pos x="17" y="32"/>
              </a:cxn>
              <a:cxn ang="0">
                <a:pos x="21" y="32"/>
              </a:cxn>
              <a:cxn ang="0">
                <a:pos x="24" y="32"/>
              </a:cxn>
              <a:cxn ang="0">
                <a:pos x="24" y="28"/>
              </a:cxn>
              <a:cxn ang="0">
                <a:pos x="28" y="28"/>
              </a:cxn>
              <a:cxn ang="0">
                <a:pos x="28" y="25"/>
              </a:cxn>
              <a:cxn ang="0">
                <a:pos x="31" y="25"/>
              </a:cxn>
              <a:cxn ang="0">
                <a:pos x="31" y="21"/>
              </a:cxn>
              <a:cxn ang="0">
                <a:pos x="31" y="18"/>
              </a:cxn>
              <a:cxn ang="0">
                <a:pos x="31" y="18"/>
              </a:cxn>
              <a:cxn ang="0">
                <a:pos x="31" y="18"/>
              </a:cxn>
            </a:cxnLst>
            <a:rect l="0" t="0" r="r" b="b"/>
            <a:pathLst>
              <a:path w="31" h="32">
                <a:moveTo>
                  <a:pt x="31" y="14"/>
                </a:moveTo>
                <a:lnTo>
                  <a:pt x="31" y="14"/>
                </a:lnTo>
                <a:lnTo>
                  <a:pt x="31" y="11"/>
                </a:lnTo>
                <a:lnTo>
                  <a:pt x="31" y="11"/>
                </a:lnTo>
                <a:lnTo>
                  <a:pt x="28" y="7"/>
                </a:lnTo>
                <a:lnTo>
                  <a:pt x="28" y="4"/>
                </a:lnTo>
                <a:lnTo>
                  <a:pt x="24" y="4"/>
                </a:lnTo>
                <a:lnTo>
                  <a:pt x="24" y="4"/>
                </a:lnTo>
                <a:lnTo>
                  <a:pt x="21" y="0"/>
                </a:lnTo>
                <a:lnTo>
                  <a:pt x="17" y="0"/>
                </a:lnTo>
                <a:lnTo>
                  <a:pt x="17" y="0"/>
                </a:lnTo>
                <a:lnTo>
                  <a:pt x="14" y="0"/>
                </a:lnTo>
                <a:lnTo>
                  <a:pt x="10" y="0"/>
                </a:lnTo>
                <a:lnTo>
                  <a:pt x="10" y="4"/>
                </a:lnTo>
                <a:lnTo>
                  <a:pt x="7" y="4"/>
                </a:lnTo>
                <a:lnTo>
                  <a:pt x="3" y="4"/>
                </a:lnTo>
                <a:lnTo>
                  <a:pt x="3" y="7"/>
                </a:lnTo>
                <a:lnTo>
                  <a:pt x="3" y="11"/>
                </a:lnTo>
                <a:lnTo>
                  <a:pt x="0" y="11"/>
                </a:lnTo>
                <a:lnTo>
                  <a:pt x="0" y="14"/>
                </a:lnTo>
                <a:lnTo>
                  <a:pt x="0" y="18"/>
                </a:lnTo>
                <a:lnTo>
                  <a:pt x="0" y="18"/>
                </a:lnTo>
                <a:lnTo>
                  <a:pt x="0" y="21"/>
                </a:lnTo>
                <a:lnTo>
                  <a:pt x="3" y="25"/>
                </a:lnTo>
                <a:lnTo>
                  <a:pt x="3" y="25"/>
                </a:lnTo>
                <a:lnTo>
                  <a:pt x="3" y="28"/>
                </a:lnTo>
                <a:lnTo>
                  <a:pt x="7" y="28"/>
                </a:lnTo>
                <a:lnTo>
                  <a:pt x="10" y="32"/>
                </a:lnTo>
                <a:lnTo>
                  <a:pt x="10" y="32"/>
                </a:lnTo>
                <a:lnTo>
                  <a:pt x="14" y="32"/>
                </a:lnTo>
                <a:lnTo>
                  <a:pt x="17" y="32"/>
                </a:lnTo>
                <a:lnTo>
                  <a:pt x="17" y="32"/>
                </a:lnTo>
                <a:lnTo>
                  <a:pt x="21" y="32"/>
                </a:lnTo>
                <a:lnTo>
                  <a:pt x="24" y="32"/>
                </a:lnTo>
                <a:lnTo>
                  <a:pt x="24" y="28"/>
                </a:lnTo>
                <a:lnTo>
                  <a:pt x="28" y="28"/>
                </a:lnTo>
                <a:lnTo>
                  <a:pt x="28" y="25"/>
                </a:lnTo>
                <a:lnTo>
                  <a:pt x="31" y="25"/>
                </a:lnTo>
                <a:lnTo>
                  <a:pt x="31" y="21"/>
                </a:lnTo>
                <a:lnTo>
                  <a:pt x="31" y="18"/>
                </a:lnTo>
                <a:lnTo>
                  <a:pt x="31" y="18"/>
                </a:lnTo>
                <a:lnTo>
                  <a:pt x="31" y="18"/>
                </a:lnTo>
              </a:path>
            </a:pathLst>
          </a:custGeom>
          <a:noFill/>
          <a:ln w="11113">
            <a:solidFill>
              <a:srgbClr val="000000"/>
            </a:solidFill>
            <a:prstDash val="solid"/>
            <a:round/>
            <a:headEnd/>
            <a:tailEnd/>
          </a:ln>
        </p:spPr>
        <p:txBody>
          <a:bodyPr/>
          <a:lstStyle/>
          <a:p>
            <a:endParaRPr lang="zh-CN" altLang="en-US"/>
          </a:p>
        </p:txBody>
      </p:sp>
      <p:sp>
        <p:nvSpPr>
          <p:cNvPr id="49" name="Freeform 47"/>
          <p:cNvSpPr>
            <a:spLocks/>
          </p:cNvSpPr>
          <p:nvPr/>
        </p:nvSpPr>
        <p:spPr bwMode="auto">
          <a:xfrm>
            <a:off x="2456235" y="2161630"/>
            <a:ext cx="49213" cy="50800"/>
          </a:xfrm>
          <a:custGeom>
            <a:avLst/>
            <a:gdLst/>
            <a:ahLst/>
            <a:cxnLst>
              <a:cxn ang="0">
                <a:pos x="28" y="14"/>
              </a:cxn>
              <a:cxn ang="0">
                <a:pos x="31" y="18"/>
              </a:cxn>
              <a:cxn ang="0">
                <a:pos x="31" y="21"/>
              </a:cxn>
              <a:cxn ang="0">
                <a:pos x="28" y="25"/>
              </a:cxn>
              <a:cxn ang="0">
                <a:pos x="28" y="25"/>
              </a:cxn>
              <a:cxn ang="0">
                <a:pos x="28" y="28"/>
              </a:cxn>
              <a:cxn ang="0">
                <a:pos x="24" y="28"/>
              </a:cxn>
              <a:cxn ang="0">
                <a:pos x="21" y="32"/>
              </a:cxn>
              <a:cxn ang="0">
                <a:pos x="21" y="32"/>
              </a:cxn>
              <a:cxn ang="0">
                <a:pos x="17" y="32"/>
              </a:cxn>
              <a:cxn ang="0">
                <a:pos x="14" y="32"/>
              </a:cxn>
              <a:cxn ang="0">
                <a:pos x="10" y="32"/>
              </a:cxn>
              <a:cxn ang="0">
                <a:pos x="10" y="32"/>
              </a:cxn>
              <a:cxn ang="0">
                <a:pos x="7" y="32"/>
              </a:cxn>
              <a:cxn ang="0">
                <a:pos x="3" y="28"/>
              </a:cxn>
              <a:cxn ang="0">
                <a:pos x="3" y="28"/>
              </a:cxn>
              <a:cxn ang="0">
                <a:pos x="0" y="25"/>
              </a:cxn>
              <a:cxn ang="0">
                <a:pos x="0" y="25"/>
              </a:cxn>
              <a:cxn ang="0">
                <a:pos x="0" y="21"/>
              </a:cxn>
              <a:cxn ang="0">
                <a:pos x="0" y="18"/>
              </a:cxn>
              <a:cxn ang="0">
                <a:pos x="0" y="18"/>
              </a:cxn>
              <a:cxn ang="0">
                <a:pos x="0" y="14"/>
              </a:cxn>
              <a:cxn ang="0">
                <a:pos x="0" y="11"/>
              </a:cxn>
              <a:cxn ang="0">
                <a:pos x="0" y="11"/>
              </a:cxn>
              <a:cxn ang="0">
                <a:pos x="0" y="7"/>
              </a:cxn>
              <a:cxn ang="0">
                <a:pos x="3" y="4"/>
              </a:cxn>
              <a:cxn ang="0">
                <a:pos x="3" y="4"/>
              </a:cxn>
              <a:cxn ang="0">
                <a:pos x="7" y="4"/>
              </a:cxn>
              <a:cxn ang="0">
                <a:pos x="10" y="0"/>
              </a:cxn>
              <a:cxn ang="0">
                <a:pos x="10" y="0"/>
              </a:cxn>
              <a:cxn ang="0">
                <a:pos x="14" y="0"/>
              </a:cxn>
              <a:cxn ang="0">
                <a:pos x="17" y="0"/>
              </a:cxn>
              <a:cxn ang="0">
                <a:pos x="21" y="0"/>
              </a:cxn>
              <a:cxn ang="0">
                <a:pos x="21" y="4"/>
              </a:cxn>
              <a:cxn ang="0">
                <a:pos x="24" y="4"/>
              </a:cxn>
              <a:cxn ang="0">
                <a:pos x="28" y="4"/>
              </a:cxn>
              <a:cxn ang="0">
                <a:pos x="28" y="7"/>
              </a:cxn>
              <a:cxn ang="0">
                <a:pos x="28" y="11"/>
              </a:cxn>
              <a:cxn ang="0">
                <a:pos x="31" y="11"/>
              </a:cxn>
              <a:cxn ang="0">
                <a:pos x="31" y="14"/>
              </a:cxn>
              <a:cxn ang="0">
                <a:pos x="31" y="18"/>
              </a:cxn>
              <a:cxn ang="0">
                <a:pos x="28" y="14"/>
              </a:cxn>
            </a:cxnLst>
            <a:rect l="0" t="0" r="r" b="b"/>
            <a:pathLst>
              <a:path w="31" h="32">
                <a:moveTo>
                  <a:pt x="28" y="14"/>
                </a:moveTo>
                <a:lnTo>
                  <a:pt x="31" y="18"/>
                </a:lnTo>
                <a:lnTo>
                  <a:pt x="31" y="21"/>
                </a:lnTo>
                <a:lnTo>
                  <a:pt x="28" y="25"/>
                </a:lnTo>
                <a:lnTo>
                  <a:pt x="28" y="25"/>
                </a:lnTo>
                <a:lnTo>
                  <a:pt x="28" y="28"/>
                </a:lnTo>
                <a:lnTo>
                  <a:pt x="24" y="28"/>
                </a:lnTo>
                <a:lnTo>
                  <a:pt x="21" y="32"/>
                </a:lnTo>
                <a:lnTo>
                  <a:pt x="21" y="32"/>
                </a:lnTo>
                <a:lnTo>
                  <a:pt x="17" y="32"/>
                </a:lnTo>
                <a:lnTo>
                  <a:pt x="14" y="32"/>
                </a:lnTo>
                <a:lnTo>
                  <a:pt x="10" y="32"/>
                </a:lnTo>
                <a:lnTo>
                  <a:pt x="10" y="32"/>
                </a:lnTo>
                <a:lnTo>
                  <a:pt x="7" y="32"/>
                </a:lnTo>
                <a:lnTo>
                  <a:pt x="3" y="28"/>
                </a:lnTo>
                <a:lnTo>
                  <a:pt x="3" y="28"/>
                </a:lnTo>
                <a:lnTo>
                  <a:pt x="0" y="25"/>
                </a:lnTo>
                <a:lnTo>
                  <a:pt x="0" y="25"/>
                </a:lnTo>
                <a:lnTo>
                  <a:pt x="0" y="21"/>
                </a:lnTo>
                <a:lnTo>
                  <a:pt x="0" y="18"/>
                </a:lnTo>
                <a:lnTo>
                  <a:pt x="0" y="18"/>
                </a:lnTo>
                <a:lnTo>
                  <a:pt x="0" y="14"/>
                </a:lnTo>
                <a:lnTo>
                  <a:pt x="0" y="11"/>
                </a:lnTo>
                <a:lnTo>
                  <a:pt x="0" y="11"/>
                </a:lnTo>
                <a:lnTo>
                  <a:pt x="0" y="7"/>
                </a:lnTo>
                <a:lnTo>
                  <a:pt x="3" y="4"/>
                </a:lnTo>
                <a:lnTo>
                  <a:pt x="3" y="4"/>
                </a:lnTo>
                <a:lnTo>
                  <a:pt x="7" y="4"/>
                </a:lnTo>
                <a:lnTo>
                  <a:pt x="10" y="0"/>
                </a:lnTo>
                <a:lnTo>
                  <a:pt x="10" y="0"/>
                </a:lnTo>
                <a:lnTo>
                  <a:pt x="14" y="0"/>
                </a:lnTo>
                <a:lnTo>
                  <a:pt x="17" y="0"/>
                </a:lnTo>
                <a:lnTo>
                  <a:pt x="21" y="0"/>
                </a:lnTo>
                <a:lnTo>
                  <a:pt x="21" y="4"/>
                </a:lnTo>
                <a:lnTo>
                  <a:pt x="24" y="4"/>
                </a:lnTo>
                <a:lnTo>
                  <a:pt x="28" y="4"/>
                </a:lnTo>
                <a:lnTo>
                  <a:pt x="28" y="7"/>
                </a:lnTo>
                <a:lnTo>
                  <a:pt x="28" y="11"/>
                </a:lnTo>
                <a:lnTo>
                  <a:pt x="31" y="11"/>
                </a:lnTo>
                <a:lnTo>
                  <a:pt x="31" y="14"/>
                </a:lnTo>
                <a:lnTo>
                  <a:pt x="31" y="18"/>
                </a:lnTo>
                <a:lnTo>
                  <a:pt x="28" y="14"/>
                </a:lnTo>
                <a:close/>
              </a:path>
            </a:pathLst>
          </a:custGeom>
          <a:solidFill>
            <a:srgbClr val="000000"/>
          </a:solidFill>
          <a:ln w="9525">
            <a:noFill/>
            <a:round/>
            <a:headEnd/>
            <a:tailEnd/>
          </a:ln>
        </p:spPr>
        <p:txBody>
          <a:bodyPr/>
          <a:lstStyle/>
          <a:p>
            <a:endParaRPr lang="zh-CN" altLang="en-US"/>
          </a:p>
        </p:txBody>
      </p:sp>
      <p:sp>
        <p:nvSpPr>
          <p:cNvPr id="50" name="Freeform 48"/>
          <p:cNvSpPr>
            <a:spLocks/>
          </p:cNvSpPr>
          <p:nvPr/>
        </p:nvSpPr>
        <p:spPr bwMode="auto">
          <a:xfrm>
            <a:off x="2456235" y="2161630"/>
            <a:ext cx="49213" cy="50800"/>
          </a:xfrm>
          <a:custGeom>
            <a:avLst/>
            <a:gdLst/>
            <a:ahLst/>
            <a:cxnLst>
              <a:cxn ang="0">
                <a:pos x="28" y="14"/>
              </a:cxn>
              <a:cxn ang="0">
                <a:pos x="31" y="14"/>
              </a:cxn>
              <a:cxn ang="0">
                <a:pos x="31" y="11"/>
              </a:cxn>
              <a:cxn ang="0">
                <a:pos x="28" y="11"/>
              </a:cxn>
              <a:cxn ang="0">
                <a:pos x="28" y="7"/>
              </a:cxn>
              <a:cxn ang="0">
                <a:pos x="28" y="4"/>
              </a:cxn>
              <a:cxn ang="0">
                <a:pos x="24" y="4"/>
              </a:cxn>
              <a:cxn ang="0">
                <a:pos x="21" y="4"/>
              </a:cxn>
              <a:cxn ang="0">
                <a:pos x="21" y="0"/>
              </a:cxn>
              <a:cxn ang="0">
                <a:pos x="17" y="0"/>
              </a:cxn>
              <a:cxn ang="0">
                <a:pos x="14" y="0"/>
              </a:cxn>
              <a:cxn ang="0">
                <a:pos x="10" y="0"/>
              </a:cxn>
              <a:cxn ang="0">
                <a:pos x="10" y="0"/>
              </a:cxn>
              <a:cxn ang="0">
                <a:pos x="7" y="4"/>
              </a:cxn>
              <a:cxn ang="0">
                <a:pos x="3" y="4"/>
              </a:cxn>
              <a:cxn ang="0">
                <a:pos x="3" y="4"/>
              </a:cxn>
              <a:cxn ang="0">
                <a:pos x="0" y="7"/>
              </a:cxn>
              <a:cxn ang="0">
                <a:pos x="0" y="11"/>
              </a:cxn>
              <a:cxn ang="0">
                <a:pos x="0" y="11"/>
              </a:cxn>
              <a:cxn ang="0">
                <a:pos x="0" y="14"/>
              </a:cxn>
              <a:cxn ang="0">
                <a:pos x="0" y="18"/>
              </a:cxn>
              <a:cxn ang="0">
                <a:pos x="0" y="18"/>
              </a:cxn>
              <a:cxn ang="0">
                <a:pos x="0" y="21"/>
              </a:cxn>
              <a:cxn ang="0">
                <a:pos x="0" y="25"/>
              </a:cxn>
              <a:cxn ang="0">
                <a:pos x="0" y="25"/>
              </a:cxn>
              <a:cxn ang="0">
                <a:pos x="3" y="28"/>
              </a:cxn>
              <a:cxn ang="0">
                <a:pos x="3" y="28"/>
              </a:cxn>
              <a:cxn ang="0">
                <a:pos x="7" y="32"/>
              </a:cxn>
              <a:cxn ang="0">
                <a:pos x="10" y="32"/>
              </a:cxn>
              <a:cxn ang="0">
                <a:pos x="10" y="32"/>
              </a:cxn>
              <a:cxn ang="0">
                <a:pos x="14" y="32"/>
              </a:cxn>
              <a:cxn ang="0">
                <a:pos x="17" y="32"/>
              </a:cxn>
              <a:cxn ang="0">
                <a:pos x="21" y="32"/>
              </a:cxn>
              <a:cxn ang="0">
                <a:pos x="21" y="32"/>
              </a:cxn>
              <a:cxn ang="0">
                <a:pos x="24" y="28"/>
              </a:cxn>
              <a:cxn ang="0">
                <a:pos x="28" y="28"/>
              </a:cxn>
              <a:cxn ang="0">
                <a:pos x="28" y="25"/>
              </a:cxn>
              <a:cxn ang="0">
                <a:pos x="28" y="25"/>
              </a:cxn>
              <a:cxn ang="0">
                <a:pos x="31" y="21"/>
              </a:cxn>
              <a:cxn ang="0">
                <a:pos x="31" y="18"/>
              </a:cxn>
              <a:cxn ang="0">
                <a:pos x="31" y="18"/>
              </a:cxn>
              <a:cxn ang="0">
                <a:pos x="31" y="18"/>
              </a:cxn>
            </a:cxnLst>
            <a:rect l="0" t="0" r="r" b="b"/>
            <a:pathLst>
              <a:path w="31" h="32">
                <a:moveTo>
                  <a:pt x="28" y="14"/>
                </a:moveTo>
                <a:lnTo>
                  <a:pt x="31" y="14"/>
                </a:lnTo>
                <a:lnTo>
                  <a:pt x="31" y="11"/>
                </a:lnTo>
                <a:lnTo>
                  <a:pt x="28" y="11"/>
                </a:lnTo>
                <a:lnTo>
                  <a:pt x="28" y="7"/>
                </a:lnTo>
                <a:lnTo>
                  <a:pt x="28" y="4"/>
                </a:lnTo>
                <a:lnTo>
                  <a:pt x="24" y="4"/>
                </a:lnTo>
                <a:lnTo>
                  <a:pt x="21" y="4"/>
                </a:lnTo>
                <a:lnTo>
                  <a:pt x="21" y="0"/>
                </a:lnTo>
                <a:lnTo>
                  <a:pt x="17" y="0"/>
                </a:lnTo>
                <a:lnTo>
                  <a:pt x="14" y="0"/>
                </a:lnTo>
                <a:lnTo>
                  <a:pt x="10" y="0"/>
                </a:lnTo>
                <a:lnTo>
                  <a:pt x="10" y="0"/>
                </a:lnTo>
                <a:lnTo>
                  <a:pt x="7" y="4"/>
                </a:lnTo>
                <a:lnTo>
                  <a:pt x="3" y="4"/>
                </a:lnTo>
                <a:lnTo>
                  <a:pt x="3" y="4"/>
                </a:lnTo>
                <a:lnTo>
                  <a:pt x="0" y="7"/>
                </a:lnTo>
                <a:lnTo>
                  <a:pt x="0" y="11"/>
                </a:lnTo>
                <a:lnTo>
                  <a:pt x="0" y="11"/>
                </a:lnTo>
                <a:lnTo>
                  <a:pt x="0" y="14"/>
                </a:lnTo>
                <a:lnTo>
                  <a:pt x="0" y="18"/>
                </a:lnTo>
                <a:lnTo>
                  <a:pt x="0" y="18"/>
                </a:lnTo>
                <a:lnTo>
                  <a:pt x="0" y="21"/>
                </a:lnTo>
                <a:lnTo>
                  <a:pt x="0" y="25"/>
                </a:lnTo>
                <a:lnTo>
                  <a:pt x="0" y="25"/>
                </a:lnTo>
                <a:lnTo>
                  <a:pt x="3" y="28"/>
                </a:lnTo>
                <a:lnTo>
                  <a:pt x="3" y="28"/>
                </a:lnTo>
                <a:lnTo>
                  <a:pt x="7" y="32"/>
                </a:lnTo>
                <a:lnTo>
                  <a:pt x="10" y="32"/>
                </a:lnTo>
                <a:lnTo>
                  <a:pt x="10" y="32"/>
                </a:lnTo>
                <a:lnTo>
                  <a:pt x="14" y="32"/>
                </a:lnTo>
                <a:lnTo>
                  <a:pt x="17" y="32"/>
                </a:lnTo>
                <a:lnTo>
                  <a:pt x="21" y="32"/>
                </a:lnTo>
                <a:lnTo>
                  <a:pt x="21" y="32"/>
                </a:lnTo>
                <a:lnTo>
                  <a:pt x="24" y="28"/>
                </a:lnTo>
                <a:lnTo>
                  <a:pt x="28" y="28"/>
                </a:lnTo>
                <a:lnTo>
                  <a:pt x="28" y="25"/>
                </a:lnTo>
                <a:lnTo>
                  <a:pt x="28" y="25"/>
                </a:lnTo>
                <a:lnTo>
                  <a:pt x="31" y="21"/>
                </a:lnTo>
                <a:lnTo>
                  <a:pt x="31" y="18"/>
                </a:lnTo>
                <a:lnTo>
                  <a:pt x="31" y="18"/>
                </a:lnTo>
                <a:lnTo>
                  <a:pt x="31" y="18"/>
                </a:lnTo>
              </a:path>
            </a:pathLst>
          </a:custGeom>
          <a:noFill/>
          <a:ln w="11113">
            <a:solidFill>
              <a:srgbClr val="000000"/>
            </a:solidFill>
            <a:prstDash val="solid"/>
            <a:round/>
            <a:headEnd/>
            <a:tailEnd/>
          </a:ln>
        </p:spPr>
        <p:txBody>
          <a:bodyPr/>
          <a:lstStyle/>
          <a:p>
            <a:endParaRPr lang="zh-CN" altLang="en-US"/>
          </a:p>
        </p:txBody>
      </p:sp>
      <p:sp>
        <p:nvSpPr>
          <p:cNvPr id="51" name="Freeform 49"/>
          <p:cNvSpPr>
            <a:spLocks/>
          </p:cNvSpPr>
          <p:nvPr/>
        </p:nvSpPr>
        <p:spPr bwMode="auto">
          <a:xfrm>
            <a:off x="2556248" y="2161630"/>
            <a:ext cx="55563" cy="50800"/>
          </a:xfrm>
          <a:custGeom>
            <a:avLst/>
            <a:gdLst/>
            <a:ahLst/>
            <a:cxnLst>
              <a:cxn ang="0">
                <a:pos x="32" y="14"/>
              </a:cxn>
              <a:cxn ang="0">
                <a:pos x="35" y="18"/>
              </a:cxn>
              <a:cxn ang="0">
                <a:pos x="32" y="21"/>
              </a:cxn>
              <a:cxn ang="0">
                <a:pos x="32" y="25"/>
              </a:cxn>
              <a:cxn ang="0">
                <a:pos x="32" y="25"/>
              </a:cxn>
              <a:cxn ang="0">
                <a:pos x="28" y="28"/>
              </a:cxn>
              <a:cxn ang="0">
                <a:pos x="28" y="28"/>
              </a:cxn>
              <a:cxn ang="0">
                <a:pos x="25" y="32"/>
              </a:cxn>
              <a:cxn ang="0">
                <a:pos x="21" y="32"/>
              </a:cxn>
              <a:cxn ang="0">
                <a:pos x="21" y="32"/>
              </a:cxn>
              <a:cxn ang="0">
                <a:pos x="18" y="32"/>
              </a:cxn>
              <a:cxn ang="0">
                <a:pos x="14" y="32"/>
              </a:cxn>
              <a:cxn ang="0">
                <a:pos x="14" y="32"/>
              </a:cxn>
              <a:cxn ang="0">
                <a:pos x="11" y="32"/>
              </a:cxn>
              <a:cxn ang="0">
                <a:pos x="7" y="28"/>
              </a:cxn>
              <a:cxn ang="0">
                <a:pos x="7" y="28"/>
              </a:cxn>
              <a:cxn ang="0">
                <a:pos x="4" y="25"/>
              </a:cxn>
              <a:cxn ang="0">
                <a:pos x="4" y="25"/>
              </a:cxn>
              <a:cxn ang="0">
                <a:pos x="4" y="21"/>
              </a:cxn>
              <a:cxn ang="0">
                <a:pos x="0" y="18"/>
              </a:cxn>
              <a:cxn ang="0">
                <a:pos x="0" y="18"/>
              </a:cxn>
              <a:cxn ang="0">
                <a:pos x="0" y="14"/>
              </a:cxn>
              <a:cxn ang="0">
                <a:pos x="4" y="11"/>
              </a:cxn>
              <a:cxn ang="0">
                <a:pos x="4" y="11"/>
              </a:cxn>
              <a:cxn ang="0">
                <a:pos x="4" y="7"/>
              </a:cxn>
              <a:cxn ang="0">
                <a:pos x="7" y="4"/>
              </a:cxn>
              <a:cxn ang="0">
                <a:pos x="7" y="4"/>
              </a:cxn>
              <a:cxn ang="0">
                <a:pos x="11" y="4"/>
              </a:cxn>
              <a:cxn ang="0">
                <a:pos x="14" y="0"/>
              </a:cxn>
              <a:cxn ang="0">
                <a:pos x="14" y="0"/>
              </a:cxn>
              <a:cxn ang="0">
                <a:pos x="18" y="0"/>
              </a:cxn>
              <a:cxn ang="0">
                <a:pos x="21" y="0"/>
              </a:cxn>
              <a:cxn ang="0">
                <a:pos x="21" y="0"/>
              </a:cxn>
              <a:cxn ang="0">
                <a:pos x="25" y="4"/>
              </a:cxn>
              <a:cxn ang="0">
                <a:pos x="28" y="4"/>
              </a:cxn>
              <a:cxn ang="0">
                <a:pos x="28" y="4"/>
              </a:cxn>
              <a:cxn ang="0">
                <a:pos x="32" y="7"/>
              </a:cxn>
              <a:cxn ang="0">
                <a:pos x="32" y="11"/>
              </a:cxn>
              <a:cxn ang="0">
                <a:pos x="32" y="11"/>
              </a:cxn>
              <a:cxn ang="0">
                <a:pos x="35" y="14"/>
              </a:cxn>
              <a:cxn ang="0">
                <a:pos x="35" y="18"/>
              </a:cxn>
              <a:cxn ang="0">
                <a:pos x="32" y="14"/>
              </a:cxn>
            </a:cxnLst>
            <a:rect l="0" t="0" r="r" b="b"/>
            <a:pathLst>
              <a:path w="35" h="32">
                <a:moveTo>
                  <a:pt x="32" y="14"/>
                </a:moveTo>
                <a:lnTo>
                  <a:pt x="35" y="18"/>
                </a:lnTo>
                <a:lnTo>
                  <a:pt x="32" y="21"/>
                </a:lnTo>
                <a:lnTo>
                  <a:pt x="32" y="25"/>
                </a:lnTo>
                <a:lnTo>
                  <a:pt x="32" y="25"/>
                </a:lnTo>
                <a:lnTo>
                  <a:pt x="28" y="28"/>
                </a:lnTo>
                <a:lnTo>
                  <a:pt x="28" y="28"/>
                </a:lnTo>
                <a:lnTo>
                  <a:pt x="25" y="32"/>
                </a:lnTo>
                <a:lnTo>
                  <a:pt x="21" y="32"/>
                </a:lnTo>
                <a:lnTo>
                  <a:pt x="21" y="32"/>
                </a:lnTo>
                <a:lnTo>
                  <a:pt x="18" y="32"/>
                </a:lnTo>
                <a:lnTo>
                  <a:pt x="14" y="32"/>
                </a:lnTo>
                <a:lnTo>
                  <a:pt x="14" y="32"/>
                </a:lnTo>
                <a:lnTo>
                  <a:pt x="11" y="32"/>
                </a:lnTo>
                <a:lnTo>
                  <a:pt x="7" y="28"/>
                </a:lnTo>
                <a:lnTo>
                  <a:pt x="7" y="28"/>
                </a:lnTo>
                <a:lnTo>
                  <a:pt x="4" y="25"/>
                </a:lnTo>
                <a:lnTo>
                  <a:pt x="4" y="25"/>
                </a:lnTo>
                <a:lnTo>
                  <a:pt x="4" y="21"/>
                </a:lnTo>
                <a:lnTo>
                  <a:pt x="0" y="18"/>
                </a:lnTo>
                <a:lnTo>
                  <a:pt x="0" y="18"/>
                </a:lnTo>
                <a:lnTo>
                  <a:pt x="0" y="14"/>
                </a:lnTo>
                <a:lnTo>
                  <a:pt x="4" y="11"/>
                </a:lnTo>
                <a:lnTo>
                  <a:pt x="4" y="11"/>
                </a:lnTo>
                <a:lnTo>
                  <a:pt x="4" y="7"/>
                </a:lnTo>
                <a:lnTo>
                  <a:pt x="7" y="4"/>
                </a:lnTo>
                <a:lnTo>
                  <a:pt x="7" y="4"/>
                </a:lnTo>
                <a:lnTo>
                  <a:pt x="11" y="4"/>
                </a:lnTo>
                <a:lnTo>
                  <a:pt x="14" y="0"/>
                </a:lnTo>
                <a:lnTo>
                  <a:pt x="14" y="0"/>
                </a:lnTo>
                <a:lnTo>
                  <a:pt x="18" y="0"/>
                </a:lnTo>
                <a:lnTo>
                  <a:pt x="21" y="0"/>
                </a:lnTo>
                <a:lnTo>
                  <a:pt x="21" y="0"/>
                </a:lnTo>
                <a:lnTo>
                  <a:pt x="25" y="4"/>
                </a:lnTo>
                <a:lnTo>
                  <a:pt x="28" y="4"/>
                </a:lnTo>
                <a:lnTo>
                  <a:pt x="28" y="4"/>
                </a:lnTo>
                <a:lnTo>
                  <a:pt x="32" y="7"/>
                </a:lnTo>
                <a:lnTo>
                  <a:pt x="32" y="11"/>
                </a:lnTo>
                <a:lnTo>
                  <a:pt x="32" y="11"/>
                </a:lnTo>
                <a:lnTo>
                  <a:pt x="35" y="14"/>
                </a:lnTo>
                <a:lnTo>
                  <a:pt x="35" y="18"/>
                </a:lnTo>
                <a:lnTo>
                  <a:pt x="32" y="14"/>
                </a:lnTo>
                <a:close/>
              </a:path>
            </a:pathLst>
          </a:custGeom>
          <a:solidFill>
            <a:srgbClr val="000000"/>
          </a:solidFill>
          <a:ln w="9525">
            <a:noFill/>
            <a:round/>
            <a:headEnd/>
            <a:tailEnd/>
          </a:ln>
        </p:spPr>
        <p:txBody>
          <a:bodyPr/>
          <a:lstStyle/>
          <a:p>
            <a:endParaRPr lang="zh-CN" altLang="en-US"/>
          </a:p>
        </p:txBody>
      </p:sp>
      <p:sp>
        <p:nvSpPr>
          <p:cNvPr id="52" name="Freeform 50"/>
          <p:cNvSpPr>
            <a:spLocks/>
          </p:cNvSpPr>
          <p:nvPr/>
        </p:nvSpPr>
        <p:spPr bwMode="auto">
          <a:xfrm>
            <a:off x="2556248" y="2161630"/>
            <a:ext cx="55563" cy="50800"/>
          </a:xfrm>
          <a:custGeom>
            <a:avLst/>
            <a:gdLst/>
            <a:ahLst/>
            <a:cxnLst>
              <a:cxn ang="0">
                <a:pos x="32" y="14"/>
              </a:cxn>
              <a:cxn ang="0">
                <a:pos x="35" y="14"/>
              </a:cxn>
              <a:cxn ang="0">
                <a:pos x="32" y="11"/>
              </a:cxn>
              <a:cxn ang="0">
                <a:pos x="32" y="11"/>
              </a:cxn>
              <a:cxn ang="0">
                <a:pos x="32" y="7"/>
              </a:cxn>
              <a:cxn ang="0">
                <a:pos x="28" y="4"/>
              </a:cxn>
              <a:cxn ang="0">
                <a:pos x="28" y="4"/>
              </a:cxn>
              <a:cxn ang="0">
                <a:pos x="25" y="4"/>
              </a:cxn>
              <a:cxn ang="0">
                <a:pos x="21" y="0"/>
              </a:cxn>
              <a:cxn ang="0">
                <a:pos x="21" y="0"/>
              </a:cxn>
              <a:cxn ang="0">
                <a:pos x="18" y="0"/>
              </a:cxn>
              <a:cxn ang="0">
                <a:pos x="14" y="0"/>
              </a:cxn>
              <a:cxn ang="0">
                <a:pos x="14" y="0"/>
              </a:cxn>
              <a:cxn ang="0">
                <a:pos x="11" y="4"/>
              </a:cxn>
              <a:cxn ang="0">
                <a:pos x="7" y="4"/>
              </a:cxn>
              <a:cxn ang="0">
                <a:pos x="7" y="4"/>
              </a:cxn>
              <a:cxn ang="0">
                <a:pos x="4" y="7"/>
              </a:cxn>
              <a:cxn ang="0">
                <a:pos x="4" y="11"/>
              </a:cxn>
              <a:cxn ang="0">
                <a:pos x="4" y="11"/>
              </a:cxn>
              <a:cxn ang="0">
                <a:pos x="0" y="14"/>
              </a:cxn>
              <a:cxn ang="0">
                <a:pos x="0" y="18"/>
              </a:cxn>
              <a:cxn ang="0">
                <a:pos x="0" y="18"/>
              </a:cxn>
              <a:cxn ang="0">
                <a:pos x="4" y="21"/>
              </a:cxn>
              <a:cxn ang="0">
                <a:pos x="4" y="25"/>
              </a:cxn>
              <a:cxn ang="0">
                <a:pos x="4" y="25"/>
              </a:cxn>
              <a:cxn ang="0">
                <a:pos x="7" y="28"/>
              </a:cxn>
              <a:cxn ang="0">
                <a:pos x="7" y="28"/>
              </a:cxn>
              <a:cxn ang="0">
                <a:pos x="11" y="32"/>
              </a:cxn>
              <a:cxn ang="0">
                <a:pos x="14" y="32"/>
              </a:cxn>
              <a:cxn ang="0">
                <a:pos x="14" y="32"/>
              </a:cxn>
              <a:cxn ang="0">
                <a:pos x="18" y="32"/>
              </a:cxn>
              <a:cxn ang="0">
                <a:pos x="21" y="32"/>
              </a:cxn>
              <a:cxn ang="0">
                <a:pos x="21" y="32"/>
              </a:cxn>
              <a:cxn ang="0">
                <a:pos x="25" y="32"/>
              </a:cxn>
              <a:cxn ang="0">
                <a:pos x="28" y="28"/>
              </a:cxn>
              <a:cxn ang="0">
                <a:pos x="28" y="28"/>
              </a:cxn>
              <a:cxn ang="0">
                <a:pos x="32" y="25"/>
              </a:cxn>
              <a:cxn ang="0">
                <a:pos x="32" y="25"/>
              </a:cxn>
              <a:cxn ang="0">
                <a:pos x="32" y="21"/>
              </a:cxn>
              <a:cxn ang="0">
                <a:pos x="35" y="18"/>
              </a:cxn>
              <a:cxn ang="0">
                <a:pos x="35" y="18"/>
              </a:cxn>
              <a:cxn ang="0">
                <a:pos x="35" y="18"/>
              </a:cxn>
            </a:cxnLst>
            <a:rect l="0" t="0" r="r" b="b"/>
            <a:pathLst>
              <a:path w="35" h="32">
                <a:moveTo>
                  <a:pt x="32" y="14"/>
                </a:moveTo>
                <a:lnTo>
                  <a:pt x="35" y="14"/>
                </a:lnTo>
                <a:lnTo>
                  <a:pt x="32" y="11"/>
                </a:lnTo>
                <a:lnTo>
                  <a:pt x="32" y="11"/>
                </a:lnTo>
                <a:lnTo>
                  <a:pt x="32" y="7"/>
                </a:lnTo>
                <a:lnTo>
                  <a:pt x="28" y="4"/>
                </a:lnTo>
                <a:lnTo>
                  <a:pt x="28" y="4"/>
                </a:lnTo>
                <a:lnTo>
                  <a:pt x="25" y="4"/>
                </a:lnTo>
                <a:lnTo>
                  <a:pt x="21" y="0"/>
                </a:lnTo>
                <a:lnTo>
                  <a:pt x="21" y="0"/>
                </a:lnTo>
                <a:lnTo>
                  <a:pt x="18" y="0"/>
                </a:lnTo>
                <a:lnTo>
                  <a:pt x="14" y="0"/>
                </a:lnTo>
                <a:lnTo>
                  <a:pt x="14" y="0"/>
                </a:lnTo>
                <a:lnTo>
                  <a:pt x="11" y="4"/>
                </a:lnTo>
                <a:lnTo>
                  <a:pt x="7" y="4"/>
                </a:lnTo>
                <a:lnTo>
                  <a:pt x="7" y="4"/>
                </a:lnTo>
                <a:lnTo>
                  <a:pt x="4" y="7"/>
                </a:lnTo>
                <a:lnTo>
                  <a:pt x="4" y="11"/>
                </a:lnTo>
                <a:lnTo>
                  <a:pt x="4" y="11"/>
                </a:lnTo>
                <a:lnTo>
                  <a:pt x="0" y="14"/>
                </a:lnTo>
                <a:lnTo>
                  <a:pt x="0" y="18"/>
                </a:lnTo>
                <a:lnTo>
                  <a:pt x="0" y="18"/>
                </a:lnTo>
                <a:lnTo>
                  <a:pt x="4" y="21"/>
                </a:lnTo>
                <a:lnTo>
                  <a:pt x="4" y="25"/>
                </a:lnTo>
                <a:lnTo>
                  <a:pt x="4" y="25"/>
                </a:lnTo>
                <a:lnTo>
                  <a:pt x="7" y="28"/>
                </a:lnTo>
                <a:lnTo>
                  <a:pt x="7" y="28"/>
                </a:lnTo>
                <a:lnTo>
                  <a:pt x="11" y="32"/>
                </a:lnTo>
                <a:lnTo>
                  <a:pt x="14" y="32"/>
                </a:lnTo>
                <a:lnTo>
                  <a:pt x="14" y="32"/>
                </a:lnTo>
                <a:lnTo>
                  <a:pt x="18" y="32"/>
                </a:lnTo>
                <a:lnTo>
                  <a:pt x="21" y="32"/>
                </a:lnTo>
                <a:lnTo>
                  <a:pt x="21" y="32"/>
                </a:lnTo>
                <a:lnTo>
                  <a:pt x="25" y="32"/>
                </a:lnTo>
                <a:lnTo>
                  <a:pt x="28" y="28"/>
                </a:lnTo>
                <a:lnTo>
                  <a:pt x="28" y="28"/>
                </a:lnTo>
                <a:lnTo>
                  <a:pt x="32" y="25"/>
                </a:lnTo>
                <a:lnTo>
                  <a:pt x="32" y="25"/>
                </a:lnTo>
                <a:lnTo>
                  <a:pt x="32" y="21"/>
                </a:lnTo>
                <a:lnTo>
                  <a:pt x="35" y="18"/>
                </a:lnTo>
                <a:lnTo>
                  <a:pt x="35" y="18"/>
                </a:lnTo>
                <a:lnTo>
                  <a:pt x="35" y="18"/>
                </a:lnTo>
              </a:path>
            </a:pathLst>
          </a:custGeom>
          <a:noFill/>
          <a:ln w="11113">
            <a:solidFill>
              <a:srgbClr val="000000"/>
            </a:solidFill>
            <a:prstDash val="solid"/>
            <a:round/>
            <a:headEnd/>
            <a:tailEnd/>
          </a:ln>
        </p:spPr>
        <p:txBody>
          <a:bodyPr/>
          <a:lstStyle/>
          <a:p>
            <a:endParaRPr lang="zh-CN" altLang="en-US"/>
          </a:p>
        </p:txBody>
      </p:sp>
      <p:sp>
        <p:nvSpPr>
          <p:cNvPr id="53" name="Freeform 51"/>
          <p:cNvSpPr>
            <a:spLocks/>
          </p:cNvSpPr>
          <p:nvPr/>
        </p:nvSpPr>
        <p:spPr bwMode="auto">
          <a:xfrm>
            <a:off x="2768973" y="2161630"/>
            <a:ext cx="50800" cy="50800"/>
          </a:xfrm>
          <a:custGeom>
            <a:avLst/>
            <a:gdLst/>
            <a:ahLst/>
            <a:cxnLst>
              <a:cxn ang="0">
                <a:pos x="29" y="14"/>
              </a:cxn>
              <a:cxn ang="0">
                <a:pos x="32" y="18"/>
              </a:cxn>
              <a:cxn ang="0">
                <a:pos x="32" y="21"/>
              </a:cxn>
              <a:cxn ang="0">
                <a:pos x="29" y="25"/>
              </a:cxn>
              <a:cxn ang="0">
                <a:pos x="29" y="25"/>
              </a:cxn>
              <a:cxn ang="0">
                <a:pos x="29" y="28"/>
              </a:cxn>
              <a:cxn ang="0">
                <a:pos x="25" y="28"/>
              </a:cxn>
              <a:cxn ang="0">
                <a:pos x="21" y="32"/>
              </a:cxn>
              <a:cxn ang="0">
                <a:pos x="21" y="32"/>
              </a:cxn>
              <a:cxn ang="0">
                <a:pos x="18" y="32"/>
              </a:cxn>
              <a:cxn ang="0">
                <a:pos x="14" y="32"/>
              </a:cxn>
              <a:cxn ang="0">
                <a:pos x="11" y="32"/>
              </a:cxn>
              <a:cxn ang="0">
                <a:pos x="11" y="32"/>
              </a:cxn>
              <a:cxn ang="0">
                <a:pos x="7" y="32"/>
              </a:cxn>
              <a:cxn ang="0">
                <a:pos x="4" y="28"/>
              </a:cxn>
              <a:cxn ang="0">
                <a:pos x="4" y="28"/>
              </a:cxn>
              <a:cxn ang="0">
                <a:pos x="0" y="25"/>
              </a:cxn>
              <a:cxn ang="0">
                <a:pos x="0" y="25"/>
              </a:cxn>
              <a:cxn ang="0">
                <a:pos x="0" y="21"/>
              </a:cxn>
              <a:cxn ang="0">
                <a:pos x="0" y="18"/>
              </a:cxn>
              <a:cxn ang="0">
                <a:pos x="0" y="18"/>
              </a:cxn>
              <a:cxn ang="0">
                <a:pos x="0" y="14"/>
              </a:cxn>
              <a:cxn ang="0">
                <a:pos x="0" y="11"/>
              </a:cxn>
              <a:cxn ang="0">
                <a:pos x="0" y="11"/>
              </a:cxn>
              <a:cxn ang="0">
                <a:pos x="0" y="7"/>
              </a:cxn>
              <a:cxn ang="0">
                <a:pos x="4" y="4"/>
              </a:cxn>
              <a:cxn ang="0">
                <a:pos x="4" y="4"/>
              </a:cxn>
              <a:cxn ang="0">
                <a:pos x="7" y="4"/>
              </a:cxn>
              <a:cxn ang="0">
                <a:pos x="11" y="0"/>
              </a:cxn>
              <a:cxn ang="0">
                <a:pos x="11" y="0"/>
              </a:cxn>
              <a:cxn ang="0">
                <a:pos x="14" y="0"/>
              </a:cxn>
              <a:cxn ang="0">
                <a:pos x="18" y="0"/>
              </a:cxn>
              <a:cxn ang="0">
                <a:pos x="21" y="0"/>
              </a:cxn>
              <a:cxn ang="0">
                <a:pos x="21" y="4"/>
              </a:cxn>
              <a:cxn ang="0">
                <a:pos x="25" y="4"/>
              </a:cxn>
              <a:cxn ang="0">
                <a:pos x="29" y="4"/>
              </a:cxn>
              <a:cxn ang="0">
                <a:pos x="29" y="7"/>
              </a:cxn>
              <a:cxn ang="0">
                <a:pos x="29" y="11"/>
              </a:cxn>
              <a:cxn ang="0">
                <a:pos x="32" y="11"/>
              </a:cxn>
              <a:cxn ang="0">
                <a:pos x="32" y="14"/>
              </a:cxn>
              <a:cxn ang="0">
                <a:pos x="32" y="18"/>
              </a:cxn>
              <a:cxn ang="0">
                <a:pos x="29" y="14"/>
              </a:cxn>
            </a:cxnLst>
            <a:rect l="0" t="0" r="r" b="b"/>
            <a:pathLst>
              <a:path w="32" h="32">
                <a:moveTo>
                  <a:pt x="29" y="14"/>
                </a:moveTo>
                <a:lnTo>
                  <a:pt x="32" y="18"/>
                </a:lnTo>
                <a:lnTo>
                  <a:pt x="32" y="21"/>
                </a:lnTo>
                <a:lnTo>
                  <a:pt x="29" y="25"/>
                </a:lnTo>
                <a:lnTo>
                  <a:pt x="29" y="25"/>
                </a:lnTo>
                <a:lnTo>
                  <a:pt x="29" y="28"/>
                </a:lnTo>
                <a:lnTo>
                  <a:pt x="25" y="28"/>
                </a:lnTo>
                <a:lnTo>
                  <a:pt x="21" y="32"/>
                </a:lnTo>
                <a:lnTo>
                  <a:pt x="21" y="32"/>
                </a:lnTo>
                <a:lnTo>
                  <a:pt x="18" y="32"/>
                </a:lnTo>
                <a:lnTo>
                  <a:pt x="14" y="32"/>
                </a:lnTo>
                <a:lnTo>
                  <a:pt x="11" y="32"/>
                </a:lnTo>
                <a:lnTo>
                  <a:pt x="11" y="32"/>
                </a:lnTo>
                <a:lnTo>
                  <a:pt x="7" y="32"/>
                </a:lnTo>
                <a:lnTo>
                  <a:pt x="4" y="28"/>
                </a:lnTo>
                <a:lnTo>
                  <a:pt x="4" y="28"/>
                </a:lnTo>
                <a:lnTo>
                  <a:pt x="0" y="25"/>
                </a:lnTo>
                <a:lnTo>
                  <a:pt x="0" y="25"/>
                </a:lnTo>
                <a:lnTo>
                  <a:pt x="0" y="21"/>
                </a:lnTo>
                <a:lnTo>
                  <a:pt x="0" y="18"/>
                </a:lnTo>
                <a:lnTo>
                  <a:pt x="0" y="18"/>
                </a:lnTo>
                <a:lnTo>
                  <a:pt x="0" y="14"/>
                </a:lnTo>
                <a:lnTo>
                  <a:pt x="0" y="11"/>
                </a:lnTo>
                <a:lnTo>
                  <a:pt x="0" y="11"/>
                </a:lnTo>
                <a:lnTo>
                  <a:pt x="0" y="7"/>
                </a:lnTo>
                <a:lnTo>
                  <a:pt x="4" y="4"/>
                </a:lnTo>
                <a:lnTo>
                  <a:pt x="4" y="4"/>
                </a:lnTo>
                <a:lnTo>
                  <a:pt x="7" y="4"/>
                </a:lnTo>
                <a:lnTo>
                  <a:pt x="11" y="0"/>
                </a:lnTo>
                <a:lnTo>
                  <a:pt x="11" y="0"/>
                </a:lnTo>
                <a:lnTo>
                  <a:pt x="14" y="0"/>
                </a:lnTo>
                <a:lnTo>
                  <a:pt x="18" y="0"/>
                </a:lnTo>
                <a:lnTo>
                  <a:pt x="21" y="0"/>
                </a:lnTo>
                <a:lnTo>
                  <a:pt x="21" y="4"/>
                </a:lnTo>
                <a:lnTo>
                  <a:pt x="25" y="4"/>
                </a:lnTo>
                <a:lnTo>
                  <a:pt x="29" y="4"/>
                </a:lnTo>
                <a:lnTo>
                  <a:pt x="29" y="7"/>
                </a:lnTo>
                <a:lnTo>
                  <a:pt x="29" y="11"/>
                </a:lnTo>
                <a:lnTo>
                  <a:pt x="32" y="11"/>
                </a:lnTo>
                <a:lnTo>
                  <a:pt x="32" y="14"/>
                </a:lnTo>
                <a:lnTo>
                  <a:pt x="32" y="18"/>
                </a:lnTo>
                <a:lnTo>
                  <a:pt x="29" y="14"/>
                </a:lnTo>
                <a:close/>
              </a:path>
            </a:pathLst>
          </a:custGeom>
          <a:solidFill>
            <a:srgbClr val="000000"/>
          </a:solidFill>
          <a:ln w="9525">
            <a:noFill/>
            <a:round/>
            <a:headEnd/>
            <a:tailEnd/>
          </a:ln>
        </p:spPr>
        <p:txBody>
          <a:bodyPr/>
          <a:lstStyle/>
          <a:p>
            <a:endParaRPr lang="zh-CN" altLang="en-US"/>
          </a:p>
        </p:txBody>
      </p:sp>
      <p:sp>
        <p:nvSpPr>
          <p:cNvPr id="54" name="Freeform 52"/>
          <p:cNvSpPr>
            <a:spLocks/>
          </p:cNvSpPr>
          <p:nvPr/>
        </p:nvSpPr>
        <p:spPr bwMode="auto">
          <a:xfrm>
            <a:off x="2768973" y="2161630"/>
            <a:ext cx="50800" cy="50800"/>
          </a:xfrm>
          <a:custGeom>
            <a:avLst/>
            <a:gdLst/>
            <a:ahLst/>
            <a:cxnLst>
              <a:cxn ang="0">
                <a:pos x="29" y="14"/>
              </a:cxn>
              <a:cxn ang="0">
                <a:pos x="32" y="14"/>
              </a:cxn>
              <a:cxn ang="0">
                <a:pos x="32" y="11"/>
              </a:cxn>
              <a:cxn ang="0">
                <a:pos x="29" y="11"/>
              </a:cxn>
              <a:cxn ang="0">
                <a:pos x="29" y="7"/>
              </a:cxn>
              <a:cxn ang="0">
                <a:pos x="29" y="4"/>
              </a:cxn>
              <a:cxn ang="0">
                <a:pos x="25" y="4"/>
              </a:cxn>
              <a:cxn ang="0">
                <a:pos x="21" y="4"/>
              </a:cxn>
              <a:cxn ang="0">
                <a:pos x="21" y="0"/>
              </a:cxn>
              <a:cxn ang="0">
                <a:pos x="18" y="0"/>
              </a:cxn>
              <a:cxn ang="0">
                <a:pos x="14" y="0"/>
              </a:cxn>
              <a:cxn ang="0">
                <a:pos x="11" y="0"/>
              </a:cxn>
              <a:cxn ang="0">
                <a:pos x="11" y="0"/>
              </a:cxn>
              <a:cxn ang="0">
                <a:pos x="7" y="4"/>
              </a:cxn>
              <a:cxn ang="0">
                <a:pos x="4" y="4"/>
              </a:cxn>
              <a:cxn ang="0">
                <a:pos x="4" y="4"/>
              </a:cxn>
              <a:cxn ang="0">
                <a:pos x="0" y="7"/>
              </a:cxn>
              <a:cxn ang="0">
                <a:pos x="0" y="11"/>
              </a:cxn>
              <a:cxn ang="0">
                <a:pos x="0" y="11"/>
              </a:cxn>
              <a:cxn ang="0">
                <a:pos x="0" y="14"/>
              </a:cxn>
              <a:cxn ang="0">
                <a:pos x="0" y="18"/>
              </a:cxn>
              <a:cxn ang="0">
                <a:pos x="0" y="18"/>
              </a:cxn>
              <a:cxn ang="0">
                <a:pos x="0" y="21"/>
              </a:cxn>
              <a:cxn ang="0">
                <a:pos x="0" y="25"/>
              </a:cxn>
              <a:cxn ang="0">
                <a:pos x="0" y="25"/>
              </a:cxn>
              <a:cxn ang="0">
                <a:pos x="4" y="28"/>
              </a:cxn>
              <a:cxn ang="0">
                <a:pos x="4" y="28"/>
              </a:cxn>
              <a:cxn ang="0">
                <a:pos x="7" y="32"/>
              </a:cxn>
              <a:cxn ang="0">
                <a:pos x="11" y="32"/>
              </a:cxn>
              <a:cxn ang="0">
                <a:pos x="11" y="32"/>
              </a:cxn>
              <a:cxn ang="0">
                <a:pos x="14" y="32"/>
              </a:cxn>
              <a:cxn ang="0">
                <a:pos x="18" y="32"/>
              </a:cxn>
              <a:cxn ang="0">
                <a:pos x="21" y="32"/>
              </a:cxn>
              <a:cxn ang="0">
                <a:pos x="21" y="32"/>
              </a:cxn>
              <a:cxn ang="0">
                <a:pos x="25" y="28"/>
              </a:cxn>
              <a:cxn ang="0">
                <a:pos x="29" y="28"/>
              </a:cxn>
              <a:cxn ang="0">
                <a:pos x="29" y="25"/>
              </a:cxn>
              <a:cxn ang="0">
                <a:pos x="29" y="25"/>
              </a:cxn>
              <a:cxn ang="0">
                <a:pos x="32" y="21"/>
              </a:cxn>
              <a:cxn ang="0">
                <a:pos x="32" y="18"/>
              </a:cxn>
              <a:cxn ang="0">
                <a:pos x="32" y="18"/>
              </a:cxn>
              <a:cxn ang="0">
                <a:pos x="32" y="18"/>
              </a:cxn>
            </a:cxnLst>
            <a:rect l="0" t="0" r="r" b="b"/>
            <a:pathLst>
              <a:path w="32" h="32">
                <a:moveTo>
                  <a:pt x="29" y="14"/>
                </a:moveTo>
                <a:lnTo>
                  <a:pt x="32" y="14"/>
                </a:lnTo>
                <a:lnTo>
                  <a:pt x="32" y="11"/>
                </a:lnTo>
                <a:lnTo>
                  <a:pt x="29" y="11"/>
                </a:lnTo>
                <a:lnTo>
                  <a:pt x="29" y="7"/>
                </a:lnTo>
                <a:lnTo>
                  <a:pt x="29" y="4"/>
                </a:lnTo>
                <a:lnTo>
                  <a:pt x="25" y="4"/>
                </a:lnTo>
                <a:lnTo>
                  <a:pt x="21" y="4"/>
                </a:lnTo>
                <a:lnTo>
                  <a:pt x="21" y="0"/>
                </a:lnTo>
                <a:lnTo>
                  <a:pt x="18" y="0"/>
                </a:lnTo>
                <a:lnTo>
                  <a:pt x="14" y="0"/>
                </a:lnTo>
                <a:lnTo>
                  <a:pt x="11" y="0"/>
                </a:lnTo>
                <a:lnTo>
                  <a:pt x="11" y="0"/>
                </a:lnTo>
                <a:lnTo>
                  <a:pt x="7" y="4"/>
                </a:lnTo>
                <a:lnTo>
                  <a:pt x="4" y="4"/>
                </a:lnTo>
                <a:lnTo>
                  <a:pt x="4" y="4"/>
                </a:lnTo>
                <a:lnTo>
                  <a:pt x="0" y="7"/>
                </a:lnTo>
                <a:lnTo>
                  <a:pt x="0" y="11"/>
                </a:lnTo>
                <a:lnTo>
                  <a:pt x="0" y="11"/>
                </a:lnTo>
                <a:lnTo>
                  <a:pt x="0" y="14"/>
                </a:lnTo>
                <a:lnTo>
                  <a:pt x="0" y="18"/>
                </a:lnTo>
                <a:lnTo>
                  <a:pt x="0" y="18"/>
                </a:lnTo>
                <a:lnTo>
                  <a:pt x="0" y="21"/>
                </a:lnTo>
                <a:lnTo>
                  <a:pt x="0" y="25"/>
                </a:lnTo>
                <a:lnTo>
                  <a:pt x="0" y="25"/>
                </a:lnTo>
                <a:lnTo>
                  <a:pt x="4" y="28"/>
                </a:lnTo>
                <a:lnTo>
                  <a:pt x="4" y="28"/>
                </a:lnTo>
                <a:lnTo>
                  <a:pt x="7" y="32"/>
                </a:lnTo>
                <a:lnTo>
                  <a:pt x="11" y="32"/>
                </a:lnTo>
                <a:lnTo>
                  <a:pt x="11" y="32"/>
                </a:lnTo>
                <a:lnTo>
                  <a:pt x="14" y="32"/>
                </a:lnTo>
                <a:lnTo>
                  <a:pt x="18" y="32"/>
                </a:lnTo>
                <a:lnTo>
                  <a:pt x="21" y="32"/>
                </a:lnTo>
                <a:lnTo>
                  <a:pt x="21" y="32"/>
                </a:lnTo>
                <a:lnTo>
                  <a:pt x="25" y="28"/>
                </a:lnTo>
                <a:lnTo>
                  <a:pt x="29" y="28"/>
                </a:lnTo>
                <a:lnTo>
                  <a:pt x="29" y="25"/>
                </a:lnTo>
                <a:lnTo>
                  <a:pt x="29" y="25"/>
                </a:lnTo>
                <a:lnTo>
                  <a:pt x="32" y="21"/>
                </a:lnTo>
                <a:lnTo>
                  <a:pt x="32" y="18"/>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55" name="Freeform 53"/>
          <p:cNvSpPr>
            <a:spLocks/>
          </p:cNvSpPr>
          <p:nvPr/>
        </p:nvSpPr>
        <p:spPr bwMode="auto">
          <a:xfrm>
            <a:off x="2662610" y="2161630"/>
            <a:ext cx="50800" cy="50800"/>
          </a:xfrm>
          <a:custGeom>
            <a:avLst/>
            <a:gdLst/>
            <a:ahLst/>
            <a:cxnLst>
              <a:cxn ang="0">
                <a:pos x="32" y="14"/>
              </a:cxn>
              <a:cxn ang="0">
                <a:pos x="32" y="18"/>
              </a:cxn>
              <a:cxn ang="0">
                <a:pos x="32" y="21"/>
              </a:cxn>
              <a:cxn ang="0">
                <a:pos x="32" y="25"/>
              </a:cxn>
              <a:cxn ang="0">
                <a:pos x="28" y="25"/>
              </a:cxn>
              <a:cxn ang="0">
                <a:pos x="28" y="28"/>
              </a:cxn>
              <a:cxn ang="0">
                <a:pos x="25" y="28"/>
              </a:cxn>
              <a:cxn ang="0">
                <a:pos x="25" y="32"/>
              </a:cxn>
              <a:cxn ang="0">
                <a:pos x="21" y="32"/>
              </a:cxn>
              <a:cxn ang="0">
                <a:pos x="18" y="32"/>
              </a:cxn>
              <a:cxn ang="0">
                <a:pos x="14" y="32"/>
              </a:cxn>
              <a:cxn ang="0">
                <a:pos x="14" y="32"/>
              </a:cxn>
              <a:cxn ang="0">
                <a:pos x="11" y="32"/>
              </a:cxn>
              <a:cxn ang="0">
                <a:pos x="7" y="32"/>
              </a:cxn>
              <a:cxn ang="0">
                <a:pos x="7" y="28"/>
              </a:cxn>
              <a:cxn ang="0">
                <a:pos x="4" y="28"/>
              </a:cxn>
              <a:cxn ang="0">
                <a:pos x="4" y="25"/>
              </a:cxn>
              <a:cxn ang="0">
                <a:pos x="0" y="25"/>
              </a:cxn>
              <a:cxn ang="0">
                <a:pos x="0" y="21"/>
              </a:cxn>
              <a:cxn ang="0">
                <a:pos x="0" y="18"/>
              </a:cxn>
              <a:cxn ang="0">
                <a:pos x="0" y="18"/>
              </a:cxn>
              <a:cxn ang="0">
                <a:pos x="0" y="14"/>
              </a:cxn>
              <a:cxn ang="0">
                <a:pos x="0" y="11"/>
              </a:cxn>
              <a:cxn ang="0">
                <a:pos x="0" y="11"/>
              </a:cxn>
              <a:cxn ang="0">
                <a:pos x="4" y="7"/>
              </a:cxn>
              <a:cxn ang="0">
                <a:pos x="4" y="4"/>
              </a:cxn>
              <a:cxn ang="0">
                <a:pos x="7" y="4"/>
              </a:cxn>
              <a:cxn ang="0">
                <a:pos x="7" y="4"/>
              </a:cxn>
              <a:cxn ang="0">
                <a:pos x="11" y="0"/>
              </a:cxn>
              <a:cxn ang="0">
                <a:pos x="14" y="0"/>
              </a:cxn>
              <a:cxn ang="0">
                <a:pos x="14" y="0"/>
              </a:cxn>
              <a:cxn ang="0">
                <a:pos x="18" y="0"/>
              </a:cxn>
              <a:cxn ang="0">
                <a:pos x="21" y="0"/>
              </a:cxn>
              <a:cxn ang="0">
                <a:pos x="25" y="4"/>
              </a:cxn>
              <a:cxn ang="0">
                <a:pos x="25" y="4"/>
              </a:cxn>
              <a:cxn ang="0">
                <a:pos x="28" y="4"/>
              </a:cxn>
              <a:cxn ang="0">
                <a:pos x="28" y="7"/>
              </a:cxn>
              <a:cxn ang="0">
                <a:pos x="32" y="11"/>
              </a:cxn>
              <a:cxn ang="0">
                <a:pos x="32" y="11"/>
              </a:cxn>
              <a:cxn ang="0">
                <a:pos x="32" y="14"/>
              </a:cxn>
              <a:cxn ang="0">
                <a:pos x="32" y="18"/>
              </a:cxn>
              <a:cxn ang="0">
                <a:pos x="32" y="14"/>
              </a:cxn>
            </a:cxnLst>
            <a:rect l="0" t="0" r="r" b="b"/>
            <a:pathLst>
              <a:path w="32" h="32">
                <a:moveTo>
                  <a:pt x="32" y="14"/>
                </a:moveTo>
                <a:lnTo>
                  <a:pt x="32" y="18"/>
                </a:lnTo>
                <a:lnTo>
                  <a:pt x="32" y="21"/>
                </a:lnTo>
                <a:lnTo>
                  <a:pt x="32" y="25"/>
                </a:lnTo>
                <a:lnTo>
                  <a:pt x="28" y="25"/>
                </a:lnTo>
                <a:lnTo>
                  <a:pt x="28" y="28"/>
                </a:lnTo>
                <a:lnTo>
                  <a:pt x="25" y="28"/>
                </a:lnTo>
                <a:lnTo>
                  <a:pt x="25" y="32"/>
                </a:lnTo>
                <a:lnTo>
                  <a:pt x="21" y="32"/>
                </a:lnTo>
                <a:lnTo>
                  <a:pt x="18" y="32"/>
                </a:lnTo>
                <a:lnTo>
                  <a:pt x="14" y="32"/>
                </a:lnTo>
                <a:lnTo>
                  <a:pt x="14" y="32"/>
                </a:lnTo>
                <a:lnTo>
                  <a:pt x="11" y="32"/>
                </a:lnTo>
                <a:lnTo>
                  <a:pt x="7" y="32"/>
                </a:lnTo>
                <a:lnTo>
                  <a:pt x="7" y="28"/>
                </a:lnTo>
                <a:lnTo>
                  <a:pt x="4" y="28"/>
                </a:lnTo>
                <a:lnTo>
                  <a:pt x="4" y="25"/>
                </a:lnTo>
                <a:lnTo>
                  <a:pt x="0" y="25"/>
                </a:lnTo>
                <a:lnTo>
                  <a:pt x="0" y="21"/>
                </a:lnTo>
                <a:lnTo>
                  <a:pt x="0" y="18"/>
                </a:lnTo>
                <a:lnTo>
                  <a:pt x="0" y="18"/>
                </a:lnTo>
                <a:lnTo>
                  <a:pt x="0" y="14"/>
                </a:lnTo>
                <a:lnTo>
                  <a:pt x="0" y="11"/>
                </a:lnTo>
                <a:lnTo>
                  <a:pt x="0" y="11"/>
                </a:lnTo>
                <a:lnTo>
                  <a:pt x="4" y="7"/>
                </a:lnTo>
                <a:lnTo>
                  <a:pt x="4" y="4"/>
                </a:lnTo>
                <a:lnTo>
                  <a:pt x="7" y="4"/>
                </a:lnTo>
                <a:lnTo>
                  <a:pt x="7" y="4"/>
                </a:lnTo>
                <a:lnTo>
                  <a:pt x="11" y="0"/>
                </a:lnTo>
                <a:lnTo>
                  <a:pt x="14" y="0"/>
                </a:lnTo>
                <a:lnTo>
                  <a:pt x="14" y="0"/>
                </a:lnTo>
                <a:lnTo>
                  <a:pt x="18" y="0"/>
                </a:lnTo>
                <a:lnTo>
                  <a:pt x="21" y="0"/>
                </a:lnTo>
                <a:lnTo>
                  <a:pt x="25" y="4"/>
                </a:lnTo>
                <a:lnTo>
                  <a:pt x="25" y="4"/>
                </a:lnTo>
                <a:lnTo>
                  <a:pt x="28" y="4"/>
                </a:lnTo>
                <a:lnTo>
                  <a:pt x="28" y="7"/>
                </a:lnTo>
                <a:lnTo>
                  <a:pt x="32" y="11"/>
                </a:lnTo>
                <a:lnTo>
                  <a:pt x="32" y="11"/>
                </a:lnTo>
                <a:lnTo>
                  <a:pt x="32" y="14"/>
                </a:lnTo>
                <a:lnTo>
                  <a:pt x="32" y="18"/>
                </a:lnTo>
                <a:lnTo>
                  <a:pt x="32" y="14"/>
                </a:lnTo>
                <a:close/>
              </a:path>
            </a:pathLst>
          </a:custGeom>
          <a:solidFill>
            <a:srgbClr val="000000"/>
          </a:solidFill>
          <a:ln w="9525">
            <a:noFill/>
            <a:round/>
            <a:headEnd/>
            <a:tailEnd/>
          </a:ln>
        </p:spPr>
        <p:txBody>
          <a:bodyPr/>
          <a:lstStyle/>
          <a:p>
            <a:endParaRPr lang="zh-CN" altLang="en-US"/>
          </a:p>
        </p:txBody>
      </p:sp>
      <p:sp>
        <p:nvSpPr>
          <p:cNvPr id="56" name="Freeform 54"/>
          <p:cNvSpPr>
            <a:spLocks/>
          </p:cNvSpPr>
          <p:nvPr/>
        </p:nvSpPr>
        <p:spPr bwMode="auto">
          <a:xfrm>
            <a:off x="2662610" y="2161630"/>
            <a:ext cx="50800" cy="50800"/>
          </a:xfrm>
          <a:custGeom>
            <a:avLst/>
            <a:gdLst/>
            <a:ahLst/>
            <a:cxnLst>
              <a:cxn ang="0">
                <a:pos x="32" y="14"/>
              </a:cxn>
              <a:cxn ang="0">
                <a:pos x="32" y="14"/>
              </a:cxn>
              <a:cxn ang="0">
                <a:pos x="32" y="11"/>
              </a:cxn>
              <a:cxn ang="0">
                <a:pos x="32" y="11"/>
              </a:cxn>
              <a:cxn ang="0">
                <a:pos x="28" y="7"/>
              </a:cxn>
              <a:cxn ang="0">
                <a:pos x="28" y="4"/>
              </a:cxn>
              <a:cxn ang="0">
                <a:pos x="25" y="4"/>
              </a:cxn>
              <a:cxn ang="0">
                <a:pos x="25" y="4"/>
              </a:cxn>
              <a:cxn ang="0">
                <a:pos x="21" y="0"/>
              </a:cxn>
              <a:cxn ang="0">
                <a:pos x="18" y="0"/>
              </a:cxn>
              <a:cxn ang="0">
                <a:pos x="14" y="0"/>
              </a:cxn>
              <a:cxn ang="0">
                <a:pos x="14" y="0"/>
              </a:cxn>
              <a:cxn ang="0">
                <a:pos x="11" y="0"/>
              </a:cxn>
              <a:cxn ang="0">
                <a:pos x="7" y="4"/>
              </a:cxn>
              <a:cxn ang="0">
                <a:pos x="7" y="4"/>
              </a:cxn>
              <a:cxn ang="0">
                <a:pos x="4" y="4"/>
              </a:cxn>
              <a:cxn ang="0">
                <a:pos x="4" y="7"/>
              </a:cxn>
              <a:cxn ang="0">
                <a:pos x="0" y="11"/>
              </a:cxn>
              <a:cxn ang="0">
                <a:pos x="0" y="11"/>
              </a:cxn>
              <a:cxn ang="0">
                <a:pos x="0" y="14"/>
              </a:cxn>
              <a:cxn ang="0">
                <a:pos x="0" y="18"/>
              </a:cxn>
              <a:cxn ang="0">
                <a:pos x="0" y="18"/>
              </a:cxn>
              <a:cxn ang="0">
                <a:pos x="0" y="21"/>
              </a:cxn>
              <a:cxn ang="0">
                <a:pos x="0" y="25"/>
              </a:cxn>
              <a:cxn ang="0">
                <a:pos x="4" y="25"/>
              </a:cxn>
              <a:cxn ang="0">
                <a:pos x="4" y="28"/>
              </a:cxn>
              <a:cxn ang="0">
                <a:pos x="7" y="28"/>
              </a:cxn>
              <a:cxn ang="0">
                <a:pos x="7" y="32"/>
              </a:cxn>
              <a:cxn ang="0">
                <a:pos x="11" y="32"/>
              </a:cxn>
              <a:cxn ang="0">
                <a:pos x="14" y="32"/>
              </a:cxn>
              <a:cxn ang="0">
                <a:pos x="14" y="32"/>
              </a:cxn>
              <a:cxn ang="0">
                <a:pos x="18" y="32"/>
              </a:cxn>
              <a:cxn ang="0">
                <a:pos x="21" y="32"/>
              </a:cxn>
              <a:cxn ang="0">
                <a:pos x="25" y="32"/>
              </a:cxn>
              <a:cxn ang="0">
                <a:pos x="25" y="28"/>
              </a:cxn>
              <a:cxn ang="0">
                <a:pos x="28" y="28"/>
              </a:cxn>
              <a:cxn ang="0">
                <a:pos x="28" y="25"/>
              </a:cxn>
              <a:cxn ang="0">
                <a:pos x="32" y="25"/>
              </a:cxn>
              <a:cxn ang="0">
                <a:pos x="32" y="21"/>
              </a:cxn>
              <a:cxn ang="0">
                <a:pos x="32" y="18"/>
              </a:cxn>
              <a:cxn ang="0">
                <a:pos x="32" y="18"/>
              </a:cxn>
              <a:cxn ang="0">
                <a:pos x="32" y="18"/>
              </a:cxn>
            </a:cxnLst>
            <a:rect l="0" t="0" r="r" b="b"/>
            <a:pathLst>
              <a:path w="32" h="32">
                <a:moveTo>
                  <a:pt x="32" y="14"/>
                </a:moveTo>
                <a:lnTo>
                  <a:pt x="32" y="14"/>
                </a:lnTo>
                <a:lnTo>
                  <a:pt x="32" y="11"/>
                </a:lnTo>
                <a:lnTo>
                  <a:pt x="32" y="11"/>
                </a:lnTo>
                <a:lnTo>
                  <a:pt x="28" y="7"/>
                </a:lnTo>
                <a:lnTo>
                  <a:pt x="28" y="4"/>
                </a:lnTo>
                <a:lnTo>
                  <a:pt x="25" y="4"/>
                </a:lnTo>
                <a:lnTo>
                  <a:pt x="25" y="4"/>
                </a:lnTo>
                <a:lnTo>
                  <a:pt x="21" y="0"/>
                </a:lnTo>
                <a:lnTo>
                  <a:pt x="18" y="0"/>
                </a:lnTo>
                <a:lnTo>
                  <a:pt x="14" y="0"/>
                </a:lnTo>
                <a:lnTo>
                  <a:pt x="14" y="0"/>
                </a:lnTo>
                <a:lnTo>
                  <a:pt x="11" y="0"/>
                </a:lnTo>
                <a:lnTo>
                  <a:pt x="7" y="4"/>
                </a:lnTo>
                <a:lnTo>
                  <a:pt x="7" y="4"/>
                </a:lnTo>
                <a:lnTo>
                  <a:pt x="4" y="4"/>
                </a:lnTo>
                <a:lnTo>
                  <a:pt x="4" y="7"/>
                </a:lnTo>
                <a:lnTo>
                  <a:pt x="0" y="11"/>
                </a:lnTo>
                <a:lnTo>
                  <a:pt x="0" y="11"/>
                </a:lnTo>
                <a:lnTo>
                  <a:pt x="0" y="14"/>
                </a:lnTo>
                <a:lnTo>
                  <a:pt x="0" y="18"/>
                </a:lnTo>
                <a:lnTo>
                  <a:pt x="0" y="18"/>
                </a:lnTo>
                <a:lnTo>
                  <a:pt x="0" y="21"/>
                </a:lnTo>
                <a:lnTo>
                  <a:pt x="0" y="25"/>
                </a:lnTo>
                <a:lnTo>
                  <a:pt x="4" y="25"/>
                </a:lnTo>
                <a:lnTo>
                  <a:pt x="4" y="28"/>
                </a:lnTo>
                <a:lnTo>
                  <a:pt x="7" y="28"/>
                </a:lnTo>
                <a:lnTo>
                  <a:pt x="7" y="32"/>
                </a:lnTo>
                <a:lnTo>
                  <a:pt x="11" y="32"/>
                </a:lnTo>
                <a:lnTo>
                  <a:pt x="14" y="32"/>
                </a:lnTo>
                <a:lnTo>
                  <a:pt x="14" y="32"/>
                </a:lnTo>
                <a:lnTo>
                  <a:pt x="18" y="32"/>
                </a:lnTo>
                <a:lnTo>
                  <a:pt x="21" y="32"/>
                </a:lnTo>
                <a:lnTo>
                  <a:pt x="25" y="32"/>
                </a:lnTo>
                <a:lnTo>
                  <a:pt x="25" y="28"/>
                </a:lnTo>
                <a:lnTo>
                  <a:pt x="28" y="28"/>
                </a:lnTo>
                <a:lnTo>
                  <a:pt x="28" y="25"/>
                </a:lnTo>
                <a:lnTo>
                  <a:pt x="32" y="25"/>
                </a:lnTo>
                <a:lnTo>
                  <a:pt x="32" y="21"/>
                </a:lnTo>
                <a:lnTo>
                  <a:pt x="32" y="18"/>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57" name="Freeform 55"/>
          <p:cNvSpPr>
            <a:spLocks/>
          </p:cNvSpPr>
          <p:nvPr/>
        </p:nvSpPr>
        <p:spPr bwMode="auto">
          <a:xfrm>
            <a:off x="2870573" y="2161630"/>
            <a:ext cx="50800" cy="50800"/>
          </a:xfrm>
          <a:custGeom>
            <a:avLst/>
            <a:gdLst/>
            <a:ahLst/>
            <a:cxnLst>
              <a:cxn ang="0">
                <a:pos x="32" y="14"/>
              </a:cxn>
              <a:cxn ang="0">
                <a:pos x="32" y="18"/>
              </a:cxn>
              <a:cxn ang="0">
                <a:pos x="32" y="21"/>
              </a:cxn>
              <a:cxn ang="0">
                <a:pos x="32" y="25"/>
              </a:cxn>
              <a:cxn ang="0">
                <a:pos x="28" y="25"/>
              </a:cxn>
              <a:cxn ang="0">
                <a:pos x="28" y="28"/>
              </a:cxn>
              <a:cxn ang="0">
                <a:pos x="25" y="28"/>
              </a:cxn>
              <a:cxn ang="0">
                <a:pos x="25" y="32"/>
              </a:cxn>
              <a:cxn ang="0">
                <a:pos x="21" y="32"/>
              </a:cxn>
              <a:cxn ang="0">
                <a:pos x="17" y="32"/>
              </a:cxn>
              <a:cxn ang="0">
                <a:pos x="17" y="32"/>
              </a:cxn>
              <a:cxn ang="0">
                <a:pos x="14" y="32"/>
              </a:cxn>
              <a:cxn ang="0">
                <a:pos x="10" y="32"/>
              </a:cxn>
              <a:cxn ang="0">
                <a:pos x="10" y="32"/>
              </a:cxn>
              <a:cxn ang="0">
                <a:pos x="7" y="28"/>
              </a:cxn>
              <a:cxn ang="0">
                <a:pos x="3" y="28"/>
              </a:cxn>
              <a:cxn ang="0">
                <a:pos x="3" y="25"/>
              </a:cxn>
              <a:cxn ang="0">
                <a:pos x="3" y="25"/>
              </a:cxn>
              <a:cxn ang="0">
                <a:pos x="0" y="21"/>
              </a:cxn>
              <a:cxn ang="0">
                <a:pos x="0" y="18"/>
              </a:cxn>
              <a:cxn ang="0">
                <a:pos x="0" y="18"/>
              </a:cxn>
              <a:cxn ang="0">
                <a:pos x="0" y="14"/>
              </a:cxn>
              <a:cxn ang="0">
                <a:pos x="0" y="11"/>
              </a:cxn>
              <a:cxn ang="0">
                <a:pos x="3" y="11"/>
              </a:cxn>
              <a:cxn ang="0">
                <a:pos x="3" y="7"/>
              </a:cxn>
              <a:cxn ang="0">
                <a:pos x="3" y="4"/>
              </a:cxn>
              <a:cxn ang="0">
                <a:pos x="7" y="4"/>
              </a:cxn>
              <a:cxn ang="0">
                <a:pos x="10" y="4"/>
              </a:cxn>
              <a:cxn ang="0">
                <a:pos x="10" y="0"/>
              </a:cxn>
              <a:cxn ang="0">
                <a:pos x="14" y="0"/>
              </a:cxn>
              <a:cxn ang="0">
                <a:pos x="17" y="0"/>
              </a:cxn>
              <a:cxn ang="0">
                <a:pos x="17" y="0"/>
              </a:cxn>
              <a:cxn ang="0">
                <a:pos x="21" y="0"/>
              </a:cxn>
              <a:cxn ang="0">
                <a:pos x="25" y="4"/>
              </a:cxn>
              <a:cxn ang="0">
                <a:pos x="25" y="4"/>
              </a:cxn>
              <a:cxn ang="0">
                <a:pos x="28" y="4"/>
              </a:cxn>
              <a:cxn ang="0">
                <a:pos x="28" y="7"/>
              </a:cxn>
              <a:cxn ang="0">
                <a:pos x="32" y="11"/>
              </a:cxn>
              <a:cxn ang="0">
                <a:pos x="32" y="11"/>
              </a:cxn>
              <a:cxn ang="0">
                <a:pos x="32" y="14"/>
              </a:cxn>
              <a:cxn ang="0">
                <a:pos x="32" y="18"/>
              </a:cxn>
              <a:cxn ang="0">
                <a:pos x="32" y="14"/>
              </a:cxn>
            </a:cxnLst>
            <a:rect l="0" t="0" r="r" b="b"/>
            <a:pathLst>
              <a:path w="32" h="32">
                <a:moveTo>
                  <a:pt x="32" y="14"/>
                </a:moveTo>
                <a:lnTo>
                  <a:pt x="32" y="18"/>
                </a:lnTo>
                <a:lnTo>
                  <a:pt x="32" y="21"/>
                </a:lnTo>
                <a:lnTo>
                  <a:pt x="32" y="25"/>
                </a:lnTo>
                <a:lnTo>
                  <a:pt x="28" y="25"/>
                </a:lnTo>
                <a:lnTo>
                  <a:pt x="28" y="28"/>
                </a:lnTo>
                <a:lnTo>
                  <a:pt x="25" y="28"/>
                </a:lnTo>
                <a:lnTo>
                  <a:pt x="25" y="32"/>
                </a:lnTo>
                <a:lnTo>
                  <a:pt x="21" y="32"/>
                </a:lnTo>
                <a:lnTo>
                  <a:pt x="17" y="32"/>
                </a:lnTo>
                <a:lnTo>
                  <a:pt x="17" y="32"/>
                </a:lnTo>
                <a:lnTo>
                  <a:pt x="14" y="32"/>
                </a:lnTo>
                <a:lnTo>
                  <a:pt x="10" y="32"/>
                </a:lnTo>
                <a:lnTo>
                  <a:pt x="10" y="32"/>
                </a:lnTo>
                <a:lnTo>
                  <a:pt x="7" y="28"/>
                </a:lnTo>
                <a:lnTo>
                  <a:pt x="3" y="28"/>
                </a:lnTo>
                <a:lnTo>
                  <a:pt x="3" y="25"/>
                </a:lnTo>
                <a:lnTo>
                  <a:pt x="3" y="25"/>
                </a:lnTo>
                <a:lnTo>
                  <a:pt x="0" y="21"/>
                </a:lnTo>
                <a:lnTo>
                  <a:pt x="0" y="18"/>
                </a:lnTo>
                <a:lnTo>
                  <a:pt x="0" y="18"/>
                </a:lnTo>
                <a:lnTo>
                  <a:pt x="0" y="14"/>
                </a:lnTo>
                <a:lnTo>
                  <a:pt x="0" y="11"/>
                </a:lnTo>
                <a:lnTo>
                  <a:pt x="3" y="11"/>
                </a:lnTo>
                <a:lnTo>
                  <a:pt x="3" y="7"/>
                </a:lnTo>
                <a:lnTo>
                  <a:pt x="3" y="4"/>
                </a:lnTo>
                <a:lnTo>
                  <a:pt x="7" y="4"/>
                </a:lnTo>
                <a:lnTo>
                  <a:pt x="10" y="4"/>
                </a:lnTo>
                <a:lnTo>
                  <a:pt x="10" y="0"/>
                </a:lnTo>
                <a:lnTo>
                  <a:pt x="14" y="0"/>
                </a:lnTo>
                <a:lnTo>
                  <a:pt x="17" y="0"/>
                </a:lnTo>
                <a:lnTo>
                  <a:pt x="17" y="0"/>
                </a:lnTo>
                <a:lnTo>
                  <a:pt x="21" y="0"/>
                </a:lnTo>
                <a:lnTo>
                  <a:pt x="25" y="4"/>
                </a:lnTo>
                <a:lnTo>
                  <a:pt x="25" y="4"/>
                </a:lnTo>
                <a:lnTo>
                  <a:pt x="28" y="4"/>
                </a:lnTo>
                <a:lnTo>
                  <a:pt x="28" y="7"/>
                </a:lnTo>
                <a:lnTo>
                  <a:pt x="32" y="11"/>
                </a:lnTo>
                <a:lnTo>
                  <a:pt x="32" y="11"/>
                </a:lnTo>
                <a:lnTo>
                  <a:pt x="32" y="14"/>
                </a:lnTo>
                <a:lnTo>
                  <a:pt x="32" y="18"/>
                </a:lnTo>
                <a:lnTo>
                  <a:pt x="32" y="14"/>
                </a:lnTo>
                <a:close/>
              </a:path>
            </a:pathLst>
          </a:custGeom>
          <a:solidFill>
            <a:srgbClr val="000000"/>
          </a:solidFill>
          <a:ln w="9525">
            <a:noFill/>
            <a:round/>
            <a:headEnd/>
            <a:tailEnd/>
          </a:ln>
        </p:spPr>
        <p:txBody>
          <a:bodyPr/>
          <a:lstStyle/>
          <a:p>
            <a:endParaRPr lang="zh-CN" altLang="en-US"/>
          </a:p>
        </p:txBody>
      </p:sp>
      <p:sp>
        <p:nvSpPr>
          <p:cNvPr id="58" name="Freeform 56"/>
          <p:cNvSpPr>
            <a:spLocks/>
          </p:cNvSpPr>
          <p:nvPr/>
        </p:nvSpPr>
        <p:spPr bwMode="auto">
          <a:xfrm>
            <a:off x="2870573" y="2161630"/>
            <a:ext cx="50800" cy="50800"/>
          </a:xfrm>
          <a:custGeom>
            <a:avLst/>
            <a:gdLst/>
            <a:ahLst/>
            <a:cxnLst>
              <a:cxn ang="0">
                <a:pos x="32" y="14"/>
              </a:cxn>
              <a:cxn ang="0">
                <a:pos x="32" y="14"/>
              </a:cxn>
              <a:cxn ang="0">
                <a:pos x="32" y="11"/>
              </a:cxn>
              <a:cxn ang="0">
                <a:pos x="32" y="11"/>
              </a:cxn>
              <a:cxn ang="0">
                <a:pos x="28" y="7"/>
              </a:cxn>
              <a:cxn ang="0">
                <a:pos x="28" y="4"/>
              </a:cxn>
              <a:cxn ang="0">
                <a:pos x="25" y="4"/>
              </a:cxn>
              <a:cxn ang="0">
                <a:pos x="25" y="4"/>
              </a:cxn>
              <a:cxn ang="0">
                <a:pos x="21" y="0"/>
              </a:cxn>
              <a:cxn ang="0">
                <a:pos x="17" y="0"/>
              </a:cxn>
              <a:cxn ang="0">
                <a:pos x="17" y="0"/>
              </a:cxn>
              <a:cxn ang="0">
                <a:pos x="14" y="0"/>
              </a:cxn>
              <a:cxn ang="0">
                <a:pos x="10" y="0"/>
              </a:cxn>
              <a:cxn ang="0">
                <a:pos x="10" y="4"/>
              </a:cxn>
              <a:cxn ang="0">
                <a:pos x="7" y="4"/>
              </a:cxn>
              <a:cxn ang="0">
                <a:pos x="3" y="4"/>
              </a:cxn>
              <a:cxn ang="0">
                <a:pos x="3" y="7"/>
              </a:cxn>
              <a:cxn ang="0">
                <a:pos x="3" y="11"/>
              </a:cxn>
              <a:cxn ang="0">
                <a:pos x="0" y="11"/>
              </a:cxn>
              <a:cxn ang="0">
                <a:pos x="0" y="14"/>
              </a:cxn>
              <a:cxn ang="0">
                <a:pos x="0" y="18"/>
              </a:cxn>
              <a:cxn ang="0">
                <a:pos x="0" y="18"/>
              </a:cxn>
              <a:cxn ang="0">
                <a:pos x="0" y="21"/>
              </a:cxn>
              <a:cxn ang="0">
                <a:pos x="3" y="25"/>
              </a:cxn>
              <a:cxn ang="0">
                <a:pos x="3" y="25"/>
              </a:cxn>
              <a:cxn ang="0">
                <a:pos x="3" y="28"/>
              </a:cxn>
              <a:cxn ang="0">
                <a:pos x="7" y="28"/>
              </a:cxn>
              <a:cxn ang="0">
                <a:pos x="10" y="32"/>
              </a:cxn>
              <a:cxn ang="0">
                <a:pos x="10" y="32"/>
              </a:cxn>
              <a:cxn ang="0">
                <a:pos x="14" y="32"/>
              </a:cxn>
              <a:cxn ang="0">
                <a:pos x="17" y="32"/>
              </a:cxn>
              <a:cxn ang="0">
                <a:pos x="17" y="32"/>
              </a:cxn>
              <a:cxn ang="0">
                <a:pos x="21" y="32"/>
              </a:cxn>
              <a:cxn ang="0">
                <a:pos x="25" y="32"/>
              </a:cxn>
              <a:cxn ang="0">
                <a:pos x="25" y="28"/>
              </a:cxn>
              <a:cxn ang="0">
                <a:pos x="28" y="28"/>
              </a:cxn>
              <a:cxn ang="0">
                <a:pos x="28" y="25"/>
              </a:cxn>
              <a:cxn ang="0">
                <a:pos x="32" y="25"/>
              </a:cxn>
              <a:cxn ang="0">
                <a:pos x="32" y="21"/>
              </a:cxn>
              <a:cxn ang="0">
                <a:pos x="32" y="18"/>
              </a:cxn>
              <a:cxn ang="0">
                <a:pos x="32" y="18"/>
              </a:cxn>
              <a:cxn ang="0">
                <a:pos x="32" y="18"/>
              </a:cxn>
            </a:cxnLst>
            <a:rect l="0" t="0" r="r" b="b"/>
            <a:pathLst>
              <a:path w="32" h="32">
                <a:moveTo>
                  <a:pt x="32" y="14"/>
                </a:moveTo>
                <a:lnTo>
                  <a:pt x="32" y="14"/>
                </a:lnTo>
                <a:lnTo>
                  <a:pt x="32" y="11"/>
                </a:lnTo>
                <a:lnTo>
                  <a:pt x="32" y="11"/>
                </a:lnTo>
                <a:lnTo>
                  <a:pt x="28" y="7"/>
                </a:lnTo>
                <a:lnTo>
                  <a:pt x="28" y="4"/>
                </a:lnTo>
                <a:lnTo>
                  <a:pt x="25" y="4"/>
                </a:lnTo>
                <a:lnTo>
                  <a:pt x="25" y="4"/>
                </a:lnTo>
                <a:lnTo>
                  <a:pt x="21" y="0"/>
                </a:lnTo>
                <a:lnTo>
                  <a:pt x="17" y="0"/>
                </a:lnTo>
                <a:lnTo>
                  <a:pt x="17" y="0"/>
                </a:lnTo>
                <a:lnTo>
                  <a:pt x="14" y="0"/>
                </a:lnTo>
                <a:lnTo>
                  <a:pt x="10" y="0"/>
                </a:lnTo>
                <a:lnTo>
                  <a:pt x="10" y="4"/>
                </a:lnTo>
                <a:lnTo>
                  <a:pt x="7" y="4"/>
                </a:lnTo>
                <a:lnTo>
                  <a:pt x="3" y="4"/>
                </a:lnTo>
                <a:lnTo>
                  <a:pt x="3" y="7"/>
                </a:lnTo>
                <a:lnTo>
                  <a:pt x="3" y="11"/>
                </a:lnTo>
                <a:lnTo>
                  <a:pt x="0" y="11"/>
                </a:lnTo>
                <a:lnTo>
                  <a:pt x="0" y="14"/>
                </a:lnTo>
                <a:lnTo>
                  <a:pt x="0" y="18"/>
                </a:lnTo>
                <a:lnTo>
                  <a:pt x="0" y="18"/>
                </a:lnTo>
                <a:lnTo>
                  <a:pt x="0" y="21"/>
                </a:lnTo>
                <a:lnTo>
                  <a:pt x="3" y="25"/>
                </a:lnTo>
                <a:lnTo>
                  <a:pt x="3" y="25"/>
                </a:lnTo>
                <a:lnTo>
                  <a:pt x="3" y="28"/>
                </a:lnTo>
                <a:lnTo>
                  <a:pt x="7" y="28"/>
                </a:lnTo>
                <a:lnTo>
                  <a:pt x="10" y="32"/>
                </a:lnTo>
                <a:lnTo>
                  <a:pt x="10" y="32"/>
                </a:lnTo>
                <a:lnTo>
                  <a:pt x="14" y="32"/>
                </a:lnTo>
                <a:lnTo>
                  <a:pt x="17" y="32"/>
                </a:lnTo>
                <a:lnTo>
                  <a:pt x="17" y="32"/>
                </a:lnTo>
                <a:lnTo>
                  <a:pt x="21" y="32"/>
                </a:lnTo>
                <a:lnTo>
                  <a:pt x="25" y="32"/>
                </a:lnTo>
                <a:lnTo>
                  <a:pt x="25" y="28"/>
                </a:lnTo>
                <a:lnTo>
                  <a:pt x="28" y="28"/>
                </a:lnTo>
                <a:lnTo>
                  <a:pt x="28" y="25"/>
                </a:lnTo>
                <a:lnTo>
                  <a:pt x="32" y="25"/>
                </a:lnTo>
                <a:lnTo>
                  <a:pt x="32" y="21"/>
                </a:lnTo>
                <a:lnTo>
                  <a:pt x="32" y="18"/>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59" name="Freeform 57"/>
          <p:cNvSpPr>
            <a:spLocks/>
          </p:cNvSpPr>
          <p:nvPr/>
        </p:nvSpPr>
        <p:spPr bwMode="auto">
          <a:xfrm>
            <a:off x="2248273" y="2369592"/>
            <a:ext cx="50800" cy="55563"/>
          </a:xfrm>
          <a:custGeom>
            <a:avLst/>
            <a:gdLst/>
            <a:ahLst/>
            <a:cxnLst>
              <a:cxn ang="0">
                <a:pos x="28" y="14"/>
              </a:cxn>
              <a:cxn ang="0">
                <a:pos x="32" y="21"/>
              </a:cxn>
              <a:cxn ang="0">
                <a:pos x="32" y="21"/>
              </a:cxn>
              <a:cxn ang="0">
                <a:pos x="28" y="24"/>
              </a:cxn>
              <a:cxn ang="0">
                <a:pos x="28" y="28"/>
              </a:cxn>
              <a:cxn ang="0">
                <a:pos x="28" y="28"/>
              </a:cxn>
              <a:cxn ang="0">
                <a:pos x="25" y="32"/>
              </a:cxn>
              <a:cxn ang="0">
                <a:pos x="21" y="32"/>
              </a:cxn>
              <a:cxn ang="0">
                <a:pos x="21" y="32"/>
              </a:cxn>
              <a:cxn ang="0">
                <a:pos x="18" y="32"/>
              </a:cxn>
              <a:cxn ang="0">
                <a:pos x="14" y="35"/>
              </a:cxn>
              <a:cxn ang="0">
                <a:pos x="11" y="32"/>
              </a:cxn>
              <a:cxn ang="0">
                <a:pos x="11" y="32"/>
              </a:cxn>
              <a:cxn ang="0">
                <a:pos x="7" y="32"/>
              </a:cxn>
              <a:cxn ang="0">
                <a:pos x="4" y="32"/>
              </a:cxn>
              <a:cxn ang="0">
                <a:pos x="4" y="28"/>
              </a:cxn>
              <a:cxn ang="0">
                <a:pos x="0" y="28"/>
              </a:cxn>
              <a:cxn ang="0">
                <a:pos x="0" y="24"/>
              </a:cxn>
              <a:cxn ang="0">
                <a:pos x="0" y="21"/>
              </a:cxn>
              <a:cxn ang="0">
                <a:pos x="0" y="21"/>
              </a:cxn>
              <a:cxn ang="0">
                <a:pos x="0" y="17"/>
              </a:cxn>
              <a:cxn ang="0">
                <a:pos x="0" y="14"/>
              </a:cxn>
              <a:cxn ang="0">
                <a:pos x="0" y="10"/>
              </a:cxn>
              <a:cxn ang="0">
                <a:pos x="0" y="10"/>
              </a:cxn>
              <a:cxn ang="0">
                <a:pos x="0" y="7"/>
              </a:cxn>
              <a:cxn ang="0">
                <a:pos x="4" y="7"/>
              </a:cxn>
              <a:cxn ang="0">
                <a:pos x="4" y="3"/>
              </a:cxn>
              <a:cxn ang="0">
                <a:pos x="7" y="3"/>
              </a:cxn>
              <a:cxn ang="0">
                <a:pos x="11" y="0"/>
              </a:cxn>
              <a:cxn ang="0">
                <a:pos x="11" y="0"/>
              </a:cxn>
              <a:cxn ang="0">
                <a:pos x="14" y="0"/>
              </a:cxn>
              <a:cxn ang="0">
                <a:pos x="18" y="0"/>
              </a:cxn>
              <a:cxn ang="0">
                <a:pos x="21" y="0"/>
              </a:cxn>
              <a:cxn ang="0">
                <a:pos x="21" y="3"/>
              </a:cxn>
              <a:cxn ang="0">
                <a:pos x="25" y="3"/>
              </a:cxn>
              <a:cxn ang="0">
                <a:pos x="28" y="7"/>
              </a:cxn>
              <a:cxn ang="0">
                <a:pos x="28" y="7"/>
              </a:cxn>
              <a:cxn ang="0">
                <a:pos x="28" y="10"/>
              </a:cxn>
              <a:cxn ang="0">
                <a:pos x="32" y="10"/>
              </a:cxn>
              <a:cxn ang="0">
                <a:pos x="32" y="14"/>
              </a:cxn>
              <a:cxn ang="0">
                <a:pos x="32" y="17"/>
              </a:cxn>
              <a:cxn ang="0">
                <a:pos x="28" y="14"/>
              </a:cxn>
            </a:cxnLst>
            <a:rect l="0" t="0" r="r" b="b"/>
            <a:pathLst>
              <a:path w="32" h="35">
                <a:moveTo>
                  <a:pt x="28" y="14"/>
                </a:moveTo>
                <a:lnTo>
                  <a:pt x="32" y="21"/>
                </a:lnTo>
                <a:lnTo>
                  <a:pt x="32" y="21"/>
                </a:lnTo>
                <a:lnTo>
                  <a:pt x="28" y="24"/>
                </a:lnTo>
                <a:lnTo>
                  <a:pt x="28" y="28"/>
                </a:lnTo>
                <a:lnTo>
                  <a:pt x="28" y="28"/>
                </a:lnTo>
                <a:lnTo>
                  <a:pt x="25" y="32"/>
                </a:lnTo>
                <a:lnTo>
                  <a:pt x="21" y="32"/>
                </a:lnTo>
                <a:lnTo>
                  <a:pt x="21" y="32"/>
                </a:lnTo>
                <a:lnTo>
                  <a:pt x="18" y="32"/>
                </a:lnTo>
                <a:lnTo>
                  <a:pt x="14" y="35"/>
                </a:lnTo>
                <a:lnTo>
                  <a:pt x="11" y="32"/>
                </a:lnTo>
                <a:lnTo>
                  <a:pt x="11" y="32"/>
                </a:lnTo>
                <a:lnTo>
                  <a:pt x="7" y="32"/>
                </a:lnTo>
                <a:lnTo>
                  <a:pt x="4" y="32"/>
                </a:lnTo>
                <a:lnTo>
                  <a:pt x="4" y="28"/>
                </a:lnTo>
                <a:lnTo>
                  <a:pt x="0" y="28"/>
                </a:lnTo>
                <a:lnTo>
                  <a:pt x="0" y="24"/>
                </a:lnTo>
                <a:lnTo>
                  <a:pt x="0" y="21"/>
                </a:lnTo>
                <a:lnTo>
                  <a:pt x="0" y="21"/>
                </a:lnTo>
                <a:lnTo>
                  <a:pt x="0" y="17"/>
                </a:lnTo>
                <a:lnTo>
                  <a:pt x="0" y="14"/>
                </a:lnTo>
                <a:lnTo>
                  <a:pt x="0" y="10"/>
                </a:lnTo>
                <a:lnTo>
                  <a:pt x="0" y="10"/>
                </a:lnTo>
                <a:lnTo>
                  <a:pt x="0" y="7"/>
                </a:lnTo>
                <a:lnTo>
                  <a:pt x="4" y="7"/>
                </a:lnTo>
                <a:lnTo>
                  <a:pt x="4" y="3"/>
                </a:lnTo>
                <a:lnTo>
                  <a:pt x="7" y="3"/>
                </a:lnTo>
                <a:lnTo>
                  <a:pt x="11" y="0"/>
                </a:lnTo>
                <a:lnTo>
                  <a:pt x="11" y="0"/>
                </a:lnTo>
                <a:lnTo>
                  <a:pt x="14" y="0"/>
                </a:lnTo>
                <a:lnTo>
                  <a:pt x="18" y="0"/>
                </a:lnTo>
                <a:lnTo>
                  <a:pt x="21" y="0"/>
                </a:lnTo>
                <a:lnTo>
                  <a:pt x="21" y="3"/>
                </a:lnTo>
                <a:lnTo>
                  <a:pt x="25" y="3"/>
                </a:lnTo>
                <a:lnTo>
                  <a:pt x="28" y="7"/>
                </a:lnTo>
                <a:lnTo>
                  <a:pt x="28" y="7"/>
                </a:lnTo>
                <a:lnTo>
                  <a:pt x="28" y="10"/>
                </a:lnTo>
                <a:lnTo>
                  <a:pt x="32" y="10"/>
                </a:lnTo>
                <a:lnTo>
                  <a:pt x="32" y="14"/>
                </a:lnTo>
                <a:lnTo>
                  <a:pt x="32" y="17"/>
                </a:lnTo>
                <a:lnTo>
                  <a:pt x="28" y="14"/>
                </a:lnTo>
                <a:close/>
              </a:path>
            </a:pathLst>
          </a:custGeom>
          <a:solidFill>
            <a:srgbClr val="000000"/>
          </a:solidFill>
          <a:ln w="9525">
            <a:noFill/>
            <a:round/>
            <a:headEnd/>
            <a:tailEnd/>
          </a:ln>
        </p:spPr>
        <p:txBody>
          <a:bodyPr/>
          <a:lstStyle/>
          <a:p>
            <a:endParaRPr lang="zh-CN" altLang="en-US"/>
          </a:p>
        </p:txBody>
      </p:sp>
      <p:sp>
        <p:nvSpPr>
          <p:cNvPr id="60" name="Freeform 58"/>
          <p:cNvSpPr>
            <a:spLocks/>
          </p:cNvSpPr>
          <p:nvPr/>
        </p:nvSpPr>
        <p:spPr bwMode="auto">
          <a:xfrm>
            <a:off x="2248273" y="2369592"/>
            <a:ext cx="50800" cy="55563"/>
          </a:xfrm>
          <a:custGeom>
            <a:avLst/>
            <a:gdLst/>
            <a:ahLst/>
            <a:cxnLst>
              <a:cxn ang="0">
                <a:pos x="28" y="14"/>
              </a:cxn>
              <a:cxn ang="0">
                <a:pos x="32" y="14"/>
              </a:cxn>
              <a:cxn ang="0">
                <a:pos x="32" y="10"/>
              </a:cxn>
              <a:cxn ang="0">
                <a:pos x="28" y="10"/>
              </a:cxn>
              <a:cxn ang="0">
                <a:pos x="28" y="7"/>
              </a:cxn>
              <a:cxn ang="0">
                <a:pos x="28" y="7"/>
              </a:cxn>
              <a:cxn ang="0">
                <a:pos x="25" y="3"/>
              </a:cxn>
              <a:cxn ang="0">
                <a:pos x="21" y="3"/>
              </a:cxn>
              <a:cxn ang="0">
                <a:pos x="21" y="0"/>
              </a:cxn>
              <a:cxn ang="0">
                <a:pos x="18" y="0"/>
              </a:cxn>
              <a:cxn ang="0">
                <a:pos x="14" y="0"/>
              </a:cxn>
              <a:cxn ang="0">
                <a:pos x="11" y="0"/>
              </a:cxn>
              <a:cxn ang="0">
                <a:pos x="11" y="0"/>
              </a:cxn>
              <a:cxn ang="0">
                <a:pos x="7" y="3"/>
              </a:cxn>
              <a:cxn ang="0">
                <a:pos x="4" y="3"/>
              </a:cxn>
              <a:cxn ang="0">
                <a:pos x="4" y="7"/>
              </a:cxn>
              <a:cxn ang="0">
                <a:pos x="0" y="7"/>
              </a:cxn>
              <a:cxn ang="0">
                <a:pos x="0" y="10"/>
              </a:cxn>
              <a:cxn ang="0">
                <a:pos x="0" y="10"/>
              </a:cxn>
              <a:cxn ang="0">
                <a:pos x="0" y="14"/>
              </a:cxn>
              <a:cxn ang="0">
                <a:pos x="0" y="17"/>
              </a:cxn>
              <a:cxn ang="0">
                <a:pos x="0" y="21"/>
              </a:cxn>
              <a:cxn ang="0">
                <a:pos x="0" y="21"/>
              </a:cxn>
              <a:cxn ang="0">
                <a:pos x="0" y="24"/>
              </a:cxn>
              <a:cxn ang="0">
                <a:pos x="0" y="28"/>
              </a:cxn>
              <a:cxn ang="0">
                <a:pos x="4" y="28"/>
              </a:cxn>
              <a:cxn ang="0">
                <a:pos x="4" y="32"/>
              </a:cxn>
              <a:cxn ang="0">
                <a:pos x="7" y="32"/>
              </a:cxn>
              <a:cxn ang="0">
                <a:pos x="11" y="32"/>
              </a:cxn>
              <a:cxn ang="0">
                <a:pos x="11" y="32"/>
              </a:cxn>
              <a:cxn ang="0">
                <a:pos x="14" y="35"/>
              </a:cxn>
              <a:cxn ang="0">
                <a:pos x="18" y="32"/>
              </a:cxn>
              <a:cxn ang="0">
                <a:pos x="21" y="32"/>
              </a:cxn>
              <a:cxn ang="0">
                <a:pos x="21" y="32"/>
              </a:cxn>
              <a:cxn ang="0">
                <a:pos x="25" y="32"/>
              </a:cxn>
              <a:cxn ang="0">
                <a:pos x="28" y="28"/>
              </a:cxn>
              <a:cxn ang="0">
                <a:pos x="28" y="28"/>
              </a:cxn>
              <a:cxn ang="0">
                <a:pos x="28" y="24"/>
              </a:cxn>
              <a:cxn ang="0">
                <a:pos x="32" y="21"/>
              </a:cxn>
              <a:cxn ang="0">
                <a:pos x="32" y="21"/>
              </a:cxn>
              <a:cxn ang="0">
                <a:pos x="32" y="17"/>
              </a:cxn>
              <a:cxn ang="0">
                <a:pos x="32" y="17"/>
              </a:cxn>
            </a:cxnLst>
            <a:rect l="0" t="0" r="r" b="b"/>
            <a:pathLst>
              <a:path w="32" h="35">
                <a:moveTo>
                  <a:pt x="28" y="14"/>
                </a:moveTo>
                <a:lnTo>
                  <a:pt x="32" y="14"/>
                </a:lnTo>
                <a:lnTo>
                  <a:pt x="32" y="10"/>
                </a:lnTo>
                <a:lnTo>
                  <a:pt x="28" y="10"/>
                </a:lnTo>
                <a:lnTo>
                  <a:pt x="28" y="7"/>
                </a:lnTo>
                <a:lnTo>
                  <a:pt x="28" y="7"/>
                </a:lnTo>
                <a:lnTo>
                  <a:pt x="25" y="3"/>
                </a:lnTo>
                <a:lnTo>
                  <a:pt x="21" y="3"/>
                </a:lnTo>
                <a:lnTo>
                  <a:pt x="21" y="0"/>
                </a:lnTo>
                <a:lnTo>
                  <a:pt x="18" y="0"/>
                </a:lnTo>
                <a:lnTo>
                  <a:pt x="14" y="0"/>
                </a:lnTo>
                <a:lnTo>
                  <a:pt x="11" y="0"/>
                </a:lnTo>
                <a:lnTo>
                  <a:pt x="11" y="0"/>
                </a:lnTo>
                <a:lnTo>
                  <a:pt x="7" y="3"/>
                </a:lnTo>
                <a:lnTo>
                  <a:pt x="4" y="3"/>
                </a:lnTo>
                <a:lnTo>
                  <a:pt x="4" y="7"/>
                </a:lnTo>
                <a:lnTo>
                  <a:pt x="0" y="7"/>
                </a:lnTo>
                <a:lnTo>
                  <a:pt x="0" y="10"/>
                </a:lnTo>
                <a:lnTo>
                  <a:pt x="0" y="10"/>
                </a:lnTo>
                <a:lnTo>
                  <a:pt x="0" y="14"/>
                </a:lnTo>
                <a:lnTo>
                  <a:pt x="0" y="17"/>
                </a:lnTo>
                <a:lnTo>
                  <a:pt x="0" y="21"/>
                </a:lnTo>
                <a:lnTo>
                  <a:pt x="0" y="21"/>
                </a:lnTo>
                <a:lnTo>
                  <a:pt x="0" y="24"/>
                </a:lnTo>
                <a:lnTo>
                  <a:pt x="0" y="28"/>
                </a:lnTo>
                <a:lnTo>
                  <a:pt x="4" y="28"/>
                </a:lnTo>
                <a:lnTo>
                  <a:pt x="4" y="32"/>
                </a:lnTo>
                <a:lnTo>
                  <a:pt x="7" y="32"/>
                </a:lnTo>
                <a:lnTo>
                  <a:pt x="11" y="32"/>
                </a:lnTo>
                <a:lnTo>
                  <a:pt x="11" y="32"/>
                </a:lnTo>
                <a:lnTo>
                  <a:pt x="14" y="35"/>
                </a:lnTo>
                <a:lnTo>
                  <a:pt x="18" y="32"/>
                </a:lnTo>
                <a:lnTo>
                  <a:pt x="21" y="32"/>
                </a:lnTo>
                <a:lnTo>
                  <a:pt x="21" y="32"/>
                </a:lnTo>
                <a:lnTo>
                  <a:pt x="25" y="32"/>
                </a:lnTo>
                <a:lnTo>
                  <a:pt x="28" y="28"/>
                </a:lnTo>
                <a:lnTo>
                  <a:pt x="28" y="28"/>
                </a:lnTo>
                <a:lnTo>
                  <a:pt x="28" y="24"/>
                </a:lnTo>
                <a:lnTo>
                  <a:pt x="32" y="21"/>
                </a:lnTo>
                <a:lnTo>
                  <a:pt x="32" y="21"/>
                </a:lnTo>
                <a:lnTo>
                  <a:pt x="32" y="17"/>
                </a:lnTo>
                <a:lnTo>
                  <a:pt x="32" y="17"/>
                </a:lnTo>
              </a:path>
            </a:pathLst>
          </a:custGeom>
          <a:noFill/>
          <a:ln w="11113">
            <a:solidFill>
              <a:srgbClr val="000000"/>
            </a:solidFill>
            <a:prstDash val="solid"/>
            <a:round/>
            <a:headEnd/>
            <a:tailEnd/>
          </a:ln>
        </p:spPr>
        <p:txBody>
          <a:bodyPr/>
          <a:lstStyle/>
          <a:p>
            <a:endParaRPr lang="zh-CN" altLang="en-US"/>
          </a:p>
        </p:txBody>
      </p:sp>
      <p:sp>
        <p:nvSpPr>
          <p:cNvPr id="61" name="Freeform 59"/>
          <p:cNvSpPr>
            <a:spLocks/>
          </p:cNvSpPr>
          <p:nvPr/>
        </p:nvSpPr>
        <p:spPr bwMode="auto">
          <a:xfrm>
            <a:off x="2349873" y="2369592"/>
            <a:ext cx="49213" cy="55563"/>
          </a:xfrm>
          <a:custGeom>
            <a:avLst/>
            <a:gdLst/>
            <a:ahLst/>
            <a:cxnLst>
              <a:cxn ang="0">
                <a:pos x="31" y="14"/>
              </a:cxn>
              <a:cxn ang="0">
                <a:pos x="31" y="21"/>
              </a:cxn>
              <a:cxn ang="0">
                <a:pos x="31" y="21"/>
              </a:cxn>
              <a:cxn ang="0">
                <a:pos x="31" y="24"/>
              </a:cxn>
              <a:cxn ang="0">
                <a:pos x="28" y="28"/>
              </a:cxn>
              <a:cxn ang="0">
                <a:pos x="28" y="28"/>
              </a:cxn>
              <a:cxn ang="0">
                <a:pos x="24" y="32"/>
              </a:cxn>
              <a:cxn ang="0">
                <a:pos x="24" y="32"/>
              </a:cxn>
              <a:cxn ang="0">
                <a:pos x="21" y="32"/>
              </a:cxn>
              <a:cxn ang="0">
                <a:pos x="17" y="32"/>
              </a:cxn>
              <a:cxn ang="0">
                <a:pos x="17" y="35"/>
              </a:cxn>
              <a:cxn ang="0">
                <a:pos x="14" y="32"/>
              </a:cxn>
              <a:cxn ang="0">
                <a:pos x="10" y="32"/>
              </a:cxn>
              <a:cxn ang="0">
                <a:pos x="10" y="32"/>
              </a:cxn>
              <a:cxn ang="0">
                <a:pos x="7" y="32"/>
              </a:cxn>
              <a:cxn ang="0">
                <a:pos x="3" y="28"/>
              </a:cxn>
              <a:cxn ang="0">
                <a:pos x="3" y="28"/>
              </a:cxn>
              <a:cxn ang="0">
                <a:pos x="3" y="24"/>
              </a:cxn>
              <a:cxn ang="0">
                <a:pos x="0" y="21"/>
              </a:cxn>
              <a:cxn ang="0">
                <a:pos x="0" y="21"/>
              </a:cxn>
              <a:cxn ang="0">
                <a:pos x="0" y="17"/>
              </a:cxn>
              <a:cxn ang="0">
                <a:pos x="0" y="14"/>
              </a:cxn>
              <a:cxn ang="0">
                <a:pos x="0" y="10"/>
              </a:cxn>
              <a:cxn ang="0">
                <a:pos x="3" y="10"/>
              </a:cxn>
              <a:cxn ang="0">
                <a:pos x="3" y="7"/>
              </a:cxn>
              <a:cxn ang="0">
                <a:pos x="3" y="7"/>
              </a:cxn>
              <a:cxn ang="0">
                <a:pos x="7" y="3"/>
              </a:cxn>
              <a:cxn ang="0">
                <a:pos x="10" y="3"/>
              </a:cxn>
              <a:cxn ang="0">
                <a:pos x="10" y="0"/>
              </a:cxn>
              <a:cxn ang="0">
                <a:pos x="14" y="0"/>
              </a:cxn>
              <a:cxn ang="0">
                <a:pos x="17" y="0"/>
              </a:cxn>
              <a:cxn ang="0">
                <a:pos x="17" y="0"/>
              </a:cxn>
              <a:cxn ang="0">
                <a:pos x="21" y="0"/>
              </a:cxn>
              <a:cxn ang="0">
                <a:pos x="24" y="3"/>
              </a:cxn>
              <a:cxn ang="0">
                <a:pos x="24" y="3"/>
              </a:cxn>
              <a:cxn ang="0">
                <a:pos x="28" y="7"/>
              </a:cxn>
              <a:cxn ang="0">
                <a:pos x="28" y="7"/>
              </a:cxn>
              <a:cxn ang="0">
                <a:pos x="31" y="10"/>
              </a:cxn>
              <a:cxn ang="0">
                <a:pos x="31" y="10"/>
              </a:cxn>
              <a:cxn ang="0">
                <a:pos x="31" y="14"/>
              </a:cxn>
              <a:cxn ang="0">
                <a:pos x="31" y="17"/>
              </a:cxn>
              <a:cxn ang="0">
                <a:pos x="31" y="14"/>
              </a:cxn>
            </a:cxnLst>
            <a:rect l="0" t="0" r="r" b="b"/>
            <a:pathLst>
              <a:path w="31" h="35">
                <a:moveTo>
                  <a:pt x="31" y="14"/>
                </a:moveTo>
                <a:lnTo>
                  <a:pt x="31" y="21"/>
                </a:lnTo>
                <a:lnTo>
                  <a:pt x="31" y="21"/>
                </a:lnTo>
                <a:lnTo>
                  <a:pt x="31" y="24"/>
                </a:lnTo>
                <a:lnTo>
                  <a:pt x="28" y="28"/>
                </a:lnTo>
                <a:lnTo>
                  <a:pt x="28" y="28"/>
                </a:lnTo>
                <a:lnTo>
                  <a:pt x="24" y="32"/>
                </a:lnTo>
                <a:lnTo>
                  <a:pt x="24" y="32"/>
                </a:lnTo>
                <a:lnTo>
                  <a:pt x="21" y="32"/>
                </a:lnTo>
                <a:lnTo>
                  <a:pt x="17" y="32"/>
                </a:lnTo>
                <a:lnTo>
                  <a:pt x="17" y="35"/>
                </a:lnTo>
                <a:lnTo>
                  <a:pt x="14" y="32"/>
                </a:lnTo>
                <a:lnTo>
                  <a:pt x="10" y="32"/>
                </a:lnTo>
                <a:lnTo>
                  <a:pt x="10" y="32"/>
                </a:lnTo>
                <a:lnTo>
                  <a:pt x="7" y="32"/>
                </a:lnTo>
                <a:lnTo>
                  <a:pt x="3" y="28"/>
                </a:lnTo>
                <a:lnTo>
                  <a:pt x="3" y="28"/>
                </a:lnTo>
                <a:lnTo>
                  <a:pt x="3" y="24"/>
                </a:lnTo>
                <a:lnTo>
                  <a:pt x="0" y="21"/>
                </a:lnTo>
                <a:lnTo>
                  <a:pt x="0" y="21"/>
                </a:lnTo>
                <a:lnTo>
                  <a:pt x="0" y="17"/>
                </a:lnTo>
                <a:lnTo>
                  <a:pt x="0" y="14"/>
                </a:lnTo>
                <a:lnTo>
                  <a:pt x="0" y="10"/>
                </a:lnTo>
                <a:lnTo>
                  <a:pt x="3" y="10"/>
                </a:lnTo>
                <a:lnTo>
                  <a:pt x="3" y="7"/>
                </a:lnTo>
                <a:lnTo>
                  <a:pt x="3" y="7"/>
                </a:lnTo>
                <a:lnTo>
                  <a:pt x="7" y="3"/>
                </a:lnTo>
                <a:lnTo>
                  <a:pt x="10" y="3"/>
                </a:lnTo>
                <a:lnTo>
                  <a:pt x="10" y="0"/>
                </a:lnTo>
                <a:lnTo>
                  <a:pt x="14" y="0"/>
                </a:lnTo>
                <a:lnTo>
                  <a:pt x="17" y="0"/>
                </a:lnTo>
                <a:lnTo>
                  <a:pt x="17" y="0"/>
                </a:lnTo>
                <a:lnTo>
                  <a:pt x="21" y="0"/>
                </a:lnTo>
                <a:lnTo>
                  <a:pt x="24" y="3"/>
                </a:lnTo>
                <a:lnTo>
                  <a:pt x="24" y="3"/>
                </a:lnTo>
                <a:lnTo>
                  <a:pt x="28" y="7"/>
                </a:lnTo>
                <a:lnTo>
                  <a:pt x="28" y="7"/>
                </a:lnTo>
                <a:lnTo>
                  <a:pt x="31" y="10"/>
                </a:lnTo>
                <a:lnTo>
                  <a:pt x="31" y="10"/>
                </a:lnTo>
                <a:lnTo>
                  <a:pt x="31" y="14"/>
                </a:lnTo>
                <a:lnTo>
                  <a:pt x="31" y="17"/>
                </a:lnTo>
                <a:lnTo>
                  <a:pt x="31" y="14"/>
                </a:lnTo>
                <a:close/>
              </a:path>
            </a:pathLst>
          </a:custGeom>
          <a:solidFill>
            <a:srgbClr val="000000"/>
          </a:solidFill>
          <a:ln w="9525">
            <a:noFill/>
            <a:round/>
            <a:headEnd/>
            <a:tailEnd/>
          </a:ln>
        </p:spPr>
        <p:txBody>
          <a:bodyPr/>
          <a:lstStyle/>
          <a:p>
            <a:endParaRPr lang="zh-CN" altLang="en-US"/>
          </a:p>
        </p:txBody>
      </p:sp>
      <p:sp>
        <p:nvSpPr>
          <p:cNvPr id="62" name="Freeform 60"/>
          <p:cNvSpPr>
            <a:spLocks/>
          </p:cNvSpPr>
          <p:nvPr/>
        </p:nvSpPr>
        <p:spPr bwMode="auto">
          <a:xfrm>
            <a:off x="2349873" y="2369592"/>
            <a:ext cx="49213" cy="55563"/>
          </a:xfrm>
          <a:custGeom>
            <a:avLst/>
            <a:gdLst/>
            <a:ahLst/>
            <a:cxnLst>
              <a:cxn ang="0">
                <a:pos x="31" y="14"/>
              </a:cxn>
              <a:cxn ang="0">
                <a:pos x="31" y="14"/>
              </a:cxn>
              <a:cxn ang="0">
                <a:pos x="31" y="10"/>
              </a:cxn>
              <a:cxn ang="0">
                <a:pos x="31" y="10"/>
              </a:cxn>
              <a:cxn ang="0">
                <a:pos x="28" y="7"/>
              </a:cxn>
              <a:cxn ang="0">
                <a:pos x="28" y="7"/>
              </a:cxn>
              <a:cxn ang="0">
                <a:pos x="24" y="3"/>
              </a:cxn>
              <a:cxn ang="0">
                <a:pos x="24" y="3"/>
              </a:cxn>
              <a:cxn ang="0">
                <a:pos x="21" y="0"/>
              </a:cxn>
              <a:cxn ang="0">
                <a:pos x="17" y="0"/>
              </a:cxn>
              <a:cxn ang="0">
                <a:pos x="17" y="0"/>
              </a:cxn>
              <a:cxn ang="0">
                <a:pos x="14" y="0"/>
              </a:cxn>
              <a:cxn ang="0">
                <a:pos x="10" y="0"/>
              </a:cxn>
              <a:cxn ang="0">
                <a:pos x="10" y="3"/>
              </a:cxn>
              <a:cxn ang="0">
                <a:pos x="7" y="3"/>
              </a:cxn>
              <a:cxn ang="0">
                <a:pos x="3" y="7"/>
              </a:cxn>
              <a:cxn ang="0">
                <a:pos x="3" y="7"/>
              </a:cxn>
              <a:cxn ang="0">
                <a:pos x="3" y="10"/>
              </a:cxn>
              <a:cxn ang="0">
                <a:pos x="0" y="10"/>
              </a:cxn>
              <a:cxn ang="0">
                <a:pos x="0" y="14"/>
              </a:cxn>
              <a:cxn ang="0">
                <a:pos x="0" y="17"/>
              </a:cxn>
              <a:cxn ang="0">
                <a:pos x="0" y="21"/>
              </a:cxn>
              <a:cxn ang="0">
                <a:pos x="0" y="21"/>
              </a:cxn>
              <a:cxn ang="0">
                <a:pos x="3" y="24"/>
              </a:cxn>
              <a:cxn ang="0">
                <a:pos x="3" y="28"/>
              </a:cxn>
              <a:cxn ang="0">
                <a:pos x="3" y="28"/>
              </a:cxn>
              <a:cxn ang="0">
                <a:pos x="7" y="32"/>
              </a:cxn>
              <a:cxn ang="0">
                <a:pos x="10" y="32"/>
              </a:cxn>
              <a:cxn ang="0">
                <a:pos x="10" y="32"/>
              </a:cxn>
              <a:cxn ang="0">
                <a:pos x="14" y="32"/>
              </a:cxn>
              <a:cxn ang="0">
                <a:pos x="17" y="35"/>
              </a:cxn>
              <a:cxn ang="0">
                <a:pos x="17" y="32"/>
              </a:cxn>
              <a:cxn ang="0">
                <a:pos x="21" y="32"/>
              </a:cxn>
              <a:cxn ang="0">
                <a:pos x="24" y="32"/>
              </a:cxn>
              <a:cxn ang="0">
                <a:pos x="24" y="32"/>
              </a:cxn>
              <a:cxn ang="0">
                <a:pos x="28" y="28"/>
              </a:cxn>
              <a:cxn ang="0">
                <a:pos x="28" y="28"/>
              </a:cxn>
              <a:cxn ang="0">
                <a:pos x="31" y="24"/>
              </a:cxn>
              <a:cxn ang="0">
                <a:pos x="31" y="21"/>
              </a:cxn>
              <a:cxn ang="0">
                <a:pos x="31" y="21"/>
              </a:cxn>
              <a:cxn ang="0">
                <a:pos x="31" y="17"/>
              </a:cxn>
              <a:cxn ang="0">
                <a:pos x="31" y="17"/>
              </a:cxn>
            </a:cxnLst>
            <a:rect l="0" t="0" r="r" b="b"/>
            <a:pathLst>
              <a:path w="31" h="35">
                <a:moveTo>
                  <a:pt x="31" y="14"/>
                </a:moveTo>
                <a:lnTo>
                  <a:pt x="31" y="14"/>
                </a:lnTo>
                <a:lnTo>
                  <a:pt x="31" y="10"/>
                </a:lnTo>
                <a:lnTo>
                  <a:pt x="31" y="10"/>
                </a:lnTo>
                <a:lnTo>
                  <a:pt x="28" y="7"/>
                </a:lnTo>
                <a:lnTo>
                  <a:pt x="28" y="7"/>
                </a:lnTo>
                <a:lnTo>
                  <a:pt x="24" y="3"/>
                </a:lnTo>
                <a:lnTo>
                  <a:pt x="24" y="3"/>
                </a:lnTo>
                <a:lnTo>
                  <a:pt x="21" y="0"/>
                </a:lnTo>
                <a:lnTo>
                  <a:pt x="17" y="0"/>
                </a:lnTo>
                <a:lnTo>
                  <a:pt x="17" y="0"/>
                </a:lnTo>
                <a:lnTo>
                  <a:pt x="14" y="0"/>
                </a:lnTo>
                <a:lnTo>
                  <a:pt x="10" y="0"/>
                </a:lnTo>
                <a:lnTo>
                  <a:pt x="10" y="3"/>
                </a:lnTo>
                <a:lnTo>
                  <a:pt x="7" y="3"/>
                </a:lnTo>
                <a:lnTo>
                  <a:pt x="3" y="7"/>
                </a:lnTo>
                <a:lnTo>
                  <a:pt x="3" y="7"/>
                </a:lnTo>
                <a:lnTo>
                  <a:pt x="3" y="10"/>
                </a:lnTo>
                <a:lnTo>
                  <a:pt x="0" y="10"/>
                </a:lnTo>
                <a:lnTo>
                  <a:pt x="0" y="14"/>
                </a:lnTo>
                <a:lnTo>
                  <a:pt x="0" y="17"/>
                </a:lnTo>
                <a:lnTo>
                  <a:pt x="0" y="21"/>
                </a:lnTo>
                <a:lnTo>
                  <a:pt x="0" y="21"/>
                </a:lnTo>
                <a:lnTo>
                  <a:pt x="3" y="24"/>
                </a:lnTo>
                <a:lnTo>
                  <a:pt x="3" y="28"/>
                </a:lnTo>
                <a:lnTo>
                  <a:pt x="3" y="28"/>
                </a:lnTo>
                <a:lnTo>
                  <a:pt x="7" y="32"/>
                </a:lnTo>
                <a:lnTo>
                  <a:pt x="10" y="32"/>
                </a:lnTo>
                <a:lnTo>
                  <a:pt x="10" y="32"/>
                </a:lnTo>
                <a:lnTo>
                  <a:pt x="14" y="32"/>
                </a:lnTo>
                <a:lnTo>
                  <a:pt x="17" y="35"/>
                </a:lnTo>
                <a:lnTo>
                  <a:pt x="17" y="32"/>
                </a:lnTo>
                <a:lnTo>
                  <a:pt x="21" y="32"/>
                </a:lnTo>
                <a:lnTo>
                  <a:pt x="24" y="32"/>
                </a:lnTo>
                <a:lnTo>
                  <a:pt x="24" y="32"/>
                </a:lnTo>
                <a:lnTo>
                  <a:pt x="28" y="28"/>
                </a:lnTo>
                <a:lnTo>
                  <a:pt x="28" y="28"/>
                </a:lnTo>
                <a:lnTo>
                  <a:pt x="31" y="24"/>
                </a:lnTo>
                <a:lnTo>
                  <a:pt x="31" y="21"/>
                </a:lnTo>
                <a:lnTo>
                  <a:pt x="31" y="21"/>
                </a:lnTo>
                <a:lnTo>
                  <a:pt x="31" y="17"/>
                </a:lnTo>
                <a:lnTo>
                  <a:pt x="31" y="17"/>
                </a:lnTo>
              </a:path>
            </a:pathLst>
          </a:custGeom>
          <a:noFill/>
          <a:ln w="11113">
            <a:solidFill>
              <a:srgbClr val="000000"/>
            </a:solidFill>
            <a:prstDash val="solid"/>
            <a:round/>
            <a:headEnd/>
            <a:tailEnd/>
          </a:ln>
        </p:spPr>
        <p:txBody>
          <a:bodyPr/>
          <a:lstStyle/>
          <a:p>
            <a:endParaRPr lang="zh-CN" altLang="en-US"/>
          </a:p>
        </p:txBody>
      </p:sp>
      <p:sp>
        <p:nvSpPr>
          <p:cNvPr id="63" name="Freeform 61"/>
          <p:cNvSpPr>
            <a:spLocks/>
          </p:cNvSpPr>
          <p:nvPr/>
        </p:nvSpPr>
        <p:spPr bwMode="auto">
          <a:xfrm>
            <a:off x="2456235" y="2369592"/>
            <a:ext cx="49213" cy="55563"/>
          </a:xfrm>
          <a:custGeom>
            <a:avLst/>
            <a:gdLst/>
            <a:ahLst/>
            <a:cxnLst>
              <a:cxn ang="0">
                <a:pos x="28" y="14"/>
              </a:cxn>
              <a:cxn ang="0">
                <a:pos x="31" y="21"/>
              </a:cxn>
              <a:cxn ang="0">
                <a:pos x="31" y="21"/>
              </a:cxn>
              <a:cxn ang="0">
                <a:pos x="28" y="24"/>
              </a:cxn>
              <a:cxn ang="0">
                <a:pos x="28" y="28"/>
              </a:cxn>
              <a:cxn ang="0">
                <a:pos x="28" y="28"/>
              </a:cxn>
              <a:cxn ang="0">
                <a:pos x="24" y="32"/>
              </a:cxn>
              <a:cxn ang="0">
                <a:pos x="21" y="32"/>
              </a:cxn>
              <a:cxn ang="0">
                <a:pos x="21" y="32"/>
              </a:cxn>
              <a:cxn ang="0">
                <a:pos x="17" y="32"/>
              </a:cxn>
              <a:cxn ang="0">
                <a:pos x="14" y="35"/>
              </a:cxn>
              <a:cxn ang="0">
                <a:pos x="10" y="32"/>
              </a:cxn>
              <a:cxn ang="0">
                <a:pos x="10" y="32"/>
              </a:cxn>
              <a:cxn ang="0">
                <a:pos x="7" y="32"/>
              </a:cxn>
              <a:cxn ang="0">
                <a:pos x="3" y="32"/>
              </a:cxn>
              <a:cxn ang="0">
                <a:pos x="3" y="28"/>
              </a:cxn>
              <a:cxn ang="0">
                <a:pos x="0" y="28"/>
              </a:cxn>
              <a:cxn ang="0">
                <a:pos x="0" y="24"/>
              </a:cxn>
              <a:cxn ang="0">
                <a:pos x="0" y="21"/>
              </a:cxn>
              <a:cxn ang="0">
                <a:pos x="0" y="21"/>
              </a:cxn>
              <a:cxn ang="0">
                <a:pos x="0" y="17"/>
              </a:cxn>
              <a:cxn ang="0">
                <a:pos x="0" y="14"/>
              </a:cxn>
              <a:cxn ang="0">
                <a:pos x="0" y="10"/>
              </a:cxn>
              <a:cxn ang="0">
                <a:pos x="0" y="10"/>
              </a:cxn>
              <a:cxn ang="0">
                <a:pos x="0" y="7"/>
              </a:cxn>
              <a:cxn ang="0">
                <a:pos x="3" y="7"/>
              </a:cxn>
              <a:cxn ang="0">
                <a:pos x="3" y="3"/>
              </a:cxn>
              <a:cxn ang="0">
                <a:pos x="7" y="3"/>
              </a:cxn>
              <a:cxn ang="0">
                <a:pos x="10" y="0"/>
              </a:cxn>
              <a:cxn ang="0">
                <a:pos x="10" y="0"/>
              </a:cxn>
              <a:cxn ang="0">
                <a:pos x="14" y="0"/>
              </a:cxn>
              <a:cxn ang="0">
                <a:pos x="17" y="0"/>
              </a:cxn>
              <a:cxn ang="0">
                <a:pos x="21" y="0"/>
              </a:cxn>
              <a:cxn ang="0">
                <a:pos x="21" y="3"/>
              </a:cxn>
              <a:cxn ang="0">
                <a:pos x="24" y="3"/>
              </a:cxn>
              <a:cxn ang="0">
                <a:pos x="28" y="7"/>
              </a:cxn>
              <a:cxn ang="0">
                <a:pos x="28" y="7"/>
              </a:cxn>
              <a:cxn ang="0">
                <a:pos x="28" y="10"/>
              </a:cxn>
              <a:cxn ang="0">
                <a:pos x="31" y="10"/>
              </a:cxn>
              <a:cxn ang="0">
                <a:pos x="31" y="14"/>
              </a:cxn>
              <a:cxn ang="0">
                <a:pos x="31" y="17"/>
              </a:cxn>
              <a:cxn ang="0">
                <a:pos x="28" y="14"/>
              </a:cxn>
            </a:cxnLst>
            <a:rect l="0" t="0" r="r" b="b"/>
            <a:pathLst>
              <a:path w="31" h="35">
                <a:moveTo>
                  <a:pt x="28" y="14"/>
                </a:moveTo>
                <a:lnTo>
                  <a:pt x="31" y="21"/>
                </a:lnTo>
                <a:lnTo>
                  <a:pt x="31" y="21"/>
                </a:lnTo>
                <a:lnTo>
                  <a:pt x="28" y="24"/>
                </a:lnTo>
                <a:lnTo>
                  <a:pt x="28" y="28"/>
                </a:lnTo>
                <a:lnTo>
                  <a:pt x="28" y="28"/>
                </a:lnTo>
                <a:lnTo>
                  <a:pt x="24" y="32"/>
                </a:lnTo>
                <a:lnTo>
                  <a:pt x="21" y="32"/>
                </a:lnTo>
                <a:lnTo>
                  <a:pt x="21" y="32"/>
                </a:lnTo>
                <a:lnTo>
                  <a:pt x="17" y="32"/>
                </a:lnTo>
                <a:lnTo>
                  <a:pt x="14" y="35"/>
                </a:lnTo>
                <a:lnTo>
                  <a:pt x="10" y="32"/>
                </a:lnTo>
                <a:lnTo>
                  <a:pt x="10" y="32"/>
                </a:lnTo>
                <a:lnTo>
                  <a:pt x="7" y="32"/>
                </a:lnTo>
                <a:lnTo>
                  <a:pt x="3" y="32"/>
                </a:lnTo>
                <a:lnTo>
                  <a:pt x="3" y="28"/>
                </a:lnTo>
                <a:lnTo>
                  <a:pt x="0" y="28"/>
                </a:lnTo>
                <a:lnTo>
                  <a:pt x="0" y="24"/>
                </a:lnTo>
                <a:lnTo>
                  <a:pt x="0" y="21"/>
                </a:lnTo>
                <a:lnTo>
                  <a:pt x="0" y="21"/>
                </a:lnTo>
                <a:lnTo>
                  <a:pt x="0" y="17"/>
                </a:lnTo>
                <a:lnTo>
                  <a:pt x="0" y="14"/>
                </a:lnTo>
                <a:lnTo>
                  <a:pt x="0" y="10"/>
                </a:lnTo>
                <a:lnTo>
                  <a:pt x="0" y="10"/>
                </a:lnTo>
                <a:lnTo>
                  <a:pt x="0" y="7"/>
                </a:lnTo>
                <a:lnTo>
                  <a:pt x="3" y="7"/>
                </a:lnTo>
                <a:lnTo>
                  <a:pt x="3" y="3"/>
                </a:lnTo>
                <a:lnTo>
                  <a:pt x="7" y="3"/>
                </a:lnTo>
                <a:lnTo>
                  <a:pt x="10" y="0"/>
                </a:lnTo>
                <a:lnTo>
                  <a:pt x="10" y="0"/>
                </a:lnTo>
                <a:lnTo>
                  <a:pt x="14" y="0"/>
                </a:lnTo>
                <a:lnTo>
                  <a:pt x="17" y="0"/>
                </a:lnTo>
                <a:lnTo>
                  <a:pt x="21" y="0"/>
                </a:lnTo>
                <a:lnTo>
                  <a:pt x="21" y="3"/>
                </a:lnTo>
                <a:lnTo>
                  <a:pt x="24" y="3"/>
                </a:lnTo>
                <a:lnTo>
                  <a:pt x="28" y="7"/>
                </a:lnTo>
                <a:lnTo>
                  <a:pt x="28" y="7"/>
                </a:lnTo>
                <a:lnTo>
                  <a:pt x="28" y="10"/>
                </a:lnTo>
                <a:lnTo>
                  <a:pt x="31" y="10"/>
                </a:lnTo>
                <a:lnTo>
                  <a:pt x="31" y="14"/>
                </a:lnTo>
                <a:lnTo>
                  <a:pt x="31" y="17"/>
                </a:lnTo>
                <a:lnTo>
                  <a:pt x="28" y="14"/>
                </a:lnTo>
                <a:close/>
              </a:path>
            </a:pathLst>
          </a:custGeom>
          <a:solidFill>
            <a:srgbClr val="000000"/>
          </a:solidFill>
          <a:ln w="9525">
            <a:noFill/>
            <a:round/>
            <a:headEnd/>
            <a:tailEnd/>
          </a:ln>
        </p:spPr>
        <p:txBody>
          <a:bodyPr/>
          <a:lstStyle/>
          <a:p>
            <a:endParaRPr lang="zh-CN" altLang="en-US"/>
          </a:p>
        </p:txBody>
      </p:sp>
      <p:sp>
        <p:nvSpPr>
          <p:cNvPr id="64" name="Freeform 62"/>
          <p:cNvSpPr>
            <a:spLocks/>
          </p:cNvSpPr>
          <p:nvPr/>
        </p:nvSpPr>
        <p:spPr bwMode="auto">
          <a:xfrm>
            <a:off x="2456235" y="2369592"/>
            <a:ext cx="49213" cy="55563"/>
          </a:xfrm>
          <a:custGeom>
            <a:avLst/>
            <a:gdLst/>
            <a:ahLst/>
            <a:cxnLst>
              <a:cxn ang="0">
                <a:pos x="28" y="14"/>
              </a:cxn>
              <a:cxn ang="0">
                <a:pos x="31" y="14"/>
              </a:cxn>
              <a:cxn ang="0">
                <a:pos x="31" y="10"/>
              </a:cxn>
              <a:cxn ang="0">
                <a:pos x="28" y="10"/>
              </a:cxn>
              <a:cxn ang="0">
                <a:pos x="28" y="7"/>
              </a:cxn>
              <a:cxn ang="0">
                <a:pos x="28" y="7"/>
              </a:cxn>
              <a:cxn ang="0">
                <a:pos x="24" y="3"/>
              </a:cxn>
              <a:cxn ang="0">
                <a:pos x="21" y="3"/>
              </a:cxn>
              <a:cxn ang="0">
                <a:pos x="21" y="0"/>
              </a:cxn>
              <a:cxn ang="0">
                <a:pos x="17" y="0"/>
              </a:cxn>
              <a:cxn ang="0">
                <a:pos x="14" y="0"/>
              </a:cxn>
              <a:cxn ang="0">
                <a:pos x="10" y="0"/>
              </a:cxn>
              <a:cxn ang="0">
                <a:pos x="10" y="0"/>
              </a:cxn>
              <a:cxn ang="0">
                <a:pos x="7" y="3"/>
              </a:cxn>
              <a:cxn ang="0">
                <a:pos x="3" y="3"/>
              </a:cxn>
              <a:cxn ang="0">
                <a:pos x="3" y="7"/>
              </a:cxn>
              <a:cxn ang="0">
                <a:pos x="0" y="7"/>
              </a:cxn>
              <a:cxn ang="0">
                <a:pos x="0" y="10"/>
              </a:cxn>
              <a:cxn ang="0">
                <a:pos x="0" y="10"/>
              </a:cxn>
              <a:cxn ang="0">
                <a:pos x="0" y="14"/>
              </a:cxn>
              <a:cxn ang="0">
                <a:pos x="0" y="17"/>
              </a:cxn>
              <a:cxn ang="0">
                <a:pos x="0" y="21"/>
              </a:cxn>
              <a:cxn ang="0">
                <a:pos x="0" y="21"/>
              </a:cxn>
              <a:cxn ang="0">
                <a:pos x="0" y="24"/>
              </a:cxn>
              <a:cxn ang="0">
                <a:pos x="0" y="28"/>
              </a:cxn>
              <a:cxn ang="0">
                <a:pos x="3" y="28"/>
              </a:cxn>
              <a:cxn ang="0">
                <a:pos x="3" y="32"/>
              </a:cxn>
              <a:cxn ang="0">
                <a:pos x="7" y="32"/>
              </a:cxn>
              <a:cxn ang="0">
                <a:pos x="10" y="32"/>
              </a:cxn>
              <a:cxn ang="0">
                <a:pos x="10" y="32"/>
              </a:cxn>
              <a:cxn ang="0">
                <a:pos x="14" y="35"/>
              </a:cxn>
              <a:cxn ang="0">
                <a:pos x="17" y="32"/>
              </a:cxn>
              <a:cxn ang="0">
                <a:pos x="21" y="32"/>
              </a:cxn>
              <a:cxn ang="0">
                <a:pos x="21" y="32"/>
              </a:cxn>
              <a:cxn ang="0">
                <a:pos x="24" y="32"/>
              </a:cxn>
              <a:cxn ang="0">
                <a:pos x="28" y="28"/>
              </a:cxn>
              <a:cxn ang="0">
                <a:pos x="28" y="28"/>
              </a:cxn>
              <a:cxn ang="0">
                <a:pos x="28" y="24"/>
              </a:cxn>
              <a:cxn ang="0">
                <a:pos x="31" y="21"/>
              </a:cxn>
              <a:cxn ang="0">
                <a:pos x="31" y="21"/>
              </a:cxn>
              <a:cxn ang="0">
                <a:pos x="31" y="17"/>
              </a:cxn>
              <a:cxn ang="0">
                <a:pos x="31" y="17"/>
              </a:cxn>
            </a:cxnLst>
            <a:rect l="0" t="0" r="r" b="b"/>
            <a:pathLst>
              <a:path w="31" h="35">
                <a:moveTo>
                  <a:pt x="28" y="14"/>
                </a:moveTo>
                <a:lnTo>
                  <a:pt x="31" y="14"/>
                </a:lnTo>
                <a:lnTo>
                  <a:pt x="31" y="10"/>
                </a:lnTo>
                <a:lnTo>
                  <a:pt x="28" y="10"/>
                </a:lnTo>
                <a:lnTo>
                  <a:pt x="28" y="7"/>
                </a:lnTo>
                <a:lnTo>
                  <a:pt x="28" y="7"/>
                </a:lnTo>
                <a:lnTo>
                  <a:pt x="24" y="3"/>
                </a:lnTo>
                <a:lnTo>
                  <a:pt x="21" y="3"/>
                </a:lnTo>
                <a:lnTo>
                  <a:pt x="21" y="0"/>
                </a:lnTo>
                <a:lnTo>
                  <a:pt x="17" y="0"/>
                </a:lnTo>
                <a:lnTo>
                  <a:pt x="14" y="0"/>
                </a:lnTo>
                <a:lnTo>
                  <a:pt x="10" y="0"/>
                </a:lnTo>
                <a:lnTo>
                  <a:pt x="10" y="0"/>
                </a:lnTo>
                <a:lnTo>
                  <a:pt x="7" y="3"/>
                </a:lnTo>
                <a:lnTo>
                  <a:pt x="3" y="3"/>
                </a:lnTo>
                <a:lnTo>
                  <a:pt x="3" y="7"/>
                </a:lnTo>
                <a:lnTo>
                  <a:pt x="0" y="7"/>
                </a:lnTo>
                <a:lnTo>
                  <a:pt x="0" y="10"/>
                </a:lnTo>
                <a:lnTo>
                  <a:pt x="0" y="10"/>
                </a:lnTo>
                <a:lnTo>
                  <a:pt x="0" y="14"/>
                </a:lnTo>
                <a:lnTo>
                  <a:pt x="0" y="17"/>
                </a:lnTo>
                <a:lnTo>
                  <a:pt x="0" y="21"/>
                </a:lnTo>
                <a:lnTo>
                  <a:pt x="0" y="21"/>
                </a:lnTo>
                <a:lnTo>
                  <a:pt x="0" y="24"/>
                </a:lnTo>
                <a:lnTo>
                  <a:pt x="0" y="28"/>
                </a:lnTo>
                <a:lnTo>
                  <a:pt x="3" y="28"/>
                </a:lnTo>
                <a:lnTo>
                  <a:pt x="3" y="32"/>
                </a:lnTo>
                <a:lnTo>
                  <a:pt x="7" y="32"/>
                </a:lnTo>
                <a:lnTo>
                  <a:pt x="10" y="32"/>
                </a:lnTo>
                <a:lnTo>
                  <a:pt x="10" y="32"/>
                </a:lnTo>
                <a:lnTo>
                  <a:pt x="14" y="35"/>
                </a:lnTo>
                <a:lnTo>
                  <a:pt x="17" y="32"/>
                </a:lnTo>
                <a:lnTo>
                  <a:pt x="21" y="32"/>
                </a:lnTo>
                <a:lnTo>
                  <a:pt x="21" y="32"/>
                </a:lnTo>
                <a:lnTo>
                  <a:pt x="24" y="32"/>
                </a:lnTo>
                <a:lnTo>
                  <a:pt x="28" y="28"/>
                </a:lnTo>
                <a:lnTo>
                  <a:pt x="28" y="28"/>
                </a:lnTo>
                <a:lnTo>
                  <a:pt x="28" y="24"/>
                </a:lnTo>
                <a:lnTo>
                  <a:pt x="31" y="21"/>
                </a:lnTo>
                <a:lnTo>
                  <a:pt x="31" y="21"/>
                </a:lnTo>
                <a:lnTo>
                  <a:pt x="31" y="17"/>
                </a:lnTo>
                <a:lnTo>
                  <a:pt x="31" y="17"/>
                </a:lnTo>
              </a:path>
            </a:pathLst>
          </a:custGeom>
          <a:noFill/>
          <a:ln w="11113">
            <a:solidFill>
              <a:srgbClr val="000000"/>
            </a:solidFill>
            <a:prstDash val="solid"/>
            <a:round/>
            <a:headEnd/>
            <a:tailEnd/>
          </a:ln>
        </p:spPr>
        <p:txBody>
          <a:bodyPr/>
          <a:lstStyle/>
          <a:p>
            <a:endParaRPr lang="zh-CN" altLang="en-US"/>
          </a:p>
        </p:txBody>
      </p:sp>
      <p:sp>
        <p:nvSpPr>
          <p:cNvPr id="65" name="Freeform 63"/>
          <p:cNvSpPr>
            <a:spLocks/>
          </p:cNvSpPr>
          <p:nvPr/>
        </p:nvSpPr>
        <p:spPr bwMode="auto">
          <a:xfrm>
            <a:off x="2556248" y="2369592"/>
            <a:ext cx="55563" cy="55563"/>
          </a:xfrm>
          <a:custGeom>
            <a:avLst/>
            <a:gdLst/>
            <a:ahLst/>
            <a:cxnLst>
              <a:cxn ang="0">
                <a:pos x="32" y="14"/>
              </a:cxn>
              <a:cxn ang="0">
                <a:pos x="35" y="21"/>
              </a:cxn>
              <a:cxn ang="0">
                <a:pos x="32" y="21"/>
              </a:cxn>
              <a:cxn ang="0">
                <a:pos x="32" y="24"/>
              </a:cxn>
              <a:cxn ang="0">
                <a:pos x="32" y="28"/>
              </a:cxn>
              <a:cxn ang="0">
                <a:pos x="28" y="28"/>
              </a:cxn>
              <a:cxn ang="0">
                <a:pos x="28" y="32"/>
              </a:cxn>
              <a:cxn ang="0">
                <a:pos x="25" y="32"/>
              </a:cxn>
              <a:cxn ang="0">
                <a:pos x="21" y="32"/>
              </a:cxn>
              <a:cxn ang="0">
                <a:pos x="21" y="32"/>
              </a:cxn>
              <a:cxn ang="0">
                <a:pos x="18" y="35"/>
              </a:cxn>
              <a:cxn ang="0">
                <a:pos x="14" y="32"/>
              </a:cxn>
              <a:cxn ang="0">
                <a:pos x="14" y="32"/>
              </a:cxn>
              <a:cxn ang="0">
                <a:pos x="11" y="32"/>
              </a:cxn>
              <a:cxn ang="0">
                <a:pos x="7" y="32"/>
              </a:cxn>
              <a:cxn ang="0">
                <a:pos x="7" y="28"/>
              </a:cxn>
              <a:cxn ang="0">
                <a:pos x="4" y="28"/>
              </a:cxn>
              <a:cxn ang="0">
                <a:pos x="4" y="24"/>
              </a:cxn>
              <a:cxn ang="0">
                <a:pos x="4" y="21"/>
              </a:cxn>
              <a:cxn ang="0">
                <a:pos x="0" y="21"/>
              </a:cxn>
              <a:cxn ang="0">
                <a:pos x="0" y="17"/>
              </a:cxn>
              <a:cxn ang="0">
                <a:pos x="0" y="14"/>
              </a:cxn>
              <a:cxn ang="0">
                <a:pos x="4" y="10"/>
              </a:cxn>
              <a:cxn ang="0">
                <a:pos x="4" y="10"/>
              </a:cxn>
              <a:cxn ang="0">
                <a:pos x="4" y="7"/>
              </a:cxn>
              <a:cxn ang="0">
                <a:pos x="7" y="7"/>
              </a:cxn>
              <a:cxn ang="0">
                <a:pos x="7" y="3"/>
              </a:cxn>
              <a:cxn ang="0">
                <a:pos x="11" y="3"/>
              </a:cxn>
              <a:cxn ang="0">
                <a:pos x="14" y="0"/>
              </a:cxn>
              <a:cxn ang="0">
                <a:pos x="14" y="0"/>
              </a:cxn>
              <a:cxn ang="0">
                <a:pos x="18" y="0"/>
              </a:cxn>
              <a:cxn ang="0">
                <a:pos x="21" y="0"/>
              </a:cxn>
              <a:cxn ang="0">
                <a:pos x="21" y="0"/>
              </a:cxn>
              <a:cxn ang="0">
                <a:pos x="25" y="3"/>
              </a:cxn>
              <a:cxn ang="0">
                <a:pos x="28" y="3"/>
              </a:cxn>
              <a:cxn ang="0">
                <a:pos x="28" y="7"/>
              </a:cxn>
              <a:cxn ang="0">
                <a:pos x="32" y="7"/>
              </a:cxn>
              <a:cxn ang="0">
                <a:pos x="32" y="10"/>
              </a:cxn>
              <a:cxn ang="0">
                <a:pos x="32" y="10"/>
              </a:cxn>
              <a:cxn ang="0">
                <a:pos x="35" y="14"/>
              </a:cxn>
              <a:cxn ang="0">
                <a:pos x="35" y="17"/>
              </a:cxn>
              <a:cxn ang="0">
                <a:pos x="32" y="14"/>
              </a:cxn>
            </a:cxnLst>
            <a:rect l="0" t="0" r="r" b="b"/>
            <a:pathLst>
              <a:path w="35" h="35">
                <a:moveTo>
                  <a:pt x="32" y="14"/>
                </a:moveTo>
                <a:lnTo>
                  <a:pt x="35" y="21"/>
                </a:lnTo>
                <a:lnTo>
                  <a:pt x="32" y="21"/>
                </a:lnTo>
                <a:lnTo>
                  <a:pt x="32" y="24"/>
                </a:lnTo>
                <a:lnTo>
                  <a:pt x="32" y="28"/>
                </a:lnTo>
                <a:lnTo>
                  <a:pt x="28" y="28"/>
                </a:lnTo>
                <a:lnTo>
                  <a:pt x="28" y="32"/>
                </a:lnTo>
                <a:lnTo>
                  <a:pt x="25" y="32"/>
                </a:lnTo>
                <a:lnTo>
                  <a:pt x="21" y="32"/>
                </a:lnTo>
                <a:lnTo>
                  <a:pt x="21" y="32"/>
                </a:lnTo>
                <a:lnTo>
                  <a:pt x="18" y="35"/>
                </a:lnTo>
                <a:lnTo>
                  <a:pt x="14" y="32"/>
                </a:lnTo>
                <a:lnTo>
                  <a:pt x="14" y="32"/>
                </a:lnTo>
                <a:lnTo>
                  <a:pt x="11" y="32"/>
                </a:lnTo>
                <a:lnTo>
                  <a:pt x="7" y="32"/>
                </a:lnTo>
                <a:lnTo>
                  <a:pt x="7" y="28"/>
                </a:lnTo>
                <a:lnTo>
                  <a:pt x="4" y="28"/>
                </a:lnTo>
                <a:lnTo>
                  <a:pt x="4" y="24"/>
                </a:lnTo>
                <a:lnTo>
                  <a:pt x="4" y="21"/>
                </a:lnTo>
                <a:lnTo>
                  <a:pt x="0" y="21"/>
                </a:lnTo>
                <a:lnTo>
                  <a:pt x="0" y="17"/>
                </a:lnTo>
                <a:lnTo>
                  <a:pt x="0" y="14"/>
                </a:lnTo>
                <a:lnTo>
                  <a:pt x="4" y="10"/>
                </a:lnTo>
                <a:lnTo>
                  <a:pt x="4" y="10"/>
                </a:lnTo>
                <a:lnTo>
                  <a:pt x="4" y="7"/>
                </a:lnTo>
                <a:lnTo>
                  <a:pt x="7" y="7"/>
                </a:lnTo>
                <a:lnTo>
                  <a:pt x="7" y="3"/>
                </a:lnTo>
                <a:lnTo>
                  <a:pt x="11" y="3"/>
                </a:lnTo>
                <a:lnTo>
                  <a:pt x="14" y="0"/>
                </a:lnTo>
                <a:lnTo>
                  <a:pt x="14" y="0"/>
                </a:lnTo>
                <a:lnTo>
                  <a:pt x="18" y="0"/>
                </a:lnTo>
                <a:lnTo>
                  <a:pt x="21" y="0"/>
                </a:lnTo>
                <a:lnTo>
                  <a:pt x="21" y="0"/>
                </a:lnTo>
                <a:lnTo>
                  <a:pt x="25" y="3"/>
                </a:lnTo>
                <a:lnTo>
                  <a:pt x="28" y="3"/>
                </a:lnTo>
                <a:lnTo>
                  <a:pt x="28" y="7"/>
                </a:lnTo>
                <a:lnTo>
                  <a:pt x="32" y="7"/>
                </a:lnTo>
                <a:lnTo>
                  <a:pt x="32" y="10"/>
                </a:lnTo>
                <a:lnTo>
                  <a:pt x="32" y="10"/>
                </a:lnTo>
                <a:lnTo>
                  <a:pt x="35" y="14"/>
                </a:lnTo>
                <a:lnTo>
                  <a:pt x="35" y="17"/>
                </a:lnTo>
                <a:lnTo>
                  <a:pt x="32" y="14"/>
                </a:lnTo>
                <a:close/>
              </a:path>
            </a:pathLst>
          </a:custGeom>
          <a:solidFill>
            <a:srgbClr val="000000"/>
          </a:solidFill>
          <a:ln w="9525">
            <a:noFill/>
            <a:round/>
            <a:headEnd/>
            <a:tailEnd/>
          </a:ln>
        </p:spPr>
        <p:txBody>
          <a:bodyPr/>
          <a:lstStyle/>
          <a:p>
            <a:endParaRPr lang="zh-CN" altLang="en-US"/>
          </a:p>
        </p:txBody>
      </p:sp>
      <p:sp>
        <p:nvSpPr>
          <p:cNvPr id="66" name="Freeform 64"/>
          <p:cNvSpPr>
            <a:spLocks/>
          </p:cNvSpPr>
          <p:nvPr/>
        </p:nvSpPr>
        <p:spPr bwMode="auto">
          <a:xfrm>
            <a:off x="2556248" y="2369592"/>
            <a:ext cx="55563" cy="55563"/>
          </a:xfrm>
          <a:custGeom>
            <a:avLst/>
            <a:gdLst/>
            <a:ahLst/>
            <a:cxnLst>
              <a:cxn ang="0">
                <a:pos x="32" y="14"/>
              </a:cxn>
              <a:cxn ang="0">
                <a:pos x="35" y="14"/>
              </a:cxn>
              <a:cxn ang="0">
                <a:pos x="32" y="10"/>
              </a:cxn>
              <a:cxn ang="0">
                <a:pos x="32" y="10"/>
              </a:cxn>
              <a:cxn ang="0">
                <a:pos x="32" y="7"/>
              </a:cxn>
              <a:cxn ang="0">
                <a:pos x="28" y="7"/>
              </a:cxn>
              <a:cxn ang="0">
                <a:pos x="28" y="3"/>
              </a:cxn>
              <a:cxn ang="0">
                <a:pos x="25" y="3"/>
              </a:cxn>
              <a:cxn ang="0">
                <a:pos x="21" y="0"/>
              </a:cxn>
              <a:cxn ang="0">
                <a:pos x="21" y="0"/>
              </a:cxn>
              <a:cxn ang="0">
                <a:pos x="18" y="0"/>
              </a:cxn>
              <a:cxn ang="0">
                <a:pos x="14" y="0"/>
              </a:cxn>
              <a:cxn ang="0">
                <a:pos x="14" y="0"/>
              </a:cxn>
              <a:cxn ang="0">
                <a:pos x="11" y="3"/>
              </a:cxn>
              <a:cxn ang="0">
                <a:pos x="7" y="3"/>
              </a:cxn>
              <a:cxn ang="0">
                <a:pos x="7" y="7"/>
              </a:cxn>
              <a:cxn ang="0">
                <a:pos x="4" y="7"/>
              </a:cxn>
              <a:cxn ang="0">
                <a:pos x="4" y="10"/>
              </a:cxn>
              <a:cxn ang="0">
                <a:pos x="4" y="10"/>
              </a:cxn>
              <a:cxn ang="0">
                <a:pos x="0" y="14"/>
              </a:cxn>
              <a:cxn ang="0">
                <a:pos x="0" y="17"/>
              </a:cxn>
              <a:cxn ang="0">
                <a:pos x="0" y="21"/>
              </a:cxn>
              <a:cxn ang="0">
                <a:pos x="4" y="21"/>
              </a:cxn>
              <a:cxn ang="0">
                <a:pos x="4" y="24"/>
              </a:cxn>
              <a:cxn ang="0">
                <a:pos x="4" y="28"/>
              </a:cxn>
              <a:cxn ang="0">
                <a:pos x="7" y="28"/>
              </a:cxn>
              <a:cxn ang="0">
                <a:pos x="7" y="32"/>
              </a:cxn>
              <a:cxn ang="0">
                <a:pos x="11" y="32"/>
              </a:cxn>
              <a:cxn ang="0">
                <a:pos x="14" y="32"/>
              </a:cxn>
              <a:cxn ang="0">
                <a:pos x="14" y="32"/>
              </a:cxn>
              <a:cxn ang="0">
                <a:pos x="18" y="35"/>
              </a:cxn>
              <a:cxn ang="0">
                <a:pos x="21" y="32"/>
              </a:cxn>
              <a:cxn ang="0">
                <a:pos x="21" y="32"/>
              </a:cxn>
              <a:cxn ang="0">
                <a:pos x="25" y="32"/>
              </a:cxn>
              <a:cxn ang="0">
                <a:pos x="28" y="32"/>
              </a:cxn>
              <a:cxn ang="0">
                <a:pos x="28" y="28"/>
              </a:cxn>
              <a:cxn ang="0">
                <a:pos x="32" y="28"/>
              </a:cxn>
              <a:cxn ang="0">
                <a:pos x="32" y="24"/>
              </a:cxn>
              <a:cxn ang="0">
                <a:pos x="32" y="21"/>
              </a:cxn>
              <a:cxn ang="0">
                <a:pos x="35" y="21"/>
              </a:cxn>
              <a:cxn ang="0">
                <a:pos x="35" y="17"/>
              </a:cxn>
              <a:cxn ang="0">
                <a:pos x="35" y="17"/>
              </a:cxn>
            </a:cxnLst>
            <a:rect l="0" t="0" r="r" b="b"/>
            <a:pathLst>
              <a:path w="35" h="35">
                <a:moveTo>
                  <a:pt x="32" y="14"/>
                </a:moveTo>
                <a:lnTo>
                  <a:pt x="35" y="14"/>
                </a:lnTo>
                <a:lnTo>
                  <a:pt x="32" y="10"/>
                </a:lnTo>
                <a:lnTo>
                  <a:pt x="32" y="10"/>
                </a:lnTo>
                <a:lnTo>
                  <a:pt x="32" y="7"/>
                </a:lnTo>
                <a:lnTo>
                  <a:pt x="28" y="7"/>
                </a:lnTo>
                <a:lnTo>
                  <a:pt x="28" y="3"/>
                </a:lnTo>
                <a:lnTo>
                  <a:pt x="25" y="3"/>
                </a:lnTo>
                <a:lnTo>
                  <a:pt x="21" y="0"/>
                </a:lnTo>
                <a:lnTo>
                  <a:pt x="21" y="0"/>
                </a:lnTo>
                <a:lnTo>
                  <a:pt x="18" y="0"/>
                </a:lnTo>
                <a:lnTo>
                  <a:pt x="14" y="0"/>
                </a:lnTo>
                <a:lnTo>
                  <a:pt x="14" y="0"/>
                </a:lnTo>
                <a:lnTo>
                  <a:pt x="11" y="3"/>
                </a:lnTo>
                <a:lnTo>
                  <a:pt x="7" y="3"/>
                </a:lnTo>
                <a:lnTo>
                  <a:pt x="7" y="7"/>
                </a:lnTo>
                <a:lnTo>
                  <a:pt x="4" y="7"/>
                </a:lnTo>
                <a:lnTo>
                  <a:pt x="4" y="10"/>
                </a:lnTo>
                <a:lnTo>
                  <a:pt x="4" y="10"/>
                </a:lnTo>
                <a:lnTo>
                  <a:pt x="0" y="14"/>
                </a:lnTo>
                <a:lnTo>
                  <a:pt x="0" y="17"/>
                </a:lnTo>
                <a:lnTo>
                  <a:pt x="0" y="21"/>
                </a:lnTo>
                <a:lnTo>
                  <a:pt x="4" y="21"/>
                </a:lnTo>
                <a:lnTo>
                  <a:pt x="4" y="24"/>
                </a:lnTo>
                <a:lnTo>
                  <a:pt x="4" y="28"/>
                </a:lnTo>
                <a:lnTo>
                  <a:pt x="7" y="28"/>
                </a:lnTo>
                <a:lnTo>
                  <a:pt x="7" y="32"/>
                </a:lnTo>
                <a:lnTo>
                  <a:pt x="11" y="32"/>
                </a:lnTo>
                <a:lnTo>
                  <a:pt x="14" y="32"/>
                </a:lnTo>
                <a:lnTo>
                  <a:pt x="14" y="32"/>
                </a:lnTo>
                <a:lnTo>
                  <a:pt x="18" y="35"/>
                </a:lnTo>
                <a:lnTo>
                  <a:pt x="21" y="32"/>
                </a:lnTo>
                <a:lnTo>
                  <a:pt x="21" y="32"/>
                </a:lnTo>
                <a:lnTo>
                  <a:pt x="25" y="32"/>
                </a:lnTo>
                <a:lnTo>
                  <a:pt x="28" y="32"/>
                </a:lnTo>
                <a:lnTo>
                  <a:pt x="28" y="28"/>
                </a:lnTo>
                <a:lnTo>
                  <a:pt x="32" y="28"/>
                </a:lnTo>
                <a:lnTo>
                  <a:pt x="32" y="24"/>
                </a:lnTo>
                <a:lnTo>
                  <a:pt x="32" y="21"/>
                </a:lnTo>
                <a:lnTo>
                  <a:pt x="35" y="21"/>
                </a:lnTo>
                <a:lnTo>
                  <a:pt x="35" y="17"/>
                </a:lnTo>
                <a:lnTo>
                  <a:pt x="35" y="17"/>
                </a:lnTo>
              </a:path>
            </a:pathLst>
          </a:custGeom>
          <a:noFill/>
          <a:ln w="11113">
            <a:solidFill>
              <a:srgbClr val="000000"/>
            </a:solidFill>
            <a:prstDash val="solid"/>
            <a:round/>
            <a:headEnd/>
            <a:tailEnd/>
          </a:ln>
        </p:spPr>
        <p:txBody>
          <a:bodyPr/>
          <a:lstStyle/>
          <a:p>
            <a:endParaRPr lang="zh-CN" altLang="en-US"/>
          </a:p>
        </p:txBody>
      </p:sp>
      <p:sp>
        <p:nvSpPr>
          <p:cNvPr id="67" name="Freeform 65"/>
          <p:cNvSpPr>
            <a:spLocks/>
          </p:cNvSpPr>
          <p:nvPr/>
        </p:nvSpPr>
        <p:spPr bwMode="auto">
          <a:xfrm>
            <a:off x="2768973" y="2369592"/>
            <a:ext cx="50800" cy="55563"/>
          </a:xfrm>
          <a:custGeom>
            <a:avLst/>
            <a:gdLst/>
            <a:ahLst/>
            <a:cxnLst>
              <a:cxn ang="0">
                <a:pos x="29" y="14"/>
              </a:cxn>
              <a:cxn ang="0">
                <a:pos x="32" y="21"/>
              </a:cxn>
              <a:cxn ang="0">
                <a:pos x="32" y="21"/>
              </a:cxn>
              <a:cxn ang="0">
                <a:pos x="29" y="24"/>
              </a:cxn>
              <a:cxn ang="0">
                <a:pos x="29" y="28"/>
              </a:cxn>
              <a:cxn ang="0">
                <a:pos x="29" y="28"/>
              </a:cxn>
              <a:cxn ang="0">
                <a:pos x="25" y="32"/>
              </a:cxn>
              <a:cxn ang="0">
                <a:pos x="21" y="32"/>
              </a:cxn>
              <a:cxn ang="0">
                <a:pos x="21" y="32"/>
              </a:cxn>
              <a:cxn ang="0">
                <a:pos x="18" y="32"/>
              </a:cxn>
              <a:cxn ang="0">
                <a:pos x="14" y="35"/>
              </a:cxn>
              <a:cxn ang="0">
                <a:pos x="11" y="32"/>
              </a:cxn>
              <a:cxn ang="0">
                <a:pos x="11" y="32"/>
              </a:cxn>
              <a:cxn ang="0">
                <a:pos x="7" y="32"/>
              </a:cxn>
              <a:cxn ang="0">
                <a:pos x="4" y="32"/>
              </a:cxn>
              <a:cxn ang="0">
                <a:pos x="4" y="28"/>
              </a:cxn>
              <a:cxn ang="0">
                <a:pos x="0" y="28"/>
              </a:cxn>
              <a:cxn ang="0">
                <a:pos x="0" y="24"/>
              </a:cxn>
              <a:cxn ang="0">
                <a:pos x="0" y="21"/>
              </a:cxn>
              <a:cxn ang="0">
                <a:pos x="0" y="21"/>
              </a:cxn>
              <a:cxn ang="0">
                <a:pos x="0" y="17"/>
              </a:cxn>
              <a:cxn ang="0">
                <a:pos x="0" y="14"/>
              </a:cxn>
              <a:cxn ang="0">
                <a:pos x="0" y="10"/>
              </a:cxn>
              <a:cxn ang="0">
                <a:pos x="0" y="10"/>
              </a:cxn>
              <a:cxn ang="0">
                <a:pos x="0" y="7"/>
              </a:cxn>
              <a:cxn ang="0">
                <a:pos x="4" y="7"/>
              </a:cxn>
              <a:cxn ang="0">
                <a:pos x="4" y="3"/>
              </a:cxn>
              <a:cxn ang="0">
                <a:pos x="7" y="3"/>
              </a:cxn>
              <a:cxn ang="0">
                <a:pos x="11" y="0"/>
              </a:cxn>
              <a:cxn ang="0">
                <a:pos x="11" y="0"/>
              </a:cxn>
              <a:cxn ang="0">
                <a:pos x="14" y="0"/>
              </a:cxn>
              <a:cxn ang="0">
                <a:pos x="18" y="0"/>
              </a:cxn>
              <a:cxn ang="0">
                <a:pos x="21" y="0"/>
              </a:cxn>
              <a:cxn ang="0">
                <a:pos x="21" y="3"/>
              </a:cxn>
              <a:cxn ang="0">
                <a:pos x="25" y="3"/>
              </a:cxn>
              <a:cxn ang="0">
                <a:pos x="29" y="7"/>
              </a:cxn>
              <a:cxn ang="0">
                <a:pos x="29" y="7"/>
              </a:cxn>
              <a:cxn ang="0">
                <a:pos x="29" y="10"/>
              </a:cxn>
              <a:cxn ang="0">
                <a:pos x="32" y="10"/>
              </a:cxn>
              <a:cxn ang="0">
                <a:pos x="32" y="14"/>
              </a:cxn>
              <a:cxn ang="0">
                <a:pos x="32" y="17"/>
              </a:cxn>
              <a:cxn ang="0">
                <a:pos x="29" y="14"/>
              </a:cxn>
            </a:cxnLst>
            <a:rect l="0" t="0" r="r" b="b"/>
            <a:pathLst>
              <a:path w="32" h="35">
                <a:moveTo>
                  <a:pt x="29" y="14"/>
                </a:moveTo>
                <a:lnTo>
                  <a:pt x="32" y="21"/>
                </a:lnTo>
                <a:lnTo>
                  <a:pt x="32" y="21"/>
                </a:lnTo>
                <a:lnTo>
                  <a:pt x="29" y="24"/>
                </a:lnTo>
                <a:lnTo>
                  <a:pt x="29" y="28"/>
                </a:lnTo>
                <a:lnTo>
                  <a:pt x="29" y="28"/>
                </a:lnTo>
                <a:lnTo>
                  <a:pt x="25" y="32"/>
                </a:lnTo>
                <a:lnTo>
                  <a:pt x="21" y="32"/>
                </a:lnTo>
                <a:lnTo>
                  <a:pt x="21" y="32"/>
                </a:lnTo>
                <a:lnTo>
                  <a:pt x="18" y="32"/>
                </a:lnTo>
                <a:lnTo>
                  <a:pt x="14" y="35"/>
                </a:lnTo>
                <a:lnTo>
                  <a:pt x="11" y="32"/>
                </a:lnTo>
                <a:lnTo>
                  <a:pt x="11" y="32"/>
                </a:lnTo>
                <a:lnTo>
                  <a:pt x="7" y="32"/>
                </a:lnTo>
                <a:lnTo>
                  <a:pt x="4" y="32"/>
                </a:lnTo>
                <a:lnTo>
                  <a:pt x="4" y="28"/>
                </a:lnTo>
                <a:lnTo>
                  <a:pt x="0" y="28"/>
                </a:lnTo>
                <a:lnTo>
                  <a:pt x="0" y="24"/>
                </a:lnTo>
                <a:lnTo>
                  <a:pt x="0" y="21"/>
                </a:lnTo>
                <a:lnTo>
                  <a:pt x="0" y="21"/>
                </a:lnTo>
                <a:lnTo>
                  <a:pt x="0" y="17"/>
                </a:lnTo>
                <a:lnTo>
                  <a:pt x="0" y="14"/>
                </a:lnTo>
                <a:lnTo>
                  <a:pt x="0" y="10"/>
                </a:lnTo>
                <a:lnTo>
                  <a:pt x="0" y="10"/>
                </a:lnTo>
                <a:lnTo>
                  <a:pt x="0" y="7"/>
                </a:lnTo>
                <a:lnTo>
                  <a:pt x="4" y="7"/>
                </a:lnTo>
                <a:lnTo>
                  <a:pt x="4" y="3"/>
                </a:lnTo>
                <a:lnTo>
                  <a:pt x="7" y="3"/>
                </a:lnTo>
                <a:lnTo>
                  <a:pt x="11" y="0"/>
                </a:lnTo>
                <a:lnTo>
                  <a:pt x="11" y="0"/>
                </a:lnTo>
                <a:lnTo>
                  <a:pt x="14" y="0"/>
                </a:lnTo>
                <a:lnTo>
                  <a:pt x="18" y="0"/>
                </a:lnTo>
                <a:lnTo>
                  <a:pt x="21" y="0"/>
                </a:lnTo>
                <a:lnTo>
                  <a:pt x="21" y="3"/>
                </a:lnTo>
                <a:lnTo>
                  <a:pt x="25" y="3"/>
                </a:lnTo>
                <a:lnTo>
                  <a:pt x="29" y="7"/>
                </a:lnTo>
                <a:lnTo>
                  <a:pt x="29" y="7"/>
                </a:lnTo>
                <a:lnTo>
                  <a:pt x="29" y="10"/>
                </a:lnTo>
                <a:lnTo>
                  <a:pt x="32" y="10"/>
                </a:lnTo>
                <a:lnTo>
                  <a:pt x="32" y="14"/>
                </a:lnTo>
                <a:lnTo>
                  <a:pt x="32" y="17"/>
                </a:lnTo>
                <a:lnTo>
                  <a:pt x="29" y="14"/>
                </a:lnTo>
                <a:close/>
              </a:path>
            </a:pathLst>
          </a:custGeom>
          <a:solidFill>
            <a:srgbClr val="000000"/>
          </a:solidFill>
          <a:ln w="9525">
            <a:noFill/>
            <a:round/>
            <a:headEnd/>
            <a:tailEnd/>
          </a:ln>
        </p:spPr>
        <p:txBody>
          <a:bodyPr/>
          <a:lstStyle/>
          <a:p>
            <a:endParaRPr lang="zh-CN" altLang="en-US"/>
          </a:p>
        </p:txBody>
      </p:sp>
      <p:sp>
        <p:nvSpPr>
          <p:cNvPr id="68" name="Freeform 66"/>
          <p:cNvSpPr>
            <a:spLocks/>
          </p:cNvSpPr>
          <p:nvPr/>
        </p:nvSpPr>
        <p:spPr bwMode="auto">
          <a:xfrm>
            <a:off x="2768973" y="2369592"/>
            <a:ext cx="50800" cy="55563"/>
          </a:xfrm>
          <a:custGeom>
            <a:avLst/>
            <a:gdLst/>
            <a:ahLst/>
            <a:cxnLst>
              <a:cxn ang="0">
                <a:pos x="29" y="14"/>
              </a:cxn>
              <a:cxn ang="0">
                <a:pos x="32" y="14"/>
              </a:cxn>
              <a:cxn ang="0">
                <a:pos x="32" y="10"/>
              </a:cxn>
              <a:cxn ang="0">
                <a:pos x="29" y="10"/>
              </a:cxn>
              <a:cxn ang="0">
                <a:pos x="29" y="7"/>
              </a:cxn>
              <a:cxn ang="0">
                <a:pos x="29" y="7"/>
              </a:cxn>
              <a:cxn ang="0">
                <a:pos x="25" y="3"/>
              </a:cxn>
              <a:cxn ang="0">
                <a:pos x="21" y="3"/>
              </a:cxn>
              <a:cxn ang="0">
                <a:pos x="21" y="0"/>
              </a:cxn>
              <a:cxn ang="0">
                <a:pos x="18" y="0"/>
              </a:cxn>
              <a:cxn ang="0">
                <a:pos x="14" y="0"/>
              </a:cxn>
              <a:cxn ang="0">
                <a:pos x="11" y="0"/>
              </a:cxn>
              <a:cxn ang="0">
                <a:pos x="11" y="0"/>
              </a:cxn>
              <a:cxn ang="0">
                <a:pos x="7" y="3"/>
              </a:cxn>
              <a:cxn ang="0">
                <a:pos x="4" y="3"/>
              </a:cxn>
              <a:cxn ang="0">
                <a:pos x="4" y="7"/>
              </a:cxn>
              <a:cxn ang="0">
                <a:pos x="0" y="7"/>
              </a:cxn>
              <a:cxn ang="0">
                <a:pos x="0" y="10"/>
              </a:cxn>
              <a:cxn ang="0">
                <a:pos x="0" y="10"/>
              </a:cxn>
              <a:cxn ang="0">
                <a:pos x="0" y="14"/>
              </a:cxn>
              <a:cxn ang="0">
                <a:pos x="0" y="17"/>
              </a:cxn>
              <a:cxn ang="0">
                <a:pos x="0" y="21"/>
              </a:cxn>
              <a:cxn ang="0">
                <a:pos x="0" y="21"/>
              </a:cxn>
              <a:cxn ang="0">
                <a:pos x="0" y="24"/>
              </a:cxn>
              <a:cxn ang="0">
                <a:pos x="0" y="28"/>
              </a:cxn>
              <a:cxn ang="0">
                <a:pos x="4" y="28"/>
              </a:cxn>
              <a:cxn ang="0">
                <a:pos x="4" y="32"/>
              </a:cxn>
              <a:cxn ang="0">
                <a:pos x="7" y="32"/>
              </a:cxn>
              <a:cxn ang="0">
                <a:pos x="11" y="32"/>
              </a:cxn>
              <a:cxn ang="0">
                <a:pos x="11" y="32"/>
              </a:cxn>
              <a:cxn ang="0">
                <a:pos x="14" y="35"/>
              </a:cxn>
              <a:cxn ang="0">
                <a:pos x="18" y="32"/>
              </a:cxn>
              <a:cxn ang="0">
                <a:pos x="21" y="32"/>
              </a:cxn>
              <a:cxn ang="0">
                <a:pos x="21" y="32"/>
              </a:cxn>
              <a:cxn ang="0">
                <a:pos x="25" y="32"/>
              </a:cxn>
              <a:cxn ang="0">
                <a:pos x="29" y="28"/>
              </a:cxn>
              <a:cxn ang="0">
                <a:pos x="29" y="28"/>
              </a:cxn>
              <a:cxn ang="0">
                <a:pos x="29" y="24"/>
              </a:cxn>
              <a:cxn ang="0">
                <a:pos x="32" y="21"/>
              </a:cxn>
              <a:cxn ang="0">
                <a:pos x="32" y="21"/>
              </a:cxn>
              <a:cxn ang="0">
                <a:pos x="32" y="17"/>
              </a:cxn>
              <a:cxn ang="0">
                <a:pos x="32" y="17"/>
              </a:cxn>
            </a:cxnLst>
            <a:rect l="0" t="0" r="r" b="b"/>
            <a:pathLst>
              <a:path w="32" h="35">
                <a:moveTo>
                  <a:pt x="29" y="14"/>
                </a:moveTo>
                <a:lnTo>
                  <a:pt x="32" y="14"/>
                </a:lnTo>
                <a:lnTo>
                  <a:pt x="32" y="10"/>
                </a:lnTo>
                <a:lnTo>
                  <a:pt x="29" y="10"/>
                </a:lnTo>
                <a:lnTo>
                  <a:pt x="29" y="7"/>
                </a:lnTo>
                <a:lnTo>
                  <a:pt x="29" y="7"/>
                </a:lnTo>
                <a:lnTo>
                  <a:pt x="25" y="3"/>
                </a:lnTo>
                <a:lnTo>
                  <a:pt x="21" y="3"/>
                </a:lnTo>
                <a:lnTo>
                  <a:pt x="21" y="0"/>
                </a:lnTo>
                <a:lnTo>
                  <a:pt x="18" y="0"/>
                </a:lnTo>
                <a:lnTo>
                  <a:pt x="14" y="0"/>
                </a:lnTo>
                <a:lnTo>
                  <a:pt x="11" y="0"/>
                </a:lnTo>
                <a:lnTo>
                  <a:pt x="11" y="0"/>
                </a:lnTo>
                <a:lnTo>
                  <a:pt x="7" y="3"/>
                </a:lnTo>
                <a:lnTo>
                  <a:pt x="4" y="3"/>
                </a:lnTo>
                <a:lnTo>
                  <a:pt x="4" y="7"/>
                </a:lnTo>
                <a:lnTo>
                  <a:pt x="0" y="7"/>
                </a:lnTo>
                <a:lnTo>
                  <a:pt x="0" y="10"/>
                </a:lnTo>
                <a:lnTo>
                  <a:pt x="0" y="10"/>
                </a:lnTo>
                <a:lnTo>
                  <a:pt x="0" y="14"/>
                </a:lnTo>
                <a:lnTo>
                  <a:pt x="0" y="17"/>
                </a:lnTo>
                <a:lnTo>
                  <a:pt x="0" y="21"/>
                </a:lnTo>
                <a:lnTo>
                  <a:pt x="0" y="21"/>
                </a:lnTo>
                <a:lnTo>
                  <a:pt x="0" y="24"/>
                </a:lnTo>
                <a:lnTo>
                  <a:pt x="0" y="28"/>
                </a:lnTo>
                <a:lnTo>
                  <a:pt x="4" y="28"/>
                </a:lnTo>
                <a:lnTo>
                  <a:pt x="4" y="32"/>
                </a:lnTo>
                <a:lnTo>
                  <a:pt x="7" y="32"/>
                </a:lnTo>
                <a:lnTo>
                  <a:pt x="11" y="32"/>
                </a:lnTo>
                <a:lnTo>
                  <a:pt x="11" y="32"/>
                </a:lnTo>
                <a:lnTo>
                  <a:pt x="14" y="35"/>
                </a:lnTo>
                <a:lnTo>
                  <a:pt x="18" y="32"/>
                </a:lnTo>
                <a:lnTo>
                  <a:pt x="21" y="32"/>
                </a:lnTo>
                <a:lnTo>
                  <a:pt x="21" y="32"/>
                </a:lnTo>
                <a:lnTo>
                  <a:pt x="25" y="32"/>
                </a:lnTo>
                <a:lnTo>
                  <a:pt x="29" y="28"/>
                </a:lnTo>
                <a:lnTo>
                  <a:pt x="29" y="28"/>
                </a:lnTo>
                <a:lnTo>
                  <a:pt x="29" y="24"/>
                </a:lnTo>
                <a:lnTo>
                  <a:pt x="32" y="21"/>
                </a:lnTo>
                <a:lnTo>
                  <a:pt x="32" y="21"/>
                </a:lnTo>
                <a:lnTo>
                  <a:pt x="32" y="17"/>
                </a:lnTo>
                <a:lnTo>
                  <a:pt x="32" y="17"/>
                </a:lnTo>
              </a:path>
            </a:pathLst>
          </a:custGeom>
          <a:noFill/>
          <a:ln w="11113">
            <a:solidFill>
              <a:srgbClr val="000000"/>
            </a:solidFill>
            <a:prstDash val="solid"/>
            <a:round/>
            <a:headEnd/>
            <a:tailEnd/>
          </a:ln>
        </p:spPr>
        <p:txBody>
          <a:bodyPr/>
          <a:lstStyle/>
          <a:p>
            <a:endParaRPr lang="zh-CN" altLang="en-US"/>
          </a:p>
        </p:txBody>
      </p:sp>
      <p:sp>
        <p:nvSpPr>
          <p:cNvPr id="69" name="Freeform 67"/>
          <p:cNvSpPr>
            <a:spLocks/>
          </p:cNvSpPr>
          <p:nvPr/>
        </p:nvSpPr>
        <p:spPr bwMode="auto">
          <a:xfrm>
            <a:off x="2662610" y="2369592"/>
            <a:ext cx="50800" cy="55563"/>
          </a:xfrm>
          <a:custGeom>
            <a:avLst/>
            <a:gdLst/>
            <a:ahLst/>
            <a:cxnLst>
              <a:cxn ang="0">
                <a:pos x="32" y="14"/>
              </a:cxn>
              <a:cxn ang="0">
                <a:pos x="32" y="21"/>
              </a:cxn>
              <a:cxn ang="0">
                <a:pos x="32" y="21"/>
              </a:cxn>
              <a:cxn ang="0">
                <a:pos x="32" y="24"/>
              </a:cxn>
              <a:cxn ang="0">
                <a:pos x="28" y="28"/>
              </a:cxn>
              <a:cxn ang="0">
                <a:pos x="28" y="28"/>
              </a:cxn>
              <a:cxn ang="0">
                <a:pos x="25" y="32"/>
              </a:cxn>
              <a:cxn ang="0">
                <a:pos x="25" y="32"/>
              </a:cxn>
              <a:cxn ang="0">
                <a:pos x="21" y="32"/>
              </a:cxn>
              <a:cxn ang="0">
                <a:pos x="18" y="32"/>
              </a:cxn>
              <a:cxn ang="0">
                <a:pos x="14" y="35"/>
              </a:cxn>
              <a:cxn ang="0">
                <a:pos x="14" y="32"/>
              </a:cxn>
              <a:cxn ang="0">
                <a:pos x="11" y="32"/>
              </a:cxn>
              <a:cxn ang="0">
                <a:pos x="7" y="32"/>
              </a:cxn>
              <a:cxn ang="0">
                <a:pos x="7" y="32"/>
              </a:cxn>
              <a:cxn ang="0">
                <a:pos x="4" y="28"/>
              </a:cxn>
              <a:cxn ang="0">
                <a:pos x="4" y="28"/>
              </a:cxn>
              <a:cxn ang="0">
                <a:pos x="0" y="24"/>
              </a:cxn>
              <a:cxn ang="0">
                <a:pos x="0" y="21"/>
              </a:cxn>
              <a:cxn ang="0">
                <a:pos x="0" y="21"/>
              </a:cxn>
              <a:cxn ang="0">
                <a:pos x="0" y="17"/>
              </a:cxn>
              <a:cxn ang="0">
                <a:pos x="0" y="14"/>
              </a:cxn>
              <a:cxn ang="0">
                <a:pos x="0" y="10"/>
              </a:cxn>
              <a:cxn ang="0">
                <a:pos x="0" y="10"/>
              </a:cxn>
              <a:cxn ang="0">
                <a:pos x="4" y="7"/>
              </a:cxn>
              <a:cxn ang="0">
                <a:pos x="4" y="7"/>
              </a:cxn>
              <a:cxn ang="0">
                <a:pos x="7" y="3"/>
              </a:cxn>
              <a:cxn ang="0">
                <a:pos x="7" y="3"/>
              </a:cxn>
              <a:cxn ang="0">
                <a:pos x="11" y="0"/>
              </a:cxn>
              <a:cxn ang="0">
                <a:pos x="14" y="0"/>
              </a:cxn>
              <a:cxn ang="0">
                <a:pos x="14" y="0"/>
              </a:cxn>
              <a:cxn ang="0">
                <a:pos x="18" y="0"/>
              </a:cxn>
              <a:cxn ang="0">
                <a:pos x="21" y="0"/>
              </a:cxn>
              <a:cxn ang="0">
                <a:pos x="25" y="3"/>
              </a:cxn>
              <a:cxn ang="0">
                <a:pos x="25" y="3"/>
              </a:cxn>
              <a:cxn ang="0">
                <a:pos x="28" y="7"/>
              </a:cxn>
              <a:cxn ang="0">
                <a:pos x="28" y="7"/>
              </a:cxn>
              <a:cxn ang="0">
                <a:pos x="32" y="10"/>
              </a:cxn>
              <a:cxn ang="0">
                <a:pos x="32" y="10"/>
              </a:cxn>
              <a:cxn ang="0">
                <a:pos x="32" y="14"/>
              </a:cxn>
              <a:cxn ang="0">
                <a:pos x="32" y="17"/>
              </a:cxn>
              <a:cxn ang="0">
                <a:pos x="32" y="14"/>
              </a:cxn>
            </a:cxnLst>
            <a:rect l="0" t="0" r="r" b="b"/>
            <a:pathLst>
              <a:path w="32" h="35">
                <a:moveTo>
                  <a:pt x="32" y="14"/>
                </a:moveTo>
                <a:lnTo>
                  <a:pt x="32" y="21"/>
                </a:lnTo>
                <a:lnTo>
                  <a:pt x="32" y="21"/>
                </a:lnTo>
                <a:lnTo>
                  <a:pt x="32" y="24"/>
                </a:lnTo>
                <a:lnTo>
                  <a:pt x="28" y="28"/>
                </a:lnTo>
                <a:lnTo>
                  <a:pt x="28" y="28"/>
                </a:lnTo>
                <a:lnTo>
                  <a:pt x="25" y="32"/>
                </a:lnTo>
                <a:lnTo>
                  <a:pt x="25" y="32"/>
                </a:lnTo>
                <a:lnTo>
                  <a:pt x="21" y="32"/>
                </a:lnTo>
                <a:lnTo>
                  <a:pt x="18" y="32"/>
                </a:lnTo>
                <a:lnTo>
                  <a:pt x="14" y="35"/>
                </a:lnTo>
                <a:lnTo>
                  <a:pt x="14" y="32"/>
                </a:lnTo>
                <a:lnTo>
                  <a:pt x="11" y="32"/>
                </a:lnTo>
                <a:lnTo>
                  <a:pt x="7" y="32"/>
                </a:lnTo>
                <a:lnTo>
                  <a:pt x="7" y="32"/>
                </a:lnTo>
                <a:lnTo>
                  <a:pt x="4" y="28"/>
                </a:lnTo>
                <a:lnTo>
                  <a:pt x="4" y="28"/>
                </a:lnTo>
                <a:lnTo>
                  <a:pt x="0" y="24"/>
                </a:lnTo>
                <a:lnTo>
                  <a:pt x="0" y="21"/>
                </a:lnTo>
                <a:lnTo>
                  <a:pt x="0" y="21"/>
                </a:lnTo>
                <a:lnTo>
                  <a:pt x="0" y="17"/>
                </a:lnTo>
                <a:lnTo>
                  <a:pt x="0" y="14"/>
                </a:lnTo>
                <a:lnTo>
                  <a:pt x="0" y="10"/>
                </a:lnTo>
                <a:lnTo>
                  <a:pt x="0" y="10"/>
                </a:lnTo>
                <a:lnTo>
                  <a:pt x="4" y="7"/>
                </a:lnTo>
                <a:lnTo>
                  <a:pt x="4" y="7"/>
                </a:lnTo>
                <a:lnTo>
                  <a:pt x="7" y="3"/>
                </a:lnTo>
                <a:lnTo>
                  <a:pt x="7" y="3"/>
                </a:lnTo>
                <a:lnTo>
                  <a:pt x="11" y="0"/>
                </a:lnTo>
                <a:lnTo>
                  <a:pt x="14" y="0"/>
                </a:lnTo>
                <a:lnTo>
                  <a:pt x="14" y="0"/>
                </a:lnTo>
                <a:lnTo>
                  <a:pt x="18" y="0"/>
                </a:lnTo>
                <a:lnTo>
                  <a:pt x="21" y="0"/>
                </a:lnTo>
                <a:lnTo>
                  <a:pt x="25" y="3"/>
                </a:lnTo>
                <a:lnTo>
                  <a:pt x="25" y="3"/>
                </a:lnTo>
                <a:lnTo>
                  <a:pt x="28" y="7"/>
                </a:lnTo>
                <a:lnTo>
                  <a:pt x="28" y="7"/>
                </a:lnTo>
                <a:lnTo>
                  <a:pt x="32" y="10"/>
                </a:lnTo>
                <a:lnTo>
                  <a:pt x="32" y="10"/>
                </a:lnTo>
                <a:lnTo>
                  <a:pt x="32" y="14"/>
                </a:lnTo>
                <a:lnTo>
                  <a:pt x="32" y="17"/>
                </a:lnTo>
                <a:lnTo>
                  <a:pt x="32" y="14"/>
                </a:lnTo>
                <a:close/>
              </a:path>
            </a:pathLst>
          </a:custGeom>
          <a:solidFill>
            <a:srgbClr val="000000"/>
          </a:solidFill>
          <a:ln w="9525">
            <a:noFill/>
            <a:round/>
            <a:headEnd/>
            <a:tailEnd/>
          </a:ln>
        </p:spPr>
        <p:txBody>
          <a:bodyPr/>
          <a:lstStyle/>
          <a:p>
            <a:endParaRPr lang="zh-CN" altLang="en-US"/>
          </a:p>
        </p:txBody>
      </p:sp>
      <p:sp>
        <p:nvSpPr>
          <p:cNvPr id="70" name="Freeform 68"/>
          <p:cNvSpPr>
            <a:spLocks/>
          </p:cNvSpPr>
          <p:nvPr/>
        </p:nvSpPr>
        <p:spPr bwMode="auto">
          <a:xfrm>
            <a:off x="2662610" y="2369592"/>
            <a:ext cx="50800" cy="55563"/>
          </a:xfrm>
          <a:custGeom>
            <a:avLst/>
            <a:gdLst/>
            <a:ahLst/>
            <a:cxnLst>
              <a:cxn ang="0">
                <a:pos x="32" y="14"/>
              </a:cxn>
              <a:cxn ang="0">
                <a:pos x="32" y="14"/>
              </a:cxn>
              <a:cxn ang="0">
                <a:pos x="32" y="10"/>
              </a:cxn>
              <a:cxn ang="0">
                <a:pos x="32" y="10"/>
              </a:cxn>
              <a:cxn ang="0">
                <a:pos x="28" y="7"/>
              </a:cxn>
              <a:cxn ang="0">
                <a:pos x="28" y="7"/>
              </a:cxn>
              <a:cxn ang="0">
                <a:pos x="25" y="3"/>
              </a:cxn>
              <a:cxn ang="0">
                <a:pos x="25" y="3"/>
              </a:cxn>
              <a:cxn ang="0">
                <a:pos x="21" y="0"/>
              </a:cxn>
              <a:cxn ang="0">
                <a:pos x="18" y="0"/>
              </a:cxn>
              <a:cxn ang="0">
                <a:pos x="14" y="0"/>
              </a:cxn>
              <a:cxn ang="0">
                <a:pos x="14" y="0"/>
              </a:cxn>
              <a:cxn ang="0">
                <a:pos x="11" y="0"/>
              </a:cxn>
              <a:cxn ang="0">
                <a:pos x="7" y="3"/>
              </a:cxn>
              <a:cxn ang="0">
                <a:pos x="7" y="3"/>
              </a:cxn>
              <a:cxn ang="0">
                <a:pos x="4" y="7"/>
              </a:cxn>
              <a:cxn ang="0">
                <a:pos x="4" y="7"/>
              </a:cxn>
              <a:cxn ang="0">
                <a:pos x="0" y="10"/>
              </a:cxn>
              <a:cxn ang="0">
                <a:pos x="0" y="10"/>
              </a:cxn>
              <a:cxn ang="0">
                <a:pos x="0" y="14"/>
              </a:cxn>
              <a:cxn ang="0">
                <a:pos x="0" y="17"/>
              </a:cxn>
              <a:cxn ang="0">
                <a:pos x="0" y="21"/>
              </a:cxn>
              <a:cxn ang="0">
                <a:pos x="0" y="21"/>
              </a:cxn>
              <a:cxn ang="0">
                <a:pos x="0" y="24"/>
              </a:cxn>
              <a:cxn ang="0">
                <a:pos x="4" y="28"/>
              </a:cxn>
              <a:cxn ang="0">
                <a:pos x="4" y="28"/>
              </a:cxn>
              <a:cxn ang="0">
                <a:pos x="7" y="32"/>
              </a:cxn>
              <a:cxn ang="0">
                <a:pos x="7" y="32"/>
              </a:cxn>
              <a:cxn ang="0">
                <a:pos x="11" y="32"/>
              </a:cxn>
              <a:cxn ang="0">
                <a:pos x="14" y="32"/>
              </a:cxn>
              <a:cxn ang="0">
                <a:pos x="14" y="35"/>
              </a:cxn>
              <a:cxn ang="0">
                <a:pos x="18" y="32"/>
              </a:cxn>
              <a:cxn ang="0">
                <a:pos x="21" y="32"/>
              </a:cxn>
              <a:cxn ang="0">
                <a:pos x="25" y="32"/>
              </a:cxn>
              <a:cxn ang="0">
                <a:pos x="25" y="32"/>
              </a:cxn>
              <a:cxn ang="0">
                <a:pos x="28" y="28"/>
              </a:cxn>
              <a:cxn ang="0">
                <a:pos x="28" y="28"/>
              </a:cxn>
              <a:cxn ang="0">
                <a:pos x="32" y="24"/>
              </a:cxn>
              <a:cxn ang="0">
                <a:pos x="32" y="21"/>
              </a:cxn>
              <a:cxn ang="0">
                <a:pos x="32" y="21"/>
              </a:cxn>
              <a:cxn ang="0">
                <a:pos x="32" y="17"/>
              </a:cxn>
              <a:cxn ang="0">
                <a:pos x="32" y="17"/>
              </a:cxn>
            </a:cxnLst>
            <a:rect l="0" t="0" r="r" b="b"/>
            <a:pathLst>
              <a:path w="32" h="35">
                <a:moveTo>
                  <a:pt x="32" y="14"/>
                </a:moveTo>
                <a:lnTo>
                  <a:pt x="32" y="14"/>
                </a:lnTo>
                <a:lnTo>
                  <a:pt x="32" y="10"/>
                </a:lnTo>
                <a:lnTo>
                  <a:pt x="32" y="10"/>
                </a:lnTo>
                <a:lnTo>
                  <a:pt x="28" y="7"/>
                </a:lnTo>
                <a:lnTo>
                  <a:pt x="28" y="7"/>
                </a:lnTo>
                <a:lnTo>
                  <a:pt x="25" y="3"/>
                </a:lnTo>
                <a:lnTo>
                  <a:pt x="25" y="3"/>
                </a:lnTo>
                <a:lnTo>
                  <a:pt x="21" y="0"/>
                </a:lnTo>
                <a:lnTo>
                  <a:pt x="18" y="0"/>
                </a:lnTo>
                <a:lnTo>
                  <a:pt x="14" y="0"/>
                </a:lnTo>
                <a:lnTo>
                  <a:pt x="14" y="0"/>
                </a:lnTo>
                <a:lnTo>
                  <a:pt x="11" y="0"/>
                </a:lnTo>
                <a:lnTo>
                  <a:pt x="7" y="3"/>
                </a:lnTo>
                <a:lnTo>
                  <a:pt x="7" y="3"/>
                </a:lnTo>
                <a:lnTo>
                  <a:pt x="4" y="7"/>
                </a:lnTo>
                <a:lnTo>
                  <a:pt x="4" y="7"/>
                </a:lnTo>
                <a:lnTo>
                  <a:pt x="0" y="10"/>
                </a:lnTo>
                <a:lnTo>
                  <a:pt x="0" y="10"/>
                </a:lnTo>
                <a:lnTo>
                  <a:pt x="0" y="14"/>
                </a:lnTo>
                <a:lnTo>
                  <a:pt x="0" y="17"/>
                </a:lnTo>
                <a:lnTo>
                  <a:pt x="0" y="21"/>
                </a:lnTo>
                <a:lnTo>
                  <a:pt x="0" y="21"/>
                </a:lnTo>
                <a:lnTo>
                  <a:pt x="0" y="24"/>
                </a:lnTo>
                <a:lnTo>
                  <a:pt x="4" y="28"/>
                </a:lnTo>
                <a:lnTo>
                  <a:pt x="4" y="28"/>
                </a:lnTo>
                <a:lnTo>
                  <a:pt x="7" y="32"/>
                </a:lnTo>
                <a:lnTo>
                  <a:pt x="7" y="32"/>
                </a:lnTo>
                <a:lnTo>
                  <a:pt x="11" y="32"/>
                </a:lnTo>
                <a:lnTo>
                  <a:pt x="14" y="32"/>
                </a:lnTo>
                <a:lnTo>
                  <a:pt x="14" y="35"/>
                </a:lnTo>
                <a:lnTo>
                  <a:pt x="18" y="32"/>
                </a:lnTo>
                <a:lnTo>
                  <a:pt x="21" y="32"/>
                </a:lnTo>
                <a:lnTo>
                  <a:pt x="25" y="32"/>
                </a:lnTo>
                <a:lnTo>
                  <a:pt x="25" y="32"/>
                </a:lnTo>
                <a:lnTo>
                  <a:pt x="28" y="28"/>
                </a:lnTo>
                <a:lnTo>
                  <a:pt x="28" y="28"/>
                </a:lnTo>
                <a:lnTo>
                  <a:pt x="32" y="24"/>
                </a:lnTo>
                <a:lnTo>
                  <a:pt x="32" y="21"/>
                </a:lnTo>
                <a:lnTo>
                  <a:pt x="32" y="21"/>
                </a:lnTo>
                <a:lnTo>
                  <a:pt x="32" y="17"/>
                </a:lnTo>
                <a:lnTo>
                  <a:pt x="32" y="17"/>
                </a:lnTo>
              </a:path>
            </a:pathLst>
          </a:custGeom>
          <a:noFill/>
          <a:ln w="11113">
            <a:solidFill>
              <a:srgbClr val="000000"/>
            </a:solidFill>
            <a:prstDash val="solid"/>
            <a:round/>
            <a:headEnd/>
            <a:tailEnd/>
          </a:ln>
        </p:spPr>
        <p:txBody>
          <a:bodyPr/>
          <a:lstStyle/>
          <a:p>
            <a:endParaRPr lang="zh-CN" altLang="en-US"/>
          </a:p>
        </p:txBody>
      </p:sp>
      <p:sp>
        <p:nvSpPr>
          <p:cNvPr id="71" name="Freeform 69"/>
          <p:cNvSpPr>
            <a:spLocks/>
          </p:cNvSpPr>
          <p:nvPr/>
        </p:nvSpPr>
        <p:spPr bwMode="auto">
          <a:xfrm>
            <a:off x="2870573" y="2369592"/>
            <a:ext cx="50800" cy="55563"/>
          </a:xfrm>
          <a:custGeom>
            <a:avLst/>
            <a:gdLst/>
            <a:ahLst/>
            <a:cxnLst>
              <a:cxn ang="0">
                <a:pos x="32" y="14"/>
              </a:cxn>
              <a:cxn ang="0">
                <a:pos x="32" y="21"/>
              </a:cxn>
              <a:cxn ang="0">
                <a:pos x="32" y="21"/>
              </a:cxn>
              <a:cxn ang="0">
                <a:pos x="32" y="24"/>
              </a:cxn>
              <a:cxn ang="0">
                <a:pos x="28" y="28"/>
              </a:cxn>
              <a:cxn ang="0">
                <a:pos x="28" y="28"/>
              </a:cxn>
              <a:cxn ang="0">
                <a:pos x="25" y="32"/>
              </a:cxn>
              <a:cxn ang="0">
                <a:pos x="25" y="32"/>
              </a:cxn>
              <a:cxn ang="0">
                <a:pos x="21" y="32"/>
              </a:cxn>
              <a:cxn ang="0">
                <a:pos x="17" y="32"/>
              </a:cxn>
              <a:cxn ang="0">
                <a:pos x="17" y="35"/>
              </a:cxn>
              <a:cxn ang="0">
                <a:pos x="14" y="32"/>
              </a:cxn>
              <a:cxn ang="0">
                <a:pos x="10" y="32"/>
              </a:cxn>
              <a:cxn ang="0">
                <a:pos x="10" y="32"/>
              </a:cxn>
              <a:cxn ang="0">
                <a:pos x="7" y="32"/>
              </a:cxn>
              <a:cxn ang="0">
                <a:pos x="3" y="28"/>
              </a:cxn>
              <a:cxn ang="0">
                <a:pos x="3" y="28"/>
              </a:cxn>
              <a:cxn ang="0">
                <a:pos x="3" y="24"/>
              </a:cxn>
              <a:cxn ang="0">
                <a:pos x="0" y="21"/>
              </a:cxn>
              <a:cxn ang="0">
                <a:pos x="0" y="21"/>
              </a:cxn>
              <a:cxn ang="0">
                <a:pos x="0" y="17"/>
              </a:cxn>
              <a:cxn ang="0">
                <a:pos x="0" y="14"/>
              </a:cxn>
              <a:cxn ang="0">
                <a:pos x="0" y="10"/>
              </a:cxn>
              <a:cxn ang="0">
                <a:pos x="3" y="10"/>
              </a:cxn>
              <a:cxn ang="0">
                <a:pos x="3" y="7"/>
              </a:cxn>
              <a:cxn ang="0">
                <a:pos x="3" y="7"/>
              </a:cxn>
              <a:cxn ang="0">
                <a:pos x="7" y="3"/>
              </a:cxn>
              <a:cxn ang="0">
                <a:pos x="10" y="3"/>
              </a:cxn>
              <a:cxn ang="0">
                <a:pos x="10" y="0"/>
              </a:cxn>
              <a:cxn ang="0">
                <a:pos x="14" y="0"/>
              </a:cxn>
              <a:cxn ang="0">
                <a:pos x="17" y="0"/>
              </a:cxn>
              <a:cxn ang="0">
                <a:pos x="17" y="0"/>
              </a:cxn>
              <a:cxn ang="0">
                <a:pos x="21" y="0"/>
              </a:cxn>
              <a:cxn ang="0">
                <a:pos x="25" y="3"/>
              </a:cxn>
              <a:cxn ang="0">
                <a:pos x="25" y="3"/>
              </a:cxn>
              <a:cxn ang="0">
                <a:pos x="28" y="7"/>
              </a:cxn>
              <a:cxn ang="0">
                <a:pos x="28" y="7"/>
              </a:cxn>
              <a:cxn ang="0">
                <a:pos x="32" y="10"/>
              </a:cxn>
              <a:cxn ang="0">
                <a:pos x="32" y="10"/>
              </a:cxn>
              <a:cxn ang="0">
                <a:pos x="32" y="14"/>
              </a:cxn>
              <a:cxn ang="0">
                <a:pos x="32" y="17"/>
              </a:cxn>
              <a:cxn ang="0">
                <a:pos x="32" y="14"/>
              </a:cxn>
            </a:cxnLst>
            <a:rect l="0" t="0" r="r" b="b"/>
            <a:pathLst>
              <a:path w="32" h="35">
                <a:moveTo>
                  <a:pt x="32" y="14"/>
                </a:moveTo>
                <a:lnTo>
                  <a:pt x="32" y="21"/>
                </a:lnTo>
                <a:lnTo>
                  <a:pt x="32" y="21"/>
                </a:lnTo>
                <a:lnTo>
                  <a:pt x="32" y="24"/>
                </a:lnTo>
                <a:lnTo>
                  <a:pt x="28" y="28"/>
                </a:lnTo>
                <a:lnTo>
                  <a:pt x="28" y="28"/>
                </a:lnTo>
                <a:lnTo>
                  <a:pt x="25" y="32"/>
                </a:lnTo>
                <a:lnTo>
                  <a:pt x="25" y="32"/>
                </a:lnTo>
                <a:lnTo>
                  <a:pt x="21" y="32"/>
                </a:lnTo>
                <a:lnTo>
                  <a:pt x="17" y="32"/>
                </a:lnTo>
                <a:lnTo>
                  <a:pt x="17" y="35"/>
                </a:lnTo>
                <a:lnTo>
                  <a:pt x="14" y="32"/>
                </a:lnTo>
                <a:lnTo>
                  <a:pt x="10" y="32"/>
                </a:lnTo>
                <a:lnTo>
                  <a:pt x="10" y="32"/>
                </a:lnTo>
                <a:lnTo>
                  <a:pt x="7" y="32"/>
                </a:lnTo>
                <a:lnTo>
                  <a:pt x="3" y="28"/>
                </a:lnTo>
                <a:lnTo>
                  <a:pt x="3" y="28"/>
                </a:lnTo>
                <a:lnTo>
                  <a:pt x="3" y="24"/>
                </a:lnTo>
                <a:lnTo>
                  <a:pt x="0" y="21"/>
                </a:lnTo>
                <a:lnTo>
                  <a:pt x="0" y="21"/>
                </a:lnTo>
                <a:lnTo>
                  <a:pt x="0" y="17"/>
                </a:lnTo>
                <a:lnTo>
                  <a:pt x="0" y="14"/>
                </a:lnTo>
                <a:lnTo>
                  <a:pt x="0" y="10"/>
                </a:lnTo>
                <a:lnTo>
                  <a:pt x="3" y="10"/>
                </a:lnTo>
                <a:lnTo>
                  <a:pt x="3" y="7"/>
                </a:lnTo>
                <a:lnTo>
                  <a:pt x="3" y="7"/>
                </a:lnTo>
                <a:lnTo>
                  <a:pt x="7" y="3"/>
                </a:lnTo>
                <a:lnTo>
                  <a:pt x="10" y="3"/>
                </a:lnTo>
                <a:lnTo>
                  <a:pt x="10" y="0"/>
                </a:lnTo>
                <a:lnTo>
                  <a:pt x="14" y="0"/>
                </a:lnTo>
                <a:lnTo>
                  <a:pt x="17" y="0"/>
                </a:lnTo>
                <a:lnTo>
                  <a:pt x="17" y="0"/>
                </a:lnTo>
                <a:lnTo>
                  <a:pt x="21" y="0"/>
                </a:lnTo>
                <a:lnTo>
                  <a:pt x="25" y="3"/>
                </a:lnTo>
                <a:lnTo>
                  <a:pt x="25" y="3"/>
                </a:lnTo>
                <a:lnTo>
                  <a:pt x="28" y="7"/>
                </a:lnTo>
                <a:lnTo>
                  <a:pt x="28" y="7"/>
                </a:lnTo>
                <a:lnTo>
                  <a:pt x="32" y="10"/>
                </a:lnTo>
                <a:lnTo>
                  <a:pt x="32" y="10"/>
                </a:lnTo>
                <a:lnTo>
                  <a:pt x="32" y="14"/>
                </a:lnTo>
                <a:lnTo>
                  <a:pt x="32" y="17"/>
                </a:lnTo>
                <a:lnTo>
                  <a:pt x="32" y="14"/>
                </a:lnTo>
                <a:close/>
              </a:path>
            </a:pathLst>
          </a:custGeom>
          <a:solidFill>
            <a:srgbClr val="000000"/>
          </a:solidFill>
          <a:ln w="9525">
            <a:noFill/>
            <a:round/>
            <a:headEnd/>
            <a:tailEnd/>
          </a:ln>
        </p:spPr>
        <p:txBody>
          <a:bodyPr/>
          <a:lstStyle/>
          <a:p>
            <a:endParaRPr lang="zh-CN" altLang="en-US"/>
          </a:p>
        </p:txBody>
      </p:sp>
      <p:sp>
        <p:nvSpPr>
          <p:cNvPr id="72" name="Freeform 70"/>
          <p:cNvSpPr>
            <a:spLocks/>
          </p:cNvSpPr>
          <p:nvPr/>
        </p:nvSpPr>
        <p:spPr bwMode="auto">
          <a:xfrm>
            <a:off x="2870573" y="2369592"/>
            <a:ext cx="50800" cy="55563"/>
          </a:xfrm>
          <a:custGeom>
            <a:avLst/>
            <a:gdLst/>
            <a:ahLst/>
            <a:cxnLst>
              <a:cxn ang="0">
                <a:pos x="32" y="14"/>
              </a:cxn>
              <a:cxn ang="0">
                <a:pos x="32" y="14"/>
              </a:cxn>
              <a:cxn ang="0">
                <a:pos x="32" y="10"/>
              </a:cxn>
              <a:cxn ang="0">
                <a:pos x="32" y="10"/>
              </a:cxn>
              <a:cxn ang="0">
                <a:pos x="28" y="7"/>
              </a:cxn>
              <a:cxn ang="0">
                <a:pos x="28" y="7"/>
              </a:cxn>
              <a:cxn ang="0">
                <a:pos x="25" y="3"/>
              </a:cxn>
              <a:cxn ang="0">
                <a:pos x="25" y="3"/>
              </a:cxn>
              <a:cxn ang="0">
                <a:pos x="21" y="0"/>
              </a:cxn>
              <a:cxn ang="0">
                <a:pos x="17" y="0"/>
              </a:cxn>
              <a:cxn ang="0">
                <a:pos x="17" y="0"/>
              </a:cxn>
              <a:cxn ang="0">
                <a:pos x="14" y="0"/>
              </a:cxn>
              <a:cxn ang="0">
                <a:pos x="10" y="0"/>
              </a:cxn>
              <a:cxn ang="0">
                <a:pos x="10" y="3"/>
              </a:cxn>
              <a:cxn ang="0">
                <a:pos x="7" y="3"/>
              </a:cxn>
              <a:cxn ang="0">
                <a:pos x="3" y="7"/>
              </a:cxn>
              <a:cxn ang="0">
                <a:pos x="3" y="7"/>
              </a:cxn>
              <a:cxn ang="0">
                <a:pos x="3" y="10"/>
              </a:cxn>
              <a:cxn ang="0">
                <a:pos x="0" y="10"/>
              </a:cxn>
              <a:cxn ang="0">
                <a:pos x="0" y="14"/>
              </a:cxn>
              <a:cxn ang="0">
                <a:pos x="0" y="17"/>
              </a:cxn>
              <a:cxn ang="0">
                <a:pos x="0" y="21"/>
              </a:cxn>
              <a:cxn ang="0">
                <a:pos x="0" y="21"/>
              </a:cxn>
              <a:cxn ang="0">
                <a:pos x="3" y="24"/>
              </a:cxn>
              <a:cxn ang="0">
                <a:pos x="3" y="28"/>
              </a:cxn>
              <a:cxn ang="0">
                <a:pos x="3" y="28"/>
              </a:cxn>
              <a:cxn ang="0">
                <a:pos x="7" y="32"/>
              </a:cxn>
              <a:cxn ang="0">
                <a:pos x="10" y="32"/>
              </a:cxn>
              <a:cxn ang="0">
                <a:pos x="10" y="32"/>
              </a:cxn>
              <a:cxn ang="0">
                <a:pos x="14" y="32"/>
              </a:cxn>
              <a:cxn ang="0">
                <a:pos x="17" y="35"/>
              </a:cxn>
              <a:cxn ang="0">
                <a:pos x="17" y="32"/>
              </a:cxn>
              <a:cxn ang="0">
                <a:pos x="21" y="32"/>
              </a:cxn>
              <a:cxn ang="0">
                <a:pos x="25" y="32"/>
              </a:cxn>
              <a:cxn ang="0">
                <a:pos x="25" y="32"/>
              </a:cxn>
              <a:cxn ang="0">
                <a:pos x="28" y="28"/>
              </a:cxn>
              <a:cxn ang="0">
                <a:pos x="28" y="28"/>
              </a:cxn>
              <a:cxn ang="0">
                <a:pos x="32" y="24"/>
              </a:cxn>
              <a:cxn ang="0">
                <a:pos x="32" y="21"/>
              </a:cxn>
              <a:cxn ang="0">
                <a:pos x="32" y="21"/>
              </a:cxn>
              <a:cxn ang="0">
                <a:pos x="32" y="17"/>
              </a:cxn>
              <a:cxn ang="0">
                <a:pos x="32" y="17"/>
              </a:cxn>
            </a:cxnLst>
            <a:rect l="0" t="0" r="r" b="b"/>
            <a:pathLst>
              <a:path w="32" h="35">
                <a:moveTo>
                  <a:pt x="32" y="14"/>
                </a:moveTo>
                <a:lnTo>
                  <a:pt x="32" y="14"/>
                </a:lnTo>
                <a:lnTo>
                  <a:pt x="32" y="10"/>
                </a:lnTo>
                <a:lnTo>
                  <a:pt x="32" y="10"/>
                </a:lnTo>
                <a:lnTo>
                  <a:pt x="28" y="7"/>
                </a:lnTo>
                <a:lnTo>
                  <a:pt x="28" y="7"/>
                </a:lnTo>
                <a:lnTo>
                  <a:pt x="25" y="3"/>
                </a:lnTo>
                <a:lnTo>
                  <a:pt x="25" y="3"/>
                </a:lnTo>
                <a:lnTo>
                  <a:pt x="21" y="0"/>
                </a:lnTo>
                <a:lnTo>
                  <a:pt x="17" y="0"/>
                </a:lnTo>
                <a:lnTo>
                  <a:pt x="17" y="0"/>
                </a:lnTo>
                <a:lnTo>
                  <a:pt x="14" y="0"/>
                </a:lnTo>
                <a:lnTo>
                  <a:pt x="10" y="0"/>
                </a:lnTo>
                <a:lnTo>
                  <a:pt x="10" y="3"/>
                </a:lnTo>
                <a:lnTo>
                  <a:pt x="7" y="3"/>
                </a:lnTo>
                <a:lnTo>
                  <a:pt x="3" y="7"/>
                </a:lnTo>
                <a:lnTo>
                  <a:pt x="3" y="7"/>
                </a:lnTo>
                <a:lnTo>
                  <a:pt x="3" y="10"/>
                </a:lnTo>
                <a:lnTo>
                  <a:pt x="0" y="10"/>
                </a:lnTo>
                <a:lnTo>
                  <a:pt x="0" y="14"/>
                </a:lnTo>
                <a:lnTo>
                  <a:pt x="0" y="17"/>
                </a:lnTo>
                <a:lnTo>
                  <a:pt x="0" y="21"/>
                </a:lnTo>
                <a:lnTo>
                  <a:pt x="0" y="21"/>
                </a:lnTo>
                <a:lnTo>
                  <a:pt x="3" y="24"/>
                </a:lnTo>
                <a:lnTo>
                  <a:pt x="3" y="28"/>
                </a:lnTo>
                <a:lnTo>
                  <a:pt x="3" y="28"/>
                </a:lnTo>
                <a:lnTo>
                  <a:pt x="7" y="32"/>
                </a:lnTo>
                <a:lnTo>
                  <a:pt x="10" y="32"/>
                </a:lnTo>
                <a:lnTo>
                  <a:pt x="10" y="32"/>
                </a:lnTo>
                <a:lnTo>
                  <a:pt x="14" y="32"/>
                </a:lnTo>
                <a:lnTo>
                  <a:pt x="17" y="35"/>
                </a:lnTo>
                <a:lnTo>
                  <a:pt x="17" y="32"/>
                </a:lnTo>
                <a:lnTo>
                  <a:pt x="21" y="32"/>
                </a:lnTo>
                <a:lnTo>
                  <a:pt x="25" y="32"/>
                </a:lnTo>
                <a:lnTo>
                  <a:pt x="25" y="32"/>
                </a:lnTo>
                <a:lnTo>
                  <a:pt x="28" y="28"/>
                </a:lnTo>
                <a:lnTo>
                  <a:pt x="28" y="28"/>
                </a:lnTo>
                <a:lnTo>
                  <a:pt x="32" y="24"/>
                </a:lnTo>
                <a:lnTo>
                  <a:pt x="32" y="21"/>
                </a:lnTo>
                <a:lnTo>
                  <a:pt x="32" y="21"/>
                </a:lnTo>
                <a:lnTo>
                  <a:pt x="32" y="17"/>
                </a:lnTo>
                <a:lnTo>
                  <a:pt x="32" y="17"/>
                </a:lnTo>
              </a:path>
            </a:pathLst>
          </a:custGeom>
          <a:noFill/>
          <a:ln w="11113">
            <a:solidFill>
              <a:srgbClr val="000000"/>
            </a:solidFill>
            <a:prstDash val="solid"/>
            <a:round/>
            <a:headEnd/>
            <a:tailEnd/>
          </a:ln>
        </p:spPr>
        <p:txBody>
          <a:bodyPr/>
          <a:lstStyle/>
          <a:p>
            <a:endParaRPr lang="zh-CN" altLang="en-US"/>
          </a:p>
        </p:txBody>
      </p:sp>
      <p:sp>
        <p:nvSpPr>
          <p:cNvPr id="73" name="Freeform 71"/>
          <p:cNvSpPr>
            <a:spLocks/>
          </p:cNvSpPr>
          <p:nvPr/>
        </p:nvSpPr>
        <p:spPr bwMode="auto">
          <a:xfrm>
            <a:off x="2248273" y="2575967"/>
            <a:ext cx="50800" cy="57150"/>
          </a:xfrm>
          <a:custGeom>
            <a:avLst/>
            <a:gdLst/>
            <a:ahLst/>
            <a:cxnLst>
              <a:cxn ang="0">
                <a:pos x="28" y="18"/>
              </a:cxn>
              <a:cxn ang="0">
                <a:pos x="32" y="22"/>
              </a:cxn>
              <a:cxn ang="0">
                <a:pos x="32" y="25"/>
              </a:cxn>
              <a:cxn ang="0">
                <a:pos x="28" y="25"/>
              </a:cxn>
              <a:cxn ang="0">
                <a:pos x="28" y="29"/>
              </a:cxn>
              <a:cxn ang="0">
                <a:pos x="28" y="29"/>
              </a:cxn>
              <a:cxn ang="0">
                <a:pos x="25" y="32"/>
              </a:cxn>
              <a:cxn ang="0">
                <a:pos x="21" y="32"/>
              </a:cxn>
              <a:cxn ang="0">
                <a:pos x="21" y="36"/>
              </a:cxn>
              <a:cxn ang="0">
                <a:pos x="18" y="36"/>
              </a:cxn>
              <a:cxn ang="0">
                <a:pos x="14" y="36"/>
              </a:cxn>
              <a:cxn ang="0">
                <a:pos x="11" y="36"/>
              </a:cxn>
              <a:cxn ang="0">
                <a:pos x="11" y="36"/>
              </a:cxn>
              <a:cxn ang="0">
                <a:pos x="7" y="32"/>
              </a:cxn>
              <a:cxn ang="0">
                <a:pos x="4" y="32"/>
              </a:cxn>
              <a:cxn ang="0">
                <a:pos x="4" y="29"/>
              </a:cxn>
              <a:cxn ang="0">
                <a:pos x="0" y="29"/>
              </a:cxn>
              <a:cxn ang="0">
                <a:pos x="0" y="25"/>
              </a:cxn>
              <a:cxn ang="0">
                <a:pos x="0" y="25"/>
              </a:cxn>
              <a:cxn ang="0">
                <a:pos x="0" y="22"/>
              </a:cxn>
              <a:cxn ang="0">
                <a:pos x="0" y="18"/>
              </a:cxn>
              <a:cxn ang="0">
                <a:pos x="0" y="15"/>
              </a:cxn>
              <a:cxn ang="0">
                <a:pos x="0" y="15"/>
              </a:cxn>
              <a:cxn ang="0">
                <a:pos x="0" y="11"/>
              </a:cxn>
              <a:cxn ang="0">
                <a:pos x="0" y="7"/>
              </a:cxn>
              <a:cxn ang="0">
                <a:pos x="4" y="7"/>
              </a:cxn>
              <a:cxn ang="0">
                <a:pos x="4" y="4"/>
              </a:cxn>
              <a:cxn ang="0">
                <a:pos x="7" y="4"/>
              </a:cxn>
              <a:cxn ang="0">
                <a:pos x="11" y="4"/>
              </a:cxn>
              <a:cxn ang="0">
                <a:pos x="11" y="4"/>
              </a:cxn>
              <a:cxn ang="0">
                <a:pos x="14" y="0"/>
              </a:cxn>
              <a:cxn ang="0">
                <a:pos x="18" y="4"/>
              </a:cxn>
              <a:cxn ang="0">
                <a:pos x="21" y="4"/>
              </a:cxn>
              <a:cxn ang="0">
                <a:pos x="21" y="4"/>
              </a:cxn>
              <a:cxn ang="0">
                <a:pos x="25" y="4"/>
              </a:cxn>
              <a:cxn ang="0">
                <a:pos x="28" y="7"/>
              </a:cxn>
              <a:cxn ang="0">
                <a:pos x="28" y="7"/>
              </a:cxn>
              <a:cxn ang="0">
                <a:pos x="28" y="11"/>
              </a:cxn>
              <a:cxn ang="0">
                <a:pos x="32" y="15"/>
              </a:cxn>
              <a:cxn ang="0">
                <a:pos x="32" y="15"/>
              </a:cxn>
              <a:cxn ang="0">
                <a:pos x="32" y="18"/>
              </a:cxn>
              <a:cxn ang="0">
                <a:pos x="28" y="18"/>
              </a:cxn>
            </a:cxnLst>
            <a:rect l="0" t="0" r="r" b="b"/>
            <a:pathLst>
              <a:path w="32" h="36">
                <a:moveTo>
                  <a:pt x="28" y="18"/>
                </a:moveTo>
                <a:lnTo>
                  <a:pt x="32" y="22"/>
                </a:lnTo>
                <a:lnTo>
                  <a:pt x="32" y="25"/>
                </a:lnTo>
                <a:lnTo>
                  <a:pt x="28" y="25"/>
                </a:lnTo>
                <a:lnTo>
                  <a:pt x="28" y="29"/>
                </a:lnTo>
                <a:lnTo>
                  <a:pt x="28" y="29"/>
                </a:lnTo>
                <a:lnTo>
                  <a:pt x="25" y="32"/>
                </a:lnTo>
                <a:lnTo>
                  <a:pt x="21" y="32"/>
                </a:lnTo>
                <a:lnTo>
                  <a:pt x="21" y="36"/>
                </a:lnTo>
                <a:lnTo>
                  <a:pt x="18" y="36"/>
                </a:lnTo>
                <a:lnTo>
                  <a:pt x="14" y="36"/>
                </a:lnTo>
                <a:lnTo>
                  <a:pt x="11" y="36"/>
                </a:lnTo>
                <a:lnTo>
                  <a:pt x="11" y="36"/>
                </a:lnTo>
                <a:lnTo>
                  <a:pt x="7" y="32"/>
                </a:lnTo>
                <a:lnTo>
                  <a:pt x="4" y="32"/>
                </a:lnTo>
                <a:lnTo>
                  <a:pt x="4" y="29"/>
                </a:lnTo>
                <a:lnTo>
                  <a:pt x="0" y="29"/>
                </a:lnTo>
                <a:lnTo>
                  <a:pt x="0" y="25"/>
                </a:lnTo>
                <a:lnTo>
                  <a:pt x="0" y="25"/>
                </a:lnTo>
                <a:lnTo>
                  <a:pt x="0" y="22"/>
                </a:lnTo>
                <a:lnTo>
                  <a:pt x="0" y="18"/>
                </a:lnTo>
                <a:lnTo>
                  <a:pt x="0" y="15"/>
                </a:lnTo>
                <a:lnTo>
                  <a:pt x="0" y="15"/>
                </a:lnTo>
                <a:lnTo>
                  <a:pt x="0" y="11"/>
                </a:lnTo>
                <a:lnTo>
                  <a:pt x="0" y="7"/>
                </a:lnTo>
                <a:lnTo>
                  <a:pt x="4" y="7"/>
                </a:lnTo>
                <a:lnTo>
                  <a:pt x="4" y="4"/>
                </a:lnTo>
                <a:lnTo>
                  <a:pt x="7" y="4"/>
                </a:lnTo>
                <a:lnTo>
                  <a:pt x="11" y="4"/>
                </a:lnTo>
                <a:lnTo>
                  <a:pt x="11" y="4"/>
                </a:lnTo>
                <a:lnTo>
                  <a:pt x="14" y="0"/>
                </a:lnTo>
                <a:lnTo>
                  <a:pt x="18" y="4"/>
                </a:lnTo>
                <a:lnTo>
                  <a:pt x="21" y="4"/>
                </a:lnTo>
                <a:lnTo>
                  <a:pt x="21" y="4"/>
                </a:lnTo>
                <a:lnTo>
                  <a:pt x="25" y="4"/>
                </a:lnTo>
                <a:lnTo>
                  <a:pt x="28" y="7"/>
                </a:lnTo>
                <a:lnTo>
                  <a:pt x="28" y="7"/>
                </a:lnTo>
                <a:lnTo>
                  <a:pt x="28" y="11"/>
                </a:lnTo>
                <a:lnTo>
                  <a:pt x="32" y="15"/>
                </a:lnTo>
                <a:lnTo>
                  <a:pt x="32" y="15"/>
                </a:lnTo>
                <a:lnTo>
                  <a:pt x="32" y="18"/>
                </a:lnTo>
                <a:lnTo>
                  <a:pt x="28" y="18"/>
                </a:lnTo>
                <a:close/>
              </a:path>
            </a:pathLst>
          </a:custGeom>
          <a:solidFill>
            <a:srgbClr val="000000"/>
          </a:solidFill>
          <a:ln w="9525">
            <a:noFill/>
            <a:round/>
            <a:headEnd/>
            <a:tailEnd/>
          </a:ln>
        </p:spPr>
        <p:txBody>
          <a:bodyPr/>
          <a:lstStyle/>
          <a:p>
            <a:endParaRPr lang="zh-CN" altLang="en-US"/>
          </a:p>
        </p:txBody>
      </p:sp>
      <p:sp>
        <p:nvSpPr>
          <p:cNvPr id="74" name="Freeform 72"/>
          <p:cNvSpPr>
            <a:spLocks/>
          </p:cNvSpPr>
          <p:nvPr/>
        </p:nvSpPr>
        <p:spPr bwMode="auto">
          <a:xfrm>
            <a:off x="2248273" y="2575967"/>
            <a:ext cx="50800" cy="57150"/>
          </a:xfrm>
          <a:custGeom>
            <a:avLst/>
            <a:gdLst/>
            <a:ahLst/>
            <a:cxnLst>
              <a:cxn ang="0">
                <a:pos x="28" y="18"/>
              </a:cxn>
              <a:cxn ang="0">
                <a:pos x="32" y="15"/>
              </a:cxn>
              <a:cxn ang="0">
                <a:pos x="32" y="15"/>
              </a:cxn>
              <a:cxn ang="0">
                <a:pos x="28" y="11"/>
              </a:cxn>
              <a:cxn ang="0">
                <a:pos x="28" y="7"/>
              </a:cxn>
              <a:cxn ang="0">
                <a:pos x="28" y="7"/>
              </a:cxn>
              <a:cxn ang="0">
                <a:pos x="25" y="4"/>
              </a:cxn>
              <a:cxn ang="0">
                <a:pos x="21" y="4"/>
              </a:cxn>
              <a:cxn ang="0">
                <a:pos x="21" y="4"/>
              </a:cxn>
              <a:cxn ang="0">
                <a:pos x="18" y="4"/>
              </a:cxn>
              <a:cxn ang="0">
                <a:pos x="14" y="0"/>
              </a:cxn>
              <a:cxn ang="0">
                <a:pos x="11" y="4"/>
              </a:cxn>
              <a:cxn ang="0">
                <a:pos x="11" y="4"/>
              </a:cxn>
              <a:cxn ang="0">
                <a:pos x="7" y="4"/>
              </a:cxn>
              <a:cxn ang="0">
                <a:pos x="4" y="4"/>
              </a:cxn>
              <a:cxn ang="0">
                <a:pos x="4" y="7"/>
              </a:cxn>
              <a:cxn ang="0">
                <a:pos x="0" y="7"/>
              </a:cxn>
              <a:cxn ang="0">
                <a:pos x="0" y="11"/>
              </a:cxn>
              <a:cxn ang="0">
                <a:pos x="0" y="15"/>
              </a:cxn>
              <a:cxn ang="0">
                <a:pos x="0" y="15"/>
              </a:cxn>
              <a:cxn ang="0">
                <a:pos x="0" y="18"/>
              </a:cxn>
              <a:cxn ang="0">
                <a:pos x="0" y="22"/>
              </a:cxn>
              <a:cxn ang="0">
                <a:pos x="0" y="25"/>
              </a:cxn>
              <a:cxn ang="0">
                <a:pos x="0" y="25"/>
              </a:cxn>
              <a:cxn ang="0">
                <a:pos x="0" y="29"/>
              </a:cxn>
              <a:cxn ang="0">
                <a:pos x="4" y="29"/>
              </a:cxn>
              <a:cxn ang="0">
                <a:pos x="4" y="32"/>
              </a:cxn>
              <a:cxn ang="0">
                <a:pos x="7" y="32"/>
              </a:cxn>
              <a:cxn ang="0">
                <a:pos x="11" y="36"/>
              </a:cxn>
              <a:cxn ang="0">
                <a:pos x="11" y="36"/>
              </a:cxn>
              <a:cxn ang="0">
                <a:pos x="14" y="36"/>
              </a:cxn>
              <a:cxn ang="0">
                <a:pos x="18" y="36"/>
              </a:cxn>
              <a:cxn ang="0">
                <a:pos x="21" y="36"/>
              </a:cxn>
              <a:cxn ang="0">
                <a:pos x="21" y="32"/>
              </a:cxn>
              <a:cxn ang="0">
                <a:pos x="25" y="32"/>
              </a:cxn>
              <a:cxn ang="0">
                <a:pos x="28" y="29"/>
              </a:cxn>
              <a:cxn ang="0">
                <a:pos x="28" y="29"/>
              </a:cxn>
              <a:cxn ang="0">
                <a:pos x="28" y="25"/>
              </a:cxn>
              <a:cxn ang="0">
                <a:pos x="32" y="25"/>
              </a:cxn>
              <a:cxn ang="0">
                <a:pos x="32" y="22"/>
              </a:cxn>
              <a:cxn ang="0">
                <a:pos x="32" y="18"/>
              </a:cxn>
              <a:cxn ang="0">
                <a:pos x="32" y="18"/>
              </a:cxn>
            </a:cxnLst>
            <a:rect l="0" t="0" r="r" b="b"/>
            <a:pathLst>
              <a:path w="32" h="36">
                <a:moveTo>
                  <a:pt x="28" y="18"/>
                </a:moveTo>
                <a:lnTo>
                  <a:pt x="32" y="15"/>
                </a:lnTo>
                <a:lnTo>
                  <a:pt x="32" y="15"/>
                </a:lnTo>
                <a:lnTo>
                  <a:pt x="28" y="11"/>
                </a:lnTo>
                <a:lnTo>
                  <a:pt x="28" y="7"/>
                </a:lnTo>
                <a:lnTo>
                  <a:pt x="28" y="7"/>
                </a:lnTo>
                <a:lnTo>
                  <a:pt x="25" y="4"/>
                </a:lnTo>
                <a:lnTo>
                  <a:pt x="21" y="4"/>
                </a:lnTo>
                <a:lnTo>
                  <a:pt x="21" y="4"/>
                </a:lnTo>
                <a:lnTo>
                  <a:pt x="18" y="4"/>
                </a:lnTo>
                <a:lnTo>
                  <a:pt x="14" y="0"/>
                </a:lnTo>
                <a:lnTo>
                  <a:pt x="11" y="4"/>
                </a:lnTo>
                <a:lnTo>
                  <a:pt x="11" y="4"/>
                </a:lnTo>
                <a:lnTo>
                  <a:pt x="7" y="4"/>
                </a:lnTo>
                <a:lnTo>
                  <a:pt x="4" y="4"/>
                </a:lnTo>
                <a:lnTo>
                  <a:pt x="4" y="7"/>
                </a:lnTo>
                <a:lnTo>
                  <a:pt x="0" y="7"/>
                </a:lnTo>
                <a:lnTo>
                  <a:pt x="0" y="11"/>
                </a:lnTo>
                <a:lnTo>
                  <a:pt x="0" y="15"/>
                </a:lnTo>
                <a:lnTo>
                  <a:pt x="0" y="15"/>
                </a:lnTo>
                <a:lnTo>
                  <a:pt x="0" y="18"/>
                </a:lnTo>
                <a:lnTo>
                  <a:pt x="0" y="22"/>
                </a:lnTo>
                <a:lnTo>
                  <a:pt x="0" y="25"/>
                </a:lnTo>
                <a:lnTo>
                  <a:pt x="0" y="25"/>
                </a:lnTo>
                <a:lnTo>
                  <a:pt x="0" y="29"/>
                </a:lnTo>
                <a:lnTo>
                  <a:pt x="4" y="29"/>
                </a:lnTo>
                <a:lnTo>
                  <a:pt x="4" y="32"/>
                </a:lnTo>
                <a:lnTo>
                  <a:pt x="7" y="32"/>
                </a:lnTo>
                <a:lnTo>
                  <a:pt x="11" y="36"/>
                </a:lnTo>
                <a:lnTo>
                  <a:pt x="11" y="36"/>
                </a:lnTo>
                <a:lnTo>
                  <a:pt x="14" y="36"/>
                </a:lnTo>
                <a:lnTo>
                  <a:pt x="18" y="36"/>
                </a:lnTo>
                <a:lnTo>
                  <a:pt x="21" y="36"/>
                </a:lnTo>
                <a:lnTo>
                  <a:pt x="21" y="32"/>
                </a:lnTo>
                <a:lnTo>
                  <a:pt x="25" y="32"/>
                </a:lnTo>
                <a:lnTo>
                  <a:pt x="28" y="29"/>
                </a:lnTo>
                <a:lnTo>
                  <a:pt x="28" y="29"/>
                </a:lnTo>
                <a:lnTo>
                  <a:pt x="28" y="25"/>
                </a:lnTo>
                <a:lnTo>
                  <a:pt x="32" y="25"/>
                </a:lnTo>
                <a:lnTo>
                  <a:pt x="32" y="22"/>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75" name="Freeform 73"/>
          <p:cNvSpPr>
            <a:spLocks/>
          </p:cNvSpPr>
          <p:nvPr/>
        </p:nvSpPr>
        <p:spPr bwMode="auto">
          <a:xfrm>
            <a:off x="2349873" y="2575967"/>
            <a:ext cx="49213" cy="57150"/>
          </a:xfrm>
          <a:custGeom>
            <a:avLst/>
            <a:gdLst/>
            <a:ahLst/>
            <a:cxnLst>
              <a:cxn ang="0">
                <a:pos x="31" y="18"/>
              </a:cxn>
              <a:cxn ang="0">
                <a:pos x="31" y="22"/>
              </a:cxn>
              <a:cxn ang="0">
                <a:pos x="31" y="25"/>
              </a:cxn>
              <a:cxn ang="0">
                <a:pos x="31" y="25"/>
              </a:cxn>
              <a:cxn ang="0">
                <a:pos x="28" y="29"/>
              </a:cxn>
              <a:cxn ang="0">
                <a:pos x="28" y="29"/>
              </a:cxn>
              <a:cxn ang="0">
                <a:pos x="24" y="32"/>
              </a:cxn>
              <a:cxn ang="0">
                <a:pos x="24" y="32"/>
              </a:cxn>
              <a:cxn ang="0">
                <a:pos x="21" y="36"/>
              </a:cxn>
              <a:cxn ang="0">
                <a:pos x="17" y="36"/>
              </a:cxn>
              <a:cxn ang="0">
                <a:pos x="17" y="36"/>
              </a:cxn>
              <a:cxn ang="0">
                <a:pos x="14" y="36"/>
              </a:cxn>
              <a:cxn ang="0">
                <a:pos x="10" y="36"/>
              </a:cxn>
              <a:cxn ang="0">
                <a:pos x="10" y="32"/>
              </a:cxn>
              <a:cxn ang="0">
                <a:pos x="7" y="32"/>
              </a:cxn>
              <a:cxn ang="0">
                <a:pos x="3" y="29"/>
              </a:cxn>
              <a:cxn ang="0">
                <a:pos x="3" y="29"/>
              </a:cxn>
              <a:cxn ang="0">
                <a:pos x="3" y="25"/>
              </a:cxn>
              <a:cxn ang="0">
                <a:pos x="0" y="25"/>
              </a:cxn>
              <a:cxn ang="0">
                <a:pos x="0" y="22"/>
              </a:cxn>
              <a:cxn ang="0">
                <a:pos x="0" y="18"/>
              </a:cxn>
              <a:cxn ang="0">
                <a:pos x="0" y="15"/>
              </a:cxn>
              <a:cxn ang="0">
                <a:pos x="0" y="15"/>
              </a:cxn>
              <a:cxn ang="0">
                <a:pos x="3" y="11"/>
              </a:cxn>
              <a:cxn ang="0">
                <a:pos x="3" y="7"/>
              </a:cxn>
              <a:cxn ang="0">
                <a:pos x="3" y="7"/>
              </a:cxn>
              <a:cxn ang="0">
                <a:pos x="7" y="4"/>
              </a:cxn>
              <a:cxn ang="0">
                <a:pos x="10" y="4"/>
              </a:cxn>
              <a:cxn ang="0">
                <a:pos x="10" y="4"/>
              </a:cxn>
              <a:cxn ang="0">
                <a:pos x="14" y="4"/>
              </a:cxn>
              <a:cxn ang="0">
                <a:pos x="17" y="0"/>
              </a:cxn>
              <a:cxn ang="0">
                <a:pos x="17" y="4"/>
              </a:cxn>
              <a:cxn ang="0">
                <a:pos x="21" y="4"/>
              </a:cxn>
              <a:cxn ang="0">
                <a:pos x="24" y="4"/>
              </a:cxn>
              <a:cxn ang="0">
                <a:pos x="24" y="4"/>
              </a:cxn>
              <a:cxn ang="0">
                <a:pos x="28" y="7"/>
              </a:cxn>
              <a:cxn ang="0">
                <a:pos x="28" y="7"/>
              </a:cxn>
              <a:cxn ang="0">
                <a:pos x="31" y="11"/>
              </a:cxn>
              <a:cxn ang="0">
                <a:pos x="31" y="15"/>
              </a:cxn>
              <a:cxn ang="0">
                <a:pos x="31" y="15"/>
              </a:cxn>
              <a:cxn ang="0">
                <a:pos x="31" y="18"/>
              </a:cxn>
            </a:cxnLst>
            <a:rect l="0" t="0" r="r" b="b"/>
            <a:pathLst>
              <a:path w="31" h="36">
                <a:moveTo>
                  <a:pt x="31" y="18"/>
                </a:moveTo>
                <a:lnTo>
                  <a:pt x="31" y="22"/>
                </a:lnTo>
                <a:lnTo>
                  <a:pt x="31" y="25"/>
                </a:lnTo>
                <a:lnTo>
                  <a:pt x="31" y="25"/>
                </a:lnTo>
                <a:lnTo>
                  <a:pt x="28" y="29"/>
                </a:lnTo>
                <a:lnTo>
                  <a:pt x="28" y="29"/>
                </a:lnTo>
                <a:lnTo>
                  <a:pt x="24" y="32"/>
                </a:lnTo>
                <a:lnTo>
                  <a:pt x="24" y="32"/>
                </a:lnTo>
                <a:lnTo>
                  <a:pt x="21" y="36"/>
                </a:lnTo>
                <a:lnTo>
                  <a:pt x="17" y="36"/>
                </a:lnTo>
                <a:lnTo>
                  <a:pt x="17" y="36"/>
                </a:lnTo>
                <a:lnTo>
                  <a:pt x="14" y="36"/>
                </a:lnTo>
                <a:lnTo>
                  <a:pt x="10" y="36"/>
                </a:lnTo>
                <a:lnTo>
                  <a:pt x="10" y="32"/>
                </a:lnTo>
                <a:lnTo>
                  <a:pt x="7" y="32"/>
                </a:lnTo>
                <a:lnTo>
                  <a:pt x="3" y="29"/>
                </a:lnTo>
                <a:lnTo>
                  <a:pt x="3" y="29"/>
                </a:lnTo>
                <a:lnTo>
                  <a:pt x="3" y="25"/>
                </a:lnTo>
                <a:lnTo>
                  <a:pt x="0" y="25"/>
                </a:lnTo>
                <a:lnTo>
                  <a:pt x="0" y="22"/>
                </a:lnTo>
                <a:lnTo>
                  <a:pt x="0" y="18"/>
                </a:lnTo>
                <a:lnTo>
                  <a:pt x="0" y="15"/>
                </a:lnTo>
                <a:lnTo>
                  <a:pt x="0" y="15"/>
                </a:lnTo>
                <a:lnTo>
                  <a:pt x="3" y="11"/>
                </a:lnTo>
                <a:lnTo>
                  <a:pt x="3" y="7"/>
                </a:lnTo>
                <a:lnTo>
                  <a:pt x="3" y="7"/>
                </a:lnTo>
                <a:lnTo>
                  <a:pt x="7" y="4"/>
                </a:lnTo>
                <a:lnTo>
                  <a:pt x="10" y="4"/>
                </a:lnTo>
                <a:lnTo>
                  <a:pt x="10" y="4"/>
                </a:lnTo>
                <a:lnTo>
                  <a:pt x="14" y="4"/>
                </a:lnTo>
                <a:lnTo>
                  <a:pt x="17" y="0"/>
                </a:lnTo>
                <a:lnTo>
                  <a:pt x="17" y="4"/>
                </a:lnTo>
                <a:lnTo>
                  <a:pt x="21" y="4"/>
                </a:lnTo>
                <a:lnTo>
                  <a:pt x="24" y="4"/>
                </a:lnTo>
                <a:lnTo>
                  <a:pt x="24" y="4"/>
                </a:lnTo>
                <a:lnTo>
                  <a:pt x="28" y="7"/>
                </a:lnTo>
                <a:lnTo>
                  <a:pt x="28" y="7"/>
                </a:lnTo>
                <a:lnTo>
                  <a:pt x="31" y="11"/>
                </a:lnTo>
                <a:lnTo>
                  <a:pt x="31" y="15"/>
                </a:lnTo>
                <a:lnTo>
                  <a:pt x="31" y="15"/>
                </a:lnTo>
                <a:lnTo>
                  <a:pt x="31" y="18"/>
                </a:lnTo>
                <a:close/>
              </a:path>
            </a:pathLst>
          </a:custGeom>
          <a:solidFill>
            <a:srgbClr val="000000"/>
          </a:solidFill>
          <a:ln w="9525">
            <a:noFill/>
            <a:round/>
            <a:headEnd/>
            <a:tailEnd/>
          </a:ln>
        </p:spPr>
        <p:txBody>
          <a:bodyPr/>
          <a:lstStyle/>
          <a:p>
            <a:endParaRPr lang="zh-CN" altLang="en-US"/>
          </a:p>
        </p:txBody>
      </p:sp>
      <p:sp>
        <p:nvSpPr>
          <p:cNvPr id="76" name="Freeform 74"/>
          <p:cNvSpPr>
            <a:spLocks/>
          </p:cNvSpPr>
          <p:nvPr/>
        </p:nvSpPr>
        <p:spPr bwMode="auto">
          <a:xfrm>
            <a:off x="2349873" y="2575967"/>
            <a:ext cx="49213" cy="57150"/>
          </a:xfrm>
          <a:custGeom>
            <a:avLst/>
            <a:gdLst/>
            <a:ahLst/>
            <a:cxnLst>
              <a:cxn ang="0">
                <a:pos x="31" y="18"/>
              </a:cxn>
              <a:cxn ang="0">
                <a:pos x="31" y="15"/>
              </a:cxn>
              <a:cxn ang="0">
                <a:pos x="31" y="15"/>
              </a:cxn>
              <a:cxn ang="0">
                <a:pos x="31" y="11"/>
              </a:cxn>
              <a:cxn ang="0">
                <a:pos x="28" y="7"/>
              </a:cxn>
              <a:cxn ang="0">
                <a:pos x="28" y="7"/>
              </a:cxn>
              <a:cxn ang="0">
                <a:pos x="24" y="4"/>
              </a:cxn>
              <a:cxn ang="0">
                <a:pos x="24" y="4"/>
              </a:cxn>
              <a:cxn ang="0">
                <a:pos x="21" y="4"/>
              </a:cxn>
              <a:cxn ang="0">
                <a:pos x="17" y="4"/>
              </a:cxn>
              <a:cxn ang="0">
                <a:pos x="17" y="0"/>
              </a:cxn>
              <a:cxn ang="0">
                <a:pos x="14" y="4"/>
              </a:cxn>
              <a:cxn ang="0">
                <a:pos x="10" y="4"/>
              </a:cxn>
              <a:cxn ang="0">
                <a:pos x="10" y="4"/>
              </a:cxn>
              <a:cxn ang="0">
                <a:pos x="7" y="4"/>
              </a:cxn>
              <a:cxn ang="0">
                <a:pos x="3" y="7"/>
              </a:cxn>
              <a:cxn ang="0">
                <a:pos x="3" y="7"/>
              </a:cxn>
              <a:cxn ang="0">
                <a:pos x="3" y="11"/>
              </a:cxn>
              <a:cxn ang="0">
                <a:pos x="0" y="15"/>
              </a:cxn>
              <a:cxn ang="0">
                <a:pos x="0" y="15"/>
              </a:cxn>
              <a:cxn ang="0">
                <a:pos x="0" y="18"/>
              </a:cxn>
              <a:cxn ang="0">
                <a:pos x="0" y="22"/>
              </a:cxn>
              <a:cxn ang="0">
                <a:pos x="0" y="25"/>
              </a:cxn>
              <a:cxn ang="0">
                <a:pos x="3" y="25"/>
              </a:cxn>
              <a:cxn ang="0">
                <a:pos x="3" y="29"/>
              </a:cxn>
              <a:cxn ang="0">
                <a:pos x="3" y="29"/>
              </a:cxn>
              <a:cxn ang="0">
                <a:pos x="7" y="32"/>
              </a:cxn>
              <a:cxn ang="0">
                <a:pos x="10" y="32"/>
              </a:cxn>
              <a:cxn ang="0">
                <a:pos x="10" y="36"/>
              </a:cxn>
              <a:cxn ang="0">
                <a:pos x="14" y="36"/>
              </a:cxn>
              <a:cxn ang="0">
                <a:pos x="17" y="36"/>
              </a:cxn>
              <a:cxn ang="0">
                <a:pos x="17" y="36"/>
              </a:cxn>
              <a:cxn ang="0">
                <a:pos x="21" y="36"/>
              </a:cxn>
              <a:cxn ang="0">
                <a:pos x="24" y="32"/>
              </a:cxn>
              <a:cxn ang="0">
                <a:pos x="24" y="32"/>
              </a:cxn>
              <a:cxn ang="0">
                <a:pos x="28" y="29"/>
              </a:cxn>
              <a:cxn ang="0">
                <a:pos x="28" y="29"/>
              </a:cxn>
              <a:cxn ang="0">
                <a:pos x="31" y="25"/>
              </a:cxn>
              <a:cxn ang="0">
                <a:pos x="31" y="25"/>
              </a:cxn>
              <a:cxn ang="0">
                <a:pos x="31" y="22"/>
              </a:cxn>
              <a:cxn ang="0">
                <a:pos x="31" y="18"/>
              </a:cxn>
              <a:cxn ang="0">
                <a:pos x="31" y="18"/>
              </a:cxn>
            </a:cxnLst>
            <a:rect l="0" t="0" r="r" b="b"/>
            <a:pathLst>
              <a:path w="31" h="36">
                <a:moveTo>
                  <a:pt x="31" y="18"/>
                </a:moveTo>
                <a:lnTo>
                  <a:pt x="31" y="15"/>
                </a:lnTo>
                <a:lnTo>
                  <a:pt x="31" y="15"/>
                </a:lnTo>
                <a:lnTo>
                  <a:pt x="31" y="11"/>
                </a:lnTo>
                <a:lnTo>
                  <a:pt x="28" y="7"/>
                </a:lnTo>
                <a:lnTo>
                  <a:pt x="28" y="7"/>
                </a:lnTo>
                <a:lnTo>
                  <a:pt x="24" y="4"/>
                </a:lnTo>
                <a:lnTo>
                  <a:pt x="24" y="4"/>
                </a:lnTo>
                <a:lnTo>
                  <a:pt x="21" y="4"/>
                </a:lnTo>
                <a:lnTo>
                  <a:pt x="17" y="4"/>
                </a:lnTo>
                <a:lnTo>
                  <a:pt x="17" y="0"/>
                </a:lnTo>
                <a:lnTo>
                  <a:pt x="14" y="4"/>
                </a:lnTo>
                <a:lnTo>
                  <a:pt x="10" y="4"/>
                </a:lnTo>
                <a:lnTo>
                  <a:pt x="10" y="4"/>
                </a:lnTo>
                <a:lnTo>
                  <a:pt x="7" y="4"/>
                </a:lnTo>
                <a:lnTo>
                  <a:pt x="3" y="7"/>
                </a:lnTo>
                <a:lnTo>
                  <a:pt x="3" y="7"/>
                </a:lnTo>
                <a:lnTo>
                  <a:pt x="3" y="11"/>
                </a:lnTo>
                <a:lnTo>
                  <a:pt x="0" y="15"/>
                </a:lnTo>
                <a:lnTo>
                  <a:pt x="0" y="15"/>
                </a:lnTo>
                <a:lnTo>
                  <a:pt x="0" y="18"/>
                </a:lnTo>
                <a:lnTo>
                  <a:pt x="0" y="22"/>
                </a:lnTo>
                <a:lnTo>
                  <a:pt x="0" y="25"/>
                </a:lnTo>
                <a:lnTo>
                  <a:pt x="3" y="25"/>
                </a:lnTo>
                <a:lnTo>
                  <a:pt x="3" y="29"/>
                </a:lnTo>
                <a:lnTo>
                  <a:pt x="3" y="29"/>
                </a:lnTo>
                <a:lnTo>
                  <a:pt x="7" y="32"/>
                </a:lnTo>
                <a:lnTo>
                  <a:pt x="10" y="32"/>
                </a:lnTo>
                <a:lnTo>
                  <a:pt x="10" y="36"/>
                </a:lnTo>
                <a:lnTo>
                  <a:pt x="14" y="36"/>
                </a:lnTo>
                <a:lnTo>
                  <a:pt x="17" y="36"/>
                </a:lnTo>
                <a:lnTo>
                  <a:pt x="17" y="36"/>
                </a:lnTo>
                <a:lnTo>
                  <a:pt x="21" y="36"/>
                </a:lnTo>
                <a:lnTo>
                  <a:pt x="24" y="32"/>
                </a:lnTo>
                <a:lnTo>
                  <a:pt x="24" y="32"/>
                </a:lnTo>
                <a:lnTo>
                  <a:pt x="28" y="29"/>
                </a:lnTo>
                <a:lnTo>
                  <a:pt x="28" y="29"/>
                </a:lnTo>
                <a:lnTo>
                  <a:pt x="31" y="25"/>
                </a:lnTo>
                <a:lnTo>
                  <a:pt x="31" y="25"/>
                </a:lnTo>
                <a:lnTo>
                  <a:pt x="31" y="22"/>
                </a:lnTo>
                <a:lnTo>
                  <a:pt x="31" y="18"/>
                </a:lnTo>
                <a:lnTo>
                  <a:pt x="31" y="18"/>
                </a:lnTo>
              </a:path>
            </a:pathLst>
          </a:custGeom>
          <a:noFill/>
          <a:ln w="11113">
            <a:solidFill>
              <a:srgbClr val="000000"/>
            </a:solidFill>
            <a:prstDash val="solid"/>
            <a:round/>
            <a:headEnd/>
            <a:tailEnd/>
          </a:ln>
        </p:spPr>
        <p:txBody>
          <a:bodyPr/>
          <a:lstStyle/>
          <a:p>
            <a:endParaRPr lang="zh-CN" altLang="en-US"/>
          </a:p>
        </p:txBody>
      </p:sp>
      <p:sp>
        <p:nvSpPr>
          <p:cNvPr id="77" name="Freeform 75"/>
          <p:cNvSpPr>
            <a:spLocks/>
          </p:cNvSpPr>
          <p:nvPr/>
        </p:nvSpPr>
        <p:spPr bwMode="auto">
          <a:xfrm>
            <a:off x="2456235" y="2575967"/>
            <a:ext cx="49213" cy="57150"/>
          </a:xfrm>
          <a:custGeom>
            <a:avLst/>
            <a:gdLst/>
            <a:ahLst/>
            <a:cxnLst>
              <a:cxn ang="0">
                <a:pos x="28" y="18"/>
              </a:cxn>
              <a:cxn ang="0">
                <a:pos x="31" y="22"/>
              </a:cxn>
              <a:cxn ang="0">
                <a:pos x="31" y="25"/>
              </a:cxn>
              <a:cxn ang="0">
                <a:pos x="28" y="25"/>
              </a:cxn>
              <a:cxn ang="0">
                <a:pos x="28" y="29"/>
              </a:cxn>
              <a:cxn ang="0">
                <a:pos x="28" y="29"/>
              </a:cxn>
              <a:cxn ang="0">
                <a:pos x="24" y="32"/>
              </a:cxn>
              <a:cxn ang="0">
                <a:pos x="21" y="32"/>
              </a:cxn>
              <a:cxn ang="0">
                <a:pos x="21" y="36"/>
              </a:cxn>
              <a:cxn ang="0">
                <a:pos x="17" y="36"/>
              </a:cxn>
              <a:cxn ang="0">
                <a:pos x="14" y="36"/>
              </a:cxn>
              <a:cxn ang="0">
                <a:pos x="10" y="36"/>
              </a:cxn>
              <a:cxn ang="0">
                <a:pos x="10" y="36"/>
              </a:cxn>
              <a:cxn ang="0">
                <a:pos x="7" y="32"/>
              </a:cxn>
              <a:cxn ang="0">
                <a:pos x="3" y="32"/>
              </a:cxn>
              <a:cxn ang="0">
                <a:pos x="3" y="29"/>
              </a:cxn>
              <a:cxn ang="0">
                <a:pos x="0" y="29"/>
              </a:cxn>
              <a:cxn ang="0">
                <a:pos x="0" y="25"/>
              </a:cxn>
              <a:cxn ang="0">
                <a:pos x="0" y="25"/>
              </a:cxn>
              <a:cxn ang="0">
                <a:pos x="0" y="22"/>
              </a:cxn>
              <a:cxn ang="0">
                <a:pos x="0" y="18"/>
              </a:cxn>
              <a:cxn ang="0">
                <a:pos x="0" y="15"/>
              </a:cxn>
              <a:cxn ang="0">
                <a:pos x="0" y="15"/>
              </a:cxn>
              <a:cxn ang="0">
                <a:pos x="0" y="11"/>
              </a:cxn>
              <a:cxn ang="0">
                <a:pos x="0" y="7"/>
              </a:cxn>
              <a:cxn ang="0">
                <a:pos x="3" y="7"/>
              </a:cxn>
              <a:cxn ang="0">
                <a:pos x="3" y="4"/>
              </a:cxn>
              <a:cxn ang="0">
                <a:pos x="7" y="4"/>
              </a:cxn>
              <a:cxn ang="0">
                <a:pos x="10" y="4"/>
              </a:cxn>
              <a:cxn ang="0">
                <a:pos x="10" y="4"/>
              </a:cxn>
              <a:cxn ang="0">
                <a:pos x="14" y="0"/>
              </a:cxn>
              <a:cxn ang="0">
                <a:pos x="17" y="4"/>
              </a:cxn>
              <a:cxn ang="0">
                <a:pos x="21" y="4"/>
              </a:cxn>
              <a:cxn ang="0">
                <a:pos x="21" y="4"/>
              </a:cxn>
              <a:cxn ang="0">
                <a:pos x="24" y="4"/>
              </a:cxn>
              <a:cxn ang="0">
                <a:pos x="28" y="7"/>
              </a:cxn>
              <a:cxn ang="0">
                <a:pos x="28" y="7"/>
              </a:cxn>
              <a:cxn ang="0">
                <a:pos x="28" y="11"/>
              </a:cxn>
              <a:cxn ang="0">
                <a:pos x="31" y="15"/>
              </a:cxn>
              <a:cxn ang="0">
                <a:pos x="31" y="15"/>
              </a:cxn>
              <a:cxn ang="0">
                <a:pos x="31" y="18"/>
              </a:cxn>
              <a:cxn ang="0">
                <a:pos x="28" y="18"/>
              </a:cxn>
            </a:cxnLst>
            <a:rect l="0" t="0" r="r" b="b"/>
            <a:pathLst>
              <a:path w="31" h="36">
                <a:moveTo>
                  <a:pt x="28" y="18"/>
                </a:moveTo>
                <a:lnTo>
                  <a:pt x="31" y="22"/>
                </a:lnTo>
                <a:lnTo>
                  <a:pt x="31" y="25"/>
                </a:lnTo>
                <a:lnTo>
                  <a:pt x="28" y="25"/>
                </a:lnTo>
                <a:lnTo>
                  <a:pt x="28" y="29"/>
                </a:lnTo>
                <a:lnTo>
                  <a:pt x="28" y="29"/>
                </a:lnTo>
                <a:lnTo>
                  <a:pt x="24" y="32"/>
                </a:lnTo>
                <a:lnTo>
                  <a:pt x="21" y="32"/>
                </a:lnTo>
                <a:lnTo>
                  <a:pt x="21" y="36"/>
                </a:lnTo>
                <a:lnTo>
                  <a:pt x="17" y="36"/>
                </a:lnTo>
                <a:lnTo>
                  <a:pt x="14" y="36"/>
                </a:lnTo>
                <a:lnTo>
                  <a:pt x="10" y="36"/>
                </a:lnTo>
                <a:lnTo>
                  <a:pt x="10" y="36"/>
                </a:lnTo>
                <a:lnTo>
                  <a:pt x="7" y="32"/>
                </a:lnTo>
                <a:lnTo>
                  <a:pt x="3" y="32"/>
                </a:lnTo>
                <a:lnTo>
                  <a:pt x="3" y="29"/>
                </a:lnTo>
                <a:lnTo>
                  <a:pt x="0" y="29"/>
                </a:lnTo>
                <a:lnTo>
                  <a:pt x="0" y="25"/>
                </a:lnTo>
                <a:lnTo>
                  <a:pt x="0" y="25"/>
                </a:lnTo>
                <a:lnTo>
                  <a:pt x="0" y="22"/>
                </a:lnTo>
                <a:lnTo>
                  <a:pt x="0" y="18"/>
                </a:lnTo>
                <a:lnTo>
                  <a:pt x="0" y="15"/>
                </a:lnTo>
                <a:lnTo>
                  <a:pt x="0" y="15"/>
                </a:lnTo>
                <a:lnTo>
                  <a:pt x="0" y="11"/>
                </a:lnTo>
                <a:lnTo>
                  <a:pt x="0" y="7"/>
                </a:lnTo>
                <a:lnTo>
                  <a:pt x="3" y="7"/>
                </a:lnTo>
                <a:lnTo>
                  <a:pt x="3" y="4"/>
                </a:lnTo>
                <a:lnTo>
                  <a:pt x="7" y="4"/>
                </a:lnTo>
                <a:lnTo>
                  <a:pt x="10" y="4"/>
                </a:lnTo>
                <a:lnTo>
                  <a:pt x="10" y="4"/>
                </a:lnTo>
                <a:lnTo>
                  <a:pt x="14" y="0"/>
                </a:lnTo>
                <a:lnTo>
                  <a:pt x="17" y="4"/>
                </a:lnTo>
                <a:lnTo>
                  <a:pt x="21" y="4"/>
                </a:lnTo>
                <a:lnTo>
                  <a:pt x="21" y="4"/>
                </a:lnTo>
                <a:lnTo>
                  <a:pt x="24" y="4"/>
                </a:lnTo>
                <a:lnTo>
                  <a:pt x="28" y="7"/>
                </a:lnTo>
                <a:lnTo>
                  <a:pt x="28" y="7"/>
                </a:lnTo>
                <a:lnTo>
                  <a:pt x="28" y="11"/>
                </a:lnTo>
                <a:lnTo>
                  <a:pt x="31" y="15"/>
                </a:lnTo>
                <a:lnTo>
                  <a:pt x="31" y="15"/>
                </a:lnTo>
                <a:lnTo>
                  <a:pt x="31" y="18"/>
                </a:lnTo>
                <a:lnTo>
                  <a:pt x="28" y="18"/>
                </a:lnTo>
                <a:close/>
              </a:path>
            </a:pathLst>
          </a:custGeom>
          <a:solidFill>
            <a:srgbClr val="000000"/>
          </a:solidFill>
          <a:ln w="9525">
            <a:noFill/>
            <a:round/>
            <a:headEnd/>
            <a:tailEnd/>
          </a:ln>
        </p:spPr>
        <p:txBody>
          <a:bodyPr/>
          <a:lstStyle/>
          <a:p>
            <a:endParaRPr lang="zh-CN" altLang="en-US"/>
          </a:p>
        </p:txBody>
      </p:sp>
      <p:sp>
        <p:nvSpPr>
          <p:cNvPr id="78" name="Freeform 76"/>
          <p:cNvSpPr>
            <a:spLocks/>
          </p:cNvSpPr>
          <p:nvPr/>
        </p:nvSpPr>
        <p:spPr bwMode="auto">
          <a:xfrm>
            <a:off x="2456235" y="2575967"/>
            <a:ext cx="49213" cy="57150"/>
          </a:xfrm>
          <a:custGeom>
            <a:avLst/>
            <a:gdLst/>
            <a:ahLst/>
            <a:cxnLst>
              <a:cxn ang="0">
                <a:pos x="28" y="18"/>
              </a:cxn>
              <a:cxn ang="0">
                <a:pos x="31" y="15"/>
              </a:cxn>
              <a:cxn ang="0">
                <a:pos x="31" y="15"/>
              </a:cxn>
              <a:cxn ang="0">
                <a:pos x="28" y="11"/>
              </a:cxn>
              <a:cxn ang="0">
                <a:pos x="28" y="7"/>
              </a:cxn>
              <a:cxn ang="0">
                <a:pos x="28" y="7"/>
              </a:cxn>
              <a:cxn ang="0">
                <a:pos x="24" y="4"/>
              </a:cxn>
              <a:cxn ang="0">
                <a:pos x="21" y="4"/>
              </a:cxn>
              <a:cxn ang="0">
                <a:pos x="21" y="4"/>
              </a:cxn>
              <a:cxn ang="0">
                <a:pos x="17" y="4"/>
              </a:cxn>
              <a:cxn ang="0">
                <a:pos x="14" y="0"/>
              </a:cxn>
              <a:cxn ang="0">
                <a:pos x="10" y="4"/>
              </a:cxn>
              <a:cxn ang="0">
                <a:pos x="10" y="4"/>
              </a:cxn>
              <a:cxn ang="0">
                <a:pos x="7" y="4"/>
              </a:cxn>
              <a:cxn ang="0">
                <a:pos x="3" y="4"/>
              </a:cxn>
              <a:cxn ang="0">
                <a:pos x="3" y="7"/>
              </a:cxn>
              <a:cxn ang="0">
                <a:pos x="0" y="7"/>
              </a:cxn>
              <a:cxn ang="0">
                <a:pos x="0" y="11"/>
              </a:cxn>
              <a:cxn ang="0">
                <a:pos x="0" y="15"/>
              </a:cxn>
              <a:cxn ang="0">
                <a:pos x="0" y="15"/>
              </a:cxn>
              <a:cxn ang="0">
                <a:pos x="0" y="18"/>
              </a:cxn>
              <a:cxn ang="0">
                <a:pos x="0" y="22"/>
              </a:cxn>
              <a:cxn ang="0">
                <a:pos x="0" y="25"/>
              </a:cxn>
              <a:cxn ang="0">
                <a:pos x="0" y="25"/>
              </a:cxn>
              <a:cxn ang="0">
                <a:pos x="0" y="29"/>
              </a:cxn>
              <a:cxn ang="0">
                <a:pos x="3" y="29"/>
              </a:cxn>
              <a:cxn ang="0">
                <a:pos x="3" y="32"/>
              </a:cxn>
              <a:cxn ang="0">
                <a:pos x="7" y="32"/>
              </a:cxn>
              <a:cxn ang="0">
                <a:pos x="10" y="36"/>
              </a:cxn>
              <a:cxn ang="0">
                <a:pos x="10" y="36"/>
              </a:cxn>
              <a:cxn ang="0">
                <a:pos x="14" y="36"/>
              </a:cxn>
              <a:cxn ang="0">
                <a:pos x="17" y="36"/>
              </a:cxn>
              <a:cxn ang="0">
                <a:pos x="21" y="36"/>
              </a:cxn>
              <a:cxn ang="0">
                <a:pos x="21" y="32"/>
              </a:cxn>
              <a:cxn ang="0">
                <a:pos x="24" y="32"/>
              </a:cxn>
              <a:cxn ang="0">
                <a:pos x="28" y="29"/>
              </a:cxn>
              <a:cxn ang="0">
                <a:pos x="28" y="29"/>
              </a:cxn>
              <a:cxn ang="0">
                <a:pos x="28" y="25"/>
              </a:cxn>
              <a:cxn ang="0">
                <a:pos x="31" y="25"/>
              </a:cxn>
              <a:cxn ang="0">
                <a:pos x="31" y="22"/>
              </a:cxn>
              <a:cxn ang="0">
                <a:pos x="31" y="18"/>
              </a:cxn>
              <a:cxn ang="0">
                <a:pos x="31" y="18"/>
              </a:cxn>
            </a:cxnLst>
            <a:rect l="0" t="0" r="r" b="b"/>
            <a:pathLst>
              <a:path w="31" h="36">
                <a:moveTo>
                  <a:pt x="28" y="18"/>
                </a:moveTo>
                <a:lnTo>
                  <a:pt x="31" y="15"/>
                </a:lnTo>
                <a:lnTo>
                  <a:pt x="31" y="15"/>
                </a:lnTo>
                <a:lnTo>
                  <a:pt x="28" y="11"/>
                </a:lnTo>
                <a:lnTo>
                  <a:pt x="28" y="7"/>
                </a:lnTo>
                <a:lnTo>
                  <a:pt x="28" y="7"/>
                </a:lnTo>
                <a:lnTo>
                  <a:pt x="24" y="4"/>
                </a:lnTo>
                <a:lnTo>
                  <a:pt x="21" y="4"/>
                </a:lnTo>
                <a:lnTo>
                  <a:pt x="21" y="4"/>
                </a:lnTo>
                <a:lnTo>
                  <a:pt x="17" y="4"/>
                </a:lnTo>
                <a:lnTo>
                  <a:pt x="14" y="0"/>
                </a:lnTo>
                <a:lnTo>
                  <a:pt x="10" y="4"/>
                </a:lnTo>
                <a:lnTo>
                  <a:pt x="10" y="4"/>
                </a:lnTo>
                <a:lnTo>
                  <a:pt x="7" y="4"/>
                </a:lnTo>
                <a:lnTo>
                  <a:pt x="3" y="4"/>
                </a:lnTo>
                <a:lnTo>
                  <a:pt x="3" y="7"/>
                </a:lnTo>
                <a:lnTo>
                  <a:pt x="0" y="7"/>
                </a:lnTo>
                <a:lnTo>
                  <a:pt x="0" y="11"/>
                </a:lnTo>
                <a:lnTo>
                  <a:pt x="0" y="15"/>
                </a:lnTo>
                <a:lnTo>
                  <a:pt x="0" y="15"/>
                </a:lnTo>
                <a:lnTo>
                  <a:pt x="0" y="18"/>
                </a:lnTo>
                <a:lnTo>
                  <a:pt x="0" y="22"/>
                </a:lnTo>
                <a:lnTo>
                  <a:pt x="0" y="25"/>
                </a:lnTo>
                <a:lnTo>
                  <a:pt x="0" y="25"/>
                </a:lnTo>
                <a:lnTo>
                  <a:pt x="0" y="29"/>
                </a:lnTo>
                <a:lnTo>
                  <a:pt x="3" y="29"/>
                </a:lnTo>
                <a:lnTo>
                  <a:pt x="3" y="32"/>
                </a:lnTo>
                <a:lnTo>
                  <a:pt x="7" y="32"/>
                </a:lnTo>
                <a:lnTo>
                  <a:pt x="10" y="36"/>
                </a:lnTo>
                <a:lnTo>
                  <a:pt x="10" y="36"/>
                </a:lnTo>
                <a:lnTo>
                  <a:pt x="14" y="36"/>
                </a:lnTo>
                <a:lnTo>
                  <a:pt x="17" y="36"/>
                </a:lnTo>
                <a:lnTo>
                  <a:pt x="21" y="36"/>
                </a:lnTo>
                <a:lnTo>
                  <a:pt x="21" y="32"/>
                </a:lnTo>
                <a:lnTo>
                  <a:pt x="24" y="32"/>
                </a:lnTo>
                <a:lnTo>
                  <a:pt x="28" y="29"/>
                </a:lnTo>
                <a:lnTo>
                  <a:pt x="28" y="29"/>
                </a:lnTo>
                <a:lnTo>
                  <a:pt x="28" y="25"/>
                </a:lnTo>
                <a:lnTo>
                  <a:pt x="31" y="25"/>
                </a:lnTo>
                <a:lnTo>
                  <a:pt x="31" y="22"/>
                </a:lnTo>
                <a:lnTo>
                  <a:pt x="31" y="18"/>
                </a:lnTo>
                <a:lnTo>
                  <a:pt x="31" y="18"/>
                </a:lnTo>
              </a:path>
            </a:pathLst>
          </a:custGeom>
          <a:noFill/>
          <a:ln w="11113">
            <a:solidFill>
              <a:srgbClr val="000000"/>
            </a:solidFill>
            <a:prstDash val="solid"/>
            <a:round/>
            <a:headEnd/>
            <a:tailEnd/>
          </a:ln>
        </p:spPr>
        <p:txBody>
          <a:bodyPr/>
          <a:lstStyle/>
          <a:p>
            <a:endParaRPr lang="zh-CN" altLang="en-US"/>
          </a:p>
        </p:txBody>
      </p:sp>
      <p:sp>
        <p:nvSpPr>
          <p:cNvPr id="79" name="Freeform 77"/>
          <p:cNvSpPr>
            <a:spLocks/>
          </p:cNvSpPr>
          <p:nvPr/>
        </p:nvSpPr>
        <p:spPr bwMode="auto">
          <a:xfrm>
            <a:off x="2556248" y="2575967"/>
            <a:ext cx="55563" cy="57150"/>
          </a:xfrm>
          <a:custGeom>
            <a:avLst/>
            <a:gdLst/>
            <a:ahLst/>
            <a:cxnLst>
              <a:cxn ang="0">
                <a:pos x="32" y="18"/>
              </a:cxn>
              <a:cxn ang="0">
                <a:pos x="35" y="22"/>
              </a:cxn>
              <a:cxn ang="0">
                <a:pos x="32" y="25"/>
              </a:cxn>
              <a:cxn ang="0">
                <a:pos x="32" y="25"/>
              </a:cxn>
              <a:cxn ang="0">
                <a:pos x="32" y="29"/>
              </a:cxn>
              <a:cxn ang="0">
                <a:pos x="28" y="29"/>
              </a:cxn>
              <a:cxn ang="0">
                <a:pos x="28" y="32"/>
              </a:cxn>
              <a:cxn ang="0">
                <a:pos x="25" y="32"/>
              </a:cxn>
              <a:cxn ang="0">
                <a:pos x="21" y="36"/>
              </a:cxn>
              <a:cxn ang="0">
                <a:pos x="21" y="36"/>
              </a:cxn>
              <a:cxn ang="0">
                <a:pos x="18" y="36"/>
              </a:cxn>
              <a:cxn ang="0">
                <a:pos x="14" y="36"/>
              </a:cxn>
              <a:cxn ang="0">
                <a:pos x="14" y="36"/>
              </a:cxn>
              <a:cxn ang="0">
                <a:pos x="11" y="32"/>
              </a:cxn>
              <a:cxn ang="0">
                <a:pos x="7" y="32"/>
              </a:cxn>
              <a:cxn ang="0">
                <a:pos x="7" y="29"/>
              </a:cxn>
              <a:cxn ang="0">
                <a:pos x="4" y="29"/>
              </a:cxn>
              <a:cxn ang="0">
                <a:pos x="4" y="25"/>
              </a:cxn>
              <a:cxn ang="0">
                <a:pos x="4" y="25"/>
              </a:cxn>
              <a:cxn ang="0">
                <a:pos x="0" y="22"/>
              </a:cxn>
              <a:cxn ang="0">
                <a:pos x="0" y="18"/>
              </a:cxn>
              <a:cxn ang="0">
                <a:pos x="0" y="15"/>
              </a:cxn>
              <a:cxn ang="0">
                <a:pos x="4" y="15"/>
              </a:cxn>
              <a:cxn ang="0">
                <a:pos x="4" y="11"/>
              </a:cxn>
              <a:cxn ang="0">
                <a:pos x="4" y="7"/>
              </a:cxn>
              <a:cxn ang="0">
                <a:pos x="7" y="7"/>
              </a:cxn>
              <a:cxn ang="0">
                <a:pos x="7" y="4"/>
              </a:cxn>
              <a:cxn ang="0">
                <a:pos x="11" y="4"/>
              </a:cxn>
              <a:cxn ang="0">
                <a:pos x="14" y="4"/>
              </a:cxn>
              <a:cxn ang="0">
                <a:pos x="14" y="4"/>
              </a:cxn>
              <a:cxn ang="0">
                <a:pos x="18" y="0"/>
              </a:cxn>
              <a:cxn ang="0">
                <a:pos x="21" y="4"/>
              </a:cxn>
              <a:cxn ang="0">
                <a:pos x="21" y="4"/>
              </a:cxn>
              <a:cxn ang="0">
                <a:pos x="25" y="4"/>
              </a:cxn>
              <a:cxn ang="0">
                <a:pos x="28" y="4"/>
              </a:cxn>
              <a:cxn ang="0">
                <a:pos x="28" y="7"/>
              </a:cxn>
              <a:cxn ang="0">
                <a:pos x="32" y="7"/>
              </a:cxn>
              <a:cxn ang="0">
                <a:pos x="32" y="11"/>
              </a:cxn>
              <a:cxn ang="0">
                <a:pos x="32" y="15"/>
              </a:cxn>
              <a:cxn ang="0">
                <a:pos x="35" y="15"/>
              </a:cxn>
              <a:cxn ang="0">
                <a:pos x="35" y="18"/>
              </a:cxn>
              <a:cxn ang="0">
                <a:pos x="32" y="18"/>
              </a:cxn>
            </a:cxnLst>
            <a:rect l="0" t="0" r="r" b="b"/>
            <a:pathLst>
              <a:path w="35" h="36">
                <a:moveTo>
                  <a:pt x="32" y="18"/>
                </a:moveTo>
                <a:lnTo>
                  <a:pt x="35" y="22"/>
                </a:lnTo>
                <a:lnTo>
                  <a:pt x="32" y="25"/>
                </a:lnTo>
                <a:lnTo>
                  <a:pt x="32" y="25"/>
                </a:lnTo>
                <a:lnTo>
                  <a:pt x="32" y="29"/>
                </a:lnTo>
                <a:lnTo>
                  <a:pt x="28" y="29"/>
                </a:lnTo>
                <a:lnTo>
                  <a:pt x="28" y="32"/>
                </a:lnTo>
                <a:lnTo>
                  <a:pt x="25" y="32"/>
                </a:lnTo>
                <a:lnTo>
                  <a:pt x="21" y="36"/>
                </a:lnTo>
                <a:lnTo>
                  <a:pt x="21" y="36"/>
                </a:lnTo>
                <a:lnTo>
                  <a:pt x="18" y="36"/>
                </a:lnTo>
                <a:lnTo>
                  <a:pt x="14" y="36"/>
                </a:lnTo>
                <a:lnTo>
                  <a:pt x="14" y="36"/>
                </a:lnTo>
                <a:lnTo>
                  <a:pt x="11" y="32"/>
                </a:lnTo>
                <a:lnTo>
                  <a:pt x="7" y="32"/>
                </a:lnTo>
                <a:lnTo>
                  <a:pt x="7" y="29"/>
                </a:lnTo>
                <a:lnTo>
                  <a:pt x="4" y="29"/>
                </a:lnTo>
                <a:lnTo>
                  <a:pt x="4" y="25"/>
                </a:lnTo>
                <a:lnTo>
                  <a:pt x="4" y="25"/>
                </a:lnTo>
                <a:lnTo>
                  <a:pt x="0" y="22"/>
                </a:lnTo>
                <a:lnTo>
                  <a:pt x="0" y="18"/>
                </a:lnTo>
                <a:lnTo>
                  <a:pt x="0" y="15"/>
                </a:lnTo>
                <a:lnTo>
                  <a:pt x="4" y="15"/>
                </a:lnTo>
                <a:lnTo>
                  <a:pt x="4" y="11"/>
                </a:lnTo>
                <a:lnTo>
                  <a:pt x="4" y="7"/>
                </a:lnTo>
                <a:lnTo>
                  <a:pt x="7" y="7"/>
                </a:lnTo>
                <a:lnTo>
                  <a:pt x="7" y="4"/>
                </a:lnTo>
                <a:lnTo>
                  <a:pt x="11" y="4"/>
                </a:lnTo>
                <a:lnTo>
                  <a:pt x="14" y="4"/>
                </a:lnTo>
                <a:lnTo>
                  <a:pt x="14" y="4"/>
                </a:lnTo>
                <a:lnTo>
                  <a:pt x="18" y="0"/>
                </a:lnTo>
                <a:lnTo>
                  <a:pt x="21" y="4"/>
                </a:lnTo>
                <a:lnTo>
                  <a:pt x="21" y="4"/>
                </a:lnTo>
                <a:lnTo>
                  <a:pt x="25" y="4"/>
                </a:lnTo>
                <a:lnTo>
                  <a:pt x="28" y="4"/>
                </a:lnTo>
                <a:lnTo>
                  <a:pt x="28" y="7"/>
                </a:lnTo>
                <a:lnTo>
                  <a:pt x="32" y="7"/>
                </a:lnTo>
                <a:lnTo>
                  <a:pt x="32" y="11"/>
                </a:lnTo>
                <a:lnTo>
                  <a:pt x="32" y="15"/>
                </a:lnTo>
                <a:lnTo>
                  <a:pt x="35" y="15"/>
                </a:lnTo>
                <a:lnTo>
                  <a:pt x="35" y="18"/>
                </a:lnTo>
                <a:lnTo>
                  <a:pt x="32" y="18"/>
                </a:lnTo>
                <a:close/>
              </a:path>
            </a:pathLst>
          </a:custGeom>
          <a:solidFill>
            <a:srgbClr val="000000"/>
          </a:solidFill>
          <a:ln w="9525">
            <a:noFill/>
            <a:round/>
            <a:headEnd/>
            <a:tailEnd/>
          </a:ln>
        </p:spPr>
        <p:txBody>
          <a:bodyPr/>
          <a:lstStyle/>
          <a:p>
            <a:endParaRPr lang="zh-CN" altLang="en-US"/>
          </a:p>
        </p:txBody>
      </p:sp>
      <p:sp>
        <p:nvSpPr>
          <p:cNvPr id="80" name="Freeform 78"/>
          <p:cNvSpPr>
            <a:spLocks/>
          </p:cNvSpPr>
          <p:nvPr/>
        </p:nvSpPr>
        <p:spPr bwMode="auto">
          <a:xfrm>
            <a:off x="2556248" y="2575967"/>
            <a:ext cx="55563" cy="57150"/>
          </a:xfrm>
          <a:custGeom>
            <a:avLst/>
            <a:gdLst/>
            <a:ahLst/>
            <a:cxnLst>
              <a:cxn ang="0">
                <a:pos x="32" y="18"/>
              </a:cxn>
              <a:cxn ang="0">
                <a:pos x="35" y="15"/>
              </a:cxn>
              <a:cxn ang="0">
                <a:pos x="32" y="15"/>
              </a:cxn>
              <a:cxn ang="0">
                <a:pos x="32" y="11"/>
              </a:cxn>
              <a:cxn ang="0">
                <a:pos x="32" y="7"/>
              </a:cxn>
              <a:cxn ang="0">
                <a:pos x="28" y="7"/>
              </a:cxn>
              <a:cxn ang="0">
                <a:pos x="28" y="4"/>
              </a:cxn>
              <a:cxn ang="0">
                <a:pos x="25" y="4"/>
              </a:cxn>
              <a:cxn ang="0">
                <a:pos x="21" y="4"/>
              </a:cxn>
              <a:cxn ang="0">
                <a:pos x="21" y="4"/>
              </a:cxn>
              <a:cxn ang="0">
                <a:pos x="18" y="0"/>
              </a:cxn>
              <a:cxn ang="0">
                <a:pos x="14" y="4"/>
              </a:cxn>
              <a:cxn ang="0">
                <a:pos x="14" y="4"/>
              </a:cxn>
              <a:cxn ang="0">
                <a:pos x="11" y="4"/>
              </a:cxn>
              <a:cxn ang="0">
                <a:pos x="7" y="4"/>
              </a:cxn>
              <a:cxn ang="0">
                <a:pos x="7" y="7"/>
              </a:cxn>
              <a:cxn ang="0">
                <a:pos x="4" y="7"/>
              </a:cxn>
              <a:cxn ang="0">
                <a:pos x="4" y="11"/>
              </a:cxn>
              <a:cxn ang="0">
                <a:pos x="4" y="15"/>
              </a:cxn>
              <a:cxn ang="0">
                <a:pos x="0" y="15"/>
              </a:cxn>
              <a:cxn ang="0">
                <a:pos x="0" y="18"/>
              </a:cxn>
              <a:cxn ang="0">
                <a:pos x="0" y="22"/>
              </a:cxn>
              <a:cxn ang="0">
                <a:pos x="4" y="25"/>
              </a:cxn>
              <a:cxn ang="0">
                <a:pos x="4" y="25"/>
              </a:cxn>
              <a:cxn ang="0">
                <a:pos x="4" y="29"/>
              </a:cxn>
              <a:cxn ang="0">
                <a:pos x="7" y="29"/>
              </a:cxn>
              <a:cxn ang="0">
                <a:pos x="7" y="32"/>
              </a:cxn>
              <a:cxn ang="0">
                <a:pos x="11" y="32"/>
              </a:cxn>
              <a:cxn ang="0">
                <a:pos x="14" y="36"/>
              </a:cxn>
              <a:cxn ang="0">
                <a:pos x="14" y="36"/>
              </a:cxn>
              <a:cxn ang="0">
                <a:pos x="18" y="36"/>
              </a:cxn>
              <a:cxn ang="0">
                <a:pos x="21" y="36"/>
              </a:cxn>
              <a:cxn ang="0">
                <a:pos x="21" y="36"/>
              </a:cxn>
              <a:cxn ang="0">
                <a:pos x="25" y="32"/>
              </a:cxn>
              <a:cxn ang="0">
                <a:pos x="28" y="32"/>
              </a:cxn>
              <a:cxn ang="0">
                <a:pos x="28" y="29"/>
              </a:cxn>
              <a:cxn ang="0">
                <a:pos x="32" y="29"/>
              </a:cxn>
              <a:cxn ang="0">
                <a:pos x="32" y="25"/>
              </a:cxn>
              <a:cxn ang="0">
                <a:pos x="32" y="25"/>
              </a:cxn>
              <a:cxn ang="0">
                <a:pos x="35" y="22"/>
              </a:cxn>
              <a:cxn ang="0">
                <a:pos x="35" y="18"/>
              </a:cxn>
              <a:cxn ang="0">
                <a:pos x="35" y="18"/>
              </a:cxn>
            </a:cxnLst>
            <a:rect l="0" t="0" r="r" b="b"/>
            <a:pathLst>
              <a:path w="35" h="36">
                <a:moveTo>
                  <a:pt x="32" y="18"/>
                </a:moveTo>
                <a:lnTo>
                  <a:pt x="35" y="15"/>
                </a:lnTo>
                <a:lnTo>
                  <a:pt x="32" y="15"/>
                </a:lnTo>
                <a:lnTo>
                  <a:pt x="32" y="11"/>
                </a:lnTo>
                <a:lnTo>
                  <a:pt x="32" y="7"/>
                </a:lnTo>
                <a:lnTo>
                  <a:pt x="28" y="7"/>
                </a:lnTo>
                <a:lnTo>
                  <a:pt x="28" y="4"/>
                </a:lnTo>
                <a:lnTo>
                  <a:pt x="25" y="4"/>
                </a:lnTo>
                <a:lnTo>
                  <a:pt x="21" y="4"/>
                </a:lnTo>
                <a:lnTo>
                  <a:pt x="21" y="4"/>
                </a:lnTo>
                <a:lnTo>
                  <a:pt x="18" y="0"/>
                </a:lnTo>
                <a:lnTo>
                  <a:pt x="14" y="4"/>
                </a:lnTo>
                <a:lnTo>
                  <a:pt x="14" y="4"/>
                </a:lnTo>
                <a:lnTo>
                  <a:pt x="11" y="4"/>
                </a:lnTo>
                <a:lnTo>
                  <a:pt x="7" y="4"/>
                </a:lnTo>
                <a:lnTo>
                  <a:pt x="7" y="7"/>
                </a:lnTo>
                <a:lnTo>
                  <a:pt x="4" y="7"/>
                </a:lnTo>
                <a:lnTo>
                  <a:pt x="4" y="11"/>
                </a:lnTo>
                <a:lnTo>
                  <a:pt x="4" y="15"/>
                </a:lnTo>
                <a:lnTo>
                  <a:pt x="0" y="15"/>
                </a:lnTo>
                <a:lnTo>
                  <a:pt x="0" y="18"/>
                </a:lnTo>
                <a:lnTo>
                  <a:pt x="0" y="22"/>
                </a:lnTo>
                <a:lnTo>
                  <a:pt x="4" y="25"/>
                </a:lnTo>
                <a:lnTo>
                  <a:pt x="4" y="25"/>
                </a:lnTo>
                <a:lnTo>
                  <a:pt x="4" y="29"/>
                </a:lnTo>
                <a:lnTo>
                  <a:pt x="7" y="29"/>
                </a:lnTo>
                <a:lnTo>
                  <a:pt x="7" y="32"/>
                </a:lnTo>
                <a:lnTo>
                  <a:pt x="11" y="32"/>
                </a:lnTo>
                <a:lnTo>
                  <a:pt x="14" y="36"/>
                </a:lnTo>
                <a:lnTo>
                  <a:pt x="14" y="36"/>
                </a:lnTo>
                <a:lnTo>
                  <a:pt x="18" y="36"/>
                </a:lnTo>
                <a:lnTo>
                  <a:pt x="21" y="36"/>
                </a:lnTo>
                <a:lnTo>
                  <a:pt x="21" y="36"/>
                </a:lnTo>
                <a:lnTo>
                  <a:pt x="25" y="32"/>
                </a:lnTo>
                <a:lnTo>
                  <a:pt x="28" y="32"/>
                </a:lnTo>
                <a:lnTo>
                  <a:pt x="28" y="29"/>
                </a:lnTo>
                <a:lnTo>
                  <a:pt x="32" y="29"/>
                </a:lnTo>
                <a:lnTo>
                  <a:pt x="32" y="25"/>
                </a:lnTo>
                <a:lnTo>
                  <a:pt x="32" y="25"/>
                </a:lnTo>
                <a:lnTo>
                  <a:pt x="35" y="22"/>
                </a:lnTo>
                <a:lnTo>
                  <a:pt x="35" y="18"/>
                </a:lnTo>
                <a:lnTo>
                  <a:pt x="35" y="18"/>
                </a:lnTo>
              </a:path>
            </a:pathLst>
          </a:custGeom>
          <a:noFill/>
          <a:ln w="11113">
            <a:solidFill>
              <a:srgbClr val="000000"/>
            </a:solidFill>
            <a:prstDash val="solid"/>
            <a:round/>
            <a:headEnd/>
            <a:tailEnd/>
          </a:ln>
        </p:spPr>
        <p:txBody>
          <a:bodyPr/>
          <a:lstStyle/>
          <a:p>
            <a:endParaRPr lang="zh-CN" altLang="en-US"/>
          </a:p>
        </p:txBody>
      </p:sp>
      <p:sp>
        <p:nvSpPr>
          <p:cNvPr id="81" name="Freeform 79"/>
          <p:cNvSpPr>
            <a:spLocks/>
          </p:cNvSpPr>
          <p:nvPr/>
        </p:nvSpPr>
        <p:spPr bwMode="auto">
          <a:xfrm>
            <a:off x="2768973" y="2575967"/>
            <a:ext cx="50800" cy="57150"/>
          </a:xfrm>
          <a:custGeom>
            <a:avLst/>
            <a:gdLst/>
            <a:ahLst/>
            <a:cxnLst>
              <a:cxn ang="0">
                <a:pos x="29" y="18"/>
              </a:cxn>
              <a:cxn ang="0">
                <a:pos x="32" y="22"/>
              </a:cxn>
              <a:cxn ang="0">
                <a:pos x="32" y="25"/>
              </a:cxn>
              <a:cxn ang="0">
                <a:pos x="29" y="25"/>
              </a:cxn>
              <a:cxn ang="0">
                <a:pos x="29" y="29"/>
              </a:cxn>
              <a:cxn ang="0">
                <a:pos x="29" y="29"/>
              </a:cxn>
              <a:cxn ang="0">
                <a:pos x="25" y="32"/>
              </a:cxn>
              <a:cxn ang="0">
                <a:pos x="21" y="32"/>
              </a:cxn>
              <a:cxn ang="0">
                <a:pos x="21" y="36"/>
              </a:cxn>
              <a:cxn ang="0">
                <a:pos x="18" y="36"/>
              </a:cxn>
              <a:cxn ang="0">
                <a:pos x="14" y="36"/>
              </a:cxn>
              <a:cxn ang="0">
                <a:pos x="11" y="36"/>
              </a:cxn>
              <a:cxn ang="0">
                <a:pos x="11" y="36"/>
              </a:cxn>
              <a:cxn ang="0">
                <a:pos x="7" y="32"/>
              </a:cxn>
              <a:cxn ang="0">
                <a:pos x="4" y="32"/>
              </a:cxn>
              <a:cxn ang="0">
                <a:pos x="4" y="29"/>
              </a:cxn>
              <a:cxn ang="0">
                <a:pos x="0" y="29"/>
              </a:cxn>
              <a:cxn ang="0">
                <a:pos x="0" y="25"/>
              </a:cxn>
              <a:cxn ang="0">
                <a:pos x="0" y="25"/>
              </a:cxn>
              <a:cxn ang="0">
                <a:pos x="0" y="22"/>
              </a:cxn>
              <a:cxn ang="0">
                <a:pos x="0" y="18"/>
              </a:cxn>
              <a:cxn ang="0">
                <a:pos x="0" y="15"/>
              </a:cxn>
              <a:cxn ang="0">
                <a:pos x="0" y="15"/>
              </a:cxn>
              <a:cxn ang="0">
                <a:pos x="0" y="11"/>
              </a:cxn>
              <a:cxn ang="0">
                <a:pos x="0" y="7"/>
              </a:cxn>
              <a:cxn ang="0">
                <a:pos x="4" y="7"/>
              </a:cxn>
              <a:cxn ang="0">
                <a:pos x="4" y="4"/>
              </a:cxn>
              <a:cxn ang="0">
                <a:pos x="7" y="4"/>
              </a:cxn>
              <a:cxn ang="0">
                <a:pos x="11" y="4"/>
              </a:cxn>
              <a:cxn ang="0">
                <a:pos x="11" y="4"/>
              </a:cxn>
              <a:cxn ang="0">
                <a:pos x="14" y="0"/>
              </a:cxn>
              <a:cxn ang="0">
                <a:pos x="18" y="4"/>
              </a:cxn>
              <a:cxn ang="0">
                <a:pos x="21" y="4"/>
              </a:cxn>
              <a:cxn ang="0">
                <a:pos x="21" y="4"/>
              </a:cxn>
              <a:cxn ang="0">
                <a:pos x="25" y="4"/>
              </a:cxn>
              <a:cxn ang="0">
                <a:pos x="29" y="7"/>
              </a:cxn>
              <a:cxn ang="0">
                <a:pos x="29" y="7"/>
              </a:cxn>
              <a:cxn ang="0">
                <a:pos x="29" y="11"/>
              </a:cxn>
              <a:cxn ang="0">
                <a:pos x="32" y="15"/>
              </a:cxn>
              <a:cxn ang="0">
                <a:pos x="32" y="15"/>
              </a:cxn>
              <a:cxn ang="0">
                <a:pos x="32" y="18"/>
              </a:cxn>
              <a:cxn ang="0">
                <a:pos x="29" y="18"/>
              </a:cxn>
            </a:cxnLst>
            <a:rect l="0" t="0" r="r" b="b"/>
            <a:pathLst>
              <a:path w="32" h="36">
                <a:moveTo>
                  <a:pt x="29" y="18"/>
                </a:moveTo>
                <a:lnTo>
                  <a:pt x="32" y="22"/>
                </a:lnTo>
                <a:lnTo>
                  <a:pt x="32" y="25"/>
                </a:lnTo>
                <a:lnTo>
                  <a:pt x="29" y="25"/>
                </a:lnTo>
                <a:lnTo>
                  <a:pt x="29" y="29"/>
                </a:lnTo>
                <a:lnTo>
                  <a:pt x="29" y="29"/>
                </a:lnTo>
                <a:lnTo>
                  <a:pt x="25" y="32"/>
                </a:lnTo>
                <a:lnTo>
                  <a:pt x="21" y="32"/>
                </a:lnTo>
                <a:lnTo>
                  <a:pt x="21" y="36"/>
                </a:lnTo>
                <a:lnTo>
                  <a:pt x="18" y="36"/>
                </a:lnTo>
                <a:lnTo>
                  <a:pt x="14" y="36"/>
                </a:lnTo>
                <a:lnTo>
                  <a:pt x="11" y="36"/>
                </a:lnTo>
                <a:lnTo>
                  <a:pt x="11" y="36"/>
                </a:lnTo>
                <a:lnTo>
                  <a:pt x="7" y="32"/>
                </a:lnTo>
                <a:lnTo>
                  <a:pt x="4" y="32"/>
                </a:lnTo>
                <a:lnTo>
                  <a:pt x="4" y="29"/>
                </a:lnTo>
                <a:lnTo>
                  <a:pt x="0" y="29"/>
                </a:lnTo>
                <a:lnTo>
                  <a:pt x="0" y="25"/>
                </a:lnTo>
                <a:lnTo>
                  <a:pt x="0" y="25"/>
                </a:lnTo>
                <a:lnTo>
                  <a:pt x="0" y="22"/>
                </a:lnTo>
                <a:lnTo>
                  <a:pt x="0" y="18"/>
                </a:lnTo>
                <a:lnTo>
                  <a:pt x="0" y="15"/>
                </a:lnTo>
                <a:lnTo>
                  <a:pt x="0" y="15"/>
                </a:lnTo>
                <a:lnTo>
                  <a:pt x="0" y="11"/>
                </a:lnTo>
                <a:lnTo>
                  <a:pt x="0" y="7"/>
                </a:lnTo>
                <a:lnTo>
                  <a:pt x="4" y="7"/>
                </a:lnTo>
                <a:lnTo>
                  <a:pt x="4" y="4"/>
                </a:lnTo>
                <a:lnTo>
                  <a:pt x="7" y="4"/>
                </a:lnTo>
                <a:lnTo>
                  <a:pt x="11" y="4"/>
                </a:lnTo>
                <a:lnTo>
                  <a:pt x="11" y="4"/>
                </a:lnTo>
                <a:lnTo>
                  <a:pt x="14" y="0"/>
                </a:lnTo>
                <a:lnTo>
                  <a:pt x="18" y="4"/>
                </a:lnTo>
                <a:lnTo>
                  <a:pt x="21" y="4"/>
                </a:lnTo>
                <a:lnTo>
                  <a:pt x="21" y="4"/>
                </a:lnTo>
                <a:lnTo>
                  <a:pt x="25" y="4"/>
                </a:lnTo>
                <a:lnTo>
                  <a:pt x="29" y="7"/>
                </a:lnTo>
                <a:lnTo>
                  <a:pt x="29" y="7"/>
                </a:lnTo>
                <a:lnTo>
                  <a:pt x="29" y="11"/>
                </a:lnTo>
                <a:lnTo>
                  <a:pt x="32" y="15"/>
                </a:lnTo>
                <a:lnTo>
                  <a:pt x="32" y="15"/>
                </a:lnTo>
                <a:lnTo>
                  <a:pt x="32" y="18"/>
                </a:lnTo>
                <a:lnTo>
                  <a:pt x="29" y="18"/>
                </a:lnTo>
                <a:close/>
              </a:path>
            </a:pathLst>
          </a:custGeom>
          <a:solidFill>
            <a:srgbClr val="000000"/>
          </a:solidFill>
          <a:ln w="9525">
            <a:noFill/>
            <a:round/>
            <a:headEnd/>
            <a:tailEnd/>
          </a:ln>
        </p:spPr>
        <p:txBody>
          <a:bodyPr/>
          <a:lstStyle/>
          <a:p>
            <a:endParaRPr lang="zh-CN" altLang="en-US"/>
          </a:p>
        </p:txBody>
      </p:sp>
      <p:sp>
        <p:nvSpPr>
          <p:cNvPr id="82" name="Freeform 80"/>
          <p:cNvSpPr>
            <a:spLocks/>
          </p:cNvSpPr>
          <p:nvPr/>
        </p:nvSpPr>
        <p:spPr bwMode="auto">
          <a:xfrm>
            <a:off x="2768973" y="2575967"/>
            <a:ext cx="50800" cy="57150"/>
          </a:xfrm>
          <a:custGeom>
            <a:avLst/>
            <a:gdLst/>
            <a:ahLst/>
            <a:cxnLst>
              <a:cxn ang="0">
                <a:pos x="29" y="18"/>
              </a:cxn>
              <a:cxn ang="0">
                <a:pos x="32" y="15"/>
              </a:cxn>
              <a:cxn ang="0">
                <a:pos x="32" y="15"/>
              </a:cxn>
              <a:cxn ang="0">
                <a:pos x="29" y="11"/>
              </a:cxn>
              <a:cxn ang="0">
                <a:pos x="29" y="7"/>
              </a:cxn>
              <a:cxn ang="0">
                <a:pos x="29" y="7"/>
              </a:cxn>
              <a:cxn ang="0">
                <a:pos x="25" y="4"/>
              </a:cxn>
              <a:cxn ang="0">
                <a:pos x="21" y="4"/>
              </a:cxn>
              <a:cxn ang="0">
                <a:pos x="21" y="4"/>
              </a:cxn>
              <a:cxn ang="0">
                <a:pos x="18" y="4"/>
              </a:cxn>
              <a:cxn ang="0">
                <a:pos x="14" y="0"/>
              </a:cxn>
              <a:cxn ang="0">
                <a:pos x="11" y="4"/>
              </a:cxn>
              <a:cxn ang="0">
                <a:pos x="11" y="4"/>
              </a:cxn>
              <a:cxn ang="0">
                <a:pos x="7" y="4"/>
              </a:cxn>
              <a:cxn ang="0">
                <a:pos x="4" y="4"/>
              </a:cxn>
              <a:cxn ang="0">
                <a:pos x="4" y="7"/>
              </a:cxn>
              <a:cxn ang="0">
                <a:pos x="0" y="7"/>
              </a:cxn>
              <a:cxn ang="0">
                <a:pos x="0" y="11"/>
              </a:cxn>
              <a:cxn ang="0">
                <a:pos x="0" y="15"/>
              </a:cxn>
              <a:cxn ang="0">
                <a:pos x="0" y="15"/>
              </a:cxn>
              <a:cxn ang="0">
                <a:pos x="0" y="18"/>
              </a:cxn>
              <a:cxn ang="0">
                <a:pos x="0" y="22"/>
              </a:cxn>
              <a:cxn ang="0">
                <a:pos x="0" y="25"/>
              </a:cxn>
              <a:cxn ang="0">
                <a:pos x="0" y="25"/>
              </a:cxn>
              <a:cxn ang="0">
                <a:pos x="0" y="29"/>
              </a:cxn>
              <a:cxn ang="0">
                <a:pos x="4" y="29"/>
              </a:cxn>
              <a:cxn ang="0">
                <a:pos x="4" y="32"/>
              </a:cxn>
              <a:cxn ang="0">
                <a:pos x="7" y="32"/>
              </a:cxn>
              <a:cxn ang="0">
                <a:pos x="11" y="36"/>
              </a:cxn>
              <a:cxn ang="0">
                <a:pos x="11" y="36"/>
              </a:cxn>
              <a:cxn ang="0">
                <a:pos x="14" y="36"/>
              </a:cxn>
              <a:cxn ang="0">
                <a:pos x="18" y="36"/>
              </a:cxn>
              <a:cxn ang="0">
                <a:pos x="21" y="36"/>
              </a:cxn>
              <a:cxn ang="0">
                <a:pos x="21" y="32"/>
              </a:cxn>
              <a:cxn ang="0">
                <a:pos x="25" y="32"/>
              </a:cxn>
              <a:cxn ang="0">
                <a:pos x="29" y="29"/>
              </a:cxn>
              <a:cxn ang="0">
                <a:pos x="29" y="29"/>
              </a:cxn>
              <a:cxn ang="0">
                <a:pos x="29" y="25"/>
              </a:cxn>
              <a:cxn ang="0">
                <a:pos x="32" y="25"/>
              </a:cxn>
              <a:cxn ang="0">
                <a:pos x="32" y="22"/>
              </a:cxn>
              <a:cxn ang="0">
                <a:pos x="32" y="18"/>
              </a:cxn>
              <a:cxn ang="0">
                <a:pos x="32" y="18"/>
              </a:cxn>
            </a:cxnLst>
            <a:rect l="0" t="0" r="r" b="b"/>
            <a:pathLst>
              <a:path w="32" h="36">
                <a:moveTo>
                  <a:pt x="29" y="18"/>
                </a:moveTo>
                <a:lnTo>
                  <a:pt x="32" y="15"/>
                </a:lnTo>
                <a:lnTo>
                  <a:pt x="32" y="15"/>
                </a:lnTo>
                <a:lnTo>
                  <a:pt x="29" y="11"/>
                </a:lnTo>
                <a:lnTo>
                  <a:pt x="29" y="7"/>
                </a:lnTo>
                <a:lnTo>
                  <a:pt x="29" y="7"/>
                </a:lnTo>
                <a:lnTo>
                  <a:pt x="25" y="4"/>
                </a:lnTo>
                <a:lnTo>
                  <a:pt x="21" y="4"/>
                </a:lnTo>
                <a:lnTo>
                  <a:pt x="21" y="4"/>
                </a:lnTo>
                <a:lnTo>
                  <a:pt x="18" y="4"/>
                </a:lnTo>
                <a:lnTo>
                  <a:pt x="14" y="0"/>
                </a:lnTo>
                <a:lnTo>
                  <a:pt x="11" y="4"/>
                </a:lnTo>
                <a:lnTo>
                  <a:pt x="11" y="4"/>
                </a:lnTo>
                <a:lnTo>
                  <a:pt x="7" y="4"/>
                </a:lnTo>
                <a:lnTo>
                  <a:pt x="4" y="4"/>
                </a:lnTo>
                <a:lnTo>
                  <a:pt x="4" y="7"/>
                </a:lnTo>
                <a:lnTo>
                  <a:pt x="0" y="7"/>
                </a:lnTo>
                <a:lnTo>
                  <a:pt x="0" y="11"/>
                </a:lnTo>
                <a:lnTo>
                  <a:pt x="0" y="15"/>
                </a:lnTo>
                <a:lnTo>
                  <a:pt x="0" y="15"/>
                </a:lnTo>
                <a:lnTo>
                  <a:pt x="0" y="18"/>
                </a:lnTo>
                <a:lnTo>
                  <a:pt x="0" y="22"/>
                </a:lnTo>
                <a:lnTo>
                  <a:pt x="0" y="25"/>
                </a:lnTo>
                <a:lnTo>
                  <a:pt x="0" y="25"/>
                </a:lnTo>
                <a:lnTo>
                  <a:pt x="0" y="29"/>
                </a:lnTo>
                <a:lnTo>
                  <a:pt x="4" y="29"/>
                </a:lnTo>
                <a:lnTo>
                  <a:pt x="4" y="32"/>
                </a:lnTo>
                <a:lnTo>
                  <a:pt x="7" y="32"/>
                </a:lnTo>
                <a:lnTo>
                  <a:pt x="11" y="36"/>
                </a:lnTo>
                <a:lnTo>
                  <a:pt x="11" y="36"/>
                </a:lnTo>
                <a:lnTo>
                  <a:pt x="14" y="36"/>
                </a:lnTo>
                <a:lnTo>
                  <a:pt x="18" y="36"/>
                </a:lnTo>
                <a:lnTo>
                  <a:pt x="21" y="36"/>
                </a:lnTo>
                <a:lnTo>
                  <a:pt x="21" y="32"/>
                </a:lnTo>
                <a:lnTo>
                  <a:pt x="25" y="32"/>
                </a:lnTo>
                <a:lnTo>
                  <a:pt x="29" y="29"/>
                </a:lnTo>
                <a:lnTo>
                  <a:pt x="29" y="29"/>
                </a:lnTo>
                <a:lnTo>
                  <a:pt x="29" y="25"/>
                </a:lnTo>
                <a:lnTo>
                  <a:pt x="32" y="25"/>
                </a:lnTo>
                <a:lnTo>
                  <a:pt x="32" y="22"/>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83" name="Freeform 81"/>
          <p:cNvSpPr>
            <a:spLocks/>
          </p:cNvSpPr>
          <p:nvPr/>
        </p:nvSpPr>
        <p:spPr bwMode="auto">
          <a:xfrm>
            <a:off x="2662610" y="2575967"/>
            <a:ext cx="50800" cy="57150"/>
          </a:xfrm>
          <a:custGeom>
            <a:avLst/>
            <a:gdLst/>
            <a:ahLst/>
            <a:cxnLst>
              <a:cxn ang="0">
                <a:pos x="32" y="18"/>
              </a:cxn>
              <a:cxn ang="0">
                <a:pos x="32" y="22"/>
              </a:cxn>
              <a:cxn ang="0">
                <a:pos x="32" y="25"/>
              </a:cxn>
              <a:cxn ang="0">
                <a:pos x="32" y="25"/>
              </a:cxn>
              <a:cxn ang="0">
                <a:pos x="28" y="29"/>
              </a:cxn>
              <a:cxn ang="0">
                <a:pos x="28" y="29"/>
              </a:cxn>
              <a:cxn ang="0">
                <a:pos x="25" y="32"/>
              </a:cxn>
              <a:cxn ang="0">
                <a:pos x="25" y="32"/>
              </a:cxn>
              <a:cxn ang="0">
                <a:pos x="21" y="36"/>
              </a:cxn>
              <a:cxn ang="0">
                <a:pos x="18" y="36"/>
              </a:cxn>
              <a:cxn ang="0">
                <a:pos x="14" y="36"/>
              </a:cxn>
              <a:cxn ang="0">
                <a:pos x="14" y="36"/>
              </a:cxn>
              <a:cxn ang="0">
                <a:pos x="11" y="36"/>
              </a:cxn>
              <a:cxn ang="0">
                <a:pos x="7" y="32"/>
              </a:cxn>
              <a:cxn ang="0">
                <a:pos x="7" y="32"/>
              </a:cxn>
              <a:cxn ang="0">
                <a:pos x="4" y="29"/>
              </a:cxn>
              <a:cxn ang="0">
                <a:pos x="4" y="29"/>
              </a:cxn>
              <a:cxn ang="0">
                <a:pos x="0" y="25"/>
              </a:cxn>
              <a:cxn ang="0">
                <a:pos x="0" y="25"/>
              </a:cxn>
              <a:cxn ang="0">
                <a:pos x="0" y="22"/>
              </a:cxn>
              <a:cxn ang="0">
                <a:pos x="0" y="18"/>
              </a:cxn>
              <a:cxn ang="0">
                <a:pos x="0" y="15"/>
              </a:cxn>
              <a:cxn ang="0">
                <a:pos x="0" y="15"/>
              </a:cxn>
              <a:cxn ang="0">
                <a:pos x="0" y="11"/>
              </a:cxn>
              <a:cxn ang="0">
                <a:pos x="4" y="7"/>
              </a:cxn>
              <a:cxn ang="0">
                <a:pos x="4" y="7"/>
              </a:cxn>
              <a:cxn ang="0">
                <a:pos x="7" y="4"/>
              </a:cxn>
              <a:cxn ang="0">
                <a:pos x="7" y="4"/>
              </a:cxn>
              <a:cxn ang="0">
                <a:pos x="11" y="4"/>
              </a:cxn>
              <a:cxn ang="0">
                <a:pos x="14" y="4"/>
              </a:cxn>
              <a:cxn ang="0">
                <a:pos x="14" y="0"/>
              </a:cxn>
              <a:cxn ang="0">
                <a:pos x="18" y="4"/>
              </a:cxn>
              <a:cxn ang="0">
                <a:pos x="21" y="4"/>
              </a:cxn>
              <a:cxn ang="0">
                <a:pos x="25" y="4"/>
              </a:cxn>
              <a:cxn ang="0">
                <a:pos x="25" y="4"/>
              </a:cxn>
              <a:cxn ang="0">
                <a:pos x="28" y="7"/>
              </a:cxn>
              <a:cxn ang="0">
                <a:pos x="28" y="7"/>
              </a:cxn>
              <a:cxn ang="0">
                <a:pos x="32" y="11"/>
              </a:cxn>
              <a:cxn ang="0">
                <a:pos x="32" y="15"/>
              </a:cxn>
              <a:cxn ang="0">
                <a:pos x="32" y="15"/>
              </a:cxn>
              <a:cxn ang="0">
                <a:pos x="32" y="18"/>
              </a:cxn>
            </a:cxnLst>
            <a:rect l="0" t="0" r="r" b="b"/>
            <a:pathLst>
              <a:path w="32" h="36">
                <a:moveTo>
                  <a:pt x="32" y="18"/>
                </a:moveTo>
                <a:lnTo>
                  <a:pt x="32" y="22"/>
                </a:lnTo>
                <a:lnTo>
                  <a:pt x="32" y="25"/>
                </a:lnTo>
                <a:lnTo>
                  <a:pt x="32" y="25"/>
                </a:lnTo>
                <a:lnTo>
                  <a:pt x="28" y="29"/>
                </a:lnTo>
                <a:lnTo>
                  <a:pt x="28" y="29"/>
                </a:lnTo>
                <a:lnTo>
                  <a:pt x="25" y="32"/>
                </a:lnTo>
                <a:lnTo>
                  <a:pt x="25" y="32"/>
                </a:lnTo>
                <a:lnTo>
                  <a:pt x="21" y="36"/>
                </a:lnTo>
                <a:lnTo>
                  <a:pt x="18" y="36"/>
                </a:lnTo>
                <a:lnTo>
                  <a:pt x="14" y="36"/>
                </a:lnTo>
                <a:lnTo>
                  <a:pt x="14" y="36"/>
                </a:lnTo>
                <a:lnTo>
                  <a:pt x="11" y="36"/>
                </a:lnTo>
                <a:lnTo>
                  <a:pt x="7" y="32"/>
                </a:lnTo>
                <a:lnTo>
                  <a:pt x="7" y="32"/>
                </a:lnTo>
                <a:lnTo>
                  <a:pt x="4" y="29"/>
                </a:lnTo>
                <a:lnTo>
                  <a:pt x="4" y="29"/>
                </a:lnTo>
                <a:lnTo>
                  <a:pt x="0" y="25"/>
                </a:lnTo>
                <a:lnTo>
                  <a:pt x="0" y="25"/>
                </a:lnTo>
                <a:lnTo>
                  <a:pt x="0" y="22"/>
                </a:lnTo>
                <a:lnTo>
                  <a:pt x="0" y="18"/>
                </a:lnTo>
                <a:lnTo>
                  <a:pt x="0" y="15"/>
                </a:lnTo>
                <a:lnTo>
                  <a:pt x="0" y="15"/>
                </a:lnTo>
                <a:lnTo>
                  <a:pt x="0" y="11"/>
                </a:lnTo>
                <a:lnTo>
                  <a:pt x="4" y="7"/>
                </a:lnTo>
                <a:lnTo>
                  <a:pt x="4" y="7"/>
                </a:lnTo>
                <a:lnTo>
                  <a:pt x="7" y="4"/>
                </a:lnTo>
                <a:lnTo>
                  <a:pt x="7" y="4"/>
                </a:lnTo>
                <a:lnTo>
                  <a:pt x="11" y="4"/>
                </a:lnTo>
                <a:lnTo>
                  <a:pt x="14" y="4"/>
                </a:lnTo>
                <a:lnTo>
                  <a:pt x="14" y="0"/>
                </a:lnTo>
                <a:lnTo>
                  <a:pt x="18" y="4"/>
                </a:lnTo>
                <a:lnTo>
                  <a:pt x="21" y="4"/>
                </a:lnTo>
                <a:lnTo>
                  <a:pt x="25" y="4"/>
                </a:lnTo>
                <a:lnTo>
                  <a:pt x="25" y="4"/>
                </a:lnTo>
                <a:lnTo>
                  <a:pt x="28" y="7"/>
                </a:lnTo>
                <a:lnTo>
                  <a:pt x="28" y="7"/>
                </a:lnTo>
                <a:lnTo>
                  <a:pt x="32" y="11"/>
                </a:lnTo>
                <a:lnTo>
                  <a:pt x="32" y="15"/>
                </a:lnTo>
                <a:lnTo>
                  <a:pt x="32" y="15"/>
                </a:lnTo>
                <a:lnTo>
                  <a:pt x="32" y="18"/>
                </a:lnTo>
                <a:close/>
              </a:path>
            </a:pathLst>
          </a:custGeom>
          <a:solidFill>
            <a:srgbClr val="000000"/>
          </a:solidFill>
          <a:ln w="9525">
            <a:noFill/>
            <a:round/>
            <a:headEnd/>
            <a:tailEnd/>
          </a:ln>
        </p:spPr>
        <p:txBody>
          <a:bodyPr/>
          <a:lstStyle/>
          <a:p>
            <a:endParaRPr lang="zh-CN" altLang="en-US"/>
          </a:p>
        </p:txBody>
      </p:sp>
      <p:sp>
        <p:nvSpPr>
          <p:cNvPr id="84" name="Freeform 82"/>
          <p:cNvSpPr>
            <a:spLocks/>
          </p:cNvSpPr>
          <p:nvPr/>
        </p:nvSpPr>
        <p:spPr bwMode="auto">
          <a:xfrm>
            <a:off x="2662610" y="2575967"/>
            <a:ext cx="50800" cy="57150"/>
          </a:xfrm>
          <a:custGeom>
            <a:avLst/>
            <a:gdLst/>
            <a:ahLst/>
            <a:cxnLst>
              <a:cxn ang="0">
                <a:pos x="32" y="18"/>
              </a:cxn>
              <a:cxn ang="0">
                <a:pos x="32" y="15"/>
              </a:cxn>
              <a:cxn ang="0">
                <a:pos x="32" y="15"/>
              </a:cxn>
              <a:cxn ang="0">
                <a:pos x="32" y="11"/>
              </a:cxn>
              <a:cxn ang="0">
                <a:pos x="28" y="7"/>
              </a:cxn>
              <a:cxn ang="0">
                <a:pos x="28" y="7"/>
              </a:cxn>
              <a:cxn ang="0">
                <a:pos x="25" y="4"/>
              </a:cxn>
              <a:cxn ang="0">
                <a:pos x="25" y="4"/>
              </a:cxn>
              <a:cxn ang="0">
                <a:pos x="21" y="4"/>
              </a:cxn>
              <a:cxn ang="0">
                <a:pos x="18" y="4"/>
              </a:cxn>
              <a:cxn ang="0">
                <a:pos x="14" y="0"/>
              </a:cxn>
              <a:cxn ang="0">
                <a:pos x="14" y="4"/>
              </a:cxn>
              <a:cxn ang="0">
                <a:pos x="11" y="4"/>
              </a:cxn>
              <a:cxn ang="0">
                <a:pos x="7" y="4"/>
              </a:cxn>
              <a:cxn ang="0">
                <a:pos x="7" y="4"/>
              </a:cxn>
              <a:cxn ang="0">
                <a:pos x="4" y="7"/>
              </a:cxn>
              <a:cxn ang="0">
                <a:pos x="4" y="7"/>
              </a:cxn>
              <a:cxn ang="0">
                <a:pos x="0" y="11"/>
              </a:cxn>
              <a:cxn ang="0">
                <a:pos x="0" y="15"/>
              </a:cxn>
              <a:cxn ang="0">
                <a:pos x="0" y="15"/>
              </a:cxn>
              <a:cxn ang="0">
                <a:pos x="0" y="18"/>
              </a:cxn>
              <a:cxn ang="0">
                <a:pos x="0" y="22"/>
              </a:cxn>
              <a:cxn ang="0">
                <a:pos x="0" y="25"/>
              </a:cxn>
              <a:cxn ang="0">
                <a:pos x="0" y="25"/>
              </a:cxn>
              <a:cxn ang="0">
                <a:pos x="4" y="29"/>
              </a:cxn>
              <a:cxn ang="0">
                <a:pos x="4" y="29"/>
              </a:cxn>
              <a:cxn ang="0">
                <a:pos x="7" y="32"/>
              </a:cxn>
              <a:cxn ang="0">
                <a:pos x="7" y="32"/>
              </a:cxn>
              <a:cxn ang="0">
                <a:pos x="11" y="36"/>
              </a:cxn>
              <a:cxn ang="0">
                <a:pos x="14" y="36"/>
              </a:cxn>
              <a:cxn ang="0">
                <a:pos x="14" y="36"/>
              </a:cxn>
              <a:cxn ang="0">
                <a:pos x="18" y="36"/>
              </a:cxn>
              <a:cxn ang="0">
                <a:pos x="21" y="36"/>
              </a:cxn>
              <a:cxn ang="0">
                <a:pos x="25" y="32"/>
              </a:cxn>
              <a:cxn ang="0">
                <a:pos x="25" y="32"/>
              </a:cxn>
              <a:cxn ang="0">
                <a:pos x="28" y="29"/>
              </a:cxn>
              <a:cxn ang="0">
                <a:pos x="28" y="29"/>
              </a:cxn>
              <a:cxn ang="0">
                <a:pos x="32" y="25"/>
              </a:cxn>
              <a:cxn ang="0">
                <a:pos x="32" y="25"/>
              </a:cxn>
              <a:cxn ang="0">
                <a:pos x="32" y="22"/>
              </a:cxn>
              <a:cxn ang="0">
                <a:pos x="32" y="18"/>
              </a:cxn>
              <a:cxn ang="0">
                <a:pos x="32" y="18"/>
              </a:cxn>
            </a:cxnLst>
            <a:rect l="0" t="0" r="r" b="b"/>
            <a:pathLst>
              <a:path w="32" h="36">
                <a:moveTo>
                  <a:pt x="32" y="18"/>
                </a:moveTo>
                <a:lnTo>
                  <a:pt x="32" y="15"/>
                </a:lnTo>
                <a:lnTo>
                  <a:pt x="32" y="15"/>
                </a:lnTo>
                <a:lnTo>
                  <a:pt x="32" y="11"/>
                </a:lnTo>
                <a:lnTo>
                  <a:pt x="28" y="7"/>
                </a:lnTo>
                <a:lnTo>
                  <a:pt x="28" y="7"/>
                </a:lnTo>
                <a:lnTo>
                  <a:pt x="25" y="4"/>
                </a:lnTo>
                <a:lnTo>
                  <a:pt x="25" y="4"/>
                </a:lnTo>
                <a:lnTo>
                  <a:pt x="21" y="4"/>
                </a:lnTo>
                <a:lnTo>
                  <a:pt x="18" y="4"/>
                </a:lnTo>
                <a:lnTo>
                  <a:pt x="14" y="0"/>
                </a:lnTo>
                <a:lnTo>
                  <a:pt x="14" y="4"/>
                </a:lnTo>
                <a:lnTo>
                  <a:pt x="11" y="4"/>
                </a:lnTo>
                <a:lnTo>
                  <a:pt x="7" y="4"/>
                </a:lnTo>
                <a:lnTo>
                  <a:pt x="7" y="4"/>
                </a:lnTo>
                <a:lnTo>
                  <a:pt x="4" y="7"/>
                </a:lnTo>
                <a:lnTo>
                  <a:pt x="4" y="7"/>
                </a:lnTo>
                <a:lnTo>
                  <a:pt x="0" y="11"/>
                </a:lnTo>
                <a:lnTo>
                  <a:pt x="0" y="15"/>
                </a:lnTo>
                <a:lnTo>
                  <a:pt x="0" y="15"/>
                </a:lnTo>
                <a:lnTo>
                  <a:pt x="0" y="18"/>
                </a:lnTo>
                <a:lnTo>
                  <a:pt x="0" y="22"/>
                </a:lnTo>
                <a:lnTo>
                  <a:pt x="0" y="25"/>
                </a:lnTo>
                <a:lnTo>
                  <a:pt x="0" y="25"/>
                </a:lnTo>
                <a:lnTo>
                  <a:pt x="4" y="29"/>
                </a:lnTo>
                <a:lnTo>
                  <a:pt x="4" y="29"/>
                </a:lnTo>
                <a:lnTo>
                  <a:pt x="7" y="32"/>
                </a:lnTo>
                <a:lnTo>
                  <a:pt x="7" y="32"/>
                </a:lnTo>
                <a:lnTo>
                  <a:pt x="11" y="36"/>
                </a:lnTo>
                <a:lnTo>
                  <a:pt x="14" y="36"/>
                </a:lnTo>
                <a:lnTo>
                  <a:pt x="14" y="36"/>
                </a:lnTo>
                <a:lnTo>
                  <a:pt x="18" y="36"/>
                </a:lnTo>
                <a:lnTo>
                  <a:pt x="21" y="36"/>
                </a:lnTo>
                <a:lnTo>
                  <a:pt x="25" y="32"/>
                </a:lnTo>
                <a:lnTo>
                  <a:pt x="25" y="32"/>
                </a:lnTo>
                <a:lnTo>
                  <a:pt x="28" y="29"/>
                </a:lnTo>
                <a:lnTo>
                  <a:pt x="28" y="29"/>
                </a:lnTo>
                <a:lnTo>
                  <a:pt x="32" y="25"/>
                </a:lnTo>
                <a:lnTo>
                  <a:pt x="32" y="25"/>
                </a:lnTo>
                <a:lnTo>
                  <a:pt x="32" y="22"/>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85" name="Freeform 83"/>
          <p:cNvSpPr>
            <a:spLocks/>
          </p:cNvSpPr>
          <p:nvPr/>
        </p:nvSpPr>
        <p:spPr bwMode="auto">
          <a:xfrm>
            <a:off x="2870573" y="2575967"/>
            <a:ext cx="50800" cy="57150"/>
          </a:xfrm>
          <a:custGeom>
            <a:avLst/>
            <a:gdLst/>
            <a:ahLst/>
            <a:cxnLst>
              <a:cxn ang="0">
                <a:pos x="32" y="18"/>
              </a:cxn>
              <a:cxn ang="0">
                <a:pos x="32" y="22"/>
              </a:cxn>
              <a:cxn ang="0">
                <a:pos x="32" y="25"/>
              </a:cxn>
              <a:cxn ang="0">
                <a:pos x="32" y="25"/>
              </a:cxn>
              <a:cxn ang="0">
                <a:pos x="28" y="29"/>
              </a:cxn>
              <a:cxn ang="0">
                <a:pos x="28" y="29"/>
              </a:cxn>
              <a:cxn ang="0">
                <a:pos x="25" y="32"/>
              </a:cxn>
              <a:cxn ang="0">
                <a:pos x="25" y="32"/>
              </a:cxn>
              <a:cxn ang="0">
                <a:pos x="21" y="36"/>
              </a:cxn>
              <a:cxn ang="0">
                <a:pos x="17" y="36"/>
              </a:cxn>
              <a:cxn ang="0">
                <a:pos x="17" y="36"/>
              </a:cxn>
              <a:cxn ang="0">
                <a:pos x="14" y="36"/>
              </a:cxn>
              <a:cxn ang="0">
                <a:pos x="10" y="36"/>
              </a:cxn>
              <a:cxn ang="0">
                <a:pos x="10" y="32"/>
              </a:cxn>
              <a:cxn ang="0">
                <a:pos x="7" y="32"/>
              </a:cxn>
              <a:cxn ang="0">
                <a:pos x="3" y="29"/>
              </a:cxn>
              <a:cxn ang="0">
                <a:pos x="3" y="29"/>
              </a:cxn>
              <a:cxn ang="0">
                <a:pos x="3" y="25"/>
              </a:cxn>
              <a:cxn ang="0">
                <a:pos x="0" y="25"/>
              </a:cxn>
              <a:cxn ang="0">
                <a:pos x="0" y="22"/>
              </a:cxn>
              <a:cxn ang="0">
                <a:pos x="0" y="18"/>
              </a:cxn>
              <a:cxn ang="0">
                <a:pos x="0" y="15"/>
              </a:cxn>
              <a:cxn ang="0">
                <a:pos x="0" y="15"/>
              </a:cxn>
              <a:cxn ang="0">
                <a:pos x="3" y="11"/>
              </a:cxn>
              <a:cxn ang="0">
                <a:pos x="3" y="7"/>
              </a:cxn>
              <a:cxn ang="0">
                <a:pos x="3" y="7"/>
              </a:cxn>
              <a:cxn ang="0">
                <a:pos x="7" y="4"/>
              </a:cxn>
              <a:cxn ang="0">
                <a:pos x="10" y="4"/>
              </a:cxn>
              <a:cxn ang="0">
                <a:pos x="10" y="4"/>
              </a:cxn>
              <a:cxn ang="0">
                <a:pos x="14" y="4"/>
              </a:cxn>
              <a:cxn ang="0">
                <a:pos x="17" y="0"/>
              </a:cxn>
              <a:cxn ang="0">
                <a:pos x="17" y="4"/>
              </a:cxn>
              <a:cxn ang="0">
                <a:pos x="21" y="4"/>
              </a:cxn>
              <a:cxn ang="0">
                <a:pos x="25" y="4"/>
              </a:cxn>
              <a:cxn ang="0">
                <a:pos x="25" y="4"/>
              </a:cxn>
              <a:cxn ang="0">
                <a:pos x="28" y="7"/>
              </a:cxn>
              <a:cxn ang="0">
                <a:pos x="28" y="7"/>
              </a:cxn>
              <a:cxn ang="0">
                <a:pos x="32" y="11"/>
              </a:cxn>
              <a:cxn ang="0">
                <a:pos x="32" y="15"/>
              </a:cxn>
              <a:cxn ang="0">
                <a:pos x="32" y="15"/>
              </a:cxn>
              <a:cxn ang="0">
                <a:pos x="32" y="18"/>
              </a:cxn>
            </a:cxnLst>
            <a:rect l="0" t="0" r="r" b="b"/>
            <a:pathLst>
              <a:path w="32" h="36">
                <a:moveTo>
                  <a:pt x="32" y="18"/>
                </a:moveTo>
                <a:lnTo>
                  <a:pt x="32" y="22"/>
                </a:lnTo>
                <a:lnTo>
                  <a:pt x="32" y="25"/>
                </a:lnTo>
                <a:lnTo>
                  <a:pt x="32" y="25"/>
                </a:lnTo>
                <a:lnTo>
                  <a:pt x="28" y="29"/>
                </a:lnTo>
                <a:lnTo>
                  <a:pt x="28" y="29"/>
                </a:lnTo>
                <a:lnTo>
                  <a:pt x="25" y="32"/>
                </a:lnTo>
                <a:lnTo>
                  <a:pt x="25" y="32"/>
                </a:lnTo>
                <a:lnTo>
                  <a:pt x="21" y="36"/>
                </a:lnTo>
                <a:lnTo>
                  <a:pt x="17" y="36"/>
                </a:lnTo>
                <a:lnTo>
                  <a:pt x="17" y="36"/>
                </a:lnTo>
                <a:lnTo>
                  <a:pt x="14" y="36"/>
                </a:lnTo>
                <a:lnTo>
                  <a:pt x="10" y="36"/>
                </a:lnTo>
                <a:lnTo>
                  <a:pt x="10" y="32"/>
                </a:lnTo>
                <a:lnTo>
                  <a:pt x="7" y="32"/>
                </a:lnTo>
                <a:lnTo>
                  <a:pt x="3" y="29"/>
                </a:lnTo>
                <a:lnTo>
                  <a:pt x="3" y="29"/>
                </a:lnTo>
                <a:lnTo>
                  <a:pt x="3" y="25"/>
                </a:lnTo>
                <a:lnTo>
                  <a:pt x="0" y="25"/>
                </a:lnTo>
                <a:lnTo>
                  <a:pt x="0" y="22"/>
                </a:lnTo>
                <a:lnTo>
                  <a:pt x="0" y="18"/>
                </a:lnTo>
                <a:lnTo>
                  <a:pt x="0" y="15"/>
                </a:lnTo>
                <a:lnTo>
                  <a:pt x="0" y="15"/>
                </a:lnTo>
                <a:lnTo>
                  <a:pt x="3" y="11"/>
                </a:lnTo>
                <a:lnTo>
                  <a:pt x="3" y="7"/>
                </a:lnTo>
                <a:lnTo>
                  <a:pt x="3" y="7"/>
                </a:lnTo>
                <a:lnTo>
                  <a:pt x="7" y="4"/>
                </a:lnTo>
                <a:lnTo>
                  <a:pt x="10" y="4"/>
                </a:lnTo>
                <a:lnTo>
                  <a:pt x="10" y="4"/>
                </a:lnTo>
                <a:lnTo>
                  <a:pt x="14" y="4"/>
                </a:lnTo>
                <a:lnTo>
                  <a:pt x="17" y="0"/>
                </a:lnTo>
                <a:lnTo>
                  <a:pt x="17" y="4"/>
                </a:lnTo>
                <a:lnTo>
                  <a:pt x="21" y="4"/>
                </a:lnTo>
                <a:lnTo>
                  <a:pt x="25" y="4"/>
                </a:lnTo>
                <a:lnTo>
                  <a:pt x="25" y="4"/>
                </a:lnTo>
                <a:lnTo>
                  <a:pt x="28" y="7"/>
                </a:lnTo>
                <a:lnTo>
                  <a:pt x="28" y="7"/>
                </a:lnTo>
                <a:lnTo>
                  <a:pt x="32" y="11"/>
                </a:lnTo>
                <a:lnTo>
                  <a:pt x="32" y="15"/>
                </a:lnTo>
                <a:lnTo>
                  <a:pt x="32" y="15"/>
                </a:lnTo>
                <a:lnTo>
                  <a:pt x="32" y="18"/>
                </a:lnTo>
                <a:close/>
              </a:path>
            </a:pathLst>
          </a:custGeom>
          <a:solidFill>
            <a:srgbClr val="000000"/>
          </a:solidFill>
          <a:ln w="9525">
            <a:noFill/>
            <a:round/>
            <a:headEnd/>
            <a:tailEnd/>
          </a:ln>
        </p:spPr>
        <p:txBody>
          <a:bodyPr/>
          <a:lstStyle/>
          <a:p>
            <a:endParaRPr lang="zh-CN" altLang="en-US"/>
          </a:p>
        </p:txBody>
      </p:sp>
      <p:sp>
        <p:nvSpPr>
          <p:cNvPr id="86" name="Freeform 84"/>
          <p:cNvSpPr>
            <a:spLocks/>
          </p:cNvSpPr>
          <p:nvPr/>
        </p:nvSpPr>
        <p:spPr bwMode="auto">
          <a:xfrm>
            <a:off x="2870573" y="2575967"/>
            <a:ext cx="50800" cy="57150"/>
          </a:xfrm>
          <a:custGeom>
            <a:avLst/>
            <a:gdLst/>
            <a:ahLst/>
            <a:cxnLst>
              <a:cxn ang="0">
                <a:pos x="32" y="18"/>
              </a:cxn>
              <a:cxn ang="0">
                <a:pos x="32" y="15"/>
              </a:cxn>
              <a:cxn ang="0">
                <a:pos x="32" y="15"/>
              </a:cxn>
              <a:cxn ang="0">
                <a:pos x="32" y="11"/>
              </a:cxn>
              <a:cxn ang="0">
                <a:pos x="28" y="7"/>
              </a:cxn>
              <a:cxn ang="0">
                <a:pos x="28" y="7"/>
              </a:cxn>
              <a:cxn ang="0">
                <a:pos x="25" y="4"/>
              </a:cxn>
              <a:cxn ang="0">
                <a:pos x="25" y="4"/>
              </a:cxn>
              <a:cxn ang="0">
                <a:pos x="21" y="4"/>
              </a:cxn>
              <a:cxn ang="0">
                <a:pos x="17" y="4"/>
              </a:cxn>
              <a:cxn ang="0">
                <a:pos x="17" y="0"/>
              </a:cxn>
              <a:cxn ang="0">
                <a:pos x="14" y="4"/>
              </a:cxn>
              <a:cxn ang="0">
                <a:pos x="10" y="4"/>
              </a:cxn>
              <a:cxn ang="0">
                <a:pos x="10" y="4"/>
              </a:cxn>
              <a:cxn ang="0">
                <a:pos x="7" y="4"/>
              </a:cxn>
              <a:cxn ang="0">
                <a:pos x="3" y="7"/>
              </a:cxn>
              <a:cxn ang="0">
                <a:pos x="3" y="7"/>
              </a:cxn>
              <a:cxn ang="0">
                <a:pos x="3" y="11"/>
              </a:cxn>
              <a:cxn ang="0">
                <a:pos x="0" y="15"/>
              </a:cxn>
              <a:cxn ang="0">
                <a:pos x="0" y="15"/>
              </a:cxn>
              <a:cxn ang="0">
                <a:pos x="0" y="18"/>
              </a:cxn>
              <a:cxn ang="0">
                <a:pos x="0" y="22"/>
              </a:cxn>
              <a:cxn ang="0">
                <a:pos x="0" y="25"/>
              </a:cxn>
              <a:cxn ang="0">
                <a:pos x="3" y="25"/>
              </a:cxn>
              <a:cxn ang="0">
                <a:pos x="3" y="29"/>
              </a:cxn>
              <a:cxn ang="0">
                <a:pos x="3" y="29"/>
              </a:cxn>
              <a:cxn ang="0">
                <a:pos x="7" y="32"/>
              </a:cxn>
              <a:cxn ang="0">
                <a:pos x="10" y="32"/>
              </a:cxn>
              <a:cxn ang="0">
                <a:pos x="10" y="36"/>
              </a:cxn>
              <a:cxn ang="0">
                <a:pos x="14" y="36"/>
              </a:cxn>
              <a:cxn ang="0">
                <a:pos x="17" y="36"/>
              </a:cxn>
              <a:cxn ang="0">
                <a:pos x="17" y="36"/>
              </a:cxn>
              <a:cxn ang="0">
                <a:pos x="21" y="36"/>
              </a:cxn>
              <a:cxn ang="0">
                <a:pos x="25" y="32"/>
              </a:cxn>
              <a:cxn ang="0">
                <a:pos x="25" y="32"/>
              </a:cxn>
              <a:cxn ang="0">
                <a:pos x="28" y="29"/>
              </a:cxn>
              <a:cxn ang="0">
                <a:pos x="28" y="29"/>
              </a:cxn>
              <a:cxn ang="0">
                <a:pos x="32" y="25"/>
              </a:cxn>
              <a:cxn ang="0">
                <a:pos x="32" y="25"/>
              </a:cxn>
              <a:cxn ang="0">
                <a:pos x="32" y="22"/>
              </a:cxn>
              <a:cxn ang="0">
                <a:pos x="32" y="18"/>
              </a:cxn>
              <a:cxn ang="0">
                <a:pos x="32" y="18"/>
              </a:cxn>
            </a:cxnLst>
            <a:rect l="0" t="0" r="r" b="b"/>
            <a:pathLst>
              <a:path w="32" h="36">
                <a:moveTo>
                  <a:pt x="32" y="18"/>
                </a:moveTo>
                <a:lnTo>
                  <a:pt x="32" y="15"/>
                </a:lnTo>
                <a:lnTo>
                  <a:pt x="32" y="15"/>
                </a:lnTo>
                <a:lnTo>
                  <a:pt x="32" y="11"/>
                </a:lnTo>
                <a:lnTo>
                  <a:pt x="28" y="7"/>
                </a:lnTo>
                <a:lnTo>
                  <a:pt x="28" y="7"/>
                </a:lnTo>
                <a:lnTo>
                  <a:pt x="25" y="4"/>
                </a:lnTo>
                <a:lnTo>
                  <a:pt x="25" y="4"/>
                </a:lnTo>
                <a:lnTo>
                  <a:pt x="21" y="4"/>
                </a:lnTo>
                <a:lnTo>
                  <a:pt x="17" y="4"/>
                </a:lnTo>
                <a:lnTo>
                  <a:pt x="17" y="0"/>
                </a:lnTo>
                <a:lnTo>
                  <a:pt x="14" y="4"/>
                </a:lnTo>
                <a:lnTo>
                  <a:pt x="10" y="4"/>
                </a:lnTo>
                <a:lnTo>
                  <a:pt x="10" y="4"/>
                </a:lnTo>
                <a:lnTo>
                  <a:pt x="7" y="4"/>
                </a:lnTo>
                <a:lnTo>
                  <a:pt x="3" y="7"/>
                </a:lnTo>
                <a:lnTo>
                  <a:pt x="3" y="7"/>
                </a:lnTo>
                <a:lnTo>
                  <a:pt x="3" y="11"/>
                </a:lnTo>
                <a:lnTo>
                  <a:pt x="0" y="15"/>
                </a:lnTo>
                <a:lnTo>
                  <a:pt x="0" y="15"/>
                </a:lnTo>
                <a:lnTo>
                  <a:pt x="0" y="18"/>
                </a:lnTo>
                <a:lnTo>
                  <a:pt x="0" y="22"/>
                </a:lnTo>
                <a:lnTo>
                  <a:pt x="0" y="25"/>
                </a:lnTo>
                <a:lnTo>
                  <a:pt x="3" y="25"/>
                </a:lnTo>
                <a:lnTo>
                  <a:pt x="3" y="29"/>
                </a:lnTo>
                <a:lnTo>
                  <a:pt x="3" y="29"/>
                </a:lnTo>
                <a:lnTo>
                  <a:pt x="7" y="32"/>
                </a:lnTo>
                <a:lnTo>
                  <a:pt x="10" y="32"/>
                </a:lnTo>
                <a:lnTo>
                  <a:pt x="10" y="36"/>
                </a:lnTo>
                <a:lnTo>
                  <a:pt x="14" y="36"/>
                </a:lnTo>
                <a:lnTo>
                  <a:pt x="17" y="36"/>
                </a:lnTo>
                <a:lnTo>
                  <a:pt x="17" y="36"/>
                </a:lnTo>
                <a:lnTo>
                  <a:pt x="21" y="36"/>
                </a:lnTo>
                <a:lnTo>
                  <a:pt x="25" y="32"/>
                </a:lnTo>
                <a:lnTo>
                  <a:pt x="25" y="32"/>
                </a:lnTo>
                <a:lnTo>
                  <a:pt x="28" y="29"/>
                </a:lnTo>
                <a:lnTo>
                  <a:pt x="28" y="29"/>
                </a:lnTo>
                <a:lnTo>
                  <a:pt x="32" y="25"/>
                </a:lnTo>
                <a:lnTo>
                  <a:pt x="32" y="25"/>
                </a:lnTo>
                <a:lnTo>
                  <a:pt x="32" y="22"/>
                </a:lnTo>
                <a:lnTo>
                  <a:pt x="32" y="18"/>
                </a:lnTo>
                <a:lnTo>
                  <a:pt x="32" y="18"/>
                </a:lnTo>
              </a:path>
            </a:pathLst>
          </a:custGeom>
          <a:noFill/>
          <a:ln w="11113">
            <a:solidFill>
              <a:srgbClr val="000000"/>
            </a:solidFill>
            <a:prstDash val="solid"/>
            <a:round/>
            <a:headEnd/>
            <a:tailEnd/>
          </a:ln>
        </p:spPr>
        <p:txBody>
          <a:bodyPr/>
          <a:lstStyle/>
          <a:p>
            <a:endParaRPr lang="zh-CN" altLang="en-US"/>
          </a:p>
        </p:txBody>
      </p:sp>
      <p:sp>
        <p:nvSpPr>
          <p:cNvPr id="87" name="Freeform 85"/>
          <p:cNvSpPr>
            <a:spLocks/>
          </p:cNvSpPr>
          <p:nvPr/>
        </p:nvSpPr>
        <p:spPr bwMode="auto">
          <a:xfrm>
            <a:off x="2248273" y="2790280"/>
            <a:ext cx="50800" cy="49213"/>
          </a:xfrm>
          <a:custGeom>
            <a:avLst/>
            <a:gdLst/>
            <a:ahLst/>
            <a:cxnLst>
              <a:cxn ang="0">
                <a:pos x="28" y="14"/>
              </a:cxn>
              <a:cxn ang="0">
                <a:pos x="32" y="17"/>
              </a:cxn>
              <a:cxn ang="0">
                <a:pos x="32" y="21"/>
              </a:cxn>
              <a:cxn ang="0">
                <a:pos x="28" y="24"/>
              </a:cxn>
              <a:cxn ang="0">
                <a:pos x="28" y="24"/>
              </a:cxn>
              <a:cxn ang="0">
                <a:pos x="28" y="28"/>
              </a:cxn>
              <a:cxn ang="0">
                <a:pos x="25" y="28"/>
              </a:cxn>
              <a:cxn ang="0">
                <a:pos x="21" y="31"/>
              </a:cxn>
              <a:cxn ang="0">
                <a:pos x="21" y="31"/>
              </a:cxn>
              <a:cxn ang="0">
                <a:pos x="18" y="31"/>
              </a:cxn>
              <a:cxn ang="0">
                <a:pos x="14" y="31"/>
              </a:cxn>
              <a:cxn ang="0">
                <a:pos x="11" y="31"/>
              </a:cxn>
              <a:cxn ang="0">
                <a:pos x="11" y="31"/>
              </a:cxn>
              <a:cxn ang="0">
                <a:pos x="7" y="31"/>
              </a:cxn>
              <a:cxn ang="0">
                <a:pos x="4" y="28"/>
              </a:cxn>
              <a:cxn ang="0">
                <a:pos x="4" y="28"/>
              </a:cxn>
              <a:cxn ang="0">
                <a:pos x="0" y="24"/>
              </a:cxn>
              <a:cxn ang="0">
                <a:pos x="0" y="24"/>
              </a:cxn>
              <a:cxn ang="0">
                <a:pos x="0" y="21"/>
              </a:cxn>
              <a:cxn ang="0">
                <a:pos x="0" y="17"/>
              </a:cxn>
              <a:cxn ang="0">
                <a:pos x="0" y="14"/>
              </a:cxn>
              <a:cxn ang="0">
                <a:pos x="0" y="14"/>
              </a:cxn>
              <a:cxn ang="0">
                <a:pos x="0" y="10"/>
              </a:cxn>
              <a:cxn ang="0">
                <a:pos x="0" y="7"/>
              </a:cxn>
              <a:cxn ang="0">
                <a:pos x="0" y="7"/>
              </a:cxn>
              <a:cxn ang="0">
                <a:pos x="4" y="3"/>
              </a:cxn>
              <a:cxn ang="0">
                <a:pos x="4" y="3"/>
              </a:cxn>
              <a:cxn ang="0">
                <a:pos x="7" y="0"/>
              </a:cxn>
              <a:cxn ang="0">
                <a:pos x="11" y="0"/>
              </a:cxn>
              <a:cxn ang="0">
                <a:pos x="11" y="0"/>
              </a:cxn>
              <a:cxn ang="0">
                <a:pos x="14" y="0"/>
              </a:cxn>
              <a:cxn ang="0">
                <a:pos x="18" y="0"/>
              </a:cxn>
              <a:cxn ang="0">
                <a:pos x="21" y="0"/>
              </a:cxn>
              <a:cxn ang="0">
                <a:pos x="21" y="0"/>
              </a:cxn>
              <a:cxn ang="0">
                <a:pos x="25" y="3"/>
              </a:cxn>
              <a:cxn ang="0">
                <a:pos x="28" y="3"/>
              </a:cxn>
              <a:cxn ang="0">
                <a:pos x="28" y="7"/>
              </a:cxn>
              <a:cxn ang="0">
                <a:pos x="28" y="7"/>
              </a:cxn>
              <a:cxn ang="0">
                <a:pos x="32" y="10"/>
              </a:cxn>
              <a:cxn ang="0">
                <a:pos x="32" y="14"/>
              </a:cxn>
              <a:cxn ang="0">
                <a:pos x="32" y="14"/>
              </a:cxn>
              <a:cxn ang="0">
                <a:pos x="28" y="14"/>
              </a:cxn>
            </a:cxnLst>
            <a:rect l="0" t="0" r="r" b="b"/>
            <a:pathLst>
              <a:path w="32" h="31">
                <a:moveTo>
                  <a:pt x="28" y="14"/>
                </a:moveTo>
                <a:lnTo>
                  <a:pt x="32" y="17"/>
                </a:lnTo>
                <a:lnTo>
                  <a:pt x="32" y="21"/>
                </a:lnTo>
                <a:lnTo>
                  <a:pt x="28" y="24"/>
                </a:lnTo>
                <a:lnTo>
                  <a:pt x="28" y="24"/>
                </a:lnTo>
                <a:lnTo>
                  <a:pt x="28" y="28"/>
                </a:lnTo>
                <a:lnTo>
                  <a:pt x="25" y="28"/>
                </a:lnTo>
                <a:lnTo>
                  <a:pt x="21" y="31"/>
                </a:lnTo>
                <a:lnTo>
                  <a:pt x="21" y="31"/>
                </a:lnTo>
                <a:lnTo>
                  <a:pt x="18" y="31"/>
                </a:lnTo>
                <a:lnTo>
                  <a:pt x="14" y="31"/>
                </a:lnTo>
                <a:lnTo>
                  <a:pt x="11" y="31"/>
                </a:lnTo>
                <a:lnTo>
                  <a:pt x="11" y="31"/>
                </a:lnTo>
                <a:lnTo>
                  <a:pt x="7" y="31"/>
                </a:lnTo>
                <a:lnTo>
                  <a:pt x="4" y="28"/>
                </a:lnTo>
                <a:lnTo>
                  <a:pt x="4" y="28"/>
                </a:lnTo>
                <a:lnTo>
                  <a:pt x="0" y="24"/>
                </a:lnTo>
                <a:lnTo>
                  <a:pt x="0" y="24"/>
                </a:lnTo>
                <a:lnTo>
                  <a:pt x="0" y="21"/>
                </a:lnTo>
                <a:lnTo>
                  <a:pt x="0" y="17"/>
                </a:lnTo>
                <a:lnTo>
                  <a:pt x="0" y="14"/>
                </a:lnTo>
                <a:lnTo>
                  <a:pt x="0" y="14"/>
                </a:lnTo>
                <a:lnTo>
                  <a:pt x="0" y="10"/>
                </a:lnTo>
                <a:lnTo>
                  <a:pt x="0" y="7"/>
                </a:lnTo>
                <a:lnTo>
                  <a:pt x="0" y="7"/>
                </a:lnTo>
                <a:lnTo>
                  <a:pt x="4" y="3"/>
                </a:lnTo>
                <a:lnTo>
                  <a:pt x="4" y="3"/>
                </a:lnTo>
                <a:lnTo>
                  <a:pt x="7" y="0"/>
                </a:lnTo>
                <a:lnTo>
                  <a:pt x="11" y="0"/>
                </a:lnTo>
                <a:lnTo>
                  <a:pt x="11" y="0"/>
                </a:lnTo>
                <a:lnTo>
                  <a:pt x="14" y="0"/>
                </a:lnTo>
                <a:lnTo>
                  <a:pt x="18" y="0"/>
                </a:lnTo>
                <a:lnTo>
                  <a:pt x="21" y="0"/>
                </a:lnTo>
                <a:lnTo>
                  <a:pt x="21" y="0"/>
                </a:lnTo>
                <a:lnTo>
                  <a:pt x="25" y="3"/>
                </a:lnTo>
                <a:lnTo>
                  <a:pt x="28" y="3"/>
                </a:lnTo>
                <a:lnTo>
                  <a:pt x="28" y="7"/>
                </a:lnTo>
                <a:lnTo>
                  <a:pt x="28" y="7"/>
                </a:lnTo>
                <a:lnTo>
                  <a:pt x="32" y="10"/>
                </a:lnTo>
                <a:lnTo>
                  <a:pt x="32" y="14"/>
                </a:lnTo>
                <a:lnTo>
                  <a:pt x="32" y="14"/>
                </a:lnTo>
                <a:lnTo>
                  <a:pt x="28" y="14"/>
                </a:lnTo>
                <a:close/>
              </a:path>
            </a:pathLst>
          </a:custGeom>
          <a:solidFill>
            <a:srgbClr val="000000"/>
          </a:solidFill>
          <a:ln w="9525">
            <a:noFill/>
            <a:round/>
            <a:headEnd/>
            <a:tailEnd/>
          </a:ln>
        </p:spPr>
        <p:txBody>
          <a:bodyPr/>
          <a:lstStyle/>
          <a:p>
            <a:endParaRPr lang="zh-CN" altLang="en-US"/>
          </a:p>
        </p:txBody>
      </p:sp>
      <p:sp>
        <p:nvSpPr>
          <p:cNvPr id="88" name="Freeform 86"/>
          <p:cNvSpPr>
            <a:spLocks/>
          </p:cNvSpPr>
          <p:nvPr/>
        </p:nvSpPr>
        <p:spPr bwMode="auto">
          <a:xfrm>
            <a:off x="2248273" y="2790280"/>
            <a:ext cx="50800" cy="49213"/>
          </a:xfrm>
          <a:custGeom>
            <a:avLst/>
            <a:gdLst/>
            <a:ahLst/>
            <a:cxnLst>
              <a:cxn ang="0">
                <a:pos x="28" y="14"/>
              </a:cxn>
              <a:cxn ang="0">
                <a:pos x="32" y="14"/>
              </a:cxn>
              <a:cxn ang="0">
                <a:pos x="32" y="10"/>
              </a:cxn>
              <a:cxn ang="0">
                <a:pos x="28" y="7"/>
              </a:cxn>
              <a:cxn ang="0">
                <a:pos x="28" y="7"/>
              </a:cxn>
              <a:cxn ang="0">
                <a:pos x="28" y="3"/>
              </a:cxn>
              <a:cxn ang="0">
                <a:pos x="25" y="3"/>
              </a:cxn>
              <a:cxn ang="0">
                <a:pos x="21" y="0"/>
              </a:cxn>
              <a:cxn ang="0">
                <a:pos x="21" y="0"/>
              </a:cxn>
              <a:cxn ang="0">
                <a:pos x="18" y="0"/>
              </a:cxn>
              <a:cxn ang="0">
                <a:pos x="14" y="0"/>
              </a:cxn>
              <a:cxn ang="0">
                <a:pos x="11" y="0"/>
              </a:cxn>
              <a:cxn ang="0">
                <a:pos x="11" y="0"/>
              </a:cxn>
              <a:cxn ang="0">
                <a:pos x="7" y="0"/>
              </a:cxn>
              <a:cxn ang="0">
                <a:pos x="4" y="3"/>
              </a:cxn>
              <a:cxn ang="0">
                <a:pos x="4" y="3"/>
              </a:cxn>
              <a:cxn ang="0">
                <a:pos x="0" y="7"/>
              </a:cxn>
              <a:cxn ang="0">
                <a:pos x="0" y="7"/>
              </a:cxn>
              <a:cxn ang="0">
                <a:pos x="0" y="10"/>
              </a:cxn>
              <a:cxn ang="0">
                <a:pos x="0" y="14"/>
              </a:cxn>
              <a:cxn ang="0">
                <a:pos x="0" y="14"/>
              </a:cxn>
              <a:cxn ang="0">
                <a:pos x="0" y="17"/>
              </a:cxn>
              <a:cxn ang="0">
                <a:pos x="0" y="21"/>
              </a:cxn>
              <a:cxn ang="0">
                <a:pos x="0" y="24"/>
              </a:cxn>
              <a:cxn ang="0">
                <a:pos x="0" y="24"/>
              </a:cxn>
              <a:cxn ang="0">
                <a:pos x="4" y="28"/>
              </a:cxn>
              <a:cxn ang="0">
                <a:pos x="4" y="28"/>
              </a:cxn>
              <a:cxn ang="0">
                <a:pos x="7" y="31"/>
              </a:cxn>
              <a:cxn ang="0">
                <a:pos x="11" y="31"/>
              </a:cxn>
              <a:cxn ang="0">
                <a:pos x="11" y="31"/>
              </a:cxn>
              <a:cxn ang="0">
                <a:pos x="14" y="31"/>
              </a:cxn>
              <a:cxn ang="0">
                <a:pos x="18" y="31"/>
              </a:cxn>
              <a:cxn ang="0">
                <a:pos x="21" y="31"/>
              </a:cxn>
              <a:cxn ang="0">
                <a:pos x="21" y="31"/>
              </a:cxn>
              <a:cxn ang="0">
                <a:pos x="25" y="28"/>
              </a:cxn>
              <a:cxn ang="0">
                <a:pos x="28" y="28"/>
              </a:cxn>
              <a:cxn ang="0">
                <a:pos x="28" y="24"/>
              </a:cxn>
              <a:cxn ang="0">
                <a:pos x="28" y="24"/>
              </a:cxn>
              <a:cxn ang="0">
                <a:pos x="32" y="21"/>
              </a:cxn>
              <a:cxn ang="0">
                <a:pos x="32" y="17"/>
              </a:cxn>
              <a:cxn ang="0">
                <a:pos x="32" y="14"/>
              </a:cxn>
              <a:cxn ang="0">
                <a:pos x="32" y="14"/>
              </a:cxn>
            </a:cxnLst>
            <a:rect l="0" t="0" r="r" b="b"/>
            <a:pathLst>
              <a:path w="32" h="31">
                <a:moveTo>
                  <a:pt x="28" y="14"/>
                </a:moveTo>
                <a:lnTo>
                  <a:pt x="32" y="14"/>
                </a:lnTo>
                <a:lnTo>
                  <a:pt x="32" y="10"/>
                </a:lnTo>
                <a:lnTo>
                  <a:pt x="28" y="7"/>
                </a:lnTo>
                <a:lnTo>
                  <a:pt x="28" y="7"/>
                </a:lnTo>
                <a:lnTo>
                  <a:pt x="28" y="3"/>
                </a:lnTo>
                <a:lnTo>
                  <a:pt x="25" y="3"/>
                </a:lnTo>
                <a:lnTo>
                  <a:pt x="21" y="0"/>
                </a:lnTo>
                <a:lnTo>
                  <a:pt x="21" y="0"/>
                </a:lnTo>
                <a:lnTo>
                  <a:pt x="18" y="0"/>
                </a:lnTo>
                <a:lnTo>
                  <a:pt x="14" y="0"/>
                </a:lnTo>
                <a:lnTo>
                  <a:pt x="11" y="0"/>
                </a:lnTo>
                <a:lnTo>
                  <a:pt x="11" y="0"/>
                </a:lnTo>
                <a:lnTo>
                  <a:pt x="7" y="0"/>
                </a:lnTo>
                <a:lnTo>
                  <a:pt x="4" y="3"/>
                </a:lnTo>
                <a:lnTo>
                  <a:pt x="4" y="3"/>
                </a:lnTo>
                <a:lnTo>
                  <a:pt x="0" y="7"/>
                </a:lnTo>
                <a:lnTo>
                  <a:pt x="0" y="7"/>
                </a:lnTo>
                <a:lnTo>
                  <a:pt x="0" y="10"/>
                </a:lnTo>
                <a:lnTo>
                  <a:pt x="0" y="14"/>
                </a:lnTo>
                <a:lnTo>
                  <a:pt x="0" y="14"/>
                </a:lnTo>
                <a:lnTo>
                  <a:pt x="0" y="17"/>
                </a:lnTo>
                <a:lnTo>
                  <a:pt x="0" y="21"/>
                </a:lnTo>
                <a:lnTo>
                  <a:pt x="0" y="24"/>
                </a:lnTo>
                <a:lnTo>
                  <a:pt x="0" y="24"/>
                </a:lnTo>
                <a:lnTo>
                  <a:pt x="4" y="28"/>
                </a:lnTo>
                <a:lnTo>
                  <a:pt x="4" y="28"/>
                </a:lnTo>
                <a:lnTo>
                  <a:pt x="7" y="31"/>
                </a:lnTo>
                <a:lnTo>
                  <a:pt x="11" y="31"/>
                </a:lnTo>
                <a:lnTo>
                  <a:pt x="11" y="31"/>
                </a:lnTo>
                <a:lnTo>
                  <a:pt x="14" y="31"/>
                </a:lnTo>
                <a:lnTo>
                  <a:pt x="18" y="31"/>
                </a:lnTo>
                <a:lnTo>
                  <a:pt x="21" y="31"/>
                </a:lnTo>
                <a:lnTo>
                  <a:pt x="21" y="31"/>
                </a:lnTo>
                <a:lnTo>
                  <a:pt x="25" y="28"/>
                </a:lnTo>
                <a:lnTo>
                  <a:pt x="28" y="28"/>
                </a:lnTo>
                <a:lnTo>
                  <a:pt x="28" y="24"/>
                </a:lnTo>
                <a:lnTo>
                  <a:pt x="28" y="24"/>
                </a:lnTo>
                <a:lnTo>
                  <a:pt x="32" y="21"/>
                </a:lnTo>
                <a:lnTo>
                  <a:pt x="32" y="17"/>
                </a:lnTo>
                <a:lnTo>
                  <a:pt x="32" y="14"/>
                </a:lnTo>
                <a:lnTo>
                  <a:pt x="32" y="14"/>
                </a:lnTo>
              </a:path>
            </a:pathLst>
          </a:custGeom>
          <a:noFill/>
          <a:ln w="11113">
            <a:solidFill>
              <a:srgbClr val="000000"/>
            </a:solidFill>
            <a:prstDash val="solid"/>
            <a:round/>
            <a:headEnd/>
            <a:tailEnd/>
          </a:ln>
        </p:spPr>
        <p:txBody>
          <a:bodyPr/>
          <a:lstStyle/>
          <a:p>
            <a:endParaRPr lang="zh-CN" altLang="en-US"/>
          </a:p>
        </p:txBody>
      </p:sp>
      <p:sp>
        <p:nvSpPr>
          <p:cNvPr id="89" name="Freeform 87"/>
          <p:cNvSpPr>
            <a:spLocks/>
          </p:cNvSpPr>
          <p:nvPr/>
        </p:nvSpPr>
        <p:spPr bwMode="auto">
          <a:xfrm>
            <a:off x="2349873" y="2790280"/>
            <a:ext cx="49213" cy="49213"/>
          </a:xfrm>
          <a:custGeom>
            <a:avLst/>
            <a:gdLst/>
            <a:ahLst/>
            <a:cxnLst>
              <a:cxn ang="0">
                <a:pos x="31" y="14"/>
              </a:cxn>
              <a:cxn ang="0">
                <a:pos x="31" y="17"/>
              </a:cxn>
              <a:cxn ang="0">
                <a:pos x="31" y="21"/>
              </a:cxn>
              <a:cxn ang="0">
                <a:pos x="31" y="24"/>
              </a:cxn>
              <a:cxn ang="0">
                <a:pos x="28" y="24"/>
              </a:cxn>
              <a:cxn ang="0">
                <a:pos x="28" y="28"/>
              </a:cxn>
              <a:cxn ang="0">
                <a:pos x="24" y="28"/>
              </a:cxn>
              <a:cxn ang="0">
                <a:pos x="24" y="31"/>
              </a:cxn>
              <a:cxn ang="0">
                <a:pos x="21" y="31"/>
              </a:cxn>
              <a:cxn ang="0">
                <a:pos x="17" y="31"/>
              </a:cxn>
              <a:cxn ang="0">
                <a:pos x="17" y="31"/>
              </a:cxn>
              <a:cxn ang="0">
                <a:pos x="14" y="31"/>
              </a:cxn>
              <a:cxn ang="0">
                <a:pos x="10" y="31"/>
              </a:cxn>
              <a:cxn ang="0">
                <a:pos x="10" y="31"/>
              </a:cxn>
              <a:cxn ang="0">
                <a:pos x="7" y="28"/>
              </a:cxn>
              <a:cxn ang="0">
                <a:pos x="3" y="28"/>
              </a:cxn>
              <a:cxn ang="0">
                <a:pos x="3" y="24"/>
              </a:cxn>
              <a:cxn ang="0">
                <a:pos x="3" y="24"/>
              </a:cxn>
              <a:cxn ang="0">
                <a:pos x="0" y="21"/>
              </a:cxn>
              <a:cxn ang="0">
                <a:pos x="0" y="17"/>
              </a:cxn>
              <a:cxn ang="0">
                <a:pos x="0" y="14"/>
              </a:cxn>
              <a:cxn ang="0">
                <a:pos x="0" y="14"/>
              </a:cxn>
              <a:cxn ang="0">
                <a:pos x="0" y="10"/>
              </a:cxn>
              <a:cxn ang="0">
                <a:pos x="3" y="7"/>
              </a:cxn>
              <a:cxn ang="0">
                <a:pos x="3" y="7"/>
              </a:cxn>
              <a:cxn ang="0">
                <a:pos x="3" y="3"/>
              </a:cxn>
              <a:cxn ang="0">
                <a:pos x="7" y="3"/>
              </a:cxn>
              <a:cxn ang="0">
                <a:pos x="10" y="0"/>
              </a:cxn>
              <a:cxn ang="0">
                <a:pos x="10" y="0"/>
              </a:cxn>
              <a:cxn ang="0">
                <a:pos x="14" y="0"/>
              </a:cxn>
              <a:cxn ang="0">
                <a:pos x="17" y="0"/>
              </a:cxn>
              <a:cxn ang="0">
                <a:pos x="17" y="0"/>
              </a:cxn>
              <a:cxn ang="0">
                <a:pos x="21" y="0"/>
              </a:cxn>
              <a:cxn ang="0">
                <a:pos x="24" y="0"/>
              </a:cxn>
              <a:cxn ang="0">
                <a:pos x="24" y="3"/>
              </a:cxn>
              <a:cxn ang="0">
                <a:pos x="28" y="3"/>
              </a:cxn>
              <a:cxn ang="0">
                <a:pos x="28" y="7"/>
              </a:cxn>
              <a:cxn ang="0">
                <a:pos x="31" y="7"/>
              </a:cxn>
              <a:cxn ang="0">
                <a:pos x="31" y="10"/>
              </a:cxn>
              <a:cxn ang="0">
                <a:pos x="31" y="14"/>
              </a:cxn>
              <a:cxn ang="0">
                <a:pos x="31" y="14"/>
              </a:cxn>
            </a:cxnLst>
            <a:rect l="0" t="0" r="r" b="b"/>
            <a:pathLst>
              <a:path w="31" h="31">
                <a:moveTo>
                  <a:pt x="31" y="14"/>
                </a:moveTo>
                <a:lnTo>
                  <a:pt x="31" y="17"/>
                </a:lnTo>
                <a:lnTo>
                  <a:pt x="31" y="21"/>
                </a:lnTo>
                <a:lnTo>
                  <a:pt x="31" y="24"/>
                </a:lnTo>
                <a:lnTo>
                  <a:pt x="28" y="24"/>
                </a:lnTo>
                <a:lnTo>
                  <a:pt x="28" y="28"/>
                </a:lnTo>
                <a:lnTo>
                  <a:pt x="24" y="28"/>
                </a:lnTo>
                <a:lnTo>
                  <a:pt x="24" y="31"/>
                </a:lnTo>
                <a:lnTo>
                  <a:pt x="21" y="31"/>
                </a:lnTo>
                <a:lnTo>
                  <a:pt x="17" y="31"/>
                </a:lnTo>
                <a:lnTo>
                  <a:pt x="17" y="31"/>
                </a:lnTo>
                <a:lnTo>
                  <a:pt x="14" y="31"/>
                </a:lnTo>
                <a:lnTo>
                  <a:pt x="10" y="31"/>
                </a:lnTo>
                <a:lnTo>
                  <a:pt x="10" y="31"/>
                </a:lnTo>
                <a:lnTo>
                  <a:pt x="7" y="28"/>
                </a:lnTo>
                <a:lnTo>
                  <a:pt x="3" y="28"/>
                </a:lnTo>
                <a:lnTo>
                  <a:pt x="3" y="24"/>
                </a:lnTo>
                <a:lnTo>
                  <a:pt x="3" y="24"/>
                </a:lnTo>
                <a:lnTo>
                  <a:pt x="0" y="21"/>
                </a:lnTo>
                <a:lnTo>
                  <a:pt x="0" y="17"/>
                </a:lnTo>
                <a:lnTo>
                  <a:pt x="0" y="14"/>
                </a:lnTo>
                <a:lnTo>
                  <a:pt x="0" y="14"/>
                </a:lnTo>
                <a:lnTo>
                  <a:pt x="0" y="10"/>
                </a:lnTo>
                <a:lnTo>
                  <a:pt x="3" y="7"/>
                </a:lnTo>
                <a:lnTo>
                  <a:pt x="3" y="7"/>
                </a:lnTo>
                <a:lnTo>
                  <a:pt x="3" y="3"/>
                </a:lnTo>
                <a:lnTo>
                  <a:pt x="7" y="3"/>
                </a:lnTo>
                <a:lnTo>
                  <a:pt x="10" y="0"/>
                </a:lnTo>
                <a:lnTo>
                  <a:pt x="10" y="0"/>
                </a:lnTo>
                <a:lnTo>
                  <a:pt x="14" y="0"/>
                </a:lnTo>
                <a:lnTo>
                  <a:pt x="17" y="0"/>
                </a:lnTo>
                <a:lnTo>
                  <a:pt x="17" y="0"/>
                </a:lnTo>
                <a:lnTo>
                  <a:pt x="21" y="0"/>
                </a:lnTo>
                <a:lnTo>
                  <a:pt x="24" y="0"/>
                </a:lnTo>
                <a:lnTo>
                  <a:pt x="24" y="3"/>
                </a:lnTo>
                <a:lnTo>
                  <a:pt x="28" y="3"/>
                </a:lnTo>
                <a:lnTo>
                  <a:pt x="28" y="7"/>
                </a:lnTo>
                <a:lnTo>
                  <a:pt x="31" y="7"/>
                </a:lnTo>
                <a:lnTo>
                  <a:pt x="31" y="10"/>
                </a:lnTo>
                <a:lnTo>
                  <a:pt x="31" y="14"/>
                </a:lnTo>
                <a:lnTo>
                  <a:pt x="31" y="14"/>
                </a:lnTo>
                <a:close/>
              </a:path>
            </a:pathLst>
          </a:custGeom>
          <a:solidFill>
            <a:srgbClr val="000000"/>
          </a:solidFill>
          <a:ln w="9525">
            <a:noFill/>
            <a:round/>
            <a:headEnd/>
            <a:tailEnd/>
          </a:ln>
        </p:spPr>
        <p:txBody>
          <a:bodyPr/>
          <a:lstStyle/>
          <a:p>
            <a:endParaRPr lang="zh-CN" altLang="en-US"/>
          </a:p>
        </p:txBody>
      </p:sp>
      <p:sp>
        <p:nvSpPr>
          <p:cNvPr id="90" name="Freeform 88"/>
          <p:cNvSpPr>
            <a:spLocks/>
          </p:cNvSpPr>
          <p:nvPr/>
        </p:nvSpPr>
        <p:spPr bwMode="auto">
          <a:xfrm>
            <a:off x="2349873" y="2790280"/>
            <a:ext cx="49213" cy="49213"/>
          </a:xfrm>
          <a:custGeom>
            <a:avLst/>
            <a:gdLst/>
            <a:ahLst/>
            <a:cxnLst>
              <a:cxn ang="0">
                <a:pos x="31" y="14"/>
              </a:cxn>
              <a:cxn ang="0">
                <a:pos x="31" y="14"/>
              </a:cxn>
              <a:cxn ang="0">
                <a:pos x="31" y="10"/>
              </a:cxn>
              <a:cxn ang="0">
                <a:pos x="31" y="7"/>
              </a:cxn>
              <a:cxn ang="0">
                <a:pos x="28" y="7"/>
              </a:cxn>
              <a:cxn ang="0">
                <a:pos x="28" y="3"/>
              </a:cxn>
              <a:cxn ang="0">
                <a:pos x="24" y="3"/>
              </a:cxn>
              <a:cxn ang="0">
                <a:pos x="24" y="0"/>
              </a:cxn>
              <a:cxn ang="0">
                <a:pos x="21" y="0"/>
              </a:cxn>
              <a:cxn ang="0">
                <a:pos x="17" y="0"/>
              </a:cxn>
              <a:cxn ang="0">
                <a:pos x="17" y="0"/>
              </a:cxn>
              <a:cxn ang="0">
                <a:pos x="14" y="0"/>
              </a:cxn>
              <a:cxn ang="0">
                <a:pos x="10" y="0"/>
              </a:cxn>
              <a:cxn ang="0">
                <a:pos x="10" y="0"/>
              </a:cxn>
              <a:cxn ang="0">
                <a:pos x="7" y="3"/>
              </a:cxn>
              <a:cxn ang="0">
                <a:pos x="3" y="3"/>
              </a:cxn>
              <a:cxn ang="0">
                <a:pos x="3" y="7"/>
              </a:cxn>
              <a:cxn ang="0">
                <a:pos x="3" y="7"/>
              </a:cxn>
              <a:cxn ang="0">
                <a:pos x="0" y="10"/>
              </a:cxn>
              <a:cxn ang="0">
                <a:pos x="0" y="14"/>
              </a:cxn>
              <a:cxn ang="0">
                <a:pos x="0" y="14"/>
              </a:cxn>
              <a:cxn ang="0">
                <a:pos x="0" y="17"/>
              </a:cxn>
              <a:cxn ang="0">
                <a:pos x="0" y="21"/>
              </a:cxn>
              <a:cxn ang="0">
                <a:pos x="3" y="24"/>
              </a:cxn>
              <a:cxn ang="0">
                <a:pos x="3" y="24"/>
              </a:cxn>
              <a:cxn ang="0">
                <a:pos x="3" y="28"/>
              </a:cxn>
              <a:cxn ang="0">
                <a:pos x="7" y="28"/>
              </a:cxn>
              <a:cxn ang="0">
                <a:pos x="10" y="31"/>
              </a:cxn>
              <a:cxn ang="0">
                <a:pos x="10" y="31"/>
              </a:cxn>
              <a:cxn ang="0">
                <a:pos x="14" y="31"/>
              </a:cxn>
              <a:cxn ang="0">
                <a:pos x="17" y="31"/>
              </a:cxn>
              <a:cxn ang="0">
                <a:pos x="17" y="31"/>
              </a:cxn>
              <a:cxn ang="0">
                <a:pos x="21" y="31"/>
              </a:cxn>
              <a:cxn ang="0">
                <a:pos x="24" y="31"/>
              </a:cxn>
              <a:cxn ang="0">
                <a:pos x="24" y="28"/>
              </a:cxn>
              <a:cxn ang="0">
                <a:pos x="28" y="28"/>
              </a:cxn>
              <a:cxn ang="0">
                <a:pos x="28" y="24"/>
              </a:cxn>
              <a:cxn ang="0">
                <a:pos x="31" y="24"/>
              </a:cxn>
              <a:cxn ang="0">
                <a:pos x="31" y="21"/>
              </a:cxn>
              <a:cxn ang="0">
                <a:pos x="31" y="17"/>
              </a:cxn>
              <a:cxn ang="0">
                <a:pos x="31" y="14"/>
              </a:cxn>
              <a:cxn ang="0">
                <a:pos x="31" y="14"/>
              </a:cxn>
            </a:cxnLst>
            <a:rect l="0" t="0" r="r" b="b"/>
            <a:pathLst>
              <a:path w="31" h="31">
                <a:moveTo>
                  <a:pt x="31" y="14"/>
                </a:moveTo>
                <a:lnTo>
                  <a:pt x="31" y="14"/>
                </a:lnTo>
                <a:lnTo>
                  <a:pt x="31" y="10"/>
                </a:lnTo>
                <a:lnTo>
                  <a:pt x="31" y="7"/>
                </a:lnTo>
                <a:lnTo>
                  <a:pt x="28" y="7"/>
                </a:lnTo>
                <a:lnTo>
                  <a:pt x="28" y="3"/>
                </a:lnTo>
                <a:lnTo>
                  <a:pt x="24" y="3"/>
                </a:lnTo>
                <a:lnTo>
                  <a:pt x="24" y="0"/>
                </a:lnTo>
                <a:lnTo>
                  <a:pt x="21" y="0"/>
                </a:lnTo>
                <a:lnTo>
                  <a:pt x="17" y="0"/>
                </a:lnTo>
                <a:lnTo>
                  <a:pt x="17" y="0"/>
                </a:lnTo>
                <a:lnTo>
                  <a:pt x="14" y="0"/>
                </a:lnTo>
                <a:lnTo>
                  <a:pt x="10" y="0"/>
                </a:lnTo>
                <a:lnTo>
                  <a:pt x="10" y="0"/>
                </a:lnTo>
                <a:lnTo>
                  <a:pt x="7" y="3"/>
                </a:lnTo>
                <a:lnTo>
                  <a:pt x="3" y="3"/>
                </a:lnTo>
                <a:lnTo>
                  <a:pt x="3" y="7"/>
                </a:lnTo>
                <a:lnTo>
                  <a:pt x="3" y="7"/>
                </a:lnTo>
                <a:lnTo>
                  <a:pt x="0" y="10"/>
                </a:lnTo>
                <a:lnTo>
                  <a:pt x="0" y="14"/>
                </a:lnTo>
                <a:lnTo>
                  <a:pt x="0" y="14"/>
                </a:lnTo>
                <a:lnTo>
                  <a:pt x="0" y="17"/>
                </a:lnTo>
                <a:lnTo>
                  <a:pt x="0" y="21"/>
                </a:lnTo>
                <a:lnTo>
                  <a:pt x="3" y="24"/>
                </a:lnTo>
                <a:lnTo>
                  <a:pt x="3" y="24"/>
                </a:lnTo>
                <a:lnTo>
                  <a:pt x="3" y="28"/>
                </a:lnTo>
                <a:lnTo>
                  <a:pt x="7" y="28"/>
                </a:lnTo>
                <a:lnTo>
                  <a:pt x="10" y="31"/>
                </a:lnTo>
                <a:lnTo>
                  <a:pt x="10" y="31"/>
                </a:lnTo>
                <a:lnTo>
                  <a:pt x="14" y="31"/>
                </a:lnTo>
                <a:lnTo>
                  <a:pt x="17" y="31"/>
                </a:lnTo>
                <a:lnTo>
                  <a:pt x="17" y="31"/>
                </a:lnTo>
                <a:lnTo>
                  <a:pt x="21" y="31"/>
                </a:lnTo>
                <a:lnTo>
                  <a:pt x="24" y="31"/>
                </a:lnTo>
                <a:lnTo>
                  <a:pt x="24" y="28"/>
                </a:lnTo>
                <a:lnTo>
                  <a:pt x="28" y="28"/>
                </a:lnTo>
                <a:lnTo>
                  <a:pt x="28" y="24"/>
                </a:lnTo>
                <a:lnTo>
                  <a:pt x="31" y="24"/>
                </a:lnTo>
                <a:lnTo>
                  <a:pt x="31" y="21"/>
                </a:lnTo>
                <a:lnTo>
                  <a:pt x="31" y="17"/>
                </a:lnTo>
                <a:lnTo>
                  <a:pt x="31" y="14"/>
                </a:lnTo>
                <a:lnTo>
                  <a:pt x="31" y="14"/>
                </a:lnTo>
              </a:path>
            </a:pathLst>
          </a:custGeom>
          <a:noFill/>
          <a:ln w="11113">
            <a:solidFill>
              <a:srgbClr val="000000"/>
            </a:solidFill>
            <a:prstDash val="solid"/>
            <a:round/>
            <a:headEnd/>
            <a:tailEnd/>
          </a:ln>
        </p:spPr>
        <p:txBody>
          <a:bodyPr/>
          <a:lstStyle/>
          <a:p>
            <a:endParaRPr lang="zh-CN" altLang="en-US"/>
          </a:p>
        </p:txBody>
      </p:sp>
      <p:sp>
        <p:nvSpPr>
          <p:cNvPr id="91" name="Freeform 89"/>
          <p:cNvSpPr>
            <a:spLocks/>
          </p:cNvSpPr>
          <p:nvPr/>
        </p:nvSpPr>
        <p:spPr bwMode="auto">
          <a:xfrm>
            <a:off x="2456235" y="2790280"/>
            <a:ext cx="49213" cy="49213"/>
          </a:xfrm>
          <a:custGeom>
            <a:avLst/>
            <a:gdLst/>
            <a:ahLst/>
            <a:cxnLst>
              <a:cxn ang="0">
                <a:pos x="28" y="14"/>
              </a:cxn>
              <a:cxn ang="0">
                <a:pos x="31" y="17"/>
              </a:cxn>
              <a:cxn ang="0">
                <a:pos x="31" y="21"/>
              </a:cxn>
              <a:cxn ang="0">
                <a:pos x="28" y="24"/>
              </a:cxn>
              <a:cxn ang="0">
                <a:pos x="28" y="24"/>
              </a:cxn>
              <a:cxn ang="0">
                <a:pos x="28" y="28"/>
              </a:cxn>
              <a:cxn ang="0">
                <a:pos x="24" y="28"/>
              </a:cxn>
              <a:cxn ang="0">
                <a:pos x="21" y="31"/>
              </a:cxn>
              <a:cxn ang="0">
                <a:pos x="21" y="31"/>
              </a:cxn>
              <a:cxn ang="0">
                <a:pos x="17" y="31"/>
              </a:cxn>
              <a:cxn ang="0">
                <a:pos x="14" y="31"/>
              </a:cxn>
              <a:cxn ang="0">
                <a:pos x="10" y="31"/>
              </a:cxn>
              <a:cxn ang="0">
                <a:pos x="10" y="31"/>
              </a:cxn>
              <a:cxn ang="0">
                <a:pos x="7" y="31"/>
              </a:cxn>
              <a:cxn ang="0">
                <a:pos x="3" y="28"/>
              </a:cxn>
              <a:cxn ang="0">
                <a:pos x="3" y="28"/>
              </a:cxn>
              <a:cxn ang="0">
                <a:pos x="0" y="24"/>
              </a:cxn>
              <a:cxn ang="0">
                <a:pos x="0" y="24"/>
              </a:cxn>
              <a:cxn ang="0">
                <a:pos x="0" y="21"/>
              </a:cxn>
              <a:cxn ang="0">
                <a:pos x="0" y="17"/>
              </a:cxn>
              <a:cxn ang="0">
                <a:pos x="0" y="14"/>
              </a:cxn>
              <a:cxn ang="0">
                <a:pos x="0" y="14"/>
              </a:cxn>
              <a:cxn ang="0">
                <a:pos x="0" y="10"/>
              </a:cxn>
              <a:cxn ang="0">
                <a:pos x="0" y="7"/>
              </a:cxn>
              <a:cxn ang="0">
                <a:pos x="0" y="7"/>
              </a:cxn>
              <a:cxn ang="0">
                <a:pos x="3" y="3"/>
              </a:cxn>
              <a:cxn ang="0">
                <a:pos x="3" y="3"/>
              </a:cxn>
              <a:cxn ang="0">
                <a:pos x="7" y="0"/>
              </a:cxn>
              <a:cxn ang="0">
                <a:pos x="10" y="0"/>
              </a:cxn>
              <a:cxn ang="0">
                <a:pos x="10" y="0"/>
              </a:cxn>
              <a:cxn ang="0">
                <a:pos x="14" y="0"/>
              </a:cxn>
              <a:cxn ang="0">
                <a:pos x="17" y="0"/>
              </a:cxn>
              <a:cxn ang="0">
                <a:pos x="21" y="0"/>
              </a:cxn>
              <a:cxn ang="0">
                <a:pos x="21" y="0"/>
              </a:cxn>
              <a:cxn ang="0">
                <a:pos x="24" y="3"/>
              </a:cxn>
              <a:cxn ang="0">
                <a:pos x="28" y="3"/>
              </a:cxn>
              <a:cxn ang="0">
                <a:pos x="28" y="7"/>
              </a:cxn>
              <a:cxn ang="0">
                <a:pos x="28" y="7"/>
              </a:cxn>
              <a:cxn ang="0">
                <a:pos x="31" y="10"/>
              </a:cxn>
              <a:cxn ang="0">
                <a:pos x="31" y="14"/>
              </a:cxn>
              <a:cxn ang="0">
                <a:pos x="31" y="14"/>
              </a:cxn>
              <a:cxn ang="0">
                <a:pos x="28" y="14"/>
              </a:cxn>
            </a:cxnLst>
            <a:rect l="0" t="0" r="r" b="b"/>
            <a:pathLst>
              <a:path w="31" h="31">
                <a:moveTo>
                  <a:pt x="28" y="14"/>
                </a:moveTo>
                <a:lnTo>
                  <a:pt x="31" y="17"/>
                </a:lnTo>
                <a:lnTo>
                  <a:pt x="31" y="21"/>
                </a:lnTo>
                <a:lnTo>
                  <a:pt x="28" y="24"/>
                </a:lnTo>
                <a:lnTo>
                  <a:pt x="28" y="24"/>
                </a:lnTo>
                <a:lnTo>
                  <a:pt x="28" y="28"/>
                </a:lnTo>
                <a:lnTo>
                  <a:pt x="24" y="28"/>
                </a:lnTo>
                <a:lnTo>
                  <a:pt x="21" y="31"/>
                </a:lnTo>
                <a:lnTo>
                  <a:pt x="21" y="31"/>
                </a:lnTo>
                <a:lnTo>
                  <a:pt x="17" y="31"/>
                </a:lnTo>
                <a:lnTo>
                  <a:pt x="14" y="31"/>
                </a:lnTo>
                <a:lnTo>
                  <a:pt x="10" y="31"/>
                </a:lnTo>
                <a:lnTo>
                  <a:pt x="10" y="31"/>
                </a:lnTo>
                <a:lnTo>
                  <a:pt x="7" y="31"/>
                </a:lnTo>
                <a:lnTo>
                  <a:pt x="3" y="28"/>
                </a:lnTo>
                <a:lnTo>
                  <a:pt x="3" y="28"/>
                </a:lnTo>
                <a:lnTo>
                  <a:pt x="0" y="24"/>
                </a:lnTo>
                <a:lnTo>
                  <a:pt x="0" y="24"/>
                </a:lnTo>
                <a:lnTo>
                  <a:pt x="0" y="21"/>
                </a:lnTo>
                <a:lnTo>
                  <a:pt x="0" y="17"/>
                </a:lnTo>
                <a:lnTo>
                  <a:pt x="0" y="14"/>
                </a:lnTo>
                <a:lnTo>
                  <a:pt x="0" y="14"/>
                </a:lnTo>
                <a:lnTo>
                  <a:pt x="0" y="10"/>
                </a:lnTo>
                <a:lnTo>
                  <a:pt x="0" y="7"/>
                </a:lnTo>
                <a:lnTo>
                  <a:pt x="0" y="7"/>
                </a:lnTo>
                <a:lnTo>
                  <a:pt x="3" y="3"/>
                </a:lnTo>
                <a:lnTo>
                  <a:pt x="3" y="3"/>
                </a:lnTo>
                <a:lnTo>
                  <a:pt x="7" y="0"/>
                </a:lnTo>
                <a:lnTo>
                  <a:pt x="10" y="0"/>
                </a:lnTo>
                <a:lnTo>
                  <a:pt x="10" y="0"/>
                </a:lnTo>
                <a:lnTo>
                  <a:pt x="14" y="0"/>
                </a:lnTo>
                <a:lnTo>
                  <a:pt x="17" y="0"/>
                </a:lnTo>
                <a:lnTo>
                  <a:pt x="21" y="0"/>
                </a:lnTo>
                <a:lnTo>
                  <a:pt x="21" y="0"/>
                </a:lnTo>
                <a:lnTo>
                  <a:pt x="24" y="3"/>
                </a:lnTo>
                <a:lnTo>
                  <a:pt x="28" y="3"/>
                </a:lnTo>
                <a:lnTo>
                  <a:pt x="28" y="7"/>
                </a:lnTo>
                <a:lnTo>
                  <a:pt x="28" y="7"/>
                </a:lnTo>
                <a:lnTo>
                  <a:pt x="31" y="10"/>
                </a:lnTo>
                <a:lnTo>
                  <a:pt x="31" y="14"/>
                </a:lnTo>
                <a:lnTo>
                  <a:pt x="31" y="14"/>
                </a:lnTo>
                <a:lnTo>
                  <a:pt x="28" y="14"/>
                </a:lnTo>
                <a:close/>
              </a:path>
            </a:pathLst>
          </a:custGeom>
          <a:solidFill>
            <a:srgbClr val="000000"/>
          </a:solidFill>
          <a:ln w="9525">
            <a:noFill/>
            <a:round/>
            <a:headEnd/>
            <a:tailEnd/>
          </a:ln>
        </p:spPr>
        <p:txBody>
          <a:bodyPr/>
          <a:lstStyle/>
          <a:p>
            <a:endParaRPr lang="zh-CN" altLang="en-US"/>
          </a:p>
        </p:txBody>
      </p:sp>
      <p:sp>
        <p:nvSpPr>
          <p:cNvPr id="92" name="Freeform 90"/>
          <p:cNvSpPr>
            <a:spLocks/>
          </p:cNvSpPr>
          <p:nvPr/>
        </p:nvSpPr>
        <p:spPr bwMode="auto">
          <a:xfrm>
            <a:off x="2456235" y="2790280"/>
            <a:ext cx="49213" cy="49213"/>
          </a:xfrm>
          <a:custGeom>
            <a:avLst/>
            <a:gdLst/>
            <a:ahLst/>
            <a:cxnLst>
              <a:cxn ang="0">
                <a:pos x="28" y="14"/>
              </a:cxn>
              <a:cxn ang="0">
                <a:pos x="31" y="14"/>
              </a:cxn>
              <a:cxn ang="0">
                <a:pos x="31" y="10"/>
              </a:cxn>
              <a:cxn ang="0">
                <a:pos x="28" y="7"/>
              </a:cxn>
              <a:cxn ang="0">
                <a:pos x="28" y="7"/>
              </a:cxn>
              <a:cxn ang="0">
                <a:pos x="28" y="3"/>
              </a:cxn>
              <a:cxn ang="0">
                <a:pos x="24" y="3"/>
              </a:cxn>
              <a:cxn ang="0">
                <a:pos x="21" y="0"/>
              </a:cxn>
              <a:cxn ang="0">
                <a:pos x="21" y="0"/>
              </a:cxn>
              <a:cxn ang="0">
                <a:pos x="17" y="0"/>
              </a:cxn>
              <a:cxn ang="0">
                <a:pos x="14" y="0"/>
              </a:cxn>
              <a:cxn ang="0">
                <a:pos x="10" y="0"/>
              </a:cxn>
              <a:cxn ang="0">
                <a:pos x="10" y="0"/>
              </a:cxn>
              <a:cxn ang="0">
                <a:pos x="7" y="0"/>
              </a:cxn>
              <a:cxn ang="0">
                <a:pos x="3" y="3"/>
              </a:cxn>
              <a:cxn ang="0">
                <a:pos x="3" y="3"/>
              </a:cxn>
              <a:cxn ang="0">
                <a:pos x="0" y="7"/>
              </a:cxn>
              <a:cxn ang="0">
                <a:pos x="0" y="7"/>
              </a:cxn>
              <a:cxn ang="0">
                <a:pos x="0" y="10"/>
              </a:cxn>
              <a:cxn ang="0">
                <a:pos x="0" y="14"/>
              </a:cxn>
              <a:cxn ang="0">
                <a:pos x="0" y="14"/>
              </a:cxn>
              <a:cxn ang="0">
                <a:pos x="0" y="17"/>
              </a:cxn>
              <a:cxn ang="0">
                <a:pos x="0" y="21"/>
              </a:cxn>
              <a:cxn ang="0">
                <a:pos x="0" y="24"/>
              </a:cxn>
              <a:cxn ang="0">
                <a:pos x="0" y="24"/>
              </a:cxn>
              <a:cxn ang="0">
                <a:pos x="3" y="28"/>
              </a:cxn>
              <a:cxn ang="0">
                <a:pos x="3" y="28"/>
              </a:cxn>
              <a:cxn ang="0">
                <a:pos x="7" y="31"/>
              </a:cxn>
              <a:cxn ang="0">
                <a:pos x="10" y="31"/>
              </a:cxn>
              <a:cxn ang="0">
                <a:pos x="10" y="31"/>
              </a:cxn>
              <a:cxn ang="0">
                <a:pos x="14" y="31"/>
              </a:cxn>
              <a:cxn ang="0">
                <a:pos x="17" y="31"/>
              </a:cxn>
              <a:cxn ang="0">
                <a:pos x="21" y="31"/>
              </a:cxn>
              <a:cxn ang="0">
                <a:pos x="21" y="31"/>
              </a:cxn>
              <a:cxn ang="0">
                <a:pos x="24" y="28"/>
              </a:cxn>
              <a:cxn ang="0">
                <a:pos x="28" y="28"/>
              </a:cxn>
              <a:cxn ang="0">
                <a:pos x="28" y="24"/>
              </a:cxn>
              <a:cxn ang="0">
                <a:pos x="28" y="24"/>
              </a:cxn>
              <a:cxn ang="0">
                <a:pos x="31" y="21"/>
              </a:cxn>
              <a:cxn ang="0">
                <a:pos x="31" y="17"/>
              </a:cxn>
              <a:cxn ang="0">
                <a:pos x="31" y="14"/>
              </a:cxn>
              <a:cxn ang="0">
                <a:pos x="31" y="14"/>
              </a:cxn>
            </a:cxnLst>
            <a:rect l="0" t="0" r="r" b="b"/>
            <a:pathLst>
              <a:path w="31" h="31">
                <a:moveTo>
                  <a:pt x="28" y="14"/>
                </a:moveTo>
                <a:lnTo>
                  <a:pt x="31" y="14"/>
                </a:lnTo>
                <a:lnTo>
                  <a:pt x="31" y="10"/>
                </a:lnTo>
                <a:lnTo>
                  <a:pt x="28" y="7"/>
                </a:lnTo>
                <a:lnTo>
                  <a:pt x="28" y="7"/>
                </a:lnTo>
                <a:lnTo>
                  <a:pt x="28" y="3"/>
                </a:lnTo>
                <a:lnTo>
                  <a:pt x="24" y="3"/>
                </a:lnTo>
                <a:lnTo>
                  <a:pt x="21" y="0"/>
                </a:lnTo>
                <a:lnTo>
                  <a:pt x="21" y="0"/>
                </a:lnTo>
                <a:lnTo>
                  <a:pt x="17" y="0"/>
                </a:lnTo>
                <a:lnTo>
                  <a:pt x="14" y="0"/>
                </a:lnTo>
                <a:lnTo>
                  <a:pt x="10" y="0"/>
                </a:lnTo>
                <a:lnTo>
                  <a:pt x="10" y="0"/>
                </a:lnTo>
                <a:lnTo>
                  <a:pt x="7" y="0"/>
                </a:lnTo>
                <a:lnTo>
                  <a:pt x="3" y="3"/>
                </a:lnTo>
                <a:lnTo>
                  <a:pt x="3" y="3"/>
                </a:lnTo>
                <a:lnTo>
                  <a:pt x="0" y="7"/>
                </a:lnTo>
                <a:lnTo>
                  <a:pt x="0" y="7"/>
                </a:lnTo>
                <a:lnTo>
                  <a:pt x="0" y="10"/>
                </a:lnTo>
                <a:lnTo>
                  <a:pt x="0" y="14"/>
                </a:lnTo>
                <a:lnTo>
                  <a:pt x="0" y="14"/>
                </a:lnTo>
                <a:lnTo>
                  <a:pt x="0" y="17"/>
                </a:lnTo>
                <a:lnTo>
                  <a:pt x="0" y="21"/>
                </a:lnTo>
                <a:lnTo>
                  <a:pt x="0" y="24"/>
                </a:lnTo>
                <a:lnTo>
                  <a:pt x="0" y="24"/>
                </a:lnTo>
                <a:lnTo>
                  <a:pt x="3" y="28"/>
                </a:lnTo>
                <a:lnTo>
                  <a:pt x="3" y="28"/>
                </a:lnTo>
                <a:lnTo>
                  <a:pt x="7" y="31"/>
                </a:lnTo>
                <a:lnTo>
                  <a:pt x="10" y="31"/>
                </a:lnTo>
                <a:lnTo>
                  <a:pt x="10" y="31"/>
                </a:lnTo>
                <a:lnTo>
                  <a:pt x="14" y="31"/>
                </a:lnTo>
                <a:lnTo>
                  <a:pt x="17" y="31"/>
                </a:lnTo>
                <a:lnTo>
                  <a:pt x="21" y="31"/>
                </a:lnTo>
                <a:lnTo>
                  <a:pt x="21" y="31"/>
                </a:lnTo>
                <a:lnTo>
                  <a:pt x="24" y="28"/>
                </a:lnTo>
                <a:lnTo>
                  <a:pt x="28" y="28"/>
                </a:lnTo>
                <a:lnTo>
                  <a:pt x="28" y="24"/>
                </a:lnTo>
                <a:lnTo>
                  <a:pt x="28" y="24"/>
                </a:lnTo>
                <a:lnTo>
                  <a:pt x="31" y="21"/>
                </a:lnTo>
                <a:lnTo>
                  <a:pt x="31" y="17"/>
                </a:lnTo>
                <a:lnTo>
                  <a:pt x="31" y="14"/>
                </a:lnTo>
                <a:lnTo>
                  <a:pt x="31" y="14"/>
                </a:lnTo>
              </a:path>
            </a:pathLst>
          </a:custGeom>
          <a:noFill/>
          <a:ln w="11113">
            <a:solidFill>
              <a:srgbClr val="000000"/>
            </a:solidFill>
            <a:prstDash val="solid"/>
            <a:round/>
            <a:headEnd/>
            <a:tailEnd/>
          </a:ln>
        </p:spPr>
        <p:txBody>
          <a:bodyPr/>
          <a:lstStyle/>
          <a:p>
            <a:endParaRPr lang="zh-CN" altLang="en-US"/>
          </a:p>
        </p:txBody>
      </p:sp>
      <p:sp>
        <p:nvSpPr>
          <p:cNvPr id="93" name="Freeform 91"/>
          <p:cNvSpPr>
            <a:spLocks/>
          </p:cNvSpPr>
          <p:nvPr/>
        </p:nvSpPr>
        <p:spPr bwMode="auto">
          <a:xfrm>
            <a:off x="2556248" y="2790280"/>
            <a:ext cx="55563" cy="49213"/>
          </a:xfrm>
          <a:custGeom>
            <a:avLst/>
            <a:gdLst/>
            <a:ahLst/>
            <a:cxnLst>
              <a:cxn ang="0">
                <a:pos x="32" y="14"/>
              </a:cxn>
              <a:cxn ang="0">
                <a:pos x="35" y="17"/>
              </a:cxn>
              <a:cxn ang="0">
                <a:pos x="32" y="21"/>
              </a:cxn>
              <a:cxn ang="0">
                <a:pos x="32" y="24"/>
              </a:cxn>
              <a:cxn ang="0">
                <a:pos x="32" y="24"/>
              </a:cxn>
              <a:cxn ang="0">
                <a:pos x="28" y="28"/>
              </a:cxn>
              <a:cxn ang="0">
                <a:pos x="28" y="28"/>
              </a:cxn>
              <a:cxn ang="0">
                <a:pos x="25" y="31"/>
              </a:cxn>
              <a:cxn ang="0">
                <a:pos x="21" y="31"/>
              </a:cxn>
              <a:cxn ang="0">
                <a:pos x="21" y="31"/>
              </a:cxn>
              <a:cxn ang="0">
                <a:pos x="18" y="31"/>
              </a:cxn>
              <a:cxn ang="0">
                <a:pos x="14" y="31"/>
              </a:cxn>
              <a:cxn ang="0">
                <a:pos x="14" y="31"/>
              </a:cxn>
              <a:cxn ang="0">
                <a:pos x="11" y="31"/>
              </a:cxn>
              <a:cxn ang="0">
                <a:pos x="7" y="28"/>
              </a:cxn>
              <a:cxn ang="0">
                <a:pos x="7" y="28"/>
              </a:cxn>
              <a:cxn ang="0">
                <a:pos x="4" y="24"/>
              </a:cxn>
              <a:cxn ang="0">
                <a:pos x="4" y="24"/>
              </a:cxn>
              <a:cxn ang="0">
                <a:pos x="4" y="21"/>
              </a:cxn>
              <a:cxn ang="0">
                <a:pos x="0" y="17"/>
              </a:cxn>
              <a:cxn ang="0">
                <a:pos x="0" y="14"/>
              </a:cxn>
              <a:cxn ang="0">
                <a:pos x="0" y="14"/>
              </a:cxn>
              <a:cxn ang="0">
                <a:pos x="4" y="10"/>
              </a:cxn>
              <a:cxn ang="0">
                <a:pos x="4" y="7"/>
              </a:cxn>
              <a:cxn ang="0">
                <a:pos x="4" y="7"/>
              </a:cxn>
              <a:cxn ang="0">
                <a:pos x="7" y="3"/>
              </a:cxn>
              <a:cxn ang="0">
                <a:pos x="7" y="3"/>
              </a:cxn>
              <a:cxn ang="0">
                <a:pos x="11" y="0"/>
              </a:cxn>
              <a:cxn ang="0">
                <a:pos x="14" y="0"/>
              </a:cxn>
              <a:cxn ang="0">
                <a:pos x="14" y="0"/>
              </a:cxn>
              <a:cxn ang="0">
                <a:pos x="18" y="0"/>
              </a:cxn>
              <a:cxn ang="0">
                <a:pos x="21" y="0"/>
              </a:cxn>
              <a:cxn ang="0">
                <a:pos x="21" y="0"/>
              </a:cxn>
              <a:cxn ang="0">
                <a:pos x="25" y="0"/>
              </a:cxn>
              <a:cxn ang="0">
                <a:pos x="28" y="3"/>
              </a:cxn>
              <a:cxn ang="0">
                <a:pos x="28" y="3"/>
              </a:cxn>
              <a:cxn ang="0">
                <a:pos x="32" y="7"/>
              </a:cxn>
              <a:cxn ang="0">
                <a:pos x="32" y="7"/>
              </a:cxn>
              <a:cxn ang="0">
                <a:pos x="32" y="10"/>
              </a:cxn>
              <a:cxn ang="0">
                <a:pos x="35" y="14"/>
              </a:cxn>
              <a:cxn ang="0">
                <a:pos x="35" y="14"/>
              </a:cxn>
              <a:cxn ang="0">
                <a:pos x="32" y="14"/>
              </a:cxn>
            </a:cxnLst>
            <a:rect l="0" t="0" r="r" b="b"/>
            <a:pathLst>
              <a:path w="35" h="31">
                <a:moveTo>
                  <a:pt x="32" y="14"/>
                </a:moveTo>
                <a:lnTo>
                  <a:pt x="35" y="17"/>
                </a:lnTo>
                <a:lnTo>
                  <a:pt x="32" y="21"/>
                </a:lnTo>
                <a:lnTo>
                  <a:pt x="32" y="24"/>
                </a:lnTo>
                <a:lnTo>
                  <a:pt x="32" y="24"/>
                </a:lnTo>
                <a:lnTo>
                  <a:pt x="28" y="28"/>
                </a:lnTo>
                <a:lnTo>
                  <a:pt x="28" y="28"/>
                </a:lnTo>
                <a:lnTo>
                  <a:pt x="25" y="31"/>
                </a:lnTo>
                <a:lnTo>
                  <a:pt x="21" y="31"/>
                </a:lnTo>
                <a:lnTo>
                  <a:pt x="21" y="31"/>
                </a:lnTo>
                <a:lnTo>
                  <a:pt x="18" y="31"/>
                </a:lnTo>
                <a:lnTo>
                  <a:pt x="14" y="31"/>
                </a:lnTo>
                <a:lnTo>
                  <a:pt x="14" y="31"/>
                </a:lnTo>
                <a:lnTo>
                  <a:pt x="11" y="31"/>
                </a:lnTo>
                <a:lnTo>
                  <a:pt x="7" y="28"/>
                </a:lnTo>
                <a:lnTo>
                  <a:pt x="7" y="28"/>
                </a:lnTo>
                <a:lnTo>
                  <a:pt x="4" y="24"/>
                </a:lnTo>
                <a:lnTo>
                  <a:pt x="4" y="24"/>
                </a:lnTo>
                <a:lnTo>
                  <a:pt x="4" y="21"/>
                </a:lnTo>
                <a:lnTo>
                  <a:pt x="0" y="17"/>
                </a:lnTo>
                <a:lnTo>
                  <a:pt x="0" y="14"/>
                </a:lnTo>
                <a:lnTo>
                  <a:pt x="0" y="14"/>
                </a:lnTo>
                <a:lnTo>
                  <a:pt x="4" y="10"/>
                </a:lnTo>
                <a:lnTo>
                  <a:pt x="4" y="7"/>
                </a:lnTo>
                <a:lnTo>
                  <a:pt x="4" y="7"/>
                </a:lnTo>
                <a:lnTo>
                  <a:pt x="7" y="3"/>
                </a:lnTo>
                <a:lnTo>
                  <a:pt x="7" y="3"/>
                </a:lnTo>
                <a:lnTo>
                  <a:pt x="11" y="0"/>
                </a:lnTo>
                <a:lnTo>
                  <a:pt x="14" y="0"/>
                </a:lnTo>
                <a:lnTo>
                  <a:pt x="14" y="0"/>
                </a:lnTo>
                <a:lnTo>
                  <a:pt x="18" y="0"/>
                </a:lnTo>
                <a:lnTo>
                  <a:pt x="21" y="0"/>
                </a:lnTo>
                <a:lnTo>
                  <a:pt x="21" y="0"/>
                </a:lnTo>
                <a:lnTo>
                  <a:pt x="25" y="0"/>
                </a:lnTo>
                <a:lnTo>
                  <a:pt x="28" y="3"/>
                </a:lnTo>
                <a:lnTo>
                  <a:pt x="28" y="3"/>
                </a:lnTo>
                <a:lnTo>
                  <a:pt x="32" y="7"/>
                </a:lnTo>
                <a:lnTo>
                  <a:pt x="32" y="7"/>
                </a:lnTo>
                <a:lnTo>
                  <a:pt x="32" y="10"/>
                </a:lnTo>
                <a:lnTo>
                  <a:pt x="35" y="14"/>
                </a:lnTo>
                <a:lnTo>
                  <a:pt x="35" y="14"/>
                </a:lnTo>
                <a:lnTo>
                  <a:pt x="32" y="14"/>
                </a:lnTo>
                <a:close/>
              </a:path>
            </a:pathLst>
          </a:custGeom>
          <a:solidFill>
            <a:srgbClr val="000000"/>
          </a:solidFill>
          <a:ln w="9525">
            <a:noFill/>
            <a:round/>
            <a:headEnd/>
            <a:tailEnd/>
          </a:ln>
        </p:spPr>
        <p:txBody>
          <a:bodyPr/>
          <a:lstStyle/>
          <a:p>
            <a:endParaRPr lang="zh-CN" altLang="en-US"/>
          </a:p>
        </p:txBody>
      </p:sp>
      <p:sp>
        <p:nvSpPr>
          <p:cNvPr id="94" name="Freeform 92"/>
          <p:cNvSpPr>
            <a:spLocks/>
          </p:cNvSpPr>
          <p:nvPr/>
        </p:nvSpPr>
        <p:spPr bwMode="auto">
          <a:xfrm>
            <a:off x="2556248" y="2790280"/>
            <a:ext cx="55563" cy="49213"/>
          </a:xfrm>
          <a:custGeom>
            <a:avLst/>
            <a:gdLst/>
            <a:ahLst/>
            <a:cxnLst>
              <a:cxn ang="0">
                <a:pos x="32" y="14"/>
              </a:cxn>
              <a:cxn ang="0">
                <a:pos x="35" y="14"/>
              </a:cxn>
              <a:cxn ang="0">
                <a:pos x="32" y="10"/>
              </a:cxn>
              <a:cxn ang="0">
                <a:pos x="32" y="7"/>
              </a:cxn>
              <a:cxn ang="0">
                <a:pos x="32" y="7"/>
              </a:cxn>
              <a:cxn ang="0">
                <a:pos x="28" y="3"/>
              </a:cxn>
              <a:cxn ang="0">
                <a:pos x="28" y="3"/>
              </a:cxn>
              <a:cxn ang="0">
                <a:pos x="25" y="0"/>
              </a:cxn>
              <a:cxn ang="0">
                <a:pos x="21" y="0"/>
              </a:cxn>
              <a:cxn ang="0">
                <a:pos x="21" y="0"/>
              </a:cxn>
              <a:cxn ang="0">
                <a:pos x="18" y="0"/>
              </a:cxn>
              <a:cxn ang="0">
                <a:pos x="14" y="0"/>
              </a:cxn>
              <a:cxn ang="0">
                <a:pos x="14" y="0"/>
              </a:cxn>
              <a:cxn ang="0">
                <a:pos x="11" y="0"/>
              </a:cxn>
              <a:cxn ang="0">
                <a:pos x="7" y="3"/>
              </a:cxn>
              <a:cxn ang="0">
                <a:pos x="7" y="3"/>
              </a:cxn>
              <a:cxn ang="0">
                <a:pos x="4" y="7"/>
              </a:cxn>
              <a:cxn ang="0">
                <a:pos x="4" y="7"/>
              </a:cxn>
              <a:cxn ang="0">
                <a:pos x="4" y="10"/>
              </a:cxn>
              <a:cxn ang="0">
                <a:pos x="0" y="14"/>
              </a:cxn>
              <a:cxn ang="0">
                <a:pos x="0" y="14"/>
              </a:cxn>
              <a:cxn ang="0">
                <a:pos x="0" y="17"/>
              </a:cxn>
              <a:cxn ang="0">
                <a:pos x="4" y="21"/>
              </a:cxn>
              <a:cxn ang="0">
                <a:pos x="4" y="24"/>
              </a:cxn>
              <a:cxn ang="0">
                <a:pos x="4" y="24"/>
              </a:cxn>
              <a:cxn ang="0">
                <a:pos x="7" y="28"/>
              </a:cxn>
              <a:cxn ang="0">
                <a:pos x="7" y="28"/>
              </a:cxn>
              <a:cxn ang="0">
                <a:pos x="11" y="31"/>
              </a:cxn>
              <a:cxn ang="0">
                <a:pos x="14" y="31"/>
              </a:cxn>
              <a:cxn ang="0">
                <a:pos x="14" y="31"/>
              </a:cxn>
              <a:cxn ang="0">
                <a:pos x="18" y="31"/>
              </a:cxn>
              <a:cxn ang="0">
                <a:pos x="21" y="31"/>
              </a:cxn>
              <a:cxn ang="0">
                <a:pos x="21" y="31"/>
              </a:cxn>
              <a:cxn ang="0">
                <a:pos x="25" y="31"/>
              </a:cxn>
              <a:cxn ang="0">
                <a:pos x="28" y="28"/>
              </a:cxn>
              <a:cxn ang="0">
                <a:pos x="28" y="28"/>
              </a:cxn>
              <a:cxn ang="0">
                <a:pos x="32" y="24"/>
              </a:cxn>
              <a:cxn ang="0">
                <a:pos x="32" y="24"/>
              </a:cxn>
              <a:cxn ang="0">
                <a:pos x="32" y="21"/>
              </a:cxn>
              <a:cxn ang="0">
                <a:pos x="35" y="17"/>
              </a:cxn>
              <a:cxn ang="0">
                <a:pos x="35" y="14"/>
              </a:cxn>
              <a:cxn ang="0">
                <a:pos x="35" y="14"/>
              </a:cxn>
            </a:cxnLst>
            <a:rect l="0" t="0" r="r" b="b"/>
            <a:pathLst>
              <a:path w="35" h="31">
                <a:moveTo>
                  <a:pt x="32" y="14"/>
                </a:moveTo>
                <a:lnTo>
                  <a:pt x="35" y="14"/>
                </a:lnTo>
                <a:lnTo>
                  <a:pt x="32" y="10"/>
                </a:lnTo>
                <a:lnTo>
                  <a:pt x="32" y="7"/>
                </a:lnTo>
                <a:lnTo>
                  <a:pt x="32" y="7"/>
                </a:lnTo>
                <a:lnTo>
                  <a:pt x="28" y="3"/>
                </a:lnTo>
                <a:lnTo>
                  <a:pt x="28" y="3"/>
                </a:lnTo>
                <a:lnTo>
                  <a:pt x="25" y="0"/>
                </a:lnTo>
                <a:lnTo>
                  <a:pt x="21" y="0"/>
                </a:lnTo>
                <a:lnTo>
                  <a:pt x="21" y="0"/>
                </a:lnTo>
                <a:lnTo>
                  <a:pt x="18" y="0"/>
                </a:lnTo>
                <a:lnTo>
                  <a:pt x="14" y="0"/>
                </a:lnTo>
                <a:lnTo>
                  <a:pt x="14" y="0"/>
                </a:lnTo>
                <a:lnTo>
                  <a:pt x="11" y="0"/>
                </a:lnTo>
                <a:lnTo>
                  <a:pt x="7" y="3"/>
                </a:lnTo>
                <a:lnTo>
                  <a:pt x="7" y="3"/>
                </a:lnTo>
                <a:lnTo>
                  <a:pt x="4" y="7"/>
                </a:lnTo>
                <a:lnTo>
                  <a:pt x="4" y="7"/>
                </a:lnTo>
                <a:lnTo>
                  <a:pt x="4" y="10"/>
                </a:lnTo>
                <a:lnTo>
                  <a:pt x="0" y="14"/>
                </a:lnTo>
                <a:lnTo>
                  <a:pt x="0" y="14"/>
                </a:lnTo>
                <a:lnTo>
                  <a:pt x="0" y="17"/>
                </a:lnTo>
                <a:lnTo>
                  <a:pt x="4" y="21"/>
                </a:lnTo>
                <a:lnTo>
                  <a:pt x="4" y="24"/>
                </a:lnTo>
                <a:lnTo>
                  <a:pt x="4" y="24"/>
                </a:lnTo>
                <a:lnTo>
                  <a:pt x="7" y="28"/>
                </a:lnTo>
                <a:lnTo>
                  <a:pt x="7" y="28"/>
                </a:lnTo>
                <a:lnTo>
                  <a:pt x="11" y="31"/>
                </a:lnTo>
                <a:lnTo>
                  <a:pt x="14" y="31"/>
                </a:lnTo>
                <a:lnTo>
                  <a:pt x="14" y="31"/>
                </a:lnTo>
                <a:lnTo>
                  <a:pt x="18" y="31"/>
                </a:lnTo>
                <a:lnTo>
                  <a:pt x="21" y="31"/>
                </a:lnTo>
                <a:lnTo>
                  <a:pt x="21" y="31"/>
                </a:lnTo>
                <a:lnTo>
                  <a:pt x="25" y="31"/>
                </a:lnTo>
                <a:lnTo>
                  <a:pt x="28" y="28"/>
                </a:lnTo>
                <a:lnTo>
                  <a:pt x="28" y="28"/>
                </a:lnTo>
                <a:lnTo>
                  <a:pt x="32" y="24"/>
                </a:lnTo>
                <a:lnTo>
                  <a:pt x="32" y="24"/>
                </a:lnTo>
                <a:lnTo>
                  <a:pt x="32" y="21"/>
                </a:lnTo>
                <a:lnTo>
                  <a:pt x="35" y="17"/>
                </a:lnTo>
                <a:lnTo>
                  <a:pt x="35" y="14"/>
                </a:lnTo>
                <a:lnTo>
                  <a:pt x="35" y="14"/>
                </a:lnTo>
              </a:path>
            </a:pathLst>
          </a:custGeom>
          <a:noFill/>
          <a:ln w="11113">
            <a:solidFill>
              <a:srgbClr val="000000"/>
            </a:solidFill>
            <a:prstDash val="solid"/>
            <a:round/>
            <a:headEnd/>
            <a:tailEnd/>
          </a:ln>
        </p:spPr>
        <p:txBody>
          <a:bodyPr/>
          <a:lstStyle/>
          <a:p>
            <a:endParaRPr lang="zh-CN" altLang="en-US"/>
          </a:p>
        </p:txBody>
      </p:sp>
      <p:sp>
        <p:nvSpPr>
          <p:cNvPr id="95" name="Freeform 93"/>
          <p:cNvSpPr>
            <a:spLocks/>
          </p:cNvSpPr>
          <p:nvPr/>
        </p:nvSpPr>
        <p:spPr bwMode="auto">
          <a:xfrm>
            <a:off x="2768973" y="2790280"/>
            <a:ext cx="50800" cy="49213"/>
          </a:xfrm>
          <a:custGeom>
            <a:avLst/>
            <a:gdLst/>
            <a:ahLst/>
            <a:cxnLst>
              <a:cxn ang="0">
                <a:pos x="29" y="14"/>
              </a:cxn>
              <a:cxn ang="0">
                <a:pos x="32" y="17"/>
              </a:cxn>
              <a:cxn ang="0">
                <a:pos x="32" y="21"/>
              </a:cxn>
              <a:cxn ang="0">
                <a:pos x="29" y="24"/>
              </a:cxn>
              <a:cxn ang="0">
                <a:pos x="29" y="24"/>
              </a:cxn>
              <a:cxn ang="0">
                <a:pos x="29" y="28"/>
              </a:cxn>
              <a:cxn ang="0">
                <a:pos x="25" y="28"/>
              </a:cxn>
              <a:cxn ang="0">
                <a:pos x="21" y="31"/>
              </a:cxn>
              <a:cxn ang="0">
                <a:pos x="21" y="31"/>
              </a:cxn>
              <a:cxn ang="0">
                <a:pos x="18" y="31"/>
              </a:cxn>
              <a:cxn ang="0">
                <a:pos x="14" y="31"/>
              </a:cxn>
              <a:cxn ang="0">
                <a:pos x="11" y="31"/>
              </a:cxn>
              <a:cxn ang="0">
                <a:pos x="11" y="31"/>
              </a:cxn>
              <a:cxn ang="0">
                <a:pos x="7" y="31"/>
              </a:cxn>
              <a:cxn ang="0">
                <a:pos x="4" y="28"/>
              </a:cxn>
              <a:cxn ang="0">
                <a:pos x="4" y="28"/>
              </a:cxn>
              <a:cxn ang="0">
                <a:pos x="0" y="24"/>
              </a:cxn>
              <a:cxn ang="0">
                <a:pos x="0" y="24"/>
              </a:cxn>
              <a:cxn ang="0">
                <a:pos x="0" y="21"/>
              </a:cxn>
              <a:cxn ang="0">
                <a:pos x="0" y="17"/>
              </a:cxn>
              <a:cxn ang="0">
                <a:pos x="0" y="14"/>
              </a:cxn>
              <a:cxn ang="0">
                <a:pos x="0" y="14"/>
              </a:cxn>
              <a:cxn ang="0">
                <a:pos x="0" y="10"/>
              </a:cxn>
              <a:cxn ang="0">
                <a:pos x="0" y="7"/>
              </a:cxn>
              <a:cxn ang="0">
                <a:pos x="0" y="7"/>
              </a:cxn>
              <a:cxn ang="0">
                <a:pos x="4" y="3"/>
              </a:cxn>
              <a:cxn ang="0">
                <a:pos x="4" y="3"/>
              </a:cxn>
              <a:cxn ang="0">
                <a:pos x="7" y="0"/>
              </a:cxn>
              <a:cxn ang="0">
                <a:pos x="11" y="0"/>
              </a:cxn>
              <a:cxn ang="0">
                <a:pos x="11" y="0"/>
              </a:cxn>
              <a:cxn ang="0">
                <a:pos x="14" y="0"/>
              </a:cxn>
              <a:cxn ang="0">
                <a:pos x="18" y="0"/>
              </a:cxn>
              <a:cxn ang="0">
                <a:pos x="21" y="0"/>
              </a:cxn>
              <a:cxn ang="0">
                <a:pos x="21" y="0"/>
              </a:cxn>
              <a:cxn ang="0">
                <a:pos x="25" y="3"/>
              </a:cxn>
              <a:cxn ang="0">
                <a:pos x="29" y="3"/>
              </a:cxn>
              <a:cxn ang="0">
                <a:pos x="29" y="7"/>
              </a:cxn>
              <a:cxn ang="0">
                <a:pos x="29" y="7"/>
              </a:cxn>
              <a:cxn ang="0">
                <a:pos x="32" y="10"/>
              </a:cxn>
              <a:cxn ang="0">
                <a:pos x="32" y="14"/>
              </a:cxn>
              <a:cxn ang="0">
                <a:pos x="32" y="14"/>
              </a:cxn>
              <a:cxn ang="0">
                <a:pos x="29" y="14"/>
              </a:cxn>
            </a:cxnLst>
            <a:rect l="0" t="0" r="r" b="b"/>
            <a:pathLst>
              <a:path w="32" h="31">
                <a:moveTo>
                  <a:pt x="29" y="14"/>
                </a:moveTo>
                <a:lnTo>
                  <a:pt x="32" y="17"/>
                </a:lnTo>
                <a:lnTo>
                  <a:pt x="32" y="21"/>
                </a:lnTo>
                <a:lnTo>
                  <a:pt x="29" y="24"/>
                </a:lnTo>
                <a:lnTo>
                  <a:pt x="29" y="24"/>
                </a:lnTo>
                <a:lnTo>
                  <a:pt x="29" y="28"/>
                </a:lnTo>
                <a:lnTo>
                  <a:pt x="25" y="28"/>
                </a:lnTo>
                <a:lnTo>
                  <a:pt x="21" y="31"/>
                </a:lnTo>
                <a:lnTo>
                  <a:pt x="21" y="31"/>
                </a:lnTo>
                <a:lnTo>
                  <a:pt x="18" y="31"/>
                </a:lnTo>
                <a:lnTo>
                  <a:pt x="14" y="31"/>
                </a:lnTo>
                <a:lnTo>
                  <a:pt x="11" y="31"/>
                </a:lnTo>
                <a:lnTo>
                  <a:pt x="11" y="31"/>
                </a:lnTo>
                <a:lnTo>
                  <a:pt x="7" y="31"/>
                </a:lnTo>
                <a:lnTo>
                  <a:pt x="4" y="28"/>
                </a:lnTo>
                <a:lnTo>
                  <a:pt x="4" y="28"/>
                </a:lnTo>
                <a:lnTo>
                  <a:pt x="0" y="24"/>
                </a:lnTo>
                <a:lnTo>
                  <a:pt x="0" y="24"/>
                </a:lnTo>
                <a:lnTo>
                  <a:pt x="0" y="21"/>
                </a:lnTo>
                <a:lnTo>
                  <a:pt x="0" y="17"/>
                </a:lnTo>
                <a:lnTo>
                  <a:pt x="0" y="14"/>
                </a:lnTo>
                <a:lnTo>
                  <a:pt x="0" y="14"/>
                </a:lnTo>
                <a:lnTo>
                  <a:pt x="0" y="10"/>
                </a:lnTo>
                <a:lnTo>
                  <a:pt x="0" y="7"/>
                </a:lnTo>
                <a:lnTo>
                  <a:pt x="0" y="7"/>
                </a:lnTo>
                <a:lnTo>
                  <a:pt x="4" y="3"/>
                </a:lnTo>
                <a:lnTo>
                  <a:pt x="4" y="3"/>
                </a:lnTo>
                <a:lnTo>
                  <a:pt x="7" y="0"/>
                </a:lnTo>
                <a:lnTo>
                  <a:pt x="11" y="0"/>
                </a:lnTo>
                <a:lnTo>
                  <a:pt x="11" y="0"/>
                </a:lnTo>
                <a:lnTo>
                  <a:pt x="14" y="0"/>
                </a:lnTo>
                <a:lnTo>
                  <a:pt x="18" y="0"/>
                </a:lnTo>
                <a:lnTo>
                  <a:pt x="21" y="0"/>
                </a:lnTo>
                <a:lnTo>
                  <a:pt x="21" y="0"/>
                </a:lnTo>
                <a:lnTo>
                  <a:pt x="25" y="3"/>
                </a:lnTo>
                <a:lnTo>
                  <a:pt x="29" y="3"/>
                </a:lnTo>
                <a:lnTo>
                  <a:pt x="29" y="7"/>
                </a:lnTo>
                <a:lnTo>
                  <a:pt x="29" y="7"/>
                </a:lnTo>
                <a:lnTo>
                  <a:pt x="32" y="10"/>
                </a:lnTo>
                <a:lnTo>
                  <a:pt x="32" y="14"/>
                </a:lnTo>
                <a:lnTo>
                  <a:pt x="32" y="14"/>
                </a:lnTo>
                <a:lnTo>
                  <a:pt x="29" y="14"/>
                </a:lnTo>
                <a:close/>
              </a:path>
            </a:pathLst>
          </a:custGeom>
          <a:solidFill>
            <a:srgbClr val="000000"/>
          </a:solidFill>
          <a:ln w="9525">
            <a:noFill/>
            <a:round/>
            <a:headEnd/>
            <a:tailEnd/>
          </a:ln>
        </p:spPr>
        <p:txBody>
          <a:bodyPr/>
          <a:lstStyle/>
          <a:p>
            <a:endParaRPr lang="zh-CN" altLang="en-US"/>
          </a:p>
        </p:txBody>
      </p:sp>
      <p:sp>
        <p:nvSpPr>
          <p:cNvPr id="96" name="Freeform 94"/>
          <p:cNvSpPr>
            <a:spLocks/>
          </p:cNvSpPr>
          <p:nvPr/>
        </p:nvSpPr>
        <p:spPr bwMode="auto">
          <a:xfrm>
            <a:off x="2768973" y="2790280"/>
            <a:ext cx="50800" cy="49213"/>
          </a:xfrm>
          <a:custGeom>
            <a:avLst/>
            <a:gdLst/>
            <a:ahLst/>
            <a:cxnLst>
              <a:cxn ang="0">
                <a:pos x="29" y="14"/>
              </a:cxn>
              <a:cxn ang="0">
                <a:pos x="32" y="14"/>
              </a:cxn>
              <a:cxn ang="0">
                <a:pos x="32" y="10"/>
              </a:cxn>
              <a:cxn ang="0">
                <a:pos x="29" y="7"/>
              </a:cxn>
              <a:cxn ang="0">
                <a:pos x="29" y="7"/>
              </a:cxn>
              <a:cxn ang="0">
                <a:pos x="29" y="3"/>
              </a:cxn>
              <a:cxn ang="0">
                <a:pos x="25" y="3"/>
              </a:cxn>
              <a:cxn ang="0">
                <a:pos x="21" y="0"/>
              </a:cxn>
              <a:cxn ang="0">
                <a:pos x="21" y="0"/>
              </a:cxn>
              <a:cxn ang="0">
                <a:pos x="18" y="0"/>
              </a:cxn>
              <a:cxn ang="0">
                <a:pos x="14" y="0"/>
              </a:cxn>
              <a:cxn ang="0">
                <a:pos x="11" y="0"/>
              </a:cxn>
              <a:cxn ang="0">
                <a:pos x="11" y="0"/>
              </a:cxn>
              <a:cxn ang="0">
                <a:pos x="7" y="0"/>
              </a:cxn>
              <a:cxn ang="0">
                <a:pos x="4" y="3"/>
              </a:cxn>
              <a:cxn ang="0">
                <a:pos x="4" y="3"/>
              </a:cxn>
              <a:cxn ang="0">
                <a:pos x="0" y="7"/>
              </a:cxn>
              <a:cxn ang="0">
                <a:pos x="0" y="7"/>
              </a:cxn>
              <a:cxn ang="0">
                <a:pos x="0" y="10"/>
              </a:cxn>
              <a:cxn ang="0">
                <a:pos x="0" y="14"/>
              </a:cxn>
              <a:cxn ang="0">
                <a:pos x="0" y="14"/>
              </a:cxn>
              <a:cxn ang="0">
                <a:pos x="0" y="17"/>
              </a:cxn>
              <a:cxn ang="0">
                <a:pos x="0" y="21"/>
              </a:cxn>
              <a:cxn ang="0">
                <a:pos x="0" y="24"/>
              </a:cxn>
              <a:cxn ang="0">
                <a:pos x="0" y="24"/>
              </a:cxn>
              <a:cxn ang="0">
                <a:pos x="4" y="28"/>
              </a:cxn>
              <a:cxn ang="0">
                <a:pos x="4" y="28"/>
              </a:cxn>
              <a:cxn ang="0">
                <a:pos x="7" y="31"/>
              </a:cxn>
              <a:cxn ang="0">
                <a:pos x="11" y="31"/>
              </a:cxn>
              <a:cxn ang="0">
                <a:pos x="11" y="31"/>
              </a:cxn>
              <a:cxn ang="0">
                <a:pos x="14" y="31"/>
              </a:cxn>
              <a:cxn ang="0">
                <a:pos x="18" y="31"/>
              </a:cxn>
              <a:cxn ang="0">
                <a:pos x="21" y="31"/>
              </a:cxn>
              <a:cxn ang="0">
                <a:pos x="21" y="31"/>
              </a:cxn>
              <a:cxn ang="0">
                <a:pos x="25" y="28"/>
              </a:cxn>
              <a:cxn ang="0">
                <a:pos x="29" y="28"/>
              </a:cxn>
              <a:cxn ang="0">
                <a:pos x="29" y="24"/>
              </a:cxn>
              <a:cxn ang="0">
                <a:pos x="29" y="24"/>
              </a:cxn>
              <a:cxn ang="0">
                <a:pos x="32" y="21"/>
              </a:cxn>
              <a:cxn ang="0">
                <a:pos x="32" y="17"/>
              </a:cxn>
              <a:cxn ang="0">
                <a:pos x="32" y="14"/>
              </a:cxn>
              <a:cxn ang="0">
                <a:pos x="32" y="14"/>
              </a:cxn>
            </a:cxnLst>
            <a:rect l="0" t="0" r="r" b="b"/>
            <a:pathLst>
              <a:path w="32" h="31">
                <a:moveTo>
                  <a:pt x="29" y="14"/>
                </a:moveTo>
                <a:lnTo>
                  <a:pt x="32" y="14"/>
                </a:lnTo>
                <a:lnTo>
                  <a:pt x="32" y="10"/>
                </a:lnTo>
                <a:lnTo>
                  <a:pt x="29" y="7"/>
                </a:lnTo>
                <a:lnTo>
                  <a:pt x="29" y="7"/>
                </a:lnTo>
                <a:lnTo>
                  <a:pt x="29" y="3"/>
                </a:lnTo>
                <a:lnTo>
                  <a:pt x="25" y="3"/>
                </a:lnTo>
                <a:lnTo>
                  <a:pt x="21" y="0"/>
                </a:lnTo>
                <a:lnTo>
                  <a:pt x="21" y="0"/>
                </a:lnTo>
                <a:lnTo>
                  <a:pt x="18" y="0"/>
                </a:lnTo>
                <a:lnTo>
                  <a:pt x="14" y="0"/>
                </a:lnTo>
                <a:lnTo>
                  <a:pt x="11" y="0"/>
                </a:lnTo>
                <a:lnTo>
                  <a:pt x="11" y="0"/>
                </a:lnTo>
                <a:lnTo>
                  <a:pt x="7" y="0"/>
                </a:lnTo>
                <a:lnTo>
                  <a:pt x="4" y="3"/>
                </a:lnTo>
                <a:lnTo>
                  <a:pt x="4" y="3"/>
                </a:lnTo>
                <a:lnTo>
                  <a:pt x="0" y="7"/>
                </a:lnTo>
                <a:lnTo>
                  <a:pt x="0" y="7"/>
                </a:lnTo>
                <a:lnTo>
                  <a:pt x="0" y="10"/>
                </a:lnTo>
                <a:lnTo>
                  <a:pt x="0" y="14"/>
                </a:lnTo>
                <a:lnTo>
                  <a:pt x="0" y="14"/>
                </a:lnTo>
                <a:lnTo>
                  <a:pt x="0" y="17"/>
                </a:lnTo>
                <a:lnTo>
                  <a:pt x="0" y="21"/>
                </a:lnTo>
                <a:lnTo>
                  <a:pt x="0" y="24"/>
                </a:lnTo>
                <a:lnTo>
                  <a:pt x="0" y="24"/>
                </a:lnTo>
                <a:lnTo>
                  <a:pt x="4" y="28"/>
                </a:lnTo>
                <a:lnTo>
                  <a:pt x="4" y="28"/>
                </a:lnTo>
                <a:lnTo>
                  <a:pt x="7" y="31"/>
                </a:lnTo>
                <a:lnTo>
                  <a:pt x="11" y="31"/>
                </a:lnTo>
                <a:lnTo>
                  <a:pt x="11" y="31"/>
                </a:lnTo>
                <a:lnTo>
                  <a:pt x="14" y="31"/>
                </a:lnTo>
                <a:lnTo>
                  <a:pt x="18" y="31"/>
                </a:lnTo>
                <a:lnTo>
                  <a:pt x="21" y="31"/>
                </a:lnTo>
                <a:lnTo>
                  <a:pt x="21" y="31"/>
                </a:lnTo>
                <a:lnTo>
                  <a:pt x="25" y="28"/>
                </a:lnTo>
                <a:lnTo>
                  <a:pt x="29" y="28"/>
                </a:lnTo>
                <a:lnTo>
                  <a:pt x="29" y="24"/>
                </a:lnTo>
                <a:lnTo>
                  <a:pt x="29" y="24"/>
                </a:lnTo>
                <a:lnTo>
                  <a:pt x="32" y="21"/>
                </a:lnTo>
                <a:lnTo>
                  <a:pt x="32" y="17"/>
                </a:lnTo>
                <a:lnTo>
                  <a:pt x="32" y="14"/>
                </a:lnTo>
                <a:lnTo>
                  <a:pt x="32" y="14"/>
                </a:lnTo>
              </a:path>
            </a:pathLst>
          </a:custGeom>
          <a:noFill/>
          <a:ln w="11113">
            <a:solidFill>
              <a:srgbClr val="000000"/>
            </a:solidFill>
            <a:prstDash val="solid"/>
            <a:round/>
            <a:headEnd/>
            <a:tailEnd/>
          </a:ln>
        </p:spPr>
        <p:txBody>
          <a:bodyPr/>
          <a:lstStyle/>
          <a:p>
            <a:endParaRPr lang="zh-CN" altLang="en-US"/>
          </a:p>
        </p:txBody>
      </p:sp>
      <p:sp>
        <p:nvSpPr>
          <p:cNvPr id="97" name="Freeform 95"/>
          <p:cNvSpPr>
            <a:spLocks/>
          </p:cNvSpPr>
          <p:nvPr/>
        </p:nvSpPr>
        <p:spPr bwMode="auto">
          <a:xfrm>
            <a:off x="2662610" y="2790280"/>
            <a:ext cx="50800" cy="49213"/>
          </a:xfrm>
          <a:custGeom>
            <a:avLst/>
            <a:gdLst/>
            <a:ahLst/>
            <a:cxnLst>
              <a:cxn ang="0">
                <a:pos x="32" y="14"/>
              </a:cxn>
              <a:cxn ang="0">
                <a:pos x="32" y="17"/>
              </a:cxn>
              <a:cxn ang="0">
                <a:pos x="32" y="21"/>
              </a:cxn>
              <a:cxn ang="0">
                <a:pos x="32" y="24"/>
              </a:cxn>
              <a:cxn ang="0">
                <a:pos x="28" y="24"/>
              </a:cxn>
              <a:cxn ang="0">
                <a:pos x="28" y="28"/>
              </a:cxn>
              <a:cxn ang="0">
                <a:pos x="25" y="28"/>
              </a:cxn>
              <a:cxn ang="0">
                <a:pos x="25" y="31"/>
              </a:cxn>
              <a:cxn ang="0">
                <a:pos x="21" y="31"/>
              </a:cxn>
              <a:cxn ang="0">
                <a:pos x="18" y="31"/>
              </a:cxn>
              <a:cxn ang="0">
                <a:pos x="14" y="31"/>
              </a:cxn>
              <a:cxn ang="0">
                <a:pos x="14" y="31"/>
              </a:cxn>
              <a:cxn ang="0">
                <a:pos x="11" y="31"/>
              </a:cxn>
              <a:cxn ang="0">
                <a:pos x="7" y="31"/>
              </a:cxn>
              <a:cxn ang="0">
                <a:pos x="7" y="28"/>
              </a:cxn>
              <a:cxn ang="0">
                <a:pos x="4" y="28"/>
              </a:cxn>
              <a:cxn ang="0">
                <a:pos x="4" y="24"/>
              </a:cxn>
              <a:cxn ang="0">
                <a:pos x="0" y="24"/>
              </a:cxn>
              <a:cxn ang="0">
                <a:pos x="0" y="21"/>
              </a:cxn>
              <a:cxn ang="0">
                <a:pos x="0" y="17"/>
              </a:cxn>
              <a:cxn ang="0">
                <a:pos x="0" y="14"/>
              </a:cxn>
              <a:cxn ang="0">
                <a:pos x="0" y="14"/>
              </a:cxn>
              <a:cxn ang="0">
                <a:pos x="0" y="10"/>
              </a:cxn>
              <a:cxn ang="0">
                <a:pos x="0" y="7"/>
              </a:cxn>
              <a:cxn ang="0">
                <a:pos x="4" y="7"/>
              </a:cxn>
              <a:cxn ang="0">
                <a:pos x="4" y="3"/>
              </a:cxn>
              <a:cxn ang="0">
                <a:pos x="7" y="3"/>
              </a:cxn>
              <a:cxn ang="0">
                <a:pos x="7" y="0"/>
              </a:cxn>
              <a:cxn ang="0">
                <a:pos x="11" y="0"/>
              </a:cxn>
              <a:cxn ang="0">
                <a:pos x="14" y="0"/>
              </a:cxn>
              <a:cxn ang="0">
                <a:pos x="14" y="0"/>
              </a:cxn>
              <a:cxn ang="0">
                <a:pos x="18" y="0"/>
              </a:cxn>
              <a:cxn ang="0">
                <a:pos x="21" y="0"/>
              </a:cxn>
              <a:cxn ang="0">
                <a:pos x="25" y="0"/>
              </a:cxn>
              <a:cxn ang="0">
                <a:pos x="25" y="3"/>
              </a:cxn>
              <a:cxn ang="0">
                <a:pos x="28" y="3"/>
              </a:cxn>
              <a:cxn ang="0">
                <a:pos x="28" y="7"/>
              </a:cxn>
              <a:cxn ang="0">
                <a:pos x="32" y="7"/>
              </a:cxn>
              <a:cxn ang="0">
                <a:pos x="32" y="10"/>
              </a:cxn>
              <a:cxn ang="0">
                <a:pos x="32" y="14"/>
              </a:cxn>
              <a:cxn ang="0">
                <a:pos x="32" y="14"/>
              </a:cxn>
            </a:cxnLst>
            <a:rect l="0" t="0" r="r" b="b"/>
            <a:pathLst>
              <a:path w="32" h="31">
                <a:moveTo>
                  <a:pt x="32" y="14"/>
                </a:moveTo>
                <a:lnTo>
                  <a:pt x="32" y="17"/>
                </a:lnTo>
                <a:lnTo>
                  <a:pt x="32" y="21"/>
                </a:lnTo>
                <a:lnTo>
                  <a:pt x="32" y="24"/>
                </a:lnTo>
                <a:lnTo>
                  <a:pt x="28" y="24"/>
                </a:lnTo>
                <a:lnTo>
                  <a:pt x="28" y="28"/>
                </a:lnTo>
                <a:lnTo>
                  <a:pt x="25" y="28"/>
                </a:lnTo>
                <a:lnTo>
                  <a:pt x="25" y="31"/>
                </a:lnTo>
                <a:lnTo>
                  <a:pt x="21" y="31"/>
                </a:lnTo>
                <a:lnTo>
                  <a:pt x="18" y="31"/>
                </a:lnTo>
                <a:lnTo>
                  <a:pt x="14" y="31"/>
                </a:lnTo>
                <a:lnTo>
                  <a:pt x="14" y="31"/>
                </a:lnTo>
                <a:lnTo>
                  <a:pt x="11" y="31"/>
                </a:lnTo>
                <a:lnTo>
                  <a:pt x="7" y="31"/>
                </a:lnTo>
                <a:lnTo>
                  <a:pt x="7" y="28"/>
                </a:lnTo>
                <a:lnTo>
                  <a:pt x="4" y="28"/>
                </a:lnTo>
                <a:lnTo>
                  <a:pt x="4" y="24"/>
                </a:lnTo>
                <a:lnTo>
                  <a:pt x="0" y="24"/>
                </a:lnTo>
                <a:lnTo>
                  <a:pt x="0" y="21"/>
                </a:lnTo>
                <a:lnTo>
                  <a:pt x="0" y="17"/>
                </a:lnTo>
                <a:lnTo>
                  <a:pt x="0" y="14"/>
                </a:lnTo>
                <a:lnTo>
                  <a:pt x="0" y="14"/>
                </a:lnTo>
                <a:lnTo>
                  <a:pt x="0" y="10"/>
                </a:lnTo>
                <a:lnTo>
                  <a:pt x="0" y="7"/>
                </a:lnTo>
                <a:lnTo>
                  <a:pt x="4" y="7"/>
                </a:lnTo>
                <a:lnTo>
                  <a:pt x="4" y="3"/>
                </a:lnTo>
                <a:lnTo>
                  <a:pt x="7" y="3"/>
                </a:lnTo>
                <a:lnTo>
                  <a:pt x="7" y="0"/>
                </a:lnTo>
                <a:lnTo>
                  <a:pt x="11" y="0"/>
                </a:lnTo>
                <a:lnTo>
                  <a:pt x="14" y="0"/>
                </a:lnTo>
                <a:lnTo>
                  <a:pt x="14" y="0"/>
                </a:lnTo>
                <a:lnTo>
                  <a:pt x="18" y="0"/>
                </a:lnTo>
                <a:lnTo>
                  <a:pt x="21" y="0"/>
                </a:lnTo>
                <a:lnTo>
                  <a:pt x="25" y="0"/>
                </a:lnTo>
                <a:lnTo>
                  <a:pt x="25" y="3"/>
                </a:lnTo>
                <a:lnTo>
                  <a:pt x="28" y="3"/>
                </a:lnTo>
                <a:lnTo>
                  <a:pt x="28" y="7"/>
                </a:lnTo>
                <a:lnTo>
                  <a:pt x="32" y="7"/>
                </a:lnTo>
                <a:lnTo>
                  <a:pt x="32" y="10"/>
                </a:lnTo>
                <a:lnTo>
                  <a:pt x="32" y="14"/>
                </a:lnTo>
                <a:lnTo>
                  <a:pt x="32" y="14"/>
                </a:lnTo>
                <a:close/>
              </a:path>
            </a:pathLst>
          </a:custGeom>
          <a:solidFill>
            <a:srgbClr val="000000"/>
          </a:solidFill>
          <a:ln w="9525">
            <a:noFill/>
            <a:round/>
            <a:headEnd/>
            <a:tailEnd/>
          </a:ln>
        </p:spPr>
        <p:txBody>
          <a:bodyPr/>
          <a:lstStyle/>
          <a:p>
            <a:endParaRPr lang="zh-CN" altLang="en-US"/>
          </a:p>
        </p:txBody>
      </p:sp>
      <p:sp>
        <p:nvSpPr>
          <p:cNvPr id="98" name="Freeform 96"/>
          <p:cNvSpPr>
            <a:spLocks/>
          </p:cNvSpPr>
          <p:nvPr/>
        </p:nvSpPr>
        <p:spPr bwMode="auto">
          <a:xfrm>
            <a:off x="2662610" y="2790280"/>
            <a:ext cx="50800" cy="49213"/>
          </a:xfrm>
          <a:custGeom>
            <a:avLst/>
            <a:gdLst/>
            <a:ahLst/>
            <a:cxnLst>
              <a:cxn ang="0">
                <a:pos x="32" y="14"/>
              </a:cxn>
              <a:cxn ang="0">
                <a:pos x="32" y="14"/>
              </a:cxn>
              <a:cxn ang="0">
                <a:pos x="32" y="10"/>
              </a:cxn>
              <a:cxn ang="0">
                <a:pos x="32" y="7"/>
              </a:cxn>
              <a:cxn ang="0">
                <a:pos x="28" y="7"/>
              </a:cxn>
              <a:cxn ang="0">
                <a:pos x="28" y="3"/>
              </a:cxn>
              <a:cxn ang="0">
                <a:pos x="25" y="3"/>
              </a:cxn>
              <a:cxn ang="0">
                <a:pos x="25" y="0"/>
              </a:cxn>
              <a:cxn ang="0">
                <a:pos x="21" y="0"/>
              </a:cxn>
              <a:cxn ang="0">
                <a:pos x="18" y="0"/>
              </a:cxn>
              <a:cxn ang="0">
                <a:pos x="14" y="0"/>
              </a:cxn>
              <a:cxn ang="0">
                <a:pos x="14" y="0"/>
              </a:cxn>
              <a:cxn ang="0">
                <a:pos x="11" y="0"/>
              </a:cxn>
              <a:cxn ang="0">
                <a:pos x="7" y="0"/>
              </a:cxn>
              <a:cxn ang="0">
                <a:pos x="7" y="3"/>
              </a:cxn>
              <a:cxn ang="0">
                <a:pos x="4" y="3"/>
              </a:cxn>
              <a:cxn ang="0">
                <a:pos x="4" y="7"/>
              </a:cxn>
              <a:cxn ang="0">
                <a:pos x="0" y="7"/>
              </a:cxn>
              <a:cxn ang="0">
                <a:pos x="0" y="10"/>
              </a:cxn>
              <a:cxn ang="0">
                <a:pos x="0" y="14"/>
              </a:cxn>
              <a:cxn ang="0">
                <a:pos x="0" y="14"/>
              </a:cxn>
              <a:cxn ang="0">
                <a:pos x="0" y="17"/>
              </a:cxn>
              <a:cxn ang="0">
                <a:pos x="0" y="21"/>
              </a:cxn>
              <a:cxn ang="0">
                <a:pos x="0" y="24"/>
              </a:cxn>
              <a:cxn ang="0">
                <a:pos x="4" y="24"/>
              </a:cxn>
              <a:cxn ang="0">
                <a:pos x="4" y="28"/>
              </a:cxn>
              <a:cxn ang="0">
                <a:pos x="7" y="28"/>
              </a:cxn>
              <a:cxn ang="0">
                <a:pos x="7" y="31"/>
              </a:cxn>
              <a:cxn ang="0">
                <a:pos x="11" y="31"/>
              </a:cxn>
              <a:cxn ang="0">
                <a:pos x="14" y="31"/>
              </a:cxn>
              <a:cxn ang="0">
                <a:pos x="14" y="31"/>
              </a:cxn>
              <a:cxn ang="0">
                <a:pos x="18" y="31"/>
              </a:cxn>
              <a:cxn ang="0">
                <a:pos x="21" y="31"/>
              </a:cxn>
              <a:cxn ang="0">
                <a:pos x="25" y="31"/>
              </a:cxn>
              <a:cxn ang="0">
                <a:pos x="25" y="28"/>
              </a:cxn>
              <a:cxn ang="0">
                <a:pos x="28" y="28"/>
              </a:cxn>
              <a:cxn ang="0">
                <a:pos x="28" y="24"/>
              </a:cxn>
              <a:cxn ang="0">
                <a:pos x="32" y="24"/>
              </a:cxn>
              <a:cxn ang="0">
                <a:pos x="32" y="21"/>
              </a:cxn>
              <a:cxn ang="0">
                <a:pos x="32" y="17"/>
              </a:cxn>
              <a:cxn ang="0">
                <a:pos x="32" y="14"/>
              </a:cxn>
              <a:cxn ang="0">
                <a:pos x="32" y="14"/>
              </a:cxn>
            </a:cxnLst>
            <a:rect l="0" t="0" r="r" b="b"/>
            <a:pathLst>
              <a:path w="32" h="31">
                <a:moveTo>
                  <a:pt x="32" y="14"/>
                </a:moveTo>
                <a:lnTo>
                  <a:pt x="32" y="14"/>
                </a:lnTo>
                <a:lnTo>
                  <a:pt x="32" y="10"/>
                </a:lnTo>
                <a:lnTo>
                  <a:pt x="32" y="7"/>
                </a:lnTo>
                <a:lnTo>
                  <a:pt x="28" y="7"/>
                </a:lnTo>
                <a:lnTo>
                  <a:pt x="28" y="3"/>
                </a:lnTo>
                <a:lnTo>
                  <a:pt x="25" y="3"/>
                </a:lnTo>
                <a:lnTo>
                  <a:pt x="25" y="0"/>
                </a:lnTo>
                <a:lnTo>
                  <a:pt x="21" y="0"/>
                </a:lnTo>
                <a:lnTo>
                  <a:pt x="18" y="0"/>
                </a:lnTo>
                <a:lnTo>
                  <a:pt x="14" y="0"/>
                </a:lnTo>
                <a:lnTo>
                  <a:pt x="14" y="0"/>
                </a:lnTo>
                <a:lnTo>
                  <a:pt x="11" y="0"/>
                </a:lnTo>
                <a:lnTo>
                  <a:pt x="7" y="0"/>
                </a:lnTo>
                <a:lnTo>
                  <a:pt x="7" y="3"/>
                </a:lnTo>
                <a:lnTo>
                  <a:pt x="4" y="3"/>
                </a:lnTo>
                <a:lnTo>
                  <a:pt x="4" y="7"/>
                </a:lnTo>
                <a:lnTo>
                  <a:pt x="0" y="7"/>
                </a:lnTo>
                <a:lnTo>
                  <a:pt x="0" y="10"/>
                </a:lnTo>
                <a:lnTo>
                  <a:pt x="0" y="14"/>
                </a:lnTo>
                <a:lnTo>
                  <a:pt x="0" y="14"/>
                </a:lnTo>
                <a:lnTo>
                  <a:pt x="0" y="17"/>
                </a:lnTo>
                <a:lnTo>
                  <a:pt x="0" y="21"/>
                </a:lnTo>
                <a:lnTo>
                  <a:pt x="0" y="24"/>
                </a:lnTo>
                <a:lnTo>
                  <a:pt x="4" y="24"/>
                </a:lnTo>
                <a:lnTo>
                  <a:pt x="4" y="28"/>
                </a:lnTo>
                <a:lnTo>
                  <a:pt x="7" y="28"/>
                </a:lnTo>
                <a:lnTo>
                  <a:pt x="7" y="31"/>
                </a:lnTo>
                <a:lnTo>
                  <a:pt x="11" y="31"/>
                </a:lnTo>
                <a:lnTo>
                  <a:pt x="14" y="31"/>
                </a:lnTo>
                <a:lnTo>
                  <a:pt x="14" y="31"/>
                </a:lnTo>
                <a:lnTo>
                  <a:pt x="18" y="31"/>
                </a:lnTo>
                <a:lnTo>
                  <a:pt x="21" y="31"/>
                </a:lnTo>
                <a:lnTo>
                  <a:pt x="25" y="31"/>
                </a:lnTo>
                <a:lnTo>
                  <a:pt x="25" y="28"/>
                </a:lnTo>
                <a:lnTo>
                  <a:pt x="28" y="28"/>
                </a:lnTo>
                <a:lnTo>
                  <a:pt x="28" y="24"/>
                </a:lnTo>
                <a:lnTo>
                  <a:pt x="32" y="24"/>
                </a:lnTo>
                <a:lnTo>
                  <a:pt x="32" y="21"/>
                </a:lnTo>
                <a:lnTo>
                  <a:pt x="32" y="17"/>
                </a:lnTo>
                <a:lnTo>
                  <a:pt x="32" y="14"/>
                </a:lnTo>
                <a:lnTo>
                  <a:pt x="32" y="14"/>
                </a:lnTo>
              </a:path>
            </a:pathLst>
          </a:custGeom>
          <a:noFill/>
          <a:ln w="11113">
            <a:solidFill>
              <a:srgbClr val="000000"/>
            </a:solidFill>
            <a:prstDash val="solid"/>
            <a:round/>
            <a:headEnd/>
            <a:tailEnd/>
          </a:ln>
        </p:spPr>
        <p:txBody>
          <a:bodyPr/>
          <a:lstStyle/>
          <a:p>
            <a:endParaRPr lang="zh-CN" altLang="en-US"/>
          </a:p>
        </p:txBody>
      </p:sp>
      <p:sp>
        <p:nvSpPr>
          <p:cNvPr id="99" name="Freeform 97"/>
          <p:cNvSpPr>
            <a:spLocks/>
          </p:cNvSpPr>
          <p:nvPr/>
        </p:nvSpPr>
        <p:spPr bwMode="auto">
          <a:xfrm>
            <a:off x="2870573" y="2790280"/>
            <a:ext cx="50800" cy="49213"/>
          </a:xfrm>
          <a:custGeom>
            <a:avLst/>
            <a:gdLst/>
            <a:ahLst/>
            <a:cxnLst>
              <a:cxn ang="0">
                <a:pos x="32" y="14"/>
              </a:cxn>
              <a:cxn ang="0">
                <a:pos x="32" y="17"/>
              </a:cxn>
              <a:cxn ang="0">
                <a:pos x="32" y="21"/>
              </a:cxn>
              <a:cxn ang="0">
                <a:pos x="32" y="24"/>
              </a:cxn>
              <a:cxn ang="0">
                <a:pos x="28" y="24"/>
              </a:cxn>
              <a:cxn ang="0">
                <a:pos x="28" y="28"/>
              </a:cxn>
              <a:cxn ang="0">
                <a:pos x="25" y="28"/>
              </a:cxn>
              <a:cxn ang="0">
                <a:pos x="25" y="31"/>
              </a:cxn>
              <a:cxn ang="0">
                <a:pos x="21" y="31"/>
              </a:cxn>
              <a:cxn ang="0">
                <a:pos x="17" y="31"/>
              </a:cxn>
              <a:cxn ang="0">
                <a:pos x="17" y="31"/>
              </a:cxn>
              <a:cxn ang="0">
                <a:pos x="14" y="31"/>
              </a:cxn>
              <a:cxn ang="0">
                <a:pos x="10" y="31"/>
              </a:cxn>
              <a:cxn ang="0">
                <a:pos x="10" y="31"/>
              </a:cxn>
              <a:cxn ang="0">
                <a:pos x="7" y="28"/>
              </a:cxn>
              <a:cxn ang="0">
                <a:pos x="3" y="28"/>
              </a:cxn>
              <a:cxn ang="0">
                <a:pos x="3" y="24"/>
              </a:cxn>
              <a:cxn ang="0">
                <a:pos x="3" y="24"/>
              </a:cxn>
              <a:cxn ang="0">
                <a:pos x="0" y="21"/>
              </a:cxn>
              <a:cxn ang="0">
                <a:pos x="0" y="17"/>
              </a:cxn>
              <a:cxn ang="0">
                <a:pos x="0" y="14"/>
              </a:cxn>
              <a:cxn ang="0">
                <a:pos x="0" y="14"/>
              </a:cxn>
              <a:cxn ang="0">
                <a:pos x="0" y="10"/>
              </a:cxn>
              <a:cxn ang="0">
                <a:pos x="3" y="7"/>
              </a:cxn>
              <a:cxn ang="0">
                <a:pos x="3" y="7"/>
              </a:cxn>
              <a:cxn ang="0">
                <a:pos x="3" y="3"/>
              </a:cxn>
              <a:cxn ang="0">
                <a:pos x="7" y="3"/>
              </a:cxn>
              <a:cxn ang="0">
                <a:pos x="10" y="0"/>
              </a:cxn>
              <a:cxn ang="0">
                <a:pos x="10" y="0"/>
              </a:cxn>
              <a:cxn ang="0">
                <a:pos x="14" y="0"/>
              </a:cxn>
              <a:cxn ang="0">
                <a:pos x="17" y="0"/>
              </a:cxn>
              <a:cxn ang="0">
                <a:pos x="17" y="0"/>
              </a:cxn>
              <a:cxn ang="0">
                <a:pos x="21" y="0"/>
              </a:cxn>
              <a:cxn ang="0">
                <a:pos x="25" y="0"/>
              </a:cxn>
              <a:cxn ang="0">
                <a:pos x="25" y="3"/>
              </a:cxn>
              <a:cxn ang="0">
                <a:pos x="28" y="3"/>
              </a:cxn>
              <a:cxn ang="0">
                <a:pos x="28" y="7"/>
              </a:cxn>
              <a:cxn ang="0">
                <a:pos x="32" y="7"/>
              </a:cxn>
              <a:cxn ang="0">
                <a:pos x="32" y="10"/>
              </a:cxn>
              <a:cxn ang="0">
                <a:pos x="32" y="14"/>
              </a:cxn>
              <a:cxn ang="0">
                <a:pos x="32" y="14"/>
              </a:cxn>
            </a:cxnLst>
            <a:rect l="0" t="0" r="r" b="b"/>
            <a:pathLst>
              <a:path w="32" h="31">
                <a:moveTo>
                  <a:pt x="32" y="14"/>
                </a:moveTo>
                <a:lnTo>
                  <a:pt x="32" y="17"/>
                </a:lnTo>
                <a:lnTo>
                  <a:pt x="32" y="21"/>
                </a:lnTo>
                <a:lnTo>
                  <a:pt x="32" y="24"/>
                </a:lnTo>
                <a:lnTo>
                  <a:pt x="28" y="24"/>
                </a:lnTo>
                <a:lnTo>
                  <a:pt x="28" y="28"/>
                </a:lnTo>
                <a:lnTo>
                  <a:pt x="25" y="28"/>
                </a:lnTo>
                <a:lnTo>
                  <a:pt x="25" y="31"/>
                </a:lnTo>
                <a:lnTo>
                  <a:pt x="21" y="31"/>
                </a:lnTo>
                <a:lnTo>
                  <a:pt x="17" y="31"/>
                </a:lnTo>
                <a:lnTo>
                  <a:pt x="17" y="31"/>
                </a:lnTo>
                <a:lnTo>
                  <a:pt x="14" y="31"/>
                </a:lnTo>
                <a:lnTo>
                  <a:pt x="10" y="31"/>
                </a:lnTo>
                <a:lnTo>
                  <a:pt x="10" y="31"/>
                </a:lnTo>
                <a:lnTo>
                  <a:pt x="7" y="28"/>
                </a:lnTo>
                <a:lnTo>
                  <a:pt x="3" y="28"/>
                </a:lnTo>
                <a:lnTo>
                  <a:pt x="3" y="24"/>
                </a:lnTo>
                <a:lnTo>
                  <a:pt x="3" y="24"/>
                </a:lnTo>
                <a:lnTo>
                  <a:pt x="0" y="21"/>
                </a:lnTo>
                <a:lnTo>
                  <a:pt x="0" y="17"/>
                </a:lnTo>
                <a:lnTo>
                  <a:pt x="0" y="14"/>
                </a:lnTo>
                <a:lnTo>
                  <a:pt x="0" y="14"/>
                </a:lnTo>
                <a:lnTo>
                  <a:pt x="0" y="10"/>
                </a:lnTo>
                <a:lnTo>
                  <a:pt x="3" y="7"/>
                </a:lnTo>
                <a:lnTo>
                  <a:pt x="3" y="7"/>
                </a:lnTo>
                <a:lnTo>
                  <a:pt x="3" y="3"/>
                </a:lnTo>
                <a:lnTo>
                  <a:pt x="7" y="3"/>
                </a:lnTo>
                <a:lnTo>
                  <a:pt x="10" y="0"/>
                </a:lnTo>
                <a:lnTo>
                  <a:pt x="10" y="0"/>
                </a:lnTo>
                <a:lnTo>
                  <a:pt x="14" y="0"/>
                </a:lnTo>
                <a:lnTo>
                  <a:pt x="17" y="0"/>
                </a:lnTo>
                <a:lnTo>
                  <a:pt x="17" y="0"/>
                </a:lnTo>
                <a:lnTo>
                  <a:pt x="21" y="0"/>
                </a:lnTo>
                <a:lnTo>
                  <a:pt x="25" y="0"/>
                </a:lnTo>
                <a:lnTo>
                  <a:pt x="25" y="3"/>
                </a:lnTo>
                <a:lnTo>
                  <a:pt x="28" y="3"/>
                </a:lnTo>
                <a:lnTo>
                  <a:pt x="28" y="7"/>
                </a:lnTo>
                <a:lnTo>
                  <a:pt x="32" y="7"/>
                </a:lnTo>
                <a:lnTo>
                  <a:pt x="32" y="10"/>
                </a:lnTo>
                <a:lnTo>
                  <a:pt x="32" y="14"/>
                </a:lnTo>
                <a:lnTo>
                  <a:pt x="32" y="14"/>
                </a:lnTo>
                <a:close/>
              </a:path>
            </a:pathLst>
          </a:custGeom>
          <a:solidFill>
            <a:srgbClr val="000000"/>
          </a:solidFill>
          <a:ln w="9525">
            <a:noFill/>
            <a:round/>
            <a:headEnd/>
            <a:tailEnd/>
          </a:ln>
        </p:spPr>
        <p:txBody>
          <a:bodyPr/>
          <a:lstStyle/>
          <a:p>
            <a:endParaRPr lang="zh-CN" altLang="en-US"/>
          </a:p>
        </p:txBody>
      </p:sp>
      <p:sp>
        <p:nvSpPr>
          <p:cNvPr id="100" name="Freeform 98"/>
          <p:cNvSpPr>
            <a:spLocks/>
          </p:cNvSpPr>
          <p:nvPr/>
        </p:nvSpPr>
        <p:spPr bwMode="auto">
          <a:xfrm>
            <a:off x="2870573" y="2790280"/>
            <a:ext cx="50800" cy="49213"/>
          </a:xfrm>
          <a:custGeom>
            <a:avLst/>
            <a:gdLst/>
            <a:ahLst/>
            <a:cxnLst>
              <a:cxn ang="0">
                <a:pos x="32" y="14"/>
              </a:cxn>
              <a:cxn ang="0">
                <a:pos x="32" y="14"/>
              </a:cxn>
              <a:cxn ang="0">
                <a:pos x="32" y="10"/>
              </a:cxn>
              <a:cxn ang="0">
                <a:pos x="32" y="7"/>
              </a:cxn>
              <a:cxn ang="0">
                <a:pos x="28" y="7"/>
              </a:cxn>
              <a:cxn ang="0">
                <a:pos x="28" y="3"/>
              </a:cxn>
              <a:cxn ang="0">
                <a:pos x="25" y="3"/>
              </a:cxn>
              <a:cxn ang="0">
                <a:pos x="25" y="0"/>
              </a:cxn>
              <a:cxn ang="0">
                <a:pos x="21" y="0"/>
              </a:cxn>
              <a:cxn ang="0">
                <a:pos x="17" y="0"/>
              </a:cxn>
              <a:cxn ang="0">
                <a:pos x="17" y="0"/>
              </a:cxn>
              <a:cxn ang="0">
                <a:pos x="14" y="0"/>
              </a:cxn>
              <a:cxn ang="0">
                <a:pos x="10" y="0"/>
              </a:cxn>
              <a:cxn ang="0">
                <a:pos x="10" y="0"/>
              </a:cxn>
              <a:cxn ang="0">
                <a:pos x="7" y="3"/>
              </a:cxn>
              <a:cxn ang="0">
                <a:pos x="3" y="3"/>
              </a:cxn>
              <a:cxn ang="0">
                <a:pos x="3" y="7"/>
              </a:cxn>
              <a:cxn ang="0">
                <a:pos x="3" y="7"/>
              </a:cxn>
              <a:cxn ang="0">
                <a:pos x="0" y="10"/>
              </a:cxn>
              <a:cxn ang="0">
                <a:pos x="0" y="14"/>
              </a:cxn>
              <a:cxn ang="0">
                <a:pos x="0" y="14"/>
              </a:cxn>
              <a:cxn ang="0">
                <a:pos x="0" y="17"/>
              </a:cxn>
              <a:cxn ang="0">
                <a:pos x="0" y="21"/>
              </a:cxn>
              <a:cxn ang="0">
                <a:pos x="3" y="24"/>
              </a:cxn>
              <a:cxn ang="0">
                <a:pos x="3" y="24"/>
              </a:cxn>
              <a:cxn ang="0">
                <a:pos x="3" y="28"/>
              </a:cxn>
              <a:cxn ang="0">
                <a:pos x="7" y="28"/>
              </a:cxn>
              <a:cxn ang="0">
                <a:pos x="10" y="31"/>
              </a:cxn>
              <a:cxn ang="0">
                <a:pos x="10" y="31"/>
              </a:cxn>
              <a:cxn ang="0">
                <a:pos x="14" y="31"/>
              </a:cxn>
              <a:cxn ang="0">
                <a:pos x="17" y="31"/>
              </a:cxn>
              <a:cxn ang="0">
                <a:pos x="17" y="31"/>
              </a:cxn>
              <a:cxn ang="0">
                <a:pos x="21" y="31"/>
              </a:cxn>
              <a:cxn ang="0">
                <a:pos x="25" y="31"/>
              </a:cxn>
              <a:cxn ang="0">
                <a:pos x="25" y="28"/>
              </a:cxn>
              <a:cxn ang="0">
                <a:pos x="28" y="28"/>
              </a:cxn>
              <a:cxn ang="0">
                <a:pos x="28" y="24"/>
              </a:cxn>
              <a:cxn ang="0">
                <a:pos x="32" y="24"/>
              </a:cxn>
              <a:cxn ang="0">
                <a:pos x="32" y="21"/>
              </a:cxn>
              <a:cxn ang="0">
                <a:pos x="32" y="17"/>
              </a:cxn>
              <a:cxn ang="0">
                <a:pos x="32" y="14"/>
              </a:cxn>
              <a:cxn ang="0">
                <a:pos x="32" y="14"/>
              </a:cxn>
            </a:cxnLst>
            <a:rect l="0" t="0" r="r" b="b"/>
            <a:pathLst>
              <a:path w="32" h="31">
                <a:moveTo>
                  <a:pt x="32" y="14"/>
                </a:moveTo>
                <a:lnTo>
                  <a:pt x="32" y="14"/>
                </a:lnTo>
                <a:lnTo>
                  <a:pt x="32" y="10"/>
                </a:lnTo>
                <a:lnTo>
                  <a:pt x="32" y="7"/>
                </a:lnTo>
                <a:lnTo>
                  <a:pt x="28" y="7"/>
                </a:lnTo>
                <a:lnTo>
                  <a:pt x="28" y="3"/>
                </a:lnTo>
                <a:lnTo>
                  <a:pt x="25" y="3"/>
                </a:lnTo>
                <a:lnTo>
                  <a:pt x="25" y="0"/>
                </a:lnTo>
                <a:lnTo>
                  <a:pt x="21" y="0"/>
                </a:lnTo>
                <a:lnTo>
                  <a:pt x="17" y="0"/>
                </a:lnTo>
                <a:lnTo>
                  <a:pt x="17" y="0"/>
                </a:lnTo>
                <a:lnTo>
                  <a:pt x="14" y="0"/>
                </a:lnTo>
                <a:lnTo>
                  <a:pt x="10" y="0"/>
                </a:lnTo>
                <a:lnTo>
                  <a:pt x="10" y="0"/>
                </a:lnTo>
                <a:lnTo>
                  <a:pt x="7" y="3"/>
                </a:lnTo>
                <a:lnTo>
                  <a:pt x="3" y="3"/>
                </a:lnTo>
                <a:lnTo>
                  <a:pt x="3" y="7"/>
                </a:lnTo>
                <a:lnTo>
                  <a:pt x="3" y="7"/>
                </a:lnTo>
                <a:lnTo>
                  <a:pt x="0" y="10"/>
                </a:lnTo>
                <a:lnTo>
                  <a:pt x="0" y="14"/>
                </a:lnTo>
                <a:lnTo>
                  <a:pt x="0" y="14"/>
                </a:lnTo>
                <a:lnTo>
                  <a:pt x="0" y="17"/>
                </a:lnTo>
                <a:lnTo>
                  <a:pt x="0" y="21"/>
                </a:lnTo>
                <a:lnTo>
                  <a:pt x="3" y="24"/>
                </a:lnTo>
                <a:lnTo>
                  <a:pt x="3" y="24"/>
                </a:lnTo>
                <a:lnTo>
                  <a:pt x="3" y="28"/>
                </a:lnTo>
                <a:lnTo>
                  <a:pt x="7" y="28"/>
                </a:lnTo>
                <a:lnTo>
                  <a:pt x="10" y="31"/>
                </a:lnTo>
                <a:lnTo>
                  <a:pt x="10" y="31"/>
                </a:lnTo>
                <a:lnTo>
                  <a:pt x="14" y="31"/>
                </a:lnTo>
                <a:lnTo>
                  <a:pt x="17" y="31"/>
                </a:lnTo>
                <a:lnTo>
                  <a:pt x="17" y="31"/>
                </a:lnTo>
                <a:lnTo>
                  <a:pt x="21" y="31"/>
                </a:lnTo>
                <a:lnTo>
                  <a:pt x="25" y="31"/>
                </a:lnTo>
                <a:lnTo>
                  <a:pt x="25" y="28"/>
                </a:lnTo>
                <a:lnTo>
                  <a:pt x="28" y="28"/>
                </a:lnTo>
                <a:lnTo>
                  <a:pt x="28" y="24"/>
                </a:lnTo>
                <a:lnTo>
                  <a:pt x="32" y="24"/>
                </a:lnTo>
                <a:lnTo>
                  <a:pt x="32" y="21"/>
                </a:lnTo>
                <a:lnTo>
                  <a:pt x="32" y="17"/>
                </a:lnTo>
                <a:lnTo>
                  <a:pt x="32" y="14"/>
                </a:lnTo>
                <a:lnTo>
                  <a:pt x="32" y="14"/>
                </a:lnTo>
              </a:path>
            </a:pathLst>
          </a:custGeom>
          <a:noFill/>
          <a:ln w="11113">
            <a:solidFill>
              <a:srgbClr val="000000"/>
            </a:solidFill>
            <a:prstDash val="solid"/>
            <a:round/>
            <a:headEnd/>
            <a:tailEnd/>
          </a:ln>
        </p:spPr>
        <p:txBody>
          <a:bodyPr/>
          <a:lstStyle/>
          <a:p>
            <a:endParaRPr lang="zh-CN" altLang="en-US"/>
          </a:p>
        </p:txBody>
      </p:sp>
      <p:sp>
        <p:nvSpPr>
          <p:cNvPr id="101" name="Freeform 99"/>
          <p:cNvSpPr>
            <a:spLocks/>
          </p:cNvSpPr>
          <p:nvPr/>
        </p:nvSpPr>
        <p:spPr bwMode="auto">
          <a:xfrm>
            <a:off x="3838948" y="2941092"/>
            <a:ext cx="841375" cy="106363"/>
          </a:xfrm>
          <a:custGeom>
            <a:avLst/>
            <a:gdLst/>
            <a:ahLst/>
            <a:cxnLst>
              <a:cxn ang="0">
                <a:pos x="0" y="0"/>
              </a:cxn>
              <a:cxn ang="0">
                <a:pos x="530" y="3"/>
              </a:cxn>
              <a:cxn ang="0">
                <a:pos x="530" y="67"/>
              </a:cxn>
              <a:cxn ang="0">
                <a:pos x="4" y="67"/>
              </a:cxn>
              <a:cxn ang="0">
                <a:pos x="4" y="3"/>
              </a:cxn>
              <a:cxn ang="0">
                <a:pos x="4" y="3"/>
              </a:cxn>
              <a:cxn ang="0">
                <a:pos x="0" y="0"/>
              </a:cxn>
            </a:cxnLst>
            <a:rect l="0" t="0" r="r" b="b"/>
            <a:pathLst>
              <a:path w="530" h="67">
                <a:moveTo>
                  <a:pt x="0" y="0"/>
                </a:moveTo>
                <a:lnTo>
                  <a:pt x="530" y="3"/>
                </a:lnTo>
                <a:lnTo>
                  <a:pt x="530" y="67"/>
                </a:lnTo>
                <a:lnTo>
                  <a:pt x="4" y="67"/>
                </a:lnTo>
                <a:lnTo>
                  <a:pt x="4" y="3"/>
                </a:lnTo>
                <a:lnTo>
                  <a:pt x="4" y="3"/>
                </a:lnTo>
                <a:lnTo>
                  <a:pt x="0" y="0"/>
                </a:lnTo>
                <a:close/>
              </a:path>
            </a:pathLst>
          </a:custGeom>
          <a:solidFill>
            <a:srgbClr val="FFFFFF"/>
          </a:solidFill>
          <a:ln w="9525">
            <a:noFill/>
            <a:round/>
            <a:headEnd/>
            <a:tailEnd/>
          </a:ln>
        </p:spPr>
        <p:txBody>
          <a:bodyPr/>
          <a:lstStyle/>
          <a:p>
            <a:endParaRPr lang="zh-CN" altLang="en-US"/>
          </a:p>
        </p:txBody>
      </p:sp>
      <p:sp>
        <p:nvSpPr>
          <p:cNvPr id="102" name="Freeform 100" descr="Light downward diagonal"/>
          <p:cNvSpPr>
            <a:spLocks/>
          </p:cNvSpPr>
          <p:nvPr/>
        </p:nvSpPr>
        <p:spPr bwMode="auto">
          <a:xfrm>
            <a:off x="3838948" y="2941092"/>
            <a:ext cx="841375" cy="106363"/>
          </a:xfrm>
          <a:custGeom>
            <a:avLst/>
            <a:gdLst/>
            <a:ahLst/>
            <a:cxnLst>
              <a:cxn ang="0">
                <a:pos x="0" y="0"/>
              </a:cxn>
              <a:cxn ang="0">
                <a:pos x="530" y="3"/>
              </a:cxn>
              <a:cxn ang="0">
                <a:pos x="530" y="67"/>
              </a:cxn>
              <a:cxn ang="0">
                <a:pos x="4" y="67"/>
              </a:cxn>
              <a:cxn ang="0">
                <a:pos x="4" y="3"/>
              </a:cxn>
              <a:cxn ang="0">
                <a:pos x="4" y="3"/>
              </a:cxn>
              <a:cxn ang="0">
                <a:pos x="0" y="0"/>
              </a:cxn>
            </a:cxnLst>
            <a:rect l="0" t="0" r="r" b="b"/>
            <a:pathLst>
              <a:path w="530" h="67">
                <a:moveTo>
                  <a:pt x="0" y="0"/>
                </a:moveTo>
                <a:lnTo>
                  <a:pt x="530" y="3"/>
                </a:lnTo>
                <a:lnTo>
                  <a:pt x="530" y="67"/>
                </a:lnTo>
                <a:lnTo>
                  <a:pt x="4" y="67"/>
                </a:lnTo>
                <a:lnTo>
                  <a:pt x="4" y="3"/>
                </a:lnTo>
                <a:lnTo>
                  <a:pt x="4" y="3"/>
                </a:lnTo>
                <a:lnTo>
                  <a:pt x="0" y="0"/>
                </a:lnTo>
                <a:close/>
              </a:path>
            </a:pathLst>
          </a:custGeom>
          <a:pattFill prst="ltDnDiag">
            <a:fgClr>
              <a:schemeClr val="tx1"/>
            </a:fgClr>
            <a:bgClr>
              <a:srgbClr val="FFFFFF"/>
            </a:bgClr>
          </a:pattFill>
          <a:ln w="9525">
            <a:noFill/>
            <a:round/>
            <a:headEnd/>
            <a:tailEnd/>
          </a:ln>
        </p:spPr>
        <p:txBody>
          <a:bodyPr/>
          <a:lstStyle/>
          <a:p>
            <a:endParaRPr lang="zh-CN" altLang="en-US"/>
          </a:p>
        </p:txBody>
      </p:sp>
      <p:sp>
        <p:nvSpPr>
          <p:cNvPr id="103" name="Freeform 101"/>
          <p:cNvSpPr>
            <a:spLocks/>
          </p:cNvSpPr>
          <p:nvPr/>
        </p:nvSpPr>
        <p:spPr bwMode="auto">
          <a:xfrm>
            <a:off x="3838948" y="2941092"/>
            <a:ext cx="841375" cy="106363"/>
          </a:xfrm>
          <a:custGeom>
            <a:avLst/>
            <a:gdLst/>
            <a:ahLst/>
            <a:cxnLst>
              <a:cxn ang="0">
                <a:pos x="0" y="0"/>
              </a:cxn>
              <a:cxn ang="0">
                <a:pos x="530" y="3"/>
              </a:cxn>
              <a:cxn ang="0">
                <a:pos x="530" y="67"/>
              </a:cxn>
              <a:cxn ang="0">
                <a:pos x="4" y="67"/>
              </a:cxn>
              <a:cxn ang="0">
                <a:pos x="4" y="3"/>
              </a:cxn>
              <a:cxn ang="0">
                <a:pos x="4" y="3"/>
              </a:cxn>
            </a:cxnLst>
            <a:rect l="0" t="0" r="r" b="b"/>
            <a:pathLst>
              <a:path w="530" h="67">
                <a:moveTo>
                  <a:pt x="0" y="0"/>
                </a:moveTo>
                <a:lnTo>
                  <a:pt x="530" y="3"/>
                </a:lnTo>
                <a:lnTo>
                  <a:pt x="530" y="67"/>
                </a:lnTo>
                <a:lnTo>
                  <a:pt x="4" y="67"/>
                </a:lnTo>
                <a:lnTo>
                  <a:pt x="4" y="3"/>
                </a:lnTo>
                <a:lnTo>
                  <a:pt x="4" y="3"/>
                </a:lnTo>
              </a:path>
            </a:pathLst>
          </a:custGeom>
          <a:noFill/>
          <a:ln w="11113">
            <a:solidFill>
              <a:srgbClr val="000000"/>
            </a:solidFill>
            <a:prstDash val="solid"/>
            <a:round/>
            <a:headEnd/>
            <a:tailEnd/>
          </a:ln>
        </p:spPr>
        <p:txBody>
          <a:bodyPr/>
          <a:lstStyle/>
          <a:p>
            <a:endParaRPr lang="zh-CN" altLang="en-US"/>
          </a:p>
        </p:txBody>
      </p:sp>
      <p:sp>
        <p:nvSpPr>
          <p:cNvPr id="104" name="Freeform 102"/>
          <p:cNvSpPr>
            <a:spLocks/>
          </p:cNvSpPr>
          <p:nvPr/>
        </p:nvSpPr>
        <p:spPr bwMode="auto">
          <a:xfrm>
            <a:off x="2141910" y="3147467"/>
            <a:ext cx="1681163" cy="112713"/>
          </a:xfrm>
          <a:custGeom>
            <a:avLst/>
            <a:gdLst/>
            <a:ahLst/>
            <a:cxnLst>
              <a:cxn ang="0">
                <a:pos x="0" y="0"/>
              </a:cxn>
              <a:cxn ang="0">
                <a:pos x="1059" y="0"/>
              </a:cxn>
              <a:cxn ang="0">
                <a:pos x="1059" y="71"/>
              </a:cxn>
              <a:cxn ang="0">
                <a:pos x="0" y="71"/>
              </a:cxn>
              <a:cxn ang="0">
                <a:pos x="0" y="0"/>
              </a:cxn>
              <a:cxn ang="0">
                <a:pos x="0" y="0"/>
              </a:cxn>
            </a:cxnLst>
            <a:rect l="0" t="0" r="r" b="b"/>
            <a:pathLst>
              <a:path w="1059" h="71">
                <a:moveTo>
                  <a:pt x="0" y="0"/>
                </a:moveTo>
                <a:lnTo>
                  <a:pt x="1059" y="0"/>
                </a:lnTo>
                <a:lnTo>
                  <a:pt x="1059" y="71"/>
                </a:lnTo>
                <a:lnTo>
                  <a:pt x="0" y="71"/>
                </a:lnTo>
                <a:lnTo>
                  <a:pt x="0" y="0"/>
                </a:lnTo>
                <a:lnTo>
                  <a:pt x="0" y="0"/>
                </a:lnTo>
                <a:close/>
              </a:path>
            </a:pathLst>
          </a:custGeom>
          <a:solidFill>
            <a:srgbClr val="E6E6E6"/>
          </a:solidFill>
          <a:ln w="9525">
            <a:noFill/>
            <a:round/>
            <a:headEnd/>
            <a:tailEnd/>
          </a:ln>
        </p:spPr>
        <p:txBody>
          <a:bodyPr/>
          <a:lstStyle/>
          <a:p>
            <a:endParaRPr lang="zh-CN" altLang="en-US"/>
          </a:p>
        </p:txBody>
      </p:sp>
      <p:sp>
        <p:nvSpPr>
          <p:cNvPr id="105" name="Freeform 103"/>
          <p:cNvSpPr>
            <a:spLocks/>
          </p:cNvSpPr>
          <p:nvPr/>
        </p:nvSpPr>
        <p:spPr bwMode="auto">
          <a:xfrm>
            <a:off x="2141910" y="3147467"/>
            <a:ext cx="1681163" cy="112713"/>
          </a:xfrm>
          <a:custGeom>
            <a:avLst/>
            <a:gdLst/>
            <a:ahLst/>
            <a:cxnLst>
              <a:cxn ang="0">
                <a:pos x="0" y="0"/>
              </a:cxn>
              <a:cxn ang="0">
                <a:pos x="1059" y="0"/>
              </a:cxn>
              <a:cxn ang="0">
                <a:pos x="1059" y="71"/>
              </a:cxn>
              <a:cxn ang="0">
                <a:pos x="0" y="71"/>
              </a:cxn>
              <a:cxn ang="0">
                <a:pos x="0" y="0"/>
              </a:cxn>
              <a:cxn ang="0">
                <a:pos x="0" y="0"/>
              </a:cxn>
            </a:cxnLst>
            <a:rect l="0" t="0" r="r" b="b"/>
            <a:pathLst>
              <a:path w="1059" h="71">
                <a:moveTo>
                  <a:pt x="0" y="0"/>
                </a:moveTo>
                <a:lnTo>
                  <a:pt x="1059" y="0"/>
                </a:lnTo>
                <a:lnTo>
                  <a:pt x="1059" y="71"/>
                </a:lnTo>
                <a:lnTo>
                  <a:pt x="0" y="71"/>
                </a:lnTo>
                <a:lnTo>
                  <a:pt x="0" y="0"/>
                </a:lnTo>
                <a:lnTo>
                  <a:pt x="0" y="0"/>
                </a:lnTo>
              </a:path>
            </a:pathLst>
          </a:custGeom>
          <a:noFill/>
          <a:ln w="11113">
            <a:solidFill>
              <a:srgbClr val="000000"/>
            </a:solidFill>
            <a:prstDash val="solid"/>
            <a:round/>
            <a:headEnd/>
            <a:tailEnd/>
          </a:ln>
        </p:spPr>
        <p:txBody>
          <a:bodyPr/>
          <a:lstStyle/>
          <a:p>
            <a:endParaRPr lang="zh-CN" altLang="en-US"/>
          </a:p>
        </p:txBody>
      </p:sp>
      <p:sp>
        <p:nvSpPr>
          <p:cNvPr id="106" name="Freeform 104"/>
          <p:cNvSpPr>
            <a:spLocks/>
          </p:cNvSpPr>
          <p:nvPr/>
        </p:nvSpPr>
        <p:spPr bwMode="auto">
          <a:xfrm>
            <a:off x="3834186" y="3153817"/>
            <a:ext cx="835025" cy="106363"/>
          </a:xfrm>
          <a:custGeom>
            <a:avLst/>
            <a:gdLst/>
            <a:ahLst/>
            <a:cxnLst>
              <a:cxn ang="0">
                <a:pos x="0" y="0"/>
              </a:cxn>
              <a:cxn ang="0">
                <a:pos x="526" y="0"/>
              </a:cxn>
              <a:cxn ang="0">
                <a:pos x="526" y="67"/>
              </a:cxn>
              <a:cxn ang="0">
                <a:pos x="3" y="67"/>
              </a:cxn>
              <a:cxn ang="0">
                <a:pos x="3" y="0"/>
              </a:cxn>
              <a:cxn ang="0">
                <a:pos x="3" y="0"/>
              </a:cxn>
              <a:cxn ang="0">
                <a:pos x="0" y="0"/>
              </a:cxn>
            </a:cxnLst>
            <a:rect l="0" t="0" r="r" b="b"/>
            <a:pathLst>
              <a:path w="526" h="67">
                <a:moveTo>
                  <a:pt x="0" y="0"/>
                </a:moveTo>
                <a:lnTo>
                  <a:pt x="526" y="0"/>
                </a:lnTo>
                <a:lnTo>
                  <a:pt x="526" y="67"/>
                </a:lnTo>
                <a:lnTo>
                  <a:pt x="3" y="67"/>
                </a:lnTo>
                <a:lnTo>
                  <a:pt x="3" y="0"/>
                </a:lnTo>
                <a:lnTo>
                  <a:pt x="3" y="0"/>
                </a:lnTo>
                <a:lnTo>
                  <a:pt x="0" y="0"/>
                </a:lnTo>
                <a:close/>
              </a:path>
            </a:pathLst>
          </a:custGeom>
          <a:solidFill>
            <a:srgbClr val="FFFFFF"/>
          </a:solidFill>
          <a:ln w="9525">
            <a:noFill/>
            <a:round/>
            <a:headEnd/>
            <a:tailEnd/>
          </a:ln>
        </p:spPr>
        <p:txBody>
          <a:bodyPr/>
          <a:lstStyle/>
          <a:p>
            <a:endParaRPr lang="zh-CN" altLang="en-US"/>
          </a:p>
        </p:txBody>
      </p:sp>
      <p:sp>
        <p:nvSpPr>
          <p:cNvPr id="107" name="Freeform 105" descr="Light upward diagonal"/>
          <p:cNvSpPr>
            <a:spLocks/>
          </p:cNvSpPr>
          <p:nvPr/>
        </p:nvSpPr>
        <p:spPr bwMode="auto">
          <a:xfrm>
            <a:off x="3834186" y="3153817"/>
            <a:ext cx="835025" cy="106363"/>
          </a:xfrm>
          <a:custGeom>
            <a:avLst/>
            <a:gdLst/>
            <a:ahLst/>
            <a:cxnLst>
              <a:cxn ang="0">
                <a:pos x="0" y="0"/>
              </a:cxn>
              <a:cxn ang="0">
                <a:pos x="526" y="0"/>
              </a:cxn>
              <a:cxn ang="0">
                <a:pos x="526" y="67"/>
              </a:cxn>
              <a:cxn ang="0">
                <a:pos x="3" y="67"/>
              </a:cxn>
              <a:cxn ang="0">
                <a:pos x="3" y="0"/>
              </a:cxn>
              <a:cxn ang="0">
                <a:pos x="3" y="0"/>
              </a:cxn>
              <a:cxn ang="0">
                <a:pos x="0" y="0"/>
              </a:cxn>
            </a:cxnLst>
            <a:rect l="0" t="0" r="r" b="b"/>
            <a:pathLst>
              <a:path w="526" h="67">
                <a:moveTo>
                  <a:pt x="0" y="0"/>
                </a:moveTo>
                <a:lnTo>
                  <a:pt x="526" y="0"/>
                </a:lnTo>
                <a:lnTo>
                  <a:pt x="526" y="67"/>
                </a:lnTo>
                <a:lnTo>
                  <a:pt x="3" y="67"/>
                </a:lnTo>
                <a:lnTo>
                  <a:pt x="3" y="0"/>
                </a:lnTo>
                <a:lnTo>
                  <a:pt x="3" y="0"/>
                </a:lnTo>
                <a:lnTo>
                  <a:pt x="0" y="0"/>
                </a:lnTo>
                <a:close/>
              </a:path>
            </a:pathLst>
          </a:custGeom>
          <a:pattFill prst="ltUpDiag">
            <a:fgClr>
              <a:schemeClr val="tx1"/>
            </a:fgClr>
            <a:bgClr>
              <a:srgbClr val="FFFFFF"/>
            </a:bgClr>
          </a:pattFill>
          <a:ln w="9525">
            <a:noFill/>
            <a:round/>
            <a:headEnd/>
            <a:tailEnd/>
          </a:ln>
        </p:spPr>
        <p:txBody>
          <a:bodyPr/>
          <a:lstStyle/>
          <a:p>
            <a:endParaRPr lang="zh-CN" altLang="en-US"/>
          </a:p>
        </p:txBody>
      </p:sp>
      <p:sp>
        <p:nvSpPr>
          <p:cNvPr id="108" name="Freeform 106"/>
          <p:cNvSpPr>
            <a:spLocks/>
          </p:cNvSpPr>
          <p:nvPr/>
        </p:nvSpPr>
        <p:spPr bwMode="auto">
          <a:xfrm>
            <a:off x="3834186" y="3153817"/>
            <a:ext cx="835025" cy="106363"/>
          </a:xfrm>
          <a:custGeom>
            <a:avLst/>
            <a:gdLst/>
            <a:ahLst/>
            <a:cxnLst>
              <a:cxn ang="0">
                <a:pos x="0" y="0"/>
              </a:cxn>
              <a:cxn ang="0">
                <a:pos x="526" y="0"/>
              </a:cxn>
              <a:cxn ang="0">
                <a:pos x="526" y="67"/>
              </a:cxn>
              <a:cxn ang="0">
                <a:pos x="3" y="67"/>
              </a:cxn>
              <a:cxn ang="0">
                <a:pos x="3" y="0"/>
              </a:cxn>
              <a:cxn ang="0">
                <a:pos x="3" y="0"/>
              </a:cxn>
            </a:cxnLst>
            <a:rect l="0" t="0" r="r" b="b"/>
            <a:pathLst>
              <a:path w="526" h="67">
                <a:moveTo>
                  <a:pt x="0" y="0"/>
                </a:moveTo>
                <a:lnTo>
                  <a:pt x="526" y="0"/>
                </a:lnTo>
                <a:lnTo>
                  <a:pt x="526" y="67"/>
                </a:lnTo>
                <a:lnTo>
                  <a:pt x="3" y="67"/>
                </a:lnTo>
                <a:lnTo>
                  <a:pt x="3" y="0"/>
                </a:lnTo>
                <a:lnTo>
                  <a:pt x="3" y="0"/>
                </a:lnTo>
              </a:path>
            </a:pathLst>
          </a:custGeom>
          <a:noFill/>
          <a:ln w="11113">
            <a:solidFill>
              <a:srgbClr val="000000"/>
            </a:solidFill>
            <a:prstDash val="solid"/>
            <a:round/>
            <a:headEnd/>
            <a:tailEnd/>
          </a:ln>
        </p:spPr>
        <p:txBody>
          <a:bodyPr/>
          <a:lstStyle/>
          <a:p>
            <a:endParaRPr lang="zh-CN" altLang="en-US"/>
          </a:p>
        </p:txBody>
      </p:sp>
      <p:sp>
        <p:nvSpPr>
          <p:cNvPr id="109" name="Freeform 107"/>
          <p:cNvSpPr>
            <a:spLocks/>
          </p:cNvSpPr>
          <p:nvPr/>
        </p:nvSpPr>
        <p:spPr bwMode="auto">
          <a:xfrm>
            <a:off x="3838948" y="3299867"/>
            <a:ext cx="841375" cy="106363"/>
          </a:xfrm>
          <a:custGeom>
            <a:avLst/>
            <a:gdLst/>
            <a:ahLst/>
            <a:cxnLst>
              <a:cxn ang="0">
                <a:pos x="0" y="0"/>
              </a:cxn>
              <a:cxn ang="0">
                <a:pos x="530" y="3"/>
              </a:cxn>
              <a:cxn ang="0">
                <a:pos x="530" y="67"/>
              </a:cxn>
              <a:cxn ang="0">
                <a:pos x="4" y="67"/>
              </a:cxn>
              <a:cxn ang="0">
                <a:pos x="4" y="3"/>
              </a:cxn>
              <a:cxn ang="0">
                <a:pos x="4" y="3"/>
              </a:cxn>
              <a:cxn ang="0">
                <a:pos x="0" y="0"/>
              </a:cxn>
            </a:cxnLst>
            <a:rect l="0" t="0" r="r" b="b"/>
            <a:pathLst>
              <a:path w="530" h="67">
                <a:moveTo>
                  <a:pt x="0" y="0"/>
                </a:moveTo>
                <a:lnTo>
                  <a:pt x="530" y="3"/>
                </a:lnTo>
                <a:lnTo>
                  <a:pt x="530" y="67"/>
                </a:lnTo>
                <a:lnTo>
                  <a:pt x="4" y="67"/>
                </a:lnTo>
                <a:lnTo>
                  <a:pt x="4" y="3"/>
                </a:lnTo>
                <a:lnTo>
                  <a:pt x="4" y="3"/>
                </a:lnTo>
                <a:lnTo>
                  <a:pt x="0" y="0"/>
                </a:lnTo>
                <a:close/>
              </a:path>
            </a:pathLst>
          </a:custGeom>
          <a:solidFill>
            <a:srgbClr val="FFFFFF"/>
          </a:solidFill>
          <a:ln w="9525">
            <a:noFill/>
            <a:round/>
            <a:headEnd/>
            <a:tailEnd/>
          </a:ln>
        </p:spPr>
        <p:txBody>
          <a:bodyPr/>
          <a:lstStyle/>
          <a:p>
            <a:endParaRPr lang="zh-CN" altLang="en-US"/>
          </a:p>
        </p:txBody>
      </p:sp>
      <p:sp>
        <p:nvSpPr>
          <p:cNvPr id="110" name="Freeform 108"/>
          <p:cNvSpPr>
            <a:spLocks/>
          </p:cNvSpPr>
          <p:nvPr/>
        </p:nvSpPr>
        <p:spPr bwMode="auto">
          <a:xfrm>
            <a:off x="3838948" y="3299867"/>
            <a:ext cx="841375" cy="106363"/>
          </a:xfrm>
          <a:custGeom>
            <a:avLst/>
            <a:gdLst/>
            <a:ahLst/>
            <a:cxnLst>
              <a:cxn ang="0">
                <a:pos x="0" y="0"/>
              </a:cxn>
              <a:cxn ang="0">
                <a:pos x="530" y="3"/>
              </a:cxn>
              <a:cxn ang="0">
                <a:pos x="530" y="67"/>
              </a:cxn>
              <a:cxn ang="0">
                <a:pos x="4" y="67"/>
              </a:cxn>
              <a:cxn ang="0">
                <a:pos x="4" y="3"/>
              </a:cxn>
              <a:cxn ang="0">
                <a:pos x="4" y="3"/>
              </a:cxn>
              <a:cxn ang="0">
                <a:pos x="0" y="0"/>
              </a:cxn>
            </a:cxnLst>
            <a:rect l="0" t="0" r="r" b="b"/>
            <a:pathLst>
              <a:path w="530" h="67">
                <a:moveTo>
                  <a:pt x="0" y="0"/>
                </a:moveTo>
                <a:lnTo>
                  <a:pt x="530" y="3"/>
                </a:lnTo>
                <a:lnTo>
                  <a:pt x="530" y="67"/>
                </a:lnTo>
                <a:lnTo>
                  <a:pt x="4" y="67"/>
                </a:lnTo>
                <a:lnTo>
                  <a:pt x="4" y="3"/>
                </a:lnTo>
                <a:lnTo>
                  <a:pt x="4" y="3"/>
                </a:lnTo>
                <a:lnTo>
                  <a:pt x="0" y="0"/>
                </a:lnTo>
                <a:close/>
              </a:path>
            </a:pathLst>
          </a:custGeom>
          <a:solidFill>
            <a:srgbClr val="FFFFFF"/>
          </a:solidFill>
          <a:ln w="9525">
            <a:noFill/>
            <a:round/>
            <a:headEnd/>
            <a:tailEnd/>
          </a:ln>
        </p:spPr>
        <p:txBody>
          <a:bodyPr/>
          <a:lstStyle/>
          <a:p>
            <a:endParaRPr lang="zh-CN" altLang="en-US"/>
          </a:p>
        </p:txBody>
      </p:sp>
      <p:sp>
        <p:nvSpPr>
          <p:cNvPr id="111" name="Freeform 109" descr="Wide downward diagonal"/>
          <p:cNvSpPr>
            <a:spLocks/>
          </p:cNvSpPr>
          <p:nvPr/>
        </p:nvSpPr>
        <p:spPr bwMode="auto">
          <a:xfrm>
            <a:off x="3838948" y="3299867"/>
            <a:ext cx="841375" cy="106363"/>
          </a:xfrm>
          <a:custGeom>
            <a:avLst/>
            <a:gdLst/>
            <a:ahLst/>
            <a:cxnLst>
              <a:cxn ang="0">
                <a:pos x="0" y="0"/>
              </a:cxn>
              <a:cxn ang="0">
                <a:pos x="530" y="3"/>
              </a:cxn>
              <a:cxn ang="0">
                <a:pos x="530" y="67"/>
              </a:cxn>
              <a:cxn ang="0">
                <a:pos x="4" y="67"/>
              </a:cxn>
              <a:cxn ang="0">
                <a:pos x="4" y="3"/>
              </a:cxn>
              <a:cxn ang="0">
                <a:pos x="4" y="3"/>
              </a:cxn>
            </a:cxnLst>
            <a:rect l="0" t="0" r="r" b="b"/>
            <a:pathLst>
              <a:path w="530" h="67">
                <a:moveTo>
                  <a:pt x="0" y="0"/>
                </a:moveTo>
                <a:lnTo>
                  <a:pt x="530" y="3"/>
                </a:lnTo>
                <a:lnTo>
                  <a:pt x="530" y="67"/>
                </a:lnTo>
                <a:lnTo>
                  <a:pt x="4" y="67"/>
                </a:lnTo>
                <a:lnTo>
                  <a:pt x="4" y="3"/>
                </a:lnTo>
                <a:lnTo>
                  <a:pt x="4" y="3"/>
                </a:lnTo>
              </a:path>
            </a:pathLst>
          </a:custGeom>
          <a:pattFill prst="wdDnDiag">
            <a:fgClr>
              <a:schemeClr val="tx1"/>
            </a:fgClr>
            <a:bgClr>
              <a:schemeClr val="bg1"/>
            </a:bgClr>
          </a:pattFill>
          <a:ln w="11176">
            <a:solidFill>
              <a:srgbClr val="000000"/>
            </a:solidFill>
            <a:prstDash val="solid"/>
            <a:round/>
            <a:headEnd/>
            <a:tailEnd/>
          </a:ln>
        </p:spPr>
        <p:txBody>
          <a:bodyPr/>
          <a:lstStyle/>
          <a:p>
            <a:endParaRPr lang="zh-CN" altLang="en-US"/>
          </a:p>
        </p:txBody>
      </p:sp>
      <p:sp>
        <p:nvSpPr>
          <p:cNvPr id="112" name="Freeform 110"/>
          <p:cNvSpPr>
            <a:spLocks/>
          </p:cNvSpPr>
          <p:nvPr/>
        </p:nvSpPr>
        <p:spPr bwMode="auto">
          <a:xfrm>
            <a:off x="3838948" y="3579267"/>
            <a:ext cx="841375" cy="106363"/>
          </a:xfrm>
          <a:custGeom>
            <a:avLst/>
            <a:gdLst/>
            <a:ahLst/>
            <a:cxnLst>
              <a:cxn ang="0">
                <a:pos x="0" y="0"/>
              </a:cxn>
              <a:cxn ang="0">
                <a:pos x="530" y="4"/>
              </a:cxn>
              <a:cxn ang="0">
                <a:pos x="530" y="67"/>
              </a:cxn>
              <a:cxn ang="0">
                <a:pos x="4" y="67"/>
              </a:cxn>
              <a:cxn ang="0">
                <a:pos x="4" y="4"/>
              </a:cxn>
              <a:cxn ang="0">
                <a:pos x="4" y="4"/>
              </a:cxn>
              <a:cxn ang="0">
                <a:pos x="0" y="0"/>
              </a:cxn>
            </a:cxnLst>
            <a:rect l="0" t="0" r="r" b="b"/>
            <a:pathLst>
              <a:path w="530" h="67">
                <a:moveTo>
                  <a:pt x="0" y="0"/>
                </a:moveTo>
                <a:lnTo>
                  <a:pt x="530" y="4"/>
                </a:lnTo>
                <a:lnTo>
                  <a:pt x="530" y="67"/>
                </a:lnTo>
                <a:lnTo>
                  <a:pt x="4" y="67"/>
                </a:lnTo>
                <a:lnTo>
                  <a:pt x="4" y="4"/>
                </a:lnTo>
                <a:lnTo>
                  <a:pt x="4" y="4"/>
                </a:lnTo>
                <a:lnTo>
                  <a:pt x="0" y="0"/>
                </a:lnTo>
                <a:close/>
              </a:path>
            </a:pathLst>
          </a:custGeom>
          <a:solidFill>
            <a:srgbClr val="FFFFFF"/>
          </a:solidFill>
          <a:ln w="9525">
            <a:noFill/>
            <a:round/>
            <a:headEnd/>
            <a:tailEnd/>
          </a:ln>
        </p:spPr>
        <p:txBody>
          <a:bodyPr/>
          <a:lstStyle/>
          <a:p>
            <a:endParaRPr lang="zh-CN" altLang="en-US"/>
          </a:p>
        </p:txBody>
      </p:sp>
      <p:sp>
        <p:nvSpPr>
          <p:cNvPr id="113" name="Freeform 111" descr="Wide upward diagonal"/>
          <p:cNvSpPr>
            <a:spLocks/>
          </p:cNvSpPr>
          <p:nvPr/>
        </p:nvSpPr>
        <p:spPr bwMode="auto">
          <a:xfrm>
            <a:off x="3838948" y="3579267"/>
            <a:ext cx="841375" cy="106363"/>
          </a:xfrm>
          <a:custGeom>
            <a:avLst/>
            <a:gdLst/>
            <a:ahLst/>
            <a:cxnLst>
              <a:cxn ang="0">
                <a:pos x="0" y="0"/>
              </a:cxn>
              <a:cxn ang="0">
                <a:pos x="530" y="4"/>
              </a:cxn>
              <a:cxn ang="0">
                <a:pos x="530" y="67"/>
              </a:cxn>
              <a:cxn ang="0">
                <a:pos x="4" y="67"/>
              </a:cxn>
              <a:cxn ang="0">
                <a:pos x="4" y="4"/>
              </a:cxn>
              <a:cxn ang="0">
                <a:pos x="4" y="4"/>
              </a:cxn>
              <a:cxn ang="0">
                <a:pos x="0" y="0"/>
              </a:cxn>
            </a:cxnLst>
            <a:rect l="0" t="0" r="r" b="b"/>
            <a:pathLst>
              <a:path w="530" h="67">
                <a:moveTo>
                  <a:pt x="0" y="0"/>
                </a:moveTo>
                <a:lnTo>
                  <a:pt x="530" y="4"/>
                </a:lnTo>
                <a:lnTo>
                  <a:pt x="530" y="67"/>
                </a:lnTo>
                <a:lnTo>
                  <a:pt x="4" y="67"/>
                </a:lnTo>
                <a:lnTo>
                  <a:pt x="4" y="4"/>
                </a:lnTo>
                <a:lnTo>
                  <a:pt x="4" y="4"/>
                </a:lnTo>
                <a:lnTo>
                  <a:pt x="0" y="0"/>
                </a:lnTo>
                <a:close/>
              </a:path>
            </a:pathLst>
          </a:custGeom>
          <a:pattFill prst="wdUpDiag">
            <a:fgClr>
              <a:schemeClr val="tx1"/>
            </a:fgClr>
            <a:bgClr>
              <a:srgbClr val="FFFFFF"/>
            </a:bgClr>
          </a:pattFill>
          <a:ln w="9525">
            <a:noFill/>
            <a:round/>
            <a:headEnd/>
            <a:tailEnd/>
          </a:ln>
        </p:spPr>
        <p:txBody>
          <a:bodyPr/>
          <a:lstStyle/>
          <a:p>
            <a:endParaRPr lang="zh-CN" altLang="en-US"/>
          </a:p>
        </p:txBody>
      </p:sp>
      <p:sp>
        <p:nvSpPr>
          <p:cNvPr id="114" name="Freeform 112"/>
          <p:cNvSpPr>
            <a:spLocks/>
          </p:cNvSpPr>
          <p:nvPr/>
        </p:nvSpPr>
        <p:spPr bwMode="auto">
          <a:xfrm>
            <a:off x="3838948" y="3579267"/>
            <a:ext cx="841375" cy="106363"/>
          </a:xfrm>
          <a:custGeom>
            <a:avLst/>
            <a:gdLst/>
            <a:ahLst/>
            <a:cxnLst>
              <a:cxn ang="0">
                <a:pos x="0" y="0"/>
              </a:cxn>
              <a:cxn ang="0">
                <a:pos x="530" y="4"/>
              </a:cxn>
              <a:cxn ang="0">
                <a:pos x="530" y="67"/>
              </a:cxn>
              <a:cxn ang="0">
                <a:pos x="4" y="67"/>
              </a:cxn>
              <a:cxn ang="0">
                <a:pos x="4" y="4"/>
              </a:cxn>
              <a:cxn ang="0">
                <a:pos x="4" y="4"/>
              </a:cxn>
            </a:cxnLst>
            <a:rect l="0" t="0" r="r" b="b"/>
            <a:pathLst>
              <a:path w="530" h="67">
                <a:moveTo>
                  <a:pt x="0" y="0"/>
                </a:moveTo>
                <a:lnTo>
                  <a:pt x="530" y="4"/>
                </a:lnTo>
                <a:lnTo>
                  <a:pt x="530" y="67"/>
                </a:lnTo>
                <a:lnTo>
                  <a:pt x="4" y="67"/>
                </a:lnTo>
                <a:lnTo>
                  <a:pt x="4" y="4"/>
                </a:lnTo>
                <a:lnTo>
                  <a:pt x="4" y="4"/>
                </a:lnTo>
              </a:path>
            </a:pathLst>
          </a:custGeom>
          <a:noFill/>
          <a:ln w="11113">
            <a:solidFill>
              <a:srgbClr val="000000"/>
            </a:solidFill>
            <a:prstDash val="solid"/>
            <a:round/>
            <a:headEnd/>
            <a:tailEnd/>
          </a:ln>
        </p:spPr>
        <p:txBody>
          <a:bodyPr/>
          <a:lstStyle/>
          <a:p>
            <a:endParaRPr lang="zh-CN" altLang="en-US"/>
          </a:p>
        </p:txBody>
      </p:sp>
      <p:sp>
        <p:nvSpPr>
          <p:cNvPr id="115" name="Line 113"/>
          <p:cNvSpPr>
            <a:spLocks noChangeShapeType="1"/>
          </p:cNvSpPr>
          <p:nvPr/>
        </p:nvSpPr>
        <p:spPr bwMode="auto">
          <a:xfrm>
            <a:off x="3834186" y="2985542"/>
            <a:ext cx="39688" cy="17463"/>
          </a:xfrm>
          <a:prstGeom prst="line">
            <a:avLst/>
          </a:prstGeom>
          <a:noFill/>
          <a:ln w="11113">
            <a:solidFill>
              <a:srgbClr val="FFFFFF"/>
            </a:solidFill>
            <a:round/>
            <a:headEnd/>
            <a:tailEnd/>
          </a:ln>
        </p:spPr>
        <p:txBody>
          <a:bodyPr/>
          <a:lstStyle/>
          <a:p>
            <a:endParaRPr lang="zh-CN" altLang="en-US"/>
          </a:p>
        </p:txBody>
      </p:sp>
      <p:sp>
        <p:nvSpPr>
          <p:cNvPr id="116" name="Line 114"/>
          <p:cNvSpPr>
            <a:spLocks noChangeShapeType="1"/>
          </p:cNvSpPr>
          <p:nvPr/>
        </p:nvSpPr>
        <p:spPr bwMode="auto">
          <a:xfrm>
            <a:off x="3834186" y="2985542"/>
            <a:ext cx="39688" cy="17463"/>
          </a:xfrm>
          <a:prstGeom prst="line">
            <a:avLst/>
          </a:prstGeom>
          <a:noFill/>
          <a:ln w="11113">
            <a:solidFill>
              <a:srgbClr val="FFFFFF"/>
            </a:solidFill>
            <a:round/>
            <a:headEnd/>
            <a:tailEnd/>
          </a:ln>
        </p:spPr>
        <p:txBody>
          <a:bodyPr/>
          <a:lstStyle/>
          <a:p>
            <a:endParaRPr lang="zh-CN" altLang="en-US"/>
          </a:p>
        </p:txBody>
      </p:sp>
      <p:sp>
        <p:nvSpPr>
          <p:cNvPr id="117" name="Line 115"/>
          <p:cNvSpPr>
            <a:spLocks noChangeShapeType="1"/>
          </p:cNvSpPr>
          <p:nvPr/>
        </p:nvSpPr>
        <p:spPr bwMode="auto">
          <a:xfrm>
            <a:off x="3873873" y="2996655"/>
            <a:ext cx="4348165" cy="1676400"/>
          </a:xfrm>
          <a:prstGeom prst="line">
            <a:avLst/>
          </a:prstGeom>
          <a:noFill/>
          <a:ln w="11113">
            <a:solidFill>
              <a:srgbClr val="FFFFFF"/>
            </a:solidFill>
            <a:round/>
            <a:headEnd/>
            <a:tailEnd/>
          </a:ln>
        </p:spPr>
        <p:txBody>
          <a:bodyPr/>
          <a:lstStyle/>
          <a:p>
            <a:endParaRPr lang="zh-CN" altLang="en-US"/>
          </a:p>
        </p:txBody>
      </p:sp>
      <p:sp>
        <p:nvSpPr>
          <p:cNvPr id="118" name="Line 116"/>
          <p:cNvSpPr>
            <a:spLocks noChangeShapeType="1"/>
          </p:cNvSpPr>
          <p:nvPr/>
        </p:nvSpPr>
        <p:spPr bwMode="auto">
          <a:xfrm>
            <a:off x="3873873" y="2996655"/>
            <a:ext cx="4348165" cy="1676400"/>
          </a:xfrm>
          <a:prstGeom prst="line">
            <a:avLst/>
          </a:prstGeom>
          <a:noFill/>
          <a:ln w="11176" cap="rnd">
            <a:solidFill>
              <a:schemeClr val="tx1"/>
            </a:solidFill>
            <a:prstDash val="sysDot"/>
            <a:round/>
            <a:headEnd/>
            <a:tailEnd/>
          </a:ln>
        </p:spPr>
        <p:txBody>
          <a:bodyPr/>
          <a:lstStyle/>
          <a:p>
            <a:endParaRPr lang="zh-CN" altLang="en-US"/>
          </a:p>
        </p:txBody>
      </p:sp>
      <p:sp>
        <p:nvSpPr>
          <p:cNvPr id="119" name="Line 117"/>
          <p:cNvSpPr>
            <a:spLocks noChangeShapeType="1"/>
          </p:cNvSpPr>
          <p:nvPr/>
        </p:nvSpPr>
        <p:spPr bwMode="auto">
          <a:xfrm>
            <a:off x="8215688" y="4673055"/>
            <a:ext cx="39688" cy="15875"/>
          </a:xfrm>
          <a:prstGeom prst="line">
            <a:avLst/>
          </a:prstGeom>
          <a:noFill/>
          <a:ln w="11113">
            <a:solidFill>
              <a:srgbClr val="FFFFFF"/>
            </a:solidFill>
            <a:round/>
            <a:headEnd/>
            <a:tailEnd/>
          </a:ln>
        </p:spPr>
        <p:txBody>
          <a:bodyPr/>
          <a:lstStyle/>
          <a:p>
            <a:endParaRPr lang="zh-CN" altLang="en-US"/>
          </a:p>
        </p:txBody>
      </p:sp>
      <p:sp>
        <p:nvSpPr>
          <p:cNvPr id="120" name="Line 118"/>
          <p:cNvSpPr>
            <a:spLocks noChangeShapeType="1"/>
          </p:cNvSpPr>
          <p:nvPr/>
        </p:nvSpPr>
        <p:spPr bwMode="auto">
          <a:xfrm>
            <a:off x="8215688" y="4673055"/>
            <a:ext cx="39688" cy="15875"/>
          </a:xfrm>
          <a:prstGeom prst="line">
            <a:avLst/>
          </a:prstGeom>
          <a:noFill/>
          <a:ln w="11113">
            <a:solidFill>
              <a:srgbClr val="FFFFFF"/>
            </a:solidFill>
            <a:round/>
            <a:headEnd/>
            <a:tailEnd/>
          </a:ln>
        </p:spPr>
        <p:txBody>
          <a:bodyPr/>
          <a:lstStyle/>
          <a:p>
            <a:endParaRPr lang="zh-CN" altLang="en-US"/>
          </a:p>
        </p:txBody>
      </p:sp>
      <p:sp>
        <p:nvSpPr>
          <p:cNvPr id="121" name="Line 119"/>
          <p:cNvSpPr>
            <a:spLocks noChangeShapeType="1"/>
          </p:cNvSpPr>
          <p:nvPr/>
        </p:nvSpPr>
        <p:spPr bwMode="auto">
          <a:xfrm>
            <a:off x="4669211" y="2985542"/>
            <a:ext cx="39688" cy="17463"/>
          </a:xfrm>
          <a:prstGeom prst="line">
            <a:avLst/>
          </a:prstGeom>
          <a:noFill/>
          <a:ln w="11113">
            <a:solidFill>
              <a:srgbClr val="FFFFFF"/>
            </a:solidFill>
            <a:round/>
            <a:headEnd/>
            <a:tailEnd/>
          </a:ln>
        </p:spPr>
        <p:txBody>
          <a:bodyPr/>
          <a:lstStyle/>
          <a:p>
            <a:endParaRPr lang="zh-CN" altLang="en-US"/>
          </a:p>
        </p:txBody>
      </p:sp>
      <p:sp>
        <p:nvSpPr>
          <p:cNvPr id="122" name="Line 120"/>
          <p:cNvSpPr>
            <a:spLocks noChangeShapeType="1"/>
          </p:cNvSpPr>
          <p:nvPr/>
        </p:nvSpPr>
        <p:spPr bwMode="auto">
          <a:xfrm>
            <a:off x="4669211" y="2985542"/>
            <a:ext cx="39688" cy="17463"/>
          </a:xfrm>
          <a:prstGeom prst="line">
            <a:avLst/>
          </a:prstGeom>
          <a:noFill/>
          <a:ln w="11113">
            <a:solidFill>
              <a:srgbClr val="FFFFFF"/>
            </a:solidFill>
            <a:round/>
            <a:headEnd/>
            <a:tailEnd/>
          </a:ln>
        </p:spPr>
        <p:txBody>
          <a:bodyPr/>
          <a:lstStyle/>
          <a:p>
            <a:endParaRPr lang="zh-CN" altLang="en-US"/>
          </a:p>
        </p:txBody>
      </p:sp>
      <p:sp>
        <p:nvSpPr>
          <p:cNvPr id="123" name="Line 121"/>
          <p:cNvSpPr>
            <a:spLocks noChangeShapeType="1"/>
          </p:cNvSpPr>
          <p:nvPr/>
        </p:nvSpPr>
        <p:spPr bwMode="auto">
          <a:xfrm>
            <a:off x="4708899" y="2996655"/>
            <a:ext cx="4246564" cy="1676400"/>
          </a:xfrm>
          <a:prstGeom prst="line">
            <a:avLst/>
          </a:prstGeom>
          <a:noFill/>
          <a:ln w="11113">
            <a:solidFill>
              <a:srgbClr val="FFFFFF"/>
            </a:solidFill>
            <a:round/>
            <a:headEnd/>
            <a:tailEnd/>
          </a:ln>
        </p:spPr>
        <p:txBody>
          <a:bodyPr/>
          <a:lstStyle/>
          <a:p>
            <a:endParaRPr lang="zh-CN" altLang="en-US"/>
          </a:p>
        </p:txBody>
      </p:sp>
      <p:sp>
        <p:nvSpPr>
          <p:cNvPr id="124" name="Line 122"/>
          <p:cNvSpPr>
            <a:spLocks noChangeShapeType="1"/>
          </p:cNvSpPr>
          <p:nvPr/>
        </p:nvSpPr>
        <p:spPr bwMode="auto">
          <a:xfrm>
            <a:off x="4708899" y="2996655"/>
            <a:ext cx="4246564" cy="1676400"/>
          </a:xfrm>
          <a:prstGeom prst="line">
            <a:avLst/>
          </a:prstGeom>
          <a:noFill/>
          <a:ln w="11176" cap="rnd">
            <a:solidFill>
              <a:schemeClr val="tx1"/>
            </a:solidFill>
            <a:prstDash val="sysDot"/>
            <a:round/>
            <a:headEnd/>
            <a:tailEnd/>
          </a:ln>
        </p:spPr>
        <p:txBody>
          <a:bodyPr/>
          <a:lstStyle/>
          <a:p>
            <a:endParaRPr lang="zh-CN" altLang="en-US"/>
          </a:p>
        </p:txBody>
      </p:sp>
      <p:sp>
        <p:nvSpPr>
          <p:cNvPr id="125" name="Line 123"/>
          <p:cNvSpPr>
            <a:spLocks noChangeShapeType="1"/>
          </p:cNvSpPr>
          <p:nvPr/>
        </p:nvSpPr>
        <p:spPr bwMode="auto">
          <a:xfrm>
            <a:off x="8950701" y="4673055"/>
            <a:ext cx="44450" cy="15875"/>
          </a:xfrm>
          <a:prstGeom prst="line">
            <a:avLst/>
          </a:prstGeom>
          <a:noFill/>
          <a:ln w="11113">
            <a:solidFill>
              <a:srgbClr val="FFFFFF"/>
            </a:solidFill>
            <a:round/>
            <a:headEnd/>
            <a:tailEnd/>
          </a:ln>
        </p:spPr>
        <p:txBody>
          <a:bodyPr/>
          <a:lstStyle/>
          <a:p>
            <a:endParaRPr lang="zh-CN" altLang="en-US"/>
          </a:p>
        </p:txBody>
      </p:sp>
      <p:sp>
        <p:nvSpPr>
          <p:cNvPr id="126" name="Line 124"/>
          <p:cNvSpPr>
            <a:spLocks noChangeShapeType="1"/>
          </p:cNvSpPr>
          <p:nvPr/>
        </p:nvSpPr>
        <p:spPr bwMode="auto">
          <a:xfrm>
            <a:off x="8950701" y="4673055"/>
            <a:ext cx="44450" cy="15875"/>
          </a:xfrm>
          <a:prstGeom prst="line">
            <a:avLst/>
          </a:prstGeom>
          <a:noFill/>
          <a:ln w="11113">
            <a:solidFill>
              <a:srgbClr val="FFFFFF"/>
            </a:solidFill>
            <a:round/>
            <a:headEnd/>
            <a:tailEnd/>
          </a:ln>
        </p:spPr>
        <p:txBody>
          <a:bodyPr/>
          <a:lstStyle/>
          <a:p>
            <a:endParaRPr lang="zh-CN" altLang="en-US"/>
          </a:p>
        </p:txBody>
      </p:sp>
      <p:sp>
        <p:nvSpPr>
          <p:cNvPr id="127" name="Line 125"/>
          <p:cNvSpPr>
            <a:spLocks noChangeShapeType="1"/>
          </p:cNvSpPr>
          <p:nvPr/>
        </p:nvSpPr>
        <p:spPr bwMode="auto">
          <a:xfrm>
            <a:off x="3834186" y="3193505"/>
            <a:ext cx="4421190" cy="1495425"/>
          </a:xfrm>
          <a:prstGeom prst="line">
            <a:avLst/>
          </a:prstGeom>
          <a:noFill/>
          <a:ln w="11113">
            <a:solidFill>
              <a:srgbClr val="808080"/>
            </a:solidFill>
            <a:round/>
            <a:headEnd/>
            <a:tailEnd/>
          </a:ln>
        </p:spPr>
        <p:txBody>
          <a:bodyPr/>
          <a:lstStyle/>
          <a:p>
            <a:endParaRPr lang="zh-CN" altLang="en-US"/>
          </a:p>
        </p:txBody>
      </p:sp>
      <p:sp>
        <p:nvSpPr>
          <p:cNvPr id="128" name="Line 126"/>
          <p:cNvSpPr>
            <a:spLocks noChangeShapeType="1"/>
          </p:cNvSpPr>
          <p:nvPr/>
        </p:nvSpPr>
        <p:spPr bwMode="auto">
          <a:xfrm>
            <a:off x="4669211" y="3193505"/>
            <a:ext cx="4325940" cy="1495425"/>
          </a:xfrm>
          <a:prstGeom prst="line">
            <a:avLst/>
          </a:prstGeom>
          <a:noFill/>
          <a:ln w="11113">
            <a:solidFill>
              <a:srgbClr val="808080"/>
            </a:solidFill>
            <a:round/>
            <a:headEnd/>
            <a:tailEnd/>
          </a:ln>
        </p:spPr>
        <p:txBody>
          <a:bodyPr/>
          <a:lstStyle/>
          <a:p>
            <a:endParaRPr lang="zh-CN" altLang="en-US"/>
          </a:p>
        </p:txBody>
      </p:sp>
      <p:sp>
        <p:nvSpPr>
          <p:cNvPr id="129" name="Freeform 127"/>
          <p:cNvSpPr>
            <a:spLocks/>
          </p:cNvSpPr>
          <p:nvPr/>
        </p:nvSpPr>
        <p:spPr bwMode="auto">
          <a:xfrm>
            <a:off x="8484175" y="3561208"/>
            <a:ext cx="835025" cy="106363"/>
          </a:xfrm>
          <a:custGeom>
            <a:avLst/>
            <a:gdLst/>
            <a:ahLst/>
            <a:cxnLst>
              <a:cxn ang="0">
                <a:pos x="0" y="0"/>
              </a:cxn>
              <a:cxn ang="0">
                <a:pos x="526" y="0"/>
              </a:cxn>
              <a:cxn ang="0">
                <a:pos x="526" y="67"/>
              </a:cxn>
              <a:cxn ang="0">
                <a:pos x="0" y="67"/>
              </a:cxn>
              <a:cxn ang="0">
                <a:pos x="0" y="0"/>
              </a:cxn>
              <a:cxn ang="0">
                <a:pos x="0" y="0"/>
              </a:cxn>
            </a:cxnLst>
            <a:rect l="0" t="0" r="r" b="b"/>
            <a:pathLst>
              <a:path w="526" h="67">
                <a:moveTo>
                  <a:pt x="0" y="0"/>
                </a:moveTo>
                <a:lnTo>
                  <a:pt x="526" y="0"/>
                </a:lnTo>
                <a:lnTo>
                  <a:pt x="526" y="67"/>
                </a:lnTo>
                <a:lnTo>
                  <a:pt x="0" y="67"/>
                </a:lnTo>
                <a:lnTo>
                  <a:pt x="0" y="0"/>
                </a:lnTo>
                <a:lnTo>
                  <a:pt x="0" y="0"/>
                </a:lnTo>
                <a:close/>
              </a:path>
            </a:pathLst>
          </a:custGeom>
          <a:solidFill>
            <a:srgbClr val="E6E6E6"/>
          </a:solidFill>
          <a:ln w="9525">
            <a:noFill/>
            <a:round/>
            <a:headEnd/>
            <a:tailEnd/>
          </a:ln>
        </p:spPr>
        <p:txBody>
          <a:bodyPr/>
          <a:lstStyle/>
          <a:p>
            <a:endParaRPr lang="zh-CN" altLang="en-US"/>
          </a:p>
        </p:txBody>
      </p:sp>
      <p:sp>
        <p:nvSpPr>
          <p:cNvPr id="130" name="Freeform 128"/>
          <p:cNvSpPr>
            <a:spLocks/>
          </p:cNvSpPr>
          <p:nvPr/>
        </p:nvSpPr>
        <p:spPr bwMode="auto">
          <a:xfrm>
            <a:off x="8461751" y="3550500"/>
            <a:ext cx="835025" cy="106363"/>
          </a:xfrm>
          <a:custGeom>
            <a:avLst/>
            <a:gdLst/>
            <a:ahLst/>
            <a:cxnLst>
              <a:cxn ang="0">
                <a:pos x="0" y="0"/>
              </a:cxn>
              <a:cxn ang="0">
                <a:pos x="526" y="0"/>
              </a:cxn>
              <a:cxn ang="0">
                <a:pos x="526" y="67"/>
              </a:cxn>
              <a:cxn ang="0">
                <a:pos x="0" y="67"/>
              </a:cxn>
              <a:cxn ang="0">
                <a:pos x="0" y="0"/>
              </a:cxn>
              <a:cxn ang="0">
                <a:pos x="0" y="0"/>
              </a:cxn>
            </a:cxnLst>
            <a:rect l="0" t="0" r="r" b="b"/>
            <a:pathLst>
              <a:path w="526" h="67">
                <a:moveTo>
                  <a:pt x="0" y="0"/>
                </a:moveTo>
                <a:lnTo>
                  <a:pt x="526" y="0"/>
                </a:lnTo>
                <a:lnTo>
                  <a:pt x="526" y="67"/>
                </a:lnTo>
                <a:lnTo>
                  <a:pt x="0" y="67"/>
                </a:lnTo>
                <a:lnTo>
                  <a:pt x="0" y="0"/>
                </a:lnTo>
                <a:lnTo>
                  <a:pt x="0" y="0"/>
                </a:lnTo>
              </a:path>
            </a:pathLst>
          </a:custGeom>
          <a:noFill/>
          <a:ln w="11176">
            <a:solidFill>
              <a:srgbClr val="000000"/>
            </a:solidFill>
            <a:prstDash val="solid"/>
            <a:round/>
            <a:headEnd/>
            <a:tailEnd/>
          </a:ln>
        </p:spPr>
        <p:txBody>
          <a:bodyPr/>
          <a:lstStyle/>
          <a:p>
            <a:endParaRPr lang="zh-CN" altLang="en-US"/>
          </a:p>
        </p:txBody>
      </p:sp>
      <p:sp>
        <p:nvSpPr>
          <p:cNvPr id="131" name="Line 129"/>
          <p:cNvSpPr>
            <a:spLocks noChangeShapeType="1"/>
          </p:cNvSpPr>
          <p:nvPr/>
        </p:nvSpPr>
        <p:spPr bwMode="auto">
          <a:xfrm flipV="1">
            <a:off x="7140950" y="4688930"/>
            <a:ext cx="1588" cy="841375"/>
          </a:xfrm>
          <a:prstGeom prst="line">
            <a:avLst/>
          </a:prstGeom>
          <a:noFill/>
          <a:ln w="11113">
            <a:solidFill>
              <a:srgbClr val="000000"/>
            </a:solidFill>
            <a:round/>
            <a:headEnd/>
            <a:tailEnd/>
          </a:ln>
        </p:spPr>
        <p:txBody>
          <a:bodyPr/>
          <a:lstStyle/>
          <a:p>
            <a:endParaRPr lang="zh-CN" altLang="en-US"/>
          </a:p>
        </p:txBody>
      </p:sp>
      <p:sp>
        <p:nvSpPr>
          <p:cNvPr id="132" name="Line 130"/>
          <p:cNvSpPr>
            <a:spLocks noChangeShapeType="1"/>
          </p:cNvSpPr>
          <p:nvPr/>
        </p:nvSpPr>
        <p:spPr bwMode="auto">
          <a:xfrm flipV="1">
            <a:off x="7347325" y="4688930"/>
            <a:ext cx="1588" cy="841375"/>
          </a:xfrm>
          <a:prstGeom prst="line">
            <a:avLst/>
          </a:prstGeom>
          <a:noFill/>
          <a:ln w="11113">
            <a:solidFill>
              <a:srgbClr val="000000"/>
            </a:solidFill>
            <a:round/>
            <a:headEnd/>
            <a:tailEnd/>
          </a:ln>
        </p:spPr>
        <p:txBody>
          <a:bodyPr/>
          <a:lstStyle/>
          <a:p>
            <a:endParaRPr lang="zh-CN" altLang="en-US"/>
          </a:p>
        </p:txBody>
      </p:sp>
      <p:sp>
        <p:nvSpPr>
          <p:cNvPr id="133" name="Line 131"/>
          <p:cNvSpPr>
            <a:spLocks noChangeShapeType="1"/>
          </p:cNvSpPr>
          <p:nvPr/>
        </p:nvSpPr>
        <p:spPr bwMode="auto">
          <a:xfrm flipV="1">
            <a:off x="7768013" y="4688930"/>
            <a:ext cx="1588" cy="841375"/>
          </a:xfrm>
          <a:prstGeom prst="line">
            <a:avLst/>
          </a:prstGeom>
          <a:noFill/>
          <a:ln w="11113">
            <a:solidFill>
              <a:srgbClr val="000000"/>
            </a:solidFill>
            <a:round/>
            <a:headEnd/>
            <a:tailEnd/>
          </a:ln>
        </p:spPr>
        <p:txBody>
          <a:bodyPr/>
          <a:lstStyle/>
          <a:p>
            <a:endParaRPr lang="zh-CN" altLang="en-US"/>
          </a:p>
        </p:txBody>
      </p:sp>
      <p:sp>
        <p:nvSpPr>
          <p:cNvPr id="134" name="Line 132"/>
          <p:cNvSpPr>
            <a:spLocks noChangeShapeType="1"/>
          </p:cNvSpPr>
          <p:nvPr/>
        </p:nvSpPr>
        <p:spPr bwMode="auto">
          <a:xfrm flipV="1">
            <a:off x="7974388" y="4688930"/>
            <a:ext cx="1588" cy="841375"/>
          </a:xfrm>
          <a:prstGeom prst="line">
            <a:avLst/>
          </a:prstGeom>
          <a:noFill/>
          <a:ln w="11113">
            <a:solidFill>
              <a:srgbClr val="000000"/>
            </a:solidFill>
            <a:round/>
            <a:headEnd/>
            <a:tailEnd/>
          </a:ln>
        </p:spPr>
        <p:txBody>
          <a:bodyPr/>
          <a:lstStyle/>
          <a:p>
            <a:endParaRPr lang="zh-CN" altLang="en-US"/>
          </a:p>
        </p:txBody>
      </p:sp>
      <p:sp>
        <p:nvSpPr>
          <p:cNvPr id="135" name="Line 133"/>
          <p:cNvSpPr>
            <a:spLocks noChangeShapeType="1"/>
          </p:cNvSpPr>
          <p:nvPr/>
        </p:nvSpPr>
        <p:spPr bwMode="auto">
          <a:xfrm flipV="1">
            <a:off x="8809413" y="4688930"/>
            <a:ext cx="1588" cy="841375"/>
          </a:xfrm>
          <a:prstGeom prst="line">
            <a:avLst/>
          </a:prstGeom>
          <a:noFill/>
          <a:ln w="11113">
            <a:solidFill>
              <a:srgbClr val="000000"/>
            </a:solidFill>
            <a:round/>
            <a:headEnd/>
            <a:tailEnd/>
          </a:ln>
        </p:spPr>
        <p:txBody>
          <a:bodyPr/>
          <a:lstStyle/>
          <a:p>
            <a:endParaRPr lang="zh-CN" altLang="en-US"/>
          </a:p>
        </p:txBody>
      </p:sp>
      <p:sp>
        <p:nvSpPr>
          <p:cNvPr id="136" name="Line 134"/>
          <p:cNvSpPr>
            <a:spLocks noChangeShapeType="1"/>
          </p:cNvSpPr>
          <p:nvPr/>
        </p:nvSpPr>
        <p:spPr bwMode="auto">
          <a:xfrm flipV="1">
            <a:off x="8395075" y="4688930"/>
            <a:ext cx="1588" cy="841375"/>
          </a:xfrm>
          <a:prstGeom prst="line">
            <a:avLst/>
          </a:prstGeom>
          <a:noFill/>
          <a:ln w="11113">
            <a:solidFill>
              <a:srgbClr val="000000"/>
            </a:solidFill>
            <a:round/>
            <a:headEnd/>
            <a:tailEnd/>
          </a:ln>
        </p:spPr>
        <p:txBody>
          <a:bodyPr/>
          <a:lstStyle/>
          <a:p>
            <a:endParaRPr lang="zh-CN" altLang="en-US"/>
          </a:p>
        </p:txBody>
      </p:sp>
      <p:sp>
        <p:nvSpPr>
          <p:cNvPr id="137" name="Line 135"/>
          <p:cNvSpPr>
            <a:spLocks noChangeShapeType="1"/>
          </p:cNvSpPr>
          <p:nvPr/>
        </p:nvSpPr>
        <p:spPr bwMode="auto">
          <a:xfrm flipV="1">
            <a:off x="8603038" y="4688930"/>
            <a:ext cx="1588" cy="841375"/>
          </a:xfrm>
          <a:prstGeom prst="line">
            <a:avLst/>
          </a:prstGeom>
          <a:noFill/>
          <a:ln w="11113">
            <a:solidFill>
              <a:srgbClr val="000000"/>
            </a:solidFill>
            <a:round/>
            <a:headEnd/>
            <a:tailEnd/>
          </a:ln>
        </p:spPr>
        <p:txBody>
          <a:bodyPr/>
          <a:lstStyle/>
          <a:p>
            <a:endParaRPr lang="zh-CN" altLang="en-US"/>
          </a:p>
        </p:txBody>
      </p:sp>
      <p:sp>
        <p:nvSpPr>
          <p:cNvPr id="138" name="Line 136"/>
          <p:cNvSpPr>
            <a:spLocks noChangeShapeType="1"/>
          </p:cNvSpPr>
          <p:nvPr/>
        </p:nvSpPr>
        <p:spPr bwMode="auto">
          <a:xfrm flipV="1">
            <a:off x="7560050" y="4688930"/>
            <a:ext cx="1588" cy="841375"/>
          </a:xfrm>
          <a:prstGeom prst="line">
            <a:avLst/>
          </a:prstGeom>
          <a:noFill/>
          <a:ln w="11113">
            <a:solidFill>
              <a:srgbClr val="000000"/>
            </a:solidFill>
            <a:round/>
            <a:headEnd/>
            <a:tailEnd/>
          </a:ln>
        </p:spPr>
        <p:txBody>
          <a:bodyPr/>
          <a:lstStyle/>
          <a:p>
            <a:endParaRPr lang="zh-CN" altLang="en-US"/>
          </a:p>
        </p:txBody>
      </p:sp>
      <p:sp>
        <p:nvSpPr>
          <p:cNvPr id="139" name="Freeform 137"/>
          <p:cNvSpPr>
            <a:spLocks/>
          </p:cNvSpPr>
          <p:nvPr/>
        </p:nvSpPr>
        <p:spPr bwMode="auto">
          <a:xfrm>
            <a:off x="4691436" y="2952205"/>
            <a:ext cx="812800" cy="95250"/>
          </a:xfrm>
          <a:custGeom>
            <a:avLst/>
            <a:gdLst/>
            <a:ahLst/>
            <a:cxnLst>
              <a:cxn ang="0">
                <a:pos x="0" y="0"/>
              </a:cxn>
              <a:cxn ang="0">
                <a:pos x="512" y="3"/>
              </a:cxn>
              <a:cxn ang="0">
                <a:pos x="512" y="60"/>
              </a:cxn>
              <a:cxn ang="0">
                <a:pos x="4" y="60"/>
              </a:cxn>
              <a:cxn ang="0">
                <a:pos x="4" y="3"/>
              </a:cxn>
              <a:cxn ang="0">
                <a:pos x="4" y="3"/>
              </a:cxn>
              <a:cxn ang="0">
                <a:pos x="0" y="0"/>
              </a:cxn>
            </a:cxnLst>
            <a:rect l="0" t="0" r="r" b="b"/>
            <a:pathLst>
              <a:path w="512" h="60">
                <a:moveTo>
                  <a:pt x="0" y="0"/>
                </a:moveTo>
                <a:lnTo>
                  <a:pt x="512" y="3"/>
                </a:lnTo>
                <a:lnTo>
                  <a:pt x="512" y="60"/>
                </a:lnTo>
                <a:lnTo>
                  <a:pt x="4" y="60"/>
                </a:lnTo>
                <a:lnTo>
                  <a:pt x="4" y="3"/>
                </a:lnTo>
                <a:lnTo>
                  <a:pt x="4" y="3"/>
                </a:lnTo>
                <a:lnTo>
                  <a:pt x="0" y="0"/>
                </a:lnTo>
                <a:close/>
              </a:path>
            </a:pathLst>
          </a:custGeom>
          <a:solidFill>
            <a:srgbClr val="E6E6E6"/>
          </a:solidFill>
          <a:ln w="9525">
            <a:noFill/>
            <a:round/>
            <a:headEnd/>
            <a:tailEnd/>
          </a:ln>
        </p:spPr>
        <p:txBody>
          <a:bodyPr/>
          <a:lstStyle/>
          <a:p>
            <a:endParaRPr lang="zh-CN" altLang="en-US"/>
          </a:p>
        </p:txBody>
      </p:sp>
      <p:sp>
        <p:nvSpPr>
          <p:cNvPr id="140" name="Freeform 138"/>
          <p:cNvSpPr>
            <a:spLocks/>
          </p:cNvSpPr>
          <p:nvPr/>
        </p:nvSpPr>
        <p:spPr bwMode="auto">
          <a:xfrm>
            <a:off x="4691436" y="2952205"/>
            <a:ext cx="812800" cy="95250"/>
          </a:xfrm>
          <a:custGeom>
            <a:avLst/>
            <a:gdLst/>
            <a:ahLst/>
            <a:cxnLst>
              <a:cxn ang="0">
                <a:pos x="0" y="0"/>
              </a:cxn>
              <a:cxn ang="0">
                <a:pos x="512" y="3"/>
              </a:cxn>
              <a:cxn ang="0">
                <a:pos x="512" y="60"/>
              </a:cxn>
              <a:cxn ang="0">
                <a:pos x="4" y="60"/>
              </a:cxn>
              <a:cxn ang="0">
                <a:pos x="4" y="3"/>
              </a:cxn>
              <a:cxn ang="0">
                <a:pos x="4" y="3"/>
              </a:cxn>
            </a:cxnLst>
            <a:rect l="0" t="0" r="r" b="b"/>
            <a:pathLst>
              <a:path w="512" h="60">
                <a:moveTo>
                  <a:pt x="0" y="0"/>
                </a:moveTo>
                <a:lnTo>
                  <a:pt x="512" y="3"/>
                </a:lnTo>
                <a:lnTo>
                  <a:pt x="512" y="60"/>
                </a:lnTo>
                <a:lnTo>
                  <a:pt x="4" y="60"/>
                </a:lnTo>
                <a:lnTo>
                  <a:pt x="4" y="3"/>
                </a:lnTo>
                <a:lnTo>
                  <a:pt x="4" y="3"/>
                </a:lnTo>
              </a:path>
            </a:pathLst>
          </a:custGeom>
          <a:noFill/>
          <a:ln w="11113">
            <a:solidFill>
              <a:srgbClr val="000000"/>
            </a:solidFill>
            <a:prstDash val="solid"/>
            <a:round/>
            <a:headEnd/>
            <a:tailEnd/>
          </a:ln>
        </p:spPr>
        <p:txBody>
          <a:bodyPr/>
          <a:lstStyle/>
          <a:p>
            <a:endParaRPr lang="zh-CN" altLang="en-US"/>
          </a:p>
        </p:txBody>
      </p:sp>
      <p:sp>
        <p:nvSpPr>
          <p:cNvPr id="141" name="Rectangle 139"/>
          <p:cNvSpPr>
            <a:spLocks noChangeArrowheads="1"/>
          </p:cNvSpPr>
          <p:nvPr/>
        </p:nvSpPr>
        <p:spPr bwMode="auto">
          <a:xfrm>
            <a:off x="3329361" y="23870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42" name="Rectangle 140"/>
          <p:cNvSpPr>
            <a:spLocks noChangeArrowheads="1"/>
          </p:cNvSpPr>
          <p:nvPr/>
        </p:nvSpPr>
        <p:spPr bwMode="auto">
          <a:xfrm>
            <a:off x="3430961" y="2458492"/>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1</a:t>
            </a:r>
            <a:endParaRPr lang="zh-CN" altLang="en-US" sz="2400">
              <a:latin typeface="Times New Roman" charset="0"/>
            </a:endParaRPr>
          </a:p>
        </p:txBody>
      </p:sp>
      <p:sp>
        <p:nvSpPr>
          <p:cNvPr id="143" name="Rectangle 141"/>
          <p:cNvSpPr>
            <a:spLocks noChangeArrowheads="1"/>
          </p:cNvSpPr>
          <p:nvPr/>
        </p:nvSpPr>
        <p:spPr bwMode="auto">
          <a:xfrm>
            <a:off x="2505448" y="23870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44" name="Rectangle 142"/>
          <p:cNvSpPr>
            <a:spLocks noChangeArrowheads="1"/>
          </p:cNvSpPr>
          <p:nvPr/>
        </p:nvSpPr>
        <p:spPr bwMode="auto">
          <a:xfrm>
            <a:off x="2611810" y="2458492"/>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0</a:t>
            </a:r>
            <a:endParaRPr lang="zh-CN" altLang="en-US" sz="2400">
              <a:latin typeface="Times New Roman" charset="0"/>
            </a:endParaRPr>
          </a:p>
        </p:txBody>
      </p:sp>
      <p:sp>
        <p:nvSpPr>
          <p:cNvPr id="145" name="Rectangle 143"/>
          <p:cNvSpPr>
            <a:spLocks noChangeArrowheads="1"/>
          </p:cNvSpPr>
          <p:nvPr/>
        </p:nvSpPr>
        <p:spPr bwMode="auto">
          <a:xfrm>
            <a:off x="4170736" y="23870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46" name="Rectangle 144"/>
          <p:cNvSpPr>
            <a:spLocks noChangeArrowheads="1"/>
          </p:cNvSpPr>
          <p:nvPr/>
        </p:nvSpPr>
        <p:spPr bwMode="auto">
          <a:xfrm>
            <a:off x="4270749" y="2458492"/>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2</a:t>
            </a:r>
            <a:endParaRPr lang="zh-CN" altLang="en-US" sz="2400">
              <a:latin typeface="Times New Roman" charset="0"/>
            </a:endParaRPr>
          </a:p>
        </p:txBody>
      </p:sp>
      <p:sp>
        <p:nvSpPr>
          <p:cNvPr id="147" name="Rectangle 145"/>
          <p:cNvSpPr>
            <a:spLocks noChangeArrowheads="1"/>
          </p:cNvSpPr>
          <p:nvPr/>
        </p:nvSpPr>
        <p:spPr bwMode="auto">
          <a:xfrm>
            <a:off x="5010524" y="238705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48" name="Rectangle 146"/>
          <p:cNvSpPr>
            <a:spLocks noChangeArrowheads="1"/>
          </p:cNvSpPr>
          <p:nvPr/>
        </p:nvSpPr>
        <p:spPr bwMode="auto">
          <a:xfrm>
            <a:off x="5112124" y="2458492"/>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3</a:t>
            </a:r>
            <a:endParaRPr lang="zh-CN" altLang="en-US" sz="2400">
              <a:latin typeface="Times New Roman" charset="0"/>
            </a:endParaRPr>
          </a:p>
        </p:txBody>
      </p:sp>
      <p:sp>
        <p:nvSpPr>
          <p:cNvPr id="149" name="Rectangle 147"/>
          <p:cNvSpPr>
            <a:spLocks noChangeArrowheads="1"/>
          </p:cNvSpPr>
          <p:nvPr/>
        </p:nvSpPr>
        <p:spPr bwMode="auto">
          <a:xfrm>
            <a:off x="3262686" y="3372892"/>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50" name="Rectangle 148"/>
          <p:cNvSpPr>
            <a:spLocks noChangeArrowheads="1"/>
          </p:cNvSpPr>
          <p:nvPr/>
        </p:nvSpPr>
        <p:spPr bwMode="auto">
          <a:xfrm>
            <a:off x="3362698" y="3439567"/>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5</a:t>
            </a:r>
            <a:endParaRPr lang="zh-CN" altLang="en-US" sz="2400">
              <a:latin typeface="Times New Roman" charset="0"/>
            </a:endParaRPr>
          </a:p>
        </p:txBody>
      </p:sp>
      <p:sp>
        <p:nvSpPr>
          <p:cNvPr id="151" name="Rectangle 149"/>
          <p:cNvSpPr>
            <a:spLocks noChangeArrowheads="1"/>
          </p:cNvSpPr>
          <p:nvPr/>
        </p:nvSpPr>
        <p:spPr bwMode="auto">
          <a:xfrm>
            <a:off x="4204073" y="3372892"/>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52" name="Rectangle 150"/>
          <p:cNvSpPr>
            <a:spLocks noChangeArrowheads="1"/>
          </p:cNvSpPr>
          <p:nvPr/>
        </p:nvSpPr>
        <p:spPr bwMode="auto">
          <a:xfrm>
            <a:off x="4310436" y="3439567"/>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6</a:t>
            </a:r>
            <a:endParaRPr lang="zh-CN" altLang="en-US" sz="2400">
              <a:latin typeface="Times New Roman" charset="0"/>
            </a:endParaRPr>
          </a:p>
        </p:txBody>
      </p:sp>
      <p:sp>
        <p:nvSpPr>
          <p:cNvPr id="153" name="Rectangle 151"/>
          <p:cNvSpPr>
            <a:spLocks noChangeArrowheads="1"/>
          </p:cNvSpPr>
          <p:nvPr/>
        </p:nvSpPr>
        <p:spPr bwMode="auto">
          <a:xfrm>
            <a:off x="5010524" y="3372892"/>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54" name="Rectangle 152"/>
          <p:cNvSpPr>
            <a:spLocks noChangeArrowheads="1"/>
          </p:cNvSpPr>
          <p:nvPr/>
        </p:nvSpPr>
        <p:spPr bwMode="auto">
          <a:xfrm>
            <a:off x="5112124" y="3439567"/>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7</a:t>
            </a:r>
            <a:endParaRPr lang="zh-CN" altLang="en-US" sz="2400">
              <a:latin typeface="Times New Roman" charset="0"/>
            </a:endParaRPr>
          </a:p>
        </p:txBody>
      </p:sp>
      <p:sp>
        <p:nvSpPr>
          <p:cNvPr id="155" name="Rectangle 153"/>
          <p:cNvSpPr>
            <a:spLocks noChangeArrowheads="1"/>
          </p:cNvSpPr>
          <p:nvPr/>
        </p:nvSpPr>
        <p:spPr bwMode="auto">
          <a:xfrm>
            <a:off x="2489573" y="3372892"/>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56" name="Rectangle 154"/>
          <p:cNvSpPr>
            <a:spLocks noChangeArrowheads="1"/>
          </p:cNvSpPr>
          <p:nvPr/>
        </p:nvSpPr>
        <p:spPr bwMode="auto">
          <a:xfrm>
            <a:off x="2589585" y="3439567"/>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4</a:t>
            </a:r>
            <a:endParaRPr lang="zh-CN" altLang="en-US" sz="2400">
              <a:latin typeface="Times New Roman" charset="0"/>
            </a:endParaRPr>
          </a:p>
        </p:txBody>
      </p:sp>
      <p:sp>
        <p:nvSpPr>
          <p:cNvPr id="157" name="Rectangle 155"/>
          <p:cNvSpPr>
            <a:spLocks noChangeArrowheads="1"/>
          </p:cNvSpPr>
          <p:nvPr/>
        </p:nvSpPr>
        <p:spPr bwMode="auto">
          <a:xfrm>
            <a:off x="2489573" y="4095205"/>
            <a:ext cx="114300" cy="228600"/>
          </a:xfrm>
          <a:prstGeom prst="rect">
            <a:avLst/>
          </a:prstGeom>
          <a:noFill/>
          <a:ln w="9525">
            <a:noFill/>
            <a:miter lim="800000"/>
            <a:headEnd/>
            <a:tailEnd/>
          </a:ln>
        </p:spPr>
        <p:txBody>
          <a:bodyPr wrap="none" lIns="0" tIns="0" rIns="0" bIns="0">
            <a:spAutoFit/>
          </a:bodyPr>
          <a:lstStyle/>
          <a:p>
            <a:r>
              <a:rPr lang="en-US" altLang="zh-CN" sz="1500">
                <a:solidFill>
                  <a:srgbClr val="000000"/>
                </a:solidFill>
                <a:latin typeface="Courier New" pitchFamily="49" charset="-52"/>
              </a:rPr>
              <a:t>P</a:t>
            </a:r>
            <a:endParaRPr lang="en-US" altLang="zh-CN" sz="2400">
              <a:latin typeface="Times New Roman" charset="0"/>
            </a:endParaRPr>
          </a:p>
        </p:txBody>
      </p:sp>
      <p:sp>
        <p:nvSpPr>
          <p:cNvPr id="158" name="Rectangle 156"/>
          <p:cNvSpPr>
            <a:spLocks noChangeArrowheads="1"/>
          </p:cNvSpPr>
          <p:nvPr/>
        </p:nvSpPr>
        <p:spPr bwMode="auto">
          <a:xfrm>
            <a:off x="2589585" y="4163467"/>
            <a:ext cx="93663" cy="184150"/>
          </a:xfrm>
          <a:prstGeom prst="rect">
            <a:avLst/>
          </a:prstGeom>
          <a:noFill/>
          <a:ln w="9525">
            <a:noFill/>
            <a:miter lim="800000"/>
            <a:headEnd/>
            <a:tailEnd/>
          </a:ln>
        </p:spPr>
        <p:txBody>
          <a:bodyPr wrap="none" lIns="0" tIns="0" rIns="0" bIns="0">
            <a:spAutoFit/>
          </a:bodyPr>
          <a:lstStyle/>
          <a:p>
            <a:r>
              <a:rPr lang="zh-CN" altLang="en-US" sz="1200">
                <a:solidFill>
                  <a:srgbClr val="000000"/>
                </a:solidFill>
                <a:latin typeface="Courier New" pitchFamily="49" charset="-52"/>
              </a:rPr>
              <a:t>8</a:t>
            </a:r>
            <a:endParaRPr lang="zh-CN" altLang="en-US" sz="2400">
              <a:latin typeface="Times New Roman" charset="0"/>
            </a:endParaRPr>
          </a:p>
        </p:txBody>
      </p:sp>
      <p:sp>
        <p:nvSpPr>
          <p:cNvPr id="159" name="Rectangle 157"/>
          <p:cNvSpPr>
            <a:spLocks noChangeArrowheads="1"/>
          </p:cNvSpPr>
          <p:nvPr/>
        </p:nvSpPr>
        <p:spPr bwMode="auto">
          <a:xfrm>
            <a:off x="8496675" y="156314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0" name="Rectangle 158"/>
          <p:cNvSpPr>
            <a:spLocks noChangeArrowheads="1"/>
          </p:cNvSpPr>
          <p:nvPr/>
        </p:nvSpPr>
        <p:spPr bwMode="auto">
          <a:xfrm>
            <a:off x="8833226" y="156314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1" name="Rectangle 159"/>
          <p:cNvSpPr>
            <a:spLocks noChangeArrowheads="1"/>
          </p:cNvSpPr>
          <p:nvPr/>
        </p:nvSpPr>
        <p:spPr bwMode="auto">
          <a:xfrm>
            <a:off x="7823575" y="19838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2" name="Rectangle 160"/>
          <p:cNvSpPr>
            <a:spLocks noChangeArrowheads="1"/>
          </p:cNvSpPr>
          <p:nvPr/>
        </p:nvSpPr>
        <p:spPr bwMode="auto">
          <a:xfrm>
            <a:off x="8607801" y="19838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3" name="Rectangle 161"/>
          <p:cNvSpPr>
            <a:spLocks noChangeArrowheads="1"/>
          </p:cNvSpPr>
          <p:nvPr/>
        </p:nvSpPr>
        <p:spPr bwMode="auto">
          <a:xfrm>
            <a:off x="9168188" y="19838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4" name="Rectangle 162"/>
          <p:cNvSpPr>
            <a:spLocks noChangeArrowheads="1"/>
          </p:cNvSpPr>
          <p:nvPr/>
        </p:nvSpPr>
        <p:spPr bwMode="auto">
          <a:xfrm>
            <a:off x="10065126" y="19838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5" name="Rectangle 163"/>
          <p:cNvSpPr>
            <a:spLocks noChangeArrowheads="1"/>
          </p:cNvSpPr>
          <p:nvPr/>
        </p:nvSpPr>
        <p:spPr bwMode="auto">
          <a:xfrm>
            <a:off x="8496675" y="2190205"/>
            <a:ext cx="114300" cy="228600"/>
          </a:xfrm>
          <a:prstGeom prst="rect">
            <a:avLst/>
          </a:prstGeom>
          <a:noFill/>
          <a:ln w="9525">
            <a:noFill/>
            <a:miter lim="800000"/>
            <a:headEnd/>
            <a:tailEnd/>
          </a:ln>
        </p:spPr>
        <p:txBody>
          <a:bodyPr wrap="none" lIns="0" tIns="0" rIns="0" bIns="0">
            <a:spAutoFit/>
          </a:bodyPr>
          <a:lstStyle/>
          <a:p>
            <a:r>
              <a:rPr lang="zh-CN" altLang="en-US" sz="1500" dirty="0">
                <a:solidFill>
                  <a:srgbClr val="000000"/>
                </a:solidFill>
                <a:latin typeface="Courier New" pitchFamily="49" charset="-52"/>
              </a:rPr>
              <a:t> </a:t>
            </a:r>
            <a:endParaRPr lang="zh-CN" altLang="en-US" sz="2400" dirty="0">
              <a:latin typeface="Times New Roman" charset="0"/>
            </a:endParaRPr>
          </a:p>
        </p:txBody>
      </p:sp>
      <p:sp>
        <p:nvSpPr>
          <p:cNvPr id="166" name="Rectangle 164"/>
          <p:cNvSpPr>
            <a:spLocks noChangeArrowheads="1"/>
          </p:cNvSpPr>
          <p:nvPr/>
        </p:nvSpPr>
        <p:spPr bwMode="auto">
          <a:xfrm>
            <a:off x="8833226" y="2190205"/>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7" name="Rectangle 165"/>
          <p:cNvSpPr>
            <a:spLocks noChangeArrowheads="1"/>
          </p:cNvSpPr>
          <p:nvPr/>
        </p:nvSpPr>
        <p:spPr bwMode="auto">
          <a:xfrm>
            <a:off x="10065126" y="2190205"/>
            <a:ext cx="0" cy="369888"/>
          </a:xfrm>
          <a:prstGeom prst="rect">
            <a:avLst/>
          </a:prstGeom>
          <a:noFill/>
          <a:ln w="9525">
            <a:noFill/>
            <a:miter lim="800000"/>
            <a:headEnd/>
            <a:tailEnd/>
          </a:ln>
        </p:spPr>
        <p:txBody>
          <a:bodyPr wrap="none" lIns="0" tIns="0" rIns="0" bIns="0">
            <a:spAutoFit/>
          </a:bodyPr>
          <a:lstStyle/>
          <a:p>
            <a:endParaRPr lang="zh-CN" altLang="en-US" sz="2400">
              <a:latin typeface="Times New Roman" charset="0"/>
            </a:endParaRPr>
          </a:p>
        </p:txBody>
      </p:sp>
      <p:sp>
        <p:nvSpPr>
          <p:cNvPr id="168" name="Rectangle 166"/>
          <p:cNvSpPr>
            <a:spLocks noChangeArrowheads="1"/>
          </p:cNvSpPr>
          <p:nvPr/>
        </p:nvSpPr>
        <p:spPr bwMode="auto">
          <a:xfrm>
            <a:off x="7823575" y="24029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69" name="Rectangle 167"/>
          <p:cNvSpPr>
            <a:spLocks noChangeArrowheads="1"/>
          </p:cNvSpPr>
          <p:nvPr/>
        </p:nvSpPr>
        <p:spPr bwMode="auto">
          <a:xfrm>
            <a:off x="8714163" y="24029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0" name="Rectangle 168"/>
          <p:cNvSpPr>
            <a:spLocks noChangeArrowheads="1"/>
          </p:cNvSpPr>
          <p:nvPr/>
        </p:nvSpPr>
        <p:spPr bwMode="auto">
          <a:xfrm>
            <a:off x="9163426" y="240293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1" name="Rectangle 169"/>
          <p:cNvSpPr>
            <a:spLocks noChangeArrowheads="1"/>
          </p:cNvSpPr>
          <p:nvPr/>
        </p:nvSpPr>
        <p:spPr bwMode="auto">
          <a:xfrm>
            <a:off x="9387263" y="261089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2" name="Rectangle 170"/>
          <p:cNvSpPr>
            <a:spLocks noChangeArrowheads="1"/>
          </p:cNvSpPr>
          <p:nvPr/>
        </p:nvSpPr>
        <p:spPr bwMode="auto">
          <a:xfrm>
            <a:off x="9834939" y="261089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3" name="Rectangle 171"/>
          <p:cNvSpPr>
            <a:spLocks noChangeArrowheads="1"/>
          </p:cNvSpPr>
          <p:nvPr/>
        </p:nvSpPr>
        <p:spPr bwMode="auto">
          <a:xfrm>
            <a:off x="7712450" y="2823617"/>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4" name="Rectangle 172"/>
          <p:cNvSpPr>
            <a:spLocks noChangeArrowheads="1"/>
          </p:cNvSpPr>
          <p:nvPr/>
        </p:nvSpPr>
        <p:spPr bwMode="auto">
          <a:xfrm>
            <a:off x="8047413" y="2823617"/>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5" name="Rectangle 173"/>
          <p:cNvSpPr>
            <a:spLocks noChangeArrowheads="1"/>
          </p:cNvSpPr>
          <p:nvPr/>
        </p:nvSpPr>
        <p:spPr bwMode="auto">
          <a:xfrm>
            <a:off x="9168188" y="2823617"/>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6" name="Rectangle 174"/>
          <p:cNvSpPr>
            <a:spLocks noChangeArrowheads="1"/>
          </p:cNvSpPr>
          <p:nvPr/>
        </p:nvSpPr>
        <p:spPr bwMode="auto">
          <a:xfrm>
            <a:off x="9504738" y="2823617"/>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7" name="Rectangle 175"/>
          <p:cNvSpPr>
            <a:spLocks noChangeArrowheads="1"/>
          </p:cNvSpPr>
          <p:nvPr/>
        </p:nvSpPr>
        <p:spPr bwMode="auto">
          <a:xfrm>
            <a:off x="9954001" y="2823617"/>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8" name="Rectangle 176"/>
          <p:cNvSpPr>
            <a:spLocks noChangeArrowheads="1"/>
          </p:cNvSpPr>
          <p:nvPr/>
        </p:nvSpPr>
        <p:spPr bwMode="auto">
          <a:xfrm>
            <a:off x="7936288" y="303158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79" name="Rectangle 177"/>
          <p:cNvSpPr>
            <a:spLocks noChangeArrowheads="1"/>
          </p:cNvSpPr>
          <p:nvPr/>
        </p:nvSpPr>
        <p:spPr bwMode="auto">
          <a:xfrm>
            <a:off x="9728576" y="303158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0" name="Rectangle 178"/>
          <p:cNvSpPr>
            <a:spLocks noChangeArrowheads="1"/>
          </p:cNvSpPr>
          <p:nvPr/>
        </p:nvSpPr>
        <p:spPr bwMode="auto">
          <a:xfrm>
            <a:off x="7712450" y="3244305"/>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1" name="Rectangle 179"/>
          <p:cNvSpPr>
            <a:spLocks noChangeArrowheads="1"/>
          </p:cNvSpPr>
          <p:nvPr/>
        </p:nvSpPr>
        <p:spPr bwMode="auto">
          <a:xfrm>
            <a:off x="8047413" y="3244305"/>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2" name="Rectangle 180"/>
          <p:cNvSpPr>
            <a:spLocks noChangeArrowheads="1"/>
          </p:cNvSpPr>
          <p:nvPr/>
        </p:nvSpPr>
        <p:spPr bwMode="auto">
          <a:xfrm>
            <a:off x="8939588" y="3244305"/>
            <a:ext cx="0" cy="369888"/>
          </a:xfrm>
          <a:prstGeom prst="rect">
            <a:avLst/>
          </a:prstGeom>
          <a:noFill/>
          <a:ln w="9525">
            <a:noFill/>
            <a:miter lim="800000"/>
            <a:headEnd/>
            <a:tailEnd/>
          </a:ln>
        </p:spPr>
        <p:txBody>
          <a:bodyPr wrap="none" lIns="0" tIns="0" rIns="0" bIns="0">
            <a:spAutoFit/>
          </a:bodyPr>
          <a:lstStyle/>
          <a:p>
            <a:endParaRPr lang="zh-CN" altLang="en-US" sz="2400">
              <a:latin typeface="Times New Roman" charset="0"/>
            </a:endParaRPr>
          </a:p>
        </p:txBody>
      </p:sp>
      <p:sp>
        <p:nvSpPr>
          <p:cNvPr id="183" name="Rectangle 181"/>
          <p:cNvSpPr>
            <a:spLocks noChangeArrowheads="1"/>
          </p:cNvSpPr>
          <p:nvPr/>
        </p:nvSpPr>
        <p:spPr bwMode="auto">
          <a:xfrm>
            <a:off x="7712450" y="345068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4" name="Rectangle 182"/>
          <p:cNvSpPr>
            <a:spLocks noChangeArrowheads="1"/>
          </p:cNvSpPr>
          <p:nvPr/>
        </p:nvSpPr>
        <p:spPr bwMode="auto">
          <a:xfrm>
            <a:off x="8383963" y="345068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5" name="Rectangle 183"/>
          <p:cNvSpPr>
            <a:spLocks noChangeArrowheads="1"/>
          </p:cNvSpPr>
          <p:nvPr/>
        </p:nvSpPr>
        <p:spPr bwMode="auto">
          <a:xfrm>
            <a:off x="9723814" y="3450680"/>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6" name="Rectangle 184"/>
          <p:cNvSpPr>
            <a:spLocks noChangeArrowheads="1"/>
          </p:cNvSpPr>
          <p:nvPr/>
        </p:nvSpPr>
        <p:spPr bwMode="auto">
          <a:xfrm>
            <a:off x="7823575" y="366499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7" name="Rectangle 185"/>
          <p:cNvSpPr>
            <a:spLocks noChangeArrowheads="1"/>
          </p:cNvSpPr>
          <p:nvPr/>
        </p:nvSpPr>
        <p:spPr bwMode="auto">
          <a:xfrm>
            <a:off x="8266488" y="366499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8" name="Rectangle 186"/>
          <p:cNvSpPr>
            <a:spLocks noChangeArrowheads="1"/>
          </p:cNvSpPr>
          <p:nvPr/>
        </p:nvSpPr>
        <p:spPr bwMode="auto">
          <a:xfrm>
            <a:off x="9723814" y="3664992"/>
            <a:ext cx="114300" cy="228600"/>
          </a:xfrm>
          <a:prstGeom prst="rect">
            <a:avLst/>
          </a:prstGeom>
          <a:noFill/>
          <a:ln w="9525">
            <a:noFill/>
            <a:miter lim="800000"/>
            <a:headEnd/>
            <a:tailEnd/>
          </a:ln>
        </p:spPr>
        <p:txBody>
          <a:bodyPr wrap="none" lIns="0" tIns="0" rIns="0" bIns="0">
            <a:spAutoFit/>
          </a:bodyPr>
          <a:lstStyle/>
          <a:p>
            <a:r>
              <a:rPr lang="zh-CN" altLang="en-US" sz="1500">
                <a:solidFill>
                  <a:srgbClr val="000000"/>
                </a:solidFill>
                <a:latin typeface="Courier New" pitchFamily="49" charset="-52"/>
              </a:rPr>
              <a:t> </a:t>
            </a:r>
            <a:endParaRPr lang="zh-CN" altLang="en-US" sz="2400">
              <a:latin typeface="Times New Roman" charset="0"/>
            </a:endParaRPr>
          </a:p>
        </p:txBody>
      </p:sp>
      <p:sp>
        <p:nvSpPr>
          <p:cNvPr id="189" name="Freeform 187"/>
          <p:cNvSpPr>
            <a:spLocks/>
          </p:cNvSpPr>
          <p:nvPr/>
        </p:nvSpPr>
        <p:spPr bwMode="auto">
          <a:xfrm>
            <a:off x="7475913" y="1825080"/>
            <a:ext cx="835025" cy="106363"/>
          </a:xfrm>
          <a:custGeom>
            <a:avLst/>
            <a:gdLst/>
            <a:ahLst/>
            <a:cxnLst>
              <a:cxn ang="0">
                <a:pos x="0" y="0"/>
              </a:cxn>
              <a:cxn ang="0">
                <a:pos x="526" y="4"/>
              </a:cxn>
              <a:cxn ang="0">
                <a:pos x="526" y="67"/>
              </a:cxn>
              <a:cxn ang="0">
                <a:pos x="4" y="67"/>
              </a:cxn>
              <a:cxn ang="0">
                <a:pos x="4" y="4"/>
              </a:cxn>
              <a:cxn ang="0">
                <a:pos x="4" y="4"/>
              </a:cxn>
              <a:cxn ang="0">
                <a:pos x="0" y="0"/>
              </a:cxn>
            </a:cxnLst>
            <a:rect l="0" t="0" r="r" b="b"/>
            <a:pathLst>
              <a:path w="526" h="67">
                <a:moveTo>
                  <a:pt x="0" y="0"/>
                </a:moveTo>
                <a:lnTo>
                  <a:pt x="526" y="4"/>
                </a:lnTo>
                <a:lnTo>
                  <a:pt x="526" y="67"/>
                </a:lnTo>
                <a:lnTo>
                  <a:pt x="4" y="67"/>
                </a:lnTo>
                <a:lnTo>
                  <a:pt x="4" y="4"/>
                </a:lnTo>
                <a:lnTo>
                  <a:pt x="4" y="4"/>
                </a:lnTo>
                <a:lnTo>
                  <a:pt x="0" y="0"/>
                </a:lnTo>
                <a:close/>
              </a:path>
            </a:pathLst>
          </a:custGeom>
          <a:solidFill>
            <a:srgbClr val="FFFFFF"/>
          </a:solidFill>
          <a:ln w="9525">
            <a:noFill/>
            <a:round/>
            <a:headEnd/>
            <a:tailEnd/>
          </a:ln>
        </p:spPr>
        <p:txBody>
          <a:bodyPr/>
          <a:lstStyle/>
          <a:p>
            <a:endParaRPr lang="zh-CN" altLang="en-US"/>
          </a:p>
        </p:txBody>
      </p:sp>
      <p:sp>
        <p:nvSpPr>
          <p:cNvPr id="190" name="Freeform 188" descr="Light downward diagonal"/>
          <p:cNvSpPr>
            <a:spLocks/>
          </p:cNvSpPr>
          <p:nvPr/>
        </p:nvSpPr>
        <p:spPr bwMode="auto">
          <a:xfrm>
            <a:off x="7500983" y="2007641"/>
            <a:ext cx="835025" cy="106363"/>
          </a:xfrm>
          <a:custGeom>
            <a:avLst/>
            <a:gdLst/>
            <a:ahLst/>
            <a:cxnLst>
              <a:cxn ang="0">
                <a:pos x="0" y="0"/>
              </a:cxn>
              <a:cxn ang="0">
                <a:pos x="526" y="4"/>
              </a:cxn>
              <a:cxn ang="0">
                <a:pos x="526" y="67"/>
              </a:cxn>
              <a:cxn ang="0">
                <a:pos x="4" y="67"/>
              </a:cxn>
              <a:cxn ang="0">
                <a:pos x="4" y="4"/>
              </a:cxn>
              <a:cxn ang="0">
                <a:pos x="4" y="4"/>
              </a:cxn>
              <a:cxn ang="0">
                <a:pos x="0" y="0"/>
              </a:cxn>
            </a:cxnLst>
            <a:rect l="0" t="0" r="r" b="b"/>
            <a:pathLst>
              <a:path w="526" h="67">
                <a:moveTo>
                  <a:pt x="0" y="0"/>
                </a:moveTo>
                <a:lnTo>
                  <a:pt x="526" y="4"/>
                </a:lnTo>
                <a:lnTo>
                  <a:pt x="526" y="67"/>
                </a:lnTo>
                <a:lnTo>
                  <a:pt x="4" y="67"/>
                </a:lnTo>
                <a:lnTo>
                  <a:pt x="4" y="4"/>
                </a:lnTo>
                <a:lnTo>
                  <a:pt x="4" y="4"/>
                </a:lnTo>
                <a:lnTo>
                  <a:pt x="0" y="0"/>
                </a:lnTo>
                <a:close/>
              </a:path>
            </a:pathLst>
          </a:custGeom>
          <a:pattFill prst="ltDnDiag">
            <a:fgClr>
              <a:schemeClr val="tx1"/>
            </a:fgClr>
            <a:bgClr>
              <a:srgbClr val="FFFFFF"/>
            </a:bgClr>
          </a:pattFill>
          <a:ln w="9525">
            <a:noFill/>
            <a:round/>
            <a:headEnd/>
            <a:tailEnd/>
          </a:ln>
        </p:spPr>
        <p:txBody>
          <a:bodyPr/>
          <a:lstStyle/>
          <a:p>
            <a:endParaRPr lang="zh-CN" altLang="en-US"/>
          </a:p>
        </p:txBody>
      </p:sp>
      <p:sp>
        <p:nvSpPr>
          <p:cNvPr id="191" name="Freeform 189"/>
          <p:cNvSpPr>
            <a:spLocks/>
          </p:cNvSpPr>
          <p:nvPr/>
        </p:nvSpPr>
        <p:spPr bwMode="auto">
          <a:xfrm>
            <a:off x="7445421" y="2007642"/>
            <a:ext cx="835025" cy="106363"/>
          </a:xfrm>
          <a:custGeom>
            <a:avLst/>
            <a:gdLst/>
            <a:ahLst/>
            <a:cxnLst>
              <a:cxn ang="0">
                <a:pos x="0" y="0"/>
              </a:cxn>
              <a:cxn ang="0">
                <a:pos x="526" y="4"/>
              </a:cxn>
              <a:cxn ang="0">
                <a:pos x="526" y="67"/>
              </a:cxn>
              <a:cxn ang="0">
                <a:pos x="4" y="67"/>
              </a:cxn>
              <a:cxn ang="0">
                <a:pos x="4" y="4"/>
              </a:cxn>
              <a:cxn ang="0">
                <a:pos x="4" y="4"/>
              </a:cxn>
            </a:cxnLst>
            <a:rect l="0" t="0" r="r" b="b"/>
            <a:pathLst>
              <a:path w="526" h="67">
                <a:moveTo>
                  <a:pt x="0" y="0"/>
                </a:moveTo>
                <a:lnTo>
                  <a:pt x="526" y="4"/>
                </a:lnTo>
                <a:lnTo>
                  <a:pt x="526" y="67"/>
                </a:lnTo>
                <a:lnTo>
                  <a:pt x="4" y="67"/>
                </a:lnTo>
                <a:lnTo>
                  <a:pt x="4" y="4"/>
                </a:lnTo>
                <a:lnTo>
                  <a:pt x="4" y="4"/>
                </a:lnTo>
              </a:path>
            </a:pathLst>
          </a:custGeom>
          <a:noFill/>
          <a:ln w="11113">
            <a:solidFill>
              <a:srgbClr val="000000"/>
            </a:solidFill>
            <a:prstDash val="solid"/>
            <a:round/>
            <a:headEnd/>
            <a:tailEnd/>
          </a:ln>
        </p:spPr>
        <p:txBody>
          <a:bodyPr/>
          <a:lstStyle/>
          <a:p>
            <a:endParaRPr lang="zh-CN" altLang="en-US"/>
          </a:p>
        </p:txBody>
      </p:sp>
      <p:sp>
        <p:nvSpPr>
          <p:cNvPr id="192" name="Freeform 190"/>
          <p:cNvSpPr>
            <a:spLocks/>
          </p:cNvSpPr>
          <p:nvPr/>
        </p:nvSpPr>
        <p:spPr bwMode="auto">
          <a:xfrm>
            <a:off x="8933238" y="1825080"/>
            <a:ext cx="835025" cy="106363"/>
          </a:xfrm>
          <a:custGeom>
            <a:avLst/>
            <a:gdLst/>
            <a:ahLst/>
            <a:cxnLst>
              <a:cxn ang="0">
                <a:pos x="0" y="0"/>
              </a:cxn>
              <a:cxn ang="0">
                <a:pos x="526" y="4"/>
              </a:cxn>
              <a:cxn ang="0">
                <a:pos x="526" y="67"/>
              </a:cxn>
              <a:cxn ang="0">
                <a:pos x="0" y="67"/>
              </a:cxn>
              <a:cxn ang="0">
                <a:pos x="0" y="4"/>
              </a:cxn>
              <a:cxn ang="0">
                <a:pos x="0" y="4"/>
              </a:cxn>
              <a:cxn ang="0">
                <a:pos x="0" y="0"/>
              </a:cxn>
            </a:cxnLst>
            <a:rect l="0" t="0" r="r" b="b"/>
            <a:pathLst>
              <a:path w="526" h="67">
                <a:moveTo>
                  <a:pt x="0" y="0"/>
                </a:moveTo>
                <a:lnTo>
                  <a:pt x="526" y="4"/>
                </a:lnTo>
                <a:lnTo>
                  <a:pt x="526" y="67"/>
                </a:lnTo>
                <a:lnTo>
                  <a:pt x="0" y="67"/>
                </a:lnTo>
                <a:lnTo>
                  <a:pt x="0" y="4"/>
                </a:lnTo>
                <a:lnTo>
                  <a:pt x="0" y="4"/>
                </a:lnTo>
                <a:lnTo>
                  <a:pt x="0" y="0"/>
                </a:lnTo>
                <a:close/>
              </a:path>
            </a:pathLst>
          </a:custGeom>
          <a:solidFill>
            <a:srgbClr val="FFFFFF"/>
          </a:solidFill>
          <a:ln w="9525">
            <a:noFill/>
            <a:round/>
            <a:headEnd/>
            <a:tailEnd/>
          </a:ln>
        </p:spPr>
        <p:txBody>
          <a:bodyPr/>
          <a:lstStyle/>
          <a:p>
            <a:endParaRPr lang="zh-CN" altLang="en-US"/>
          </a:p>
        </p:txBody>
      </p:sp>
      <p:sp>
        <p:nvSpPr>
          <p:cNvPr id="193" name="Freeform 191" descr="Light upward diagonal"/>
          <p:cNvSpPr>
            <a:spLocks/>
          </p:cNvSpPr>
          <p:nvPr/>
        </p:nvSpPr>
        <p:spPr bwMode="auto">
          <a:xfrm>
            <a:off x="8978594" y="2015580"/>
            <a:ext cx="835025" cy="106363"/>
          </a:xfrm>
          <a:custGeom>
            <a:avLst/>
            <a:gdLst/>
            <a:ahLst/>
            <a:cxnLst>
              <a:cxn ang="0">
                <a:pos x="0" y="0"/>
              </a:cxn>
              <a:cxn ang="0">
                <a:pos x="526" y="4"/>
              </a:cxn>
              <a:cxn ang="0">
                <a:pos x="526" y="67"/>
              </a:cxn>
              <a:cxn ang="0">
                <a:pos x="0" y="67"/>
              </a:cxn>
              <a:cxn ang="0">
                <a:pos x="0" y="4"/>
              </a:cxn>
              <a:cxn ang="0">
                <a:pos x="0" y="4"/>
              </a:cxn>
              <a:cxn ang="0">
                <a:pos x="0" y="0"/>
              </a:cxn>
            </a:cxnLst>
            <a:rect l="0" t="0" r="r" b="b"/>
            <a:pathLst>
              <a:path w="526" h="67">
                <a:moveTo>
                  <a:pt x="0" y="0"/>
                </a:moveTo>
                <a:lnTo>
                  <a:pt x="526" y="4"/>
                </a:lnTo>
                <a:lnTo>
                  <a:pt x="526" y="67"/>
                </a:lnTo>
                <a:lnTo>
                  <a:pt x="0" y="67"/>
                </a:lnTo>
                <a:lnTo>
                  <a:pt x="0" y="4"/>
                </a:lnTo>
                <a:lnTo>
                  <a:pt x="0" y="4"/>
                </a:lnTo>
                <a:lnTo>
                  <a:pt x="0" y="0"/>
                </a:lnTo>
                <a:close/>
              </a:path>
            </a:pathLst>
          </a:custGeom>
          <a:pattFill prst="ltUpDiag">
            <a:fgClr>
              <a:schemeClr val="tx1"/>
            </a:fgClr>
            <a:bgClr>
              <a:srgbClr val="FFFFFF"/>
            </a:bgClr>
          </a:pattFill>
          <a:ln w="9525">
            <a:noFill/>
            <a:round/>
            <a:headEnd/>
            <a:tailEnd/>
          </a:ln>
        </p:spPr>
        <p:txBody>
          <a:bodyPr/>
          <a:lstStyle/>
          <a:p>
            <a:endParaRPr lang="zh-CN" altLang="en-US"/>
          </a:p>
        </p:txBody>
      </p:sp>
      <p:sp>
        <p:nvSpPr>
          <p:cNvPr id="194" name="Freeform 192"/>
          <p:cNvSpPr>
            <a:spLocks/>
          </p:cNvSpPr>
          <p:nvPr/>
        </p:nvSpPr>
        <p:spPr bwMode="auto">
          <a:xfrm>
            <a:off x="8988801" y="1996529"/>
            <a:ext cx="835025" cy="106363"/>
          </a:xfrm>
          <a:custGeom>
            <a:avLst/>
            <a:gdLst/>
            <a:ahLst/>
            <a:cxnLst>
              <a:cxn ang="0">
                <a:pos x="0" y="0"/>
              </a:cxn>
              <a:cxn ang="0">
                <a:pos x="526" y="4"/>
              </a:cxn>
              <a:cxn ang="0">
                <a:pos x="526" y="67"/>
              </a:cxn>
              <a:cxn ang="0">
                <a:pos x="0" y="67"/>
              </a:cxn>
              <a:cxn ang="0">
                <a:pos x="0" y="4"/>
              </a:cxn>
              <a:cxn ang="0">
                <a:pos x="0" y="4"/>
              </a:cxn>
            </a:cxnLst>
            <a:rect l="0" t="0" r="r" b="b"/>
            <a:pathLst>
              <a:path w="526" h="67">
                <a:moveTo>
                  <a:pt x="0" y="0"/>
                </a:moveTo>
                <a:lnTo>
                  <a:pt x="526" y="4"/>
                </a:lnTo>
                <a:lnTo>
                  <a:pt x="526" y="67"/>
                </a:lnTo>
                <a:lnTo>
                  <a:pt x="0" y="67"/>
                </a:lnTo>
                <a:lnTo>
                  <a:pt x="0" y="4"/>
                </a:lnTo>
                <a:lnTo>
                  <a:pt x="0" y="4"/>
                </a:lnTo>
              </a:path>
            </a:pathLst>
          </a:custGeom>
          <a:noFill/>
          <a:ln w="11113">
            <a:solidFill>
              <a:srgbClr val="000000"/>
            </a:solidFill>
            <a:prstDash val="solid"/>
            <a:round/>
            <a:headEnd/>
            <a:tailEnd/>
          </a:ln>
        </p:spPr>
        <p:txBody>
          <a:bodyPr/>
          <a:lstStyle/>
          <a:p>
            <a:endParaRPr lang="zh-CN" altLang="en-US"/>
          </a:p>
        </p:txBody>
      </p:sp>
      <p:sp>
        <p:nvSpPr>
          <p:cNvPr id="2" name="标题 1"/>
          <p:cNvSpPr>
            <a:spLocks noGrp="1"/>
          </p:cNvSpPr>
          <p:nvPr>
            <p:ph type="title"/>
          </p:nvPr>
        </p:nvSpPr>
        <p:spPr/>
        <p:txBody>
          <a:bodyPr/>
          <a:lstStyle/>
          <a:p>
            <a:r>
              <a:rPr kumimoji="1" lang="en-US" altLang="zh-CN" dirty="0" smtClean="0"/>
              <a:t>2</a:t>
            </a:r>
            <a:r>
              <a:rPr kumimoji="1" lang="zh-CN" altLang="en-US" dirty="0" smtClean="0"/>
              <a:t>维数组的网格中的冲突不命中</a:t>
            </a:r>
            <a:endParaRPr kumimoji="1" lang="zh-CN" altLang="en-US" dirty="0"/>
          </a:p>
        </p:txBody>
      </p:sp>
      <p:sp>
        <p:nvSpPr>
          <p:cNvPr id="3" name="内容占位符 2"/>
          <p:cNvSpPr>
            <a:spLocks noGrp="1"/>
          </p:cNvSpPr>
          <p:nvPr>
            <p:ph idx="1"/>
          </p:nvPr>
        </p:nvSpPr>
        <p:spPr>
          <a:xfrm>
            <a:off x="1981200" y="5624636"/>
            <a:ext cx="8178800" cy="612676"/>
          </a:xfrm>
        </p:spPr>
        <p:txBody>
          <a:bodyPr/>
          <a:lstStyle/>
          <a:p>
            <a:r>
              <a:rPr kumimoji="1" lang="zh-CN" altLang="en-US" sz="2400" dirty="0"/>
              <a:t>分割区的相继子行是不连续的</a:t>
            </a:r>
            <a:endParaRPr kumimoji="1" lang="en-US" altLang="zh-CN" sz="2400" dirty="0"/>
          </a:p>
          <a:p>
            <a:r>
              <a:rPr lang="zh-CN" altLang="en-US" sz="2400" dirty="0"/>
              <a:t>当</a:t>
            </a:r>
            <a:r>
              <a:rPr lang="en-US" altLang="zh-CN" sz="2400" dirty="0"/>
              <a:t>cache</a:t>
            </a:r>
            <a:r>
              <a:rPr lang="zh-CN" altLang="en-US" sz="2400" dirty="0"/>
              <a:t>和数组大小都是</a:t>
            </a:r>
            <a:r>
              <a:rPr lang="en-US" altLang="zh-CN" sz="2400" dirty="0"/>
              <a:t>2</a:t>
            </a:r>
            <a:r>
              <a:rPr lang="zh-CN" altLang="en-US" sz="2400" dirty="0"/>
              <a:t>的幂次时，问题更糟</a:t>
            </a:r>
            <a:endParaRPr kumimoji="1" lang="zh-CN" altLang="en-US" sz="2400" dirty="0"/>
          </a:p>
        </p:txBody>
      </p:sp>
    </p:spTree>
    <p:extLst>
      <p:ext uri="{BB962C8B-B14F-4D97-AF65-F5344CB8AC3E}">
        <p14:creationId xmlns:p14="http://schemas.microsoft.com/office/powerpoint/2010/main" val="183474786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优化技巧（续）</a:t>
            </a:r>
            <a:endParaRPr lang="zh-CN" altLang="en-US" dirty="0"/>
          </a:p>
        </p:txBody>
      </p:sp>
      <p:sp>
        <p:nvSpPr>
          <p:cNvPr id="3" name="内容占位符 2"/>
          <p:cNvSpPr>
            <a:spLocks noGrp="1"/>
          </p:cNvSpPr>
          <p:nvPr>
            <p:ph idx="1"/>
          </p:nvPr>
        </p:nvSpPr>
        <p:spPr/>
        <p:txBody>
          <a:bodyPr/>
          <a:lstStyle/>
          <a:p>
            <a:r>
              <a:rPr lang="zh-CN" altLang="en-US" smtClean="0"/>
              <a:t>小心更一般的冲突不命中</a:t>
            </a:r>
            <a:endParaRPr lang="en-US" altLang="zh-CN" smtClean="0"/>
          </a:p>
          <a:p>
            <a:pPr lvl="1"/>
            <a:r>
              <a:rPr lang="zh-CN" altLang="en-US" smtClean="0"/>
              <a:t>分配非</a:t>
            </a:r>
            <a:r>
              <a:rPr lang="en-US" altLang="zh-CN" smtClean="0"/>
              <a:t>2</a:t>
            </a:r>
            <a:r>
              <a:rPr lang="zh-CN" altLang="en-US" smtClean="0"/>
              <a:t>的幂次，即使应用需要</a:t>
            </a:r>
            <a:r>
              <a:rPr lang="en-US" altLang="zh-CN" smtClean="0"/>
              <a:t>2</a:t>
            </a:r>
            <a:r>
              <a:rPr lang="zh-CN" altLang="en-US" smtClean="0"/>
              <a:t>的幂次</a:t>
            </a:r>
            <a:endParaRPr lang="en-US" altLang="zh-CN" smtClean="0"/>
          </a:p>
          <a:p>
            <a:pPr lvl="1"/>
            <a:r>
              <a:rPr lang="zh-CN" altLang="en-US" smtClean="0"/>
              <a:t>跨数据结构的冲突不命中：特设的加边</a:t>
            </a:r>
            <a:r>
              <a:rPr lang="en-US" altLang="zh-CN" smtClean="0"/>
              <a:t>/</a:t>
            </a:r>
            <a:r>
              <a:rPr lang="zh-CN" altLang="en-US" smtClean="0"/>
              <a:t>对齐</a:t>
            </a:r>
            <a:endParaRPr lang="en-US" altLang="zh-CN" smtClean="0"/>
          </a:p>
          <a:p>
            <a:pPr lvl="1"/>
            <a:r>
              <a:rPr lang="zh-CN" altLang="en-US" smtClean="0"/>
              <a:t>小量、看起来无害的数据造成的冲突不命中</a:t>
            </a:r>
            <a:endParaRPr lang="en-US" altLang="zh-CN" smtClean="0"/>
          </a:p>
          <a:p>
            <a:r>
              <a:rPr lang="zh-CN" altLang="en-US" smtClean="0"/>
              <a:t>动态存储器分配：每个处理器用一个堆</a:t>
            </a:r>
            <a:endParaRPr lang="en-US" altLang="zh-CN" smtClean="0"/>
          </a:p>
          <a:p>
            <a:r>
              <a:rPr lang="zh-CN" altLang="en-US" smtClean="0"/>
              <a:t>复制数据以增加局部性</a:t>
            </a:r>
            <a:endParaRPr lang="en-US" altLang="zh-CN" smtClean="0"/>
          </a:p>
          <a:p>
            <a:pPr lvl="1"/>
            <a:r>
              <a:rPr lang="zh-CN" altLang="en-US" smtClean="0"/>
              <a:t>若要重用非连续数据；须与复制本身的成本加以权衡</a:t>
            </a:r>
            <a:endParaRPr lang="en-US" altLang="zh-CN" smtClean="0"/>
          </a:p>
          <a:p>
            <a:r>
              <a:rPr lang="zh-CN" altLang="en-US" smtClean="0"/>
              <a:t>数组对齐和加边：减少假共享或增加碎片的权衡</a:t>
            </a:r>
            <a:endParaRPr lang="en-US" altLang="zh-CN" smtClean="0"/>
          </a:p>
          <a:p>
            <a:pPr lvl="1"/>
            <a:r>
              <a:rPr lang="zh-CN" altLang="en-US" smtClean="0"/>
              <a:t>增强空间局部性：记录的数组，还是数组的记录</a:t>
            </a:r>
            <a:endParaRPr lang="en-US" altLang="zh-CN" smtClean="0"/>
          </a:p>
          <a:p>
            <a:pPr lvl="2"/>
            <a:r>
              <a:rPr lang="zh-CN" altLang="en-US" smtClean="0"/>
              <a:t>多体计算中，每个粒子是个记录？所有粒子的力组成数组？</a:t>
            </a:r>
            <a:endParaRPr lang="en-US" altLang="zh-CN" smtClean="0"/>
          </a:p>
          <a:p>
            <a:pPr lvl="1"/>
            <a:r>
              <a:rPr lang="zh-CN" altLang="en-US" smtClean="0"/>
              <a:t>向量程序用域（单位步长），并行程序通常用粒子</a:t>
            </a:r>
            <a:endParaRPr lang="en-US" altLang="zh-CN" smtClean="0"/>
          </a:p>
          <a:p>
            <a:pPr lvl="1"/>
            <a:r>
              <a:rPr lang="zh-CN" altLang="en-US" smtClean="0"/>
              <a:t>程序的不同阶段也许有不同的访问模式和需求</a:t>
            </a:r>
            <a:endParaRPr lang="zh-CN" altLang="en-US" dirty="0"/>
          </a:p>
        </p:txBody>
      </p:sp>
    </p:spTree>
    <p:extLst>
      <p:ext uri="{BB962C8B-B14F-4D97-AF65-F5344CB8AC3E}">
        <p14:creationId xmlns:p14="http://schemas.microsoft.com/office/powerpoint/2010/main" val="105255925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顺序一致性要求对性能的影响</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一种实现方案：</a:t>
            </a:r>
            <a:endParaRPr lang="en-US" altLang="zh-CN" dirty="0" smtClean="0"/>
          </a:p>
          <a:p>
            <a:pPr lvl="1">
              <a:lnSpc>
                <a:spcPct val="90000"/>
              </a:lnSpc>
            </a:pPr>
            <a:r>
              <a:rPr lang="zh-CN" altLang="en-US" dirty="0" smtClean="0"/>
              <a:t>延迟访存操作的完成，直到它导致的所有使无效都完成</a:t>
            </a:r>
            <a:endParaRPr lang="en-US" dirty="0" smtClean="0"/>
          </a:p>
          <a:p>
            <a:pPr lvl="1">
              <a:lnSpc>
                <a:spcPct val="90000"/>
              </a:lnSpc>
            </a:pPr>
            <a:r>
              <a:rPr lang="zh-CN" altLang="en-US" dirty="0" smtClean="0"/>
              <a:t>但也带来了性能的损失</a:t>
            </a:r>
            <a:endParaRPr lang="en-US" dirty="0" smtClean="0"/>
          </a:p>
          <a:p>
            <a:pPr>
              <a:lnSpc>
                <a:spcPct val="90000"/>
              </a:lnSpc>
            </a:pPr>
            <a:r>
              <a:rPr lang="zh-CN" altLang="en-US" dirty="0" smtClean="0"/>
              <a:t>另一种可选的方案：</a:t>
            </a:r>
            <a:endParaRPr lang="en-US" dirty="0" smtClean="0"/>
          </a:p>
          <a:p>
            <a:pPr lvl="1">
              <a:lnSpc>
                <a:spcPct val="90000"/>
              </a:lnSpc>
            </a:pPr>
            <a:r>
              <a:rPr lang="zh-CN" altLang="en-US" dirty="0" smtClean="0"/>
              <a:t>由程序员用同步操作来强制访问顺序：一个处理器上的写发生在另一个处理器上的读之前</a:t>
            </a:r>
            <a:endParaRPr lang="en-US" dirty="0" smtClean="0"/>
          </a:p>
          <a:p>
            <a:pPr lvl="1">
              <a:lnSpc>
                <a:spcPct val="90000"/>
              </a:lnSpc>
            </a:pPr>
            <a:r>
              <a:rPr lang="zh-CN" altLang="en-US" dirty="0" smtClean="0"/>
              <a:t>对不同处理器上的共享对象用同步操作来管理</a:t>
            </a:r>
            <a:endParaRPr lang="en-US" dirty="0" smtClean="0"/>
          </a:p>
          <a:p>
            <a:pPr lvl="2">
              <a:lnSpc>
                <a:spcPct val="90000"/>
              </a:lnSpc>
            </a:pPr>
            <a:r>
              <a:rPr lang="zh-CN" altLang="en-US" dirty="0" smtClean="0"/>
              <a:t>写完以后，施加</a:t>
            </a:r>
            <a:r>
              <a:rPr lang="en-US" dirty="0" smtClean="0"/>
              <a:t>“Unlock”</a:t>
            </a:r>
            <a:r>
              <a:rPr lang="zh-CN" altLang="en-US" dirty="0" smtClean="0"/>
              <a:t>操作</a:t>
            </a:r>
            <a:endParaRPr lang="en-US" dirty="0" smtClean="0"/>
          </a:p>
          <a:p>
            <a:pPr lvl="2">
              <a:lnSpc>
                <a:spcPct val="90000"/>
              </a:lnSpc>
            </a:pPr>
            <a:r>
              <a:rPr lang="en-US" dirty="0" smtClean="0"/>
              <a:t>“Lock”</a:t>
            </a:r>
            <a:r>
              <a:rPr lang="zh-CN" altLang="en-US" dirty="0" smtClean="0"/>
              <a:t>之后，再去读</a:t>
            </a:r>
            <a:endParaRPr lang="en-US" altLang="zh-CN" dirty="0" smtClean="0"/>
          </a:p>
          <a:p>
            <a:pPr lvl="1">
              <a:lnSpc>
                <a:spcPct val="90000"/>
              </a:lnSpc>
            </a:pPr>
            <a:r>
              <a:rPr lang="zh-CN" altLang="en-US" dirty="0" smtClean="0"/>
              <a:t>这也是普通的并行程序经常采用的方法</a:t>
            </a:r>
            <a:endParaRPr lang="en-US" dirty="0" smtClean="0"/>
          </a:p>
        </p:txBody>
      </p:sp>
    </p:spTree>
    <p:extLst>
      <p:ext uri="{BB962C8B-B14F-4D97-AF65-F5344CB8AC3E}">
        <p14:creationId xmlns:p14="http://schemas.microsoft.com/office/powerpoint/2010/main" val="3634788915"/>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放松的存储器一致性模型</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规定：</a:t>
            </a:r>
            <a:r>
              <a:rPr lang="en-US" dirty="0" smtClean="0"/>
              <a:t>X → Y</a:t>
            </a:r>
          </a:p>
          <a:p>
            <a:pPr lvl="1">
              <a:lnSpc>
                <a:spcPct val="90000"/>
              </a:lnSpc>
            </a:pPr>
            <a:r>
              <a:rPr lang="zh-CN" altLang="en-US" dirty="0" smtClean="0"/>
              <a:t>操作</a:t>
            </a:r>
            <a:r>
              <a:rPr lang="en-US" dirty="0" smtClean="0"/>
              <a:t>X</a:t>
            </a:r>
            <a:r>
              <a:rPr lang="zh-CN" altLang="en-US" dirty="0" smtClean="0"/>
              <a:t>必须在操作</a:t>
            </a:r>
            <a:r>
              <a:rPr lang="en-US" dirty="0" smtClean="0"/>
              <a:t>Y</a:t>
            </a:r>
            <a:r>
              <a:rPr lang="zh-CN" altLang="en-US" dirty="0" smtClean="0"/>
              <a:t>结束之前完成</a:t>
            </a:r>
            <a:endParaRPr lang="en-US" dirty="0" smtClean="0"/>
          </a:p>
          <a:p>
            <a:pPr lvl="1">
              <a:lnSpc>
                <a:spcPct val="90000"/>
              </a:lnSpc>
            </a:pPr>
            <a:r>
              <a:rPr lang="zh-CN" altLang="en-US" dirty="0" smtClean="0"/>
              <a:t>顺序一致性的要求</a:t>
            </a:r>
            <a:r>
              <a:rPr lang="en-US" dirty="0" smtClean="0"/>
              <a:t>:</a:t>
            </a:r>
          </a:p>
          <a:p>
            <a:pPr lvl="2">
              <a:lnSpc>
                <a:spcPct val="90000"/>
              </a:lnSpc>
            </a:pPr>
            <a:r>
              <a:rPr lang="en-US" dirty="0" smtClean="0"/>
              <a:t>R → W, R → R, W → R, W → W</a:t>
            </a:r>
          </a:p>
          <a:p>
            <a:pPr>
              <a:lnSpc>
                <a:spcPct val="90000"/>
              </a:lnSpc>
            </a:pPr>
            <a:r>
              <a:rPr lang="zh-CN" altLang="en-US" dirty="0" smtClean="0"/>
              <a:t>放松</a:t>
            </a:r>
            <a:r>
              <a:rPr lang="en-US" dirty="0" smtClean="0"/>
              <a:t> W → R</a:t>
            </a:r>
          </a:p>
          <a:p>
            <a:pPr lvl="1">
              <a:lnSpc>
                <a:spcPct val="90000"/>
              </a:lnSpc>
            </a:pPr>
            <a:r>
              <a:rPr lang="en-US" dirty="0" smtClean="0"/>
              <a:t>“Total store ordering”</a:t>
            </a:r>
          </a:p>
          <a:p>
            <a:pPr>
              <a:lnSpc>
                <a:spcPct val="90000"/>
              </a:lnSpc>
            </a:pPr>
            <a:r>
              <a:rPr lang="zh-CN" altLang="en-US" dirty="0" smtClean="0"/>
              <a:t>放松</a:t>
            </a:r>
            <a:r>
              <a:rPr lang="en-US" dirty="0" smtClean="0"/>
              <a:t> W → W</a:t>
            </a:r>
          </a:p>
          <a:p>
            <a:pPr lvl="1">
              <a:lnSpc>
                <a:spcPct val="90000"/>
              </a:lnSpc>
            </a:pPr>
            <a:r>
              <a:rPr lang="en-US" dirty="0" smtClean="0"/>
              <a:t>“Partial store order”</a:t>
            </a:r>
          </a:p>
          <a:p>
            <a:pPr>
              <a:lnSpc>
                <a:spcPct val="90000"/>
              </a:lnSpc>
            </a:pPr>
            <a:r>
              <a:rPr lang="zh-CN" altLang="en-US" dirty="0" smtClean="0"/>
              <a:t>放松</a:t>
            </a:r>
            <a:r>
              <a:rPr lang="en-US" dirty="0" smtClean="0"/>
              <a:t> R → W and R → R</a:t>
            </a:r>
          </a:p>
          <a:p>
            <a:pPr lvl="1">
              <a:lnSpc>
                <a:spcPct val="90000"/>
              </a:lnSpc>
            </a:pPr>
            <a:r>
              <a:rPr lang="en-US" dirty="0" smtClean="0"/>
              <a:t>“Weak ordering” </a:t>
            </a:r>
            <a:r>
              <a:rPr lang="zh-CN" altLang="en-US" dirty="0" smtClean="0"/>
              <a:t>或</a:t>
            </a:r>
            <a:r>
              <a:rPr lang="en-US" dirty="0" smtClean="0"/>
              <a:t> “release consistency”</a:t>
            </a:r>
          </a:p>
        </p:txBody>
      </p:sp>
    </p:spTree>
    <p:extLst>
      <p:ext uri="{BB962C8B-B14F-4D97-AF65-F5344CB8AC3E}">
        <p14:creationId xmlns:p14="http://schemas.microsoft.com/office/powerpoint/2010/main" val="1088050826"/>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Picture 2" descr="X:\02_GRAPHICS\BOOKS\02_PPTs\MKCAD(Hennessy)\PPT\Ch05\f05-23-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400" y="3506240"/>
            <a:ext cx="10945216" cy="3326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orderings imposed by various consistency models</a:t>
            </a:r>
            <a:endParaRPr lang="zh-CN" altLang="en-US" dirty="0"/>
          </a:p>
        </p:txBody>
      </p:sp>
      <p:sp>
        <p:nvSpPr>
          <p:cNvPr id="3" name="内容占位符 2"/>
          <p:cNvSpPr>
            <a:spLocks noGrp="1"/>
          </p:cNvSpPr>
          <p:nvPr>
            <p:ph idx="1"/>
          </p:nvPr>
        </p:nvSpPr>
        <p:spPr/>
        <p:txBody>
          <a:bodyPr/>
          <a:lstStyle/>
          <a:p>
            <a:r>
              <a:rPr lang="en-US" altLang="zh-CN" sz="2400" dirty="0" smtClean="0"/>
              <a:t>The </a:t>
            </a:r>
            <a:r>
              <a:rPr lang="en-US" altLang="zh-CN" sz="2400" dirty="0"/>
              <a:t>models grow from most </a:t>
            </a:r>
            <a:r>
              <a:rPr lang="en-US" altLang="zh-CN" sz="2400" dirty="0" smtClean="0"/>
              <a:t>restrictive to </a:t>
            </a:r>
            <a:r>
              <a:rPr lang="en-US" altLang="zh-CN" sz="2400" dirty="0"/>
              <a:t>least </a:t>
            </a:r>
            <a:r>
              <a:rPr lang="en-US" altLang="zh-CN" sz="2400" dirty="0" smtClean="0"/>
              <a:t>restrictive, </a:t>
            </a:r>
            <a:r>
              <a:rPr lang="en-US" altLang="zh-CN" sz="2400" dirty="0"/>
              <a:t>allowing increased flexibility in the </a:t>
            </a:r>
            <a:r>
              <a:rPr lang="en-US" altLang="zh-CN" sz="2400" dirty="0" smtClean="0"/>
              <a:t>implementation</a:t>
            </a:r>
          </a:p>
          <a:p>
            <a:r>
              <a:rPr lang="en-US" altLang="zh-CN" sz="2400" dirty="0" smtClean="0"/>
              <a:t>The </a:t>
            </a:r>
            <a:r>
              <a:rPr lang="en-US" altLang="zh-CN" sz="2400" dirty="0"/>
              <a:t>weaker models rely on fences created by synchronization operations, as opposed to an implicit fence at every memory </a:t>
            </a:r>
            <a:r>
              <a:rPr lang="en-US" altLang="zh-CN" sz="2400" dirty="0" smtClean="0"/>
              <a:t>operation</a:t>
            </a:r>
          </a:p>
          <a:p>
            <a:r>
              <a:rPr lang="en-US" altLang="zh-CN" sz="2400" dirty="0" smtClean="0"/>
              <a:t>S</a:t>
            </a:r>
            <a:r>
              <a:rPr lang="en-US" altLang="zh-CN" sz="2400" baseline="-25000" dirty="0" smtClean="0"/>
              <a:t>A</a:t>
            </a:r>
            <a:r>
              <a:rPr lang="en-US" altLang="zh-CN" sz="2400" dirty="0" smtClean="0"/>
              <a:t> </a:t>
            </a:r>
            <a:r>
              <a:rPr lang="en-US" altLang="zh-CN" sz="2400" dirty="0"/>
              <a:t>and S</a:t>
            </a:r>
            <a:r>
              <a:rPr lang="en-US" altLang="zh-CN" sz="2400" baseline="-25000" dirty="0"/>
              <a:t>R</a:t>
            </a:r>
            <a:r>
              <a:rPr lang="en-US" altLang="zh-CN" sz="2400" dirty="0"/>
              <a:t> stand for acquire and release </a:t>
            </a:r>
            <a:r>
              <a:rPr lang="en-US" altLang="zh-CN" sz="2400" dirty="0" smtClean="0"/>
              <a:t>operations</a:t>
            </a:r>
            <a:endParaRPr lang="zh-CN" altLang="en-US" sz="2400" dirty="0"/>
          </a:p>
        </p:txBody>
      </p:sp>
    </p:spTree>
    <p:extLst>
      <p:ext uri="{BB962C8B-B14F-4D97-AF65-F5344CB8AC3E}">
        <p14:creationId xmlns:p14="http://schemas.microsoft.com/office/powerpoint/2010/main" val="1557677016"/>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t>松一致性模型</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不同的多处理机系统采用不同的一致模型</a:t>
            </a:r>
            <a:endParaRPr lang="en-US" dirty="0" smtClean="0"/>
          </a:p>
          <a:p>
            <a:pPr>
              <a:lnSpc>
                <a:spcPct val="90000"/>
              </a:lnSpc>
            </a:pPr>
            <a:r>
              <a:rPr lang="zh-CN" altLang="en-US" dirty="0" smtClean="0"/>
              <a:t>程序员经常对共享变量的访问施加显式的同步约束</a:t>
            </a:r>
            <a:endParaRPr lang="en-US" dirty="0" smtClean="0"/>
          </a:p>
          <a:p>
            <a:pPr>
              <a:lnSpc>
                <a:spcPct val="90000"/>
              </a:lnSpc>
            </a:pPr>
            <a:r>
              <a:rPr lang="zh-CN" altLang="en-US" dirty="0" smtClean="0"/>
              <a:t>松一致性模型配上同步操作，可达到顺序性一致的结果</a:t>
            </a:r>
            <a:endParaRPr lang="en-US" altLang="zh-CN" dirty="0" smtClean="0"/>
          </a:p>
          <a:p>
            <a:pPr lvl="1">
              <a:lnSpc>
                <a:spcPct val="90000"/>
              </a:lnSpc>
            </a:pPr>
            <a:r>
              <a:rPr lang="zh-CN" altLang="en-US" dirty="0" smtClean="0"/>
              <a:t>可通过乱序、猜测等执行方式，提高性能</a:t>
            </a:r>
            <a:endParaRPr lang="en-US" altLang="zh-CN" dirty="0" smtClean="0"/>
          </a:p>
          <a:p>
            <a:pPr>
              <a:lnSpc>
                <a:spcPct val="90000"/>
              </a:lnSpc>
            </a:pPr>
            <a:r>
              <a:rPr lang="zh-CN" altLang="en-US" dirty="0" smtClean="0"/>
              <a:t>给程序员带来了“额外”负担</a:t>
            </a:r>
            <a:endParaRPr lang="en-US" altLang="zh-CN" dirty="0" smtClean="0"/>
          </a:p>
          <a:p>
            <a:pPr lvl="1">
              <a:lnSpc>
                <a:spcPct val="90000"/>
              </a:lnSpc>
            </a:pPr>
            <a:r>
              <a:rPr lang="zh-CN" altLang="en-US" dirty="0" smtClean="0"/>
              <a:t>要求编写无数据竞争的并行程序</a:t>
            </a:r>
            <a:endParaRPr lang="en-US" altLang="zh-CN" dirty="0" smtClean="0"/>
          </a:p>
          <a:p>
            <a:pPr lvl="1"/>
            <a:r>
              <a:rPr lang="en-US" dirty="0" smtClean="0"/>
              <a:t>Data race free </a:t>
            </a:r>
            <a:r>
              <a:rPr lang="en-US" altLang="zh-CN" dirty="0" smtClean="0"/>
              <a:t>parallel program</a:t>
            </a:r>
            <a:endParaRPr lang="en-US" dirty="0" smtClean="0"/>
          </a:p>
        </p:txBody>
      </p:sp>
    </p:spTree>
    <p:extLst>
      <p:ext uri="{BB962C8B-B14F-4D97-AF65-F5344CB8AC3E}">
        <p14:creationId xmlns:p14="http://schemas.microsoft.com/office/powerpoint/2010/main" val="158408748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2" descr="X:\02_GRAPHICS\BOOKS\02_PPTs\MKCAD(Hennessy)\PPT\Ch05\f05-24-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3" y="1628800"/>
            <a:ext cx="10345694" cy="5109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95400" y="365125"/>
            <a:ext cx="11017224" cy="903635"/>
          </a:xfrm>
        </p:spPr>
        <p:txBody>
          <a:bodyPr/>
          <a:lstStyle/>
          <a:p>
            <a:r>
              <a:rPr lang="en-US" altLang="zh-CN" dirty="0" smtClean="0"/>
              <a:t>Reduction </a:t>
            </a:r>
            <a:r>
              <a:rPr lang="en-US" altLang="zh-CN" dirty="0"/>
              <a:t>in the number of orders imposed</a:t>
            </a:r>
            <a:endParaRPr lang="zh-CN" altLang="en-US" dirty="0"/>
          </a:p>
        </p:txBody>
      </p:sp>
    </p:spTree>
    <p:extLst>
      <p:ext uri="{BB962C8B-B14F-4D97-AF65-F5344CB8AC3E}">
        <p14:creationId xmlns:p14="http://schemas.microsoft.com/office/powerpoint/2010/main" val="2423627103"/>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2" descr="X:\02_GRAPHICS\BOOKS\02_PPTs\MKCAD(Hennessy)\PPT\Ch05\f05-26-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0605" y="1519874"/>
            <a:ext cx="7057763" cy="5338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Comparison of multiple processors</a:t>
            </a:r>
            <a:endParaRPr lang="zh-CN" altLang="en-US" dirty="0"/>
          </a:p>
        </p:txBody>
      </p:sp>
    </p:spTree>
    <p:extLst>
      <p:ext uri="{BB962C8B-B14F-4D97-AF65-F5344CB8AC3E}">
        <p14:creationId xmlns:p14="http://schemas.microsoft.com/office/powerpoint/2010/main" val="1611685591"/>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2" descr="X:\02_GRAPHICS\BOOKS\02_PPTs\MKCAD(Hennessy)\PPT\Ch05\f05-27a-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82" y="3576738"/>
            <a:ext cx="5956718"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2" name="Picture 3" descr="X:\02_GRAPHICS\BOOKS\02_PPTs\MKCAD(Hennessy)\PPT\Ch05\f05-27b-978012811905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2064" y="2273150"/>
            <a:ext cx="5328592" cy="4540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Organization of Power8 vs. Xeon E7</a:t>
            </a:r>
            <a:endParaRPr lang="zh-CN" altLang="en-US" dirty="0"/>
          </a:p>
        </p:txBody>
      </p:sp>
      <p:sp>
        <p:nvSpPr>
          <p:cNvPr id="3" name="矩形 2"/>
          <p:cNvSpPr/>
          <p:nvPr/>
        </p:nvSpPr>
        <p:spPr>
          <a:xfrm>
            <a:off x="479376" y="1427292"/>
            <a:ext cx="11449272" cy="1569660"/>
          </a:xfrm>
          <a:prstGeom prst="rect">
            <a:avLst/>
          </a:prstGeom>
        </p:spPr>
        <p:txBody>
          <a:bodyPr wrap="square">
            <a:spAutoFit/>
          </a:bodyPr>
          <a:lstStyle/>
          <a:p>
            <a:r>
              <a:rPr lang="en-US" altLang="zh-CN" sz="2400" dirty="0">
                <a:solidFill>
                  <a:srgbClr val="0000FF"/>
                </a:solidFill>
              </a:rPr>
              <a:t>The Power8 uses 8 separate buses between L3 and the CPU cores. Each Power8 also has two sets of links for connecting larger multiprocessors. The Xeon uses three rings to connect processors and L3 cache </a:t>
            </a:r>
            <a:r>
              <a:rPr lang="en-US" altLang="zh-CN" sz="2400" dirty="0" smtClean="0">
                <a:solidFill>
                  <a:srgbClr val="0000FF"/>
                </a:solidFill>
              </a:rPr>
              <a:t/>
            </a:r>
            <a:br>
              <a:rPr lang="en-US" altLang="zh-CN" sz="2400" dirty="0" smtClean="0">
                <a:solidFill>
                  <a:srgbClr val="0000FF"/>
                </a:solidFill>
              </a:rPr>
            </a:br>
            <a:r>
              <a:rPr lang="en-US" altLang="zh-CN" sz="2400" dirty="0" smtClean="0">
                <a:solidFill>
                  <a:srgbClr val="0000FF"/>
                </a:solidFill>
              </a:rPr>
              <a:t>banks</a:t>
            </a:r>
            <a:r>
              <a:rPr lang="en-US" altLang="zh-CN" sz="2400" dirty="0">
                <a:solidFill>
                  <a:srgbClr val="0000FF"/>
                </a:solidFill>
              </a:rPr>
              <a:t>, as well QPI for </a:t>
            </a:r>
            <a:r>
              <a:rPr lang="en-US" altLang="zh-CN" sz="2400" dirty="0" smtClean="0">
                <a:solidFill>
                  <a:srgbClr val="0000FF"/>
                </a:solidFill>
              </a:rPr>
              <a:t>inter-chip </a:t>
            </a:r>
            <a:r>
              <a:rPr lang="en-US" altLang="zh-CN" sz="2400" dirty="0">
                <a:solidFill>
                  <a:srgbClr val="0000FF"/>
                </a:solidFill>
              </a:rPr>
              <a:t>links. </a:t>
            </a:r>
            <a:endParaRPr lang="zh-CN" altLang="en-US" sz="2400" dirty="0">
              <a:solidFill>
                <a:srgbClr val="0000FF"/>
              </a:solidFill>
            </a:endParaRPr>
          </a:p>
        </p:txBody>
      </p:sp>
    </p:spTree>
    <p:extLst>
      <p:ext uri="{BB962C8B-B14F-4D97-AF65-F5344CB8AC3E}">
        <p14:creationId xmlns:p14="http://schemas.microsoft.com/office/powerpoint/2010/main" val="2971050719"/>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Picture 3" descr="C:\Users\pg4802\Desktop\f05-28-9780128119051.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064" y="116632"/>
            <a:ext cx="5328592" cy="654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Multiprocessor System</a:t>
            </a:r>
            <a:br>
              <a:rPr lang="en-US" altLang="zh-CN" dirty="0" smtClean="0"/>
            </a:br>
            <a:r>
              <a:rPr lang="en-US" altLang="zh-CN" dirty="0" smtClean="0"/>
              <a:t>Based on Multicore chips</a:t>
            </a:r>
            <a:endParaRPr lang="zh-CN" altLang="en-US" dirty="0"/>
          </a:p>
        </p:txBody>
      </p:sp>
      <p:sp>
        <p:nvSpPr>
          <p:cNvPr id="3" name="内容占位符 2"/>
          <p:cNvSpPr>
            <a:spLocks noGrp="1"/>
          </p:cNvSpPr>
          <p:nvPr>
            <p:ph idx="1"/>
          </p:nvPr>
        </p:nvSpPr>
        <p:spPr/>
        <p:txBody>
          <a:bodyPr/>
          <a:lstStyle/>
          <a:p>
            <a:r>
              <a:rPr lang="en-US" altLang="zh-CN" dirty="0" smtClean="0"/>
              <a:t>Power8</a:t>
            </a:r>
            <a:r>
              <a:rPr lang="zh-CN" altLang="en-US" dirty="0" smtClean="0"/>
              <a:t>系统：</a:t>
            </a:r>
            <a:r>
              <a:rPr lang="en-US" altLang="zh-CN" dirty="0" smtClean="0"/>
              <a:t>4</a:t>
            </a:r>
            <a:r>
              <a:rPr lang="zh-CN" altLang="en-US" dirty="0" smtClean="0"/>
              <a:t>组，每组</a:t>
            </a:r>
            <a:r>
              <a:rPr lang="en-US" altLang="zh-CN" dirty="0" smtClean="0"/>
              <a:t>4</a:t>
            </a:r>
            <a:r>
              <a:rPr lang="zh-CN" altLang="en-US" dirty="0" smtClean="0"/>
              <a:t>芯片</a:t>
            </a:r>
            <a:endParaRPr lang="en-US" altLang="zh-CN" dirty="0" smtClean="0"/>
          </a:p>
          <a:p>
            <a:pPr lvl="1"/>
            <a:r>
              <a:rPr lang="zh-CN" altLang="en-US" dirty="0" smtClean="0"/>
              <a:t>组内全互连，每个芯片都可连其它组</a:t>
            </a:r>
            <a:endParaRPr lang="en-US" altLang="zh-CN" dirty="0" smtClean="0"/>
          </a:p>
          <a:p>
            <a:pPr lvl="1"/>
            <a:r>
              <a:rPr lang="zh-CN" altLang="en-US" dirty="0" smtClean="0"/>
              <a:t>最长距离：两跳</a:t>
            </a:r>
            <a:r>
              <a:rPr lang="en-US" altLang="zh-CN" dirty="0" smtClean="0"/>
              <a:t>(hop)</a:t>
            </a:r>
          </a:p>
          <a:p>
            <a:r>
              <a:rPr lang="en-US" altLang="zh-CN" dirty="0" smtClean="0"/>
              <a:t>Xeon E7</a:t>
            </a:r>
            <a:r>
              <a:rPr lang="zh-CN" altLang="en-US" dirty="0" smtClean="0"/>
              <a:t>：用</a:t>
            </a:r>
            <a:r>
              <a:rPr lang="en-US" altLang="zh-CN" dirty="0" smtClean="0"/>
              <a:t>QPI</a:t>
            </a:r>
            <a:r>
              <a:rPr lang="zh-CN" altLang="en-US" dirty="0" smtClean="0"/>
              <a:t>连接多个芯片</a:t>
            </a:r>
            <a:endParaRPr lang="en-US" altLang="zh-CN" dirty="0" smtClean="0"/>
          </a:p>
          <a:p>
            <a:r>
              <a:rPr lang="en-US" altLang="zh-CN" dirty="0" smtClean="0"/>
              <a:t>SPARC64 X+</a:t>
            </a:r>
          </a:p>
          <a:p>
            <a:pPr lvl="1"/>
            <a:r>
              <a:rPr lang="zh-CN" altLang="en-US" dirty="0" smtClean="0"/>
              <a:t>一组</a:t>
            </a:r>
            <a:r>
              <a:rPr lang="en-US" altLang="zh-CN" dirty="0" smtClean="0"/>
              <a:t>4</a:t>
            </a:r>
            <a:r>
              <a:rPr lang="zh-CN" altLang="en-US" dirty="0" smtClean="0"/>
              <a:t>个</a:t>
            </a:r>
            <a:r>
              <a:rPr lang="en-US" altLang="zh-CN" dirty="0" smtClean="0"/>
              <a:t>CPU</a:t>
            </a:r>
            <a:r>
              <a:rPr lang="zh-CN" altLang="en-US" dirty="0" smtClean="0"/>
              <a:t>芯片，全互连</a:t>
            </a:r>
            <a:endParaRPr lang="en-US" altLang="zh-CN" dirty="0" smtClean="0"/>
          </a:p>
          <a:p>
            <a:pPr lvl="1"/>
            <a:r>
              <a:rPr lang="zh-CN" altLang="en-US" dirty="0" smtClean="0"/>
              <a:t>每芯片</a:t>
            </a:r>
            <a:r>
              <a:rPr lang="en-US" altLang="zh-CN" dirty="0" smtClean="0"/>
              <a:t>2</a:t>
            </a:r>
            <a:r>
              <a:rPr lang="zh-CN" altLang="en-US" dirty="0" smtClean="0"/>
              <a:t>个到交叉开关的连接</a:t>
            </a:r>
            <a:endParaRPr lang="en-US" altLang="zh-CN" dirty="0" smtClean="0"/>
          </a:p>
          <a:p>
            <a:pPr lvl="1"/>
            <a:endParaRPr lang="zh-CN" altLang="en-US" dirty="0"/>
          </a:p>
        </p:txBody>
      </p:sp>
    </p:spTree>
    <p:extLst>
      <p:ext uri="{BB962C8B-B14F-4D97-AF65-F5344CB8AC3E}">
        <p14:creationId xmlns:p14="http://schemas.microsoft.com/office/powerpoint/2010/main" val="2175605625"/>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2" descr="X:\02_GRAPHICS\BOOKS\02_PPTs\MKCAD(Hennessy)\PPT\Ch05\f05-29-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60" y="1556792"/>
            <a:ext cx="7632848" cy="520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Performance </a:t>
            </a:r>
            <a:r>
              <a:rPr lang="en-US" altLang="zh-CN" dirty="0"/>
              <a:t>scaling on the </a:t>
            </a:r>
            <a:r>
              <a:rPr lang="en-US" altLang="zh-CN" dirty="0" err="1"/>
              <a:t>SPECintRate</a:t>
            </a:r>
            <a:endParaRPr lang="zh-CN" altLang="en-US" dirty="0"/>
          </a:p>
        </p:txBody>
      </p:sp>
    </p:spTree>
    <p:extLst>
      <p:ext uri="{BB962C8B-B14F-4D97-AF65-F5344CB8AC3E}">
        <p14:creationId xmlns:p14="http://schemas.microsoft.com/office/powerpoint/2010/main" val="3049883102"/>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共享存储小结</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smtClean="0"/>
              <a:t>微处理器的发展</a:t>
            </a:r>
            <a:endParaRPr lang="en-US" altLang="zh-CN" dirty="0" smtClean="0"/>
          </a:p>
          <a:p>
            <a:pPr lvl="1">
              <a:lnSpc>
                <a:spcPct val="100000"/>
              </a:lnSpc>
            </a:pPr>
            <a:r>
              <a:rPr lang="zh-CN" altLang="en-US" dirty="0" smtClean="0"/>
              <a:t>支持</a:t>
            </a:r>
            <a:r>
              <a:rPr lang="en-US" altLang="zh-CN" dirty="0" smtClean="0"/>
              <a:t>cache</a:t>
            </a:r>
            <a:r>
              <a:rPr lang="zh-CN" altLang="en-US" dirty="0" smtClean="0"/>
              <a:t>同一和同步通常是必备的特征</a:t>
            </a:r>
            <a:endParaRPr lang="en-US" altLang="zh-CN" dirty="0" smtClean="0"/>
          </a:p>
          <a:p>
            <a:pPr>
              <a:lnSpc>
                <a:spcPct val="100000"/>
              </a:lnSpc>
            </a:pPr>
            <a:r>
              <a:rPr lang="zh-CN" altLang="en-US" dirty="0" smtClean="0"/>
              <a:t>服务器厂商通常宣称</a:t>
            </a:r>
            <a:r>
              <a:rPr lang="en-US" altLang="zh-CN" dirty="0" smtClean="0"/>
              <a:t>N</a:t>
            </a:r>
            <a:r>
              <a:rPr lang="zh-CN" altLang="en-US" dirty="0" smtClean="0"/>
              <a:t>路并行</a:t>
            </a:r>
            <a:endParaRPr lang="en-US" altLang="zh-CN" dirty="0" smtClean="0"/>
          </a:p>
          <a:p>
            <a:pPr lvl="1">
              <a:lnSpc>
                <a:spcPct val="100000"/>
              </a:lnSpc>
            </a:pPr>
            <a:r>
              <a:rPr lang="en-US" altLang="zh-CN" dirty="0" smtClean="0"/>
              <a:t>N-way</a:t>
            </a:r>
            <a:r>
              <a:rPr lang="zh-CN" altLang="en-US" dirty="0" smtClean="0"/>
              <a:t>，指</a:t>
            </a:r>
            <a:r>
              <a:rPr lang="en-US" altLang="zh-CN" dirty="0" smtClean="0"/>
              <a:t>N</a:t>
            </a:r>
            <a:r>
              <a:rPr lang="zh-CN" altLang="en-US" dirty="0" smtClean="0"/>
              <a:t>个处理器芯片（单板或多板）</a:t>
            </a:r>
            <a:endParaRPr lang="en-US" altLang="zh-CN" dirty="0" smtClean="0"/>
          </a:p>
          <a:p>
            <a:pPr>
              <a:lnSpc>
                <a:spcPct val="100000"/>
              </a:lnSpc>
            </a:pPr>
            <a:r>
              <a:rPr lang="zh-CN" altLang="en-US" dirty="0" smtClean="0"/>
              <a:t>多核出现后，此类系统成为主流</a:t>
            </a:r>
            <a:endParaRPr lang="en-US" altLang="zh-CN" dirty="0" smtClean="0"/>
          </a:p>
          <a:p>
            <a:pPr lvl="1">
              <a:lnSpc>
                <a:spcPct val="100000"/>
              </a:lnSpc>
            </a:pPr>
            <a:r>
              <a:rPr lang="zh-CN" altLang="en-US" dirty="0" smtClean="0"/>
              <a:t>多级总线结构（片内多核</a:t>
            </a:r>
            <a:r>
              <a:rPr lang="en-US" altLang="zh-CN" dirty="0" smtClean="0"/>
              <a:t>+</a:t>
            </a:r>
            <a:r>
              <a:rPr lang="zh-CN" altLang="en-US" dirty="0" smtClean="0"/>
              <a:t>片外多片总线）</a:t>
            </a:r>
            <a:endParaRPr lang="en-US" altLang="zh-CN" dirty="0" smtClean="0"/>
          </a:p>
          <a:p>
            <a:pPr lvl="1">
              <a:lnSpc>
                <a:spcPct val="100000"/>
              </a:lnSpc>
            </a:pPr>
            <a:r>
              <a:rPr lang="zh-CN" altLang="en-US" dirty="0" smtClean="0"/>
              <a:t>究竟几个核（</a:t>
            </a:r>
            <a:r>
              <a:rPr lang="en-US" altLang="zh-CN" dirty="0" smtClean="0"/>
              <a:t>SMT</a:t>
            </a:r>
            <a:r>
              <a:rPr lang="zh-CN" altLang="en-US" dirty="0" smtClean="0"/>
              <a:t>的线程算吗）？</a:t>
            </a:r>
            <a:endParaRPr lang="en-US" altLang="zh-CN" dirty="0" smtClean="0"/>
          </a:p>
          <a:p>
            <a:pPr>
              <a:lnSpc>
                <a:spcPct val="100000"/>
              </a:lnSpc>
            </a:pPr>
            <a:endParaRPr lang="zh-CN" altLang="en-US" dirty="0"/>
          </a:p>
        </p:txBody>
      </p:sp>
    </p:spTree>
    <p:extLst>
      <p:ext uri="{BB962C8B-B14F-4D97-AF65-F5344CB8AC3E}">
        <p14:creationId xmlns:p14="http://schemas.microsoft.com/office/powerpoint/2010/main" val="3975469847"/>
      </p:ext>
    </p:extLst>
  </p:cSld>
  <p:clrMapOvr>
    <a:masterClrMapping/>
  </p:clrMapOvr>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3216</TotalTime>
  <Words>19448</Words>
  <Application>Microsoft Office PowerPoint</Application>
  <PresentationFormat>宽屏</PresentationFormat>
  <Paragraphs>2705</Paragraphs>
  <Slides>185</Slides>
  <Notes>96</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185</vt:i4>
      </vt:variant>
    </vt:vector>
  </HeadingPairs>
  <TitlesOfParts>
    <vt:vector size="207" baseType="lpstr">
      <vt:lpstr>Courier</vt:lpstr>
      <vt:lpstr>Marker Felt</vt:lpstr>
      <vt:lpstr>Monotype Sorts</vt:lpstr>
      <vt:lpstr>ＭＳ Ｐゴシック</vt:lpstr>
      <vt:lpstr>等线</vt:lpstr>
      <vt:lpstr>等线 Light</vt:lpstr>
      <vt:lpstr>宋体</vt:lpstr>
      <vt:lpstr>Microsoft YaHei</vt:lpstr>
      <vt:lpstr>Microsoft YaHei</vt:lpstr>
      <vt:lpstr>Arial</vt:lpstr>
      <vt:lpstr>Arial Narrow</vt:lpstr>
      <vt:lpstr>Calibri</vt:lpstr>
      <vt:lpstr>Calibri Light</vt:lpstr>
      <vt:lpstr>Courier New</vt:lpstr>
      <vt:lpstr>Helvetica</vt:lpstr>
      <vt:lpstr>Symbol</vt:lpstr>
      <vt:lpstr>Times New Roman</vt:lpstr>
      <vt:lpstr>Verdana</vt:lpstr>
      <vt:lpstr>Wingdings</vt:lpstr>
      <vt:lpstr>ca</vt:lpstr>
      <vt:lpstr>Chart</vt:lpstr>
      <vt:lpstr>Worksheet</vt:lpstr>
      <vt:lpstr>线程级并行性</vt:lpstr>
      <vt:lpstr>线程与并行</vt:lpstr>
      <vt:lpstr>执行多线程的三种主要方式</vt:lpstr>
      <vt:lpstr>Multiple Threads vs. Multithreading</vt:lpstr>
      <vt:lpstr>流水线中的险象(Hazard)</vt:lpstr>
      <vt:lpstr>Multithreading的思路</vt:lpstr>
      <vt:lpstr>CDC 6600的外围处理机</vt:lpstr>
      <vt:lpstr>最简单的多线程流水线</vt:lpstr>
      <vt:lpstr>多线程结构的代价</vt:lpstr>
      <vt:lpstr>线程调度策略</vt:lpstr>
      <vt:lpstr>Denelcor’s HEP (Burton Smith, 1982)</vt:lpstr>
      <vt:lpstr>HEP方案</vt:lpstr>
      <vt:lpstr>HEP方案（续）</vt:lpstr>
      <vt:lpstr>Tera MTA (1990-)</vt:lpstr>
      <vt:lpstr>MTA流水线</vt:lpstr>
      <vt:lpstr>Tera与Cray</vt:lpstr>
      <vt:lpstr>粗粒度(Coarse-Grain)的多线程</vt:lpstr>
      <vt:lpstr>MIT Alewife (1990)</vt:lpstr>
      <vt:lpstr>IBM PowerPC RS64-IV (2000)</vt:lpstr>
      <vt:lpstr>Multithreaded Example: IBM AS/400</vt:lpstr>
      <vt:lpstr>Multithreaded Example: IBM AS/400</vt:lpstr>
      <vt:lpstr>Sun(Oracle)的Niagara处理器</vt:lpstr>
      <vt:lpstr>设计Niagara的动机</vt:lpstr>
      <vt:lpstr>UltraSPARC T1 (Niagara)</vt:lpstr>
      <vt:lpstr>Niagara的单核结构</vt:lpstr>
      <vt:lpstr>Niagara的线程选择</vt:lpstr>
      <vt:lpstr>UltraSPARC T2 (Niagara-2)</vt:lpstr>
      <vt:lpstr>Niagara与Niagara-2的处理器核</vt:lpstr>
      <vt:lpstr>Open source release under GNU GPL  Verilog code, verification/tests, simulation/modelling tools ISA specification http://www.opensparc.net/</vt:lpstr>
      <vt:lpstr>乱序超标量的同时多线程结构</vt:lpstr>
      <vt:lpstr>八路超标量中的资源利用率</vt:lpstr>
      <vt:lpstr>仔细分析超标量结构的效率</vt:lpstr>
      <vt:lpstr>垂直多线程</vt:lpstr>
      <vt:lpstr>片上多处理器(CMP)方案</vt:lpstr>
      <vt:lpstr>理想的超标量多线程 </vt:lpstr>
      <vt:lpstr>SMT可适应不同的并行类型</vt:lpstr>
      <vt:lpstr>Simultaneous Multithreading (SMT)</vt:lpstr>
      <vt:lpstr>O-o-O 同时多线程</vt:lpstr>
      <vt:lpstr>从哪个线程取指？</vt:lpstr>
      <vt:lpstr>从IBM Power 4到Power 5</vt:lpstr>
      <vt:lpstr>PowerPoint 演示文稿</vt:lpstr>
      <vt:lpstr>Power 5的数据通路</vt:lpstr>
      <vt:lpstr>Power 5为SMT做的改动</vt:lpstr>
      <vt:lpstr>Pentium-4的超线程(2002)</vt:lpstr>
      <vt:lpstr>SMT Overhead and Performance</vt:lpstr>
      <vt:lpstr>SMT的性能</vt:lpstr>
      <vt:lpstr>Parallel Benchmarks Used</vt:lpstr>
      <vt:lpstr>Speedup on one core of intel i7 processor</vt:lpstr>
      <vt:lpstr>SMT vs. single-thread</vt:lpstr>
      <vt:lpstr>小结：多线程结构的分类</vt:lpstr>
      <vt:lpstr>共享存储系统的基本概念</vt:lpstr>
      <vt:lpstr>概念层次</vt:lpstr>
      <vt:lpstr>存储器系统的自然扩展</vt:lpstr>
      <vt:lpstr>为什么要专门研究共享存储系统？</vt:lpstr>
      <vt:lpstr>共享存储系统的基本问题</vt:lpstr>
      <vt:lpstr>总线结构的对称多处理机</vt:lpstr>
      <vt:lpstr>Cache对性能至关重要</vt:lpstr>
      <vt:lpstr>Cache数据不同一的问题</vt:lpstr>
      <vt:lpstr>The cache coherence problem</vt:lpstr>
      <vt:lpstr>多cache的同一性</vt:lpstr>
      <vt:lpstr>共享cache的例子</vt:lpstr>
      <vt:lpstr>共享cache的Pros and Cons</vt:lpstr>
      <vt:lpstr>强制实行cache内容的同一</vt:lpstr>
      <vt:lpstr>直观的存储器模型</vt:lpstr>
      <vt:lpstr>基于侦听的cache同一协议</vt:lpstr>
      <vt:lpstr>实现侦听协议</vt:lpstr>
      <vt:lpstr>例：直写、使无效 write through, write-invalidate</vt:lpstr>
      <vt:lpstr>解决同一问题的基本策略</vt:lpstr>
      <vt:lpstr>基本的设计方案</vt:lpstr>
      <vt:lpstr>直写使无效协议</vt:lpstr>
      <vt:lpstr>使无效与更新</vt:lpstr>
      <vt:lpstr>重新审视存储器模型</vt:lpstr>
      <vt:lpstr>直观理解中的“最近一次”</vt:lpstr>
      <vt:lpstr>同一性的含义是什么？</vt:lpstr>
      <vt:lpstr>一些定义</vt:lpstr>
      <vt:lpstr>前述双状态协议是同一的吗？</vt:lpstr>
      <vt:lpstr>排序读操作</vt:lpstr>
      <vt:lpstr>更一般的定序</vt:lpstr>
      <vt:lpstr>定序 (Ordering)</vt:lpstr>
      <vt:lpstr>直写的问题</vt:lpstr>
      <vt:lpstr>Invalidation protocol with write-back caches</vt:lpstr>
      <vt:lpstr>后写的侦听协议</vt:lpstr>
      <vt:lpstr>存储器的一致性问题</vt:lpstr>
      <vt:lpstr>例子（为简单，暂设不使用cache）</vt:lpstr>
      <vt:lpstr>关于序的另一个例子</vt:lpstr>
      <vt:lpstr>存储器一致性模型</vt:lpstr>
      <vt:lpstr>存储器一致模型（续）</vt:lpstr>
      <vt:lpstr>顺序一致性 (Sequential Consistency)</vt:lpstr>
      <vt:lpstr>程序序究竟为何物？</vt:lpstr>
      <vt:lpstr>顺序一致性的例子</vt:lpstr>
      <vt:lpstr>顺序一致性的实现</vt:lpstr>
      <vt:lpstr>顺序一致性的实现</vt:lpstr>
      <vt:lpstr>违反顺序一致的优化</vt:lpstr>
      <vt:lpstr>后写型cache如何保持同一</vt:lpstr>
      <vt:lpstr>后写使无效的协议 Write back, Write-invalidate</vt:lpstr>
      <vt:lpstr>MSI Write-Back Invalidation Protocol</vt:lpstr>
      <vt:lpstr>State Transitions in the MSI Protocol</vt:lpstr>
      <vt:lpstr>MSI使无效协议</vt:lpstr>
      <vt:lpstr>过程详解</vt:lpstr>
      <vt:lpstr>Example on MSI Write-Back Protocol</vt:lpstr>
      <vt:lpstr>后写协议示例</vt:lpstr>
      <vt:lpstr>State Transition diagram</vt:lpstr>
      <vt:lpstr>Combined State Diagram</vt:lpstr>
      <vt:lpstr>A single-chip multicore with a  distributed but still shared cache</vt:lpstr>
      <vt:lpstr>同一要求的写串行化与写传播</vt:lpstr>
      <vt:lpstr>满足顺序一致：构建全局序</vt:lpstr>
      <vt:lpstr>根据充分条件的判断</vt:lpstr>
      <vt:lpstr>更细致的协议选项</vt:lpstr>
      <vt:lpstr>更细致的协议选项</vt:lpstr>
      <vt:lpstr>MESI使无效协议</vt:lpstr>
      <vt:lpstr>MESI的硬件支持</vt:lpstr>
      <vt:lpstr>MESI协议的状态转换图</vt:lpstr>
      <vt:lpstr>MESI State Transition Diagram – cont’d</vt:lpstr>
      <vt:lpstr>协议实现中的其它选择</vt:lpstr>
      <vt:lpstr>MOESI</vt:lpstr>
      <vt:lpstr>基于更新(update)的协议</vt:lpstr>
      <vt:lpstr>Dragon后写更新协议 Write back, Write update</vt:lpstr>
      <vt:lpstr>Dragon的状态转换图</vt:lpstr>
      <vt:lpstr>Dragon State Transition Diagram - cont’d</vt:lpstr>
      <vt:lpstr>Dragon State Transition Diagram - cont’d</vt:lpstr>
      <vt:lpstr>更细致的协议选择</vt:lpstr>
      <vt:lpstr>侦听协议实现中的复杂性</vt:lpstr>
      <vt:lpstr>规模扩大以后的性能问题</vt:lpstr>
      <vt:lpstr>基于多核处理器的SMP系统</vt:lpstr>
      <vt:lpstr>SMP的性能</vt:lpstr>
      <vt:lpstr>Cache hierarchy of the Alpha 21164 and the Intel i7</vt:lpstr>
      <vt:lpstr>SMP Performance 4 Processor  Commercial Workload: OLTP, Decision Support (Database), Search Engine</vt:lpstr>
      <vt:lpstr>SMP Performance 2MB Cache  Commercial Workload: OLTP, Decision Support (Database), Search Engine</vt:lpstr>
      <vt:lpstr>OLTP Performance with L3 Size</vt:lpstr>
      <vt:lpstr>Miss per 1000 inst.</vt:lpstr>
      <vt:lpstr>Parallel “make”</vt:lpstr>
      <vt:lpstr>Cache/Block size’s impact to data access</vt:lpstr>
      <vt:lpstr>Components of the kernel data miss rate</vt:lpstr>
      <vt:lpstr>目录协议</vt:lpstr>
      <vt:lpstr>目录的内容</vt:lpstr>
      <vt:lpstr>目录协议中的典型消息</vt:lpstr>
      <vt:lpstr>目录协议的状态机</vt:lpstr>
      <vt:lpstr>目录协议的基本流程</vt:lpstr>
      <vt:lpstr>目录协议的基本流程（续）</vt:lpstr>
      <vt:lpstr>Cache coherence steps and bus traffic</vt:lpstr>
      <vt:lpstr>目录实现中的复杂性</vt:lpstr>
      <vt:lpstr>Cache同一协议小结</vt:lpstr>
      <vt:lpstr>同步(synchronization)机制</vt:lpstr>
      <vt:lpstr>两种主要的等待方法：忙等待与阻塞</vt:lpstr>
      <vt:lpstr>稻草人式的锁</vt:lpstr>
      <vt:lpstr>需要原子指令</vt:lpstr>
      <vt:lpstr>基于Test &amp; Set的简单锁</vt:lpstr>
      <vt:lpstr>对同步的硬件支持</vt:lpstr>
      <vt:lpstr>同步操作的性能标准</vt:lpstr>
      <vt:lpstr>SGI Challenge上T&amp;S锁的微基准</vt:lpstr>
      <vt:lpstr>对简单锁的改进</vt:lpstr>
      <vt:lpstr>Test and Test and Set</vt:lpstr>
      <vt:lpstr>用原子交换实现的自旋锁</vt:lpstr>
      <vt:lpstr>减少存储器的访问流量</vt:lpstr>
      <vt:lpstr>带更新的Test &amp; Set</vt:lpstr>
      <vt:lpstr>改进硬件原语：LL-SC</vt:lpstr>
      <vt:lpstr>用LL-SC实现的简单锁</vt:lpstr>
      <vt:lpstr>基于LL-SC的Fetch &amp; OP的实现</vt:lpstr>
      <vt:lpstr>LL-SC的性能</vt:lpstr>
      <vt:lpstr>排号锁(Ticket Lock)</vt:lpstr>
      <vt:lpstr>基于数组的队列锁</vt:lpstr>
      <vt:lpstr>基于链表的队列锁(MCS)</vt:lpstr>
      <vt:lpstr>点对点事件同步</vt:lpstr>
      <vt:lpstr>硬件支持：Full/Empty bits</vt:lpstr>
      <vt:lpstr>栅障(Barrier)：全局事件同步</vt:lpstr>
      <vt:lpstr>简单的集中化栅障</vt:lpstr>
      <vt:lpstr>正确的集中化栅障</vt:lpstr>
      <vt:lpstr>集中式栅障的性能</vt:lpstr>
      <vt:lpstr>针对总线改进的栅障算法</vt:lpstr>
      <vt:lpstr>栅障性能(SGI Challenge)</vt:lpstr>
      <vt:lpstr>同步小结</vt:lpstr>
      <vt:lpstr>对软件的含意</vt:lpstr>
      <vt:lpstr>优化空间局部性的技巧</vt:lpstr>
      <vt:lpstr>2维数组的网格中的冲突不命中</vt:lpstr>
      <vt:lpstr>优化技巧（续）</vt:lpstr>
      <vt:lpstr>顺序一致性要求对性能的影响</vt:lpstr>
      <vt:lpstr>放松的存储器一致性模型</vt:lpstr>
      <vt:lpstr>The orderings imposed by various consistency models</vt:lpstr>
      <vt:lpstr>松一致性模型</vt:lpstr>
      <vt:lpstr>Reduction in the number of orders imposed</vt:lpstr>
      <vt:lpstr>Comparison of multiple processors</vt:lpstr>
      <vt:lpstr>Organization of Power8 vs. Xeon E7</vt:lpstr>
      <vt:lpstr>Multiprocessor System Based on Multicore chips</vt:lpstr>
      <vt:lpstr>Performance scaling on the SPECintRate</vt:lpstr>
      <vt:lpstr>共享存储小结</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主要参考书</dc:title>
  <dc:creator>Siat</dc:creator>
  <cp:lastModifiedBy>Zhimin Tang</cp:lastModifiedBy>
  <cp:revision>155</cp:revision>
  <dcterms:created xsi:type="dcterms:W3CDTF">1996-07-15T15:40:02Z</dcterms:created>
  <dcterms:modified xsi:type="dcterms:W3CDTF">2025-12-07T08:14:18Z</dcterms:modified>
</cp:coreProperties>
</file>