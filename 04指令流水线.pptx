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133"/>
  </p:notesMasterIdLst>
  <p:handoutMasterIdLst>
    <p:handoutMasterId r:id="rId134"/>
  </p:handoutMasterIdLst>
  <p:sldIdLst>
    <p:sldId id="265" r:id="rId2"/>
    <p:sldId id="266" r:id="rId3"/>
    <p:sldId id="267" r:id="rId4"/>
    <p:sldId id="268" r:id="rId5"/>
    <p:sldId id="306" r:id="rId6"/>
    <p:sldId id="269" r:id="rId7"/>
    <p:sldId id="270" r:id="rId8"/>
    <p:sldId id="271" r:id="rId9"/>
    <p:sldId id="272" r:id="rId10"/>
    <p:sldId id="396" r:id="rId11"/>
    <p:sldId id="397" r:id="rId12"/>
    <p:sldId id="307" r:id="rId13"/>
    <p:sldId id="395" r:id="rId14"/>
    <p:sldId id="276" r:id="rId15"/>
    <p:sldId id="277" r:id="rId16"/>
    <p:sldId id="278" r:id="rId17"/>
    <p:sldId id="279" r:id="rId18"/>
    <p:sldId id="280" r:id="rId19"/>
    <p:sldId id="281" r:id="rId20"/>
    <p:sldId id="282" r:id="rId21"/>
    <p:sldId id="283" r:id="rId22"/>
    <p:sldId id="284" r:id="rId23"/>
    <p:sldId id="285" r:id="rId24"/>
    <p:sldId id="286" r:id="rId25"/>
    <p:sldId id="402" r:id="rId26"/>
    <p:sldId id="403" r:id="rId27"/>
    <p:sldId id="398" r:id="rId28"/>
    <p:sldId id="399" r:id="rId29"/>
    <p:sldId id="400" r:id="rId30"/>
    <p:sldId id="287" r:id="rId31"/>
    <p:sldId id="308" r:id="rId32"/>
    <p:sldId id="309" r:id="rId33"/>
    <p:sldId id="290" r:id="rId34"/>
    <p:sldId id="291" r:id="rId35"/>
    <p:sldId id="404" r:id="rId36"/>
    <p:sldId id="292" r:id="rId37"/>
    <p:sldId id="293" r:id="rId38"/>
    <p:sldId id="310" r:id="rId39"/>
    <p:sldId id="313" r:id="rId40"/>
    <p:sldId id="314" r:id="rId41"/>
    <p:sldId id="294" r:id="rId42"/>
    <p:sldId id="311" r:id="rId43"/>
    <p:sldId id="295" r:id="rId44"/>
    <p:sldId id="296" r:id="rId45"/>
    <p:sldId id="312" r:id="rId46"/>
    <p:sldId id="297" r:id="rId47"/>
    <p:sldId id="298" r:id="rId48"/>
    <p:sldId id="323" r:id="rId49"/>
    <p:sldId id="324" r:id="rId50"/>
    <p:sldId id="325" r:id="rId51"/>
    <p:sldId id="326" r:id="rId52"/>
    <p:sldId id="327" r:id="rId53"/>
    <p:sldId id="328" r:id="rId54"/>
    <p:sldId id="348" r:id="rId55"/>
    <p:sldId id="329" r:id="rId56"/>
    <p:sldId id="330" r:id="rId57"/>
    <p:sldId id="331" r:id="rId58"/>
    <p:sldId id="332" r:id="rId59"/>
    <p:sldId id="333" r:id="rId60"/>
    <p:sldId id="334" r:id="rId61"/>
    <p:sldId id="335" r:id="rId62"/>
    <p:sldId id="336" r:id="rId63"/>
    <p:sldId id="337" r:id="rId64"/>
    <p:sldId id="338" r:id="rId65"/>
    <p:sldId id="339" r:id="rId66"/>
    <p:sldId id="340" r:id="rId67"/>
    <p:sldId id="341" r:id="rId68"/>
    <p:sldId id="401" r:id="rId69"/>
    <p:sldId id="342" r:id="rId70"/>
    <p:sldId id="299" r:id="rId71"/>
    <p:sldId id="349" r:id="rId72"/>
    <p:sldId id="350" r:id="rId73"/>
    <p:sldId id="351" r:id="rId74"/>
    <p:sldId id="352" r:id="rId75"/>
    <p:sldId id="353" r:id="rId76"/>
    <p:sldId id="343" r:id="rId77"/>
    <p:sldId id="344" r:id="rId78"/>
    <p:sldId id="354" r:id="rId79"/>
    <p:sldId id="355" r:id="rId80"/>
    <p:sldId id="356" r:id="rId81"/>
    <p:sldId id="405" r:id="rId82"/>
    <p:sldId id="406" r:id="rId83"/>
    <p:sldId id="407" r:id="rId84"/>
    <p:sldId id="408" r:id="rId85"/>
    <p:sldId id="409" r:id="rId86"/>
    <p:sldId id="410" r:id="rId87"/>
    <p:sldId id="411" r:id="rId88"/>
    <p:sldId id="412" r:id="rId89"/>
    <p:sldId id="345" r:id="rId90"/>
    <p:sldId id="346" r:id="rId91"/>
    <p:sldId id="301" r:id="rId92"/>
    <p:sldId id="357" r:id="rId93"/>
    <p:sldId id="358" r:id="rId94"/>
    <p:sldId id="347" r:id="rId95"/>
    <p:sldId id="359" r:id="rId96"/>
    <p:sldId id="360" r:id="rId97"/>
    <p:sldId id="361" r:id="rId98"/>
    <p:sldId id="362" r:id="rId99"/>
    <p:sldId id="363" r:id="rId100"/>
    <p:sldId id="364" r:id="rId101"/>
    <p:sldId id="366" r:id="rId102"/>
    <p:sldId id="365" r:id="rId103"/>
    <p:sldId id="367" r:id="rId104"/>
    <p:sldId id="368" r:id="rId105"/>
    <p:sldId id="369" r:id="rId106"/>
    <p:sldId id="370" r:id="rId107"/>
    <p:sldId id="371" r:id="rId108"/>
    <p:sldId id="372" r:id="rId109"/>
    <p:sldId id="373" r:id="rId110"/>
    <p:sldId id="374" r:id="rId111"/>
    <p:sldId id="375" r:id="rId112"/>
    <p:sldId id="376" r:id="rId113"/>
    <p:sldId id="377" r:id="rId114"/>
    <p:sldId id="378" r:id="rId115"/>
    <p:sldId id="379" r:id="rId116"/>
    <p:sldId id="380" r:id="rId117"/>
    <p:sldId id="381" r:id="rId118"/>
    <p:sldId id="382" r:id="rId119"/>
    <p:sldId id="383" r:id="rId120"/>
    <p:sldId id="384" r:id="rId121"/>
    <p:sldId id="385" r:id="rId122"/>
    <p:sldId id="386" r:id="rId123"/>
    <p:sldId id="387" r:id="rId124"/>
    <p:sldId id="388" r:id="rId125"/>
    <p:sldId id="389" r:id="rId126"/>
    <p:sldId id="390" r:id="rId127"/>
    <p:sldId id="391" r:id="rId128"/>
    <p:sldId id="392" r:id="rId129"/>
    <p:sldId id="393" r:id="rId130"/>
    <p:sldId id="394" r:id="rId131"/>
    <p:sldId id="305" r:id="rId132"/>
  </p:sldIdLst>
  <p:sldSz cx="12192000" cy="6858000"/>
  <p:notesSz cx="6858000" cy="9144000"/>
  <p:defaultTextStyle>
    <a:defPPr>
      <a:defRPr lang="zh-CN"/>
    </a:defPPr>
    <a:lvl1pPr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umimoji="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umimoji="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88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079D"/>
    <a:srgbClr val="FBFF67"/>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86938" autoAdjust="0"/>
  </p:normalViewPr>
  <p:slideViewPr>
    <p:cSldViewPr>
      <p:cViewPr varScale="1">
        <p:scale>
          <a:sx n="81" d="100"/>
          <a:sy n="81" d="100"/>
        </p:scale>
        <p:origin x="662" y="53"/>
      </p:cViewPr>
      <p:guideLst>
        <p:guide orient="horz" pos="288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288"/>
    </p:cViewPr>
  </p:sorterViewPr>
  <p:notesViewPr>
    <p:cSldViewPr>
      <p:cViewPr varScale="1">
        <p:scale>
          <a:sx n="37" d="100"/>
          <a:sy n="37" d="100"/>
        </p:scale>
        <p:origin x="-1090" y="-5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handoutMaster" Target="handoutMasters/handout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54.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9.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2.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5.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6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68.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1.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72.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74.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75.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76.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77.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7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7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68A6223A-CA48-4471-B8F7-D37FCC5B312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defRPr sz="1200">
                <a:latin typeface="Times New Roman" panose="02020603050405020304" pitchFamily="18" charset="0"/>
              </a:defRPr>
            </a:lvl1pPr>
          </a:lstStyle>
          <a:p>
            <a:pPr>
              <a:defRPr/>
            </a:pPr>
            <a:endParaRPr lang="en-US" altLang="zh-CN"/>
          </a:p>
        </p:txBody>
      </p:sp>
      <p:sp>
        <p:nvSpPr>
          <p:cNvPr id="3076" name="Rectangle 4"/>
          <p:cNvSpPr>
            <a:spLocks noGrp="1" noRot="1" noChangeAspect="1" noChangeArrowheads="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noProof="0" smtClean="0"/>
              <a:t>单击以编辑母版文本样式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1" hangingPunct="1">
              <a:defRPr sz="1200">
                <a:latin typeface="Times New Roman" panose="02020603050405020304" pitchFamily="18" charset="0"/>
              </a:defRPr>
            </a:lvl1pPr>
          </a:lstStyle>
          <a:p>
            <a:pPr>
              <a:defRPr/>
            </a:pPr>
            <a:endParaRPr lang="en-US" altLang="zh-CN"/>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ADD578B6-544B-410C-ADFF-D2920E8D1CB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noFill/>
          <a:ln/>
        </p:spPr>
        <p:txBody>
          <a:bodyPr/>
          <a:lstStyle/>
          <a:p>
            <a:r>
              <a:rPr lang="en-US" altLang="zh-CN"/>
              <a:t>Review today, not so fast in future</a:t>
            </a:r>
          </a:p>
        </p:txBody>
      </p:sp>
      <p:sp>
        <p:nvSpPr>
          <p:cNvPr id="512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131966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Although the PC is shown in the portion of the data path that is used in instruction fetch and the registers are shown in the portion of the data path that is used in instruction decode/register fetch, both of these functional units are read as well as written by an instruction. Although we show these functional units in the cycle corresponding to where they are read, the PC is written during the memory access clock cycle and the registers are written during the write-back clock cycle. In both cases, the writes in later pipe stages are indicated by the multiplexer output (in memory access or write-back), which carries a value back to the PC or registers. These backward-flowing signals introduce much of the complexity of pipelining, because they indicate the possibility of hazards.</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10</a:t>
            </a:fld>
            <a:endParaRPr lang="en-US" altLang="zh-CN"/>
          </a:p>
        </p:txBody>
      </p:sp>
    </p:spTree>
    <p:extLst>
      <p:ext uri="{BB962C8B-B14F-4D97-AF65-F5344CB8AC3E}">
        <p14:creationId xmlns:p14="http://schemas.microsoft.com/office/powerpoint/2010/main" val="335933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The registers serve to convey values and control information from one stage to the next. We can also think of the PC as a pipeline register, which sits before the IF stage of the pipeline, leading to one pipeline register for each pipe stage. Recall that the PC is an edge-triggered register written at the end of the clock cycle; hence, there is no race condition in writing the PC. The selection multiplexer for the PC has been moved so that the PC is written in exactly one stage (IF). If we didn’t move it, there would be a conflict when a branch occurred, because two instructions would try to write different values into the PC. Most of the data paths flow from left to right, which is from earlier in time to later. The paths flowing from right to left (which carry the register write-back information and PC information on a branch) introduce complications into our pipeline.</a:t>
            </a:r>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11</a:t>
            </a:fld>
            <a:endParaRPr lang="en-US" altLang="zh-CN"/>
          </a:p>
        </p:txBody>
      </p:sp>
    </p:spTree>
    <p:extLst>
      <p:ext uri="{BB962C8B-B14F-4D97-AF65-F5344CB8AC3E}">
        <p14:creationId xmlns:p14="http://schemas.microsoft.com/office/powerpoint/2010/main" val="11830135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12</a:t>
            </a:fld>
            <a:endParaRPr lang="en-US" altLang="zh-CN"/>
          </a:p>
        </p:txBody>
      </p:sp>
    </p:spTree>
    <p:extLst>
      <p:ext uri="{BB962C8B-B14F-4D97-AF65-F5344CB8AC3E}">
        <p14:creationId xmlns:p14="http://schemas.microsoft.com/office/powerpoint/2010/main" val="703221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 Let’s review the actions in the stages that are specific to the pipeline organization. In IF, in addition to fetching the instruction and computing the new PC, we store the incremented PC both into the PC and into a pipeline register (NPC) for later use in computing the branch-target address. This structure is the same as the organization in Figure C.19, where the PC is updated in IF from one of two sources. In ID, we fetch the registers, extend the sign of the 12 bits of the IR (the immediate field), and pass along the IR and NPC. During EX, we perform an ALU operation or an address calculation; we pass along the IR and the B register (if the instruction is a store). We also set the value of </a:t>
            </a:r>
            <a:r>
              <a:rPr lang="en-US" altLang="zh-CN" dirty="0" err="1" smtClean="0"/>
              <a:t>cond</a:t>
            </a:r>
            <a:r>
              <a:rPr lang="en-US" altLang="zh-CN" dirty="0" smtClean="0"/>
              <a:t> to 1 if the instruction is a taken branch. During the MEM phase, we cycle the memory, write the PC if needed, and pass along values needed in the final pipe stage. Finally, during WB, we update the register field from either the ALU output or the loaded value. For simplicity we always pass the entire IR from one stage to the next, although as an instruction proceeds down the pipeline, less and less of the IR is needed.</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13</a:t>
            </a:fld>
            <a:endParaRPr lang="en-US" altLang="zh-CN"/>
          </a:p>
        </p:txBody>
      </p:sp>
    </p:spTree>
    <p:extLst>
      <p:ext uri="{BB962C8B-B14F-4D97-AF65-F5344CB8AC3E}">
        <p14:creationId xmlns:p14="http://schemas.microsoft.com/office/powerpoint/2010/main" val="3530918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ln/>
        </p:spPr>
        <p:txBody>
          <a:bodyPr/>
          <a:lstStyle/>
          <a:p>
            <a:endParaRPr lang="zh-CN" altLang="zh-CN"/>
          </a:p>
        </p:txBody>
      </p:sp>
      <p:sp>
        <p:nvSpPr>
          <p:cNvPr id="32771"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035119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body" idx="1"/>
          </p:nvPr>
        </p:nvSpPr>
        <p:spPr>
          <a:noFill/>
          <a:ln/>
        </p:spPr>
        <p:txBody>
          <a:bodyPr lIns="90652" tIns="44530" rIns="90652" bIns="44530"/>
          <a:lstStyle/>
          <a:p>
            <a:r>
              <a:rPr lang="en-US" altLang="zh-CN"/>
              <a:t>MIPS actutally didn’t interlecok: MPU without Interlocked Pipelined Stages</a:t>
            </a:r>
          </a:p>
        </p:txBody>
      </p:sp>
      <p:sp>
        <p:nvSpPr>
          <p:cNvPr id="140291" name="Rectangle 3"/>
          <p:cNvSpPr>
            <a:spLocks noGrp="1" noRot="1" noChangeAspect="1" noChangeArrowheads="1" noTextEdit="1"/>
          </p:cNvSpPr>
          <p:nvPr>
            <p:ph type="sldImg"/>
          </p:nvPr>
        </p:nvSpPr>
        <p:spPr>
          <a:xfrm>
            <a:off x="2287588" y="514350"/>
            <a:ext cx="4572000" cy="2571750"/>
          </a:xfrm>
          <a:ln cap="flat"/>
        </p:spPr>
      </p:sp>
    </p:spTree>
    <p:extLst>
      <p:ext uri="{BB962C8B-B14F-4D97-AF65-F5344CB8AC3E}">
        <p14:creationId xmlns:p14="http://schemas.microsoft.com/office/powerpoint/2010/main" val="21176452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This table indicates that the only comparison needed is between the destination and the sources on the two instructions following the instruction that wrote the destination. In the case of a stall, the pipeline dependences will look like the third case once execution continues (dependence overcome by forwarding). Of course, hazards that involve x0 can be ignored because the register always contains 0, and the preceding test could be extended to do this.</a:t>
            </a:r>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27</a:t>
            </a:fld>
            <a:endParaRPr lang="en-US" altLang="zh-CN"/>
          </a:p>
        </p:txBody>
      </p:sp>
    </p:spTree>
    <p:extLst>
      <p:ext uri="{BB962C8B-B14F-4D97-AF65-F5344CB8AC3E}">
        <p14:creationId xmlns:p14="http://schemas.microsoft.com/office/powerpoint/2010/main" val="2057863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449263"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smtClean="0">
                <a:ln>
                  <a:noFill/>
                </a:ln>
                <a:solidFill>
                  <a:prstClr val="black"/>
                </a:solidFill>
                <a:effectLst/>
                <a:uLnTx/>
                <a:uFillTx/>
                <a:latin typeface="Arial" panose="020B0604020202020204" pitchFamily="34" charset="0"/>
                <a:ea typeface="Microsoft YaHei" panose="020B0503020204020204" pitchFamily="34" charset="-122"/>
                <a:cs typeface="+mn-cs"/>
              </a:rPr>
              <a:t>Forwarding of data to the two ALU inputs (for the instruction in EX) can occur from the ALU result (in EX/MEM or in MEM/WB) or from the load result in MEM/WB. </a:t>
            </a:r>
            <a:r>
              <a:rPr kumimoji="0" lang="en-US" alt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icrosoft YaHei" panose="020B0503020204020204" pitchFamily="34" charset="-122"/>
                <a:cs typeface="+mn-cs"/>
              </a:rPr>
              <a:t>There are 10 separate comparisons needed to tell whether a forwarding operation should occur. The top and bottom ALU inputs refer to the inputs corresponding to the first and second ALU source operands, respectively, and are shown explicitly in Figure C.18 on page C.30 and in Figure C.24 on page C.36. Remember that the pipeline latch for destination instruction in EX is ID/EX, while the source values come from the </a:t>
            </a:r>
            <a:r>
              <a:rPr kumimoji="0" lang="en-US" altLang="en-US" sz="1200" b="0" i="0" u="none" strike="noStrike" kern="1200" cap="none" spc="0" normalizeH="0" baseline="0" noProof="0" dirty="0" err="1" smtClean="0">
                <a:ln>
                  <a:noFill/>
                </a:ln>
                <a:solidFill>
                  <a:prstClr val="black"/>
                </a:solidFill>
                <a:effectLst/>
                <a:uLnTx/>
                <a:uFillTx/>
                <a:latin typeface="Arial" panose="020B0604020202020204" pitchFamily="34" charset="0"/>
                <a:ea typeface="Microsoft YaHei" panose="020B0503020204020204" pitchFamily="34" charset="-122"/>
                <a:cs typeface="+mn-cs"/>
              </a:rPr>
              <a:t>ALUOutput</a:t>
            </a:r>
            <a:r>
              <a:rPr kumimoji="0" lang="en-US" alt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icrosoft YaHei" panose="020B0503020204020204" pitchFamily="34" charset="-122"/>
                <a:cs typeface="+mn-cs"/>
              </a:rPr>
              <a:t> portion of EX/MEM or MEM/WB or the LMD portion of MEM/WB. There is one complication not addressed by this logic: dealing with multiple instructions that write the same register. For example, during the code sequence </a:t>
            </a:r>
            <a:r>
              <a:rPr kumimoji="0" lang="en-US" altLang="en-US" sz="1200" b="0" i="0" u="none" strike="noStrike" kern="1200" cap="none" spc="0" normalizeH="0" baseline="0" noProof="0" dirty="0" smtClean="0">
                <a:ln>
                  <a:noFill/>
                </a:ln>
                <a:solidFill>
                  <a:prstClr val="black"/>
                </a:solidFill>
                <a:effectLst/>
                <a:uLnTx/>
                <a:uFillTx/>
                <a:latin typeface="Courier New" panose="02070309020205020404" pitchFamily="49" charset="0"/>
                <a:ea typeface="Microsoft YaHei" panose="020B0503020204020204" pitchFamily="34" charset="-122"/>
                <a:cs typeface="Courier New" panose="02070309020205020404" pitchFamily="49" charset="0"/>
              </a:rPr>
              <a:t>add x1, x2, x3; </a:t>
            </a:r>
            <a:r>
              <a:rPr kumimoji="0" lang="en-US" altLang="en-US" sz="1200" b="0" i="0" u="none" strike="noStrike" kern="1200" cap="none" spc="0" normalizeH="0" baseline="0" noProof="0" dirty="0" err="1" smtClean="0">
                <a:ln>
                  <a:noFill/>
                </a:ln>
                <a:solidFill>
                  <a:prstClr val="black"/>
                </a:solidFill>
                <a:effectLst/>
                <a:uLnTx/>
                <a:uFillTx/>
                <a:latin typeface="Courier New" panose="02070309020205020404" pitchFamily="49" charset="0"/>
                <a:ea typeface="Microsoft YaHei" panose="020B0503020204020204" pitchFamily="34" charset="-122"/>
                <a:cs typeface="Courier New" panose="02070309020205020404" pitchFamily="49" charset="0"/>
              </a:rPr>
              <a:t>addi</a:t>
            </a:r>
            <a:r>
              <a:rPr kumimoji="0" lang="en-US" altLang="en-US" sz="1200" b="0" i="0" u="none" strike="noStrike" kern="1200" cap="none" spc="0" normalizeH="0" baseline="0" noProof="0" dirty="0" smtClean="0">
                <a:ln>
                  <a:noFill/>
                </a:ln>
                <a:solidFill>
                  <a:prstClr val="black"/>
                </a:solidFill>
                <a:effectLst/>
                <a:uLnTx/>
                <a:uFillTx/>
                <a:latin typeface="Courier New" panose="02070309020205020404" pitchFamily="49" charset="0"/>
                <a:ea typeface="Microsoft YaHei" panose="020B0503020204020204" pitchFamily="34" charset="-122"/>
                <a:cs typeface="Courier New" panose="02070309020205020404" pitchFamily="49" charset="0"/>
              </a:rPr>
              <a:t> x1, x1, 2; sub x4, x3, x1, </a:t>
            </a:r>
            <a:r>
              <a:rPr kumimoji="0" lang="en-US" alt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icrosoft YaHei" panose="020B0503020204020204" pitchFamily="34" charset="-122"/>
                <a:cs typeface="+mn-cs"/>
              </a:rPr>
              <a:t>the logic must ensure that the </a:t>
            </a:r>
            <a:r>
              <a:rPr kumimoji="0" lang="en-US" altLang="en-US" sz="1200" b="0" i="0" u="none" strike="noStrike" kern="1200" cap="none" spc="0" normalizeH="0" baseline="0" noProof="0" dirty="0" smtClean="0">
                <a:ln>
                  <a:noFill/>
                </a:ln>
                <a:solidFill>
                  <a:prstClr val="black"/>
                </a:solidFill>
                <a:effectLst/>
                <a:uLnTx/>
                <a:uFillTx/>
                <a:latin typeface="Courier New" panose="02070309020205020404" pitchFamily="49" charset="0"/>
                <a:ea typeface="Microsoft YaHei" panose="020B0503020204020204" pitchFamily="34" charset="-122"/>
                <a:cs typeface="Courier New" panose="02070309020205020404" pitchFamily="49" charset="0"/>
              </a:rPr>
              <a:t>sub </a:t>
            </a:r>
            <a:r>
              <a:rPr kumimoji="0" lang="en-US" alt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icrosoft YaHei" panose="020B0503020204020204" pitchFamily="34" charset="-122"/>
                <a:cs typeface="+mn-cs"/>
              </a:rPr>
              <a:t>instruction uses the result of the </a:t>
            </a:r>
            <a:r>
              <a:rPr kumimoji="0" lang="en-US" altLang="en-US" sz="1200" b="0" i="0" u="none" strike="noStrike" kern="1200" cap="none" spc="0" normalizeH="0" baseline="0" noProof="0" dirty="0" err="1" smtClean="0">
                <a:ln>
                  <a:noFill/>
                </a:ln>
                <a:solidFill>
                  <a:prstClr val="black"/>
                </a:solidFill>
                <a:effectLst/>
                <a:uLnTx/>
                <a:uFillTx/>
                <a:latin typeface="Courier New" panose="02070309020205020404" pitchFamily="49" charset="0"/>
                <a:ea typeface="Microsoft YaHei" panose="020B0503020204020204" pitchFamily="34" charset="-122"/>
                <a:cs typeface="Courier New" panose="02070309020205020404" pitchFamily="49" charset="0"/>
              </a:rPr>
              <a:t>addi</a:t>
            </a:r>
            <a:r>
              <a:rPr kumimoji="0" lang="en-US" alt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icrosoft YaHei" panose="020B0503020204020204" pitchFamily="34" charset="-122"/>
                <a:cs typeface="+mn-cs"/>
              </a:rPr>
              <a:t> instruction rather than the result of the </a:t>
            </a:r>
            <a:r>
              <a:rPr kumimoji="0" lang="en-US" altLang="en-US" sz="1200" b="0" i="0" u="none" strike="noStrike" kern="1200" cap="none" spc="0" normalizeH="0" baseline="0" noProof="0" dirty="0" smtClean="0">
                <a:ln>
                  <a:noFill/>
                </a:ln>
                <a:solidFill>
                  <a:prstClr val="black"/>
                </a:solidFill>
                <a:effectLst/>
                <a:uLnTx/>
                <a:uFillTx/>
                <a:latin typeface="Courier New" panose="02070309020205020404" pitchFamily="49" charset="0"/>
                <a:ea typeface="Microsoft YaHei" panose="020B0503020204020204" pitchFamily="34" charset="-122"/>
                <a:cs typeface="Courier New" panose="02070309020205020404" pitchFamily="49" charset="0"/>
              </a:rPr>
              <a:t>add </a:t>
            </a:r>
            <a:r>
              <a:rPr kumimoji="0" lang="en-US" alt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icrosoft YaHei" panose="020B0503020204020204" pitchFamily="34" charset="-122"/>
                <a:cs typeface="+mn-cs"/>
              </a:rPr>
              <a:t>instruction. The logic shown here can be extended to handle this case by simply testing that forwarding from MEM/WB is enabled only when forwarding from EX/MEM is not enabled for the same input. Because the</a:t>
            </a:r>
            <a:r>
              <a:rPr kumimoji="0" lang="en-US" altLang="en-US" sz="1200" b="0" i="0" u="none" strike="noStrike" kern="1200" cap="none" spc="0" normalizeH="0" baseline="0" noProof="0" dirty="0" smtClean="0">
                <a:ln>
                  <a:noFill/>
                </a:ln>
                <a:solidFill>
                  <a:prstClr val="black"/>
                </a:solidFill>
                <a:effectLst/>
                <a:uLnTx/>
                <a:uFillTx/>
                <a:latin typeface="Courier New" panose="02070309020205020404" pitchFamily="49" charset="0"/>
                <a:ea typeface="Microsoft YaHei" panose="020B0503020204020204" pitchFamily="34" charset="-122"/>
                <a:cs typeface="Courier New" panose="02070309020205020404" pitchFamily="49" charset="0"/>
              </a:rPr>
              <a:t> </a:t>
            </a:r>
            <a:r>
              <a:rPr kumimoji="0" lang="en-US" altLang="en-US" sz="1200" b="0" i="0" u="none" strike="noStrike" kern="1200" cap="none" spc="0" normalizeH="0" baseline="0" noProof="0" dirty="0" err="1" smtClean="0">
                <a:ln>
                  <a:noFill/>
                </a:ln>
                <a:solidFill>
                  <a:prstClr val="black"/>
                </a:solidFill>
                <a:effectLst/>
                <a:uLnTx/>
                <a:uFillTx/>
                <a:latin typeface="Courier New" panose="02070309020205020404" pitchFamily="49" charset="0"/>
                <a:ea typeface="Microsoft YaHei" panose="020B0503020204020204" pitchFamily="34" charset="-122"/>
                <a:cs typeface="Courier New" panose="02070309020205020404" pitchFamily="49" charset="0"/>
              </a:rPr>
              <a:t>addi</a:t>
            </a:r>
            <a:r>
              <a:rPr kumimoji="0" lang="en-US" altLang="en-US" sz="1200" b="0" i="0" u="none" strike="noStrike" kern="1200" cap="none" spc="0" normalizeH="0" baseline="0" noProof="0" dirty="0" smtClean="0">
                <a:ln>
                  <a:noFill/>
                </a:ln>
                <a:solidFill>
                  <a:prstClr val="black"/>
                </a:solidFill>
                <a:effectLst/>
                <a:uLnTx/>
                <a:uFillTx/>
                <a:latin typeface="Courier New" panose="02070309020205020404" pitchFamily="49" charset="0"/>
                <a:ea typeface="Microsoft YaHei" panose="020B0503020204020204" pitchFamily="34" charset="-122"/>
                <a:cs typeface="Courier New" panose="02070309020205020404" pitchFamily="49" charset="0"/>
              </a:rPr>
              <a:t> </a:t>
            </a:r>
            <a:r>
              <a:rPr kumimoji="0" lang="en-US" alt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icrosoft YaHei" panose="020B0503020204020204" pitchFamily="34" charset="-122"/>
                <a:cs typeface="+mn-cs"/>
              </a:rPr>
              <a:t>result will be in EX/MEM, it will be forwarded, rather than the </a:t>
            </a:r>
            <a:r>
              <a:rPr kumimoji="0" lang="en-US" altLang="en-US" sz="1200" b="0" i="0" u="none" strike="noStrike" kern="1200" cap="none" spc="0" normalizeH="0" baseline="0" noProof="0" dirty="0" smtClean="0">
                <a:ln>
                  <a:noFill/>
                </a:ln>
                <a:solidFill>
                  <a:prstClr val="black"/>
                </a:solidFill>
                <a:effectLst/>
                <a:uLnTx/>
                <a:uFillTx/>
                <a:latin typeface="Courier New" panose="02070309020205020404" pitchFamily="49" charset="0"/>
                <a:ea typeface="Microsoft YaHei" panose="020B0503020204020204" pitchFamily="34" charset="-122"/>
                <a:cs typeface="Courier New" panose="02070309020205020404" pitchFamily="49" charset="0"/>
              </a:rPr>
              <a:t>add</a:t>
            </a:r>
            <a:r>
              <a:rPr kumimoji="0" lang="en-US" alt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icrosoft YaHei" panose="020B0503020204020204" pitchFamily="34" charset="-122"/>
                <a:cs typeface="+mn-cs"/>
              </a:rPr>
              <a:t> result in MEM/WB.</a:t>
            </a:r>
          </a:p>
          <a:p>
            <a:endParaRPr lang="zh-CN" altLang="en-US" dirty="0"/>
          </a:p>
        </p:txBody>
      </p:sp>
      <p:sp>
        <p:nvSpPr>
          <p:cNvPr id="4" name="灯片编号占位符 3"/>
          <p:cNvSpPr>
            <a:spLocks noGrp="1"/>
          </p:cNvSpPr>
          <p:nvPr>
            <p:ph type="sldNum" sz="quarter" idx="10"/>
          </p:nvPr>
        </p:nvSpPr>
        <p:spPr/>
        <p:txBody>
          <a:bodyPr/>
          <a:lstStyle/>
          <a:p>
            <a:pPr>
              <a:defRPr/>
            </a:pPr>
            <a:fld id="{ADD578B6-544B-410C-ADFF-D2920E8D1CB4}" type="slidenum">
              <a:rPr lang="en-US" altLang="zh-CN" smtClean="0"/>
              <a:pPr>
                <a:defRPr/>
              </a:pPr>
              <a:t>29</a:t>
            </a:fld>
            <a:endParaRPr lang="en-US" altLang="zh-CN"/>
          </a:p>
        </p:txBody>
      </p:sp>
    </p:spTree>
    <p:extLst>
      <p:ext uri="{BB962C8B-B14F-4D97-AF65-F5344CB8AC3E}">
        <p14:creationId xmlns:p14="http://schemas.microsoft.com/office/powerpoint/2010/main" val="24970110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body" idx="1"/>
          </p:nvPr>
        </p:nvSpPr>
        <p:spPr>
          <a:ln/>
        </p:spPr>
        <p:txBody>
          <a:bodyPr lIns="90652" tIns="44530" rIns="90652" bIns="44530"/>
          <a:lstStyle/>
          <a:p>
            <a:endParaRPr lang="zh-CN" altLang="zh-CN"/>
          </a:p>
        </p:txBody>
      </p:sp>
      <p:sp>
        <p:nvSpPr>
          <p:cNvPr id="129027" name="Rectangle 3"/>
          <p:cNvSpPr>
            <a:spLocks noGrp="1" noRot="1" noChangeAspect="1" noChangeArrowheads="1" noTextEdit="1"/>
          </p:cNvSpPr>
          <p:nvPr>
            <p:ph type="sldImg"/>
          </p:nvPr>
        </p:nvSpPr>
        <p:spPr>
          <a:xfrm>
            <a:off x="2287588" y="514350"/>
            <a:ext cx="4572000" cy="2571750"/>
          </a:xfrm>
          <a:ln cap="flat"/>
        </p:spPr>
      </p:sp>
    </p:spTree>
    <p:extLst>
      <p:ext uri="{BB962C8B-B14F-4D97-AF65-F5344CB8AC3E}">
        <p14:creationId xmlns:p14="http://schemas.microsoft.com/office/powerpoint/2010/main" val="18907157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body" idx="1"/>
          </p:nvPr>
        </p:nvSpPr>
        <p:spPr>
          <a:ln/>
        </p:spPr>
        <p:txBody>
          <a:bodyPr lIns="90652" tIns="44530" rIns="90652" bIns="44530"/>
          <a:lstStyle/>
          <a:p>
            <a:endParaRPr lang="zh-CN" altLang="zh-CN"/>
          </a:p>
        </p:txBody>
      </p:sp>
      <p:sp>
        <p:nvSpPr>
          <p:cNvPr id="144387" name="Rectangle 3"/>
          <p:cNvSpPr>
            <a:spLocks noGrp="1" noRot="1" noChangeAspect="1" noChangeArrowheads="1" noTextEdit="1"/>
          </p:cNvSpPr>
          <p:nvPr>
            <p:ph type="sldImg"/>
          </p:nvPr>
        </p:nvSpPr>
        <p:spPr>
          <a:xfrm>
            <a:off x="2287588" y="514350"/>
            <a:ext cx="4572000" cy="2571750"/>
          </a:xfrm>
          <a:ln cap="flat"/>
        </p:spPr>
      </p:sp>
    </p:spTree>
    <p:extLst>
      <p:ext uri="{BB962C8B-B14F-4D97-AF65-F5344CB8AC3E}">
        <p14:creationId xmlns:p14="http://schemas.microsoft.com/office/powerpoint/2010/main" val="2408728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4E7AC32E-E03E-448A-8D1A-B677629D6118}" type="slidenum">
              <a:rPr lang="en-US" altLang="zh-CN"/>
              <a:pPr/>
              <a:t>66</a:t>
            </a:fld>
            <a:endParaRPr lang="en-US" altLang="zh-CN"/>
          </a:p>
        </p:txBody>
      </p:sp>
      <p:sp>
        <p:nvSpPr>
          <p:cNvPr id="729090" name="Rectangle 2"/>
          <p:cNvSpPr>
            <a:spLocks noGrp="1" noRot="1" noChangeAspect="1" noChangeArrowheads="1" noTextEdit="1"/>
          </p:cNvSpPr>
          <p:nvPr>
            <p:ph type="sldImg"/>
          </p:nvPr>
        </p:nvSpPr>
        <p:spPr>
          <a:xfrm>
            <a:off x="379413" y="592138"/>
            <a:ext cx="6108700" cy="3436937"/>
          </a:xfrm>
          <a:ln/>
        </p:spPr>
      </p:sp>
      <p:sp>
        <p:nvSpPr>
          <p:cNvPr id="729091" name="Rectangle 3"/>
          <p:cNvSpPr>
            <a:spLocks noGrp="1" noChangeArrowheads="1"/>
          </p:cNvSpPr>
          <p:nvPr>
            <p:ph type="body" idx="1"/>
          </p:nvPr>
        </p:nvSpPr>
        <p:spPr>
          <a:xfrm>
            <a:off x="515938" y="4368800"/>
            <a:ext cx="5910262" cy="4141788"/>
          </a:xfrm>
        </p:spPr>
        <p:txBody>
          <a:bodyPr lIns="91748" tIns="45875" rIns="91748" bIns="45875"/>
          <a:lstStyle/>
          <a:p>
            <a:endParaRPr lang="zh-CN" altLang="zh-CN"/>
          </a:p>
        </p:txBody>
      </p:sp>
    </p:spTree>
    <p:extLst>
      <p:ext uri="{BB962C8B-B14F-4D97-AF65-F5344CB8AC3E}">
        <p14:creationId xmlns:p14="http://schemas.microsoft.com/office/powerpoint/2010/main" val="810207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A2C4C1AF-020F-4321-A45D-5B49C4DB6B8E}" type="slidenum">
              <a:rPr lang="en-US" altLang="zh-CN"/>
              <a:pPr/>
              <a:t>76</a:t>
            </a:fld>
            <a:endParaRPr lang="en-US" altLang="zh-CN"/>
          </a:p>
        </p:txBody>
      </p:sp>
      <p:sp>
        <p:nvSpPr>
          <p:cNvPr id="681986" name="Rectangle 2"/>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5640" tIns="46982" rIns="95640" bIns="46982"/>
          <a:lstStyle/>
          <a:p>
            <a:r>
              <a:rPr lang="en-US" altLang="zh-CN">
                <a:ea typeface="宋体" panose="02010600030101010101" pitchFamily="2" charset="-122"/>
              </a:rPr>
              <a:t>Answer is 3 stages between branch and new instruction fetch and 2 stages between load and use (even though if looked at red insertions that it would be 3 for load and 2 for branch)</a:t>
            </a:r>
          </a:p>
          <a:p>
            <a:r>
              <a:rPr lang="en-US" altLang="zh-CN">
                <a:ea typeface="宋体" panose="02010600030101010101" pitchFamily="2" charset="-122"/>
              </a:rPr>
              <a:t>Reasons:</a:t>
            </a:r>
          </a:p>
          <a:p>
            <a:r>
              <a:rPr lang="en-US" altLang="zh-CN">
                <a:ea typeface="宋体" panose="02010600030101010101" pitchFamily="2" charset="-122"/>
              </a:rPr>
              <a:t>1) Load: TC just does tag check, data available after DS; thus supply the data &amp; forward it, restarting the pipeline on a data cache miss</a:t>
            </a:r>
          </a:p>
          <a:p>
            <a:r>
              <a:rPr lang="en-US" altLang="zh-CN">
                <a:ea typeface="宋体" panose="02010600030101010101" pitchFamily="2" charset="-122"/>
              </a:rPr>
              <a:t>2) EX phase does the address calculation even though just added one phase; presumed reason is that since want fast clockc cycle don’t want to sitck RF phase with reading regisers AND testing for zero, so just moved it back on phase</a:t>
            </a:r>
          </a:p>
        </p:txBody>
      </p:sp>
      <p:sp>
        <p:nvSpPr>
          <p:cNvPr id="681987" name="Rectangle 3"/>
          <p:cNvSpPr>
            <a:spLocks noGrp="1" noRot="1" noChangeAspect="1" noChangeArrowheads="1" noTextEdit="1"/>
          </p:cNvSpPr>
          <p:nvPr>
            <p:ph type="sldImg"/>
          </p:nvPr>
        </p:nvSpPr>
        <p:spPr>
          <a:xfrm>
            <a:off x="469900" y="727075"/>
            <a:ext cx="6376988" cy="3587750"/>
          </a:xfrm>
          <a:ln cap="flat"/>
        </p:spPr>
      </p:sp>
    </p:spTree>
    <p:extLst>
      <p:ext uri="{BB962C8B-B14F-4D97-AF65-F5344CB8AC3E}">
        <p14:creationId xmlns:p14="http://schemas.microsoft.com/office/powerpoint/2010/main" val="35759915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B82D6FFF-2203-4AE3-AF1E-B8B8BD860FA1}" type="slidenum">
              <a:rPr lang="en-US" altLang="zh-CN"/>
              <a:pPr/>
              <a:t>84</a:t>
            </a:fld>
            <a:endParaRPr lang="en-US" altLang="zh-CN"/>
          </a:p>
        </p:txBody>
      </p:sp>
      <p:sp>
        <p:nvSpPr>
          <p:cNvPr id="686082" name="Rectangle 2"/>
          <p:cNvSpPr>
            <a:spLocks noGrp="1" noRot="1" noChangeAspect="1" noChangeArrowheads="1" noTextEdit="1"/>
          </p:cNvSpPr>
          <p:nvPr>
            <p:ph type="sldImg"/>
          </p:nvPr>
        </p:nvSpPr>
        <p:spPr>
          <a:xfrm>
            <a:off x="376238" y="696913"/>
            <a:ext cx="6107112" cy="3436937"/>
          </a:xfrm>
          <a:ln/>
        </p:spPr>
      </p:sp>
      <p:sp>
        <p:nvSpPr>
          <p:cNvPr id="686083" name="Rectangle 3"/>
          <p:cNvSpPr>
            <a:spLocks noGrp="1" noChangeArrowheads="1"/>
          </p:cNvSpPr>
          <p:nvPr>
            <p:ph type="body" idx="1"/>
          </p:nvPr>
        </p:nvSpPr>
        <p:spPr/>
        <p:txBody>
          <a:bodyPr lIns="89907" tIns="44953" rIns="89907" bIns="44953"/>
          <a:lstStyle/>
          <a:p>
            <a:endParaRPr lang="en-US" altLang="en-US"/>
          </a:p>
        </p:txBody>
      </p:sp>
    </p:spTree>
    <p:extLst>
      <p:ext uri="{BB962C8B-B14F-4D97-AF65-F5344CB8AC3E}">
        <p14:creationId xmlns:p14="http://schemas.microsoft.com/office/powerpoint/2010/main" val="3294260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834A9C90-0613-4EAC-AAF4-5422F8723576}" type="slidenum">
              <a:rPr lang="en-US" altLang="zh-CN"/>
              <a:pPr/>
              <a:t>94</a:t>
            </a:fld>
            <a:endParaRPr lang="en-US" altLang="zh-CN"/>
          </a:p>
        </p:txBody>
      </p:sp>
      <p:sp>
        <p:nvSpPr>
          <p:cNvPr id="687106" name="Rectangle 2"/>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5640" tIns="46982" rIns="95640" bIns="46982"/>
          <a:lstStyle/>
          <a:p>
            <a:r>
              <a:rPr lang="en-US" altLang="zh-CN">
                <a:ea typeface="宋体" panose="02010600030101010101" pitchFamily="2" charset="-122"/>
              </a:rPr>
              <a:t>Integer programs, major delay is branch stalls</a:t>
            </a:r>
          </a:p>
          <a:p>
            <a:endParaRPr lang="en-US" altLang="zh-CN">
              <a:ea typeface="宋体" panose="02010600030101010101" pitchFamily="2" charset="-122"/>
            </a:endParaRPr>
          </a:p>
          <a:p>
            <a:r>
              <a:rPr lang="en-US" altLang="zh-CN">
                <a:ea typeface="宋体" panose="02010600030101010101" pitchFamily="2" charset="-122"/>
              </a:rPr>
              <a:t>FP its structural stalls</a:t>
            </a:r>
          </a:p>
        </p:txBody>
      </p:sp>
      <p:sp>
        <p:nvSpPr>
          <p:cNvPr id="687107" name="Rectangle 3"/>
          <p:cNvSpPr>
            <a:spLocks noGrp="1" noRot="1" noChangeAspect="1" noChangeArrowheads="1" noTextEdit="1"/>
          </p:cNvSpPr>
          <p:nvPr>
            <p:ph type="sldImg"/>
          </p:nvPr>
        </p:nvSpPr>
        <p:spPr>
          <a:xfrm>
            <a:off x="469900" y="727075"/>
            <a:ext cx="6376988" cy="3587750"/>
          </a:xfrm>
          <a:ln cap="flat"/>
        </p:spPr>
      </p:sp>
    </p:spTree>
    <p:extLst>
      <p:ext uri="{BB962C8B-B14F-4D97-AF65-F5344CB8AC3E}">
        <p14:creationId xmlns:p14="http://schemas.microsoft.com/office/powerpoint/2010/main" val="14982755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22FFEE3E-6CEB-4E8E-B6C9-36B6B362A15A}" type="slidenum">
              <a:rPr lang="en-US" altLang="zh-CN"/>
              <a:pPr/>
              <a:t>100</a:t>
            </a:fld>
            <a:endParaRPr lang="en-US" altLang="zh-CN"/>
          </a:p>
        </p:txBody>
      </p:sp>
      <p:sp>
        <p:nvSpPr>
          <p:cNvPr id="673794" name="Rectangle 2"/>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5640" tIns="46982" rIns="95640" bIns="46982"/>
          <a:lstStyle/>
          <a:p>
            <a:r>
              <a:rPr lang="en-US" altLang="zh-CN">
                <a:ea typeface="宋体" panose="02010600030101010101" pitchFamily="2" charset="-122"/>
              </a:rPr>
              <a:t>What you might have thought</a:t>
            </a:r>
          </a:p>
          <a:p>
            <a:r>
              <a:rPr lang="en-US" altLang="zh-CN">
                <a:ea typeface="宋体" panose="02010600030101010101" pitchFamily="2" charset="-122"/>
              </a:rPr>
              <a:t>1. 4 stages of instruction executino</a:t>
            </a:r>
          </a:p>
          <a:p>
            <a:r>
              <a:rPr lang="en-US" altLang="zh-CN">
                <a:ea typeface="宋体" panose="02010600030101010101" pitchFamily="2" charset="-122"/>
              </a:rPr>
              <a:t>2.Status of FU:  Normal things to keep track of (RAW &amp; structura for busyl):</a:t>
            </a:r>
          </a:p>
          <a:p>
            <a:r>
              <a:rPr lang="en-US" altLang="zh-CN">
                <a:ea typeface="宋体" panose="02010600030101010101" pitchFamily="2" charset="-122"/>
              </a:rPr>
              <a:t>Fi from instruction format of the mahine (Fi is dest)</a:t>
            </a:r>
          </a:p>
          <a:p>
            <a:r>
              <a:rPr lang="en-US" altLang="zh-CN">
                <a:ea typeface="宋体" panose="02010600030101010101" pitchFamily="2" charset="-122"/>
              </a:rPr>
              <a:t>Add unit can Add or Sub</a:t>
            </a:r>
          </a:p>
          <a:p>
            <a:r>
              <a:rPr lang="en-US" altLang="zh-CN">
                <a:ea typeface="宋体" panose="02010600030101010101" pitchFamily="2" charset="-122"/>
              </a:rPr>
              <a:t>Rj, Rk - status of registers (Yes means ready)</a:t>
            </a:r>
          </a:p>
          <a:p>
            <a:r>
              <a:rPr lang="en-US" altLang="zh-CN">
                <a:ea typeface="宋体" panose="02010600030101010101" pitchFamily="2" charset="-122"/>
              </a:rPr>
              <a:t>Qj,Qk - If a no in Rj, Rk, means waiting for a FU to write result; Qj, Qk means wihch FU waiting for it</a:t>
            </a:r>
          </a:p>
          <a:p>
            <a:r>
              <a:rPr lang="en-US" altLang="zh-CN">
                <a:ea typeface="宋体" panose="02010600030101010101" pitchFamily="2" charset="-122"/>
              </a:rPr>
              <a:t>3.Status of register result (WAW &amp;WAR)s:</a:t>
            </a:r>
          </a:p>
          <a:p>
            <a:r>
              <a:rPr lang="en-US" altLang="zh-CN">
                <a:ea typeface="宋体" panose="02010600030101010101" pitchFamily="2" charset="-122"/>
              </a:rPr>
              <a:t>which FU is going to write into registers</a:t>
            </a:r>
          </a:p>
          <a:p>
            <a:r>
              <a:rPr lang="en-US" altLang="zh-CN">
                <a:ea typeface="宋体" panose="02010600030101010101" pitchFamily="2" charset="-122"/>
              </a:rPr>
              <a:t>Scoreboard on 6600 = size of FU</a:t>
            </a:r>
          </a:p>
          <a:p>
            <a:r>
              <a:rPr lang="en-US" altLang="zh-CN">
                <a:ea typeface="宋体" panose="02010600030101010101" pitchFamily="2" charset="-122"/>
              </a:rPr>
              <a:t>6.7, 6.8, 6.9, 6.12, 6.13, 6.16, 6.17</a:t>
            </a:r>
          </a:p>
          <a:p>
            <a:r>
              <a:rPr lang="en-US" altLang="zh-CN">
                <a:ea typeface="宋体" panose="02010600030101010101" pitchFamily="2" charset="-122"/>
              </a:rPr>
              <a:t>FU latencies: Add 2, Mult 10, Div 40 clocks</a:t>
            </a:r>
          </a:p>
        </p:txBody>
      </p:sp>
      <p:sp>
        <p:nvSpPr>
          <p:cNvPr id="673795" name="Rectangle 3"/>
          <p:cNvSpPr>
            <a:spLocks noGrp="1" noRot="1" noChangeAspect="1" noChangeArrowheads="1" noTextEdit="1"/>
          </p:cNvSpPr>
          <p:nvPr>
            <p:ph type="sldImg"/>
          </p:nvPr>
        </p:nvSpPr>
        <p:spPr>
          <a:xfrm>
            <a:off x="469900" y="727075"/>
            <a:ext cx="6376988" cy="3587750"/>
          </a:xfrm>
          <a:ln cap="flat"/>
        </p:spPr>
      </p:sp>
    </p:spTree>
    <p:extLst>
      <p:ext uri="{BB962C8B-B14F-4D97-AF65-F5344CB8AC3E}">
        <p14:creationId xmlns:p14="http://schemas.microsoft.com/office/powerpoint/2010/main" val="25275756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p:cNvSpPr>
            <a:spLocks noGrp="1" noChangeArrowheads="1"/>
          </p:cNvSpPr>
          <p:nvPr>
            <p:ph type="sldNum" sz="quarter" idx="5"/>
          </p:nvPr>
        </p:nvSpPr>
        <p:spPr>
          <a:ln/>
        </p:spPr>
        <p:txBody>
          <a:bodyPr/>
          <a:lstStyle/>
          <a:p>
            <a:fld id="{543CB9EF-87B8-44B7-843D-3A3A531BBC38}" type="slidenum">
              <a:rPr lang="en-US" altLang="zh-CN"/>
              <a:pPr/>
              <a:t>101</a:t>
            </a:fld>
            <a:endParaRPr lang="en-US" altLang="zh-CN"/>
          </a:p>
        </p:txBody>
      </p:sp>
      <p:sp>
        <p:nvSpPr>
          <p:cNvPr id="676866" name="Rectangle 2"/>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5640" tIns="46982" rIns="95640" bIns="46982"/>
          <a:lstStyle/>
          <a:p>
            <a:r>
              <a:rPr lang="en-US" altLang="zh-CN" dirty="0">
                <a:ea typeface="宋体" panose="02010600030101010101" pitchFamily="2" charset="-122"/>
              </a:rPr>
              <a:t>1.Issue - if no structural </a:t>
            </a:r>
            <a:r>
              <a:rPr lang="en-US" altLang="zh-CN" dirty="0" err="1">
                <a:ea typeface="宋体" panose="02010600030101010101" pitchFamily="2" charset="-122"/>
              </a:rPr>
              <a:t>haards</a:t>
            </a:r>
            <a:r>
              <a:rPr lang="en-US" altLang="zh-CN" dirty="0">
                <a:ea typeface="宋体" panose="02010600030101010101" pitchFamily="2" charset="-122"/>
              </a:rPr>
              <a:t> AND non </a:t>
            </a:r>
            <a:r>
              <a:rPr lang="en-US" altLang="zh-CN" dirty="0" err="1">
                <a:ea typeface="宋体" panose="02010600030101010101" pitchFamily="2" charset="-122"/>
              </a:rPr>
              <a:t>wAW</a:t>
            </a:r>
            <a:r>
              <a:rPr lang="en-US" altLang="zh-CN" dirty="0">
                <a:ea typeface="宋体" panose="02010600030101010101" pitchFamily="2" charset="-122"/>
              </a:rPr>
              <a:t> (no </a:t>
            </a:r>
            <a:r>
              <a:rPr lang="en-US" altLang="zh-CN" dirty="0" err="1">
                <a:ea typeface="宋体" panose="02010600030101010101" pitchFamily="2" charset="-122"/>
              </a:rPr>
              <a:t>Funtional</a:t>
            </a:r>
            <a:r>
              <a:rPr lang="en-US" altLang="zh-CN" dirty="0">
                <a:ea typeface="宋体" panose="02010600030101010101" pitchFamily="2" charset="-122"/>
              </a:rPr>
              <a:t> Unit is going to write this destination register; 1 per clock cycle</a:t>
            </a:r>
          </a:p>
          <a:p>
            <a:r>
              <a:rPr lang="en-US" altLang="zh-CN" dirty="0">
                <a:ea typeface="宋体" panose="02010600030101010101" pitchFamily="2" charset="-122"/>
              </a:rPr>
              <a:t>2. Read -(RAW)  if no instructions is going to write a source register of this instruction (alternatively, no write signal this clock cycle) +&gt; </a:t>
            </a:r>
            <a:r>
              <a:rPr lang="en-US" altLang="zh-CN" dirty="0" err="1">
                <a:ea typeface="宋体" panose="02010600030101010101" pitchFamily="2" charset="-122"/>
              </a:rPr>
              <a:t>gein</a:t>
            </a:r>
            <a:r>
              <a:rPr lang="en-US" altLang="zh-CN" dirty="0">
                <a:ea typeface="宋体" panose="02010600030101010101" pitchFamily="2" charset="-122"/>
              </a:rPr>
              <a:t> </a:t>
            </a:r>
            <a:r>
              <a:rPr lang="en-US" altLang="zh-CN" dirty="0" err="1">
                <a:ea typeface="宋体" panose="02010600030101010101" pitchFamily="2" charset="-122"/>
              </a:rPr>
              <a:t>exection</a:t>
            </a:r>
            <a:r>
              <a:rPr lang="en-US" altLang="zh-CN" dirty="0">
                <a:ea typeface="宋体" panose="02010600030101010101" pitchFamily="2" charset="-122"/>
              </a:rPr>
              <a:t> of the instruction; many read ports, so can read many times</a:t>
            </a:r>
          </a:p>
          <a:p>
            <a:r>
              <a:rPr lang="en-US" altLang="zh-CN" dirty="0">
                <a:ea typeface="宋体" panose="02010600030101010101" pitchFamily="2" charset="-122"/>
              </a:rPr>
              <a:t>3. Execution Complete; multiple during clock </a:t>
            </a:r>
            <a:r>
              <a:rPr lang="en-US" altLang="zh-CN" dirty="0" err="1">
                <a:ea typeface="宋体" panose="02010600030101010101" pitchFamily="2" charset="-122"/>
              </a:rPr>
              <a:t>cyle</a:t>
            </a:r>
            <a:endParaRPr lang="en-US" altLang="zh-CN" dirty="0">
              <a:ea typeface="宋体" panose="02010600030101010101" pitchFamily="2" charset="-122"/>
            </a:endParaRPr>
          </a:p>
          <a:p>
            <a:r>
              <a:rPr lang="en-US" altLang="zh-CN" dirty="0">
                <a:ea typeface="宋体" panose="02010600030101010101" pitchFamily="2" charset="-122"/>
              </a:rPr>
              <a:t>4. Write result - (WAR) If no </a:t>
            </a:r>
            <a:r>
              <a:rPr lang="en-US" altLang="zh-CN" dirty="0" err="1">
                <a:ea typeface="宋体" panose="02010600030101010101" pitchFamily="2" charset="-122"/>
              </a:rPr>
              <a:t>instructiion</a:t>
            </a:r>
            <a:r>
              <a:rPr lang="en-US" altLang="zh-CN" dirty="0">
                <a:ea typeface="宋体" panose="02010600030101010101" pitchFamily="2" charset="-122"/>
              </a:rPr>
              <a:t> is </a:t>
            </a:r>
            <a:r>
              <a:rPr lang="en-US" altLang="zh-CN" dirty="0" err="1">
                <a:ea typeface="宋体" panose="02010600030101010101" pitchFamily="2" charset="-122"/>
              </a:rPr>
              <a:t>watiing</a:t>
            </a:r>
            <a:r>
              <a:rPr lang="en-US" altLang="zh-CN" dirty="0">
                <a:ea typeface="宋体" panose="02010600030101010101" pitchFamily="2" charset="-122"/>
              </a:rPr>
              <a:t> to read the destination register; assume multiple </a:t>
            </a:r>
            <a:r>
              <a:rPr lang="en-US" altLang="zh-CN" dirty="0" err="1">
                <a:ea typeface="宋体" panose="02010600030101010101" pitchFamily="2" charset="-122"/>
              </a:rPr>
              <a:t>wriite</a:t>
            </a:r>
            <a:r>
              <a:rPr lang="en-US" altLang="zh-CN" dirty="0">
                <a:ea typeface="宋体" panose="02010600030101010101" pitchFamily="2" charset="-122"/>
              </a:rPr>
              <a:t> ports; wait for clock cycle to write and </a:t>
            </a:r>
            <a:r>
              <a:rPr lang="en-US" altLang="zh-CN" dirty="0" err="1">
                <a:ea typeface="宋体" panose="02010600030101010101" pitchFamily="2" charset="-122"/>
              </a:rPr>
              <a:t>tehn</a:t>
            </a:r>
            <a:r>
              <a:rPr lang="en-US" altLang="zh-CN" dirty="0">
                <a:ea typeface="宋体" panose="02010600030101010101" pitchFamily="2" charset="-122"/>
              </a:rPr>
              <a:t> read the results; assume can </a:t>
            </a:r>
            <a:r>
              <a:rPr lang="en-US" altLang="zh-CN" dirty="0" err="1">
                <a:ea typeface="宋体" panose="02010600030101010101" pitchFamily="2" charset="-122"/>
              </a:rPr>
              <a:t>oerlap</a:t>
            </a:r>
            <a:r>
              <a:rPr lang="en-US" altLang="zh-CN" dirty="0">
                <a:ea typeface="宋体" panose="02010600030101010101" pitchFamily="2" charset="-122"/>
              </a:rPr>
              <a:t> issue &amp; write</a:t>
            </a:r>
          </a:p>
          <a:p>
            <a:r>
              <a:rPr lang="en-US" altLang="zh-CN" dirty="0">
                <a:ea typeface="宋体" panose="02010600030101010101" pitchFamily="2" charset="-122"/>
              </a:rPr>
              <a:t>show clock </a:t>
            </a:r>
            <a:r>
              <a:rPr lang="en-US" altLang="zh-CN" dirty="0" err="1">
                <a:ea typeface="宋体" panose="02010600030101010101" pitchFamily="2" charset="-122"/>
              </a:rPr>
              <a:t>cyclesneed</a:t>
            </a:r>
            <a:r>
              <a:rPr lang="en-US" altLang="zh-CN" dirty="0">
                <a:ea typeface="宋体" panose="02010600030101010101" pitchFamily="2" charset="-122"/>
              </a:rPr>
              <a:t> 20 or so</a:t>
            </a:r>
          </a:p>
          <a:p>
            <a:r>
              <a:rPr lang="en-US" altLang="zh-CN" dirty="0">
                <a:ea typeface="宋体" panose="02010600030101010101" pitchFamily="2" charset="-122"/>
              </a:rPr>
              <a:t>Latency: minimum is 4 through 4 stages</a:t>
            </a:r>
          </a:p>
        </p:txBody>
      </p:sp>
      <p:sp>
        <p:nvSpPr>
          <p:cNvPr id="676867" name="Rectangle 3"/>
          <p:cNvSpPr>
            <a:spLocks noGrp="1" noRot="1" noChangeAspect="1" noChangeArrowheads="1" noTextEdit="1"/>
          </p:cNvSpPr>
          <p:nvPr>
            <p:ph type="sldImg"/>
          </p:nvPr>
        </p:nvSpPr>
        <p:spPr>
          <a:xfrm>
            <a:off x="469900" y="727075"/>
            <a:ext cx="6376988" cy="3587750"/>
          </a:xfrm>
          <a:ln cap="flat"/>
        </p:spPr>
      </p:sp>
    </p:spTree>
    <p:extLst>
      <p:ext uri="{BB962C8B-B14F-4D97-AF65-F5344CB8AC3E}">
        <p14:creationId xmlns:p14="http://schemas.microsoft.com/office/powerpoint/2010/main" val="3940982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32657"/>
            <a:ext cx="9144000" cy="1008111"/>
          </a:xfrm>
        </p:spPr>
        <p:txBody>
          <a:bodyPr anchor="b"/>
          <a:lstStyle>
            <a:lvl1pPr algn="ctr">
              <a:defRPr sz="48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2348880"/>
            <a:ext cx="9144000" cy="35283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Tree>
    <p:extLst>
      <p:ext uri="{BB962C8B-B14F-4D97-AF65-F5344CB8AC3E}">
        <p14:creationId xmlns:p14="http://schemas.microsoft.com/office/powerpoint/2010/main" val="1793842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1627"/>
          </a:xfrm>
        </p:spPr>
        <p:txBody>
          <a:bodyPr/>
          <a:lstStyle>
            <a:lvl1pPr>
              <a:defRPr>
                <a:latin typeface="Arial" panose="020B0604020202020204" pitchFamily="34" charset="0"/>
                <a:cs typeface="Arial" panose="020B0604020202020204" pitchFamily="34" charset="0"/>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838200" y="1556792"/>
            <a:ext cx="10515600" cy="511256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993316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628800"/>
            <a:ext cx="5181600" cy="4968552"/>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1249789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903635"/>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4"/>
            <a:ext cx="5157787" cy="409227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595709"/>
          </a:xfrm>
        </p:spPr>
        <p:txBody>
          <a:bodyPr anchor="b"/>
          <a:lstStyle>
            <a:lvl1pPr marL="0" indent="0">
              <a:buNone/>
              <a:defRPr sz="3200" b="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4"/>
            <a:ext cx="5183188" cy="4092277"/>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extLst>
      <p:ext uri="{BB962C8B-B14F-4D97-AF65-F5344CB8AC3E}">
        <p14:creationId xmlns:p14="http://schemas.microsoft.com/office/powerpoint/2010/main" val="2727033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Tree>
    <p:extLst>
      <p:ext uri="{BB962C8B-B14F-4D97-AF65-F5344CB8AC3E}">
        <p14:creationId xmlns:p14="http://schemas.microsoft.com/office/powerpoint/2010/main" val="3921178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6868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903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smtClean="0"/>
              <a:t>单击此处编辑母版标题样式</a:t>
            </a:r>
            <a:endParaRPr lang="en-US" altLang="zh-CN" dirty="0" smtClean="0"/>
          </a:p>
        </p:txBody>
      </p:sp>
      <p:sp>
        <p:nvSpPr>
          <p:cNvPr id="1027" name="Text Placeholder 2"/>
          <p:cNvSpPr>
            <a:spLocks noGrp="1"/>
          </p:cNvSpPr>
          <p:nvPr>
            <p:ph type="body" idx="1"/>
          </p:nvPr>
        </p:nvSpPr>
        <p:spPr bwMode="auto">
          <a:xfrm>
            <a:off x="838200" y="1556792"/>
            <a:ext cx="10515600" cy="4620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altLang="zh-CN" dirty="0" smtClean="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r>
              <a:rPr lang="en-US" altLang="zh-CN" smtClean="0"/>
              <a:t>1/28/2004</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it-IT" smtClean="0"/>
              <a:t>EECS 150, Fa04, Lec XX-topic</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995DCE2-E1D3-41AF-AA0F-2ACC42A603E2}" type="slidenum">
              <a:rPr lang="en-US"/>
              <a:pPr>
                <a:defRPr/>
              </a:pPr>
              <a:t>‹#›</a:t>
            </a:fld>
            <a:endParaRPr lang="en-US" dirty="0"/>
          </a:p>
        </p:txBody>
      </p:sp>
      <p:pic>
        <p:nvPicPr>
          <p:cNvPr id="2" name="图片 1"/>
          <p:cNvPicPr>
            <a:picLocks noChangeAspect="1"/>
          </p:cNvPicPr>
          <p:nvPr userDrawn="1"/>
        </p:nvPicPr>
        <p:blipFill>
          <a:blip r:embed="rId8"/>
          <a:stretch>
            <a:fillRect/>
          </a:stretch>
        </p:blipFill>
        <p:spPr>
          <a:xfrm>
            <a:off x="4943" y="1392216"/>
            <a:ext cx="12187057" cy="92568"/>
          </a:xfrm>
          <a:prstGeom prst="rect">
            <a:avLst/>
          </a:prstGeom>
        </p:spPr>
      </p:pic>
    </p:spTree>
  </p:cSld>
  <p:clrMap bg1="lt1" tx1="dk1" bg2="lt2" tx2="dk2" accent1="accent1" accent2="accent2" accent3="accent3" accent4="accent4" accent5="accent5" accent6="accent6" hlink="hlink" folHlink="folHlink"/>
  <p:sldLayoutIdLst>
    <p:sldLayoutId id="2147483715" r:id="rId1"/>
    <p:sldLayoutId id="2147483716" r:id="rId2"/>
    <p:sldLayoutId id="2147483718" r:id="rId3"/>
    <p:sldLayoutId id="2147483719" r:id="rId4"/>
    <p:sldLayoutId id="2147483720" r:id="rId5"/>
    <p:sldLayoutId id="2147483721" r:id="rId6"/>
  </p:sldLayoutIdLst>
  <p:hf sldNum="0" hdr="0" ftr="0" dt="0"/>
  <p:txStyles>
    <p:titleStyle>
      <a:lvl1pPr algn="l" rtl="0" eaLnBrk="1" fontAlgn="base" hangingPunct="1">
        <a:lnSpc>
          <a:spcPct val="90000"/>
        </a:lnSpc>
        <a:spcBef>
          <a:spcPct val="0"/>
        </a:spcBef>
        <a:spcAft>
          <a:spcPct val="0"/>
        </a:spcAft>
        <a:defRPr sz="4400" kern="1200">
          <a:solidFill>
            <a:srgbClr val="FF0000"/>
          </a:solidFill>
          <a:latin typeface="Arial" panose="020B0604020202020204" pitchFamily="34" charset="0"/>
          <a:ea typeface="微软雅黑" panose="020B0503020204020204" pitchFamily="34" charset="-122"/>
          <a:cs typeface="Arial" panose="020B0604020202020204" pitchFamily="34" charset="0"/>
        </a:defRPr>
      </a:lvl1pPr>
      <a:lvl2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2pPr>
      <a:lvl3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3pPr>
      <a:lvl4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4pPr>
      <a:lvl5pPr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5pPr>
      <a:lvl6pPr marL="4572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6pPr>
      <a:lvl7pPr marL="9144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7pPr>
      <a:lvl8pPr marL="13716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8pPr>
      <a:lvl9pPr marL="1828800" algn="l" rtl="0" eaLnBrk="1" fontAlgn="base" hangingPunct="1">
        <a:lnSpc>
          <a:spcPct val="90000"/>
        </a:lnSpc>
        <a:spcBef>
          <a:spcPct val="0"/>
        </a:spcBef>
        <a:spcAft>
          <a:spcPct val="0"/>
        </a:spcAft>
        <a:defRPr sz="4400">
          <a:solidFill>
            <a:schemeClr val="tx1"/>
          </a:solidFill>
          <a:latin typeface="Calibri Light" panose="020F0302020204030204" pitchFamily="34" charset="0"/>
          <a:ea typeface="等线 Light" panose="02010600030101010101" pitchFamily="2"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rgbClr val="0000FF"/>
          </a:solidFill>
          <a:latin typeface="Arial" panose="020B0604020202020204" pitchFamily="34" charset="0"/>
          <a:ea typeface="微软雅黑" panose="020B0503020204020204" pitchFamily="34" charset="-122"/>
          <a:cs typeface="Arial" panose="020B0604020202020204" pitchFamily="34"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rgbClr val="0000FF"/>
          </a:solidFill>
          <a:latin typeface="Arial" panose="020B0604020202020204" pitchFamily="34" charset="0"/>
          <a:ea typeface="微软雅黑" panose="020B0503020204020204" pitchFamily="34" charset="-122"/>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9.wmf"/></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4.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26.wmf"/><Relationship Id="rId5" Type="http://schemas.openxmlformats.org/officeDocument/2006/relationships/oleObject" Target="../embeddings/oleObject4.bin"/><Relationship Id="rId4" Type="http://schemas.openxmlformats.org/officeDocument/2006/relationships/image" Target="../media/image25.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45.wmf"/></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51.wmf"/><Relationship Id="rId4" Type="http://schemas.openxmlformats.org/officeDocument/2006/relationships/oleObject" Target="../embeddings/oleObject7.bin"/></Relationships>
</file>

<file path=ppt/slides/_rels/slide9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53.emf"/></Relationships>
</file>

<file path=ppt/slides/_rels/slide10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54.emf"/></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55.emf"/></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56.emf"/></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57.e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58.emf"/></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59.emf"/></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60.emf"/></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61.emf"/></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62.emf"/></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63.emf"/></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64.emf"/></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65.emf"/></Relationships>
</file>

<file path=ppt/slides/_rels/slide11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66.emf"/></Relationships>
</file>

<file path=ppt/slides/_rels/slide116.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67.emf"/></Relationships>
</file>

<file path=ppt/slides/_rels/slide11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68.emf"/></Relationships>
</file>

<file path=ppt/slides/_rels/slide11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69.emf"/></Relationships>
</file>

<file path=ppt/slides/_rels/slide11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70.emf"/></Relationships>
</file>

<file path=ppt/slides/_rels/slide12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71.emf"/></Relationships>
</file>

<file path=ppt/slides/_rels/slide12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72.emf"/></Relationships>
</file>

<file path=ppt/slides/_rels/slide122.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73.emf"/></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74.emf"/></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75.emf"/></Relationships>
</file>

<file path=ppt/slides/_rels/slide12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76.emf"/></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77.emf"/></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78.emf"/></Relationships>
</file>

<file path=ppt/slides/_rels/slide12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78.emf"/></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zh-CN" altLang="en-US" dirty="0"/>
              <a:t>基本指令流水线</a:t>
            </a:r>
          </a:p>
        </p:txBody>
      </p:sp>
      <p:sp>
        <p:nvSpPr>
          <p:cNvPr id="4099" name="Rectangle 3"/>
          <p:cNvSpPr>
            <a:spLocks noGrp="1" noChangeArrowheads="1"/>
          </p:cNvSpPr>
          <p:nvPr>
            <p:ph type="subTitle"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marL="285750" indent="-285750"/>
            <a:r>
              <a:rPr lang="zh-CN" altLang="en-US" sz="3200" dirty="0" smtClean="0"/>
              <a:t>流水线的基本概念</a:t>
            </a:r>
            <a:endParaRPr lang="en-US" altLang="zh-CN" sz="3200" dirty="0" smtClean="0"/>
          </a:p>
          <a:p>
            <a:pPr marL="285750" indent="-285750"/>
            <a:r>
              <a:rPr lang="en-US" altLang="zh-CN" sz="3200" dirty="0" smtClean="0"/>
              <a:t>RISC</a:t>
            </a:r>
            <a:r>
              <a:rPr lang="zh-CN" altLang="en-US" sz="3200" dirty="0" smtClean="0"/>
              <a:t>指令流水线</a:t>
            </a:r>
            <a:endParaRPr lang="zh-CN" altLang="en-US" sz="3200" dirty="0"/>
          </a:p>
          <a:p>
            <a:pPr marL="285750" indent="-285750"/>
            <a:r>
              <a:rPr lang="zh-CN" altLang="en-US" sz="3200" dirty="0" smtClean="0"/>
              <a:t>数据冒险与控制</a:t>
            </a:r>
            <a:r>
              <a:rPr lang="zh-CN" altLang="en-US" sz="3200" dirty="0"/>
              <a:t>冒险</a:t>
            </a:r>
          </a:p>
          <a:p>
            <a:pPr marL="285750" indent="-285750"/>
            <a:r>
              <a:rPr lang="zh-CN" altLang="en-US" sz="3200" dirty="0" smtClean="0"/>
              <a:t>精确中断的实现</a:t>
            </a:r>
            <a:endParaRPr lang="en-US" altLang="zh-CN" sz="3200" dirty="0" smtClean="0"/>
          </a:p>
          <a:p>
            <a:pPr marL="285750" indent="-285750"/>
            <a:r>
              <a:rPr lang="zh-CN" altLang="en-US" sz="3200" dirty="0" smtClean="0"/>
              <a:t>多周期操作与深度流水线</a:t>
            </a:r>
            <a:endParaRPr lang="en-US" altLang="zh-CN" sz="3200" dirty="0" smtClean="0"/>
          </a:p>
          <a:p>
            <a:pPr marL="285750" indent="-285750"/>
            <a:r>
              <a:rPr lang="zh-CN" altLang="en-US" sz="3200" dirty="0" smtClean="0"/>
              <a:t>动态调度之记分板</a:t>
            </a:r>
            <a:endParaRPr lang="zh-CN" altLang="en-US" sz="3200" dirty="0"/>
          </a:p>
        </p:txBody>
      </p:sp>
    </p:spTree>
    <p:extLst>
      <p:ext uri="{BB962C8B-B14F-4D97-AF65-F5344CB8AC3E}">
        <p14:creationId xmlns:p14="http://schemas.microsoft.com/office/powerpoint/2010/main" val="2251165791"/>
      </p:ext>
    </p:extLst>
  </p:cSld>
  <p:clrMapOvr>
    <a:masterClrMapping/>
  </p:clrMapOvr>
  <p:transition>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2552700" y="15240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Pipelining: Its Natural!</a:t>
            </a:r>
          </a:p>
        </p:txBody>
      </p:sp>
      <p:sp>
        <p:nvSpPr>
          <p:cNvPr id="19459" name="Rectangle 3"/>
          <p:cNvSpPr>
            <a:spLocks noGrp="1" noChangeArrowheads="1"/>
          </p:cNvSpPr>
          <p:nvPr>
            <p:ph type="body" idx="1"/>
          </p:nvPr>
        </p:nvSpPr>
        <p:spPr>
          <a:xfrm>
            <a:off x="1772444" y="2025650"/>
            <a:ext cx="4902200" cy="32512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Laundry Example</a:t>
            </a:r>
          </a:p>
          <a:p>
            <a:r>
              <a:rPr lang="en-US" altLang="zh-CN" dirty="0"/>
              <a:t>Ann, Brian, Cathy, Dave each have one load of clothes </a:t>
            </a:r>
            <a:br>
              <a:rPr lang="en-US" altLang="zh-CN" dirty="0"/>
            </a:br>
            <a:r>
              <a:rPr lang="en-US" altLang="zh-CN" dirty="0"/>
              <a:t>to wash, dry, and fold</a:t>
            </a:r>
          </a:p>
          <a:p>
            <a:r>
              <a:rPr lang="en-US" altLang="zh-CN" dirty="0"/>
              <a:t>Washer takes 30 minutes</a:t>
            </a:r>
          </a:p>
          <a:p>
            <a:r>
              <a:rPr lang="en-US" altLang="zh-CN" dirty="0"/>
              <a:t>Dryer takes 40 minutes</a:t>
            </a:r>
          </a:p>
          <a:p>
            <a:r>
              <a:rPr lang="en-US" altLang="zh-CN" dirty="0"/>
              <a:t>Folder takes 20 minutes</a:t>
            </a:r>
          </a:p>
        </p:txBody>
      </p:sp>
      <p:grpSp>
        <p:nvGrpSpPr>
          <p:cNvPr id="19465" name="Group 9"/>
          <p:cNvGrpSpPr>
            <a:grpSpLocks/>
          </p:cNvGrpSpPr>
          <p:nvPr/>
        </p:nvGrpSpPr>
        <p:grpSpPr bwMode="auto">
          <a:xfrm>
            <a:off x="8235950" y="4476750"/>
            <a:ext cx="673100" cy="800100"/>
            <a:chOff x="4228" y="2820"/>
            <a:chExt cx="424" cy="504"/>
          </a:xfrm>
        </p:grpSpPr>
        <p:grpSp>
          <p:nvGrpSpPr>
            <p:cNvPr id="19462" name="Group 6"/>
            <p:cNvGrpSpPr>
              <a:grpSpLocks/>
            </p:cNvGrpSpPr>
            <p:nvPr/>
          </p:nvGrpSpPr>
          <p:grpSpPr bwMode="auto">
            <a:xfrm>
              <a:off x="4228" y="2820"/>
              <a:ext cx="424" cy="504"/>
              <a:chOff x="4228" y="2820"/>
              <a:chExt cx="424" cy="504"/>
            </a:xfrm>
          </p:grpSpPr>
          <p:sp>
            <p:nvSpPr>
              <p:cNvPr id="19460" name="AutoShape 4"/>
              <p:cNvSpPr>
                <a:spLocks noChangeArrowheads="1"/>
              </p:cNvSpPr>
              <p:nvPr/>
            </p:nvSpPr>
            <p:spPr bwMode="auto">
              <a:xfrm>
                <a:off x="4228" y="2900"/>
                <a:ext cx="424" cy="424"/>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1" name="AutoShape 5"/>
              <p:cNvSpPr>
                <a:spLocks noChangeArrowheads="1"/>
              </p:cNvSpPr>
              <p:nvPr/>
            </p:nvSpPr>
            <p:spPr bwMode="auto">
              <a:xfrm>
                <a:off x="4324" y="2820"/>
                <a:ext cx="328" cy="8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463" name="Oval 7"/>
            <p:cNvSpPr>
              <a:spLocks noChangeArrowheads="1"/>
            </p:cNvSpPr>
            <p:nvPr/>
          </p:nvSpPr>
          <p:spPr bwMode="auto">
            <a:xfrm>
              <a:off x="4356" y="2860"/>
              <a:ext cx="56" cy="3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4" name="AutoShape 8"/>
            <p:cNvSpPr>
              <a:spLocks noChangeArrowheads="1"/>
            </p:cNvSpPr>
            <p:nvPr/>
          </p:nvSpPr>
          <p:spPr bwMode="auto">
            <a:xfrm>
              <a:off x="4280" y="3096"/>
              <a:ext cx="224" cy="96"/>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474" name="Group 18"/>
          <p:cNvGrpSpPr>
            <a:grpSpLocks/>
          </p:cNvGrpSpPr>
          <p:nvPr/>
        </p:nvGrpSpPr>
        <p:grpSpPr bwMode="auto">
          <a:xfrm>
            <a:off x="8380414" y="5410200"/>
            <a:ext cx="661987" cy="649288"/>
            <a:chOff x="4319" y="3408"/>
            <a:chExt cx="417" cy="409"/>
          </a:xfrm>
        </p:grpSpPr>
        <p:grpSp>
          <p:nvGrpSpPr>
            <p:cNvPr id="19470" name="Group 14"/>
            <p:cNvGrpSpPr>
              <a:grpSpLocks/>
            </p:cNvGrpSpPr>
            <p:nvPr/>
          </p:nvGrpSpPr>
          <p:grpSpPr bwMode="auto">
            <a:xfrm>
              <a:off x="4321" y="3601"/>
              <a:ext cx="415" cy="216"/>
              <a:chOff x="4321" y="3601"/>
              <a:chExt cx="415" cy="216"/>
            </a:xfrm>
          </p:grpSpPr>
          <p:sp>
            <p:nvSpPr>
              <p:cNvPr id="19466" name="Freeform 10"/>
              <p:cNvSpPr>
                <a:spLocks/>
              </p:cNvSpPr>
              <p:nvPr/>
            </p:nvSpPr>
            <p:spPr bwMode="auto">
              <a:xfrm>
                <a:off x="4523" y="3602"/>
                <a:ext cx="96" cy="215"/>
              </a:xfrm>
              <a:custGeom>
                <a:avLst/>
                <a:gdLst>
                  <a:gd name="T0" fmla="*/ 69 w 96"/>
                  <a:gd name="T1" fmla="*/ 0 h 215"/>
                  <a:gd name="T2" fmla="*/ 95 w 96"/>
                  <a:gd name="T3" fmla="*/ 0 h 215"/>
                  <a:gd name="T4" fmla="*/ 26 w 96"/>
                  <a:gd name="T5" fmla="*/ 214 h 215"/>
                  <a:gd name="T6" fmla="*/ 0 w 96"/>
                  <a:gd name="T7" fmla="*/ 214 h 215"/>
                  <a:gd name="T8" fmla="*/ 69 w 96"/>
                  <a:gd name="T9" fmla="*/ 0 h 215"/>
                </a:gdLst>
                <a:ahLst/>
                <a:cxnLst>
                  <a:cxn ang="0">
                    <a:pos x="T0" y="T1"/>
                  </a:cxn>
                  <a:cxn ang="0">
                    <a:pos x="T2" y="T3"/>
                  </a:cxn>
                  <a:cxn ang="0">
                    <a:pos x="T4" y="T5"/>
                  </a:cxn>
                  <a:cxn ang="0">
                    <a:pos x="T6" y="T7"/>
                  </a:cxn>
                  <a:cxn ang="0">
                    <a:pos x="T8" y="T9"/>
                  </a:cxn>
                </a:cxnLst>
                <a:rect l="0" t="0" r="r" b="b"/>
                <a:pathLst>
                  <a:path w="96" h="215">
                    <a:moveTo>
                      <a:pt x="69" y="0"/>
                    </a:moveTo>
                    <a:lnTo>
                      <a:pt x="95" y="0"/>
                    </a:lnTo>
                    <a:lnTo>
                      <a:pt x="26" y="214"/>
                    </a:lnTo>
                    <a:lnTo>
                      <a:pt x="0" y="214"/>
                    </a:lnTo>
                    <a:lnTo>
                      <a:pt x="69"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7" name="Rectangle 11"/>
              <p:cNvSpPr>
                <a:spLocks noChangeArrowheads="1"/>
              </p:cNvSpPr>
              <p:nvPr/>
            </p:nvSpPr>
            <p:spPr bwMode="auto">
              <a:xfrm>
                <a:off x="4518" y="3601"/>
                <a:ext cx="218" cy="12"/>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8" name="Rectangle 12"/>
              <p:cNvSpPr>
                <a:spLocks noChangeArrowheads="1"/>
              </p:cNvSpPr>
              <p:nvPr/>
            </p:nvSpPr>
            <p:spPr bwMode="auto">
              <a:xfrm>
                <a:off x="4517" y="3692"/>
                <a:ext cx="218" cy="13"/>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69" name="Rectangle 13"/>
              <p:cNvSpPr>
                <a:spLocks noChangeArrowheads="1"/>
              </p:cNvSpPr>
              <p:nvPr/>
            </p:nvSpPr>
            <p:spPr bwMode="auto">
              <a:xfrm>
                <a:off x="4321" y="3692"/>
                <a:ext cx="116" cy="13"/>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473" name="Group 17"/>
            <p:cNvGrpSpPr>
              <a:grpSpLocks/>
            </p:cNvGrpSpPr>
            <p:nvPr/>
          </p:nvGrpSpPr>
          <p:grpSpPr bwMode="auto">
            <a:xfrm>
              <a:off x="4319" y="3408"/>
              <a:ext cx="217" cy="409"/>
              <a:chOff x="4319" y="3408"/>
              <a:chExt cx="217" cy="409"/>
            </a:xfrm>
          </p:grpSpPr>
          <p:sp>
            <p:nvSpPr>
              <p:cNvPr id="19471" name="Oval 15"/>
              <p:cNvSpPr>
                <a:spLocks noChangeArrowheads="1"/>
              </p:cNvSpPr>
              <p:nvPr/>
            </p:nvSpPr>
            <p:spPr bwMode="auto">
              <a:xfrm>
                <a:off x="4403" y="3408"/>
                <a:ext cx="55" cy="55"/>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2" name="Freeform 16"/>
              <p:cNvSpPr>
                <a:spLocks/>
              </p:cNvSpPr>
              <p:nvPr/>
            </p:nvSpPr>
            <p:spPr bwMode="auto">
              <a:xfrm>
                <a:off x="4319" y="3485"/>
                <a:ext cx="217" cy="332"/>
              </a:xfrm>
              <a:custGeom>
                <a:avLst/>
                <a:gdLst>
                  <a:gd name="T0" fmla="*/ 2 w 217"/>
                  <a:gd name="T1" fmla="*/ 153 h 332"/>
                  <a:gd name="T2" fmla="*/ 1 w 217"/>
                  <a:gd name="T3" fmla="*/ 157 h 332"/>
                  <a:gd name="T4" fmla="*/ 0 w 217"/>
                  <a:gd name="T5" fmla="*/ 163 h 332"/>
                  <a:gd name="T6" fmla="*/ 0 w 217"/>
                  <a:gd name="T7" fmla="*/ 168 h 332"/>
                  <a:gd name="T8" fmla="*/ 2 w 217"/>
                  <a:gd name="T9" fmla="*/ 174 h 332"/>
                  <a:gd name="T10" fmla="*/ 5 w 217"/>
                  <a:gd name="T11" fmla="*/ 179 h 332"/>
                  <a:gd name="T12" fmla="*/ 9 w 217"/>
                  <a:gd name="T13" fmla="*/ 183 h 332"/>
                  <a:gd name="T14" fmla="*/ 14 w 217"/>
                  <a:gd name="T15" fmla="*/ 186 h 332"/>
                  <a:gd name="T16" fmla="*/ 17 w 217"/>
                  <a:gd name="T17" fmla="*/ 186 h 332"/>
                  <a:gd name="T18" fmla="*/ 23 w 217"/>
                  <a:gd name="T19" fmla="*/ 186 h 332"/>
                  <a:gd name="T20" fmla="*/ 141 w 217"/>
                  <a:gd name="T21" fmla="*/ 331 h 332"/>
                  <a:gd name="T22" fmla="*/ 178 w 217"/>
                  <a:gd name="T23" fmla="*/ 159 h 332"/>
                  <a:gd name="T24" fmla="*/ 177 w 217"/>
                  <a:gd name="T25" fmla="*/ 155 h 332"/>
                  <a:gd name="T26" fmla="*/ 176 w 217"/>
                  <a:gd name="T27" fmla="*/ 152 h 332"/>
                  <a:gd name="T28" fmla="*/ 173 w 217"/>
                  <a:gd name="T29" fmla="*/ 149 h 332"/>
                  <a:gd name="T30" fmla="*/ 170 w 217"/>
                  <a:gd name="T31" fmla="*/ 147 h 332"/>
                  <a:gd name="T32" fmla="*/ 166 w 217"/>
                  <a:gd name="T33" fmla="*/ 145 h 332"/>
                  <a:gd name="T34" fmla="*/ 161 w 217"/>
                  <a:gd name="T35" fmla="*/ 145 h 332"/>
                  <a:gd name="T36" fmla="*/ 157 w 217"/>
                  <a:gd name="T37" fmla="*/ 145 h 332"/>
                  <a:gd name="T38" fmla="*/ 153 w 217"/>
                  <a:gd name="T39" fmla="*/ 145 h 332"/>
                  <a:gd name="T40" fmla="*/ 104 w 217"/>
                  <a:gd name="T41" fmla="*/ 84 h 332"/>
                  <a:gd name="T42" fmla="*/ 201 w 217"/>
                  <a:gd name="T43" fmla="*/ 104 h 332"/>
                  <a:gd name="T44" fmla="*/ 204 w 217"/>
                  <a:gd name="T45" fmla="*/ 103 h 332"/>
                  <a:gd name="T46" fmla="*/ 207 w 217"/>
                  <a:gd name="T47" fmla="*/ 103 h 332"/>
                  <a:gd name="T48" fmla="*/ 211 w 217"/>
                  <a:gd name="T49" fmla="*/ 100 h 332"/>
                  <a:gd name="T50" fmla="*/ 214 w 217"/>
                  <a:gd name="T51" fmla="*/ 97 h 332"/>
                  <a:gd name="T52" fmla="*/ 215 w 217"/>
                  <a:gd name="T53" fmla="*/ 93 h 332"/>
                  <a:gd name="T54" fmla="*/ 216 w 217"/>
                  <a:gd name="T55" fmla="*/ 88 h 332"/>
                  <a:gd name="T56" fmla="*/ 215 w 217"/>
                  <a:gd name="T57" fmla="*/ 83 h 332"/>
                  <a:gd name="T58" fmla="*/ 213 w 217"/>
                  <a:gd name="T59" fmla="*/ 79 h 332"/>
                  <a:gd name="T60" fmla="*/ 210 w 217"/>
                  <a:gd name="T61" fmla="*/ 76 h 332"/>
                  <a:gd name="T62" fmla="*/ 206 w 217"/>
                  <a:gd name="T63" fmla="*/ 73 h 332"/>
                  <a:gd name="T64" fmla="*/ 203 w 217"/>
                  <a:gd name="T65" fmla="*/ 72 h 332"/>
                  <a:gd name="T66" fmla="*/ 137 w 217"/>
                  <a:gd name="T67" fmla="*/ 72 h 332"/>
                  <a:gd name="T68" fmla="*/ 125 w 217"/>
                  <a:gd name="T69" fmla="*/ 47 h 332"/>
                  <a:gd name="T70" fmla="*/ 126 w 217"/>
                  <a:gd name="T71" fmla="*/ 41 h 332"/>
                  <a:gd name="T72" fmla="*/ 127 w 217"/>
                  <a:gd name="T73" fmla="*/ 34 h 332"/>
                  <a:gd name="T74" fmla="*/ 127 w 217"/>
                  <a:gd name="T75" fmla="*/ 27 h 332"/>
                  <a:gd name="T76" fmla="*/ 125 w 217"/>
                  <a:gd name="T77" fmla="*/ 21 h 332"/>
                  <a:gd name="T78" fmla="*/ 123 w 217"/>
                  <a:gd name="T79" fmla="*/ 17 h 332"/>
                  <a:gd name="T80" fmla="*/ 120 w 217"/>
                  <a:gd name="T81" fmla="*/ 12 h 332"/>
                  <a:gd name="T82" fmla="*/ 115 w 217"/>
                  <a:gd name="T83" fmla="*/ 8 h 332"/>
                  <a:gd name="T84" fmla="*/ 110 w 217"/>
                  <a:gd name="T85" fmla="*/ 4 h 332"/>
                  <a:gd name="T86" fmla="*/ 104 w 217"/>
                  <a:gd name="T87" fmla="*/ 1 h 332"/>
                  <a:gd name="T88" fmla="*/ 97 w 217"/>
                  <a:gd name="T89" fmla="*/ 0 h 332"/>
                  <a:gd name="T90" fmla="*/ 91 w 217"/>
                  <a:gd name="T91" fmla="*/ 0 h 332"/>
                  <a:gd name="T92" fmla="*/ 84 w 217"/>
                  <a:gd name="T93" fmla="*/ 1 h 332"/>
                  <a:gd name="T94" fmla="*/ 77 w 217"/>
                  <a:gd name="T95" fmla="*/ 3 h 332"/>
                  <a:gd name="T96" fmla="*/ 70 w 217"/>
                  <a:gd name="T97" fmla="*/ 7 h 332"/>
                  <a:gd name="T98" fmla="*/ 66 w 217"/>
                  <a:gd name="T99" fmla="*/ 13 h 332"/>
                  <a:gd name="T100" fmla="*/ 62 w 217"/>
                  <a:gd name="T101" fmla="*/ 19 h 332"/>
                  <a:gd name="T102" fmla="*/ 59 w 217"/>
                  <a:gd name="T103" fmla="*/ 25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7" h="332">
                    <a:moveTo>
                      <a:pt x="59" y="25"/>
                    </a:moveTo>
                    <a:lnTo>
                      <a:pt x="2" y="153"/>
                    </a:lnTo>
                    <a:lnTo>
                      <a:pt x="1" y="155"/>
                    </a:lnTo>
                    <a:lnTo>
                      <a:pt x="1" y="157"/>
                    </a:lnTo>
                    <a:lnTo>
                      <a:pt x="0" y="159"/>
                    </a:lnTo>
                    <a:lnTo>
                      <a:pt x="0" y="163"/>
                    </a:lnTo>
                    <a:lnTo>
                      <a:pt x="0" y="165"/>
                    </a:lnTo>
                    <a:lnTo>
                      <a:pt x="0" y="168"/>
                    </a:lnTo>
                    <a:lnTo>
                      <a:pt x="1" y="171"/>
                    </a:lnTo>
                    <a:lnTo>
                      <a:pt x="2" y="174"/>
                    </a:lnTo>
                    <a:lnTo>
                      <a:pt x="3" y="176"/>
                    </a:lnTo>
                    <a:lnTo>
                      <a:pt x="5" y="179"/>
                    </a:lnTo>
                    <a:lnTo>
                      <a:pt x="7" y="181"/>
                    </a:lnTo>
                    <a:lnTo>
                      <a:pt x="9" y="183"/>
                    </a:lnTo>
                    <a:lnTo>
                      <a:pt x="12" y="184"/>
                    </a:lnTo>
                    <a:lnTo>
                      <a:pt x="14" y="186"/>
                    </a:lnTo>
                    <a:lnTo>
                      <a:pt x="15" y="186"/>
                    </a:lnTo>
                    <a:lnTo>
                      <a:pt x="17" y="186"/>
                    </a:lnTo>
                    <a:lnTo>
                      <a:pt x="20" y="186"/>
                    </a:lnTo>
                    <a:lnTo>
                      <a:pt x="23" y="186"/>
                    </a:lnTo>
                    <a:lnTo>
                      <a:pt x="141" y="186"/>
                    </a:lnTo>
                    <a:lnTo>
                      <a:pt x="141" y="331"/>
                    </a:lnTo>
                    <a:lnTo>
                      <a:pt x="178" y="331"/>
                    </a:lnTo>
                    <a:lnTo>
                      <a:pt x="178" y="159"/>
                    </a:lnTo>
                    <a:lnTo>
                      <a:pt x="178" y="157"/>
                    </a:lnTo>
                    <a:lnTo>
                      <a:pt x="177" y="155"/>
                    </a:lnTo>
                    <a:lnTo>
                      <a:pt x="176" y="153"/>
                    </a:lnTo>
                    <a:lnTo>
                      <a:pt x="176" y="152"/>
                    </a:lnTo>
                    <a:lnTo>
                      <a:pt x="175" y="151"/>
                    </a:lnTo>
                    <a:lnTo>
                      <a:pt x="173" y="149"/>
                    </a:lnTo>
                    <a:lnTo>
                      <a:pt x="172" y="148"/>
                    </a:lnTo>
                    <a:lnTo>
                      <a:pt x="170" y="147"/>
                    </a:lnTo>
                    <a:lnTo>
                      <a:pt x="168" y="146"/>
                    </a:lnTo>
                    <a:lnTo>
                      <a:pt x="166" y="145"/>
                    </a:lnTo>
                    <a:lnTo>
                      <a:pt x="164" y="145"/>
                    </a:lnTo>
                    <a:lnTo>
                      <a:pt x="161" y="145"/>
                    </a:lnTo>
                    <a:lnTo>
                      <a:pt x="159" y="145"/>
                    </a:lnTo>
                    <a:lnTo>
                      <a:pt x="157" y="145"/>
                    </a:lnTo>
                    <a:lnTo>
                      <a:pt x="155" y="145"/>
                    </a:lnTo>
                    <a:lnTo>
                      <a:pt x="153" y="145"/>
                    </a:lnTo>
                    <a:lnTo>
                      <a:pt x="85" y="141"/>
                    </a:lnTo>
                    <a:lnTo>
                      <a:pt x="104" y="84"/>
                    </a:lnTo>
                    <a:lnTo>
                      <a:pt x="118" y="104"/>
                    </a:lnTo>
                    <a:lnTo>
                      <a:pt x="201" y="104"/>
                    </a:lnTo>
                    <a:lnTo>
                      <a:pt x="203" y="103"/>
                    </a:lnTo>
                    <a:lnTo>
                      <a:pt x="204" y="103"/>
                    </a:lnTo>
                    <a:lnTo>
                      <a:pt x="206" y="103"/>
                    </a:lnTo>
                    <a:lnTo>
                      <a:pt x="207" y="103"/>
                    </a:lnTo>
                    <a:lnTo>
                      <a:pt x="209" y="101"/>
                    </a:lnTo>
                    <a:lnTo>
                      <a:pt x="211" y="100"/>
                    </a:lnTo>
                    <a:lnTo>
                      <a:pt x="212" y="98"/>
                    </a:lnTo>
                    <a:lnTo>
                      <a:pt x="214" y="97"/>
                    </a:lnTo>
                    <a:lnTo>
                      <a:pt x="215" y="95"/>
                    </a:lnTo>
                    <a:lnTo>
                      <a:pt x="215" y="93"/>
                    </a:lnTo>
                    <a:lnTo>
                      <a:pt x="216" y="91"/>
                    </a:lnTo>
                    <a:lnTo>
                      <a:pt x="216" y="88"/>
                    </a:lnTo>
                    <a:lnTo>
                      <a:pt x="216" y="85"/>
                    </a:lnTo>
                    <a:lnTo>
                      <a:pt x="215" y="83"/>
                    </a:lnTo>
                    <a:lnTo>
                      <a:pt x="214" y="81"/>
                    </a:lnTo>
                    <a:lnTo>
                      <a:pt x="213" y="79"/>
                    </a:lnTo>
                    <a:lnTo>
                      <a:pt x="211" y="77"/>
                    </a:lnTo>
                    <a:lnTo>
                      <a:pt x="210" y="76"/>
                    </a:lnTo>
                    <a:lnTo>
                      <a:pt x="208" y="74"/>
                    </a:lnTo>
                    <a:lnTo>
                      <a:pt x="206" y="73"/>
                    </a:lnTo>
                    <a:lnTo>
                      <a:pt x="205" y="72"/>
                    </a:lnTo>
                    <a:lnTo>
                      <a:pt x="203" y="72"/>
                    </a:lnTo>
                    <a:lnTo>
                      <a:pt x="201" y="72"/>
                    </a:lnTo>
                    <a:lnTo>
                      <a:pt x="137" y="72"/>
                    </a:lnTo>
                    <a:lnTo>
                      <a:pt x="123" y="49"/>
                    </a:lnTo>
                    <a:lnTo>
                      <a:pt x="125" y="47"/>
                    </a:lnTo>
                    <a:lnTo>
                      <a:pt x="126" y="44"/>
                    </a:lnTo>
                    <a:lnTo>
                      <a:pt x="126" y="41"/>
                    </a:lnTo>
                    <a:lnTo>
                      <a:pt x="127" y="38"/>
                    </a:lnTo>
                    <a:lnTo>
                      <a:pt x="127" y="34"/>
                    </a:lnTo>
                    <a:lnTo>
                      <a:pt x="127" y="31"/>
                    </a:lnTo>
                    <a:lnTo>
                      <a:pt x="127" y="27"/>
                    </a:lnTo>
                    <a:lnTo>
                      <a:pt x="126" y="24"/>
                    </a:lnTo>
                    <a:lnTo>
                      <a:pt x="125" y="21"/>
                    </a:lnTo>
                    <a:lnTo>
                      <a:pt x="124" y="20"/>
                    </a:lnTo>
                    <a:lnTo>
                      <a:pt x="123" y="17"/>
                    </a:lnTo>
                    <a:lnTo>
                      <a:pt x="122" y="15"/>
                    </a:lnTo>
                    <a:lnTo>
                      <a:pt x="120" y="12"/>
                    </a:lnTo>
                    <a:lnTo>
                      <a:pt x="118" y="10"/>
                    </a:lnTo>
                    <a:lnTo>
                      <a:pt x="115" y="8"/>
                    </a:lnTo>
                    <a:lnTo>
                      <a:pt x="113" y="6"/>
                    </a:lnTo>
                    <a:lnTo>
                      <a:pt x="110" y="4"/>
                    </a:lnTo>
                    <a:lnTo>
                      <a:pt x="107" y="3"/>
                    </a:lnTo>
                    <a:lnTo>
                      <a:pt x="104" y="1"/>
                    </a:lnTo>
                    <a:lnTo>
                      <a:pt x="100" y="1"/>
                    </a:lnTo>
                    <a:lnTo>
                      <a:pt x="97" y="0"/>
                    </a:lnTo>
                    <a:lnTo>
                      <a:pt x="95" y="0"/>
                    </a:lnTo>
                    <a:lnTo>
                      <a:pt x="91" y="0"/>
                    </a:lnTo>
                    <a:lnTo>
                      <a:pt x="88" y="0"/>
                    </a:lnTo>
                    <a:lnTo>
                      <a:pt x="84" y="1"/>
                    </a:lnTo>
                    <a:lnTo>
                      <a:pt x="81" y="2"/>
                    </a:lnTo>
                    <a:lnTo>
                      <a:pt x="77" y="3"/>
                    </a:lnTo>
                    <a:lnTo>
                      <a:pt x="74" y="5"/>
                    </a:lnTo>
                    <a:lnTo>
                      <a:pt x="70" y="7"/>
                    </a:lnTo>
                    <a:lnTo>
                      <a:pt x="68" y="10"/>
                    </a:lnTo>
                    <a:lnTo>
                      <a:pt x="66" y="13"/>
                    </a:lnTo>
                    <a:lnTo>
                      <a:pt x="64" y="15"/>
                    </a:lnTo>
                    <a:lnTo>
                      <a:pt x="62" y="19"/>
                    </a:lnTo>
                    <a:lnTo>
                      <a:pt x="60" y="21"/>
                    </a:lnTo>
                    <a:lnTo>
                      <a:pt x="59" y="25"/>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9481" name="Group 25"/>
          <p:cNvGrpSpPr>
            <a:grpSpLocks/>
          </p:cNvGrpSpPr>
          <p:nvPr/>
        </p:nvGrpSpPr>
        <p:grpSpPr bwMode="auto">
          <a:xfrm>
            <a:off x="8210550" y="3403600"/>
            <a:ext cx="673100" cy="800100"/>
            <a:chOff x="4212" y="2144"/>
            <a:chExt cx="424" cy="504"/>
          </a:xfrm>
        </p:grpSpPr>
        <p:grpSp>
          <p:nvGrpSpPr>
            <p:cNvPr id="19479" name="Group 23"/>
            <p:cNvGrpSpPr>
              <a:grpSpLocks/>
            </p:cNvGrpSpPr>
            <p:nvPr/>
          </p:nvGrpSpPr>
          <p:grpSpPr bwMode="auto">
            <a:xfrm>
              <a:off x="4212" y="2144"/>
              <a:ext cx="424" cy="504"/>
              <a:chOff x="4212" y="2144"/>
              <a:chExt cx="424" cy="504"/>
            </a:xfrm>
          </p:grpSpPr>
          <p:grpSp>
            <p:nvGrpSpPr>
              <p:cNvPr id="19477" name="Group 21"/>
              <p:cNvGrpSpPr>
                <a:grpSpLocks/>
              </p:cNvGrpSpPr>
              <p:nvPr/>
            </p:nvGrpSpPr>
            <p:grpSpPr bwMode="auto">
              <a:xfrm>
                <a:off x="4212" y="2144"/>
                <a:ext cx="424" cy="504"/>
                <a:chOff x="4212" y="2144"/>
                <a:chExt cx="424" cy="504"/>
              </a:xfrm>
            </p:grpSpPr>
            <p:sp>
              <p:nvSpPr>
                <p:cNvPr id="19475" name="AutoShape 19"/>
                <p:cNvSpPr>
                  <a:spLocks noChangeArrowheads="1"/>
                </p:cNvSpPr>
                <p:nvPr/>
              </p:nvSpPr>
              <p:spPr bwMode="auto">
                <a:xfrm>
                  <a:off x="4212" y="2224"/>
                  <a:ext cx="424" cy="424"/>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476" name="AutoShape 20"/>
                <p:cNvSpPr>
                  <a:spLocks noChangeArrowheads="1"/>
                </p:cNvSpPr>
                <p:nvPr/>
              </p:nvSpPr>
              <p:spPr bwMode="auto">
                <a:xfrm>
                  <a:off x="4308" y="2144"/>
                  <a:ext cx="328" cy="8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478" name="AutoShape 22"/>
              <p:cNvSpPr>
                <a:spLocks noChangeArrowheads="1"/>
              </p:cNvSpPr>
              <p:nvPr/>
            </p:nvSpPr>
            <p:spPr bwMode="auto">
              <a:xfrm>
                <a:off x="4296" y="2260"/>
                <a:ext cx="224" cy="32"/>
              </a:xfrm>
              <a:prstGeom prst="parallelogram">
                <a:avLst>
                  <a:gd name="adj" fmla="val 174968"/>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480" name="Oval 24"/>
            <p:cNvSpPr>
              <a:spLocks noChangeArrowheads="1"/>
            </p:cNvSpPr>
            <p:nvPr/>
          </p:nvSpPr>
          <p:spPr bwMode="auto">
            <a:xfrm>
              <a:off x="4540" y="2184"/>
              <a:ext cx="56" cy="32"/>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9494" name="Group 38"/>
          <p:cNvGrpSpPr>
            <a:grpSpLocks/>
          </p:cNvGrpSpPr>
          <p:nvPr/>
        </p:nvGrpSpPr>
        <p:grpSpPr bwMode="auto">
          <a:xfrm>
            <a:off x="7385050" y="2711453"/>
            <a:ext cx="2224088" cy="539751"/>
            <a:chOff x="3692" y="1708"/>
            <a:chExt cx="1401" cy="340"/>
          </a:xfrm>
        </p:grpSpPr>
        <p:grpSp>
          <p:nvGrpSpPr>
            <p:cNvPr id="19484" name="Group 28"/>
            <p:cNvGrpSpPr>
              <a:grpSpLocks/>
            </p:cNvGrpSpPr>
            <p:nvPr/>
          </p:nvGrpSpPr>
          <p:grpSpPr bwMode="auto">
            <a:xfrm>
              <a:off x="3692" y="1708"/>
              <a:ext cx="329" cy="340"/>
              <a:chOff x="3692" y="1708"/>
              <a:chExt cx="329" cy="340"/>
            </a:xfrm>
          </p:grpSpPr>
          <p:sp>
            <p:nvSpPr>
              <p:cNvPr id="19482" name="Freeform 26"/>
              <p:cNvSpPr>
                <a:spLocks/>
              </p:cNvSpPr>
              <p:nvPr/>
            </p:nvSpPr>
            <p:spPr bwMode="auto">
              <a:xfrm>
                <a:off x="3692" y="170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3" name="Rectangle 27"/>
              <p:cNvSpPr>
                <a:spLocks noChangeArrowheads="1"/>
              </p:cNvSpPr>
              <p:nvPr/>
            </p:nvSpPr>
            <p:spPr bwMode="auto">
              <a:xfrm>
                <a:off x="3746" y="1759"/>
                <a:ext cx="244"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A</a:t>
                </a:r>
              </a:p>
            </p:txBody>
          </p:sp>
        </p:grpSp>
        <p:grpSp>
          <p:nvGrpSpPr>
            <p:cNvPr id="19487" name="Group 31"/>
            <p:cNvGrpSpPr>
              <a:grpSpLocks/>
            </p:cNvGrpSpPr>
            <p:nvPr/>
          </p:nvGrpSpPr>
          <p:grpSpPr bwMode="auto">
            <a:xfrm>
              <a:off x="4052" y="1708"/>
              <a:ext cx="329" cy="340"/>
              <a:chOff x="4052" y="1708"/>
              <a:chExt cx="329" cy="340"/>
            </a:xfrm>
          </p:grpSpPr>
          <p:sp>
            <p:nvSpPr>
              <p:cNvPr id="19485" name="Freeform 29"/>
              <p:cNvSpPr>
                <a:spLocks/>
              </p:cNvSpPr>
              <p:nvPr/>
            </p:nvSpPr>
            <p:spPr bwMode="auto">
              <a:xfrm>
                <a:off x="4052" y="170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6" name="Rectangle 30"/>
              <p:cNvSpPr>
                <a:spLocks noChangeArrowheads="1"/>
              </p:cNvSpPr>
              <p:nvPr/>
            </p:nvSpPr>
            <p:spPr bwMode="auto">
              <a:xfrm>
                <a:off x="4106" y="1759"/>
                <a:ext cx="244"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B</a:t>
                </a:r>
              </a:p>
            </p:txBody>
          </p:sp>
        </p:grpSp>
        <p:grpSp>
          <p:nvGrpSpPr>
            <p:cNvPr id="19490" name="Group 34"/>
            <p:cNvGrpSpPr>
              <a:grpSpLocks/>
            </p:cNvGrpSpPr>
            <p:nvPr/>
          </p:nvGrpSpPr>
          <p:grpSpPr bwMode="auto">
            <a:xfrm>
              <a:off x="4412" y="1708"/>
              <a:ext cx="329" cy="340"/>
              <a:chOff x="4412" y="1708"/>
              <a:chExt cx="329" cy="340"/>
            </a:xfrm>
          </p:grpSpPr>
          <p:sp>
            <p:nvSpPr>
              <p:cNvPr id="19488" name="Freeform 32"/>
              <p:cNvSpPr>
                <a:spLocks/>
              </p:cNvSpPr>
              <p:nvPr/>
            </p:nvSpPr>
            <p:spPr bwMode="auto">
              <a:xfrm>
                <a:off x="4412" y="170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9" name="Rectangle 33"/>
              <p:cNvSpPr>
                <a:spLocks noChangeArrowheads="1"/>
              </p:cNvSpPr>
              <p:nvPr/>
            </p:nvSpPr>
            <p:spPr bwMode="auto">
              <a:xfrm>
                <a:off x="4461" y="1759"/>
                <a:ext cx="255"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C</a:t>
                </a:r>
              </a:p>
            </p:txBody>
          </p:sp>
        </p:grpSp>
        <p:grpSp>
          <p:nvGrpSpPr>
            <p:cNvPr id="19493" name="Group 37"/>
            <p:cNvGrpSpPr>
              <a:grpSpLocks/>
            </p:cNvGrpSpPr>
            <p:nvPr/>
          </p:nvGrpSpPr>
          <p:grpSpPr bwMode="auto">
            <a:xfrm>
              <a:off x="4764" y="1708"/>
              <a:ext cx="329" cy="340"/>
              <a:chOff x="4764" y="1708"/>
              <a:chExt cx="329" cy="340"/>
            </a:xfrm>
          </p:grpSpPr>
          <p:sp>
            <p:nvSpPr>
              <p:cNvPr id="19491" name="Freeform 35"/>
              <p:cNvSpPr>
                <a:spLocks/>
              </p:cNvSpPr>
              <p:nvPr/>
            </p:nvSpPr>
            <p:spPr bwMode="auto">
              <a:xfrm>
                <a:off x="4764" y="170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92" name="Rectangle 36"/>
              <p:cNvSpPr>
                <a:spLocks noChangeArrowheads="1"/>
              </p:cNvSpPr>
              <p:nvPr/>
            </p:nvSpPr>
            <p:spPr bwMode="auto">
              <a:xfrm>
                <a:off x="4813" y="1759"/>
                <a:ext cx="255"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D</a:t>
                </a:r>
              </a:p>
            </p:txBody>
          </p:sp>
        </p:grpSp>
      </p:grpSp>
    </p:spTree>
    <p:extLst>
      <p:ext uri="{BB962C8B-B14F-4D97-AF65-F5344CB8AC3E}">
        <p14:creationId xmlns:p14="http://schemas.microsoft.com/office/powerpoint/2010/main" val="1111097242"/>
      </p:ext>
    </p:extLst>
  </p:cSld>
  <p:clrMapOvr>
    <a:masterClrMapping/>
  </p:clrMapOvr>
  <p:transition>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457450" y="57150"/>
            <a:ext cx="71628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Sequential Laundry</a:t>
            </a:r>
          </a:p>
        </p:txBody>
      </p:sp>
      <p:sp>
        <p:nvSpPr>
          <p:cNvPr id="20483" name="Rectangle 3"/>
          <p:cNvSpPr>
            <a:spLocks noGrp="1" noChangeArrowheads="1"/>
          </p:cNvSpPr>
          <p:nvPr>
            <p:ph type="body" idx="1"/>
          </p:nvPr>
        </p:nvSpPr>
        <p:spPr>
          <a:xfrm>
            <a:off x="1024894" y="5899025"/>
            <a:ext cx="9369102" cy="8255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dirty="0"/>
              <a:t>Sequential laundry takes 6 hours for 4 loads</a:t>
            </a:r>
          </a:p>
          <a:p>
            <a:pPr>
              <a:spcBef>
                <a:spcPct val="0"/>
              </a:spcBef>
            </a:pPr>
            <a:r>
              <a:rPr lang="en-US" altLang="zh-CN" dirty="0">
                <a:solidFill>
                  <a:srgbClr val="FF0000"/>
                </a:solidFill>
              </a:rPr>
              <a:t>If they learned pipelining, how long would  laundry take? </a:t>
            </a:r>
          </a:p>
        </p:txBody>
      </p:sp>
      <p:grpSp>
        <p:nvGrpSpPr>
          <p:cNvPr id="20486" name="Group 6"/>
          <p:cNvGrpSpPr>
            <a:grpSpLocks/>
          </p:cNvGrpSpPr>
          <p:nvPr/>
        </p:nvGrpSpPr>
        <p:grpSpPr bwMode="auto">
          <a:xfrm>
            <a:off x="2368550" y="3026119"/>
            <a:ext cx="522288" cy="539751"/>
            <a:chOff x="532" y="1620"/>
            <a:chExt cx="329" cy="340"/>
          </a:xfrm>
        </p:grpSpPr>
        <p:sp>
          <p:nvSpPr>
            <p:cNvPr id="20484" name="Freeform 4"/>
            <p:cNvSpPr>
              <a:spLocks/>
            </p:cNvSpPr>
            <p:nvPr/>
          </p:nvSpPr>
          <p:spPr bwMode="auto">
            <a:xfrm>
              <a:off x="532" y="1620"/>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5" name="Rectangle 5"/>
            <p:cNvSpPr>
              <a:spLocks noChangeArrowheads="1"/>
            </p:cNvSpPr>
            <p:nvPr/>
          </p:nvSpPr>
          <p:spPr bwMode="auto">
            <a:xfrm>
              <a:off x="586" y="1671"/>
              <a:ext cx="244"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A</a:t>
              </a:r>
            </a:p>
          </p:txBody>
        </p:sp>
      </p:grpSp>
      <p:grpSp>
        <p:nvGrpSpPr>
          <p:cNvPr id="20489" name="Group 9"/>
          <p:cNvGrpSpPr>
            <a:grpSpLocks/>
          </p:cNvGrpSpPr>
          <p:nvPr/>
        </p:nvGrpSpPr>
        <p:grpSpPr bwMode="auto">
          <a:xfrm>
            <a:off x="2355850" y="3851620"/>
            <a:ext cx="522288" cy="539751"/>
            <a:chOff x="524" y="2140"/>
            <a:chExt cx="329" cy="340"/>
          </a:xfrm>
        </p:grpSpPr>
        <p:sp>
          <p:nvSpPr>
            <p:cNvPr id="20487" name="Freeform 7"/>
            <p:cNvSpPr>
              <a:spLocks/>
            </p:cNvSpPr>
            <p:nvPr/>
          </p:nvSpPr>
          <p:spPr bwMode="auto">
            <a:xfrm>
              <a:off x="524" y="2140"/>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88" name="Rectangle 8"/>
            <p:cNvSpPr>
              <a:spLocks noChangeArrowheads="1"/>
            </p:cNvSpPr>
            <p:nvPr/>
          </p:nvSpPr>
          <p:spPr bwMode="auto">
            <a:xfrm>
              <a:off x="578" y="2191"/>
              <a:ext cx="244"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B</a:t>
              </a:r>
            </a:p>
          </p:txBody>
        </p:sp>
      </p:grpSp>
      <p:grpSp>
        <p:nvGrpSpPr>
          <p:cNvPr id="20492" name="Group 12"/>
          <p:cNvGrpSpPr>
            <a:grpSpLocks/>
          </p:cNvGrpSpPr>
          <p:nvPr/>
        </p:nvGrpSpPr>
        <p:grpSpPr bwMode="auto">
          <a:xfrm>
            <a:off x="2330450" y="4588221"/>
            <a:ext cx="522288" cy="539751"/>
            <a:chOff x="508" y="2604"/>
            <a:chExt cx="329" cy="340"/>
          </a:xfrm>
        </p:grpSpPr>
        <p:sp>
          <p:nvSpPr>
            <p:cNvPr id="20490" name="Freeform 10"/>
            <p:cNvSpPr>
              <a:spLocks/>
            </p:cNvSpPr>
            <p:nvPr/>
          </p:nvSpPr>
          <p:spPr bwMode="auto">
            <a:xfrm>
              <a:off x="508" y="2604"/>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1" name="Rectangle 11"/>
            <p:cNvSpPr>
              <a:spLocks noChangeArrowheads="1"/>
            </p:cNvSpPr>
            <p:nvPr/>
          </p:nvSpPr>
          <p:spPr bwMode="auto">
            <a:xfrm>
              <a:off x="557" y="2655"/>
              <a:ext cx="255"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C</a:t>
              </a:r>
            </a:p>
          </p:txBody>
        </p:sp>
      </p:grpSp>
      <p:grpSp>
        <p:nvGrpSpPr>
          <p:cNvPr id="20495" name="Group 15"/>
          <p:cNvGrpSpPr>
            <a:grpSpLocks/>
          </p:cNvGrpSpPr>
          <p:nvPr/>
        </p:nvGrpSpPr>
        <p:grpSpPr bwMode="auto">
          <a:xfrm>
            <a:off x="2317750" y="5337521"/>
            <a:ext cx="522288" cy="539751"/>
            <a:chOff x="500" y="3076"/>
            <a:chExt cx="329" cy="340"/>
          </a:xfrm>
        </p:grpSpPr>
        <p:sp>
          <p:nvSpPr>
            <p:cNvPr id="20493" name="Freeform 13"/>
            <p:cNvSpPr>
              <a:spLocks/>
            </p:cNvSpPr>
            <p:nvPr/>
          </p:nvSpPr>
          <p:spPr bwMode="auto">
            <a:xfrm>
              <a:off x="500" y="3076"/>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494" name="Rectangle 14"/>
            <p:cNvSpPr>
              <a:spLocks noChangeArrowheads="1"/>
            </p:cNvSpPr>
            <p:nvPr/>
          </p:nvSpPr>
          <p:spPr bwMode="auto">
            <a:xfrm>
              <a:off x="549" y="3127"/>
              <a:ext cx="255"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D</a:t>
              </a:r>
            </a:p>
          </p:txBody>
        </p:sp>
      </p:grpSp>
      <p:sp>
        <p:nvSpPr>
          <p:cNvPr id="20496" name="Rectangle 16"/>
          <p:cNvSpPr>
            <a:spLocks noChangeArrowheads="1"/>
          </p:cNvSpPr>
          <p:nvPr/>
        </p:nvSpPr>
        <p:spPr bwMode="auto">
          <a:xfrm>
            <a:off x="29994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30</a:t>
            </a:r>
          </a:p>
        </p:txBody>
      </p:sp>
      <p:grpSp>
        <p:nvGrpSpPr>
          <p:cNvPr id="20500" name="Group 20"/>
          <p:cNvGrpSpPr>
            <a:grpSpLocks/>
          </p:cNvGrpSpPr>
          <p:nvPr/>
        </p:nvGrpSpPr>
        <p:grpSpPr bwMode="auto">
          <a:xfrm>
            <a:off x="3035300" y="2524466"/>
            <a:ext cx="1498600" cy="0"/>
            <a:chOff x="952" y="1304"/>
            <a:chExt cx="944" cy="0"/>
          </a:xfrm>
        </p:grpSpPr>
        <p:sp>
          <p:nvSpPr>
            <p:cNvPr id="20497" name="Line 17"/>
            <p:cNvSpPr>
              <a:spLocks noChangeShapeType="1"/>
            </p:cNvSpPr>
            <p:nvPr/>
          </p:nvSpPr>
          <p:spPr bwMode="auto">
            <a:xfrm>
              <a:off x="952" y="1304"/>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8" name="Line 18"/>
            <p:cNvSpPr>
              <a:spLocks noChangeShapeType="1"/>
            </p:cNvSpPr>
            <p:nvPr/>
          </p:nvSpPr>
          <p:spPr bwMode="auto">
            <a:xfrm>
              <a:off x="1280" y="1304"/>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9" name="Line 19"/>
            <p:cNvSpPr>
              <a:spLocks noChangeShapeType="1"/>
            </p:cNvSpPr>
            <p:nvPr/>
          </p:nvSpPr>
          <p:spPr bwMode="auto">
            <a:xfrm>
              <a:off x="1680" y="1304"/>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01" name="Rectangle 21"/>
          <p:cNvSpPr>
            <a:spLocks noChangeArrowheads="1"/>
          </p:cNvSpPr>
          <p:nvPr/>
        </p:nvSpPr>
        <p:spPr bwMode="auto">
          <a:xfrm>
            <a:off x="35836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0502" name="Rectangle 22"/>
          <p:cNvSpPr>
            <a:spLocks noChangeArrowheads="1"/>
          </p:cNvSpPr>
          <p:nvPr/>
        </p:nvSpPr>
        <p:spPr bwMode="auto">
          <a:xfrm>
            <a:off x="41043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20</a:t>
            </a:r>
          </a:p>
        </p:txBody>
      </p:sp>
      <p:sp>
        <p:nvSpPr>
          <p:cNvPr id="20503" name="Line 23"/>
          <p:cNvSpPr>
            <a:spLocks noChangeShapeType="1"/>
          </p:cNvSpPr>
          <p:nvPr/>
        </p:nvSpPr>
        <p:spPr bwMode="auto">
          <a:xfrm>
            <a:off x="35306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4" name="Line 24"/>
          <p:cNvSpPr>
            <a:spLocks noChangeShapeType="1"/>
          </p:cNvSpPr>
          <p:nvPr/>
        </p:nvSpPr>
        <p:spPr bwMode="auto">
          <a:xfrm>
            <a:off x="41656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5" name="Line 25"/>
          <p:cNvSpPr>
            <a:spLocks noChangeShapeType="1"/>
          </p:cNvSpPr>
          <p:nvPr/>
        </p:nvSpPr>
        <p:spPr bwMode="auto">
          <a:xfrm>
            <a:off x="45720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6" name="Rectangle 26"/>
          <p:cNvSpPr>
            <a:spLocks noChangeArrowheads="1"/>
          </p:cNvSpPr>
          <p:nvPr/>
        </p:nvSpPr>
        <p:spPr bwMode="auto">
          <a:xfrm>
            <a:off x="45742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30</a:t>
            </a:r>
          </a:p>
        </p:txBody>
      </p:sp>
      <p:grpSp>
        <p:nvGrpSpPr>
          <p:cNvPr id="20510" name="Group 30"/>
          <p:cNvGrpSpPr>
            <a:grpSpLocks/>
          </p:cNvGrpSpPr>
          <p:nvPr/>
        </p:nvGrpSpPr>
        <p:grpSpPr bwMode="auto">
          <a:xfrm>
            <a:off x="4610100" y="2524466"/>
            <a:ext cx="1498600" cy="0"/>
            <a:chOff x="1944" y="1304"/>
            <a:chExt cx="944" cy="0"/>
          </a:xfrm>
        </p:grpSpPr>
        <p:sp>
          <p:nvSpPr>
            <p:cNvPr id="20507" name="Line 27"/>
            <p:cNvSpPr>
              <a:spLocks noChangeShapeType="1"/>
            </p:cNvSpPr>
            <p:nvPr/>
          </p:nvSpPr>
          <p:spPr bwMode="auto">
            <a:xfrm>
              <a:off x="1944" y="1304"/>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8" name="Line 28"/>
            <p:cNvSpPr>
              <a:spLocks noChangeShapeType="1"/>
            </p:cNvSpPr>
            <p:nvPr/>
          </p:nvSpPr>
          <p:spPr bwMode="auto">
            <a:xfrm>
              <a:off x="2272" y="1304"/>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9" name="Line 29"/>
            <p:cNvSpPr>
              <a:spLocks noChangeShapeType="1"/>
            </p:cNvSpPr>
            <p:nvPr/>
          </p:nvSpPr>
          <p:spPr bwMode="auto">
            <a:xfrm>
              <a:off x="2672" y="1304"/>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11" name="Rectangle 31"/>
          <p:cNvSpPr>
            <a:spLocks noChangeArrowheads="1"/>
          </p:cNvSpPr>
          <p:nvPr/>
        </p:nvSpPr>
        <p:spPr bwMode="auto">
          <a:xfrm>
            <a:off x="51584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0512" name="Rectangle 32"/>
          <p:cNvSpPr>
            <a:spLocks noChangeArrowheads="1"/>
          </p:cNvSpPr>
          <p:nvPr/>
        </p:nvSpPr>
        <p:spPr bwMode="auto">
          <a:xfrm>
            <a:off x="56791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20</a:t>
            </a:r>
          </a:p>
        </p:txBody>
      </p:sp>
      <p:sp>
        <p:nvSpPr>
          <p:cNvPr id="20513" name="Line 33"/>
          <p:cNvSpPr>
            <a:spLocks noChangeShapeType="1"/>
          </p:cNvSpPr>
          <p:nvPr/>
        </p:nvSpPr>
        <p:spPr bwMode="auto">
          <a:xfrm>
            <a:off x="51054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4" name="Line 34"/>
          <p:cNvSpPr>
            <a:spLocks noChangeShapeType="1"/>
          </p:cNvSpPr>
          <p:nvPr/>
        </p:nvSpPr>
        <p:spPr bwMode="auto">
          <a:xfrm>
            <a:off x="57404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5" name="Line 35"/>
          <p:cNvSpPr>
            <a:spLocks noChangeShapeType="1"/>
          </p:cNvSpPr>
          <p:nvPr/>
        </p:nvSpPr>
        <p:spPr bwMode="auto">
          <a:xfrm>
            <a:off x="61468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6" name="Rectangle 36"/>
          <p:cNvSpPr>
            <a:spLocks noChangeArrowheads="1"/>
          </p:cNvSpPr>
          <p:nvPr/>
        </p:nvSpPr>
        <p:spPr bwMode="auto">
          <a:xfrm>
            <a:off x="61490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30</a:t>
            </a:r>
          </a:p>
        </p:txBody>
      </p:sp>
      <p:grpSp>
        <p:nvGrpSpPr>
          <p:cNvPr id="20520" name="Group 40"/>
          <p:cNvGrpSpPr>
            <a:grpSpLocks/>
          </p:cNvGrpSpPr>
          <p:nvPr/>
        </p:nvGrpSpPr>
        <p:grpSpPr bwMode="auto">
          <a:xfrm>
            <a:off x="6184900" y="2524466"/>
            <a:ext cx="1498600" cy="0"/>
            <a:chOff x="2936" y="1304"/>
            <a:chExt cx="944" cy="0"/>
          </a:xfrm>
        </p:grpSpPr>
        <p:sp>
          <p:nvSpPr>
            <p:cNvPr id="20517" name="Line 37"/>
            <p:cNvSpPr>
              <a:spLocks noChangeShapeType="1"/>
            </p:cNvSpPr>
            <p:nvPr/>
          </p:nvSpPr>
          <p:spPr bwMode="auto">
            <a:xfrm>
              <a:off x="2936" y="1304"/>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8" name="Line 38"/>
            <p:cNvSpPr>
              <a:spLocks noChangeShapeType="1"/>
            </p:cNvSpPr>
            <p:nvPr/>
          </p:nvSpPr>
          <p:spPr bwMode="auto">
            <a:xfrm>
              <a:off x="3264" y="1304"/>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9" name="Line 39"/>
            <p:cNvSpPr>
              <a:spLocks noChangeShapeType="1"/>
            </p:cNvSpPr>
            <p:nvPr/>
          </p:nvSpPr>
          <p:spPr bwMode="auto">
            <a:xfrm>
              <a:off x="3664" y="1304"/>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21" name="Rectangle 41"/>
          <p:cNvSpPr>
            <a:spLocks noChangeArrowheads="1"/>
          </p:cNvSpPr>
          <p:nvPr/>
        </p:nvSpPr>
        <p:spPr bwMode="auto">
          <a:xfrm>
            <a:off x="67332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0522" name="Rectangle 42"/>
          <p:cNvSpPr>
            <a:spLocks noChangeArrowheads="1"/>
          </p:cNvSpPr>
          <p:nvPr/>
        </p:nvSpPr>
        <p:spPr bwMode="auto">
          <a:xfrm>
            <a:off x="72539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20</a:t>
            </a:r>
          </a:p>
        </p:txBody>
      </p:sp>
      <p:sp>
        <p:nvSpPr>
          <p:cNvPr id="20523" name="Line 43"/>
          <p:cNvSpPr>
            <a:spLocks noChangeShapeType="1"/>
          </p:cNvSpPr>
          <p:nvPr/>
        </p:nvSpPr>
        <p:spPr bwMode="auto">
          <a:xfrm>
            <a:off x="66802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4" name="Line 44"/>
          <p:cNvSpPr>
            <a:spLocks noChangeShapeType="1"/>
          </p:cNvSpPr>
          <p:nvPr/>
        </p:nvSpPr>
        <p:spPr bwMode="auto">
          <a:xfrm>
            <a:off x="73152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5" name="Line 45"/>
          <p:cNvSpPr>
            <a:spLocks noChangeShapeType="1"/>
          </p:cNvSpPr>
          <p:nvPr/>
        </p:nvSpPr>
        <p:spPr bwMode="auto">
          <a:xfrm>
            <a:off x="77216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6" name="Rectangle 46"/>
          <p:cNvSpPr>
            <a:spLocks noChangeArrowheads="1"/>
          </p:cNvSpPr>
          <p:nvPr/>
        </p:nvSpPr>
        <p:spPr bwMode="auto">
          <a:xfrm>
            <a:off x="77238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30</a:t>
            </a:r>
          </a:p>
        </p:txBody>
      </p:sp>
      <p:grpSp>
        <p:nvGrpSpPr>
          <p:cNvPr id="20530" name="Group 50"/>
          <p:cNvGrpSpPr>
            <a:grpSpLocks/>
          </p:cNvGrpSpPr>
          <p:nvPr/>
        </p:nvGrpSpPr>
        <p:grpSpPr bwMode="auto">
          <a:xfrm>
            <a:off x="7759700" y="2524466"/>
            <a:ext cx="1498600" cy="0"/>
            <a:chOff x="3928" y="1304"/>
            <a:chExt cx="944" cy="0"/>
          </a:xfrm>
        </p:grpSpPr>
        <p:sp>
          <p:nvSpPr>
            <p:cNvPr id="20527" name="Line 47"/>
            <p:cNvSpPr>
              <a:spLocks noChangeShapeType="1"/>
            </p:cNvSpPr>
            <p:nvPr/>
          </p:nvSpPr>
          <p:spPr bwMode="auto">
            <a:xfrm>
              <a:off x="3928" y="1304"/>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8" name="Line 48"/>
            <p:cNvSpPr>
              <a:spLocks noChangeShapeType="1"/>
            </p:cNvSpPr>
            <p:nvPr/>
          </p:nvSpPr>
          <p:spPr bwMode="auto">
            <a:xfrm>
              <a:off x="4256" y="1304"/>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9" name="Line 49"/>
            <p:cNvSpPr>
              <a:spLocks noChangeShapeType="1"/>
            </p:cNvSpPr>
            <p:nvPr/>
          </p:nvSpPr>
          <p:spPr bwMode="auto">
            <a:xfrm>
              <a:off x="4656" y="1304"/>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31" name="Rectangle 51"/>
          <p:cNvSpPr>
            <a:spLocks noChangeArrowheads="1"/>
          </p:cNvSpPr>
          <p:nvPr/>
        </p:nvSpPr>
        <p:spPr bwMode="auto">
          <a:xfrm>
            <a:off x="83080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0532" name="Rectangle 52"/>
          <p:cNvSpPr>
            <a:spLocks noChangeArrowheads="1"/>
          </p:cNvSpPr>
          <p:nvPr/>
        </p:nvSpPr>
        <p:spPr bwMode="auto">
          <a:xfrm>
            <a:off x="8828720" y="25355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20</a:t>
            </a:r>
          </a:p>
        </p:txBody>
      </p:sp>
      <p:sp>
        <p:nvSpPr>
          <p:cNvPr id="20533" name="Line 53"/>
          <p:cNvSpPr>
            <a:spLocks noChangeShapeType="1"/>
          </p:cNvSpPr>
          <p:nvPr/>
        </p:nvSpPr>
        <p:spPr bwMode="auto">
          <a:xfrm>
            <a:off x="82550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4" name="Line 54"/>
          <p:cNvSpPr>
            <a:spLocks noChangeShapeType="1"/>
          </p:cNvSpPr>
          <p:nvPr/>
        </p:nvSpPr>
        <p:spPr bwMode="auto">
          <a:xfrm>
            <a:off x="88900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5" name="Line 55"/>
          <p:cNvSpPr>
            <a:spLocks noChangeShapeType="1"/>
          </p:cNvSpPr>
          <p:nvPr/>
        </p:nvSpPr>
        <p:spPr bwMode="auto">
          <a:xfrm>
            <a:off x="9296400" y="23530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554" name="Group 74"/>
          <p:cNvGrpSpPr>
            <a:grpSpLocks/>
          </p:cNvGrpSpPr>
          <p:nvPr/>
        </p:nvGrpSpPr>
        <p:grpSpPr bwMode="auto">
          <a:xfrm>
            <a:off x="3016251" y="2924516"/>
            <a:ext cx="1535113" cy="711200"/>
            <a:chOff x="940" y="1556"/>
            <a:chExt cx="967" cy="448"/>
          </a:xfrm>
        </p:grpSpPr>
        <p:grpSp>
          <p:nvGrpSpPr>
            <p:cNvPr id="20540" name="Group 60"/>
            <p:cNvGrpSpPr>
              <a:grpSpLocks/>
            </p:cNvGrpSpPr>
            <p:nvPr/>
          </p:nvGrpSpPr>
          <p:grpSpPr bwMode="auto">
            <a:xfrm>
              <a:off x="940" y="1556"/>
              <a:ext cx="305" cy="448"/>
              <a:chOff x="940" y="1556"/>
              <a:chExt cx="305" cy="448"/>
            </a:xfrm>
          </p:grpSpPr>
          <p:grpSp>
            <p:nvGrpSpPr>
              <p:cNvPr id="20538" name="Group 58"/>
              <p:cNvGrpSpPr>
                <a:grpSpLocks/>
              </p:cNvGrpSpPr>
              <p:nvPr/>
            </p:nvGrpSpPr>
            <p:grpSpPr bwMode="auto">
              <a:xfrm>
                <a:off x="940" y="1556"/>
                <a:ext cx="305" cy="448"/>
                <a:chOff x="940" y="1556"/>
                <a:chExt cx="305" cy="448"/>
              </a:xfrm>
            </p:grpSpPr>
            <p:sp>
              <p:nvSpPr>
                <p:cNvPr id="20536" name="AutoShape 56"/>
                <p:cNvSpPr>
                  <a:spLocks noChangeArrowheads="1"/>
                </p:cNvSpPr>
                <p:nvPr/>
              </p:nvSpPr>
              <p:spPr bwMode="auto">
                <a:xfrm>
                  <a:off x="940" y="1627"/>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37" name="AutoShape 57"/>
                <p:cNvSpPr>
                  <a:spLocks noChangeArrowheads="1"/>
                </p:cNvSpPr>
                <p:nvPr/>
              </p:nvSpPr>
              <p:spPr bwMode="auto">
                <a:xfrm>
                  <a:off x="1010" y="1556"/>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39" name="AutoShape 59"/>
              <p:cNvSpPr>
                <a:spLocks noChangeArrowheads="1"/>
              </p:cNvSpPr>
              <p:nvPr/>
            </p:nvSpPr>
            <p:spPr bwMode="auto">
              <a:xfrm>
                <a:off x="1002" y="1660"/>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46" name="Group 66"/>
            <p:cNvGrpSpPr>
              <a:grpSpLocks/>
            </p:cNvGrpSpPr>
            <p:nvPr/>
          </p:nvGrpSpPr>
          <p:grpSpPr bwMode="auto">
            <a:xfrm>
              <a:off x="1241" y="1556"/>
              <a:ext cx="378" cy="448"/>
              <a:chOff x="1241" y="1556"/>
              <a:chExt cx="378" cy="448"/>
            </a:xfrm>
          </p:grpSpPr>
          <p:grpSp>
            <p:nvGrpSpPr>
              <p:cNvPr id="20543" name="Group 63"/>
              <p:cNvGrpSpPr>
                <a:grpSpLocks/>
              </p:cNvGrpSpPr>
              <p:nvPr/>
            </p:nvGrpSpPr>
            <p:grpSpPr bwMode="auto">
              <a:xfrm>
                <a:off x="1241" y="1556"/>
                <a:ext cx="378" cy="448"/>
                <a:chOff x="1241" y="1556"/>
                <a:chExt cx="378" cy="448"/>
              </a:xfrm>
            </p:grpSpPr>
            <p:sp>
              <p:nvSpPr>
                <p:cNvPr id="20541" name="AutoShape 61"/>
                <p:cNvSpPr>
                  <a:spLocks noChangeArrowheads="1"/>
                </p:cNvSpPr>
                <p:nvPr/>
              </p:nvSpPr>
              <p:spPr bwMode="auto">
                <a:xfrm>
                  <a:off x="1241" y="1627"/>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42" name="AutoShape 62"/>
                <p:cNvSpPr>
                  <a:spLocks noChangeArrowheads="1"/>
                </p:cNvSpPr>
                <p:nvPr/>
              </p:nvSpPr>
              <p:spPr bwMode="auto">
                <a:xfrm>
                  <a:off x="1327" y="1556"/>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44" name="Oval 64"/>
              <p:cNvSpPr>
                <a:spLocks noChangeArrowheads="1"/>
              </p:cNvSpPr>
              <p:nvPr/>
            </p:nvSpPr>
            <p:spPr bwMode="auto">
              <a:xfrm>
                <a:off x="1356" y="1592"/>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45" name="AutoShape 65"/>
              <p:cNvSpPr>
                <a:spLocks noChangeArrowheads="1"/>
              </p:cNvSpPr>
              <p:nvPr/>
            </p:nvSpPr>
            <p:spPr bwMode="auto">
              <a:xfrm>
                <a:off x="1288" y="1802"/>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47" name="Freeform 67"/>
            <p:cNvSpPr>
              <a:spLocks/>
            </p:cNvSpPr>
            <p:nvPr/>
          </p:nvSpPr>
          <p:spPr bwMode="auto">
            <a:xfrm>
              <a:off x="1805" y="1785"/>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48" name="Rectangle 68"/>
            <p:cNvSpPr>
              <a:spLocks noChangeArrowheads="1"/>
            </p:cNvSpPr>
            <p:nvPr/>
          </p:nvSpPr>
          <p:spPr bwMode="auto">
            <a:xfrm>
              <a:off x="1801" y="1785"/>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49" name="Rectangle 69"/>
            <p:cNvSpPr>
              <a:spLocks noChangeArrowheads="1"/>
            </p:cNvSpPr>
            <p:nvPr/>
          </p:nvSpPr>
          <p:spPr bwMode="auto">
            <a:xfrm>
              <a:off x="1808" y="1866"/>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50" name="Rectangle 70"/>
            <p:cNvSpPr>
              <a:spLocks noChangeArrowheads="1"/>
            </p:cNvSpPr>
            <p:nvPr/>
          </p:nvSpPr>
          <p:spPr bwMode="auto">
            <a:xfrm>
              <a:off x="1625" y="1866"/>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553" name="Group 73"/>
            <p:cNvGrpSpPr>
              <a:grpSpLocks/>
            </p:cNvGrpSpPr>
            <p:nvPr/>
          </p:nvGrpSpPr>
          <p:grpSpPr bwMode="auto">
            <a:xfrm>
              <a:off x="1623" y="1613"/>
              <a:ext cx="194" cy="364"/>
              <a:chOff x="1623" y="1613"/>
              <a:chExt cx="194" cy="364"/>
            </a:xfrm>
          </p:grpSpPr>
          <p:sp>
            <p:nvSpPr>
              <p:cNvPr id="20551" name="Oval 71"/>
              <p:cNvSpPr>
                <a:spLocks noChangeArrowheads="1"/>
              </p:cNvSpPr>
              <p:nvPr/>
            </p:nvSpPr>
            <p:spPr bwMode="auto">
              <a:xfrm>
                <a:off x="1699" y="1613"/>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52" name="Freeform 72"/>
              <p:cNvSpPr>
                <a:spLocks/>
              </p:cNvSpPr>
              <p:nvPr/>
            </p:nvSpPr>
            <p:spPr bwMode="auto">
              <a:xfrm>
                <a:off x="1623" y="1681"/>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20555" name="Rectangle 75"/>
          <p:cNvSpPr>
            <a:spLocks noChangeArrowheads="1"/>
          </p:cNvSpPr>
          <p:nvPr/>
        </p:nvSpPr>
        <p:spPr bwMode="auto">
          <a:xfrm>
            <a:off x="2640014" y="1430679"/>
            <a:ext cx="90088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6 PM</a:t>
            </a:r>
          </a:p>
        </p:txBody>
      </p:sp>
      <p:sp>
        <p:nvSpPr>
          <p:cNvPr id="20556" name="Line 76"/>
          <p:cNvSpPr>
            <a:spLocks noChangeShapeType="1"/>
          </p:cNvSpPr>
          <p:nvPr/>
        </p:nvSpPr>
        <p:spPr bwMode="auto">
          <a:xfrm>
            <a:off x="3003550" y="2016466"/>
            <a:ext cx="6324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57" name="Line 77"/>
          <p:cNvSpPr>
            <a:spLocks noChangeShapeType="1"/>
          </p:cNvSpPr>
          <p:nvPr/>
        </p:nvSpPr>
        <p:spPr bwMode="auto">
          <a:xfrm>
            <a:off x="2997200" y="1883116"/>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58" name="Rectangle 78"/>
          <p:cNvSpPr>
            <a:spLocks noChangeArrowheads="1"/>
          </p:cNvSpPr>
          <p:nvPr/>
        </p:nvSpPr>
        <p:spPr bwMode="auto">
          <a:xfrm>
            <a:off x="3871914" y="1443379"/>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7</a:t>
            </a:r>
          </a:p>
        </p:txBody>
      </p:sp>
      <p:sp>
        <p:nvSpPr>
          <p:cNvPr id="20559" name="Rectangle 79"/>
          <p:cNvSpPr>
            <a:spLocks noChangeArrowheads="1"/>
          </p:cNvSpPr>
          <p:nvPr/>
        </p:nvSpPr>
        <p:spPr bwMode="auto">
          <a:xfrm>
            <a:off x="4938714" y="1443379"/>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8</a:t>
            </a:r>
          </a:p>
        </p:txBody>
      </p:sp>
      <p:sp>
        <p:nvSpPr>
          <p:cNvPr id="20560" name="Rectangle 80"/>
          <p:cNvSpPr>
            <a:spLocks noChangeArrowheads="1"/>
          </p:cNvSpPr>
          <p:nvPr/>
        </p:nvSpPr>
        <p:spPr bwMode="auto">
          <a:xfrm>
            <a:off x="5954714" y="1443379"/>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9</a:t>
            </a:r>
          </a:p>
        </p:txBody>
      </p:sp>
      <p:sp>
        <p:nvSpPr>
          <p:cNvPr id="20561" name="Rectangle 81"/>
          <p:cNvSpPr>
            <a:spLocks noChangeArrowheads="1"/>
          </p:cNvSpPr>
          <p:nvPr/>
        </p:nvSpPr>
        <p:spPr bwMode="auto">
          <a:xfrm>
            <a:off x="6894513" y="1456079"/>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10</a:t>
            </a:r>
          </a:p>
        </p:txBody>
      </p:sp>
      <p:sp>
        <p:nvSpPr>
          <p:cNvPr id="20562" name="Rectangle 82"/>
          <p:cNvSpPr>
            <a:spLocks noChangeArrowheads="1"/>
          </p:cNvSpPr>
          <p:nvPr/>
        </p:nvSpPr>
        <p:spPr bwMode="auto">
          <a:xfrm>
            <a:off x="7986714" y="1443379"/>
            <a:ext cx="50295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11</a:t>
            </a:r>
          </a:p>
        </p:txBody>
      </p:sp>
      <p:sp>
        <p:nvSpPr>
          <p:cNvPr id="20563" name="Rectangle 83"/>
          <p:cNvSpPr>
            <a:spLocks noChangeArrowheads="1"/>
          </p:cNvSpPr>
          <p:nvPr/>
        </p:nvSpPr>
        <p:spPr bwMode="auto">
          <a:xfrm>
            <a:off x="8711237" y="1430679"/>
            <a:ext cx="134812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Midnight</a:t>
            </a:r>
          </a:p>
        </p:txBody>
      </p:sp>
      <p:grpSp>
        <p:nvGrpSpPr>
          <p:cNvPr id="20582" name="Group 102"/>
          <p:cNvGrpSpPr>
            <a:grpSpLocks/>
          </p:cNvGrpSpPr>
          <p:nvPr/>
        </p:nvGrpSpPr>
        <p:grpSpPr bwMode="auto">
          <a:xfrm>
            <a:off x="4540251" y="3661116"/>
            <a:ext cx="1535113" cy="711200"/>
            <a:chOff x="1900" y="2020"/>
            <a:chExt cx="967" cy="448"/>
          </a:xfrm>
        </p:grpSpPr>
        <p:grpSp>
          <p:nvGrpSpPr>
            <p:cNvPr id="20568" name="Group 88"/>
            <p:cNvGrpSpPr>
              <a:grpSpLocks/>
            </p:cNvGrpSpPr>
            <p:nvPr/>
          </p:nvGrpSpPr>
          <p:grpSpPr bwMode="auto">
            <a:xfrm>
              <a:off x="1900" y="2020"/>
              <a:ext cx="305" cy="448"/>
              <a:chOff x="1900" y="2020"/>
              <a:chExt cx="305" cy="448"/>
            </a:xfrm>
          </p:grpSpPr>
          <p:grpSp>
            <p:nvGrpSpPr>
              <p:cNvPr id="20566" name="Group 86"/>
              <p:cNvGrpSpPr>
                <a:grpSpLocks/>
              </p:cNvGrpSpPr>
              <p:nvPr/>
            </p:nvGrpSpPr>
            <p:grpSpPr bwMode="auto">
              <a:xfrm>
                <a:off x="1900" y="2020"/>
                <a:ext cx="305" cy="448"/>
                <a:chOff x="1900" y="2020"/>
                <a:chExt cx="305" cy="448"/>
              </a:xfrm>
            </p:grpSpPr>
            <p:sp>
              <p:nvSpPr>
                <p:cNvPr id="20564" name="AutoShape 84"/>
                <p:cNvSpPr>
                  <a:spLocks noChangeArrowheads="1"/>
                </p:cNvSpPr>
                <p:nvPr/>
              </p:nvSpPr>
              <p:spPr bwMode="auto">
                <a:xfrm>
                  <a:off x="1900" y="2091"/>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65" name="AutoShape 85"/>
                <p:cNvSpPr>
                  <a:spLocks noChangeArrowheads="1"/>
                </p:cNvSpPr>
                <p:nvPr/>
              </p:nvSpPr>
              <p:spPr bwMode="auto">
                <a:xfrm>
                  <a:off x="1970" y="2020"/>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67" name="AutoShape 87"/>
              <p:cNvSpPr>
                <a:spLocks noChangeArrowheads="1"/>
              </p:cNvSpPr>
              <p:nvPr/>
            </p:nvSpPr>
            <p:spPr bwMode="auto">
              <a:xfrm>
                <a:off x="1962" y="2124"/>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74" name="Group 94"/>
            <p:cNvGrpSpPr>
              <a:grpSpLocks/>
            </p:cNvGrpSpPr>
            <p:nvPr/>
          </p:nvGrpSpPr>
          <p:grpSpPr bwMode="auto">
            <a:xfrm>
              <a:off x="2201" y="2020"/>
              <a:ext cx="378" cy="448"/>
              <a:chOff x="2201" y="2020"/>
              <a:chExt cx="378" cy="448"/>
            </a:xfrm>
          </p:grpSpPr>
          <p:grpSp>
            <p:nvGrpSpPr>
              <p:cNvPr id="20571" name="Group 91"/>
              <p:cNvGrpSpPr>
                <a:grpSpLocks/>
              </p:cNvGrpSpPr>
              <p:nvPr/>
            </p:nvGrpSpPr>
            <p:grpSpPr bwMode="auto">
              <a:xfrm>
                <a:off x="2201" y="2020"/>
                <a:ext cx="378" cy="448"/>
                <a:chOff x="2201" y="2020"/>
                <a:chExt cx="378" cy="448"/>
              </a:xfrm>
            </p:grpSpPr>
            <p:sp>
              <p:nvSpPr>
                <p:cNvPr id="20569" name="AutoShape 89"/>
                <p:cNvSpPr>
                  <a:spLocks noChangeArrowheads="1"/>
                </p:cNvSpPr>
                <p:nvPr/>
              </p:nvSpPr>
              <p:spPr bwMode="auto">
                <a:xfrm>
                  <a:off x="2201" y="2091"/>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70" name="AutoShape 90"/>
                <p:cNvSpPr>
                  <a:spLocks noChangeArrowheads="1"/>
                </p:cNvSpPr>
                <p:nvPr/>
              </p:nvSpPr>
              <p:spPr bwMode="auto">
                <a:xfrm>
                  <a:off x="2287" y="2020"/>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72" name="Oval 92"/>
              <p:cNvSpPr>
                <a:spLocks noChangeArrowheads="1"/>
              </p:cNvSpPr>
              <p:nvPr/>
            </p:nvSpPr>
            <p:spPr bwMode="auto">
              <a:xfrm>
                <a:off x="2316" y="2056"/>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73" name="AutoShape 93"/>
              <p:cNvSpPr>
                <a:spLocks noChangeArrowheads="1"/>
              </p:cNvSpPr>
              <p:nvPr/>
            </p:nvSpPr>
            <p:spPr bwMode="auto">
              <a:xfrm>
                <a:off x="2248" y="2266"/>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75" name="Freeform 95"/>
            <p:cNvSpPr>
              <a:spLocks/>
            </p:cNvSpPr>
            <p:nvPr/>
          </p:nvSpPr>
          <p:spPr bwMode="auto">
            <a:xfrm>
              <a:off x="2765" y="2249"/>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76" name="Rectangle 96"/>
            <p:cNvSpPr>
              <a:spLocks noChangeArrowheads="1"/>
            </p:cNvSpPr>
            <p:nvPr/>
          </p:nvSpPr>
          <p:spPr bwMode="auto">
            <a:xfrm>
              <a:off x="2761" y="2249"/>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77" name="Rectangle 97"/>
            <p:cNvSpPr>
              <a:spLocks noChangeArrowheads="1"/>
            </p:cNvSpPr>
            <p:nvPr/>
          </p:nvSpPr>
          <p:spPr bwMode="auto">
            <a:xfrm>
              <a:off x="2768" y="2330"/>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78" name="Rectangle 98"/>
            <p:cNvSpPr>
              <a:spLocks noChangeArrowheads="1"/>
            </p:cNvSpPr>
            <p:nvPr/>
          </p:nvSpPr>
          <p:spPr bwMode="auto">
            <a:xfrm>
              <a:off x="2585" y="2330"/>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581" name="Group 101"/>
            <p:cNvGrpSpPr>
              <a:grpSpLocks/>
            </p:cNvGrpSpPr>
            <p:nvPr/>
          </p:nvGrpSpPr>
          <p:grpSpPr bwMode="auto">
            <a:xfrm>
              <a:off x="2583" y="2077"/>
              <a:ext cx="194" cy="364"/>
              <a:chOff x="2583" y="2077"/>
              <a:chExt cx="194" cy="364"/>
            </a:xfrm>
          </p:grpSpPr>
          <p:sp>
            <p:nvSpPr>
              <p:cNvPr id="20579" name="Oval 99"/>
              <p:cNvSpPr>
                <a:spLocks noChangeArrowheads="1"/>
              </p:cNvSpPr>
              <p:nvPr/>
            </p:nvSpPr>
            <p:spPr bwMode="auto">
              <a:xfrm>
                <a:off x="2659" y="2077"/>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0" name="Freeform 100"/>
              <p:cNvSpPr>
                <a:spLocks/>
              </p:cNvSpPr>
              <p:nvPr/>
            </p:nvSpPr>
            <p:spPr bwMode="auto">
              <a:xfrm>
                <a:off x="2583" y="2145"/>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0601" name="Group 121"/>
          <p:cNvGrpSpPr>
            <a:grpSpLocks/>
          </p:cNvGrpSpPr>
          <p:nvPr/>
        </p:nvGrpSpPr>
        <p:grpSpPr bwMode="auto">
          <a:xfrm>
            <a:off x="5988051" y="4372316"/>
            <a:ext cx="1535113" cy="711200"/>
            <a:chOff x="2812" y="2468"/>
            <a:chExt cx="967" cy="448"/>
          </a:xfrm>
        </p:grpSpPr>
        <p:grpSp>
          <p:nvGrpSpPr>
            <p:cNvPr id="20587" name="Group 107"/>
            <p:cNvGrpSpPr>
              <a:grpSpLocks/>
            </p:cNvGrpSpPr>
            <p:nvPr/>
          </p:nvGrpSpPr>
          <p:grpSpPr bwMode="auto">
            <a:xfrm>
              <a:off x="2812" y="2468"/>
              <a:ext cx="305" cy="448"/>
              <a:chOff x="2812" y="2468"/>
              <a:chExt cx="305" cy="448"/>
            </a:xfrm>
          </p:grpSpPr>
          <p:grpSp>
            <p:nvGrpSpPr>
              <p:cNvPr id="20585" name="Group 105"/>
              <p:cNvGrpSpPr>
                <a:grpSpLocks/>
              </p:cNvGrpSpPr>
              <p:nvPr/>
            </p:nvGrpSpPr>
            <p:grpSpPr bwMode="auto">
              <a:xfrm>
                <a:off x="2812" y="2468"/>
                <a:ext cx="305" cy="448"/>
                <a:chOff x="2812" y="2468"/>
                <a:chExt cx="305" cy="448"/>
              </a:xfrm>
            </p:grpSpPr>
            <p:sp>
              <p:nvSpPr>
                <p:cNvPr id="20583" name="AutoShape 103"/>
                <p:cNvSpPr>
                  <a:spLocks noChangeArrowheads="1"/>
                </p:cNvSpPr>
                <p:nvPr/>
              </p:nvSpPr>
              <p:spPr bwMode="auto">
                <a:xfrm>
                  <a:off x="2812" y="2539"/>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4" name="AutoShape 104"/>
                <p:cNvSpPr>
                  <a:spLocks noChangeArrowheads="1"/>
                </p:cNvSpPr>
                <p:nvPr/>
              </p:nvSpPr>
              <p:spPr bwMode="auto">
                <a:xfrm>
                  <a:off x="2882" y="2468"/>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86" name="AutoShape 106"/>
              <p:cNvSpPr>
                <a:spLocks noChangeArrowheads="1"/>
              </p:cNvSpPr>
              <p:nvPr/>
            </p:nvSpPr>
            <p:spPr bwMode="auto">
              <a:xfrm>
                <a:off x="2874" y="2572"/>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593" name="Group 113"/>
            <p:cNvGrpSpPr>
              <a:grpSpLocks/>
            </p:cNvGrpSpPr>
            <p:nvPr/>
          </p:nvGrpSpPr>
          <p:grpSpPr bwMode="auto">
            <a:xfrm>
              <a:off x="3113" y="2468"/>
              <a:ext cx="378" cy="448"/>
              <a:chOff x="3113" y="2468"/>
              <a:chExt cx="378" cy="448"/>
            </a:xfrm>
          </p:grpSpPr>
          <p:grpSp>
            <p:nvGrpSpPr>
              <p:cNvPr id="20590" name="Group 110"/>
              <p:cNvGrpSpPr>
                <a:grpSpLocks/>
              </p:cNvGrpSpPr>
              <p:nvPr/>
            </p:nvGrpSpPr>
            <p:grpSpPr bwMode="auto">
              <a:xfrm>
                <a:off x="3113" y="2468"/>
                <a:ext cx="378" cy="448"/>
                <a:chOff x="3113" y="2468"/>
                <a:chExt cx="378" cy="448"/>
              </a:xfrm>
            </p:grpSpPr>
            <p:sp>
              <p:nvSpPr>
                <p:cNvPr id="20588" name="AutoShape 108"/>
                <p:cNvSpPr>
                  <a:spLocks noChangeArrowheads="1"/>
                </p:cNvSpPr>
                <p:nvPr/>
              </p:nvSpPr>
              <p:spPr bwMode="auto">
                <a:xfrm>
                  <a:off x="3113" y="2539"/>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89" name="AutoShape 109"/>
                <p:cNvSpPr>
                  <a:spLocks noChangeArrowheads="1"/>
                </p:cNvSpPr>
                <p:nvPr/>
              </p:nvSpPr>
              <p:spPr bwMode="auto">
                <a:xfrm>
                  <a:off x="3199" y="2468"/>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91" name="Oval 111"/>
              <p:cNvSpPr>
                <a:spLocks noChangeArrowheads="1"/>
              </p:cNvSpPr>
              <p:nvPr/>
            </p:nvSpPr>
            <p:spPr bwMode="auto">
              <a:xfrm>
                <a:off x="3228" y="2504"/>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92" name="AutoShape 112"/>
              <p:cNvSpPr>
                <a:spLocks noChangeArrowheads="1"/>
              </p:cNvSpPr>
              <p:nvPr/>
            </p:nvSpPr>
            <p:spPr bwMode="auto">
              <a:xfrm>
                <a:off x="3160" y="2714"/>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94" name="Freeform 114"/>
            <p:cNvSpPr>
              <a:spLocks/>
            </p:cNvSpPr>
            <p:nvPr/>
          </p:nvSpPr>
          <p:spPr bwMode="auto">
            <a:xfrm>
              <a:off x="3677" y="2697"/>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595" name="Rectangle 115"/>
            <p:cNvSpPr>
              <a:spLocks noChangeArrowheads="1"/>
            </p:cNvSpPr>
            <p:nvPr/>
          </p:nvSpPr>
          <p:spPr bwMode="auto">
            <a:xfrm>
              <a:off x="3673" y="2697"/>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96" name="Rectangle 116"/>
            <p:cNvSpPr>
              <a:spLocks noChangeArrowheads="1"/>
            </p:cNvSpPr>
            <p:nvPr/>
          </p:nvSpPr>
          <p:spPr bwMode="auto">
            <a:xfrm>
              <a:off x="3680" y="2778"/>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97" name="Rectangle 117"/>
            <p:cNvSpPr>
              <a:spLocks noChangeArrowheads="1"/>
            </p:cNvSpPr>
            <p:nvPr/>
          </p:nvSpPr>
          <p:spPr bwMode="auto">
            <a:xfrm>
              <a:off x="3497" y="2778"/>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600" name="Group 120"/>
            <p:cNvGrpSpPr>
              <a:grpSpLocks/>
            </p:cNvGrpSpPr>
            <p:nvPr/>
          </p:nvGrpSpPr>
          <p:grpSpPr bwMode="auto">
            <a:xfrm>
              <a:off x="3495" y="2525"/>
              <a:ext cx="194" cy="364"/>
              <a:chOff x="3495" y="2525"/>
              <a:chExt cx="194" cy="364"/>
            </a:xfrm>
          </p:grpSpPr>
          <p:sp>
            <p:nvSpPr>
              <p:cNvPr id="20598" name="Oval 118"/>
              <p:cNvSpPr>
                <a:spLocks noChangeArrowheads="1"/>
              </p:cNvSpPr>
              <p:nvPr/>
            </p:nvSpPr>
            <p:spPr bwMode="auto">
              <a:xfrm>
                <a:off x="3571" y="2525"/>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99" name="Freeform 119"/>
              <p:cNvSpPr>
                <a:spLocks/>
              </p:cNvSpPr>
              <p:nvPr/>
            </p:nvSpPr>
            <p:spPr bwMode="auto">
              <a:xfrm>
                <a:off x="3495" y="2593"/>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0620" name="Group 140"/>
          <p:cNvGrpSpPr>
            <a:grpSpLocks/>
          </p:cNvGrpSpPr>
          <p:nvPr/>
        </p:nvGrpSpPr>
        <p:grpSpPr bwMode="auto">
          <a:xfrm>
            <a:off x="7639051" y="5159716"/>
            <a:ext cx="1535113" cy="711200"/>
            <a:chOff x="3852" y="2964"/>
            <a:chExt cx="967" cy="448"/>
          </a:xfrm>
        </p:grpSpPr>
        <p:grpSp>
          <p:nvGrpSpPr>
            <p:cNvPr id="20606" name="Group 126"/>
            <p:cNvGrpSpPr>
              <a:grpSpLocks/>
            </p:cNvGrpSpPr>
            <p:nvPr/>
          </p:nvGrpSpPr>
          <p:grpSpPr bwMode="auto">
            <a:xfrm>
              <a:off x="3852" y="2964"/>
              <a:ext cx="305" cy="448"/>
              <a:chOff x="3852" y="2964"/>
              <a:chExt cx="305" cy="448"/>
            </a:xfrm>
          </p:grpSpPr>
          <p:grpSp>
            <p:nvGrpSpPr>
              <p:cNvPr id="20604" name="Group 124"/>
              <p:cNvGrpSpPr>
                <a:grpSpLocks/>
              </p:cNvGrpSpPr>
              <p:nvPr/>
            </p:nvGrpSpPr>
            <p:grpSpPr bwMode="auto">
              <a:xfrm>
                <a:off x="3852" y="2964"/>
                <a:ext cx="305" cy="448"/>
                <a:chOff x="3852" y="2964"/>
                <a:chExt cx="305" cy="448"/>
              </a:xfrm>
            </p:grpSpPr>
            <p:sp>
              <p:nvSpPr>
                <p:cNvPr id="20602" name="AutoShape 122"/>
                <p:cNvSpPr>
                  <a:spLocks noChangeArrowheads="1"/>
                </p:cNvSpPr>
                <p:nvPr/>
              </p:nvSpPr>
              <p:spPr bwMode="auto">
                <a:xfrm>
                  <a:off x="3852" y="3035"/>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03" name="AutoShape 123"/>
                <p:cNvSpPr>
                  <a:spLocks noChangeArrowheads="1"/>
                </p:cNvSpPr>
                <p:nvPr/>
              </p:nvSpPr>
              <p:spPr bwMode="auto">
                <a:xfrm>
                  <a:off x="3922" y="2964"/>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605" name="AutoShape 125"/>
              <p:cNvSpPr>
                <a:spLocks noChangeArrowheads="1"/>
              </p:cNvSpPr>
              <p:nvPr/>
            </p:nvSpPr>
            <p:spPr bwMode="auto">
              <a:xfrm>
                <a:off x="3914" y="3068"/>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0612" name="Group 132"/>
            <p:cNvGrpSpPr>
              <a:grpSpLocks/>
            </p:cNvGrpSpPr>
            <p:nvPr/>
          </p:nvGrpSpPr>
          <p:grpSpPr bwMode="auto">
            <a:xfrm>
              <a:off x="4153" y="2964"/>
              <a:ext cx="378" cy="448"/>
              <a:chOff x="4153" y="2964"/>
              <a:chExt cx="378" cy="448"/>
            </a:xfrm>
          </p:grpSpPr>
          <p:grpSp>
            <p:nvGrpSpPr>
              <p:cNvPr id="20609" name="Group 129"/>
              <p:cNvGrpSpPr>
                <a:grpSpLocks/>
              </p:cNvGrpSpPr>
              <p:nvPr/>
            </p:nvGrpSpPr>
            <p:grpSpPr bwMode="auto">
              <a:xfrm>
                <a:off x="4153" y="2964"/>
                <a:ext cx="378" cy="448"/>
                <a:chOff x="4153" y="2964"/>
                <a:chExt cx="378" cy="448"/>
              </a:xfrm>
            </p:grpSpPr>
            <p:sp>
              <p:nvSpPr>
                <p:cNvPr id="20607" name="AutoShape 127"/>
                <p:cNvSpPr>
                  <a:spLocks noChangeArrowheads="1"/>
                </p:cNvSpPr>
                <p:nvPr/>
              </p:nvSpPr>
              <p:spPr bwMode="auto">
                <a:xfrm>
                  <a:off x="4153" y="3035"/>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08" name="AutoShape 128"/>
                <p:cNvSpPr>
                  <a:spLocks noChangeArrowheads="1"/>
                </p:cNvSpPr>
                <p:nvPr/>
              </p:nvSpPr>
              <p:spPr bwMode="auto">
                <a:xfrm>
                  <a:off x="4239" y="2964"/>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610" name="Oval 130"/>
              <p:cNvSpPr>
                <a:spLocks noChangeArrowheads="1"/>
              </p:cNvSpPr>
              <p:nvPr/>
            </p:nvSpPr>
            <p:spPr bwMode="auto">
              <a:xfrm>
                <a:off x="4268" y="3000"/>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11" name="AutoShape 131"/>
              <p:cNvSpPr>
                <a:spLocks noChangeArrowheads="1"/>
              </p:cNvSpPr>
              <p:nvPr/>
            </p:nvSpPr>
            <p:spPr bwMode="auto">
              <a:xfrm>
                <a:off x="4200" y="3210"/>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613" name="Freeform 133"/>
            <p:cNvSpPr>
              <a:spLocks/>
            </p:cNvSpPr>
            <p:nvPr/>
          </p:nvSpPr>
          <p:spPr bwMode="auto">
            <a:xfrm>
              <a:off x="4717" y="3193"/>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614" name="Rectangle 134"/>
            <p:cNvSpPr>
              <a:spLocks noChangeArrowheads="1"/>
            </p:cNvSpPr>
            <p:nvPr/>
          </p:nvSpPr>
          <p:spPr bwMode="auto">
            <a:xfrm>
              <a:off x="4713" y="3193"/>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15" name="Rectangle 135"/>
            <p:cNvSpPr>
              <a:spLocks noChangeArrowheads="1"/>
            </p:cNvSpPr>
            <p:nvPr/>
          </p:nvSpPr>
          <p:spPr bwMode="auto">
            <a:xfrm>
              <a:off x="4720" y="3274"/>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16" name="Rectangle 136"/>
            <p:cNvSpPr>
              <a:spLocks noChangeArrowheads="1"/>
            </p:cNvSpPr>
            <p:nvPr/>
          </p:nvSpPr>
          <p:spPr bwMode="auto">
            <a:xfrm>
              <a:off x="4537" y="3274"/>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0619" name="Group 139"/>
            <p:cNvGrpSpPr>
              <a:grpSpLocks/>
            </p:cNvGrpSpPr>
            <p:nvPr/>
          </p:nvGrpSpPr>
          <p:grpSpPr bwMode="auto">
            <a:xfrm>
              <a:off x="4535" y="3021"/>
              <a:ext cx="194" cy="364"/>
              <a:chOff x="4535" y="3021"/>
              <a:chExt cx="194" cy="364"/>
            </a:xfrm>
          </p:grpSpPr>
          <p:sp>
            <p:nvSpPr>
              <p:cNvPr id="20617" name="Oval 137"/>
              <p:cNvSpPr>
                <a:spLocks noChangeArrowheads="1"/>
              </p:cNvSpPr>
              <p:nvPr/>
            </p:nvSpPr>
            <p:spPr bwMode="auto">
              <a:xfrm>
                <a:off x="4611" y="3021"/>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18" name="Freeform 138"/>
              <p:cNvSpPr>
                <a:spLocks/>
              </p:cNvSpPr>
              <p:nvPr/>
            </p:nvSpPr>
            <p:spPr bwMode="auto">
              <a:xfrm>
                <a:off x="4535" y="3089"/>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20621" name="Rectangle 141"/>
          <p:cNvSpPr>
            <a:spLocks noChangeArrowheads="1"/>
          </p:cNvSpPr>
          <p:nvPr/>
        </p:nvSpPr>
        <p:spPr bwMode="auto">
          <a:xfrm>
            <a:off x="1673062" y="2908642"/>
            <a:ext cx="362280" cy="28597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b="0" i="1"/>
              <a:t>T</a:t>
            </a:r>
          </a:p>
          <a:p>
            <a:pPr algn="ctr"/>
            <a:r>
              <a:rPr lang="en-US" altLang="zh-CN" b="0" i="1"/>
              <a:t>a</a:t>
            </a:r>
          </a:p>
          <a:p>
            <a:pPr algn="ctr"/>
            <a:r>
              <a:rPr lang="en-US" altLang="zh-CN" b="0" i="1"/>
              <a:t>s</a:t>
            </a:r>
          </a:p>
          <a:p>
            <a:pPr algn="ctr"/>
            <a:r>
              <a:rPr lang="en-US" altLang="zh-CN" b="0" i="1"/>
              <a:t>k</a:t>
            </a:r>
          </a:p>
          <a:p>
            <a:pPr algn="ctr"/>
            <a:endParaRPr lang="en-US" altLang="zh-CN" b="0" i="1"/>
          </a:p>
          <a:p>
            <a:pPr algn="ctr"/>
            <a:r>
              <a:rPr lang="en-US" altLang="zh-CN" b="0" i="1"/>
              <a:t>O</a:t>
            </a:r>
          </a:p>
          <a:p>
            <a:pPr algn="ctr"/>
            <a:r>
              <a:rPr lang="en-US" altLang="zh-CN" b="0" i="1"/>
              <a:t>r</a:t>
            </a:r>
          </a:p>
          <a:p>
            <a:pPr algn="ctr"/>
            <a:r>
              <a:rPr lang="en-US" altLang="zh-CN" b="0" i="1"/>
              <a:t>d</a:t>
            </a:r>
          </a:p>
          <a:p>
            <a:pPr algn="ctr"/>
            <a:r>
              <a:rPr lang="en-US" altLang="zh-CN" b="0" i="1"/>
              <a:t>e</a:t>
            </a:r>
          </a:p>
          <a:p>
            <a:pPr algn="ctr"/>
            <a:r>
              <a:rPr lang="en-US" altLang="zh-CN" b="0" i="1"/>
              <a:t>r</a:t>
            </a:r>
          </a:p>
        </p:txBody>
      </p:sp>
      <p:sp>
        <p:nvSpPr>
          <p:cNvPr id="20622" name="Line 142"/>
          <p:cNvSpPr>
            <a:spLocks noChangeShapeType="1"/>
          </p:cNvSpPr>
          <p:nvPr/>
        </p:nvSpPr>
        <p:spPr bwMode="auto">
          <a:xfrm>
            <a:off x="2159000" y="2759416"/>
            <a:ext cx="0" cy="3035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623" name="Rectangle 143"/>
          <p:cNvSpPr>
            <a:spLocks noChangeArrowheads="1"/>
          </p:cNvSpPr>
          <p:nvPr/>
        </p:nvSpPr>
        <p:spPr bwMode="auto">
          <a:xfrm>
            <a:off x="5649914" y="1981541"/>
            <a:ext cx="6889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0" i="1"/>
              <a:t>Time</a:t>
            </a:r>
          </a:p>
        </p:txBody>
      </p:sp>
    </p:spTree>
    <p:extLst>
      <p:ext uri="{BB962C8B-B14F-4D97-AF65-F5344CB8AC3E}">
        <p14:creationId xmlns:p14="http://schemas.microsoft.com/office/powerpoint/2010/main" val="52643950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0483">
                                            <p:txEl>
                                              <p:pRg st="1" end="1"/>
                                            </p:txEl>
                                          </p:spTgt>
                                        </p:tgtEl>
                                        <p:attrNameLst>
                                          <p:attrName>style.visibility</p:attrName>
                                        </p:attrNameLst>
                                      </p:cBhvr>
                                      <p:to>
                                        <p:strVal val="visible"/>
                                      </p:to>
                                    </p:set>
                                    <p:anim calcmode="lin" valueType="num">
                                      <p:cBhvr additive="base">
                                        <p:cTn id="13" dur="500" fill="hold"/>
                                        <p:tgtEl>
                                          <p:spTgt spid="2048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048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17291" y="258920"/>
            <a:ext cx="981600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Pipelined Laundry</a:t>
            </a:r>
            <a:r>
              <a:rPr lang="zh-CN" altLang="en-US" dirty="0"/>
              <a:t>：</a:t>
            </a:r>
            <a:r>
              <a:rPr lang="en-US" altLang="zh-CN" dirty="0"/>
              <a:t>Start work ASAP</a:t>
            </a:r>
          </a:p>
        </p:txBody>
      </p:sp>
      <p:sp>
        <p:nvSpPr>
          <p:cNvPr id="21507" name="Rectangle 3"/>
          <p:cNvSpPr>
            <a:spLocks noGrp="1" noChangeArrowheads="1"/>
          </p:cNvSpPr>
          <p:nvPr>
            <p:ph type="body" idx="1"/>
          </p:nvPr>
        </p:nvSpPr>
        <p:spPr>
          <a:xfrm>
            <a:off x="2168336" y="6107109"/>
            <a:ext cx="8102600" cy="4064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solidFill>
                  <a:srgbClr val="FF0000"/>
                </a:solidFill>
              </a:rPr>
              <a:t>Pipelined laundry takes 3.5 hours for 4 loads </a:t>
            </a:r>
          </a:p>
        </p:txBody>
      </p:sp>
      <p:grpSp>
        <p:nvGrpSpPr>
          <p:cNvPr id="21510" name="Group 6"/>
          <p:cNvGrpSpPr>
            <a:grpSpLocks/>
          </p:cNvGrpSpPr>
          <p:nvPr/>
        </p:nvGrpSpPr>
        <p:grpSpPr bwMode="auto">
          <a:xfrm>
            <a:off x="2654300" y="3028954"/>
            <a:ext cx="522288" cy="539751"/>
            <a:chOff x="712" y="1908"/>
            <a:chExt cx="329" cy="340"/>
          </a:xfrm>
        </p:grpSpPr>
        <p:sp>
          <p:nvSpPr>
            <p:cNvPr id="21508" name="Freeform 4"/>
            <p:cNvSpPr>
              <a:spLocks/>
            </p:cNvSpPr>
            <p:nvPr/>
          </p:nvSpPr>
          <p:spPr bwMode="auto">
            <a:xfrm>
              <a:off x="712" y="190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09" name="Rectangle 5"/>
            <p:cNvSpPr>
              <a:spLocks noChangeArrowheads="1"/>
            </p:cNvSpPr>
            <p:nvPr/>
          </p:nvSpPr>
          <p:spPr bwMode="auto">
            <a:xfrm>
              <a:off x="766" y="1959"/>
              <a:ext cx="244"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A</a:t>
              </a:r>
            </a:p>
          </p:txBody>
        </p:sp>
      </p:grpSp>
      <p:grpSp>
        <p:nvGrpSpPr>
          <p:cNvPr id="21513" name="Group 9"/>
          <p:cNvGrpSpPr>
            <a:grpSpLocks/>
          </p:cNvGrpSpPr>
          <p:nvPr/>
        </p:nvGrpSpPr>
        <p:grpSpPr bwMode="auto">
          <a:xfrm>
            <a:off x="2641600" y="3879855"/>
            <a:ext cx="522288" cy="539751"/>
            <a:chOff x="704" y="2444"/>
            <a:chExt cx="329" cy="340"/>
          </a:xfrm>
        </p:grpSpPr>
        <p:sp>
          <p:nvSpPr>
            <p:cNvPr id="21511" name="Freeform 7"/>
            <p:cNvSpPr>
              <a:spLocks/>
            </p:cNvSpPr>
            <p:nvPr/>
          </p:nvSpPr>
          <p:spPr bwMode="auto">
            <a:xfrm>
              <a:off x="704" y="2444"/>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2" name="Rectangle 8"/>
            <p:cNvSpPr>
              <a:spLocks noChangeArrowheads="1"/>
            </p:cNvSpPr>
            <p:nvPr/>
          </p:nvSpPr>
          <p:spPr bwMode="auto">
            <a:xfrm>
              <a:off x="758" y="2495"/>
              <a:ext cx="244"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B</a:t>
              </a:r>
            </a:p>
          </p:txBody>
        </p:sp>
      </p:grpSp>
      <p:grpSp>
        <p:nvGrpSpPr>
          <p:cNvPr id="21516" name="Group 12"/>
          <p:cNvGrpSpPr>
            <a:grpSpLocks/>
          </p:cNvGrpSpPr>
          <p:nvPr/>
        </p:nvGrpSpPr>
        <p:grpSpPr bwMode="auto">
          <a:xfrm>
            <a:off x="2603500" y="4629155"/>
            <a:ext cx="522288" cy="539751"/>
            <a:chOff x="680" y="2916"/>
            <a:chExt cx="329" cy="340"/>
          </a:xfrm>
        </p:grpSpPr>
        <p:sp>
          <p:nvSpPr>
            <p:cNvPr id="21514" name="Freeform 10"/>
            <p:cNvSpPr>
              <a:spLocks/>
            </p:cNvSpPr>
            <p:nvPr/>
          </p:nvSpPr>
          <p:spPr bwMode="auto">
            <a:xfrm>
              <a:off x="680" y="2916"/>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5" name="Rectangle 11"/>
            <p:cNvSpPr>
              <a:spLocks noChangeArrowheads="1"/>
            </p:cNvSpPr>
            <p:nvPr/>
          </p:nvSpPr>
          <p:spPr bwMode="auto">
            <a:xfrm>
              <a:off x="729" y="2967"/>
              <a:ext cx="255"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C</a:t>
              </a:r>
            </a:p>
          </p:txBody>
        </p:sp>
      </p:grpSp>
      <p:grpSp>
        <p:nvGrpSpPr>
          <p:cNvPr id="21519" name="Group 15"/>
          <p:cNvGrpSpPr>
            <a:grpSpLocks/>
          </p:cNvGrpSpPr>
          <p:nvPr/>
        </p:nvGrpSpPr>
        <p:grpSpPr bwMode="auto">
          <a:xfrm>
            <a:off x="2603500" y="5353056"/>
            <a:ext cx="522288" cy="539751"/>
            <a:chOff x="680" y="3372"/>
            <a:chExt cx="329" cy="340"/>
          </a:xfrm>
        </p:grpSpPr>
        <p:sp>
          <p:nvSpPr>
            <p:cNvPr id="21517" name="Freeform 13"/>
            <p:cNvSpPr>
              <a:spLocks/>
            </p:cNvSpPr>
            <p:nvPr/>
          </p:nvSpPr>
          <p:spPr bwMode="auto">
            <a:xfrm>
              <a:off x="680" y="3372"/>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8" name="Rectangle 14"/>
            <p:cNvSpPr>
              <a:spLocks noChangeArrowheads="1"/>
            </p:cNvSpPr>
            <p:nvPr/>
          </p:nvSpPr>
          <p:spPr bwMode="auto">
            <a:xfrm>
              <a:off x="729" y="3423"/>
              <a:ext cx="255"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D</a:t>
              </a:r>
            </a:p>
          </p:txBody>
        </p:sp>
      </p:grpSp>
      <p:sp>
        <p:nvSpPr>
          <p:cNvPr id="21520" name="Rectangle 16"/>
          <p:cNvSpPr>
            <a:spLocks noChangeArrowheads="1"/>
          </p:cNvSpPr>
          <p:nvPr/>
        </p:nvSpPr>
        <p:spPr bwMode="auto">
          <a:xfrm>
            <a:off x="2925764" y="1433513"/>
            <a:ext cx="90088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6 PM</a:t>
            </a:r>
          </a:p>
        </p:txBody>
      </p:sp>
      <p:sp>
        <p:nvSpPr>
          <p:cNvPr id="21521" name="Line 17"/>
          <p:cNvSpPr>
            <a:spLocks noChangeShapeType="1"/>
          </p:cNvSpPr>
          <p:nvPr/>
        </p:nvSpPr>
        <p:spPr bwMode="auto">
          <a:xfrm>
            <a:off x="3289300" y="2019300"/>
            <a:ext cx="6324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2" name="Line 18"/>
          <p:cNvSpPr>
            <a:spLocks noChangeShapeType="1"/>
          </p:cNvSpPr>
          <p:nvPr/>
        </p:nvSpPr>
        <p:spPr bwMode="auto">
          <a:xfrm>
            <a:off x="3282950" y="1885950"/>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3" name="Rectangle 19"/>
          <p:cNvSpPr>
            <a:spLocks noChangeArrowheads="1"/>
          </p:cNvSpPr>
          <p:nvPr/>
        </p:nvSpPr>
        <p:spPr bwMode="auto">
          <a:xfrm>
            <a:off x="4157664" y="1446213"/>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7</a:t>
            </a:r>
          </a:p>
        </p:txBody>
      </p:sp>
      <p:sp>
        <p:nvSpPr>
          <p:cNvPr id="21524" name="Rectangle 20"/>
          <p:cNvSpPr>
            <a:spLocks noChangeArrowheads="1"/>
          </p:cNvSpPr>
          <p:nvPr/>
        </p:nvSpPr>
        <p:spPr bwMode="auto">
          <a:xfrm>
            <a:off x="5224464" y="1446213"/>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8</a:t>
            </a:r>
          </a:p>
        </p:txBody>
      </p:sp>
      <p:sp>
        <p:nvSpPr>
          <p:cNvPr id="21525" name="Rectangle 21"/>
          <p:cNvSpPr>
            <a:spLocks noChangeArrowheads="1"/>
          </p:cNvSpPr>
          <p:nvPr/>
        </p:nvSpPr>
        <p:spPr bwMode="auto">
          <a:xfrm>
            <a:off x="6240464" y="1446213"/>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9</a:t>
            </a:r>
          </a:p>
        </p:txBody>
      </p:sp>
      <p:sp>
        <p:nvSpPr>
          <p:cNvPr id="21526" name="Rectangle 22"/>
          <p:cNvSpPr>
            <a:spLocks noChangeArrowheads="1"/>
          </p:cNvSpPr>
          <p:nvPr/>
        </p:nvSpPr>
        <p:spPr bwMode="auto">
          <a:xfrm>
            <a:off x="7180263" y="1458913"/>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10</a:t>
            </a:r>
          </a:p>
        </p:txBody>
      </p:sp>
      <p:sp>
        <p:nvSpPr>
          <p:cNvPr id="21527" name="Rectangle 23"/>
          <p:cNvSpPr>
            <a:spLocks noChangeArrowheads="1"/>
          </p:cNvSpPr>
          <p:nvPr/>
        </p:nvSpPr>
        <p:spPr bwMode="auto">
          <a:xfrm>
            <a:off x="8272464" y="1446213"/>
            <a:ext cx="50295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11</a:t>
            </a:r>
          </a:p>
        </p:txBody>
      </p:sp>
      <p:sp>
        <p:nvSpPr>
          <p:cNvPr id="21528" name="Rectangle 24"/>
          <p:cNvSpPr>
            <a:spLocks noChangeArrowheads="1"/>
          </p:cNvSpPr>
          <p:nvPr/>
        </p:nvSpPr>
        <p:spPr bwMode="auto">
          <a:xfrm>
            <a:off x="8996987" y="1433513"/>
            <a:ext cx="134812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Midnight</a:t>
            </a:r>
          </a:p>
        </p:txBody>
      </p:sp>
      <p:grpSp>
        <p:nvGrpSpPr>
          <p:cNvPr id="21605" name="Group 101"/>
          <p:cNvGrpSpPr>
            <a:grpSpLocks/>
          </p:cNvGrpSpPr>
          <p:nvPr/>
        </p:nvGrpSpPr>
        <p:grpSpPr bwMode="auto">
          <a:xfrm>
            <a:off x="3327401" y="2927350"/>
            <a:ext cx="3490913" cy="2933700"/>
            <a:chOff x="1136" y="1844"/>
            <a:chExt cx="2199" cy="1848"/>
          </a:xfrm>
        </p:grpSpPr>
        <p:grpSp>
          <p:nvGrpSpPr>
            <p:cNvPr id="21547" name="Group 43"/>
            <p:cNvGrpSpPr>
              <a:grpSpLocks/>
            </p:cNvGrpSpPr>
            <p:nvPr/>
          </p:nvGrpSpPr>
          <p:grpSpPr bwMode="auto">
            <a:xfrm>
              <a:off x="1136" y="1844"/>
              <a:ext cx="967" cy="448"/>
              <a:chOff x="1136" y="1844"/>
              <a:chExt cx="967" cy="448"/>
            </a:xfrm>
          </p:grpSpPr>
          <p:grpSp>
            <p:nvGrpSpPr>
              <p:cNvPr id="21533" name="Group 29"/>
              <p:cNvGrpSpPr>
                <a:grpSpLocks/>
              </p:cNvGrpSpPr>
              <p:nvPr/>
            </p:nvGrpSpPr>
            <p:grpSpPr bwMode="auto">
              <a:xfrm>
                <a:off x="1136" y="1844"/>
                <a:ext cx="305" cy="448"/>
                <a:chOff x="1136" y="1844"/>
                <a:chExt cx="305" cy="448"/>
              </a:xfrm>
            </p:grpSpPr>
            <p:grpSp>
              <p:nvGrpSpPr>
                <p:cNvPr id="21531" name="Group 27"/>
                <p:cNvGrpSpPr>
                  <a:grpSpLocks/>
                </p:cNvGrpSpPr>
                <p:nvPr/>
              </p:nvGrpSpPr>
              <p:grpSpPr bwMode="auto">
                <a:xfrm>
                  <a:off x="1136" y="1844"/>
                  <a:ext cx="305" cy="448"/>
                  <a:chOff x="1136" y="1844"/>
                  <a:chExt cx="305" cy="448"/>
                </a:xfrm>
              </p:grpSpPr>
              <p:sp>
                <p:nvSpPr>
                  <p:cNvPr id="21529" name="AutoShape 25"/>
                  <p:cNvSpPr>
                    <a:spLocks noChangeArrowheads="1"/>
                  </p:cNvSpPr>
                  <p:nvPr/>
                </p:nvSpPr>
                <p:spPr bwMode="auto">
                  <a:xfrm>
                    <a:off x="1136" y="1915"/>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0" name="AutoShape 26"/>
                  <p:cNvSpPr>
                    <a:spLocks noChangeArrowheads="1"/>
                  </p:cNvSpPr>
                  <p:nvPr/>
                </p:nvSpPr>
                <p:spPr bwMode="auto">
                  <a:xfrm>
                    <a:off x="1206" y="1844"/>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32" name="AutoShape 28"/>
                <p:cNvSpPr>
                  <a:spLocks noChangeArrowheads="1"/>
                </p:cNvSpPr>
                <p:nvPr/>
              </p:nvSpPr>
              <p:spPr bwMode="auto">
                <a:xfrm>
                  <a:off x="1198" y="1948"/>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39" name="Group 35"/>
              <p:cNvGrpSpPr>
                <a:grpSpLocks/>
              </p:cNvGrpSpPr>
              <p:nvPr/>
            </p:nvGrpSpPr>
            <p:grpSpPr bwMode="auto">
              <a:xfrm>
                <a:off x="1437" y="1844"/>
                <a:ext cx="378" cy="448"/>
                <a:chOff x="1437" y="1844"/>
                <a:chExt cx="378" cy="448"/>
              </a:xfrm>
            </p:grpSpPr>
            <p:grpSp>
              <p:nvGrpSpPr>
                <p:cNvPr id="21536" name="Group 32"/>
                <p:cNvGrpSpPr>
                  <a:grpSpLocks/>
                </p:cNvGrpSpPr>
                <p:nvPr/>
              </p:nvGrpSpPr>
              <p:grpSpPr bwMode="auto">
                <a:xfrm>
                  <a:off x="1437" y="1844"/>
                  <a:ext cx="378" cy="448"/>
                  <a:chOff x="1437" y="1844"/>
                  <a:chExt cx="378" cy="448"/>
                </a:xfrm>
              </p:grpSpPr>
              <p:sp>
                <p:nvSpPr>
                  <p:cNvPr id="21534" name="AutoShape 30"/>
                  <p:cNvSpPr>
                    <a:spLocks noChangeArrowheads="1"/>
                  </p:cNvSpPr>
                  <p:nvPr/>
                </p:nvSpPr>
                <p:spPr bwMode="auto">
                  <a:xfrm>
                    <a:off x="1437" y="1915"/>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5" name="AutoShape 31"/>
                  <p:cNvSpPr>
                    <a:spLocks noChangeArrowheads="1"/>
                  </p:cNvSpPr>
                  <p:nvPr/>
                </p:nvSpPr>
                <p:spPr bwMode="auto">
                  <a:xfrm>
                    <a:off x="1523" y="1844"/>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37" name="Oval 33"/>
                <p:cNvSpPr>
                  <a:spLocks noChangeArrowheads="1"/>
                </p:cNvSpPr>
                <p:nvPr/>
              </p:nvSpPr>
              <p:spPr bwMode="auto">
                <a:xfrm>
                  <a:off x="1552" y="1880"/>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8" name="AutoShape 34"/>
                <p:cNvSpPr>
                  <a:spLocks noChangeArrowheads="1"/>
                </p:cNvSpPr>
                <p:nvPr/>
              </p:nvSpPr>
              <p:spPr bwMode="auto">
                <a:xfrm>
                  <a:off x="1484" y="2090"/>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40" name="Freeform 36"/>
              <p:cNvSpPr>
                <a:spLocks/>
              </p:cNvSpPr>
              <p:nvPr/>
            </p:nvSpPr>
            <p:spPr bwMode="auto">
              <a:xfrm>
                <a:off x="2001" y="2073"/>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1" name="Rectangle 37"/>
              <p:cNvSpPr>
                <a:spLocks noChangeArrowheads="1"/>
              </p:cNvSpPr>
              <p:nvPr/>
            </p:nvSpPr>
            <p:spPr bwMode="auto">
              <a:xfrm>
                <a:off x="1997" y="2073"/>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2" name="Rectangle 38"/>
              <p:cNvSpPr>
                <a:spLocks noChangeArrowheads="1"/>
              </p:cNvSpPr>
              <p:nvPr/>
            </p:nvSpPr>
            <p:spPr bwMode="auto">
              <a:xfrm>
                <a:off x="2004" y="2154"/>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3" name="Rectangle 39"/>
              <p:cNvSpPr>
                <a:spLocks noChangeArrowheads="1"/>
              </p:cNvSpPr>
              <p:nvPr/>
            </p:nvSpPr>
            <p:spPr bwMode="auto">
              <a:xfrm>
                <a:off x="1821" y="2154"/>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46" name="Group 42"/>
              <p:cNvGrpSpPr>
                <a:grpSpLocks/>
              </p:cNvGrpSpPr>
              <p:nvPr/>
            </p:nvGrpSpPr>
            <p:grpSpPr bwMode="auto">
              <a:xfrm>
                <a:off x="1819" y="1901"/>
                <a:ext cx="194" cy="364"/>
                <a:chOff x="1819" y="1901"/>
                <a:chExt cx="194" cy="364"/>
              </a:xfrm>
            </p:grpSpPr>
            <p:sp>
              <p:nvSpPr>
                <p:cNvPr id="21544" name="Oval 40"/>
                <p:cNvSpPr>
                  <a:spLocks noChangeArrowheads="1"/>
                </p:cNvSpPr>
                <p:nvPr/>
              </p:nvSpPr>
              <p:spPr bwMode="auto">
                <a:xfrm>
                  <a:off x="1895" y="1901"/>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5" name="Freeform 41"/>
                <p:cNvSpPr>
                  <a:spLocks/>
                </p:cNvSpPr>
                <p:nvPr/>
              </p:nvSpPr>
              <p:spPr bwMode="auto">
                <a:xfrm>
                  <a:off x="1819" y="1969"/>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1566" name="Group 62"/>
            <p:cNvGrpSpPr>
              <a:grpSpLocks/>
            </p:cNvGrpSpPr>
            <p:nvPr/>
          </p:nvGrpSpPr>
          <p:grpSpPr bwMode="auto">
            <a:xfrm>
              <a:off x="1536" y="2308"/>
              <a:ext cx="967" cy="448"/>
              <a:chOff x="1536" y="2308"/>
              <a:chExt cx="967" cy="448"/>
            </a:xfrm>
          </p:grpSpPr>
          <p:grpSp>
            <p:nvGrpSpPr>
              <p:cNvPr id="21552" name="Group 48"/>
              <p:cNvGrpSpPr>
                <a:grpSpLocks/>
              </p:cNvGrpSpPr>
              <p:nvPr/>
            </p:nvGrpSpPr>
            <p:grpSpPr bwMode="auto">
              <a:xfrm>
                <a:off x="1536" y="2308"/>
                <a:ext cx="305" cy="448"/>
                <a:chOff x="1536" y="2308"/>
                <a:chExt cx="305" cy="448"/>
              </a:xfrm>
            </p:grpSpPr>
            <p:grpSp>
              <p:nvGrpSpPr>
                <p:cNvPr id="21550" name="Group 46"/>
                <p:cNvGrpSpPr>
                  <a:grpSpLocks/>
                </p:cNvGrpSpPr>
                <p:nvPr/>
              </p:nvGrpSpPr>
              <p:grpSpPr bwMode="auto">
                <a:xfrm>
                  <a:off x="1536" y="2308"/>
                  <a:ext cx="305" cy="448"/>
                  <a:chOff x="1536" y="2308"/>
                  <a:chExt cx="305" cy="448"/>
                </a:xfrm>
              </p:grpSpPr>
              <p:sp>
                <p:nvSpPr>
                  <p:cNvPr id="21548" name="AutoShape 44"/>
                  <p:cNvSpPr>
                    <a:spLocks noChangeArrowheads="1"/>
                  </p:cNvSpPr>
                  <p:nvPr/>
                </p:nvSpPr>
                <p:spPr bwMode="auto">
                  <a:xfrm>
                    <a:off x="1536" y="2379"/>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9" name="AutoShape 45"/>
                  <p:cNvSpPr>
                    <a:spLocks noChangeArrowheads="1"/>
                  </p:cNvSpPr>
                  <p:nvPr/>
                </p:nvSpPr>
                <p:spPr bwMode="auto">
                  <a:xfrm>
                    <a:off x="1606" y="2308"/>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51" name="AutoShape 47"/>
                <p:cNvSpPr>
                  <a:spLocks noChangeArrowheads="1"/>
                </p:cNvSpPr>
                <p:nvPr/>
              </p:nvSpPr>
              <p:spPr bwMode="auto">
                <a:xfrm>
                  <a:off x="1598" y="2412"/>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58" name="Group 54"/>
              <p:cNvGrpSpPr>
                <a:grpSpLocks/>
              </p:cNvGrpSpPr>
              <p:nvPr/>
            </p:nvGrpSpPr>
            <p:grpSpPr bwMode="auto">
              <a:xfrm>
                <a:off x="1837" y="2308"/>
                <a:ext cx="378" cy="448"/>
                <a:chOff x="1837" y="2308"/>
                <a:chExt cx="378" cy="448"/>
              </a:xfrm>
            </p:grpSpPr>
            <p:grpSp>
              <p:nvGrpSpPr>
                <p:cNvPr id="21555" name="Group 51"/>
                <p:cNvGrpSpPr>
                  <a:grpSpLocks/>
                </p:cNvGrpSpPr>
                <p:nvPr/>
              </p:nvGrpSpPr>
              <p:grpSpPr bwMode="auto">
                <a:xfrm>
                  <a:off x="1837" y="2308"/>
                  <a:ext cx="378" cy="448"/>
                  <a:chOff x="1837" y="2308"/>
                  <a:chExt cx="378" cy="448"/>
                </a:xfrm>
              </p:grpSpPr>
              <p:sp>
                <p:nvSpPr>
                  <p:cNvPr id="21553" name="AutoShape 49"/>
                  <p:cNvSpPr>
                    <a:spLocks noChangeArrowheads="1"/>
                  </p:cNvSpPr>
                  <p:nvPr/>
                </p:nvSpPr>
                <p:spPr bwMode="auto">
                  <a:xfrm>
                    <a:off x="1837" y="2379"/>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4" name="AutoShape 50"/>
                  <p:cNvSpPr>
                    <a:spLocks noChangeArrowheads="1"/>
                  </p:cNvSpPr>
                  <p:nvPr/>
                </p:nvSpPr>
                <p:spPr bwMode="auto">
                  <a:xfrm>
                    <a:off x="1923" y="2308"/>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56" name="Oval 52"/>
                <p:cNvSpPr>
                  <a:spLocks noChangeArrowheads="1"/>
                </p:cNvSpPr>
                <p:nvPr/>
              </p:nvSpPr>
              <p:spPr bwMode="auto">
                <a:xfrm>
                  <a:off x="1952" y="2344"/>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7" name="AutoShape 53"/>
                <p:cNvSpPr>
                  <a:spLocks noChangeArrowheads="1"/>
                </p:cNvSpPr>
                <p:nvPr/>
              </p:nvSpPr>
              <p:spPr bwMode="auto">
                <a:xfrm>
                  <a:off x="1884" y="2554"/>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59" name="Freeform 55"/>
              <p:cNvSpPr>
                <a:spLocks/>
              </p:cNvSpPr>
              <p:nvPr/>
            </p:nvSpPr>
            <p:spPr bwMode="auto">
              <a:xfrm>
                <a:off x="2401" y="2537"/>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0" name="Rectangle 56"/>
              <p:cNvSpPr>
                <a:spLocks noChangeArrowheads="1"/>
              </p:cNvSpPr>
              <p:nvPr/>
            </p:nvSpPr>
            <p:spPr bwMode="auto">
              <a:xfrm>
                <a:off x="2397" y="2537"/>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1" name="Rectangle 57"/>
              <p:cNvSpPr>
                <a:spLocks noChangeArrowheads="1"/>
              </p:cNvSpPr>
              <p:nvPr/>
            </p:nvSpPr>
            <p:spPr bwMode="auto">
              <a:xfrm>
                <a:off x="2404" y="2618"/>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2" name="Rectangle 58"/>
              <p:cNvSpPr>
                <a:spLocks noChangeArrowheads="1"/>
              </p:cNvSpPr>
              <p:nvPr/>
            </p:nvSpPr>
            <p:spPr bwMode="auto">
              <a:xfrm>
                <a:off x="2221" y="2618"/>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65" name="Group 61"/>
              <p:cNvGrpSpPr>
                <a:grpSpLocks/>
              </p:cNvGrpSpPr>
              <p:nvPr/>
            </p:nvGrpSpPr>
            <p:grpSpPr bwMode="auto">
              <a:xfrm>
                <a:off x="2219" y="2365"/>
                <a:ext cx="194" cy="364"/>
                <a:chOff x="2219" y="2365"/>
                <a:chExt cx="194" cy="364"/>
              </a:xfrm>
            </p:grpSpPr>
            <p:sp>
              <p:nvSpPr>
                <p:cNvPr id="21563" name="Oval 59"/>
                <p:cNvSpPr>
                  <a:spLocks noChangeArrowheads="1"/>
                </p:cNvSpPr>
                <p:nvPr/>
              </p:nvSpPr>
              <p:spPr bwMode="auto">
                <a:xfrm>
                  <a:off x="2295" y="2365"/>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4" name="Freeform 60"/>
                <p:cNvSpPr>
                  <a:spLocks/>
                </p:cNvSpPr>
                <p:nvPr/>
              </p:nvSpPr>
              <p:spPr bwMode="auto">
                <a:xfrm>
                  <a:off x="2219" y="2433"/>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1585" name="Group 81"/>
            <p:cNvGrpSpPr>
              <a:grpSpLocks/>
            </p:cNvGrpSpPr>
            <p:nvPr/>
          </p:nvGrpSpPr>
          <p:grpSpPr bwMode="auto">
            <a:xfrm>
              <a:off x="1952" y="2796"/>
              <a:ext cx="967" cy="448"/>
              <a:chOff x="1952" y="2796"/>
              <a:chExt cx="967" cy="448"/>
            </a:xfrm>
          </p:grpSpPr>
          <p:grpSp>
            <p:nvGrpSpPr>
              <p:cNvPr id="21571" name="Group 67"/>
              <p:cNvGrpSpPr>
                <a:grpSpLocks/>
              </p:cNvGrpSpPr>
              <p:nvPr/>
            </p:nvGrpSpPr>
            <p:grpSpPr bwMode="auto">
              <a:xfrm>
                <a:off x="1952" y="2796"/>
                <a:ext cx="305" cy="448"/>
                <a:chOff x="1952" y="2796"/>
                <a:chExt cx="305" cy="448"/>
              </a:xfrm>
            </p:grpSpPr>
            <p:grpSp>
              <p:nvGrpSpPr>
                <p:cNvPr id="21569" name="Group 65"/>
                <p:cNvGrpSpPr>
                  <a:grpSpLocks/>
                </p:cNvGrpSpPr>
                <p:nvPr/>
              </p:nvGrpSpPr>
              <p:grpSpPr bwMode="auto">
                <a:xfrm>
                  <a:off x="1952" y="2796"/>
                  <a:ext cx="305" cy="448"/>
                  <a:chOff x="1952" y="2796"/>
                  <a:chExt cx="305" cy="448"/>
                </a:xfrm>
              </p:grpSpPr>
              <p:sp>
                <p:nvSpPr>
                  <p:cNvPr id="21567" name="AutoShape 63"/>
                  <p:cNvSpPr>
                    <a:spLocks noChangeArrowheads="1"/>
                  </p:cNvSpPr>
                  <p:nvPr/>
                </p:nvSpPr>
                <p:spPr bwMode="auto">
                  <a:xfrm>
                    <a:off x="1952" y="2867"/>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8" name="AutoShape 64"/>
                  <p:cNvSpPr>
                    <a:spLocks noChangeArrowheads="1"/>
                  </p:cNvSpPr>
                  <p:nvPr/>
                </p:nvSpPr>
                <p:spPr bwMode="auto">
                  <a:xfrm>
                    <a:off x="2022" y="2796"/>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70" name="AutoShape 66"/>
                <p:cNvSpPr>
                  <a:spLocks noChangeArrowheads="1"/>
                </p:cNvSpPr>
                <p:nvPr/>
              </p:nvSpPr>
              <p:spPr bwMode="auto">
                <a:xfrm>
                  <a:off x="2014" y="2900"/>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77" name="Group 73"/>
              <p:cNvGrpSpPr>
                <a:grpSpLocks/>
              </p:cNvGrpSpPr>
              <p:nvPr/>
            </p:nvGrpSpPr>
            <p:grpSpPr bwMode="auto">
              <a:xfrm>
                <a:off x="2253" y="2796"/>
                <a:ext cx="378" cy="448"/>
                <a:chOff x="2253" y="2796"/>
                <a:chExt cx="378" cy="448"/>
              </a:xfrm>
            </p:grpSpPr>
            <p:grpSp>
              <p:nvGrpSpPr>
                <p:cNvPr id="21574" name="Group 70"/>
                <p:cNvGrpSpPr>
                  <a:grpSpLocks/>
                </p:cNvGrpSpPr>
                <p:nvPr/>
              </p:nvGrpSpPr>
              <p:grpSpPr bwMode="auto">
                <a:xfrm>
                  <a:off x="2253" y="2796"/>
                  <a:ext cx="378" cy="448"/>
                  <a:chOff x="2253" y="2796"/>
                  <a:chExt cx="378" cy="448"/>
                </a:xfrm>
              </p:grpSpPr>
              <p:sp>
                <p:nvSpPr>
                  <p:cNvPr id="21572" name="AutoShape 68"/>
                  <p:cNvSpPr>
                    <a:spLocks noChangeArrowheads="1"/>
                  </p:cNvSpPr>
                  <p:nvPr/>
                </p:nvSpPr>
                <p:spPr bwMode="auto">
                  <a:xfrm>
                    <a:off x="2253" y="2867"/>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3" name="AutoShape 69"/>
                  <p:cNvSpPr>
                    <a:spLocks noChangeArrowheads="1"/>
                  </p:cNvSpPr>
                  <p:nvPr/>
                </p:nvSpPr>
                <p:spPr bwMode="auto">
                  <a:xfrm>
                    <a:off x="2339" y="2796"/>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75" name="Oval 71"/>
                <p:cNvSpPr>
                  <a:spLocks noChangeArrowheads="1"/>
                </p:cNvSpPr>
                <p:nvPr/>
              </p:nvSpPr>
              <p:spPr bwMode="auto">
                <a:xfrm>
                  <a:off x="2368" y="2832"/>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6" name="AutoShape 72"/>
                <p:cNvSpPr>
                  <a:spLocks noChangeArrowheads="1"/>
                </p:cNvSpPr>
                <p:nvPr/>
              </p:nvSpPr>
              <p:spPr bwMode="auto">
                <a:xfrm>
                  <a:off x="2300" y="3042"/>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78" name="Freeform 74"/>
              <p:cNvSpPr>
                <a:spLocks/>
              </p:cNvSpPr>
              <p:nvPr/>
            </p:nvSpPr>
            <p:spPr bwMode="auto">
              <a:xfrm>
                <a:off x="2817" y="3025"/>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79" name="Rectangle 75"/>
              <p:cNvSpPr>
                <a:spLocks noChangeArrowheads="1"/>
              </p:cNvSpPr>
              <p:nvPr/>
            </p:nvSpPr>
            <p:spPr bwMode="auto">
              <a:xfrm>
                <a:off x="2813" y="3025"/>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0" name="Rectangle 76"/>
              <p:cNvSpPr>
                <a:spLocks noChangeArrowheads="1"/>
              </p:cNvSpPr>
              <p:nvPr/>
            </p:nvSpPr>
            <p:spPr bwMode="auto">
              <a:xfrm>
                <a:off x="2820" y="3106"/>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1" name="Rectangle 77"/>
              <p:cNvSpPr>
                <a:spLocks noChangeArrowheads="1"/>
              </p:cNvSpPr>
              <p:nvPr/>
            </p:nvSpPr>
            <p:spPr bwMode="auto">
              <a:xfrm>
                <a:off x="2637" y="3106"/>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84" name="Group 80"/>
              <p:cNvGrpSpPr>
                <a:grpSpLocks/>
              </p:cNvGrpSpPr>
              <p:nvPr/>
            </p:nvGrpSpPr>
            <p:grpSpPr bwMode="auto">
              <a:xfrm>
                <a:off x="2635" y="2853"/>
                <a:ext cx="194" cy="364"/>
                <a:chOff x="2635" y="2853"/>
                <a:chExt cx="194" cy="364"/>
              </a:xfrm>
            </p:grpSpPr>
            <p:sp>
              <p:nvSpPr>
                <p:cNvPr id="21582" name="Oval 78"/>
                <p:cNvSpPr>
                  <a:spLocks noChangeArrowheads="1"/>
                </p:cNvSpPr>
                <p:nvPr/>
              </p:nvSpPr>
              <p:spPr bwMode="auto">
                <a:xfrm>
                  <a:off x="2711" y="2853"/>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3" name="Freeform 79"/>
                <p:cNvSpPr>
                  <a:spLocks/>
                </p:cNvSpPr>
                <p:nvPr/>
              </p:nvSpPr>
              <p:spPr bwMode="auto">
                <a:xfrm>
                  <a:off x="2635" y="2921"/>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1604" name="Group 100"/>
            <p:cNvGrpSpPr>
              <a:grpSpLocks/>
            </p:cNvGrpSpPr>
            <p:nvPr/>
          </p:nvGrpSpPr>
          <p:grpSpPr bwMode="auto">
            <a:xfrm>
              <a:off x="2368" y="3244"/>
              <a:ext cx="967" cy="448"/>
              <a:chOff x="2368" y="3244"/>
              <a:chExt cx="967" cy="448"/>
            </a:xfrm>
          </p:grpSpPr>
          <p:grpSp>
            <p:nvGrpSpPr>
              <p:cNvPr id="21590" name="Group 86"/>
              <p:cNvGrpSpPr>
                <a:grpSpLocks/>
              </p:cNvGrpSpPr>
              <p:nvPr/>
            </p:nvGrpSpPr>
            <p:grpSpPr bwMode="auto">
              <a:xfrm>
                <a:off x="2368" y="3244"/>
                <a:ext cx="305" cy="448"/>
                <a:chOff x="2368" y="3244"/>
                <a:chExt cx="305" cy="448"/>
              </a:xfrm>
            </p:grpSpPr>
            <p:grpSp>
              <p:nvGrpSpPr>
                <p:cNvPr id="21588" name="Group 84"/>
                <p:cNvGrpSpPr>
                  <a:grpSpLocks/>
                </p:cNvGrpSpPr>
                <p:nvPr/>
              </p:nvGrpSpPr>
              <p:grpSpPr bwMode="auto">
                <a:xfrm>
                  <a:off x="2368" y="3244"/>
                  <a:ext cx="305" cy="448"/>
                  <a:chOff x="2368" y="3244"/>
                  <a:chExt cx="305" cy="448"/>
                </a:xfrm>
              </p:grpSpPr>
              <p:sp>
                <p:nvSpPr>
                  <p:cNvPr id="21586" name="AutoShape 82"/>
                  <p:cNvSpPr>
                    <a:spLocks noChangeArrowheads="1"/>
                  </p:cNvSpPr>
                  <p:nvPr/>
                </p:nvSpPr>
                <p:spPr bwMode="auto">
                  <a:xfrm>
                    <a:off x="2368" y="3315"/>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7" name="AutoShape 83"/>
                  <p:cNvSpPr>
                    <a:spLocks noChangeArrowheads="1"/>
                  </p:cNvSpPr>
                  <p:nvPr/>
                </p:nvSpPr>
                <p:spPr bwMode="auto">
                  <a:xfrm>
                    <a:off x="2438" y="3244"/>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89" name="AutoShape 85"/>
                <p:cNvSpPr>
                  <a:spLocks noChangeArrowheads="1"/>
                </p:cNvSpPr>
                <p:nvPr/>
              </p:nvSpPr>
              <p:spPr bwMode="auto">
                <a:xfrm>
                  <a:off x="2430" y="3348"/>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96" name="Group 92"/>
              <p:cNvGrpSpPr>
                <a:grpSpLocks/>
              </p:cNvGrpSpPr>
              <p:nvPr/>
            </p:nvGrpSpPr>
            <p:grpSpPr bwMode="auto">
              <a:xfrm>
                <a:off x="2669" y="3244"/>
                <a:ext cx="378" cy="448"/>
                <a:chOff x="2669" y="3244"/>
                <a:chExt cx="378" cy="448"/>
              </a:xfrm>
            </p:grpSpPr>
            <p:grpSp>
              <p:nvGrpSpPr>
                <p:cNvPr id="21593" name="Group 89"/>
                <p:cNvGrpSpPr>
                  <a:grpSpLocks/>
                </p:cNvGrpSpPr>
                <p:nvPr/>
              </p:nvGrpSpPr>
              <p:grpSpPr bwMode="auto">
                <a:xfrm>
                  <a:off x="2669" y="3244"/>
                  <a:ext cx="378" cy="448"/>
                  <a:chOff x="2669" y="3244"/>
                  <a:chExt cx="378" cy="448"/>
                </a:xfrm>
              </p:grpSpPr>
              <p:sp>
                <p:nvSpPr>
                  <p:cNvPr id="21591" name="AutoShape 87"/>
                  <p:cNvSpPr>
                    <a:spLocks noChangeArrowheads="1"/>
                  </p:cNvSpPr>
                  <p:nvPr/>
                </p:nvSpPr>
                <p:spPr bwMode="auto">
                  <a:xfrm>
                    <a:off x="2669" y="3315"/>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2" name="AutoShape 88"/>
                  <p:cNvSpPr>
                    <a:spLocks noChangeArrowheads="1"/>
                  </p:cNvSpPr>
                  <p:nvPr/>
                </p:nvSpPr>
                <p:spPr bwMode="auto">
                  <a:xfrm>
                    <a:off x="2755" y="3244"/>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94" name="Oval 90"/>
                <p:cNvSpPr>
                  <a:spLocks noChangeArrowheads="1"/>
                </p:cNvSpPr>
                <p:nvPr/>
              </p:nvSpPr>
              <p:spPr bwMode="auto">
                <a:xfrm>
                  <a:off x="2784" y="3280"/>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5" name="AutoShape 91"/>
                <p:cNvSpPr>
                  <a:spLocks noChangeArrowheads="1"/>
                </p:cNvSpPr>
                <p:nvPr/>
              </p:nvSpPr>
              <p:spPr bwMode="auto">
                <a:xfrm>
                  <a:off x="2716" y="3490"/>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97" name="Freeform 93"/>
              <p:cNvSpPr>
                <a:spLocks/>
              </p:cNvSpPr>
              <p:nvPr/>
            </p:nvSpPr>
            <p:spPr bwMode="auto">
              <a:xfrm>
                <a:off x="3233" y="3473"/>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98" name="Rectangle 94"/>
              <p:cNvSpPr>
                <a:spLocks noChangeArrowheads="1"/>
              </p:cNvSpPr>
              <p:nvPr/>
            </p:nvSpPr>
            <p:spPr bwMode="auto">
              <a:xfrm>
                <a:off x="3229" y="3473"/>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9" name="Rectangle 95"/>
              <p:cNvSpPr>
                <a:spLocks noChangeArrowheads="1"/>
              </p:cNvSpPr>
              <p:nvPr/>
            </p:nvSpPr>
            <p:spPr bwMode="auto">
              <a:xfrm>
                <a:off x="3236" y="3554"/>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0" name="Rectangle 96"/>
              <p:cNvSpPr>
                <a:spLocks noChangeArrowheads="1"/>
              </p:cNvSpPr>
              <p:nvPr/>
            </p:nvSpPr>
            <p:spPr bwMode="auto">
              <a:xfrm>
                <a:off x="3053" y="3554"/>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603" name="Group 99"/>
              <p:cNvGrpSpPr>
                <a:grpSpLocks/>
              </p:cNvGrpSpPr>
              <p:nvPr/>
            </p:nvGrpSpPr>
            <p:grpSpPr bwMode="auto">
              <a:xfrm>
                <a:off x="3051" y="3301"/>
                <a:ext cx="194" cy="364"/>
                <a:chOff x="3051" y="3301"/>
                <a:chExt cx="194" cy="364"/>
              </a:xfrm>
            </p:grpSpPr>
            <p:sp>
              <p:nvSpPr>
                <p:cNvPr id="21601" name="Oval 97"/>
                <p:cNvSpPr>
                  <a:spLocks noChangeArrowheads="1"/>
                </p:cNvSpPr>
                <p:nvPr/>
              </p:nvSpPr>
              <p:spPr bwMode="auto">
                <a:xfrm>
                  <a:off x="3127" y="3301"/>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2" name="Freeform 98"/>
                <p:cNvSpPr>
                  <a:spLocks/>
                </p:cNvSpPr>
                <p:nvPr/>
              </p:nvSpPr>
              <p:spPr bwMode="auto">
                <a:xfrm>
                  <a:off x="3051" y="3369"/>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21606" name="Rectangle 102"/>
          <p:cNvSpPr>
            <a:spLocks noChangeArrowheads="1"/>
          </p:cNvSpPr>
          <p:nvPr/>
        </p:nvSpPr>
        <p:spPr bwMode="auto">
          <a:xfrm>
            <a:off x="1958812" y="2911476"/>
            <a:ext cx="362280" cy="28597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b="0" i="1"/>
              <a:t>T</a:t>
            </a:r>
          </a:p>
          <a:p>
            <a:pPr algn="ctr"/>
            <a:r>
              <a:rPr lang="en-US" altLang="zh-CN" b="0" i="1"/>
              <a:t>a</a:t>
            </a:r>
          </a:p>
          <a:p>
            <a:pPr algn="ctr"/>
            <a:r>
              <a:rPr lang="en-US" altLang="zh-CN" b="0" i="1"/>
              <a:t>s</a:t>
            </a:r>
          </a:p>
          <a:p>
            <a:pPr algn="ctr"/>
            <a:r>
              <a:rPr lang="en-US" altLang="zh-CN" b="0" i="1"/>
              <a:t>k</a:t>
            </a:r>
          </a:p>
          <a:p>
            <a:pPr algn="ctr"/>
            <a:endParaRPr lang="en-US" altLang="zh-CN" b="0" i="1"/>
          </a:p>
          <a:p>
            <a:pPr algn="ctr"/>
            <a:r>
              <a:rPr lang="en-US" altLang="zh-CN" b="0" i="1"/>
              <a:t>O</a:t>
            </a:r>
          </a:p>
          <a:p>
            <a:pPr algn="ctr"/>
            <a:r>
              <a:rPr lang="en-US" altLang="zh-CN" b="0" i="1"/>
              <a:t>r</a:t>
            </a:r>
          </a:p>
          <a:p>
            <a:pPr algn="ctr"/>
            <a:r>
              <a:rPr lang="en-US" altLang="zh-CN" b="0" i="1"/>
              <a:t>d</a:t>
            </a:r>
          </a:p>
          <a:p>
            <a:pPr algn="ctr"/>
            <a:r>
              <a:rPr lang="en-US" altLang="zh-CN" b="0" i="1"/>
              <a:t>e</a:t>
            </a:r>
          </a:p>
          <a:p>
            <a:pPr algn="ctr"/>
            <a:r>
              <a:rPr lang="en-US" altLang="zh-CN" b="0" i="1"/>
              <a:t>r</a:t>
            </a:r>
          </a:p>
        </p:txBody>
      </p:sp>
      <p:sp>
        <p:nvSpPr>
          <p:cNvPr id="21607" name="Line 103"/>
          <p:cNvSpPr>
            <a:spLocks noChangeShapeType="1"/>
          </p:cNvSpPr>
          <p:nvPr/>
        </p:nvSpPr>
        <p:spPr bwMode="auto">
          <a:xfrm>
            <a:off x="2444750" y="2762250"/>
            <a:ext cx="0" cy="3035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8" name="Rectangle 104"/>
          <p:cNvSpPr>
            <a:spLocks noChangeArrowheads="1"/>
          </p:cNvSpPr>
          <p:nvPr/>
        </p:nvSpPr>
        <p:spPr bwMode="auto">
          <a:xfrm>
            <a:off x="5935664" y="1984375"/>
            <a:ext cx="6889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0" i="1"/>
              <a:t>Time</a:t>
            </a:r>
          </a:p>
        </p:txBody>
      </p:sp>
      <p:grpSp>
        <p:nvGrpSpPr>
          <p:cNvPr id="21636" name="Group 132"/>
          <p:cNvGrpSpPr>
            <a:grpSpLocks/>
          </p:cNvGrpSpPr>
          <p:nvPr/>
        </p:nvGrpSpPr>
        <p:grpSpPr bwMode="auto">
          <a:xfrm>
            <a:off x="3284539" y="2355853"/>
            <a:ext cx="3573463" cy="641351"/>
            <a:chOff x="1109" y="1484"/>
            <a:chExt cx="2251" cy="404"/>
          </a:xfrm>
        </p:grpSpPr>
        <p:sp>
          <p:nvSpPr>
            <p:cNvPr id="21609" name="Rectangle 105"/>
            <p:cNvSpPr>
              <a:spLocks noChangeArrowheads="1"/>
            </p:cNvSpPr>
            <p:nvPr/>
          </p:nvSpPr>
          <p:spPr bwMode="auto">
            <a:xfrm>
              <a:off x="1109" y="1599"/>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30</a:t>
              </a:r>
            </a:p>
          </p:txBody>
        </p:sp>
        <p:sp>
          <p:nvSpPr>
            <p:cNvPr id="21610" name="Line 106"/>
            <p:cNvSpPr>
              <a:spLocks noChangeShapeType="1"/>
            </p:cNvSpPr>
            <p:nvPr/>
          </p:nvSpPr>
          <p:spPr bwMode="auto">
            <a:xfrm>
              <a:off x="1124" y="1560"/>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11" name="Line 107"/>
            <p:cNvSpPr>
              <a:spLocks noChangeShapeType="1"/>
            </p:cNvSpPr>
            <p:nvPr/>
          </p:nvSpPr>
          <p:spPr bwMode="auto">
            <a:xfrm>
              <a:off x="1444" y="148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615" name="Group 111"/>
            <p:cNvGrpSpPr>
              <a:grpSpLocks/>
            </p:cNvGrpSpPr>
            <p:nvPr/>
          </p:nvGrpSpPr>
          <p:grpSpPr bwMode="auto">
            <a:xfrm>
              <a:off x="1460" y="1484"/>
              <a:ext cx="384" cy="404"/>
              <a:chOff x="1460" y="1484"/>
              <a:chExt cx="384" cy="404"/>
            </a:xfrm>
          </p:grpSpPr>
          <p:sp>
            <p:nvSpPr>
              <p:cNvPr id="21612" name="Line 108"/>
              <p:cNvSpPr>
                <a:spLocks noChangeShapeType="1"/>
              </p:cNvSpPr>
              <p:nvPr/>
            </p:nvSpPr>
            <p:spPr bwMode="auto">
              <a:xfrm>
                <a:off x="1460" y="1592"/>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13" name="Rectangle 109"/>
              <p:cNvSpPr>
                <a:spLocks noChangeArrowheads="1"/>
              </p:cNvSpPr>
              <p:nvPr/>
            </p:nvSpPr>
            <p:spPr bwMode="auto">
              <a:xfrm>
                <a:off x="1477" y="1599"/>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1614" name="Line 110"/>
              <p:cNvSpPr>
                <a:spLocks noChangeShapeType="1"/>
              </p:cNvSpPr>
              <p:nvPr/>
            </p:nvSpPr>
            <p:spPr bwMode="auto">
              <a:xfrm>
                <a:off x="1844" y="148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619" name="Group 115"/>
            <p:cNvGrpSpPr>
              <a:grpSpLocks/>
            </p:cNvGrpSpPr>
            <p:nvPr/>
          </p:nvGrpSpPr>
          <p:grpSpPr bwMode="auto">
            <a:xfrm>
              <a:off x="1868" y="1484"/>
              <a:ext cx="384" cy="404"/>
              <a:chOff x="1868" y="1484"/>
              <a:chExt cx="384" cy="404"/>
            </a:xfrm>
          </p:grpSpPr>
          <p:sp>
            <p:nvSpPr>
              <p:cNvPr id="21616" name="Line 112"/>
              <p:cNvSpPr>
                <a:spLocks noChangeShapeType="1"/>
              </p:cNvSpPr>
              <p:nvPr/>
            </p:nvSpPr>
            <p:spPr bwMode="auto">
              <a:xfrm>
                <a:off x="1868" y="1592"/>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17" name="Rectangle 113"/>
              <p:cNvSpPr>
                <a:spLocks noChangeArrowheads="1"/>
              </p:cNvSpPr>
              <p:nvPr/>
            </p:nvSpPr>
            <p:spPr bwMode="auto">
              <a:xfrm>
                <a:off x="1885" y="1599"/>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1618" name="Line 114"/>
              <p:cNvSpPr>
                <a:spLocks noChangeShapeType="1"/>
              </p:cNvSpPr>
              <p:nvPr/>
            </p:nvSpPr>
            <p:spPr bwMode="auto">
              <a:xfrm>
                <a:off x="2252" y="148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623" name="Group 119"/>
            <p:cNvGrpSpPr>
              <a:grpSpLocks/>
            </p:cNvGrpSpPr>
            <p:nvPr/>
          </p:nvGrpSpPr>
          <p:grpSpPr bwMode="auto">
            <a:xfrm>
              <a:off x="2276" y="1484"/>
              <a:ext cx="384" cy="404"/>
              <a:chOff x="2276" y="1484"/>
              <a:chExt cx="384" cy="404"/>
            </a:xfrm>
          </p:grpSpPr>
          <p:sp>
            <p:nvSpPr>
              <p:cNvPr id="21620" name="Line 116"/>
              <p:cNvSpPr>
                <a:spLocks noChangeShapeType="1"/>
              </p:cNvSpPr>
              <p:nvPr/>
            </p:nvSpPr>
            <p:spPr bwMode="auto">
              <a:xfrm>
                <a:off x="2276" y="1592"/>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21" name="Rectangle 117"/>
              <p:cNvSpPr>
                <a:spLocks noChangeArrowheads="1"/>
              </p:cNvSpPr>
              <p:nvPr/>
            </p:nvSpPr>
            <p:spPr bwMode="auto">
              <a:xfrm>
                <a:off x="2293" y="1599"/>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1622" name="Line 118"/>
              <p:cNvSpPr>
                <a:spLocks noChangeShapeType="1"/>
              </p:cNvSpPr>
              <p:nvPr/>
            </p:nvSpPr>
            <p:spPr bwMode="auto">
              <a:xfrm>
                <a:off x="2660" y="148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624" name="Line 120"/>
            <p:cNvSpPr>
              <a:spLocks noChangeShapeType="1"/>
            </p:cNvSpPr>
            <p:nvPr/>
          </p:nvSpPr>
          <p:spPr bwMode="auto">
            <a:xfrm>
              <a:off x="2684" y="1592"/>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25" name="Line 121"/>
            <p:cNvSpPr>
              <a:spLocks noChangeShapeType="1"/>
            </p:cNvSpPr>
            <p:nvPr/>
          </p:nvSpPr>
          <p:spPr bwMode="auto">
            <a:xfrm>
              <a:off x="3084" y="1624"/>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26" name="Rectangle 122"/>
            <p:cNvSpPr>
              <a:spLocks noChangeArrowheads="1"/>
            </p:cNvSpPr>
            <p:nvPr/>
          </p:nvSpPr>
          <p:spPr bwMode="auto">
            <a:xfrm>
              <a:off x="2701" y="1599"/>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1627" name="Rectangle 123"/>
            <p:cNvSpPr>
              <a:spLocks noChangeArrowheads="1"/>
            </p:cNvSpPr>
            <p:nvPr/>
          </p:nvSpPr>
          <p:spPr bwMode="auto">
            <a:xfrm>
              <a:off x="3029" y="1599"/>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20</a:t>
              </a:r>
            </a:p>
          </p:txBody>
        </p:sp>
        <p:sp>
          <p:nvSpPr>
            <p:cNvPr id="21628" name="Line 124"/>
            <p:cNvSpPr>
              <a:spLocks noChangeShapeType="1"/>
            </p:cNvSpPr>
            <p:nvPr/>
          </p:nvSpPr>
          <p:spPr bwMode="auto">
            <a:xfrm>
              <a:off x="3068" y="148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29" name="Line 125"/>
            <p:cNvSpPr>
              <a:spLocks noChangeShapeType="1"/>
            </p:cNvSpPr>
            <p:nvPr/>
          </p:nvSpPr>
          <p:spPr bwMode="auto">
            <a:xfrm>
              <a:off x="3324" y="148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30" name="Line 126"/>
            <p:cNvSpPr>
              <a:spLocks noChangeShapeType="1"/>
            </p:cNvSpPr>
            <p:nvPr/>
          </p:nvSpPr>
          <p:spPr bwMode="auto">
            <a:xfrm>
              <a:off x="1532" y="1560"/>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31" name="Line 127"/>
            <p:cNvSpPr>
              <a:spLocks noChangeShapeType="1"/>
            </p:cNvSpPr>
            <p:nvPr/>
          </p:nvSpPr>
          <p:spPr bwMode="auto">
            <a:xfrm>
              <a:off x="1940" y="1560"/>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32" name="Line 128"/>
            <p:cNvSpPr>
              <a:spLocks noChangeShapeType="1"/>
            </p:cNvSpPr>
            <p:nvPr/>
          </p:nvSpPr>
          <p:spPr bwMode="auto">
            <a:xfrm>
              <a:off x="2348" y="1560"/>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33" name="Line 129"/>
            <p:cNvSpPr>
              <a:spLocks noChangeShapeType="1"/>
            </p:cNvSpPr>
            <p:nvPr/>
          </p:nvSpPr>
          <p:spPr bwMode="auto">
            <a:xfrm>
              <a:off x="1868" y="1624"/>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34" name="Line 130"/>
            <p:cNvSpPr>
              <a:spLocks noChangeShapeType="1"/>
            </p:cNvSpPr>
            <p:nvPr/>
          </p:nvSpPr>
          <p:spPr bwMode="auto">
            <a:xfrm>
              <a:off x="2276" y="1624"/>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35" name="Line 131"/>
            <p:cNvSpPr>
              <a:spLocks noChangeShapeType="1"/>
            </p:cNvSpPr>
            <p:nvPr/>
          </p:nvSpPr>
          <p:spPr bwMode="auto">
            <a:xfrm>
              <a:off x="2684" y="1624"/>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文本框 1"/>
          <p:cNvSpPr txBox="1"/>
          <p:nvPr/>
        </p:nvSpPr>
        <p:spPr>
          <a:xfrm>
            <a:off x="7320136" y="3419475"/>
            <a:ext cx="4205126" cy="830997"/>
          </a:xfrm>
          <a:prstGeom prst="rect">
            <a:avLst/>
          </a:prstGeom>
          <a:noFill/>
        </p:spPr>
        <p:txBody>
          <a:bodyPr wrap="none" rtlCol="0">
            <a:spAutoFit/>
          </a:bodyPr>
          <a:lstStyle/>
          <a:p>
            <a:r>
              <a:rPr lang="zh-CN" altLang="en-US" sz="2400" dirty="0" smtClean="0">
                <a:solidFill>
                  <a:srgbClr val="0000FF"/>
                </a:solidFill>
                <a:latin typeface="微软雅黑" panose="020B0503020204020204" pitchFamily="34" charset="-122"/>
                <a:ea typeface="微软雅黑" panose="020B0503020204020204" pitchFamily="34" charset="-122"/>
              </a:rPr>
              <a:t>并发、时间重叠、同期</a:t>
            </a:r>
            <a:endParaRPr lang="en-US" altLang="zh-CN" sz="2400" dirty="0" smtClean="0">
              <a:solidFill>
                <a:srgbClr val="0000FF"/>
              </a:solidFill>
              <a:latin typeface="微软雅黑" panose="020B0503020204020204" pitchFamily="34" charset="-122"/>
              <a:ea typeface="微软雅黑" panose="020B0503020204020204" pitchFamily="34" charset="-122"/>
            </a:endParaRPr>
          </a:p>
          <a:p>
            <a:r>
              <a:rPr lang="en-US" altLang="zh-CN" sz="2400" dirty="0" smtClean="0">
                <a:solidFill>
                  <a:srgbClr val="0000FF"/>
                </a:solidFill>
                <a:latin typeface="微软雅黑" panose="020B0503020204020204" pitchFamily="34" charset="-122"/>
                <a:ea typeface="微软雅黑" panose="020B0503020204020204" pitchFamily="34" charset="-122"/>
              </a:rPr>
              <a:t>Overlap in time, concurrent</a:t>
            </a:r>
          </a:p>
        </p:txBody>
      </p:sp>
    </p:spTree>
    <p:extLst>
      <p:ext uri="{BB962C8B-B14F-4D97-AF65-F5344CB8AC3E}">
        <p14:creationId xmlns:p14="http://schemas.microsoft.com/office/powerpoint/2010/main" val="241975231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17291" y="258920"/>
            <a:ext cx="981600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Another Laundry</a:t>
            </a:r>
            <a:r>
              <a:rPr lang="zh-CN" altLang="en-US" dirty="0" smtClean="0"/>
              <a:t>：</a:t>
            </a:r>
            <a:r>
              <a:rPr lang="en-US" altLang="zh-CN" dirty="0" smtClean="0"/>
              <a:t>More Investment</a:t>
            </a:r>
            <a:endParaRPr lang="en-US" altLang="zh-CN" dirty="0"/>
          </a:p>
        </p:txBody>
      </p:sp>
      <p:sp>
        <p:nvSpPr>
          <p:cNvPr id="21507" name="Rectangle 3"/>
          <p:cNvSpPr>
            <a:spLocks noGrp="1" noChangeArrowheads="1"/>
          </p:cNvSpPr>
          <p:nvPr>
            <p:ph type="body" idx="1"/>
          </p:nvPr>
        </p:nvSpPr>
        <p:spPr>
          <a:xfrm>
            <a:off x="1695452" y="6115050"/>
            <a:ext cx="8102600" cy="4064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smtClean="0">
                <a:solidFill>
                  <a:srgbClr val="FF0000"/>
                </a:solidFill>
              </a:rPr>
              <a:t>Parallel </a:t>
            </a:r>
            <a:r>
              <a:rPr lang="en-US" altLang="zh-CN" dirty="0">
                <a:solidFill>
                  <a:srgbClr val="FF0000"/>
                </a:solidFill>
              </a:rPr>
              <a:t>laundry takes </a:t>
            </a:r>
            <a:r>
              <a:rPr lang="en-US" altLang="zh-CN" dirty="0" smtClean="0">
                <a:solidFill>
                  <a:srgbClr val="FF0000"/>
                </a:solidFill>
              </a:rPr>
              <a:t>1.5 </a:t>
            </a:r>
            <a:r>
              <a:rPr lang="en-US" altLang="zh-CN" dirty="0">
                <a:solidFill>
                  <a:srgbClr val="FF0000"/>
                </a:solidFill>
              </a:rPr>
              <a:t>hours for 4 loads </a:t>
            </a:r>
          </a:p>
        </p:txBody>
      </p:sp>
      <p:grpSp>
        <p:nvGrpSpPr>
          <p:cNvPr id="21510" name="Group 6"/>
          <p:cNvGrpSpPr>
            <a:grpSpLocks/>
          </p:cNvGrpSpPr>
          <p:nvPr/>
        </p:nvGrpSpPr>
        <p:grpSpPr bwMode="auto">
          <a:xfrm>
            <a:off x="2654300" y="3028954"/>
            <a:ext cx="522288" cy="539751"/>
            <a:chOff x="712" y="1908"/>
            <a:chExt cx="329" cy="340"/>
          </a:xfrm>
        </p:grpSpPr>
        <p:sp>
          <p:nvSpPr>
            <p:cNvPr id="21508" name="Freeform 4"/>
            <p:cNvSpPr>
              <a:spLocks/>
            </p:cNvSpPr>
            <p:nvPr/>
          </p:nvSpPr>
          <p:spPr bwMode="auto">
            <a:xfrm>
              <a:off x="712" y="190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09" name="Rectangle 5"/>
            <p:cNvSpPr>
              <a:spLocks noChangeArrowheads="1"/>
            </p:cNvSpPr>
            <p:nvPr/>
          </p:nvSpPr>
          <p:spPr bwMode="auto">
            <a:xfrm>
              <a:off x="766" y="1959"/>
              <a:ext cx="244"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A</a:t>
              </a:r>
            </a:p>
          </p:txBody>
        </p:sp>
      </p:grpSp>
      <p:grpSp>
        <p:nvGrpSpPr>
          <p:cNvPr id="21513" name="Group 9"/>
          <p:cNvGrpSpPr>
            <a:grpSpLocks/>
          </p:cNvGrpSpPr>
          <p:nvPr/>
        </p:nvGrpSpPr>
        <p:grpSpPr bwMode="auto">
          <a:xfrm>
            <a:off x="2641600" y="3879855"/>
            <a:ext cx="522288" cy="539751"/>
            <a:chOff x="704" y="2444"/>
            <a:chExt cx="329" cy="340"/>
          </a:xfrm>
        </p:grpSpPr>
        <p:sp>
          <p:nvSpPr>
            <p:cNvPr id="21511" name="Freeform 7"/>
            <p:cNvSpPr>
              <a:spLocks/>
            </p:cNvSpPr>
            <p:nvPr/>
          </p:nvSpPr>
          <p:spPr bwMode="auto">
            <a:xfrm>
              <a:off x="704" y="2444"/>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2" name="Rectangle 8"/>
            <p:cNvSpPr>
              <a:spLocks noChangeArrowheads="1"/>
            </p:cNvSpPr>
            <p:nvPr/>
          </p:nvSpPr>
          <p:spPr bwMode="auto">
            <a:xfrm>
              <a:off x="758" y="2495"/>
              <a:ext cx="244"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B</a:t>
              </a:r>
            </a:p>
          </p:txBody>
        </p:sp>
      </p:grpSp>
      <p:grpSp>
        <p:nvGrpSpPr>
          <p:cNvPr id="21516" name="Group 12"/>
          <p:cNvGrpSpPr>
            <a:grpSpLocks/>
          </p:cNvGrpSpPr>
          <p:nvPr/>
        </p:nvGrpSpPr>
        <p:grpSpPr bwMode="auto">
          <a:xfrm>
            <a:off x="2603500" y="4629155"/>
            <a:ext cx="522288" cy="539751"/>
            <a:chOff x="680" y="2916"/>
            <a:chExt cx="329" cy="340"/>
          </a:xfrm>
        </p:grpSpPr>
        <p:sp>
          <p:nvSpPr>
            <p:cNvPr id="21514" name="Freeform 10"/>
            <p:cNvSpPr>
              <a:spLocks/>
            </p:cNvSpPr>
            <p:nvPr/>
          </p:nvSpPr>
          <p:spPr bwMode="auto">
            <a:xfrm>
              <a:off x="680" y="2916"/>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5" name="Rectangle 11"/>
            <p:cNvSpPr>
              <a:spLocks noChangeArrowheads="1"/>
            </p:cNvSpPr>
            <p:nvPr/>
          </p:nvSpPr>
          <p:spPr bwMode="auto">
            <a:xfrm>
              <a:off x="729" y="2967"/>
              <a:ext cx="255"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C</a:t>
              </a:r>
            </a:p>
          </p:txBody>
        </p:sp>
      </p:grpSp>
      <p:grpSp>
        <p:nvGrpSpPr>
          <p:cNvPr id="21519" name="Group 15"/>
          <p:cNvGrpSpPr>
            <a:grpSpLocks/>
          </p:cNvGrpSpPr>
          <p:nvPr/>
        </p:nvGrpSpPr>
        <p:grpSpPr bwMode="auto">
          <a:xfrm>
            <a:off x="2603500" y="5353056"/>
            <a:ext cx="522288" cy="539751"/>
            <a:chOff x="680" y="3372"/>
            <a:chExt cx="329" cy="340"/>
          </a:xfrm>
        </p:grpSpPr>
        <p:sp>
          <p:nvSpPr>
            <p:cNvPr id="21517" name="Freeform 13"/>
            <p:cNvSpPr>
              <a:spLocks/>
            </p:cNvSpPr>
            <p:nvPr/>
          </p:nvSpPr>
          <p:spPr bwMode="auto">
            <a:xfrm>
              <a:off x="680" y="3372"/>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18" name="Rectangle 14"/>
            <p:cNvSpPr>
              <a:spLocks noChangeArrowheads="1"/>
            </p:cNvSpPr>
            <p:nvPr/>
          </p:nvSpPr>
          <p:spPr bwMode="auto">
            <a:xfrm>
              <a:off x="729" y="3423"/>
              <a:ext cx="255"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D</a:t>
              </a:r>
            </a:p>
          </p:txBody>
        </p:sp>
      </p:grpSp>
      <p:sp>
        <p:nvSpPr>
          <p:cNvPr id="21520" name="Rectangle 16"/>
          <p:cNvSpPr>
            <a:spLocks noChangeArrowheads="1"/>
          </p:cNvSpPr>
          <p:nvPr/>
        </p:nvSpPr>
        <p:spPr bwMode="auto">
          <a:xfrm>
            <a:off x="2925764" y="1433513"/>
            <a:ext cx="90088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6 PM</a:t>
            </a:r>
          </a:p>
        </p:txBody>
      </p:sp>
      <p:sp>
        <p:nvSpPr>
          <p:cNvPr id="21521" name="Line 17"/>
          <p:cNvSpPr>
            <a:spLocks noChangeShapeType="1"/>
          </p:cNvSpPr>
          <p:nvPr/>
        </p:nvSpPr>
        <p:spPr bwMode="auto">
          <a:xfrm>
            <a:off x="3289300" y="2019300"/>
            <a:ext cx="63246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2" name="Line 18"/>
          <p:cNvSpPr>
            <a:spLocks noChangeShapeType="1"/>
          </p:cNvSpPr>
          <p:nvPr/>
        </p:nvSpPr>
        <p:spPr bwMode="auto">
          <a:xfrm>
            <a:off x="3282950" y="1885950"/>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23" name="Rectangle 19"/>
          <p:cNvSpPr>
            <a:spLocks noChangeArrowheads="1"/>
          </p:cNvSpPr>
          <p:nvPr/>
        </p:nvSpPr>
        <p:spPr bwMode="auto">
          <a:xfrm>
            <a:off x="4157664" y="1446213"/>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7</a:t>
            </a:r>
          </a:p>
        </p:txBody>
      </p:sp>
      <p:sp>
        <p:nvSpPr>
          <p:cNvPr id="21524" name="Rectangle 20"/>
          <p:cNvSpPr>
            <a:spLocks noChangeArrowheads="1"/>
          </p:cNvSpPr>
          <p:nvPr/>
        </p:nvSpPr>
        <p:spPr bwMode="auto">
          <a:xfrm>
            <a:off x="5224464" y="1446213"/>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8</a:t>
            </a:r>
          </a:p>
        </p:txBody>
      </p:sp>
      <p:sp>
        <p:nvSpPr>
          <p:cNvPr id="21525" name="Rectangle 21"/>
          <p:cNvSpPr>
            <a:spLocks noChangeArrowheads="1"/>
          </p:cNvSpPr>
          <p:nvPr/>
        </p:nvSpPr>
        <p:spPr bwMode="auto">
          <a:xfrm>
            <a:off x="6240464" y="1446213"/>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9</a:t>
            </a:r>
          </a:p>
        </p:txBody>
      </p:sp>
      <p:sp>
        <p:nvSpPr>
          <p:cNvPr id="21526" name="Rectangle 22"/>
          <p:cNvSpPr>
            <a:spLocks noChangeArrowheads="1"/>
          </p:cNvSpPr>
          <p:nvPr/>
        </p:nvSpPr>
        <p:spPr bwMode="auto">
          <a:xfrm>
            <a:off x="7180263" y="1458913"/>
            <a:ext cx="52578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10</a:t>
            </a:r>
          </a:p>
        </p:txBody>
      </p:sp>
      <p:sp>
        <p:nvSpPr>
          <p:cNvPr id="21527" name="Rectangle 23"/>
          <p:cNvSpPr>
            <a:spLocks noChangeArrowheads="1"/>
          </p:cNvSpPr>
          <p:nvPr/>
        </p:nvSpPr>
        <p:spPr bwMode="auto">
          <a:xfrm>
            <a:off x="8272464" y="1446213"/>
            <a:ext cx="50295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11</a:t>
            </a:r>
          </a:p>
        </p:txBody>
      </p:sp>
      <p:sp>
        <p:nvSpPr>
          <p:cNvPr id="21528" name="Rectangle 24"/>
          <p:cNvSpPr>
            <a:spLocks noChangeArrowheads="1"/>
          </p:cNvSpPr>
          <p:nvPr/>
        </p:nvSpPr>
        <p:spPr bwMode="auto">
          <a:xfrm>
            <a:off x="8996987" y="1433513"/>
            <a:ext cx="1348126"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Midnight</a:t>
            </a:r>
          </a:p>
        </p:txBody>
      </p:sp>
      <p:grpSp>
        <p:nvGrpSpPr>
          <p:cNvPr id="21547" name="Group 43"/>
          <p:cNvGrpSpPr>
            <a:grpSpLocks/>
          </p:cNvGrpSpPr>
          <p:nvPr/>
        </p:nvGrpSpPr>
        <p:grpSpPr bwMode="auto">
          <a:xfrm>
            <a:off x="3327401" y="2927350"/>
            <a:ext cx="1535113" cy="711200"/>
            <a:chOff x="1136" y="1844"/>
            <a:chExt cx="967" cy="448"/>
          </a:xfrm>
        </p:grpSpPr>
        <p:grpSp>
          <p:nvGrpSpPr>
            <p:cNvPr id="21533" name="Group 29"/>
            <p:cNvGrpSpPr>
              <a:grpSpLocks/>
            </p:cNvGrpSpPr>
            <p:nvPr/>
          </p:nvGrpSpPr>
          <p:grpSpPr bwMode="auto">
            <a:xfrm>
              <a:off x="1136" y="1844"/>
              <a:ext cx="305" cy="448"/>
              <a:chOff x="1136" y="1844"/>
              <a:chExt cx="305" cy="448"/>
            </a:xfrm>
          </p:grpSpPr>
          <p:grpSp>
            <p:nvGrpSpPr>
              <p:cNvPr id="21531" name="Group 27"/>
              <p:cNvGrpSpPr>
                <a:grpSpLocks/>
              </p:cNvGrpSpPr>
              <p:nvPr/>
            </p:nvGrpSpPr>
            <p:grpSpPr bwMode="auto">
              <a:xfrm>
                <a:off x="1136" y="1844"/>
                <a:ext cx="305" cy="448"/>
                <a:chOff x="1136" y="1844"/>
                <a:chExt cx="305" cy="448"/>
              </a:xfrm>
            </p:grpSpPr>
            <p:sp>
              <p:nvSpPr>
                <p:cNvPr id="21529" name="AutoShape 25"/>
                <p:cNvSpPr>
                  <a:spLocks noChangeArrowheads="1"/>
                </p:cNvSpPr>
                <p:nvPr/>
              </p:nvSpPr>
              <p:spPr bwMode="auto">
                <a:xfrm>
                  <a:off x="1136" y="1915"/>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0" name="AutoShape 26"/>
                <p:cNvSpPr>
                  <a:spLocks noChangeArrowheads="1"/>
                </p:cNvSpPr>
                <p:nvPr/>
              </p:nvSpPr>
              <p:spPr bwMode="auto">
                <a:xfrm>
                  <a:off x="1206" y="1844"/>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32" name="AutoShape 28"/>
              <p:cNvSpPr>
                <a:spLocks noChangeArrowheads="1"/>
              </p:cNvSpPr>
              <p:nvPr/>
            </p:nvSpPr>
            <p:spPr bwMode="auto">
              <a:xfrm>
                <a:off x="1198" y="1948"/>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39" name="Group 35"/>
            <p:cNvGrpSpPr>
              <a:grpSpLocks/>
            </p:cNvGrpSpPr>
            <p:nvPr/>
          </p:nvGrpSpPr>
          <p:grpSpPr bwMode="auto">
            <a:xfrm>
              <a:off x="1437" y="1844"/>
              <a:ext cx="378" cy="448"/>
              <a:chOff x="1437" y="1844"/>
              <a:chExt cx="378" cy="448"/>
            </a:xfrm>
          </p:grpSpPr>
          <p:grpSp>
            <p:nvGrpSpPr>
              <p:cNvPr id="21536" name="Group 32"/>
              <p:cNvGrpSpPr>
                <a:grpSpLocks/>
              </p:cNvGrpSpPr>
              <p:nvPr/>
            </p:nvGrpSpPr>
            <p:grpSpPr bwMode="auto">
              <a:xfrm>
                <a:off x="1437" y="1844"/>
                <a:ext cx="378" cy="448"/>
                <a:chOff x="1437" y="1844"/>
                <a:chExt cx="378" cy="448"/>
              </a:xfrm>
            </p:grpSpPr>
            <p:sp>
              <p:nvSpPr>
                <p:cNvPr id="21534" name="AutoShape 30"/>
                <p:cNvSpPr>
                  <a:spLocks noChangeArrowheads="1"/>
                </p:cNvSpPr>
                <p:nvPr/>
              </p:nvSpPr>
              <p:spPr bwMode="auto">
                <a:xfrm>
                  <a:off x="1437" y="1915"/>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5" name="AutoShape 31"/>
                <p:cNvSpPr>
                  <a:spLocks noChangeArrowheads="1"/>
                </p:cNvSpPr>
                <p:nvPr/>
              </p:nvSpPr>
              <p:spPr bwMode="auto">
                <a:xfrm>
                  <a:off x="1523" y="1844"/>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37" name="Oval 33"/>
              <p:cNvSpPr>
                <a:spLocks noChangeArrowheads="1"/>
              </p:cNvSpPr>
              <p:nvPr/>
            </p:nvSpPr>
            <p:spPr bwMode="auto">
              <a:xfrm>
                <a:off x="1552" y="1880"/>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38" name="AutoShape 34"/>
              <p:cNvSpPr>
                <a:spLocks noChangeArrowheads="1"/>
              </p:cNvSpPr>
              <p:nvPr/>
            </p:nvSpPr>
            <p:spPr bwMode="auto">
              <a:xfrm>
                <a:off x="1484" y="2090"/>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40" name="Freeform 36"/>
            <p:cNvSpPr>
              <a:spLocks/>
            </p:cNvSpPr>
            <p:nvPr/>
          </p:nvSpPr>
          <p:spPr bwMode="auto">
            <a:xfrm>
              <a:off x="2001" y="2073"/>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41" name="Rectangle 37"/>
            <p:cNvSpPr>
              <a:spLocks noChangeArrowheads="1"/>
            </p:cNvSpPr>
            <p:nvPr/>
          </p:nvSpPr>
          <p:spPr bwMode="auto">
            <a:xfrm>
              <a:off x="1997" y="2073"/>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2" name="Rectangle 38"/>
            <p:cNvSpPr>
              <a:spLocks noChangeArrowheads="1"/>
            </p:cNvSpPr>
            <p:nvPr/>
          </p:nvSpPr>
          <p:spPr bwMode="auto">
            <a:xfrm>
              <a:off x="2004" y="2154"/>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3" name="Rectangle 39"/>
            <p:cNvSpPr>
              <a:spLocks noChangeArrowheads="1"/>
            </p:cNvSpPr>
            <p:nvPr/>
          </p:nvSpPr>
          <p:spPr bwMode="auto">
            <a:xfrm>
              <a:off x="1821" y="2154"/>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46" name="Group 42"/>
            <p:cNvGrpSpPr>
              <a:grpSpLocks/>
            </p:cNvGrpSpPr>
            <p:nvPr/>
          </p:nvGrpSpPr>
          <p:grpSpPr bwMode="auto">
            <a:xfrm>
              <a:off x="1819" y="1901"/>
              <a:ext cx="194" cy="364"/>
              <a:chOff x="1819" y="1901"/>
              <a:chExt cx="194" cy="364"/>
            </a:xfrm>
          </p:grpSpPr>
          <p:sp>
            <p:nvSpPr>
              <p:cNvPr id="21544" name="Oval 40"/>
              <p:cNvSpPr>
                <a:spLocks noChangeArrowheads="1"/>
              </p:cNvSpPr>
              <p:nvPr/>
            </p:nvSpPr>
            <p:spPr bwMode="auto">
              <a:xfrm>
                <a:off x="1895" y="1901"/>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5" name="Freeform 41"/>
              <p:cNvSpPr>
                <a:spLocks/>
              </p:cNvSpPr>
              <p:nvPr/>
            </p:nvSpPr>
            <p:spPr bwMode="auto">
              <a:xfrm>
                <a:off x="1819" y="1969"/>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1566" name="Group 62"/>
          <p:cNvGrpSpPr>
            <a:grpSpLocks/>
          </p:cNvGrpSpPr>
          <p:nvPr/>
        </p:nvGrpSpPr>
        <p:grpSpPr bwMode="auto">
          <a:xfrm>
            <a:off x="3278014" y="3663950"/>
            <a:ext cx="1593850" cy="731838"/>
            <a:chOff x="1499" y="2308"/>
            <a:chExt cx="1004" cy="461"/>
          </a:xfrm>
        </p:grpSpPr>
        <p:grpSp>
          <p:nvGrpSpPr>
            <p:cNvPr id="21552" name="Group 48"/>
            <p:cNvGrpSpPr>
              <a:grpSpLocks/>
            </p:cNvGrpSpPr>
            <p:nvPr/>
          </p:nvGrpSpPr>
          <p:grpSpPr bwMode="auto">
            <a:xfrm>
              <a:off x="1499" y="2308"/>
              <a:ext cx="305" cy="461"/>
              <a:chOff x="1499" y="2308"/>
              <a:chExt cx="305" cy="461"/>
            </a:xfrm>
          </p:grpSpPr>
          <p:grpSp>
            <p:nvGrpSpPr>
              <p:cNvPr id="21550" name="Group 46"/>
              <p:cNvGrpSpPr>
                <a:grpSpLocks/>
              </p:cNvGrpSpPr>
              <p:nvPr/>
            </p:nvGrpSpPr>
            <p:grpSpPr bwMode="auto">
              <a:xfrm>
                <a:off x="1499" y="2308"/>
                <a:ext cx="305" cy="461"/>
                <a:chOff x="1499" y="2308"/>
                <a:chExt cx="305" cy="461"/>
              </a:xfrm>
            </p:grpSpPr>
            <p:sp>
              <p:nvSpPr>
                <p:cNvPr id="21548" name="AutoShape 44"/>
                <p:cNvSpPr>
                  <a:spLocks noChangeArrowheads="1"/>
                </p:cNvSpPr>
                <p:nvPr/>
              </p:nvSpPr>
              <p:spPr bwMode="auto">
                <a:xfrm>
                  <a:off x="1499" y="2392"/>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49" name="AutoShape 45"/>
                <p:cNvSpPr>
                  <a:spLocks noChangeArrowheads="1"/>
                </p:cNvSpPr>
                <p:nvPr/>
              </p:nvSpPr>
              <p:spPr bwMode="auto">
                <a:xfrm>
                  <a:off x="1565" y="2308"/>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51" name="AutoShape 47"/>
              <p:cNvSpPr>
                <a:spLocks noChangeArrowheads="1"/>
              </p:cNvSpPr>
              <p:nvPr/>
            </p:nvSpPr>
            <p:spPr bwMode="auto">
              <a:xfrm>
                <a:off x="1598" y="2412"/>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58" name="Group 54"/>
            <p:cNvGrpSpPr>
              <a:grpSpLocks/>
            </p:cNvGrpSpPr>
            <p:nvPr/>
          </p:nvGrpSpPr>
          <p:grpSpPr bwMode="auto">
            <a:xfrm>
              <a:off x="1837" y="2308"/>
              <a:ext cx="378" cy="448"/>
              <a:chOff x="1837" y="2308"/>
              <a:chExt cx="378" cy="448"/>
            </a:xfrm>
          </p:grpSpPr>
          <p:grpSp>
            <p:nvGrpSpPr>
              <p:cNvPr id="21555" name="Group 51"/>
              <p:cNvGrpSpPr>
                <a:grpSpLocks/>
              </p:cNvGrpSpPr>
              <p:nvPr/>
            </p:nvGrpSpPr>
            <p:grpSpPr bwMode="auto">
              <a:xfrm>
                <a:off x="1837" y="2308"/>
                <a:ext cx="378" cy="448"/>
                <a:chOff x="1837" y="2308"/>
                <a:chExt cx="378" cy="448"/>
              </a:xfrm>
            </p:grpSpPr>
            <p:sp>
              <p:nvSpPr>
                <p:cNvPr id="21553" name="AutoShape 49"/>
                <p:cNvSpPr>
                  <a:spLocks noChangeArrowheads="1"/>
                </p:cNvSpPr>
                <p:nvPr/>
              </p:nvSpPr>
              <p:spPr bwMode="auto">
                <a:xfrm>
                  <a:off x="1837" y="2379"/>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4" name="AutoShape 50"/>
                <p:cNvSpPr>
                  <a:spLocks noChangeArrowheads="1"/>
                </p:cNvSpPr>
                <p:nvPr/>
              </p:nvSpPr>
              <p:spPr bwMode="auto">
                <a:xfrm>
                  <a:off x="1923" y="2308"/>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56" name="Oval 52"/>
              <p:cNvSpPr>
                <a:spLocks noChangeArrowheads="1"/>
              </p:cNvSpPr>
              <p:nvPr/>
            </p:nvSpPr>
            <p:spPr bwMode="auto">
              <a:xfrm>
                <a:off x="1952" y="2344"/>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57" name="AutoShape 53"/>
              <p:cNvSpPr>
                <a:spLocks noChangeArrowheads="1"/>
              </p:cNvSpPr>
              <p:nvPr/>
            </p:nvSpPr>
            <p:spPr bwMode="auto">
              <a:xfrm>
                <a:off x="1884" y="2554"/>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59" name="Freeform 55"/>
            <p:cNvSpPr>
              <a:spLocks/>
            </p:cNvSpPr>
            <p:nvPr/>
          </p:nvSpPr>
          <p:spPr bwMode="auto">
            <a:xfrm>
              <a:off x="2401" y="2537"/>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60" name="Rectangle 56"/>
            <p:cNvSpPr>
              <a:spLocks noChangeArrowheads="1"/>
            </p:cNvSpPr>
            <p:nvPr/>
          </p:nvSpPr>
          <p:spPr bwMode="auto">
            <a:xfrm>
              <a:off x="2397" y="2537"/>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1" name="Rectangle 57"/>
            <p:cNvSpPr>
              <a:spLocks noChangeArrowheads="1"/>
            </p:cNvSpPr>
            <p:nvPr/>
          </p:nvSpPr>
          <p:spPr bwMode="auto">
            <a:xfrm>
              <a:off x="2404" y="2618"/>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2" name="Rectangle 58"/>
            <p:cNvSpPr>
              <a:spLocks noChangeArrowheads="1"/>
            </p:cNvSpPr>
            <p:nvPr/>
          </p:nvSpPr>
          <p:spPr bwMode="auto">
            <a:xfrm>
              <a:off x="2221" y="2618"/>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65" name="Group 61"/>
            <p:cNvGrpSpPr>
              <a:grpSpLocks/>
            </p:cNvGrpSpPr>
            <p:nvPr/>
          </p:nvGrpSpPr>
          <p:grpSpPr bwMode="auto">
            <a:xfrm>
              <a:off x="2219" y="2365"/>
              <a:ext cx="194" cy="364"/>
              <a:chOff x="2219" y="2365"/>
              <a:chExt cx="194" cy="364"/>
            </a:xfrm>
          </p:grpSpPr>
          <p:sp>
            <p:nvSpPr>
              <p:cNvPr id="21563" name="Oval 59"/>
              <p:cNvSpPr>
                <a:spLocks noChangeArrowheads="1"/>
              </p:cNvSpPr>
              <p:nvPr/>
            </p:nvSpPr>
            <p:spPr bwMode="auto">
              <a:xfrm>
                <a:off x="2295" y="2365"/>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4" name="Freeform 60"/>
              <p:cNvSpPr>
                <a:spLocks/>
              </p:cNvSpPr>
              <p:nvPr/>
            </p:nvSpPr>
            <p:spPr bwMode="auto">
              <a:xfrm>
                <a:off x="2219" y="2433"/>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1585" name="Group 81"/>
          <p:cNvGrpSpPr>
            <a:grpSpLocks/>
          </p:cNvGrpSpPr>
          <p:nvPr/>
        </p:nvGrpSpPr>
        <p:grpSpPr bwMode="auto">
          <a:xfrm>
            <a:off x="3264743" y="4438650"/>
            <a:ext cx="1535113" cy="711200"/>
            <a:chOff x="1952" y="2796"/>
            <a:chExt cx="967" cy="448"/>
          </a:xfrm>
        </p:grpSpPr>
        <p:grpSp>
          <p:nvGrpSpPr>
            <p:cNvPr id="21571" name="Group 67"/>
            <p:cNvGrpSpPr>
              <a:grpSpLocks/>
            </p:cNvGrpSpPr>
            <p:nvPr/>
          </p:nvGrpSpPr>
          <p:grpSpPr bwMode="auto">
            <a:xfrm>
              <a:off x="1952" y="2796"/>
              <a:ext cx="305" cy="448"/>
              <a:chOff x="1952" y="2796"/>
              <a:chExt cx="305" cy="448"/>
            </a:xfrm>
          </p:grpSpPr>
          <p:grpSp>
            <p:nvGrpSpPr>
              <p:cNvPr id="21569" name="Group 65"/>
              <p:cNvGrpSpPr>
                <a:grpSpLocks/>
              </p:cNvGrpSpPr>
              <p:nvPr/>
            </p:nvGrpSpPr>
            <p:grpSpPr bwMode="auto">
              <a:xfrm>
                <a:off x="1952" y="2796"/>
                <a:ext cx="305" cy="448"/>
                <a:chOff x="1952" y="2796"/>
                <a:chExt cx="305" cy="448"/>
              </a:xfrm>
            </p:grpSpPr>
            <p:sp>
              <p:nvSpPr>
                <p:cNvPr id="21567" name="AutoShape 63"/>
                <p:cNvSpPr>
                  <a:spLocks noChangeArrowheads="1"/>
                </p:cNvSpPr>
                <p:nvPr/>
              </p:nvSpPr>
              <p:spPr bwMode="auto">
                <a:xfrm>
                  <a:off x="1952" y="2867"/>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68" name="AutoShape 64"/>
                <p:cNvSpPr>
                  <a:spLocks noChangeArrowheads="1"/>
                </p:cNvSpPr>
                <p:nvPr/>
              </p:nvSpPr>
              <p:spPr bwMode="auto">
                <a:xfrm>
                  <a:off x="2022" y="2796"/>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70" name="AutoShape 66"/>
              <p:cNvSpPr>
                <a:spLocks noChangeArrowheads="1"/>
              </p:cNvSpPr>
              <p:nvPr/>
            </p:nvSpPr>
            <p:spPr bwMode="auto">
              <a:xfrm>
                <a:off x="2014" y="2900"/>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77" name="Group 73"/>
            <p:cNvGrpSpPr>
              <a:grpSpLocks/>
            </p:cNvGrpSpPr>
            <p:nvPr/>
          </p:nvGrpSpPr>
          <p:grpSpPr bwMode="auto">
            <a:xfrm>
              <a:off x="2253" y="2796"/>
              <a:ext cx="378" cy="448"/>
              <a:chOff x="2253" y="2796"/>
              <a:chExt cx="378" cy="448"/>
            </a:xfrm>
          </p:grpSpPr>
          <p:grpSp>
            <p:nvGrpSpPr>
              <p:cNvPr id="21574" name="Group 70"/>
              <p:cNvGrpSpPr>
                <a:grpSpLocks/>
              </p:cNvGrpSpPr>
              <p:nvPr/>
            </p:nvGrpSpPr>
            <p:grpSpPr bwMode="auto">
              <a:xfrm>
                <a:off x="2253" y="2796"/>
                <a:ext cx="378" cy="448"/>
                <a:chOff x="2253" y="2796"/>
                <a:chExt cx="378" cy="448"/>
              </a:xfrm>
            </p:grpSpPr>
            <p:sp>
              <p:nvSpPr>
                <p:cNvPr id="21572" name="AutoShape 68"/>
                <p:cNvSpPr>
                  <a:spLocks noChangeArrowheads="1"/>
                </p:cNvSpPr>
                <p:nvPr/>
              </p:nvSpPr>
              <p:spPr bwMode="auto">
                <a:xfrm>
                  <a:off x="2253" y="2867"/>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3" name="AutoShape 69"/>
                <p:cNvSpPr>
                  <a:spLocks noChangeArrowheads="1"/>
                </p:cNvSpPr>
                <p:nvPr/>
              </p:nvSpPr>
              <p:spPr bwMode="auto">
                <a:xfrm>
                  <a:off x="2339" y="2796"/>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75" name="Oval 71"/>
              <p:cNvSpPr>
                <a:spLocks noChangeArrowheads="1"/>
              </p:cNvSpPr>
              <p:nvPr/>
            </p:nvSpPr>
            <p:spPr bwMode="auto">
              <a:xfrm>
                <a:off x="2368" y="2832"/>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76" name="AutoShape 72"/>
              <p:cNvSpPr>
                <a:spLocks noChangeArrowheads="1"/>
              </p:cNvSpPr>
              <p:nvPr/>
            </p:nvSpPr>
            <p:spPr bwMode="auto">
              <a:xfrm>
                <a:off x="2300" y="3042"/>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78" name="Freeform 74"/>
            <p:cNvSpPr>
              <a:spLocks/>
            </p:cNvSpPr>
            <p:nvPr/>
          </p:nvSpPr>
          <p:spPr bwMode="auto">
            <a:xfrm>
              <a:off x="2817" y="3025"/>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79" name="Rectangle 75"/>
            <p:cNvSpPr>
              <a:spLocks noChangeArrowheads="1"/>
            </p:cNvSpPr>
            <p:nvPr/>
          </p:nvSpPr>
          <p:spPr bwMode="auto">
            <a:xfrm>
              <a:off x="2813" y="3025"/>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0" name="Rectangle 76"/>
            <p:cNvSpPr>
              <a:spLocks noChangeArrowheads="1"/>
            </p:cNvSpPr>
            <p:nvPr/>
          </p:nvSpPr>
          <p:spPr bwMode="auto">
            <a:xfrm>
              <a:off x="2820" y="3106"/>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1" name="Rectangle 77"/>
            <p:cNvSpPr>
              <a:spLocks noChangeArrowheads="1"/>
            </p:cNvSpPr>
            <p:nvPr/>
          </p:nvSpPr>
          <p:spPr bwMode="auto">
            <a:xfrm>
              <a:off x="2637" y="3106"/>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584" name="Group 80"/>
            <p:cNvGrpSpPr>
              <a:grpSpLocks/>
            </p:cNvGrpSpPr>
            <p:nvPr/>
          </p:nvGrpSpPr>
          <p:grpSpPr bwMode="auto">
            <a:xfrm>
              <a:off x="2635" y="2853"/>
              <a:ext cx="194" cy="364"/>
              <a:chOff x="2635" y="2853"/>
              <a:chExt cx="194" cy="364"/>
            </a:xfrm>
          </p:grpSpPr>
          <p:sp>
            <p:nvSpPr>
              <p:cNvPr id="21582" name="Oval 78"/>
              <p:cNvSpPr>
                <a:spLocks noChangeArrowheads="1"/>
              </p:cNvSpPr>
              <p:nvPr/>
            </p:nvSpPr>
            <p:spPr bwMode="auto">
              <a:xfrm>
                <a:off x="2711" y="2853"/>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3" name="Freeform 79"/>
              <p:cNvSpPr>
                <a:spLocks/>
              </p:cNvSpPr>
              <p:nvPr/>
            </p:nvSpPr>
            <p:spPr bwMode="auto">
              <a:xfrm>
                <a:off x="2635" y="2921"/>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1604" name="Group 100"/>
          <p:cNvGrpSpPr>
            <a:grpSpLocks/>
          </p:cNvGrpSpPr>
          <p:nvPr/>
        </p:nvGrpSpPr>
        <p:grpSpPr bwMode="auto">
          <a:xfrm>
            <a:off x="3287688" y="5149850"/>
            <a:ext cx="1535113" cy="711200"/>
            <a:chOff x="2368" y="3244"/>
            <a:chExt cx="967" cy="448"/>
          </a:xfrm>
        </p:grpSpPr>
        <p:grpSp>
          <p:nvGrpSpPr>
            <p:cNvPr id="21590" name="Group 86"/>
            <p:cNvGrpSpPr>
              <a:grpSpLocks/>
            </p:cNvGrpSpPr>
            <p:nvPr/>
          </p:nvGrpSpPr>
          <p:grpSpPr bwMode="auto">
            <a:xfrm>
              <a:off x="2368" y="3244"/>
              <a:ext cx="305" cy="448"/>
              <a:chOff x="2368" y="3244"/>
              <a:chExt cx="305" cy="448"/>
            </a:xfrm>
          </p:grpSpPr>
          <p:grpSp>
            <p:nvGrpSpPr>
              <p:cNvPr id="21588" name="Group 84"/>
              <p:cNvGrpSpPr>
                <a:grpSpLocks/>
              </p:cNvGrpSpPr>
              <p:nvPr/>
            </p:nvGrpSpPr>
            <p:grpSpPr bwMode="auto">
              <a:xfrm>
                <a:off x="2368" y="3244"/>
                <a:ext cx="305" cy="448"/>
                <a:chOff x="2368" y="3244"/>
                <a:chExt cx="305" cy="448"/>
              </a:xfrm>
            </p:grpSpPr>
            <p:sp>
              <p:nvSpPr>
                <p:cNvPr id="21586" name="AutoShape 82"/>
                <p:cNvSpPr>
                  <a:spLocks noChangeArrowheads="1"/>
                </p:cNvSpPr>
                <p:nvPr/>
              </p:nvSpPr>
              <p:spPr bwMode="auto">
                <a:xfrm>
                  <a:off x="2368" y="3315"/>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87" name="AutoShape 83"/>
                <p:cNvSpPr>
                  <a:spLocks noChangeArrowheads="1"/>
                </p:cNvSpPr>
                <p:nvPr/>
              </p:nvSpPr>
              <p:spPr bwMode="auto">
                <a:xfrm>
                  <a:off x="2438" y="3244"/>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89" name="AutoShape 85"/>
              <p:cNvSpPr>
                <a:spLocks noChangeArrowheads="1"/>
              </p:cNvSpPr>
              <p:nvPr/>
            </p:nvSpPr>
            <p:spPr bwMode="auto">
              <a:xfrm>
                <a:off x="2430" y="3348"/>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1596" name="Group 92"/>
            <p:cNvGrpSpPr>
              <a:grpSpLocks/>
            </p:cNvGrpSpPr>
            <p:nvPr/>
          </p:nvGrpSpPr>
          <p:grpSpPr bwMode="auto">
            <a:xfrm>
              <a:off x="2669" y="3244"/>
              <a:ext cx="378" cy="448"/>
              <a:chOff x="2669" y="3244"/>
              <a:chExt cx="378" cy="448"/>
            </a:xfrm>
          </p:grpSpPr>
          <p:grpSp>
            <p:nvGrpSpPr>
              <p:cNvPr id="21593" name="Group 89"/>
              <p:cNvGrpSpPr>
                <a:grpSpLocks/>
              </p:cNvGrpSpPr>
              <p:nvPr/>
            </p:nvGrpSpPr>
            <p:grpSpPr bwMode="auto">
              <a:xfrm>
                <a:off x="2669" y="3244"/>
                <a:ext cx="378" cy="448"/>
                <a:chOff x="2669" y="3244"/>
                <a:chExt cx="378" cy="448"/>
              </a:xfrm>
            </p:grpSpPr>
            <p:sp>
              <p:nvSpPr>
                <p:cNvPr id="21591" name="AutoShape 87"/>
                <p:cNvSpPr>
                  <a:spLocks noChangeArrowheads="1"/>
                </p:cNvSpPr>
                <p:nvPr/>
              </p:nvSpPr>
              <p:spPr bwMode="auto">
                <a:xfrm>
                  <a:off x="2669" y="3315"/>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2" name="AutoShape 88"/>
                <p:cNvSpPr>
                  <a:spLocks noChangeArrowheads="1"/>
                </p:cNvSpPr>
                <p:nvPr/>
              </p:nvSpPr>
              <p:spPr bwMode="auto">
                <a:xfrm>
                  <a:off x="2755" y="3244"/>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94" name="Oval 90"/>
              <p:cNvSpPr>
                <a:spLocks noChangeArrowheads="1"/>
              </p:cNvSpPr>
              <p:nvPr/>
            </p:nvSpPr>
            <p:spPr bwMode="auto">
              <a:xfrm>
                <a:off x="2784" y="3280"/>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5" name="AutoShape 91"/>
              <p:cNvSpPr>
                <a:spLocks noChangeArrowheads="1"/>
              </p:cNvSpPr>
              <p:nvPr/>
            </p:nvSpPr>
            <p:spPr bwMode="auto">
              <a:xfrm>
                <a:off x="2716" y="3490"/>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597" name="Freeform 93"/>
            <p:cNvSpPr>
              <a:spLocks/>
            </p:cNvSpPr>
            <p:nvPr/>
          </p:nvSpPr>
          <p:spPr bwMode="auto">
            <a:xfrm>
              <a:off x="3233" y="3473"/>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598" name="Rectangle 94"/>
            <p:cNvSpPr>
              <a:spLocks noChangeArrowheads="1"/>
            </p:cNvSpPr>
            <p:nvPr/>
          </p:nvSpPr>
          <p:spPr bwMode="auto">
            <a:xfrm>
              <a:off x="3229" y="3473"/>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599" name="Rectangle 95"/>
            <p:cNvSpPr>
              <a:spLocks noChangeArrowheads="1"/>
            </p:cNvSpPr>
            <p:nvPr/>
          </p:nvSpPr>
          <p:spPr bwMode="auto">
            <a:xfrm>
              <a:off x="3236" y="3554"/>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0" name="Rectangle 96"/>
            <p:cNvSpPr>
              <a:spLocks noChangeArrowheads="1"/>
            </p:cNvSpPr>
            <p:nvPr/>
          </p:nvSpPr>
          <p:spPr bwMode="auto">
            <a:xfrm>
              <a:off x="3053" y="3554"/>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603" name="Group 99"/>
            <p:cNvGrpSpPr>
              <a:grpSpLocks/>
            </p:cNvGrpSpPr>
            <p:nvPr/>
          </p:nvGrpSpPr>
          <p:grpSpPr bwMode="auto">
            <a:xfrm>
              <a:off x="3051" y="3301"/>
              <a:ext cx="194" cy="364"/>
              <a:chOff x="3051" y="3301"/>
              <a:chExt cx="194" cy="364"/>
            </a:xfrm>
          </p:grpSpPr>
          <p:sp>
            <p:nvSpPr>
              <p:cNvPr id="21601" name="Oval 97"/>
              <p:cNvSpPr>
                <a:spLocks noChangeArrowheads="1"/>
              </p:cNvSpPr>
              <p:nvPr/>
            </p:nvSpPr>
            <p:spPr bwMode="auto">
              <a:xfrm>
                <a:off x="3127" y="3301"/>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2" name="Freeform 98"/>
              <p:cNvSpPr>
                <a:spLocks/>
              </p:cNvSpPr>
              <p:nvPr/>
            </p:nvSpPr>
            <p:spPr bwMode="auto">
              <a:xfrm>
                <a:off x="3051" y="3369"/>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21606" name="Rectangle 102"/>
          <p:cNvSpPr>
            <a:spLocks noChangeArrowheads="1"/>
          </p:cNvSpPr>
          <p:nvPr/>
        </p:nvSpPr>
        <p:spPr bwMode="auto">
          <a:xfrm>
            <a:off x="1958812" y="2911476"/>
            <a:ext cx="362280" cy="28597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b="0" i="1"/>
              <a:t>T</a:t>
            </a:r>
          </a:p>
          <a:p>
            <a:pPr algn="ctr"/>
            <a:r>
              <a:rPr lang="en-US" altLang="zh-CN" b="0" i="1"/>
              <a:t>a</a:t>
            </a:r>
          </a:p>
          <a:p>
            <a:pPr algn="ctr"/>
            <a:r>
              <a:rPr lang="en-US" altLang="zh-CN" b="0" i="1"/>
              <a:t>s</a:t>
            </a:r>
          </a:p>
          <a:p>
            <a:pPr algn="ctr"/>
            <a:r>
              <a:rPr lang="en-US" altLang="zh-CN" b="0" i="1"/>
              <a:t>k</a:t>
            </a:r>
          </a:p>
          <a:p>
            <a:pPr algn="ctr"/>
            <a:endParaRPr lang="en-US" altLang="zh-CN" b="0" i="1"/>
          </a:p>
          <a:p>
            <a:pPr algn="ctr"/>
            <a:r>
              <a:rPr lang="en-US" altLang="zh-CN" b="0" i="1"/>
              <a:t>O</a:t>
            </a:r>
          </a:p>
          <a:p>
            <a:pPr algn="ctr"/>
            <a:r>
              <a:rPr lang="en-US" altLang="zh-CN" b="0" i="1"/>
              <a:t>r</a:t>
            </a:r>
          </a:p>
          <a:p>
            <a:pPr algn="ctr"/>
            <a:r>
              <a:rPr lang="en-US" altLang="zh-CN" b="0" i="1"/>
              <a:t>d</a:t>
            </a:r>
          </a:p>
          <a:p>
            <a:pPr algn="ctr"/>
            <a:r>
              <a:rPr lang="en-US" altLang="zh-CN" b="0" i="1"/>
              <a:t>e</a:t>
            </a:r>
          </a:p>
          <a:p>
            <a:pPr algn="ctr"/>
            <a:r>
              <a:rPr lang="en-US" altLang="zh-CN" b="0" i="1"/>
              <a:t>r</a:t>
            </a:r>
          </a:p>
        </p:txBody>
      </p:sp>
      <p:sp>
        <p:nvSpPr>
          <p:cNvPr id="21607" name="Line 103"/>
          <p:cNvSpPr>
            <a:spLocks noChangeShapeType="1"/>
          </p:cNvSpPr>
          <p:nvPr/>
        </p:nvSpPr>
        <p:spPr bwMode="auto">
          <a:xfrm>
            <a:off x="2444750" y="2762250"/>
            <a:ext cx="0" cy="3035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08" name="Rectangle 104"/>
          <p:cNvSpPr>
            <a:spLocks noChangeArrowheads="1"/>
          </p:cNvSpPr>
          <p:nvPr/>
        </p:nvSpPr>
        <p:spPr bwMode="auto">
          <a:xfrm>
            <a:off x="5935664" y="1984375"/>
            <a:ext cx="6889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0" i="1"/>
              <a:t>Time</a:t>
            </a:r>
          </a:p>
        </p:txBody>
      </p:sp>
      <p:sp>
        <p:nvSpPr>
          <p:cNvPr id="21609" name="Rectangle 105"/>
          <p:cNvSpPr>
            <a:spLocks noChangeArrowheads="1"/>
          </p:cNvSpPr>
          <p:nvPr/>
        </p:nvSpPr>
        <p:spPr bwMode="auto">
          <a:xfrm>
            <a:off x="3284539" y="2492896"/>
            <a:ext cx="525463" cy="4587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dirty="0"/>
              <a:t>30</a:t>
            </a:r>
          </a:p>
        </p:txBody>
      </p:sp>
      <p:sp>
        <p:nvSpPr>
          <p:cNvPr id="21610" name="Line 106"/>
          <p:cNvSpPr>
            <a:spLocks noChangeShapeType="1"/>
          </p:cNvSpPr>
          <p:nvPr/>
        </p:nvSpPr>
        <p:spPr bwMode="auto">
          <a:xfrm>
            <a:off x="3308352" y="2476503"/>
            <a:ext cx="457200"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11" name="Line 107"/>
          <p:cNvSpPr>
            <a:spLocks noChangeShapeType="1"/>
          </p:cNvSpPr>
          <p:nvPr/>
        </p:nvSpPr>
        <p:spPr bwMode="auto">
          <a:xfrm>
            <a:off x="3816352" y="2355853"/>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1615" name="Group 111"/>
          <p:cNvGrpSpPr>
            <a:grpSpLocks/>
          </p:cNvGrpSpPr>
          <p:nvPr/>
        </p:nvGrpSpPr>
        <p:grpSpPr bwMode="auto">
          <a:xfrm>
            <a:off x="3841752" y="2355851"/>
            <a:ext cx="609600" cy="595313"/>
            <a:chOff x="1460" y="1484"/>
            <a:chExt cx="384" cy="375"/>
          </a:xfrm>
        </p:grpSpPr>
        <p:sp>
          <p:nvSpPr>
            <p:cNvPr id="21612" name="Line 108"/>
            <p:cNvSpPr>
              <a:spLocks noChangeShapeType="1"/>
            </p:cNvSpPr>
            <p:nvPr/>
          </p:nvSpPr>
          <p:spPr bwMode="auto">
            <a:xfrm>
              <a:off x="1460" y="1592"/>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13" name="Rectangle 109"/>
            <p:cNvSpPr>
              <a:spLocks noChangeArrowheads="1"/>
            </p:cNvSpPr>
            <p:nvPr/>
          </p:nvSpPr>
          <p:spPr bwMode="auto">
            <a:xfrm>
              <a:off x="1477" y="1570"/>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dirty="0"/>
                <a:t>40</a:t>
              </a:r>
            </a:p>
          </p:txBody>
        </p:sp>
        <p:sp>
          <p:nvSpPr>
            <p:cNvPr id="21614" name="Line 110"/>
            <p:cNvSpPr>
              <a:spLocks noChangeShapeType="1"/>
            </p:cNvSpPr>
            <p:nvPr/>
          </p:nvSpPr>
          <p:spPr bwMode="auto">
            <a:xfrm>
              <a:off x="1844" y="1484"/>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1625" name="Line 121"/>
          <p:cNvSpPr>
            <a:spLocks noChangeShapeType="1"/>
          </p:cNvSpPr>
          <p:nvPr/>
        </p:nvSpPr>
        <p:spPr bwMode="auto">
          <a:xfrm>
            <a:off x="4549776" y="2492896"/>
            <a:ext cx="342900"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27" name="Rectangle 123"/>
          <p:cNvSpPr>
            <a:spLocks noChangeArrowheads="1"/>
          </p:cNvSpPr>
          <p:nvPr/>
        </p:nvSpPr>
        <p:spPr bwMode="auto">
          <a:xfrm>
            <a:off x="4462463" y="2514600"/>
            <a:ext cx="525463" cy="4587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20</a:t>
            </a:r>
          </a:p>
        </p:txBody>
      </p:sp>
      <p:sp>
        <p:nvSpPr>
          <p:cNvPr id="21629" name="Line 125"/>
          <p:cNvSpPr>
            <a:spLocks noChangeShapeType="1"/>
          </p:cNvSpPr>
          <p:nvPr/>
        </p:nvSpPr>
        <p:spPr bwMode="auto">
          <a:xfrm>
            <a:off x="4930776" y="2332037"/>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630" name="Line 126"/>
          <p:cNvSpPr>
            <a:spLocks noChangeShapeType="1"/>
          </p:cNvSpPr>
          <p:nvPr/>
        </p:nvSpPr>
        <p:spPr bwMode="auto">
          <a:xfrm>
            <a:off x="3956052" y="2476503"/>
            <a:ext cx="457200"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文本框 1"/>
          <p:cNvSpPr txBox="1"/>
          <p:nvPr/>
        </p:nvSpPr>
        <p:spPr>
          <a:xfrm>
            <a:off x="7706049" y="3347769"/>
            <a:ext cx="3570208" cy="1200329"/>
          </a:xfrm>
          <a:prstGeom prst="rect">
            <a:avLst/>
          </a:prstGeom>
          <a:noFill/>
        </p:spPr>
        <p:txBody>
          <a:bodyPr wrap="none" rtlCol="0">
            <a:spAutoFit/>
          </a:bodyPr>
          <a:lstStyle/>
          <a:p>
            <a:r>
              <a:rPr lang="zh-CN" altLang="en-US" sz="2400" dirty="0" smtClean="0">
                <a:solidFill>
                  <a:srgbClr val="0000FF"/>
                </a:solidFill>
                <a:latin typeface="微软雅黑" panose="020B0503020204020204" pitchFamily="34" charset="-122"/>
                <a:ea typeface="微软雅黑" panose="020B0503020204020204" pitchFamily="34" charset="-122"/>
              </a:rPr>
              <a:t>真并行</a:t>
            </a:r>
            <a:r>
              <a:rPr lang="zh-CN" altLang="en-US" sz="2400" dirty="0">
                <a:solidFill>
                  <a:srgbClr val="0000FF"/>
                </a:solidFill>
                <a:latin typeface="微软雅黑" panose="020B0503020204020204" pitchFamily="34" charset="-122"/>
                <a:ea typeface="微软雅黑" panose="020B0503020204020204" pitchFamily="34" charset="-122"/>
              </a:rPr>
              <a:t>、</a:t>
            </a:r>
            <a:r>
              <a:rPr lang="zh-CN" altLang="en-US" sz="2400" dirty="0" smtClean="0">
                <a:solidFill>
                  <a:srgbClr val="0000FF"/>
                </a:solidFill>
                <a:latin typeface="微软雅黑" panose="020B0503020204020204" pitchFamily="34" charset="-122"/>
                <a:ea typeface="微软雅黑" panose="020B0503020204020204" pitchFamily="34" charset="-122"/>
              </a:rPr>
              <a:t>空间重复、同时</a:t>
            </a:r>
            <a:endParaRPr lang="en-US" altLang="zh-CN" sz="2400" dirty="0" smtClean="0">
              <a:solidFill>
                <a:srgbClr val="0000FF"/>
              </a:solidFill>
              <a:latin typeface="微软雅黑" panose="020B0503020204020204" pitchFamily="34" charset="-122"/>
              <a:ea typeface="微软雅黑" panose="020B0503020204020204" pitchFamily="34" charset="-122"/>
            </a:endParaRPr>
          </a:p>
          <a:p>
            <a:r>
              <a:rPr lang="en-US" altLang="zh-CN" sz="2400" dirty="0" smtClean="0">
                <a:solidFill>
                  <a:srgbClr val="0000FF"/>
                </a:solidFill>
                <a:latin typeface="微软雅黑" panose="020B0503020204020204" pitchFamily="34" charset="-122"/>
                <a:ea typeface="微软雅黑" panose="020B0503020204020204" pitchFamily="34" charset="-122"/>
              </a:rPr>
              <a:t>Duplicate in space</a:t>
            </a:r>
          </a:p>
          <a:p>
            <a:r>
              <a:rPr lang="en-US" altLang="zh-CN" sz="2400" dirty="0" smtClean="0">
                <a:solidFill>
                  <a:srgbClr val="0000FF"/>
                </a:solidFill>
                <a:latin typeface="微软雅黑" panose="020B0503020204020204" pitchFamily="34" charset="-122"/>
                <a:ea typeface="微软雅黑" panose="020B0503020204020204" pitchFamily="34" charset="-122"/>
              </a:rPr>
              <a:t>Simultaneous</a:t>
            </a:r>
            <a:endParaRPr lang="zh-CN" altLang="en-US" sz="2400"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035162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Pipelining Lessons</a:t>
            </a:r>
          </a:p>
        </p:txBody>
      </p:sp>
      <p:sp>
        <p:nvSpPr>
          <p:cNvPr id="22531" name="Rectangle 3"/>
          <p:cNvSpPr>
            <a:spLocks noGrp="1" noChangeArrowheads="1"/>
          </p:cNvSpPr>
          <p:nvPr>
            <p:ph type="body" idx="1"/>
          </p:nvPr>
        </p:nvSpPr>
        <p:spPr>
          <a:xfrm>
            <a:off x="7365398" y="1737784"/>
            <a:ext cx="4191000" cy="47117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spcBef>
                <a:spcPct val="0"/>
              </a:spcBef>
            </a:pPr>
            <a:r>
              <a:rPr lang="en-US" altLang="zh-CN" sz="2400" dirty="0"/>
              <a:t>Pipelining doesn’t help </a:t>
            </a:r>
            <a:r>
              <a:rPr lang="en-US" altLang="zh-CN" sz="2400" dirty="0">
                <a:solidFill>
                  <a:srgbClr val="FF0000"/>
                </a:solidFill>
              </a:rPr>
              <a:t>latency</a:t>
            </a:r>
            <a:r>
              <a:rPr lang="en-US" altLang="zh-CN" sz="2400" dirty="0"/>
              <a:t> of single task, it helps </a:t>
            </a:r>
            <a:r>
              <a:rPr lang="en-US" altLang="zh-CN" sz="2400" dirty="0">
                <a:solidFill>
                  <a:srgbClr val="FF0000"/>
                </a:solidFill>
              </a:rPr>
              <a:t>throughput</a:t>
            </a:r>
            <a:r>
              <a:rPr lang="en-US" altLang="zh-CN" sz="2400" dirty="0"/>
              <a:t> of entire workload</a:t>
            </a:r>
          </a:p>
          <a:p>
            <a:pPr>
              <a:spcBef>
                <a:spcPct val="0"/>
              </a:spcBef>
            </a:pPr>
            <a:r>
              <a:rPr lang="en-US" altLang="zh-CN" sz="2400" dirty="0"/>
              <a:t>Pipeline rate limited by </a:t>
            </a:r>
            <a:r>
              <a:rPr lang="en-US" altLang="zh-CN" sz="2400" dirty="0">
                <a:solidFill>
                  <a:srgbClr val="FF0000"/>
                </a:solidFill>
              </a:rPr>
              <a:t>slowest</a:t>
            </a:r>
            <a:r>
              <a:rPr lang="en-US" altLang="zh-CN" sz="2400" dirty="0"/>
              <a:t> pipeline stage</a:t>
            </a:r>
          </a:p>
          <a:p>
            <a:pPr>
              <a:spcBef>
                <a:spcPct val="0"/>
              </a:spcBef>
            </a:pPr>
            <a:r>
              <a:rPr lang="en-US" altLang="zh-CN" sz="2400" dirty="0">
                <a:solidFill>
                  <a:srgbClr val="FF0000"/>
                </a:solidFill>
              </a:rPr>
              <a:t>Multiple</a:t>
            </a:r>
            <a:r>
              <a:rPr lang="en-US" altLang="zh-CN" sz="2400" dirty="0"/>
              <a:t> tasks operating simultaneously</a:t>
            </a:r>
          </a:p>
          <a:p>
            <a:pPr>
              <a:spcBef>
                <a:spcPct val="0"/>
              </a:spcBef>
            </a:pPr>
            <a:r>
              <a:rPr lang="en-US" altLang="zh-CN" sz="2400" dirty="0"/>
              <a:t>Potential speedup = </a:t>
            </a:r>
            <a:r>
              <a:rPr lang="en-US" altLang="zh-CN" sz="2400" dirty="0" smtClean="0">
                <a:solidFill>
                  <a:srgbClr val="FF0000"/>
                </a:solidFill>
              </a:rPr>
              <a:t>Number of </a:t>
            </a:r>
            <a:r>
              <a:rPr lang="en-US" altLang="zh-CN" sz="2400" dirty="0">
                <a:solidFill>
                  <a:srgbClr val="FF0000"/>
                </a:solidFill>
              </a:rPr>
              <a:t>pipe stages</a:t>
            </a:r>
          </a:p>
          <a:p>
            <a:pPr>
              <a:spcBef>
                <a:spcPct val="0"/>
              </a:spcBef>
            </a:pPr>
            <a:r>
              <a:rPr lang="en-US" altLang="zh-CN" sz="2400" dirty="0"/>
              <a:t>Unbalanced lengths of pipe stages reduces speedup</a:t>
            </a:r>
          </a:p>
        </p:txBody>
      </p:sp>
      <p:grpSp>
        <p:nvGrpSpPr>
          <p:cNvPr id="22534" name="Group 6"/>
          <p:cNvGrpSpPr>
            <a:grpSpLocks/>
          </p:cNvGrpSpPr>
          <p:nvPr/>
        </p:nvGrpSpPr>
        <p:grpSpPr bwMode="auto">
          <a:xfrm>
            <a:off x="2370139" y="3119436"/>
            <a:ext cx="522287" cy="539749"/>
            <a:chOff x="580" y="2040"/>
            <a:chExt cx="329" cy="340"/>
          </a:xfrm>
        </p:grpSpPr>
        <p:sp>
          <p:nvSpPr>
            <p:cNvPr id="22532" name="Freeform 4"/>
            <p:cNvSpPr>
              <a:spLocks/>
            </p:cNvSpPr>
            <p:nvPr/>
          </p:nvSpPr>
          <p:spPr bwMode="auto">
            <a:xfrm>
              <a:off x="580" y="2040"/>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3" name="Rectangle 5"/>
            <p:cNvSpPr>
              <a:spLocks noChangeArrowheads="1"/>
            </p:cNvSpPr>
            <p:nvPr/>
          </p:nvSpPr>
          <p:spPr bwMode="auto">
            <a:xfrm>
              <a:off x="634" y="2091"/>
              <a:ext cx="244"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A</a:t>
              </a:r>
            </a:p>
          </p:txBody>
        </p:sp>
      </p:grpSp>
      <p:grpSp>
        <p:nvGrpSpPr>
          <p:cNvPr id="22537" name="Group 9"/>
          <p:cNvGrpSpPr>
            <a:grpSpLocks/>
          </p:cNvGrpSpPr>
          <p:nvPr/>
        </p:nvGrpSpPr>
        <p:grpSpPr bwMode="auto">
          <a:xfrm>
            <a:off x="2357439" y="3970335"/>
            <a:ext cx="522287" cy="539749"/>
            <a:chOff x="572" y="2576"/>
            <a:chExt cx="329" cy="340"/>
          </a:xfrm>
        </p:grpSpPr>
        <p:sp>
          <p:nvSpPr>
            <p:cNvPr id="22535" name="Freeform 7"/>
            <p:cNvSpPr>
              <a:spLocks/>
            </p:cNvSpPr>
            <p:nvPr/>
          </p:nvSpPr>
          <p:spPr bwMode="auto">
            <a:xfrm>
              <a:off x="572" y="2576"/>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6" name="Rectangle 8"/>
            <p:cNvSpPr>
              <a:spLocks noChangeArrowheads="1"/>
            </p:cNvSpPr>
            <p:nvPr/>
          </p:nvSpPr>
          <p:spPr bwMode="auto">
            <a:xfrm>
              <a:off x="626" y="2627"/>
              <a:ext cx="244"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B</a:t>
              </a:r>
            </a:p>
          </p:txBody>
        </p:sp>
      </p:grpSp>
      <p:grpSp>
        <p:nvGrpSpPr>
          <p:cNvPr id="22540" name="Group 12"/>
          <p:cNvGrpSpPr>
            <a:grpSpLocks/>
          </p:cNvGrpSpPr>
          <p:nvPr/>
        </p:nvGrpSpPr>
        <p:grpSpPr bwMode="auto">
          <a:xfrm>
            <a:off x="2319339" y="4719635"/>
            <a:ext cx="522287" cy="539749"/>
            <a:chOff x="548" y="3048"/>
            <a:chExt cx="329" cy="340"/>
          </a:xfrm>
        </p:grpSpPr>
        <p:sp>
          <p:nvSpPr>
            <p:cNvPr id="22538" name="Freeform 10"/>
            <p:cNvSpPr>
              <a:spLocks/>
            </p:cNvSpPr>
            <p:nvPr/>
          </p:nvSpPr>
          <p:spPr bwMode="auto">
            <a:xfrm>
              <a:off x="548" y="3048"/>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9" name="Rectangle 11"/>
            <p:cNvSpPr>
              <a:spLocks noChangeArrowheads="1"/>
            </p:cNvSpPr>
            <p:nvPr/>
          </p:nvSpPr>
          <p:spPr bwMode="auto">
            <a:xfrm>
              <a:off x="597" y="3099"/>
              <a:ext cx="255"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C</a:t>
              </a:r>
            </a:p>
          </p:txBody>
        </p:sp>
      </p:grpSp>
      <p:grpSp>
        <p:nvGrpSpPr>
          <p:cNvPr id="22543" name="Group 15"/>
          <p:cNvGrpSpPr>
            <a:grpSpLocks/>
          </p:cNvGrpSpPr>
          <p:nvPr/>
        </p:nvGrpSpPr>
        <p:grpSpPr bwMode="auto">
          <a:xfrm>
            <a:off x="2319339" y="5443534"/>
            <a:ext cx="522287" cy="539749"/>
            <a:chOff x="548" y="3504"/>
            <a:chExt cx="329" cy="340"/>
          </a:xfrm>
        </p:grpSpPr>
        <p:sp>
          <p:nvSpPr>
            <p:cNvPr id="22541" name="Freeform 13"/>
            <p:cNvSpPr>
              <a:spLocks/>
            </p:cNvSpPr>
            <p:nvPr/>
          </p:nvSpPr>
          <p:spPr bwMode="auto">
            <a:xfrm>
              <a:off x="548" y="3504"/>
              <a:ext cx="329" cy="295"/>
            </a:xfrm>
            <a:custGeom>
              <a:avLst/>
              <a:gdLst>
                <a:gd name="T0" fmla="*/ 93 w 329"/>
                <a:gd name="T1" fmla="*/ 14 h 295"/>
                <a:gd name="T2" fmla="*/ 156 w 329"/>
                <a:gd name="T3" fmla="*/ 16 h 295"/>
                <a:gd name="T4" fmla="*/ 224 w 329"/>
                <a:gd name="T5" fmla="*/ 0 h 295"/>
                <a:gd name="T6" fmla="*/ 305 w 329"/>
                <a:gd name="T7" fmla="*/ 0 h 295"/>
                <a:gd name="T8" fmla="*/ 215 w 329"/>
                <a:gd name="T9" fmla="*/ 84 h 295"/>
                <a:gd name="T10" fmla="*/ 239 w 329"/>
                <a:gd name="T11" fmla="*/ 89 h 295"/>
                <a:gd name="T12" fmla="*/ 263 w 329"/>
                <a:gd name="T13" fmla="*/ 99 h 295"/>
                <a:gd name="T14" fmla="*/ 285 w 329"/>
                <a:gd name="T15" fmla="*/ 111 h 295"/>
                <a:gd name="T16" fmla="*/ 302 w 329"/>
                <a:gd name="T17" fmla="*/ 126 h 295"/>
                <a:gd name="T18" fmla="*/ 316 w 329"/>
                <a:gd name="T19" fmla="*/ 144 h 295"/>
                <a:gd name="T20" fmla="*/ 325 w 329"/>
                <a:gd name="T21" fmla="*/ 165 h 295"/>
                <a:gd name="T22" fmla="*/ 328 w 329"/>
                <a:gd name="T23" fmla="*/ 187 h 295"/>
                <a:gd name="T24" fmla="*/ 324 w 329"/>
                <a:gd name="T25" fmla="*/ 210 h 295"/>
                <a:gd name="T26" fmla="*/ 317 w 329"/>
                <a:gd name="T27" fmla="*/ 228 h 295"/>
                <a:gd name="T28" fmla="*/ 303 w 329"/>
                <a:gd name="T29" fmla="*/ 247 h 295"/>
                <a:gd name="T30" fmla="*/ 280 w 329"/>
                <a:gd name="T31" fmla="*/ 267 h 295"/>
                <a:gd name="T32" fmla="*/ 257 w 329"/>
                <a:gd name="T33" fmla="*/ 279 h 295"/>
                <a:gd name="T34" fmla="*/ 236 w 329"/>
                <a:gd name="T35" fmla="*/ 287 h 295"/>
                <a:gd name="T36" fmla="*/ 215 w 329"/>
                <a:gd name="T37" fmla="*/ 292 h 295"/>
                <a:gd name="T38" fmla="*/ 189 w 329"/>
                <a:gd name="T39" fmla="*/ 294 h 295"/>
                <a:gd name="T40" fmla="*/ 122 w 329"/>
                <a:gd name="T41" fmla="*/ 293 h 295"/>
                <a:gd name="T42" fmla="*/ 90 w 329"/>
                <a:gd name="T43" fmla="*/ 287 h 295"/>
                <a:gd name="T44" fmla="*/ 56 w 329"/>
                <a:gd name="T45" fmla="*/ 272 h 295"/>
                <a:gd name="T46" fmla="*/ 30 w 329"/>
                <a:gd name="T47" fmla="*/ 253 h 295"/>
                <a:gd name="T48" fmla="*/ 13 w 329"/>
                <a:gd name="T49" fmla="*/ 232 h 295"/>
                <a:gd name="T50" fmla="*/ 4 w 329"/>
                <a:gd name="T51" fmla="*/ 210 h 295"/>
                <a:gd name="T52" fmla="*/ 0 w 329"/>
                <a:gd name="T53" fmla="*/ 191 h 295"/>
                <a:gd name="T54" fmla="*/ 3 w 329"/>
                <a:gd name="T55" fmla="*/ 169 h 295"/>
                <a:gd name="T56" fmla="*/ 14 w 329"/>
                <a:gd name="T57" fmla="*/ 141 h 295"/>
                <a:gd name="T58" fmla="*/ 35 w 329"/>
                <a:gd name="T59" fmla="*/ 118 h 295"/>
                <a:gd name="T60" fmla="*/ 63 w 329"/>
                <a:gd name="T61" fmla="*/ 99 h 295"/>
                <a:gd name="T62" fmla="*/ 102 w 329"/>
                <a:gd name="T63" fmla="*/ 86 h 295"/>
                <a:gd name="T64" fmla="*/ 40 w 329"/>
                <a:gd name="T65" fmla="*/ 4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9" h="295">
                  <a:moveTo>
                    <a:pt x="40" y="4"/>
                  </a:moveTo>
                  <a:lnTo>
                    <a:pt x="93" y="14"/>
                  </a:lnTo>
                  <a:lnTo>
                    <a:pt x="92" y="0"/>
                  </a:lnTo>
                  <a:lnTo>
                    <a:pt x="156" y="16"/>
                  </a:lnTo>
                  <a:lnTo>
                    <a:pt x="156" y="0"/>
                  </a:lnTo>
                  <a:lnTo>
                    <a:pt x="224" y="0"/>
                  </a:lnTo>
                  <a:lnTo>
                    <a:pt x="223" y="15"/>
                  </a:lnTo>
                  <a:lnTo>
                    <a:pt x="305" y="0"/>
                  </a:lnTo>
                  <a:lnTo>
                    <a:pt x="205" y="83"/>
                  </a:lnTo>
                  <a:lnTo>
                    <a:pt x="215" y="84"/>
                  </a:lnTo>
                  <a:lnTo>
                    <a:pt x="226" y="86"/>
                  </a:lnTo>
                  <a:lnTo>
                    <a:pt x="239" y="89"/>
                  </a:lnTo>
                  <a:lnTo>
                    <a:pt x="250" y="93"/>
                  </a:lnTo>
                  <a:lnTo>
                    <a:pt x="263" y="99"/>
                  </a:lnTo>
                  <a:lnTo>
                    <a:pt x="274" y="104"/>
                  </a:lnTo>
                  <a:lnTo>
                    <a:pt x="285" y="111"/>
                  </a:lnTo>
                  <a:lnTo>
                    <a:pt x="294" y="119"/>
                  </a:lnTo>
                  <a:lnTo>
                    <a:pt x="302" y="126"/>
                  </a:lnTo>
                  <a:lnTo>
                    <a:pt x="309" y="135"/>
                  </a:lnTo>
                  <a:lnTo>
                    <a:pt x="316" y="144"/>
                  </a:lnTo>
                  <a:lnTo>
                    <a:pt x="321" y="155"/>
                  </a:lnTo>
                  <a:lnTo>
                    <a:pt x="325" y="165"/>
                  </a:lnTo>
                  <a:lnTo>
                    <a:pt x="327" y="174"/>
                  </a:lnTo>
                  <a:lnTo>
                    <a:pt x="328" y="187"/>
                  </a:lnTo>
                  <a:lnTo>
                    <a:pt x="327" y="200"/>
                  </a:lnTo>
                  <a:lnTo>
                    <a:pt x="324" y="210"/>
                  </a:lnTo>
                  <a:lnTo>
                    <a:pt x="321" y="220"/>
                  </a:lnTo>
                  <a:lnTo>
                    <a:pt x="317" y="228"/>
                  </a:lnTo>
                  <a:lnTo>
                    <a:pt x="311" y="237"/>
                  </a:lnTo>
                  <a:lnTo>
                    <a:pt x="303" y="247"/>
                  </a:lnTo>
                  <a:lnTo>
                    <a:pt x="292" y="258"/>
                  </a:lnTo>
                  <a:lnTo>
                    <a:pt x="280" y="267"/>
                  </a:lnTo>
                  <a:lnTo>
                    <a:pt x="268" y="274"/>
                  </a:lnTo>
                  <a:lnTo>
                    <a:pt x="257" y="279"/>
                  </a:lnTo>
                  <a:lnTo>
                    <a:pt x="246" y="284"/>
                  </a:lnTo>
                  <a:lnTo>
                    <a:pt x="236" y="287"/>
                  </a:lnTo>
                  <a:lnTo>
                    <a:pt x="224" y="290"/>
                  </a:lnTo>
                  <a:lnTo>
                    <a:pt x="215" y="292"/>
                  </a:lnTo>
                  <a:lnTo>
                    <a:pt x="201" y="293"/>
                  </a:lnTo>
                  <a:lnTo>
                    <a:pt x="189" y="294"/>
                  </a:lnTo>
                  <a:lnTo>
                    <a:pt x="133" y="294"/>
                  </a:lnTo>
                  <a:lnTo>
                    <a:pt x="122" y="293"/>
                  </a:lnTo>
                  <a:lnTo>
                    <a:pt x="108" y="291"/>
                  </a:lnTo>
                  <a:lnTo>
                    <a:pt x="90" y="287"/>
                  </a:lnTo>
                  <a:lnTo>
                    <a:pt x="73" y="280"/>
                  </a:lnTo>
                  <a:lnTo>
                    <a:pt x="56" y="272"/>
                  </a:lnTo>
                  <a:lnTo>
                    <a:pt x="41" y="262"/>
                  </a:lnTo>
                  <a:lnTo>
                    <a:pt x="30" y="253"/>
                  </a:lnTo>
                  <a:lnTo>
                    <a:pt x="21" y="244"/>
                  </a:lnTo>
                  <a:lnTo>
                    <a:pt x="13" y="232"/>
                  </a:lnTo>
                  <a:lnTo>
                    <a:pt x="7" y="219"/>
                  </a:lnTo>
                  <a:lnTo>
                    <a:pt x="4" y="210"/>
                  </a:lnTo>
                  <a:lnTo>
                    <a:pt x="1" y="201"/>
                  </a:lnTo>
                  <a:lnTo>
                    <a:pt x="0" y="191"/>
                  </a:lnTo>
                  <a:lnTo>
                    <a:pt x="1" y="183"/>
                  </a:lnTo>
                  <a:lnTo>
                    <a:pt x="3" y="169"/>
                  </a:lnTo>
                  <a:lnTo>
                    <a:pt x="7" y="156"/>
                  </a:lnTo>
                  <a:lnTo>
                    <a:pt x="14" y="141"/>
                  </a:lnTo>
                  <a:lnTo>
                    <a:pt x="24" y="129"/>
                  </a:lnTo>
                  <a:lnTo>
                    <a:pt x="35" y="118"/>
                  </a:lnTo>
                  <a:lnTo>
                    <a:pt x="49" y="107"/>
                  </a:lnTo>
                  <a:lnTo>
                    <a:pt x="63" y="99"/>
                  </a:lnTo>
                  <a:lnTo>
                    <a:pt x="82" y="91"/>
                  </a:lnTo>
                  <a:lnTo>
                    <a:pt x="102" y="86"/>
                  </a:lnTo>
                  <a:lnTo>
                    <a:pt x="115" y="83"/>
                  </a:lnTo>
                  <a:lnTo>
                    <a:pt x="40" y="4"/>
                  </a:lnTo>
                </a:path>
              </a:pathLst>
            </a:custGeom>
            <a:solidFill>
              <a:srgbClr val="D49FFF"/>
            </a:solidFill>
            <a:ln w="12700" cap="rnd" cmpd="sng">
              <a:solidFill>
                <a:srgbClr val="00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2" name="Rectangle 14"/>
            <p:cNvSpPr>
              <a:spLocks noChangeArrowheads="1"/>
            </p:cNvSpPr>
            <p:nvPr/>
          </p:nvSpPr>
          <p:spPr bwMode="auto">
            <a:xfrm>
              <a:off x="597" y="3555"/>
              <a:ext cx="255"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D</a:t>
              </a:r>
            </a:p>
          </p:txBody>
        </p:sp>
      </p:grpSp>
      <p:sp>
        <p:nvSpPr>
          <p:cNvPr id="22544" name="Rectangle 16"/>
          <p:cNvSpPr>
            <a:spLocks noChangeArrowheads="1"/>
          </p:cNvSpPr>
          <p:nvPr/>
        </p:nvSpPr>
        <p:spPr bwMode="auto">
          <a:xfrm>
            <a:off x="2641601" y="1524000"/>
            <a:ext cx="900889"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6 PM</a:t>
            </a:r>
          </a:p>
        </p:txBody>
      </p:sp>
      <p:sp>
        <p:nvSpPr>
          <p:cNvPr id="22545" name="Line 17"/>
          <p:cNvSpPr>
            <a:spLocks noChangeShapeType="1"/>
          </p:cNvSpPr>
          <p:nvPr/>
        </p:nvSpPr>
        <p:spPr bwMode="auto">
          <a:xfrm>
            <a:off x="3005138" y="2109788"/>
            <a:ext cx="34925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6" name="Line 18"/>
          <p:cNvSpPr>
            <a:spLocks noChangeShapeType="1"/>
          </p:cNvSpPr>
          <p:nvPr/>
        </p:nvSpPr>
        <p:spPr bwMode="auto">
          <a:xfrm>
            <a:off x="2998788" y="1976438"/>
            <a:ext cx="0" cy="304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7" name="Rectangle 19"/>
          <p:cNvSpPr>
            <a:spLocks noChangeArrowheads="1"/>
          </p:cNvSpPr>
          <p:nvPr/>
        </p:nvSpPr>
        <p:spPr bwMode="auto">
          <a:xfrm>
            <a:off x="3873501" y="1536700"/>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7</a:t>
            </a:r>
          </a:p>
        </p:txBody>
      </p:sp>
      <p:sp>
        <p:nvSpPr>
          <p:cNvPr id="22548" name="Rectangle 20"/>
          <p:cNvSpPr>
            <a:spLocks noChangeArrowheads="1"/>
          </p:cNvSpPr>
          <p:nvPr/>
        </p:nvSpPr>
        <p:spPr bwMode="auto">
          <a:xfrm>
            <a:off x="4940301" y="1536700"/>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8</a:t>
            </a:r>
          </a:p>
        </p:txBody>
      </p:sp>
      <p:sp>
        <p:nvSpPr>
          <p:cNvPr id="22549" name="Rectangle 21"/>
          <p:cNvSpPr>
            <a:spLocks noChangeArrowheads="1"/>
          </p:cNvSpPr>
          <p:nvPr/>
        </p:nvSpPr>
        <p:spPr bwMode="auto">
          <a:xfrm>
            <a:off x="5956301" y="1536700"/>
            <a:ext cx="354265" cy="4591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a:t>9</a:t>
            </a:r>
          </a:p>
        </p:txBody>
      </p:sp>
      <p:sp>
        <p:nvSpPr>
          <p:cNvPr id="22550" name="Rectangle 22"/>
          <p:cNvSpPr>
            <a:spLocks noChangeArrowheads="1"/>
          </p:cNvSpPr>
          <p:nvPr/>
        </p:nvSpPr>
        <p:spPr bwMode="auto">
          <a:xfrm>
            <a:off x="1598449" y="2487614"/>
            <a:ext cx="362280" cy="285975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b="0" i="1"/>
              <a:t>T</a:t>
            </a:r>
          </a:p>
          <a:p>
            <a:pPr algn="ctr"/>
            <a:r>
              <a:rPr lang="en-US" altLang="zh-CN" b="0" i="1"/>
              <a:t>a</a:t>
            </a:r>
          </a:p>
          <a:p>
            <a:pPr algn="ctr"/>
            <a:r>
              <a:rPr lang="en-US" altLang="zh-CN" b="0" i="1"/>
              <a:t>s</a:t>
            </a:r>
          </a:p>
          <a:p>
            <a:pPr algn="ctr"/>
            <a:r>
              <a:rPr lang="en-US" altLang="zh-CN" b="0" i="1"/>
              <a:t>k</a:t>
            </a:r>
          </a:p>
          <a:p>
            <a:pPr algn="ctr"/>
            <a:endParaRPr lang="en-US" altLang="zh-CN" b="0" i="1"/>
          </a:p>
          <a:p>
            <a:pPr algn="ctr"/>
            <a:r>
              <a:rPr lang="en-US" altLang="zh-CN" b="0" i="1"/>
              <a:t>O</a:t>
            </a:r>
          </a:p>
          <a:p>
            <a:pPr algn="ctr"/>
            <a:r>
              <a:rPr lang="en-US" altLang="zh-CN" b="0" i="1"/>
              <a:t>r</a:t>
            </a:r>
          </a:p>
          <a:p>
            <a:pPr algn="ctr"/>
            <a:r>
              <a:rPr lang="en-US" altLang="zh-CN" b="0" i="1"/>
              <a:t>d</a:t>
            </a:r>
          </a:p>
          <a:p>
            <a:pPr algn="ctr"/>
            <a:r>
              <a:rPr lang="en-US" altLang="zh-CN" b="0" i="1"/>
              <a:t>e</a:t>
            </a:r>
          </a:p>
          <a:p>
            <a:pPr algn="ctr"/>
            <a:r>
              <a:rPr lang="en-US" altLang="zh-CN" b="0" i="1"/>
              <a:t>r</a:t>
            </a:r>
          </a:p>
        </p:txBody>
      </p:sp>
      <p:sp>
        <p:nvSpPr>
          <p:cNvPr id="22551" name="Line 23"/>
          <p:cNvSpPr>
            <a:spLocks noChangeShapeType="1"/>
          </p:cNvSpPr>
          <p:nvPr/>
        </p:nvSpPr>
        <p:spPr bwMode="auto">
          <a:xfrm>
            <a:off x="2160588" y="2852738"/>
            <a:ext cx="0" cy="30353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2" name="Rectangle 24"/>
          <p:cNvSpPr>
            <a:spLocks noChangeArrowheads="1"/>
          </p:cNvSpPr>
          <p:nvPr/>
        </p:nvSpPr>
        <p:spPr bwMode="auto">
          <a:xfrm>
            <a:off x="5651501" y="2074864"/>
            <a:ext cx="688975" cy="363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b="0" i="1"/>
              <a:t>Time</a:t>
            </a:r>
          </a:p>
        </p:txBody>
      </p:sp>
      <p:grpSp>
        <p:nvGrpSpPr>
          <p:cNvPr id="22580" name="Group 52"/>
          <p:cNvGrpSpPr>
            <a:grpSpLocks/>
          </p:cNvGrpSpPr>
          <p:nvPr/>
        </p:nvGrpSpPr>
        <p:grpSpPr bwMode="auto">
          <a:xfrm>
            <a:off x="3000376" y="2446337"/>
            <a:ext cx="3573463" cy="641349"/>
            <a:chOff x="977" y="1616"/>
            <a:chExt cx="2251" cy="404"/>
          </a:xfrm>
        </p:grpSpPr>
        <p:sp>
          <p:nvSpPr>
            <p:cNvPr id="22553" name="Rectangle 25"/>
            <p:cNvSpPr>
              <a:spLocks noChangeArrowheads="1"/>
            </p:cNvSpPr>
            <p:nvPr/>
          </p:nvSpPr>
          <p:spPr bwMode="auto">
            <a:xfrm>
              <a:off x="977" y="1731"/>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30</a:t>
              </a:r>
            </a:p>
          </p:txBody>
        </p:sp>
        <p:sp>
          <p:nvSpPr>
            <p:cNvPr id="22554" name="Line 26"/>
            <p:cNvSpPr>
              <a:spLocks noChangeShapeType="1"/>
            </p:cNvSpPr>
            <p:nvPr/>
          </p:nvSpPr>
          <p:spPr bwMode="auto">
            <a:xfrm>
              <a:off x="992" y="1692"/>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5" name="Line 27"/>
            <p:cNvSpPr>
              <a:spLocks noChangeShapeType="1"/>
            </p:cNvSpPr>
            <p:nvPr/>
          </p:nvSpPr>
          <p:spPr bwMode="auto">
            <a:xfrm>
              <a:off x="1312" y="1616"/>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559" name="Group 31"/>
            <p:cNvGrpSpPr>
              <a:grpSpLocks/>
            </p:cNvGrpSpPr>
            <p:nvPr/>
          </p:nvGrpSpPr>
          <p:grpSpPr bwMode="auto">
            <a:xfrm>
              <a:off x="1328" y="1616"/>
              <a:ext cx="384" cy="404"/>
              <a:chOff x="1328" y="1616"/>
              <a:chExt cx="384" cy="404"/>
            </a:xfrm>
          </p:grpSpPr>
          <p:sp>
            <p:nvSpPr>
              <p:cNvPr id="22556" name="Line 28"/>
              <p:cNvSpPr>
                <a:spLocks noChangeShapeType="1"/>
              </p:cNvSpPr>
              <p:nvPr/>
            </p:nvSpPr>
            <p:spPr bwMode="auto">
              <a:xfrm>
                <a:off x="1328" y="1724"/>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7" name="Rectangle 29"/>
              <p:cNvSpPr>
                <a:spLocks noChangeArrowheads="1"/>
              </p:cNvSpPr>
              <p:nvPr/>
            </p:nvSpPr>
            <p:spPr bwMode="auto">
              <a:xfrm>
                <a:off x="1345" y="1731"/>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2558" name="Line 30"/>
              <p:cNvSpPr>
                <a:spLocks noChangeShapeType="1"/>
              </p:cNvSpPr>
              <p:nvPr/>
            </p:nvSpPr>
            <p:spPr bwMode="auto">
              <a:xfrm>
                <a:off x="1712" y="1616"/>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563" name="Group 35"/>
            <p:cNvGrpSpPr>
              <a:grpSpLocks/>
            </p:cNvGrpSpPr>
            <p:nvPr/>
          </p:nvGrpSpPr>
          <p:grpSpPr bwMode="auto">
            <a:xfrm>
              <a:off x="1736" y="1616"/>
              <a:ext cx="384" cy="404"/>
              <a:chOff x="1736" y="1616"/>
              <a:chExt cx="384" cy="404"/>
            </a:xfrm>
          </p:grpSpPr>
          <p:sp>
            <p:nvSpPr>
              <p:cNvPr id="22560" name="Line 32"/>
              <p:cNvSpPr>
                <a:spLocks noChangeShapeType="1"/>
              </p:cNvSpPr>
              <p:nvPr/>
            </p:nvSpPr>
            <p:spPr bwMode="auto">
              <a:xfrm>
                <a:off x="1736" y="1724"/>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1" name="Rectangle 33"/>
              <p:cNvSpPr>
                <a:spLocks noChangeArrowheads="1"/>
              </p:cNvSpPr>
              <p:nvPr/>
            </p:nvSpPr>
            <p:spPr bwMode="auto">
              <a:xfrm>
                <a:off x="1753" y="1731"/>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2562" name="Line 34"/>
              <p:cNvSpPr>
                <a:spLocks noChangeShapeType="1"/>
              </p:cNvSpPr>
              <p:nvPr/>
            </p:nvSpPr>
            <p:spPr bwMode="auto">
              <a:xfrm>
                <a:off x="2120" y="1616"/>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567" name="Group 39"/>
            <p:cNvGrpSpPr>
              <a:grpSpLocks/>
            </p:cNvGrpSpPr>
            <p:nvPr/>
          </p:nvGrpSpPr>
          <p:grpSpPr bwMode="auto">
            <a:xfrm>
              <a:off x="2144" y="1616"/>
              <a:ext cx="384" cy="404"/>
              <a:chOff x="2144" y="1616"/>
              <a:chExt cx="384" cy="404"/>
            </a:xfrm>
          </p:grpSpPr>
          <p:sp>
            <p:nvSpPr>
              <p:cNvPr id="22564" name="Line 36"/>
              <p:cNvSpPr>
                <a:spLocks noChangeShapeType="1"/>
              </p:cNvSpPr>
              <p:nvPr/>
            </p:nvSpPr>
            <p:spPr bwMode="auto">
              <a:xfrm>
                <a:off x="2144" y="1724"/>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5" name="Rectangle 37"/>
              <p:cNvSpPr>
                <a:spLocks noChangeArrowheads="1"/>
              </p:cNvSpPr>
              <p:nvPr/>
            </p:nvSpPr>
            <p:spPr bwMode="auto">
              <a:xfrm>
                <a:off x="2161" y="1731"/>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2566" name="Line 38"/>
              <p:cNvSpPr>
                <a:spLocks noChangeShapeType="1"/>
              </p:cNvSpPr>
              <p:nvPr/>
            </p:nvSpPr>
            <p:spPr bwMode="auto">
              <a:xfrm>
                <a:off x="2528" y="1616"/>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568" name="Line 40"/>
            <p:cNvSpPr>
              <a:spLocks noChangeShapeType="1"/>
            </p:cNvSpPr>
            <p:nvPr/>
          </p:nvSpPr>
          <p:spPr bwMode="auto">
            <a:xfrm>
              <a:off x="2552" y="1724"/>
              <a:ext cx="360" cy="0"/>
            </a:xfrm>
            <a:prstGeom prst="line">
              <a:avLst/>
            </a:prstGeom>
            <a:noFill/>
            <a:ln w="50800">
              <a:solidFill>
                <a:srgbClr val="A2C1FE"/>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9" name="Line 41"/>
            <p:cNvSpPr>
              <a:spLocks noChangeShapeType="1"/>
            </p:cNvSpPr>
            <p:nvPr/>
          </p:nvSpPr>
          <p:spPr bwMode="auto">
            <a:xfrm>
              <a:off x="2952" y="1756"/>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0" name="Rectangle 42"/>
            <p:cNvSpPr>
              <a:spLocks noChangeArrowheads="1"/>
            </p:cNvSpPr>
            <p:nvPr/>
          </p:nvSpPr>
          <p:spPr bwMode="auto">
            <a:xfrm>
              <a:off x="2569" y="1731"/>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40</a:t>
              </a:r>
            </a:p>
          </p:txBody>
        </p:sp>
        <p:sp>
          <p:nvSpPr>
            <p:cNvPr id="22571" name="Rectangle 43"/>
            <p:cNvSpPr>
              <a:spLocks noChangeArrowheads="1"/>
            </p:cNvSpPr>
            <p:nvPr/>
          </p:nvSpPr>
          <p:spPr bwMode="auto">
            <a:xfrm>
              <a:off x="2897" y="1731"/>
              <a:ext cx="331"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en-US" altLang="zh-CN" sz="2400"/>
                <a:t>20</a:t>
              </a:r>
            </a:p>
          </p:txBody>
        </p:sp>
        <p:sp>
          <p:nvSpPr>
            <p:cNvPr id="22572" name="Line 44"/>
            <p:cNvSpPr>
              <a:spLocks noChangeShapeType="1"/>
            </p:cNvSpPr>
            <p:nvPr/>
          </p:nvSpPr>
          <p:spPr bwMode="auto">
            <a:xfrm>
              <a:off x="2936" y="1616"/>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3" name="Line 45"/>
            <p:cNvSpPr>
              <a:spLocks noChangeShapeType="1"/>
            </p:cNvSpPr>
            <p:nvPr/>
          </p:nvSpPr>
          <p:spPr bwMode="auto">
            <a:xfrm>
              <a:off x="3192" y="1616"/>
              <a:ext cx="0" cy="19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4" name="Line 46"/>
            <p:cNvSpPr>
              <a:spLocks noChangeShapeType="1"/>
            </p:cNvSpPr>
            <p:nvPr/>
          </p:nvSpPr>
          <p:spPr bwMode="auto">
            <a:xfrm>
              <a:off x="1400" y="1692"/>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5" name="Line 47"/>
            <p:cNvSpPr>
              <a:spLocks noChangeShapeType="1"/>
            </p:cNvSpPr>
            <p:nvPr/>
          </p:nvSpPr>
          <p:spPr bwMode="auto">
            <a:xfrm>
              <a:off x="1808" y="1692"/>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6" name="Line 48"/>
            <p:cNvSpPr>
              <a:spLocks noChangeShapeType="1"/>
            </p:cNvSpPr>
            <p:nvPr/>
          </p:nvSpPr>
          <p:spPr bwMode="auto">
            <a:xfrm>
              <a:off x="2216" y="1692"/>
              <a:ext cx="288" cy="0"/>
            </a:xfrm>
            <a:prstGeom prst="line">
              <a:avLst/>
            </a:prstGeom>
            <a:noFill/>
            <a:ln w="50800">
              <a:solidFill>
                <a:srgbClr val="F6BF6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7" name="Line 49"/>
            <p:cNvSpPr>
              <a:spLocks noChangeShapeType="1"/>
            </p:cNvSpPr>
            <p:nvPr/>
          </p:nvSpPr>
          <p:spPr bwMode="auto">
            <a:xfrm>
              <a:off x="1736" y="1756"/>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8" name="Line 50"/>
            <p:cNvSpPr>
              <a:spLocks noChangeShapeType="1"/>
            </p:cNvSpPr>
            <p:nvPr/>
          </p:nvSpPr>
          <p:spPr bwMode="auto">
            <a:xfrm>
              <a:off x="2144" y="1756"/>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79" name="Line 51"/>
            <p:cNvSpPr>
              <a:spLocks noChangeShapeType="1"/>
            </p:cNvSpPr>
            <p:nvPr/>
          </p:nvSpPr>
          <p:spPr bwMode="auto">
            <a:xfrm>
              <a:off x="2552" y="1756"/>
              <a:ext cx="216" cy="0"/>
            </a:xfrm>
            <a:prstGeom prst="line">
              <a:avLst/>
            </a:prstGeom>
            <a:noFill/>
            <a:ln w="508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657" name="Group 129"/>
          <p:cNvGrpSpPr>
            <a:grpSpLocks/>
          </p:cNvGrpSpPr>
          <p:nvPr/>
        </p:nvGrpSpPr>
        <p:grpSpPr bwMode="auto">
          <a:xfrm>
            <a:off x="3043238" y="3017838"/>
            <a:ext cx="3490912" cy="2933700"/>
            <a:chOff x="1004" y="1976"/>
            <a:chExt cx="2199" cy="1848"/>
          </a:xfrm>
        </p:grpSpPr>
        <p:grpSp>
          <p:nvGrpSpPr>
            <p:cNvPr id="22599" name="Group 71"/>
            <p:cNvGrpSpPr>
              <a:grpSpLocks/>
            </p:cNvGrpSpPr>
            <p:nvPr/>
          </p:nvGrpSpPr>
          <p:grpSpPr bwMode="auto">
            <a:xfrm>
              <a:off x="1004" y="1976"/>
              <a:ext cx="967" cy="448"/>
              <a:chOff x="1004" y="1976"/>
              <a:chExt cx="967" cy="448"/>
            </a:xfrm>
          </p:grpSpPr>
          <p:grpSp>
            <p:nvGrpSpPr>
              <p:cNvPr id="22585" name="Group 57"/>
              <p:cNvGrpSpPr>
                <a:grpSpLocks/>
              </p:cNvGrpSpPr>
              <p:nvPr/>
            </p:nvGrpSpPr>
            <p:grpSpPr bwMode="auto">
              <a:xfrm>
                <a:off x="1004" y="1976"/>
                <a:ext cx="305" cy="448"/>
                <a:chOff x="1004" y="1976"/>
                <a:chExt cx="305" cy="448"/>
              </a:xfrm>
            </p:grpSpPr>
            <p:grpSp>
              <p:nvGrpSpPr>
                <p:cNvPr id="22583" name="Group 55"/>
                <p:cNvGrpSpPr>
                  <a:grpSpLocks/>
                </p:cNvGrpSpPr>
                <p:nvPr/>
              </p:nvGrpSpPr>
              <p:grpSpPr bwMode="auto">
                <a:xfrm>
                  <a:off x="1004" y="1976"/>
                  <a:ext cx="305" cy="448"/>
                  <a:chOff x="1004" y="1976"/>
                  <a:chExt cx="305" cy="448"/>
                </a:xfrm>
              </p:grpSpPr>
              <p:sp>
                <p:nvSpPr>
                  <p:cNvPr id="22581" name="AutoShape 53"/>
                  <p:cNvSpPr>
                    <a:spLocks noChangeArrowheads="1"/>
                  </p:cNvSpPr>
                  <p:nvPr/>
                </p:nvSpPr>
                <p:spPr bwMode="auto">
                  <a:xfrm>
                    <a:off x="1004" y="2047"/>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2" name="AutoShape 54"/>
                  <p:cNvSpPr>
                    <a:spLocks noChangeArrowheads="1"/>
                  </p:cNvSpPr>
                  <p:nvPr/>
                </p:nvSpPr>
                <p:spPr bwMode="auto">
                  <a:xfrm>
                    <a:off x="1074" y="1976"/>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584" name="AutoShape 56"/>
                <p:cNvSpPr>
                  <a:spLocks noChangeArrowheads="1"/>
                </p:cNvSpPr>
                <p:nvPr/>
              </p:nvSpPr>
              <p:spPr bwMode="auto">
                <a:xfrm>
                  <a:off x="1066" y="2080"/>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591" name="Group 63"/>
              <p:cNvGrpSpPr>
                <a:grpSpLocks/>
              </p:cNvGrpSpPr>
              <p:nvPr/>
            </p:nvGrpSpPr>
            <p:grpSpPr bwMode="auto">
              <a:xfrm>
                <a:off x="1305" y="1976"/>
                <a:ext cx="378" cy="448"/>
                <a:chOff x="1305" y="1976"/>
                <a:chExt cx="378" cy="448"/>
              </a:xfrm>
            </p:grpSpPr>
            <p:grpSp>
              <p:nvGrpSpPr>
                <p:cNvPr id="22588" name="Group 60"/>
                <p:cNvGrpSpPr>
                  <a:grpSpLocks/>
                </p:cNvGrpSpPr>
                <p:nvPr/>
              </p:nvGrpSpPr>
              <p:grpSpPr bwMode="auto">
                <a:xfrm>
                  <a:off x="1305" y="1976"/>
                  <a:ext cx="378" cy="448"/>
                  <a:chOff x="1305" y="1976"/>
                  <a:chExt cx="378" cy="448"/>
                </a:xfrm>
              </p:grpSpPr>
              <p:sp>
                <p:nvSpPr>
                  <p:cNvPr id="22586" name="AutoShape 58"/>
                  <p:cNvSpPr>
                    <a:spLocks noChangeArrowheads="1"/>
                  </p:cNvSpPr>
                  <p:nvPr/>
                </p:nvSpPr>
                <p:spPr bwMode="auto">
                  <a:xfrm>
                    <a:off x="1305" y="2047"/>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87" name="AutoShape 59"/>
                  <p:cNvSpPr>
                    <a:spLocks noChangeArrowheads="1"/>
                  </p:cNvSpPr>
                  <p:nvPr/>
                </p:nvSpPr>
                <p:spPr bwMode="auto">
                  <a:xfrm>
                    <a:off x="1391" y="1976"/>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589" name="Oval 61"/>
                <p:cNvSpPr>
                  <a:spLocks noChangeArrowheads="1"/>
                </p:cNvSpPr>
                <p:nvPr/>
              </p:nvSpPr>
              <p:spPr bwMode="auto">
                <a:xfrm>
                  <a:off x="1420" y="2012"/>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0" name="AutoShape 62"/>
                <p:cNvSpPr>
                  <a:spLocks noChangeArrowheads="1"/>
                </p:cNvSpPr>
                <p:nvPr/>
              </p:nvSpPr>
              <p:spPr bwMode="auto">
                <a:xfrm>
                  <a:off x="1352" y="2222"/>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592" name="Freeform 64"/>
              <p:cNvSpPr>
                <a:spLocks/>
              </p:cNvSpPr>
              <p:nvPr/>
            </p:nvSpPr>
            <p:spPr bwMode="auto">
              <a:xfrm>
                <a:off x="1869" y="2205"/>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93" name="Rectangle 65"/>
              <p:cNvSpPr>
                <a:spLocks noChangeArrowheads="1"/>
              </p:cNvSpPr>
              <p:nvPr/>
            </p:nvSpPr>
            <p:spPr bwMode="auto">
              <a:xfrm>
                <a:off x="1865" y="2205"/>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4" name="Rectangle 66"/>
              <p:cNvSpPr>
                <a:spLocks noChangeArrowheads="1"/>
              </p:cNvSpPr>
              <p:nvPr/>
            </p:nvSpPr>
            <p:spPr bwMode="auto">
              <a:xfrm>
                <a:off x="1872" y="2286"/>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5" name="Rectangle 67"/>
              <p:cNvSpPr>
                <a:spLocks noChangeArrowheads="1"/>
              </p:cNvSpPr>
              <p:nvPr/>
            </p:nvSpPr>
            <p:spPr bwMode="auto">
              <a:xfrm>
                <a:off x="1689" y="2286"/>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598" name="Group 70"/>
              <p:cNvGrpSpPr>
                <a:grpSpLocks/>
              </p:cNvGrpSpPr>
              <p:nvPr/>
            </p:nvGrpSpPr>
            <p:grpSpPr bwMode="auto">
              <a:xfrm>
                <a:off x="1687" y="2033"/>
                <a:ext cx="194" cy="364"/>
                <a:chOff x="1687" y="2033"/>
                <a:chExt cx="194" cy="364"/>
              </a:xfrm>
            </p:grpSpPr>
            <p:sp>
              <p:nvSpPr>
                <p:cNvPr id="22596" name="Oval 68"/>
                <p:cNvSpPr>
                  <a:spLocks noChangeArrowheads="1"/>
                </p:cNvSpPr>
                <p:nvPr/>
              </p:nvSpPr>
              <p:spPr bwMode="auto">
                <a:xfrm>
                  <a:off x="1763" y="2033"/>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97" name="Freeform 69"/>
                <p:cNvSpPr>
                  <a:spLocks/>
                </p:cNvSpPr>
                <p:nvPr/>
              </p:nvSpPr>
              <p:spPr bwMode="auto">
                <a:xfrm>
                  <a:off x="1687" y="2101"/>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2618" name="Group 90"/>
            <p:cNvGrpSpPr>
              <a:grpSpLocks/>
            </p:cNvGrpSpPr>
            <p:nvPr/>
          </p:nvGrpSpPr>
          <p:grpSpPr bwMode="auto">
            <a:xfrm>
              <a:off x="1404" y="2440"/>
              <a:ext cx="967" cy="448"/>
              <a:chOff x="1404" y="2440"/>
              <a:chExt cx="967" cy="448"/>
            </a:xfrm>
          </p:grpSpPr>
          <p:grpSp>
            <p:nvGrpSpPr>
              <p:cNvPr id="22604" name="Group 76"/>
              <p:cNvGrpSpPr>
                <a:grpSpLocks/>
              </p:cNvGrpSpPr>
              <p:nvPr/>
            </p:nvGrpSpPr>
            <p:grpSpPr bwMode="auto">
              <a:xfrm>
                <a:off x="1404" y="2440"/>
                <a:ext cx="305" cy="448"/>
                <a:chOff x="1404" y="2440"/>
                <a:chExt cx="305" cy="448"/>
              </a:xfrm>
            </p:grpSpPr>
            <p:grpSp>
              <p:nvGrpSpPr>
                <p:cNvPr id="22602" name="Group 74"/>
                <p:cNvGrpSpPr>
                  <a:grpSpLocks/>
                </p:cNvGrpSpPr>
                <p:nvPr/>
              </p:nvGrpSpPr>
              <p:grpSpPr bwMode="auto">
                <a:xfrm>
                  <a:off x="1404" y="2440"/>
                  <a:ext cx="305" cy="448"/>
                  <a:chOff x="1404" y="2440"/>
                  <a:chExt cx="305" cy="448"/>
                </a:xfrm>
              </p:grpSpPr>
              <p:sp>
                <p:nvSpPr>
                  <p:cNvPr id="22600" name="AutoShape 72"/>
                  <p:cNvSpPr>
                    <a:spLocks noChangeArrowheads="1"/>
                  </p:cNvSpPr>
                  <p:nvPr/>
                </p:nvSpPr>
                <p:spPr bwMode="auto">
                  <a:xfrm>
                    <a:off x="1404" y="2511"/>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1" name="AutoShape 73"/>
                  <p:cNvSpPr>
                    <a:spLocks noChangeArrowheads="1"/>
                  </p:cNvSpPr>
                  <p:nvPr/>
                </p:nvSpPr>
                <p:spPr bwMode="auto">
                  <a:xfrm>
                    <a:off x="1474" y="2440"/>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603" name="AutoShape 75"/>
                <p:cNvSpPr>
                  <a:spLocks noChangeArrowheads="1"/>
                </p:cNvSpPr>
                <p:nvPr/>
              </p:nvSpPr>
              <p:spPr bwMode="auto">
                <a:xfrm>
                  <a:off x="1466" y="2544"/>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610" name="Group 82"/>
              <p:cNvGrpSpPr>
                <a:grpSpLocks/>
              </p:cNvGrpSpPr>
              <p:nvPr/>
            </p:nvGrpSpPr>
            <p:grpSpPr bwMode="auto">
              <a:xfrm>
                <a:off x="1705" y="2440"/>
                <a:ext cx="378" cy="448"/>
                <a:chOff x="1705" y="2440"/>
                <a:chExt cx="378" cy="448"/>
              </a:xfrm>
            </p:grpSpPr>
            <p:grpSp>
              <p:nvGrpSpPr>
                <p:cNvPr id="22607" name="Group 79"/>
                <p:cNvGrpSpPr>
                  <a:grpSpLocks/>
                </p:cNvGrpSpPr>
                <p:nvPr/>
              </p:nvGrpSpPr>
              <p:grpSpPr bwMode="auto">
                <a:xfrm>
                  <a:off x="1705" y="2440"/>
                  <a:ext cx="378" cy="448"/>
                  <a:chOff x="1705" y="2440"/>
                  <a:chExt cx="378" cy="448"/>
                </a:xfrm>
              </p:grpSpPr>
              <p:sp>
                <p:nvSpPr>
                  <p:cNvPr id="22605" name="AutoShape 77"/>
                  <p:cNvSpPr>
                    <a:spLocks noChangeArrowheads="1"/>
                  </p:cNvSpPr>
                  <p:nvPr/>
                </p:nvSpPr>
                <p:spPr bwMode="auto">
                  <a:xfrm>
                    <a:off x="1705" y="2511"/>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6" name="AutoShape 78"/>
                  <p:cNvSpPr>
                    <a:spLocks noChangeArrowheads="1"/>
                  </p:cNvSpPr>
                  <p:nvPr/>
                </p:nvSpPr>
                <p:spPr bwMode="auto">
                  <a:xfrm>
                    <a:off x="1791" y="2440"/>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608" name="Oval 80"/>
                <p:cNvSpPr>
                  <a:spLocks noChangeArrowheads="1"/>
                </p:cNvSpPr>
                <p:nvPr/>
              </p:nvSpPr>
              <p:spPr bwMode="auto">
                <a:xfrm>
                  <a:off x="1820" y="2476"/>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09" name="AutoShape 81"/>
                <p:cNvSpPr>
                  <a:spLocks noChangeArrowheads="1"/>
                </p:cNvSpPr>
                <p:nvPr/>
              </p:nvSpPr>
              <p:spPr bwMode="auto">
                <a:xfrm>
                  <a:off x="1752" y="2686"/>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611" name="Freeform 83"/>
              <p:cNvSpPr>
                <a:spLocks/>
              </p:cNvSpPr>
              <p:nvPr/>
            </p:nvSpPr>
            <p:spPr bwMode="auto">
              <a:xfrm>
                <a:off x="2269" y="2669"/>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12" name="Rectangle 84"/>
              <p:cNvSpPr>
                <a:spLocks noChangeArrowheads="1"/>
              </p:cNvSpPr>
              <p:nvPr/>
            </p:nvSpPr>
            <p:spPr bwMode="auto">
              <a:xfrm>
                <a:off x="2265" y="2669"/>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3" name="Rectangle 85"/>
              <p:cNvSpPr>
                <a:spLocks noChangeArrowheads="1"/>
              </p:cNvSpPr>
              <p:nvPr/>
            </p:nvSpPr>
            <p:spPr bwMode="auto">
              <a:xfrm>
                <a:off x="2272" y="2750"/>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4" name="Rectangle 86"/>
              <p:cNvSpPr>
                <a:spLocks noChangeArrowheads="1"/>
              </p:cNvSpPr>
              <p:nvPr/>
            </p:nvSpPr>
            <p:spPr bwMode="auto">
              <a:xfrm>
                <a:off x="2089" y="2750"/>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617" name="Group 89"/>
              <p:cNvGrpSpPr>
                <a:grpSpLocks/>
              </p:cNvGrpSpPr>
              <p:nvPr/>
            </p:nvGrpSpPr>
            <p:grpSpPr bwMode="auto">
              <a:xfrm>
                <a:off x="2087" y="2497"/>
                <a:ext cx="194" cy="364"/>
                <a:chOff x="2087" y="2497"/>
                <a:chExt cx="194" cy="364"/>
              </a:xfrm>
            </p:grpSpPr>
            <p:sp>
              <p:nvSpPr>
                <p:cNvPr id="22615" name="Oval 87"/>
                <p:cNvSpPr>
                  <a:spLocks noChangeArrowheads="1"/>
                </p:cNvSpPr>
                <p:nvPr/>
              </p:nvSpPr>
              <p:spPr bwMode="auto">
                <a:xfrm>
                  <a:off x="2163" y="2497"/>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16" name="Freeform 88"/>
                <p:cNvSpPr>
                  <a:spLocks/>
                </p:cNvSpPr>
                <p:nvPr/>
              </p:nvSpPr>
              <p:spPr bwMode="auto">
                <a:xfrm>
                  <a:off x="2087" y="2565"/>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2637" name="Group 109"/>
            <p:cNvGrpSpPr>
              <a:grpSpLocks/>
            </p:cNvGrpSpPr>
            <p:nvPr/>
          </p:nvGrpSpPr>
          <p:grpSpPr bwMode="auto">
            <a:xfrm>
              <a:off x="1820" y="2928"/>
              <a:ext cx="967" cy="448"/>
              <a:chOff x="1820" y="2928"/>
              <a:chExt cx="967" cy="448"/>
            </a:xfrm>
          </p:grpSpPr>
          <p:grpSp>
            <p:nvGrpSpPr>
              <p:cNvPr id="22623" name="Group 95"/>
              <p:cNvGrpSpPr>
                <a:grpSpLocks/>
              </p:cNvGrpSpPr>
              <p:nvPr/>
            </p:nvGrpSpPr>
            <p:grpSpPr bwMode="auto">
              <a:xfrm>
                <a:off x="1820" y="2928"/>
                <a:ext cx="305" cy="448"/>
                <a:chOff x="1820" y="2928"/>
                <a:chExt cx="305" cy="448"/>
              </a:xfrm>
            </p:grpSpPr>
            <p:grpSp>
              <p:nvGrpSpPr>
                <p:cNvPr id="22621" name="Group 93"/>
                <p:cNvGrpSpPr>
                  <a:grpSpLocks/>
                </p:cNvGrpSpPr>
                <p:nvPr/>
              </p:nvGrpSpPr>
              <p:grpSpPr bwMode="auto">
                <a:xfrm>
                  <a:off x="1820" y="2928"/>
                  <a:ext cx="305" cy="448"/>
                  <a:chOff x="1820" y="2928"/>
                  <a:chExt cx="305" cy="448"/>
                </a:xfrm>
              </p:grpSpPr>
              <p:sp>
                <p:nvSpPr>
                  <p:cNvPr id="22619" name="AutoShape 91"/>
                  <p:cNvSpPr>
                    <a:spLocks noChangeArrowheads="1"/>
                  </p:cNvSpPr>
                  <p:nvPr/>
                </p:nvSpPr>
                <p:spPr bwMode="auto">
                  <a:xfrm>
                    <a:off x="1820" y="2999"/>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0" name="AutoShape 92"/>
                  <p:cNvSpPr>
                    <a:spLocks noChangeArrowheads="1"/>
                  </p:cNvSpPr>
                  <p:nvPr/>
                </p:nvSpPr>
                <p:spPr bwMode="auto">
                  <a:xfrm>
                    <a:off x="1890" y="2928"/>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622" name="AutoShape 94"/>
                <p:cNvSpPr>
                  <a:spLocks noChangeArrowheads="1"/>
                </p:cNvSpPr>
                <p:nvPr/>
              </p:nvSpPr>
              <p:spPr bwMode="auto">
                <a:xfrm>
                  <a:off x="1882" y="3032"/>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629" name="Group 101"/>
              <p:cNvGrpSpPr>
                <a:grpSpLocks/>
              </p:cNvGrpSpPr>
              <p:nvPr/>
            </p:nvGrpSpPr>
            <p:grpSpPr bwMode="auto">
              <a:xfrm>
                <a:off x="2121" y="2928"/>
                <a:ext cx="378" cy="448"/>
                <a:chOff x="2121" y="2928"/>
                <a:chExt cx="378" cy="448"/>
              </a:xfrm>
            </p:grpSpPr>
            <p:grpSp>
              <p:nvGrpSpPr>
                <p:cNvPr id="22626" name="Group 98"/>
                <p:cNvGrpSpPr>
                  <a:grpSpLocks/>
                </p:cNvGrpSpPr>
                <p:nvPr/>
              </p:nvGrpSpPr>
              <p:grpSpPr bwMode="auto">
                <a:xfrm>
                  <a:off x="2121" y="2928"/>
                  <a:ext cx="378" cy="448"/>
                  <a:chOff x="2121" y="2928"/>
                  <a:chExt cx="378" cy="448"/>
                </a:xfrm>
              </p:grpSpPr>
              <p:sp>
                <p:nvSpPr>
                  <p:cNvPr id="22624" name="AutoShape 96"/>
                  <p:cNvSpPr>
                    <a:spLocks noChangeArrowheads="1"/>
                  </p:cNvSpPr>
                  <p:nvPr/>
                </p:nvSpPr>
                <p:spPr bwMode="auto">
                  <a:xfrm>
                    <a:off x="2121" y="2999"/>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5" name="AutoShape 97"/>
                  <p:cNvSpPr>
                    <a:spLocks noChangeArrowheads="1"/>
                  </p:cNvSpPr>
                  <p:nvPr/>
                </p:nvSpPr>
                <p:spPr bwMode="auto">
                  <a:xfrm>
                    <a:off x="2207" y="2928"/>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627" name="Oval 99"/>
                <p:cNvSpPr>
                  <a:spLocks noChangeArrowheads="1"/>
                </p:cNvSpPr>
                <p:nvPr/>
              </p:nvSpPr>
              <p:spPr bwMode="auto">
                <a:xfrm>
                  <a:off x="2236" y="2964"/>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28" name="AutoShape 100"/>
                <p:cNvSpPr>
                  <a:spLocks noChangeArrowheads="1"/>
                </p:cNvSpPr>
                <p:nvPr/>
              </p:nvSpPr>
              <p:spPr bwMode="auto">
                <a:xfrm>
                  <a:off x="2168" y="3174"/>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630" name="Freeform 102"/>
              <p:cNvSpPr>
                <a:spLocks/>
              </p:cNvSpPr>
              <p:nvPr/>
            </p:nvSpPr>
            <p:spPr bwMode="auto">
              <a:xfrm>
                <a:off x="2685" y="3157"/>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31" name="Rectangle 103"/>
              <p:cNvSpPr>
                <a:spLocks noChangeArrowheads="1"/>
              </p:cNvSpPr>
              <p:nvPr/>
            </p:nvSpPr>
            <p:spPr bwMode="auto">
              <a:xfrm>
                <a:off x="2681" y="3157"/>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2" name="Rectangle 104"/>
              <p:cNvSpPr>
                <a:spLocks noChangeArrowheads="1"/>
              </p:cNvSpPr>
              <p:nvPr/>
            </p:nvSpPr>
            <p:spPr bwMode="auto">
              <a:xfrm>
                <a:off x="2688" y="3238"/>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3" name="Rectangle 105"/>
              <p:cNvSpPr>
                <a:spLocks noChangeArrowheads="1"/>
              </p:cNvSpPr>
              <p:nvPr/>
            </p:nvSpPr>
            <p:spPr bwMode="auto">
              <a:xfrm>
                <a:off x="2505" y="3238"/>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636" name="Group 108"/>
              <p:cNvGrpSpPr>
                <a:grpSpLocks/>
              </p:cNvGrpSpPr>
              <p:nvPr/>
            </p:nvGrpSpPr>
            <p:grpSpPr bwMode="auto">
              <a:xfrm>
                <a:off x="2503" y="2985"/>
                <a:ext cx="194" cy="364"/>
                <a:chOff x="2503" y="2985"/>
                <a:chExt cx="194" cy="364"/>
              </a:xfrm>
            </p:grpSpPr>
            <p:sp>
              <p:nvSpPr>
                <p:cNvPr id="22634" name="Oval 106"/>
                <p:cNvSpPr>
                  <a:spLocks noChangeArrowheads="1"/>
                </p:cNvSpPr>
                <p:nvPr/>
              </p:nvSpPr>
              <p:spPr bwMode="auto">
                <a:xfrm>
                  <a:off x="2579" y="2985"/>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5" name="Freeform 107"/>
                <p:cNvSpPr>
                  <a:spLocks/>
                </p:cNvSpPr>
                <p:nvPr/>
              </p:nvSpPr>
              <p:spPr bwMode="auto">
                <a:xfrm>
                  <a:off x="2503" y="3053"/>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22656" name="Group 128"/>
            <p:cNvGrpSpPr>
              <a:grpSpLocks/>
            </p:cNvGrpSpPr>
            <p:nvPr/>
          </p:nvGrpSpPr>
          <p:grpSpPr bwMode="auto">
            <a:xfrm>
              <a:off x="2236" y="3376"/>
              <a:ext cx="967" cy="448"/>
              <a:chOff x="2236" y="3376"/>
              <a:chExt cx="967" cy="448"/>
            </a:xfrm>
          </p:grpSpPr>
          <p:grpSp>
            <p:nvGrpSpPr>
              <p:cNvPr id="22642" name="Group 114"/>
              <p:cNvGrpSpPr>
                <a:grpSpLocks/>
              </p:cNvGrpSpPr>
              <p:nvPr/>
            </p:nvGrpSpPr>
            <p:grpSpPr bwMode="auto">
              <a:xfrm>
                <a:off x="2236" y="3376"/>
                <a:ext cx="305" cy="448"/>
                <a:chOff x="2236" y="3376"/>
                <a:chExt cx="305" cy="448"/>
              </a:xfrm>
            </p:grpSpPr>
            <p:grpSp>
              <p:nvGrpSpPr>
                <p:cNvPr id="22640" name="Group 112"/>
                <p:cNvGrpSpPr>
                  <a:grpSpLocks/>
                </p:cNvGrpSpPr>
                <p:nvPr/>
              </p:nvGrpSpPr>
              <p:grpSpPr bwMode="auto">
                <a:xfrm>
                  <a:off x="2236" y="3376"/>
                  <a:ext cx="305" cy="448"/>
                  <a:chOff x="2236" y="3376"/>
                  <a:chExt cx="305" cy="448"/>
                </a:xfrm>
              </p:grpSpPr>
              <p:sp>
                <p:nvSpPr>
                  <p:cNvPr id="22638" name="AutoShape 110"/>
                  <p:cNvSpPr>
                    <a:spLocks noChangeArrowheads="1"/>
                  </p:cNvSpPr>
                  <p:nvPr/>
                </p:nvSpPr>
                <p:spPr bwMode="auto">
                  <a:xfrm>
                    <a:off x="2236" y="3447"/>
                    <a:ext cx="305" cy="377"/>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9" name="AutoShape 111"/>
                  <p:cNvSpPr>
                    <a:spLocks noChangeArrowheads="1"/>
                  </p:cNvSpPr>
                  <p:nvPr/>
                </p:nvSpPr>
                <p:spPr bwMode="auto">
                  <a:xfrm>
                    <a:off x="2306" y="3376"/>
                    <a:ext cx="235" cy="78"/>
                  </a:xfrm>
                  <a:prstGeom prst="cube">
                    <a:avLst>
                      <a:gd name="adj" fmla="val 24995"/>
                    </a:avLst>
                  </a:prstGeom>
                  <a:solidFill>
                    <a:srgbClr val="F6BF6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641" name="AutoShape 113"/>
                <p:cNvSpPr>
                  <a:spLocks noChangeArrowheads="1"/>
                </p:cNvSpPr>
                <p:nvPr/>
              </p:nvSpPr>
              <p:spPr bwMode="auto">
                <a:xfrm>
                  <a:off x="2298" y="3480"/>
                  <a:ext cx="158" cy="27"/>
                </a:xfrm>
                <a:prstGeom prst="parallelogram">
                  <a:avLst>
                    <a:gd name="adj" fmla="val 146269"/>
                  </a:avLst>
                </a:prstGeom>
                <a:solidFill>
                  <a:srgbClr val="F6BF69"/>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648" name="Group 120"/>
              <p:cNvGrpSpPr>
                <a:grpSpLocks/>
              </p:cNvGrpSpPr>
              <p:nvPr/>
            </p:nvGrpSpPr>
            <p:grpSpPr bwMode="auto">
              <a:xfrm>
                <a:off x="2537" y="3376"/>
                <a:ext cx="378" cy="448"/>
                <a:chOff x="2537" y="3376"/>
                <a:chExt cx="378" cy="448"/>
              </a:xfrm>
            </p:grpSpPr>
            <p:grpSp>
              <p:nvGrpSpPr>
                <p:cNvPr id="22645" name="Group 117"/>
                <p:cNvGrpSpPr>
                  <a:grpSpLocks/>
                </p:cNvGrpSpPr>
                <p:nvPr/>
              </p:nvGrpSpPr>
              <p:grpSpPr bwMode="auto">
                <a:xfrm>
                  <a:off x="2537" y="3376"/>
                  <a:ext cx="378" cy="448"/>
                  <a:chOff x="2537" y="3376"/>
                  <a:chExt cx="378" cy="448"/>
                </a:xfrm>
              </p:grpSpPr>
              <p:sp>
                <p:nvSpPr>
                  <p:cNvPr id="22643" name="AutoShape 115"/>
                  <p:cNvSpPr>
                    <a:spLocks noChangeArrowheads="1"/>
                  </p:cNvSpPr>
                  <p:nvPr/>
                </p:nvSpPr>
                <p:spPr bwMode="auto">
                  <a:xfrm>
                    <a:off x="2537" y="3447"/>
                    <a:ext cx="378" cy="377"/>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4" name="AutoShape 116"/>
                  <p:cNvSpPr>
                    <a:spLocks noChangeArrowheads="1"/>
                  </p:cNvSpPr>
                  <p:nvPr/>
                </p:nvSpPr>
                <p:spPr bwMode="auto">
                  <a:xfrm>
                    <a:off x="2623" y="3376"/>
                    <a:ext cx="292" cy="78"/>
                  </a:xfrm>
                  <a:prstGeom prst="cube">
                    <a:avLst>
                      <a:gd name="adj" fmla="val 24995"/>
                    </a:avLst>
                  </a:prstGeom>
                  <a:solidFill>
                    <a:srgbClr val="A2C1FE"/>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646" name="Oval 118"/>
                <p:cNvSpPr>
                  <a:spLocks noChangeArrowheads="1"/>
                </p:cNvSpPr>
                <p:nvPr/>
              </p:nvSpPr>
              <p:spPr bwMode="auto">
                <a:xfrm>
                  <a:off x="2652" y="3412"/>
                  <a:ext cx="49" cy="27"/>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47" name="AutoShape 119"/>
                <p:cNvSpPr>
                  <a:spLocks noChangeArrowheads="1"/>
                </p:cNvSpPr>
                <p:nvPr/>
              </p:nvSpPr>
              <p:spPr bwMode="auto">
                <a:xfrm>
                  <a:off x="2584" y="3622"/>
                  <a:ext cx="198" cy="84"/>
                </a:xfrm>
                <a:prstGeom prst="octagon">
                  <a:avLst>
                    <a:gd name="adj" fmla="val 29282"/>
                  </a:avLst>
                </a:prstGeom>
                <a:solidFill>
                  <a:srgbClr val="A2C1FE"/>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649" name="Freeform 121"/>
              <p:cNvSpPr>
                <a:spLocks/>
              </p:cNvSpPr>
              <p:nvPr/>
            </p:nvSpPr>
            <p:spPr bwMode="auto">
              <a:xfrm>
                <a:off x="3101" y="3605"/>
                <a:ext cx="86" cy="192"/>
              </a:xfrm>
              <a:custGeom>
                <a:avLst/>
                <a:gdLst>
                  <a:gd name="T0" fmla="*/ 62 w 86"/>
                  <a:gd name="T1" fmla="*/ 0 h 192"/>
                  <a:gd name="T2" fmla="*/ 85 w 86"/>
                  <a:gd name="T3" fmla="*/ 0 h 192"/>
                  <a:gd name="T4" fmla="*/ 23 w 86"/>
                  <a:gd name="T5" fmla="*/ 191 h 192"/>
                  <a:gd name="T6" fmla="*/ 0 w 86"/>
                  <a:gd name="T7" fmla="*/ 191 h 192"/>
                  <a:gd name="T8" fmla="*/ 62 w 86"/>
                  <a:gd name="T9" fmla="*/ 0 h 192"/>
                </a:gdLst>
                <a:ahLst/>
                <a:cxnLst>
                  <a:cxn ang="0">
                    <a:pos x="T0" y="T1"/>
                  </a:cxn>
                  <a:cxn ang="0">
                    <a:pos x="T2" y="T3"/>
                  </a:cxn>
                  <a:cxn ang="0">
                    <a:pos x="T4" y="T5"/>
                  </a:cxn>
                  <a:cxn ang="0">
                    <a:pos x="T6" y="T7"/>
                  </a:cxn>
                  <a:cxn ang="0">
                    <a:pos x="T8" y="T9"/>
                  </a:cxn>
                </a:cxnLst>
                <a:rect l="0" t="0" r="r" b="b"/>
                <a:pathLst>
                  <a:path w="86" h="192">
                    <a:moveTo>
                      <a:pt x="62" y="0"/>
                    </a:moveTo>
                    <a:lnTo>
                      <a:pt x="85" y="0"/>
                    </a:lnTo>
                    <a:lnTo>
                      <a:pt x="23" y="191"/>
                    </a:lnTo>
                    <a:lnTo>
                      <a:pt x="0" y="191"/>
                    </a:lnTo>
                    <a:lnTo>
                      <a:pt x="62" y="0"/>
                    </a:lnTo>
                  </a:path>
                </a:pathLst>
              </a:custGeom>
              <a:solidFill>
                <a:srgbClr val="FC0128"/>
              </a:solidFill>
              <a:ln>
                <a:noFill/>
              </a:ln>
              <a:effectLst/>
              <a:extLst>
                <a:ext uri="{91240B29-F687-4F45-9708-019B960494DF}">
                  <a14:hiddenLine xmlns:a14="http://schemas.microsoft.com/office/drawing/2010/main" w="127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50" name="Rectangle 122"/>
              <p:cNvSpPr>
                <a:spLocks noChangeArrowheads="1"/>
              </p:cNvSpPr>
              <p:nvPr/>
            </p:nvSpPr>
            <p:spPr bwMode="auto">
              <a:xfrm>
                <a:off x="3097" y="3605"/>
                <a:ext cx="106"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51" name="Rectangle 123"/>
              <p:cNvSpPr>
                <a:spLocks noChangeArrowheads="1"/>
              </p:cNvSpPr>
              <p:nvPr/>
            </p:nvSpPr>
            <p:spPr bwMode="auto">
              <a:xfrm>
                <a:off x="3104" y="3686"/>
                <a:ext cx="82" cy="16"/>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52" name="Rectangle 124"/>
              <p:cNvSpPr>
                <a:spLocks noChangeArrowheads="1"/>
              </p:cNvSpPr>
              <p:nvPr/>
            </p:nvSpPr>
            <p:spPr bwMode="auto">
              <a:xfrm>
                <a:off x="2921" y="3686"/>
                <a:ext cx="103" cy="11"/>
              </a:xfrm>
              <a:prstGeom prst="rect">
                <a:avLst/>
              </a:prstGeom>
              <a:solidFill>
                <a:srgbClr val="FC0128"/>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2655" name="Group 127"/>
              <p:cNvGrpSpPr>
                <a:grpSpLocks/>
              </p:cNvGrpSpPr>
              <p:nvPr/>
            </p:nvGrpSpPr>
            <p:grpSpPr bwMode="auto">
              <a:xfrm>
                <a:off x="2919" y="3433"/>
                <a:ext cx="194" cy="364"/>
                <a:chOff x="2919" y="3433"/>
                <a:chExt cx="194" cy="364"/>
              </a:xfrm>
            </p:grpSpPr>
            <p:sp>
              <p:nvSpPr>
                <p:cNvPr id="22653" name="Oval 125"/>
                <p:cNvSpPr>
                  <a:spLocks noChangeArrowheads="1"/>
                </p:cNvSpPr>
                <p:nvPr/>
              </p:nvSpPr>
              <p:spPr bwMode="auto">
                <a:xfrm>
                  <a:off x="2995" y="3433"/>
                  <a:ext cx="48" cy="48"/>
                </a:xfrm>
                <a:prstGeom prst="ellipse">
                  <a:avLst/>
                </a:prstGeom>
                <a:solidFill>
                  <a:srgbClr val="FC0128"/>
                </a:solidFill>
                <a:ln w="1270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54" name="Freeform 126"/>
                <p:cNvSpPr>
                  <a:spLocks/>
                </p:cNvSpPr>
                <p:nvPr/>
              </p:nvSpPr>
              <p:spPr bwMode="auto">
                <a:xfrm>
                  <a:off x="2919" y="3501"/>
                  <a:ext cx="194" cy="296"/>
                </a:xfrm>
                <a:custGeom>
                  <a:avLst/>
                  <a:gdLst>
                    <a:gd name="T0" fmla="*/ 2 w 194"/>
                    <a:gd name="T1" fmla="*/ 137 h 296"/>
                    <a:gd name="T2" fmla="*/ 1 w 194"/>
                    <a:gd name="T3" fmla="*/ 140 h 296"/>
                    <a:gd name="T4" fmla="*/ 0 w 194"/>
                    <a:gd name="T5" fmla="*/ 145 h 296"/>
                    <a:gd name="T6" fmla="*/ 0 w 194"/>
                    <a:gd name="T7" fmla="*/ 150 h 296"/>
                    <a:gd name="T8" fmla="*/ 2 w 194"/>
                    <a:gd name="T9" fmla="*/ 155 h 296"/>
                    <a:gd name="T10" fmla="*/ 4 w 194"/>
                    <a:gd name="T11" fmla="*/ 159 h 296"/>
                    <a:gd name="T12" fmla="*/ 8 w 194"/>
                    <a:gd name="T13" fmla="*/ 163 h 296"/>
                    <a:gd name="T14" fmla="*/ 12 w 194"/>
                    <a:gd name="T15" fmla="*/ 165 h 296"/>
                    <a:gd name="T16" fmla="*/ 16 w 194"/>
                    <a:gd name="T17" fmla="*/ 166 h 296"/>
                    <a:gd name="T18" fmla="*/ 21 w 194"/>
                    <a:gd name="T19" fmla="*/ 166 h 296"/>
                    <a:gd name="T20" fmla="*/ 126 w 194"/>
                    <a:gd name="T21" fmla="*/ 295 h 296"/>
                    <a:gd name="T22" fmla="*/ 159 w 194"/>
                    <a:gd name="T23" fmla="*/ 142 h 296"/>
                    <a:gd name="T24" fmla="*/ 159 w 194"/>
                    <a:gd name="T25" fmla="*/ 138 h 296"/>
                    <a:gd name="T26" fmla="*/ 157 w 194"/>
                    <a:gd name="T27" fmla="*/ 136 h 296"/>
                    <a:gd name="T28" fmla="*/ 154 w 194"/>
                    <a:gd name="T29" fmla="*/ 133 h 296"/>
                    <a:gd name="T30" fmla="*/ 152 w 194"/>
                    <a:gd name="T31" fmla="*/ 131 h 296"/>
                    <a:gd name="T32" fmla="*/ 148 w 194"/>
                    <a:gd name="T33" fmla="*/ 130 h 296"/>
                    <a:gd name="T34" fmla="*/ 144 w 194"/>
                    <a:gd name="T35" fmla="*/ 129 h 296"/>
                    <a:gd name="T36" fmla="*/ 140 w 194"/>
                    <a:gd name="T37" fmla="*/ 129 h 296"/>
                    <a:gd name="T38" fmla="*/ 137 w 194"/>
                    <a:gd name="T39" fmla="*/ 129 h 296"/>
                    <a:gd name="T40" fmla="*/ 93 w 194"/>
                    <a:gd name="T41" fmla="*/ 75 h 296"/>
                    <a:gd name="T42" fmla="*/ 179 w 194"/>
                    <a:gd name="T43" fmla="*/ 93 h 296"/>
                    <a:gd name="T44" fmla="*/ 183 w 194"/>
                    <a:gd name="T45" fmla="*/ 92 h 296"/>
                    <a:gd name="T46" fmla="*/ 185 w 194"/>
                    <a:gd name="T47" fmla="*/ 91 h 296"/>
                    <a:gd name="T48" fmla="*/ 189 w 194"/>
                    <a:gd name="T49" fmla="*/ 89 h 296"/>
                    <a:gd name="T50" fmla="*/ 191 w 194"/>
                    <a:gd name="T51" fmla="*/ 86 h 296"/>
                    <a:gd name="T52" fmla="*/ 192 w 194"/>
                    <a:gd name="T53" fmla="*/ 83 h 296"/>
                    <a:gd name="T54" fmla="*/ 193 w 194"/>
                    <a:gd name="T55" fmla="*/ 78 h 296"/>
                    <a:gd name="T56" fmla="*/ 192 w 194"/>
                    <a:gd name="T57" fmla="*/ 74 h 296"/>
                    <a:gd name="T58" fmla="*/ 190 w 194"/>
                    <a:gd name="T59" fmla="*/ 70 h 296"/>
                    <a:gd name="T60" fmla="*/ 188 w 194"/>
                    <a:gd name="T61" fmla="*/ 68 h 296"/>
                    <a:gd name="T62" fmla="*/ 184 w 194"/>
                    <a:gd name="T63" fmla="*/ 65 h 296"/>
                    <a:gd name="T64" fmla="*/ 181 w 194"/>
                    <a:gd name="T65" fmla="*/ 64 h 296"/>
                    <a:gd name="T66" fmla="*/ 122 w 194"/>
                    <a:gd name="T67" fmla="*/ 64 h 296"/>
                    <a:gd name="T68" fmla="*/ 112 w 194"/>
                    <a:gd name="T69" fmla="*/ 42 h 296"/>
                    <a:gd name="T70" fmla="*/ 113 w 194"/>
                    <a:gd name="T71" fmla="*/ 37 h 296"/>
                    <a:gd name="T72" fmla="*/ 114 w 194"/>
                    <a:gd name="T73" fmla="*/ 30 h 296"/>
                    <a:gd name="T74" fmla="*/ 114 w 194"/>
                    <a:gd name="T75" fmla="*/ 24 h 296"/>
                    <a:gd name="T76" fmla="*/ 112 w 194"/>
                    <a:gd name="T77" fmla="*/ 19 h 296"/>
                    <a:gd name="T78" fmla="*/ 110 w 194"/>
                    <a:gd name="T79" fmla="*/ 15 h 296"/>
                    <a:gd name="T80" fmla="*/ 107 w 194"/>
                    <a:gd name="T81" fmla="*/ 10 h 296"/>
                    <a:gd name="T82" fmla="*/ 103 w 194"/>
                    <a:gd name="T83" fmla="*/ 7 h 296"/>
                    <a:gd name="T84" fmla="*/ 98 w 194"/>
                    <a:gd name="T85" fmla="*/ 3 h 296"/>
                    <a:gd name="T86" fmla="*/ 93 w 194"/>
                    <a:gd name="T87" fmla="*/ 1 h 296"/>
                    <a:gd name="T88" fmla="*/ 87 w 194"/>
                    <a:gd name="T89" fmla="*/ 0 h 296"/>
                    <a:gd name="T90" fmla="*/ 81 w 194"/>
                    <a:gd name="T91" fmla="*/ 0 h 296"/>
                    <a:gd name="T92" fmla="*/ 75 w 194"/>
                    <a:gd name="T93" fmla="*/ 1 h 296"/>
                    <a:gd name="T94" fmla="*/ 69 w 194"/>
                    <a:gd name="T95" fmla="*/ 3 h 296"/>
                    <a:gd name="T96" fmla="*/ 63 w 194"/>
                    <a:gd name="T97" fmla="*/ 6 h 296"/>
                    <a:gd name="T98" fmla="*/ 59 w 194"/>
                    <a:gd name="T99" fmla="*/ 11 h 296"/>
                    <a:gd name="T100" fmla="*/ 55 w 194"/>
                    <a:gd name="T101" fmla="*/ 17 h 296"/>
                    <a:gd name="T102" fmla="*/ 53 w 194"/>
                    <a:gd name="T103" fmla="*/ 23 h 2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94" h="296">
                      <a:moveTo>
                        <a:pt x="53" y="23"/>
                      </a:moveTo>
                      <a:lnTo>
                        <a:pt x="2" y="137"/>
                      </a:lnTo>
                      <a:lnTo>
                        <a:pt x="1" y="138"/>
                      </a:lnTo>
                      <a:lnTo>
                        <a:pt x="1" y="140"/>
                      </a:lnTo>
                      <a:lnTo>
                        <a:pt x="0" y="142"/>
                      </a:lnTo>
                      <a:lnTo>
                        <a:pt x="0" y="145"/>
                      </a:lnTo>
                      <a:lnTo>
                        <a:pt x="0" y="147"/>
                      </a:lnTo>
                      <a:lnTo>
                        <a:pt x="0" y="150"/>
                      </a:lnTo>
                      <a:lnTo>
                        <a:pt x="1" y="152"/>
                      </a:lnTo>
                      <a:lnTo>
                        <a:pt x="2" y="155"/>
                      </a:lnTo>
                      <a:lnTo>
                        <a:pt x="3" y="157"/>
                      </a:lnTo>
                      <a:lnTo>
                        <a:pt x="4" y="159"/>
                      </a:lnTo>
                      <a:lnTo>
                        <a:pt x="6" y="161"/>
                      </a:lnTo>
                      <a:lnTo>
                        <a:pt x="8" y="163"/>
                      </a:lnTo>
                      <a:lnTo>
                        <a:pt x="10" y="164"/>
                      </a:lnTo>
                      <a:lnTo>
                        <a:pt x="12" y="165"/>
                      </a:lnTo>
                      <a:lnTo>
                        <a:pt x="14" y="165"/>
                      </a:lnTo>
                      <a:lnTo>
                        <a:pt x="16" y="166"/>
                      </a:lnTo>
                      <a:lnTo>
                        <a:pt x="18" y="166"/>
                      </a:lnTo>
                      <a:lnTo>
                        <a:pt x="21" y="166"/>
                      </a:lnTo>
                      <a:lnTo>
                        <a:pt x="126" y="166"/>
                      </a:lnTo>
                      <a:lnTo>
                        <a:pt x="126" y="295"/>
                      </a:lnTo>
                      <a:lnTo>
                        <a:pt x="159" y="295"/>
                      </a:lnTo>
                      <a:lnTo>
                        <a:pt x="159" y="142"/>
                      </a:lnTo>
                      <a:lnTo>
                        <a:pt x="159" y="140"/>
                      </a:lnTo>
                      <a:lnTo>
                        <a:pt x="159" y="138"/>
                      </a:lnTo>
                      <a:lnTo>
                        <a:pt x="158" y="137"/>
                      </a:lnTo>
                      <a:lnTo>
                        <a:pt x="157" y="136"/>
                      </a:lnTo>
                      <a:lnTo>
                        <a:pt x="156" y="135"/>
                      </a:lnTo>
                      <a:lnTo>
                        <a:pt x="154" y="133"/>
                      </a:lnTo>
                      <a:lnTo>
                        <a:pt x="153" y="132"/>
                      </a:lnTo>
                      <a:lnTo>
                        <a:pt x="152" y="131"/>
                      </a:lnTo>
                      <a:lnTo>
                        <a:pt x="150" y="131"/>
                      </a:lnTo>
                      <a:lnTo>
                        <a:pt x="148" y="130"/>
                      </a:lnTo>
                      <a:lnTo>
                        <a:pt x="146" y="130"/>
                      </a:lnTo>
                      <a:lnTo>
                        <a:pt x="144" y="129"/>
                      </a:lnTo>
                      <a:lnTo>
                        <a:pt x="142" y="129"/>
                      </a:lnTo>
                      <a:lnTo>
                        <a:pt x="140" y="129"/>
                      </a:lnTo>
                      <a:lnTo>
                        <a:pt x="139" y="129"/>
                      </a:lnTo>
                      <a:lnTo>
                        <a:pt x="137" y="129"/>
                      </a:lnTo>
                      <a:lnTo>
                        <a:pt x="76" y="125"/>
                      </a:lnTo>
                      <a:lnTo>
                        <a:pt x="93" y="75"/>
                      </a:lnTo>
                      <a:lnTo>
                        <a:pt x="105" y="93"/>
                      </a:lnTo>
                      <a:lnTo>
                        <a:pt x="179" y="93"/>
                      </a:lnTo>
                      <a:lnTo>
                        <a:pt x="181" y="92"/>
                      </a:lnTo>
                      <a:lnTo>
                        <a:pt x="183" y="92"/>
                      </a:lnTo>
                      <a:lnTo>
                        <a:pt x="184" y="91"/>
                      </a:lnTo>
                      <a:lnTo>
                        <a:pt x="185" y="91"/>
                      </a:lnTo>
                      <a:lnTo>
                        <a:pt x="187" y="90"/>
                      </a:lnTo>
                      <a:lnTo>
                        <a:pt x="189" y="89"/>
                      </a:lnTo>
                      <a:lnTo>
                        <a:pt x="190" y="87"/>
                      </a:lnTo>
                      <a:lnTo>
                        <a:pt x="191" y="86"/>
                      </a:lnTo>
                      <a:lnTo>
                        <a:pt x="192" y="84"/>
                      </a:lnTo>
                      <a:lnTo>
                        <a:pt x="192" y="83"/>
                      </a:lnTo>
                      <a:lnTo>
                        <a:pt x="193" y="81"/>
                      </a:lnTo>
                      <a:lnTo>
                        <a:pt x="193" y="78"/>
                      </a:lnTo>
                      <a:lnTo>
                        <a:pt x="193" y="76"/>
                      </a:lnTo>
                      <a:lnTo>
                        <a:pt x="192" y="74"/>
                      </a:lnTo>
                      <a:lnTo>
                        <a:pt x="191" y="72"/>
                      </a:lnTo>
                      <a:lnTo>
                        <a:pt x="190" y="70"/>
                      </a:lnTo>
                      <a:lnTo>
                        <a:pt x="189" y="69"/>
                      </a:lnTo>
                      <a:lnTo>
                        <a:pt x="188" y="68"/>
                      </a:lnTo>
                      <a:lnTo>
                        <a:pt x="186" y="66"/>
                      </a:lnTo>
                      <a:lnTo>
                        <a:pt x="184" y="65"/>
                      </a:lnTo>
                      <a:lnTo>
                        <a:pt x="184" y="64"/>
                      </a:lnTo>
                      <a:lnTo>
                        <a:pt x="181" y="64"/>
                      </a:lnTo>
                      <a:lnTo>
                        <a:pt x="179" y="64"/>
                      </a:lnTo>
                      <a:lnTo>
                        <a:pt x="122" y="64"/>
                      </a:lnTo>
                      <a:lnTo>
                        <a:pt x="110" y="44"/>
                      </a:lnTo>
                      <a:lnTo>
                        <a:pt x="112" y="42"/>
                      </a:lnTo>
                      <a:lnTo>
                        <a:pt x="113" y="39"/>
                      </a:lnTo>
                      <a:lnTo>
                        <a:pt x="113" y="37"/>
                      </a:lnTo>
                      <a:lnTo>
                        <a:pt x="114" y="34"/>
                      </a:lnTo>
                      <a:lnTo>
                        <a:pt x="114" y="30"/>
                      </a:lnTo>
                      <a:lnTo>
                        <a:pt x="114" y="28"/>
                      </a:lnTo>
                      <a:lnTo>
                        <a:pt x="114" y="24"/>
                      </a:lnTo>
                      <a:lnTo>
                        <a:pt x="113" y="22"/>
                      </a:lnTo>
                      <a:lnTo>
                        <a:pt x="112" y="19"/>
                      </a:lnTo>
                      <a:lnTo>
                        <a:pt x="111" y="17"/>
                      </a:lnTo>
                      <a:lnTo>
                        <a:pt x="110" y="15"/>
                      </a:lnTo>
                      <a:lnTo>
                        <a:pt x="109" y="13"/>
                      </a:lnTo>
                      <a:lnTo>
                        <a:pt x="107" y="10"/>
                      </a:lnTo>
                      <a:lnTo>
                        <a:pt x="105" y="9"/>
                      </a:lnTo>
                      <a:lnTo>
                        <a:pt x="103" y="7"/>
                      </a:lnTo>
                      <a:lnTo>
                        <a:pt x="101" y="5"/>
                      </a:lnTo>
                      <a:lnTo>
                        <a:pt x="98" y="3"/>
                      </a:lnTo>
                      <a:lnTo>
                        <a:pt x="96" y="3"/>
                      </a:lnTo>
                      <a:lnTo>
                        <a:pt x="93" y="1"/>
                      </a:lnTo>
                      <a:lnTo>
                        <a:pt x="90" y="1"/>
                      </a:lnTo>
                      <a:lnTo>
                        <a:pt x="87" y="0"/>
                      </a:lnTo>
                      <a:lnTo>
                        <a:pt x="84" y="0"/>
                      </a:lnTo>
                      <a:lnTo>
                        <a:pt x="81" y="0"/>
                      </a:lnTo>
                      <a:lnTo>
                        <a:pt x="78" y="0"/>
                      </a:lnTo>
                      <a:lnTo>
                        <a:pt x="75" y="1"/>
                      </a:lnTo>
                      <a:lnTo>
                        <a:pt x="72" y="2"/>
                      </a:lnTo>
                      <a:lnTo>
                        <a:pt x="69" y="3"/>
                      </a:lnTo>
                      <a:lnTo>
                        <a:pt x="66" y="4"/>
                      </a:lnTo>
                      <a:lnTo>
                        <a:pt x="63" y="6"/>
                      </a:lnTo>
                      <a:lnTo>
                        <a:pt x="61" y="9"/>
                      </a:lnTo>
                      <a:lnTo>
                        <a:pt x="59" y="11"/>
                      </a:lnTo>
                      <a:lnTo>
                        <a:pt x="57" y="13"/>
                      </a:lnTo>
                      <a:lnTo>
                        <a:pt x="55" y="17"/>
                      </a:lnTo>
                      <a:lnTo>
                        <a:pt x="53" y="19"/>
                      </a:lnTo>
                      <a:lnTo>
                        <a:pt x="53" y="23"/>
                      </a:lnTo>
                    </a:path>
                  </a:pathLst>
                </a:custGeom>
                <a:solidFill>
                  <a:srgbClr val="FC0128"/>
                </a:solidFill>
                <a:ln>
                  <a:noFill/>
                </a:ln>
                <a:effectLst/>
                <a:extLst>
                  <a:ext uri="{91240B29-F687-4F45-9708-019B960494DF}">
                    <a14:hiddenLine xmlns:a14="http://schemas.microsoft.com/office/drawing/2010/main" w="127000" cap="rnd">
                      <a:pattFill prst="narHorz">
                        <a:fgClr>
                          <a:schemeClr val="tx1"/>
                        </a:fgClr>
                        <a:bgClr>
                          <a:schemeClr val="bg1"/>
                        </a:bgClr>
                      </a:pattFill>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sp>
        <p:nvSpPr>
          <p:cNvPr id="22658" name="Text Box 130"/>
          <p:cNvSpPr txBox="1">
            <a:spLocks noChangeArrowheads="1"/>
          </p:cNvSpPr>
          <p:nvPr/>
        </p:nvSpPr>
        <p:spPr bwMode="auto">
          <a:xfrm>
            <a:off x="1015208" y="6199188"/>
            <a:ext cx="7729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pattFill prst="narHorz">
                  <a:fgClr>
                    <a:schemeClr val="tx1"/>
                  </a:fgClr>
                  <a:bgClr>
                    <a:schemeClr val="bg1"/>
                  </a:bgClr>
                </a:patt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zh-CN" sz="2400" dirty="0">
                <a:solidFill>
                  <a:srgbClr val="0000FF"/>
                </a:solidFill>
                <a:ea typeface="黑体" panose="02010609060101010101" pitchFamily="49" charset="-122"/>
              </a:rPr>
              <a:t>Time to fill pipeline and time to drain it reduces speedup</a:t>
            </a:r>
          </a:p>
        </p:txBody>
      </p:sp>
    </p:spTree>
    <p:extLst>
      <p:ext uri="{BB962C8B-B14F-4D97-AF65-F5344CB8AC3E}">
        <p14:creationId xmlns:p14="http://schemas.microsoft.com/office/powerpoint/2010/main" val="754004069"/>
      </p:ext>
    </p:extLst>
  </p:cSld>
  <p:clrMapOvr>
    <a:masterClrMapping/>
  </p:clrMapOvr>
  <p:transition>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Computer Pipelines</a:t>
            </a:r>
          </a:p>
        </p:txBody>
      </p:sp>
      <p:sp>
        <p:nvSpPr>
          <p:cNvPr id="122883"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Execute billions of instructions, so </a:t>
            </a:r>
            <a:r>
              <a:rPr lang="en-US" altLang="zh-CN" i="1" dirty="0">
                <a:solidFill>
                  <a:srgbClr val="FF0000"/>
                </a:solidFill>
              </a:rPr>
              <a:t>throughput</a:t>
            </a:r>
            <a:r>
              <a:rPr lang="en-US" altLang="zh-CN" dirty="0"/>
              <a:t> is what matters</a:t>
            </a:r>
          </a:p>
          <a:p>
            <a:r>
              <a:rPr lang="en-US" altLang="zh-CN" dirty="0"/>
              <a:t>What is desirable in instruction sets for pipelining?</a:t>
            </a:r>
          </a:p>
          <a:p>
            <a:pPr lvl="1"/>
            <a:r>
              <a:rPr lang="en-US" altLang="zh-CN" dirty="0"/>
              <a:t>Variable length instructions vs. </a:t>
            </a:r>
            <a:r>
              <a:rPr lang="en-US" altLang="zh-CN" dirty="0" smtClean="0"/>
              <a:t>all </a:t>
            </a:r>
            <a:r>
              <a:rPr lang="en-US" altLang="zh-CN" dirty="0"/>
              <a:t>instructions same length?</a:t>
            </a:r>
          </a:p>
          <a:p>
            <a:pPr lvl="1"/>
            <a:r>
              <a:rPr lang="en-US" altLang="zh-CN" dirty="0"/>
              <a:t>Memory operands part of any operation vs. memory operands only in loads or stores?</a:t>
            </a:r>
          </a:p>
          <a:p>
            <a:pPr lvl="1"/>
            <a:r>
              <a:rPr lang="en-US" altLang="zh-CN" dirty="0"/>
              <a:t>Register operand many places in instruction format vs. registers located in same place?</a:t>
            </a:r>
            <a:endParaRPr lang="en-US" altLang="zh-CN" sz="2000" dirty="0"/>
          </a:p>
        </p:txBody>
      </p:sp>
      <p:pic>
        <p:nvPicPr>
          <p:cNvPr id="2" name="图片 1"/>
          <p:cNvPicPr>
            <a:picLocks noChangeAspect="1"/>
          </p:cNvPicPr>
          <p:nvPr/>
        </p:nvPicPr>
        <p:blipFill>
          <a:blip r:embed="rId2"/>
          <a:stretch>
            <a:fillRect/>
          </a:stretch>
        </p:blipFill>
        <p:spPr>
          <a:xfrm>
            <a:off x="1631503" y="4437113"/>
            <a:ext cx="8906667" cy="2232248"/>
          </a:xfrm>
          <a:prstGeom prst="rect">
            <a:avLst/>
          </a:prstGeom>
        </p:spPr>
      </p:pic>
    </p:spTree>
    <p:extLst>
      <p:ext uri="{BB962C8B-B14F-4D97-AF65-F5344CB8AC3E}">
        <p14:creationId xmlns:p14="http://schemas.microsoft.com/office/powerpoint/2010/main" val="4170423383"/>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US" altLang="zh-CN" smtClean="0"/>
              <a:t>A "Typical" RISC</a:t>
            </a:r>
            <a:endParaRPr lang="en-US" altLang="zh-CN"/>
          </a:p>
        </p:txBody>
      </p:sp>
      <p:sp>
        <p:nvSpPr>
          <p:cNvPr id="123907" name="Rectangle 3"/>
          <p:cNvSpPr>
            <a:spLocks noGrp="1" noChangeArrowheads="1"/>
          </p:cNvSpPr>
          <p:nvPr>
            <p:ph type="body" idx="1"/>
          </p:nvPr>
        </p:nvSpPr>
        <p:spPr/>
        <p:txBody>
          <a:bodyPr/>
          <a:lstStyle/>
          <a:p>
            <a:r>
              <a:rPr lang="en-US" altLang="zh-CN" dirty="0" smtClean="0"/>
              <a:t>32-bit fixed format instruction (3 formats)</a:t>
            </a:r>
          </a:p>
          <a:p>
            <a:r>
              <a:rPr lang="en-US" altLang="zh-CN" dirty="0" smtClean="0"/>
              <a:t>Memory access only via load/store </a:t>
            </a:r>
            <a:r>
              <a:rPr lang="en-US" altLang="zh-CN" dirty="0" err="1" smtClean="0"/>
              <a:t>instrutions</a:t>
            </a:r>
            <a:endParaRPr lang="en-US" altLang="zh-CN" dirty="0" smtClean="0"/>
          </a:p>
          <a:p>
            <a:r>
              <a:rPr lang="en-US" altLang="zh-CN" dirty="0" smtClean="0"/>
              <a:t>32 32-bit GPR (R0 contains zero, DP take pair)</a:t>
            </a:r>
          </a:p>
          <a:p>
            <a:r>
              <a:rPr lang="en-US" altLang="zh-CN" dirty="0" smtClean="0"/>
              <a:t>3-address, </a:t>
            </a:r>
            <a:r>
              <a:rPr lang="en-US" altLang="zh-CN" dirty="0" err="1" smtClean="0"/>
              <a:t>reg-reg</a:t>
            </a:r>
            <a:r>
              <a:rPr lang="en-US" altLang="zh-CN" dirty="0" smtClean="0"/>
              <a:t> arithmetic instruction; registers in same place</a:t>
            </a:r>
          </a:p>
          <a:p>
            <a:r>
              <a:rPr lang="en-US" altLang="zh-CN" dirty="0" smtClean="0"/>
              <a:t>Single address mode for load/store: </a:t>
            </a:r>
            <a:br>
              <a:rPr lang="en-US" altLang="zh-CN" dirty="0" smtClean="0"/>
            </a:br>
            <a:r>
              <a:rPr lang="en-US" altLang="zh-CN" dirty="0" smtClean="0"/>
              <a:t>base + displacement</a:t>
            </a:r>
          </a:p>
          <a:p>
            <a:pPr lvl="1"/>
            <a:r>
              <a:rPr lang="en-US" altLang="zh-CN" dirty="0" smtClean="0"/>
              <a:t>no indirection</a:t>
            </a:r>
          </a:p>
          <a:p>
            <a:r>
              <a:rPr lang="en-US" altLang="zh-CN" dirty="0" smtClean="0"/>
              <a:t>Simple branch conditions</a:t>
            </a:r>
          </a:p>
        </p:txBody>
      </p:sp>
      <p:sp>
        <p:nvSpPr>
          <p:cNvPr id="123908" name="Rectangle 4"/>
          <p:cNvSpPr>
            <a:spLocks noChangeArrowheads="1"/>
          </p:cNvSpPr>
          <p:nvPr/>
        </p:nvSpPr>
        <p:spPr bwMode="auto">
          <a:xfrm>
            <a:off x="4511824" y="5733256"/>
            <a:ext cx="7491536" cy="52219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p>
            <a:pPr eaLnBrk="1" hangingPunct="1">
              <a:lnSpc>
                <a:spcPct val="85000"/>
              </a:lnSpc>
            </a:pPr>
            <a:r>
              <a:rPr lang="en-US" altLang="zh-CN" dirty="0">
                <a:latin typeface="Comic Sans MS" panose="030F0702030302020204" pitchFamily="66" charset="0"/>
              </a:rPr>
              <a:t>see: SPARC, MIPS, HP PA-</a:t>
            </a:r>
            <a:r>
              <a:rPr lang="en-US" altLang="zh-CN" dirty="0" err="1">
                <a:latin typeface="Comic Sans MS" panose="030F0702030302020204" pitchFamily="66" charset="0"/>
              </a:rPr>
              <a:t>Risc</a:t>
            </a:r>
            <a:r>
              <a:rPr lang="en-US" altLang="zh-CN" dirty="0">
                <a:latin typeface="Comic Sans MS" panose="030F0702030302020204" pitchFamily="66" charset="0"/>
              </a:rPr>
              <a:t>, DEC Alpha, IBM PowerPC</a:t>
            </a:r>
            <a:r>
              <a:rPr lang="en-US" altLang="zh-CN" dirty="0" smtClean="0">
                <a:latin typeface="Comic Sans MS" panose="030F0702030302020204" pitchFamily="66" charset="0"/>
              </a:rPr>
              <a:t>, RISC-V</a:t>
            </a:r>
            <a:endParaRPr lang="en-US" altLang="zh-CN" dirty="0">
              <a:latin typeface="Comic Sans MS" panose="030F0702030302020204" pitchFamily="66" charset="0"/>
            </a:endParaRPr>
          </a:p>
          <a:p>
            <a:pPr eaLnBrk="1" hangingPunct="1">
              <a:lnSpc>
                <a:spcPct val="85000"/>
              </a:lnSpc>
            </a:pPr>
            <a:r>
              <a:rPr lang="en-US" altLang="zh-CN" dirty="0">
                <a:latin typeface="Comic Sans MS" panose="030F0702030302020204" pitchFamily="66" charset="0"/>
              </a:rPr>
              <a:t>        CDC 6600, CDC 7600, Cray-1, Cray-2, Cray-3</a:t>
            </a:r>
          </a:p>
        </p:txBody>
      </p:sp>
    </p:spTree>
    <p:extLst>
      <p:ext uri="{BB962C8B-B14F-4D97-AF65-F5344CB8AC3E}">
        <p14:creationId xmlns:p14="http://schemas.microsoft.com/office/powerpoint/2010/main" val="1486164676"/>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98" name="Rectangle 70"/>
          <p:cNvSpPr>
            <a:spLocks noGrp="1" noChangeArrowheads="1"/>
          </p:cNvSpPr>
          <p:nvPr>
            <p:ph type="title"/>
          </p:nvPr>
        </p:nvSpPr>
        <p:spPr/>
        <p:txBody>
          <a:bodyPr/>
          <a:lstStyle/>
          <a:p>
            <a:r>
              <a:rPr lang="en-US" altLang="zh-CN" dirty="0" smtClean="0"/>
              <a:t>RISC-V 			Note </a:t>
            </a:r>
            <a:r>
              <a:rPr lang="en-US" altLang="zh-CN" dirty="0"/>
              <a:t>register </a:t>
            </a:r>
            <a:r>
              <a:rPr lang="en-US" altLang="zh-CN" dirty="0" smtClean="0"/>
              <a:t>location</a:t>
            </a:r>
            <a:endParaRPr lang="en-US" altLang="zh-CN" dirty="0"/>
          </a:p>
        </p:txBody>
      </p:sp>
      <p:pic>
        <p:nvPicPr>
          <p:cNvPr id="2" name="图片 1"/>
          <p:cNvPicPr>
            <a:picLocks noChangeAspect="1"/>
          </p:cNvPicPr>
          <p:nvPr/>
        </p:nvPicPr>
        <p:blipFill>
          <a:blip r:embed="rId2"/>
          <a:stretch>
            <a:fillRect/>
          </a:stretch>
        </p:blipFill>
        <p:spPr>
          <a:xfrm>
            <a:off x="812197" y="1556792"/>
            <a:ext cx="8737876" cy="2259884"/>
          </a:xfrm>
          <a:prstGeom prst="rect">
            <a:avLst/>
          </a:prstGeom>
        </p:spPr>
      </p:pic>
      <p:pic>
        <p:nvPicPr>
          <p:cNvPr id="3" name="图片 2"/>
          <p:cNvPicPr>
            <a:picLocks noChangeAspect="1"/>
          </p:cNvPicPr>
          <p:nvPr/>
        </p:nvPicPr>
        <p:blipFill>
          <a:blip r:embed="rId3"/>
          <a:stretch>
            <a:fillRect/>
          </a:stretch>
        </p:blipFill>
        <p:spPr>
          <a:xfrm>
            <a:off x="2567608" y="3843132"/>
            <a:ext cx="8856984" cy="3014868"/>
          </a:xfrm>
          <a:prstGeom prst="rect">
            <a:avLst/>
          </a:prstGeom>
        </p:spPr>
      </p:pic>
    </p:spTree>
    <p:extLst>
      <p:ext uri="{BB962C8B-B14F-4D97-AF65-F5344CB8AC3E}">
        <p14:creationId xmlns:p14="http://schemas.microsoft.com/office/powerpoint/2010/main" val="380481448"/>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implementation of the </a:t>
            </a:r>
            <a:r>
              <a:rPr lang="en-US" altLang="zh-CN" dirty="0" smtClean="0"/>
              <a:t>simple</a:t>
            </a:r>
            <a:br>
              <a:rPr lang="en-US" altLang="zh-CN" dirty="0" smtClean="0"/>
            </a:br>
            <a:r>
              <a:rPr lang="en-US" altLang="zh-CN" dirty="0" smtClean="0"/>
              <a:t>RISC </a:t>
            </a:r>
            <a:r>
              <a:rPr lang="en-US" altLang="zh-CN" dirty="0"/>
              <a:t>V </a:t>
            </a:r>
            <a:r>
              <a:rPr lang="en-US" altLang="zh-CN" dirty="0" smtClean="0"/>
              <a:t>integer data path</a:t>
            </a:r>
            <a:endParaRPr lang="zh-CN" altLang="en-US" dirty="0"/>
          </a:p>
        </p:txBody>
      </p:sp>
      <p:pic>
        <p:nvPicPr>
          <p:cNvPr id="4" name="内容占位符 3"/>
          <p:cNvPicPr>
            <a:picLocks noGrp="1" noChangeAspect="1"/>
          </p:cNvPicPr>
          <p:nvPr>
            <p:ph idx="1"/>
          </p:nvPr>
        </p:nvPicPr>
        <p:blipFill>
          <a:blip r:embed="rId3"/>
          <a:stretch>
            <a:fillRect/>
          </a:stretch>
        </p:blipFill>
        <p:spPr>
          <a:xfrm>
            <a:off x="1415480" y="1628800"/>
            <a:ext cx="9000999" cy="5658056"/>
          </a:xfrm>
          <a:prstGeom prst="rect">
            <a:avLst/>
          </a:prstGeom>
        </p:spPr>
      </p:pic>
    </p:spTree>
    <p:extLst>
      <p:ext uri="{BB962C8B-B14F-4D97-AF65-F5344CB8AC3E}">
        <p14:creationId xmlns:p14="http://schemas.microsoft.com/office/powerpoint/2010/main" val="8610322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data path is pipelined by adding a set of registers</a:t>
            </a:r>
            <a:endParaRPr lang="zh-CN" altLang="en-US" dirty="0"/>
          </a:p>
        </p:txBody>
      </p:sp>
      <p:pic>
        <p:nvPicPr>
          <p:cNvPr id="4" name="内容占位符 3"/>
          <p:cNvPicPr>
            <a:picLocks noGrp="1" noChangeAspect="1"/>
          </p:cNvPicPr>
          <p:nvPr>
            <p:ph idx="1"/>
          </p:nvPr>
        </p:nvPicPr>
        <p:blipFill>
          <a:blip r:embed="rId3"/>
          <a:stretch>
            <a:fillRect/>
          </a:stretch>
        </p:blipFill>
        <p:spPr>
          <a:xfrm>
            <a:off x="1127448" y="1548620"/>
            <a:ext cx="10226352" cy="5278485"/>
          </a:xfrm>
          <a:prstGeom prst="rect">
            <a:avLst/>
          </a:prstGeom>
        </p:spPr>
      </p:pic>
    </p:spTree>
    <p:extLst>
      <p:ext uri="{BB962C8B-B14F-4D97-AF65-F5344CB8AC3E}">
        <p14:creationId xmlns:p14="http://schemas.microsoft.com/office/powerpoint/2010/main" val="3858580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3"/>
          <a:stretch>
            <a:fillRect/>
          </a:stretch>
        </p:blipFill>
        <p:spPr>
          <a:xfrm>
            <a:off x="6672064" y="2232118"/>
            <a:ext cx="5182049" cy="4462659"/>
          </a:xfrm>
          <a:prstGeom prst="rect">
            <a:avLst/>
          </a:prstGeom>
        </p:spPr>
      </p:pic>
      <p:sp>
        <p:nvSpPr>
          <p:cNvPr id="2" name="标题 1"/>
          <p:cNvSpPr>
            <a:spLocks noGrp="1"/>
          </p:cNvSpPr>
          <p:nvPr>
            <p:ph type="title"/>
          </p:nvPr>
        </p:nvSpPr>
        <p:spPr/>
        <p:txBody>
          <a:bodyPr/>
          <a:lstStyle/>
          <a:p>
            <a:r>
              <a:rPr lang="en-US" altLang="zh-CN" dirty="0" smtClean="0"/>
              <a:t>Pipeline </a:t>
            </a:r>
            <a:r>
              <a:rPr lang="en-US" altLang="zh-CN" dirty="0"/>
              <a:t>registers between successive pipeline stages</a:t>
            </a:r>
            <a:endParaRPr lang="zh-CN" altLang="en-US" dirty="0"/>
          </a:p>
        </p:txBody>
      </p:sp>
      <p:sp>
        <p:nvSpPr>
          <p:cNvPr id="3" name="内容占位符 2"/>
          <p:cNvSpPr>
            <a:spLocks noGrp="1"/>
          </p:cNvSpPr>
          <p:nvPr>
            <p:ph idx="1"/>
          </p:nvPr>
        </p:nvSpPr>
        <p:spPr>
          <a:xfrm>
            <a:off x="191344" y="1556792"/>
            <a:ext cx="11593288" cy="5112568"/>
          </a:xfrm>
        </p:spPr>
        <p:txBody>
          <a:bodyPr/>
          <a:lstStyle/>
          <a:p>
            <a:r>
              <a:rPr lang="en-US" altLang="zh-CN" dirty="0" smtClean="0"/>
              <a:t>The </a:t>
            </a:r>
            <a:r>
              <a:rPr lang="en-US" altLang="zh-CN" dirty="0"/>
              <a:t>registers prevent interference between two different instructions in adjacent stages in the </a:t>
            </a:r>
            <a:r>
              <a:rPr lang="en-US" altLang="zh-CN" dirty="0" smtClean="0"/>
              <a:t>pipeline</a:t>
            </a:r>
          </a:p>
          <a:p>
            <a:r>
              <a:rPr lang="en-US" altLang="zh-CN" dirty="0" smtClean="0"/>
              <a:t>The </a:t>
            </a:r>
            <a:r>
              <a:rPr lang="en-US" altLang="zh-CN" dirty="0"/>
              <a:t>registers also play the critical role </a:t>
            </a:r>
            <a:r>
              <a:rPr lang="en-US" altLang="zh-CN" dirty="0" smtClean="0"/>
              <a:t/>
            </a:r>
            <a:br>
              <a:rPr lang="en-US" altLang="zh-CN" dirty="0" smtClean="0"/>
            </a:br>
            <a:r>
              <a:rPr lang="en-US" altLang="zh-CN" dirty="0" smtClean="0"/>
              <a:t>of </a:t>
            </a:r>
            <a:r>
              <a:rPr lang="en-US" altLang="zh-CN" dirty="0"/>
              <a:t>carrying data for a given instruction </a:t>
            </a:r>
            <a:r>
              <a:rPr lang="en-US" altLang="zh-CN" dirty="0" smtClean="0"/>
              <a:t/>
            </a:r>
            <a:br>
              <a:rPr lang="en-US" altLang="zh-CN" dirty="0" smtClean="0"/>
            </a:br>
            <a:r>
              <a:rPr lang="en-US" altLang="zh-CN" dirty="0" smtClean="0"/>
              <a:t>from </a:t>
            </a:r>
            <a:r>
              <a:rPr lang="en-US" altLang="zh-CN" dirty="0"/>
              <a:t>one stage to the </a:t>
            </a:r>
            <a:r>
              <a:rPr lang="en-US" altLang="zh-CN" dirty="0" smtClean="0"/>
              <a:t>other</a:t>
            </a:r>
          </a:p>
          <a:p>
            <a:r>
              <a:rPr lang="en-US" altLang="zh-CN" dirty="0" smtClean="0"/>
              <a:t>The </a:t>
            </a:r>
            <a:r>
              <a:rPr lang="en-US" altLang="zh-CN" dirty="0"/>
              <a:t>edge-triggered property of </a:t>
            </a:r>
            <a:r>
              <a:rPr lang="en-US" altLang="zh-CN" dirty="0" smtClean="0"/>
              <a:t>registers</a:t>
            </a:r>
            <a:br>
              <a:rPr lang="en-US" altLang="zh-CN" dirty="0" smtClean="0"/>
            </a:br>
            <a:r>
              <a:rPr lang="en-US" altLang="zh-CN" dirty="0" smtClean="0"/>
              <a:t>is critical</a:t>
            </a:r>
          </a:p>
          <a:p>
            <a:pPr lvl="1"/>
            <a:r>
              <a:rPr lang="en-US" altLang="zh-CN" dirty="0" smtClean="0"/>
              <a:t>the </a:t>
            </a:r>
            <a:r>
              <a:rPr lang="en-US" altLang="zh-CN" dirty="0"/>
              <a:t>values change </a:t>
            </a:r>
            <a:r>
              <a:rPr lang="en-US" altLang="zh-CN" dirty="0" smtClean="0"/>
              <a:t>instantaneously </a:t>
            </a:r>
            <a:r>
              <a:rPr lang="en-US" altLang="zh-CN" dirty="0"/>
              <a:t>on a clock </a:t>
            </a:r>
            <a:endParaRPr lang="en-US" altLang="zh-CN" dirty="0" smtClean="0"/>
          </a:p>
          <a:p>
            <a:r>
              <a:rPr lang="en-US" altLang="zh-CN" dirty="0" smtClean="0"/>
              <a:t>Otherwise</a:t>
            </a:r>
            <a:r>
              <a:rPr lang="en-US" altLang="zh-CN" dirty="0"/>
              <a:t>, the data from one instruction could </a:t>
            </a:r>
            <a:r>
              <a:rPr lang="en-US" altLang="zh-CN" dirty="0" smtClean="0"/>
              <a:t/>
            </a:r>
            <a:br>
              <a:rPr lang="en-US" altLang="zh-CN" dirty="0" smtClean="0"/>
            </a:br>
            <a:r>
              <a:rPr lang="en-US" altLang="zh-CN" dirty="0" smtClean="0"/>
              <a:t>interfere </a:t>
            </a:r>
            <a:r>
              <a:rPr lang="en-US" altLang="zh-CN" dirty="0"/>
              <a:t>with the execution of </a:t>
            </a:r>
            <a:r>
              <a:rPr lang="en-US" altLang="zh-CN" dirty="0" smtClean="0"/>
              <a:t>another</a:t>
            </a:r>
            <a:endParaRPr lang="en-US" altLang="zh-CN" dirty="0"/>
          </a:p>
          <a:p>
            <a:endParaRPr lang="zh-CN" altLang="en-US" dirty="0"/>
          </a:p>
        </p:txBody>
      </p:sp>
    </p:spTree>
    <p:extLst>
      <p:ext uri="{BB962C8B-B14F-4D97-AF65-F5344CB8AC3E}">
        <p14:creationId xmlns:p14="http://schemas.microsoft.com/office/powerpoint/2010/main" val="19069181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Events on every pipe stage of the RISC V pipeline</a:t>
            </a:r>
            <a:endParaRPr lang="zh-CN" altLang="en-US" dirty="0"/>
          </a:p>
        </p:txBody>
      </p:sp>
      <p:sp>
        <p:nvSpPr>
          <p:cNvPr id="3" name="内容占位符 2"/>
          <p:cNvSpPr>
            <a:spLocks noGrp="1"/>
          </p:cNvSpPr>
          <p:nvPr>
            <p:ph idx="1"/>
          </p:nvPr>
        </p:nvSpPr>
        <p:spPr>
          <a:xfrm>
            <a:off x="479376" y="1556792"/>
            <a:ext cx="10874424" cy="5112568"/>
          </a:xfrm>
        </p:spPr>
        <p:txBody>
          <a:bodyPr/>
          <a:lstStyle/>
          <a:p>
            <a:r>
              <a:rPr lang="en-US" altLang="zh-CN" dirty="0" smtClean="0"/>
              <a:t>IF: Next PC</a:t>
            </a:r>
          </a:p>
          <a:p>
            <a:r>
              <a:rPr lang="en-US" altLang="zh-CN" dirty="0" smtClean="0"/>
              <a:t>ID: Read register</a:t>
            </a:r>
            <a:br>
              <a:rPr lang="en-US" altLang="zh-CN" dirty="0" smtClean="0"/>
            </a:br>
            <a:r>
              <a:rPr lang="en-US" altLang="zh-CN" dirty="0" smtClean="0"/>
              <a:t>sign extension</a:t>
            </a:r>
          </a:p>
          <a:p>
            <a:r>
              <a:rPr lang="en-US" altLang="zh-CN" dirty="0" smtClean="0"/>
              <a:t>EX</a:t>
            </a:r>
          </a:p>
          <a:p>
            <a:pPr lvl="1"/>
            <a:r>
              <a:rPr lang="en-US" altLang="zh-CN" dirty="0" smtClean="0"/>
              <a:t>ALU arithmetic</a:t>
            </a:r>
          </a:p>
          <a:p>
            <a:pPr lvl="1"/>
            <a:r>
              <a:rPr lang="en-US" altLang="zh-CN" dirty="0" smtClean="0"/>
              <a:t>Mem Address </a:t>
            </a:r>
            <a:r>
              <a:rPr lang="en-US" altLang="zh-CN" dirty="0" err="1" smtClean="0"/>
              <a:t>Calc</a:t>
            </a:r>
            <a:endParaRPr lang="en-US" altLang="zh-CN" dirty="0" smtClean="0"/>
          </a:p>
          <a:p>
            <a:pPr lvl="1"/>
            <a:r>
              <a:rPr lang="en-US" altLang="zh-CN" dirty="0" smtClean="0"/>
              <a:t>Branch </a:t>
            </a:r>
            <a:r>
              <a:rPr lang="en-US" altLang="zh-CN" dirty="0" err="1" smtClean="0"/>
              <a:t>addr</a:t>
            </a:r>
            <a:r>
              <a:rPr lang="en-US" altLang="zh-CN" dirty="0" smtClean="0"/>
              <a:t> </a:t>
            </a:r>
            <a:r>
              <a:rPr lang="en-US" altLang="zh-CN" dirty="0" err="1" smtClean="0"/>
              <a:t>Calc</a:t>
            </a:r>
            <a:endParaRPr lang="en-US" altLang="zh-CN" dirty="0" smtClean="0"/>
          </a:p>
          <a:p>
            <a:r>
              <a:rPr lang="en-US" altLang="zh-CN" dirty="0" smtClean="0"/>
              <a:t>MEM: access Mem</a:t>
            </a:r>
          </a:p>
          <a:p>
            <a:r>
              <a:rPr lang="en-US" altLang="zh-CN" dirty="0" smtClean="0"/>
              <a:t>WB: Write register</a:t>
            </a:r>
            <a:endParaRPr lang="zh-CN" altLang="en-US" dirty="0"/>
          </a:p>
        </p:txBody>
      </p:sp>
      <p:pic>
        <p:nvPicPr>
          <p:cNvPr id="4" name="图片 3"/>
          <p:cNvPicPr>
            <a:picLocks noChangeAspect="1"/>
          </p:cNvPicPr>
          <p:nvPr/>
        </p:nvPicPr>
        <p:blipFill>
          <a:blip r:embed="rId3"/>
          <a:stretch>
            <a:fillRect/>
          </a:stretch>
        </p:blipFill>
        <p:spPr>
          <a:xfrm>
            <a:off x="4367808" y="1624650"/>
            <a:ext cx="7652617" cy="5044933"/>
          </a:xfrm>
          <a:prstGeom prst="rect">
            <a:avLst/>
          </a:prstGeom>
        </p:spPr>
      </p:pic>
    </p:spTree>
    <p:extLst>
      <p:ext uri="{BB962C8B-B14F-4D97-AF65-F5344CB8AC3E}">
        <p14:creationId xmlns:p14="http://schemas.microsoft.com/office/powerpoint/2010/main" val="3991656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a:xfrm>
            <a:off x="838200" y="509141"/>
            <a:ext cx="10515600" cy="831627"/>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Visualizing </a:t>
            </a:r>
            <a:r>
              <a:rPr lang="en-US" altLang="zh-CN" dirty="0" smtClean="0"/>
              <a:t>Pipelining:</a:t>
            </a:r>
            <a:r>
              <a:rPr lang="en-US" altLang="zh-CN" dirty="0"/>
              <a:t/>
            </a:r>
            <a:br>
              <a:rPr lang="en-US" altLang="zh-CN" dirty="0"/>
            </a:br>
            <a:r>
              <a:rPr lang="en-US" altLang="zh-CN" dirty="0" smtClean="0"/>
              <a:t>as </a:t>
            </a:r>
            <a:r>
              <a:rPr lang="en-US" altLang="zh-CN" dirty="0"/>
              <a:t>a series of data paths shifted in time</a:t>
            </a:r>
            <a:br>
              <a:rPr lang="en-US" altLang="zh-CN" dirty="0"/>
            </a:br>
            <a:endParaRPr lang="en-US" altLang="zh-CN" sz="2400" dirty="0">
              <a:solidFill>
                <a:schemeClr val="tx1"/>
              </a:solidFill>
            </a:endParaRPr>
          </a:p>
        </p:txBody>
      </p:sp>
      <p:sp>
        <p:nvSpPr>
          <p:cNvPr id="2" name="内容占位符 1"/>
          <p:cNvSpPr>
            <a:spLocks noGrp="1"/>
          </p:cNvSpPr>
          <p:nvPr>
            <p:ph idx="1"/>
          </p:nvPr>
        </p:nvSpPr>
        <p:spPr>
          <a:xfrm>
            <a:off x="440288" y="1611375"/>
            <a:ext cx="3162113" cy="5112568"/>
          </a:xfrm>
        </p:spPr>
        <p:txBody>
          <a:bodyPr/>
          <a:lstStyle/>
          <a:p>
            <a:r>
              <a:rPr lang="zh-CN" altLang="en-US" dirty="0" smtClean="0"/>
              <a:t>在第</a:t>
            </a:r>
            <a:r>
              <a:rPr lang="en-US" altLang="zh-CN" dirty="0" smtClean="0"/>
              <a:t>5</a:t>
            </a:r>
            <a:r>
              <a:rPr lang="zh-CN" altLang="en-US" dirty="0" smtClean="0"/>
              <a:t>周期，流水线进入稳定状态</a:t>
            </a:r>
            <a:endParaRPr lang="en-US" altLang="zh-CN" dirty="0" smtClean="0"/>
          </a:p>
          <a:p>
            <a:r>
              <a:rPr lang="en-US" altLang="zh-CN" dirty="0" smtClean="0"/>
              <a:t>ID</a:t>
            </a:r>
            <a:r>
              <a:rPr lang="zh-CN" altLang="en-US" dirty="0" smtClean="0"/>
              <a:t>读寄存器，</a:t>
            </a:r>
            <a:r>
              <a:rPr lang="en-US" altLang="zh-CN" dirty="0" smtClean="0"/>
              <a:t>WB</a:t>
            </a:r>
            <a:r>
              <a:rPr lang="zh-CN" altLang="en-US" dirty="0" smtClean="0"/>
              <a:t>写寄存器，故</a:t>
            </a:r>
            <a:r>
              <a:rPr lang="en-US" altLang="zh-CN" dirty="0" err="1" smtClean="0"/>
              <a:t>Reg</a:t>
            </a:r>
            <a:r>
              <a:rPr lang="zh-CN" altLang="en-US" dirty="0" smtClean="0"/>
              <a:t>在同个周期要用两次</a:t>
            </a:r>
            <a:endParaRPr lang="en-US" altLang="zh-CN" dirty="0" smtClean="0"/>
          </a:p>
          <a:p>
            <a:pPr lvl="1"/>
            <a:r>
              <a:rPr lang="zh-CN" altLang="en-US" dirty="0" smtClean="0"/>
              <a:t>读在上半周期</a:t>
            </a:r>
            <a:endParaRPr lang="en-US" altLang="zh-CN" dirty="0" smtClean="0"/>
          </a:p>
          <a:p>
            <a:pPr lvl="1"/>
            <a:r>
              <a:rPr lang="zh-CN" altLang="en-US" dirty="0" smtClean="0"/>
              <a:t>写在下半周期</a:t>
            </a:r>
            <a:endParaRPr lang="en-US" altLang="zh-CN" dirty="0" smtClean="0"/>
          </a:p>
          <a:p>
            <a:r>
              <a:rPr lang="zh-CN" altLang="en-US" dirty="0" smtClean="0"/>
              <a:t>存储器呢？</a:t>
            </a:r>
            <a:endParaRPr lang="en-US" altLang="zh-CN" dirty="0" smtClean="0"/>
          </a:p>
          <a:p>
            <a:pPr lvl="1"/>
            <a:r>
              <a:rPr lang="en-US" altLang="zh-CN" dirty="0" smtClean="0"/>
              <a:t>IF</a:t>
            </a:r>
            <a:r>
              <a:rPr lang="zh-CN" altLang="en-US" dirty="0" smtClean="0"/>
              <a:t>要用</a:t>
            </a:r>
            <a:endParaRPr lang="en-US" altLang="zh-CN" dirty="0" smtClean="0"/>
          </a:p>
          <a:p>
            <a:pPr lvl="1"/>
            <a:r>
              <a:rPr lang="en-US" altLang="zh-CN" dirty="0" smtClean="0"/>
              <a:t>MEM</a:t>
            </a:r>
            <a:r>
              <a:rPr lang="zh-CN" altLang="en-US" dirty="0" smtClean="0"/>
              <a:t>也要用</a:t>
            </a:r>
            <a:endParaRPr lang="zh-CN" altLang="en-US" dirty="0"/>
          </a:p>
        </p:txBody>
      </p:sp>
      <p:grpSp>
        <p:nvGrpSpPr>
          <p:cNvPr id="3" name="组合 2"/>
          <p:cNvGrpSpPr/>
          <p:nvPr/>
        </p:nvGrpSpPr>
        <p:grpSpPr>
          <a:xfrm>
            <a:off x="3928712" y="1484784"/>
            <a:ext cx="8071944" cy="5112568"/>
            <a:chOff x="2632568" y="1484784"/>
            <a:chExt cx="8071944" cy="5112568"/>
          </a:xfrm>
        </p:grpSpPr>
        <p:sp>
          <p:nvSpPr>
            <p:cNvPr id="130051" name="Rectangle 3"/>
            <p:cNvSpPr>
              <a:spLocks noChangeArrowheads="1"/>
            </p:cNvSpPr>
            <p:nvPr/>
          </p:nvSpPr>
          <p:spPr bwMode="auto">
            <a:xfrm>
              <a:off x="2632568" y="2415060"/>
              <a:ext cx="367088" cy="31367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i="1" dirty="0">
                  <a:latin typeface="Comic Sans MS" panose="030F0702030302020204" pitchFamily="66" charset="0"/>
                </a:rPr>
                <a:t>I</a:t>
              </a:r>
            </a:p>
            <a:p>
              <a:pPr algn="ctr" eaLnBrk="1" hangingPunct="1"/>
              <a:r>
                <a:rPr lang="en-US" altLang="zh-CN" i="1" dirty="0">
                  <a:latin typeface="Comic Sans MS" panose="030F0702030302020204" pitchFamily="66" charset="0"/>
                </a:rPr>
                <a:t>n</a:t>
              </a:r>
            </a:p>
            <a:p>
              <a:pPr algn="ctr" eaLnBrk="1" hangingPunct="1"/>
              <a:r>
                <a:rPr lang="en-US" altLang="zh-CN" i="1" dirty="0">
                  <a:latin typeface="Comic Sans MS" panose="030F0702030302020204" pitchFamily="66" charset="0"/>
                </a:rPr>
                <a:t>s</a:t>
              </a:r>
            </a:p>
            <a:p>
              <a:pPr algn="ctr" eaLnBrk="1" hangingPunct="1"/>
              <a:r>
                <a:rPr lang="en-US" altLang="zh-CN" i="1" dirty="0">
                  <a:latin typeface="Comic Sans MS" panose="030F0702030302020204" pitchFamily="66" charset="0"/>
                </a:rPr>
                <a:t>t</a:t>
              </a:r>
            </a:p>
            <a:p>
              <a:pPr algn="ctr" eaLnBrk="1" hangingPunct="1"/>
              <a:r>
                <a:rPr lang="en-US" altLang="zh-CN" i="1" dirty="0">
                  <a:latin typeface="Comic Sans MS" panose="030F0702030302020204" pitchFamily="66" charset="0"/>
                </a:rPr>
                <a:t>r.</a:t>
              </a:r>
            </a:p>
            <a:p>
              <a:pPr algn="ctr" eaLnBrk="1" hangingPunct="1"/>
              <a:endParaRPr lang="en-US" altLang="zh-CN" i="1" dirty="0">
                <a:latin typeface="Comic Sans MS" panose="030F0702030302020204" pitchFamily="66" charset="0"/>
              </a:endParaRPr>
            </a:p>
            <a:p>
              <a:pPr algn="ctr" eaLnBrk="1" hangingPunct="1"/>
              <a:r>
                <a:rPr lang="en-US" altLang="zh-CN" i="1" dirty="0">
                  <a:latin typeface="Comic Sans MS" panose="030F0702030302020204" pitchFamily="66" charset="0"/>
                </a:rPr>
                <a:t>O</a:t>
              </a:r>
            </a:p>
            <a:p>
              <a:pPr algn="ctr" eaLnBrk="1" hangingPunct="1"/>
              <a:r>
                <a:rPr lang="en-US" altLang="zh-CN" i="1" dirty="0">
                  <a:latin typeface="Comic Sans MS" panose="030F0702030302020204" pitchFamily="66" charset="0"/>
                </a:rPr>
                <a:t>r</a:t>
              </a:r>
            </a:p>
            <a:p>
              <a:pPr algn="ctr" eaLnBrk="1" hangingPunct="1"/>
              <a:r>
                <a:rPr lang="en-US" altLang="zh-CN" i="1" dirty="0">
                  <a:latin typeface="Comic Sans MS" panose="030F0702030302020204" pitchFamily="66" charset="0"/>
                </a:rPr>
                <a:t>d</a:t>
              </a:r>
            </a:p>
            <a:p>
              <a:pPr algn="ctr" eaLnBrk="1" hangingPunct="1"/>
              <a:r>
                <a:rPr lang="en-US" altLang="zh-CN" i="1" dirty="0">
                  <a:latin typeface="Comic Sans MS" panose="030F0702030302020204" pitchFamily="66" charset="0"/>
                </a:rPr>
                <a:t>e</a:t>
              </a:r>
            </a:p>
            <a:p>
              <a:pPr algn="ctr" eaLnBrk="1" hangingPunct="1"/>
              <a:r>
                <a:rPr lang="en-US" altLang="zh-CN" i="1" dirty="0">
                  <a:latin typeface="Comic Sans MS" panose="030F0702030302020204" pitchFamily="66" charset="0"/>
                </a:rPr>
                <a:t>r</a:t>
              </a:r>
            </a:p>
          </p:txBody>
        </p:sp>
        <p:sp>
          <p:nvSpPr>
            <p:cNvPr id="130052" name="Line 4"/>
            <p:cNvSpPr>
              <a:spLocks noChangeShapeType="1"/>
            </p:cNvSpPr>
            <p:nvPr/>
          </p:nvSpPr>
          <p:spPr bwMode="auto">
            <a:xfrm>
              <a:off x="2999656" y="2491259"/>
              <a:ext cx="0" cy="30226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3" name="Rectangle 5"/>
            <p:cNvSpPr>
              <a:spLocks noChangeArrowheads="1"/>
            </p:cNvSpPr>
            <p:nvPr/>
          </p:nvSpPr>
          <p:spPr bwMode="auto">
            <a:xfrm>
              <a:off x="4938713" y="1484784"/>
              <a:ext cx="2374900" cy="363538"/>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1" hangingPunct="1"/>
              <a:r>
                <a:rPr lang="en-US" altLang="zh-CN" b="0" i="1">
                  <a:latin typeface="Comic Sans MS" panose="030F0702030302020204" pitchFamily="66" charset="0"/>
                </a:rPr>
                <a:t>Time (clock cycles)</a:t>
              </a:r>
            </a:p>
          </p:txBody>
        </p:sp>
        <p:sp>
          <p:nvSpPr>
            <p:cNvPr id="130054" name="Rectangle 6"/>
            <p:cNvSpPr>
              <a:spLocks noChangeArrowheads="1"/>
            </p:cNvSpPr>
            <p:nvPr/>
          </p:nvSpPr>
          <p:spPr bwMode="auto">
            <a:xfrm>
              <a:off x="2781300" y="1519709"/>
              <a:ext cx="1447800" cy="28575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6" name="Line 8"/>
            <p:cNvSpPr>
              <a:spLocks noChangeShapeType="1"/>
            </p:cNvSpPr>
            <p:nvPr/>
          </p:nvSpPr>
          <p:spPr bwMode="auto">
            <a:xfrm>
              <a:off x="2819400" y="1881659"/>
              <a:ext cx="7885112" cy="24764"/>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057" name="Group 9"/>
            <p:cNvGrpSpPr>
              <a:grpSpLocks/>
            </p:cNvGrpSpPr>
            <p:nvPr/>
          </p:nvGrpSpPr>
          <p:grpSpPr bwMode="auto">
            <a:xfrm>
              <a:off x="3260725" y="2491259"/>
              <a:ext cx="3879850" cy="700088"/>
              <a:chOff x="1962" y="1200"/>
              <a:chExt cx="1910" cy="441"/>
            </a:xfrm>
          </p:grpSpPr>
          <p:grpSp>
            <p:nvGrpSpPr>
              <p:cNvPr id="130058" name="Group 10"/>
              <p:cNvGrpSpPr>
                <a:grpSpLocks noChangeAspect="1"/>
              </p:cNvGrpSpPr>
              <p:nvPr/>
            </p:nvGrpSpPr>
            <p:grpSpPr bwMode="auto">
              <a:xfrm>
                <a:off x="2429" y="1304"/>
                <a:ext cx="221" cy="233"/>
                <a:chOff x="1374" y="528"/>
                <a:chExt cx="480" cy="432"/>
              </a:xfrm>
            </p:grpSpPr>
            <p:grpSp>
              <p:nvGrpSpPr>
                <p:cNvPr id="130059" name="Group 11"/>
                <p:cNvGrpSpPr>
                  <a:grpSpLocks noChangeAspect="1"/>
                </p:cNvGrpSpPr>
                <p:nvPr/>
              </p:nvGrpSpPr>
              <p:grpSpPr bwMode="auto">
                <a:xfrm>
                  <a:off x="1374" y="528"/>
                  <a:ext cx="480" cy="432"/>
                  <a:chOff x="1392" y="528"/>
                  <a:chExt cx="480" cy="432"/>
                </a:xfrm>
              </p:grpSpPr>
              <p:sp>
                <p:nvSpPr>
                  <p:cNvPr id="130060" name="Rectangle 12"/>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1" name="Rectangle 13"/>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0062" name="Text Box 14"/>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0063" name="Line 15"/>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4" name="Line 16"/>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065" name="Group 17"/>
              <p:cNvGrpSpPr>
                <a:grpSpLocks noChangeAspect="1"/>
              </p:cNvGrpSpPr>
              <p:nvPr/>
            </p:nvGrpSpPr>
            <p:grpSpPr bwMode="auto">
              <a:xfrm>
                <a:off x="2851" y="1235"/>
                <a:ext cx="199" cy="371"/>
                <a:chOff x="2991" y="411"/>
                <a:chExt cx="359" cy="768"/>
              </a:xfrm>
            </p:grpSpPr>
            <p:sp>
              <p:nvSpPr>
                <p:cNvPr id="130066" name="AutoShape 18"/>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0067" name="AutoShape 19"/>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8" name="Freeform 20"/>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9" name="Text Box 21"/>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0070" name="Line 22"/>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71" name="Line 23"/>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072" name="Group 24"/>
              <p:cNvGrpSpPr>
                <a:grpSpLocks noChangeAspect="1"/>
              </p:cNvGrpSpPr>
              <p:nvPr/>
            </p:nvGrpSpPr>
            <p:grpSpPr bwMode="auto">
              <a:xfrm>
                <a:off x="3209" y="1305"/>
                <a:ext cx="275" cy="232"/>
                <a:chOff x="3853" y="576"/>
                <a:chExt cx="594" cy="480"/>
              </a:xfrm>
            </p:grpSpPr>
            <p:sp>
              <p:nvSpPr>
                <p:cNvPr id="130073" name="Rectangle 25"/>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0074" name="Text Box 26"/>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0075" name="Freeform 27"/>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76" name="Line 28"/>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77" name="Line 29"/>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078" name="Group 30"/>
              <p:cNvGrpSpPr>
                <a:grpSpLocks noChangeAspect="1"/>
              </p:cNvGrpSpPr>
              <p:nvPr/>
            </p:nvGrpSpPr>
            <p:grpSpPr bwMode="auto">
              <a:xfrm>
                <a:off x="1962" y="1305"/>
                <a:ext cx="290" cy="232"/>
                <a:chOff x="1123" y="576"/>
                <a:chExt cx="626" cy="480"/>
              </a:xfrm>
            </p:grpSpPr>
            <p:sp>
              <p:nvSpPr>
                <p:cNvPr id="130079" name="Rectangle 31"/>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0080" name="Text Box 32"/>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0081" name="Group 33"/>
              <p:cNvGrpSpPr>
                <a:grpSpLocks/>
              </p:cNvGrpSpPr>
              <p:nvPr/>
            </p:nvGrpSpPr>
            <p:grpSpPr bwMode="auto">
              <a:xfrm>
                <a:off x="2288" y="1200"/>
                <a:ext cx="1297" cy="441"/>
                <a:chOff x="2112" y="528"/>
                <a:chExt cx="2088" cy="681"/>
              </a:xfrm>
            </p:grpSpPr>
            <p:sp>
              <p:nvSpPr>
                <p:cNvPr id="130082" name="Rectangle 34"/>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83" name="Rectangle 35"/>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84" name="Rectangle 36"/>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85" name="Rectangle 37"/>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0086" name="Group 38"/>
              <p:cNvGrpSpPr>
                <a:grpSpLocks noChangeAspect="1"/>
              </p:cNvGrpSpPr>
              <p:nvPr/>
            </p:nvGrpSpPr>
            <p:grpSpPr bwMode="auto">
              <a:xfrm flipH="1">
                <a:off x="3649" y="1296"/>
                <a:ext cx="223" cy="233"/>
                <a:chOff x="1374" y="528"/>
                <a:chExt cx="480" cy="432"/>
              </a:xfrm>
            </p:grpSpPr>
            <p:grpSp>
              <p:nvGrpSpPr>
                <p:cNvPr id="130087" name="Group 39"/>
                <p:cNvGrpSpPr>
                  <a:grpSpLocks noChangeAspect="1"/>
                </p:cNvGrpSpPr>
                <p:nvPr/>
              </p:nvGrpSpPr>
              <p:grpSpPr bwMode="auto">
                <a:xfrm>
                  <a:off x="1374" y="528"/>
                  <a:ext cx="480" cy="432"/>
                  <a:chOff x="1392" y="528"/>
                  <a:chExt cx="480" cy="432"/>
                </a:xfrm>
              </p:grpSpPr>
              <p:sp>
                <p:nvSpPr>
                  <p:cNvPr id="130088" name="Rectangle 40"/>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89" name="Rectangle 41"/>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0090" name="Text Box 42"/>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0091" name="Group 43"/>
            <p:cNvGrpSpPr>
              <a:grpSpLocks/>
            </p:cNvGrpSpPr>
            <p:nvPr/>
          </p:nvGrpSpPr>
          <p:grpSpPr bwMode="auto">
            <a:xfrm>
              <a:off x="4114800" y="3405659"/>
              <a:ext cx="3879850" cy="700088"/>
              <a:chOff x="1962" y="1200"/>
              <a:chExt cx="1910" cy="441"/>
            </a:xfrm>
          </p:grpSpPr>
          <p:grpSp>
            <p:nvGrpSpPr>
              <p:cNvPr id="130092" name="Group 44"/>
              <p:cNvGrpSpPr>
                <a:grpSpLocks noChangeAspect="1"/>
              </p:cNvGrpSpPr>
              <p:nvPr/>
            </p:nvGrpSpPr>
            <p:grpSpPr bwMode="auto">
              <a:xfrm>
                <a:off x="2429" y="1304"/>
                <a:ext cx="221" cy="233"/>
                <a:chOff x="1374" y="528"/>
                <a:chExt cx="480" cy="432"/>
              </a:xfrm>
            </p:grpSpPr>
            <p:grpSp>
              <p:nvGrpSpPr>
                <p:cNvPr id="130093" name="Group 45"/>
                <p:cNvGrpSpPr>
                  <a:grpSpLocks noChangeAspect="1"/>
                </p:cNvGrpSpPr>
                <p:nvPr/>
              </p:nvGrpSpPr>
              <p:grpSpPr bwMode="auto">
                <a:xfrm>
                  <a:off x="1374" y="528"/>
                  <a:ext cx="480" cy="432"/>
                  <a:chOff x="1392" y="528"/>
                  <a:chExt cx="480" cy="432"/>
                </a:xfrm>
              </p:grpSpPr>
              <p:sp>
                <p:nvSpPr>
                  <p:cNvPr id="130094" name="Rectangle 46"/>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95" name="Rectangle 47"/>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0096" name="Text Box 48"/>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0097" name="Line 49"/>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98" name="Line 50"/>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099" name="Group 51"/>
              <p:cNvGrpSpPr>
                <a:grpSpLocks noChangeAspect="1"/>
              </p:cNvGrpSpPr>
              <p:nvPr/>
            </p:nvGrpSpPr>
            <p:grpSpPr bwMode="auto">
              <a:xfrm>
                <a:off x="2851" y="1235"/>
                <a:ext cx="199" cy="371"/>
                <a:chOff x="2991" y="411"/>
                <a:chExt cx="359" cy="768"/>
              </a:xfrm>
            </p:grpSpPr>
            <p:sp>
              <p:nvSpPr>
                <p:cNvPr id="130100" name="AutoShape 52"/>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0101" name="AutoShape 53"/>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02" name="Freeform 54"/>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03" name="Text Box 55"/>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0104" name="Line 56"/>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05" name="Line 57"/>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106" name="Group 58"/>
              <p:cNvGrpSpPr>
                <a:grpSpLocks noChangeAspect="1"/>
              </p:cNvGrpSpPr>
              <p:nvPr/>
            </p:nvGrpSpPr>
            <p:grpSpPr bwMode="auto">
              <a:xfrm>
                <a:off x="3209" y="1305"/>
                <a:ext cx="275" cy="232"/>
                <a:chOff x="3853" y="576"/>
                <a:chExt cx="594" cy="480"/>
              </a:xfrm>
            </p:grpSpPr>
            <p:sp>
              <p:nvSpPr>
                <p:cNvPr id="130107" name="Rectangle 59"/>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0108" name="Text Box 60"/>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0109" name="Freeform 61"/>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10" name="Line 62"/>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11" name="Line 63"/>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112" name="Group 64"/>
              <p:cNvGrpSpPr>
                <a:grpSpLocks noChangeAspect="1"/>
              </p:cNvGrpSpPr>
              <p:nvPr/>
            </p:nvGrpSpPr>
            <p:grpSpPr bwMode="auto">
              <a:xfrm>
                <a:off x="1962" y="1305"/>
                <a:ext cx="290" cy="232"/>
                <a:chOff x="1123" y="576"/>
                <a:chExt cx="626" cy="480"/>
              </a:xfrm>
            </p:grpSpPr>
            <p:sp>
              <p:nvSpPr>
                <p:cNvPr id="130113" name="Rectangle 65"/>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0114" name="Text Box 66"/>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0115" name="Group 67"/>
              <p:cNvGrpSpPr>
                <a:grpSpLocks/>
              </p:cNvGrpSpPr>
              <p:nvPr/>
            </p:nvGrpSpPr>
            <p:grpSpPr bwMode="auto">
              <a:xfrm>
                <a:off x="2288" y="1200"/>
                <a:ext cx="1297" cy="441"/>
                <a:chOff x="2112" y="528"/>
                <a:chExt cx="2088" cy="681"/>
              </a:xfrm>
            </p:grpSpPr>
            <p:sp>
              <p:nvSpPr>
                <p:cNvPr id="130116" name="Rectangle 68"/>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17" name="Rectangle 69"/>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18" name="Rectangle 70"/>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19" name="Rectangle 71"/>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0120" name="Group 72"/>
              <p:cNvGrpSpPr>
                <a:grpSpLocks noChangeAspect="1"/>
              </p:cNvGrpSpPr>
              <p:nvPr/>
            </p:nvGrpSpPr>
            <p:grpSpPr bwMode="auto">
              <a:xfrm flipH="1">
                <a:off x="3649" y="1296"/>
                <a:ext cx="223" cy="233"/>
                <a:chOff x="1374" y="528"/>
                <a:chExt cx="480" cy="432"/>
              </a:xfrm>
            </p:grpSpPr>
            <p:grpSp>
              <p:nvGrpSpPr>
                <p:cNvPr id="130121" name="Group 73"/>
                <p:cNvGrpSpPr>
                  <a:grpSpLocks noChangeAspect="1"/>
                </p:cNvGrpSpPr>
                <p:nvPr/>
              </p:nvGrpSpPr>
              <p:grpSpPr bwMode="auto">
                <a:xfrm>
                  <a:off x="1374" y="528"/>
                  <a:ext cx="480" cy="432"/>
                  <a:chOff x="1392" y="528"/>
                  <a:chExt cx="480" cy="432"/>
                </a:xfrm>
              </p:grpSpPr>
              <p:sp>
                <p:nvSpPr>
                  <p:cNvPr id="130122" name="Rectangle 74"/>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23" name="Rectangle 75"/>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0124" name="Text Box 76"/>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0125" name="Group 77"/>
            <p:cNvGrpSpPr>
              <a:grpSpLocks/>
            </p:cNvGrpSpPr>
            <p:nvPr/>
          </p:nvGrpSpPr>
          <p:grpSpPr bwMode="auto">
            <a:xfrm>
              <a:off x="4953000" y="4243859"/>
              <a:ext cx="3879850" cy="700088"/>
              <a:chOff x="1962" y="1200"/>
              <a:chExt cx="1910" cy="441"/>
            </a:xfrm>
          </p:grpSpPr>
          <p:grpSp>
            <p:nvGrpSpPr>
              <p:cNvPr id="130126" name="Group 78"/>
              <p:cNvGrpSpPr>
                <a:grpSpLocks noChangeAspect="1"/>
              </p:cNvGrpSpPr>
              <p:nvPr/>
            </p:nvGrpSpPr>
            <p:grpSpPr bwMode="auto">
              <a:xfrm>
                <a:off x="2429" y="1304"/>
                <a:ext cx="221" cy="233"/>
                <a:chOff x="1374" y="528"/>
                <a:chExt cx="480" cy="432"/>
              </a:xfrm>
            </p:grpSpPr>
            <p:grpSp>
              <p:nvGrpSpPr>
                <p:cNvPr id="130127" name="Group 79"/>
                <p:cNvGrpSpPr>
                  <a:grpSpLocks noChangeAspect="1"/>
                </p:cNvGrpSpPr>
                <p:nvPr/>
              </p:nvGrpSpPr>
              <p:grpSpPr bwMode="auto">
                <a:xfrm>
                  <a:off x="1374" y="528"/>
                  <a:ext cx="480" cy="432"/>
                  <a:chOff x="1392" y="528"/>
                  <a:chExt cx="480" cy="432"/>
                </a:xfrm>
              </p:grpSpPr>
              <p:sp>
                <p:nvSpPr>
                  <p:cNvPr id="130128" name="Rectangle 80"/>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29" name="Rectangle 81"/>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0130" name="Text Box 82"/>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0131" name="Line 83"/>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32" name="Line 84"/>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133" name="Group 85"/>
              <p:cNvGrpSpPr>
                <a:grpSpLocks noChangeAspect="1"/>
              </p:cNvGrpSpPr>
              <p:nvPr/>
            </p:nvGrpSpPr>
            <p:grpSpPr bwMode="auto">
              <a:xfrm>
                <a:off x="2851" y="1235"/>
                <a:ext cx="199" cy="371"/>
                <a:chOff x="2991" y="411"/>
                <a:chExt cx="359" cy="768"/>
              </a:xfrm>
            </p:grpSpPr>
            <p:sp>
              <p:nvSpPr>
                <p:cNvPr id="130134" name="AutoShape 86"/>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0135" name="AutoShape 87"/>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36" name="Freeform 88"/>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37" name="Text Box 89"/>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0138" name="Line 90"/>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39" name="Line 91"/>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140" name="Group 92"/>
              <p:cNvGrpSpPr>
                <a:grpSpLocks noChangeAspect="1"/>
              </p:cNvGrpSpPr>
              <p:nvPr/>
            </p:nvGrpSpPr>
            <p:grpSpPr bwMode="auto">
              <a:xfrm>
                <a:off x="3209" y="1305"/>
                <a:ext cx="275" cy="232"/>
                <a:chOff x="3853" y="576"/>
                <a:chExt cx="594" cy="480"/>
              </a:xfrm>
            </p:grpSpPr>
            <p:sp>
              <p:nvSpPr>
                <p:cNvPr id="130141" name="Rectangle 93"/>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0142" name="Text Box 94"/>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0143" name="Freeform 95"/>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44" name="Line 96"/>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45" name="Line 97"/>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146" name="Group 98"/>
              <p:cNvGrpSpPr>
                <a:grpSpLocks noChangeAspect="1"/>
              </p:cNvGrpSpPr>
              <p:nvPr/>
            </p:nvGrpSpPr>
            <p:grpSpPr bwMode="auto">
              <a:xfrm>
                <a:off x="1962" y="1305"/>
                <a:ext cx="290" cy="232"/>
                <a:chOff x="1123" y="576"/>
                <a:chExt cx="626" cy="480"/>
              </a:xfrm>
            </p:grpSpPr>
            <p:sp>
              <p:nvSpPr>
                <p:cNvPr id="130147" name="Rectangle 99"/>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0148" name="Text Box 100"/>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0149" name="Group 101"/>
              <p:cNvGrpSpPr>
                <a:grpSpLocks/>
              </p:cNvGrpSpPr>
              <p:nvPr/>
            </p:nvGrpSpPr>
            <p:grpSpPr bwMode="auto">
              <a:xfrm>
                <a:off x="2288" y="1200"/>
                <a:ext cx="1297" cy="441"/>
                <a:chOff x="2112" y="528"/>
                <a:chExt cx="2088" cy="681"/>
              </a:xfrm>
            </p:grpSpPr>
            <p:sp>
              <p:nvSpPr>
                <p:cNvPr id="130150" name="Rectangle 102"/>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51" name="Rectangle 103"/>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52" name="Rectangle 104"/>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53" name="Rectangle 105"/>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0154" name="Group 106"/>
              <p:cNvGrpSpPr>
                <a:grpSpLocks noChangeAspect="1"/>
              </p:cNvGrpSpPr>
              <p:nvPr/>
            </p:nvGrpSpPr>
            <p:grpSpPr bwMode="auto">
              <a:xfrm flipH="1">
                <a:off x="3649" y="1296"/>
                <a:ext cx="223" cy="233"/>
                <a:chOff x="1374" y="528"/>
                <a:chExt cx="480" cy="432"/>
              </a:xfrm>
            </p:grpSpPr>
            <p:grpSp>
              <p:nvGrpSpPr>
                <p:cNvPr id="130155" name="Group 107"/>
                <p:cNvGrpSpPr>
                  <a:grpSpLocks noChangeAspect="1"/>
                </p:cNvGrpSpPr>
                <p:nvPr/>
              </p:nvGrpSpPr>
              <p:grpSpPr bwMode="auto">
                <a:xfrm>
                  <a:off x="1374" y="528"/>
                  <a:ext cx="480" cy="432"/>
                  <a:chOff x="1392" y="528"/>
                  <a:chExt cx="480" cy="432"/>
                </a:xfrm>
              </p:grpSpPr>
              <p:sp>
                <p:nvSpPr>
                  <p:cNvPr id="130156" name="Rectangle 108"/>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57" name="Rectangle 109"/>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0158" name="Text Box 110"/>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0159" name="Group 111"/>
            <p:cNvGrpSpPr>
              <a:grpSpLocks/>
            </p:cNvGrpSpPr>
            <p:nvPr/>
          </p:nvGrpSpPr>
          <p:grpSpPr bwMode="auto">
            <a:xfrm>
              <a:off x="5791200" y="5082059"/>
              <a:ext cx="3879850" cy="700088"/>
              <a:chOff x="1962" y="1200"/>
              <a:chExt cx="1910" cy="441"/>
            </a:xfrm>
          </p:grpSpPr>
          <p:grpSp>
            <p:nvGrpSpPr>
              <p:cNvPr id="130160" name="Group 112"/>
              <p:cNvGrpSpPr>
                <a:grpSpLocks noChangeAspect="1"/>
              </p:cNvGrpSpPr>
              <p:nvPr/>
            </p:nvGrpSpPr>
            <p:grpSpPr bwMode="auto">
              <a:xfrm>
                <a:off x="2429" y="1304"/>
                <a:ext cx="221" cy="233"/>
                <a:chOff x="1374" y="528"/>
                <a:chExt cx="480" cy="432"/>
              </a:xfrm>
            </p:grpSpPr>
            <p:grpSp>
              <p:nvGrpSpPr>
                <p:cNvPr id="130161" name="Group 113"/>
                <p:cNvGrpSpPr>
                  <a:grpSpLocks noChangeAspect="1"/>
                </p:cNvGrpSpPr>
                <p:nvPr/>
              </p:nvGrpSpPr>
              <p:grpSpPr bwMode="auto">
                <a:xfrm>
                  <a:off x="1374" y="528"/>
                  <a:ext cx="480" cy="432"/>
                  <a:chOff x="1392" y="528"/>
                  <a:chExt cx="480" cy="432"/>
                </a:xfrm>
              </p:grpSpPr>
              <p:sp>
                <p:nvSpPr>
                  <p:cNvPr id="130162" name="Rectangle 114"/>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63" name="Rectangle 115"/>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0164" name="Text Box 116"/>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dirty="0" err="1">
                      <a:latin typeface="Comic Sans MS" panose="030F0702030302020204" pitchFamily="66" charset="0"/>
                    </a:rPr>
                    <a:t>Reg</a:t>
                  </a:r>
                  <a:endParaRPr lang="en-US" altLang="zh-CN" sz="1000" dirty="0">
                    <a:latin typeface="Comic Sans MS" panose="030F0702030302020204" pitchFamily="66" charset="0"/>
                  </a:endParaRPr>
                </a:p>
              </p:txBody>
            </p:sp>
          </p:grpSp>
          <p:sp>
            <p:nvSpPr>
              <p:cNvPr id="130165" name="Line 117"/>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66" name="Line 118"/>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167" name="Group 119"/>
              <p:cNvGrpSpPr>
                <a:grpSpLocks noChangeAspect="1"/>
              </p:cNvGrpSpPr>
              <p:nvPr/>
            </p:nvGrpSpPr>
            <p:grpSpPr bwMode="auto">
              <a:xfrm>
                <a:off x="2851" y="1235"/>
                <a:ext cx="199" cy="371"/>
                <a:chOff x="2991" y="411"/>
                <a:chExt cx="359" cy="768"/>
              </a:xfrm>
            </p:grpSpPr>
            <p:sp>
              <p:nvSpPr>
                <p:cNvPr id="130168" name="AutoShape 120"/>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0169" name="AutoShape 121"/>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70" name="Freeform 122"/>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71" name="Text Box 123"/>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0172" name="Line 124"/>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73" name="Line 125"/>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174" name="Group 126"/>
              <p:cNvGrpSpPr>
                <a:grpSpLocks noChangeAspect="1"/>
              </p:cNvGrpSpPr>
              <p:nvPr/>
            </p:nvGrpSpPr>
            <p:grpSpPr bwMode="auto">
              <a:xfrm>
                <a:off x="3209" y="1305"/>
                <a:ext cx="275" cy="232"/>
                <a:chOff x="3853" y="576"/>
                <a:chExt cx="594" cy="480"/>
              </a:xfrm>
            </p:grpSpPr>
            <p:sp>
              <p:nvSpPr>
                <p:cNvPr id="130175" name="Rectangle 127"/>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0176" name="Text Box 128"/>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0177" name="Freeform 129"/>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78" name="Line 130"/>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79" name="Line 131"/>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0180" name="Group 132"/>
              <p:cNvGrpSpPr>
                <a:grpSpLocks noChangeAspect="1"/>
              </p:cNvGrpSpPr>
              <p:nvPr/>
            </p:nvGrpSpPr>
            <p:grpSpPr bwMode="auto">
              <a:xfrm>
                <a:off x="1962" y="1305"/>
                <a:ext cx="290" cy="232"/>
                <a:chOff x="1123" y="576"/>
                <a:chExt cx="626" cy="480"/>
              </a:xfrm>
            </p:grpSpPr>
            <p:sp>
              <p:nvSpPr>
                <p:cNvPr id="130181" name="Rectangle 133"/>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0182" name="Text Box 134"/>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0183" name="Group 135"/>
              <p:cNvGrpSpPr>
                <a:grpSpLocks/>
              </p:cNvGrpSpPr>
              <p:nvPr/>
            </p:nvGrpSpPr>
            <p:grpSpPr bwMode="auto">
              <a:xfrm>
                <a:off x="2288" y="1200"/>
                <a:ext cx="1297" cy="441"/>
                <a:chOff x="2112" y="528"/>
                <a:chExt cx="2088" cy="681"/>
              </a:xfrm>
            </p:grpSpPr>
            <p:sp>
              <p:nvSpPr>
                <p:cNvPr id="130184" name="Rectangle 136"/>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85" name="Rectangle 137"/>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86" name="Rectangle 138"/>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87" name="Rectangle 139"/>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0188" name="Group 140"/>
              <p:cNvGrpSpPr>
                <a:grpSpLocks noChangeAspect="1"/>
              </p:cNvGrpSpPr>
              <p:nvPr/>
            </p:nvGrpSpPr>
            <p:grpSpPr bwMode="auto">
              <a:xfrm flipH="1">
                <a:off x="3649" y="1296"/>
                <a:ext cx="223" cy="233"/>
                <a:chOff x="1374" y="528"/>
                <a:chExt cx="480" cy="432"/>
              </a:xfrm>
            </p:grpSpPr>
            <p:grpSp>
              <p:nvGrpSpPr>
                <p:cNvPr id="130189" name="Group 141"/>
                <p:cNvGrpSpPr>
                  <a:grpSpLocks noChangeAspect="1"/>
                </p:cNvGrpSpPr>
                <p:nvPr/>
              </p:nvGrpSpPr>
              <p:grpSpPr bwMode="auto">
                <a:xfrm>
                  <a:off x="1374" y="528"/>
                  <a:ext cx="480" cy="432"/>
                  <a:chOff x="1392" y="528"/>
                  <a:chExt cx="480" cy="432"/>
                </a:xfrm>
              </p:grpSpPr>
              <p:sp>
                <p:nvSpPr>
                  <p:cNvPr id="130190" name="Rectangle 142"/>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91" name="Rectangle 143"/>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0192" name="Text Box 144"/>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sp>
          <p:nvSpPr>
            <p:cNvPr id="130193" name="Line 145"/>
            <p:cNvSpPr>
              <a:spLocks noChangeShapeType="1"/>
            </p:cNvSpPr>
            <p:nvPr/>
          </p:nvSpPr>
          <p:spPr bwMode="auto">
            <a:xfrm>
              <a:off x="3962400" y="1881659"/>
              <a:ext cx="0" cy="4572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94" name="Line 146"/>
            <p:cNvSpPr>
              <a:spLocks noChangeShapeType="1"/>
            </p:cNvSpPr>
            <p:nvPr/>
          </p:nvSpPr>
          <p:spPr bwMode="auto">
            <a:xfrm>
              <a:off x="4800600" y="1881659"/>
              <a:ext cx="0" cy="4572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95" name="Line 147"/>
            <p:cNvSpPr>
              <a:spLocks noChangeShapeType="1"/>
            </p:cNvSpPr>
            <p:nvPr/>
          </p:nvSpPr>
          <p:spPr bwMode="auto">
            <a:xfrm>
              <a:off x="5638800" y="1881659"/>
              <a:ext cx="0" cy="4572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96" name="Line 148"/>
            <p:cNvSpPr>
              <a:spLocks noChangeShapeType="1"/>
            </p:cNvSpPr>
            <p:nvPr/>
          </p:nvSpPr>
          <p:spPr bwMode="auto">
            <a:xfrm>
              <a:off x="7391400" y="1881659"/>
              <a:ext cx="0" cy="4572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97" name="Line 149"/>
            <p:cNvSpPr>
              <a:spLocks noChangeShapeType="1"/>
            </p:cNvSpPr>
            <p:nvPr/>
          </p:nvSpPr>
          <p:spPr bwMode="auto">
            <a:xfrm>
              <a:off x="6477000" y="1881659"/>
              <a:ext cx="0" cy="4572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98" name="Line 150"/>
            <p:cNvSpPr>
              <a:spLocks noChangeShapeType="1"/>
            </p:cNvSpPr>
            <p:nvPr/>
          </p:nvSpPr>
          <p:spPr bwMode="auto">
            <a:xfrm>
              <a:off x="8229600" y="1881659"/>
              <a:ext cx="0" cy="4572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199" name="Line 151"/>
            <p:cNvSpPr>
              <a:spLocks noChangeShapeType="1"/>
            </p:cNvSpPr>
            <p:nvPr/>
          </p:nvSpPr>
          <p:spPr bwMode="auto">
            <a:xfrm>
              <a:off x="9067800" y="1881659"/>
              <a:ext cx="0" cy="4572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200" name="Line 152"/>
            <p:cNvSpPr>
              <a:spLocks noChangeShapeType="1"/>
            </p:cNvSpPr>
            <p:nvPr/>
          </p:nvSpPr>
          <p:spPr bwMode="auto">
            <a:xfrm>
              <a:off x="3124200" y="1881659"/>
              <a:ext cx="0" cy="4572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201" name="Text Box 153"/>
            <p:cNvSpPr txBox="1">
              <a:spLocks noChangeArrowheads="1"/>
            </p:cNvSpPr>
            <p:nvPr/>
          </p:nvSpPr>
          <p:spPr bwMode="auto">
            <a:xfrm>
              <a:off x="3124200" y="2057872"/>
              <a:ext cx="842963" cy="338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1</a:t>
              </a:r>
            </a:p>
          </p:txBody>
        </p:sp>
        <p:sp>
          <p:nvSpPr>
            <p:cNvPr id="130202" name="Text Box 154"/>
            <p:cNvSpPr txBox="1">
              <a:spLocks noChangeArrowheads="1"/>
            </p:cNvSpPr>
            <p:nvPr/>
          </p:nvSpPr>
          <p:spPr bwMode="auto">
            <a:xfrm>
              <a:off x="3906838" y="2059459"/>
              <a:ext cx="909638"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2</a:t>
              </a:r>
            </a:p>
          </p:txBody>
        </p:sp>
        <p:sp>
          <p:nvSpPr>
            <p:cNvPr id="130203" name="Text Box 155"/>
            <p:cNvSpPr txBox="1">
              <a:spLocks noChangeArrowheads="1"/>
            </p:cNvSpPr>
            <p:nvPr/>
          </p:nvSpPr>
          <p:spPr bwMode="auto">
            <a:xfrm>
              <a:off x="4772025" y="2059459"/>
              <a:ext cx="909638"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3</a:t>
              </a:r>
            </a:p>
          </p:txBody>
        </p:sp>
        <p:sp>
          <p:nvSpPr>
            <p:cNvPr id="130204" name="Text Box 156"/>
            <p:cNvSpPr txBox="1">
              <a:spLocks noChangeArrowheads="1"/>
            </p:cNvSpPr>
            <p:nvPr/>
          </p:nvSpPr>
          <p:spPr bwMode="auto">
            <a:xfrm>
              <a:off x="5621338" y="2059459"/>
              <a:ext cx="909638"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4</a:t>
              </a:r>
            </a:p>
          </p:txBody>
        </p:sp>
        <p:sp>
          <p:nvSpPr>
            <p:cNvPr id="130205" name="Text Box 157"/>
            <p:cNvSpPr txBox="1">
              <a:spLocks noChangeArrowheads="1"/>
            </p:cNvSpPr>
            <p:nvPr/>
          </p:nvSpPr>
          <p:spPr bwMode="auto">
            <a:xfrm>
              <a:off x="7354888" y="2059459"/>
              <a:ext cx="909638"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6</a:t>
              </a:r>
            </a:p>
          </p:txBody>
        </p:sp>
        <p:sp>
          <p:nvSpPr>
            <p:cNvPr id="130206" name="Text Box 158"/>
            <p:cNvSpPr txBox="1">
              <a:spLocks noChangeArrowheads="1"/>
            </p:cNvSpPr>
            <p:nvPr/>
          </p:nvSpPr>
          <p:spPr bwMode="auto">
            <a:xfrm>
              <a:off x="8193088" y="2059459"/>
              <a:ext cx="909638"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dirty="0">
                  <a:latin typeface="Comic Sans MS" panose="030F0702030302020204" pitchFamily="66" charset="0"/>
                </a:rPr>
                <a:t>Cycle 7</a:t>
              </a:r>
            </a:p>
          </p:txBody>
        </p:sp>
        <p:sp>
          <p:nvSpPr>
            <p:cNvPr id="130207" name="Text Box 159"/>
            <p:cNvSpPr txBox="1">
              <a:spLocks noChangeArrowheads="1"/>
            </p:cNvSpPr>
            <p:nvPr/>
          </p:nvSpPr>
          <p:spPr bwMode="auto">
            <a:xfrm>
              <a:off x="6440488" y="2059459"/>
              <a:ext cx="909638"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5</a:t>
              </a:r>
            </a:p>
          </p:txBody>
        </p:sp>
        <p:grpSp>
          <p:nvGrpSpPr>
            <p:cNvPr id="160" name="Group 111"/>
            <p:cNvGrpSpPr>
              <a:grpSpLocks/>
            </p:cNvGrpSpPr>
            <p:nvPr/>
          </p:nvGrpSpPr>
          <p:grpSpPr bwMode="auto">
            <a:xfrm>
              <a:off x="6680646" y="5897264"/>
              <a:ext cx="3879850" cy="700088"/>
              <a:chOff x="1962" y="1200"/>
              <a:chExt cx="1910" cy="441"/>
            </a:xfrm>
          </p:grpSpPr>
          <p:grpSp>
            <p:nvGrpSpPr>
              <p:cNvPr id="161" name="Group 112"/>
              <p:cNvGrpSpPr>
                <a:grpSpLocks noChangeAspect="1"/>
              </p:cNvGrpSpPr>
              <p:nvPr/>
            </p:nvGrpSpPr>
            <p:grpSpPr bwMode="auto">
              <a:xfrm>
                <a:off x="2429" y="1304"/>
                <a:ext cx="221" cy="233"/>
                <a:chOff x="1374" y="528"/>
                <a:chExt cx="480" cy="432"/>
              </a:xfrm>
            </p:grpSpPr>
            <p:grpSp>
              <p:nvGrpSpPr>
                <p:cNvPr id="190" name="Group 113"/>
                <p:cNvGrpSpPr>
                  <a:grpSpLocks noChangeAspect="1"/>
                </p:cNvGrpSpPr>
                <p:nvPr/>
              </p:nvGrpSpPr>
              <p:grpSpPr bwMode="auto">
                <a:xfrm>
                  <a:off x="1374" y="528"/>
                  <a:ext cx="480" cy="432"/>
                  <a:chOff x="1392" y="528"/>
                  <a:chExt cx="480" cy="432"/>
                </a:xfrm>
              </p:grpSpPr>
              <p:sp>
                <p:nvSpPr>
                  <p:cNvPr id="192" name="Rectangle 114"/>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3" name="Rectangle 115"/>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91" name="Text Box 116"/>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dirty="0" err="1">
                      <a:latin typeface="Comic Sans MS" panose="030F0702030302020204" pitchFamily="66" charset="0"/>
                    </a:rPr>
                    <a:t>Reg</a:t>
                  </a:r>
                  <a:endParaRPr lang="en-US" altLang="zh-CN" sz="1000" dirty="0">
                    <a:latin typeface="Comic Sans MS" panose="030F0702030302020204" pitchFamily="66" charset="0"/>
                  </a:endParaRPr>
                </a:p>
              </p:txBody>
            </p:sp>
          </p:grpSp>
          <p:sp>
            <p:nvSpPr>
              <p:cNvPr id="162" name="Line 117"/>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 name="Line 118"/>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4" name="Group 119"/>
              <p:cNvGrpSpPr>
                <a:grpSpLocks noChangeAspect="1"/>
              </p:cNvGrpSpPr>
              <p:nvPr/>
            </p:nvGrpSpPr>
            <p:grpSpPr bwMode="auto">
              <a:xfrm>
                <a:off x="2851" y="1235"/>
                <a:ext cx="199" cy="371"/>
                <a:chOff x="2991" y="411"/>
                <a:chExt cx="359" cy="768"/>
              </a:xfrm>
            </p:grpSpPr>
            <p:sp>
              <p:nvSpPr>
                <p:cNvPr id="186" name="AutoShape 120"/>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87" name="AutoShape 121"/>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8" name="Freeform 122"/>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9" name="Text Box 123"/>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65" name="Line 124"/>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6" name="Line 125"/>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67" name="Group 126"/>
              <p:cNvGrpSpPr>
                <a:grpSpLocks noChangeAspect="1"/>
              </p:cNvGrpSpPr>
              <p:nvPr/>
            </p:nvGrpSpPr>
            <p:grpSpPr bwMode="auto">
              <a:xfrm>
                <a:off x="3209" y="1305"/>
                <a:ext cx="275" cy="232"/>
                <a:chOff x="3853" y="576"/>
                <a:chExt cx="594" cy="480"/>
              </a:xfrm>
            </p:grpSpPr>
            <p:sp>
              <p:nvSpPr>
                <p:cNvPr id="184" name="Rectangle 127"/>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85" name="Text Box 128"/>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68" name="Freeform 129"/>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9" name="Line 130"/>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0" name="Line 131"/>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71" name="Group 132"/>
              <p:cNvGrpSpPr>
                <a:grpSpLocks noChangeAspect="1"/>
              </p:cNvGrpSpPr>
              <p:nvPr/>
            </p:nvGrpSpPr>
            <p:grpSpPr bwMode="auto">
              <a:xfrm>
                <a:off x="1962" y="1305"/>
                <a:ext cx="290" cy="232"/>
                <a:chOff x="1123" y="576"/>
                <a:chExt cx="626" cy="480"/>
              </a:xfrm>
            </p:grpSpPr>
            <p:sp>
              <p:nvSpPr>
                <p:cNvPr id="182" name="Rectangle 133"/>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83" name="Text Box 134"/>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72" name="Group 135"/>
              <p:cNvGrpSpPr>
                <a:grpSpLocks/>
              </p:cNvGrpSpPr>
              <p:nvPr/>
            </p:nvGrpSpPr>
            <p:grpSpPr bwMode="auto">
              <a:xfrm>
                <a:off x="2288" y="1200"/>
                <a:ext cx="1297" cy="441"/>
                <a:chOff x="2112" y="528"/>
                <a:chExt cx="2088" cy="681"/>
              </a:xfrm>
            </p:grpSpPr>
            <p:sp>
              <p:nvSpPr>
                <p:cNvPr id="178" name="Rectangle 136"/>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9" name="Rectangle 137"/>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0" name="Rectangle 138"/>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1" name="Rectangle 139"/>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3" name="Group 140"/>
              <p:cNvGrpSpPr>
                <a:grpSpLocks noChangeAspect="1"/>
              </p:cNvGrpSpPr>
              <p:nvPr/>
            </p:nvGrpSpPr>
            <p:grpSpPr bwMode="auto">
              <a:xfrm flipH="1">
                <a:off x="3649" y="1296"/>
                <a:ext cx="223" cy="233"/>
                <a:chOff x="1374" y="528"/>
                <a:chExt cx="480" cy="432"/>
              </a:xfrm>
            </p:grpSpPr>
            <p:grpSp>
              <p:nvGrpSpPr>
                <p:cNvPr id="174" name="Group 141"/>
                <p:cNvGrpSpPr>
                  <a:grpSpLocks noChangeAspect="1"/>
                </p:cNvGrpSpPr>
                <p:nvPr/>
              </p:nvGrpSpPr>
              <p:grpSpPr bwMode="auto">
                <a:xfrm>
                  <a:off x="1374" y="528"/>
                  <a:ext cx="480" cy="432"/>
                  <a:chOff x="1392" y="528"/>
                  <a:chExt cx="480" cy="432"/>
                </a:xfrm>
              </p:grpSpPr>
              <p:sp>
                <p:nvSpPr>
                  <p:cNvPr id="176" name="Rectangle 142"/>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7" name="Rectangle 143"/>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75" name="Text Box 144"/>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sp>
          <p:nvSpPr>
            <p:cNvPr id="194" name="Line 151"/>
            <p:cNvSpPr>
              <a:spLocks noChangeShapeType="1"/>
            </p:cNvSpPr>
            <p:nvPr/>
          </p:nvSpPr>
          <p:spPr bwMode="auto">
            <a:xfrm>
              <a:off x="9912424" y="1916832"/>
              <a:ext cx="0" cy="4572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5" name="Text Box 158"/>
            <p:cNvSpPr txBox="1">
              <a:spLocks noChangeArrowheads="1"/>
            </p:cNvSpPr>
            <p:nvPr/>
          </p:nvSpPr>
          <p:spPr bwMode="auto">
            <a:xfrm>
              <a:off x="9065367" y="2059846"/>
              <a:ext cx="875561"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dirty="0">
                  <a:latin typeface="Comic Sans MS" panose="030F0702030302020204" pitchFamily="66" charset="0"/>
                </a:rPr>
                <a:t>Cycle </a:t>
              </a:r>
              <a:r>
                <a:rPr lang="en-US" altLang="zh-CN" sz="1600" dirty="0" smtClean="0">
                  <a:latin typeface="Comic Sans MS" panose="030F0702030302020204" pitchFamily="66" charset="0"/>
                </a:rPr>
                <a:t>8</a:t>
              </a:r>
              <a:endParaRPr lang="en-US" altLang="zh-CN" sz="1600" dirty="0">
                <a:latin typeface="Comic Sans MS" panose="030F0702030302020204" pitchFamily="66" charset="0"/>
              </a:endParaRPr>
            </a:p>
          </p:txBody>
        </p:sp>
      </p:grpSp>
    </p:spTree>
    <p:extLst>
      <p:ext uri="{BB962C8B-B14F-4D97-AF65-F5344CB8AC3E}">
        <p14:creationId xmlns:p14="http://schemas.microsoft.com/office/powerpoint/2010/main" val="3834424438"/>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ltLang="zh-CN" smtClean="0"/>
              <a:t>Its Not That Easy for Computers</a:t>
            </a:r>
            <a:endParaRPr lang="en-US" altLang="zh-CN"/>
          </a:p>
        </p:txBody>
      </p:sp>
      <p:sp>
        <p:nvSpPr>
          <p:cNvPr id="28675" name="Rectangle 3"/>
          <p:cNvSpPr>
            <a:spLocks noGrp="1" noChangeArrowheads="1"/>
          </p:cNvSpPr>
          <p:nvPr>
            <p:ph type="body" idx="1"/>
          </p:nvPr>
        </p:nvSpPr>
        <p:spPr/>
        <p:txBody>
          <a:bodyPr/>
          <a:lstStyle/>
          <a:p>
            <a:r>
              <a:rPr lang="en-US" altLang="zh-CN" dirty="0" smtClean="0"/>
              <a:t>Limits to pipelining: Hazards prevent next instruction from executing during its designated clock cycle</a:t>
            </a:r>
          </a:p>
          <a:p>
            <a:pPr lvl="1"/>
            <a:r>
              <a:rPr lang="en-US" altLang="zh-CN" dirty="0" smtClean="0">
                <a:solidFill>
                  <a:srgbClr val="FF0000"/>
                </a:solidFill>
              </a:rPr>
              <a:t>Structural hazards</a:t>
            </a:r>
            <a:r>
              <a:rPr lang="en-US" altLang="zh-CN" dirty="0" smtClean="0"/>
              <a:t>: HW cannot support this combination of instructions (single person to fold and put clothes away)</a:t>
            </a:r>
          </a:p>
          <a:p>
            <a:pPr lvl="1"/>
            <a:r>
              <a:rPr lang="en-US" altLang="zh-CN" dirty="0" smtClean="0">
                <a:solidFill>
                  <a:srgbClr val="FF0000"/>
                </a:solidFill>
              </a:rPr>
              <a:t>Data hazards</a:t>
            </a:r>
            <a:r>
              <a:rPr lang="en-US" altLang="zh-CN" dirty="0" smtClean="0"/>
              <a:t>: Instruction depends on result of prior instruction still in the pipeline (missing sock)</a:t>
            </a:r>
          </a:p>
          <a:p>
            <a:pPr lvl="1"/>
            <a:r>
              <a:rPr lang="en-US" altLang="zh-CN" dirty="0" smtClean="0">
                <a:solidFill>
                  <a:srgbClr val="FF0000"/>
                </a:solidFill>
              </a:rPr>
              <a:t>Control hazards</a:t>
            </a:r>
            <a:r>
              <a:rPr lang="en-US" altLang="zh-CN" dirty="0" smtClean="0"/>
              <a:t>: Pipelining of branches &amp; other instructions</a:t>
            </a:r>
          </a:p>
          <a:p>
            <a:pPr lvl="1"/>
            <a:r>
              <a:rPr lang="en-US" altLang="zh-CN" dirty="0" smtClean="0"/>
              <a:t>Common solution is to stall the pipeline until the hazard bubbles? in the pipeline</a:t>
            </a:r>
            <a:endParaRPr lang="en-US" altLang="zh-CN" dirty="0"/>
          </a:p>
        </p:txBody>
      </p:sp>
    </p:spTree>
    <p:extLst>
      <p:ext uri="{BB962C8B-B14F-4D97-AF65-F5344CB8AC3E}">
        <p14:creationId xmlns:p14="http://schemas.microsoft.com/office/powerpoint/2010/main" val="353151709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 calcmode="lin" valueType="num">
                                      <p:cBhvr additive="base">
                                        <p:cTn id="7" dur="500" fill="hold"/>
                                        <p:tgtEl>
                                          <p:spTgt spid="286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2867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28675">
                                            <p:txEl>
                                              <p:pRg st="1" end="1"/>
                                            </p:txEl>
                                          </p:spTgt>
                                        </p:tgtEl>
                                        <p:attrNameLst>
                                          <p:attrName>style.visibility</p:attrName>
                                        </p:attrNameLst>
                                      </p:cBhvr>
                                      <p:to>
                                        <p:strVal val="visible"/>
                                      </p:to>
                                    </p:set>
                                    <p:anim calcmode="lin" valueType="num">
                                      <p:cBhvr additive="base">
                                        <p:cTn id="11" dur="500" fill="hold"/>
                                        <p:tgtEl>
                                          <p:spTgt spid="2867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2867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28675">
                                            <p:txEl>
                                              <p:pRg st="2" end="2"/>
                                            </p:txEl>
                                          </p:spTgt>
                                        </p:tgtEl>
                                        <p:attrNameLst>
                                          <p:attrName>style.visibility</p:attrName>
                                        </p:attrNameLst>
                                      </p:cBhvr>
                                      <p:to>
                                        <p:strVal val="visible"/>
                                      </p:to>
                                    </p:set>
                                    <p:anim calcmode="lin" valueType="num">
                                      <p:cBhvr additive="base">
                                        <p:cTn id="15" dur="500" fill="hold"/>
                                        <p:tgtEl>
                                          <p:spTgt spid="2867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28675">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28675">
                                            <p:txEl>
                                              <p:pRg st="3" end="3"/>
                                            </p:txEl>
                                          </p:spTgt>
                                        </p:tgtEl>
                                        <p:attrNameLst>
                                          <p:attrName>style.visibility</p:attrName>
                                        </p:attrNameLst>
                                      </p:cBhvr>
                                      <p:to>
                                        <p:strVal val="visible"/>
                                      </p:to>
                                    </p:set>
                                    <p:anim calcmode="lin" valueType="num">
                                      <p:cBhvr additive="base">
                                        <p:cTn id="19" dur="500" fill="hold"/>
                                        <p:tgtEl>
                                          <p:spTgt spid="28675">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28675">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28675">
                                            <p:txEl>
                                              <p:pRg st="4" end="4"/>
                                            </p:txEl>
                                          </p:spTgt>
                                        </p:tgtEl>
                                        <p:attrNameLst>
                                          <p:attrName>style.visibility</p:attrName>
                                        </p:attrNameLst>
                                      </p:cBhvr>
                                      <p:to>
                                        <p:strVal val="visible"/>
                                      </p:to>
                                    </p:set>
                                    <p:anim calcmode="lin" valueType="num">
                                      <p:cBhvr additive="base">
                                        <p:cTn id="23" dur="500" fill="hold"/>
                                        <p:tgtEl>
                                          <p:spTgt spid="28675">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28675">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1752600" y="228600"/>
            <a:ext cx="87630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One Memory Port/Structural Hazards</a:t>
            </a:r>
            <a:endParaRPr lang="en-US" altLang="zh-CN" sz="2400">
              <a:solidFill>
                <a:schemeClr val="tx1"/>
              </a:solidFill>
            </a:endParaRPr>
          </a:p>
        </p:txBody>
      </p:sp>
      <p:sp>
        <p:nvSpPr>
          <p:cNvPr id="131075" name="Rectangle 3"/>
          <p:cNvSpPr>
            <a:spLocks noChangeArrowheads="1"/>
          </p:cNvSpPr>
          <p:nvPr/>
        </p:nvSpPr>
        <p:spPr bwMode="auto">
          <a:xfrm>
            <a:off x="1765011" y="2590800"/>
            <a:ext cx="387928" cy="34753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sz="2000" i="1">
                <a:latin typeface="Comic Sans MS" panose="030F0702030302020204" pitchFamily="66" charset="0"/>
              </a:rPr>
              <a:t>I</a:t>
            </a:r>
          </a:p>
          <a:p>
            <a:pPr algn="ctr" eaLnBrk="1" hangingPunct="1"/>
            <a:r>
              <a:rPr lang="en-US" altLang="zh-CN" sz="2000" i="1">
                <a:latin typeface="Comic Sans MS" panose="030F0702030302020204" pitchFamily="66" charset="0"/>
              </a:rPr>
              <a:t>n</a:t>
            </a:r>
          </a:p>
          <a:p>
            <a:pPr algn="ctr" eaLnBrk="1" hangingPunct="1"/>
            <a:r>
              <a:rPr lang="en-US" altLang="zh-CN" sz="2000" i="1">
                <a:latin typeface="Comic Sans MS" panose="030F0702030302020204" pitchFamily="66" charset="0"/>
              </a:rPr>
              <a:t>s</a:t>
            </a:r>
          </a:p>
          <a:p>
            <a:pPr algn="ctr" eaLnBrk="1" hangingPunct="1"/>
            <a:r>
              <a:rPr lang="en-US" altLang="zh-CN" sz="2000" i="1">
                <a:latin typeface="Comic Sans MS" panose="030F0702030302020204" pitchFamily="66" charset="0"/>
              </a:rPr>
              <a:t>t</a:t>
            </a:r>
          </a:p>
          <a:p>
            <a:pPr algn="ctr" eaLnBrk="1" hangingPunct="1"/>
            <a:r>
              <a:rPr lang="en-US" altLang="zh-CN" sz="2000" i="1">
                <a:latin typeface="Comic Sans MS" panose="030F0702030302020204" pitchFamily="66" charset="0"/>
              </a:rPr>
              <a:t>r.</a:t>
            </a:r>
          </a:p>
          <a:p>
            <a:pPr algn="ctr" eaLnBrk="1" hangingPunct="1"/>
            <a:endParaRPr lang="en-US" altLang="zh-CN" sz="2000" i="1">
              <a:latin typeface="Comic Sans MS" panose="030F0702030302020204" pitchFamily="66" charset="0"/>
            </a:endParaRPr>
          </a:p>
          <a:p>
            <a:pPr algn="ctr" eaLnBrk="1" hangingPunct="1"/>
            <a:r>
              <a:rPr lang="en-US" altLang="zh-CN" sz="2000" i="1">
                <a:latin typeface="Comic Sans MS" panose="030F0702030302020204" pitchFamily="66" charset="0"/>
              </a:rPr>
              <a:t>O</a:t>
            </a:r>
          </a:p>
          <a:p>
            <a:pPr algn="ctr" eaLnBrk="1" hangingPunct="1"/>
            <a:r>
              <a:rPr lang="en-US" altLang="zh-CN" sz="2000" i="1">
                <a:latin typeface="Comic Sans MS" panose="030F0702030302020204" pitchFamily="66" charset="0"/>
              </a:rPr>
              <a:t>r</a:t>
            </a:r>
          </a:p>
          <a:p>
            <a:pPr algn="ctr" eaLnBrk="1" hangingPunct="1"/>
            <a:r>
              <a:rPr lang="en-US" altLang="zh-CN" sz="2000" i="1">
                <a:latin typeface="Comic Sans MS" panose="030F0702030302020204" pitchFamily="66" charset="0"/>
              </a:rPr>
              <a:t>d</a:t>
            </a:r>
          </a:p>
          <a:p>
            <a:pPr algn="ctr" eaLnBrk="1" hangingPunct="1"/>
            <a:r>
              <a:rPr lang="en-US" altLang="zh-CN" sz="2000" i="1">
                <a:latin typeface="Comic Sans MS" panose="030F0702030302020204" pitchFamily="66" charset="0"/>
              </a:rPr>
              <a:t>e</a:t>
            </a:r>
          </a:p>
          <a:p>
            <a:pPr algn="ctr" eaLnBrk="1" hangingPunct="1"/>
            <a:r>
              <a:rPr lang="en-US" altLang="zh-CN" sz="2000" i="1">
                <a:latin typeface="Comic Sans MS" panose="030F0702030302020204" pitchFamily="66" charset="0"/>
              </a:rPr>
              <a:t>r</a:t>
            </a:r>
          </a:p>
        </p:txBody>
      </p:sp>
      <p:sp>
        <p:nvSpPr>
          <p:cNvPr id="131076" name="Line 4"/>
          <p:cNvSpPr>
            <a:spLocks noChangeShapeType="1"/>
          </p:cNvSpPr>
          <p:nvPr/>
        </p:nvSpPr>
        <p:spPr bwMode="auto">
          <a:xfrm flipH="1">
            <a:off x="2209800" y="2209800"/>
            <a:ext cx="0" cy="3962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77" name="Rectangle 5"/>
          <p:cNvSpPr>
            <a:spLocks noChangeArrowheads="1"/>
          </p:cNvSpPr>
          <p:nvPr/>
        </p:nvSpPr>
        <p:spPr bwMode="auto">
          <a:xfrm>
            <a:off x="2590800" y="1524000"/>
            <a:ext cx="2508250" cy="3937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000" i="1">
                <a:latin typeface="Comic Sans MS" panose="030F0702030302020204" pitchFamily="66" charset="0"/>
              </a:rPr>
              <a:t>Time (clock cycles)</a:t>
            </a:r>
          </a:p>
        </p:txBody>
      </p:sp>
      <p:sp>
        <p:nvSpPr>
          <p:cNvPr id="131078" name="Rectangle 6"/>
          <p:cNvSpPr>
            <a:spLocks noChangeArrowheads="1"/>
          </p:cNvSpPr>
          <p:nvPr/>
        </p:nvSpPr>
        <p:spPr bwMode="auto">
          <a:xfrm>
            <a:off x="2209801" y="2590800"/>
            <a:ext cx="920125" cy="4591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Load</a:t>
            </a:r>
          </a:p>
        </p:txBody>
      </p:sp>
      <p:sp>
        <p:nvSpPr>
          <p:cNvPr id="131079" name="Rectangle 7"/>
          <p:cNvSpPr>
            <a:spLocks noChangeArrowheads="1"/>
          </p:cNvSpPr>
          <p:nvPr/>
        </p:nvSpPr>
        <p:spPr bwMode="auto">
          <a:xfrm>
            <a:off x="2209801" y="3336925"/>
            <a:ext cx="1473161" cy="4591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Instr 1</a:t>
            </a:r>
          </a:p>
        </p:txBody>
      </p:sp>
      <p:sp>
        <p:nvSpPr>
          <p:cNvPr id="131080" name="Rectangle 8"/>
          <p:cNvSpPr>
            <a:spLocks noChangeArrowheads="1"/>
          </p:cNvSpPr>
          <p:nvPr/>
        </p:nvSpPr>
        <p:spPr bwMode="auto">
          <a:xfrm>
            <a:off x="2260601" y="4130675"/>
            <a:ext cx="1473161" cy="4591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Instr 2</a:t>
            </a:r>
          </a:p>
        </p:txBody>
      </p:sp>
      <p:sp>
        <p:nvSpPr>
          <p:cNvPr id="131081" name="Rectangle 9"/>
          <p:cNvSpPr>
            <a:spLocks noChangeArrowheads="1"/>
          </p:cNvSpPr>
          <p:nvPr/>
        </p:nvSpPr>
        <p:spPr bwMode="auto">
          <a:xfrm>
            <a:off x="2270126" y="4881563"/>
            <a:ext cx="1473161" cy="4591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Instr 3</a:t>
            </a:r>
          </a:p>
        </p:txBody>
      </p:sp>
      <p:sp>
        <p:nvSpPr>
          <p:cNvPr id="131082" name="Rectangle 10"/>
          <p:cNvSpPr>
            <a:spLocks noChangeArrowheads="1"/>
          </p:cNvSpPr>
          <p:nvPr/>
        </p:nvSpPr>
        <p:spPr bwMode="auto">
          <a:xfrm>
            <a:off x="2308226" y="5662613"/>
            <a:ext cx="1473161" cy="4591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Instr 4</a:t>
            </a:r>
          </a:p>
        </p:txBody>
      </p:sp>
      <p:sp>
        <p:nvSpPr>
          <p:cNvPr id="131083" name="Line 11"/>
          <p:cNvSpPr>
            <a:spLocks noChangeShapeType="1"/>
          </p:cNvSpPr>
          <p:nvPr/>
        </p:nvSpPr>
        <p:spPr bwMode="auto">
          <a:xfrm>
            <a:off x="2743200" y="1981200"/>
            <a:ext cx="6553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084" name="Group 12"/>
          <p:cNvGrpSpPr>
            <a:grpSpLocks noChangeAspect="1"/>
          </p:cNvGrpSpPr>
          <p:nvPr/>
        </p:nvGrpSpPr>
        <p:grpSpPr bwMode="auto">
          <a:xfrm>
            <a:off x="4133851" y="2603500"/>
            <a:ext cx="447675" cy="369888"/>
            <a:chOff x="1374" y="528"/>
            <a:chExt cx="480" cy="432"/>
          </a:xfrm>
        </p:grpSpPr>
        <p:grpSp>
          <p:nvGrpSpPr>
            <p:cNvPr id="131085" name="Group 13"/>
            <p:cNvGrpSpPr>
              <a:grpSpLocks noChangeAspect="1"/>
            </p:cNvGrpSpPr>
            <p:nvPr/>
          </p:nvGrpSpPr>
          <p:grpSpPr bwMode="auto">
            <a:xfrm>
              <a:off x="1374" y="528"/>
              <a:ext cx="480" cy="432"/>
              <a:chOff x="1392" y="528"/>
              <a:chExt cx="480" cy="432"/>
            </a:xfrm>
          </p:grpSpPr>
          <p:sp>
            <p:nvSpPr>
              <p:cNvPr id="131086" name="Rectangle 14"/>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87" name="Rectangle 15"/>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1088" name="Text Box 16"/>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1089" name="Line 17"/>
          <p:cNvSpPr>
            <a:spLocks noChangeAspect="1" noChangeShapeType="1"/>
          </p:cNvSpPr>
          <p:nvPr/>
        </p:nvSpPr>
        <p:spPr bwMode="auto">
          <a:xfrm>
            <a:off x="4584700" y="2678113"/>
            <a:ext cx="495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0" name="Line 18"/>
          <p:cNvSpPr>
            <a:spLocks noChangeAspect="1" noChangeShapeType="1"/>
          </p:cNvSpPr>
          <p:nvPr/>
        </p:nvSpPr>
        <p:spPr bwMode="auto">
          <a:xfrm>
            <a:off x="4584700" y="2898775"/>
            <a:ext cx="495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091" name="Group 19"/>
          <p:cNvGrpSpPr>
            <a:grpSpLocks noChangeAspect="1"/>
          </p:cNvGrpSpPr>
          <p:nvPr/>
        </p:nvGrpSpPr>
        <p:grpSpPr bwMode="auto">
          <a:xfrm>
            <a:off x="4991101" y="2493963"/>
            <a:ext cx="403225" cy="588962"/>
            <a:chOff x="2991" y="411"/>
            <a:chExt cx="359" cy="768"/>
          </a:xfrm>
        </p:grpSpPr>
        <p:sp>
          <p:nvSpPr>
            <p:cNvPr id="131092" name="AutoShape 20"/>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1093" name="AutoShape 21"/>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4" name="Freeform 22"/>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5" name="Text Box 23"/>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1096" name="Line 24"/>
          <p:cNvSpPr>
            <a:spLocks noChangeAspect="1" noChangeShapeType="1"/>
          </p:cNvSpPr>
          <p:nvPr/>
        </p:nvSpPr>
        <p:spPr bwMode="auto">
          <a:xfrm>
            <a:off x="5399089" y="2789238"/>
            <a:ext cx="4968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7" name="Line 25"/>
          <p:cNvSpPr>
            <a:spLocks noChangeAspect="1" noChangeShapeType="1"/>
          </p:cNvSpPr>
          <p:nvPr/>
        </p:nvSpPr>
        <p:spPr bwMode="auto">
          <a:xfrm>
            <a:off x="6257926" y="2789238"/>
            <a:ext cx="4984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098" name="Rectangle 26"/>
          <p:cNvSpPr>
            <a:spLocks noChangeAspect="1" noChangeArrowheads="1"/>
          </p:cNvSpPr>
          <p:nvPr/>
        </p:nvSpPr>
        <p:spPr bwMode="auto">
          <a:xfrm>
            <a:off x="5776913" y="2605088"/>
            <a:ext cx="450850" cy="368300"/>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1099" name="Text Box 27"/>
          <p:cNvSpPr txBox="1">
            <a:spLocks noChangeAspect="1" noChangeArrowheads="1"/>
          </p:cNvSpPr>
          <p:nvPr/>
        </p:nvSpPr>
        <p:spPr bwMode="auto">
          <a:xfrm>
            <a:off x="5718175" y="2644776"/>
            <a:ext cx="558800" cy="2444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sp>
        <p:nvSpPr>
          <p:cNvPr id="131100" name="Freeform 28"/>
          <p:cNvSpPr>
            <a:spLocks noChangeAspect="1"/>
          </p:cNvSpPr>
          <p:nvPr/>
        </p:nvSpPr>
        <p:spPr bwMode="auto">
          <a:xfrm>
            <a:off x="5715000" y="2789239"/>
            <a:ext cx="674688" cy="293687"/>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01" name="Line 29"/>
          <p:cNvSpPr>
            <a:spLocks noChangeAspect="1" noChangeShapeType="1"/>
          </p:cNvSpPr>
          <p:nvPr/>
        </p:nvSpPr>
        <p:spPr bwMode="auto">
          <a:xfrm>
            <a:off x="3665538" y="2900363"/>
            <a:ext cx="4683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02" name="Line 30"/>
          <p:cNvSpPr>
            <a:spLocks noChangeAspect="1" noChangeShapeType="1"/>
          </p:cNvSpPr>
          <p:nvPr/>
        </p:nvSpPr>
        <p:spPr bwMode="auto">
          <a:xfrm>
            <a:off x="3605213" y="2678113"/>
            <a:ext cx="5254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103" name="Group 31"/>
          <p:cNvGrpSpPr>
            <a:grpSpLocks noChangeAspect="1"/>
          </p:cNvGrpSpPr>
          <p:nvPr/>
        </p:nvGrpSpPr>
        <p:grpSpPr bwMode="auto">
          <a:xfrm>
            <a:off x="3184526" y="2605088"/>
            <a:ext cx="588963" cy="368300"/>
            <a:chOff x="1123" y="576"/>
            <a:chExt cx="626" cy="480"/>
          </a:xfrm>
        </p:grpSpPr>
        <p:sp>
          <p:nvSpPr>
            <p:cNvPr id="131104" name="Rectangle 32"/>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1105" name="Text Box 33"/>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1106" name="Group 34"/>
          <p:cNvGrpSpPr>
            <a:grpSpLocks/>
          </p:cNvGrpSpPr>
          <p:nvPr/>
        </p:nvGrpSpPr>
        <p:grpSpPr bwMode="auto">
          <a:xfrm>
            <a:off x="3846513" y="2438400"/>
            <a:ext cx="2635250" cy="700088"/>
            <a:chOff x="2112" y="528"/>
            <a:chExt cx="2088" cy="681"/>
          </a:xfrm>
        </p:grpSpPr>
        <p:sp>
          <p:nvSpPr>
            <p:cNvPr id="131107" name="Rectangle 35"/>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08" name="Rectangle 36"/>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09" name="Rectangle 37"/>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10" name="Rectangle 38"/>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1111" name="Group 39"/>
          <p:cNvGrpSpPr>
            <a:grpSpLocks noChangeAspect="1"/>
          </p:cNvGrpSpPr>
          <p:nvPr/>
        </p:nvGrpSpPr>
        <p:grpSpPr bwMode="auto">
          <a:xfrm flipH="1">
            <a:off x="6611939" y="2590800"/>
            <a:ext cx="452437" cy="369888"/>
            <a:chOff x="1374" y="528"/>
            <a:chExt cx="480" cy="432"/>
          </a:xfrm>
        </p:grpSpPr>
        <p:grpSp>
          <p:nvGrpSpPr>
            <p:cNvPr id="131112" name="Group 40"/>
            <p:cNvGrpSpPr>
              <a:grpSpLocks noChangeAspect="1"/>
            </p:cNvGrpSpPr>
            <p:nvPr/>
          </p:nvGrpSpPr>
          <p:grpSpPr bwMode="auto">
            <a:xfrm>
              <a:off x="1374" y="528"/>
              <a:ext cx="480" cy="432"/>
              <a:chOff x="1392" y="528"/>
              <a:chExt cx="480" cy="432"/>
            </a:xfrm>
          </p:grpSpPr>
          <p:sp>
            <p:nvSpPr>
              <p:cNvPr id="131113" name="Rectangle 41"/>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14" name="Rectangle 42"/>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1115" name="Text Box 43"/>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nvGrpSpPr>
          <p:cNvPr id="131116" name="Group 44"/>
          <p:cNvGrpSpPr>
            <a:grpSpLocks/>
          </p:cNvGrpSpPr>
          <p:nvPr/>
        </p:nvGrpSpPr>
        <p:grpSpPr bwMode="auto">
          <a:xfrm>
            <a:off x="4038600" y="3200400"/>
            <a:ext cx="3879850" cy="700088"/>
            <a:chOff x="1962" y="1200"/>
            <a:chExt cx="1910" cy="441"/>
          </a:xfrm>
        </p:grpSpPr>
        <p:grpSp>
          <p:nvGrpSpPr>
            <p:cNvPr id="131117" name="Group 45"/>
            <p:cNvGrpSpPr>
              <a:grpSpLocks noChangeAspect="1"/>
            </p:cNvGrpSpPr>
            <p:nvPr/>
          </p:nvGrpSpPr>
          <p:grpSpPr bwMode="auto">
            <a:xfrm>
              <a:off x="2429" y="1304"/>
              <a:ext cx="221" cy="233"/>
              <a:chOff x="1374" y="528"/>
              <a:chExt cx="480" cy="432"/>
            </a:xfrm>
          </p:grpSpPr>
          <p:grpSp>
            <p:nvGrpSpPr>
              <p:cNvPr id="131118" name="Group 46"/>
              <p:cNvGrpSpPr>
                <a:grpSpLocks noChangeAspect="1"/>
              </p:cNvGrpSpPr>
              <p:nvPr/>
            </p:nvGrpSpPr>
            <p:grpSpPr bwMode="auto">
              <a:xfrm>
                <a:off x="1374" y="528"/>
                <a:ext cx="480" cy="432"/>
                <a:chOff x="1392" y="528"/>
                <a:chExt cx="480" cy="432"/>
              </a:xfrm>
            </p:grpSpPr>
            <p:sp>
              <p:nvSpPr>
                <p:cNvPr id="131119" name="Rectangle 47"/>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20" name="Rectangle 48"/>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1121" name="Text Box 49"/>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1122" name="Line 50"/>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23" name="Line 51"/>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124" name="Group 52"/>
            <p:cNvGrpSpPr>
              <a:grpSpLocks noChangeAspect="1"/>
            </p:cNvGrpSpPr>
            <p:nvPr/>
          </p:nvGrpSpPr>
          <p:grpSpPr bwMode="auto">
            <a:xfrm>
              <a:off x="2851" y="1235"/>
              <a:ext cx="199" cy="371"/>
              <a:chOff x="2991" y="411"/>
              <a:chExt cx="359" cy="768"/>
            </a:xfrm>
          </p:grpSpPr>
          <p:sp>
            <p:nvSpPr>
              <p:cNvPr id="131125" name="AutoShape 53"/>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1126" name="AutoShape 54"/>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27" name="Freeform 55"/>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28" name="Text Box 56"/>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1129" name="Line 57"/>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30" name="Line 58"/>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131" name="Group 59"/>
            <p:cNvGrpSpPr>
              <a:grpSpLocks noChangeAspect="1"/>
            </p:cNvGrpSpPr>
            <p:nvPr/>
          </p:nvGrpSpPr>
          <p:grpSpPr bwMode="auto">
            <a:xfrm>
              <a:off x="3209" y="1305"/>
              <a:ext cx="275" cy="232"/>
              <a:chOff x="3853" y="576"/>
              <a:chExt cx="594" cy="480"/>
            </a:xfrm>
          </p:grpSpPr>
          <p:sp>
            <p:nvSpPr>
              <p:cNvPr id="131132" name="Rectangle 60"/>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1133" name="Text Box 61"/>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1134" name="Freeform 62"/>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35" name="Line 63"/>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36" name="Line 64"/>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137" name="Group 65"/>
            <p:cNvGrpSpPr>
              <a:grpSpLocks noChangeAspect="1"/>
            </p:cNvGrpSpPr>
            <p:nvPr/>
          </p:nvGrpSpPr>
          <p:grpSpPr bwMode="auto">
            <a:xfrm>
              <a:off x="1962" y="1305"/>
              <a:ext cx="290" cy="232"/>
              <a:chOff x="1123" y="576"/>
              <a:chExt cx="626" cy="480"/>
            </a:xfrm>
          </p:grpSpPr>
          <p:sp>
            <p:nvSpPr>
              <p:cNvPr id="131138" name="Rectangle 66"/>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1139" name="Text Box 67"/>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1140" name="Group 68"/>
            <p:cNvGrpSpPr>
              <a:grpSpLocks/>
            </p:cNvGrpSpPr>
            <p:nvPr/>
          </p:nvGrpSpPr>
          <p:grpSpPr bwMode="auto">
            <a:xfrm>
              <a:off x="2288" y="1200"/>
              <a:ext cx="1297" cy="441"/>
              <a:chOff x="2112" y="528"/>
              <a:chExt cx="2088" cy="681"/>
            </a:xfrm>
          </p:grpSpPr>
          <p:sp>
            <p:nvSpPr>
              <p:cNvPr id="131141" name="Rectangle 69"/>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42" name="Rectangle 70"/>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43" name="Rectangle 71"/>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44" name="Rectangle 72"/>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1145" name="Group 73"/>
            <p:cNvGrpSpPr>
              <a:grpSpLocks noChangeAspect="1"/>
            </p:cNvGrpSpPr>
            <p:nvPr/>
          </p:nvGrpSpPr>
          <p:grpSpPr bwMode="auto">
            <a:xfrm flipH="1">
              <a:off x="3649" y="1296"/>
              <a:ext cx="223" cy="233"/>
              <a:chOff x="1374" y="528"/>
              <a:chExt cx="480" cy="432"/>
            </a:xfrm>
          </p:grpSpPr>
          <p:grpSp>
            <p:nvGrpSpPr>
              <p:cNvPr id="131146" name="Group 74"/>
              <p:cNvGrpSpPr>
                <a:grpSpLocks noChangeAspect="1"/>
              </p:cNvGrpSpPr>
              <p:nvPr/>
            </p:nvGrpSpPr>
            <p:grpSpPr bwMode="auto">
              <a:xfrm>
                <a:off x="1374" y="528"/>
                <a:ext cx="480" cy="432"/>
                <a:chOff x="1392" y="528"/>
                <a:chExt cx="480" cy="432"/>
              </a:xfrm>
            </p:grpSpPr>
            <p:sp>
              <p:nvSpPr>
                <p:cNvPr id="131147" name="Rectangle 75"/>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48" name="Rectangle 76"/>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1149" name="Text Box 77"/>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1150" name="Group 78"/>
          <p:cNvGrpSpPr>
            <a:grpSpLocks/>
          </p:cNvGrpSpPr>
          <p:nvPr/>
        </p:nvGrpSpPr>
        <p:grpSpPr bwMode="auto">
          <a:xfrm>
            <a:off x="4876800" y="3962400"/>
            <a:ext cx="3879850" cy="700088"/>
            <a:chOff x="1962" y="1200"/>
            <a:chExt cx="1910" cy="441"/>
          </a:xfrm>
        </p:grpSpPr>
        <p:grpSp>
          <p:nvGrpSpPr>
            <p:cNvPr id="131151" name="Group 79"/>
            <p:cNvGrpSpPr>
              <a:grpSpLocks noChangeAspect="1"/>
            </p:cNvGrpSpPr>
            <p:nvPr/>
          </p:nvGrpSpPr>
          <p:grpSpPr bwMode="auto">
            <a:xfrm>
              <a:off x="2429" y="1304"/>
              <a:ext cx="221" cy="233"/>
              <a:chOff x="1374" y="528"/>
              <a:chExt cx="480" cy="432"/>
            </a:xfrm>
          </p:grpSpPr>
          <p:grpSp>
            <p:nvGrpSpPr>
              <p:cNvPr id="131152" name="Group 80"/>
              <p:cNvGrpSpPr>
                <a:grpSpLocks noChangeAspect="1"/>
              </p:cNvGrpSpPr>
              <p:nvPr/>
            </p:nvGrpSpPr>
            <p:grpSpPr bwMode="auto">
              <a:xfrm>
                <a:off x="1374" y="528"/>
                <a:ext cx="480" cy="432"/>
                <a:chOff x="1392" y="528"/>
                <a:chExt cx="480" cy="432"/>
              </a:xfrm>
            </p:grpSpPr>
            <p:sp>
              <p:nvSpPr>
                <p:cNvPr id="131153" name="Rectangle 81"/>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54" name="Rectangle 82"/>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1155" name="Text Box 83"/>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1156" name="Line 84"/>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57" name="Line 85"/>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158" name="Group 86"/>
            <p:cNvGrpSpPr>
              <a:grpSpLocks noChangeAspect="1"/>
            </p:cNvGrpSpPr>
            <p:nvPr/>
          </p:nvGrpSpPr>
          <p:grpSpPr bwMode="auto">
            <a:xfrm>
              <a:off x="2851" y="1235"/>
              <a:ext cx="199" cy="371"/>
              <a:chOff x="2991" y="411"/>
              <a:chExt cx="359" cy="768"/>
            </a:xfrm>
          </p:grpSpPr>
          <p:sp>
            <p:nvSpPr>
              <p:cNvPr id="131159" name="AutoShape 87"/>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1160" name="AutoShape 88"/>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61" name="Freeform 89"/>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62" name="Text Box 90"/>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1163" name="Line 91"/>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64" name="Line 92"/>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165" name="Group 93"/>
            <p:cNvGrpSpPr>
              <a:grpSpLocks noChangeAspect="1"/>
            </p:cNvGrpSpPr>
            <p:nvPr/>
          </p:nvGrpSpPr>
          <p:grpSpPr bwMode="auto">
            <a:xfrm>
              <a:off x="3209" y="1305"/>
              <a:ext cx="275" cy="232"/>
              <a:chOff x="3853" y="576"/>
              <a:chExt cx="594" cy="480"/>
            </a:xfrm>
          </p:grpSpPr>
          <p:sp>
            <p:nvSpPr>
              <p:cNvPr id="131166" name="Rectangle 94"/>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1167" name="Text Box 95"/>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1168" name="Freeform 96"/>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69" name="Line 97"/>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70" name="Line 98"/>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171" name="Group 99"/>
            <p:cNvGrpSpPr>
              <a:grpSpLocks noChangeAspect="1"/>
            </p:cNvGrpSpPr>
            <p:nvPr/>
          </p:nvGrpSpPr>
          <p:grpSpPr bwMode="auto">
            <a:xfrm>
              <a:off x="1962" y="1305"/>
              <a:ext cx="290" cy="232"/>
              <a:chOff x="1123" y="576"/>
              <a:chExt cx="626" cy="480"/>
            </a:xfrm>
          </p:grpSpPr>
          <p:sp>
            <p:nvSpPr>
              <p:cNvPr id="131172" name="Rectangle 100"/>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1173" name="Text Box 101"/>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1174" name="Group 102"/>
            <p:cNvGrpSpPr>
              <a:grpSpLocks/>
            </p:cNvGrpSpPr>
            <p:nvPr/>
          </p:nvGrpSpPr>
          <p:grpSpPr bwMode="auto">
            <a:xfrm>
              <a:off x="2288" y="1200"/>
              <a:ext cx="1297" cy="441"/>
              <a:chOff x="2112" y="528"/>
              <a:chExt cx="2088" cy="681"/>
            </a:xfrm>
          </p:grpSpPr>
          <p:sp>
            <p:nvSpPr>
              <p:cNvPr id="131175" name="Rectangle 103"/>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76" name="Rectangle 104"/>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77" name="Rectangle 105"/>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78" name="Rectangle 106"/>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1179" name="Group 107"/>
            <p:cNvGrpSpPr>
              <a:grpSpLocks noChangeAspect="1"/>
            </p:cNvGrpSpPr>
            <p:nvPr/>
          </p:nvGrpSpPr>
          <p:grpSpPr bwMode="auto">
            <a:xfrm flipH="1">
              <a:off x="3649" y="1296"/>
              <a:ext cx="223" cy="233"/>
              <a:chOff x="1374" y="528"/>
              <a:chExt cx="480" cy="432"/>
            </a:xfrm>
          </p:grpSpPr>
          <p:grpSp>
            <p:nvGrpSpPr>
              <p:cNvPr id="131180" name="Group 108"/>
              <p:cNvGrpSpPr>
                <a:grpSpLocks noChangeAspect="1"/>
              </p:cNvGrpSpPr>
              <p:nvPr/>
            </p:nvGrpSpPr>
            <p:grpSpPr bwMode="auto">
              <a:xfrm>
                <a:off x="1374" y="528"/>
                <a:ext cx="480" cy="432"/>
                <a:chOff x="1392" y="528"/>
                <a:chExt cx="480" cy="432"/>
              </a:xfrm>
            </p:grpSpPr>
            <p:sp>
              <p:nvSpPr>
                <p:cNvPr id="131181" name="Rectangle 109"/>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82" name="Rectangle 110"/>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1183" name="Text Box 111"/>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1184" name="Group 112"/>
          <p:cNvGrpSpPr>
            <a:grpSpLocks noChangeAspect="1"/>
          </p:cNvGrpSpPr>
          <p:nvPr/>
        </p:nvGrpSpPr>
        <p:grpSpPr bwMode="auto">
          <a:xfrm>
            <a:off x="6664326" y="4889500"/>
            <a:ext cx="447675" cy="369888"/>
            <a:chOff x="1374" y="528"/>
            <a:chExt cx="480" cy="432"/>
          </a:xfrm>
        </p:grpSpPr>
        <p:grpSp>
          <p:nvGrpSpPr>
            <p:cNvPr id="131185" name="Group 113"/>
            <p:cNvGrpSpPr>
              <a:grpSpLocks noChangeAspect="1"/>
            </p:cNvGrpSpPr>
            <p:nvPr/>
          </p:nvGrpSpPr>
          <p:grpSpPr bwMode="auto">
            <a:xfrm>
              <a:off x="1374" y="528"/>
              <a:ext cx="480" cy="432"/>
              <a:chOff x="1392" y="528"/>
              <a:chExt cx="480" cy="432"/>
            </a:xfrm>
          </p:grpSpPr>
          <p:sp>
            <p:nvSpPr>
              <p:cNvPr id="131186" name="Rectangle 114"/>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87" name="Rectangle 115"/>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1188" name="Text Box 116"/>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1189" name="Line 117"/>
          <p:cNvSpPr>
            <a:spLocks noChangeAspect="1" noChangeShapeType="1"/>
          </p:cNvSpPr>
          <p:nvPr/>
        </p:nvSpPr>
        <p:spPr bwMode="auto">
          <a:xfrm>
            <a:off x="7115175" y="4964113"/>
            <a:ext cx="495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90" name="Line 118"/>
          <p:cNvSpPr>
            <a:spLocks noChangeAspect="1" noChangeShapeType="1"/>
          </p:cNvSpPr>
          <p:nvPr/>
        </p:nvSpPr>
        <p:spPr bwMode="auto">
          <a:xfrm>
            <a:off x="7115175" y="5184775"/>
            <a:ext cx="495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191" name="Group 119"/>
          <p:cNvGrpSpPr>
            <a:grpSpLocks noChangeAspect="1"/>
          </p:cNvGrpSpPr>
          <p:nvPr/>
        </p:nvGrpSpPr>
        <p:grpSpPr bwMode="auto">
          <a:xfrm>
            <a:off x="7521576" y="4779963"/>
            <a:ext cx="403225" cy="588962"/>
            <a:chOff x="2991" y="411"/>
            <a:chExt cx="359" cy="768"/>
          </a:xfrm>
        </p:grpSpPr>
        <p:sp>
          <p:nvSpPr>
            <p:cNvPr id="131192" name="AutoShape 120"/>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1193" name="AutoShape 121"/>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94" name="Freeform 122"/>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95" name="Text Box 123"/>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1196" name="Line 124"/>
          <p:cNvSpPr>
            <a:spLocks noChangeAspect="1" noChangeShapeType="1"/>
          </p:cNvSpPr>
          <p:nvPr/>
        </p:nvSpPr>
        <p:spPr bwMode="auto">
          <a:xfrm>
            <a:off x="7929564" y="5075238"/>
            <a:ext cx="4968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197" name="Line 125"/>
          <p:cNvSpPr>
            <a:spLocks noChangeAspect="1" noChangeShapeType="1"/>
          </p:cNvSpPr>
          <p:nvPr/>
        </p:nvSpPr>
        <p:spPr bwMode="auto">
          <a:xfrm>
            <a:off x="8788401" y="5075238"/>
            <a:ext cx="4984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198" name="Group 126"/>
          <p:cNvGrpSpPr>
            <a:grpSpLocks noChangeAspect="1"/>
          </p:cNvGrpSpPr>
          <p:nvPr/>
        </p:nvGrpSpPr>
        <p:grpSpPr bwMode="auto">
          <a:xfrm>
            <a:off x="8248650" y="4891088"/>
            <a:ext cx="558800" cy="368300"/>
            <a:chOff x="3853" y="576"/>
            <a:chExt cx="594" cy="480"/>
          </a:xfrm>
        </p:grpSpPr>
        <p:sp>
          <p:nvSpPr>
            <p:cNvPr id="131199" name="Rectangle 127"/>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1200" name="Text Box 128"/>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1201" name="Freeform 129"/>
          <p:cNvSpPr>
            <a:spLocks noChangeAspect="1"/>
          </p:cNvSpPr>
          <p:nvPr/>
        </p:nvSpPr>
        <p:spPr bwMode="auto">
          <a:xfrm>
            <a:off x="8245475" y="5075239"/>
            <a:ext cx="674688" cy="293687"/>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02" name="Line 130"/>
          <p:cNvSpPr>
            <a:spLocks noChangeAspect="1" noChangeShapeType="1"/>
          </p:cNvSpPr>
          <p:nvPr/>
        </p:nvSpPr>
        <p:spPr bwMode="auto">
          <a:xfrm>
            <a:off x="6196013" y="5186363"/>
            <a:ext cx="4683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03" name="Line 131"/>
          <p:cNvSpPr>
            <a:spLocks noChangeAspect="1" noChangeShapeType="1"/>
          </p:cNvSpPr>
          <p:nvPr/>
        </p:nvSpPr>
        <p:spPr bwMode="auto">
          <a:xfrm>
            <a:off x="6135688" y="4964113"/>
            <a:ext cx="5254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04" name="Rectangle 132"/>
          <p:cNvSpPr>
            <a:spLocks noChangeAspect="1" noChangeArrowheads="1"/>
          </p:cNvSpPr>
          <p:nvPr/>
        </p:nvSpPr>
        <p:spPr bwMode="auto">
          <a:xfrm>
            <a:off x="5784850" y="4891088"/>
            <a:ext cx="450850" cy="368300"/>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1205" name="Text Box 133"/>
          <p:cNvSpPr txBox="1">
            <a:spLocks noChangeAspect="1" noChangeArrowheads="1"/>
          </p:cNvSpPr>
          <p:nvPr/>
        </p:nvSpPr>
        <p:spPr bwMode="auto">
          <a:xfrm>
            <a:off x="5715001" y="4930776"/>
            <a:ext cx="588963"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nvGrpSpPr>
          <p:cNvPr id="131206" name="Group 134"/>
          <p:cNvGrpSpPr>
            <a:grpSpLocks/>
          </p:cNvGrpSpPr>
          <p:nvPr/>
        </p:nvGrpSpPr>
        <p:grpSpPr bwMode="auto">
          <a:xfrm>
            <a:off x="6376988" y="4724400"/>
            <a:ext cx="2635250" cy="700088"/>
            <a:chOff x="2112" y="528"/>
            <a:chExt cx="2088" cy="681"/>
          </a:xfrm>
        </p:grpSpPr>
        <p:sp>
          <p:nvSpPr>
            <p:cNvPr id="131207" name="Rectangle 135"/>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08" name="Rectangle 136"/>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09" name="Rectangle 137"/>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10" name="Rectangle 138"/>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1211" name="Group 139"/>
          <p:cNvGrpSpPr>
            <a:grpSpLocks noChangeAspect="1"/>
          </p:cNvGrpSpPr>
          <p:nvPr/>
        </p:nvGrpSpPr>
        <p:grpSpPr bwMode="auto">
          <a:xfrm flipH="1">
            <a:off x="9142414" y="4876800"/>
            <a:ext cx="452437" cy="369888"/>
            <a:chOff x="1374" y="528"/>
            <a:chExt cx="480" cy="432"/>
          </a:xfrm>
        </p:grpSpPr>
        <p:grpSp>
          <p:nvGrpSpPr>
            <p:cNvPr id="131212" name="Group 140"/>
            <p:cNvGrpSpPr>
              <a:grpSpLocks noChangeAspect="1"/>
            </p:cNvGrpSpPr>
            <p:nvPr/>
          </p:nvGrpSpPr>
          <p:grpSpPr bwMode="auto">
            <a:xfrm>
              <a:off x="1374" y="528"/>
              <a:ext cx="480" cy="432"/>
              <a:chOff x="1392" y="528"/>
              <a:chExt cx="480" cy="432"/>
            </a:xfrm>
          </p:grpSpPr>
          <p:sp>
            <p:nvSpPr>
              <p:cNvPr id="131213" name="Rectangle 141"/>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14" name="Rectangle 142"/>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1215" name="Text Box 143"/>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1216" name="Text Box 144"/>
          <p:cNvSpPr txBox="1">
            <a:spLocks noChangeArrowheads="1"/>
          </p:cNvSpPr>
          <p:nvPr/>
        </p:nvSpPr>
        <p:spPr bwMode="auto">
          <a:xfrm>
            <a:off x="3047731" y="2005598"/>
            <a:ext cx="843500"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1</a:t>
            </a:r>
          </a:p>
        </p:txBody>
      </p:sp>
      <p:sp>
        <p:nvSpPr>
          <p:cNvPr id="131217" name="Text Box 145"/>
          <p:cNvSpPr txBox="1">
            <a:spLocks noChangeArrowheads="1"/>
          </p:cNvSpPr>
          <p:nvPr/>
        </p:nvSpPr>
        <p:spPr bwMode="auto">
          <a:xfrm>
            <a:off x="3830639" y="2006600"/>
            <a:ext cx="9096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2</a:t>
            </a:r>
          </a:p>
        </p:txBody>
      </p:sp>
      <p:sp>
        <p:nvSpPr>
          <p:cNvPr id="131218" name="Text Box 146"/>
          <p:cNvSpPr txBox="1">
            <a:spLocks noChangeArrowheads="1"/>
          </p:cNvSpPr>
          <p:nvPr/>
        </p:nvSpPr>
        <p:spPr bwMode="auto">
          <a:xfrm>
            <a:off x="4695825" y="2006600"/>
            <a:ext cx="909638"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3</a:t>
            </a:r>
          </a:p>
        </p:txBody>
      </p:sp>
      <p:sp>
        <p:nvSpPr>
          <p:cNvPr id="131219" name="Text Box 147"/>
          <p:cNvSpPr txBox="1">
            <a:spLocks noChangeArrowheads="1"/>
          </p:cNvSpPr>
          <p:nvPr/>
        </p:nvSpPr>
        <p:spPr bwMode="auto">
          <a:xfrm>
            <a:off x="5545139" y="2006600"/>
            <a:ext cx="9096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4</a:t>
            </a:r>
          </a:p>
        </p:txBody>
      </p:sp>
      <p:sp>
        <p:nvSpPr>
          <p:cNvPr id="131220" name="Text Box 148"/>
          <p:cNvSpPr txBox="1">
            <a:spLocks noChangeArrowheads="1"/>
          </p:cNvSpPr>
          <p:nvPr/>
        </p:nvSpPr>
        <p:spPr bwMode="auto">
          <a:xfrm>
            <a:off x="7278689" y="2006600"/>
            <a:ext cx="9096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6</a:t>
            </a:r>
          </a:p>
        </p:txBody>
      </p:sp>
      <p:sp>
        <p:nvSpPr>
          <p:cNvPr id="131221" name="Text Box 149"/>
          <p:cNvSpPr txBox="1">
            <a:spLocks noChangeArrowheads="1"/>
          </p:cNvSpPr>
          <p:nvPr/>
        </p:nvSpPr>
        <p:spPr bwMode="auto">
          <a:xfrm>
            <a:off x="8116889" y="2006600"/>
            <a:ext cx="9096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7</a:t>
            </a:r>
          </a:p>
        </p:txBody>
      </p:sp>
      <p:sp>
        <p:nvSpPr>
          <p:cNvPr id="131222" name="Text Box 150"/>
          <p:cNvSpPr txBox="1">
            <a:spLocks noChangeArrowheads="1"/>
          </p:cNvSpPr>
          <p:nvPr/>
        </p:nvSpPr>
        <p:spPr bwMode="auto">
          <a:xfrm>
            <a:off x="6364289" y="2006600"/>
            <a:ext cx="9096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5</a:t>
            </a:r>
          </a:p>
        </p:txBody>
      </p:sp>
      <p:grpSp>
        <p:nvGrpSpPr>
          <p:cNvPr id="131223" name="Group 151"/>
          <p:cNvGrpSpPr>
            <a:grpSpLocks/>
          </p:cNvGrpSpPr>
          <p:nvPr/>
        </p:nvGrpSpPr>
        <p:grpSpPr bwMode="auto">
          <a:xfrm>
            <a:off x="6564313" y="5503864"/>
            <a:ext cx="3879850" cy="700087"/>
            <a:chOff x="1962" y="1200"/>
            <a:chExt cx="1910" cy="441"/>
          </a:xfrm>
        </p:grpSpPr>
        <p:grpSp>
          <p:nvGrpSpPr>
            <p:cNvPr id="131224" name="Group 152"/>
            <p:cNvGrpSpPr>
              <a:grpSpLocks noChangeAspect="1"/>
            </p:cNvGrpSpPr>
            <p:nvPr/>
          </p:nvGrpSpPr>
          <p:grpSpPr bwMode="auto">
            <a:xfrm>
              <a:off x="2429" y="1304"/>
              <a:ext cx="221" cy="233"/>
              <a:chOff x="1374" y="528"/>
              <a:chExt cx="480" cy="432"/>
            </a:xfrm>
          </p:grpSpPr>
          <p:grpSp>
            <p:nvGrpSpPr>
              <p:cNvPr id="131225" name="Group 153"/>
              <p:cNvGrpSpPr>
                <a:grpSpLocks noChangeAspect="1"/>
              </p:cNvGrpSpPr>
              <p:nvPr/>
            </p:nvGrpSpPr>
            <p:grpSpPr bwMode="auto">
              <a:xfrm>
                <a:off x="1374" y="528"/>
                <a:ext cx="480" cy="432"/>
                <a:chOff x="1392" y="528"/>
                <a:chExt cx="480" cy="432"/>
              </a:xfrm>
            </p:grpSpPr>
            <p:sp>
              <p:nvSpPr>
                <p:cNvPr id="131226" name="Rectangle 154"/>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27" name="Rectangle 155"/>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1228" name="Text Box 156"/>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1229" name="Line 157"/>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30" name="Line 158"/>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231" name="Group 159"/>
            <p:cNvGrpSpPr>
              <a:grpSpLocks noChangeAspect="1"/>
            </p:cNvGrpSpPr>
            <p:nvPr/>
          </p:nvGrpSpPr>
          <p:grpSpPr bwMode="auto">
            <a:xfrm>
              <a:off x="2851" y="1235"/>
              <a:ext cx="199" cy="371"/>
              <a:chOff x="2991" y="411"/>
              <a:chExt cx="359" cy="768"/>
            </a:xfrm>
          </p:grpSpPr>
          <p:sp>
            <p:nvSpPr>
              <p:cNvPr id="131232" name="AutoShape 160"/>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1233" name="AutoShape 161"/>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34" name="Freeform 162"/>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35" name="Text Box 163"/>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1236" name="Line 164"/>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37" name="Line 165"/>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238" name="Group 166"/>
            <p:cNvGrpSpPr>
              <a:grpSpLocks noChangeAspect="1"/>
            </p:cNvGrpSpPr>
            <p:nvPr/>
          </p:nvGrpSpPr>
          <p:grpSpPr bwMode="auto">
            <a:xfrm>
              <a:off x="3209" y="1305"/>
              <a:ext cx="275" cy="232"/>
              <a:chOff x="3853" y="576"/>
              <a:chExt cx="594" cy="480"/>
            </a:xfrm>
          </p:grpSpPr>
          <p:sp>
            <p:nvSpPr>
              <p:cNvPr id="131239" name="Rectangle 167"/>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1240" name="Text Box 168"/>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1241" name="Freeform 169"/>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42" name="Line 170"/>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43" name="Line 171"/>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1244" name="Group 172"/>
            <p:cNvGrpSpPr>
              <a:grpSpLocks noChangeAspect="1"/>
            </p:cNvGrpSpPr>
            <p:nvPr/>
          </p:nvGrpSpPr>
          <p:grpSpPr bwMode="auto">
            <a:xfrm>
              <a:off x="1962" y="1305"/>
              <a:ext cx="290" cy="232"/>
              <a:chOff x="1123" y="576"/>
              <a:chExt cx="626" cy="480"/>
            </a:xfrm>
          </p:grpSpPr>
          <p:sp>
            <p:nvSpPr>
              <p:cNvPr id="131245" name="Rectangle 173"/>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1246" name="Text Box 174"/>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1247" name="Group 175"/>
            <p:cNvGrpSpPr>
              <a:grpSpLocks/>
            </p:cNvGrpSpPr>
            <p:nvPr/>
          </p:nvGrpSpPr>
          <p:grpSpPr bwMode="auto">
            <a:xfrm>
              <a:off x="2288" y="1200"/>
              <a:ext cx="1297" cy="441"/>
              <a:chOff x="2112" y="528"/>
              <a:chExt cx="2088" cy="681"/>
            </a:xfrm>
          </p:grpSpPr>
          <p:sp>
            <p:nvSpPr>
              <p:cNvPr id="131248" name="Rectangle 176"/>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49" name="Rectangle 177"/>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50" name="Rectangle 178"/>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51" name="Rectangle 179"/>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1252" name="Group 180"/>
            <p:cNvGrpSpPr>
              <a:grpSpLocks noChangeAspect="1"/>
            </p:cNvGrpSpPr>
            <p:nvPr/>
          </p:nvGrpSpPr>
          <p:grpSpPr bwMode="auto">
            <a:xfrm flipH="1">
              <a:off x="3649" y="1296"/>
              <a:ext cx="223" cy="233"/>
              <a:chOff x="1374" y="528"/>
              <a:chExt cx="480" cy="432"/>
            </a:xfrm>
          </p:grpSpPr>
          <p:grpSp>
            <p:nvGrpSpPr>
              <p:cNvPr id="131253" name="Group 181"/>
              <p:cNvGrpSpPr>
                <a:grpSpLocks noChangeAspect="1"/>
              </p:cNvGrpSpPr>
              <p:nvPr/>
            </p:nvGrpSpPr>
            <p:grpSpPr bwMode="auto">
              <a:xfrm>
                <a:off x="1374" y="528"/>
                <a:ext cx="480" cy="432"/>
                <a:chOff x="1392" y="528"/>
                <a:chExt cx="480" cy="432"/>
              </a:xfrm>
            </p:grpSpPr>
            <p:sp>
              <p:nvSpPr>
                <p:cNvPr id="131254" name="Rectangle 182"/>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55" name="Rectangle 183"/>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1256" name="Text Box 184"/>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sp>
        <p:nvSpPr>
          <p:cNvPr id="131257" name="Line 185"/>
          <p:cNvSpPr>
            <a:spLocks noChangeShapeType="1"/>
          </p:cNvSpPr>
          <p:nvPr/>
        </p:nvSpPr>
        <p:spPr bwMode="auto">
          <a:xfrm>
            <a:off x="38862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58" name="Line 186"/>
          <p:cNvSpPr>
            <a:spLocks noChangeShapeType="1"/>
          </p:cNvSpPr>
          <p:nvPr/>
        </p:nvSpPr>
        <p:spPr bwMode="auto">
          <a:xfrm>
            <a:off x="64008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59" name="Line 187"/>
          <p:cNvSpPr>
            <a:spLocks noChangeShapeType="1"/>
          </p:cNvSpPr>
          <p:nvPr/>
        </p:nvSpPr>
        <p:spPr bwMode="auto">
          <a:xfrm>
            <a:off x="55626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60" name="Line 188"/>
          <p:cNvSpPr>
            <a:spLocks noChangeShapeType="1"/>
          </p:cNvSpPr>
          <p:nvPr/>
        </p:nvSpPr>
        <p:spPr bwMode="auto">
          <a:xfrm>
            <a:off x="47244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61" name="Line 189"/>
          <p:cNvSpPr>
            <a:spLocks noChangeShapeType="1"/>
          </p:cNvSpPr>
          <p:nvPr/>
        </p:nvSpPr>
        <p:spPr bwMode="auto">
          <a:xfrm>
            <a:off x="81534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62" name="Line 190"/>
          <p:cNvSpPr>
            <a:spLocks noChangeShapeType="1"/>
          </p:cNvSpPr>
          <p:nvPr/>
        </p:nvSpPr>
        <p:spPr bwMode="auto">
          <a:xfrm>
            <a:off x="7254875"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1263" name="Line 191"/>
          <p:cNvSpPr>
            <a:spLocks noChangeShapeType="1"/>
          </p:cNvSpPr>
          <p:nvPr/>
        </p:nvSpPr>
        <p:spPr bwMode="auto">
          <a:xfrm>
            <a:off x="89916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619007071"/>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a:xfrm>
            <a:off x="1752600" y="228600"/>
            <a:ext cx="876300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One Memory Port/Structural Hazards</a:t>
            </a:r>
            <a:endParaRPr lang="en-US" altLang="zh-CN" sz="2400">
              <a:solidFill>
                <a:schemeClr val="tx1"/>
              </a:solidFill>
            </a:endParaRPr>
          </a:p>
        </p:txBody>
      </p:sp>
      <p:sp>
        <p:nvSpPr>
          <p:cNvPr id="132099" name="Rectangle 3"/>
          <p:cNvSpPr>
            <a:spLocks noChangeArrowheads="1"/>
          </p:cNvSpPr>
          <p:nvPr/>
        </p:nvSpPr>
        <p:spPr bwMode="auto">
          <a:xfrm>
            <a:off x="1765011" y="2590800"/>
            <a:ext cx="387928" cy="34753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sz="2000" i="1">
                <a:latin typeface="Comic Sans MS" panose="030F0702030302020204" pitchFamily="66" charset="0"/>
              </a:rPr>
              <a:t>I</a:t>
            </a:r>
          </a:p>
          <a:p>
            <a:pPr algn="ctr" eaLnBrk="1" hangingPunct="1"/>
            <a:r>
              <a:rPr lang="en-US" altLang="zh-CN" sz="2000" i="1">
                <a:latin typeface="Comic Sans MS" panose="030F0702030302020204" pitchFamily="66" charset="0"/>
              </a:rPr>
              <a:t>n</a:t>
            </a:r>
          </a:p>
          <a:p>
            <a:pPr algn="ctr" eaLnBrk="1" hangingPunct="1"/>
            <a:r>
              <a:rPr lang="en-US" altLang="zh-CN" sz="2000" i="1">
                <a:latin typeface="Comic Sans MS" panose="030F0702030302020204" pitchFamily="66" charset="0"/>
              </a:rPr>
              <a:t>s</a:t>
            </a:r>
          </a:p>
          <a:p>
            <a:pPr algn="ctr" eaLnBrk="1" hangingPunct="1"/>
            <a:r>
              <a:rPr lang="en-US" altLang="zh-CN" sz="2000" i="1">
                <a:latin typeface="Comic Sans MS" panose="030F0702030302020204" pitchFamily="66" charset="0"/>
              </a:rPr>
              <a:t>t</a:t>
            </a:r>
          </a:p>
          <a:p>
            <a:pPr algn="ctr" eaLnBrk="1" hangingPunct="1"/>
            <a:r>
              <a:rPr lang="en-US" altLang="zh-CN" sz="2000" i="1">
                <a:latin typeface="Comic Sans MS" panose="030F0702030302020204" pitchFamily="66" charset="0"/>
              </a:rPr>
              <a:t>r.</a:t>
            </a:r>
          </a:p>
          <a:p>
            <a:pPr algn="ctr" eaLnBrk="1" hangingPunct="1"/>
            <a:endParaRPr lang="en-US" altLang="zh-CN" sz="2000" i="1">
              <a:latin typeface="Comic Sans MS" panose="030F0702030302020204" pitchFamily="66" charset="0"/>
            </a:endParaRPr>
          </a:p>
          <a:p>
            <a:pPr algn="ctr" eaLnBrk="1" hangingPunct="1"/>
            <a:r>
              <a:rPr lang="en-US" altLang="zh-CN" sz="2000" i="1">
                <a:latin typeface="Comic Sans MS" panose="030F0702030302020204" pitchFamily="66" charset="0"/>
              </a:rPr>
              <a:t>O</a:t>
            </a:r>
          </a:p>
          <a:p>
            <a:pPr algn="ctr" eaLnBrk="1" hangingPunct="1"/>
            <a:r>
              <a:rPr lang="en-US" altLang="zh-CN" sz="2000" i="1">
                <a:latin typeface="Comic Sans MS" panose="030F0702030302020204" pitchFamily="66" charset="0"/>
              </a:rPr>
              <a:t>r</a:t>
            </a:r>
          </a:p>
          <a:p>
            <a:pPr algn="ctr" eaLnBrk="1" hangingPunct="1"/>
            <a:r>
              <a:rPr lang="en-US" altLang="zh-CN" sz="2000" i="1">
                <a:latin typeface="Comic Sans MS" panose="030F0702030302020204" pitchFamily="66" charset="0"/>
              </a:rPr>
              <a:t>d</a:t>
            </a:r>
          </a:p>
          <a:p>
            <a:pPr algn="ctr" eaLnBrk="1" hangingPunct="1"/>
            <a:r>
              <a:rPr lang="en-US" altLang="zh-CN" sz="2000" i="1">
                <a:latin typeface="Comic Sans MS" panose="030F0702030302020204" pitchFamily="66" charset="0"/>
              </a:rPr>
              <a:t>e</a:t>
            </a:r>
          </a:p>
          <a:p>
            <a:pPr algn="ctr" eaLnBrk="1" hangingPunct="1"/>
            <a:r>
              <a:rPr lang="en-US" altLang="zh-CN" sz="2000" i="1">
                <a:latin typeface="Comic Sans MS" panose="030F0702030302020204" pitchFamily="66" charset="0"/>
              </a:rPr>
              <a:t>r</a:t>
            </a:r>
          </a:p>
        </p:txBody>
      </p:sp>
      <p:sp>
        <p:nvSpPr>
          <p:cNvPr id="132100" name="Line 4"/>
          <p:cNvSpPr>
            <a:spLocks noChangeShapeType="1"/>
          </p:cNvSpPr>
          <p:nvPr/>
        </p:nvSpPr>
        <p:spPr bwMode="auto">
          <a:xfrm flipH="1">
            <a:off x="2209800" y="2209800"/>
            <a:ext cx="0" cy="39624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01" name="Rectangle 5"/>
          <p:cNvSpPr>
            <a:spLocks noChangeArrowheads="1"/>
          </p:cNvSpPr>
          <p:nvPr/>
        </p:nvSpPr>
        <p:spPr bwMode="auto">
          <a:xfrm>
            <a:off x="2590800" y="1524000"/>
            <a:ext cx="2508250" cy="3937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000" i="1">
                <a:latin typeface="Comic Sans MS" panose="030F0702030302020204" pitchFamily="66" charset="0"/>
              </a:rPr>
              <a:t>Time (clock cycles)</a:t>
            </a:r>
          </a:p>
        </p:txBody>
      </p:sp>
      <p:sp>
        <p:nvSpPr>
          <p:cNvPr id="132102" name="Rectangle 6"/>
          <p:cNvSpPr>
            <a:spLocks noChangeArrowheads="1"/>
          </p:cNvSpPr>
          <p:nvPr/>
        </p:nvSpPr>
        <p:spPr bwMode="auto">
          <a:xfrm>
            <a:off x="2209801" y="2590800"/>
            <a:ext cx="920125" cy="4591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Load</a:t>
            </a:r>
          </a:p>
        </p:txBody>
      </p:sp>
      <p:sp>
        <p:nvSpPr>
          <p:cNvPr id="132103" name="Rectangle 7"/>
          <p:cNvSpPr>
            <a:spLocks noChangeArrowheads="1"/>
          </p:cNvSpPr>
          <p:nvPr/>
        </p:nvSpPr>
        <p:spPr bwMode="auto">
          <a:xfrm>
            <a:off x="2209801" y="3336925"/>
            <a:ext cx="1473161" cy="4591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Instr 1</a:t>
            </a:r>
          </a:p>
        </p:txBody>
      </p:sp>
      <p:sp>
        <p:nvSpPr>
          <p:cNvPr id="132104" name="Rectangle 8"/>
          <p:cNvSpPr>
            <a:spLocks noChangeArrowheads="1"/>
          </p:cNvSpPr>
          <p:nvPr/>
        </p:nvSpPr>
        <p:spPr bwMode="auto">
          <a:xfrm>
            <a:off x="2260601" y="4130675"/>
            <a:ext cx="1473161" cy="4591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Instr 2</a:t>
            </a:r>
          </a:p>
        </p:txBody>
      </p:sp>
      <p:sp>
        <p:nvSpPr>
          <p:cNvPr id="132105" name="Rectangle 9"/>
          <p:cNvSpPr>
            <a:spLocks noChangeArrowheads="1"/>
          </p:cNvSpPr>
          <p:nvPr/>
        </p:nvSpPr>
        <p:spPr bwMode="auto">
          <a:xfrm>
            <a:off x="2270126" y="4881563"/>
            <a:ext cx="1104471" cy="4591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Stall</a:t>
            </a:r>
          </a:p>
        </p:txBody>
      </p:sp>
      <p:sp>
        <p:nvSpPr>
          <p:cNvPr id="132106" name="Rectangle 10"/>
          <p:cNvSpPr>
            <a:spLocks noChangeArrowheads="1"/>
          </p:cNvSpPr>
          <p:nvPr/>
        </p:nvSpPr>
        <p:spPr bwMode="auto">
          <a:xfrm>
            <a:off x="2308226" y="5662613"/>
            <a:ext cx="1473161" cy="4591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Instr 3</a:t>
            </a:r>
          </a:p>
        </p:txBody>
      </p:sp>
      <p:sp>
        <p:nvSpPr>
          <p:cNvPr id="132107" name="Line 11"/>
          <p:cNvSpPr>
            <a:spLocks noChangeShapeType="1"/>
          </p:cNvSpPr>
          <p:nvPr/>
        </p:nvSpPr>
        <p:spPr bwMode="auto">
          <a:xfrm>
            <a:off x="2743200" y="1981200"/>
            <a:ext cx="655320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108" name="Group 12"/>
          <p:cNvGrpSpPr>
            <a:grpSpLocks noChangeAspect="1"/>
          </p:cNvGrpSpPr>
          <p:nvPr/>
        </p:nvGrpSpPr>
        <p:grpSpPr bwMode="auto">
          <a:xfrm>
            <a:off x="4133851" y="2603500"/>
            <a:ext cx="447675" cy="369888"/>
            <a:chOff x="1374" y="528"/>
            <a:chExt cx="480" cy="432"/>
          </a:xfrm>
        </p:grpSpPr>
        <p:grpSp>
          <p:nvGrpSpPr>
            <p:cNvPr id="132109" name="Group 13"/>
            <p:cNvGrpSpPr>
              <a:grpSpLocks noChangeAspect="1"/>
            </p:cNvGrpSpPr>
            <p:nvPr/>
          </p:nvGrpSpPr>
          <p:grpSpPr bwMode="auto">
            <a:xfrm>
              <a:off x="1374" y="528"/>
              <a:ext cx="480" cy="432"/>
              <a:chOff x="1392" y="528"/>
              <a:chExt cx="480" cy="432"/>
            </a:xfrm>
          </p:grpSpPr>
          <p:sp>
            <p:nvSpPr>
              <p:cNvPr id="132110" name="Rectangle 14"/>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1" name="Rectangle 15"/>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2112" name="Text Box 16"/>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2113" name="Line 17"/>
          <p:cNvSpPr>
            <a:spLocks noChangeAspect="1" noChangeShapeType="1"/>
          </p:cNvSpPr>
          <p:nvPr/>
        </p:nvSpPr>
        <p:spPr bwMode="auto">
          <a:xfrm>
            <a:off x="4584700" y="2678113"/>
            <a:ext cx="495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4" name="Line 18"/>
          <p:cNvSpPr>
            <a:spLocks noChangeAspect="1" noChangeShapeType="1"/>
          </p:cNvSpPr>
          <p:nvPr/>
        </p:nvSpPr>
        <p:spPr bwMode="auto">
          <a:xfrm>
            <a:off x="4584700" y="2898775"/>
            <a:ext cx="495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115" name="Group 19"/>
          <p:cNvGrpSpPr>
            <a:grpSpLocks noChangeAspect="1"/>
          </p:cNvGrpSpPr>
          <p:nvPr/>
        </p:nvGrpSpPr>
        <p:grpSpPr bwMode="auto">
          <a:xfrm>
            <a:off x="4991101" y="2493963"/>
            <a:ext cx="403225" cy="588962"/>
            <a:chOff x="2991" y="411"/>
            <a:chExt cx="359" cy="768"/>
          </a:xfrm>
        </p:grpSpPr>
        <p:sp>
          <p:nvSpPr>
            <p:cNvPr id="132116" name="AutoShape 20"/>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2117" name="AutoShape 21"/>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8" name="Freeform 22"/>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19" name="Text Box 23"/>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2120" name="Line 24"/>
          <p:cNvSpPr>
            <a:spLocks noChangeAspect="1" noChangeShapeType="1"/>
          </p:cNvSpPr>
          <p:nvPr/>
        </p:nvSpPr>
        <p:spPr bwMode="auto">
          <a:xfrm>
            <a:off x="5399089" y="2789238"/>
            <a:ext cx="49688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21" name="Line 25"/>
          <p:cNvSpPr>
            <a:spLocks noChangeAspect="1" noChangeShapeType="1"/>
          </p:cNvSpPr>
          <p:nvPr/>
        </p:nvSpPr>
        <p:spPr bwMode="auto">
          <a:xfrm>
            <a:off x="6257926" y="2789238"/>
            <a:ext cx="4984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22" name="Rectangle 26"/>
          <p:cNvSpPr>
            <a:spLocks noChangeAspect="1" noChangeArrowheads="1"/>
          </p:cNvSpPr>
          <p:nvPr/>
        </p:nvSpPr>
        <p:spPr bwMode="auto">
          <a:xfrm>
            <a:off x="5776913" y="2605088"/>
            <a:ext cx="450850" cy="3683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2123" name="Text Box 27"/>
          <p:cNvSpPr txBox="1">
            <a:spLocks noChangeAspect="1" noChangeArrowheads="1"/>
          </p:cNvSpPr>
          <p:nvPr/>
        </p:nvSpPr>
        <p:spPr bwMode="auto">
          <a:xfrm>
            <a:off x="5718175" y="2644776"/>
            <a:ext cx="558800" cy="244475"/>
          </a:xfrm>
          <a:prstGeom prst="rect">
            <a:avLst/>
          </a:prstGeom>
          <a:noFill/>
          <a:ln>
            <a:noFill/>
          </a:ln>
          <a:effectLst/>
          <a:extLst>
            <a:ext uri="{909E8E84-426E-40DD-AFC4-6F175D3DCCD1}">
              <a14:hiddenFill xmlns:a14="http://schemas.microsoft.com/office/drawing/2010/main">
                <a:solidFill>
                  <a:schemeClr val="hlink"/>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sp>
        <p:nvSpPr>
          <p:cNvPr id="132124" name="Freeform 28"/>
          <p:cNvSpPr>
            <a:spLocks noChangeAspect="1"/>
          </p:cNvSpPr>
          <p:nvPr/>
        </p:nvSpPr>
        <p:spPr bwMode="auto">
          <a:xfrm>
            <a:off x="5715000" y="2789239"/>
            <a:ext cx="674688" cy="293687"/>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25" name="Line 29"/>
          <p:cNvSpPr>
            <a:spLocks noChangeAspect="1" noChangeShapeType="1"/>
          </p:cNvSpPr>
          <p:nvPr/>
        </p:nvSpPr>
        <p:spPr bwMode="auto">
          <a:xfrm>
            <a:off x="3665538" y="2900363"/>
            <a:ext cx="4683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26" name="Line 30"/>
          <p:cNvSpPr>
            <a:spLocks noChangeAspect="1" noChangeShapeType="1"/>
          </p:cNvSpPr>
          <p:nvPr/>
        </p:nvSpPr>
        <p:spPr bwMode="auto">
          <a:xfrm>
            <a:off x="3605213" y="2678113"/>
            <a:ext cx="5254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127" name="Group 31"/>
          <p:cNvGrpSpPr>
            <a:grpSpLocks noChangeAspect="1"/>
          </p:cNvGrpSpPr>
          <p:nvPr/>
        </p:nvGrpSpPr>
        <p:grpSpPr bwMode="auto">
          <a:xfrm>
            <a:off x="3184526" y="2605088"/>
            <a:ext cx="588963" cy="368300"/>
            <a:chOff x="1123" y="576"/>
            <a:chExt cx="626" cy="480"/>
          </a:xfrm>
        </p:grpSpPr>
        <p:sp>
          <p:nvSpPr>
            <p:cNvPr id="132128" name="Rectangle 32"/>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2129" name="Text Box 33"/>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2130" name="Group 34"/>
          <p:cNvGrpSpPr>
            <a:grpSpLocks/>
          </p:cNvGrpSpPr>
          <p:nvPr/>
        </p:nvGrpSpPr>
        <p:grpSpPr bwMode="auto">
          <a:xfrm>
            <a:off x="3846513" y="2438400"/>
            <a:ext cx="2635250" cy="700088"/>
            <a:chOff x="2112" y="528"/>
            <a:chExt cx="2088" cy="681"/>
          </a:xfrm>
        </p:grpSpPr>
        <p:sp>
          <p:nvSpPr>
            <p:cNvPr id="132131" name="Rectangle 35"/>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32" name="Rectangle 36"/>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33" name="Rectangle 37"/>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34" name="Rectangle 38"/>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135" name="Group 39"/>
          <p:cNvGrpSpPr>
            <a:grpSpLocks noChangeAspect="1"/>
          </p:cNvGrpSpPr>
          <p:nvPr/>
        </p:nvGrpSpPr>
        <p:grpSpPr bwMode="auto">
          <a:xfrm flipH="1">
            <a:off x="6611939" y="2590800"/>
            <a:ext cx="452437" cy="369888"/>
            <a:chOff x="1374" y="528"/>
            <a:chExt cx="480" cy="432"/>
          </a:xfrm>
        </p:grpSpPr>
        <p:grpSp>
          <p:nvGrpSpPr>
            <p:cNvPr id="132136" name="Group 40"/>
            <p:cNvGrpSpPr>
              <a:grpSpLocks noChangeAspect="1"/>
            </p:cNvGrpSpPr>
            <p:nvPr/>
          </p:nvGrpSpPr>
          <p:grpSpPr bwMode="auto">
            <a:xfrm>
              <a:off x="1374" y="528"/>
              <a:ext cx="480" cy="432"/>
              <a:chOff x="1392" y="528"/>
              <a:chExt cx="480" cy="432"/>
            </a:xfrm>
          </p:grpSpPr>
          <p:sp>
            <p:nvSpPr>
              <p:cNvPr id="132137" name="Rectangle 41"/>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38" name="Rectangle 42"/>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2139" name="Text Box 43"/>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nvGrpSpPr>
          <p:cNvPr id="132140" name="Group 44"/>
          <p:cNvGrpSpPr>
            <a:grpSpLocks/>
          </p:cNvGrpSpPr>
          <p:nvPr/>
        </p:nvGrpSpPr>
        <p:grpSpPr bwMode="auto">
          <a:xfrm>
            <a:off x="4038600" y="3200400"/>
            <a:ext cx="3879850" cy="700088"/>
            <a:chOff x="1962" y="1200"/>
            <a:chExt cx="1910" cy="441"/>
          </a:xfrm>
        </p:grpSpPr>
        <p:grpSp>
          <p:nvGrpSpPr>
            <p:cNvPr id="132141" name="Group 45"/>
            <p:cNvGrpSpPr>
              <a:grpSpLocks noChangeAspect="1"/>
            </p:cNvGrpSpPr>
            <p:nvPr/>
          </p:nvGrpSpPr>
          <p:grpSpPr bwMode="auto">
            <a:xfrm>
              <a:off x="2429" y="1304"/>
              <a:ext cx="221" cy="233"/>
              <a:chOff x="1374" y="528"/>
              <a:chExt cx="480" cy="432"/>
            </a:xfrm>
          </p:grpSpPr>
          <p:grpSp>
            <p:nvGrpSpPr>
              <p:cNvPr id="132142" name="Group 46"/>
              <p:cNvGrpSpPr>
                <a:grpSpLocks noChangeAspect="1"/>
              </p:cNvGrpSpPr>
              <p:nvPr/>
            </p:nvGrpSpPr>
            <p:grpSpPr bwMode="auto">
              <a:xfrm>
                <a:off x="1374" y="528"/>
                <a:ext cx="480" cy="432"/>
                <a:chOff x="1392" y="528"/>
                <a:chExt cx="480" cy="432"/>
              </a:xfrm>
            </p:grpSpPr>
            <p:sp>
              <p:nvSpPr>
                <p:cNvPr id="132143" name="Rectangle 47"/>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44" name="Rectangle 48"/>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2145" name="Text Box 49"/>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2146" name="Line 50"/>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47" name="Line 51"/>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148" name="Group 52"/>
            <p:cNvGrpSpPr>
              <a:grpSpLocks noChangeAspect="1"/>
            </p:cNvGrpSpPr>
            <p:nvPr/>
          </p:nvGrpSpPr>
          <p:grpSpPr bwMode="auto">
            <a:xfrm>
              <a:off x="2851" y="1235"/>
              <a:ext cx="199" cy="371"/>
              <a:chOff x="2991" y="411"/>
              <a:chExt cx="359" cy="768"/>
            </a:xfrm>
          </p:grpSpPr>
          <p:sp>
            <p:nvSpPr>
              <p:cNvPr id="132149" name="AutoShape 53"/>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2150" name="AutoShape 54"/>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51" name="Freeform 55"/>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52" name="Text Box 56"/>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2153" name="Line 57"/>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54" name="Line 58"/>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155" name="Group 59"/>
            <p:cNvGrpSpPr>
              <a:grpSpLocks noChangeAspect="1"/>
            </p:cNvGrpSpPr>
            <p:nvPr/>
          </p:nvGrpSpPr>
          <p:grpSpPr bwMode="auto">
            <a:xfrm>
              <a:off x="3209" y="1305"/>
              <a:ext cx="275" cy="232"/>
              <a:chOff x="3853" y="576"/>
              <a:chExt cx="594" cy="480"/>
            </a:xfrm>
          </p:grpSpPr>
          <p:sp>
            <p:nvSpPr>
              <p:cNvPr id="132156" name="Rectangle 60"/>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2157" name="Text Box 61"/>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2158" name="Freeform 62"/>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59" name="Line 63"/>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60" name="Line 64"/>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161" name="Group 65"/>
            <p:cNvGrpSpPr>
              <a:grpSpLocks noChangeAspect="1"/>
            </p:cNvGrpSpPr>
            <p:nvPr/>
          </p:nvGrpSpPr>
          <p:grpSpPr bwMode="auto">
            <a:xfrm>
              <a:off x="1962" y="1305"/>
              <a:ext cx="290" cy="232"/>
              <a:chOff x="1123" y="576"/>
              <a:chExt cx="626" cy="480"/>
            </a:xfrm>
          </p:grpSpPr>
          <p:sp>
            <p:nvSpPr>
              <p:cNvPr id="132162" name="Rectangle 66"/>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2163" name="Text Box 67"/>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2164" name="Group 68"/>
            <p:cNvGrpSpPr>
              <a:grpSpLocks/>
            </p:cNvGrpSpPr>
            <p:nvPr/>
          </p:nvGrpSpPr>
          <p:grpSpPr bwMode="auto">
            <a:xfrm>
              <a:off x="2288" y="1200"/>
              <a:ext cx="1297" cy="441"/>
              <a:chOff x="2112" y="528"/>
              <a:chExt cx="2088" cy="681"/>
            </a:xfrm>
          </p:grpSpPr>
          <p:sp>
            <p:nvSpPr>
              <p:cNvPr id="132165" name="Rectangle 69"/>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66" name="Rectangle 70"/>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67" name="Rectangle 71"/>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68" name="Rectangle 72"/>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169" name="Group 73"/>
            <p:cNvGrpSpPr>
              <a:grpSpLocks noChangeAspect="1"/>
            </p:cNvGrpSpPr>
            <p:nvPr/>
          </p:nvGrpSpPr>
          <p:grpSpPr bwMode="auto">
            <a:xfrm flipH="1">
              <a:off x="3649" y="1296"/>
              <a:ext cx="223" cy="233"/>
              <a:chOff x="1374" y="528"/>
              <a:chExt cx="480" cy="432"/>
            </a:xfrm>
          </p:grpSpPr>
          <p:grpSp>
            <p:nvGrpSpPr>
              <p:cNvPr id="132170" name="Group 74"/>
              <p:cNvGrpSpPr>
                <a:grpSpLocks noChangeAspect="1"/>
              </p:cNvGrpSpPr>
              <p:nvPr/>
            </p:nvGrpSpPr>
            <p:grpSpPr bwMode="auto">
              <a:xfrm>
                <a:off x="1374" y="528"/>
                <a:ext cx="480" cy="432"/>
                <a:chOff x="1392" y="528"/>
                <a:chExt cx="480" cy="432"/>
              </a:xfrm>
            </p:grpSpPr>
            <p:sp>
              <p:nvSpPr>
                <p:cNvPr id="132171" name="Rectangle 75"/>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72" name="Rectangle 76"/>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2173" name="Text Box 77"/>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2174" name="Group 78"/>
          <p:cNvGrpSpPr>
            <a:grpSpLocks/>
          </p:cNvGrpSpPr>
          <p:nvPr/>
        </p:nvGrpSpPr>
        <p:grpSpPr bwMode="auto">
          <a:xfrm>
            <a:off x="4876800" y="3962400"/>
            <a:ext cx="3879850" cy="700088"/>
            <a:chOff x="2112" y="2496"/>
            <a:chExt cx="2444" cy="441"/>
          </a:xfrm>
        </p:grpSpPr>
        <p:grpSp>
          <p:nvGrpSpPr>
            <p:cNvPr id="132175" name="Group 79"/>
            <p:cNvGrpSpPr>
              <a:grpSpLocks noChangeAspect="1"/>
            </p:cNvGrpSpPr>
            <p:nvPr/>
          </p:nvGrpSpPr>
          <p:grpSpPr bwMode="auto">
            <a:xfrm>
              <a:off x="2710" y="2600"/>
              <a:ext cx="282" cy="233"/>
              <a:chOff x="1374" y="528"/>
              <a:chExt cx="480" cy="432"/>
            </a:xfrm>
          </p:grpSpPr>
          <p:grpSp>
            <p:nvGrpSpPr>
              <p:cNvPr id="132176" name="Group 80"/>
              <p:cNvGrpSpPr>
                <a:grpSpLocks noChangeAspect="1"/>
              </p:cNvGrpSpPr>
              <p:nvPr/>
            </p:nvGrpSpPr>
            <p:grpSpPr bwMode="auto">
              <a:xfrm>
                <a:off x="1374" y="528"/>
                <a:ext cx="480" cy="432"/>
                <a:chOff x="1392" y="528"/>
                <a:chExt cx="480" cy="432"/>
              </a:xfrm>
            </p:grpSpPr>
            <p:sp>
              <p:nvSpPr>
                <p:cNvPr id="132177" name="Rectangle 81"/>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78" name="Rectangle 82"/>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2179" name="Text Box 83"/>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2180" name="Line 84"/>
            <p:cNvSpPr>
              <a:spLocks noChangeAspect="1" noChangeShapeType="1"/>
            </p:cNvSpPr>
            <p:nvPr/>
          </p:nvSpPr>
          <p:spPr bwMode="auto">
            <a:xfrm>
              <a:off x="2994" y="2647"/>
              <a:ext cx="3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81" name="Line 85"/>
            <p:cNvSpPr>
              <a:spLocks noChangeAspect="1" noChangeShapeType="1"/>
            </p:cNvSpPr>
            <p:nvPr/>
          </p:nvSpPr>
          <p:spPr bwMode="auto">
            <a:xfrm>
              <a:off x="2994" y="2786"/>
              <a:ext cx="3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182" name="Group 86"/>
            <p:cNvGrpSpPr>
              <a:grpSpLocks noChangeAspect="1"/>
            </p:cNvGrpSpPr>
            <p:nvPr/>
          </p:nvGrpSpPr>
          <p:grpSpPr bwMode="auto">
            <a:xfrm>
              <a:off x="3250" y="2531"/>
              <a:ext cx="254" cy="371"/>
              <a:chOff x="2991" y="411"/>
              <a:chExt cx="359" cy="768"/>
            </a:xfrm>
          </p:grpSpPr>
          <p:sp>
            <p:nvSpPr>
              <p:cNvPr id="132183" name="AutoShape 87"/>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2184" name="AutoShape 88"/>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85" name="Freeform 89"/>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86" name="Text Box 90"/>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2187" name="Line 91"/>
            <p:cNvSpPr>
              <a:spLocks noChangeAspect="1" noChangeShapeType="1"/>
            </p:cNvSpPr>
            <p:nvPr/>
          </p:nvSpPr>
          <p:spPr bwMode="auto">
            <a:xfrm>
              <a:off x="3507" y="2717"/>
              <a:ext cx="3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88" name="Line 92"/>
            <p:cNvSpPr>
              <a:spLocks noChangeAspect="1" noChangeShapeType="1"/>
            </p:cNvSpPr>
            <p:nvPr/>
          </p:nvSpPr>
          <p:spPr bwMode="auto">
            <a:xfrm>
              <a:off x="4048" y="2717"/>
              <a:ext cx="31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189" name="Group 93"/>
            <p:cNvGrpSpPr>
              <a:grpSpLocks noChangeAspect="1"/>
            </p:cNvGrpSpPr>
            <p:nvPr/>
          </p:nvGrpSpPr>
          <p:grpSpPr bwMode="auto">
            <a:xfrm>
              <a:off x="3708" y="2601"/>
              <a:ext cx="352" cy="232"/>
              <a:chOff x="3853" y="576"/>
              <a:chExt cx="594" cy="480"/>
            </a:xfrm>
          </p:grpSpPr>
          <p:sp>
            <p:nvSpPr>
              <p:cNvPr id="132190" name="Rectangle 94"/>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2191" name="Text Box 95"/>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2192" name="Freeform 96"/>
            <p:cNvSpPr>
              <a:spLocks noChangeAspect="1"/>
            </p:cNvSpPr>
            <p:nvPr/>
          </p:nvSpPr>
          <p:spPr bwMode="auto">
            <a:xfrm>
              <a:off x="3706" y="2717"/>
              <a:ext cx="425"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93" name="Line 97"/>
            <p:cNvSpPr>
              <a:spLocks noChangeAspect="1" noChangeShapeType="1"/>
            </p:cNvSpPr>
            <p:nvPr/>
          </p:nvSpPr>
          <p:spPr bwMode="auto">
            <a:xfrm>
              <a:off x="2415" y="2787"/>
              <a:ext cx="29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194" name="Line 98"/>
            <p:cNvSpPr>
              <a:spLocks noChangeAspect="1" noChangeShapeType="1"/>
            </p:cNvSpPr>
            <p:nvPr/>
          </p:nvSpPr>
          <p:spPr bwMode="auto">
            <a:xfrm>
              <a:off x="2377" y="2647"/>
              <a:ext cx="33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195" name="Group 99"/>
            <p:cNvGrpSpPr>
              <a:grpSpLocks noChangeAspect="1"/>
            </p:cNvGrpSpPr>
            <p:nvPr/>
          </p:nvGrpSpPr>
          <p:grpSpPr bwMode="auto">
            <a:xfrm>
              <a:off x="2112" y="2601"/>
              <a:ext cx="371" cy="232"/>
              <a:chOff x="1123" y="576"/>
              <a:chExt cx="626" cy="480"/>
            </a:xfrm>
          </p:grpSpPr>
          <p:sp>
            <p:nvSpPr>
              <p:cNvPr id="132196" name="Rectangle 100"/>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2197" name="Text Box 101"/>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2198" name="Group 102"/>
            <p:cNvGrpSpPr>
              <a:grpSpLocks/>
            </p:cNvGrpSpPr>
            <p:nvPr/>
          </p:nvGrpSpPr>
          <p:grpSpPr bwMode="auto">
            <a:xfrm>
              <a:off x="2529" y="2496"/>
              <a:ext cx="1660" cy="441"/>
              <a:chOff x="2112" y="528"/>
              <a:chExt cx="2088" cy="681"/>
            </a:xfrm>
          </p:grpSpPr>
          <p:sp>
            <p:nvSpPr>
              <p:cNvPr id="132199" name="Rectangle 103"/>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00" name="Rectangle 104"/>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01" name="Rectangle 105"/>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02" name="Rectangle 106"/>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203" name="Group 107"/>
            <p:cNvGrpSpPr>
              <a:grpSpLocks noChangeAspect="1"/>
            </p:cNvGrpSpPr>
            <p:nvPr/>
          </p:nvGrpSpPr>
          <p:grpSpPr bwMode="auto">
            <a:xfrm flipH="1">
              <a:off x="4271" y="2592"/>
              <a:ext cx="285" cy="233"/>
              <a:chOff x="1374" y="528"/>
              <a:chExt cx="480" cy="432"/>
            </a:xfrm>
          </p:grpSpPr>
          <p:grpSp>
            <p:nvGrpSpPr>
              <p:cNvPr id="132204" name="Group 108"/>
              <p:cNvGrpSpPr>
                <a:grpSpLocks noChangeAspect="1"/>
              </p:cNvGrpSpPr>
              <p:nvPr/>
            </p:nvGrpSpPr>
            <p:grpSpPr bwMode="auto">
              <a:xfrm>
                <a:off x="1374" y="528"/>
                <a:ext cx="480" cy="432"/>
                <a:chOff x="1392" y="528"/>
                <a:chExt cx="480" cy="432"/>
              </a:xfrm>
            </p:grpSpPr>
            <p:sp>
              <p:nvSpPr>
                <p:cNvPr id="132205" name="Rectangle 109"/>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06" name="Rectangle 110"/>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2207" name="Text Box 111"/>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sp>
        <p:nvSpPr>
          <p:cNvPr id="132208" name="Text Box 112"/>
          <p:cNvSpPr txBox="1">
            <a:spLocks noChangeArrowheads="1"/>
          </p:cNvSpPr>
          <p:nvPr/>
        </p:nvSpPr>
        <p:spPr bwMode="auto">
          <a:xfrm>
            <a:off x="3047731" y="2005598"/>
            <a:ext cx="843500"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1</a:t>
            </a:r>
          </a:p>
        </p:txBody>
      </p:sp>
      <p:sp>
        <p:nvSpPr>
          <p:cNvPr id="132209" name="Text Box 113"/>
          <p:cNvSpPr txBox="1">
            <a:spLocks noChangeArrowheads="1"/>
          </p:cNvSpPr>
          <p:nvPr/>
        </p:nvSpPr>
        <p:spPr bwMode="auto">
          <a:xfrm>
            <a:off x="3830639" y="2006600"/>
            <a:ext cx="9096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2</a:t>
            </a:r>
          </a:p>
        </p:txBody>
      </p:sp>
      <p:sp>
        <p:nvSpPr>
          <p:cNvPr id="132210" name="Text Box 114"/>
          <p:cNvSpPr txBox="1">
            <a:spLocks noChangeArrowheads="1"/>
          </p:cNvSpPr>
          <p:nvPr/>
        </p:nvSpPr>
        <p:spPr bwMode="auto">
          <a:xfrm>
            <a:off x="4695825" y="2006600"/>
            <a:ext cx="909638"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3</a:t>
            </a:r>
          </a:p>
        </p:txBody>
      </p:sp>
      <p:sp>
        <p:nvSpPr>
          <p:cNvPr id="132211" name="Text Box 115"/>
          <p:cNvSpPr txBox="1">
            <a:spLocks noChangeArrowheads="1"/>
          </p:cNvSpPr>
          <p:nvPr/>
        </p:nvSpPr>
        <p:spPr bwMode="auto">
          <a:xfrm>
            <a:off x="5545139" y="2006600"/>
            <a:ext cx="9096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4</a:t>
            </a:r>
          </a:p>
        </p:txBody>
      </p:sp>
      <p:sp>
        <p:nvSpPr>
          <p:cNvPr id="132212" name="Text Box 116"/>
          <p:cNvSpPr txBox="1">
            <a:spLocks noChangeArrowheads="1"/>
          </p:cNvSpPr>
          <p:nvPr/>
        </p:nvSpPr>
        <p:spPr bwMode="auto">
          <a:xfrm>
            <a:off x="7278689" y="2006600"/>
            <a:ext cx="9096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6</a:t>
            </a:r>
          </a:p>
        </p:txBody>
      </p:sp>
      <p:sp>
        <p:nvSpPr>
          <p:cNvPr id="132213" name="Text Box 117"/>
          <p:cNvSpPr txBox="1">
            <a:spLocks noChangeArrowheads="1"/>
          </p:cNvSpPr>
          <p:nvPr/>
        </p:nvSpPr>
        <p:spPr bwMode="auto">
          <a:xfrm>
            <a:off x="8116889" y="2006600"/>
            <a:ext cx="9096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7</a:t>
            </a:r>
          </a:p>
        </p:txBody>
      </p:sp>
      <p:sp>
        <p:nvSpPr>
          <p:cNvPr id="132214" name="Text Box 118"/>
          <p:cNvSpPr txBox="1">
            <a:spLocks noChangeArrowheads="1"/>
          </p:cNvSpPr>
          <p:nvPr/>
        </p:nvSpPr>
        <p:spPr bwMode="auto">
          <a:xfrm>
            <a:off x="6364289" y="2006600"/>
            <a:ext cx="9096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Cycle 5</a:t>
            </a:r>
          </a:p>
        </p:txBody>
      </p:sp>
      <p:grpSp>
        <p:nvGrpSpPr>
          <p:cNvPr id="132215" name="Group 119"/>
          <p:cNvGrpSpPr>
            <a:grpSpLocks/>
          </p:cNvGrpSpPr>
          <p:nvPr/>
        </p:nvGrpSpPr>
        <p:grpSpPr bwMode="auto">
          <a:xfrm>
            <a:off x="6564313" y="5503864"/>
            <a:ext cx="3879850" cy="700087"/>
            <a:chOff x="1962" y="1200"/>
            <a:chExt cx="1910" cy="441"/>
          </a:xfrm>
        </p:grpSpPr>
        <p:grpSp>
          <p:nvGrpSpPr>
            <p:cNvPr id="132216" name="Group 120"/>
            <p:cNvGrpSpPr>
              <a:grpSpLocks noChangeAspect="1"/>
            </p:cNvGrpSpPr>
            <p:nvPr/>
          </p:nvGrpSpPr>
          <p:grpSpPr bwMode="auto">
            <a:xfrm>
              <a:off x="2429" y="1304"/>
              <a:ext cx="221" cy="233"/>
              <a:chOff x="1374" y="528"/>
              <a:chExt cx="480" cy="432"/>
            </a:xfrm>
          </p:grpSpPr>
          <p:grpSp>
            <p:nvGrpSpPr>
              <p:cNvPr id="132217" name="Group 121"/>
              <p:cNvGrpSpPr>
                <a:grpSpLocks noChangeAspect="1"/>
              </p:cNvGrpSpPr>
              <p:nvPr/>
            </p:nvGrpSpPr>
            <p:grpSpPr bwMode="auto">
              <a:xfrm>
                <a:off x="1374" y="528"/>
                <a:ext cx="480" cy="432"/>
                <a:chOff x="1392" y="528"/>
                <a:chExt cx="480" cy="432"/>
              </a:xfrm>
            </p:grpSpPr>
            <p:sp>
              <p:nvSpPr>
                <p:cNvPr id="132218" name="Rectangle 122"/>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19" name="Rectangle 123"/>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2220" name="Text Box 124"/>
              <p:cNvSpPr txBox="1">
                <a:spLocks noChangeAspect="1" noChangeArrowheads="1"/>
              </p:cNvSpPr>
              <p:nvPr/>
            </p:nvSpPr>
            <p:spPr bwMode="auto">
              <a:xfrm>
                <a:off x="1400" y="574"/>
                <a:ext cx="43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2221" name="Line 125"/>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22" name="Line 126"/>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223" name="Group 127"/>
            <p:cNvGrpSpPr>
              <a:grpSpLocks noChangeAspect="1"/>
            </p:cNvGrpSpPr>
            <p:nvPr/>
          </p:nvGrpSpPr>
          <p:grpSpPr bwMode="auto">
            <a:xfrm>
              <a:off x="2851" y="1235"/>
              <a:ext cx="199" cy="371"/>
              <a:chOff x="2991" y="411"/>
              <a:chExt cx="359" cy="768"/>
            </a:xfrm>
          </p:grpSpPr>
          <p:sp>
            <p:nvSpPr>
              <p:cNvPr id="132224" name="AutoShape 128"/>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2225" name="AutoShape 129"/>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26" name="Freeform 130"/>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27" name="Text Box 131"/>
              <p:cNvSpPr txBox="1">
                <a:spLocks noChangeAspect="1" noChangeArrowheads="1"/>
              </p:cNvSpPr>
              <p:nvPr/>
            </p:nvSpPr>
            <p:spPr bwMode="auto">
              <a:xfrm rot="-5400000">
                <a:off x="2942" y="642"/>
                <a:ext cx="575"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2228" name="Line 132"/>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29" name="Line 133"/>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230" name="Group 134"/>
            <p:cNvGrpSpPr>
              <a:grpSpLocks noChangeAspect="1"/>
            </p:cNvGrpSpPr>
            <p:nvPr/>
          </p:nvGrpSpPr>
          <p:grpSpPr bwMode="auto">
            <a:xfrm>
              <a:off x="3209" y="1305"/>
              <a:ext cx="275" cy="232"/>
              <a:chOff x="3853" y="576"/>
              <a:chExt cx="594" cy="480"/>
            </a:xfrm>
          </p:grpSpPr>
          <p:sp>
            <p:nvSpPr>
              <p:cNvPr id="132231" name="Rectangle 135"/>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2232" name="Text Box 136"/>
              <p:cNvSpPr txBox="1">
                <a:spLocks noChangeAspect="1" noChangeArrowheads="1"/>
              </p:cNvSpPr>
              <p:nvPr/>
            </p:nvSpPr>
            <p:spPr bwMode="auto">
              <a:xfrm>
                <a:off x="3853" y="628"/>
                <a:ext cx="59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2233" name="Freeform 137"/>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34" name="Line 138"/>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35" name="Line 139"/>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236" name="Group 140"/>
            <p:cNvGrpSpPr>
              <a:grpSpLocks noChangeAspect="1"/>
            </p:cNvGrpSpPr>
            <p:nvPr/>
          </p:nvGrpSpPr>
          <p:grpSpPr bwMode="auto">
            <a:xfrm>
              <a:off x="1962" y="1305"/>
              <a:ext cx="290" cy="232"/>
              <a:chOff x="1123" y="576"/>
              <a:chExt cx="626" cy="480"/>
            </a:xfrm>
          </p:grpSpPr>
          <p:sp>
            <p:nvSpPr>
              <p:cNvPr id="132237" name="Rectangle 141"/>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2238" name="Text Box 142"/>
              <p:cNvSpPr txBox="1">
                <a:spLocks noChangeAspect="1" noChangeArrowheads="1"/>
              </p:cNvSpPr>
              <p:nvPr/>
            </p:nvSpPr>
            <p:spPr bwMode="auto">
              <a:xfrm>
                <a:off x="1123" y="628"/>
                <a:ext cx="626"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2239" name="Group 143"/>
            <p:cNvGrpSpPr>
              <a:grpSpLocks/>
            </p:cNvGrpSpPr>
            <p:nvPr/>
          </p:nvGrpSpPr>
          <p:grpSpPr bwMode="auto">
            <a:xfrm>
              <a:off x="2288" y="1200"/>
              <a:ext cx="1297" cy="441"/>
              <a:chOff x="2112" y="528"/>
              <a:chExt cx="2088" cy="681"/>
            </a:xfrm>
          </p:grpSpPr>
          <p:sp>
            <p:nvSpPr>
              <p:cNvPr id="132240" name="Rectangle 144"/>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1" name="Rectangle 145"/>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2" name="Rectangle 146"/>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3" name="Rectangle 147"/>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2244" name="Group 148"/>
            <p:cNvGrpSpPr>
              <a:grpSpLocks noChangeAspect="1"/>
            </p:cNvGrpSpPr>
            <p:nvPr/>
          </p:nvGrpSpPr>
          <p:grpSpPr bwMode="auto">
            <a:xfrm flipH="1">
              <a:off x="3649" y="1296"/>
              <a:ext cx="223" cy="233"/>
              <a:chOff x="1374" y="528"/>
              <a:chExt cx="480" cy="432"/>
            </a:xfrm>
          </p:grpSpPr>
          <p:grpSp>
            <p:nvGrpSpPr>
              <p:cNvPr id="132245" name="Group 149"/>
              <p:cNvGrpSpPr>
                <a:grpSpLocks noChangeAspect="1"/>
              </p:cNvGrpSpPr>
              <p:nvPr/>
            </p:nvGrpSpPr>
            <p:grpSpPr bwMode="auto">
              <a:xfrm>
                <a:off x="1374" y="528"/>
                <a:ext cx="480" cy="432"/>
                <a:chOff x="1392" y="528"/>
                <a:chExt cx="480" cy="432"/>
              </a:xfrm>
            </p:grpSpPr>
            <p:sp>
              <p:nvSpPr>
                <p:cNvPr id="132246" name="Rectangle 150"/>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47" name="Rectangle 151"/>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2248" name="Text Box 152"/>
              <p:cNvSpPr txBox="1">
                <a:spLocks noChangeAspect="1" noChangeArrowheads="1"/>
              </p:cNvSpPr>
              <p:nvPr/>
            </p:nvSpPr>
            <p:spPr bwMode="auto">
              <a:xfrm>
                <a:off x="1396" y="574"/>
                <a:ext cx="42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sp>
        <p:nvSpPr>
          <p:cNvPr id="132249" name="Line 153"/>
          <p:cNvSpPr>
            <a:spLocks noChangeShapeType="1"/>
          </p:cNvSpPr>
          <p:nvPr/>
        </p:nvSpPr>
        <p:spPr bwMode="auto">
          <a:xfrm>
            <a:off x="38862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50" name="Line 154"/>
          <p:cNvSpPr>
            <a:spLocks noChangeShapeType="1"/>
          </p:cNvSpPr>
          <p:nvPr/>
        </p:nvSpPr>
        <p:spPr bwMode="auto">
          <a:xfrm>
            <a:off x="64008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51" name="Line 155"/>
          <p:cNvSpPr>
            <a:spLocks noChangeShapeType="1"/>
          </p:cNvSpPr>
          <p:nvPr/>
        </p:nvSpPr>
        <p:spPr bwMode="auto">
          <a:xfrm>
            <a:off x="55626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52" name="Line 156"/>
          <p:cNvSpPr>
            <a:spLocks noChangeShapeType="1"/>
          </p:cNvSpPr>
          <p:nvPr/>
        </p:nvSpPr>
        <p:spPr bwMode="auto">
          <a:xfrm>
            <a:off x="47244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53" name="Line 157"/>
          <p:cNvSpPr>
            <a:spLocks noChangeShapeType="1"/>
          </p:cNvSpPr>
          <p:nvPr/>
        </p:nvSpPr>
        <p:spPr bwMode="auto">
          <a:xfrm>
            <a:off x="81534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54" name="Line 158"/>
          <p:cNvSpPr>
            <a:spLocks noChangeShapeType="1"/>
          </p:cNvSpPr>
          <p:nvPr/>
        </p:nvSpPr>
        <p:spPr bwMode="auto">
          <a:xfrm>
            <a:off x="7254875"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55" name="Line 159"/>
          <p:cNvSpPr>
            <a:spLocks noChangeShapeType="1"/>
          </p:cNvSpPr>
          <p:nvPr/>
        </p:nvSpPr>
        <p:spPr bwMode="auto">
          <a:xfrm>
            <a:off x="8991600" y="1981200"/>
            <a:ext cx="0" cy="46482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2256" name="Group 160"/>
          <p:cNvGrpSpPr>
            <a:grpSpLocks/>
          </p:cNvGrpSpPr>
          <p:nvPr/>
        </p:nvGrpSpPr>
        <p:grpSpPr bwMode="auto">
          <a:xfrm>
            <a:off x="5562600" y="4724400"/>
            <a:ext cx="4343400" cy="700088"/>
            <a:chOff x="2544" y="2976"/>
            <a:chExt cx="2736" cy="441"/>
          </a:xfrm>
        </p:grpSpPr>
        <p:sp>
          <p:nvSpPr>
            <p:cNvPr id="132257" name="AutoShape 161"/>
            <p:cNvSpPr>
              <a:spLocks noChangeArrowheads="1"/>
            </p:cNvSpPr>
            <p:nvPr/>
          </p:nvSpPr>
          <p:spPr bwMode="auto">
            <a:xfrm>
              <a:off x="2544" y="3024"/>
              <a:ext cx="480" cy="384"/>
            </a:xfrm>
            <a:prstGeom prst="cloudCallout">
              <a:avLst>
                <a:gd name="adj1" fmla="val 21875"/>
                <a:gd name="adj2" fmla="val 36981"/>
              </a:avLst>
            </a:prstGeom>
            <a:solidFill>
              <a:srgbClr val="0FEFEA"/>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600">
                  <a:latin typeface="Comic Sans MS" panose="030F0702030302020204" pitchFamily="66" charset="0"/>
                </a:rPr>
                <a:t>Bubble</a:t>
              </a:r>
            </a:p>
          </p:txBody>
        </p:sp>
        <p:sp>
          <p:nvSpPr>
            <p:cNvPr id="132258" name="AutoShape 162"/>
            <p:cNvSpPr>
              <a:spLocks noChangeArrowheads="1"/>
            </p:cNvSpPr>
            <p:nvPr/>
          </p:nvSpPr>
          <p:spPr bwMode="auto">
            <a:xfrm>
              <a:off x="3600" y="3024"/>
              <a:ext cx="528" cy="384"/>
            </a:xfrm>
            <a:prstGeom prst="cloudCallout">
              <a:avLst>
                <a:gd name="adj1" fmla="val 15343"/>
                <a:gd name="adj2" fmla="val 36981"/>
              </a:avLst>
            </a:prstGeom>
            <a:solidFill>
              <a:srgbClr val="0FEFEA"/>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600">
                  <a:latin typeface="Comic Sans MS" panose="030F0702030302020204" pitchFamily="66" charset="0"/>
                </a:rPr>
                <a:t>Bubble</a:t>
              </a:r>
            </a:p>
          </p:txBody>
        </p:sp>
        <p:sp>
          <p:nvSpPr>
            <p:cNvPr id="132259" name="AutoShape 163"/>
            <p:cNvSpPr>
              <a:spLocks noChangeArrowheads="1"/>
            </p:cNvSpPr>
            <p:nvPr/>
          </p:nvSpPr>
          <p:spPr bwMode="auto">
            <a:xfrm>
              <a:off x="4176" y="3024"/>
              <a:ext cx="528" cy="384"/>
            </a:xfrm>
            <a:prstGeom prst="cloudCallout">
              <a:avLst>
                <a:gd name="adj1" fmla="val 15343"/>
                <a:gd name="adj2" fmla="val 36981"/>
              </a:avLst>
            </a:prstGeom>
            <a:solidFill>
              <a:srgbClr val="0FEFEA"/>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600">
                  <a:latin typeface="Comic Sans MS" panose="030F0702030302020204" pitchFamily="66" charset="0"/>
                </a:rPr>
                <a:t>Bubble</a:t>
              </a:r>
            </a:p>
          </p:txBody>
        </p:sp>
        <p:sp>
          <p:nvSpPr>
            <p:cNvPr id="132260" name="AutoShape 164"/>
            <p:cNvSpPr>
              <a:spLocks noChangeArrowheads="1"/>
            </p:cNvSpPr>
            <p:nvPr/>
          </p:nvSpPr>
          <p:spPr bwMode="auto">
            <a:xfrm>
              <a:off x="4752" y="3024"/>
              <a:ext cx="528" cy="384"/>
            </a:xfrm>
            <a:prstGeom prst="cloudCallout">
              <a:avLst>
                <a:gd name="adj1" fmla="val 15343"/>
                <a:gd name="adj2" fmla="val 36981"/>
              </a:avLst>
            </a:prstGeom>
            <a:solidFill>
              <a:srgbClr val="0FEFEA"/>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600">
                  <a:latin typeface="Comic Sans MS" panose="030F0702030302020204" pitchFamily="66" charset="0"/>
                </a:rPr>
                <a:t>Bubble</a:t>
              </a:r>
            </a:p>
          </p:txBody>
        </p:sp>
        <p:sp>
          <p:nvSpPr>
            <p:cNvPr id="132261" name="AutoShape 165"/>
            <p:cNvSpPr>
              <a:spLocks noChangeArrowheads="1"/>
            </p:cNvSpPr>
            <p:nvPr/>
          </p:nvSpPr>
          <p:spPr bwMode="auto">
            <a:xfrm>
              <a:off x="3072" y="3024"/>
              <a:ext cx="528" cy="384"/>
            </a:xfrm>
            <a:prstGeom prst="cloudCallout">
              <a:avLst>
                <a:gd name="adj1" fmla="val 15343"/>
                <a:gd name="adj2" fmla="val 36981"/>
              </a:avLst>
            </a:prstGeom>
            <a:solidFill>
              <a:srgbClr val="0FEFEA"/>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600">
                  <a:latin typeface="Comic Sans MS" panose="030F0702030302020204" pitchFamily="66" charset="0"/>
                </a:rPr>
                <a:t>Bubble</a:t>
              </a:r>
            </a:p>
          </p:txBody>
        </p:sp>
        <p:grpSp>
          <p:nvGrpSpPr>
            <p:cNvPr id="132262" name="Group 166"/>
            <p:cNvGrpSpPr>
              <a:grpSpLocks/>
            </p:cNvGrpSpPr>
            <p:nvPr/>
          </p:nvGrpSpPr>
          <p:grpSpPr bwMode="auto">
            <a:xfrm>
              <a:off x="3051" y="2976"/>
              <a:ext cx="1660" cy="441"/>
              <a:chOff x="2112" y="528"/>
              <a:chExt cx="2088" cy="681"/>
            </a:xfrm>
          </p:grpSpPr>
          <p:sp>
            <p:nvSpPr>
              <p:cNvPr id="132263" name="Rectangle 167"/>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64" name="Rectangle 168"/>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65" name="Rectangle 169"/>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2266" name="Rectangle 170"/>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Tree>
    <p:extLst>
      <p:ext uri="{BB962C8B-B14F-4D97-AF65-F5344CB8AC3E}">
        <p14:creationId xmlns:p14="http://schemas.microsoft.com/office/powerpoint/2010/main" val="2462988774"/>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Speed Up Equation for Pipelining</a:t>
            </a:r>
          </a:p>
        </p:txBody>
      </p:sp>
      <p:sp>
        <p:nvSpPr>
          <p:cNvPr id="31747" name="Rectangle 3"/>
          <p:cNvSpPr>
            <a:spLocks noGrp="1" noChangeArrowheads="1"/>
          </p:cNvSpPr>
          <p:nvPr>
            <p:ph type="body" idx="1"/>
          </p:nvPr>
        </p:nvSpPr>
        <p:spPr>
          <a:xfrm>
            <a:off x="2000250" y="1562100"/>
            <a:ext cx="8610600"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r>
              <a:rPr lang="en-US" altLang="zh-CN" sz="2000" b="1">
                <a:latin typeface="Courier New" panose="02070309020205020404" pitchFamily="49" charset="0"/>
              </a:rPr>
              <a:t>CPI</a:t>
            </a:r>
            <a:r>
              <a:rPr lang="en-US" altLang="zh-CN" sz="2000" b="1" baseline="-25000">
                <a:latin typeface="Courier New" panose="02070309020205020404" pitchFamily="49" charset="0"/>
              </a:rPr>
              <a:t>pipelined</a:t>
            </a:r>
            <a:r>
              <a:rPr lang="en-US" altLang="zh-CN" sz="2000" b="1">
                <a:latin typeface="Courier New" panose="02070309020205020404" pitchFamily="49" charset="0"/>
              </a:rPr>
              <a:t> = Ideal CPI </a:t>
            </a:r>
            <a:br>
              <a:rPr lang="en-US" altLang="zh-CN" sz="2000" b="1">
                <a:latin typeface="Courier New" panose="02070309020205020404" pitchFamily="49" charset="0"/>
              </a:rPr>
            </a:br>
            <a:r>
              <a:rPr lang="en-US" altLang="zh-CN" sz="2000" b="1">
                <a:latin typeface="Courier New" panose="02070309020205020404" pitchFamily="49" charset="0"/>
              </a:rPr>
              <a:t>		+ Pipeline stall clock cycles per instr</a:t>
            </a:r>
            <a:endParaRPr lang="en-US" altLang="zh-CN" sz="1800" b="1">
              <a:latin typeface="Courier New" panose="02070309020205020404" pitchFamily="49" charset="0"/>
            </a:endParaRPr>
          </a:p>
          <a:p>
            <a:pPr>
              <a:buFont typeface="Wingdings" panose="05000000000000000000" pitchFamily="2" charset="2"/>
              <a:buNone/>
            </a:pPr>
            <a:endParaRPr lang="en-US" altLang="zh-CN" sz="1800" b="1">
              <a:latin typeface="Courier New" panose="02070309020205020404" pitchFamily="49" charset="0"/>
            </a:endParaRPr>
          </a:p>
          <a:p>
            <a:pPr>
              <a:buFont typeface="Wingdings" panose="05000000000000000000" pitchFamily="2" charset="2"/>
              <a:buNone/>
            </a:pPr>
            <a:r>
              <a:rPr lang="en-US" altLang="zh-CN" sz="1800" b="1">
                <a:latin typeface="Courier New" panose="02070309020205020404" pitchFamily="49" charset="0"/>
              </a:rPr>
              <a:t>Speedup = Ideal CPI x Pipeline depth       Clock Cycle</a:t>
            </a:r>
            <a:r>
              <a:rPr lang="en-US" altLang="zh-CN" sz="1800" b="1" baseline="-25000">
                <a:latin typeface="Courier New" panose="02070309020205020404" pitchFamily="49" charset="0"/>
              </a:rPr>
              <a:t>unpipelined</a:t>
            </a:r>
            <a:endParaRPr lang="en-US" altLang="zh-CN" sz="1800" b="1">
              <a:latin typeface="Courier New" panose="02070309020205020404" pitchFamily="49" charset="0"/>
            </a:endParaRPr>
          </a:p>
          <a:p>
            <a:pPr>
              <a:buFont typeface="Wingdings" panose="05000000000000000000" pitchFamily="2" charset="2"/>
              <a:buNone/>
            </a:pPr>
            <a:r>
              <a:rPr lang="en-US" altLang="zh-CN" sz="1800" b="1">
                <a:latin typeface="Courier New" panose="02070309020205020404" pitchFamily="49" charset="0"/>
              </a:rPr>
              <a:t>          Ideal CPI + Pipeline stall CPI   Clock Cycle</a:t>
            </a:r>
            <a:r>
              <a:rPr lang="en-US" altLang="zh-CN" sz="1800" b="1" baseline="-25000">
                <a:latin typeface="Courier New" panose="02070309020205020404" pitchFamily="49" charset="0"/>
              </a:rPr>
              <a:t>pipelined</a:t>
            </a:r>
            <a:endParaRPr lang="en-US" altLang="zh-CN" sz="1800" b="1">
              <a:latin typeface="Courier New" panose="02070309020205020404" pitchFamily="49" charset="0"/>
            </a:endParaRPr>
          </a:p>
          <a:p>
            <a:pPr>
              <a:buFont typeface="Wingdings" panose="05000000000000000000" pitchFamily="2" charset="2"/>
              <a:buNone/>
            </a:pPr>
            <a:endParaRPr lang="en-US" altLang="zh-CN" sz="1800" b="1">
              <a:latin typeface="Courier New" panose="02070309020205020404" pitchFamily="49" charset="0"/>
            </a:endParaRPr>
          </a:p>
          <a:p>
            <a:pPr>
              <a:buFont typeface="Wingdings" panose="05000000000000000000" pitchFamily="2" charset="2"/>
              <a:buNone/>
            </a:pPr>
            <a:r>
              <a:rPr lang="en-US" altLang="zh-CN" sz="1600" b="1">
                <a:latin typeface="Courier New" panose="02070309020205020404" pitchFamily="49" charset="0"/>
              </a:rPr>
              <a:t>Speedup =     Pipeline depth               Clock Cycle</a:t>
            </a:r>
            <a:r>
              <a:rPr lang="en-US" altLang="zh-CN" sz="2000" b="1" baseline="-25000">
                <a:latin typeface="Courier New" panose="02070309020205020404" pitchFamily="49" charset="0"/>
              </a:rPr>
              <a:t>unpipelined</a:t>
            </a:r>
            <a:endParaRPr lang="en-US" altLang="zh-CN" sz="2000" b="1">
              <a:latin typeface="Courier New" panose="02070309020205020404" pitchFamily="49" charset="0"/>
            </a:endParaRPr>
          </a:p>
          <a:p>
            <a:pPr>
              <a:buFont typeface="Wingdings" panose="05000000000000000000" pitchFamily="2" charset="2"/>
              <a:buNone/>
            </a:pPr>
            <a:r>
              <a:rPr lang="en-US" altLang="zh-CN" sz="2000" b="1">
                <a:latin typeface="Courier New" panose="02070309020205020404" pitchFamily="49" charset="0"/>
              </a:rPr>
              <a:t>          1 + Pipeline stall CPI   Clock Cycle</a:t>
            </a:r>
            <a:r>
              <a:rPr lang="en-US" altLang="zh-CN" sz="2000" b="1" baseline="-25000">
                <a:latin typeface="Courier New" panose="02070309020205020404" pitchFamily="49" charset="0"/>
              </a:rPr>
              <a:t>pipelined</a:t>
            </a:r>
            <a:endParaRPr lang="en-US" altLang="zh-CN" sz="2000" baseline="-25000">
              <a:latin typeface="Courier New" panose="02070309020205020404" pitchFamily="49" charset="0"/>
            </a:endParaRPr>
          </a:p>
        </p:txBody>
      </p:sp>
      <p:sp>
        <p:nvSpPr>
          <p:cNvPr id="31748" name="Rectangle 4"/>
          <p:cNvSpPr>
            <a:spLocks noChangeArrowheads="1"/>
          </p:cNvSpPr>
          <p:nvPr/>
        </p:nvSpPr>
        <p:spPr bwMode="auto">
          <a:xfrm>
            <a:off x="7377113" y="2663825"/>
            <a:ext cx="32060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latin typeface="Courier New" panose="02070309020205020404" pitchFamily="49" charset="0"/>
              </a:rPr>
              <a:t>x</a:t>
            </a:r>
          </a:p>
        </p:txBody>
      </p:sp>
      <p:sp>
        <p:nvSpPr>
          <p:cNvPr id="31749" name="Rectangle 5"/>
          <p:cNvSpPr>
            <a:spLocks noChangeArrowheads="1"/>
          </p:cNvSpPr>
          <p:nvPr/>
        </p:nvSpPr>
        <p:spPr bwMode="auto">
          <a:xfrm>
            <a:off x="6348413" y="3654425"/>
            <a:ext cx="32060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dirty="0">
                <a:latin typeface="Courier New" panose="02070309020205020404" pitchFamily="49" charset="0"/>
              </a:rPr>
              <a:t>x</a:t>
            </a:r>
          </a:p>
        </p:txBody>
      </p:sp>
      <p:sp>
        <p:nvSpPr>
          <p:cNvPr id="31750" name="Line 6"/>
          <p:cNvSpPr>
            <a:spLocks noChangeShapeType="1"/>
          </p:cNvSpPr>
          <p:nvPr/>
        </p:nvSpPr>
        <p:spPr bwMode="auto">
          <a:xfrm>
            <a:off x="7176120" y="4146185"/>
            <a:ext cx="24257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1" name="Line 7"/>
          <p:cNvSpPr>
            <a:spLocks noChangeShapeType="1"/>
          </p:cNvSpPr>
          <p:nvPr/>
        </p:nvSpPr>
        <p:spPr bwMode="auto">
          <a:xfrm>
            <a:off x="3575720" y="4149079"/>
            <a:ext cx="3240360" cy="382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2" name="Line 8"/>
          <p:cNvSpPr>
            <a:spLocks noChangeShapeType="1"/>
          </p:cNvSpPr>
          <p:nvPr/>
        </p:nvSpPr>
        <p:spPr bwMode="auto">
          <a:xfrm>
            <a:off x="3397250" y="2857500"/>
            <a:ext cx="39497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3" name="Line 9"/>
          <p:cNvSpPr>
            <a:spLocks noChangeShapeType="1"/>
          </p:cNvSpPr>
          <p:nvPr/>
        </p:nvSpPr>
        <p:spPr bwMode="auto">
          <a:xfrm>
            <a:off x="7778750" y="2895600"/>
            <a:ext cx="24638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696835857"/>
      </p:ext>
    </p:extLst>
  </p:cSld>
  <p:clrMapOvr>
    <a:masterClrMapping/>
  </p:clrMapOvr>
  <p:transition>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055440" y="152400"/>
            <a:ext cx="9155360"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Example: Dual-port vs. Single-port</a:t>
            </a:r>
          </a:p>
        </p:txBody>
      </p:sp>
      <p:sp>
        <p:nvSpPr>
          <p:cNvPr id="33795" name="Rectangle 3"/>
          <p:cNvSpPr>
            <a:spLocks noGrp="1" noChangeArrowheads="1"/>
          </p:cNvSpPr>
          <p:nvPr>
            <p:ph type="body" idx="1"/>
          </p:nvPr>
        </p:nvSpPr>
        <p:spPr>
          <a:xfrm>
            <a:off x="479376" y="1484784"/>
            <a:ext cx="11377264" cy="4001616"/>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Machine A: Dual ported memory</a:t>
            </a:r>
          </a:p>
          <a:p>
            <a:r>
              <a:rPr lang="en-US" altLang="zh-CN" dirty="0"/>
              <a:t>Machine B: Single ported memory, but its pipelined implementation has a 1.05 times faster clock rate</a:t>
            </a:r>
          </a:p>
          <a:p>
            <a:r>
              <a:rPr lang="en-US" altLang="zh-CN" dirty="0"/>
              <a:t>Ideal CPI = 1 for both</a:t>
            </a:r>
          </a:p>
          <a:p>
            <a:r>
              <a:rPr lang="en-US" altLang="zh-CN" dirty="0"/>
              <a:t>Loads are 40% of instructions executed</a:t>
            </a:r>
          </a:p>
          <a:p>
            <a:pPr>
              <a:buFont typeface="Wingdings" panose="05000000000000000000" pitchFamily="2" charset="2"/>
              <a:buNone/>
            </a:pPr>
            <a:r>
              <a:rPr lang="en-US" altLang="zh-CN" sz="2400" dirty="0"/>
              <a:t>     </a:t>
            </a:r>
            <a:r>
              <a:rPr lang="en-US" altLang="zh-CN" sz="2000" dirty="0" err="1">
                <a:latin typeface="Courier New" panose="02070309020205020404" pitchFamily="49" charset="0"/>
              </a:rPr>
              <a:t>SpeedUp</a:t>
            </a:r>
            <a:r>
              <a:rPr lang="en-US" altLang="zh-CN" sz="2000" baseline="-25000" dirty="0" err="1">
                <a:latin typeface="Courier New" panose="02070309020205020404" pitchFamily="49" charset="0"/>
              </a:rPr>
              <a:t>A</a:t>
            </a:r>
            <a:r>
              <a:rPr lang="en-US" altLang="zh-CN" sz="2000" dirty="0">
                <a:latin typeface="Courier New" panose="02070309020205020404" pitchFamily="49" charset="0"/>
              </a:rPr>
              <a:t> = Pipeline Depth/(1 + 0) x (</a:t>
            </a:r>
            <a:r>
              <a:rPr lang="en-US" altLang="zh-CN" sz="2000" dirty="0" err="1">
                <a:latin typeface="Courier New" panose="02070309020205020404" pitchFamily="49" charset="0"/>
              </a:rPr>
              <a:t>clock</a:t>
            </a:r>
            <a:r>
              <a:rPr lang="en-US" altLang="zh-CN" sz="2000" baseline="-25000" dirty="0" err="1">
                <a:latin typeface="Courier New" panose="02070309020205020404" pitchFamily="49" charset="0"/>
              </a:rPr>
              <a:t>unpipe</a:t>
            </a:r>
            <a:r>
              <a:rPr lang="en-US" altLang="zh-CN" sz="2000" dirty="0">
                <a:latin typeface="Courier New" panose="02070309020205020404" pitchFamily="49" charset="0"/>
              </a:rPr>
              <a:t>/</a:t>
            </a:r>
            <a:r>
              <a:rPr lang="en-US" altLang="zh-CN" sz="2000" dirty="0" err="1">
                <a:latin typeface="Courier New" panose="02070309020205020404" pitchFamily="49" charset="0"/>
              </a:rPr>
              <a:t>clock</a:t>
            </a:r>
            <a:r>
              <a:rPr lang="en-US" altLang="zh-CN" sz="2000" baseline="-25000" dirty="0" err="1">
                <a:latin typeface="Courier New" panose="02070309020205020404" pitchFamily="49" charset="0"/>
              </a:rPr>
              <a:t>pipe</a:t>
            </a:r>
            <a:r>
              <a:rPr lang="en-US" altLang="zh-CN" sz="2000" dirty="0">
                <a:latin typeface="Courier New" panose="02070309020205020404" pitchFamily="49" charset="0"/>
              </a:rPr>
              <a:t>)</a:t>
            </a:r>
          </a:p>
          <a:p>
            <a:pPr>
              <a:buFont typeface="Wingdings" panose="05000000000000000000" pitchFamily="2" charset="2"/>
              <a:buNone/>
            </a:pPr>
            <a:r>
              <a:rPr lang="en-US" altLang="zh-CN" sz="2000" dirty="0">
                <a:latin typeface="Courier New" panose="02070309020205020404" pitchFamily="49" charset="0"/>
              </a:rPr>
              <a:t>               = Pipeline Depth</a:t>
            </a:r>
          </a:p>
          <a:p>
            <a:pPr>
              <a:buFont typeface="Wingdings" panose="05000000000000000000" pitchFamily="2" charset="2"/>
              <a:buNone/>
            </a:pPr>
            <a:r>
              <a:rPr lang="en-US" altLang="zh-CN" sz="2000" dirty="0">
                <a:latin typeface="Courier New" panose="02070309020205020404" pitchFamily="49" charset="0"/>
              </a:rPr>
              <a:t>   </a:t>
            </a:r>
            <a:r>
              <a:rPr lang="en-US" altLang="zh-CN" sz="2000" dirty="0" err="1" smtClean="0">
                <a:latin typeface="Courier New" panose="02070309020205020404" pitchFamily="49" charset="0"/>
              </a:rPr>
              <a:t>SpeedUp</a:t>
            </a:r>
            <a:r>
              <a:rPr lang="en-US" altLang="zh-CN" sz="2000" baseline="-25000" dirty="0" err="1" smtClean="0">
                <a:latin typeface="Courier New" panose="02070309020205020404" pitchFamily="49" charset="0"/>
              </a:rPr>
              <a:t>B</a:t>
            </a:r>
            <a:r>
              <a:rPr lang="en-US" altLang="zh-CN" sz="2000" dirty="0" smtClean="0">
                <a:latin typeface="Courier New" panose="02070309020205020404" pitchFamily="49" charset="0"/>
              </a:rPr>
              <a:t> </a:t>
            </a:r>
            <a:r>
              <a:rPr lang="en-US" altLang="zh-CN" sz="2000" dirty="0">
                <a:latin typeface="Courier New" panose="02070309020205020404" pitchFamily="49" charset="0"/>
              </a:rPr>
              <a:t>= Pipeline Depth/(1 + 0.4 x 1) </a:t>
            </a:r>
            <a:r>
              <a:rPr lang="en-US" altLang="zh-CN" sz="2000" dirty="0" smtClean="0">
                <a:latin typeface="Courier New" panose="02070309020205020404" pitchFamily="49" charset="0"/>
              </a:rPr>
              <a:t>x </a:t>
            </a:r>
            <a:r>
              <a:rPr lang="en-US" altLang="zh-CN" sz="2000" dirty="0">
                <a:latin typeface="Courier New" panose="02070309020205020404" pitchFamily="49" charset="0"/>
              </a:rPr>
              <a:t>(</a:t>
            </a:r>
            <a:r>
              <a:rPr lang="en-US" altLang="zh-CN" sz="2000" dirty="0" err="1">
                <a:latin typeface="Courier New" panose="02070309020205020404" pitchFamily="49" charset="0"/>
              </a:rPr>
              <a:t>clock</a:t>
            </a:r>
            <a:r>
              <a:rPr lang="en-US" altLang="zh-CN" sz="2000" baseline="-25000" dirty="0" err="1">
                <a:latin typeface="Courier New" panose="02070309020205020404" pitchFamily="49" charset="0"/>
              </a:rPr>
              <a:t>unpipe</a:t>
            </a:r>
            <a:r>
              <a:rPr lang="en-US" altLang="zh-CN" sz="2000" dirty="0">
                <a:latin typeface="Courier New" panose="02070309020205020404" pitchFamily="49" charset="0"/>
              </a:rPr>
              <a:t>/(</a:t>
            </a:r>
            <a:r>
              <a:rPr lang="en-US" altLang="zh-CN" sz="2000" dirty="0" err="1">
                <a:latin typeface="Courier New" panose="02070309020205020404" pitchFamily="49" charset="0"/>
              </a:rPr>
              <a:t>clock</a:t>
            </a:r>
            <a:r>
              <a:rPr lang="en-US" altLang="zh-CN" sz="2000" baseline="-25000" dirty="0" err="1">
                <a:latin typeface="Courier New" panose="02070309020205020404" pitchFamily="49" charset="0"/>
              </a:rPr>
              <a:t>unpipe</a:t>
            </a:r>
            <a:r>
              <a:rPr lang="en-US" altLang="zh-CN" sz="2000" baseline="-25000" dirty="0">
                <a:latin typeface="Courier New" panose="02070309020205020404" pitchFamily="49" charset="0"/>
              </a:rPr>
              <a:t> </a:t>
            </a:r>
            <a:r>
              <a:rPr lang="en-US" altLang="zh-CN" sz="2000" dirty="0">
                <a:latin typeface="Courier New" panose="02070309020205020404" pitchFamily="49" charset="0"/>
              </a:rPr>
              <a:t>/ 1.05)</a:t>
            </a:r>
          </a:p>
          <a:p>
            <a:pPr>
              <a:buFont typeface="Wingdings" panose="05000000000000000000" pitchFamily="2" charset="2"/>
              <a:buNone/>
            </a:pPr>
            <a:r>
              <a:rPr lang="en-US" altLang="zh-CN" sz="2000" dirty="0">
                <a:latin typeface="Courier New" panose="02070309020205020404" pitchFamily="49" charset="0"/>
              </a:rPr>
              <a:t> 		         = (Pipeline Depth/1.4) x  1.05</a:t>
            </a:r>
          </a:p>
          <a:p>
            <a:pPr>
              <a:buFont typeface="Wingdings" panose="05000000000000000000" pitchFamily="2" charset="2"/>
              <a:buNone/>
            </a:pPr>
            <a:r>
              <a:rPr lang="en-US" altLang="zh-CN" sz="2000" dirty="0">
                <a:latin typeface="Courier New" panose="02070309020205020404" pitchFamily="49" charset="0"/>
              </a:rPr>
              <a:t> 		         = 0.75 x Pipeline Depth</a:t>
            </a:r>
            <a:endParaRPr lang="en-US" altLang="zh-CN" sz="2400" dirty="0"/>
          </a:p>
          <a:p>
            <a:pPr>
              <a:buFont typeface="Wingdings" panose="05000000000000000000" pitchFamily="2" charset="2"/>
              <a:buNone/>
            </a:pPr>
            <a:r>
              <a:rPr lang="en-US" altLang="zh-CN" sz="2000" dirty="0"/>
              <a:t>     </a:t>
            </a:r>
            <a:r>
              <a:rPr lang="en-US" altLang="zh-CN" sz="2000" dirty="0" err="1"/>
              <a:t>SpeedUp</a:t>
            </a:r>
            <a:r>
              <a:rPr lang="en-US" altLang="zh-CN" sz="2000" baseline="-25000" dirty="0" err="1"/>
              <a:t>A</a:t>
            </a:r>
            <a:r>
              <a:rPr lang="en-US" altLang="zh-CN" sz="2000" dirty="0"/>
              <a:t> / </a:t>
            </a:r>
            <a:r>
              <a:rPr lang="en-US" altLang="zh-CN" sz="2000" dirty="0" err="1"/>
              <a:t>SpeedUp</a:t>
            </a:r>
            <a:r>
              <a:rPr lang="en-US" altLang="zh-CN" sz="2000" baseline="-25000" dirty="0" err="1"/>
              <a:t>B</a:t>
            </a:r>
            <a:r>
              <a:rPr lang="en-US" altLang="zh-CN" sz="2000" dirty="0"/>
              <a:t> = Pipeline Depth/(0.75 x Pipeline Depth) = 1.33</a:t>
            </a:r>
          </a:p>
          <a:p>
            <a:r>
              <a:rPr lang="en-US" altLang="zh-CN" dirty="0"/>
              <a:t>Machine A is 1.33 times faster </a:t>
            </a:r>
          </a:p>
        </p:txBody>
      </p:sp>
    </p:spTree>
    <p:extLst>
      <p:ext uri="{BB962C8B-B14F-4D97-AF65-F5344CB8AC3E}">
        <p14:creationId xmlns:p14="http://schemas.microsoft.com/office/powerpoint/2010/main" val="1455083078"/>
      </p:ext>
    </p:extLst>
  </p:cSld>
  <p:clrMapOvr>
    <a:masterClrMapping/>
  </p:clrMapOvr>
  <p:transition>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22" name="Group 2"/>
          <p:cNvGrpSpPr>
            <a:grpSpLocks/>
          </p:cNvGrpSpPr>
          <p:nvPr/>
        </p:nvGrpSpPr>
        <p:grpSpPr bwMode="auto">
          <a:xfrm>
            <a:off x="479376" y="2204864"/>
            <a:ext cx="9026525" cy="4048125"/>
            <a:chOff x="59" y="1350"/>
            <a:chExt cx="5686" cy="2550"/>
          </a:xfrm>
        </p:grpSpPr>
        <p:grpSp>
          <p:nvGrpSpPr>
            <p:cNvPr id="133123" name="Group 3"/>
            <p:cNvGrpSpPr>
              <a:grpSpLocks/>
            </p:cNvGrpSpPr>
            <p:nvPr/>
          </p:nvGrpSpPr>
          <p:grpSpPr bwMode="auto">
            <a:xfrm>
              <a:off x="59" y="1350"/>
              <a:ext cx="2159" cy="2496"/>
              <a:chOff x="110" y="1350"/>
              <a:chExt cx="2159" cy="2496"/>
            </a:xfrm>
          </p:grpSpPr>
          <p:sp>
            <p:nvSpPr>
              <p:cNvPr id="133124" name="Rectangle 4"/>
              <p:cNvSpPr>
                <a:spLocks noChangeArrowheads="1"/>
              </p:cNvSpPr>
              <p:nvPr/>
            </p:nvSpPr>
            <p:spPr bwMode="auto">
              <a:xfrm>
                <a:off x="1340" y="1350"/>
                <a:ext cx="720" cy="2496"/>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25" name="Rectangle 5"/>
              <p:cNvSpPr>
                <a:spLocks noChangeArrowheads="1"/>
              </p:cNvSpPr>
              <p:nvPr/>
            </p:nvSpPr>
            <p:spPr bwMode="auto">
              <a:xfrm>
                <a:off x="110" y="1398"/>
                <a:ext cx="244" cy="2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sz="2000" i="1">
                    <a:latin typeface="Comic Sans MS" panose="030F0702030302020204" pitchFamily="66" charset="0"/>
                  </a:rPr>
                  <a:t>I</a:t>
                </a:r>
              </a:p>
              <a:p>
                <a:pPr algn="ctr" eaLnBrk="1" hangingPunct="1"/>
                <a:r>
                  <a:rPr lang="en-US" altLang="zh-CN" sz="2000" i="1">
                    <a:latin typeface="Comic Sans MS" panose="030F0702030302020204" pitchFamily="66" charset="0"/>
                  </a:rPr>
                  <a:t>n</a:t>
                </a:r>
              </a:p>
              <a:p>
                <a:pPr algn="ctr" eaLnBrk="1" hangingPunct="1"/>
                <a:r>
                  <a:rPr lang="en-US" altLang="zh-CN" sz="2000" i="1">
                    <a:latin typeface="Comic Sans MS" panose="030F0702030302020204" pitchFamily="66" charset="0"/>
                  </a:rPr>
                  <a:t>s</a:t>
                </a:r>
              </a:p>
              <a:p>
                <a:pPr algn="ctr" eaLnBrk="1" hangingPunct="1"/>
                <a:r>
                  <a:rPr lang="en-US" altLang="zh-CN" sz="2000" i="1">
                    <a:latin typeface="Comic Sans MS" panose="030F0702030302020204" pitchFamily="66" charset="0"/>
                  </a:rPr>
                  <a:t>t</a:t>
                </a:r>
              </a:p>
              <a:p>
                <a:pPr algn="ctr" eaLnBrk="1" hangingPunct="1"/>
                <a:r>
                  <a:rPr lang="en-US" altLang="zh-CN" sz="2000" i="1">
                    <a:latin typeface="Comic Sans MS" panose="030F0702030302020204" pitchFamily="66" charset="0"/>
                  </a:rPr>
                  <a:t>r.</a:t>
                </a:r>
              </a:p>
              <a:p>
                <a:pPr algn="ctr" eaLnBrk="1" hangingPunct="1"/>
                <a:endParaRPr lang="en-US" altLang="zh-CN" sz="2000" i="1">
                  <a:latin typeface="Comic Sans MS" panose="030F0702030302020204" pitchFamily="66" charset="0"/>
                </a:endParaRPr>
              </a:p>
              <a:p>
                <a:pPr algn="ctr" eaLnBrk="1" hangingPunct="1"/>
                <a:r>
                  <a:rPr lang="en-US" altLang="zh-CN" sz="2000" i="1">
                    <a:latin typeface="Comic Sans MS" panose="030F0702030302020204" pitchFamily="66" charset="0"/>
                  </a:rPr>
                  <a:t>O</a:t>
                </a:r>
              </a:p>
              <a:p>
                <a:pPr algn="ctr" eaLnBrk="1" hangingPunct="1"/>
                <a:r>
                  <a:rPr lang="en-US" altLang="zh-CN" sz="2000" i="1">
                    <a:latin typeface="Comic Sans MS" panose="030F0702030302020204" pitchFamily="66" charset="0"/>
                  </a:rPr>
                  <a:t>r</a:t>
                </a:r>
              </a:p>
              <a:p>
                <a:pPr algn="ctr" eaLnBrk="1" hangingPunct="1"/>
                <a:r>
                  <a:rPr lang="en-US" altLang="zh-CN" sz="2000" i="1">
                    <a:latin typeface="Comic Sans MS" panose="030F0702030302020204" pitchFamily="66" charset="0"/>
                  </a:rPr>
                  <a:t>d</a:t>
                </a:r>
              </a:p>
              <a:p>
                <a:pPr algn="ctr" eaLnBrk="1" hangingPunct="1"/>
                <a:r>
                  <a:rPr lang="en-US" altLang="zh-CN" sz="2000" i="1">
                    <a:latin typeface="Comic Sans MS" panose="030F0702030302020204" pitchFamily="66" charset="0"/>
                  </a:rPr>
                  <a:t>e</a:t>
                </a:r>
              </a:p>
              <a:p>
                <a:pPr algn="ctr" eaLnBrk="1" hangingPunct="1"/>
                <a:r>
                  <a:rPr lang="en-US" altLang="zh-CN" sz="2000" i="1">
                    <a:latin typeface="Comic Sans MS" panose="030F0702030302020204" pitchFamily="66" charset="0"/>
                  </a:rPr>
                  <a:t>r</a:t>
                </a:r>
              </a:p>
            </p:txBody>
          </p:sp>
          <p:sp>
            <p:nvSpPr>
              <p:cNvPr id="133126" name="Line 6"/>
              <p:cNvSpPr>
                <a:spLocks noChangeShapeType="1"/>
              </p:cNvSpPr>
              <p:nvPr/>
            </p:nvSpPr>
            <p:spPr bwMode="auto">
              <a:xfrm>
                <a:off x="424" y="1410"/>
                <a:ext cx="0" cy="239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27" name="Rectangle 7"/>
              <p:cNvSpPr>
                <a:spLocks noChangeArrowheads="1"/>
              </p:cNvSpPr>
              <p:nvPr/>
            </p:nvSpPr>
            <p:spPr bwMode="auto">
              <a:xfrm>
                <a:off x="524" y="1446"/>
                <a:ext cx="1509" cy="52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dirty="0">
                    <a:latin typeface="Courier New" panose="02070309020205020404" pitchFamily="49" charset="0"/>
                  </a:rPr>
                  <a:t>add </a:t>
                </a:r>
                <a:r>
                  <a:rPr lang="en-US" altLang="zh-CN" sz="2400" dirty="0">
                    <a:solidFill>
                      <a:schemeClr val="hlink"/>
                    </a:solidFill>
                    <a:latin typeface="Courier New" panose="02070309020205020404" pitchFamily="49" charset="0"/>
                  </a:rPr>
                  <a:t>r1</a:t>
                </a:r>
                <a:r>
                  <a:rPr lang="en-US" altLang="zh-CN" sz="2400" dirty="0">
                    <a:latin typeface="Courier New" panose="02070309020205020404" pitchFamily="49" charset="0"/>
                  </a:rPr>
                  <a:t>,r2,r3</a:t>
                </a:r>
              </a:p>
              <a:p>
                <a:pPr eaLnBrk="1" latinLnBrk="1" hangingPunct="1"/>
                <a:endParaRPr lang="en-US" altLang="zh-CN" sz="2400" dirty="0">
                  <a:latin typeface="Courier New" panose="02070309020205020404" pitchFamily="49" charset="0"/>
                </a:endParaRPr>
              </a:p>
            </p:txBody>
          </p:sp>
          <p:sp>
            <p:nvSpPr>
              <p:cNvPr id="133128" name="Rectangle 8"/>
              <p:cNvSpPr>
                <a:spLocks noChangeArrowheads="1"/>
              </p:cNvSpPr>
              <p:nvPr/>
            </p:nvSpPr>
            <p:spPr bwMode="auto">
              <a:xfrm>
                <a:off x="524" y="1998"/>
                <a:ext cx="1509"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dirty="0">
                    <a:latin typeface="Courier New" panose="02070309020205020404" pitchFamily="49" charset="0"/>
                  </a:rPr>
                  <a:t>sub r4,</a:t>
                </a:r>
                <a:r>
                  <a:rPr lang="en-US" altLang="zh-CN" sz="2400" dirty="0">
                    <a:solidFill>
                      <a:srgbClr val="FF0000"/>
                    </a:solidFill>
                    <a:latin typeface="Courier New" panose="02070309020205020404" pitchFamily="49" charset="0"/>
                  </a:rPr>
                  <a:t>r1</a:t>
                </a:r>
                <a:r>
                  <a:rPr lang="en-US" altLang="zh-CN" sz="2400" dirty="0">
                    <a:latin typeface="Courier New" panose="02070309020205020404" pitchFamily="49" charset="0"/>
                  </a:rPr>
                  <a:t>,r3</a:t>
                </a:r>
              </a:p>
              <a:p>
                <a:pPr eaLnBrk="1" latinLnBrk="1" hangingPunct="1"/>
                <a:endParaRPr lang="en-US" altLang="zh-CN" sz="2400" dirty="0">
                  <a:latin typeface="Courier New" panose="02070309020205020404" pitchFamily="49" charset="0"/>
                </a:endParaRPr>
              </a:p>
            </p:txBody>
          </p:sp>
          <p:sp>
            <p:nvSpPr>
              <p:cNvPr id="133129" name="Rectangle 9"/>
              <p:cNvSpPr>
                <a:spLocks noChangeArrowheads="1"/>
              </p:cNvSpPr>
              <p:nvPr/>
            </p:nvSpPr>
            <p:spPr bwMode="auto">
              <a:xfrm>
                <a:off x="524" y="2526"/>
                <a:ext cx="1509"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dirty="0">
                    <a:latin typeface="Courier New" panose="02070309020205020404" pitchFamily="49" charset="0"/>
                  </a:rPr>
                  <a:t>and r6,</a:t>
                </a:r>
                <a:r>
                  <a:rPr lang="en-US" altLang="zh-CN" sz="2400" dirty="0">
                    <a:solidFill>
                      <a:srgbClr val="FF0000"/>
                    </a:solidFill>
                    <a:latin typeface="Courier New" panose="02070309020205020404" pitchFamily="49" charset="0"/>
                  </a:rPr>
                  <a:t>r1</a:t>
                </a:r>
                <a:r>
                  <a:rPr lang="en-US" altLang="zh-CN" sz="2400" dirty="0">
                    <a:latin typeface="Courier New" panose="02070309020205020404" pitchFamily="49" charset="0"/>
                  </a:rPr>
                  <a:t>,r7</a:t>
                </a:r>
              </a:p>
              <a:p>
                <a:pPr eaLnBrk="1" latinLnBrk="1" hangingPunct="1"/>
                <a:endParaRPr lang="en-US" altLang="zh-CN" sz="2400" dirty="0">
                  <a:latin typeface="Courier New" panose="02070309020205020404" pitchFamily="49" charset="0"/>
                </a:endParaRPr>
              </a:p>
            </p:txBody>
          </p:sp>
          <p:sp>
            <p:nvSpPr>
              <p:cNvPr id="133130" name="Rectangle 10"/>
              <p:cNvSpPr>
                <a:spLocks noChangeArrowheads="1"/>
              </p:cNvSpPr>
              <p:nvPr/>
            </p:nvSpPr>
            <p:spPr bwMode="auto">
              <a:xfrm>
                <a:off x="524" y="3066"/>
                <a:ext cx="1625"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dirty="0">
                    <a:latin typeface="Courier New" panose="02070309020205020404" pitchFamily="49" charset="0"/>
                  </a:rPr>
                  <a:t>or   r8,</a:t>
                </a:r>
                <a:r>
                  <a:rPr lang="en-US" altLang="zh-CN" sz="2400" dirty="0">
                    <a:solidFill>
                      <a:srgbClr val="FF0000"/>
                    </a:solidFill>
                    <a:latin typeface="Courier New" panose="02070309020205020404" pitchFamily="49" charset="0"/>
                  </a:rPr>
                  <a:t>r1</a:t>
                </a:r>
                <a:r>
                  <a:rPr lang="en-US" altLang="zh-CN" sz="2400" dirty="0">
                    <a:latin typeface="Courier New" panose="02070309020205020404" pitchFamily="49" charset="0"/>
                  </a:rPr>
                  <a:t>,r9</a:t>
                </a:r>
              </a:p>
              <a:p>
                <a:pPr eaLnBrk="1" latinLnBrk="1" hangingPunct="1"/>
                <a:endParaRPr lang="en-US" altLang="zh-CN" sz="2400" dirty="0">
                  <a:latin typeface="Courier New" panose="02070309020205020404" pitchFamily="49" charset="0"/>
                </a:endParaRPr>
              </a:p>
            </p:txBody>
          </p:sp>
          <p:sp>
            <p:nvSpPr>
              <p:cNvPr id="133131" name="Rectangle 11"/>
              <p:cNvSpPr>
                <a:spLocks noChangeArrowheads="1"/>
              </p:cNvSpPr>
              <p:nvPr/>
            </p:nvSpPr>
            <p:spPr bwMode="auto">
              <a:xfrm>
                <a:off x="528" y="3552"/>
                <a:ext cx="1741" cy="289"/>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dirty="0" err="1">
                    <a:latin typeface="Courier New" panose="02070309020205020404" pitchFamily="49" charset="0"/>
                  </a:rPr>
                  <a:t>xor</a:t>
                </a:r>
                <a:r>
                  <a:rPr lang="en-US" altLang="zh-CN" sz="2400" dirty="0">
                    <a:latin typeface="Courier New" panose="02070309020205020404" pitchFamily="49" charset="0"/>
                  </a:rPr>
                  <a:t> r10,</a:t>
                </a:r>
                <a:r>
                  <a:rPr lang="en-US" altLang="zh-CN" sz="2400" dirty="0">
                    <a:solidFill>
                      <a:srgbClr val="00B050"/>
                    </a:solidFill>
                    <a:latin typeface="Courier New" panose="02070309020205020404" pitchFamily="49" charset="0"/>
                  </a:rPr>
                  <a:t>r1</a:t>
                </a:r>
                <a:r>
                  <a:rPr lang="en-US" altLang="zh-CN" sz="2400" dirty="0">
                    <a:latin typeface="Courier New" panose="02070309020205020404" pitchFamily="49" charset="0"/>
                  </a:rPr>
                  <a:t>,r11</a:t>
                </a:r>
              </a:p>
            </p:txBody>
          </p:sp>
        </p:grpSp>
        <p:grpSp>
          <p:nvGrpSpPr>
            <p:cNvPr id="133132" name="Group 12"/>
            <p:cNvGrpSpPr>
              <a:grpSpLocks/>
            </p:cNvGrpSpPr>
            <p:nvPr/>
          </p:nvGrpSpPr>
          <p:grpSpPr bwMode="auto">
            <a:xfrm>
              <a:off x="1924" y="1363"/>
              <a:ext cx="3821" cy="2537"/>
              <a:chOff x="1932" y="1200"/>
              <a:chExt cx="3624" cy="2537"/>
            </a:xfrm>
          </p:grpSpPr>
          <p:grpSp>
            <p:nvGrpSpPr>
              <p:cNvPr id="133133" name="Group 13"/>
              <p:cNvGrpSpPr>
                <a:grpSpLocks/>
              </p:cNvGrpSpPr>
              <p:nvPr/>
            </p:nvGrpSpPr>
            <p:grpSpPr bwMode="auto">
              <a:xfrm>
                <a:off x="2766" y="2256"/>
                <a:ext cx="1951" cy="441"/>
                <a:chOff x="1933" y="1200"/>
                <a:chExt cx="1951" cy="441"/>
              </a:xfrm>
            </p:grpSpPr>
            <p:grpSp>
              <p:nvGrpSpPr>
                <p:cNvPr id="133134" name="Group 14"/>
                <p:cNvGrpSpPr>
                  <a:grpSpLocks noChangeAspect="1"/>
                </p:cNvGrpSpPr>
                <p:nvPr/>
              </p:nvGrpSpPr>
              <p:grpSpPr bwMode="auto">
                <a:xfrm>
                  <a:off x="2421" y="1304"/>
                  <a:ext cx="241" cy="233"/>
                  <a:chOff x="1357" y="528"/>
                  <a:chExt cx="522" cy="432"/>
                </a:xfrm>
              </p:grpSpPr>
              <p:grpSp>
                <p:nvGrpSpPr>
                  <p:cNvPr id="133135" name="Group 15"/>
                  <p:cNvGrpSpPr>
                    <a:grpSpLocks noChangeAspect="1"/>
                  </p:cNvGrpSpPr>
                  <p:nvPr/>
                </p:nvGrpSpPr>
                <p:grpSpPr bwMode="auto">
                  <a:xfrm>
                    <a:off x="1374" y="528"/>
                    <a:ext cx="480" cy="432"/>
                    <a:chOff x="1392" y="528"/>
                    <a:chExt cx="480" cy="432"/>
                  </a:xfrm>
                </p:grpSpPr>
                <p:sp>
                  <p:nvSpPr>
                    <p:cNvPr id="133136" name="Rectangle 16"/>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7" name="Rectangle 17"/>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3138" name="Text Box 18"/>
                  <p:cNvSpPr txBox="1">
                    <a:spLocks noChangeAspect="1" noChangeArrowheads="1"/>
                  </p:cNvSpPr>
                  <p:nvPr/>
                </p:nvSpPr>
                <p:spPr bwMode="auto">
                  <a:xfrm>
                    <a:off x="1357" y="574"/>
                    <a:ext cx="52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3139" name="Line 19"/>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0" name="Line 20"/>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41" name="Group 21"/>
                <p:cNvGrpSpPr>
                  <a:grpSpLocks noChangeAspect="1"/>
                </p:cNvGrpSpPr>
                <p:nvPr/>
              </p:nvGrpSpPr>
              <p:grpSpPr bwMode="auto">
                <a:xfrm>
                  <a:off x="2851" y="1235"/>
                  <a:ext cx="206" cy="371"/>
                  <a:chOff x="2991" y="411"/>
                  <a:chExt cx="371" cy="768"/>
                </a:xfrm>
              </p:grpSpPr>
              <p:sp>
                <p:nvSpPr>
                  <p:cNvPr id="133142" name="AutoShape 22"/>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3143" name="AutoShape 23"/>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4" name="Freeform 24"/>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5" name="Text Box 25"/>
                  <p:cNvSpPr txBox="1">
                    <a:spLocks noChangeAspect="1" noChangeArrowheads="1"/>
                  </p:cNvSpPr>
                  <p:nvPr/>
                </p:nvSpPr>
                <p:spPr bwMode="auto">
                  <a:xfrm rot="-5400000">
                    <a:off x="2943" y="619"/>
                    <a:ext cx="575" cy="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3146" name="Line 26"/>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7" name="Line 27"/>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48" name="Group 28"/>
                <p:cNvGrpSpPr>
                  <a:grpSpLocks noChangeAspect="1"/>
                </p:cNvGrpSpPr>
                <p:nvPr/>
              </p:nvGrpSpPr>
              <p:grpSpPr bwMode="auto">
                <a:xfrm>
                  <a:off x="3181" y="1305"/>
                  <a:ext cx="334" cy="232"/>
                  <a:chOff x="3792" y="576"/>
                  <a:chExt cx="723" cy="480"/>
                </a:xfrm>
              </p:grpSpPr>
              <p:sp>
                <p:nvSpPr>
                  <p:cNvPr id="133149" name="Rectangle 29"/>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3150" name="Text Box 30"/>
                  <p:cNvSpPr txBox="1">
                    <a:spLocks noChangeAspect="1" noChangeArrowheads="1"/>
                  </p:cNvSpPr>
                  <p:nvPr/>
                </p:nvSpPr>
                <p:spPr bwMode="auto">
                  <a:xfrm>
                    <a:off x="3792" y="628"/>
                    <a:ext cx="72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3151" name="Freeform 31"/>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52" name="Line 32"/>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53" name="Line 33"/>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54" name="Group 34"/>
                <p:cNvGrpSpPr>
                  <a:grpSpLocks noChangeAspect="1"/>
                </p:cNvGrpSpPr>
                <p:nvPr/>
              </p:nvGrpSpPr>
              <p:grpSpPr bwMode="auto">
                <a:xfrm>
                  <a:off x="1933" y="1305"/>
                  <a:ext cx="352" cy="232"/>
                  <a:chOff x="1061" y="576"/>
                  <a:chExt cx="760" cy="480"/>
                </a:xfrm>
              </p:grpSpPr>
              <p:sp>
                <p:nvSpPr>
                  <p:cNvPr id="133155" name="Rectangle 35"/>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3156" name="Text Box 36"/>
                  <p:cNvSpPr txBox="1">
                    <a:spLocks noChangeAspect="1" noChangeArrowheads="1"/>
                  </p:cNvSpPr>
                  <p:nvPr/>
                </p:nvSpPr>
                <p:spPr bwMode="auto">
                  <a:xfrm>
                    <a:off x="1061" y="628"/>
                    <a:ext cx="760"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3157" name="Group 37"/>
                <p:cNvGrpSpPr>
                  <a:grpSpLocks/>
                </p:cNvGrpSpPr>
                <p:nvPr/>
              </p:nvGrpSpPr>
              <p:grpSpPr bwMode="auto">
                <a:xfrm>
                  <a:off x="2288" y="1200"/>
                  <a:ext cx="1297" cy="441"/>
                  <a:chOff x="2112" y="528"/>
                  <a:chExt cx="2088" cy="681"/>
                </a:xfrm>
              </p:grpSpPr>
              <p:sp>
                <p:nvSpPr>
                  <p:cNvPr id="133158" name="Rectangle 38"/>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59" name="Rectangle 39"/>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0" name="Rectangle 40"/>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1" name="Rectangle 41"/>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3162" name="Group 42"/>
                <p:cNvGrpSpPr>
                  <a:grpSpLocks noChangeAspect="1"/>
                </p:cNvGrpSpPr>
                <p:nvPr/>
              </p:nvGrpSpPr>
              <p:grpSpPr bwMode="auto">
                <a:xfrm flipH="1">
                  <a:off x="3643" y="1296"/>
                  <a:ext cx="241" cy="233"/>
                  <a:chOff x="1362" y="528"/>
                  <a:chExt cx="518" cy="432"/>
                </a:xfrm>
              </p:grpSpPr>
              <p:grpSp>
                <p:nvGrpSpPr>
                  <p:cNvPr id="133163" name="Group 43"/>
                  <p:cNvGrpSpPr>
                    <a:grpSpLocks noChangeAspect="1"/>
                  </p:cNvGrpSpPr>
                  <p:nvPr/>
                </p:nvGrpSpPr>
                <p:grpSpPr bwMode="auto">
                  <a:xfrm>
                    <a:off x="1374" y="528"/>
                    <a:ext cx="480" cy="432"/>
                    <a:chOff x="1392" y="528"/>
                    <a:chExt cx="480" cy="432"/>
                  </a:xfrm>
                </p:grpSpPr>
                <p:sp>
                  <p:nvSpPr>
                    <p:cNvPr id="133164" name="Rectangle 44"/>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65" name="Rectangle 45"/>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3166" name="Text Box 46"/>
                  <p:cNvSpPr txBox="1">
                    <a:spLocks noChangeAspect="1" noChangeArrowheads="1"/>
                  </p:cNvSpPr>
                  <p:nvPr/>
                </p:nvSpPr>
                <p:spPr bwMode="auto">
                  <a:xfrm>
                    <a:off x="1362" y="574"/>
                    <a:ext cx="51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3167" name="Group 47"/>
              <p:cNvGrpSpPr>
                <a:grpSpLocks/>
              </p:cNvGrpSpPr>
              <p:nvPr/>
            </p:nvGrpSpPr>
            <p:grpSpPr bwMode="auto">
              <a:xfrm>
                <a:off x="2346" y="1720"/>
                <a:ext cx="1952" cy="441"/>
                <a:chOff x="1933" y="1200"/>
                <a:chExt cx="1952" cy="441"/>
              </a:xfrm>
            </p:grpSpPr>
            <p:grpSp>
              <p:nvGrpSpPr>
                <p:cNvPr id="133168" name="Group 48"/>
                <p:cNvGrpSpPr>
                  <a:grpSpLocks noChangeAspect="1"/>
                </p:cNvGrpSpPr>
                <p:nvPr/>
              </p:nvGrpSpPr>
              <p:grpSpPr bwMode="auto">
                <a:xfrm>
                  <a:off x="2421" y="1304"/>
                  <a:ext cx="241" cy="233"/>
                  <a:chOff x="1357" y="528"/>
                  <a:chExt cx="522" cy="432"/>
                </a:xfrm>
              </p:grpSpPr>
              <p:grpSp>
                <p:nvGrpSpPr>
                  <p:cNvPr id="133169" name="Group 49"/>
                  <p:cNvGrpSpPr>
                    <a:grpSpLocks noChangeAspect="1"/>
                  </p:cNvGrpSpPr>
                  <p:nvPr/>
                </p:nvGrpSpPr>
                <p:grpSpPr bwMode="auto">
                  <a:xfrm>
                    <a:off x="1374" y="528"/>
                    <a:ext cx="480" cy="432"/>
                    <a:chOff x="1392" y="528"/>
                    <a:chExt cx="480" cy="432"/>
                  </a:xfrm>
                </p:grpSpPr>
                <p:sp>
                  <p:nvSpPr>
                    <p:cNvPr id="133170" name="Rectangle 50"/>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71" name="Rectangle 51"/>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3172" name="Text Box 52"/>
                  <p:cNvSpPr txBox="1">
                    <a:spLocks noChangeAspect="1" noChangeArrowheads="1"/>
                  </p:cNvSpPr>
                  <p:nvPr/>
                </p:nvSpPr>
                <p:spPr bwMode="auto">
                  <a:xfrm>
                    <a:off x="1357" y="574"/>
                    <a:ext cx="52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3173" name="Line 53"/>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74" name="Line 54"/>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75" name="Group 55"/>
                <p:cNvGrpSpPr>
                  <a:grpSpLocks noChangeAspect="1"/>
                </p:cNvGrpSpPr>
                <p:nvPr/>
              </p:nvGrpSpPr>
              <p:grpSpPr bwMode="auto">
                <a:xfrm>
                  <a:off x="2851" y="1235"/>
                  <a:ext cx="206" cy="371"/>
                  <a:chOff x="2991" y="411"/>
                  <a:chExt cx="371" cy="768"/>
                </a:xfrm>
              </p:grpSpPr>
              <p:sp>
                <p:nvSpPr>
                  <p:cNvPr id="133176" name="AutoShape 56"/>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3177" name="AutoShape 57"/>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78" name="Freeform 58"/>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79" name="Text Box 59"/>
                  <p:cNvSpPr txBox="1">
                    <a:spLocks noChangeAspect="1" noChangeArrowheads="1"/>
                  </p:cNvSpPr>
                  <p:nvPr/>
                </p:nvSpPr>
                <p:spPr bwMode="auto">
                  <a:xfrm rot="-5400000">
                    <a:off x="2943" y="621"/>
                    <a:ext cx="575" cy="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3180" name="Line 60"/>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81" name="Line 61"/>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82" name="Group 62"/>
                <p:cNvGrpSpPr>
                  <a:grpSpLocks noChangeAspect="1"/>
                </p:cNvGrpSpPr>
                <p:nvPr/>
              </p:nvGrpSpPr>
              <p:grpSpPr bwMode="auto">
                <a:xfrm>
                  <a:off x="3181" y="1305"/>
                  <a:ext cx="334" cy="232"/>
                  <a:chOff x="3792" y="576"/>
                  <a:chExt cx="723" cy="480"/>
                </a:xfrm>
              </p:grpSpPr>
              <p:sp>
                <p:nvSpPr>
                  <p:cNvPr id="133183" name="Rectangle 63"/>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3184" name="Text Box 64"/>
                  <p:cNvSpPr txBox="1">
                    <a:spLocks noChangeAspect="1" noChangeArrowheads="1"/>
                  </p:cNvSpPr>
                  <p:nvPr/>
                </p:nvSpPr>
                <p:spPr bwMode="auto">
                  <a:xfrm>
                    <a:off x="3792" y="628"/>
                    <a:ext cx="72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3185" name="Freeform 65"/>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86" name="Line 66"/>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87" name="Line 67"/>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88" name="Group 68"/>
                <p:cNvGrpSpPr>
                  <a:grpSpLocks noChangeAspect="1"/>
                </p:cNvGrpSpPr>
                <p:nvPr/>
              </p:nvGrpSpPr>
              <p:grpSpPr bwMode="auto">
                <a:xfrm>
                  <a:off x="1933" y="1305"/>
                  <a:ext cx="352" cy="232"/>
                  <a:chOff x="1061" y="576"/>
                  <a:chExt cx="759" cy="480"/>
                </a:xfrm>
              </p:grpSpPr>
              <p:sp>
                <p:nvSpPr>
                  <p:cNvPr id="133189" name="Rectangle 69"/>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3190" name="Text Box 70"/>
                  <p:cNvSpPr txBox="1">
                    <a:spLocks noChangeAspect="1" noChangeArrowheads="1"/>
                  </p:cNvSpPr>
                  <p:nvPr/>
                </p:nvSpPr>
                <p:spPr bwMode="auto">
                  <a:xfrm>
                    <a:off x="1061" y="628"/>
                    <a:ext cx="759"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3191" name="Group 71"/>
                <p:cNvGrpSpPr>
                  <a:grpSpLocks/>
                </p:cNvGrpSpPr>
                <p:nvPr/>
              </p:nvGrpSpPr>
              <p:grpSpPr bwMode="auto">
                <a:xfrm>
                  <a:off x="2288" y="1200"/>
                  <a:ext cx="1297" cy="441"/>
                  <a:chOff x="2112" y="528"/>
                  <a:chExt cx="2088" cy="681"/>
                </a:xfrm>
              </p:grpSpPr>
              <p:sp>
                <p:nvSpPr>
                  <p:cNvPr id="133192" name="Rectangle 72"/>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93" name="Rectangle 73"/>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94" name="Rectangle 74"/>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95" name="Rectangle 75"/>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3196" name="Group 76"/>
                <p:cNvGrpSpPr>
                  <a:grpSpLocks noChangeAspect="1"/>
                </p:cNvGrpSpPr>
                <p:nvPr/>
              </p:nvGrpSpPr>
              <p:grpSpPr bwMode="auto">
                <a:xfrm flipH="1">
                  <a:off x="3644" y="1296"/>
                  <a:ext cx="241" cy="233"/>
                  <a:chOff x="1364" y="528"/>
                  <a:chExt cx="518" cy="432"/>
                </a:xfrm>
              </p:grpSpPr>
              <p:grpSp>
                <p:nvGrpSpPr>
                  <p:cNvPr id="133197" name="Group 77"/>
                  <p:cNvGrpSpPr>
                    <a:grpSpLocks noChangeAspect="1"/>
                  </p:cNvGrpSpPr>
                  <p:nvPr/>
                </p:nvGrpSpPr>
                <p:grpSpPr bwMode="auto">
                  <a:xfrm>
                    <a:off x="1374" y="528"/>
                    <a:ext cx="480" cy="432"/>
                    <a:chOff x="1392" y="528"/>
                    <a:chExt cx="480" cy="432"/>
                  </a:xfrm>
                </p:grpSpPr>
                <p:sp>
                  <p:nvSpPr>
                    <p:cNvPr id="133198" name="Rectangle 78"/>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99" name="Rectangle 79"/>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3200" name="Text Box 80"/>
                  <p:cNvSpPr txBox="1">
                    <a:spLocks noChangeAspect="1" noChangeArrowheads="1"/>
                  </p:cNvSpPr>
                  <p:nvPr/>
                </p:nvSpPr>
                <p:spPr bwMode="auto">
                  <a:xfrm>
                    <a:off x="1364" y="574"/>
                    <a:ext cx="51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3201" name="Group 81"/>
              <p:cNvGrpSpPr>
                <a:grpSpLocks/>
              </p:cNvGrpSpPr>
              <p:nvPr/>
            </p:nvGrpSpPr>
            <p:grpSpPr bwMode="auto">
              <a:xfrm>
                <a:off x="1932" y="1200"/>
                <a:ext cx="1951" cy="441"/>
                <a:chOff x="1932" y="1200"/>
                <a:chExt cx="1951" cy="441"/>
              </a:xfrm>
            </p:grpSpPr>
            <p:grpSp>
              <p:nvGrpSpPr>
                <p:cNvPr id="133202" name="Group 82"/>
                <p:cNvGrpSpPr>
                  <a:grpSpLocks noChangeAspect="1"/>
                </p:cNvGrpSpPr>
                <p:nvPr/>
              </p:nvGrpSpPr>
              <p:grpSpPr bwMode="auto">
                <a:xfrm>
                  <a:off x="2420" y="1304"/>
                  <a:ext cx="241" cy="233"/>
                  <a:chOff x="1355" y="528"/>
                  <a:chExt cx="522" cy="432"/>
                </a:xfrm>
              </p:grpSpPr>
              <p:grpSp>
                <p:nvGrpSpPr>
                  <p:cNvPr id="133203" name="Group 83"/>
                  <p:cNvGrpSpPr>
                    <a:grpSpLocks noChangeAspect="1"/>
                  </p:cNvGrpSpPr>
                  <p:nvPr/>
                </p:nvGrpSpPr>
                <p:grpSpPr bwMode="auto">
                  <a:xfrm>
                    <a:off x="1374" y="528"/>
                    <a:ext cx="480" cy="432"/>
                    <a:chOff x="1392" y="528"/>
                    <a:chExt cx="480" cy="432"/>
                  </a:xfrm>
                </p:grpSpPr>
                <p:sp>
                  <p:nvSpPr>
                    <p:cNvPr id="133204" name="Rectangle 84"/>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05" name="Rectangle 85"/>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3206" name="Text Box 86"/>
                  <p:cNvSpPr txBox="1">
                    <a:spLocks noChangeAspect="1" noChangeArrowheads="1"/>
                  </p:cNvSpPr>
                  <p:nvPr/>
                </p:nvSpPr>
                <p:spPr bwMode="auto">
                  <a:xfrm>
                    <a:off x="1355" y="574"/>
                    <a:ext cx="52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3207" name="Line 87"/>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08" name="Line 88"/>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209" name="Group 89"/>
                <p:cNvGrpSpPr>
                  <a:grpSpLocks noChangeAspect="1"/>
                </p:cNvGrpSpPr>
                <p:nvPr/>
              </p:nvGrpSpPr>
              <p:grpSpPr bwMode="auto">
                <a:xfrm>
                  <a:off x="2851" y="1235"/>
                  <a:ext cx="206" cy="371"/>
                  <a:chOff x="2991" y="411"/>
                  <a:chExt cx="371" cy="768"/>
                </a:xfrm>
              </p:grpSpPr>
              <p:sp>
                <p:nvSpPr>
                  <p:cNvPr id="133210" name="AutoShape 90"/>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3211" name="AutoShape 91"/>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12" name="Freeform 92"/>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13" name="Text Box 93"/>
                  <p:cNvSpPr txBox="1">
                    <a:spLocks noChangeAspect="1" noChangeArrowheads="1"/>
                  </p:cNvSpPr>
                  <p:nvPr/>
                </p:nvSpPr>
                <p:spPr bwMode="auto">
                  <a:xfrm rot="-5400000">
                    <a:off x="2943" y="621"/>
                    <a:ext cx="575" cy="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3214" name="Line 94"/>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15" name="Line 95"/>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216" name="Group 96"/>
                <p:cNvGrpSpPr>
                  <a:grpSpLocks noChangeAspect="1"/>
                </p:cNvGrpSpPr>
                <p:nvPr/>
              </p:nvGrpSpPr>
              <p:grpSpPr bwMode="auto">
                <a:xfrm>
                  <a:off x="3180" y="1305"/>
                  <a:ext cx="334" cy="232"/>
                  <a:chOff x="3790" y="576"/>
                  <a:chExt cx="722" cy="480"/>
                </a:xfrm>
              </p:grpSpPr>
              <p:sp>
                <p:nvSpPr>
                  <p:cNvPr id="133217" name="Rectangle 97"/>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3218" name="Text Box 98"/>
                  <p:cNvSpPr txBox="1">
                    <a:spLocks noChangeAspect="1" noChangeArrowheads="1"/>
                  </p:cNvSpPr>
                  <p:nvPr/>
                </p:nvSpPr>
                <p:spPr bwMode="auto">
                  <a:xfrm>
                    <a:off x="3790" y="628"/>
                    <a:ext cx="72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3219" name="Freeform 99"/>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20" name="Line 100"/>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21" name="Line 101"/>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222" name="Group 102"/>
                <p:cNvGrpSpPr>
                  <a:grpSpLocks noChangeAspect="1"/>
                </p:cNvGrpSpPr>
                <p:nvPr/>
              </p:nvGrpSpPr>
              <p:grpSpPr bwMode="auto">
                <a:xfrm>
                  <a:off x="1932" y="1305"/>
                  <a:ext cx="352" cy="232"/>
                  <a:chOff x="1058" y="576"/>
                  <a:chExt cx="760" cy="480"/>
                </a:xfrm>
              </p:grpSpPr>
              <p:sp>
                <p:nvSpPr>
                  <p:cNvPr id="133223" name="Rectangle 103"/>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3224" name="Text Box 104"/>
                  <p:cNvSpPr txBox="1">
                    <a:spLocks noChangeAspect="1" noChangeArrowheads="1"/>
                  </p:cNvSpPr>
                  <p:nvPr/>
                </p:nvSpPr>
                <p:spPr bwMode="auto">
                  <a:xfrm>
                    <a:off x="1058" y="628"/>
                    <a:ext cx="760"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3225" name="Group 105"/>
                <p:cNvGrpSpPr>
                  <a:grpSpLocks/>
                </p:cNvGrpSpPr>
                <p:nvPr/>
              </p:nvGrpSpPr>
              <p:grpSpPr bwMode="auto">
                <a:xfrm>
                  <a:off x="2288" y="1200"/>
                  <a:ext cx="1297" cy="441"/>
                  <a:chOff x="2112" y="528"/>
                  <a:chExt cx="2088" cy="681"/>
                </a:xfrm>
              </p:grpSpPr>
              <p:sp>
                <p:nvSpPr>
                  <p:cNvPr id="133226" name="Rectangle 106"/>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27" name="Rectangle 107"/>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28" name="Rectangle 108"/>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29" name="Rectangle 109"/>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3230" name="Group 110"/>
                <p:cNvGrpSpPr>
                  <a:grpSpLocks noChangeAspect="1"/>
                </p:cNvGrpSpPr>
                <p:nvPr/>
              </p:nvGrpSpPr>
              <p:grpSpPr bwMode="auto">
                <a:xfrm flipH="1">
                  <a:off x="3642" y="1296"/>
                  <a:ext cx="241" cy="233"/>
                  <a:chOff x="1360" y="528"/>
                  <a:chExt cx="518" cy="432"/>
                </a:xfrm>
              </p:grpSpPr>
              <p:grpSp>
                <p:nvGrpSpPr>
                  <p:cNvPr id="133231" name="Group 111"/>
                  <p:cNvGrpSpPr>
                    <a:grpSpLocks noChangeAspect="1"/>
                  </p:cNvGrpSpPr>
                  <p:nvPr/>
                </p:nvGrpSpPr>
                <p:grpSpPr bwMode="auto">
                  <a:xfrm>
                    <a:off x="1374" y="528"/>
                    <a:ext cx="480" cy="432"/>
                    <a:chOff x="1392" y="528"/>
                    <a:chExt cx="480" cy="432"/>
                  </a:xfrm>
                </p:grpSpPr>
                <p:sp>
                  <p:nvSpPr>
                    <p:cNvPr id="133232" name="Rectangle 112"/>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33" name="Rectangle 113"/>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3234" name="Text Box 114"/>
                  <p:cNvSpPr txBox="1">
                    <a:spLocks noChangeAspect="1" noChangeArrowheads="1"/>
                  </p:cNvSpPr>
                  <p:nvPr/>
                </p:nvSpPr>
                <p:spPr bwMode="auto">
                  <a:xfrm>
                    <a:off x="1360" y="574"/>
                    <a:ext cx="51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3235" name="Group 115"/>
              <p:cNvGrpSpPr>
                <a:grpSpLocks/>
              </p:cNvGrpSpPr>
              <p:nvPr/>
            </p:nvGrpSpPr>
            <p:grpSpPr bwMode="auto">
              <a:xfrm>
                <a:off x="3186" y="2784"/>
                <a:ext cx="1950" cy="441"/>
                <a:chOff x="1933" y="1200"/>
                <a:chExt cx="1950" cy="441"/>
              </a:xfrm>
            </p:grpSpPr>
            <p:grpSp>
              <p:nvGrpSpPr>
                <p:cNvPr id="133236" name="Group 116"/>
                <p:cNvGrpSpPr>
                  <a:grpSpLocks noChangeAspect="1"/>
                </p:cNvGrpSpPr>
                <p:nvPr/>
              </p:nvGrpSpPr>
              <p:grpSpPr bwMode="auto">
                <a:xfrm>
                  <a:off x="2418" y="1304"/>
                  <a:ext cx="241" cy="233"/>
                  <a:chOff x="1351" y="528"/>
                  <a:chExt cx="522" cy="432"/>
                </a:xfrm>
              </p:grpSpPr>
              <p:grpSp>
                <p:nvGrpSpPr>
                  <p:cNvPr id="133237" name="Group 117"/>
                  <p:cNvGrpSpPr>
                    <a:grpSpLocks noChangeAspect="1"/>
                  </p:cNvGrpSpPr>
                  <p:nvPr/>
                </p:nvGrpSpPr>
                <p:grpSpPr bwMode="auto">
                  <a:xfrm>
                    <a:off x="1374" y="528"/>
                    <a:ext cx="480" cy="432"/>
                    <a:chOff x="1392" y="528"/>
                    <a:chExt cx="480" cy="432"/>
                  </a:xfrm>
                </p:grpSpPr>
                <p:sp>
                  <p:nvSpPr>
                    <p:cNvPr id="133238" name="Rectangle 118"/>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39" name="Rectangle 119"/>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3240" name="Text Box 120"/>
                  <p:cNvSpPr txBox="1">
                    <a:spLocks noChangeAspect="1" noChangeArrowheads="1"/>
                  </p:cNvSpPr>
                  <p:nvPr/>
                </p:nvSpPr>
                <p:spPr bwMode="auto">
                  <a:xfrm>
                    <a:off x="1351" y="574"/>
                    <a:ext cx="52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3241" name="Line 121"/>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42" name="Line 122"/>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243" name="Group 123"/>
                <p:cNvGrpSpPr>
                  <a:grpSpLocks noChangeAspect="1"/>
                </p:cNvGrpSpPr>
                <p:nvPr/>
              </p:nvGrpSpPr>
              <p:grpSpPr bwMode="auto">
                <a:xfrm>
                  <a:off x="2851" y="1235"/>
                  <a:ext cx="206" cy="371"/>
                  <a:chOff x="2991" y="411"/>
                  <a:chExt cx="371" cy="768"/>
                </a:xfrm>
              </p:grpSpPr>
              <p:sp>
                <p:nvSpPr>
                  <p:cNvPr id="133244" name="AutoShape 124"/>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3245" name="AutoShape 125"/>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46" name="Freeform 126"/>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47" name="Text Box 127"/>
                  <p:cNvSpPr txBox="1">
                    <a:spLocks noChangeAspect="1" noChangeArrowheads="1"/>
                  </p:cNvSpPr>
                  <p:nvPr/>
                </p:nvSpPr>
                <p:spPr bwMode="auto">
                  <a:xfrm rot="-5400000">
                    <a:off x="2943" y="621"/>
                    <a:ext cx="575" cy="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3248" name="Line 128"/>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49" name="Line 129"/>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250" name="Group 130"/>
                <p:cNvGrpSpPr>
                  <a:grpSpLocks noChangeAspect="1"/>
                </p:cNvGrpSpPr>
                <p:nvPr/>
              </p:nvGrpSpPr>
              <p:grpSpPr bwMode="auto">
                <a:xfrm>
                  <a:off x="3180" y="1305"/>
                  <a:ext cx="334" cy="232"/>
                  <a:chOff x="3790" y="576"/>
                  <a:chExt cx="722" cy="480"/>
                </a:xfrm>
              </p:grpSpPr>
              <p:sp>
                <p:nvSpPr>
                  <p:cNvPr id="133251" name="Rectangle 131"/>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3252" name="Text Box 132"/>
                  <p:cNvSpPr txBox="1">
                    <a:spLocks noChangeAspect="1" noChangeArrowheads="1"/>
                  </p:cNvSpPr>
                  <p:nvPr/>
                </p:nvSpPr>
                <p:spPr bwMode="auto">
                  <a:xfrm>
                    <a:off x="3790" y="628"/>
                    <a:ext cx="72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3253" name="Freeform 133"/>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54" name="Line 134"/>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55" name="Line 135"/>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256" name="Group 136"/>
                <p:cNvGrpSpPr>
                  <a:grpSpLocks noChangeAspect="1"/>
                </p:cNvGrpSpPr>
                <p:nvPr/>
              </p:nvGrpSpPr>
              <p:grpSpPr bwMode="auto">
                <a:xfrm>
                  <a:off x="1933" y="1305"/>
                  <a:ext cx="352" cy="232"/>
                  <a:chOff x="1061" y="576"/>
                  <a:chExt cx="759" cy="480"/>
                </a:xfrm>
              </p:grpSpPr>
              <p:sp>
                <p:nvSpPr>
                  <p:cNvPr id="133257" name="Rectangle 137"/>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3258" name="Text Box 138"/>
                  <p:cNvSpPr txBox="1">
                    <a:spLocks noChangeAspect="1" noChangeArrowheads="1"/>
                  </p:cNvSpPr>
                  <p:nvPr/>
                </p:nvSpPr>
                <p:spPr bwMode="auto">
                  <a:xfrm>
                    <a:off x="1061" y="628"/>
                    <a:ext cx="759"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3259" name="Group 139"/>
                <p:cNvGrpSpPr>
                  <a:grpSpLocks/>
                </p:cNvGrpSpPr>
                <p:nvPr/>
              </p:nvGrpSpPr>
              <p:grpSpPr bwMode="auto">
                <a:xfrm>
                  <a:off x="2288" y="1200"/>
                  <a:ext cx="1297" cy="441"/>
                  <a:chOff x="2112" y="528"/>
                  <a:chExt cx="2088" cy="681"/>
                </a:xfrm>
              </p:grpSpPr>
              <p:sp>
                <p:nvSpPr>
                  <p:cNvPr id="133260" name="Rectangle 140"/>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61" name="Rectangle 141"/>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62" name="Rectangle 142"/>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63" name="Rectangle 143"/>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3264" name="Group 144"/>
                <p:cNvGrpSpPr>
                  <a:grpSpLocks noChangeAspect="1"/>
                </p:cNvGrpSpPr>
                <p:nvPr/>
              </p:nvGrpSpPr>
              <p:grpSpPr bwMode="auto">
                <a:xfrm flipH="1">
                  <a:off x="3642" y="1296"/>
                  <a:ext cx="241" cy="233"/>
                  <a:chOff x="1360" y="528"/>
                  <a:chExt cx="518" cy="432"/>
                </a:xfrm>
              </p:grpSpPr>
              <p:grpSp>
                <p:nvGrpSpPr>
                  <p:cNvPr id="133265" name="Group 145"/>
                  <p:cNvGrpSpPr>
                    <a:grpSpLocks noChangeAspect="1"/>
                  </p:cNvGrpSpPr>
                  <p:nvPr/>
                </p:nvGrpSpPr>
                <p:grpSpPr bwMode="auto">
                  <a:xfrm>
                    <a:off x="1374" y="528"/>
                    <a:ext cx="480" cy="432"/>
                    <a:chOff x="1392" y="528"/>
                    <a:chExt cx="480" cy="432"/>
                  </a:xfrm>
                </p:grpSpPr>
                <p:sp>
                  <p:nvSpPr>
                    <p:cNvPr id="133266" name="Rectangle 146"/>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67" name="Rectangle 147"/>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3268" name="Text Box 148"/>
                  <p:cNvSpPr txBox="1">
                    <a:spLocks noChangeAspect="1" noChangeArrowheads="1"/>
                  </p:cNvSpPr>
                  <p:nvPr/>
                </p:nvSpPr>
                <p:spPr bwMode="auto">
                  <a:xfrm>
                    <a:off x="1360" y="574"/>
                    <a:ext cx="51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3269" name="Group 149"/>
              <p:cNvGrpSpPr>
                <a:grpSpLocks/>
              </p:cNvGrpSpPr>
              <p:nvPr/>
            </p:nvGrpSpPr>
            <p:grpSpPr bwMode="auto">
              <a:xfrm>
                <a:off x="3606" y="3296"/>
                <a:ext cx="1950" cy="441"/>
                <a:chOff x="1933" y="1200"/>
                <a:chExt cx="1950" cy="441"/>
              </a:xfrm>
            </p:grpSpPr>
            <p:grpSp>
              <p:nvGrpSpPr>
                <p:cNvPr id="133270" name="Group 150"/>
                <p:cNvGrpSpPr>
                  <a:grpSpLocks noChangeAspect="1"/>
                </p:cNvGrpSpPr>
                <p:nvPr/>
              </p:nvGrpSpPr>
              <p:grpSpPr bwMode="auto">
                <a:xfrm>
                  <a:off x="2420" y="1304"/>
                  <a:ext cx="240" cy="233"/>
                  <a:chOff x="1355" y="528"/>
                  <a:chExt cx="520" cy="432"/>
                </a:xfrm>
              </p:grpSpPr>
              <p:grpSp>
                <p:nvGrpSpPr>
                  <p:cNvPr id="133271" name="Group 151"/>
                  <p:cNvGrpSpPr>
                    <a:grpSpLocks noChangeAspect="1"/>
                  </p:cNvGrpSpPr>
                  <p:nvPr/>
                </p:nvGrpSpPr>
                <p:grpSpPr bwMode="auto">
                  <a:xfrm>
                    <a:off x="1374" y="528"/>
                    <a:ext cx="480" cy="432"/>
                    <a:chOff x="1392" y="528"/>
                    <a:chExt cx="480" cy="432"/>
                  </a:xfrm>
                </p:grpSpPr>
                <p:sp>
                  <p:nvSpPr>
                    <p:cNvPr id="133272" name="Rectangle 152"/>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73" name="Rectangle 153"/>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3274" name="Text Box 154"/>
                  <p:cNvSpPr txBox="1">
                    <a:spLocks noChangeAspect="1" noChangeArrowheads="1"/>
                  </p:cNvSpPr>
                  <p:nvPr/>
                </p:nvSpPr>
                <p:spPr bwMode="auto">
                  <a:xfrm>
                    <a:off x="1355" y="574"/>
                    <a:ext cx="520"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3275" name="Line 155"/>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76" name="Line 156"/>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277" name="Group 157"/>
                <p:cNvGrpSpPr>
                  <a:grpSpLocks noChangeAspect="1"/>
                </p:cNvGrpSpPr>
                <p:nvPr/>
              </p:nvGrpSpPr>
              <p:grpSpPr bwMode="auto">
                <a:xfrm>
                  <a:off x="2851" y="1235"/>
                  <a:ext cx="206" cy="371"/>
                  <a:chOff x="2991" y="411"/>
                  <a:chExt cx="371" cy="768"/>
                </a:xfrm>
              </p:grpSpPr>
              <p:sp>
                <p:nvSpPr>
                  <p:cNvPr id="133278" name="AutoShape 158"/>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3279" name="AutoShape 159"/>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80" name="Freeform 160"/>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81" name="Text Box 161"/>
                  <p:cNvSpPr txBox="1">
                    <a:spLocks noChangeAspect="1" noChangeArrowheads="1"/>
                  </p:cNvSpPr>
                  <p:nvPr/>
                </p:nvSpPr>
                <p:spPr bwMode="auto">
                  <a:xfrm rot="-5400000">
                    <a:off x="2943" y="621"/>
                    <a:ext cx="575" cy="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3282" name="Line 162"/>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83" name="Line 163"/>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284" name="Group 164"/>
                <p:cNvGrpSpPr>
                  <a:grpSpLocks noChangeAspect="1"/>
                </p:cNvGrpSpPr>
                <p:nvPr/>
              </p:nvGrpSpPr>
              <p:grpSpPr bwMode="auto">
                <a:xfrm>
                  <a:off x="3180" y="1305"/>
                  <a:ext cx="334" cy="232"/>
                  <a:chOff x="3790" y="576"/>
                  <a:chExt cx="722" cy="480"/>
                </a:xfrm>
              </p:grpSpPr>
              <p:sp>
                <p:nvSpPr>
                  <p:cNvPr id="133285" name="Rectangle 165"/>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3286" name="Text Box 166"/>
                  <p:cNvSpPr txBox="1">
                    <a:spLocks noChangeAspect="1" noChangeArrowheads="1"/>
                  </p:cNvSpPr>
                  <p:nvPr/>
                </p:nvSpPr>
                <p:spPr bwMode="auto">
                  <a:xfrm>
                    <a:off x="3790" y="628"/>
                    <a:ext cx="72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3287" name="Freeform 167"/>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88" name="Line 168"/>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89" name="Line 169"/>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290" name="Group 170"/>
                <p:cNvGrpSpPr>
                  <a:grpSpLocks noChangeAspect="1"/>
                </p:cNvGrpSpPr>
                <p:nvPr/>
              </p:nvGrpSpPr>
              <p:grpSpPr bwMode="auto">
                <a:xfrm>
                  <a:off x="1933" y="1305"/>
                  <a:ext cx="352" cy="232"/>
                  <a:chOff x="1061" y="576"/>
                  <a:chExt cx="760" cy="480"/>
                </a:xfrm>
              </p:grpSpPr>
              <p:sp>
                <p:nvSpPr>
                  <p:cNvPr id="133291" name="Rectangle 171"/>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3292" name="Text Box 172"/>
                  <p:cNvSpPr txBox="1">
                    <a:spLocks noChangeAspect="1" noChangeArrowheads="1"/>
                  </p:cNvSpPr>
                  <p:nvPr/>
                </p:nvSpPr>
                <p:spPr bwMode="auto">
                  <a:xfrm>
                    <a:off x="1061" y="628"/>
                    <a:ext cx="760"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3293" name="Group 173"/>
                <p:cNvGrpSpPr>
                  <a:grpSpLocks/>
                </p:cNvGrpSpPr>
                <p:nvPr/>
              </p:nvGrpSpPr>
              <p:grpSpPr bwMode="auto">
                <a:xfrm>
                  <a:off x="2288" y="1200"/>
                  <a:ext cx="1297" cy="441"/>
                  <a:chOff x="2112" y="528"/>
                  <a:chExt cx="2088" cy="681"/>
                </a:xfrm>
              </p:grpSpPr>
              <p:sp>
                <p:nvSpPr>
                  <p:cNvPr id="133294" name="Rectangle 174"/>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95" name="Rectangle 175"/>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96" name="Rectangle 176"/>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297" name="Rectangle 177"/>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3298" name="Group 178"/>
                <p:cNvGrpSpPr>
                  <a:grpSpLocks noChangeAspect="1"/>
                </p:cNvGrpSpPr>
                <p:nvPr/>
              </p:nvGrpSpPr>
              <p:grpSpPr bwMode="auto">
                <a:xfrm flipH="1">
                  <a:off x="3642" y="1296"/>
                  <a:ext cx="241" cy="233"/>
                  <a:chOff x="1360" y="528"/>
                  <a:chExt cx="518" cy="432"/>
                </a:xfrm>
              </p:grpSpPr>
              <p:grpSp>
                <p:nvGrpSpPr>
                  <p:cNvPr id="133299" name="Group 179"/>
                  <p:cNvGrpSpPr>
                    <a:grpSpLocks noChangeAspect="1"/>
                  </p:cNvGrpSpPr>
                  <p:nvPr/>
                </p:nvGrpSpPr>
                <p:grpSpPr bwMode="auto">
                  <a:xfrm>
                    <a:off x="1374" y="528"/>
                    <a:ext cx="480" cy="432"/>
                    <a:chOff x="1392" y="528"/>
                    <a:chExt cx="480" cy="432"/>
                  </a:xfrm>
                </p:grpSpPr>
                <p:sp>
                  <p:nvSpPr>
                    <p:cNvPr id="133300" name="Rectangle 180"/>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01" name="Rectangle 181"/>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3302" name="Text Box 182"/>
                  <p:cNvSpPr txBox="1">
                    <a:spLocks noChangeAspect="1" noChangeArrowheads="1"/>
                  </p:cNvSpPr>
                  <p:nvPr/>
                </p:nvSpPr>
                <p:spPr bwMode="auto">
                  <a:xfrm>
                    <a:off x="1360" y="574"/>
                    <a:ext cx="51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grpSp>
      <p:sp>
        <p:nvSpPr>
          <p:cNvPr id="133303" name="Rectangle 183"/>
          <p:cNvSpPr>
            <a:spLocks noGrp="1" noChangeArrowheads="1"/>
          </p:cNvSpPr>
          <p:nvPr>
            <p:ph type="title"/>
          </p:nvPr>
        </p:nvSpPr>
        <p:spPr>
          <a:xfrm>
            <a:off x="2590800" y="152400"/>
            <a:ext cx="7162800" cy="990600"/>
          </a:xfrm>
          <a:solidFill>
            <a:schemeClr val="bg1"/>
          </a:solid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Data Hazard on R1</a:t>
            </a:r>
            <a:endParaRPr lang="en-US" altLang="zh-CN" sz="2400">
              <a:solidFill>
                <a:schemeClr val="tx1"/>
              </a:solidFill>
            </a:endParaRPr>
          </a:p>
        </p:txBody>
      </p:sp>
      <p:sp>
        <p:nvSpPr>
          <p:cNvPr id="133304" name="Line 184"/>
          <p:cNvSpPr>
            <a:spLocks noChangeShapeType="1"/>
          </p:cNvSpPr>
          <p:nvPr/>
        </p:nvSpPr>
        <p:spPr bwMode="auto">
          <a:xfrm>
            <a:off x="2979736" y="1628800"/>
            <a:ext cx="7594600" cy="63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05" name="Rectangle 185"/>
          <p:cNvSpPr>
            <a:spLocks noChangeArrowheads="1"/>
          </p:cNvSpPr>
          <p:nvPr/>
        </p:nvSpPr>
        <p:spPr bwMode="auto">
          <a:xfrm>
            <a:off x="1153318" y="1667148"/>
            <a:ext cx="2508250"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000" i="1" dirty="0">
                <a:latin typeface="Comic Sans MS" panose="030F0702030302020204" pitchFamily="66" charset="0"/>
              </a:rPr>
              <a:t>Time (clock cycles)</a:t>
            </a:r>
          </a:p>
        </p:txBody>
      </p:sp>
      <p:grpSp>
        <p:nvGrpSpPr>
          <p:cNvPr id="133306" name="Group 186"/>
          <p:cNvGrpSpPr>
            <a:grpSpLocks/>
          </p:cNvGrpSpPr>
          <p:nvPr/>
        </p:nvGrpSpPr>
        <p:grpSpPr bwMode="auto">
          <a:xfrm>
            <a:off x="3509912" y="1772816"/>
            <a:ext cx="3238501" cy="373063"/>
            <a:chOff x="2016" y="1148"/>
            <a:chExt cx="2040" cy="235"/>
          </a:xfrm>
        </p:grpSpPr>
        <p:sp>
          <p:nvSpPr>
            <p:cNvPr id="133307" name="Rectangle 187"/>
            <p:cNvSpPr>
              <a:spLocks noChangeArrowheads="1"/>
            </p:cNvSpPr>
            <p:nvPr/>
          </p:nvSpPr>
          <p:spPr bwMode="auto">
            <a:xfrm>
              <a:off x="2016" y="1152"/>
              <a:ext cx="283"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a:latin typeface="Comic Sans MS" panose="030F0702030302020204" pitchFamily="66" charset="0"/>
                </a:rPr>
                <a:t>IF</a:t>
              </a:r>
            </a:p>
          </p:txBody>
        </p:sp>
        <p:sp>
          <p:nvSpPr>
            <p:cNvPr id="133308" name="Rectangle 188"/>
            <p:cNvSpPr>
              <a:spLocks noChangeArrowheads="1"/>
            </p:cNvSpPr>
            <p:nvPr/>
          </p:nvSpPr>
          <p:spPr bwMode="auto">
            <a:xfrm>
              <a:off x="2304" y="1152"/>
              <a:ext cx="550" cy="22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dirty="0">
                  <a:latin typeface="Comic Sans MS" panose="030F0702030302020204" pitchFamily="66" charset="0"/>
                </a:rPr>
                <a:t>ID/RF</a:t>
              </a:r>
            </a:p>
          </p:txBody>
        </p:sp>
        <p:sp>
          <p:nvSpPr>
            <p:cNvPr id="133309" name="Rectangle 189"/>
            <p:cNvSpPr>
              <a:spLocks noChangeArrowheads="1"/>
            </p:cNvSpPr>
            <p:nvPr/>
          </p:nvSpPr>
          <p:spPr bwMode="auto">
            <a:xfrm>
              <a:off x="2805" y="1148"/>
              <a:ext cx="311"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a:latin typeface="Comic Sans MS" panose="030F0702030302020204" pitchFamily="66" charset="0"/>
                </a:rPr>
                <a:t>EX</a:t>
              </a:r>
            </a:p>
          </p:txBody>
        </p:sp>
        <p:sp>
          <p:nvSpPr>
            <p:cNvPr id="133310" name="Rectangle 190"/>
            <p:cNvSpPr>
              <a:spLocks noChangeArrowheads="1"/>
            </p:cNvSpPr>
            <p:nvPr/>
          </p:nvSpPr>
          <p:spPr bwMode="auto">
            <a:xfrm>
              <a:off x="3200" y="1150"/>
              <a:ext cx="462"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a:latin typeface="Comic Sans MS" panose="030F0702030302020204" pitchFamily="66" charset="0"/>
                </a:rPr>
                <a:t>MEM</a:t>
              </a:r>
            </a:p>
          </p:txBody>
        </p:sp>
        <p:sp>
          <p:nvSpPr>
            <p:cNvPr id="133311" name="Rectangle 191"/>
            <p:cNvSpPr>
              <a:spLocks noChangeArrowheads="1"/>
            </p:cNvSpPr>
            <p:nvPr/>
          </p:nvSpPr>
          <p:spPr bwMode="auto">
            <a:xfrm>
              <a:off x="3698" y="1149"/>
              <a:ext cx="358"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a:latin typeface="Comic Sans MS" panose="030F0702030302020204" pitchFamily="66" charset="0"/>
                </a:rPr>
                <a:t>WB</a:t>
              </a:r>
            </a:p>
          </p:txBody>
        </p:sp>
      </p:grpSp>
      <p:sp>
        <p:nvSpPr>
          <p:cNvPr id="133312" name="Line 192"/>
          <p:cNvSpPr>
            <a:spLocks noChangeShapeType="1"/>
          </p:cNvSpPr>
          <p:nvPr/>
        </p:nvSpPr>
        <p:spPr bwMode="auto">
          <a:xfrm flipH="1">
            <a:off x="5186312" y="2576338"/>
            <a:ext cx="1371600" cy="609600"/>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13" name="Line 193"/>
          <p:cNvSpPr>
            <a:spLocks noChangeShapeType="1"/>
          </p:cNvSpPr>
          <p:nvPr/>
        </p:nvSpPr>
        <p:spPr bwMode="auto">
          <a:xfrm flipH="1">
            <a:off x="5872112" y="2576338"/>
            <a:ext cx="685800" cy="1524000"/>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14" name="Line 194"/>
          <p:cNvSpPr>
            <a:spLocks noChangeShapeType="1"/>
          </p:cNvSpPr>
          <p:nvPr/>
        </p:nvSpPr>
        <p:spPr bwMode="auto">
          <a:xfrm>
            <a:off x="6634112" y="2576338"/>
            <a:ext cx="609600" cy="3124200"/>
          </a:xfrm>
          <a:prstGeom prst="line">
            <a:avLst/>
          </a:prstGeom>
          <a:noFill/>
          <a:ln w="762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15" name="Line 195"/>
          <p:cNvSpPr>
            <a:spLocks noChangeShapeType="1"/>
          </p:cNvSpPr>
          <p:nvPr/>
        </p:nvSpPr>
        <p:spPr bwMode="auto">
          <a:xfrm flipH="1">
            <a:off x="6557913" y="2557288"/>
            <a:ext cx="23813" cy="2381250"/>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矩形 1"/>
          <p:cNvSpPr/>
          <p:nvPr/>
        </p:nvSpPr>
        <p:spPr>
          <a:xfrm>
            <a:off x="7908850" y="1760266"/>
            <a:ext cx="4160727" cy="2308324"/>
          </a:xfrm>
          <a:prstGeom prst="rect">
            <a:avLst/>
          </a:prstGeom>
        </p:spPr>
        <p:txBody>
          <a:bodyPr wrap="square">
            <a:spAutoFit/>
          </a:bodyPr>
          <a:lstStyle/>
          <a:p>
            <a:r>
              <a:rPr lang="en-US" altLang="zh-CN" sz="2400" dirty="0">
                <a:solidFill>
                  <a:srgbClr val="0000FF"/>
                </a:solidFill>
              </a:rPr>
              <a:t>The use of the result of the </a:t>
            </a:r>
            <a:r>
              <a:rPr lang="en-US" altLang="zh-CN" sz="2400" b="1" dirty="0">
                <a:solidFill>
                  <a:srgbClr val="0000FF"/>
                </a:solidFill>
                <a:latin typeface="Courier New" panose="02070309020205020404" pitchFamily="49" charset="0"/>
                <a:cs typeface="Courier New" panose="02070309020205020404" pitchFamily="49" charset="0"/>
              </a:rPr>
              <a:t>add</a:t>
            </a:r>
            <a:r>
              <a:rPr lang="en-US" altLang="zh-CN" sz="2400" dirty="0">
                <a:solidFill>
                  <a:srgbClr val="0000FF"/>
                </a:solidFill>
              </a:rPr>
              <a:t> instruction in the next three instructions causes a hazard, because the register is not written until after those instructions read it</a:t>
            </a:r>
            <a:endParaRPr lang="zh-CN" altLang="en-US" sz="2400" dirty="0">
              <a:solidFill>
                <a:srgbClr val="0000FF"/>
              </a:solidFill>
            </a:endParaRPr>
          </a:p>
        </p:txBody>
      </p:sp>
    </p:spTree>
    <p:extLst>
      <p:ext uri="{BB962C8B-B14F-4D97-AF65-F5344CB8AC3E}">
        <p14:creationId xmlns:p14="http://schemas.microsoft.com/office/powerpoint/2010/main" val="3102127377"/>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6" name="Rectangle 2"/>
          <p:cNvSpPr>
            <a:spLocks noGrp="1" noChangeArrowheads="1"/>
          </p:cNvSpPr>
          <p:nvPr>
            <p:ph type="body" idx="1"/>
          </p:nvPr>
        </p:nvSpPr>
        <p:spPr>
          <a:xfrm>
            <a:off x="911424" y="1600200"/>
            <a:ext cx="10369152"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solidFill>
                  <a:srgbClr val="FF0000"/>
                </a:solidFill>
              </a:rPr>
              <a:t>Read After Write (RAW) </a:t>
            </a:r>
            <a:r>
              <a:rPr lang="en-US" altLang="zh-CN" dirty="0"/>
              <a:t/>
            </a:r>
            <a:br>
              <a:rPr lang="en-US" altLang="zh-CN" dirty="0"/>
            </a:br>
            <a:r>
              <a:rPr lang="en-US" altLang="zh-CN" dirty="0" err="1"/>
              <a:t>Instr</a:t>
            </a:r>
            <a:r>
              <a:rPr lang="en-US" altLang="zh-CN" baseline="-25000" dirty="0" err="1"/>
              <a:t>J</a:t>
            </a:r>
            <a:r>
              <a:rPr lang="en-US" altLang="zh-CN" dirty="0"/>
              <a:t> tries to read operand before </a:t>
            </a:r>
            <a:r>
              <a:rPr lang="en-US" altLang="zh-CN" dirty="0" err="1"/>
              <a:t>Instr</a:t>
            </a:r>
            <a:r>
              <a:rPr lang="en-US" altLang="zh-CN" baseline="-25000" dirty="0" err="1"/>
              <a:t>I</a:t>
            </a:r>
            <a:r>
              <a:rPr lang="en-US" altLang="zh-CN" baseline="-25000" dirty="0"/>
              <a:t> </a:t>
            </a:r>
            <a:r>
              <a:rPr lang="en-US" altLang="zh-CN" dirty="0"/>
              <a:t>writes it</a:t>
            </a:r>
            <a:br>
              <a:rPr lang="en-US" altLang="zh-CN" dirty="0"/>
            </a:br>
            <a:r>
              <a:rPr lang="en-US" altLang="zh-CN" dirty="0"/>
              <a:t/>
            </a:r>
            <a:br>
              <a:rPr lang="en-US" altLang="zh-CN" dirty="0"/>
            </a:br>
            <a:r>
              <a:rPr lang="en-US" altLang="zh-CN" dirty="0"/>
              <a:t>		</a:t>
            </a:r>
            <a:br>
              <a:rPr lang="en-US" altLang="zh-CN" dirty="0"/>
            </a:br>
            <a:r>
              <a:rPr lang="en-US" altLang="zh-CN" dirty="0"/>
              <a:t/>
            </a:r>
            <a:br>
              <a:rPr lang="en-US" altLang="zh-CN" dirty="0"/>
            </a:br>
            <a:r>
              <a:rPr lang="en-US" altLang="zh-CN" dirty="0"/>
              <a:t>Caused by a “</a:t>
            </a:r>
            <a:r>
              <a:rPr lang="en-US" altLang="zh-CN" dirty="0">
                <a:solidFill>
                  <a:srgbClr val="FF0000"/>
                </a:solidFill>
              </a:rPr>
              <a:t>Dependence</a:t>
            </a:r>
            <a:r>
              <a:rPr lang="en-US" altLang="zh-CN" dirty="0"/>
              <a:t>” (in compiler nomenclature</a:t>
            </a:r>
            <a:r>
              <a:rPr lang="en-US" altLang="zh-CN" dirty="0" smtClean="0"/>
              <a:t>)</a:t>
            </a:r>
            <a:br>
              <a:rPr lang="en-US" altLang="zh-CN" dirty="0" smtClean="0"/>
            </a:br>
            <a:r>
              <a:rPr lang="en-US" altLang="zh-CN" dirty="0" smtClean="0">
                <a:solidFill>
                  <a:srgbClr val="FF0000"/>
                </a:solidFill>
              </a:rPr>
              <a:t>                       </a:t>
            </a:r>
            <a:r>
              <a:rPr lang="zh-CN" altLang="en-US" dirty="0" smtClean="0">
                <a:solidFill>
                  <a:srgbClr val="FF0000"/>
                </a:solidFill>
              </a:rPr>
              <a:t>依赖、相关</a:t>
            </a:r>
            <a:endParaRPr lang="en-US" altLang="zh-CN" dirty="0" smtClean="0">
              <a:solidFill>
                <a:srgbClr val="FF0000"/>
              </a:solidFill>
            </a:endParaRPr>
          </a:p>
          <a:p>
            <a:r>
              <a:rPr lang="en-US" altLang="zh-CN" dirty="0" smtClean="0"/>
              <a:t> </a:t>
            </a:r>
            <a:r>
              <a:rPr lang="en-US" altLang="zh-CN" dirty="0"/>
              <a:t>This hazard results from an actual need for </a:t>
            </a:r>
            <a:r>
              <a:rPr lang="en-US" altLang="zh-CN" dirty="0" smtClean="0"/>
              <a:t>data communication</a:t>
            </a:r>
            <a:endParaRPr lang="en-US" altLang="zh-CN" dirty="0"/>
          </a:p>
        </p:txBody>
      </p:sp>
      <p:sp>
        <p:nvSpPr>
          <p:cNvPr id="134147" name="Rectangle 3"/>
          <p:cNvSpPr>
            <a:spLocks noGrp="1" noChangeArrowheads="1"/>
          </p:cNvSpPr>
          <p:nvPr>
            <p:ph type="title"/>
          </p:nvPr>
        </p:nvSpPr>
        <p:spPr>
          <a:xfrm>
            <a:off x="839416" y="304800"/>
            <a:ext cx="8914184" cy="9906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Three Generic Data Hazards</a:t>
            </a:r>
          </a:p>
        </p:txBody>
      </p:sp>
      <p:sp>
        <p:nvSpPr>
          <p:cNvPr id="134148" name="Rectangle 4"/>
          <p:cNvSpPr>
            <a:spLocks noChangeArrowheads="1"/>
          </p:cNvSpPr>
          <p:nvPr/>
        </p:nvSpPr>
        <p:spPr bwMode="auto">
          <a:xfrm>
            <a:off x="4007768" y="2564904"/>
            <a:ext cx="3352800" cy="82843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1" hangingPunct="1"/>
            <a:r>
              <a:rPr lang="en-US" altLang="zh-CN" sz="2400" dirty="0">
                <a:latin typeface="Courier New" panose="02070309020205020404" pitchFamily="49" charset="0"/>
              </a:rPr>
              <a:t>I: add </a:t>
            </a:r>
            <a:r>
              <a:rPr lang="en-US" altLang="zh-CN" sz="2400" dirty="0">
                <a:solidFill>
                  <a:srgbClr val="FF0000"/>
                </a:solidFill>
                <a:latin typeface="Courier New" panose="02070309020205020404" pitchFamily="49" charset="0"/>
              </a:rPr>
              <a:t>r1</a:t>
            </a:r>
            <a:r>
              <a:rPr lang="en-US" altLang="zh-CN" sz="2400" dirty="0">
                <a:latin typeface="Courier New" panose="02070309020205020404" pitchFamily="49" charset="0"/>
              </a:rPr>
              <a:t>,r2,r3</a:t>
            </a:r>
          </a:p>
          <a:p>
            <a:pPr eaLnBrk="1" hangingPunct="1"/>
            <a:r>
              <a:rPr lang="en-US" altLang="zh-CN" sz="2400" dirty="0">
                <a:latin typeface="Courier New" panose="02070309020205020404" pitchFamily="49" charset="0"/>
              </a:rPr>
              <a:t>J: sub r4,</a:t>
            </a:r>
            <a:r>
              <a:rPr lang="en-US" altLang="zh-CN" sz="2400" dirty="0">
                <a:solidFill>
                  <a:srgbClr val="FF0000"/>
                </a:solidFill>
                <a:latin typeface="Courier New" panose="02070309020205020404" pitchFamily="49" charset="0"/>
              </a:rPr>
              <a:t>r1</a:t>
            </a:r>
            <a:r>
              <a:rPr lang="en-US" altLang="zh-CN" sz="2400" dirty="0">
                <a:latin typeface="Courier New" panose="02070309020205020404" pitchFamily="49" charset="0"/>
              </a:rPr>
              <a:t>,r3</a:t>
            </a:r>
          </a:p>
        </p:txBody>
      </p:sp>
      <p:sp>
        <p:nvSpPr>
          <p:cNvPr id="134149" name="Arc 5"/>
          <p:cNvSpPr>
            <a:spLocks/>
          </p:cNvSpPr>
          <p:nvPr/>
        </p:nvSpPr>
        <p:spPr bwMode="auto">
          <a:xfrm flipH="1" flipV="1">
            <a:off x="3431704" y="2708920"/>
            <a:ext cx="438944" cy="504056"/>
          </a:xfrm>
          <a:custGeom>
            <a:avLst/>
            <a:gdLst>
              <a:gd name="G0" fmla="+- 2932 0 0"/>
              <a:gd name="G1" fmla="+- 21600 0 0"/>
              <a:gd name="G2" fmla="+- 21600 0 0"/>
              <a:gd name="T0" fmla="*/ 0 w 24532"/>
              <a:gd name="T1" fmla="*/ 200 h 43200"/>
              <a:gd name="T2" fmla="*/ 870 w 24532"/>
              <a:gd name="T3" fmla="*/ 43101 h 43200"/>
              <a:gd name="T4" fmla="*/ 2932 w 24532"/>
              <a:gd name="T5" fmla="*/ 21600 h 43200"/>
            </a:gdLst>
            <a:ahLst/>
            <a:cxnLst>
              <a:cxn ang="0">
                <a:pos x="T0" y="T1"/>
              </a:cxn>
              <a:cxn ang="0">
                <a:pos x="T2" y="T3"/>
              </a:cxn>
              <a:cxn ang="0">
                <a:pos x="T4" y="T5"/>
              </a:cxn>
            </a:cxnLst>
            <a:rect l="0" t="0" r="r" b="b"/>
            <a:pathLst>
              <a:path w="24532" h="43200" fill="none"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path>
              <a:path w="24532" h="43200" stroke="0"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lnTo>
                  <a:pt x="2932" y="21600"/>
                </a:lnTo>
                <a:close/>
              </a:path>
            </a:pathLst>
          </a:custGeom>
          <a:noFill/>
          <a:ln w="28575">
            <a:solidFill>
              <a:schemeClr val="tx1"/>
            </a:solidFill>
            <a:round/>
            <a:headEnd type="triangle" w="med" len="me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50131088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4146">
                                            <p:txEl>
                                              <p:pRg st="0" end="0"/>
                                            </p:txEl>
                                          </p:spTgt>
                                        </p:tgtEl>
                                        <p:attrNameLst>
                                          <p:attrName>style.visibility</p:attrName>
                                        </p:attrNameLst>
                                      </p:cBhvr>
                                      <p:to>
                                        <p:strVal val="visible"/>
                                      </p:to>
                                    </p:set>
                                    <p:anim calcmode="lin" valueType="num">
                                      <p:cBhvr additive="base">
                                        <p:cTn id="7" dur="500" fill="hold"/>
                                        <p:tgtEl>
                                          <p:spTgt spid="134146">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414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4146">
                                            <p:txEl>
                                              <p:pRg st="1" end="1"/>
                                            </p:txEl>
                                          </p:spTgt>
                                        </p:tgtEl>
                                        <p:attrNameLst>
                                          <p:attrName>style.visibility</p:attrName>
                                        </p:attrNameLst>
                                      </p:cBhvr>
                                      <p:to>
                                        <p:strVal val="visible"/>
                                      </p:to>
                                    </p:set>
                                    <p:anim calcmode="lin" valueType="num">
                                      <p:cBhvr additive="base">
                                        <p:cTn id="13" dur="500" fill="hold"/>
                                        <p:tgtEl>
                                          <p:spTgt spid="134146">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4146">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2"/>
          <p:cNvSpPr>
            <a:spLocks noGrp="1" noChangeArrowheads="1"/>
          </p:cNvSpPr>
          <p:nvPr>
            <p:ph type="body" idx="1"/>
          </p:nvPr>
        </p:nvSpPr>
        <p:spPr>
          <a:xfrm>
            <a:off x="551384" y="1524000"/>
            <a:ext cx="11017224" cy="4876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solidFill>
                  <a:srgbClr val="FF0000"/>
                </a:solidFill>
              </a:rPr>
              <a:t>Write After Read (WAR) </a:t>
            </a:r>
            <a:r>
              <a:rPr lang="en-US" altLang="zh-CN" dirty="0"/>
              <a:t/>
            </a:r>
            <a:br>
              <a:rPr lang="en-US" altLang="zh-CN" dirty="0"/>
            </a:br>
            <a:r>
              <a:rPr lang="en-US" altLang="zh-CN" dirty="0" err="1"/>
              <a:t>Instr</a:t>
            </a:r>
            <a:r>
              <a:rPr lang="en-US" altLang="zh-CN" baseline="-25000" dirty="0" err="1"/>
              <a:t>J</a:t>
            </a:r>
            <a:r>
              <a:rPr lang="en-US" altLang="zh-CN" dirty="0"/>
              <a:t> writes operand </a:t>
            </a:r>
            <a:r>
              <a:rPr lang="en-US" altLang="zh-CN" i="1" u="sng" dirty="0">
                <a:solidFill>
                  <a:srgbClr val="FF0000"/>
                </a:solidFill>
              </a:rPr>
              <a:t>before</a:t>
            </a:r>
            <a:r>
              <a:rPr lang="en-US" altLang="zh-CN" dirty="0"/>
              <a:t> </a:t>
            </a:r>
            <a:r>
              <a:rPr lang="en-US" altLang="zh-CN" dirty="0" err="1"/>
              <a:t>Instr</a:t>
            </a:r>
            <a:r>
              <a:rPr lang="en-US" altLang="zh-CN" baseline="-25000" dirty="0" err="1"/>
              <a:t>I</a:t>
            </a:r>
            <a:r>
              <a:rPr lang="en-US" altLang="zh-CN" baseline="-25000" dirty="0"/>
              <a:t> </a:t>
            </a:r>
            <a:r>
              <a:rPr lang="en-US" altLang="zh-CN" dirty="0"/>
              <a:t>reads it</a:t>
            </a:r>
            <a:br>
              <a:rPr lang="en-US" altLang="zh-CN" dirty="0"/>
            </a:br>
            <a:r>
              <a:rPr lang="en-US" altLang="zh-CN" dirty="0"/>
              <a:t/>
            </a:r>
            <a:br>
              <a:rPr lang="en-US" altLang="zh-CN" dirty="0"/>
            </a:br>
            <a:endParaRPr lang="en-US" altLang="zh-CN" dirty="0"/>
          </a:p>
          <a:p>
            <a:endParaRPr lang="en-US" altLang="zh-CN" dirty="0"/>
          </a:p>
          <a:p>
            <a:r>
              <a:rPr lang="en-US" altLang="zh-CN" dirty="0"/>
              <a:t>Called an “</a:t>
            </a:r>
            <a:r>
              <a:rPr lang="en-US" altLang="zh-CN" dirty="0">
                <a:solidFill>
                  <a:srgbClr val="FF0000"/>
                </a:solidFill>
              </a:rPr>
              <a:t>anti-dependence</a:t>
            </a:r>
            <a:r>
              <a:rPr lang="en-US" altLang="zh-CN" dirty="0"/>
              <a:t>” by compiler </a:t>
            </a:r>
            <a:r>
              <a:rPr lang="en-US" altLang="zh-CN" dirty="0" smtClean="0"/>
              <a:t>writers</a:t>
            </a:r>
            <a:r>
              <a:rPr lang="zh-CN" altLang="en-US" dirty="0" smtClean="0"/>
              <a:t>，</a:t>
            </a:r>
            <a:r>
              <a:rPr lang="zh-CN" altLang="en-US" dirty="0" smtClean="0">
                <a:solidFill>
                  <a:srgbClr val="FF0000"/>
                </a:solidFill>
              </a:rPr>
              <a:t>反依赖</a:t>
            </a:r>
            <a:r>
              <a:rPr lang="en-US" altLang="zh-CN" dirty="0"/>
              <a:t/>
            </a:r>
            <a:br>
              <a:rPr lang="en-US" altLang="zh-CN" dirty="0"/>
            </a:br>
            <a:r>
              <a:rPr lang="en-US" altLang="zh-CN" dirty="0"/>
              <a:t>This results from reuse of the name “</a:t>
            </a:r>
            <a:r>
              <a:rPr lang="en-US" altLang="zh-CN" dirty="0">
                <a:solidFill>
                  <a:srgbClr val="FF0000"/>
                </a:solidFill>
                <a:latin typeface="Courier New" panose="02070309020205020404" pitchFamily="49" charset="0"/>
                <a:cs typeface="Courier New" panose="02070309020205020404" pitchFamily="49" charset="0"/>
              </a:rPr>
              <a:t>r1</a:t>
            </a:r>
            <a:r>
              <a:rPr lang="en-US" altLang="zh-CN" dirty="0"/>
              <a:t>”.</a:t>
            </a:r>
          </a:p>
          <a:p>
            <a:r>
              <a:rPr lang="en-US" altLang="zh-CN" dirty="0"/>
              <a:t>Can’t happen in MIPS 5 stage pipeline because:</a:t>
            </a:r>
          </a:p>
          <a:p>
            <a:pPr lvl="1">
              <a:spcBef>
                <a:spcPct val="0"/>
              </a:spcBef>
            </a:pPr>
            <a:r>
              <a:rPr lang="en-US" altLang="zh-CN" dirty="0"/>
              <a:t> All instructions take 5 stages, and</a:t>
            </a:r>
          </a:p>
          <a:p>
            <a:pPr lvl="1">
              <a:spcBef>
                <a:spcPct val="0"/>
              </a:spcBef>
            </a:pPr>
            <a:r>
              <a:rPr lang="en-US" altLang="zh-CN" dirty="0"/>
              <a:t> Reads are always in stage 2, and </a:t>
            </a:r>
          </a:p>
          <a:p>
            <a:pPr lvl="1">
              <a:spcBef>
                <a:spcPct val="0"/>
              </a:spcBef>
            </a:pPr>
            <a:r>
              <a:rPr lang="en-US" altLang="zh-CN" dirty="0"/>
              <a:t> Writes are always in stage 5</a:t>
            </a:r>
            <a:endParaRPr lang="en-US" altLang="zh-CN" sz="3200" dirty="0"/>
          </a:p>
        </p:txBody>
      </p:sp>
      <p:grpSp>
        <p:nvGrpSpPr>
          <p:cNvPr id="135171" name="Group 3"/>
          <p:cNvGrpSpPr>
            <a:grpSpLocks/>
          </p:cNvGrpSpPr>
          <p:nvPr/>
        </p:nvGrpSpPr>
        <p:grpSpPr bwMode="auto">
          <a:xfrm>
            <a:off x="3657600" y="2590801"/>
            <a:ext cx="3810000" cy="1196975"/>
            <a:chOff x="1344" y="1488"/>
            <a:chExt cx="2400" cy="754"/>
          </a:xfrm>
        </p:grpSpPr>
        <p:sp>
          <p:nvSpPr>
            <p:cNvPr id="135172" name="Rectangle 4"/>
            <p:cNvSpPr>
              <a:spLocks noChangeArrowheads="1"/>
            </p:cNvSpPr>
            <p:nvPr/>
          </p:nvSpPr>
          <p:spPr bwMode="auto">
            <a:xfrm>
              <a:off x="1632" y="1488"/>
              <a:ext cx="2112" cy="754"/>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1" hangingPunct="1"/>
              <a:r>
                <a:rPr lang="en-US" altLang="zh-CN" sz="2400" dirty="0">
                  <a:latin typeface="Courier New" panose="02070309020205020404" pitchFamily="49" charset="0"/>
                </a:rPr>
                <a:t>I: sub r4,</a:t>
              </a:r>
              <a:r>
                <a:rPr lang="en-US" altLang="zh-CN" sz="2400" dirty="0">
                  <a:solidFill>
                    <a:srgbClr val="FF0000"/>
                  </a:solidFill>
                  <a:latin typeface="Courier New" panose="02070309020205020404" pitchFamily="49" charset="0"/>
                </a:rPr>
                <a:t>r1</a:t>
              </a:r>
              <a:r>
                <a:rPr lang="en-US" altLang="zh-CN" sz="2400" dirty="0">
                  <a:latin typeface="Courier New" panose="02070309020205020404" pitchFamily="49" charset="0"/>
                </a:rPr>
                <a:t>,r3 </a:t>
              </a:r>
            </a:p>
            <a:p>
              <a:pPr eaLnBrk="1" hangingPunct="1"/>
              <a:r>
                <a:rPr lang="en-US" altLang="zh-CN" sz="2400" dirty="0">
                  <a:latin typeface="Courier New" panose="02070309020205020404" pitchFamily="49" charset="0"/>
                </a:rPr>
                <a:t>J: add </a:t>
              </a:r>
              <a:r>
                <a:rPr lang="en-US" altLang="zh-CN" sz="2400" dirty="0">
                  <a:solidFill>
                    <a:srgbClr val="FF0000"/>
                  </a:solidFill>
                  <a:latin typeface="Courier New" panose="02070309020205020404" pitchFamily="49" charset="0"/>
                </a:rPr>
                <a:t>r1</a:t>
              </a:r>
              <a:r>
                <a:rPr lang="en-US" altLang="zh-CN" sz="2400" dirty="0">
                  <a:latin typeface="Courier New" panose="02070309020205020404" pitchFamily="49" charset="0"/>
                </a:rPr>
                <a:t>,r2,r3</a:t>
              </a:r>
            </a:p>
            <a:p>
              <a:pPr eaLnBrk="1" hangingPunct="1"/>
              <a:r>
                <a:rPr lang="en-US" altLang="zh-CN" sz="2400" dirty="0">
                  <a:latin typeface="Courier New" panose="02070309020205020404" pitchFamily="49" charset="0"/>
                </a:rPr>
                <a:t>K: </a:t>
              </a:r>
              <a:r>
                <a:rPr lang="en-US" altLang="zh-CN" sz="2400" dirty="0" err="1">
                  <a:latin typeface="Courier New" panose="02070309020205020404" pitchFamily="49" charset="0"/>
                </a:rPr>
                <a:t>mul</a:t>
              </a:r>
              <a:r>
                <a:rPr lang="en-US" altLang="zh-CN" sz="2400" dirty="0">
                  <a:latin typeface="Courier New" panose="02070309020205020404" pitchFamily="49" charset="0"/>
                </a:rPr>
                <a:t> r6,r1,r7</a:t>
              </a:r>
            </a:p>
          </p:txBody>
        </p:sp>
        <p:sp>
          <p:nvSpPr>
            <p:cNvPr id="135173" name="Arc 5"/>
            <p:cNvSpPr>
              <a:spLocks/>
            </p:cNvSpPr>
            <p:nvPr/>
          </p:nvSpPr>
          <p:spPr bwMode="auto">
            <a:xfrm flipH="1" flipV="1">
              <a:off x="1344" y="1584"/>
              <a:ext cx="295" cy="288"/>
            </a:xfrm>
            <a:custGeom>
              <a:avLst/>
              <a:gdLst>
                <a:gd name="G0" fmla="+- 2932 0 0"/>
                <a:gd name="G1" fmla="+- 21600 0 0"/>
                <a:gd name="G2" fmla="+- 21600 0 0"/>
                <a:gd name="T0" fmla="*/ 0 w 24532"/>
                <a:gd name="T1" fmla="*/ 200 h 43200"/>
                <a:gd name="T2" fmla="*/ 870 w 24532"/>
                <a:gd name="T3" fmla="*/ 43101 h 43200"/>
                <a:gd name="T4" fmla="*/ 2932 w 24532"/>
                <a:gd name="T5" fmla="*/ 21600 h 43200"/>
              </a:gdLst>
              <a:ahLst/>
              <a:cxnLst>
                <a:cxn ang="0">
                  <a:pos x="T0" y="T1"/>
                </a:cxn>
                <a:cxn ang="0">
                  <a:pos x="T2" y="T3"/>
                </a:cxn>
                <a:cxn ang="0">
                  <a:pos x="T4" y="T5"/>
                </a:cxn>
              </a:cxnLst>
              <a:rect l="0" t="0" r="r" b="b"/>
              <a:pathLst>
                <a:path w="24532" h="43200" fill="none"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path>
                <a:path w="24532" h="43200" stroke="0"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lnTo>
                    <a:pt x="2932" y="21600"/>
                  </a:lnTo>
                  <a:close/>
                </a:path>
              </a:pathLst>
            </a:custGeom>
            <a:noFill/>
            <a:ln w="28575">
              <a:solidFill>
                <a:schemeClr val="tx1"/>
              </a:solidFill>
              <a:round/>
              <a:headEn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5174" name="Rectangle 6"/>
          <p:cNvSpPr>
            <a:spLocks noGrp="1" noChangeArrowheads="1"/>
          </p:cNvSpPr>
          <p:nvPr>
            <p:ph type="title"/>
          </p:nvPr>
        </p:nvSpPr>
        <p:spPr>
          <a:xfrm>
            <a:off x="983432" y="228600"/>
            <a:ext cx="8693968" cy="9144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Three Generic Data Hazards</a:t>
            </a:r>
          </a:p>
        </p:txBody>
      </p:sp>
    </p:spTree>
    <p:extLst>
      <p:ext uri="{BB962C8B-B14F-4D97-AF65-F5344CB8AC3E}">
        <p14:creationId xmlns:p14="http://schemas.microsoft.com/office/powerpoint/2010/main" val="17889562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5170">
                                            <p:txEl>
                                              <p:pRg st="0" end="0"/>
                                            </p:txEl>
                                          </p:spTgt>
                                        </p:tgtEl>
                                        <p:attrNameLst>
                                          <p:attrName>style.visibility</p:attrName>
                                        </p:attrNameLst>
                                      </p:cBhvr>
                                      <p:to>
                                        <p:strVal val="visible"/>
                                      </p:to>
                                    </p:set>
                                    <p:anim calcmode="lin" valueType="num">
                                      <p:cBhvr additive="base">
                                        <p:cTn id="7" dur="500" fill="hold"/>
                                        <p:tgtEl>
                                          <p:spTgt spid="13517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51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5170">
                                            <p:txEl>
                                              <p:pRg st="2" end="2"/>
                                            </p:txEl>
                                          </p:spTgt>
                                        </p:tgtEl>
                                        <p:attrNameLst>
                                          <p:attrName>style.visibility</p:attrName>
                                        </p:attrNameLst>
                                      </p:cBhvr>
                                      <p:to>
                                        <p:strVal val="visible"/>
                                      </p:to>
                                    </p:set>
                                    <p:anim calcmode="lin" valueType="num">
                                      <p:cBhvr additive="base">
                                        <p:cTn id="13" dur="500" fill="hold"/>
                                        <p:tgtEl>
                                          <p:spTgt spid="135170">
                                            <p:txEl>
                                              <p:pRg st="2" end="2"/>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517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35170">
                                            <p:txEl>
                                              <p:pRg st="3" end="3"/>
                                            </p:txEl>
                                          </p:spTgt>
                                        </p:tgtEl>
                                        <p:attrNameLst>
                                          <p:attrName>style.visibility</p:attrName>
                                        </p:attrNameLst>
                                      </p:cBhvr>
                                      <p:to>
                                        <p:strVal val="visible"/>
                                      </p:to>
                                    </p:set>
                                    <p:anim calcmode="lin" valueType="num">
                                      <p:cBhvr additive="base">
                                        <p:cTn id="19" dur="500" fill="hold"/>
                                        <p:tgtEl>
                                          <p:spTgt spid="135170">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5170">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35170">
                                            <p:txEl>
                                              <p:pRg st="4" end="4"/>
                                            </p:txEl>
                                          </p:spTgt>
                                        </p:tgtEl>
                                        <p:attrNameLst>
                                          <p:attrName>style.visibility</p:attrName>
                                        </p:attrNameLst>
                                      </p:cBhvr>
                                      <p:to>
                                        <p:strVal val="visible"/>
                                      </p:to>
                                    </p:set>
                                    <p:anim calcmode="lin" valueType="num">
                                      <p:cBhvr additive="base">
                                        <p:cTn id="23" dur="500" fill="hold"/>
                                        <p:tgtEl>
                                          <p:spTgt spid="135170">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35170">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35170">
                                            <p:txEl>
                                              <p:pRg st="5" end="5"/>
                                            </p:txEl>
                                          </p:spTgt>
                                        </p:tgtEl>
                                        <p:attrNameLst>
                                          <p:attrName>style.visibility</p:attrName>
                                        </p:attrNameLst>
                                      </p:cBhvr>
                                      <p:to>
                                        <p:strVal val="visible"/>
                                      </p:to>
                                    </p:set>
                                    <p:anim calcmode="lin" valueType="num">
                                      <p:cBhvr additive="base">
                                        <p:cTn id="27" dur="500" fill="hold"/>
                                        <p:tgtEl>
                                          <p:spTgt spid="135170">
                                            <p:txEl>
                                              <p:pRg st="5" end="5"/>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35170">
                                            <p:txEl>
                                              <p:pRg st="5" end="5"/>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135170">
                                            <p:txEl>
                                              <p:pRg st="6" end="6"/>
                                            </p:txEl>
                                          </p:spTgt>
                                        </p:tgtEl>
                                        <p:attrNameLst>
                                          <p:attrName>style.visibility</p:attrName>
                                        </p:attrNameLst>
                                      </p:cBhvr>
                                      <p:to>
                                        <p:strVal val="visible"/>
                                      </p:to>
                                    </p:set>
                                    <p:anim calcmode="lin" valueType="num">
                                      <p:cBhvr additive="base">
                                        <p:cTn id="31" dur="500" fill="hold"/>
                                        <p:tgtEl>
                                          <p:spTgt spid="135170">
                                            <p:txEl>
                                              <p:pRg st="6" end="6"/>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135170">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build="p"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1343472" y="228600"/>
            <a:ext cx="8333928" cy="11430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Three Generic Data Hazards</a:t>
            </a:r>
          </a:p>
        </p:txBody>
      </p:sp>
      <p:sp>
        <p:nvSpPr>
          <p:cNvPr id="136195" name="Rectangle 3"/>
          <p:cNvSpPr>
            <a:spLocks noGrp="1" noChangeArrowheads="1"/>
          </p:cNvSpPr>
          <p:nvPr>
            <p:ph type="body" idx="1"/>
          </p:nvPr>
        </p:nvSpPr>
        <p:spPr>
          <a:xfrm>
            <a:off x="1199456" y="1124744"/>
            <a:ext cx="10009112" cy="3980656"/>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endParaRPr lang="en-US" altLang="zh-CN" sz="2400" dirty="0"/>
          </a:p>
          <a:p>
            <a:r>
              <a:rPr lang="en-US" altLang="zh-CN" dirty="0">
                <a:solidFill>
                  <a:srgbClr val="FF0000"/>
                </a:solidFill>
              </a:rPr>
              <a:t>Write After Write (WAW) </a:t>
            </a:r>
            <a:r>
              <a:rPr lang="en-US" altLang="zh-CN" dirty="0"/>
              <a:t/>
            </a:r>
            <a:br>
              <a:rPr lang="en-US" altLang="zh-CN" dirty="0"/>
            </a:br>
            <a:r>
              <a:rPr lang="en-US" altLang="zh-CN" dirty="0" err="1"/>
              <a:t>Instr</a:t>
            </a:r>
            <a:r>
              <a:rPr lang="en-US" altLang="zh-CN" baseline="-25000" dirty="0" err="1"/>
              <a:t>J</a:t>
            </a:r>
            <a:r>
              <a:rPr lang="en-US" altLang="zh-CN" dirty="0"/>
              <a:t> writes operand </a:t>
            </a:r>
            <a:r>
              <a:rPr lang="en-US" altLang="zh-CN" i="1" u="sng" dirty="0">
                <a:solidFill>
                  <a:srgbClr val="FF0000"/>
                </a:solidFill>
              </a:rPr>
              <a:t>before</a:t>
            </a:r>
            <a:r>
              <a:rPr lang="en-US" altLang="zh-CN" dirty="0"/>
              <a:t> </a:t>
            </a:r>
            <a:r>
              <a:rPr lang="en-US" altLang="zh-CN" dirty="0" err="1"/>
              <a:t>Instr</a:t>
            </a:r>
            <a:r>
              <a:rPr lang="en-US" altLang="zh-CN" baseline="-25000" dirty="0" err="1"/>
              <a:t>I</a:t>
            </a:r>
            <a:r>
              <a:rPr lang="en-US" altLang="zh-CN" baseline="-25000" dirty="0"/>
              <a:t> </a:t>
            </a:r>
            <a:r>
              <a:rPr lang="en-US" altLang="zh-CN" dirty="0"/>
              <a:t>writes it.</a:t>
            </a:r>
            <a:br>
              <a:rPr lang="en-US" altLang="zh-CN" dirty="0"/>
            </a:br>
            <a:r>
              <a:rPr lang="en-US" altLang="zh-CN" dirty="0"/>
              <a:t/>
            </a:r>
            <a:br>
              <a:rPr lang="en-US" altLang="zh-CN" dirty="0"/>
            </a:br>
            <a:endParaRPr lang="en-US" altLang="zh-CN" dirty="0"/>
          </a:p>
          <a:p>
            <a:pPr>
              <a:spcBef>
                <a:spcPct val="40000"/>
              </a:spcBef>
            </a:pPr>
            <a:endParaRPr lang="en-US" altLang="zh-CN" dirty="0" smtClean="0"/>
          </a:p>
          <a:p>
            <a:pPr>
              <a:spcBef>
                <a:spcPct val="40000"/>
              </a:spcBef>
            </a:pPr>
            <a:r>
              <a:rPr lang="en-US" altLang="zh-CN" dirty="0" smtClean="0"/>
              <a:t>Called </a:t>
            </a:r>
            <a:r>
              <a:rPr lang="en-US" altLang="zh-CN" dirty="0"/>
              <a:t>an “</a:t>
            </a:r>
            <a:r>
              <a:rPr lang="en-US" altLang="zh-CN" dirty="0">
                <a:solidFill>
                  <a:srgbClr val="FF0000"/>
                </a:solidFill>
              </a:rPr>
              <a:t>output dependence</a:t>
            </a:r>
            <a:r>
              <a:rPr lang="en-US" altLang="zh-CN" dirty="0"/>
              <a:t>” by compiler writers</a:t>
            </a:r>
            <a:br>
              <a:rPr lang="en-US" altLang="zh-CN" dirty="0"/>
            </a:br>
            <a:r>
              <a:rPr lang="en-US" altLang="zh-CN" dirty="0"/>
              <a:t>This also results from the reuse of name “</a:t>
            </a:r>
            <a:r>
              <a:rPr lang="en-US" altLang="zh-CN" dirty="0">
                <a:solidFill>
                  <a:srgbClr val="FF0000"/>
                </a:solidFill>
                <a:latin typeface="Courier New" panose="02070309020205020404" pitchFamily="49" charset="0"/>
                <a:cs typeface="Courier New" panose="02070309020205020404" pitchFamily="49" charset="0"/>
              </a:rPr>
              <a:t>r1</a:t>
            </a:r>
            <a:r>
              <a:rPr lang="en-US" altLang="zh-CN" dirty="0"/>
              <a:t>”.</a:t>
            </a:r>
          </a:p>
          <a:p>
            <a:r>
              <a:rPr lang="en-US" altLang="zh-CN" dirty="0"/>
              <a:t>Can’t happen in MIPS 5 stage pipeline because: </a:t>
            </a:r>
          </a:p>
          <a:p>
            <a:pPr lvl="1">
              <a:spcBef>
                <a:spcPct val="0"/>
              </a:spcBef>
            </a:pPr>
            <a:r>
              <a:rPr lang="en-US" altLang="zh-CN" sz="3200" dirty="0"/>
              <a:t> </a:t>
            </a:r>
            <a:r>
              <a:rPr lang="en-US" altLang="zh-CN" dirty="0"/>
              <a:t>All instructions take 5 stages, and </a:t>
            </a:r>
          </a:p>
          <a:p>
            <a:pPr lvl="1">
              <a:spcBef>
                <a:spcPct val="0"/>
              </a:spcBef>
            </a:pPr>
            <a:r>
              <a:rPr lang="en-US" altLang="zh-CN" dirty="0"/>
              <a:t> Writes are always in stage 5</a:t>
            </a:r>
          </a:p>
          <a:p>
            <a:r>
              <a:rPr lang="en-US" altLang="zh-CN" dirty="0"/>
              <a:t>Will see WAR and WAW in later more complicated pipes</a:t>
            </a:r>
          </a:p>
        </p:txBody>
      </p:sp>
      <p:grpSp>
        <p:nvGrpSpPr>
          <p:cNvPr id="136196" name="Group 4"/>
          <p:cNvGrpSpPr>
            <a:grpSpLocks/>
          </p:cNvGrpSpPr>
          <p:nvPr/>
        </p:nvGrpSpPr>
        <p:grpSpPr bwMode="auto">
          <a:xfrm>
            <a:off x="3657600" y="2636912"/>
            <a:ext cx="3810000" cy="1196975"/>
            <a:chOff x="1296" y="1680"/>
            <a:chExt cx="2400" cy="754"/>
          </a:xfrm>
        </p:grpSpPr>
        <p:sp>
          <p:nvSpPr>
            <p:cNvPr id="136197" name="Rectangle 5"/>
            <p:cNvSpPr>
              <a:spLocks noChangeArrowheads="1"/>
            </p:cNvSpPr>
            <p:nvPr/>
          </p:nvSpPr>
          <p:spPr bwMode="auto">
            <a:xfrm>
              <a:off x="1584" y="1680"/>
              <a:ext cx="2112" cy="754"/>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1" hangingPunct="1"/>
              <a:r>
                <a:rPr lang="en-US" altLang="zh-CN" sz="2400" dirty="0">
                  <a:latin typeface="Courier New" panose="02070309020205020404" pitchFamily="49" charset="0"/>
                </a:rPr>
                <a:t>I: sub </a:t>
              </a:r>
              <a:r>
                <a:rPr lang="en-US" altLang="zh-CN" sz="2400" dirty="0">
                  <a:solidFill>
                    <a:srgbClr val="FF0000"/>
                  </a:solidFill>
                  <a:latin typeface="Courier New" panose="02070309020205020404" pitchFamily="49" charset="0"/>
                </a:rPr>
                <a:t>r1</a:t>
              </a:r>
              <a:r>
                <a:rPr lang="en-US" altLang="zh-CN" sz="2400" dirty="0">
                  <a:latin typeface="Courier New" panose="02070309020205020404" pitchFamily="49" charset="0"/>
                </a:rPr>
                <a:t>,r4,r3 </a:t>
              </a:r>
            </a:p>
            <a:p>
              <a:pPr eaLnBrk="1" hangingPunct="1"/>
              <a:r>
                <a:rPr lang="en-US" altLang="zh-CN" sz="2400" dirty="0">
                  <a:latin typeface="Courier New" panose="02070309020205020404" pitchFamily="49" charset="0"/>
                </a:rPr>
                <a:t>J: add </a:t>
              </a:r>
              <a:r>
                <a:rPr lang="en-US" altLang="zh-CN" sz="2400" dirty="0">
                  <a:solidFill>
                    <a:srgbClr val="FF0000"/>
                  </a:solidFill>
                  <a:latin typeface="Courier New" panose="02070309020205020404" pitchFamily="49" charset="0"/>
                </a:rPr>
                <a:t>r1</a:t>
              </a:r>
              <a:r>
                <a:rPr lang="en-US" altLang="zh-CN" sz="2400" dirty="0">
                  <a:latin typeface="Courier New" panose="02070309020205020404" pitchFamily="49" charset="0"/>
                </a:rPr>
                <a:t>,r2,r3</a:t>
              </a:r>
            </a:p>
            <a:p>
              <a:pPr eaLnBrk="1" hangingPunct="1"/>
              <a:r>
                <a:rPr lang="en-US" altLang="zh-CN" sz="2400" dirty="0">
                  <a:latin typeface="Courier New" panose="02070309020205020404" pitchFamily="49" charset="0"/>
                </a:rPr>
                <a:t>K: </a:t>
              </a:r>
              <a:r>
                <a:rPr lang="en-US" altLang="zh-CN" sz="2400" dirty="0" err="1">
                  <a:latin typeface="Courier New" panose="02070309020205020404" pitchFamily="49" charset="0"/>
                </a:rPr>
                <a:t>mul</a:t>
              </a:r>
              <a:r>
                <a:rPr lang="en-US" altLang="zh-CN" sz="2400" dirty="0">
                  <a:latin typeface="Courier New" panose="02070309020205020404" pitchFamily="49" charset="0"/>
                </a:rPr>
                <a:t> r6,r1,r7</a:t>
              </a:r>
            </a:p>
          </p:txBody>
        </p:sp>
        <p:sp>
          <p:nvSpPr>
            <p:cNvPr id="136198" name="Arc 6"/>
            <p:cNvSpPr>
              <a:spLocks/>
            </p:cNvSpPr>
            <p:nvPr/>
          </p:nvSpPr>
          <p:spPr bwMode="auto">
            <a:xfrm flipH="1" flipV="1">
              <a:off x="1296" y="1776"/>
              <a:ext cx="295" cy="288"/>
            </a:xfrm>
            <a:custGeom>
              <a:avLst/>
              <a:gdLst>
                <a:gd name="G0" fmla="+- 2932 0 0"/>
                <a:gd name="G1" fmla="+- 21600 0 0"/>
                <a:gd name="G2" fmla="+- 21600 0 0"/>
                <a:gd name="T0" fmla="*/ 0 w 24532"/>
                <a:gd name="T1" fmla="*/ 200 h 43200"/>
                <a:gd name="T2" fmla="*/ 870 w 24532"/>
                <a:gd name="T3" fmla="*/ 43101 h 43200"/>
                <a:gd name="T4" fmla="*/ 2932 w 24532"/>
                <a:gd name="T5" fmla="*/ 21600 h 43200"/>
              </a:gdLst>
              <a:ahLst/>
              <a:cxnLst>
                <a:cxn ang="0">
                  <a:pos x="T0" y="T1"/>
                </a:cxn>
                <a:cxn ang="0">
                  <a:pos x="T2" y="T3"/>
                </a:cxn>
                <a:cxn ang="0">
                  <a:pos x="T4" y="T5"/>
                </a:cxn>
              </a:cxnLst>
              <a:rect l="0" t="0" r="r" b="b"/>
              <a:pathLst>
                <a:path w="24532" h="43200" fill="none"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path>
                <a:path w="24532" h="43200" stroke="0" extrusionOk="0">
                  <a:moveTo>
                    <a:pt x="-1" y="199"/>
                  </a:moveTo>
                  <a:cubicBezTo>
                    <a:pt x="971" y="66"/>
                    <a:pt x="1951" y="0"/>
                    <a:pt x="2932" y="0"/>
                  </a:cubicBezTo>
                  <a:cubicBezTo>
                    <a:pt x="14861" y="0"/>
                    <a:pt x="24532" y="9670"/>
                    <a:pt x="24532" y="21600"/>
                  </a:cubicBezTo>
                  <a:cubicBezTo>
                    <a:pt x="24532" y="33529"/>
                    <a:pt x="14861" y="43200"/>
                    <a:pt x="2932" y="43200"/>
                  </a:cubicBezTo>
                  <a:cubicBezTo>
                    <a:pt x="2243" y="43199"/>
                    <a:pt x="1555" y="43167"/>
                    <a:pt x="869" y="43101"/>
                  </a:cubicBezTo>
                  <a:lnTo>
                    <a:pt x="2932" y="21600"/>
                  </a:lnTo>
                  <a:close/>
                </a:path>
              </a:pathLst>
            </a:custGeom>
            <a:noFill/>
            <a:ln w="28575">
              <a:solidFill>
                <a:schemeClr val="tx1"/>
              </a:solidFill>
              <a:round/>
              <a:headEnd type="triangl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31149687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36195">
                                            <p:txEl>
                                              <p:pRg st="1" end="1"/>
                                            </p:txEl>
                                          </p:spTgt>
                                        </p:tgtEl>
                                        <p:attrNameLst>
                                          <p:attrName>style.visibility</p:attrName>
                                        </p:attrNameLst>
                                      </p:cBhvr>
                                      <p:to>
                                        <p:strVal val="visible"/>
                                      </p:to>
                                    </p:set>
                                    <p:anim calcmode="lin" valueType="num">
                                      <p:cBhvr additive="base">
                                        <p:cTn id="7" dur="500" fill="hold"/>
                                        <p:tgtEl>
                                          <p:spTgt spid="136195">
                                            <p:txEl>
                                              <p:pRg st="1" end="1"/>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13619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36195">
                                            <p:txEl>
                                              <p:pRg st="3" end="3"/>
                                            </p:txEl>
                                          </p:spTgt>
                                        </p:tgtEl>
                                        <p:attrNameLst>
                                          <p:attrName>style.visibility</p:attrName>
                                        </p:attrNameLst>
                                      </p:cBhvr>
                                      <p:to>
                                        <p:strVal val="visible"/>
                                      </p:to>
                                    </p:set>
                                    <p:anim calcmode="lin" valueType="num">
                                      <p:cBhvr additive="base">
                                        <p:cTn id="13" dur="500" fill="hold"/>
                                        <p:tgtEl>
                                          <p:spTgt spid="136195">
                                            <p:txEl>
                                              <p:pRg st="3" end="3"/>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13619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136195">
                                            <p:txEl>
                                              <p:pRg st="4" end="4"/>
                                            </p:txEl>
                                          </p:spTgt>
                                        </p:tgtEl>
                                        <p:attrNameLst>
                                          <p:attrName>style.visibility</p:attrName>
                                        </p:attrNameLst>
                                      </p:cBhvr>
                                      <p:to>
                                        <p:strVal val="visible"/>
                                      </p:to>
                                    </p:set>
                                    <p:anim calcmode="lin" valueType="num">
                                      <p:cBhvr additive="base">
                                        <p:cTn id="19" dur="500" fill="hold"/>
                                        <p:tgtEl>
                                          <p:spTgt spid="136195">
                                            <p:txEl>
                                              <p:pRg st="4" end="4"/>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136195">
                                            <p:txEl>
                                              <p:pRg st="4" end="4"/>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36195">
                                            <p:txEl>
                                              <p:pRg st="5" end="5"/>
                                            </p:txEl>
                                          </p:spTgt>
                                        </p:tgtEl>
                                        <p:attrNameLst>
                                          <p:attrName>style.visibility</p:attrName>
                                        </p:attrNameLst>
                                      </p:cBhvr>
                                      <p:to>
                                        <p:strVal val="visible"/>
                                      </p:to>
                                    </p:set>
                                    <p:anim calcmode="lin" valueType="num">
                                      <p:cBhvr additive="base">
                                        <p:cTn id="23" dur="500" fill="hold"/>
                                        <p:tgtEl>
                                          <p:spTgt spid="136195">
                                            <p:txEl>
                                              <p:pRg st="5" end="5"/>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136195">
                                            <p:txEl>
                                              <p:pRg st="5" end="5"/>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136195">
                                            <p:txEl>
                                              <p:pRg st="6" end="6"/>
                                            </p:txEl>
                                          </p:spTgt>
                                        </p:tgtEl>
                                        <p:attrNameLst>
                                          <p:attrName>style.visibility</p:attrName>
                                        </p:attrNameLst>
                                      </p:cBhvr>
                                      <p:to>
                                        <p:strVal val="visible"/>
                                      </p:to>
                                    </p:set>
                                    <p:anim calcmode="lin" valueType="num">
                                      <p:cBhvr additive="base">
                                        <p:cTn id="27" dur="500" fill="hold"/>
                                        <p:tgtEl>
                                          <p:spTgt spid="136195">
                                            <p:txEl>
                                              <p:pRg st="6" end="6"/>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136195">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136195">
                                            <p:txEl>
                                              <p:pRg st="7" end="7"/>
                                            </p:txEl>
                                          </p:spTgt>
                                        </p:tgtEl>
                                        <p:attrNameLst>
                                          <p:attrName>style.visibility</p:attrName>
                                        </p:attrNameLst>
                                      </p:cBhvr>
                                      <p:to>
                                        <p:strVal val="visible"/>
                                      </p:to>
                                    </p:set>
                                    <p:anim calcmode="lin" valueType="num">
                                      <p:cBhvr additive="base">
                                        <p:cTn id="33" dur="500" fill="hold"/>
                                        <p:tgtEl>
                                          <p:spTgt spid="136195">
                                            <p:txEl>
                                              <p:pRg st="7" end="7"/>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13619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5"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Line 2"/>
          <p:cNvSpPr>
            <a:spLocks noChangeShapeType="1"/>
          </p:cNvSpPr>
          <p:nvPr/>
        </p:nvSpPr>
        <p:spPr bwMode="auto">
          <a:xfrm flipV="1">
            <a:off x="2879104" y="2392648"/>
            <a:ext cx="3969135" cy="3161"/>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19" name="Rectangle 3"/>
          <p:cNvSpPr>
            <a:spLocks noChangeArrowheads="1"/>
          </p:cNvSpPr>
          <p:nvPr/>
        </p:nvSpPr>
        <p:spPr bwMode="auto">
          <a:xfrm>
            <a:off x="599454" y="2085489"/>
            <a:ext cx="2279650"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eaLnBrk="1" hangingPunct="1"/>
            <a:r>
              <a:rPr lang="en-US" altLang="zh-CN" i="1" dirty="0">
                <a:latin typeface="Comic Sans MS" panose="030F0702030302020204" pitchFamily="66" charset="0"/>
              </a:rPr>
              <a:t>Time (clock cycles)</a:t>
            </a:r>
          </a:p>
        </p:txBody>
      </p:sp>
      <p:sp>
        <p:nvSpPr>
          <p:cNvPr id="137220" name="Rectangle 4"/>
          <p:cNvSpPr>
            <a:spLocks noGrp="1" noChangeArrowheads="1"/>
          </p:cNvSpPr>
          <p:nvPr>
            <p:ph type="title"/>
          </p:nvPr>
        </p:nvSpPr>
        <p:spPr>
          <a:xfrm>
            <a:off x="1199456" y="301626"/>
            <a:ext cx="8852594" cy="993775"/>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Forwarding to Avoid Data Hazard</a:t>
            </a:r>
            <a:endParaRPr lang="en-US" altLang="zh-CN" sz="2400" dirty="0">
              <a:solidFill>
                <a:schemeClr val="tx1"/>
              </a:solidFill>
            </a:endParaRPr>
          </a:p>
        </p:txBody>
      </p:sp>
      <p:grpSp>
        <p:nvGrpSpPr>
          <p:cNvPr id="137221" name="Group 5"/>
          <p:cNvGrpSpPr>
            <a:grpSpLocks/>
          </p:cNvGrpSpPr>
          <p:nvPr/>
        </p:nvGrpSpPr>
        <p:grpSpPr bwMode="auto">
          <a:xfrm>
            <a:off x="407368" y="2459309"/>
            <a:ext cx="3294062" cy="4194175"/>
            <a:chOff x="75" y="1096"/>
            <a:chExt cx="2075" cy="2642"/>
          </a:xfrm>
        </p:grpSpPr>
        <p:sp>
          <p:nvSpPr>
            <p:cNvPr id="137222" name="Rectangle 6"/>
            <p:cNvSpPr>
              <a:spLocks noChangeArrowheads="1"/>
            </p:cNvSpPr>
            <p:nvPr/>
          </p:nvSpPr>
          <p:spPr bwMode="auto">
            <a:xfrm>
              <a:off x="75" y="1096"/>
              <a:ext cx="231" cy="197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eaLnBrk="1" hangingPunct="1"/>
              <a:r>
                <a:rPr lang="en-US" altLang="zh-CN" i="1">
                  <a:latin typeface="Comic Sans MS" panose="030F0702030302020204" pitchFamily="66" charset="0"/>
                </a:rPr>
                <a:t>I</a:t>
              </a:r>
            </a:p>
            <a:p>
              <a:pPr algn="r" eaLnBrk="1" hangingPunct="1"/>
              <a:r>
                <a:rPr lang="en-US" altLang="zh-CN" i="1">
                  <a:latin typeface="Comic Sans MS" panose="030F0702030302020204" pitchFamily="66" charset="0"/>
                </a:rPr>
                <a:t>n</a:t>
              </a:r>
            </a:p>
            <a:p>
              <a:pPr algn="r" eaLnBrk="1" hangingPunct="1"/>
              <a:r>
                <a:rPr lang="en-US" altLang="zh-CN" i="1">
                  <a:latin typeface="Comic Sans MS" panose="030F0702030302020204" pitchFamily="66" charset="0"/>
                </a:rPr>
                <a:t>s</a:t>
              </a:r>
            </a:p>
            <a:p>
              <a:pPr algn="r" eaLnBrk="1" hangingPunct="1"/>
              <a:r>
                <a:rPr lang="en-US" altLang="zh-CN" i="1">
                  <a:latin typeface="Comic Sans MS" panose="030F0702030302020204" pitchFamily="66" charset="0"/>
                </a:rPr>
                <a:t>t</a:t>
              </a:r>
            </a:p>
            <a:p>
              <a:pPr algn="r" eaLnBrk="1" hangingPunct="1"/>
              <a:r>
                <a:rPr lang="en-US" altLang="zh-CN" i="1">
                  <a:latin typeface="Comic Sans MS" panose="030F0702030302020204" pitchFamily="66" charset="0"/>
                </a:rPr>
                <a:t>r.</a:t>
              </a:r>
            </a:p>
            <a:p>
              <a:pPr algn="r" eaLnBrk="1" hangingPunct="1"/>
              <a:endParaRPr lang="en-US" altLang="zh-CN" i="1">
                <a:latin typeface="Comic Sans MS" panose="030F0702030302020204" pitchFamily="66" charset="0"/>
              </a:endParaRPr>
            </a:p>
            <a:p>
              <a:pPr algn="r" eaLnBrk="1" hangingPunct="1"/>
              <a:r>
                <a:rPr lang="en-US" altLang="zh-CN" i="1">
                  <a:latin typeface="Comic Sans MS" panose="030F0702030302020204" pitchFamily="66" charset="0"/>
                </a:rPr>
                <a:t>O</a:t>
              </a:r>
            </a:p>
            <a:p>
              <a:pPr algn="r" eaLnBrk="1" hangingPunct="1"/>
              <a:r>
                <a:rPr lang="en-US" altLang="zh-CN" i="1">
                  <a:latin typeface="Comic Sans MS" panose="030F0702030302020204" pitchFamily="66" charset="0"/>
                </a:rPr>
                <a:t>r</a:t>
              </a:r>
            </a:p>
            <a:p>
              <a:pPr algn="r" eaLnBrk="1" hangingPunct="1"/>
              <a:r>
                <a:rPr lang="en-US" altLang="zh-CN" i="1">
                  <a:latin typeface="Comic Sans MS" panose="030F0702030302020204" pitchFamily="66" charset="0"/>
                </a:rPr>
                <a:t>d</a:t>
              </a:r>
            </a:p>
            <a:p>
              <a:pPr algn="r" eaLnBrk="1" hangingPunct="1"/>
              <a:r>
                <a:rPr lang="en-US" altLang="zh-CN" i="1">
                  <a:latin typeface="Comic Sans MS" panose="030F0702030302020204" pitchFamily="66" charset="0"/>
                </a:rPr>
                <a:t>e</a:t>
              </a:r>
            </a:p>
            <a:p>
              <a:pPr algn="r" eaLnBrk="1" hangingPunct="1"/>
              <a:r>
                <a:rPr lang="en-US" altLang="zh-CN" i="1">
                  <a:latin typeface="Comic Sans MS" panose="030F0702030302020204" pitchFamily="66" charset="0"/>
                </a:rPr>
                <a:t>r</a:t>
              </a:r>
            </a:p>
          </p:txBody>
        </p:sp>
        <p:sp>
          <p:nvSpPr>
            <p:cNvPr id="137223" name="Line 7"/>
            <p:cNvSpPr>
              <a:spLocks noChangeShapeType="1"/>
            </p:cNvSpPr>
            <p:nvPr/>
          </p:nvSpPr>
          <p:spPr bwMode="auto">
            <a:xfrm>
              <a:off x="364" y="1211"/>
              <a:ext cx="11" cy="252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24" name="Rectangle 8"/>
            <p:cNvSpPr>
              <a:spLocks noChangeArrowheads="1"/>
            </p:cNvSpPr>
            <p:nvPr/>
          </p:nvSpPr>
          <p:spPr bwMode="auto">
            <a:xfrm>
              <a:off x="1163" y="1143"/>
              <a:ext cx="766" cy="2472"/>
            </a:xfrm>
            <a:prstGeom prst="rect">
              <a:avLst/>
            </a:prstGeom>
            <a:solidFill>
              <a:schemeClr val="bg1"/>
            </a:solidFill>
            <a:ln w="2857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25" name="Rectangle 9"/>
            <p:cNvSpPr>
              <a:spLocks noChangeArrowheads="1"/>
            </p:cNvSpPr>
            <p:nvPr/>
          </p:nvSpPr>
          <p:spPr bwMode="auto">
            <a:xfrm>
              <a:off x="411" y="1277"/>
              <a:ext cx="1509"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eaLnBrk="1" hangingPunct="1"/>
              <a:r>
                <a:rPr lang="en-US" altLang="zh-CN" sz="2400">
                  <a:latin typeface="Courier New" panose="02070309020205020404" pitchFamily="49" charset="0"/>
                </a:rPr>
                <a:t>add </a:t>
              </a:r>
              <a:r>
                <a:rPr lang="en-US" altLang="zh-CN" sz="2400">
                  <a:solidFill>
                    <a:schemeClr val="hlink"/>
                  </a:solidFill>
                  <a:latin typeface="Courier New" panose="02070309020205020404" pitchFamily="49" charset="0"/>
                </a:rPr>
                <a:t>r1</a:t>
              </a:r>
              <a:r>
                <a:rPr lang="en-US" altLang="zh-CN" sz="2400">
                  <a:latin typeface="Courier New" panose="02070309020205020404" pitchFamily="49" charset="0"/>
                </a:rPr>
                <a:t>,r2,r3</a:t>
              </a:r>
            </a:p>
            <a:p>
              <a:pPr algn="r" eaLnBrk="1" latinLnBrk="1" hangingPunct="1"/>
              <a:endParaRPr lang="en-US" altLang="zh-CN" sz="2400">
                <a:latin typeface="Courier New" panose="02070309020205020404" pitchFamily="49" charset="0"/>
              </a:endParaRPr>
            </a:p>
          </p:txBody>
        </p:sp>
        <p:sp>
          <p:nvSpPr>
            <p:cNvPr id="137226" name="Rectangle 10"/>
            <p:cNvSpPr>
              <a:spLocks noChangeArrowheads="1"/>
            </p:cNvSpPr>
            <p:nvPr/>
          </p:nvSpPr>
          <p:spPr bwMode="auto">
            <a:xfrm>
              <a:off x="411" y="1805"/>
              <a:ext cx="1509"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eaLnBrk="1" hangingPunct="1"/>
              <a:r>
                <a:rPr lang="en-US" altLang="zh-CN" sz="2400">
                  <a:latin typeface="Courier New" panose="02070309020205020404" pitchFamily="49" charset="0"/>
                </a:rPr>
                <a:t>sub r4,</a:t>
              </a:r>
              <a:r>
                <a:rPr lang="en-US" altLang="zh-CN" sz="2400">
                  <a:solidFill>
                    <a:schemeClr val="hlink"/>
                  </a:solidFill>
                  <a:latin typeface="Courier New" panose="02070309020205020404" pitchFamily="49" charset="0"/>
                </a:rPr>
                <a:t>r1</a:t>
              </a:r>
              <a:r>
                <a:rPr lang="en-US" altLang="zh-CN" sz="2400">
                  <a:latin typeface="Courier New" panose="02070309020205020404" pitchFamily="49" charset="0"/>
                </a:rPr>
                <a:t>,r3</a:t>
              </a:r>
            </a:p>
            <a:p>
              <a:pPr algn="r" eaLnBrk="1" latinLnBrk="1" hangingPunct="1"/>
              <a:endParaRPr lang="en-US" altLang="zh-CN" sz="2400">
                <a:latin typeface="Courier New" panose="02070309020205020404" pitchFamily="49" charset="0"/>
              </a:endParaRPr>
            </a:p>
          </p:txBody>
        </p:sp>
        <p:sp>
          <p:nvSpPr>
            <p:cNvPr id="137227" name="Rectangle 11"/>
            <p:cNvSpPr>
              <a:spLocks noChangeArrowheads="1"/>
            </p:cNvSpPr>
            <p:nvPr/>
          </p:nvSpPr>
          <p:spPr bwMode="auto">
            <a:xfrm>
              <a:off x="411" y="2393"/>
              <a:ext cx="1509"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eaLnBrk="1" hangingPunct="1"/>
              <a:r>
                <a:rPr lang="en-US" altLang="zh-CN" sz="2400">
                  <a:latin typeface="Courier New" panose="02070309020205020404" pitchFamily="49" charset="0"/>
                </a:rPr>
                <a:t>and r6,</a:t>
              </a:r>
              <a:r>
                <a:rPr lang="en-US" altLang="zh-CN" sz="2400">
                  <a:solidFill>
                    <a:schemeClr val="hlink"/>
                  </a:solidFill>
                  <a:latin typeface="Courier New" panose="02070309020205020404" pitchFamily="49" charset="0"/>
                </a:rPr>
                <a:t>r1</a:t>
              </a:r>
              <a:r>
                <a:rPr lang="en-US" altLang="zh-CN" sz="2400">
                  <a:latin typeface="Courier New" panose="02070309020205020404" pitchFamily="49" charset="0"/>
                </a:rPr>
                <a:t>,r7</a:t>
              </a:r>
            </a:p>
            <a:p>
              <a:pPr algn="r" eaLnBrk="1" latinLnBrk="1" hangingPunct="1"/>
              <a:endParaRPr lang="en-US" altLang="zh-CN" sz="2400">
                <a:latin typeface="Courier New" panose="02070309020205020404" pitchFamily="49" charset="0"/>
              </a:endParaRPr>
            </a:p>
          </p:txBody>
        </p:sp>
        <p:sp>
          <p:nvSpPr>
            <p:cNvPr id="137228" name="Rectangle 12"/>
            <p:cNvSpPr>
              <a:spLocks noChangeArrowheads="1"/>
            </p:cNvSpPr>
            <p:nvPr/>
          </p:nvSpPr>
          <p:spPr bwMode="auto">
            <a:xfrm>
              <a:off x="416" y="2922"/>
              <a:ext cx="1625"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eaLnBrk="1" hangingPunct="1"/>
              <a:r>
                <a:rPr lang="en-US" altLang="zh-CN" sz="2400">
                  <a:latin typeface="Courier New" panose="02070309020205020404" pitchFamily="49" charset="0"/>
                </a:rPr>
                <a:t>or   r8,</a:t>
              </a:r>
              <a:r>
                <a:rPr lang="en-US" altLang="zh-CN" sz="2400">
                  <a:solidFill>
                    <a:schemeClr val="hlink"/>
                  </a:solidFill>
                  <a:latin typeface="Courier New" panose="02070309020205020404" pitchFamily="49" charset="0"/>
                </a:rPr>
                <a:t>r1</a:t>
              </a:r>
              <a:r>
                <a:rPr lang="en-US" altLang="zh-CN" sz="2400">
                  <a:latin typeface="Courier New" panose="02070309020205020404" pitchFamily="49" charset="0"/>
                </a:rPr>
                <a:t>,r9</a:t>
              </a:r>
            </a:p>
            <a:p>
              <a:pPr algn="r" eaLnBrk="1" latinLnBrk="1" hangingPunct="1"/>
              <a:endParaRPr lang="en-US" altLang="zh-CN" sz="2400">
                <a:latin typeface="Courier New" panose="02070309020205020404" pitchFamily="49" charset="0"/>
              </a:endParaRPr>
            </a:p>
          </p:txBody>
        </p:sp>
        <p:sp>
          <p:nvSpPr>
            <p:cNvPr id="137229" name="Rectangle 13"/>
            <p:cNvSpPr>
              <a:spLocks noChangeArrowheads="1"/>
            </p:cNvSpPr>
            <p:nvPr/>
          </p:nvSpPr>
          <p:spPr bwMode="auto">
            <a:xfrm>
              <a:off x="409" y="3437"/>
              <a:ext cx="1741" cy="289"/>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r" eaLnBrk="1" hangingPunct="1"/>
              <a:r>
                <a:rPr lang="en-US" altLang="zh-CN" sz="2400">
                  <a:latin typeface="Courier New" panose="02070309020205020404" pitchFamily="49" charset="0"/>
                </a:rPr>
                <a:t>xor r10,</a:t>
              </a:r>
              <a:r>
                <a:rPr lang="en-US" altLang="zh-CN" sz="2400">
                  <a:solidFill>
                    <a:schemeClr val="accent2"/>
                  </a:solidFill>
                  <a:latin typeface="Courier New" panose="02070309020205020404" pitchFamily="49" charset="0"/>
                </a:rPr>
                <a:t>r1</a:t>
              </a:r>
              <a:r>
                <a:rPr lang="en-US" altLang="zh-CN" sz="2400">
                  <a:latin typeface="Courier New" panose="02070309020205020404" pitchFamily="49" charset="0"/>
                </a:rPr>
                <a:t>,r11</a:t>
              </a:r>
            </a:p>
          </p:txBody>
        </p:sp>
      </p:grpSp>
      <p:grpSp>
        <p:nvGrpSpPr>
          <p:cNvPr id="137230" name="Group 14"/>
          <p:cNvGrpSpPr>
            <a:grpSpLocks/>
          </p:cNvGrpSpPr>
          <p:nvPr/>
        </p:nvGrpSpPr>
        <p:grpSpPr bwMode="auto">
          <a:xfrm>
            <a:off x="3191843" y="2641873"/>
            <a:ext cx="6065837" cy="4027487"/>
            <a:chOff x="1932" y="1200"/>
            <a:chExt cx="3624" cy="2537"/>
          </a:xfrm>
        </p:grpSpPr>
        <p:grpSp>
          <p:nvGrpSpPr>
            <p:cNvPr id="137231" name="Group 15"/>
            <p:cNvGrpSpPr>
              <a:grpSpLocks/>
            </p:cNvGrpSpPr>
            <p:nvPr/>
          </p:nvGrpSpPr>
          <p:grpSpPr bwMode="auto">
            <a:xfrm>
              <a:off x="1932" y="1200"/>
              <a:ext cx="3624" cy="2537"/>
              <a:chOff x="1932" y="1200"/>
              <a:chExt cx="3624" cy="2537"/>
            </a:xfrm>
          </p:grpSpPr>
          <p:grpSp>
            <p:nvGrpSpPr>
              <p:cNvPr id="137232" name="Group 16"/>
              <p:cNvGrpSpPr>
                <a:grpSpLocks/>
              </p:cNvGrpSpPr>
              <p:nvPr/>
            </p:nvGrpSpPr>
            <p:grpSpPr bwMode="auto">
              <a:xfrm>
                <a:off x="2766" y="2256"/>
                <a:ext cx="1951" cy="441"/>
                <a:chOff x="1933" y="1200"/>
                <a:chExt cx="1951" cy="441"/>
              </a:xfrm>
            </p:grpSpPr>
            <p:grpSp>
              <p:nvGrpSpPr>
                <p:cNvPr id="137233" name="Group 17"/>
                <p:cNvGrpSpPr>
                  <a:grpSpLocks noChangeAspect="1"/>
                </p:cNvGrpSpPr>
                <p:nvPr/>
              </p:nvGrpSpPr>
              <p:grpSpPr bwMode="auto">
                <a:xfrm>
                  <a:off x="2421" y="1304"/>
                  <a:ext cx="241" cy="233"/>
                  <a:chOff x="1357" y="528"/>
                  <a:chExt cx="522" cy="432"/>
                </a:xfrm>
              </p:grpSpPr>
              <p:grpSp>
                <p:nvGrpSpPr>
                  <p:cNvPr id="137234" name="Group 18"/>
                  <p:cNvGrpSpPr>
                    <a:grpSpLocks noChangeAspect="1"/>
                  </p:cNvGrpSpPr>
                  <p:nvPr/>
                </p:nvGrpSpPr>
                <p:grpSpPr bwMode="auto">
                  <a:xfrm>
                    <a:off x="1374" y="528"/>
                    <a:ext cx="480" cy="432"/>
                    <a:chOff x="1392" y="528"/>
                    <a:chExt cx="480" cy="432"/>
                  </a:xfrm>
                </p:grpSpPr>
                <p:sp>
                  <p:nvSpPr>
                    <p:cNvPr id="137235" name="Rectangle 19"/>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6" name="Rectangle 20"/>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7237" name="Text Box 21"/>
                  <p:cNvSpPr txBox="1">
                    <a:spLocks noChangeAspect="1" noChangeArrowheads="1"/>
                  </p:cNvSpPr>
                  <p:nvPr/>
                </p:nvSpPr>
                <p:spPr bwMode="auto">
                  <a:xfrm>
                    <a:off x="1357" y="574"/>
                    <a:ext cx="52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7238" name="Line 22"/>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39" name="Line 23"/>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240" name="Group 24"/>
                <p:cNvGrpSpPr>
                  <a:grpSpLocks noChangeAspect="1"/>
                </p:cNvGrpSpPr>
                <p:nvPr/>
              </p:nvGrpSpPr>
              <p:grpSpPr bwMode="auto">
                <a:xfrm>
                  <a:off x="2851" y="1235"/>
                  <a:ext cx="206" cy="371"/>
                  <a:chOff x="2991" y="411"/>
                  <a:chExt cx="371" cy="768"/>
                </a:xfrm>
              </p:grpSpPr>
              <p:sp>
                <p:nvSpPr>
                  <p:cNvPr id="137241" name="AutoShape 25"/>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7242" name="AutoShape 26"/>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43" name="Freeform 27"/>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44" name="Text Box 28"/>
                  <p:cNvSpPr txBox="1">
                    <a:spLocks noChangeAspect="1" noChangeArrowheads="1"/>
                  </p:cNvSpPr>
                  <p:nvPr/>
                </p:nvSpPr>
                <p:spPr bwMode="auto">
                  <a:xfrm rot="-5400000">
                    <a:off x="2943" y="619"/>
                    <a:ext cx="575" cy="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7245" name="Line 29"/>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46" name="Line 30"/>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247" name="Group 31"/>
                <p:cNvGrpSpPr>
                  <a:grpSpLocks noChangeAspect="1"/>
                </p:cNvGrpSpPr>
                <p:nvPr/>
              </p:nvGrpSpPr>
              <p:grpSpPr bwMode="auto">
                <a:xfrm>
                  <a:off x="3181" y="1305"/>
                  <a:ext cx="334" cy="232"/>
                  <a:chOff x="3792" y="576"/>
                  <a:chExt cx="723" cy="480"/>
                </a:xfrm>
              </p:grpSpPr>
              <p:sp>
                <p:nvSpPr>
                  <p:cNvPr id="137248" name="Rectangle 32"/>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7249" name="Text Box 33"/>
                  <p:cNvSpPr txBox="1">
                    <a:spLocks noChangeAspect="1" noChangeArrowheads="1"/>
                  </p:cNvSpPr>
                  <p:nvPr/>
                </p:nvSpPr>
                <p:spPr bwMode="auto">
                  <a:xfrm>
                    <a:off x="3792" y="628"/>
                    <a:ext cx="72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7250" name="Freeform 34"/>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51" name="Line 35"/>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52" name="Line 36"/>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253" name="Group 37"/>
                <p:cNvGrpSpPr>
                  <a:grpSpLocks noChangeAspect="1"/>
                </p:cNvGrpSpPr>
                <p:nvPr/>
              </p:nvGrpSpPr>
              <p:grpSpPr bwMode="auto">
                <a:xfrm>
                  <a:off x="1933" y="1305"/>
                  <a:ext cx="352" cy="232"/>
                  <a:chOff x="1061" y="576"/>
                  <a:chExt cx="760" cy="480"/>
                </a:xfrm>
              </p:grpSpPr>
              <p:sp>
                <p:nvSpPr>
                  <p:cNvPr id="137254" name="Rectangle 38"/>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7255" name="Text Box 39"/>
                  <p:cNvSpPr txBox="1">
                    <a:spLocks noChangeAspect="1" noChangeArrowheads="1"/>
                  </p:cNvSpPr>
                  <p:nvPr/>
                </p:nvSpPr>
                <p:spPr bwMode="auto">
                  <a:xfrm>
                    <a:off x="1061" y="628"/>
                    <a:ext cx="760"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7256" name="Group 40"/>
                <p:cNvGrpSpPr>
                  <a:grpSpLocks/>
                </p:cNvGrpSpPr>
                <p:nvPr/>
              </p:nvGrpSpPr>
              <p:grpSpPr bwMode="auto">
                <a:xfrm>
                  <a:off x="2288" y="1200"/>
                  <a:ext cx="1297" cy="441"/>
                  <a:chOff x="2112" y="528"/>
                  <a:chExt cx="2088" cy="681"/>
                </a:xfrm>
              </p:grpSpPr>
              <p:sp>
                <p:nvSpPr>
                  <p:cNvPr id="137257" name="Rectangle 41"/>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58" name="Rectangle 42"/>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59" name="Rectangle 43"/>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60" name="Rectangle 44"/>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7261" name="Group 45"/>
                <p:cNvGrpSpPr>
                  <a:grpSpLocks noChangeAspect="1"/>
                </p:cNvGrpSpPr>
                <p:nvPr/>
              </p:nvGrpSpPr>
              <p:grpSpPr bwMode="auto">
                <a:xfrm flipH="1">
                  <a:off x="3643" y="1296"/>
                  <a:ext cx="241" cy="233"/>
                  <a:chOff x="1362" y="528"/>
                  <a:chExt cx="518" cy="432"/>
                </a:xfrm>
              </p:grpSpPr>
              <p:grpSp>
                <p:nvGrpSpPr>
                  <p:cNvPr id="137262" name="Group 46"/>
                  <p:cNvGrpSpPr>
                    <a:grpSpLocks noChangeAspect="1"/>
                  </p:cNvGrpSpPr>
                  <p:nvPr/>
                </p:nvGrpSpPr>
                <p:grpSpPr bwMode="auto">
                  <a:xfrm>
                    <a:off x="1374" y="528"/>
                    <a:ext cx="480" cy="432"/>
                    <a:chOff x="1392" y="528"/>
                    <a:chExt cx="480" cy="432"/>
                  </a:xfrm>
                </p:grpSpPr>
                <p:sp>
                  <p:nvSpPr>
                    <p:cNvPr id="137263" name="Rectangle 47"/>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64" name="Rectangle 48"/>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7265" name="Text Box 49"/>
                  <p:cNvSpPr txBox="1">
                    <a:spLocks noChangeAspect="1" noChangeArrowheads="1"/>
                  </p:cNvSpPr>
                  <p:nvPr/>
                </p:nvSpPr>
                <p:spPr bwMode="auto">
                  <a:xfrm>
                    <a:off x="1362" y="574"/>
                    <a:ext cx="51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7266" name="Group 50"/>
              <p:cNvGrpSpPr>
                <a:grpSpLocks/>
              </p:cNvGrpSpPr>
              <p:nvPr/>
            </p:nvGrpSpPr>
            <p:grpSpPr bwMode="auto">
              <a:xfrm>
                <a:off x="2346" y="1720"/>
                <a:ext cx="1952" cy="441"/>
                <a:chOff x="1933" y="1200"/>
                <a:chExt cx="1952" cy="441"/>
              </a:xfrm>
            </p:grpSpPr>
            <p:grpSp>
              <p:nvGrpSpPr>
                <p:cNvPr id="137267" name="Group 51"/>
                <p:cNvGrpSpPr>
                  <a:grpSpLocks noChangeAspect="1"/>
                </p:cNvGrpSpPr>
                <p:nvPr/>
              </p:nvGrpSpPr>
              <p:grpSpPr bwMode="auto">
                <a:xfrm>
                  <a:off x="2421" y="1304"/>
                  <a:ext cx="241" cy="233"/>
                  <a:chOff x="1357" y="528"/>
                  <a:chExt cx="522" cy="432"/>
                </a:xfrm>
              </p:grpSpPr>
              <p:grpSp>
                <p:nvGrpSpPr>
                  <p:cNvPr id="137268" name="Group 52"/>
                  <p:cNvGrpSpPr>
                    <a:grpSpLocks noChangeAspect="1"/>
                  </p:cNvGrpSpPr>
                  <p:nvPr/>
                </p:nvGrpSpPr>
                <p:grpSpPr bwMode="auto">
                  <a:xfrm>
                    <a:off x="1374" y="528"/>
                    <a:ext cx="480" cy="432"/>
                    <a:chOff x="1392" y="528"/>
                    <a:chExt cx="480" cy="432"/>
                  </a:xfrm>
                </p:grpSpPr>
                <p:sp>
                  <p:nvSpPr>
                    <p:cNvPr id="137269" name="Rectangle 53"/>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70" name="Rectangle 54"/>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7271" name="Text Box 55"/>
                  <p:cNvSpPr txBox="1">
                    <a:spLocks noChangeAspect="1" noChangeArrowheads="1"/>
                  </p:cNvSpPr>
                  <p:nvPr/>
                </p:nvSpPr>
                <p:spPr bwMode="auto">
                  <a:xfrm>
                    <a:off x="1357" y="574"/>
                    <a:ext cx="52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7272" name="Line 56"/>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73" name="Line 57"/>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274" name="Group 58"/>
                <p:cNvGrpSpPr>
                  <a:grpSpLocks noChangeAspect="1"/>
                </p:cNvGrpSpPr>
                <p:nvPr/>
              </p:nvGrpSpPr>
              <p:grpSpPr bwMode="auto">
                <a:xfrm>
                  <a:off x="2851" y="1235"/>
                  <a:ext cx="206" cy="371"/>
                  <a:chOff x="2991" y="411"/>
                  <a:chExt cx="371" cy="768"/>
                </a:xfrm>
              </p:grpSpPr>
              <p:sp>
                <p:nvSpPr>
                  <p:cNvPr id="137275" name="AutoShape 59"/>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7276" name="AutoShape 60"/>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77" name="Freeform 61"/>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78" name="Text Box 62"/>
                  <p:cNvSpPr txBox="1">
                    <a:spLocks noChangeAspect="1" noChangeArrowheads="1"/>
                  </p:cNvSpPr>
                  <p:nvPr/>
                </p:nvSpPr>
                <p:spPr bwMode="auto">
                  <a:xfrm rot="-5400000">
                    <a:off x="2943" y="621"/>
                    <a:ext cx="575" cy="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7279" name="Line 63"/>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80" name="Line 64"/>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281" name="Group 65"/>
                <p:cNvGrpSpPr>
                  <a:grpSpLocks noChangeAspect="1"/>
                </p:cNvGrpSpPr>
                <p:nvPr/>
              </p:nvGrpSpPr>
              <p:grpSpPr bwMode="auto">
                <a:xfrm>
                  <a:off x="3181" y="1305"/>
                  <a:ext cx="334" cy="232"/>
                  <a:chOff x="3792" y="576"/>
                  <a:chExt cx="723" cy="480"/>
                </a:xfrm>
              </p:grpSpPr>
              <p:sp>
                <p:nvSpPr>
                  <p:cNvPr id="137282" name="Rectangle 66"/>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7283" name="Text Box 67"/>
                  <p:cNvSpPr txBox="1">
                    <a:spLocks noChangeAspect="1" noChangeArrowheads="1"/>
                  </p:cNvSpPr>
                  <p:nvPr/>
                </p:nvSpPr>
                <p:spPr bwMode="auto">
                  <a:xfrm>
                    <a:off x="3792" y="628"/>
                    <a:ext cx="72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7284" name="Freeform 68"/>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85" name="Line 69"/>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86" name="Line 70"/>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287" name="Group 71"/>
                <p:cNvGrpSpPr>
                  <a:grpSpLocks noChangeAspect="1"/>
                </p:cNvGrpSpPr>
                <p:nvPr/>
              </p:nvGrpSpPr>
              <p:grpSpPr bwMode="auto">
                <a:xfrm>
                  <a:off x="1933" y="1305"/>
                  <a:ext cx="352" cy="232"/>
                  <a:chOff x="1061" y="576"/>
                  <a:chExt cx="759" cy="480"/>
                </a:xfrm>
              </p:grpSpPr>
              <p:sp>
                <p:nvSpPr>
                  <p:cNvPr id="137288" name="Rectangle 72"/>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7289" name="Text Box 73"/>
                  <p:cNvSpPr txBox="1">
                    <a:spLocks noChangeAspect="1" noChangeArrowheads="1"/>
                  </p:cNvSpPr>
                  <p:nvPr/>
                </p:nvSpPr>
                <p:spPr bwMode="auto">
                  <a:xfrm>
                    <a:off x="1061" y="628"/>
                    <a:ext cx="759"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7290" name="Group 74"/>
                <p:cNvGrpSpPr>
                  <a:grpSpLocks/>
                </p:cNvGrpSpPr>
                <p:nvPr/>
              </p:nvGrpSpPr>
              <p:grpSpPr bwMode="auto">
                <a:xfrm>
                  <a:off x="2288" y="1200"/>
                  <a:ext cx="1297" cy="441"/>
                  <a:chOff x="2112" y="528"/>
                  <a:chExt cx="2088" cy="681"/>
                </a:xfrm>
              </p:grpSpPr>
              <p:sp>
                <p:nvSpPr>
                  <p:cNvPr id="137291" name="Rectangle 75"/>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92" name="Rectangle 76"/>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93" name="Rectangle 77"/>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94" name="Rectangle 78"/>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7295" name="Group 79"/>
                <p:cNvGrpSpPr>
                  <a:grpSpLocks noChangeAspect="1"/>
                </p:cNvGrpSpPr>
                <p:nvPr/>
              </p:nvGrpSpPr>
              <p:grpSpPr bwMode="auto">
                <a:xfrm flipH="1">
                  <a:off x="3644" y="1296"/>
                  <a:ext cx="241" cy="233"/>
                  <a:chOff x="1364" y="528"/>
                  <a:chExt cx="518" cy="432"/>
                </a:xfrm>
              </p:grpSpPr>
              <p:grpSp>
                <p:nvGrpSpPr>
                  <p:cNvPr id="137296" name="Group 80"/>
                  <p:cNvGrpSpPr>
                    <a:grpSpLocks noChangeAspect="1"/>
                  </p:cNvGrpSpPr>
                  <p:nvPr/>
                </p:nvGrpSpPr>
                <p:grpSpPr bwMode="auto">
                  <a:xfrm>
                    <a:off x="1374" y="528"/>
                    <a:ext cx="480" cy="432"/>
                    <a:chOff x="1392" y="528"/>
                    <a:chExt cx="480" cy="432"/>
                  </a:xfrm>
                </p:grpSpPr>
                <p:sp>
                  <p:nvSpPr>
                    <p:cNvPr id="137297" name="Rectangle 81"/>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298" name="Rectangle 82"/>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7299" name="Text Box 83"/>
                  <p:cNvSpPr txBox="1">
                    <a:spLocks noChangeAspect="1" noChangeArrowheads="1"/>
                  </p:cNvSpPr>
                  <p:nvPr/>
                </p:nvSpPr>
                <p:spPr bwMode="auto">
                  <a:xfrm>
                    <a:off x="1364" y="574"/>
                    <a:ext cx="51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7300" name="Group 84"/>
              <p:cNvGrpSpPr>
                <a:grpSpLocks/>
              </p:cNvGrpSpPr>
              <p:nvPr/>
            </p:nvGrpSpPr>
            <p:grpSpPr bwMode="auto">
              <a:xfrm>
                <a:off x="1932" y="1200"/>
                <a:ext cx="1951" cy="441"/>
                <a:chOff x="1932" y="1200"/>
                <a:chExt cx="1951" cy="441"/>
              </a:xfrm>
            </p:grpSpPr>
            <p:grpSp>
              <p:nvGrpSpPr>
                <p:cNvPr id="137301" name="Group 85"/>
                <p:cNvGrpSpPr>
                  <a:grpSpLocks noChangeAspect="1"/>
                </p:cNvGrpSpPr>
                <p:nvPr/>
              </p:nvGrpSpPr>
              <p:grpSpPr bwMode="auto">
                <a:xfrm>
                  <a:off x="2420" y="1304"/>
                  <a:ext cx="241" cy="233"/>
                  <a:chOff x="1355" y="528"/>
                  <a:chExt cx="522" cy="432"/>
                </a:xfrm>
              </p:grpSpPr>
              <p:grpSp>
                <p:nvGrpSpPr>
                  <p:cNvPr id="137302" name="Group 86"/>
                  <p:cNvGrpSpPr>
                    <a:grpSpLocks noChangeAspect="1"/>
                  </p:cNvGrpSpPr>
                  <p:nvPr/>
                </p:nvGrpSpPr>
                <p:grpSpPr bwMode="auto">
                  <a:xfrm>
                    <a:off x="1374" y="528"/>
                    <a:ext cx="480" cy="432"/>
                    <a:chOff x="1392" y="528"/>
                    <a:chExt cx="480" cy="432"/>
                  </a:xfrm>
                </p:grpSpPr>
                <p:sp>
                  <p:nvSpPr>
                    <p:cNvPr id="137303" name="Rectangle 87"/>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04" name="Rectangle 88"/>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7305" name="Text Box 89"/>
                  <p:cNvSpPr txBox="1">
                    <a:spLocks noChangeAspect="1" noChangeArrowheads="1"/>
                  </p:cNvSpPr>
                  <p:nvPr/>
                </p:nvSpPr>
                <p:spPr bwMode="auto">
                  <a:xfrm>
                    <a:off x="1355" y="574"/>
                    <a:ext cx="52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7306" name="Line 90"/>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07" name="Line 91"/>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308" name="Group 92"/>
                <p:cNvGrpSpPr>
                  <a:grpSpLocks noChangeAspect="1"/>
                </p:cNvGrpSpPr>
                <p:nvPr/>
              </p:nvGrpSpPr>
              <p:grpSpPr bwMode="auto">
                <a:xfrm>
                  <a:off x="2851" y="1235"/>
                  <a:ext cx="206" cy="371"/>
                  <a:chOff x="2991" y="411"/>
                  <a:chExt cx="371" cy="768"/>
                </a:xfrm>
              </p:grpSpPr>
              <p:sp>
                <p:nvSpPr>
                  <p:cNvPr id="137309" name="AutoShape 93"/>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7310" name="AutoShape 94"/>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11" name="Freeform 95"/>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12" name="Text Box 96"/>
                  <p:cNvSpPr txBox="1">
                    <a:spLocks noChangeAspect="1" noChangeArrowheads="1"/>
                  </p:cNvSpPr>
                  <p:nvPr/>
                </p:nvSpPr>
                <p:spPr bwMode="auto">
                  <a:xfrm rot="-5400000">
                    <a:off x="2943" y="621"/>
                    <a:ext cx="575" cy="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7313" name="Line 97"/>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14" name="Line 98"/>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315" name="Group 99"/>
                <p:cNvGrpSpPr>
                  <a:grpSpLocks noChangeAspect="1"/>
                </p:cNvGrpSpPr>
                <p:nvPr/>
              </p:nvGrpSpPr>
              <p:grpSpPr bwMode="auto">
                <a:xfrm>
                  <a:off x="3180" y="1305"/>
                  <a:ext cx="334" cy="232"/>
                  <a:chOff x="3790" y="576"/>
                  <a:chExt cx="722" cy="480"/>
                </a:xfrm>
              </p:grpSpPr>
              <p:sp>
                <p:nvSpPr>
                  <p:cNvPr id="137316" name="Rectangle 100"/>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7317" name="Text Box 101"/>
                  <p:cNvSpPr txBox="1">
                    <a:spLocks noChangeAspect="1" noChangeArrowheads="1"/>
                  </p:cNvSpPr>
                  <p:nvPr/>
                </p:nvSpPr>
                <p:spPr bwMode="auto">
                  <a:xfrm>
                    <a:off x="3790" y="628"/>
                    <a:ext cx="72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7318" name="Freeform 102"/>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19" name="Line 103"/>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20" name="Line 104"/>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321" name="Group 105"/>
                <p:cNvGrpSpPr>
                  <a:grpSpLocks noChangeAspect="1"/>
                </p:cNvGrpSpPr>
                <p:nvPr/>
              </p:nvGrpSpPr>
              <p:grpSpPr bwMode="auto">
                <a:xfrm>
                  <a:off x="1932" y="1305"/>
                  <a:ext cx="352" cy="232"/>
                  <a:chOff x="1058" y="576"/>
                  <a:chExt cx="760" cy="480"/>
                </a:xfrm>
              </p:grpSpPr>
              <p:sp>
                <p:nvSpPr>
                  <p:cNvPr id="137322" name="Rectangle 106"/>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7323" name="Text Box 107"/>
                  <p:cNvSpPr txBox="1">
                    <a:spLocks noChangeAspect="1" noChangeArrowheads="1"/>
                  </p:cNvSpPr>
                  <p:nvPr/>
                </p:nvSpPr>
                <p:spPr bwMode="auto">
                  <a:xfrm>
                    <a:off x="1058" y="628"/>
                    <a:ext cx="760"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7324" name="Group 108"/>
                <p:cNvGrpSpPr>
                  <a:grpSpLocks/>
                </p:cNvGrpSpPr>
                <p:nvPr/>
              </p:nvGrpSpPr>
              <p:grpSpPr bwMode="auto">
                <a:xfrm>
                  <a:off x="2288" y="1200"/>
                  <a:ext cx="1297" cy="441"/>
                  <a:chOff x="2112" y="528"/>
                  <a:chExt cx="2088" cy="681"/>
                </a:xfrm>
              </p:grpSpPr>
              <p:sp>
                <p:nvSpPr>
                  <p:cNvPr id="137325" name="Rectangle 109"/>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26" name="Rectangle 110"/>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27" name="Rectangle 111"/>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28" name="Rectangle 112"/>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7329" name="Group 113"/>
                <p:cNvGrpSpPr>
                  <a:grpSpLocks noChangeAspect="1"/>
                </p:cNvGrpSpPr>
                <p:nvPr/>
              </p:nvGrpSpPr>
              <p:grpSpPr bwMode="auto">
                <a:xfrm flipH="1">
                  <a:off x="3642" y="1296"/>
                  <a:ext cx="241" cy="233"/>
                  <a:chOff x="1360" y="528"/>
                  <a:chExt cx="518" cy="432"/>
                </a:xfrm>
              </p:grpSpPr>
              <p:grpSp>
                <p:nvGrpSpPr>
                  <p:cNvPr id="137330" name="Group 114"/>
                  <p:cNvGrpSpPr>
                    <a:grpSpLocks noChangeAspect="1"/>
                  </p:cNvGrpSpPr>
                  <p:nvPr/>
                </p:nvGrpSpPr>
                <p:grpSpPr bwMode="auto">
                  <a:xfrm>
                    <a:off x="1374" y="528"/>
                    <a:ext cx="480" cy="432"/>
                    <a:chOff x="1392" y="528"/>
                    <a:chExt cx="480" cy="432"/>
                  </a:xfrm>
                </p:grpSpPr>
                <p:sp>
                  <p:nvSpPr>
                    <p:cNvPr id="137331" name="Rectangle 115"/>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32" name="Rectangle 116"/>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7333" name="Text Box 117"/>
                  <p:cNvSpPr txBox="1">
                    <a:spLocks noChangeAspect="1" noChangeArrowheads="1"/>
                  </p:cNvSpPr>
                  <p:nvPr/>
                </p:nvSpPr>
                <p:spPr bwMode="auto">
                  <a:xfrm>
                    <a:off x="1360" y="574"/>
                    <a:ext cx="51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7334" name="Group 118"/>
              <p:cNvGrpSpPr>
                <a:grpSpLocks/>
              </p:cNvGrpSpPr>
              <p:nvPr/>
            </p:nvGrpSpPr>
            <p:grpSpPr bwMode="auto">
              <a:xfrm>
                <a:off x="3186" y="2784"/>
                <a:ext cx="1950" cy="441"/>
                <a:chOff x="1933" y="1200"/>
                <a:chExt cx="1950" cy="441"/>
              </a:xfrm>
            </p:grpSpPr>
            <p:grpSp>
              <p:nvGrpSpPr>
                <p:cNvPr id="137335" name="Group 119"/>
                <p:cNvGrpSpPr>
                  <a:grpSpLocks noChangeAspect="1"/>
                </p:cNvGrpSpPr>
                <p:nvPr/>
              </p:nvGrpSpPr>
              <p:grpSpPr bwMode="auto">
                <a:xfrm>
                  <a:off x="2418" y="1304"/>
                  <a:ext cx="241" cy="233"/>
                  <a:chOff x="1351" y="528"/>
                  <a:chExt cx="522" cy="432"/>
                </a:xfrm>
              </p:grpSpPr>
              <p:grpSp>
                <p:nvGrpSpPr>
                  <p:cNvPr id="137336" name="Group 120"/>
                  <p:cNvGrpSpPr>
                    <a:grpSpLocks noChangeAspect="1"/>
                  </p:cNvGrpSpPr>
                  <p:nvPr/>
                </p:nvGrpSpPr>
                <p:grpSpPr bwMode="auto">
                  <a:xfrm>
                    <a:off x="1374" y="528"/>
                    <a:ext cx="480" cy="432"/>
                    <a:chOff x="1392" y="528"/>
                    <a:chExt cx="480" cy="432"/>
                  </a:xfrm>
                </p:grpSpPr>
                <p:sp>
                  <p:nvSpPr>
                    <p:cNvPr id="137337" name="Rectangle 121"/>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38" name="Rectangle 122"/>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7339" name="Text Box 123"/>
                  <p:cNvSpPr txBox="1">
                    <a:spLocks noChangeAspect="1" noChangeArrowheads="1"/>
                  </p:cNvSpPr>
                  <p:nvPr/>
                </p:nvSpPr>
                <p:spPr bwMode="auto">
                  <a:xfrm>
                    <a:off x="1351" y="574"/>
                    <a:ext cx="52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7340" name="Line 124"/>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41" name="Line 125"/>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342" name="Group 126"/>
                <p:cNvGrpSpPr>
                  <a:grpSpLocks noChangeAspect="1"/>
                </p:cNvGrpSpPr>
                <p:nvPr/>
              </p:nvGrpSpPr>
              <p:grpSpPr bwMode="auto">
                <a:xfrm>
                  <a:off x="2851" y="1235"/>
                  <a:ext cx="206" cy="371"/>
                  <a:chOff x="2991" y="411"/>
                  <a:chExt cx="371" cy="768"/>
                </a:xfrm>
              </p:grpSpPr>
              <p:sp>
                <p:nvSpPr>
                  <p:cNvPr id="137343" name="AutoShape 127"/>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7344" name="AutoShape 128"/>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45" name="Freeform 129"/>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46" name="Text Box 130"/>
                  <p:cNvSpPr txBox="1">
                    <a:spLocks noChangeAspect="1" noChangeArrowheads="1"/>
                  </p:cNvSpPr>
                  <p:nvPr/>
                </p:nvSpPr>
                <p:spPr bwMode="auto">
                  <a:xfrm rot="-5400000">
                    <a:off x="2943" y="621"/>
                    <a:ext cx="575" cy="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7347" name="Line 131"/>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48" name="Line 132"/>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349" name="Group 133"/>
                <p:cNvGrpSpPr>
                  <a:grpSpLocks noChangeAspect="1"/>
                </p:cNvGrpSpPr>
                <p:nvPr/>
              </p:nvGrpSpPr>
              <p:grpSpPr bwMode="auto">
                <a:xfrm>
                  <a:off x="3180" y="1305"/>
                  <a:ext cx="334" cy="232"/>
                  <a:chOff x="3790" y="576"/>
                  <a:chExt cx="722" cy="480"/>
                </a:xfrm>
              </p:grpSpPr>
              <p:sp>
                <p:nvSpPr>
                  <p:cNvPr id="137350" name="Rectangle 134"/>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7351" name="Text Box 135"/>
                  <p:cNvSpPr txBox="1">
                    <a:spLocks noChangeAspect="1" noChangeArrowheads="1"/>
                  </p:cNvSpPr>
                  <p:nvPr/>
                </p:nvSpPr>
                <p:spPr bwMode="auto">
                  <a:xfrm>
                    <a:off x="3790" y="628"/>
                    <a:ext cx="72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7352" name="Freeform 136"/>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53" name="Line 137"/>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54" name="Line 138"/>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355" name="Group 139"/>
                <p:cNvGrpSpPr>
                  <a:grpSpLocks noChangeAspect="1"/>
                </p:cNvGrpSpPr>
                <p:nvPr/>
              </p:nvGrpSpPr>
              <p:grpSpPr bwMode="auto">
                <a:xfrm>
                  <a:off x="1933" y="1305"/>
                  <a:ext cx="352" cy="232"/>
                  <a:chOff x="1061" y="576"/>
                  <a:chExt cx="759" cy="480"/>
                </a:xfrm>
              </p:grpSpPr>
              <p:sp>
                <p:nvSpPr>
                  <p:cNvPr id="137356" name="Rectangle 140"/>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7357" name="Text Box 141"/>
                  <p:cNvSpPr txBox="1">
                    <a:spLocks noChangeAspect="1" noChangeArrowheads="1"/>
                  </p:cNvSpPr>
                  <p:nvPr/>
                </p:nvSpPr>
                <p:spPr bwMode="auto">
                  <a:xfrm>
                    <a:off x="1061" y="628"/>
                    <a:ext cx="759"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7358" name="Group 142"/>
                <p:cNvGrpSpPr>
                  <a:grpSpLocks/>
                </p:cNvGrpSpPr>
                <p:nvPr/>
              </p:nvGrpSpPr>
              <p:grpSpPr bwMode="auto">
                <a:xfrm>
                  <a:off x="2288" y="1200"/>
                  <a:ext cx="1297" cy="441"/>
                  <a:chOff x="2112" y="528"/>
                  <a:chExt cx="2088" cy="681"/>
                </a:xfrm>
              </p:grpSpPr>
              <p:sp>
                <p:nvSpPr>
                  <p:cNvPr id="137359" name="Rectangle 143"/>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60" name="Rectangle 144"/>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61" name="Rectangle 145"/>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62" name="Rectangle 146"/>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7363" name="Group 147"/>
                <p:cNvGrpSpPr>
                  <a:grpSpLocks noChangeAspect="1"/>
                </p:cNvGrpSpPr>
                <p:nvPr/>
              </p:nvGrpSpPr>
              <p:grpSpPr bwMode="auto">
                <a:xfrm flipH="1">
                  <a:off x="3642" y="1296"/>
                  <a:ext cx="241" cy="233"/>
                  <a:chOff x="1360" y="528"/>
                  <a:chExt cx="518" cy="432"/>
                </a:xfrm>
              </p:grpSpPr>
              <p:grpSp>
                <p:nvGrpSpPr>
                  <p:cNvPr id="137364" name="Group 148"/>
                  <p:cNvGrpSpPr>
                    <a:grpSpLocks noChangeAspect="1"/>
                  </p:cNvGrpSpPr>
                  <p:nvPr/>
                </p:nvGrpSpPr>
                <p:grpSpPr bwMode="auto">
                  <a:xfrm>
                    <a:off x="1374" y="528"/>
                    <a:ext cx="480" cy="432"/>
                    <a:chOff x="1392" y="528"/>
                    <a:chExt cx="480" cy="432"/>
                  </a:xfrm>
                </p:grpSpPr>
                <p:sp>
                  <p:nvSpPr>
                    <p:cNvPr id="137365" name="Rectangle 149"/>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66" name="Rectangle 150"/>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7367" name="Text Box 151"/>
                  <p:cNvSpPr txBox="1">
                    <a:spLocks noChangeAspect="1" noChangeArrowheads="1"/>
                  </p:cNvSpPr>
                  <p:nvPr/>
                </p:nvSpPr>
                <p:spPr bwMode="auto">
                  <a:xfrm>
                    <a:off x="1360" y="574"/>
                    <a:ext cx="51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7368" name="Group 152"/>
              <p:cNvGrpSpPr>
                <a:grpSpLocks/>
              </p:cNvGrpSpPr>
              <p:nvPr/>
            </p:nvGrpSpPr>
            <p:grpSpPr bwMode="auto">
              <a:xfrm>
                <a:off x="3606" y="3296"/>
                <a:ext cx="1950" cy="441"/>
                <a:chOff x="1933" y="1200"/>
                <a:chExt cx="1950" cy="441"/>
              </a:xfrm>
            </p:grpSpPr>
            <p:grpSp>
              <p:nvGrpSpPr>
                <p:cNvPr id="137369" name="Group 153"/>
                <p:cNvGrpSpPr>
                  <a:grpSpLocks noChangeAspect="1"/>
                </p:cNvGrpSpPr>
                <p:nvPr/>
              </p:nvGrpSpPr>
              <p:grpSpPr bwMode="auto">
                <a:xfrm>
                  <a:off x="2420" y="1304"/>
                  <a:ext cx="240" cy="233"/>
                  <a:chOff x="1355" y="528"/>
                  <a:chExt cx="520" cy="432"/>
                </a:xfrm>
              </p:grpSpPr>
              <p:grpSp>
                <p:nvGrpSpPr>
                  <p:cNvPr id="137370" name="Group 154"/>
                  <p:cNvGrpSpPr>
                    <a:grpSpLocks noChangeAspect="1"/>
                  </p:cNvGrpSpPr>
                  <p:nvPr/>
                </p:nvGrpSpPr>
                <p:grpSpPr bwMode="auto">
                  <a:xfrm>
                    <a:off x="1374" y="528"/>
                    <a:ext cx="480" cy="432"/>
                    <a:chOff x="1392" y="528"/>
                    <a:chExt cx="480" cy="432"/>
                  </a:xfrm>
                </p:grpSpPr>
                <p:sp>
                  <p:nvSpPr>
                    <p:cNvPr id="137371" name="Rectangle 155"/>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72" name="Rectangle 156"/>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7373" name="Text Box 157"/>
                  <p:cNvSpPr txBox="1">
                    <a:spLocks noChangeAspect="1" noChangeArrowheads="1"/>
                  </p:cNvSpPr>
                  <p:nvPr/>
                </p:nvSpPr>
                <p:spPr bwMode="auto">
                  <a:xfrm>
                    <a:off x="1355" y="574"/>
                    <a:ext cx="520"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7374" name="Line 158"/>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75" name="Line 159"/>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376" name="Group 160"/>
                <p:cNvGrpSpPr>
                  <a:grpSpLocks noChangeAspect="1"/>
                </p:cNvGrpSpPr>
                <p:nvPr/>
              </p:nvGrpSpPr>
              <p:grpSpPr bwMode="auto">
                <a:xfrm>
                  <a:off x="2851" y="1235"/>
                  <a:ext cx="206" cy="371"/>
                  <a:chOff x="2991" y="411"/>
                  <a:chExt cx="371" cy="768"/>
                </a:xfrm>
              </p:grpSpPr>
              <p:sp>
                <p:nvSpPr>
                  <p:cNvPr id="137377" name="AutoShape 161"/>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7378" name="AutoShape 162"/>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79" name="Freeform 163"/>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80" name="Text Box 164"/>
                  <p:cNvSpPr txBox="1">
                    <a:spLocks noChangeAspect="1" noChangeArrowheads="1"/>
                  </p:cNvSpPr>
                  <p:nvPr/>
                </p:nvSpPr>
                <p:spPr bwMode="auto">
                  <a:xfrm rot="-5400000">
                    <a:off x="2943" y="621"/>
                    <a:ext cx="575" cy="2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7381" name="Line 165"/>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82" name="Line 166"/>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383" name="Group 167"/>
                <p:cNvGrpSpPr>
                  <a:grpSpLocks noChangeAspect="1"/>
                </p:cNvGrpSpPr>
                <p:nvPr/>
              </p:nvGrpSpPr>
              <p:grpSpPr bwMode="auto">
                <a:xfrm>
                  <a:off x="3180" y="1305"/>
                  <a:ext cx="334" cy="232"/>
                  <a:chOff x="3790" y="576"/>
                  <a:chExt cx="722" cy="480"/>
                </a:xfrm>
              </p:grpSpPr>
              <p:sp>
                <p:nvSpPr>
                  <p:cNvPr id="137384" name="Rectangle 168"/>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7385" name="Text Box 169"/>
                  <p:cNvSpPr txBox="1">
                    <a:spLocks noChangeAspect="1" noChangeArrowheads="1"/>
                  </p:cNvSpPr>
                  <p:nvPr/>
                </p:nvSpPr>
                <p:spPr bwMode="auto">
                  <a:xfrm>
                    <a:off x="3790" y="628"/>
                    <a:ext cx="72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7386" name="Freeform 170"/>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87" name="Line 171"/>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88" name="Line 172"/>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7389" name="Group 173"/>
                <p:cNvGrpSpPr>
                  <a:grpSpLocks noChangeAspect="1"/>
                </p:cNvGrpSpPr>
                <p:nvPr/>
              </p:nvGrpSpPr>
              <p:grpSpPr bwMode="auto">
                <a:xfrm>
                  <a:off x="1933" y="1305"/>
                  <a:ext cx="352" cy="232"/>
                  <a:chOff x="1061" y="576"/>
                  <a:chExt cx="760" cy="480"/>
                </a:xfrm>
              </p:grpSpPr>
              <p:sp>
                <p:nvSpPr>
                  <p:cNvPr id="137390" name="Rectangle 174"/>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7391" name="Text Box 175"/>
                  <p:cNvSpPr txBox="1">
                    <a:spLocks noChangeAspect="1" noChangeArrowheads="1"/>
                  </p:cNvSpPr>
                  <p:nvPr/>
                </p:nvSpPr>
                <p:spPr bwMode="auto">
                  <a:xfrm>
                    <a:off x="1061" y="628"/>
                    <a:ext cx="760"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7392" name="Group 176"/>
                <p:cNvGrpSpPr>
                  <a:grpSpLocks/>
                </p:cNvGrpSpPr>
                <p:nvPr/>
              </p:nvGrpSpPr>
              <p:grpSpPr bwMode="auto">
                <a:xfrm>
                  <a:off x="2288" y="1200"/>
                  <a:ext cx="1297" cy="441"/>
                  <a:chOff x="2112" y="528"/>
                  <a:chExt cx="2088" cy="681"/>
                </a:xfrm>
              </p:grpSpPr>
              <p:sp>
                <p:nvSpPr>
                  <p:cNvPr id="137393" name="Rectangle 177"/>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94" name="Rectangle 178"/>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95" name="Rectangle 179"/>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396" name="Rectangle 180"/>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7397" name="Group 181"/>
                <p:cNvGrpSpPr>
                  <a:grpSpLocks noChangeAspect="1"/>
                </p:cNvGrpSpPr>
                <p:nvPr/>
              </p:nvGrpSpPr>
              <p:grpSpPr bwMode="auto">
                <a:xfrm flipH="1">
                  <a:off x="3642" y="1296"/>
                  <a:ext cx="241" cy="233"/>
                  <a:chOff x="1360" y="528"/>
                  <a:chExt cx="518" cy="432"/>
                </a:xfrm>
              </p:grpSpPr>
              <p:grpSp>
                <p:nvGrpSpPr>
                  <p:cNvPr id="137398" name="Group 182"/>
                  <p:cNvGrpSpPr>
                    <a:grpSpLocks noChangeAspect="1"/>
                  </p:cNvGrpSpPr>
                  <p:nvPr/>
                </p:nvGrpSpPr>
                <p:grpSpPr bwMode="auto">
                  <a:xfrm>
                    <a:off x="1374" y="528"/>
                    <a:ext cx="480" cy="432"/>
                    <a:chOff x="1392" y="528"/>
                    <a:chExt cx="480" cy="432"/>
                  </a:xfrm>
                </p:grpSpPr>
                <p:sp>
                  <p:nvSpPr>
                    <p:cNvPr id="137399" name="Rectangle 183"/>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400" name="Rectangle 184"/>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7401" name="Text Box 185"/>
                  <p:cNvSpPr txBox="1">
                    <a:spLocks noChangeAspect="1" noChangeArrowheads="1"/>
                  </p:cNvSpPr>
                  <p:nvPr/>
                </p:nvSpPr>
                <p:spPr bwMode="auto">
                  <a:xfrm>
                    <a:off x="1360" y="574"/>
                    <a:ext cx="51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sp>
          <p:nvSpPr>
            <p:cNvPr id="137402" name="Line 186"/>
            <p:cNvSpPr>
              <a:spLocks noChangeShapeType="1"/>
            </p:cNvSpPr>
            <p:nvPr/>
          </p:nvSpPr>
          <p:spPr bwMode="auto">
            <a:xfrm>
              <a:off x="3152" y="1420"/>
              <a:ext cx="112" cy="452"/>
            </a:xfrm>
            <a:prstGeom prst="line">
              <a:avLst/>
            </a:prstGeom>
            <a:noFill/>
            <a:ln w="762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403" name="Line 187"/>
            <p:cNvSpPr>
              <a:spLocks noChangeShapeType="1"/>
            </p:cNvSpPr>
            <p:nvPr/>
          </p:nvSpPr>
          <p:spPr bwMode="auto">
            <a:xfrm>
              <a:off x="3568" y="1408"/>
              <a:ext cx="144" cy="960"/>
            </a:xfrm>
            <a:prstGeom prst="line">
              <a:avLst/>
            </a:prstGeom>
            <a:noFill/>
            <a:ln w="76200">
              <a:solidFill>
                <a:srgbClr val="00B05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7404" name="Line 188"/>
            <p:cNvSpPr>
              <a:spLocks noChangeShapeType="1"/>
            </p:cNvSpPr>
            <p:nvPr/>
          </p:nvSpPr>
          <p:spPr bwMode="auto">
            <a:xfrm>
              <a:off x="3744" y="1392"/>
              <a:ext cx="48" cy="1536"/>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矩形 1"/>
          <p:cNvSpPr/>
          <p:nvPr/>
        </p:nvSpPr>
        <p:spPr>
          <a:xfrm>
            <a:off x="7303262" y="1556792"/>
            <a:ext cx="4769401" cy="2677656"/>
          </a:xfrm>
          <a:prstGeom prst="rect">
            <a:avLst/>
          </a:prstGeom>
        </p:spPr>
        <p:txBody>
          <a:bodyPr wrap="square">
            <a:spAutoFit/>
          </a:bodyPr>
          <a:lstStyle/>
          <a:p>
            <a:r>
              <a:rPr lang="en-US" altLang="zh-CN" sz="2400" dirty="0">
                <a:solidFill>
                  <a:srgbClr val="0000FF"/>
                </a:solidFill>
              </a:rPr>
              <a:t>The inputs for the </a:t>
            </a:r>
            <a:r>
              <a:rPr lang="en-US" altLang="zh-CN" sz="2400" dirty="0">
                <a:solidFill>
                  <a:srgbClr val="0000FF"/>
                </a:solidFill>
                <a:latin typeface="Courier New" panose="02070309020205020404" pitchFamily="49" charset="0"/>
                <a:cs typeface="Courier New" panose="02070309020205020404" pitchFamily="49" charset="0"/>
              </a:rPr>
              <a:t>sub</a:t>
            </a:r>
            <a:r>
              <a:rPr lang="en-US" altLang="zh-CN" sz="2400" dirty="0">
                <a:solidFill>
                  <a:srgbClr val="0000FF"/>
                </a:solidFill>
              </a:rPr>
              <a:t> and </a:t>
            </a:r>
            <a:r>
              <a:rPr lang="en-US" altLang="zh-CN" sz="2400" dirty="0" err="1">
                <a:solidFill>
                  <a:srgbClr val="0000FF"/>
                </a:solidFill>
                <a:latin typeface="Courier New" panose="02070309020205020404" pitchFamily="49" charset="0"/>
                <a:cs typeface="Courier New" panose="02070309020205020404" pitchFamily="49" charset="0"/>
              </a:rPr>
              <a:t>and</a:t>
            </a:r>
            <a:r>
              <a:rPr lang="en-US" altLang="zh-CN" sz="2400" dirty="0">
                <a:solidFill>
                  <a:srgbClr val="0000FF"/>
                </a:solidFill>
              </a:rPr>
              <a:t> instructions forward from the pipeline registers to the first ALU input. The </a:t>
            </a:r>
            <a:r>
              <a:rPr lang="en-US" altLang="zh-CN" sz="2400" dirty="0">
                <a:solidFill>
                  <a:srgbClr val="0000FF"/>
                </a:solidFill>
                <a:latin typeface="Courier New" panose="02070309020205020404" pitchFamily="49" charset="0"/>
                <a:cs typeface="Courier New" panose="02070309020205020404" pitchFamily="49" charset="0"/>
              </a:rPr>
              <a:t>or</a:t>
            </a:r>
            <a:r>
              <a:rPr lang="en-US" altLang="zh-CN" sz="2400" dirty="0">
                <a:solidFill>
                  <a:srgbClr val="0000FF"/>
                </a:solidFill>
              </a:rPr>
              <a:t> receives its result by forwarding through the register </a:t>
            </a:r>
            <a:r>
              <a:rPr lang="en-US" altLang="zh-CN" sz="2400" dirty="0" smtClean="0">
                <a:solidFill>
                  <a:srgbClr val="0000FF"/>
                </a:solidFill>
              </a:rPr>
              <a:t>file. </a:t>
            </a:r>
            <a:r>
              <a:rPr lang="en-US" altLang="zh-CN" sz="2400" dirty="0">
                <a:solidFill>
                  <a:srgbClr val="0000FF"/>
                </a:solidFill>
              </a:rPr>
              <a:t>Notice that the forwarded result can go to either ALU </a:t>
            </a:r>
            <a:r>
              <a:rPr lang="en-US" altLang="zh-CN" sz="2400" dirty="0" smtClean="0">
                <a:solidFill>
                  <a:srgbClr val="0000FF"/>
                </a:solidFill>
              </a:rPr>
              <a:t>input</a:t>
            </a:r>
            <a:endParaRPr lang="en-US" altLang="zh-CN" sz="2400" dirty="0">
              <a:solidFill>
                <a:srgbClr val="0000FF"/>
              </a:solidFill>
            </a:endParaRPr>
          </a:p>
        </p:txBody>
      </p:sp>
    </p:spTree>
    <p:extLst>
      <p:ext uri="{BB962C8B-B14F-4D97-AF65-F5344CB8AC3E}">
        <p14:creationId xmlns:p14="http://schemas.microsoft.com/office/powerpoint/2010/main" val="2165307869"/>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Line 2"/>
          <p:cNvSpPr>
            <a:spLocks noChangeShapeType="1"/>
          </p:cNvSpPr>
          <p:nvPr/>
        </p:nvSpPr>
        <p:spPr bwMode="auto">
          <a:xfrm>
            <a:off x="2578100" y="1897534"/>
            <a:ext cx="7486650"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67" name="Rectangle 3"/>
          <p:cNvSpPr>
            <a:spLocks noChangeArrowheads="1"/>
          </p:cNvSpPr>
          <p:nvPr/>
        </p:nvSpPr>
        <p:spPr bwMode="auto">
          <a:xfrm>
            <a:off x="2335213" y="1484784"/>
            <a:ext cx="2508250" cy="393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000" i="1">
                <a:latin typeface="Comic Sans MS" panose="030F0702030302020204" pitchFamily="66" charset="0"/>
              </a:rPr>
              <a:t>Time (clock cycles)</a:t>
            </a:r>
          </a:p>
        </p:txBody>
      </p:sp>
      <p:grpSp>
        <p:nvGrpSpPr>
          <p:cNvPr id="139268" name="Group 4"/>
          <p:cNvGrpSpPr>
            <a:grpSpLocks/>
          </p:cNvGrpSpPr>
          <p:nvPr/>
        </p:nvGrpSpPr>
        <p:grpSpPr bwMode="auto">
          <a:xfrm>
            <a:off x="1617663" y="2308698"/>
            <a:ext cx="3198812" cy="3743325"/>
            <a:chOff x="186" y="1728"/>
            <a:chExt cx="2015" cy="2358"/>
          </a:xfrm>
        </p:grpSpPr>
        <p:sp>
          <p:nvSpPr>
            <p:cNvPr id="139269" name="Rectangle 5"/>
            <p:cNvSpPr>
              <a:spLocks noChangeArrowheads="1"/>
            </p:cNvSpPr>
            <p:nvPr/>
          </p:nvSpPr>
          <p:spPr bwMode="auto">
            <a:xfrm>
              <a:off x="186" y="1752"/>
              <a:ext cx="244" cy="21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sz="2000" i="1">
                  <a:latin typeface="Comic Sans MS" panose="030F0702030302020204" pitchFamily="66" charset="0"/>
                </a:rPr>
                <a:t>I</a:t>
              </a:r>
            </a:p>
            <a:p>
              <a:pPr algn="ctr" eaLnBrk="1" hangingPunct="1"/>
              <a:r>
                <a:rPr lang="en-US" altLang="zh-CN" sz="2000" i="1">
                  <a:latin typeface="Comic Sans MS" panose="030F0702030302020204" pitchFamily="66" charset="0"/>
                </a:rPr>
                <a:t>n</a:t>
              </a:r>
            </a:p>
            <a:p>
              <a:pPr algn="ctr" eaLnBrk="1" hangingPunct="1"/>
              <a:r>
                <a:rPr lang="en-US" altLang="zh-CN" sz="2000" i="1">
                  <a:latin typeface="Comic Sans MS" panose="030F0702030302020204" pitchFamily="66" charset="0"/>
                </a:rPr>
                <a:t>s</a:t>
              </a:r>
            </a:p>
            <a:p>
              <a:pPr algn="ctr" eaLnBrk="1" hangingPunct="1"/>
              <a:r>
                <a:rPr lang="en-US" altLang="zh-CN" sz="2000" i="1">
                  <a:latin typeface="Comic Sans MS" panose="030F0702030302020204" pitchFamily="66" charset="0"/>
                </a:rPr>
                <a:t>t</a:t>
              </a:r>
            </a:p>
            <a:p>
              <a:pPr algn="ctr" eaLnBrk="1" hangingPunct="1"/>
              <a:r>
                <a:rPr lang="en-US" altLang="zh-CN" sz="2000" i="1">
                  <a:latin typeface="Comic Sans MS" panose="030F0702030302020204" pitchFamily="66" charset="0"/>
                </a:rPr>
                <a:t>r.</a:t>
              </a:r>
            </a:p>
            <a:p>
              <a:pPr algn="ctr" eaLnBrk="1" hangingPunct="1"/>
              <a:endParaRPr lang="en-US" altLang="zh-CN" sz="2000" i="1">
                <a:latin typeface="Comic Sans MS" panose="030F0702030302020204" pitchFamily="66" charset="0"/>
              </a:endParaRPr>
            </a:p>
            <a:p>
              <a:pPr algn="ctr" eaLnBrk="1" hangingPunct="1"/>
              <a:r>
                <a:rPr lang="en-US" altLang="zh-CN" sz="2000" i="1">
                  <a:latin typeface="Comic Sans MS" panose="030F0702030302020204" pitchFamily="66" charset="0"/>
                </a:rPr>
                <a:t>O</a:t>
              </a:r>
            </a:p>
            <a:p>
              <a:pPr algn="ctr" eaLnBrk="1" hangingPunct="1"/>
              <a:r>
                <a:rPr lang="en-US" altLang="zh-CN" sz="2000" i="1">
                  <a:latin typeface="Comic Sans MS" panose="030F0702030302020204" pitchFamily="66" charset="0"/>
                </a:rPr>
                <a:t>r</a:t>
              </a:r>
            </a:p>
            <a:p>
              <a:pPr algn="ctr" eaLnBrk="1" hangingPunct="1"/>
              <a:r>
                <a:rPr lang="en-US" altLang="zh-CN" sz="2000" i="1">
                  <a:latin typeface="Comic Sans MS" panose="030F0702030302020204" pitchFamily="66" charset="0"/>
                </a:rPr>
                <a:t>d</a:t>
              </a:r>
            </a:p>
            <a:p>
              <a:pPr algn="ctr" eaLnBrk="1" hangingPunct="1"/>
              <a:r>
                <a:rPr lang="en-US" altLang="zh-CN" sz="2000" i="1">
                  <a:latin typeface="Comic Sans MS" panose="030F0702030302020204" pitchFamily="66" charset="0"/>
                </a:rPr>
                <a:t>e</a:t>
              </a:r>
            </a:p>
            <a:p>
              <a:pPr algn="ctr" eaLnBrk="1" hangingPunct="1"/>
              <a:r>
                <a:rPr lang="en-US" altLang="zh-CN" sz="2000" i="1">
                  <a:latin typeface="Comic Sans MS" panose="030F0702030302020204" pitchFamily="66" charset="0"/>
                </a:rPr>
                <a:t>r</a:t>
              </a:r>
            </a:p>
          </p:txBody>
        </p:sp>
        <p:sp>
          <p:nvSpPr>
            <p:cNvPr id="139270" name="Line 6"/>
            <p:cNvSpPr>
              <a:spLocks noChangeShapeType="1"/>
            </p:cNvSpPr>
            <p:nvPr/>
          </p:nvSpPr>
          <p:spPr bwMode="auto">
            <a:xfrm>
              <a:off x="500" y="1764"/>
              <a:ext cx="0" cy="2308"/>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271" name="Group 7"/>
            <p:cNvGrpSpPr>
              <a:grpSpLocks/>
            </p:cNvGrpSpPr>
            <p:nvPr/>
          </p:nvGrpSpPr>
          <p:grpSpPr bwMode="auto">
            <a:xfrm>
              <a:off x="576" y="1728"/>
              <a:ext cx="1625" cy="2358"/>
              <a:chOff x="835" y="1730"/>
              <a:chExt cx="1625" cy="2358"/>
            </a:xfrm>
          </p:grpSpPr>
          <p:sp>
            <p:nvSpPr>
              <p:cNvPr id="139272" name="Rectangle 8"/>
              <p:cNvSpPr>
                <a:spLocks noChangeArrowheads="1"/>
              </p:cNvSpPr>
              <p:nvPr/>
            </p:nvSpPr>
            <p:spPr bwMode="auto">
              <a:xfrm>
                <a:off x="835" y="1730"/>
                <a:ext cx="1509"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solidFill>
                      <a:schemeClr val="hlink"/>
                    </a:solidFill>
                    <a:latin typeface="Courier New" panose="02070309020205020404" pitchFamily="49" charset="0"/>
                  </a:rPr>
                  <a:t>lw</a:t>
                </a:r>
                <a:r>
                  <a:rPr lang="en-US" altLang="zh-CN" sz="2400">
                    <a:latin typeface="Courier New" panose="02070309020205020404" pitchFamily="49" charset="0"/>
                  </a:rPr>
                  <a:t> </a:t>
                </a:r>
                <a:r>
                  <a:rPr lang="en-US" altLang="zh-CN" sz="2400">
                    <a:solidFill>
                      <a:schemeClr val="hlink"/>
                    </a:solidFill>
                    <a:latin typeface="Courier New" panose="02070309020205020404" pitchFamily="49" charset="0"/>
                  </a:rPr>
                  <a:t>r1, 0</a:t>
                </a:r>
                <a:r>
                  <a:rPr lang="en-US" altLang="zh-CN" sz="2400">
                    <a:latin typeface="Courier New" panose="02070309020205020404" pitchFamily="49" charset="0"/>
                  </a:rPr>
                  <a:t>(r2)</a:t>
                </a:r>
              </a:p>
              <a:p>
                <a:pPr eaLnBrk="1" hangingPunct="1"/>
                <a:endParaRPr lang="en-US" altLang="zh-CN" sz="2400">
                  <a:latin typeface="Courier New" panose="02070309020205020404" pitchFamily="49" charset="0"/>
                </a:endParaRPr>
              </a:p>
            </p:txBody>
          </p:sp>
          <p:sp>
            <p:nvSpPr>
              <p:cNvPr id="139273" name="Rectangle 9"/>
              <p:cNvSpPr>
                <a:spLocks noChangeArrowheads="1"/>
              </p:cNvSpPr>
              <p:nvPr/>
            </p:nvSpPr>
            <p:spPr bwMode="auto">
              <a:xfrm>
                <a:off x="835" y="2342"/>
                <a:ext cx="1509"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dirty="0">
                    <a:latin typeface="Courier New" panose="02070309020205020404" pitchFamily="49" charset="0"/>
                  </a:rPr>
                  <a:t>sub r4,</a:t>
                </a:r>
                <a:r>
                  <a:rPr lang="en-US" altLang="zh-CN" sz="2400" dirty="0">
                    <a:solidFill>
                      <a:srgbClr val="FF0000"/>
                    </a:solidFill>
                    <a:latin typeface="Courier New" panose="02070309020205020404" pitchFamily="49" charset="0"/>
                  </a:rPr>
                  <a:t>r1</a:t>
                </a:r>
                <a:r>
                  <a:rPr lang="en-US" altLang="zh-CN" sz="2400" dirty="0">
                    <a:latin typeface="Courier New" panose="02070309020205020404" pitchFamily="49" charset="0"/>
                  </a:rPr>
                  <a:t>,r6</a:t>
                </a:r>
              </a:p>
              <a:p>
                <a:pPr eaLnBrk="1" hangingPunct="1"/>
                <a:endParaRPr lang="en-US" altLang="zh-CN" sz="2400" dirty="0">
                  <a:latin typeface="Courier New" panose="02070309020205020404" pitchFamily="49" charset="0"/>
                </a:endParaRPr>
              </a:p>
            </p:txBody>
          </p:sp>
          <p:sp>
            <p:nvSpPr>
              <p:cNvPr id="139274" name="Rectangle 10"/>
              <p:cNvSpPr>
                <a:spLocks noChangeArrowheads="1"/>
              </p:cNvSpPr>
              <p:nvPr/>
            </p:nvSpPr>
            <p:spPr bwMode="auto">
              <a:xfrm>
                <a:off x="835" y="2942"/>
                <a:ext cx="1509"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and r6,</a:t>
                </a:r>
                <a:r>
                  <a:rPr lang="en-US" altLang="zh-CN" sz="2400">
                    <a:solidFill>
                      <a:schemeClr val="accent2"/>
                    </a:solidFill>
                    <a:latin typeface="Courier New" panose="02070309020205020404" pitchFamily="49" charset="0"/>
                  </a:rPr>
                  <a:t>r1</a:t>
                </a:r>
                <a:r>
                  <a:rPr lang="en-US" altLang="zh-CN" sz="2400">
                    <a:latin typeface="Courier New" panose="02070309020205020404" pitchFamily="49" charset="0"/>
                  </a:rPr>
                  <a:t>,r7</a:t>
                </a:r>
              </a:p>
              <a:p>
                <a:pPr eaLnBrk="1" hangingPunct="1"/>
                <a:endParaRPr lang="en-US" altLang="zh-CN" sz="2400">
                  <a:latin typeface="Courier New" panose="02070309020205020404" pitchFamily="49" charset="0"/>
                </a:endParaRPr>
              </a:p>
            </p:txBody>
          </p:sp>
          <p:sp>
            <p:nvSpPr>
              <p:cNvPr id="139275" name="Rectangle 11"/>
              <p:cNvSpPr>
                <a:spLocks noChangeArrowheads="1"/>
              </p:cNvSpPr>
              <p:nvPr/>
            </p:nvSpPr>
            <p:spPr bwMode="auto">
              <a:xfrm>
                <a:off x="835" y="3566"/>
                <a:ext cx="1625"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or   r8,</a:t>
                </a:r>
                <a:r>
                  <a:rPr lang="en-US" altLang="zh-CN" sz="2400">
                    <a:solidFill>
                      <a:schemeClr val="accent2"/>
                    </a:solidFill>
                    <a:latin typeface="Courier New" panose="02070309020205020404" pitchFamily="49" charset="0"/>
                  </a:rPr>
                  <a:t>r1</a:t>
                </a:r>
                <a:r>
                  <a:rPr lang="en-US" altLang="zh-CN" sz="2400">
                    <a:latin typeface="Courier New" panose="02070309020205020404" pitchFamily="49" charset="0"/>
                  </a:rPr>
                  <a:t>,r9</a:t>
                </a:r>
              </a:p>
              <a:p>
                <a:pPr eaLnBrk="1" hangingPunct="1"/>
                <a:endParaRPr lang="en-US" altLang="zh-CN" sz="2400">
                  <a:latin typeface="Courier New" panose="02070309020205020404" pitchFamily="49" charset="0"/>
                </a:endParaRPr>
              </a:p>
            </p:txBody>
          </p:sp>
        </p:grpSp>
      </p:grpSp>
      <p:sp>
        <p:nvSpPr>
          <p:cNvPr id="139276" name="Rectangle 12"/>
          <p:cNvSpPr>
            <a:spLocks noGrp="1" noChangeArrowheads="1"/>
          </p:cNvSpPr>
          <p:nvPr>
            <p:ph type="title"/>
          </p:nvPr>
        </p:nvSpPr>
        <p:spPr>
          <a:xfrm>
            <a:off x="839416" y="152400"/>
            <a:ext cx="9085634" cy="11430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Data Hazard Even with Forwarding</a:t>
            </a:r>
            <a:endParaRPr lang="en-US" altLang="zh-CN" sz="2400" dirty="0">
              <a:solidFill>
                <a:schemeClr val="tx1"/>
              </a:solidFill>
            </a:endParaRPr>
          </a:p>
        </p:txBody>
      </p:sp>
      <p:grpSp>
        <p:nvGrpSpPr>
          <p:cNvPr id="139277" name="Group 13"/>
          <p:cNvGrpSpPr>
            <a:grpSpLocks/>
          </p:cNvGrpSpPr>
          <p:nvPr/>
        </p:nvGrpSpPr>
        <p:grpSpPr bwMode="auto">
          <a:xfrm>
            <a:off x="4491039" y="2199159"/>
            <a:ext cx="6046787" cy="3519488"/>
            <a:chOff x="1951" y="1680"/>
            <a:chExt cx="3809" cy="2217"/>
          </a:xfrm>
        </p:grpSpPr>
        <p:grpSp>
          <p:nvGrpSpPr>
            <p:cNvPr id="139278" name="Group 14"/>
            <p:cNvGrpSpPr>
              <a:grpSpLocks/>
            </p:cNvGrpSpPr>
            <p:nvPr/>
          </p:nvGrpSpPr>
          <p:grpSpPr bwMode="auto">
            <a:xfrm>
              <a:off x="1951" y="1680"/>
              <a:ext cx="2310" cy="441"/>
              <a:chOff x="1953" y="1200"/>
              <a:chExt cx="1919" cy="441"/>
            </a:xfrm>
          </p:grpSpPr>
          <p:grpSp>
            <p:nvGrpSpPr>
              <p:cNvPr id="139279" name="Group 15"/>
              <p:cNvGrpSpPr>
                <a:grpSpLocks noChangeAspect="1"/>
              </p:cNvGrpSpPr>
              <p:nvPr/>
            </p:nvGrpSpPr>
            <p:grpSpPr bwMode="auto">
              <a:xfrm>
                <a:off x="2429" y="1304"/>
                <a:ext cx="221" cy="233"/>
                <a:chOff x="1374" y="528"/>
                <a:chExt cx="480" cy="432"/>
              </a:xfrm>
            </p:grpSpPr>
            <p:grpSp>
              <p:nvGrpSpPr>
                <p:cNvPr id="139280" name="Group 16"/>
                <p:cNvGrpSpPr>
                  <a:grpSpLocks noChangeAspect="1"/>
                </p:cNvGrpSpPr>
                <p:nvPr/>
              </p:nvGrpSpPr>
              <p:grpSpPr bwMode="auto">
                <a:xfrm>
                  <a:off x="1374" y="528"/>
                  <a:ext cx="480" cy="432"/>
                  <a:chOff x="1392" y="528"/>
                  <a:chExt cx="480" cy="432"/>
                </a:xfrm>
              </p:grpSpPr>
              <p:sp>
                <p:nvSpPr>
                  <p:cNvPr id="139281" name="Rectangle 17"/>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82" name="Rectangle 18"/>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9283" name="Text Box 19"/>
                <p:cNvSpPr txBox="1">
                  <a:spLocks noChangeAspect="1" noChangeArrowheads="1"/>
                </p:cNvSpPr>
                <p:nvPr/>
              </p:nvSpPr>
              <p:spPr bwMode="auto">
                <a:xfrm>
                  <a:off x="1387" y="574"/>
                  <a:ext cx="45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9284" name="Line 20"/>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85" name="Line 21"/>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286" name="Group 22"/>
              <p:cNvGrpSpPr>
                <a:grpSpLocks noChangeAspect="1"/>
              </p:cNvGrpSpPr>
              <p:nvPr/>
            </p:nvGrpSpPr>
            <p:grpSpPr bwMode="auto">
              <a:xfrm>
                <a:off x="2851" y="1235"/>
                <a:ext cx="199" cy="371"/>
                <a:chOff x="2991" y="411"/>
                <a:chExt cx="359" cy="768"/>
              </a:xfrm>
            </p:grpSpPr>
            <p:sp>
              <p:nvSpPr>
                <p:cNvPr id="139287" name="AutoShape 23"/>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9288" name="AutoShape 24"/>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89" name="Freeform 25"/>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90" name="Text Box 26"/>
                <p:cNvSpPr txBox="1">
                  <a:spLocks noChangeAspect="1" noChangeArrowheads="1"/>
                </p:cNvSpPr>
                <p:nvPr/>
              </p:nvSpPr>
              <p:spPr bwMode="auto">
                <a:xfrm rot="16200000">
                  <a:off x="2940" y="633"/>
                  <a:ext cx="579" cy="2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9291" name="Line 27"/>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92" name="Line 28"/>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293" name="Group 29"/>
              <p:cNvGrpSpPr>
                <a:grpSpLocks noChangeAspect="1"/>
              </p:cNvGrpSpPr>
              <p:nvPr/>
            </p:nvGrpSpPr>
            <p:grpSpPr bwMode="auto">
              <a:xfrm>
                <a:off x="3201" y="1305"/>
                <a:ext cx="292" cy="232"/>
                <a:chOff x="3836" y="576"/>
                <a:chExt cx="630" cy="480"/>
              </a:xfrm>
            </p:grpSpPr>
            <p:sp>
              <p:nvSpPr>
                <p:cNvPr id="139294" name="Rectangle 30"/>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9295" name="Text Box 31"/>
                <p:cNvSpPr txBox="1">
                  <a:spLocks noChangeAspect="1" noChangeArrowheads="1"/>
                </p:cNvSpPr>
                <p:nvPr/>
              </p:nvSpPr>
              <p:spPr bwMode="auto">
                <a:xfrm>
                  <a:off x="3836" y="628"/>
                  <a:ext cx="630"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9296" name="Freeform 32"/>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97" name="Line 33"/>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298" name="Line 34"/>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299" name="Group 35"/>
              <p:cNvGrpSpPr>
                <a:grpSpLocks noChangeAspect="1"/>
              </p:cNvGrpSpPr>
              <p:nvPr/>
            </p:nvGrpSpPr>
            <p:grpSpPr bwMode="auto">
              <a:xfrm>
                <a:off x="1953" y="1305"/>
                <a:ext cx="308" cy="232"/>
                <a:chOff x="1104" y="576"/>
                <a:chExt cx="664" cy="480"/>
              </a:xfrm>
            </p:grpSpPr>
            <p:sp>
              <p:nvSpPr>
                <p:cNvPr id="139300" name="Rectangle 36"/>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9301" name="Text Box 37"/>
                <p:cNvSpPr txBox="1">
                  <a:spLocks noChangeAspect="1" noChangeArrowheads="1"/>
                </p:cNvSpPr>
                <p:nvPr/>
              </p:nvSpPr>
              <p:spPr bwMode="auto">
                <a:xfrm>
                  <a:off x="1104" y="628"/>
                  <a:ext cx="66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9302" name="Group 38"/>
              <p:cNvGrpSpPr>
                <a:grpSpLocks/>
              </p:cNvGrpSpPr>
              <p:nvPr/>
            </p:nvGrpSpPr>
            <p:grpSpPr bwMode="auto">
              <a:xfrm>
                <a:off x="2288" y="1200"/>
                <a:ext cx="1297" cy="441"/>
                <a:chOff x="2112" y="528"/>
                <a:chExt cx="2088" cy="681"/>
              </a:xfrm>
            </p:grpSpPr>
            <p:sp>
              <p:nvSpPr>
                <p:cNvPr id="139303" name="Rectangle 39"/>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04" name="Rectangle 40"/>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05" name="Rectangle 41"/>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06" name="Rectangle 42"/>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9307" name="Group 43"/>
              <p:cNvGrpSpPr>
                <a:grpSpLocks noChangeAspect="1"/>
              </p:cNvGrpSpPr>
              <p:nvPr/>
            </p:nvGrpSpPr>
            <p:grpSpPr bwMode="auto">
              <a:xfrm flipH="1">
                <a:off x="3649" y="1296"/>
                <a:ext cx="223" cy="233"/>
                <a:chOff x="1374" y="528"/>
                <a:chExt cx="480" cy="432"/>
              </a:xfrm>
            </p:grpSpPr>
            <p:grpSp>
              <p:nvGrpSpPr>
                <p:cNvPr id="139308" name="Group 44"/>
                <p:cNvGrpSpPr>
                  <a:grpSpLocks noChangeAspect="1"/>
                </p:cNvGrpSpPr>
                <p:nvPr/>
              </p:nvGrpSpPr>
              <p:grpSpPr bwMode="auto">
                <a:xfrm>
                  <a:off x="1374" y="528"/>
                  <a:ext cx="480" cy="432"/>
                  <a:chOff x="1392" y="528"/>
                  <a:chExt cx="480" cy="432"/>
                </a:xfrm>
              </p:grpSpPr>
              <p:sp>
                <p:nvSpPr>
                  <p:cNvPr id="139309" name="Rectangle 45"/>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10" name="Rectangle 46"/>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9311" name="Text Box 47"/>
                <p:cNvSpPr txBox="1">
                  <a:spLocks noChangeAspect="1" noChangeArrowheads="1"/>
                </p:cNvSpPr>
                <p:nvPr/>
              </p:nvSpPr>
              <p:spPr bwMode="auto">
                <a:xfrm>
                  <a:off x="1396" y="574"/>
                  <a:ext cx="454"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9312" name="Group 48"/>
            <p:cNvGrpSpPr>
              <a:grpSpLocks/>
            </p:cNvGrpSpPr>
            <p:nvPr/>
          </p:nvGrpSpPr>
          <p:grpSpPr bwMode="auto">
            <a:xfrm>
              <a:off x="2467" y="2266"/>
              <a:ext cx="2310" cy="441"/>
              <a:chOff x="1953" y="1200"/>
              <a:chExt cx="1919" cy="441"/>
            </a:xfrm>
          </p:grpSpPr>
          <p:grpSp>
            <p:nvGrpSpPr>
              <p:cNvPr id="139313" name="Group 49"/>
              <p:cNvGrpSpPr>
                <a:grpSpLocks noChangeAspect="1"/>
              </p:cNvGrpSpPr>
              <p:nvPr/>
            </p:nvGrpSpPr>
            <p:grpSpPr bwMode="auto">
              <a:xfrm>
                <a:off x="2429" y="1304"/>
                <a:ext cx="221" cy="233"/>
                <a:chOff x="1374" y="528"/>
                <a:chExt cx="480" cy="432"/>
              </a:xfrm>
            </p:grpSpPr>
            <p:grpSp>
              <p:nvGrpSpPr>
                <p:cNvPr id="139314" name="Group 50"/>
                <p:cNvGrpSpPr>
                  <a:grpSpLocks noChangeAspect="1"/>
                </p:cNvGrpSpPr>
                <p:nvPr/>
              </p:nvGrpSpPr>
              <p:grpSpPr bwMode="auto">
                <a:xfrm>
                  <a:off x="1374" y="528"/>
                  <a:ext cx="480" cy="432"/>
                  <a:chOff x="1392" y="528"/>
                  <a:chExt cx="480" cy="432"/>
                </a:xfrm>
              </p:grpSpPr>
              <p:sp>
                <p:nvSpPr>
                  <p:cNvPr id="139315" name="Rectangle 51"/>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16" name="Rectangle 52"/>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9317" name="Text Box 53"/>
                <p:cNvSpPr txBox="1">
                  <a:spLocks noChangeAspect="1" noChangeArrowheads="1"/>
                </p:cNvSpPr>
                <p:nvPr/>
              </p:nvSpPr>
              <p:spPr bwMode="auto">
                <a:xfrm>
                  <a:off x="1387" y="574"/>
                  <a:ext cx="45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9318" name="Line 54"/>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19" name="Line 55"/>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320" name="Group 56"/>
              <p:cNvGrpSpPr>
                <a:grpSpLocks noChangeAspect="1"/>
              </p:cNvGrpSpPr>
              <p:nvPr/>
            </p:nvGrpSpPr>
            <p:grpSpPr bwMode="auto">
              <a:xfrm>
                <a:off x="2851" y="1235"/>
                <a:ext cx="199" cy="371"/>
                <a:chOff x="2991" y="411"/>
                <a:chExt cx="359" cy="768"/>
              </a:xfrm>
            </p:grpSpPr>
            <p:sp>
              <p:nvSpPr>
                <p:cNvPr id="139321" name="AutoShape 57"/>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9322" name="AutoShape 58"/>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23" name="Freeform 59"/>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24" name="Text Box 60"/>
                <p:cNvSpPr txBox="1">
                  <a:spLocks noChangeAspect="1" noChangeArrowheads="1"/>
                </p:cNvSpPr>
                <p:nvPr/>
              </p:nvSpPr>
              <p:spPr bwMode="auto">
                <a:xfrm rot="-5400000">
                  <a:off x="2943" y="633"/>
                  <a:ext cx="57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9325" name="Line 61"/>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26" name="Line 62"/>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327" name="Group 63"/>
              <p:cNvGrpSpPr>
                <a:grpSpLocks noChangeAspect="1"/>
              </p:cNvGrpSpPr>
              <p:nvPr/>
            </p:nvGrpSpPr>
            <p:grpSpPr bwMode="auto">
              <a:xfrm>
                <a:off x="3201" y="1305"/>
                <a:ext cx="292" cy="232"/>
                <a:chOff x="3836" y="576"/>
                <a:chExt cx="630" cy="480"/>
              </a:xfrm>
            </p:grpSpPr>
            <p:sp>
              <p:nvSpPr>
                <p:cNvPr id="139328" name="Rectangle 64"/>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9329" name="Text Box 65"/>
                <p:cNvSpPr txBox="1">
                  <a:spLocks noChangeAspect="1" noChangeArrowheads="1"/>
                </p:cNvSpPr>
                <p:nvPr/>
              </p:nvSpPr>
              <p:spPr bwMode="auto">
                <a:xfrm>
                  <a:off x="3836" y="628"/>
                  <a:ext cx="630"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9330" name="Freeform 66"/>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31" name="Line 67"/>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32" name="Line 68"/>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333" name="Group 69"/>
              <p:cNvGrpSpPr>
                <a:grpSpLocks noChangeAspect="1"/>
              </p:cNvGrpSpPr>
              <p:nvPr/>
            </p:nvGrpSpPr>
            <p:grpSpPr bwMode="auto">
              <a:xfrm>
                <a:off x="1953" y="1305"/>
                <a:ext cx="308" cy="232"/>
                <a:chOff x="1104" y="576"/>
                <a:chExt cx="664" cy="480"/>
              </a:xfrm>
            </p:grpSpPr>
            <p:sp>
              <p:nvSpPr>
                <p:cNvPr id="139334" name="Rectangle 70"/>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9335" name="Text Box 71"/>
                <p:cNvSpPr txBox="1">
                  <a:spLocks noChangeAspect="1" noChangeArrowheads="1"/>
                </p:cNvSpPr>
                <p:nvPr/>
              </p:nvSpPr>
              <p:spPr bwMode="auto">
                <a:xfrm>
                  <a:off x="1104" y="628"/>
                  <a:ext cx="66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9336" name="Group 72"/>
              <p:cNvGrpSpPr>
                <a:grpSpLocks/>
              </p:cNvGrpSpPr>
              <p:nvPr/>
            </p:nvGrpSpPr>
            <p:grpSpPr bwMode="auto">
              <a:xfrm>
                <a:off x="2288" y="1200"/>
                <a:ext cx="1297" cy="441"/>
                <a:chOff x="2112" y="528"/>
                <a:chExt cx="2088" cy="681"/>
              </a:xfrm>
            </p:grpSpPr>
            <p:sp>
              <p:nvSpPr>
                <p:cNvPr id="139337" name="Rectangle 73"/>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38" name="Rectangle 74"/>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39" name="Rectangle 75"/>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40" name="Rectangle 76"/>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9341" name="Group 77"/>
              <p:cNvGrpSpPr>
                <a:grpSpLocks noChangeAspect="1"/>
              </p:cNvGrpSpPr>
              <p:nvPr/>
            </p:nvGrpSpPr>
            <p:grpSpPr bwMode="auto">
              <a:xfrm flipH="1">
                <a:off x="3649" y="1296"/>
                <a:ext cx="223" cy="233"/>
                <a:chOff x="1374" y="528"/>
                <a:chExt cx="480" cy="432"/>
              </a:xfrm>
            </p:grpSpPr>
            <p:grpSp>
              <p:nvGrpSpPr>
                <p:cNvPr id="139342" name="Group 78"/>
                <p:cNvGrpSpPr>
                  <a:grpSpLocks noChangeAspect="1"/>
                </p:cNvGrpSpPr>
                <p:nvPr/>
              </p:nvGrpSpPr>
              <p:grpSpPr bwMode="auto">
                <a:xfrm>
                  <a:off x="1374" y="528"/>
                  <a:ext cx="480" cy="432"/>
                  <a:chOff x="1392" y="528"/>
                  <a:chExt cx="480" cy="432"/>
                </a:xfrm>
              </p:grpSpPr>
              <p:sp>
                <p:nvSpPr>
                  <p:cNvPr id="139343" name="Rectangle 79"/>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44" name="Rectangle 80"/>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9345" name="Text Box 81"/>
                <p:cNvSpPr txBox="1">
                  <a:spLocks noChangeAspect="1" noChangeArrowheads="1"/>
                </p:cNvSpPr>
                <p:nvPr/>
              </p:nvSpPr>
              <p:spPr bwMode="auto">
                <a:xfrm>
                  <a:off x="1396" y="574"/>
                  <a:ext cx="454"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9346" name="Group 82"/>
            <p:cNvGrpSpPr>
              <a:grpSpLocks/>
            </p:cNvGrpSpPr>
            <p:nvPr/>
          </p:nvGrpSpPr>
          <p:grpSpPr bwMode="auto">
            <a:xfrm>
              <a:off x="2966" y="2843"/>
              <a:ext cx="2309" cy="441"/>
              <a:chOff x="1953" y="1200"/>
              <a:chExt cx="1919" cy="441"/>
            </a:xfrm>
          </p:grpSpPr>
          <p:grpSp>
            <p:nvGrpSpPr>
              <p:cNvPr id="139347" name="Group 83"/>
              <p:cNvGrpSpPr>
                <a:grpSpLocks noChangeAspect="1"/>
              </p:cNvGrpSpPr>
              <p:nvPr/>
            </p:nvGrpSpPr>
            <p:grpSpPr bwMode="auto">
              <a:xfrm>
                <a:off x="2429" y="1304"/>
                <a:ext cx="221" cy="233"/>
                <a:chOff x="1374" y="528"/>
                <a:chExt cx="480" cy="432"/>
              </a:xfrm>
            </p:grpSpPr>
            <p:grpSp>
              <p:nvGrpSpPr>
                <p:cNvPr id="139348" name="Group 84"/>
                <p:cNvGrpSpPr>
                  <a:grpSpLocks noChangeAspect="1"/>
                </p:cNvGrpSpPr>
                <p:nvPr/>
              </p:nvGrpSpPr>
              <p:grpSpPr bwMode="auto">
                <a:xfrm>
                  <a:off x="1374" y="528"/>
                  <a:ext cx="480" cy="432"/>
                  <a:chOff x="1392" y="528"/>
                  <a:chExt cx="480" cy="432"/>
                </a:xfrm>
              </p:grpSpPr>
              <p:sp>
                <p:nvSpPr>
                  <p:cNvPr id="139349" name="Rectangle 85"/>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50" name="Rectangle 86"/>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9351" name="Text Box 87"/>
                <p:cNvSpPr txBox="1">
                  <a:spLocks noChangeAspect="1" noChangeArrowheads="1"/>
                </p:cNvSpPr>
                <p:nvPr/>
              </p:nvSpPr>
              <p:spPr bwMode="auto">
                <a:xfrm>
                  <a:off x="1387" y="574"/>
                  <a:ext cx="45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9352" name="Line 88"/>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53" name="Line 89"/>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354" name="Group 90"/>
              <p:cNvGrpSpPr>
                <a:grpSpLocks noChangeAspect="1"/>
              </p:cNvGrpSpPr>
              <p:nvPr/>
            </p:nvGrpSpPr>
            <p:grpSpPr bwMode="auto">
              <a:xfrm>
                <a:off x="2851" y="1235"/>
                <a:ext cx="199" cy="371"/>
                <a:chOff x="2991" y="411"/>
                <a:chExt cx="359" cy="768"/>
              </a:xfrm>
            </p:grpSpPr>
            <p:sp>
              <p:nvSpPr>
                <p:cNvPr id="139355" name="AutoShape 91"/>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9356" name="AutoShape 92"/>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57" name="Freeform 93"/>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58" name="Text Box 94"/>
                <p:cNvSpPr txBox="1">
                  <a:spLocks noChangeAspect="1" noChangeArrowheads="1"/>
                </p:cNvSpPr>
                <p:nvPr/>
              </p:nvSpPr>
              <p:spPr bwMode="auto">
                <a:xfrm rot="-5400000">
                  <a:off x="2943" y="602"/>
                  <a:ext cx="57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9359" name="Line 95"/>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60" name="Line 96"/>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361" name="Group 97"/>
              <p:cNvGrpSpPr>
                <a:grpSpLocks noChangeAspect="1"/>
              </p:cNvGrpSpPr>
              <p:nvPr/>
            </p:nvGrpSpPr>
            <p:grpSpPr bwMode="auto">
              <a:xfrm>
                <a:off x="3201" y="1305"/>
                <a:ext cx="293" cy="232"/>
                <a:chOff x="3836" y="576"/>
                <a:chExt cx="632" cy="480"/>
              </a:xfrm>
            </p:grpSpPr>
            <p:sp>
              <p:nvSpPr>
                <p:cNvPr id="139362" name="Rectangle 98"/>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9363" name="Text Box 99"/>
                <p:cNvSpPr txBox="1">
                  <a:spLocks noChangeAspect="1" noChangeArrowheads="1"/>
                </p:cNvSpPr>
                <p:nvPr/>
              </p:nvSpPr>
              <p:spPr bwMode="auto">
                <a:xfrm>
                  <a:off x="3836" y="628"/>
                  <a:ext cx="63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9364" name="Freeform 100"/>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65" name="Line 101"/>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66" name="Line 102"/>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367" name="Group 103"/>
              <p:cNvGrpSpPr>
                <a:grpSpLocks noChangeAspect="1"/>
              </p:cNvGrpSpPr>
              <p:nvPr/>
            </p:nvGrpSpPr>
            <p:grpSpPr bwMode="auto">
              <a:xfrm>
                <a:off x="1953" y="1305"/>
                <a:ext cx="308" cy="232"/>
                <a:chOff x="1104" y="576"/>
                <a:chExt cx="664" cy="480"/>
              </a:xfrm>
            </p:grpSpPr>
            <p:sp>
              <p:nvSpPr>
                <p:cNvPr id="139368" name="Rectangle 104"/>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9369" name="Text Box 105"/>
                <p:cNvSpPr txBox="1">
                  <a:spLocks noChangeAspect="1" noChangeArrowheads="1"/>
                </p:cNvSpPr>
                <p:nvPr/>
              </p:nvSpPr>
              <p:spPr bwMode="auto">
                <a:xfrm>
                  <a:off x="1104" y="628"/>
                  <a:ext cx="66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9370" name="Group 106"/>
              <p:cNvGrpSpPr>
                <a:grpSpLocks/>
              </p:cNvGrpSpPr>
              <p:nvPr/>
            </p:nvGrpSpPr>
            <p:grpSpPr bwMode="auto">
              <a:xfrm>
                <a:off x="2288" y="1200"/>
                <a:ext cx="1297" cy="441"/>
                <a:chOff x="2112" y="528"/>
                <a:chExt cx="2088" cy="681"/>
              </a:xfrm>
            </p:grpSpPr>
            <p:sp>
              <p:nvSpPr>
                <p:cNvPr id="139371" name="Rectangle 107"/>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72" name="Rectangle 108"/>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73" name="Rectangle 109"/>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74" name="Rectangle 110"/>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9375" name="Group 111"/>
              <p:cNvGrpSpPr>
                <a:grpSpLocks noChangeAspect="1"/>
              </p:cNvGrpSpPr>
              <p:nvPr/>
            </p:nvGrpSpPr>
            <p:grpSpPr bwMode="auto">
              <a:xfrm flipH="1">
                <a:off x="3649" y="1296"/>
                <a:ext cx="223" cy="233"/>
                <a:chOff x="1374" y="528"/>
                <a:chExt cx="480" cy="432"/>
              </a:xfrm>
            </p:grpSpPr>
            <p:grpSp>
              <p:nvGrpSpPr>
                <p:cNvPr id="139376" name="Group 112"/>
                <p:cNvGrpSpPr>
                  <a:grpSpLocks noChangeAspect="1"/>
                </p:cNvGrpSpPr>
                <p:nvPr/>
              </p:nvGrpSpPr>
              <p:grpSpPr bwMode="auto">
                <a:xfrm>
                  <a:off x="1374" y="528"/>
                  <a:ext cx="480" cy="432"/>
                  <a:chOff x="1392" y="528"/>
                  <a:chExt cx="480" cy="432"/>
                </a:xfrm>
              </p:grpSpPr>
              <p:sp>
                <p:nvSpPr>
                  <p:cNvPr id="139377" name="Rectangle 113"/>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78" name="Rectangle 114"/>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9379" name="Text Box 115"/>
                <p:cNvSpPr txBox="1">
                  <a:spLocks noChangeAspect="1" noChangeArrowheads="1"/>
                </p:cNvSpPr>
                <p:nvPr/>
              </p:nvSpPr>
              <p:spPr bwMode="auto">
                <a:xfrm>
                  <a:off x="1393" y="574"/>
                  <a:ext cx="455"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39380" name="Group 116"/>
            <p:cNvGrpSpPr>
              <a:grpSpLocks/>
            </p:cNvGrpSpPr>
            <p:nvPr/>
          </p:nvGrpSpPr>
          <p:grpSpPr bwMode="auto">
            <a:xfrm>
              <a:off x="3450" y="3456"/>
              <a:ext cx="2310" cy="441"/>
              <a:chOff x="1953" y="1200"/>
              <a:chExt cx="1919" cy="441"/>
            </a:xfrm>
          </p:grpSpPr>
          <p:grpSp>
            <p:nvGrpSpPr>
              <p:cNvPr id="139381" name="Group 117"/>
              <p:cNvGrpSpPr>
                <a:grpSpLocks noChangeAspect="1"/>
              </p:cNvGrpSpPr>
              <p:nvPr/>
            </p:nvGrpSpPr>
            <p:grpSpPr bwMode="auto">
              <a:xfrm>
                <a:off x="2429" y="1304"/>
                <a:ext cx="221" cy="233"/>
                <a:chOff x="1374" y="528"/>
                <a:chExt cx="480" cy="432"/>
              </a:xfrm>
            </p:grpSpPr>
            <p:grpSp>
              <p:nvGrpSpPr>
                <p:cNvPr id="139382" name="Group 118"/>
                <p:cNvGrpSpPr>
                  <a:grpSpLocks noChangeAspect="1"/>
                </p:cNvGrpSpPr>
                <p:nvPr/>
              </p:nvGrpSpPr>
              <p:grpSpPr bwMode="auto">
                <a:xfrm>
                  <a:off x="1374" y="528"/>
                  <a:ext cx="480" cy="432"/>
                  <a:chOff x="1392" y="528"/>
                  <a:chExt cx="480" cy="432"/>
                </a:xfrm>
              </p:grpSpPr>
              <p:sp>
                <p:nvSpPr>
                  <p:cNvPr id="139383" name="Rectangle 119"/>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84" name="Rectangle 120"/>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9385" name="Text Box 121"/>
                <p:cNvSpPr txBox="1">
                  <a:spLocks noChangeAspect="1" noChangeArrowheads="1"/>
                </p:cNvSpPr>
                <p:nvPr/>
              </p:nvSpPr>
              <p:spPr bwMode="auto">
                <a:xfrm>
                  <a:off x="1387" y="574"/>
                  <a:ext cx="45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39386" name="Line 122"/>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87" name="Line 123"/>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388" name="Group 124"/>
              <p:cNvGrpSpPr>
                <a:grpSpLocks noChangeAspect="1"/>
              </p:cNvGrpSpPr>
              <p:nvPr/>
            </p:nvGrpSpPr>
            <p:grpSpPr bwMode="auto">
              <a:xfrm>
                <a:off x="2851" y="1235"/>
                <a:ext cx="199" cy="371"/>
                <a:chOff x="2991" y="411"/>
                <a:chExt cx="359" cy="768"/>
              </a:xfrm>
            </p:grpSpPr>
            <p:sp>
              <p:nvSpPr>
                <p:cNvPr id="139389" name="AutoShape 125"/>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39390" name="AutoShape 126"/>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91" name="Freeform 127"/>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92" name="Text Box 128"/>
                <p:cNvSpPr txBox="1">
                  <a:spLocks noChangeAspect="1" noChangeArrowheads="1"/>
                </p:cNvSpPr>
                <p:nvPr/>
              </p:nvSpPr>
              <p:spPr bwMode="auto">
                <a:xfrm rot="16200000">
                  <a:off x="2940" y="633"/>
                  <a:ext cx="579" cy="2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39393" name="Line 129"/>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94" name="Line 130"/>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395" name="Group 131"/>
              <p:cNvGrpSpPr>
                <a:grpSpLocks noChangeAspect="1"/>
              </p:cNvGrpSpPr>
              <p:nvPr/>
            </p:nvGrpSpPr>
            <p:grpSpPr bwMode="auto">
              <a:xfrm>
                <a:off x="3201" y="1305"/>
                <a:ext cx="292" cy="232"/>
                <a:chOff x="3836" y="576"/>
                <a:chExt cx="630" cy="480"/>
              </a:xfrm>
            </p:grpSpPr>
            <p:sp>
              <p:nvSpPr>
                <p:cNvPr id="139396" name="Rectangle 132"/>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9397" name="Text Box 133"/>
                <p:cNvSpPr txBox="1">
                  <a:spLocks noChangeAspect="1" noChangeArrowheads="1"/>
                </p:cNvSpPr>
                <p:nvPr/>
              </p:nvSpPr>
              <p:spPr bwMode="auto">
                <a:xfrm>
                  <a:off x="3836" y="628"/>
                  <a:ext cx="630"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39398" name="Freeform 134"/>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399" name="Line 135"/>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400" name="Line 136"/>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9401" name="Group 137"/>
              <p:cNvGrpSpPr>
                <a:grpSpLocks noChangeAspect="1"/>
              </p:cNvGrpSpPr>
              <p:nvPr/>
            </p:nvGrpSpPr>
            <p:grpSpPr bwMode="auto">
              <a:xfrm>
                <a:off x="1953" y="1305"/>
                <a:ext cx="308" cy="232"/>
                <a:chOff x="1104" y="576"/>
                <a:chExt cx="664" cy="480"/>
              </a:xfrm>
            </p:grpSpPr>
            <p:sp>
              <p:nvSpPr>
                <p:cNvPr id="139402" name="Rectangle 138"/>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39403" name="Text Box 139"/>
                <p:cNvSpPr txBox="1">
                  <a:spLocks noChangeAspect="1" noChangeArrowheads="1"/>
                </p:cNvSpPr>
                <p:nvPr/>
              </p:nvSpPr>
              <p:spPr bwMode="auto">
                <a:xfrm>
                  <a:off x="1104" y="628"/>
                  <a:ext cx="66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39404" name="Group 140"/>
              <p:cNvGrpSpPr>
                <a:grpSpLocks/>
              </p:cNvGrpSpPr>
              <p:nvPr/>
            </p:nvGrpSpPr>
            <p:grpSpPr bwMode="auto">
              <a:xfrm>
                <a:off x="2288" y="1200"/>
                <a:ext cx="1297" cy="441"/>
                <a:chOff x="2112" y="528"/>
                <a:chExt cx="2088" cy="681"/>
              </a:xfrm>
            </p:grpSpPr>
            <p:sp>
              <p:nvSpPr>
                <p:cNvPr id="139405" name="Rectangle 141"/>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406" name="Rectangle 142"/>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407" name="Rectangle 143"/>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408" name="Rectangle 144"/>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39409" name="Group 145"/>
              <p:cNvGrpSpPr>
                <a:grpSpLocks noChangeAspect="1"/>
              </p:cNvGrpSpPr>
              <p:nvPr/>
            </p:nvGrpSpPr>
            <p:grpSpPr bwMode="auto">
              <a:xfrm flipH="1">
                <a:off x="3649" y="1296"/>
                <a:ext cx="223" cy="233"/>
                <a:chOff x="1374" y="528"/>
                <a:chExt cx="480" cy="432"/>
              </a:xfrm>
            </p:grpSpPr>
            <p:grpSp>
              <p:nvGrpSpPr>
                <p:cNvPr id="139410" name="Group 146"/>
                <p:cNvGrpSpPr>
                  <a:grpSpLocks noChangeAspect="1"/>
                </p:cNvGrpSpPr>
                <p:nvPr/>
              </p:nvGrpSpPr>
              <p:grpSpPr bwMode="auto">
                <a:xfrm>
                  <a:off x="1374" y="528"/>
                  <a:ext cx="480" cy="432"/>
                  <a:chOff x="1392" y="528"/>
                  <a:chExt cx="480" cy="432"/>
                </a:xfrm>
              </p:grpSpPr>
              <p:sp>
                <p:nvSpPr>
                  <p:cNvPr id="139411" name="Rectangle 147"/>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412" name="Rectangle 148"/>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39413" name="Text Box 149"/>
                <p:cNvSpPr txBox="1">
                  <a:spLocks noChangeAspect="1" noChangeArrowheads="1"/>
                </p:cNvSpPr>
                <p:nvPr/>
              </p:nvSpPr>
              <p:spPr bwMode="auto">
                <a:xfrm>
                  <a:off x="1396" y="574"/>
                  <a:ext cx="454"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sp>
        <p:nvSpPr>
          <p:cNvPr id="139414" name="Line 150"/>
          <p:cNvSpPr>
            <a:spLocks noChangeShapeType="1"/>
          </p:cNvSpPr>
          <p:nvPr/>
        </p:nvSpPr>
        <p:spPr bwMode="auto">
          <a:xfrm flipH="1">
            <a:off x="7010400" y="2519834"/>
            <a:ext cx="533400" cy="83820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415" name="Line 151"/>
          <p:cNvSpPr>
            <a:spLocks noChangeShapeType="1"/>
          </p:cNvSpPr>
          <p:nvPr/>
        </p:nvSpPr>
        <p:spPr bwMode="auto">
          <a:xfrm>
            <a:off x="7543800" y="2519834"/>
            <a:ext cx="304800" cy="175260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9416" name="Line 152"/>
          <p:cNvSpPr>
            <a:spLocks noChangeShapeType="1"/>
          </p:cNvSpPr>
          <p:nvPr/>
        </p:nvSpPr>
        <p:spPr bwMode="auto">
          <a:xfrm>
            <a:off x="7924800" y="2519834"/>
            <a:ext cx="76200" cy="274320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 name="矩形 1"/>
          <p:cNvSpPr/>
          <p:nvPr/>
        </p:nvSpPr>
        <p:spPr>
          <a:xfrm>
            <a:off x="335360" y="6035069"/>
            <a:ext cx="11737304" cy="830997"/>
          </a:xfrm>
          <a:prstGeom prst="rect">
            <a:avLst/>
          </a:prstGeom>
        </p:spPr>
        <p:txBody>
          <a:bodyPr wrap="square">
            <a:spAutoFit/>
          </a:bodyPr>
          <a:lstStyle/>
          <a:p>
            <a:r>
              <a:rPr lang="en-US" altLang="zh-CN" sz="2400" dirty="0">
                <a:solidFill>
                  <a:srgbClr val="0000FF"/>
                </a:solidFill>
              </a:rPr>
              <a:t>The load instruction can bypass its results to the </a:t>
            </a:r>
            <a:r>
              <a:rPr lang="en-US" altLang="zh-CN" sz="2400" dirty="0">
                <a:solidFill>
                  <a:srgbClr val="0000FF"/>
                </a:solidFill>
                <a:latin typeface="Courier New" panose="02070309020205020404" pitchFamily="49" charset="0"/>
                <a:cs typeface="Courier New" panose="02070309020205020404" pitchFamily="49" charset="0"/>
              </a:rPr>
              <a:t>and</a:t>
            </a:r>
            <a:r>
              <a:rPr lang="en-US" altLang="zh-CN" sz="2400" dirty="0">
                <a:solidFill>
                  <a:srgbClr val="0000FF"/>
                </a:solidFill>
              </a:rPr>
              <a:t> </a:t>
            </a:r>
            <a:r>
              <a:rPr lang="en-US" altLang="zh-CN" sz="2400" dirty="0" err="1">
                <a:solidFill>
                  <a:srgbClr val="0000FF"/>
                </a:solidFill>
              </a:rPr>
              <a:t>and</a:t>
            </a:r>
            <a:r>
              <a:rPr lang="en-US" altLang="zh-CN" sz="2400" dirty="0">
                <a:solidFill>
                  <a:srgbClr val="0000FF"/>
                </a:solidFill>
              </a:rPr>
              <a:t> </a:t>
            </a:r>
            <a:r>
              <a:rPr lang="en-US" altLang="zh-CN" sz="2400" dirty="0">
                <a:solidFill>
                  <a:srgbClr val="0000FF"/>
                </a:solidFill>
                <a:latin typeface="Courier New" panose="02070309020205020404" pitchFamily="49" charset="0"/>
                <a:cs typeface="Courier New" panose="02070309020205020404" pitchFamily="49" charset="0"/>
              </a:rPr>
              <a:t>or</a:t>
            </a:r>
            <a:r>
              <a:rPr lang="en-US" altLang="zh-CN" sz="2400" dirty="0">
                <a:solidFill>
                  <a:srgbClr val="0000FF"/>
                </a:solidFill>
              </a:rPr>
              <a:t> instructions, but not to the sub, because that would mean forwarding the result in “negative time.”</a:t>
            </a:r>
          </a:p>
        </p:txBody>
      </p:sp>
    </p:spTree>
    <p:extLst>
      <p:ext uri="{BB962C8B-B14F-4D97-AF65-F5344CB8AC3E}">
        <p14:creationId xmlns:p14="http://schemas.microsoft.com/office/powerpoint/2010/main" val="555801734"/>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695400" y="152400"/>
            <a:ext cx="9363000" cy="1143000"/>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Data Hazard Even with Forwarding</a:t>
            </a:r>
            <a:endParaRPr lang="en-US" altLang="zh-CN" sz="2400" dirty="0">
              <a:solidFill>
                <a:schemeClr val="tx1"/>
              </a:solidFill>
            </a:endParaRPr>
          </a:p>
        </p:txBody>
      </p:sp>
      <p:sp>
        <p:nvSpPr>
          <p:cNvPr id="141315" name="Rectangle 3"/>
          <p:cNvSpPr>
            <a:spLocks noChangeArrowheads="1"/>
          </p:cNvSpPr>
          <p:nvPr/>
        </p:nvSpPr>
        <p:spPr bwMode="auto">
          <a:xfrm>
            <a:off x="2887663" y="1749425"/>
            <a:ext cx="2223367"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b="0" i="1">
                <a:latin typeface="Comic Sans MS" panose="030F0702030302020204" pitchFamily="66" charset="0"/>
              </a:rPr>
              <a:t>Time (clock cycles)</a:t>
            </a:r>
          </a:p>
        </p:txBody>
      </p:sp>
      <p:sp>
        <p:nvSpPr>
          <p:cNvPr id="141316" name="Rectangle 4"/>
          <p:cNvSpPr>
            <a:spLocks noChangeArrowheads="1"/>
          </p:cNvSpPr>
          <p:nvPr/>
        </p:nvSpPr>
        <p:spPr bwMode="auto">
          <a:xfrm>
            <a:off x="2332038" y="5432425"/>
            <a:ext cx="1703994" cy="1197764"/>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t>or   r8,</a:t>
            </a:r>
            <a:r>
              <a:rPr lang="en-US" altLang="zh-CN" sz="2400">
                <a:solidFill>
                  <a:schemeClr val="accent2"/>
                </a:solidFill>
              </a:rPr>
              <a:t>r1</a:t>
            </a:r>
            <a:r>
              <a:rPr lang="en-US" altLang="zh-CN" sz="2400"/>
              <a:t>,r9</a:t>
            </a:r>
          </a:p>
          <a:p>
            <a:pPr eaLnBrk="1" hangingPunct="1"/>
            <a:endParaRPr lang="en-US" altLang="zh-CN" sz="2400"/>
          </a:p>
          <a:p>
            <a:pPr eaLnBrk="1" latinLnBrk="1" hangingPunct="1"/>
            <a:endParaRPr lang="en-US" altLang="zh-CN" sz="2400"/>
          </a:p>
        </p:txBody>
      </p:sp>
      <p:sp>
        <p:nvSpPr>
          <p:cNvPr id="141317" name="Rectangle 5"/>
          <p:cNvSpPr>
            <a:spLocks noChangeArrowheads="1"/>
          </p:cNvSpPr>
          <p:nvPr/>
        </p:nvSpPr>
        <p:spPr bwMode="auto">
          <a:xfrm>
            <a:off x="1795275" y="2178051"/>
            <a:ext cx="367089" cy="313675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b="0" i="1">
                <a:latin typeface="Comic Sans MS" panose="030F0702030302020204" pitchFamily="66" charset="0"/>
              </a:rPr>
              <a:t>I</a:t>
            </a:r>
          </a:p>
          <a:p>
            <a:pPr algn="ctr" eaLnBrk="1" hangingPunct="1"/>
            <a:r>
              <a:rPr lang="en-US" altLang="zh-CN" b="0" i="1">
                <a:latin typeface="Comic Sans MS" panose="030F0702030302020204" pitchFamily="66" charset="0"/>
              </a:rPr>
              <a:t>n</a:t>
            </a:r>
          </a:p>
          <a:p>
            <a:pPr algn="ctr" eaLnBrk="1" hangingPunct="1"/>
            <a:r>
              <a:rPr lang="en-US" altLang="zh-CN" b="0" i="1">
                <a:latin typeface="Comic Sans MS" panose="030F0702030302020204" pitchFamily="66" charset="0"/>
              </a:rPr>
              <a:t>s</a:t>
            </a:r>
          </a:p>
          <a:p>
            <a:pPr algn="ctr" eaLnBrk="1" hangingPunct="1"/>
            <a:r>
              <a:rPr lang="en-US" altLang="zh-CN" b="0" i="1">
                <a:latin typeface="Comic Sans MS" panose="030F0702030302020204" pitchFamily="66" charset="0"/>
              </a:rPr>
              <a:t>t</a:t>
            </a:r>
          </a:p>
          <a:p>
            <a:pPr algn="ctr" eaLnBrk="1" hangingPunct="1"/>
            <a:r>
              <a:rPr lang="en-US" altLang="zh-CN" b="0" i="1">
                <a:latin typeface="Comic Sans MS" panose="030F0702030302020204" pitchFamily="66" charset="0"/>
              </a:rPr>
              <a:t>r.</a:t>
            </a:r>
          </a:p>
          <a:p>
            <a:pPr algn="ctr" eaLnBrk="1" hangingPunct="1"/>
            <a:endParaRPr lang="en-US" altLang="zh-CN" b="0" i="1">
              <a:latin typeface="Comic Sans MS" panose="030F0702030302020204" pitchFamily="66" charset="0"/>
            </a:endParaRPr>
          </a:p>
          <a:p>
            <a:pPr algn="ctr" eaLnBrk="1" hangingPunct="1"/>
            <a:r>
              <a:rPr lang="en-US" altLang="zh-CN" b="0" i="1">
                <a:latin typeface="Comic Sans MS" panose="030F0702030302020204" pitchFamily="66" charset="0"/>
              </a:rPr>
              <a:t>O</a:t>
            </a:r>
          </a:p>
          <a:p>
            <a:pPr algn="ctr" eaLnBrk="1" hangingPunct="1"/>
            <a:r>
              <a:rPr lang="en-US" altLang="zh-CN" b="0" i="1">
                <a:latin typeface="Comic Sans MS" panose="030F0702030302020204" pitchFamily="66" charset="0"/>
              </a:rPr>
              <a:t>r</a:t>
            </a:r>
          </a:p>
          <a:p>
            <a:pPr algn="ctr" eaLnBrk="1" hangingPunct="1"/>
            <a:r>
              <a:rPr lang="en-US" altLang="zh-CN" b="0" i="1">
                <a:latin typeface="Comic Sans MS" panose="030F0702030302020204" pitchFamily="66" charset="0"/>
              </a:rPr>
              <a:t>d</a:t>
            </a:r>
          </a:p>
          <a:p>
            <a:pPr algn="ctr" eaLnBrk="1" hangingPunct="1"/>
            <a:r>
              <a:rPr lang="en-US" altLang="zh-CN" b="0" i="1">
                <a:latin typeface="Comic Sans MS" panose="030F0702030302020204" pitchFamily="66" charset="0"/>
              </a:rPr>
              <a:t>e</a:t>
            </a:r>
          </a:p>
          <a:p>
            <a:pPr algn="ctr" eaLnBrk="1" hangingPunct="1"/>
            <a:r>
              <a:rPr lang="en-US" altLang="zh-CN" b="0" i="1">
                <a:latin typeface="Comic Sans MS" panose="030F0702030302020204" pitchFamily="66" charset="0"/>
              </a:rPr>
              <a:t>r</a:t>
            </a:r>
          </a:p>
        </p:txBody>
      </p:sp>
      <p:sp>
        <p:nvSpPr>
          <p:cNvPr id="141318" name="Line 6"/>
          <p:cNvSpPr>
            <a:spLocks noChangeShapeType="1"/>
          </p:cNvSpPr>
          <p:nvPr/>
        </p:nvSpPr>
        <p:spPr bwMode="auto">
          <a:xfrm>
            <a:off x="2282825" y="2168525"/>
            <a:ext cx="0" cy="436245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19" name="Line 7"/>
          <p:cNvSpPr>
            <a:spLocks noChangeShapeType="1"/>
          </p:cNvSpPr>
          <p:nvPr/>
        </p:nvSpPr>
        <p:spPr bwMode="auto">
          <a:xfrm>
            <a:off x="2860675" y="2124075"/>
            <a:ext cx="70612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0" name="Rectangle 8"/>
          <p:cNvSpPr>
            <a:spLocks noChangeArrowheads="1"/>
          </p:cNvSpPr>
          <p:nvPr/>
        </p:nvSpPr>
        <p:spPr bwMode="auto">
          <a:xfrm>
            <a:off x="2332038" y="2578100"/>
            <a:ext cx="1654300" cy="82843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solidFill>
                  <a:schemeClr val="hlink"/>
                </a:solidFill>
              </a:rPr>
              <a:t>lw</a:t>
            </a:r>
            <a:r>
              <a:rPr lang="en-US" altLang="zh-CN" sz="2400"/>
              <a:t> </a:t>
            </a:r>
            <a:r>
              <a:rPr lang="en-US" altLang="zh-CN" sz="2400">
                <a:solidFill>
                  <a:schemeClr val="hlink"/>
                </a:solidFill>
              </a:rPr>
              <a:t>r1, 0</a:t>
            </a:r>
            <a:r>
              <a:rPr lang="en-US" altLang="zh-CN" sz="2400"/>
              <a:t>(r2)</a:t>
            </a:r>
          </a:p>
          <a:p>
            <a:pPr eaLnBrk="1" latinLnBrk="1" hangingPunct="1"/>
            <a:endParaRPr lang="en-US" altLang="zh-CN" sz="2400"/>
          </a:p>
        </p:txBody>
      </p:sp>
      <p:sp>
        <p:nvSpPr>
          <p:cNvPr id="141321" name="Rectangle 9"/>
          <p:cNvSpPr>
            <a:spLocks noChangeArrowheads="1"/>
          </p:cNvSpPr>
          <p:nvPr/>
        </p:nvSpPr>
        <p:spPr bwMode="auto">
          <a:xfrm>
            <a:off x="2332038" y="3568700"/>
            <a:ext cx="1756892" cy="82843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t>sub r4,</a:t>
            </a:r>
            <a:r>
              <a:rPr lang="en-US" altLang="zh-CN" sz="2400">
                <a:solidFill>
                  <a:schemeClr val="hlink"/>
                </a:solidFill>
              </a:rPr>
              <a:t>r1</a:t>
            </a:r>
            <a:r>
              <a:rPr lang="en-US" altLang="zh-CN" sz="2400"/>
              <a:t>,r6</a:t>
            </a:r>
          </a:p>
          <a:p>
            <a:pPr eaLnBrk="1" latinLnBrk="1" hangingPunct="1"/>
            <a:endParaRPr lang="en-US" altLang="zh-CN" sz="2400"/>
          </a:p>
        </p:txBody>
      </p:sp>
      <p:sp>
        <p:nvSpPr>
          <p:cNvPr id="141322" name="Rectangle 10"/>
          <p:cNvSpPr>
            <a:spLocks noChangeArrowheads="1"/>
          </p:cNvSpPr>
          <p:nvPr/>
        </p:nvSpPr>
        <p:spPr bwMode="auto">
          <a:xfrm>
            <a:off x="2332038" y="4502150"/>
            <a:ext cx="1774526" cy="82843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t>and r6,</a:t>
            </a:r>
            <a:r>
              <a:rPr lang="en-US" altLang="zh-CN" sz="2400">
                <a:solidFill>
                  <a:schemeClr val="accent2"/>
                </a:solidFill>
              </a:rPr>
              <a:t>r1</a:t>
            </a:r>
            <a:r>
              <a:rPr lang="en-US" altLang="zh-CN" sz="2400"/>
              <a:t>,r7</a:t>
            </a:r>
          </a:p>
          <a:p>
            <a:pPr eaLnBrk="1" latinLnBrk="1" hangingPunct="1"/>
            <a:endParaRPr lang="en-US" altLang="zh-CN" sz="2400"/>
          </a:p>
        </p:txBody>
      </p:sp>
      <p:grpSp>
        <p:nvGrpSpPr>
          <p:cNvPr id="141323" name="Group 11"/>
          <p:cNvGrpSpPr>
            <a:grpSpLocks/>
          </p:cNvGrpSpPr>
          <p:nvPr/>
        </p:nvGrpSpPr>
        <p:grpSpPr bwMode="auto">
          <a:xfrm>
            <a:off x="4241801" y="2474914"/>
            <a:ext cx="3667125" cy="700087"/>
            <a:chOff x="1953" y="1200"/>
            <a:chExt cx="1919" cy="441"/>
          </a:xfrm>
        </p:grpSpPr>
        <p:grpSp>
          <p:nvGrpSpPr>
            <p:cNvPr id="141324" name="Group 12"/>
            <p:cNvGrpSpPr>
              <a:grpSpLocks noChangeAspect="1"/>
            </p:cNvGrpSpPr>
            <p:nvPr/>
          </p:nvGrpSpPr>
          <p:grpSpPr bwMode="auto">
            <a:xfrm>
              <a:off x="2429" y="1304"/>
              <a:ext cx="221" cy="233"/>
              <a:chOff x="1374" y="528"/>
              <a:chExt cx="480" cy="432"/>
            </a:xfrm>
          </p:grpSpPr>
          <p:grpSp>
            <p:nvGrpSpPr>
              <p:cNvPr id="141325" name="Group 13"/>
              <p:cNvGrpSpPr>
                <a:grpSpLocks noChangeAspect="1"/>
              </p:cNvGrpSpPr>
              <p:nvPr/>
            </p:nvGrpSpPr>
            <p:grpSpPr bwMode="auto">
              <a:xfrm>
                <a:off x="1374" y="528"/>
                <a:ext cx="480" cy="432"/>
                <a:chOff x="1392" y="528"/>
                <a:chExt cx="480" cy="432"/>
              </a:xfrm>
            </p:grpSpPr>
            <p:sp>
              <p:nvSpPr>
                <p:cNvPr id="141326" name="Rectangle 14"/>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27" name="Rectangle 15"/>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1328" name="Text Box 16"/>
              <p:cNvSpPr txBox="1">
                <a:spLocks noChangeAspect="1" noChangeArrowheads="1"/>
              </p:cNvSpPr>
              <p:nvPr/>
            </p:nvSpPr>
            <p:spPr bwMode="auto">
              <a:xfrm>
                <a:off x="1387" y="574"/>
                <a:ext cx="45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1329" name="Line 17"/>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0" name="Line 18"/>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1331" name="Group 19"/>
            <p:cNvGrpSpPr>
              <a:grpSpLocks noChangeAspect="1"/>
            </p:cNvGrpSpPr>
            <p:nvPr/>
          </p:nvGrpSpPr>
          <p:grpSpPr bwMode="auto">
            <a:xfrm>
              <a:off x="2851" y="1235"/>
              <a:ext cx="199" cy="371"/>
              <a:chOff x="2991" y="411"/>
              <a:chExt cx="359" cy="768"/>
            </a:xfrm>
          </p:grpSpPr>
          <p:sp>
            <p:nvSpPr>
              <p:cNvPr id="141332" name="AutoShape 20"/>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1333" name="AutoShape 21"/>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4" name="Freeform 22"/>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5" name="Text Box 23"/>
              <p:cNvSpPr txBox="1">
                <a:spLocks noChangeAspect="1" noChangeArrowheads="1"/>
              </p:cNvSpPr>
              <p:nvPr/>
            </p:nvSpPr>
            <p:spPr bwMode="auto">
              <a:xfrm rot="16200000">
                <a:off x="2940" y="633"/>
                <a:ext cx="579" cy="2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41336" name="Line 24"/>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37" name="Line 25"/>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1338" name="Group 26"/>
            <p:cNvGrpSpPr>
              <a:grpSpLocks noChangeAspect="1"/>
            </p:cNvGrpSpPr>
            <p:nvPr/>
          </p:nvGrpSpPr>
          <p:grpSpPr bwMode="auto">
            <a:xfrm>
              <a:off x="3201" y="1305"/>
              <a:ext cx="292" cy="232"/>
              <a:chOff x="3836" y="576"/>
              <a:chExt cx="630" cy="480"/>
            </a:xfrm>
          </p:grpSpPr>
          <p:sp>
            <p:nvSpPr>
              <p:cNvPr id="141339" name="Rectangle 27"/>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1340" name="Text Box 28"/>
              <p:cNvSpPr txBox="1">
                <a:spLocks noChangeAspect="1" noChangeArrowheads="1"/>
              </p:cNvSpPr>
              <p:nvPr/>
            </p:nvSpPr>
            <p:spPr bwMode="auto">
              <a:xfrm>
                <a:off x="3836" y="628"/>
                <a:ext cx="630"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41341" name="Freeform 29"/>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2" name="Line 30"/>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3" name="Line 31"/>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1344" name="Group 32"/>
            <p:cNvGrpSpPr>
              <a:grpSpLocks noChangeAspect="1"/>
            </p:cNvGrpSpPr>
            <p:nvPr/>
          </p:nvGrpSpPr>
          <p:grpSpPr bwMode="auto">
            <a:xfrm>
              <a:off x="1953" y="1305"/>
              <a:ext cx="308" cy="232"/>
              <a:chOff x="1104" y="576"/>
              <a:chExt cx="664" cy="480"/>
            </a:xfrm>
          </p:grpSpPr>
          <p:sp>
            <p:nvSpPr>
              <p:cNvPr id="141345" name="Rectangle 33"/>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1346" name="Text Box 34"/>
              <p:cNvSpPr txBox="1">
                <a:spLocks noChangeAspect="1" noChangeArrowheads="1"/>
              </p:cNvSpPr>
              <p:nvPr/>
            </p:nvSpPr>
            <p:spPr bwMode="auto">
              <a:xfrm>
                <a:off x="1104" y="628"/>
                <a:ext cx="66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41347" name="Group 35"/>
            <p:cNvGrpSpPr>
              <a:grpSpLocks/>
            </p:cNvGrpSpPr>
            <p:nvPr/>
          </p:nvGrpSpPr>
          <p:grpSpPr bwMode="auto">
            <a:xfrm>
              <a:off x="2288" y="1200"/>
              <a:ext cx="1297" cy="441"/>
              <a:chOff x="2112" y="528"/>
              <a:chExt cx="2088" cy="681"/>
            </a:xfrm>
          </p:grpSpPr>
          <p:sp>
            <p:nvSpPr>
              <p:cNvPr id="141348" name="Rectangle 36"/>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49" name="Rectangle 37"/>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50" name="Rectangle 38"/>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51" name="Rectangle 39"/>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1352" name="Group 40"/>
            <p:cNvGrpSpPr>
              <a:grpSpLocks noChangeAspect="1"/>
            </p:cNvGrpSpPr>
            <p:nvPr/>
          </p:nvGrpSpPr>
          <p:grpSpPr bwMode="auto">
            <a:xfrm flipH="1">
              <a:off x="3649" y="1296"/>
              <a:ext cx="223" cy="233"/>
              <a:chOff x="1374" y="528"/>
              <a:chExt cx="480" cy="432"/>
            </a:xfrm>
          </p:grpSpPr>
          <p:grpSp>
            <p:nvGrpSpPr>
              <p:cNvPr id="141353" name="Group 41"/>
              <p:cNvGrpSpPr>
                <a:grpSpLocks noChangeAspect="1"/>
              </p:cNvGrpSpPr>
              <p:nvPr/>
            </p:nvGrpSpPr>
            <p:grpSpPr bwMode="auto">
              <a:xfrm>
                <a:off x="1374" y="528"/>
                <a:ext cx="480" cy="432"/>
                <a:chOff x="1392" y="528"/>
                <a:chExt cx="480" cy="432"/>
              </a:xfrm>
            </p:grpSpPr>
            <p:sp>
              <p:nvSpPr>
                <p:cNvPr id="141354" name="Rectangle 42"/>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55" name="Rectangle 43"/>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1356" name="Text Box 44"/>
              <p:cNvSpPr txBox="1">
                <a:spLocks noChangeAspect="1" noChangeArrowheads="1"/>
              </p:cNvSpPr>
              <p:nvPr/>
            </p:nvSpPr>
            <p:spPr bwMode="auto">
              <a:xfrm>
                <a:off x="1396" y="574"/>
                <a:ext cx="454"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41357" name="Group 45"/>
          <p:cNvGrpSpPr>
            <a:grpSpLocks/>
          </p:cNvGrpSpPr>
          <p:nvPr/>
        </p:nvGrpSpPr>
        <p:grpSpPr bwMode="auto">
          <a:xfrm>
            <a:off x="5060951" y="3408364"/>
            <a:ext cx="4456113" cy="701675"/>
            <a:chOff x="2394" y="2157"/>
            <a:chExt cx="2807" cy="442"/>
          </a:xfrm>
        </p:grpSpPr>
        <p:grpSp>
          <p:nvGrpSpPr>
            <p:cNvPr id="141358" name="Group 46"/>
            <p:cNvGrpSpPr>
              <a:grpSpLocks noChangeAspect="1"/>
            </p:cNvGrpSpPr>
            <p:nvPr/>
          </p:nvGrpSpPr>
          <p:grpSpPr bwMode="auto">
            <a:xfrm>
              <a:off x="2967" y="2259"/>
              <a:ext cx="266" cy="233"/>
              <a:chOff x="1374" y="528"/>
              <a:chExt cx="480" cy="432"/>
            </a:xfrm>
          </p:grpSpPr>
          <p:grpSp>
            <p:nvGrpSpPr>
              <p:cNvPr id="141359" name="Group 47"/>
              <p:cNvGrpSpPr>
                <a:grpSpLocks noChangeAspect="1"/>
              </p:cNvGrpSpPr>
              <p:nvPr/>
            </p:nvGrpSpPr>
            <p:grpSpPr bwMode="auto">
              <a:xfrm>
                <a:off x="1374" y="528"/>
                <a:ext cx="480" cy="432"/>
                <a:chOff x="1392" y="528"/>
                <a:chExt cx="480" cy="432"/>
              </a:xfrm>
            </p:grpSpPr>
            <p:sp>
              <p:nvSpPr>
                <p:cNvPr id="141360" name="Rectangle 48"/>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61" name="Rectangle 49"/>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1362" name="Text Box 50"/>
              <p:cNvSpPr txBox="1">
                <a:spLocks noChangeAspect="1" noChangeArrowheads="1"/>
              </p:cNvSpPr>
              <p:nvPr/>
            </p:nvSpPr>
            <p:spPr bwMode="auto">
              <a:xfrm>
                <a:off x="1387" y="574"/>
                <a:ext cx="45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1363" name="Line 51"/>
            <p:cNvSpPr>
              <a:spLocks noChangeAspect="1" noChangeShapeType="1"/>
            </p:cNvSpPr>
            <p:nvPr/>
          </p:nvSpPr>
          <p:spPr bwMode="auto">
            <a:xfrm>
              <a:off x="3234" y="2306"/>
              <a:ext cx="7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64" name="Line 52"/>
            <p:cNvSpPr>
              <a:spLocks noChangeAspect="1" noChangeShapeType="1"/>
            </p:cNvSpPr>
            <p:nvPr/>
          </p:nvSpPr>
          <p:spPr bwMode="auto">
            <a:xfrm>
              <a:off x="3216" y="2448"/>
              <a:ext cx="7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65" name="Line 53"/>
            <p:cNvSpPr>
              <a:spLocks noChangeAspect="1" noChangeShapeType="1"/>
            </p:cNvSpPr>
            <p:nvPr/>
          </p:nvSpPr>
          <p:spPr bwMode="auto">
            <a:xfrm>
              <a:off x="2690" y="2446"/>
              <a:ext cx="27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66" name="Line 54"/>
            <p:cNvSpPr>
              <a:spLocks noChangeAspect="1" noChangeShapeType="1"/>
            </p:cNvSpPr>
            <p:nvPr/>
          </p:nvSpPr>
          <p:spPr bwMode="auto">
            <a:xfrm>
              <a:off x="2654" y="2306"/>
              <a:ext cx="3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1367" name="Group 55"/>
            <p:cNvGrpSpPr>
              <a:grpSpLocks noChangeAspect="1"/>
            </p:cNvGrpSpPr>
            <p:nvPr/>
          </p:nvGrpSpPr>
          <p:grpSpPr bwMode="auto">
            <a:xfrm>
              <a:off x="2394" y="2260"/>
              <a:ext cx="371" cy="232"/>
              <a:chOff x="1104" y="576"/>
              <a:chExt cx="664" cy="480"/>
            </a:xfrm>
          </p:grpSpPr>
          <p:sp>
            <p:nvSpPr>
              <p:cNvPr id="141368" name="Rectangle 56"/>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1369" name="Text Box 57"/>
              <p:cNvSpPr txBox="1">
                <a:spLocks noChangeAspect="1" noChangeArrowheads="1"/>
              </p:cNvSpPr>
              <p:nvPr/>
            </p:nvSpPr>
            <p:spPr bwMode="auto">
              <a:xfrm>
                <a:off x="1104" y="628"/>
                <a:ext cx="66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sp>
          <p:nvSpPr>
            <p:cNvPr id="141370" name="Rectangle 58"/>
            <p:cNvSpPr>
              <a:spLocks noChangeAspect="1" noChangeArrowheads="1"/>
            </p:cNvSpPr>
            <p:nvPr/>
          </p:nvSpPr>
          <p:spPr bwMode="auto">
            <a:xfrm>
              <a:off x="3300" y="2157"/>
              <a:ext cx="54"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71" name="Rectangle 59"/>
            <p:cNvSpPr>
              <a:spLocks noChangeAspect="1" noChangeArrowheads="1"/>
            </p:cNvSpPr>
            <p:nvPr/>
          </p:nvSpPr>
          <p:spPr bwMode="auto">
            <a:xfrm>
              <a:off x="2797" y="2157"/>
              <a:ext cx="54"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1372" name="Group 60"/>
            <p:cNvGrpSpPr>
              <a:grpSpLocks/>
            </p:cNvGrpSpPr>
            <p:nvPr/>
          </p:nvGrpSpPr>
          <p:grpSpPr bwMode="auto">
            <a:xfrm>
              <a:off x="3972" y="2157"/>
              <a:ext cx="1229" cy="441"/>
              <a:chOff x="3475" y="2155"/>
              <a:chExt cx="1229" cy="441"/>
            </a:xfrm>
          </p:grpSpPr>
          <p:sp>
            <p:nvSpPr>
              <p:cNvPr id="141373" name="AutoShape 61"/>
              <p:cNvSpPr>
                <a:spLocks noChangeAspect="1" noChangeArrowheads="1"/>
              </p:cNvSpPr>
              <p:nvPr/>
            </p:nvSpPr>
            <p:spPr bwMode="auto">
              <a:xfrm rot="-5400000">
                <a:off x="3417" y="2263"/>
                <a:ext cx="371" cy="22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1374" name="AutoShape 62"/>
              <p:cNvSpPr>
                <a:spLocks noChangeAspect="1" noChangeArrowheads="1"/>
              </p:cNvSpPr>
              <p:nvPr/>
            </p:nvSpPr>
            <p:spPr bwMode="auto">
              <a:xfrm rot="5400000">
                <a:off x="3475" y="2316"/>
                <a:ext cx="119" cy="12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75" name="Freeform 63"/>
              <p:cNvSpPr>
                <a:spLocks noChangeAspect="1"/>
              </p:cNvSpPr>
              <p:nvPr/>
            </p:nvSpPr>
            <p:spPr bwMode="auto">
              <a:xfrm rot="5400000">
                <a:off x="3484" y="2329"/>
                <a:ext cx="105" cy="93"/>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76" name="Text Box 64"/>
              <p:cNvSpPr txBox="1">
                <a:spLocks noChangeAspect="1" noChangeArrowheads="1"/>
              </p:cNvSpPr>
              <p:nvPr/>
            </p:nvSpPr>
            <p:spPr bwMode="auto">
              <a:xfrm rot="-5400000">
                <a:off x="3496" y="2276"/>
                <a:ext cx="278"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sp>
            <p:nvSpPr>
              <p:cNvPr id="141377" name="Line 65"/>
              <p:cNvSpPr>
                <a:spLocks noChangeAspect="1" noChangeShapeType="1"/>
              </p:cNvSpPr>
              <p:nvPr/>
            </p:nvSpPr>
            <p:spPr bwMode="auto">
              <a:xfrm>
                <a:off x="3717" y="2376"/>
                <a:ext cx="29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78" name="Line 66"/>
              <p:cNvSpPr>
                <a:spLocks noChangeAspect="1" noChangeShapeType="1"/>
              </p:cNvSpPr>
              <p:nvPr/>
            </p:nvSpPr>
            <p:spPr bwMode="auto">
              <a:xfrm>
                <a:off x="4226" y="2376"/>
                <a:ext cx="29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79" name="Rectangle 67"/>
              <p:cNvSpPr>
                <a:spLocks noChangeAspect="1" noChangeArrowheads="1"/>
              </p:cNvSpPr>
              <p:nvPr/>
            </p:nvSpPr>
            <p:spPr bwMode="auto">
              <a:xfrm>
                <a:off x="3940" y="2260"/>
                <a:ext cx="268" cy="232"/>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1380" name="Text Box 68"/>
              <p:cNvSpPr txBox="1">
                <a:spLocks noChangeAspect="1" noChangeArrowheads="1"/>
              </p:cNvSpPr>
              <p:nvPr/>
            </p:nvSpPr>
            <p:spPr bwMode="auto">
              <a:xfrm>
                <a:off x="3896" y="2285"/>
                <a:ext cx="352"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sp>
            <p:nvSpPr>
              <p:cNvPr id="141381" name="Freeform 69"/>
              <p:cNvSpPr>
                <a:spLocks noChangeAspect="1"/>
              </p:cNvSpPr>
              <p:nvPr/>
            </p:nvSpPr>
            <p:spPr bwMode="auto">
              <a:xfrm>
                <a:off x="3905" y="2376"/>
                <a:ext cx="399"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82" name="Rectangle 70"/>
              <p:cNvSpPr>
                <a:spLocks noChangeAspect="1" noChangeArrowheads="1"/>
              </p:cNvSpPr>
              <p:nvPr/>
            </p:nvSpPr>
            <p:spPr bwMode="auto">
              <a:xfrm>
                <a:off x="4305" y="2155"/>
                <a:ext cx="54"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83" name="Rectangle 71"/>
              <p:cNvSpPr>
                <a:spLocks noChangeAspect="1" noChangeArrowheads="1"/>
              </p:cNvSpPr>
              <p:nvPr/>
            </p:nvSpPr>
            <p:spPr bwMode="auto">
              <a:xfrm>
                <a:off x="3802" y="2158"/>
                <a:ext cx="54" cy="435"/>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1384" name="Group 72"/>
              <p:cNvGrpSpPr>
                <a:grpSpLocks noChangeAspect="1"/>
              </p:cNvGrpSpPr>
              <p:nvPr/>
            </p:nvGrpSpPr>
            <p:grpSpPr bwMode="auto">
              <a:xfrm flipH="1">
                <a:off x="4436" y="2251"/>
                <a:ext cx="268" cy="233"/>
                <a:chOff x="1392" y="528"/>
                <a:chExt cx="480" cy="432"/>
              </a:xfrm>
            </p:grpSpPr>
            <p:sp>
              <p:nvSpPr>
                <p:cNvPr id="141385" name="Rectangle 73"/>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86" name="Rectangle 74"/>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1387" name="Text Box 75"/>
              <p:cNvSpPr txBox="1">
                <a:spLocks noChangeAspect="1" noChangeArrowheads="1"/>
              </p:cNvSpPr>
              <p:nvPr/>
            </p:nvSpPr>
            <p:spPr bwMode="auto">
              <a:xfrm flipH="1">
                <a:off x="4438" y="2276"/>
                <a:ext cx="254"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1388" name="Rectangle 76"/>
            <p:cNvSpPr>
              <a:spLocks noChangeAspect="1" noChangeArrowheads="1"/>
            </p:cNvSpPr>
            <p:nvPr/>
          </p:nvSpPr>
          <p:spPr bwMode="auto">
            <a:xfrm>
              <a:off x="3792" y="2158"/>
              <a:ext cx="54"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89" name="AutoShape 77"/>
            <p:cNvSpPr>
              <a:spLocks noChangeArrowheads="1"/>
            </p:cNvSpPr>
            <p:nvPr/>
          </p:nvSpPr>
          <p:spPr bwMode="auto">
            <a:xfrm>
              <a:off x="3380" y="2171"/>
              <a:ext cx="364" cy="422"/>
            </a:xfrm>
            <a:prstGeom prst="cloudCallout">
              <a:avLst>
                <a:gd name="adj1" fmla="val 39287"/>
                <a:gd name="adj2" fmla="val 38153"/>
              </a:avLst>
            </a:prstGeom>
            <a:solidFill>
              <a:srgbClr val="0FEFEA"/>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500">
                  <a:latin typeface="Comic Sans MS" panose="030F0702030302020204" pitchFamily="66" charset="0"/>
                </a:rPr>
                <a:t>Bubble</a:t>
              </a:r>
              <a:endParaRPr lang="en-US" altLang="zh-CN" sz="1600">
                <a:latin typeface="Comic Sans MS" panose="030F0702030302020204" pitchFamily="66" charset="0"/>
              </a:endParaRPr>
            </a:p>
          </p:txBody>
        </p:sp>
      </p:grpSp>
      <p:grpSp>
        <p:nvGrpSpPr>
          <p:cNvPr id="141390" name="Group 78"/>
          <p:cNvGrpSpPr>
            <a:grpSpLocks/>
          </p:cNvGrpSpPr>
          <p:nvPr/>
        </p:nvGrpSpPr>
        <p:grpSpPr bwMode="auto">
          <a:xfrm>
            <a:off x="5854701" y="4300539"/>
            <a:ext cx="4456113" cy="712787"/>
            <a:chOff x="2894" y="2719"/>
            <a:chExt cx="2807" cy="449"/>
          </a:xfrm>
        </p:grpSpPr>
        <p:sp>
          <p:nvSpPr>
            <p:cNvPr id="141391" name="Line 79"/>
            <p:cNvSpPr>
              <a:spLocks noChangeAspect="1" noChangeShapeType="1"/>
            </p:cNvSpPr>
            <p:nvPr/>
          </p:nvSpPr>
          <p:spPr bwMode="auto">
            <a:xfrm>
              <a:off x="3734" y="2875"/>
              <a:ext cx="79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92" name="Line 80"/>
            <p:cNvSpPr>
              <a:spLocks noChangeAspect="1" noChangeShapeType="1"/>
            </p:cNvSpPr>
            <p:nvPr/>
          </p:nvSpPr>
          <p:spPr bwMode="auto">
            <a:xfrm>
              <a:off x="3716" y="3017"/>
              <a:ext cx="7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93" name="Line 81"/>
            <p:cNvSpPr>
              <a:spLocks noChangeAspect="1" noChangeShapeType="1"/>
            </p:cNvSpPr>
            <p:nvPr/>
          </p:nvSpPr>
          <p:spPr bwMode="auto">
            <a:xfrm>
              <a:off x="3190" y="3015"/>
              <a:ext cx="27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94" name="Line 82"/>
            <p:cNvSpPr>
              <a:spLocks noChangeAspect="1" noChangeShapeType="1"/>
            </p:cNvSpPr>
            <p:nvPr/>
          </p:nvSpPr>
          <p:spPr bwMode="auto">
            <a:xfrm>
              <a:off x="3154" y="2875"/>
              <a:ext cx="3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1395" name="Group 83"/>
            <p:cNvGrpSpPr>
              <a:grpSpLocks noChangeAspect="1"/>
            </p:cNvGrpSpPr>
            <p:nvPr/>
          </p:nvGrpSpPr>
          <p:grpSpPr bwMode="auto">
            <a:xfrm>
              <a:off x="2894" y="2829"/>
              <a:ext cx="371" cy="232"/>
              <a:chOff x="1104" y="576"/>
              <a:chExt cx="664" cy="480"/>
            </a:xfrm>
          </p:grpSpPr>
          <p:sp>
            <p:nvSpPr>
              <p:cNvPr id="141396" name="Rectangle 84"/>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1397" name="Text Box 85"/>
              <p:cNvSpPr txBox="1">
                <a:spLocks noChangeAspect="1" noChangeArrowheads="1"/>
              </p:cNvSpPr>
              <p:nvPr/>
            </p:nvSpPr>
            <p:spPr bwMode="auto">
              <a:xfrm>
                <a:off x="1104" y="628"/>
                <a:ext cx="66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sp>
          <p:nvSpPr>
            <p:cNvPr id="141398" name="Rectangle 86"/>
            <p:cNvSpPr>
              <a:spLocks noChangeAspect="1" noChangeArrowheads="1"/>
            </p:cNvSpPr>
            <p:nvPr/>
          </p:nvSpPr>
          <p:spPr bwMode="auto">
            <a:xfrm>
              <a:off x="3800" y="2726"/>
              <a:ext cx="54"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399" name="Rectangle 87"/>
            <p:cNvSpPr>
              <a:spLocks noChangeAspect="1" noChangeArrowheads="1"/>
            </p:cNvSpPr>
            <p:nvPr/>
          </p:nvSpPr>
          <p:spPr bwMode="auto">
            <a:xfrm>
              <a:off x="3297" y="2726"/>
              <a:ext cx="54"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1400" name="Group 88"/>
            <p:cNvGrpSpPr>
              <a:grpSpLocks/>
            </p:cNvGrpSpPr>
            <p:nvPr/>
          </p:nvGrpSpPr>
          <p:grpSpPr bwMode="auto">
            <a:xfrm>
              <a:off x="4472" y="2726"/>
              <a:ext cx="1229" cy="441"/>
              <a:chOff x="3475" y="2155"/>
              <a:chExt cx="1229" cy="441"/>
            </a:xfrm>
          </p:grpSpPr>
          <p:sp>
            <p:nvSpPr>
              <p:cNvPr id="141401" name="AutoShape 89"/>
              <p:cNvSpPr>
                <a:spLocks noChangeAspect="1" noChangeArrowheads="1"/>
              </p:cNvSpPr>
              <p:nvPr/>
            </p:nvSpPr>
            <p:spPr bwMode="auto">
              <a:xfrm rot="-5400000">
                <a:off x="3417" y="2263"/>
                <a:ext cx="371" cy="22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1402" name="AutoShape 90"/>
              <p:cNvSpPr>
                <a:spLocks noChangeAspect="1" noChangeArrowheads="1"/>
              </p:cNvSpPr>
              <p:nvPr/>
            </p:nvSpPr>
            <p:spPr bwMode="auto">
              <a:xfrm rot="5400000">
                <a:off x="3475" y="2316"/>
                <a:ext cx="119" cy="12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03" name="Freeform 91"/>
              <p:cNvSpPr>
                <a:spLocks noChangeAspect="1"/>
              </p:cNvSpPr>
              <p:nvPr/>
            </p:nvSpPr>
            <p:spPr bwMode="auto">
              <a:xfrm rot="5400000">
                <a:off x="3484" y="2329"/>
                <a:ext cx="105" cy="93"/>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04" name="Text Box 92"/>
              <p:cNvSpPr txBox="1">
                <a:spLocks noChangeAspect="1" noChangeArrowheads="1"/>
              </p:cNvSpPr>
              <p:nvPr/>
            </p:nvSpPr>
            <p:spPr bwMode="auto">
              <a:xfrm rot="-5400000">
                <a:off x="3496" y="2276"/>
                <a:ext cx="278"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sp>
            <p:nvSpPr>
              <p:cNvPr id="141405" name="Line 93"/>
              <p:cNvSpPr>
                <a:spLocks noChangeAspect="1" noChangeShapeType="1"/>
              </p:cNvSpPr>
              <p:nvPr/>
            </p:nvSpPr>
            <p:spPr bwMode="auto">
              <a:xfrm>
                <a:off x="3717" y="2376"/>
                <a:ext cx="29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06" name="Line 94"/>
              <p:cNvSpPr>
                <a:spLocks noChangeAspect="1" noChangeShapeType="1"/>
              </p:cNvSpPr>
              <p:nvPr/>
            </p:nvSpPr>
            <p:spPr bwMode="auto">
              <a:xfrm>
                <a:off x="4226" y="2376"/>
                <a:ext cx="29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07" name="Rectangle 95"/>
              <p:cNvSpPr>
                <a:spLocks noChangeAspect="1" noChangeArrowheads="1"/>
              </p:cNvSpPr>
              <p:nvPr/>
            </p:nvSpPr>
            <p:spPr bwMode="auto">
              <a:xfrm>
                <a:off x="3940" y="2260"/>
                <a:ext cx="268" cy="232"/>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1408" name="Text Box 96"/>
              <p:cNvSpPr txBox="1">
                <a:spLocks noChangeAspect="1" noChangeArrowheads="1"/>
              </p:cNvSpPr>
              <p:nvPr/>
            </p:nvSpPr>
            <p:spPr bwMode="auto">
              <a:xfrm>
                <a:off x="3896" y="2285"/>
                <a:ext cx="352"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sp>
            <p:nvSpPr>
              <p:cNvPr id="141409" name="Freeform 97"/>
              <p:cNvSpPr>
                <a:spLocks noChangeAspect="1"/>
              </p:cNvSpPr>
              <p:nvPr/>
            </p:nvSpPr>
            <p:spPr bwMode="auto">
              <a:xfrm>
                <a:off x="3905" y="2376"/>
                <a:ext cx="399"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10" name="Rectangle 98"/>
              <p:cNvSpPr>
                <a:spLocks noChangeAspect="1" noChangeArrowheads="1"/>
              </p:cNvSpPr>
              <p:nvPr/>
            </p:nvSpPr>
            <p:spPr bwMode="auto">
              <a:xfrm>
                <a:off x="4305" y="2155"/>
                <a:ext cx="54"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11" name="Rectangle 99"/>
              <p:cNvSpPr>
                <a:spLocks noChangeAspect="1" noChangeArrowheads="1"/>
              </p:cNvSpPr>
              <p:nvPr/>
            </p:nvSpPr>
            <p:spPr bwMode="auto">
              <a:xfrm>
                <a:off x="3802" y="2158"/>
                <a:ext cx="54" cy="435"/>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1412" name="Group 100"/>
              <p:cNvGrpSpPr>
                <a:grpSpLocks noChangeAspect="1"/>
              </p:cNvGrpSpPr>
              <p:nvPr/>
            </p:nvGrpSpPr>
            <p:grpSpPr bwMode="auto">
              <a:xfrm flipH="1">
                <a:off x="4436" y="2251"/>
                <a:ext cx="268" cy="233"/>
                <a:chOff x="1392" y="528"/>
                <a:chExt cx="480" cy="432"/>
              </a:xfrm>
            </p:grpSpPr>
            <p:sp>
              <p:nvSpPr>
                <p:cNvPr id="141413" name="Rectangle 101"/>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14" name="Rectangle 102"/>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1415" name="Text Box 103"/>
              <p:cNvSpPr txBox="1">
                <a:spLocks noChangeAspect="1" noChangeArrowheads="1"/>
              </p:cNvSpPr>
              <p:nvPr/>
            </p:nvSpPr>
            <p:spPr bwMode="auto">
              <a:xfrm flipH="1">
                <a:off x="4438" y="2276"/>
                <a:ext cx="254"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1416" name="Rectangle 104"/>
            <p:cNvSpPr>
              <a:spLocks noChangeAspect="1" noChangeArrowheads="1"/>
            </p:cNvSpPr>
            <p:nvPr/>
          </p:nvSpPr>
          <p:spPr bwMode="auto">
            <a:xfrm>
              <a:off x="4292" y="2727"/>
              <a:ext cx="54"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17" name="AutoShape 105"/>
            <p:cNvSpPr>
              <a:spLocks noChangeArrowheads="1"/>
            </p:cNvSpPr>
            <p:nvPr/>
          </p:nvSpPr>
          <p:spPr bwMode="auto">
            <a:xfrm>
              <a:off x="3393" y="2719"/>
              <a:ext cx="364" cy="422"/>
            </a:xfrm>
            <a:prstGeom prst="cloudCallout">
              <a:avLst>
                <a:gd name="adj1" fmla="val 39287"/>
                <a:gd name="adj2" fmla="val 38153"/>
              </a:avLst>
            </a:prstGeom>
            <a:solidFill>
              <a:srgbClr val="0FEFEA"/>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500">
                  <a:latin typeface="Comic Sans MS" panose="030F0702030302020204" pitchFamily="66" charset="0"/>
                </a:rPr>
                <a:t>Bubble</a:t>
              </a:r>
              <a:endParaRPr lang="en-US" altLang="zh-CN" sz="1600">
                <a:latin typeface="Comic Sans MS" panose="030F0702030302020204" pitchFamily="66" charset="0"/>
              </a:endParaRPr>
            </a:p>
          </p:txBody>
        </p:sp>
        <p:grpSp>
          <p:nvGrpSpPr>
            <p:cNvPr id="141418" name="Group 106"/>
            <p:cNvGrpSpPr>
              <a:grpSpLocks/>
            </p:cNvGrpSpPr>
            <p:nvPr/>
          </p:nvGrpSpPr>
          <p:grpSpPr bwMode="auto">
            <a:xfrm>
              <a:off x="3945" y="2826"/>
              <a:ext cx="270" cy="233"/>
              <a:chOff x="3936" y="3120"/>
              <a:chExt cx="270" cy="233"/>
            </a:xfrm>
          </p:grpSpPr>
          <p:sp>
            <p:nvSpPr>
              <p:cNvPr id="141419" name="Rectangle 107"/>
              <p:cNvSpPr>
                <a:spLocks noChangeArrowheads="1"/>
              </p:cNvSpPr>
              <p:nvPr/>
            </p:nvSpPr>
            <p:spPr bwMode="auto">
              <a:xfrm>
                <a:off x="3936" y="3120"/>
                <a:ext cx="270" cy="22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20" name="Rectangle 108"/>
              <p:cNvSpPr>
                <a:spLocks noChangeAspect="1" noChangeArrowheads="1"/>
              </p:cNvSpPr>
              <p:nvPr/>
            </p:nvSpPr>
            <p:spPr bwMode="auto">
              <a:xfrm>
                <a:off x="4069" y="3120"/>
                <a:ext cx="133" cy="230"/>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21" name="Rectangle 109"/>
              <p:cNvSpPr>
                <a:spLocks noChangeAspect="1" noChangeArrowheads="1"/>
              </p:cNvSpPr>
              <p:nvPr/>
            </p:nvSpPr>
            <p:spPr bwMode="auto">
              <a:xfrm>
                <a:off x="3936" y="3120"/>
                <a:ext cx="266" cy="23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sp>
            <p:nvSpPr>
              <p:cNvPr id="141422" name="Text Box 110"/>
              <p:cNvSpPr txBox="1">
                <a:spLocks noChangeAspect="1" noChangeArrowheads="1"/>
              </p:cNvSpPr>
              <p:nvPr/>
            </p:nvSpPr>
            <p:spPr bwMode="auto">
              <a:xfrm>
                <a:off x="3943" y="3145"/>
                <a:ext cx="254"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sp>
        <p:nvSpPr>
          <p:cNvPr id="141423" name="Line 111"/>
          <p:cNvSpPr>
            <a:spLocks noChangeAspect="1" noChangeShapeType="1"/>
          </p:cNvSpPr>
          <p:nvPr/>
        </p:nvSpPr>
        <p:spPr bwMode="auto">
          <a:xfrm>
            <a:off x="7974014" y="5402263"/>
            <a:ext cx="126682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24" name="Line 112"/>
          <p:cNvSpPr>
            <a:spLocks noChangeAspect="1" noChangeShapeType="1"/>
          </p:cNvSpPr>
          <p:nvPr/>
        </p:nvSpPr>
        <p:spPr bwMode="auto">
          <a:xfrm>
            <a:off x="7945438" y="5627688"/>
            <a:ext cx="12192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25" name="Line 113"/>
          <p:cNvSpPr>
            <a:spLocks noChangeAspect="1" noChangeShapeType="1"/>
          </p:cNvSpPr>
          <p:nvPr/>
        </p:nvSpPr>
        <p:spPr bwMode="auto">
          <a:xfrm>
            <a:off x="7110414" y="5624513"/>
            <a:ext cx="43973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26" name="Line 114"/>
          <p:cNvSpPr>
            <a:spLocks noChangeAspect="1" noChangeShapeType="1"/>
          </p:cNvSpPr>
          <p:nvPr/>
        </p:nvSpPr>
        <p:spPr bwMode="auto">
          <a:xfrm>
            <a:off x="7053263" y="5402263"/>
            <a:ext cx="4953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1427" name="Group 115"/>
          <p:cNvGrpSpPr>
            <a:grpSpLocks noChangeAspect="1"/>
          </p:cNvGrpSpPr>
          <p:nvPr/>
        </p:nvGrpSpPr>
        <p:grpSpPr bwMode="auto">
          <a:xfrm>
            <a:off x="7445376" y="5313363"/>
            <a:ext cx="588963" cy="368300"/>
            <a:chOff x="1104" y="576"/>
            <a:chExt cx="664" cy="480"/>
          </a:xfrm>
        </p:grpSpPr>
        <p:sp>
          <p:nvSpPr>
            <p:cNvPr id="141428" name="Rectangle 116"/>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1429" name="Text Box 117"/>
            <p:cNvSpPr txBox="1">
              <a:spLocks noChangeAspect="1" noChangeArrowheads="1"/>
            </p:cNvSpPr>
            <p:nvPr/>
          </p:nvSpPr>
          <p:spPr bwMode="auto">
            <a:xfrm>
              <a:off x="1104" y="628"/>
              <a:ext cx="664"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sp>
        <p:nvSpPr>
          <p:cNvPr id="141430" name="Rectangle 118"/>
          <p:cNvSpPr>
            <a:spLocks noChangeAspect="1" noChangeArrowheads="1"/>
          </p:cNvSpPr>
          <p:nvPr/>
        </p:nvSpPr>
        <p:spPr bwMode="auto">
          <a:xfrm>
            <a:off x="8078789" y="5165725"/>
            <a:ext cx="85725" cy="700088"/>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31" name="Rectangle 119"/>
          <p:cNvSpPr>
            <a:spLocks noChangeAspect="1" noChangeArrowheads="1"/>
          </p:cNvSpPr>
          <p:nvPr/>
        </p:nvSpPr>
        <p:spPr bwMode="auto">
          <a:xfrm>
            <a:off x="7280276" y="5165725"/>
            <a:ext cx="85725" cy="700088"/>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32" name="AutoShape 120"/>
          <p:cNvSpPr>
            <a:spLocks noChangeAspect="1" noChangeArrowheads="1"/>
          </p:cNvSpPr>
          <p:nvPr/>
        </p:nvSpPr>
        <p:spPr bwMode="auto">
          <a:xfrm rot="16200000">
            <a:off x="9053513" y="5337175"/>
            <a:ext cx="588962" cy="35718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1433" name="AutoShape 121"/>
          <p:cNvSpPr>
            <a:spLocks noChangeAspect="1" noChangeArrowheads="1"/>
          </p:cNvSpPr>
          <p:nvPr/>
        </p:nvSpPr>
        <p:spPr bwMode="auto">
          <a:xfrm rot="5400000">
            <a:off x="9146382" y="5420519"/>
            <a:ext cx="188912" cy="19050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34" name="Freeform 122"/>
          <p:cNvSpPr>
            <a:spLocks noChangeAspect="1"/>
          </p:cNvSpPr>
          <p:nvPr/>
        </p:nvSpPr>
        <p:spPr bwMode="auto">
          <a:xfrm rot="5400000">
            <a:off x="9159875" y="5441950"/>
            <a:ext cx="166688" cy="147638"/>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35" name="Text Box 123"/>
          <p:cNvSpPr txBox="1">
            <a:spLocks noChangeAspect="1" noChangeArrowheads="1"/>
          </p:cNvSpPr>
          <p:nvPr/>
        </p:nvSpPr>
        <p:spPr bwMode="auto">
          <a:xfrm rot="16200000">
            <a:off x="9178926" y="5357814"/>
            <a:ext cx="441325"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sp>
        <p:nvSpPr>
          <p:cNvPr id="141436" name="Line 124"/>
          <p:cNvSpPr>
            <a:spLocks noChangeAspect="1" noChangeShapeType="1"/>
          </p:cNvSpPr>
          <p:nvPr/>
        </p:nvSpPr>
        <p:spPr bwMode="auto">
          <a:xfrm>
            <a:off x="9529763" y="5516563"/>
            <a:ext cx="46831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37" name="Line 125"/>
          <p:cNvSpPr>
            <a:spLocks noChangeAspect="1" noChangeShapeType="1"/>
          </p:cNvSpPr>
          <p:nvPr/>
        </p:nvSpPr>
        <p:spPr bwMode="auto">
          <a:xfrm>
            <a:off x="9993313" y="5535613"/>
            <a:ext cx="3349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38" name="Rectangle 126"/>
          <p:cNvSpPr>
            <a:spLocks noChangeAspect="1" noChangeArrowheads="1"/>
          </p:cNvSpPr>
          <p:nvPr/>
        </p:nvSpPr>
        <p:spPr bwMode="auto">
          <a:xfrm>
            <a:off x="9883775" y="5332413"/>
            <a:ext cx="425450" cy="36830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1439" name="Text Box 127"/>
          <p:cNvSpPr txBox="1">
            <a:spLocks noChangeAspect="1" noChangeArrowheads="1"/>
          </p:cNvSpPr>
          <p:nvPr/>
        </p:nvSpPr>
        <p:spPr bwMode="auto">
          <a:xfrm>
            <a:off x="9813925" y="5372101"/>
            <a:ext cx="558800"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sp>
        <p:nvSpPr>
          <p:cNvPr id="141440" name="Rectangle 128"/>
          <p:cNvSpPr>
            <a:spLocks noChangeAspect="1" noChangeArrowheads="1"/>
          </p:cNvSpPr>
          <p:nvPr/>
        </p:nvSpPr>
        <p:spPr bwMode="auto">
          <a:xfrm>
            <a:off x="9664701" y="5170488"/>
            <a:ext cx="85725" cy="69056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41" name="Rectangle 129"/>
          <p:cNvSpPr>
            <a:spLocks noChangeAspect="1" noChangeArrowheads="1"/>
          </p:cNvSpPr>
          <p:nvPr/>
        </p:nvSpPr>
        <p:spPr bwMode="auto">
          <a:xfrm>
            <a:off x="8859839" y="5167314"/>
            <a:ext cx="85725" cy="700087"/>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42" name="AutoShape 130"/>
          <p:cNvSpPr>
            <a:spLocks noChangeArrowheads="1"/>
          </p:cNvSpPr>
          <p:nvPr/>
        </p:nvSpPr>
        <p:spPr bwMode="auto">
          <a:xfrm>
            <a:off x="6637338" y="5165726"/>
            <a:ext cx="577850" cy="669925"/>
          </a:xfrm>
          <a:prstGeom prst="cloudCallout">
            <a:avLst>
              <a:gd name="adj1" fmla="val 39287"/>
              <a:gd name="adj2" fmla="val 38153"/>
            </a:avLst>
          </a:prstGeom>
          <a:solidFill>
            <a:srgbClr val="0FEFEA"/>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500">
                <a:latin typeface="Comic Sans MS" panose="030F0702030302020204" pitchFamily="66" charset="0"/>
              </a:rPr>
              <a:t>Bubble</a:t>
            </a:r>
            <a:endParaRPr lang="en-US" altLang="zh-CN" sz="1600">
              <a:latin typeface="Comic Sans MS" panose="030F0702030302020204" pitchFamily="66" charset="0"/>
            </a:endParaRPr>
          </a:p>
        </p:txBody>
      </p:sp>
      <p:grpSp>
        <p:nvGrpSpPr>
          <p:cNvPr id="141443" name="Group 131"/>
          <p:cNvGrpSpPr>
            <a:grpSpLocks/>
          </p:cNvGrpSpPr>
          <p:nvPr/>
        </p:nvGrpSpPr>
        <p:grpSpPr bwMode="auto">
          <a:xfrm>
            <a:off x="8308976" y="5324475"/>
            <a:ext cx="428625" cy="369888"/>
            <a:chOff x="3936" y="3120"/>
            <a:chExt cx="270" cy="233"/>
          </a:xfrm>
        </p:grpSpPr>
        <p:sp>
          <p:nvSpPr>
            <p:cNvPr id="141444" name="Rectangle 132"/>
            <p:cNvSpPr>
              <a:spLocks noChangeArrowheads="1"/>
            </p:cNvSpPr>
            <p:nvPr/>
          </p:nvSpPr>
          <p:spPr bwMode="auto">
            <a:xfrm>
              <a:off x="3936" y="3120"/>
              <a:ext cx="270" cy="228"/>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45" name="Rectangle 133"/>
            <p:cNvSpPr>
              <a:spLocks noChangeAspect="1" noChangeArrowheads="1"/>
            </p:cNvSpPr>
            <p:nvPr/>
          </p:nvSpPr>
          <p:spPr bwMode="auto">
            <a:xfrm>
              <a:off x="4069" y="3120"/>
              <a:ext cx="133" cy="230"/>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46" name="Rectangle 134"/>
            <p:cNvSpPr>
              <a:spLocks noChangeAspect="1" noChangeArrowheads="1"/>
            </p:cNvSpPr>
            <p:nvPr/>
          </p:nvSpPr>
          <p:spPr bwMode="auto">
            <a:xfrm>
              <a:off x="3936" y="3120"/>
              <a:ext cx="266" cy="23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sp>
          <p:nvSpPr>
            <p:cNvPr id="141447" name="Text Box 135"/>
            <p:cNvSpPr txBox="1">
              <a:spLocks noChangeAspect="1" noChangeArrowheads="1"/>
            </p:cNvSpPr>
            <p:nvPr/>
          </p:nvSpPr>
          <p:spPr bwMode="auto">
            <a:xfrm>
              <a:off x="3943" y="3145"/>
              <a:ext cx="254" cy="1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1448" name="Line 136"/>
          <p:cNvSpPr>
            <a:spLocks noChangeShapeType="1"/>
          </p:cNvSpPr>
          <p:nvPr/>
        </p:nvSpPr>
        <p:spPr bwMode="auto">
          <a:xfrm>
            <a:off x="7356475" y="2803525"/>
            <a:ext cx="228600" cy="83820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1449" name="Line 137"/>
          <p:cNvSpPr>
            <a:spLocks noChangeShapeType="1"/>
          </p:cNvSpPr>
          <p:nvPr/>
        </p:nvSpPr>
        <p:spPr bwMode="auto">
          <a:xfrm>
            <a:off x="7661275" y="2803525"/>
            <a:ext cx="76200" cy="1828800"/>
          </a:xfrm>
          <a:prstGeom prst="line">
            <a:avLst/>
          </a:prstGeom>
          <a:noFill/>
          <a:ln w="76200">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811213992"/>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946432" cy="831627"/>
          </a:xfrm>
        </p:spPr>
        <p:txBody>
          <a:bodyPr/>
          <a:lstStyle/>
          <a:p>
            <a:r>
              <a:rPr lang="en-US" altLang="zh-CN" dirty="0" smtClean="0"/>
              <a:t>Hazard </a:t>
            </a:r>
            <a:r>
              <a:rPr lang="en-US" altLang="zh-CN" dirty="0"/>
              <a:t>detection </a:t>
            </a:r>
            <a:r>
              <a:rPr lang="en-US" altLang="zh-CN" dirty="0" smtClean="0"/>
              <a:t>by </a:t>
            </a:r>
            <a:r>
              <a:rPr lang="en-US" altLang="zh-CN" dirty="0"/>
              <a:t>comparing the </a:t>
            </a:r>
            <a:r>
              <a:rPr lang="en-US" altLang="zh-CN" dirty="0" err="1" smtClean="0"/>
              <a:t>dest</a:t>
            </a:r>
            <a:r>
              <a:rPr lang="en-US" altLang="zh-CN" dirty="0" smtClean="0"/>
              <a:t> </a:t>
            </a:r>
            <a:r>
              <a:rPr lang="en-US" altLang="zh-CN" dirty="0"/>
              <a:t>and </a:t>
            </a:r>
            <a:r>
              <a:rPr lang="en-US" altLang="zh-CN" dirty="0" smtClean="0"/>
              <a:t>sour registers </a:t>
            </a:r>
            <a:r>
              <a:rPr lang="en-US" altLang="zh-CN" dirty="0"/>
              <a:t>of adjacent instructions</a:t>
            </a:r>
            <a:endParaRPr lang="zh-CN" altLang="en-US" dirty="0"/>
          </a:p>
        </p:txBody>
      </p:sp>
      <p:pic>
        <p:nvPicPr>
          <p:cNvPr id="4" name="内容占位符 3"/>
          <p:cNvPicPr>
            <a:picLocks noGrp="1" noChangeAspect="1"/>
          </p:cNvPicPr>
          <p:nvPr>
            <p:ph idx="1"/>
          </p:nvPr>
        </p:nvPicPr>
        <p:blipFill>
          <a:blip r:embed="rId3"/>
          <a:stretch>
            <a:fillRect/>
          </a:stretch>
        </p:blipFill>
        <p:spPr>
          <a:xfrm>
            <a:off x="2175762" y="1484784"/>
            <a:ext cx="8271307" cy="5268841"/>
          </a:xfrm>
          <a:prstGeom prst="rect">
            <a:avLst/>
          </a:prstGeom>
        </p:spPr>
      </p:pic>
    </p:spTree>
    <p:extLst>
      <p:ext uri="{BB962C8B-B14F-4D97-AF65-F5344CB8AC3E}">
        <p14:creationId xmlns:p14="http://schemas.microsoft.com/office/powerpoint/2010/main" val="1113041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730408" cy="831627"/>
          </a:xfrm>
        </p:spPr>
        <p:txBody>
          <a:bodyPr/>
          <a:lstStyle/>
          <a:p>
            <a:r>
              <a:rPr lang="en-US" altLang="zh-CN" dirty="0" smtClean="0"/>
              <a:t>Logic </a:t>
            </a:r>
            <a:r>
              <a:rPr lang="en-US" altLang="zh-CN" dirty="0"/>
              <a:t>to detect the need for load interlocks </a:t>
            </a:r>
            <a:endParaRPr lang="zh-CN" altLang="en-US" dirty="0"/>
          </a:p>
        </p:txBody>
      </p:sp>
      <p:sp>
        <p:nvSpPr>
          <p:cNvPr id="3" name="内容占位符 2"/>
          <p:cNvSpPr>
            <a:spLocks noGrp="1"/>
          </p:cNvSpPr>
          <p:nvPr>
            <p:ph idx="1"/>
          </p:nvPr>
        </p:nvSpPr>
        <p:spPr/>
        <p:txBody>
          <a:bodyPr/>
          <a:lstStyle/>
          <a:p>
            <a:r>
              <a:rPr lang="en-US" altLang="zh-CN" dirty="0"/>
              <a:t>D</a:t>
            </a:r>
            <a:r>
              <a:rPr lang="en-US" altLang="zh-CN" dirty="0" smtClean="0"/>
              <a:t>uring </a:t>
            </a:r>
            <a:r>
              <a:rPr lang="en-US" altLang="zh-CN" dirty="0"/>
              <a:t>the ID stage of an </a:t>
            </a:r>
            <a:r>
              <a:rPr lang="en-US" altLang="zh-CN" dirty="0" smtClean="0"/>
              <a:t>instruction, </a:t>
            </a:r>
            <a:r>
              <a:rPr lang="en-US" altLang="zh-CN" dirty="0"/>
              <a:t>requires two comparisons, one for each possible source. </a:t>
            </a:r>
            <a:endParaRPr lang="en-US" altLang="zh-CN" dirty="0" smtClean="0"/>
          </a:p>
          <a:p>
            <a:pPr lvl="1"/>
            <a:r>
              <a:rPr lang="en-US" altLang="zh-CN" dirty="0" smtClean="0"/>
              <a:t>Remember </a:t>
            </a:r>
            <a:r>
              <a:rPr lang="en-US" altLang="zh-CN" dirty="0"/>
              <a:t>that the IF/ID register holds the state of the instruction in ID, which potentially uses the load result, while ID/EX holds the state of the instruction in EX, which is the load instruction</a:t>
            </a:r>
            <a:endParaRPr lang="zh-CN" altLang="en-US" dirty="0"/>
          </a:p>
        </p:txBody>
      </p:sp>
      <p:pic>
        <p:nvPicPr>
          <p:cNvPr id="4" name="图片 3"/>
          <p:cNvPicPr>
            <a:picLocks noChangeAspect="1"/>
          </p:cNvPicPr>
          <p:nvPr/>
        </p:nvPicPr>
        <p:blipFill>
          <a:blip r:embed="rId2"/>
          <a:stretch>
            <a:fillRect/>
          </a:stretch>
        </p:blipFill>
        <p:spPr>
          <a:xfrm>
            <a:off x="951659" y="3761185"/>
            <a:ext cx="10629810" cy="2919917"/>
          </a:xfrm>
          <a:prstGeom prst="rect">
            <a:avLst/>
          </a:prstGeom>
        </p:spPr>
      </p:pic>
    </p:spTree>
    <p:extLst>
      <p:ext uri="{BB962C8B-B14F-4D97-AF65-F5344CB8AC3E}">
        <p14:creationId xmlns:p14="http://schemas.microsoft.com/office/powerpoint/2010/main" val="795244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Forwarding of data to the two ALU inputs </a:t>
            </a:r>
            <a:endParaRPr lang="zh-CN" altLang="en-US" dirty="0"/>
          </a:p>
        </p:txBody>
      </p:sp>
      <p:pic>
        <p:nvPicPr>
          <p:cNvPr id="4" name="内容占位符 3"/>
          <p:cNvPicPr>
            <a:picLocks noGrp="1" noChangeAspect="1"/>
          </p:cNvPicPr>
          <p:nvPr>
            <p:ph idx="1"/>
          </p:nvPr>
        </p:nvPicPr>
        <p:blipFill>
          <a:blip r:embed="rId3"/>
          <a:stretch>
            <a:fillRect/>
          </a:stretch>
        </p:blipFill>
        <p:spPr>
          <a:xfrm>
            <a:off x="1415480" y="1568665"/>
            <a:ext cx="9649072" cy="5245684"/>
          </a:xfrm>
          <a:prstGeom prst="rect">
            <a:avLst/>
          </a:prstGeom>
        </p:spPr>
      </p:pic>
    </p:spTree>
    <p:extLst>
      <p:ext uri="{BB962C8B-B14F-4D97-AF65-F5344CB8AC3E}">
        <p14:creationId xmlns:p14="http://schemas.microsoft.com/office/powerpoint/2010/main" val="3841367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HW Change for </a:t>
            </a:r>
            <a:r>
              <a:rPr lang="en-US" altLang="zh-CN" dirty="0" smtClean="0"/>
              <a:t>Forwarding of </a:t>
            </a:r>
            <a:r>
              <a:rPr lang="en-US" altLang="zh-CN" dirty="0" err="1" smtClean="0"/>
              <a:t>ALUinputs</a:t>
            </a:r>
            <a:endParaRPr lang="en-US" altLang="zh-CN" sz="2400" dirty="0">
              <a:solidFill>
                <a:schemeClr val="tx1"/>
              </a:solidFill>
            </a:endParaRPr>
          </a:p>
        </p:txBody>
      </p:sp>
      <p:sp>
        <p:nvSpPr>
          <p:cNvPr id="138243" name="Rectangle 3"/>
          <p:cNvSpPr>
            <a:spLocks noChangeArrowheads="1"/>
          </p:cNvSpPr>
          <p:nvPr/>
        </p:nvSpPr>
        <p:spPr bwMode="auto">
          <a:xfrm>
            <a:off x="1698625" y="1746251"/>
            <a:ext cx="7664450" cy="4511675"/>
          </a:xfrm>
          <a:prstGeom prst="rect">
            <a:avLst/>
          </a:prstGeom>
          <a:noFill/>
          <a:ln w="0">
            <a:solidFill>
              <a:srgbClr val="FFFFFE"/>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8244" name="Rectangle 4"/>
          <p:cNvSpPr>
            <a:spLocks noChangeArrowheads="1"/>
          </p:cNvSpPr>
          <p:nvPr/>
        </p:nvSpPr>
        <p:spPr bwMode="auto">
          <a:xfrm>
            <a:off x="8556625" y="2203450"/>
            <a:ext cx="381000" cy="3352800"/>
          </a:xfrm>
          <a:prstGeom prst="rect">
            <a:avLst/>
          </a:prstGeom>
          <a:solidFill>
            <a:srgbClr val="00CC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MEM/WR</a:t>
            </a:r>
          </a:p>
        </p:txBody>
      </p:sp>
      <p:sp>
        <p:nvSpPr>
          <p:cNvPr id="138245" name="Rectangle 5"/>
          <p:cNvSpPr>
            <a:spLocks noChangeArrowheads="1"/>
          </p:cNvSpPr>
          <p:nvPr/>
        </p:nvSpPr>
        <p:spPr bwMode="auto">
          <a:xfrm>
            <a:off x="3290888" y="2203450"/>
            <a:ext cx="381000" cy="3352800"/>
          </a:xfrm>
          <a:prstGeom prst="rect">
            <a:avLst/>
          </a:prstGeom>
          <a:solidFill>
            <a:srgbClr val="00CC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ID/EX</a:t>
            </a:r>
          </a:p>
        </p:txBody>
      </p:sp>
      <p:sp>
        <p:nvSpPr>
          <p:cNvPr id="138246" name="Rectangle 6"/>
          <p:cNvSpPr>
            <a:spLocks noChangeArrowheads="1"/>
          </p:cNvSpPr>
          <p:nvPr/>
        </p:nvSpPr>
        <p:spPr bwMode="auto">
          <a:xfrm>
            <a:off x="6034088" y="2203450"/>
            <a:ext cx="381000" cy="3352800"/>
          </a:xfrm>
          <a:prstGeom prst="rect">
            <a:avLst/>
          </a:prstGeom>
          <a:solidFill>
            <a:srgbClr val="00CC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EX/MEM </a:t>
            </a:r>
          </a:p>
        </p:txBody>
      </p:sp>
      <p:sp>
        <p:nvSpPr>
          <p:cNvPr id="138247" name="Rectangle 7"/>
          <p:cNvSpPr>
            <a:spLocks noChangeArrowheads="1"/>
          </p:cNvSpPr>
          <p:nvPr/>
        </p:nvSpPr>
        <p:spPr bwMode="auto">
          <a:xfrm>
            <a:off x="7100888" y="3422650"/>
            <a:ext cx="914400" cy="16002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b="0">
                <a:latin typeface="Comic Sans MS" panose="030F0702030302020204" pitchFamily="66" charset="0"/>
              </a:rPr>
              <a:t>Data</a:t>
            </a:r>
          </a:p>
          <a:p>
            <a:pPr algn="ctr" eaLnBrk="1" hangingPunct="1"/>
            <a:r>
              <a:rPr lang="en-US" altLang="zh-CN" b="0">
                <a:latin typeface="Comic Sans MS" panose="030F0702030302020204" pitchFamily="66" charset="0"/>
              </a:rPr>
              <a:t>Memory</a:t>
            </a:r>
          </a:p>
        </p:txBody>
      </p:sp>
      <p:grpSp>
        <p:nvGrpSpPr>
          <p:cNvPr id="138248" name="Group 8"/>
          <p:cNvGrpSpPr>
            <a:grpSpLocks/>
          </p:cNvGrpSpPr>
          <p:nvPr/>
        </p:nvGrpSpPr>
        <p:grpSpPr bwMode="auto">
          <a:xfrm>
            <a:off x="4933950" y="2943226"/>
            <a:ext cx="635000" cy="1470025"/>
            <a:chOff x="1782" y="2232"/>
            <a:chExt cx="468" cy="816"/>
          </a:xfrm>
        </p:grpSpPr>
        <p:sp>
          <p:nvSpPr>
            <p:cNvPr id="138249" name="Freeform 9"/>
            <p:cNvSpPr>
              <a:spLocks/>
            </p:cNvSpPr>
            <p:nvPr/>
          </p:nvSpPr>
          <p:spPr bwMode="auto">
            <a:xfrm>
              <a:off x="1782" y="2232"/>
              <a:ext cx="468" cy="816"/>
            </a:xfrm>
            <a:custGeom>
              <a:avLst/>
              <a:gdLst>
                <a:gd name="T0" fmla="*/ 0 w 468"/>
                <a:gd name="T1" fmla="*/ 0 h 816"/>
                <a:gd name="T2" fmla="*/ 468 w 468"/>
                <a:gd name="T3" fmla="*/ 252 h 816"/>
                <a:gd name="T4" fmla="*/ 468 w 468"/>
                <a:gd name="T5" fmla="*/ 588 h 816"/>
                <a:gd name="T6" fmla="*/ 0 w 468"/>
                <a:gd name="T7" fmla="*/ 816 h 816"/>
                <a:gd name="T8" fmla="*/ 0 w 468"/>
                <a:gd name="T9" fmla="*/ 576 h 816"/>
                <a:gd name="T10" fmla="*/ 168 w 468"/>
                <a:gd name="T11" fmla="*/ 420 h 816"/>
                <a:gd name="T12" fmla="*/ 0 w 468"/>
                <a:gd name="T13" fmla="*/ 258 h 816"/>
                <a:gd name="T14" fmla="*/ 0 w 468"/>
                <a:gd name="T15" fmla="*/ 0 h 8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8" h="816">
                  <a:moveTo>
                    <a:pt x="0" y="0"/>
                  </a:moveTo>
                  <a:lnTo>
                    <a:pt x="468" y="252"/>
                  </a:lnTo>
                  <a:lnTo>
                    <a:pt x="468" y="588"/>
                  </a:lnTo>
                  <a:lnTo>
                    <a:pt x="0" y="816"/>
                  </a:lnTo>
                  <a:lnTo>
                    <a:pt x="0" y="576"/>
                  </a:lnTo>
                  <a:lnTo>
                    <a:pt x="168" y="420"/>
                  </a:lnTo>
                  <a:lnTo>
                    <a:pt x="0" y="258"/>
                  </a:lnTo>
                  <a:lnTo>
                    <a:pt x="0" y="0"/>
                  </a:lnTo>
                  <a:close/>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50" name="Text Box 10"/>
            <p:cNvSpPr txBox="1">
              <a:spLocks noChangeArrowheads="1"/>
            </p:cNvSpPr>
            <p:nvPr/>
          </p:nvSpPr>
          <p:spPr bwMode="auto">
            <a:xfrm rot="5400000">
              <a:off x="1914" y="2525"/>
              <a:ext cx="331" cy="24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ALU</a:t>
              </a:r>
            </a:p>
          </p:txBody>
        </p:sp>
      </p:grpSp>
      <p:sp>
        <p:nvSpPr>
          <p:cNvPr id="138251" name="AutoShape 11"/>
          <p:cNvSpPr>
            <a:spLocks noChangeArrowheads="1"/>
          </p:cNvSpPr>
          <p:nvPr/>
        </p:nvSpPr>
        <p:spPr bwMode="auto">
          <a:xfrm>
            <a:off x="4273550" y="2736850"/>
            <a:ext cx="381000" cy="762000"/>
          </a:xfrm>
          <a:prstGeom prst="roundRect">
            <a:avLst>
              <a:gd name="adj" fmla="val 16667"/>
            </a:avLst>
          </a:prstGeom>
          <a:noFill/>
          <a:ln w="2857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mux</a:t>
            </a:r>
          </a:p>
        </p:txBody>
      </p:sp>
      <p:sp>
        <p:nvSpPr>
          <p:cNvPr id="138252" name="AutoShape 12"/>
          <p:cNvSpPr>
            <a:spLocks noChangeArrowheads="1"/>
          </p:cNvSpPr>
          <p:nvPr/>
        </p:nvSpPr>
        <p:spPr bwMode="auto">
          <a:xfrm>
            <a:off x="4273550" y="3924300"/>
            <a:ext cx="381000" cy="762000"/>
          </a:xfrm>
          <a:prstGeom prst="roundRect">
            <a:avLst>
              <a:gd name="adj" fmla="val 16667"/>
            </a:avLst>
          </a:prstGeom>
          <a:noFill/>
          <a:ln w="2857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mux</a:t>
            </a:r>
          </a:p>
        </p:txBody>
      </p:sp>
      <p:sp>
        <p:nvSpPr>
          <p:cNvPr id="138253" name="Line 13"/>
          <p:cNvSpPr>
            <a:spLocks noChangeShapeType="1"/>
          </p:cNvSpPr>
          <p:nvPr/>
        </p:nvSpPr>
        <p:spPr bwMode="auto">
          <a:xfrm>
            <a:off x="4654550" y="3117850"/>
            <a:ext cx="304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54" name="Line 14"/>
          <p:cNvSpPr>
            <a:spLocks noChangeShapeType="1"/>
          </p:cNvSpPr>
          <p:nvPr/>
        </p:nvSpPr>
        <p:spPr bwMode="auto">
          <a:xfrm>
            <a:off x="4654550" y="4184650"/>
            <a:ext cx="304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55" name="Rectangle 15"/>
          <p:cNvSpPr>
            <a:spLocks noChangeArrowheads="1"/>
          </p:cNvSpPr>
          <p:nvPr/>
        </p:nvSpPr>
        <p:spPr bwMode="auto">
          <a:xfrm rot="10800000">
            <a:off x="2139950" y="2889250"/>
            <a:ext cx="685800" cy="15240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vert="eaVert" wrap="none" anchor="ctr"/>
          <a:lstStyle/>
          <a:p>
            <a:pPr algn="ctr" eaLnBrk="1" hangingPunct="1"/>
            <a:r>
              <a:rPr lang="en-US" altLang="zh-CN" b="0">
                <a:latin typeface="Comic Sans MS" panose="030F0702030302020204" pitchFamily="66" charset="0"/>
              </a:rPr>
              <a:t>Registers</a:t>
            </a:r>
          </a:p>
        </p:txBody>
      </p:sp>
      <p:sp>
        <p:nvSpPr>
          <p:cNvPr id="138256" name="Line 16"/>
          <p:cNvSpPr>
            <a:spLocks noChangeShapeType="1"/>
          </p:cNvSpPr>
          <p:nvPr/>
        </p:nvSpPr>
        <p:spPr bwMode="auto">
          <a:xfrm>
            <a:off x="2825750" y="3346450"/>
            <a:ext cx="457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57" name="Line 17"/>
          <p:cNvSpPr>
            <a:spLocks noChangeShapeType="1"/>
          </p:cNvSpPr>
          <p:nvPr/>
        </p:nvSpPr>
        <p:spPr bwMode="auto">
          <a:xfrm>
            <a:off x="2825750" y="4032250"/>
            <a:ext cx="457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58" name="Line 18"/>
          <p:cNvSpPr>
            <a:spLocks noChangeShapeType="1"/>
          </p:cNvSpPr>
          <p:nvPr/>
        </p:nvSpPr>
        <p:spPr bwMode="auto">
          <a:xfrm>
            <a:off x="3663950" y="3346450"/>
            <a:ext cx="609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59" name="Line 19"/>
          <p:cNvSpPr>
            <a:spLocks noChangeShapeType="1"/>
          </p:cNvSpPr>
          <p:nvPr/>
        </p:nvSpPr>
        <p:spPr bwMode="auto">
          <a:xfrm>
            <a:off x="3663950" y="4032250"/>
            <a:ext cx="609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0" name="Text Box 20"/>
          <p:cNvSpPr txBox="1">
            <a:spLocks noChangeArrowheads="1"/>
          </p:cNvSpPr>
          <p:nvPr/>
        </p:nvSpPr>
        <p:spPr bwMode="auto">
          <a:xfrm>
            <a:off x="1987550" y="2279650"/>
            <a:ext cx="901700"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NextPC</a:t>
            </a:r>
          </a:p>
        </p:txBody>
      </p:sp>
      <p:sp>
        <p:nvSpPr>
          <p:cNvPr id="138261" name="Line 21"/>
          <p:cNvSpPr>
            <a:spLocks noChangeShapeType="1"/>
          </p:cNvSpPr>
          <p:nvPr/>
        </p:nvSpPr>
        <p:spPr bwMode="auto">
          <a:xfrm>
            <a:off x="2825750" y="2432050"/>
            <a:ext cx="457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2" name="Freeform 22"/>
          <p:cNvSpPr>
            <a:spLocks/>
          </p:cNvSpPr>
          <p:nvPr/>
        </p:nvSpPr>
        <p:spPr bwMode="auto">
          <a:xfrm>
            <a:off x="3663950" y="2432050"/>
            <a:ext cx="609600" cy="762000"/>
          </a:xfrm>
          <a:custGeom>
            <a:avLst/>
            <a:gdLst>
              <a:gd name="T0" fmla="*/ 0 w 384"/>
              <a:gd name="T1" fmla="*/ 0 h 480"/>
              <a:gd name="T2" fmla="*/ 144 w 384"/>
              <a:gd name="T3" fmla="*/ 0 h 480"/>
              <a:gd name="T4" fmla="*/ 144 w 384"/>
              <a:gd name="T5" fmla="*/ 480 h 480"/>
              <a:gd name="T6" fmla="*/ 384 w 384"/>
              <a:gd name="T7" fmla="*/ 480 h 480"/>
            </a:gdLst>
            <a:ahLst/>
            <a:cxnLst>
              <a:cxn ang="0">
                <a:pos x="T0" y="T1"/>
              </a:cxn>
              <a:cxn ang="0">
                <a:pos x="T2" y="T3"/>
              </a:cxn>
              <a:cxn ang="0">
                <a:pos x="T4" y="T5"/>
              </a:cxn>
              <a:cxn ang="0">
                <a:pos x="T6" y="T7"/>
              </a:cxn>
            </a:cxnLst>
            <a:rect l="0" t="0" r="r" b="b"/>
            <a:pathLst>
              <a:path w="384" h="480">
                <a:moveTo>
                  <a:pt x="0" y="0"/>
                </a:moveTo>
                <a:lnTo>
                  <a:pt x="144" y="0"/>
                </a:lnTo>
                <a:lnTo>
                  <a:pt x="144" y="480"/>
                </a:lnTo>
                <a:lnTo>
                  <a:pt x="384" y="48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3" name="Text Box 23"/>
          <p:cNvSpPr txBox="1">
            <a:spLocks noChangeArrowheads="1"/>
          </p:cNvSpPr>
          <p:nvPr/>
        </p:nvSpPr>
        <p:spPr bwMode="auto">
          <a:xfrm>
            <a:off x="1766889" y="4603750"/>
            <a:ext cx="120808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Immediate</a:t>
            </a:r>
          </a:p>
        </p:txBody>
      </p:sp>
      <p:sp>
        <p:nvSpPr>
          <p:cNvPr id="138264" name="Line 24"/>
          <p:cNvSpPr>
            <a:spLocks noChangeShapeType="1"/>
          </p:cNvSpPr>
          <p:nvPr/>
        </p:nvSpPr>
        <p:spPr bwMode="auto">
          <a:xfrm>
            <a:off x="2901950" y="4794250"/>
            <a:ext cx="381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5" name="Freeform 25"/>
          <p:cNvSpPr>
            <a:spLocks/>
          </p:cNvSpPr>
          <p:nvPr/>
        </p:nvSpPr>
        <p:spPr bwMode="auto">
          <a:xfrm>
            <a:off x="3663950" y="4178300"/>
            <a:ext cx="609600" cy="615950"/>
          </a:xfrm>
          <a:custGeom>
            <a:avLst/>
            <a:gdLst>
              <a:gd name="T0" fmla="*/ 0 w 384"/>
              <a:gd name="T1" fmla="*/ 388 h 388"/>
              <a:gd name="T2" fmla="*/ 76 w 384"/>
              <a:gd name="T3" fmla="*/ 384 h 388"/>
              <a:gd name="T4" fmla="*/ 76 w 384"/>
              <a:gd name="T5" fmla="*/ 0 h 388"/>
              <a:gd name="T6" fmla="*/ 384 w 384"/>
              <a:gd name="T7" fmla="*/ 4 h 388"/>
            </a:gdLst>
            <a:ahLst/>
            <a:cxnLst>
              <a:cxn ang="0">
                <a:pos x="T0" y="T1"/>
              </a:cxn>
              <a:cxn ang="0">
                <a:pos x="T2" y="T3"/>
              </a:cxn>
              <a:cxn ang="0">
                <a:pos x="T4" y="T5"/>
              </a:cxn>
              <a:cxn ang="0">
                <a:pos x="T6" y="T7"/>
              </a:cxn>
            </a:cxnLst>
            <a:rect l="0" t="0" r="r" b="b"/>
            <a:pathLst>
              <a:path w="384" h="388">
                <a:moveTo>
                  <a:pt x="0" y="388"/>
                </a:moveTo>
                <a:lnTo>
                  <a:pt x="76" y="384"/>
                </a:lnTo>
                <a:lnTo>
                  <a:pt x="76" y="0"/>
                </a:lnTo>
                <a:lnTo>
                  <a:pt x="384" y="4"/>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6" name="Freeform 26"/>
          <p:cNvSpPr>
            <a:spLocks/>
          </p:cNvSpPr>
          <p:nvPr/>
        </p:nvSpPr>
        <p:spPr bwMode="auto">
          <a:xfrm>
            <a:off x="3892550" y="4032250"/>
            <a:ext cx="2133600" cy="762000"/>
          </a:xfrm>
          <a:custGeom>
            <a:avLst/>
            <a:gdLst>
              <a:gd name="T0" fmla="*/ 0 w 1344"/>
              <a:gd name="T1" fmla="*/ 0 h 624"/>
              <a:gd name="T2" fmla="*/ 0 w 1344"/>
              <a:gd name="T3" fmla="*/ 624 h 624"/>
              <a:gd name="T4" fmla="*/ 1344 w 1344"/>
              <a:gd name="T5" fmla="*/ 624 h 624"/>
            </a:gdLst>
            <a:ahLst/>
            <a:cxnLst>
              <a:cxn ang="0">
                <a:pos x="T0" y="T1"/>
              </a:cxn>
              <a:cxn ang="0">
                <a:pos x="T2" y="T3"/>
              </a:cxn>
              <a:cxn ang="0">
                <a:pos x="T4" y="T5"/>
              </a:cxn>
            </a:cxnLst>
            <a:rect l="0" t="0" r="r" b="b"/>
            <a:pathLst>
              <a:path w="1344" h="624">
                <a:moveTo>
                  <a:pt x="0" y="0"/>
                </a:moveTo>
                <a:lnTo>
                  <a:pt x="0" y="624"/>
                </a:lnTo>
                <a:lnTo>
                  <a:pt x="1344" y="624"/>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7" name="Line 27"/>
          <p:cNvSpPr>
            <a:spLocks noChangeShapeType="1"/>
          </p:cNvSpPr>
          <p:nvPr/>
        </p:nvSpPr>
        <p:spPr bwMode="auto">
          <a:xfrm>
            <a:off x="6407150" y="4794250"/>
            <a:ext cx="69373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8" name="Line 28"/>
          <p:cNvSpPr>
            <a:spLocks noChangeShapeType="1"/>
          </p:cNvSpPr>
          <p:nvPr/>
        </p:nvSpPr>
        <p:spPr bwMode="auto">
          <a:xfrm>
            <a:off x="5568950" y="3727450"/>
            <a:ext cx="457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69" name="Line 29"/>
          <p:cNvSpPr>
            <a:spLocks noChangeShapeType="1"/>
          </p:cNvSpPr>
          <p:nvPr/>
        </p:nvSpPr>
        <p:spPr bwMode="auto">
          <a:xfrm>
            <a:off x="6407150" y="3727450"/>
            <a:ext cx="693738"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70" name="Line 30"/>
          <p:cNvSpPr>
            <a:spLocks noChangeShapeType="1"/>
          </p:cNvSpPr>
          <p:nvPr/>
        </p:nvSpPr>
        <p:spPr bwMode="auto">
          <a:xfrm flipV="1">
            <a:off x="8015288" y="4260850"/>
            <a:ext cx="5334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71" name="Freeform 31"/>
          <p:cNvSpPr>
            <a:spLocks/>
          </p:cNvSpPr>
          <p:nvPr/>
        </p:nvSpPr>
        <p:spPr bwMode="auto">
          <a:xfrm>
            <a:off x="6719888" y="3727450"/>
            <a:ext cx="1828800" cy="1600200"/>
          </a:xfrm>
          <a:custGeom>
            <a:avLst/>
            <a:gdLst>
              <a:gd name="T0" fmla="*/ 0 w 1152"/>
              <a:gd name="T1" fmla="*/ 0 h 1008"/>
              <a:gd name="T2" fmla="*/ 0 w 1152"/>
              <a:gd name="T3" fmla="*/ 1008 h 1008"/>
              <a:gd name="T4" fmla="*/ 1152 w 1152"/>
              <a:gd name="T5" fmla="*/ 1008 h 1008"/>
            </a:gdLst>
            <a:ahLst/>
            <a:cxnLst>
              <a:cxn ang="0">
                <a:pos x="T0" y="T1"/>
              </a:cxn>
              <a:cxn ang="0">
                <a:pos x="T2" y="T3"/>
              </a:cxn>
              <a:cxn ang="0">
                <a:pos x="T4" y="T5"/>
              </a:cxn>
            </a:cxnLst>
            <a:rect l="0" t="0" r="r" b="b"/>
            <a:pathLst>
              <a:path w="1152" h="1008">
                <a:moveTo>
                  <a:pt x="0" y="0"/>
                </a:moveTo>
                <a:lnTo>
                  <a:pt x="0" y="1008"/>
                </a:lnTo>
                <a:lnTo>
                  <a:pt x="1152" y="1008"/>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72" name="Oval 32"/>
          <p:cNvSpPr>
            <a:spLocks noChangeArrowheads="1"/>
          </p:cNvSpPr>
          <p:nvPr/>
        </p:nvSpPr>
        <p:spPr bwMode="auto">
          <a:xfrm>
            <a:off x="6683375" y="3695700"/>
            <a:ext cx="76200" cy="76200"/>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73" name="Oval 33"/>
          <p:cNvSpPr>
            <a:spLocks noChangeArrowheads="1"/>
          </p:cNvSpPr>
          <p:nvPr/>
        </p:nvSpPr>
        <p:spPr bwMode="auto">
          <a:xfrm>
            <a:off x="3851275" y="3994150"/>
            <a:ext cx="76200" cy="76200"/>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74" name="Line 34"/>
          <p:cNvSpPr>
            <a:spLocks noChangeShapeType="1"/>
          </p:cNvSpPr>
          <p:nvPr/>
        </p:nvSpPr>
        <p:spPr bwMode="auto">
          <a:xfrm flipV="1">
            <a:off x="8956675" y="5308600"/>
            <a:ext cx="103505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75" name="Line 35"/>
          <p:cNvSpPr>
            <a:spLocks noChangeShapeType="1"/>
          </p:cNvSpPr>
          <p:nvPr/>
        </p:nvSpPr>
        <p:spPr bwMode="auto">
          <a:xfrm flipV="1">
            <a:off x="8937625" y="4254500"/>
            <a:ext cx="1041400" cy="635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8276" name="Group 36"/>
          <p:cNvGrpSpPr>
            <a:grpSpLocks/>
          </p:cNvGrpSpPr>
          <p:nvPr/>
        </p:nvGrpSpPr>
        <p:grpSpPr bwMode="auto">
          <a:xfrm>
            <a:off x="3971925" y="1822450"/>
            <a:ext cx="5613400" cy="4267200"/>
            <a:chOff x="1816" y="1104"/>
            <a:chExt cx="3536" cy="2688"/>
          </a:xfrm>
        </p:grpSpPr>
        <p:sp>
          <p:nvSpPr>
            <p:cNvPr id="138277" name="Freeform 37"/>
            <p:cNvSpPr>
              <a:spLocks/>
            </p:cNvSpPr>
            <p:nvPr/>
          </p:nvSpPr>
          <p:spPr bwMode="auto">
            <a:xfrm>
              <a:off x="1893" y="2832"/>
              <a:ext cx="1659" cy="672"/>
            </a:xfrm>
            <a:custGeom>
              <a:avLst/>
              <a:gdLst>
                <a:gd name="T0" fmla="*/ 1659 w 1659"/>
                <a:gd name="T1" fmla="*/ 480 h 672"/>
                <a:gd name="T2" fmla="*/ 1659 w 1659"/>
                <a:gd name="T3" fmla="*/ 672 h 672"/>
                <a:gd name="T4" fmla="*/ 0 w 1659"/>
                <a:gd name="T5" fmla="*/ 666 h 672"/>
                <a:gd name="T6" fmla="*/ 0 w 1659"/>
                <a:gd name="T7" fmla="*/ 0 h 672"/>
                <a:gd name="T8" fmla="*/ 114 w 1659"/>
                <a:gd name="T9" fmla="*/ 0 h 672"/>
              </a:gdLst>
              <a:ahLst/>
              <a:cxnLst>
                <a:cxn ang="0">
                  <a:pos x="T0" y="T1"/>
                </a:cxn>
                <a:cxn ang="0">
                  <a:pos x="T2" y="T3"/>
                </a:cxn>
                <a:cxn ang="0">
                  <a:pos x="T4" y="T5"/>
                </a:cxn>
                <a:cxn ang="0">
                  <a:pos x="T6" y="T7"/>
                </a:cxn>
                <a:cxn ang="0">
                  <a:pos x="T8" y="T9"/>
                </a:cxn>
              </a:cxnLst>
              <a:rect l="0" t="0" r="r" b="b"/>
              <a:pathLst>
                <a:path w="1659" h="672">
                  <a:moveTo>
                    <a:pt x="1659" y="480"/>
                  </a:moveTo>
                  <a:lnTo>
                    <a:pt x="1659" y="672"/>
                  </a:lnTo>
                  <a:lnTo>
                    <a:pt x="0" y="666"/>
                  </a:lnTo>
                  <a:lnTo>
                    <a:pt x="0" y="0"/>
                  </a:lnTo>
                  <a:lnTo>
                    <a:pt x="114" y="0"/>
                  </a:ln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78" name="Oval 38"/>
            <p:cNvSpPr>
              <a:spLocks noChangeArrowheads="1"/>
            </p:cNvSpPr>
            <p:nvPr/>
          </p:nvSpPr>
          <p:spPr bwMode="auto">
            <a:xfrm>
              <a:off x="3532" y="3284"/>
              <a:ext cx="48" cy="48"/>
            </a:xfrm>
            <a:prstGeom prst="ellipse">
              <a:avLst/>
            </a:prstGeom>
            <a:solidFill>
              <a:schemeClr val="tx1"/>
            </a:solidFill>
            <a:ln w="2857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79" name="Freeform 39"/>
            <p:cNvSpPr>
              <a:spLocks/>
            </p:cNvSpPr>
            <p:nvPr/>
          </p:nvSpPr>
          <p:spPr bwMode="auto">
            <a:xfrm>
              <a:off x="1824" y="1104"/>
              <a:ext cx="3504" cy="1536"/>
            </a:xfrm>
            <a:custGeom>
              <a:avLst/>
              <a:gdLst>
                <a:gd name="T0" fmla="*/ 3504 w 3504"/>
                <a:gd name="T1" fmla="*/ 1536 h 1536"/>
                <a:gd name="T2" fmla="*/ 3504 w 3504"/>
                <a:gd name="T3" fmla="*/ 0 h 1536"/>
                <a:gd name="T4" fmla="*/ 0 w 3504"/>
                <a:gd name="T5" fmla="*/ 0 h 1536"/>
                <a:gd name="T6" fmla="*/ 3 w 3504"/>
                <a:gd name="T7" fmla="*/ 798 h 1536"/>
                <a:gd name="T8" fmla="*/ 186 w 3504"/>
                <a:gd name="T9" fmla="*/ 795 h 1536"/>
              </a:gdLst>
              <a:ahLst/>
              <a:cxnLst>
                <a:cxn ang="0">
                  <a:pos x="T0" y="T1"/>
                </a:cxn>
                <a:cxn ang="0">
                  <a:pos x="T2" y="T3"/>
                </a:cxn>
                <a:cxn ang="0">
                  <a:pos x="T4" y="T5"/>
                </a:cxn>
                <a:cxn ang="0">
                  <a:pos x="T6" y="T7"/>
                </a:cxn>
                <a:cxn ang="0">
                  <a:pos x="T8" y="T9"/>
                </a:cxn>
              </a:cxnLst>
              <a:rect l="0" t="0" r="r" b="b"/>
              <a:pathLst>
                <a:path w="3504" h="1536">
                  <a:moveTo>
                    <a:pt x="3504" y="1536"/>
                  </a:moveTo>
                  <a:lnTo>
                    <a:pt x="3504" y="0"/>
                  </a:lnTo>
                  <a:lnTo>
                    <a:pt x="0" y="0"/>
                  </a:lnTo>
                  <a:lnTo>
                    <a:pt x="3" y="798"/>
                  </a:lnTo>
                  <a:lnTo>
                    <a:pt x="186" y="795"/>
                  </a:ln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80" name="Freeform 40"/>
            <p:cNvSpPr>
              <a:spLocks/>
            </p:cNvSpPr>
            <p:nvPr/>
          </p:nvSpPr>
          <p:spPr bwMode="auto">
            <a:xfrm>
              <a:off x="1856" y="2764"/>
              <a:ext cx="3380" cy="956"/>
            </a:xfrm>
            <a:custGeom>
              <a:avLst/>
              <a:gdLst>
                <a:gd name="T0" fmla="*/ 3088 w 3380"/>
                <a:gd name="T1" fmla="*/ 540 h 956"/>
                <a:gd name="T2" fmla="*/ 3380 w 3380"/>
                <a:gd name="T3" fmla="*/ 540 h 956"/>
                <a:gd name="T4" fmla="*/ 3380 w 3380"/>
                <a:gd name="T5" fmla="*/ 956 h 956"/>
                <a:gd name="T6" fmla="*/ 0 w 3380"/>
                <a:gd name="T7" fmla="*/ 956 h 956"/>
                <a:gd name="T8" fmla="*/ 0 w 3380"/>
                <a:gd name="T9" fmla="*/ 0 h 956"/>
                <a:gd name="T10" fmla="*/ 152 w 3380"/>
                <a:gd name="T11" fmla="*/ 0 h 956"/>
              </a:gdLst>
              <a:ahLst/>
              <a:cxnLst>
                <a:cxn ang="0">
                  <a:pos x="T0" y="T1"/>
                </a:cxn>
                <a:cxn ang="0">
                  <a:pos x="T2" y="T3"/>
                </a:cxn>
                <a:cxn ang="0">
                  <a:pos x="T4" y="T5"/>
                </a:cxn>
                <a:cxn ang="0">
                  <a:pos x="T6" y="T7"/>
                </a:cxn>
                <a:cxn ang="0">
                  <a:pos x="T8" y="T9"/>
                </a:cxn>
                <a:cxn ang="0">
                  <a:pos x="T10" y="T11"/>
                </a:cxn>
              </a:cxnLst>
              <a:rect l="0" t="0" r="r" b="b"/>
              <a:pathLst>
                <a:path w="3380" h="956">
                  <a:moveTo>
                    <a:pt x="3088" y="540"/>
                  </a:moveTo>
                  <a:lnTo>
                    <a:pt x="3380" y="540"/>
                  </a:lnTo>
                  <a:lnTo>
                    <a:pt x="3380" y="956"/>
                  </a:lnTo>
                  <a:lnTo>
                    <a:pt x="0" y="956"/>
                  </a:lnTo>
                  <a:lnTo>
                    <a:pt x="0" y="0"/>
                  </a:lnTo>
                  <a:lnTo>
                    <a:pt x="152" y="0"/>
                  </a:ln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81" name="Freeform 41"/>
            <p:cNvSpPr>
              <a:spLocks/>
            </p:cNvSpPr>
            <p:nvPr/>
          </p:nvSpPr>
          <p:spPr bwMode="auto">
            <a:xfrm>
              <a:off x="1816" y="2640"/>
              <a:ext cx="3512" cy="1152"/>
            </a:xfrm>
            <a:custGeom>
              <a:avLst/>
              <a:gdLst>
                <a:gd name="T0" fmla="*/ 3128 w 3512"/>
                <a:gd name="T1" fmla="*/ 0 h 1152"/>
                <a:gd name="T2" fmla="*/ 3512 w 3512"/>
                <a:gd name="T3" fmla="*/ 0 h 1152"/>
                <a:gd name="T4" fmla="*/ 3512 w 3512"/>
                <a:gd name="T5" fmla="*/ 1152 h 1152"/>
                <a:gd name="T6" fmla="*/ 0 w 3512"/>
                <a:gd name="T7" fmla="*/ 1152 h 1152"/>
                <a:gd name="T8" fmla="*/ 2 w 3512"/>
                <a:gd name="T9" fmla="*/ 33 h 1152"/>
                <a:gd name="T10" fmla="*/ 191 w 3512"/>
                <a:gd name="T11" fmla="*/ 36 h 1152"/>
              </a:gdLst>
              <a:ahLst/>
              <a:cxnLst>
                <a:cxn ang="0">
                  <a:pos x="T0" y="T1"/>
                </a:cxn>
                <a:cxn ang="0">
                  <a:pos x="T2" y="T3"/>
                </a:cxn>
                <a:cxn ang="0">
                  <a:pos x="T4" y="T5"/>
                </a:cxn>
                <a:cxn ang="0">
                  <a:pos x="T6" y="T7"/>
                </a:cxn>
                <a:cxn ang="0">
                  <a:pos x="T8" y="T9"/>
                </a:cxn>
                <a:cxn ang="0">
                  <a:pos x="T10" y="T11"/>
                </a:cxn>
              </a:cxnLst>
              <a:rect l="0" t="0" r="r" b="b"/>
              <a:pathLst>
                <a:path w="3512" h="1152">
                  <a:moveTo>
                    <a:pt x="3128" y="0"/>
                  </a:moveTo>
                  <a:lnTo>
                    <a:pt x="3512" y="0"/>
                  </a:lnTo>
                  <a:lnTo>
                    <a:pt x="3512" y="1152"/>
                  </a:lnTo>
                  <a:lnTo>
                    <a:pt x="0" y="1152"/>
                  </a:lnTo>
                  <a:lnTo>
                    <a:pt x="2" y="33"/>
                  </a:lnTo>
                  <a:lnTo>
                    <a:pt x="191" y="36"/>
                  </a:ln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82" name="Freeform 42"/>
            <p:cNvSpPr>
              <a:spLocks/>
            </p:cNvSpPr>
            <p:nvPr/>
          </p:nvSpPr>
          <p:spPr bwMode="auto">
            <a:xfrm>
              <a:off x="1899" y="1296"/>
              <a:ext cx="1653" cy="1008"/>
            </a:xfrm>
            <a:custGeom>
              <a:avLst/>
              <a:gdLst>
                <a:gd name="T0" fmla="*/ 1653 w 1653"/>
                <a:gd name="T1" fmla="*/ 1008 h 1008"/>
                <a:gd name="T2" fmla="*/ 1653 w 1653"/>
                <a:gd name="T3" fmla="*/ 0 h 1008"/>
                <a:gd name="T4" fmla="*/ 0 w 1653"/>
                <a:gd name="T5" fmla="*/ 0 h 1008"/>
                <a:gd name="T6" fmla="*/ 0 w 1653"/>
                <a:gd name="T7" fmla="*/ 432 h 1008"/>
                <a:gd name="T8" fmla="*/ 117 w 1653"/>
                <a:gd name="T9" fmla="*/ 432 h 1008"/>
              </a:gdLst>
              <a:ahLst/>
              <a:cxnLst>
                <a:cxn ang="0">
                  <a:pos x="T0" y="T1"/>
                </a:cxn>
                <a:cxn ang="0">
                  <a:pos x="T2" y="T3"/>
                </a:cxn>
                <a:cxn ang="0">
                  <a:pos x="T4" y="T5"/>
                </a:cxn>
                <a:cxn ang="0">
                  <a:pos x="T6" y="T7"/>
                </a:cxn>
                <a:cxn ang="0">
                  <a:pos x="T8" y="T9"/>
                </a:cxn>
              </a:cxnLst>
              <a:rect l="0" t="0" r="r" b="b"/>
              <a:pathLst>
                <a:path w="1653" h="1008">
                  <a:moveTo>
                    <a:pt x="1653" y="1008"/>
                  </a:moveTo>
                  <a:lnTo>
                    <a:pt x="1653" y="0"/>
                  </a:lnTo>
                  <a:lnTo>
                    <a:pt x="0" y="0"/>
                  </a:lnTo>
                  <a:lnTo>
                    <a:pt x="0" y="432"/>
                  </a:lnTo>
                  <a:lnTo>
                    <a:pt x="117" y="432"/>
                  </a:ln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83" name="Freeform 43"/>
            <p:cNvSpPr>
              <a:spLocks/>
            </p:cNvSpPr>
            <p:nvPr/>
          </p:nvSpPr>
          <p:spPr bwMode="auto">
            <a:xfrm>
              <a:off x="1872" y="1200"/>
              <a:ext cx="3360" cy="2112"/>
            </a:xfrm>
            <a:custGeom>
              <a:avLst/>
              <a:gdLst>
                <a:gd name="T0" fmla="*/ 3360 w 3360"/>
                <a:gd name="T1" fmla="*/ 2112 h 2112"/>
                <a:gd name="T2" fmla="*/ 3360 w 3360"/>
                <a:gd name="T3" fmla="*/ 0 h 2112"/>
                <a:gd name="T4" fmla="*/ 0 w 3360"/>
                <a:gd name="T5" fmla="*/ 0 h 2112"/>
                <a:gd name="T6" fmla="*/ 0 w 3360"/>
                <a:gd name="T7" fmla="*/ 624 h 2112"/>
                <a:gd name="T8" fmla="*/ 144 w 3360"/>
                <a:gd name="T9" fmla="*/ 624 h 2112"/>
              </a:gdLst>
              <a:ahLst/>
              <a:cxnLst>
                <a:cxn ang="0">
                  <a:pos x="T0" y="T1"/>
                </a:cxn>
                <a:cxn ang="0">
                  <a:pos x="T2" y="T3"/>
                </a:cxn>
                <a:cxn ang="0">
                  <a:pos x="T4" y="T5"/>
                </a:cxn>
                <a:cxn ang="0">
                  <a:pos x="T6" y="T7"/>
                </a:cxn>
                <a:cxn ang="0">
                  <a:pos x="T8" y="T9"/>
                </a:cxn>
              </a:cxnLst>
              <a:rect l="0" t="0" r="r" b="b"/>
              <a:pathLst>
                <a:path w="3360" h="2112">
                  <a:moveTo>
                    <a:pt x="3360" y="2112"/>
                  </a:moveTo>
                  <a:lnTo>
                    <a:pt x="3360" y="0"/>
                  </a:lnTo>
                  <a:lnTo>
                    <a:pt x="0" y="0"/>
                  </a:lnTo>
                  <a:lnTo>
                    <a:pt x="0" y="624"/>
                  </a:lnTo>
                  <a:lnTo>
                    <a:pt x="144" y="624"/>
                  </a:ln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84" name="Oval 44"/>
            <p:cNvSpPr>
              <a:spLocks noChangeArrowheads="1"/>
            </p:cNvSpPr>
            <p:nvPr/>
          </p:nvSpPr>
          <p:spPr bwMode="auto">
            <a:xfrm>
              <a:off x="5204" y="3276"/>
              <a:ext cx="48" cy="48"/>
            </a:xfrm>
            <a:prstGeom prst="ellipse">
              <a:avLst/>
            </a:prstGeom>
            <a:solidFill>
              <a:schemeClr val="tx1"/>
            </a:solidFill>
            <a:ln w="2857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8285" name="Oval 45"/>
            <p:cNvSpPr>
              <a:spLocks noChangeArrowheads="1"/>
            </p:cNvSpPr>
            <p:nvPr/>
          </p:nvSpPr>
          <p:spPr bwMode="auto">
            <a:xfrm>
              <a:off x="5304" y="2616"/>
              <a:ext cx="48" cy="48"/>
            </a:xfrm>
            <a:prstGeom prst="ellipse">
              <a:avLst/>
            </a:prstGeom>
            <a:solidFill>
              <a:schemeClr val="tx1"/>
            </a:solidFill>
            <a:ln w="28575">
              <a:solidFill>
                <a:schemeClr va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38286" name="AutoShape 46"/>
          <p:cNvSpPr>
            <a:spLocks noChangeArrowheads="1"/>
          </p:cNvSpPr>
          <p:nvPr/>
        </p:nvSpPr>
        <p:spPr bwMode="auto">
          <a:xfrm>
            <a:off x="9920288" y="3956050"/>
            <a:ext cx="381000" cy="1600200"/>
          </a:xfrm>
          <a:prstGeom prst="roundRect">
            <a:avLst>
              <a:gd name="adj" fmla="val 16667"/>
            </a:avLst>
          </a:prstGeom>
          <a:noFill/>
          <a:ln w="2857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mux</a:t>
            </a:r>
          </a:p>
        </p:txBody>
      </p:sp>
      <p:sp>
        <p:nvSpPr>
          <p:cNvPr id="138287" name="Freeform 47"/>
          <p:cNvSpPr>
            <a:spLocks/>
          </p:cNvSpPr>
          <p:nvPr/>
        </p:nvSpPr>
        <p:spPr bwMode="auto">
          <a:xfrm>
            <a:off x="1676400" y="3651250"/>
            <a:ext cx="8763000" cy="2590800"/>
          </a:xfrm>
          <a:custGeom>
            <a:avLst/>
            <a:gdLst>
              <a:gd name="T0" fmla="*/ 5424 w 5520"/>
              <a:gd name="T1" fmla="*/ 720 h 1632"/>
              <a:gd name="T2" fmla="*/ 5520 w 5520"/>
              <a:gd name="T3" fmla="*/ 720 h 1632"/>
              <a:gd name="T4" fmla="*/ 5520 w 5520"/>
              <a:gd name="T5" fmla="*/ 1632 h 1632"/>
              <a:gd name="T6" fmla="*/ 0 w 5520"/>
              <a:gd name="T7" fmla="*/ 1632 h 1632"/>
              <a:gd name="T8" fmla="*/ 0 w 5520"/>
              <a:gd name="T9" fmla="*/ 0 h 1632"/>
              <a:gd name="T10" fmla="*/ 288 w 5520"/>
              <a:gd name="T11" fmla="*/ 0 h 1632"/>
            </a:gdLst>
            <a:ahLst/>
            <a:cxnLst>
              <a:cxn ang="0">
                <a:pos x="T0" y="T1"/>
              </a:cxn>
              <a:cxn ang="0">
                <a:pos x="T2" y="T3"/>
              </a:cxn>
              <a:cxn ang="0">
                <a:pos x="T4" y="T5"/>
              </a:cxn>
              <a:cxn ang="0">
                <a:pos x="T6" y="T7"/>
              </a:cxn>
              <a:cxn ang="0">
                <a:pos x="T8" y="T9"/>
              </a:cxn>
              <a:cxn ang="0">
                <a:pos x="T10" y="T11"/>
              </a:cxn>
            </a:cxnLst>
            <a:rect l="0" t="0" r="r" b="b"/>
            <a:pathLst>
              <a:path w="5520" h="1632">
                <a:moveTo>
                  <a:pt x="5424" y="720"/>
                </a:moveTo>
                <a:lnTo>
                  <a:pt x="5520" y="720"/>
                </a:lnTo>
                <a:lnTo>
                  <a:pt x="5520" y="1632"/>
                </a:lnTo>
                <a:lnTo>
                  <a:pt x="0" y="1632"/>
                </a:lnTo>
                <a:lnTo>
                  <a:pt x="0" y="0"/>
                </a:lnTo>
                <a:lnTo>
                  <a:pt x="288"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6310753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nodeType="clickEffect">
                                  <p:stCondLst>
                                    <p:cond delay="0"/>
                                  </p:stCondLst>
                                  <p:childTnLst>
                                    <p:set>
                                      <p:cBhvr>
                                        <p:cTn id="6" dur="1" fill="hold">
                                          <p:stCondLst>
                                            <p:cond delay="0"/>
                                          </p:stCondLst>
                                        </p:cTn>
                                        <p:tgtEl>
                                          <p:spTgt spid="138276"/>
                                        </p:tgtEl>
                                        <p:attrNameLst>
                                          <p:attrName>style.visibility</p:attrName>
                                        </p:attrNameLst>
                                      </p:cBhvr>
                                      <p:to>
                                        <p:strVal val="visible"/>
                                      </p:to>
                                    </p:set>
                                    <p:anim calcmode="lin" valueType="num">
                                      <p:cBhvr>
                                        <p:cTn id="7" dur="500" fill="hold"/>
                                        <p:tgtEl>
                                          <p:spTgt spid="138276"/>
                                        </p:tgtEl>
                                        <p:attrNameLst>
                                          <p:attrName>ppt_w</p:attrName>
                                        </p:attrNameLst>
                                      </p:cBhvr>
                                      <p:tavLst>
                                        <p:tav tm="0">
                                          <p:val>
                                            <p:fltVal val="0"/>
                                          </p:val>
                                        </p:tav>
                                        <p:tav tm="100000">
                                          <p:val>
                                            <p:strVal val="#ppt_w"/>
                                          </p:val>
                                        </p:tav>
                                      </p:tavLst>
                                    </p:anim>
                                    <p:anim calcmode="lin" valueType="num">
                                      <p:cBhvr>
                                        <p:cTn id="8" dur="500" fill="hold"/>
                                        <p:tgtEl>
                                          <p:spTgt spid="138276"/>
                                        </p:tgtEl>
                                        <p:attrNameLst>
                                          <p:attrName>ppt_h</p:attrName>
                                        </p:attrNameLst>
                                      </p:cBhvr>
                                      <p:tavLst>
                                        <p:tav tm="0">
                                          <p:val>
                                            <p:fltVal val="0"/>
                                          </p:val>
                                        </p:tav>
                                        <p:tav tm="100000">
                                          <p:val>
                                            <p:strVal val="#ppt_h"/>
                                          </p:val>
                                        </p:tav>
                                      </p:tavLst>
                                    </p:anim>
                                    <p:anim calcmode="lin" valueType="num">
                                      <p:cBhvr>
                                        <p:cTn id="9" dur="500" fill="hold"/>
                                        <p:tgtEl>
                                          <p:spTgt spid="138276"/>
                                        </p:tgtEl>
                                        <p:attrNameLst>
                                          <p:attrName>ppt_x</p:attrName>
                                        </p:attrNameLst>
                                      </p:cBhvr>
                                      <p:tavLst>
                                        <p:tav tm="0">
                                          <p:val>
                                            <p:fltVal val="0.5"/>
                                          </p:val>
                                        </p:tav>
                                        <p:tav tm="100000">
                                          <p:val>
                                            <p:strVal val="#ppt_x"/>
                                          </p:val>
                                        </p:tav>
                                      </p:tavLst>
                                    </p:anim>
                                    <p:anim calcmode="lin" valueType="num">
                                      <p:cBhvr>
                                        <p:cTn id="10" dur="500" fill="hold"/>
                                        <p:tgtEl>
                                          <p:spTgt spid="138276"/>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Forwarding of operand required by stores during MEM</a:t>
            </a:r>
            <a:endParaRPr lang="zh-CN" altLang="en-US" dirty="0"/>
          </a:p>
        </p:txBody>
      </p:sp>
      <p:sp>
        <p:nvSpPr>
          <p:cNvPr id="3" name="内容占位符 2"/>
          <p:cNvSpPr>
            <a:spLocks noGrp="1"/>
          </p:cNvSpPr>
          <p:nvPr>
            <p:ph idx="1"/>
          </p:nvPr>
        </p:nvSpPr>
        <p:spPr>
          <a:xfrm>
            <a:off x="335360" y="1556792"/>
            <a:ext cx="11305256" cy="5112568"/>
          </a:xfrm>
        </p:spPr>
        <p:txBody>
          <a:bodyPr/>
          <a:lstStyle/>
          <a:p>
            <a:r>
              <a:rPr lang="en-US" altLang="zh-CN" dirty="0" smtClean="0"/>
              <a:t>The </a:t>
            </a:r>
            <a:r>
              <a:rPr lang="en-US" altLang="zh-CN" dirty="0"/>
              <a:t>result of the load is forwarded from the memory output to the memory input to be </a:t>
            </a:r>
            <a:r>
              <a:rPr lang="en-US" altLang="zh-CN" dirty="0" smtClean="0"/>
              <a:t>stored</a:t>
            </a:r>
          </a:p>
          <a:p>
            <a:pPr lvl="1"/>
            <a:r>
              <a:rPr lang="en-US" altLang="zh-CN" dirty="0" smtClean="0"/>
              <a:t>In </a:t>
            </a:r>
            <a:r>
              <a:rPr lang="en-US" altLang="zh-CN" dirty="0"/>
              <a:t>addition, the ALU output is forwarded to the ALU input for the address calculation of both the load and the </a:t>
            </a:r>
            <a:r>
              <a:rPr lang="en-US" altLang="zh-CN" dirty="0" smtClean="0"/>
              <a:t>store. </a:t>
            </a:r>
          </a:p>
          <a:p>
            <a:pPr lvl="1"/>
            <a:r>
              <a:rPr lang="en-US" altLang="zh-CN" dirty="0" smtClean="0"/>
              <a:t>If </a:t>
            </a:r>
            <a:r>
              <a:rPr lang="en-US" altLang="zh-CN" dirty="0"/>
              <a:t>the store depended on an </a:t>
            </a:r>
            <a:r>
              <a:rPr lang="en-US" altLang="zh-CN" dirty="0" smtClean="0"/>
              <a:t/>
            </a:r>
            <a:br>
              <a:rPr lang="en-US" altLang="zh-CN" dirty="0" smtClean="0"/>
            </a:br>
            <a:r>
              <a:rPr lang="en-US" altLang="zh-CN" dirty="0" smtClean="0"/>
              <a:t>immediately </a:t>
            </a:r>
            <a:r>
              <a:rPr lang="en-US" altLang="zh-CN" dirty="0"/>
              <a:t>preceding ALU </a:t>
            </a:r>
            <a:r>
              <a:rPr lang="en-US" altLang="zh-CN" dirty="0" smtClean="0"/>
              <a:t/>
            </a:r>
            <a:br>
              <a:rPr lang="en-US" altLang="zh-CN" dirty="0" smtClean="0"/>
            </a:br>
            <a:r>
              <a:rPr lang="en-US" altLang="zh-CN" dirty="0" smtClean="0"/>
              <a:t>operation </a:t>
            </a:r>
            <a:r>
              <a:rPr lang="en-US" altLang="zh-CN" dirty="0"/>
              <a:t>(not shown herein), </a:t>
            </a:r>
            <a:r>
              <a:rPr lang="en-US" altLang="zh-CN" dirty="0" smtClean="0"/>
              <a:t/>
            </a:r>
            <a:br>
              <a:rPr lang="en-US" altLang="zh-CN" dirty="0" smtClean="0"/>
            </a:br>
            <a:r>
              <a:rPr lang="en-US" altLang="zh-CN" dirty="0" smtClean="0"/>
              <a:t>the </a:t>
            </a:r>
            <a:r>
              <a:rPr lang="en-US" altLang="zh-CN" dirty="0"/>
              <a:t>result would need to be </a:t>
            </a:r>
            <a:r>
              <a:rPr lang="en-US" altLang="zh-CN" dirty="0" smtClean="0"/>
              <a:t/>
            </a:r>
            <a:br>
              <a:rPr lang="en-US" altLang="zh-CN" dirty="0" smtClean="0"/>
            </a:br>
            <a:r>
              <a:rPr lang="en-US" altLang="zh-CN" dirty="0" smtClean="0"/>
              <a:t>forwarded </a:t>
            </a:r>
            <a:r>
              <a:rPr lang="en-US" altLang="zh-CN" dirty="0"/>
              <a:t>to prevent a stall.</a:t>
            </a:r>
          </a:p>
          <a:p>
            <a:endParaRPr lang="zh-CN" altLang="en-US" dirty="0"/>
          </a:p>
        </p:txBody>
      </p:sp>
      <p:pic>
        <p:nvPicPr>
          <p:cNvPr id="4" name="图片 3"/>
          <p:cNvPicPr>
            <a:picLocks noChangeAspect="1"/>
          </p:cNvPicPr>
          <p:nvPr/>
        </p:nvPicPr>
        <p:blipFill>
          <a:blip r:embed="rId2"/>
          <a:stretch>
            <a:fillRect/>
          </a:stretch>
        </p:blipFill>
        <p:spPr>
          <a:xfrm>
            <a:off x="5230848" y="3284984"/>
            <a:ext cx="6671163" cy="3254741"/>
          </a:xfrm>
          <a:prstGeom prst="rect">
            <a:avLst/>
          </a:prstGeom>
        </p:spPr>
      </p:pic>
      <p:cxnSp>
        <p:nvCxnSpPr>
          <p:cNvPr id="8" name="直接箭头连接符 7"/>
          <p:cNvCxnSpPr/>
          <p:nvPr/>
        </p:nvCxnSpPr>
        <p:spPr>
          <a:xfrm>
            <a:off x="9120336" y="4293096"/>
            <a:ext cx="216024" cy="648072"/>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10056440" y="4293096"/>
            <a:ext cx="216024" cy="1512168"/>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10920536" y="5049180"/>
            <a:ext cx="216024" cy="90010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300007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Memory Stall</a:t>
            </a:r>
            <a:endParaRPr lang="zh-CN" altLang="en-US" dirty="0"/>
          </a:p>
        </p:txBody>
      </p:sp>
      <p:sp>
        <p:nvSpPr>
          <p:cNvPr id="3" name="内容占位符 2"/>
          <p:cNvSpPr>
            <a:spLocks noGrp="1"/>
          </p:cNvSpPr>
          <p:nvPr>
            <p:ph idx="1"/>
          </p:nvPr>
        </p:nvSpPr>
        <p:spPr>
          <a:xfrm>
            <a:off x="551384" y="4869160"/>
            <a:ext cx="11449272" cy="1656184"/>
          </a:xfrm>
        </p:spPr>
        <p:txBody>
          <a:bodyPr/>
          <a:lstStyle/>
          <a:p>
            <a:r>
              <a:rPr lang="en-US" altLang="zh-CN" dirty="0"/>
              <a:t>In the top half, we can see why a stall is needed: the MEM cycle of the load produces a value that is needed in the EX cycle of the sub, which occurs at the same </a:t>
            </a:r>
            <a:r>
              <a:rPr lang="en-US" altLang="zh-CN" dirty="0" smtClean="0"/>
              <a:t>time</a:t>
            </a:r>
          </a:p>
          <a:p>
            <a:r>
              <a:rPr lang="en-US" altLang="zh-CN" dirty="0" smtClean="0"/>
              <a:t>This </a:t>
            </a:r>
            <a:r>
              <a:rPr lang="en-US" altLang="zh-CN" dirty="0"/>
              <a:t>problem is solved by inserting a stall, as shown in the bottom </a:t>
            </a:r>
            <a:r>
              <a:rPr lang="en-US" altLang="zh-CN" dirty="0" smtClean="0"/>
              <a:t>half</a:t>
            </a:r>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838200" y="1556792"/>
            <a:ext cx="10966437" cy="3026616"/>
          </a:xfrm>
          <a:prstGeom prst="rect">
            <a:avLst/>
          </a:prstGeom>
        </p:spPr>
      </p:pic>
    </p:spTree>
    <p:extLst>
      <p:ext uri="{BB962C8B-B14F-4D97-AF65-F5344CB8AC3E}">
        <p14:creationId xmlns:p14="http://schemas.microsoft.com/office/powerpoint/2010/main" val="17759844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2305050" y="1447800"/>
            <a:ext cx="6286500" cy="4648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285750" indent="-285750">
              <a:defRPr kumimoji="1" sz="2400">
                <a:solidFill>
                  <a:schemeClr val="tx1"/>
                </a:solidFill>
                <a:latin typeface="Times New Roman" panose="02020603050405020304" pitchFamily="18" charset="0"/>
                <a:ea typeface="宋体" panose="02010600030101010101" pitchFamily="2" charset="-122"/>
              </a:defRPr>
            </a:lvl1pPr>
            <a:lvl2pPr marL="685800" indent="-22860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543050" indent="-171450">
              <a:defRPr kumimoji="1" sz="2400">
                <a:solidFill>
                  <a:schemeClr val="tx1"/>
                </a:solidFill>
                <a:latin typeface="Times New Roman" panose="02020603050405020304" pitchFamily="18" charset="0"/>
                <a:ea typeface="宋体" panose="02010600030101010101" pitchFamily="2" charset="-122"/>
              </a:defRPr>
            </a:lvl4pPr>
            <a:lvl5pPr marL="2000250" indent="-171450">
              <a:defRPr kumimoji="1" sz="2400">
                <a:solidFill>
                  <a:schemeClr val="tx1"/>
                </a:solidFill>
                <a:latin typeface="Times New Roman" panose="02020603050405020304" pitchFamily="18" charset="0"/>
                <a:ea typeface="宋体" panose="02010600030101010101" pitchFamily="2" charset="-122"/>
              </a:defRPr>
            </a:lvl5pPr>
            <a:lvl6pPr marL="2457450" indent="-171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14650" indent="-171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371850" indent="-171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29050" indent="-1714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ct val="90000"/>
              </a:lnSpc>
              <a:spcBef>
                <a:spcPct val="30000"/>
              </a:spcBef>
            </a:pPr>
            <a:r>
              <a:rPr lang="en-US" altLang="zh-CN" dirty="0">
                <a:latin typeface="Arial" panose="020B0604020202020204" pitchFamily="34" charset="0"/>
              </a:rPr>
              <a:t>Try producing fast code for</a:t>
            </a:r>
          </a:p>
          <a:p>
            <a:pPr>
              <a:lnSpc>
                <a:spcPct val="90000"/>
              </a:lnSpc>
              <a:spcBef>
                <a:spcPct val="30000"/>
              </a:spcBef>
            </a:pPr>
            <a:r>
              <a:rPr lang="en-US" altLang="zh-CN" dirty="0">
                <a:latin typeface="Arial" panose="020B0604020202020204" pitchFamily="34" charset="0"/>
              </a:rPr>
              <a:t>		a = b + c;</a:t>
            </a:r>
          </a:p>
          <a:p>
            <a:pPr>
              <a:lnSpc>
                <a:spcPct val="90000"/>
              </a:lnSpc>
              <a:spcBef>
                <a:spcPct val="30000"/>
              </a:spcBef>
            </a:pPr>
            <a:r>
              <a:rPr lang="en-US" altLang="zh-CN" dirty="0">
                <a:latin typeface="Arial" panose="020B0604020202020204" pitchFamily="34" charset="0"/>
              </a:rPr>
              <a:t>		d = e - f;</a:t>
            </a:r>
          </a:p>
          <a:p>
            <a:pPr>
              <a:lnSpc>
                <a:spcPct val="90000"/>
              </a:lnSpc>
              <a:spcBef>
                <a:spcPct val="30000"/>
              </a:spcBef>
            </a:pPr>
            <a:r>
              <a:rPr lang="en-US" altLang="zh-CN" dirty="0">
                <a:latin typeface="Arial" panose="020B0604020202020204" pitchFamily="34" charset="0"/>
              </a:rPr>
              <a:t>assuming a, b, c, d ,e, and f in memory. </a:t>
            </a:r>
            <a:endParaRPr lang="en-US" altLang="zh-CN" sz="1800" dirty="0">
              <a:latin typeface="Arial" panose="020B0604020202020204" pitchFamily="34" charset="0"/>
            </a:endParaRPr>
          </a:p>
          <a:p>
            <a:pPr>
              <a:lnSpc>
                <a:spcPct val="90000"/>
              </a:lnSpc>
              <a:spcBef>
                <a:spcPct val="30000"/>
              </a:spcBef>
            </a:pPr>
            <a:r>
              <a:rPr lang="en-US" altLang="zh-CN" sz="1800" dirty="0">
                <a:latin typeface="Arial" panose="020B0604020202020204" pitchFamily="34" charset="0"/>
              </a:rPr>
              <a:t>Slow code:</a:t>
            </a:r>
          </a:p>
          <a:p>
            <a:pPr>
              <a:lnSpc>
                <a:spcPct val="90000"/>
              </a:lnSpc>
              <a:spcBef>
                <a:spcPct val="30000"/>
              </a:spcBef>
            </a:pPr>
            <a:r>
              <a:rPr lang="en-US" altLang="zh-CN" sz="1800" dirty="0">
                <a:latin typeface="Arial" panose="020B0604020202020204" pitchFamily="34" charset="0"/>
              </a:rPr>
              <a:t>		LW 	</a:t>
            </a:r>
            <a:r>
              <a:rPr lang="en-US" altLang="zh-CN" sz="1800" dirty="0" err="1">
                <a:latin typeface="Arial" panose="020B0604020202020204" pitchFamily="34" charset="0"/>
              </a:rPr>
              <a:t>Rb,b</a:t>
            </a:r>
            <a:endParaRPr lang="en-US" altLang="zh-CN" sz="1800" dirty="0">
              <a:latin typeface="Arial" panose="020B0604020202020204" pitchFamily="34" charset="0"/>
            </a:endParaRPr>
          </a:p>
          <a:p>
            <a:pPr>
              <a:lnSpc>
                <a:spcPct val="90000"/>
              </a:lnSpc>
              <a:spcBef>
                <a:spcPct val="30000"/>
              </a:spcBef>
            </a:pPr>
            <a:r>
              <a:rPr lang="en-US" altLang="zh-CN" sz="1800" dirty="0">
                <a:latin typeface="Arial" panose="020B0604020202020204" pitchFamily="34" charset="0"/>
              </a:rPr>
              <a:t>		LW 	</a:t>
            </a:r>
            <a:r>
              <a:rPr lang="en-US" altLang="zh-CN" sz="1800" dirty="0" err="1">
                <a:solidFill>
                  <a:srgbClr val="FF0000"/>
                </a:solidFill>
                <a:latin typeface="Arial" panose="020B0604020202020204" pitchFamily="34" charset="0"/>
              </a:rPr>
              <a:t>Rc</a:t>
            </a:r>
            <a:r>
              <a:rPr lang="en-US" altLang="zh-CN" sz="1800" dirty="0" err="1">
                <a:latin typeface="Arial" panose="020B0604020202020204" pitchFamily="34" charset="0"/>
              </a:rPr>
              <a:t>,c</a:t>
            </a:r>
            <a:endParaRPr lang="en-US" altLang="zh-CN" sz="1800" dirty="0">
              <a:latin typeface="Arial" panose="020B0604020202020204" pitchFamily="34" charset="0"/>
            </a:endParaRPr>
          </a:p>
          <a:p>
            <a:pPr>
              <a:lnSpc>
                <a:spcPct val="90000"/>
              </a:lnSpc>
              <a:spcBef>
                <a:spcPct val="30000"/>
              </a:spcBef>
            </a:pPr>
            <a:r>
              <a:rPr lang="en-US" altLang="zh-CN" sz="1800" dirty="0">
                <a:latin typeface="Arial" panose="020B0604020202020204" pitchFamily="34" charset="0"/>
              </a:rPr>
              <a:t>		ADD 	</a:t>
            </a:r>
            <a:r>
              <a:rPr lang="en-US" altLang="zh-CN" sz="1800" dirty="0" err="1">
                <a:latin typeface="Arial" panose="020B0604020202020204" pitchFamily="34" charset="0"/>
              </a:rPr>
              <a:t>Ra,Rb</a:t>
            </a:r>
            <a:r>
              <a:rPr lang="en-US" altLang="zh-CN" sz="1800" dirty="0" smtClean="0">
                <a:latin typeface="Arial" panose="020B0604020202020204" pitchFamily="34" charset="0"/>
              </a:rPr>
              <a:t>, </a:t>
            </a:r>
            <a:r>
              <a:rPr lang="en-US" altLang="zh-CN" sz="1800" dirty="0" err="1" smtClean="0">
                <a:solidFill>
                  <a:srgbClr val="FF0000"/>
                </a:solidFill>
                <a:latin typeface="Arial" panose="020B0604020202020204" pitchFamily="34" charset="0"/>
              </a:rPr>
              <a:t>Rc</a:t>
            </a:r>
            <a:endParaRPr lang="en-US" altLang="zh-CN" sz="1800" dirty="0">
              <a:solidFill>
                <a:srgbClr val="FF0000"/>
              </a:solidFill>
              <a:latin typeface="Arial" panose="020B0604020202020204" pitchFamily="34" charset="0"/>
            </a:endParaRPr>
          </a:p>
          <a:p>
            <a:pPr>
              <a:lnSpc>
                <a:spcPct val="90000"/>
              </a:lnSpc>
              <a:spcBef>
                <a:spcPct val="30000"/>
              </a:spcBef>
            </a:pPr>
            <a:r>
              <a:rPr lang="en-US" altLang="zh-CN" sz="1800" dirty="0">
                <a:latin typeface="Arial" panose="020B0604020202020204" pitchFamily="34" charset="0"/>
              </a:rPr>
              <a:t>		SW  	</a:t>
            </a:r>
            <a:r>
              <a:rPr lang="en-US" altLang="zh-CN" sz="1800" dirty="0" err="1">
                <a:latin typeface="Arial" panose="020B0604020202020204" pitchFamily="34" charset="0"/>
              </a:rPr>
              <a:t>a,Ra</a:t>
            </a:r>
            <a:r>
              <a:rPr lang="en-US" altLang="zh-CN" sz="1800" dirty="0">
                <a:latin typeface="Arial" panose="020B0604020202020204" pitchFamily="34" charset="0"/>
              </a:rPr>
              <a:t> </a:t>
            </a:r>
          </a:p>
          <a:p>
            <a:pPr>
              <a:lnSpc>
                <a:spcPct val="90000"/>
              </a:lnSpc>
              <a:spcBef>
                <a:spcPct val="30000"/>
              </a:spcBef>
            </a:pPr>
            <a:r>
              <a:rPr lang="en-US" altLang="zh-CN" sz="1800" dirty="0">
                <a:latin typeface="Arial" panose="020B0604020202020204" pitchFamily="34" charset="0"/>
              </a:rPr>
              <a:t>		LW 	</a:t>
            </a:r>
            <a:r>
              <a:rPr lang="en-US" altLang="zh-CN" sz="1800" dirty="0" err="1">
                <a:latin typeface="Arial" panose="020B0604020202020204" pitchFamily="34" charset="0"/>
              </a:rPr>
              <a:t>Re,e</a:t>
            </a:r>
            <a:r>
              <a:rPr lang="en-US" altLang="zh-CN" sz="1800" dirty="0">
                <a:latin typeface="Arial" panose="020B0604020202020204" pitchFamily="34" charset="0"/>
              </a:rPr>
              <a:t> </a:t>
            </a:r>
          </a:p>
          <a:p>
            <a:pPr>
              <a:lnSpc>
                <a:spcPct val="90000"/>
              </a:lnSpc>
              <a:spcBef>
                <a:spcPct val="30000"/>
              </a:spcBef>
            </a:pPr>
            <a:r>
              <a:rPr lang="en-US" altLang="zh-CN" sz="1800" dirty="0">
                <a:latin typeface="Arial" panose="020B0604020202020204" pitchFamily="34" charset="0"/>
              </a:rPr>
              <a:t>		LW 	</a:t>
            </a:r>
            <a:r>
              <a:rPr lang="en-US" altLang="zh-CN" sz="1800" dirty="0" err="1">
                <a:solidFill>
                  <a:srgbClr val="FF0000"/>
                </a:solidFill>
                <a:latin typeface="Arial" panose="020B0604020202020204" pitchFamily="34" charset="0"/>
              </a:rPr>
              <a:t>Rf</a:t>
            </a:r>
            <a:r>
              <a:rPr lang="en-US" altLang="zh-CN" sz="1800" dirty="0" err="1">
                <a:latin typeface="Arial" panose="020B0604020202020204" pitchFamily="34" charset="0"/>
              </a:rPr>
              <a:t>,f</a:t>
            </a:r>
            <a:endParaRPr lang="en-US" altLang="zh-CN" sz="1800" dirty="0">
              <a:latin typeface="Arial" panose="020B0604020202020204" pitchFamily="34" charset="0"/>
            </a:endParaRPr>
          </a:p>
          <a:p>
            <a:pPr>
              <a:lnSpc>
                <a:spcPct val="90000"/>
              </a:lnSpc>
              <a:spcBef>
                <a:spcPct val="30000"/>
              </a:spcBef>
            </a:pPr>
            <a:r>
              <a:rPr lang="en-US" altLang="zh-CN" sz="1800" dirty="0">
                <a:latin typeface="Arial" panose="020B0604020202020204" pitchFamily="34" charset="0"/>
              </a:rPr>
              <a:t>		SUB 	</a:t>
            </a:r>
            <a:r>
              <a:rPr lang="en-US" altLang="zh-CN" sz="1800" dirty="0" err="1">
                <a:latin typeface="Arial" panose="020B0604020202020204" pitchFamily="34" charset="0"/>
              </a:rPr>
              <a:t>Rd,Re,</a:t>
            </a:r>
            <a:r>
              <a:rPr lang="en-US" altLang="zh-CN" sz="1800" dirty="0" err="1">
                <a:solidFill>
                  <a:srgbClr val="FF0000"/>
                </a:solidFill>
                <a:latin typeface="Arial" panose="020B0604020202020204" pitchFamily="34" charset="0"/>
              </a:rPr>
              <a:t>Rf</a:t>
            </a:r>
            <a:endParaRPr lang="en-US" altLang="zh-CN" sz="1800" dirty="0">
              <a:solidFill>
                <a:srgbClr val="FF0000"/>
              </a:solidFill>
              <a:latin typeface="Arial" panose="020B0604020202020204" pitchFamily="34" charset="0"/>
            </a:endParaRPr>
          </a:p>
          <a:p>
            <a:pPr>
              <a:lnSpc>
                <a:spcPct val="90000"/>
              </a:lnSpc>
              <a:spcBef>
                <a:spcPct val="30000"/>
              </a:spcBef>
            </a:pPr>
            <a:r>
              <a:rPr lang="en-US" altLang="zh-CN" sz="1800" dirty="0">
                <a:latin typeface="Arial" panose="020B0604020202020204" pitchFamily="34" charset="0"/>
              </a:rPr>
              <a:t>		SW	</a:t>
            </a:r>
            <a:r>
              <a:rPr lang="en-US" altLang="zh-CN" sz="1800" dirty="0" err="1">
                <a:latin typeface="Arial" panose="020B0604020202020204" pitchFamily="34" charset="0"/>
              </a:rPr>
              <a:t>d,Rd</a:t>
            </a:r>
            <a:endParaRPr lang="en-US" altLang="zh-CN" sz="1800" dirty="0">
              <a:latin typeface="Arial" panose="020B0604020202020204" pitchFamily="34" charset="0"/>
            </a:endParaRPr>
          </a:p>
        </p:txBody>
      </p:sp>
      <p:sp>
        <p:nvSpPr>
          <p:cNvPr id="46083" name="Rectangle 3"/>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a:t>Software Scheduling to Avoid Load Hazards</a:t>
            </a:r>
          </a:p>
        </p:txBody>
      </p:sp>
      <p:sp>
        <p:nvSpPr>
          <p:cNvPr id="46084" name="Rectangle 4"/>
          <p:cNvSpPr>
            <a:spLocks noGrp="1" noChangeArrowheads="1"/>
          </p:cNvSpPr>
          <p:nvPr>
            <p:ph type="body" idx="1"/>
          </p:nvPr>
        </p:nvSpPr>
        <p:spPr>
          <a:xfrm>
            <a:off x="5676900" y="3124200"/>
            <a:ext cx="3581400" cy="297815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Font typeface="Wingdings" panose="05000000000000000000" pitchFamily="2" charset="2"/>
              <a:buNone/>
            </a:pPr>
            <a:r>
              <a:rPr lang="en-US" altLang="zh-CN" sz="2000" dirty="0">
                <a:solidFill>
                  <a:srgbClr val="FF0000"/>
                </a:solidFill>
              </a:rPr>
              <a:t>Fast code</a:t>
            </a:r>
            <a:r>
              <a:rPr lang="en-US" altLang="zh-CN" sz="2000" dirty="0">
                <a:solidFill>
                  <a:schemeClr val="hlink"/>
                </a:solidFill>
              </a:rPr>
              <a:t>:</a:t>
            </a:r>
            <a:endParaRPr lang="en-US" altLang="zh-CN" sz="2000" dirty="0"/>
          </a:p>
          <a:p>
            <a:pPr>
              <a:buFont typeface="Wingdings" panose="05000000000000000000" pitchFamily="2" charset="2"/>
              <a:buNone/>
            </a:pPr>
            <a:r>
              <a:rPr lang="en-US" altLang="zh-CN" sz="2000" dirty="0"/>
              <a:t>		LW 	</a:t>
            </a:r>
            <a:r>
              <a:rPr lang="en-US" altLang="zh-CN" sz="2000" dirty="0" err="1"/>
              <a:t>Rb,b</a:t>
            </a:r>
            <a:endParaRPr lang="en-US" altLang="zh-CN" sz="2000" dirty="0"/>
          </a:p>
          <a:p>
            <a:pPr>
              <a:buFont typeface="Wingdings" panose="05000000000000000000" pitchFamily="2" charset="2"/>
              <a:buNone/>
            </a:pPr>
            <a:r>
              <a:rPr lang="en-US" altLang="zh-CN" sz="2000" dirty="0"/>
              <a:t>		LW 	</a:t>
            </a:r>
            <a:r>
              <a:rPr lang="en-US" altLang="zh-CN" sz="2000" dirty="0" err="1"/>
              <a:t>Rc,c</a:t>
            </a:r>
            <a:endParaRPr lang="en-US" altLang="zh-CN" sz="2000" dirty="0"/>
          </a:p>
          <a:p>
            <a:pPr>
              <a:buFont typeface="Wingdings" panose="05000000000000000000" pitchFamily="2" charset="2"/>
              <a:buNone/>
            </a:pPr>
            <a:r>
              <a:rPr lang="en-US" altLang="zh-CN" sz="2000" dirty="0">
                <a:solidFill>
                  <a:schemeClr val="hlink"/>
                </a:solidFill>
              </a:rPr>
              <a:t>		</a:t>
            </a:r>
            <a:r>
              <a:rPr lang="en-US" altLang="zh-CN" sz="2000" dirty="0">
                <a:solidFill>
                  <a:srgbClr val="FF0000"/>
                </a:solidFill>
              </a:rPr>
              <a:t>LW 	</a:t>
            </a:r>
            <a:r>
              <a:rPr lang="en-US" altLang="zh-CN" sz="2000" dirty="0" err="1">
                <a:solidFill>
                  <a:srgbClr val="FF0000"/>
                </a:solidFill>
              </a:rPr>
              <a:t>Re,e</a:t>
            </a:r>
            <a:r>
              <a:rPr lang="en-US" altLang="zh-CN" sz="2000" dirty="0">
                <a:solidFill>
                  <a:srgbClr val="FF0000"/>
                </a:solidFill>
              </a:rPr>
              <a:t> </a:t>
            </a:r>
          </a:p>
          <a:p>
            <a:pPr>
              <a:buFont typeface="Wingdings" panose="05000000000000000000" pitchFamily="2" charset="2"/>
              <a:buNone/>
            </a:pPr>
            <a:r>
              <a:rPr lang="en-US" altLang="zh-CN" sz="2000" dirty="0"/>
              <a:t>		ADD 	</a:t>
            </a:r>
            <a:r>
              <a:rPr lang="en-US" altLang="zh-CN" sz="2000" dirty="0" err="1"/>
              <a:t>Ra,Rb,Rc</a:t>
            </a:r>
            <a:endParaRPr lang="en-US" altLang="zh-CN" sz="2000" dirty="0"/>
          </a:p>
          <a:p>
            <a:pPr>
              <a:buFont typeface="Wingdings" panose="05000000000000000000" pitchFamily="2" charset="2"/>
              <a:buNone/>
            </a:pPr>
            <a:r>
              <a:rPr lang="en-US" altLang="zh-CN" sz="2000" dirty="0"/>
              <a:t>		LW 	</a:t>
            </a:r>
            <a:r>
              <a:rPr lang="en-US" altLang="zh-CN" sz="2000" dirty="0" err="1"/>
              <a:t>Rf,f</a:t>
            </a:r>
            <a:endParaRPr lang="en-US" altLang="zh-CN" sz="2000" dirty="0"/>
          </a:p>
          <a:p>
            <a:pPr>
              <a:buFont typeface="Wingdings" panose="05000000000000000000" pitchFamily="2" charset="2"/>
              <a:buNone/>
            </a:pPr>
            <a:r>
              <a:rPr lang="en-US" altLang="zh-CN" sz="2000" dirty="0">
                <a:solidFill>
                  <a:schemeClr val="hlink"/>
                </a:solidFill>
              </a:rPr>
              <a:t>		</a:t>
            </a:r>
            <a:r>
              <a:rPr lang="en-US" altLang="zh-CN" sz="2000" dirty="0">
                <a:solidFill>
                  <a:srgbClr val="FF0000"/>
                </a:solidFill>
              </a:rPr>
              <a:t>SW  	</a:t>
            </a:r>
            <a:r>
              <a:rPr lang="en-US" altLang="zh-CN" sz="2000" dirty="0" err="1">
                <a:solidFill>
                  <a:srgbClr val="FF0000"/>
                </a:solidFill>
              </a:rPr>
              <a:t>a,Ra</a:t>
            </a:r>
            <a:r>
              <a:rPr lang="en-US" altLang="zh-CN" sz="2000" dirty="0">
                <a:solidFill>
                  <a:srgbClr val="FF0000"/>
                </a:solidFill>
              </a:rPr>
              <a:t> </a:t>
            </a:r>
          </a:p>
          <a:p>
            <a:pPr>
              <a:buFont typeface="Wingdings" panose="05000000000000000000" pitchFamily="2" charset="2"/>
              <a:buNone/>
            </a:pPr>
            <a:r>
              <a:rPr lang="en-US" altLang="zh-CN" sz="2000" dirty="0"/>
              <a:t>		SUB 	</a:t>
            </a:r>
            <a:r>
              <a:rPr lang="en-US" altLang="zh-CN" sz="2000" dirty="0" err="1"/>
              <a:t>Rd,Re,Rf</a:t>
            </a:r>
            <a:endParaRPr lang="en-US" altLang="zh-CN" sz="2000" dirty="0"/>
          </a:p>
          <a:p>
            <a:pPr>
              <a:buFont typeface="Wingdings" panose="05000000000000000000" pitchFamily="2" charset="2"/>
              <a:buNone/>
            </a:pPr>
            <a:r>
              <a:rPr lang="en-US" altLang="zh-CN" sz="2000" dirty="0"/>
              <a:t>		SW	</a:t>
            </a:r>
            <a:r>
              <a:rPr lang="en-US" altLang="zh-CN" sz="2000" dirty="0" err="1"/>
              <a:t>d,Rd</a:t>
            </a:r>
            <a:endParaRPr lang="en-US" altLang="zh-CN" sz="2000" dirty="0"/>
          </a:p>
        </p:txBody>
      </p:sp>
      <p:sp>
        <p:nvSpPr>
          <p:cNvPr id="46085" name="Line 5"/>
          <p:cNvSpPr>
            <a:spLocks noChangeShapeType="1"/>
          </p:cNvSpPr>
          <p:nvPr/>
        </p:nvSpPr>
        <p:spPr bwMode="auto">
          <a:xfrm flipV="1">
            <a:off x="4800600" y="4419600"/>
            <a:ext cx="1828800" cy="6096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086" name="Line 6"/>
          <p:cNvSpPr>
            <a:spLocks noChangeShapeType="1"/>
          </p:cNvSpPr>
          <p:nvPr/>
        </p:nvSpPr>
        <p:spPr bwMode="auto">
          <a:xfrm>
            <a:off x="4724400" y="4648200"/>
            <a:ext cx="1905000" cy="83820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874389392"/>
      </p:ext>
    </p:extLst>
  </p:cSld>
  <p:clrMapOvr>
    <a:masterClrMapping/>
  </p:clrMapOvr>
  <p:transition>
    <p:wip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Control Hazard on Branches</a:t>
            </a:r>
            <a:br>
              <a:rPr lang="en-US" altLang="zh-CN"/>
            </a:br>
            <a:r>
              <a:rPr lang="en-US" altLang="zh-CN"/>
              <a:t>Three Stage Stall</a:t>
            </a:r>
          </a:p>
        </p:txBody>
      </p:sp>
      <p:sp>
        <p:nvSpPr>
          <p:cNvPr id="142339" name="Rectangle 3"/>
          <p:cNvSpPr>
            <a:spLocks noChangeArrowheads="1"/>
          </p:cNvSpPr>
          <p:nvPr/>
        </p:nvSpPr>
        <p:spPr bwMode="auto">
          <a:xfrm>
            <a:off x="3494088" y="1700808"/>
            <a:ext cx="1143000" cy="39624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40" name="Group 4"/>
          <p:cNvGrpSpPr>
            <a:grpSpLocks/>
          </p:cNvGrpSpPr>
          <p:nvPr/>
        </p:nvGrpSpPr>
        <p:grpSpPr bwMode="auto">
          <a:xfrm>
            <a:off x="1524001" y="1853209"/>
            <a:ext cx="3509275" cy="3802063"/>
            <a:chOff x="473" y="1446"/>
            <a:chExt cx="1845" cy="2395"/>
          </a:xfrm>
        </p:grpSpPr>
        <p:sp>
          <p:nvSpPr>
            <p:cNvPr id="142341" name="Rectangle 5"/>
            <p:cNvSpPr>
              <a:spLocks noChangeArrowheads="1"/>
            </p:cNvSpPr>
            <p:nvPr/>
          </p:nvSpPr>
          <p:spPr bwMode="auto">
            <a:xfrm>
              <a:off x="473" y="1446"/>
              <a:ext cx="1647" cy="52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10: beq r1,r3,36</a:t>
              </a:r>
            </a:p>
            <a:p>
              <a:pPr eaLnBrk="1" latinLnBrk="1" hangingPunct="1"/>
              <a:endParaRPr lang="en-US" altLang="zh-CN" sz="2400">
                <a:latin typeface="Courier New" panose="02070309020205020404" pitchFamily="49" charset="0"/>
              </a:endParaRPr>
            </a:p>
          </p:txBody>
        </p:sp>
        <p:sp>
          <p:nvSpPr>
            <p:cNvPr id="142342" name="Rectangle 6"/>
            <p:cNvSpPr>
              <a:spLocks noChangeArrowheads="1"/>
            </p:cNvSpPr>
            <p:nvPr/>
          </p:nvSpPr>
          <p:spPr bwMode="auto">
            <a:xfrm>
              <a:off x="473" y="1998"/>
              <a:ext cx="1744"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14: and r2,r3,r5 </a:t>
              </a:r>
            </a:p>
            <a:p>
              <a:pPr eaLnBrk="1" latinLnBrk="1" hangingPunct="1"/>
              <a:endParaRPr lang="en-US" altLang="zh-CN" sz="2400">
                <a:latin typeface="Courier New" panose="02070309020205020404" pitchFamily="49" charset="0"/>
              </a:endParaRPr>
            </a:p>
          </p:txBody>
        </p:sp>
        <p:sp>
          <p:nvSpPr>
            <p:cNvPr id="142343" name="Rectangle 7"/>
            <p:cNvSpPr>
              <a:spLocks noChangeArrowheads="1"/>
            </p:cNvSpPr>
            <p:nvPr/>
          </p:nvSpPr>
          <p:spPr bwMode="auto">
            <a:xfrm>
              <a:off x="473" y="2526"/>
              <a:ext cx="1647"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18: or  r6,r1,r7</a:t>
              </a:r>
            </a:p>
            <a:p>
              <a:pPr eaLnBrk="1" latinLnBrk="1" hangingPunct="1"/>
              <a:endParaRPr lang="en-US" altLang="zh-CN" sz="2400">
                <a:latin typeface="Courier New" panose="02070309020205020404" pitchFamily="49" charset="0"/>
              </a:endParaRPr>
            </a:p>
          </p:txBody>
        </p:sp>
        <p:sp>
          <p:nvSpPr>
            <p:cNvPr id="142344" name="Rectangle 8"/>
            <p:cNvSpPr>
              <a:spLocks noChangeArrowheads="1"/>
            </p:cNvSpPr>
            <p:nvPr/>
          </p:nvSpPr>
          <p:spPr bwMode="auto">
            <a:xfrm>
              <a:off x="473" y="3066"/>
              <a:ext cx="1647"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22: add r8,r1,r9</a:t>
              </a:r>
            </a:p>
            <a:p>
              <a:pPr eaLnBrk="1" latinLnBrk="1" hangingPunct="1"/>
              <a:endParaRPr lang="en-US" altLang="zh-CN" sz="2400">
                <a:latin typeface="Courier New" panose="02070309020205020404" pitchFamily="49" charset="0"/>
              </a:endParaRPr>
            </a:p>
          </p:txBody>
        </p:sp>
        <p:sp>
          <p:nvSpPr>
            <p:cNvPr id="142345" name="Rectangle 9"/>
            <p:cNvSpPr>
              <a:spLocks noChangeArrowheads="1"/>
            </p:cNvSpPr>
            <p:nvPr/>
          </p:nvSpPr>
          <p:spPr bwMode="auto">
            <a:xfrm>
              <a:off x="477" y="3552"/>
              <a:ext cx="1841" cy="289"/>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36: xor r10,r1,r11</a:t>
              </a:r>
            </a:p>
          </p:txBody>
        </p:sp>
      </p:grpSp>
      <p:sp>
        <p:nvSpPr>
          <p:cNvPr id="142346" name="Freeform 10"/>
          <p:cNvSpPr>
            <a:spLocks/>
          </p:cNvSpPr>
          <p:nvPr/>
        </p:nvSpPr>
        <p:spPr bwMode="auto">
          <a:xfrm>
            <a:off x="3352800" y="2224684"/>
            <a:ext cx="1447800" cy="3057525"/>
          </a:xfrm>
          <a:custGeom>
            <a:avLst/>
            <a:gdLst>
              <a:gd name="T0" fmla="*/ 0 w 960"/>
              <a:gd name="T1" fmla="*/ 0 h 1920"/>
              <a:gd name="T2" fmla="*/ 0 w 960"/>
              <a:gd name="T3" fmla="*/ 192 h 1920"/>
              <a:gd name="T4" fmla="*/ 960 w 960"/>
              <a:gd name="T5" fmla="*/ 192 h 1920"/>
              <a:gd name="T6" fmla="*/ 960 w 960"/>
              <a:gd name="T7" fmla="*/ 1728 h 1920"/>
              <a:gd name="T8" fmla="*/ 48 w 960"/>
              <a:gd name="T9" fmla="*/ 1728 h 1920"/>
              <a:gd name="T10" fmla="*/ 48 w 960"/>
              <a:gd name="T11" fmla="*/ 1920 h 1920"/>
            </a:gdLst>
            <a:ahLst/>
            <a:cxnLst>
              <a:cxn ang="0">
                <a:pos x="T0" y="T1"/>
              </a:cxn>
              <a:cxn ang="0">
                <a:pos x="T2" y="T3"/>
              </a:cxn>
              <a:cxn ang="0">
                <a:pos x="T4" y="T5"/>
              </a:cxn>
              <a:cxn ang="0">
                <a:pos x="T6" y="T7"/>
              </a:cxn>
              <a:cxn ang="0">
                <a:pos x="T8" y="T9"/>
              </a:cxn>
              <a:cxn ang="0">
                <a:pos x="T10" y="T11"/>
              </a:cxn>
            </a:cxnLst>
            <a:rect l="0" t="0" r="r" b="b"/>
            <a:pathLst>
              <a:path w="960" h="1920">
                <a:moveTo>
                  <a:pt x="0" y="0"/>
                </a:moveTo>
                <a:lnTo>
                  <a:pt x="0" y="192"/>
                </a:lnTo>
                <a:lnTo>
                  <a:pt x="960" y="192"/>
                </a:lnTo>
                <a:lnTo>
                  <a:pt x="960" y="1728"/>
                </a:lnTo>
                <a:lnTo>
                  <a:pt x="48" y="1728"/>
                </a:lnTo>
                <a:lnTo>
                  <a:pt x="48" y="192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47" name="Group 11"/>
          <p:cNvGrpSpPr>
            <a:grpSpLocks/>
          </p:cNvGrpSpPr>
          <p:nvPr/>
        </p:nvGrpSpPr>
        <p:grpSpPr bwMode="auto">
          <a:xfrm>
            <a:off x="4865470" y="1700808"/>
            <a:ext cx="5786438" cy="4057650"/>
            <a:chOff x="2047" y="1344"/>
            <a:chExt cx="3710" cy="2556"/>
          </a:xfrm>
        </p:grpSpPr>
        <p:grpSp>
          <p:nvGrpSpPr>
            <p:cNvPr id="142348" name="Group 12"/>
            <p:cNvGrpSpPr>
              <a:grpSpLocks/>
            </p:cNvGrpSpPr>
            <p:nvPr/>
          </p:nvGrpSpPr>
          <p:grpSpPr bwMode="auto">
            <a:xfrm>
              <a:off x="2902" y="2419"/>
              <a:ext cx="2003" cy="441"/>
              <a:chOff x="1924" y="1200"/>
              <a:chExt cx="1972" cy="441"/>
            </a:xfrm>
          </p:grpSpPr>
          <p:grpSp>
            <p:nvGrpSpPr>
              <p:cNvPr id="142349" name="Group 13"/>
              <p:cNvGrpSpPr>
                <a:grpSpLocks noChangeAspect="1"/>
              </p:cNvGrpSpPr>
              <p:nvPr/>
            </p:nvGrpSpPr>
            <p:grpSpPr bwMode="auto">
              <a:xfrm>
                <a:off x="2415" y="1304"/>
                <a:ext cx="254" cy="233"/>
                <a:chOff x="1344" y="528"/>
                <a:chExt cx="550" cy="432"/>
              </a:xfrm>
            </p:grpSpPr>
            <p:grpSp>
              <p:nvGrpSpPr>
                <p:cNvPr id="142350" name="Group 14"/>
                <p:cNvGrpSpPr>
                  <a:grpSpLocks noChangeAspect="1"/>
                </p:cNvGrpSpPr>
                <p:nvPr/>
              </p:nvGrpSpPr>
              <p:grpSpPr bwMode="auto">
                <a:xfrm>
                  <a:off x="1374" y="528"/>
                  <a:ext cx="480" cy="432"/>
                  <a:chOff x="1392" y="528"/>
                  <a:chExt cx="480" cy="432"/>
                </a:xfrm>
              </p:grpSpPr>
              <p:sp>
                <p:nvSpPr>
                  <p:cNvPr id="142351" name="Rectangle 15"/>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2" name="Rectangle 16"/>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353" name="Text Box 17"/>
                <p:cNvSpPr txBox="1">
                  <a:spLocks noChangeAspect="1" noChangeArrowheads="1"/>
                </p:cNvSpPr>
                <p:nvPr/>
              </p:nvSpPr>
              <p:spPr bwMode="auto">
                <a:xfrm>
                  <a:off x="1344" y="574"/>
                  <a:ext cx="550"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2354" name="Line 18"/>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5" name="Line 19"/>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56" name="Group 20"/>
              <p:cNvGrpSpPr>
                <a:grpSpLocks noChangeAspect="1"/>
              </p:cNvGrpSpPr>
              <p:nvPr/>
            </p:nvGrpSpPr>
            <p:grpSpPr bwMode="auto">
              <a:xfrm>
                <a:off x="2850" y="1235"/>
                <a:ext cx="213" cy="371"/>
                <a:chOff x="2991" y="411"/>
                <a:chExt cx="385" cy="768"/>
              </a:xfrm>
            </p:grpSpPr>
            <p:sp>
              <p:nvSpPr>
                <p:cNvPr id="142357" name="AutoShape 21"/>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2358" name="AutoShape 22"/>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9" name="Freeform 23"/>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0" name="Text Box 24"/>
                <p:cNvSpPr txBox="1">
                  <a:spLocks noChangeAspect="1" noChangeArrowheads="1"/>
                </p:cNvSpPr>
                <p:nvPr/>
              </p:nvSpPr>
              <p:spPr bwMode="auto">
                <a:xfrm rot="16200000">
                  <a:off x="2946" y="602"/>
                  <a:ext cx="579" cy="2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42361" name="Line 25"/>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2" name="Line 26"/>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63" name="Group 27"/>
              <p:cNvGrpSpPr>
                <a:grpSpLocks noChangeAspect="1"/>
              </p:cNvGrpSpPr>
              <p:nvPr/>
            </p:nvGrpSpPr>
            <p:grpSpPr bwMode="auto">
              <a:xfrm>
                <a:off x="3171" y="1305"/>
                <a:ext cx="353" cy="232"/>
                <a:chOff x="3771" y="576"/>
                <a:chExt cx="763" cy="480"/>
              </a:xfrm>
            </p:grpSpPr>
            <p:sp>
              <p:nvSpPr>
                <p:cNvPr id="142364" name="Rectangle 28"/>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365" name="Text Box 29"/>
                <p:cNvSpPr txBox="1">
                  <a:spLocks noChangeAspect="1" noChangeArrowheads="1"/>
                </p:cNvSpPr>
                <p:nvPr/>
              </p:nvSpPr>
              <p:spPr bwMode="auto">
                <a:xfrm>
                  <a:off x="3771" y="628"/>
                  <a:ext cx="76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42366" name="Freeform 30"/>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7" name="Line 31"/>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8" name="Line 32"/>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69" name="Group 33"/>
              <p:cNvGrpSpPr>
                <a:grpSpLocks noChangeAspect="1"/>
              </p:cNvGrpSpPr>
              <p:nvPr/>
            </p:nvGrpSpPr>
            <p:grpSpPr bwMode="auto">
              <a:xfrm>
                <a:off x="1924" y="1305"/>
                <a:ext cx="372" cy="232"/>
                <a:chOff x="1042" y="576"/>
                <a:chExt cx="803" cy="480"/>
              </a:xfrm>
            </p:grpSpPr>
            <p:sp>
              <p:nvSpPr>
                <p:cNvPr id="142370" name="Rectangle 34"/>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371" name="Text Box 35"/>
                <p:cNvSpPr txBox="1">
                  <a:spLocks noChangeAspect="1" noChangeArrowheads="1"/>
                </p:cNvSpPr>
                <p:nvPr/>
              </p:nvSpPr>
              <p:spPr bwMode="auto">
                <a:xfrm>
                  <a:off x="1042" y="628"/>
                  <a:ext cx="80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42372" name="Group 36"/>
              <p:cNvGrpSpPr>
                <a:grpSpLocks/>
              </p:cNvGrpSpPr>
              <p:nvPr/>
            </p:nvGrpSpPr>
            <p:grpSpPr bwMode="auto">
              <a:xfrm>
                <a:off x="2288" y="1200"/>
                <a:ext cx="1297" cy="441"/>
                <a:chOff x="2112" y="528"/>
                <a:chExt cx="2088" cy="681"/>
              </a:xfrm>
            </p:grpSpPr>
            <p:sp>
              <p:nvSpPr>
                <p:cNvPr id="142373" name="Rectangle 37"/>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4" name="Rectangle 38"/>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5" name="Rectangle 39"/>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6" name="Rectangle 40"/>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2377" name="Group 41"/>
              <p:cNvGrpSpPr>
                <a:grpSpLocks noChangeAspect="1"/>
              </p:cNvGrpSpPr>
              <p:nvPr/>
            </p:nvGrpSpPr>
            <p:grpSpPr bwMode="auto">
              <a:xfrm flipH="1">
                <a:off x="3642" y="1296"/>
                <a:ext cx="254" cy="233"/>
                <a:chOff x="1360" y="528"/>
                <a:chExt cx="546" cy="432"/>
              </a:xfrm>
            </p:grpSpPr>
            <p:grpSp>
              <p:nvGrpSpPr>
                <p:cNvPr id="142378" name="Group 42"/>
                <p:cNvGrpSpPr>
                  <a:grpSpLocks noChangeAspect="1"/>
                </p:cNvGrpSpPr>
                <p:nvPr/>
              </p:nvGrpSpPr>
              <p:grpSpPr bwMode="auto">
                <a:xfrm>
                  <a:off x="1374" y="528"/>
                  <a:ext cx="480" cy="432"/>
                  <a:chOff x="1392" y="528"/>
                  <a:chExt cx="480" cy="432"/>
                </a:xfrm>
              </p:grpSpPr>
              <p:sp>
                <p:nvSpPr>
                  <p:cNvPr id="142379" name="Rectangle 43"/>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80" name="Rectangle 44"/>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381" name="Text Box 45"/>
                <p:cNvSpPr txBox="1">
                  <a:spLocks noChangeAspect="1" noChangeArrowheads="1"/>
                </p:cNvSpPr>
                <p:nvPr/>
              </p:nvSpPr>
              <p:spPr bwMode="auto">
                <a:xfrm>
                  <a:off x="1360" y="574"/>
                  <a:ext cx="546"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42382" name="Group 46"/>
            <p:cNvGrpSpPr>
              <a:grpSpLocks/>
            </p:cNvGrpSpPr>
            <p:nvPr/>
          </p:nvGrpSpPr>
          <p:grpSpPr bwMode="auto">
            <a:xfrm>
              <a:off x="2474" y="1883"/>
              <a:ext cx="2003" cy="441"/>
              <a:chOff x="1923" y="1200"/>
              <a:chExt cx="1972" cy="441"/>
            </a:xfrm>
          </p:grpSpPr>
          <p:grpSp>
            <p:nvGrpSpPr>
              <p:cNvPr id="142383" name="Group 47"/>
              <p:cNvGrpSpPr>
                <a:grpSpLocks noChangeAspect="1"/>
              </p:cNvGrpSpPr>
              <p:nvPr/>
            </p:nvGrpSpPr>
            <p:grpSpPr bwMode="auto">
              <a:xfrm>
                <a:off x="2414" y="1304"/>
                <a:ext cx="255" cy="233"/>
                <a:chOff x="1341" y="528"/>
                <a:chExt cx="553" cy="432"/>
              </a:xfrm>
            </p:grpSpPr>
            <p:grpSp>
              <p:nvGrpSpPr>
                <p:cNvPr id="142384" name="Group 48"/>
                <p:cNvGrpSpPr>
                  <a:grpSpLocks noChangeAspect="1"/>
                </p:cNvGrpSpPr>
                <p:nvPr/>
              </p:nvGrpSpPr>
              <p:grpSpPr bwMode="auto">
                <a:xfrm>
                  <a:off x="1374" y="528"/>
                  <a:ext cx="480" cy="432"/>
                  <a:chOff x="1392" y="528"/>
                  <a:chExt cx="480" cy="432"/>
                </a:xfrm>
              </p:grpSpPr>
              <p:sp>
                <p:nvSpPr>
                  <p:cNvPr id="142385" name="Rectangle 49"/>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86" name="Rectangle 50"/>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387" name="Text Box 51"/>
                <p:cNvSpPr txBox="1">
                  <a:spLocks noChangeAspect="1" noChangeArrowheads="1"/>
                </p:cNvSpPr>
                <p:nvPr/>
              </p:nvSpPr>
              <p:spPr bwMode="auto">
                <a:xfrm>
                  <a:off x="1341" y="574"/>
                  <a:ext cx="553"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2388" name="Line 52"/>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89" name="Line 53"/>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90" name="Group 54"/>
              <p:cNvGrpSpPr>
                <a:grpSpLocks noChangeAspect="1"/>
              </p:cNvGrpSpPr>
              <p:nvPr/>
            </p:nvGrpSpPr>
            <p:grpSpPr bwMode="auto">
              <a:xfrm>
                <a:off x="2851" y="1235"/>
                <a:ext cx="209" cy="371"/>
                <a:chOff x="2991" y="411"/>
                <a:chExt cx="377" cy="768"/>
              </a:xfrm>
            </p:grpSpPr>
            <p:sp>
              <p:nvSpPr>
                <p:cNvPr id="142391" name="AutoShape 55"/>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2392" name="AutoShape 56"/>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93" name="Freeform 57"/>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94" name="Text Box 58"/>
                <p:cNvSpPr txBox="1">
                  <a:spLocks noChangeAspect="1" noChangeArrowheads="1"/>
                </p:cNvSpPr>
                <p:nvPr/>
              </p:nvSpPr>
              <p:spPr bwMode="auto">
                <a:xfrm rot="-5400000">
                  <a:off x="2941" y="608"/>
                  <a:ext cx="575" cy="2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42395" name="Line 59"/>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96" name="Line 60"/>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97" name="Group 61"/>
              <p:cNvGrpSpPr>
                <a:grpSpLocks noChangeAspect="1"/>
              </p:cNvGrpSpPr>
              <p:nvPr/>
            </p:nvGrpSpPr>
            <p:grpSpPr bwMode="auto">
              <a:xfrm>
                <a:off x="3172" y="1305"/>
                <a:ext cx="353" cy="232"/>
                <a:chOff x="3773" y="576"/>
                <a:chExt cx="763" cy="480"/>
              </a:xfrm>
            </p:grpSpPr>
            <p:sp>
              <p:nvSpPr>
                <p:cNvPr id="142398" name="Rectangle 62"/>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399" name="Text Box 63"/>
                <p:cNvSpPr txBox="1">
                  <a:spLocks noChangeAspect="1" noChangeArrowheads="1"/>
                </p:cNvSpPr>
                <p:nvPr/>
              </p:nvSpPr>
              <p:spPr bwMode="auto">
                <a:xfrm>
                  <a:off x="3773" y="628"/>
                  <a:ext cx="76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42400" name="Freeform 64"/>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01" name="Line 65"/>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02" name="Line 66"/>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03" name="Group 67"/>
              <p:cNvGrpSpPr>
                <a:grpSpLocks noChangeAspect="1"/>
              </p:cNvGrpSpPr>
              <p:nvPr/>
            </p:nvGrpSpPr>
            <p:grpSpPr bwMode="auto">
              <a:xfrm>
                <a:off x="1923" y="1305"/>
                <a:ext cx="372" cy="232"/>
                <a:chOff x="1039" y="576"/>
                <a:chExt cx="802" cy="480"/>
              </a:xfrm>
            </p:grpSpPr>
            <p:sp>
              <p:nvSpPr>
                <p:cNvPr id="142404" name="Rectangle 68"/>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05" name="Text Box 69"/>
                <p:cNvSpPr txBox="1">
                  <a:spLocks noChangeAspect="1" noChangeArrowheads="1"/>
                </p:cNvSpPr>
                <p:nvPr/>
              </p:nvSpPr>
              <p:spPr bwMode="auto">
                <a:xfrm>
                  <a:off x="1039" y="628"/>
                  <a:ext cx="80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42406" name="Group 70"/>
              <p:cNvGrpSpPr>
                <a:grpSpLocks/>
              </p:cNvGrpSpPr>
              <p:nvPr/>
            </p:nvGrpSpPr>
            <p:grpSpPr bwMode="auto">
              <a:xfrm>
                <a:off x="2288" y="1200"/>
                <a:ext cx="1297" cy="441"/>
                <a:chOff x="2112" y="528"/>
                <a:chExt cx="2088" cy="681"/>
              </a:xfrm>
            </p:grpSpPr>
            <p:sp>
              <p:nvSpPr>
                <p:cNvPr id="142407" name="Rectangle 71"/>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08" name="Rectangle 72"/>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09" name="Rectangle 73"/>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10" name="Rectangle 74"/>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2411" name="Group 75"/>
              <p:cNvGrpSpPr>
                <a:grpSpLocks noChangeAspect="1"/>
              </p:cNvGrpSpPr>
              <p:nvPr/>
            </p:nvGrpSpPr>
            <p:grpSpPr bwMode="auto">
              <a:xfrm flipH="1">
                <a:off x="3640" y="1296"/>
                <a:ext cx="255" cy="233"/>
                <a:chOff x="1356" y="528"/>
                <a:chExt cx="548" cy="432"/>
              </a:xfrm>
            </p:grpSpPr>
            <p:grpSp>
              <p:nvGrpSpPr>
                <p:cNvPr id="142412" name="Group 76"/>
                <p:cNvGrpSpPr>
                  <a:grpSpLocks noChangeAspect="1"/>
                </p:cNvGrpSpPr>
                <p:nvPr/>
              </p:nvGrpSpPr>
              <p:grpSpPr bwMode="auto">
                <a:xfrm>
                  <a:off x="1374" y="528"/>
                  <a:ext cx="480" cy="432"/>
                  <a:chOff x="1392" y="528"/>
                  <a:chExt cx="480" cy="432"/>
                </a:xfrm>
              </p:grpSpPr>
              <p:sp>
                <p:nvSpPr>
                  <p:cNvPr id="142413" name="Rectangle 77"/>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14" name="Rectangle 78"/>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15" name="Text Box 79"/>
                <p:cNvSpPr txBox="1">
                  <a:spLocks noChangeAspect="1" noChangeArrowheads="1"/>
                </p:cNvSpPr>
                <p:nvPr/>
              </p:nvSpPr>
              <p:spPr bwMode="auto">
                <a:xfrm>
                  <a:off x="1356" y="574"/>
                  <a:ext cx="54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42416" name="Group 80"/>
            <p:cNvGrpSpPr>
              <a:grpSpLocks/>
            </p:cNvGrpSpPr>
            <p:nvPr/>
          </p:nvGrpSpPr>
          <p:grpSpPr bwMode="auto">
            <a:xfrm>
              <a:off x="2055" y="1363"/>
              <a:ext cx="2003" cy="441"/>
              <a:chOff x="1923" y="1200"/>
              <a:chExt cx="1972" cy="441"/>
            </a:xfrm>
          </p:grpSpPr>
          <p:grpSp>
            <p:nvGrpSpPr>
              <p:cNvPr id="142417" name="Group 81"/>
              <p:cNvGrpSpPr>
                <a:grpSpLocks noChangeAspect="1"/>
              </p:cNvGrpSpPr>
              <p:nvPr/>
            </p:nvGrpSpPr>
            <p:grpSpPr bwMode="auto">
              <a:xfrm>
                <a:off x="2414" y="1304"/>
                <a:ext cx="254" cy="233"/>
                <a:chOff x="1342" y="528"/>
                <a:chExt cx="550" cy="432"/>
              </a:xfrm>
            </p:grpSpPr>
            <p:grpSp>
              <p:nvGrpSpPr>
                <p:cNvPr id="142418" name="Group 82"/>
                <p:cNvGrpSpPr>
                  <a:grpSpLocks noChangeAspect="1"/>
                </p:cNvGrpSpPr>
                <p:nvPr/>
              </p:nvGrpSpPr>
              <p:grpSpPr bwMode="auto">
                <a:xfrm>
                  <a:off x="1374" y="528"/>
                  <a:ext cx="480" cy="432"/>
                  <a:chOff x="1392" y="528"/>
                  <a:chExt cx="480" cy="432"/>
                </a:xfrm>
              </p:grpSpPr>
              <p:sp>
                <p:nvSpPr>
                  <p:cNvPr id="142419" name="Rectangle 83"/>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20" name="Rectangle 84"/>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21" name="Text Box 85"/>
                <p:cNvSpPr txBox="1">
                  <a:spLocks noChangeAspect="1" noChangeArrowheads="1"/>
                </p:cNvSpPr>
                <p:nvPr/>
              </p:nvSpPr>
              <p:spPr bwMode="auto">
                <a:xfrm>
                  <a:off x="1342" y="574"/>
                  <a:ext cx="550"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2422" name="Line 86"/>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23" name="Line 87"/>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24" name="Group 88"/>
              <p:cNvGrpSpPr>
                <a:grpSpLocks noChangeAspect="1"/>
              </p:cNvGrpSpPr>
              <p:nvPr/>
            </p:nvGrpSpPr>
            <p:grpSpPr bwMode="auto">
              <a:xfrm>
                <a:off x="2850" y="1235"/>
                <a:ext cx="211" cy="371"/>
                <a:chOff x="2991" y="411"/>
                <a:chExt cx="381" cy="768"/>
              </a:xfrm>
            </p:grpSpPr>
            <p:sp>
              <p:nvSpPr>
                <p:cNvPr id="142425" name="AutoShape 89"/>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2426" name="AutoShape 90"/>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27" name="Freeform 91"/>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28" name="Text Box 92"/>
                <p:cNvSpPr txBox="1">
                  <a:spLocks noChangeAspect="1" noChangeArrowheads="1"/>
                </p:cNvSpPr>
                <p:nvPr/>
              </p:nvSpPr>
              <p:spPr bwMode="auto">
                <a:xfrm rot="16200000">
                  <a:off x="2942" y="605"/>
                  <a:ext cx="579" cy="2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42429" name="Line 93"/>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30" name="Line 94"/>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31" name="Group 95"/>
              <p:cNvGrpSpPr>
                <a:grpSpLocks noChangeAspect="1"/>
              </p:cNvGrpSpPr>
              <p:nvPr/>
            </p:nvGrpSpPr>
            <p:grpSpPr bwMode="auto">
              <a:xfrm>
                <a:off x="3171" y="1305"/>
                <a:ext cx="354" cy="232"/>
                <a:chOff x="3771" y="576"/>
                <a:chExt cx="765" cy="480"/>
              </a:xfrm>
            </p:grpSpPr>
            <p:sp>
              <p:nvSpPr>
                <p:cNvPr id="142432" name="Rectangle 96"/>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33" name="Text Box 97"/>
                <p:cNvSpPr txBox="1">
                  <a:spLocks noChangeAspect="1" noChangeArrowheads="1"/>
                </p:cNvSpPr>
                <p:nvPr/>
              </p:nvSpPr>
              <p:spPr bwMode="auto">
                <a:xfrm>
                  <a:off x="3771" y="628"/>
                  <a:ext cx="765"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42434" name="Freeform 98"/>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35" name="Line 99"/>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36" name="Line 100"/>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37" name="Group 101"/>
              <p:cNvGrpSpPr>
                <a:grpSpLocks noChangeAspect="1"/>
              </p:cNvGrpSpPr>
              <p:nvPr/>
            </p:nvGrpSpPr>
            <p:grpSpPr bwMode="auto">
              <a:xfrm>
                <a:off x="1923" y="1305"/>
                <a:ext cx="372" cy="232"/>
                <a:chOff x="1039" y="576"/>
                <a:chExt cx="803" cy="480"/>
              </a:xfrm>
            </p:grpSpPr>
            <p:sp>
              <p:nvSpPr>
                <p:cNvPr id="142438" name="Rectangle 102"/>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39" name="Text Box 103"/>
                <p:cNvSpPr txBox="1">
                  <a:spLocks noChangeAspect="1" noChangeArrowheads="1"/>
                </p:cNvSpPr>
                <p:nvPr/>
              </p:nvSpPr>
              <p:spPr bwMode="auto">
                <a:xfrm>
                  <a:off x="1039" y="628"/>
                  <a:ext cx="80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42440" name="Group 104"/>
              <p:cNvGrpSpPr>
                <a:grpSpLocks/>
              </p:cNvGrpSpPr>
              <p:nvPr/>
            </p:nvGrpSpPr>
            <p:grpSpPr bwMode="auto">
              <a:xfrm>
                <a:off x="2288" y="1200"/>
                <a:ext cx="1297" cy="441"/>
                <a:chOff x="2112" y="528"/>
                <a:chExt cx="2088" cy="681"/>
              </a:xfrm>
            </p:grpSpPr>
            <p:sp>
              <p:nvSpPr>
                <p:cNvPr id="142441" name="Rectangle 105"/>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42" name="Rectangle 106"/>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43" name="Rectangle 107"/>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44" name="Rectangle 108"/>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2445" name="Group 109"/>
              <p:cNvGrpSpPr>
                <a:grpSpLocks noChangeAspect="1"/>
              </p:cNvGrpSpPr>
              <p:nvPr/>
            </p:nvGrpSpPr>
            <p:grpSpPr bwMode="auto">
              <a:xfrm flipH="1">
                <a:off x="3641" y="1296"/>
                <a:ext cx="254" cy="233"/>
                <a:chOff x="1358" y="528"/>
                <a:chExt cx="546" cy="432"/>
              </a:xfrm>
            </p:grpSpPr>
            <p:grpSp>
              <p:nvGrpSpPr>
                <p:cNvPr id="142446" name="Group 110"/>
                <p:cNvGrpSpPr>
                  <a:grpSpLocks noChangeAspect="1"/>
                </p:cNvGrpSpPr>
                <p:nvPr/>
              </p:nvGrpSpPr>
              <p:grpSpPr bwMode="auto">
                <a:xfrm>
                  <a:off x="1374" y="528"/>
                  <a:ext cx="480" cy="432"/>
                  <a:chOff x="1392" y="528"/>
                  <a:chExt cx="480" cy="432"/>
                </a:xfrm>
              </p:grpSpPr>
              <p:sp>
                <p:nvSpPr>
                  <p:cNvPr id="142447" name="Rectangle 111"/>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48" name="Rectangle 112"/>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49" name="Text Box 113"/>
                <p:cNvSpPr txBox="1">
                  <a:spLocks noChangeAspect="1" noChangeArrowheads="1"/>
                </p:cNvSpPr>
                <p:nvPr/>
              </p:nvSpPr>
              <p:spPr bwMode="auto">
                <a:xfrm>
                  <a:off x="1358" y="574"/>
                  <a:ext cx="546"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42450" name="Group 114"/>
            <p:cNvGrpSpPr>
              <a:grpSpLocks noChangeAspect="1"/>
            </p:cNvGrpSpPr>
            <p:nvPr/>
          </p:nvGrpSpPr>
          <p:grpSpPr bwMode="auto">
            <a:xfrm>
              <a:off x="3824" y="3051"/>
              <a:ext cx="259" cy="233"/>
              <a:chOff x="1338" y="528"/>
              <a:chExt cx="552" cy="432"/>
            </a:xfrm>
          </p:grpSpPr>
          <p:grpSp>
            <p:nvGrpSpPr>
              <p:cNvPr id="142451" name="Group 115"/>
              <p:cNvGrpSpPr>
                <a:grpSpLocks noChangeAspect="1"/>
              </p:cNvGrpSpPr>
              <p:nvPr/>
            </p:nvGrpSpPr>
            <p:grpSpPr bwMode="auto">
              <a:xfrm>
                <a:off x="1374" y="528"/>
                <a:ext cx="480" cy="432"/>
                <a:chOff x="1392" y="528"/>
                <a:chExt cx="480" cy="432"/>
              </a:xfrm>
            </p:grpSpPr>
            <p:sp>
              <p:nvSpPr>
                <p:cNvPr id="142452" name="Rectangle 116"/>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53" name="Rectangle 117"/>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54" name="Text Box 118"/>
              <p:cNvSpPr txBox="1">
                <a:spLocks noChangeAspect="1" noChangeArrowheads="1"/>
              </p:cNvSpPr>
              <p:nvPr/>
            </p:nvSpPr>
            <p:spPr bwMode="auto">
              <a:xfrm>
                <a:off x="1338" y="574"/>
                <a:ext cx="55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2455" name="Line 119"/>
            <p:cNvSpPr>
              <a:spLocks noChangeAspect="1" noChangeShapeType="1"/>
            </p:cNvSpPr>
            <p:nvPr/>
          </p:nvSpPr>
          <p:spPr bwMode="auto">
            <a:xfrm>
              <a:off x="4067" y="3098"/>
              <a:ext cx="2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56" name="Line 120"/>
            <p:cNvSpPr>
              <a:spLocks noChangeAspect="1" noChangeShapeType="1"/>
            </p:cNvSpPr>
            <p:nvPr/>
          </p:nvSpPr>
          <p:spPr bwMode="auto">
            <a:xfrm>
              <a:off x="4067" y="3237"/>
              <a:ext cx="2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57" name="Group 121"/>
            <p:cNvGrpSpPr>
              <a:grpSpLocks noChangeAspect="1"/>
            </p:cNvGrpSpPr>
            <p:nvPr/>
          </p:nvGrpSpPr>
          <p:grpSpPr bwMode="auto">
            <a:xfrm>
              <a:off x="4270" y="2982"/>
              <a:ext cx="213" cy="371"/>
              <a:chOff x="2991" y="411"/>
              <a:chExt cx="379" cy="768"/>
            </a:xfrm>
          </p:grpSpPr>
          <p:sp>
            <p:nvSpPr>
              <p:cNvPr id="142458" name="AutoShape 122"/>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2459" name="AutoShape 123"/>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60" name="Freeform 124"/>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61" name="Text Box 125"/>
              <p:cNvSpPr txBox="1">
                <a:spLocks noChangeAspect="1" noChangeArrowheads="1"/>
              </p:cNvSpPr>
              <p:nvPr/>
            </p:nvSpPr>
            <p:spPr bwMode="auto">
              <a:xfrm rot="-5400000">
                <a:off x="2943" y="609"/>
                <a:ext cx="575" cy="2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42462" name="Line 126"/>
            <p:cNvSpPr>
              <a:spLocks noChangeAspect="1" noChangeShapeType="1"/>
            </p:cNvSpPr>
            <p:nvPr/>
          </p:nvSpPr>
          <p:spPr bwMode="auto">
            <a:xfrm>
              <a:off x="4474" y="3168"/>
              <a:ext cx="24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63" name="Line 127"/>
            <p:cNvSpPr>
              <a:spLocks noChangeAspect="1" noChangeShapeType="1"/>
            </p:cNvSpPr>
            <p:nvPr/>
          </p:nvSpPr>
          <p:spPr bwMode="auto">
            <a:xfrm>
              <a:off x="4904" y="3168"/>
              <a:ext cx="2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64" name="Group 128"/>
            <p:cNvGrpSpPr>
              <a:grpSpLocks noChangeAspect="1"/>
            </p:cNvGrpSpPr>
            <p:nvPr/>
          </p:nvGrpSpPr>
          <p:grpSpPr bwMode="auto">
            <a:xfrm>
              <a:off x="4595" y="3052"/>
              <a:ext cx="358" cy="232"/>
              <a:chOff x="3771" y="576"/>
              <a:chExt cx="762" cy="480"/>
            </a:xfrm>
          </p:grpSpPr>
          <p:sp>
            <p:nvSpPr>
              <p:cNvPr id="142465" name="Rectangle 129"/>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66" name="Text Box 130"/>
              <p:cNvSpPr txBox="1">
                <a:spLocks noChangeAspect="1" noChangeArrowheads="1"/>
              </p:cNvSpPr>
              <p:nvPr/>
            </p:nvSpPr>
            <p:spPr bwMode="auto">
              <a:xfrm>
                <a:off x="3771" y="628"/>
                <a:ext cx="76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42467" name="Freeform 131"/>
            <p:cNvSpPr>
              <a:spLocks noChangeAspect="1"/>
            </p:cNvSpPr>
            <p:nvPr/>
          </p:nvSpPr>
          <p:spPr bwMode="auto">
            <a:xfrm>
              <a:off x="4633" y="3168"/>
              <a:ext cx="337"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68" name="Line 132"/>
            <p:cNvSpPr>
              <a:spLocks noChangeAspect="1" noChangeShapeType="1"/>
            </p:cNvSpPr>
            <p:nvPr/>
          </p:nvSpPr>
          <p:spPr bwMode="auto">
            <a:xfrm>
              <a:off x="3608" y="3238"/>
              <a:ext cx="23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69" name="Line 133"/>
            <p:cNvSpPr>
              <a:spLocks noChangeAspect="1" noChangeShapeType="1"/>
            </p:cNvSpPr>
            <p:nvPr/>
          </p:nvSpPr>
          <p:spPr bwMode="auto">
            <a:xfrm>
              <a:off x="3578" y="3098"/>
              <a:ext cx="2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70" name="Group 134"/>
            <p:cNvGrpSpPr>
              <a:grpSpLocks noChangeAspect="1"/>
            </p:cNvGrpSpPr>
            <p:nvPr/>
          </p:nvGrpSpPr>
          <p:grpSpPr bwMode="auto">
            <a:xfrm>
              <a:off x="3327" y="3052"/>
              <a:ext cx="378" cy="232"/>
              <a:chOff x="1038" y="576"/>
              <a:chExt cx="801" cy="480"/>
            </a:xfrm>
          </p:grpSpPr>
          <p:sp>
            <p:nvSpPr>
              <p:cNvPr id="142471" name="Rectangle 135"/>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72" name="Text Box 136"/>
              <p:cNvSpPr txBox="1">
                <a:spLocks noChangeAspect="1" noChangeArrowheads="1"/>
              </p:cNvSpPr>
              <p:nvPr/>
            </p:nvSpPr>
            <p:spPr bwMode="auto">
              <a:xfrm>
                <a:off x="1038" y="628"/>
                <a:ext cx="801"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sp>
          <p:nvSpPr>
            <p:cNvPr id="142473" name="Rectangle 137"/>
            <p:cNvSpPr>
              <a:spLocks noChangeAspect="1" noChangeArrowheads="1"/>
            </p:cNvSpPr>
            <p:nvPr/>
          </p:nvSpPr>
          <p:spPr bwMode="auto">
            <a:xfrm>
              <a:off x="4123" y="2947"/>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74" name="Rectangle 138"/>
            <p:cNvSpPr>
              <a:spLocks noChangeAspect="1" noChangeArrowheads="1"/>
            </p:cNvSpPr>
            <p:nvPr/>
          </p:nvSpPr>
          <p:spPr bwMode="auto">
            <a:xfrm>
              <a:off x="4970" y="2947"/>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75" name="Rectangle 139"/>
            <p:cNvSpPr>
              <a:spLocks noChangeAspect="1" noChangeArrowheads="1"/>
            </p:cNvSpPr>
            <p:nvPr/>
          </p:nvSpPr>
          <p:spPr bwMode="auto">
            <a:xfrm>
              <a:off x="3699" y="2947"/>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76" name="Rectangle 140"/>
            <p:cNvSpPr>
              <a:spLocks noChangeAspect="1" noChangeArrowheads="1"/>
            </p:cNvSpPr>
            <p:nvPr/>
          </p:nvSpPr>
          <p:spPr bwMode="auto">
            <a:xfrm>
              <a:off x="4546" y="2950"/>
              <a:ext cx="45" cy="435"/>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77" name="Group 141"/>
            <p:cNvGrpSpPr>
              <a:grpSpLocks noChangeAspect="1"/>
            </p:cNvGrpSpPr>
            <p:nvPr/>
          </p:nvGrpSpPr>
          <p:grpSpPr bwMode="auto">
            <a:xfrm flipH="1">
              <a:off x="5069" y="3043"/>
              <a:ext cx="258" cy="233"/>
              <a:chOff x="1352" y="528"/>
              <a:chExt cx="545" cy="432"/>
            </a:xfrm>
          </p:grpSpPr>
          <p:grpSp>
            <p:nvGrpSpPr>
              <p:cNvPr id="142478" name="Group 142"/>
              <p:cNvGrpSpPr>
                <a:grpSpLocks noChangeAspect="1"/>
              </p:cNvGrpSpPr>
              <p:nvPr/>
            </p:nvGrpSpPr>
            <p:grpSpPr bwMode="auto">
              <a:xfrm>
                <a:off x="1374" y="528"/>
                <a:ext cx="480" cy="432"/>
                <a:chOff x="1392" y="528"/>
                <a:chExt cx="480" cy="432"/>
              </a:xfrm>
            </p:grpSpPr>
            <p:sp>
              <p:nvSpPr>
                <p:cNvPr id="142479" name="Rectangle 143"/>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80" name="Rectangle 144"/>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81" name="Text Box 145"/>
              <p:cNvSpPr txBox="1">
                <a:spLocks noChangeAspect="1" noChangeArrowheads="1"/>
              </p:cNvSpPr>
              <p:nvPr/>
            </p:nvSpPr>
            <p:spPr bwMode="auto">
              <a:xfrm>
                <a:off x="1352" y="574"/>
                <a:ext cx="545"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nvGrpSpPr>
            <p:cNvPr id="142482" name="Group 146"/>
            <p:cNvGrpSpPr>
              <a:grpSpLocks/>
            </p:cNvGrpSpPr>
            <p:nvPr/>
          </p:nvGrpSpPr>
          <p:grpSpPr bwMode="auto">
            <a:xfrm>
              <a:off x="3755" y="3459"/>
              <a:ext cx="2002" cy="441"/>
              <a:chOff x="1924" y="1200"/>
              <a:chExt cx="1971" cy="441"/>
            </a:xfrm>
          </p:grpSpPr>
          <p:grpSp>
            <p:nvGrpSpPr>
              <p:cNvPr id="142483" name="Group 147"/>
              <p:cNvGrpSpPr>
                <a:grpSpLocks noChangeAspect="1"/>
              </p:cNvGrpSpPr>
              <p:nvPr/>
            </p:nvGrpSpPr>
            <p:grpSpPr bwMode="auto">
              <a:xfrm>
                <a:off x="2413" y="1304"/>
                <a:ext cx="254" cy="233"/>
                <a:chOff x="1340" y="528"/>
                <a:chExt cx="550" cy="432"/>
              </a:xfrm>
            </p:grpSpPr>
            <p:grpSp>
              <p:nvGrpSpPr>
                <p:cNvPr id="142484" name="Group 148"/>
                <p:cNvGrpSpPr>
                  <a:grpSpLocks noChangeAspect="1"/>
                </p:cNvGrpSpPr>
                <p:nvPr/>
              </p:nvGrpSpPr>
              <p:grpSpPr bwMode="auto">
                <a:xfrm>
                  <a:off x="1374" y="528"/>
                  <a:ext cx="480" cy="432"/>
                  <a:chOff x="1392" y="528"/>
                  <a:chExt cx="480" cy="432"/>
                </a:xfrm>
              </p:grpSpPr>
              <p:sp>
                <p:nvSpPr>
                  <p:cNvPr id="142485" name="Rectangle 149"/>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86" name="Rectangle 150"/>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87" name="Text Box 151"/>
                <p:cNvSpPr txBox="1">
                  <a:spLocks noChangeAspect="1" noChangeArrowheads="1"/>
                </p:cNvSpPr>
                <p:nvPr/>
              </p:nvSpPr>
              <p:spPr bwMode="auto">
                <a:xfrm>
                  <a:off x="1340" y="574"/>
                  <a:ext cx="550"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2488" name="Line 152"/>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89" name="Line 153"/>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90" name="Group 154"/>
              <p:cNvGrpSpPr>
                <a:grpSpLocks noChangeAspect="1"/>
              </p:cNvGrpSpPr>
              <p:nvPr/>
            </p:nvGrpSpPr>
            <p:grpSpPr bwMode="auto">
              <a:xfrm>
                <a:off x="2851" y="1235"/>
                <a:ext cx="208" cy="371"/>
                <a:chOff x="2991" y="411"/>
                <a:chExt cx="375" cy="768"/>
              </a:xfrm>
            </p:grpSpPr>
            <p:sp>
              <p:nvSpPr>
                <p:cNvPr id="142491" name="AutoShape 155"/>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2492" name="AutoShape 156"/>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93" name="Freeform 157"/>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94" name="Text Box 158"/>
                <p:cNvSpPr txBox="1">
                  <a:spLocks noChangeAspect="1" noChangeArrowheads="1"/>
                </p:cNvSpPr>
                <p:nvPr/>
              </p:nvSpPr>
              <p:spPr bwMode="auto">
                <a:xfrm rot="-5400000">
                  <a:off x="2939" y="610"/>
                  <a:ext cx="575" cy="2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42495" name="Line 159"/>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96" name="Line 160"/>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97" name="Group 161"/>
              <p:cNvGrpSpPr>
                <a:grpSpLocks noChangeAspect="1"/>
              </p:cNvGrpSpPr>
              <p:nvPr/>
            </p:nvGrpSpPr>
            <p:grpSpPr bwMode="auto">
              <a:xfrm>
                <a:off x="3170" y="1305"/>
                <a:ext cx="353" cy="232"/>
                <a:chOff x="3769" y="576"/>
                <a:chExt cx="762" cy="480"/>
              </a:xfrm>
            </p:grpSpPr>
            <p:sp>
              <p:nvSpPr>
                <p:cNvPr id="142498" name="Rectangle 162"/>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99" name="Text Box 163"/>
                <p:cNvSpPr txBox="1">
                  <a:spLocks noChangeAspect="1" noChangeArrowheads="1"/>
                </p:cNvSpPr>
                <p:nvPr/>
              </p:nvSpPr>
              <p:spPr bwMode="auto">
                <a:xfrm>
                  <a:off x="3769" y="628"/>
                  <a:ext cx="76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42500" name="Freeform 164"/>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01" name="Line 165"/>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02" name="Line 166"/>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503" name="Group 167"/>
              <p:cNvGrpSpPr>
                <a:grpSpLocks noChangeAspect="1"/>
              </p:cNvGrpSpPr>
              <p:nvPr/>
            </p:nvGrpSpPr>
            <p:grpSpPr bwMode="auto">
              <a:xfrm>
                <a:off x="1924" y="1305"/>
                <a:ext cx="372" cy="232"/>
                <a:chOff x="1042" y="576"/>
                <a:chExt cx="803" cy="480"/>
              </a:xfrm>
            </p:grpSpPr>
            <p:sp>
              <p:nvSpPr>
                <p:cNvPr id="142504" name="Rectangle 168"/>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505" name="Text Box 169"/>
                <p:cNvSpPr txBox="1">
                  <a:spLocks noChangeAspect="1" noChangeArrowheads="1"/>
                </p:cNvSpPr>
                <p:nvPr/>
              </p:nvSpPr>
              <p:spPr bwMode="auto">
                <a:xfrm>
                  <a:off x="1042" y="628"/>
                  <a:ext cx="80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42506" name="Group 170"/>
              <p:cNvGrpSpPr>
                <a:grpSpLocks/>
              </p:cNvGrpSpPr>
              <p:nvPr/>
            </p:nvGrpSpPr>
            <p:grpSpPr bwMode="auto">
              <a:xfrm>
                <a:off x="2288" y="1200"/>
                <a:ext cx="1297" cy="441"/>
                <a:chOff x="2112" y="528"/>
                <a:chExt cx="2088" cy="681"/>
              </a:xfrm>
            </p:grpSpPr>
            <p:sp>
              <p:nvSpPr>
                <p:cNvPr id="142507" name="Rectangle 171"/>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08" name="Rectangle 172"/>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09" name="Rectangle 173"/>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10" name="Rectangle 174"/>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2511" name="Group 175"/>
              <p:cNvGrpSpPr>
                <a:grpSpLocks noChangeAspect="1"/>
              </p:cNvGrpSpPr>
              <p:nvPr/>
            </p:nvGrpSpPr>
            <p:grpSpPr bwMode="auto">
              <a:xfrm flipH="1">
                <a:off x="3641" y="1296"/>
                <a:ext cx="254" cy="233"/>
                <a:chOff x="1358" y="528"/>
                <a:chExt cx="546" cy="432"/>
              </a:xfrm>
            </p:grpSpPr>
            <p:grpSp>
              <p:nvGrpSpPr>
                <p:cNvPr id="142512" name="Group 176"/>
                <p:cNvGrpSpPr>
                  <a:grpSpLocks noChangeAspect="1"/>
                </p:cNvGrpSpPr>
                <p:nvPr/>
              </p:nvGrpSpPr>
              <p:grpSpPr bwMode="auto">
                <a:xfrm>
                  <a:off x="1374" y="528"/>
                  <a:ext cx="480" cy="432"/>
                  <a:chOff x="1392" y="528"/>
                  <a:chExt cx="480" cy="432"/>
                </a:xfrm>
              </p:grpSpPr>
              <p:sp>
                <p:nvSpPr>
                  <p:cNvPr id="142513" name="Rectangle 177"/>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14" name="Rectangle 178"/>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515" name="Text Box 179"/>
                <p:cNvSpPr txBox="1">
                  <a:spLocks noChangeAspect="1" noChangeArrowheads="1"/>
                </p:cNvSpPr>
                <p:nvPr/>
              </p:nvSpPr>
              <p:spPr bwMode="auto">
                <a:xfrm>
                  <a:off x="1358" y="574"/>
                  <a:ext cx="546"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sp>
          <p:nvSpPr>
            <p:cNvPr id="142516" name="Rectangle 180"/>
            <p:cNvSpPr>
              <a:spLocks noChangeAspect="1" noChangeArrowheads="1"/>
            </p:cNvSpPr>
            <p:nvPr/>
          </p:nvSpPr>
          <p:spPr bwMode="auto">
            <a:xfrm>
              <a:off x="3716" y="3450"/>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17" name="Line 181"/>
            <p:cNvSpPr>
              <a:spLocks noChangeShapeType="1"/>
            </p:cNvSpPr>
            <p:nvPr/>
          </p:nvSpPr>
          <p:spPr bwMode="auto">
            <a:xfrm>
              <a:off x="3690" y="1584"/>
              <a:ext cx="33" cy="2072"/>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18" name="Rectangle 182"/>
            <p:cNvSpPr>
              <a:spLocks noChangeAspect="1" noChangeArrowheads="1"/>
            </p:cNvSpPr>
            <p:nvPr/>
          </p:nvSpPr>
          <p:spPr bwMode="auto">
            <a:xfrm>
              <a:off x="3264" y="2928"/>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19" name="Rectangle 183"/>
            <p:cNvSpPr>
              <a:spLocks noChangeAspect="1" noChangeArrowheads="1"/>
            </p:cNvSpPr>
            <p:nvPr/>
          </p:nvSpPr>
          <p:spPr bwMode="auto">
            <a:xfrm>
              <a:off x="3264" y="2928"/>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20" name="Rectangle 184"/>
            <p:cNvSpPr>
              <a:spLocks noChangeAspect="1" noChangeArrowheads="1"/>
            </p:cNvSpPr>
            <p:nvPr/>
          </p:nvSpPr>
          <p:spPr bwMode="auto">
            <a:xfrm>
              <a:off x="2832" y="2400"/>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21" name="Rectangle 185"/>
            <p:cNvSpPr>
              <a:spLocks noChangeAspect="1" noChangeArrowheads="1"/>
            </p:cNvSpPr>
            <p:nvPr/>
          </p:nvSpPr>
          <p:spPr bwMode="auto">
            <a:xfrm>
              <a:off x="2417" y="1862"/>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22" name="Rectangle 186"/>
            <p:cNvSpPr>
              <a:spLocks noChangeAspect="1" noChangeArrowheads="1"/>
            </p:cNvSpPr>
            <p:nvPr/>
          </p:nvSpPr>
          <p:spPr bwMode="auto">
            <a:xfrm>
              <a:off x="2047" y="1344"/>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文本框 1"/>
          <p:cNvSpPr txBox="1"/>
          <p:nvPr/>
        </p:nvSpPr>
        <p:spPr>
          <a:xfrm>
            <a:off x="909924" y="6031296"/>
            <a:ext cx="9722277" cy="461665"/>
          </a:xfrm>
          <a:prstGeom prst="rect">
            <a:avLst/>
          </a:prstGeom>
          <a:noFill/>
        </p:spPr>
        <p:txBody>
          <a:bodyPr wrap="none" rtlCol="0">
            <a:spAutoFit/>
          </a:bodyPr>
          <a:lstStyle/>
          <a:p>
            <a:r>
              <a:rPr lang="zh-CN" altLang="en-US" sz="2400" dirty="0" smtClean="0">
                <a:solidFill>
                  <a:srgbClr val="0000FF"/>
                </a:solidFill>
                <a:latin typeface="微软雅黑" panose="020B0503020204020204" pitchFamily="34" charset="-122"/>
                <a:ea typeface="微软雅黑" panose="020B0503020204020204" pitchFamily="34" charset="-122"/>
              </a:rPr>
              <a:t>原因：在</a:t>
            </a:r>
            <a:r>
              <a:rPr lang="en-US" altLang="zh-CN" sz="2400" dirty="0" smtClean="0">
                <a:solidFill>
                  <a:srgbClr val="0000FF"/>
                </a:solidFill>
                <a:latin typeface="微软雅黑" panose="020B0503020204020204" pitchFamily="34" charset="-122"/>
                <a:ea typeface="微软雅黑" panose="020B0503020204020204" pitchFamily="34" charset="-122"/>
              </a:rPr>
              <a:t>EX</a:t>
            </a:r>
            <a:r>
              <a:rPr lang="zh-CN" altLang="en-US" sz="2400" dirty="0" smtClean="0">
                <a:solidFill>
                  <a:srgbClr val="0000FF"/>
                </a:solidFill>
                <a:latin typeface="微软雅黑" panose="020B0503020204020204" pitchFamily="34" charset="-122"/>
                <a:ea typeface="微软雅黑" panose="020B0503020204020204" pitchFamily="34" charset="-122"/>
              </a:rPr>
              <a:t>阶段比较转移条件，并计算分支地址；</a:t>
            </a:r>
            <a:r>
              <a:rPr lang="en-US" altLang="zh-CN" sz="2400" dirty="0" smtClean="0">
                <a:solidFill>
                  <a:srgbClr val="0000FF"/>
                </a:solidFill>
                <a:latin typeface="微软雅黑" panose="020B0503020204020204" pitchFamily="34" charset="-122"/>
                <a:ea typeface="微软雅黑" panose="020B0503020204020204" pitchFamily="34" charset="-122"/>
              </a:rPr>
              <a:t>MEM</a:t>
            </a:r>
            <a:r>
              <a:rPr lang="zh-CN" altLang="en-US" sz="2400" dirty="0" smtClean="0">
                <a:solidFill>
                  <a:srgbClr val="0000FF"/>
                </a:solidFill>
                <a:latin typeface="微软雅黑" panose="020B0503020204020204" pitchFamily="34" charset="-122"/>
                <a:ea typeface="微软雅黑" panose="020B0503020204020204" pitchFamily="34" charset="-122"/>
              </a:rPr>
              <a:t>阶段送回新</a:t>
            </a:r>
            <a:r>
              <a:rPr lang="en-US" altLang="zh-CN" sz="2400" dirty="0" smtClean="0">
                <a:solidFill>
                  <a:srgbClr val="0000FF"/>
                </a:solidFill>
                <a:latin typeface="微软雅黑" panose="020B0503020204020204" pitchFamily="34" charset="-122"/>
                <a:ea typeface="微软雅黑" panose="020B0503020204020204" pitchFamily="34" charset="-122"/>
              </a:rPr>
              <a:t>PC</a:t>
            </a:r>
            <a:endParaRPr lang="zh-CN" altLang="en-US" sz="2400"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45557357"/>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93" name="Rectangle 93"/>
          <p:cNvSpPr>
            <a:spLocks noChangeArrowheads="1"/>
          </p:cNvSpPr>
          <p:nvPr/>
        </p:nvSpPr>
        <p:spPr bwMode="auto">
          <a:xfrm>
            <a:off x="184944" y="6065663"/>
            <a:ext cx="7486650" cy="747713"/>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1" hangingPunct="1">
              <a:lnSpc>
                <a:spcPct val="90000"/>
              </a:lnSpc>
              <a:spcBef>
                <a:spcPct val="30000"/>
              </a:spcBef>
              <a:buFontTx/>
              <a:buChar char="•"/>
            </a:pPr>
            <a:r>
              <a:rPr lang="en-US" altLang="zh-CN" sz="2400" dirty="0">
                <a:latin typeface="Comic Sans MS" panose="030F0702030302020204" pitchFamily="66" charset="0"/>
              </a:rPr>
              <a:t>  Data stationary control</a:t>
            </a:r>
            <a:endParaRPr lang="en-US" altLang="zh-CN" sz="2000" dirty="0">
              <a:latin typeface="Comic Sans MS" panose="030F0702030302020204" pitchFamily="66" charset="0"/>
            </a:endParaRPr>
          </a:p>
          <a:p>
            <a:pPr lvl="1" eaLnBrk="1" hangingPunct="1">
              <a:lnSpc>
                <a:spcPct val="90000"/>
              </a:lnSpc>
              <a:spcBef>
                <a:spcPct val="30000"/>
              </a:spcBef>
              <a:buFontTx/>
              <a:buChar char="–"/>
            </a:pPr>
            <a:r>
              <a:rPr lang="en-US" altLang="zh-CN" dirty="0">
                <a:latin typeface="Comic Sans MS" panose="030F0702030302020204" pitchFamily="66" charset="0"/>
              </a:rPr>
              <a:t> local decode for each instruction phase / pipeline stage</a:t>
            </a:r>
          </a:p>
        </p:txBody>
      </p:sp>
      <p:sp>
        <p:nvSpPr>
          <p:cNvPr id="128002" name="Rectangle 2"/>
          <p:cNvSpPr>
            <a:spLocks noGrp="1" noChangeArrowheads="1"/>
          </p:cNvSpPr>
          <p:nvPr>
            <p:ph type="title"/>
          </p:nvPr>
        </p:nvSpPr>
        <p:spPr>
          <a:xfrm>
            <a:off x="1199457" y="303230"/>
            <a:ext cx="9339956" cy="1033463"/>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cmpd="sng">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r>
              <a:rPr lang="en-US" altLang="zh-CN" dirty="0"/>
              <a:t>5 Steps of </a:t>
            </a:r>
            <a:r>
              <a:rPr lang="en-US" altLang="zh-CN" dirty="0" smtClean="0"/>
              <a:t>Pipelined MIPS </a:t>
            </a:r>
            <a:r>
              <a:rPr lang="en-US" altLang="zh-CN" dirty="0" err="1"/>
              <a:t>Datapath</a:t>
            </a:r>
            <a:endParaRPr lang="en-US" altLang="zh-CN" sz="2400" dirty="0">
              <a:solidFill>
                <a:schemeClr val="tx1"/>
              </a:solidFill>
            </a:endParaRPr>
          </a:p>
        </p:txBody>
      </p:sp>
      <p:sp>
        <p:nvSpPr>
          <p:cNvPr id="128003" name="Line 3"/>
          <p:cNvSpPr>
            <a:spLocks noChangeShapeType="1"/>
          </p:cNvSpPr>
          <p:nvPr/>
        </p:nvSpPr>
        <p:spPr bwMode="auto">
          <a:xfrm>
            <a:off x="9169400" y="4509913"/>
            <a:ext cx="685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04" name="Rectangle 4"/>
          <p:cNvSpPr>
            <a:spLocks noChangeArrowheads="1"/>
          </p:cNvSpPr>
          <p:nvPr/>
        </p:nvSpPr>
        <p:spPr bwMode="auto">
          <a:xfrm>
            <a:off x="2155825" y="1379363"/>
            <a:ext cx="20638" cy="206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8005" name="Rectangle 5"/>
          <p:cNvSpPr>
            <a:spLocks noChangeArrowheads="1"/>
          </p:cNvSpPr>
          <p:nvPr/>
        </p:nvSpPr>
        <p:spPr bwMode="auto">
          <a:xfrm>
            <a:off x="2387601" y="1538113"/>
            <a:ext cx="7858125" cy="763588"/>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06" name="Rectangle 6"/>
          <p:cNvSpPr>
            <a:spLocks noChangeArrowheads="1"/>
          </p:cNvSpPr>
          <p:nvPr/>
        </p:nvSpPr>
        <p:spPr bwMode="auto">
          <a:xfrm>
            <a:off x="8299451" y="1533352"/>
            <a:ext cx="1046163" cy="638175"/>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a:latin typeface="Comic Sans MS" panose="030F0702030302020204" pitchFamily="66" charset="0"/>
              </a:rPr>
              <a:t>Memory</a:t>
            </a:r>
          </a:p>
          <a:p>
            <a:pPr algn="ctr" eaLnBrk="1" hangingPunct="1"/>
            <a:r>
              <a:rPr lang="en-US" altLang="zh-CN">
                <a:latin typeface="Comic Sans MS" panose="030F0702030302020204" pitchFamily="66" charset="0"/>
              </a:rPr>
              <a:t>Access</a:t>
            </a:r>
          </a:p>
        </p:txBody>
      </p:sp>
      <p:sp>
        <p:nvSpPr>
          <p:cNvPr id="128007" name="Rectangle 7"/>
          <p:cNvSpPr>
            <a:spLocks noChangeArrowheads="1"/>
          </p:cNvSpPr>
          <p:nvPr/>
        </p:nvSpPr>
        <p:spPr bwMode="auto">
          <a:xfrm>
            <a:off x="9550400" y="1538114"/>
            <a:ext cx="838200"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1" hangingPunct="1"/>
            <a:r>
              <a:rPr lang="en-US" altLang="zh-CN">
                <a:latin typeface="Comic Sans MS" panose="030F0702030302020204" pitchFamily="66" charset="0"/>
              </a:rPr>
              <a:t>Write</a:t>
            </a:r>
          </a:p>
          <a:p>
            <a:pPr algn="ctr" eaLnBrk="1" hangingPunct="1"/>
            <a:r>
              <a:rPr lang="en-US" altLang="zh-CN">
                <a:latin typeface="Comic Sans MS" panose="030F0702030302020204" pitchFamily="66" charset="0"/>
              </a:rPr>
              <a:t>Back</a:t>
            </a:r>
          </a:p>
        </p:txBody>
      </p:sp>
      <p:sp>
        <p:nvSpPr>
          <p:cNvPr id="128008" name="Rectangle 8"/>
          <p:cNvSpPr>
            <a:spLocks noChangeArrowheads="1"/>
          </p:cNvSpPr>
          <p:nvPr/>
        </p:nvSpPr>
        <p:spPr bwMode="auto">
          <a:xfrm>
            <a:off x="2668093" y="1533352"/>
            <a:ext cx="1415453" cy="643766"/>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a:latin typeface="Comic Sans MS" panose="030F0702030302020204" pitchFamily="66" charset="0"/>
              </a:rPr>
              <a:t>Instruction</a:t>
            </a:r>
          </a:p>
          <a:p>
            <a:pPr algn="ctr" eaLnBrk="1" hangingPunct="1"/>
            <a:r>
              <a:rPr lang="en-US" altLang="zh-CN">
                <a:latin typeface="Comic Sans MS" panose="030F0702030302020204" pitchFamily="66" charset="0"/>
              </a:rPr>
              <a:t>Fetch</a:t>
            </a:r>
          </a:p>
        </p:txBody>
      </p:sp>
      <p:sp>
        <p:nvSpPr>
          <p:cNvPr id="128009" name="Rectangle 9"/>
          <p:cNvSpPr>
            <a:spLocks noChangeArrowheads="1"/>
          </p:cNvSpPr>
          <p:nvPr/>
        </p:nvSpPr>
        <p:spPr bwMode="auto">
          <a:xfrm>
            <a:off x="4368800" y="1538114"/>
            <a:ext cx="1746250" cy="638175"/>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a:latin typeface="Comic Sans MS" panose="030F0702030302020204" pitchFamily="66" charset="0"/>
              </a:rPr>
              <a:t>Instr. Decode</a:t>
            </a:r>
          </a:p>
          <a:p>
            <a:pPr algn="ctr" eaLnBrk="1" hangingPunct="1"/>
            <a:r>
              <a:rPr lang="en-US" altLang="zh-CN">
                <a:latin typeface="Comic Sans MS" panose="030F0702030302020204" pitchFamily="66" charset="0"/>
              </a:rPr>
              <a:t>Reg. Fetch</a:t>
            </a:r>
          </a:p>
        </p:txBody>
      </p:sp>
      <p:sp>
        <p:nvSpPr>
          <p:cNvPr id="128010" name="Rectangle 10"/>
          <p:cNvSpPr>
            <a:spLocks noChangeArrowheads="1"/>
          </p:cNvSpPr>
          <p:nvPr/>
        </p:nvSpPr>
        <p:spPr bwMode="auto">
          <a:xfrm>
            <a:off x="6519863" y="1533352"/>
            <a:ext cx="1427162" cy="638175"/>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1" hangingPunct="1"/>
            <a:r>
              <a:rPr lang="en-US" altLang="zh-CN">
                <a:latin typeface="Comic Sans MS" panose="030F0702030302020204" pitchFamily="66" charset="0"/>
              </a:rPr>
              <a:t>Execute</a:t>
            </a:r>
          </a:p>
          <a:p>
            <a:pPr algn="ctr" eaLnBrk="1" hangingPunct="1"/>
            <a:r>
              <a:rPr lang="en-US" altLang="zh-CN">
                <a:latin typeface="Comic Sans MS" panose="030F0702030302020204" pitchFamily="66" charset="0"/>
              </a:rPr>
              <a:t>Addr. Calc</a:t>
            </a:r>
          </a:p>
        </p:txBody>
      </p:sp>
      <p:grpSp>
        <p:nvGrpSpPr>
          <p:cNvPr id="128011" name="Group 11"/>
          <p:cNvGrpSpPr>
            <a:grpSpLocks/>
          </p:cNvGrpSpPr>
          <p:nvPr/>
        </p:nvGrpSpPr>
        <p:grpSpPr bwMode="auto">
          <a:xfrm>
            <a:off x="7264401" y="3595514"/>
            <a:ext cx="449263" cy="1095375"/>
            <a:chOff x="3360" y="2112"/>
            <a:chExt cx="283" cy="816"/>
          </a:xfrm>
        </p:grpSpPr>
        <p:grpSp>
          <p:nvGrpSpPr>
            <p:cNvPr id="128012" name="Group 12"/>
            <p:cNvGrpSpPr>
              <a:grpSpLocks/>
            </p:cNvGrpSpPr>
            <p:nvPr/>
          </p:nvGrpSpPr>
          <p:grpSpPr bwMode="auto">
            <a:xfrm>
              <a:off x="3360" y="2112"/>
              <a:ext cx="283" cy="816"/>
              <a:chOff x="3360" y="2112"/>
              <a:chExt cx="283" cy="816"/>
            </a:xfrm>
          </p:grpSpPr>
          <p:sp>
            <p:nvSpPr>
              <p:cNvPr id="128013" name="AutoShape 13"/>
              <p:cNvSpPr>
                <a:spLocks noChangeAspect="1" noChangeArrowheads="1"/>
              </p:cNvSpPr>
              <p:nvPr/>
            </p:nvSpPr>
            <p:spPr bwMode="auto">
              <a:xfrm rot="-5400000">
                <a:off x="3101" y="2386"/>
                <a:ext cx="816" cy="26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28014" name="AutoShape 14"/>
              <p:cNvSpPr>
                <a:spLocks noChangeAspect="1" noChangeArrowheads="1"/>
              </p:cNvSpPr>
              <p:nvPr/>
            </p:nvSpPr>
            <p:spPr bwMode="auto">
              <a:xfrm rot="5400000">
                <a:off x="3301" y="2419"/>
                <a:ext cx="247" cy="129"/>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15" name="Text Box 15"/>
              <p:cNvSpPr txBox="1">
                <a:spLocks noChangeAspect="1" noChangeArrowheads="1"/>
              </p:cNvSpPr>
              <p:nvPr/>
            </p:nvSpPr>
            <p:spPr bwMode="auto">
              <a:xfrm rot="-16200000">
                <a:off x="3280" y="2416"/>
                <a:ext cx="480"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a:latin typeface="Comic Sans MS" panose="030F0702030302020204" pitchFamily="66" charset="0"/>
                  </a:rPr>
                  <a:t>ALU</a:t>
                </a:r>
                <a:endParaRPr lang="en-US" altLang="zh-CN" sz="1000">
                  <a:latin typeface="Comic Sans MS" panose="030F0702030302020204" pitchFamily="66" charset="0"/>
                </a:endParaRPr>
              </a:p>
            </p:txBody>
          </p:sp>
        </p:grpSp>
        <p:sp>
          <p:nvSpPr>
            <p:cNvPr id="128016" name="Freeform 16"/>
            <p:cNvSpPr>
              <a:spLocks noChangeAspect="1"/>
            </p:cNvSpPr>
            <p:nvPr/>
          </p:nvSpPr>
          <p:spPr bwMode="auto">
            <a:xfrm rot="5400000">
              <a:off x="3307" y="2425"/>
              <a:ext cx="245" cy="115"/>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8017" name="Rectangle 17"/>
          <p:cNvSpPr>
            <a:spLocks noChangeArrowheads="1"/>
          </p:cNvSpPr>
          <p:nvPr/>
        </p:nvSpPr>
        <p:spPr bwMode="auto">
          <a:xfrm>
            <a:off x="3073400" y="3595513"/>
            <a:ext cx="762000" cy="9144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Memory</a:t>
            </a:r>
          </a:p>
        </p:txBody>
      </p:sp>
      <p:sp>
        <p:nvSpPr>
          <p:cNvPr id="128018" name="Freeform 18"/>
          <p:cNvSpPr>
            <a:spLocks/>
          </p:cNvSpPr>
          <p:nvPr/>
        </p:nvSpPr>
        <p:spPr bwMode="auto">
          <a:xfrm>
            <a:off x="7739064" y="2873202"/>
            <a:ext cx="922337" cy="365125"/>
          </a:xfrm>
          <a:custGeom>
            <a:avLst/>
            <a:gdLst>
              <a:gd name="T0" fmla="*/ 0 w 576"/>
              <a:gd name="T1" fmla="*/ 240 h 240"/>
              <a:gd name="T2" fmla="*/ 576 w 576"/>
              <a:gd name="T3" fmla="*/ 240 h 240"/>
              <a:gd name="T4" fmla="*/ 576 w 576"/>
              <a:gd name="T5" fmla="*/ 0 h 240"/>
            </a:gdLst>
            <a:ahLst/>
            <a:cxnLst>
              <a:cxn ang="0">
                <a:pos x="T0" y="T1"/>
              </a:cxn>
              <a:cxn ang="0">
                <a:pos x="T2" y="T3"/>
              </a:cxn>
              <a:cxn ang="0">
                <a:pos x="T4" y="T5"/>
              </a:cxn>
            </a:cxnLst>
            <a:rect l="0" t="0" r="r" b="b"/>
            <a:pathLst>
              <a:path w="576" h="240">
                <a:moveTo>
                  <a:pt x="0" y="240"/>
                </a:moveTo>
                <a:lnTo>
                  <a:pt x="576" y="240"/>
                </a:lnTo>
                <a:lnTo>
                  <a:pt x="576"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19" name="Rectangle 19"/>
          <p:cNvSpPr>
            <a:spLocks noChangeArrowheads="1"/>
          </p:cNvSpPr>
          <p:nvPr/>
        </p:nvSpPr>
        <p:spPr bwMode="auto">
          <a:xfrm>
            <a:off x="5359400" y="3343102"/>
            <a:ext cx="590550" cy="1476375"/>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Reg File</a:t>
            </a:r>
          </a:p>
        </p:txBody>
      </p:sp>
      <p:sp>
        <p:nvSpPr>
          <p:cNvPr id="128020" name="Oval 20"/>
          <p:cNvSpPr>
            <a:spLocks noChangeArrowheads="1"/>
          </p:cNvSpPr>
          <p:nvPr/>
        </p:nvSpPr>
        <p:spPr bwMode="auto">
          <a:xfrm>
            <a:off x="6824663" y="3543126"/>
            <a:ext cx="209550" cy="55245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sz="1600">
                <a:latin typeface="Comic Sans MS" panose="030F0702030302020204" pitchFamily="66" charset="0"/>
              </a:rPr>
              <a:t>MUX</a:t>
            </a:r>
            <a:endParaRPr lang="en-US" altLang="zh-CN" b="0">
              <a:latin typeface="Comic Sans MS" panose="030F0702030302020204" pitchFamily="66" charset="0"/>
            </a:endParaRPr>
          </a:p>
        </p:txBody>
      </p:sp>
      <p:sp>
        <p:nvSpPr>
          <p:cNvPr id="128021" name="Oval 21"/>
          <p:cNvSpPr>
            <a:spLocks noChangeArrowheads="1"/>
          </p:cNvSpPr>
          <p:nvPr/>
        </p:nvSpPr>
        <p:spPr bwMode="auto">
          <a:xfrm>
            <a:off x="6824663" y="4152726"/>
            <a:ext cx="209550" cy="55245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sz="1600">
                <a:latin typeface="Comic Sans MS" panose="030F0702030302020204" pitchFamily="66" charset="0"/>
              </a:rPr>
              <a:t>MUX</a:t>
            </a:r>
            <a:endParaRPr lang="en-US" altLang="zh-CN" b="0">
              <a:latin typeface="Comic Sans MS" panose="030F0702030302020204" pitchFamily="66" charset="0"/>
            </a:endParaRPr>
          </a:p>
        </p:txBody>
      </p:sp>
      <p:sp>
        <p:nvSpPr>
          <p:cNvPr id="128022" name="Freeform 22"/>
          <p:cNvSpPr>
            <a:spLocks/>
          </p:cNvSpPr>
          <p:nvPr/>
        </p:nvSpPr>
        <p:spPr bwMode="auto">
          <a:xfrm>
            <a:off x="6502400" y="3238327"/>
            <a:ext cx="750888" cy="661987"/>
          </a:xfrm>
          <a:custGeom>
            <a:avLst/>
            <a:gdLst>
              <a:gd name="T0" fmla="*/ 0 w 336"/>
              <a:gd name="T1" fmla="*/ 480 h 480"/>
              <a:gd name="T2" fmla="*/ 0 w 336"/>
              <a:gd name="T3" fmla="*/ 0 h 480"/>
              <a:gd name="T4" fmla="*/ 336 w 336"/>
              <a:gd name="T5" fmla="*/ 0 h 480"/>
            </a:gdLst>
            <a:ahLst/>
            <a:cxnLst>
              <a:cxn ang="0">
                <a:pos x="T0" y="T1"/>
              </a:cxn>
              <a:cxn ang="0">
                <a:pos x="T2" y="T3"/>
              </a:cxn>
              <a:cxn ang="0">
                <a:pos x="T4" y="T5"/>
              </a:cxn>
            </a:cxnLst>
            <a:rect l="0" t="0" r="r" b="b"/>
            <a:pathLst>
              <a:path w="336" h="480">
                <a:moveTo>
                  <a:pt x="0" y="480"/>
                </a:moveTo>
                <a:lnTo>
                  <a:pt x="0" y="0"/>
                </a:lnTo>
                <a:lnTo>
                  <a:pt x="336"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23" name="Rectangle 23"/>
          <p:cNvSpPr>
            <a:spLocks noChangeArrowheads="1"/>
          </p:cNvSpPr>
          <p:nvPr/>
        </p:nvSpPr>
        <p:spPr bwMode="auto">
          <a:xfrm>
            <a:off x="8653463" y="3924126"/>
            <a:ext cx="533400" cy="11430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Data</a:t>
            </a:r>
          </a:p>
          <a:p>
            <a:pPr algn="ctr" eaLnBrk="1" hangingPunct="1">
              <a:lnSpc>
                <a:spcPct val="80000"/>
              </a:lnSpc>
            </a:pPr>
            <a:r>
              <a:rPr lang="en-US" altLang="zh-CN" b="0">
                <a:latin typeface="Comic Sans MS" panose="030F0702030302020204" pitchFamily="66" charset="0"/>
              </a:rPr>
              <a:t>Memory</a:t>
            </a:r>
          </a:p>
        </p:txBody>
      </p:sp>
      <p:sp>
        <p:nvSpPr>
          <p:cNvPr id="128024" name="Oval 24"/>
          <p:cNvSpPr>
            <a:spLocks noChangeArrowheads="1"/>
          </p:cNvSpPr>
          <p:nvPr/>
        </p:nvSpPr>
        <p:spPr bwMode="auto">
          <a:xfrm>
            <a:off x="9855200" y="4433713"/>
            <a:ext cx="209550" cy="55245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sz="1600">
                <a:latin typeface="Comic Sans MS" panose="030F0702030302020204" pitchFamily="66" charset="0"/>
              </a:rPr>
              <a:t>MUX</a:t>
            </a:r>
            <a:endParaRPr lang="en-US" altLang="zh-CN" b="0">
              <a:latin typeface="Comic Sans MS" panose="030F0702030302020204" pitchFamily="66" charset="0"/>
            </a:endParaRPr>
          </a:p>
        </p:txBody>
      </p:sp>
      <p:sp>
        <p:nvSpPr>
          <p:cNvPr id="128025" name="Oval 25"/>
          <p:cNvSpPr>
            <a:spLocks noChangeArrowheads="1"/>
          </p:cNvSpPr>
          <p:nvPr/>
        </p:nvSpPr>
        <p:spPr bwMode="auto">
          <a:xfrm>
            <a:off x="5359401" y="4903614"/>
            <a:ext cx="447675" cy="676275"/>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000">
                <a:latin typeface="Comic Sans MS" panose="030F0702030302020204" pitchFamily="66" charset="0"/>
              </a:rPr>
              <a:t>Sign</a:t>
            </a:r>
          </a:p>
          <a:p>
            <a:pPr algn="ctr" eaLnBrk="1" hangingPunct="1"/>
            <a:r>
              <a:rPr lang="en-US" altLang="zh-CN" sz="1000">
                <a:latin typeface="Comic Sans MS" panose="030F0702030302020204" pitchFamily="66" charset="0"/>
              </a:rPr>
              <a:t>Extend</a:t>
            </a:r>
            <a:endParaRPr lang="en-US" altLang="zh-CN" sz="1200">
              <a:latin typeface="Comic Sans MS" panose="030F0702030302020204" pitchFamily="66" charset="0"/>
            </a:endParaRPr>
          </a:p>
        </p:txBody>
      </p:sp>
      <p:sp>
        <p:nvSpPr>
          <p:cNvPr id="128026" name="Line 26"/>
          <p:cNvSpPr>
            <a:spLocks noChangeShapeType="1"/>
          </p:cNvSpPr>
          <p:nvPr/>
        </p:nvSpPr>
        <p:spPr bwMode="auto">
          <a:xfrm>
            <a:off x="4322763" y="1471438"/>
            <a:ext cx="0" cy="5334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27" name="Line 27"/>
          <p:cNvSpPr>
            <a:spLocks noChangeShapeType="1"/>
          </p:cNvSpPr>
          <p:nvPr/>
        </p:nvSpPr>
        <p:spPr bwMode="auto">
          <a:xfrm>
            <a:off x="6197600" y="1461913"/>
            <a:ext cx="0" cy="5334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28" name="Line 28"/>
          <p:cNvSpPr>
            <a:spLocks noChangeShapeType="1"/>
          </p:cNvSpPr>
          <p:nvPr/>
        </p:nvSpPr>
        <p:spPr bwMode="auto">
          <a:xfrm>
            <a:off x="7981950" y="1479376"/>
            <a:ext cx="0" cy="5334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29" name="Line 29"/>
          <p:cNvSpPr>
            <a:spLocks noChangeShapeType="1"/>
          </p:cNvSpPr>
          <p:nvPr/>
        </p:nvSpPr>
        <p:spPr bwMode="auto">
          <a:xfrm>
            <a:off x="9474200" y="1461913"/>
            <a:ext cx="0" cy="5334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30" name="Line 30"/>
          <p:cNvSpPr>
            <a:spLocks noChangeShapeType="1"/>
          </p:cNvSpPr>
          <p:nvPr/>
        </p:nvSpPr>
        <p:spPr bwMode="auto">
          <a:xfrm>
            <a:off x="3835400" y="4052713"/>
            <a:ext cx="304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31" name="Line 31"/>
          <p:cNvSpPr>
            <a:spLocks noChangeShapeType="1"/>
          </p:cNvSpPr>
          <p:nvPr/>
        </p:nvSpPr>
        <p:spPr bwMode="auto">
          <a:xfrm>
            <a:off x="4445000" y="4052713"/>
            <a:ext cx="228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32" name="Freeform 32"/>
          <p:cNvSpPr>
            <a:spLocks/>
          </p:cNvSpPr>
          <p:nvPr/>
        </p:nvSpPr>
        <p:spPr bwMode="auto">
          <a:xfrm>
            <a:off x="4673600" y="3514551"/>
            <a:ext cx="685800" cy="1757362"/>
          </a:xfrm>
          <a:custGeom>
            <a:avLst/>
            <a:gdLst>
              <a:gd name="T0" fmla="*/ 0 w 480"/>
              <a:gd name="T1" fmla="*/ 0 h 1056"/>
              <a:gd name="T2" fmla="*/ 0 w 480"/>
              <a:gd name="T3" fmla="*/ 1056 h 1056"/>
              <a:gd name="T4" fmla="*/ 480 w 480"/>
              <a:gd name="T5" fmla="*/ 1056 h 1056"/>
            </a:gdLst>
            <a:ahLst/>
            <a:cxnLst>
              <a:cxn ang="0">
                <a:pos x="T0" y="T1"/>
              </a:cxn>
              <a:cxn ang="0">
                <a:pos x="T2" y="T3"/>
              </a:cxn>
              <a:cxn ang="0">
                <a:pos x="T4" y="T5"/>
              </a:cxn>
            </a:cxnLst>
            <a:rect l="0" t="0" r="r" b="b"/>
            <a:pathLst>
              <a:path w="480" h="1056">
                <a:moveTo>
                  <a:pt x="0" y="0"/>
                </a:moveTo>
                <a:lnTo>
                  <a:pt x="0" y="1056"/>
                </a:lnTo>
                <a:lnTo>
                  <a:pt x="480" y="1056"/>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33" name="Line 33"/>
          <p:cNvSpPr>
            <a:spLocks noChangeShapeType="1"/>
          </p:cNvSpPr>
          <p:nvPr/>
        </p:nvSpPr>
        <p:spPr bwMode="auto">
          <a:xfrm>
            <a:off x="4673600" y="3519313"/>
            <a:ext cx="685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34" name="Line 34"/>
          <p:cNvSpPr>
            <a:spLocks noChangeShapeType="1"/>
          </p:cNvSpPr>
          <p:nvPr/>
        </p:nvSpPr>
        <p:spPr bwMode="auto">
          <a:xfrm>
            <a:off x="4673600" y="3824113"/>
            <a:ext cx="685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35" name="Line 35"/>
          <p:cNvSpPr>
            <a:spLocks noChangeShapeType="1"/>
          </p:cNvSpPr>
          <p:nvPr/>
        </p:nvSpPr>
        <p:spPr bwMode="auto">
          <a:xfrm>
            <a:off x="5969000" y="3900313"/>
            <a:ext cx="838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36" name="Rectangle 36"/>
          <p:cNvSpPr>
            <a:spLocks noChangeArrowheads="1"/>
          </p:cNvSpPr>
          <p:nvPr/>
        </p:nvSpPr>
        <p:spPr bwMode="auto">
          <a:xfrm>
            <a:off x="7264400" y="3062113"/>
            <a:ext cx="457200" cy="3810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200">
                <a:latin typeface="Comic Sans MS" panose="030F0702030302020204" pitchFamily="66" charset="0"/>
              </a:rPr>
              <a:t>Zero?</a:t>
            </a:r>
            <a:endParaRPr lang="en-US" altLang="zh-CN" b="0">
              <a:latin typeface="Comic Sans MS" panose="030F0702030302020204" pitchFamily="66" charset="0"/>
            </a:endParaRPr>
          </a:p>
        </p:txBody>
      </p:sp>
      <p:sp>
        <p:nvSpPr>
          <p:cNvPr id="128037" name="Line 37"/>
          <p:cNvSpPr>
            <a:spLocks noChangeShapeType="1"/>
          </p:cNvSpPr>
          <p:nvPr/>
        </p:nvSpPr>
        <p:spPr bwMode="auto">
          <a:xfrm>
            <a:off x="7035800" y="3824113"/>
            <a:ext cx="228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38" name="Line 38"/>
          <p:cNvSpPr>
            <a:spLocks noChangeShapeType="1"/>
          </p:cNvSpPr>
          <p:nvPr/>
        </p:nvSpPr>
        <p:spPr bwMode="auto">
          <a:xfrm>
            <a:off x="7035800" y="4433713"/>
            <a:ext cx="228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39" name="Freeform 39"/>
          <p:cNvSpPr>
            <a:spLocks/>
          </p:cNvSpPr>
          <p:nvPr/>
        </p:nvSpPr>
        <p:spPr bwMode="auto">
          <a:xfrm>
            <a:off x="2006600" y="2223914"/>
            <a:ext cx="7086600" cy="1812925"/>
          </a:xfrm>
          <a:custGeom>
            <a:avLst/>
            <a:gdLst>
              <a:gd name="T0" fmla="*/ 4224 w 4464"/>
              <a:gd name="T1" fmla="*/ 253 h 1142"/>
              <a:gd name="T2" fmla="*/ 4464 w 4464"/>
              <a:gd name="T3" fmla="*/ 253 h 1142"/>
              <a:gd name="T4" fmla="*/ 4464 w 4464"/>
              <a:gd name="T5" fmla="*/ 0 h 1142"/>
              <a:gd name="T6" fmla="*/ 0 w 4464"/>
              <a:gd name="T7" fmla="*/ 0 h 1142"/>
              <a:gd name="T8" fmla="*/ 2 w 4464"/>
              <a:gd name="T9" fmla="*/ 1142 h 1142"/>
              <a:gd name="T10" fmla="*/ 172 w 4464"/>
              <a:gd name="T11" fmla="*/ 1142 h 1142"/>
            </a:gdLst>
            <a:ahLst/>
            <a:cxnLst>
              <a:cxn ang="0">
                <a:pos x="T0" y="T1"/>
              </a:cxn>
              <a:cxn ang="0">
                <a:pos x="T2" y="T3"/>
              </a:cxn>
              <a:cxn ang="0">
                <a:pos x="T4" y="T5"/>
              </a:cxn>
              <a:cxn ang="0">
                <a:pos x="T6" y="T7"/>
              </a:cxn>
              <a:cxn ang="0">
                <a:pos x="T8" y="T9"/>
              </a:cxn>
              <a:cxn ang="0">
                <a:pos x="T10" y="T11"/>
              </a:cxn>
            </a:cxnLst>
            <a:rect l="0" t="0" r="r" b="b"/>
            <a:pathLst>
              <a:path w="4464" h="1142">
                <a:moveTo>
                  <a:pt x="4224" y="253"/>
                </a:moveTo>
                <a:lnTo>
                  <a:pt x="4464" y="253"/>
                </a:lnTo>
                <a:lnTo>
                  <a:pt x="4464" y="0"/>
                </a:lnTo>
                <a:lnTo>
                  <a:pt x="0" y="0"/>
                </a:lnTo>
                <a:lnTo>
                  <a:pt x="2" y="1142"/>
                </a:lnTo>
                <a:lnTo>
                  <a:pt x="172" y="1142"/>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40" name="Line 40"/>
          <p:cNvSpPr>
            <a:spLocks noChangeShapeType="1"/>
          </p:cNvSpPr>
          <p:nvPr/>
        </p:nvSpPr>
        <p:spPr bwMode="auto">
          <a:xfrm>
            <a:off x="7721600" y="4128913"/>
            <a:ext cx="9144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41" name="Freeform 41"/>
          <p:cNvSpPr>
            <a:spLocks/>
          </p:cNvSpPr>
          <p:nvPr/>
        </p:nvSpPr>
        <p:spPr bwMode="auto">
          <a:xfrm>
            <a:off x="8247063" y="2741438"/>
            <a:ext cx="304800" cy="1371600"/>
          </a:xfrm>
          <a:custGeom>
            <a:avLst/>
            <a:gdLst>
              <a:gd name="T0" fmla="*/ 0 w 192"/>
              <a:gd name="T1" fmla="*/ 960 h 960"/>
              <a:gd name="T2" fmla="*/ 0 w 192"/>
              <a:gd name="T3" fmla="*/ 0 h 960"/>
              <a:gd name="T4" fmla="*/ 192 w 192"/>
              <a:gd name="T5" fmla="*/ 0 h 960"/>
            </a:gdLst>
            <a:ahLst/>
            <a:cxnLst>
              <a:cxn ang="0">
                <a:pos x="T0" y="T1"/>
              </a:cxn>
              <a:cxn ang="0">
                <a:pos x="T2" y="T3"/>
              </a:cxn>
              <a:cxn ang="0">
                <a:pos x="T4" y="T5"/>
              </a:cxn>
            </a:cxnLst>
            <a:rect l="0" t="0" r="r" b="b"/>
            <a:pathLst>
              <a:path w="192" h="960">
                <a:moveTo>
                  <a:pt x="0" y="960"/>
                </a:moveTo>
                <a:lnTo>
                  <a:pt x="0" y="0"/>
                </a:lnTo>
                <a:lnTo>
                  <a:pt x="192"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42" name="Line 42"/>
          <p:cNvSpPr>
            <a:spLocks noChangeShapeType="1"/>
          </p:cNvSpPr>
          <p:nvPr/>
        </p:nvSpPr>
        <p:spPr bwMode="auto">
          <a:xfrm>
            <a:off x="5969000" y="4357513"/>
            <a:ext cx="838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43" name="Line 43"/>
          <p:cNvSpPr>
            <a:spLocks noChangeShapeType="1"/>
          </p:cNvSpPr>
          <p:nvPr/>
        </p:nvSpPr>
        <p:spPr bwMode="auto">
          <a:xfrm>
            <a:off x="2616200" y="4052713"/>
            <a:ext cx="457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44" name="Line 44"/>
          <p:cNvSpPr>
            <a:spLocks noChangeShapeType="1"/>
          </p:cNvSpPr>
          <p:nvPr/>
        </p:nvSpPr>
        <p:spPr bwMode="auto">
          <a:xfrm>
            <a:off x="3073400" y="3290713"/>
            <a:ext cx="228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45" name="Freeform 45"/>
          <p:cNvSpPr>
            <a:spLocks/>
          </p:cNvSpPr>
          <p:nvPr/>
        </p:nvSpPr>
        <p:spPr bwMode="auto">
          <a:xfrm>
            <a:off x="2768600" y="2681113"/>
            <a:ext cx="533400" cy="1371600"/>
          </a:xfrm>
          <a:custGeom>
            <a:avLst/>
            <a:gdLst>
              <a:gd name="T0" fmla="*/ 0 w 336"/>
              <a:gd name="T1" fmla="*/ 864 h 864"/>
              <a:gd name="T2" fmla="*/ 0 w 336"/>
              <a:gd name="T3" fmla="*/ 0 h 864"/>
              <a:gd name="T4" fmla="*/ 336 w 336"/>
              <a:gd name="T5" fmla="*/ 0 h 864"/>
            </a:gdLst>
            <a:ahLst/>
            <a:cxnLst>
              <a:cxn ang="0">
                <a:pos x="T0" y="T1"/>
              </a:cxn>
              <a:cxn ang="0">
                <a:pos x="T2" y="T3"/>
              </a:cxn>
              <a:cxn ang="0">
                <a:pos x="T4" y="T5"/>
              </a:cxn>
            </a:cxnLst>
            <a:rect l="0" t="0" r="r" b="b"/>
            <a:pathLst>
              <a:path w="336" h="864">
                <a:moveTo>
                  <a:pt x="0" y="864"/>
                </a:moveTo>
                <a:lnTo>
                  <a:pt x="0" y="0"/>
                </a:lnTo>
                <a:lnTo>
                  <a:pt x="336"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46" name="Freeform 46"/>
          <p:cNvSpPr>
            <a:spLocks/>
          </p:cNvSpPr>
          <p:nvPr/>
        </p:nvSpPr>
        <p:spPr bwMode="auto">
          <a:xfrm>
            <a:off x="8240714" y="4128913"/>
            <a:ext cx="1614487" cy="1143000"/>
          </a:xfrm>
          <a:custGeom>
            <a:avLst/>
            <a:gdLst>
              <a:gd name="T0" fmla="*/ 0 w 1008"/>
              <a:gd name="T1" fmla="*/ 0 h 720"/>
              <a:gd name="T2" fmla="*/ 0 w 1008"/>
              <a:gd name="T3" fmla="*/ 720 h 720"/>
              <a:gd name="T4" fmla="*/ 864 w 1008"/>
              <a:gd name="T5" fmla="*/ 720 h 720"/>
              <a:gd name="T6" fmla="*/ 864 w 1008"/>
              <a:gd name="T7" fmla="*/ 480 h 720"/>
              <a:gd name="T8" fmla="*/ 1008 w 1008"/>
              <a:gd name="T9" fmla="*/ 480 h 720"/>
            </a:gdLst>
            <a:ahLst/>
            <a:cxnLst>
              <a:cxn ang="0">
                <a:pos x="T0" y="T1"/>
              </a:cxn>
              <a:cxn ang="0">
                <a:pos x="T2" y="T3"/>
              </a:cxn>
              <a:cxn ang="0">
                <a:pos x="T4" y="T5"/>
              </a:cxn>
              <a:cxn ang="0">
                <a:pos x="T6" y="T7"/>
              </a:cxn>
              <a:cxn ang="0">
                <a:pos x="T8" y="T9"/>
              </a:cxn>
            </a:cxnLst>
            <a:rect l="0" t="0" r="r" b="b"/>
            <a:pathLst>
              <a:path w="1008" h="720">
                <a:moveTo>
                  <a:pt x="0" y="0"/>
                </a:moveTo>
                <a:lnTo>
                  <a:pt x="0" y="720"/>
                </a:lnTo>
                <a:lnTo>
                  <a:pt x="864" y="720"/>
                </a:lnTo>
                <a:lnTo>
                  <a:pt x="864" y="480"/>
                </a:lnTo>
                <a:lnTo>
                  <a:pt x="1008" y="48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47" name="Freeform 47"/>
          <p:cNvSpPr>
            <a:spLocks/>
          </p:cNvSpPr>
          <p:nvPr/>
        </p:nvSpPr>
        <p:spPr bwMode="auto">
          <a:xfrm>
            <a:off x="4978400" y="4433713"/>
            <a:ext cx="5334000" cy="1828800"/>
          </a:xfrm>
          <a:custGeom>
            <a:avLst/>
            <a:gdLst>
              <a:gd name="T0" fmla="*/ 3168 w 3312"/>
              <a:gd name="T1" fmla="*/ 96 h 768"/>
              <a:gd name="T2" fmla="*/ 3312 w 3312"/>
              <a:gd name="T3" fmla="*/ 96 h 768"/>
              <a:gd name="T4" fmla="*/ 3312 w 3312"/>
              <a:gd name="T5" fmla="*/ 768 h 768"/>
              <a:gd name="T6" fmla="*/ 0 w 3312"/>
              <a:gd name="T7" fmla="*/ 768 h 768"/>
              <a:gd name="T8" fmla="*/ 0 w 3312"/>
              <a:gd name="T9" fmla="*/ 0 h 768"/>
              <a:gd name="T10" fmla="*/ 240 w 3312"/>
              <a:gd name="T11" fmla="*/ 0 h 768"/>
            </a:gdLst>
            <a:ahLst/>
            <a:cxnLst>
              <a:cxn ang="0">
                <a:pos x="T0" y="T1"/>
              </a:cxn>
              <a:cxn ang="0">
                <a:pos x="T2" y="T3"/>
              </a:cxn>
              <a:cxn ang="0">
                <a:pos x="T4" y="T5"/>
              </a:cxn>
              <a:cxn ang="0">
                <a:pos x="T6" y="T7"/>
              </a:cxn>
              <a:cxn ang="0">
                <a:pos x="T8" y="T9"/>
              </a:cxn>
              <a:cxn ang="0">
                <a:pos x="T10" y="T11"/>
              </a:cxn>
            </a:cxnLst>
            <a:rect l="0" t="0" r="r" b="b"/>
            <a:pathLst>
              <a:path w="3312" h="768">
                <a:moveTo>
                  <a:pt x="3168" y="96"/>
                </a:moveTo>
                <a:lnTo>
                  <a:pt x="3312" y="96"/>
                </a:lnTo>
                <a:lnTo>
                  <a:pt x="3312" y="768"/>
                </a:lnTo>
                <a:lnTo>
                  <a:pt x="0" y="768"/>
                </a:lnTo>
                <a:lnTo>
                  <a:pt x="0" y="0"/>
                </a:lnTo>
                <a:lnTo>
                  <a:pt x="240"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48" name="Freeform 48"/>
          <p:cNvSpPr>
            <a:spLocks/>
          </p:cNvSpPr>
          <p:nvPr/>
        </p:nvSpPr>
        <p:spPr bwMode="auto">
          <a:xfrm>
            <a:off x="6502400" y="4357513"/>
            <a:ext cx="2133600" cy="533400"/>
          </a:xfrm>
          <a:custGeom>
            <a:avLst/>
            <a:gdLst>
              <a:gd name="T0" fmla="*/ 0 w 1344"/>
              <a:gd name="T1" fmla="*/ 0 h 336"/>
              <a:gd name="T2" fmla="*/ 0 w 1344"/>
              <a:gd name="T3" fmla="*/ 336 h 336"/>
              <a:gd name="T4" fmla="*/ 1344 w 1344"/>
              <a:gd name="T5" fmla="*/ 336 h 336"/>
            </a:gdLst>
            <a:ahLst/>
            <a:cxnLst>
              <a:cxn ang="0">
                <a:pos x="T0" y="T1"/>
              </a:cxn>
              <a:cxn ang="0">
                <a:pos x="T2" y="T3"/>
              </a:cxn>
              <a:cxn ang="0">
                <a:pos x="T4" y="T5"/>
              </a:cxn>
            </a:cxnLst>
            <a:rect l="0" t="0" r="r" b="b"/>
            <a:pathLst>
              <a:path w="1344" h="336">
                <a:moveTo>
                  <a:pt x="0" y="0"/>
                </a:moveTo>
                <a:lnTo>
                  <a:pt x="0" y="336"/>
                </a:lnTo>
                <a:lnTo>
                  <a:pt x="1344" y="336"/>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49" name="Freeform 49"/>
          <p:cNvSpPr>
            <a:spLocks/>
          </p:cNvSpPr>
          <p:nvPr/>
        </p:nvSpPr>
        <p:spPr bwMode="auto">
          <a:xfrm>
            <a:off x="4826000" y="4205113"/>
            <a:ext cx="5257800" cy="1828800"/>
          </a:xfrm>
          <a:custGeom>
            <a:avLst/>
            <a:gdLst>
              <a:gd name="T0" fmla="*/ 3024 w 3312"/>
              <a:gd name="T1" fmla="*/ 960 h 1200"/>
              <a:gd name="T2" fmla="*/ 3312 w 3312"/>
              <a:gd name="T3" fmla="*/ 960 h 1200"/>
              <a:gd name="T4" fmla="*/ 3312 w 3312"/>
              <a:gd name="T5" fmla="*/ 1200 h 1200"/>
              <a:gd name="T6" fmla="*/ 0 w 3312"/>
              <a:gd name="T7" fmla="*/ 1200 h 1200"/>
              <a:gd name="T8" fmla="*/ 0 w 3312"/>
              <a:gd name="T9" fmla="*/ 0 h 1200"/>
              <a:gd name="T10" fmla="*/ 336 w 3312"/>
              <a:gd name="T11" fmla="*/ 0 h 1200"/>
            </a:gdLst>
            <a:ahLst/>
            <a:cxnLst>
              <a:cxn ang="0">
                <a:pos x="T0" y="T1"/>
              </a:cxn>
              <a:cxn ang="0">
                <a:pos x="T2" y="T3"/>
              </a:cxn>
              <a:cxn ang="0">
                <a:pos x="T4" y="T5"/>
              </a:cxn>
              <a:cxn ang="0">
                <a:pos x="T6" y="T7"/>
              </a:cxn>
              <a:cxn ang="0">
                <a:pos x="T8" y="T9"/>
              </a:cxn>
              <a:cxn ang="0">
                <a:pos x="T10" y="T11"/>
              </a:cxn>
            </a:cxnLst>
            <a:rect l="0" t="0" r="r" b="b"/>
            <a:pathLst>
              <a:path w="3312" h="1200">
                <a:moveTo>
                  <a:pt x="3024" y="960"/>
                </a:moveTo>
                <a:lnTo>
                  <a:pt x="3312" y="960"/>
                </a:lnTo>
                <a:lnTo>
                  <a:pt x="3312" y="1200"/>
                </a:lnTo>
                <a:lnTo>
                  <a:pt x="0" y="1200"/>
                </a:lnTo>
                <a:lnTo>
                  <a:pt x="0" y="0"/>
                </a:lnTo>
                <a:lnTo>
                  <a:pt x="336"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8050" name="Group 50"/>
          <p:cNvGrpSpPr>
            <a:grpSpLocks/>
          </p:cNvGrpSpPr>
          <p:nvPr/>
        </p:nvGrpSpPr>
        <p:grpSpPr bwMode="auto">
          <a:xfrm>
            <a:off x="4140200" y="2300114"/>
            <a:ext cx="5487988" cy="3643313"/>
            <a:chOff x="1631" y="1405"/>
            <a:chExt cx="3457" cy="2295"/>
          </a:xfrm>
        </p:grpSpPr>
        <p:grpSp>
          <p:nvGrpSpPr>
            <p:cNvPr id="128051" name="Group 51"/>
            <p:cNvGrpSpPr>
              <a:grpSpLocks/>
            </p:cNvGrpSpPr>
            <p:nvPr/>
          </p:nvGrpSpPr>
          <p:grpSpPr bwMode="auto">
            <a:xfrm>
              <a:off x="1631" y="1405"/>
              <a:ext cx="192" cy="2295"/>
              <a:chOff x="1486" y="1488"/>
              <a:chExt cx="192" cy="2295"/>
            </a:xfrm>
          </p:grpSpPr>
          <p:sp>
            <p:nvSpPr>
              <p:cNvPr id="128052" name="Rectangle 52"/>
              <p:cNvSpPr>
                <a:spLocks noChangeArrowheads="1"/>
              </p:cNvSpPr>
              <p:nvPr/>
            </p:nvSpPr>
            <p:spPr bwMode="auto">
              <a:xfrm>
                <a:off x="1486" y="1488"/>
                <a:ext cx="192" cy="2295"/>
              </a:xfrm>
              <a:prstGeom prst="rect">
                <a:avLst/>
              </a:pr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a:latin typeface="Comic Sans MS" panose="030F0702030302020204" pitchFamily="66" charset="0"/>
                  </a:rPr>
                  <a:t>IF/ID</a:t>
                </a:r>
              </a:p>
            </p:txBody>
          </p:sp>
          <p:sp>
            <p:nvSpPr>
              <p:cNvPr id="128053" name="AutoShape 53"/>
              <p:cNvSpPr>
                <a:spLocks noChangeArrowheads="1"/>
              </p:cNvSpPr>
              <p:nvPr/>
            </p:nvSpPr>
            <p:spPr bwMode="auto">
              <a:xfrm>
                <a:off x="1486" y="3591"/>
                <a:ext cx="192" cy="192"/>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8054" name="Group 54"/>
            <p:cNvGrpSpPr>
              <a:grpSpLocks/>
            </p:cNvGrpSpPr>
            <p:nvPr/>
          </p:nvGrpSpPr>
          <p:grpSpPr bwMode="auto">
            <a:xfrm>
              <a:off x="2832" y="1405"/>
              <a:ext cx="193" cy="2295"/>
              <a:chOff x="2740" y="1436"/>
              <a:chExt cx="193" cy="2295"/>
            </a:xfrm>
          </p:grpSpPr>
          <p:sp>
            <p:nvSpPr>
              <p:cNvPr id="128055" name="Rectangle 55"/>
              <p:cNvSpPr>
                <a:spLocks noChangeArrowheads="1"/>
              </p:cNvSpPr>
              <p:nvPr/>
            </p:nvSpPr>
            <p:spPr bwMode="auto">
              <a:xfrm rot="-21600000">
                <a:off x="2741" y="1436"/>
                <a:ext cx="192" cy="2295"/>
              </a:xfrm>
              <a:prstGeom prst="rect">
                <a:avLst/>
              </a:pr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a:latin typeface="Comic Sans MS" panose="030F0702030302020204" pitchFamily="66" charset="0"/>
                  </a:rPr>
                  <a:t>ID/EX</a:t>
                </a:r>
              </a:p>
            </p:txBody>
          </p:sp>
          <p:sp>
            <p:nvSpPr>
              <p:cNvPr id="128056" name="AutoShape 56"/>
              <p:cNvSpPr>
                <a:spLocks noChangeArrowheads="1"/>
              </p:cNvSpPr>
              <p:nvPr/>
            </p:nvSpPr>
            <p:spPr bwMode="auto">
              <a:xfrm rot="-21600000">
                <a:off x="2740" y="3533"/>
                <a:ext cx="192" cy="192"/>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8057" name="Group 57"/>
            <p:cNvGrpSpPr>
              <a:grpSpLocks/>
            </p:cNvGrpSpPr>
            <p:nvPr/>
          </p:nvGrpSpPr>
          <p:grpSpPr bwMode="auto">
            <a:xfrm>
              <a:off x="4896" y="1405"/>
              <a:ext cx="192" cy="2295"/>
              <a:chOff x="4972" y="1431"/>
              <a:chExt cx="192" cy="2295"/>
            </a:xfrm>
          </p:grpSpPr>
          <p:sp>
            <p:nvSpPr>
              <p:cNvPr id="128058" name="Rectangle 58"/>
              <p:cNvSpPr>
                <a:spLocks noChangeArrowheads="1"/>
              </p:cNvSpPr>
              <p:nvPr/>
            </p:nvSpPr>
            <p:spPr bwMode="auto">
              <a:xfrm>
                <a:off x="4972" y="1431"/>
                <a:ext cx="192" cy="2295"/>
              </a:xfrm>
              <a:prstGeom prst="rect">
                <a:avLst/>
              </a:pr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a:latin typeface="Comic Sans MS" panose="030F0702030302020204" pitchFamily="66" charset="0"/>
                  </a:rPr>
                  <a:t>MEM/WB</a:t>
                </a:r>
              </a:p>
            </p:txBody>
          </p:sp>
          <p:sp>
            <p:nvSpPr>
              <p:cNvPr id="128059" name="AutoShape 59"/>
              <p:cNvSpPr>
                <a:spLocks noChangeArrowheads="1"/>
              </p:cNvSpPr>
              <p:nvPr/>
            </p:nvSpPr>
            <p:spPr bwMode="auto">
              <a:xfrm>
                <a:off x="4972" y="3534"/>
                <a:ext cx="192" cy="192"/>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28060" name="Group 60"/>
            <p:cNvGrpSpPr>
              <a:grpSpLocks/>
            </p:cNvGrpSpPr>
            <p:nvPr/>
          </p:nvGrpSpPr>
          <p:grpSpPr bwMode="auto">
            <a:xfrm>
              <a:off x="3966" y="1405"/>
              <a:ext cx="192" cy="2295"/>
              <a:chOff x="3920" y="1447"/>
              <a:chExt cx="192" cy="2295"/>
            </a:xfrm>
          </p:grpSpPr>
          <p:sp>
            <p:nvSpPr>
              <p:cNvPr id="128061" name="Rectangle 61"/>
              <p:cNvSpPr>
                <a:spLocks noChangeArrowheads="1"/>
              </p:cNvSpPr>
              <p:nvPr/>
            </p:nvSpPr>
            <p:spPr bwMode="auto">
              <a:xfrm rot="-21600000">
                <a:off x="3920" y="1447"/>
                <a:ext cx="192" cy="2295"/>
              </a:xfrm>
              <a:prstGeom prst="rect">
                <a:avLst/>
              </a:pr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a:latin typeface="Comic Sans MS" panose="030F0702030302020204" pitchFamily="66" charset="0"/>
                  </a:rPr>
                  <a:t>EX/MEM</a:t>
                </a:r>
              </a:p>
            </p:txBody>
          </p:sp>
          <p:sp>
            <p:nvSpPr>
              <p:cNvPr id="128062" name="AutoShape 62"/>
              <p:cNvSpPr>
                <a:spLocks noChangeArrowheads="1"/>
              </p:cNvSpPr>
              <p:nvPr/>
            </p:nvSpPr>
            <p:spPr bwMode="auto">
              <a:xfrm rot="-21600000">
                <a:off x="3920" y="3544"/>
                <a:ext cx="192" cy="192"/>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sp>
        <p:nvSpPr>
          <p:cNvPr id="128063" name="Line 63"/>
          <p:cNvSpPr>
            <a:spLocks noChangeShapeType="1"/>
          </p:cNvSpPr>
          <p:nvPr/>
        </p:nvSpPr>
        <p:spPr bwMode="auto">
          <a:xfrm>
            <a:off x="5816600" y="5271913"/>
            <a:ext cx="228600"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64" name="Freeform 64"/>
          <p:cNvSpPr>
            <a:spLocks/>
          </p:cNvSpPr>
          <p:nvPr/>
        </p:nvSpPr>
        <p:spPr bwMode="auto">
          <a:xfrm>
            <a:off x="6350000" y="4586113"/>
            <a:ext cx="457200" cy="685800"/>
          </a:xfrm>
          <a:custGeom>
            <a:avLst/>
            <a:gdLst>
              <a:gd name="T0" fmla="*/ 0 w 336"/>
              <a:gd name="T1" fmla="*/ 432 h 432"/>
              <a:gd name="T2" fmla="*/ 192 w 336"/>
              <a:gd name="T3" fmla="*/ 432 h 432"/>
              <a:gd name="T4" fmla="*/ 192 w 336"/>
              <a:gd name="T5" fmla="*/ 0 h 432"/>
              <a:gd name="T6" fmla="*/ 336 w 336"/>
              <a:gd name="T7" fmla="*/ 0 h 432"/>
            </a:gdLst>
            <a:ahLst/>
            <a:cxnLst>
              <a:cxn ang="0">
                <a:pos x="T0" y="T1"/>
              </a:cxn>
              <a:cxn ang="0">
                <a:pos x="T2" y="T3"/>
              </a:cxn>
              <a:cxn ang="0">
                <a:pos x="T4" y="T5"/>
              </a:cxn>
              <a:cxn ang="0">
                <a:pos x="T6" y="T7"/>
              </a:cxn>
            </a:cxnLst>
            <a:rect l="0" t="0" r="r" b="b"/>
            <a:pathLst>
              <a:path w="336" h="432">
                <a:moveTo>
                  <a:pt x="0" y="432"/>
                </a:moveTo>
                <a:lnTo>
                  <a:pt x="192" y="432"/>
                </a:lnTo>
                <a:lnTo>
                  <a:pt x="192" y="0"/>
                </a:lnTo>
                <a:lnTo>
                  <a:pt x="336"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65" name="Line 65"/>
          <p:cNvSpPr>
            <a:spLocks noChangeShapeType="1"/>
          </p:cNvSpPr>
          <p:nvPr/>
        </p:nvSpPr>
        <p:spPr bwMode="auto">
          <a:xfrm>
            <a:off x="4445000" y="2452513"/>
            <a:ext cx="1600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66" name="Freeform 66"/>
          <p:cNvSpPr>
            <a:spLocks/>
          </p:cNvSpPr>
          <p:nvPr/>
        </p:nvSpPr>
        <p:spPr bwMode="auto">
          <a:xfrm>
            <a:off x="4673600" y="5271913"/>
            <a:ext cx="1371600" cy="381000"/>
          </a:xfrm>
          <a:custGeom>
            <a:avLst/>
            <a:gdLst>
              <a:gd name="T0" fmla="*/ 0 w 864"/>
              <a:gd name="T1" fmla="*/ 0 h 288"/>
              <a:gd name="T2" fmla="*/ 0 w 864"/>
              <a:gd name="T3" fmla="*/ 288 h 288"/>
              <a:gd name="T4" fmla="*/ 864 w 864"/>
              <a:gd name="T5" fmla="*/ 288 h 288"/>
            </a:gdLst>
            <a:ahLst/>
            <a:cxnLst>
              <a:cxn ang="0">
                <a:pos x="T0" y="T1"/>
              </a:cxn>
              <a:cxn ang="0">
                <a:pos x="T2" y="T3"/>
              </a:cxn>
              <a:cxn ang="0">
                <a:pos x="T4" y="T5"/>
              </a:cxn>
            </a:cxnLst>
            <a:rect l="0" t="0" r="r" b="b"/>
            <a:pathLst>
              <a:path w="864" h="288">
                <a:moveTo>
                  <a:pt x="0" y="0"/>
                </a:moveTo>
                <a:lnTo>
                  <a:pt x="0" y="288"/>
                </a:lnTo>
                <a:lnTo>
                  <a:pt x="864" y="288"/>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67" name="Line 67"/>
          <p:cNvSpPr>
            <a:spLocks noChangeShapeType="1"/>
          </p:cNvSpPr>
          <p:nvPr/>
        </p:nvSpPr>
        <p:spPr bwMode="auto">
          <a:xfrm>
            <a:off x="6350000" y="5652913"/>
            <a:ext cx="1447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68" name="Line 68"/>
          <p:cNvSpPr>
            <a:spLocks noChangeShapeType="1"/>
          </p:cNvSpPr>
          <p:nvPr/>
        </p:nvSpPr>
        <p:spPr bwMode="auto">
          <a:xfrm>
            <a:off x="8178800" y="5652913"/>
            <a:ext cx="1143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69" name="Freeform 69"/>
          <p:cNvSpPr>
            <a:spLocks/>
          </p:cNvSpPr>
          <p:nvPr/>
        </p:nvSpPr>
        <p:spPr bwMode="auto">
          <a:xfrm>
            <a:off x="3683000" y="2452513"/>
            <a:ext cx="457200" cy="533400"/>
          </a:xfrm>
          <a:custGeom>
            <a:avLst/>
            <a:gdLst>
              <a:gd name="T0" fmla="*/ 0 w 240"/>
              <a:gd name="T1" fmla="*/ 336 h 336"/>
              <a:gd name="T2" fmla="*/ 144 w 240"/>
              <a:gd name="T3" fmla="*/ 336 h 336"/>
              <a:gd name="T4" fmla="*/ 144 w 240"/>
              <a:gd name="T5" fmla="*/ 0 h 336"/>
              <a:gd name="T6" fmla="*/ 240 w 240"/>
              <a:gd name="T7" fmla="*/ 0 h 336"/>
            </a:gdLst>
            <a:ahLst/>
            <a:cxnLst>
              <a:cxn ang="0">
                <a:pos x="T0" y="T1"/>
              </a:cxn>
              <a:cxn ang="0">
                <a:pos x="T2" y="T3"/>
              </a:cxn>
              <a:cxn ang="0">
                <a:pos x="T4" y="T5"/>
              </a:cxn>
              <a:cxn ang="0">
                <a:pos x="T6" y="T7"/>
              </a:cxn>
            </a:cxnLst>
            <a:rect l="0" t="0" r="r" b="b"/>
            <a:pathLst>
              <a:path w="240" h="336">
                <a:moveTo>
                  <a:pt x="0" y="336"/>
                </a:moveTo>
                <a:lnTo>
                  <a:pt x="144" y="336"/>
                </a:lnTo>
                <a:lnTo>
                  <a:pt x="144" y="0"/>
                </a:lnTo>
                <a:lnTo>
                  <a:pt x="240"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28070" name="Group 70"/>
          <p:cNvGrpSpPr>
            <a:grpSpLocks/>
          </p:cNvGrpSpPr>
          <p:nvPr/>
        </p:nvGrpSpPr>
        <p:grpSpPr bwMode="auto">
          <a:xfrm>
            <a:off x="2862263" y="2552526"/>
            <a:ext cx="914400" cy="990600"/>
            <a:chOff x="827" y="1455"/>
            <a:chExt cx="576" cy="624"/>
          </a:xfrm>
        </p:grpSpPr>
        <p:sp>
          <p:nvSpPr>
            <p:cNvPr id="128071" name="Text Box 71"/>
            <p:cNvSpPr txBox="1">
              <a:spLocks noChangeArrowheads="1"/>
            </p:cNvSpPr>
            <p:nvPr/>
          </p:nvSpPr>
          <p:spPr bwMode="auto">
            <a:xfrm>
              <a:off x="827" y="1791"/>
              <a:ext cx="192" cy="288"/>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r>
                <a:rPr lang="en-US" altLang="zh-CN" sz="2400">
                  <a:latin typeface="Comic Sans MS" panose="030F0702030302020204" pitchFamily="66" charset="0"/>
                </a:rPr>
                <a:t>4</a:t>
              </a:r>
            </a:p>
          </p:txBody>
        </p:sp>
        <p:sp>
          <p:nvSpPr>
            <p:cNvPr id="128072" name="AutoShape 72"/>
            <p:cNvSpPr>
              <a:spLocks noChangeAspect="1" noChangeArrowheads="1"/>
            </p:cNvSpPr>
            <p:nvPr/>
          </p:nvSpPr>
          <p:spPr bwMode="auto">
            <a:xfrm rot="-5400000">
              <a:off x="965" y="1592"/>
              <a:ext cx="576" cy="301"/>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28073" name="AutoShape 73"/>
            <p:cNvSpPr>
              <a:spLocks noChangeAspect="1" noChangeArrowheads="1"/>
            </p:cNvSpPr>
            <p:nvPr/>
          </p:nvSpPr>
          <p:spPr bwMode="auto">
            <a:xfrm rot="5400000">
              <a:off x="1071" y="1644"/>
              <a:ext cx="174" cy="145"/>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74" name="Text Box 74"/>
            <p:cNvSpPr txBox="1">
              <a:spLocks noChangeAspect="1" noChangeArrowheads="1"/>
            </p:cNvSpPr>
            <p:nvPr/>
          </p:nvSpPr>
          <p:spPr bwMode="auto">
            <a:xfrm rot="-16200000">
              <a:off x="1015" y="1643"/>
              <a:ext cx="494"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Adder</a:t>
              </a:r>
              <a:endParaRPr lang="en-US" altLang="zh-CN" sz="1000">
                <a:latin typeface="Comic Sans MS" panose="030F0702030302020204" pitchFamily="66" charset="0"/>
              </a:endParaRPr>
            </a:p>
          </p:txBody>
        </p:sp>
        <p:sp>
          <p:nvSpPr>
            <p:cNvPr id="128075" name="Freeform 75"/>
            <p:cNvSpPr>
              <a:spLocks noChangeAspect="1"/>
            </p:cNvSpPr>
            <p:nvPr/>
          </p:nvSpPr>
          <p:spPr bwMode="auto">
            <a:xfrm rot="5400000">
              <a:off x="1076" y="1652"/>
              <a:ext cx="173" cy="130"/>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8076" name="Line 76"/>
          <p:cNvSpPr>
            <a:spLocks noChangeShapeType="1"/>
          </p:cNvSpPr>
          <p:nvPr/>
        </p:nvSpPr>
        <p:spPr bwMode="auto">
          <a:xfrm>
            <a:off x="6350000" y="2452513"/>
            <a:ext cx="1447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77" name="Line 77"/>
          <p:cNvSpPr>
            <a:spLocks noChangeShapeType="1"/>
          </p:cNvSpPr>
          <p:nvPr/>
        </p:nvSpPr>
        <p:spPr bwMode="auto">
          <a:xfrm>
            <a:off x="8178800" y="2452513"/>
            <a:ext cx="381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78" name="Freeform 78"/>
          <p:cNvSpPr>
            <a:spLocks/>
          </p:cNvSpPr>
          <p:nvPr/>
        </p:nvSpPr>
        <p:spPr bwMode="auto">
          <a:xfrm>
            <a:off x="6578600" y="2452513"/>
            <a:ext cx="228600" cy="1219200"/>
          </a:xfrm>
          <a:custGeom>
            <a:avLst/>
            <a:gdLst>
              <a:gd name="T0" fmla="*/ 0 w 96"/>
              <a:gd name="T1" fmla="*/ 0 h 768"/>
              <a:gd name="T2" fmla="*/ 0 w 96"/>
              <a:gd name="T3" fmla="*/ 768 h 768"/>
              <a:gd name="T4" fmla="*/ 96 w 96"/>
              <a:gd name="T5" fmla="*/ 768 h 768"/>
            </a:gdLst>
            <a:ahLst/>
            <a:cxnLst>
              <a:cxn ang="0">
                <a:pos x="T0" y="T1"/>
              </a:cxn>
              <a:cxn ang="0">
                <a:pos x="T2" y="T3"/>
              </a:cxn>
              <a:cxn ang="0">
                <a:pos x="T4" y="T5"/>
              </a:cxn>
            </a:cxnLst>
            <a:rect l="0" t="0" r="r" b="b"/>
            <a:pathLst>
              <a:path w="96" h="768">
                <a:moveTo>
                  <a:pt x="0" y="0"/>
                </a:moveTo>
                <a:lnTo>
                  <a:pt x="0" y="768"/>
                </a:lnTo>
                <a:lnTo>
                  <a:pt x="96" y="768"/>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79" name="Text Box 79"/>
          <p:cNvSpPr txBox="1">
            <a:spLocks noChangeArrowheads="1"/>
          </p:cNvSpPr>
          <p:nvPr/>
        </p:nvSpPr>
        <p:spPr bwMode="auto">
          <a:xfrm>
            <a:off x="4475164" y="2406476"/>
            <a:ext cx="1304925"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400">
                <a:latin typeface="Comic Sans MS" panose="030F0702030302020204" pitchFamily="66" charset="0"/>
              </a:rPr>
              <a:t>Next SEQ PC</a:t>
            </a:r>
          </a:p>
        </p:txBody>
      </p:sp>
      <p:sp>
        <p:nvSpPr>
          <p:cNvPr id="128080" name="Oval 80"/>
          <p:cNvSpPr>
            <a:spLocks noChangeArrowheads="1"/>
          </p:cNvSpPr>
          <p:nvPr/>
        </p:nvSpPr>
        <p:spPr bwMode="auto">
          <a:xfrm>
            <a:off x="8202613" y="4090814"/>
            <a:ext cx="74612"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81" name="Oval 81"/>
          <p:cNvSpPr>
            <a:spLocks noChangeArrowheads="1"/>
          </p:cNvSpPr>
          <p:nvPr/>
        </p:nvSpPr>
        <p:spPr bwMode="auto">
          <a:xfrm>
            <a:off x="6464301" y="4324176"/>
            <a:ext cx="74613"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82" name="Oval 82"/>
          <p:cNvSpPr>
            <a:spLocks noChangeArrowheads="1"/>
          </p:cNvSpPr>
          <p:nvPr/>
        </p:nvSpPr>
        <p:spPr bwMode="auto">
          <a:xfrm>
            <a:off x="6459538" y="3857451"/>
            <a:ext cx="74612"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83" name="Oval 83"/>
          <p:cNvSpPr>
            <a:spLocks noChangeArrowheads="1"/>
          </p:cNvSpPr>
          <p:nvPr/>
        </p:nvSpPr>
        <p:spPr bwMode="auto">
          <a:xfrm>
            <a:off x="4630738" y="3781251"/>
            <a:ext cx="74612"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84" name="Oval 84"/>
          <p:cNvSpPr>
            <a:spLocks noChangeArrowheads="1"/>
          </p:cNvSpPr>
          <p:nvPr/>
        </p:nvSpPr>
        <p:spPr bwMode="auto">
          <a:xfrm>
            <a:off x="4649788" y="5214764"/>
            <a:ext cx="74612"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85" name="Oval 85"/>
          <p:cNvSpPr>
            <a:spLocks noChangeArrowheads="1"/>
          </p:cNvSpPr>
          <p:nvPr/>
        </p:nvSpPr>
        <p:spPr bwMode="auto">
          <a:xfrm>
            <a:off x="2720976" y="4009851"/>
            <a:ext cx="74613"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86" name="Oval 86"/>
          <p:cNvSpPr>
            <a:spLocks noChangeArrowheads="1"/>
          </p:cNvSpPr>
          <p:nvPr/>
        </p:nvSpPr>
        <p:spPr bwMode="auto">
          <a:xfrm>
            <a:off x="4630738" y="5233814"/>
            <a:ext cx="74612"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87" name="Oval 87"/>
          <p:cNvSpPr>
            <a:spLocks noChangeArrowheads="1"/>
          </p:cNvSpPr>
          <p:nvPr/>
        </p:nvSpPr>
        <p:spPr bwMode="auto">
          <a:xfrm>
            <a:off x="6542088" y="2416001"/>
            <a:ext cx="74612"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8088" name="Text Box 88"/>
          <p:cNvSpPr txBox="1">
            <a:spLocks noChangeArrowheads="1"/>
          </p:cNvSpPr>
          <p:nvPr/>
        </p:nvSpPr>
        <p:spPr bwMode="auto">
          <a:xfrm>
            <a:off x="6510339" y="2412826"/>
            <a:ext cx="1304925"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400">
                <a:latin typeface="Comic Sans MS" panose="030F0702030302020204" pitchFamily="66" charset="0"/>
              </a:rPr>
              <a:t>Next SEQ PC</a:t>
            </a:r>
          </a:p>
        </p:txBody>
      </p:sp>
      <p:sp>
        <p:nvSpPr>
          <p:cNvPr id="128089" name="Text Box 89"/>
          <p:cNvSpPr txBox="1">
            <a:spLocks noChangeArrowheads="1"/>
          </p:cNvSpPr>
          <p:nvPr/>
        </p:nvSpPr>
        <p:spPr bwMode="auto">
          <a:xfrm>
            <a:off x="5368925" y="5667202"/>
            <a:ext cx="388938"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200">
                <a:latin typeface="Comic Sans MS" panose="030F0702030302020204" pitchFamily="66" charset="0"/>
              </a:rPr>
              <a:t>RD</a:t>
            </a:r>
            <a:endParaRPr lang="en-US" altLang="zh-CN" sz="1400">
              <a:latin typeface="Comic Sans MS" panose="030F0702030302020204" pitchFamily="66" charset="0"/>
            </a:endParaRPr>
          </a:p>
        </p:txBody>
      </p:sp>
      <p:sp>
        <p:nvSpPr>
          <p:cNvPr id="128090" name="Text Box 90"/>
          <p:cNvSpPr txBox="1">
            <a:spLocks noChangeArrowheads="1"/>
          </p:cNvSpPr>
          <p:nvPr/>
        </p:nvSpPr>
        <p:spPr bwMode="auto">
          <a:xfrm>
            <a:off x="6788150" y="5667202"/>
            <a:ext cx="388938"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200">
                <a:latin typeface="Comic Sans MS" panose="030F0702030302020204" pitchFamily="66" charset="0"/>
              </a:rPr>
              <a:t>RD</a:t>
            </a:r>
            <a:endParaRPr lang="en-US" altLang="zh-CN" sz="1400">
              <a:latin typeface="Comic Sans MS" panose="030F0702030302020204" pitchFamily="66" charset="0"/>
            </a:endParaRPr>
          </a:p>
        </p:txBody>
      </p:sp>
      <p:sp>
        <p:nvSpPr>
          <p:cNvPr id="128091" name="Text Box 91"/>
          <p:cNvSpPr txBox="1">
            <a:spLocks noChangeArrowheads="1"/>
          </p:cNvSpPr>
          <p:nvPr/>
        </p:nvSpPr>
        <p:spPr bwMode="auto">
          <a:xfrm>
            <a:off x="8464550" y="5667202"/>
            <a:ext cx="388938"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200">
                <a:latin typeface="Comic Sans MS" panose="030F0702030302020204" pitchFamily="66" charset="0"/>
              </a:rPr>
              <a:t>RD</a:t>
            </a:r>
            <a:endParaRPr lang="en-US" altLang="zh-CN" sz="1400">
              <a:latin typeface="Comic Sans MS" panose="030F0702030302020204" pitchFamily="66" charset="0"/>
            </a:endParaRPr>
          </a:p>
        </p:txBody>
      </p:sp>
      <p:sp>
        <p:nvSpPr>
          <p:cNvPr id="128092" name="Text Box 92"/>
          <p:cNvSpPr txBox="1">
            <a:spLocks noChangeArrowheads="1"/>
          </p:cNvSpPr>
          <p:nvPr/>
        </p:nvSpPr>
        <p:spPr bwMode="auto">
          <a:xfrm rot="16200000">
            <a:off x="9980613" y="5251276"/>
            <a:ext cx="9271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400">
                <a:latin typeface="Comic Sans MS" panose="030F0702030302020204" pitchFamily="66" charset="0"/>
              </a:rPr>
              <a:t>WB Data</a:t>
            </a:r>
          </a:p>
        </p:txBody>
      </p:sp>
      <p:sp>
        <p:nvSpPr>
          <p:cNvPr id="128094" name="Text Box 94"/>
          <p:cNvSpPr txBox="1">
            <a:spLocks noChangeArrowheads="1"/>
          </p:cNvSpPr>
          <p:nvPr/>
        </p:nvSpPr>
        <p:spPr bwMode="auto">
          <a:xfrm>
            <a:off x="2133601" y="2233438"/>
            <a:ext cx="862013"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400">
                <a:latin typeface="Comic Sans MS" panose="030F0702030302020204" pitchFamily="66" charset="0"/>
              </a:rPr>
              <a:t>Next PC</a:t>
            </a:r>
          </a:p>
        </p:txBody>
      </p:sp>
      <p:grpSp>
        <p:nvGrpSpPr>
          <p:cNvPr id="128095" name="Group 95"/>
          <p:cNvGrpSpPr>
            <a:grpSpLocks/>
          </p:cNvGrpSpPr>
          <p:nvPr/>
        </p:nvGrpSpPr>
        <p:grpSpPr bwMode="auto">
          <a:xfrm>
            <a:off x="2298700" y="3443114"/>
            <a:ext cx="304800" cy="1228725"/>
            <a:chOff x="488" y="1914"/>
            <a:chExt cx="192" cy="774"/>
          </a:xfrm>
        </p:grpSpPr>
        <p:sp>
          <p:nvSpPr>
            <p:cNvPr id="128096" name="Rectangle 96"/>
            <p:cNvSpPr>
              <a:spLocks noChangeArrowheads="1"/>
            </p:cNvSpPr>
            <p:nvPr/>
          </p:nvSpPr>
          <p:spPr bwMode="auto">
            <a:xfrm>
              <a:off x="488" y="1914"/>
              <a:ext cx="192" cy="768"/>
            </a:xfrm>
            <a:prstGeom prst="rect">
              <a:avLst/>
            </a:pr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Address</a:t>
              </a:r>
            </a:p>
          </p:txBody>
        </p:sp>
        <p:sp>
          <p:nvSpPr>
            <p:cNvPr id="128097" name="AutoShape 97"/>
            <p:cNvSpPr>
              <a:spLocks noChangeArrowheads="1"/>
            </p:cNvSpPr>
            <p:nvPr/>
          </p:nvSpPr>
          <p:spPr bwMode="auto">
            <a:xfrm>
              <a:off x="496" y="2544"/>
              <a:ext cx="175" cy="144"/>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28098" name="Text Box 98"/>
          <p:cNvSpPr txBox="1">
            <a:spLocks noChangeArrowheads="1"/>
          </p:cNvSpPr>
          <p:nvPr/>
        </p:nvSpPr>
        <p:spPr bwMode="auto">
          <a:xfrm>
            <a:off x="4800600" y="3300239"/>
            <a:ext cx="407988"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RS1</a:t>
            </a:r>
            <a:endParaRPr lang="en-US" altLang="zh-CN" sz="1400">
              <a:latin typeface="Comic Sans MS" panose="030F0702030302020204" pitchFamily="66" charset="0"/>
            </a:endParaRPr>
          </a:p>
        </p:txBody>
      </p:sp>
      <p:sp>
        <p:nvSpPr>
          <p:cNvPr id="128099" name="Text Box 99"/>
          <p:cNvSpPr txBox="1">
            <a:spLocks noChangeArrowheads="1"/>
          </p:cNvSpPr>
          <p:nvPr/>
        </p:nvSpPr>
        <p:spPr bwMode="auto">
          <a:xfrm>
            <a:off x="4800601" y="3605039"/>
            <a:ext cx="428625"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RS2</a:t>
            </a:r>
            <a:endParaRPr lang="en-US" altLang="zh-CN" sz="1400">
              <a:latin typeface="Comic Sans MS" panose="030F0702030302020204" pitchFamily="66" charset="0"/>
            </a:endParaRPr>
          </a:p>
        </p:txBody>
      </p:sp>
      <p:sp>
        <p:nvSpPr>
          <p:cNvPr id="128100" name="Text Box 100"/>
          <p:cNvSpPr txBox="1">
            <a:spLocks noChangeArrowheads="1"/>
          </p:cNvSpPr>
          <p:nvPr/>
        </p:nvSpPr>
        <p:spPr bwMode="auto">
          <a:xfrm>
            <a:off x="4940300" y="5265564"/>
            <a:ext cx="450850"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Imm</a:t>
            </a:r>
            <a:endParaRPr lang="en-US" altLang="zh-CN" sz="1400">
              <a:latin typeface="Comic Sans MS" panose="030F0702030302020204" pitchFamily="66" charset="0"/>
            </a:endParaRPr>
          </a:p>
        </p:txBody>
      </p:sp>
      <p:sp>
        <p:nvSpPr>
          <p:cNvPr id="128101" name="Oval 101"/>
          <p:cNvSpPr>
            <a:spLocks noChangeArrowheads="1"/>
          </p:cNvSpPr>
          <p:nvPr/>
        </p:nvSpPr>
        <p:spPr bwMode="auto">
          <a:xfrm>
            <a:off x="8559800" y="2323926"/>
            <a:ext cx="209550" cy="552450"/>
          </a:xfrm>
          <a:prstGeom prst="ellipse">
            <a:avLst/>
          </a:prstGeom>
          <a:solidFill>
            <a:srgbClr val="07F707"/>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sz="1600">
                <a:latin typeface="Comic Sans MS" panose="030F0702030302020204" pitchFamily="66" charset="0"/>
              </a:rPr>
              <a:t>MUX</a:t>
            </a:r>
            <a:endParaRPr lang="en-US" altLang="zh-CN" b="0">
              <a:latin typeface="Comic Sans MS" panose="030F0702030302020204" pitchFamily="66" charset="0"/>
            </a:endParaRPr>
          </a:p>
        </p:txBody>
      </p:sp>
    </p:spTree>
    <p:extLst>
      <p:ext uri="{BB962C8B-B14F-4D97-AF65-F5344CB8AC3E}">
        <p14:creationId xmlns:p14="http://schemas.microsoft.com/office/powerpoint/2010/main" val="42938902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28093"/>
                                        </p:tgtEl>
                                        <p:attrNameLst>
                                          <p:attrName>style.visibility</p:attrName>
                                        </p:attrNameLst>
                                      </p:cBhvr>
                                      <p:to>
                                        <p:strVal val="visible"/>
                                      </p:to>
                                    </p:set>
                                    <p:anim calcmode="lin" valueType="num">
                                      <p:cBhvr additive="base">
                                        <p:cTn id="7" dur="500" fill="hold"/>
                                        <p:tgtEl>
                                          <p:spTgt spid="128093"/>
                                        </p:tgtEl>
                                        <p:attrNameLst>
                                          <p:attrName>ppt_x</p:attrName>
                                        </p:attrNameLst>
                                      </p:cBhvr>
                                      <p:tavLst>
                                        <p:tav tm="0">
                                          <p:val>
                                            <p:strVal val="1+#ppt_w/2"/>
                                          </p:val>
                                        </p:tav>
                                        <p:tav tm="100000">
                                          <p:val>
                                            <p:strVal val="#ppt_x"/>
                                          </p:val>
                                        </p:tav>
                                      </p:tavLst>
                                    </p:anim>
                                    <p:anim calcmode="lin" valueType="num">
                                      <p:cBhvr additive="base">
                                        <p:cTn id="8" dur="500" fill="hold"/>
                                        <p:tgtEl>
                                          <p:spTgt spid="12809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93"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Branch Stall Impact</a:t>
            </a:r>
          </a:p>
        </p:txBody>
      </p:sp>
      <p:sp>
        <p:nvSpPr>
          <p:cNvPr id="48131" name="Rectangle 3"/>
          <p:cNvSpPr>
            <a:spLocks noGrp="1" noChangeArrowheads="1"/>
          </p:cNvSpPr>
          <p:nvPr>
            <p:ph type="body" idx="1"/>
          </p:nvPr>
        </p:nvSpPr>
        <p:spPr>
          <a:xfrm>
            <a:off x="1127448" y="1916832"/>
            <a:ext cx="10009112" cy="4114800"/>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r>
              <a:rPr lang="en-US" altLang="zh-CN" dirty="0"/>
              <a:t>If CPI = 1, 30% branch, Stall 3 cycles =&gt; new CPI = 1.9!</a:t>
            </a:r>
          </a:p>
          <a:p>
            <a:r>
              <a:rPr lang="en-US" altLang="zh-CN" dirty="0"/>
              <a:t>Two part solution:</a:t>
            </a:r>
          </a:p>
          <a:p>
            <a:pPr lvl="1"/>
            <a:r>
              <a:rPr lang="en-US" altLang="zh-CN" dirty="0"/>
              <a:t>Determine branch taken or not sooner, AND</a:t>
            </a:r>
          </a:p>
          <a:p>
            <a:pPr lvl="1"/>
            <a:r>
              <a:rPr lang="en-US" altLang="zh-CN" dirty="0"/>
              <a:t>Compute taken branch address earlier</a:t>
            </a:r>
          </a:p>
          <a:p>
            <a:r>
              <a:rPr lang="en-US" altLang="zh-CN" dirty="0" smtClean="0"/>
              <a:t>Simple </a:t>
            </a:r>
            <a:r>
              <a:rPr lang="en-US" altLang="zh-CN" dirty="0"/>
              <a:t>branch </a:t>
            </a:r>
            <a:r>
              <a:rPr lang="en-US" altLang="zh-CN" dirty="0" smtClean="0"/>
              <a:t>test: </a:t>
            </a:r>
            <a:r>
              <a:rPr lang="en-US" altLang="zh-CN" dirty="0"/>
              <a:t>if register = 0 or </a:t>
            </a:r>
            <a:r>
              <a:rPr lang="en-US" altLang="zh-CN" dirty="0" smtClean="0"/>
              <a:t>not 0</a:t>
            </a:r>
            <a:endParaRPr lang="en-US" altLang="zh-CN" dirty="0"/>
          </a:p>
          <a:p>
            <a:r>
              <a:rPr lang="en-US" altLang="zh-CN" dirty="0" smtClean="0"/>
              <a:t>The Solution</a:t>
            </a:r>
            <a:r>
              <a:rPr lang="en-US" altLang="zh-CN" dirty="0"/>
              <a:t>:</a:t>
            </a:r>
          </a:p>
          <a:p>
            <a:pPr lvl="1"/>
            <a:r>
              <a:rPr lang="en-US" altLang="zh-CN" dirty="0"/>
              <a:t>Move Zero test to ID/RF stage</a:t>
            </a:r>
          </a:p>
          <a:p>
            <a:pPr lvl="1"/>
            <a:r>
              <a:rPr lang="en-US" altLang="zh-CN" dirty="0" smtClean="0"/>
              <a:t>Use another adder </a:t>
            </a:r>
            <a:r>
              <a:rPr lang="en-US" altLang="zh-CN" dirty="0"/>
              <a:t>to calculate new PC in ID/RF stage</a:t>
            </a:r>
          </a:p>
          <a:p>
            <a:pPr lvl="1"/>
            <a:r>
              <a:rPr lang="en-US" altLang="zh-CN" dirty="0"/>
              <a:t>1 clock cycle penalty for branch versus 3</a:t>
            </a:r>
          </a:p>
        </p:txBody>
      </p:sp>
    </p:spTree>
    <p:extLst>
      <p:ext uri="{BB962C8B-B14F-4D97-AF65-F5344CB8AC3E}">
        <p14:creationId xmlns:p14="http://schemas.microsoft.com/office/powerpoint/2010/main" val="313177774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8131">
                                            <p:txEl>
                                              <p:pRg st="1" end="1"/>
                                            </p:txEl>
                                          </p:spTgt>
                                        </p:tgtEl>
                                        <p:attrNameLst>
                                          <p:attrName>style.visibility</p:attrName>
                                        </p:attrNameLst>
                                      </p:cBhvr>
                                      <p:to>
                                        <p:strVal val="visible"/>
                                      </p:to>
                                    </p:set>
                                    <p:anim calcmode="lin" valueType="num">
                                      <p:cBhvr additive="base">
                                        <p:cTn id="13" dur="500" fill="hold"/>
                                        <p:tgtEl>
                                          <p:spTgt spid="4813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48131">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48131">
                                            <p:txEl>
                                              <p:pRg st="2" end="2"/>
                                            </p:txEl>
                                          </p:spTgt>
                                        </p:tgtEl>
                                        <p:attrNameLst>
                                          <p:attrName>style.visibility</p:attrName>
                                        </p:attrNameLst>
                                      </p:cBhvr>
                                      <p:to>
                                        <p:strVal val="visible"/>
                                      </p:to>
                                    </p:set>
                                    <p:anim calcmode="lin" valueType="num">
                                      <p:cBhvr additive="base">
                                        <p:cTn id="17" dur="500" fill="hold"/>
                                        <p:tgtEl>
                                          <p:spTgt spid="48131">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48131">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48131">
                                            <p:txEl>
                                              <p:pRg st="3" end="3"/>
                                            </p:txEl>
                                          </p:spTgt>
                                        </p:tgtEl>
                                        <p:attrNameLst>
                                          <p:attrName>style.visibility</p:attrName>
                                        </p:attrNameLst>
                                      </p:cBhvr>
                                      <p:to>
                                        <p:strVal val="visible"/>
                                      </p:to>
                                    </p:set>
                                    <p:anim calcmode="lin" valueType="num">
                                      <p:cBhvr additive="base">
                                        <p:cTn id="21" dur="500" fill="hold"/>
                                        <p:tgtEl>
                                          <p:spTgt spid="48131">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481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48131">
                                            <p:txEl>
                                              <p:pRg st="4" end="4"/>
                                            </p:txEl>
                                          </p:spTgt>
                                        </p:tgtEl>
                                        <p:attrNameLst>
                                          <p:attrName>style.visibility</p:attrName>
                                        </p:attrNameLst>
                                      </p:cBhvr>
                                      <p:to>
                                        <p:strVal val="visible"/>
                                      </p:to>
                                    </p:set>
                                    <p:anim calcmode="lin" valueType="num">
                                      <p:cBhvr additive="base">
                                        <p:cTn id="27" dur="500" fill="hold"/>
                                        <p:tgtEl>
                                          <p:spTgt spid="48131">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481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48131">
                                            <p:txEl>
                                              <p:pRg st="5" end="5"/>
                                            </p:txEl>
                                          </p:spTgt>
                                        </p:tgtEl>
                                        <p:attrNameLst>
                                          <p:attrName>style.visibility</p:attrName>
                                        </p:attrNameLst>
                                      </p:cBhvr>
                                      <p:to>
                                        <p:strVal val="visible"/>
                                      </p:to>
                                    </p:set>
                                    <p:anim calcmode="lin" valueType="num">
                                      <p:cBhvr additive="base">
                                        <p:cTn id="33" dur="500" fill="hold"/>
                                        <p:tgtEl>
                                          <p:spTgt spid="48131">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48131">
                                            <p:txEl>
                                              <p:pRg st="5" end="5"/>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48131">
                                            <p:txEl>
                                              <p:pRg st="6" end="6"/>
                                            </p:txEl>
                                          </p:spTgt>
                                        </p:tgtEl>
                                        <p:attrNameLst>
                                          <p:attrName>style.visibility</p:attrName>
                                        </p:attrNameLst>
                                      </p:cBhvr>
                                      <p:to>
                                        <p:strVal val="visible"/>
                                      </p:to>
                                    </p:set>
                                    <p:anim calcmode="lin" valueType="num">
                                      <p:cBhvr additive="base">
                                        <p:cTn id="37" dur="500" fill="hold"/>
                                        <p:tgtEl>
                                          <p:spTgt spid="48131">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48131">
                                            <p:txEl>
                                              <p:pRg st="6" end="6"/>
                                            </p:txEl>
                                          </p:spTgt>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48131">
                                            <p:txEl>
                                              <p:pRg st="7" end="7"/>
                                            </p:txEl>
                                          </p:spTgt>
                                        </p:tgtEl>
                                        <p:attrNameLst>
                                          <p:attrName>style.visibility</p:attrName>
                                        </p:attrNameLst>
                                      </p:cBhvr>
                                      <p:to>
                                        <p:strVal val="visible"/>
                                      </p:to>
                                    </p:set>
                                    <p:anim calcmode="lin" valueType="num">
                                      <p:cBhvr additive="base">
                                        <p:cTn id="41" dur="500" fill="hold"/>
                                        <p:tgtEl>
                                          <p:spTgt spid="48131">
                                            <p:txEl>
                                              <p:pRg st="7" end="7"/>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48131">
                                            <p:txEl>
                                              <p:pRg st="7" end="7"/>
                                            </p:txEl>
                                          </p:spTgt>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48131">
                                            <p:txEl>
                                              <p:pRg st="8" end="8"/>
                                            </p:txEl>
                                          </p:spTgt>
                                        </p:tgtEl>
                                        <p:attrNameLst>
                                          <p:attrName>style.visibility</p:attrName>
                                        </p:attrNameLst>
                                      </p:cBhvr>
                                      <p:to>
                                        <p:strVal val="visible"/>
                                      </p:to>
                                    </p:set>
                                    <p:anim calcmode="lin" valueType="num">
                                      <p:cBhvr additive="base">
                                        <p:cTn id="45" dur="500" fill="hold"/>
                                        <p:tgtEl>
                                          <p:spTgt spid="48131">
                                            <p:txEl>
                                              <p:pRg st="8" end="8"/>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4813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9" name="Rectangle 79"/>
          <p:cNvSpPr>
            <a:spLocks noChangeArrowheads="1"/>
          </p:cNvSpPr>
          <p:nvPr/>
        </p:nvSpPr>
        <p:spPr bwMode="auto">
          <a:xfrm>
            <a:off x="121518" y="6137672"/>
            <a:ext cx="7486650" cy="747713"/>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1" hangingPunct="1">
              <a:lnSpc>
                <a:spcPct val="90000"/>
              </a:lnSpc>
              <a:spcBef>
                <a:spcPct val="30000"/>
              </a:spcBef>
              <a:buFontTx/>
              <a:buChar char="•"/>
            </a:pPr>
            <a:r>
              <a:rPr lang="en-US" altLang="zh-CN" sz="2400" dirty="0">
                <a:latin typeface="Comic Sans MS" panose="030F0702030302020204" pitchFamily="66" charset="0"/>
              </a:rPr>
              <a:t>  Data stationary control</a:t>
            </a:r>
            <a:endParaRPr lang="en-US" altLang="zh-CN" sz="2000" dirty="0">
              <a:latin typeface="Comic Sans MS" panose="030F0702030302020204" pitchFamily="66" charset="0"/>
            </a:endParaRPr>
          </a:p>
          <a:p>
            <a:pPr lvl="1" eaLnBrk="1" hangingPunct="1">
              <a:lnSpc>
                <a:spcPct val="90000"/>
              </a:lnSpc>
              <a:spcBef>
                <a:spcPct val="30000"/>
              </a:spcBef>
              <a:buFontTx/>
              <a:buChar char="–"/>
            </a:pPr>
            <a:r>
              <a:rPr lang="en-US" altLang="zh-CN" dirty="0">
                <a:latin typeface="Comic Sans MS" panose="030F0702030302020204" pitchFamily="66" charset="0"/>
              </a:rPr>
              <a:t> local decode for each instruction phase / pipeline stage</a:t>
            </a:r>
          </a:p>
        </p:txBody>
      </p:sp>
      <p:sp>
        <p:nvSpPr>
          <p:cNvPr id="143362" name="AutoShape 2"/>
          <p:cNvSpPr>
            <a:spLocks noChangeAspect="1" noChangeArrowheads="1"/>
          </p:cNvSpPr>
          <p:nvPr/>
        </p:nvSpPr>
        <p:spPr bwMode="auto">
          <a:xfrm rot="16200000">
            <a:off x="4730751" y="2816127"/>
            <a:ext cx="771525" cy="434975"/>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3363" name="Text Box 3"/>
          <p:cNvSpPr txBox="1">
            <a:spLocks noChangeAspect="1" noChangeArrowheads="1"/>
          </p:cNvSpPr>
          <p:nvPr/>
        </p:nvSpPr>
        <p:spPr bwMode="auto">
          <a:xfrm rot="5400000">
            <a:off x="4732338" y="2871689"/>
            <a:ext cx="7842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Adder</a:t>
            </a:r>
            <a:endParaRPr lang="en-US" altLang="zh-CN" sz="1000">
              <a:latin typeface="Comic Sans MS" panose="030F0702030302020204" pitchFamily="66" charset="0"/>
            </a:endParaRPr>
          </a:p>
        </p:txBody>
      </p:sp>
      <p:sp>
        <p:nvSpPr>
          <p:cNvPr id="143364" name="Line 4"/>
          <p:cNvSpPr>
            <a:spLocks noChangeShapeType="1"/>
          </p:cNvSpPr>
          <p:nvPr/>
        </p:nvSpPr>
        <p:spPr bwMode="auto">
          <a:xfrm>
            <a:off x="3962400" y="2766914"/>
            <a:ext cx="914400" cy="0"/>
          </a:xfrm>
          <a:prstGeom prst="line">
            <a:avLst/>
          </a:prstGeom>
          <a:noFill/>
          <a:ln w="28575">
            <a:solidFill>
              <a:schemeClr va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nvGrpSpPr>
          <p:cNvPr id="143365" name="Group 5"/>
          <p:cNvGrpSpPr>
            <a:grpSpLocks/>
          </p:cNvGrpSpPr>
          <p:nvPr/>
        </p:nvGrpSpPr>
        <p:grpSpPr bwMode="auto">
          <a:xfrm>
            <a:off x="4140200" y="2647851"/>
            <a:ext cx="304800" cy="3328988"/>
            <a:chOff x="1486" y="1488"/>
            <a:chExt cx="192" cy="2295"/>
          </a:xfrm>
        </p:grpSpPr>
        <p:sp>
          <p:nvSpPr>
            <p:cNvPr id="143366" name="Rectangle 6"/>
            <p:cNvSpPr>
              <a:spLocks noChangeArrowheads="1"/>
            </p:cNvSpPr>
            <p:nvPr/>
          </p:nvSpPr>
          <p:spPr bwMode="auto">
            <a:xfrm>
              <a:off x="1486" y="1488"/>
              <a:ext cx="192" cy="2295"/>
            </a:xfrm>
            <a:prstGeom prst="rect">
              <a:avLst/>
            </a:pr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a:latin typeface="Comic Sans MS" panose="030F0702030302020204" pitchFamily="66" charset="0"/>
                </a:rPr>
                <a:t>IF/ID</a:t>
              </a:r>
            </a:p>
          </p:txBody>
        </p:sp>
        <p:sp>
          <p:nvSpPr>
            <p:cNvPr id="143367" name="AutoShape 7"/>
            <p:cNvSpPr>
              <a:spLocks noChangeArrowheads="1"/>
            </p:cNvSpPr>
            <p:nvPr/>
          </p:nvSpPr>
          <p:spPr bwMode="auto">
            <a:xfrm>
              <a:off x="1486" y="3591"/>
              <a:ext cx="192" cy="192"/>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368" name="Rectangle 8"/>
          <p:cNvSpPr>
            <a:spLocks noGrp="1" noChangeArrowheads="1"/>
          </p:cNvSpPr>
          <p:nvPr>
            <p:ph type="title"/>
          </p:nvPr>
        </p:nvSpPr>
        <p:spPr>
          <a:xfrm>
            <a:off x="1077790" y="514185"/>
            <a:ext cx="9458572" cy="633545"/>
          </a:xfrm>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cmpd="sng">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r>
              <a:rPr lang="en-US" altLang="zh-CN" dirty="0" smtClean="0"/>
              <a:t>MIPS Pipeline with one branch stall</a:t>
            </a:r>
            <a:endParaRPr lang="en-US" altLang="zh-CN" sz="2400" dirty="0">
              <a:solidFill>
                <a:schemeClr val="tx1"/>
              </a:solidFill>
            </a:endParaRPr>
          </a:p>
        </p:txBody>
      </p:sp>
      <p:sp>
        <p:nvSpPr>
          <p:cNvPr id="143369" name="Line 9"/>
          <p:cNvSpPr>
            <a:spLocks noChangeShapeType="1"/>
          </p:cNvSpPr>
          <p:nvPr/>
        </p:nvSpPr>
        <p:spPr bwMode="auto">
          <a:xfrm>
            <a:off x="9169400" y="4543326"/>
            <a:ext cx="685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70" name="Rectangle 10"/>
          <p:cNvSpPr>
            <a:spLocks noChangeArrowheads="1"/>
          </p:cNvSpPr>
          <p:nvPr/>
        </p:nvSpPr>
        <p:spPr bwMode="auto">
          <a:xfrm>
            <a:off x="2155825" y="1412776"/>
            <a:ext cx="20638" cy="206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43371" name="Rectangle 11"/>
          <p:cNvSpPr>
            <a:spLocks noChangeArrowheads="1"/>
          </p:cNvSpPr>
          <p:nvPr/>
        </p:nvSpPr>
        <p:spPr bwMode="auto">
          <a:xfrm>
            <a:off x="2362201" y="1581051"/>
            <a:ext cx="7858125" cy="763588"/>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72" name="Rectangle 12"/>
          <p:cNvSpPr>
            <a:spLocks noChangeArrowheads="1"/>
          </p:cNvSpPr>
          <p:nvPr/>
        </p:nvSpPr>
        <p:spPr bwMode="auto">
          <a:xfrm>
            <a:off x="8299451" y="1566765"/>
            <a:ext cx="1046163" cy="638175"/>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a:latin typeface="Comic Sans MS" panose="030F0702030302020204" pitchFamily="66" charset="0"/>
              </a:rPr>
              <a:t>Memory</a:t>
            </a:r>
          </a:p>
          <a:p>
            <a:pPr algn="ctr" eaLnBrk="1" hangingPunct="1"/>
            <a:r>
              <a:rPr lang="en-US" altLang="zh-CN">
                <a:latin typeface="Comic Sans MS" panose="030F0702030302020204" pitchFamily="66" charset="0"/>
              </a:rPr>
              <a:t>Access</a:t>
            </a:r>
          </a:p>
        </p:txBody>
      </p:sp>
      <p:sp>
        <p:nvSpPr>
          <p:cNvPr id="143373" name="Rectangle 13"/>
          <p:cNvSpPr>
            <a:spLocks noChangeArrowheads="1"/>
          </p:cNvSpPr>
          <p:nvPr/>
        </p:nvSpPr>
        <p:spPr bwMode="auto">
          <a:xfrm>
            <a:off x="9550400" y="1571527"/>
            <a:ext cx="838200" cy="6381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1" hangingPunct="1"/>
            <a:r>
              <a:rPr lang="en-US" altLang="zh-CN">
                <a:latin typeface="Comic Sans MS" panose="030F0702030302020204" pitchFamily="66" charset="0"/>
              </a:rPr>
              <a:t>Write</a:t>
            </a:r>
          </a:p>
          <a:p>
            <a:pPr algn="ctr" eaLnBrk="1" hangingPunct="1"/>
            <a:r>
              <a:rPr lang="en-US" altLang="zh-CN">
                <a:latin typeface="Comic Sans MS" panose="030F0702030302020204" pitchFamily="66" charset="0"/>
              </a:rPr>
              <a:t>Back</a:t>
            </a:r>
          </a:p>
        </p:txBody>
      </p:sp>
      <p:sp>
        <p:nvSpPr>
          <p:cNvPr id="143374" name="Rectangle 14"/>
          <p:cNvSpPr>
            <a:spLocks noChangeArrowheads="1"/>
          </p:cNvSpPr>
          <p:nvPr/>
        </p:nvSpPr>
        <p:spPr bwMode="auto">
          <a:xfrm>
            <a:off x="2668093" y="1566765"/>
            <a:ext cx="1415453" cy="643766"/>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a:latin typeface="Comic Sans MS" panose="030F0702030302020204" pitchFamily="66" charset="0"/>
              </a:rPr>
              <a:t>Instruction</a:t>
            </a:r>
          </a:p>
          <a:p>
            <a:pPr algn="ctr" eaLnBrk="1" hangingPunct="1"/>
            <a:r>
              <a:rPr lang="en-US" altLang="zh-CN">
                <a:latin typeface="Comic Sans MS" panose="030F0702030302020204" pitchFamily="66" charset="0"/>
              </a:rPr>
              <a:t>Fetch</a:t>
            </a:r>
          </a:p>
        </p:txBody>
      </p:sp>
      <p:sp>
        <p:nvSpPr>
          <p:cNvPr id="143375" name="Rectangle 15"/>
          <p:cNvSpPr>
            <a:spLocks noChangeArrowheads="1"/>
          </p:cNvSpPr>
          <p:nvPr/>
        </p:nvSpPr>
        <p:spPr bwMode="auto">
          <a:xfrm>
            <a:off x="4368800" y="1571527"/>
            <a:ext cx="1746250" cy="638175"/>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1" hangingPunct="1"/>
            <a:r>
              <a:rPr lang="en-US" altLang="zh-CN">
                <a:latin typeface="Comic Sans MS" panose="030F0702030302020204" pitchFamily="66" charset="0"/>
              </a:rPr>
              <a:t>Instr. Decode</a:t>
            </a:r>
          </a:p>
          <a:p>
            <a:pPr algn="ctr" eaLnBrk="1" hangingPunct="1"/>
            <a:r>
              <a:rPr lang="en-US" altLang="zh-CN">
                <a:latin typeface="Comic Sans MS" panose="030F0702030302020204" pitchFamily="66" charset="0"/>
              </a:rPr>
              <a:t>Reg. Fetch</a:t>
            </a:r>
          </a:p>
        </p:txBody>
      </p:sp>
      <p:sp>
        <p:nvSpPr>
          <p:cNvPr id="143376" name="Rectangle 16"/>
          <p:cNvSpPr>
            <a:spLocks noChangeArrowheads="1"/>
          </p:cNvSpPr>
          <p:nvPr/>
        </p:nvSpPr>
        <p:spPr bwMode="auto">
          <a:xfrm>
            <a:off x="6519863" y="1566765"/>
            <a:ext cx="1427162" cy="638175"/>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eaLnBrk="1" hangingPunct="1"/>
            <a:r>
              <a:rPr lang="en-US" altLang="zh-CN">
                <a:latin typeface="Comic Sans MS" panose="030F0702030302020204" pitchFamily="66" charset="0"/>
              </a:rPr>
              <a:t>Execute</a:t>
            </a:r>
          </a:p>
          <a:p>
            <a:pPr algn="ctr" eaLnBrk="1" hangingPunct="1"/>
            <a:r>
              <a:rPr lang="en-US" altLang="zh-CN">
                <a:latin typeface="Comic Sans MS" panose="030F0702030302020204" pitchFamily="66" charset="0"/>
              </a:rPr>
              <a:t>Addr. Calc</a:t>
            </a:r>
          </a:p>
        </p:txBody>
      </p:sp>
      <p:grpSp>
        <p:nvGrpSpPr>
          <p:cNvPr id="143377" name="Group 17"/>
          <p:cNvGrpSpPr>
            <a:grpSpLocks/>
          </p:cNvGrpSpPr>
          <p:nvPr/>
        </p:nvGrpSpPr>
        <p:grpSpPr bwMode="auto">
          <a:xfrm>
            <a:off x="7264401" y="3628927"/>
            <a:ext cx="449263" cy="1095375"/>
            <a:chOff x="3360" y="2112"/>
            <a:chExt cx="283" cy="816"/>
          </a:xfrm>
        </p:grpSpPr>
        <p:grpSp>
          <p:nvGrpSpPr>
            <p:cNvPr id="143378" name="Group 18"/>
            <p:cNvGrpSpPr>
              <a:grpSpLocks/>
            </p:cNvGrpSpPr>
            <p:nvPr/>
          </p:nvGrpSpPr>
          <p:grpSpPr bwMode="auto">
            <a:xfrm>
              <a:off x="3360" y="2112"/>
              <a:ext cx="283" cy="816"/>
              <a:chOff x="3360" y="2112"/>
              <a:chExt cx="283" cy="816"/>
            </a:xfrm>
          </p:grpSpPr>
          <p:sp>
            <p:nvSpPr>
              <p:cNvPr id="143379" name="AutoShape 19"/>
              <p:cNvSpPr>
                <a:spLocks noChangeAspect="1" noChangeArrowheads="1"/>
              </p:cNvSpPr>
              <p:nvPr/>
            </p:nvSpPr>
            <p:spPr bwMode="auto">
              <a:xfrm rot="-5400000">
                <a:off x="3101" y="2386"/>
                <a:ext cx="816" cy="26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3380" name="AutoShape 20"/>
              <p:cNvSpPr>
                <a:spLocks noChangeAspect="1" noChangeArrowheads="1"/>
              </p:cNvSpPr>
              <p:nvPr/>
            </p:nvSpPr>
            <p:spPr bwMode="auto">
              <a:xfrm rot="5400000">
                <a:off x="3301" y="2419"/>
                <a:ext cx="247" cy="129"/>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81" name="Text Box 21"/>
              <p:cNvSpPr txBox="1">
                <a:spLocks noChangeAspect="1" noChangeArrowheads="1"/>
              </p:cNvSpPr>
              <p:nvPr/>
            </p:nvSpPr>
            <p:spPr bwMode="auto">
              <a:xfrm rot="-16200000">
                <a:off x="3280" y="2416"/>
                <a:ext cx="480"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a:latin typeface="Comic Sans MS" panose="030F0702030302020204" pitchFamily="66" charset="0"/>
                  </a:rPr>
                  <a:t>ALU</a:t>
                </a:r>
                <a:endParaRPr lang="en-US" altLang="zh-CN" sz="1000">
                  <a:latin typeface="Comic Sans MS" panose="030F0702030302020204" pitchFamily="66" charset="0"/>
                </a:endParaRPr>
              </a:p>
            </p:txBody>
          </p:sp>
        </p:grpSp>
        <p:sp>
          <p:nvSpPr>
            <p:cNvPr id="143382" name="Freeform 22"/>
            <p:cNvSpPr>
              <a:spLocks noChangeAspect="1"/>
            </p:cNvSpPr>
            <p:nvPr/>
          </p:nvSpPr>
          <p:spPr bwMode="auto">
            <a:xfrm rot="5400000">
              <a:off x="3307" y="2425"/>
              <a:ext cx="245" cy="115"/>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383" name="Rectangle 23"/>
          <p:cNvSpPr>
            <a:spLocks noChangeArrowheads="1"/>
          </p:cNvSpPr>
          <p:nvPr/>
        </p:nvSpPr>
        <p:spPr bwMode="auto">
          <a:xfrm>
            <a:off x="3073400" y="3628926"/>
            <a:ext cx="762000" cy="9144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Memory</a:t>
            </a:r>
          </a:p>
        </p:txBody>
      </p:sp>
      <p:sp>
        <p:nvSpPr>
          <p:cNvPr id="143384" name="Rectangle 24"/>
          <p:cNvSpPr>
            <a:spLocks noChangeArrowheads="1"/>
          </p:cNvSpPr>
          <p:nvPr/>
        </p:nvSpPr>
        <p:spPr bwMode="auto">
          <a:xfrm>
            <a:off x="5359400" y="3486051"/>
            <a:ext cx="590550" cy="1366838"/>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Reg File</a:t>
            </a:r>
          </a:p>
        </p:txBody>
      </p:sp>
      <p:sp>
        <p:nvSpPr>
          <p:cNvPr id="143385" name="Oval 25"/>
          <p:cNvSpPr>
            <a:spLocks noChangeArrowheads="1"/>
          </p:cNvSpPr>
          <p:nvPr/>
        </p:nvSpPr>
        <p:spPr bwMode="auto">
          <a:xfrm>
            <a:off x="6824663" y="4186139"/>
            <a:ext cx="209550" cy="55245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sz="1600">
                <a:latin typeface="Comic Sans MS" panose="030F0702030302020204" pitchFamily="66" charset="0"/>
              </a:rPr>
              <a:t>MUX</a:t>
            </a:r>
            <a:endParaRPr lang="en-US" altLang="zh-CN" b="0">
              <a:latin typeface="Comic Sans MS" panose="030F0702030302020204" pitchFamily="66" charset="0"/>
            </a:endParaRPr>
          </a:p>
        </p:txBody>
      </p:sp>
      <p:sp>
        <p:nvSpPr>
          <p:cNvPr id="143386" name="Rectangle 26"/>
          <p:cNvSpPr>
            <a:spLocks noChangeArrowheads="1"/>
          </p:cNvSpPr>
          <p:nvPr/>
        </p:nvSpPr>
        <p:spPr bwMode="auto">
          <a:xfrm>
            <a:off x="8653463" y="3957539"/>
            <a:ext cx="533400" cy="114300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Data</a:t>
            </a:r>
          </a:p>
          <a:p>
            <a:pPr algn="ctr" eaLnBrk="1" hangingPunct="1">
              <a:lnSpc>
                <a:spcPct val="80000"/>
              </a:lnSpc>
            </a:pPr>
            <a:r>
              <a:rPr lang="en-US" altLang="zh-CN" b="0">
                <a:latin typeface="Comic Sans MS" panose="030F0702030302020204" pitchFamily="66" charset="0"/>
              </a:rPr>
              <a:t>Memory</a:t>
            </a:r>
          </a:p>
        </p:txBody>
      </p:sp>
      <p:sp>
        <p:nvSpPr>
          <p:cNvPr id="143387" name="Oval 27"/>
          <p:cNvSpPr>
            <a:spLocks noChangeArrowheads="1"/>
          </p:cNvSpPr>
          <p:nvPr/>
        </p:nvSpPr>
        <p:spPr bwMode="auto">
          <a:xfrm>
            <a:off x="9855200" y="4467126"/>
            <a:ext cx="209550" cy="552450"/>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sz="1600">
                <a:latin typeface="Comic Sans MS" panose="030F0702030302020204" pitchFamily="66" charset="0"/>
              </a:rPr>
              <a:t>MUX</a:t>
            </a:r>
            <a:endParaRPr lang="en-US" altLang="zh-CN" b="0">
              <a:latin typeface="Comic Sans MS" panose="030F0702030302020204" pitchFamily="66" charset="0"/>
            </a:endParaRPr>
          </a:p>
        </p:txBody>
      </p:sp>
      <p:sp>
        <p:nvSpPr>
          <p:cNvPr id="143388" name="Oval 28"/>
          <p:cNvSpPr>
            <a:spLocks noChangeArrowheads="1"/>
          </p:cNvSpPr>
          <p:nvPr/>
        </p:nvSpPr>
        <p:spPr bwMode="auto">
          <a:xfrm>
            <a:off x="5359401" y="4937027"/>
            <a:ext cx="447675" cy="676275"/>
          </a:xfrm>
          <a:prstGeom prst="ellipse">
            <a:avLst/>
          </a:prstGeom>
          <a:solidFill>
            <a:schemeClr val="accent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000">
                <a:latin typeface="Comic Sans MS" panose="030F0702030302020204" pitchFamily="66" charset="0"/>
              </a:rPr>
              <a:t>Sign</a:t>
            </a:r>
          </a:p>
          <a:p>
            <a:pPr algn="ctr" eaLnBrk="1" hangingPunct="1"/>
            <a:r>
              <a:rPr lang="en-US" altLang="zh-CN" sz="1000">
                <a:latin typeface="Comic Sans MS" panose="030F0702030302020204" pitchFamily="66" charset="0"/>
              </a:rPr>
              <a:t>Extend</a:t>
            </a:r>
            <a:endParaRPr lang="en-US" altLang="zh-CN" sz="1200">
              <a:latin typeface="Comic Sans MS" panose="030F0702030302020204" pitchFamily="66" charset="0"/>
            </a:endParaRPr>
          </a:p>
        </p:txBody>
      </p:sp>
      <p:sp>
        <p:nvSpPr>
          <p:cNvPr id="143389" name="Line 29"/>
          <p:cNvSpPr>
            <a:spLocks noChangeShapeType="1"/>
          </p:cNvSpPr>
          <p:nvPr/>
        </p:nvSpPr>
        <p:spPr bwMode="auto">
          <a:xfrm>
            <a:off x="4322763" y="1504851"/>
            <a:ext cx="0" cy="5334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90" name="Line 30"/>
          <p:cNvSpPr>
            <a:spLocks noChangeShapeType="1"/>
          </p:cNvSpPr>
          <p:nvPr/>
        </p:nvSpPr>
        <p:spPr bwMode="auto">
          <a:xfrm>
            <a:off x="6197600" y="1495326"/>
            <a:ext cx="0" cy="5334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91" name="Line 31"/>
          <p:cNvSpPr>
            <a:spLocks noChangeShapeType="1"/>
          </p:cNvSpPr>
          <p:nvPr/>
        </p:nvSpPr>
        <p:spPr bwMode="auto">
          <a:xfrm>
            <a:off x="7981950" y="1512789"/>
            <a:ext cx="0" cy="5334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92" name="Line 32"/>
          <p:cNvSpPr>
            <a:spLocks noChangeShapeType="1"/>
          </p:cNvSpPr>
          <p:nvPr/>
        </p:nvSpPr>
        <p:spPr bwMode="auto">
          <a:xfrm>
            <a:off x="9474200" y="1495326"/>
            <a:ext cx="0" cy="53340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93" name="Line 33"/>
          <p:cNvSpPr>
            <a:spLocks noChangeShapeType="1"/>
          </p:cNvSpPr>
          <p:nvPr/>
        </p:nvSpPr>
        <p:spPr bwMode="auto">
          <a:xfrm>
            <a:off x="3835400" y="4086126"/>
            <a:ext cx="304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94" name="Line 34"/>
          <p:cNvSpPr>
            <a:spLocks noChangeShapeType="1"/>
          </p:cNvSpPr>
          <p:nvPr/>
        </p:nvSpPr>
        <p:spPr bwMode="auto">
          <a:xfrm>
            <a:off x="4445000" y="4086126"/>
            <a:ext cx="228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95" name="Freeform 35"/>
          <p:cNvSpPr>
            <a:spLocks/>
          </p:cNvSpPr>
          <p:nvPr/>
        </p:nvSpPr>
        <p:spPr bwMode="auto">
          <a:xfrm>
            <a:off x="4673600" y="3547964"/>
            <a:ext cx="685800" cy="1757362"/>
          </a:xfrm>
          <a:custGeom>
            <a:avLst/>
            <a:gdLst>
              <a:gd name="T0" fmla="*/ 0 w 480"/>
              <a:gd name="T1" fmla="*/ 0 h 1056"/>
              <a:gd name="T2" fmla="*/ 0 w 480"/>
              <a:gd name="T3" fmla="*/ 1056 h 1056"/>
              <a:gd name="T4" fmla="*/ 480 w 480"/>
              <a:gd name="T5" fmla="*/ 1056 h 1056"/>
            </a:gdLst>
            <a:ahLst/>
            <a:cxnLst>
              <a:cxn ang="0">
                <a:pos x="T0" y="T1"/>
              </a:cxn>
              <a:cxn ang="0">
                <a:pos x="T2" y="T3"/>
              </a:cxn>
              <a:cxn ang="0">
                <a:pos x="T4" y="T5"/>
              </a:cxn>
            </a:cxnLst>
            <a:rect l="0" t="0" r="r" b="b"/>
            <a:pathLst>
              <a:path w="480" h="1056">
                <a:moveTo>
                  <a:pt x="0" y="0"/>
                </a:moveTo>
                <a:lnTo>
                  <a:pt x="0" y="1056"/>
                </a:lnTo>
                <a:lnTo>
                  <a:pt x="480" y="1056"/>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96" name="Line 36"/>
          <p:cNvSpPr>
            <a:spLocks noChangeShapeType="1"/>
          </p:cNvSpPr>
          <p:nvPr/>
        </p:nvSpPr>
        <p:spPr bwMode="auto">
          <a:xfrm>
            <a:off x="4673600" y="3857526"/>
            <a:ext cx="685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97" name="Line 37"/>
          <p:cNvSpPr>
            <a:spLocks noChangeShapeType="1"/>
          </p:cNvSpPr>
          <p:nvPr/>
        </p:nvSpPr>
        <p:spPr bwMode="auto">
          <a:xfrm>
            <a:off x="5943600" y="3790851"/>
            <a:ext cx="1371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398" name="Rectangle 38"/>
          <p:cNvSpPr>
            <a:spLocks noChangeArrowheads="1"/>
          </p:cNvSpPr>
          <p:nvPr/>
        </p:nvSpPr>
        <p:spPr bwMode="auto">
          <a:xfrm>
            <a:off x="5562600" y="3028851"/>
            <a:ext cx="381000" cy="304800"/>
          </a:xfrm>
          <a:prstGeom prst="rect">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zh-CN" sz="1200">
                <a:latin typeface="Comic Sans MS" panose="030F0702030302020204" pitchFamily="66" charset="0"/>
              </a:rPr>
              <a:t>Zero?</a:t>
            </a:r>
            <a:endParaRPr lang="en-US" altLang="zh-CN" b="0">
              <a:latin typeface="Comic Sans MS" panose="030F0702030302020204" pitchFamily="66" charset="0"/>
            </a:endParaRPr>
          </a:p>
        </p:txBody>
      </p:sp>
      <p:sp>
        <p:nvSpPr>
          <p:cNvPr id="143399" name="Line 39"/>
          <p:cNvSpPr>
            <a:spLocks noChangeShapeType="1"/>
          </p:cNvSpPr>
          <p:nvPr/>
        </p:nvSpPr>
        <p:spPr bwMode="auto">
          <a:xfrm>
            <a:off x="7035800" y="4467126"/>
            <a:ext cx="228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0" name="Freeform 40"/>
          <p:cNvSpPr>
            <a:spLocks/>
          </p:cNvSpPr>
          <p:nvPr/>
        </p:nvSpPr>
        <p:spPr bwMode="auto">
          <a:xfrm>
            <a:off x="2006600" y="2257327"/>
            <a:ext cx="3937000" cy="1812925"/>
          </a:xfrm>
          <a:custGeom>
            <a:avLst/>
            <a:gdLst>
              <a:gd name="T0" fmla="*/ 2234 w 2480"/>
              <a:gd name="T1" fmla="*/ 288 h 1142"/>
              <a:gd name="T2" fmla="*/ 2480 w 2480"/>
              <a:gd name="T3" fmla="*/ 288 h 1142"/>
              <a:gd name="T4" fmla="*/ 2480 w 2480"/>
              <a:gd name="T5" fmla="*/ 0 h 1142"/>
              <a:gd name="T6" fmla="*/ 0 w 2480"/>
              <a:gd name="T7" fmla="*/ 4 h 1142"/>
              <a:gd name="T8" fmla="*/ 2 w 2480"/>
              <a:gd name="T9" fmla="*/ 1142 h 1142"/>
              <a:gd name="T10" fmla="*/ 171 w 2480"/>
              <a:gd name="T11" fmla="*/ 1142 h 1142"/>
            </a:gdLst>
            <a:ahLst/>
            <a:cxnLst>
              <a:cxn ang="0">
                <a:pos x="T0" y="T1"/>
              </a:cxn>
              <a:cxn ang="0">
                <a:pos x="T2" y="T3"/>
              </a:cxn>
              <a:cxn ang="0">
                <a:pos x="T4" y="T5"/>
              </a:cxn>
              <a:cxn ang="0">
                <a:pos x="T6" y="T7"/>
              </a:cxn>
              <a:cxn ang="0">
                <a:pos x="T8" y="T9"/>
              </a:cxn>
              <a:cxn ang="0">
                <a:pos x="T10" y="T11"/>
              </a:cxn>
            </a:cxnLst>
            <a:rect l="0" t="0" r="r" b="b"/>
            <a:pathLst>
              <a:path w="2480" h="1142">
                <a:moveTo>
                  <a:pt x="2234" y="288"/>
                </a:moveTo>
                <a:lnTo>
                  <a:pt x="2480" y="288"/>
                </a:lnTo>
                <a:lnTo>
                  <a:pt x="2480" y="0"/>
                </a:lnTo>
                <a:lnTo>
                  <a:pt x="0" y="4"/>
                </a:lnTo>
                <a:lnTo>
                  <a:pt x="2" y="1142"/>
                </a:lnTo>
                <a:lnTo>
                  <a:pt x="171" y="1142"/>
                </a:ln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1" name="Line 41"/>
          <p:cNvSpPr>
            <a:spLocks noChangeShapeType="1"/>
          </p:cNvSpPr>
          <p:nvPr/>
        </p:nvSpPr>
        <p:spPr bwMode="auto">
          <a:xfrm>
            <a:off x="7721600" y="4162326"/>
            <a:ext cx="9144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2" name="Line 42"/>
          <p:cNvSpPr>
            <a:spLocks noChangeShapeType="1"/>
          </p:cNvSpPr>
          <p:nvPr/>
        </p:nvSpPr>
        <p:spPr bwMode="auto">
          <a:xfrm>
            <a:off x="5969000" y="4390926"/>
            <a:ext cx="838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3" name="Line 43"/>
          <p:cNvSpPr>
            <a:spLocks noChangeShapeType="1"/>
          </p:cNvSpPr>
          <p:nvPr/>
        </p:nvSpPr>
        <p:spPr bwMode="auto">
          <a:xfrm>
            <a:off x="2616200" y="4086126"/>
            <a:ext cx="4572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4" name="Line 44"/>
          <p:cNvSpPr>
            <a:spLocks noChangeShapeType="1"/>
          </p:cNvSpPr>
          <p:nvPr/>
        </p:nvSpPr>
        <p:spPr bwMode="auto">
          <a:xfrm>
            <a:off x="3073400" y="3324126"/>
            <a:ext cx="2286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5" name="Freeform 45"/>
          <p:cNvSpPr>
            <a:spLocks/>
          </p:cNvSpPr>
          <p:nvPr/>
        </p:nvSpPr>
        <p:spPr bwMode="auto">
          <a:xfrm>
            <a:off x="2768600" y="2714526"/>
            <a:ext cx="533400" cy="1371600"/>
          </a:xfrm>
          <a:custGeom>
            <a:avLst/>
            <a:gdLst>
              <a:gd name="T0" fmla="*/ 0 w 336"/>
              <a:gd name="T1" fmla="*/ 864 h 864"/>
              <a:gd name="T2" fmla="*/ 0 w 336"/>
              <a:gd name="T3" fmla="*/ 0 h 864"/>
              <a:gd name="T4" fmla="*/ 336 w 336"/>
              <a:gd name="T5" fmla="*/ 0 h 864"/>
            </a:gdLst>
            <a:ahLst/>
            <a:cxnLst>
              <a:cxn ang="0">
                <a:pos x="T0" y="T1"/>
              </a:cxn>
              <a:cxn ang="0">
                <a:pos x="T2" y="T3"/>
              </a:cxn>
              <a:cxn ang="0">
                <a:pos x="T4" y="T5"/>
              </a:cxn>
            </a:cxnLst>
            <a:rect l="0" t="0" r="r" b="b"/>
            <a:pathLst>
              <a:path w="336" h="864">
                <a:moveTo>
                  <a:pt x="0" y="864"/>
                </a:moveTo>
                <a:lnTo>
                  <a:pt x="0" y="0"/>
                </a:lnTo>
                <a:lnTo>
                  <a:pt x="336"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6" name="Freeform 46"/>
          <p:cNvSpPr>
            <a:spLocks/>
          </p:cNvSpPr>
          <p:nvPr/>
        </p:nvSpPr>
        <p:spPr bwMode="auto">
          <a:xfrm>
            <a:off x="8240714" y="4162326"/>
            <a:ext cx="1614487" cy="1143000"/>
          </a:xfrm>
          <a:custGeom>
            <a:avLst/>
            <a:gdLst>
              <a:gd name="T0" fmla="*/ 0 w 1008"/>
              <a:gd name="T1" fmla="*/ 0 h 720"/>
              <a:gd name="T2" fmla="*/ 0 w 1008"/>
              <a:gd name="T3" fmla="*/ 720 h 720"/>
              <a:gd name="T4" fmla="*/ 864 w 1008"/>
              <a:gd name="T5" fmla="*/ 720 h 720"/>
              <a:gd name="T6" fmla="*/ 864 w 1008"/>
              <a:gd name="T7" fmla="*/ 480 h 720"/>
              <a:gd name="T8" fmla="*/ 1008 w 1008"/>
              <a:gd name="T9" fmla="*/ 480 h 720"/>
            </a:gdLst>
            <a:ahLst/>
            <a:cxnLst>
              <a:cxn ang="0">
                <a:pos x="T0" y="T1"/>
              </a:cxn>
              <a:cxn ang="0">
                <a:pos x="T2" y="T3"/>
              </a:cxn>
              <a:cxn ang="0">
                <a:pos x="T4" y="T5"/>
              </a:cxn>
              <a:cxn ang="0">
                <a:pos x="T6" y="T7"/>
              </a:cxn>
              <a:cxn ang="0">
                <a:pos x="T8" y="T9"/>
              </a:cxn>
            </a:cxnLst>
            <a:rect l="0" t="0" r="r" b="b"/>
            <a:pathLst>
              <a:path w="1008" h="720">
                <a:moveTo>
                  <a:pt x="0" y="0"/>
                </a:moveTo>
                <a:lnTo>
                  <a:pt x="0" y="720"/>
                </a:lnTo>
                <a:lnTo>
                  <a:pt x="864" y="720"/>
                </a:lnTo>
                <a:lnTo>
                  <a:pt x="864" y="480"/>
                </a:lnTo>
                <a:lnTo>
                  <a:pt x="1008" y="48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7" name="Freeform 47"/>
          <p:cNvSpPr>
            <a:spLocks/>
          </p:cNvSpPr>
          <p:nvPr/>
        </p:nvSpPr>
        <p:spPr bwMode="auto">
          <a:xfrm>
            <a:off x="4978400" y="4467126"/>
            <a:ext cx="5334000" cy="1828800"/>
          </a:xfrm>
          <a:custGeom>
            <a:avLst/>
            <a:gdLst>
              <a:gd name="T0" fmla="*/ 3168 w 3312"/>
              <a:gd name="T1" fmla="*/ 96 h 768"/>
              <a:gd name="T2" fmla="*/ 3312 w 3312"/>
              <a:gd name="T3" fmla="*/ 96 h 768"/>
              <a:gd name="T4" fmla="*/ 3312 w 3312"/>
              <a:gd name="T5" fmla="*/ 768 h 768"/>
              <a:gd name="T6" fmla="*/ 0 w 3312"/>
              <a:gd name="T7" fmla="*/ 768 h 768"/>
              <a:gd name="T8" fmla="*/ 0 w 3312"/>
              <a:gd name="T9" fmla="*/ 0 h 768"/>
              <a:gd name="T10" fmla="*/ 240 w 3312"/>
              <a:gd name="T11" fmla="*/ 0 h 768"/>
            </a:gdLst>
            <a:ahLst/>
            <a:cxnLst>
              <a:cxn ang="0">
                <a:pos x="T0" y="T1"/>
              </a:cxn>
              <a:cxn ang="0">
                <a:pos x="T2" y="T3"/>
              </a:cxn>
              <a:cxn ang="0">
                <a:pos x="T4" y="T5"/>
              </a:cxn>
              <a:cxn ang="0">
                <a:pos x="T6" y="T7"/>
              </a:cxn>
              <a:cxn ang="0">
                <a:pos x="T8" y="T9"/>
              </a:cxn>
              <a:cxn ang="0">
                <a:pos x="T10" y="T11"/>
              </a:cxn>
            </a:cxnLst>
            <a:rect l="0" t="0" r="r" b="b"/>
            <a:pathLst>
              <a:path w="3312" h="768">
                <a:moveTo>
                  <a:pt x="3168" y="96"/>
                </a:moveTo>
                <a:lnTo>
                  <a:pt x="3312" y="96"/>
                </a:lnTo>
                <a:lnTo>
                  <a:pt x="3312" y="768"/>
                </a:lnTo>
                <a:lnTo>
                  <a:pt x="0" y="768"/>
                </a:lnTo>
                <a:lnTo>
                  <a:pt x="0" y="0"/>
                </a:lnTo>
                <a:lnTo>
                  <a:pt x="240"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8" name="Freeform 48"/>
          <p:cNvSpPr>
            <a:spLocks/>
          </p:cNvSpPr>
          <p:nvPr/>
        </p:nvSpPr>
        <p:spPr bwMode="auto">
          <a:xfrm>
            <a:off x="6553200" y="4390926"/>
            <a:ext cx="2082800" cy="533400"/>
          </a:xfrm>
          <a:custGeom>
            <a:avLst/>
            <a:gdLst>
              <a:gd name="T0" fmla="*/ 0 w 1344"/>
              <a:gd name="T1" fmla="*/ 0 h 336"/>
              <a:gd name="T2" fmla="*/ 0 w 1344"/>
              <a:gd name="T3" fmla="*/ 336 h 336"/>
              <a:gd name="T4" fmla="*/ 1344 w 1344"/>
              <a:gd name="T5" fmla="*/ 336 h 336"/>
            </a:gdLst>
            <a:ahLst/>
            <a:cxnLst>
              <a:cxn ang="0">
                <a:pos x="T0" y="T1"/>
              </a:cxn>
              <a:cxn ang="0">
                <a:pos x="T2" y="T3"/>
              </a:cxn>
              <a:cxn ang="0">
                <a:pos x="T4" y="T5"/>
              </a:cxn>
            </a:cxnLst>
            <a:rect l="0" t="0" r="r" b="b"/>
            <a:pathLst>
              <a:path w="1344" h="336">
                <a:moveTo>
                  <a:pt x="0" y="0"/>
                </a:moveTo>
                <a:lnTo>
                  <a:pt x="0" y="336"/>
                </a:lnTo>
                <a:lnTo>
                  <a:pt x="1344" y="336"/>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09" name="Freeform 49"/>
          <p:cNvSpPr>
            <a:spLocks/>
          </p:cNvSpPr>
          <p:nvPr/>
        </p:nvSpPr>
        <p:spPr bwMode="auto">
          <a:xfrm>
            <a:off x="4826000" y="4238526"/>
            <a:ext cx="5257800" cy="1828800"/>
          </a:xfrm>
          <a:custGeom>
            <a:avLst/>
            <a:gdLst>
              <a:gd name="T0" fmla="*/ 3024 w 3312"/>
              <a:gd name="T1" fmla="*/ 960 h 1200"/>
              <a:gd name="T2" fmla="*/ 3312 w 3312"/>
              <a:gd name="T3" fmla="*/ 960 h 1200"/>
              <a:gd name="T4" fmla="*/ 3312 w 3312"/>
              <a:gd name="T5" fmla="*/ 1200 h 1200"/>
              <a:gd name="T6" fmla="*/ 0 w 3312"/>
              <a:gd name="T7" fmla="*/ 1200 h 1200"/>
              <a:gd name="T8" fmla="*/ 0 w 3312"/>
              <a:gd name="T9" fmla="*/ 0 h 1200"/>
              <a:gd name="T10" fmla="*/ 336 w 3312"/>
              <a:gd name="T11" fmla="*/ 0 h 1200"/>
            </a:gdLst>
            <a:ahLst/>
            <a:cxnLst>
              <a:cxn ang="0">
                <a:pos x="T0" y="T1"/>
              </a:cxn>
              <a:cxn ang="0">
                <a:pos x="T2" y="T3"/>
              </a:cxn>
              <a:cxn ang="0">
                <a:pos x="T4" y="T5"/>
              </a:cxn>
              <a:cxn ang="0">
                <a:pos x="T6" y="T7"/>
              </a:cxn>
              <a:cxn ang="0">
                <a:pos x="T8" y="T9"/>
              </a:cxn>
              <a:cxn ang="0">
                <a:pos x="T10" y="T11"/>
              </a:cxn>
            </a:cxnLst>
            <a:rect l="0" t="0" r="r" b="b"/>
            <a:pathLst>
              <a:path w="3312" h="1200">
                <a:moveTo>
                  <a:pt x="3024" y="960"/>
                </a:moveTo>
                <a:lnTo>
                  <a:pt x="3312" y="960"/>
                </a:lnTo>
                <a:lnTo>
                  <a:pt x="3312" y="1200"/>
                </a:lnTo>
                <a:lnTo>
                  <a:pt x="0" y="1200"/>
                </a:lnTo>
                <a:lnTo>
                  <a:pt x="0" y="0"/>
                </a:lnTo>
                <a:lnTo>
                  <a:pt x="336"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410" name="Group 50"/>
          <p:cNvGrpSpPr>
            <a:grpSpLocks/>
          </p:cNvGrpSpPr>
          <p:nvPr/>
        </p:nvGrpSpPr>
        <p:grpSpPr bwMode="auto">
          <a:xfrm>
            <a:off x="9323388" y="2333527"/>
            <a:ext cx="304800" cy="3643313"/>
            <a:chOff x="4972" y="1431"/>
            <a:chExt cx="192" cy="2295"/>
          </a:xfrm>
        </p:grpSpPr>
        <p:sp>
          <p:nvSpPr>
            <p:cNvPr id="143411" name="Rectangle 51"/>
            <p:cNvSpPr>
              <a:spLocks noChangeArrowheads="1"/>
            </p:cNvSpPr>
            <p:nvPr/>
          </p:nvSpPr>
          <p:spPr bwMode="auto">
            <a:xfrm>
              <a:off x="4972" y="1431"/>
              <a:ext cx="192" cy="2295"/>
            </a:xfrm>
            <a:prstGeom prst="rect">
              <a:avLst/>
            </a:pr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a:latin typeface="Comic Sans MS" panose="030F0702030302020204" pitchFamily="66" charset="0"/>
                </a:rPr>
                <a:t>MEM/WB</a:t>
              </a:r>
            </a:p>
          </p:txBody>
        </p:sp>
        <p:sp>
          <p:nvSpPr>
            <p:cNvPr id="143412" name="AutoShape 52"/>
            <p:cNvSpPr>
              <a:spLocks noChangeArrowheads="1"/>
            </p:cNvSpPr>
            <p:nvPr/>
          </p:nvSpPr>
          <p:spPr bwMode="auto">
            <a:xfrm>
              <a:off x="4972" y="3534"/>
              <a:ext cx="192" cy="192"/>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3413" name="Group 53"/>
          <p:cNvGrpSpPr>
            <a:grpSpLocks/>
          </p:cNvGrpSpPr>
          <p:nvPr/>
        </p:nvGrpSpPr>
        <p:grpSpPr bwMode="auto">
          <a:xfrm>
            <a:off x="7847013" y="2333527"/>
            <a:ext cx="304800" cy="3643313"/>
            <a:chOff x="3920" y="1447"/>
            <a:chExt cx="192" cy="2295"/>
          </a:xfrm>
        </p:grpSpPr>
        <p:sp>
          <p:nvSpPr>
            <p:cNvPr id="143414" name="Rectangle 54"/>
            <p:cNvSpPr>
              <a:spLocks noChangeArrowheads="1"/>
            </p:cNvSpPr>
            <p:nvPr/>
          </p:nvSpPr>
          <p:spPr bwMode="auto">
            <a:xfrm rot="-21600000">
              <a:off x="3920" y="1447"/>
              <a:ext cx="192" cy="2295"/>
            </a:xfrm>
            <a:prstGeom prst="rect">
              <a:avLst/>
            </a:pr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a:latin typeface="Comic Sans MS" panose="030F0702030302020204" pitchFamily="66" charset="0"/>
                </a:rPr>
                <a:t>EX/MEM</a:t>
              </a:r>
            </a:p>
          </p:txBody>
        </p:sp>
        <p:sp>
          <p:nvSpPr>
            <p:cNvPr id="143415" name="AutoShape 55"/>
            <p:cNvSpPr>
              <a:spLocks noChangeArrowheads="1"/>
            </p:cNvSpPr>
            <p:nvPr/>
          </p:nvSpPr>
          <p:spPr bwMode="auto">
            <a:xfrm rot="-21600000">
              <a:off x="3920" y="3544"/>
              <a:ext cx="192" cy="192"/>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416" name="Line 56"/>
          <p:cNvSpPr>
            <a:spLocks noChangeShapeType="1"/>
          </p:cNvSpPr>
          <p:nvPr/>
        </p:nvSpPr>
        <p:spPr bwMode="auto">
          <a:xfrm>
            <a:off x="5816600" y="5305327"/>
            <a:ext cx="355600" cy="31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17" name="Freeform 57"/>
          <p:cNvSpPr>
            <a:spLocks/>
          </p:cNvSpPr>
          <p:nvPr/>
        </p:nvSpPr>
        <p:spPr bwMode="auto">
          <a:xfrm>
            <a:off x="6350000" y="4552852"/>
            <a:ext cx="457200" cy="752475"/>
          </a:xfrm>
          <a:custGeom>
            <a:avLst/>
            <a:gdLst>
              <a:gd name="T0" fmla="*/ 0 w 336"/>
              <a:gd name="T1" fmla="*/ 432 h 432"/>
              <a:gd name="T2" fmla="*/ 192 w 336"/>
              <a:gd name="T3" fmla="*/ 432 h 432"/>
              <a:gd name="T4" fmla="*/ 192 w 336"/>
              <a:gd name="T5" fmla="*/ 0 h 432"/>
              <a:gd name="T6" fmla="*/ 336 w 336"/>
              <a:gd name="T7" fmla="*/ 0 h 432"/>
            </a:gdLst>
            <a:ahLst/>
            <a:cxnLst>
              <a:cxn ang="0">
                <a:pos x="T0" y="T1"/>
              </a:cxn>
              <a:cxn ang="0">
                <a:pos x="T2" y="T3"/>
              </a:cxn>
              <a:cxn ang="0">
                <a:pos x="T4" y="T5"/>
              </a:cxn>
              <a:cxn ang="0">
                <a:pos x="T6" y="T7"/>
              </a:cxn>
            </a:cxnLst>
            <a:rect l="0" t="0" r="r" b="b"/>
            <a:pathLst>
              <a:path w="336" h="432">
                <a:moveTo>
                  <a:pt x="0" y="432"/>
                </a:moveTo>
                <a:lnTo>
                  <a:pt x="192" y="432"/>
                </a:lnTo>
                <a:lnTo>
                  <a:pt x="192" y="0"/>
                </a:lnTo>
                <a:lnTo>
                  <a:pt x="336"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18" name="Freeform 58"/>
          <p:cNvSpPr>
            <a:spLocks/>
          </p:cNvSpPr>
          <p:nvPr/>
        </p:nvSpPr>
        <p:spPr bwMode="auto">
          <a:xfrm>
            <a:off x="4673600" y="5305326"/>
            <a:ext cx="1498600" cy="381000"/>
          </a:xfrm>
          <a:custGeom>
            <a:avLst/>
            <a:gdLst>
              <a:gd name="T0" fmla="*/ 0 w 864"/>
              <a:gd name="T1" fmla="*/ 0 h 288"/>
              <a:gd name="T2" fmla="*/ 0 w 864"/>
              <a:gd name="T3" fmla="*/ 288 h 288"/>
              <a:gd name="T4" fmla="*/ 864 w 864"/>
              <a:gd name="T5" fmla="*/ 288 h 288"/>
            </a:gdLst>
            <a:ahLst/>
            <a:cxnLst>
              <a:cxn ang="0">
                <a:pos x="T0" y="T1"/>
              </a:cxn>
              <a:cxn ang="0">
                <a:pos x="T2" y="T3"/>
              </a:cxn>
              <a:cxn ang="0">
                <a:pos x="T4" y="T5"/>
              </a:cxn>
            </a:cxnLst>
            <a:rect l="0" t="0" r="r" b="b"/>
            <a:pathLst>
              <a:path w="864" h="288">
                <a:moveTo>
                  <a:pt x="0" y="0"/>
                </a:moveTo>
                <a:lnTo>
                  <a:pt x="0" y="288"/>
                </a:lnTo>
                <a:lnTo>
                  <a:pt x="864" y="288"/>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19" name="Line 59"/>
          <p:cNvSpPr>
            <a:spLocks noChangeShapeType="1"/>
          </p:cNvSpPr>
          <p:nvPr/>
        </p:nvSpPr>
        <p:spPr bwMode="auto">
          <a:xfrm>
            <a:off x="6350000" y="5686326"/>
            <a:ext cx="1447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20" name="Line 60"/>
          <p:cNvSpPr>
            <a:spLocks noChangeShapeType="1"/>
          </p:cNvSpPr>
          <p:nvPr/>
        </p:nvSpPr>
        <p:spPr bwMode="auto">
          <a:xfrm>
            <a:off x="8178800" y="5686326"/>
            <a:ext cx="1143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21" name="Freeform 61"/>
          <p:cNvSpPr>
            <a:spLocks/>
          </p:cNvSpPr>
          <p:nvPr/>
        </p:nvSpPr>
        <p:spPr bwMode="auto">
          <a:xfrm>
            <a:off x="3683001" y="2495452"/>
            <a:ext cx="1903413" cy="523875"/>
          </a:xfrm>
          <a:custGeom>
            <a:avLst/>
            <a:gdLst>
              <a:gd name="T0" fmla="*/ 0 w 1199"/>
              <a:gd name="T1" fmla="*/ 330 h 330"/>
              <a:gd name="T2" fmla="*/ 173 w 1199"/>
              <a:gd name="T3" fmla="*/ 330 h 330"/>
              <a:gd name="T4" fmla="*/ 173 w 1199"/>
              <a:gd name="T5" fmla="*/ 0 h 330"/>
              <a:gd name="T6" fmla="*/ 1199 w 1199"/>
              <a:gd name="T7" fmla="*/ 0 h 330"/>
            </a:gdLst>
            <a:ahLst/>
            <a:cxnLst>
              <a:cxn ang="0">
                <a:pos x="T0" y="T1"/>
              </a:cxn>
              <a:cxn ang="0">
                <a:pos x="T2" y="T3"/>
              </a:cxn>
              <a:cxn ang="0">
                <a:pos x="T4" y="T5"/>
              </a:cxn>
              <a:cxn ang="0">
                <a:pos x="T6" y="T7"/>
              </a:cxn>
            </a:cxnLst>
            <a:rect l="0" t="0" r="r" b="b"/>
            <a:pathLst>
              <a:path w="1199" h="330">
                <a:moveTo>
                  <a:pt x="0" y="330"/>
                </a:moveTo>
                <a:lnTo>
                  <a:pt x="173" y="330"/>
                </a:lnTo>
                <a:lnTo>
                  <a:pt x="173" y="0"/>
                </a:lnTo>
                <a:lnTo>
                  <a:pt x="1199" y="0"/>
                </a:ln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3422" name="Group 62"/>
          <p:cNvGrpSpPr>
            <a:grpSpLocks/>
          </p:cNvGrpSpPr>
          <p:nvPr/>
        </p:nvGrpSpPr>
        <p:grpSpPr bwMode="auto">
          <a:xfrm>
            <a:off x="2862263" y="2585939"/>
            <a:ext cx="914400" cy="990600"/>
            <a:chOff x="827" y="1455"/>
            <a:chExt cx="576" cy="624"/>
          </a:xfrm>
        </p:grpSpPr>
        <p:sp>
          <p:nvSpPr>
            <p:cNvPr id="143423" name="Text Box 63"/>
            <p:cNvSpPr txBox="1">
              <a:spLocks noChangeArrowheads="1"/>
            </p:cNvSpPr>
            <p:nvPr/>
          </p:nvSpPr>
          <p:spPr bwMode="auto">
            <a:xfrm>
              <a:off x="827" y="1791"/>
              <a:ext cx="192" cy="288"/>
            </a:xfrm>
            <a:prstGeom prst="rect">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r>
                <a:rPr lang="en-US" altLang="zh-CN" sz="2400">
                  <a:latin typeface="Comic Sans MS" panose="030F0702030302020204" pitchFamily="66" charset="0"/>
                </a:rPr>
                <a:t>4</a:t>
              </a:r>
            </a:p>
          </p:txBody>
        </p:sp>
        <p:sp>
          <p:nvSpPr>
            <p:cNvPr id="143424" name="AutoShape 64"/>
            <p:cNvSpPr>
              <a:spLocks noChangeAspect="1" noChangeArrowheads="1"/>
            </p:cNvSpPr>
            <p:nvPr/>
          </p:nvSpPr>
          <p:spPr bwMode="auto">
            <a:xfrm rot="-5400000">
              <a:off x="965" y="1592"/>
              <a:ext cx="576" cy="301"/>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3425" name="AutoShape 65"/>
            <p:cNvSpPr>
              <a:spLocks noChangeAspect="1" noChangeArrowheads="1"/>
            </p:cNvSpPr>
            <p:nvPr/>
          </p:nvSpPr>
          <p:spPr bwMode="auto">
            <a:xfrm rot="5400000">
              <a:off x="1071" y="1644"/>
              <a:ext cx="174" cy="145"/>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26" name="Text Box 66"/>
            <p:cNvSpPr txBox="1">
              <a:spLocks noChangeAspect="1" noChangeArrowheads="1"/>
            </p:cNvSpPr>
            <p:nvPr/>
          </p:nvSpPr>
          <p:spPr bwMode="auto">
            <a:xfrm rot="-16200000">
              <a:off x="1015" y="1643"/>
              <a:ext cx="494" cy="2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600">
                  <a:latin typeface="Comic Sans MS" panose="030F0702030302020204" pitchFamily="66" charset="0"/>
                </a:rPr>
                <a:t>Adder</a:t>
              </a:r>
              <a:endParaRPr lang="en-US" altLang="zh-CN" sz="1000">
                <a:latin typeface="Comic Sans MS" panose="030F0702030302020204" pitchFamily="66" charset="0"/>
              </a:endParaRPr>
            </a:p>
          </p:txBody>
        </p:sp>
        <p:sp>
          <p:nvSpPr>
            <p:cNvPr id="143427" name="Freeform 67"/>
            <p:cNvSpPr>
              <a:spLocks noChangeAspect="1"/>
            </p:cNvSpPr>
            <p:nvPr/>
          </p:nvSpPr>
          <p:spPr bwMode="auto">
            <a:xfrm rot="5400000">
              <a:off x="1076" y="1652"/>
              <a:ext cx="173" cy="130"/>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428" name="Oval 68"/>
          <p:cNvSpPr>
            <a:spLocks noChangeArrowheads="1"/>
          </p:cNvSpPr>
          <p:nvPr/>
        </p:nvSpPr>
        <p:spPr bwMode="auto">
          <a:xfrm>
            <a:off x="8202613" y="4124227"/>
            <a:ext cx="74612"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29" name="Oval 69"/>
          <p:cNvSpPr>
            <a:spLocks noChangeArrowheads="1"/>
          </p:cNvSpPr>
          <p:nvPr/>
        </p:nvSpPr>
        <p:spPr bwMode="auto">
          <a:xfrm>
            <a:off x="6511926" y="4356002"/>
            <a:ext cx="74613"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30" name="Oval 70"/>
          <p:cNvSpPr>
            <a:spLocks noChangeArrowheads="1"/>
          </p:cNvSpPr>
          <p:nvPr/>
        </p:nvSpPr>
        <p:spPr bwMode="auto">
          <a:xfrm>
            <a:off x="4630738" y="3814664"/>
            <a:ext cx="74612"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31" name="Oval 71"/>
          <p:cNvSpPr>
            <a:spLocks noChangeArrowheads="1"/>
          </p:cNvSpPr>
          <p:nvPr/>
        </p:nvSpPr>
        <p:spPr bwMode="auto">
          <a:xfrm>
            <a:off x="4649788" y="5248177"/>
            <a:ext cx="74612"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32" name="Oval 72"/>
          <p:cNvSpPr>
            <a:spLocks noChangeArrowheads="1"/>
          </p:cNvSpPr>
          <p:nvPr/>
        </p:nvSpPr>
        <p:spPr bwMode="auto">
          <a:xfrm>
            <a:off x="2720976" y="4043264"/>
            <a:ext cx="74613" cy="74612"/>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33" name="Oval 73"/>
          <p:cNvSpPr>
            <a:spLocks noChangeArrowheads="1"/>
          </p:cNvSpPr>
          <p:nvPr/>
        </p:nvSpPr>
        <p:spPr bwMode="auto">
          <a:xfrm>
            <a:off x="4630738" y="5267227"/>
            <a:ext cx="74612"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34" name="Text Box 74"/>
          <p:cNvSpPr txBox="1">
            <a:spLocks noChangeArrowheads="1"/>
          </p:cNvSpPr>
          <p:nvPr/>
        </p:nvSpPr>
        <p:spPr bwMode="auto">
          <a:xfrm>
            <a:off x="4419600" y="2254479"/>
            <a:ext cx="838200" cy="5232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1" hangingPunct="1"/>
            <a:r>
              <a:rPr lang="en-US" altLang="zh-CN" sz="1400">
                <a:latin typeface="Comic Sans MS" panose="030F0702030302020204" pitchFamily="66" charset="0"/>
              </a:rPr>
              <a:t>Next SEQ PC</a:t>
            </a:r>
          </a:p>
        </p:txBody>
      </p:sp>
      <p:sp>
        <p:nvSpPr>
          <p:cNvPr id="143435" name="Text Box 75"/>
          <p:cNvSpPr txBox="1">
            <a:spLocks noChangeArrowheads="1"/>
          </p:cNvSpPr>
          <p:nvPr/>
        </p:nvSpPr>
        <p:spPr bwMode="auto">
          <a:xfrm>
            <a:off x="5368925" y="5700615"/>
            <a:ext cx="388938"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200">
                <a:latin typeface="Comic Sans MS" panose="030F0702030302020204" pitchFamily="66" charset="0"/>
              </a:rPr>
              <a:t>RD</a:t>
            </a:r>
            <a:endParaRPr lang="en-US" altLang="zh-CN" sz="1400">
              <a:latin typeface="Comic Sans MS" panose="030F0702030302020204" pitchFamily="66" charset="0"/>
            </a:endParaRPr>
          </a:p>
        </p:txBody>
      </p:sp>
      <p:sp>
        <p:nvSpPr>
          <p:cNvPr id="143436" name="Text Box 76"/>
          <p:cNvSpPr txBox="1">
            <a:spLocks noChangeArrowheads="1"/>
          </p:cNvSpPr>
          <p:nvPr/>
        </p:nvSpPr>
        <p:spPr bwMode="auto">
          <a:xfrm>
            <a:off x="6788150" y="5700615"/>
            <a:ext cx="388938"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200">
                <a:latin typeface="Comic Sans MS" panose="030F0702030302020204" pitchFamily="66" charset="0"/>
              </a:rPr>
              <a:t>RD</a:t>
            </a:r>
            <a:endParaRPr lang="en-US" altLang="zh-CN" sz="1400">
              <a:latin typeface="Comic Sans MS" panose="030F0702030302020204" pitchFamily="66" charset="0"/>
            </a:endParaRPr>
          </a:p>
        </p:txBody>
      </p:sp>
      <p:sp>
        <p:nvSpPr>
          <p:cNvPr id="143437" name="Text Box 77"/>
          <p:cNvSpPr txBox="1">
            <a:spLocks noChangeArrowheads="1"/>
          </p:cNvSpPr>
          <p:nvPr/>
        </p:nvSpPr>
        <p:spPr bwMode="auto">
          <a:xfrm>
            <a:off x="8464550" y="5700615"/>
            <a:ext cx="388938" cy="2746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200">
                <a:latin typeface="Comic Sans MS" panose="030F0702030302020204" pitchFamily="66" charset="0"/>
              </a:rPr>
              <a:t>RD</a:t>
            </a:r>
            <a:endParaRPr lang="en-US" altLang="zh-CN" sz="1400">
              <a:latin typeface="Comic Sans MS" panose="030F0702030302020204" pitchFamily="66" charset="0"/>
            </a:endParaRPr>
          </a:p>
        </p:txBody>
      </p:sp>
      <p:sp>
        <p:nvSpPr>
          <p:cNvPr id="143438" name="Text Box 78"/>
          <p:cNvSpPr txBox="1">
            <a:spLocks noChangeArrowheads="1"/>
          </p:cNvSpPr>
          <p:nvPr/>
        </p:nvSpPr>
        <p:spPr bwMode="auto">
          <a:xfrm rot="16200000">
            <a:off x="9980613" y="5284689"/>
            <a:ext cx="927100"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400">
                <a:latin typeface="Comic Sans MS" panose="030F0702030302020204" pitchFamily="66" charset="0"/>
              </a:rPr>
              <a:t>WB Data</a:t>
            </a:r>
          </a:p>
        </p:txBody>
      </p:sp>
      <p:sp>
        <p:nvSpPr>
          <p:cNvPr id="143440" name="Text Box 80"/>
          <p:cNvSpPr txBox="1">
            <a:spLocks noChangeArrowheads="1"/>
          </p:cNvSpPr>
          <p:nvPr/>
        </p:nvSpPr>
        <p:spPr bwMode="auto">
          <a:xfrm>
            <a:off x="2133601" y="2266851"/>
            <a:ext cx="862013" cy="304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400">
                <a:latin typeface="Comic Sans MS" panose="030F0702030302020204" pitchFamily="66" charset="0"/>
              </a:rPr>
              <a:t>Next PC</a:t>
            </a:r>
          </a:p>
        </p:txBody>
      </p:sp>
      <p:grpSp>
        <p:nvGrpSpPr>
          <p:cNvPr id="143441" name="Group 81"/>
          <p:cNvGrpSpPr>
            <a:grpSpLocks/>
          </p:cNvGrpSpPr>
          <p:nvPr/>
        </p:nvGrpSpPr>
        <p:grpSpPr bwMode="auto">
          <a:xfrm>
            <a:off x="2298700" y="3476527"/>
            <a:ext cx="304800" cy="1228725"/>
            <a:chOff x="488" y="1914"/>
            <a:chExt cx="192" cy="774"/>
          </a:xfrm>
        </p:grpSpPr>
        <p:sp>
          <p:nvSpPr>
            <p:cNvPr id="143442" name="Rectangle 82"/>
            <p:cNvSpPr>
              <a:spLocks noChangeArrowheads="1"/>
            </p:cNvSpPr>
            <p:nvPr/>
          </p:nvSpPr>
          <p:spPr bwMode="auto">
            <a:xfrm>
              <a:off x="488" y="1914"/>
              <a:ext cx="192" cy="768"/>
            </a:xfrm>
            <a:prstGeom prst="rect">
              <a:avLst/>
            </a:pr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b="0">
                  <a:latin typeface="Comic Sans MS" panose="030F0702030302020204" pitchFamily="66" charset="0"/>
                </a:rPr>
                <a:t>Address</a:t>
              </a:r>
            </a:p>
          </p:txBody>
        </p:sp>
        <p:sp>
          <p:nvSpPr>
            <p:cNvPr id="143443" name="AutoShape 83"/>
            <p:cNvSpPr>
              <a:spLocks noChangeArrowheads="1"/>
            </p:cNvSpPr>
            <p:nvPr/>
          </p:nvSpPr>
          <p:spPr bwMode="auto">
            <a:xfrm>
              <a:off x="496" y="2544"/>
              <a:ext cx="175" cy="144"/>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444" name="Text Box 84"/>
          <p:cNvSpPr txBox="1">
            <a:spLocks noChangeArrowheads="1"/>
          </p:cNvSpPr>
          <p:nvPr/>
        </p:nvSpPr>
        <p:spPr bwMode="auto">
          <a:xfrm>
            <a:off x="4800600" y="3333652"/>
            <a:ext cx="407988"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RS1</a:t>
            </a:r>
            <a:endParaRPr lang="en-US" altLang="zh-CN" sz="1400">
              <a:latin typeface="Comic Sans MS" panose="030F0702030302020204" pitchFamily="66" charset="0"/>
            </a:endParaRPr>
          </a:p>
        </p:txBody>
      </p:sp>
      <p:sp>
        <p:nvSpPr>
          <p:cNvPr id="143445" name="Text Box 85"/>
          <p:cNvSpPr txBox="1">
            <a:spLocks noChangeArrowheads="1"/>
          </p:cNvSpPr>
          <p:nvPr/>
        </p:nvSpPr>
        <p:spPr bwMode="auto">
          <a:xfrm>
            <a:off x="4800601" y="3638452"/>
            <a:ext cx="428625"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RS2</a:t>
            </a:r>
            <a:endParaRPr lang="en-US" altLang="zh-CN" sz="1400">
              <a:latin typeface="Comic Sans MS" panose="030F0702030302020204" pitchFamily="66" charset="0"/>
            </a:endParaRPr>
          </a:p>
        </p:txBody>
      </p:sp>
      <p:sp>
        <p:nvSpPr>
          <p:cNvPr id="143446" name="Text Box 86"/>
          <p:cNvSpPr txBox="1">
            <a:spLocks noChangeArrowheads="1"/>
          </p:cNvSpPr>
          <p:nvPr/>
        </p:nvSpPr>
        <p:spPr bwMode="auto">
          <a:xfrm>
            <a:off x="4940300" y="5298977"/>
            <a:ext cx="450850"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Imm</a:t>
            </a:r>
            <a:endParaRPr lang="en-US" altLang="zh-CN" sz="1400">
              <a:latin typeface="Comic Sans MS" panose="030F0702030302020204" pitchFamily="66" charset="0"/>
            </a:endParaRPr>
          </a:p>
        </p:txBody>
      </p:sp>
      <p:sp>
        <p:nvSpPr>
          <p:cNvPr id="143447" name="Oval 87"/>
          <p:cNvSpPr>
            <a:spLocks noChangeArrowheads="1"/>
          </p:cNvSpPr>
          <p:nvPr/>
        </p:nvSpPr>
        <p:spPr bwMode="auto">
          <a:xfrm>
            <a:off x="5562600" y="2419251"/>
            <a:ext cx="209550" cy="552450"/>
          </a:xfrm>
          <a:prstGeom prst="ellipse">
            <a:avLst/>
          </a:prstGeom>
          <a:solidFill>
            <a:schemeClr val="hlink"/>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sz="1600">
                <a:latin typeface="Comic Sans MS" panose="030F0702030302020204" pitchFamily="66" charset="0"/>
              </a:rPr>
              <a:t>MUX</a:t>
            </a:r>
            <a:endParaRPr lang="en-US" altLang="zh-CN" b="0">
              <a:latin typeface="Comic Sans MS" panose="030F0702030302020204" pitchFamily="66" charset="0"/>
            </a:endParaRPr>
          </a:p>
        </p:txBody>
      </p:sp>
      <p:sp>
        <p:nvSpPr>
          <p:cNvPr id="143448" name="Line 88"/>
          <p:cNvSpPr>
            <a:spLocks noChangeShapeType="1"/>
          </p:cNvSpPr>
          <p:nvPr/>
        </p:nvSpPr>
        <p:spPr bwMode="auto">
          <a:xfrm>
            <a:off x="4667250" y="3562251"/>
            <a:ext cx="6858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49" name="Freeform 89"/>
          <p:cNvSpPr>
            <a:spLocks noChangeAspect="1"/>
          </p:cNvSpPr>
          <p:nvPr/>
        </p:nvSpPr>
        <p:spPr bwMode="auto">
          <a:xfrm rot="5400000">
            <a:off x="4864101" y="2932015"/>
            <a:ext cx="231775" cy="187325"/>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solidFill>
            <a:schemeClr val="bg1"/>
          </a:solidFill>
          <a:ln w="28575" cap="flat"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50" name="AutoShape 90"/>
          <p:cNvSpPr>
            <a:spLocks noChangeAspect="1" noChangeArrowheads="1"/>
          </p:cNvSpPr>
          <p:nvPr/>
        </p:nvSpPr>
        <p:spPr bwMode="auto">
          <a:xfrm rot="5400000">
            <a:off x="4636294" y="2894708"/>
            <a:ext cx="233363" cy="20955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51" name="Freeform 91"/>
          <p:cNvSpPr>
            <a:spLocks/>
          </p:cNvSpPr>
          <p:nvPr/>
        </p:nvSpPr>
        <p:spPr bwMode="auto">
          <a:xfrm>
            <a:off x="5334000" y="2876451"/>
            <a:ext cx="228600" cy="152400"/>
          </a:xfrm>
          <a:custGeom>
            <a:avLst/>
            <a:gdLst>
              <a:gd name="T0" fmla="*/ 0 w 144"/>
              <a:gd name="T1" fmla="*/ 96 h 96"/>
              <a:gd name="T2" fmla="*/ 48 w 144"/>
              <a:gd name="T3" fmla="*/ 96 h 96"/>
              <a:gd name="T4" fmla="*/ 48 w 144"/>
              <a:gd name="T5" fmla="*/ 0 h 96"/>
              <a:gd name="T6" fmla="*/ 144 w 144"/>
              <a:gd name="T7" fmla="*/ 0 h 96"/>
            </a:gdLst>
            <a:ahLst/>
            <a:cxnLst>
              <a:cxn ang="0">
                <a:pos x="T0" y="T1"/>
              </a:cxn>
              <a:cxn ang="0">
                <a:pos x="T2" y="T3"/>
              </a:cxn>
              <a:cxn ang="0">
                <a:pos x="T4" y="T5"/>
              </a:cxn>
              <a:cxn ang="0">
                <a:pos x="T6" y="T7"/>
              </a:cxn>
            </a:cxnLst>
            <a:rect l="0" t="0" r="r" b="b"/>
            <a:pathLst>
              <a:path w="144" h="96">
                <a:moveTo>
                  <a:pt x="0" y="96"/>
                </a:moveTo>
                <a:lnTo>
                  <a:pt x="48" y="96"/>
                </a:lnTo>
                <a:lnTo>
                  <a:pt x="48" y="0"/>
                </a:lnTo>
                <a:lnTo>
                  <a:pt x="144" y="0"/>
                </a:ln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grpSp>
        <p:nvGrpSpPr>
          <p:cNvPr id="143452" name="Group 92"/>
          <p:cNvGrpSpPr>
            <a:grpSpLocks/>
          </p:cNvGrpSpPr>
          <p:nvPr/>
        </p:nvGrpSpPr>
        <p:grpSpPr bwMode="auto">
          <a:xfrm>
            <a:off x="6172200" y="2343052"/>
            <a:ext cx="306388" cy="3643313"/>
            <a:chOff x="2740" y="1436"/>
            <a:chExt cx="193" cy="2295"/>
          </a:xfrm>
        </p:grpSpPr>
        <p:sp>
          <p:nvSpPr>
            <p:cNvPr id="143453" name="Rectangle 93"/>
            <p:cNvSpPr>
              <a:spLocks noChangeArrowheads="1"/>
            </p:cNvSpPr>
            <p:nvPr/>
          </p:nvSpPr>
          <p:spPr bwMode="auto">
            <a:xfrm rot="-21600000">
              <a:off x="2741" y="1436"/>
              <a:ext cx="192" cy="2295"/>
            </a:xfrm>
            <a:prstGeom prst="rect">
              <a:avLst/>
            </a:prstGeom>
            <a:solidFill>
              <a:srgbClr val="07F707"/>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r>
                <a:rPr lang="en-US" altLang="zh-CN">
                  <a:latin typeface="Comic Sans MS" panose="030F0702030302020204" pitchFamily="66" charset="0"/>
                </a:rPr>
                <a:t>ID/EX</a:t>
              </a:r>
            </a:p>
          </p:txBody>
        </p:sp>
        <p:sp>
          <p:nvSpPr>
            <p:cNvPr id="143454" name="AutoShape 94"/>
            <p:cNvSpPr>
              <a:spLocks noChangeArrowheads="1"/>
            </p:cNvSpPr>
            <p:nvPr/>
          </p:nvSpPr>
          <p:spPr bwMode="auto">
            <a:xfrm rot="-21600000">
              <a:off x="2740" y="3533"/>
              <a:ext cx="192" cy="192"/>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43455" name="Freeform 95"/>
          <p:cNvSpPr>
            <a:spLocks/>
          </p:cNvSpPr>
          <p:nvPr/>
        </p:nvSpPr>
        <p:spPr bwMode="auto">
          <a:xfrm>
            <a:off x="5943600" y="3181251"/>
            <a:ext cx="152400" cy="609600"/>
          </a:xfrm>
          <a:custGeom>
            <a:avLst/>
            <a:gdLst>
              <a:gd name="T0" fmla="*/ 96 w 96"/>
              <a:gd name="T1" fmla="*/ 768 h 768"/>
              <a:gd name="T2" fmla="*/ 96 w 96"/>
              <a:gd name="T3" fmla="*/ 0 h 768"/>
              <a:gd name="T4" fmla="*/ 0 w 96"/>
              <a:gd name="T5" fmla="*/ 0 h 768"/>
            </a:gdLst>
            <a:ahLst/>
            <a:cxnLst>
              <a:cxn ang="0">
                <a:pos x="T0" y="T1"/>
              </a:cxn>
              <a:cxn ang="0">
                <a:pos x="T2" y="T3"/>
              </a:cxn>
              <a:cxn ang="0">
                <a:pos x="T4" y="T5"/>
              </a:cxn>
            </a:cxnLst>
            <a:rect l="0" t="0" r="r" b="b"/>
            <a:pathLst>
              <a:path w="96" h="768">
                <a:moveTo>
                  <a:pt x="96" y="768"/>
                </a:moveTo>
                <a:lnTo>
                  <a:pt x="96" y="0"/>
                </a:lnTo>
                <a:lnTo>
                  <a:pt x="0" y="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
        <p:nvSpPr>
          <p:cNvPr id="143456" name="Oval 96"/>
          <p:cNvSpPr>
            <a:spLocks noChangeArrowheads="1"/>
          </p:cNvSpPr>
          <p:nvPr/>
        </p:nvSpPr>
        <p:spPr bwMode="auto">
          <a:xfrm>
            <a:off x="6061076" y="3746402"/>
            <a:ext cx="74613" cy="74613"/>
          </a:xfrm>
          <a:prstGeom prst="ellipse">
            <a:avLst/>
          </a:prstGeom>
          <a:solidFill>
            <a:schemeClr val="tx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57" name="Freeform 97"/>
          <p:cNvSpPr>
            <a:spLocks/>
          </p:cNvSpPr>
          <p:nvPr/>
        </p:nvSpPr>
        <p:spPr bwMode="auto">
          <a:xfrm>
            <a:off x="4572000" y="3257451"/>
            <a:ext cx="1371600" cy="2667000"/>
          </a:xfrm>
          <a:custGeom>
            <a:avLst/>
            <a:gdLst>
              <a:gd name="T0" fmla="*/ 864 w 864"/>
              <a:gd name="T1" fmla="*/ 1296 h 1680"/>
              <a:gd name="T2" fmla="*/ 864 w 864"/>
              <a:gd name="T3" fmla="*/ 1680 h 1680"/>
              <a:gd name="T4" fmla="*/ 0 w 864"/>
              <a:gd name="T5" fmla="*/ 1680 h 1680"/>
              <a:gd name="T6" fmla="*/ 0 w 864"/>
              <a:gd name="T7" fmla="*/ 0 h 1680"/>
              <a:gd name="T8" fmla="*/ 192 w 864"/>
              <a:gd name="T9" fmla="*/ 0 h 1680"/>
            </a:gdLst>
            <a:ahLst/>
            <a:cxnLst>
              <a:cxn ang="0">
                <a:pos x="T0" y="T1"/>
              </a:cxn>
              <a:cxn ang="0">
                <a:pos x="T2" y="T3"/>
              </a:cxn>
              <a:cxn ang="0">
                <a:pos x="T4" y="T5"/>
              </a:cxn>
              <a:cxn ang="0">
                <a:pos x="T6" y="T7"/>
              </a:cxn>
              <a:cxn ang="0">
                <a:pos x="T8" y="T9"/>
              </a:cxn>
            </a:cxnLst>
            <a:rect l="0" t="0" r="r" b="b"/>
            <a:pathLst>
              <a:path w="864" h="1680">
                <a:moveTo>
                  <a:pt x="864" y="1296"/>
                </a:moveTo>
                <a:lnTo>
                  <a:pt x="864" y="1680"/>
                </a:lnTo>
                <a:lnTo>
                  <a:pt x="0" y="1680"/>
                </a:lnTo>
                <a:lnTo>
                  <a:pt x="0" y="0"/>
                </a:lnTo>
                <a:lnTo>
                  <a:pt x="192" y="0"/>
                </a:lnTo>
              </a:path>
            </a:pathLst>
          </a:custGeom>
          <a:noFill/>
          <a:ln w="28575"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zh-CN" altLang="en-US"/>
          </a:p>
        </p:txBody>
      </p:sp>
    </p:spTree>
    <p:extLst>
      <p:ext uri="{BB962C8B-B14F-4D97-AF65-F5344CB8AC3E}">
        <p14:creationId xmlns:p14="http://schemas.microsoft.com/office/powerpoint/2010/main" val="25875601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43439"/>
                                        </p:tgtEl>
                                        <p:attrNameLst>
                                          <p:attrName>style.visibility</p:attrName>
                                        </p:attrNameLst>
                                      </p:cBhvr>
                                      <p:to>
                                        <p:strVal val="visible"/>
                                      </p:to>
                                    </p:set>
                                    <p:anim calcmode="lin" valueType="num">
                                      <p:cBhvr additive="base">
                                        <p:cTn id="7" dur="500" fill="hold"/>
                                        <p:tgtEl>
                                          <p:spTgt spid="143439"/>
                                        </p:tgtEl>
                                        <p:attrNameLst>
                                          <p:attrName>ppt_x</p:attrName>
                                        </p:attrNameLst>
                                      </p:cBhvr>
                                      <p:tavLst>
                                        <p:tav tm="0">
                                          <p:val>
                                            <p:strVal val="1+#ppt_w/2"/>
                                          </p:val>
                                        </p:tav>
                                        <p:tav tm="100000">
                                          <p:val>
                                            <p:strVal val="#ppt_x"/>
                                          </p:val>
                                        </p:tav>
                                      </p:tavLst>
                                    </p:anim>
                                    <p:anim calcmode="lin" valueType="num">
                                      <p:cBhvr additive="base">
                                        <p:cTn id="8" dur="500" fill="hold"/>
                                        <p:tgtEl>
                                          <p:spTgt spid="1434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9" grpId="0" animBg="1"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branch causes a one-cycle stall in the five-stage pipeline</a:t>
            </a:r>
            <a:endParaRPr lang="zh-CN" altLang="en-US" dirty="0"/>
          </a:p>
        </p:txBody>
      </p:sp>
      <p:sp>
        <p:nvSpPr>
          <p:cNvPr id="3" name="内容占位符 2"/>
          <p:cNvSpPr>
            <a:spLocks noGrp="1"/>
          </p:cNvSpPr>
          <p:nvPr>
            <p:ph idx="1"/>
          </p:nvPr>
        </p:nvSpPr>
        <p:spPr>
          <a:xfrm>
            <a:off x="838200" y="4581128"/>
            <a:ext cx="10515600" cy="2088232"/>
          </a:xfrm>
        </p:spPr>
        <p:txBody>
          <a:bodyPr/>
          <a:lstStyle/>
          <a:p>
            <a:r>
              <a:rPr lang="en-US" altLang="zh-CN" dirty="0" smtClean="0"/>
              <a:t>The </a:t>
            </a:r>
            <a:r>
              <a:rPr lang="en-US" altLang="zh-CN" dirty="0"/>
              <a:t>instruction after the branch is fetched, but the instruction is ignored, and the fetch is restarted once the branch target is known. It is probably obvious that if the branch is not taken, the second IF for branch successor is </a:t>
            </a:r>
            <a:r>
              <a:rPr lang="en-US" altLang="zh-CN" dirty="0" smtClean="0"/>
              <a:t>redundant</a:t>
            </a:r>
            <a:endParaRPr lang="en-US" altLang="zh-CN" dirty="0"/>
          </a:p>
          <a:p>
            <a:endParaRPr lang="en-US" altLang="zh-CN" dirty="0"/>
          </a:p>
          <a:p>
            <a:endParaRPr lang="zh-CN" altLang="en-US" dirty="0"/>
          </a:p>
        </p:txBody>
      </p:sp>
      <p:pic>
        <p:nvPicPr>
          <p:cNvPr id="4" name="图片 3"/>
          <p:cNvPicPr>
            <a:picLocks noChangeAspect="1"/>
          </p:cNvPicPr>
          <p:nvPr/>
        </p:nvPicPr>
        <p:blipFill>
          <a:blip r:embed="rId2"/>
          <a:stretch>
            <a:fillRect/>
          </a:stretch>
        </p:blipFill>
        <p:spPr>
          <a:xfrm>
            <a:off x="335360" y="1844824"/>
            <a:ext cx="11703732" cy="2284668"/>
          </a:xfrm>
          <a:prstGeom prst="rect">
            <a:avLst/>
          </a:prstGeom>
        </p:spPr>
      </p:pic>
    </p:spTree>
    <p:extLst>
      <p:ext uri="{BB962C8B-B14F-4D97-AF65-F5344CB8AC3E}">
        <p14:creationId xmlns:p14="http://schemas.microsoft.com/office/powerpoint/2010/main" val="104623527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dirty="0" smtClean="0"/>
              <a:t>Compare in ID brings new hazard</a:t>
            </a:r>
            <a:endParaRPr lang="en-US" altLang="zh-CN" dirty="0"/>
          </a:p>
        </p:txBody>
      </p:sp>
      <p:sp>
        <p:nvSpPr>
          <p:cNvPr id="142339" name="Rectangle 3"/>
          <p:cNvSpPr>
            <a:spLocks noChangeArrowheads="1"/>
          </p:cNvSpPr>
          <p:nvPr/>
        </p:nvSpPr>
        <p:spPr bwMode="auto">
          <a:xfrm>
            <a:off x="3494088" y="1700808"/>
            <a:ext cx="1143000" cy="3962400"/>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40" name="Group 4"/>
          <p:cNvGrpSpPr>
            <a:grpSpLocks/>
          </p:cNvGrpSpPr>
          <p:nvPr/>
        </p:nvGrpSpPr>
        <p:grpSpPr bwMode="auto">
          <a:xfrm>
            <a:off x="1524001" y="1853209"/>
            <a:ext cx="3509275" cy="3802063"/>
            <a:chOff x="473" y="1446"/>
            <a:chExt cx="1845" cy="2395"/>
          </a:xfrm>
        </p:grpSpPr>
        <p:sp>
          <p:nvSpPr>
            <p:cNvPr id="142341" name="Rectangle 5"/>
            <p:cNvSpPr>
              <a:spLocks noChangeArrowheads="1"/>
            </p:cNvSpPr>
            <p:nvPr/>
          </p:nvSpPr>
          <p:spPr bwMode="auto">
            <a:xfrm>
              <a:off x="473" y="1446"/>
              <a:ext cx="1647" cy="2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dirty="0">
                  <a:latin typeface="Courier New" panose="02070309020205020404" pitchFamily="49" charset="0"/>
                </a:rPr>
                <a:t>10: and </a:t>
              </a:r>
              <a:r>
                <a:rPr lang="en-US" altLang="zh-CN" sz="2400" dirty="0" smtClean="0">
                  <a:solidFill>
                    <a:srgbClr val="FF0000"/>
                  </a:solidFill>
                  <a:latin typeface="Courier New" panose="02070309020205020404" pitchFamily="49" charset="0"/>
                </a:rPr>
                <a:t>r3</a:t>
              </a:r>
              <a:r>
                <a:rPr lang="en-US" altLang="zh-CN" sz="2400" dirty="0" smtClean="0">
                  <a:latin typeface="Courier New" panose="02070309020205020404" pitchFamily="49" charset="0"/>
                </a:rPr>
                <a:t>,r2,r5</a:t>
              </a:r>
              <a:endParaRPr lang="en-US" altLang="zh-CN" sz="2400" dirty="0">
                <a:latin typeface="Courier New" panose="02070309020205020404" pitchFamily="49" charset="0"/>
              </a:endParaRPr>
            </a:p>
          </p:txBody>
        </p:sp>
        <p:sp>
          <p:nvSpPr>
            <p:cNvPr id="142342" name="Rectangle 6"/>
            <p:cNvSpPr>
              <a:spLocks noChangeArrowheads="1"/>
            </p:cNvSpPr>
            <p:nvPr/>
          </p:nvSpPr>
          <p:spPr bwMode="auto">
            <a:xfrm>
              <a:off x="473" y="1998"/>
              <a:ext cx="1647" cy="754"/>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dirty="0">
                  <a:latin typeface="Courier New" panose="02070309020205020404" pitchFamily="49" charset="0"/>
                </a:rPr>
                <a:t>14</a:t>
              </a:r>
              <a:r>
                <a:rPr lang="en-US" altLang="zh-CN" sz="2400" dirty="0" smtClean="0">
                  <a:latin typeface="Courier New" panose="02070309020205020404" pitchFamily="49" charset="0"/>
                </a:rPr>
                <a:t>: </a:t>
              </a:r>
              <a:r>
                <a:rPr lang="en-US" altLang="zh-CN" sz="2400" dirty="0" err="1" smtClean="0">
                  <a:latin typeface="Courier New" panose="02070309020205020404" pitchFamily="49" charset="0"/>
                </a:rPr>
                <a:t>beq</a:t>
              </a:r>
              <a:r>
                <a:rPr lang="en-US" altLang="zh-CN" sz="2400" dirty="0" smtClean="0">
                  <a:latin typeface="Courier New" panose="02070309020205020404" pitchFamily="49" charset="0"/>
                </a:rPr>
                <a:t> </a:t>
              </a:r>
              <a:r>
                <a:rPr lang="en-US" altLang="zh-CN" sz="2400" dirty="0">
                  <a:latin typeface="Courier New" panose="02070309020205020404" pitchFamily="49" charset="0"/>
                </a:rPr>
                <a:t>r1,</a:t>
              </a:r>
              <a:r>
                <a:rPr lang="en-US" altLang="zh-CN" sz="2400" dirty="0">
                  <a:solidFill>
                    <a:srgbClr val="FF0000"/>
                  </a:solidFill>
                  <a:latin typeface="Courier New" panose="02070309020205020404" pitchFamily="49" charset="0"/>
                </a:rPr>
                <a:t>r3</a:t>
              </a:r>
              <a:r>
                <a:rPr lang="en-US" altLang="zh-CN" sz="2400" dirty="0">
                  <a:latin typeface="Courier New" panose="02070309020205020404" pitchFamily="49" charset="0"/>
                </a:rPr>
                <a:t>,36</a:t>
              </a:r>
            </a:p>
            <a:p>
              <a:pPr eaLnBrk="1" hangingPunct="1"/>
              <a:endParaRPr lang="en-US" altLang="zh-CN" sz="2400" dirty="0">
                <a:latin typeface="Courier New" panose="02070309020205020404" pitchFamily="49" charset="0"/>
              </a:endParaRPr>
            </a:p>
            <a:p>
              <a:pPr eaLnBrk="1" latinLnBrk="1" hangingPunct="1"/>
              <a:endParaRPr lang="en-US" altLang="zh-CN" sz="2400" dirty="0">
                <a:latin typeface="Courier New" panose="02070309020205020404" pitchFamily="49" charset="0"/>
              </a:endParaRPr>
            </a:p>
          </p:txBody>
        </p:sp>
        <p:sp>
          <p:nvSpPr>
            <p:cNvPr id="142343" name="Rectangle 7"/>
            <p:cNvSpPr>
              <a:spLocks noChangeArrowheads="1"/>
            </p:cNvSpPr>
            <p:nvPr/>
          </p:nvSpPr>
          <p:spPr bwMode="auto">
            <a:xfrm>
              <a:off x="473" y="2526"/>
              <a:ext cx="1647"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18: or  r6,r1,r7</a:t>
              </a:r>
            </a:p>
            <a:p>
              <a:pPr eaLnBrk="1" latinLnBrk="1" hangingPunct="1"/>
              <a:endParaRPr lang="en-US" altLang="zh-CN" sz="2400">
                <a:latin typeface="Courier New" panose="02070309020205020404" pitchFamily="49" charset="0"/>
              </a:endParaRPr>
            </a:p>
          </p:txBody>
        </p:sp>
        <p:sp>
          <p:nvSpPr>
            <p:cNvPr id="142344" name="Rectangle 8"/>
            <p:cNvSpPr>
              <a:spLocks noChangeArrowheads="1"/>
            </p:cNvSpPr>
            <p:nvPr/>
          </p:nvSpPr>
          <p:spPr bwMode="auto">
            <a:xfrm>
              <a:off x="473" y="3066"/>
              <a:ext cx="1647" cy="522"/>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22: add r8,r1,r9</a:t>
              </a:r>
            </a:p>
            <a:p>
              <a:pPr eaLnBrk="1" latinLnBrk="1" hangingPunct="1"/>
              <a:endParaRPr lang="en-US" altLang="zh-CN" sz="2400">
                <a:latin typeface="Courier New" panose="02070309020205020404" pitchFamily="49" charset="0"/>
              </a:endParaRPr>
            </a:p>
          </p:txBody>
        </p:sp>
        <p:sp>
          <p:nvSpPr>
            <p:cNvPr id="142345" name="Rectangle 9"/>
            <p:cNvSpPr>
              <a:spLocks noChangeArrowheads="1"/>
            </p:cNvSpPr>
            <p:nvPr/>
          </p:nvSpPr>
          <p:spPr bwMode="auto">
            <a:xfrm>
              <a:off x="477" y="3552"/>
              <a:ext cx="1841" cy="289"/>
            </a:xfrm>
            <a:prstGeom prst="rect">
              <a:avLst/>
            </a:prstGeom>
            <a:solidFill>
              <a:schemeClr val="bg1"/>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1" hangingPunct="1"/>
              <a:r>
                <a:rPr lang="en-US" altLang="zh-CN" sz="2400">
                  <a:latin typeface="Courier New" panose="02070309020205020404" pitchFamily="49" charset="0"/>
                </a:rPr>
                <a:t>36: xor r10,r1,r11</a:t>
              </a:r>
            </a:p>
          </p:txBody>
        </p:sp>
      </p:grpSp>
      <p:sp>
        <p:nvSpPr>
          <p:cNvPr id="142346" name="Freeform 10"/>
          <p:cNvSpPr>
            <a:spLocks/>
          </p:cNvSpPr>
          <p:nvPr/>
        </p:nvSpPr>
        <p:spPr bwMode="auto">
          <a:xfrm>
            <a:off x="3352800" y="3150752"/>
            <a:ext cx="1447800" cy="2131457"/>
          </a:xfrm>
          <a:custGeom>
            <a:avLst/>
            <a:gdLst>
              <a:gd name="T0" fmla="*/ 0 w 960"/>
              <a:gd name="T1" fmla="*/ 0 h 1920"/>
              <a:gd name="T2" fmla="*/ 0 w 960"/>
              <a:gd name="T3" fmla="*/ 192 h 1920"/>
              <a:gd name="T4" fmla="*/ 960 w 960"/>
              <a:gd name="T5" fmla="*/ 192 h 1920"/>
              <a:gd name="T6" fmla="*/ 960 w 960"/>
              <a:gd name="T7" fmla="*/ 1728 h 1920"/>
              <a:gd name="T8" fmla="*/ 48 w 960"/>
              <a:gd name="T9" fmla="*/ 1728 h 1920"/>
              <a:gd name="T10" fmla="*/ 48 w 960"/>
              <a:gd name="T11" fmla="*/ 1920 h 1920"/>
            </a:gdLst>
            <a:ahLst/>
            <a:cxnLst>
              <a:cxn ang="0">
                <a:pos x="T0" y="T1"/>
              </a:cxn>
              <a:cxn ang="0">
                <a:pos x="T2" y="T3"/>
              </a:cxn>
              <a:cxn ang="0">
                <a:pos x="T4" y="T5"/>
              </a:cxn>
              <a:cxn ang="0">
                <a:pos x="T6" y="T7"/>
              </a:cxn>
              <a:cxn ang="0">
                <a:pos x="T8" y="T9"/>
              </a:cxn>
              <a:cxn ang="0">
                <a:pos x="T10" y="T11"/>
              </a:cxn>
            </a:cxnLst>
            <a:rect l="0" t="0" r="r" b="b"/>
            <a:pathLst>
              <a:path w="960" h="1920">
                <a:moveTo>
                  <a:pt x="0" y="0"/>
                </a:moveTo>
                <a:lnTo>
                  <a:pt x="0" y="192"/>
                </a:lnTo>
                <a:lnTo>
                  <a:pt x="960" y="192"/>
                </a:lnTo>
                <a:lnTo>
                  <a:pt x="960" y="1728"/>
                </a:lnTo>
                <a:lnTo>
                  <a:pt x="48" y="1728"/>
                </a:lnTo>
                <a:lnTo>
                  <a:pt x="48" y="1920"/>
                </a:lnTo>
              </a:path>
            </a:pathLst>
          </a:custGeom>
          <a:noFill/>
          <a:ln w="2857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47" name="Group 11"/>
          <p:cNvGrpSpPr>
            <a:grpSpLocks/>
          </p:cNvGrpSpPr>
          <p:nvPr/>
        </p:nvGrpSpPr>
        <p:grpSpPr bwMode="auto">
          <a:xfrm>
            <a:off x="4876800" y="1700808"/>
            <a:ext cx="5786438" cy="4057650"/>
            <a:chOff x="2047" y="1344"/>
            <a:chExt cx="3710" cy="2556"/>
          </a:xfrm>
        </p:grpSpPr>
        <p:grpSp>
          <p:nvGrpSpPr>
            <p:cNvPr id="142348" name="Group 12"/>
            <p:cNvGrpSpPr>
              <a:grpSpLocks/>
            </p:cNvGrpSpPr>
            <p:nvPr/>
          </p:nvGrpSpPr>
          <p:grpSpPr bwMode="auto">
            <a:xfrm>
              <a:off x="2902" y="2419"/>
              <a:ext cx="2003" cy="441"/>
              <a:chOff x="1924" y="1200"/>
              <a:chExt cx="1972" cy="441"/>
            </a:xfrm>
          </p:grpSpPr>
          <p:grpSp>
            <p:nvGrpSpPr>
              <p:cNvPr id="142349" name="Group 13"/>
              <p:cNvGrpSpPr>
                <a:grpSpLocks noChangeAspect="1"/>
              </p:cNvGrpSpPr>
              <p:nvPr/>
            </p:nvGrpSpPr>
            <p:grpSpPr bwMode="auto">
              <a:xfrm>
                <a:off x="2415" y="1304"/>
                <a:ext cx="254" cy="233"/>
                <a:chOff x="1344" y="528"/>
                <a:chExt cx="550" cy="432"/>
              </a:xfrm>
            </p:grpSpPr>
            <p:grpSp>
              <p:nvGrpSpPr>
                <p:cNvPr id="142350" name="Group 14"/>
                <p:cNvGrpSpPr>
                  <a:grpSpLocks noChangeAspect="1"/>
                </p:cNvGrpSpPr>
                <p:nvPr/>
              </p:nvGrpSpPr>
              <p:grpSpPr bwMode="auto">
                <a:xfrm>
                  <a:off x="1374" y="528"/>
                  <a:ext cx="480" cy="432"/>
                  <a:chOff x="1392" y="528"/>
                  <a:chExt cx="480" cy="432"/>
                </a:xfrm>
              </p:grpSpPr>
              <p:sp>
                <p:nvSpPr>
                  <p:cNvPr id="142351" name="Rectangle 15"/>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2" name="Rectangle 16"/>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353" name="Text Box 17"/>
                <p:cNvSpPr txBox="1">
                  <a:spLocks noChangeAspect="1" noChangeArrowheads="1"/>
                </p:cNvSpPr>
                <p:nvPr/>
              </p:nvSpPr>
              <p:spPr bwMode="auto">
                <a:xfrm>
                  <a:off x="1344" y="574"/>
                  <a:ext cx="550"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2354" name="Line 18"/>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5" name="Line 19"/>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56" name="Group 20"/>
              <p:cNvGrpSpPr>
                <a:grpSpLocks noChangeAspect="1"/>
              </p:cNvGrpSpPr>
              <p:nvPr/>
            </p:nvGrpSpPr>
            <p:grpSpPr bwMode="auto">
              <a:xfrm>
                <a:off x="2850" y="1235"/>
                <a:ext cx="213" cy="371"/>
                <a:chOff x="2991" y="411"/>
                <a:chExt cx="385" cy="768"/>
              </a:xfrm>
            </p:grpSpPr>
            <p:sp>
              <p:nvSpPr>
                <p:cNvPr id="142357" name="AutoShape 21"/>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2358" name="AutoShape 22"/>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59" name="Freeform 23"/>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0" name="Text Box 24"/>
                <p:cNvSpPr txBox="1">
                  <a:spLocks noChangeAspect="1" noChangeArrowheads="1"/>
                </p:cNvSpPr>
                <p:nvPr/>
              </p:nvSpPr>
              <p:spPr bwMode="auto">
                <a:xfrm rot="16200000">
                  <a:off x="2946" y="602"/>
                  <a:ext cx="579" cy="2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42361" name="Line 25"/>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2" name="Line 26"/>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63" name="Group 27"/>
              <p:cNvGrpSpPr>
                <a:grpSpLocks noChangeAspect="1"/>
              </p:cNvGrpSpPr>
              <p:nvPr/>
            </p:nvGrpSpPr>
            <p:grpSpPr bwMode="auto">
              <a:xfrm>
                <a:off x="3171" y="1305"/>
                <a:ext cx="353" cy="232"/>
                <a:chOff x="3771" y="576"/>
                <a:chExt cx="763" cy="480"/>
              </a:xfrm>
            </p:grpSpPr>
            <p:sp>
              <p:nvSpPr>
                <p:cNvPr id="142364" name="Rectangle 28"/>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365" name="Text Box 29"/>
                <p:cNvSpPr txBox="1">
                  <a:spLocks noChangeAspect="1" noChangeArrowheads="1"/>
                </p:cNvSpPr>
                <p:nvPr/>
              </p:nvSpPr>
              <p:spPr bwMode="auto">
                <a:xfrm>
                  <a:off x="3771" y="628"/>
                  <a:ext cx="76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42366" name="Freeform 30"/>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7" name="Line 31"/>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68" name="Line 32"/>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69" name="Group 33"/>
              <p:cNvGrpSpPr>
                <a:grpSpLocks noChangeAspect="1"/>
              </p:cNvGrpSpPr>
              <p:nvPr/>
            </p:nvGrpSpPr>
            <p:grpSpPr bwMode="auto">
              <a:xfrm>
                <a:off x="1924" y="1305"/>
                <a:ext cx="372" cy="232"/>
                <a:chOff x="1042" y="576"/>
                <a:chExt cx="803" cy="480"/>
              </a:xfrm>
            </p:grpSpPr>
            <p:sp>
              <p:nvSpPr>
                <p:cNvPr id="142370" name="Rectangle 34"/>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371" name="Text Box 35"/>
                <p:cNvSpPr txBox="1">
                  <a:spLocks noChangeAspect="1" noChangeArrowheads="1"/>
                </p:cNvSpPr>
                <p:nvPr/>
              </p:nvSpPr>
              <p:spPr bwMode="auto">
                <a:xfrm>
                  <a:off x="1042" y="628"/>
                  <a:ext cx="80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42372" name="Group 36"/>
              <p:cNvGrpSpPr>
                <a:grpSpLocks/>
              </p:cNvGrpSpPr>
              <p:nvPr/>
            </p:nvGrpSpPr>
            <p:grpSpPr bwMode="auto">
              <a:xfrm>
                <a:off x="2288" y="1200"/>
                <a:ext cx="1297" cy="441"/>
                <a:chOff x="2112" y="528"/>
                <a:chExt cx="2088" cy="681"/>
              </a:xfrm>
            </p:grpSpPr>
            <p:sp>
              <p:nvSpPr>
                <p:cNvPr id="142373" name="Rectangle 37"/>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4" name="Rectangle 38"/>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5" name="Rectangle 39"/>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76" name="Rectangle 40"/>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2377" name="Group 41"/>
              <p:cNvGrpSpPr>
                <a:grpSpLocks noChangeAspect="1"/>
              </p:cNvGrpSpPr>
              <p:nvPr/>
            </p:nvGrpSpPr>
            <p:grpSpPr bwMode="auto">
              <a:xfrm flipH="1">
                <a:off x="3642" y="1296"/>
                <a:ext cx="254" cy="233"/>
                <a:chOff x="1360" y="528"/>
                <a:chExt cx="546" cy="432"/>
              </a:xfrm>
            </p:grpSpPr>
            <p:grpSp>
              <p:nvGrpSpPr>
                <p:cNvPr id="142378" name="Group 42"/>
                <p:cNvGrpSpPr>
                  <a:grpSpLocks noChangeAspect="1"/>
                </p:cNvGrpSpPr>
                <p:nvPr/>
              </p:nvGrpSpPr>
              <p:grpSpPr bwMode="auto">
                <a:xfrm>
                  <a:off x="1374" y="528"/>
                  <a:ext cx="480" cy="432"/>
                  <a:chOff x="1392" y="528"/>
                  <a:chExt cx="480" cy="432"/>
                </a:xfrm>
              </p:grpSpPr>
              <p:sp>
                <p:nvSpPr>
                  <p:cNvPr id="142379" name="Rectangle 43"/>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80" name="Rectangle 44"/>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381" name="Text Box 45"/>
                <p:cNvSpPr txBox="1">
                  <a:spLocks noChangeAspect="1" noChangeArrowheads="1"/>
                </p:cNvSpPr>
                <p:nvPr/>
              </p:nvSpPr>
              <p:spPr bwMode="auto">
                <a:xfrm>
                  <a:off x="1360" y="574"/>
                  <a:ext cx="546"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42382" name="Group 46"/>
            <p:cNvGrpSpPr>
              <a:grpSpLocks/>
            </p:cNvGrpSpPr>
            <p:nvPr/>
          </p:nvGrpSpPr>
          <p:grpSpPr bwMode="auto">
            <a:xfrm>
              <a:off x="2474" y="1883"/>
              <a:ext cx="2003" cy="441"/>
              <a:chOff x="1923" y="1200"/>
              <a:chExt cx="1972" cy="441"/>
            </a:xfrm>
          </p:grpSpPr>
          <p:grpSp>
            <p:nvGrpSpPr>
              <p:cNvPr id="142383" name="Group 47"/>
              <p:cNvGrpSpPr>
                <a:grpSpLocks noChangeAspect="1"/>
              </p:cNvGrpSpPr>
              <p:nvPr/>
            </p:nvGrpSpPr>
            <p:grpSpPr bwMode="auto">
              <a:xfrm>
                <a:off x="2414" y="1304"/>
                <a:ext cx="255" cy="233"/>
                <a:chOff x="1341" y="528"/>
                <a:chExt cx="553" cy="432"/>
              </a:xfrm>
            </p:grpSpPr>
            <p:grpSp>
              <p:nvGrpSpPr>
                <p:cNvPr id="142384" name="Group 48"/>
                <p:cNvGrpSpPr>
                  <a:grpSpLocks noChangeAspect="1"/>
                </p:cNvGrpSpPr>
                <p:nvPr/>
              </p:nvGrpSpPr>
              <p:grpSpPr bwMode="auto">
                <a:xfrm>
                  <a:off x="1374" y="528"/>
                  <a:ext cx="480" cy="432"/>
                  <a:chOff x="1392" y="528"/>
                  <a:chExt cx="480" cy="432"/>
                </a:xfrm>
              </p:grpSpPr>
              <p:sp>
                <p:nvSpPr>
                  <p:cNvPr id="142385" name="Rectangle 49"/>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86" name="Rectangle 50"/>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387" name="Text Box 51"/>
                <p:cNvSpPr txBox="1">
                  <a:spLocks noChangeAspect="1" noChangeArrowheads="1"/>
                </p:cNvSpPr>
                <p:nvPr/>
              </p:nvSpPr>
              <p:spPr bwMode="auto">
                <a:xfrm>
                  <a:off x="1341" y="574"/>
                  <a:ext cx="553"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2388" name="Line 52"/>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89" name="Line 53"/>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90" name="Group 54"/>
              <p:cNvGrpSpPr>
                <a:grpSpLocks noChangeAspect="1"/>
              </p:cNvGrpSpPr>
              <p:nvPr/>
            </p:nvGrpSpPr>
            <p:grpSpPr bwMode="auto">
              <a:xfrm>
                <a:off x="2851" y="1235"/>
                <a:ext cx="209" cy="371"/>
                <a:chOff x="2991" y="411"/>
                <a:chExt cx="377" cy="768"/>
              </a:xfrm>
            </p:grpSpPr>
            <p:sp>
              <p:nvSpPr>
                <p:cNvPr id="142391" name="AutoShape 55"/>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2392" name="AutoShape 56"/>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93" name="Freeform 57"/>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94" name="Text Box 58"/>
                <p:cNvSpPr txBox="1">
                  <a:spLocks noChangeAspect="1" noChangeArrowheads="1"/>
                </p:cNvSpPr>
                <p:nvPr/>
              </p:nvSpPr>
              <p:spPr bwMode="auto">
                <a:xfrm rot="-5400000">
                  <a:off x="2941" y="608"/>
                  <a:ext cx="575" cy="2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42395" name="Line 59"/>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396" name="Line 60"/>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397" name="Group 61"/>
              <p:cNvGrpSpPr>
                <a:grpSpLocks noChangeAspect="1"/>
              </p:cNvGrpSpPr>
              <p:nvPr/>
            </p:nvGrpSpPr>
            <p:grpSpPr bwMode="auto">
              <a:xfrm>
                <a:off x="3172" y="1305"/>
                <a:ext cx="353" cy="232"/>
                <a:chOff x="3773" y="576"/>
                <a:chExt cx="763" cy="480"/>
              </a:xfrm>
            </p:grpSpPr>
            <p:sp>
              <p:nvSpPr>
                <p:cNvPr id="142398" name="Rectangle 62"/>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399" name="Text Box 63"/>
                <p:cNvSpPr txBox="1">
                  <a:spLocks noChangeAspect="1" noChangeArrowheads="1"/>
                </p:cNvSpPr>
                <p:nvPr/>
              </p:nvSpPr>
              <p:spPr bwMode="auto">
                <a:xfrm>
                  <a:off x="3773" y="628"/>
                  <a:ext cx="76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42400" name="Freeform 64"/>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01" name="Line 65"/>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02" name="Line 66"/>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03" name="Group 67"/>
              <p:cNvGrpSpPr>
                <a:grpSpLocks noChangeAspect="1"/>
              </p:cNvGrpSpPr>
              <p:nvPr/>
            </p:nvGrpSpPr>
            <p:grpSpPr bwMode="auto">
              <a:xfrm>
                <a:off x="1923" y="1305"/>
                <a:ext cx="372" cy="232"/>
                <a:chOff x="1039" y="576"/>
                <a:chExt cx="802" cy="480"/>
              </a:xfrm>
            </p:grpSpPr>
            <p:sp>
              <p:nvSpPr>
                <p:cNvPr id="142404" name="Rectangle 68"/>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05" name="Text Box 69"/>
                <p:cNvSpPr txBox="1">
                  <a:spLocks noChangeAspect="1" noChangeArrowheads="1"/>
                </p:cNvSpPr>
                <p:nvPr/>
              </p:nvSpPr>
              <p:spPr bwMode="auto">
                <a:xfrm>
                  <a:off x="1039" y="628"/>
                  <a:ext cx="80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42406" name="Group 70"/>
              <p:cNvGrpSpPr>
                <a:grpSpLocks/>
              </p:cNvGrpSpPr>
              <p:nvPr/>
            </p:nvGrpSpPr>
            <p:grpSpPr bwMode="auto">
              <a:xfrm>
                <a:off x="2288" y="1200"/>
                <a:ext cx="1297" cy="441"/>
                <a:chOff x="2112" y="528"/>
                <a:chExt cx="2088" cy="681"/>
              </a:xfrm>
            </p:grpSpPr>
            <p:sp>
              <p:nvSpPr>
                <p:cNvPr id="142407" name="Rectangle 71"/>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08" name="Rectangle 72"/>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09" name="Rectangle 73"/>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10" name="Rectangle 74"/>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2411" name="Group 75"/>
              <p:cNvGrpSpPr>
                <a:grpSpLocks noChangeAspect="1"/>
              </p:cNvGrpSpPr>
              <p:nvPr/>
            </p:nvGrpSpPr>
            <p:grpSpPr bwMode="auto">
              <a:xfrm flipH="1">
                <a:off x="3640" y="1296"/>
                <a:ext cx="255" cy="233"/>
                <a:chOff x="1356" y="528"/>
                <a:chExt cx="548" cy="432"/>
              </a:xfrm>
            </p:grpSpPr>
            <p:grpSp>
              <p:nvGrpSpPr>
                <p:cNvPr id="142412" name="Group 76"/>
                <p:cNvGrpSpPr>
                  <a:grpSpLocks noChangeAspect="1"/>
                </p:cNvGrpSpPr>
                <p:nvPr/>
              </p:nvGrpSpPr>
              <p:grpSpPr bwMode="auto">
                <a:xfrm>
                  <a:off x="1374" y="528"/>
                  <a:ext cx="480" cy="432"/>
                  <a:chOff x="1392" y="528"/>
                  <a:chExt cx="480" cy="432"/>
                </a:xfrm>
              </p:grpSpPr>
              <p:sp>
                <p:nvSpPr>
                  <p:cNvPr id="142413" name="Rectangle 77"/>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14" name="Rectangle 78"/>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15" name="Text Box 79"/>
                <p:cNvSpPr txBox="1">
                  <a:spLocks noChangeAspect="1" noChangeArrowheads="1"/>
                </p:cNvSpPr>
                <p:nvPr/>
              </p:nvSpPr>
              <p:spPr bwMode="auto">
                <a:xfrm>
                  <a:off x="1356" y="574"/>
                  <a:ext cx="548"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42416" name="Group 80"/>
            <p:cNvGrpSpPr>
              <a:grpSpLocks/>
            </p:cNvGrpSpPr>
            <p:nvPr/>
          </p:nvGrpSpPr>
          <p:grpSpPr bwMode="auto">
            <a:xfrm>
              <a:off x="2055" y="1363"/>
              <a:ext cx="2003" cy="441"/>
              <a:chOff x="1923" y="1200"/>
              <a:chExt cx="1972" cy="441"/>
            </a:xfrm>
          </p:grpSpPr>
          <p:grpSp>
            <p:nvGrpSpPr>
              <p:cNvPr id="142417" name="Group 81"/>
              <p:cNvGrpSpPr>
                <a:grpSpLocks noChangeAspect="1"/>
              </p:cNvGrpSpPr>
              <p:nvPr/>
            </p:nvGrpSpPr>
            <p:grpSpPr bwMode="auto">
              <a:xfrm>
                <a:off x="2414" y="1304"/>
                <a:ext cx="254" cy="233"/>
                <a:chOff x="1342" y="528"/>
                <a:chExt cx="550" cy="432"/>
              </a:xfrm>
            </p:grpSpPr>
            <p:grpSp>
              <p:nvGrpSpPr>
                <p:cNvPr id="142418" name="Group 82"/>
                <p:cNvGrpSpPr>
                  <a:grpSpLocks noChangeAspect="1"/>
                </p:cNvGrpSpPr>
                <p:nvPr/>
              </p:nvGrpSpPr>
              <p:grpSpPr bwMode="auto">
                <a:xfrm>
                  <a:off x="1374" y="528"/>
                  <a:ext cx="480" cy="432"/>
                  <a:chOff x="1392" y="528"/>
                  <a:chExt cx="480" cy="432"/>
                </a:xfrm>
              </p:grpSpPr>
              <p:sp>
                <p:nvSpPr>
                  <p:cNvPr id="142419" name="Rectangle 83"/>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20" name="Rectangle 84"/>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21" name="Text Box 85"/>
                <p:cNvSpPr txBox="1">
                  <a:spLocks noChangeAspect="1" noChangeArrowheads="1"/>
                </p:cNvSpPr>
                <p:nvPr/>
              </p:nvSpPr>
              <p:spPr bwMode="auto">
                <a:xfrm>
                  <a:off x="1342" y="574"/>
                  <a:ext cx="550"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2422" name="Line 86"/>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23" name="Line 87"/>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24" name="Group 88"/>
              <p:cNvGrpSpPr>
                <a:grpSpLocks noChangeAspect="1"/>
              </p:cNvGrpSpPr>
              <p:nvPr/>
            </p:nvGrpSpPr>
            <p:grpSpPr bwMode="auto">
              <a:xfrm>
                <a:off x="2850" y="1235"/>
                <a:ext cx="211" cy="371"/>
                <a:chOff x="2991" y="411"/>
                <a:chExt cx="381" cy="768"/>
              </a:xfrm>
            </p:grpSpPr>
            <p:sp>
              <p:nvSpPr>
                <p:cNvPr id="142425" name="AutoShape 89"/>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2426" name="AutoShape 90"/>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27" name="Freeform 91"/>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28" name="Text Box 92"/>
                <p:cNvSpPr txBox="1">
                  <a:spLocks noChangeAspect="1" noChangeArrowheads="1"/>
                </p:cNvSpPr>
                <p:nvPr/>
              </p:nvSpPr>
              <p:spPr bwMode="auto">
                <a:xfrm rot="16200000">
                  <a:off x="2942" y="605"/>
                  <a:ext cx="579" cy="28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42429" name="Line 93"/>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30" name="Line 94"/>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31" name="Group 95"/>
              <p:cNvGrpSpPr>
                <a:grpSpLocks noChangeAspect="1"/>
              </p:cNvGrpSpPr>
              <p:nvPr/>
            </p:nvGrpSpPr>
            <p:grpSpPr bwMode="auto">
              <a:xfrm>
                <a:off x="3171" y="1305"/>
                <a:ext cx="354" cy="232"/>
                <a:chOff x="3771" y="576"/>
                <a:chExt cx="765" cy="480"/>
              </a:xfrm>
            </p:grpSpPr>
            <p:sp>
              <p:nvSpPr>
                <p:cNvPr id="142432" name="Rectangle 96"/>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33" name="Text Box 97"/>
                <p:cNvSpPr txBox="1">
                  <a:spLocks noChangeAspect="1" noChangeArrowheads="1"/>
                </p:cNvSpPr>
                <p:nvPr/>
              </p:nvSpPr>
              <p:spPr bwMode="auto">
                <a:xfrm>
                  <a:off x="3771" y="628"/>
                  <a:ext cx="765"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42434" name="Freeform 98"/>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35" name="Line 99"/>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36" name="Line 100"/>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37" name="Group 101"/>
              <p:cNvGrpSpPr>
                <a:grpSpLocks noChangeAspect="1"/>
              </p:cNvGrpSpPr>
              <p:nvPr/>
            </p:nvGrpSpPr>
            <p:grpSpPr bwMode="auto">
              <a:xfrm>
                <a:off x="1923" y="1305"/>
                <a:ext cx="372" cy="232"/>
                <a:chOff x="1039" y="576"/>
                <a:chExt cx="803" cy="480"/>
              </a:xfrm>
            </p:grpSpPr>
            <p:sp>
              <p:nvSpPr>
                <p:cNvPr id="142438" name="Rectangle 102"/>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39" name="Text Box 103"/>
                <p:cNvSpPr txBox="1">
                  <a:spLocks noChangeAspect="1" noChangeArrowheads="1"/>
                </p:cNvSpPr>
                <p:nvPr/>
              </p:nvSpPr>
              <p:spPr bwMode="auto">
                <a:xfrm>
                  <a:off x="1039" y="628"/>
                  <a:ext cx="80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42440" name="Group 104"/>
              <p:cNvGrpSpPr>
                <a:grpSpLocks/>
              </p:cNvGrpSpPr>
              <p:nvPr/>
            </p:nvGrpSpPr>
            <p:grpSpPr bwMode="auto">
              <a:xfrm>
                <a:off x="2288" y="1200"/>
                <a:ext cx="1297" cy="441"/>
                <a:chOff x="2112" y="528"/>
                <a:chExt cx="2088" cy="681"/>
              </a:xfrm>
            </p:grpSpPr>
            <p:sp>
              <p:nvSpPr>
                <p:cNvPr id="142441" name="Rectangle 105"/>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42" name="Rectangle 106"/>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43" name="Rectangle 107"/>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44" name="Rectangle 108"/>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2445" name="Group 109"/>
              <p:cNvGrpSpPr>
                <a:grpSpLocks noChangeAspect="1"/>
              </p:cNvGrpSpPr>
              <p:nvPr/>
            </p:nvGrpSpPr>
            <p:grpSpPr bwMode="auto">
              <a:xfrm flipH="1">
                <a:off x="3641" y="1296"/>
                <a:ext cx="254" cy="233"/>
                <a:chOff x="1358" y="528"/>
                <a:chExt cx="546" cy="432"/>
              </a:xfrm>
            </p:grpSpPr>
            <p:grpSp>
              <p:nvGrpSpPr>
                <p:cNvPr id="142446" name="Group 110"/>
                <p:cNvGrpSpPr>
                  <a:grpSpLocks noChangeAspect="1"/>
                </p:cNvGrpSpPr>
                <p:nvPr/>
              </p:nvGrpSpPr>
              <p:grpSpPr bwMode="auto">
                <a:xfrm>
                  <a:off x="1374" y="528"/>
                  <a:ext cx="480" cy="432"/>
                  <a:chOff x="1392" y="528"/>
                  <a:chExt cx="480" cy="432"/>
                </a:xfrm>
              </p:grpSpPr>
              <p:sp>
                <p:nvSpPr>
                  <p:cNvPr id="142447" name="Rectangle 111"/>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48" name="Rectangle 112"/>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49" name="Text Box 113"/>
                <p:cNvSpPr txBox="1">
                  <a:spLocks noChangeAspect="1" noChangeArrowheads="1"/>
                </p:cNvSpPr>
                <p:nvPr/>
              </p:nvSpPr>
              <p:spPr bwMode="auto">
                <a:xfrm>
                  <a:off x="1358" y="574"/>
                  <a:ext cx="546"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grpSp>
          <p:nvGrpSpPr>
            <p:cNvPr id="142450" name="Group 114"/>
            <p:cNvGrpSpPr>
              <a:grpSpLocks noChangeAspect="1"/>
            </p:cNvGrpSpPr>
            <p:nvPr/>
          </p:nvGrpSpPr>
          <p:grpSpPr bwMode="auto">
            <a:xfrm>
              <a:off x="3824" y="3051"/>
              <a:ext cx="259" cy="233"/>
              <a:chOff x="1338" y="528"/>
              <a:chExt cx="552" cy="432"/>
            </a:xfrm>
          </p:grpSpPr>
          <p:grpSp>
            <p:nvGrpSpPr>
              <p:cNvPr id="142451" name="Group 115"/>
              <p:cNvGrpSpPr>
                <a:grpSpLocks noChangeAspect="1"/>
              </p:cNvGrpSpPr>
              <p:nvPr/>
            </p:nvGrpSpPr>
            <p:grpSpPr bwMode="auto">
              <a:xfrm>
                <a:off x="1374" y="528"/>
                <a:ext cx="480" cy="432"/>
                <a:chOff x="1392" y="528"/>
                <a:chExt cx="480" cy="432"/>
              </a:xfrm>
            </p:grpSpPr>
            <p:sp>
              <p:nvSpPr>
                <p:cNvPr id="142452" name="Rectangle 116"/>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53" name="Rectangle 117"/>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54" name="Text Box 118"/>
              <p:cNvSpPr txBox="1">
                <a:spLocks noChangeAspect="1" noChangeArrowheads="1"/>
              </p:cNvSpPr>
              <p:nvPr/>
            </p:nvSpPr>
            <p:spPr bwMode="auto">
              <a:xfrm>
                <a:off x="1338" y="574"/>
                <a:ext cx="552"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2455" name="Line 119"/>
            <p:cNvSpPr>
              <a:spLocks noChangeAspect="1" noChangeShapeType="1"/>
            </p:cNvSpPr>
            <p:nvPr/>
          </p:nvSpPr>
          <p:spPr bwMode="auto">
            <a:xfrm>
              <a:off x="4067" y="3098"/>
              <a:ext cx="2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56" name="Line 120"/>
            <p:cNvSpPr>
              <a:spLocks noChangeAspect="1" noChangeShapeType="1"/>
            </p:cNvSpPr>
            <p:nvPr/>
          </p:nvSpPr>
          <p:spPr bwMode="auto">
            <a:xfrm>
              <a:off x="4067" y="3237"/>
              <a:ext cx="2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57" name="Group 121"/>
            <p:cNvGrpSpPr>
              <a:grpSpLocks noChangeAspect="1"/>
            </p:cNvGrpSpPr>
            <p:nvPr/>
          </p:nvGrpSpPr>
          <p:grpSpPr bwMode="auto">
            <a:xfrm>
              <a:off x="4270" y="2982"/>
              <a:ext cx="213" cy="371"/>
              <a:chOff x="2991" y="411"/>
              <a:chExt cx="379" cy="768"/>
            </a:xfrm>
          </p:grpSpPr>
          <p:sp>
            <p:nvSpPr>
              <p:cNvPr id="142458" name="AutoShape 122"/>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2459" name="AutoShape 123"/>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60" name="Freeform 124"/>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61" name="Text Box 125"/>
              <p:cNvSpPr txBox="1">
                <a:spLocks noChangeAspect="1" noChangeArrowheads="1"/>
              </p:cNvSpPr>
              <p:nvPr/>
            </p:nvSpPr>
            <p:spPr bwMode="auto">
              <a:xfrm rot="-5400000">
                <a:off x="2943" y="609"/>
                <a:ext cx="575" cy="2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42462" name="Line 126"/>
            <p:cNvSpPr>
              <a:spLocks noChangeAspect="1" noChangeShapeType="1"/>
            </p:cNvSpPr>
            <p:nvPr/>
          </p:nvSpPr>
          <p:spPr bwMode="auto">
            <a:xfrm>
              <a:off x="4474" y="3168"/>
              <a:ext cx="24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63" name="Line 127"/>
            <p:cNvSpPr>
              <a:spLocks noChangeAspect="1" noChangeShapeType="1"/>
            </p:cNvSpPr>
            <p:nvPr/>
          </p:nvSpPr>
          <p:spPr bwMode="auto">
            <a:xfrm>
              <a:off x="4904" y="3168"/>
              <a:ext cx="24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64" name="Group 128"/>
            <p:cNvGrpSpPr>
              <a:grpSpLocks noChangeAspect="1"/>
            </p:cNvGrpSpPr>
            <p:nvPr/>
          </p:nvGrpSpPr>
          <p:grpSpPr bwMode="auto">
            <a:xfrm>
              <a:off x="4595" y="3052"/>
              <a:ext cx="358" cy="232"/>
              <a:chOff x="3771" y="576"/>
              <a:chExt cx="762" cy="480"/>
            </a:xfrm>
          </p:grpSpPr>
          <p:sp>
            <p:nvSpPr>
              <p:cNvPr id="142465" name="Rectangle 129"/>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66" name="Text Box 130"/>
              <p:cNvSpPr txBox="1">
                <a:spLocks noChangeAspect="1" noChangeArrowheads="1"/>
              </p:cNvSpPr>
              <p:nvPr/>
            </p:nvSpPr>
            <p:spPr bwMode="auto">
              <a:xfrm>
                <a:off x="3771" y="628"/>
                <a:ext cx="76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42467" name="Freeform 131"/>
            <p:cNvSpPr>
              <a:spLocks noChangeAspect="1"/>
            </p:cNvSpPr>
            <p:nvPr/>
          </p:nvSpPr>
          <p:spPr bwMode="auto">
            <a:xfrm>
              <a:off x="4633" y="3168"/>
              <a:ext cx="337"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68" name="Line 132"/>
            <p:cNvSpPr>
              <a:spLocks noChangeAspect="1" noChangeShapeType="1"/>
            </p:cNvSpPr>
            <p:nvPr/>
          </p:nvSpPr>
          <p:spPr bwMode="auto">
            <a:xfrm>
              <a:off x="3608" y="3238"/>
              <a:ext cx="23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69" name="Line 133"/>
            <p:cNvSpPr>
              <a:spLocks noChangeAspect="1" noChangeShapeType="1"/>
            </p:cNvSpPr>
            <p:nvPr/>
          </p:nvSpPr>
          <p:spPr bwMode="auto">
            <a:xfrm>
              <a:off x="3578" y="3098"/>
              <a:ext cx="2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70" name="Group 134"/>
            <p:cNvGrpSpPr>
              <a:grpSpLocks noChangeAspect="1"/>
            </p:cNvGrpSpPr>
            <p:nvPr/>
          </p:nvGrpSpPr>
          <p:grpSpPr bwMode="auto">
            <a:xfrm>
              <a:off x="3327" y="3052"/>
              <a:ext cx="378" cy="232"/>
              <a:chOff x="1038" y="576"/>
              <a:chExt cx="801" cy="480"/>
            </a:xfrm>
          </p:grpSpPr>
          <p:sp>
            <p:nvSpPr>
              <p:cNvPr id="142471" name="Rectangle 135"/>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72" name="Text Box 136"/>
              <p:cNvSpPr txBox="1">
                <a:spLocks noChangeAspect="1" noChangeArrowheads="1"/>
              </p:cNvSpPr>
              <p:nvPr/>
            </p:nvSpPr>
            <p:spPr bwMode="auto">
              <a:xfrm>
                <a:off x="1038" y="628"/>
                <a:ext cx="801"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sp>
          <p:nvSpPr>
            <p:cNvPr id="142473" name="Rectangle 137"/>
            <p:cNvSpPr>
              <a:spLocks noChangeAspect="1" noChangeArrowheads="1"/>
            </p:cNvSpPr>
            <p:nvPr/>
          </p:nvSpPr>
          <p:spPr bwMode="auto">
            <a:xfrm>
              <a:off x="4123" y="2947"/>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74" name="Rectangle 138"/>
            <p:cNvSpPr>
              <a:spLocks noChangeAspect="1" noChangeArrowheads="1"/>
            </p:cNvSpPr>
            <p:nvPr/>
          </p:nvSpPr>
          <p:spPr bwMode="auto">
            <a:xfrm>
              <a:off x="4970" y="2947"/>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75" name="Rectangle 139"/>
            <p:cNvSpPr>
              <a:spLocks noChangeAspect="1" noChangeArrowheads="1"/>
            </p:cNvSpPr>
            <p:nvPr/>
          </p:nvSpPr>
          <p:spPr bwMode="auto">
            <a:xfrm>
              <a:off x="3699" y="2947"/>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76" name="Rectangle 140"/>
            <p:cNvSpPr>
              <a:spLocks noChangeAspect="1" noChangeArrowheads="1"/>
            </p:cNvSpPr>
            <p:nvPr/>
          </p:nvSpPr>
          <p:spPr bwMode="auto">
            <a:xfrm>
              <a:off x="4546" y="2950"/>
              <a:ext cx="45" cy="435"/>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77" name="Group 141"/>
            <p:cNvGrpSpPr>
              <a:grpSpLocks noChangeAspect="1"/>
            </p:cNvGrpSpPr>
            <p:nvPr/>
          </p:nvGrpSpPr>
          <p:grpSpPr bwMode="auto">
            <a:xfrm flipH="1">
              <a:off x="5069" y="3043"/>
              <a:ext cx="258" cy="233"/>
              <a:chOff x="1352" y="528"/>
              <a:chExt cx="545" cy="432"/>
            </a:xfrm>
          </p:grpSpPr>
          <p:grpSp>
            <p:nvGrpSpPr>
              <p:cNvPr id="142478" name="Group 142"/>
              <p:cNvGrpSpPr>
                <a:grpSpLocks noChangeAspect="1"/>
              </p:cNvGrpSpPr>
              <p:nvPr/>
            </p:nvGrpSpPr>
            <p:grpSpPr bwMode="auto">
              <a:xfrm>
                <a:off x="1374" y="528"/>
                <a:ext cx="480" cy="432"/>
                <a:chOff x="1392" y="528"/>
                <a:chExt cx="480" cy="432"/>
              </a:xfrm>
            </p:grpSpPr>
            <p:sp>
              <p:nvSpPr>
                <p:cNvPr id="142479" name="Rectangle 143"/>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80" name="Rectangle 144"/>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81" name="Text Box 145"/>
              <p:cNvSpPr txBox="1">
                <a:spLocks noChangeAspect="1" noChangeArrowheads="1"/>
              </p:cNvSpPr>
              <p:nvPr/>
            </p:nvSpPr>
            <p:spPr bwMode="auto">
              <a:xfrm>
                <a:off x="1352" y="574"/>
                <a:ext cx="545"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nvGrpSpPr>
            <p:cNvPr id="142482" name="Group 146"/>
            <p:cNvGrpSpPr>
              <a:grpSpLocks/>
            </p:cNvGrpSpPr>
            <p:nvPr/>
          </p:nvGrpSpPr>
          <p:grpSpPr bwMode="auto">
            <a:xfrm>
              <a:off x="3755" y="3459"/>
              <a:ext cx="2002" cy="441"/>
              <a:chOff x="1924" y="1200"/>
              <a:chExt cx="1971" cy="441"/>
            </a:xfrm>
          </p:grpSpPr>
          <p:grpSp>
            <p:nvGrpSpPr>
              <p:cNvPr id="142483" name="Group 147"/>
              <p:cNvGrpSpPr>
                <a:grpSpLocks noChangeAspect="1"/>
              </p:cNvGrpSpPr>
              <p:nvPr/>
            </p:nvGrpSpPr>
            <p:grpSpPr bwMode="auto">
              <a:xfrm>
                <a:off x="2413" y="1304"/>
                <a:ext cx="254" cy="233"/>
                <a:chOff x="1340" y="528"/>
                <a:chExt cx="550" cy="432"/>
              </a:xfrm>
            </p:grpSpPr>
            <p:grpSp>
              <p:nvGrpSpPr>
                <p:cNvPr id="142484" name="Group 148"/>
                <p:cNvGrpSpPr>
                  <a:grpSpLocks noChangeAspect="1"/>
                </p:cNvGrpSpPr>
                <p:nvPr/>
              </p:nvGrpSpPr>
              <p:grpSpPr bwMode="auto">
                <a:xfrm>
                  <a:off x="1374" y="528"/>
                  <a:ext cx="480" cy="432"/>
                  <a:chOff x="1392" y="528"/>
                  <a:chExt cx="480" cy="432"/>
                </a:xfrm>
              </p:grpSpPr>
              <p:sp>
                <p:nvSpPr>
                  <p:cNvPr id="142485" name="Rectangle 149"/>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86" name="Rectangle 150"/>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487" name="Text Box 151"/>
                <p:cNvSpPr txBox="1">
                  <a:spLocks noChangeAspect="1" noChangeArrowheads="1"/>
                </p:cNvSpPr>
                <p:nvPr/>
              </p:nvSpPr>
              <p:spPr bwMode="auto">
                <a:xfrm>
                  <a:off x="1340" y="574"/>
                  <a:ext cx="550"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sp>
            <p:nvSpPr>
              <p:cNvPr id="142488" name="Line 152"/>
              <p:cNvSpPr>
                <a:spLocks noChangeAspect="1" noChangeShapeType="1"/>
              </p:cNvSpPr>
              <p:nvPr/>
            </p:nvSpPr>
            <p:spPr bwMode="auto">
              <a:xfrm>
                <a:off x="2651" y="1351"/>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89" name="Line 153"/>
              <p:cNvSpPr>
                <a:spLocks noChangeAspect="1" noChangeShapeType="1"/>
              </p:cNvSpPr>
              <p:nvPr/>
            </p:nvSpPr>
            <p:spPr bwMode="auto">
              <a:xfrm>
                <a:off x="2651" y="1490"/>
                <a:ext cx="24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90" name="Group 154"/>
              <p:cNvGrpSpPr>
                <a:grpSpLocks noChangeAspect="1"/>
              </p:cNvGrpSpPr>
              <p:nvPr/>
            </p:nvGrpSpPr>
            <p:grpSpPr bwMode="auto">
              <a:xfrm>
                <a:off x="2851" y="1235"/>
                <a:ext cx="208" cy="371"/>
                <a:chOff x="2991" y="411"/>
                <a:chExt cx="375" cy="768"/>
              </a:xfrm>
            </p:grpSpPr>
            <p:sp>
              <p:nvSpPr>
                <p:cNvPr id="142491" name="AutoShape 155"/>
                <p:cNvSpPr>
                  <a:spLocks noChangeAspect="1" noChangeArrowheads="1"/>
                </p:cNvSpPr>
                <p:nvPr/>
              </p:nvSpPr>
              <p:spPr bwMode="auto">
                <a:xfrm rot="-5400000">
                  <a:off x="2798" y="626"/>
                  <a:ext cx="768" cy="337"/>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lgn="ctr" eaLnBrk="1" hangingPunct="1"/>
                  <a:endParaRPr lang="zh-CN" altLang="zh-CN" sz="1000">
                    <a:latin typeface="Comic Sans MS" panose="030F0702030302020204" pitchFamily="66" charset="0"/>
                  </a:endParaRPr>
                </a:p>
              </p:txBody>
            </p:sp>
            <p:sp>
              <p:nvSpPr>
                <p:cNvPr id="142492" name="AutoShape 156"/>
                <p:cNvSpPr>
                  <a:spLocks noChangeAspect="1" noChangeArrowheads="1"/>
                </p:cNvSpPr>
                <p:nvPr/>
              </p:nvSpPr>
              <p:spPr bwMode="auto">
                <a:xfrm rot="5400000">
                  <a:off x="2957" y="705"/>
                  <a:ext cx="248" cy="180"/>
                </a:xfrm>
                <a:prstGeom prst="triangle">
                  <a:avLst>
                    <a:gd name="adj" fmla="val 50000"/>
                  </a:avLst>
                </a:prstGeom>
                <a:solidFill>
                  <a:schemeClr val="bg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93" name="Freeform 157"/>
                <p:cNvSpPr>
                  <a:spLocks noChangeAspect="1"/>
                </p:cNvSpPr>
                <p:nvPr/>
              </p:nvSpPr>
              <p:spPr bwMode="auto">
                <a:xfrm rot="5400000">
                  <a:off x="2974" y="725"/>
                  <a:ext cx="218" cy="139"/>
                </a:xfrm>
                <a:custGeom>
                  <a:avLst/>
                  <a:gdLst>
                    <a:gd name="T0" fmla="*/ 0 w 384"/>
                    <a:gd name="T1" fmla="*/ 288 h 288"/>
                    <a:gd name="T2" fmla="*/ 192 w 384"/>
                    <a:gd name="T3" fmla="*/ 0 h 288"/>
                    <a:gd name="T4" fmla="*/ 384 w 384"/>
                    <a:gd name="T5" fmla="*/ 288 h 288"/>
                  </a:gdLst>
                  <a:ahLst/>
                  <a:cxnLst>
                    <a:cxn ang="0">
                      <a:pos x="T0" y="T1"/>
                    </a:cxn>
                    <a:cxn ang="0">
                      <a:pos x="T2" y="T3"/>
                    </a:cxn>
                    <a:cxn ang="0">
                      <a:pos x="T4" y="T5"/>
                    </a:cxn>
                  </a:cxnLst>
                  <a:rect l="0" t="0" r="r" b="b"/>
                  <a:pathLst>
                    <a:path w="384" h="288">
                      <a:moveTo>
                        <a:pt x="0" y="288"/>
                      </a:moveTo>
                      <a:lnTo>
                        <a:pt x="192" y="0"/>
                      </a:lnTo>
                      <a:lnTo>
                        <a:pt x="384" y="288"/>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94" name="Text Box 158"/>
                <p:cNvSpPr txBox="1">
                  <a:spLocks noChangeAspect="1" noChangeArrowheads="1"/>
                </p:cNvSpPr>
                <p:nvPr/>
              </p:nvSpPr>
              <p:spPr bwMode="auto">
                <a:xfrm rot="-5400000">
                  <a:off x="2939" y="610"/>
                  <a:ext cx="575" cy="2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ALU</a:t>
                  </a:r>
                </a:p>
              </p:txBody>
            </p:sp>
          </p:grpSp>
          <p:sp>
            <p:nvSpPr>
              <p:cNvPr id="142495" name="Line 159"/>
              <p:cNvSpPr>
                <a:spLocks noChangeAspect="1" noChangeShapeType="1"/>
              </p:cNvSpPr>
              <p:nvPr/>
            </p:nvSpPr>
            <p:spPr bwMode="auto">
              <a:xfrm>
                <a:off x="3052"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496" name="Line 160"/>
              <p:cNvSpPr>
                <a:spLocks noChangeAspect="1" noChangeShapeType="1"/>
              </p:cNvSpPr>
              <p:nvPr/>
            </p:nvSpPr>
            <p:spPr bwMode="auto">
              <a:xfrm>
                <a:off x="3475" y="1421"/>
                <a:ext cx="2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497" name="Group 161"/>
              <p:cNvGrpSpPr>
                <a:grpSpLocks noChangeAspect="1"/>
              </p:cNvGrpSpPr>
              <p:nvPr/>
            </p:nvGrpSpPr>
            <p:grpSpPr bwMode="auto">
              <a:xfrm>
                <a:off x="3170" y="1305"/>
                <a:ext cx="353" cy="232"/>
                <a:chOff x="3769" y="576"/>
                <a:chExt cx="762" cy="480"/>
              </a:xfrm>
            </p:grpSpPr>
            <p:sp>
              <p:nvSpPr>
                <p:cNvPr id="142498" name="Rectangle 162"/>
                <p:cNvSpPr>
                  <a:spLocks noChangeAspect="1" noChangeArrowheads="1"/>
                </p:cNvSpPr>
                <p:nvPr/>
              </p:nvSpPr>
              <p:spPr bwMode="auto">
                <a:xfrm>
                  <a:off x="3915"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499" name="Text Box 163"/>
                <p:cNvSpPr txBox="1">
                  <a:spLocks noChangeAspect="1" noChangeArrowheads="1"/>
                </p:cNvSpPr>
                <p:nvPr/>
              </p:nvSpPr>
              <p:spPr bwMode="auto">
                <a:xfrm>
                  <a:off x="3769" y="628"/>
                  <a:ext cx="762"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DMem</a:t>
                  </a:r>
                </a:p>
              </p:txBody>
            </p:sp>
          </p:grpSp>
          <p:sp>
            <p:nvSpPr>
              <p:cNvPr id="142500" name="Freeform 164"/>
              <p:cNvSpPr>
                <a:spLocks noChangeAspect="1"/>
              </p:cNvSpPr>
              <p:nvPr/>
            </p:nvSpPr>
            <p:spPr bwMode="auto">
              <a:xfrm>
                <a:off x="3208" y="1421"/>
                <a:ext cx="332" cy="185"/>
              </a:xfrm>
              <a:custGeom>
                <a:avLst/>
                <a:gdLst>
                  <a:gd name="T0" fmla="*/ 0 w 816"/>
                  <a:gd name="T1" fmla="*/ 0 h 384"/>
                  <a:gd name="T2" fmla="*/ 0 w 816"/>
                  <a:gd name="T3" fmla="*/ 384 h 384"/>
                  <a:gd name="T4" fmla="*/ 720 w 816"/>
                  <a:gd name="T5" fmla="*/ 384 h 384"/>
                  <a:gd name="T6" fmla="*/ 720 w 816"/>
                  <a:gd name="T7" fmla="*/ 144 h 384"/>
                  <a:gd name="T8" fmla="*/ 816 w 816"/>
                  <a:gd name="T9" fmla="*/ 144 h 384"/>
                </a:gdLst>
                <a:ahLst/>
                <a:cxnLst>
                  <a:cxn ang="0">
                    <a:pos x="T0" y="T1"/>
                  </a:cxn>
                  <a:cxn ang="0">
                    <a:pos x="T2" y="T3"/>
                  </a:cxn>
                  <a:cxn ang="0">
                    <a:pos x="T4" y="T5"/>
                  </a:cxn>
                  <a:cxn ang="0">
                    <a:pos x="T6" y="T7"/>
                  </a:cxn>
                  <a:cxn ang="0">
                    <a:pos x="T8" y="T9"/>
                  </a:cxn>
                </a:cxnLst>
                <a:rect l="0" t="0" r="r" b="b"/>
                <a:pathLst>
                  <a:path w="816" h="384">
                    <a:moveTo>
                      <a:pt x="0" y="0"/>
                    </a:moveTo>
                    <a:lnTo>
                      <a:pt x="0" y="384"/>
                    </a:lnTo>
                    <a:lnTo>
                      <a:pt x="720" y="384"/>
                    </a:lnTo>
                    <a:lnTo>
                      <a:pt x="720" y="144"/>
                    </a:lnTo>
                    <a:lnTo>
                      <a:pt x="816" y="144"/>
                    </a:ln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01" name="Line 165"/>
              <p:cNvSpPr>
                <a:spLocks noChangeAspect="1" noChangeShapeType="1"/>
              </p:cNvSpPr>
              <p:nvPr/>
            </p:nvSpPr>
            <p:spPr bwMode="auto">
              <a:xfrm>
                <a:off x="2199" y="1491"/>
                <a:ext cx="23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02" name="Line 166"/>
              <p:cNvSpPr>
                <a:spLocks noChangeAspect="1" noChangeShapeType="1"/>
              </p:cNvSpPr>
              <p:nvPr/>
            </p:nvSpPr>
            <p:spPr bwMode="auto">
              <a:xfrm>
                <a:off x="2169" y="1351"/>
                <a:ext cx="2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42503" name="Group 167"/>
              <p:cNvGrpSpPr>
                <a:grpSpLocks noChangeAspect="1"/>
              </p:cNvGrpSpPr>
              <p:nvPr/>
            </p:nvGrpSpPr>
            <p:grpSpPr bwMode="auto">
              <a:xfrm>
                <a:off x="1924" y="1305"/>
                <a:ext cx="372" cy="232"/>
                <a:chOff x="1042" y="576"/>
                <a:chExt cx="803" cy="480"/>
              </a:xfrm>
            </p:grpSpPr>
            <p:sp>
              <p:nvSpPr>
                <p:cNvPr id="142504" name="Rectangle 168"/>
                <p:cNvSpPr>
                  <a:spLocks noChangeAspect="1" noChangeArrowheads="1"/>
                </p:cNvSpPr>
                <p:nvPr/>
              </p:nvSpPr>
              <p:spPr bwMode="auto">
                <a:xfrm>
                  <a:off x="1197" y="576"/>
                  <a:ext cx="480" cy="480"/>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r" eaLnBrk="1" hangingPunct="1"/>
                  <a:endParaRPr lang="zh-CN" altLang="zh-CN" sz="1000">
                    <a:latin typeface="Comic Sans MS" panose="030F0702030302020204" pitchFamily="66" charset="0"/>
                  </a:endParaRPr>
                </a:p>
              </p:txBody>
            </p:sp>
            <p:sp>
              <p:nvSpPr>
                <p:cNvPr id="142505" name="Text Box 169"/>
                <p:cNvSpPr txBox="1">
                  <a:spLocks noChangeAspect="1" noChangeArrowheads="1"/>
                </p:cNvSpPr>
                <p:nvPr/>
              </p:nvSpPr>
              <p:spPr bwMode="auto">
                <a:xfrm>
                  <a:off x="1042" y="628"/>
                  <a:ext cx="803" cy="3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Ifetch</a:t>
                  </a:r>
                </a:p>
              </p:txBody>
            </p:sp>
          </p:grpSp>
          <p:grpSp>
            <p:nvGrpSpPr>
              <p:cNvPr id="142506" name="Group 170"/>
              <p:cNvGrpSpPr>
                <a:grpSpLocks/>
              </p:cNvGrpSpPr>
              <p:nvPr/>
            </p:nvGrpSpPr>
            <p:grpSpPr bwMode="auto">
              <a:xfrm>
                <a:off x="2288" y="1200"/>
                <a:ext cx="1297" cy="441"/>
                <a:chOff x="2112" y="528"/>
                <a:chExt cx="2088" cy="681"/>
              </a:xfrm>
            </p:grpSpPr>
            <p:sp>
              <p:nvSpPr>
                <p:cNvPr id="142507" name="Rectangle 171"/>
                <p:cNvSpPr>
                  <a:spLocks noChangeAspect="1" noChangeArrowheads="1"/>
                </p:cNvSpPr>
                <p:nvPr/>
              </p:nvSpPr>
              <p:spPr bwMode="auto">
                <a:xfrm>
                  <a:off x="2784"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08" name="Rectangle 172"/>
                <p:cNvSpPr>
                  <a:spLocks noChangeAspect="1" noChangeArrowheads="1"/>
                </p:cNvSpPr>
                <p:nvPr/>
              </p:nvSpPr>
              <p:spPr bwMode="auto">
                <a:xfrm>
                  <a:off x="4128"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09" name="Rectangle 173"/>
                <p:cNvSpPr>
                  <a:spLocks noChangeAspect="1" noChangeArrowheads="1"/>
                </p:cNvSpPr>
                <p:nvPr/>
              </p:nvSpPr>
              <p:spPr bwMode="auto">
                <a:xfrm>
                  <a:off x="2112" y="528"/>
                  <a:ext cx="72" cy="68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10" name="Rectangle 174"/>
                <p:cNvSpPr>
                  <a:spLocks noChangeAspect="1" noChangeArrowheads="1"/>
                </p:cNvSpPr>
                <p:nvPr/>
              </p:nvSpPr>
              <p:spPr bwMode="auto">
                <a:xfrm>
                  <a:off x="3456" y="532"/>
                  <a:ext cx="71" cy="672"/>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42511" name="Group 175"/>
              <p:cNvGrpSpPr>
                <a:grpSpLocks noChangeAspect="1"/>
              </p:cNvGrpSpPr>
              <p:nvPr/>
            </p:nvGrpSpPr>
            <p:grpSpPr bwMode="auto">
              <a:xfrm flipH="1">
                <a:off x="3641" y="1296"/>
                <a:ext cx="254" cy="233"/>
                <a:chOff x="1358" y="528"/>
                <a:chExt cx="546" cy="432"/>
              </a:xfrm>
            </p:grpSpPr>
            <p:grpSp>
              <p:nvGrpSpPr>
                <p:cNvPr id="142512" name="Group 176"/>
                <p:cNvGrpSpPr>
                  <a:grpSpLocks noChangeAspect="1"/>
                </p:cNvGrpSpPr>
                <p:nvPr/>
              </p:nvGrpSpPr>
              <p:grpSpPr bwMode="auto">
                <a:xfrm>
                  <a:off x="1374" y="528"/>
                  <a:ext cx="480" cy="432"/>
                  <a:chOff x="1392" y="528"/>
                  <a:chExt cx="480" cy="432"/>
                </a:xfrm>
              </p:grpSpPr>
              <p:sp>
                <p:nvSpPr>
                  <p:cNvPr id="142513" name="Rectangle 177"/>
                  <p:cNvSpPr>
                    <a:spLocks noChangeAspect="1" noChangeArrowheads="1"/>
                  </p:cNvSpPr>
                  <p:nvPr/>
                </p:nvSpPr>
                <p:spPr bwMode="auto">
                  <a:xfrm>
                    <a:off x="1632" y="528"/>
                    <a:ext cx="240" cy="427"/>
                  </a:xfrm>
                  <a:prstGeom prst="rect">
                    <a:avLst/>
                  </a:prstGeom>
                  <a:solidFill>
                    <a:schemeClr val="accent1"/>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14" name="Rectangle 178"/>
                  <p:cNvSpPr>
                    <a:spLocks noChangeAspect="1" noChangeArrowheads="1"/>
                  </p:cNvSpPr>
                  <p:nvPr/>
                </p:nvSpPr>
                <p:spPr bwMode="auto">
                  <a:xfrm>
                    <a:off x="1392" y="528"/>
                    <a:ext cx="480" cy="43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zh-CN" altLang="zh-CN" sz="1000">
                      <a:latin typeface="Comic Sans MS" panose="030F0702030302020204" pitchFamily="66" charset="0"/>
                    </a:endParaRPr>
                  </a:p>
                </p:txBody>
              </p:sp>
            </p:grpSp>
            <p:sp>
              <p:nvSpPr>
                <p:cNvPr id="142515" name="Text Box 179"/>
                <p:cNvSpPr txBox="1">
                  <a:spLocks noChangeAspect="1" noChangeArrowheads="1"/>
                </p:cNvSpPr>
                <p:nvPr/>
              </p:nvSpPr>
              <p:spPr bwMode="auto">
                <a:xfrm>
                  <a:off x="1358" y="574"/>
                  <a:ext cx="546"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1" hangingPunct="1"/>
                  <a:r>
                    <a:rPr lang="en-US" altLang="zh-CN" sz="1000">
                      <a:latin typeface="Comic Sans MS" panose="030F0702030302020204" pitchFamily="66" charset="0"/>
                    </a:rPr>
                    <a:t>Reg</a:t>
                  </a:r>
                </a:p>
              </p:txBody>
            </p:sp>
          </p:grpSp>
        </p:grpSp>
        <p:sp>
          <p:nvSpPr>
            <p:cNvPr id="142516" name="Rectangle 180"/>
            <p:cNvSpPr>
              <a:spLocks noChangeAspect="1" noChangeArrowheads="1"/>
            </p:cNvSpPr>
            <p:nvPr/>
          </p:nvSpPr>
          <p:spPr bwMode="auto">
            <a:xfrm>
              <a:off x="3716" y="3450"/>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17" name="Line 181"/>
            <p:cNvSpPr>
              <a:spLocks noChangeShapeType="1"/>
            </p:cNvSpPr>
            <p:nvPr/>
          </p:nvSpPr>
          <p:spPr bwMode="auto">
            <a:xfrm flipH="1">
              <a:off x="2882" y="1614"/>
              <a:ext cx="454" cy="519"/>
            </a:xfrm>
            <a:prstGeom prst="line">
              <a:avLst/>
            </a:prstGeom>
            <a:noFill/>
            <a:ln w="762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18" name="Rectangle 182"/>
            <p:cNvSpPr>
              <a:spLocks noChangeAspect="1" noChangeArrowheads="1"/>
            </p:cNvSpPr>
            <p:nvPr/>
          </p:nvSpPr>
          <p:spPr bwMode="auto">
            <a:xfrm>
              <a:off x="3264" y="2928"/>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19" name="Rectangle 183"/>
            <p:cNvSpPr>
              <a:spLocks noChangeAspect="1" noChangeArrowheads="1"/>
            </p:cNvSpPr>
            <p:nvPr/>
          </p:nvSpPr>
          <p:spPr bwMode="auto">
            <a:xfrm>
              <a:off x="3264" y="2928"/>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20" name="Rectangle 184"/>
            <p:cNvSpPr>
              <a:spLocks noChangeAspect="1" noChangeArrowheads="1"/>
            </p:cNvSpPr>
            <p:nvPr/>
          </p:nvSpPr>
          <p:spPr bwMode="auto">
            <a:xfrm>
              <a:off x="2832" y="2400"/>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21" name="Rectangle 185"/>
            <p:cNvSpPr>
              <a:spLocks noChangeAspect="1" noChangeArrowheads="1"/>
            </p:cNvSpPr>
            <p:nvPr/>
          </p:nvSpPr>
          <p:spPr bwMode="auto">
            <a:xfrm>
              <a:off x="2417" y="1862"/>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2522" name="Rectangle 186"/>
            <p:cNvSpPr>
              <a:spLocks noChangeAspect="1" noChangeArrowheads="1"/>
            </p:cNvSpPr>
            <p:nvPr/>
          </p:nvSpPr>
          <p:spPr bwMode="auto">
            <a:xfrm>
              <a:off x="2047" y="1344"/>
              <a:ext cx="45" cy="441"/>
            </a:xfrm>
            <a:prstGeom prst="rect">
              <a:avLst/>
            </a:prstGeom>
            <a:solidFill>
              <a:schemeClr val="accent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文本框 1"/>
          <p:cNvSpPr txBox="1"/>
          <p:nvPr/>
        </p:nvSpPr>
        <p:spPr>
          <a:xfrm>
            <a:off x="909924" y="5949280"/>
            <a:ext cx="11050461" cy="830997"/>
          </a:xfrm>
          <a:prstGeom prst="rect">
            <a:avLst/>
          </a:prstGeom>
          <a:noFill/>
        </p:spPr>
        <p:txBody>
          <a:bodyPr wrap="none" rtlCol="0">
            <a:spAutoFit/>
          </a:bodyPr>
          <a:lstStyle/>
          <a:p>
            <a:r>
              <a:rPr lang="en-US" altLang="zh-CN" sz="2400" dirty="0" smtClean="0">
                <a:solidFill>
                  <a:srgbClr val="0000FF"/>
                </a:solidFill>
                <a:latin typeface="微软雅黑" panose="020B0503020204020204" pitchFamily="34" charset="-122"/>
                <a:ea typeface="微软雅黑" panose="020B0503020204020204" pitchFamily="34" charset="-122"/>
              </a:rPr>
              <a:t>An ALU operation to a register followed by a conditional branch based on</a:t>
            </a:r>
            <a:br>
              <a:rPr lang="en-US" altLang="zh-CN" sz="2400" dirty="0" smtClean="0">
                <a:solidFill>
                  <a:srgbClr val="0000FF"/>
                </a:solidFill>
                <a:latin typeface="微软雅黑" panose="020B0503020204020204" pitchFamily="34" charset="-122"/>
                <a:ea typeface="微软雅黑" panose="020B0503020204020204" pitchFamily="34" charset="-122"/>
              </a:rPr>
            </a:br>
            <a:r>
              <a:rPr lang="en-US" altLang="zh-CN" sz="2400" dirty="0" smtClean="0">
                <a:solidFill>
                  <a:srgbClr val="0000FF"/>
                </a:solidFill>
                <a:latin typeface="微软雅黑" panose="020B0503020204020204" pitchFamily="34" charset="-122"/>
                <a:ea typeface="微软雅黑" panose="020B0503020204020204" pitchFamily="34" charset="-122"/>
              </a:rPr>
              <a:t>that register leads to a data hazard.</a:t>
            </a:r>
            <a:endParaRPr lang="zh-CN" altLang="en-US" sz="2400" dirty="0">
              <a:solidFill>
                <a:srgbClr val="0000F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21160093"/>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RISC-V Do conditional test in EX</a:t>
            </a:r>
            <a:endParaRPr lang="zh-CN" altLang="en-US" dirty="0"/>
          </a:p>
        </p:txBody>
      </p:sp>
      <p:pic>
        <p:nvPicPr>
          <p:cNvPr id="4" name="图片 3"/>
          <p:cNvPicPr>
            <a:picLocks noChangeAspect="1"/>
          </p:cNvPicPr>
          <p:nvPr/>
        </p:nvPicPr>
        <p:blipFill>
          <a:blip r:embed="rId2"/>
          <a:stretch>
            <a:fillRect/>
          </a:stretch>
        </p:blipFill>
        <p:spPr>
          <a:xfrm>
            <a:off x="2567608" y="2092769"/>
            <a:ext cx="8496944" cy="4642660"/>
          </a:xfrm>
          <a:prstGeom prst="rect">
            <a:avLst/>
          </a:prstGeom>
        </p:spPr>
      </p:pic>
      <p:sp>
        <p:nvSpPr>
          <p:cNvPr id="5" name="内容占位符 4"/>
          <p:cNvSpPr>
            <a:spLocks noGrp="1"/>
          </p:cNvSpPr>
          <p:nvPr>
            <p:ph idx="1"/>
          </p:nvPr>
        </p:nvSpPr>
        <p:spPr>
          <a:xfrm>
            <a:off x="838200" y="1556792"/>
            <a:ext cx="10515600" cy="504056"/>
          </a:xfrm>
        </p:spPr>
        <p:txBody>
          <a:bodyPr/>
          <a:lstStyle/>
          <a:p>
            <a:r>
              <a:rPr lang="en-US" altLang="zh-CN" dirty="0" smtClean="0"/>
              <a:t>Increase branch delay to 2 cycles</a:t>
            </a:r>
            <a:endParaRPr lang="zh-CN" altLang="en-US" dirty="0"/>
          </a:p>
        </p:txBody>
      </p:sp>
    </p:spTree>
    <p:extLst>
      <p:ext uri="{BB962C8B-B14F-4D97-AF65-F5344CB8AC3E}">
        <p14:creationId xmlns:p14="http://schemas.microsoft.com/office/powerpoint/2010/main" val="24969422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ltLang="zh-CN" smtClean="0"/>
              <a:t>Four Branch Hazard Alternatives</a:t>
            </a:r>
            <a:endParaRPr lang="en-US" altLang="zh-CN"/>
          </a:p>
        </p:txBody>
      </p:sp>
      <p:sp>
        <p:nvSpPr>
          <p:cNvPr id="51203" name="Rectangle 3"/>
          <p:cNvSpPr>
            <a:spLocks noGrp="1" noChangeArrowheads="1"/>
          </p:cNvSpPr>
          <p:nvPr>
            <p:ph type="body" idx="1"/>
          </p:nvPr>
        </p:nvSpPr>
        <p:spPr/>
        <p:txBody>
          <a:bodyPr/>
          <a:lstStyle/>
          <a:p>
            <a:r>
              <a:rPr lang="en-US" altLang="zh-CN" dirty="0" smtClean="0"/>
              <a:t>#1: Stall or flush the pipeline until branch direction is clear</a:t>
            </a:r>
          </a:p>
          <a:p>
            <a:r>
              <a:rPr lang="en-US" altLang="zh-CN" dirty="0" smtClean="0"/>
              <a:t>#2: Predict Branch Not Taken</a:t>
            </a:r>
          </a:p>
          <a:p>
            <a:pPr lvl="1"/>
            <a:r>
              <a:rPr lang="en-US" altLang="zh-CN" dirty="0" smtClean="0"/>
              <a:t>Execute successor instructions in sequence</a:t>
            </a:r>
          </a:p>
          <a:p>
            <a:pPr lvl="1"/>
            <a:r>
              <a:rPr lang="en-US" altLang="zh-CN" dirty="0" smtClean="0"/>
              <a:t>Squash the instructions in pipeline if branch actually taken</a:t>
            </a:r>
          </a:p>
          <a:p>
            <a:pPr lvl="1"/>
            <a:r>
              <a:rPr lang="en-US" altLang="zh-CN" dirty="0" smtClean="0"/>
              <a:t>Advantage of late pipeline state update</a:t>
            </a:r>
          </a:p>
          <a:p>
            <a:pPr lvl="1"/>
            <a:r>
              <a:rPr lang="en-US" altLang="zh-CN" dirty="0" smtClean="0"/>
              <a:t>47% branches not taken on average</a:t>
            </a:r>
          </a:p>
          <a:p>
            <a:pPr lvl="1"/>
            <a:r>
              <a:rPr lang="en-US" altLang="zh-CN" dirty="0" smtClean="0"/>
              <a:t>PC+4 already calculated, so use it to get next instruction</a:t>
            </a:r>
          </a:p>
          <a:p>
            <a:r>
              <a:rPr lang="en-US" altLang="zh-CN" dirty="0" smtClean="0"/>
              <a:t>#3: Predict Branch Taken</a:t>
            </a:r>
          </a:p>
          <a:p>
            <a:pPr lvl="1"/>
            <a:r>
              <a:rPr lang="en-US" altLang="zh-CN" dirty="0" smtClean="0"/>
              <a:t>53% branches taken on average</a:t>
            </a:r>
          </a:p>
          <a:p>
            <a:pPr lvl="1"/>
            <a:r>
              <a:rPr lang="en-US" altLang="zh-CN" dirty="0" smtClean="0">
                <a:solidFill>
                  <a:srgbClr val="FF0000"/>
                </a:solidFill>
              </a:rPr>
              <a:t>But haven’t calculated branch target address </a:t>
            </a:r>
          </a:p>
          <a:p>
            <a:pPr lvl="1"/>
            <a:r>
              <a:rPr lang="en-US" altLang="zh-CN" dirty="0"/>
              <a:t>S</a:t>
            </a:r>
            <a:r>
              <a:rPr lang="en-US" altLang="zh-CN" dirty="0" smtClean="0"/>
              <a:t>till incurs 1 cycle branch penalty</a:t>
            </a:r>
          </a:p>
          <a:p>
            <a:pPr lvl="2"/>
            <a:r>
              <a:rPr lang="en-US" altLang="zh-CN" dirty="0" smtClean="0"/>
              <a:t>Other machines: branch target known before outcome</a:t>
            </a:r>
            <a:endParaRPr lang="en-US" altLang="zh-CN" dirty="0"/>
          </a:p>
        </p:txBody>
      </p:sp>
    </p:spTree>
    <p:extLst>
      <p:ext uri="{BB962C8B-B14F-4D97-AF65-F5344CB8AC3E}">
        <p14:creationId xmlns:p14="http://schemas.microsoft.com/office/powerpoint/2010/main" val="7758979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additive="base">
                                        <p:cTn id="7" dur="500" fill="hold"/>
                                        <p:tgtEl>
                                          <p:spTgt spid="512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12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1203">
                                            <p:txEl>
                                              <p:pRg st="1" end="1"/>
                                            </p:txEl>
                                          </p:spTgt>
                                        </p:tgtEl>
                                        <p:attrNameLst>
                                          <p:attrName>style.visibility</p:attrName>
                                        </p:attrNameLst>
                                      </p:cBhvr>
                                      <p:to>
                                        <p:strVal val="visible"/>
                                      </p:to>
                                    </p:set>
                                    <p:anim calcmode="lin" valueType="num">
                                      <p:cBhvr additive="base">
                                        <p:cTn id="13" dur="500" fill="hold"/>
                                        <p:tgtEl>
                                          <p:spTgt spid="5120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120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51203">
                                            <p:txEl>
                                              <p:pRg st="2" end="2"/>
                                            </p:txEl>
                                          </p:spTgt>
                                        </p:tgtEl>
                                        <p:attrNameLst>
                                          <p:attrName>style.visibility</p:attrName>
                                        </p:attrNameLst>
                                      </p:cBhvr>
                                      <p:to>
                                        <p:strVal val="visible"/>
                                      </p:to>
                                    </p:set>
                                    <p:anim calcmode="lin" valueType="num">
                                      <p:cBhvr additive="base">
                                        <p:cTn id="17" dur="500" fill="hold"/>
                                        <p:tgtEl>
                                          <p:spTgt spid="51203">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5120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51203">
                                            <p:txEl>
                                              <p:pRg st="3" end="3"/>
                                            </p:txEl>
                                          </p:spTgt>
                                        </p:tgtEl>
                                        <p:attrNameLst>
                                          <p:attrName>style.visibility</p:attrName>
                                        </p:attrNameLst>
                                      </p:cBhvr>
                                      <p:to>
                                        <p:strVal val="visible"/>
                                      </p:to>
                                    </p:set>
                                    <p:anim calcmode="lin" valueType="num">
                                      <p:cBhvr additive="base">
                                        <p:cTn id="21" dur="500" fill="hold"/>
                                        <p:tgtEl>
                                          <p:spTgt spid="5120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5120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51203">
                                            <p:txEl>
                                              <p:pRg st="4" end="4"/>
                                            </p:txEl>
                                          </p:spTgt>
                                        </p:tgtEl>
                                        <p:attrNameLst>
                                          <p:attrName>style.visibility</p:attrName>
                                        </p:attrNameLst>
                                      </p:cBhvr>
                                      <p:to>
                                        <p:strVal val="visible"/>
                                      </p:to>
                                    </p:set>
                                    <p:anim calcmode="lin" valueType="num">
                                      <p:cBhvr additive="base">
                                        <p:cTn id="25" dur="500" fill="hold"/>
                                        <p:tgtEl>
                                          <p:spTgt spid="5120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120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51203">
                                            <p:txEl>
                                              <p:pRg st="5" end="5"/>
                                            </p:txEl>
                                          </p:spTgt>
                                        </p:tgtEl>
                                        <p:attrNameLst>
                                          <p:attrName>style.visibility</p:attrName>
                                        </p:attrNameLst>
                                      </p:cBhvr>
                                      <p:to>
                                        <p:strVal val="visible"/>
                                      </p:to>
                                    </p:set>
                                    <p:anim calcmode="lin" valueType="num">
                                      <p:cBhvr additive="base">
                                        <p:cTn id="29" dur="500" fill="hold"/>
                                        <p:tgtEl>
                                          <p:spTgt spid="5120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51203">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51203">
                                            <p:txEl>
                                              <p:pRg st="6" end="6"/>
                                            </p:txEl>
                                          </p:spTgt>
                                        </p:tgtEl>
                                        <p:attrNameLst>
                                          <p:attrName>style.visibility</p:attrName>
                                        </p:attrNameLst>
                                      </p:cBhvr>
                                      <p:to>
                                        <p:strVal val="visible"/>
                                      </p:to>
                                    </p:set>
                                    <p:anim calcmode="lin" valueType="num">
                                      <p:cBhvr additive="base">
                                        <p:cTn id="33" dur="500" fill="hold"/>
                                        <p:tgtEl>
                                          <p:spTgt spid="51203">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5120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51203">
                                            <p:txEl>
                                              <p:pRg st="7" end="7"/>
                                            </p:txEl>
                                          </p:spTgt>
                                        </p:tgtEl>
                                        <p:attrNameLst>
                                          <p:attrName>style.visibility</p:attrName>
                                        </p:attrNameLst>
                                      </p:cBhvr>
                                      <p:to>
                                        <p:strVal val="visible"/>
                                      </p:to>
                                    </p:set>
                                    <p:anim calcmode="lin" valueType="num">
                                      <p:cBhvr additive="base">
                                        <p:cTn id="39" dur="500" fill="hold"/>
                                        <p:tgtEl>
                                          <p:spTgt spid="51203">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51203">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1203">
                                            <p:txEl>
                                              <p:pRg st="8" end="8"/>
                                            </p:txEl>
                                          </p:spTgt>
                                        </p:tgtEl>
                                        <p:attrNameLst>
                                          <p:attrName>style.visibility</p:attrName>
                                        </p:attrNameLst>
                                      </p:cBhvr>
                                      <p:to>
                                        <p:strVal val="visible"/>
                                      </p:to>
                                    </p:set>
                                    <p:anim calcmode="lin" valueType="num">
                                      <p:cBhvr additive="base">
                                        <p:cTn id="43" dur="500" fill="hold"/>
                                        <p:tgtEl>
                                          <p:spTgt spid="51203">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1203">
                                            <p:txEl>
                                              <p:pRg st="8" end="8"/>
                                            </p:txEl>
                                          </p:spTgt>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51203">
                                            <p:txEl>
                                              <p:pRg st="9" end="9"/>
                                            </p:txEl>
                                          </p:spTgt>
                                        </p:tgtEl>
                                        <p:attrNameLst>
                                          <p:attrName>style.visibility</p:attrName>
                                        </p:attrNameLst>
                                      </p:cBhvr>
                                      <p:to>
                                        <p:strVal val="visible"/>
                                      </p:to>
                                    </p:set>
                                    <p:anim calcmode="lin" valueType="num">
                                      <p:cBhvr additive="base">
                                        <p:cTn id="47" dur="500" fill="hold"/>
                                        <p:tgtEl>
                                          <p:spTgt spid="51203">
                                            <p:txEl>
                                              <p:pRg st="9" end="9"/>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51203">
                                            <p:txEl>
                                              <p:pRg st="9" end="9"/>
                                            </p:txEl>
                                          </p:spTgt>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51203">
                                            <p:txEl>
                                              <p:pRg st="10" end="10"/>
                                            </p:txEl>
                                          </p:spTgt>
                                        </p:tgtEl>
                                        <p:attrNameLst>
                                          <p:attrName>style.visibility</p:attrName>
                                        </p:attrNameLst>
                                      </p:cBhvr>
                                      <p:to>
                                        <p:strVal val="visible"/>
                                      </p:to>
                                    </p:set>
                                    <p:anim calcmode="lin" valueType="num">
                                      <p:cBhvr additive="base">
                                        <p:cTn id="51" dur="500" fill="hold"/>
                                        <p:tgtEl>
                                          <p:spTgt spid="51203">
                                            <p:txEl>
                                              <p:pRg st="10" end="1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51203">
                                            <p:txEl>
                                              <p:pRg st="10" end="10"/>
                                            </p:txEl>
                                          </p:spTgt>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51203">
                                            <p:txEl>
                                              <p:pRg st="11" end="11"/>
                                            </p:txEl>
                                          </p:spTgt>
                                        </p:tgtEl>
                                        <p:attrNameLst>
                                          <p:attrName>style.visibility</p:attrName>
                                        </p:attrNameLst>
                                      </p:cBhvr>
                                      <p:to>
                                        <p:strVal val="visible"/>
                                      </p:to>
                                    </p:set>
                                    <p:anim calcmode="lin" valueType="num">
                                      <p:cBhvr additive="base">
                                        <p:cTn id="55" dur="500" fill="hold"/>
                                        <p:tgtEl>
                                          <p:spTgt spid="51203">
                                            <p:txEl>
                                              <p:pRg st="11" end="1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51203">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predicted-not-taken scheme </a:t>
            </a:r>
            <a:endParaRPr lang="zh-CN" altLang="en-US" dirty="0"/>
          </a:p>
        </p:txBody>
      </p:sp>
      <p:sp>
        <p:nvSpPr>
          <p:cNvPr id="3" name="内容占位符 2"/>
          <p:cNvSpPr>
            <a:spLocks noGrp="1"/>
          </p:cNvSpPr>
          <p:nvPr>
            <p:ph idx="1"/>
          </p:nvPr>
        </p:nvSpPr>
        <p:spPr>
          <a:xfrm>
            <a:off x="838200" y="1556792"/>
            <a:ext cx="10515600" cy="2232248"/>
          </a:xfrm>
        </p:spPr>
        <p:txBody>
          <a:bodyPr/>
          <a:lstStyle/>
          <a:p>
            <a:r>
              <a:rPr lang="en-US" altLang="zh-CN" dirty="0"/>
              <a:t>T</a:t>
            </a:r>
            <a:r>
              <a:rPr lang="en-US" altLang="zh-CN" dirty="0" smtClean="0"/>
              <a:t>he </a:t>
            </a:r>
            <a:r>
              <a:rPr lang="en-US" altLang="zh-CN" dirty="0"/>
              <a:t>pipeline sequence when the branch is untaken (top) and taken (</a:t>
            </a:r>
            <a:r>
              <a:rPr lang="en-US" altLang="zh-CN" dirty="0" smtClean="0"/>
              <a:t>bottom)</a:t>
            </a:r>
          </a:p>
          <a:p>
            <a:pPr lvl="1"/>
            <a:r>
              <a:rPr lang="en-US" altLang="zh-CN" dirty="0" smtClean="0"/>
              <a:t>When </a:t>
            </a:r>
            <a:r>
              <a:rPr lang="en-US" altLang="zh-CN" dirty="0"/>
              <a:t>the branch is untaken, determined during ID, we fetch the fall-through and just continue. </a:t>
            </a:r>
            <a:endParaRPr lang="en-US" altLang="zh-CN" dirty="0" smtClean="0"/>
          </a:p>
          <a:p>
            <a:pPr lvl="1"/>
            <a:r>
              <a:rPr lang="en-US" altLang="zh-CN" dirty="0" smtClean="0"/>
              <a:t>If </a:t>
            </a:r>
            <a:r>
              <a:rPr lang="en-US" altLang="zh-CN" dirty="0"/>
              <a:t>the branch is taken during ID, we restart the fetch at the branch target. This causes all instructions following the branch to stall 1 clock cycle.</a:t>
            </a:r>
          </a:p>
          <a:p>
            <a:endParaRPr lang="zh-CN" altLang="en-US" dirty="0"/>
          </a:p>
        </p:txBody>
      </p:sp>
      <p:pic>
        <p:nvPicPr>
          <p:cNvPr id="4" name="图片 3"/>
          <p:cNvPicPr>
            <a:picLocks noChangeAspect="1"/>
          </p:cNvPicPr>
          <p:nvPr/>
        </p:nvPicPr>
        <p:blipFill>
          <a:blip r:embed="rId2"/>
          <a:stretch>
            <a:fillRect/>
          </a:stretch>
        </p:blipFill>
        <p:spPr>
          <a:xfrm>
            <a:off x="2099556" y="3871064"/>
            <a:ext cx="7992888" cy="2986936"/>
          </a:xfrm>
          <a:prstGeom prst="rect">
            <a:avLst/>
          </a:prstGeom>
        </p:spPr>
      </p:pic>
    </p:spTree>
    <p:extLst>
      <p:ext uri="{BB962C8B-B14F-4D97-AF65-F5344CB8AC3E}">
        <p14:creationId xmlns:p14="http://schemas.microsoft.com/office/powerpoint/2010/main" val="23583276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zh-CN" dirty="0" smtClean="0"/>
              <a:t>Four Branch Hazard Alternatives</a:t>
            </a:r>
            <a:endParaRPr lang="en-US" altLang="zh-CN" dirty="0"/>
          </a:p>
        </p:txBody>
      </p:sp>
      <p:sp>
        <p:nvSpPr>
          <p:cNvPr id="52227" name="Rectangle 3"/>
          <p:cNvSpPr>
            <a:spLocks noGrp="1" noChangeArrowheads="1"/>
          </p:cNvSpPr>
          <p:nvPr>
            <p:ph type="body" idx="1"/>
          </p:nvPr>
        </p:nvSpPr>
        <p:spPr/>
        <p:txBody>
          <a:bodyPr/>
          <a:lstStyle/>
          <a:p>
            <a:r>
              <a:rPr lang="en-US" altLang="zh-CN" dirty="0" smtClean="0"/>
              <a:t>#4: Delayed Branch</a:t>
            </a:r>
          </a:p>
          <a:p>
            <a:pPr lvl="1"/>
            <a:r>
              <a:rPr lang="en-US" altLang="zh-CN" dirty="0" smtClean="0"/>
              <a:t>Define branch to take place AFTER a following instruction</a:t>
            </a:r>
            <a:br>
              <a:rPr lang="en-US" altLang="zh-CN" dirty="0" smtClean="0"/>
            </a:br>
            <a:r>
              <a:rPr lang="en-US" altLang="zh-CN" dirty="0" smtClean="0"/>
              <a:t>branch instruction</a:t>
            </a:r>
            <a:br>
              <a:rPr lang="en-US" altLang="zh-CN" dirty="0" smtClean="0"/>
            </a:br>
            <a:r>
              <a:rPr lang="en-US" altLang="zh-CN" dirty="0" smtClean="0"/>
              <a:t>	sequential successor_1</a:t>
            </a:r>
            <a:br>
              <a:rPr lang="en-US" altLang="zh-CN" dirty="0" smtClean="0"/>
            </a:br>
            <a:r>
              <a:rPr lang="en-US" altLang="zh-CN" dirty="0" smtClean="0"/>
              <a:t>	sequential successor_2</a:t>
            </a:r>
            <a:br>
              <a:rPr lang="en-US" altLang="zh-CN" dirty="0" smtClean="0"/>
            </a:br>
            <a:r>
              <a:rPr lang="en-US" altLang="zh-CN" dirty="0" smtClean="0"/>
              <a:t>	........</a:t>
            </a:r>
            <a:br>
              <a:rPr lang="en-US" altLang="zh-CN" dirty="0" smtClean="0"/>
            </a:br>
            <a:r>
              <a:rPr lang="en-US" altLang="zh-CN" dirty="0" smtClean="0"/>
              <a:t>	sequential </a:t>
            </a:r>
            <a:r>
              <a:rPr lang="en-US" altLang="zh-CN" dirty="0" err="1" smtClean="0"/>
              <a:t>successor_n</a:t>
            </a:r>
            <a:endParaRPr lang="en-US" altLang="zh-CN" dirty="0" smtClean="0"/>
          </a:p>
          <a:p>
            <a:pPr marL="457200" lvl="1" indent="0">
              <a:buNone/>
            </a:pPr>
            <a:r>
              <a:rPr lang="en-US" altLang="zh-CN" dirty="0" smtClean="0"/>
              <a:t>  branch target if taken</a:t>
            </a:r>
          </a:p>
          <a:p>
            <a:pPr lvl="1"/>
            <a:r>
              <a:rPr lang="en-US" altLang="zh-CN" dirty="0" smtClean="0"/>
              <a:t>1 slot delay allows proper decision of the branch target address in 5 stage pipeline</a:t>
            </a:r>
          </a:p>
          <a:p>
            <a:r>
              <a:rPr lang="en-US" altLang="zh-CN" dirty="0" smtClean="0"/>
              <a:t>MIPS uses this</a:t>
            </a:r>
            <a:endParaRPr lang="en-US" altLang="zh-CN" dirty="0"/>
          </a:p>
        </p:txBody>
      </p:sp>
      <p:sp>
        <p:nvSpPr>
          <p:cNvPr id="52228" name="Rectangle 4"/>
          <p:cNvSpPr>
            <a:spLocks noChangeArrowheads="1"/>
          </p:cNvSpPr>
          <p:nvPr/>
        </p:nvSpPr>
        <p:spPr bwMode="auto">
          <a:xfrm>
            <a:off x="6672064" y="3068960"/>
            <a:ext cx="3622788" cy="8284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sz="2400" dirty="0"/>
              <a:t>Branch delay of length </a:t>
            </a:r>
            <a:r>
              <a:rPr lang="en-US" altLang="zh-CN" sz="2400" i="1" dirty="0" smtClean="0"/>
              <a:t>n</a:t>
            </a:r>
          </a:p>
          <a:p>
            <a:r>
              <a:rPr lang="en-US" altLang="zh-CN" sz="2400" i="1" dirty="0" smtClean="0"/>
              <a:t>n </a:t>
            </a:r>
            <a:r>
              <a:rPr lang="en-US" altLang="zh-CN" sz="2400" dirty="0" smtClean="0"/>
              <a:t>maybe # of branch stall</a:t>
            </a:r>
            <a:endParaRPr lang="en-US" altLang="zh-CN" sz="2400" dirty="0"/>
          </a:p>
        </p:txBody>
      </p:sp>
      <p:sp>
        <p:nvSpPr>
          <p:cNvPr id="52229" name="Line 5"/>
          <p:cNvSpPr>
            <a:spLocks noChangeShapeType="1"/>
          </p:cNvSpPr>
          <p:nvPr/>
        </p:nvSpPr>
        <p:spPr bwMode="auto">
          <a:xfrm>
            <a:off x="5519936" y="2852936"/>
            <a:ext cx="920750" cy="4254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230" name="Line 6"/>
          <p:cNvSpPr>
            <a:spLocks noChangeShapeType="1"/>
          </p:cNvSpPr>
          <p:nvPr/>
        </p:nvSpPr>
        <p:spPr bwMode="auto">
          <a:xfrm flipH="1">
            <a:off x="5493181" y="3586164"/>
            <a:ext cx="908050" cy="330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58701459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2227">
                                            <p:txEl>
                                              <p:pRg st="1" end="1"/>
                                            </p:txEl>
                                          </p:spTgt>
                                        </p:tgtEl>
                                        <p:attrNameLst>
                                          <p:attrName>style.visibility</p:attrName>
                                        </p:attrNameLst>
                                      </p:cBhvr>
                                      <p:to>
                                        <p:strVal val="visible"/>
                                      </p:to>
                                    </p:set>
                                    <p:anim calcmode="lin" valueType="num">
                                      <p:cBhvr additive="base">
                                        <p:cTn id="11" dur="500" fill="hold"/>
                                        <p:tgtEl>
                                          <p:spTgt spid="5222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222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52227">
                                            <p:txEl>
                                              <p:pRg st="2" end="2"/>
                                            </p:txEl>
                                          </p:spTgt>
                                        </p:tgtEl>
                                        <p:attrNameLst>
                                          <p:attrName>style.visibility</p:attrName>
                                        </p:attrNameLst>
                                      </p:cBhvr>
                                      <p:to>
                                        <p:strVal val="visible"/>
                                      </p:to>
                                    </p:set>
                                    <p:anim calcmode="lin" valueType="num">
                                      <p:cBhvr additive="base">
                                        <p:cTn id="15" dur="500" fill="hold"/>
                                        <p:tgtEl>
                                          <p:spTgt spid="52227">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52227">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52227">
                                            <p:txEl>
                                              <p:pRg st="3" end="3"/>
                                            </p:txEl>
                                          </p:spTgt>
                                        </p:tgtEl>
                                        <p:attrNameLst>
                                          <p:attrName>style.visibility</p:attrName>
                                        </p:attrNameLst>
                                      </p:cBhvr>
                                      <p:to>
                                        <p:strVal val="visible"/>
                                      </p:to>
                                    </p:set>
                                    <p:anim calcmode="lin" valueType="num">
                                      <p:cBhvr additive="base">
                                        <p:cTn id="19" dur="500" fill="hold"/>
                                        <p:tgtEl>
                                          <p:spTgt spid="52227">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22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2227">
                                            <p:txEl>
                                              <p:pRg st="4" end="4"/>
                                            </p:txEl>
                                          </p:spTgt>
                                        </p:tgtEl>
                                        <p:attrNameLst>
                                          <p:attrName>style.visibility</p:attrName>
                                        </p:attrNameLst>
                                      </p:cBhvr>
                                      <p:to>
                                        <p:strVal val="visible"/>
                                      </p:to>
                                    </p:set>
                                    <p:anim calcmode="lin" valueType="num">
                                      <p:cBhvr additive="base">
                                        <p:cTn id="25" dur="500" fill="hold"/>
                                        <p:tgtEl>
                                          <p:spTgt spid="5222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22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22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2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22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build="p" autoUpdateAnimBg="0"/>
      <p:bldP spid="52228" grpId="0"/>
      <p:bldP spid="52229" grpId="0" animBg="1"/>
      <p:bldP spid="52230"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0348286" y="1584170"/>
            <a:ext cx="1866900" cy="4714875"/>
          </a:xfrm>
          <a:prstGeom prst="rect">
            <a:avLst/>
          </a:prstGeom>
        </p:spPr>
      </p:pic>
      <p:sp>
        <p:nvSpPr>
          <p:cNvPr id="53250" name="Rectangle 2"/>
          <p:cNvSpPr>
            <a:spLocks noGrp="1" noChangeArrowheads="1"/>
          </p:cNvSpPr>
          <p:nvPr>
            <p:ph type="title"/>
          </p:nvPr>
        </p:nvSpPr>
        <p:spPr/>
        <p:txBody>
          <a:bodyPr/>
          <a:lstStyle/>
          <a:p>
            <a:r>
              <a:rPr lang="en-US" altLang="zh-CN" dirty="0" smtClean="0"/>
              <a:t>Delayed Branch</a:t>
            </a:r>
            <a:endParaRPr lang="en-US" altLang="zh-CN" dirty="0"/>
          </a:p>
        </p:txBody>
      </p:sp>
      <p:sp>
        <p:nvSpPr>
          <p:cNvPr id="53251" name="Rectangle 3"/>
          <p:cNvSpPr>
            <a:spLocks noGrp="1" noChangeArrowheads="1"/>
          </p:cNvSpPr>
          <p:nvPr>
            <p:ph type="body" idx="1"/>
          </p:nvPr>
        </p:nvSpPr>
        <p:spPr>
          <a:xfrm>
            <a:off x="623392" y="1584170"/>
            <a:ext cx="10370368" cy="5112568"/>
          </a:xfrm>
        </p:spPr>
        <p:txBody>
          <a:bodyPr/>
          <a:lstStyle/>
          <a:p>
            <a:r>
              <a:rPr lang="en-US" altLang="zh-CN" dirty="0" smtClean="0"/>
              <a:t>Where to get instructions to fill branch delay slot?</a:t>
            </a:r>
          </a:p>
          <a:p>
            <a:pPr lvl="1"/>
            <a:r>
              <a:rPr lang="en-US" altLang="zh-CN" dirty="0" smtClean="0"/>
              <a:t>Before branch instruction</a:t>
            </a:r>
          </a:p>
          <a:p>
            <a:pPr lvl="1"/>
            <a:r>
              <a:rPr lang="en-US" altLang="zh-CN" dirty="0" smtClean="0"/>
              <a:t>From the target address: only valuable when branch taken</a:t>
            </a:r>
          </a:p>
          <a:p>
            <a:pPr lvl="1"/>
            <a:r>
              <a:rPr lang="en-US" altLang="zh-CN" dirty="0" smtClean="0"/>
              <a:t>From fall through: only valuable when branch not taken</a:t>
            </a:r>
          </a:p>
          <a:p>
            <a:r>
              <a:rPr lang="en-US" altLang="zh-CN" dirty="0" smtClean="0"/>
              <a:t>Compiler effectiveness for single branch delay slot:</a:t>
            </a:r>
          </a:p>
          <a:p>
            <a:pPr lvl="1"/>
            <a:r>
              <a:rPr lang="en-US" altLang="zh-CN" dirty="0" smtClean="0"/>
              <a:t>Fills about 60% of branch delay slots</a:t>
            </a:r>
          </a:p>
          <a:p>
            <a:pPr lvl="1"/>
            <a:r>
              <a:rPr lang="en-US" altLang="zh-CN" dirty="0" smtClean="0"/>
              <a:t>About 80% of instructions executed in branch delay slots useful in computation</a:t>
            </a:r>
          </a:p>
          <a:p>
            <a:pPr lvl="1"/>
            <a:r>
              <a:rPr lang="en-US" altLang="zh-CN" dirty="0" smtClean="0"/>
              <a:t>About 50% (60% x 80%) of slots usefully filled</a:t>
            </a:r>
          </a:p>
          <a:p>
            <a:r>
              <a:rPr lang="en-US" altLang="zh-CN" dirty="0" smtClean="0"/>
              <a:t>Delayed Branch downside: 7-8 stage pipelines, multiple instructions issued per clock (superscalar)</a:t>
            </a:r>
            <a:endParaRPr lang="en-US" altLang="zh-CN" dirty="0"/>
          </a:p>
        </p:txBody>
      </p:sp>
    </p:spTree>
    <p:extLst>
      <p:ext uri="{BB962C8B-B14F-4D97-AF65-F5344CB8AC3E}">
        <p14:creationId xmlns:p14="http://schemas.microsoft.com/office/powerpoint/2010/main" val="391004859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additive="base">
                                        <p:cTn id="7" dur="500" fill="hold"/>
                                        <p:tgtEl>
                                          <p:spTgt spid="532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325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3251">
                                            <p:txEl>
                                              <p:pRg st="1" end="1"/>
                                            </p:txEl>
                                          </p:spTgt>
                                        </p:tgtEl>
                                        <p:attrNameLst>
                                          <p:attrName>style.visibility</p:attrName>
                                        </p:attrNameLst>
                                      </p:cBhvr>
                                      <p:to>
                                        <p:strVal val="visible"/>
                                      </p:to>
                                    </p:set>
                                    <p:anim calcmode="lin" valueType="num">
                                      <p:cBhvr additive="base">
                                        <p:cTn id="11" dur="500" fill="hold"/>
                                        <p:tgtEl>
                                          <p:spTgt spid="5325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325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53251">
                                            <p:txEl>
                                              <p:pRg st="2" end="2"/>
                                            </p:txEl>
                                          </p:spTgt>
                                        </p:tgtEl>
                                        <p:attrNameLst>
                                          <p:attrName>style.visibility</p:attrName>
                                        </p:attrNameLst>
                                      </p:cBhvr>
                                      <p:to>
                                        <p:strVal val="visible"/>
                                      </p:to>
                                    </p:set>
                                    <p:anim calcmode="lin" valueType="num">
                                      <p:cBhvr additive="base">
                                        <p:cTn id="15" dur="500" fill="hold"/>
                                        <p:tgtEl>
                                          <p:spTgt spid="5325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5325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53251">
                                            <p:txEl>
                                              <p:pRg st="3" end="3"/>
                                            </p:txEl>
                                          </p:spTgt>
                                        </p:tgtEl>
                                        <p:attrNameLst>
                                          <p:attrName>style.visibility</p:attrName>
                                        </p:attrNameLst>
                                      </p:cBhvr>
                                      <p:to>
                                        <p:strVal val="visible"/>
                                      </p:to>
                                    </p:set>
                                    <p:anim calcmode="lin" valueType="num">
                                      <p:cBhvr additive="base">
                                        <p:cTn id="19" dur="500" fill="hold"/>
                                        <p:tgtEl>
                                          <p:spTgt spid="5325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325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3251">
                                            <p:txEl>
                                              <p:pRg st="4" end="4"/>
                                            </p:txEl>
                                          </p:spTgt>
                                        </p:tgtEl>
                                        <p:attrNameLst>
                                          <p:attrName>style.visibility</p:attrName>
                                        </p:attrNameLst>
                                      </p:cBhvr>
                                      <p:to>
                                        <p:strVal val="visible"/>
                                      </p:to>
                                    </p:set>
                                    <p:anim calcmode="lin" valueType="num">
                                      <p:cBhvr additive="base">
                                        <p:cTn id="25" dur="500" fill="hold"/>
                                        <p:tgtEl>
                                          <p:spTgt spid="5325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325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53251">
                                            <p:txEl>
                                              <p:pRg st="5" end="5"/>
                                            </p:txEl>
                                          </p:spTgt>
                                        </p:tgtEl>
                                        <p:attrNameLst>
                                          <p:attrName>style.visibility</p:attrName>
                                        </p:attrNameLst>
                                      </p:cBhvr>
                                      <p:to>
                                        <p:strVal val="visible"/>
                                      </p:to>
                                    </p:set>
                                    <p:anim calcmode="lin" valueType="num">
                                      <p:cBhvr additive="base">
                                        <p:cTn id="29" dur="500" fill="hold"/>
                                        <p:tgtEl>
                                          <p:spTgt spid="5325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53251">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53251">
                                            <p:txEl>
                                              <p:pRg st="6" end="6"/>
                                            </p:txEl>
                                          </p:spTgt>
                                        </p:tgtEl>
                                        <p:attrNameLst>
                                          <p:attrName>style.visibility</p:attrName>
                                        </p:attrNameLst>
                                      </p:cBhvr>
                                      <p:to>
                                        <p:strVal val="visible"/>
                                      </p:to>
                                    </p:set>
                                    <p:anim calcmode="lin" valueType="num">
                                      <p:cBhvr additive="base">
                                        <p:cTn id="33" dur="500" fill="hold"/>
                                        <p:tgtEl>
                                          <p:spTgt spid="53251">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53251">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53251">
                                            <p:txEl>
                                              <p:pRg st="7" end="7"/>
                                            </p:txEl>
                                          </p:spTgt>
                                        </p:tgtEl>
                                        <p:attrNameLst>
                                          <p:attrName>style.visibility</p:attrName>
                                        </p:attrNameLst>
                                      </p:cBhvr>
                                      <p:to>
                                        <p:strVal val="visible"/>
                                      </p:to>
                                    </p:set>
                                    <p:anim calcmode="lin" valueType="num">
                                      <p:cBhvr additive="base">
                                        <p:cTn id="37" dur="500" fill="hold"/>
                                        <p:tgtEl>
                                          <p:spTgt spid="53251">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5325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3251">
                                            <p:txEl>
                                              <p:pRg st="8" end="8"/>
                                            </p:txEl>
                                          </p:spTgt>
                                        </p:tgtEl>
                                        <p:attrNameLst>
                                          <p:attrName>style.visibility</p:attrName>
                                        </p:attrNameLst>
                                      </p:cBhvr>
                                      <p:to>
                                        <p:strVal val="visible"/>
                                      </p:to>
                                    </p:set>
                                    <p:anim calcmode="lin" valueType="num">
                                      <p:cBhvr additive="base">
                                        <p:cTn id="43" dur="500" fill="hold"/>
                                        <p:tgtEl>
                                          <p:spTgt spid="53251">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3251">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behavior of a </a:t>
            </a:r>
            <a:r>
              <a:rPr lang="en-US" altLang="zh-CN" dirty="0" smtClean="0"/>
              <a:t>delayed branch </a:t>
            </a:r>
            <a:endParaRPr lang="zh-CN" altLang="en-US" dirty="0"/>
          </a:p>
        </p:txBody>
      </p:sp>
      <p:sp>
        <p:nvSpPr>
          <p:cNvPr id="3" name="内容占位符 2"/>
          <p:cNvSpPr>
            <a:spLocks noGrp="1"/>
          </p:cNvSpPr>
          <p:nvPr>
            <p:ph idx="1"/>
          </p:nvPr>
        </p:nvSpPr>
        <p:spPr>
          <a:xfrm>
            <a:off x="838200" y="1556792"/>
            <a:ext cx="10515600" cy="1656184"/>
          </a:xfrm>
        </p:spPr>
        <p:txBody>
          <a:bodyPr/>
          <a:lstStyle/>
          <a:p>
            <a:r>
              <a:rPr lang="en-US" altLang="zh-CN" dirty="0" smtClean="0"/>
              <a:t>When </a:t>
            </a:r>
            <a:r>
              <a:rPr lang="en-US" altLang="zh-CN" dirty="0"/>
              <a:t>the instruction in the branch delay slot is also a branch, the meaning is </a:t>
            </a:r>
            <a:r>
              <a:rPr lang="en-US" altLang="zh-CN" dirty="0" smtClean="0"/>
              <a:t>unclear</a:t>
            </a:r>
          </a:p>
          <a:p>
            <a:pPr lvl="1"/>
            <a:r>
              <a:rPr lang="en-US" altLang="zh-CN" dirty="0" smtClean="0"/>
              <a:t>Because </a:t>
            </a:r>
            <a:r>
              <a:rPr lang="en-US" altLang="zh-CN" dirty="0"/>
              <a:t>of this confusion, architectures with delay branches often disallow putting a branch in the delay </a:t>
            </a:r>
            <a:r>
              <a:rPr lang="en-US" altLang="zh-CN" dirty="0" smtClean="0"/>
              <a:t>slot</a:t>
            </a:r>
            <a:endParaRPr lang="en-US" altLang="zh-CN" dirty="0"/>
          </a:p>
        </p:txBody>
      </p:sp>
      <p:pic>
        <p:nvPicPr>
          <p:cNvPr id="4" name="图片 3"/>
          <p:cNvPicPr>
            <a:picLocks noChangeAspect="1"/>
          </p:cNvPicPr>
          <p:nvPr/>
        </p:nvPicPr>
        <p:blipFill>
          <a:blip r:embed="rId2"/>
          <a:stretch>
            <a:fillRect/>
          </a:stretch>
        </p:blipFill>
        <p:spPr>
          <a:xfrm>
            <a:off x="1343459" y="3212976"/>
            <a:ext cx="9505081" cy="3549983"/>
          </a:xfrm>
          <a:prstGeom prst="rect">
            <a:avLst/>
          </a:prstGeom>
        </p:spPr>
      </p:pic>
    </p:spTree>
    <p:extLst>
      <p:ext uri="{BB962C8B-B14F-4D97-AF65-F5344CB8AC3E}">
        <p14:creationId xmlns:p14="http://schemas.microsoft.com/office/powerpoint/2010/main" val="322000604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ctr" anchorCtr="0" compatLnSpc="1">
            <a:prstTxWarp prst="textNoShape">
              <a:avLst/>
            </a:prstTxWarp>
          </a:bodyPr>
          <a:lstStyle/>
          <a:p>
            <a:r>
              <a:rPr lang="en-US" altLang="zh-CN"/>
              <a:t>Evaluating Branch Alternatives</a:t>
            </a:r>
          </a:p>
        </p:txBody>
      </p:sp>
      <p:sp>
        <p:nvSpPr>
          <p:cNvPr id="54275" name="Rectangle 3"/>
          <p:cNvSpPr>
            <a:spLocks noGrp="1" noChangeArrowheads="1"/>
          </p:cNvSpPr>
          <p:nvPr>
            <p:ph type="body" idx="1"/>
          </p:nvPr>
        </p:nvSpPr>
        <p:spPr>
          <a:xfrm>
            <a:off x="1415480" y="2708920"/>
            <a:ext cx="9601200" cy="2754313"/>
          </a:xfrm>
          <a:noFill/>
          <a:ln/>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0488" tIns="44450" rIns="90488" bIns="44450" numCol="1" anchor="t" anchorCtr="0" compatLnSpc="1">
            <a:prstTxWarp prst="textNoShape">
              <a:avLst/>
            </a:prstTxWarp>
          </a:bodyPr>
          <a:lstStyle/>
          <a:p>
            <a:pPr>
              <a:buNone/>
              <a:tabLst>
                <a:tab pos="2686050" algn="r"/>
                <a:tab pos="3486150" algn="r"/>
                <a:tab pos="5086350" algn="r"/>
                <a:tab pos="6743700" algn="r"/>
              </a:tabLst>
            </a:pPr>
            <a:r>
              <a:rPr lang="en-US" altLang="zh-CN" i="1" dirty="0"/>
              <a:t>Scheduling	     Branch	   CPI	   speedup v.	   speedup v.</a:t>
            </a:r>
          </a:p>
          <a:p>
            <a:pPr>
              <a:buNone/>
              <a:tabLst>
                <a:tab pos="2686050" algn="r"/>
                <a:tab pos="3486150" algn="r"/>
                <a:tab pos="5086350" algn="r"/>
                <a:tab pos="6743700" algn="r"/>
              </a:tabLst>
            </a:pPr>
            <a:r>
              <a:rPr lang="en-US" altLang="zh-CN" i="1" dirty="0"/>
              <a:t>scheme	          penalty		          </a:t>
            </a:r>
            <a:r>
              <a:rPr lang="en-US" altLang="zh-CN" i="1" dirty="0" err="1"/>
              <a:t>unpipelined</a:t>
            </a:r>
            <a:r>
              <a:rPr lang="en-US" altLang="zh-CN" i="1" dirty="0"/>
              <a:t>	       stall</a:t>
            </a:r>
            <a:r>
              <a:rPr lang="en-US" altLang="zh-CN" dirty="0"/>
              <a:t>	</a:t>
            </a:r>
          </a:p>
          <a:p>
            <a:pPr>
              <a:buNone/>
              <a:tabLst>
                <a:tab pos="2686050" algn="r"/>
                <a:tab pos="3486150" algn="r"/>
                <a:tab pos="5086350" algn="r"/>
                <a:tab pos="6743700" algn="r"/>
              </a:tabLst>
            </a:pPr>
            <a:r>
              <a:rPr lang="en-US" altLang="zh-CN" dirty="0"/>
              <a:t>Stall pipeline	          3	    1.42	         3.5		1.0</a:t>
            </a:r>
          </a:p>
          <a:p>
            <a:pPr>
              <a:buNone/>
              <a:tabLst>
                <a:tab pos="2686050" algn="r"/>
                <a:tab pos="3486150" algn="r"/>
                <a:tab pos="5086350" algn="r"/>
                <a:tab pos="6743700" algn="r"/>
              </a:tabLst>
            </a:pPr>
            <a:r>
              <a:rPr lang="en-US" altLang="zh-CN" dirty="0"/>
              <a:t>Predict taken	         1	    1.14         4.4		1.26</a:t>
            </a:r>
          </a:p>
          <a:p>
            <a:pPr>
              <a:buNone/>
              <a:tabLst>
                <a:tab pos="2686050" algn="r"/>
                <a:tab pos="3486150" algn="r"/>
                <a:tab pos="5086350" algn="r"/>
                <a:tab pos="6743700" algn="r"/>
              </a:tabLst>
            </a:pPr>
            <a:r>
              <a:rPr lang="en-US" altLang="zh-CN" dirty="0"/>
              <a:t>Predict not taken	   1	    1.09	         4.5		1.29</a:t>
            </a:r>
          </a:p>
          <a:p>
            <a:pPr>
              <a:buNone/>
              <a:tabLst>
                <a:tab pos="2686050" algn="r"/>
                <a:tab pos="3486150" algn="r"/>
                <a:tab pos="5086350" algn="r"/>
                <a:tab pos="6743700" algn="r"/>
              </a:tabLst>
            </a:pPr>
            <a:r>
              <a:rPr lang="en-US" altLang="zh-CN" dirty="0"/>
              <a:t>Delayed branch	  0.5	    1.07	         4.6		</a:t>
            </a:r>
            <a:r>
              <a:rPr lang="en-US" altLang="zh-CN" dirty="0">
                <a:solidFill>
                  <a:srgbClr val="FF0000"/>
                </a:solidFill>
              </a:rPr>
              <a:t>1.31</a:t>
            </a:r>
          </a:p>
          <a:p>
            <a:pPr>
              <a:buNone/>
              <a:tabLst>
                <a:tab pos="2686050" algn="r"/>
                <a:tab pos="3486150" algn="r"/>
                <a:tab pos="5086350" algn="r"/>
                <a:tab pos="6743700" algn="r"/>
              </a:tabLst>
            </a:pPr>
            <a:r>
              <a:rPr lang="en-US" altLang="zh-CN" dirty="0"/>
              <a:t>Conditional &amp; Unconditional = 14%, 65% change PC</a:t>
            </a:r>
          </a:p>
        </p:txBody>
      </p:sp>
      <p:graphicFrame>
        <p:nvGraphicFramePr>
          <p:cNvPr id="54276" name="Object 4">
            <a:hlinkClick r:id="" action="ppaction://ole?verb=0"/>
          </p:cNvPr>
          <p:cNvGraphicFramePr>
            <a:graphicFrameLocks/>
          </p:cNvGraphicFramePr>
          <p:nvPr>
            <p:extLst>
              <p:ext uri="{D42A27DB-BD31-4B8C-83A1-F6EECF244321}">
                <p14:modId xmlns:p14="http://schemas.microsoft.com/office/powerpoint/2010/main" val="4180874614"/>
              </p:ext>
            </p:extLst>
          </p:nvPr>
        </p:nvGraphicFramePr>
        <p:xfrm>
          <a:off x="1524000" y="1739280"/>
          <a:ext cx="9067800" cy="609600"/>
        </p:xfrm>
        <a:graphic>
          <a:graphicData uri="http://schemas.openxmlformats.org/presentationml/2006/ole">
            <mc:AlternateContent xmlns:mc="http://schemas.openxmlformats.org/markup-compatibility/2006">
              <mc:Choice xmlns:v="urn:schemas-microsoft-com:vml" Requires="v">
                <p:oleObj spid="_x0000_s1051" name="公式" r:id="rId3" imgW="5362560" imgH="466560" progId="Equation.3">
                  <p:embed/>
                </p:oleObj>
              </mc:Choice>
              <mc:Fallback>
                <p:oleObj name="公式" r:id="rId3" imgW="5362560" imgH="466560" progId="Equation.3">
                  <p:embed/>
                  <p:pic>
                    <p:nvPicPr>
                      <p:cNvPr id="54276" name="Object 4">
                        <a:hlinkClick r:id="" action="ppaction://ole?verb=0"/>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739280"/>
                        <a:ext cx="9067800" cy="609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5547907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427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427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427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427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427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427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427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When is pipelining hard?</a:t>
            </a:r>
            <a:endParaRPr lang="zh-CN" altLang="en-US" dirty="0"/>
          </a:p>
        </p:txBody>
      </p:sp>
      <p:sp>
        <p:nvSpPr>
          <p:cNvPr id="3" name="内容占位符 2"/>
          <p:cNvSpPr>
            <a:spLocks noGrp="1"/>
          </p:cNvSpPr>
          <p:nvPr>
            <p:ph idx="1"/>
          </p:nvPr>
        </p:nvSpPr>
        <p:spPr/>
        <p:txBody>
          <a:bodyPr/>
          <a:lstStyle/>
          <a:p>
            <a:r>
              <a:rPr lang="en-US" altLang="zh-CN" dirty="0" smtClean="0">
                <a:solidFill>
                  <a:srgbClr val="FF0000"/>
                </a:solidFill>
              </a:rPr>
              <a:t>Interrupts</a:t>
            </a:r>
            <a:r>
              <a:rPr lang="en-US" altLang="zh-CN" dirty="0" smtClean="0"/>
              <a:t>: 5 instructions executing in 5 stage pipeline</a:t>
            </a:r>
          </a:p>
          <a:p>
            <a:pPr lvl="1"/>
            <a:r>
              <a:rPr lang="en-US" altLang="zh-CN" dirty="0" smtClean="0"/>
              <a:t>How to stop the pipeline? How to restart the pipeline?</a:t>
            </a:r>
          </a:p>
          <a:p>
            <a:pPr lvl="1"/>
            <a:r>
              <a:rPr lang="en-US" altLang="zh-CN" dirty="0" smtClean="0"/>
              <a:t>Who caused the interrupt?</a:t>
            </a:r>
          </a:p>
          <a:p>
            <a:r>
              <a:rPr lang="en-US" altLang="zh-CN" dirty="0" smtClean="0"/>
              <a:t>Possible interrupt sources in pipeline stages</a:t>
            </a:r>
          </a:p>
          <a:p>
            <a:pPr lvl="1"/>
            <a:r>
              <a:rPr lang="en-US" altLang="zh-CN" dirty="0" smtClean="0"/>
              <a:t>IF: Page fault on instruction fetch; misaligned memory access; memory protection violation</a:t>
            </a:r>
          </a:p>
          <a:p>
            <a:pPr lvl="1"/>
            <a:r>
              <a:rPr lang="en-US" altLang="zh-CN" dirty="0" smtClean="0"/>
              <a:t>ID: Undefined or illegal opcode (instruction)</a:t>
            </a:r>
          </a:p>
          <a:p>
            <a:pPr lvl="1"/>
            <a:r>
              <a:rPr lang="en-US" altLang="zh-CN" dirty="0" smtClean="0"/>
              <a:t>Ex: Arithmetic exceptions</a:t>
            </a:r>
          </a:p>
          <a:p>
            <a:pPr lvl="1"/>
            <a:r>
              <a:rPr lang="en-US" altLang="zh-CN" dirty="0" smtClean="0"/>
              <a:t>MEM: Page fault on data fetch; misaligned memory access; memory protection violation</a:t>
            </a:r>
          </a:p>
          <a:p>
            <a:r>
              <a:rPr lang="en-US" altLang="zh-CN" dirty="0" smtClean="0"/>
              <a:t>Load with data page fault, and Add with instruction page fault?</a:t>
            </a:r>
          </a:p>
          <a:p>
            <a:pPr lvl="1"/>
            <a:r>
              <a:rPr lang="en-US" altLang="zh-CN" dirty="0" smtClean="0"/>
              <a:t>Solution 1: interrupt vector/instruction, check last stage</a:t>
            </a:r>
          </a:p>
          <a:p>
            <a:pPr lvl="1"/>
            <a:r>
              <a:rPr lang="en-US" altLang="zh-CN" dirty="0" smtClean="0"/>
              <a:t>Solution 2: interrupt ASAP, restart everything incomplete</a:t>
            </a:r>
            <a:endParaRPr lang="zh-CN" altLang="en-US" dirty="0"/>
          </a:p>
        </p:txBody>
      </p:sp>
      <p:pic>
        <p:nvPicPr>
          <p:cNvPr id="4" name="图片 3"/>
          <p:cNvPicPr>
            <a:picLocks noChangeAspect="1"/>
          </p:cNvPicPr>
          <p:nvPr/>
        </p:nvPicPr>
        <p:blipFill>
          <a:blip r:embed="rId2"/>
          <a:stretch>
            <a:fillRect/>
          </a:stretch>
        </p:blipFill>
        <p:spPr>
          <a:xfrm>
            <a:off x="7351897" y="692696"/>
            <a:ext cx="4821338" cy="620039"/>
          </a:xfrm>
          <a:prstGeom prst="rect">
            <a:avLst/>
          </a:prstGeom>
        </p:spPr>
      </p:pic>
    </p:spTree>
    <p:extLst>
      <p:ext uri="{BB962C8B-B14F-4D97-AF65-F5344CB8AC3E}">
        <p14:creationId xmlns:p14="http://schemas.microsoft.com/office/powerpoint/2010/main" val="79224811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6" name="Rectangle 2"/>
          <p:cNvSpPr>
            <a:spLocks noGrp="1" noChangeArrowheads="1"/>
          </p:cNvSpPr>
          <p:nvPr>
            <p:ph type="title"/>
          </p:nvPr>
        </p:nvSpPr>
        <p:spPr>
          <a:xfrm>
            <a:off x="2667000" y="332656"/>
            <a:ext cx="7162800" cy="1143000"/>
          </a:xfrm>
        </p:spPr>
        <p:txBody>
          <a:bodyPr/>
          <a:lstStyle/>
          <a:p>
            <a:r>
              <a:rPr lang="en-US" altLang="zh-CN" dirty="0">
                <a:ea typeface="宋体" panose="02010600030101010101" pitchFamily="2" charset="-122"/>
              </a:rPr>
              <a:t>Exceptions and Interrupts</a:t>
            </a:r>
          </a:p>
        </p:txBody>
      </p:sp>
      <p:pic>
        <p:nvPicPr>
          <p:cNvPr id="2" name="图片 1"/>
          <p:cNvPicPr>
            <a:picLocks noChangeAspect="1"/>
          </p:cNvPicPr>
          <p:nvPr/>
        </p:nvPicPr>
        <p:blipFill>
          <a:blip r:embed="rId2"/>
          <a:stretch>
            <a:fillRect/>
          </a:stretch>
        </p:blipFill>
        <p:spPr>
          <a:xfrm>
            <a:off x="119336" y="2324429"/>
            <a:ext cx="5469645" cy="3753544"/>
          </a:xfrm>
          <a:prstGeom prst="rect">
            <a:avLst/>
          </a:prstGeom>
        </p:spPr>
      </p:pic>
      <p:pic>
        <p:nvPicPr>
          <p:cNvPr id="4" name="图片 3"/>
          <p:cNvPicPr>
            <a:picLocks noChangeAspect="1"/>
          </p:cNvPicPr>
          <p:nvPr/>
        </p:nvPicPr>
        <p:blipFill>
          <a:blip r:embed="rId3"/>
          <a:stretch>
            <a:fillRect/>
          </a:stretch>
        </p:blipFill>
        <p:spPr>
          <a:xfrm>
            <a:off x="5087888" y="2096872"/>
            <a:ext cx="6912768" cy="4523003"/>
          </a:xfrm>
          <a:prstGeom prst="rect">
            <a:avLst/>
          </a:prstGeom>
        </p:spPr>
      </p:pic>
    </p:spTree>
    <p:extLst>
      <p:ext uri="{BB962C8B-B14F-4D97-AF65-F5344CB8AC3E}">
        <p14:creationId xmlns:p14="http://schemas.microsoft.com/office/powerpoint/2010/main" val="163475303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p:cNvSpPr>
            <a:spLocks noGrp="1" noChangeArrowheads="1"/>
          </p:cNvSpPr>
          <p:nvPr>
            <p:ph type="title"/>
          </p:nvPr>
        </p:nvSpPr>
        <p:spPr>
          <a:xfrm>
            <a:off x="2667000" y="228600"/>
            <a:ext cx="7162800" cy="1143000"/>
          </a:xfrm>
        </p:spPr>
        <p:txBody>
          <a:bodyPr/>
          <a:lstStyle/>
          <a:p>
            <a:r>
              <a:rPr lang="en-US" altLang="zh-CN">
                <a:ea typeface="宋体" panose="02010600030101010101" pitchFamily="2" charset="-122"/>
              </a:rPr>
              <a:t>Example: Device Interrupt</a:t>
            </a:r>
            <a:br>
              <a:rPr lang="en-US" altLang="zh-CN">
                <a:ea typeface="宋体" panose="02010600030101010101" pitchFamily="2" charset="-122"/>
              </a:rPr>
            </a:br>
            <a:r>
              <a:rPr lang="en-US" altLang="zh-CN" sz="1800">
                <a:solidFill>
                  <a:schemeClr val="tx1"/>
                </a:solidFill>
                <a:ea typeface="宋体" panose="02010600030101010101" pitchFamily="2" charset="-122"/>
              </a:rPr>
              <a:t>(Say, arrival of network message)</a:t>
            </a:r>
            <a:endParaRPr lang="en-US" altLang="zh-CN">
              <a:ea typeface="宋体" panose="02010600030101010101" pitchFamily="2" charset="-122"/>
            </a:endParaRPr>
          </a:p>
        </p:txBody>
      </p:sp>
      <p:sp>
        <p:nvSpPr>
          <p:cNvPr id="708611" name="Text Box 3"/>
          <p:cNvSpPr txBox="1">
            <a:spLocks noChangeArrowheads="1"/>
          </p:cNvSpPr>
          <p:nvPr/>
        </p:nvSpPr>
        <p:spPr bwMode="auto">
          <a:xfrm>
            <a:off x="2654300" y="2024051"/>
            <a:ext cx="2393950" cy="32067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50000"/>
              </a:lnSpc>
              <a:spcBef>
                <a:spcPct val="0"/>
              </a:spcBef>
            </a:pPr>
            <a:r>
              <a:rPr lang="en-US" altLang="zh-CN" sz="2000" b="1" dirty="0">
                <a:latin typeface="Courier New" panose="02070309020205020404" pitchFamily="49" charset="0"/>
                <a:sym typeface="Symbol" panose="05050102010706020507" pitchFamily="18" charset="2"/>
              </a:rPr>
              <a:t></a:t>
            </a:r>
            <a:endParaRPr lang="en-US" altLang="zh-CN" sz="2000" b="1" dirty="0">
              <a:latin typeface="Courier New" panose="02070309020205020404" pitchFamily="49" charset="0"/>
            </a:endParaRPr>
          </a:p>
          <a:p>
            <a:pPr>
              <a:spcBef>
                <a:spcPct val="0"/>
              </a:spcBef>
            </a:pPr>
            <a:r>
              <a:rPr lang="en-US" altLang="zh-CN" sz="2000" b="1" dirty="0">
                <a:latin typeface="Courier New" panose="02070309020205020404" pitchFamily="49" charset="0"/>
              </a:rPr>
              <a:t>add 	r1,r2,r3</a:t>
            </a:r>
          </a:p>
          <a:p>
            <a:pPr>
              <a:spcBef>
                <a:spcPct val="0"/>
              </a:spcBef>
            </a:pPr>
            <a:r>
              <a:rPr lang="en-US" altLang="zh-CN" sz="2000" b="1" dirty="0" err="1">
                <a:latin typeface="Courier New" panose="02070309020205020404" pitchFamily="49" charset="0"/>
              </a:rPr>
              <a:t>subi</a:t>
            </a:r>
            <a:r>
              <a:rPr lang="en-US" altLang="zh-CN" sz="2000" b="1" dirty="0">
                <a:latin typeface="Courier New" panose="02070309020205020404" pitchFamily="49" charset="0"/>
              </a:rPr>
              <a:t> 	r4,r1,#4</a:t>
            </a:r>
          </a:p>
          <a:p>
            <a:pPr>
              <a:spcBef>
                <a:spcPct val="0"/>
              </a:spcBef>
            </a:pPr>
            <a:r>
              <a:rPr lang="en-US" altLang="zh-CN" sz="2000" b="1" dirty="0" err="1">
                <a:latin typeface="Courier New" panose="02070309020205020404" pitchFamily="49" charset="0"/>
              </a:rPr>
              <a:t>slli</a:t>
            </a:r>
            <a:r>
              <a:rPr lang="en-US" altLang="zh-CN" sz="2000" b="1" dirty="0">
                <a:latin typeface="Courier New" panose="02070309020205020404" pitchFamily="49" charset="0"/>
              </a:rPr>
              <a:t> 	r4,r4,#2</a:t>
            </a:r>
          </a:p>
          <a:p>
            <a:pPr algn="ctr">
              <a:lnSpc>
                <a:spcPct val="150000"/>
              </a:lnSpc>
              <a:spcBef>
                <a:spcPct val="0"/>
              </a:spcBef>
            </a:pPr>
            <a:r>
              <a:rPr lang="en-US" altLang="zh-CN" sz="2000" b="1" dirty="0">
                <a:solidFill>
                  <a:srgbClr val="FF0000"/>
                </a:solidFill>
                <a:latin typeface="Courier New" panose="02070309020205020404" pitchFamily="49" charset="0"/>
              </a:rPr>
              <a:t>Hiccup(!)</a:t>
            </a:r>
          </a:p>
          <a:p>
            <a:pPr>
              <a:lnSpc>
                <a:spcPct val="150000"/>
              </a:lnSpc>
              <a:spcBef>
                <a:spcPct val="0"/>
              </a:spcBef>
            </a:pPr>
            <a:r>
              <a:rPr lang="en-US" altLang="zh-CN" sz="2000" b="1" dirty="0" err="1">
                <a:latin typeface="Courier New" panose="02070309020205020404" pitchFamily="49" charset="0"/>
              </a:rPr>
              <a:t>lw</a:t>
            </a:r>
            <a:r>
              <a:rPr lang="en-US" altLang="zh-CN" sz="2000" b="1" dirty="0">
                <a:latin typeface="Courier New" panose="02070309020205020404" pitchFamily="49" charset="0"/>
              </a:rPr>
              <a:t>	r2,0(r4)</a:t>
            </a:r>
          </a:p>
          <a:p>
            <a:pPr>
              <a:spcBef>
                <a:spcPct val="0"/>
              </a:spcBef>
            </a:pPr>
            <a:r>
              <a:rPr lang="en-US" altLang="zh-CN" sz="2000" b="1" dirty="0" err="1">
                <a:latin typeface="Courier New" panose="02070309020205020404" pitchFamily="49" charset="0"/>
              </a:rPr>
              <a:t>lw</a:t>
            </a:r>
            <a:r>
              <a:rPr lang="en-US" altLang="zh-CN" sz="2000" b="1" dirty="0">
                <a:latin typeface="Courier New" panose="02070309020205020404" pitchFamily="49" charset="0"/>
              </a:rPr>
              <a:t>	r3,4(r4)</a:t>
            </a:r>
          </a:p>
          <a:p>
            <a:pPr>
              <a:spcBef>
                <a:spcPct val="0"/>
              </a:spcBef>
            </a:pPr>
            <a:r>
              <a:rPr lang="en-US" altLang="zh-CN" sz="2000" b="1" dirty="0">
                <a:latin typeface="Courier New" panose="02070309020205020404" pitchFamily="49" charset="0"/>
              </a:rPr>
              <a:t>add	r2,r2,r3</a:t>
            </a:r>
          </a:p>
          <a:p>
            <a:pPr>
              <a:spcBef>
                <a:spcPct val="0"/>
              </a:spcBef>
            </a:pPr>
            <a:r>
              <a:rPr lang="en-US" altLang="zh-CN" sz="2000" b="1" dirty="0" err="1">
                <a:latin typeface="Courier New" panose="02070309020205020404" pitchFamily="49" charset="0"/>
              </a:rPr>
              <a:t>sw</a:t>
            </a:r>
            <a:r>
              <a:rPr lang="en-US" altLang="zh-CN" sz="2000" b="1" dirty="0">
                <a:latin typeface="Courier New" panose="02070309020205020404" pitchFamily="49" charset="0"/>
              </a:rPr>
              <a:t>	8(r4),r2</a:t>
            </a:r>
          </a:p>
          <a:p>
            <a:pPr algn="ctr">
              <a:lnSpc>
                <a:spcPct val="50000"/>
              </a:lnSpc>
              <a:spcBef>
                <a:spcPct val="0"/>
              </a:spcBef>
            </a:pPr>
            <a:r>
              <a:rPr lang="en-US" altLang="zh-CN" sz="2000" b="1" dirty="0">
                <a:latin typeface="Courier New" panose="02070309020205020404" pitchFamily="49" charset="0"/>
                <a:sym typeface="Symbol" panose="05050102010706020507" pitchFamily="18" charset="2"/>
              </a:rPr>
              <a:t></a:t>
            </a:r>
            <a:endParaRPr lang="en-US" altLang="zh-CN" sz="2000" b="1" dirty="0">
              <a:latin typeface="Courier New" panose="02070309020205020404" pitchFamily="49" charset="0"/>
            </a:endParaRPr>
          </a:p>
        </p:txBody>
      </p:sp>
      <p:sp>
        <p:nvSpPr>
          <p:cNvPr id="708612" name="Text Box 4"/>
          <p:cNvSpPr txBox="1">
            <a:spLocks noChangeArrowheads="1"/>
          </p:cNvSpPr>
          <p:nvPr/>
        </p:nvSpPr>
        <p:spPr bwMode="auto">
          <a:xfrm>
            <a:off x="6781800" y="1524001"/>
            <a:ext cx="2895600" cy="405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0"/>
              </a:spcBef>
            </a:pPr>
            <a:r>
              <a:rPr lang="en-US" altLang="zh-CN" sz="2000" b="1" i="1" dirty="0">
                <a:solidFill>
                  <a:srgbClr val="0000FF"/>
                </a:solidFill>
                <a:latin typeface="Courier New" panose="02070309020205020404" pitchFamily="49" charset="0"/>
              </a:rPr>
              <a:t>Raise priority</a:t>
            </a:r>
          </a:p>
          <a:p>
            <a:pPr>
              <a:spcBef>
                <a:spcPct val="0"/>
              </a:spcBef>
            </a:pPr>
            <a:r>
              <a:rPr lang="en-US" altLang="zh-CN" sz="2000" b="1" i="1" dirty="0" err="1">
                <a:solidFill>
                  <a:srgbClr val="0000FF"/>
                </a:solidFill>
                <a:latin typeface="Courier New" panose="02070309020205020404" pitchFamily="49" charset="0"/>
              </a:rPr>
              <a:t>Reenable</a:t>
            </a:r>
            <a:r>
              <a:rPr lang="en-US" altLang="zh-CN" sz="2000" b="1" i="1" dirty="0">
                <a:solidFill>
                  <a:srgbClr val="0000FF"/>
                </a:solidFill>
                <a:latin typeface="Courier New" panose="02070309020205020404" pitchFamily="49" charset="0"/>
              </a:rPr>
              <a:t> All </a:t>
            </a:r>
            <a:r>
              <a:rPr lang="en-US" altLang="zh-CN" sz="2000" b="1" i="1" dirty="0" err="1">
                <a:solidFill>
                  <a:srgbClr val="0000FF"/>
                </a:solidFill>
                <a:latin typeface="Courier New" panose="02070309020205020404" pitchFamily="49" charset="0"/>
              </a:rPr>
              <a:t>Ints</a:t>
            </a:r>
            <a:endParaRPr lang="en-US" altLang="zh-CN" sz="2000" b="1" i="1" dirty="0">
              <a:solidFill>
                <a:srgbClr val="0000FF"/>
              </a:solidFill>
              <a:latin typeface="Courier New" panose="02070309020205020404" pitchFamily="49" charset="0"/>
            </a:endParaRPr>
          </a:p>
          <a:p>
            <a:pPr>
              <a:spcBef>
                <a:spcPct val="0"/>
              </a:spcBef>
            </a:pPr>
            <a:r>
              <a:rPr lang="en-US" altLang="zh-CN" sz="2000" b="1" i="1" dirty="0">
                <a:solidFill>
                  <a:srgbClr val="0000FF"/>
                </a:solidFill>
                <a:latin typeface="Courier New" panose="02070309020205020404" pitchFamily="49" charset="0"/>
              </a:rPr>
              <a:t>Save registers</a:t>
            </a:r>
          </a:p>
          <a:p>
            <a:pPr algn="ctr">
              <a:lnSpc>
                <a:spcPct val="50000"/>
              </a:lnSpc>
              <a:spcBef>
                <a:spcPct val="0"/>
              </a:spcBef>
            </a:pPr>
            <a:r>
              <a:rPr lang="en-US" altLang="zh-CN" sz="2000" b="1" dirty="0">
                <a:latin typeface="Courier New" panose="02070309020205020404" pitchFamily="49" charset="0"/>
                <a:sym typeface="Symbol" panose="05050102010706020507" pitchFamily="18" charset="2"/>
              </a:rPr>
              <a:t></a:t>
            </a:r>
            <a:endParaRPr lang="en-US" altLang="zh-CN" sz="2000" b="1" dirty="0">
              <a:latin typeface="Courier New" panose="02070309020205020404" pitchFamily="49" charset="0"/>
            </a:endParaRPr>
          </a:p>
          <a:p>
            <a:pPr>
              <a:spcBef>
                <a:spcPct val="0"/>
              </a:spcBef>
            </a:pPr>
            <a:r>
              <a:rPr lang="en-US" altLang="zh-CN" sz="2000" b="1" dirty="0" err="1">
                <a:latin typeface="Courier New" panose="02070309020205020404" pitchFamily="49" charset="0"/>
              </a:rPr>
              <a:t>lw</a:t>
            </a:r>
            <a:r>
              <a:rPr lang="en-US" altLang="zh-CN" sz="2000" b="1" dirty="0">
                <a:latin typeface="Courier New" panose="02070309020205020404" pitchFamily="49" charset="0"/>
              </a:rPr>
              <a:t>	r1,20(r0)</a:t>
            </a:r>
          </a:p>
          <a:p>
            <a:pPr>
              <a:spcBef>
                <a:spcPct val="0"/>
              </a:spcBef>
            </a:pPr>
            <a:r>
              <a:rPr lang="en-US" altLang="zh-CN" sz="2000" b="1" dirty="0" err="1">
                <a:latin typeface="Courier New" panose="02070309020205020404" pitchFamily="49" charset="0"/>
              </a:rPr>
              <a:t>lw</a:t>
            </a:r>
            <a:r>
              <a:rPr lang="en-US" altLang="zh-CN" sz="2000" b="1" dirty="0">
                <a:latin typeface="Courier New" panose="02070309020205020404" pitchFamily="49" charset="0"/>
              </a:rPr>
              <a:t>	r2,0(r1)</a:t>
            </a:r>
          </a:p>
          <a:p>
            <a:pPr>
              <a:spcBef>
                <a:spcPct val="0"/>
              </a:spcBef>
            </a:pPr>
            <a:r>
              <a:rPr lang="en-US" altLang="zh-CN" sz="2000" b="1" dirty="0" err="1">
                <a:latin typeface="Courier New" panose="02070309020205020404" pitchFamily="49" charset="0"/>
              </a:rPr>
              <a:t>addi</a:t>
            </a:r>
            <a:r>
              <a:rPr lang="en-US" altLang="zh-CN" sz="2000" b="1" dirty="0">
                <a:latin typeface="Courier New" panose="02070309020205020404" pitchFamily="49" charset="0"/>
              </a:rPr>
              <a:t>  r3,r0,#5</a:t>
            </a:r>
          </a:p>
          <a:p>
            <a:pPr>
              <a:spcBef>
                <a:spcPct val="0"/>
              </a:spcBef>
            </a:pPr>
            <a:r>
              <a:rPr lang="en-US" altLang="zh-CN" sz="2000" b="1" dirty="0" err="1">
                <a:latin typeface="Courier New" panose="02070309020205020404" pitchFamily="49" charset="0"/>
              </a:rPr>
              <a:t>sw</a:t>
            </a:r>
            <a:r>
              <a:rPr lang="en-US" altLang="zh-CN" sz="2000" b="1" dirty="0">
                <a:latin typeface="Courier New" panose="02070309020205020404" pitchFamily="49" charset="0"/>
              </a:rPr>
              <a:t>    0(r1),r3</a:t>
            </a:r>
          </a:p>
          <a:p>
            <a:pPr algn="ctr">
              <a:lnSpc>
                <a:spcPct val="50000"/>
              </a:lnSpc>
              <a:spcBef>
                <a:spcPct val="0"/>
              </a:spcBef>
            </a:pPr>
            <a:r>
              <a:rPr lang="en-US" altLang="zh-CN" sz="2000" b="1" dirty="0">
                <a:latin typeface="Courier New" panose="02070309020205020404" pitchFamily="49" charset="0"/>
                <a:sym typeface="Symbol" panose="05050102010706020507" pitchFamily="18" charset="2"/>
              </a:rPr>
              <a:t></a:t>
            </a:r>
            <a:endParaRPr lang="en-US" altLang="zh-CN" sz="2000" b="1" dirty="0">
              <a:latin typeface="Courier New" panose="02070309020205020404" pitchFamily="49" charset="0"/>
            </a:endParaRPr>
          </a:p>
          <a:p>
            <a:pPr>
              <a:spcBef>
                <a:spcPct val="0"/>
              </a:spcBef>
            </a:pPr>
            <a:r>
              <a:rPr lang="en-US" altLang="zh-CN" sz="2000" b="1" i="1" dirty="0">
                <a:solidFill>
                  <a:srgbClr val="0000FF"/>
                </a:solidFill>
                <a:latin typeface="Courier New" panose="02070309020205020404" pitchFamily="49" charset="0"/>
              </a:rPr>
              <a:t>Restore registers</a:t>
            </a:r>
            <a:endParaRPr lang="en-US" altLang="zh-CN" sz="2000" b="1" dirty="0">
              <a:solidFill>
                <a:srgbClr val="0000FF"/>
              </a:solidFill>
              <a:latin typeface="Courier New" panose="02070309020205020404" pitchFamily="49" charset="0"/>
            </a:endParaRPr>
          </a:p>
          <a:p>
            <a:pPr>
              <a:spcBef>
                <a:spcPct val="0"/>
              </a:spcBef>
            </a:pPr>
            <a:r>
              <a:rPr lang="en-US" altLang="zh-CN" sz="2000" b="1" i="1" dirty="0">
                <a:solidFill>
                  <a:srgbClr val="0000FF"/>
                </a:solidFill>
                <a:latin typeface="Courier New" panose="02070309020205020404" pitchFamily="49" charset="0"/>
              </a:rPr>
              <a:t>Clear current </a:t>
            </a:r>
            <a:r>
              <a:rPr lang="en-US" altLang="zh-CN" sz="2000" b="1" i="1" dirty="0" err="1">
                <a:solidFill>
                  <a:srgbClr val="0000FF"/>
                </a:solidFill>
                <a:latin typeface="Courier New" panose="02070309020205020404" pitchFamily="49" charset="0"/>
              </a:rPr>
              <a:t>Int</a:t>
            </a:r>
            <a:endParaRPr lang="en-US" altLang="zh-CN" sz="2000" b="1" i="1" dirty="0">
              <a:solidFill>
                <a:srgbClr val="0000FF"/>
              </a:solidFill>
              <a:latin typeface="Courier New" panose="02070309020205020404" pitchFamily="49" charset="0"/>
            </a:endParaRPr>
          </a:p>
          <a:p>
            <a:pPr>
              <a:spcBef>
                <a:spcPct val="0"/>
              </a:spcBef>
            </a:pPr>
            <a:r>
              <a:rPr lang="en-US" altLang="zh-CN" sz="2000" b="1" i="1" dirty="0">
                <a:solidFill>
                  <a:srgbClr val="0000FF"/>
                </a:solidFill>
                <a:latin typeface="Courier New" panose="02070309020205020404" pitchFamily="49" charset="0"/>
              </a:rPr>
              <a:t>Disable All </a:t>
            </a:r>
            <a:r>
              <a:rPr lang="en-US" altLang="zh-CN" sz="2000" b="1" i="1" dirty="0" err="1">
                <a:solidFill>
                  <a:srgbClr val="0000FF"/>
                </a:solidFill>
                <a:latin typeface="Courier New" panose="02070309020205020404" pitchFamily="49" charset="0"/>
              </a:rPr>
              <a:t>Ints</a:t>
            </a:r>
            <a:endParaRPr lang="en-US" altLang="zh-CN" sz="2000" b="1" i="1" dirty="0">
              <a:solidFill>
                <a:srgbClr val="0000FF"/>
              </a:solidFill>
              <a:latin typeface="Courier New" panose="02070309020205020404" pitchFamily="49" charset="0"/>
            </a:endParaRPr>
          </a:p>
          <a:p>
            <a:pPr>
              <a:spcBef>
                <a:spcPct val="0"/>
              </a:spcBef>
            </a:pPr>
            <a:r>
              <a:rPr lang="en-US" altLang="zh-CN" sz="2000" b="1" i="1" dirty="0">
                <a:solidFill>
                  <a:srgbClr val="0000FF"/>
                </a:solidFill>
                <a:latin typeface="Courier New" panose="02070309020205020404" pitchFamily="49" charset="0"/>
              </a:rPr>
              <a:t>Restore priority</a:t>
            </a:r>
            <a:endParaRPr lang="en-US" altLang="zh-CN" sz="2000" b="1" dirty="0">
              <a:solidFill>
                <a:srgbClr val="0000FF"/>
              </a:solidFill>
              <a:latin typeface="Courier New" panose="02070309020205020404" pitchFamily="49" charset="0"/>
            </a:endParaRPr>
          </a:p>
          <a:p>
            <a:pPr>
              <a:spcBef>
                <a:spcPct val="0"/>
              </a:spcBef>
            </a:pPr>
            <a:r>
              <a:rPr lang="en-US" altLang="zh-CN" sz="2000" b="1" dirty="0">
                <a:latin typeface="Courier New" panose="02070309020205020404" pitchFamily="49" charset="0"/>
              </a:rPr>
              <a:t>RTE</a:t>
            </a:r>
          </a:p>
        </p:txBody>
      </p:sp>
      <p:sp>
        <p:nvSpPr>
          <p:cNvPr id="708613" name="AutoShape 5"/>
          <p:cNvSpPr>
            <a:spLocks noChangeArrowheads="1"/>
          </p:cNvSpPr>
          <p:nvPr/>
        </p:nvSpPr>
        <p:spPr bwMode="auto">
          <a:xfrm>
            <a:off x="2133601" y="3048000"/>
            <a:ext cx="714375" cy="762000"/>
          </a:xfrm>
          <a:prstGeom prst="rightArrow">
            <a:avLst>
              <a:gd name="adj1" fmla="val 37500"/>
              <a:gd name="adj2" fmla="val 59333"/>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614" name="Text Box 6"/>
          <p:cNvSpPr txBox="1">
            <a:spLocks noChangeArrowheads="1"/>
          </p:cNvSpPr>
          <p:nvPr/>
        </p:nvSpPr>
        <p:spPr bwMode="auto">
          <a:xfrm rot="16200000">
            <a:off x="780257" y="3207545"/>
            <a:ext cx="226377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dirty="0">
                <a:solidFill>
                  <a:srgbClr val="FF0000"/>
                </a:solidFill>
                <a:latin typeface="Comic Sans MS" panose="030F0702030302020204" pitchFamily="66" charset="0"/>
              </a:rPr>
              <a:t>External Interrupt</a:t>
            </a:r>
          </a:p>
        </p:txBody>
      </p:sp>
      <p:grpSp>
        <p:nvGrpSpPr>
          <p:cNvPr id="708615" name="Group 7"/>
          <p:cNvGrpSpPr>
            <a:grpSpLocks/>
          </p:cNvGrpSpPr>
          <p:nvPr/>
        </p:nvGrpSpPr>
        <p:grpSpPr bwMode="auto">
          <a:xfrm>
            <a:off x="4660900" y="1828800"/>
            <a:ext cx="2286000" cy="3079750"/>
            <a:chOff x="1976" y="1152"/>
            <a:chExt cx="1440" cy="1940"/>
          </a:xfrm>
        </p:grpSpPr>
        <p:grpSp>
          <p:nvGrpSpPr>
            <p:cNvPr id="708616" name="Group 8"/>
            <p:cNvGrpSpPr>
              <a:grpSpLocks/>
            </p:cNvGrpSpPr>
            <p:nvPr/>
          </p:nvGrpSpPr>
          <p:grpSpPr bwMode="auto">
            <a:xfrm>
              <a:off x="2005" y="1152"/>
              <a:ext cx="1398" cy="577"/>
              <a:chOff x="2005" y="1152"/>
              <a:chExt cx="1398" cy="577"/>
            </a:xfrm>
          </p:grpSpPr>
          <p:sp>
            <p:nvSpPr>
              <p:cNvPr id="708617" name="Line 9"/>
              <p:cNvSpPr>
                <a:spLocks noChangeShapeType="1"/>
              </p:cNvSpPr>
              <p:nvPr/>
            </p:nvSpPr>
            <p:spPr bwMode="auto">
              <a:xfrm rot="-2286349">
                <a:off x="2005" y="1513"/>
                <a:ext cx="1398" cy="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708618" name="Text Box 10"/>
              <p:cNvSpPr txBox="1">
                <a:spLocks noChangeArrowheads="1"/>
              </p:cNvSpPr>
              <p:nvPr/>
            </p:nvSpPr>
            <p:spPr bwMode="auto">
              <a:xfrm rot="-2286349">
                <a:off x="2016" y="1152"/>
                <a:ext cx="1251" cy="5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a:solidFill>
                      <a:srgbClr val="FF0000"/>
                    </a:solidFill>
                    <a:latin typeface="Comic Sans MS" panose="030F0702030302020204" pitchFamily="66" charset="0"/>
                  </a:rPr>
                  <a:t>PC saved</a:t>
                </a:r>
              </a:p>
              <a:p>
                <a:pPr algn="ctr">
                  <a:spcBef>
                    <a:spcPct val="0"/>
                  </a:spcBef>
                </a:pPr>
                <a:r>
                  <a:rPr lang="en-US" altLang="zh-CN">
                    <a:solidFill>
                      <a:srgbClr val="FF0000"/>
                    </a:solidFill>
                    <a:latin typeface="Comic Sans MS" panose="030F0702030302020204" pitchFamily="66" charset="0"/>
                  </a:rPr>
                  <a:t>Disable All Ints</a:t>
                </a:r>
              </a:p>
              <a:p>
                <a:pPr algn="ctr">
                  <a:spcBef>
                    <a:spcPct val="0"/>
                  </a:spcBef>
                </a:pPr>
                <a:r>
                  <a:rPr lang="en-US" altLang="zh-CN">
                    <a:solidFill>
                      <a:srgbClr val="FF0000"/>
                    </a:solidFill>
                    <a:latin typeface="Comic Sans MS" panose="030F0702030302020204" pitchFamily="66" charset="0"/>
                  </a:rPr>
                  <a:t>Supervisor Mode</a:t>
                </a:r>
              </a:p>
            </p:txBody>
          </p:sp>
        </p:grpSp>
        <p:sp>
          <p:nvSpPr>
            <p:cNvPr id="708619" name="Line 11"/>
            <p:cNvSpPr>
              <a:spLocks noChangeShapeType="1"/>
            </p:cNvSpPr>
            <p:nvPr/>
          </p:nvSpPr>
          <p:spPr bwMode="auto">
            <a:xfrm rot="2461539" flipH="1">
              <a:off x="1976" y="2898"/>
              <a:ext cx="144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708620" name="Text Box 12"/>
            <p:cNvSpPr txBox="1">
              <a:spLocks noChangeArrowheads="1"/>
            </p:cNvSpPr>
            <p:nvPr/>
          </p:nvSpPr>
          <p:spPr bwMode="auto">
            <a:xfrm rot="2461539">
              <a:off x="2256" y="2688"/>
              <a:ext cx="852"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a:solidFill>
                    <a:srgbClr val="FF0000"/>
                  </a:solidFill>
                  <a:latin typeface="Comic Sans MS" panose="030F0702030302020204" pitchFamily="66" charset="0"/>
                </a:rPr>
                <a:t>Restore PC</a:t>
              </a:r>
            </a:p>
            <a:p>
              <a:pPr algn="ctr">
                <a:spcBef>
                  <a:spcPct val="0"/>
                </a:spcBef>
              </a:pPr>
              <a:r>
                <a:rPr lang="en-US" altLang="zh-CN">
                  <a:solidFill>
                    <a:srgbClr val="FF0000"/>
                  </a:solidFill>
                  <a:latin typeface="Comic Sans MS" panose="030F0702030302020204" pitchFamily="66" charset="0"/>
                </a:rPr>
                <a:t>User Mode</a:t>
              </a:r>
            </a:p>
          </p:txBody>
        </p:sp>
      </p:grpSp>
      <p:sp>
        <p:nvSpPr>
          <p:cNvPr id="708621" name="AutoShape 13"/>
          <p:cNvSpPr>
            <a:spLocks/>
          </p:cNvSpPr>
          <p:nvPr/>
        </p:nvSpPr>
        <p:spPr bwMode="auto">
          <a:xfrm>
            <a:off x="9448800" y="1524000"/>
            <a:ext cx="457200" cy="3962400"/>
          </a:xfrm>
          <a:prstGeom prst="rightBrace">
            <a:avLst>
              <a:gd name="adj1" fmla="val 72222"/>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622" name="Text Box 14"/>
          <p:cNvSpPr txBox="1">
            <a:spLocks noChangeArrowheads="1"/>
          </p:cNvSpPr>
          <p:nvPr/>
        </p:nvSpPr>
        <p:spPr bwMode="auto">
          <a:xfrm rot="16200000">
            <a:off x="8896351" y="3414713"/>
            <a:ext cx="2386012"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dirty="0">
                <a:solidFill>
                  <a:srgbClr val="FF0000"/>
                </a:solidFill>
                <a:latin typeface="Comic Sans MS" panose="030F0702030302020204" pitchFamily="66" charset="0"/>
              </a:rPr>
              <a:t>“Interrupt Handler”</a:t>
            </a:r>
          </a:p>
        </p:txBody>
      </p:sp>
    </p:spTree>
    <p:extLst>
      <p:ext uri="{BB962C8B-B14F-4D97-AF65-F5344CB8AC3E}">
        <p14:creationId xmlns:p14="http://schemas.microsoft.com/office/powerpoint/2010/main" val="130351233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4" name="Text Box 2"/>
          <p:cNvSpPr txBox="1">
            <a:spLocks noChangeArrowheads="1"/>
          </p:cNvSpPr>
          <p:nvPr/>
        </p:nvSpPr>
        <p:spPr bwMode="auto">
          <a:xfrm>
            <a:off x="3810000" y="1620093"/>
            <a:ext cx="3352800" cy="51212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0"/>
              </a:spcBef>
            </a:pPr>
            <a:r>
              <a:rPr lang="en-US" altLang="zh-CN" sz="2000" b="1" i="1" dirty="0">
                <a:solidFill>
                  <a:srgbClr val="FF0000"/>
                </a:solidFill>
                <a:latin typeface="Courier New" panose="02070309020205020404" pitchFamily="49" charset="0"/>
                <a:sym typeface="Symbol" panose="05050102010706020507" pitchFamily="18" charset="2"/>
              </a:rPr>
              <a:t>Disable Network </a:t>
            </a:r>
            <a:r>
              <a:rPr lang="en-US" altLang="zh-CN" sz="2000" b="1" i="1" dirty="0" err="1">
                <a:solidFill>
                  <a:srgbClr val="FF0000"/>
                </a:solidFill>
                <a:latin typeface="Courier New" panose="02070309020205020404" pitchFamily="49" charset="0"/>
                <a:sym typeface="Symbol" panose="05050102010706020507" pitchFamily="18" charset="2"/>
              </a:rPr>
              <a:t>Intr</a:t>
            </a:r>
            <a:endParaRPr lang="en-US" altLang="zh-CN" sz="2000" b="1" dirty="0">
              <a:solidFill>
                <a:srgbClr val="FF0000"/>
              </a:solidFill>
              <a:latin typeface="Courier New" panose="02070309020205020404" pitchFamily="49" charset="0"/>
              <a:sym typeface="Symbol" panose="05050102010706020507" pitchFamily="18" charset="2"/>
            </a:endParaRPr>
          </a:p>
          <a:p>
            <a:pPr>
              <a:spcBef>
                <a:spcPct val="0"/>
              </a:spcBef>
            </a:pPr>
            <a:r>
              <a:rPr lang="en-US" altLang="zh-CN" sz="2000" b="1" dirty="0">
                <a:latin typeface="Courier New" panose="02070309020205020404" pitchFamily="49" charset="0"/>
                <a:sym typeface="Symbol" panose="05050102010706020507" pitchFamily="18" charset="2"/>
              </a:rPr>
              <a:t>	</a:t>
            </a:r>
          </a:p>
          <a:p>
            <a:pPr algn="ctr">
              <a:lnSpc>
                <a:spcPct val="50000"/>
              </a:lnSpc>
              <a:spcBef>
                <a:spcPct val="0"/>
              </a:spcBef>
            </a:pPr>
            <a:endParaRPr lang="en-US" altLang="zh-CN" sz="2000" b="1" dirty="0">
              <a:latin typeface="Courier New" panose="02070309020205020404" pitchFamily="49" charset="0"/>
            </a:endParaRPr>
          </a:p>
          <a:p>
            <a:pPr>
              <a:spcBef>
                <a:spcPct val="0"/>
              </a:spcBef>
            </a:pPr>
            <a:r>
              <a:rPr lang="en-US" altLang="zh-CN" sz="2000" b="1" dirty="0" err="1">
                <a:latin typeface="Courier New" panose="02070309020205020404" pitchFamily="49" charset="0"/>
              </a:rPr>
              <a:t>subi</a:t>
            </a:r>
            <a:r>
              <a:rPr lang="en-US" altLang="zh-CN" sz="2000" b="1" dirty="0">
                <a:latin typeface="Courier New" panose="02070309020205020404" pitchFamily="49" charset="0"/>
              </a:rPr>
              <a:t> 	r4,r1,#4</a:t>
            </a:r>
          </a:p>
          <a:p>
            <a:pPr>
              <a:spcBef>
                <a:spcPct val="0"/>
              </a:spcBef>
            </a:pPr>
            <a:r>
              <a:rPr lang="en-US" altLang="zh-CN" sz="2000" b="1" dirty="0" err="1">
                <a:latin typeface="Courier New" panose="02070309020205020404" pitchFamily="49" charset="0"/>
              </a:rPr>
              <a:t>slli</a:t>
            </a:r>
            <a:r>
              <a:rPr lang="en-US" altLang="zh-CN" sz="2000" b="1" dirty="0">
                <a:latin typeface="Courier New" panose="02070309020205020404" pitchFamily="49" charset="0"/>
              </a:rPr>
              <a:t> 	r4,r4,#2</a:t>
            </a:r>
          </a:p>
          <a:p>
            <a:pPr>
              <a:spcBef>
                <a:spcPct val="0"/>
              </a:spcBef>
            </a:pPr>
            <a:r>
              <a:rPr lang="en-US" altLang="zh-CN" sz="2000" b="1" dirty="0" err="1">
                <a:latin typeface="Courier New" panose="02070309020205020404" pitchFamily="49" charset="0"/>
              </a:rPr>
              <a:t>lw</a:t>
            </a:r>
            <a:r>
              <a:rPr lang="en-US" altLang="zh-CN" sz="2000" b="1" dirty="0">
                <a:latin typeface="Courier New" panose="02070309020205020404" pitchFamily="49" charset="0"/>
              </a:rPr>
              <a:t>	r2,0(r4)</a:t>
            </a:r>
          </a:p>
          <a:p>
            <a:pPr>
              <a:spcBef>
                <a:spcPct val="0"/>
              </a:spcBef>
            </a:pPr>
            <a:r>
              <a:rPr lang="en-US" altLang="zh-CN" sz="2000" b="1" dirty="0" err="1">
                <a:latin typeface="Courier New" panose="02070309020205020404" pitchFamily="49" charset="0"/>
              </a:rPr>
              <a:t>lw</a:t>
            </a:r>
            <a:r>
              <a:rPr lang="en-US" altLang="zh-CN" sz="2000" b="1" dirty="0">
                <a:latin typeface="Courier New" panose="02070309020205020404" pitchFamily="49" charset="0"/>
              </a:rPr>
              <a:t>	r3,4(r4)</a:t>
            </a:r>
          </a:p>
          <a:p>
            <a:pPr>
              <a:spcBef>
                <a:spcPct val="0"/>
              </a:spcBef>
            </a:pPr>
            <a:r>
              <a:rPr lang="en-US" altLang="zh-CN" sz="2000" b="1" dirty="0">
                <a:latin typeface="Courier New" panose="02070309020205020404" pitchFamily="49" charset="0"/>
              </a:rPr>
              <a:t>add	r2,r2,r3</a:t>
            </a:r>
          </a:p>
          <a:p>
            <a:pPr>
              <a:spcBef>
                <a:spcPct val="0"/>
              </a:spcBef>
            </a:pPr>
            <a:r>
              <a:rPr lang="en-US" altLang="zh-CN" sz="2000" b="1" dirty="0" err="1">
                <a:latin typeface="Courier New" panose="02070309020205020404" pitchFamily="49" charset="0"/>
              </a:rPr>
              <a:t>sw</a:t>
            </a:r>
            <a:r>
              <a:rPr lang="en-US" altLang="zh-CN" sz="2000" b="1" dirty="0">
                <a:latin typeface="Courier New" panose="02070309020205020404" pitchFamily="49" charset="0"/>
              </a:rPr>
              <a:t>	8(r4),r2</a:t>
            </a:r>
          </a:p>
          <a:p>
            <a:pPr>
              <a:spcBef>
                <a:spcPct val="0"/>
              </a:spcBef>
            </a:pPr>
            <a:r>
              <a:rPr lang="en-US" altLang="zh-CN" sz="2000" b="1" dirty="0" err="1">
                <a:solidFill>
                  <a:srgbClr val="FF0000"/>
                </a:solidFill>
                <a:latin typeface="Courier New" panose="02070309020205020404" pitchFamily="49" charset="0"/>
              </a:rPr>
              <a:t>lw</a:t>
            </a:r>
            <a:r>
              <a:rPr lang="en-US" altLang="zh-CN" sz="2000" b="1" dirty="0">
                <a:solidFill>
                  <a:srgbClr val="FF0000"/>
                </a:solidFill>
                <a:latin typeface="Courier New" panose="02070309020205020404" pitchFamily="49" charset="0"/>
              </a:rPr>
              <a:t>	r1,12(r0)</a:t>
            </a:r>
          </a:p>
          <a:p>
            <a:pPr>
              <a:spcBef>
                <a:spcPct val="0"/>
              </a:spcBef>
            </a:pPr>
            <a:r>
              <a:rPr lang="en-US" altLang="zh-CN" sz="2000" b="1" dirty="0" err="1">
                <a:solidFill>
                  <a:srgbClr val="FF0000"/>
                </a:solidFill>
                <a:latin typeface="Courier New" panose="02070309020205020404" pitchFamily="49" charset="0"/>
              </a:rPr>
              <a:t>beq</a:t>
            </a:r>
            <a:r>
              <a:rPr lang="en-US" altLang="zh-CN" sz="2000" b="1" dirty="0">
                <a:solidFill>
                  <a:srgbClr val="FF0000"/>
                </a:solidFill>
                <a:latin typeface="Courier New" panose="02070309020205020404" pitchFamily="49" charset="0"/>
              </a:rPr>
              <a:t>	r1,no_mess</a:t>
            </a:r>
          </a:p>
          <a:p>
            <a:pPr>
              <a:spcBef>
                <a:spcPct val="0"/>
              </a:spcBef>
            </a:pPr>
            <a:r>
              <a:rPr lang="en-US" altLang="zh-CN" sz="2000" b="1" dirty="0" err="1">
                <a:latin typeface="Courier New" panose="02070309020205020404" pitchFamily="49" charset="0"/>
              </a:rPr>
              <a:t>lw</a:t>
            </a:r>
            <a:r>
              <a:rPr lang="en-US" altLang="zh-CN" sz="2000" b="1" dirty="0">
                <a:latin typeface="Courier New" panose="02070309020205020404" pitchFamily="49" charset="0"/>
              </a:rPr>
              <a:t>	r1,20(r0)</a:t>
            </a:r>
          </a:p>
          <a:p>
            <a:pPr>
              <a:spcBef>
                <a:spcPct val="0"/>
              </a:spcBef>
            </a:pPr>
            <a:r>
              <a:rPr lang="en-US" altLang="zh-CN" sz="2000" b="1" dirty="0" err="1">
                <a:latin typeface="Courier New" panose="02070309020205020404" pitchFamily="49" charset="0"/>
              </a:rPr>
              <a:t>lw</a:t>
            </a:r>
            <a:r>
              <a:rPr lang="en-US" altLang="zh-CN" sz="2000" b="1" dirty="0">
                <a:latin typeface="Courier New" panose="02070309020205020404" pitchFamily="49" charset="0"/>
              </a:rPr>
              <a:t>	r2,0(r1)</a:t>
            </a:r>
          </a:p>
          <a:p>
            <a:pPr>
              <a:spcBef>
                <a:spcPct val="0"/>
              </a:spcBef>
            </a:pPr>
            <a:r>
              <a:rPr lang="en-US" altLang="zh-CN" sz="2000" b="1" dirty="0" err="1">
                <a:latin typeface="Courier New" panose="02070309020205020404" pitchFamily="49" charset="0"/>
              </a:rPr>
              <a:t>addi</a:t>
            </a:r>
            <a:r>
              <a:rPr lang="en-US" altLang="zh-CN" sz="2000" b="1" dirty="0">
                <a:latin typeface="Courier New" panose="02070309020205020404" pitchFamily="49" charset="0"/>
              </a:rPr>
              <a:t>  r3,r0,#5</a:t>
            </a:r>
          </a:p>
          <a:p>
            <a:pPr>
              <a:spcBef>
                <a:spcPct val="0"/>
              </a:spcBef>
            </a:pPr>
            <a:r>
              <a:rPr lang="en-US" altLang="zh-CN" sz="2000" b="1" dirty="0" err="1">
                <a:latin typeface="Courier New" panose="02070309020205020404" pitchFamily="49" charset="0"/>
              </a:rPr>
              <a:t>sw</a:t>
            </a:r>
            <a:r>
              <a:rPr lang="en-US" altLang="zh-CN" sz="2000" b="1" dirty="0">
                <a:latin typeface="Courier New" panose="02070309020205020404" pitchFamily="49" charset="0"/>
              </a:rPr>
              <a:t>    0(r1),r3</a:t>
            </a:r>
          </a:p>
          <a:p>
            <a:pPr>
              <a:spcBef>
                <a:spcPct val="0"/>
              </a:spcBef>
            </a:pPr>
            <a:r>
              <a:rPr lang="en-US" altLang="zh-CN" sz="2000" b="1" i="1" dirty="0">
                <a:solidFill>
                  <a:srgbClr val="FF0000"/>
                </a:solidFill>
                <a:latin typeface="Courier New" panose="02070309020205020404" pitchFamily="49" charset="0"/>
              </a:rPr>
              <a:t>Clear Network </a:t>
            </a:r>
            <a:r>
              <a:rPr lang="en-US" altLang="zh-CN" sz="2000" b="1" i="1" dirty="0" err="1">
                <a:solidFill>
                  <a:srgbClr val="FF0000"/>
                </a:solidFill>
                <a:latin typeface="Courier New" panose="02070309020205020404" pitchFamily="49" charset="0"/>
              </a:rPr>
              <a:t>Intr</a:t>
            </a:r>
            <a:endParaRPr lang="en-US" altLang="zh-CN" sz="2000" b="1" i="1" dirty="0">
              <a:solidFill>
                <a:srgbClr val="FF0000"/>
              </a:solidFill>
              <a:latin typeface="Courier New" panose="02070309020205020404" pitchFamily="49" charset="0"/>
            </a:endParaRPr>
          </a:p>
          <a:p>
            <a:pPr>
              <a:spcBef>
                <a:spcPct val="0"/>
              </a:spcBef>
            </a:pPr>
            <a:r>
              <a:rPr lang="en-US" altLang="zh-CN" sz="2000" b="1" dirty="0">
                <a:latin typeface="Courier New" panose="02070309020205020404" pitchFamily="49" charset="0"/>
                <a:sym typeface="Symbol" panose="05050102010706020507" pitchFamily="18" charset="2"/>
              </a:rPr>
              <a:t>	</a:t>
            </a:r>
          </a:p>
        </p:txBody>
      </p:sp>
      <p:sp>
        <p:nvSpPr>
          <p:cNvPr id="709635" name="Rectangle 3"/>
          <p:cNvSpPr>
            <a:spLocks noGrp="1" noChangeArrowheads="1"/>
          </p:cNvSpPr>
          <p:nvPr>
            <p:ph type="title"/>
          </p:nvPr>
        </p:nvSpPr>
        <p:spPr>
          <a:xfrm>
            <a:off x="2514600" y="197768"/>
            <a:ext cx="7162800" cy="1143000"/>
          </a:xfrm>
        </p:spPr>
        <p:txBody>
          <a:bodyPr/>
          <a:lstStyle/>
          <a:p>
            <a:r>
              <a:rPr lang="en-US" altLang="zh-CN" dirty="0">
                <a:ea typeface="宋体" panose="02010600030101010101" pitchFamily="2" charset="-122"/>
              </a:rPr>
              <a:t>Alternative: Polling</a:t>
            </a:r>
            <a:br>
              <a:rPr lang="en-US" altLang="zh-CN" dirty="0">
                <a:ea typeface="宋体" panose="02010600030101010101" pitchFamily="2" charset="-122"/>
              </a:rPr>
            </a:br>
            <a:r>
              <a:rPr lang="en-US" altLang="zh-CN" sz="2000" dirty="0">
                <a:solidFill>
                  <a:schemeClr val="tx1"/>
                </a:solidFill>
                <a:ea typeface="宋体" panose="02010600030101010101" pitchFamily="2" charset="-122"/>
              </a:rPr>
              <a:t>(again, for arrival of network message)</a:t>
            </a:r>
            <a:endParaRPr lang="en-US" altLang="zh-CN" dirty="0">
              <a:ea typeface="宋体" panose="02010600030101010101" pitchFamily="2" charset="-122"/>
            </a:endParaRPr>
          </a:p>
        </p:txBody>
      </p:sp>
      <p:grpSp>
        <p:nvGrpSpPr>
          <p:cNvPr id="709636" name="Group 4"/>
          <p:cNvGrpSpPr>
            <a:grpSpLocks/>
          </p:cNvGrpSpPr>
          <p:nvPr/>
        </p:nvGrpSpPr>
        <p:grpSpPr bwMode="auto">
          <a:xfrm>
            <a:off x="2516188" y="1694706"/>
            <a:ext cx="1117600" cy="2263775"/>
            <a:chOff x="130" y="1422"/>
            <a:chExt cx="704" cy="1426"/>
          </a:xfrm>
        </p:grpSpPr>
        <p:sp>
          <p:nvSpPr>
            <p:cNvPr id="709637" name="AutoShape 5"/>
            <p:cNvSpPr>
              <a:spLocks noChangeArrowheads="1"/>
            </p:cNvSpPr>
            <p:nvPr/>
          </p:nvSpPr>
          <p:spPr bwMode="auto">
            <a:xfrm>
              <a:off x="384" y="1920"/>
              <a:ext cx="450" cy="480"/>
            </a:xfrm>
            <a:prstGeom prst="rightArrow">
              <a:avLst>
                <a:gd name="adj1" fmla="val 37500"/>
                <a:gd name="adj2" fmla="val 59333"/>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709638" name="Text Box 6"/>
            <p:cNvSpPr txBox="1">
              <a:spLocks noChangeArrowheads="1"/>
            </p:cNvSpPr>
            <p:nvPr/>
          </p:nvSpPr>
          <p:spPr bwMode="auto">
            <a:xfrm rot="-5400000">
              <a:off x="-467" y="2019"/>
              <a:ext cx="1426"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dirty="0">
                  <a:solidFill>
                    <a:srgbClr val="FF0000"/>
                  </a:solidFill>
                  <a:latin typeface="Comic Sans MS" panose="030F0702030302020204" pitchFamily="66" charset="0"/>
                </a:rPr>
                <a:t>External Interrupt</a:t>
              </a:r>
            </a:p>
          </p:txBody>
        </p:sp>
      </p:grpSp>
      <p:sp>
        <p:nvSpPr>
          <p:cNvPr id="709639" name="AutoShape 7"/>
          <p:cNvSpPr>
            <a:spLocks/>
          </p:cNvSpPr>
          <p:nvPr/>
        </p:nvSpPr>
        <p:spPr bwMode="auto">
          <a:xfrm>
            <a:off x="6705600" y="4895105"/>
            <a:ext cx="457200" cy="1524000"/>
          </a:xfrm>
          <a:prstGeom prst="rightBrace">
            <a:avLst>
              <a:gd name="adj1" fmla="val 27778"/>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9640" name="Text Box 8"/>
          <p:cNvSpPr txBox="1">
            <a:spLocks noChangeArrowheads="1"/>
          </p:cNvSpPr>
          <p:nvPr/>
        </p:nvSpPr>
        <p:spPr bwMode="auto">
          <a:xfrm>
            <a:off x="7772400" y="5430093"/>
            <a:ext cx="123825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a:latin typeface="Comic Sans MS" panose="030F0702030302020204" pitchFamily="66" charset="0"/>
              </a:rPr>
              <a:t>“Handler”</a:t>
            </a:r>
            <a:endParaRPr lang="en-US" altLang="zh-CN">
              <a:solidFill>
                <a:schemeClr val="accent1"/>
              </a:solidFill>
              <a:latin typeface="Comic Sans MS" panose="030F0702030302020204" pitchFamily="66" charset="0"/>
            </a:endParaRPr>
          </a:p>
        </p:txBody>
      </p:sp>
      <p:sp>
        <p:nvSpPr>
          <p:cNvPr id="709641" name="Text Box 9"/>
          <p:cNvSpPr txBox="1">
            <a:spLocks noChangeArrowheads="1"/>
          </p:cNvSpPr>
          <p:nvPr/>
        </p:nvSpPr>
        <p:spPr bwMode="auto">
          <a:xfrm>
            <a:off x="2438400" y="6344493"/>
            <a:ext cx="14033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2000">
                <a:latin typeface="Courier New" panose="02070309020205020404" pitchFamily="49" charset="0"/>
              </a:rPr>
              <a:t>no_mess:</a:t>
            </a:r>
          </a:p>
        </p:txBody>
      </p:sp>
      <p:sp>
        <p:nvSpPr>
          <p:cNvPr id="709642" name="AutoShape 10"/>
          <p:cNvSpPr>
            <a:spLocks/>
          </p:cNvSpPr>
          <p:nvPr/>
        </p:nvSpPr>
        <p:spPr bwMode="auto">
          <a:xfrm>
            <a:off x="6705600" y="4285505"/>
            <a:ext cx="457200" cy="457200"/>
          </a:xfrm>
          <a:prstGeom prst="rightBrace">
            <a:avLst>
              <a:gd name="adj1" fmla="val 8333"/>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9643" name="Text Box 11"/>
          <p:cNvSpPr txBox="1">
            <a:spLocks noChangeArrowheads="1"/>
          </p:cNvSpPr>
          <p:nvPr/>
        </p:nvSpPr>
        <p:spPr bwMode="auto">
          <a:xfrm>
            <a:off x="7086600" y="4210892"/>
            <a:ext cx="2732088"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dirty="0">
                <a:solidFill>
                  <a:srgbClr val="FF0000"/>
                </a:solidFill>
                <a:latin typeface="Comic Sans MS" panose="030F0702030302020204" pitchFamily="66" charset="0"/>
              </a:rPr>
              <a:t>Polling Point</a:t>
            </a:r>
          </a:p>
          <a:p>
            <a:pPr algn="ctr">
              <a:spcBef>
                <a:spcPct val="0"/>
              </a:spcBef>
            </a:pPr>
            <a:r>
              <a:rPr lang="en-US" altLang="zh-CN" dirty="0">
                <a:solidFill>
                  <a:srgbClr val="FF0000"/>
                </a:solidFill>
                <a:latin typeface="Comic Sans MS" panose="030F0702030302020204" pitchFamily="66" charset="0"/>
              </a:rPr>
              <a:t>(check device register)</a:t>
            </a:r>
          </a:p>
        </p:txBody>
      </p:sp>
    </p:spTree>
    <p:extLst>
      <p:ext uri="{BB962C8B-B14F-4D97-AF65-F5344CB8AC3E}">
        <p14:creationId xmlns:p14="http://schemas.microsoft.com/office/powerpoint/2010/main" val="418670293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0658" name="Rectangle 2"/>
          <p:cNvSpPr>
            <a:spLocks noGrp="1" noChangeArrowheads="1"/>
          </p:cNvSpPr>
          <p:nvPr>
            <p:ph type="title"/>
          </p:nvPr>
        </p:nvSpPr>
        <p:spPr>
          <a:xfrm>
            <a:off x="695400" y="228600"/>
            <a:ext cx="10153128" cy="1143000"/>
          </a:xfrm>
        </p:spPr>
        <p:txBody>
          <a:bodyPr/>
          <a:lstStyle/>
          <a:p>
            <a:r>
              <a:rPr lang="en-US" altLang="zh-CN" dirty="0">
                <a:ea typeface="宋体" panose="02010600030101010101" pitchFamily="2" charset="-122"/>
              </a:rPr>
              <a:t>Polling is faster/slower than </a:t>
            </a:r>
            <a:r>
              <a:rPr lang="en-US" altLang="zh-CN" dirty="0" smtClean="0">
                <a:ea typeface="宋体" panose="02010600030101010101" pitchFamily="2" charset="-122"/>
              </a:rPr>
              <a:t>Interrupts</a:t>
            </a:r>
            <a:endParaRPr lang="en-US" altLang="zh-CN" dirty="0">
              <a:ea typeface="宋体" panose="02010600030101010101" pitchFamily="2" charset="-122"/>
            </a:endParaRPr>
          </a:p>
        </p:txBody>
      </p:sp>
      <p:sp>
        <p:nvSpPr>
          <p:cNvPr id="710659" name="Rectangle 3"/>
          <p:cNvSpPr>
            <a:spLocks noGrp="1" noChangeArrowheads="1"/>
          </p:cNvSpPr>
          <p:nvPr>
            <p:ph type="body" idx="1"/>
          </p:nvPr>
        </p:nvSpPr>
        <p:spPr>
          <a:xfrm>
            <a:off x="587388" y="1484784"/>
            <a:ext cx="11017224" cy="5257800"/>
          </a:xfrm>
        </p:spPr>
        <p:txBody>
          <a:bodyPr/>
          <a:lstStyle/>
          <a:p>
            <a:r>
              <a:rPr lang="en-US" altLang="zh-CN" dirty="0">
                <a:ea typeface="宋体" panose="02010600030101010101" pitchFamily="2" charset="-122"/>
              </a:rPr>
              <a:t>Polling is faster than interrupts because</a:t>
            </a:r>
          </a:p>
          <a:p>
            <a:pPr lvl="1"/>
            <a:r>
              <a:rPr lang="en-US" altLang="zh-CN" dirty="0">
                <a:ea typeface="宋体" panose="02010600030101010101" pitchFamily="2" charset="-122"/>
              </a:rPr>
              <a:t>Compiler knows which registers in use at polling point.  Hence, do not need to save and restore registers (or not as many).</a:t>
            </a:r>
          </a:p>
          <a:p>
            <a:pPr lvl="1"/>
            <a:r>
              <a:rPr lang="en-US" altLang="zh-CN" dirty="0">
                <a:ea typeface="宋体" panose="02010600030101010101" pitchFamily="2" charset="-122"/>
              </a:rPr>
              <a:t>Other interrupt overhead avoided (pipeline flush, trap priorities, </a:t>
            </a:r>
            <a:r>
              <a:rPr lang="en-US" altLang="zh-CN" dirty="0" err="1">
                <a:ea typeface="宋体" panose="02010600030101010101" pitchFamily="2" charset="-122"/>
              </a:rPr>
              <a:t>etc</a:t>
            </a:r>
            <a:r>
              <a:rPr lang="en-US" altLang="zh-CN" dirty="0">
                <a:ea typeface="宋体" panose="02010600030101010101" pitchFamily="2" charset="-122"/>
              </a:rPr>
              <a:t>).</a:t>
            </a:r>
          </a:p>
          <a:p>
            <a:r>
              <a:rPr lang="en-US" altLang="zh-CN" dirty="0">
                <a:ea typeface="宋体" panose="02010600030101010101" pitchFamily="2" charset="-122"/>
              </a:rPr>
              <a:t>Polling is slower than interrupts because</a:t>
            </a:r>
          </a:p>
          <a:p>
            <a:pPr lvl="1"/>
            <a:r>
              <a:rPr lang="en-US" altLang="zh-CN" dirty="0">
                <a:ea typeface="宋体" panose="02010600030101010101" pitchFamily="2" charset="-122"/>
              </a:rPr>
              <a:t>Overhead of polling instructions is incurred regardless of whether or not handler is run.  This could add to inner-loop delay.</a:t>
            </a:r>
          </a:p>
          <a:p>
            <a:pPr lvl="1"/>
            <a:r>
              <a:rPr lang="en-US" altLang="zh-CN" dirty="0">
                <a:ea typeface="宋体" panose="02010600030101010101" pitchFamily="2" charset="-122"/>
              </a:rPr>
              <a:t>Device may have to wait for service for a long time.</a:t>
            </a:r>
          </a:p>
          <a:p>
            <a:r>
              <a:rPr lang="en-US" altLang="zh-CN" dirty="0">
                <a:ea typeface="宋体" panose="02010600030101010101" pitchFamily="2" charset="-122"/>
              </a:rPr>
              <a:t>When to use one or the other</a:t>
            </a:r>
            <a:r>
              <a:rPr lang="en-US" altLang="zh-CN" dirty="0" smtClean="0">
                <a:ea typeface="宋体" panose="02010600030101010101" pitchFamily="2" charset="-122"/>
              </a:rPr>
              <a:t>? A multi-axis tradeoff:</a:t>
            </a:r>
            <a:endParaRPr lang="en-US" altLang="zh-CN" dirty="0">
              <a:ea typeface="宋体" panose="02010600030101010101" pitchFamily="2" charset="-122"/>
            </a:endParaRPr>
          </a:p>
          <a:p>
            <a:pPr lvl="1"/>
            <a:r>
              <a:rPr lang="en-US" altLang="zh-CN" dirty="0">
                <a:ea typeface="宋体" panose="02010600030101010101" pitchFamily="2" charset="-122"/>
              </a:rPr>
              <a:t>Frequent/regular events good for polling, </a:t>
            </a:r>
            <a:r>
              <a:rPr lang="en-US" altLang="zh-CN" i="1" dirty="0">
                <a:solidFill>
                  <a:srgbClr val="FF0000"/>
                </a:solidFill>
                <a:ea typeface="宋体" panose="02010600030101010101" pitchFamily="2" charset="-122"/>
              </a:rPr>
              <a:t>as long as device can be controlled at user level.</a:t>
            </a:r>
            <a:endParaRPr lang="en-US" altLang="zh-CN" dirty="0">
              <a:solidFill>
                <a:srgbClr val="FF0000"/>
              </a:solidFill>
              <a:ea typeface="宋体" panose="02010600030101010101" pitchFamily="2" charset="-122"/>
            </a:endParaRPr>
          </a:p>
          <a:p>
            <a:pPr lvl="1"/>
            <a:r>
              <a:rPr lang="en-US" altLang="zh-CN" dirty="0">
                <a:ea typeface="宋体" panose="02010600030101010101" pitchFamily="2" charset="-122"/>
              </a:rPr>
              <a:t>Interrupts good for infrequent/irregular events</a:t>
            </a:r>
          </a:p>
          <a:p>
            <a:pPr lvl="1"/>
            <a:r>
              <a:rPr lang="en-US" altLang="zh-CN" dirty="0">
                <a:ea typeface="宋体" panose="02010600030101010101" pitchFamily="2" charset="-122"/>
              </a:rPr>
              <a:t>Interrupts good for ensuring regular/predictable service of events. </a:t>
            </a:r>
          </a:p>
        </p:txBody>
      </p:sp>
    </p:spTree>
    <p:extLst>
      <p:ext uri="{BB962C8B-B14F-4D97-AF65-F5344CB8AC3E}">
        <p14:creationId xmlns:p14="http://schemas.microsoft.com/office/powerpoint/2010/main" val="36330198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0659">
                                            <p:txEl>
                                              <p:pRg st="0" end="0"/>
                                            </p:txEl>
                                          </p:spTgt>
                                        </p:tgtEl>
                                        <p:attrNameLst>
                                          <p:attrName>style.visibility</p:attrName>
                                        </p:attrNameLst>
                                      </p:cBhvr>
                                      <p:to>
                                        <p:strVal val="visible"/>
                                      </p:to>
                                    </p:set>
                                    <p:anim calcmode="lin" valueType="num">
                                      <p:cBhvr additive="base">
                                        <p:cTn id="7" dur="500" fill="hold"/>
                                        <p:tgtEl>
                                          <p:spTgt spid="71065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10659">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10659">
                                            <p:txEl>
                                              <p:pRg st="1" end="1"/>
                                            </p:txEl>
                                          </p:spTgt>
                                        </p:tgtEl>
                                        <p:attrNameLst>
                                          <p:attrName>style.visibility</p:attrName>
                                        </p:attrNameLst>
                                      </p:cBhvr>
                                      <p:to>
                                        <p:strVal val="visible"/>
                                      </p:to>
                                    </p:set>
                                    <p:anim calcmode="lin" valueType="num">
                                      <p:cBhvr additive="base">
                                        <p:cTn id="11" dur="500" fill="hold"/>
                                        <p:tgtEl>
                                          <p:spTgt spid="710659">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10659">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10659">
                                            <p:txEl>
                                              <p:pRg st="2" end="2"/>
                                            </p:txEl>
                                          </p:spTgt>
                                        </p:tgtEl>
                                        <p:attrNameLst>
                                          <p:attrName>style.visibility</p:attrName>
                                        </p:attrNameLst>
                                      </p:cBhvr>
                                      <p:to>
                                        <p:strVal val="visible"/>
                                      </p:to>
                                    </p:set>
                                    <p:anim calcmode="lin" valueType="num">
                                      <p:cBhvr additive="base">
                                        <p:cTn id="15" dur="500" fill="hold"/>
                                        <p:tgtEl>
                                          <p:spTgt spid="710659">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7106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710659">
                                            <p:txEl>
                                              <p:pRg st="3" end="3"/>
                                            </p:txEl>
                                          </p:spTgt>
                                        </p:tgtEl>
                                        <p:attrNameLst>
                                          <p:attrName>style.visibility</p:attrName>
                                        </p:attrNameLst>
                                      </p:cBhvr>
                                      <p:to>
                                        <p:strVal val="visible"/>
                                      </p:to>
                                    </p:set>
                                    <p:anim calcmode="lin" valueType="num">
                                      <p:cBhvr additive="base">
                                        <p:cTn id="21" dur="500" fill="hold"/>
                                        <p:tgtEl>
                                          <p:spTgt spid="710659">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710659">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710659">
                                            <p:txEl>
                                              <p:pRg st="4" end="4"/>
                                            </p:txEl>
                                          </p:spTgt>
                                        </p:tgtEl>
                                        <p:attrNameLst>
                                          <p:attrName>style.visibility</p:attrName>
                                        </p:attrNameLst>
                                      </p:cBhvr>
                                      <p:to>
                                        <p:strVal val="visible"/>
                                      </p:to>
                                    </p:set>
                                    <p:anim calcmode="lin" valueType="num">
                                      <p:cBhvr additive="base">
                                        <p:cTn id="25" dur="500" fill="hold"/>
                                        <p:tgtEl>
                                          <p:spTgt spid="710659">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10659">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710659">
                                            <p:txEl>
                                              <p:pRg st="5" end="5"/>
                                            </p:txEl>
                                          </p:spTgt>
                                        </p:tgtEl>
                                        <p:attrNameLst>
                                          <p:attrName>style.visibility</p:attrName>
                                        </p:attrNameLst>
                                      </p:cBhvr>
                                      <p:to>
                                        <p:strVal val="visible"/>
                                      </p:to>
                                    </p:set>
                                    <p:anim calcmode="lin" valueType="num">
                                      <p:cBhvr additive="base">
                                        <p:cTn id="29" dur="500" fill="hold"/>
                                        <p:tgtEl>
                                          <p:spTgt spid="710659">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71065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710659">
                                            <p:txEl>
                                              <p:pRg st="6" end="6"/>
                                            </p:txEl>
                                          </p:spTgt>
                                        </p:tgtEl>
                                        <p:attrNameLst>
                                          <p:attrName>style.visibility</p:attrName>
                                        </p:attrNameLst>
                                      </p:cBhvr>
                                      <p:to>
                                        <p:strVal val="visible"/>
                                      </p:to>
                                    </p:set>
                                    <p:anim calcmode="lin" valueType="num">
                                      <p:cBhvr additive="base">
                                        <p:cTn id="35" dur="500" fill="hold"/>
                                        <p:tgtEl>
                                          <p:spTgt spid="710659">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710659">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710659">
                                            <p:txEl>
                                              <p:pRg st="7" end="7"/>
                                            </p:txEl>
                                          </p:spTgt>
                                        </p:tgtEl>
                                        <p:attrNameLst>
                                          <p:attrName>style.visibility</p:attrName>
                                        </p:attrNameLst>
                                      </p:cBhvr>
                                      <p:to>
                                        <p:strVal val="visible"/>
                                      </p:to>
                                    </p:set>
                                    <p:anim calcmode="lin" valueType="num">
                                      <p:cBhvr additive="base">
                                        <p:cTn id="39" dur="500" fill="hold"/>
                                        <p:tgtEl>
                                          <p:spTgt spid="710659">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710659">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710659">
                                            <p:txEl>
                                              <p:pRg st="8" end="8"/>
                                            </p:txEl>
                                          </p:spTgt>
                                        </p:tgtEl>
                                        <p:attrNameLst>
                                          <p:attrName>style.visibility</p:attrName>
                                        </p:attrNameLst>
                                      </p:cBhvr>
                                      <p:to>
                                        <p:strVal val="visible"/>
                                      </p:to>
                                    </p:set>
                                    <p:anim calcmode="lin" valueType="num">
                                      <p:cBhvr additive="base">
                                        <p:cTn id="43" dur="500" fill="hold"/>
                                        <p:tgtEl>
                                          <p:spTgt spid="710659">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10659">
                                            <p:txEl>
                                              <p:pRg st="8" end="8"/>
                                            </p:txEl>
                                          </p:spTgt>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710659">
                                            <p:txEl>
                                              <p:pRg st="9" end="9"/>
                                            </p:txEl>
                                          </p:spTgt>
                                        </p:tgtEl>
                                        <p:attrNameLst>
                                          <p:attrName>style.visibility</p:attrName>
                                        </p:attrNameLst>
                                      </p:cBhvr>
                                      <p:to>
                                        <p:strVal val="visible"/>
                                      </p:to>
                                    </p:set>
                                    <p:anim calcmode="lin" valueType="num">
                                      <p:cBhvr additive="base">
                                        <p:cTn id="47" dur="500" fill="hold"/>
                                        <p:tgtEl>
                                          <p:spTgt spid="710659">
                                            <p:txEl>
                                              <p:pRg st="9" end="9"/>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710659">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0659"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1682" name="Rectangle 2"/>
          <p:cNvSpPr>
            <a:spLocks noGrp="1" noChangeArrowheads="1"/>
          </p:cNvSpPr>
          <p:nvPr>
            <p:ph type="title"/>
          </p:nvPr>
        </p:nvSpPr>
        <p:spPr/>
        <p:txBody>
          <a:bodyPr/>
          <a:lstStyle/>
          <a:p>
            <a:r>
              <a:rPr lang="en-US" altLang="zh-CN" smtClean="0"/>
              <a:t>Exception/Interrupt classifications</a:t>
            </a:r>
            <a:endParaRPr lang="en-US" altLang="zh-CN" dirty="0"/>
          </a:p>
        </p:txBody>
      </p:sp>
      <p:sp>
        <p:nvSpPr>
          <p:cNvPr id="711683" name="Rectangle 3"/>
          <p:cNvSpPr>
            <a:spLocks noGrp="1" noChangeArrowheads="1"/>
          </p:cNvSpPr>
          <p:nvPr>
            <p:ph type="body" idx="1"/>
          </p:nvPr>
        </p:nvSpPr>
        <p:spPr/>
        <p:txBody>
          <a:bodyPr/>
          <a:lstStyle/>
          <a:p>
            <a:r>
              <a:rPr lang="en-US" altLang="zh-CN" dirty="0" smtClean="0">
                <a:solidFill>
                  <a:srgbClr val="FF0000"/>
                </a:solidFill>
              </a:rPr>
              <a:t>Exceptions</a:t>
            </a:r>
            <a:r>
              <a:rPr lang="en-US" altLang="zh-CN" dirty="0" smtClean="0"/>
              <a:t>: relevant to the current process</a:t>
            </a:r>
          </a:p>
          <a:p>
            <a:pPr lvl="1"/>
            <a:r>
              <a:rPr lang="en-US" altLang="zh-CN" dirty="0" smtClean="0"/>
              <a:t>Faults, arithmetic traps, and synchronous traps</a:t>
            </a:r>
          </a:p>
          <a:p>
            <a:pPr lvl="1"/>
            <a:r>
              <a:rPr lang="en-US" altLang="zh-CN" dirty="0" smtClean="0"/>
              <a:t>Invoke software on behalf of the currently executing process</a:t>
            </a:r>
          </a:p>
          <a:p>
            <a:r>
              <a:rPr lang="en-US" altLang="zh-CN" dirty="0" smtClean="0">
                <a:solidFill>
                  <a:srgbClr val="FF0000"/>
                </a:solidFill>
              </a:rPr>
              <a:t>Interrupts</a:t>
            </a:r>
            <a:r>
              <a:rPr lang="en-US" altLang="zh-CN" dirty="0" smtClean="0"/>
              <a:t>: caused by asynchronous, outside events</a:t>
            </a:r>
          </a:p>
          <a:p>
            <a:pPr lvl="1"/>
            <a:r>
              <a:rPr lang="en-US" altLang="zh-CN" dirty="0" smtClean="0"/>
              <a:t>I/O devices requiring service (DISK, network)</a:t>
            </a:r>
          </a:p>
          <a:p>
            <a:pPr lvl="1"/>
            <a:r>
              <a:rPr lang="en-US" altLang="zh-CN" dirty="0" smtClean="0"/>
              <a:t>Clock interrupts (real time scheduling)</a:t>
            </a:r>
          </a:p>
          <a:p>
            <a:r>
              <a:rPr lang="en-US" altLang="zh-CN" dirty="0" smtClean="0">
                <a:solidFill>
                  <a:srgbClr val="FF0000"/>
                </a:solidFill>
              </a:rPr>
              <a:t>Machine Checks</a:t>
            </a:r>
            <a:r>
              <a:rPr lang="en-US" altLang="zh-CN" dirty="0" smtClean="0"/>
              <a:t>: caused by serious hardware failure</a:t>
            </a:r>
          </a:p>
          <a:p>
            <a:pPr lvl="1"/>
            <a:r>
              <a:rPr lang="en-US" altLang="zh-CN" dirty="0" smtClean="0"/>
              <a:t>Not always </a:t>
            </a:r>
            <a:r>
              <a:rPr lang="en-US" altLang="zh-CN" dirty="0" err="1" smtClean="0"/>
              <a:t>restartable</a:t>
            </a:r>
            <a:endParaRPr lang="en-US" altLang="zh-CN" dirty="0" smtClean="0"/>
          </a:p>
          <a:p>
            <a:pPr lvl="1"/>
            <a:r>
              <a:rPr lang="en-US" altLang="zh-CN" dirty="0" smtClean="0"/>
              <a:t>Indicate that bad things have happened.  </a:t>
            </a:r>
          </a:p>
          <a:p>
            <a:pPr lvl="2"/>
            <a:r>
              <a:rPr lang="en-US" altLang="zh-CN" dirty="0" smtClean="0"/>
              <a:t>Non-recoverable ECC error</a:t>
            </a:r>
          </a:p>
          <a:p>
            <a:pPr lvl="2"/>
            <a:r>
              <a:rPr lang="en-US" altLang="zh-CN" dirty="0" smtClean="0"/>
              <a:t>Machine room fire</a:t>
            </a:r>
          </a:p>
          <a:p>
            <a:pPr lvl="2"/>
            <a:r>
              <a:rPr lang="en-US" altLang="zh-CN" dirty="0" smtClean="0"/>
              <a:t>Power outage</a:t>
            </a:r>
            <a:endParaRPr lang="en-US" altLang="zh-CN" dirty="0"/>
          </a:p>
        </p:txBody>
      </p:sp>
    </p:spTree>
    <p:extLst>
      <p:ext uri="{BB962C8B-B14F-4D97-AF65-F5344CB8AC3E}">
        <p14:creationId xmlns:p14="http://schemas.microsoft.com/office/powerpoint/2010/main" val="36095953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1683">
                                            <p:txEl>
                                              <p:pRg st="0" end="0"/>
                                            </p:txEl>
                                          </p:spTgt>
                                        </p:tgtEl>
                                        <p:attrNameLst>
                                          <p:attrName>style.visibility</p:attrName>
                                        </p:attrNameLst>
                                      </p:cBhvr>
                                      <p:to>
                                        <p:strVal val="visible"/>
                                      </p:to>
                                    </p:set>
                                    <p:anim calcmode="lin" valueType="num">
                                      <p:cBhvr additive="base">
                                        <p:cTn id="7" dur="500" fill="hold"/>
                                        <p:tgtEl>
                                          <p:spTgt spid="71168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1168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11683">
                                            <p:txEl>
                                              <p:pRg st="1" end="1"/>
                                            </p:txEl>
                                          </p:spTgt>
                                        </p:tgtEl>
                                        <p:attrNameLst>
                                          <p:attrName>style.visibility</p:attrName>
                                        </p:attrNameLst>
                                      </p:cBhvr>
                                      <p:to>
                                        <p:strVal val="visible"/>
                                      </p:to>
                                    </p:set>
                                    <p:anim calcmode="lin" valueType="num">
                                      <p:cBhvr additive="base">
                                        <p:cTn id="11" dur="500" fill="hold"/>
                                        <p:tgtEl>
                                          <p:spTgt spid="71168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1168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11683">
                                            <p:txEl>
                                              <p:pRg st="2" end="2"/>
                                            </p:txEl>
                                          </p:spTgt>
                                        </p:tgtEl>
                                        <p:attrNameLst>
                                          <p:attrName>style.visibility</p:attrName>
                                        </p:attrNameLst>
                                      </p:cBhvr>
                                      <p:to>
                                        <p:strVal val="visible"/>
                                      </p:to>
                                    </p:set>
                                    <p:anim calcmode="lin" valueType="num">
                                      <p:cBhvr additive="base">
                                        <p:cTn id="15" dur="500" fill="hold"/>
                                        <p:tgtEl>
                                          <p:spTgt spid="71168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71168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711683">
                                            <p:txEl>
                                              <p:pRg st="3" end="3"/>
                                            </p:txEl>
                                          </p:spTgt>
                                        </p:tgtEl>
                                        <p:attrNameLst>
                                          <p:attrName>style.visibility</p:attrName>
                                        </p:attrNameLst>
                                      </p:cBhvr>
                                      <p:to>
                                        <p:strVal val="visible"/>
                                      </p:to>
                                    </p:set>
                                    <p:anim calcmode="lin" valueType="num">
                                      <p:cBhvr additive="base">
                                        <p:cTn id="21" dur="500" fill="hold"/>
                                        <p:tgtEl>
                                          <p:spTgt spid="71168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71168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711683">
                                            <p:txEl>
                                              <p:pRg st="4" end="4"/>
                                            </p:txEl>
                                          </p:spTgt>
                                        </p:tgtEl>
                                        <p:attrNameLst>
                                          <p:attrName>style.visibility</p:attrName>
                                        </p:attrNameLst>
                                      </p:cBhvr>
                                      <p:to>
                                        <p:strVal val="visible"/>
                                      </p:to>
                                    </p:set>
                                    <p:anim calcmode="lin" valueType="num">
                                      <p:cBhvr additive="base">
                                        <p:cTn id="25" dur="500" fill="hold"/>
                                        <p:tgtEl>
                                          <p:spTgt spid="71168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1168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711683">
                                            <p:txEl>
                                              <p:pRg st="5" end="5"/>
                                            </p:txEl>
                                          </p:spTgt>
                                        </p:tgtEl>
                                        <p:attrNameLst>
                                          <p:attrName>style.visibility</p:attrName>
                                        </p:attrNameLst>
                                      </p:cBhvr>
                                      <p:to>
                                        <p:strVal val="visible"/>
                                      </p:to>
                                    </p:set>
                                    <p:anim calcmode="lin" valueType="num">
                                      <p:cBhvr additive="base">
                                        <p:cTn id="29" dur="500" fill="hold"/>
                                        <p:tgtEl>
                                          <p:spTgt spid="71168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71168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711683">
                                            <p:txEl>
                                              <p:pRg st="6" end="6"/>
                                            </p:txEl>
                                          </p:spTgt>
                                        </p:tgtEl>
                                        <p:attrNameLst>
                                          <p:attrName>style.visibility</p:attrName>
                                        </p:attrNameLst>
                                      </p:cBhvr>
                                      <p:to>
                                        <p:strVal val="visible"/>
                                      </p:to>
                                    </p:set>
                                    <p:anim calcmode="lin" valueType="num">
                                      <p:cBhvr additive="base">
                                        <p:cTn id="35" dur="500" fill="hold"/>
                                        <p:tgtEl>
                                          <p:spTgt spid="711683">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711683">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711683">
                                            <p:txEl>
                                              <p:pRg st="7" end="7"/>
                                            </p:txEl>
                                          </p:spTgt>
                                        </p:tgtEl>
                                        <p:attrNameLst>
                                          <p:attrName>style.visibility</p:attrName>
                                        </p:attrNameLst>
                                      </p:cBhvr>
                                      <p:to>
                                        <p:strVal val="visible"/>
                                      </p:to>
                                    </p:set>
                                    <p:anim calcmode="lin" valueType="num">
                                      <p:cBhvr additive="base">
                                        <p:cTn id="39" dur="500" fill="hold"/>
                                        <p:tgtEl>
                                          <p:spTgt spid="711683">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711683">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711683">
                                            <p:txEl>
                                              <p:pRg st="8" end="8"/>
                                            </p:txEl>
                                          </p:spTgt>
                                        </p:tgtEl>
                                        <p:attrNameLst>
                                          <p:attrName>style.visibility</p:attrName>
                                        </p:attrNameLst>
                                      </p:cBhvr>
                                      <p:to>
                                        <p:strVal val="visible"/>
                                      </p:to>
                                    </p:set>
                                    <p:anim calcmode="lin" valueType="num">
                                      <p:cBhvr additive="base">
                                        <p:cTn id="43" dur="500" fill="hold"/>
                                        <p:tgtEl>
                                          <p:spTgt spid="711683">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11683">
                                            <p:txEl>
                                              <p:pRg st="8" end="8"/>
                                            </p:txEl>
                                          </p:spTgt>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711683">
                                            <p:txEl>
                                              <p:pRg st="9" end="9"/>
                                            </p:txEl>
                                          </p:spTgt>
                                        </p:tgtEl>
                                        <p:attrNameLst>
                                          <p:attrName>style.visibility</p:attrName>
                                        </p:attrNameLst>
                                      </p:cBhvr>
                                      <p:to>
                                        <p:strVal val="visible"/>
                                      </p:to>
                                    </p:set>
                                    <p:anim calcmode="lin" valueType="num">
                                      <p:cBhvr additive="base">
                                        <p:cTn id="47" dur="500" fill="hold"/>
                                        <p:tgtEl>
                                          <p:spTgt spid="711683">
                                            <p:txEl>
                                              <p:pRg st="9" end="9"/>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711683">
                                            <p:txEl>
                                              <p:pRg st="9" end="9"/>
                                            </p:txEl>
                                          </p:spTgt>
                                        </p:tgtEl>
                                        <p:attrNameLst>
                                          <p:attrName>ppt_y</p:attrName>
                                        </p:attrNameLst>
                                      </p:cBhvr>
                                      <p:tavLst>
                                        <p:tav tm="0">
                                          <p:val>
                                            <p:strVal val="#ppt_y"/>
                                          </p:val>
                                        </p:tav>
                                        <p:tav tm="100000">
                                          <p:val>
                                            <p:strVal val="#ppt_y"/>
                                          </p:val>
                                        </p:tav>
                                      </p:tavLst>
                                    </p:anim>
                                  </p:childTnLst>
                                </p:cTn>
                              </p:par>
                              <p:par>
                                <p:cTn id="49" presetID="2" presetClass="entr" presetSubtype="2" fill="hold" grpId="0" nodeType="withEffect">
                                  <p:stCondLst>
                                    <p:cond delay="0"/>
                                  </p:stCondLst>
                                  <p:childTnLst>
                                    <p:set>
                                      <p:cBhvr>
                                        <p:cTn id="50" dur="1" fill="hold">
                                          <p:stCondLst>
                                            <p:cond delay="0"/>
                                          </p:stCondLst>
                                        </p:cTn>
                                        <p:tgtEl>
                                          <p:spTgt spid="711683">
                                            <p:txEl>
                                              <p:pRg st="10" end="10"/>
                                            </p:txEl>
                                          </p:spTgt>
                                        </p:tgtEl>
                                        <p:attrNameLst>
                                          <p:attrName>style.visibility</p:attrName>
                                        </p:attrNameLst>
                                      </p:cBhvr>
                                      <p:to>
                                        <p:strVal val="visible"/>
                                      </p:to>
                                    </p:set>
                                    <p:anim calcmode="lin" valueType="num">
                                      <p:cBhvr additive="base">
                                        <p:cTn id="51" dur="500" fill="hold"/>
                                        <p:tgtEl>
                                          <p:spTgt spid="711683">
                                            <p:txEl>
                                              <p:pRg st="10" end="10"/>
                                            </p:txEl>
                                          </p:spTgt>
                                        </p:tgtEl>
                                        <p:attrNameLst>
                                          <p:attrName>ppt_x</p:attrName>
                                        </p:attrNameLst>
                                      </p:cBhvr>
                                      <p:tavLst>
                                        <p:tav tm="0">
                                          <p:val>
                                            <p:strVal val="1+#ppt_w/2"/>
                                          </p:val>
                                        </p:tav>
                                        <p:tav tm="100000">
                                          <p:val>
                                            <p:strVal val="#ppt_x"/>
                                          </p:val>
                                        </p:tav>
                                      </p:tavLst>
                                    </p:anim>
                                    <p:anim calcmode="lin" valueType="num">
                                      <p:cBhvr additive="base">
                                        <p:cTn id="52" dur="500" fill="hold"/>
                                        <p:tgtEl>
                                          <p:spTgt spid="711683">
                                            <p:txEl>
                                              <p:pRg st="10" end="10"/>
                                            </p:txEl>
                                          </p:spTgt>
                                        </p:tgtEl>
                                        <p:attrNameLst>
                                          <p:attrName>ppt_y</p:attrName>
                                        </p:attrNameLst>
                                      </p:cBhvr>
                                      <p:tavLst>
                                        <p:tav tm="0">
                                          <p:val>
                                            <p:strVal val="#ppt_y"/>
                                          </p:val>
                                        </p:tav>
                                        <p:tav tm="100000">
                                          <p:val>
                                            <p:strVal val="#ppt_y"/>
                                          </p:val>
                                        </p:tav>
                                      </p:tavLst>
                                    </p:anim>
                                  </p:childTnLst>
                                </p:cTn>
                              </p:par>
                              <p:par>
                                <p:cTn id="53" presetID="2" presetClass="entr" presetSubtype="2" fill="hold" grpId="0" nodeType="withEffect">
                                  <p:stCondLst>
                                    <p:cond delay="0"/>
                                  </p:stCondLst>
                                  <p:childTnLst>
                                    <p:set>
                                      <p:cBhvr>
                                        <p:cTn id="54" dur="1" fill="hold">
                                          <p:stCondLst>
                                            <p:cond delay="0"/>
                                          </p:stCondLst>
                                        </p:cTn>
                                        <p:tgtEl>
                                          <p:spTgt spid="711683">
                                            <p:txEl>
                                              <p:pRg st="11" end="11"/>
                                            </p:txEl>
                                          </p:spTgt>
                                        </p:tgtEl>
                                        <p:attrNameLst>
                                          <p:attrName>style.visibility</p:attrName>
                                        </p:attrNameLst>
                                      </p:cBhvr>
                                      <p:to>
                                        <p:strVal val="visible"/>
                                      </p:to>
                                    </p:set>
                                    <p:anim calcmode="lin" valueType="num">
                                      <p:cBhvr additive="base">
                                        <p:cTn id="55" dur="500" fill="hold"/>
                                        <p:tgtEl>
                                          <p:spTgt spid="711683">
                                            <p:txEl>
                                              <p:pRg st="11" end="11"/>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711683">
                                            <p:txEl>
                                              <p:pRg st="11" end="1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83"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2706" name="Rectangle 2"/>
          <p:cNvSpPr>
            <a:spLocks noGrp="1" noChangeArrowheads="1"/>
          </p:cNvSpPr>
          <p:nvPr>
            <p:ph type="title"/>
          </p:nvPr>
        </p:nvSpPr>
        <p:spPr/>
        <p:txBody>
          <a:bodyPr/>
          <a:lstStyle/>
          <a:p>
            <a:r>
              <a:rPr lang="en-US" altLang="zh-CN" smtClean="0"/>
              <a:t>A related classification: </a:t>
            </a:r>
            <a:br>
              <a:rPr lang="en-US" altLang="zh-CN" smtClean="0"/>
            </a:br>
            <a:r>
              <a:rPr lang="en-US" altLang="zh-CN" smtClean="0"/>
              <a:t>Synchronous vs. Asynchronous</a:t>
            </a:r>
            <a:endParaRPr lang="en-US" altLang="zh-CN"/>
          </a:p>
        </p:txBody>
      </p:sp>
      <p:sp>
        <p:nvSpPr>
          <p:cNvPr id="712707" name="Rectangle 3"/>
          <p:cNvSpPr>
            <a:spLocks noGrp="1" noChangeArrowheads="1"/>
          </p:cNvSpPr>
          <p:nvPr>
            <p:ph type="body" idx="1"/>
          </p:nvPr>
        </p:nvSpPr>
        <p:spPr/>
        <p:txBody>
          <a:bodyPr/>
          <a:lstStyle/>
          <a:p>
            <a:r>
              <a:rPr lang="en-US" altLang="zh-CN" dirty="0" smtClean="0"/>
              <a:t>Synchronous: means related to the instruction stream, i.e. during the execution of an instruction</a:t>
            </a:r>
          </a:p>
          <a:p>
            <a:pPr lvl="1"/>
            <a:r>
              <a:rPr lang="en-US" altLang="zh-CN" dirty="0" smtClean="0"/>
              <a:t>Must stop an instruction that is currently executing</a:t>
            </a:r>
          </a:p>
          <a:p>
            <a:pPr lvl="1"/>
            <a:r>
              <a:rPr lang="en-US" altLang="zh-CN" dirty="0" smtClean="0"/>
              <a:t>Page fault on load or store instruction</a:t>
            </a:r>
          </a:p>
          <a:p>
            <a:pPr lvl="1"/>
            <a:r>
              <a:rPr lang="en-US" altLang="zh-CN" dirty="0" smtClean="0"/>
              <a:t>Arithmetic exception; Software Trap Instructions</a:t>
            </a:r>
          </a:p>
          <a:p>
            <a:r>
              <a:rPr lang="en-US" altLang="zh-CN" dirty="0" smtClean="0"/>
              <a:t>Asynchronous: means unrelated to the instruction stream, i.e. caused by an outside event.</a:t>
            </a:r>
          </a:p>
          <a:p>
            <a:pPr lvl="1"/>
            <a:r>
              <a:rPr lang="en-US" altLang="zh-CN" dirty="0" smtClean="0"/>
              <a:t>Does not have to disrupt instructions that are already executing</a:t>
            </a:r>
          </a:p>
          <a:p>
            <a:pPr lvl="1"/>
            <a:r>
              <a:rPr lang="en-US" altLang="zh-CN" dirty="0" smtClean="0"/>
              <a:t>Interrupts are asynchronous; Machine checks are asynchronous</a:t>
            </a:r>
          </a:p>
          <a:p>
            <a:r>
              <a:rPr lang="en-US" altLang="zh-CN" dirty="0" err="1" smtClean="0"/>
              <a:t>SemiSynchronous</a:t>
            </a:r>
            <a:r>
              <a:rPr lang="en-US" altLang="zh-CN" dirty="0" smtClean="0"/>
              <a:t> (or high-availability interrupts): </a:t>
            </a:r>
          </a:p>
          <a:p>
            <a:pPr lvl="1"/>
            <a:r>
              <a:rPr lang="en-US" altLang="zh-CN" dirty="0" smtClean="0"/>
              <a:t>Caused by external event but may have to disrupt current instructions in order to guarantee service</a:t>
            </a:r>
            <a:endParaRPr lang="en-US" altLang="zh-CN" dirty="0"/>
          </a:p>
        </p:txBody>
      </p:sp>
    </p:spTree>
    <p:extLst>
      <p:ext uri="{BB962C8B-B14F-4D97-AF65-F5344CB8AC3E}">
        <p14:creationId xmlns:p14="http://schemas.microsoft.com/office/powerpoint/2010/main" val="41910702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2707">
                                            <p:txEl>
                                              <p:pRg st="0" end="0"/>
                                            </p:txEl>
                                          </p:spTgt>
                                        </p:tgtEl>
                                        <p:attrNameLst>
                                          <p:attrName>style.visibility</p:attrName>
                                        </p:attrNameLst>
                                      </p:cBhvr>
                                      <p:to>
                                        <p:strVal val="visible"/>
                                      </p:to>
                                    </p:set>
                                    <p:anim calcmode="lin" valueType="num">
                                      <p:cBhvr additive="base">
                                        <p:cTn id="7" dur="500" fill="hold"/>
                                        <p:tgtEl>
                                          <p:spTgt spid="71270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1270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12707">
                                            <p:txEl>
                                              <p:pRg st="1" end="1"/>
                                            </p:txEl>
                                          </p:spTgt>
                                        </p:tgtEl>
                                        <p:attrNameLst>
                                          <p:attrName>style.visibility</p:attrName>
                                        </p:attrNameLst>
                                      </p:cBhvr>
                                      <p:to>
                                        <p:strVal val="visible"/>
                                      </p:to>
                                    </p:set>
                                    <p:anim calcmode="lin" valueType="num">
                                      <p:cBhvr additive="base">
                                        <p:cTn id="11" dur="500" fill="hold"/>
                                        <p:tgtEl>
                                          <p:spTgt spid="71270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1270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12707">
                                            <p:txEl>
                                              <p:pRg st="2" end="2"/>
                                            </p:txEl>
                                          </p:spTgt>
                                        </p:tgtEl>
                                        <p:attrNameLst>
                                          <p:attrName>style.visibility</p:attrName>
                                        </p:attrNameLst>
                                      </p:cBhvr>
                                      <p:to>
                                        <p:strVal val="visible"/>
                                      </p:to>
                                    </p:set>
                                    <p:anim calcmode="lin" valueType="num">
                                      <p:cBhvr additive="base">
                                        <p:cTn id="15" dur="500" fill="hold"/>
                                        <p:tgtEl>
                                          <p:spTgt spid="712707">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712707">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712707">
                                            <p:txEl>
                                              <p:pRg st="3" end="3"/>
                                            </p:txEl>
                                          </p:spTgt>
                                        </p:tgtEl>
                                        <p:attrNameLst>
                                          <p:attrName>style.visibility</p:attrName>
                                        </p:attrNameLst>
                                      </p:cBhvr>
                                      <p:to>
                                        <p:strVal val="visible"/>
                                      </p:to>
                                    </p:set>
                                    <p:anim calcmode="lin" valueType="num">
                                      <p:cBhvr additive="base">
                                        <p:cTn id="19" dur="500" fill="hold"/>
                                        <p:tgtEl>
                                          <p:spTgt spid="712707">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127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12707">
                                            <p:txEl>
                                              <p:pRg st="4" end="4"/>
                                            </p:txEl>
                                          </p:spTgt>
                                        </p:tgtEl>
                                        <p:attrNameLst>
                                          <p:attrName>style.visibility</p:attrName>
                                        </p:attrNameLst>
                                      </p:cBhvr>
                                      <p:to>
                                        <p:strVal val="visible"/>
                                      </p:to>
                                    </p:set>
                                    <p:anim calcmode="lin" valueType="num">
                                      <p:cBhvr additive="base">
                                        <p:cTn id="25" dur="500" fill="hold"/>
                                        <p:tgtEl>
                                          <p:spTgt spid="71270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12707">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712707">
                                            <p:txEl>
                                              <p:pRg st="5" end="5"/>
                                            </p:txEl>
                                          </p:spTgt>
                                        </p:tgtEl>
                                        <p:attrNameLst>
                                          <p:attrName>style.visibility</p:attrName>
                                        </p:attrNameLst>
                                      </p:cBhvr>
                                      <p:to>
                                        <p:strVal val="visible"/>
                                      </p:to>
                                    </p:set>
                                    <p:anim calcmode="lin" valueType="num">
                                      <p:cBhvr additive="base">
                                        <p:cTn id="29" dur="500" fill="hold"/>
                                        <p:tgtEl>
                                          <p:spTgt spid="712707">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712707">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712707">
                                            <p:txEl>
                                              <p:pRg st="6" end="6"/>
                                            </p:txEl>
                                          </p:spTgt>
                                        </p:tgtEl>
                                        <p:attrNameLst>
                                          <p:attrName>style.visibility</p:attrName>
                                        </p:attrNameLst>
                                      </p:cBhvr>
                                      <p:to>
                                        <p:strVal val="visible"/>
                                      </p:to>
                                    </p:set>
                                    <p:anim calcmode="lin" valueType="num">
                                      <p:cBhvr additive="base">
                                        <p:cTn id="33" dur="500" fill="hold"/>
                                        <p:tgtEl>
                                          <p:spTgt spid="712707">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71270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712707">
                                            <p:txEl>
                                              <p:pRg st="7" end="7"/>
                                            </p:txEl>
                                          </p:spTgt>
                                        </p:tgtEl>
                                        <p:attrNameLst>
                                          <p:attrName>style.visibility</p:attrName>
                                        </p:attrNameLst>
                                      </p:cBhvr>
                                      <p:to>
                                        <p:strVal val="visible"/>
                                      </p:to>
                                    </p:set>
                                    <p:anim calcmode="lin" valueType="num">
                                      <p:cBhvr additive="base">
                                        <p:cTn id="39" dur="500" fill="hold"/>
                                        <p:tgtEl>
                                          <p:spTgt spid="712707">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712707">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712707">
                                            <p:txEl>
                                              <p:pRg st="8" end="8"/>
                                            </p:txEl>
                                          </p:spTgt>
                                        </p:tgtEl>
                                        <p:attrNameLst>
                                          <p:attrName>style.visibility</p:attrName>
                                        </p:attrNameLst>
                                      </p:cBhvr>
                                      <p:to>
                                        <p:strVal val="visible"/>
                                      </p:to>
                                    </p:set>
                                    <p:anim calcmode="lin" valueType="num">
                                      <p:cBhvr additive="base">
                                        <p:cTn id="43" dur="500" fill="hold"/>
                                        <p:tgtEl>
                                          <p:spTgt spid="712707">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1270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2707"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631504" y="1533417"/>
            <a:ext cx="8568952" cy="5324583"/>
          </a:xfrm>
          <a:prstGeom prst="rect">
            <a:avLst/>
          </a:prstGeom>
        </p:spPr>
      </p:pic>
      <p:sp>
        <p:nvSpPr>
          <p:cNvPr id="2" name="标题 1"/>
          <p:cNvSpPr>
            <a:spLocks noGrp="1"/>
          </p:cNvSpPr>
          <p:nvPr>
            <p:ph type="title"/>
          </p:nvPr>
        </p:nvSpPr>
        <p:spPr/>
        <p:txBody>
          <a:bodyPr/>
          <a:lstStyle/>
          <a:p>
            <a:r>
              <a:rPr lang="en-US" altLang="zh-CN" dirty="0"/>
              <a:t>Five categories </a:t>
            </a:r>
            <a:r>
              <a:rPr lang="en-US" altLang="zh-CN" dirty="0" smtClean="0"/>
              <a:t>of exceptions</a:t>
            </a:r>
            <a:endParaRPr lang="zh-CN" altLang="en-US" dirty="0"/>
          </a:p>
        </p:txBody>
      </p:sp>
    </p:spTree>
    <p:extLst>
      <p:ext uri="{BB962C8B-B14F-4D97-AF65-F5344CB8AC3E}">
        <p14:creationId xmlns:p14="http://schemas.microsoft.com/office/powerpoint/2010/main" val="349595136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0" name="Rectangle 2"/>
          <p:cNvSpPr>
            <a:spLocks noGrp="1" noChangeArrowheads="1"/>
          </p:cNvSpPr>
          <p:nvPr>
            <p:ph type="title"/>
          </p:nvPr>
        </p:nvSpPr>
        <p:spPr>
          <a:xfrm>
            <a:off x="1524000" y="228600"/>
            <a:ext cx="9144000" cy="1143000"/>
          </a:xfrm>
        </p:spPr>
        <p:txBody>
          <a:bodyPr/>
          <a:lstStyle/>
          <a:p>
            <a:r>
              <a:rPr lang="en-US" altLang="zh-CN">
                <a:ea typeface="宋体" panose="02010600030101010101" pitchFamily="2" charset="-122"/>
              </a:rPr>
              <a:t>Interrupt Priorities Must be Handled</a:t>
            </a:r>
          </a:p>
        </p:txBody>
      </p:sp>
      <p:sp>
        <p:nvSpPr>
          <p:cNvPr id="713731" name="Text Box 3"/>
          <p:cNvSpPr txBox="1">
            <a:spLocks noChangeArrowheads="1"/>
          </p:cNvSpPr>
          <p:nvPr/>
        </p:nvSpPr>
        <p:spPr bwMode="auto">
          <a:xfrm>
            <a:off x="2654300" y="2057401"/>
            <a:ext cx="2393950" cy="3140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50000"/>
              </a:lnSpc>
              <a:spcBef>
                <a:spcPct val="0"/>
              </a:spcBef>
            </a:pPr>
            <a:r>
              <a:rPr lang="en-US" altLang="zh-CN" sz="2000">
                <a:latin typeface="Courier New" panose="02070309020205020404" pitchFamily="49" charset="0"/>
                <a:sym typeface="Symbol" panose="05050102010706020507" pitchFamily="18" charset="2"/>
              </a:rPr>
              <a:t></a:t>
            </a:r>
            <a:endParaRPr lang="en-US" altLang="zh-CN" sz="2000">
              <a:latin typeface="Courier New" panose="02070309020205020404" pitchFamily="49" charset="0"/>
            </a:endParaRPr>
          </a:p>
          <a:p>
            <a:pPr>
              <a:spcBef>
                <a:spcPct val="0"/>
              </a:spcBef>
            </a:pPr>
            <a:r>
              <a:rPr lang="en-US" altLang="zh-CN" sz="2000">
                <a:latin typeface="Courier New" panose="02070309020205020404" pitchFamily="49" charset="0"/>
              </a:rPr>
              <a:t>add 	r1,r2,r3</a:t>
            </a:r>
          </a:p>
          <a:p>
            <a:pPr>
              <a:spcBef>
                <a:spcPct val="0"/>
              </a:spcBef>
            </a:pPr>
            <a:r>
              <a:rPr lang="en-US" altLang="zh-CN" sz="2000">
                <a:latin typeface="Courier New" panose="02070309020205020404" pitchFamily="49" charset="0"/>
              </a:rPr>
              <a:t>subi 	r4,r1,#4</a:t>
            </a:r>
          </a:p>
          <a:p>
            <a:pPr>
              <a:spcBef>
                <a:spcPct val="0"/>
              </a:spcBef>
            </a:pPr>
            <a:r>
              <a:rPr lang="en-US" altLang="zh-CN" sz="2000">
                <a:latin typeface="Courier New" panose="02070309020205020404" pitchFamily="49" charset="0"/>
              </a:rPr>
              <a:t>slli 	r4,r4,#2</a:t>
            </a:r>
          </a:p>
          <a:p>
            <a:pPr algn="ctr">
              <a:lnSpc>
                <a:spcPct val="150000"/>
              </a:lnSpc>
              <a:spcBef>
                <a:spcPct val="0"/>
              </a:spcBef>
            </a:pPr>
            <a:r>
              <a:rPr lang="en-US" altLang="zh-CN" sz="2000">
                <a:latin typeface="Courier New" panose="02070309020205020404" pitchFamily="49" charset="0"/>
              </a:rPr>
              <a:t>Hiccup(!)</a:t>
            </a:r>
          </a:p>
          <a:p>
            <a:pPr>
              <a:lnSpc>
                <a:spcPct val="150000"/>
              </a:lnSpc>
              <a:spcBef>
                <a:spcPct val="0"/>
              </a:spcBef>
            </a:pPr>
            <a:r>
              <a:rPr lang="en-US" altLang="zh-CN" sz="2000">
                <a:latin typeface="Courier New" panose="02070309020205020404" pitchFamily="49" charset="0"/>
              </a:rPr>
              <a:t>lw	r2,0(r4)</a:t>
            </a:r>
          </a:p>
          <a:p>
            <a:pPr>
              <a:spcBef>
                <a:spcPct val="0"/>
              </a:spcBef>
            </a:pPr>
            <a:r>
              <a:rPr lang="en-US" altLang="zh-CN" sz="2000">
                <a:latin typeface="Courier New" panose="02070309020205020404" pitchFamily="49" charset="0"/>
              </a:rPr>
              <a:t>lw	r3,4(r4)</a:t>
            </a:r>
          </a:p>
          <a:p>
            <a:pPr>
              <a:spcBef>
                <a:spcPct val="0"/>
              </a:spcBef>
            </a:pPr>
            <a:r>
              <a:rPr lang="en-US" altLang="zh-CN" sz="2000">
                <a:latin typeface="Courier New" panose="02070309020205020404" pitchFamily="49" charset="0"/>
              </a:rPr>
              <a:t>add	r2,r2,r3</a:t>
            </a:r>
          </a:p>
          <a:p>
            <a:pPr>
              <a:spcBef>
                <a:spcPct val="0"/>
              </a:spcBef>
            </a:pPr>
            <a:r>
              <a:rPr lang="en-US" altLang="zh-CN" sz="2000">
                <a:latin typeface="Courier New" panose="02070309020205020404" pitchFamily="49" charset="0"/>
              </a:rPr>
              <a:t>sw	8(r4),r2</a:t>
            </a:r>
          </a:p>
          <a:p>
            <a:pPr algn="ctr">
              <a:lnSpc>
                <a:spcPct val="50000"/>
              </a:lnSpc>
              <a:spcBef>
                <a:spcPct val="0"/>
              </a:spcBef>
            </a:pPr>
            <a:r>
              <a:rPr lang="en-US" altLang="zh-CN" sz="2000">
                <a:latin typeface="Courier New" panose="02070309020205020404" pitchFamily="49" charset="0"/>
                <a:sym typeface="Symbol" panose="05050102010706020507" pitchFamily="18" charset="2"/>
              </a:rPr>
              <a:t></a:t>
            </a:r>
            <a:endParaRPr lang="en-US" altLang="zh-CN" sz="2000">
              <a:latin typeface="Courier New" panose="02070309020205020404" pitchFamily="49" charset="0"/>
            </a:endParaRPr>
          </a:p>
        </p:txBody>
      </p:sp>
      <p:sp>
        <p:nvSpPr>
          <p:cNvPr id="713732" name="Text Box 4"/>
          <p:cNvSpPr txBox="1">
            <a:spLocks noChangeArrowheads="1"/>
          </p:cNvSpPr>
          <p:nvPr/>
        </p:nvSpPr>
        <p:spPr bwMode="auto">
          <a:xfrm>
            <a:off x="6781800" y="1524001"/>
            <a:ext cx="2895600" cy="405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0"/>
              </a:spcBef>
            </a:pPr>
            <a:r>
              <a:rPr lang="en-US" altLang="zh-CN" sz="2000" i="1" dirty="0">
                <a:solidFill>
                  <a:srgbClr val="FF0000"/>
                </a:solidFill>
                <a:latin typeface="Courier New" panose="02070309020205020404" pitchFamily="49" charset="0"/>
              </a:rPr>
              <a:t>Raise priority</a:t>
            </a:r>
          </a:p>
          <a:p>
            <a:pPr>
              <a:spcBef>
                <a:spcPct val="0"/>
              </a:spcBef>
            </a:pPr>
            <a:r>
              <a:rPr lang="en-US" altLang="zh-CN" sz="2000" i="1" dirty="0" err="1">
                <a:solidFill>
                  <a:srgbClr val="FF0000"/>
                </a:solidFill>
                <a:latin typeface="Courier New" panose="02070309020205020404" pitchFamily="49" charset="0"/>
              </a:rPr>
              <a:t>Reenable</a:t>
            </a:r>
            <a:r>
              <a:rPr lang="en-US" altLang="zh-CN" sz="2000" i="1" dirty="0">
                <a:solidFill>
                  <a:srgbClr val="FF0000"/>
                </a:solidFill>
                <a:latin typeface="Courier New" panose="02070309020205020404" pitchFamily="49" charset="0"/>
              </a:rPr>
              <a:t> All </a:t>
            </a:r>
            <a:r>
              <a:rPr lang="en-US" altLang="zh-CN" sz="2000" i="1" dirty="0" err="1">
                <a:solidFill>
                  <a:srgbClr val="FF0000"/>
                </a:solidFill>
                <a:latin typeface="Courier New" panose="02070309020205020404" pitchFamily="49" charset="0"/>
              </a:rPr>
              <a:t>Ints</a:t>
            </a:r>
            <a:endParaRPr lang="en-US" altLang="zh-CN" sz="2000" i="1" dirty="0">
              <a:solidFill>
                <a:srgbClr val="FF0000"/>
              </a:solidFill>
              <a:latin typeface="Courier New" panose="02070309020205020404" pitchFamily="49" charset="0"/>
            </a:endParaRPr>
          </a:p>
          <a:p>
            <a:pPr>
              <a:spcBef>
                <a:spcPct val="0"/>
              </a:spcBef>
            </a:pPr>
            <a:r>
              <a:rPr lang="en-US" altLang="zh-CN" sz="2000" i="1" dirty="0">
                <a:solidFill>
                  <a:srgbClr val="0000FF"/>
                </a:solidFill>
                <a:latin typeface="Courier New" panose="02070309020205020404" pitchFamily="49" charset="0"/>
              </a:rPr>
              <a:t>Save registers</a:t>
            </a:r>
          </a:p>
          <a:p>
            <a:pPr algn="ctr">
              <a:lnSpc>
                <a:spcPct val="50000"/>
              </a:lnSpc>
              <a:spcBef>
                <a:spcPct val="0"/>
              </a:spcBef>
            </a:pPr>
            <a:r>
              <a:rPr lang="en-US" altLang="zh-CN" sz="2000" dirty="0">
                <a:latin typeface="Courier New" panose="02070309020205020404" pitchFamily="49" charset="0"/>
                <a:sym typeface="Symbol" panose="05050102010706020507" pitchFamily="18" charset="2"/>
              </a:rPr>
              <a:t></a:t>
            </a:r>
            <a:endParaRPr lang="en-US" altLang="zh-CN" sz="2000" dirty="0">
              <a:latin typeface="Courier New" panose="02070309020205020404" pitchFamily="49" charset="0"/>
            </a:endParaRPr>
          </a:p>
          <a:p>
            <a:pPr>
              <a:spcBef>
                <a:spcPct val="0"/>
              </a:spcBef>
            </a:pPr>
            <a:r>
              <a:rPr lang="en-US" altLang="zh-CN" sz="2000" dirty="0" err="1">
                <a:latin typeface="Courier New" panose="02070309020205020404" pitchFamily="49" charset="0"/>
              </a:rPr>
              <a:t>lw</a:t>
            </a:r>
            <a:r>
              <a:rPr lang="en-US" altLang="zh-CN" sz="2000" dirty="0">
                <a:latin typeface="Courier New" panose="02070309020205020404" pitchFamily="49" charset="0"/>
              </a:rPr>
              <a:t>	r1,20(r0)</a:t>
            </a:r>
          </a:p>
          <a:p>
            <a:pPr>
              <a:spcBef>
                <a:spcPct val="0"/>
              </a:spcBef>
            </a:pPr>
            <a:r>
              <a:rPr lang="en-US" altLang="zh-CN" sz="2000" dirty="0" err="1">
                <a:latin typeface="Courier New" panose="02070309020205020404" pitchFamily="49" charset="0"/>
              </a:rPr>
              <a:t>lw</a:t>
            </a:r>
            <a:r>
              <a:rPr lang="en-US" altLang="zh-CN" sz="2000" dirty="0">
                <a:latin typeface="Courier New" panose="02070309020205020404" pitchFamily="49" charset="0"/>
              </a:rPr>
              <a:t>	r2,0(r1)</a:t>
            </a:r>
          </a:p>
          <a:p>
            <a:pPr>
              <a:spcBef>
                <a:spcPct val="0"/>
              </a:spcBef>
            </a:pPr>
            <a:r>
              <a:rPr lang="en-US" altLang="zh-CN" sz="2000" dirty="0" err="1">
                <a:latin typeface="Courier New" panose="02070309020205020404" pitchFamily="49" charset="0"/>
              </a:rPr>
              <a:t>addi</a:t>
            </a:r>
            <a:r>
              <a:rPr lang="en-US" altLang="zh-CN" sz="2000" dirty="0">
                <a:latin typeface="Courier New" panose="02070309020205020404" pitchFamily="49" charset="0"/>
              </a:rPr>
              <a:t>  r3,r0,#5</a:t>
            </a:r>
          </a:p>
          <a:p>
            <a:pPr>
              <a:spcBef>
                <a:spcPct val="0"/>
              </a:spcBef>
            </a:pPr>
            <a:r>
              <a:rPr lang="en-US" altLang="zh-CN" sz="2000" dirty="0" err="1">
                <a:latin typeface="Courier New" panose="02070309020205020404" pitchFamily="49" charset="0"/>
              </a:rPr>
              <a:t>sw</a:t>
            </a:r>
            <a:r>
              <a:rPr lang="en-US" altLang="zh-CN" sz="2000" dirty="0">
                <a:latin typeface="Courier New" panose="02070309020205020404" pitchFamily="49" charset="0"/>
              </a:rPr>
              <a:t>    0(r1),r3</a:t>
            </a:r>
          </a:p>
          <a:p>
            <a:pPr algn="ctr">
              <a:lnSpc>
                <a:spcPct val="50000"/>
              </a:lnSpc>
              <a:spcBef>
                <a:spcPct val="0"/>
              </a:spcBef>
            </a:pPr>
            <a:r>
              <a:rPr lang="en-US" altLang="zh-CN" sz="2000" dirty="0">
                <a:latin typeface="Courier New" panose="02070309020205020404" pitchFamily="49" charset="0"/>
                <a:sym typeface="Symbol" panose="05050102010706020507" pitchFamily="18" charset="2"/>
              </a:rPr>
              <a:t></a:t>
            </a:r>
            <a:endParaRPr lang="en-US" altLang="zh-CN" sz="2000" dirty="0">
              <a:latin typeface="Courier New" panose="02070309020205020404" pitchFamily="49" charset="0"/>
            </a:endParaRPr>
          </a:p>
          <a:p>
            <a:pPr>
              <a:spcBef>
                <a:spcPct val="0"/>
              </a:spcBef>
            </a:pPr>
            <a:r>
              <a:rPr lang="en-US" altLang="zh-CN" sz="2000" i="1" dirty="0">
                <a:solidFill>
                  <a:srgbClr val="0000FF"/>
                </a:solidFill>
                <a:latin typeface="Courier New" panose="02070309020205020404" pitchFamily="49" charset="0"/>
              </a:rPr>
              <a:t>Restore registers</a:t>
            </a:r>
            <a:endParaRPr lang="en-US" altLang="zh-CN" sz="2000" dirty="0">
              <a:solidFill>
                <a:srgbClr val="0000FF"/>
              </a:solidFill>
              <a:latin typeface="Courier New" panose="02070309020205020404" pitchFamily="49" charset="0"/>
            </a:endParaRPr>
          </a:p>
          <a:p>
            <a:pPr>
              <a:spcBef>
                <a:spcPct val="0"/>
              </a:spcBef>
            </a:pPr>
            <a:r>
              <a:rPr lang="en-US" altLang="zh-CN" sz="2000" i="1" dirty="0">
                <a:solidFill>
                  <a:srgbClr val="FF0000"/>
                </a:solidFill>
                <a:latin typeface="Courier New" panose="02070309020205020404" pitchFamily="49" charset="0"/>
              </a:rPr>
              <a:t>Clear current </a:t>
            </a:r>
            <a:r>
              <a:rPr lang="en-US" altLang="zh-CN" sz="2000" i="1" dirty="0" err="1">
                <a:solidFill>
                  <a:srgbClr val="FF0000"/>
                </a:solidFill>
                <a:latin typeface="Courier New" panose="02070309020205020404" pitchFamily="49" charset="0"/>
              </a:rPr>
              <a:t>Int</a:t>
            </a:r>
            <a:endParaRPr lang="en-US" altLang="zh-CN" sz="2000" i="1" dirty="0">
              <a:solidFill>
                <a:srgbClr val="FF0000"/>
              </a:solidFill>
              <a:latin typeface="Courier New" panose="02070309020205020404" pitchFamily="49" charset="0"/>
            </a:endParaRPr>
          </a:p>
          <a:p>
            <a:pPr>
              <a:spcBef>
                <a:spcPct val="0"/>
              </a:spcBef>
            </a:pPr>
            <a:r>
              <a:rPr lang="en-US" altLang="zh-CN" sz="2000" i="1" dirty="0">
                <a:solidFill>
                  <a:srgbClr val="FF0000"/>
                </a:solidFill>
                <a:latin typeface="Courier New" panose="02070309020205020404" pitchFamily="49" charset="0"/>
              </a:rPr>
              <a:t>Disable All </a:t>
            </a:r>
            <a:r>
              <a:rPr lang="en-US" altLang="zh-CN" sz="2000" i="1" dirty="0" err="1">
                <a:solidFill>
                  <a:srgbClr val="FF0000"/>
                </a:solidFill>
                <a:latin typeface="Courier New" panose="02070309020205020404" pitchFamily="49" charset="0"/>
              </a:rPr>
              <a:t>Ints</a:t>
            </a:r>
            <a:endParaRPr lang="en-US" altLang="zh-CN" sz="2000" i="1" dirty="0">
              <a:solidFill>
                <a:srgbClr val="FF0000"/>
              </a:solidFill>
              <a:latin typeface="Courier New" panose="02070309020205020404" pitchFamily="49" charset="0"/>
            </a:endParaRPr>
          </a:p>
          <a:p>
            <a:pPr>
              <a:spcBef>
                <a:spcPct val="0"/>
              </a:spcBef>
            </a:pPr>
            <a:r>
              <a:rPr lang="en-US" altLang="zh-CN" sz="2000" i="1" dirty="0">
                <a:solidFill>
                  <a:srgbClr val="FF0000"/>
                </a:solidFill>
                <a:latin typeface="Courier New" panose="02070309020205020404" pitchFamily="49" charset="0"/>
              </a:rPr>
              <a:t>Restore priority</a:t>
            </a:r>
            <a:endParaRPr lang="en-US" altLang="zh-CN" sz="2000" dirty="0">
              <a:solidFill>
                <a:srgbClr val="FF0000"/>
              </a:solidFill>
              <a:latin typeface="Courier New" panose="02070309020205020404" pitchFamily="49" charset="0"/>
            </a:endParaRPr>
          </a:p>
          <a:p>
            <a:pPr>
              <a:spcBef>
                <a:spcPct val="0"/>
              </a:spcBef>
            </a:pPr>
            <a:r>
              <a:rPr lang="en-US" altLang="zh-CN" sz="2000" dirty="0">
                <a:latin typeface="Courier New" panose="02070309020205020404" pitchFamily="49" charset="0"/>
              </a:rPr>
              <a:t>RTE</a:t>
            </a:r>
          </a:p>
        </p:txBody>
      </p:sp>
      <p:sp>
        <p:nvSpPr>
          <p:cNvPr id="713733" name="AutoShape 5"/>
          <p:cNvSpPr>
            <a:spLocks noChangeArrowheads="1"/>
          </p:cNvSpPr>
          <p:nvPr/>
        </p:nvSpPr>
        <p:spPr bwMode="auto">
          <a:xfrm>
            <a:off x="2133601" y="3048000"/>
            <a:ext cx="714375" cy="762000"/>
          </a:xfrm>
          <a:prstGeom prst="rightArrow">
            <a:avLst>
              <a:gd name="adj1" fmla="val 37500"/>
              <a:gd name="adj2" fmla="val 59333"/>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3734" name="Text Box 6"/>
          <p:cNvSpPr txBox="1">
            <a:spLocks noChangeArrowheads="1"/>
          </p:cNvSpPr>
          <p:nvPr/>
        </p:nvSpPr>
        <p:spPr bwMode="auto">
          <a:xfrm rot="16200000">
            <a:off x="781051" y="3203576"/>
            <a:ext cx="226536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a:latin typeface="Comic Sans MS" panose="030F0702030302020204" pitchFamily="66" charset="0"/>
              </a:rPr>
              <a:t>Network Interrupt</a:t>
            </a:r>
          </a:p>
        </p:txBody>
      </p:sp>
      <p:grpSp>
        <p:nvGrpSpPr>
          <p:cNvPr id="713735" name="Group 7"/>
          <p:cNvGrpSpPr>
            <a:grpSpLocks/>
          </p:cNvGrpSpPr>
          <p:nvPr/>
        </p:nvGrpSpPr>
        <p:grpSpPr bwMode="auto">
          <a:xfrm>
            <a:off x="4660900" y="1828800"/>
            <a:ext cx="2286000" cy="3079750"/>
            <a:chOff x="1976" y="1152"/>
            <a:chExt cx="1440" cy="1940"/>
          </a:xfrm>
        </p:grpSpPr>
        <p:grpSp>
          <p:nvGrpSpPr>
            <p:cNvPr id="713736" name="Group 8"/>
            <p:cNvGrpSpPr>
              <a:grpSpLocks/>
            </p:cNvGrpSpPr>
            <p:nvPr/>
          </p:nvGrpSpPr>
          <p:grpSpPr bwMode="auto">
            <a:xfrm>
              <a:off x="2005" y="1152"/>
              <a:ext cx="1398" cy="577"/>
              <a:chOff x="2005" y="1152"/>
              <a:chExt cx="1398" cy="577"/>
            </a:xfrm>
          </p:grpSpPr>
          <p:sp>
            <p:nvSpPr>
              <p:cNvPr id="713737" name="Line 9"/>
              <p:cNvSpPr>
                <a:spLocks noChangeShapeType="1"/>
              </p:cNvSpPr>
              <p:nvPr/>
            </p:nvSpPr>
            <p:spPr bwMode="auto">
              <a:xfrm rot="-2286349">
                <a:off x="2005" y="1513"/>
                <a:ext cx="1398" cy="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713738" name="Text Box 10"/>
              <p:cNvSpPr txBox="1">
                <a:spLocks noChangeArrowheads="1"/>
              </p:cNvSpPr>
              <p:nvPr/>
            </p:nvSpPr>
            <p:spPr bwMode="auto">
              <a:xfrm rot="-2286349">
                <a:off x="2016" y="1152"/>
                <a:ext cx="1251" cy="5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dirty="0">
                    <a:solidFill>
                      <a:srgbClr val="FF0000"/>
                    </a:solidFill>
                    <a:latin typeface="Comic Sans MS" panose="030F0702030302020204" pitchFamily="66" charset="0"/>
                  </a:rPr>
                  <a:t>PC saved</a:t>
                </a:r>
              </a:p>
              <a:p>
                <a:pPr algn="ctr">
                  <a:spcBef>
                    <a:spcPct val="0"/>
                  </a:spcBef>
                </a:pPr>
                <a:r>
                  <a:rPr lang="en-US" altLang="zh-CN" dirty="0">
                    <a:solidFill>
                      <a:srgbClr val="FF0000"/>
                    </a:solidFill>
                    <a:latin typeface="Comic Sans MS" panose="030F0702030302020204" pitchFamily="66" charset="0"/>
                  </a:rPr>
                  <a:t>Disable All </a:t>
                </a:r>
                <a:r>
                  <a:rPr lang="en-US" altLang="zh-CN" dirty="0" err="1">
                    <a:solidFill>
                      <a:srgbClr val="FF0000"/>
                    </a:solidFill>
                    <a:latin typeface="Comic Sans MS" panose="030F0702030302020204" pitchFamily="66" charset="0"/>
                  </a:rPr>
                  <a:t>Ints</a:t>
                </a:r>
                <a:endParaRPr lang="en-US" altLang="zh-CN" dirty="0">
                  <a:solidFill>
                    <a:srgbClr val="FF0000"/>
                  </a:solidFill>
                  <a:latin typeface="Comic Sans MS" panose="030F0702030302020204" pitchFamily="66" charset="0"/>
                </a:endParaRPr>
              </a:p>
              <a:p>
                <a:pPr algn="ctr">
                  <a:spcBef>
                    <a:spcPct val="0"/>
                  </a:spcBef>
                </a:pPr>
                <a:r>
                  <a:rPr lang="en-US" altLang="zh-CN" dirty="0">
                    <a:solidFill>
                      <a:srgbClr val="FF0000"/>
                    </a:solidFill>
                    <a:latin typeface="Comic Sans MS" panose="030F0702030302020204" pitchFamily="66" charset="0"/>
                  </a:rPr>
                  <a:t>Supervisor Mode</a:t>
                </a:r>
              </a:p>
            </p:txBody>
          </p:sp>
        </p:grpSp>
        <p:sp>
          <p:nvSpPr>
            <p:cNvPr id="713739" name="Line 11"/>
            <p:cNvSpPr>
              <a:spLocks noChangeShapeType="1"/>
            </p:cNvSpPr>
            <p:nvPr/>
          </p:nvSpPr>
          <p:spPr bwMode="auto">
            <a:xfrm rot="2461539" flipH="1">
              <a:off x="1976" y="2898"/>
              <a:ext cx="144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713740" name="Text Box 12"/>
            <p:cNvSpPr txBox="1">
              <a:spLocks noChangeArrowheads="1"/>
            </p:cNvSpPr>
            <p:nvPr/>
          </p:nvSpPr>
          <p:spPr bwMode="auto">
            <a:xfrm rot="2461539">
              <a:off x="2256" y="2688"/>
              <a:ext cx="852"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a:solidFill>
                    <a:srgbClr val="FF0000"/>
                  </a:solidFill>
                  <a:latin typeface="Comic Sans MS" panose="030F0702030302020204" pitchFamily="66" charset="0"/>
                </a:rPr>
                <a:t>Restore PC</a:t>
              </a:r>
            </a:p>
            <a:p>
              <a:pPr algn="ctr">
                <a:spcBef>
                  <a:spcPct val="0"/>
                </a:spcBef>
              </a:pPr>
              <a:r>
                <a:rPr lang="en-US" altLang="zh-CN">
                  <a:solidFill>
                    <a:srgbClr val="FF0000"/>
                  </a:solidFill>
                  <a:latin typeface="Comic Sans MS" panose="030F0702030302020204" pitchFamily="66" charset="0"/>
                </a:rPr>
                <a:t>User Mode</a:t>
              </a:r>
            </a:p>
          </p:txBody>
        </p:sp>
      </p:grpSp>
      <p:sp>
        <p:nvSpPr>
          <p:cNvPr id="713741" name="AutoShape 13"/>
          <p:cNvSpPr>
            <a:spLocks noChangeArrowheads="1"/>
          </p:cNvSpPr>
          <p:nvPr/>
        </p:nvSpPr>
        <p:spPr bwMode="auto">
          <a:xfrm>
            <a:off x="9144000" y="2971800"/>
            <a:ext cx="838200" cy="533400"/>
          </a:xfrm>
          <a:prstGeom prst="leftArrow">
            <a:avLst>
              <a:gd name="adj1" fmla="val 50000"/>
              <a:gd name="adj2" fmla="val 39286"/>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3742" name="Text Box 14"/>
          <p:cNvSpPr txBox="1">
            <a:spLocks noChangeArrowheads="1"/>
          </p:cNvSpPr>
          <p:nvPr/>
        </p:nvSpPr>
        <p:spPr bwMode="auto">
          <a:xfrm rot="5400000">
            <a:off x="8705851" y="3181351"/>
            <a:ext cx="32242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a:latin typeface="Comic Sans MS" panose="030F0702030302020204" pitchFamily="66" charset="0"/>
              </a:rPr>
              <a:t>Could be interrupted by disk</a:t>
            </a:r>
          </a:p>
        </p:txBody>
      </p:sp>
      <p:sp>
        <p:nvSpPr>
          <p:cNvPr id="713743" name="Text Box 15"/>
          <p:cNvSpPr txBox="1">
            <a:spLocks noChangeArrowheads="1"/>
          </p:cNvSpPr>
          <p:nvPr/>
        </p:nvSpPr>
        <p:spPr bwMode="auto">
          <a:xfrm>
            <a:off x="1337705" y="5856798"/>
            <a:ext cx="9308959"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0"/>
              </a:spcBef>
            </a:pPr>
            <a:r>
              <a:rPr lang="en-US" altLang="zh-CN" sz="2400" dirty="0">
                <a:latin typeface="Comic Sans MS" panose="030F0702030302020204" pitchFamily="66" charset="0"/>
              </a:rPr>
              <a:t>Note that priority must be raised to avoid recursive interrupts!</a:t>
            </a:r>
          </a:p>
        </p:txBody>
      </p:sp>
    </p:spTree>
    <p:extLst>
      <p:ext uri="{BB962C8B-B14F-4D97-AF65-F5344CB8AC3E}">
        <p14:creationId xmlns:p14="http://schemas.microsoft.com/office/powerpoint/2010/main" val="6703653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4754" name="Rectangle 2"/>
          <p:cNvSpPr>
            <a:spLocks noGrp="1" noChangeArrowheads="1"/>
          </p:cNvSpPr>
          <p:nvPr>
            <p:ph type="title"/>
          </p:nvPr>
        </p:nvSpPr>
        <p:spPr/>
        <p:txBody>
          <a:bodyPr/>
          <a:lstStyle/>
          <a:p>
            <a:r>
              <a:rPr lang="en-US" altLang="zh-CN" smtClean="0"/>
              <a:t>Interrupt controller hardware and mask levels</a:t>
            </a:r>
            <a:endParaRPr lang="en-US" altLang="zh-CN"/>
          </a:p>
        </p:txBody>
      </p:sp>
      <p:sp>
        <p:nvSpPr>
          <p:cNvPr id="714755" name="Rectangle 3"/>
          <p:cNvSpPr>
            <a:spLocks noGrp="1" noChangeArrowheads="1"/>
          </p:cNvSpPr>
          <p:nvPr>
            <p:ph type="body" idx="1"/>
          </p:nvPr>
        </p:nvSpPr>
        <p:spPr/>
        <p:txBody>
          <a:bodyPr/>
          <a:lstStyle/>
          <a:p>
            <a:r>
              <a:rPr lang="en-US" altLang="zh-CN" dirty="0" smtClean="0"/>
              <a:t>Operating system constructs a hierarchy of masks that reflects some form of interrupt priority.</a:t>
            </a:r>
          </a:p>
          <a:p>
            <a:r>
              <a:rPr lang="en-US" altLang="zh-CN" dirty="0" smtClean="0"/>
              <a:t>For instance:</a:t>
            </a:r>
            <a:br>
              <a:rPr lang="en-US" altLang="zh-CN" dirty="0" smtClean="0"/>
            </a:br>
            <a:r>
              <a:rPr lang="en-US" altLang="zh-CN" dirty="0" smtClean="0"/>
              <a:t/>
            </a:r>
            <a:br>
              <a:rPr lang="en-US" altLang="zh-CN" dirty="0" smtClean="0"/>
            </a:br>
            <a:r>
              <a:rPr lang="en-US" altLang="zh-CN" dirty="0" smtClean="0"/>
              <a:t/>
            </a:r>
            <a:br>
              <a:rPr lang="en-US" altLang="zh-CN" dirty="0" smtClean="0"/>
            </a:br>
            <a:r>
              <a:rPr lang="en-US" altLang="zh-CN" dirty="0" smtClean="0"/>
              <a:t/>
            </a:r>
            <a:br>
              <a:rPr lang="en-US" altLang="zh-CN" dirty="0" smtClean="0"/>
            </a:br>
            <a:r>
              <a:rPr lang="en-US" altLang="zh-CN" dirty="0" smtClean="0"/>
              <a:t/>
            </a:r>
            <a:br>
              <a:rPr lang="en-US" altLang="zh-CN" dirty="0" smtClean="0"/>
            </a:br>
            <a:r>
              <a:rPr lang="en-US" altLang="zh-CN" dirty="0" smtClean="0"/>
              <a:t/>
            </a:r>
            <a:br>
              <a:rPr lang="en-US" altLang="zh-CN" dirty="0" smtClean="0"/>
            </a:br>
            <a:endParaRPr lang="en-US" altLang="zh-CN" dirty="0"/>
          </a:p>
          <a:p>
            <a:r>
              <a:rPr lang="en-US" altLang="zh-CN" dirty="0" smtClean="0"/>
              <a:t>This reflects the an order of urgency to interrupts</a:t>
            </a:r>
          </a:p>
          <a:p>
            <a:pPr lvl="1"/>
            <a:r>
              <a:rPr lang="en-US" altLang="zh-CN" dirty="0" smtClean="0"/>
              <a:t>For instance, this ordering says that disk events can interrupt the interrupt handlers for network interrupts. </a:t>
            </a:r>
            <a:br>
              <a:rPr lang="en-US" altLang="zh-CN" dirty="0" smtClean="0"/>
            </a:br>
            <a:endParaRPr lang="en-US" altLang="zh-CN" dirty="0" smtClean="0"/>
          </a:p>
          <a:p>
            <a:endParaRPr lang="en-US" altLang="zh-CN" dirty="0"/>
          </a:p>
        </p:txBody>
      </p:sp>
      <p:graphicFrame>
        <p:nvGraphicFramePr>
          <p:cNvPr id="714756" name="Object 4"/>
          <p:cNvGraphicFramePr>
            <a:graphicFrameLocks noChangeAspect="1"/>
          </p:cNvGraphicFramePr>
          <p:nvPr>
            <p:extLst>
              <p:ext uri="{D42A27DB-BD31-4B8C-83A1-F6EECF244321}">
                <p14:modId xmlns:p14="http://schemas.microsoft.com/office/powerpoint/2010/main" val="2248349631"/>
              </p:ext>
            </p:extLst>
          </p:nvPr>
        </p:nvGraphicFramePr>
        <p:xfrm>
          <a:off x="4943872" y="2348880"/>
          <a:ext cx="6208842" cy="3105274"/>
        </p:xfrm>
        <a:graphic>
          <a:graphicData uri="http://schemas.openxmlformats.org/presentationml/2006/ole">
            <mc:AlternateContent xmlns:mc="http://schemas.openxmlformats.org/markup-compatibility/2006">
              <mc:Choice xmlns:v="urn:schemas-microsoft-com:vml" Requires="v">
                <p:oleObj spid="_x0000_s4117" name="Document" r:id="rId3" imgW="6509520" imgH="3269520" progId="Word.Document.8">
                  <p:embed/>
                </p:oleObj>
              </mc:Choice>
              <mc:Fallback>
                <p:oleObj name="Document" r:id="rId3" imgW="6509520" imgH="3269520" progId="Word.Document.8">
                  <p:embed/>
                  <p:pic>
                    <p:nvPicPr>
                      <p:cNvPr id="71475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3872" y="2348880"/>
                        <a:ext cx="6208842" cy="3105274"/>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20848538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8" name="Rectangle 2"/>
          <p:cNvSpPr>
            <a:spLocks noGrp="1" noChangeArrowheads="1"/>
          </p:cNvSpPr>
          <p:nvPr>
            <p:ph type="title"/>
          </p:nvPr>
        </p:nvSpPr>
        <p:spPr>
          <a:xfrm>
            <a:off x="2514600" y="0"/>
            <a:ext cx="7162800" cy="1143000"/>
          </a:xfrm>
        </p:spPr>
        <p:txBody>
          <a:bodyPr/>
          <a:lstStyle/>
          <a:p>
            <a:r>
              <a:rPr lang="en-US" altLang="zh-CN">
                <a:ea typeface="宋体" panose="02010600030101010101" pitchFamily="2" charset="-122"/>
              </a:rPr>
              <a:t>Can we have fast interrupts?</a:t>
            </a:r>
          </a:p>
        </p:txBody>
      </p:sp>
      <p:sp>
        <p:nvSpPr>
          <p:cNvPr id="715779" name="Rectangle 3"/>
          <p:cNvSpPr>
            <a:spLocks noGrp="1" noChangeArrowheads="1"/>
          </p:cNvSpPr>
          <p:nvPr>
            <p:ph type="body" idx="1"/>
          </p:nvPr>
        </p:nvSpPr>
        <p:spPr>
          <a:xfrm>
            <a:off x="1981200" y="5105400"/>
            <a:ext cx="7696200" cy="1143000"/>
          </a:xfrm>
        </p:spPr>
        <p:txBody>
          <a:bodyPr/>
          <a:lstStyle/>
          <a:p>
            <a:pPr>
              <a:lnSpc>
                <a:spcPct val="80000"/>
              </a:lnSpc>
            </a:pPr>
            <a:r>
              <a:rPr lang="en-US" altLang="zh-CN" dirty="0">
                <a:ea typeface="宋体" panose="02010600030101010101" pitchFamily="2" charset="-122"/>
              </a:rPr>
              <a:t>Pipeline Drain: Can be very Expensive </a:t>
            </a:r>
          </a:p>
          <a:p>
            <a:pPr>
              <a:lnSpc>
                <a:spcPct val="80000"/>
              </a:lnSpc>
            </a:pPr>
            <a:r>
              <a:rPr lang="en-US" altLang="zh-CN" dirty="0">
                <a:ea typeface="宋体" panose="02010600030101010101" pitchFamily="2" charset="-122"/>
              </a:rPr>
              <a:t>Priority Manipulations</a:t>
            </a:r>
          </a:p>
          <a:p>
            <a:pPr>
              <a:lnSpc>
                <a:spcPct val="80000"/>
              </a:lnSpc>
            </a:pPr>
            <a:r>
              <a:rPr lang="en-US" altLang="zh-CN" dirty="0">
                <a:ea typeface="宋体" panose="02010600030101010101" pitchFamily="2" charset="-122"/>
              </a:rPr>
              <a:t>Register Save/Restore</a:t>
            </a:r>
          </a:p>
          <a:p>
            <a:pPr lvl="1">
              <a:lnSpc>
                <a:spcPct val="80000"/>
              </a:lnSpc>
            </a:pPr>
            <a:r>
              <a:rPr lang="en-US" altLang="zh-CN" dirty="0">
                <a:ea typeface="宋体" panose="02010600030101010101" pitchFamily="2" charset="-122"/>
              </a:rPr>
              <a:t>128 registers + cache misses + etc.</a:t>
            </a:r>
          </a:p>
        </p:txBody>
      </p:sp>
      <p:sp>
        <p:nvSpPr>
          <p:cNvPr id="715780" name="Text Box 4"/>
          <p:cNvSpPr txBox="1">
            <a:spLocks noChangeArrowheads="1"/>
          </p:cNvSpPr>
          <p:nvPr/>
        </p:nvSpPr>
        <p:spPr bwMode="auto">
          <a:xfrm>
            <a:off x="2654300" y="1447801"/>
            <a:ext cx="2393950" cy="31400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50000"/>
              </a:lnSpc>
              <a:spcBef>
                <a:spcPct val="0"/>
              </a:spcBef>
            </a:pPr>
            <a:r>
              <a:rPr lang="en-US" altLang="zh-CN" sz="2000">
                <a:latin typeface="Courier New" panose="02070309020205020404" pitchFamily="49" charset="0"/>
                <a:sym typeface="Symbol" panose="05050102010706020507" pitchFamily="18" charset="2"/>
              </a:rPr>
              <a:t></a:t>
            </a:r>
            <a:endParaRPr lang="en-US" altLang="zh-CN" sz="2000">
              <a:latin typeface="Courier New" panose="02070309020205020404" pitchFamily="49" charset="0"/>
            </a:endParaRPr>
          </a:p>
          <a:p>
            <a:pPr>
              <a:spcBef>
                <a:spcPct val="0"/>
              </a:spcBef>
            </a:pPr>
            <a:r>
              <a:rPr lang="en-US" altLang="zh-CN" sz="2000">
                <a:latin typeface="Courier New" panose="02070309020205020404" pitchFamily="49" charset="0"/>
              </a:rPr>
              <a:t>add 	r1,r2,r3</a:t>
            </a:r>
          </a:p>
          <a:p>
            <a:pPr>
              <a:spcBef>
                <a:spcPct val="0"/>
              </a:spcBef>
            </a:pPr>
            <a:r>
              <a:rPr lang="en-US" altLang="zh-CN" sz="2000">
                <a:latin typeface="Courier New" panose="02070309020205020404" pitchFamily="49" charset="0"/>
              </a:rPr>
              <a:t>subi 	r4,r1,#4</a:t>
            </a:r>
          </a:p>
          <a:p>
            <a:pPr>
              <a:spcBef>
                <a:spcPct val="0"/>
              </a:spcBef>
            </a:pPr>
            <a:r>
              <a:rPr lang="en-US" altLang="zh-CN" sz="2000">
                <a:latin typeface="Courier New" panose="02070309020205020404" pitchFamily="49" charset="0"/>
              </a:rPr>
              <a:t>slli 	r4,r4,#2</a:t>
            </a:r>
          </a:p>
          <a:p>
            <a:pPr algn="ctr">
              <a:lnSpc>
                <a:spcPct val="150000"/>
              </a:lnSpc>
              <a:spcBef>
                <a:spcPct val="0"/>
              </a:spcBef>
            </a:pPr>
            <a:r>
              <a:rPr lang="en-US" altLang="zh-CN" sz="2000">
                <a:latin typeface="Courier New" panose="02070309020205020404" pitchFamily="49" charset="0"/>
              </a:rPr>
              <a:t>Hiccup(!)</a:t>
            </a:r>
          </a:p>
          <a:p>
            <a:pPr>
              <a:lnSpc>
                <a:spcPct val="150000"/>
              </a:lnSpc>
              <a:spcBef>
                <a:spcPct val="0"/>
              </a:spcBef>
            </a:pPr>
            <a:r>
              <a:rPr lang="en-US" altLang="zh-CN" sz="2000">
                <a:latin typeface="Courier New" panose="02070309020205020404" pitchFamily="49" charset="0"/>
              </a:rPr>
              <a:t>lw	r2,0(r4)</a:t>
            </a:r>
          </a:p>
          <a:p>
            <a:pPr>
              <a:spcBef>
                <a:spcPct val="0"/>
              </a:spcBef>
            </a:pPr>
            <a:r>
              <a:rPr lang="en-US" altLang="zh-CN" sz="2000">
                <a:latin typeface="Courier New" panose="02070309020205020404" pitchFamily="49" charset="0"/>
              </a:rPr>
              <a:t>lw	r3,4(r4)</a:t>
            </a:r>
          </a:p>
          <a:p>
            <a:pPr>
              <a:spcBef>
                <a:spcPct val="0"/>
              </a:spcBef>
            </a:pPr>
            <a:r>
              <a:rPr lang="en-US" altLang="zh-CN" sz="2000">
                <a:latin typeface="Courier New" panose="02070309020205020404" pitchFamily="49" charset="0"/>
              </a:rPr>
              <a:t>add	r2,r2,r3</a:t>
            </a:r>
          </a:p>
          <a:p>
            <a:pPr>
              <a:spcBef>
                <a:spcPct val="0"/>
              </a:spcBef>
            </a:pPr>
            <a:r>
              <a:rPr lang="en-US" altLang="zh-CN" sz="2000">
                <a:latin typeface="Courier New" panose="02070309020205020404" pitchFamily="49" charset="0"/>
              </a:rPr>
              <a:t>sw	8(r4),r2</a:t>
            </a:r>
          </a:p>
          <a:p>
            <a:pPr algn="ctr">
              <a:lnSpc>
                <a:spcPct val="50000"/>
              </a:lnSpc>
              <a:spcBef>
                <a:spcPct val="0"/>
              </a:spcBef>
            </a:pPr>
            <a:r>
              <a:rPr lang="en-US" altLang="zh-CN" sz="2000">
                <a:latin typeface="Courier New" panose="02070309020205020404" pitchFamily="49" charset="0"/>
                <a:sym typeface="Symbol" panose="05050102010706020507" pitchFamily="18" charset="2"/>
              </a:rPr>
              <a:t></a:t>
            </a:r>
            <a:endParaRPr lang="en-US" altLang="zh-CN" sz="2000">
              <a:latin typeface="Courier New" panose="02070309020205020404" pitchFamily="49" charset="0"/>
            </a:endParaRPr>
          </a:p>
        </p:txBody>
      </p:sp>
      <p:sp>
        <p:nvSpPr>
          <p:cNvPr id="715781" name="Text Box 5"/>
          <p:cNvSpPr txBox="1">
            <a:spLocks noChangeArrowheads="1"/>
          </p:cNvSpPr>
          <p:nvPr/>
        </p:nvSpPr>
        <p:spPr bwMode="auto">
          <a:xfrm>
            <a:off x="6781800" y="914401"/>
            <a:ext cx="2895600" cy="405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0"/>
              </a:spcBef>
            </a:pPr>
            <a:r>
              <a:rPr lang="en-US" altLang="zh-CN" sz="2000" i="1" dirty="0">
                <a:solidFill>
                  <a:schemeClr val="accent1"/>
                </a:solidFill>
                <a:latin typeface="Courier New" panose="02070309020205020404" pitchFamily="49" charset="0"/>
              </a:rPr>
              <a:t>Raise priority</a:t>
            </a:r>
          </a:p>
          <a:p>
            <a:pPr>
              <a:spcBef>
                <a:spcPct val="0"/>
              </a:spcBef>
            </a:pPr>
            <a:r>
              <a:rPr lang="en-US" altLang="zh-CN" sz="2000" i="1" dirty="0" err="1">
                <a:solidFill>
                  <a:schemeClr val="accent1"/>
                </a:solidFill>
                <a:latin typeface="Courier New" panose="02070309020205020404" pitchFamily="49" charset="0"/>
              </a:rPr>
              <a:t>Reenable</a:t>
            </a:r>
            <a:r>
              <a:rPr lang="en-US" altLang="zh-CN" sz="2000" i="1" dirty="0">
                <a:solidFill>
                  <a:schemeClr val="accent1"/>
                </a:solidFill>
                <a:latin typeface="Courier New" panose="02070309020205020404" pitchFamily="49" charset="0"/>
              </a:rPr>
              <a:t> All </a:t>
            </a:r>
            <a:r>
              <a:rPr lang="en-US" altLang="zh-CN" sz="2000" i="1" dirty="0" err="1">
                <a:solidFill>
                  <a:schemeClr val="accent1"/>
                </a:solidFill>
                <a:latin typeface="Courier New" panose="02070309020205020404" pitchFamily="49" charset="0"/>
              </a:rPr>
              <a:t>Ints</a:t>
            </a:r>
            <a:endParaRPr lang="en-US" altLang="zh-CN" sz="2000" i="1" dirty="0">
              <a:solidFill>
                <a:schemeClr val="accent1"/>
              </a:solidFill>
              <a:latin typeface="Courier New" panose="02070309020205020404" pitchFamily="49" charset="0"/>
            </a:endParaRPr>
          </a:p>
          <a:p>
            <a:pPr>
              <a:spcBef>
                <a:spcPct val="0"/>
              </a:spcBef>
            </a:pPr>
            <a:r>
              <a:rPr lang="en-US" altLang="zh-CN" sz="2000" i="1" dirty="0">
                <a:solidFill>
                  <a:srgbClr val="FF0000"/>
                </a:solidFill>
                <a:latin typeface="Courier New" panose="02070309020205020404" pitchFamily="49" charset="0"/>
              </a:rPr>
              <a:t>Save registers</a:t>
            </a:r>
          </a:p>
          <a:p>
            <a:pPr algn="ctr">
              <a:lnSpc>
                <a:spcPct val="50000"/>
              </a:lnSpc>
              <a:spcBef>
                <a:spcPct val="0"/>
              </a:spcBef>
            </a:pPr>
            <a:r>
              <a:rPr lang="en-US" altLang="zh-CN" sz="2000" dirty="0">
                <a:latin typeface="Courier New" panose="02070309020205020404" pitchFamily="49" charset="0"/>
                <a:sym typeface="Symbol" panose="05050102010706020507" pitchFamily="18" charset="2"/>
              </a:rPr>
              <a:t></a:t>
            </a:r>
            <a:endParaRPr lang="en-US" altLang="zh-CN" sz="2000" dirty="0">
              <a:latin typeface="Courier New" panose="02070309020205020404" pitchFamily="49" charset="0"/>
            </a:endParaRPr>
          </a:p>
          <a:p>
            <a:pPr>
              <a:spcBef>
                <a:spcPct val="0"/>
              </a:spcBef>
            </a:pPr>
            <a:r>
              <a:rPr lang="en-US" altLang="zh-CN" sz="2000" dirty="0" err="1">
                <a:latin typeface="Courier New" panose="02070309020205020404" pitchFamily="49" charset="0"/>
              </a:rPr>
              <a:t>lw</a:t>
            </a:r>
            <a:r>
              <a:rPr lang="en-US" altLang="zh-CN" sz="2000" dirty="0">
                <a:latin typeface="Courier New" panose="02070309020205020404" pitchFamily="49" charset="0"/>
              </a:rPr>
              <a:t>	r1,20(r0)</a:t>
            </a:r>
          </a:p>
          <a:p>
            <a:pPr>
              <a:spcBef>
                <a:spcPct val="0"/>
              </a:spcBef>
            </a:pPr>
            <a:r>
              <a:rPr lang="en-US" altLang="zh-CN" sz="2000" dirty="0" err="1">
                <a:latin typeface="Courier New" panose="02070309020205020404" pitchFamily="49" charset="0"/>
              </a:rPr>
              <a:t>lw</a:t>
            </a:r>
            <a:r>
              <a:rPr lang="en-US" altLang="zh-CN" sz="2000" dirty="0">
                <a:latin typeface="Courier New" panose="02070309020205020404" pitchFamily="49" charset="0"/>
              </a:rPr>
              <a:t>	r2,0(r1)</a:t>
            </a:r>
          </a:p>
          <a:p>
            <a:pPr>
              <a:spcBef>
                <a:spcPct val="0"/>
              </a:spcBef>
            </a:pPr>
            <a:r>
              <a:rPr lang="en-US" altLang="zh-CN" sz="2000" dirty="0" err="1">
                <a:latin typeface="Courier New" panose="02070309020205020404" pitchFamily="49" charset="0"/>
              </a:rPr>
              <a:t>addi</a:t>
            </a:r>
            <a:r>
              <a:rPr lang="en-US" altLang="zh-CN" sz="2000" dirty="0">
                <a:latin typeface="Courier New" panose="02070309020205020404" pitchFamily="49" charset="0"/>
              </a:rPr>
              <a:t>  r3,r0,#5</a:t>
            </a:r>
          </a:p>
          <a:p>
            <a:pPr>
              <a:spcBef>
                <a:spcPct val="0"/>
              </a:spcBef>
            </a:pPr>
            <a:r>
              <a:rPr lang="en-US" altLang="zh-CN" sz="2000" dirty="0" err="1">
                <a:latin typeface="Courier New" panose="02070309020205020404" pitchFamily="49" charset="0"/>
              </a:rPr>
              <a:t>sw</a:t>
            </a:r>
            <a:r>
              <a:rPr lang="en-US" altLang="zh-CN" sz="2000" dirty="0">
                <a:latin typeface="Courier New" panose="02070309020205020404" pitchFamily="49" charset="0"/>
              </a:rPr>
              <a:t>    0(r1),r3</a:t>
            </a:r>
          </a:p>
          <a:p>
            <a:pPr algn="ctr">
              <a:lnSpc>
                <a:spcPct val="50000"/>
              </a:lnSpc>
              <a:spcBef>
                <a:spcPct val="0"/>
              </a:spcBef>
            </a:pPr>
            <a:r>
              <a:rPr lang="en-US" altLang="zh-CN" sz="2000" dirty="0">
                <a:latin typeface="Courier New" panose="02070309020205020404" pitchFamily="49" charset="0"/>
                <a:sym typeface="Symbol" panose="05050102010706020507" pitchFamily="18" charset="2"/>
              </a:rPr>
              <a:t></a:t>
            </a:r>
            <a:endParaRPr lang="en-US" altLang="zh-CN" sz="2000" dirty="0">
              <a:latin typeface="Courier New" panose="02070309020205020404" pitchFamily="49" charset="0"/>
            </a:endParaRPr>
          </a:p>
          <a:p>
            <a:pPr>
              <a:spcBef>
                <a:spcPct val="0"/>
              </a:spcBef>
            </a:pPr>
            <a:r>
              <a:rPr lang="en-US" altLang="zh-CN" sz="2000" i="1" dirty="0">
                <a:solidFill>
                  <a:srgbClr val="FF0000"/>
                </a:solidFill>
                <a:latin typeface="Courier New" panose="02070309020205020404" pitchFamily="49" charset="0"/>
              </a:rPr>
              <a:t>Restore registers</a:t>
            </a:r>
            <a:endParaRPr lang="en-US" altLang="zh-CN" sz="2000" dirty="0">
              <a:solidFill>
                <a:srgbClr val="FF0000"/>
              </a:solidFill>
              <a:latin typeface="Courier New" panose="02070309020205020404" pitchFamily="49" charset="0"/>
            </a:endParaRPr>
          </a:p>
          <a:p>
            <a:pPr>
              <a:spcBef>
                <a:spcPct val="0"/>
              </a:spcBef>
            </a:pPr>
            <a:r>
              <a:rPr lang="en-US" altLang="zh-CN" sz="2000" i="1" dirty="0">
                <a:solidFill>
                  <a:schemeClr val="accent1"/>
                </a:solidFill>
                <a:latin typeface="Courier New" panose="02070309020205020404" pitchFamily="49" charset="0"/>
              </a:rPr>
              <a:t>Clear current </a:t>
            </a:r>
            <a:r>
              <a:rPr lang="en-US" altLang="zh-CN" sz="2000" i="1" dirty="0" err="1">
                <a:solidFill>
                  <a:schemeClr val="accent1"/>
                </a:solidFill>
                <a:latin typeface="Courier New" panose="02070309020205020404" pitchFamily="49" charset="0"/>
              </a:rPr>
              <a:t>Int</a:t>
            </a:r>
            <a:endParaRPr lang="en-US" altLang="zh-CN" sz="2000" i="1" dirty="0">
              <a:solidFill>
                <a:schemeClr val="accent1"/>
              </a:solidFill>
              <a:latin typeface="Courier New" panose="02070309020205020404" pitchFamily="49" charset="0"/>
            </a:endParaRPr>
          </a:p>
          <a:p>
            <a:pPr>
              <a:spcBef>
                <a:spcPct val="0"/>
              </a:spcBef>
            </a:pPr>
            <a:r>
              <a:rPr lang="en-US" altLang="zh-CN" sz="2000" i="1" dirty="0">
                <a:solidFill>
                  <a:schemeClr val="accent1"/>
                </a:solidFill>
                <a:latin typeface="Courier New" panose="02070309020205020404" pitchFamily="49" charset="0"/>
              </a:rPr>
              <a:t>Disable All </a:t>
            </a:r>
            <a:r>
              <a:rPr lang="en-US" altLang="zh-CN" sz="2000" i="1" dirty="0" err="1">
                <a:solidFill>
                  <a:schemeClr val="accent1"/>
                </a:solidFill>
                <a:latin typeface="Courier New" panose="02070309020205020404" pitchFamily="49" charset="0"/>
              </a:rPr>
              <a:t>Ints</a:t>
            </a:r>
            <a:endParaRPr lang="en-US" altLang="zh-CN" sz="2000" i="1" dirty="0">
              <a:solidFill>
                <a:schemeClr val="accent1"/>
              </a:solidFill>
              <a:latin typeface="Courier New" panose="02070309020205020404" pitchFamily="49" charset="0"/>
            </a:endParaRPr>
          </a:p>
          <a:p>
            <a:pPr>
              <a:spcBef>
                <a:spcPct val="0"/>
              </a:spcBef>
            </a:pPr>
            <a:r>
              <a:rPr lang="en-US" altLang="zh-CN" sz="2000" i="1" dirty="0">
                <a:solidFill>
                  <a:schemeClr val="accent1"/>
                </a:solidFill>
                <a:latin typeface="Courier New" panose="02070309020205020404" pitchFamily="49" charset="0"/>
              </a:rPr>
              <a:t>Restore priority</a:t>
            </a:r>
            <a:endParaRPr lang="en-US" altLang="zh-CN" sz="2000" dirty="0">
              <a:solidFill>
                <a:schemeClr val="accent1"/>
              </a:solidFill>
              <a:latin typeface="Courier New" panose="02070309020205020404" pitchFamily="49" charset="0"/>
            </a:endParaRPr>
          </a:p>
          <a:p>
            <a:pPr>
              <a:spcBef>
                <a:spcPct val="0"/>
              </a:spcBef>
            </a:pPr>
            <a:r>
              <a:rPr lang="en-US" altLang="zh-CN" sz="2000" dirty="0">
                <a:latin typeface="Courier New" panose="02070309020205020404" pitchFamily="49" charset="0"/>
              </a:rPr>
              <a:t>RTE</a:t>
            </a:r>
          </a:p>
        </p:txBody>
      </p:sp>
      <p:sp>
        <p:nvSpPr>
          <p:cNvPr id="715782" name="AutoShape 6"/>
          <p:cNvSpPr>
            <a:spLocks noChangeArrowheads="1"/>
          </p:cNvSpPr>
          <p:nvPr/>
        </p:nvSpPr>
        <p:spPr bwMode="auto">
          <a:xfrm>
            <a:off x="2133601" y="2438400"/>
            <a:ext cx="714375" cy="762000"/>
          </a:xfrm>
          <a:prstGeom prst="rightArrow">
            <a:avLst>
              <a:gd name="adj1" fmla="val 37500"/>
              <a:gd name="adj2" fmla="val 59333"/>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783" name="Text Box 7"/>
          <p:cNvSpPr txBox="1">
            <a:spLocks noChangeArrowheads="1"/>
          </p:cNvSpPr>
          <p:nvPr/>
        </p:nvSpPr>
        <p:spPr bwMode="auto">
          <a:xfrm rot="16200000">
            <a:off x="688182" y="2590007"/>
            <a:ext cx="2454275"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a:latin typeface="Comic Sans MS" panose="030F0702030302020204" pitchFamily="66" charset="0"/>
              </a:rPr>
              <a:t>Fine Grain Interrupt</a:t>
            </a:r>
          </a:p>
        </p:txBody>
      </p:sp>
      <p:grpSp>
        <p:nvGrpSpPr>
          <p:cNvPr id="715784" name="Group 8"/>
          <p:cNvGrpSpPr>
            <a:grpSpLocks/>
          </p:cNvGrpSpPr>
          <p:nvPr/>
        </p:nvGrpSpPr>
        <p:grpSpPr bwMode="auto">
          <a:xfrm>
            <a:off x="4660900" y="1219200"/>
            <a:ext cx="2286000" cy="3079750"/>
            <a:chOff x="1976" y="1152"/>
            <a:chExt cx="1440" cy="1940"/>
          </a:xfrm>
        </p:grpSpPr>
        <p:grpSp>
          <p:nvGrpSpPr>
            <p:cNvPr id="715785" name="Group 9"/>
            <p:cNvGrpSpPr>
              <a:grpSpLocks/>
            </p:cNvGrpSpPr>
            <p:nvPr/>
          </p:nvGrpSpPr>
          <p:grpSpPr bwMode="auto">
            <a:xfrm>
              <a:off x="2005" y="1152"/>
              <a:ext cx="1398" cy="577"/>
              <a:chOff x="2005" y="1152"/>
              <a:chExt cx="1398" cy="577"/>
            </a:xfrm>
          </p:grpSpPr>
          <p:sp>
            <p:nvSpPr>
              <p:cNvPr id="715786" name="Line 10"/>
              <p:cNvSpPr>
                <a:spLocks noChangeShapeType="1"/>
              </p:cNvSpPr>
              <p:nvPr/>
            </p:nvSpPr>
            <p:spPr bwMode="auto">
              <a:xfrm rot="-2286349">
                <a:off x="2005" y="1513"/>
                <a:ext cx="1398" cy="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715787" name="Text Box 11"/>
              <p:cNvSpPr txBox="1">
                <a:spLocks noChangeArrowheads="1"/>
              </p:cNvSpPr>
              <p:nvPr/>
            </p:nvSpPr>
            <p:spPr bwMode="auto">
              <a:xfrm rot="-2286349">
                <a:off x="2016" y="1152"/>
                <a:ext cx="1251" cy="5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dirty="0">
                    <a:solidFill>
                      <a:srgbClr val="FF0000"/>
                    </a:solidFill>
                    <a:latin typeface="Comic Sans MS" panose="030F0702030302020204" pitchFamily="66" charset="0"/>
                  </a:rPr>
                  <a:t>PC saved</a:t>
                </a:r>
              </a:p>
              <a:p>
                <a:pPr algn="ctr">
                  <a:spcBef>
                    <a:spcPct val="0"/>
                  </a:spcBef>
                </a:pPr>
                <a:r>
                  <a:rPr lang="en-US" altLang="zh-CN" dirty="0">
                    <a:solidFill>
                      <a:srgbClr val="FF0000"/>
                    </a:solidFill>
                    <a:latin typeface="Comic Sans MS" panose="030F0702030302020204" pitchFamily="66" charset="0"/>
                  </a:rPr>
                  <a:t>Disable All </a:t>
                </a:r>
                <a:r>
                  <a:rPr lang="en-US" altLang="zh-CN" dirty="0" err="1">
                    <a:solidFill>
                      <a:srgbClr val="FF0000"/>
                    </a:solidFill>
                    <a:latin typeface="Comic Sans MS" panose="030F0702030302020204" pitchFamily="66" charset="0"/>
                  </a:rPr>
                  <a:t>Ints</a:t>
                </a:r>
                <a:endParaRPr lang="en-US" altLang="zh-CN" dirty="0">
                  <a:solidFill>
                    <a:srgbClr val="FF0000"/>
                  </a:solidFill>
                  <a:latin typeface="Comic Sans MS" panose="030F0702030302020204" pitchFamily="66" charset="0"/>
                </a:endParaRPr>
              </a:p>
              <a:p>
                <a:pPr algn="ctr">
                  <a:spcBef>
                    <a:spcPct val="0"/>
                  </a:spcBef>
                </a:pPr>
                <a:r>
                  <a:rPr lang="en-US" altLang="zh-CN" dirty="0">
                    <a:solidFill>
                      <a:srgbClr val="FF0000"/>
                    </a:solidFill>
                    <a:latin typeface="Comic Sans MS" panose="030F0702030302020204" pitchFamily="66" charset="0"/>
                  </a:rPr>
                  <a:t>Supervisor Mode</a:t>
                </a:r>
              </a:p>
            </p:txBody>
          </p:sp>
        </p:grpSp>
        <p:sp>
          <p:nvSpPr>
            <p:cNvPr id="715788" name="Line 12"/>
            <p:cNvSpPr>
              <a:spLocks noChangeShapeType="1"/>
            </p:cNvSpPr>
            <p:nvPr/>
          </p:nvSpPr>
          <p:spPr bwMode="auto">
            <a:xfrm rot="2461539" flipH="1">
              <a:off x="1976" y="2898"/>
              <a:ext cx="144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715789" name="Text Box 13"/>
            <p:cNvSpPr txBox="1">
              <a:spLocks noChangeArrowheads="1"/>
            </p:cNvSpPr>
            <p:nvPr/>
          </p:nvSpPr>
          <p:spPr bwMode="auto">
            <a:xfrm rot="2461539">
              <a:off x="2256" y="2688"/>
              <a:ext cx="852"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a:solidFill>
                    <a:srgbClr val="FF0000"/>
                  </a:solidFill>
                  <a:latin typeface="Comic Sans MS" panose="030F0702030302020204" pitchFamily="66" charset="0"/>
                </a:rPr>
                <a:t>Restore PC</a:t>
              </a:r>
            </a:p>
            <a:p>
              <a:pPr algn="ctr">
                <a:spcBef>
                  <a:spcPct val="0"/>
                </a:spcBef>
              </a:pPr>
              <a:r>
                <a:rPr lang="en-US" altLang="zh-CN">
                  <a:solidFill>
                    <a:srgbClr val="FF0000"/>
                  </a:solidFill>
                  <a:latin typeface="Comic Sans MS" panose="030F0702030302020204" pitchFamily="66" charset="0"/>
                </a:rPr>
                <a:t>User Mode</a:t>
              </a:r>
            </a:p>
          </p:txBody>
        </p:sp>
      </p:grpSp>
      <p:sp>
        <p:nvSpPr>
          <p:cNvPr id="715790" name="AutoShape 14"/>
          <p:cNvSpPr>
            <a:spLocks noChangeArrowheads="1"/>
          </p:cNvSpPr>
          <p:nvPr/>
        </p:nvSpPr>
        <p:spPr bwMode="auto">
          <a:xfrm>
            <a:off x="9144000" y="2362200"/>
            <a:ext cx="838200" cy="533400"/>
          </a:xfrm>
          <a:prstGeom prst="leftArrow">
            <a:avLst>
              <a:gd name="adj1" fmla="val 50000"/>
              <a:gd name="adj2" fmla="val 39286"/>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5791" name="Text Box 15"/>
          <p:cNvSpPr txBox="1">
            <a:spLocks noChangeArrowheads="1"/>
          </p:cNvSpPr>
          <p:nvPr/>
        </p:nvSpPr>
        <p:spPr bwMode="auto">
          <a:xfrm rot="5400000">
            <a:off x="8705851" y="2571751"/>
            <a:ext cx="32242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a:latin typeface="Comic Sans MS" panose="030F0702030302020204" pitchFamily="66" charset="0"/>
              </a:rPr>
              <a:t>Could be interrupted by disk</a:t>
            </a:r>
          </a:p>
        </p:txBody>
      </p:sp>
    </p:spTree>
    <p:extLst>
      <p:ext uri="{BB962C8B-B14F-4D97-AF65-F5344CB8AC3E}">
        <p14:creationId xmlns:p14="http://schemas.microsoft.com/office/powerpoint/2010/main" val="313227892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02" name="Rectangle 2"/>
          <p:cNvSpPr>
            <a:spLocks noGrp="1" noChangeArrowheads="1"/>
          </p:cNvSpPr>
          <p:nvPr>
            <p:ph type="title"/>
          </p:nvPr>
        </p:nvSpPr>
        <p:spPr/>
        <p:txBody>
          <a:bodyPr/>
          <a:lstStyle/>
          <a:p>
            <a:r>
              <a:rPr lang="en-US" altLang="zh-CN" dirty="0" smtClean="0"/>
              <a:t>SPARC (and RISC I) had register windows</a:t>
            </a:r>
            <a:endParaRPr lang="en-US" altLang="zh-CN" dirty="0"/>
          </a:p>
        </p:txBody>
      </p:sp>
      <p:sp>
        <p:nvSpPr>
          <p:cNvPr id="716803" name="Rectangle 3"/>
          <p:cNvSpPr>
            <a:spLocks noGrp="1" noChangeArrowheads="1"/>
          </p:cNvSpPr>
          <p:nvPr>
            <p:ph type="body" idx="1"/>
          </p:nvPr>
        </p:nvSpPr>
        <p:spPr/>
        <p:txBody>
          <a:bodyPr/>
          <a:lstStyle/>
          <a:p>
            <a:r>
              <a:rPr lang="en-US" altLang="zh-CN" dirty="0" smtClean="0"/>
              <a:t>On interrupt or procedure call, simply switch to a different set of registers</a:t>
            </a:r>
          </a:p>
          <a:p>
            <a:r>
              <a:rPr lang="en-US" altLang="zh-CN" dirty="0" smtClean="0"/>
              <a:t>Really saves on interrupt overhead</a:t>
            </a:r>
          </a:p>
          <a:p>
            <a:pPr lvl="1"/>
            <a:r>
              <a:rPr lang="en-US" altLang="zh-CN" dirty="0" smtClean="0"/>
              <a:t>Interrupts can happen at any point in the execution, so compiler cannot help with knowledge of live registers.</a:t>
            </a:r>
          </a:p>
          <a:p>
            <a:pPr lvl="1"/>
            <a:r>
              <a:rPr lang="en-US" altLang="zh-CN" dirty="0" smtClean="0"/>
              <a:t>Conservative handlers must save all registers</a:t>
            </a:r>
          </a:p>
          <a:p>
            <a:pPr lvl="1"/>
            <a:r>
              <a:rPr lang="en-US" altLang="zh-CN" dirty="0" smtClean="0"/>
              <a:t>Short handlers might be able to save only a few, but this analysis is complicated</a:t>
            </a:r>
          </a:p>
          <a:p>
            <a:r>
              <a:rPr lang="en-US" altLang="zh-CN" dirty="0" smtClean="0"/>
              <a:t>Not as big a deal with procedure calls</a:t>
            </a:r>
          </a:p>
          <a:p>
            <a:pPr lvl="1"/>
            <a:r>
              <a:rPr lang="en-US" altLang="zh-CN" dirty="0" smtClean="0"/>
              <a:t>Good compilers can allocate registers across procedure boundaries</a:t>
            </a:r>
          </a:p>
          <a:p>
            <a:pPr lvl="1"/>
            <a:r>
              <a:rPr lang="en-US" altLang="zh-CN" dirty="0" smtClean="0"/>
              <a:t>Good compilers know what registers are live at any one time</a:t>
            </a:r>
          </a:p>
          <a:p>
            <a:r>
              <a:rPr lang="en-US" altLang="zh-CN" dirty="0" smtClean="0"/>
              <a:t>Many other processors have shadow registers for interrupts</a:t>
            </a:r>
            <a:endParaRPr lang="en-US" altLang="zh-CN" dirty="0"/>
          </a:p>
        </p:txBody>
      </p:sp>
    </p:spTree>
    <p:extLst>
      <p:ext uri="{BB962C8B-B14F-4D97-AF65-F5344CB8AC3E}">
        <p14:creationId xmlns:p14="http://schemas.microsoft.com/office/powerpoint/2010/main" val="26147554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6803">
                                            <p:txEl>
                                              <p:pRg st="0" end="0"/>
                                            </p:txEl>
                                          </p:spTgt>
                                        </p:tgtEl>
                                        <p:attrNameLst>
                                          <p:attrName>style.visibility</p:attrName>
                                        </p:attrNameLst>
                                      </p:cBhvr>
                                      <p:to>
                                        <p:strVal val="visible"/>
                                      </p:to>
                                    </p:set>
                                    <p:anim calcmode="lin" valueType="num">
                                      <p:cBhvr additive="base">
                                        <p:cTn id="7" dur="500" fill="hold"/>
                                        <p:tgtEl>
                                          <p:spTgt spid="71680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1680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16803">
                                            <p:txEl>
                                              <p:pRg st="1" end="1"/>
                                            </p:txEl>
                                          </p:spTgt>
                                        </p:tgtEl>
                                        <p:attrNameLst>
                                          <p:attrName>style.visibility</p:attrName>
                                        </p:attrNameLst>
                                      </p:cBhvr>
                                      <p:to>
                                        <p:strVal val="visible"/>
                                      </p:to>
                                    </p:set>
                                    <p:anim calcmode="lin" valueType="num">
                                      <p:cBhvr additive="base">
                                        <p:cTn id="13" dur="500" fill="hold"/>
                                        <p:tgtEl>
                                          <p:spTgt spid="716803">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16803">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716803">
                                            <p:txEl>
                                              <p:pRg st="2" end="2"/>
                                            </p:txEl>
                                          </p:spTgt>
                                        </p:tgtEl>
                                        <p:attrNameLst>
                                          <p:attrName>style.visibility</p:attrName>
                                        </p:attrNameLst>
                                      </p:cBhvr>
                                      <p:to>
                                        <p:strVal val="visible"/>
                                      </p:to>
                                    </p:set>
                                    <p:anim calcmode="lin" valueType="num">
                                      <p:cBhvr additive="base">
                                        <p:cTn id="17" dur="500" fill="hold"/>
                                        <p:tgtEl>
                                          <p:spTgt spid="716803">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716803">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716803">
                                            <p:txEl>
                                              <p:pRg st="3" end="3"/>
                                            </p:txEl>
                                          </p:spTgt>
                                        </p:tgtEl>
                                        <p:attrNameLst>
                                          <p:attrName>style.visibility</p:attrName>
                                        </p:attrNameLst>
                                      </p:cBhvr>
                                      <p:to>
                                        <p:strVal val="visible"/>
                                      </p:to>
                                    </p:set>
                                    <p:anim calcmode="lin" valueType="num">
                                      <p:cBhvr additive="base">
                                        <p:cTn id="21" dur="500" fill="hold"/>
                                        <p:tgtEl>
                                          <p:spTgt spid="71680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716803">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716803">
                                            <p:txEl>
                                              <p:pRg st="4" end="4"/>
                                            </p:txEl>
                                          </p:spTgt>
                                        </p:tgtEl>
                                        <p:attrNameLst>
                                          <p:attrName>style.visibility</p:attrName>
                                        </p:attrNameLst>
                                      </p:cBhvr>
                                      <p:to>
                                        <p:strVal val="visible"/>
                                      </p:to>
                                    </p:set>
                                    <p:anim calcmode="lin" valueType="num">
                                      <p:cBhvr additive="base">
                                        <p:cTn id="25" dur="500" fill="hold"/>
                                        <p:tgtEl>
                                          <p:spTgt spid="71680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1680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16803">
                                            <p:txEl>
                                              <p:pRg st="5" end="5"/>
                                            </p:txEl>
                                          </p:spTgt>
                                        </p:tgtEl>
                                        <p:attrNameLst>
                                          <p:attrName>style.visibility</p:attrName>
                                        </p:attrNameLst>
                                      </p:cBhvr>
                                      <p:to>
                                        <p:strVal val="visible"/>
                                      </p:to>
                                    </p:set>
                                    <p:anim calcmode="lin" valueType="num">
                                      <p:cBhvr additive="base">
                                        <p:cTn id="31" dur="500" fill="hold"/>
                                        <p:tgtEl>
                                          <p:spTgt spid="716803">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16803">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716803">
                                            <p:txEl>
                                              <p:pRg st="6" end="6"/>
                                            </p:txEl>
                                          </p:spTgt>
                                        </p:tgtEl>
                                        <p:attrNameLst>
                                          <p:attrName>style.visibility</p:attrName>
                                        </p:attrNameLst>
                                      </p:cBhvr>
                                      <p:to>
                                        <p:strVal val="visible"/>
                                      </p:to>
                                    </p:set>
                                    <p:anim calcmode="lin" valueType="num">
                                      <p:cBhvr additive="base">
                                        <p:cTn id="35" dur="500" fill="hold"/>
                                        <p:tgtEl>
                                          <p:spTgt spid="716803">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716803">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716803">
                                            <p:txEl>
                                              <p:pRg st="7" end="7"/>
                                            </p:txEl>
                                          </p:spTgt>
                                        </p:tgtEl>
                                        <p:attrNameLst>
                                          <p:attrName>style.visibility</p:attrName>
                                        </p:attrNameLst>
                                      </p:cBhvr>
                                      <p:to>
                                        <p:strVal val="visible"/>
                                      </p:to>
                                    </p:set>
                                    <p:anim calcmode="lin" valueType="num">
                                      <p:cBhvr additive="base">
                                        <p:cTn id="39" dur="500" fill="hold"/>
                                        <p:tgtEl>
                                          <p:spTgt spid="716803">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716803">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716803">
                                            <p:txEl>
                                              <p:pRg st="8" end="8"/>
                                            </p:txEl>
                                          </p:spTgt>
                                        </p:tgtEl>
                                        <p:attrNameLst>
                                          <p:attrName>style.visibility</p:attrName>
                                        </p:attrNameLst>
                                      </p:cBhvr>
                                      <p:to>
                                        <p:strVal val="visible"/>
                                      </p:to>
                                    </p:set>
                                    <p:anim calcmode="lin" valueType="num">
                                      <p:cBhvr additive="base">
                                        <p:cTn id="45" dur="500" fill="hold"/>
                                        <p:tgtEl>
                                          <p:spTgt spid="716803">
                                            <p:txEl>
                                              <p:pRg st="8" end="8"/>
                                            </p:txEl>
                                          </p:spTgt>
                                        </p:tgtEl>
                                        <p:attrNameLst>
                                          <p:attrName>ppt_x</p:attrName>
                                        </p:attrNameLst>
                                      </p:cBhvr>
                                      <p:tavLst>
                                        <p:tav tm="0">
                                          <p:val>
                                            <p:strVal val="1+#ppt_w/2"/>
                                          </p:val>
                                        </p:tav>
                                        <p:tav tm="100000">
                                          <p:val>
                                            <p:strVal val="#ppt_x"/>
                                          </p:val>
                                        </p:tav>
                                      </p:tavLst>
                                    </p:anim>
                                    <p:anim calcmode="lin" valueType="num">
                                      <p:cBhvr additive="base">
                                        <p:cTn id="46" dur="500" fill="hold"/>
                                        <p:tgtEl>
                                          <p:spTgt spid="716803">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03"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826" name="Rectangle 2"/>
          <p:cNvSpPr>
            <a:spLocks noGrp="1" noChangeArrowheads="1"/>
          </p:cNvSpPr>
          <p:nvPr>
            <p:ph type="title"/>
          </p:nvPr>
        </p:nvSpPr>
        <p:spPr/>
        <p:txBody>
          <a:bodyPr/>
          <a:lstStyle/>
          <a:p>
            <a:r>
              <a:rPr lang="en-US" altLang="zh-CN" smtClean="0"/>
              <a:t>Supervisor State</a:t>
            </a:r>
            <a:endParaRPr lang="en-US" altLang="zh-CN"/>
          </a:p>
        </p:txBody>
      </p:sp>
      <p:sp>
        <p:nvSpPr>
          <p:cNvPr id="717827" name="Rectangle 3"/>
          <p:cNvSpPr>
            <a:spLocks noGrp="1" noChangeArrowheads="1"/>
          </p:cNvSpPr>
          <p:nvPr>
            <p:ph type="body" idx="1"/>
          </p:nvPr>
        </p:nvSpPr>
        <p:spPr>
          <a:xfrm>
            <a:off x="838200" y="1556792"/>
            <a:ext cx="11162456" cy="5112568"/>
          </a:xfrm>
        </p:spPr>
        <p:txBody>
          <a:bodyPr/>
          <a:lstStyle/>
          <a:p>
            <a:r>
              <a:rPr lang="en-US" altLang="zh-CN" dirty="0" smtClean="0"/>
              <a:t>Typically, processors have some amount of state that user programs are not allowed to touch.</a:t>
            </a:r>
          </a:p>
          <a:p>
            <a:pPr lvl="1"/>
            <a:r>
              <a:rPr lang="en-US" altLang="zh-CN" dirty="0" smtClean="0"/>
              <a:t>Page mapping hardware/TLB, prevents one user from accessing memory of another, and prevents user from modifying mappings</a:t>
            </a:r>
          </a:p>
          <a:p>
            <a:pPr lvl="1"/>
            <a:r>
              <a:rPr lang="en-US" altLang="zh-CN" dirty="0" smtClean="0"/>
              <a:t>Interrupt controllers -- User code prevented from crashing machine by disabling interrupts.  Ignoring device interrupts, etc.</a:t>
            </a:r>
          </a:p>
          <a:p>
            <a:pPr lvl="1"/>
            <a:r>
              <a:rPr lang="en-US" altLang="zh-CN" dirty="0" smtClean="0"/>
              <a:t>Real-time clock interrupts ensure that users cannot lockup/crash machine even if they run code that goes into a loop:</a:t>
            </a:r>
          </a:p>
          <a:p>
            <a:pPr lvl="2"/>
            <a:r>
              <a:rPr lang="en-US" altLang="zh-CN" dirty="0" smtClean="0">
                <a:solidFill>
                  <a:srgbClr val="FF0000"/>
                </a:solidFill>
              </a:rPr>
              <a:t>“Preemptive Multitasking” vs “non-preemptive multitasking”</a:t>
            </a:r>
          </a:p>
          <a:p>
            <a:r>
              <a:rPr lang="en-US" altLang="zh-CN" dirty="0" smtClean="0"/>
              <a:t>Access to hardware devices restricted</a:t>
            </a:r>
          </a:p>
          <a:p>
            <a:pPr lvl="1"/>
            <a:r>
              <a:rPr lang="en-US" altLang="zh-CN" dirty="0" smtClean="0"/>
              <a:t>Prevents malicious user from stealing network packets </a:t>
            </a:r>
          </a:p>
          <a:p>
            <a:pPr lvl="1"/>
            <a:r>
              <a:rPr lang="en-US" altLang="zh-CN" dirty="0" smtClean="0"/>
              <a:t>Prevents user from writing over disk blocks</a:t>
            </a:r>
          </a:p>
          <a:p>
            <a:r>
              <a:rPr lang="en-US" altLang="zh-CN" dirty="0" smtClean="0"/>
              <a:t>Distinction made with at least two-levels: </a:t>
            </a:r>
            <a:r>
              <a:rPr lang="en-US" altLang="zh-CN" dirty="0" smtClean="0">
                <a:solidFill>
                  <a:srgbClr val="FF0000"/>
                </a:solidFill>
              </a:rPr>
              <a:t>User/System</a:t>
            </a:r>
            <a:r>
              <a:rPr lang="en-US" altLang="zh-CN" dirty="0"/>
              <a:t> </a:t>
            </a:r>
            <a:r>
              <a:rPr lang="en-US" altLang="zh-CN" dirty="0" smtClean="0"/>
              <a:t>(1 mode bit)</a:t>
            </a:r>
            <a:endParaRPr lang="en-US" altLang="zh-CN" dirty="0"/>
          </a:p>
        </p:txBody>
      </p:sp>
    </p:spTree>
    <p:extLst>
      <p:ext uri="{BB962C8B-B14F-4D97-AF65-F5344CB8AC3E}">
        <p14:creationId xmlns:p14="http://schemas.microsoft.com/office/powerpoint/2010/main" val="1384510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7827">
                                            <p:txEl>
                                              <p:pRg st="0" end="0"/>
                                            </p:txEl>
                                          </p:spTgt>
                                        </p:tgtEl>
                                        <p:attrNameLst>
                                          <p:attrName>style.visibility</p:attrName>
                                        </p:attrNameLst>
                                      </p:cBhvr>
                                      <p:to>
                                        <p:strVal val="visible"/>
                                      </p:to>
                                    </p:set>
                                    <p:anim calcmode="lin" valueType="num">
                                      <p:cBhvr additive="base">
                                        <p:cTn id="7" dur="500" fill="hold"/>
                                        <p:tgtEl>
                                          <p:spTgt spid="7178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1782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17827">
                                            <p:txEl>
                                              <p:pRg st="1" end="1"/>
                                            </p:txEl>
                                          </p:spTgt>
                                        </p:tgtEl>
                                        <p:attrNameLst>
                                          <p:attrName>style.visibility</p:attrName>
                                        </p:attrNameLst>
                                      </p:cBhvr>
                                      <p:to>
                                        <p:strVal val="visible"/>
                                      </p:to>
                                    </p:set>
                                    <p:anim calcmode="lin" valueType="num">
                                      <p:cBhvr additive="base">
                                        <p:cTn id="11" dur="500" fill="hold"/>
                                        <p:tgtEl>
                                          <p:spTgt spid="71782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1782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17827">
                                            <p:txEl>
                                              <p:pRg st="2" end="2"/>
                                            </p:txEl>
                                          </p:spTgt>
                                        </p:tgtEl>
                                        <p:attrNameLst>
                                          <p:attrName>style.visibility</p:attrName>
                                        </p:attrNameLst>
                                      </p:cBhvr>
                                      <p:to>
                                        <p:strVal val="visible"/>
                                      </p:to>
                                    </p:set>
                                    <p:anim calcmode="lin" valueType="num">
                                      <p:cBhvr additive="base">
                                        <p:cTn id="15" dur="500" fill="hold"/>
                                        <p:tgtEl>
                                          <p:spTgt spid="717827">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717827">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717827">
                                            <p:txEl>
                                              <p:pRg st="3" end="3"/>
                                            </p:txEl>
                                          </p:spTgt>
                                        </p:tgtEl>
                                        <p:attrNameLst>
                                          <p:attrName>style.visibility</p:attrName>
                                        </p:attrNameLst>
                                      </p:cBhvr>
                                      <p:to>
                                        <p:strVal val="visible"/>
                                      </p:to>
                                    </p:set>
                                    <p:anim calcmode="lin" valueType="num">
                                      <p:cBhvr additive="base">
                                        <p:cTn id="19" dur="500" fill="hold"/>
                                        <p:tgtEl>
                                          <p:spTgt spid="717827">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17827">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717827">
                                            <p:txEl>
                                              <p:pRg st="4" end="4"/>
                                            </p:txEl>
                                          </p:spTgt>
                                        </p:tgtEl>
                                        <p:attrNameLst>
                                          <p:attrName>style.visibility</p:attrName>
                                        </p:attrNameLst>
                                      </p:cBhvr>
                                      <p:to>
                                        <p:strVal val="visible"/>
                                      </p:to>
                                    </p:set>
                                    <p:anim calcmode="lin" valueType="num">
                                      <p:cBhvr additive="base">
                                        <p:cTn id="23" dur="500" fill="hold"/>
                                        <p:tgtEl>
                                          <p:spTgt spid="717827">
                                            <p:txEl>
                                              <p:pRg st="4" end="4"/>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71782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717827">
                                            <p:txEl>
                                              <p:pRg st="5" end="5"/>
                                            </p:txEl>
                                          </p:spTgt>
                                        </p:tgtEl>
                                        <p:attrNameLst>
                                          <p:attrName>style.visibility</p:attrName>
                                        </p:attrNameLst>
                                      </p:cBhvr>
                                      <p:to>
                                        <p:strVal val="visible"/>
                                      </p:to>
                                    </p:set>
                                    <p:anim calcmode="lin" valueType="num">
                                      <p:cBhvr additive="base">
                                        <p:cTn id="29" dur="500" fill="hold"/>
                                        <p:tgtEl>
                                          <p:spTgt spid="717827">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717827">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717827">
                                            <p:txEl>
                                              <p:pRg st="6" end="6"/>
                                            </p:txEl>
                                          </p:spTgt>
                                        </p:tgtEl>
                                        <p:attrNameLst>
                                          <p:attrName>style.visibility</p:attrName>
                                        </p:attrNameLst>
                                      </p:cBhvr>
                                      <p:to>
                                        <p:strVal val="visible"/>
                                      </p:to>
                                    </p:set>
                                    <p:anim calcmode="lin" valueType="num">
                                      <p:cBhvr additive="base">
                                        <p:cTn id="33" dur="500" fill="hold"/>
                                        <p:tgtEl>
                                          <p:spTgt spid="717827">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717827">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717827">
                                            <p:txEl>
                                              <p:pRg st="7" end="7"/>
                                            </p:txEl>
                                          </p:spTgt>
                                        </p:tgtEl>
                                        <p:attrNameLst>
                                          <p:attrName>style.visibility</p:attrName>
                                        </p:attrNameLst>
                                      </p:cBhvr>
                                      <p:to>
                                        <p:strVal val="visible"/>
                                      </p:to>
                                    </p:set>
                                    <p:anim calcmode="lin" valueType="num">
                                      <p:cBhvr additive="base">
                                        <p:cTn id="37" dur="500" fill="hold"/>
                                        <p:tgtEl>
                                          <p:spTgt spid="717827">
                                            <p:txEl>
                                              <p:pRg st="7" end="7"/>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1782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17827">
                                            <p:txEl>
                                              <p:pRg st="8" end="8"/>
                                            </p:txEl>
                                          </p:spTgt>
                                        </p:tgtEl>
                                        <p:attrNameLst>
                                          <p:attrName>style.visibility</p:attrName>
                                        </p:attrNameLst>
                                      </p:cBhvr>
                                      <p:to>
                                        <p:strVal val="visible"/>
                                      </p:to>
                                    </p:set>
                                    <p:anim calcmode="lin" valueType="num">
                                      <p:cBhvr additive="base">
                                        <p:cTn id="43" dur="500" fill="hold"/>
                                        <p:tgtEl>
                                          <p:spTgt spid="717827">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17827">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27"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8850" name="Rectangle 2"/>
          <p:cNvSpPr>
            <a:spLocks noGrp="1" noChangeArrowheads="1"/>
          </p:cNvSpPr>
          <p:nvPr>
            <p:ph type="title"/>
          </p:nvPr>
        </p:nvSpPr>
        <p:spPr/>
        <p:txBody>
          <a:bodyPr/>
          <a:lstStyle/>
          <a:p>
            <a:r>
              <a:rPr lang="en-US" altLang="zh-CN" dirty="0" smtClean="0"/>
              <a:t>Entry into Supervisor Mode</a:t>
            </a:r>
            <a:endParaRPr lang="en-US" altLang="zh-CN" dirty="0"/>
          </a:p>
        </p:txBody>
      </p:sp>
      <p:sp>
        <p:nvSpPr>
          <p:cNvPr id="718851" name="Rectangle 3"/>
          <p:cNvSpPr>
            <a:spLocks noGrp="1" noChangeArrowheads="1"/>
          </p:cNvSpPr>
          <p:nvPr>
            <p:ph type="body" idx="1"/>
          </p:nvPr>
        </p:nvSpPr>
        <p:spPr>
          <a:xfrm>
            <a:off x="551384" y="1556792"/>
            <a:ext cx="11449272" cy="5112568"/>
          </a:xfrm>
        </p:spPr>
        <p:txBody>
          <a:bodyPr/>
          <a:lstStyle/>
          <a:p>
            <a:r>
              <a:rPr lang="en-US" altLang="zh-CN" dirty="0" smtClean="0"/>
              <a:t>Entry into supervisor mode typically happens on interrupts, exceptions, and special trap instructions.</a:t>
            </a:r>
          </a:p>
          <a:p>
            <a:pPr lvl="1"/>
            <a:r>
              <a:rPr lang="en-US" altLang="zh-CN" dirty="0" smtClean="0"/>
              <a:t>Change to supervisor mode, then jump (indirectly) through table of instructions in kernel (interrupt vector table)</a:t>
            </a:r>
            <a:br>
              <a:rPr lang="en-US" altLang="zh-CN" dirty="0" smtClean="0"/>
            </a:br>
            <a:r>
              <a:rPr lang="en-US" altLang="zh-CN" dirty="0" smtClean="0"/>
              <a:t/>
            </a:r>
            <a:br>
              <a:rPr lang="en-US" altLang="zh-CN" dirty="0" smtClean="0"/>
            </a:br>
            <a:r>
              <a:rPr lang="en-US" altLang="zh-CN" dirty="0" smtClean="0"/>
              <a:t>	</a:t>
            </a:r>
          </a:p>
          <a:p>
            <a:pPr lvl="1"/>
            <a:r>
              <a:rPr lang="en-US" altLang="zh-CN" dirty="0" smtClean="0"/>
              <a:t>OS “System Calls” are just trap instructions:</a:t>
            </a:r>
            <a:br>
              <a:rPr lang="en-US" altLang="zh-CN" dirty="0" smtClean="0"/>
            </a:br>
            <a:r>
              <a:rPr lang="en-US" altLang="zh-CN" dirty="0" smtClean="0"/>
              <a:t>	read(</a:t>
            </a:r>
            <a:r>
              <a:rPr lang="en-US" altLang="zh-CN" dirty="0" err="1" smtClean="0"/>
              <a:t>fd,buffer,count</a:t>
            </a:r>
            <a:r>
              <a:rPr lang="en-US" altLang="zh-CN" dirty="0" smtClean="0"/>
              <a:t>)  =&gt;	</a:t>
            </a:r>
            <a:r>
              <a:rPr lang="en-US" altLang="zh-CN" dirty="0" err="1" smtClean="0"/>
              <a:t>st</a:t>
            </a:r>
            <a:r>
              <a:rPr lang="en-US" altLang="zh-CN" dirty="0" smtClean="0"/>
              <a:t> 	20(r0),r1</a:t>
            </a:r>
            <a:br>
              <a:rPr lang="en-US" altLang="zh-CN" dirty="0" smtClean="0"/>
            </a:br>
            <a:r>
              <a:rPr lang="en-US" altLang="zh-CN" dirty="0" smtClean="0"/>
              <a:t>					</a:t>
            </a:r>
            <a:r>
              <a:rPr lang="en-US" altLang="zh-CN" dirty="0" err="1" smtClean="0"/>
              <a:t>st</a:t>
            </a:r>
            <a:r>
              <a:rPr lang="en-US" altLang="zh-CN" dirty="0" smtClean="0"/>
              <a:t> 	24(r0),r2</a:t>
            </a:r>
            <a:br>
              <a:rPr lang="en-US" altLang="zh-CN" dirty="0" smtClean="0"/>
            </a:br>
            <a:r>
              <a:rPr lang="en-US" altLang="zh-CN" dirty="0" smtClean="0"/>
              <a:t>					</a:t>
            </a:r>
            <a:r>
              <a:rPr lang="en-US" altLang="zh-CN" dirty="0" err="1" smtClean="0"/>
              <a:t>st</a:t>
            </a:r>
            <a:r>
              <a:rPr lang="en-US" altLang="zh-CN" dirty="0" smtClean="0"/>
              <a:t> 	28(r0),r3</a:t>
            </a:r>
            <a:br>
              <a:rPr lang="en-US" altLang="zh-CN" dirty="0" smtClean="0"/>
            </a:br>
            <a:r>
              <a:rPr lang="en-US" altLang="zh-CN" dirty="0" smtClean="0"/>
              <a:t>					trap 	$READ</a:t>
            </a:r>
          </a:p>
          <a:p>
            <a:r>
              <a:rPr lang="en-US" altLang="zh-CN" dirty="0" smtClean="0"/>
              <a:t>OS overhead can be serious concern for achieving fast interrupt behavior.</a:t>
            </a:r>
            <a:endParaRPr lang="en-US" altLang="zh-CN" dirty="0"/>
          </a:p>
        </p:txBody>
      </p:sp>
      <p:sp>
        <p:nvSpPr>
          <p:cNvPr id="7" name="文本框 6"/>
          <p:cNvSpPr txBox="1"/>
          <p:nvPr/>
        </p:nvSpPr>
        <p:spPr>
          <a:xfrm>
            <a:off x="6632465" y="2924944"/>
            <a:ext cx="5559535" cy="2696123"/>
          </a:xfrm>
          <a:prstGeom prst="rect">
            <a:avLst/>
          </a:prstGeom>
          <a:noFill/>
        </p:spPr>
        <p:txBody>
          <a:bodyPr wrap="none" rtlCol="0">
            <a:spAutoFit/>
          </a:bodyPr>
          <a:lstStyle/>
          <a:p>
            <a:pPr marL="685800" lvl="1" indent="-228600" eaLnBrk="1" hangingPunct="1">
              <a:lnSpc>
                <a:spcPct val="90000"/>
              </a:lnSpc>
              <a:spcBef>
                <a:spcPts val="500"/>
              </a:spcBef>
              <a:buFont typeface="Arial" panose="020B0604020202020204" pitchFamily="34" charset="0"/>
              <a:buChar char="•"/>
            </a:pPr>
            <a:r>
              <a:rPr kumimoji="0" lang="en-US" altLang="zh-CN" sz="2400" dirty="0" err="1">
                <a:solidFill>
                  <a:srgbClr val="0070C0"/>
                </a:solidFill>
                <a:ea typeface="微软雅黑" panose="020B0503020204020204" pitchFamily="34" charset="-122"/>
                <a:cs typeface="Arial" panose="020B0604020202020204" pitchFamily="34" charset="0"/>
              </a:rPr>
              <a:t>intvec</a:t>
            </a:r>
            <a:r>
              <a:rPr kumimoji="0" lang="en-US" altLang="zh-CN" sz="2400" dirty="0">
                <a:solidFill>
                  <a:srgbClr val="0070C0"/>
                </a:solidFill>
                <a:ea typeface="微软雅黑" panose="020B0503020204020204" pitchFamily="34" charset="-122"/>
                <a:cs typeface="Arial" panose="020B0604020202020204" pitchFamily="34" charset="0"/>
              </a:rPr>
              <a:t>:  </a:t>
            </a:r>
            <a:r>
              <a:rPr kumimoji="0" lang="en-US" altLang="zh-CN" sz="2400" dirty="0" smtClean="0">
                <a:solidFill>
                  <a:srgbClr val="0070C0"/>
                </a:solidFill>
                <a:ea typeface="微软雅黑" panose="020B0503020204020204" pitchFamily="34" charset="-122"/>
                <a:cs typeface="Arial" panose="020B0604020202020204" pitchFamily="34" charset="0"/>
              </a:rPr>
              <a:t> j</a:t>
            </a:r>
            <a:r>
              <a:rPr kumimoji="0" lang="en-US" altLang="zh-CN" sz="2400" dirty="0">
                <a:solidFill>
                  <a:srgbClr val="0070C0"/>
                </a:solidFill>
                <a:ea typeface="微软雅黑" panose="020B0503020204020204" pitchFamily="34" charset="-122"/>
                <a:cs typeface="Arial" panose="020B0604020202020204" pitchFamily="34" charset="0"/>
              </a:rPr>
              <a:t>	handle_int0</a:t>
            </a:r>
            <a:br>
              <a:rPr kumimoji="0" lang="en-US" altLang="zh-CN" sz="2400" dirty="0">
                <a:solidFill>
                  <a:srgbClr val="0070C0"/>
                </a:solidFill>
                <a:ea typeface="微软雅黑" panose="020B0503020204020204" pitchFamily="34" charset="-122"/>
                <a:cs typeface="Arial" panose="020B0604020202020204" pitchFamily="34" charset="0"/>
              </a:rPr>
            </a:br>
            <a:r>
              <a:rPr kumimoji="0" lang="en-US" altLang="zh-CN" sz="2400" dirty="0">
                <a:solidFill>
                  <a:srgbClr val="0070C0"/>
                </a:solidFill>
                <a:ea typeface="微软雅黑" panose="020B0503020204020204" pitchFamily="34" charset="-122"/>
                <a:cs typeface="Arial" panose="020B0604020202020204" pitchFamily="34" charset="0"/>
              </a:rPr>
              <a:t>		j	handle_int1</a:t>
            </a:r>
            <a:br>
              <a:rPr kumimoji="0" lang="en-US" altLang="zh-CN" sz="2400" dirty="0">
                <a:solidFill>
                  <a:srgbClr val="0070C0"/>
                </a:solidFill>
                <a:ea typeface="微软雅黑" panose="020B0503020204020204" pitchFamily="34" charset="-122"/>
                <a:cs typeface="Arial" panose="020B0604020202020204" pitchFamily="34" charset="0"/>
              </a:rPr>
            </a:br>
            <a:r>
              <a:rPr kumimoji="0" lang="en-US" altLang="zh-CN" sz="2400" dirty="0">
                <a:solidFill>
                  <a:srgbClr val="0070C0"/>
                </a:solidFill>
                <a:ea typeface="微软雅黑" panose="020B0503020204020204" pitchFamily="34" charset="-122"/>
                <a:cs typeface="Arial" panose="020B0604020202020204" pitchFamily="34" charset="0"/>
              </a:rPr>
              <a:t>			…</a:t>
            </a:r>
            <a:br>
              <a:rPr kumimoji="0" lang="en-US" altLang="zh-CN" sz="2400" dirty="0">
                <a:solidFill>
                  <a:srgbClr val="0070C0"/>
                </a:solidFill>
                <a:ea typeface="微软雅黑" panose="020B0503020204020204" pitchFamily="34" charset="-122"/>
                <a:cs typeface="Arial" panose="020B0604020202020204" pitchFamily="34" charset="0"/>
              </a:rPr>
            </a:br>
            <a:r>
              <a:rPr kumimoji="0" lang="en-US" altLang="zh-CN" sz="2400" dirty="0">
                <a:solidFill>
                  <a:srgbClr val="0070C0"/>
                </a:solidFill>
                <a:ea typeface="微软雅黑" panose="020B0503020204020204" pitchFamily="34" charset="-122"/>
                <a:cs typeface="Arial" panose="020B0604020202020204" pitchFamily="34" charset="0"/>
              </a:rPr>
              <a:t>		j	handle_fp_except0</a:t>
            </a:r>
            <a:br>
              <a:rPr kumimoji="0" lang="en-US" altLang="zh-CN" sz="2400" dirty="0">
                <a:solidFill>
                  <a:srgbClr val="0070C0"/>
                </a:solidFill>
                <a:ea typeface="微软雅黑" panose="020B0503020204020204" pitchFamily="34" charset="-122"/>
                <a:cs typeface="Arial" panose="020B0604020202020204" pitchFamily="34" charset="0"/>
              </a:rPr>
            </a:br>
            <a:r>
              <a:rPr kumimoji="0" lang="en-US" altLang="zh-CN" sz="2400" dirty="0">
                <a:solidFill>
                  <a:srgbClr val="0070C0"/>
                </a:solidFill>
                <a:ea typeface="微软雅黑" panose="020B0503020204020204" pitchFamily="34" charset="-122"/>
                <a:cs typeface="Arial" panose="020B0604020202020204" pitchFamily="34" charset="0"/>
              </a:rPr>
              <a:t>			…</a:t>
            </a:r>
            <a:br>
              <a:rPr kumimoji="0" lang="en-US" altLang="zh-CN" sz="2400" dirty="0">
                <a:solidFill>
                  <a:srgbClr val="0070C0"/>
                </a:solidFill>
                <a:ea typeface="微软雅黑" panose="020B0503020204020204" pitchFamily="34" charset="-122"/>
                <a:cs typeface="Arial" panose="020B0604020202020204" pitchFamily="34" charset="0"/>
              </a:rPr>
            </a:br>
            <a:r>
              <a:rPr kumimoji="0" lang="en-US" altLang="zh-CN" sz="2400" dirty="0">
                <a:solidFill>
                  <a:srgbClr val="0070C0"/>
                </a:solidFill>
                <a:ea typeface="微软雅黑" panose="020B0503020204020204" pitchFamily="34" charset="-122"/>
                <a:cs typeface="Arial" panose="020B0604020202020204" pitchFamily="34" charset="0"/>
              </a:rPr>
              <a:t>		j	handle_trap0</a:t>
            </a:r>
            <a:br>
              <a:rPr kumimoji="0" lang="en-US" altLang="zh-CN" sz="2400" dirty="0">
                <a:solidFill>
                  <a:srgbClr val="0070C0"/>
                </a:solidFill>
                <a:ea typeface="微软雅黑" panose="020B0503020204020204" pitchFamily="34" charset="-122"/>
                <a:cs typeface="Arial" panose="020B0604020202020204" pitchFamily="34" charset="0"/>
              </a:rPr>
            </a:br>
            <a:r>
              <a:rPr kumimoji="0" lang="en-US" altLang="zh-CN" sz="2400" dirty="0">
                <a:solidFill>
                  <a:srgbClr val="0070C0"/>
                </a:solidFill>
                <a:ea typeface="微软雅黑" panose="020B0503020204020204" pitchFamily="34" charset="-122"/>
                <a:cs typeface="Arial" panose="020B0604020202020204" pitchFamily="34" charset="0"/>
              </a:rPr>
              <a:t>		j	handle_trap1</a:t>
            </a:r>
          </a:p>
          <a:p>
            <a:endParaRPr lang="zh-CN" altLang="en-US" dirty="0">
              <a:solidFill>
                <a:srgbClr val="0070C0"/>
              </a:solidFill>
            </a:endParaRPr>
          </a:p>
        </p:txBody>
      </p:sp>
    </p:spTree>
    <p:extLst>
      <p:ext uri="{BB962C8B-B14F-4D97-AF65-F5344CB8AC3E}">
        <p14:creationId xmlns:p14="http://schemas.microsoft.com/office/powerpoint/2010/main" val="916037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18851">
                                            <p:txEl>
                                              <p:pRg st="0" end="0"/>
                                            </p:txEl>
                                          </p:spTgt>
                                        </p:tgtEl>
                                        <p:attrNameLst>
                                          <p:attrName>style.visibility</p:attrName>
                                        </p:attrNameLst>
                                      </p:cBhvr>
                                      <p:to>
                                        <p:strVal val="visible"/>
                                      </p:to>
                                    </p:set>
                                    <p:anim calcmode="lin" valueType="num">
                                      <p:cBhvr additive="base">
                                        <p:cTn id="7" dur="500" fill="hold"/>
                                        <p:tgtEl>
                                          <p:spTgt spid="7188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1885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18851">
                                            <p:txEl>
                                              <p:pRg st="1" end="1"/>
                                            </p:txEl>
                                          </p:spTgt>
                                        </p:tgtEl>
                                        <p:attrNameLst>
                                          <p:attrName>style.visibility</p:attrName>
                                        </p:attrNameLst>
                                      </p:cBhvr>
                                      <p:to>
                                        <p:strVal val="visible"/>
                                      </p:to>
                                    </p:set>
                                    <p:anim calcmode="lin" valueType="num">
                                      <p:cBhvr additive="base">
                                        <p:cTn id="11" dur="500" fill="hold"/>
                                        <p:tgtEl>
                                          <p:spTgt spid="71885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1885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18851">
                                            <p:txEl>
                                              <p:pRg st="2" end="2"/>
                                            </p:txEl>
                                          </p:spTgt>
                                        </p:tgtEl>
                                        <p:attrNameLst>
                                          <p:attrName>style.visibility</p:attrName>
                                        </p:attrNameLst>
                                      </p:cBhvr>
                                      <p:to>
                                        <p:strVal val="visible"/>
                                      </p:to>
                                    </p:set>
                                    <p:anim calcmode="lin" valueType="num">
                                      <p:cBhvr additive="base">
                                        <p:cTn id="15" dur="500" fill="hold"/>
                                        <p:tgtEl>
                                          <p:spTgt spid="71885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71885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718851">
                                            <p:txEl>
                                              <p:pRg st="3" end="3"/>
                                            </p:txEl>
                                          </p:spTgt>
                                        </p:tgtEl>
                                        <p:attrNameLst>
                                          <p:attrName>style.visibility</p:attrName>
                                        </p:attrNameLst>
                                      </p:cBhvr>
                                      <p:to>
                                        <p:strVal val="visible"/>
                                      </p:to>
                                    </p:set>
                                    <p:anim calcmode="lin" valueType="num">
                                      <p:cBhvr additive="base">
                                        <p:cTn id="21" dur="500" fill="hold"/>
                                        <p:tgtEl>
                                          <p:spTgt spid="718851">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71885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8851" grpId="0" build="p"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2946" name="Rectangle 2"/>
          <p:cNvSpPr>
            <a:spLocks noGrp="1" noChangeArrowheads="1"/>
          </p:cNvSpPr>
          <p:nvPr>
            <p:ph type="title"/>
          </p:nvPr>
        </p:nvSpPr>
        <p:spPr/>
        <p:txBody>
          <a:bodyPr/>
          <a:lstStyle/>
          <a:p>
            <a:r>
              <a:rPr lang="en-US" altLang="zh-CN" smtClean="0"/>
              <a:t>Precise Interrupts/Exceptions</a:t>
            </a:r>
            <a:endParaRPr lang="en-US" altLang="zh-CN"/>
          </a:p>
        </p:txBody>
      </p:sp>
      <p:sp>
        <p:nvSpPr>
          <p:cNvPr id="722947" name="Rectangle 3"/>
          <p:cNvSpPr>
            <a:spLocks noGrp="1" noChangeArrowheads="1"/>
          </p:cNvSpPr>
          <p:nvPr>
            <p:ph type="body" idx="1"/>
          </p:nvPr>
        </p:nvSpPr>
        <p:spPr/>
        <p:txBody>
          <a:bodyPr/>
          <a:lstStyle/>
          <a:p>
            <a:r>
              <a:rPr lang="en-US" altLang="zh-CN" dirty="0" smtClean="0"/>
              <a:t>An interrupt or exception is considered precise if there is a single instruction (or interrupt point) for which:</a:t>
            </a:r>
          </a:p>
          <a:p>
            <a:pPr lvl="1"/>
            <a:r>
              <a:rPr lang="en-US" altLang="zh-CN" dirty="0" smtClean="0"/>
              <a:t>All instructions before that have committed their state</a:t>
            </a:r>
          </a:p>
          <a:p>
            <a:pPr lvl="1"/>
            <a:r>
              <a:rPr lang="en-US" altLang="zh-CN" dirty="0" smtClean="0"/>
              <a:t>No following instructions (including the interrupting instruction) have modified any state.</a:t>
            </a:r>
          </a:p>
          <a:p>
            <a:r>
              <a:rPr lang="en-US" altLang="zh-CN" dirty="0" smtClean="0"/>
              <a:t>This means, that you can restart execution at the interrupt point and “get the right answer”</a:t>
            </a:r>
          </a:p>
          <a:p>
            <a:pPr lvl="1"/>
            <a:r>
              <a:rPr lang="en-US" altLang="zh-CN" dirty="0" smtClean="0"/>
              <a:t>Implicit in our previous example of a device interrupt:</a:t>
            </a:r>
          </a:p>
          <a:p>
            <a:pPr lvl="2"/>
            <a:r>
              <a:rPr lang="en-US" altLang="zh-CN" dirty="0" smtClean="0"/>
              <a:t>Interrupt point is at first </a:t>
            </a:r>
            <a:r>
              <a:rPr lang="en-US" altLang="zh-CN" dirty="0" err="1" smtClean="0">
                <a:solidFill>
                  <a:srgbClr val="FF0000"/>
                </a:solidFill>
              </a:rPr>
              <a:t>lw</a:t>
            </a:r>
            <a:r>
              <a:rPr lang="en-US" altLang="zh-CN" dirty="0" smtClean="0"/>
              <a:t> instruction</a:t>
            </a:r>
          </a:p>
          <a:p>
            <a:r>
              <a:rPr lang="en-US" altLang="zh-CN" dirty="0" smtClean="0"/>
              <a:t>Precise interrupt is easy for</a:t>
            </a:r>
            <a:br>
              <a:rPr lang="en-US" altLang="zh-CN" dirty="0" smtClean="0"/>
            </a:br>
            <a:r>
              <a:rPr lang="en-US" altLang="zh-CN" dirty="0" smtClean="0"/>
              <a:t>computers without pipeline</a:t>
            </a:r>
            <a:endParaRPr lang="en-US" altLang="zh-CN" dirty="0"/>
          </a:p>
        </p:txBody>
      </p:sp>
      <p:grpSp>
        <p:nvGrpSpPr>
          <p:cNvPr id="722948" name="Group 4"/>
          <p:cNvGrpSpPr>
            <a:grpSpLocks/>
          </p:cNvGrpSpPr>
          <p:nvPr/>
        </p:nvGrpSpPr>
        <p:grpSpPr bwMode="auto">
          <a:xfrm>
            <a:off x="6816080" y="4449017"/>
            <a:ext cx="5167312" cy="2292351"/>
            <a:chOff x="1200" y="2715"/>
            <a:chExt cx="3255" cy="1444"/>
          </a:xfrm>
        </p:grpSpPr>
        <p:sp>
          <p:nvSpPr>
            <p:cNvPr id="722949" name="Text Box 5"/>
            <p:cNvSpPr txBox="1">
              <a:spLocks noChangeArrowheads="1"/>
            </p:cNvSpPr>
            <p:nvPr/>
          </p:nvSpPr>
          <p:spPr bwMode="auto">
            <a:xfrm>
              <a:off x="1618" y="2924"/>
              <a:ext cx="1525" cy="123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lnSpc>
                  <a:spcPct val="50000"/>
                </a:lnSpc>
                <a:spcBef>
                  <a:spcPct val="0"/>
                </a:spcBef>
              </a:pPr>
              <a:r>
                <a:rPr lang="en-US" altLang="zh-CN" sz="1200" dirty="0">
                  <a:latin typeface="Courier New" panose="02070309020205020404" pitchFamily="49" charset="0"/>
                  <a:sym typeface="Symbol" panose="05050102010706020507" pitchFamily="18" charset="2"/>
                </a:rPr>
                <a:t></a:t>
              </a:r>
              <a:endParaRPr lang="en-US" altLang="zh-CN" sz="1200" dirty="0">
                <a:latin typeface="Courier New" panose="02070309020205020404" pitchFamily="49" charset="0"/>
              </a:endParaRPr>
            </a:p>
            <a:p>
              <a:pPr>
                <a:spcBef>
                  <a:spcPct val="0"/>
                </a:spcBef>
              </a:pPr>
              <a:r>
                <a:rPr lang="en-US" altLang="zh-CN" sz="1200" dirty="0">
                  <a:latin typeface="Courier New" panose="02070309020205020404" pitchFamily="49" charset="0"/>
                </a:rPr>
                <a:t>add 	r1,r2,r3</a:t>
              </a:r>
            </a:p>
            <a:p>
              <a:pPr>
                <a:spcBef>
                  <a:spcPct val="0"/>
                </a:spcBef>
              </a:pPr>
              <a:r>
                <a:rPr lang="en-US" altLang="zh-CN" sz="1200" dirty="0" err="1">
                  <a:latin typeface="Courier New" panose="02070309020205020404" pitchFamily="49" charset="0"/>
                </a:rPr>
                <a:t>subi</a:t>
              </a:r>
              <a:r>
                <a:rPr lang="en-US" altLang="zh-CN" sz="1200" dirty="0">
                  <a:latin typeface="Courier New" panose="02070309020205020404" pitchFamily="49" charset="0"/>
                </a:rPr>
                <a:t> 	r4,r1,#4</a:t>
              </a:r>
            </a:p>
            <a:p>
              <a:pPr>
                <a:spcBef>
                  <a:spcPct val="0"/>
                </a:spcBef>
              </a:pPr>
              <a:r>
                <a:rPr lang="en-US" altLang="zh-CN" sz="1200" dirty="0" err="1">
                  <a:latin typeface="Courier New" panose="02070309020205020404" pitchFamily="49" charset="0"/>
                </a:rPr>
                <a:t>slli</a:t>
              </a:r>
              <a:r>
                <a:rPr lang="en-US" altLang="zh-CN" sz="1200" dirty="0">
                  <a:latin typeface="Courier New" panose="02070309020205020404" pitchFamily="49" charset="0"/>
                </a:rPr>
                <a:t> 	r4,r4,#2</a:t>
              </a:r>
            </a:p>
            <a:p>
              <a:pPr>
                <a:lnSpc>
                  <a:spcPct val="150000"/>
                </a:lnSpc>
                <a:spcBef>
                  <a:spcPct val="0"/>
                </a:spcBef>
              </a:pPr>
              <a:endParaRPr lang="en-US" altLang="zh-CN" sz="1200" dirty="0">
                <a:latin typeface="Courier New" panose="02070309020205020404" pitchFamily="49" charset="0"/>
              </a:endParaRPr>
            </a:p>
            <a:p>
              <a:pPr>
                <a:lnSpc>
                  <a:spcPct val="150000"/>
                </a:lnSpc>
                <a:spcBef>
                  <a:spcPct val="0"/>
                </a:spcBef>
              </a:pPr>
              <a:r>
                <a:rPr lang="en-US" altLang="zh-CN" sz="1200" dirty="0" err="1">
                  <a:solidFill>
                    <a:srgbClr val="FF0000"/>
                  </a:solidFill>
                  <a:latin typeface="Courier New" panose="02070309020205020404" pitchFamily="49" charset="0"/>
                </a:rPr>
                <a:t>lw</a:t>
              </a:r>
              <a:r>
                <a:rPr lang="en-US" altLang="zh-CN" sz="1200" dirty="0">
                  <a:solidFill>
                    <a:srgbClr val="FF0000"/>
                  </a:solidFill>
                  <a:latin typeface="Courier New" panose="02070309020205020404" pitchFamily="49" charset="0"/>
                </a:rPr>
                <a:t>	r2,0(r4)</a:t>
              </a:r>
            </a:p>
            <a:p>
              <a:pPr>
                <a:spcBef>
                  <a:spcPct val="0"/>
                </a:spcBef>
              </a:pPr>
              <a:r>
                <a:rPr lang="en-US" altLang="zh-CN" sz="1200" dirty="0" err="1">
                  <a:latin typeface="Courier New" panose="02070309020205020404" pitchFamily="49" charset="0"/>
                </a:rPr>
                <a:t>lw</a:t>
              </a:r>
              <a:r>
                <a:rPr lang="en-US" altLang="zh-CN" sz="1200" dirty="0">
                  <a:latin typeface="Courier New" panose="02070309020205020404" pitchFamily="49" charset="0"/>
                </a:rPr>
                <a:t>	r3,4(r4)</a:t>
              </a:r>
            </a:p>
            <a:p>
              <a:pPr>
                <a:spcBef>
                  <a:spcPct val="0"/>
                </a:spcBef>
              </a:pPr>
              <a:r>
                <a:rPr lang="en-US" altLang="zh-CN" sz="1200" dirty="0">
                  <a:latin typeface="Courier New" panose="02070309020205020404" pitchFamily="49" charset="0"/>
                </a:rPr>
                <a:t>add	r2,r2,r3</a:t>
              </a:r>
            </a:p>
            <a:p>
              <a:pPr>
                <a:spcBef>
                  <a:spcPct val="0"/>
                </a:spcBef>
              </a:pPr>
              <a:r>
                <a:rPr lang="en-US" altLang="zh-CN" sz="1200" dirty="0" err="1">
                  <a:latin typeface="Courier New" panose="02070309020205020404" pitchFamily="49" charset="0"/>
                </a:rPr>
                <a:t>sw</a:t>
              </a:r>
              <a:r>
                <a:rPr lang="en-US" altLang="zh-CN" sz="1200" dirty="0">
                  <a:latin typeface="Courier New" panose="02070309020205020404" pitchFamily="49" charset="0"/>
                </a:rPr>
                <a:t>	8(r4),r2</a:t>
              </a:r>
            </a:p>
            <a:p>
              <a:pPr algn="ctr">
                <a:lnSpc>
                  <a:spcPct val="50000"/>
                </a:lnSpc>
                <a:spcBef>
                  <a:spcPct val="0"/>
                </a:spcBef>
              </a:pPr>
              <a:r>
                <a:rPr lang="en-US" altLang="zh-CN" sz="1200" dirty="0">
                  <a:latin typeface="Courier New" panose="02070309020205020404" pitchFamily="49" charset="0"/>
                  <a:sym typeface="Symbol" panose="05050102010706020507" pitchFamily="18" charset="2"/>
                </a:rPr>
                <a:t></a:t>
              </a:r>
              <a:endParaRPr lang="en-US" altLang="zh-CN" sz="1200" dirty="0">
                <a:latin typeface="Courier New" panose="02070309020205020404" pitchFamily="49" charset="0"/>
              </a:endParaRPr>
            </a:p>
          </p:txBody>
        </p:sp>
        <p:sp>
          <p:nvSpPr>
            <p:cNvPr id="722950" name="AutoShape 6"/>
            <p:cNvSpPr>
              <a:spLocks noChangeArrowheads="1"/>
            </p:cNvSpPr>
            <p:nvPr/>
          </p:nvSpPr>
          <p:spPr bwMode="auto">
            <a:xfrm>
              <a:off x="1375" y="3269"/>
              <a:ext cx="289" cy="360"/>
            </a:xfrm>
            <a:prstGeom prst="rightArrow">
              <a:avLst>
                <a:gd name="adj1" fmla="val 37500"/>
                <a:gd name="adj2" fmla="val 59333"/>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51" name="Text Box 7"/>
            <p:cNvSpPr txBox="1">
              <a:spLocks noChangeArrowheads="1"/>
            </p:cNvSpPr>
            <p:nvPr/>
          </p:nvSpPr>
          <p:spPr bwMode="auto">
            <a:xfrm rot="-5400000">
              <a:off x="734" y="3330"/>
              <a:ext cx="1124" cy="1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1400" dirty="0">
                  <a:solidFill>
                    <a:srgbClr val="FF0000"/>
                  </a:solidFill>
                  <a:latin typeface="Comic Sans MS" panose="030F0702030302020204" pitchFamily="66" charset="0"/>
                </a:rPr>
                <a:t>External</a:t>
              </a:r>
              <a:r>
                <a:rPr lang="en-US" altLang="zh-CN" sz="1000" dirty="0">
                  <a:solidFill>
                    <a:srgbClr val="FF0000"/>
                  </a:solidFill>
                  <a:latin typeface="Comic Sans MS" panose="030F0702030302020204" pitchFamily="66" charset="0"/>
                </a:rPr>
                <a:t> </a:t>
              </a:r>
              <a:r>
                <a:rPr lang="en-US" altLang="zh-CN" sz="1400" dirty="0">
                  <a:solidFill>
                    <a:srgbClr val="FF0000"/>
                  </a:solidFill>
                  <a:latin typeface="Comic Sans MS" panose="030F0702030302020204" pitchFamily="66" charset="0"/>
                </a:rPr>
                <a:t>Interrupt</a:t>
              </a:r>
              <a:endParaRPr lang="en-US" altLang="zh-CN" sz="1000" dirty="0">
                <a:solidFill>
                  <a:srgbClr val="FF0000"/>
                </a:solidFill>
                <a:latin typeface="Comic Sans MS" panose="030F0702030302020204" pitchFamily="66" charset="0"/>
              </a:endParaRPr>
            </a:p>
          </p:txBody>
        </p:sp>
        <p:grpSp>
          <p:nvGrpSpPr>
            <p:cNvPr id="722952" name="Group 8"/>
            <p:cNvGrpSpPr>
              <a:grpSpLocks/>
            </p:cNvGrpSpPr>
            <p:nvPr/>
          </p:nvGrpSpPr>
          <p:grpSpPr bwMode="auto">
            <a:xfrm rot="517731">
              <a:off x="2577" y="2715"/>
              <a:ext cx="1491" cy="543"/>
              <a:chOff x="3645" y="2317"/>
              <a:chExt cx="1414" cy="762"/>
            </a:xfrm>
          </p:grpSpPr>
          <p:sp>
            <p:nvSpPr>
              <p:cNvPr id="722953" name="Line 9"/>
              <p:cNvSpPr>
                <a:spLocks noChangeShapeType="1"/>
              </p:cNvSpPr>
              <p:nvPr/>
            </p:nvSpPr>
            <p:spPr bwMode="auto">
              <a:xfrm rot="-2286349">
                <a:off x="3645" y="2752"/>
                <a:ext cx="1414" cy="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54" name="Text Box 10"/>
              <p:cNvSpPr txBox="1">
                <a:spLocks noChangeArrowheads="1"/>
              </p:cNvSpPr>
              <p:nvPr/>
            </p:nvSpPr>
            <p:spPr bwMode="auto">
              <a:xfrm rot="19313651">
                <a:off x="3734" y="2317"/>
                <a:ext cx="1109" cy="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1400" dirty="0">
                    <a:solidFill>
                      <a:srgbClr val="FF0000"/>
                    </a:solidFill>
                    <a:latin typeface="Comic Sans MS" panose="030F0702030302020204" pitchFamily="66" charset="0"/>
                  </a:rPr>
                  <a:t>PC saved</a:t>
                </a:r>
              </a:p>
              <a:p>
                <a:pPr algn="ctr">
                  <a:spcBef>
                    <a:spcPct val="0"/>
                  </a:spcBef>
                </a:pPr>
                <a:r>
                  <a:rPr lang="en-US" altLang="zh-CN" sz="1400" dirty="0">
                    <a:solidFill>
                      <a:srgbClr val="FF0000"/>
                    </a:solidFill>
                    <a:latin typeface="Comic Sans MS" panose="030F0702030302020204" pitchFamily="66" charset="0"/>
                  </a:rPr>
                  <a:t>Disable </a:t>
                </a:r>
                <a:r>
                  <a:rPr lang="en-US" altLang="zh-CN" b="0" dirty="0">
                    <a:solidFill>
                      <a:srgbClr val="FF0000"/>
                    </a:solidFill>
                    <a:latin typeface="Comic Sans MS" panose="030F0702030302020204" pitchFamily="66" charset="0"/>
                    <a:ea typeface="宋体" panose="02010600030101010101" pitchFamily="2" charset="-122"/>
                  </a:rPr>
                  <a:t>All </a:t>
                </a:r>
                <a:r>
                  <a:rPr lang="en-US" altLang="zh-CN" b="0" dirty="0" err="1">
                    <a:solidFill>
                      <a:srgbClr val="FF0000"/>
                    </a:solidFill>
                    <a:latin typeface="Comic Sans MS" panose="030F0702030302020204" pitchFamily="66" charset="0"/>
                    <a:ea typeface="宋体" panose="02010600030101010101" pitchFamily="2" charset="-122"/>
                  </a:rPr>
                  <a:t>Ints</a:t>
                </a:r>
                <a:endParaRPr lang="en-US" altLang="zh-CN" b="0" dirty="0">
                  <a:solidFill>
                    <a:srgbClr val="FF0000"/>
                  </a:solidFill>
                  <a:latin typeface="Comic Sans MS" panose="030F0702030302020204" pitchFamily="66" charset="0"/>
                  <a:ea typeface="宋体" panose="02010600030101010101" pitchFamily="2" charset="-122"/>
                </a:endParaRPr>
              </a:p>
              <a:p>
                <a:pPr algn="ctr">
                  <a:spcBef>
                    <a:spcPct val="0"/>
                  </a:spcBef>
                </a:pPr>
                <a:r>
                  <a:rPr lang="en-US" altLang="zh-CN" b="0" dirty="0">
                    <a:solidFill>
                      <a:srgbClr val="FF0000"/>
                    </a:solidFill>
                    <a:latin typeface="Comic Sans MS" panose="030F0702030302020204" pitchFamily="66" charset="0"/>
                    <a:ea typeface="宋体" panose="02010600030101010101" pitchFamily="2" charset="-122"/>
                  </a:rPr>
                  <a:t>Supervisor</a:t>
                </a:r>
                <a:r>
                  <a:rPr lang="en-US" altLang="zh-CN" sz="1400" dirty="0">
                    <a:solidFill>
                      <a:srgbClr val="FF0000"/>
                    </a:solidFill>
                    <a:latin typeface="Comic Sans MS" panose="030F0702030302020204" pitchFamily="66" charset="0"/>
                  </a:rPr>
                  <a:t> Mode</a:t>
                </a:r>
              </a:p>
            </p:txBody>
          </p:sp>
        </p:grpSp>
        <p:grpSp>
          <p:nvGrpSpPr>
            <p:cNvPr id="722955" name="Group 11"/>
            <p:cNvGrpSpPr>
              <a:grpSpLocks/>
            </p:cNvGrpSpPr>
            <p:nvPr/>
          </p:nvGrpSpPr>
          <p:grpSpPr bwMode="auto">
            <a:xfrm rot="-886370">
              <a:off x="2592" y="3694"/>
              <a:ext cx="1456" cy="330"/>
              <a:chOff x="3616" y="3619"/>
              <a:chExt cx="1456" cy="330"/>
            </a:xfrm>
          </p:grpSpPr>
          <p:sp>
            <p:nvSpPr>
              <p:cNvPr id="722956" name="Line 12"/>
              <p:cNvSpPr>
                <a:spLocks noChangeShapeType="1"/>
              </p:cNvSpPr>
              <p:nvPr/>
            </p:nvSpPr>
            <p:spPr bwMode="auto">
              <a:xfrm rot="2461539" flipH="1">
                <a:off x="3616" y="3790"/>
                <a:ext cx="1456" cy="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57" name="Text Box 13"/>
              <p:cNvSpPr txBox="1">
                <a:spLocks noChangeArrowheads="1"/>
              </p:cNvSpPr>
              <p:nvPr/>
            </p:nvSpPr>
            <p:spPr bwMode="auto">
              <a:xfrm rot="2461539">
                <a:off x="3981" y="3619"/>
                <a:ext cx="693" cy="3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1400">
                    <a:solidFill>
                      <a:srgbClr val="FF0000"/>
                    </a:solidFill>
                    <a:latin typeface="Comic Sans MS" panose="030F0702030302020204" pitchFamily="66" charset="0"/>
                  </a:rPr>
                  <a:t>Restore PC</a:t>
                </a:r>
              </a:p>
              <a:p>
                <a:pPr algn="ctr">
                  <a:spcBef>
                    <a:spcPct val="0"/>
                  </a:spcBef>
                </a:pPr>
                <a:r>
                  <a:rPr lang="en-US" altLang="zh-CN" sz="1400">
                    <a:solidFill>
                      <a:srgbClr val="FF0000"/>
                    </a:solidFill>
                    <a:latin typeface="Comic Sans MS" panose="030F0702030302020204" pitchFamily="66" charset="0"/>
                  </a:rPr>
                  <a:t>User Mode</a:t>
                </a:r>
              </a:p>
            </p:txBody>
          </p:sp>
        </p:grpSp>
        <p:sp>
          <p:nvSpPr>
            <p:cNvPr id="722958" name="AutoShape 14"/>
            <p:cNvSpPr>
              <a:spLocks/>
            </p:cNvSpPr>
            <p:nvPr/>
          </p:nvSpPr>
          <p:spPr bwMode="auto">
            <a:xfrm>
              <a:off x="3936" y="2832"/>
              <a:ext cx="240" cy="1200"/>
            </a:xfrm>
            <a:prstGeom prst="rightBrace">
              <a:avLst>
                <a:gd name="adj1" fmla="val 41667"/>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2959" name="Text Box 15"/>
            <p:cNvSpPr txBox="1">
              <a:spLocks noChangeArrowheads="1"/>
            </p:cNvSpPr>
            <p:nvPr/>
          </p:nvSpPr>
          <p:spPr bwMode="auto">
            <a:xfrm rot="5400000">
              <a:off x="3897" y="3351"/>
              <a:ext cx="885"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0"/>
                </a:spcBef>
              </a:pPr>
              <a:r>
                <a:rPr lang="en-US" altLang="zh-CN">
                  <a:latin typeface="Comic Sans MS" panose="030F0702030302020204" pitchFamily="66" charset="0"/>
                </a:rPr>
                <a:t>Int handler</a:t>
              </a:r>
            </a:p>
          </p:txBody>
        </p:sp>
      </p:grpSp>
    </p:spTree>
    <p:extLst>
      <p:ext uri="{BB962C8B-B14F-4D97-AF65-F5344CB8AC3E}">
        <p14:creationId xmlns:p14="http://schemas.microsoft.com/office/powerpoint/2010/main" val="23233203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22947">
                                            <p:txEl>
                                              <p:pRg st="0" end="0"/>
                                            </p:txEl>
                                          </p:spTgt>
                                        </p:tgtEl>
                                        <p:attrNameLst>
                                          <p:attrName>style.visibility</p:attrName>
                                        </p:attrNameLst>
                                      </p:cBhvr>
                                      <p:to>
                                        <p:strVal val="visible"/>
                                      </p:to>
                                    </p:set>
                                    <p:anim calcmode="lin" valueType="num">
                                      <p:cBhvr additive="base">
                                        <p:cTn id="7" dur="500" fill="hold"/>
                                        <p:tgtEl>
                                          <p:spTgt spid="7229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2294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22947">
                                            <p:txEl>
                                              <p:pRg st="1" end="1"/>
                                            </p:txEl>
                                          </p:spTgt>
                                        </p:tgtEl>
                                        <p:attrNameLst>
                                          <p:attrName>style.visibility</p:attrName>
                                        </p:attrNameLst>
                                      </p:cBhvr>
                                      <p:to>
                                        <p:strVal val="visible"/>
                                      </p:to>
                                    </p:set>
                                    <p:anim calcmode="lin" valueType="num">
                                      <p:cBhvr additive="base">
                                        <p:cTn id="11" dur="500" fill="hold"/>
                                        <p:tgtEl>
                                          <p:spTgt spid="72294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22947">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22947">
                                            <p:txEl>
                                              <p:pRg st="2" end="2"/>
                                            </p:txEl>
                                          </p:spTgt>
                                        </p:tgtEl>
                                        <p:attrNameLst>
                                          <p:attrName>style.visibility</p:attrName>
                                        </p:attrNameLst>
                                      </p:cBhvr>
                                      <p:to>
                                        <p:strVal val="visible"/>
                                      </p:to>
                                    </p:set>
                                    <p:anim calcmode="lin" valueType="num">
                                      <p:cBhvr additive="base">
                                        <p:cTn id="15" dur="500" fill="hold"/>
                                        <p:tgtEl>
                                          <p:spTgt spid="722947">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72294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722947">
                                            <p:txEl>
                                              <p:pRg st="3" end="3"/>
                                            </p:txEl>
                                          </p:spTgt>
                                        </p:tgtEl>
                                        <p:attrNameLst>
                                          <p:attrName>style.visibility</p:attrName>
                                        </p:attrNameLst>
                                      </p:cBhvr>
                                      <p:to>
                                        <p:strVal val="visible"/>
                                      </p:to>
                                    </p:set>
                                    <p:anim calcmode="lin" valueType="num">
                                      <p:cBhvr additive="base">
                                        <p:cTn id="21" dur="500" fill="hold"/>
                                        <p:tgtEl>
                                          <p:spTgt spid="72294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722947">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722947">
                                            <p:txEl>
                                              <p:pRg st="4" end="4"/>
                                            </p:txEl>
                                          </p:spTgt>
                                        </p:tgtEl>
                                        <p:attrNameLst>
                                          <p:attrName>style.visibility</p:attrName>
                                        </p:attrNameLst>
                                      </p:cBhvr>
                                      <p:to>
                                        <p:strVal val="visible"/>
                                      </p:to>
                                    </p:set>
                                    <p:anim calcmode="lin" valueType="num">
                                      <p:cBhvr additive="base">
                                        <p:cTn id="25" dur="500" fill="hold"/>
                                        <p:tgtEl>
                                          <p:spTgt spid="722947">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22947">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722947">
                                            <p:txEl>
                                              <p:pRg st="5" end="5"/>
                                            </p:txEl>
                                          </p:spTgt>
                                        </p:tgtEl>
                                        <p:attrNameLst>
                                          <p:attrName>style.visibility</p:attrName>
                                        </p:attrNameLst>
                                      </p:cBhvr>
                                      <p:to>
                                        <p:strVal val="visible"/>
                                      </p:to>
                                    </p:set>
                                    <p:anim calcmode="lin" valueType="num">
                                      <p:cBhvr additive="base">
                                        <p:cTn id="29" dur="500" fill="hold"/>
                                        <p:tgtEl>
                                          <p:spTgt spid="722947">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72294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722947">
                                            <p:txEl>
                                              <p:pRg st="6" end="6"/>
                                            </p:txEl>
                                          </p:spTgt>
                                        </p:tgtEl>
                                        <p:attrNameLst>
                                          <p:attrName>style.visibility</p:attrName>
                                        </p:attrNameLst>
                                      </p:cBhvr>
                                      <p:to>
                                        <p:strVal val="visible"/>
                                      </p:to>
                                    </p:set>
                                    <p:anim calcmode="lin" valueType="num">
                                      <p:cBhvr additive="base">
                                        <p:cTn id="35" dur="500" fill="hold"/>
                                        <p:tgtEl>
                                          <p:spTgt spid="722947">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72294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528" fill="hold" nodeType="clickEffect">
                                  <p:stCondLst>
                                    <p:cond delay="0"/>
                                  </p:stCondLst>
                                  <p:childTnLst>
                                    <p:set>
                                      <p:cBhvr>
                                        <p:cTn id="40" dur="1" fill="hold">
                                          <p:stCondLst>
                                            <p:cond delay="0"/>
                                          </p:stCondLst>
                                        </p:cTn>
                                        <p:tgtEl>
                                          <p:spTgt spid="722948"/>
                                        </p:tgtEl>
                                        <p:attrNameLst>
                                          <p:attrName>style.visibility</p:attrName>
                                        </p:attrNameLst>
                                      </p:cBhvr>
                                      <p:to>
                                        <p:strVal val="visible"/>
                                      </p:to>
                                    </p:set>
                                    <p:anim calcmode="lin" valueType="num">
                                      <p:cBhvr>
                                        <p:cTn id="41" dur="500" fill="hold"/>
                                        <p:tgtEl>
                                          <p:spTgt spid="722948"/>
                                        </p:tgtEl>
                                        <p:attrNameLst>
                                          <p:attrName>ppt_w</p:attrName>
                                        </p:attrNameLst>
                                      </p:cBhvr>
                                      <p:tavLst>
                                        <p:tav tm="0">
                                          <p:val>
                                            <p:fltVal val="0"/>
                                          </p:val>
                                        </p:tav>
                                        <p:tav tm="100000">
                                          <p:val>
                                            <p:strVal val="#ppt_w"/>
                                          </p:val>
                                        </p:tav>
                                      </p:tavLst>
                                    </p:anim>
                                    <p:anim calcmode="lin" valueType="num">
                                      <p:cBhvr>
                                        <p:cTn id="42" dur="500" fill="hold"/>
                                        <p:tgtEl>
                                          <p:spTgt spid="722948"/>
                                        </p:tgtEl>
                                        <p:attrNameLst>
                                          <p:attrName>ppt_h</p:attrName>
                                        </p:attrNameLst>
                                      </p:cBhvr>
                                      <p:tavLst>
                                        <p:tav tm="0">
                                          <p:val>
                                            <p:fltVal val="0"/>
                                          </p:val>
                                        </p:tav>
                                        <p:tav tm="100000">
                                          <p:val>
                                            <p:strVal val="#ppt_h"/>
                                          </p:val>
                                        </p:tav>
                                      </p:tavLst>
                                    </p:anim>
                                    <p:anim calcmode="lin" valueType="num">
                                      <p:cBhvr>
                                        <p:cTn id="43" dur="500" fill="hold"/>
                                        <p:tgtEl>
                                          <p:spTgt spid="722948"/>
                                        </p:tgtEl>
                                        <p:attrNameLst>
                                          <p:attrName>ppt_x</p:attrName>
                                        </p:attrNameLst>
                                      </p:cBhvr>
                                      <p:tavLst>
                                        <p:tav tm="0">
                                          <p:val>
                                            <p:fltVal val="0.5"/>
                                          </p:val>
                                        </p:tav>
                                        <p:tav tm="100000">
                                          <p:val>
                                            <p:strVal val="#ppt_x"/>
                                          </p:val>
                                        </p:tav>
                                      </p:tavLst>
                                    </p:anim>
                                    <p:anim calcmode="lin" valueType="num">
                                      <p:cBhvr>
                                        <p:cTn id="44" dur="500" fill="hold"/>
                                        <p:tgtEl>
                                          <p:spTgt spid="722948"/>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947"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0" name="Rectangle 2"/>
          <p:cNvSpPr>
            <a:spLocks noGrp="1" noChangeArrowheads="1"/>
          </p:cNvSpPr>
          <p:nvPr>
            <p:ph type="title"/>
          </p:nvPr>
        </p:nvSpPr>
        <p:spPr>
          <a:xfrm>
            <a:off x="582650" y="197465"/>
            <a:ext cx="10625918" cy="1143000"/>
          </a:xfrm>
        </p:spPr>
        <p:txBody>
          <a:bodyPr/>
          <a:lstStyle/>
          <a:p>
            <a:r>
              <a:rPr lang="en-US" altLang="zh-CN" dirty="0" smtClean="0">
                <a:ea typeface="宋体" panose="02010600030101010101" pitchFamily="2" charset="-122"/>
              </a:rPr>
              <a:t>With pipelining, Precise </a:t>
            </a:r>
            <a:r>
              <a:rPr lang="en-US" altLang="zh-CN" dirty="0">
                <a:ea typeface="宋体" panose="02010600030101010101" pitchFamily="2" charset="-122"/>
              </a:rPr>
              <a:t>interrupt point </a:t>
            </a:r>
            <a:r>
              <a:rPr lang="en-US" altLang="zh-CN" dirty="0" smtClean="0">
                <a:ea typeface="宋体" panose="02010600030101010101" pitchFamily="2" charset="-122"/>
              </a:rPr>
              <a:t/>
            </a:r>
            <a:br>
              <a:rPr lang="en-US" altLang="zh-CN" dirty="0" smtClean="0">
                <a:ea typeface="宋体" panose="02010600030101010101" pitchFamily="2" charset="-122"/>
              </a:rPr>
            </a:br>
            <a:r>
              <a:rPr lang="en-US" altLang="zh-CN" dirty="0" smtClean="0">
                <a:ea typeface="宋体" panose="02010600030101010101" pitchFamily="2" charset="-122"/>
              </a:rPr>
              <a:t>may </a:t>
            </a:r>
            <a:r>
              <a:rPr lang="en-US" altLang="zh-CN" dirty="0">
                <a:ea typeface="宋体" panose="02010600030101010101" pitchFamily="2" charset="-122"/>
              </a:rPr>
              <a:t>require multiple PCs</a:t>
            </a:r>
          </a:p>
        </p:txBody>
      </p:sp>
      <p:sp>
        <p:nvSpPr>
          <p:cNvPr id="723971" name="Rectangle 3"/>
          <p:cNvSpPr>
            <a:spLocks noGrp="1" noChangeArrowheads="1"/>
          </p:cNvSpPr>
          <p:nvPr>
            <p:ph type="body" idx="1"/>
          </p:nvPr>
        </p:nvSpPr>
        <p:spPr>
          <a:xfrm>
            <a:off x="582650" y="5598368"/>
            <a:ext cx="10625918" cy="1143000"/>
          </a:xfrm>
        </p:spPr>
        <p:txBody>
          <a:bodyPr/>
          <a:lstStyle/>
          <a:p>
            <a:pPr>
              <a:lnSpc>
                <a:spcPct val="80000"/>
              </a:lnSpc>
            </a:pPr>
            <a:r>
              <a:rPr lang="en-US" altLang="zh-CN" dirty="0">
                <a:ea typeface="宋体" panose="02010600030101010101" pitchFamily="2" charset="-122"/>
              </a:rPr>
              <a:t>On SPARC, interrupt hardware produces “pc” and “</a:t>
            </a:r>
            <a:r>
              <a:rPr lang="en-US" altLang="zh-CN" dirty="0" err="1">
                <a:ea typeface="宋体" panose="02010600030101010101" pitchFamily="2" charset="-122"/>
              </a:rPr>
              <a:t>npc</a:t>
            </a:r>
            <a:r>
              <a:rPr lang="en-US" altLang="zh-CN" dirty="0">
                <a:ea typeface="宋体" panose="02010600030101010101" pitchFamily="2" charset="-122"/>
              </a:rPr>
              <a:t>” (next pc)</a:t>
            </a:r>
          </a:p>
          <a:p>
            <a:pPr>
              <a:lnSpc>
                <a:spcPct val="80000"/>
              </a:lnSpc>
            </a:pPr>
            <a:r>
              <a:rPr lang="en-US" altLang="zh-CN" dirty="0">
                <a:ea typeface="宋体" panose="02010600030101010101" pitchFamily="2" charset="-122"/>
              </a:rPr>
              <a:t>On MIPS, only “pc” – must fix point in software</a:t>
            </a:r>
          </a:p>
        </p:txBody>
      </p:sp>
      <p:grpSp>
        <p:nvGrpSpPr>
          <p:cNvPr id="723972" name="Group 4"/>
          <p:cNvGrpSpPr>
            <a:grpSpLocks/>
          </p:cNvGrpSpPr>
          <p:nvPr/>
        </p:nvGrpSpPr>
        <p:grpSpPr bwMode="auto">
          <a:xfrm>
            <a:off x="1558924" y="1476814"/>
            <a:ext cx="9001127" cy="1938338"/>
            <a:chOff x="236" y="1242"/>
            <a:chExt cx="5670" cy="1221"/>
          </a:xfrm>
        </p:grpSpPr>
        <p:sp>
          <p:nvSpPr>
            <p:cNvPr id="723973" name="Text Box 5"/>
            <p:cNvSpPr txBox="1">
              <a:spLocks noChangeArrowheads="1"/>
            </p:cNvSpPr>
            <p:nvPr/>
          </p:nvSpPr>
          <p:spPr bwMode="auto">
            <a:xfrm>
              <a:off x="768" y="1242"/>
              <a:ext cx="1742" cy="12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0"/>
                </a:spcBef>
              </a:pPr>
              <a:r>
                <a:rPr lang="en-US" altLang="zh-CN" sz="2400" dirty="0" err="1">
                  <a:latin typeface="Courier New" panose="02070309020205020404" pitchFamily="49" charset="0"/>
                </a:rPr>
                <a:t>addi</a:t>
              </a:r>
              <a:r>
                <a:rPr lang="en-US" altLang="zh-CN" sz="2400" dirty="0">
                  <a:latin typeface="Courier New" panose="02070309020205020404" pitchFamily="49" charset="0"/>
                </a:rPr>
                <a:t>	r4,r3,#4</a:t>
              </a:r>
            </a:p>
            <a:p>
              <a:pPr>
                <a:spcBef>
                  <a:spcPct val="0"/>
                </a:spcBef>
              </a:pPr>
              <a:r>
                <a:rPr lang="en-US" altLang="zh-CN" sz="2400" dirty="0">
                  <a:latin typeface="Courier New" panose="02070309020205020404" pitchFamily="49" charset="0"/>
                </a:rPr>
                <a:t>sub	r1,r2,r3</a:t>
              </a:r>
            </a:p>
            <a:p>
              <a:pPr>
                <a:spcBef>
                  <a:spcPct val="0"/>
                </a:spcBef>
              </a:pPr>
              <a:r>
                <a:rPr lang="en-US" altLang="zh-CN" sz="2400" dirty="0" err="1">
                  <a:solidFill>
                    <a:srgbClr val="FF0000"/>
                  </a:solidFill>
                  <a:latin typeface="Courier New" panose="02070309020205020404" pitchFamily="49" charset="0"/>
                </a:rPr>
                <a:t>bne</a:t>
              </a:r>
              <a:r>
                <a:rPr lang="en-US" altLang="zh-CN" sz="2400" dirty="0">
                  <a:solidFill>
                    <a:srgbClr val="FF0000"/>
                  </a:solidFill>
                  <a:latin typeface="Courier New" panose="02070309020205020404" pitchFamily="49" charset="0"/>
                </a:rPr>
                <a:t>	r1,there</a:t>
              </a:r>
            </a:p>
            <a:p>
              <a:pPr>
                <a:spcBef>
                  <a:spcPct val="0"/>
                </a:spcBef>
              </a:pPr>
              <a:r>
                <a:rPr lang="en-US" altLang="zh-CN" sz="2400" dirty="0">
                  <a:latin typeface="Courier New" panose="02070309020205020404" pitchFamily="49" charset="0"/>
                </a:rPr>
                <a:t>and	r2,r3,r5</a:t>
              </a:r>
            </a:p>
            <a:p>
              <a:pPr>
                <a:spcBef>
                  <a:spcPct val="0"/>
                </a:spcBef>
              </a:pPr>
              <a:r>
                <a:rPr lang="en-US" altLang="zh-CN" sz="2400" dirty="0">
                  <a:latin typeface="Courier New" panose="02070309020205020404" pitchFamily="49" charset="0"/>
                </a:rPr>
                <a:t>&lt;other </a:t>
              </a:r>
              <a:r>
                <a:rPr lang="en-US" altLang="zh-CN" sz="2400" dirty="0" err="1">
                  <a:latin typeface="Courier New" panose="02070309020205020404" pitchFamily="49" charset="0"/>
                </a:rPr>
                <a:t>insts</a:t>
              </a:r>
              <a:r>
                <a:rPr lang="en-US" altLang="zh-CN" sz="2400" dirty="0">
                  <a:latin typeface="Courier New" panose="02070309020205020404" pitchFamily="49" charset="0"/>
                </a:rPr>
                <a:t>&gt; </a:t>
              </a:r>
            </a:p>
          </p:txBody>
        </p:sp>
        <p:grpSp>
          <p:nvGrpSpPr>
            <p:cNvPr id="723974" name="Group 6"/>
            <p:cNvGrpSpPr>
              <a:grpSpLocks/>
            </p:cNvGrpSpPr>
            <p:nvPr/>
          </p:nvGrpSpPr>
          <p:grpSpPr bwMode="auto">
            <a:xfrm>
              <a:off x="236" y="1737"/>
              <a:ext cx="548" cy="459"/>
              <a:chOff x="236" y="1737"/>
              <a:chExt cx="548" cy="459"/>
            </a:xfrm>
          </p:grpSpPr>
          <p:sp>
            <p:nvSpPr>
              <p:cNvPr id="723975" name="Text Box 7"/>
              <p:cNvSpPr txBox="1">
                <a:spLocks noChangeArrowheads="1"/>
              </p:cNvSpPr>
              <p:nvPr/>
            </p:nvSpPr>
            <p:spPr bwMode="auto">
              <a:xfrm>
                <a:off x="438" y="1737"/>
                <a:ext cx="346"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2000">
                    <a:latin typeface="Comic Sans MS" panose="030F0702030302020204" pitchFamily="66" charset="0"/>
                  </a:rPr>
                  <a:t>PC:</a:t>
                </a:r>
              </a:p>
            </p:txBody>
          </p:sp>
          <p:sp>
            <p:nvSpPr>
              <p:cNvPr id="723976" name="Text Box 8"/>
              <p:cNvSpPr txBox="1">
                <a:spLocks noChangeArrowheads="1"/>
              </p:cNvSpPr>
              <p:nvPr/>
            </p:nvSpPr>
            <p:spPr bwMode="auto">
              <a:xfrm>
                <a:off x="236" y="1944"/>
                <a:ext cx="522"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r">
                  <a:spcBef>
                    <a:spcPct val="0"/>
                  </a:spcBef>
                </a:pPr>
                <a:r>
                  <a:rPr lang="en-US" altLang="zh-CN" sz="2000">
                    <a:latin typeface="Comic Sans MS" panose="030F0702030302020204" pitchFamily="66" charset="0"/>
                  </a:rPr>
                  <a:t>PC+4:</a:t>
                </a:r>
              </a:p>
            </p:txBody>
          </p:sp>
        </p:grpSp>
        <p:sp>
          <p:nvSpPr>
            <p:cNvPr id="723977" name="Text Box 9"/>
            <p:cNvSpPr txBox="1">
              <a:spLocks noChangeArrowheads="1"/>
            </p:cNvSpPr>
            <p:nvPr/>
          </p:nvSpPr>
          <p:spPr bwMode="auto">
            <a:xfrm>
              <a:off x="2863" y="1745"/>
              <a:ext cx="3043"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2000" dirty="0">
                  <a:latin typeface="Comic Sans MS" panose="030F0702030302020204" pitchFamily="66" charset="0"/>
                </a:rPr>
                <a:t>Interrupt point described as &lt;PC,PC+4&gt;</a:t>
              </a:r>
            </a:p>
          </p:txBody>
        </p:sp>
        <p:sp>
          <p:nvSpPr>
            <p:cNvPr id="723978" name="AutoShape 10"/>
            <p:cNvSpPr>
              <a:spLocks noChangeArrowheads="1"/>
            </p:cNvSpPr>
            <p:nvPr/>
          </p:nvSpPr>
          <p:spPr bwMode="auto">
            <a:xfrm>
              <a:off x="2440" y="1776"/>
              <a:ext cx="336" cy="192"/>
            </a:xfrm>
            <a:prstGeom prst="leftArrow">
              <a:avLst>
                <a:gd name="adj1" fmla="val 50000"/>
                <a:gd name="adj2" fmla="val 4375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grpSp>
        <p:nvGrpSpPr>
          <p:cNvPr id="723979" name="Group 11"/>
          <p:cNvGrpSpPr>
            <a:grpSpLocks/>
          </p:cNvGrpSpPr>
          <p:nvPr/>
        </p:nvGrpSpPr>
        <p:grpSpPr bwMode="auto">
          <a:xfrm>
            <a:off x="1558925" y="3354485"/>
            <a:ext cx="9001129" cy="2090739"/>
            <a:chOff x="244" y="2442"/>
            <a:chExt cx="5670" cy="1317"/>
          </a:xfrm>
        </p:grpSpPr>
        <p:sp>
          <p:nvSpPr>
            <p:cNvPr id="723980" name="Text Box 12"/>
            <p:cNvSpPr txBox="1">
              <a:spLocks noChangeArrowheads="1"/>
            </p:cNvSpPr>
            <p:nvPr/>
          </p:nvSpPr>
          <p:spPr bwMode="auto">
            <a:xfrm>
              <a:off x="768" y="2442"/>
              <a:ext cx="1742" cy="12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0"/>
                </a:spcBef>
              </a:pPr>
              <a:r>
                <a:rPr lang="en-US" altLang="zh-CN" sz="2400" dirty="0" err="1">
                  <a:latin typeface="Courier New" panose="02070309020205020404" pitchFamily="49" charset="0"/>
                </a:rPr>
                <a:t>addi</a:t>
              </a:r>
              <a:r>
                <a:rPr lang="en-US" altLang="zh-CN" sz="2400" dirty="0">
                  <a:latin typeface="Courier New" panose="02070309020205020404" pitchFamily="49" charset="0"/>
                </a:rPr>
                <a:t>	r4,r3,#4</a:t>
              </a:r>
            </a:p>
            <a:p>
              <a:pPr>
                <a:spcBef>
                  <a:spcPct val="0"/>
                </a:spcBef>
              </a:pPr>
              <a:r>
                <a:rPr lang="en-US" altLang="zh-CN" sz="2400" dirty="0">
                  <a:latin typeface="Courier New" panose="02070309020205020404" pitchFamily="49" charset="0"/>
                </a:rPr>
                <a:t>sub	r1,r2,r3</a:t>
              </a:r>
            </a:p>
            <a:p>
              <a:pPr>
                <a:spcBef>
                  <a:spcPct val="0"/>
                </a:spcBef>
              </a:pPr>
              <a:r>
                <a:rPr lang="en-US" altLang="zh-CN" sz="2400" dirty="0" err="1">
                  <a:latin typeface="Courier New" panose="02070309020205020404" pitchFamily="49" charset="0"/>
                </a:rPr>
                <a:t>bne</a:t>
              </a:r>
              <a:r>
                <a:rPr lang="en-US" altLang="zh-CN" sz="2400" dirty="0">
                  <a:latin typeface="Courier New" panose="02070309020205020404" pitchFamily="49" charset="0"/>
                </a:rPr>
                <a:t>	r1,there</a:t>
              </a:r>
            </a:p>
            <a:p>
              <a:pPr>
                <a:spcBef>
                  <a:spcPct val="0"/>
                </a:spcBef>
              </a:pPr>
              <a:r>
                <a:rPr lang="en-US" altLang="zh-CN" sz="2400" dirty="0">
                  <a:solidFill>
                    <a:srgbClr val="FF0000"/>
                  </a:solidFill>
                  <a:latin typeface="Courier New" panose="02070309020205020404" pitchFamily="49" charset="0"/>
                </a:rPr>
                <a:t>and	r2,r3,r5</a:t>
              </a:r>
            </a:p>
            <a:p>
              <a:pPr>
                <a:spcBef>
                  <a:spcPct val="0"/>
                </a:spcBef>
              </a:pPr>
              <a:r>
                <a:rPr lang="en-US" altLang="zh-CN" sz="2400" dirty="0">
                  <a:latin typeface="Courier New" panose="02070309020205020404" pitchFamily="49" charset="0"/>
                </a:rPr>
                <a:t>&lt;other </a:t>
              </a:r>
              <a:r>
                <a:rPr lang="en-US" altLang="zh-CN" sz="2400" dirty="0" err="1">
                  <a:latin typeface="Courier New" panose="02070309020205020404" pitchFamily="49" charset="0"/>
                </a:rPr>
                <a:t>insts</a:t>
              </a:r>
              <a:r>
                <a:rPr lang="en-US" altLang="zh-CN" sz="2400" dirty="0">
                  <a:latin typeface="Courier New" panose="02070309020205020404" pitchFamily="49" charset="0"/>
                </a:rPr>
                <a:t>&gt; </a:t>
              </a:r>
            </a:p>
          </p:txBody>
        </p:sp>
        <p:sp>
          <p:nvSpPr>
            <p:cNvPr id="723981" name="Text Box 13"/>
            <p:cNvSpPr txBox="1">
              <a:spLocks noChangeArrowheads="1"/>
            </p:cNvSpPr>
            <p:nvPr/>
          </p:nvSpPr>
          <p:spPr bwMode="auto">
            <a:xfrm>
              <a:off x="3149" y="2731"/>
              <a:ext cx="2765" cy="102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2000" dirty="0">
                  <a:latin typeface="Comic Sans MS" panose="030F0702030302020204" pitchFamily="66" charset="0"/>
                </a:rPr>
                <a:t>Interrupt point described as:        </a:t>
              </a:r>
            </a:p>
            <a:p>
              <a:pPr algn="ctr">
                <a:spcBef>
                  <a:spcPct val="0"/>
                </a:spcBef>
              </a:pPr>
              <a:r>
                <a:rPr lang="en-US" altLang="zh-CN" sz="2000" dirty="0">
                  <a:latin typeface="Comic Sans MS" panose="030F0702030302020204" pitchFamily="66" charset="0"/>
                </a:rPr>
                <a:t> </a:t>
              </a:r>
            </a:p>
            <a:p>
              <a:pPr algn="ctr">
                <a:spcBef>
                  <a:spcPct val="0"/>
                </a:spcBef>
              </a:pPr>
              <a:r>
                <a:rPr lang="en-US" altLang="zh-CN" sz="2000" dirty="0">
                  <a:latin typeface="Comic Sans MS" panose="030F0702030302020204" pitchFamily="66" charset="0"/>
                </a:rPr>
                <a:t>&lt;PC+4,there&gt; (branch was taken)</a:t>
              </a:r>
              <a:br>
                <a:rPr lang="en-US" altLang="zh-CN" sz="2000" dirty="0">
                  <a:latin typeface="Comic Sans MS" panose="030F0702030302020204" pitchFamily="66" charset="0"/>
                </a:rPr>
              </a:br>
              <a:r>
                <a:rPr lang="en-US" altLang="zh-CN" sz="2000" dirty="0">
                  <a:latin typeface="Comic Sans MS" panose="030F0702030302020204" pitchFamily="66" charset="0"/>
                </a:rPr>
                <a:t>or</a:t>
              </a:r>
            </a:p>
            <a:p>
              <a:pPr algn="ctr">
                <a:spcBef>
                  <a:spcPct val="0"/>
                </a:spcBef>
              </a:pPr>
              <a:r>
                <a:rPr lang="en-US" altLang="zh-CN" sz="2000" dirty="0">
                  <a:latin typeface="Comic Sans MS" panose="030F0702030302020204" pitchFamily="66" charset="0"/>
                </a:rPr>
                <a:t>&lt;PC+4,PC+8&gt; (branch was not taken)</a:t>
              </a:r>
            </a:p>
          </p:txBody>
        </p:sp>
        <p:grpSp>
          <p:nvGrpSpPr>
            <p:cNvPr id="723982" name="Group 14"/>
            <p:cNvGrpSpPr>
              <a:grpSpLocks/>
            </p:cNvGrpSpPr>
            <p:nvPr/>
          </p:nvGrpSpPr>
          <p:grpSpPr bwMode="auto">
            <a:xfrm>
              <a:off x="244" y="2917"/>
              <a:ext cx="548" cy="459"/>
              <a:chOff x="236" y="1737"/>
              <a:chExt cx="548" cy="459"/>
            </a:xfrm>
          </p:grpSpPr>
          <p:sp>
            <p:nvSpPr>
              <p:cNvPr id="723983" name="Text Box 15"/>
              <p:cNvSpPr txBox="1">
                <a:spLocks noChangeArrowheads="1"/>
              </p:cNvSpPr>
              <p:nvPr/>
            </p:nvSpPr>
            <p:spPr bwMode="auto">
              <a:xfrm>
                <a:off x="438" y="1737"/>
                <a:ext cx="346"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2000">
                    <a:latin typeface="Comic Sans MS" panose="030F0702030302020204" pitchFamily="66" charset="0"/>
                  </a:rPr>
                  <a:t>PC:</a:t>
                </a:r>
              </a:p>
            </p:txBody>
          </p:sp>
          <p:sp>
            <p:nvSpPr>
              <p:cNvPr id="723984" name="Text Box 16"/>
              <p:cNvSpPr txBox="1">
                <a:spLocks noChangeArrowheads="1"/>
              </p:cNvSpPr>
              <p:nvPr/>
            </p:nvSpPr>
            <p:spPr bwMode="auto">
              <a:xfrm>
                <a:off x="236" y="1944"/>
                <a:ext cx="522"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r">
                  <a:spcBef>
                    <a:spcPct val="0"/>
                  </a:spcBef>
                </a:pPr>
                <a:r>
                  <a:rPr lang="en-US" altLang="zh-CN" sz="2000">
                    <a:latin typeface="Comic Sans MS" panose="030F0702030302020204" pitchFamily="66" charset="0"/>
                  </a:rPr>
                  <a:t>PC+4:</a:t>
                </a:r>
              </a:p>
            </p:txBody>
          </p:sp>
        </p:grpSp>
        <p:sp>
          <p:nvSpPr>
            <p:cNvPr id="723985" name="AutoShape 17"/>
            <p:cNvSpPr>
              <a:spLocks noChangeArrowheads="1"/>
            </p:cNvSpPr>
            <p:nvPr/>
          </p:nvSpPr>
          <p:spPr bwMode="auto">
            <a:xfrm>
              <a:off x="2489" y="3168"/>
              <a:ext cx="432" cy="192"/>
            </a:xfrm>
            <a:prstGeom prst="leftArrow">
              <a:avLst>
                <a:gd name="adj1" fmla="val 50000"/>
                <a:gd name="adj2" fmla="val 56250"/>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a:p>
          </p:txBody>
        </p:sp>
      </p:grpSp>
    </p:spTree>
    <p:extLst>
      <p:ext uri="{BB962C8B-B14F-4D97-AF65-F5344CB8AC3E}">
        <p14:creationId xmlns:p14="http://schemas.microsoft.com/office/powerpoint/2010/main" val="17758593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272" fill="hold" nodeType="clickEffect">
                                  <p:stCondLst>
                                    <p:cond delay="0"/>
                                  </p:stCondLst>
                                  <p:childTnLst>
                                    <p:set>
                                      <p:cBhvr>
                                        <p:cTn id="6" dur="1" fill="hold">
                                          <p:stCondLst>
                                            <p:cond delay="0"/>
                                          </p:stCondLst>
                                        </p:cTn>
                                        <p:tgtEl>
                                          <p:spTgt spid="723972"/>
                                        </p:tgtEl>
                                        <p:attrNameLst>
                                          <p:attrName>style.visibility</p:attrName>
                                        </p:attrNameLst>
                                      </p:cBhvr>
                                      <p:to>
                                        <p:strVal val="visible"/>
                                      </p:to>
                                    </p:set>
                                    <p:anim calcmode="lin" valueType="num">
                                      <p:cBhvr>
                                        <p:cTn id="7" dur="500" fill="hold"/>
                                        <p:tgtEl>
                                          <p:spTgt spid="723972"/>
                                        </p:tgtEl>
                                        <p:attrNameLst>
                                          <p:attrName>ppt_w</p:attrName>
                                        </p:attrNameLst>
                                      </p:cBhvr>
                                      <p:tavLst>
                                        <p:tav tm="0">
                                          <p:val>
                                            <p:strVal val="2/3*#ppt_w"/>
                                          </p:val>
                                        </p:tav>
                                        <p:tav tm="100000">
                                          <p:val>
                                            <p:strVal val="#ppt_w"/>
                                          </p:val>
                                        </p:tav>
                                      </p:tavLst>
                                    </p:anim>
                                    <p:anim calcmode="lin" valueType="num">
                                      <p:cBhvr>
                                        <p:cTn id="8" dur="500" fill="hold"/>
                                        <p:tgtEl>
                                          <p:spTgt spid="723972"/>
                                        </p:tgtEl>
                                        <p:attrNameLst>
                                          <p:attrName>ppt_h</p:attrName>
                                        </p:attrNameLst>
                                      </p:cBhvr>
                                      <p:tavLst>
                                        <p:tav tm="0">
                                          <p:val>
                                            <p:strVal val="2/3*#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272" fill="hold" nodeType="clickEffect">
                                  <p:stCondLst>
                                    <p:cond delay="0"/>
                                  </p:stCondLst>
                                  <p:childTnLst>
                                    <p:set>
                                      <p:cBhvr>
                                        <p:cTn id="12" dur="1" fill="hold">
                                          <p:stCondLst>
                                            <p:cond delay="0"/>
                                          </p:stCondLst>
                                        </p:cTn>
                                        <p:tgtEl>
                                          <p:spTgt spid="723979"/>
                                        </p:tgtEl>
                                        <p:attrNameLst>
                                          <p:attrName>style.visibility</p:attrName>
                                        </p:attrNameLst>
                                      </p:cBhvr>
                                      <p:to>
                                        <p:strVal val="visible"/>
                                      </p:to>
                                    </p:set>
                                    <p:anim calcmode="lin" valueType="num">
                                      <p:cBhvr>
                                        <p:cTn id="13" dur="500" fill="hold"/>
                                        <p:tgtEl>
                                          <p:spTgt spid="723979"/>
                                        </p:tgtEl>
                                        <p:attrNameLst>
                                          <p:attrName>ppt_w</p:attrName>
                                        </p:attrNameLst>
                                      </p:cBhvr>
                                      <p:tavLst>
                                        <p:tav tm="0">
                                          <p:val>
                                            <p:strVal val="2/3*#ppt_w"/>
                                          </p:val>
                                        </p:tav>
                                        <p:tav tm="100000">
                                          <p:val>
                                            <p:strVal val="#ppt_w"/>
                                          </p:val>
                                        </p:tav>
                                      </p:tavLst>
                                    </p:anim>
                                    <p:anim calcmode="lin" valueType="num">
                                      <p:cBhvr>
                                        <p:cTn id="14" dur="500" fill="hold"/>
                                        <p:tgtEl>
                                          <p:spTgt spid="723979"/>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4994" name="Rectangle 2"/>
          <p:cNvSpPr>
            <a:spLocks noGrp="1" noChangeArrowheads="1"/>
          </p:cNvSpPr>
          <p:nvPr>
            <p:ph type="title"/>
          </p:nvPr>
        </p:nvSpPr>
        <p:spPr>
          <a:xfrm>
            <a:off x="695400" y="326232"/>
            <a:ext cx="9144000" cy="914400"/>
          </a:xfrm>
        </p:spPr>
        <p:txBody>
          <a:bodyPr/>
          <a:lstStyle/>
          <a:p>
            <a:r>
              <a:rPr lang="en-US" altLang="zh-CN" dirty="0">
                <a:ea typeface="宋体" panose="02010600030101010101" pitchFamily="2" charset="-122"/>
              </a:rPr>
              <a:t>Why are precise interrupts desirable?</a:t>
            </a:r>
          </a:p>
        </p:txBody>
      </p:sp>
      <p:sp>
        <p:nvSpPr>
          <p:cNvPr id="724995" name="Rectangle 3"/>
          <p:cNvSpPr>
            <a:spLocks noGrp="1" noChangeArrowheads="1"/>
          </p:cNvSpPr>
          <p:nvPr>
            <p:ph type="body" idx="1"/>
          </p:nvPr>
        </p:nvSpPr>
        <p:spPr>
          <a:xfrm>
            <a:off x="695400" y="4581128"/>
            <a:ext cx="10945215" cy="1882775"/>
          </a:xfrm>
        </p:spPr>
        <p:txBody>
          <a:bodyPr/>
          <a:lstStyle/>
          <a:p>
            <a:r>
              <a:rPr lang="en-US" altLang="zh-CN" dirty="0" err="1">
                <a:ea typeface="宋体" panose="02010600030101010101" pitchFamily="2" charset="-122"/>
              </a:rPr>
              <a:t>Restartability</a:t>
            </a:r>
            <a:r>
              <a:rPr lang="en-US" altLang="zh-CN" dirty="0">
                <a:ea typeface="宋体" panose="02010600030101010101" pitchFamily="2" charset="-122"/>
              </a:rPr>
              <a:t> doesn’t </a:t>
            </a:r>
            <a:r>
              <a:rPr lang="en-US" altLang="zh-CN" i="1" dirty="0">
                <a:ea typeface="宋体" panose="02010600030101010101" pitchFamily="2" charset="-122"/>
              </a:rPr>
              <a:t>require</a:t>
            </a:r>
            <a:r>
              <a:rPr lang="en-US" altLang="zh-CN" dirty="0">
                <a:ea typeface="宋体" panose="02010600030101010101" pitchFamily="2" charset="-122"/>
              </a:rPr>
              <a:t> preciseness.  However, preciseness makes it </a:t>
            </a:r>
            <a:r>
              <a:rPr lang="en-US" altLang="zh-CN" i="1" dirty="0">
                <a:solidFill>
                  <a:srgbClr val="FF0000"/>
                </a:solidFill>
                <a:ea typeface="宋体" panose="02010600030101010101" pitchFamily="2" charset="-122"/>
              </a:rPr>
              <a:t>a lot easier</a:t>
            </a:r>
            <a:r>
              <a:rPr lang="en-US" altLang="zh-CN" dirty="0">
                <a:solidFill>
                  <a:srgbClr val="FF0000"/>
                </a:solidFill>
                <a:ea typeface="宋体" panose="02010600030101010101" pitchFamily="2" charset="-122"/>
              </a:rPr>
              <a:t> </a:t>
            </a:r>
            <a:r>
              <a:rPr lang="en-US" altLang="zh-CN" dirty="0">
                <a:ea typeface="宋体" panose="02010600030101010101" pitchFamily="2" charset="-122"/>
              </a:rPr>
              <a:t>to restart.		</a:t>
            </a:r>
          </a:p>
          <a:p>
            <a:r>
              <a:rPr lang="en-US" altLang="zh-CN" dirty="0">
                <a:ea typeface="宋体" panose="02010600030101010101" pitchFamily="2" charset="-122"/>
              </a:rPr>
              <a:t>Simplify the task of the operating system a lot</a:t>
            </a:r>
          </a:p>
          <a:p>
            <a:pPr lvl="1"/>
            <a:r>
              <a:rPr lang="en-US" altLang="zh-CN" dirty="0">
                <a:solidFill>
                  <a:srgbClr val="FF0000"/>
                </a:solidFill>
                <a:ea typeface="宋体" panose="02010600030101010101" pitchFamily="2" charset="-122"/>
              </a:rPr>
              <a:t>Less state </a:t>
            </a:r>
            <a:r>
              <a:rPr lang="en-US" altLang="zh-CN" dirty="0">
                <a:ea typeface="宋体" panose="02010600030101010101" pitchFamily="2" charset="-122"/>
              </a:rPr>
              <a:t>needs to be saved away if unloading process.</a:t>
            </a:r>
          </a:p>
          <a:p>
            <a:pPr lvl="1"/>
            <a:r>
              <a:rPr lang="en-US" altLang="zh-CN" dirty="0">
                <a:ea typeface="宋体" panose="02010600030101010101" pitchFamily="2" charset="-122"/>
              </a:rPr>
              <a:t>Quick to restart (making for fast interrupts)</a:t>
            </a:r>
          </a:p>
        </p:txBody>
      </p:sp>
      <p:grpSp>
        <p:nvGrpSpPr>
          <p:cNvPr id="724996" name="Group 4"/>
          <p:cNvGrpSpPr>
            <a:grpSpLocks/>
          </p:cNvGrpSpPr>
          <p:nvPr/>
        </p:nvGrpSpPr>
        <p:grpSpPr bwMode="auto">
          <a:xfrm>
            <a:off x="695400" y="1445865"/>
            <a:ext cx="11233248" cy="4114800"/>
            <a:chOff x="195" y="728"/>
            <a:chExt cx="5427" cy="2592"/>
          </a:xfrm>
        </p:grpSpPr>
        <p:sp>
          <p:nvSpPr>
            <p:cNvPr id="724997" name="Rectangle 5"/>
            <p:cNvSpPr>
              <a:spLocks noChangeArrowheads="1"/>
            </p:cNvSpPr>
            <p:nvPr/>
          </p:nvSpPr>
          <p:spPr bwMode="auto">
            <a:xfrm>
              <a:off x="195" y="728"/>
              <a:ext cx="5427" cy="25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285750" indent="-285750">
                <a:lnSpc>
                  <a:spcPct val="90000"/>
                </a:lnSpc>
                <a:spcBef>
                  <a:spcPct val="30000"/>
                </a:spcBef>
                <a:buSzPct val="100000"/>
                <a:buChar char="•"/>
                <a:defRPr sz="2400" b="1">
                  <a:solidFill>
                    <a:schemeClr val="tx1"/>
                  </a:solidFill>
                  <a:latin typeface="Arial" panose="020B0604020202020204" pitchFamily="34" charset="0"/>
                </a:defRPr>
              </a:lvl1pPr>
              <a:lvl2pPr marL="685800" indent="-228600">
                <a:lnSpc>
                  <a:spcPct val="90000"/>
                </a:lnSpc>
                <a:spcBef>
                  <a:spcPct val="30000"/>
                </a:spcBef>
                <a:buSzPct val="100000"/>
                <a:buChar char="–"/>
                <a:defRPr b="1">
                  <a:solidFill>
                    <a:schemeClr val="tx1"/>
                  </a:solidFill>
                  <a:latin typeface="Arial" panose="020B0604020202020204" pitchFamily="34" charset="0"/>
                </a:defRPr>
              </a:lvl2pPr>
              <a:lvl3pPr marL="1143000" indent="-228600">
                <a:lnSpc>
                  <a:spcPct val="90000"/>
                </a:lnSpc>
                <a:spcBef>
                  <a:spcPct val="30000"/>
                </a:spcBef>
                <a:buSzPct val="100000"/>
                <a:buChar char="»"/>
                <a:defRPr b="1">
                  <a:solidFill>
                    <a:schemeClr val="tx1"/>
                  </a:solidFill>
                  <a:latin typeface="Arial" panose="020B0604020202020204" pitchFamily="34" charset="0"/>
                </a:defRPr>
              </a:lvl3pPr>
              <a:lvl4pPr marL="1543050" indent="-171450">
                <a:lnSpc>
                  <a:spcPct val="90000"/>
                </a:lnSpc>
                <a:spcBef>
                  <a:spcPct val="30000"/>
                </a:spcBef>
                <a:buSzPct val="100000"/>
                <a:buChar char="•"/>
                <a:defRPr sz="1400" b="1">
                  <a:solidFill>
                    <a:schemeClr val="tx1"/>
                  </a:solidFill>
                  <a:latin typeface="Arial" panose="020B0604020202020204" pitchFamily="34" charset="0"/>
                </a:defRPr>
              </a:lvl4pPr>
              <a:lvl5pPr marL="2000250" indent="-171450">
                <a:lnSpc>
                  <a:spcPct val="90000"/>
                </a:lnSpc>
                <a:spcBef>
                  <a:spcPct val="30000"/>
                </a:spcBef>
                <a:buSzPct val="100000"/>
                <a:buChar char="–"/>
                <a:defRPr sz="1400" b="1">
                  <a:solidFill>
                    <a:schemeClr val="tx1"/>
                  </a:solidFill>
                  <a:latin typeface="Arial" panose="020B0604020202020204" pitchFamily="34" charset="0"/>
                </a:defRPr>
              </a:lvl5pPr>
              <a:lvl6pPr marL="24574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6pPr>
              <a:lvl7pPr marL="29146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7pPr>
              <a:lvl8pPr marL="33718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8pPr>
              <a:lvl9pPr marL="38290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9pPr>
            </a:lstStyle>
            <a:p>
              <a:r>
                <a:rPr lang="en-US" altLang="zh-CN" sz="2800" dirty="0"/>
                <a:t>Many types of interrupts/exceptions need to be </a:t>
              </a:r>
              <a:r>
                <a:rPr lang="en-US" altLang="zh-CN" sz="2800" dirty="0" err="1"/>
                <a:t>restartable</a:t>
              </a:r>
              <a:r>
                <a:rPr lang="en-US" altLang="zh-CN" sz="2800" dirty="0"/>
                <a:t>.  Easier to figure out what actually happened:</a:t>
              </a:r>
            </a:p>
            <a:p>
              <a:pPr lvl="1"/>
              <a:r>
                <a:rPr lang="en-US" altLang="zh-CN" sz="2400" dirty="0"/>
                <a:t>I.e. TLB faults.  Need to fix translation, then restart load/store</a:t>
              </a:r>
            </a:p>
            <a:p>
              <a:pPr lvl="1"/>
              <a:r>
                <a:rPr lang="en-US" altLang="zh-CN" sz="2400" dirty="0"/>
                <a:t>IEEE gradual underflow, illegal operation, </a:t>
              </a:r>
              <a:r>
                <a:rPr lang="en-US" altLang="zh-CN" sz="2400" dirty="0" smtClean="0"/>
                <a:t>etc.:</a:t>
              </a:r>
              <a:r>
                <a:rPr lang="en-US" altLang="zh-CN" sz="2400" dirty="0"/>
                <a:t/>
              </a:r>
              <a:br>
                <a:rPr lang="en-US" altLang="zh-CN" sz="2400" dirty="0"/>
              </a:br>
              <a:r>
                <a:rPr lang="en-US" altLang="zh-CN" sz="2400" dirty="0" smtClean="0"/>
                <a:t>e.g</a:t>
              </a:r>
              <a:r>
                <a:rPr lang="en-US" altLang="zh-CN" sz="2400" dirty="0"/>
                <a:t>. Suppose you are computing:</a:t>
              </a:r>
              <a:br>
                <a:rPr lang="en-US" altLang="zh-CN" sz="2400" dirty="0"/>
              </a:br>
              <a:r>
                <a:rPr lang="en-US" altLang="zh-CN" sz="2400" dirty="0"/>
                <a:t>Then, </a:t>
              </a:r>
              <a:r>
                <a:rPr lang="en-US" altLang="zh-CN" sz="2400" dirty="0" smtClean="0"/>
                <a:t>for             ,</a:t>
              </a:r>
              <a:r>
                <a:rPr lang="en-US" altLang="zh-CN" sz="2400" dirty="0"/>
                <a:t/>
              </a:r>
              <a:br>
                <a:rPr lang="en-US" altLang="zh-CN" sz="2400" dirty="0"/>
              </a:br>
              <a:r>
                <a:rPr lang="en-US" altLang="zh-CN" sz="2400" dirty="0"/>
                <a:t/>
              </a:r>
              <a:br>
                <a:rPr lang="en-US" altLang="zh-CN" sz="2400" dirty="0"/>
              </a:br>
              <a:r>
                <a:rPr lang="en-US" altLang="zh-CN" sz="2400" dirty="0"/>
                <a:t>Want to take exception, replace </a:t>
              </a:r>
              <a:r>
                <a:rPr lang="en-US" altLang="zh-CN" sz="2400" i="1" dirty="0" err="1"/>
                <a:t>NaN</a:t>
              </a:r>
              <a:r>
                <a:rPr lang="en-US" altLang="zh-CN" sz="2400" i="1" dirty="0"/>
                <a:t> </a:t>
              </a:r>
              <a:r>
                <a:rPr lang="en-US" altLang="zh-CN" sz="2400" dirty="0"/>
                <a:t>with 1, then restart.</a:t>
              </a:r>
            </a:p>
          </p:txBody>
        </p:sp>
        <p:graphicFrame>
          <p:nvGraphicFramePr>
            <p:cNvPr id="724998" name="Object 6"/>
            <p:cNvGraphicFramePr>
              <a:graphicFrameLocks noChangeAspect="1"/>
            </p:cNvGraphicFramePr>
            <p:nvPr>
              <p:extLst>
                <p:ext uri="{D42A27DB-BD31-4B8C-83A1-F6EECF244321}">
                  <p14:modId xmlns:p14="http://schemas.microsoft.com/office/powerpoint/2010/main" val="1805179852"/>
                </p:ext>
              </p:extLst>
            </p:nvPr>
          </p:nvGraphicFramePr>
          <p:xfrm>
            <a:off x="1273" y="2014"/>
            <a:ext cx="460" cy="167"/>
          </p:xfrm>
          <a:graphic>
            <a:graphicData uri="http://schemas.openxmlformats.org/presentationml/2006/ole">
              <mc:AlternateContent xmlns:mc="http://schemas.openxmlformats.org/markup-compatibility/2006">
                <mc:Choice xmlns:v="urn:schemas-microsoft-com:vml" Requires="v">
                  <p:oleObj spid="_x0000_s5182" name="Equation" r:id="rId3" imgW="736560" imgH="266400" progId="Equation.3">
                    <p:embed/>
                  </p:oleObj>
                </mc:Choice>
                <mc:Fallback>
                  <p:oleObj name="Equation" r:id="rId3" imgW="736560" imgH="266400" progId="Equation.3">
                    <p:embed/>
                    <p:pic>
                      <p:nvPicPr>
                        <p:cNvPr id="72499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3" y="2014"/>
                          <a:ext cx="460"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4999" name="Object 7"/>
            <p:cNvGraphicFramePr>
              <a:graphicFrameLocks noChangeAspect="1"/>
            </p:cNvGraphicFramePr>
            <p:nvPr>
              <p:extLst>
                <p:ext uri="{D42A27DB-BD31-4B8C-83A1-F6EECF244321}">
                  <p14:modId xmlns:p14="http://schemas.microsoft.com/office/powerpoint/2010/main" val="1725238021"/>
                </p:ext>
              </p:extLst>
            </p:nvPr>
          </p:nvGraphicFramePr>
          <p:xfrm>
            <a:off x="1865" y="2024"/>
            <a:ext cx="2222" cy="360"/>
          </p:xfrm>
          <a:graphic>
            <a:graphicData uri="http://schemas.openxmlformats.org/presentationml/2006/ole">
              <mc:AlternateContent xmlns:mc="http://schemas.openxmlformats.org/markup-compatibility/2006">
                <mc:Choice xmlns:v="urn:schemas-microsoft-com:vml" Requires="v">
                  <p:oleObj spid="_x0000_s5183" name="Equation" r:id="rId5" imgW="3555720" imgH="571320" progId="Equation.3">
                    <p:embed/>
                  </p:oleObj>
                </mc:Choice>
                <mc:Fallback>
                  <p:oleObj name="Equation" r:id="rId5" imgW="3555720" imgH="571320" progId="Equation.3">
                    <p:embed/>
                    <p:pic>
                      <p:nvPicPr>
                        <p:cNvPr id="724999"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65" y="2024"/>
                          <a:ext cx="2222" cy="3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5000" name="Object 8"/>
            <p:cNvGraphicFramePr>
              <a:graphicFrameLocks noChangeAspect="1"/>
            </p:cNvGraphicFramePr>
            <p:nvPr>
              <p:extLst>
                <p:ext uri="{D42A27DB-BD31-4B8C-83A1-F6EECF244321}">
                  <p14:modId xmlns:p14="http://schemas.microsoft.com/office/powerpoint/2010/main" val="151720433"/>
                </p:ext>
              </p:extLst>
            </p:nvPr>
          </p:nvGraphicFramePr>
          <p:xfrm>
            <a:off x="3326" y="1711"/>
            <a:ext cx="1024" cy="423"/>
          </p:xfrm>
          <a:graphic>
            <a:graphicData uri="http://schemas.openxmlformats.org/presentationml/2006/ole">
              <mc:AlternateContent xmlns:mc="http://schemas.openxmlformats.org/markup-compatibility/2006">
                <mc:Choice xmlns:v="urn:schemas-microsoft-com:vml" Requires="v">
                  <p:oleObj spid="_x0000_s5184" name="Equation" r:id="rId7" imgW="1638000" imgH="672840" progId="Equation.3">
                    <p:embed/>
                  </p:oleObj>
                </mc:Choice>
                <mc:Fallback>
                  <p:oleObj name="Equation" r:id="rId7" imgW="1638000" imgH="672840" progId="Equation.3">
                    <p:embed/>
                    <p:pic>
                      <p:nvPicPr>
                        <p:cNvPr id="72500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26" y="1711"/>
                          <a:ext cx="1024" cy="4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8529531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24996"/>
                                        </p:tgtEl>
                                        <p:attrNameLst>
                                          <p:attrName>style.visibility</p:attrName>
                                        </p:attrNameLst>
                                      </p:cBhvr>
                                      <p:to>
                                        <p:strVal val="visible"/>
                                      </p:to>
                                    </p:set>
                                    <p:anim calcmode="lin" valueType="num">
                                      <p:cBhvr additive="base">
                                        <p:cTn id="7" dur="500" fill="hold"/>
                                        <p:tgtEl>
                                          <p:spTgt spid="724996"/>
                                        </p:tgtEl>
                                        <p:attrNameLst>
                                          <p:attrName>ppt_x</p:attrName>
                                        </p:attrNameLst>
                                      </p:cBhvr>
                                      <p:tavLst>
                                        <p:tav tm="0">
                                          <p:val>
                                            <p:strVal val="1+#ppt_w/2"/>
                                          </p:val>
                                        </p:tav>
                                        <p:tav tm="100000">
                                          <p:val>
                                            <p:strVal val="#ppt_x"/>
                                          </p:val>
                                        </p:tav>
                                      </p:tavLst>
                                    </p:anim>
                                    <p:anim calcmode="lin" valueType="num">
                                      <p:cBhvr additive="base">
                                        <p:cTn id="8" dur="500" fill="hold"/>
                                        <p:tgtEl>
                                          <p:spTgt spid="72499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24995">
                                            <p:txEl>
                                              <p:pRg st="0" end="0"/>
                                            </p:txEl>
                                          </p:spTgt>
                                        </p:tgtEl>
                                        <p:attrNameLst>
                                          <p:attrName>style.visibility</p:attrName>
                                        </p:attrNameLst>
                                      </p:cBhvr>
                                      <p:to>
                                        <p:strVal val="visible"/>
                                      </p:to>
                                    </p:set>
                                    <p:anim calcmode="lin" valueType="num">
                                      <p:cBhvr additive="base">
                                        <p:cTn id="13" dur="500" fill="hold"/>
                                        <p:tgtEl>
                                          <p:spTgt spid="724995">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2499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24995">
                                            <p:txEl>
                                              <p:pRg st="1" end="1"/>
                                            </p:txEl>
                                          </p:spTgt>
                                        </p:tgtEl>
                                        <p:attrNameLst>
                                          <p:attrName>style.visibility</p:attrName>
                                        </p:attrNameLst>
                                      </p:cBhvr>
                                      <p:to>
                                        <p:strVal val="visible"/>
                                      </p:to>
                                    </p:set>
                                    <p:anim calcmode="lin" valueType="num">
                                      <p:cBhvr additive="base">
                                        <p:cTn id="19" dur="500" fill="hold"/>
                                        <p:tgtEl>
                                          <p:spTgt spid="724995">
                                            <p:txEl>
                                              <p:pRg st="1" end="1"/>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24995">
                                            <p:txEl>
                                              <p:pRg st="1" end="1"/>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724995">
                                            <p:txEl>
                                              <p:pRg st="2" end="2"/>
                                            </p:txEl>
                                          </p:spTgt>
                                        </p:tgtEl>
                                        <p:attrNameLst>
                                          <p:attrName>style.visibility</p:attrName>
                                        </p:attrNameLst>
                                      </p:cBhvr>
                                      <p:to>
                                        <p:strVal val="visible"/>
                                      </p:to>
                                    </p:set>
                                    <p:anim calcmode="lin" valueType="num">
                                      <p:cBhvr additive="base">
                                        <p:cTn id="23" dur="500" fill="hold"/>
                                        <p:tgtEl>
                                          <p:spTgt spid="724995">
                                            <p:txEl>
                                              <p:pRg st="2" end="2"/>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724995">
                                            <p:txEl>
                                              <p:pRg st="2" end="2"/>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724995">
                                            <p:txEl>
                                              <p:pRg st="3" end="3"/>
                                            </p:txEl>
                                          </p:spTgt>
                                        </p:tgtEl>
                                        <p:attrNameLst>
                                          <p:attrName>style.visibility</p:attrName>
                                        </p:attrNameLst>
                                      </p:cBhvr>
                                      <p:to>
                                        <p:strVal val="visible"/>
                                      </p:to>
                                    </p:set>
                                    <p:anim calcmode="lin" valueType="num">
                                      <p:cBhvr additive="base">
                                        <p:cTn id="27" dur="500" fill="hold"/>
                                        <p:tgtEl>
                                          <p:spTgt spid="724995">
                                            <p:txEl>
                                              <p:pRg st="3" end="3"/>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72499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4995" grpId="0" build="p" autoUpdateAnimBg="0"/>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6018" name="Rectangle 2"/>
          <p:cNvSpPr>
            <a:spLocks noGrp="1" noChangeArrowheads="1"/>
          </p:cNvSpPr>
          <p:nvPr>
            <p:ph type="title"/>
          </p:nvPr>
        </p:nvSpPr>
        <p:spPr/>
        <p:txBody>
          <a:bodyPr/>
          <a:lstStyle/>
          <a:p>
            <a:r>
              <a:rPr lang="en-US" altLang="zh-CN" smtClean="0"/>
              <a:t>Approximations to precise interrupts</a:t>
            </a:r>
            <a:endParaRPr lang="en-US" altLang="zh-CN"/>
          </a:p>
        </p:txBody>
      </p:sp>
      <p:sp>
        <p:nvSpPr>
          <p:cNvPr id="726019" name="Rectangle 3"/>
          <p:cNvSpPr>
            <a:spLocks noGrp="1" noChangeArrowheads="1"/>
          </p:cNvSpPr>
          <p:nvPr>
            <p:ph type="body" idx="1"/>
          </p:nvPr>
        </p:nvSpPr>
        <p:spPr>
          <a:xfrm>
            <a:off x="335360" y="1556792"/>
            <a:ext cx="11665296" cy="5112568"/>
          </a:xfrm>
        </p:spPr>
        <p:txBody>
          <a:bodyPr/>
          <a:lstStyle/>
          <a:p>
            <a:r>
              <a:rPr lang="en-US" altLang="zh-CN" dirty="0" smtClean="0"/>
              <a:t>Hardware has imprecise state at time of interrupt </a:t>
            </a:r>
          </a:p>
          <a:p>
            <a:r>
              <a:rPr lang="en-US" altLang="zh-CN" dirty="0" smtClean="0"/>
              <a:t>Exception handler must figure out how to find a precise PC at which to restart program.</a:t>
            </a:r>
          </a:p>
          <a:p>
            <a:pPr lvl="1"/>
            <a:r>
              <a:rPr lang="en-US" altLang="zh-CN" dirty="0" smtClean="0"/>
              <a:t>Emulate instructions that may remain in pipeline</a:t>
            </a:r>
          </a:p>
          <a:p>
            <a:pPr lvl="1"/>
            <a:r>
              <a:rPr lang="en-US" altLang="zh-CN" dirty="0" smtClean="0"/>
              <a:t>Example: SPARC allows limited parallelism between FP and integer core:</a:t>
            </a:r>
          </a:p>
          <a:p>
            <a:pPr lvl="2"/>
            <a:r>
              <a:rPr lang="en-US" altLang="zh-CN" dirty="0" smtClean="0"/>
              <a:t>possible that integer instructions #1 - #4 have already executed at time </a:t>
            </a:r>
            <a:br>
              <a:rPr lang="en-US" altLang="zh-CN" dirty="0" smtClean="0"/>
            </a:br>
            <a:r>
              <a:rPr lang="en-US" altLang="zh-CN" dirty="0" smtClean="0"/>
              <a:t>that the first floating instruction gets a recoverable exception</a:t>
            </a:r>
          </a:p>
          <a:p>
            <a:pPr lvl="2"/>
            <a:r>
              <a:rPr lang="en-US" altLang="zh-CN" dirty="0" smtClean="0"/>
              <a:t>Interrupt handler code must fixup &lt;float 1&gt;, then emulate </a:t>
            </a:r>
            <a:br>
              <a:rPr lang="en-US" altLang="zh-CN" dirty="0" smtClean="0"/>
            </a:br>
            <a:r>
              <a:rPr lang="en-US" altLang="zh-CN" dirty="0" smtClean="0"/>
              <a:t>both &lt;float 1&gt; and &lt;float 2&gt;</a:t>
            </a:r>
          </a:p>
          <a:p>
            <a:pPr lvl="2"/>
            <a:r>
              <a:rPr lang="en-US" altLang="zh-CN" dirty="0" smtClean="0"/>
              <a:t>At that point, precise interrupt point is integer instruction #5.</a:t>
            </a:r>
          </a:p>
          <a:p>
            <a:pPr lvl="1"/>
            <a:r>
              <a:rPr lang="en-US" altLang="zh-CN" dirty="0"/>
              <a:t>Vax had string move instructions that could be in middle at </a:t>
            </a:r>
            <a:r>
              <a:rPr lang="en-US" altLang="zh-CN" dirty="0" smtClean="0"/>
              <a:t/>
            </a:r>
            <a:br>
              <a:rPr lang="en-US" altLang="zh-CN" dirty="0" smtClean="0"/>
            </a:br>
            <a:r>
              <a:rPr lang="en-US" altLang="zh-CN" dirty="0" smtClean="0"/>
              <a:t>time </a:t>
            </a:r>
            <a:r>
              <a:rPr lang="en-US" altLang="zh-CN" dirty="0"/>
              <a:t>that page-fault occurred.</a:t>
            </a:r>
          </a:p>
          <a:p>
            <a:pPr lvl="1"/>
            <a:r>
              <a:rPr lang="en-US" altLang="zh-CN" dirty="0"/>
              <a:t>Could be arbitrary processor state that needs to be restored to restart execution</a:t>
            </a:r>
            <a:r>
              <a:rPr lang="en-US" altLang="zh-CN" dirty="0" smtClean="0"/>
              <a:t>.</a:t>
            </a:r>
            <a:br>
              <a:rPr lang="en-US" altLang="zh-CN" dirty="0" smtClean="0"/>
            </a:br>
            <a:endParaRPr lang="en-US" altLang="zh-CN" dirty="0"/>
          </a:p>
        </p:txBody>
      </p:sp>
      <p:grpSp>
        <p:nvGrpSpPr>
          <p:cNvPr id="726020" name="Group 4"/>
          <p:cNvGrpSpPr>
            <a:grpSpLocks/>
          </p:cNvGrpSpPr>
          <p:nvPr/>
        </p:nvGrpSpPr>
        <p:grpSpPr bwMode="auto">
          <a:xfrm>
            <a:off x="8904289" y="3644901"/>
            <a:ext cx="2449513" cy="2225675"/>
            <a:chOff x="4649" y="2296"/>
            <a:chExt cx="1543" cy="1402"/>
          </a:xfrm>
        </p:grpSpPr>
        <p:sp>
          <p:nvSpPr>
            <p:cNvPr id="726021" name="Text Box 5"/>
            <p:cNvSpPr txBox="1">
              <a:spLocks noChangeArrowheads="1"/>
            </p:cNvSpPr>
            <p:nvPr/>
          </p:nvSpPr>
          <p:spPr bwMode="auto">
            <a:xfrm>
              <a:off x="5212" y="2296"/>
              <a:ext cx="980" cy="140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0"/>
                </a:spcBef>
              </a:pPr>
              <a:r>
                <a:rPr lang="en-US" altLang="zh-CN" sz="2000" dirty="0">
                  <a:latin typeface="Courier New" panose="02070309020205020404" pitchFamily="49" charset="0"/>
                </a:rPr>
                <a:t>&lt;float 1&gt;</a:t>
              </a:r>
            </a:p>
            <a:p>
              <a:pPr>
                <a:spcBef>
                  <a:spcPct val="0"/>
                </a:spcBef>
              </a:pPr>
              <a:r>
                <a:rPr lang="en-US" altLang="zh-CN" sz="2000" dirty="0">
                  <a:latin typeface="Courier New" panose="02070309020205020404" pitchFamily="49" charset="0"/>
                </a:rPr>
                <a:t>&lt;</a:t>
              </a:r>
              <a:r>
                <a:rPr lang="en-US" altLang="zh-CN" sz="2000" dirty="0" err="1">
                  <a:latin typeface="Courier New" panose="02070309020205020404" pitchFamily="49" charset="0"/>
                </a:rPr>
                <a:t>int</a:t>
              </a:r>
              <a:r>
                <a:rPr lang="en-US" altLang="zh-CN" sz="2000" dirty="0">
                  <a:latin typeface="Courier New" panose="02070309020205020404" pitchFamily="49" charset="0"/>
                </a:rPr>
                <a:t> 1&gt;</a:t>
              </a:r>
            </a:p>
            <a:p>
              <a:pPr>
                <a:spcBef>
                  <a:spcPct val="0"/>
                </a:spcBef>
              </a:pPr>
              <a:r>
                <a:rPr lang="en-US" altLang="zh-CN" sz="2000" dirty="0">
                  <a:latin typeface="Courier New" panose="02070309020205020404" pitchFamily="49" charset="0"/>
                </a:rPr>
                <a:t>&lt;</a:t>
              </a:r>
              <a:r>
                <a:rPr lang="en-US" altLang="zh-CN" sz="2000" dirty="0" err="1">
                  <a:latin typeface="Courier New" panose="02070309020205020404" pitchFamily="49" charset="0"/>
                </a:rPr>
                <a:t>int</a:t>
              </a:r>
              <a:r>
                <a:rPr lang="en-US" altLang="zh-CN" sz="2000" dirty="0">
                  <a:latin typeface="Courier New" panose="02070309020205020404" pitchFamily="49" charset="0"/>
                </a:rPr>
                <a:t> 2&gt;</a:t>
              </a:r>
            </a:p>
            <a:p>
              <a:pPr>
                <a:spcBef>
                  <a:spcPct val="0"/>
                </a:spcBef>
              </a:pPr>
              <a:r>
                <a:rPr lang="en-US" altLang="zh-CN" sz="2000" dirty="0">
                  <a:latin typeface="Courier New" panose="02070309020205020404" pitchFamily="49" charset="0"/>
                </a:rPr>
                <a:t>&lt;</a:t>
              </a:r>
              <a:r>
                <a:rPr lang="en-US" altLang="zh-CN" sz="2000" dirty="0" err="1">
                  <a:latin typeface="Courier New" panose="02070309020205020404" pitchFamily="49" charset="0"/>
                </a:rPr>
                <a:t>int</a:t>
              </a:r>
              <a:r>
                <a:rPr lang="en-US" altLang="zh-CN" sz="2000" dirty="0">
                  <a:latin typeface="Courier New" panose="02070309020205020404" pitchFamily="49" charset="0"/>
                </a:rPr>
                <a:t> 3&gt;</a:t>
              </a:r>
            </a:p>
            <a:p>
              <a:pPr>
                <a:spcBef>
                  <a:spcPct val="0"/>
                </a:spcBef>
              </a:pPr>
              <a:r>
                <a:rPr lang="en-US" altLang="zh-CN" sz="2000" dirty="0">
                  <a:latin typeface="Courier New" panose="02070309020205020404" pitchFamily="49" charset="0"/>
                </a:rPr>
                <a:t>&lt;float 2&gt;</a:t>
              </a:r>
            </a:p>
            <a:p>
              <a:pPr>
                <a:spcBef>
                  <a:spcPct val="0"/>
                </a:spcBef>
              </a:pPr>
              <a:r>
                <a:rPr lang="en-US" altLang="zh-CN" sz="2000" dirty="0">
                  <a:latin typeface="Courier New" panose="02070309020205020404" pitchFamily="49" charset="0"/>
                </a:rPr>
                <a:t>&lt;</a:t>
              </a:r>
              <a:r>
                <a:rPr lang="en-US" altLang="zh-CN" sz="2000" dirty="0" err="1">
                  <a:latin typeface="Courier New" panose="02070309020205020404" pitchFamily="49" charset="0"/>
                </a:rPr>
                <a:t>int</a:t>
              </a:r>
              <a:r>
                <a:rPr lang="en-US" altLang="zh-CN" sz="2000" dirty="0">
                  <a:latin typeface="Courier New" panose="02070309020205020404" pitchFamily="49" charset="0"/>
                </a:rPr>
                <a:t> 4&gt;</a:t>
              </a:r>
            </a:p>
            <a:p>
              <a:pPr>
                <a:spcBef>
                  <a:spcPct val="0"/>
                </a:spcBef>
              </a:pPr>
              <a:r>
                <a:rPr lang="en-US" altLang="zh-CN" sz="2000" dirty="0">
                  <a:latin typeface="Courier New" panose="02070309020205020404" pitchFamily="49" charset="0"/>
                </a:rPr>
                <a:t>&lt;</a:t>
              </a:r>
              <a:r>
                <a:rPr lang="en-US" altLang="zh-CN" sz="2000" dirty="0" err="1">
                  <a:latin typeface="Courier New" panose="02070309020205020404" pitchFamily="49" charset="0"/>
                </a:rPr>
                <a:t>int</a:t>
              </a:r>
              <a:r>
                <a:rPr lang="en-US" altLang="zh-CN" sz="2000" dirty="0">
                  <a:latin typeface="Courier New" panose="02070309020205020404" pitchFamily="49" charset="0"/>
                </a:rPr>
                <a:t> 5&gt;</a:t>
              </a:r>
            </a:p>
          </p:txBody>
        </p:sp>
        <p:sp>
          <p:nvSpPr>
            <p:cNvPr id="726022" name="AutoShape 6"/>
            <p:cNvSpPr>
              <a:spLocks noChangeArrowheads="1"/>
            </p:cNvSpPr>
            <p:nvPr/>
          </p:nvSpPr>
          <p:spPr bwMode="auto">
            <a:xfrm>
              <a:off x="4649" y="2722"/>
              <a:ext cx="480" cy="288"/>
            </a:xfrm>
            <a:prstGeom prst="rightArrow">
              <a:avLst>
                <a:gd name="adj1" fmla="val 50000"/>
                <a:gd name="adj2" fmla="val 41667"/>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6023" name="Rectangle 7"/>
          <p:cNvSpPr>
            <a:spLocks noChangeArrowheads="1"/>
          </p:cNvSpPr>
          <p:nvPr/>
        </p:nvSpPr>
        <p:spPr bwMode="auto">
          <a:xfrm>
            <a:off x="1589088" y="5257800"/>
            <a:ext cx="8305800" cy="13541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lnSpc>
                <a:spcPct val="90000"/>
              </a:lnSpc>
              <a:spcBef>
                <a:spcPct val="30000"/>
              </a:spcBef>
              <a:buSzPct val="100000"/>
              <a:buChar char="•"/>
              <a:defRPr sz="2400" b="1">
                <a:solidFill>
                  <a:schemeClr val="tx1"/>
                </a:solidFill>
                <a:latin typeface="Arial" panose="020B0604020202020204" pitchFamily="34" charset="0"/>
              </a:defRPr>
            </a:lvl1pPr>
            <a:lvl2pPr marL="685800" indent="-228600">
              <a:lnSpc>
                <a:spcPct val="90000"/>
              </a:lnSpc>
              <a:spcBef>
                <a:spcPct val="30000"/>
              </a:spcBef>
              <a:buSzPct val="100000"/>
              <a:buChar char="–"/>
              <a:defRPr b="1">
                <a:solidFill>
                  <a:schemeClr val="tx1"/>
                </a:solidFill>
                <a:latin typeface="Arial" panose="020B0604020202020204" pitchFamily="34" charset="0"/>
              </a:defRPr>
            </a:lvl2pPr>
            <a:lvl3pPr marL="1143000" indent="-228600">
              <a:lnSpc>
                <a:spcPct val="90000"/>
              </a:lnSpc>
              <a:spcBef>
                <a:spcPct val="30000"/>
              </a:spcBef>
              <a:buSzPct val="100000"/>
              <a:buChar char="»"/>
              <a:defRPr b="1">
                <a:solidFill>
                  <a:schemeClr val="tx1"/>
                </a:solidFill>
                <a:latin typeface="Arial" panose="020B0604020202020204" pitchFamily="34" charset="0"/>
              </a:defRPr>
            </a:lvl3pPr>
            <a:lvl4pPr marL="1543050" indent="-171450">
              <a:lnSpc>
                <a:spcPct val="90000"/>
              </a:lnSpc>
              <a:spcBef>
                <a:spcPct val="30000"/>
              </a:spcBef>
              <a:buSzPct val="100000"/>
              <a:buChar char="•"/>
              <a:defRPr sz="1400" b="1">
                <a:solidFill>
                  <a:schemeClr val="tx1"/>
                </a:solidFill>
                <a:latin typeface="Arial" panose="020B0604020202020204" pitchFamily="34" charset="0"/>
              </a:defRPr>
            </a:lvl4pPr>
            <a:lvl5pPr marL="2000250" indent="-171450">
              <a:lnSpc>
                <a:spcPct val="90000"/>
              </a:lnSpc>
              <a:spcBef>
                <a:spcPct val="30000"/>
              </a:spcBef>
              <a:buSzPct val="100000"/>
              <a:buChar char="–"/>
              <a:defRPr sz="1400" b="1">
                <a:solidFill>
                  <a:schemeClr val="tx1"/>
                </a:solidFill>
                <a:latin typeface="Arial" panose="020B0604020202020204" pitchFamily="34" charset="0"/>
              </a:defRPr>
            </a:lvl5pPr>
            <a:lvl6pPr marL="24574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6pPr>
            <a:lvl7pPr marL="29146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7pPr>
            <a:lvl8pPr marL="33718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8pPr>
            <a:lvl9pPr marL="3829050" indent="-171450" eaLnBrk="0" fontAlgn="base" hangingPunct="0">
              <a:lnSpc>
                <a:spcPct val="90000"/>
              </a:lnSpc>
              <a:spcBef>
                <a:spcPct val="30000"/>
              </a:spcBef>
              <a:spcAft>
                <a:spcPct val="0"/>
              </a:spcAft>
              <a:buSzPct val="100000"/>
              <a:buChar char="–"/>
              <a:defRPr sz="1400" b="1">
                <a:solidFill>
                  <a:schemeClr val="tx1"/>
                </a:solidFill>
                <a:latin typeface="Arial" panose="020B0604020202020204" pitchFamily="34" charset="0"/>
              </a:defRPr>
            </a:lvl9pPr>
          </a:lstStyle>
          <a:p>
            <a:endParaRPr lang="en-US" altLang="zh-CN" dirty="0"/>
          </a:p>
        </p:txBody>
      </p:sp>
    </p:spTree>
    <p:extLst>
      <p:ext uri="{BB962C8B-B14F-4D97-AF65-F5344CB8AC3E}">
        <p14:creationId xmlns:p14="http://schemas.microsoft.com/office/powerpoint/2010/main" val="29397028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26019">
                                            <p:txEl>
                                              <p:pRg st="0" end="0"/>
                                            </p:txEl>
                                          </p:spTgt>
                                        </p:tgtEl>
                                        <p:attrNameLst>
                                          <p:attrName>style.visibility</p:attrName>
                                        </p:attrNameLst>
                                      </p:cBhvr>
                                      <p:to>
                                        <p:strVal val="visible"/>
                                      </p:to>
                                    </p:set>
                                    <p:anim calcmode="lin" valueType="num">
                                      <p:cBhvr additive="base">
                                        <p:cTn id="7" dur="500" fill="hold"/>
                                        <p:tgtEl>
                                          <p:spTgt spid="72601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2601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26019">
                                            <p:txEl>
                                              <p:pRg st="1" end="1"/>
                                            </p:txEl>
                                          </p:spTgt>
                                        </p:tgtEl>
                                        <p:attrNameLst>
                                          <p:attrName>style.visibility</p:attrName>
                                        </p:attrNameLst>
                                      </p:cBhvr>
                                      <p:to>
                                        <p:strVal val="visible"/>
                                      </p:to>
                                    </p:set>
                                    <p:anim calcmode="lin" valueType="num">
                                      <p:cBhvr additive="base">
                                        <p:cTn id="13" dur="500" fill="hold"/>
                                        <p:tgtEl>
                                          <p:spTgt spid="72601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2601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26019">
                                            <p:txEl>
                                              <p:pRg st="2" end="2"/>
                                            </p:txEl>
                                          </p:spTgt>
                                        </p:tgtEl>
                                        <p:attrNameLst>
                                          <p:attrName>style.visibility</p:attrName>
                                        </p:attrNameLst>
                                      </p:cBhvr>
                                      <p:to>
                                        <p:strVal val="visible"/>
                                      </p:to>
                                    </p:set>
                                    <p:anim calcmode="lin" valueType="num">
                                      <p:cBhvr additive="base">
                                        <p:cTn id="19" dur="500" fill="hold"/>
                                        <p:tgtEl>
                                          <p:spTgt spid="72601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2601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26019">
                                            <p:txEl>
                                              <p:pRg st="3" end="3"/>
                                            </p:txEl>
                                          </p:spTgt>
                                        </p:tgtEl>
                                        <p:attrNameLst>
                                          <p:attrName>style.visibility</p:attrName>
                                        </p:attrNameLst>
                                      </p:cBhvr>
                                      <p:to>
                                        <p:strVal val="visible"/>
                                      </p:to>
                                    </p:set>
                                    <p:anim calcmode="lin" valueType="num">
                                      <p:cBhvr additive="base">
                                        <p:cTn id="25" dur="500" fill="hold"/>
                                        <p:tgtEl>
                                          <p:spTgt spid="72601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26019">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726019">
                                            <p:txEl>
                                              <p:pRg st="4" end="4"/>
                                            </p:txEl>
                                          </p:spTgt>
                                        </p:tgtEl>
                                        <p:attrNameLst>
                                          <p:attrName>style.visibility</p:attrName>
                                        </p:attrNameLst>
                                      </p:cBhvr>
                                      <p:to>
                                        <p:strVal val="visible"/>
                                      </p:to>
                                    </p:set>
                                    <p:anim calcmode="lin" valueType="num">
                                      <p:cBhvr additive="base">
                                        <p:cTn id="29" dur="500" fill="hold"/>
                                        <p:tgtEl>
                                          <p:spTgt spid="726019">
                                            <p:txEl>
                                              <p:pRg st="4" end="4"/>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726019">
                                            <p:txEl>
                                              <p:pRg st="4" end="4"/>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726019">
                                            <p:txEl>
                                              <p:pRg st="5" end="5"/>
                                            </p:txEl>
                                          </p:spTgt>
                                        </p:tgtEl>
                                        <p:attrNameLst>
                                          <p:attrName>style.visibility</p:attrName>
                                        </p:attrNameLst>
                                      </p:cBhvr>
                                      <p:to>
                                        <p:strVal val="visible"/>
                                      </p:to>
                                    </p:set>
                                    <p:anim calcmode="lin" valueType="num">
                                      <p:cBhvr additive="base">
                                        <p:cTn id="33" dur="500" fill="hold"/>
                                        <p:tgtEl>
                                          <p:spTgt spid="726019">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726019">
                                            <p:txEl>
                                              <p:pRg st="5" end="5"/>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726019">
                                            <p:txEl>
                                              <p:pRg st="6" end="6"/>
                                            </p:txEl>
                                          </p:spTgt>
                                        </p:tgtEl>
                                        <p:attrNameLst>
                                          <p:attrName>style.visibility</p:attrName>
                                        </p:attrNameLst>
                                      </p:cBhvr>
                                      <p:to>
                                        <p:strVal val="visible"/>
                                      </p:to>
                                    </p:set>
                                    <p:anim calcmode="lin" valueType="num">
                                      <p:cBhvr additive="base">
                                        <p:cTn id="37" dur="500" fill="hold"/>
                                        <p:tgtEl>
                                          <p:spTgt spid="726019">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2601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26019">
                                            <p:txEl>
                                              <p:pRg st="7" end="7"/>
                                            </p:txEl>
                                          </p:spTgt>
                                        </p:tgtEl>
                                        <p:attrNameLst>
                                          <p:attrName>style.visibility</p:attrName>
                                        </p:attrNameLst>
                                      </p:cBhvr>
                                      <p:to>
                                        <p:strVal val="visible"/>
                                      </p:to>
                                    </p:set>
                                    <p:anim calcmode="lin" valueType="num">
                                      <p:cBhvr additive="base">
                                        <p:cTn id="43" dur="500" fill="hold"/>
                                        <p:tgtEl>
                                          <p:spTgt spid="726019">
                                            <p:txEl>
                                              <p:pRg st="7" end="7"/>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2601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726019">
                                            <p:txEl>
                                              <p:pRg st="8" end="8"/>
                                            </p:txEl>
                                          </p:spTgt>
                                        </p:tgtEl>
                                        <p:attrNameLst>
                                          <p:attrName>style.visibility</p:attrName>
                                        </p:attrNameLst>
                                      </p:cBhvr>
                                      <p:to>
                                        <p:strVal val="visible"/>
                                      </p:to>
                                    </p:set>
                                    <p:anim calcmode="lin" valueType="num">
                                      <p:cBhvr additive="base">
                                        <p:cTn id="49" dur="500" fill="hold"/>
                                        <p:tgtEl>
                                          <p:spTgt spid="726019">
                                            <p:txEl>
                                              <p:pRg st="8" end="8"/>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726019">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499"/>
                                          </p:stCondLst>
                                        </p:cTn>
                                        <p:tgtEl>
                                          <p:spTgt spid="72602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2" fill="hold" grpId="0" nodeType="clickEffect" nodePh="1">
                                  <p:stCondLst>
                                    <p:cond delay="0"/>
                                  </p:stCondLst>
                                  <p:endCondLst>
                                    <p:cond evt="begin" delay="0">
                                      <p:tn val="57"/>
                                    </p:cond>
                                  </p:endCondLst>
                                  <p:childTnLst>
                                    <p:set>
                                      <p:cBhvr>
                                        <p:cTn id="58" dur="1" fill="hold">
                                          <p:stCondLst>
                                            <p:cond delay="0"/>
                                          </p:stCondLst>
                                        </p:cTn>
                                        <p:tgtEl>
                                          <p:spTgt spid="726023">
                                            <p:txEl>
                                              <p:pRg st="0" end="0"/>
                                            </p:txEl>
                                          </p:spTgt>
                                        </p:tgtEl>
                                        <p:attrNameLst>
                                          <p:attrName>style.visibility</p:attrName>
                                        </p:attrNameLst>
                                      </p:cBhvr>
                                      <p:to>
                                        <p:strVal val="visible"/>
                                      </p:to>
                                    </p:set>
                                    <p:anim calcmode="lin" valueType="num">
                                      <p:cBhvr additive="base">
                                        <p:cTn id="59" dur="500" fill="hold"/>
                                        <p:tgtEl>
                                          <p:spTgt spid="726023">
                                            <p:txEl>
                                              <p:pRg st="0" end="0"/>
                                            </p:txEl>
                                          </p:spTgt>
                                        </p:tgtEl>
                                        <p:attrNameLst>
                                          <p:attrName>ppt_x</p:attrName>
                                        </p:attrNameLst>
                                      </p:cBhvr>
                                      <p:tavLst>
                                        <p:tav tm="0">
                                          <p:val>
                                            <p:strVal val="1+#ppt_w/2"/>
                                          </p:val>
                                        </p:tav>
                                        <p:tav tm="100000">
                                          <p:val>
                                            <p:strVal val="#ppt_x"/>
                                          </p:val>
                                        </p:tav>
                                      </p:tavLst>
                                    </p:anim>
                                    <p:anim calcmode="lin" valueType="num">
                                      <p:cBhvr additive="base">
                                        <p:cTn id="60" dur="500" fill="hold"/>
                                        <p:tgtEl>
                                          <p:spTgt spid="726023">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019" grpId="0" build="p" bldLvl="2" autoUpdateAnimBg="0"/>
      <p:bldP spid="726023" grpId="0" build="p" bldLvl="2"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42" name="Rectangle 2"/>
          <p:cNvSpPr>
            <a:spLocks noGrp="1" noChangeArrowheads="1"/>
          </p:cNvSpPr>
          <p:nvPr>
            <p:ph type="title"/>
          </p:nvPr>
        </p:nvSpPr>
        <p:spPr/>
        <p:txBody>
          <a:bodyPr/>
          <a:lstStyle/>
          <a:p>
            <a:r>
              <a:rPr lang="en-US" altLang="zh-CN" smtClean="0"/>
              <a:t>Precise Exceptions in simple </a:t>
            </a:r>
            <a:br>
              <a:rPr lang="en-US" altLang="zh-CN" smtClean="0"/>
            </a:br>
            <a:r>
              <a:rPr lang="en-US" altLang="zh-CN" smtClean="0"/>
              <a:t>5-stage pipeline:</a:t>
            </a:r>
            <a:endParaRPr lang="en-US" altLang="zh-CN"/>
          </a:p>
        </p:txBody>
      </p:sp>
      <p:sp>
        <p:nvSpPr>
          <p:cNvPr id="727043" name="Rectangle 3"/>
          <p:cNvSpPr>
            <a:spLocks noGrp="1" noChangeArrowheads="1"/>
          </p:cNvSpPr>
          <p:nvPr>
            <p:ph type="body" idx="1"/>
          </p:nvPr>
        </p:nvSpPr>
        <p:spPr>
          <a:xfrm>
            <a:off x="551384" y="1556792"/>
            <a:ext cx="11449272" cy="5112568"/>
          </a:xfrm>
        </p:spPr>
        <p:txBody>
          <a:bodyPr/>
          <a:lstStyle/>
          <a:p>
            <a:r>
              <a:rPr lang="en-US" altLang="zh-CN" dirty="0" smtClean="0"/>
              <a:t>Exceptions may occur at different stages in pipeline (I.e. out of order):</a:t>
            </a:r>
          </a:p>
          <a:p>
            <a:pPr lvl="1"/>
            <a:r>
              <a:rPr lang="en-US" altLang="zh-CN" dirty="0" smtClean="0"/>
              <a:t>Arithmetic exceptions occur in execution stage</a:t>
            </a:r>
          </a:p>
          <a:p>
            <a:pPr lvl="1"/>
            <a:r>
              <a:rPr lang="en-US" altLang="zh-CN" dirty="0" smtClean="0"/>
              <a:t>TLB faults can occur in instruction fetch or memory stage</a:t>
            </a:r>
          </a:p>
          <a:p>
            <a:r>
              <a:rPr lang="en-US" altLang="zh-CN" dirty="0" smtClean="0"/>
              <a:t>What about interrupts?  The doctor’s mandate of “do no harm” applies here: try to interrupt the pipeline as little as possible</a:t>
            </a:r>
          </a:p>
          <a:p>
            <a:r>
              <a:rPr lang="en-US" altLang="zh-CN" dirty="0" smtClean="0"/>
              <a:t>All of this solved by tagging instructions in pipeline as “cause exception or not” and wait until end of memory stage to flag exception</a:t>
            </a:r>
          </a:p>
          <a:p>
            <a:pPr lvl="1"/>
            <a:r>
              <a:rPr lang="en-US" altLang="zh-CN" dirty="0" smtClean="0"/>
              <a:t>Interrupts become marked NOPs (like bubbles) that are placed into pipeline instead of an instruction.</a:t>
            </a:r>
          </a:p>
          <a:p>
            <a:pPr lvl="1"/>
            <a:r>
              <a:rPr lang="en-US" altLang="zh-CN" dirty="0" smtClean="0"/>
              <a:t>Assume that interrupt condition persists in case NOP flushed</a:t>
            </a:r>
          </a:p>
          <a:p>
            <a:pPr lvl="1"/>
            <a:r>
              <a:rPr lang="en-US" altLang="zh-CN" dirty="0" smtClean="0"/>
              <a:t>Clever instruction fetch might start fetching instructions from interrupt vector, but this is complicated by need for</a:t>
            </a:r>
            <a:br>
              <a:rPr lang="en-US" altLang="zh-CN" dirty="0" smtClean="0"/>
            </a:br>
            <a:r>
              <a:rPr lang="en-US" altLang="zh-CN" dirty="0" smtClean="0"/>
              <a:t>supervisor mode switch, saving of one or more PCs, </a:t>
            </a:r>
            <a:r>
              <a:rPr lang="en-US" altLang="zh-CN" dirty="0" err="1" smtClean="0"/>
              <a:t>etc</a:t>
            </a:r>
            <a:endParaRPr lang="en-US" altLang="zh-CN" dirty="0"/>
          </a:p>
        </p:txBody>
      </p:sp>
      <p:pic>
        <p:nvPicPr>
          <p:cNvPr id="2" name="图片 1"/>
          <p:cNvPicPr>
            <a:picLocks noChangeAspect="1"/>
          </p:cNvPicPr>
          <p:nvPr/>
        </p:nvPicPr>
        <p:blipFill>
          <a:blip r:embed="rId2"/>
          <a:stretch>
            <a:fillRect/>
          </a:stretch>
        </p:blipFill>
        <p:spPr>
          <a:xfrm>
            <a:off x="7369646" y="797435"/>
            <a:ext cx="4822354" cy="615749"/>
          </a:xfrm>
          <a:prstGeom prst="rect">
            <a:avLst/>
          </a:prstGeom>
        </p:spPr>
      </p:pic>
    </p:spTree>
    <p:extLst>
      <p:ext uri="{BB962C8B-B14F-4D97-AF65-F5344CB8AC3E}">
        <p14:creationId xmlns:p14="http://schemas.microsoft.com/office/powerpoint/2010/main" val="25332030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27043">
                                            <p:txEl>
                                              <p:pRg st="0" end="0"/>
                                            </p:txEl>
                                          </p:spTgt>
                                        </p:tgtEl>
                                        <p:attrNameLst>
                                          <p:attrName>style.visibility</p:attrName>
                                        </p:attrNameLst>
                                      </p:cBhvr>
                                      <p:to>
                                        <p:strVal val="visible"/>
                                      </p:to>
                                    </p:set>
                                    <p:anim calcmode="lin" valueType="num">
                                      <p:cBhvr additive="base">
                                        <p:cTn id="7" dur="500" fill="hold"/>
                                        <p:tgtEl>
                                          <p:spTgt spid="72704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2704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727043">
                                            <p:txEl>
                                              <p:pRg st="1" end="1"/>
                                            </p:txEl>
                                          </p:spTgt>
                                        </p:tgtEl>
                                        <p:attrNameLst>
                                          <p:attrName>style.visibility</p:attrName>
                                        </p:attrNameLst>
                                      </p:cBhvr>
                                      <p:to>
                                        <p:strVal val="visible"/>
                                      </p:to>
                                    </p:set>
                                    <p:anim calcmode="lin" valueType="num">
                                      <p:cBhvr additive="base">
                                        <p:cTn id="11" dur="500" fill="hold"/>
                                        <p:tgtEl>
                                          <p:spTgt spid="72704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72704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727043">
                                            <p:txEl>
                                              <p:pRg st="2" end="2"/>
                                            </p:txEl>
                                          </p:spTgt>
                                        </p:tgtEl>
                                        <p:attrNameLst>
                                          <p:attrName>style.visibility</p:attrName>
                                        </p:attrNameLst>
                                      </p:cBhvr>
                                      <p:to>
                                        <p:strVal val="visible"/>
                                      </p:to>
                                    </p:set>
                                    <p:anim calcmode="lin" valueType="num">
                                      <p:cBhvr additive="base">
                                        <p:cTn id="15" dur="500" fill="hold"/>
                                        <p:tgtEl>
                                          <p:spTgt spid="72704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72704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727043">
                                            <p:txEl>
                                              <p:pRg st="3" end="3"/>
                                            </p:txEl>
                                          </p:spTgt>
                                        </p:tgtEl>
                                        <p:attrNameLst>
                                          <p:attrName>style.visibility</p:attrName>
                                        </p:attrNameLst>
                                      </p:cBhvr>
                                      <p:to>
                                        <p:strVal val="visible"/>
                                      </p:to>
                                    </p:set>
                                    <p:anim calcmode="lin" valueType="num">
                                      <p:cBhvr additive="base">
                                        <p:cTn id="21" dur="500" fill="hold"/>
                                        <p:tgtEl>
                                          <p:spTgt spid="727043">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72704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727043">
                                            <p:txEl>
                                              <p:pRg st="4" end="4"/>
                                            </p:txEl>
                                          </p:spTgt>
                                        </p:tgtEl>
                                        <p:attrNameLst>
                                          <p:attrName>style.visibility</p:attrName>
                                        </p:attrNameLst>
                                      </p:cBhvr>
                                      <p:to>
                                        <p:strVal val="visible"/>
                                      </p:to>
                                    </p:set>
                                    <p:anim calcmode="lin" valueType="num">
                                      <p:cBhvr additive="base">
                                        <p:cTn id="27" dur="500" fill="hold"/>
                                        <p:tgtEl>
                                          <p:spTgt spid="727043">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727043">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727043">
                                            <p:txEl>
                                              <p:pRg st="5" end="5"/>
                                            </p:txEl>
                                          </p:spTgt>
                                        </p:tgtEl>
                                        <p:attrNameLst>
                                          <p:attrName>style.visibility</p:attrName>
                                        </p:attrNameLst>
                                      </p:cBhvr>
                                      <p:to>
                                        <p:strVal val="visible"/>
                                      </p:to>
                                    </p:set>
                                    <p:anim calcmode="lin" valueType="num">
                                      <p:cBhvr additive="base">
                                        <p:cTn id="31" dur="500" fill="hold"/>
                                        <p:tgtEl>
                                          <p:spTgt spid="727043">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27043">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727043">
                                            <p:txEl>
                                              <p:pRg st="6" end="6"/>
                                            </p:txEl>
                                          </p:spTgt>
                                        </p:tgtEl>
                                        <p:attrNameLst>
                                          <p:attrName>style.visibility</p:attrName>
                                        </p:attrNameLst>
                                      </p:cBhvr>
                                      <p:to>
                                        <p:strVal val="visible"/>
                                      </p:to>
                                    </p:set>
                                    <p:anim calcmode="lin" valueType="num">
                                      <p:cBhvr additive="base">
                                        <p:cTn id="35" dur="500" fill="hold"/>
                                        <p:tgtEl>
                                          <p:spTgt spid="727043">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727043">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727043">
                                            <p:txEl>
                                              <p:pRg st="7" end="7"/>
                                            </p:txEl>
                                          </p:spTgt>
                                        </p:tgtEl>
                                        <p:attrNameLst>
                                          <p:attrName>style.visibility</p:attrName>
                                        </p:attrNameLst>
                                      </p:cBhvr>
                                      <p:to>
                                        <p:strVal val="visible"/>
                                      </p:to>
                                    </p:set>
                                    <p:anim calcmode="lin" valueType="num">
                                      <p:cBhvr additive="base">
                                        <p:cTn id="39" dur="500" fill="hold"/>
                                        <p:tgtEl>
                                          <p:spTgt spid="727043">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72704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43"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8066" name="Rectangle 2"/>
          <p:cNvSpPr>
            <a:spLocks noGrp="1" noChangeArrowheads="1"/>
          </p:cNvSpPr>
          <p:nvPr>
            <p:ph type="title"/>
          </p:nvPr>
        </p:nvSpPr>
        <p:spPr>
          <a:xfrm>
            <a:off x="448683" y="204574"/>
            <a:ext cx="9640460" cy="660694"/>
          </a:xfrm>
          <a:noFill/>
          <a:ln/>
          <a:extLst>
            <a:ext uri="{91240B29-F687-4F45-9708-019B960494DF}">
              <a14:hiddenLine xmlns:a14="http://schemas.microsoft.com/office/drawing/2010/main" w="12700">
                <a:solidFill>
                  <a:schemeClr val="tx1"/>
                </a:solidFill>
                <a:miter lim="800000"/>
                <a:headEnd/>
                <a:tailEnd/>
              </a14:hiddenLine>
            </a:ext>
          </a:extLst>
        </p:spPr>
        <p:txBody>
          <a:bodyPr vert="horz" wrap="none" lIns="63500" tIns="25400" rIns="63500" bIns="25400" numCol="1" anchor="t" anchorCtr="0" compatLnSpc="1">
            <a:prstTxWarp prst="textNoShape">
              <a:avLst/>
            </a:prstTxWarp>
            <a:spAutoFit/>
          </a:bodyPr>
          <a:lstStyle/>
          <a:p>
            <a:r>
              <a:rPr lang="en-US" altLang="zh-CN" dirty="0">
                <a:ea typeface="宋体" panose="02010600030101010101" pitchFamily="2" charset="-122"/>
              </a:rPr>
              <a:t>Another look at the exception problem</a:t>
            </a:r>
          </a:p>
        </p:txBody>
      </p:sp>
      <p:sp>
        <p:nvSpPr>
          <p:cNvPr id="728067" name="Rectangle 3"/>
          <p:cNvSpPr>
            <a:spLocks noGrp="1" noChangeArrowheads="1"/>
          </p:cNvSpPr>
          <p:nvPr>
            <p:ph type="body" idx="1"/>
          </p:nvPr>
        </p:nvSpPr>
        <p:spPr>
          <a:xfrm>
            <a:off x="475290" y="3750469"/>
            <a:ext cx="11335949" cy="2881313"/>
          </a:xfrm>
        </p:spPr>
        <p:txBody>
          <a:bodyPr/>
          <a:lstStyle/>
          <a:p>
            <a:pPr>
              <a:spcBef>
                <a:spcPct val="40000"/>
              </a:spcBef>
            </a:pPr>
            <a:r>
              <a:rPr lang="en-US" altLang="zh-CN" dirty="0">
                <a:ea typeface="宋体" panose="02010600030101010101" pitchFamily="2" charset="-122"/>
              </a:rPr>
              <a:t>Use pipeline to sort this out!</a:t>
            </a:r>
          </a:p>
          <a:p>
            <a:pPr marL="628650" lvl="1"/>
            <a:r>
              <a:rPr lang="en-US" altLang="zh-CN" dirty="0">
                <a:ea typeface="宋体" panose="02010600030101010101" pitchFamily="2" charset="-122"/>
              </a:rPr>
              <a:t>Pass exception status along with </a:t>
            </a:r>
            <a:r>
              <a:rPr lang="en-US" altLang="zh-CN" dirty="0" smtClean="0">
                <a:ea typeface="宋体" panose="02010600030101010101" pitchFamily="2" charset="-122"/>
              </a:rPr>
              <a:t>instruction; Keep </a:t>
            </a:r>
            <a:r>
              <a:rPr lang="en-US" altLang="zh-CN" dirty="0">
                <a:ea typeface="宋体" panose="02010600030101010101" pitchFamily="2" charset="-122"/>
              </a:rPr>
              <a:t>track of PCs for every instruction in </a:t>
            </a:r>
            <a:r>
              <a:rPr lang="en-US" altLang="zh-CN" dirty="0" smtClean="0">
                <a:ea typeface="宋体" panose="02010600030101010101" pitchFamily="2" charset="-122"/>
              </a:rPr>
              <a:t>pipeline; Don’t </a:t>
            </a:r>
            <a:r>
              <a:rPr lang="en-US" altLang="zh-CN" dirty="0">
                <a:ea typeface="宋体" panose="02010600030101010101" pitchFamily="2" charset="-122"/>
              </a:rPr>
              <a:t>act on exception until it </a:t>
            </a:r>
            <a:r>
              <a:rPr lang="en-US" altLang="zh-CN" dirty="0" smtClean="0">
                <a:ea typeface="宋体" panose="02010600030101010101" pitchFamily="2" charset="-122"/>
              </a:rPr>
              <a:t>reaches </a:t>
            </a:r>
            <a:r>
              <a:rPr lang="en-US" altLang="zh-CN" dirty="0">
                <a:ea typeface="宋体" panose="02010600030101010101" pitchFamily="2" charset="-122"/>
              </a:rPr>
              <a:t>WB stage</a:t>
            </a:r>
          </a:p>
          <a:p>
            <a:pPr>
              <a:spcBef>
                <a:spcPct val="40000"/>
              </a:spcBef>
            </a:pPr>
            <a:r>
              <a:rPr lang="en-US" altLang="zh-CN" dirty="0">
                <a:ea typeface="宋体" panose="02010600030101010101" pitchFamily="2" charset="-122"/>
              </a:rPr>
              <a:t>Handle interrupts through “faulting </a:t>
            </a:r>
            <a:r>
              <a:rPr lang="en-US" altLang="zh-CN" dirty="0" err="1">
                <a:ea typeface="宋体" panose="02010600030101010101" pitchFamily="2" charset="-122"/>
              </a:rPr>
              <a:t>noop</a:t>
            </a:r>
            <a:r>
              <a:rPr lang="en-US" altLang="zh-CN" dirty="0">
                <a:ea typeface="宋体" panose="02010600030101010101" pitchFamily="2" charset="-122"/>
              </a:rPr>
              <a:t>” in IF stage</a:t>
            </a:r>
          </a:p>
          <a:p>
            <a:pPr>
              <a:spcBef>
                <a:spcPct val="40000"/>
              </a:spcBef>
            </a:pPr>
            <a:r>
              <a:rPr lang="en-US" altLang="zh-CN" dirty="0">
                <a:ea typeface="宋体" panose="02010600030101010101" pitchFamily="2" charset="-122"/>
              </a:rPr>
              <a:t>When instruction reaches WB stage:</a:t>
            </a:r>
          </a:p>
          <a:p>
            <a:pPr marL="628650" lvl="1"/>
            <a:r>
              <a:rPr lang="en-US" altLang="zh-CN" dirty="0">
                <a:ea typeface="宋体" panose="02010600030101010101" pitchFamily="2" charset="-122"/>
              </a:rPr>
              <a:t>Save PC </a:t>
            </a:r>
            <a:r>
              <a:rPr lang="en-US" altLang="zh-CN" dirty="0">
                <a:ea typeface="宋体" panose="02010600030101010101" pitchFamily="2" charset="-122"/>
                <a:sym typeface="Symbol" panose="05050102010706020507" pitchFamily="18" charset="2"/>
              </a:rPr>
              <a:t> EPC, Interrupt vector </a:t>
            </a:r>
            <a:r>
              <a:rPr lang="en-US" altLang="zh-CN" dirty="0" err="1">
                <a:ea typeface="宋体" panose="02010600030101010101" pitchFamily="2" charset="-122"/>
                <a:sym typeface="Symbol" panose="05050102010706020507" pitchFamily="18" charset="2"/>
              </a:rPr>
              <a:t>addr</a:t>
            </a:r>
            <a:r>
              <a:rPr lang="en-US" altLang="zh-CN" dirty="0">
                <a:ea typeface="宋体" panose="02010600030101010101" pitchFamily="2" charset="-122"/>
                <a:sym typeface="Symbol" panose="05050102010706020507" pitchFamily="18" charset="2"/>
              </a:rPr>
              <a:t>  PC</a:t>
            </a:r>
          </a:p>
          <a:p>
            <a:pPr marL="628650" lvl="1"/>
            <a:r>
              <a:rPr lang="en-US" altLang="zh-CN" dirty="0">
                <a:ea typeface="宋体" panose="02010600030101010101" pitchFamily="2" charset="-122"/>
                <a:sym typeface="Symbol" panose="05050102010706020507" pitchFamily="18" charset="2"/>
              </a:rPr>
              <a:t>Turn all instructions in earlier stages into </a:t>
            </a:r>
            <a:r>
              <a:rPr lang="en-US" altLang="zh-CN" dirty="0" err="1">
                <a:ea typeface="宋体" panose="02010600030101010101" pitchFamily="2" charset="-122"/>
                <a:sym typeface="Symbol" panose="05050102010706020507" pitchFamily="18" charset="2"/>
              </a:rPr>
              <a:t>noops</a:t>
            </a:r>
            <a:r>
              <a:rPr lang="en-US" altLang="zh-CN" dirty="0">
                <a:ea typeface="宋体" panose="02010600030101010101" pitchFamily="2" charset="-122"/>
                <a:sym typeface="Symbol" panose="05050102010706020507" pitchFamily="18" charset="2"/>
              </a:rPr>
              <a:t>!</a:t>
            </a:r>
            <a:endParaRPr lang="en-US" altLang="zh-CN" dirty="0">
              <a:ea typeface="宋体" panose="02010600030101010101" pitchFamily="2" charset="-122"/>
            </a:endParaRPr>
          </a:p>
        </p:txBody>
      </p:sp>
      <p:sp>
        <p:nvSpPr>
          <p:cNvPr id="728068" name="Line 4"/>
          <p:cNvSpPr>
            <a:spLocks noChangeShapeType="1"/>
          </p:cNvSpPr>
          <p:nvPr/>
        </p:nvSpPr>
        <p:spPr bwMode="auto">
          <a:xfrm>
            <a:off x="3452813" y="1455415"/>
            <a:ext cx="0" cy="2333625"/>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69" name="Rectangle 5"/>
          <p:cNvSpPr>
            <a:spLocks noChangeArrowheads="1"/>
          </p:cNvSpPr>
          <p:nvPr/>
        </p:nvSpPr>
        <p:spPr bwMode="auto">
          <a:xfrm rot="16200000">
            <a:off x="2876605" y="2788931"/>
            <a:ext cx="1619034"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dirty="0"/>
              <a:t>Program Flow</a:t>
            </a:r>
          </a:p>
        </p:txBody>
      </p:sp>
      <p:sp>
        <p:nvSpPr>
          <p:cNvPr id="728070" name="Line 6"/>
          <p:cNvSpPr>
            <a:spLocks noChangeShapeType="1"/>
          </p:cNvSpPr>
          <p:nvPr/>
        </p:nvSpPr>
        <p:spPr bwMode="auto">
          <a:xfrm>
            <a:off x="2011363" y="1340768"/>
            <a:ext cx="76835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71" name="Rectangle 7"/>
          <p:cNvSpPr>
            <a:spLocks noChangeArrowheads="1"/>
          </p:cNvSpPr>
          <p:nvPr/>
        </p:nvSpPr>
        <p:spPr bwMode="auto">
          <a:xfrm>
            <a:off x="2212976" y="969639"/>
            <a:ext cx="6889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t>Time</a:t>
            </a:r>
          </a:p>
        </p:txBody>
      </p:sp>
      <p:grpSp>
        <p:nvGrpSpPr>
          <p:cNvPr id="728072" name="Group 8"/>
          <p:cNvGrpSpPr>
            <a:grpSpLocks/>
          </p:cNvGrpSpPr>
          <p:nvPr/>
        </p:nvGrpSpPr>
        <p:grpSpPr bwMode="auto">
          <a:xfrm>
            <a:off x="3605213" y="1580828"/>
            <a:ext cx="4178300" cy="403225"/>
            <a:chOff x="340" y="990"/>
            <a:chExt cx="2632" cy="254"/>
          </a:xfrm>
        </p:grpSpPr>
        <p:sp>
          <p:nvSpPr>
            <p:cNvPr id="728073" name="Rectangle 9"/>
            <p:cNvSpPr>
              <a:spLocks noChangeArrowheads="1"/>
            </p:cNvSpPr>
            <p:nvPr/>
          </p:nvSpPr>
          <p:spPr bwMode="auto">
            <a:xfrm>
              <a:off x="340" y="1012"/>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74" name="Rectangle 10"/>
            <p:cNvSpPr>
              <a:spLocks noChangeArrowheads="1"/>
            </p:cNvSpPr>
            <p:nvPr/>
          </p:nvSpPr>
          <p:spPr bwMode="auto">
            <a:xfrm>
              <a:off x="371" y="990"/>
              <a:ext cx="5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t>IFetch</a:t>
              </a:r>
            </a:p>
          </p:txBody>
        </p:sp>
        <p:sp>
          <p:nvSpPr>
            <p:cNvPr id="728075" name="Rectangle 11"/>
            <p:cNvSpPr>
              <a:spLocks noChangeArrowheads="1"/>
            </p:cNvSpPr>
            <p:nvPr/>
          </p:nvSpPr>
          <p:spPr bwMode="auto">
            <a:xfrm>
              <a:off x="868" y="1012"/>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76" name="Rectangle 12"/>
            <p:cNvSpPr>
              <a:spLocks noChangeArrowheads="1"/>
            </p:cNvSpPr>
            <p:nvPr/>
          </p:nvSpPr>
          <p:spPr bwMode="auto">
            <a:xfrm>
              <a:off x="1396" y="1012"/>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77" name="Rectangle 13"/>
            <p:cNvSpPr>
              <a:spLocks noChangeArrowheads="1"/>
            </p:cNvSpPr>
            <p:nvPr/>
          </p:nvSpPr>
          <p:spPr bwMode="auto">
            <a:xfrm>
              <a:off x="1924" y="1012"/>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78" name="Rectangle 14"/>
            <p:cNvSpPr>
              <a:spLocks noChangeArrowheads="1"/>
            </p:cNvSpPr>
            <p:nvPr/>
          </p:nvSpPr>
          <p:spPr bwMode="auto">
            <a:xfrm>
              <a:off x="2452" y="1012"/>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79" name="Rectangle 15"/>
            <p:cNvSpPr>
              <a:spLocks noChangeArrowheads="1"/>
            </p:cNvSpPr>
            <p:nvPr/>
          </p:nvSpPr>
          <p:spPr bwMode="auto">
            <a:xfrm>
              <a:off x="851" y="990"/>
              <a:ext cx="3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t>Dcd</a:t>
              </a:r>
            </a:p>
          </p:txBody>
        </p:sp>
        <p:sp>
          <p:nvSpPr>
            <p:cNvPr id="728080" name="Rectangle 16"/>
            <p:cNvSpPr>
              <a:spLocks noChangeArrowheads="1"/>
            </p:cNvSpPr>
            <p:nvPr/>
          </p:nvSpPr>
          <p:spPr bwMode="auto">
            <a:xfrm>
              <a:off x="1379" y="990"/>
              <a:ext cx="4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t>Exec</a:t>
              </a:r>
            </a:p>
          </p:txBody>
        </p:sp>
        <p:sp>
          <p:nvSpPr>
            <p:cNvPr id="728081" name="Rectangle 17"/>
            <p:cNvSpPr>
              <a:spLocks noChangeArrowheads="1"/>
            </p:cNvSpPr>
            <p:nvPr/>
          </p:nvSpPr>
          <p:spPr bwMode="auto">
            <a:xfrm>
              <a:off x="1907" y="990"/>
              <a:ext cx="4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t>Mem</a:t>
              </a:r>
            </a:p>
          </p:txBody>
        </p:sp>
        <p:sp>
          <p:nvSpPr>
            <p:cNvPr id="728082" name="Rectangle 18"/>
            <p:cNvSpPr>
              <a:spLocks noChangeArrowheads="1"/>
            </p:cNvSpPr>
            <p:nvPr/>
          </p:nvSpPr>
          <p:spPr bwMode="auto">
            <a:xfrm>
              <a:off x="2483" y="990"/>
              <a:ext cx="34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t>WB</a:t>
              </a:r>
            </a:p>
          </p:txBody>
        </p:sp>
      </p:grpSp>
      <p:grpSp>
        <p:nvGrpSpPr>
          <p:cNvPr id="728083" name="Group 19"/>
          <p:cNvGrpSpPr>
            <a:grpSpLocks/>
          </p:cNvGrpSpPr>
          <p:nvPr/>
        </p:nvGrpSpPr>
        <p:grpSpPr bwMode="auto">
          <a:xfrm>
            <a:off x="4443413" y="2114228"/>
            <a:ext cx="4178300" cy="403225"/>
            <a:chOff x="868" y="1326"/>
            <a:chExt cx="2632" cy="254"/>
          </a:xfrm>
        </p:grpSpPr>
        <p:sp>
          <p:nvSpPr>
            <p:cNvPr id="728084" name="Rectangle 20"/>
            <p:cNvSpPr>
              <a:spLocks noChangeArrowheads="1"/>
            </p:cNvSpPr>
            <p:nvPr/>
          </p:nvSpPr>
          <p:spPr bwMode="auto">
            <a:xfrm>
              <a:off x="868" y="1348"/>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85" name="Rectangle 21"/>
            <p:cNvSpPr>
              <a:spLocks noChangeArrowheads="1"/>
            </p:cNvSpPr>
            <p:nvPr/>
          </p:nvSpPr>
          <p:spPr bwMode="auto">
            <a:xfrm>
              <a:off x="899" y="1326"/>
              <a:ext cx="5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rgbClr val="0237BC"/>
                  </a:solidFill>
                </a:rPr>
                <a:t>IFetch</a:t>
              </a:r>
            </a:p>
          </p:txBody>
        </p:sp>
        <p:sp>
          <p:nvSpPr>
            <p:cNvPr id="728086" name="Rectangle 22"/>
            <p:cNvSpPr>
              <a:spLocks noChangeArrowheads="1"/>
            </p:cNvSpPr>
            <p:nvPr/>
          </p:nvSpPr>
          <p:spPr bwMode="auto">
            <a:xfrm>
              <a:off x="1396" y="1348"/>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87" name="Rectangle 23"/>
            <p:cNvSpPr>
              <a:spLocks noChangeArrowheads="1"/>
            </p:cNvSpPr>
            <p:nvPr/>
          </p:nvSpPr>
          <p:spPr bwMode="auto">
            <a:xfrm>
              <a:off x="1924" y="1348"/>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88" name="Rectangle 24"/>
            <p:cNvSpPr>
              <a:spLocks noChangeArrowheads="1"/>
            </p:cNvSpPr>
            <p:nvPr/>
          </p:nvSpPr>
          <p:spPr bwMode="auto">
            <a:xfrm>
              <a:off x="2452" y="1348"/>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89" name="Rectangle 25"/>
            <p:cNvSpPr>
              <a:spLocks noChangeArrowheads="1"/>
            </p:cNvSpPr>
            <p:nvPr/>
          </p:nvSpPr>
          <p:spPr bwMode="auto">
            <a:xfrm>
              <a:off x="2980" y="1348"/>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90" name="Rectangle 26"/>
            <p:cNvSpPr>
              <a:spLocks noChangeArrowheads="1"/>
            </p:cNvSpPr>
            <p:nvPr/>
          </p:nvSpPr>
          <p:spPr bwMode="auto">
            <a:xfrm>
              <a:off x="1379" y="1326"/>
              <a:ext cx="3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rgbClr val="0237BC"/>
                  </a:solidFill>
                </a:rPr>
                <a:t>Dcd</a:t>
              </a:r>
            </a:p>
          </p:txBody>
        </p:sp>
        <p:sp>
          <p:nvSpPr>
            <p:cNvPr id="728091" name="Rectangle 27"/>
            <p:cNvSpPr>
              <a:spLocks noChangeArrowheads="1"/>
            </p:cNvSpPr>
            <p:nvPr/>
          </p:nvSpPr>
          <p:spPr bwMode="auto">
            <a:xfrm>
              <a:off x="1907" y="1326"/>
              <a:ext cx="4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rgbClr val="0237BC"/>
                  </a:solidFill>
                </a:rPr>
                <a:t>Exec</a:t>
              </a:r>
            </a:p>
          </p:txBody>
        </p:sp>
        <p:sp>
          <p:nvSpPr>
            <p:cNvPr id="728092" name="Rectangle 28"/>
            <p:cNvSpPr>
              <a:spLocks noChangeArrowheads="1"/>
            </p:cNvSpPr>
            <p:nvPr/>
          </p:nvSpPr>
          <p:spPr bwMode="auto">
            <a:xfrm>
              <a:off x="2435" y="1326"/>
              <a:ext cx="4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rgbClr val="0237BC"/>
                  </a:solidFill>
                </a:rPr>
                <a:t>Mem</a:t>
              </a:r>
            </a:p>
          </p:txBody>
        </p:sp>
        <p:sp>
          <p:nvSpPr>
            <p:cNvPr id="728093" name="Rectangle 29"/>
            <p:cNvSpPr>
              <a:spLocks noChangeArrowheads="1"/>
            </p:cNvSpPr>
            <p:nvPr/>
          </p:nvSpPr>
          <p:spPr bwMode="auto">
            <a:xfrm>
              <a:off x="3011" y="1326"/>
              <a:ext cx="34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rgbClr val="0237BC"/>
                  </a:solidFill>
                </a:rPr>
                <a:t>WB</a:t>
              </a:r>
            </a:p>
          </p:txBody>
        </p:sp>
      </p:grpSp>
      <p:grpSp>
        <p:nvGrpSpPr>
          <p:cNvPr id="728094" name="Group 30"/>
          <p:cNvGrpSpPr>
            <a:grpSpLocks/>
          </p:cNvGrpSpPr>
          <p:nvPr/>
        </p:nvGrpSpPr>
        <p:grpSpPr bwMode="auto">
          <a:xfrm>
            <a:off x="5281613" y="2647628"/>
            <a:ext cx="4178300" cy="403225"/>
            <a:chOff x="1396" y="1662"/>
            <a:chExt cx="2632" cy="254"/>
          </a:xfrm>
        </p:grpSpPr>
        <p:sp>
          <p:nvSpPr>
            <p:cNvPr id="728095" name="Rectangle 31"/>
            <p:cNvSpPr>
              <a:spLocks noChangeArrowheads="1"/>
            </p:cNvSpPr>
            <p:nvPr/>
          </p:nvSpPr>
          <p:spPr bwMode="auto">
            <a:xfrm>
              <a:off x="1396" y="1684"/>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96" name="Rectangle 32"/>
            <p:cNvSpPr>
              <a:spLocks noChangeArrowheads="1"/>
            </p:cNvSpPr>
            <p:nvPr/>
          </p:nvSpPr>
          <p:spPr bwMode="auto">
            <a:xfrm>
              <a:off x="1427" y="1662"/>
              <a:ext cx="5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chemeClr val="accent2"/>
                  </a:solidFill>
                </a:rPr>
                <a:t>IFetch</a:t>
              </a:r>
            </a:p>
          </p:txBody>
        </p:sp>
        <p:sp>
          <p:nvSpPr>
            <p:cNvPr id="728097" name="Rectangle 33"/>
            <p:cNvSpPr>
              <a:spLocks noChangeArrowheads="1"/>
            </p:cNvSpPr>
            <p:nvPr/>
          </p:nvSpPr>
          <p:spPr bwMode="auto">
            <a:xfrm>
              <a:off x="1924" y="1684"/>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98" name="Rectangle 34"/>
            <p:cNvSpPr>
              <a:spLocks noChangeArrowheads="1"/>
            </p:cNvSpPr>
            <p:nvPr/>
          </p:nvSpPr>
          <p:spPr bwMode="auto">
            <a:xfrm>
              <a:off x="2452" y="1684"/>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099" name="Rectangle 35"/>
            <p:cNvSpPr>
              <a:spLocks noChangeArrowheads="1"/>
            </p:cNvSpPr>
            <p:nvPr/>
          </p:nvSpPr>
          <p:spPr bwMode="auto">
            <a:xfrm>
              <a:off x="2980" y="1684"/>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100" name="Rectangle 36"/>
            <p:cNvSpPr>
              <a:spLocks noChangeArrowheads="1"/>
            </p:cNvSpPr>
            <p:nvPr/>
          </p:nvSpPr>
          <p:spPr bwMode="auto">
            <a:xfrm>
              <a:off x="3508" y="1684"/>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101" name="Rectangle 37"/>
            <p:cNvSpPr>
              <a:spLocks noChangeArrowheads="1"/>
            </p:cNvSpPr>
            <p:nvPr/>
          </p:nvSpPr>
          <p:spPr bwMode="auto">
            <a:xfrm>
              <a:off x="1907" y="1662"/>
              <a:ext cx="3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chemeClr val="accent2"/>
                  </a:solidFill>
                </a:rPr>
                <a:t>Dcd</a:t>
              </a:r>
            </a:p>
          </p:txBody>
        </p:sp>
        <p:sp>
          <p:nvSpPr>
            <p:cNvPr id="728102" name="Rectangle 38"/>
            <p:cNvSpPr>
              <a:spLocks noChangeArrowheads="1"/>
            </p:cNvSpPr>
            <p:nvPr/>
          </p:nvSpPr>
          <p:spPr bwMode="auto">
            <a:xfrm>
              <a:off x="2435" y="1662"/>
              <a:ext cx="4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chemeClr val="accent2"/>
                  </a:solidFill>
                </a:rPr>
                <a:t>Exec</a:t>
              </a:r>
            </a:p>
          </p:txBody>
        </p:sp>
        <p:sp>
          <p:nvSpPr>
            <p:cNvPr id="728103" name="Rectangle 39"/>
            <p:cNvSpPr>
              <a:spLocks noChangeArrowheads="1"/>
            </p:cNvSpPr>
            <p:nvPr/>
          </p:nvSpPr>
          <p:spPr bwMode="auto">
            <a:xfrm>
              <a:off x="2963" y="1662"/>
              <a:ext cx="4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chemeClr val="accent2"/>
                  </a:solidFill>
                </a:rPr>
                <a:t>Mem</a:t>
              </a:r>
            </a:p>
          </p:txBody>
        </p:sp>
        <p:sp>
          <p:nvSpPr>
            <p:cNvPr id="728104" name="Rectangle 40"/>
            <p:cNvSpPr>
              <a:spLocks noChangeArrowheads="1"/>
            </p:cNvSpPr>
            <p:nvPr/>
          </p:nvSpPr>
          <p:spPr bwMode="auto">
            <a:xfrm>
              <a:off x="3539" y="1662"/>
              <a:ext cx="34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chemeClr val="accent2"/>
                  </a:solidFill>
                </a:rPr>
                <a:t>WB</a:t>
              </a:r>
            </a:p>
          </p:txBody>
        </p:sp>
      </p:grpSp>
      <p:grpSp>
        <p:nvGrpSpPr>
          <p:cNvPr id="728105" name="Group 41"/>
          <p:cNvGrpSpPr>
            <a:grpSpLocks/>
          </p:cNvGrpSpPr>
          <p:nvPr/>
        </p:nvGrpSpPr>
        <p:grpSpPr bwMode="auto">
          <a:xfrm>
            <a:off x="6119813" y="3181028"/>
            <a:ext cx="4178300" cy="403225"/>
            <a:chOff x="1924" y="1998"/>
            <a:chExt cx="2632" cy="254"/>
          </a:xfrm>
        </p:grpSpPr>
        <p:sp>
          <p:nvSpPr>
            <p:cNvPr id="728106" name="Rectangle 42"/>
            <p:cNvSpPr>
              <a:spLocks noChangeArrowheads="1"/>
            </p:cNvSpPr>
            <p:nvPr/>
          </p:nvSpPr>
          <p:spPr bwMode="auto">
            <a:xfrm>
              <a:off x="1924" y="2020"/>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107" name="Rectangle 43"/>
            <p:cNvSpPr>
              <a:spLocks noChangeArrowheads="1"/>
            </p:cNvSpPr>
            <p:nvPr/>
          </p:nvSpPr>
          <p:spPr bwMode="auto">
            <a:xfrm>
              <a:off x="1955" y="1998"/>
              <a:ext cx="51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rgbClr val="FF3399"/>
                  </a:solidFill>
                </a:rPr>
                <a:t>IFetch</a:t>
              </a:r>
            </a:p>
          </p:txBody>
        </p:sp>
        <p:sp>
          <p:nvSpPr>
            <p:cNvPr id="728108" name="Rectangle 44"/>
            <p:cNvSpPr>
              <a:spLocks noChangeArrowheads="1"/>
            </p:cNvSpPr>
            <p:nvPr/>
          </p:nvSpPr>
          <p:spPr bwMode="auto">
            <a:xfrm>
              <a:off x="2452" y="2020"/>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109" name="Rectangle 45"/>
            <p:cNvSpPr>
              <a:spLocks noChangeArrowheads="1"/>
            </p:cNvSpPr>
            <p:nvPr/>
          </p:nvSpPr>
          <p:spPr bwMode="auto">
            <a:xfrm>
              <a:off x="2980" y="2020"/>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110" name="Rectangle 46"/>
            <p:cNvSpPr>
              <a:spLocks noChangeArrowheads="1"/>
            </p:cNvSpPr>
            <p:nvPr/>
          </p:nvSpPr>
          <p:spPr bwMode="auto">
            <a:xfrm>
              <a:off x="3508" y="2020"/>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111" name="Rectangle 47"/>
            <p:cNvSpPr>
              <a:spLocks noChangeArrowheads="1"/>
            </p:cNvSpPr>
            <p:nvPr/>
          </p:nvSpPr>
          <p:spPr bwMode="auto">
            <a:xfrm>
              <a:off x="4036" y="2020"/>
              <a:ext cx="520" cy="23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112" name="Rectangle 48"/>
            <p:cNvSpPr>
              <a:spLocks noChangeArrowheads="1"/>
            </p:cNvSpPr>
            <p:nvPr/>
          </p:nvSpPr>
          <p:spPr bwMode="auto">
            <a:xfrm>
              <a:off x="2435" y="1998"/>
              <a:ext cx="37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rgbClr val="FF3399"/>
                  </a:solidFill>
                </a:rPr>
                <a:t>Dcd</a:t>
              </a:r>
            </a:p>
          </p:txBody>
        </p:sp>
        <p:sp>
          <p:nvSpPr>
            <p:cNvPr id="728113" name="Rectangle 49"/>
            <p:cNvSpPr>
              <a:spLocks noChangeArrowheads="1"/>
            </p:cNvSpPr>
            <p:nvPr/>
          </p:nvSpPr>
          <p:spPr bwMode="auto">
            <a:xfrm>
              <a:off x="2963" y="1998"/>
              <a:ext cx="4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rgbClr val="FF3399"/>
                  </a:solidFill>
                </a:rPr>
                <a:t>Exec</a:t>
              </a:r>
            </a:p>
          </p:txBody>
        </p:sp>
        <p:sp>
          <p:nvSpPr>
            <p:cNvPr id="728114" name="Rectangle 50"/>
            <p:cNvSpPr>
              <a:spLocks noChangeArrowheads="1"/>
            </p:cNvSpPr>
            <p:nvPr/>
          </p:nvSpPr>
          <p:spPr bwMode="auto">
            <a:xfrm>
              <a:off x="3491" y="1998"/>
              <a:ext cx="43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rgbClr val="FF3399"/>
                  </a:solidFill>
                </a:rPr>
                <a:t>Mem</a:t>
              </a:r>
            </a:p>
          </p:txBody>
        </p:sp>
        <p:sp>
          <p:nvSpPr>
            <p:cNvPr id="728115" name="Rectangle 51"/>
            <p:cNvSpPr>
              <a:spLocks noChangeArrowheads="1"/>
            </p:cNvSpPr>
            <p:nvPr/>
          </p:nvSpPr>
          <p:spPr bwMode="auto">
            <a:xfrm>
              <a:off x="4067" y="1998"/>
              <a:ext cx="34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zh-CN">
                  <a:solidFill>
                    <a:srgbClr val="FF3399"/>
                  </a:solidFill>
                </a:rPr>
                <a:t>WB</a:t>
              </a:r>
            </a:p>
          </p:txBody>
        </p:sp>
      </p:grpSp>
      <p:sp>
        <p:nvSpPr>
          <p:cNvPr id="728116" name="Text Box 52"/>
          <p:cNvSpPr txBox="1">
            <a:spLocks noChangeArrowheads="1"/>
          </p:cNvSpPr>
          <p:nvPr/>
        </p:nvSpPr>
        <p:spPr bwMode="auto">
          <a:xfrm>
            <a:off x="1752600" y="1612577"/>
            <a:ext cx="1149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a:t>Data TLB</a:t>
            </a:r>
          </a:p>
        </p:txBody>
      </p:sp>
      <p:sp>
        <p:nvSpPr>
          <p:cNvPr id="728117" name="Text Box 53"/>
          <p:cNvSpPr txBox="1">
            <a:spLocks noChangeArrowheads="1"/>
          </p:cNvSpPr>
          <p:nvPr/>
        </p:nvSpPr>
        <p:spPr bwMode="auto">
          <a:xfrm>
            <a:off x="1752600" y="2145977"/>
            <a:ext cx="1022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a:t>Bad Inst</a:t>
            </a:r>
          </a:p>
        </p:txBody>
      </p:sp>
      <p:sp>
        <p:nvSpPr>
          <p:cNvPr id="728118" name="Text Box 54"/>
          <p:cNvSpPr txBox="1">
            <a:spLocks noChangeArrowheads="1"/>
          </p:cNvSpPr>
          <p:nvPr/>
        </p:nvSpPr>
        <p:spPr bwMode="auto">
          <a:xfrm>
            <a:off x="1752600" y="2719065"/>
            <a:ext cx="1530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a:t>Inst TLB fault</a:t>
            </a:r>
          </a:p>
        </p:txBody>
      </p:sp>
      <p:grpSp>
        <p:nvGrpSpPr>
          <p:cNvPr id="728119" name="Group 55"/>
          <p:cNvGrpSpPr>
            <a:grpSpLocks/>
          </p:cNvGrpSpPr>
          <p:nvPr/>
        </p:nvGrpSpPr>
        <p:grpSpPr bwMode="auto">
          <a:xfrm>
            <a:off x="6196013" y="1503039"/>
            <a:ext cx="762000" cy="609600"/>
            <a:chOff x="2928" y="1056"/>
            <a:chExt cx="480" cy="384"/>
          </a:xfrm>
        </p:grpSpPr>
        <p:sp>
          <p:nvSpPr>
            <p:cNvPr id="728120" name="Line 56"/>
            <p:cNvSpPr>
              <a:spLocks noChangeShapeType="1"/>
            </p:cNvSpPr>
            <p:nvPr/>
          </p:nvSpPr>
          <p:spPr bwMode="auto">
            <a:xfrm>
              <a:off x="2928" y="1056"/>
              <a:ext cx="480" cy="384"/>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121" name="Line 57"/>
            <p:cNvSpPr>
              <a:spLocks noChangeShapeType="1"/>
            </p:cNvSpPr>
            <p:nvPr/>
          </p:nvSpPr>
          <p:spPr bwMode="auto">
            <a:xfrm flipH="1">
              <a:off x="2928" y="1056"/>
              <a:ext cx="432" cy="384"/>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8122" name="Group 58"/>
          <p:cNvGrpSpPr>
            <a:grpSpLocks/>
          </p:cNvGrpSpPr>
          <p:nvPr/>
        </p:nvGrpSpPr>
        <p:grpSpPr bwMode="auto">
          <a:xfrm>
            <a:off x="5357813" y="2038027"/>
            <a:ext cx="762000" cy="609600"/>
            <a:chOff x="2928" y="1056"/>
            <a:chExt cx="480" cy="384"/>
          </a:xfrm>
        </p:grpSpPr>
        <p:sp>
          <p:nvSpPr>
            <p:cNvPr id="728123" name="Line 59"/>
            <p:cNvSpPr>
              <a:spLocks noChangeShapeType="1"/>
            </p:cNvSpPr>
            <p:nvPr/>
          </p:nvSpPr>
          <p:spPr bwMode="auto">
            <a:xfrm>
              <a:off x="2928" y="1056"/>
              <a:ext cx="480" cy="384"/>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124" name="Line 60"/>
            <p:cNvSpPr>
              <a:spLocks noChangeShapeType="1"/>
            </p:cNvSpPr>
            <p:nvPr/>
          </p:nvSpPr>
          <p:spPr bwMode="auto">
            <a:xfrm flipH="1">
              <a:off x="2928" y="1056"/>
              <a:ext cx="432" cy="384"/>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8125" name="Group 61"/>
          <p:cNvGrpSpPr>
            <a:grpSpLocks/>
          </p:cNvGrpSpPr>
          <p:nvPr/>
        </p:nvGrpSpPr>
        <p:grpSpPr bwMode="auto">
          <a:xfrm>
            <a:off x="5357813" y="2571427"/>
            <a:ext cx="762000" cy="609600"/>
            <a:chOff x="2928" y="1056"/>
            <a:chExt cx="480" cy="384"/>
          </a:xfrm>
        </p:grpSpPr>
        <p:sp>
          <p:nvSpPr>
            <p:cNvPr id="728126" name="Line 62"/>
            <p:cNvSpPr>
              <a:spLocks noChangeShapeType="1"/>
            </p:cNvSpPr>
            <p:nvPr/>
          </p:nvSpPr>
          <p:spPr bwMode="auto">
            <a:xfrm>
              <a:off x="2928" y="1056"/>
              <a:ext cx="480" cy="384"/>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127" name="Line 63"/>
            <p:cNvSpPr>
              <a:spLocks noChangeShapeType="1"/>
            </p:cNvSpPr>
            <p:nvPr/>
          </p:nvSpPr>
          <p:spPr bwMode="auto">
            <a:xfrm flipH="1">
              <a:off x="2928" y="1056"/>
              <a:ext cx="432" cy="384"/>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8128" name="Text Box 64"/>
          <p:cNvSpPr txBox="1">
            <a:spLocks noChangeArrowheads="1"/>
          </p:cNvSpPr>
          <p:nvPr/>
        </p:nvSpPr>
        <p:spPr bwMode="auto">
          <a:xfrm>
            <a:off x="1776413" y="3257227"/>
            <a:ext cx="1085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a:t>Overflow</a:t>
            </a:r>
          </a:p>
        </p:txBody>
      </p:sp>
      <p:grpSp>
        <p:nvGrpSpPr>
          <p:cNvPr id="728129" name="Group 65"/>
          <p:cNvGrpSpPr>
            <a:grpSpLocks/>
          </p:cNvGrpSpPr>
          <p:nvPr/>
        </p:nvGrpSpPr>
        <p:grpSpPr bwMode="auto">
          <a:xfrm>
            <a:off x="7872413" y="3104827"/>
            <a:ext cx="762000" cy="609600"/>
            <a:chOff x="2928" y="1056"/>
            <a:chExt cx="480" cy="384"/>
          </a:xfrm>
        </p:grpSpPr>
        <p:sp>
          <p:nvSpPr>
            <p:cNvPr id="728130" name="Line 66"/>
            <p:cNvSpPr>
              <a:spLocks noChangeShapeType="1"/>
            </p:cNvSpPr>
            <p:nvPr/>
          </p:nvSpPr>
          <p:spPr bwMode="auto">
            <a:xfrm>
              <a:off x="2928" y="1056"/>
              <a:ext cx="480" cy="384"/>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8131" name="Line 67"/>
            <p:cNvSpPr>
              <a:spLocks noChangeShapeType="1"/>
            </p:cNvSpPr>
            <p:nvPr/>
          </p:nvSpPr>
          <p:spPr bwMode="auto">
            <a:xfrm flipH="1">
              <a:off x="2928" y="1056"/>
              <a:ext cx="432" cy="384"/>
            </a:xfrm>
            <a:prstGeom prst="line">
              <a:avLst/>
            </a:prstGeom>
            <a:noFill/>
            <a:ln w="571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7725986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28067">
                                            <p:txEl>
                                              <p:pRg st="0" end="0"/>
                                            </p:txEl>
                                          </p:spTgt>
                                        </p:tgtEl>
                                        <p:attrNameLst>
                                          <p:attrName>style.visibility</p:attrName>
                                        </p:attrNameLst>
                                      </p:cBhvr>
                                      <p:to>
                                        <p:strVal val="visible"/>
                                      </p:to>
                                    </p:set>
                                    <p:anim calcmode="lin" valueType="num">
                                      <p:cBhvr additive="base">
                                        <p:cTn id="7" dur="500" fill="hold"/>
                                        <p:tgtEl>
                                          <p:spTgt spid="72806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2806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28067">
                                            <p:txEl>
                                              <p:pRg st="1" end="1"/>
                                            </p:txEl>
                                          </p:spTgt>
                                        </p:tgtEl>
                                        <p:attrNameLst>
                                          <p:attrName>style.visibility</p:attrName>
                                        </p:attrNameLst>
                                      </p:cBhvr>
                                      <p:to>
                                        <p:strVal val="visible"/>
                                      </p:to>
                                    </p:set>
                                    <p:anim calcmode="lin" valueType="num">
                                      <p:cBhvr additive="base">
                                        <p:cTn id="13" dur="500" fill="hold"/>
                                        <p:tgtEl>
                                          <p:spTgt spid="72806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2806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28067">
                                            <p:txEl>
                                              <p:pRg st="2" end="2"/>
                                            </p:txEl>
                                          </p:spTgt>
                                        </p:tgtEl>
                                        <p:attrNameLst>
                                          <p:attrName>style.visibility</p:attrName>
                                        </p:attrNameLst>
                                      </p:cBhvr>
                                      <p:to>
                                        <p:strVal val="visible"/>
                                      </p:to>
                                    </p:set>
                                    <p:anim calcmode="lin" valueType="num">
                                      <p:cBhvr additive="base">
                                        <p:cTn id="19" dur="500" fill="hold"/>
                                        <p:tgtEl>
                                          <p:spTgt spid="72806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2806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28067">
                                            <p:txEl>
                                              <p:pRg st="3" end="3"/>
                                            </p:txEl>
                                          </p:spTgt>
                                        </p:tgtEl>
                                        <p:attrNameLst>
                                          <p:attrName>style.visibility</p:attrName>
                                        </p:attrNameLst>
                                      </p:cBhvr>
                                      <p:to>
                                        <p:strVal val="visible"/>
                                      </p:to>
                                    </p:set>
                                    <p:anim calcmode="lin" valueType="num">
                                      <p:cBhvr additive="base">
                                        <p:cTn id="25" dur="500" fill="hold"/>
                                        <p:tgtEl>
                                          <p:spTgt spid="72806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2806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28067">
                                            <p:txEl>
                                              <p:pRg st="4" end="4"/>
                                            </p:txEl>
                                          </p:spTgt>
                                        </p:tgtEl>
                                        <p:attrNameLst>
                                          <p:attrName>style.visibility</p:attrName>
                                        </p:attrNameLst>
                                      </p:cBhvr>
                                      <p:to>
                                        <p:strVal val="visible"/>
                                      </p:to>
                                    </p:set>
                                    <p:anim calcmode="lin" valueType="num">
                                      <p:cBhvr additive="base">
                                        <p:cTn id="31" dur="500" fill="hold"/>
                                        <p:tgtEl>
                                          <p:spTgt spid="72806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2806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28067">
                                            <p:txEl>
                                              <p:pRg st="5" end="5"/>
                                            </p:txEl>
                                          </p:spTgt>
                                        </p:tgtEl>
                                        <p:attrNameLst>
                                          <p:attrName>style.visibility</p:attrName>
                                        </p:attrNameLst>
                                      </p:cBhvr>
                                      <p:to>
                                        <p:strVal val="visible"/>
                                      </p:to>
                                    </p:set>
                                    <p:anim calcmode="lin" valueType="num">
                                      <p:cBhvr additive="base">
                                        <p:cTn id="37" dur="500" fill="hold"/>
                                        <p:tgtEl>
                                          <p:spTgt spid="72806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28067">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8067" grpId="0" build="p" bldLvl="2"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Rectangle 2"/>
          <p:cNvSpPr>
            <a:spLocks noGrp="1" noChangeArrowheads="1"/>
          </p:cNvSpPr>
          <p:nvPr>
            <p:ph type="title"/>
          </p:nvPr>
        </p:nvSpPr>
        <p:spPr>
          <a:xfrm>
            <a:off x="419100" y="365125"/>
            <a:ext cx="11353800" cy="831627"/>
          </a:xfrm>
        </p:spPr>
        <p:txBody>
          <a:bodyPr/>
          <a:lstStyle/>
          <a:p>
            <a:r>
              <a:rPr lang="en-US" altLang="zh-CN" dirty="0" smtClean="0"/>
              <a:t>How to achieve precise interrupts</a:t>
            </a:r>
            <a:br>
              <a:rPr lang="en-US" altLang="zh-CN" dirty="0" smtClean="0"/>
            </a:br>
            <a:r>
              <a:rPr lang="en-US" altLang="zh-CN" dirty="0" smtClean="0"/>
              <a:t>when instructions executing in arbitrary order?</a:t>
            </a:r>
            <a:endParaRPr lang="en-US" altLang="zh-CN" dirty="0"/>
          </a:p>
        </p:txBody>
      </p:sp>
      <p:sp>
        <p:nvSpPr>
          <p:cNvPr id="730115" name="Rectangle 3"/>
          <p:cNvSpPr>
            <a:spLocks noGrp="1" noChangeArrowheads="1"/>
          </p:cNvSpPr>
          <p:nvPr>
            <p:ph type="body" idx="1"/>
          </p:nvPr>
        </p:nvSpPr>
        <p:spPr>
          <a:xfrm>
            <a:off x="838200" y="1556792"/>
            <a:ext cx="10515600" cy="3672408"/>
          </a:xfrm>
        </p:spPr>
        <p:txBody>
          <a:bodyPr/>
          <a:lstStyle/>
          <a:p>
            <a:r>
              <a:rPr lang="en-US" altLang="zh-CN" dirty="0" smtClean="0"/>
              <a:t>Jim Smith’s classic paper discusses several methods for getting precise interrupts, e.g., </a:t>
            </a:r>
          </a:p>
          <a:p>
            <a:pPr lvl="1"/>
            <a:r>
              <a:rPr lang="en-US" altLang="zh-CN" dirty="0" smtClean="0"/>
              <a:t>In-order instruction completion</a:t>
            </a:r>
          </a:p>
          <a:p>
            <a:pPr lvl="1"/>
            <a:r>
              <a:rPr lang="en-US" altLang="zh-CN" dirty="0" smtClean="0"/>
              <a:t>Reorder buffer, History buffer, Future buffer</a:t>
            </a:r>
          </a:p>
          <a:p>
            <a:r>
              <a:rPr lang="en-US" altLang="zh-CN" dirty="0" smtClean="0"/>
              <a:t>We will discuss reorder buffer after we see the advantages of out-of-order execution.</a:t>
            </a:r>
            <a:endParaRPr lang="en-US" altLang="zh-CN" dirty="0"/>
          </a:p>
        </p:txBody>
      </p:sp>
      <p:pic>
        <p:nvPicPr>
          <p:cNvPr id="8" name="图片 7"/>
          <p:cNvPicPr>
            <a:picLocks noChangeAspect="1"/>
          </p:cNvPicPr>
          <p:nvPr/>
        </p:nvPicPr>
        <p:blipFill>
          <a:blip r:embed="rId2"/>
          <a:stretch>
            <a:fillRect/>
          </a:stretch>
        </p:blipFill>
        <p:spPr>
          <a:xfrm>
            <a:off x="2351584" y="4056841"/>
            <a:ext cx="7920880" cy="2801159"/>
          </a:xfrm>
          <a:prstGeom prst="rect">
            <a:avLst/>
          </a:prstGeom>
        </p:spPr>
      </p:pic>
    </p:spTree>
    <p:extLst>
      <p:ext uri="{BB962C8B-B14F-4D97-AF65-F5344CB8AC3E}">
        <p14:creationId xmlns:p14="http://schemas.microsoft.com/office/powerpoint/2010/main" val="20254719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 approaches for interrupt handling</a:t>
            </a:r>
            <a:endParaRPr lang="zh-CN" altLang="en-US" dirty="0"/>
          </a:p>
        </p:txBody>
      </p:sp>
      <p:sp>
        <p:nvSpPr>
          <p:cNvPr id="3" name="内容占位符 2"/>
          <p:cNvSpPr>
            <a:spLocks noGrp="1"/>
          </p:cNvSpPr>
          <p:nvPr>
            <p:ph idx="1"/>
          </p:nvPr>
        </p:nvSpPr>
        <p:spPr>
          <a:xfrm>
            <a:off x="838200" y="1484784"/>
            <a:ext cx="10515600" cy="5112568"/>
          </a:xfrm>
        </p:spPr>
        <p:txBody>
          <a:bodyPr/>
          <a:lstStyle/>
          <a:p>
            <a:pPr marL="514350" indent="-514350">
              <a:buFont typeface="+mj-lt"/>
              <a:buAutoNum type="arabicPeriod"/>
            </a:pPr>
            <a:r>
              <a:rPr lang="en-US" altLang="zh-CN" dirty="0" smtClean="0"/>
              <a:t>Ignore the issue, settle with imprecise exceptions</a:t>
            </a:r>
          </a:p>
          <a:p>
            <a:pPr marL="514350" indent="-514350">
              <a:buFont typeface="+mj-lt"/>
              <a:buAutoNum type="arabicPeriod"/>
            </a:pPr>
            <a:r>
              <a:rPr lang="en-US" altLang="zh-CN" dirty="0" smtClean="0"/>
              <a:t>Buffer the results of an operation until all earlier instructions completes</a:t>
            </a:r>
          </a:p>
          <a:p>
            <a:pPr lvl="1"/>
            <a:r>
              <a:rPr lang="en-US" altLang="zh-CN" dirty="0" smtClean="0"/>
              <a:t>History File: Keep track the original values of registers; When exception occurs, use history file to roll back machine states</a:t>
            </a:r>
          </a:p>
          <a:p>
            <a:pPr lvl="1"/>
            <a:r>
              <a:rPr lang="en-US" altLang="zh-CN" dirty="0" smtClean="0"/>
              <a:t>Future File: Keep the new value of registers; When all earlier instructions complete, update the main register file with future file</a:t>
            </a:r>
          </a:p>
          <a:p>
            <a:pPr marL="514350" indent="-514350">
              <a:buFont typeface="+mj-lt"/>
              <a:buAutoNum type="arabicPeriod"/>
            </a:pPr>
            <a:r>
              <a:rPr lang="en-US" altLang="zh-CN" dirty="0" smtClean="0"/>
              <a:t>Allow exception to become somewhat imprecise, let trap-handler create a precise sequence of the exception</a:t>
            </a:r>
          </a:p>
          <a:p>
            <a:pPr lvl="1"/>
            <a:r>
              <a:rPr lang="en-US" altLang="zh-CN" dirty="0" smtClean="0"/>
              <a:t>Need enough information about uncompleted instructions</a:t>
            </a:r>
          </a:p>
          <a:p>
            <a:pPr marL="514350" indent="-514350">
              <a:buFont typeface="+mj-lt"/>
              <a:buAutoNum type="arabicPeriod"/>
            </a:pPr>
            <a:r>
              <a:rPr lang="en-US" altLang="zh-CN" dirty="0" smtClean="0"/>
              <a:t>Allow issuing new instructions only when it is certain that all early instructions will not incur exception</a:t>
            </a:r>
          </a:p>
          <a:p>
            <a:pPr lvl="1"/>
            <a:r>
              <a:rPr lang="en-US" altLang="zh-CN" dirty="0" smtClean="0"/>
              <a:t>Early determination of possible exceptions in FP operations</a:t>
            </a:r>
            <a:endParaRPr lang="zh-CN" altLang="en-US" dirty="0"/>
          </a:p>
        </p:txBody>
      </p:sp>
    </p:spTree>
    <p:extLst>
      <p:ext uri="{BB962C8B-B14F-4D97-AF65-F5344CB8AC3E}">
        <p14:creationId xmlns:p14="http://schemas.microsoft.com/office/powerpoint/2010/main" val="40690391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8" name="Rectangle 2"/>
          <p:cNvSpPr>
            <a:spLocks noGrp="1" noChangeArrowheads="1"/>
          </p:cNvSpPr>
          <p:nvPr>
            <p:ph type="title"/>
          </p:nvPr>
        </p:nvSpPr>
        <p:spPr/>
        <p:txBody>
          <a:bodyPr/>
          <a:lstStyle/>
          <a:p>
            <a:r>
              <a:rPr lang="en-US" altLang="zh-CN" smtClean="0"/>
              <a:t>Summary</a:t>
            </a:r>
            <a:endParaRPr lang="en-US" altLang="zh-CN"/>
          </a:p>
        </p:txBody>
      </p:sp>
      <p:sp>
        <p:nvSpPr>
          <p:cNvPr id="731139" name="Rectangle 3"/>
          <p:cNvSpPr>
            <a:spLocks noGrp="1" noChangeArrowheads="1"/>
          </p:cNvSpPr>
          <p:nvPr>
            <p:ph type="body" idx="1"/>
          </p:nvPr>
        </p:nvSpPr>
        <p:spPr/>
        <p:txBody>
          <a:bodyPr/>
          <a:lstStyle/>
          <a:p>
            <a:r>
              <a:rPr lang="en-US" altLang="zh-CN" dirty="0" smtClean="0"/>
              <a:t>Interrupts and Exceptions either interrupt the current instruction or happen between instructions</a:t>
            </a:r>
          </a:p>
          <a:p>
            <a:pPr lvl="1"/>
            <a:r>
              <a:rPr lang="en-US" altLang="zh-CN" dirty="0" smtClean="0"/>
              <a:t>Possibly large quantities of state must be saved before interrupting</a:t>
            </a:r>
          </a:p>
          <a:p>
            <a:r>
              <a:rPr lang="en-US" altLang="zh-CN" dirty="0" smtClean="0"/>
              <a:t>Machines with precise exceptions provide one single point in the program to restart execution</a:t>
            </a:r>
          </a:p>
          <a:p>
            <a:pPr lvl="1"/>
            <a:r>
              <a:rPr lang="en-US" altLang="zh-CN" dirty="0" smtClean="0"/>
              <a:t>All instructions before that point have completed</a:t>
            </a:r>
          </a:p>
          <a:p>
            <a:pPr lvl="1"/>
            <a:r>
              <a:rPr lang="en-US" altLang="zh-CN" dirty="0" smtClean="0"/>
              <a:t>No instructions after or including that point have completed </a:t>
            </a:r>
          </a:p>
          <a:p>
            <a:r>
              <a:rPr lang="en-US" altLang="zh-CN" dirty="0" smtClean="0"/>
              <a:t>Hardware techniques exist for precise exceptions even in the face of out-of-order execution!</a:t>
            </a:r>
          </a:p>
          <a:p>
            <a:pPr lvl="1"/>
            <a:r>
              <a:rPr lang="en-US" altLang="zh-CN" dirty="0" smtClean="0"/>
              <a:t>Important enabling factor for out-of-order execution</a:t>
            </a:r>
          </a:p>
          <a:p>
            <a:pPr lvl="1"/>
            <a:endParaRPr lang="en-US" altLang="zh-CN" dirty="0"/>
          </a:p>
        </p:txBody>
      </p:sp>
    </p:spTree>
    <p:extLst>
      <p:ext uri="{BB962C8B-B14F-4D97-AF65-F5344CB8AC3E}">
        <p14:creationId xmlns:p14="http://schemas.microsoft.com/office/powerpoint/2010/main" val="53127593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When is pipelining hard?</a:t>
            </a:r>
            <a:endParaRPr lang="zh-CN" altLang="en-US" dirty="0"/>
          </a:p>
        </p:txBody>
      </p:sp>
      <p:sp>
        <p:nvSpPr>
          <p:cNvPr id="3" name="内容占位符 2"/>
          <p:cNvSpPr>
            <a:spLocks noGrp="1"/>
          </p:cNvSpPr>
          <p:nvPr>
            <p:ph idx="1"/>
          </p:nvPr>
        </p:nvSpPr>
        <p:spPr/>
        <p:txBody>
          <a:bodyPr/>
          <a:lstStyle/>
          <a:p>
            <a:r>
              <a:rPr lang="en-US" altLang="zh-CN" dirty="0" smtClean="0"/>
              <a:t>Complex Addressing Modes and Instructions</a:t>
            </a:r>
          </a:p>
          <a:p>
            <a:r>
              <a:rPr lang="en-US" altLang="zh-CN" dirty="0" smtClean="0"/>
              <a:t>Address modes: </a:t>
            </a:r>
            <a:r>
              <a:rPr lang="en-US" altLang="zh-CN" dirty="0" err="1" smtClean="0"/>
              <a:t>Autoincrement</a:t>
            </a:r>
            <a:r>
              <a:rPr lang="en-US" altLang="zh-CN" dirty="0" smtClean="0"/>
              <a:t> causes registers change during instruction execution</a:t>
            </a:r>
          </a:p>
          <a:p>
            <a:pPr lvl="1"/>
            <a:r>
              <a:rPr lang="en-US" altLang="zh-CN" dirty="0" smtClean="0"/>
              <a:t>Interrupts?</a:t>
            </a:r>
          </a:p>
          <a:p>
            <a:pPr lvl="1"/>
            <a:r>
              <a:rPr lang="en-US" altLang="zh-CN" dirty="0" smtClean="0"/>
              <a:t>Adds WAR and WAW hazards since writes no longer at last stage</a:t>
            </a:r>
          </a:p>
          <a:p>
            <a:r>
              <a:rPr lang="en-US" altLang="zh-CN" dirty="0" smtClean="0"/>
              <a:t>Memory-memory move instructions</a:t>
            </a:r>
          </a:p>
          <a:p>
            <a:pPr lvl="1"/>
            <a:r>
              <a:rPr lang="en-US" altLang="zh-CN" dirty="0" smtClean="0"/>
              <a:t>Multiple page faults</a:t>
            </a:r>
          </a:p>
          <a:p>
            <a:pPr lvl="1"/>
            <a:r>
              <a:rPr lang="en-US" altLang="zh-CN" dirty="0" smtClean="0"/>
              <a:t>Make progress?</a:t>
            </a:r>
          </a:p>
          <a:p>
            <a:r>
              <a:rPr lang="en-US" altLang="zh-CN" dirty="0" smtClean="0"/>
              <a:t>Floating-point: long execution time</a:t>
            </a:r>
          </a:p>
          <a:p>
            <a:pPr lvl="1"/>
            <a:r>
              <a:rPr lang="en-US" altLang="zh-CN" dirty="0" smtClean="0"/>
              <a:t>Many FP units, allow multiple outstanding FP operations in parallel</a:t>
            </a:r>
          </a:p>
          <a:p>
            <a:pPr lvl="1"/>
            <a:r>
              <a:rPr lang="en-US" altLang="zh-CN" dirty="0" smtClean="0"/>
              <a:t>Adds WAR and WAW hazards since pipeline no longer same length</a:t>
            </a:r>
          </a:p>
          <a:p>
            <a:pPr lvl="1"/>
            <a:r>
              <a:rPr lang="en-US" altLang="zh-CN" dirty="0" smtClean="0"/>
              <a:t>Interrupts or exceptions possible in many stages</a:t>
            </a:r>
            <a:endParaRPr lang="zh-CN" altLang="en-US" dirty="0"/>
          </a:p>
        </p:txBody>
      </p:sp>
    </p:spTree>
    <p:extLst>
      <p:ext uri="{BB962C8B-B14F-4D97-AF65-F5344CB8AC3E}">
        <p14:creationId xmlns:p14="http://schemas.microsoft.com/office/powerpoint/2010/main" val="83798525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6760301" y="1916832"/>
            <a:ext cx="5409150" cy="4725144"/>
          </a:xfrm>
          <a:prstGeom prst="rect">
            <a:avLst/>
          </a:prstGeom>
        </p:spPr>
      </p:pic>
      <p:sp>
        <p:nvSpPr>
          <p:cNvPr id="2" name="标题 1"/>
          <p:cNvSpPr>
            <a:spLocks noGrp="1"/>
          </p:cNvSpPr>
          <p:nvPr>
            <p:ph type="title"/>
          </p:nvPr>
        </p:nvSpPr>
        <p:spPr>
          <a:xfrm>
            <a:off x="551384" y="365125"/>
            <a:ext cx="11161240" cy="831627"/>
          </a:xfrm>
        </p:spPr>
        <p:txBody>
          <a:bodyPr/>
          <a:lstStyle/>
          <a:p>
            <a:r>
              <a:rPr lang="en-US" altLang="zh-CN" dirty="0"/>
              <a:t>The RISC V pipeline </a:t>
            </a:r>
            <a:r>
              <a:rPr lang="en-US" altLang="zh-CN" dirty="0" smtClean="0"/>
              <a:t>with 3+ functional </a:t>
            </a:r>
            <a:r>
              <a:rPr lang="en-US" altLang="zh-CN" dirty="0"/>
              <a:t>units</a:t>
            </a:r>
            <a:endParaRPr lang="zh-CN" altLang="en-US" dirty="0"/>
          </a:p>
        </p:txBody>
      </p:sp>
      <p:sp>
        <p:nvSpPr>
          <p:cNvPr id="3" name="内容占位符 2"/>
          <p:cNvSpPr>
            <a:spLocks noGrp="1"/>
          </p:cNvSpPr>
          <p:nvPr>
            <p:ph idx="1"/>
          </p:nvPr>
        </p:nvSpPr>
        <p:spPr/>
        <p:txBody>
          <a:bodyPr/>
          <a:lstStyle/>
          <a:p>
            <a:r>
              <a:rPr lang="en-US" altLang="zh-CN" dirty="0" smtClean="0"/>
              <a:t>Multiply, FP adder, and Divider</a:t>
            </a:r>
          </a:p>
          <a:p>
            <a:r>
              <a:rPr lang="en-US" altLang="zh-CN" dirty="0" smtClean="0"/>
              <a:t>Because </a:t>
            </a:r>
            <a:r>
              <a:rPr lang="en-US" altLang="zh-CN" dirty="0"/>
              <a:t>only one instruction issues on every </a:t>
            </a:r>
            <a:r>
              <a:rPr lang="en-US" altLang="zh-CN" dirty="0" smtClean="0"/>
              <a:t/>
            </a:r>
            <a:br>
              <a:rPr lang="en-US" altLang="zh-CN" dirty="0" smtClean="0"/>
            </a:br>
            <a:r>
              <a:rPr lang="en-US" altLang="zh-CN" dirty="0" smtClean="0"/>
              <a:t>clock </a:t>
            </a:r>
            <a:r>
              <a:rPr lang="en-US" altLang="zh-CN" dirty="0"/>
              <a:t>cycle, all instructions go through the </a:t>
            </a:r>
            <a:r>
              <a:rPr lang="en-US" altLang="zh-CN" dirty="0" smtClean="0"/>
              <a:t/>
            </a:r>
            <a:br>
              <a:rPr lang="en-US" altLang="zh-CN" dirty="0" smtClean="0"/>
            </a:br>
            <a:r>
              <a:rPr lang="en-US" altLang="zh-CN" dirty="0" smtClean="0"/>
              <a:t>standard </a:t>
            </a:r>
            <a:r>
              <a:rPr lang="en-US" altLang="zh-CN" dirty="0"/>
              <a:t>pipeline for integer </a:t>
            </a:r>
            <a:r>
              <a:rPr lang="en-US" altLang="zh-CN" dirty="0" smtClean="0"/>
              <a:t>operations</a:t>
            </a:r>
          </a:p>
          <a:p>
            <a:r>
              <a:rPr lang="en-US" altLang="zh-CN" dirty="0" smtClean="0"/>
              <a:t>The </a:t>
            </a:r>
            <a:r>
              <a:rPr lang="en-US" altLang="zh-CN" dirty="0"/>
              <a:t>FP operations simply loop when they </a:t>
            </a:r>
            <a:r>
              <a:rPr lang="en-US" altLang="zh-CN" dirty="0" smtClean="0"/>
              <a:t/>
            </a:r>
            <a:br>
              <a:rPr lang="en-US" altLang="zh-CN" dirty="0" smtClean="0"/>
            </a:br>
            <a:r>
              <a:rPr lang="en-US" altLang="zh-CN" dirty="0" smtClean="0"/>
              <a:t>reach </a:t>
            </a:r>
            <a:r>
              <a:rPr lang="en-US" altLang="zh-CN" dirty="0"/>
              <a:t>the EX stage. </a:t>
            </a:r>
            <a:endParaRPr lang="en-US" altLang="zh-CN" dirty="0" smtClean="0"/>
          </a:p>
          <a:p>
            <a:pPr lvl="1"/>
            <a:r>
              <a:rPr lang="en-US" altLang="zh-CN" dirty="0" smtClean="0"/>
              <a:t>After </a:t>
            </a:r>
            <a:r>
              <a:rPr lang="en-US" altLang="zh-CN" dirty="0"/>
              <a:t>they have finished the </a:t>
            </a:r>
            <a:r>
              <a:rPr lang="en-US" altLang="zh-CN" dirty="0" smtClean="0"/>
              <a:t/>
            </a:r>
            <a:br>
              <a:rPr lang="en-US" altLang="zh-CN" dirty="0" smtClean="0"/>
            </a:br>
            <a:r>
              <a:rPr lang="en-US" altLang="zh-CN" dirty="0" smtClean="0"/>
              <a:t>EX </a:t>
            </a:r>
            <a:r>
              <a:rPr lang="en-US" altLang="zh-CN" dirty="0"/>
              <a:t>stage, they proceed to MEM </a:t>
            </a:r>
            <a:r>
              <a:rPr lang="en-US" altLang="zh-CN" dirty="0" smtClean="0"/>
              <a:t/>
            </a:r>
            <a:br>
              <a:rPr lang="en-US" altLang="zh-CN" dirty="0" smtClean="0"/>
            </a:br>
            <a:r>
              <a:rPr lang="en-US" altLang="zh-CN" dirty="0" smtClean="0"/>
              <a:t>and </a:t>
            </a:r>
            <a:r>
              <a:rPr lang="en-US" altLang="zh-CN" dirty="0"/>
              <a:t>WB to complete </a:t>
            </a:r>
            <a:r>
              <a:rPr lang="en-US" altLang="zh-CN" dirty="0" smtClean="0"/>
              <a:t>execution</a:t>
            </a:r>
            <a:endParaRPr lang="en-US" altLang="zh-CN" dirty="0"/>
          </a:p>
        </p:txBody>
      </p:sp>
    </p:spTree>
    <p:extLst>
      <p:ext uri="{BB962C8B-B14F-4D97-AF65-F5344CB8AC3E}">
        <p14:creationId xmlns:p14="http://schemas.microsoft.com/office/powerpoint/2010/main" val="396443609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207568" y="2421892"/>
            <a:ext cx="8544271" cy="4452916"/>
          </a:xfrm>
          <a:prstGeom prst="rect">
            <a:avLst/>
          </a:prstGeom>
        </p:spPr>
      </p:pic>
      <p:sp>
        <p:nvSpPr>
          <p:cNvPr id="2" name="标题 1"/>
          <p:cNvSpPr>
            <a:spLocks noGrp="1"/>
          </p:cNvSpPr>
          <p:nvPr>
            <p:ph type="title"/>
          </p:nvPr>
        </p:nvSpPr>
        <p:spPr/>
        <p:txBody>
          <a:bodyPr/>
          <a:lstStyle/>
          <a:p>
            <a:r>
              <a:rPr lang="en-US" altLang="zh-CN" dirty="0"/>
              <a:t>A pipeline that supports multiple outstanding FP operations</a:t>
            </a:r>
            <a:endParaRPr lang="zh-CN" altLang="en-US" dirty="0"/>
          </a:p>
        </p:txBody>
      </p:sp>
      <p:sp>
        <p:nvSpPr>
          <p:cNvPr id="3" name="内容占位符 2"/>
          <p:cNvSpPr>
            <a:spLocks noGrp="1"/>
          </p:cNvSpPr>
          <p:nvPr>
            <p:ph idx="1"/>
          </p:nvPr>
        </p:nvSpPr>
        <p:spPr>
          <a:xfrm>
            <a:off x="551384" y="1556792"/>
            <a:ext cx="11089232" cy="5112568"/>
          </a:xfrm>
        </p:spPr>
        <p:txBody>
          <a:bodyPr/>
          <a:lstStyle/>
          <a:p>
            <a:r>
              <a:rPr lang="en-US" altLang="zh-CN" dirty="0" smtClean="0"/>
              <a:t>Multiplier </a:t>
            </a:r>
            <a:r>
              <a:rPr lang="en-US" altLang="zh-CN" dirty="0"/>
              <a:t>and adder are fully </a:t>
            </a:r>
            <a:r>
              <a:rPr lang="en-US" altLang="zh-CN" dirty="0" smtClean="0"/>
              <a:t>pipelined, 7 and 4 stages each</a:t>
            </a:r>
          </a:p>
          <a:p>
            <a:r>
              <a:rPr lang="en-US" altLang="zh-CN" dirty="0" smtClean="0"/>
              <a:t>FP </a:t>
            </a:r>
            <a:r>
              <a:rPr lang="en-US" altLang="zh-CN" dirty="0"/>
              <a:t>divider is not pipelined, but requires 24 clock cycles to </a:t>
            </a:r>
            <a:r>
              <a:rPr lang="en-US" altLang="zh-CN" dirty="0" smtClean="0"/>
              <a:t>complete</a:t>
            </a:r>
          </a:p>
        </p:txBody>
      </p:sp>
    </p:spTree>
    <p:extLst>
      <p:ext uri="{BB962C8B-B14F-4D97-AF65-F5344CB8AC3E}">
        <p14:creationId xmlns:p14="http://schemas.microsoft.com/office/powerpoint/2010/main" val="85121336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typical FP code sequence showing the stalls arising from RAW hazards</a:t>
            </a:r>
            <a:endParaRPr lang="zh-CN" altLang="en-US" dirty="0"/>
          </a:p>
        </p:txBody>
      </p:sp>
      <p:sp>
        <p:nvSpPr>
          <p:cNvPr id="3" name="内容占位符 2"/>
          <p:cNvSpPr>
            <a:spLocks noGrp="1"/>
          </p:cNvSpPr>
          <p:nvPr>
            <p:ph idx="1"/>
          </p:nvPr>
        </p:nvSpPr>
        <p:spPr>
          <a:xfrm>
            <a:off x="838200" y="1556792"/>
            <a:ext cx="10515600" cy="2808312"/>
          </a:xfrm>
        </p:spPr>
        <p:txBody>
          <a:bodyPr/>
          <a:lstStyle/>
          <a:p>
            <a:r>
              <a:rPr lang="en-US" altLang="zh-CN" dirty="0" smtClean="0"/>
              <a:t>The </a:t>
            </a:r>
            <a:r>
              <a:rPr lang="en-US" altLang="zh-CN" dirty="0"/>
              <a:t>longer pipeline substantially raises the frequency of stalls </a:t>
            </a:r>
            <a:endParaRPr lang="en-US" altLang="zh-CN" dirty="0" smtClean="0"/>
          </a:p>
          <a:p>
            <a:r>
              <a:rPr lang="en-US" altLang="zh-CN" dirty="0" smtClean="0"/>
              <a:t>Each </a:t>
            </a:r>
            <a:r>
              <a:rPr lang="en-US" altLang="zh-CN" dirty="0"/>
              <a:t>instruction in this sequence is dependent on the previous and proceeds as soon as data are available, which assumes the pipeline has full bypassing and </a:t>
            </a:r>
            <a:r>
              <a:rPr lang="en-US" altLang="zh-CN" dirty="0" smtClean="0"/>
              <a:t>forwarding</a:t>
            </a:r>
          </a:p>
          <a:p>
            <a:r>
              <a:rPr lang="en-US" altLang="zh-CN" dirty="0" smtClean="0"/>
              <a:t>The </a:t>
            </a:r>
            <a:r>
              <a:rPr lang="en-US" altLang="zh-CN" b="1" dirty="0" err="1">
                <a:latin typeface="Courier New" panose="02070309020205020404" pitchFamily="49" charset="0"/>
                <a:cs typeface="Courier New" panose="02070309020205020404" pitchFamily="49" charset="0"/>
              </a:rPr>
              <a:t>fsd</a:t>
            </a:r>
            <a:r>
              <a:rPr lang="en-US" altLang="zh-CN" dirty="0"/>
              <a:t> must be stalled an extra cycle so that its MEM does not conflict with the </a:t>
            </a:r>
            <a:r>
              <a:rPr lang="en-US" altLang="zh-CN" b="1" dirty="0" err="1">
                <a:latin typeface="Courier New" panose="02070309020205020404" pitchFamily="49" charset="0"/>
                <a:cs typeface="Courier New" panose="02070309020205020404" pitchFamily="49" charset="0"/>
              </a:rPr>
              <a:t>fadd.d</a:t>
            </a:r>
            <a:r>
              <a:rPr lang="en-US" altLang="zh-CN" dirty="0"/>
              <a:t>. Extra hardware could easily handle this case.</a:t>
            </a:r>
          </a:p>
          <a:p>
            <a:endParaRPr lang="zh-CN" altLang="en-US" dirty="0"/>
          </a:p>
        </p:txBody>
      </p:sp>
      <p:pic>
        <p:nvPicPr>
          <p:cNvPr id="4" name="图片 3"/>
          <p:cNvPicPr>
            <a:picLocks noChangeAspect="1"/>
          </p:cNvPicPr>
          <p:nvPr/>
        </p:nvPicPr>
        <p:blipFill>
          <a:blip r:embed="rId2"/>
          <a:stretch>
            <a:fillRect/>
          </a:stretch>
        </p:blipFill>
        <p:spPr>
          <a:xfrm>
            <a:off x="1127448" y="4509120"/>
            <a:ext cx="10122787" cy="2212579"/>
          </a:xfrm>
          <a:prstGeom prst="rect">
            <a:avLst/>
          </a:prstGeom>
        </p:spPr>
      </p:pic>
    </p:spTree>
    <p:extLst>
      <p:ext uri="{BB962C8B-B14F-4D97-AF65-F5344CB8AC3E}">
        <p14:creationId xmlns:p14="http://schemas.microsoft.com/office/powerpoint/2010/main" val="1239941583"/>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dirty="0"/>
              <a:t>Three instructions want </a:t>
            </a:r>
            <a:r>
              <a:rPr lang="en-US" altLang="en-US" dirty="0" smtClean="0"/>
              <a:t>write-back </a:t>
            </a:r>
            <a:r>
              <a:rPr lang="en-US" altLang="en-US" dirty="0"/>
              <a:t>to the FP register file simultaneously</a:t>
            </a:r>
            <a:endParaRPr lang="zh-CN" altLang="en-US" dirty="0"/>
          </a:p>
        </p:txBody>
      </p:sp>
      <p:sp>
        <p:nvSpPr>
          <p:cNvPr id="3" name="内容占位符 2"/>
          <p:cNvSpPr>
            <a:spLocks noGrp="1"/>
          </p:cNvSpPr>
          <p:nvPr>
            <p:ph idx="1"/>
          </p:nvPr>
        </p:nvSpPr>
        <p:spPr>
          <a:xfrm>
            <a:off x="551384" y="1556792"/>
            <a:ext cx="11089232" cy="5112568"/>
          </a:xfrm>
        </p:spPr>
        <p:txBody>
          <a:bodyPr/>
          <a:lstStyle/>
          <a:p>
            <a:r>
              <a:rPr lang="en-US" altLang="en-US" dirty="0" smtClean="0"/>
              <a:t>As shown </a:t>
            </a:r>
            <a:r>
              <a:rPr lang="en-US" altLang="en-US" dirty="0"/>
              <a:t>in clock cycle 11. This is </a:t>
            </a:r>
            <a:r>
              <a:rPr lang="en-US" altLang="en-US" i="1" dirty="0"/>
              <a:t>not</a:t>
            </a:r>
            <a:r>
              <a:rPr lang="en-US" altLang="en-US" dirty="0"/>
              <a:t> the worst case, because an earlier divide in the FP unit could also finish on the same </a:t>
            </a:r>
            <a:r>
              <a:rPr lang="en-US" altLang="en-US" dirty="0" smtClean="0"/>
              <a:t>clock </a:t>
            </a:r>
          </a:p>
          <a:p>
            <a:r>
              <a:rPr lang="en-US" altLang="en-US" dirty="0" smtClean="0"/>
              <a:t>Note </a:t>
            </a:r>
            <a:r>
              <a:rPr lang="en-US" altLang="en-US" dirty="0"/>
              <a:t>that although the </a:t>
            </a:r>
            <a:r>
              <a:rPr lang="en-US" altLang="en-US" dirty="0" err="1">
                <a:latin typeface="Courier New" panose="02070309020205020404" pitchFamily="49" charset="0"/>
                <a:cs typeface="Courier New" panose="02070309020205020404" pitchFamily="49" charset="0"/>
              </a:rPr>
              <a:t>fmul.d</a:t>
            </a: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fadd.d</a:t>
            </a:r>
            <a:r>
              <a:rPr lang="en-US" altLang="en-US" dirty="0">
                <a:latin typeface="Courier New" panose="02070309020205020404" pitchFamily="49" charset="0"/>
                <a:cs typeface="Courier New" panose="02070309020205020404" pitchFamily="49" charset="0"/>
              </a:rPr>
              <a:t>, </a:t>
            </a:r>
            <a:r>
              <a:rPr lang="en-US" altLang="en-US" dirty="0"/>
              <a:t>and </a:t>
            </a:r>
            <a:r>
              <a:rPr lang="en-US" altLang="en-US" dirty="0" err="1">
                <a:latin typeface="Courier New" panose="02070309020205020404" pitchFamily="49" charset="0"/>
                <a:cs typeface="Courier New" panose="02070309020205020404" pitchFamily="49" charset="0"/>
              </a:rPr>
              <a:t>fld</a:t>
            </a:r>
            <a:r>
              <a:rPr lang="en-US" altLang="en-US" dirty="0">
                <a:latin typeface="Courier New" panose="02070309020205020404" pitchFamily="49" charset="0"/>
                <a:cs typeface="Courier New" panose="02070309020205020404" pitchFamily="49" charset="0"/>
              </a:rPr>
              <a:t> </a:t>
            </a:r>
            <a:r>
              <a:rPr lang="en-US" altLang="en-US" dirty="0"/>
              <a:t>are in the MEM stage in clock cycle 10, only the </a:t>
            </a:r>
            <a:r>
              <a:rPr lang="en-US" altLang="en-US" dirty="0" err="1">
                <a:latin typeface="Courier New" panose="02070309020205020404" pitchFamily="49" charset="0"/>
                <a:cs typeface="Courier New" panose="02070309020205020404" pitchFamily="49" charset="0"/>
              </a:rPr>
              <a:t>fld</a:t>
            </a:r>
            <a:r>
              <a:rPr lang="en-US" altLang="en-US" dirty="0"/>
              <a:t> actually uses the memory, so no structural hazard exists for MEM</a:t>
            </a:r>
            <a:endParaRPr lang="zh-CN" altLang="en-US" dirty="0"/>
          </a:p>
        </p:txBody>
      </p:sp>
      <p:pic>
        <p:nvPicPr>
          <p:cNvPr id="4" name="图片 3"/>
          <p:cNvPicPr>
            <a:picLocks noChangeAspect="1"/>
          </p:cNvPicPr>
          <p:nvPr/>
        </p:nvPicPr>
        <p:blipFill>
          <a:blip r:embed="rId2"/>
          <a:stretch>
            <a:fillRect/>
          </a:stretch>
        </p:blipFill>
        <p:spPr>
          <a:xfrm>
            <a:off x="1466130" y="3738001"/>
            <a:ext cx="9877026" cy="3119999"/>
          </a:xfrm>
          <a:prstGeom prst="rect">
            <a:avLst/>
          </a:prstGeom>
        </p:spPr>
      </p:pic>
    </p:spTree>
    <p:extLst>
      <p:ext uri="{BB962C8B-B14F-4D97-AF65-F5344CB8AC3E}">
        <p14:creationId xmlns:p14="http://schemas.microsoft.com/office/powerpoint/2010/main" val="407098721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dirty="0"/>
              <a:t>Stalls </a:t>
            </a:r>
            <a:r>
              <a:rPr lang="en-US" altLang="en-US" dirty="0" smtClean="0"/>
              <a:t>of </a:t>
            </a:r>
            <a:r>
              <a:rPr lang="en-US" altLang="en-US" dirty="0"/>
              <a:t>FP operation for the SPEC89 </a:t>
            </a:r>
            <a:r>
              <a:rPr lang="en-US" altLang="en-US" dirty="0" smtClean="0"/>
              <a:t/>
            </a:r>
            <a:br>
              <a:rPr lang="en-US" altLang="en-US" dirty="0" smtClean="0"/>
            </a:br>
            <a:r>
              <a:rPr lang="en-US" altLang="en-US" dirty="0" smtClean="0"/>
              <a:t>FP </a:t>
            </a:r>
            <a:r>
              <a:rPr lang="en-US" altLang="en-US" dirty="0"/>
              <a:t>benchmarks</a:t>
            </a:r>
            <a:endParaRPr lang="zh-CN" altLang="en-US" dirty="0"/>
          </a:p>
        </p:txBody>
      </p:sp>
      <p:sp>
        <p:nvSpPr>
          <p:cNvPr id="3" name="内容占位符 2"/>
          <p:cNvSpPr>
            <a:spLocks noGrp="1"/>
          </p:cNvSpPr>
          <p:nvPr>
            <p:ph idx="1"/>
          </p:nvPr>
        </p:nvSpPr>
        <p:spPr>
          <a:xfrm>
            <a:off x="479376" y="1556792"/>
            <a:ext cx="6192688" cy="5112568"/>
          </a:xfrm>
        </p:spPr>
        <p:txBody>
          <a:bodyPr/>
          <a:lstStyle/>
          <a:p>
            <a:r>
              <a:rPr lang="en-US" altLang="en-US" dirty="0" smtClean="0"/>
              <a:t>The </a:t>
            </a:r>
            <a:r>
              <a:rPr lang="en-US" altLang="en-US" dirty="0"/>
              <a:t>number of stalls from RAW hazards roughly tracks the latency of the FP </a:t>
            </a:r>
            <a:r>
              <a:rPr lang="en-US" altLang="en-US" dirty="0" smtClean="0"/>
              <a:t>unit</a:t>
            </a:r>
          </a:p>
          <a:p>
            <a:pPr lvl="1"/>
            <a:r>
              <a:rPr lang="en-US" altLang="en-US" dirty="0" smtClean="0"/>
              <a:t>The </a:t>
            </a:r>
            <a:r>
              <a:rPr lang="en-US" altLang="en-US" dirty="0"/>
              <a:t>average number of stalls per FP add, subtract, or convert is 1.7 cycles, or 56% of the latency (three </a:t>
            </a:r>
            <a:r>
              <a:rPr lang="en-US" altLang="en-US" dirty="0" smtClean="0"/>
              <a:t>cycles)</a:t>
            </a:r>
          </a:p>
          <a:p>
            <a:pPr lvl="1"/>
            <a:r>
              <a:rPr lang="en-US" altLang="en-US" dirty="0" smtClean="0"/>
              <a:t>The </a:t>
            </a:r>
            <a:r>
              <a:rPr lang="en-US" altLang="en-US" dirty="0"/>
              <a:t>average number of stalls for multiplies and divides are 2.8 and 14.2, respectively, or 46% and 59% of the corresponding </a:t>
            </a:r>
            <a:r>
              <a:rPr lang="en-US" altLang="en-US" dirty="0" smtClean="0"/>
              <a:t>latency</a:t>
            </a:r>
          </a:p>
          <a:p>
            <a:r>
              <a:rPr lang="en-US" altLang="en-US" dirty="0" smtClean="0"/>
              <a:t>Structural </a:t>
            </a:r>
            <a:r>
              <a:rPr lang="en-US" altLang="en-US" dirty="0"/>
              <a:t>hazards for divides are rare, because the divide frequency is </a:t>
            </a:r>
            <a:r>
              <a:rPr lang="en-US" altLang="en-US" dirty="0" smtClean="0"/>
              <a:t>low</a:t>
            </a:r>
            <a:endParaRPr lang="en-US" altLang="en-US" dirty="0"/>
          </a:p>
          <a:p>
            <a:endParaRPr lang="zh-CN" altLang="en-US" dirty="0"/>
          </a:p>
        </p:txBody>
      </p:sp>
      <p:pic>
        <p:nvPicPr>
          <p:cNvPr id="4" name="图片 3"/>
          <p:cNvPicPr>
            <a:picLocks noChangeAspect="1"/>
          </p:cNvPicPr>
          <p:nvPr/>
        </p:nvPicPr>
        <p:blipFill>
          <a:blip r:embed="rId2"/>
          <a:stretch>
            <a:fillRect/>
          </a:stretch>
        </p:blipFill>
        <p:spPr>
          <a:xfrm>
            <a:off x="6789438" y="1736812"/>
            <a:ext cx="5283226" cy="4752528"/>
          </a:xfrm>
          <a:prstGeom prst="rect">
            <a:avLst/>
          </a:prstGeom>
        </p:spPr>
      </p:pic>
    </p:spTree>
    <p:extLst>
      <p:ext uri="{BB962C8B-B14F-4D97-AF65-F5344CB8AC3E}">
        <p14:creationId xmlns:p14="http://schemas.microsoft.com/office/powerpoint/2010/main" val="15531599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a:lstStyle/>
          <a:p>
            <a:r>
              <a:rPr lang="en-US" altLang="zh-CN" smtClean="0"/>
              <a:t>Case Study: MIPS R4000  (200 MHz)</a:t>
            </a:r>
            <a:endParaRPr lang="en-US" altLang="zh-CN"/>
          </a:p>
        </p:txBody>
      </p:sp>
      <p:sp>
        <p:nvSpPr>
          <p:cNvPr id="680963" name="Rectangle 3"/>
          <p:cNvSpPr>
            <a:spLocks noGrp="1" noChangeArrowheads="1"/>
          </p:cNvSpPr>
          <p:nvPr>
            <p:ph type="body" idx="1"/>
          </p:nvPr>
        </p:nvSpPr>
        <p:spPr/>
        <p:txBody>
          <a:bodyPr/>
          <a:lstStyle/>
          <a:p>
            <a:r>
              <a:rPr lang="en-US" altLang="zh-CN" dirty="0" smtClean="0"/>
              <a:t>8 Stage Pipeline:</a:t>
            </a:r>
          </a:p>
          <a:p>
            <a:pPr lvl="1"/>
            <a:r>
              <a:rPr lang="en-US" altLang="zh-CN" dirty="0" smtClean="0"/>
              <a:t>IF–first half of fetching of instruction; PC selection happens here as well as initiation of instruction cache access.</a:t>
            </a:r>
          </a:p>
          <a:p>
            <a:pPr lvl="1"/>
            <a:r>
              <a:rPr lang="en-US" altLang="zh-CN" dirty="0" smtClean="0">
                <a:solidFill>
                  <a:srgbClr val="FF0000"/>
                </a:solidFill>
              </a:rPr>
              <a:t>IS–second half of access to instruction cache. </a:t>
            </a:r>
          </a:p>
          <a:p>
            <a:pPr lvl="1"/>
            <a:r>
              <a:rPr lang="en-US" altLang="zh-CN" dirty="0" smtClean="0"/>
              <a:t>RF–instruction decode and register fetch, hazard checking and also instruction cache hit detection.</a:t>
            </a:r>
          </a:p>
          <a:p>
            <a:pPr lvl="1"/>
            <a:r>
              <a:rPr lang="en-US" altLang="zh-CN" dirty="0" smtClean="0"/>
              <a:t>EX–execution, which includes effective address calculation, ALU operation, and branch target computation and condition evaluation.</a:t>
            </a:r>
          </a:p>
          <a:p>
            <a:pPr lvl="1"/>
            <a:r>
              <a:rPr lang="en-US" altLang="zh-CN" dirty="0" smtClean="0"/>
              <a:t>DF–data fetch, first half of access to data cache.</a:t>
            </a:r>
          </a:p>
          <a:p>
            <a:pPr lvl="1"/>
            <a:r>
              <a:rPr lang="en-US" altLang="zh-CN" dirty="0" smtClean="0">
                <a:solidFill>
                  <a:srgbClr val="FF0000"/>
                </a:solidFill>
              </a:rPr>
              <a:t>DS–second half of access to data cache.</a:t>
            </a:r>
          </a:p>
          <a:p>
            <a:pPr lvl="1"/>
            <a:r>
              <a:rPr lang="en-US" altLang="zh-CN" dirty="0" smtClean="0">
                <a:solidFill>
                  <a:srgbClr val="FF0000"/>
                </a:solidFill>
              </a:rPr>
              <a:t>TC–tag check, determine whether the data cache access hit.</a:t>
            </a:r>
          </a:p>
          <a:p>
            <a:pPr lvl="1"/>
            <a:r>
              <a:rPr lang="en-US" altLang="zh-CN" dirty="0" smtClean="0"/>
              <a:t>WB–write back for loads and register-register operations.</a:t>
            </a:r>
          </a:p>
          <a:p>
            <a:r>
              <a:rPr lang="en-US" altLang="zh-CN" dirty="0" smtClean="0"/>
              <a:t>8 Stages: What is impact on Load delay? Branch delay? Why?</a:t>
            </a:r>
            <a:endParaRPr lang="en-US" altLang="zh-CN" dirty="0"/>
          </a:p>
        </p:txBody>
      </p:sp>
      <p:pic>
        <p:nvPicPr>
          <p:cNvPr id="4" name="图片 3"/>
          <p:cNvPicPr>
            <a:picLocks noChangeAspect="1"/>
          </p:cNvPicPr>
          <p:nvPr/>
        </p:nvPicPr>
        <p:blipFill>
          <a:blip r:embed="rId3"/>
          <a:stretch>
            <a:fillRect/>
          </a:stretch>
        </p:blipFill>
        <p:spPr>
          <a:xfrm>
            <a:off x="5951984" y="1124744"/>
            <a:ext cx="6096528" cy="957155"/>
          </a:xfrm>
          <a:prstGeom prst="rect">
            <a:avLst/>
          </a:prstGeom>
        </p:spPr>
      </p:pic>
    </p:spTree>
    <p:extLst>
      <p:ext uri="{BB962C8B-B14F-4D97-AF65-F5344CB8AC3E}">
        <p14:creationId xmlns:p14="http://schemas.microsoft.com/office/powerpoint/2010/main" val="3218742713"/>
      </p:ext>
    </p:extLst>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en-US" dirty="0"/>
              <a:t>The structure of the R4000 integer pipeline leads to a x1 load delay</a:t>
            </a:r>
            <a:endParaRPr lang="en-US" altLang="zh-CN" dirty="0">
              <a:ea typeface="宋体" panose="02010600030101010101" pitchFamily="2" charset="-122"/>
            </a:endParaRPr>
          </a:p>
        </p:txBody>
      </p:sp>
      <p:sp>
        <p:nvSpPr>
          <p:cNvPr id="3" name="矩形 2"/>
          <p:cNvSpPr/>
          <p:nvPr/>
        </p:nvSpPr>
        <p:spPr>
          <a:xfrm>
            <a:off x="626319" y="5445224"/>
            <a:ext cx="10730408" cy="1200329"/>
          </a:xfrm>
          <a:prstGeom prst="rect">
            <a:avLst/>
          </a:prstGeom>
        </p:spPr>
        <p:txBody>
          <a:bodyPr wrap="square">
            <a:spAutoFit/>
          </a:bodyPr>
          <a:lstStyle/>
          <a:p>
            <a:r>
              <a:rPr lang="en-US" altLang="zh-CN" sz="2400" dirty="0" smtClean="0">
                <a:solidFill>
                  <a:srgbClr val="0000FF"/>
                </a:solidFill>
              </a:rPr>
              <a:t>Two cycle </a:t>
            </a:r>
            <a:r>
              <a:rPr lang="en-US" altLang="zh-CN" sz="2400" dirty="0">
                <a:solidFill>
                  <a:srgbClr val="0000FF"/>
                </a:solidFill>
              </a:rPr>
              <a:t>delay is possible because the data value is available at the end of DS and can be bypassed. If the tag check in TC indicates a miss, the pipeline is backed up a cycle, when the correct data are available</a:t>
            </a:r>
            <a:endParaRPr lang="zh-CN" altLang="en-US" sz="2400" dirty="0">
              <a:solidFill>
                <a:srgbClr val="0000FF"/>
              </a:solidFill>
            </a:endParaRPr>
          </a:p>
        </p:txBody>
      </p:sp>
      <p:pic>
        <p:nvPicPr>
          <p:cNvPr id="4" name="图片 3"/>
          <p:cNvPicPr>
            <a:picLocks noChangeAspect="1"/>
          </p:cNvPicPr>
          <p:nvPr/>
        </p:nvPicPr>
        <p:blipFill>
          <a:blip r:embed="rId2"/>
          <a:stretch>
            <a:fillRect/>
          </a:stretch>
        </p:blipFill>
        <p:spPr>
          <a:xfrm>
            <a:off x="2894564" y="1700808"/>
            <a:ext cx="8463057" cy="3744416"/>
          </a:xfrm>
          <a:prstGeom prst="rect">
            <a:avLst/>
          </a:prstGeom>
        </p:spPr>
      </p:pic>
    </p:spTree>
    <p:extLst>
      <p:ext uri="{BB962C8B-B14F-4D97-AF65-F5344CB8AC3E}">
        <p14:creationId xmlns:p14="http://schemas.microsoft.com/office/powerpoint/2010/main" val="2302104831"/>
      </p:ext>
    </p:extLst>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 load instruction followed by an immediate use results in a x1 stall</a:t>
            </a:r>
            <a:endParaRPr lang="zh-CN" altLang="en-US" dirty="0"/>
          </a:p>
        </p:txBody>
      </p:sp>
      <p:sp>
        <p:nvSpPr>
          <p:cNvPr id="3" name="内容占位符 2"/>
          <p:cNvSpPr>
            <a:spLocks noGrp="1"/>
          </p:cNvSpPr>
          <p:nvPr>
            <p:ph idx="1"/>
          </p:nvPr>
        </p:nvSpPr>
        <p:spPr/>
        <p:txBody>
          <a:bodyPr/>
          <a:lstStyle/>
          <a:p>
            <a:r>
              <a:rPr lang="en-US" altLang="en-US" dirty="0" smtClean="0"/>
              <a:t>Normal </a:t>
            </a:r>
            <a:r>
              <a:rPr lang="en-US" altLang="en-US" dirty="0"/>
              <a:t>forwarding paths can be used after two cycles, so the</a:t>
            </a:r>
            <a:r>
              <a:rPr lang="en-US" altLang="en-US" dirty="0">
                <a:latin typeface="Courier New" panose="02070309020205020404" pitchFamily="49" charset="0"/>
                <a:cs typeface="Courier New" panose="02070309020205020404" pitchFamily="49" charset="0"/>
              </a:rPr>
              <a:t> add </a:t>
            </a:r>
            <a:r>
              <a:rPr lang="en-US" altLang="en-US" dirty="0"/>
              <a:t>and </a:t>
            </a:r>
            <a:r>
              <a:rPr lang="en-US" altLang="en-US" dirty="0">
                <a:latin typeface="Courier New" panose="02070309020205020404" pitchFamily="49" charset="0"/>
                <a:cs typeface="Courier New" panose="02070309020205020404" pitchFamily="49" charset="0"/>
              </a:rPr>
              <a:t>sub</a:t>
            </a:r>
            <a:r>
              <a:rPr lang="en-US" altLang="en-US" dirty="0"/>
              <a:t> get the value by forwarding after the stall. The </a:t>
            </a:r>
            <a:r>
              <a:rPr lang="en-US" altLang="en-US" dirty="0">
                <a:latin typeface="Courier New" panose="02070309020205020404" pitchFamily="49" charset="0"/>
                <a:cs typeface="Courier New" panose="02070309020205020404" pitchFamily="49" charset="0"/>
              </a:rPr>
              <a:t>or</a:t>
            </a:r>
            <a:r>
              <a:rPr lang="en-US" altLang="en-US" dirty="0"/>
              <a:t> instruction gets the value from the register file. Because the two instructions after the load could be independent and hence not stall, the bypass can be to instructions that are three or four cycles after the load.</a:t>
            </a:r>
          </a:p>
          <a:p>
            <a:endParaRPr lang="zh-CN" altLang="en-US" dirty="0"/>
          </a:p>
        </p:txBody>
      </p:sp>
      <p:pic>
        <p:nvPicPr>
          <p:cNvPr id="4" name="图片 3"/>
          <p:cNvPicPr>
            <a:picLocks noChangeAspect="1"/>
          </p:cNvPicPr>
          <p:nvPr/>
        </p:nvPicPr>
        <p:blipFill>
          <a:blip r:embed="rId2"/>
          <a:stretch>
            <a:fillRect/>
          </a:stretch>
        </p:blipFill>
        <p:spPr>
          <a:xfrm>
            <a:off x="983432" y="4113076"/>
            <a:ext cx="10864321" cy="2376264"/>
          </a:xfrm>
          <a:prstGeom prst="rect">
            <a:avLst/>
          </a:prstGeom>
        </p:spPr>
      </p:pic>
    </p:spTree>
    <p:extLst>
      <p:ext uri="{BB962C8B-B14F-4D97-AF65-F5344CB8AC3E}">
        <p14:creationId xmlns:p14="http://schemas.microsoft.com/office/powerpoint/2010/main" val="253614338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en-US" altLang="zh-CN" dirty="0"/>
              <a:t>The basic branch delay is three </a:t>
            </a:r>
            <a:r>
              <a:rPr lang="en-US" altLang="zh-CN" dirty="0" smtClean="0"/>
              <a:t>cycles</a:t>
            </a:r>
            <a:endParaRPr lang="zh-CN" altLang="en-US" dirty="0"/>
          </a:p>
        </p:txBody>
      </p:sp>
      <p:sp>
        <p:nvSpPr>
          <p:cNvPr id="6" name="内容占位符 5"/>
          <p:cNvSpPr>
            <a:spLocks noGrp="1"/>
          </p:cNvSpPr>
          <p:nvPr>
            <p:ph idx="1"/>
          </p:nvPr>
        </p:nvSpPr>
        <p:spPr/>
        <p:txBody>
          <a:bodyPr/>
          <a:lstStyle/>
          <a:p>
            <a:r>
              <a:rPr lang="en-US" altLang="zh-CN" dirty="0" smtClean="0"/>
              <a:t>Because </a:t>
            </a:r>
            <a:r>
              <a:rPr lang="en-US" altLang="zh-CN" dirty="0"/>
              <a:t>the condition evaluation is performed during EX</a:t>
            </a:r>
            <a:endParaRPr lang="zh-CN" altLang="en-US" dirty="0"/>
          </a:p>
        </p:txBody>
      </p:sp>
      <p:pic>
        <p:nvPicPr>
          <p:cNvPr id="4" name="图片 3"/>
          <p:cNvPicPr>
            <a:picLocks noChangeAspect="1"/>
          </p:cNvPicPr>
          <p:nvPr/>
        </p:nvPicPr>
        <p:blipFill>
          <a:blip r:embed="rId2"/>
          <a:stretch>
            <a:fillRect/>
          </a:stretch>
        </p:blipFill>
        <p:spPr>
          <a:xfrm>
            <a:off x="1339996" y="2045335"/>
            <a:ext cx="9512007" cy="4810329"/>
          </a:xfrm>
          <a:prstGeom prst="rect">
            <a:avLst/>
          </a:prstGeom>
        </p:spPr>
      </p:pic>
    </p:spTree>
    <p:extLst>
      <p:ext uri="{BB962C8B-B14F-4D97-AF65-F5344CB8AC3E}">
        <p14:creationId xmlns:p14="http://schemas.microsoft.com/office/powerpoint/2010/main" val="203255039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Branch in R4000</a:t>
            </a:r>
            <a:endParaRPr lang="zh-CN" altLang="en-US" dirty="0"/>
          </a:p>
        </p:txBody>
      </p:sp>
      <p:sp>
        <p:nvSpPr>
          <p:cNvPr id="3" name="内容占位符 2"/>
          <p:cNvSpPr>
            <a:spLocks noGrp="1"/>
          </p:cNvSpPr>
          <p:nvPr>
            <p:ph idx="1"/>
          </p:nvPr>
        </p:nvSpPr>
        <p:spPr/>
        <p:txBody>
          <a:bodyPr/>
          <a:lstStyle/>
          <a:p>
            <a:r>
              <a:rPr lang="en-US" altLang="zh-CN" dirty="0"/>
              <a:t>A taken branch, </a:t>
            </a:r>
            <a:r>
              <a:rPr lang="en-US" altLang="zh-CN" dirty="0" smtClean="0"/>
              <a:t>has </a:t>
            </a:r>
            <a:r>
              <a:rPr lang="en-US" altLang="zh-CN" dirty="0"/>
              <a:t>a one-cycle delay slot followed by a x1 stall, while an untaken </a:t>
            </a:r>
            <a:r>
              <a:rPr lang="en-US" altLang="zh-CN" dirty="0" smtClean="0"/>
              <a:t>branch has </a:t>
            </a:r>
            <a:r>
              <a:rPr lang="en-US" altLang="zh-CN" dirty="0"/>
              <a:t>simply a one-cycle delay </a:t>
            </a:r>
            <a:r>
              <a:rPr lang="en-US" altLang="zh-CN" dirty="0" smtClean="0"/>
              <a:t>slot</a:t>
            </a:r>
          </a:p>
          <a:p>
            <a:pPr lvl="1"/>
            <a:r>
              <a:rPr lang="en-US" altLang="zh-CN" dirty="0"/>
              <a:t>B</a:t>
            </a:r>
            <a:r>
              <a:rPr lang="en-US" altLang="zh-CN" dirty="0" smtClean="0"/>
              <a:t>ranch-likely</a:t>
            </a:r>
            <a:r>
              <a:rPr lang="en-US" altLang="zh-CN" dirty="0"/>
              <a:t>, which cancels the effect of the instruction in the delay slot if the branch is untaken</a:t>
            </a:r>
            <a:endParaRPr lang="zh-CN" altLang="en-US" dirty="0"/>
          </a:p>
        </p:txBody>
      </p:sp>
      <p:pic>
        <p:nvPicPr>
          <p:cNvPr id="4" name="图片 3"/>
          <p:cNvPicPr>
            <a:picLocks noChangeAspect="1"/>
          </p:cNvPicPr>
          <p:nvPr/>
        </p:nvPicPr>
        <p:blipFill>
          <a:blip r:embed="rId2"/>
          <a:stretch>
            <a:fillRect/>
          </a:stretch>
        </p:blipFill>
        <p:spPr>
          <a:xfrm>
            <a:off x="2135560" y="3140969"/>
            <a:ext cx="8970013" cy="3706906"/>
          </a:xfrm>
          <a:prstGeom prst="rect">
            <a:avLst/>
          </a:prstGeom>
        </p:spPr>
      </p:pic>
      <p:sp>
        <p:nvSpPr>
          <p:cNvPr id="5" name="文本框 4"/>
          <p:cNvSpPr txBox="1"/>
          <p:nvPr/>
        </p:nvSpPr>
        <p:spPr>
          <a:xfrm>
            <a:off x="1055440" y="3789040"/>
            <a:ext cx="1043876" cy="2585323"/>
          </a:xfrm>
          <a:prstGeom prst="rect">
            <a:avLst/>
          </a:prstGeom>
          <a:noFill/>
        </p:spPr>
        <p:txBody>
          <a:bodyPr wrap="none" rtlCol="0">
            <a:spAutoFit/>
          </a:bodyPr>
          <a:lstStyle/>
          <a:p>
            <a:r>
              <a:rPr lang="en-US" altLang="zh-CN" dirty="0" smtClean="0"/>
              <a:t>Taken</a:t>
            </a:r>
          </a:p>
          <a:p>
            <a:r>
              <a:rPr lang="en-US" altLang="zh-CN" dirty="0" smtClean="0"/>
              <a:t>Branch</a:t>
            </a:r>
          </a:p>
          <a:p>
            <a:endParaRPr lang="en-US" altLang="zh-CN" dirty="0"/>
          </a:p>
          <a:p>
            <a:endParaRPr lang="en-US" altLang="zh-CN" dirty="0" smtClean="0"/>
          </a:p>
          <a:p>
            <a:endParaRPr lang="en-US" altLang="zh-CN" dirty="0"/>
          </a:p>
          <a:p>
            <a:endParaRPr lang="en-US" altLang="zh-CN" dirty="0" smtClean="0"/>
          </a:p>
          <a:p>
            <a:endParaRPr lang="en-US" altLang="zh-CN" dirty="0"/>
          </a:p>
          <a:p>
            <a:r>
              <a:rPr lang="en-US" altLang="zh-CN" dirty="0" smtClean="0"/>
              <a:t>Untaken</a:t>
            </a:r>
          </a:p>
          <a:p>
            <a:r>
              <a:rPr lang="en-US" altLang="zh-CN" dirty="0" smtClean="0"/>
              <a:t>Branch</a:t>
            </a:r>
            <a:endParaRPr lang="zh-CN" altLang="en-US" dirty="0"/>
          </a:p>
        </p:txBody>
      </p:sp>
    </p:spTree>
    <p:extLst>
      <p:ext uri="{BB962C8B-B14F-4D97-AF65-F5344CB8AC3E}">
        <p14:creationId xmlns:p14="http://schemas.microsoft.com/office/powerpoint/2010/main" val="284775567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Deeper pipeline has 3 stage delay</a:t>
            </a:r>
            <a:endParaRPr lang="zh-CN" altLang="en-US" dirty="0"/>
          </a:p>
        </p:txBody>
      </p:sp>
      <p:sp>
        <p:nvSpPr>
          <p:cNvPr id="3" name="内容占位符 2"/>
          <p:cNvSpPr>
            <a:spLocks noGrp="1"/>
          </p:cNvSpPr>
          <p:nvPr>
            <p:ph idx="1"/>
          </p:nvPr>
        </p:nvSpPr>
        <p:spPr>
          <a:xfrm>
            <a:off x="838200" y="3140968"/>
            <a:ext cx="10515600" cy="936104"/>
          </a:xfrm>
        </p:spPr>
        <p:txBody>
          <a:bodyPr/>
          <a:lstStyle/>
          <a:p>
            <a:r>
              <a:rPr lang="en-US" altLang="zh-CN" dirty="0" smtClean="0"/>
              <a:t>Assume: Jump 4%, untaken branch 6%, taken branch 10%</a:t>
            </a:r>
          </a:p>
          <a:p>
            <a:r>
              <a:rPr lang="en-US" altLang="zh-CN" dirty="0"/>
              <a:t>CPI penalties for three </a:t>
            </a:r>
            <a:r>
              <a:rPr lang="en-US" altLang="zh-CN" dirty="0" smtClean="0"/>
              <a:t>branch </a:t>
            </a:r>
            <a:r>
              <a:rPr lang="en-US" altLang="zh-CN" dirty="0"/>
              <a:t>schemes </a:t>
            </a:r>
            <a:r>
              <a:rPr lang="en-US" altLang="zh-CN" dirty="0" smtClean="0"/>
              <a:t>in the </a:t>
            </a:r>
            <a:r>
              <a:rPr lang="en-US" altLang="zh-CN" dirty="0"/>
              <a:t>deeper pipeline</a:t>
            </a:r>
            <a:endParaRPr lang="zh-CN" altLang="en-US" dirty="0"/>
          </a:p>
        </p:txBody>
      </p:sp>
      <p:pic>
        <p:nvPicPr>
          <p:cNvPr id="4" name="图片 3"/>
          <p:cNvPicPr>
            <a:picLocks noChangeAspect="1"/>
          </p:cNvPicPr>
          <p:nvPr/>
        </p:nvPicPr>
        <p:blipFill>
          <a:blip r:embed="rId2"/>
          <a:stretch>
            <a:fillRect/>
          </a:stretch>
        </p:blipFill>
        <p:spPr>
          <a:xfrm>
            <a:off x="1847527" y="1556792"/>
            <a:ext cx="10078401" cy="1475992"/>
          </a:xfrm>
          <a:prstGeom prst="rect">
            <a:avLst/>
          </a:prstGeom>
        </p:spPr>
      </p:pic>
      <p:pic>
        <p:nvPicPr>
          <p:cNvPr id="5" name="图片 4"/>
          <p:cNvPicPr>
            <a:picLocks noChangeAspect="1"/>
          </p:cNvPicPr>
          <p:nvPr/>
        </p:nvPicPr>
        <p:blipFill>
          <a:blip r:embed="rId3"/>
          <a:stretch>
            <a:fillRect/>
          </a:stretch>
        </p:blipFill>
        <p:spPr>
          <a:xfrm>
            <a:off x="2135560" y="4185256"/>
            <a:ext cx="9389377" cy="2484104"/>
          </a:xfrm>
          <a:prstGeom prst="rect">
            <a:avLst/>
          </a:prstGeom>
        </p:spPr>
      </p:pic>
    </p:spTree>
    <p:extLst>
      <p:ext uri="{BB962C8B-B14F-4D97-AF65-F5344CB8AC3E}">
        <p14:creationId xmlns:p14="http://schemas.microsoft.com/office/powerpoint/2010/main" val="36713956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p:txBody>
          <a:bodyPr/>
          <a:lstStyle/>
          <a:p>
            <a:r>
              <a:rPr lang="en-US" altLang="en-US"/>
              <a:t>Branch Prediction Schemes</a:t>
            </a:r>
          </a:p>
        </p:txBody>
      </p:sp>
      <p:sp>
        <p:nvSpPr>
          <p:cNvPr id="684035" name="Rectangle 3"/>
          <p:cNvSpPr>
            <a:spLocks noGrp="1" noChangeArrowheads="1"/>
          </p:cNvSpPr>
          <p:nvPr>
            <p:ph type="body" idx="1"/>
          </p:nvPr>
        </p:nvSpPr>
        <p:spPr/>
        <p:txBody>
          <a:bodyPr/>
          <a:lstStyle/>
          <a:p>
            <a:pPr marL="457200" indent="-457200">
              <a:buNone/>
            </a:pPr>
            <a:r>
              <a:rPr lang="en-US" altLang="en-US" dirty="0"/>
              <a:t>0.  Static Branch Prediction</a:t>
            </a:r>
          </a:p>
          <a:p>
            <a:pPr marL="457200" indent="-457200"/>
            <a:r>
              <a:rPr lang="en-US" altLang="en-US" dirty="0"/>
              <a:t>1-bit </a:t>
            </a:r>
            <a:r>
              <a:rPr lang="en-US" altLang="en-US" dirty="0" smtClean="0"/>
              <a:t>Branch history table (Branch-Prediction Buffer)</a:t>
            </a:r>
            <a:endParaRPr lang="en-US" altLang="en-US" dirty="0"/>
          </a:p>
          <a:p>
            <a:pPr marL="457200" indent="-457200"/>
            <a:r>
              <a:rPr lang="en-US" altLang="en-US" dirty="0" smtClean="0"/>
              <a:t>2-bit Branch history table (Branch-Prediction Buffer)</a:t>
            </a:r>
            <a:endParaRPr lang="en-US" altLang="en-US" dirty="0"/>
          </a:p>
          <a:p>
            <a:pPr marL="457200" indent="-457200"/>
            <a:r>
              <a:rPr lang="en-US" altLang="en-US" dirty="0"/>
              <a:t>Correlating Branch Prediction Buffer</a:t>
            </a:r>
          </a:p>
          <a:p>
            <a:pPr marL="457200" indent="-457200"/>
            <a:r>
              <a:rPr lang="en-US" altLang="en-US" dirty="0"/>
              <a:t>Tournament Branch Predictor</a:t>
            </a:r>
          </a:p>
          <a:p>
            <a:pPr marL="457200" indent="-457200"/>
            <a:r>
              <a:rPr lang="en-US" altLang="en-US" dirty="0"/>
              <a:t>Branch Target Buffer</a:t>
            </a:r>
          </a:p>
          <a:p>
            <a:pPr marL="457200" indent="-457200"/>
            <a:r>
              <a:rPr lang="en-US" altLang="en-US" dirty="0"/>
              <a:t>Integrated Instruction Fetch Units</a:t>
            </a:r>
          </a:p>
          <a:p>
            <a:pPr marL="457200" indent="-457200"/>
            <a:r>
              <a:rPr lang="en-US" altLang="en-US" dirty="0"/>
              <a:t>Return Address Predictors</a:t>
            </a:r>
          </a:p>
        </p:txBody>
      </p:sp>
    </p:spTree>
    <p:extLst>
      <p:ext uri="{BB962C8B-B14F-4D97-AF65-F5344CB8AC3E}">
        <p14:creationId xmlns:p14="http://schemas.microsoft.com/office/powerpoint/2010/main" val="41470501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mph" presetSubtype="0" fill="hold" nodeType="clickEffect">
                                  <p:stCondLst>
                                    <p:cond delay="0"/>
                                  </p:stCondLst>
                                  <p:iterate type="lt">
                                    <p:tmPct val="4000"/>
                                  </p:iterate>
                                  <p:childTnLst>
                                    <p:set>
                                      <p:cBhvr override="childStyle">
                                        <p:cTn id="6" dur="500" fill="hold"/>
                                        <p:tgtEl>
                                          <p:spTgt spid="684035">
                                            <p:txEl>
                                              <p:pRg st="0" end="0"/>
                                            </p:txEl>
                                          </p:spTgt>
                                        </p:tgtEl>
                                        <p:attrNameLst>
                                          <p:attrName>style.textDecorationUnderline</p:attrName>
                                        </p:attrNameLst>
                                      </p:cBhvr>
                                      <p:to>
                                        <p:strVal val="true"/>
                                      </p:to>
                                    </p:set>
                                  </p:childTnLst>
                                </p:cTn>
                              </p:par>
                              <p:par>
                                <p:cTn id="7" presetID="18" presetClass="emph" presetSubtype="0" fill="hold" nodeType="withEffect">
                                  <p:stCondLst>
                                    <p:cond delay="0"/>
                                  </p:stCondLst>
                                  <p:iterate type="lt">
                                    <p:tmPct val="4000"/>
                                  </p:iterate>
                                  <p:childTnLst>
                                    <p:set>
                                      <p:cBhvr override="childStyle">
                                        <p:cTn id="8" dur="500" fill="hold"/>
                                        <p:tgtEl>
                                          <p:spTgt spid="684035">
                                            <p:txEl>
                                              <p:pRg st="1" end="1"/>
                                            </p:txEl>
                                          </p:spTgt>
                                        </p:tgtEl>
                                        <p:attrNameLst>
                                          <p:attrName>style.textDecorationUnderline</p:attrName>
                                        </p:attrNameLst>
                                      </p:cBhvr>
                                      <p:to>
                                        <p:strVal val="true"/>
                                      </p:to>
                                    </p:set>
                                  </p:childTnLst>
                                </p:cTn>
                              </p:par>
                              <p:par>
                                <p:cTn id="9" presetID="18" presetClass="emph" presetSubtype="0" fill="hold" nodeType="withEffect">
                                  <p:stCondLst>
                                    <p:cond delay="0"/>
                                  </p:stCondLst>
                                  <p:iterate type="lt">
                                    <p:tmPct val="4000"/>
                                  </p:iterate>
                                  <p:childTnLst>
                                    <p:set>
                                      <p:cBhvr override="childStyle">
                                        <p:cTn id="10" dur="500" fill="hold"/>
                                        <p:tgtEl>
                                          <p:spTgt spid="684035">
                                            <p:txEl>
                                              <p:pRg st="2" end="2"/>
                                            </p:txEl>
                                          </p:spTgt>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dirty="0" err="1"/>
              <a:t>Misprediction</a:t>
            </a:r>
            <a:r>
              <a:rPr lang="en-US" altLang="en-US" dirty="0"/>
              <a:t> rate on SPEC92 for a profile-based predictor</a:t>
            </a:r>
            <a:endParaRPr lang="zh-CN" altLang="en-US" dirty="0"/>
          </a:p>
        </p:txBody>
      </p:sp>
      <p:sp>
        <p:nvSpPr>
          <p:cNvPr id="3" name="内容占位符 2"/>
          <p:cNvSpPr>
            <a:spLocks noGrp="1"/>
          </p:cNvSpPr>
          <p:nvPr>
            <p:ph idx="1"/>
          </p:nvPr>
        </p:nvSpPr>
        <p:spPr>
          <a:xfrm>
            <a:off x="838200" y="1556792"/>
            <a:ext cx="5689848" cy="5112568"/>
          </a:xfrm>
        </p:spPr>
        <p:txBody>
          <a:bodyPr/>
          <a:lstStyle/>
          <a:p>
            <a:r>
              <a:rPr lang="en-US" altLang="zh-CN" dirty="0" smtClean="0"/>
              <a:t>F</a:t>
            </a:r>
            <a:r>
              <a:rPr lang="en-US" altLang="en-US" dirty="0" smtClean="0"/>
              <a:t>loating-point programs </a:t>
            </a:r>
            <a:r>
              <a:rPr lang="en-US" altLang="en-US" dirty="0"/>
              <a:t>have an average </a:t>
            </a:r>
            <a:r>
              <a:rPr lang="en-US" altLang="en-US" dirty="0" err="1"/>
              <a:t>misprediction</a:t>
            </a:r>
            <a:r>
              <a:rPr lang="en-US" altLang="en-US" dirty="0"/>
              <a:t> rate of 9% with a standard deviation of 4</a:t>
            </a:r>
            <a:r>
              <a:rPr lang="en-US" altLang="en-US" dirty="0" smtClean="0"/>
              <a:t>%</a:t>
            </a:r>
          </a:p>
          <a:p>
            <a:r>
              <a:rPr lang="en-US" altLang="zh-CN" dirty="0" smtClean="0"/>
              <a:t>I</a:t>
            </a:r>
            <a:r>
              <a:rPr lang="en-US" altLang="en-US" dirty="0" smtClean="0"/>
              <a:t>nteger </a:t>
            </a:r>
            <a:r>
              <a:rPr lang="en-US" altLang="en-US" dirty="0" err="1" smtClean="0"/>
              <a:t>programshave</a:t>
            </a:r>
            <a:r>
              <a:rPr lang="en-US" altLang="en-US" dirty="0" smtClean="0"/>
              <a:t> </a:t>
            </a:r>
            <a:r>
              <a:rPr lang="en-US" altLang="en-US" dirty="0"/>
              <a:t>an average </a:t>
            </a:r>
            <a:r>
              <a:rPr lang="en-US" altLang="en-US" dirty="0" err="1"/>
              <a:t>misprediction</a:t>
            </a:r>
            <a:r>
              <a:rPr lang="en-US" altLang="en-US" dirty="0"/>
              <a:t> rate of 15% with a standard deviation of </a:t>
            </a:r>
            <a:r>
              <a:rPr lang="en-US" altLang="en-US" dirty="0" smtClean="0"/>
              <a:t>5%</a:t>
            </a:r>
          </a:p>
          <a:p>
            <a:r>
              <a:rPr lang="en-US" altLang="en-US" dirty="0" smtClean="0"/>
              <a:t>The </a:t>
            </a:r>
            <a:r>
              <a:rPr lang="en-US" altLang="en-US" dirty="0"/>
              <a:t>actual performance depends on both the prediction accuracy and the branch frequency, which vary from 3% to 24%.</a:t>
            </a:r>
            <a:endParaRPr lang="zh-CN" altLang="en-US" dirty="0"/>
          </a:p>
        </p:txBody>
      </p:sp>
      <p:pic>
        <p:nvPicPr>
          <p:cNvPr id="4" name="图片 3"/>
          <p:cNvPicPr>
            <a:picLocks noChangeAspect="1"/>
          </p:cNvPicPr>
          <p:nvPr/>
        </p:nvPicPr>
        <p:blipFill>
          <a:blip r:embed="rId2"/>
          <a:stretch>
            <a:fillRect/>
          </a:stretch>
        </p:blipFill>
        <p:spPr>
          <a:xfrm>
            <a:off x="6775601" y="1916832"/>
            <a:ext cx="5225055" cy="4752528"/>
          </a:xfrm>
          <a:prstGeom prst="rect">
            <a:avLst/>
          </a:prstGeom>
        </p:spPr>
      </p:pic>
    </p:spTree>
    <p:extLst>
      <p:ext uri="{BB962C8B-B14F-4D97-AF65-F5344CB8AC3E}">
        <p14:creationId xmlns:p14="http://schemas.microsoft.com/office/powerpoint/2010/main" val="2064796470"/>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p:txBody>
          <a:bodyPr/>
          <a:lstStyle/>
          <a:p>
            <a:r>
              <a:rPr lang="en-US" altLang="en-US" smtClean="0"/>
              <a:t>Dynamic Branch Prediction</a:t>
            </a:r>
            <a:endParaRPr lang="en-US" altLang="en-US"/>
          </a:p>
        </p:txBody>
      </p:sp>
      <p:sp>
        <p:nvSpPr>
          <p:cNvPr id="685059" name="Rectangle 3"/>
          <p:cNvSpPr>
            <a:spLocks noGrp="1" noChangeArrowheads="1"/>
          </p:cNvSpPr>
          <p:nvPr>
            <p:ph type="body" idx="1"/>
          </p:nvPr>
        </p:nvSpPr>
        <p:spPr/>
        <p:txBody>
          <a:bodyPr/>
          <a:lstStyle/>
          <a:p>
            <a:r>
              <a:rPr lang="en-US" altLang="en-US" dirty="0" smtClean="0"/>
              <a:t>Performance = ƒ(accuracy, cost of </a:t>
            </a:r>
            <a:r>
              <a:rPr lang="en-US" altLang="en-US" dirty="0" err="1" smtClean="0"/>
              <a:t>misprediction</a:t>
            </a:r>
            <a:r>
              <a:rPr lang="en-US" altLang="en-US" dirty="0" smtClean="0"/>
              <a:t>)</a:t>
            </a:r>
          </a:p>
          <a:p>
            <a:r>
              <a:rPr lang="en-US" altLang="en-US" dirty="0" smtClean="0"/>
              <a:t>Branch History Table: Lower bits of PC address index a table of 1-bit values</a:t>
            </a:r>
          </a:p>
          <a:p>
            <a:pPr lvl="1"/>
            <a:r>
              <a:rPr lang="en-US" altLang="en-US" dirty="0" smtClean="0"/>
              <a:t>Says whether or not branch taken last time; No address check</a:t>
            </a:r>
          </a:p>
          <a:p>
            <a:pPr lvl="2"/>
            <a:r>
              <a:rPr lang="en-US" altLang="en-US" dirty="0" smtClean="0"/>
              <a:t>Saves HW, but may not be right branch</a:t>
            </a:r>
          </a:p>
          <a:p>
            <a:pPr lvl="1"/>
            <a:r>
              <a:rPr lang="en-US" altLang="en-US" dirty="0" smtClean="0"/>
              <a:t>If instruction == BR, update table with outcome</a:t>
            </a:r>
          </a:p>
          <a:p>
            <a:r>
              <a:rPr lang="en-US" altLang="en-US" dirty="0" smtClean="0"/>
              <a:t>Problem: in a loop, 1-bit BHT will cause 2 </a:t>
            </a:r>
            <a:r>
              <a:rPr lang="en-US" altLang="en-US" dirty="0" err="1" smtClean="0"/>
              <a:t>mispredictions</a:t>
            </a:r>
            <a:r>
              <a:rPr lang="en-US" altLang="en-US" dirty="0" smtClean="0"/>
              <a:t> </a:t>
            </a:r>
          </a:p>
          <a:p>
            <a:pPr lvl="1"/>
            <a:r>
              <a:rPr lang="en-US" altLang="en-US" dirty="0" smtClean="0"/>
              <a:t>End of loop case, when it exits instead of  looping as before</a:t>
            </a:r>
          </a:p>
          <a:p>
            <a:pPr lvl="1"/>
            <a:r>
              <a:rPr lang="en-US" altLang="en-US" dirty="0" smtClean="0"/>
              <a:t>First time through loop on next time through code, when it predicts exit instead of looping</a:t>
            </a:r>
          </a:p>
          <a:p>
            <a:pPr lvl="1"/>
            <a:r>
              <a:rPr lang="en-US" altLang="en-US" dirty="0" smtClean="0"/>
              <a:t>Average is 9 iterations before exit</a:t>
            </a:r>
          </a:p>
          <a:p>
            <a:pPr lvl="1"/>
            <a:r>
              <a:rPr lang="en-US" altLang="en-US" dirty="0" smtClean="0"/>
              <a:t>Only 80% accuracy even if loop 90% of the time</a:t>
            </a:r>
          </a:p>
        </p:txBody>
      </p:sp>
      <p:sp>
        <p:nvSpPr>
          <p:cNvPr id="14" name="Rectangle 4"/>
          <p:cNvSpPr>
            <a:spLocks noChangeArrowheads="1"/>
          </p:cNvSpPr>
          <p:nvPr/>
        </p:nvSpPr>
        <p:spPr bwMode="auto">
          <a:xfrm>
            <a:off x="9423524" y="5756674"/>
            <a:ext cx="465137" cy="336550"/>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600" b="1" i="0" u="none" strike="noStrike" kern="0" cap="none" spc="0" normalizeH="0" baseline="0" noProof="0" dirty="0" smtClean="0">
                <a:ln>
                  <a:noFill/>
                </a:ln>
                <a:solidFill>
                  <a:srgbClr val="FC0128"/>
                </a:solidFill>
                <a:effectLst/>
                <a:uLnTx/>
                <a:uFillTx/>
              </a:rPr>
              <a:t>PC</a:t>
            </a:r>
          </a:p>
        </p:txBody>
      </p:sp>
      <p:sp>
        <p:nvSpPr>
          <p:cNvPr id="15" name="Rectangle 6"/>
          <p:cNvSpPr>
            <a:spLocks noChangeArrowheads="1"/>
          </p:cNvSpPr>
          <p:nvPr/>
        </p:nvSpPr>
        <p:spPr bwMode="auto">
          <a:xfrm>
            <a:off x="8923213" y="5389169"/>
            <a:ext cx="1735138" cy="357188"/>
          </a:xfrm>
          <a:prstGeom prst="rect">
            <a:avLst/>
          </a:prstGeom>
          <a:noFill/>
          <a:ln w="12700">
            <a:solidFill>
              <a:srgbClr val="000000"/>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600" b="1" i="0" u="none" strike="noStrike" kern="0" cap="none" spc="0" normalizeH="0" baseline="0" noProof="0" smtClean="0">
              <a:ln>
                <a:noFill/>
              </a:ln>
              <a:solidFill>
                <a:srgbClr val="FC0128"/>
              </a:solidFill>
              <a:effectLst/>
              <a:uLnTx/>
              <a:uFillTx/>
              <a:ea typeface="+mn-ea"/>
            </a:endParaRPr>
          </a:p>
        </p:txBody>
      </p:sp>
      <p:sp>
        <p:nvSpPr>
          <p:cNvPr id="16" name="Line 7"/>
          <p:cNvSpPr>
            <a:spLocks noChangeShapeType="1"/>
          </p:cNvSpPr>
          <p:nvPr/>
        </p:nvSpPr>
        <p:spPr bwMode="auto">
          <a:xfrm flipH="1">
            <a:off x="9918824" y="5408219"/>
            <a:ext cx="2927" cy="33655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600" b="1" i="0" u="none" strike="noStrike" kern="0" cap="none" spc="0" normalizeH="0" baseline="0" noProof="0" smtClean="0">
              <a:ln>
                <a:noFill/>
              </a:ln>
              <a:solidFill>
                <a:srgbClr val="FC0128"/>
              </a:solidFill>
              <a:effectLst/>
              <a:uLnTx/>
              <a:uFillTx/>
              <a:ea typeface="+mn-ea"/>
            </a:endParaRPr>
          </a:p>
        </p:txBody>
      </p:sp>
      <p:sp>
        <p:nvSpPr>
          <p:cNvPr id="17" name="Rectangle 8"/>
          <p:cNvSpPr>
            <a:spLocks noChangeArrowheads="1"/>
          </p:cNvSpPr>
          <p:nvPr/>
        </p:nvSpPr>
        <p:spPr bwMode="auto">
          <a:xfrm>
            <a:off x="11572751" y="4831957"/>
            <a:ext cx="217487" cy="1866900"/>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600" b="1" i="0" u="none" strike="noStrike" kern="0" cap="none" spc="0" normalizeH="0" baseline="0" noProof="0" smtClean="0">
              <a:ln>
                <a:noFill/>
              </a:ln>
              <a:solidFill>
                <a:srgbClr val="FC0128"/>
              </a:solidFill>
              <a:effectLst/>
              <a:uLnTx/>
              <a:uFillTx/>
              <a:ea typeface="+mn-ea"/>
            </a:endParaRPr>
          </a:p>
        </p:txBody>
      </p:sp>
      <p:sp>
        <p:nvSpPr>
          <p:cNvPr id="18" name="Freeform 9"/>
          <p:cNvSpPr>
            <a:spLocks/>
          </p:cNvSpPr>
          <p:nvPr/>
        </p:nvSpPr>
        <p:spPr bwMode="auto">
          <a:xfrm>
            <a:off x="10272464" y="5744769"/>
            <a:ext cx="1270124" cy="280988"/>
          </a:xfrm>
          <a:custGeom>
            <a:avLst/>
            <a:gdLst>
              <a:gd name="T0" fmla="*/ 20 w 664"/>
              <a:gd name="T1" fmla="*/ 0 h 176"/>
              <a:gd name="T2" fmla="*/ 0 w 664"/>
              <a:gd name="T3" fmla="*/ 176 h 176"/>
              <a:gd name="T4" fmla="*/ 664 w 664"/>
              <a:gd name="T5" fmla="*/ 176 h 176"/>
            </a:gdLst>
            <a:ahLst/>
            <a:cxnLst>
              <a:cxn ang="0">
                <a:pos x="T0" y="T1"/>
              </a:cxn>
              <a:cxn ang="0">
                <a:pos x="T2" y="T3"/>
              </a:cxn>
              <a:cxn ang="0">
                <a:pos x="T4" y="T5"/>
              </a:cxn>
            </a:cxnLst>
            <a:rect l="0" t="0" r="r" b="b"/>
            <a:pathLst>
              <a:path w="664" h="176">
                <a:moveTo>
                  <a:pt x="20" y="0"/>
                </a:moveTo>
                <a:lnTo>
                  <a:pt x="0" y="176"/>
                </a:lnTo>
                <a:lnTo>
                  <a:pt x="664" y="176"/>
                </a:lnTo>
              </a:path>
            </a:pathLst>
          </a:custGeom>
          <a:noFill/>
          <a:ln w="12700" cap="flat" cmpd="sng">
            <a:solidFill>
              <a:srgbClr val="000000"/>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marL="0" marR="0" lvl="0" indent="0" defTabSz="914400" eaLnBrk="1" fontAlgn="auto" latinLnBrk="0" hangingPunct="1">
              <a:lnSpc>
                <a:spcPct val="100000"/>
              </a:lnSpc>
              <a:spcBef>
                <a:spcPct val="50000"/>
              </a:spcBef>
              <a:spcAft>
                <a:spcPts val="0"/>
              </a:spcAft>
              <a:buClrTx/>
              <a:buSzTx/>
              <a:buFontTx/>
              <a:buNone/>
              <a:tabLst/>
              <a:defRPr/>
            </a:pPr>
            <a:endParaRPr kumimoji="0" lang="zh-CN" altLang="en-US" sz="1600" b="1" i="0" u="none" strike="noStrike" kern="0" cap="none" spc="0" normalizeH="0" baseline="0" noProof="0" smtClean="0">
              <a:ln>
                <a:noFill/>
              </a:ln>
              <a:solidFill>
                <a:srgbClr val="FC0128"/>
              </a:solidFill>
              <a:effectLst/>
              <a:uLnTx/>
              <a:uFillTx/>
              <a:ea typeface="+mn-ea"/>
            </a:endParaRPr>
          </a:p>
        </p:txBody>
      </p:sp>
      <p:sp>
        <p:nvSpPr>
          <p:cNvPr id="19" name="Rectangle 4"/>
          <p:cNvSpPr>
            <a:spLocks noChangeArrowheads="1"/>
          </p:cNvSpPr>
          <p:nvPr/>
        </p:nvSpPr>
        <p:spPr bwMode="auto">
          <a:xfrm>
            <a:off x="11305231" y="4478246"/>
            <a:ext cx="604653" cy="338554"/>
          </a:xfrm>
          <a:prstGeom prst="rect">
            <a:avLst/>
          </a:prstGeom>
          <a:solidFill>
            <a:srgbClr val="FF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0" marR="0" lvl="0" indent="0" algn="ctr" defTabSz="914400" eaLnBrk="1" fontAlgn="auto" latinLnBrk="0" hangingPunct="1">
              <a:lnSpc>
                <a:spcPct val="100000"/>
              </a:lnSpc>
              <a:spcBef>
                <a:spcPct val="50000"/>
              </a:spcBef>
              <a:spcAft>
                <a:spcPts val="0"/>
              </a:spcAft>
              <a:buClrTx/>
              <a:buSzTx/>
              <a:buFontTx/>
              <a:buNone/>
              <a:tabLst/>
              <a:defRPr/>
            </a:pPr>
            <a:r>
              <a:rPr kumimoji="0" lang="en-US" altLang="zh-CN" sz="1600" b="1" kern="0" dirty="0" smtClean="0">
                <a:solidFill>
                  <a:srgbClr val="FC0128"/>
                </a:solidFill>
              </a:rPr>
              <a:t>BHT</a:t>
            </a:r>
            <a:endParaRPr kumimoji="0" lang="en-US" altLang="zh-CN" sz="1600" b="1" i="0" u="none" strike="noStrike" kern="0" cap="none" spc="0" normalizeH="0" baseline="0" noProof="0" dirty="0" smtClean="0">
              <a:ln>
                <a:noFill/>
              </a:ln>
              <a:solidFill>
                <a:srgbClr val="FC0128"/>
              </a:solidFill>
              <a:effectLst/>
              <a:uLnTx/>
              <a:uFillTx/>
            </a:endParaRPr>
          </a:p>
        </p:txBody>
      </p:sp>
    </p:spTree>
    <p:extLst>
      <p:ext uri="{BB962C8B-B14F-4D97-AF65-F5344CB8AC3E}">
        <p14:creationId xmlns:p14="http://schemas.microsoft.com/office/powerpoint/2010/main" val="4218804800"/>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85059">
                                            <p:txEl>
                                              <p:pRg st="0" end="0"/>
                                            </p:txEl>
                                          </p:spTgt>
                                        </p:tgtEl>
                                        <p:attrNameLst>
                                          <p:attrName>style.visibility</p:attrName>
                                        </p:attrNameLst>
                                      </p:cBhvr>
                                      <p:to>
                                        <p:strVal val="visible"/>
                                      </p:to>
                                    </p:set>
                                    <p:anim calcmode="lin" valueType="num">
                                      <p:cBhvr additive="base">
                                        <p:cTn id="7" dur="500" fill="hold"/>
                                        <p:tgtEl>
                                          <p:spTgt spid="68505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850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85059">
                                            <p:txEl>
                                              <p:pRg st="1" end="1"/>
                                            </p:txEl>
                                          </p:spTgt>
                                        </p:tgtEl>
                                        <p:attrNameLst>
                                          <p:attrName>style.visibility</p:attrName>
                                        </p:attrNameLst>
                                      </p:cBhvr>
                                      <p:to>
                                        <p:strVal val="visible"/>
                                      </p:to>
                                    </p:set>
                                    <p:anim calcmode="lin" valueType="num">
                                      <p:cBhvr additive="base">
                                        <p:cTn id="13" dur="500" fill="hold"/>
                                        <p:tgtEl>
                                          <p:spTgt spid="68505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8505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2" fill="hold" grpId="0" nodeType="withEffect">
                                  <p:stCondLst>
                                    <p:cond delay="0"/>
                                  </p:stCondLst>
                                  <p:childTnLst>
                                    <p:set>
                                      <p:cBhvr>
                                        <p:cTn id="16" dur="1" fill="hold">
                                          <p:stCondLst>
                                            <p:cond delay="0"/>
                                          </p:stCondLst>
                                        </p:cTn>
                                        <p:tgtEl>
                                          <p:spTgt spid="685059">
                                            <p:txEl>
                                              <p:pRg st="2" end="2"/>
                                            </p:txEl>
                                          </p:spTgt>
                                        </p:tgtEl>
                                        <p:attrNameLst>
                                          <p:attrName>style.visibility</p:attrName>
                                        </p:attrNameLst>
                                      </p:cBhvr>
                                      <p:to>
                                        <p:strVal val="visible"/>
                                      </p:to>
                                    </p:set>
                                    <p:anim calcmode="lin" valueType="num">
                                      <p:cBhvr additive="base">
                                        <p:cTn id="17" dur="500" fill="hold"/>
                                        <p:tgtEl>
                                          <p:spTgt spid="685059">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8505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685059">
                                            <p:txEl>
                                              <p:pRg st="3" end="3"/>
                                            </p:txEl>
                                          </p:spTgt>
                                        </p:tgtEl>
                                        <p:attrNameLst>
                                          <p:attrName>style.visibility</p:attrName>
                                        </p:attrNameLst>
                                      </p:cBhvr>
                                      <p:to>
                                        <p:strVal val="visible"/>
                                      </p:to>
                                    </p:set>
                                    <p:anim calcmode="lin" valueType="num">
                                      <p:cBhvr additive="base">
                                        <p:cTn id="21" dur="500" fill="hold"/>
                                        <p:tgtEl>
                                          <p:spTgt spid="685059">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85059">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685059">
                                            <p:txEl>
                                              <p:pRg st="4" end="4"/>
                                            </p:txEl>
                                          </p:spTgt>
                                        </p:tgtEl>
                                        <p:attrNameLst>
                                          <p:attrName>style.visibility</p:attrName>
                                        </p:attrNameLst>
                                      </p:cBhvr>
                                      <p:to>
                                        <p:strVal val="visible"/>
                                      </p:to>
                                    </p:set>
                                    <p:anim calcmode="lin" valueType="num">
                                      <p:cBhvr additive="base">
                                        <p:cTn id="25" dur="500" fill="hold"/>
                                        <p:tgtEl>
                                          <p:spTgt spid="685059">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8505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85059">
                                            <p:txEl>
                                              <p:pRg st="5" end="5"/>
                                            </p:txEl>
                                          </p:spTgt>
                                        </p:tgtEl>
                                        <p:attrNameLst>
                                          <p:attrName>style.visibility</p:attrName>
                                        </p:attrNameLst>
                                      </p:cBhvr>
                                      <p:to>
                                        <p:strVal val="visible"/>
                                      </p:to>
                                    </p:set>
                                    <p:anim calcmode="lin" valueType="num">
                                      <p:cBhvr additive="base">
                                        <p:cTn id="31" dur="500" fill="hold"/>
                                        <p:tgtEl>
                                          <p:spTgt spid="685059">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85059">
                                            <p:txEl>
                                              <p:pRg st="5" end="5"/>
                                            </p:txEl>
                                          </p:spTgt>
                                        </p:tgtEl>
                                        <p:attrNameLst>
                                          <p:attrName>ppt_y</p:attrName>
                                        </p:attrNameLst>
                                      </p:cBhvr>
                                      <p:tavLst>
                                        <p:tav tm="0">
                                          <p:val>
                                            <p:strVal val="#ppt_y"/>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685059">
                                            <p:txEl>
                                              <p:pRg st="6" end="6"/>
                                            </p:txEl>
                                          </p:spTgt>
                                        </p:tgtEl>
                                        <p:attrNameLst>
                                          <p:attrName>style.visibility</p:attrName>
                                        </p:attrNameLst>
                                      </p:cBhvr>
                                      <p:to>
                                        <p:strVal val="visible"/>
                                      </p:to>
                                    </p:set>
                                    <p:anim calcmode="lin" valueType="num">
                                      <p:cBhvr additive="base">
                                        <p:cTn id="35" dur="500" fill="hold"/>
                                        <p:tgtEl>
                                          <p:spTgt spid="685059">
                                            <p:txEl>
                                              <p:pRg st="6" end="6"/>
                                            </p:tx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685059">
                                            <p:txEl>
                                              <p:pRg st="6" end="6"/>
                                            </p:tx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685059">
                                            <p:txEl>
                                              <p:pRg st="7" end="7"/>
                                            </p:txEl>
                                          </p:spTgt>
                                        </p:tgtEl>
                                        <p:attrNameLst>
                                          <p:attrName>style.visibility</p:attrName>
                                        </p:attrNameLst>
                                      </p:cBhvr>
                                      <p:to>
                                        <p:strVal val="visible"/>
                                      </p:to>
                                    </p:set>
                                    <p:anim calcmode="lin" valueType="num">
                                      <p:cBhvr additive="base">
                                        <p:cTn id="39" dur="500" fill="hold"/>
                                        <p:tgtEl>
                                          <p:spTgt spid="685059">
                                            <p:txEl>
                                              <p:pRg st="7" end="7"/>
                                            </p:tx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685059">
                                            <p:txEl>
                                              <p:pRg st="7" end="7"/>
                                            </p:tx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685059">
                                            <p:txEl>
                                              <p:pRg st="8" end="8"/>
                                            </p:txEl>
                                          </p:spTgt>
                                        </p:tgtEl>
                                        <p:attrNameLst>
                                          <p:attrName>style.visibility</p:attrName>
                                        </p:attrNameLst>
                                      </p:cBhvr>
                                      <p:to>
                                        <p:strVal val="visible"/>
                                      </p:to>
                                    </p:set>
                                    <p:anim calcmode="lin" valueType="num">
                                      <p:cBhvr additive="base">
                                        <p:cTn id="43" dur="500" fill="hold"/>
                                        <p:tgtEl>
                                          <p:spTgt spid="685059">
                                            <p:txEl>
                                              <p:pRg st="8" end="8"/>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685059">
                                            <p:txEl>
                                              <p:pRg st="8" end="8"/>
                                            </p:txEl>
                                          </p:spTgt>
                                        </p:tgtEl>
                                        <p:attrNameLst>
                                          <p:attrName>ppt_y</p:attrName>
                                        </p:attrNameLst>
                                      </p:cBhvr>
                                      <p:tavLst>
                                        <p:tav tm="0">
                                          <p:val>
                                            <p:strVal val="#ppt_y"/>
                                          </p:val>
                                        </p:tav>
                                        <p:tav tm="100000">
                                          <p:val>
                                            <p:strVal val="#ppt_y"/>
                                          </p:val>
                                        </p:tav>
                                      </p:tavLst>
                                    </p:anim>
                                  </p:childTnLst>
                                </p:cTn>
                              </p:par>
                              <p:par>
                                <p:cTn id="45" presetID="2" presetClass="entr" presetSubtype="2" fill="hold" grpId="0" nodeType="withEffect">
                                  <p:stCondLst>
                                    <p:cond delay="0"/>
                                  </p:stCondLst>
                                  <p:childTnLst>
                                    <p:set>
                                      <p:cBhvr>
                                        <p:cTn id="46" dur="1" fill="hold">
                                          <p:stCondLst>
                                            <p:cond delay="0"/>
                                          </p:stCondLst>
                                        </p:cTn>
                                        <p:tgtEl>
                                          <p:spTgt spid="685059">
                                            <p:txEl>
                                              <p:pRg st="9" end="9"/>
                                            </p:txEl>
                                          </p:spTgt>
                                        </p:tgtEl>
                                        <p:attrNameLst>
                                          <p:attrName>style.visibility</p:attrName>
                                        </p:attrNameLst>
                                      </p:cBhvr>
                                      <p:to>
                                        <p:strVal val="visible"/>
                                      </p:to>
                                    </p:set>
                                    <p:anim calcmode="lin" valueType="num">
                                      <p:cBhvr additive="base">
                                        <p:cTn id="47" dur="500" fill="hold"/>
                                        <p:tgtEl>
                                          <p:spTgt spid="685059">
                                            <p:txEl>
                                              <p:pRg st="9" end="9"/>
                                            </p:tx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685059">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059"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7106" name="Rectangle 2"/>
          <p:cNvSpPr>
            <a:spLocks noGrp="1" noChangeArrowheads="1"/>
          </p:cNvSpPr>
          <p:nvPr>
            <p:ph type="body" idx="1"/>
          </p:nvPr>
        </p:nvSpPr>
        <p:spPr>
          <a:xfrm>
            <a:off x="512143" y="1502011"/>
            <a:ext cx="11377264" cy="5105400"/>
          </a:xfrm>
          <a:noFill/>
          <a:ln/>
          <a:extLst>
            <a:ext uri="{91240B29-F687-4F45-9708-019B960494DF}">
              <a14:hiddenLine xmlns:a14="http://schemas.microsoft.com/office/drawing/2010/main" w="12700">
                <a:solidFill>
                  <a:schemeClr val="hlink"/>
                </a:solidFill>
                <a:miter lim="800000"/>
                <a:headEnd/>
                <a:tailEnd/>
              </a14:hiddenLine>
            </a:ext>
          </a:extLst>
        </p:spPr>
        <p:txBody>
          <a:bodyPr vert="horz" wrap="square" lIns="90488" tIns="44450" rIns="90488" bIns="44450" numCol="1" anchor="t" anchorCtr="0" compatLnSpc="1">
            <a:prstTxWarp prst="textNoShape">
              <a:avLst/>
            </a:prstTxWarp>
          </a:bodyPr>
          <a:lstStyle/>
          <a:p>
            <a:pPr>
              <a:lnSpc>
                <a:spcPct val="80000"/>
              </a:lnSpc>
            </a:pPr>
            <a:r>
              <a:rPr lang="en-US" altLang="en-US" dirty="0"/>
              <a:t>2-bit scheme where change prediction only if get </a:t>
            </a:r>
            <a:r>
              <a:rPr lang="en-US" altLang="en-US" dirty="0" err="1"/>
              <a:t>misprediction</a:t>
            </a:r>
            <a:r>
              <a:rPr lang="en-US" altLang="en-US" dirty="0"/>
              <a:t> </a:t>
            </a:r>
            <a:r>
              <a:rPr lang="en-US" altLang="en-US" i="1" dirty="0">
                <a:solidFill>
                  <a:srgbClr val="FF0000"/>
                </a:solidFill>
              </a:rPr>
              <a:t>twice</a:t>
            </a:r>
            <a:r>
              <a:rPr lang="en-US" altLang="en-US" i="1" dirty="0"/>
              <a:t>:</a:t>
            </a: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pPr>
              <a:lnSpc>
                <a:spcPct val="80000"/>
              </a:lnSpc>
            </a:pPr>
            <a:r>
              <a:rPr lang="en-US" altLang="en-US" dirty="0" smtClean="0">
                <a:solidFill>
                  <a:srgbClr val="00B050"/>
                </a:solidFill>
              </a:rPr>
              <a:t>Green</a:t>
            </a:r>
            <a:r>
              <a:rPr lang="en-US" altLang="en-US" dirty="0" smtClean="0"/>
              <a:t>: </a:t>
            </a:r>
            <a:r>
              <a:rPr lang="en-US" altLang="en-US" dirty="0"/>
              <a:t>stop, not </a:t>
            </a:r>
            <a:r>
              <a:rPr lang="en-US" altLang="en-US" dirty="0" smtClean="0"/>
              <a:t>taken; </a:t>
            </a:r>
            <a:r>
              <a:rPr lang="en-US" altLang="en-US" dirty="0" smtClean="0">
                <a:solidFill>
                  <a:srgbClr val="FF0000"/>
                </a:solidFill>
              </a:rPr>
              <a:t>Red</a:t>
            </a:r>
            <a:r>
              <a:rPr lang="en-US" altLang="en-US" dirty="0" smtClean="0"/>
              <a:t>: </a:t>
            </a:r>
            <a:r>
              <a:rPr lang="en-US" altLang="en-US" dirty="0"/>
              <a:t>go, taken</a:t>
            </a:r>
          </a:p>
          <a:p>
            <a:pPr>
              <a:lnSpc>
                <a:spcPct val="80000"/>
              </a:lnSpc>
            </a:pPr>
            <a:r>
              <a:rPr lang="en-US" altLang="en-US" dirty="0"/>
              <a:t>Adds </a:t>
            </a:r>
            <a:r>
              <a:rPr lang="en-US" altLang="en-US" i="1" dirty="0">
                <a:solidFill>
                  <a:schemeClr val="hlink"/>
                </a:solidFill>
              </a:rPr>
              <a:t>hysteresis</a:t>
            </a:r>
            <a:r>
              <a:rPr lang="en-US" altLang="en-US" dirty="0"/>
              <a:t> to decision making process</a:t>
            </a:r>
          </a:p>
          <a:p>
            <a:pPr>
              <a:lnSpc>
                <a:spcPct val="80000"/>
              </a:lnSpc>
            </a:pPr>
            <a:r>
              <a:rPr lang="en-US" altLang="en-US" dirty="0"/>
              <a:t>Generalize to n-bit saturating counter</a:t>
            </a:r>
          </a:p>
        </p:txBody>
      </p:sp>
      <p:sp>
        <p:nvSpPr>
          <p:cNvPr id="687107" name="Rectangle 3"/>
          <p:cNvSpPr>
            <a:spLocks noGrp="1" noChangeArrowheads="1"/>
          </p:cNvSpPr>
          <p:nvPr>
            <p:ph type="title"/>
          </p:nvPr>
        </p:nvSpPr>
        <p:spPr>
          <a:xfrm>
            <a:off x="695401" y="119063"/>
            <a:ext cx="9664626" cy="11430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8" tIns="44450" rIns="90488" bIns="44450" numCol="1" anchor="ctr" anchorCtr="0" compatLnSpc="1">
            <a:prstTxWarp prst="textNoShape">
              <a:avLst/>
            </a:prstTxWarp>
          </a:bodyPr>
          <a:lstStyle/>
          <a:p>
            <a:r>
              <a:rPr lang="en-US" altLang="en-US" dirty="0"/>
              <a:t>2-bit Dynamic Branch Prediction </a:t>
            </a:r>
          </a:p>
        </p:txBody>
      </p:sp>
      <p:sp>
        <p:nvSpPr>
          <p:cNvPr id="687108" name="Rectangle 4"/>
          <p:cNvSpPr>
            <a:spLocks noChangeArrowheads="1"/>
          </p:cNvSpPr>
          <p:nvPr/>
        </p:nvSpPr>
        <p:spPr bwMode="auto">
          <a:xfrm>
            <a:off x="4044950" y="2952750"/>
            <a:ext cx="1588" cy="1588"/>
          </a:xfrm>
          <a:prstGeom prst="rect">
            <a:avLst/>
          </a:prstGeom>
          <a:solidFill>
            <a:srgbClr val="FFFFFF"/>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09" name="Rectangle 5"/>
          <p:cNvSpPr>
            <a:spLocks noChangeArrowheads="1"/>
          </p:cNvSpPr>
          <p:nvPr/>
        </p:nvSpPr>
        <p:spPr bwMode="auto">
          <a:xfrm>
            <a:off x="4044950" y="2952750"/>
            <a:ext cx="1588" cy="1588"/>
          </a:xfrm>
          <a:prstGeom prst="rect">
            <a:avLst/>
          </a:prstGeom>
          <a:solidFill>
            <a:srgbClr val="FFFFFF"/>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10" name="Rectangle 6"/>
          <p:cNvSpPr>
            <a:spLocks noChangeArrowheads="1"/>
          </p:cNvSpPr>
          <p:nvPr/>
        </p:nvSpPr>
        <p:spPr bwMode="auto">
          <a:xfrm>
            <a:off x="4044950" y="2952750"/>
            <a:ext cx="1588" cy="1588"/>
          </a:xfrm>
          <a:prstGeom prst="rect">
            <a:avLst/>
          </a:prstGeom>
          <a:solidFill>
            <a:srgbClr val="FFFFFF"/>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11" name="Rectangle 7"/>
          <p:cNvSpPr>
            <a:spLocks noChangeArrowheads="1"/>
          </p:cNvSpPr>
          <p:nvPr/>
        </p:nvSpPr>
        <p:spPr bwMode="auto">
          <a:xfrm>
            <a:off x="4044950" y="2952750"/>
            <a:ext cx="1588" cy="1588"/>
          </a:xfrm>
          <a:prstGeom prst="rect">
            <a:avLst/>
          </a:prstGeom>
          <a:solidFill>
            <a:srgbClr val="FFFFFF"/>
          </a:solidFill>
          <a:ln>
            <a:noFill/>
          </a:ln>
          <a:effectLst/>
          <a:extLs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12" name="Rectangle 8"/>
          <p:cNvSpPr>
            <a:spLocks noChangeArrowheads="1"/>
          </p:cNvSpPr>
          <p:nvPr/>
        </p:nvSpPr>
        <p:spPr bwMode="auto">
          <a:xfrm>
            <a:off x="4649788" y="1924051"/>
            <a:ext cx="33983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chemeClr val="accent2"/>
                </a:solidFill>
              </a:rPr>
              <a:t>T</a:t>
            </a:r>
          </a:p>
        </p:txBody>
      </p:sp>
      <p:sp>
        <p:nvSpPr>
          <p:cNvPr id="687113" name="Rectangle 9"/>
          <p:cNvSpPr>
            <a:spLocks noChangeArrowheads="1"/>
          </p:cNvSpPr>
          <p:nvPr/>
        </p:nvSpPr>
        <p:spPr bwMode="auto">
          <a:xfrm>
            <a:off x="5792788" y="3067051"/>
            <a:ext cx="33983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chemeClr val="accent2"/>
                </a:solidFill>
              </a:rPr>
              <a:t>T</a:t>
            </a:r>
          </a:p>
        </p:txBody>
      </p:sp>
      <p:sp>
        <p:nvSpPr>
          <p:cNvPr id="687114" name="Rectangle 10"/>
          <p:cNvSpPr>
            <a:spLocks noChangeArrowheads="1"/>
          </p:cNvSpPr>
          <p:nvPr/>
        </p:nvSpPr>
        <p:spPr bwMode="auto">
          <a:xfrm>
            <a:off x="7240588" y="4591051"/>
            <a:ext cx="525786"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t>NT</a:t>
            </a:r>
          </a:p>
        </p:txBody>
      </p:sp>
      <p:sp>
        <p:nvSpPr>
          <p:cNvPr id="687115" name="Rectangle 11"/>
          <p:cNvSpPr>
            <a:spLocks noChangeArrowheads="1"/>
          </p:cNvSpPr>
          <p:nvPr/>
        </p:nvSpPr>
        <p:spPr bwMode="auto">
          <a:xfrm>
            <a:off x="2736851" y="2533651"/>
            <a:ext cx="1731885" cy="397545"/>
          </a:xfrm>
          <a:prstGeom prst="rect">
            <a:avLst/>
          </a:prstGeom>
          <a:noFill/>
          <a:ln w="12700">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rgbClr val="FF0000"/>
                </a:solidFill>
              </a:rPr>
              <a:t>Predict Taken</a:t>
            </a:r>
          </a:p>
        </p:txBody>
      </p:sp>
      <p:sp>
        <p:nvSpPr>
          <p:cNvPr id="687116" name="Rectangle 12"/>
          <p:cNvSpPr>
            <a:spLocks noChangeArrowheads="1"/>
          </p:cNvSpPr>
          <p:nvPr/>
        </p:nvSpPr>
        <p:spPr bwMode="auto">
          <a:xfrm>
            <a:off x="3031119" y="3702051"/>
            <a:ext cx="1521251" cy="7053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spcBef>
                <a:spcPct val="0"/>
              </a:spcBef>
            </a:pPr>
            <a:r>
              <a:rPr lang="en-US" altLang="en-US" sz="2000"/>
              <a:t>Predict Not </a:t>
            </a:r>
          </a:p>
          <a:p>
            <a:pPr algn="ctr">
              <a:spcBef>
                <a:spcPct val="0"/>
              </a:spcBef>
            </a:pPr>
            <a:r>
              <a:rPr lang="en-US" altLang="en-US" sz="2000"/>
              <a:t>Taken</a:t>
            </a:r>
          </a:p>
        </p:txBody>
      </p:sp>
      <p:sp>
        <p:nvSpPr>
          <p:cNvPr id="687117" name="Rectangle 13"/>
          <p:cNvSpPr>
            <a:spLocks noChangeArrowheads="1"/>
          </p:cNvSpPr>
          <p:nvPr/>
        </p:nvSpPr>
        <p:spPr bwMode="auto">
          <a:xfrm>
            <a:off x="7829551" y="2533651"/>
            <a:ext cx="1731885"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chemeClr val="accent2"/>
                </a:solidFill>
              </a:rPr>
              <a:t>Predict Taken</a:t>
            </a:r>
          </a:p>
        </p:txBody>
      </p:sp>
      <p:sp>
        <p:nvSpPr>
          <p:cNvPr id="687118" name="Rectangle 14"/>
          <p:cNvSpPr>
            <a:spLocks noChangeArrowheads="1"/>
          </p:cNvSpPr>
          <p:nvPr/>
        </p:nvSpPr>
        <p:spPr bwMode="auto">
          <a:xfrm>
            <a:off x="7819019" y="3663951"/>
            <a:ext cx="1521251" cy="7053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spcBef>
                <a:spcPct val="0"/>
              </a:spcBef>
            </a:pPr>
            <a:r>
              <a:rPr lang="en-US" altLang="en-US" sz="2000"/>
              <a:t>Predict Not </a:t>
            </a:r>
          </a:p>
          <a:p>
            <a:pPr algn="ctr">
              <a:spcBef>
                <a:spcPct val="0"/>
              </a:spcBef>
            </a:pPr>
            <a:r>
              <a:rPr lang="en-US" altLang="en-US" sz="2000"/>
              <a:t>Taken</a:t>
            </a:r>
          </a:p>
        </p:txBody>
      </p:sp>
      <p:sp>
        <p:nvSpPr>
          <p:cNvPr id="687119" name="Oval 15"/>
          <p:cNvSpPr>
            <a:spLocks noChangeArrowheads="1"/>
          </p:cNvSpPr>
          <p:nvPr/>
        </p:nvSpPr>
        <p:spPr bwMode="auto">
          <a:xfrm>
            <a:off x="4573588" y="2457450"/>
            <a:ext cx="1270000" cy="508000"/>
          </a:xfrm>
          <a:prstGeom prst="ellipse">
            <a:avLst/>
          </a:prstGeom>
          <a:solidFill>
            <a:srgbClr val="FF0000"/>
          </a:solidFill>
          <a:ln w="12700">
            <a:solidFill>
              <a:srgbClr val="FF0000"/>
            </a:solidFill>
            <a:round/>
            <a:headEnd/>
            <a:tailEnd/>
          </a:ln>
          <a:effectLst/>
        </p:spPr>
        <p:txBody>
          <a:bodyPr wrap="none" anchor="ctr"/>
          <a:lstStyle/>
          <a:p>
            <a:endParaRPr lang="zh-CN" altLang="en-US">
              <a:solidFill>
                <a:srgbClr val="FF0000"/>
              </a:solidFill>
            </a:endParaRPr>
          </a:p>
        </p:txBody>
      </p:sp>
      <p:sp>
        <p:nvSpPr>
          <p:cNvPr id="687120" name="Oval 16"/>
          <p:cNvSpPr>
            <a:spLocks noChangeArrowheads="1"/>
          </p:cNvSpPr>
          <p:nvPr/>
        </p:nvSpPr>
        <p:spPr bwMode="auto">
          <a:xfrm>
            <a:off x="6592888" y="2470150"/>
            <a:ext cx="1270000" cy="508000"/>
          </a:xfrm>
          <a:prstGeom prst="ellipse">
            <a:avLst/>
          </a:prstGeom>
          <a:solidFill>
            <a:srgbClr val="F9079D">
              <a:alpha val="49804"/>
            </a:srgbClr>
          </a:solidFill>
          <a:ln w="12700">
            <a:solidFill>
              <a:schemeClr val="tx1"/>
            </a:solidFill>
            <a:round/>
            <a:headEnd/>
            <a:tailEnd/>
          </a:ln>
          <a:effectLst/>
        </p:spPr>
        <p:txBody>
          <a:bodyPr wrap="none" anchor="ctr"/>
          <a:lstStyle/>
          <a:p>
            <a:endParaRPr lang="zh-CN" altLang="en-US"/>
          </a:p>
        </p:txBody>
      </p:sp>
      <p:sp>
        <p:nvSpPr>
          <p:cNvPr id="687121" name="Oval 17"/>
          <p:cNvSpPr>
            <a:spLocks noChangeArrowheads="1"/>
          </p:cNvSpPr>
          <p:nvPr/>
        </p:nvSpPr>
        <p:spPr bwMode="auto">
          <a:xfrm>
            <a:off x="4586288" y="3587750"/>
            <a:ext cx="1270000" cy="508000"/>
          </a:xfrm>
          <a:prstGeom prst="ellipse">
            <a:avLst/>
          </a:prstGeom>
          <a:solidFill>
            <a:srgbClr val="92D050">
              <a:alpha val="50000"/>
            </a:srgbClr>
          </a:solidFill>
          <a:ln w="12700">
            <a:solidFill>
              <a:schemeClr val="tx1"/>
            </a:solidFill>
            <a:round/>
            <a:headEnd/>
            <a:tailEnd/>
          </a:ln>
          <a:effectLst/>
        </p:spPr>
        <p:txBody>
          <a:bodyPr wrap="none" anchor="ctr"/>
          <a:lstStyle/>
          <a:p>
            <a:endParaRPr lang="zh-CN" altLang="en-US"/>
          </a:p>
        </p:txBody>
      </p:sp>
      <p:sp>
        <p:nvSpPr>
          <p:cNvPr id="687122" name="Oval 18"/>
          <p:cNvSpPr>
            <a:spLocks noChangeArrowheads="1"/>
          </p:cNvSpPr>
          <p:nvPr/>
        </p:nvSpPr>
        <p:spPr bwMode="auto">
          <a:xfrm>
            <a:off x="6592888" y="3587750"/>
            <a:ext cx="1270000" cy="508000"/>
          </a:xfrm>
          <a:prstGeom prst="ellipse">
            <a:avLst/>
          </a:prstGeom>
          <a:solidFill>
            <a:srgbClr val="00B050"/>
          </a:solidFill>
          <a:ln w="12700">
            <a:solidFill>
              <a:schemeClr val="tx1"/>
            </a:solidFill>
            <a:round/>
            <a:headEnd/>
            <a:tailEnd/>
          </a:ln>
          <a:effectLst/>
        </p:spPr>
        <p:txBody>
          <a:bodyPr wrap="none" anchor="ctr"/>
          <a:lstStyle/>
          <a:p>
            <a:endParaRPr lang="zh-CN" altLang="en-US"/>
          </a:p>
        </p:txBody>
      </p:sp>
      <p:sp>
        <p:nvSpPr>
          <p:cNvPr id="687123" name="Arc 19"/>
          <p:cNvSpPr>
            <a:spLocks/>
          </p:cNvSpPr>
          <p:nvPr/>
        </p:nvSpPr>
        <p:spPr bwMode="auto">
          <a:xfrm>
            <a:off x="4921250" y="1939925"/>
            <a:ext cx="762000" cy="554038"/>
          </a:xfrm>
          <a:custGeom>
            <a:avLst/>
            <a:gdLst>
              <a:gd name="G0" fmla="+- 21600 0 0"/>
              <a:gd name="G1" fmla="+- 21600 0 0"/>
              <a:gd name="G2" fmla="+- 21600 0 0"/>
              <a:gd name="T0" fmla="*/ 2062 w 43200"/>
              <a:gd name="T1" fmla="*/ 30809 h 31458"/>
              <a:gd name="T2" fmla="*/ 40819 w 43200"/>
              <a:gd name="T3" fmla="*/ 31458 h 31458"/>
              <a:gd name="T4" fmla="*/ 21600 w 43200"/>
              <a:gd name="T5" fmla="*/ 21600 h 31458"/>
            </a:gdLst>
            <a:ahLst/>
            <a:cxnLst>
              <a:cxn ang="0">
                <a:pos x="T0" y="T1"/>
              </a:cxn>
              <a:cxn ang="0">
                <a:pos x="T2" y="T3"/>
              </a:cxn>
              <a:cxn ang="0">
                <a:pos x="T4" y="T5"/>
              </a:cxn>
            </a:cxnLst>
            <a:rect l="0" t="0" r="r" b="b"/>
            <a:pathLst>
              <a:path w="43200" h="31458" fill="none" extrusionOk="0">
                <a:moveTo>
                  <a:pt x="2061" y="30809"/>
                </a:moveTo>
                <a:cubicBezTo>
                  <a:pt x="703" y="27928"/>
                  <a:pt x="0" y="24784"/>
                  <a:pt x="0" y="21600"/>
                </a:cubicBezTo>
                <a:cubicBezTo>
                  <a:pt x="0" y="9670"/>
                  <a:pt x="9670" y="0"/>
                  <a:pt x="21600" y="0"/>
                </a:cubicBezTo>
                <a:cubicBezTo>
                  <a:pt x="33529" y="0"/>
                  <a:pt x="43200" y="9670"/>
                  <a:pt x="43200" y="21600"/>
                </a:cubicBezTo>
                <a:cubicBezTo>
                  <a:pt x="43199" y="25028"/>
                  <a:pt x="42383" y="28407"/>
                  <a:pt x="40819" y="31458"/>
                </a:cubicBezTo>
              </a:path>
              <a:path w="43200" h="31458" stroke="0" extrusionOk="0">
                <a:moveTo>
                  <a:pt x="2061" y="30809"/>
                </a:moveTo>
                <a:cubicBezTo>
                  <a:pt x="703" y="27928"/>
                  <a:pt x="0" y="24784"/>
                  <a:pt x="0" y="21600"/>
                </a:cubicBezTo>
                <a:cubicBezTo>
                  <a:pt x="0" y="9670"/>
                  <a:pt x="9670" y="0"/>
                  <a:pt x="21600" y="0"/>
                </a:cubicBezTo>
                <a:cubicBezTo>
                  <a:pt x="33529" y="0"/>
                  <a:pt x="43200" y="9670"/>
                  <a:pt x="43200" y="21600"/>
                </a:cubicBezTo>
                <a:cubicBezTo>
                  <a:pt x="43199" y="25028"/>
                  <a:pt x="42383" y="28407"/>
                  <a:pt x="40819" y="31458"/>
                </a:cubicBezTo>
                <a:lnTo>
                  <a:pt x="21600" y="21600"/>
                </a:lnTo>
                <a:close/>
              </a:path>
            </a:pathLst>
          </a:custGeom>
          <a:noFill/>
          <a:ln w="28575">
            <a:solidFill>
              <a:srgbClr val="FF0000"/>
            </a:solidFill>
            <a:round/>
            <a:headEn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solidFill>
                <a:srgbClr val="FF0000"/>
              </a:solidFill>
            </a:endParaRPr>
          </a:p>
        </p:txBody>
      </p:sp>
      <p:sp>
        <p:nvSpPr>
          <p:cNvPr id="687124" name="Arc 20"/>
          <p:cNvSpPr>
            <a:spLocks/>
          </p:cNvSpPr>
          <p:nvPr/>
        </p:nvSpPr>
        <p:spPr bwMode="auto">
          <a:xfrm flipH="1" flipV="1">
            <a:off x="6935788" y="4057650"/>
            <a:ext cx="762000" cy="554038"/>
          </a:xfrm>
          <a:custGeom>
            <a:avLst/>
            <a:gdLst>
              <a:gd name="G0" fmla="+- 21600 0 0"/>
              <a:gd name="G1" fmla="+- 21600 0 0"/>
              <a:gd name="G2" fmla="+- 21600 0 0"/>
              <a:gd name="T0" fmla="*/ 2062 w 43200"/>
              <a:gd name="T1" fmla="*/ 30809 h 31458"/>
              <a:gd name="T2" fmla="*/ 40819 w 43200"/>
              <a:gd name="T3" fmla="*/ 31458 h 31458"/>
              <a:gd name="T4" fmla="*/ 21600 w 43200"/>
              <a:gd name="T5" fmla="*/ 21600 h 31458"/>
            </a:gdLst>
            <a:ahLst/>
            <a:cxnLst>
              <a:cxn ang="0">
                <a:pos x="T0" y="T1"/>
              </a:cxn>
              <a:cxn ang="0">
                <a:pos x="T2" y="T3"/>
              </a:cxn>
              <a:cxn ang="0">
                <a:pos x="T4" y="T5"/>
              </a:cxn>
            </a:cxnLst>
            <a:rect l="0" t="0" r="r" b="b"/>
            <a:pathLst>
              <a:path w="43200" h="31458" fill="none" extrusionOk="0">
                <a:moveTo>
                  <a:pt x="2061" y="30809"/>
                </a:moveTo>
                <a:cubicBezTo>
                  <a:pt x="703" y="27928"/>
                  <a:pt x="0" y="24784"/>
                  <a:pt x="0" y="21600"/>
                </a:cubicBezTo>
                <a:cubicBezTo>
                  <a:pt x="0" y="9670"/>
                  <a:pt x="9670" y="0"/>
                  <a:pt x="21600" y="0"/>
                </a:cubicBezTo>
                <a:cubicBezTo>
                  <a:pt x="33529" y="0"/>
                  <a:pt x="43200" y="9670"/>
                  <a:pt x="43200" y="21600"/>
                </a:cubicBezTo>
                <a:cubicBezTo>
                  <a:pt x="43199" y="25028"/>
                  <a:pt x="42383" y="28407"/>
                  <a:pt x="40819" y="31458"/>
                </a:cubicBezTo>
              </a:path>
              <a:path w="43200" h="31458" stroke="0" extrusionOk="0">
                <a:moveTo>
                  <a:pt x="2061" y="30809"/>
                </a:moveTo>
                <a:cubicBezTo>
                  <a:pt x="703" y="27928"/>
                  <a:pt x="0" y="24784"/>
                  <a:pt x="0" y="21600"/>
                </a:cubicBezTo>
                <a:cubicBezTo>
                  <a:pt x="0" y="9670"/>
                  <a:pt x="9670" y="0"/>
                  <a:pt x="21600" y="0"/>
                </a:cubicBezTo>
                <a:cubicBezTo>
                  <a:pt x="33529" y="0"/>
                  <a:pt x="43200" y="9670"/>
                  <a:pt x="43200" y="21600"/>
                </a:cubicBezTo>
                <a:cubicBezTo>
                  <a:pt x="43199" y="25028"/>
                  <a:pt x="42383" y="28407"/>
                  <a:pt x="40819" y="31458"/>
                </a:cubicBezTo>
                <a:lnTo>
                  <a:pt x="21600" y="21600"/>
                </a:lnTo>
                <a:close/>
              </a:path>
            </a:pathLst>
          </a:custGeom>
          <a:noFill/>
          <a:ln w="28575">
            <a:solidFill>
              <a:srgbClr val="00B050"/>
            </a:solidFill>
            <a:round/>
            <a:headEn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25" name="Line 21"/>
          <p:cNvSpPr>
            <a:spLocks noChangeShapeType="1"/>
          </p:cNvSpPr>
          <p:nvPr/>
        </p:nvSpPr>
        <p:spPr bwMode="auto">
          <a:xfrm flipH="1">
            <a:off x="5868988" y="3905250"/>
            <a:ext cx="762000" cy="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26" name="Rectangle 22"/>
          <p:cNvSpPr>
            <a:spLocks noChangeArrowheads="1"/>
          </p:cNvSpPr>
          <p:nvPr/>
        </p:nvSpPr>
        <p:spPr bwMode="auto">
          <a:xfrm>
            <a:off x="6062663" y="3868739"/>
            <a:ext cx="33983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chemeClr val="accent2"/>
                </a:solidFill>
              </a:rPr>
              <a:t>T</a:t>
            </a:r>
          </a:p>
        </p:txBody>
      </p:sp>
      <p:sp>
        <p:nvSpPr>
          <p:cNvPr id="687127" name="Rectangle 23"/>
          <p:cNvSpPr>
            <a:spLocks noChangeArrowheads="1"/>
          </p:cNvSpPr>
          <p:nvPr/>
        </p:nvSpPr>
        <p:spPr bwMode="auto">
          <a:xfrm>
            <a:off x="5970588" y="3397251"/>
            <a:ext cx="525786"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t>NT</a:t>
            </a:r>
          </a:p>
        </p:txBody>
      </p:sp>
      <p:sp>
        <p:nvSpPr>
          <p:cNvPr id="687128" name="Line 24"/>
          <p:cNvSpPr>
            <a:spLocks noChangeShapeType="1"/>
          </p:cNvSpPr>
          <p:nvPr/>
        </p:nvSpPr>
        <p:spPr bwMode="auto">
          <a:xfrm>
            <a:off x="5868988" y="3752850"/>
            <a:ext cx="7620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29" name="Line 25"/>
          <p:cNvSpPr>
            <a:spLocks noChangeShapeType="1"/>
          </p:cNvSpPr>
          <p:nvPr/>
        </p:nvSpPr>
        <p:spPr bwMode="auto">
          <a:xfrm flipH="1">
            <a:off x="5819775" y="2786063"/>
            <a:ext cx="76200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30" name="Rectangle 26"/>
          <p:cNvSpPr>
            <a:spLocks noChangeArrowheads="1"/>
          </p:cNvSpPr>
          <p:nvPr/>
        </p:nvSpPr>
        <p:spPr bwMode="auto">
          <a:xfrm>
            <a:off x="6013450" y="2749551"/>
            <a:ext cx="339838"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solidFill>
                  <a:schemeClr val="accent2"/>
                </a:solidFill>
              </a:rPr>
              <a:t>T</a:t>
            </a:r>
          </a:p>
        </p:txBody>
      </p:sp>
      <p:sp>
        <p:nvSpPr>
          <p:cNvPr id="687131" name="Rectangle 27"/>
          <p:cNvSpPr>
            <a:spLocks noChangeArrowheads="1"/>
          </p:cNvSpPr>
          <p:nvPr/>
        </p:nvSpPr>
        <p:spPr bwMode="auto">
          <a:xfrm>
            <a:off x="5921375" y="2278064"/>
            <a:ext cx="525786"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t>NT</a:t>
            </a:r>
          </a:p>
        </p:txBody>
      </p:sp>
      <p:sp>
        <p:nvSpPr>
          <p:cNvPr id="687132" name="Line 28"/>
          <p:cNvSpPr>
            <a:spLocks noChangeShapeType="1"/>
          </p:cNvSpPr>
          <p:nvPr/>
        </p:nvSpPr>
        <p:spPr bwMode="auto">
          <a:xfrm>
            <a:off x="5819775" y="2633663"/>
            <a:ext cx="762000" cy="0"/>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33" name="Line 29"/>
          <p:cNvSpPr>
            <a:spLocks noChangeShapeType="1"/>
          </p:cNvSpPr>
          <p:nvPr/>
        </p:nvSpPr>
        <p:spPr bwMode="auto">
          <a:xfrm flipV="1">
            <a:off x="5640388" y="2838450"/>
            <a:ext cx="1066800" cy="838200"/>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34" name="Line 30"/>
          <p:cNvSpPr>
            <a:spLocks noChangeShapeType="1"/>
          </p:cNvSpPr>
          <p:nvPr/>
        </p:nvSpPr>
        <p:spPr bwMode="auto">
          <a:xfrm rot="10800000" flipH="1">
            <a:off x="5716588" y="2914650"/>
            <a:ext cx="1066800" cy="838200"/>
          </a:xfrm>
          <a:prstGeom prst="line">
            <a:avLst/>
          </a:prstGeom>
          <a:noFill/>
          <a:ln w="28575">
            <a:solidFill>
              <a:srgbClr val="FF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7135" name="Rectangle 31"/>
          <p:cNvSpPr>
            <a:spLocks noChangeArrowheads="1"/>
          </p:cNvSpPr>
          <p:nvPr/>
        </p:nvSpPr>
        <p:spPr bwMode="auto">
          <a:xfrm>
            <a:off x="6402388" y="3067051"/>
            <a:ext cx="525786"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spcBef>
                <a:spcPct val="0"/>
              </a:spcBef>
            </a:pPr>
            <a:r>
              <a:rPr lang="en-US" altLang="en-US" sz="2000"/>
              <a:t>NT</a:t>
            </a:r>
          </a:p>
        </p:txBody>
      </p:sp>
    </p:spTree>
    <p:extLst>
      <p:ext uri="{BB962C8B-B14F-4D97-AF65-F5344CB8AC3E}">
        <p14:creationId xmlns:p14="http://schemas.microsoft.com/office/powerpoint/2010/main" val="271505524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8710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87106">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87106">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68710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06"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The states in a 2-bit prediction scheme</a:t>
            </a:r>
            <a:endParaRPr lang="zh-CN" altLang="en-US" dirty="0"/>
          </a:p>
        </p:txBody>
      </p:sp>
      <p:sp>
        <p:nvSpPr>
          <p:cNvPr id="3" name="内容占位符 2"/>
          <p:cNvSpPr>
            <a:spLocks noGrp="1"/>
          </p:cNvSpPr>
          <p:nvPr>
            <p:ph idx="1"/>
          </p:nvPr>
        </p:nvSpPr>
        <p:spPr>
          <a:xfrm>
            <a:off x="838200" y="1556792"/>
            <a:ext cx="10515600" cy="1296144"/>
          </a:xfrm>
        </p:spPr>
        <p:txBody>
          <a:bodyPr/>
          <a:lstStyle/>
          <a:p>
            <a:r>
              <a:rPr lang="en-US" altLang="zh-CN" dirty="0" smtClean="0"/>
              <a:t>By </a:t>
            </a:r>
            <a:r>
              <a:rPr lang="en-US" altLang="zh-CN" dirty="0"/>
              <a:t>using 2 bits rather than 1, a branch that strongly favors taken or not taken—as many branches do—will be </a:t>
            </a:r>
            <a:r>
              <a:rPr lang="en-US" altLang="zh-CN" dirty="0" err="1"/>
              <a:t>mispredicted</a:t>
            </a:r>
            <a:r>
              <a:rPr lang="en-US" altLang="zh-CN" dirty="0"/>
              <a:t> less often than with a 1-bit predictor. </a:t>
            </a:r>
            <a:endParaRPr lang="zh-CN" altLang="en-US" dirty="0"/>
          </a:p>
        </p:txBody>
      </p:sp>
      <p:pic>
        <p:nvPicPr>
          <p:cNvPr id="4" name="图片 3"/>
          <p:cNvPicPr>
            <a:picLocks noChangeAspect="1"/>
          </p:cNvPicPr>
          <p:nvPr/>
        </p:nvPicPr>
        <p:blipFill>
          <a:blip r:embed="rId2"/>
          <a:stretch>
            <a:fillRect/>
          </a:stretch>
        </p:blipFill>
        <p:spPr>
          <a:xfrm>
            <a:off x="2783632" y="2807472"/>
            <a:ext cx="6696744" cy="4019812"/>
          </a:xfrm>
          <a:prstGeom prst="rect">
            <a:avLst/>
          </a:prstGeom>
        </p:spPr>
      </p:pic>
    </p:spTree>
    <p:extLst>
      <p:ext uri="{BB962C8B-B14F-4D97-AF65-F5344CB8AC3E}">
        <p14:creationId xmlns:p14="http://schemas.microsoft.com/office/powerpoint/2010/main" val="2007981321"/>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6528048" y="2515303"/>
            <a:ext cx="5512278" cy="4238293"/>
          </a:xfrm>
          <a:prstGeom prst="rect">
            <a:avLst/>
          </a:prstGeom>
        </p:spPr>
      </p:pic>
      <p:sp>
        <p:nvSpPr>
          <p:cNvPr id="2" name="标题 1"/>
          <p:cNvSpPr>
            <a:spLocks noGrp="1"/>
          </p:cNvSpPr>
          <p:nvPr>
            <p:ph type="title"/>
          </p:nvPr>
        </p:nvSpPr>
        <p:spPr/>
        <p:txBody>
          <a:bodyPr/>
          <a:lstStyle/>
          <a:p>
            <a:r>
              <a:rPr lang="en-US" altLang="en-US" dirty="0"/>
              <a:t>Prediction accuracy of a 4096-entry 2-bit </a:t>
            </a:r>
            <a:r>
              <a:rPr lang="en-US" altLang="en-US" dirty="0" smtClean="0"/>
              <a:t>BHT </a:t>
            </a:r>
            <a:r>
              <a:rPr lang="en-US" altLang="en-US" dirty="0"/>
              <a:t>for the SPEC89 benchmarks</a:t>
            </a:r>
            <a:endParaRPr lang="zh-CN" altLang="en-US" dirty="0"/>
          </a:p>
        </p:txBody>
      </p:sp>
      <p:sp>
        <p:nvSpPr>
          <p:cNvPr id="3" name="内容占位符 2"/>
          <p:cNvSpPr>
            <a:spLocks noGrp="1"/>
          </p:cNvSpPr>
          <p:nvPr>
            <p:ph idx="1"/>
          </p:nvPr>
        </p:nvSpPr>
        <p:spPr>
          <a:xfrm>
            <a:off x="838200" y="1556792"/>
            <a:ext cx="10802416" cy="5112568"/>
          </a:xfrm>
        </p:spPr>
        <p:txBody>
          <a:bodyPr/>
          <a:lstStyle/>
          <a:p>
            <a:r>
              <a:rPr lang="en-US" altLang="en-US" dirty="0" smtClean="0"/>
              <a:t>The </a:t>
            </a:r>
            <a:r>
              <a:rPr lang="en-US" altLang="en-US" dirty="0" err="1"/>
              <a:t>misprediction</a:t>
            </a:r>
            <a:r>
              <a:rPr lang="en-US" altLang="en-US" dirty="0"/>
              <a:t> rate for the integer benchmarks (</a:t>
            </a:r>
            <a:r>
              <a:rPr lang="en-US" altLang="en-US" dirty="0" err="1"/>
              <a:t>gcc</a:t>
            </a:r>
            <a:r>
              <a:rPr lang="en-US" altLang="en-US" dirty="0"/>
              <a:t>, espresso, </a:t>
            </a:r>
            <a:r>
              <a:rPr lang="en-US" altLang="en-US" dirty="0" err="1"/>
              <a:t>eqntott</a:t>
            </a:r>
            <a:r>
              <a:rPr lang="en-US" altLang="en-US" dirty="0"/>
              <a:t>, and li) is substantially higher (average of 11%) than that for the floating-point programs </a:t>
            </a:r>
            <a:r>
              <a:rPr lang="en-US" altLang="en-US" dirty="0" smtClean="0"/>
              <a:t/>
            </a:r>
            <a:br>
              <a:rPr lang="en-US" altLang="en-US" dirty="0" smtClean="0"/>
            </a:br>
            <a:r>
              <a:rPr lang="en-US" altLang="en-US" dirty="0" smtClean="0"/>
              <a:t>(</a:t>
            </a:r>
            <a:r>
              <a:rPr lang="en-US" altLang="en-US" dirty="0"/>
              <a:t>average of 4</a:t>
            </a:r>
            <a:r>
              <a:rPr lang="en-US" altLang="en-US" dirty="0" smtClean="0"/>
              <a:t>%)</a:t>
            </a:r>
          </a:p>
          <a:p>
            <a:r>
              <a:rPr lang="en-US" altLang="en-US" dirty="0" smtClean="0"/>
              <a:t>Although </a:t>
            </a:r>
            <a:r>
              <a:rPr lang="en-US" altLang="en-US" dirty="0"/>
              <a:t>these data are for an </a:t>
            </a:r>
            <a:r>
              <a:rPr lang="en-US" altLang="en-US" dirty="0" smtClean="0"/>
              <a:t/>
            </a:r>
            <a:br>
              <a:rPr lang="en-US" altLang="en-US" dirty="0" smtClean="0"/>
            </a:br>
            <a:r>
              <a:rPr lang="en-US" altLang="en-US" dirty="0" smtClean="0"/>
              <a:t>older </a:t>
            </a:r>
            <a:r>
              <a:rPr lang="en-US" altLang="en-US" dirty="0"/>
              <a:t>version of a subset of the </a:t>
            </a:r>
            <a:r>
              <a:rPr lang="en-US" altLang="en-US" dirty="0" smtClean="0"/>
              <a:t/>
            </a:r>
            <a:br>
              <a:rPr lang="en-US" altLang="en-US" dirty="0" smtClean="0"/>
            </a:br>
            <a:r>
              <a:rPr lang="en-US" altLang="en-US" dirty="0" smtClean="0"/>
              <a:t>SPEC </a:t>
            </a:r>
            <a:r>
              <a:rPr lang="en-US" altLang="en-US" dirty="0"/>
              <a:t>benchmarks, the newer </a:t>
            </a:r>
            <a:r>
              <a:rPr lang="en-US" altLang="en-US" dirty="0" smtClean="0"/>
              <a:t/>
            </a:r>
            <a:br>
              <a:rPr lang="en-US" altLang="en-US" dirty="0" smtClean="0"/>
            </a:br>
            <a:r>
              <a:rPr lang="en-US" altLang="en-US" dirty="0" smtClean="0"/>
              <a:t>benchmarks </a:t>
            </a:r>
            <a:r>
              <a:rPr lang="en-US" altLang="en-US" dirty="0"/>
              <a:t>are larger and would </a:t>
            </a:r>
            <a:r>
              <a:rPr lang="en-US" altLang="en-US" dirty="0" smtClean="0"/>
              <a:t/>
            </a:r>
            <a:br>
              <a:rPr lang="en-US" altLang="en-US" dirty="0" smtClean="0"/>
            </a:br>
            <a:r>
              <a:rPr lang="en-US" altLang="en-US" dirty="0" smtClean="0"/>
              <a:t>show </a:t>
            </a:r>
            <a:r>
              <a:rPr lang="en-US" altLang="en-US" dirty="0"/>
              <a:t>slightly worse behavior, </a:t>
            </a:r>
            <a:r>
              <a:rPr lang="en-US" altLang="en-US" dirty="0" smtClean="0"/>
              <a:t/>
            </a:r>
            <a:br>
              <a:rPr lang="en-US" altLang="en-US" dirty="0" smtClean="0"/>
            </a:br>
            <a:r>
              <a:rPr lang="en-US" altLang="en-US" dirty="0" smtClean="0"/>
              <a:t>especially </a:t>
            </a:r>
            <a:r>
              <a:rPr lang="en-US" altLang="en-US" dirty="0"/>
              <a:t>for the integer </a:t>
            </a:r>
            <a:r>
              <a:rPr lang="en-US" altLang="en-US" dirty="0" smtClean="0"/>
              <a:t/>
            </a:r>
            <a:br>
              <a:rPr lang="en-US" altLang="en-US" dirty="0" smtClean="0"/>
            </a:br>
            <a:r>
              <a:rPr lang="en-US" altLang="en-US" dirty="0" smtClean="0"/>
              <a:t>benchmarks</a:t>
            </a:r>
            <a:r>
              <a:rPr lang="en-US" altLang="en-US" dirty="0"/>
              <a:t>.</a:t>
            </a:r>
          </a:p>
          <a:p>
            <a:endParaRPr lang="zh-CN" altLang="en-US" dirty="0"/>
          </a:p>
        </p:txBody>
      </p:sp>
    </p:spTree>
    <p:extLst>
      <p:ext uri="{BB962C8B-B14F-4D97-AF65-F5344CB8AC3E}">
        <p14:creationId xmlns:p14="http://schemas.microsoft.com/office/powerpoint/2010/main" val="1233898520"/>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Impact of BHT Size</a:t>
            </a:r>
            <a:endParaRPr lang="zh-CN" altLang="en-US" dirty="0"/>
          </a:p>
        </p:txBody>
      </p:sp>
      <p:sp>
        <p:nvSpPr>
          <p:cNvPr id="3" name="内容占位符 2"/>
          <p:cNvSpPr>
            <a:spLocks noGrp="1"/>
          </p:cNvSpPr>
          <p:nvPr>
            <p:ph idx="1"/>
          </p:nvPr>
        </p:nvSpPr>
        <p:spPr>
          <a:xfrm>
            <a:off x="479376" y="1556792"/>
            <a:ext cx="10874424" cy="5112568"/>
          </a:xfrm>
        </p:spPr>
        <p:txBody>
          <a:bodyPr/>
          <a:lstStyle/>
          <a:p>
            <a:r>
              <a:rPr lang="en-US" altLang="zh-CN" dirty="0"/>
              <a:t>Prediction accuracy of a </a:t>
            </a:r>
            <a:r>
              <a:rPr lang="en-US" altLang="zh-CN" dirty="0" smtClean="0"/>
              <a:t/>
            </a:r>
            <a:br>
              <a:rPr lang="en-US" altLang="zh-CN" dirty="0" smtClean="0"/>
            </a:br>
            <a:r>
              <a:rPr lang="en-US" altLang="zh-CN" dirty="0" smtClean="0"/>
              <a:t>4096-entry </a:t>
            </a:r>
            <a:r>
              <a:rPr lang="en-US" altLang="zh-CN" dirty="0"/>
              <a:t>2-bit prediction </a:t>
            </a:r>
            <a:r>
              <a:rPr lang="en-US" altLang="zh-CN" dirty="0" smtClean="0"/>
              <a:t/>
            </a:r>
            <a:br>
              <a:rPr lang="en-US" altLang="zh-CN" dirty="0" smtClean="0"/>
            </a:br>
            <a:r>
              <a:rPr lang="en-US" altLang="zh-CN" dirty="0" smtClean="0"/>
              <a:t>buffer has the similar</a:t>
            </a:r>
            <a:br>
              <a:rPr lang="en-US" altLang="zh-CN" dirty="0" smtClean="0"/>
            </a:br>
            <a:r>
              <a:rPr lang="en-US" altLang="zh-CN" dirty="0" smtClean="0"/>
              <a:t>effect as an </a:t>
            </a:r>
            <a:r>
              <a:rPr lang="en-US" altLang="zh-CN" dirty="0"/>
              <a:t>infinite buffer </a:t>
            </a:r>
            <a:r>
              <a:rPr lang="en-US" altLang="zh-CN" dirty="0" smtClean="0"/>
              <a:t/>
            </a:r>
            <a:br>
              <a:rPr lang="en-US" altLang="zh-CN" dirty="0" smtClean="0"/>
            </a:br>
            <a:r>
              <a:rPr lang="en-US" altLang="zh-CN" dirty="0" smtClean="0"/>
              <a:t>for </a:t>
            </a:r>
            <a:r>
              <a:rPr lang="en-US" altLang="zh-CN" dirty="0"/>
              <a:t>the SPEC89 </a:t>
            </a:r>
            <a:r>
              <a:rPr lang="en-US" altLang="zh-CN" dirty="0" smtClean="0"/>
              <a:t/>
            </a:r>
            <a:br>
              <a:rPr lang="en-US" altLang="zh-CN" dirty="0" smtClean="0"/>
            </a:br>
            <a:r>
              <a:rPr lang="en-US" altLang="zh-CN" dirty="0" smtClean="0"/>
              <a:t>benchmarks</a:t>
            </a:r>
            <a:endParaRPr lang="en-US" altLang="zh-CN" dirty="0"/>
          </a:p>
          <a:p>
            <a:endParaRPr lang="zh-CN" altLang="en-US" dirty="0"/>
          </a:p>
        </p:txBody>
      </p:sp>
      <p:graphicFrame>
        <p:nvGraphicFramePr>
          <p:cNvPr id="5" name="Object 2"/>
          <p:cNvGraphicFramePr>
            <a:graphicFrameLocks/>
          </p:cNvGraphicFramePr>
          <p:nvPr>
            <p:extLst/>
          </p:nvPr>
        </p:nvGraphicFramePr>
        <p:xfrm>
          <a:off x="4597400" y="1556792"/>
          <a:ext cx="7594600" cy="5359400"/>
        </p:xfrm>
        <a:graphic>
          <a:graphicData uri="http://schemas.openxmlformats.org/presentationml/2006/ole">
            <mc:AlternateContent xmlns:mc="http://schemas.openxmlformats.org/markup-compatibility/2006">
              <mc:Choice xmlns:v="urn:schemas-microsoft-com:vml" Requires="v">
                <p:oleObj spid="_x0000_s34821" name="Chart" r:id="rId3" imgW="7658280" imgH="5419800" progId="Excel.Chart.8">
                  <p:embed followColorScheme="full"/>
                </p:oleObj>
              </mc:Choice>
              <mc:Fallback>
                <p:oleObj name="Chart" r:id="rId3" imgW="7658280" imgH="5419800" progId="Excel.Chart.8">
                  <p:embed followColorScheme="full"/>
                  <p:pic>
                    <p:nvPicPr>
                      <p:cNvPr id="5" name="Object 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7400" y="1556792"/>
                        <a:ext cx="7594600" cy="53594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42557498"/>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a:ea typeface="宋体" panose="02010600030101010101" pitchFamily="2" charset="-122"/>
              </a:rPr>
              <a:t>MIPS R4000 Floating Point</a:t>
            </a:r>
          </a:p>
        </p:txBody>
      </p:sp>
      <p:sp>
        <p:nvSpPr>
          <p:cNvPr id="684035" name="Rectangle 3"/>
          <p:cNvSpPr>
            <a:spLocks noGrp="1" noChangeArrowheads="1"/>
          </p:cNvSpPr>
          <p:nvPr>
            <p:ph type="body" idx="1"/>
          </p:nvPr>
        </p:nvSpPr>
        <p:spPr>
          <a:xfrm>
            <a:off x="911424" y="1628800"/>
            <a:ext cx="10873208"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t" anchorCtr="0" compatLnSpc="1">
            <a:prstTxWarp prst="textNoShape">
              <a:avLst/>
            </a:prstTxWarp>
          </a:bodyPr>
          <a:lstStyle/>
          <a:p>
            <a:pPr>
              <a:tabLst>
                <a:tab pos="1371600" algn="l"/>
                <a:tab pos="3200400" algn="l"/>
              </a:tabLst>
            </a:pPr>
            <a:r>
              <a:rPr lang="en-US" altLang="zh-CN" dirty="0">
                <a:ea typeface="宋体" panose="02010600030101010101" pitchFamily="2" charset="-122"/>
              </a:rPr>
              <a:t>FP Adder, FP Multiplier, FP Divider</a:t>
            </a:r>
          </a:p>
          <a:p>
            <a:pPr>
              <a:tabLst>
                <a:tab pos="1371600" algn="l"/>
                <a:tab pos="3200400" algn="l"/>
              </a:tabLst>
            </a:pPr>
            <a:r>
              <a:rPr lang="en-US" altLang="zh-CN" dirty="0">
                <a:ea typeface="宋体" panose="02010600030101010101" pitchFamily="2" charset="-122"/>
              </a:rPr>
              <a:t>Last step of FP Multiplier/Divider uses FP Adder HW</a:t>
            </a:r>
          </a:p>
          <a:p>
            <a:pPr>
              <a:tabLst>
                <a:tab pos="1371600" algn="l"/>
                <a:tab pos="3200400" algn="l"/>
              </a:tabLst>
            </a:pPr>
            <a:r>
              <a:rPr lang="en-US" altLang="zh-CN" dirty="0">
                <a:ea typeface="宋体" panose="02010600030101010101" pitchFamily="2" charset="-122"/>
              </a:rPr>
              <a:t>8 kinds of stages in FP units:</a:t>
            </a:r>
          </a:p>
          <a:p>
            <a:pPr marL="742950" lvl="1">
              <a:buNone/>
              <a:tabLst>
                <a:tab pos="1371600" algn="l"/>
                <a:tab pos="3200400" algn="l"/>
              </a:tabLst>
            </a:pPr>
            <a:r>
              <a:rPr lang="en-US" altLang="zh-CN" i="1" dirty="0">
                <a:ea typeface="宋体" panose="02010600030101010101" pitchFamily="2" charset="-122"/>
              </a:rPr>
              <a:t>Stage	</a:t>
            </a:r>
            <a:r>
              <a:rPr lang="en-US" altLang="zh-CN" i="1" dirty="0" smtClean="0">
                <a:ea typeface="宋体" panose="02010600030101010101" pitchFamily="2" charset="-122"/>
              </a:rPr>
              <a:t>	Functional </a:t>
            </a:r>
            <a:r>
              <a:rPr lang="en-US" altLang="zh-CN" i="1" dirty="0">
                <a:ea typeface="宋体" panose="02010600030101010101" pitchFamily="2" charset="-122"/>
              </a:rPr>
              <a:t>unit	</a:t>
            </a:r>
            <a:r>
              <a:rPr lang="en-US" altLang="zh-CN" i="1" dirty="0" smtClean="0">
                <a:ea typeface="宋体" panose="02010600030101010101" pitchFamily="2" charset="-122"/>
              </a:rPr>
              <a:t>	Description</a:t>
            </a:r>
            <a:endParaRPr lang="en-US" altLang="zh-CN" dirty="0">
              <a:ea typeface="宋体" panose="02010600030101010101" pitchFamily="2" charset="-122"/>
            </a:endParaRPr>
          </a:p>
          <a:p>
            <a:pPr marL="742950" lvl="1">
              <a:buNone/>
              <a:tabLst>
                <a:tab pos="1371600" algn="l"/>
                <a:tab pos="3200400" algn="l"/>
              </a:tabLst>
            </a:pPr>
            <a:r>
              <a:rPr lang="en-US" altLang="zh-CN" dirty="0">
                <a:ea typeface="宋体" panose="02010600030101010101" pitchFamily="2" charset="-122"/>
              </a:rPr>
              <a:t>A		</a:t>
            </a:r>
            <a:r>
              <a:rPr lang="en-US" altLang="zh-CN" dirty="0" smtClean="0">
                <a:ea typeface="宋体" panose="02010600030101010101" pitchFamily="2" charset="-122"/>
              </a:rPr>
              <a:t>	FP </a:t>
            </a:r>
            <a:r>
              <a:rPr lang="en-US" altLang="zh-CN" dirty="0">
                <a:ea typeface="宋体" panose="02010600030101010101" pitchFamily="2" charset="-122"/>
              </a:rPr>
              <a:t>adder	</a:t>
            </a:r>
            <a:r>
              <a:rPr lang="en-US" altLang="zh-CN" dirty="0" smtClean="0">
                <a:ea typeface="宋体" panose="02010600030101010101" pitchFamily="2" charset="-122"/>
              </a:rPr>
              <a:t>		Mantissa </a:t>
            </a:r>
            <a:r>
              <a:rPr lang="en-US" altLang="zh-CN" dirty="0">
                <a:ea typeface="宋体" panose="02010600030101010101" pitchFamily="2" charset="-122"/>
              </a:rPr>
              <a:t>ADD stage </a:t>
            </a:r>
          </a:p>
          <a:p>
            <a:pPr marL="742950" lvl="1">
              <a:buNone/>
              <a:tabLst>
                <a:tab pos="1371600" algn="l"/>
                <a:tab pos="3200400" algn="l"/>
              </a:tabLst>
            </a:pPr>
            <a:r>
              <a:rPr lang="en-US" altLang="zh-CN" dirty="0">
                <a:ea typeface="宋体" panose="02010600030101010101" pitchFamily="2" charset="-122"/>
              </a:rPr>
              <a:t>D		</a:t>
            </a:r>
            <a:r>
              <a:rPr lang="en-US" altLang="zh-CN" dirty="0" smtClean="0">
                <a:ea typeface="宋体" panose="02010600030101010101" pitchFamily="2" charset="-122"/>
              </a:rPr>
              <a:t>	FP </a:t>
            </a:r>
            <a:r>
              <a:rPr lang="en-US" altLang="zh-CN" dirty="0">
                <a:ea typeface="宋体" panose="02010600030101010101" pitchFamily="2" charset="-122"/>
              </a:rPr>
              <a:t>divider	</a:t>
            </a:r>
            <a:r>
              <a:rPr lang="en-US" altLang="zh-CN" dirty="0" smtClean="0">
                <a:ea typeface="宋体" panose="02010600030101010101" pitchFamily="2" charset="-122"/>
              </a:rPr>
              <a:t>		Divide </a:t>
            </a:r>
            <a:r>
              <a:rPr lang="en-US" altLang="zh-CN" dirty="0">
                <a:ea typeface="宋体" panose="02010600030101010101" pitchFamily="2" charset="-122"/>
              </a:rPr>
              <a:t>pipeline stage</a:t>
            </a:r>
          </a:p>
          <a:p>
            <a:pPr marL="742950" lvl="1">
              <a:buNone/>
              <a:tabLst>
                <a:tab pos="1371600" algn="l"/>
                <a:tab pos="3200400" algn="l"/>
              </a:tabLst>
            </a:pPr>
            <a:r>
              <a:rPr lang="en-US" altLang="zh-CN" dirty="0">
                <a:ea typeface="宋体" panose="02010600030101010101" pitchFamily="2" charset="-122"/>
              </a:rPr>
              <a:t>E		</a:t>
            </a:r>
            <a:r>
              <a:rPr lang="en-US" altLang="zh-CN" dirty="0" smtClean="0">
                <a:ea typeface="宋体" panose="02010600030101010101" pitchFamily="2" charset="-122"/>
              </a:rPr>
              <a:t>	FP </a:t>
            </a:r>
            <a:r>
              <a:rPr lang="en-US" altLang="zh-CN" dirty="0">
                <a:ea typeface="宋体" panose="02010600030101010101" pitchFamily="2" charset="-122"/>
              </a:rPr>
              <a:t>multiplier	</a:t>
            </a:r>
            <a:r>
              <a:rPr lang="en-US" altLang="zh-CN" dirty="0" smtClean="0">
                <a:ea typeface="宋体" panose="02010600030101010101" pitchFamily="2" charset="-122"/>
              </a:rPr>
              <a:t>	Exception </a:t>
            </a:r>
            <a:r>
              <a:rPr lang="en-US" altLang="zh-CN" dirty="0">
                <a:ea typeface="宋体" panose="02010600030101010101" pitchFamily="2" charset="-122"/>
              </a:rPr>
              <a:t>test stage</a:t>
            </a:r>
          </a:p>
          <a:p>
            <a:pPr marL="742950" lvl="1">
              <a:buNone/>
              <a:tabLst>
                <a:tab pos="1371600" algn="l"/>
                <a:tab pos="3200400" algn="l"/>
              </a:tabLst>
            </a:pPr>
            <a:r>
              <a:rPr lang="en-US" altLang="zh-CN" dirty="0">
                <a:ea typeface="宋体" panose="02010600030101010101" pitchFamily="2" charset="-122"/>
              </a:rPr>
              <a:t>M		FP multiplier	</a:t>
            </a:r>
            <a:r>
              <a:rPr lang="en-US" altLang="zh-CN" dirty="0" smtClean="0">
                <a:ea typeface="宋体" panose="02010600030101010101" pitchFamily="2" charset="-122"/>
              </a:rPr>
              <a:t>	First </a:t>
            </a:r>
            <a:r>
              <a:rPr lang="en-US" altLang="zh-CN" dirty="0">
                <a:ea typeface="宋体" panose="02010600030101010101" pitchFamily="2" charset="-122"/>
              </a:rPr>
              <a:t>stage of multiplier</a:t>
            </a:r>
          </a:p>
          <a:p>
            <a:pPr marL="742950" lvl="1">
              <a:buNone/>
              <a:tabLst>
                <a:tab pos="1371600" algn="l"/>
                <a:tab pos="3200400" algn="l"/>
              </a:tabLst>
            </a:pPr>
            <a:r>
              <a:rPr lang="en-US" altLang="zh-CN" dirty="0">
                <a:ea typeface="宋体" panose="02010600030101010101" pitchFamily="2" charset="-122"/>
              </a:rPr>
              <a:t>N		</a:t>
            </a:r>
            <a:r>
              <a:rPr lang="en-US" altLang="zh-CN" dirty="0" smtClean="0">
                <a:ea typeface="宋体" panose="02010600030101010101" pitchFamily="2" charset="-122"/>
              </a:rPr>
              <a:t>	FP </a:t>
            </a:r>
            <a:r>
              <a:rPr lang="en-US" altLang="zh-CN" dirty="0">
                <a:ea typeface="宋体" panose="02010600030101010101" pitchFamily="2" charset="-122"/>
              </a:rPr>
              <a:t>multiplier	</a:t>
            </a:r>
            <a:r>
              <a:rPr lang="en-US" altLang="zh-CN" dirty="0" smtClean="0">
                <a:ea typeface="宋体" panose="02010600030101010101" pitchFamily="2" charset="-122"/>
              </a:rPr>
              <a:t>	Second </a:t>
            </a:r>
            <a:r>
              <a:rPr lang="en-US" altLang="zh-CN" dirty="0">
                <a:ea typeface="宋体" panose="02010600030101010101" pitchFamily="2" charset="-122"/>
              </a:rPr>
              <a:t>stage of multiplier</a:t>
            </a:r>
          </a:p>
          <a:p>
            <a:pPr marL="742950" lvl="1">
              <a:buNone/>
              <a:tabLst>
                <a:tab pos="1371600" algn="l"/>
                <a:tab pos="3200400" algn="l"/>
              </a:tabLst>
            </a:pPr>
            <a:r>
              <a:rPr lang="en-US" altLang="zh-CN" dirty="0">
                <a:ea typeface="宋体" panose="02010600030101010101" pitchFamily="2" charset="-122"/>
              </a:rPr>
              <a:t>R		</a:t>
            </a:r>
            <a:r>
              <a:rPr lang="en-US" altLang="zh-CN" dirty="0" smtClean="0">
                <a:ea typeface="宋体" panose="02010600030101010101" pitchFamily="2" charset="-122"/>
              </a:rPr>
              <a:t>	FP </a:t>
            </a:r>
            <a:r>
              <a:rPr lang="en-US" altLang="zh-CN" dirty="0">
                <a:ea typeface="宋体" panose="02010600030101010101" pitchFamily="2" charset="-122"/>
              </a:rPr>
              <a:t>adder	</a:t>
            </a:r>
            <a:r>
              <a:rPr lang="en-US" altLang="zh-CN" dirty="0" smtClean="0">
                <a:ea typeface="宋体" panose="02010600030101010101" pitchFamily="2" charset="-122"/>
              </a:rPr>
              <a:t>		Rounding </a:t>
            </a:r>
            <a:r>
              <a:rPr lang="en-US" altLang="zh-CN" dirty="0">
                <a:ea typeface="宋体" panose="02010600030101010101" pitchFamily="2" charset="-122"/>
              </a:rPr>
              <a:t>stage</a:t>
            </a:r>
          </a:p>
          <a:p>
            <a:pPr marL="742950" lvl="1">
              <a:buNone/>
              <a:tabLst>
                <a:tab pos="1371600" algn="l"/>
                <a:tab pos="3200400" algn="l"/>
              </a:tabLst>
            </a:pPr>
            <a:r>
              <a:rPr lang="en-US" altLang="zh-CN" dirty="0">
                <a:ea typeface="宋体" panose="02010600030101010101" pitchFamily="2" charset="-122"/>
              </a:rPr>
              <a:t>S		</a:t>
            </a:r>
            <a:r>
              <a:rPr lang="en-US" altLang="zh-CN" dirty="0" smtClean="0">
                <a:ea typeface="宋体" panose="02010600030101010101" pitchFamily="2" charset="-122"/>
              </a:rPr>
              <a:t>	FP </a:t>
            </a:r>
            <a:r>
              <a:rPr lang="en-US" altLang="zh-CN" dirty="0">
                <a:ea typeface="宋体" panose="02010600030101010101" pitchFamily="2" charset="-122"/>
              </a:rPr>
              <a:t>adder	</a:t>
            </a:r>
            <a:r>
              <a:rPr lang="en-US" altLang="zh-CN" dirty="0" smtClean="0">
                <a:ea typeface="宋体" panose="02010600030101010101" pitchFamily="2" charset="-122"/>
              </a:rPr>
              <a:t>		Operand </a:t>
            </a:r>
            <a:r>
              <a:rPr lang="en-US" altLang="zh-CN" dirty="0">
                <a:ea typeface="宋体" panose="02010600030101010101" pitchFamily="2" charset="-122"/>
              </a:rPr>
              <a:t>shift stage</a:t>
            </a:r>
          </a:p>
          <a:p>
            <a:pPr marL="742950" lvl="1">
              <a:buNone/>
              <a:tabLst>
                <a:tab pos="1371600" algn="l"/>
                <a:tab pos="3200400" algn="l"/>
              </a:tabLst>
            </a:pPr>
            <a:r>
              <a:rPr lang="en-US" altLang="zh-CN" dirty="0">
                <a:ea typeface="宋体" panose="02010600030101010101" pitchFamily="2" charset="-122"/>
              </a:rPr>
              <a:t>U			</a:t>
            </a:r>
            <a:r>
              <a:rPr lang="en-US" altLang="zh-CN" dirty="0" smtClean="0">
                <a:ea typeface="宋体" panose="02010600030101010101" pitchFamily="2" charset="-122"/>
              </a:rPr>
              <a:t>				Unpack </a:t>
            </a:r>
            <a:r>
              <a:rPr lang="en-US" altLang="zh-CN" dirty="0">
                <a:ea typeface="宋体" panose="02010600030101010101" pitchFamily="2" charset="-122"/>
              </a:rPr>
              <a:t>FP numbers</a:t>
            </a:r>
          </a:p>
        </p:txBody>
      </p:sp>
    </p:spTree>
    <p:extLst>
      <p:ext uri="{BB962C8B-B14F-4D97-AF65-F5344CB8AC3E}">
        <p14:creationId xmlns:p14="http://schemas.microsoft.com/office/powerpoint/2010/main" val="1723256970"/>
      </p:ext>
    </p:extLst>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a:ea typeface="宋体" panose="02010600030101010101" pitchFamily="2" charset="-122"/>
              </a:rPr>
              <a:t>MIPS FP Pipe Stages</a:t>
            </a:r>
          </a:p>
        </p:txBody>
      </p:sp>
      <p:sp>
        <p:nvSpPr>
          <p:cNvPr id="685059" name="Rectangle 3"/>
          <p:cNvSpPr>
            <a:spLocks noGrp="1" noChangeArrowheads="1"/>
          </p:cNvSpPr>
          <p:nvPr>
            <p:ph type="body" idx="1"/>
          </p:nvPr>
        </p:nvSpPr>
        <p:spPr>
          <a:xfrm>
            <a:off x="1656603" y="1628800"/>
            <a:ext cx="8458200"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t" anchorCtr="0" compatLnSpc="1">
            <a:prstTxWarp prst="textNoShape">
              <a:avLst/>
            </a:prstTxWarp>
          </a:bodyPr>
          <a:lstStyle/>
          <a:p>
            <a:pPr>
              <a:buNone/>
              <a:tabLst>
                <a:tab pos="1885950" algn="l"/>
                <a:tab pos="2286000" algn="l"/>
                <a:tab pos="2971800" algn="l"/>
                <a:tab pos="3543300" algn="l"/>
                <a:tab pos="4114800" algn="l"/>
                <a:tab pos="4743450" algn="l"/>
                <a:tab pos="5372100" algn="l"/>
                <a:tab pos="5943600" algn="l"/>
              </a:tabLst>
            </a:pPr>
            <a:r>
              <a:rPr lang="en-US" altLang="zh-CN" sz="1800" i="1" dirty="0">
                <a:ea typeface="宋体" panose="02010600030101010101" pitchFamily="2" charset="-122"/>
              </a:rPr>
              <a:t>FP </a:t>
            </a:r>
            <a:r>
              <a:rPr lang="en-US" altLang="zh-CN" sz="1800" i="1" dirty="0" err="1">
                <a:ea typeface="宋体" panose="02010600030101010101" pitchFamily="2" charset="-122"/>
              </a:rPr>
              <a:t>Instr</a:t>
            </a:r>
            <a:r>
              <a:rPr lang="en-US" altLang="zh-CN" sz="1800" i="1" dirty="0">
                <a:ea typeface="宋体" panose="02010600030101010101" pitchFamily="2" charset="-122"/>
              </a:rPr>
              <a:t>	1	2	3	4	5	6	7	8	…</a:t>
            </a:r>
          </a:p>
          <a:p>
            <a:pPr>
              <a:buNone/>
              <a:tabLst>
                <a:tab pos="1885950" algn="l"/>
                <a:tab pos="2286000" algn="l"/>
                <a:tab pos="2971800" algn="l"/>
                <a:tab pos="3543300" algn="l"/>
                <a:tab pos="4114800" algn="l"/>
                <a:tab pos="4743450" algn="l"/>
                <a:tab pos="5372100" algn="l"/>
                <a:tab pos="5943600" algn="l"/>
              </a:tabLst>
            </a:pPr>
            <a:r>
              <a:rPr lang="en-US" altLang="zh-CN" sz="1800" dirty="0">
                <a:ea typeface="宋体" panose="02010600030101010101" pitchFamily="2" charset="-122"/>
              </a:rPr>
              <a:t>Add, Subtract	U	S+A	A+R	R+S</a:t>
            </a:r>
          </a:p>
          <a:p>
            <a:pPr>
              <a:buNone/>
              <a:tabLst>
                <a:tab pos="1885950" algn="l"/>
                <a:tab pos="2286000" algn="l"/>
                <a:tab pos="2971800" algn="l"/>
                <a:tab pos="3543300" algn="l"/>
                <a:tab pos="4114800" algn="l"/>
                <a:tab pos="4743450" algn="l"/>
                <a:tab pos="5372100" algn="l"/>
                <a:tab pos="5943600" algn="l"/>
              </a:tabLst>
            </a:pPr>
            <a:r>
              <a:rPr lang="en-US" altLang="zh-CN" sz="1800" dirty="0">
                <a:ea typeface="宋体" panose="02010600030101010101" pitchFamily="2" charset="-122"/>
              </a:rPr>
              <a:t>Multiply	U	E+M	M	M	M	N	N+A	R</a:t>
            </a:r>
          </a:p>
          <a:p>
            <a:pPr>
              <a:buNone/>
              <a:tabLst>
                <a:tab pos="1885950" algn="l"/>
                <a:tab pos="2286000" algn="l"/>
                <a:tab pos="2971800" algn="l"/>
                <a:tab pos="3543300" algn="l"/>
                <a:tab pos="4114800" algn="l"/>
                <a:tab pos="4743450" algn="l"/>
                <a:tab pos="5372100" algn="l"/>
                <a:tab pos="5943600" algn="l"/>
              </a:tabLst>
            </a:pPr>
            <a:r>
              <a:rPr lang="en-US" altLang="zh-CN" sz="1800" dirty="0">
                <a:ea typeface="宋体" panose="02010600030101010101" pitchFamily="2" charset="-122"/>
              </a:rPr>
              <a:t>Divide	U	A	R	D</a:t>
            </a:r>
            <a:r>
              <a:rPr lang="en-US" altLang="zh-CN" sz="1800" baseline="30000" dirty="0">
                <a:ea typeface="宋体" panose="02010600030101010101" pitchFamily="2" charset="-122"/>
              </a:rPr>
              <a:t>28</a:t>
            </a:r>
            <a:r>
              <a:rPr lang="en-US" altLang="zh-CN" sz="1800" dirty="0">
                <a:ea typeface="宋体" panose="02010600030101010101" pitchFamily="2" charset="-122"/>
              </a:rPr>
              <a:t>	…	D+A	D+R, D+R, D+A, D+R, A, R</a:t>
            </a:r>
          </a:p>
          <a:p>
            <a:pPr>
              <a:buNone/>
              <a:tabLst>
                <a:tab pos="1885950" algn="l"/>
                <a:tab pos="2286000" algn="l"/>
                <a:tab pos="2971800" algn="l"/>
                <a:tab pos="3543300" algn="l"/>
                <a:tab pos="4114800" algn="l"/>
                <a:tab pos="4743450" algn="l"/>
                <a:tab pos="5372100" algn="l"/>
                <a:tab pos="5943600" algn="l"/>
              </a:tabLst>
            </a:pPr>
            <a:r>
              <a:rPr lang="en-US" altLang="zh-CN" sz="1800" dirty="0">
                <a:ea typeface="宋体" panose="02010600030101010101" pitchFamily="2" charset="-122"/>
              </a:rPr>
              <a:t>Square root	U	E	(A+R)</a:t>
            </a:r>
            <a:r>
              <a:rPr lang="en-US" altLang="zh-CN" sz="1800" baseline="30000" dirty="0">
                <a:ea typeface="宋体" panose="02010600030101010101" pitchFamily="2" charset="-122"/>
              </a:rPr>
              <a:t>108</a:t>
            </a:r>
            <a:r>
              <a:rPr lang="en-US" altLang="zh-CN" sz="1800" dirty="0">
                <a:ea typeface="宋体" panose="02010600030101010101" pitchFamily="2" charset="-122"/>
              </a:rPr>
              <a:t>	…	A	R</a:t>
            </a:r>
          </a:p>
          <a:p>
            <a:pPr>
              <a:buNone/>
              <a:tabLst>
                <a:tab pos="1885950" algn="l"/>
                <a:tab pos="2286000" algn="l"/>
                <a:tab pos="2971800" algn="l"/>
                <a:tab pos="3543300" algn="l"/>
                <a:tab pos="4114800" algn="l"/>
                <a:tab pos="4743450" algn="l"/>
                <a:tab pos="5372100" algn="l"/>
                <a:tab pos="5943600" algn="l"/>
              </a:tabLst>
            </a:pPr>
            <a:r>
              <a:rPr lang="en-US" altLang="zh-CN" sz="1800" dirty="0">
                <a:ea typeface="宋体" panose="02010600030101010101" pitchFamily="2" charset="-122"/>
              </a:rPr>
              <a:t>Negate	U	S</a:t>
            </a:r>
          </a:p>
          <a:p>
            <a:pPr>
              <a:buNone/>
              <a:tabLst>
                <a:tab pos="1885950" algn="l"/>
                <a:tab pos="2286000" algn="l"/>
                <a:tab pos="2971800" algn="l"/>
                <a:tab pos="3543300" algn="l"/>
                <a:tab pos="4114800" algn="l"/>
                <a:tab pos="4743450" algn="l"/>
                <a:tab pos="5372100" algn="l"/>
                <a:tab pos="5943600" algn="l"/>
              </a:tabLst>
            </a:pPr>
            <a:r>
              <a:rPr lang="en-US" altLang="zh-CN" sz="1800" dirty="0">
                <a:ea typeface="宋体" panose="02010600030101010101" pitchFamily="2" charset="-122"/>
              </a:rPr>
              <a:t>Absolute value	U	S</a:t>
            </a:r>
          </a:p>
          <a:p>
            <a:pPr>
              <a:buNone/>
              <a:tabLst>
                <a:tab pos="1885950" algn="l"/>
                <a:tab pos="2286000" algn="l"/>
                <a:tab pos="2971800" algn="l"/>
                <a:tab pos="3543300" algn="l"/>
                <a:tab pos="4114800" algn="l"/>
                <a:tab pos="4743450" algn="l"/>
                <a:tab pos="5372100" algn="l"/>
                <a:tab pos="5943600" algn="l"/>
              </a:tabLst>
            </a:pPr>
            <a:r>
              <a:rPr lang="en-US" altLang="zh-CN" sz="1800" dirty="0">
                <a:ea typeface="宋体" panose="02010600030101010101" pitchFamily="2" charset="-122"/>
              </a:rPr>
              <a:t>FP compare	U	A	R</a:t>
            </a:r>
          </a:p>
          <a:p>
            <a:pPr>
              <a:buNone/>
              <a:tabLst>
                <a:tab pos="1885950" algn="l"/>
                <a:tab pos="2286000" algn="l"/>
                <a:tab pos="2971800" algn="l"/>
                <a:tab pos="3543300" algn="l"/>
                <a:tab pos="4114800" algn="l"/>
                <a:tab pos="4743450" algn="l"/>
                <a:tab pos="5372100" algn="l"/>
                <a:tab pos="5943600" algn="l"/>
              </a:tabLst>
            </a:pPr>
            <a:r>
              <a:rPr lang="en-US" altLang="zh-CN" sz="1800" i="1" dirty="0">
                <a:ea typeface="宋体" panose="02010600030101010101" pitchFamily="2" charset="-122"/>
              </a:rPr>
              <a:t>Stages:</a:t>
            </a:r>
          </a:p>
          <a:p>
            <a:pPr lvl="2">
              <a:buNone/>
              <a:tabLst>
                <a:tab pos="1885950" algn="l"/>
                <a:tab pos="2286000" algn="l"/>
                <a:tab pos="2971800" algn="l"/>
                <a:tab pos="3543300" algn="l"/>
                <a:tab pos="4114800" algn="l"/>
                <a:tab pos="4743450" algn="l"/>
                <a:tab pos="5372100" algn="l"/>
                <a:tab pos="5943600" algn="l"/>
              </a:tabLst>
            </a:pPr>
            <a:r>
              <a:rPr lang="en-US" altLang="zh-CN" i="1" dirty="0">
                <a:ea typeface="宋体" panose="02010600030101010101" pitchFamily="2" charset="-122"/>
              </a:rPr>
              <a:t>M		First stage of multiplier</a:t>
            </a:r>
          </a:p>
          <a:p>
            <a:pPr lvl="2">
              <a:buNone/>
              <a:tabLst>
                <a:tab pos="1885950" algn="l"/>
                <a:tab pos="2286000" algn="l"/>
                <a:tab pos="2971800" algn="l"/>
                <a:tab pos="3543300" algn="l"/>
                <a:tab pos="4114800" algn="l"/>
                <a:tab pos="4743450" algn="l"/>
                <a:tab pos="5372100" algn="l"/>
                <a:tab pos="5943600" algn="l"/>
              </a:tabLst>
            </a:pPr>
            <a:r>
              <a:rPr lang="en-US" altLang="zh-CN" i="1" dirty="0">
                <a:ea typeface="宋体" panose="02010600030101010101" pitchFamily="2" charset="-122"/>
              </a:rPr>
              <a:t>N		Second stage of multiplier</a:t>
            </a:r>
          </a:p>
          <a:p>
            <a:pPr lvl="2">
              <a:buNone/>
              <a:tabLst>
                <a:tab pos="1885950" algn="l"/>
                <a:tab pos="2286000" algn="l"/>
                <a:tab pos="2971800" algn="l"/>
                <a:tab pos="3543300" algn="l"/>
                <a:tab pos="4114800" algn="l"/>
                <a:tab pos="4743450" algn="l"/>
                <a:tab pos="5372100" algn="l"/>
                <a:tab pos="5943600" algn="l"/>
              </a:tabLst>
            </a:pPr>
            <a:r>
              <a:rPr lang="en-US" altLang="zh-CN" i="1" dirty="0">
                <a:ea typeface="宋体" panose="02010600030101010101" pitchFamily="2" charset="-122"/>
              </a:rPr>
              <a:t>R		Rounding stage</a:t>
            </a:r>
          </a:p>
          <a:p>
            <a:pPr lvl="2">
              <a:buNone/>
              <a:tabLst>
                <a:tab pos="1885950" algn="l"/>
                <a:tab pos="2286000" algn="l"/>
                <a:tab pos="2971800" algn="l"/>
                <a:tab pos="3543300" algn="l"/>
                <a:tab pos="4114800" algn="l"/>
                <a:tab pos="4743450" algn="l"/>
                <a:tab pos="5372100" algn="l"/>
                <a:tab pos="5943600" algn="l"/>
              </a:tabLst>
            </a:pPr>
            <a:r>
              <a:rPr lang="en-US" altLang="zh-CN" i="1" dirty="0">
                <a:ea typeface="宋体" panose="02010600030101010101" pitchFamily="2" charset="-122"/>
              </a:rPr>
              <a:t>S		Operand shift stage</a:t>
            </a:r>
          </a:p>
          <a:p>
            <a:pPr lvl="2">
              <a:buNone/>
              <a:tabLst>
                <a:tab pos="1885950" algn="l"/>
                <a:tab pos="2286000" algn="l"/>
                <a:tab pos="2971800" algn="l"/>
                <a:tab pos="3543300" algn="l"/>
                <a:tab pos="4114800" algn="l"/>
                <a:tab pos="4743450" algn="l"/>
                <a:tab pos="5372100" algn="l"/>
                <a:tab pos="5943600" algn="l"/>
              </a:tabLst>
            </a:pPr>
            <a:r>
              <a:rPr lang="en-US" altLang="zh-CN" i="1" dirty="0">
                <a:ea typeface="宋体" panose="02010600030101010101" pitchFamily="2" charset="-122"/>
              </a:rPr>
              <a:t>U		Unpack FP numbers</a:t>
            </a:r>
          </a:p>
        </p:txBody>
      </p:sp>
      <p:sp>
        <p:nvSpPr>
          <p:cNvPr id="685060" name="Rectangle 4"/>
          <p:cNvSpPr>
            <a:spLocks noChangeArrowheads="1"/>
          </p:cNvSpPr>
          <p:nvPr/>
        </p:nvSpPr>
        <p:spPr bwMode="auto">
          <a:xfrm>
            <a:off x="7032104" y="4924654"/>
            <a:ext cx="3264739" cy="12808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7" tIns="44450" rIns="90487" bIns="44450">
            <a:spAutoFit/>
          </a:bodyPr>
          <a:lstStyle/>
          <a:p>
            <a:pPr lvl="1">
              <a:lnSpc>
                <a:spcPct val="90000"/>
              </a:lnSpc>
              <a:spcBef>
                <a:spcPct val="30000"/>
              </a:spcBef>
            </a:pPr>
            <a:r>
              <a:rPr lang="en-US" altLang="zh-CN" i="1" dirty="0">
                <a:solidFill>
                  <a:srgbClr val="0000FF"/>
                </a:solidFill>
                <a:latin typeface="Helvetica" panose="020B0604020202020204" pitchFamily="34" charset="0"/>
              </a:rPr>
              <a:t>A	Mantissa ADD stage </a:t>
            </a:r>
          </a:p>
          <a:p>
            <a:pPr lvl="1">
              <a:lnSpc>
                <a:spcPct val="90000"/>
              </a:lnSpc>
              <a:spcBef>
                <a:spcPct val="30000"/>
              </a:spcBef>
            </a:pPr>
            <a:r>
              <a:rPr lang="en-US" altLang="zh-CN" i="1" dirty="0">
                <a:solidFill>
                  <a:srgbClr val="0000FF"/>
                </a:solidFill>
                <a:latin typeface="Helvetica" panose="020B0604020202020204" pitchFamily="34" charset="0"/>
              </a:rPr>
              <a:t>D	Divide pipeline stage</a:t>
            </a:r>
          </a:p>
          <a:p>
            <a:pPr lvl="1">
              <a:lnSpc>
                <a:spcPct val="90000"/>
              </a:lnSpc>
              <a:spcBef>
                <a:spcPct val="30000"/>
              </a:spcBef>
            </a:pPr>
            <a:r>
              <a:rPr lang="en-US" altLang="zh-CN" i="1" dirty="0">
                <a:solidFill>
                  <a:srgbClr val="0000FF"/>
                </a:solidFill>
                <a:latin typeface="Helvetica" panose="020B0604020202020204" pitchFamily="34" charset="0"/>
              </a:rPr>
              <a:t>E	Exception test stage</a:t>
            </a:r>
          </a:p>
          <a:p>
            <a:pPr>
              <a:spcBef>
                <a:spcPct val="0"/>
              </a:spcBef>
            </a:pPr>
            <a:endParaRPr lang="en-US" altLang="zh-CN" i="1" dirty="0">
              <a:solidFill>
                <a:srgbClr val="0000FF"/>
              </a:solidFill>
              <a:latin typeface="Helvetica" panose="020B0604020202020204" pitchFamily="34" charset="0"/>
              <a:ea typeface="宋体" panose="02010600030101010101" pitchFamily="2" charset="-122"/>
            </a:endParaRPr>
          </a:p>
        </p:txBody>
      </p:sp>
    </p:spTree>
    <p:extLst>
      <p:ext uri="{BB962C8B-B14F-4D97-AF65-F5344CB8AC3E}">
        <p14:creationId xmlns:p14="http://schemas.microsoft.com/office/powerpoint/2010/main" val="339041455"/>
      </p:ext>
    </p:extLst>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dirty="0"/>
              <a:t>The latencies and initiation intervals for the FP operations </a:t>
            </a:r>
            <a:endParaRPr lang="zh-CN" altLang="en-US" dirty="0"/>
          </a:p>
        </p:txBody>
      </p:sp>
      <p:sp>
        <p:nvSpPr>
          <p:cNvPr id="3" name="内容占位符 2"/>
          <p:cNvSpPr>
            <a:spLocks noGrp="1"/>
          </p:cNvSpPr>
          <p:nvPr>
            <p:ph idx="1"/>
          </p:nvPr>
        </p:nvSpPr>
        <p:spPr>
          <a:xfrm>
            <a:off x="335360" y="1556792"/>
            <a:ext cx="11737304" cy="5112568"/>
          </a:xfrm>
        </p:spPr>
        <p:txBody>
          <a:bodyPr/>
          <a:lstStyle/>
          <a:p>
            <a:r>
              <a:rPr lang="en-US" altLang="en-US" dirty="0" smtClean="0"/>
              <a:t>Depend </a:t>
            </a:r>
            <a:r>
              <a:rPr lang="en-US" altLang="en-US" dirty="0"/>
              <a:t>on the FP unit stages that a given operation must </a:t>
            </a:r>
            <a:r>
              <a:rPr lang="en-US" altLang="en-US" dirty="0" smtClean="0"/>
              <a:t>use</a:t>
            </a:r>
          </a:p>
          <a:p>
            <a:pPr lvl="1"/>
            <a:r>
              <a:rPr lang="en-US" altLang="en-US" dirty="0" smtClean="0"/>
              <a:t>The latencies </a:t>
            </a:r>
            <a:r>
              <a:rPr lang="en-US" altLang="en-US" dirty="0"/>
              <a:t>are one cycle less when the destination is a </a:t>
            </a:r>
            <a:r>
              <a:rPr lang="en-US" altLang="en-US" dirty="0" smtClean="0"/>
              <a:t>store</a:t>
            </a:r>
          </a:p>
          <a:p>
            <a:pPr lvl="1"/>
            <a:r>
              <a:rPr lang="en-US" altLang="en-US" dirty="0" smtClean="0"/>
              <a:t>The </a:t>
            </a:r>
            <a:r>
              <a:rPr lang="en-US" altLang="en-US" dirty="0"/>
              <a:t>pipe stages are shown in the order in which they are used for any </a:t>
            </a:r>
            <a:r>
              <a:rPr lang="en-US" altLang="en-US" dirty="0" smtClean="0"/>
              <a:t>operation</a:t>
            </a:r>
          </a:p>
          <a:p>
            <a:pPr lvl="1"/>
            <a:r>
              <a:rPr lang="en-US" altLang="en-US" dirty="0" smtClean="0"/>
              <a:t> </a:t>
            </a:r>
            <a:r>
              <a:rPr lang="en-US" altLang="en-US" dirty="0"/>
              <a:t>The notation S + A indicates a clock cycle in which both the S and A stages are used. The notation D</a:t>
            </a:r>
            <a:r>
              <a:rPr lang="en-US" altLang="en-US" baseline="30000" dirty="0"/>
              <a:t>28</a:t>
            </a:r>
            <a:r>
              <a:rPr lang="en-US" altLang="en-US" dirty="0"/>
              <a:t> indicates that the D stage is used 28 times in a row.</a:t>
            </a:r>
          </a:p>
          <a:p>
            <a:endParaRPr lang="zh-CN" altLang="en-US" dirty="0"/>
          </a:p>
        </p:txBody>
      </p:sp>
      <p:pic>
        <p:nvPicPr>
          <p:cNvPr id="4" name="图片 3"/>
          <p:cNvPicPr>
            <a:picLocks noChangeAspect="1"/>
          </p:cNvPicPr>
          <p:nvPr/>
        </p:nvPicPr>
        <p:blipFill>
          <a:blip r:embed="rId2"/>
          <a:stretch>
            <a:fillRect/>
          </a:stretch>
        </p:blipFill>
        <p:spPr>
          <a:xfrm>
            <a:off x="828450" y="3615756"/>
            <a:ext cx="11074401" cy="3053604"/>
          </a:xfrm>
          <a:prstGeom prst="rect">
            <a:avLst/>
          </a:prstGeom>
        </p:spPr>
      </p:pic>
    </p:spTree>
    <p:extLst>
      <p:ext uri="{BB962C8B-B14F-4D97-AF65-F5344CB8AC3E}">
        <p14:creationId xmlns:p14="http://schemas.microsoft.com/office/powerpoint/2010/main" val="373564791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Structural Hazard between FP operations</a:t>
            </a:r>
            <a:endParaRPr lang="zh-CN" altLang="en-US" dirty="0"/>
          </a:p>
        </p:txBody>
      </p:sp>
      <p:pic>
        <p:nvPicPr>
          <p:cNvPr id="4" name="图片 3"/>
          <p:cNvPicPr>
            <a:picLocks noChangeAspect="1"/>
          </p:cNvPicPr>
          <p:nvPr/>
        </p:nvPicPr>
        <p:blipFill>
          <a:blip r:embed="rId2"/>
          <a:stretch>
            <a:fillRect/>
          </a:stretch>
        </p:blipFill>
        <p:spPr>
          <a:xfrm>
            <a:off x="1199456" y="1556792"/>
            <a:ext cx="9766755" cy="3456384"/>
          </a:xfrm>
          <a:prstGeom prst="rect">
            <a:avLst/>
          </a:prstGeom>
        </p:spPr>
      </p:pic>
      <p:pic>
        <p:nvPicPr>
          <p:cNvPr id="5" name="图片 4"/>
          <p:cNvPicPr>
            <a:picLocks noChangeAspect="1"/>
          </p:cNvPicPr>
          <p:nvPr/>
        </p:nvPicPr>
        <p:blipFill>
          <a:blip r:embed="rId3"/>
          <a:stretch>
            <a:fillRect/>
          </a:stretch>
        </p:blipFill>
        <p:spPr>
          <a:xfrm>
            <a:off x="1631504" y="5157192"/>
            <a:ext cx="9166373" cy="1700808"/>
          </a:xfrm>
          <a:prstGeom prst="rect">
            <a:avLst/>
          </a:prstGeom>
        </p:spPr>
      </p:pic>
    </p:spTree>
    <p:extLst>
      <p:ext uri="{BB962C8B-B14F-4D97-AF65-F5344CB8AC3E}">
        <p14:creationId xmlns:p14="http://schemas.microsoft.com/office/powerpoint/2010/main" val="118169348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Structural Hazard between FP operations</a:t>
            </a:r>
            <a:endParaRPr lang="zh-CN" altLang="en-US" dirty="0"/>
          </a:p>
        </p:txBody>
      </p:sp>
      <p:pic>
        <p:nvPicPr>
          <p:cNvPr id="4" name="内容占位符 3"/>
          <p:cNvPicPr>
            <a:picLocks noGrp="1" noChangeAspect="1"/>
          </p:cNvPicPr>
          <p:nvPr>
            <p:ph idx="1"/>
          </p:nvPr>
        </p:nvPicPr>
        <p:blipFill>
          <a:blip r:embed="rId2"/>
          <a:stretch>
            <a:fillRect/>
          </a:stretch>
        </p:blipFill>
        <p:spPr>
          <a:xfrm>
            <a:off x="3431704" y="1582460"/>
            <a:ext cx="7992888" cy="3988048"/>
          </a:xfrm>
          <a:prstGeom prst="rect">
            <a:avLst/>
          </a:prstGeom>
        </p:spPr>
      </p:pic>
      <p:pic>
        <p:nvPicPr>
          <p:cNvPr id="5" name="图片 4"/>
          <p:cNvPicPr>
            <a:picLocks noChangeAspect="1"/>
          </p:cNvPicPr>
          <p:nvPr/>
        </p:nvPicPr>
        <p:blipFill>
          <a:blip r:embed="rId3"/>
          <a:stretch>
            <a:fillRect/>
          </a:stretch>
        </p:blipFill>
        <p:spPr>
          <a:xfrm>
            <a:off x="479376" y="4941168"/>
            <a:ext cx="8310036" cy="1816741"/>
          </a:xfrm>
          <a:prstGeom prst="rect">
            <a:avLst/>
          </a:prstGeom>
        </p:spPr>
      </p:pic>
    </p:spTree>
    <p:extLst>
      <p:ext uri="{BB962C8B-B14F-4D97-AF65-F5344CB8AC3E}">
        <p14:creationId xmlns:p14="http://schemas.microsoft.com/office/powerpoint/2010/main" val="875271206"/>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a:xfrm>
            <a:off x="973108" y="233772"/>
            <a:ext cx="10235460" cy="11430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R4000 </a:t>
            </a:r>
            <a:r>
              <a:rPr lang="en-US" altLang="zh-CN" dirty="0" smtClean="0">
                <a:ea typeface="宋体" panose="02010600030101010101" pitchFamily="2" charset="-122"/>
              </a:rPr>
              <a:t>Performance: Not </a:t>
            </a:r>
            <a:r>
              <a:rPr lang="en-US" altLang="zh-CN" dirty="0">
                <a:ea typeface="宋体" panose="02010600030101010101" pitchFamily="2" charset="-122"/>
              </a:rPr>
              <a:t>ideal CPI of 1</a:t>
            </a:r>
          </a:p>
        </p:txBody>
      </p:sp>
      <p:sp>
        <p:nvSpPr>
          <p:cNvPr id="686083" name="Rectangle 3"/>
          <p:cNvSpPr>
            <a:spLocks noGrp="1" noChangeArrowheads="1"/>
          </p:cNvSpPr>
          <p:nvPr>
            <p:ph type="body" idx="1"/>
          </p:nvPr>
        </p:nvSpPr>
        <p:spPr>
          <a:xfrm>
            <a:off x="623392" y="1628800"/>
            <a:ext cx="10441160" cy="18034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t" anchorCtr="0" compatLnSpc="1">
            <a:prstTxWarp prst="textNoShape">
              <a:avLst/>
            </a:prstTxWarp>
          </a:bodyPr>
          <a:lstStyle/>
          <a:p>
            <a:r>
              <a:rPr lang="en-US" altLang="zh-CN" sz="2400" dirty="0" smtClean="0">
                <a:solidFill>
                  <a:srgbClr val="00B050"/>
                </a:solidFill>
                <a:ea typeface="宋体" panose="02010600030101010101" pitchFamily="2" charset="-122"/>
              </a:rPr>
              <a:t>Load </a:t>
            </a:r>
            <a:r>
              <a:rPr lang="en-US" altLang="zh-CN" sz="2400" dirty="0">
                <a:solidFill>
                  <a:srgbClr val="00B050"/>
                </a:solidFill>
                <a:ea typeface="宋体" panose="02010600030101010101" pitchFamily="2" charset="-122"/>
              </a:rPr>
              <a:t>stalls </a:t>
            </a:r>
            <a:r>
              <a:rPr lang="en-US" altLang="zh-CN" sz="2400" dirty="0">
                <a:ea typeface="宋体" panose="02010600030101010101" pitchFamily="2" charset="-122"/>
              </a:rPr>
              <a:t>(1 or 2 clock cycles</a:t>
            </a:r>
            <a:r>
              <a:rPr lang="en-US" altLang="zh-CN" sz="2400" dirty="0" smtClean="0">
                <a:ea typeface="宋体" panose="02010600030101010101" pitchFamily="2" charset="-122"/>
              </a:rPr>
              <a:t>); Branch </a:t>
            </a:r>
            <a:r>
              <a:rPr lang="en-US" altLang="zh-CN" sz="2400" dirty="0">
                <a:ea typeface="宋体" panose="02010600030101010101" pitchFamily="2" charset="-122"/>
              </a:rPr>
              <a:t>stalls (2 cycles + unfilled slots)</a:t>
            </a:r>
          </a:p>
          <a:p>
            <a:r>
              <a:rPr lang="en-US" altLang="zh-CN" sz="2400" dirty="0">
                <a:solidFill>
                  <a:srgbClr val="FFC000"/>
                </a:solidFill>
                <a:ea typeface="宋体" panose="02010600030101010101" pitchFamily="2" charset="-122"/>
              </a:rPr>
              <a:t>FP result stalls</a:t>
            </a:r>
            <a:r>
              <a:rPr lang="en-US" altLang="zh-CN" sz="2400" dirty="0">
                <a:ea typeface="宋体" panose="02010600030101010101" pitchFamily="2" charset="-122"/>
              </a:rPr>
              <a:t>: RAW data hazard (latency)</a:t>
            </a:r>
          </a:p>
          <a:p>
            <a:r>
              <a:rPr lang="en-US" altLang="zh-CN" sz="2400" dirty="0">
                <a:solidFill>
                  <a:srgbClr val="DC0081"/>
                </a:solidFill>
                <a:ea typeface="宋体" panose="02010600030101010101" pitchFamily="2" charset="-122"/>
              </a:rPr>
              <a:t>FP structural stalls</a:t>
            </a:r>
            <a:r>
              <a:rPr lang="en-US" altLang="zh-CN" sz="2400" dirty="0">
                <a:ea typeface="宋体" panose="02010600030101010101" pitchFamily="2" charset="-122"/>
              </a:rPr>
              <a:t>: </a:t>
            </a:r>
            <a:r>
              <a:rPr lang="en-US" altLang="zh-CN" sz="2400" dirty="0" smtClean="0">
                <a:ea typeface="宋体" panose="02010600030101010101" pitchFamily="2" charset="-122"/>
              </a:rPr>
              <a:t/>
            </a:r>
            <a:br>
              <a:rPr lang="en-US" altLang="zh-CN" sz="2400" dirty="0" smtClean="0">
                <a:ea typeface="宋体" panose="02010600030101010101" pitchFamily="2" charset="-122"/>
              </a:rPr>
            </a:br>
            <a:r>
              <a:rPr lang="en-US" altLang="zh-CN" sz="2400" dirty="0" smtClean="0">
                <a:ea typeface="宋体" panose="02010600030101010101" pitchFamily="2" charset="-122"/>
              </a:rPr>
              <a:t>Not </a:t>
            </a:r>
            <a:r>
              <a:rPr lang="en-US" altLang="zh-CN" sz="2400" dirty="0">
                <a:ea typeface="宋体" panose="02010600030101010101" pitchFamily="2" charset="-122"/>
              </a:rPr>
              <a:t>enough FP hardware </a:t>
            </a:r>
            <a:r>
              <a:rPr lang="en-US" altLang="zh-CN" sz="2400" dirty="0" smtClean="0">
                <a:ea typeface="宋体" panose="02010600030101010101" pitchFamily="2" charset="-122"/>
              </a:rPr>
              <a:t/>
            </a:r>
            <a:br>
              <a:rPr lang="en-US" altLang="zh-CN" sz="2400" dirty="0" smtClean="0">
                <a:ea typeface="宋体" panose="02010600030101010101" pitchFamily="2" charset="-122"/>
              </a:rPr>
            </a:br>
            <a:r>
              <a:rPr lang="en-US" altLang="zh-CN" sz="2400" dirty="0" smtClean="0">
                <a:ea typeface="宋体" panose="02010600030101010101" pitchFamily="2" charset="-122"/>
              </a:rPr>
              <a:t>(</a:t>
            </a:r>
            <a:r>
              <a:rPr lang="en-US" altLang="zh-CN" sz="2400" dirty="0">
                <a:ea typeface="宋体" panose="02010600030101010101" pitchFamily="2" charset="-122"/>
              </a:rPr>
              <a:t>parallelism</a:t>
            </a:r>
            <a:r>
              <a:rPr lang="en-US" altLang="zh-CN" sz="2400" dirty="0" smtClean="0">
                <a:ea typeface="宋体" panose="02010600030101010101" pitchFamily="2" charset="-122"/>
              </a:rPr>
              <a:t>)</a:t>
            </a:r>
          </a:p>
          <a:p>
            <a:r>
              <a:rPr lang="en-US" altLang="zh-CN" sz="2400" dirty="0" smtClean="0">
                <a:ea typeface="宋体" panose="02010600030101010101" pitchFamily="2" charset="-122"/>
              </a:rPr>
              <a:t>For integer programs, branch</a:t>
            </a:r>
            <a:br>
              <a:rPr lang="en-US" altLang="zh-CN" sz="2400" dirty="0" smtClean="0">
                <a:ea typeface="宋体" panose="02010600030101010101" pitchFamily="2" charset="-122"/>
              </a:rPr>
            </a:br>
            <a:r>
              <a:rPr lang="en-US" altLang="zh-CN" sz="2400" dirty="0" smtClean="0">
                <a:ea typeface="宋体" panose="02010600030101010101" pitchFamily="2" charset="-122"/>
              </a:rPr>
              <a:t>delay is major impact to CPI</a:t>
            </a:r>
          </a:p>
          <a:p>
            <a:r>
              <a:rPr lang="en-US" altLang="zh-CN" sz="2400" dirty="0" smtClean="0">
                <a:ea typeface="宋体" panose="02010600030101010101" pitchFamily="2" charset="-122"/>
              </a:rPr>
              <a:t>For FP programs, FP result</a:t>
            </a:r>
            <a:br>
              <a:rPr lang="en-US" altLang="zh-CN" sz="2400" dirty="0" smtClean="0">
                <a:ea typeface="宋体" panose="02010600030101010101" pitchFamily="2" charset="-122"/>
              </a:rPr>
            </a:br>
            <a:r>
              <a:rPr lang="en-US" altLang="zh-CN" sz="2400" dirty="0" smtClean="0">
                <a:ea typeface="宋体" panose="02010600030101010101" pitchFamily="2" charset="-122"/>
              </a:rPr>
              <a:t>stalls are the major</a:t>
            </a:r>
            <a:br>
              <a:rPr lang="en-US" altLang="zh-CN" sz="2400" dirty="0" smtClean="0">
                <a:ea typeface="宋体" panose="02010600030101010101" pitchFamily="2" charset="-122"/>
              </a:rPr>
            </a:br>
            <a:r>
              <a:rPr lang="en-US" altLang="zh-CN" sz="2400" dirty="0" smtClean="0">
                <a:ea typeface="宋体" panose="02010600030101010101" pitchFamily="2" charset="-122"/>
              </a:rPr>
              <a:t>contributor</a:t>
            </a:r>
          </a:p>
        </p:txBody>
      </p:sp>
      <p:graphicFrame>
        <p:nvGraphicFramePr>
          <p:cNvPr id="686084" name="Object 4"/>
          <p:cNvGraphicFramePr>
            <a:graphicFrameLocks/>
          </p:cNvGraphicFramePr>
          <p:nvPr>
            <p:extLst>
              <p:ext uri="{D42A27DB-BD31-4B8C-83A1-F6EECF244321}">
                <p14:modId xmlns:p14="http://schemas.microsoft.com/office/powerpoint/2010/main" val="1335170288"/>
              </p:ext>
            </p:extLst>
          </p:nvPr>
        </p:nvGraphicFramePr>
        <p:xfrm>
          <a:off x="4799856" y="2132856"/>
          <a:ext cx="7289800" cy="4813300"/>
        </p:xfrm>
        <a:graphic>
          <a:graphicData uri="http://schemas.openxmlformats.org/presentationml/2006/ole">
            <mc:AlternateContent xmlns:mc="http://schemas.openxmlformats.org/markup-compatibility/2006">
              <mc:Choice xmlns:v="urn:schemas-microsoft-com:vml" Requires="v">
                <p:oleObj spid="_x0000_s6165" name="Chart" r:id="rId4" imgW="7302500" imgH="4826000" progId="Excel.Chart.8">
                  <p:embed followColorScheme="full"/>
                </p:oleObj>
              </mc:Choice>
              <mc:Fallback>
                <p:oleObj name="Chart" r:id="rId4" imgW="7302500" imgH="4826000" progId="Excel.Chart.8">
                  <p:embed followColorScheme="full"/>
                  <p:pic>
                    <p:nvPicPr>
                      <p:cNvPr id="686084"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9856" y="2132856"/>
                        <a:ext cx="7289800" cy="4813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114660751"/>
      </p:ext>
    </p:extLst>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RISC V processor with a scoreboard</a:t>
            </a:r>
            <a:endParaRPr lang="zh-CN" altLang="en-US" dirty="0"/>
          </a:p>
        </p:txBody>
      </p:sp>
      <p:sp>
        <p:nvSpPr>
          <p:cNvPr id="3" name="内容占位符 2"/>
          <p:cNvSpPr>
            <a:spLocks noGrp="1"/>
          </p:cNvSpPr>
          <p:nvPr>
            <p:ph idx="1"/>
          </p:nvPr>
        </p:nvSpPr>
        <p:spPr>
          <a:xfrm>
            <a:off x="335360" y="1556792"/>
            <a:ext cx="6588170" cy="5112568"/>
          </a:xfrm>
        </p:spPr>
        <p:txBody>
          <a:bodyPr/>
          <a:lstStyle/>
          <a:p>
            <a:r>
              <a:rPr lang="en-US" altLang="zh-CN" dirty="0" smtClean="0"/>
              <a:t>The </a:t>
            </a:r>
            <a:r>
              <a:rPr lang="en-US" altLang="zh-CN" dirty="0"/>
              <a:t>scoreboard’s function is to control instruction execution (vertical control lines). All of the data flow between the register file and the functional units over the buses (the horizontal lines, called trunks in the CDC 6600). There are two FP multipliers, an FP divider, an FP adder, and an integer unit. One set of buses (two inputs and one output) serves a group of functional </a:t>
            </a:r>
            <a:r>
              <a:rPr lang="en-US" altLang="zh-CN" dirty="0" smtClean="0"/>
              <a:t>units</a:t>
            </a:r>
            <a:endParaRPr lang="zh-CN" altLang="en-US" dirty="0"/>
          </a:p>
        </p:txBody>
      </p:sp>
      <p:pic>
        <p:nvPicPr>
          <p:cNvPr id="4" name="图片 3"/>
          <p:cNvPicPr>
            <a:picLocks noChangeAspect="1"/>
          </p:cNvPicPr>
          <p:nvPr/>
        </p:nvPicPr>
        <p:blipFill>
          <a:blip r:embed="rId2"/>
          <a:stretch>
            <a:fillRect/>
          </a:stretch>
        </p:blipFill>
        <p:spPr>
          <a:xfrm>
            <a:off x="6923530" y="1556792"/>
            <a:ext cx="5268470" cy="5133381"/>
          </a:xfrm>
          <a:prstGeom prst="rect">
            <a:avLst/>
          </a:prstGeom>
        </p:spPr>
      </p:pic>
    </p:spTree>
    <p:extLst>
      <p:ext uri="{BB962C8B-B14F-4D97-AF65-F5344CB8AC3E}">
        <p14:creationId xmlns:p14="http://schemas.microsoft.com/office/powerpoint/2010/main" val="21327642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8674" name="Rectangle 2"/>
          <p:cNvSpPr>
            <a:spLocks noGrp="1" noChangeArrowheads="1"/>
          </p:cNvSpPr>
          <p:nvPr>
            <p:ph type="title"/>
          </p:nvPr>
        </p:nvSpPr>
        <p:spPr/>
        <p:txBody>
          <a:bodyPr/>
          <a:lstStyle/>
          <a:p>
            <a:r>
              <a:rPr lang="en-US" altLang="zh-CN" smtClean="0"/>
              <a:t>Scoreboard: a bookkeeping technique</a:t>
            </a:r>
            <a:endParaRPr lang="en-US" altLang="zh-CN"/>
          </a:p>
        </p:txBody>
      </p:sp>
      <p:sp>
        <p:nvSpPr>
          <p:cNvPr id="668675" name="Rectangle 3"/>
          <p:cNvSpPr>
            <a:spLocks noGrp="1" noChangeArrowheads="1"/>
          </p:cNvSpPr>
          <p:nvPr>
            <p:ph type="body" idx="1"/>
          </p:nvPr>
        </p:nvSpPr>
        <p:spPr/>
        <p:txBody>
          <a:bodyPr/>
          <a:lstStyle/>
          <a:p>
            <a:r>
              <a:rPr lang="en-US" altLang="zh-CN" dirty="0" smtClean="0"/>
              <a:t>Out-of-order execution divides ID stage:</a:t>
            </a:r>
          </a:p>
          <a:p>
            <a:pPr lvl="1"/>
            <a:r>
              <a:rPr lang="en-US" altLang="zh-CN" dirty="0" smtClean="0"/>
              <a:t>1. </a:t>
            </a:r>
            <a:r>
              <a:rPr lang="en-US" altLang="zh-CN" dirty="0" smtClean="0">
                <a:solidFill>
                  <a:srgbClr val="F9079D"/>
                </a:solidFill>
              </a:rPr>
              <a:t>Issue</a:t>
            </a:r>
            <a:r>
              <a:rPr lang="en-US" altLang="zh-CN" dirty="0" smtClean="0"/>
              <a:t> — decode instructions, check for structural hazards</a:t>
            </a:r>
          </a:p>
          <a:p>
            <a:pPr lvl="1"/>
            <a:r>
              <a:rPr lang="en-US" altLang="zh-CN" dirty="0" smtClean="0"/>
              <a:t>2. </a:t>
            </a:r>
            <a:r>
              <a:rPr lang="en-US" altLang="zh-CN" dirty="0" smtClean="0">
                <a:solidFill>
                  <a:srgbClr val="F9079D"/>
                </a:solidFill>
              </a:rPr>
              <a:t>Read operands </a:t>
            </a:r>
            <a:r>
              <a:rPr lang="en-US" altLang="zh-CN" dirty="0" smtClean="0"/>
              <a:t>— wait until no data hazards, then read operands</a:t>
            </a:r>
          </a:p>
          <a:p>
            <a:r>
              <a:rPr lang="en-US" altLang="zh-CN" dirty="0" smtClean="0"/>
              <a:t>Scoreboards date to CDC6600 in 1963</a:t>
            </a:r>
          </a:p>
          <a:p>
            <a:r>
              <a:rPr lang="en-US" altLang="zh-CN" dirty="0" smtClean="0"/>
              <a:t>Instructions execute whenever not dependent on previous instructions and no hazards. </a:t>
            </a:r>
          </a:p>
          <a:p>
            <a:r>
              <a:rPr lang="en-US" altLang="zh-CN" dirty="0" smtClean="0"/>
              <a:t>CDC 6600: In order issue, out-of-order execution, out-of-order commit (or completion)</a:t>
            </a:r>
          </a:p>
          <a:p>
            <a:pPr lvl="1"/>
            <a:r>
              <a:rPr lang="en-US" altLang="zh-CN" dirty="0" smtClean="0"/>
              <a:t>No forwarding!</a:t>
            </a:r>
          </a:p>
          <a:p>
            <a:pPr lvl="1"/>
            <a:r>
              <a:rPr lang="en-US" altLang="zh-CN" dirty="0" smtClean="0"/>
              <a:t>Imprecise interrupt/exception model for now</a:t>
            </a:r>
            <a:endParaRPr lang="en-US" altLang="zh-CN" dirty="0"/>
          </a:p>
        </p:txBody>
      </p:sp>
    </p:spTree>
    <p:extLst>
      <p:ext uri="{BB962C8B-B14F-4D97-AF65-F5344CB8AC3E}">
        <p14:creationId xmlns:p14="http://schemas.microsoft.com/office/powerpoint/2010/main" val="403024474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68675">
                                            <p:txEl>
                                              <p:pRg st="0" end="0"/>
                                            </p:txEl>
                                          </p:spTgt>
                                        </p:tgtEl>
                                        <p:attrNameLst>
                                          <p:attrName>style.visibility</p:attrName>
                                        </p:attrNameLst>
                                      </p:cBhvr>
                                      <p:to>
                                        <p:strVal val="visible"/>
                                      </p:to>
                                    </p:set>
                                    <p:anim calcmode="lin" valueType="num">
                                      <p:cBhvr additive="base">
                                        <p:cTn id="7" dur="500" fill="hold"/>
                                        <p:tgtEl>
                                          <p:spTgt spid="668675">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6867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68675">
                                            <p:txEl>
                                              <p:pRg st="1" end="1"/>
                                            </p:txEl>
                                          </p:spTgt>
                                        </p:tgtEl>
                                        <p:attrNameLst>
                                          <p:attrName>style.visibility</p:attrName>
                                        </p:attrNameLst>
                                      </p:cBhvr>
                                      <p:to>
                                        <p:strVal val="visible"/>
                                      </p:to>
                                    </p:set>
                                    <p:anim calcmode="lin" valueType="num">
                                      <p:cBhvr additive="base">
                                        <p:cTn id="11" dur="500" fill="hold"/>
                                        <p:tgtEl>
                                          <p:spTgt spid="668675">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68675">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68675">
                                            <p:txEl>
                                              <p:pRg st="2" end="2"/>
                                            </p:txEl>
                                          </p:spTgt>
                                        </p:tgtEl>
                                        <p:attrNameLst>
                                          <p:attrName>style.visibility</p:attrName>
                                        </p:attrNameLst>
                                      </p:cBhvr>
                                      <p:to>
                                        <p:strVal val="visible"/>
                                      </p:to>
                                    </p:set>
                                    <p:anim calcmode="lin" valueType="num">
                                      <p:cBhvr additive="base">
                                        <p:cTn id="15" dur="500" fill="hold"/>
                                        <p:tgtEl>
                                          <p:spTgt spid="668675">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6686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668675">
                                            <p:txEl>
                                              <p:pRg st="3" end="3"/>
                                            </p:txEl>
                                          </p:spTgt>
                                        </p:tgtEl>
                                        <p:attrNameLst>
                                          <p:attrName>style.visibility</p:attrName>
                                        </p:attrNameLst>
                                      </p:cBhvr>
                                      <p:to>
                                        <p:strVal val="visible"/>
                                      </p:to>
                                    </p:set>
                                    <p:anim calcmode="lin" valueType="num">
                                      <p:cBhvr additive="base">
                                        <p:cTn id="21" dur="500" fill="hold"/>
                                        <p:tgtEl>
                                          <p:spTgt spid="668675">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686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668675">
                                            <p:txEl>
                                              <p:pRg st="4" end="4"/>
                                            </p:txEl>
                                          </p:spTgt>
                                        </p:tgtEl>
                                        <p:attrNameLst>
                                          <p:attrName>style.visibility</p:attrName>
                                        </p:attrNameLst>
                                      </p:cBhvr>
                                      <p:to>
                                        <p:strVal val="visible"/>
                                      </p:to>
                                    </p:set>
                                    <p:anim calcmode="lin" valueType="num">
                                      <p:cBhvr additive="base">
                                        <p:cTn id="27" dur="500" fill="hold"/>
                                        <p:tgtEl>
                                          <p:spTgt spid="668675">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686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668675">
                                            <p:txEl>
                                              <p:pRg st="5" end="5"/>
                                            </p:txEl>
                                          </p:spTgt>
                                        </p:tgtEl>
                                        <p:attrNameLst>
                                          <p:attrName>style.visibility</p:attrName>
                                        </p:attrNameLst>
                                      </p:cBhvr>
                                      <p:to>
                                        <p:strVal val="visible"/>
                                      </p:to>
                                    </p:set>
                                    <p:anim calcmode="lin" valueType="num">
                                      <p:cBhvr additive="base">
                                        <p:cTn id="33" dur="500" fill="hold"/>
                                        <p:tgtEl>
                                          <p:spTgt spid="668675">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668675">
                                            <p:txEl>
                                              <p:pRg st="5" end="5"/>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668675">
                                            <p:txEl>
                                              <p:pRg st="6" end="6"/>
                                            </p:txEl>
                                          </p:spTgt>
                                        </p:tgtEl>
                                        <p:attrNameLst>
                                          <p:attrName>style.visibility</p:attrName>
                                        </p:attrNameLst>
                                      </p:cBhvr>
                                      <p:to>
                                        <p:strVal val="visible"/>
                                      </p:to>
                                    </p:set>
                                    <p:anim calcmode="lin" valueType="num">
                                      <p:cBhvr additive="base">
                                        <p:cTn id="37" dur="500" fill="hold"/>
                                        <p:tgtEl>
                                          <p:spTgt spid="668675">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68675">
                                            <p:txEl>
                                              <p:pRg st="6" end="6"/>
                                            </p:txEl>
                                          </p:spTgt>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668675">
                                            <p:txEl>
                                              <p:pRg st="7" end="7"/>
                                            </p:txEl>
                                          </p:spTgt>
                                        </p:tgtEl>
                                        <p:attrNameLst>
                                          <p:attrName>style.visibility</p:attrName>
                                        </p:attrNameLst>
                                      </p:cBhvr>
                                      <p:to>
                                        <p:strVal val="visible"/>
                                      </p:to>
                                    </p:set>
                                    <p:anim calcmode="lin" valueType="num">
                                      <p:cBhvr additive="base">
                                        <p:cTn id="41" dur="500" fill="hold"/>
                                        <p:tgtEl>
                                          <p:spTgt spid="668675">
                                            <p:txEl>
                                              <p:pRg st="7" end="7"/>
                                            </p:tx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668675">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8675" grpId="0" build="p"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Freeform 2"/>
          <p:cNvSpPr>
            <a:spLocks/>
          </p:cNvSpPr>
          <p:nvPr/>
        </p:nvSpPr>
        <p:spPr bwMode="auto">
          <a:xfrm>
            <a:off x="7924800" y="2429346"/>
            <a:ext cx="457200" cy="3810000"/>
          </a:xfrm>
          <a:custGeom>
            <a:avLst/>
            <a:gdLst>
              <a:gd name="T0" fmla="*/ 0 w 240"/>
              <a:gd name="T1" fmla="*/ 2400 h 2400"/>
              <a:gd name="T2" fmla="*/ 240 w 240"/>
              <a:gd name="T3" fmla="*/ 2400 h 2400"/>
              <a:gd name="T4" fmla="*/ 240 w 240"/>
              <a:gd name="T5" fmla="*/ 0 h 2400"/>
            </a:gdLst>
            <a:ahLst/>
            <a:cxnLst>
              <a:cxn ang="0">
                <a:pos x="T0" y="T1"/>
              </a:cxn>
              <a:cxn ang="0">
                <a:pos x="T2" y="T3"/>
              </a:cxn>
              <a:cxn ang="0">
                <a:pos x="T4" y="T5"/>
              </a:cxn>
            </a:cxnLst>
            <a:rect l="0" t="0" r="r" b="b"/>
            <a:pathLst>
              <a:path w="240" h="2400">
                <a:moveTo>
                  <a:pt x="0" y="2400"/>
                </a:moveTo>
                <a:lnTo>
                  <a:pt x="240" y="2400"/>
                </a:lnTo>
                <a:lnTo>
                  <a:pt x="240" y="0"/>
                </a:lnTo>
              </a:path>
            </a:pathLst>
          </a:custGeom>
          <a:noFill/>
          <a:ln w="7620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699" name="Rectangle 3"/>
          <p:cNvSpPr>
            <a:spLocks noGrp="1" noChangeArrowheads="1"/>
          </p:cNvSpPr>
          <p:nvPr>
            <p:ph type="title"/>
          </p:nvPr>
        </p:nvSpPr>
        <p:spPr>
          <a:xfrm>
            <a:off x="839416" y="228600"/>
            <a:ext cx="9577064" cy="1143000"/>
          </a:xfrm>
        </p:spPr>
        <p:txBody>
          <a:bodyPr/>
          <a:lstStyle/>
          <a:p>
            <a:r>
              <a:rPr lang="en-US" altLang="zh-CN" dirty="0">
                <a:ea typeface="宋体" panose="02010600030101010101" pitchFamily="2" charset="-122"/>
              </a:rPr>
              <a:t>Scoreboard </a:t>
            </a:r>
            <a:r>
              <a:rPr lang="en-US" altLang="zh-CN" dirty="0" smtClean="0">
                <a:ea typeface="宋体" panose="02010600030101010101" pitchFamily="2" charset="-122"/>
              </a:rPr>
              <a:t>Architecture (CDC </a:t>
            </a:r>
            <a:r>
              <a:rPr lang="en-US" altLang="zh-CN" dirty="0">
                <a:ea typeface="宋体" panose="02010600030101010101" pitchFamily="2" charset="-122"/>
              </a:rPr>
              <a:t>6600)</a:t>
            </a:r>
          </a:p>
        </p:txBody>
      </p:sp>
      <p:sp>
        <p:nvSpPr>
          <p:cNvPr id="669700" name="Text Box 4"/>
          <p:cNvSpPr txBox="1">
            <a:spLocks noChangeArrowheads="1"/>
          </p:cNvSpPr>
          <p:nvPr/>
        </p:nvSpPr>
        <p:spPr bwMode="auto">
          <a:xfrm rot="16200000">
            <a:off x="8481220" y="3320728"/>
            <a:ext cx="2930525" cy="5191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2800">
                <a:latin typeface="Comic Sans MS" panose="030F0702030302020204" pitchFamily="66" charset="0"/>
              </a:rPr>
              <a:t>Functional Units</a:t>
            </a:r>
          </a:p>
        </p:txBody>
      </p:sp>
      <p:sp>
        <p:nvSpPr>
          <p:cNvPr id="669701" name="Text Box 5"/>
          <p:cNvSpPr txBox="1">
            <a:spLocks noChangeArrowheads="1"/>
          </p:cNvSpPr>
          <p:nvPr/>
        </p:nvSpPr>
        <p:spPr bwMode="auto">
          <a:xfrm rot="16200000">
            <a:off x="1058863" y="3318347"/>
            <a:ext cx="1782763" cy="5191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2800">
                <a:latin typeface="Comic Sans MS" panose="030F0702030302020204" pitchFamily="66" charset="0"/>
              </a:rPr>
              <a:t>Registers</a:t>
            </a:r>
          </a:p>
        </p:txBody>
      </p:sp>
      <p:grpSp>
        <p:nvGrpSpPr>
          <p:cNvPr id="669702" name="Group 6"/>
          <p:cNvGrpSpPr>
            <a:grpSpLocks/>
          </p:cNvGrpSpPr>
          <p:nvPr/>
        </p:nvGrpSpPr>
        <p:grpSpPr bwMode="auto">
          <a:xfrm>
            <a:off x="2447925" y="1484784"/>
            <a:ext cx="7010400" cy="4191000"/>
            <a:chOff x="582" y="749"/>
            <a:chExt cx="4416" cy="2640"/>
          </a:xfrm>
        </p:grpSpPr>
        <p:grpSp>
          <p:nvGrpSpPr>
            <p:cNvPr id="669703" name="Group 7"/>
            <p:cNvGrpSpPr>
              <a:grpSpLocks/>
            </p:cNvGrpSpPr>
            <p:nvPr/>
          </p:nvGrpSpPr>
          <p:grpSpPr bwMode="auto">
            <a:xfrm>
              <a:off x="582" y="749"/>
              <a:ext cx="864" cy="660"/>
              <a:chOff x="768" y="816"/>
              <a:chExt cx="576" cy="256"/>
            </a:xfrm>
          </p:grpSpPr>
          <p:sp>
            <p:nvSpPr>
              <p:cNvPr id="669704" name="Rectangle 8"/>
              <p:cNvSpPr>
                <a:spLocks noChangeArrowheads="1"/>
              </p:cNvSpPr>
              <p:nvPr/>
            </p:nvSpPr>
            <p:spPr bwMode="auto">
              <a:xfrm>
                <a:off x="768" y="816"/>
                <a:ext cx="576"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669705" name="Rectangle 9"/>
              <p:cNvSpPr>
                <a:spLocks noChangeArrowheads="1"/>
              </p:cNvSpPr>
              <p:nvPr/>
            </p:nvSpPr>
            <p:spPr bwMode="auto">
              <a:xfrm>
                <a:off x="768" y="944"/>
                <a:ext cx="576"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grpSp>
        <p:grpSp>
          <p:nvGrpSpPr>
            <p:cNvPr id="669706" name="Group 10"/>
            <p:cNvGrpSpPr>
              <a:grpSpLocks/>
            </p:cNvGrpSpPr>
            <p:nvPr/>
          </p:nvGrpSpPr>
          <p:grpSpPr bwMode="auto">
            <a:xfrm>
              <a:off x="582" y="1409"/>
              <a:ext cx="864" cy="660"/>
              <a:chOff x="768" y="816"/>
              <a:chExt cx="576" cy="256"/>
            </a:xfrm>
          </p:grpSpPr>
          <p:sp>
            <p:nvSpPr>
              <p:cNvPr id="669707" name="Rectangle 11"/>
              <p:cNvSpPr>
                <a:spLocks noChangeArrowheads="1"/>
              </p:cNvSpPr>
              <p:nvPr/>
            </p:nvSpPr>
            <p:spPr bwMode="auto">
              <a:xfrm>
                <a:off x="768" y="816"/>
                <a:ext cx="576"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669708" name="Rectangle 12"/>
              <p:cNvSpPr>
                <a:spLocks noChangeArrowheads="1"/>
              </p:cNvSpPr>
              <p:nvPr/>
            </p:nvSpPr>
            <p:spPr bwMode="auto">
              <a:xfrm>
                <a:off x="768" y="944"/>
                <a:ext cx="576"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grpSp>
        <p:grpSp>
          <p:nvGrpSpPr>
            <p:cNvPr id="669709" name="Group 13"/>
            <p:cNvGrpSpPr>
              <a:grpSpLocks/>
            </p:cNvGrpSpPr>
            <p:nvPr/>
          </p:nvGrpSpPr>
          <p:grpSpPr bwMode="auto">
            <a:xfrm>
              <a:off x="582" y="2069"/>
              <a:ext cx="864" cy="660"/>
              <a:chOff x="768" y="816"/>
              <a:chExt cx="576" cy="256"/>
            </a:xfrm>
          </p:grpSpPr>
          <p:sp>
            <p:nvSpPr>
              <p:cNvPr id="669710" name="Rectangle 14"/>
              <p:cNvSpPr>
                <a:spLocks noChangeArrowheads="1"/>
              </p:cNvSpPr>
              <p:nvPr/>
            </p:nvSpPr>
            <p:spPr bwMode="auto">
              <a:xfrm>
                <a:off x="768" y="816"/>
                <a:ext cx="576"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669711" name="Rectangle 15"/>
              <p:cNvSpPr>
                <a:spLocks noChangeArrowheads="1"/>
              </p:cNvSpPr>
              <p:nvPr/>
            </p:nvSpPr>
            <p:spPr bwMode="auto">
              <a:xfrm>
                <a:off x="768" y="944"/>
                <a:ext cx="576"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grpSp>
        <p:grpSp>
          <p:nvGrpSpPr>
            <p:cNvPr id="669712" name="Group 16"/>
            <p:cNvGrpSpPr>
              <a:grpSpLocks/>
            </p:cNvGrpSpPr>
            <p:nvPr/>
          </p:nvGrpSpPr>
          <p:grpSpPr bwMode="auto">
            <a:xfrm>
              <a:off x="582" y="2729"/>
              <a:ext cx="864" cy="660"/>
              <a:chOff x="768" y="816"/>
              <a:chExt cx="576" cy="256"/>
            </a:xfrm>
          </p:grpSpPr>
          <p:sp>
            <p:nvSpPr>
              <p:cNvPr id="669713" name="Rectangle 17"/>
              <p:cNvSpPr>
                <a:spLocks noChangeArrowheads="1"/>
              </p:cNvSpPr>
              <p:nvPr/>
            </p:nvSpPr>
            <p:spPr bwMode="auto">
              <a:xfrm>
                <a:off x="768" y="816"/>
                <a:ext cx="576"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sp>
            <p:nvSpPr>
              <p:cNvPr id="669714" name="Rectangle 18"/>
              <p:cNvSpPr>
                <a:spLocks noChangeArrowheads="1"/>
              </p:cNvSpPr>
              <p:nvPr/>
            </p:nvSpPr>
            <p:spPr bwMode="auto">
              <a:xfrm>
                <a:off x="768" y="944"/>
                <a:ext cx="576" cy="128"/>
              </a:xfrm>
              <a:prstGeom prst="rect">
                <a:avLst/>
              </a:prstGeom>
              <a:solidFill>
                <a:schemeClr val="bg1"/>
              </a:solidFill>
              <a:ln w="28575">
                <a:solidFill>
                  <a:schemeClr val="tx1"/>
                </a:solidFill>
                <a:miter lim="800000"/>
                <a:headEnd/>
                <a:tailEnd/>
              </a:ln>
              <a:effectLst>
                <a:outerShdw dist="107763" dir="2700000" algn="ctr" rotWithShape="0">
                  <a:schemeClr val="bg2"/>
                </a:outerShdw>
              </a:effectLst>
            </p:spPr>
            <p:txBody>
              <a:bodyPr wrap="none" anchor="ctr"/>
              <a:lstStyle/>
              <a:p>
                <a:endParaRPr lang="zh-CN" altLang="en-US"/>
              </a:p>
            </p:txBody>
          </p:sp>
        </p:grpSp>
        <p:sp>
          <p:nvSpPr>
            <p:cNvPr id="669715" name="Rectangle 19"/>
            <p:cNvSpPr>
              <a:spLocks noChangeArrowheads="1"/>
            </p:cNvSpPr>
            <p:nvPr/>
          </p:nvSpPr>
          <p:spPr bwMode="auto">
            <a:xfrm>
              <a:off x="3906" y="893"/>
              <a:ext cx="816" cy="216"/>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pPr algn="ctr">
                <a:spcBef>
                  <a:spcPct val="0"/>
                </a:spcBef>
              </a:pPr>
              <a:r>
                <a:rPr lang="en-US" altLang="zh-CN">
                  <a:latin typeface="Comic Sans MS" panose="030F0702030302020204" pitchFamily="66" charset="0"/>
                </a:rPr>
                <a:t>FP Mult</a:t>
              </a:r>
            </a:p>
          </p:txBody>
        </p:sp>
        <p:sp>
          <p:nvSpPr>
            <p:cNvPr id="669716" name="Rectangle 20"/>
            <p:cNvSpPr>
              <a:spLocks noChangeArrowheads="1"/>
            </p:cNvSpPr>
            <p:nvPr/>
          </p:nvSpPr>
          <p:spPr bwMode="auto">
            <a:xfrm>
              <a:off x="3906" y="1109"/>
              <a:ext cx="816" cy="216"/>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pPr algn="ctr">
                <a:spcBef>
                  <a:spcPct val="0"/>
                </a:spcBef>
              </a:pPr>
              <a:r>
                <a:rPr lang="en-US" altLang="zh-CN">
                  <a:latin typeface="Comic Sans MS" panose="030F0702030302020204" pitchFamily="66" charset="0"/>
                </a:rPr>
                <a:t>FP Mult</a:t>
              </a:r>
            </a:p>
          </p:txBody>
        </p:sp>
        <p:sp>
          <p:nvSpPr>
            <p:cNvPr id="669717" name="Rectangle 21"/>
            <p:cNvSpPr>
              <a:spLocks noChangeArrowheads="1"/>
            </p:cNvSpPr>
            <p:nvPr/>
          </p:nvSpPr>
          <p:spPr bwMode="auto">
            <a:xfrm>
              <a:off x="3906" y="1709"/>
              <a:ext cx="816" cy="216"/>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pPr algn="ctr">
                <a:spcBef>
                  <a:spcPct val="0"/>
                </a:spcBef>
              </a:pPr>
              <a:r>
                <a:rPr lang="en-US" altLang="zh-CN">
                  <a:latin typeface="Comic Sans MS" panose="030F0702030302020204" pitchFamily="66" charset="0"/>
                </a:rPr>
                <a:t>FP Divide</a:t>
              </a:r>
            </a:p>
          </p:txBody>
        </p:sp>
        <p:sp>
          <p:nvSpPr>
            <p:cNvPr id="669718" name="Rectangle 22"/>
            <p:cNvSpPr>
              <a:spLocks noChangeArrowheads="1"/>
            </p:cNvSpPr>
            <p:nvPr/>
          </p:nvSpPr>
          <p:spPr bwMode="auto">
            <a:xfrm>
              <a:off x="3906" y="2237"/>
              <a:ext cx="816" cy="216"/>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pPr algn="ctr">
                <a:spcBef>
                  <a:spcPct val="0"/>
                </a:spcBef>
              </a:pPr>
              <a:r>
                <a:rPr lang="en-US" altLang="zh-CN">
                  <a:latin typeface="Comic Sans MS" panose="030F0702030302020204" pitchFamily="66" charset="0"/>
                </a:rPr>
                <a:t>FP Add</a:t>
              </a:r>
            </a:p>
          </p:txBody>
        </p:sp>
        <p:sp>
          <p:nvSpPr>
            <p:cNvPr id="669719" name="Rectangle 23"/>
            <p:cNvSpPr>
              <a:spLocks noChangeArrowheads="1"/>
            </p:cNvSpPr>
            <p:nvPr/>
          </p:nvSpPr>
          <p:spPr bwMode="auto">
            <a:xfrm>
              <a:off x="3906" y="2861"/>
              <a:ext cx="816" cy="216"/>
            </a:xfrm>
            <a:prstGeom prst="rect">
              <a:avLst/>
            </a:prstGeom>
            <a:solidFill>
              <a:schemeClr val="accent1"/>
            </a:solidFill>
            <a:ln w="28575">
              <a:solidFill>
                <a:schemeClr val="tx1"/>
              </a:solidFill>
              <a:miter lim="800000"/>
              <a:headEnd/>
              <a:tailEnd/>
            </a:ln>
            <a:effectLst>
              <a:outerShdw dist="107763" dir="2700000" algn="ctr" rotWithShape="0">
                <a:schemeClr val="bg2"/>
              </a:outerShdw>
            </a:effectLst>
          </p:spPr>
          <p:txBody>
            <a:bodyPr wrap="none" anchor="ctr"/>
            <a:lstStyle/>
            <a:p>
              <a:pPr algn="ctr">
                <a:spcBef>
                  <a:spcPct val="0"/>
                </a:spcBef>
              </a:pPr>
              <a:r>
                <a:rPr lang="en-US" altLang="zh-CN">
                  <a:latin typeface="Comic Sans MS" panose="030F0702030302020204" pitchFamily="66" charset="0"/>
                </a:rPr>
                <a:t>Integer</a:t>
              </a:r>
            </a:p>
          </p:txBody>
        </p:sp>
        <p:sp>
          <p:nvSpPr>
            <p:cNvPr id="669720" name="Line 24"/>
            <p:cNvSpPr>
              <a:spLocks noChangeShapeType="1"/>
            </p:cNvSpPr>
            <p:nvPr/>
          </p:nvSpPr>
          <p:spPr bwMode="auto">
            <a:xfrm>
              <a:off x="1514" y="931"/>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21" name="Line 25"/>
            <p:cNvSpPr>
              <a:spLocks noChangeShapeType="1"/>
            </p:cNvSpPr>
            <p:nvPr/>
          </p:nvSpPr>
          <p:spPr bwMode="auto">
            <a:xfrm>
              <a:off x="1514" y="1037"/>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22" name="Line 26"/>
            <p:cNvSpPr>
              <a:spLocks noChangeShapeType="1"/>
            </p:cNvSpPr>
            <p:nvPr/>
          </p:nvSpPr>
          <p:spPr bwMode="auto">
            <a:xfrm>
              <a:off x="1514" y="1757"/>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23" name="Line 27"/>
            <p:cNvSpPr>
              <a:spLocks noChangeShapeType="1"/>
            </p:cNvSpPr>
            <p:nvPr/>
          </p:nvSpPr>
          <p:spPr bwMode="auto">
            <a:xfrm>
              <a:off x="1514" y="1863"/>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24" name="Line 28"/>
            <p:cNvSpPr>
              <a:spLocks noChangeShapeType="1"/>
            </p:cNvSpPr>
            <p:nvPr/>
          </p:nvSpPr>
          <p:spPr bwMode="auto">
            <a:xfrm>
              <a:off x="1515" y="2295"/>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25" name="Line 29"/>
            <p:cNvSpPr>
              <a:spLocks noChangeShapeType="1"/>
            </p:cNvSpPr>
            <p:nvPr/>
          </p:nvSpPr>
          <p:spPr bwMode="auto">
            <a:xfrm>
              <a:off x="1515" y="2401"/>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26" name="Line 30"/>
            <p:cNvSpPr>
              <a:spLocks noChangeShapeType="1"/>
            </p:cNvSpPr>
            <p:nvPr/>
          </p:nvSpPr>
          <p:spPr bwMode="auto">
            <a:xfrm>
              <a:off x="1514" y="2895"/>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27" name="Line 31"/>
            <p:cNvSpPr>
              <a:spLocks noChangeShapeType="1"/>
            </p:cNvSpPr>
            <p:nvPr/>
          </p:nvSpPr>
          <p:spPr bwMode="auto">
            <a:xfrm>
              <a:off x="1514" y="3001"/>
              <a:ext cx="2400" cy="1"/>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28" name="Freeform 32"/>
            <p:cNvSpPr>
              <a:spLocks/>
            </p:cNvSpPr>
            <p:nvPr/>
          </p:nvSpPr>
          <p:spPr bwMode="auto">
            <a:xfrm>
              <a:off x="3654" y="941"/>
              <a:ext cx="240" cy="223"/>
            </a:xfrm>
            <a:custGeom>
              <a:avLst/>
              <a:gdLst>
                <a:gd name="T0" fmla="*/ 0 w 240"/>
                <a:gd name="T1" fmla="*/ 0 h 240"/>
                <a:gd name="T2" fmla="*/ 0 w 240"/>
                <a:gd name="T3" fmla="*/ 240 h 240"/>
                <a:gd name="T4" fmla="*/ 240 w 240"/>
                <a:gd name="T5" fmla="*/ 240 h 240"/>
              </a:gdLst>
              <a:ahLst/>
              <a:cxnLst>
                <a:cxn ang="0">
                  <a:pos x="T0" y="T1"/>
                </a:cxn>
                <a:cxn ang="0">
                  <a:pos x="T2" y="T3"/>
                </a:cxn>
                <a:cxn ang="0">
                  <a:pos x="T4" y="T5"/>
                </a:cxn>
              </a:cxnLst>
              <a:rect l="0" t="0" r="r" b="b"/>
              <a:pathLst>
                <a:path w="240" h="240">
                  <a:moveTo>
                    <a:pt x="0" y="0"/>
                  </a:moveTo>
                  <a:lnTo>
                    <a:pt x="0" y="240"/>
                  </a:lnTo>
                  <a:lnTo>
                    <a:pt x="240" y="240"/>
                  </a:lnTo>
                </a:path>
              </a:pathLst>
            </a:custGeom>
            <a:noFill/>
            <a:ln w="571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29" name="Freeform 33"/>
            <p:cNvSpPr>
              <a:spLocks/>
            </p:cNvSpPr>
            <p:nvPr/>
          </p:nvSpPr>
          <p:spPr bwMode="auto">
            <a:xfrm>
              <a:off x="3572" y="1054"/>
              <a:ext cx="322" cy="203"/>
            </a:xfrm>
            <a:custGeom>
              <a:avLst/>
              <a:gdLst>
                <a:gd name="T0" fmla="*/ 0 w 240"/>
                <a:gd name="T1" fmla="*/ 0 h 240"/>
                <a:gd name="T2" fmla="*/ 0 w 240"/>
                <a:gd name="T3" fmla="*/ 240 h 240"/>
                <a:gd name="T4" fmla="*/ 240 w 240"/>
                <a:gd name="T5" fmla="*/ 240 h 240"/>
              </a:gdLst>
              <a:ahLst/>
              <a:cxnLst>
                <a:cxn ang="0">
                  <a:pos x="T0" y="T1"/>
                </a:cxn>
                <a:cxn ang="0">
                  <a:pos x="T2" y="T3"/>
                </a:cxn>
                <a:cxn ang="0">
                  <a:pos x="T4" y="T5"/>
                </a:cxn>
              </a:cxnLst>
              <a:rect l="0" t="0" r="r" b="b"/>
              <a:pathLst>
                <a:path w="240" h="240">
                  <a:moveTo>
                    <a:pt x="0" y="0"/>
                  </a:moveTo>
                  <a:lnTo>
                    <a:pt x="0" y="240"/>
                  </a:lnTo>
                  <a:lnTo>
                    <a:pt x="240" y="240"/>
                  </a:lnTo>
                </a:path>
              </a:pathLst>
            </a:custGeom>
            <a:noFill/>
            <a:ln w="57150"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30" name="Freeform 34"/>
            <p:cNvSpPr>
              <a:spLocks/>
            </p:cNvSpPr>
            <p:nvPr/>
          </p:nvSpPr>
          <p:spPr bwMode="auto">
            <a:xfrm>
              <a:off x="1494" y="1181"/>
              <a:ext cx="3504" cy="240"/>
            </a:xfrm>
            <a:custGeom>
              <a:avLst/>
              <a:gdLst>
                <a:gd name="T0" fmla="*/ 3216 w 3504"/>
                <a:gd name="T1" fmla="*/ 0 h 240"/>
                <a:gd name="T2" fmla="*/ 3504 w 3504"/>
                <a:gd name="T3" fmla="*/ 0 h 240"/>
                <a:gd name="T4" fmla="*/ 3504 w 3504"/>
                <a:gd name="T5" fmla="*/ 240 h 240"/>
                <a:gd name="T6" fmla="*/ 0 w 3504"/>
                <a:gd name="T7" fmla="*/ 240 h 240"/>
              </a:gdLst>
              <a:ahLst/>
              <a:cxnLst>
                <a:cxn ang="0">
                  <a:pos x="T0" y="T1"/>
                </a:cxn>
                <a:cxn ang="0">
                  <a:pos x="T2" y="T3"/>
                </a:cxn>
                <a:cxn ang="0">
                  <a:pos x="T4" y="T5"/>
                </a:cxn>
                <a:cxn ang="0">
                  <a:pos x="T6" y="T7"/>
                </a:cxn>
              </a:cxnLst>
              <a:rect l="0" t="0" r="r" b="b"/>
              <a:pathLst>
                <a:path w="3504" h="240">
                  <a:moveTo>
                    <a:pt x="3216" y="0"/>
                  </a:moveTo>
                  <a:lnTo>
                    <a:pt x="3504" y="0"/>
                  </a:lnTo>
                  <a:lnTo>
                    <a:pt x="3504" y="240"/>
                  </a:lnTo>
                  <a:lnTo>
                    <a:pt x="0" y="240"/>
                  </a:lnTo>
                </a:path>
              </a:pathLst>
            </a:custGeom>
            <a:noFill/>
            <a:ln w="5715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31" name="Freeform 35"/>
            <p:cNvSpPr>
              <a:spLocks/>
            </p:cNvSpPr>
            <p:nvPr/>
          </p:nvSpPr>
          <p:spPr bwMode="auto">
            <a:xfrm>
              <a:off x="1494" y="1805"/>
              <a:ext cx="3504" cy="240"/>
            </a:xfrm>
            <a:custGeom>
              <a:avLst/>
              <a:gdLst>
                <a:gd name="T0" fmla="*/ 3216 w 3504"/>
                <a:gd name="T1" fmla="*/ 0 h 240"/>
                <a:gd name="T2" fmla="*/ 3504 w 3504"/>
                <a:gd name="T3" fmla="*/ 0 h 240"/>
                <a:gd name="T4" fmla="*/ 3504 w 3504"/>
                <a:gd name="T5" fmla="*/ 240 h 240"/>
                <a:gd name="T6" fmla="*/ 0 w 3504"/>
                <a:gd name="T7" fmla="*/ 240 h 240"/>
              </a:gdLst>
              <a:ahLst/>
              <a:cxnLst>
                <a:cxn ang="0">
                  <a:pos x="T0" y="T1"/>
                </a:cxn>
                <a:cxn ang="0">
                  <a:pos x="T2" y="T3"/>
                </a:cxn>
                <a:cxn ang="0">
                  <a:pos x="T4" y="T5"/>
                </a:cxn>
                <a:cxn ang="0">
                  <a:pos x="T6" y="T7"/>
                </a:cxn>
              </a:cxnLst>
              <a:rect l="0" t="0" r="r" b="b"/>
              <a:pathLst>
                <a:path w="3504" h="240">
                  <a:moveTo>
                    <a:pt x="3216" y="0"/>
                  </a:moveTo>
                  <a:lnTo>
                    <a:pt x="3504" y="0"/>
                  </a:lnTo>
                  <a:lnTo>
                    <a:pt x="3504" y="240"/>
                  </a:lnTo>
                  <a:lnTo>
                    <a:pt x="0" y="240"/>
                  </a:lnTo>
                </a:path>
              </a:pathLst>
            </a:custGeom>
            <a:noFill/>
            <a:ln w="5715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32" name="Freeform 36"/>
            <p:cNvSpPr>
              <a:spLocks/>
            </p:cNvSpPr>
            <p:nvPr/>
          </p:nvSpPr>
          <p:spPr bwMode="auto">
            <a:xfrm>
              <a:off x="1494" y="2957"/>
              <a:ext cx="3504" cy="240"/>
            </a:xfrm>
            <a:custGeom>
              <a:avLst/>
              <a:gdLst>
                <a:gd name="T0" fmla="*/ 3216 w 3504"/>
                <a:gd name="T1" fmla="*/ 0 h 240"/>
                <a:gd name="T2" fmla="*/ 3504 w 3504"/>
                <a:gd name="T3" fmla="*/ 0 h 240"/>
                <a:gd name="T4" fmla="*/ 3504 w 3504"/>
                <a:gd name="T5" fmla="*/ 240 h 240"/>
                <a:gd name="T6" fmla="*/ 0 w 3504"/>
                <a:gd name="T7" fmla="*/ 240 h 240"/>
              </a:gdLst>
              <a:ahLst/>
              <a:cxnLst>
                <a:cxn ang="0">
                  <a:pos x="T0" y="T1"/>
                </a:cxn>
                <a:cxn ang="0">
                  <a:pos x="T2" y="T3"/>
                </a:cxn>
                <a:cxn ang="0">
                  <a:pos x="T4" y="T5"/>
                </a:cxn>
                <a:cxn ang="0">
                  <a:pos x="T6" y="T7"/>
                </a:cxn>
              </a:cxnLst>
              <a:rect l="0" t="0" r="r" b="b"/>
              <a:pathLst>
                <a:path w="3504" h="240">
                  <a:moveTo>
                    <a:pt x="3216" y="0"/>
                  </a:moveTo>
                  <a:lnTo>
                    <a:pt x="3504" y="0"/>
                  </a:lnTo>
                  <a:lnTo>
                    <a:pt x="3504" y="240"/>
                  </a:lnTo>
                  <a:lnTo>
                    <a:pt x="0" y="240"/>
                  </a:lnTo>
                </a:path>
              </a:pathLst>
            </a:custGeom>
            <a:noFill/>
            <a:ln w="5715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33" name="Freeform 37"/>
            <p:cNvSpPr>
              <a:spLocks/>
            </p:cNvSpPr>
            <p:nvPr/>
          </p:nvSpPr>
          <p:spPr bwMode="auto">
            <a:xfrm>
              <a:off x="1494" y="2333"/>
              <a:ext cx="3504" cy="240"/>
            </a:xfrm>
            <a:custGeom>
              <a:avLst/>
              <a:gdLst>
                <a:gd name="T0" fmla="*/ 3216 w 3504"/>
                <a:gd name="T1" fmla="*/ 0 h 240"/>
                <a:gd name="T2" fmla="*/ 3504 w 3504"/>
                <a:gd name="T3" fmla="*/ 0 h 240"/>
                <a:gd name="T4" fmla="*/ 3504 w 3504"/>
                <a:gd name="T5" fmla="*/ 240 h 240"/>
                <a:gd name="T6" fmla="*/ 0 w 3504"/>
                <a:gd name="T7" fmla="*/ 240 h 240"/>
              </a:gdLst>
              <a:ahLst/>
              <a:cxnLst>
                <a:cxn ang="0">
                  <a:pos x="T0" y="T1"/>
                </a:cxn>
                <a:cxn ang="0">
                  <a:pos x="T2" y="T3"/>
                </a:cxn>
                <a:cxn ang="0">
                  <a:pos x="T4" y="T5"/>
                </a:cxn>
                <a:cxn ang="0">
                  <a:pos x="T6" y="T7"/>
                </a:cxn>
              </a:cxnLst>
              <a:rect l="0" t="0" r="r" b="b"/>
              <a:pathLst>
                <a:path w="3504" h="240">
                  <a:moveTo>
                    <a:pt x="3216" y="0"/>
                  </a:moveTo>
                  <a:lnTo>
                    <a:pt x="3504" y="0"/>
                  </a:lnTo>
                  <a:lnTo>
                    <a:pt x="3504" y="240"/>
                  </a:lnTo>
                  <a:lnTo>
                    <a:pt x="0" y="240"/>
                  </a:lnTo>
                </a:path>
              </a:pathLst>
            </a:custGeom>
            <a:noFill/>
            <a:ln w="5715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34" name="Freeform 38"/>
            <p:cNvSpPr>
              <a:spLocks/>
            </p:cNvSpPr>
            <p:nvPr/>
          </p:nvSpPr>
          <p:spPr bwMode="auto">
            <a:xfrm>
              <a:off x="4710" y="989"/>
              <a:ext cx="288" cy="192"/>
            </a:xfrm>
            <a:custGeom>
              <a:avLst/>
              <a:gdLst>
                <a:gd name="T0" fmla="*/ 0 w 288"/>
                <a:gd name="T1" fmla="*/ 0 h 192"/>
                <a:gd name="T2" fmla="*/ 288 w 288"/>
                <a:gd name="T3" fmla="*/ 0 h 192"/>
                <a:gd name="T4" fmla="*/ 288 w 288"/>
                <a:gd name="T5" fmla="*/ 192 h 192"/>
              </a:gdLst>
              <a:ahLst/>
              <a:cxnLst>
                <a:cxn ang="0">
                  <a:pos x="T0" y="T1"/>
                </a:cxn>
                <a:cxn ang="0">
                  <a:pos x="T2" y="T3"/>
                </a:cxn>
                <a:cxn ang="0">
                  <a:pos x="T4" y="T5"/>
                </a:cxn>
              </a:cxnLst>
              <a:rect l="0" t="0" r="r" b="b"/>
              <a:pathLst>
                <a:path w="288" h="192">
                  <a:moveTo>
                    <a:pt x="0" y="0"/>
                  </a:moveTo>
                  <a:lnTo>
                    <a:pt x="288" y="0"/>
                  </a:lnTo>
                  <a:lnTo>
                    <a:pt x="288" y="192"/>
                  </a:lnTo>
                </a:path>
              </a:pathLst>
            </a:custGeom>
            <a:noFill/>
            <a:ln w="57150" cap="flat" cmpd="sng">
              <a:solidFill>
                <a:schemeClr val="hlink"/>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9735" name="Line 39"/>
          <p:cNvSpPr>
            <a:spLocks noChangeShapeType="1"/>
          </p:cNvSpPr>
          <p:nvPr/>
        </p:nvSpPr>
        <p:spPr bwMode="auto">
          <a:xfrm>
            <a:off x="8924926" y="5218584"/>
            <a:ext cx="600075" cy="639762"/>
          </a:xfrm>
          <a:prstGeom prst="line">
            <a:avLst/>
          </a:prstGeom>
          <a:noFill/>
          <a:ln w="5715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9736" name="Text Box 40"/>
          <p:cNvSpPr txBox="1">
            <a:spLocks noChangeArrowheads="1"/>
          </p:cNvSpPr>
          <p:nvPr/>
        </p:nvSpPr>
        <p:spPr bwMode="auto">
          <a:xfrm>
            <a:off x="8991601" y="5934547"/>
            <a:ext cx="1141413"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2000">
                <a:latin typeface="Comic Sans MS" panose="030F0702030302020204" pitchFamily="66" charset="0"/>
              </a:rPr>
              <a:t>Memory</a:t>
            </a:r>
          </a:p>
        </p:txBody>
      </p:sp>
      <p:sp>
        <p:nvSpPr>
          <p:cNvPr id="669737" name="Rectangle 41"/>
          <p:cNvSpPr>
            <a:spLocks noChangeArrowheads="1"/>
          </p:cNvSpPr>
          <p:nvPr/>
        </p:nvSpPr>
        <p:spPr bwMode="auto">
          <a:xfrm>
            <a:off x="4419600" y="5705946"/>
            <a:ext cx="3505200" cy="1066800"/>
          </a:xfrm>
          <a:prstGeom prst="rect">
            <a:avLst/>
          </a:prstGeom>
          <a:solidFill>
            <a:schemeClr val="accent2"/>
          </a:solidFill>
          <a:ln w="28575">
            <a:solidFill>
              <a:schemeClr val="tx1"/>
            </a:solidFill>
            <a:miter lim="800000"/>
            <a:headEnd/>
            <a:tailEnd/>
          </a:ln>
          <a:effectLst>
            <a:outerShdw dist="107763" dir="2700000" algn="ctr" rotWithShape="0">
              <a:schemeClr val="bg2"/>
            </a:outerShdw>
          </a:effectLst>
        </p:spPr>
        <p:txBody>
          <a:bodyPr wrap="none" anchor="ctr"/>
          <a:lstStyle/>
          <a:p>
            <a:pPr algn="ctr">
              <a:spcBef>
                <a:spcPct val="0"/>
              </a:spcBef>
            </a:pPr>
            <a:r>
              <a:rPr lang="en-US" altLang="zh-CN" sz="2400">
                <a:latin typeface="Comic Sans MS" panose="030F0702030302020204" pitchFamily="66" charset="0"/>
              </a:rPr>
              <a:t>SCOREBOARD</a:t>
            </a:r>
          </a:p>
        </p:txBody>
      </p:sp>
      <p:sp>
        <p:nvSpPr>
          <p:cNvPr id="669738" name="Freeform 42"/>
          <p:cNvSpPr>
            <a:spLocks/>
          </p:cNvSpPr>
          <p:nvPr/>
        </p:nvSpPr>
        <p:spPr bwMode="auto">
          <a:xfrm>
            <a:off x="3200400" y="5705946"/>
            <a:ext cx="1219200" cy="533400"/>
          </a:xfrm>
          <a:custGeom>
            <a:avLst/>
            <a:gdLst>
              <a:gd name="T0" fmla="*/ 816 w 816"/>
              <a:gd name="T1" fmla="*/ 336 h 336"/>
              <a:gd name="T2" fmla="*/ 0 w 816"/>
              <a:gd name="T3" fmla="*/ 336 h 336"/>
              <a:gd name="T4" fmla="*/ 0 w 816"/>
              <a:gd name="T5" fmla="*/ 0 h 336"/>
            </a:gdLst>
            <a:ahLst/>
            <a:cxnLst>
              <a:cxn ang="0">
                <a:pos x="T0" y="T1"/>
              </a:cxn>
              <a:cxn ang="0">
                <a:pos x="T2" y="T3"/>
              </a:cxn>
              <a:cxn ang="0">
                <a:pos x="T4" y="T5"/>
              </a:cxn>
            </a:cxnLst>
            <a:rect l="0" t="0" r="r" b="b"/>
            <a:pathLst>
              <a:path w="816" h="336">
                <a:moveTo>
                  <a:pt x="816" y="336"/>
                </a:moveTo>
                <a:lnTo>
                  <a:pt x="0" y="336"/>
                </a:lnTo>
                <a:lnTo>
                  <a:pt x="0" y="0"/>
                </a:lnTo>
              </a:path>
            </a:pathLst>
          </a:custGeom>
          <a:noFill/>
          <a:ln w="76200" cap="flat" cmpd="sng">
            <a:solidFill>
              <a:schemeClr val="accent2"/>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51522043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a:xfrm>
            <a:off x="1271464" y="292100"/>
            <a:ext cx="8977436" cy="11430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Four Stages of Scoreboard Control</a:t>
            </a:r>
          </a:p>
        </p:txBody>
      </p:sp>
      <p:sp>
        <p:nvSpPr>
          <p:cNvPr id="670723" name="Rectangle 3"/>
          <p:cNvSpPr>
            <a:spLocks noGrp="1" noChangeArrowheads="1"/>
          </p:cNvSpPr>
          <p:nvPr>
            <p:ph type="body" idx="1"/>
          </p:nvPr>
        </p:nvSpPr>
        <p:spPr>
          <a:xfrm>
            <a:off x="1271464" y="1752600"/>
            <a:ext cx="9361040" cy="38227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t" anchorCtr="0" compatLnSpc="1">
            <a:prstTxWarp prst="textNoShape">
              <a:avLst/>
            </a:prstTxWarp>
          </a:bodyPr>
          <a:lstStyle/>
          <a:p>
            <a:r>
              <a:rPr lang="en-US" altLang="zh-CN" dirty="0" smtClean="0">
                <a:solidFill>
                  <a:srgbClr val="F9079D"/>
                </a:solidFill>
                <a:latin typeface="Helvetica" panose="020B0604020202020204" pitchFamily="34" charset="0"/>
                <a:ea typeface="宋体" panose="02010600030101010101" pitchFamily="2" charset="-122"/>
              </a:rPr>
              <a:t>Issue </a:t>
            </a:r>
            <a:r>
              <a:rPr lang="en-US" altLang="zh-CN" dirty="0" smtClean="0">
                <a:ea typeface="宋体" panose="02010600030101010101" pitchFamily="2" charset="-122"/>
              </a:rPr>
              <a:t>—</a:t>
            </a:r>
            <a:r>
              <a:rPr lang="en-US" altLang="zh-CN" dirty="0">
                <a:ea typeface="宋体" panose="02010600030101010101" pitchFamily="2" charset="-122"/>
              </a:rPr>
              <a:t>decode instructions &amp; check for structural hazards (ID1)</a:t>
            </a:r>
          </a:p>
          <a:p>
            <a:pPr lvl="1"/>
            <a:r>
              <a:rPr lang="en-US" altLang="zh-CN" dirty="0">
                <a:ea typeface="宋体" panose="02010600030101010101" pitchFamily="2" charset="-122"/>
              </a:rPr>
              <a:t>Instructions issued in program order (for hazard checking)</a:t>
            </a:r>
          </a:p>
          <a:p>
            <a:pPr lvl="1"/>
            <a:r>
              <a:rPr lang="en-US" altLang="zh-CN" dirty="0">
                <a:ea typeface="宋体" panose="02010600030101010101" pitchFamily="2" charset="-122"/>
              </a:rPr>
              <a:t>Don’t issue if </a:t>
            </a:r>
            <a:r>
              <a:rPr lang="en-US" altLang="zh-CN" dirty="0">
                <a:solidFill>
                  <a:srgbClr val="F9079D"/>
                </a:solidFill>
                <a:ea typeface="宋体" panose="02010600030101010101" pitchFamily="2" charset="-122"/>
              </a:rPr>
              <a:t>structural hazard</a:t>
            </a:r>
          </a:p>
          <a:p>
            <a:pPr lvl="1"/>
            <a:r>
              <a:rPr lang="en-US" altLang="zh-CN" dirty="0">
                <a:ea typeface="宋体" panose="02010600030101010101" pitchFamily="2" charset="-122"/>
              </a:rPr>
              <a:t>Don’t issue if instruction is </a:t>
            </a:r>
            <a:r>
              <a:rPr lang="en-US" altLang="zh-CN" dirty="0">
                <a:solidFill>
                  <a:srgbClr val="F9079D"/>
                </a:solidFill>
                <a:ea typeface="宋体" panose="02010600030101010101" pitchFamily="2" charset="-122"/>
              </a:rPr>
              <a:t>output dependent </a:t>
            </a:r>
            <a:r>
              <a:rPr lang="en-US" altLang="zh-CN" dirty="0">
                <a:ea typeface="宋体" panose="02010600030101010101" pitchFamily="2" charset="-122"/>
              </a:rPr>
              <a:t>on any previously issued but uncompleted instruction (no WAW hazards) 	</a:t>
            </a:r>
          </a:p>
          <a:p>
            <a:r>
              <a:rPr lang="en-US" altLang="zh-CN" dirty="0">
                <a:solidFill>
                  <a:srgbClr val="F9079D"/>
                </a:solidFill>
                <a:latin typeface="Helvetica" panose="020B0604020202020204" pitchFamily="34" charset="0"/>
                <a:ea typeface="宋体" panose="02010600030101010101" pitchFamily="2" charset="-122"/>
              </a:rPr>
              <a:t>Read </a:t>
            </a:r>
            <a:r>
              <a:rPr lang="en-US" altLang="zh-CN" dirty="0" smtClean="0">
                <a:solidFill>
                  <a:srgbClr val="F9079D"/>
                </a:solidFill>
                <a:latin typeface="Helvetica" panose="020B0604020202020204" pitchFamily="34" charset="0"/>
                <a:ea typeface="宋体" panose="02010600030101010101" pitchFamily="2" charset="-122"/>
              </a:rPr>
              <a:t>operands </a:t>
            </a:r>
            <a:r>
              <a:rPr lang="en-US" altLang="zh-CN" dirty="0" smtClean="0">
                <a:ea typeface="宋体" panose="02010600030101010101" pitchFamily="2" charset="-122"/>
              </a:rPr>
              <a:t>—</a:t>
            </a:r>
            <a:r>
              <a:rPr lang="en-US" altLang="zh-CN" dirty="0">
                <a:ea typeface="宋体" panose="02010600030101010101" pitchFamily="2" charset="-122"/>
              </a:rPr>
              <a:t>wait until no data hazards, then read operands (ID2)</a:t>
            </a:r>
          </a:p>
          <a:p>
            <a:pPr lvl="1"/>
            <a:r>
              <a:rPr lang="en-US" altLang="zh-CN" dirty="0">
                <a:ea typeface="宋体" panose="02010600030101010101" pitchFamily="2" charset="-122"/>
              </a:rPr>
              <a:t> All real dependencies (RAW hazards) resolved in this stage, since we wait for instructions to write back data.</a:t>
            </a:r>
          </a:p>
          <a:p>
            <a:pPr lvl="1"/>
            <a:r>
              <a:rPr lang="en-US" altLang="zh-CN" dirty="0">
                <a:solidFill>
                  <a:srgbClr val="F9079D"/>
                </a:solidFill>
                <a:ea typeface="宋体" panose="02010600030101010101" pitchFamily="2" charset="-122"/>
              </a:rPr>
              <a:t>No forwarding of data </a:t>
            </a:r>
            <a:r>
              <a:rPr lang="en-US" altLang="zh-CN" dirty="0">
                <a:ea typeface="宋体" panose="02010600030101010101" pitchFamily="2" charset="-122"/>
              </a:rPr>
              <a:t>in this model!</a:t>
            </a:r>
            <a:endParaRPr lang="en-US" altLang="zh-CN" sz="1400" dirty="0">
              <a:ea typeface="宋体" panose="02010600030101010101" pitchFamily="2" charset="-122"/>
            </a:endParaRPr>
          </a:p>
        </p:txBody>
      </p:sp>
    </p:spTree>
    <p:extLst>
      <p:ext uri="{BB962C8B-B14F-4D97-AF65-F5344CB8AC3E}">
        <p14:creationId xmlns:p14="http://schemas.microsoft.com/office/powerpoint/2010/main" val="32253240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70723">
                                            <p:txEl>
                                              <p:pRg st="0" end="0"/>
                                            </p:txEl>
                                          </p:spTgt>
                                        </p:tgtEl>
                                        <p:attrNameLst>
                                          <p:attrName>style.visibility</p:attrName>
                                        </p:attrNameLst>
                                      </p:cBhvr>
                                      <p:to>
                                        <p:strVal val="visible"/>
                                      </p:to>
                                    </p:set>
                                    <p:anim calcmode="lin" valueType="num">
                                      <p:cBhvr additive="base">
                                        <p:cTn id="7" dur="500" fill="hold"/>
                                        <p:tgtEl>
                                          <p:spTgt spid="670723">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70723">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70723">
                                            <p:txEl>
                                              <p:pRg st="1" end="1"/>
                                            </p:txEl>
                                          </p:spTgt>
                                        </p:tgtEl>
                                        <p:attrNameLst>
                                          <p:attrName>style.visibility</p:attrName>
                                        </p:attrNameLst>
                                      </p:cBhvr>
                                      <p:to>
                                        <p:strVal val="visible"/>
                                      </p:to>
                                    </p:set>
                                    <p:anim calcmode="lin" valueType="num">
                                      <p:cBhvr additive="base">
                                        <p:cTn id="11" dur="500" fill="hold"/>
                                        <p:tgtEl>
                                          <p:spTgt spid="670723">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70723">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670723">
                                            <p:txEl>
                                              <p:pRg st="2" end="2"/>
                                            </p:txEl>
                                          </p:spTgt>
                                        </p:tgtEl>
                                        <p:attrNameLst>
                                          <p:attrName>style.visibility</p:attrName>
                                        </p:attrNameLst>
                                      </p:cBhvr>
                                      <p:to>
                                        <p:strVal val="visible"/>
                                      </p:to>
                                    </p:set>
                                    <p:anim calcmode="lin" valueType="num">
                                      <p:cBhvr additive="base">
                                        <p:cTn id="15" dur="500" fill="hold"/>
                                        <p:tgtEl>
                                          <p:spTgt spid="670723">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670723">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670723">
                                            <p:txEl>
                                              <p:pRg st="3" end="3"/>
                                            </p:txEl>
                                          </p:spTgt>
                                        </p:tgtEl>
                                        <p:attrNameLst>
                                          <p:attrName>style.visibility</p:attrName>
                                        </p:attrNameLst>
                                      </p:cBhvr>
                                      <p:to>
                                        <p:strVal val="visible"/>
                                      </p:to>
                                    </p:set>
                                    <p:anim calcmode="lin" valueType="num">
                                      <p:cBhvr additive="base">
                                        <p:cTn id="19" dur="500" fill="hold"/>
                                        <p:tgtEl>
                                          <p:spTgt spid="670723">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7072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70723">
                                            <p:txEl>
                                              <p:pRg st="4" end="4"/>
                                            </p:txEl>
                                          </p:spTgt>
                                        </p:tgtEl>
                                        <p:attrNameLst>
                                          <p:attrName>style.visibility</p:attrName>
                                        </p:attrNameLst>
                                      </p:cBhvr>
                                      <p:to>
                                        <p:strVal val="visible"/>
                                      </p:to>
                                    </p:set>
                                    <p:anim calcmode="lin" valueType="num">
                                      <p:cBhvr additive="base">
                                        <p:cTn id="25" dur="500" fill="hold"/>
                                        <p:tgtEl>
                                          <p:spTgt spid="670723">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70723">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670723">
                                            <p:txEl>
                                              <p:pRg st="5" end="5"/>
                                            </p:txEl>
                                          </p:spTgt>
                                        </p:tgtEl>
                                        <p:attrNameLst>
                                          <p:attrName>style.visibility</p:attrName>
                                        </p:attrNameLst>
                                      </p:cBhvr>
                                      <p:to>
                                        <p:strVal val="visible"/>
                                      </p:to>
                                    </p:set>
                                    <p:anim calcmode="lin" valueType="num">
                                      <p:cBhvr additive="base">
                                        <p:cTn id="29" dur="500" fill="hold"/>
                                        <p:tgtEl>
                                          <p:spTgt spid="670723">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670723">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670723">
                                            <p:txEl>
                                              <p:pRg st="6" end="6"/>
                                            </p:txEl>
                                          </p:spTgt>
                                        </p:tgtEl>
                                        <p:attrNameLst>
                                          <p:attrName>style.visibility</p:attrName>
                                        </p:attrNameLst>
                                      </p:cBhvr>
                                      <p:to>
                                        <p:strVal val="visible"/>
                                      </p:to>
                                    </p:set>
                                    <p:anim calcmode="lin" valueType="num">
                                      <p:cBhvr additive="base">
                                        <p:cTn id="33" dur="500" fill="hold"/>
                                        <p:tgtEl>
                                          <p:spTgt spid="670723">
                                            <p:txEl>
                                              <p:pRg st="6" end="6"/>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670723">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23" grpId="0" build="p"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a:xfrm>
            <a:off x="1055440" y="228600"/>
            <a:ext cx="9136310" cy="11430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Four Stages of Scoreboard Control</a:t>
            </a:r>
          </a:p>
        </p:txBody>
      </p:sp>
      <p:sp>
        <p:nvSpPr>
          <p:cNvPr id="671747" name="Rectangle 3"/>
          <p:cNvSpPr>
            <a:spLocks noGrp="1" noChangeArrowheads="1"/>
          </p:cNvSpPr>
          <p:nvPr>
            <p:ph type="body" idx="1"/>
          </p:nvPr>
        </p:nvSpPr>
        <p:spPr>
          <a:xfrm>
            <a:off x="1055440" y="1600200"/>
            <a:ext cx="9649072" cy="49530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t" anchorCtr="0" compatLnSpc="1">
            <a:prstTxWarp prst="textNoShape">
              <a:avLst/>
            </a:prstTxWarp>
          </a:bodyPr>
          <a:lstStyle/>
          <a:p>
            <a:r>
              <a:rPr lang="en-US" altLang="zh-CN" dirty="0" smtClean="0">
                <a:solidFill>
                  <a:srgbClr val="F9079D"/>
                </a:solidFill>
                <a:latin typeface="Helvetica" panose="020B0604020202020204" pitchFamily="34" charset="0"/>
                <a:ea typeface="宋体" panose="02010600030101010101" pitchFamily="2" charset="-122"/>
              </a:rPr>
              <a:t>Execution</a:t>
            </a:r>
            <a:r>
              <a:rPr lang="en-US" altLang="zh-CN" dirty="0" smtClean="0">
                <a:solidFill>
                  <a:schemeClr val="hlink"/>
                </a:solidFill>
                <a:latin typeface="Helvetica" panose="020B0604020202020204" pitchFamily="34" charset="0"/>
                <a:ea typeface="宋体" panose="02010600030101010101" pitchFamily="2" charset="-122"/>
              </a:rPr>
              <a:t> </a:t>
            </a:r>
            <a:r>
              <a:rPr lang="en-US" altLang="zh-CN" dirty="0" smtClean="0">
                <a:ea typeface="宋体" panose="02010600030101010101" pitchFamily="2" charset="-122"/>
              </a:rPr>
              <a:t>—</a:t>
            </a:r>
            <a:r>
              <a:rPr lang="en-US" altLang="zh-CN" dirty="0">
                <a:ea typeface="宋体" panose="02010600030101010101" pitchFamily="2" charset="-122"/>
              </a:rPr>
              <a:t>operate on operands (EX)</a:t>
            </a:r>
          </a:p>
          <a:p>
            <a:pPr lvl="1"/>
            <a:r>
              <a:rPr lang="en-US" altLang="zh-CN" dirty="0">
                <a:ea typeface="宋体" panose="02010600030101010101" pitchFamily="2" charset="-122"/>
              </a:rPr>
              <a:t>The functional unit begins execution upon receiving operands. When the result is ready, it notifies the scoreboard that it has completed execution. </a:t>
            </a:r>
          </a:p>
          <a:p>
            <a:r>
              <a:rPr lang="en-US" altLang="zh-CN" dirty="0">
                <a:solidFill>
                  <a:srgbClr val="F9079D"/>
                </a:solidFill>
                <a:latin typeface="Helvetica" panose="020B0604020202020204" pitchFamily="34" charset="0"/>
                <a:ea typeface="宋体" panose="02010600030101010101" pitchFamily="2" charset="-122"/>
              </a:rPr>
              <a:t>Write </a:t>
            </a:r>
            <a:r>
              <a:rPr lang="en-US" altLang="zh-CN" dirty="0" smtClean="0">
                <a:solidFill>
                  <a:srgbClr val="F9079D"/>
                </a:solidFill>
                <a:latin typeface="Helvetica" panose="020B0604020202020204" pitchFamily="34" charset="0"/>
                <a:ea typeface="宋体" panose="02010600030101010101" pitchFamily="2" charset="-122"/>
              </a:rPr>
              <a:t>result </a:t>
            </a:r>
            <a:r>
              <a:rPr lang="en-US" altLang="zh-CN" dirty="0" smtClean="0">
                <a:ea typeface="宋体" panose="02010600030101010101" pitchFamily="2" charset="-122"/>
              </a:rPr>
              <a:t>—</a:t>
            </a:r>
            <a:r>
              <a:rPr lang="en-US" altLang="zh-CN" dirty="0">
                <a:ea typeface="宋体" panose="02010600030101010101" pitchFamily="2" charset="-122"/>
              </a:rPr>
              <a:t>finish execution (WB)</a:t>
            </a:r>
          </a:p>
          <a:p>
            <a:pPr lvl="1"/>
            <a:r>
              <a:rPr lang="en-US" altLang="zh-CN" dirty="0">
                <a:ea typeface="宋体" panose="02010600030101010101" pitchFamily="2" charset="-122"/>
              </a:rPr>
              <a:t>Stall until no WAR hazards with previous instructions:</a:t>
            </a:r>
            <a:br>
              <a:rPr lang="en-US" altLang="zh-CN" dirty="0">
                <a:ea typeface="宋体" panose="02010600030101010101" pitchFamily="2" charset="-122"/>
              </a:rPr>
            </a:br>
            <a:r>
              <a:rPr lang="en-US" altLang="zh-CN" dirty="0">
                <a:ea typeface="宋体" panose="02010600030101010101" pitchFamily="2" charset="-122"/>
              </a:rPr>
              <a:t/>
            </a:r>
            <a:br>
              <a:rPr lang="en-US" altLang="zh-CN" dirty="0">
                <a:ea typeface="宋体" panose="02010600030101010101" pitchFamily="2" charset="-122"/>
              </a:rPr>
            </a:br>
            <a:r>
              <a:rPr lang="en-US" altLang="zh-CN" dirty="0">
                <a:ea typeface="宋体" panose="02010600030101010101" pitchFamily="2" charset="-122"/>
              </a:rPr>
              <a:t>Example:	</a:t>
            </a:r>
            <a:r>
              <a:rPr lang="en-US" altLang="zh-CN" dirty="0" smtClean="0">
                <a:latin typeface="Courier New" panose="02070309020205020404" pitchFamily="49" charset="0"/>
                <a:ea typeface="宋体" panose="02010600030101010101" pitchFamily="2" charset="-122"/>
              </a:rPr>
              <a:t>DIVD</a:t>
            </a:r>
            <a:r>
              <a:rPr lang="en-US" altLang="zh-CN" dirty="0">
                <a:latin typeface="Courier New" panose="02070309020205020404" pitchFamily="49" charset="0"/>
                <a:ea typeface="宋体" panose="02010600030101010101" pitchFamily="2" charset="-122"/>
              </a:rPr>
              <a:t>	F0,F2,F4</a:t>
            </a:r>
            <a:br>
              <a:rPr lang="en-US" altLang="zh-CN" dirty="0">
                <a:latin typeface="Courier New" panose="02070309020205020404" pitchFamily="49" charset="0"/>
                <a:ea typeface="宋体" panose="02010600030101010101" pitchFamily="2" charset="-122"/>
              </a:rPr>
            </a:br>
            <a:r>
              <a:rPr lang="en-US" altLang="zh-CN" dirty="0">
                <a:latin typeface="Courier New" panose="02070309020205020404" pitchFamily="49" charset="0"/>
                <a:ea typeface="宋体" panose="02010600030101010101" pitchFamily="2" charset="-122"/>
              </a:rPr>
              <a:t> 			ADDD	F10,F0,</a:t>
            </a:r>
            <a:r>
              <a:rPr lang="en-US" altLang="zh-CN" dirty="0">
                <a:solidFill>
                  <a:schemeClr val="hlink"/>
                </a:solidFill>
                <a:latin typeface="Courier New" panose="02070309020205020404" pitchFamily="49" charset="0"/>
                <a:ea typeface="宋体" panose="02010600030101010101" pitchFamily="2" charset="-122"/>
              </a:rPr>
              <a:t>F8</a:t>
            </a:r>
            <a:r>
              <a:rPr lang="en-US" altLang="zh-CN" dirty="0">
                <a:latin typeface="Courier New" panose="02070309020205020404" pitchFamily="49" charset="0"/>
                <a:ea typeface="宋体" panose="02010600030101010101" pitchFamily="2" charset="-122"/>
              </a:rPr>
              <a:t/>
            </a:r>
            <a:br>
              <a:rPr lang="en-US" altLang="zh-CN" dirty="0">
                <a:latin typeface="Courier New" panose="02070309020205020404" pitchFamily="49" charset="0"/>
                <a:ea typeface="宋体" panose="02010600030101010101" pitchFamily="2" charset="-122"/>
              </a:rPr>
            </a:br>
            <a:r>
              <a:rPr lang="en-US" altLang="zh-CN" dirty="0">
                <a:latin typeface="Courier New" panose="02070309020205020404" pitchFamily="49" charset="0"/>
                <a:ea typeface="宋体" panose="02010600030101010101" pitchFamily="2" charset="-122"/>
              </a:rPr>
              <a:t> 			SUBD	</a:t>
            </a:r>
            <a:r>
              <a:rPr lang="en-US" altLang="zh-CN" dirty="0">
                <a:solidFill>
                  <a:schemeClr val="hlink"/>
                </a:solidFill>
                <a:latin typeface="Courier New" panose="02070309020205020404" pitchFamily="49" charset="0"/>
                <a:ea typeface="宋体" panose="02010600030101010101" pitchFamily="2" charset="-122"/>
              </a:rPr>
              <a:t>F8</a:t>
            </a:r>
            <a:r>
              <a:rPr lang="en-US" altLang="zh-CN" dirty="0">
                <a:latin typeface="Courier New" panose="02070309020205020404" pitchFamily="49" charset="0"/>
                <a:ea typeface="宋体" panose="02010600030101010101" pitchFamily="2" charset="-122"/>
              </a:rPr>
              <a:t>,F8,F14</a:t>
            </a:r>
            <a:r>
              <a:rPr lang="en-US" altLang="zh-CN" dirty="0">
                <a:ea typeface="宋体" panose="02010600030101010101" pitchFamily="2" charset="-122"/>
              </a:rPr>
              <a:t/>
            </a:r>
            <a:br>
              <a:rPr lang="en-US" altLang="zh-CN" dirty="0">
                <a:ea typeface="宋体" panose="02010600030101010101" pitchFamily="2" charset="-122"/>
              </a:rPr>
            </a:br>
            <a:r>
              <a:rPr lang="en-US" altLang="zh-CN" dirty="0">
                <a:ea typeface="宋体" panose="02010600030101010101" pitchFamily="2" charset="-122"/>
              </a:rPr>
              <a:t/>
            </a:r>
            <a:br>
              <a:rPr lang="en-US" altLang="zh-CN" dirty="0">
                <a:ea typeface="宋体" panose="02010600030101010101" pitchFamily="2" charset="-122"/>
              </a:rPr>
            </a:br>
            <a:r>
              <a:rPr lang="en-US" altLang="zh-CN" dirty="0">
                <a:ea typeface="宋体" panose="02010600030101010101" pitchFamily="2" charset="-122"/>
              </a:rPr>
              <a:t>CDC 6600 scoreboard would stall SUBD until ADDD reads operands</a:t>
            </a:r>
          </a:p>
        </p:txBody>
      </p:sp>
    </p:spTree>
    <p:extLst>
      <p:ext uri="{BB962C8B-B14F-4D97-AF65-F5344CB8AC3E}">
        <p14:creationId xmlns:p14="http://schemas.microsoft.com/office/powerpoint/2010/main" val="1769116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71747">
                                            <p:txEl>
                                              <p:pRg st="0" end="0"/>
                                            </p:txEl>
                                          </p:spTgt>
                                        </p:tgtEl>
                                        <p:attrNameLst>
                                          <p:attrName>style.visibility</p:attrName>
                                        </p:attrNameLst>
                                      </p:cBhvr>
                                      <p:to>
                                        <p:strVal val="visible"/>
                                      </p:to>
                                    </p:set>
                                    <p:anim calcmode="lin" valueType="num">
                                      <p:cBhvr additive="base">
                                        <p:cTn id="7" dur="500" fill="hold"/>
                                        <p:tgtEl>
                                          <p:spTgt spid="67174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71747">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671747">
                                            <p:txEl>
                                              <p:pRg st="1" end="1"/>
                                            </p:txEl>
                                          </p:spTgt>
                                        </p:tgtEl>
                                        <p:attrNameLst>
                                          <p:attrName>style.visibility</p:attrName>
                                        </p:attrNameLst>
                                      </p:cBhvr>
                                      <p:to>
                                        <p:strVal val="visible"/>
                                      </p:to>
                                    </p:set>
                                    <p:anim calcmode="lin" valueType="num">
                                      <p:cBhvr additive="base">
                                        <p:cTn id="11" dur="500" fill="hold"/>
                                        <p:tgtEl>
                                          <p:spTgt spid="671747">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67174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grpId="0" nodeType="clickEffect">
                                  <p:stCondLst>
                                    <p:cond delay="0"/>
                                  </p:stCondLst>
                                  <p:childTnLst>
                                    <p:set>
                                      <p:cBhvr>
                                        <p:cTn id="16" dur="1" fill="hold">
                                          <p:stCondLst>
                                            <p:cond delay="0"/>
                                          </p:stCondLst>
                                        </p:cTn>
                                        <p:tgtEl>
                                          <p:spTgt spid="671747">
                                            <p:txEl>
                                              <p:pRg st="2" end="2"/>
                                            </p:txEl>
                                          </p:spTgt>
                                        </p:tgtEl>
                                        <p:attrNameLst>
                                          <p:attrName>style.visibility</p:attrName>
                                        </p:attrNameLst>
                                      </p:cBhvr>
                                      <p:to>
                                        <p:strVal val="visible"/>
                                      </p:to>
                                    </p:set>
                                    <p:anim calcmode="lin" valueType="num">
                                      <p:cBhvr additive="base">
                                        <p:cTn id="17" dur="500" fill="hold"/>
                                        <p:tgtEl>
                                          <p:spTgt spid="671747">
                                            <p:txEl>
                                              <p:pRg st="2" end="2"/>
                                            </p:tx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671747">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671747">
                                            <p:txEl>
                                              <p:pRg st="3" end="3"/>
                                            </p:txEl>
                                          </p:spTgt>
                                        </p:tgtEl>
                                        <p:attrNameLst>
                                          <p:attrName>style.visibility</p:attrName>
                                        </p:attrNameLst>
                                      </p:cBhvr>
                                      <p:to>
                                        <p:strVal val="visible"/>
                                      </p:to>
                                    </p:set>
                                    <p:anim calcmode="lin" valueType="num">
                                      <p:cBhvr additive="base">
                                        <p:cTn id="21" dur="500" fill="hold"/>
                                        <p:tgtEl>
                                          <p:spTgt spid="671747">
                                            <p:txEl>
                                              <p:pRg st="3" end="3"/>
                                            </p:tx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671747">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1747" grpId="0" build="p"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2770" name="Rectangle 2"/>
          <p:cNvSpPr>
            <a:spLocks noGrp="1" noChangeArrowheads="1"/>
          </p:cNvSpPr>
          <p:nvPr>
            <p:ph type="title"/>
          </p:nvPr>
        </p:nvSpPr>
        <p:spPr>
          <a:xfrm>
            <a:off x="695400" y="228600"/>
            <a:ext cx="8982000" cy="11430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Three Parts of the Scoreboard</a:t>
            </a:r>
          </a:p>
        </p:txBody>
      </p:sp>
      <p:sp>
        <p:nvSpPr>
          <p:cNvPr id="672771" name="Rectangle 3"/>
          <p:cNvSpPr>
            <a:spLocks noGrp="1" noChangeArrowheads="1"/>
          </p:cNvSpPr>
          <p:nvPr>
            <p:ph type="body" idx="1"/>
          </p:nvPr>
        </p:nvSpPr>
        <p:spPr>
          <a:xfrm>
            <a:off x="695400" y="1484784"/>
            <a:ext cx="10369152" cy="4001616"/>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t" anchorCtr="0" compatLnSpc="1">
            <a:prstTxWarp prst="textNoShape">
              <a:avLst/>
            </a:prstTxWarp>
          </a:bodyPr>
          <a:lstStyle/>
          <a:p>
            <a:r>
              <a:rPr lang="en-US" altLang="zh-CN" dirty="0">
                <a:solidFill>
                  <a:srgbClr val="F9079D"/>
                </a:solidFill>
                <a:ea typeface="宋体" panose="02010600030101010101" pitchFamily="2" charset="-122"/>
              </a:rPr>
              <a:t>Instruction status</a:t>
            </a:r>
            <a:r>
              <a:rPr lang="en-US" altLang="zh-CN" dirty="0">
                <a:solidFill>
                  <a:schemeClr val="hlink"/>
                </a:solidFill>
                <a:ea typeface="宋体" panose="02010600030101010101" pitchFamily="2" charset="-122"/>
              </a:rPr>
              <a:t>:</a:t>
            </a:r>
            <a:r>
              <a:rPr lang="en-US" altLang="zh-CN" dirty="0">
                <a:ea typeface="宋体" panose="02010600030101010101" pitchFamily="2" charset="-122"/>
              </a:rPr>
              <a:t/>
            </a:r>
            <a:br>
              <a:rPr lang="en-US" altLang="zh-CN" dirty="0">
                <a:ea typeface="宋体" panose="02010600030101010101" pitchFamily="2" charset="-122"/>
              </a:rPr>
            </a:br>
            <a:r>
              <a:rPr lang="en-US" altLang="zh-CN" dirty="0">
                <a:ea typeface="宋体" panose="02010600030101010101" pitchFamily="2" charset="-122"/>
              </a:rPr>
              <a:t>Which of 4 steps the instruction is in</a:t>
            </a:r>
            <a:br>
              <a:rPr lang="en-US" altLang="zh-CN" dirty="0">
                <a:ea typeface="宋体" panose="02010600030101010101" pitchFamily="2" charset="-122"/>
              </a:rPr>
            </a:br>
            <a:endParaRPr lang="en-US" altLang="zh-CN" sz="2000" dirty="0">
              <a:ea typeface="宋体" panose="02010600030101010101" pitchFamily="2" charset="-122"/>
            </a:endParaRPr>
          </a:p>
          <a:p>
            <a:r>
              <a:rPr lang="en-US" altLang="zh-CN" dirty="0">
                <a:solidFill>
                  <a:srgbClr val="F9079D"/>
                </a:solidFill>
                <a:ea typeface="宋体" panose="02010600030101010101" pitchFamily="2" charset="-122"/>
              </a:rPr>
              <a:t>Functional unit status</a:t>
            </a:r>
            <a:r>
              <a:rPr lang="en-US" altLang="zh-CN" dirty="0" smtClean="0">
                <a:solidFill>
                  <a:schemeClr val="hlink"/>
                </a:solidFill>
                <a:ea typeface="宋体" panose="02010600030101010101" pitchFamily="2" charset="-122"/>
              </a:rPr>
              <a:t>: </a:t>
            </a:r>
            <a:r>
              <a:rPr lang="en-US" altLang="zh-CN" dirty="0" smtClean="0">
                <a:ea typeface="宋体" panose="02010600030101010101" pitchFamily="2" charset="-122"/>
              </a:rPr>
              <a:t>—</a:t>
            </a:r>
            <a:r>
              <a:rPr lang="en-US" altLang="zh-CN" dirty="0">
                <a:ea typeface="宋体" panose="02010600030101010101" pitchFamily="2" charset="-122"/>
              </a:rPr>
              <a:t>Indicates the state of the functional unit (FU). 9 fields for each functional </a:t>
            </a:r>
            <a:r>
              <a:rPr lang="en-US" altLang="zh-CN" dirty="0" smtClean="0">
                <a:ea typeface="宋体" panose="02010600030101010101" pitchFamily="2" charset="-122"/>
              </a:rPr>
              <a:t>unit</a:t>
            </a:r>
            <a:br>
              <a:rPr lang="en-US" altLang="zh-CN" dirty="0" smtClean="0">
                <a:ea typeface="宋体" panose="02010600030101010101" pitchFamily="2" charset="-122"/>
              </a:rPr>
            </a:br>
            <a:r>
              <a:rPr lang="en-US" altLang="zh-CN" sz="2000" dirty="0">
                <a:ea typeface="宋体" panose="02010600030101010101" pitchFamily="2" charset="-122"/>
              </a:rPr>
              <a:t>	</a:t>
            </a:r>
            <a:r>
              <a:rPr lang="en-US" altLang="zh-CN" sz="2000" dirty="0">
                <a:solidFill>
                  <a:srgbClr val="F9079D"/>
                </a:solidFill>
                <a:ea typeface="宋体" panose="02010600030101010101" pitchFamily="2" charset="-122"/>
              </a:rPr>
              <a:t>Busy</a:t>
            </a:r>
            <a:r>
              <a:rPr lang="en-US" altLang="zh-CN" sz="2000" dirty="0">
                <a:solidFill>
                  <a:schemeClr val="accent1"/>
                </a:solidFill>
                <a:ea typeface="宋体" panose="02010600030101010101" pitchFamily="2" charset="-122"/>
              </a:rPr>
              <a:t>:</a:t>
            </a:r>
            <a:r>
              <a:rPr lang="en-US" altLang="zh-CN" sz="2000" dirty="0">
                <a:ea typeface="宋体" panose="02010600030101010101" pitchFamily="2" charset="-122"/>
              </a:rPr>
              <a:t>	Indicates whether the unit is busy or not</a:t>
            </a:r>
            <a:br>
              <a:rPr lang="en-US" altLang="zh-CN" sz="2000" dirty="0">
                <a:ea typeface="宋体" panose="02010600030101010101" pitchFamily="2" charset="-122"/>
              </a:rPr>
            </a:br>
            <a:r>
              <a:rPr lang="en-US" altLang="zh-CN" sz="2000" dirty="0">
                <a:ea typeface="宋体" panose="02010600030101010101" pitchFamily="2" charset="-122"/>
              </a:rPr>
              <a:t>	</a:t>
            </a:r>
            <a:r>
              <a:rPr lang="en-US" altLang="zh-CN" sz="2000" dirty="0">
                <a:solidFill>
                  <a:srgbClr val="F9079D"/>
                </a:solidFill>
                <a:ea typeface="宋体" panose="02010600030101010101" pitchFamily="2" charset="-122"/>
              </a:rPr>
              <a:t>Op</a:t>
            </a:r>
            <a:r>
              <a:rPr lang="en-US" altLang="zh-CN" sz="2000" dirty="0">
                <a:solidFill>
                  <a:schemeClr val="accent1"/>
                </a:solidFill>
                <a:ea typeface="宋体" panose="02010600030101010101" pitchFamily="2" charset="-122"/>
              </a:rPr>
              <a:t>:</a:t>
            </a:r>
            <a:r>
              <a:rPr lang="en-US" altLang="zh-CN" sz="2000" dirty="0">
                <a:ea typeface="宋体" panose="02010600030101010101" pitchFamily="2" charset="-122"/>
              </a:rPr>
              <a:t>	Operation to perform in the unit (e.g., + or –)</a:t>
            </a:r>
            <a:br>
              <a:rPr lang="en-US" altLang="zh-CN" sz="2000" dirty="0">
                <a:ea typeface="宋体" panose="02010600030101010101" pitchFamily="2" charset="-122"/>
              </a:rPr>
            </a:br>
            <a:r>
              <a:rPr lang="en-US" altLang="zh-CN" sz="2000" dirty="0">
                <a:ea typeface="宋体" panose="02010600030101010101" pitchFamily="2" charset="-122"/>
              </a:rPr>
              <a:t>	</a:t>
            </a:r>
            <a:r>
              <a:rPr lang="en-US" altLang="zh-CN" sz="2000" dirty="0">
                <a:solidFill>
                  <a:srgbClr val="F9079D"/>
                </a:solidFill>
                <a:ea typeface="宋体" panose="02010600030101010101" pitchFamily="2" charset="-122"/>
              </a:rPr>
              <a:t>Fi:</a:t>
            </a:r>
            <a:r>
              <a:rPr lang="en-US" altLang="zh-CN" sz="2000" dirty="0">
                <a:ea typeface="宋体" panose="02010600030101010101" pitchFamily="2" charset="-122"/>
              </a:rPr>
              <a:t>	Destination register</a:t>
            </a:r>
            <a:br>
              <a:rPr lang="en-US" altLang="zh-CN" sz="2000" dirty="0">
                <a:ea typeface="宋体" panose="02010600030101010101" pitchFamily="2" charset="-122"/>
              </a:rPr>
            </a:br>
            <a:r>
              <a:rPr lang="en-US" altLang="zh-CN" sz="2000" dirty="0">
                <a:ea typeface="宋体" panose="02010600030101010101" pitchFamily="2" charset="-122"/>
              </a:rPr>
              <a:t>	</a:t>
            </a:r>
            <a:r>
              <a:rPr lang="en-US" altLang="zh-CN" sz="2000" dirty="0">
                <a:solidFill>
                  <a:srgbClr val="F9079D"/>
                </a:solidFill>
                <a:ea typeface="宋体" panose="02010600030101010101" pitchFamily="2" charset="-122"/>
              </a:rPr>
              <a:t>Fj</a:t>
            </a:r>
            <a:r>
              <a:rPr lang="en-US" altLang="zh-CN" sz="2000" dirty="0" smtClean="0">
                <a:solidFill>
                  <a:srgbClr val="F9079D"/>
                </a:solidFill>
                <a:ea typeface="宋体" panose="02010600030101010101" pitchFamily="2" charset="-122"/>
              </a:rPr>
              <a:t>, </a:t>
            </a:r>
            <a:r>
              <a:rPr lang="en-US" altLang="zh-CN" sz="2000" dirty="0" err="1" smtClean="0">
                <a:solidFill>
                  <a:srgbClr val="F9079D"/>
                </a:solidFill>
                <a:ea typeface="宋体" panose="02010600030101010101" pitchFamily="2" charset="-122"/>
              </a:rPr>
              <a:t>Fk</a:t>
            </a:r>
            <a:r>
              <a:rPr lang="en-US" altLang="zh-CN" sz="2000" dirty="0">
                <a:solidFill>
                  <a:schemeClr val="accent1"/>
                </a:solidFill>
                <a:ea typeface="宋体" panose="02010600030101010101" pitchFamily="2" charset="-122"/>
              </a:rPr>
              <a:t>:	</a:t>
            </a:r>
            <a:r>
              <a:rPr lang="en-US" altLang="zh-CN" sz="2000" dirty="0">
                <a:ea typeface="宋体" panose="02010600030101010101" pitchFamily="2" charset="-122"/>
              </a:rPr>
              <a:t>Source-register numbers</a:t>
            </a:r>
            <a:br>
              <a:rPr lang="en-US" altLang="zh-CN" sz="2000" dirty="0">
                <a:ea typeface="宋体" panose="02010600030101010101" pitchFamily="2" charset="-122"/>
              </a:rPr>
            </a:br>
            <a:r>
              <a:rPr lang="en-US" altLang="zh-CN" sz="2000" dirty="0">
                <a:ea typeface="宋体" panose="02010600030101010101" pitchFamily="2" charset="-122"/>
              </a:rPr>
              <a:t>	</a:t>
            </a:r>
            <a:r>
              <a:rPr lang="en-US" altLang="zh-CN" sz="2000" dirty="0" err="1">
                <a:solidFill>
                  <a:srgbClr val="F9079D"/>
                </a:solidFill>
                <a:ea typeface="宋体" panose="02010600030101010101" pitchFamily="2" charset="-122"/>
              </a:rPr>
              <a:t>Qj</a:t>
            </a:r>
            <a:r>
              <a:rPr lang="en-US" altLang="zh-CN" sz="2000" dirty="0" smtClean="0">
                <a:solidFill>
                  <a:srgbClr val="F9079D"/>
                </a:solidFill>
                <a:ea typeface="宋体" panose="02010600030101010101" pitchFamily="2" charset="-122"/>
              </a:rPr>
              <a:t>, </a:t>
            </a:r>
            <a:r>
              <a:rPr lang="en-US" altLang="zh-CN" sz="2000" dirty="0" err="1" smtClean="0">
                <a:solidFill>
                  <a:srgbClr val="F9079D"/>
                </a:solidFill>
                <a:ea typeface="宋体" panose="02010600030101010101" pitchFamily="2" charset="-122"/>
              </a:rPr>
              <a:t>Qk</a:t>
            </a:r>
            <a:r>
              <a:rPr lang="en-US" altLang="zh-CN" sz="2000" dirty="0">
                <a:solidFill>
                  <a:schemeClr val="accent1"/>
                </a:solidFill>
                <a:ea typeface="宋体" panose="02010600030101010101" pitchFamily="2" charset="-122"/>
              </a:rPr>
              <a:t>:	</a:t>
            </a:r>
            <a:r>
              <a:rPr lang="en-US" altLang="zh-CN" sz="2000" dirty="0">
                <a:ea typeface="宋体" panose="02010600030101010101" pitchFamily="2" charset="-122"/>
              </a:rPr>
              <a:t>Functional units producing source registers Fj, </a:t>
            </a:r>
            <a:r>
              <a:rPr lang="en-US" altLang="zh-CN" sz="2000" dirty="0" err="1">
                <a:ea typeface="宋体" panose="02010600030101010101" pitchFamily="2" charset="-122"/>
              </a:rPr>
              <a:t>Fk</a:t>
            </a:r>
            <a:r>
              <a:rPr lang="en-US" altLang="zh-CN" sz="2000" dirty="0">
                <a:ea typeface="宋体" panose="02010600030101010101" pitchFamily="2" charset="-122"/>
              </a:rPr>
              <a:t/>
            </a:r>
            <a:br>
              <a:rPr lang="en-US" altLang="zh-CN" sz="2000" dirty="0">
                <a:ea typeface="宋体" panose="02010600030101010101" pitchFamily="2" charset="-122"/>
              </a:rPr>
            </a:br>
            <a:r>
              <a:rPr lang="en-US" altLang="zh-CN" sz="2000" dirty="0">
                <a:ea typeface="宋体" panose="02010600030101010101" pitchFamily="2" charset="-122"/>
              </a:rPr>
              <a:t>	</a:t>
            </a:r>
            <a:r>
              <a:rPr lang="en-US" altLang="zh-CN" sz="2000" dirty="0" err="1">
                <a:solidFill>
                  <a:srgbClr val="F9079D"/>
                </a:solidFill>
                <a:ea typeface="宋体" panose="02010600030101010101" pitchFamily="2" charset="-122"/>
              </a:rPr>
              <a:t>Rj</a:t>
            </a:r>
            <a:r>
              <a:rPr lang="en-US" altLang="zh-CN" sz="2000" dirty="0" smtClean="0">
                <a:solidFill>
                  <a:srgbClr val="F9079D"/>
                </a:solidFill>
                <a:ea typeface="宋体" panose="02010600030101010101" pitchFamily="2" charset="-122"/>
              </a:rPr>
              <a:t>, </a:t>
            </a:r>
            <a:r>
              <a:rPr lang="en-US" altLang="zh-CN" sz="2000" dirty="0" err="1" smtClean="0">
                <a:solidFill>
                  <a:srgbClr val="F9079D"/>
                </a:solidFill>
                <a:ea typeface="宋体" panose="02010600030101010101" pitchFamily="2" charset="-122"/>
              </a:rPr>
              <a:t>Rk</a:t>
            </a:r>
            <a:r>
              <a:rPr lang="en-US" altLang="zh-CN" sz="2000" dirty="0">
                <a:solidFill>
                  <a:schemeClr val="accent1"/>
                </a:solidFill>
                <a:ea typeface="宋体" panose="02010600030101010101" pitchFamily="2" charset="-122"/>
              </a:rPr>
              <a:t>:	</a:t>
            </a:r>
            <a:r>
              <a:rPr lang="en-US" altLang="zh-CN" sz="2000" dirty="0">
                <a:ea typeface="宋体" panose="02010600030101010101" pitchFamily="2" charset="-122"/>
              </a:rPr>
              <a:t>Flags indicating when Fj, </a:t>
            </a:r>
            <a:r>
              <a:rPr lang="en-US" altLang="zh-CN" sz="2000" dirty="0" err="1">
                <a:ea typeface="宋体" panose="02010600030101010101" pitchFamily="2" charset="-122"/>
              </a:rPr>
              <a:t>Fk</a:t>
            </a:r>
            <a:r>
              <a:rPr lang="en-US" altLang="zh-CN" sz="2000" dirty="0">
                <a:ea typeface="宋体" panose="02010600030101010101" pitchFamily="2" charset="-122"/>
              </a:rPr>
              <a:t> are ready</a:t>
            </a:r>
            <a:br>
              <a:rPr lang="en-US" altLang="zh-CN" sz="2000" dirty="0">
                <a:ea typeface="宋体" panose="02010600030101010101" pitchFamily="2" charset="-122"/>
              </a:rPr>
            </a:br>
            <a:endParaRPr lang="en-US" altLang="zh-CN" sz="2000" dirty="0">
              <a:ea typeface="宋体" panose="02010600030101010101" pitchFamily="2" charset="-122"/>
            </a:endParaRPr>
          </a:p>
          <a:p>
            <a:r>
              <a:rPr lang="en-US" altLang="zh-CN" dirty="0">
                <a:solidFill>
                  <a:srgbClr val="F9079D"/>
                </a:solidFill>
                <a:ea typeface="宋体" panose="02010600030101010101" pitchFamily="2" charset="-122"/>
              </a:rPr>
              <a:t>Register result </a:t>
            </a:r>
            <a:r>
              <a:rPr lang="en-US" altLang="zh-CN" dirty="0" smtClean="0">
                <a:solidFill>
                  <a:srgbClr val="F9079D"/>
                </a:solidFill>
                <a:ea typeface="宋体" panose="02010600030101010101" pitchFamily="2" charset="-122"/>
              </a:rPr>
              <a:t>status </a:t>
            </a:r>
            <a:r>
              <a:rPr lang="en-US" altLang="zh-CN" dirty="0" smtClean="0">
                <a:ea typeface="宋体" panose="02010600030101010101" pitchFamily="2" charset="-122"/>
              </a:rPr>
              <a:t>—</a:t>
            </a:r>
            <a:r>
              <a:rPr lang="en-US" altLang="zh-CN" dirty="0">
                <a:ea typeface="宋体" panose="02010600030101010101" pitchFamily="2" charset="-122"/>
              </a:rPr>
              <a:t>Indicates which functional unit will write each register, if one </a:t>
            </a:r>
            <a:r>
              <a:rPr lang="en-US" altLang="zh-CN" dirty="0" smtClean="0">
                <a:ea typeface="宋体" panose="02010600030101010101" pitchFamily="2" charset="-122"/>
              </a:rPr>
              <a:t>exists</a:t>
            </a:r>
          </a:p>
          <a:p>
            <a:pPr lvl="1"/>
            <a:r>
              <a:rPr lang="en-US" altLang="zh-CN" dirty="0" smtClean="0">
                <a:ea typeface="宋体" panose="02010600030101010101" pitchFamily="2" charset="-122"/>
              </a:rPr>
              <a:t>Blank </a:t>
            </a:r>
            <a:r>
              <a:rPr lang="en-US" altLang="zh-CN" dirty="0">
                <a:ea typeface="宋体" panose="02010600030101010101" pitchFamily="2" charset="-122"/>
              </a:rPr>
              <a:t>when no pending instructions will write that register </a:t>
            </a:r>
          </a:p>
        </p:txBody>
      </p:sp>
    </p:spTree>
    <p:extLst>
      <p:ext uri="{BB962C8B-B14F-4D97-AF65-F5344CB8AC3E}">
        <p14:creationId xmlns:p14="http://schemas.microsoft.com/office/powerpoint/2010/main" val="177647719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72771">
                                            <p:txEl>
                                              <p:pRg st="0" end="0"/>
                                            </p:txEl>
                                          </p:spTgt>
                                        </p:tgtEl>
                                        <p:attrNameLst>
                                          <p:attrName>style.visibility</p:attrName>
                                        </p:attrNameLst>
                                      </p:cBhvr>
                                      <p:to>
                                        <p:strVal val="visible"/>
                                      </p:to>
                                    </p:set>
                                    <p:anim calcmode="lin" valueType="num">
                                      <p:cBhvr additive="base">
                                        <p:cTn id="7" dur="500" fill="hold"/>
                                        <p:tgtEl>
                                          <p:spTgt spid="6727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727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72771">
                                            <p:txEl>
                                              <p:pRg st="1" end="1"/>
                                            </p:txEl>
                                          </p:spTgt>
                                        </p:tgtEl>
                                        <p:attrNameLst>
                                          <p:attrName>style.visibility</p:attrName>
                                        </p:attrNameLst>
                                      </p:cBhvr>
                                      <p:to>
                                        <p:strVal val="visible"/>
                                      </p:to>
                                    </p:set>
                                    <p:anim calcmode="lin" valueType="num">
                                      <p:cBhvr additive="base">
                                        <p:cTn id="13" dur="500" fill="hold"/>
                                        <p:tgtEl>
                                          <p:spTgt spid="67277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727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72771">
                                            <p:txEl>
                                              <p:pRg st="2" end="2"/>
                                            </p:txEl>
                                          </p:spTgt>
                                        </p:tgtEl>
                                        <p:attrNameLst>
                                          <p:attrName>style.visibility</p:attrName>
                                        </p:attrNameLst>
                                      </p:cBhvr>
                                      <p:to>
                                        <p:strVal val="visible"/>
                                      </p:to>
                                    </p:set>
                                    <p:anim calcmode="lin" valueType="num">
                                      <p:cBhvr additive="base">
                                        <p:cTn id="19" dur="500" fill="hold"/>
                                        <p:tgtEl>
                                          <p:spTgt spid="67277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72771">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672771">
                                            <p:txEl>
                                              <p:pRg st="3" end="3"/>
                                            </p:txEl>
                                          </p:spTgt>
                                        </p:tgtEl>
                                        <p:attrNameLst>
                                          <p:attrName>style.visibility</p:attrName>
                                        </p:attrNameLst>
                                      </p:cBhvr>
                                      <p:to>
                                        <p:strVal val="visible"/>
                                      </p:to>
                                    </p:set>
                                    <p:anim calcmode="lin" valueType="num">
                                      <p:cBhvr additive="base">
                                        <p:cTn id="23" dur="500" fill="hold"/>
                                        <p:tgtEl>
                                          <p:spTgt spid="672771">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67277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771"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type="title"/>
          </p:nvPr>
        </p:nvSpPr>
        <p:spPr>
          <a:xfrm>
            <a:off x="911424" y="381000"/>
            <a:ext cx="10081120" cy="11430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Detailed Scoreboard Pipeline Control</a:t>
            </a:r>
          </a:p>
        </p:txBody>
      </p:sp>
      <p:grpSp>
        <p:nvGrpSpPr>
          <p:cNvPr id="675843" name="Group 3"/>
          <p:cNvGrpSpPr>
            <a:grpSpLocks/>
          </p:cNvGrpSpPr>
          <p:nvPr/>
        </p:nvGrpSpPr>
        <p:grpSpPr bwMode="auto">
          <a:xfrm>
            <a:off x="1055440" y="1695450"/>
            <a:ext cx="2678360" cy="4559300"/>
            <a:chOff x="480" y="1068"/>
            <a:chExt cx="912" cy="2872"/>
          </a:xfrm>
          <a:solidFill>
            <a:srgbClr val="92D050"/>
          </a:solidFill>
        </p:grpSpPr>
        <p:sp>
          <p:nvSpPr>
            <p:cNvPr id="675844" name="Rectangle 4"/>
            <p:cNvSpPr>
              <a:spLocks noChangeArrowheads="1"/>
            </p:cNvSpPr>
            <p:nvPr/>
          </p:nvSpPr>
          <p:spPr bwMode="auto">
            <a:xfrm>
              <a:off x="488" y="2227"/>
              <a:ext cx="904" cy="369"/>
            </a:xfrm>
            <a:prstGeom prst="rect">
              <a:avLst/>
            </a:prstGeom>
            <a:grp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a:solidFill>
                    <a:srgbClr val="000000"/>
                  </a:solidFill>
                  <a:latin typeface="Comic Sans MS" panose="030F0702030302020204" pitchFamily="66" charset="0"/>
                </a:rPr>
                <a:t>Read operands</a:t>
              </a:r>
            </a:p>
          </p:txBody>
        </p:sp>
        <p:sp>
          <p:nvSpPr>
            <p:cNvPr id="675845" name="Rectangle 5"/>
            <p:cNvSpPr>
              <a:spLocks noChangeArrowheads="1"/>
            </p:cNvSpPr>
            <p:nvPr/>
          </p:nvSpPr>
          <p:spPr bwMode="auto">
            <a:xfrm>
              <a:off x="488" y="2601"/>
              <a:ext cx="904" cy="403"/>
            </a:xfrm>
            <a:prstGeom prst="rect">
              <a:avLst/>
            </a:prstGeom>
            <a:grp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a:solidFill>
                    <a:srgbClr val="000000"/>
                  </a:solidFill>
                  <a:latin typeface="Comic Sans MS" panose="030F0702030302020204" pitchFamily="66" charset="0"/>
                </a:rPr>
                <a:t>Execution complete</a:t>
              </a:r>
            </a:p>
          </p:txBody>
        </p:sp>
        <p:sp>
          <p:nvSpPr>
            <p:cNvPr id="675846" name="Rectangle 6"/>
            <p:cNvSpPr>
              <a:spLocks noChangeArrowheads="1"/>
            </p:cNvSpPr>
            <p:nvPr/>
          </p:nvSpPr>
          <p:spPr bwMode="auto">
            <a:xfrm>
              <a:off x="480" y="1068"/>
              <a:ext cx="904" cy="328"/>
            </a:xfrm>
            <a:prstGeom prst="rect">
              <a:avLst/>
            </a:prstGeom>
            <a:grp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a:solidFill>
                    <a:srgbClr val="000000"/>
                  </a:solidFill>
                  <a:latin typeface="Comic Sans MS" panose="030F0702030302020204" pitchFamily="66" charset="0"/>
                </a:rPr>
                <a:t>Instruction status</a:t>
              </a:r>
            </a:p>
          </p:txBody>
        </p:sp>
        <p:sp>
          <p:nvSpPr>
            <p:cNvPr id="675847" name="Rectangle 7"/>
            <p:cNvSpPr>
              <a:spLocks noChangeArrowheads="1"/>
            </p:cNvSpPr>
            <p:nvPr/>
          </p:nvSpPr>
          <p:spPr bwMode="auto">
            <a:xfrm>
              <a:off x="488" y="3012"/>
              <a:ext cx="904" cy="928"/>
            </a:xfrm>
            <a:prstGeom prst="rect">
              <a:avLst/>
            </a:prstGeom>
            <a:grp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a:solidFill>
                    <a:srgbClr val="000000"/>
                  </a:solidFill>
                  <a:latin typeface="Comic Sans MS" panose="030F0702030302020204" pitchFamily="66" charset="0"/>
                </a:rPr>
                <a:t>Write result</a:t>
              </a:r>
            </a:p>
          </p:txBody>
        </p:sp>
        <p:sp>
          <p:nvSpPr>
            <p:cNvPr id="675848" name="Rectangle 8"/>
            <p:cNvSpPr>
              <a:spLocks noChangeArrowheads="1"/>
            </p:cNvSpPr>
            <p:nvPr/>
          </p:nvSpPr>
          <p:spPr bwMode="auto">
            <a:xfrm>
              <a:off x="488" y="1412"/>
              <a:ext cx="904" cy="808"/>
            </a:xfrm>
            <a:prstGeom prst="rect">
              <a:avLst/>
            </a:prstGeom>
            <a:grp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a:solidFill>
                    <a:srgbClr val="000000"/>
                  </a:solidFill>
                  <a:latin typeface="Comic Sans MS" panose="030F0702030302020204" pitchFamily="66" charset="0"/>
                </a:rPr>
                <a:t>Issue</a:t>
              </a:r>
            </a:p>
          </p:txBody>
        </p:sp>
      </p:grpSp>
      <p:grpSp>
        <p:nvGrpSpPr>
          <p:cNvPr id="675849" name="Group 9"/>
          <p:cNvGrpSpPr>
            <a:grpSpLocks/>
          </p:cNvGrpSpPr>
          <p:nvPr/>
        </p:nvGrpSpPr>
        <p:grpSpPr bwMode="auto">
          <a:xfrm>
            <a:off x="5511800" y="1701800"/>
            <a:ext cx="5768776" cy="4559300"/>
            <a:chOff x="2512" y="1072"/>
            <a:chExt cx="2688" cy="2872"/>
          </a:xfrm>
        </p:grpSpPr>
        <p:sp>
          <p:nvSpPr>
            <p:cNvPr id="675850" name="Rectangle 10"/>
            <p:cNvSpPr>
              <a:spLocks noChangeArrowheads="1"/>
            </p:cNvSpPr>
            <p:nvPr/>
          </p:nvSpPr>
          <p:spPr bwMode="auto">
            <a:xfrm>
              <a:off x="2512" y="1072"/>
              <a:ext cx="2680" cy="328"/>
            </a:xfrm>
            <a:prstGeom prst="rect">
              <a:avLst/>
            </a:prstGeom>
            <a:solidFill>
              <a:srgbClr val="92D05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a:solidFill>
                    <a:srgbClr val="000000"/>
                  </a:solidFill>
                  <a:latin typeface="Comic Sans MS" panose="030F0702030302020204" pitchFamily="66" charset="0"/>
                </a:rPr>
                <a:t>Bookkeeping</a:t>
              </a:r>
            </a:p>
          </p:txBody>
        </p:sp>
        <p:sp>
          <p:nvSpPr>
            <p:cNvPr id="675851" name="Rectangle 11"/>
            <p:cNvSpPr>
              <a:spLocks noChangeArrowheads="1"/>
            </p:cNvSpPr>
            <p:nvPr/>
          </p:nvSpPr>
          <p:spPr bwMode="auto">
            <a:xfrm>
              <a:off x="2520" y="2231"/>
              <a:ext cx="2680" cy="369"/>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a:solidFill>
                    <a:srgbClr val="000000"/>
                  </a:solidFill>
                  <a:latin typeface="Comic Sans MS" panose="030F0702030302020204" pitchFamily="66" charset="0"/>
                </a:rPr>
                <a:t>Rj</a:t>
              </a:r>
              <a:r>
                <a:rPr lang="en-US" altLang="zh-CN">
                  <a:solidFill>
                    <a:srgbClr val="000000"/>
                  </a:solidFill>
                  <a:latin typeface="Symbol" panose="05050102010706020507" pitchFamily="18" charset="2"/>
                </a:rPr>
                <a:t></a:t>
              </a:r>
              <a:r>
                <a:rPr lang="en-US" altLang="zh-CN">
                  <a:solidFill>
                    <a:srgbClr val="000000"/>
                  </a:solidFill>
                  <a:latin typeface="Comic Sans MS" panose="030F0702030302020204" pitchFamily="66" charset="0"/>
                </a:rPr>
                <a:t> No; Rk</a:t>
              </a:r>
              <a:r>
                <a:rPr lang="en-US" altLang="zh-CN">
                  <a:solidFill>
                    <a:srgbClr val="000000"/>
                  </a:solidFill>
                  <a:latin typeface="Symbol" panose="05050102010706020507" pitchFamily="18" charset="2"/>
                </a:rPr>
                <a:t></a:t>
              </a:r>
              <a:r>
                <a:rPr lang="en-US" altLang="zh-CN">
                  <a:solidFill>
                    <a:srgbClr val="000000"/>
                  </a:solidFill>
                  <a:latin typeface="Comic Sans MS" panose="030F0702030302020204" pitchFamily="66" charset="0"/>
                </a:rPr>
                <a:t> No</a:t>
              </a:r>
            </a:p>
          </p:txBody>
        </p:sp>
        <p:sp>
          <p:nvSpPr>
            <p:cNvPr id="675852" name="Rectangle 12"/>
            <p:cNvSpPr>
              <a:spLocks noChangeArrowheads="1"/>
            </p:cNvSpPr>
            <p:nvPr/>
          </p:nvSpPr>
          <p:spPr bwMode="auto">
            <a:xfrm>
              <a:off x="2520" y="2605"/>
              <a:ext cx="2680" cy="403"/>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5853" name="Rectangle 13"/>
            <p:cNvSpPr>
              <a:spLocks noChangeArrowheads="1"/>
            </p:cNvSpPr>
            <p:nvPr/>
          </p:nvSpPr>
          <p:spPr bwMode="auto">
            <a:xfrm>
              <a:off x="2520" y="3016"/>
              <a:ext cx="2680" cy="928"/>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f(if </a:t>
              </a:r>
              <a:r>
                <a:rPr lang="en-US" altLang="zh-CN" dirty="0" err="1">
                  <a:solidFill>
                    <a:srgbClr val="000000"/>
                  </a:solidFill>
                  <a:latin typeface="Comic Sans MS" panose="030F0702030302020204" pitchFamily="66" charset="0"/>
                </a:rPr>
                <a:t>Qj</a:t>
              </a:r>
              <a:r>
                <a:rPr lang="en-US" altLang="zh-CN" dirty="0">
                  <a:solidFill>
                    <a:srgbClr val="000000"/>
                  </a:solidFill>
                  <a:latin typeface="Comic Sans MS" panose="030F0702030302020204" pitchFamily="66" charset="0"/>
                </a:rPr>
                <a:t>(f)=FU then </a:t>
              </a:r>
              <a:r>
                <a:rPr lang="en-US" altLang="zh-CN" dirty="0" err="1">
                  <a:solidFill>
                    <a:srgbClr val="000000"/>
                  </a:solidFill>
                  <a:latin typeface="Comic Sans MS" panose="030F0702030302020204" pitchFamily="66" charset="0"/>
                </a:rPr>
                <a:t>Rj</a:t>
              </a:r>
              <a:r>
                <a:rPr lang="en-US" altLang="zh-CN" dirty="0">
                  <a:solidFill>
                    <a:srgbClr val="000000"/>
                  </a:solidFill>
                  <a:latin typeface="Comic Sans MS" panose="030F0702030302020204" pitchFamily="66" charset="0"/>
                </a:rPr>
                <a:t>(f)</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Yes);</a:t>
              </a:r>
              <a:br>
                <a:rPr lang="en-US" altLang="zh-CN" dirty="0">
                  <a:solidFill>
                    <a:srgbClr val="000000"/>
                  </a:solidFill>
                  <a:latin typeface="Comic Sans MS" panose="030F0702030302020204" pitchFamily="66" charset="0"/>
                </a:rPr>
              </a:b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f(if </a:t>
              </a:r>
              <a:r>
                <a:rPr lang="en-US" altLang="zh-CN" dirty="0" err="1">
                  <a:solidFill>
                    <a:srgbClr val="000000"/>
                  </a:solidFill>
                  <a:latin typeface="Comic Sans MS" panose="030F0702030302020204" pitchFamily="66" charset="0"/>
                </a:rPr>
                <a:t>Qk</a:t>
              </a:r>
              <a:r>
                <a:rPr lang="en-US" altLang="zh-CN" dirty="0">
                  <a:solidFill>
                    <a:srgbClr val="000000"/>
                  </a:solidFill>
                  <a:latin typeface="Comic Sans MS" panose="030F0702030302020204" pitchFamily="66" charset="0"/>
                </a:rPr>
                <a:t>(f)=FU then </a:t>
              </a:r>
              <a:r>
                <a:rPr lang="en-US" altLang="zh-CN" dirty="0" err="1">
                  <a:solidFill>
                    <a:srgbClr val="000000"/>
                  </a:solidFill>
                  <a:latin typeface="Comic Sans MS" panose="030F0702030302020204" pitchFamily="66" charset="0"/>
                </a:rPr>
                <a:t>Rj</a:t>
              </a:r>
              <a:r>
                <a:rPr lang="en-US" altLang="zh-CN" dirty="0">
                  <a:solidFill>
                    <a:srgbClr val="000000"/>
                  </a:solidFill>
                  <a:latin typeface="Comic Sans MS" panose="030F0702030302020204" pitchFamily="66" charset="0"/>
                </a:rPr>
                <a:t>(f)</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Yes); </a:t>
              </a:r>
              <a:r>
                <a:rPr lang="en-US" altLang="zh-CN" dirty="0" smtClean="0">
                  <a:solidFill>
                    <a:srgbClr val="000000"/>
                  </a:solidFill>
                  <a:latin typeface="Comic Sans MS" panose="030F0702030302020204" pitchFamily="66" charset="0"/>
                </a:rPr>
                <a:t/>
              </a:r>
              <a:br>
                <a:rPr lang="en-US" altLang="zh-CN" dirty="0" smtClean="0">
                  <a:solidFill>
                    <a:srgbClr val="000000"/>
                  </a:solidFill>
                  <a:latin typeface="Comic Sans MS" panose="030F0702030302020204" pitchFamily="66" charset="0"/>
                </a:rPr>
              </a:br>
              <a:r>
                <a:rPr lang="en-US" altLang="zh-CN" dirty="0" smtClean="0">
                  <a:solidFill>
                    <a:srgbClr val="000000"/>
                  </a:solidFill>
                  <a:latin typeface="Comic Sans MS" panose="030F0702030302020204" pitchFamily="66" charset="0"/>
                </a:rPr>
                <a:t>Result(Fi(FU</a:t>
              </a:r>
              <a:r>
                <a:rPr lang="en-US" altLang="zh-CN" dirty="0">
                  <a:solidFill>
                    <a:srgbClr val="000000"/>
                  </a:solidFill>
                  <a:latin typeface="Comic Sans MS" panose="030F0702030302020204" pitchFamily="66" charset="0"/>
                </a:rPr>
                <a:t>))</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0; Busy(FU)</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No</a:t>
              </a:r>
            </a:p>
          </p:txBody>
        </p:sp>
        <p:sp>
          <p:nvSpPr>
            <p:cNvPr id="675854" name="Rectangle 14"/>
            <p:cNvSpPr>
              <a:spLocks noChangeArrowheads="1"/>
            </p:cNvSpPr>
            <p:nvPr/>
          </p:nvSpPr>
          <p:spPr bwMode="auto">
            <a:xfrm>
              <a:off x="2520" y="1416"/>
              <a:ext cx="2680" cy="808"/>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dirty="0">
                  <a:solidFill>
                    <a:srgbClr val="000000"/>
                  </a:solidFill>
                  <a:latin typeface="Comic Sans MS" panose="030F0702030302020204" pitchFamily="66" charset="0"/>
                </a:rPr>
                <a:t>Busy(FU)</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yes; Op(FU)</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op; </a:t>
              </a:r>
              <a:br>
                <a:rPr lang="en-US" altLang="zh-CN" dirty="0">
                  <a:solidFill>
                    <a:srgbClr val="000000"/>
                  </a:solidFill>
                  <a:latin typeface="Comic Sans MS" panose="030F0702030302020204" pitchFamily="66" charset="0"/>
                </a:rPr>
              </a:br>
              <a:r>
                <a:rPr lang="en-US" altLang="zh-CN" dirty="0">
                  <a:solidFill>
                    <a:srgbClr val="000000"/>
                  </a:solidFill>
                  <a:latin typeface="Comic Sans MS" panose="030F0702030302020204" pitchFamily="66" charset="0"/>
                </a:rPr>
                <a:t>Fi(FU)</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`D’; Fj(FU)</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`S1’; </a:t>
              </a:r>
              <a:br>
                <a:rPr lang="en-US" altLang="zh-CN" dirty="0">
                  <a:solidFill>
                    <a:srgbClr val="000000"/>
                  </a:solidFill>
                  <a:latin typeface="Comic Sans MS" panose="030F0702030302020204" pitchFamily="66" charset="0"/>
                </a:rPr>
              </a:br>
              <a:r>
                <a:rPr lang="en-US" altLang="zh-CN" dirty="0" err="1">
                  <a:solidFill>
                    <a:srgbClr val="000000"/>
                  </a:solidFill>
                  <a:latin typeface="Comic Sans MS" panose="030F0702030302020204" pitchFamily="66" charset="0"/>
                </a:rPr>
                <a:t>Fk</a:t>
              </a:r>
              <a:r>
                <a:rPr lang="en-US" altLang="zh-CN" dirty="0">
                  <a:solidFill>
                    <a:srgbClr val="000000"/>
                  </a:solidFill>
                  <a:latin typeface="Comic Sans MS" panose="030F0702030302020204" pitchFamily="66" charset="0"/>
                </a:rPr>
                <a:t>(FU)</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`S2’; </a:t>
              </a:r>
              <a:r>
                <a:rPr lang="en-US" altLang="zh-CN" dirty="0" err="1">
                  <a:solidFill>
                    <a:srgbClr val="000000"/>
                  </a:solidFill>
                  <a:latin typeface="Comic Sans MS" panose="030F0702030302020204" pitchFamily="66" charset="0"/>
                </a:rPr>
                <a:t>Qj</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Result(‘S1’); </a:t>
              </a:r>
              <a:br>
                <a:rPr lang="en-US" altLang="zh-CN" dirty="0">
                  <a:solidFill>
                    <a:srgbClr val="000000"/>
                  </a:solidFill>
                  <a:latin typeface="Comic Sans MS" panose="030F0702030302020204" pitchFamily="66" charset="0"/>
                </a:rPr>
              </a:br>
              <a:r>
                <a:rPr lang="en-US" altLang="zh-CN" dirty="0" err="1">
                  <a:solidFill>
                    <a:srgbClr val="000000"/>
                  </a:solidFill>
                  <a:latin typeface="Comic Sans MS" panose="030F0702030302020204" pitchFamily="66" charset="0"/>
                </a:rPr>
                <a:t>Qk</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Result(`S2’);  </a:t>
              </a:r>
              <a:r>
                <a:rPr lang="en-US" altLang="zh-CN" dirty="0" err="1">
                  <a:solidFill>
                    <a:srgbClr val="000000"/>
                  </a:solidFill>
                  <a:latin typeface="Comic Sans MS" panose="030F0702030302020204" pitchFamily="66" charset="0"/>
                </a:rPr>
                <a:t>Rj</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not </a:t>
              </a:r>
              <a:r>
                <a:rPr lang="en-US" altLang="zh-CN" dirty="0" err="1">
                  <a:solidFill>
                    <a:srgbClr val="000000"/>
                  </a:solidFill>
                  <a:latin typeface="Comic Sans MS" panose="030F0702030302020204" pitchFamily="66" charset="0"/>
                </a:rPr>
                <a:t>Qj</a:t>
              </a:r>
              <a:r>
                <a:rPr lang="en-US" altLang="zh-CN" dirty="0">
                  <a:solidFill>
                    <a:srgbClr val="000000"/>
                  </a:solidFill>
                  <a:latin typeface="Comic Sans MS" panose="030F0702030302020204" pitchFamily="66" charset="0"/>
                </a:rPr>
                <a:t>; </a:t>
              </a:r>
              <a:br>
                <a:rPr lang="en-US" altLang="zh-CN" dirty="0">
                  <a:solidFill>
                    <a:srgbClr val="000000"/>
                  </a:solidFill>
                  <a:latin typeface="Comic Sans MS" panose="030F0702030302020204" pitchFamily="66" charset="0"/>
                </a:rPr>
              </a:br>
              <a:r>
                <a:rPr lang="en-US" altLang="zh-CN" dirty="0" err="1">
                  <a:solidFill>
                    <a:srgbClr val="000000"/>
                  </a:solidFill>
                  <a:latin typeface="Comic Sans MS" panose="030F0702030302020204" pitchFamily="66" charset="0"/>
                </a:rPr>
                <a:t>Rk</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not </a:t>
              </a:r>
              <a:r>
                <a:rPr lang="en-US" altLang="zh-CN" dirty="0" err="1">
                  <a:solidFill>
                    <a:srgbClr val="000000"/>
                  </a:solidFill>
                  <a:latin typeface="Comic Sans MS" panose="030F0702030302020204" pitchFamily="66" charset="0"/>
                </a:rPr>
                <a:t>Qk</a:t>
              </a:r>
              <a:r>
                <a:rPr lang="en-US" altLang="zh-CN" dirty="0">
                  <a:solidFill>
                    <a:srgbClr val="000000"/>
                  </a:solidFill>
                  <a:latin typeface="Comic Sans MS" panose="030F0702030302020204" pitchFamily="66" charset="0"/>
                </a:rPr>
                <a:t>; Result(‘D’)</a:t>
              </a:r>
              <a:r>
                <a:rPr lang="en-US" altLang="zh-CN" dirty="0">
                  <a:solidFill>
                    <a:srgbClr val="000000"/>
                  </a:solidFill>
                  <a:latin typeface="Symbol" panose="05050102010706020507" pitchFamily="18" charset="2"/>
                </a:rPr>
                <a:t></a:t>
              </a:r>
              <a:r>
                <a:rPr lang="en-US" altLang="zh-CN" dirty="0">
                  <a:solidFill>
                    <a:srgbClr val="000000"/>
                  </a:solidFill>
                  <a:latin typeface="Comic Sans MS" panose="030F0702030302020204" pitchFamily="66" charset="0"/>
                </a:rPr>
                <a:t> FU;</a:t>
              </a:r>
            </a:p>
          </p:txBody>
        </p:sp>
      </p:grpSp>
      <p:grpSp>
        <p:nvGrpSpPr>
          <p:cNvPr id="675855" name="Group 15"/>
          <p:cNvGrpSpPr>
            <a:grpSpLocks/>
          </p:cNvGrpSpPr>
          <p:nvPr/>
        </p:nvGrpSpPr>
        <p:grpSpPr bwMode="auto">
          <a:xfrm>
            <a:off x="3746500" y="1701800"/>
            <a:ext cx="2493516" cy="4552950"/>
            <a:chOff x="1400" y="1072"/>
            <a:chExt cx="1284" cy="2868"/>
          </a:xfrm>
        </p:grpSpPr>
        <p:sp>
          <p:nvSpPr>
            <p:cNvPr id="675856" name="Rectangle 16"/>
            <p:cNvSpPr>
              <a:spLocks noChangeArrowheads="1"/>
            </p:cNvSpPr>
            <p:nvPr/>
          </p:nvSpPr>
          <p:spPr bwMode="auto">
            <a:xfrm>
              <a:off x="1409" y="2229"/>
              <a:ext cx="1275" cy="367"/>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a:solidFill>
                    <a:srgbClr val="000000"/>
                  </a:solidFill>
                  <a:latin typeface="Comic Sans MS" panose="030F0702030302020204" pitchFamily="66" charset="0"/>
                </a:rPr>
                <a:t>Rj and Rk</a:t>
              </a:r>
            </a:p>
          </p:txBody>
        </p:sp>
        <p:sp>
          <p:nvSpPr>
            <p:cNvPr id="675857" name="Rectangle 17"/>
            <p:cNvSpPr>
              <a:spLocks noChangeArrowheads="1"/>
            </p:cNvSpPr>
            <p:nvPr/>
          </p:nvSpPr>
          <p:spPr bwMode="auto">
            <a:xfrm>
              <a:off x="1409" y="2602"/>
              <a:ext cx="1275" cy="401"/>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a:solidFill>
                    <a:srgbClr val="000000"/>
                  </a:solidFill>
                  <a:latin typeface="Comic Sans MS" panose="030F0702030302020204" pitchFamily="66" charset="0"/>
                </a:rPr>
                <a:t>Functional unit done</a:t>
              </a:r>
            </a:p>
          </p:txBody>
        </p:sp>
        <p:sp>
          <p:nvSpPr>
            <p:cNvPr id="675858" name="Rectangle 18"/>
            <p:cNvSpPr>
              <a:spLocks noChangeArrowheads="1"/>
            </p:cNvSpPr>
            <p:nvPr/>
          </p:nvSpPr>
          <p:spPr bwMode="auto">
            <a:xfrm>
              <a:off x="1400" y="1072"/>
              <a:ext cx="1275" cy="327"/>
            </a:xfrm>
            <a:prstGeom prst="rect">
              <a:avLst/>
            </a:prstGeom>
            <a:solidFill>
              <a:srgbClr val="92D05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dirty="0">
                  <a:solidFill>
                    <a:srgbClr val="000000"/>
                  </a:solidFill>
                  <a:latin typeface="Comic Sans MS" panose="030F0702030302020204" pitchFamily="66" charset="0"/>
                </a:rPr>
                <a:t>Wait until</a:t>
              </a:r>
            </a:p>
          </p:txBody>
        </p:sp>
        <p:sp>
          <p:nvSpPr>
            <p:cNvPr id="675859" name="Rectangle 19"/>
            <p:cNvSpPr>
              <a:spLocks noChangeArrowheads="1"/>
            </p:cNvSpPr>
            <p:nvPr/>
          </p:nvSpPr>
          <p:spPr bwMode="auto">
            <a:xfrm>
              <a:off x="1409" y="3015"/>
              <a:ext cx="1275" cy="925"/>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a:solidFill>
                    <a:srgbClr val="000000"/>
                  </a:solidFill>
                  <a:latin typeface="Symbol" panose="05050102010706020507" pitchFamily="18" charset="2"/>
                </a:rPr>
                <a:t></a:t>
              </a:r>
              <a:r>
                <a:rPr lang="en-US" altLang="zh-CN">
                  <a:solidFill>
                    <a:srgbClr val="000000"/>
                  </a:solidFill>
                  <a:latin typeface="Comic Sans MS" panose="030F0702030302020204" pitchFamily="66" charset="0"/>
                </a:rPr>
                <a:t>f((Fj(f)</a:t>
              </a:r>
              <a:r>
                <a:rPr lang="en-US" altLang="zh-CN">
                  <a:solidFill>
                    <a:srgbClr val="000000"/>
                  </a:solidFill>
                  <a:latin typeface="Comic Sans MS" panose="030F0702030302020204" pitchFamily="66" charset="0"/>
                  <a:sym typeface="Symbol" panose="05050102010706020507" pitchFamily="18" charset="2"/>
                </a:rPr>
                <a:t></a:t>
              </a:r>
              <a:r>
                <a:rPr lang="en-US" altLang="zh-CN">
                  <a:solidFill>
                    <a:srgbClr val="000000"/>
                  </a:solidFill>
                  <a:latin typeface="Comic Sans MS" panose="030F0702030302020204" pitchFamily="66" charset="0"/>
                </a:rPr>
                <a:t>Fi(FU) </a:t>
              </a:r>
              <a:br>
                <a:rPr lang="en-US" altLang="zh-CN">
                  <a:solidFill>
                    <a:srgbClr val="000000"/>
                  </a:solidFill>
                  <a:latin typeface="Comic Sans MS" panose="030F0702030302020204" pitchFamily="66" charset="0"/>
                </a:rPr>
              </a:br>
              <a:r>
                <a:rPr lang="en-US" altLang="zh-CN">
                  <a:solidFill>
                    <a:srgbClr val="000000"/>
                  </a:solidFill>
                  <a:latin typeface="Comic Sans MS" panose="030F0702030302020204" pitchFamily="66" charset="0"/>
                </a:rPr>
                <a:t>or Rj(f)=No) &amp; (Fk(f)</a:t>
              </a:r>
              <a:r>
                <a:rPr lang="en-US" altLang="zh-CN">
                  <a:solidFill>
                    <a:srgbClr val="000000"/>
                  </a:solidFill>
                  <a:latin typeface="Comic Sans MS" panose="030F0702030302020204" pitchFamily="66" charset="0"/>
                  <a:sym typeface="Symbol" panose="05050102010706020507" pitchFamily="18" charset="2"/>
                </a:rPr>
                <a:t></a:t>
              </a:r>
              <a:r>
                <a:rPr lang="en-US" altLang="zh-CN">
                  <a:solidFill>
                    <a:srgbClr val="000000"/>
                  </a:solidFill>
                  <a:latin typeface="Comic Sans MS" panose="030F0702030302020204" pitchFamily="66" charset="0"/>
                </a:rPr>
                <a:t>Fi(FU) or </a:t>
              </a:r>
              <a:br>
                <a:rPr lang="en-US" altLang="zh-CN">
                  <a:solidFill>
                    <a:srgbClr val="000000"/>
                  </a:solidFill>
                  <a:latin typeface="Comic Sans MS" panose="030F0702030302020204" pitchFamily="66" charset="0"/>
                </a:rPr>
              </a:br>
              <a:r>
                <a:rPr lang="en-US" altLang="zh-CN">
                  <a:solidFill>
                    <a:srgbClr val="000000"/>
                  </a:solidFill>
                  <a:latin typeface="Comic Sans MS" panose="030F0702030302020204" pitchFamily="66" charset="0"/>
                </a:rPr>
                <a:t>Rk( f )=No))</a:t>
              </a:r>
            </a:p>
          </p:txBody>
        </p:sp>
        <p:sp>
          <p:nvSpPr>
            <p:cNvPr id="675860" name="Rectangle 20"/>
            <p:cNvSpPr>
              <a:spLocks noChangeArrowheads="1"/>
            </p:cNvSpPr>
            <p:nvPr/>
          </p:nvSpPr>
          <p:spPr bwMode="auto">
            <a:xfrm>
              <a:off x="1409" y="1415"/>
              <a:ext cx="1275" cy="805"/>
            </a:xfrm>
            <a:prstGeom prst="rect">
              <a:avLst/>
            </a:prstGeom>
            <a:solidFill>
              <a:srgbClr val="FFFFFF"/>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nchor="ctr"/>
            <a:lstStyle/>
            <a:p>
              <a:pPr algn="ctr">
                <a:lnSpc>
                  <a:spcPct val="90000"/>
                </a:lnSpc>
                <a:spcBef>
                  <a:spcPct val="0"/>
                </a:spcBef>
              </a:pPr>
              <a:r>
                <a:rPr lang="en-US" altLang="zh-CN" dirty="0">
                  <a:solidFill>
                    <a:srgbClr val="000000"/>
                  </a:solidFill>
                  <a:latin typeface="Comic Sans MS" panose="030F0702030302020204" pitchFamily="66" charset="0"/>
                </a:rPr>
                <a:t>Not busy (FU) and not result(D)</a:t>
              </a:r>
            </a:p>
          </p:txBody>
        </p:sp>
      </p:grpSp>
    </p:spTree>
    <p:extLst>
      <p:ext uri="{BB962C8B-B14F-4D97-AF65-F5344CB8AC3E}">
        <p14:creationId xmlns:p14="http://schemas.microsoft.com/office/powerpoint/2010/main" val="2087614921"/>
      </p:ext>
    </p:extLst>
  </p:cSld>
  <p:clrMapOvr>
    <a:masterClrMapping/>
  </p:clrMapOvr>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8" name="Rectangle 2"/>
          <p:cNvSpPr>
            <a:spLocks noGrp="1" noChangeArrowheads="1"/>
          </p:cNvSpPr>
          <p:nvPr>
            <p:ph type="title"/>
          </p:nvPr>
        </p:nvSpPr>
        <p:spPr>
          <a:xfrm>
            <a:off x="1055440" y="404664"/>
            <a:ext cx="716280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a:t>
            </a:r>
          </a:p>
        </p:txBody>
      </p:sp>
      <p:graphicFrame>
        <p:nvGraphicFramePr>
          <p:cNvPr id="674819" name="Object 3"/>
          <p:cNvGraphicFramePr>
            <a:graphicFrameLocks/>
          </p:cNvGraphicFramePr>
          <p:nvPr>
            <p:extLst>
              <p:ext uri="{D42A27DB-BD31-4B8C-83A1-F6EECF244321}">
                <p14:modId xmlns:p14="http://schemas.microsoft.com/office/powerpoint/2010/main" val="2881192129"/>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7184" name="Worksheet" r:id="rId3" imgW="8972821" imgH="6363182" progId="Excel.Sheet.8">
                  <p:embed/>
                </p:oleObj>
              </mc:Choice>
              <mc:Fallback>
                <p:oleObj name="Worksheet" r:id="rId3" imgW="8972821" imgH="6363182" progId="Excel.Sheet.8">
                  <p:embed/>
                  <p:pic>
                    <p:nvPicPr>
                      <p:cNvPr id="67481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858502063"/>
      </p:ext>
    </p:extLst>
  </p:cSld>
  <p:clrMapOvr>
    <a:masterClrMapping/>
  </p:clrMapOvr>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0" name="Rectangle 2"/>
          <p:cNvSpPr>
            <a:spLocks noGrp="1" noChangeArrowheads="1"/>
          </p:cNvSpPr>
          <p:nvPr>
            <p:ph type="title"/>
          </p:nvPr>
        </p:nvSpPr>
        <p:spPr>
          <a:xfrm>
            <a:off x="983432" y="389782"/>
            <a:ext cx="8846368"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1</a:t>
            </a:r>
          </a:p>
        </p:txBody>
      </p:sp>
      <p:graphicFrame>
        <p:nvGraphicFramePr>
          <p:cNvPr id="677891" name="Object 3"/>
          <p:cNvGraphicFramePr>
            <a:graphicFrameLocks/>
          </p:cNvGraphicFramePr>
          <p:nvPr>
            <p:extLst>
              <p:ext uri="{D42A27DB-BD31-4B8C-83A1-F6EECF244321}">
                <p14:modId xmlns:p14="http://schemas.microsoft.com/office/powerpoint/2010/main" val="20872601"/>
              </p:ext>
            </p:extLst>
          </p:nvPr>
        </p:nvGraphicFramePr>
        <p:xfrm>
          <a:off x="1905000" y="1532780"/>
          <a:ext cx="8096250" cy="5208588"/>
        </p:xfrm>
        <a:graphic>
          <a:graphicData uri="http://schemas.openxmlformats.org/presentationml/2006/ole">
            <mc:AlternateContent xmlns:mc="http://schemas.openxmlformats.org/markup-compatibility/2006">
              <mc:Choice xmlns:v="urn:schemas-microsoft-com:vml" Requires="v">
                <p:oleObj spid="_x0000_s8208" name="Worksheet" r:id="rId3" imgW="8972821" imgH="6363182" progId="Excel.Sheet.8">
                  <p:embed/>
                </p:oleObj>
              </mc:Choice>
              <mc:Fallback>
                <p:oleObj name="Worksheet" r:id="rId3" imgW="8972821" imgH="6363182" progId="Excel.Sheet.8">
                  <p:embed/>
                  <p:pic>
                    <p:nvPicPr>
                      <p:cNvPr id="677891"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532780"/>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7892" name="AutoShape 4"/>
          <p:cNvSpPr>
            <a:spLocks noChangeArrowheads="1"/>
          </p:cNvSpPr>
          <p:nvPr/>
        </p:nvSpPr>
        <p:spPr bwMode="auto">
          <a:xfrm>
            <a:off x="4338639" y="1839169"/>
            <a:ext cx="758825" cy="758825"/>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7893" name="AutoShape 5"/>
          <p:cNvSpPr>
            <a:spLocks noChangeArrowheads="1"/>
          </p:cNvSpPr>
          <p:nvPr/>
        </p:nvSpPr>
        <p:spPr bwMode="auto">
          <a:xfrm>
            <a:off x="2254251" y="5880944"/>
            <a:ext cx="758825" cy="758825"/>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7894" name="AutoShape 6"/>
          <p:cNvSpPr>
            <a:spLocks noChangeArrowheads="1"/>
          </p:cNvSpPr>
          <p:nvPr/>
        </p:nvSpPr>
        <p:spPr bwMode="auto">
          <a:xfrm>
            <a:off x="6248401" y="5876181"/>
            <a:ext cx="758825" cy="758825"/>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7895" name="AutoShape 7"/>
          <p:cNvSpPr>
            <a:spLocks noChangeArrowheads="1"/>
          </p:cNvSpPr>
          <p:nvPr/>
        </p:nvSpPr>
        <p:spPr bwMode="auto">
          <a:xfrm>
            <a:off x="4267200" y="4123581"/>
            <a:ext cx="6019800" cy="530225"/>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846706525"/>
      </p:ext>
    </p:extLst>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4" name="Rectangle 2"/>
          <p:cNvSpPr>
            <a:spLocks noGrp="1" noChangeArrowheads="1"/>
          </p:cNvSpPr>
          <p:nvPr>
            <p:ph type="title"/>
          </p:nvPr>
        </p:nvSpPr>
        <p:spPr>
          <a:xfrm>
            <a:off x="1055440" y="476672"/>
            <a:ext cx="877436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2</a:t>
            </a:r>
          </a:p>
        </p:txBody>
      </p:sp>
      <p:graphicFrame>
        <p:nvGraphicFramePr>
          <p:cNvPr id="678915" name="Object 3"/>
          <p:cNvGraphicFramePr>
            <a:graphicFrameLocks/>
          </p:cNvGraphicFramePr>
          <p:nvPr>
            <p:extLst>
              <p:ext uri="{D42A27DB-BD31-4B8C-83A1-F6EECF244321}">
                <p14:modId xmlns:p14="http://schemas.microsoft.com/office/powerpoint/2010/main" val="385959038"/>
              </p:ext>
            </p:extLst>
          </p:nvPr>
        </p:nvGraphicFramePr>
        <p:xfrm>
          <a:off x="1055440" y="1604788"/>
          <a:ext cx="8096250" cy="5208588"/>
        </p:xfrm>
        <a:graphic>
          <a:graphicData uri="http://schemas.openxmlformats.org/presentationml/2006/ole">
            <mc:AlternateContent xmlns:mc="http://schemas.openxmlformats.org/markup-compatibility/2006">
              <mc:Choice xmlns:v="urn:schemas-microsoft-com:vml" Requires="v">
                <p:oleObj spid="_x0000_s9232" name="Worksheet" r:id="rId3" imgW="8972821" imgH="6363182" progId="Excel.Sheet.8">
                  <p:embed/>
                </p:oleObj>
              </mc:Choice>
              <mc:Fallback>
                <p:oleObj name="Worksheet" r:id="rId3" imgW="8972821" imgH="6363182" progId="Excel.Sheet.8">
                  <p:embed/>
                  <p:pic>
                    <p:nvPicPr>
                      <p:cNvPr id="67891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44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8916" name="Rectangle 4"/>
          <p:cNvSpPr>
            <a:spLocks noChangeArrowheads="1"/>
          </p:cNvSpPr>
          <p:nvPr/>
        </p:nvSpPr>
        <p:spPr bwMode="auto">
          <a:xfrm>
            <a:off x="8671998" y="2564904"/>
            <a:ext cx="3528392"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0"/>
              </a:spcBef>
              <a:tabLst>
                <a:tab pos="914400" algn="l"/>
                <a:tab pos="1657350" algn="l"/>
                <a:tab pos="3028950" algn="l"/>
              </a:tabLst>
              <a:defRPr sz="2400">
                <a:solidFill>
                  <a:schemeClr val="tx1"/>
                </a:solidFill>
                <a:latin typeface="Times New Roman" panose="02020603050405020304" pitchFamily="18" charset="0"/>
              </a:defRPr>
            </a:lvl1pPr>
            <a:lvl2pPr marL="685800" indent="-228600">
              <a:spcBef>
                <a:spcPct val="0"/>
              </a:spcBef>
              <a:tabLst>
                <a:tab pos="914400" algn="l"/>
                <a:tab pos="1657350" algn="l"/>
                <a:tab pos="3028950" algn="l"/>
              </a:tabLst>
              <a:defRPr sz="2400">
                <a:solidFill>
                  <a:schemeClr val="tx1"/>
                </a:solidFill>
                <a:latin typeface="Times New Roman" panose="02020603050405020304" pitchFamily="18" charset="0"/>
              </a:defRPr>
            </a:lvl2pPr>
            <a:lvl3pPr marL="1143000" indent="-228600">
              <a:spcBef>
                <a:spcPct val="0"/>
              </a:spcBef>
              <a:tabLst>
                <a:tab pos="914400" algn="l"/>
                <a:tab pos="1657350" algn="l"/>
                <a:tab pos="3028950" algn="l"/>
              </a:tabLst>
              <a:defRPr sz="2400">
                <a:solidFill>
                  <a:schemeClr val="tx1"/>
                </a:solidFill>
                <a:latin typeface="Times New Roman" panose="02020603050405020304" pitchFamily="18" charset="0"/>
              </a:defRPr>
            </a:lvl3pPr>
            <a:lvl4pPr marL="1543050" indent="-171450">
              <a:spcBef>
                <a:spcPct val="0"/>
              </a:spcBef>
              <a:tabLst>
                <a:tab pos="914400" algn="l"/>
                <a:tab pos="1657350" algn="l"/>
                <a:tab pos="3028950" algn="l"/>
              </a:tabLst>
              <a:defRPr sz="2400">
                <a:solidFill>
                  <a:schemeClr val="tx1"/>
                </a:solidFill>
                <a:latin typeface="Times New Roman" panose="02020603050405020304" pitchFamily="18" charset="0"/>
              </a:defRPr>
            </a:lvl4pPr>
            <a:lvl5pPr marL="2000250" indent="-171450">
              <a:spcBef>
                <a:spcPct val="0"/>
              </a:spcBef>
              <a:tabLst>
                <a:tab pos="914400" algn="l"/>
                <a:tab pos="1657350" algn="l"/>
                <a:tab pos="3028950" algn="l"/>
              </a:tabLst>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9pPr>
          </a:lstStyle>
          <a:p>
            <a:pPr>
              <a:lnSpc>
                <a:spcPct val="90000"/>
              </a:lnSpc>
              <a:spcBef>
                <a:spcPct val="30000"/>
              </a:spcBef>
              <a:buFontTx/>
              <a:buChar char="•"/>
            </a:pPr>
            <a:r>
              <a:rPr lang="en-US" altLang="zh-CN" dirty="0">
                <a:solidFill>
                  <a:srgbClr val="F9079D"/>
                </a:solidFill>
                <a:latin typeface="Comic Sans MS" panose="030F0702030302020204" pitchFamily="66" charset="0"/>
              </a:rPr>
              <a:t>Issue 2nd LD?</a:t>
            </a:r>
          </a:p>
        </p:txBody>
      </p:sp>
      <p:sp>
        <p:nvSpPr>
          <p:cNvPr id="678917" name="AutoShape 5"/>
          <p:cNvSpPr>
            <a:spLocks noChangeArrowheads="1"/>
          </p:cNvSpPr>
          <p:nvPr/>
        </p:nvSpPr>
        <p:spPr bwMode="auto">
          <a:xfrm>
            <a:off x="4063754" y="1565101"/>
            <a:ext cx="758825" cy="1071562"/>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7466814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78916"/>
                                        </p:tgtEl>
                                        <p:attrNameLst>
                                          <p:attrName>style.visibility</p:attrName>
                                        </p:attrNameLst>
                                      </p:cBhvr>
                                      <p:to>
                                        <p:strVal val="visible"/>
                                      </p:to>
                                    </p:set>
                                    <p:anim calcmode="lin" valueType="num">
                                      <p:cBhvr additive="base">
                                        <p:cTn id="7" dur="500" fill="hold"/>
                                        <p:tgtEl>
                                          <p:spTgt spid="678916"/>
                                        </p:tgtEl>
                                        <p:attrNameLst>
                                          <p:attrName>ppt_x</p:attrName>
                                        </p:attrNameLst>
                                      </p:cBhvr>
                                      <p:tavLst>
                                        <p:tav tm="0">
                                          <p:val>
                                            <p:strVal val="1+#ppt_w/2"/>
                                          </p:val>
                                        </p:tav>
                                        <p:tav tm="100000">
                                          <p:val>
                                            <p:strVal val="#ppt_x"/>
                                          </p:val>
                                        </p:tav>
                                      </p:tavLst>
                                    </p:anim>
                                    <p:anim calcmode="lin" valueType="num">
                                      <p:cBhvr additive="base">
                                        <p:cTn id="8" dur="500" fill="hold"/>
                                        <p:tgtEl>
                                          <p:spTgt spid="6789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16"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9938" name="Rectangle 2"/>
          <p:cNvSpPr>
            <a:spLocks noGrp="1" noChangeArrowheads="1"/>
          </p:cNvSpPr>
          <p:nvPr>
            <p:ph type="title"/>
          </p:nvPr>
        </p:nvSpPr>
        <p:spPr>
          <a:xfrm>
            <a:off x="1325920" y="533251"/>
            <a:ext cx="8486328"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3</a:t>
            </a:r>
          </a:p>
        </p:txBody>
      </p:sp>
      <p:graphicFrame>
        <p:nvGraphicFramePr>
          <p:cNvPr id="679939" name="Object 3"/>
          <p:cNvGraphicFramePr>
            <a:graphicFrameLocks/>
          </p:cNvGraphicFramePr>
          <p:nvPr>
            <p:extLst>
              <p:ext uri="{D42A27DB-BD31-4B8C-83A1-F6EECF244321}">
                <p14:modId xmlns:p14="http://schemas.microsoft.com/office/powerpoint/2010/main" val="1749473100"/>
              </p:ext>
            </p:extLst>
          </p:nvPr>
        </p:nvGraphicFramePr>
        <p:xfrm>
          <a:off x="1343472" y="1676796"/>
          <a:ext cx="8096250" cy="5208588"/>
        </p:xfrm>
        <a:graphic>
          <a:graphicData uri="http://schemas.openxmlformats.org/presentationml/2006/ole">
            <mc:AlternateContent xmlns:mc="http://schemas.openxmlformats.org/markup-compatibility/2006">
              <mc:Choice xmlns:v="urn:schemas-microsoft-com:vml" Requires="v">
                <p:oleObj spid="_x0000_s10257" name="Worksheet" r:id="rId3" imgW="8972821" imgH="6363182" progId="Excel.Sheet.8">
                  <p:embed/>
                </p:oleObj>
              </mc:Choice>
              <mc:Fallback>
                <p:oleObj name="Worksheet" r:id="rId3" imgW="8972821" imgH="6363182" progId="Excel.Sheet.8">
                  <p:embed/>
                  <p:pic>
                    <p:nvPicPr>
                      <p:cNvPr id="67993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3472" y="1676796"/>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9940" name="Rectangle 4"/>
          <p:cNvSpPr>
            <a:spLocks noChangeArrowheads="1"/>
          </p:cNvSpPr>
          <p:nvPr/>
        </p:nvSpPr>
        <p:spPr bwMode="auto">
          <a:xfrm>
            <a:off x="8400256" y="2682181"/>
            <a:ext cx="3312368"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0"/>
              </a:spcBef>
              <a:tabLst>
                <a:tab pos="914400" algn="l"/>
                <a:tab pos="1657350" algn="l"/>
                <a:tab pos="3028950" algn="l"/>
              </a:tabLst>
              <a:defRPr sz="2400">
                <a:solidFill>
                  <a:schemeClr val="tx1"/>
                </a:solidFill>
                <a:latin typeface="Times New Roman" panose="02020603050405020304" pitchFamily="18" charset="0"/>
              </a:defRPr>
            </a:lvl1pPr>
            <a:lvl2pPr marL="685800" indent="-228600">
              <a:spcBef>
                <a:spcPct val="0"/>
              </a:spcBef>
              <a:tabLst>
                <a:tab pos="914400" algn="l"/>
                <a:tab pos="1657350" algn="l"/>
                <a:tab pos="3028950" algn="l"/>
              </a:tabLst>
              <a:defRPr sz="2400">
                <a:solidFill>
                  <a:schemeClr val="tx1"/>
                </a:solidFill>
                <a:latin typeface="Times New Roman" panose="02020603050405020304" pitchFamily="18" charset="0"/>
              </a:defRPr>
            </a:lvl2pPr>
            <a:lvl3pPr marL="1143000" indent="-228600">
              <a:spcBef>
                <a:spcPct val="0"/>
              </a:spcBef>
              <a:tabLst>
                <a:tab pos="914400" algn="l"/>
                <a:tab pos="1657350" algn="l"/>
                <a:tab pos="3028950" algn="l"/>
              </a:tabLst>
              <a:defRPr sz="2400">
                <a:solidFill>
                  <a:schemeClr val="tx1"/>
                </a:solidFill>
                <a:latin typeface="Times New Roman" panose="02020603050405020304" pitchFamily="18" charset="0"/>
              </a:defRPr>
            </a:lvl3pPr>
            <a:lvl4pPr marL="1543050" indent="-171450">
              <a:spcBef>
                <a:spcPct val="0"/>
              </a:spcBef>
              <a:tabLst>
                <a:tab pos="914400" algn="l"/>
                <a:tab pos="1657350" algn="l"/>
                <a:tab pos="3028950" algn="l"/>
              </a:tabLst>
              <a:defRPr sz="2400">
                <a:solidFill>
                  <a:schemeClr val="tx1"/>
                </a:solidFill>
                <a:latin typeface="Times New Roman" panose="02020603050405020304" pitchFamily="18" charset="0"/>
              </a:defRPr>
            </a:lvl4pPr>
            <a:lvl5pPr marL="2000250" indent="-171450">
              <a:spcBef>
                <a:spcPct val="0"/>
              </a:spcBef>
              <a:tabLst>
                <a:tab pos="914400" algn="l"/>
                <a:tab pos="1657350" algn="l"/>
                <a:tab pos="3028950" algn="l"/>
              </a:tabLst>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9pPr>
          </a:lstStyle>
          <a:p>
            <a:pPr>
              <a:lnSpc>
                <a:spcPct val="90000"/>
              </a:lnSpc>
              <a:spcBef>
                <a:spcPct val="30000"/>
              </a:spcBef>
              <a:buFontTx/>
              <a:buChar char="•"/>
            </a:pPr>
            <a:r>
              <a:rPr lang="en-US" altLang="zh-CN" dirty="0">
                <a:solidFill>
                  <a:srgbClr val="F9079D"/>
                </a:solidFill>
                <a:latin typeface="Comic Sans MS" panose="030F0702030302020204" pitchFamily="66" charset="0"/>
              </a:rPr>
              <a:t>Issue MULT?</a:t>
            </a:r>
          </a:p>
        </p:txBody>
      </p:sp>
      <p:sp>
        <p:nvSpPr>
          <p:cNvPr id="679941" name="AutoShape 5"/>
          <p:cNvSpPr>
            <a:spLocks noChangeArrowheads="1"/>
          </p:cNvSpPr>
          <p:nvPr/>
        </p:nvSpPr>
        <p:spPr bwMode="auto">
          <a:xfrm>
            <a:off x="4991548" y="1637109"/>
            <a:ext cx="758825" cy="1071562"/>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9942" name="AutoShape 6"/>
          <p:cNvSpPr>
            <a:spLocks noChangeArrowheads="1"/>
          </p:cNvSpPr>
          <p:nvPr/>
        </p:nvSpPr>
        <p:spPr bwMode="auto">
          <a:xfrm>
            <a:off x="8734873" y="3734197"/>
            <a:ext cx="758825" cy="1071563"/>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0568285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79940"/>
                                        </p:tgtEl>
                                        <p:attrNameLst>
                                          <p:attrName>style.visibility</p:attrName>
                                        </p:attrNameLst>
                                      </p:cBhvr>
                                      <p:to>
                                        <p:strVal val="visible"/>
                                      </p:to>
                                    </p:set>
                                    <p:anim calcmode="lin" valueType="num">
                                      <p:cBhvr additive="base">
                                        <p:cTn id="7" dur="500" fill="hold"/>
                                        <p:tgtEl>
                                          <p:spTgt spid="679940"/>
                                        </p:tgtEl>
                                        <p:attrNameLst>
                                          <p:attrName>ppt_x</p:attrName>
                                        </p:attrNameLst>
                                      </p:cBhvr>
                                      <p:tavLst>
                                        <p:tav tm="0">
                                          <p:val>
                                            <p:strVal val="1+#ppt_w/2"/>
                                          </p:val>
                                        </p:tav>
                                        <p:tav tm="100000">
                                          <p:val>
                                            <p:strVal val="#ppt_x"/>
                                          </p:val>
                                        </p:tav>
                                      </p:tavLst>
                                    </p:anim>
                                    <p:anim calcmode="lin" valueType="num">
                                      <p:cBhvr additive="base">
                                        <p:cTn id="8" dur="500" fill="hold"/>
                                        <p:tgtEl>
                                          <p:spTgt spid="67994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9940" grpId="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a:xfrm>
            <a:off x="1559496" y="421134"/>
            <a:ext cx="8270304"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4</a:t>
            </a:r>
          </a:p>
        </p:txBody>
      </p:sp>
      <p:graphicFrame>
        <p:nvGraphicFramePr>
          <p:cNvPr id="680963" name="Object 3"/>
          <p:cNvGraphicFramePr>
            <a:graphicFrameLocks/>
          </p:cNvGraphicFramePr>
          <p:nvPr>
            <p:extLst>
              <p:ext uri="{D42A27DB-BD31-4B8C-83A1-F6EECF244321}">
                <p14:modId xmlns:p14="http://schemas.microsoft.com/office/powerpoint/2010/main" val="3895078152"/>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11280" name="Worksheet" r:id="rId3" imgW="8972821" imgH="6363182" progId="Excel.Sheet.8">
                  <p:embed/>
                </p:oleObj>
              </mc:Choice>
              <mc:Fallback>
                <p:oleObj name="Worksheet" r:id="rId3" imgW="8972821" imgH="6363182" progId="Excel.Sheet.8">
                  <p:embed/>
                  <p:pic>
                    <p:nvPicPr>
                      <p:cNvPr id="680963"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0964" name="AutoShape 4"/>
          <p:cNvSpPr>
            <a:spLocks noChangeArrowheads="1"/>
          </p:cNvSpPr>
          <p:nvPr/>
        </p:nvSpPr>
        <p:spPr bwMode="auto">
          <a:xfrm>
            <a:off x="6176964" y="1565101"/>
            <a:ext cx="758825" cy="1071562"/>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0965" name="AutoShape 5"/>
          <p:cNvSpPr>
            <a:spLocks noChangeArrowheads="1"/>
          </p:cNvSpPr>
          <p:nvPr/>
        </p:nvSpPr>
        <p:spPr bwMode="auto">
          <a:xfrm>
            <a:off x="4267200" y="4195589"/>
            <a:ext cx="6019800" cy="530225"/>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3722956765"/>
      </p:ext>
    </p:extLst>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6" name="Rectangle 2"/>
          <p:cNvSpPr>
            <a:spLocks noGrp="1" noChangeArrowheads="1"/>
          </p:cNvSpPr>
          <p:nvPr>
            <p:ph type="title"/>
          </p:nvPr>
        </p:nvSpPr>
        <p:spPr>
          <a:xfrm>
            <a:off x="1703512" y="476672"/>
            <a:ext cx="8126288"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5</a:t>
            </a:r>
          </a:p>
        </p:txBody>
      </p:sp>
      <p:graphicFrame>
        <p:nvGraphicFramePr>
          <p:cNvPr id="681987" name="Object 3"/>
          <p:cNvGraphicFramePr>
            <a:graphicFrameLocks/>
          </p:cNvGraphicFramePr>
          <p:nvPr>
            <p:extLst>
              <p:ext uri="{D42A27DB-BD31-4B8C-83A1-F6EECF244321}">
                <p14:modId xmlns:p14="http://schemas.microsoft.com/office/powerpoint/2010/main" val="3202377674"/>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12304" name="Worksheet" r:id="rId3" imgW="8972821" imgH="6363182" progId="Excel.Sheet.8">
                  <p:embed/>
                </p:oleObj>
              </mc:Choice>
              <mc:Fallback>
                <p:oleObj name="Worksheet" r:id="rId3" imgW="8972821" imgH="6363182" progId="Excel.Sheet.8">
                  <p:embed/>
                  <p:pic>
                    <p:nvPicPr>
                      <p:cNvPr id="681987"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1988" name="AutoShape 4"/>
          <p:cNvSpPr>
            <a:spLocks noChangeArrowheads="1"/>
          </p:cNvSpPr>
          <p:nvPr/>
        </p:nvSpPr>
        <p:spPr bwMode="auto">
          <a:xfrm>
            <a:off x="4267200" y="4195589"/>
            <a:ext cx="6019800" cy="530225"/>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270922926"/>
      </p:ext>
    </p:extLst>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0" name="Rectangle 2"/>
          <p:cNvSpPr>
            <a:spLocks noGrp="1" noChangeArrowheads="1"/>
          </p:cNvSpPr>
          <p:nvPr>
            <p:ph type="title"/>
          </p:nvPr>
        </p:nvSpPr>
        <p:spPr>
          <a:xfrm>
            <a:off x="1905368" y="260648"/>
            <a:ext cx="786304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6</a:t>
            </a:r>
          </a:p>
        </p:txBody>
      </p:sp>
      <p:graphicFrame>
        <p:nvGraphicFramePr>
          <p:cNvPr id="683011" name="Object 3"/>
          <p:cNvGraphicFramePr>
            <a:graphicFrameLocks/>
          </p:cNvGraphicFramePr>
          <p:nvPr>
            <p:extLst>
              <p:ext uri="{D42A27DB-BD31-4B8C-83A1-F6EECF244321}">
                <p14:modId xmlns:p14="http://schemas.microsoft.com/office/powerpoint/2010/main" val="2943825290"/>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13328" name="Worksheet" r:id="rId3" imgW="8972821" imgH="6363182" progId="Excel.Sheet.8">
                  <p:embed/>
                </p:oleObj>
              </mc:Choice>
              <mc:Fallback>
                <p:oleObj name="Worksheet" r:id="rId3" imgW="8972821" imgH="6363182" progId="Excel.Sheet.8">
                  <p:embed/>
                  <p:pic>
                    <p:nvPicPr>
                      <p:cNvPr id="683011"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3012" name="AutoShape 4"/>
          <p:cNvSpPr>
            <a:spLocks noChangeArrowheads="1"/>
          </p:cNvSpPr>
          <p:nvPr/>
        </p:nvSpPr>
        <p:spPr bwMode="auto">
          <a:xfrm>
            <a:off x="4249738" y="4474989"/>
            <a:ext cx="6019800" cy="530225"/>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103734195"/>
      </p:ext>
    </p:extLst>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a:xfrm>
            <a:off x="1894656" y="394542"/>
            <a:ext cx="7935144"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7</a:t>
            </a:r>
          </a:p>
        </p:txBody>
      </p:sp>
      <p:graphicFrame>
        <p:nvGraphicFramePr>
          <p:cNvPr id="684035" name="Object 3"/>
          <p:cNvGraphicFramePr>
            <a:graphicFrameLocks/>
          </p:cNvGraphicFramePr>
          <p:nvPr>
            <p:extLst>
              <p:ext uri="{D42A27DB-BD31-4B8C-83A1-F6EECF244321}">
                <p14:modId xmlns:p14="http://schemas.microsoft.com/office/powerpoint/2010/main" val="2003436757"/>
              </p:ext>
            </p:extLst>
          </p:nvPr>
        </p:nvGraphicFramePr>
        <p:xfrm>
          <a:off x="1894656" y="1604788"/>
          <a:ext cx="8096250" cy="5208588"/>
        </p:xfrm>
        <a:graphic>
          <a:graphicData uri="http://schemas.openxmlformats.org/presentationml/2006/ole">
            <mc:AlternateContent xmlns:mc="http://schemas.openxmlformats.org/markup-compatibility/2006">
              <mc:Choice xmlns:v="urn:schemas-microsoft-com:vml" Requires="v">
                <p:oleObj spid="_x0000_s14352" name="Worksheet" r:id="rId3" imgW="8972821" imgH="6363182" progId="Excel.Sheet.8">
                  <p:embed/>
                </p:oleObj>
              </mc:Choice>
              <mc:Fallback>
                <p:oleObj name="Worksheet" r:id="rId3" imgW="8972821" imgH="6363182" progId="Excel.Sheet.8">
                  <p:embed/>
                  <p:pic>
                    <p:nvPicPr>
                      <p:cNvPr id="68403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4656"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4036" name="Rectangle 4"/>
          <p:cNvSpPr>
            <a:spLocks noChangeArrowheads="1"/>
          </p:cNvSpPr>
          <p:nvPr/>
        </p:nvSpPr>
        <p:spPr bwMode="auto">
          <a:xfrm>
            <a:off x="8106097" y="2348880"/>
            <a:ext cx="3979168"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0"/>
              </a:spcBef>
              <a:tabLst>
                <a:tab pos="914400" algn="l"/>
                <a:tab pos="1657350" algn="l"/>
                <a:tab pos="3028950" algn="l"/>
              </a:tabLst>
              <a:defRPr sz="2400">
                <a:solidFill>
                  <a:schemeClr val="tx1"/>
                </a:solidFill>
                <a:latin typeface="Times New Roman" panose="02020603050405020304" pitchFamily="18" charset="0"/>
              </a:defRPr>
            </a:lvl1pPr>
            <a:lvl2pPr marL="685800" indent="-228600">
              <a:spcBef>
                <a:spcPct val="0"/>
              </a:spcBef>
              <a:tabLst>
                <a:tab pos="914400" algn="l"/>
                <a:tab pos="1657350" algn="l"/>
                <a:tab pos="3028950" algn="l"/>
              </a:tabLst>
              <a:defRPr sz="2400">
                <a:solidFill>
                  <a:schemeClr val="tx1"/>
                </a:solidFill>
                <a:latin typeface="Times New Roman" panose="02020603050405020304" pitchFamily="18" charset="0"/>
              </a:defRPr>
            </a:lvl2pPr>
            <a:lvl3pPr marL="1143000" indent="-228600">
              <a:spcBef>
                <a:spcPct val="0"/>
              </a:spcBef>
              <a:tabLst>
                <a:tab pos="914400" algn="l"/>
                <a:tab pos="1657350" algn="l"/>
                <a:tab pos="3028950" algn="l"/>
              </a:tabLst>
              <a:defRPr sz="2400">
                <a:solidFill>
                  <a:schemeClr val="tx1"/>
                </a:solidFill>
                <a:latin typeface="Times New Roman" panose="02020603050405020304" pitchFamily="18" charset="0"/>
              </a:defRPr>
            </a:lvl3pPr>
            <a:lvl4pPr marL="1543050" indent="-171450">
              <a:spcBef>
                <a:spcPct val="0"/>
              </a:spcBef>
              <a:tabLst>
                <a:tab pos="914400" algn="l"/>
                <a:tab pos="1657350" algn="l"/>
                <a:tab pos="3028950" algn="l"/>
              </a:tabLst>
              <a:defRPr sz="2400">
                <a:solidFill>
                  <a:schemeClr val="tx1"/>
                </a:solidFill>
                <a:latin typeface="Times New Roman" panose="02020603050405020304" pitchFamily="18" charset="0"/>
              </a:defRPr>
            </a:lvl4pPr>
            <a:lvl5pPr marL="2000250" indent="-171450">
              <a:spcBef>
                <a:spcPct val="0"/>
              </a:spcBef>
              <a:tabLst>
                <a:tab pos="914400" algn="l"/>
                <a:tab pos="1657350" algn="l"/>
                <a:tab pos="3028950" algn="l"/>
              </a:tabLst>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9pPr>
          </a:lstStyle>
          <a:p>
            <a:pPr>
              <a:lnSpc>
                <a:spcPct val="90000"/>
              </a:lnSpc>
              <a:spcBef>
                <a:spcPct val="30000"/>
              </a:spcBef>
              <a:buFontTx/>
              <a:buChar char="•"/>
            </a:pPr>
            <a:r>
              <a:rPr lang="en-US" altLang="zh-CN" dirty="0">
                <a:solidFill>
                  <a:srgbClr val="F9079D"/>
                </a:solidFill>
                <a:latin typeface="Comic Sans MS" panose="030F0702030302020204" pitchFamily="66" charset="0"/>
              </a:rPr>
              <a:t>Read multiply operands?</a:t>
            </a:r>
          </a:p>
        </p:txBody>
      </p:sp>
      <p:sp>
        <p:nvSpPr>
          <p:cNvPr id="684037" name="AutoShape 5"/>
          <p:cNvSpPr>
            <a:spLocks noChangeArrowheads="1"/>
          </p:cNvSpPr>
          <p:nvPr/>
        </p:nvSpPr>
        <p:spPr bwMode="auto">
          <a:xfrm>
            <a:off x="4180656" y="4957589"/>
            <a:ext cx="6019800" cy="530225"/>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3660722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84036"/>
                                        </p:tgtEl>
                                        <p:attrNameLst>
                                          <p:attrName>style.visibility</p:attrName>
                                        </p:attrNameLst>
                                      </p:cBhvr>
                                      <p:to>
                                        <p:strVal val="visible"/>
                                      </p:to>
                                    </p:set>
                                    <p:anim calcmode="lin" valueType="num">
                                      <p:cBhvr additive="base">
                                        <p:cTn id="7" dur="500" fill="hold"/>
                                        <p:tgtEl>
                                          <p:spTgt spid="684036"/>
                                        </p:tgtEl>
                                        <p:attrNameLst>
                                          <p:attrName>ppt_x</p:attrName>
                                        </p:attrNameLst>
                                      </p:cBhvr>
                                      <p:tavLst>
                                        <p:tav tm="0">
                                          <p:val>
                                            <p:strVal val="1+#ppt_w/2"/>
                                          </p:val>
                                        </p:tav>
                                        <p:tav tm="100000">
                                          <p:val>
                                            <p:strVal val="#ppt_x"/>
                                          </p:val>
                                        </p:tav>
                                      </p:tavLst>
                                    </p:anim>
                                    <p:anim calcmode="lin" valueType="num">
                                      <p:cBhvr additive="base">
                                        <p:cTn id="8" dur="500" fill="hold"/>
                                        <p:tgtEl>
                                          <p:spTgt spid="6840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36" grpId="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a:xfrm>
            <a:off x="1597206" y="404664"/>
            <a:ext cx="841432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8a</a:t>
            </a:r>
            <a:br>
              <a:rPr lang="en-US" altLang="zh-CN" dirty="0">
                <a:ea typeface="宋体" panose="02010600030101010101" pitchFamily="2" charset="-122"/>
              </a:rPr>
            </a:br>
            <a:r>
              <a:rPr lang="en-US" altLang="zh-CN" sz="2400" dirty="0">
                <a:ea typeface="宋体" panose="02010600030101010101" pitchFamily="2" charset="-122"/>
              </a:rPr>
              <a:t>(First half of clock cycle)</a:t>
            </a:r>
            <a:endParaRPr lang="en-US" altLang="zh-CN" dirty="0">
              <a:ea typeface="宋体" panose="02010600030101010101" pitchFamily="2" charset="-122"/>
            </a:endParaRPr>
          </a:p>
        </p:txBody>
      </p:sp>
      <p:graphicFrame>
        <p:nvGraphicFramePr>
          <p:cNvPr id="685059" name="Object 3"/>
          <p:cNvGraphicFramePr>
            <a:graphicFrameLocks/>
          </p:cNvGraphicFramePr>
          <p:nvPr>
            <p:extLst>
              <p:ext uri="{D42A27DB-BD31-4B8C-83A1-F6EECF244321}">
                <p14:modId xmlns:p14="http://schemas.microsoft.com/office/powerpoint/2010/main" val="3548521584"/>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15376" name="Worksheet" r:id="rId3" imgW="8972821" imgH="6363182" progId="Excel.Sheet.8">
                  <p:embed/>
                </p:oleObj>
              </mc:Choice>
              <mc:Fallback>
                <p:oleObj name="Worksheet" r:id="rId3" imgW="8972821" imgH="6363182" progId="Excel.Sheet.8">
                  <p:embed/>
                  <p:pic>
                    <p:nvPicPr>
                      <p:cNvPr id="68505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622499698"/>
      </p:ext>
    </p:extLst>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a:xfrm>
            <a:off x="1905000" y="404664"/>
            <a:ext cx="792480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8b</a:t>
            </a:r>
            <a:br>
              <a:rPr lang="en-US" altLang="zh-CN" dirty="0">
                <a:ea typeface="宋体" panose="02010600030101010101" pitchFamily="2" charset="-122"/>
              </a:rPr>
            </a:br>
            <a:r>
              <a:rPr lang="en-US" altLang="zh-CN" sz="2400" dirty="0">
                <a:ea typeface="宋体" panose="02010600030101010101" pitchFamily="2" charset="-122"/>
              </a:rPr>
              <a:t>(Second half of clock cycle)</a:t>
            </a:r>
            <a:endParaRPr lang="en-US" altLang="zh-CN" dirty="0">
              <a:ea typeface="宋体" panose="02010600030101010101" pitchFamily="2" charset="-122"/>
            </a:endParaRPr>
          </a:p>
        </p:txBody>
      </p:sp>
      <p:graphicFrame>
        <p:nvGraphicFramePr>
          <p:cNvPr id="686083" name="Object 3"/>
          <p:cNvGraphicFramePr>
            <a:graphicFrameLocks/>
          </p:cNvGraphicFramePr>
          <p:nvPr>
            <p:extLst>
              <p:ext uri="{D42A27DB-BD31-4B8C-83A1-F6EECF244321}">
                <p14:modId xmlns:p14="http://schemas.microsoft.com/office/powerpoint/2010/main" val="2431589297"/>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16400" name="Worksheet" r:id="rId3" imgW="8972821" imgH="6363182" progId="Excel.Sheet.8">
                  <p:embed/>
                </p:oleObj>
              </mc:Choice>
              <mc:Fallback>
                <p:oleObj name="Worksheet" r:id="rId3" imgW="8972821" imgH="6363182" progId="Excel.Sheet.8">
                  <p:embed/>
                  <p:pic>
                    <p:nvPicPr>
                      <p:cNvPr id="686083"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081695566"/>
      </p:ext>
    </p:extLst>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a:xfrm>
            <a:off x="1905000" y="508125"/>
            <a:ext cx="792480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9</a:t>
            </a:r>
          </a:p>
        </p:txBody>
      </p:sp>
      <p:graphicFrame>
        <p:nvGraphicFramePr>
          <p:cNvPr id="687107" name="Object 3"/>
          <p:cNvGraphicFramePr>
            <a:graphicFrameLocks/>
          </p:cNvGraphicFramePr>
          <p:nvPr>
            <p:extLst>
              <p:ext uri="{D42A27DB-BD31-4B8C-83A1-F6EECF244321}">
                <p14:modId xmlns:p14="http://schemas.microsoft.com/office/powerpoint/2010/main" val="638499543"/>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17425" name="Worksheet" r:id="rId3" imgW="8972821" imgH="6363182" progId="Excel.Sheet.8">
                  <p:embed/>
                </p:oleObj>
              </mc:Choice>
              <mc:Fallback>
                <p:oleObj name="Worksheet" r:id="rId3" imgW="8972821" imgH="6363182" progId="Excel.Sheet.8">
                  <p:embed/>
                  <p:pic>
                    <p:nvPicPr>
                      <p:cNvPr id="687107"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7108" name="Rectangle 4"/>
          <p:cNvSpPr>
            <a:spLocks noChangeArrowheads="1"/>
          </p:cNvSpPr>
          <p:nvPr/>
        </p:nvSpPr>
        <p:spPr bwMode="auto">
          <a:xfrm>
            <a:off x="7464152" y="2132856"/>
            <a:ext cx="4532040"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0"/>
              </a:spcBef>
              <a:tabLst>
                <a:tab pos="914400" algn="l"/>
                <a:tab pos="1657350" algn="l"/>
                <a:tab pos="3028950" algn="l"/>
              </a:tabLst>
              <a:defRPr sz="2400">
                <a:solidFill>
                  <a:schemeClr val="tx1"/>
                </a:solidFill>
                <a:latin typeface="Times New Roman" panose="02020603050405020304" pitchFamily="18" charset="0"/>
              </a:defRPr>
            </a:lvl1pPr>
            <a:lvl2pPr marL="685800" indent="-228600">
              <a:spcBef>
                <a:spcPct val="0"/>
              </a:spcBef>
              <a:tabLst>
                <a:tab pos="914400" algn="l"/>
                <a:tab pos="1657350" algn="l"/>
                <a:tab pos="3028950" algn="l"/>
              </a:tabLst>
              <a:defRPr sz="2400">
                <a:solidFill>
                  <a:schemeClr val="tx1"/>
                </a:solidFill>
                <a:latin typeface="Times New Roman" panose="02020603050405020304" pitchFamily="18" charset="0"/>
              </a:defRPr>
            </a:lvl2pPr>
            <a:lvl3pPr marL="1143000" indent="-228600">
              <a:spcBef>
                <a:spcPct val="0"/>
              </a:spcBef>
              <a:tabLst>
                <a:tab pos="914400" algn="l"/>
                <a:tab pos="1657350" algn="l"/>
                <a:tab pos="3028950" algn="l"/>
              </a:tabLst>
              <a:defRPr sz="2400">
                <a:solidFill>
                  <a:schemeClr val="tx1"/>
                </a:solidFill>
                <a:latin typeface="Times New Roman" panose="02020603050405020304" pitchFamily="18" charset="0"/>
              </a:defRPr>
            </a:lvl3pPr>
            <a:lvl4pPr marL="1543050" indent="-171450">
              <a:spcBef>
                <a:spcPct val="0"/>
              </a:spcBef>
              <a:tabLst>
                <a:tab pos="914400" algn="l"/>
                <a:tab pos="1657350" algn="l"/>
                <a:tab pos="3028950" algn="l"/>
              </a:tabLst>
              <a:defRPr sz="2400">
                <a:solidFill>
                  <a:schemeClr val="tx1"/>
                </a:solidFill>
                <a:latin typeface="Times New Roman" panose="02020603050405020304" pitchFamily="18" charset="0"/>
              </a:defRPr>
            </a:lvl4pPr>
            <a:lvl5pPr marL="2000250" indent="-171450">
              <a:spcBef>
                <a:spcPct val="0"/>
              </a:spcBef>
              <a:tabLst>
                <a:tab pos="914400" algn="l"/>
                <a:tab pos="1657350" algn="l"/>
                <a:tab pos="3028950" algn="l"/>
              </a:tabLst>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9pPr>
          </a:lstStyle>
          <a:p>
            <a:pPr>
              <a:lnSpc>
                <a:spcPct val="90000"/>
              </a:lnSpc>
              <a:spcBef>
                <a:spcPct val="30000"/>
              </a:spcBef>
              <a:buFontTx/>
              <a:buChar char="•"/>
            </a:pPr>
            <a:r>
              <a:rPr lang="en-US" altLang="zh-CN" dirty="0">
                <a:solidFill>
                  <a:srgbClr val="F9079D"/>
                </a:solidFill>
                <a:latin typeface="Comic Sans MS" panose="030F0702030302020204" pitchFamily="66" charset="0"/>
              </a:rPr>
              <a:t>Read operands for MULT &amp; </a:t>
            </a:r>
            <a:r>
              <a:rPr lang="en-US" altLang="zh-CN" dirty="0" smtClean="0">
                <a:solidFill>
                  <a:srgbClr val="F9079D"/>
                </a:solidFill>
                <a:latin typeface="Comic Sans MS" panose="030F0702030302020204" pitchFamily="66" charset="0"/>
              </a:rPr>
              <a:t/>
            </a:r>
            <a:br>
              <a:rPr lang="en-US" altLang="zh-CN" dirty="0" smtClean="0">
                <a:solidFill>
                  <a:srgbClr val="F9079D"/>
                </a:solidFill>
                <a:latin typeface="Comic Sans MS" panose="030F0702030302020204" pitchFamily="66" charset="0"/>
              </a:rPr>
            </a:br>
            <a:r>
              <a:rPr lang="en-US" altLang="zh-CN" dirty="0" smtClean="0">
                <a:solidFill>
                  <a:srgbClr val="F9079D"/>
                </a:solidFill>
                <a:latin typeface="Comic Sans MS" panose="030F0702030302020204" pitchFamily="66" charset="0"/>
              </a:rPr>
              <a:t>SUB</a:t>
            </a:r>
            <a:r>
              <a:rPr lang="en-US" altLang="zh-CN" dirty="0">
                <a:solidFill>
                  <a:srgbClr val="F9079D"/>
                </a:solidFill>
                <a:latin typeface="Comic Sans MS" panose="030F0702030302020204" pitchFamily="66" charset="0"/>
              </a:rPr>
              <a:t>? </a:t>
            </a:r>
            <a:endParaRPr lang="en-US" altLang="zh-CN" dirty="0" smtClean="0">
              <a:solidFill>
                <a:srgbClr val="F9079D"/>
              </a:solidFill>
              <a:latin typeface="Comic Sans MS" panose="030F0702030302020204" pitchFamily="66" charset="0"/>
            </a:endParaRPr>
          </a:p>
          <a:p>
            <a:pPr>
              <a:lnSpc>
                <a:spcPct val="90000"/>
              </a:lnSpc>
              <a:spcBef>
                <a:spcPct val="30000"/>
              </a:spcBef>
              <a:buFontTx/>
              <a:buChar char="•"/>
            </a:pPr>
            <a:r>
              <a:rPr lang="en-US" altLang="zh-CN" dirty="0" smtClean="0">
                <a:solidFill>
                  <a:srgbClr val="F9079D"/>
                </a:solidFill>
                <a:latin typeface="Comic Sans MS" panose="030F0702030302020204" pitchFamily="66" charset="0"/>
              </a:rPr>
              <a:t> </a:t>
            </a:r>
            <a:r>
              <a:rPr lang="en-US" altLang="zh-CN" dirty="0">
                <a:solidFill>
                  <a:srgbClr val="F9079D"/>
                </a:solidFill>
                <a:latin typeface="Comic Sans MS" panose="030F0702030302020204" pitchFamily="66" charset="0"/>
              </a:rPr>
              <a:t>Issue ADDD?</a:t>
            </a:r>
          </a:p>
        </p:txBody>
      </p:sp>
      <p:sp>
        <p:nvSpPr>
          <p:cNvPr id="687109" name="Text Box 5"/>
          <p:cNvSpPr txBox="1">
            <a:spLocks noChangeArrowheads="1"/>
          </p:cNvSpPr>
          <p:nvPr/>
        </p:nvSpPr>
        <p:spPr bwMode="auto">
          <a:xfrm>
            <a:off x="1127448" y="4509120"/>
            <a:ext cx="1233488" cy="641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dirty="0">
                <a:solidFill>
                  <a:srgbClr val="F9079D"/>
                </a:solidFill>
                <a:latin typeface="Comic Sans MS" panose="030F0702030302020204" pitchFamily="66" charset="0"/>
              </a:rPr>
              <a:t>Note </a:t>
            </a:r>
          </a:p>
          <a:p>
            <a:pPr>
              <a:spcBef>
                <a:spcPct val="0"/>
              </a:spcBef>
            </a:pPr>
            <a:r>
              <a:rPr lang="en-US" altLang="zh-CN" dirty="0">
                <a:solidFill>
                  <a:srgbClr val="F9079D"/>
                </a:solidFill>
                <a:latin typeface="Comic Sans MS" panose="030F0702030302020204" pitchFamily="66" charset="0"/>
              </a:rPr>
              <a:t>Remaining</a:t>
            </a:r>
          </a:p>
        </p:txBody>
      </p:sp>
      <p:sp>
        <p:nvSpPr>
          <p:cNvPr id="687110" name="Line 6"/>
          <p:cNvSpPr>
            <a:spLocks noChangeShapeType="1"/>
          </p:cNvSpPr>
          <p:nvPr/>
        </p:nvSpPr>
        <p:spPr bwMode="auto">
          <a:xfrm>
            <a:off x="2063552" y="4725144"/>
            <a:ext cx="1136848" cy="3844"/>
          </a:xfrm>
          <a:prstGeom prst="line">
            <a:avLst/>
          </a:prstGeom>
          <a:noFill/>
          <a:ln w="76200">
            <a:solidFill>
              <a:srgbClr val="F9079D"/>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41594520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87108"/>
                                        </p:tgtEl>
                                        <p:attrNameLst>
                                          <p:attrName>style.visibility</p:attrName>
                                        </p:attrNameLst>
                                      </p:cBhvr>
                                      <p:to>
                                        <p:strVal val="visible"/>
                                      </p:to>
                                    </p:set>
                                    <p:anim calcmode="lin" valueType="num">
                                      <p:cBhvr additive="base">
                                        <p:cTn id="7" dur="500" fill="hold"/>
                                        <p:tgtEl>
                                          <p:spTgt spid="687108"/>
                                        </p:tgtEl>
                                        <p:attrNameLst>
                                          <p:attrName>ppt_x</p:attrName>
                                        </p:attrNameLst>
                                      </p:cBhvr>
                                      <p:tavLst>
                                        <p:tav tm="0">
                                          <p:val>
                                            <p:strVal val="1+#ppt_w/2"/>
                                          </p:val>
                                        </p:tav>
                                        <p:tav tm="100000">
                                          <p:val>
                                            <p:strVal val="#ppt_x"/>
                                          </p:val>
                                        </p:tav>
                                      </p:tavLst>
                                    </p:anim>
                                    <p:anim calcmode="lin" valueType="num">
                                      <p:cBhvr additive="base">
                                        <p:cTn id="8" dur="500" fill="hold"/>
                                        <p:tgtEl>
                                          <p:spTgt spid="6871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7108" grpId="0"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p:cNvSpPr>
            <a:spLocks noGrp="1" noChangeArrowheads="1"/>
          </p:cNvSpPr>
          <p:nvPr>
            <p:ph type="title"/>
          </p:nvPr>
        </p:nvSpPr>
        <p:spPr>
          <a:xfrm>
            <a:off x="1874962" y="476672"/>
            <a:ext cx="8126288"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10</a:t>
            </a:r>
          </a:p>
        </p:txBody>
      </p:sp>
      <p:graphicFrame>
        <p:nvGraphicFramePr>
          <p:cNvPr id="688131" name="Object 3"/>
          <p:cNvGraphicFramePr>
            <a:graphicFrameLocks/>
          </p:cNvGraphicFramePr>
          <p:nvPr>
            <p:extLst>
              <p:ext uri="{D42A27DB-BD31-4B8C-83A1-F6EECF244321}">
                <p14:modId xmlns:p14="http://schemas.microsoft.com/office/powerpoint/2010/main" val="1581842216"/>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18448" name="Worksheet" r:id="rId3" imgW="8972821" imgH="6363182" progId="Excel.Sheet.8">
                  <p:embed/>
                </p:oleObj>
              </mc:Choice>
              <mc:Fallback>
                <p:oleObj name="Worksheet" r:id="rId3" imgW="8972821" imgH="6363182" progId="Excel.Sheet.8">
                  <p:embed/>
                  <p:pic>
                    <p:nvPicPr>
                      <p:cNvPr id="688131"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92614467"/>
      </p:ext>
    </p:extLst>
  </p:cSld>
  <p:clrMapOvr>
    <a:masterClrMapping/>
  </p:clrMapOvr>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a:xfrm>
            <a:off x="1886113" y="476672"/>
            <a:ext cx="835908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11</a:t>
            </a:r>
          </a:p>
        </p:txBody>
      </p:sp>
      <p:graphicFrame>
        <p:nvGraphicFramePr>
          <p:cNvPr id="689155" name="Object 3"/>
          <p:cNvGraphicFramePr>
            <a:graphicFrameLocks/>
          </p:cNvGraphicFramePr>
          <p:nvPr>
            <p:extLst>
              <p:ext uri="{D42A27DB-BD31-4B8C-83A1-F6EECF244321}">
                <p14:modId xmlns:p14="http://schemas.microsoft.com/office/powerpoint/2010/main" val="1014033532"/>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19472" name="Worksheet" r:id="rId3" imgW="8972821" imgH="6363182" progId="Excel.Sheet.8">
                  <p:embed/>
                </p:oleObj>
              </mc:Choice>
              <mc:Fallback>
                <p:oleObj name="Worksheet" r:id="rId3" imgW="8972821" imgH="6363182" progId="Excel.Sheet.8">
                  <p:embed/>
                  <p:pic>
                    <p:nvPicPr>
                      <p:cNvPr id="68915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17581833"/>
      </p:ext>
    </p:extLst>
  </p:cSld>
  <p:clrMapOvr>
    <a:masterClrMapping/>
  </p:clrMapOvr>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2"/>
          <p:cNvSpPr>
            <a:spLocks noGrp="1" noChangeArrowheads="1"/>
          </p:cNvSpPr>
          <p:nvPr>
            <p:ph type="title"/>
          </p:nvPr>
        </p:nvSpPr>
        <p:spPr>
          <a:xfrm>
            <a:off x="1775520" y="620688"/>
            <a:ext cx="8126288"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12</a:t>
            </a:r>
          </a:p>
        </p:txBody>
      </p:sp>
      <p:graphicFrame>
        <p:nvGraphicFramePr>
          <p:cNvPr id="690179" name="Object 3"/>
          <p:cNvGraphicFramePr>
            <a:graphicFrameLocks/>
          </p:cNvGraphicFramePr>
          <p:nvPr>
            <p:extLst>
              <p:ext uri="{D42A27DB-BD31-4B8C-83A1-F6EECF244321}">
                <p14:modId xmlns:p14="http://schemas.microsoft.com/office/powerpoint/2010/main" val="4250313704"/>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20496" name="Worksheet" r:id="rId3" imgW="8972821" imgH="6363182" progId="Excel.Sheet.8">
                  <p:embed/>
                </p:oleObj>
              </mc:Choice>
              <mc:Fallback>
                <p:oleObj name="Worksheet" r:id="rId3" imgW="8972821" imgH="6363182" progId="Excel.Sheet.8">
                  <p:embed/>
                  <p:pic>
                    <p:nvPicPr>
                      <p:cNvPr id="69017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0180" name="Rectangle 4"/>
          <p:cNvSpPr>
            <a:spLocks noChangeArrowheads="1"/>
          </p:cNvSpPr>
          <p:nvPr/>
        </p:nvSpPr>
        <p:spPr bwMode="auto">
          <a:xfrm>
            <a:off x="7841010" y="2420888"/>
            <a:ext cx="4320480"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0"/>
              </a:spcBef>
              <a:tabLst>
                <a:tab pos="914400" algn="l"/>
                <a:tab pos="1657350" algn="l"/>
                <a:tab pos="3028950" algn="l"/>
              </a:tabLst>
              <a:defRPr sz="2400">
                <a:solidFill>
                  <a:schemeClr val="tx1"/>
                </a:solidFill>
                <a:latin typeface="Times New Roman" panose="02020603050405020304" pitchFamily="18" charset="0"/>
              </a:defRPr>
            </a:lvl1pPr>
            <a:lvl2pPr marL="685800" indent="-228600">
              <a:spcBef>
                <a:spcPct val="0"/>
              </a:spcBef>
              <a:tabLst>
                <a:tab pos="914400" algn="l"/>
                <a:tab pos="1657350" algn="l"/>
                <a:tab pos="3028950" algn="l"/>
              </a:tabLst>
              <a:defRPr sz="2400">
                <a:solidFill>
                  <a:schemeClr val="tx1"/>
                </a:solidFill>
                <a:latin typeface="Times New Roman" panose="02020603050405020304" pitchFamily="18" charset="0"/>
              </a:defRPr>
            </a:lvl2pPr>
            <a:lvl3pPr marL="1143000" indent="-228600">
              <a:spcBef>
                <a:spcPct val="0"/>
              </a:spcBef>
              <a:tabLst>
                <a:tab pos="914400" algn="l"/>
                <a:tab pos="1657350" algn="l"/>
                <a:tab pos="3028950" algn="l"/>
              </a:tabLst>
              <a:defRPr sz="2400">
                <a:solidFill>
                  <a:schemeClr val="tx1"/>
                </a:solidFill>
                <a:latin typeface="Times New Roman" panose="02020603050405020304" pitchFamily="18" charset="0"/>
              </a:defRPr>
            </a:lvl3pPr>
            <a:lvl4pPr marL="1543050" indent="-171450">
              <a:spcBef>
                <a:spcPct val="0"/>
              </a:spcBef>
              <a:tabLst>
                <a:tab pos="914400" algn="l"/>
                <a:tab pos="1657350" algn="l"/>
                <a:tab pos="3028950" algn="l"/>
              </a:tabLst>
              <a:defRPr sz="2400">
                <a:solidFill>
                  <a:schemeClr val="tx1"/>
                </a:solidFill>
                <a:latin typeface="Times New Roman" panose="02020603050405020304" pitchFamily="18" charset="0"/>
              </a:defRPr>
            </a:lvl4pPr>
            <a:lvl5pPr marL="2000250" indent="-171450">
              <a:spcBef>
                <a:spcPct val="0"/>
              </a:spcBef>
              <a:tabLst>
                <a:tab pos="914400" algn="l"/>
                <a:tab pos="1657350" algn="l"/>
                <a:tab pos="3028950" algn="l"/>
              </a:tabLst>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9pPr>
          </a:lstStyle>
          <a:p>
            <a:pPr>
              <a:lnSpc>
                <a:spcPct val="90000"/>
              </a:lnSpc>
              <a:spcBef>
                <a:spcPct val="30000"/>
              </a:spcBef>
              <a:buFontTx/>
              <a:buChar char="•"/>
            </a:pPr>
            <a:r>
              <a:rPr lang="en-US" altLang="zh-CN" dirty="0">
                <a:solidFill>
                  <a:srgbClr val="F9079D"/>
                </a:solidFill>
                <a:latin typeface="Comic Sans MS" panose="030F0702030302020204" pitchFamily="66" charset="0"/>
              </a:rPr>
              <a:t>Read operands for DIVD?</a:t>
            </a:r>
          </a:p>
        </p:txBody>
      </p:sp>
    </p:spTree>
    <p:extLst>
      <p:ext uri="{BB962C8B-B14F-4D97-AF65-F5344CB8AC3E}">
        <p14:creationId xmlns:p14="http://schemas.microsoft.com/office/powerpoint/2010/main" val="35088921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90180"/>
                                        </p:tgtEl>
                                        <p:attrNameLst>
                                          <p:attrName>style.visibility</p:attrName>
                                        </p:attrNameLst>
                                      </p:cBhvr>
                                      <p:to>
                                        <p:strVal val="visible"/>
                                      </p:to>
                                    </p:set>
                                    <p:anim calcmode="lin" valueType="num">
                                      <p:cBhvr additive="base">
                                        <p:cTn id="7" dur="500" fill="hold"/>
                                        <p:tgtEl>
                                          <p:spTgt spid="690180"/>
                                        </p:tgtEl>
                                        <p:attrNameLst>
                                          <p:attrName>ppt_x</p:attrName>
                                        </p:attrNameLst>
                                      </p:cBhvr>
                                      <p:tavLst>
                                        <p:tav tm="0">
                                          <p:val>
                                            <p:strVal val="1+#ppt_w/2"/>
                                          </p:val>
                                        </p:tav>
                                        <p:tav tm="100000">
                                          <p:val>
                                            <p:strVal val="#ppt_x"/>
                                          </p:val>
                                        </p:tav>
                                      </p:tavLst>
                                    </p:anim>
                                    <p:anim calcmode="lin" valueType="num">
                                      <p:cBhvr additive="base">
                                        <p:cTn id="8" dur="500" fill="hold"/>
                                        <p:tgtEl>
                                          <p:spTgt spid="6901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0180"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a:xfrm>
            <a:off x="1847528" y="476672"/>
            <a:ext cx="805428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13</a:t>
            </a:r>
          </a:p>
        </p:txBody>
      </p:sp>
      <p:graphicFrame>
        <p:nvGraphicFramePr>
          <p:cNvPr id="691203" name="Object 3"/>
          <p:cNvGraphicFramePr>
            <a:graphicFrameLocks/>
          </p:cNvGraphicFramePr>
          <p:nvPr>
            <p:extLst>
              <p:ext uri="{D42A27DB-BD31-4B8C-83A1-F6EECF244321}">
                <p14:modId xmlns:p14="http://schemas.microsoft.com/office/powerpoint/2010/main" val="2638382094"/>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21521" name="Worksheet" r:id="rId3" imgW="8972821" imgH="6363182" progId="Excel.Sheet.8">
                  <p:embed/>
                </p:oleObj>
              </mc:Choice>
              <mc:Fallback>
                <p:oleObj name="Worksheet" r:id="rId3" imgW="8972821" imgH="6363182" progId="Excel.Sheet.8">
                  <p:embed/>
                  <p:pic>
                    <p:nvPicPr>
                      <p:cNvPr id="691203"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57821235"/>
      </p:ext>
    </p:extLst>
  </p:cSld>
  <p:clrMapOvr>
    <a:masterClrMapping/>
  </p:clrMapOvr>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p:cNvSpPr>
            <a:spLocks noGrp="1" noChangeArrowheads="1"/>
          </p:cNvSpPr>
          <p:nvPr>
            <p:ph type="title"/>
          </p:nvPr>
        </p:nvSpPr>
        <p:spPr>
          <a:xfrm>
            <a:off x="1802954" y="476672"/>
            <a:ext cx="8198296"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14</a:t>
            </a:r>
          </a:p>
        </p:txBody>
      </p:sp>
      <p:graphicFrame>
        <p:nvGraphicFramePr>
          <p:cNvPr id="692227" name="Object 3"/>
          <p:cNvGraphicFramePr>
            <a:graphicFrameLocks/>
          </p:cNvGraphicFramePr>
          <p:nvPr>
            <p:extLst>
              <p:ext uri="{D42A27DB-BD31-4B8C-83A1-F6EECF244321}">
                <p14:modId xmlns:p14="http://schemas.microsoft.com/office/powerpoint/2010/main" val="2253824656"/>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22544" name="Worksheet" r:id="rId3" imgW="8972821" imgH="6363182" progId="Excel.Sheet.8">
                  <p:embed/>
                </p:oleObj>
              </mc:Choice>
              <mc:Fallback>
                <p:oleObj name="Worksheet" r:id="rId3" imgW="8972821" imgH="6363182" progId="Excel.Sheet.8">
                  <p:embed/>
                  <p:pic>
                    <p:nvPicPr>
                      <p:cNvPr id="692227"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20775234"/>
      </p:ext>
    </p:extLst>
  </p:cSld>
  <p:clrMapOvr>
    <a:masterClrMapping/>
  </p:clrMapOvr>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p:cNvSpPr>
            <a:spLocks noGrp="1" noChangeArrowheads="1"/>
          </p:cNvSpPr>
          <p:nvPr>
            <p:ph type="title"/>
          </p:nvPr>
        </p:nvSpPr>
        <p:spPr>
          <a:xfrm>
            <a:off x="1906813" y="548680"/>
            <a:ext cx="792480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15</a:t>
            </a:r>
          </a:p>
        </p:txBody>
      </p:sp>
      <p:graphicFrame>
        <p:nvGraphicFramePr>
          <p:cNvPr id="693251" name="Object 3"/>
          <p:cNvGraphicFramePr>
            <a:graphicFrameLocks/>
          </p:cNvGraphicFramePr>
          <p:nvPr>
            <p:extLst>
              <p:ext uri="{D42A27DB-BD31-4B8C-83A1-F6EECF244321}">
                <p14:modId xmlns:p14="http://schemas.microsoft.com/office/powerpoint/2010/main" val="3443408179"/>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23568" name="Worksheet" r:id="rId3" imgW="8972821" imgH="6363182" progId="Excel.Sheet.8">
                  <p:embed/>
                </p:oleObj>
              </mc:Choice>
              <mc:Fallback>
                <p:oleObj name="Worksheet" r:id="rId3" imgW="8972821" imgH="6363182" progId="Excel.Sheet.8">
                  <p:embed/>
                  <p:pic>
                    <p:nvPicPr>
                      <p:cNvPr id="693251"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849716560"/>
      </p:ext>
    </p:extLst>
  </p:cSld>
  <p:clrMapOvr>
    <a:masterClrMapping/>
  </p:clrMapOvr>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4" name="Rectangle 2"/>
          <p:cNvSpPr>
            <a:spLocks noGrp="1" noChangeArrowheads="1"/>
          </p:cNvSpPr>
          <p:nvPr>
            <p:ph type="title"/>
          </p:nvPr>
        </p:nvSpPr>
        <p:spPr>
          <a:xfrm>
            <a:off x="1891343" y="476672"/>
            <a:ext cx="805428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16</a:t>
            </a:r>
          </a:p>
        </p:txBody>
      </p:sp>
      <p:graphicFrame>
        <p:nvGraphicFramePr>
          <p:cNvPr id="694275" name="Object 3"/>
          <p:cNvGraphicFramePr>
            <a:graphicFrameLocks/>
          </p:cNvGraphicFramePr>
          <p:nvPr>
            <p:extLst>
              <p:ext uri="{D42A27DB-BD31-4B8C-83A1-F6EECF244321}">
                <p14:modId xmlns:p14="http://schemas.microsoft.com/office/powerpoint/2010/main" val="1085152236"/>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24592" name="Worksheet" r:id="rId3" imgW="8972821" imgH="6363182" progId="Excel.Sheet.8">
                  <p:embed/>
                </p:oleObj>
              </mc:Choice>
              <mc:Fallback>
                <p:oleObj name="Worksheet" r:id="rId3" imgW="8972821" imgH="6363182" progId="Excel.Sheet.8">
                  <p:embed/>
                  <p:pic>
                    <p:nvPicPr>
                      <p:cNvPr id="69427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125197395"/>
      </p:ext>
    </p:extLst>
  </p:cSld>
  <p:clrMapOvr>
    <a:masterClrMapping/>
  </p:clrMapOvr>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p:cNvSpPr>
            <a:spLocks noGrp="1" noChangeArrowheads="1"/>
          </p:cNvSpPr>
          <p:nvPr>
            <p:ph type="title"/>
          </p:nvPr>
        </p:nvSpPr>
        <p:spPr>
          <a:xfrm>
            <a:off x="1945834" y="510207"/>
            <a:ext cx="792480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17</a:t>
            </a:r>
          </a:p>
        </p:txBody>
      </p:sp>
      <p:graphicFrame>
        <p:nvGraphicFramePr>
          <p:cNvPr id="695299" name="Object 3"/>
          <p:cNvGraphicFramePr>
            <a:graphicFrameLocks/>
          </p:cNvGraphicFramePr>
          <p:nvPr>
            <p:extLst>
              <p:ext uri="{D42A27DB-BD31-4B8C-83A1-F6EECF244321}">
                <p14:modId xmlns:p14="http://schemas.microsoft.com/office/powerpoint/2010/main" val="1673944155"/>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25616" name="Worksheet" r:id="rId3" imgW="8972821" imgH="6363182" progId="Excel.Sheet.8">
                  <p:embed/>
                </p:oleObj>
              </mc:Choice>
              <mc:Fallback>
                <p:oleObj name="Worksheet" r:id="rId3" imgW="8972821" imgH="6363182" progId="Excel.Sheet.8">
                  <p:embed/>
                  <p:pic>
                    <p:nvPicPr>
                      <p:cNvPr id="69529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5300" name="Rectangle 4"/>
          <p:cNvSpPr>
            <a:spLocks noChangeArrowheads="1"/>
          </p:cNvSpPr>
          <p:nvPr/>
        </p:nvSpPr>
        <p:spPr bwMode="auto">
          <a:xfrm>
            <a:off x="8327559" y="2080467"/>
            <a:ext cx="3879874"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0"/>
              </a:spcBef>
              <a:tabLst>
                <a:tab pos="914400" algn="l"/>
                <a:tab pos="1657350" algn="l"/>
                <a:tab pos="3028950" algn="l"/>
              </a:tabLst>
              <a:defRPr sz="2400">
                <a:solidFill>
                  <a:schemeClr val="tx1"/>
                </a:solidFill>
                <a:latin typeface="Times New Roman" panose="02020603050405020304" pitchFamily="18" charset="0"/>
              </a:defRPr>
            </a:lvl1pPr>
            <a:lvl2pPr marL="685800" indent="-228600">
              <a:spcBef>
                <a:spcPct val="0"/>
              </a:spcBef>
              <a:tabLst>
                <a:tab pos="914400" algn="l"/>
                <a:tab pos="1657350" algn="l"/>
                <a:tab pos="3028950" algn="l"/>
              </a:tabLst>
              <a:defRPr sz="2400">
                <a:solidFill>
                  <a:schemeClr val="tx1"/>
                </a:solidFill>
                <a:latin typeface="Times New Roman" panose="02020603050405020304" pitchFamily="18" charset="0"/>
              </a:defRPr>
            </a:lvl2pPr>
            <a:lvl3pPr marL="1143000" indent="-228600">
              <a:spcBef>
                <a:spcPct val="0"/>
              </a:spcBef>
              <a:tabLst>
                <a:tab pos="914400" algn="l"/>
                <a:tab pos="1657350" algn="l"/>
                <a:tab pos="3028950" algn="l"/>
              </a:tabLst>
              <a:defRPr sz="2400">
                <a:solidFill>
                  <a:schemeClr val="tx1"/>
                </a:solidFill>
                <a:latin typeface="Times New Roman" panose="02020603050405020304" pitchFamily="18" charset="0"/>
              </a:defRPr>
            </a:lvl3pPr>
            <a:lvl4pPr marL="1543050" indent="-171450">
              <a:spcBef>
                <a:spcPct val="0"/>
              </a:spcBef>
              <a:tabLst>
                <a:tab pos="914400" algn="l"/>
                <a:tab pos="1657350" algn="l"/>
                <a:tab pos="3028950" algn="l"/>
              </a:tabLst>
              <a:defRPr sz="2400">
                <a:solidFill>
                  <a:schemeClr val="tx1"/>
                </a:solidFill>
                <a:latin typeface="Times New Roman" panose="02020603050405020304" pitchFamily="18" charset="0"/>
              </a:defRPr>
            </a:lvl4pPr>
            <a:lvl5pPr marL="2000250" indent="-171450">
              <a:spcBef>
                <a:spcPct val="0"/>
              </a:spcBef>
              <a:tabLst>
                <a:tab pos="914400" algn="l"/>
                <a:tab pos="1657350" algn="l"/>
                <a:tab pos="3028950" algn="l"/>
              </a:tabLst>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9pPr>
          </a:lstStyle>
          <a:p>
            <a:pPr>
              <a:lnSpc>
                <a:spcPct val="90000"/>
              </a:lnSpc>
              <a:spcBef>
                <a:spcPct val="30000"/>
              </a:spcBef>
              <a:buFontTx/>
              <a:buChar char="•"/>
            </a:pPr>
            <a:r>
              <a:rPr lang="en-US" altLang="zh-CN" dirty="0">
                <a:solidFill>
                  <a:srgbClr val="F9079D"/>
                </a:solidFill>
                <a:latin typeface="Comic Sans MS" panose="030F0702030302020204" pitchFamily="66" charset="0"/>
              </a:rPr>
              <a:t>Why not write result </a:t>
            </a:r>
            <a:r>
              <a:rPr lang="en-US" altLang="zh-CN" dirty="0" smtClean="0">
                <a:solidFill>
                  <a:srgbClr val="F9079D"/>
                </a:solidFill>
                <a:latin typeface="Comic Sans MS" panose="030F0702030302020204" pitchFamily="66" charset="0"/>
              </a:rPr>
              <a:t/>
            </a:r>
            <a:br>
              <a:rPr lang="en-US" altLang="zh-CN" dirty="0" smtClean="0">
                <a:solidFill>
                  <a:srgbClr val="F9079D"/>
                </a:solidFill>
                <a:latin typeface="Comic Sans MS" panose="030F0702030302020204" pitchFamily="66" charset="0"/>
              </a:rPr>
            </a:br>
            <a:r>
              <a:rPr lang="en-US" altLang="zh-CN" dirty="0" smtClean="0">
                <a:solidFill>
                  <a:srgbClr val="F9079D"/>
                </a:solidFill>
                <a:latin typeface="Comic Sans MS" panose="030F0702030302020204" pitchFamily="66" charset="0"/>
              </a:rPr>
              <a:t>of </a:t>
            </a:r>
            <a:r>
              <a:rPr lang="en-US" altLang="zh-CN" dirty="0">
                <a:solidFill>
                  <a:srgbClr val="F9079D"/>
                </a:solidFill>
                <a:latin typeface="Comic Sans MS" panose="030F0702030302020204" pitchFamily="66" charset="0"/>
              </a:rPr>
              <a:t>ADD??? </a:t>
            </a:r>
          </a:p>
        </p:txBody>
      </p:sp>
      <p:grpSp>
        <p:nvGrpSpPr>
          <p:cNvPr id="695301" name="Group 5"/>
          <p:cNvGrpSpPr>
            <a:grpSpLocks/>
          </p:cNvGrpSpPr>
          <p:nvPr/>
        </p:nvGrpSpPr>
        <p:grpSpPr bwMode="auto">
          <a:xfrm>
            <a:off x="5710238" y="3093863"/>
            <a:ext cx="5086349" cy="2625725"/>
            <a:chOff x="2637" y="1418"/>
            <a:chExt cx="3204" cy="1654"/>
          </a:xfrm>
        </p:grpSpPr>
        <p:sp>
          <p:nvSpPr>
            <p:cNvPr id="695302" name="AutoShape 6"/>
            <p:cNvSpPr>
              <a:spLocks noChangeArrowheads="1"/>
            </p:cNvSpPr>
            <p:nvPr/>
          </p:nvSpPr>
          <p:spPr bwMode="auto">
            <a:xfrm>
              <a:off x="4940" y="2736"/>
              <a:ext cx="336" cy="336"/>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5303" name="AutoShape 7"/>
            <p:cNvSpPr>
              <a:spLocks noChangeArrowheads="1"/>
            </p:cNvSpPr>
            <p:nvPr/>
          </p:nvSpPr>
          <p:spPr bwMode="auto">
            <a:xfrm>
              <a:off x="3402" y="2736"/>
              <a:ext cx="336" cy="336"/>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5304" name="AutoShape 8"/>
            <p:cNvSpPr>
              <a:spLocks noChangeArrowheads="1"/>
            </p:cNvSpPr>
            <p:nvPr/>
          </p:nvSpPr>
          <p:spPr bwMode="auto">
            <a:xfrm>
              <a:off x="2637" y="2595"/>
              <a:ext cx="336" cy="336"/>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5305" name="Line 9"/>
            <p:cNvSpPr>
              <a:spLocks noChangeShapeType="1"/>
            </p:cNvSpPr>
            <p:nvPr/>
          </p:nvSpPr>
          <p:spPr bwMode="auto">
            <a:xfrm>
              <a:off x="3744" y="2880"/>
              <a:ext cx="1248" cy="0"/>
            </a:xfrm>
            <a:prstGeom prst="line">
              <a:avLst/>
            </a:prstGeom>
            <a:noFill/>
            <a:ln w="57150">
              <a:solidFill>
                <a:schemeClr va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5306" name="Freeform 10"/>
            <p:cNvSpPr>
              <a:spLocks/>
            </p:cNvSpPr>
            <p:nvPr/>
          </p:nvSpPr>
          <p:spPr bwMode="auto">
            <a:xfrm>
              <a:off x="2976" y="2272"/>
              <a:ext cx="1488" cy="608"/>
            </a:xfrm>
            <a:custGeom>
              <a:avLst/>
              <a:gdLst>
                <a:gd name="T0" fmla="*/ 0 w 1488"/>
                <a:gd name="T1" fmla="*/ 368 h 608"/>
                <a:gd name="T2" fmla="*/ 576 w 1488"/>
                <a:gd name="T3" fmla="*/ 32 h 608"/>
                <a:gd name="T4" fmla="*/ 1200 w 1488"/>
                <a:gd name="T5" fmla="*/ 176 h 608"/>
                <a:gd name="T6" fmla="*/ 1488 w 1488"/>
                <a:gd name="T7" fmla="*/ 608 h 608"/>
              </a:gdLst>
              <a:ahLst/>
              <a:cxnLst>
                <a:cxn ang="0">
                  <a:pos x="T0" y="T1"/>
                </a:cxn>
                <a:cxn ang="0">
                  <a:pos x="T2" y="T3"/>
                </a:cxn>
                <a:cxn ang="0">
                  <a:pos x="T4" y="T5"/>
                </a:cxn>
                <a:cxn ang="0">
                  <a:pos x="T6" y="T7"/>
                </a:cxn>
              </a:cxnLst>
              <a:rect l="0" t="0" r="r" b="b"/>
              <a:pathLst>
                <a:path w="1488" h="608">
                  <a:moveTo>
                    <a:pt x="0" y="368"/>
                  </a:moveTo>
                  <a:cubicBezTo>
                    <a:pt x="188" y="216"/>
                    <a:pt x="376" y="64"/>
                    <a:pt x="576" y="32"/>
                  </a:cubicBezTo>
                  <a:cubicBezTo>
                    <a:pt x="776" y="0"/>
                    <a:pt x="1048" y="80"/>
                    <a:pt x="1200" y="176"/>
                  </a:cubicBezTo>
                  <a:cubicBezTo>
                    <a:pt x="1352" y="272"/>
                    <a:pt x="1420" y="440"/>
                    <a:pt x="1488" y="608"/>
                  </a:cubicBezTo>
                </a:path>
              </a:pathLst>
            </a:custGeom>
            <a:noFill/>
            <a:ln w="57150" cap="flat" cmpd="sng">
              <a:solidFill>
                <a:schemeClr val="hlink"/>
              </a:solidFill>
              <a:prstDash val="solid"/>
              <a:round/>
              <a:headEnd type="non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5307" name="Text Box 11"/>
            <p:cNvSpPr txBox="1">
              <a:spLocks noChangeArrowheads="1"/>
            </p:cNvSpPr>
            <p:nvPr/>
          </p:nvSpPr>
          <p:spPr bwMode="auto">
            <a:xfrm>
              <a:off x="4464" y="1418"/>
              <a:ext cx="1377"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a:solidFill>
                    <a:schemeClr va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spcBef>
                  <a:spcPct val="0"/>
                </a:spcBef>
              </a:pPr>
              <a:r>
                <a:rPr lang="en-US" altLang="zh-CN" sz="2400" dirty="0">
                  <a:solidFill>
                    <a:srgbClr val="F9079D"/>
                  </a:solidFill>
                  <a:latin typeface="Comic Sans MS" panose="030F0702030302020204" pitchFamily="66" charset="0"/>
                </a:rPr>
                <a:t>WAR Hazard!</a:t>
              </a:r>
              <a:endParaRPr lang="en-US" altLang="zh-CN" dirty="0">
                <a:solidFill>
                  <a:srgbClr val="F9079D"/>
                </a:solidFill>
                <a:latin typeface="Comic Sans MS" panose="030F0702030302020204" pitchFamily="66" charset="0"/>
              </a:endParaRPr>
            </a:p>
          </p:txBody>
        </p:sp>
      </p:grpSp>
    </p:spTree>
    <p:extLst>
      <p:ext uri="{BB962C8B-B14F-4D97-AF65-F5344CB8AC3E}">
        <p14:creationId xmlns:p14="http://schemas.microsoft.com/office/powerpoint/2010/main" val="71344024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95300"/>
                                        </p:tgtEl>
                                        <p:attrNameLst>
                                          <p:attrName>style.visibility</p:attrName>
                                        </p:attrNameLst>
                                      </p:cBhvr>
                                      <p:to>
                                        <p:strVal val="visible"/>
                                      </p:to>
                                    </p:set>
                                    <p:anim calcmode="lin" valueType="num">
                                      <p:cBhvr additive="base">
                                        <p:cTn id="7" dur="500" fill="hold"/>
                                        <p:tgtEl>
                                          <p:spTgt spid="695300"/>
                                        </p:tgtEl>
                                        <p:attrNameLst>
                                          <p:attrName>ppt_x</p:attrName>
                                        </p:attrNameLst>
                                      </p:cBhvr>
                                      <p:tavLst>
                                        <p:tav tm="0">
                                          <p:val>
                                            <p:strVal val="1+#ppt_w/2"/>
                                          </p:val>
                                        </p:tav>
                                        <p:tav tm="100000">
                                          <p:val>
                                            <p:strVal val="#ppt_x"/>
                                          </p:val>
                                        </p:tav>
                                      </p:tavLst>
                                    </p:anim>
                                    <p:anim calcmode="lin" valueType="num">
                                      <p:cBhvr additive="base">
                                        <p:cTn id="8" dur="500" fill="hold"/>
                                        <p:tgtEl>
                                          <p:spTgt spid="69530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528" fill="hold" nodeType="clickEffect">
                                  <p:stCondLst>
                                    <p:cond delay="0"/>
                                  </p:stCondLst>
                                  <p:childTnLst>
                                    <p:set>
                                      <p:cBhvr>
                                        <p:cTn id="12" dur="1" fill="hold">
                                          <p:stCondLst>
                                            <p:cond delay="0"/>
                                          </p:stCondLst>
                                        </p:cTn>
                                        <p:tgtEl>
                                          <p:spTgt spid="695301"/>
                                        </p:tgtEl>
                                        <p:attrNameLst>
                                          <p:attrName>style.visibility</p:attrName>
                                        </p:attrNameLst>
                                      </p:cBhvr>
                                      <p:to>
                                        <p:strVal val="visible"/>
                                      </p:to>
                                    </p:set>
                                    <p:anim calcmode="lin" valueType="num">
                                      <p:cBhvr>
                                        <p:cTn id="13" dur="500" fill="hold"/>
                                        <p:tgtEl>
                                          <p:spTgt spid="695301"/>
                                        </p:tgtEl>
                                        <p:attrNameLst>
                                          <p:attrName>ppt_w</p:attrName>
                                        </p:attrNameLst>
                                      </p:cBhvr>
                                      <p:tavLst>
                                        <p:tav tm="0">
                                          <p:val>
                                            <p:fltVal val="0"/>
                                          </p:val>
                                        </p:tav>
                                        <p:tav tm="100000">
                                          <p:val>
                                            <p:strVal val="#ppt_w"/>
                                          </p:val>
                                        </p:tav>
                                      </p:tavLst>
                                    </p:anim>
                                    <p:anim calcmode="lin" valueType="num">
                                      <p:cBhvr>
                                        <p:cTn id="14" dur="500" fill="hold"/>
                                        <p:tgtEl>
                                          <p:spTgt spid="695301"/>
                                        </p:tgtEl>
                                        <p:attrNameLst>
                                          <p:attrName>ppt_h</p:attrName>
                                        </p:attrNameLst>
                                      </p:cBhvr>
                                      <p:tavLst>
                                        <p:tav tm="0">
                                          <p:val>
                                            <p:fltVal val="0"/>
                                          </p:val>
                                        </p:tav>
                                        <p:tav tm="100000">
                                          <p:val>
                                            <p:strVal val="#ppt_h"/>
                                          </p:val>
                                        </p:tav>
                                      </p:tavLst>
                                    </p:anim>
                                    <p:anim calcmode="lin" valueType="num">
                                      <p:cBhvr>
                                        <p:cTn id="15" dur="500" fill="hold"/>
                                        <p:tgtEl>
                                          <p:spTgt spid="695301"/>
                                        </p:tgtEl>
                                        <p:attrNameLst>
                                          <p:attrName>ppt_x</p:attrName>
                                        </p:attrNameLst>
                                      </p:cBhvr>
                                      <p:tavLst>
                                        <p:tav tm="0">
                                          <p:val>
                                            <p:fltVal val="0.5"/>
                                          </p:val>
                                        </p:tav>
                                        <p:tav tm="100000">
                                          <p:val>
                                            <p:strVal val="#ppt_x"/>
                                          </p:val>
                                        </p:tav>
                                      </p:tavLst>
                                    </p:anim>
                                    <p:anim calcmode="lin" valueType="num">
                                      <p:cBhvr>
                                        <p:cTn id="16" dur="500" fill="hold"/>
                                        <p:tgtEl>
                                          <p:spTgt spid="695301"/>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5300" grpId="0"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22" name="Rectangle 2"/>
          <p:cNvSpPr>
            <a:spLocks noGrp="1" noChangeArrowheads="1"/>
          </p:cNvSpPr>
          <p:nvPr>
            <p:ph type="title"/>
          </p:nvPr>
        </p:nvSpPr>
        <p:spPr>
          <a:xfrm>
            <a:off x="1875874" y="476672"/>
            <a:ext cx="8126288"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18</a:t>
            </a:r>
          </a:p>
        </p:txBody>
      </p:sp>
      <p:graphicFrame>
        <p:nvGraphicFramePr>
          <p:cNvPr id="696323" name="Object 3"/>
          <p:cNvGraphicFramePr>
            <a:graphicFrameLocks/>
          </p:cNvGraphicFramePr>
          <p:nvPr>
            <p:extLst>
              <p:ext uri="{D42A27DB-BD31-4B8C-83A1-F6EECF244321}">
                <p14:modId xmlns:p14="http://schemas.microsoft.com/office/powerpoint/2010/main" val="1342639095"/>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26640" name="Worksheet" r:id="rId3" imgW="8972821" imgH="6363182" progId="Excel.Sheet.8">
                  <p:embed/>
                </p:oleObj>
              </mc:Choice>
              <mc:Fallback>
                <p:oleObj name="Worksheet" r:id="rId3" imgW="8972821" imgH="6363182" progId="Excel.Sheet.8">
                  <p:embed/>
                  <p:pic>
                    <p:nvPicPr>
                      <p:cNvPr id="696323"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705294527"/>
      </p:ext>
    </p:extLst>
  </p:cSld>
  <p:clrMapOvr>
    <a:masterClrMapping/>
  </p:clrMapOvr>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7346" name="Rectangle 2"/>
          <p:cNvSpPr>
            <a:spLocks noGrp="1" noChangeArrowheads="1"/>
          </p:cNvSpPr>
          <p:nvPr>
            <p:ph type="title"/>
          </p:nvPr>
        </p:nvSpPr>
        <p:spPr>
          <a:xfrm>
            <a:off x="1905000" y="476672"/>
            <a:ext cx="792480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19</a:t>
            </a:r>
          </a:p>
        </p:txBody>
      </p:sp>
      <p:graphicFrame>
        <p:nvGraphicFramePr>
          <p:cNvPr id="697347" name="Object 3"/>
          <p:cNvGraphicFramePr>
            <a:graphicFrameLocks/>
          </p:cNvGraphicFramePr>
          <p:nvPr>
            <p:extLst>
              <p:ext uri="{D42A27DB-BD31-4B8C-83A1-F6EECF244321}">
                <p14:modId xmlns:p14="http://schemas.microsoft.com/office/powerpoint/2010/main" val="3382861845"/>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27664" name="Worksheet" r:id="rId3" imgW="8972821" imgH="6363182" progId="Excel.Sheet.8">
                  <p:embed/>
                </p:oleObj>
              </mc:Choice>
              <mc:Fallback>
                <p:oleObj name="Worksheet" r:id="rId3" imgW="8972821" imgH="6363182" progId="Excel.Sheet.8">
                  <p:embed/>
                  <p:pic>
                    <p:nvPicPr>
                      <p:cNvPr id="697347"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33928261"/>
      </p:ext>
    </p:extLst>
  </p:cSld>
  <p:clrMapOvr>
    <a:masterClrMapping/>
  </p:clrMapOvr>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8370" name="Rectangle 2"/>
          <p:cNvSpPr>
            <a:spLocks noGrp="1" noChangeArrowheads="1"/>
          </p:cNvSpPr>
          <p:nvPr>
            <p:ph type="title"/>
          </p:nvPr>
        </p:nvSpPr>
        <p:spPr>
          <a:xfrm>
            <a:off x="1905000" y="404664"/>
            <a:ext cx="7982272"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20</a:t>
            </a:r>
          </a:p>
        </p:txBody>
      </p:sp>
      <p:graphicFrame>
        <p:nvGraphicFramePr>
          <p:cNvPr id="698371" name="Object 3"/>
          <p:cNvGraphicFramePr>
            <a:graphicFrameLocks/>
          </p:cNvGraphicFramePr>
          <p:nvPr>
            <p:extLst>
              <p:ext uri="{D42A27DB-BD31-4B8C-83A1-F6EECF244321}">
                <p14:modId xmlns:p14="http://schemas.microsoft.com/office/powerpoint/2010/main" val="2774853659"/>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28688" name="Worksheet" r:id="rId3" imgW="8972821" imgH="6363182" progId="Excel.Sheet.8">
                  <p:embed/>
                </p:oleObj>
              </mc:Choice>
              <mc:Fallback>
                <p:oleObj name="Worksheet" r:id="rId3" imgW="8972821" imgH="6363182" progId="Excel.Sheet.8">
                  <p:embed/>
                  <p:pic>
                    <p:nvPicPr>
                      <p:cNvPr id="698371"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00827866"/>
      </p:ext>
    </p:extLst>
  </p:cSld>
  <p:clrMapOvr>
    <a:masterClrMapping/>
  </p:clrMapOvr>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p:cNvSpPr>
            <a:spLocks noGrp="1" noChangeArrowheads="1"/>
          </p:cNvSpPr>
          <p:nvPr>
            <p:ph type="title"/>
          </p:nvPr>
        </p:nvSpPr>
        <p:spPr>
          <a:xfrm>
            <a:off x="2063552" y="548680"/>
            <a:ext cx="8153400"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21</a:t>
            </a:r>
          </a:p>
        </p:txBody>
      </p:sp>
      <p:graphicFrame>
        <p:nvGraphicFramePr>
          <p:cNvPr id="699395" name="Object 3"/>
          <p:cNvGraphicFramePr>
            <a:graphicFrameLocks/>
          </p:cNvGraphicFramePr>
          <p:nvPr>
            <p:extLst>
              <p:ext uri="{D42A27DB-BD31-4B8C-83A1-F6EECF244321}">
                <p14:modId xmlns:p14="http://schemas.microsoft.com/office/powerpoint/2010/main" val="3212594155"/>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29712" name="Worksheet" r:id="rId3" imgW="8972821" imgH="6363182" progId="Excel.Sheet.8">
                  <p:embed/>
                </p:oleObj>
              </mc:Choice>
              <mc:Fallback>
                <p:oleObj name="Worksheet" r:id="rId3" imgW="8972821" imgH="6363182" progId="Excel.Sheet.8">
                  <p:embed/>
                  <p:pic>
                    <p:nvPicPr>
                      <p:cNvPr id="69939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9396" name="Rectangle 4"/>
          <p:cNvSpPr>
            <a:spLocks noChangeArrowheads="1"/>
          </p:cNvSpPr>
          <p:nvPr/>
        </p:nvSpPr>
        <p:spPr bwMode="auto">
          <a:xfrm>
            <a:off x="7608168" y="2492896"/>
            <a:ext cx="4464496"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0"/>
              </a:spcBef>
              <a:tabLst>
                <a:tab pos="914400" algn="l"/>
                <a:tab pos="1657350" algn="l"/>
                <a:tab pos="3028950" algn="l"/>
              </a:tabLst>
              <a:defRPr sz="2400">
                <a:solidFill>
                  <a:schemeClr val="tx1"/>
                </a:solidFill>
                <a:latin typeface="Times New Roman" panose="02020603050405020304" pitchFamily="18" charset="0"/>
              </a:defRPr>
            </a:lvl1pPr>
            <a:lvl2pPr marL="685800" indent="-228600">
              <a:spcBef>
                <a:spcPct val="0"/>
              </a:spcBef>
              <a:tabLst>
                <a:tab pos="914400" algn="l"/>
                <a:tab pos="1657350" algn="l"/>
                <a:tab pos="3028950" algn="l"/>
              </a:tabLst>
              <a:defRPr sz="2400">
                <a:solidFill>
                  <a:schemeClr val="tx1"/>
                </a:solidFill>
                <a:latin typeface="Times New Roman" panose="02020603050405020304" pitchFamily="18" charset="0"/>
              </a:defRPr>
            </a:lvl2pPr>
            <a:lvl3pPr marL="1143000" indent="-228600">
              <a:spcBef>
                <a:spcPct val="0"/>
              </a:spcBef>
              <a:tabLst>
                <a:tab pos="914400" algn="l"/>
                <a:tab pos="1657350" algn="l"/>
                <a:tab pos="3028950" algn="l"/>
              </a:tabLst>
              <a:defRPr sz="2400">
                <a:solidFill>
                  <a:schemeClr val="tx1"/>
                </a:solidFill>
                <a:latin typeface="Times New Roman" panose="02020603050405020304" pitchFamily="18" charset="0"/>
              </a:defRPr>
            </a:lvl3pPr>
            <a:lvl4pPr marL="1543050" indent="-171450">
              <a:spcBef>
                <a:spcPct val="0"/>
              </a:spcBef>
              <a:tabLst>
                <a:tab pos="914400" algn="l"/>
                <a:tab pos="1657350" algn="l"/>
                <a:tab pos="3028950" algn="l"/>
              </a:tabLst>
              <a:defRPr sz="2400">
                <a:solidFill>
                  <a:schemeClr val="tx1"/>
                </a:solidFill>
                <a:latin typeface="Times New Roman" panose="02020603050405020304" pitchFamily="18" charset="0"/>
              </a:defRPr>
            </a:lvl4pPr>
            <a:lvl5pPr marL="2000250" indent="-171450">
              <a:spcBef>
                <a:spcPct val="0"/>
              </a:spcBef>
              <a:tabLst>
                <a:tab pos="914400" algn="l"/>
                <a:tab pos="1657350" algn="l"/>
                <a:tab pos="3028950" algn="l"/>
              </a:tabLst>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9pPr>
          </a:lstStyle>
          <a:p>
            <a:pPr>
              <a:lnSpc>
                <a:spcPct val="90000"/>
              </a:lnSpc>
              <a:spcBef>
                <a:spcPct val="30000"/>
              </a:spcBef>
              <a:buFontTx/>
              <a:buChar char="•"/>
            </a:pPr>
            <a:r>
              <a:rPr lang="en-US" altLang="zh-CN" dirty="0">
                <a:solidFill>
                  <a:srgbClr val="F9079D"/>
                </a:solidFill>
                <a:latin typeface="Comic Sans MS" panose="030F0702030302020204" pitchFamily="66" charset="0"/>
              </a:rPr>
              <a:t>WAR Hazard is now gone... </a:t>
            </a:r>
          </a:p>
        </p:txBody>
      </p:sp>
    </p:spTree>
    <p:extLst>
      <p:ext uri="{BB962C8B-B14F-4D97-AF65-F5344CB8AC3E}">
        <p14:creationId xmlns:p14="http://schemas.microsoft.com/office/powerpoint/2010/main" val="110100534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99396"/>
                                        </p:tgtEl>
                                        <p:attrNameLst>
                                          <p:attrName>style.visibility</p:attrName>
                                        </p:attrNameLst>
                                      </p:cBhvr>
                                      <p:to>
                                        <p:strVal val="visible"/>
                                      </p:to>
                                    </p:set>
                                    <p:anim calcmode="lin" valueType="num">
                                      <p:cBhvr additive="base">
                                        <p:cTn id="7" dur="500" fill="hold"/>
                                        <p:tgtEl>
                                          <p:spTgt spid="699396"/>
                                        </p:tgtEl>
                                        <p:attrNameLst>
                                          <p:attrName>ppt_x</p:attrName>
                                        </p:attrNameLst>
                                      </p:cBhvr>
                                      <p:tavLst>
                                        <p:tav tm="0">
                                          <p:val>
                                            <p:strVal val="1+#ppt_w/2"/>
                                          </p:val>
                                        </p:tav>
                                        <p:tav tm="100000">
                                          <p:val>
                                            <p:strVal val="#ppt_x"/>
                                          </p:val>
                                        </p:tav>
                                      </p:tavLst>
                                    </p:anim>
                                    <p:anim calcmode="lin" valueType="num">
                                      <p:cBhvr additive="base">
                                        <p:cTn id="8" dur="500" fill="hold"/>
                                        <p:tgtEl>
                                          <p:spTgt spid="6993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9396" grpId="0"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Rectangle 2"/>
          <p:cNvSpPr>
            <a:spLocks noGrp="1" noChangeArrowheads="1"/>
          </p:cNvSpPr>
          <p:nvPr>
            <p:ph type="title"/>
          </p:nvPr>
        </p:nvSpPr>
        <p:spPr>
          <a:xfrm>
            <a:off x="1703512" y="476672"/>
            <a:ext cx="8126288"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22</a:t>
            </a:r>
          </a:p>
        </p:txBody>
      </p:sp>
      <p:graphicFrame>
        <p:nvGraphicFramePr>
          <p:cNvPr id="700419" name="Object 3"/>
          <p:cNvGraphicFramePr>
            <a:graphicFrameLocks/>
          </p:cNvGraphicFramePr>
          <p:nvPr>
            <p:extLst>
              <p:ext uri="{D42A27DB-BD31-4B8C-83A1-F6EECF244321}">
                <p14:modId xmlns:p14="http://schemas.microsoft.com/office/powerpoint/2010/main" val="2930076346"/>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30736" name="Worksheet" r:id="rId3" imgW="8972931" imgH="6363005" progId="Excel.Sheet.8">
                  <p:embed/>
                </p:oleObj>
              </mc:Choice>
              <mc:Fallback>
                <p:oleObj name="Worksheet" r:id="rId3" imgW="8972931" imgH="6363005" progId="Excel.Sheet.8">
                  <p:embed/>
                  <p:pic>
                    <p:nvPicPr>
                      <p:cNvPr id="700419"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31687369"/>
      </p:ext>
    </p:extLst>
  </p:cSld>
  <p:clrMapOvr>
    <a:masterClrMapping/>
  </p:clrMapOvr>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2" name="Rectangle 2"/>
          <p:cNvSpPr>
            <a:spLocks noGrp="1" noChangeArrowheads="1"/>
          </p:cNvSpPr>
          <p:nvPr>
            <p:ph type="title"/>
          </p:nvPr>
        </p:nvSpPr>
        <p:spPr>
          <a:xfrm>
            <a:off x="2362200" y="1981200"/>
            <a:ext cx="7162800" cy="1143000"/>
          </a:xfrm>
        </p:spPr>
        <p:txBody>
          <a:bodyPr/>
          <a:lstStyle/>
          <a:p>
            <a:r>
              <a:rPr lang="en-US" altLang="zh-CN">
                <a:ea typeface="宋体" panose="02010600030101010101" pitchFamily="2" charset="-122"/>
              </a:rPr>
              <a:t>Faster than light computation</a:t>
            </a:r>
            <a:br>
              <a:rPr lang="en-US" altLang="zh-CN">
                <a:ea typeface="宋体" panose="02010600030101010101" pitchFamily="2" charset="-122"/>
              </a:rPr>
            </a:br>
            <a:r>
              <a:rPr lang="en-US" altLang="zh-CN">
                <a:ea typeface="宋体" panose="02010600030101010101" pitchFamily="2" charset="-122"/>
              </a:rPr>
              <a:t>(skip a couple of cycles)</a:t>
            </a:r>
          </a:p>
        </p:txBody>
      </p:sp>
    </p:spTree>
    <p:extLst>
      <p:ext uri="{BB962C8B-B14F-4D97-AF65-F5344CB8AC3E}">
        <p14:creationId xmlns:p14="http://schemas.microsoft.com/office/powerpoint/2010/main" val="2024625234"/>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ChangeArrowheads="1"/>
          </p:cNvSpPr>
          <p:nvPr>
            <p:ph type="title"/>
          </p:nvPr>
        </p:nvSpPr>
        <p:spPr>
          <a:xfrm>
            <a:off x="1775520" y="548680"/>
            <a:ext cx="8126288"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61</a:t>
            </a:r>
          </a:p>
        </p:txBody>
      </p:sp>
      <p:graphicFrame>
        <p:nvGraphicFramePr>
          <p:cNvPr id="702467" name="Object 3"/>
          <p:cNvGraphicFramePr>
            <a:graphicFrameLocks/>
          </p:cNvGraphicFramePr>
          <p:nvPr>
            <p:extLst>
              <p:ext uri="{D42A27DB-BD31-4B8C-83A1-F6EECF244321}">
                <p14:modId xmlns:p14="http://schemas.microsoft.com/office/powerpoint/2010/main" val="197583763"/>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31760" name="Worksheet" r:id="rId3" imgW="8972821" imgH="6363182" progId="Excel.Sheet.8">
                  <p:embed/>
                </p:oleObj>
              </mc:Choice>
              <mc:Fallback>
                <p:oleObj name="Worksheet" r:id="rId3" imgW="8972821" imgH="6363182" progId="Excel.Sheet.8">
                  <p:embed/>
                  <p:pic>
                    <p:nvPicPr>
                      <p:cNvPr id="702467"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714911994"/>
      </p:ext>
    </p:extLst>
  </p:cSld>
  <p:clrMapOvr>
    <a:masterClrMapping/>
  </p:clrMapOvr>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p:cNvSpPr>
            <a:spLocks noGrp="1" noChangeArrowheads="1"/>
          </p:cNvSpPr>
          <p:nvPr>
            <p:ph type="title"/>
          </p:nvPr>
        </p:nvSpPr>
        <p:spPr>
          <a:xfrm>
            <a:off x="1775520" y="548680"/>
            <a:ext cx="8126288"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Scoreboard Example: Cycle 62</a:t>
            </a:r>
          </a:p>
        </p:txBody>
      </p:sp>
      <p:graphicFrame>
        <p:nvGraphicFramePr>
          <p:cNvPr id="703491" name="Object 3"/>
          <p:cNvGraphicFramePr>
            <a:graphicFrameLocks/>
          </p:cNvGraphicFramePr>
          <p:nvPr>
            <p:extLst>
              <p:ext uri="{D42A27DB-BD31-4B8C-83A1-F6EECF244321}">
                <p14:modId xmlns:p14="http://schemas.microsoft.com/office/powerpoint/2010/main" val="1839169993"/>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32784" name="Worksheet" r:id="rId3" imgW="8972821" imgH="6363182" progId="Excel.Sheet.8">
                  <p:embed/>
                </p:oleObj>
              </mc:Choice>
              <mc:Fallback>
                <p:oleObj name="Worksheet" r:id="rId3" imgW="8972821" imgH="6363182" progId="Excel.Sheet.8">
                  <p:embed/>
                  <p:pic>
                    <p:nvPicPr>
                      <p:cNvPr id="703491"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864982111"/>
      </p:ext>
    </p:extLst>
  </p:cSld>
  <p:clrMapOvr>
    <a:masterClrMapping/>
  </p:clrMapOvr>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4" name="Rectangle 2"/>
          <p:cNvSpPr>
            <a:spLocks noGrp="1" noChangeArrowheads="1"/>
          </p:cNvSpPr>
          <p:nvPr>
            <p:ph type="title"/>
          </p:nvPr>
        </p:nvSpPr>
        <p:spPr>
          <a:xfrm>
            <a:off x="1055440" y="347489"/>
            <a:ext cx="10371856" cy="838200"/>
          </a:xfrm>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dirty="0">
                <a:ea typeface="宋体" panose="02010600030101010101" pitchFamily="2" charset="-122"/>
              </a:rPr>
              <a:t>Review: Scoreboard Example: Cycle 62</a:t>
            </a:r>
          </a:p>
        </p:txBody>
      </p:sp>
      <p:graphicFrame>
        <p:nvGraphicFramePr>
          <p:cNvPr id="704515" name="Object 3"/>
          <p:cNvGraphicFramePr>
            <a:graphicFrameLocks/>
          </p:cNvGraphicFramePr>
          <p:nvPr>
            <p:extLst>
              <p:ext uri="{D42A27DB-BD31-4B8C-83A1-F6EECF244321}">
                <p14:modId xmlns:p14="http://schemas.microsoft.com/office/powerpoint/2010/main" val="3850983602"/>
              </p:ext>
            </p:extLst>
          </p:nvPr>
        </p:nvGraphicFramePr>
        <p:xfrm>
          <a:off x="1905000" y="1604788"/>
          <a:ext cx="8096250" cy="5208588"/>
        </p:xfrm>
        <a:graphic>
          <a:graphicData uri="http://schemas.openxmlformats.org/presentationml/2006/ole">
            <mc:AlternateContent xmlns:mc="http://schemas.openxmlformats.org/markup-compatibility/2006">
              <mc:Choice xmlns:v="urn:schemas-microsoft-com:vml" Requires="v">
                <p:oleObj spid="_x0000_s33808" name="Worksheet" r:id="rId3" imgW="8972821" imgH="6363182" progId="Excel.Sheet.8">
                  <p:embed/>
                </p:oleObj>
              </mc:Choice>
              <mc:Fallback>
                <p:oleObj name="Worksheet" r:id="rId3" imgW="8972821" imgH="6363182" progId="Excel.Sheet.8">
                  <p:embed/>
                  <p:pic>
                    <p:nvPicPr>
                      <p:cNvPr id="704515"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604788"/>
                        <a:ext cx="8096250" cy="52085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04516" name="AutoShape 4"/>
          <p:cNvSpPr>
            <a:spLocks noChangeArrowheads="1"/>
          </p:cNvSpPr>
          <p:nvPr/>
        </p:nvSpPr>
        <p:spPr bwMode="auto">
          <a:xfrm>
            <a:off x="4495801" y="2138189"/>
            <a:ext cx="461963" cy="1522413"/>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4517" name="AutoShape 5"/>
          <p:cNvSpPr>
            <a:spLocks noChangeArrowheads="1"/>
          </p:cNvSpPr>
          <p:nvPr/>
        </p:nvSpPr>
        <p:spPr bwMode="auto">
          <a:xfrm>
            <a:off x="5105400" y="2671589"/>
            <a:ext cx="1066800" cy="989013"/>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4518" name="AutoShape 6"/>
          <p:cNvSpPr>
            <a:spLocks noChangeArrowheads="1"/>
          </p:cNvSpPr>
          <p:nvPr/>
        </p:nvSpPr>
        <p:spPr bwMode="auto">
          <a:xfrm>
            <a:off x="6324601" y="2138189"/>
            <a:ext cx="461963" cy="1522413"/>
          </a:xfrm>
          <a:prstGeom prst="roundRect">
            <a:avLst>
              <a:gd name="adj" fmla="val 16667"/>
            </a:avLst>
          </a:prstGeom>
          <a:noFill/>
          <a:ln w="57150">
            <a:solidFill>
              <a:schemeClr val="hlink"/>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4519" name="Rectangle 7"/>
          <p:cNvSpPr>
            <a:spLocks noChangeArrowheads="1"/>
          </p:cNvSpPr>
          <p:nvPr/>
        </p:nvSpPr>
        <p:spPr bwMode="auto">
          <a:xfrm>
            <a:off x="7824192" y="2378695"/>
            <a:ext cx="3960018" cy="5207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7" tIns="44450" rIns="90487" bIns="44450"/>
          <a:lstStyle>
            <a:lvl1pPr marL="285750" indent="-285750">
              <a:spcBef>
                <a:spcPct val="0"/>
              </a:spcBef>
              <a:tabLst>
                <a:tab pos="914400" algn="l"/>
                <a:tab pos="1657350" algn="l"/>
                <a:tab pos="3028950" algn="l"/>
              </a:tabLst>
              <a:defRPr sz="2400">
                <a:solidFill>
                  <a:schemeClr val="tx1"/>
                </a:solidFill>
                <a:latin typeface="Times New Roman" panose="02020603050405020304" pitchFamily="18" charset="0"/>
              </a:defRPr>
            </a:lvl1pPr>
            <a:lvl2pPr marL="685800" indent="-228600">
              <a:spcBef>
                <a:spcPct val="0"/>
              </a:spcBef>
              <a:tabLst>
                <a:tab pos="914400" algn="l"/>
                <a:tab pos="1657350" algn="l"/>
                <a:tab pos="3028950" algn="l"/>
              </a:tabLst>
              <a:defRPr sz="2400">
                <a:solidFill>
                  <a:schemeClr val="tx1"/>
                </a:solidFill>
                <a:latin typeface="Times New Roman" panose="02020603050405020304" pitchFamily="18" charset="0"/>
              </a:defRPr>
            </a:lvl2pPr>
            <a:lvl3pPr marL="1143000" indent="-228600">
              <a:spcBef>
                <a:spcPct val="0"/>
              </a:spcBef>
              <a:tabLst>
                <a:tab pos="914400" algn="l"/>
                <a:tab pos="1657350" algn="l"/>
                <a:tab pos="3028950" algn="l"/>
              </a:tabLst>
              <a:defRPr sz="2400">
                <a:solidFill>
                  <a:schemeClr val="tx1"/>
                </a:solidFill>
                <a:latin typeface="Times New Roman" panose="02020603050405020304" pitchFamily="18" charset="0"/>
              </a:defRPr>
            </a:lvl3pPr>
            <a:lvl4pPr marL="1543050" indent="-171450">
              <a:spcBef>
                <a:spcPct val="0"/>
              </a:spcBef>
              <a:tabLst>
                <a:tab pos="914400" algn="l"/>
                <a:tab pos="1657350" algn="l"/>
                <a:tab pos="3028950" algn="l"/>
              </a:tabLst>
              <a:defRPr sz="2400">
                <a:solidFill>
                  <a:schemeClr val="tx1"/>
                </a:solidFill>
                <a:latin typeface="Times New Roman" panose="02020603050405020304" pitchFamily="18" charset="0"/>
              </a:defRPr>
            </a:lvl4pPr>
            <a:lvl5pPr marL="2000250" indent="-171450">
              <a:spcBef>
                <a:spcPct val="0"/>
              </a:spcBef>
              <a:tabLst>
                <a:tab pos="914400" algn="l"/>
                <a:tab pos="1657350" algn="l"/>
                <a:tab pos="3028950" algn="l"/>
              </a:tabLst>
              <a:defRPr sz="2400">
                <a:solidFill>
                  <a:schemeClr val="tx1"/>
                </a:solidFill>
                <a:latin typeface="Times New Roman" panose="02020603050405020304" pitchFamily="18" charset="0"/>
              </a:defRPr>
            </a:lvl5pPr>
            <a:lvl6pPr marL="24574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6pPr>
            <a:lvl7pPr marL="29146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7pPr>
            <a:lvl8pPr marL="33718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8pPr>
            <a:lvl9pPr marL="3829050" indent="-171450" eaLnBrk="0" fontAlgn="base" hangingPunct="0">
              <a:spcBef>
                <a:spcPct val="0"/>
              </a:spcBef>
              <a:spcAft>
                <a:spcPct val="0"/>
              </a:spcAft>
              <a:tabLst>
                <a:tab pos="914400" algn="l"/>
                <a:tab pos="1657350" algn="l"/>
                <a:tab pos="3028950" algn="l"/>
              </a:tabLst>
              <a:defRPr sz="2400">
                <a:solidFill>
                  <a:schemeClr val="tx1"/>
                </a:solidFill>
                <a:latin typeface="Times New Roman" panose="02020603050405020304" pitchFamily="18" charset="0"/>
              </a:defRPr>
            </a:lvl9pPr>
          </a:lstStyle>
          <a:p>
            <a:pPr>
              <a:lnSpc>
                <a:spcPct val="90000"/>
              </a:lnSpc>
              <a:spcBef>
                <a:spcPct val="30000"/>
              </a:spcBef>
              <a:buFontTx/>
              <a:buChar char="•"/>
            </a:pPr>
            <a:r>
              <a:rPr lang="en-US" altLang="zh-CN" dirty="0">
                <a:solidFill>
                  <a:srgbClr val="F9079D"/>
                </a:solidFill>
                <a:latin typeface="Comic Sans MS" panose="030F0702030302020204" pitchFamily="66" charset="0"/>
              </a:rPr>
              <a:t>In-order issue; </a:t>
            </a:r>
            <a:r>
              <a:rPr lang="en-US" altLang="zh-CN" dirty="0" smtClean="0">
                <a:solidFill>
                  <a:srgbClr val="F9079D"/>
                </a:solidFill>
                <a:latin typeface="Comic Sans MS" panose="030F0702030302020204" pitchFamily="66" charset="0"/>
              </a:rPr>
              <a:t/>
            </a:r>
            <a:br>
              <a:rPr lang="en-US" altLang="zh-CN" dirty="0" smtClean="0">
                <a:solidFill>
                  <a:srgbClr val="F9079D"/>
                </a:solidFill>
                <a:latin typeface="Comic Sans MS" panose="030F0702030302020204" pitchFamily="66" charset="0"/>
              </a:rPr>
            </a:br>
            <a:r>
              <a:rPr lang="en-US" altLang="zh-CN" dirty="0" smtClean="0">
                <a:solidFill>
                  <a:srgbClr val="F9079D"/>
                </a:solidFill>
                <a:latin typeface="Comic Sans MS" panose="030F0702030302020204" pitchFamily="66" charset="0"/>
              </a:rPr>
              <a:t>out-of-order </a:t>
            </a:r>
            <a:r>
              <a:rPr lang="en-US" altLang="zh-CN" dirty="0">
                <a:solidFill>
                  <a:srgbClr val="F9079D"/>
                </a:solidFill>
                <a:latin typeface="Comic Sans MS" panose="030F0702030302020204" pitchFamily="66" charset="0"/>
              </a:rPr>
              <a:t>execute &amp; </a:t>
            </a:r>
            <a:r>
              <a:rPr lang="en-US" altLang="zh-CN" dirty="0" smtClean="0">
                <a:solidFill>
                  <a:srgbClr val="F9079D"/>
                </a:solidFill>
                <a:latin typeface="Comic Sans MS" panose="030F0702030302020204" pitchFamily="66" charset="0"/>
              </a:rPr>
              <a:t/>
            </a:r>
            <a:br>
              <a:rPr lang="en-US" altLang="zh-CN" dirty="0" smtClean="0">
                <a:solidFill>
                  <a:srgbClr val="F9079D"/>
                </a:solidFill>
                <a:latin typeface="Comic Sans MS" panose="030F0702030302020204" pitchFamily="66" charset="0"/>
              </a:rPr>
            </a:br>
            <a:r>
              <a:rPr lang="en-US" altLang="zh-CN" dirty="0" smtClean="0">
                <a:solidFill>
                  <a:srgbClr val="F9079D"/>
                </a:solidFill>
                <a:latin typeface="Comic Sans MS" panose="030F0702030302020204" pitchFamily="66" charset="0"/>
              </a:rPr>
              <a:t>out-of-order complete </a:t>
            </a:r>
            <a:endParaRPr lang="en-US" altLang="zh-CN" dirty="0">
              <a:solidFill>
                <a:srgbClr val="F9079D"/>
              </a:solidFill>
              <a:latin typeface="Comic Sans MS" panose="030F0702030302020204" pitchFamily="66" charset="0"/>
            </a:endParaRPr>
          </a:p>
        </p:txBody>
      </p:sp>
    </p:spTree>
    <p:extLst>
      <p:ext uri="{BB962C8B-B14F-4D97-AF65-F5344CB8AC3E}">
        <p14:creationId xmlns:p14="http://schemas.microsoft.com/office/powerpoint/2010/main" val="277050624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04519"/>
                                        </p:tgtEl>
                                        <p:attrNameLst>
                                          <p:attrName>style.visibility</p:attrName>
                                        </p:attrNameLst>
                                      </p:cBhvr>
                                      <p:to>
                                        <p:strVal val="visible"/>
                                      </p:to>
                                    </p:set>
                                    <p:anim calcmode="lin" valueType="num">
                                      <p:cBhvr additive="base">
                                        <p:cTn id="7" dur="500" fill="hold"/>
                                        <p:tgtEl>
                                          <p:spTgt spid="704519"/>
                                        </p:tgtEl>
                                        <p:attrNameLst>
                                          <p:attrName>ppt_x</p:attrName>
                                        </p:attrNameLst>
                                      </p:cBhvr>
                                      <p:tavLst>
                                        <p:tav tm="0">
                                          <p:val>
                                            <p:strVal val="1+#ppt_w/2"/>
                                          </p:val>
                                        </p:tav>
                                        <p:tav tm="100000">
                                          <p:val>
                                            <p:strVal val="#ppt_x"/>
                                          </p:val>
                                        </p:tav>
                                      </p:tavLst>
                                    </p:anim>
                                    <p:anim calcmode="lin" valueType="num">
                                      <p:cBhvr additive="base">
                                        <p:cTn id="8" dur="500" fill="hold"/>
                                        <p:tgtEl>
                                          <p:spTgt spid="7045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19" grpId="0"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5538" name="Rectangle 2"/>
          <p:cNvSpPr>
            <a:spLocks noGrp="1" noChangeArrowheads="1"/>
          </p:cNvSpPr>
          <p:nvPr>
            <p:ph type="title"/>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ctr" anchorCtr="0" compatLnSpc="1">
            <a:prstTxWarp prst="textNoShape">
              <a:avLst/>
            </a:prstTxWarp>
          </a:bodyPr>
          <a:lstStyle/>
          <a:p>
            <a:r>
              <a:rPr lang="en-US" altLang="zh-CN">
                <a:ea typeface="宋体" panose="02010600030101010101" pitchFamily="2" charset="-122"/>
              </a:rPr>
              <a:t>CDC 6600 Scoreboard</a:t>
            </a:r>
          </a:p>
        </p:txBody>
      </p:sp>
      <p:sp>
        <p:nvSpPr>
          <p:cNvPr id="705539" name="Rectangle 3"/>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wrap="square" lIns="90487" tIns="44450" rIns="90487" bIns="44450" numCol="1" anchor="t" anchorCtr="0" compatLnSpc="1">
            <a:prstTxWarp prst="textNoShape">
              <a:avLst/>
            </a:prstTxWarp>
          </a:bodyPr>
          <a:lstStyle/>
          <a:p>
            <a:r>
              <a:rPr lang="en-US" altLang="zh-CN">
                <a:ea typeface="宋体" panose="02010600030101010101" pitchFamily="2" charset="-122"/>
              </a:rPr>
              <a:t>Speedup 1.7 from compiler; 2.5 by hand </a:t>
            </a:r>
            <a:br>
              <a:rPr lang="en-US" altLang="zh-CN">
                <a:ea typeface="宋体" panose="02010600030101010101" pitchFamily="2" charset="-122"/>
              </a:rPr>
            </a:br>
            <a:r>
              <a:rPr lang="en-US" altLang="zh-CN">
                <a:ea typeface="宋体" panose="02010600030101010101" pitchFamily="2" charset="-122"/>
              </a:rPr>
              <a:t>BUT slow memory (no cache) limits benefit</a:t>
            </a:r>
          </a:p>
          <a:p>
            <a:r>
              <a:rPr lang="en-US" altLang="zh-CN">
                <a:ea typeface="宋体" panose="02010600030101010101" pitchFamily="2" charset="-122"/>
              </a:rPr>
              <a:t>Limitations of 6600 scoreboard:</a:t>
            </a:r>
          </a:p>
          <a:p>
            <a:pPr lvl="1"/>
            <a:r>
              <a:rPr lang="en-US" altLang="zh-CN">
                <a:ea typeface="宋体" panose="02010600030101010101" pitchFamily="2" charset="-122"/>
              </a:rPr>
              <a:t>No forwarding hardware</a:t>
            </a:r>
          </a:p>
          <a:p>
            <a:pPr lvl="1"/>
            <a:r>
              <a:rPr lang="en-US" altLang="zh-CN">
                <a:ea typeface="宋体" panose="02010600030101010101" pitchFamily="2" charset="-122"/>
              </a:rPr>
              <a:t>Limited to instructions in basic block (small </a:t>
            </a:r>
            <a:r>
              <a:rPr lang="en-US" altLang="zh-CN" i="1">
                <a:ea typeface="宋体" panose="02010600030101010101" pitchFamily="2" charset="-122"/>
              </a:rPr>
              <a:t>window</a:t>
            </a:r>
            <a:r>
              <a:rPr lang="en-US" altLang="zh-CN">
                <a:ea typeface="宋体" panose="02010600030101010101" pitchFamily="2" charset="-122"/>
              </a:rPr>
              <a:t>)</a:t>
            </a:r>
          </a:p>
          <a:p>
            <a:pPr lvl="1"/>
            <a:r>
              <a:rPr lang="en-US" altLang="zh-CN">
                <a:ea typeface="宋体" panose="02010600030101010101" pitchFamily="2" charset="-122"/>
              </a:rPr>
              <a:t>Small number of functional units (structural hazards), especially integer/load store units</a:t>
            </a:r>
          </a:p>
          <a:p>
            <a:pPr lvl="1"/>
            <a:r>
              <a:rPr lang="en-US" altLang="zh-CN">
                <a:ea typeface="宋体" panose="02010600030101010101" pitchFamily="2" charset="-122"/>
              </a:rPr>
              <a:t>Do not issue on structural hazards</a:t>
            </a:r>
          </a:p>
          <a:p>
            <a:pPr lvl="1"/>
            <a:r>
              <a:rPr lang="en-US" altLang="zh-CN">
                <a:ea typeface="宋体" panose="02010600030101010101" pitchFamily="2" charset="-122"/>
              </a:rPr>
              <a:t>Wait for WAR hazards</a:t>
            </a:r>
          </a:p>
          <a:p>
            <a:pPr lvl="1"/>
            <a:r>
              <a:rPr lang="en-US" altLang="zh-CN">
                <a:ea typeface="宋体" panose="02010600030101010101" pitchFamily="2" charset="-122"/>
              </a:rPr>
              <a:t>Prevent WAW hazards</a:t>
            </a:r>
          </a:p>
        </p:txBody>
      </p:sp>
    </p:spTree>
    <p:extLst>
      <p:ext uri="{BB962C8B-B14F-4D97-AF65-F5344CB8AC3E}">
        <p14:creationId xmlns:p14="http://schemas.microsoft.com/office/powerpoint/2010/main" val="19410741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05539">
                                            <p:txEl>
                                              <p:pRg st="0" end="0"/>
                                            </p:txEl>
                                          </p:spTgt>
                                        </p:tgtEl>
                                        <p:attrNameLst>
                                          <p:attrName>style.visibility</p:attrName>
                                        </p:attrNameLst>
                                      </p:cBhvr>
                                      <p:to>
                                        <p:strVal val="visible"/>
                                      </p:to>
                                    </p:set>
                                    <p:anim calcmode="lin" valueType="num">
                                      <p:cBhvr additive="base">
                                        <p:cTn id="7" dur="500" fill="hold"/>
                                        <p:tgtEl>
                                          <p:spTgt spid="70553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0553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05539">
                                            <p:txEl>
                                              <p:pRg st="1" end="1"/>
                                            </p:txEl>
                                          </p:spTgt>
                                        </p:tgtEl>
                                        <p:attrNameLst>
                                          <p:attrName>style.visibility</p:attrName>
                                        </p:attrNameLst>
                                      </p:cBhvr>
                                      <p:to>
                                        <p:strVal val="visible"/>
                                      </p:to>
                                    </p:set>
                                    <p:anim calcmode="lin" valueType="num">
                                      <p:cBhvr additive="base">
                                        <p:cTn id="13" dur="500" fill="hold"/>
                                        <p:tgtEl>
                                          <p:spTgt spid="70553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05539">
                                            <p:txEl>
                                              <p:pRg st="1" end="1"/>
                                            </p:txEl>
                                          </p:spTgt>
                                        </p:tgtEl>
                                        <p:attrNameLst>
                                          <p:attrName>ppt_y</p:attrName>
                                        </p:attrNameLst>
                                      </p:cBhvr>
                                      <p:tavLst>
                                        <p:tav tm="0">
                                          <p:val>
                                            <p:strVal val="#ppt_y"/>
                                          </p:val>
                                        </p:tav>
                                        <p:tav tm="100000">
                                          <p:val>
                                            <p:strVal val="#ppt_y"/>
                                          </p:val>
                                        </p:tav>
                                      </p:tavLst>
                                    </p:anim>
                                  </p:childTnLst>
                                </p:cTn>
                              </p:par>
                              <p:par>
                                <p:cTn id="15" presetID="2" presetClass="entr" presetSubtype="8" fill="hold" grpId="0" nodeType="withEffect">
                                  <p:stCondLst>
                                    <p:cond delay="0"/>
                                  </p:stCondLst>
                                  <p:childTnLst>
                                    <p:set>
                                      <p:cBhvr>
                                        <p:cTn id="16" dur="1" fill="hold">
                                          <p:stCondLst>
                                            <p:cond delay="0"/>
                                          </p:stCondLst>
                                        </p:cTn>
                                        <p:tgtEl>
                                          <p:spTgt spid="705539">
                                            <p:txEl>
                                              <p:pRg st="2" end="2"/>
                                            </p:txEl>
                                          </p:spTgt>
                                        </p:tgtEl>
                                        <p:attrNameLst>
                                          <p:attrName>style.visibility</p:attrName>
                                        </p:attrNameLst>
                                      </p:cBhvr>
                                      <p:to>
                                        <p:strVal val="visible"/>
                                      </p:to>
                                    </p:set>
                                    <p:anim calcmode="lin" valueType="num">
                                      <p:cBhvr additive="base">
                                        <p:cTn id="17" dur="500" fill="hold"/>
                                        <p:tgtEl>
                                          <p:spTgt spid="705539">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705539">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705539">
                                            <p:txEl>
                                              <p:pRg st="3" end="3"/>
                                            </p:txEl>
                                          </p:spTgt>
                                        </p:tgtEl>
                                        <p:attrNameLst>
                                          <p:attrName>style.visibility</p:attrName>
                                        </p:attrNameLst>
                                      </p:cBhvr>
                                      <p:to>
                                        <p:strVal val="visible"/>
                                      </p:to>
                                    </p:set>
                                    <p:anim calcmode="lin" valueType="num">
                                      <p:cBhvr additive="base">
                                        <p:cTn id="21" dur="500" fill="hold"/>
                                        <p:tgtEl>
                                          <p:spTgt spid="705539">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705539">
                                            <p:txEl>
                                              <p:pRg st="3" end="3"/>
                                            </p:txEl>
                                          </p:spTgt>
                                        </p:tgtEl>
                                        <p:attrNameLst>
                                          <p:attrName>ppt_y</p:attrName>
                                        </p:attrNameLst>
                                      </p:cBhvr>
                                      <p:tavLst>
                                        <p:tav tm="0">
                                          <p:val>
                                            <p:strVal val="#ppt_y"/>
                                          </p:val>
                                        </p:tav>
                                        <p:tav tm="100000">
                                          <p:val>
                                            <p:strVal val="#ppt_y"/>
                                          </p:val>
                                        </p:tav>
                                      </p:tavLst>
                                    </p:anim>
                                  </p:childTnLst>
                                </p:cTn>
                              </p:par>
                              <p:par>
                                <p:cTn id="23" presetID="2" presetClass="entr" presetSubtype="8" fill="hold" grpId="0" nodeType="withEffect">
                                  <p:stCondLst>
                                    <p:cond delay="0"/>
                                  </p:stCondLst>
                                  <p:childTnLst>
                                    <p:set>
                                      <p:cBhvr>
                                        <p:cTn id="24" dur="1" fill="hold">
                                          <p:stCondLst>
                                            <p:cond delay="0"/>
                                          </p:stCondLst>
                                        </p:cTn>
                                        <p:tgtEl>
                                          <p:spTgt spid="705539">
                                            <p:txEl>
                                              <p:pRg st="4" end="4"/>
                                            </p:txEl>
                                          </p:spTgt>
                                        </p:tgtEl>
                                        <p:attrNameLst>
                                          <p:attrName>style.visibility</p:attrName>
                                        </p:attrNameLst>
                                      </p:cBhvr>
                                      <p:to>
                                        <p:strVal val="visible"/>
                                      </p:to>
                                    </p:set>
                                    <p:anim calcmode="lin" valueType="num">
                                      <p:cBhvr additive="base">
                                        <p:cTn id="25" dur="500" fill="hold"/>
                                        <p:tgtEl>
                                          <p:spTgt spid="705539">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05539">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8" fill="hold" grpId="0" nodeType="withEffect">
                                  <p:stCondLst>
                                    <p:cond delay="0"/>
                                  </p:stCondLst>
                                  <p:childTnLst>
                                    <p:set>
                                      <p:cBhvr>
                                        <p:cTn id="28" dur="1" fill="hold">
                                          <p:stCondLst>
                                            <p:cond delay="0"/>
                                          </p:stCondLst>
                                        </p:cTn>
                                        <p:tgtEl>
                                          <p:spTgt spid="705539">
                                            <p:txEl>
                                              <p:pRg st="5" end="5"/>
                                            </p:txEl>
                                          </p:spTgt>
                                        </p:tgtEl>
                                        <p:attrNameLst>
                                          <p:attrName>style.visibility</p:attrName>
                                        </p:attrNameLst>
                                      </p:cBhvr>
                                      <p:to>
                                        <p:strVal val="visible"/>
                                      </p:to>
                                    </p:set>
                                    <p:anim calcmode="lin" valueType="num">
                                      <p:cBhvr additive="base">
                                        <p:cTn id="29" dur="500" fill="hold"/>
                                        <p:tgtEl>
                                          <p:spTgt spid="705539">
                                            <p:txEl>
                                              <p:pRg st="5" end="5"/>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705539">
                                            <p:txEl>
                                              <p:pRg st="5" end="5"/>
                                            </p:txEl>
                                          </p:spTgt>
                                        </p:tgtEl>
                                        <p:attrNameLst>
                                          <p:attrName>ppt_y</p:attrName>
                                        </p:attrNameLst>
                                      </p:cBhvr>
                                      <p:tavLst>
                                        <p:tav tm="0">
                                          <p:val>
                                            <p:strVal val="#ppt_y"/>
                                          </p:val>
                                        </p:tav>
                                        <p:tav tm="100000">
                                          <p:val>
                                            <p:strVal val="#ppt_y"/>
                                          </p:val>
                                        </p:tav>
                                      </p:tavLst>
                                    </p:anim>
                                  </p:childTnLst>
                                </p:cTn>
                              </p:par>
                              <p:par>
                                <p:cTn id="31" presetID="2" presetClass="entr" presetSubtype="8" fill="hold" grpId="0" nodeType="withEffect">
                                  <p:stCondLst>
                                    <p:cond delay="0"/>
                                  </p:stCondLst>
                                  <p:childTnLst>
                                    <p:set>
                                      <p:cBhvr>
                                        <p:cTn id="32" dur="1" fill="hold">
                                          <p:stCondLst>
                                            <p:cond delay="0"/>
                                          </p:stCondLst>
                                        </p:cTn>
                                        <p:tgtEl>
                                          <p:spTgt spid="705539">
                                            <p:txEl>
                                              <p:pRg st="6" end="6"/>
                                            </p:txEl>
                                          </p:spTgt>
                                        </p:tgtEl>
                                        <p:attrNameLst>
                                          <p:attrName>style.visibility</p:attrName>
                                        </p:attrNameLst>
                                      </p:cBhvr>
                                      <p:to>
                                        <p:strVal val="visible"/>
                                      </p:to>
                                    </p:set>
                                    <p:anim calcmode="lin" valueType="num">
                                      <p:cBhvr additive="base">
                                        <p:cTn id="33" dur="500" fill="hold"/>
                                        <p:tgtEl>
                                          <p:spTgt spid="705539">
                                            <p:txEl>
                                              <p:pRg st="6" end="6"/>
                                            </p:txEl>
                                          </p:spTgt>
                                        </p:tgtEl>
                                        <p:attrNameLst>
                                          <p:attrName>ppt_x</p:attrName>
                                        </p:attrNameLst>
                                      </p:cBhvr>
                                      <p:tavLst>
                                        <p:tav tm="0">
                                          <p:val>
                                            <p:strVal val="0-#ppt_w/2"/>
                                          </p:val>
                                        </p:tav>
                                        <p:tav tm="100000">
                                          <p:val>
                                            <p:strVal val="#ppt_x"/>
                                          </p:val>
                                        </p:tav>
                                      </p:tavLst>
                                    </p:anim>
                                    <p:anim calcmode="lin" valueType="num">
                                      <p:cBhvr additive="base">
                                        <p:cTn id="34" dur="500" fill="hold"/>
                                        <p:tgtEl>
                                          <p:spTgt spid="705539">
                                            <p:txEl>
                                              <p:pRg st="6" end="6"/>
                                            </p:txEl>
                                          </p:spTgt>
                                        </p:tgtEl>
                                        <p:attrNameLst>
                                          <p:attrName>ppt_y</p:attrName>
                                        </p:attrNameLst>
                                      </p:cBhvr>
                                      <p:tavLst>
                                        <p:tav tm="0">
                                          <p:val>
                                            <p:strVal val="#ppt_y"/>
                                          </p:val>
                                        </p:tav>
                                        <p:tav tm="100000">
                                          <p:val>
                                            <p:strVal val="#ppt_y"/>
                                          </p:val>
                                        </p:tav>
                                      </p:tavLst>
                                    </p:anim>
                                  </p:childTnLst>
                                </p:cTn>
                              </p:par>
                              <p:par>
                                <p:cTn id="35" presetID="2" presetClass="entr" presetSubtype="8" fill="hold" grpId="0" nodeType="withEffect">
                                  <p:stCondLst>
                                    <p:cond delay="0"/>
                                  </p:stCondLst>
                                  <p:childTnLst>
                                    <p:set>
                                      <p:cBhvr>
                                        <p:cTn id="36" dur="1" fill="hold">
                                          <p:stCondLst>
                                            <p:cond delay="0"/>
                                          </p:stCondLst>
                                        </p:cTn>
                                        <p:tgtEl>
                                          <p:spTgt spid="705539">
                                            <p:txEl>
                                              <p:pRg st="7" end="7"/>
                                            </p:txEl>
                                          </p:spTgt>
                                        </p:tgtEl>
                                        <p:attrNameLst>
                                          <p:attrName>style.visibility</p:attrName>
                                        </p:attrNameLst>
                                      </p:cBhvr>
                                      <p:to>
                                        <p:strVal val="visible"/>
                                      </p:to>
                                    </p:set>
                                    <p:anim calcmode="lin" valueType="num">
                                      <p:cBhvr additive="base">
                                        <p:cTn id="37" dur="500" fill="hold"/>
                                        <p:tgtEl>
                                          <p:spTgt spid="705539">
                                            <p:txEl>
                                              <p:pRg st="7" end="7"/>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05539">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39" grpId="0" build="p"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ltLang="zh-CN" dirty="0" smtClean="0"/>
              <a:t>Pipelining Summary</a:t>
            </a:r>
            <a:endParaRPr lang="en-US" altLang="zh-CN" dirty="0"/>
          </a:p>
        </p:txBody>
      </p:sp>
      <p:sp>
        <p:nvSpPr>
          <p:cNvPr id="55299" name="Rectangle 3"/>
          <p:cNvSpPr>
            <a:spLocks noGrp="1" noChangeArrowheads="1"/>
          </p:cNvSpPr>
          <p:nvPr>
            <p:ph type="body" idx="1"/>
          </p:nvPr>
        </p:nvSpPr>
        <p:spPr/>
        <p:txBody>
          <a:bodyPr/>
          <a:lstStyle/>
          <a:p>
            <a:r>
              <a:rPr lang="en-US" altLang="zh-CN" dirty="0" smtClean="0"/>
              <a:t>Just overlap tasks, and easy if tasks are independent</a:t>
            </a:r>
          </a:p>
          <a:p>
            <a:r>
              <a:rPr lang="en-US" altLang="zh-CN" dirty="0" smtClean="0"/>
              <a:t>Speed Up &lt; Pipeline Depth; if ideal CPI is 1, then:</a:t>
            </a:r>
            <a:br>
              <a:rPr lang="en-US" altLang="zh-CN" dirty="0" smtClean="0"/>
            </a:br>
            <a:endParaRPr lang="en-US" altLang="zh-CN" dirty="0" smtClean="0"/>
          </a:p>
          <a:p>
            <a:endParaRPr lang="en-US" altLang="zh-CN" dirty="0" smtClean="0"/>
          </a:p>
          <a:p>
            <a:endParaRPr lang="en-US" altLang="zh-CN" dirty="0" smtClean="0"/>
          </a:p>
          <a:p>
            <a:r>
              <a:rPr lang="en-US" altLang="zh-CN" dirty="0" smtClean="0"/>
              <a:t>Hazards limit performance on computers:</a:t>
            </a:r>
          </a:p>
          <a:p>
            <a:pPr lvl="1"/>
            <a:r>
              <a:rPr lang="en-US" altLang="zh-CN" dirty="0" smtClean="0"/>
              <a:t>Structural: need more HW resources</a:t>
            </a:r>
          </a:p>
          <a:p>
            <a:pPr lvl="1"/>
            <a:r>
              <a:rPr lang="en-US" altLang="zh-CN" dirty="0" smtClean="0"/>
              <a:t>Data (RAW,WAR,WAW): need forwarding, compiler scheduling</a:t>
            </a:r>
          </a:p>
          <a:p>
            <a:pPr lvl="1"/>
            <a:r>
              <a:rPr lang="en-US" altLang="zh-CN" dirty="0" smtClean="0"/>
              <a:t>Control: delayed branch, prediction</a:t>
            </a:r>
          </a:p>
          <a:p>
            <a:r>
              <a:rPr lang="en-US" altLang="zh-CN" dirty="0" smtClean="0"/>
              <a:t>Introducing Dynamic Scheduling: Scoreboard</a:t>
            </a:r>
            <a:endParaRPr lang="en-US" altLang="zh-CN" dirty="0"/>
          </a:p>
        </p:txBody>
      </p:sp>
      <p:sp>
        <p:nvSpPr>
          <p:cNvPr id="55300" name="Rectangle 4"/>
          <p:cNvSpPr>
            <a:spLocks noChangeArrowheads="1"/>
          </p:cNvSpPr>
          <p:nvPr/>
        </p:nvSpPr>
        <p:spPr bwMode="auto">
          <a:xfrm>
            <a:off x="2117626" y="2971428"/>
            <a:ext cx="1343025" cy="363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t>Speedup =</a:t>
            </a:r>
          </a:p>
        </p:txBody>
      </p:sp>
      <p:sp>
        <p:nvSpPr>
          <p:cNvPr id="55301" name="Line 5"/>
          <p:cNvSpPr>
            <a:spLocks noChangeShapeType="1"/>
          </p:cNvSpPr>
          <p:nvPr/>
        </p:nvSpPr>
        <p:spPr bwMode="auto">
          <a:xfrm>
            <a:off x="3624163" y="3165102"/>
            <a:ext cx="2616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2" name="Line 6"/>
          <p:cNvSpPr>
            <a:spLocks noChangeShapeType="1"/>
          </p:cNvSpPr>
          <p:nvPr/>
        </p:nvSpPr>
        <p:spPr bwMode="auto">
          <a:xfrm>
            <a:off x="6862663" y="3165102"/>
            <a:ext cx="2616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03" name="Rectangle 7"/>
          <p:cNvSpPr>
            <a:spLocks noChangeArrowheads="1"/>
          </p:cNvSpPr>
          <p:nvPr/>
        </p:nvSpPr>
        <p:spPr bwMode="auto">
          <a:xfrm>
            <a:off x="4079776" y="2780928"/>
            <a:ext cx="168315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t>Pipeline Depth</a:t>
            </a:r>
          </a:p>
        </p:txBody>
      </p:sp>
      <p:sp>
        <p:nvSpPr>
          <p:cNvPr id="55304" name="Rectangle 8"/>
          <p:cNvSpPr>
            <a:spLocks noChangeArrowheads="1"/>
          </p:cNvSpPr>
          <p:nvPr/>
        </p:nvSpPr>
        <p:spPr bwMode="auto">
          <a:xfrm>
            <a:off x="3698776" y="3238128"/>
            <a:ext cx="2409825" cy="3635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t>1 + Pipeline stall CPI</a:t>
            </a:r>
          </a:p>
        </p:txBody>
      </p:sp>
      <p:sp>
        <p:nvSpPr>
          <p:cNvPr id="55305" name="Rectangle 9"/>
          <p:cNvSpPr>
            <a:spLocks noChangeArrowheads="1"/>
          </p:cNvSpPr>
          <p:nvPr/>
        </p:nvSpPr>
        <p:spPr bwMode="auto">
          <a:xfrm>
            <a:off x="6327676" y="3009528"/>
            <a:ext cx="33663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t>X</a:t>
            </a:r>
          </a:p>
        </p:txBody>
      </p:sp>
      <p:sp>
        <p:nvSpPr>
          <p:cNvPr id="55306" name="Rectangle 10"/>
          <p:cNvSpPr>
            <a:spLocks noChangeArrowheads="1"/>
          </p:cNvSpPr>
          <p:nvPr/>
        </p:nvSpPr>
        <p:spPr bwMode="auto">
          <a:xfrm>
            <a:off x="6670576" y="2780928"/>
            <a:ext cx="2683428"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t>Clock Cycle Unpipelined</a:t>
            </a:r>
          </a:p>
        </p:txBody>
      </p:sp>
      <p:sp>
        <p:nvSpPr>
          <p:cNvPr id="55307" name="Rectangle 11"/>
          <p:cNvSpPr>
            <a:spLocks noChangeArrowheads="1"/>
          </p:cNvSpPr>
          <p:nvPr/>
        </p:nvSpPr>
        <p:spPr bwMode="auto">
          <a:xfrm>
            <a:off x="6842026" y="3219078"/>
            <a:ext cx="2414123"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pattFill prst="narHorz">
                  <a:fgClr>
                    <a:schemeClr val="tx1"/>
                  </a:fgClr>
                  <a:bgClr>
                    <a:schemeClr val="bg1"/>
                  </a:bgClr>
                </a:patt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r>
              <a:rPr lang="en-US" altLang="zh-CN"/>
              <a:t>Clock Cycle Pipelined</a:t>
            </a:r>
          </a:p>
        </p:txBody>
      </p:sp>
    </p:spTree>
    <p:extLst>
      <p:ext uri="{BB962C8B-B14F-4D97-AF65-F5344CB8AC3E}">
        <p14:creationId xmlns:p14="http://schemas.microsoft.com/office/powerpoint/2010/main" val="363536346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55299">
                                            <p:txEl>
                                              <p:pRg st="1" end="1"/>
                                            </p:txEl>
                                          </p:spTgt>
                                        </p:tgtEl>
                                        <p:attrNameLst>
                                          <p:attrName>style.visibility</p:attrName>
                                        </p:attrNameLst>
                                      </p:cBhvr>
                                      <p:to>
                                        <p:strVal val="visible"/>
                                      </p:to>
                                    </p:set>
                                    <p:anim calcmode="lin" valueType="num">
                                      <p:cBhvr additive="base">
                                        <p:cTn id="13" dur="500" fill="hold"/>
                                        <p:tgtEl>
                                          <p:spTgt spid="5529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52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5299">
                                            <p:txEl>
                                              <p:pRg st="4" end="4"/>
                                            </p:txEl>
                                          </p:spTgt>
                                        </p:tgtEl>
                                        <p:attrNameLst>
                                          <p:attrName>style.visibility</p:attrName>
                                        </p:attrNameLst>
                                      </p:cBhvr>
                                      <p:to>
                                        <p:strVal val="visible"/>
                                      </p:to>
                                    </p:set>
                                    <p:anim calcmode="lin" valueType="num">
                                      <p:cBhvr additive="base">
                                        <p:cTn id="19" dur="500" fill="hold"/>
                                        <p:tgtEl>
                                          <p:spTgt spid="55299">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5299">
                                            <p:txEl>
                                              <p:pRg st="4" end="4"/>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55299">
                                            <p:txEl>
                                              <p:pRg st="5" end="5"/>
                                            </p:txEl>
                                          </p:spTgt>
                                        </p:tgtEl>
                                        <p:attrNameLst>
                                          <p:attrName>style.visibility</p:attrName>
                                        </p:attrNameLst>
                                      </p:cBhvr>
                                      <p:to>
                                        <p:strVal val="visible"/>
                                      </p:to>
                                    </p:set>
                                    <p:anim calcmode="lin" valueType="num">
                                      <p:cBhvr additive="base">
                                        <p:cTn id="23" dur="500" fill="hold"/>
                                        <p:tgtEl>
                                          <p:spTgt spid="55299">
                                            <p:txEl>
                                              <p:pRg st="5" end="5"/>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55299">
                                            <p:txEl>
                                              <p:pRg st="5" end="5"/>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55299">
                                            <p:txEl>
                                              <p:pRg st="6" end="6"/>
                                            </p:txEl>
                                          </p:spTgt>
                                        </p:tgtEl>
                                        <p:attrNameLst>
                                          <p:attrName>style.visibility</p:attrName>
                                        </p:attrNameLst>
                                      </p:cBhvr>
                                      <p:to>
                                        <p:strVal val="visible"/>
                                      </p:to>
                                    </p:set>
                                    <p:anim calcmode="lin" valueType="num">
                                      <p:cBhvr additive="base">
                                        <p:cTn id="27" dur="500" fill="hold"/>
                                        <p:tgtEl>
                                          <p:spTgt spid="55299">
                                            <p:txEl>
                                              <p:pRg st="6" end="6"/>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5299">
                                            <p:txEl>
                                              <p:pRg st="6" end="6"/>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55299">
                                            <p:txEl>
                                              <p:pRg st="7" end="7"/>
                                            </p:txEl>
                                          </p:spTgt>
                                        </p:tgtEl>
                                        <p:attrNameLst>
                                          <p:attrName>style.visibility</p:attrName>
                                        </p:attrNameLst>
                                      </p:cBhvr>
                                      <p:to>
                                        <p:strVal val="visible"/>
                                      </p:to>
                                    </p:set>
                                    <p:anim calcmode="lin" valueType="num">
                                      <p:cBhvr additive="base">
                                        <p:cTn id="31" dur="500" fill="hold"/>
                                        <p:tgtEl>
                                          <p:spTgt spid="55299">
                                            <p:txEl>
                                              <p:pRg st="7" end="7"/>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5529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5299">
                                            <p:txEl>
                                              <p:pRg st="8" end="8"/>
                                            </p:txEl>
                                          </p:spTgt>
                                        </p:tgtEl>
                                        <p:attrNameLst>
                                          <p:attrName>style.visibility</p:attrName>
                                        </p:attrNameLst>
                                      </p:cBhvr>
                                      <p:to>
                                        <p:strVal val="visible"/>
                                      </p:to>
                                    </p:set>
                                    <p:anim calcmode="lin" valueType="num">
                                      <p:cBhvr additive="base">
                                        <p:cTn id="37" dur="500" fill="hold"/>
                                        <p:tgtEl>
                                          <p:spTgt spid="55299">
                                            <p:txEl>
                                              <p:pRg st="8" end="8"/>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5299">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autoUpdateAnimBg="0"/>
    </p:bldLst>
  </p:timing>
</p:sld>
</file>

<file path=ppt/theme/theme1.xml><?xml version="1.0" encoding="utf-8"?>
<a:theme xmlns:a="http://schemas.openxmlformats.org/drawingml/2006/main" name="ca">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课程介绍" id="{C61E3E2B-F0E3-4728-A387-D87078CA91BB}" vid="{BAABA936-5DB4-4803-ADC9-9A0F60F94339}"/>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模板</Template>
  <TotalTime>989</TotalTime>
  <Words>7078</Words>
  <Application>Microsoft Office PowerPoint</Application>
  <PresentationFormat>宽屏</PresentationFormat>
  <Paragraphs>1478</Paragraphs>
  <Slides>131</Slides>
  <Notes>17</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5</vt:i4>
      </vt:variant>
      <vt:variant>
        <vt:lpstr>幻灯片标题</vt:lpstr>
      </vt:variant>
      <vt:variant>
        <vt:i4>131</vt:i4>
      </vt:variant>
    </vt:vector>
  </HeadingPairs>
  <TitlesOfParts>
    <vt:vector size="151" baseType="lpstr">
      <vt:lpstr>等线</vt:lpstr>
      <vt:lpstr>等线 Light</vt:lpstr>
      <vt:lpstr>黑体</vt:lpstr>
      <vt:lpstr>宋体</vt:lpstr>
      <vt:lpstr>Microsoft YaHei</vt:lpstr>
      <vt:lpstr>Microsoft YaHei</vt:lpstr>
      <vt:lpstr>Arial</vt:lpstr>
      <vt:lpstr>Calibri Light</vt:lpstr>
      <vt:lpstr>Comic Sans MS</vt:lpstr>
      <vt:lpstr>Courier New</vt:lpstr>
      <vt:lpstr>Helvetica</vt:lpstr>
      <vt:lpstr>Symbol</vt:lpstr>
      <vt:lpstr>Times New Roman</vt:lpstr>
      <vt:lpstr>Wingdings</vt:lpstr>
      <vt:lpstr>ca</vt:lpstr>
      <vt:lpstr>公式</vt:lpstr>
      <vt:lpstr>Document</vt:lpstr>
      <vt:lpstr>Equation</vt:lpstr>
      <vt:lpstr>Chart</vt:lpstr>
      <vt:lpstr>Worksheet</vt:lpstr>
      <vt:lpstr>基本指令流水线</vt:lpstr>
      <vt:lpstr>Pipelining: Its Natural!</vt:lpstr>
      <vt:lpstr>Sequential Laundry</vt:lpstr>
      <vt:lpstr>Pipelined Laundry：Start work ASAP</vt:lpstr>
      <vt:lpstr>Another Laundry：More Investment</vt:lpstr>
      <vt:lpstr>Pipelining Lessons</vt:lpstr>
      <vt:lpstr>Computer Pipelines</vt:lpstr>
      <vt:lpstr>A "Typical" RISC</vt:lpstr>
      <vt:lpstr>RISC-V    Note register location</vt:lpstr>
      <vt:lpstr>The implementation of the simple RISC V integer data path</vt:lpstr>
      <vt:lpstr>The data path is pipelined by adding a set of registers</vt:lpstr>
      <vt:lpstr>Pipeline registers between successive pipeline stages</vt:lpstr>
      <vt:lpstr>Events on every pipe stage of the RISC V pipeline</vt:lpstr>
      <vt:lpstr>Visualizing Pipelining: as a series of data paths shifted in time </vt:lpstr>
      <vt:lpstr>Its Not That Easy for Computers</vt:lpstr>
      <vt:lpstr>One Memory Port/Structural Hazards</vt:lpstr>
      <vt:lpstr>One Memory Port/Structural Hazards</vt:lpstr>
      <vt:lpstr>Speed Up Equation for Pipelining</vt:lpstr>
      <vt:lpstr>Example: Dual-port vs. Single-port</vt:lpstr>
      <vt:lpstr>Data Hazard on R1</vt:lpstr>
      <vt:lpstr>Three Generic Data Hazards</vt:lpstr>
      <vt:lpstr>Three Generic Data Hazards</vt:lpstr>
      <vt:lpstr>Three Generic Data Hazards</vt:lpstr>
      <vt:lpstr>Forwarding to Avoid Data Hazard</vt:lpstr>
      <vt:lpstr>Data Hazard Even with Forwarding</vt:lpstr>
      <vt:lpstr>Data Hazard Even with Forwarding</vt:lpstr>
      <vt:lpstr>Hazard detection by comparing the dest and sour registers of adjacent instructions</vt:lpstr>
      <vt:lpstr>Logic to detect the need for load interlocks </vt:lpstr>
      <vt:lpstr>Forwarding of data to the two ALU inputs </vt:lpstr>
      <vt:lpstr>HW Change for Forwarding of ALUinputs</vt:lpstr>
      <vt:lpstr>Forwarding of operand required by stores during MEM</vt:lpstr>
      <vt:lpstr>Memory Stall</vt:lpstr>
      <vt:lpstr>Software Scheduling to Avoid Load Hazards</vt:lpstr>
      <vt:lpstr>Control Hazard on Branches Three Stage Stall</vt:lpstr>
      <vt:lpstr>5 Steps of Pipelined MIPS Datapath</vt:lpstr>
      <vt:lpstr>Branch Stall Impact</vt:lpstr>
      <vt:lpstr>MIPS Pipeline with one branch stall</vt:lpstr>
      <vt:lpstr>A branch causes a one-cycle stall in the five-stage pipeline</vt:lpstr>
      <vt:lpstr>Compare in ID brings new hazard</vt:lpstr>
      <vt:lpstr>RISC-V Do conditional test in EX</vt:lpstr>
      <vt:lpstr>Four Branch Hazard Alternatives</vt:lpstr>
      <vt:lpstr>The predicted-not-taken scheme </vt:lpstr>
      <vt:lpstr>Four Branch Hazard Alternatives</vt:lpstr>
      <vt:lpstr>Delayed Branch</vt:lpstr>
      <vt:lpstr>The behavior of a delayed branch </vt:lpstr>
      <vt:lpstr>Evaluating Branch Alternatives</vt:lpstr>
      <vt:lpstr>When is pipelining hard?</vt:lpstr>
      <vt:lpstr>Exceptions and Interrupts</vt:lpstr>
      <vt:lpstr>Example: Device Interrupt (Say, arrival of network message)</vt:lpstr>
      <vt:lpstr>Alternative: Polling (again, for arrival of network message)</vt:lpstr>
      <vt:lpstr>Polling is faster/slower than Interrupts</vt:lpstr>
      <vt:lpstr>Exception/Interrupt classifications</vt:lpstr>
      <vt:lpstr>A related classification:  Synchronous vs. Asynchronous</vt:lpstr>
      <vt:lpstr>Five categories of exceptions</vt:lpstr>
      <vt:lpstr>Interrupt Priorities Must be Handled</vt:lpstr>
      <vt:lpstr>Interrupt controller hardware and mask levels</vt:lpstr>
      <vt:lpstr>Can we have fast interrupts?</vt:lpstr>
      <vt:lpstr>SPARC (and RISC I) had register windows</vt:lpstr>
      <vt:lpstr>Supervisor State</vt:lpstr>
      <vt:lpstr>Entry into Supervisor Mode</vt:lpstr>
      <vt:lpstr>Precise Interrupts/Exceptions</vt:lpstr>
      <vt:lpstr>With pipelining, Precise interrupt point  may require multiple PCs</vt:lpstr>
      <vt:lpstr>Why are precise interrupts desirable?</vt:lpstr>
      <vt:lpstr>Approximations to precise interrupts</vt:lpstr>
      <vt:lpstr>Precise Exceptions in simple  5-stage pipeline:</vt:lpstr>
      <vt:lpstr>Another look at the exception problem</vt:lpstr>
      <vt:lpstr>How to achieve precise interrupts when instructions executing in arbitrary order?</vt:lpstr>
      <vt:lpstr>4 approaches for interrupt handling</vt:lpstr>
      <vt:lpstr>Summary</vt:lpstr>
      <vt:lpstr>When is pipelining hard?</vt:lpstr>
      <vt:lpstr>The RISC V pipeline with 3+ functional units</vt:lpstr>
      <vt:lpstr>A pipeline that supports multiple outstanding FP operations</vt:lpstr>
      <vt:lpstr>A typical FP code sequence showing the stalls arising from RAW hazards</vt:lpstr>
      <vt:lpstr>Three instructions want write-back to the FP register file simultaneously</vt:lpstr>
      <vt:lpstr>Stalls of FP operation for the SPEC89  FP benchmarks</vt:lpstr>
      <vt:lpstr>Case Study: MIPS R4000  (200 MHz)</vt:lpstr>
      <vt:lpstr>The structure of the R4000 integer pipeline leads to a x1 load delay</vt:lpstr>
      <vt:lpstr>A load instruction followed by an immediate use results in a x1 stall</vt:lpstr>
      <vt:lpstr>The basic branch delay is three cycles</vt:lpstr>
      <vt:lpstr>Branch in R4000</vt:lpstr>
      <vt:lpstr>Deeper pipeline has 3 stage delay</vt:lpstr>
      <vt:lpstr>Branch Prediction Schemes</vt:lpstr>
      <vt:lpstr>Misprediction rate on SPEC92 for a profile-based predictor</vt:lpstr>
      <vt:lpstr>Dynamic Branch Prediction</vt:lpstr>
      <vt:lpstr>2-bit Dynamic Branch Prediction </vt:lpstr>
      <vt:lpstr>The states in a 2-bit prediction scheme</vt:lpstr>
      <vt:lpstr>Prediction accuracy of a 4096-entry 2-bit BHT for the SPEC89 benchmarks</vt:lpstr>
      <vt:lpstr>Impact of BHT Size</vt:lpstr>
      <vt:lpstr>MIPS R4000 Floating Point</vt:lpstr>
      <vt:lpstr>MIPS FP Pipe Stages</vt:lpstr>
      <vt:lpstr>The latencies and initiation intervals for the FP operations </vt:lpstr>
      <vt:lpstr>Structural Hazard between FP operations</vt:lpstr>
      <vt:lpstr>Structural Hazard between FP operations</vt:lpstr>
      <vt:lpstr>R4000 Performance: Not ideal CPI of 1</vt:lpstr>
      <vt:lpstr>RISC V processor with a scoreboard</vt:lpstr>
      <vt:lpstr>Scoreboard: a bookkeeping technique</vt:lpstr>
      <vt:lpstr>Scoreboard Architecture (CDC 6600)</vt:lpstr>
      <vt:lpstr>Four Stages of Scoreboard Control</vt:lpstr>
      <vt:lpstr>Four Stages of Scoreboard Control</vt:lpstr>
      <vt:lpstr>Three Parts of the Scoreboard</vt:lpstr>
      <vt:lpstr>Detailed Scoreboard Pipeline Control</vt:lpstr>
      <vt:lpstr>Scoreboard Example</vt:lpstr>
      <vt:lpstr>Scoreboard Example: Cycle 1</vt:lpstr>
      <vt:lpstr>Scoreboard Example: Cycle 2</vt:lpstr>
      <vt:lpstr>Scoreboard Example: Cycle 3</vt:lpstr>
      <vt:lpstr>Scoreboard Example: Cycle 4</vt:lpstr>
      <vt:lpstr>Scoreboard Example: Cycle 5</vt:lpstr>
      <vt:lpstr>Scoreboard Example: Cycle 6</vt:lpstr>
      <vt:lpstr>Scoreboard Example: Cycle 7</vt:lpstr>
      <vt:lpstr>Scoreboard Example: Cycle 8a (First half of clock cycle)</vt:lpstr>
      <vt:lpstr>Scoreboard Example: Cycle 8b (Second half of clock cycle)</vt:lpstr>
      <vt:lpstr>Scoreboard Example: Cycle 9</vt:lpstr>
      <vt:lpstr>Scoreboard Example: Cycle 10</vt:lpstr>
      <vt:lpstr>Scoreboard Example: Cycle 11</vt:lpstr>
      <vt:lpstr>Scoreboard Example: Cycle 12</vt:lpstr>
      <vt:lpstr>Scoreboard Example: Cycle 13</vt:lpstr>
      <vt:lpstr>Scoreboard Example: Cycle 14</vt:lpstr>
      <vt:lpstr>Scoreboard Example: Cycle 15</vt:lpstr>
      <vt:lpstr>Scoreboard Example: Cycle 16</vt:lpstr>
      <vt:lpstr>Scoreboard Example: Cycle 17</vt:lpstr>
      <vt:lpstr>Scoreboard Example: Cycle 18</vt:lpstr>
      <vt:lpstr>Scoreboard Example: Cycle 19</vt:lpstr>
      <vt:lpstr>Scoreboard Example: Cycle 20</vt:lpstr>
      <vt:lpstr>Scoreboard Example: Cycle 21</vt:lpstr>
      <vt:lpstr>Scoreboard Example: Cycle 22</vt:lpstr>
      <vt:lpstr>Faster than light computation (skip a couple of cycles)</vt:lpstr>
      <vt:lpstr>Scoreboard Example: Cycle 61</vt:lpstr>
      <vt:lpstr>Scoreboard Example: Cycle 62</vt:lpstr>
      <vt:lpstr>Review: Scoreboard Example: Cycle 62</vt:lpstr>
      <vt:lpstr>CDC 6600 Scoreboard</vt:lpstr>
      <vt:lpstr>Pipelining Summary</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基本指令流水线</dc:title>
  <dc:creator>Siat</dc:creator>
  <cp:lastModifiedBy>Zhimin Tang</cp:lastModifiedBy>
  <cp:revision>75</cp:revision>
  <dcterms:created xsi:type="dcterms:W3CDTF">2025-09-18T08:51:28Z</dcterms:created>
  <dcterms:modified xsi:type="dcterms:W3CDTF">2025-10-19T03:52:18Z</dcterms:modified>
</cp:coreProperties>
</file>