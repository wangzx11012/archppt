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8" r:id="rId1"/>
  </p:sldMasterIdLst>
  <p:notesMasterIdLst>
    <p:notesMasterId r:id="rId151"/>
  </p:notesMasterIdLst>
  <p:handoutMasterIdLst>
    <p:handoutMasterId r:id="rId152"/>
  </p:handoutMasterIdLst>
  <p:sldIdLst>
    <p:sldId id="265" r:id="rId2"/>
    <p:sldId id="420" r:id="rId3"/>
    <p:sldId id="268" r:id="rId4"/>
    <p:sldId id="270" r:id="rId5"/>
    <p:sldId id="436" r:id="rId6"/>
    <p:sldId id="437" r:id="rId7"/>
    <p:sldId id="438" r:id="rId8"/>
    <p:sldId id="439" r:id="rId9"/>
    <p:sldId id="440" r:id="rId10"/>
    <p:sldId id="441" r:id="rId11"/>
    <p:sldId id="442" r:id="rId12"/>
    <p:sldId id="443" r:id="rId13"/>
    <p:sldId id="444" r:id="rId14"/>
    <p:sldId id="445" r:id="rId15"/>
    <p:sldId id="446" r:id="rId16"/>
    <p:sldId id="271" r:id="rId17"/>
    <p:sldId id="272" r:id="rId18"/>
    <p:sldId id="273" r:id="rId19"/>
    <p:sldId id="422" r:id="rId20"/>
    <p:sldId id="274" r:id="rId21"/>
    <p:sldId id="423" r:id="rId22"/>
    <p:sldId id="453" r:id="rId23"/>
    <p:sldId id="424" r:id="rId24"/>
    <p:sldId id="275" r:id="rId25"/>
    <p:sldId id="452" r:id="rId26"/>
    <p:sldId id="285" r:id="rId27"/>
    <p:sldId id="286" r:id="rId28"/>
    <p:sldId id="454" r:id="rId29"/>
    <p:sldId id="455" r:id="rId30"/>
    <p:sldId id="426" r:id="rId31"/>
    <p:sldId id="427" r:id="rId32"/>
    <p:sldId id="428" r:id="rId33"/>
    <p:sldId id="429" r:id="rId34"/>
    <p:sldId id="289" r:id="rId35"/>
    <p:sldId id="430" r:id="rId36"/>
    <p:sldId id="456" r:id="rId37"/>
    <p:sldId id="431" r:id="rId38"/>
    <p:sldId id="432" r:id="rId39"/>
    <p:sldId id="276" r:id="rId40"/>
    <p:sldId id="433" r:id="rId41"/>
    <p:sldId id="292" r:id="rId42"/>
    <p:sldId id="457" r:id="rId43"/>
    <p:sldId id="458" r:id="rId44"/>
    <p:sldId id="459" r:id="rId45"/>
    <p:sldId id="435" r:id="rId46"/>
    <p:sldId id="280" r:id="rId47"/>
    <p:sldId id="281" r:id="rId48"/>
    <p:sldId id="282" r:id="rId49"/>
    <p:sldId id="283" r:id="rId50"/>
    <p:sldId id="284" r:id="rId51"/>
    <p:sldId id="288" r:id="rId52"/>
    <p:sldId id="290" r:id="rId53"/>
    <p:sldId id="291" r:id="rId54"/>
    <p:sldId id="29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447" r:id="rId89"/>
    <p:sldId id="448" r:id="rId90"/>
    <p:sldId id="449" r:id="rId91"/>
    <p:sldId id="450" r:id="rId92"/>
    <p:sldId id="451" r:id="rId93"/>
    <p:sldId id="354" r:id="rId94"/>
    <p:sldId id="355" r:id="rId95"/>
    <p:sldId id="356" r:id="rId96"/>
    <p:sldId id="357" r:id="rId97"/>
    <p:sldId id="358" r:id="rId98"/>
    <p:sldId id="359" r:id="rId99"/>
    <p:sldId id="360" r:id="rId100"/>
    <p:sldId id="361" r:id="rId101"/>
    <p:sldId id="362" r:id="rId102"/>
    <p:sldId id="363" r:id="rId103"/>
    <p:sldId id="364" r:id="rId104"/>
    <p:sldId id="365" r:id="rId105"/>
    <p:sldId id="366" r:id="rId106"/>
    <p:sldId id="367" r:id="rId107"/>
    <p:sldId id="368" r:id="rId108"/>
    <p:sldId id="369" r:id="rId109"/>
    <p:sldId id="370" r:id="rId110"/>
    <p:sldId id="371" r:id="rId111"/>
    <p:sldId id="372" r:id="rId112"/>
    <p:sldId id="373" r:id="rId113"/>
    <p:sldId id="374" r:id="rId114"/>
    <p:sldId id="375" r:id="rId115"/>
    <p:sldId id="376" r:id="rId116"/>
    <p:sldId id="377" r:id="rId117"/>
    <p:sldId id="378" r:id="rId118"/>
    <p:sldId id="379" r:id="rId119"/>
    <p:sldId id="380" r:id="rId120"/>
    <p:sldId id="381" r:id="rId121"/>
    <p:sldId id="382" r:id="rId122"/>
    <p:sldId id="383" r:id="rId123"/>
    <p:sldId id="384" r:id="rId124"/>
    <p:sldId id="386" r:id="rId125"/>
    <p:sldId id="387" r:id="rId126"/>
    <p:sldId id="390" r:id="rId127"/>
    <p:sldId id="392" r:id="rId128"/>
    <p:sldId id="393" r:id="rId129"/>
    <p:sldId id="396" r:id="rId130"/>
    <p:sldId id="399" r:id="rId131"/>
    <p:sldId id="400" r:id="rId132"/>
    <p:sldId id="401" r:id="rId133"/>
    <p:sldId id="402" r:id="rId134"/>
    <p:sldId id="403" r:id="rId135"/>
    <p:sldId id="405" r:id="rId136"/>
    <p:sldId id="406" r:id="rId137"/>
    <p:sldId id="407" r:id="rId138"/>
    <p:sldId id="408" r:id="rId139"/>
    <p:sldId id="409" r:id="rId140"/>
    <p:sldId id="410" r:id="rId141"/>
    <p:sldId id="411" r:id="rId142"/>
    <p:sldId id="412" r:id="rId143"/>
    <p:sldId id="413" r:id="rId144"/>
    <p:sldId id="414" r:id="rId145"/>
    <p:sldId id="415" r:id="rId146"/>
    <p:sldId id="416" r:id="rId147"/>
    <p:sldId id="417" r:id="rId148"/>
    <p:sldId id="418" r:id="rId149"/>
    <p:sldId id="419" r:id="rId150"/>
  </p:sldIdLst>
  <p:sldSz cx="12192000" cy="6858000"/>
  <p:notesSz cx="6858000" cy="9144000"/>
  <p:defaultTextStyle>
    <a:defPPr>
      <a:defRPr lang="zh-CN"/>
    </a:defPPr>
    <a:lvl1pPr algn="l" rtl="0" eaLnBrk="0" fontAlgn="base" hangingPunct="0">
      <a:spcBef>
        <a:spcPct val="0"/>
      </a:spcBef>
      <a:spcAft>
        <a:spcPct val="0"/>
      </a:spcAft>
      <a:defRPr kumimoji="1"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umimoji="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umimoji="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umimoji="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umimoji="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umimoji="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umimoji="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umimoji="1"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88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29" autoAdjust="0"/>
    <p:restoredTop sz="86295" autoAdjust="0"/>
  </p:normalViewPr>
  <p:slideViewPr>
    <p:cSldViewPr>
      <p:cViewPr varScale="1">
        <p:scale>
          <a:sx n="80" d="100"/>
          <a:sy n="80" d="100"/>
        </p:scale>
        <p:origin x="552" y="62"/>
      </p:cViewPr>
      <p:guideLst>
        <p:guide orient="horz" pos="288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018"/>
    </p:cViewPr>
  </p:sorterViewPr>
  <p:notesViewPr>
    <p:cSldViewPr>
      <p:cViewPr varScale="1">
        <p:scale>
          <a:sx n="37" d="100"/>
          <a:sy n="37" d="100"/>
        </p:scale>
        <p:origin x="-1090" y="-5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theme" Target="theme/theme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notesMaster" Target="notesMasters/notesMaster1.xml"/><Relationship Id="rId156"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viewProps" Target="viewProp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eaLnBrk="1" hangingPunct="1">
              <a:defRPr sz="1200">
                <a:latin typeface="Times New Roman" panose="02020603050405020304" pitchFamily="18" charset="0"/>
              </a:defRPr>
            </a:lvl1pPr>
          </a:lstStyle>
          <a:p>
            <a:pPr>
              <a:defRPr/>
            </a:pPr>
            <a:endParaRPr lang="en-US" altLang="zh-CN"/>
          </a:p>
        </p:txBody>
      </p:sp>
      <p:sp>
        <p:nvSpPr>
          <p:cNvPr id="3075" name="Rectangle 3"/>
          <p:cNvSpPr>
            <a:spLocks noGrp="1" noChangeArrowheads="1"/>
          </p:cNvSpPr>
          <p:nvPr>
            <p:ph type="dt" sz="quarter"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1" hangingPunct="1">
              <a:defRPr sz="1200">
                <a:latin typeface="Times New Roman" panose="02020603050405020304" pitchFamily="18" charset="0"/>
              </a:defRPr>
            </a:lvl1pPr>
          </a:lstStyle>
          <a:p>
            <a:pPr>
              <a:defRPr/>
            </a:pPr>
            <a:endParaRPr lang="en-US" altLang="zh-CN"/>
          </a:p>
        </p:txBody>
      </p:sp>
      <p:sp>
        <p:nvSpPr>
          <p:cNvPr id="3076" name="Rectangle 4"/>
          <p:cNvSpPr>
            <a:spLocks noGrp="1" noChangeArrowheads="1"/>
          </p:cNvSpPr>
          <p:nvPr>
            <p:ph type="ftr" sz="quarter" idx="2"/>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eaLnBrk="1" hangingPunct="1">
              <a:defRPr sz="1200">
                <a:latin typeface="Times New Roman" panose="02020603050405020304" pitchFamily="18" charset="0"/>
              </a:defRPr>
            </a:lvl1pPr>
          </a:lstStyle>
          <a:p>
            <a:pPr>
              <a:defRPr/>
            </a:pPr>
            <a:endParaRPr lang="en-US" altLang="zh-CN"/>
          </a:p>
        </p:txBody>
      </p:sp>
      <p:sp>
        <p:nvSpPr>
          <p:cNvPr id="3077" name="Rectangle 5"/>
          <p:cNvSpPr>
            <a:spLocks noGrp="1" noChangeArrowheads="1"/>
          </p:cNvSpPr>
          <p:nvPr>
            <p:ph type="sldNum" sz="quarter" idx="3"/>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pPr>
              <a:defRPr/>
            </a:pPr>
            <a:fld id="{68A6223A-CA48-4471-B8F7-D37FCC5B3120}"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eaLnBrk="1" hangingPunct="1">
              <a:defRPr sz="1200">
                <a:latin typeface="Times New Roman" panose="02020603050405020304" pitchFamily="18" charset="0"/>
              </a:defRPr>
            </a:lvl1pPr>
          </a:lstStyle>
          <a:p>
            <a:pPr>
              <a:defRPr/>
            </a:pPr>
            <a:endParaRPr lang="en-US" altLang="zh-CN"/>
          </a:p>
        </p:txBody>
      </p:sp>
      <p:sp>
        <p:nvSpPr>
          <p:cNvPr id="2051" name="Rectangle 3"/>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1" hangingPunct="1">
              <a:defRPr sz="1200">
                <a:latin typeface="Times New Roman" panose="02020603050405020304" pitchFamily="18" charset="0"/>
              </a:defRPr>
            </a:lvl1pPr>
          </a:lstStyle>
          <a:p>
            <a:pPr>
              <a:defRPr/>
            </a:pPr>
            <a:endParaRPr lang="en-US" altLang="zh-CN"/>
          </a:p>
        </p:txBody>
      </p:sp>
      <p:sp>
        <p:nvSpPr>
          <p:cNvPr id="3076" name="Rectangle 4"/>
          <p:cNvSpPr>
            <a:spLocks noGrp="1" noRot="1" noChangeAspect="1" noChangeArrowheads="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53" name="Rectangle 5"/>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noProof="0" smtClean="0"/>
              <a:t>单击以编辑母版文本样式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2054" name="Rectangle 6"/>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eaLnBrk="1" hangingPunct="1">
              <a:defRPr sz="1200">
                <a:latin typeface="Times New Roman" panose="02020603050405020304" pitchFamily="18" charset="0"/>
              </a:defRPr>
            </a:lvl1pPr>
          </a:lstStyle>
          <a:p>
            <a:pPr>
              <a:defRPr/>
            </a:pPr>
            <a:endParaRPr lang="en-US" altLang="zh-CN"/>
          </a:p>
        </p:txBody>
      </p:sp>
      <p:sp>
        <p:nvSpPr>
          <p:cNvPr id="2055" name="Rectangle 7"/>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pPr>
              <a:defRPr/>
            </a:pPr>
            <a:fld id="{ADD578B6-544B-410C-ADFF-D2920E8D1CB4}"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53F4836F-E334-4991-B3B9-BEC9C9173C9E}" type="datetime3">
              <a:rPr lang="en-US" smtClean="0"/>
              <a:t>14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2</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dirty="0"/>
          </a:p>
        </p:txBody>
      </p:sp>
    </p:spTree>
    <p:extLst>
      <p:ext uri="{BB962C8B-B14F-4D97-AF65-F5344CB8AC3E}">
        <p14:creationId xmlns:p14="http://schemas.microsoft.com/office/powerpoint/2010/main" val="7665074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5181600" y="0"/>
            <a:ext cx="3962400" cy="3413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43" name="Rectangle 3"/>
          <p:cNvSpPr>
            <a:spLocks noChangeArrowheads="1"/>
          </p:cNvSpPr>
          <p:nvPr/>
        </p:nvSpPr>
        <p:spPr bwMode="auto">
          <a:xfrm>
            <a:off x="5181600" y="6515100"/>
            <a:ext cx="3962400" cy="3429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947738">
              <a:defRPr kumimoji="1" sz="2400">
                <a:solidFill>
                  <a:schemeClr val="tx1"/>
                </a:solidFill>
                <a:latin typeface="Times New Roman" panose="02020603050405020304" pitchFamily="18" charset="0"/>
                <a:ea typeface="宋体" panose="02010600030101010101" pitchFamily="2" charset="-122"/>
              </a:defRPr>
            </a:lvl1pPr>
            <a:lvl2pPr marL="466725" defTabSz="947738">
              <a:defRPr kumimoji="1" sz="2400">
                <a:solidFill>
                  <a:schemeClr val="tx1"/>
                </a:solidFill>
                <a:latin typeface="Times New Roman" panose="02020603050405020304" pitchFamily="18" charset="0"/>
                <a:ea typeface="宋体" panose="02010600030101010101" pitchFamily="2" charset="-122"/>
              </a:defRPr>
            </a:lvl2pPr>
            <a:lvl3pPr marL="930275" defTabSz="947738">
              <a:defRPr kumimoji="1" sz="2400">
                <a:solidFill>
                  <a:schemeClr val="tx1"/>
                </a:solidFill>
                <a:latin typeface="Times New Roman" panose="02020603050405020304" pitchFamily="18" charset="0"/>
                <a:ea typeface="宋体" panose="02010600030101010101" pitchFamily="2" charset="-122"/>
              </a:defRPr>
            </a:lvl3pPr>
            <a:lvl4pPr marL="1398588" defTabSz="947738">
              <a:defRPr kumimoji="1" sz="2400">
                <a:solidFill>
                  <a:schemeClr val="tx1"/>
                </a:solidFill>
                <a:latin typeface="Times New Roman" panose="02020603050405020304" pitchFamily="18" charset="0"/>
                <a:ea typeface="宋体" panose="02010600030101010101" pitchFamily="2" charset="-122"/>
              </a:defRPr>
            </a:lvl4pPr>
            <a:lvl5pPr marL="1863725" defTabSz="947738">
              <a:defRPr kumimoji="1" sz="2400">
                <a:solidFill>
                  <a:schemeClr val="tx1"/>
                </a:solidFill>
                <a:latin typeface="Times New Roman" panose="02020603050405020304" pitchFamily="18" charset="0"/>
                <a:ea typeface="宋体" panose="02010600030101010101" pitchFamily="2" charset="-122"/>
              </a:defRPr>
            </a:lvl5pPr>
            <a:lvl6pPr marL="23209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7781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2353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6925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a:r>
              <a:rPr lang="en-US" altLang="zh-CN" sz="1000" i="1"/>
              <a:t>25</a:t>
            </a:r>
          </a:p>
        </p:txBody>
      </p:sp>
      <p:sp>
        <p:nvSpPr>
          <p:cNvPr id="10244" name="Rectangle 4"/>
          <p:cNvSpPr>
            <a:spLocks noChangeArrowheads="1"/>
          </p:cNvSpPr>
          <p:nvPr/>
        </p:nvSpPr>
        <p:spPr bwMode="auto">
          <a:xfrm>
            <a:off x="0" y="6515100"/>
            <a:ext cx="3960813" cy="3429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45" name="Rectangle 5"/>
          <p:cNvSpPr>
            <a:spLocks noChangeArrowheads="1"/>
          </p:cNvSpPr>
          <p:nvPr/>
        </p:nvSpPr>
        <p:spPr bwMode="auto">
          <a:xfrm>
            <a:off x="0" y="0"/>
            <a:ext cx="3960813" cy="3413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46" name="Rectangle 6"/>
          <p:cNvSpPr>
            <a:spLocks noGrp="1" noRot="1" noChangeAspect="1" noChangeArrowheads="1" noTextEdit="1"/>
          </p:cNvSpPr>
          <p:nvPr>
            <p:ph type="sldImg"/>
          </p:nvPr>
        </p:nvSpPr>
        <p:spPr>
          <a:ln cap="flat"/>
        </p:spPr>
      </p:sp>
      <p:sp>
        <p:nvSpPr>
          <p:cNvPr id="10247" name="Rectangle 7"/>
          <p:cNvSpPr>
            <a:spLocks noGrp="1" noChangeArrowheads="1"/>
          </p:cNvSpPr>
          <p:nvPr>
            <p:ph type="body" idx="1"/>
          </p:nvPr>
        </p:nvSpPr>
        <p:spPr>
          <a:ln/>
        </p:spPr>
        <p:txBody>
          <a:bodyPr/>
          <a:lstStyle/>
          <a:p>
            <a:endParaRPr lang="zh-CN" altLang="zh-CN"/>
          </a:p>
        </p:txBody>
      </p:sp>
    </p:spTree>
    <p:extLst>
      <p:ext uri="{BB962C8B-B14F-4D97-AF65-F5344CB8AC3E}">
        <p14:creationId xmlns:p14="http://schemas.microsoft.com/office/powerpoint/2010/main" val="14265374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5"/>
          <p:cNvSpPr>
            <a:spLocks noGrp="1" noChangeArrowheads="1"/>
          </p:cNvSpPr>
          <p:nvPr>
            <p:ph type="sldNum" sz="quarter" idx="4294967295"/>
          </p:nvPr>
        </p:nvSpPr>
        <p:spPr bwMode="auto">
          <a:xfrm>
            <a:off x="5180013" y="6515100"/>
            <a:ext cx="3962400" cy="341313"/>
          </a:xfrm>
          <a:prstGeom prst="rect">
            <a:avLst/>
          </a:prstGeom>
          <a:noFill/>
          <a:ln>
            <a:miter lim="800000"/>
            <a:headEnd/>
            <a:tailEnd/>
          </a:ln>
        </p:spPr>
        <p:txBody>
          <a:bodyPr/>
          <a:lstStyle/>
          <a:p>
            <a:fld id="{A1F7B7E4-7140-473F-AEF7-22FA67FBE377}" type="slidenum">
              <a:rPr lang="en-US" altLang="zh-CN"/>
              <a:pPr/>
              <a:t>5</a:t>
            </a:fld>
            <a:endParaRPr lang="en-US" altLang="zh-CN"/>
          </a:p>
        </p:txBody>
      </p:sp>
      <p:sp>
        <p:nvSpPr>
          <p:cNvPr id="180227" name="Rectangle 2"/>
          <p:cNvSpPr>
            <a:spLocks noGrp="1" noRot="1" noChangeAspect="1" noChangeArrowheads="1" noTextEdit="1"/>
          </p:cNvSpPr>
          <p:nvPr>
            <p:ph type="sldImg"/>
          </p:nvPr>
        </p:nvSpPr>
        <p:spPr>
          <a:xfrm>
            <a:off x="2297113" y="519113"/>
            <a:ext cx="4554537" cy="2562225"/>
          </a:xfrm>
          <a:solidFill>
            <a:srgbClr val="FFFFFF"/>
          </a:solidFill>
          <a:ln/>
        </p:spPr>
      </p:sp>
      <p:sp>
        <p:nvSpPr>
          <p:cNvPr id="180228" name="Rectangle 3"/>
          <p:cNvSpPr>
            <a:spLocks noGrp="1" noChangeArrowheads="1"/>
          </p:cNvSpPr>
          <p:nvPr>
            <p:ph type="body" idx="1"/>
          </p:nvPr>
        </p:nvSpPr>
        <p:spPr>
          <a:xfrm>
            <a:off x="1217613" y="3255963"/>
            <a:ext cx="6708775" cy="3087687"/>
          </a:xfrm>
          <a:solidFill>
            <a:srgbClr val="FFFFFF"/>
          </a:solidFill>
          <a:ln>
            <a:solidFill>
              <a:srgbClr val="000000"/>
            </a:solidFill>
          </a:ln>
        </p:spPr>
        <p:txBody>
          <a:bodyPr/>
          <a:lstStyle/>
          <a:p>
            <a:endParaRPr lang="ko-KR" altLang="en-US" smtClean="0">
              <a:latin typeface="Arial" pitchFamily="34" charset="0"/>
              <a:ea typeface="AppleMyungjo"/>
              <a:cs typeface="AppleMyungjo"/>
            </a:endParaRPr>
          </a:p>
        </p:txBody>
      </p:sp>
    </p:spTree>
    <p:extLst>
      <p:ext uri="{BB962C8B-B14F-4D97-AF65-F5344CB8AC3E}">
        <p14:creationId xmlns:p14="http://schemas.microsoft.com/office/powerpoint/2010/main" val="7870683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4"/>
          <p:cNvSpPr>
            <a:spLocks noGrp="1" noChangeArrowheads="1"/>
          </p:cNvSpPr>
          <p:nvPr>
            <p:ph type="ftr" sz="quarter" idx="4294967295"/>
          </p:nvPr>
        </p:nvSpPr>
        <p:spPr bwMode="auto">
          <a:xfrm>
            <a:off x="0" y="6515100"/>
            <a:ext cx="3962400" cy="341313"/>
          </a:xfrm>
          <a:prstGeom prst="rect">
            <a:avLst/>
          </a:prstGeom>
          <a:noFill/>
          <a:ln>
            <a:miter lim="800000"/>
            <a:headEnd/>
            <a:tailEnd/>
          </a:ln>
        </p:spPr>
        <p:txBody>
          <a:bodyPr/>
          <a:lstStyle/>
          <a:p>
            <a:r>
              <a:rPr lang="en-US" altLang="zh-CN"/>
              <a:t>CS252 S05</a:t>
            </a:r>
          </a:p>
        </p:txBody>
      </p:sp>
      <p:sp>
        <p:nvSpPr>
          <p:cNvPr id="181251" name="Rectangle 5"/>
          <p:cNvSpPr>
            <a:spLocks noGrp="1" noChangeArrowheads="1"/>
          </p:cNvSpPr>
          <p:nvPr>
            <p:ph type="sldNum" sz="quarter" idx="4294967295"/>
          </p:nvPr>
        </p:nvSpPr>
        <p:spPr bwMode="auto">
          <a:xfrm>
            <a:off x="5180013" y="6515100"/>
            <a:ext cx="3962400" cy="341313"/>
          </a:xfrm>
          <a:prstGeom prst="rect">
            <a:avLst/>
          </a:prstGeom>
          <a:noFill/>
          <a:ln>
            <a:miter lim="800000"/>
            <a:headEnd/>
            <a:tailEnd/>
          </a:ln>
        </p:spPr>
        <p:txBody>
          <a:bodyPr/>
          <a:lstStyle/>
          <a:p>
            <a:fld id="{2094BE42-6E48-450E-955E-E0AD275D1FD6}" type="slidenum">
              <a:rPr lang="en-US" altLang="zh-CN"/>
              <a:pPr/>
              <a:t>6</a:t>
            </a:fld>
            <a:endParaRPr lang="en-US" altLang="zh-CN"/>
          </a:p>
        </p:txBody>
      </p:sp>
      <p:sp>
        <p:nvSpPr>
          <p:cNvPr id="181252" name="Rectangle 2"/>
          <p:cNvSpPr>
            <a:spLocks noGrp="1" noRot="1" noChangeAspect="1" noChangeArrowheads="1" noTextEdit="1"/>
          </p:cNvSpPr>
          <p:nvPr>
            <p:ph type="sldImg"/>
          </p:nvPr>
        </p:nvSpPr>
        <p:spPr>
          <a:ln/>
        </p:spPr>
      </p:sp>
      <p:sp>
        <p:nvSpPr>
          <p:cNvPr id="181253" name="Rectangle 3"/>
          <p:cNvSpPr>
            <a:spLocks noGrp="1" noChangeArrowheads="1"/>
          </p:cNvSpPr>
          <p:nvPr>
            <p:ph type="body" idx="1"/>
          </p:nvPr>
        </p:nvSpPr>
        <p:spPr>
          <a:noFill/>
          <a:ln w="9525"/>
        </p:spPr>
        <p:txBody>
          <a:bodyPr/>
          <a:lstStyle/>
          <a:p>
            <a:endParaRPr lang="en-US" altLang="zh-CN" smtClean="0">
              <a:latin typeface="Arial" pitchFamily="34" charset="0"/>
            </a:endParaRPr>
          </a:p>
        </p:txBody>
      </p:sp>
    </p:spTree>
    <p:extLst>
      <p:ext uri="{BB962C8B-B14F-4D97-AF65-F5344CB8AC3E}">
        <p14:creationId xmlns:p14="http://schemas.microsoft.com/office/powerpoint/2010/main" val="23657854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4"/>
          <p:cNvSpPr>
            <a:spLocks noGrp="1" noChangeArrowheads="1"/>
          </p:cNvSpPr>
          <p:nvPr>
            <p:ph type="ftr" sz="quarter" idx="4294967295"/>
          </p:nvPr>
        </p:nvSpPr>
        <p:spPr bwMode="auto">
          <a:xfrm>
            <a:off x="0" y="6515100"/>
            <a:ext cx="3962400" cy="341313"/>
          </a:xfrm>
          <a:prstGeom prst="rect">
            <a:avLst/>
          </a:prstGeom>
          <a:noFill/>
          <a:ln>
            <a:miter lim="800000"/>
            <a:headEnd/>
            <a:tailEnd/>
          </a:ln>
        </p:spPr>
        <p:txBody>
          <a:bodyPr/>
          <a:lstStyle/>
          <a:p>
            <a:r>
              <a:rPr lang="en-US" altLang="zh-CN"/>
              <a:t>CS252 S05</a:t>
            </a:r>
          </a:p>
        </p:txBody>
      </p:sp>
      <p:sp>
        <p:nvSpPr>
          <p:cNvPr id="182275" name="Rectangle 5"/>
          <p:cNvSpPr>
            <a:spLocks noGrp="1" noChangeArrowheads="1"/>
          </p:cNvSpPr>
          <p:nvPr>
            <p:ph type="sldNum" sz="quarter" idx="4294967295"/>
          </p:nvPr>
        </p:nvSpPr>
        <p:spPr bwMode="auto">
          <a:xfrm>
            <a:off x="5180013" y="6515100"/>
            <a:ext cx="3962400" cy="341313"/>
          </a:xfrm>
          <a:prstGeom prst="rect">
            <a:avLst/>
          </a:prstGeom>
          <a:noFill/>
          <a:ln>
            <a:miter lim="800000"/>
            <a:headEnd/>
            <a:tailEnd/>
          </a:ln>
        </p:spPr>
        <p:txBody>
          <a:bodyPr/>
          <a:lstStyle/>
          <a:p>
            <a:fld id="{F09F2097-5713-4C2C-B426-E2A5A6394A3C}" type="slidenum">
              <a:rPr lang="en-US" altLang="zh-CN"/>
              <a:pPr/>
              <a:t>7</a:t>
            </a:fld>
            <a:endParaRPr lang="en-US" altLang="zh-CN"/>
          </a:p>
        </p:txBody>
      </p:sp>
      <p:sp>
        <p:nvSpPr>
          <p:cNvPr id="182276" name="Rectangle 2"/>
          <p:cNvSpPr>
            <a:spLocks noGrp="1" noRot="1" noChangeAspect="1" noChangeArrowheads="1" noTextEdit="1"/>
          </p:cNvSpPr>
          <p:nvPr>
            <p:ph type="sldImg"/>
          </p:nvPr>
        </p:nvSpPr>
        <p:spPr>
          <a:ln/>
        </p:spPr>
      </p:sp>
      <p:sp>
        <p:nvSpPr>
          <p:cNvPr id="182277" name="Rectangle 3"/>
          <p:cNvSpPr>
            <a:spLocks noGrp="1" noChangeArrowheads="1"/>
          </p:cNvSpPr>
          <p:nvPr>
            <p:ph type="body" idx="1"/>
          </p:nvPr>
        </p:nvSpPr>
        <p:spPr>
          <a:noFill/>
          <a:ln w="9525"/>
        </p:spPr>
        <p:txBody>
          <a:bodyPr/>
          <a:lstStyle/>
          <a:p>
            <a:endParaRPr lang="en-US" altLang="zh-CN" smtClean="0">
              <a:latin typeface="Arial" pitchFamily="34" charset="0"/>
            </a:endParaRPr>
          </a:p>
        </p:txBody>
      </p:sp>
    </p:spTree>
    <p:extLst>
      <p:ext uri="{BB962C8B-B14F-4D97-AF65-F5344CB8AC3E}">
        <p14:creationId xmlns:p14="http://schemas.microsoft.com/office/powerpoint/2010/main" val="30549189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4"/>
          <p:cNvSpPr>
            <a:spLocks noGrp="1" noChangeArrowheads="1"/>
          </p:cNvSpPr>
          <p:nvPr>
            <p:ph type="ftr" sz="quarter" idx="4294967295"/>
          </p:nvPr>
        </p:nvSpPr>
        <p:spPr bwMode="auto">
          <a:xfrm>
            <a:off x="0" y="6515100"/>
            <a:ext cx="3962400" cy="341313"/>
          </a:xfrm>
          <a:prstGeom prst="rect">
            <a:avLst/>
          </a:prstGeom>
          <a:noFill/>
          <a:ln>
            <a:miter lim="800000"/>
            <a:headEnd/>
            <a:tailEnd/>
          </a:ln>
        </p:spPr>
        <p:txBody>
          <a:bodyPr/>
          <a:lstStyle/>
          <a:p>
            <a:r>
              <a:rPr lang="en-US" altLang="zh-CN"/>
              <a:t>CS252 S05</a:t>
            </a:r>
          </a:p>
        </p:txBody>
      </p:sp>
      <p:sp>
        <p:nvSpPr>
          <p:cNvPr id="183299" name="Rectangle 5"/>
          <p:cNvSpPr>
            <a:spLocks noGrp="1" noChangeArrowheads="1"/>
          </p:cNvSpPr>
          <p:nvPr>
            <p:ph type="sldNum" sz="quarter" idx="4294967295"/>
          </p:nvPr>
        </p:nvSpPr>
        <p:spPr bwMode="auto">
          <a:xfrm>
            <a:off x="5180013" y="6515100"/>
            <a:ext cx="3962400" cy="341313"/>
          </a:xfrm>
          <a:prstGeom prst="rect">
            <a:avLst/>
          </a:prstGeom>
          <a:noFill/>
          <a:ln>
            <a:miter lim="800000"/>
            <a:headEnd/>
            <a:tailEnd/>
          </a:ln>
        </p:spPr>
        <p:txBody>
          <a:bodyPr/>
          <a:lstStyle/>
          <a:p>
            <a:fld id="{8C759616-0787-44E0-BF9D-BA4AAEB5C5C5}" type="slidenum">
              <a:rPr lang="en-US" altLang="zh-CN"/>
              <a:pPr/>
              <a:t>8</a:t>
            </a:fld>
            <a:endParaRPr lang="en-US" altLang="zh-CN"/>
          </a:p>
        </p:txBody>
      </p:sp>
      <p:sp>
        <p:nvSpPr>
          <p:cNvPr id="183300" name="Rectangle 2"/>
          <p:cNvSpPr>
            <a:spLocks noGrp="1" noRot="1" noChangeAspect="1" noChangeArrowheads="1" noTextEdit="1"/>
          </p:cNvSpPr>
          <p:nvPr>
            <p:ph type="sldImg"/>
          </p:nvPr>
        </p:nvSpPr>
        <p:spPr>
          <a:ln/>
        </p:spPr>
      </p:sp>
      <p:sp>
        <p:nvSpPr>
          <p:cNvPr id="183301" name="Rectangle 3"/>
          <p:cNvSpPr>
            <a:spLocks noGrp="1" noChangeArrowheads="1"/>
          </p:cNvSpPr>
          <p:nvPr>
            <p:ph type="body" idx="1"/>
          </p:nvPr>
        </p:nvSpPr>
        <p:spPr>
          <a:noFill/>
          <a:ln w="9525"/>
        </p:spPr>
        <p:txBody>
          <a:bodyPr/>
          <a:lstStyle/>
          <a:p>
            <a:endParaRPr lang="en-US" altLang="zh-CN" smtClean="0">
              <a:latin typeface="Arial" pitchFamily="34" charset="0"/>
            </a:endParaRPr>
          </a:p>
        </p:txBody>
      </p:sp>
    </p:spTree>
    <p:extLst>
      <p:ext uri="{BB962C8B-B14F-4D97-AF65-F5344CB8AC3E}">
        <p14:creationId xmlns:p14="http://schemas.microsoft.com/office/powerpoint/2010/main" val="2044940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4"/>
          <p:cNvSpPr>
            <a:spLocks noGrp="1" noChangeArrowheads="1"/>
          </p:cNvSpPr>
          <p:nvPr>
            <p:ph type="ftr" sz="quarter" idx="4294967295"/>
          </p:nvPr>
        </p:nvSpPr>
        <p:spPr bwMode="auto">
          <a:xfrm>
            <a:off x="0" y="6515100"/>
            <a:ext cx="3962400" cy="341313"/>
          </a:xfrm>
          <a:prstGeom prst="rect">
            <a:avLst/>
          </a:prstGeom>
          <a:noFill/>
          <a:ln>
            <a:miter lim="800000"/>
            <a:headEnd/>
            <a:tailEnd/>
          </a:ln>
        </p:spPr>
        <p:txBody>
          <a:bodyPr/>
          <a:lstStyle/>
          <a:p>
            <a:r>
              <a:rPr lang="en-US" altLang="zh-CN"/>
              <a:t>CS252 S05</a:t>
            </a:r>
          </a:p>
        </p:txBody>
      </p:sp>
      <p:sp>
        <p:nvSpPr>
          <p:cNvPr id="184323" name="Rectangle 5"/>
          <p:cNvSpPr>
            <a:spLocks noGrp="1" noChangeArrowheads="1"/>
          </p:cNvSpPr>
          <p:nvPr>
            <p:ph type="sldNum" sz="quarter" idx="4294967295"/>
          </p:nvPr>
        </p:nvSpPr>
        <p:spPr bwMode="auto">
          <a:xfrm>
            <a:off x="5180013" y="6515100"/>
            <a:ext cx="3962400" cy="341313"/>
          </a:xfrm>
          <a:prstGeom prst="rect">
            <a:avLst/>
          </a:prstGeom>
          <a:noFill/>
          <a:ln>
            <a:miter lim="800000"/>
            <a:headEnd/>
            <a:tailEnd/>
          </a:ln>
        </p:spPr>
        <p:txBody>
          <a:bodyPr/>
          <a:lstStyle/>
          <a:p>
            <a:fld id="{B9C7160C-85EE-4F1F-9BB0-AE19FB2D45C0}" type="slidenum">
              <a:rPr lang="en-US" altLang="zh-CN"/>
              <a:pPr/>
              <a:t>9</a:t>
            </a:fld>
            <a:endParaRPr lang="en-US" altLang="zh-CN"/>
          </a:p>
        </p:txBody>
      </p:sp>
      <p:sp>
        <p:nvSpPr>
          <p:cNvPr id="184324" name="Rectangle 2"/>
          <p:cNvSpPr>
            <a:spLocks noGrp="1" noRot="1" noChangeAspect="1" noChangeArrowheads="1" noTextEdit="1"/>
          </p:cNvSpPr>
          <p:nvPr>
            <p:ph type="sldImg"/>
          </p:nvPr>
        </p:nvSpPr>
        <p:spPr>
          <a:ln/>
        </p:spPr>
      </p:sp>
      <p:sp>
        <p:nvSpPr>
          <p:cNvPr id="184325" name="Rectangle 3"/>
          <p:cNvSpPr>
            <a:spLocks noGrp="1" noChangeArrowheads="1"/>
          </p:cNvSpPr>
          <p:nvPr>
            <p:ph type="body" idx="1"/>
          </p:nvPr>
        </p:nvSpPr>
        <p:spPr>
          <a:noFill/>
          <a:ln w="9525"/>
        </p:spPr>
        <p:txBody>
          <a:bodyPr/>
          <a:lstStyle/>
          <a:p>
            <a:endParaRPr lang="en-US" altLang="zh-CN" smtClean="0">
              <a:latin typeface="Arial" pitchFamily="34" charset="0"/>
            </a:endParaRPr>
          </a:p>
        </p:txBody>
      </p:sp>
    </p:spTree>
    <p:extLst>
      <p:ext uri="{BB962C8B-B14F-4D97-AF65-F5344CB8AC3E}">
        <p14:creationId xmlns:p14="http://schemas.microsoft.com/office/powerpoint/2010/main" val="4539926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4"/>
          <p:cNvSpPr>
            <a:spLocks noGrp="1" noChangeArrowheads="1"/>
          </p:cNvSpPr>
          <p:nvPr>
            <p:ph type="ftr" sz="quarter" idx="4294967295"/>
          </p:nvPr>
        </p:nvSpPr>
        <p:spPr bwMode="auto">
          <a:xfrm>
            <a:off x="0" y="6515100"/>
            <a:ext cx="3962400" cy="341313"/>
          </a:xfrm>
          <a:prstGeom prst="rect">
            <a:avLst/>
          </a:prstGeom>
          <a:noFill/>
          <a:ln>
            <a:miter lim="800000"/>
            <a:headEnd/>
            <a:tailEnd/>
          </a:ln>
        </p:spPr>
        <p:txBody>
          <a:bodyPr/>
          <a:lstStyle/>
          <a:p>
            <a:r>
              <a:rPr lang="en-US" altLang="zh-CN"/>
              <a:t>CS252 S05</a:t>
            </a:r>
          </a:p>
        </p:txBody>
      </p:sp>
      <p:sp>
        <p:nvSpPr>
          <p:cNvPr id="185347" name="Rectangle 5"/>
          <p:cNvSpPr>
            <a:spLocks noGrp="1" noChangeArrowheads="1"/>
          </p:cNvSpPr>
          <p:nvPr>
            <p:ph type="sldNum" sz="quarter" idx="4294967295"/>
          </p:nvPr>
        </p:nvSpPr>
        <p:spPr bwMode="auto">
          <a:xfrm>
            <a:off x="5180013" y="6515100"/>
            <a:ext cx="3962400" cy="341313"/>
          </a:xfrm>
          <a:prstGeom prst="rect">
            <a:avLst/>
          </a:prstGeom>
          <a:noFill/>
          <a:ln>
            <a:miter lim="800000"/>
            <a:headEnd/>
            <a:tailEnd/>
          </a:ln>
        </p:spPr>
        <p:txBody>
          <a:bodyPr/>
          <a:lstStyle/>
          <a:p>
            <a:fld id="{E98A389C-B64C-48FE-BFDF-C7F1414E3FA9}" type="slidenum">
              <a:rPr lang="en-US" altLang="zh-CN"/>
              <a:pPr/>
              <a:t>10</a:t>
            </a:fld>
            <a:endParaRPr lang="en-US" altLang="zh-CN"/>
          </a:p>
        </p:txBody>
      </p:sp>
      <p:sp>
        <p:nvSpPr>
          <p:cNvPr id="185348" name="Rectangle 2"/>
          <p:cNvSpPr>
            <a:spLocks noGrp="1" noRot="1" noChangeAspect="1" noChangeArrowheads="1" noTextEdit="1"/>
          </p:cNvSpPr>
          <p:nvPr>
            <p:ph type="sldImg"/>
          </p:nvPr>
        </p:nvSpPr>
        <p:spPr>
          <a:ln/>
        </p:spPr>
      </p:sp>
      <p:sp>
        <p:nvSpPr>
          <p:cNvPr id="185349" name="Rectangle 3"/>
          <p:cNvSpPr>
            <a:spLocks noGrp="1" noChangeArrowheads="1"/>
          </p:cNvSpPr>
          <p:nvPr>
            <p:ph type="body" idx="1"/>
          </p:nvPr>
        </p:nvSpPr>
        <p:spPr>
          <a:noFill/>
          <a:ln w="9525"/>
        </p:spPr>
        <p:txBody>
          <a:bodyPr/>
          <a:lstStyle/>
          <a:p>
            <a:endParaRPr lang="en-US" altLang="zh-CN" smtClean="0">
              <a:latin typeface="Arial" pitchFamily="34" charset="0"/>
            </a:endParaRPr>
          </a:p>
        </p:txBody>
      </p:sp>
    </p:spTree>
    <p:extLst>
      <p:ext uri="{BB962C8B-B14F-4D97-AF65-F5344CB8AC3E}">
        <p14:creationId xmlns:p14="http://schemas.microsoft.com/office/powerpoint/2010/main" val="30901004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5"/>
          <p:cNvSpPr>
            <a:spLocks noGrp="1" noChangeArrowheads="1"/>
          </p:cNvSpPr>
          <p:nvPr>
            <p:ph type="sldNum" sz="quarter" idx="4294967295"/>
          </p:nvPr>
        </p:nvSpPr>
        <p:spPr bwMode="auto">
          <a:xfrm>
            <a:off x="5180013" y="6515100"/>
            <a:ext cx="3962400" cy="341313"/>
          </a:xfrm>
          <a:prstGeom prst="rect">
            <a:avLst/>
          </a:prstGeom>
          <a:noFill/>
          <a:ln>
            <a:miter lim="800000"/>
            <a:headEnd/>
            <a:tailEnd/>
          </a:ln>
        </p:spPr>
        <p:txBody>
          <a:bodyPr/>
          <a:lstStyle/>
          <a:p>
            <a:fld id="{DC9E5B34-2321-4406-A614-11CCFADC7F5B}" type="slidenum">
              <a:rPr lang="en-US" altLang="zh-CN"/>
              <a:pPr/>
              <a:t>11</a:t>
            </a:fld>
            <a:endParaRPr lang="en-US" altLang="zh-CN"/>
          </a:p>
        </p:txBody>
      </p:sp>
      <p:sp>
        <p:nvSpPr>
          <p:cNvPr id="186371" name="Rectangle 2"/>
          <p:cNvSpPr>
            <a:spLocks noGrp="1" noRot="1" noChangeAspect="1" noChangeArrowheads="1" noTextEdit="1"/>
          </p:cNvSpPr>
          <p:nvPr>
            <p:ph type="sldImg"/>
          </p:nvPr>
        </p:nvSpPr>
        <p:spPr>
          <a:xfrm>
            <a:off x="2297113" y="519113"/>
            <a:ext cx="4554537" cy="2562225"/>
          </a:xfrm>
          <a:solidFill>
            <a:srgbClr val="FFFFFF"/>
          </a:solidFill>
          <a:ln/>
        </p:spPr>
      </p:sp>
      <p:sp>
        <p:nvSpPr>
          <p:cNvPr id="186372" name="Rectangle 3"/>
          <p:cNvSpPr>
            <a:spLocks noGrp="1" noChangeArrowheads="1"/>
          </p:cNvSpPr>
          <p:nvPr>
            <p:ph type="body" idx="1"/>
          </p:nvPr>
        </p:nvSpPr>
        <p:spPr>
          <a:xfrm>
            <a:off x="1217613" y="3255963"/>
            <a:ext cx="6708775" cy="3087687"/>
          </a:xfrm>
          <a:solidFill>
            <a:srgbClr val="FFFFFF"/>
          </a:solidFill>
          <a:ln>
            <a:solidFill>
              <a:srgbClr val="000000"/>
            </a:solidFill>
          </a:ln>
        </p:spPr>
        <p:txBody>
          <a:bodyPr/>
          <a:lstStyle/>
          <a:p>
            <a:endParaRPr lang="ko-KR" altLang="en-US" smtClean="0">
              <a:latin typeface="Arial" pitchFamily="34" charset="0"/>
              <a:ea typeface="AppleMyungjo"/>
              <a:cs typeface="AppleMyungjo"/>
            </a:endParaRPr>
          </a:p>
        </p:txBody>
      </p:sp>
    </p:spTree>
    <p:extLst>
      <p:ext uri="{BB962C8B-B14F-4D97-AF65-F5344CB8AC3E}">
        <p14:creationId xmlns:p14="http://schemas.microsoft.com/office/powerpoint/2010/main" val="24994631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5"/>
          <p:cNvSpPr>
            <a:spLocks noGrp="1" noChangeArrowheads="1"/>
          </p:cNvSpPr>
          <p:nvPr>
            <p:ph type="sldNum" sz="quarter" idx="4294967295"/>
          </p:nvPr>
        </p:nvSpPr>
        <p:spPr bwMode="auto">
          <a:xfrm>
            <a:off x="5180013" y="6515100"/>
            <a:ext cx="3962400" cy="341313"/>
          </a:xfrm>
          <a:prstGeom prst="rect">
            <a:avLst/>
          </a:prstGeom>
          <a:noFill/>
          <a:ln>
            <a:miter lim="800000"/>
            <a:headEnd/>
            <a:tailEnd/>
          </a:ln>
        </p:spPr>
        <p:txBody>
          <a:bodyPr/>
          <a:lstStyle/>
          <a:p>
            <a:fld id="{BD70A97C-3454-407A-AA80-EED7FDD5E614}" type="slidenum">
              <a:rPr lang="en-US" altLang="zh-CN"/>
              <a:pPr/>
              <a:t>12</a:t>
            </a:fld>
            <a:endParaRPr lang="en-US" altLang="zh-CN"/>
          </a:p>
        </p:txBody>
      </p:sp>
      <p:sp>
        <p:nvSpPr>
          <p:cNvPr id="187395" name="Rectangle 2"/>
          <p:cNvSpPr>
            <a:spLocks noGrp="1" noRot="1" noChangeAspect="1" noChangeArrowheads="1" noTextEdit="1"/>
          </p:cNvSpPr>
          <p:nvPr>
            <p:ph type="sldImg"/>
          </p:nvPr>
        </p:nvSpPr>
        <p:spPr>
          <a:xfrm>
            <a:off x="2297113" y="519113"/>
            <a:ext cx="4554537" cy="2562225"/>
          </a:xfrm>
          <a:solidFill>
            <a:srgbClr val="FFFFFF"/>
          </a:solidFill>
          <a:ln/>
        </p:spPr>
      </p:sp>
      <p:sp>
        <p:nvSpPr>
          <p:cNvPr id="187396" name="Rectangle 3"/>
          <p:cNvSpPr>
            <a:spLocks noGrp="1" noChangeArrowheads="1"/>
          </p:cNvSpPr>
          <p:nvPr>
            <p:ph type="body" idx="1"/>
          </p:nvPr>
        </p:nvSpPr>
        <p:spPr>
          <a:xfrm>
            <a:off x="1217613" y="3255963"/>
            <a:ext cx="6708775" cy="3087687"/>
          </a:xfrm>
          <a:solidFill>
            <a:srgbClr val="FFFFFF"/>
          </a:solidFill>
          <a:ln>
            <a:solidFill>
              <a:srgbClr val="000000"/>
            </a:solidFill>
          </a:ln>
        </p:spPr>
        <p:txBody>
          <a:bodyPr/>
          <a:lstStyle/>
          <a:p>
            <a:endParaRPr lang="ko-KR" altLang="en-US" smtClean="0">
              <a:latin typeface="Arial" pitchFamily="34" charset="0"/>
              <a:ea typeface="AppleMyungjo"/>
              <a:cs typeface="AppleMyungjo"/>
            </a:endParaRPr>
          </a:p>
        </p:txBody>
      </p:sp>
    </p:spTree>
    <p:extLst>
      <p:ext uri="{BB962C8B-B14F-4D97-AF65-F5344CB8AC3E}">
        <p14:creationId xmlns:p14="http://schemas.microsoft.com/office/powerpoint/2010/main" val="24928284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幻灯片图像占位符 1"/>
          <p:cNvSpPr>
            <a:spLocks noGrp="1" noRot="1" noChangeAspect="1" noTextEdit="1"/>
          </p:cNvSpPr>
          <p:nvPr>
            <p:ph type="sldImg"/>
          </p:nvPr>
        </p:nvSpPr>
        <p:spPr>
          <a:ln/>
        </p:spPr>
      </p:sp>
      <p:sp>
        <p:nvSpPr>
          <p:cNvPr id="188419" name="备注占位符 2"/>
          <p:cNvSpPr>
            <a:spLocks noGrp="1"/>
          </p:cNvSpPr>
          <p:nvPr>
            <p:ph type="body" idx="1"/>
          </p:nvPr>
        </p:nvSpPr>
        <p:spPr>
          <a:noFill/>
          <a:ln w="9525"/>
        </p:spPr>
        <p:txBody>
          <a:bodyPr/>
          <a:lstStyle/>
          <a:p>
            <a:endParaRPr lang="zh-CN" altLang="en-US" smtClean="0">
              <a:latin typeface="Arial" pitchFamily="34" charset="0"/>
            </a:endParaRPr>
          </a:p>
        </p:txBody>
      </p:sp>
    </p:spTree>
    <p:extLst>
      <p:ext uri="{BB962C8B-B14F-4D97-AF65-F5344CB8AC3E}">
        <p14:creationId xmlns:p14="http://schemas.microsoft.com/office/powerpoint/2010/main" val="38800916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body" idx="1"/>
          </p:nvPr>
        </p:nvSpPr>
        <p:spPr>
          <a:noFill/>
          <a:ln/>
        </p:spPr>
        <p:txBody>
          <a:bodyPr/>
          <a:lstStyle/>
          <a:p>
            <a:r>
              <a:rPr lang="en-US" altLang="zh-CN"/>
              <a:t>Cray 1; fastest scalar computer + 1st commercially successful vector computer, offered another 10X</a:t>
            </a:r>
          </a:p>
          <a:p>
            <a:r>
              <a:rPr lang="en-US" altLang="zh-CN"/>
              <a:t>6600 1st scoreboard</a:t>
            </a:r>
          </a:p>
          <a:p>
            <a:endParaRPr lang="en-US" altLang="zh-CN"/>
          </a:p>
          <a:p>
            <a:r>
              <a:rPr lang="en-US" altLang="zh-CN"/>
              <a:t>Cray XMP: 3 LSUs, Multiprocessor 4 way (not by Cray) </a:t>
            </a:r>
          </a:p>
          <a:p>
            <a:r>
              <a:rPr lang="en-US" altLang="zh-CN"/>
              <a:t>=&gt; YMP, C-90, T-90; 2X processors, 1.5X clock</a:t>
            </a:r>
          </a:p>
          <a:p>
            <a:r>
              <a:rPr lang="en-US" altLang="zh-CN"/>
              <a:t>Cray 2 went to DRAM to get more memory, not so great</a:t>
            </a:r>
          </a:p>
          <a:p>
            <a:r>
              <a:rPr lang="en-US" altLang="zh-CN"/>
              <a:t>Like parallel teams as Intel (486, PPro, Pentium, next one)</a:t>
            </a:r>
          </a:p>
          <a:p>
            <a:endParaRPr lang="en-US" altLang="zh-CN"/>
          </a:p>
          <a:p>
            <a:r>
              <a:rPr lang="en-US" altLang="zh-CN"/>
              <a:t>Japan</a:t>
            </a:r>
          </a:p>
          <a:p>
            <a:r>
              <a:rPr lang="en-US" altLang="zh-CN"/>
              <a:t>Fujitsu, vary number of registers elements (8x1024 or 32x256)</a:t>
            </a:r>
          </a:p>
          <a:p>
            <a:r>
              <a:rPr lang="en-US" altLang="zh-CN"/>
              <a:t>NEC, 8x256 + 8K of varying elements</a:t>
            </a:r>
          </a:p>
        </p:txBody>
      </p:sp>
      <p:sp>
        <p:nvSpPr>
          <p:cNvPr id="24579"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2734070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body" idx="1"/>
          </p:nvPr>
        </p:nvSpPr>
        <p:spPr>
          <a:noFill/>
          <a:ln/>
        </p:spPr>
        <p:txBody>
          <a:bodyPr/>
          <a:lstStyle/>
          <a:p>
            <a:r>
              <a:rPr lang="en-US" altLang="zh-CN"/>
              <a:t>6X in 20 years; 32X in 20 years; Peak is 360X speedup </a:t>
            </a:r>
          </a:p>
          <a:p>
            <a:r>
              <a:rPr lang="en-US" altLang="zh-CN"/>
              <a:t>Weighed tons</a:t>
            </a:r>
          </a:p>
        </p:txBody>
      </p:sp>
      <p:sp>
        <p:nvSpPr>
          <p:cNvPr id="26627"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11957598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body" idx="1"/>
          </p:nvPr>
        </p:nvSpPr>
        <p:spPr>
          <a:ln/>
        </p:spPr>
        <p:txBody>
          <a:bodyPr/>
          <a:lstStyle/>
          <a:p>
            <a:endParaRPr lang="zh-CN" altLang="zh-CN"/>
          </a:p>
        </p:txBody>
      </p:sp>
      <p:sp>
        <p:nvSpPr>
          <p:cNvPr id="14339"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3974313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DDE5D3C9-D828-4155-85A6-C412E4E31ADE}" type="datetime3">
              <a:rPr lang="en-US" smtClean="0"/>
              <a:t>14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19</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23231693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body" idx="1"/>
          </p:nvPr>
        </p:nvSpPr>
        <p:spPr>
          <a:ln/>
        </p:spPr>
        <p:txBody>
          <a:bodyPr/>
          <a:lstStyle/>
          <a:p>
            <a:endParaRPr lang="zh-CN" altLang="zh-CN"/>
          </a:p>
        </p:txBody>
      </p:sp>
      <p:sp>
        <p:nvSpPr>
          <p:cNvPr id="16387"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38286246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D968EF3D-2D61-4DBE-8B46-02F4EBE0A942}" type="datetime3">
              <a:rPr lang="en-US" smtClean="0"/>
              <a:t>14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21</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31159367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986"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eaLnBrk="1"/>
            <a:fld id="{7690C2CF-7016-4C72-BB41-A30CFC55157F}" type="slidenum">
              <a:rPr lang="en-US" altLang="en-US">
                <a:solidFill>
                  <a:srgbClr val="000000"/>
                </a:solidFill>
                <a:latin typeface="Times New Roman" panose="02020603050405020304" pitchFamily="18" charset="0"/>
              </a:rPr>
              <a:pPr eaLnBrk="1"/>
              <a:t>22</a:t>
            </a:fld>
            <a:endParaRPr lang="en-US" altLang="en-US">
              <a:solidFill>
                <a:srgbClr val="000000"/>
              </a:solidFill>
              <a:latin typeface="Times New Roman" panose="02020603050405020304" pitchFamily="18" charset="0"/>
            </a:endParaRPr>
          </a:p>
        </p:txBody>
      </p:sp>
      <p:sp>
        <p:nvSpPr>
          <p:cNvPr id="41987" name="Rectangle 1"/>
          <p:cNvSpPr>
            <a:spLocks noGrp="1" noRot="1" noChangeAspect="1" noChangeArrowheads="1" noTextEdit="1"/>
          </p:cNvSpPr>
          <p:nvPr>
            <p:ph type="sldImg"/>
          </p:nvPr>
        </p:nvSpPr>
        <p:spPr>
          <a:xfrm>
            <a:off x="217488" y="812800"/>
            <a:ext cx="7123112" cy="4008438"/>
          </a:xfrm>
          <a:solidFill>
            <a:srgbClr val="FFFFFF"/>
          </a:solidFill>
          <a:ln>
            <a:solidFill>
              <a:srgbClr val="000000"/>
            </a:solidFill>
            <a:miter lim="800000"/>
            <a:headEnd/>
            <a:tailEnd/>
          </a:ln>
        </p:spPr>
      </p:sp>
      <p:sp>
        <p:nvSpPr>
          <p:cNvPr id="41988"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altLang="en-US" dirty="0" smtClean="0">
                <a:latin typeface="Times New Roman" panose="02020603050405020304" pitchFamily="18" charset="0"/>
              </a:rPr>
              <a:t>Figure 4.1 The basic structure of a vector architecture, RV64V, which includes a RISC-V scalar architecture. There are also 32 vector registers, and all the functional units are vector functional units. The vector and scalar registers have a significant number of read and write ports to allow multiple simultaneous vector operations. A set of crossbar switches (thick gray lines) connects these ports to the inputs and outputs of the vector functional units.</a:t>
            </a:r>
          </a:p>
          <a:p>
            <a:endParaRPr lang="en-US" altLang="en-US" dirty="0" smtClean="0">
              <a:latin typeface="Times New Roman" panose="02020603050405020304" pitchFamily="18" charset="0"/>
            </a:endParaRPr>
          </a:p>
        </p:txBody>
      </p:sp>
    </p:spTree>
    <p:extLst>
      <p:ext uri="{BB962C8B-B14F-4D97-AF65-F5344CB8AC3E}">
        <p14:creationId xmlns:p14="http://schemas.microsoft.com/office/powerpoint/2010/main" val="41324901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67D5D882-0267-43B1-8854-491873F8D89E}" type="datetime3">
              <a:rPr lang="en-US" smtClean="0"/>
              <a:t>14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23</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34640856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body" idx="1"/>
          </p:nvPr>
        </p:nvSpPr>
        <p:spPr>
          <a:ln/>
        </p:spPr>
        <p:txBody>
          <a:bodyPr/>
          <a:lstStyle/>
          <a:p>
            <a:endParaRPr lang="zh-CN" altLang="zh-CN"/>
          </a:p>
        </p:txBody>
      </p:sp>
      <p:sp>
        <p:nvSpPr>
          <p:cNvPr id="18435"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10033548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body" idx="1"/>
          </p:nvPr>
        </p:nvSpPr>
        <p:spPr>
          <a:ln/>
        </p:spPr>
        <p:txBody>
          <a:bodyPr/>
          <a:lstStyle/>
          <a:p>
            <a:endParaRPr lang="zh-CN" altLang="zh-CN" dirty="0"/>
          </a:p>
        </p:txBody>
      </p:sp>
      <p:sp>
        <p:nvSpPr>
          <p:cNvPr id="22531"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1027410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26</a:t>
            </a:fld>
            <a:endParaRPr lang="en-US" altLang="zh-CN"/>
          </a:p>
        </p:txBody>
      </p:sp>
    </p:spTree>
    <p:extLst>
      <p:ext uri="{BB962C8B-B14F-4D97-AF65-F5344CB8AC3E}">
        <p14:creationId xmlns:p14="http://schemas.microsoft.com/office/powerpoint/2010/main" val="8029442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body" idx="1"/>
          </p:nvPr>
        </p:nvSpPr>
        <p:spPr>
          <a:noFill/>
          <a:ln/>
        </p:spPr>
        <p:txBody>
          <a:bodyPr/>
          <a:lstStyle/>
          <a:p>
            <a:r>
              <a:rPr lang="en-US" altLang="zh-CN" dirty="0"/>
              <a:t>2. Starts at 12 because single LOAD/STORE unit, next convey must wait</a:t>
            </a:r>
          </a:p>
          <a:p>
            <a:endParaRPr lang="en-US" altLang="zh-CN" dirty="0"/>
          </a:p>
          <a:p>
            <a:r>
              <a:rPr lang="en-US" altLang="zh-CN" dirty="0"/>
              <a:t>3. starts 1 clock cycle after last result</a:t>
            </a:r>
          </a:p>
        </p:txBody>
      </p:sp>
      <p:sp>
        <p:nvSpPr>
          <p:cNvPr id="41987"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19779608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ChangeArrowheads="1"/>
          </p:cNvSpPr>
          <p:nvPr/>
        </p:nvSpPr>
        <p:spPr bwMode="auto">
          <a:xfrm>
            <a:off x="5181600" y="0"/>
            <a:ext cx="3962400" cy="3413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75" name="Rectangle 3"/>
          <p:cNvSpPr>
            <a:spLocks noChangeArrowheads="1"/>
          </p:cNvSpPr>
          <p:nvPr/>
        </p:nvSpPr>
        <p:spPr bwMode="auto">
          <a:xfrm>
            <a:off x="5181600" y="6515100"/>
            <a:ext cx="3962400" cy="3429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947738">
              <a:defRPr kumimoji="1" sz="2400">
                <a:solidFill>
                  <a:schemeClr val="tx1"/>
                </a:solidFill>
                <a:latin typeface="Times New Roman" panose="02020603050405020304" pitchFamily="18" charset="0"/>
                <a:ea typeface="宋体" panose="02010600030101010101" pitchFamily="2" charset="-122"/>
              </a:defRPr>
            </a:lvl1pPr>
            <a:lvl2pPr marL="466725" defTabSz="947738">
              <a:defRPr kumimoji="1" sz="2400">
                <a:solidFill>
                  <a:schemeClr val="tx1"/>
                </a:solidFill>
                <a:latin typeface="Times New Roman" panose="02020603050405020304" pitchFamily="18" charset="0"/>
                <a:ea typeface="宋体" panose="02010600030101010101" pitchFamily="2" charset="-122"/>
              </a:defRPr>
            </a:lvl2pPr>
            <a:lvl3pPr marL="930275" defTabSz="947738">
              <a:defRPr kumimoji="1" sz="2400">
                <a:solidFill>
                  <a:schemeClr val="tx1"/>
                </a:solidFill>
                <a:latin typeface="Times New Roman" panose="02020603050405020304" pitchFamily="18" charset="0"/>
                <a:ea typeface="宋体" panose="02010600030101010101" pitchFamily="2" charset="-122"/>
              </a:defRPr>
            </a:lvl3pPr>
            <a:lvl4pPr marL="1398588" defTabSz="947738">
              <a:defRPr kumimoji="1" sz="2400">
                <a:solidFill>
                  <a:schemeClr val="tx1"/>
                </a:solidFill>
                <a:latin typeface="Times New Roman" panose="02020603050405020304" pitchFamily="18" charset="0"/>
                <a:ea typeface="宋体" panose="02010600030101010101" pitchFamily="2" charset="-122"/>
              </a:defRPr>
            </a:lvl4pPr>
            <a:lvl5pPr marL="1863725" defTabSz="947738">
              <a:defRPr kumimoji="1" sz="2400">
                <a:solidFill>
                  <a:schemeClr val="tx1"/>
                </a:solidFill>
                <a:latin typeface="Times New Roman" panose="02020603050405020304" pitchFamily="18" charset="0"/>
                <a:ea typeface="宋体" panose="02010600030101010101" pitchFamily="2" charset="-122"/>
              </a:defRPr>
            </a:lvl5pPr>
            <a:lvl6pPr marL="23209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7781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2353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6925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a:r>
              <a:rPr lang="en-US" altLang="zh-CN" sz="1000" i="1"/>
              <a:t>35</a:t>
            </a:r>
          </a:p>
        </p:txBody>
      </p:sp>
      <p:sp>
        <p:nvSpPr>
          <p:cNvPr id="54276" name="Rectangle 4"/>
          <p:cNvSpPr>
            <a:spLocks noChangeArrowheads="1"/>
          </p:cNvSpPr>
          <p:nvPr/>
        </p:nvSpPr>
        <p:spPr bwMode="auto">
          <a:xfrm>
            <a:off x="0" y="6515100"/>
            <a:ext cx="3960813" cy="3429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77" name="Rectangle 5"/>
          <p:cNvSpPr>
            <a:spLocks noChangeArrowheads="1"/>
          </p:cNvSpPr>
          <p:nvPr/>
        </p:nvSpPr>
        <p:spPr bwMode="auto">
          <a:xfrm>
            <a:off x="0" y="0"/>
            <a:ext cx="3960813" cy="3413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78" name="Rectangle 6"/>
          <p:cNvSpPr>
            <a:spLocks noGrp="1" noRot="1" noChangeAspect="1" noChangeArrowheads="1" noTextEdit="1"/>
          </p:cNvSpPr>
          <p:nvPr>
            <p:ph type="sldImg"/>
          </p:nvPr>
        </p:nvSpPr>
        <p:spPr>
          <a:ln cap="flat"/>
        </p:spPr>
      </p:sp>
      <p:sp>
        <p:nvSpPr>
          <p:cNvPr id="54279" name="Rectangle 7"/>
          <p:cNvSpPr>
            <a:spLocks noGrp="1" noChangeArrowheads="1"/>
          </p:cNvSpPr>
          <p:nvPr>
            <p:ph type="body" idx="1"/>
          </p:nvPr>
        </p:nvSpPr>
        <p:spPr>
          <a:ln/>
        </p:spPr>
        <p:txBody>
          <a:bodyPr/>
          <a:lstStyle/>
          <a:p>
            <a:endParaRPr lang="zh-CN" altLang="zh-CN"/>
          </a:p>
        </p:txBody>
      </p:sp>
    </p:spTree>
    <p:extLst>
      <p:ext uri="{BB962C8B-B14F-4D97-AF65-F5344CB8AC3E}">
        <p14:creationId xmlns:p14="http://schemas.microsoft.com/office/powerpoint/2010/main" val="40205554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DFDF3E34-C03C-4081-96ED-F171E736DDEB}" type="datetime3">
              <a:rPr lang="en-US" smtClean="0"/>
              <a:t>14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30</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14505197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7CDE714A-A9B0-4F7F-BA2F-168B22DAA24A}" type="datetime3">
              <a:rPr lang="en-US" smtClean="0"/>
              <a:t>14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31</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1969904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956873E2-E758-47A5-BD1D-F57A3EF213F3}" type="datetime3">
              <a:rPr lang="en-US" smtClean="0"/>
              <a:t>14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32</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5565228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485F89E0-5641-4EBF-AE5D-3D7EFC77CCFD}" type="datetime3">
              <a:rPr lang="en-US" smtClean="0"/>
              <a:t>14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33</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4.4 Using multiple functional units to improve the performance of a single vector add instruction, C = A + B. </a:t>
            </a:r>
            <a:r>
              <a:rPr lang="en-US" altLang="en-US" sz="1200" dirty="0" smtClean="0"/>
              <a:t>The vector processor (A) on the left has a single add pipeline and can complete one addition per clock cycle. The vector processor (B) on the right has four add pipelines and can complete four additions per clock cycle. The elements within a single vector add instruction are interleaved across the four pipelines. The set of elements that move through the pipelines together is termed an </a:t>
            </a:r>
            <a:r>
              <a:rPr lang="en-US" altLang="en-US" sz="1200" i="1" dirty="0" smtClean="0"/>
              <a:t>element group</a:t>
            </a:r>
            <a:r>
              <a:rPr lang="en-US" altLang="en-US" sz="1200" dirty="0" smtClean="0"/>
              <a:t>. Reproduced with permission from </a:t>
            </a:r>
            <a:r>
              <a:rPr lang="en-US" altLang="en-US" sz="1200" dirty="0" err="1" smtClean="0"/>
              <a:t>Asanovic</a:t>
            </a:r>
            <a:r>
              <a:rPr lang="en-US" altLang="en-US" sz="1200" dirty="0" smtClean="0"/>
              <a:t>, K., 1998. Vector Microprocessors (Ph.D. thesis). Computer Science Division, University of California, Berkeley.</a:t>
            </a: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4.5 Structure of a vector unit containing four lanes. </a:t>
            </a:r>
            <a:r>
              <a:rPr lang="en-US" altLang="en-US" sz="1200" dirty="0" smtClean="0"/>
              <a:t>The vector register memory is divided across the lanes, with each lane holding every fourth element of each vector register. The figure shows three vector functional units: an FP add, an FP multiply, and a load-store unit. Each of the vector arithmetic units contains four execution pipelines, one per lane, which act in concert to complete a single vector instruction. Note how each section of the vector register file needs to provide only enough ports for pipelines local to its lane. This figure does not show the path to provide the scalar operand for vector-scalar instructions, but the scalar processor (or Control Processor) broadcasts a scalar value to all lanes.</a:t>
            </a:r>
          </a:p>
          <a:p>
            <a:endParaRPr lang="en-AU" dirty="0"/>
          </a:p>
        </p:txBody>
      </p:sp>
    </p:spTree>
    <p:extLst>
      <p:ext uri="{BB962C8B-B14F-4D97-AF65-F5344CB8AC3E}">
        <p14:creationId xmlns:p14="http://schemas.microsoft.com/office/powerpoint/2010/main" val="2927346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F59CE9D8-6107-45DA-9845-9B79CDBA5753}" type="datetime3">
              <a:rPr lang="en-US" smtClean="0"/>
              <a:t>14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35</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5606018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0A463ECD-0836-4E0C-A283-51953A865579}" type="datetime3">
              <a:rPr lang="en-US" smtClean="0"/>
              <a:t>14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37</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38879787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282D34EA-112E-4426-8654-71DD86CF6B40}" type="datetime3">
              <a:rPr lang="en-US" smtClean="0"/>
              <a:t>14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38</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dirty="0"/>
          </a:p>
        </p:txBody>
      </p:sp>
    </p:spTree>
    <p:extLst>
      <p:ext uri="{BB962C8B-B14F-4D97-AF65-F5344CB8AC3E}">
        <p14:creationId xmlns:p14="http://schemas.microsoft.com/office/powerpoint/2010/main" val="32482703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ChangeArrowheads="1"/>
          </p:cNvSpPr>
          <p:nvPr/>
        </p:nvSpPr>
        <p:spPr bwMode="auto">
          <a:xfrm>
            <a:off x="5181600" y="0"/>
            <a:ext cx="3962400" cy="3413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83" name="Rectangle 3"/>
          <p:cNvSpPr>
            <a:spLocks noChangeArrowheads="1"/>
          </p:cNvSpPr>
          <p:nvPr/>
        </p:nvSpPr>
        <p:spPr bwMode="auto">
          <a:xfrm>
            <a:off x="5181600" y="6515100"/>
            <a:ext cx="3962400" cy="3429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947738">
              <a:defRPr kumimoji="1" sz="2400">
                <a:solidFill>
                  <a:schemeClr val="tx1"/>
                </a:solidFill>
                <a:latin typeface="Times New Roman" panose="02020603050405020304" pitchFamily="18" charset="0"/>
                <a:ea typeface="宋体" panose="02010600030101010101" pitchFamily="2" charset="-122"/>
              </a:defRPr>
            </a:lvl1pPr>
            <a:lvl2pPr marL="466725" defTabSz="947738">
              <a:defRPr kumimoji="1" sz="2400">
                <a:solidFill>
                  <a:schemeClr val="tx1"/>
                </a:solidFill>
                <a:latin typeface="Times New Roman" panose="02020603050405020304" pitchFamily="18" charset="0"/>
                <a:ea typeface="宋体" panose="02010600030101010101" pitchFamily="2" charset="-122"/>
              </a:defRPr>
            </a:lvl2pPr>
            <a:lvl3pPr marL="930275" defTabSz="947738">
              <a:defRPr kumimoji="1" sz="2400">
                <a:solidFill>
                  <a:schemeClr val="tx1"/>
                </a:solidFill>
                <a:latin typeface="Times New Roman" panose="02020603050405020304" pitchFamily="18" charset="0"/>
                <a:ea typeface="宋体" panose="02010600030101010101" pitchFamily="2" charset="-122"/>
              </a:defRPr>
            </a:lvl3pPr>
            <a:lvl4pPr marL="1398588" defTabSz="947738">
              <a:defRPr kumimoji="1" sz="2400">
                <a:solidFill>
                  <a:schemeClr val="tx1"/>
                </a:solidFill>
                <a:latin typeface="Times New Roman" panose="02020603050405020304" pitchFamily="18" charset="0"/>
                <a:ea typeface="宋体" panose="02010600030101010101" pitchFamily="2" charset="-122"/>
              </a:defRPr>
            </a:lvl4pPr>
            <a:lvl5pPr marL="1863725" defTabSz="947738">
              <a:defRPr kumimoji="1" sz="2400">
                <a:solidFill>
                  <a:schemeClr val="tx1"/>
                </a:solidFill>
                <a:latin typeface="Times New Roman" panose="02020603050405020304" pitchFamily="18" charset="0"/>
                <a:ea typeface="宋体" panose="02010600030101010101" pitchFamily="2" charset="-122"/>
              </a:defRPr>
            </a:lvl5pPr>
            <a:lvl6pPr marL="23209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7781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2353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6925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a:r>
              <a:rPr lang="en-US" altLang="zh-CN" sz="1000" i="1"/>
              <a:t>32</a:t>
            </a:r>
          </a:p>
        </p:txBody>
      </p:sp>
      <p:sp>
        <p:nvSpPr>
          <p:cNvPr id="20484" name="Rectangle 4"/>
          <p:cNvSpPr>
            <a:spLocks noChangeArrowheads="1"/>
          </p:cNvSpPr>
          <p:nvPr/>
        </p:nvSpPr>
        <p:spPr bwMode="auto">
          <a:xfrm>
            <a:off x="0" y="6515100"/>
            <a:ext cx="3960813" cy="3429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85" name="Rectangle 5"/>
          <p:cNvSpPr>
            <a:spLocks noChangeArrowheads="1"/>
          </p:cNvSpPr>
          <p:nvPr/>
        </p:nvSpPr>
        <p:spPr bwMode="auto">
          <a:xfrm>
            <a:off x="0" y="0"/>
            <a:ext cx="3960813" cy="3413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86" name="Rectangle 6"/>
          <p:cNvSpPr>
            <a:spLocks noGrp="1" noRot="1" noChangeAspect="1" noChangeArrowheads="1" noTextEdit="1"/>
          </p:cNvSpPr>
          <p:nvPr>
            <p:ph type="sldImg"/>
          </p:nvPr>
        </p:nvSpPr>
        <p:spPr>
          <a:ln cap="flat"/>
        </p:spPr>
      </p:sp>
      <p:sp>
        <p:nvSpPr>
          <p:cNvPr id="20487" name="Rectangle 7"/>
          <p:cNvSpPr>
            <a:spLocks noGrp="1" noChangeArrowheads="1"/>
          </p:cNvSpPr>
          <p:nvPr>
            <p:ph type="body" idx="1"/>
          </p:nvPr>
        </p:nvSpPr>
        <p:spPr>
          <a:ln/>
        </p:spPr>
        <p:txBody>
          <a:bodyPr/>
          <a:lstStyle/>
          <a:p>
            <a:endParaRPr lang="zh-CN" altLang="zh-CN"/>
          </a:p>
        </p:txBody>
      </p:sp>
    </p:spTree>
    <p:extLst>
      <p:ext uri="{BB962C8B-B14F-4D97-AF65-F5344CB8AC3E}">
        <p14:creationId xmlns:p14="http://schemas.microsoft.com/office/powerpoint/2010/main" val="2222760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878DC073-189C-49AA-8BDC-77EE2612192D}" type="datetime3">
              <a:rPr lang="en-US" smtClean="0"/>
              <a:t>14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40</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dirty="0"/>
          </a:p>
        </p:txBody>
      </p:sp>
    </p:spTree>
    <p:extLst>
      <p:ext uri="{BB962C8B-B14F-4D97-AF65-F5344CB8AC3E}">
        <p14:creationId xmlns:p14="http://schemas.microsoft.com/office/powerpoint/2010/main" val="426285393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body" idx="1"/>
          </p:nvPr>
        </p:nvSpPr>
        <p:spPr>
          <a:noFill/>
          <a:ln/>
        </p:spPr>
        <p:txBody>
          <a:bodyPr/>
          <a:lstStyle/>
          <a:p>
            <a:r>
              <a:rPr lang="en-US" altLang="zh-CN" dirty="0"/>
              <a:t>CVI gets used under mask</a:t>
            </a:r>
          </a:p>
        </p:txBody>
      </p:sp>
      <p:sp>
        <p:nvSpPr>
          <p:cNvPr id="57347"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28960923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06ADE8A2-33C2-4F7C-B4E7-5615C21E92EB}" type="datetime3">
              <a:rPr lang="en-US" smtClean="0"/>
              <a:t>14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43</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dirty="0"/>
          </a:p>
        </p:txBody>
      </p:sp>
    </p:spTree>
    <p:extLst>
      <p:ext uri="{BB962C8B-B14F-4D97-AF65-F5344CB8AC3E}">
        <p14:creationId xmlns:p14="http://schemas.microsoft.com/office/powerpoint/2010/main" val="268761363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body" idx="1"/>
          </p:nvPr>
        </p:nvSpPr>
        <p:spPr>
          <a:ln/>
        </p:spPr>
        <p:txBody>
          <a:bodyPr/>
          <a:lstStyle/>
          <a:p>
            <a:endParaRPr lang="zh-CN" altLang="zh-CN" dirty="0"/>
          </a:p>
        </p:txBody>
      </p:sp>
      <p:sp>
        <p:nvSpPr>
          <p:cNvPr id="59395"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25531345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00F39B76-4B13-40D6-A84E-5D4FC0E400B3}" type="datetime3">
              <a:rPr lang="en-US" smtClean="0"/>
              <a:t>14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45</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4.7 Level of vectorization among the Perfect Club benchmarks when executed on the Cray Y-MP (</a:t>
            </a:r>
            <a:r>
              <a:rPr lang="en-US" altLang="en-US" sz="1200" b="1" dirty="0" err="1" smtClean="0"/>
              <a:t>Vajapeyam</a:t>
            </a:r>
            <a:r>
              <a:rPr lang="en-US" altLang="en-US" sz="1200" b="1" dirty="0" smtClean="0"/>
              <a:t>, 1991).</a:t>
            </a:r>
            <a:r>
              <a:rPr lang="en-US" altLang="en-US" sz="1200" dirty="0" smtClean="0"/>
              <a:t> The first column shows the vectorization level obtained with the compiler without hints, and the second column shows the results after the codes have been improved with hints from a team of Cray Research programmers.</a:t>
            </a:r>
          </a:p>
        </p:txBody>
      </p:sp>
    </p:spTree>
    <p:extLst>
      <p:ext uri="{BB962C8B-B14F-4D97-AF65-F5344CB8AC3E}">
        <p14:creationId xmlns:p14="http://schemas.microsoft.com/office/powerpoint/2010/main" val="3503929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5181600" y="0"/>
            <a:ext cx="3962400" cy="3413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71" name="Rectangle 3"/>
          <p:cNvSpPr>
            <a:spLocks noChangeArrowheads="1"/>
          </p:cNvSpPr>
          <p:nvPr/>
        </p:nvSpPr>
        <p:spPr bwMode="auto">
          <a:xfrm>
            <a:off x="5181600" y="6515100"/>
            <a:ext cx="3962400" cy="3429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947738">
              <a:defRPr kumimoji="1" sz="2400">
                <a:solidFill>
                  <a:schemeClr val="tx1"/>
                </a:solidFill>
                <a:latin typeface="Times New Roman" panose="02020603050405020304" pitchFamily="18" charset="0"/>
                <a:ea typeface="宋体" panose="02010600030101010101" pitchFamily="2" charset="-122"/>
              </a:defRPr>
            </a:lvl1pPr>
            <a:lvl2pPr marL="466725" defTabSz="947738">
              <a:defRPr kumimoji="1" sz="2400">
                <a:solidFill>
                  <a:schemeClr val="tx1"/>
                </a:solidFill>
                <a:latin typeface="Times New Roman" panose="02020603050405020304" pitchFamily="18" charset="0"/>
                <a:ea typeface="宋体" panose="02010600030101010101" pitchFamily="2" charset="-122"/>
              </a:defRPr>
            </a:lvl2pPr>
            <a:lvl3pPr marL="930275" defTabSz="947738">
              <a:defRPr kumimoji="1" sz="2400">
                <a:solidFill>
                  <a:schemeClr val="tx1"/>
                </a:solidFill>
                <a:latin typeface="Times New Roman" panose="02020603050405020304" pitchFamily="18" charset="0"/>
                <a:ea typeface="宋体" panose="02010600030101010101" pitchFamily="2" charset="-122"/>
              </a:defRPr>
            </a:lvl3pPr>
            <a:lvl4pPr marL="1398588" defTabSz="947738">
              <a:defRPr kumimoji="1" sz="2400">
                <a:solidFill>
                  <a:schemeClr val="tx1"/>
                </a:solidFill>
                <a:latin typeface="Times New Roman" panose="02020603050405020304" pitchFamily="18" charset="0"/>
                <a:ea typeface="宋体" panose="02010600030101010101" pitchFamily="2" charset="-122"/>
              </a:defRPr>
            </a:lvl4pPr>
            <a:lvl5pPr marL="1863725" defTabSz="947738">
              <a:defRPr kumimoji="1" sz="2400">
                <a:solidFill>
                  <a:schemeClr val="tx1"/>
                </a:solidFill>
                <a:latin typeface="Times New Roman" panose="02020603050405020304" pitchFamily="18" charset="0"/>
                <a:ea typeface="宋体" panose="02010600030101010101" pitchFamily="2" charset="-122"/>
              </a:defRPr>
            </a:lvl5pPr>
            <a:lvl6pPr marL="23209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7781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2353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6925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a:r>
              <a:rPr lang="en-US" altLang="zh-CN" sz="1000" i="1"/>
              <a:t>26</a:t>
            </a:r>
          </a:p>
        </p:txBody>
      </p:sp>
      <p:sp>
        <p:nvSpPr>
          <p:cNvPr id="32772" name="Rectangle 4"/>
          <p:cNvSpPr>
            <a:spLocks noChangeArrowheads="1"/>
          </p:cNvSpPr>
          <p:nvPr/>
        </p:nvSpPr>
        <p:spPr bwMode="auto">
          <a:xfrm>
            <a:off x="0" y="6515100"/>
            <a:ext cx="3960813" cy="3429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73" name="Rectangle 5"/>
          <p:cNvSpPr>
            <a:spLocks noChangeArrowheads="1"/>
          </p:cNvSpPr>
          <p:nvPr/>
        </p:nvSpPr>
        <p:spPr bwMode="auto">
          <a:xfrm>
            <a:off x="0" y="0"/>
            <a:ext cx="3960813" cy="3413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74" name="Rectangle 6"/>
          <p:cNvSpPr>
            <a:spLocks noGrp="1" noRot="1" noChangeAspect="1" noChangeArrowheads="1" noTextEdit="1"/>
          </p:cNvSpPr>
          <p:nvPr>
            <p:ph type="sldImg"/>
          </p:nvPr>
        </p:nvSpPr>
        <p:spPr>
          <a:ln cap="flat"/>
        </p:spPr>
      </p:sp>
      <p:sp>
        <p:nvSpPr>
          <p:cNvPr id="32775" name="Rectangle 7"/>
          <p:cNvSpPr>
            <a:spLocks noGrp="1" noChangeArrowheads="1"/>
          </p:cNvSpPr>
          <p:nvPr>
            <p:ph type="body" idx="1"/>
          </p:nvPr>
        </p:nvSpPr>
        <p:spPr>
          <a:ln/>
        </p:spPr>
        <p:txBody>
          <a:bodyPr/>
          <a:lstStyle/>
          <a:p>
            <a:endParaRPr lang="zh-CN" altLang="zh-CN"/>
          </a:p>
        </p:txBody>
      </p:sp>
    </p:spTree>
    <p:extLst>
      <p:ext uri="{BB962C8B-B14F-4D97-AF65-F5344CB8AC3E}">
        <p14:creationId xmlns:p14="http://schemas.microsoft.com/office/powerpoint/2010/main" val="271211527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ChangeArrowheads="1"/>
          </p:cNvSpPr>
          <p:nvPr/>
        </p:nvSpPr>
        <p:spPr bwMode="auto">
          <a:xfrm>
            <a:off x="5181600" y="0"/>
            <a:ext cx="3962400" cy="3413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19" name="Rectangle 3"/>
          <p:cNvSpPr>
            <a:spLocks noChangeArrowheads="1"/>
          </p:cNvSpPr>
          <p:nvPr/>
        </p:nvSpPr>
        <p:spPr bwMode="auto">
          <a:xfrm>
            <a:off x="5181600" y="6515100"/>
            <a:ext cx="3962400" cy="3429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947738">
              <a:defRPr kumimoji="1" sz="2400">
                <a:solidFill>
                  <a:schemeClr val="tx1"/>
                </a:solidFill>
                <a:latin typeface="Times New Roman" panose="02020603050405020304" pitchFamily="18" charset="0"/>
                <a:ea typeface="宋体" panose="02010600030101010101" pitchFamily="2" charset="-122"/>
              </a:defRPr>
            </a:lvl1pPr>
            <a:lvl2pPr marL="466725" defTabSz="947738">
              <a:defRPr kumimoji="1" sz="2400">
                <a:solidFill>
                  <a:schemeClr val="tx1"/>
                </a:solidFill>
                <a:latin typeface="Times New Roman" panose="02020603050405020304" pitchFamily="18" charset="0"/>
                <a:ea typeface="宋体" panose="02010600030101010101" pitchFamily="2" charset="-122"/>
              </a:defRPr>
            </a:lvl2pPr>
            <a:lvl3pPr marL="930275" defTabSz="947738">
              <a:defRPr kumimoji="1" sz="2400">
                <a:solidFill>
                  <a:schemeClr val="tx1"/>
                </a:solidFill>
                <a:latin typeface="Times New Roman" panose="02020603050405020304" pitchFamily="18" charset="0"/>
                <a:ea typeface="宋体" panose="02010600030101010101" pitchFamily="2" charset="-122"/>
              </a:defRPr>
            </a:lvl3pPr>
            <a:lvl4pPr marL="1398588" defTabSz="947738">
              <a:defRPr kumimoji="1" sz="2400">
                <a:solidFill>
                  <a:schemeClr val="tx1"/>
                </a:solidFill>
                <a:latin typeface="Times New Roman" panose="02020603050405020304" pitchFamily="18" charset="0"/>
                <a:ea typeface="宋体" panose="02010600030101010101" pitchFamily="2" charset="-122"/>
              </a:defRPr>
            </a:lvl4pPr>
            <a:lvl5pPr marL="1863725" defTabSz="947738">
              <a:defRPr kumimoji="1" sz="2400">
                <a:solidFill>
                  <a:schemeClr val="tx1"/>
                </a:solidFill>
                <a:latin typeface="Times New Roman" panose="02020603050405020304" pitchFamily="18" charset="0"/>
                <a:ea typeface="宋体" panose="02010600030101010101" pitchFamily="2" charset="-122"/>
              </a:defRPr>
            </a:lvl5pPr>
            <a:lvl6pPr marL="23209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7781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2353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6925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a:r>
              <a:rPr lang="en-US" altLang="zh-CN" sz="1000" i="1"/>
              <a:t>27</a:t>
            </a:r>
          </a:p>
        </p:txBody>
      </p:sp>
      <p:sp>
        <p:nvSpPr>
          <p:cNvPr id="34820" name="Rectangle 4"/>
          <p:cNvSpPr>
            <a:spLocks noChangeArrowheads="1"/>
          </p:cNvSpPr>
          <p:nvPr/>
        </p:nvSpPr>
        <p:spPr bwMode="auto">
          <a:xfrm>
            <a:off x="0" y="6515100"/>
            <a:ext cx="3960813" cy="3429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21" name="Rectangle 5"/>
          <p:cNvSpPr>
            <a:spLocks noChangeArrowheads="1"/>
          </p:cNvSpPr>
          <p:nvPr/>
        </p:nvSpPr>
        <p:spPr bwMode="auto">
          <a:xfrm>
            <a:off x="0" y="0"/>
            <a:ext cx="3960813" cy="3413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22" name="Rectangle 6"/>
          <p:cNvSpPr>
            <a:spLocks noGrp="1" noRot="1" noChangeAspect="1" noChangeArrowheads="1" noTextEdit="1"/>
          </p:cNvSpPr>
          <p:nvPr>
            <p:ph type="sldImg"/>
          </p:nvPr>
        </p:nvSpPr>
        <p:spPr>
          <a:ln cap="flat"/>
        </p:spPr>
      </p:sp>
      <p:sp>
        <p:nvSpPr>
          <p:cNvPr id="34823" name="Rectangle 7"/>
          <p:cNvSpPr>
            <a:spLocks noGrp="1" noChangeArrowheads="1"/>
          </p:cNvSpPr>
          <p:nvPr>
            <p:ph type="body" idx="1"/>
          </p:nvPr>
        </p:nvSpPr>
        <p:spPr>
          <a:ln/>
        </p:spPr>
        <p:txBody>
          <a:bodyPr/>
          <a:lstStyle/>
          <a:p>
            <a:endParaRPr lang="zh-CN" altLang="zh-CN"/>
          </a:p>
        </p:txBody>
      </p:sp>
    </p:spTree>
    <p:extLst>
      <p:ext uri="{BB962C8B-B14F-4D97-AF65-F5344CB8AC3E}">
        <p14:creationId xmlns:p14="http://schemas.microsoft.com/office/powerpoint/2010/main" val="242920574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ChangeArrowheads="1"/>
          </p:cNvSpPr>
          <p:nvPr/>
        </p:nvSpPr>
        <p:spPr bwMode="auto">
          <a:xfrm>
            <a:off x="5181600" y="0"/>
            <a:ext cx="3962400" cy="3413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7" name="Rectangle 3"/>
          <p:cNvSpPr>
            <a:spLocks noChangeArrowheads="1"/>
          </p:cNvSpPr>
          <p:nvPr/>
        </p:nvSpPr>
        <p:spPr bwMode="auto">
          <a:xfrm>
            <a:off x="5181600" y="6515100"/>
            <a:ext cx="3962400" cy="3429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947738">
              <a:defRPr kumimoji="1" sz="2400">
                <a:solidFill>
                  <a:schemeClr val="tx1"/>
                </a:solidFill>
                <a:latin typeface="Times New Roman" panose="02020603050405020304" pitchFamily="18" charset="0"/>
                <a:ea typeface="宋体" panose="02010600030101010101" pitchFamily="2" charset="-122"/>
              </a:defRPr>
            </a:lvl1pPr>
            <a:lvl2pPr marL="466725" defTabSz="947738">
              <a:defRPr kumimoji="1" sz="2400">
                <a:solidFill>
                  <a:schemeClr val="tx1"/>
                </a:solidFill>
                <a:latin typeface="Times New Roman" panose="02020603050405020304" pitchFamily="18" charset="0"/>
                <a:ea typeface="宋体" panose="02010600030101010101" pitchFamily="2" charset="-122"/>
              </a:defRPr>
            </a:lvl2pPr>
            <a:lvl3pPr marL="930275" defTabSz="947738">
              <a:defRPr kumimoji="1" sz="2400">
                <a:solidFill>
                  <a:schemeClr val="tx1"/>
                </a:solidFill>
                <a:latin typeface="Times New Roman" panose="02020603050405020304" pitchFamily="18" charset="0"/>
                <a:ea typeface="宋体" panose="02010600030101010101" pitchFamily="2" charset="-122"/>
              </a:defRPr>
            </a:lvl3pPr>
            <a:lvl4pPr marL="1398588" defTabSz="947738">
              <a:defRPr kumimoji="1" sz="2400">
                <a:solidFill>
                  <a:schemeClr val="tx1"/>
                </a:solidFill>
                <a:latin typeface="Times New Roman" panose="02020603050405020304" pitchFamily="18" charset="0"/>
                <a:ea typeface="宋体" panose="02010600030101010101" pitchFamily="2" charset="-122"/>
              </a:defRPr>
            </a:lvl4pPr>
            <a:lvl5pPr marL="1863725" defTabSz="947738">
              <a:defRPr kumimoji="1" sz="2400">
                <a:solidFill>
                  <a:schemeClr val="tx1"/>
                </a:solidFill>
                <a:latin typeface="Times New Roman" panose="02020603050405020304" pitchFamily="18" charset="0"/>
                <a:ea typeface="宋体" panose="02010600030101010101" pitchFamily="2" charset="-122"/>
              </a:defRPr>
            </a:lvl5pPr>
            <a:lvl6pPr marL="23209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7781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2353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6925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a:r>
              <a:rPr lang="en-US" altLang="zh-CN" sz="1000" i="1"/>
              <a:t>33</a:t>
            </a:r>
          </a:p>
        </p:txBody>
      </p:sp>
      <p:sp>
        <p:nvSpPr>
          <p:cNvPr id="36868" name="Rectangle 4"/>
          <p:cNvSpPr>
            <a:spLocks noChangeArrowheads="1"/>
          </p:cNvSpPr>
          <p:nvPr/>
        </p:nvSpPr>
        <p:spPr bwMode="auto">
          <a:xfrm>
            <a:off x="0" y="6515100"/>
            <a:ext cx="3960813" cy="3429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9" name="Rectangle 5"/>
          <p:cNvSpPr>
            <a:spLocks noChangeArrowheads="1"/>
          </p:cNvSpPr>
          <p:nvPr/>
        </p:nvSpPr>
        <p:spPr bwMode="auto">
          <a:xfrm>
            <a:off x="0" y="0"/>
            <a:ext cx="3960813" cy="3413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0" name="Rectangle 6"/>
          <p:cNvSpPr>
            <a:spLocks noGrp="1" noRot="1" noChangeAspect="1" noChangeArrowheads="1" noTextEdit="1"/>
          </p:cNvSpPr>
          <p:nvPr>
            <p:ph type="sldImg"/>
          </p:nvPr>
        </p:nvSpPr>
        <p:spPr>
          <a:ln cap="flat"/>
        </p:spPr>
      </p:sp>
      <p:sp>
        <p:nvSpPr>
          <p:cNvPr id="36871" name="Rectangle 7"/>
          <p:cNvSpPr>
            <a:spLocks noGrp="1" noChangeArrowheads="1"/>
          </p:cNvSpPr>
          <p:nvPr>
            <p:ph type="body" idx="1"/>
          </p:nvPr>
        </p:nvSpPr>
        <p:spPr>
          <a:ln/>
        </p:spPr>
        <p:txBody>
          <a:bodyPr/>
          <a:lstStyle/>
          <a:p>
            <a:endParaRPr lang="zh-CN" altLang="zh-CN"/>
          </a:p>
        </p:txBody>
      </p:sp>
    </p:spTree>
    <p:extLst>
      <p:ext uri="{BB962C8B-B14F-4D97-AF65-F5344CB8AC3E}">
        <p14:creationId xmlns:p14="http://schemas.microsoft.com/office/powerpoint/2010/main" val="14510871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ChangeArrowheads="1"/>
          </p:cNvSpPr>
          <p:nvPr/>
        </p:nvSpPr>
        <p:spPr bwMode="auto">
          <a:xfrm>
            <a:off x="5181600" y="0"/>
            <a:ext cx="3962400" cy="3413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915" name="Rectangle 3"/>
          <p:cNvSpPr>
            <a:spLocks noChangeArrowheads="1"/>
          </p:cNvSpPr>
          <p:nvPr/>
        </p:nvSpPr>
        <p:spPr bwMode="auto">
          <a:xfrm>
            <a:off x="5181600" y="6515100"/>
            <a:ext cx="3962400" cy="3429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947738">
              <a:defRPr kumimoji="1" sz="2400">
                <a:solidFill>
                  <a:schemeClr val="tx1"/>
                </a:solidFill>
                <a:latin typeface="Times New Roman" panose="02020603050405020304" pitchFamily="18" charset="0"/>
                <a:ea typeface="宋体" panose="02010600030101010101" pitchFamily="2" charset="-122"/>
              </a:defRPr>
            </a:lvl1pPr>
            <a:lvl2pPr marL="466725" defTabSz="947738">
              <a:defRPr kumimoji="1" sz="2400">
                <a:solidFill>
                  <a:schemeClr val="tx1"/>
                </a:solidFill>
                <a:latin typeface="Times New Roman" panose="02020603050405020304" pitchFamily="18" charset="0"/>
                <a:ea typeface="宋体" panose="02010600030101010101" pitchFamily="2" charset="-122"/>
              </a:defRPr>
            </a:lvl2pPr>
            <a:lvl3pPr marL="930275" defTabSz="947738">
              <a:defRPr kumimoji="1" sz="2400">
                <a:solidFill>
                  <a:schemeClr val="tx1"/>
                </a:solidFill>
                <a:latin typeface="Times New Roman" panose="02020603050405020304" pitchFamily="18" charset="0"/>
                <a:ea typeface="宋体" panose="02010600030101010101" pitchFamily="2" charset="-122"/>
              </a:defRPr>
            </a:lvl3pPr>
            <a:lvl4pPr marL="1398588" defTabSz="947738">
              <a:defRPr kumimoji="1" sz="2400">
                <a:solidFill>
                  <a:schemeClr val="tx1"/>
                </a:solidFill>
                <a:latin typeface="Times New Roman" panose="02020603050405020304" pitchFamily="18" charset="0"/>
                <a:ea typeface="宋体" panose="02010600030101010101" pitchFamily="2" charset="-122"/>
              </a:defRPr>
            </a:lvl4pPr>
            <a:lvl5pPr marL="1863725" defTabSz="947738">
              <a:defRPr kumimoji="1" sz="2400">
                <a:solidFill>
                  <a:schemeClr val="tx1"/>
                </a:solidFill>
                <a:latin typeface="Times New Roman" panose="02020603050405020304" pitchFamily="18" charset="0"/>
                <a:ea typeface="宋体" panose="02010600030101010101" pitchFamily="2" charset="-122"/>
              </a:defRPr>
            </a:lvl5pPr>
            <a:lvl6pPr marL="23209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7781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2353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6925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a:r>
              <a:rPr lang="en-US" altLang="zh-CN" sz="1000" i="1"/>
              <a:t>34</a:t>
            </a:r>
          </a:p>
        </p:txBody>
      </p:sp>
      <p:sp>
        <p:nvSpPr>
          <p:cNvPr id="38916" name="Rectangle 4"/>
          <p:cNvSpPr>
            <a:spLocks noChangeArrowheads="1"/>
          </p:cNvSpPr>
          <p:nvPr/>
        </p:nvSpPr>
        <p:spPr bwMode="auto">
          <a:xfrm>
            <a:off x="0" y="6515100"/>
            <a:ext cx="3960813" cy="3429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917" name="Rectangle 5"/>
          <p:cNvSpPr>
            <a:spLocks noChangeArrowheads="1"/>
          </p:cNvSpPr>
          <p:nvPr/>
        </p:nvSpPr>
        <p:spPr bwMode="auto">
          <a:xfrm>
            <a:off x="0" y="0"/>
            <a:ext cx="3960813" cy="3413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918" name="Rectangle 6"/>
          <p:cNvSpPr>
            <a:spLocks noGrp="1" noRot="1" noChangeAspect="1" noChangeArrowheads="1" noTextEdit="1"/>
          </p:cNvSpPr>
          <p:nvPr>
            <p:ph type="sldImg"/>
          </p:nvPr>
        </p:nvSpPr>
        <p:spPr>
          <a:ln cap="flat"/>
        </p:spPr>
      </p:sp>
      <p:sp>
        <p:nvSpPr>
          <p:cNvPr id="38919" name="Rectangle 7"/>
          <p:cNvSpPr>
            <a:spLocks noGrp="1" noChangeArrowheads="1"/>
          </p:cNvSpPr>
          <p:nvPr>
            <p:ph type="body" idx="1"/>
          </p:nvPr>
        </p:nvSpPr>
        <p:spPr>
          <a:ln/>
        </p:spPr>
        <p:txBody>
          <a:bodyPr/>
          <a:lstStyle/>
          <a:p>
            <a:endParaRPr lang="zh-CN" altLang="zh-CN"/>
          </a:p>
        </p:txBody>
      </p:sp>
    </p:spTree>
    <p:extLst>
      <p:ext uri="{BB962C8B-B14F-4D97-AF65-F5344CB8AC3E}">
        <p14:creationId xmlns:p14="http://schemas.microsoft.com/office/powerpoint/2010/main" val="101528393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body" idx="1"/>
          </p:nvPr>
        </p:nvSpPr>
        <p:spPr>
          <a:ln/>
        </p:spPr>
        <p:txBody>
          <a:bodyPr/>
          <a:lstStyle/>
          <a:p>
            <a:endParaRPr lang="zh-CN" altLang="zh-CN"/>
          </a:p>
        </p:txBody>
      </p:sp>
      <p:sp>
        <p:nvSpPr>
          <p:cNvPr id="46083"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301530415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ChangeArrowheads="1"/>
          </p:cNvSpPr>
          <p:nvPr/>
        </p:nvSpPr>
        <p:spPr bwMode="auto">
          <a:xfrm>
            <a:off x="5181600" y="0"/>
            <a:ext cx="3962400" cy="3413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59" name="Rectangle 3"/>
          <p:cNvSpPr>
            <a:spLocks noChangeArrowheads="1"/>
          </p:cNvSpPr>
          <p:nvPr/>
        </p:nvSpPr>
        <p:spPr bwMode="auto">
          <a:xfrm>
            <a:off x="5181600" y="6515100"/>
            <a:ext cx="3962400" cy="3429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947738">
              <a:defRPr kumimoji="1" sz="2400">
                <a:solidFill>
                  <a:schemeClr val="tx1"/>
                </a:solidFill>
                <a:latin typeface="Times New Roman" panose="02020603050405020304" pitchFamily="18" charset="0"/>
                <a:ea typeface="宋体" panose="02010600030101010101" pitchFamily="2" charset="-122"/>
              </a:defRPr>
            </a:lvl1pPr>
            <a:lvl2pPr marL="466725" defTabSz="947738">
              <a:defRPr kumimoji="1" sz="2400">
                <a:solidFill>
                  <a:schemeClr val="tx1"/>
                </a:solidFill>
                <a:latin typeface="Times New Roman" panose="02020603050405020304" pitchFamily="18" charset="0"/>
                <a:ea typeface="宋体" panose="02010600030101010101" pitchFamily="2" charset="-122"/>
              </a:defRPr>
            </a:lvl2pPr>
            <a:lvl3pPr marL="930275" defTabSz="947738">
              <a:defRPr kumimoji="1" sz="2400">
                <a:solidFill>
                  <a:schemeClr val="tx1"/>
                </a:solidFill>
                <a:latin typeface="Times New Roman" panose="02020603050405020304" pitchFamily="18" charset="0"/>
                <a:ea typeface="宋体" panose="02010600030101010101" pitchFamily="2" charset="-122"/>
              </a:defRPr>
            </a:lvl3pPr>
            <a:lvl4pPr marL="1398588" defTabSz="947738">
              <a:defRPr kumimoji="1" sz="2400">
                <a:solidFill>
                  <a:schemeClr val="tx1"/>
                </a:solidFill>
                <a:latin typeface="Times New Roman" panose="02020603050405020304" pitchFamily="18" charset="0"/>
                <a:ea typeface="宋体" panose="02010600030101010101" pitchFamily="2" charset="-122"/>
              </a:defRPr>
            </a:lvl4pPr>
            <a:lvl5pPr marL="1863725" defTabSz="947738">
              <a:defRPr kumimoji="1" sz="2400">
                <a:solidFill>
                  <a:schemeClr val="tx1"/>
                </a:solidFill>
                <a:latin typeface="Times New Roman" panose="02020603050405020304" pitchFamily="18" charset="0"/>
                <a:ea typeface="宋体" panose="02010600030101010101" pitchFamily="2" charset="-122"/>
              </a:defRPr>
            </a:lvl5pPr>
            <a:lvl6pPr marL="23209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7781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2353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6925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a:r>
              <a:rPr lang="en-US" altLang="zh-CN" sz="1000" i="1"/>
              <a:t>24</a:t>
            </a:r>
          </a:p>
        </p:txBody>
      </p:sp>
      <p:sp>
        <p:nvSpPr>
          <p:cNvPr id="70660" name="Rectangle 4"/>
          <p:cNvSpPr>
            <a:spLocks noChangeArrowheads="1"/>
          </p:cNvSpPr>
          <p:nvPr/>
        </p:nvSpPr>
        <p:spPr bwMode="auto">
          <a:xfrm>
            <a:off x="0" y="6515100"/>
            <a:ext cx="3960813" cy="3429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61" name="Rectangle 5"/>
          <p:cNvSpPr>
            <a:spLocks noChangeArrowheads="1"/>
          </p:cNvSpPr>
          <p:nvPr/>
        </p:nvSpPr>
        <p:spPr bwMode="auto">
          <a:xfrm>
            <a:off x="0" y="0"/>
            <a:ext cx="3960813" cy="3413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62" name="Rectangle 6"/>
          <p:cNvSpPr>
            <a:spLocks noGrp="1" noChangeArrowheads="1"/>
          </p:cNvSpPr>
          <p:nvPr>
            <p:ph type="body" idx="1"/>
          </p:nvPr>
        </p:nvSpPr>
        <p:spPr>
          <a:xfrm>
            <a:off x="1219200" y="3257550"/>
            <a:ext cx="6705600" cy="3084513"/>
          </a:xfrm>
          <a:noFill/>
          <a:ln/>
        </p:spPr>
        <p:txBody>
          <a:bodyPr lIns="92075" rIns="92075"/>
          <a:lstStyle/>
          <a:p>
            <a:r>
              <a:rPr lang="en-US" altLang="zh-CN"/>
              <a:t>Why MPP? Best potential performance!</a:t>
            </a:r>
          </a:p>
          <a:p>
            <a:r>
              <a:rPr lang="en-US" altLang="zh-CN"/>
              <a:t>Few successes</a:t>
            </a:r>
          </a:p>
          <a:p>
            <a:r>
              <a:rPr lang="en-US" altLang="zh-CN"/>
              <a:t>Operator on vectors of registers</a:t>
            </a:r>
          </a:p>
          <a:p>
            <a:r>
              <a:rPr lang="en-US" altLang="zh-CN"/>
              <a:t>Its easier to vectorize than parallelize</a:t>
            </a:r>
          </a:p>
          <a:p>
            <a:r>
              <a:rPr lang="en-US" altLang="zh-CN"/>
              <a:t>Scales well: more hardware and slower clock rate</a:t>
            </a:r>
          </a:p>
          <a:p>
            <a:endParaRPr lang="en-US" altLang="zh-CN"/>
          </a:p>
          <a:p>
            <a:r>
              <a:rPr lang="en-US" altLang="zh-CN"/>
              <a:t>Crazy research</a:t>
            </a:r>
          </a:p>
          <a:p>
            <a:endParaRPr lang="en-US" altLang="zh-CN"/>
          </a:p>
        </p:txBody>
      </p:sp>
      <p:sp>
        <p:nvSpPr>
          <p:cNvPr id="70663" name="Rectangle 7"/>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243549480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ChangeArrowheads="1"/>
          </p:cNvSpPr>
          <p:nvPr/>
        </p:nvSpPr>
        <p:spPr bwMode="auto">
          <a:xfrm>
            <a:off x="5181600" y="0"/>
            <a:ext cx="3962400" cy="3413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0835" name="Rectangle 3"/>
          <p:cNvSpPr>
            <a:spLocks noChangeArrowheads="1"/>
          </p:cNvSpPr>
          <p:nvPr/>
        </p:nvSpPr>
        <p:spPr bwMode="auto">
          <a:xfrm>
            <a:off x="5181600" y="6515100"/>
            <a:ext cx="3962400" cy="3429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947738">
              <a:defRPr kumimoji="1" sz="2400">
                <a:solidFill>
                  <a:schemeClr val="tx1"/>
                </a:solidFill>
                <a:latin typeface="Times New Roman" panose="02020603050405020304" pitchFamily="18" charset="0"/>
                <a:ea typeface="宋体" panose="02010600030101010101" pitchFamily="2" charset="-122"/>
              </a:defRPr>
            </a:lvl1pPr>
            <a:lvl2pPr marL="466725" defTabSz="947738">
              <a:defRPr kumimoji="1" sz="2400">
                <a:solidFill>
                  <a:schemeClr val="tx1"/>
                </a:solidFill>
                <a:latin typeface="Times New Roman" panose="02020603050405020304" pitchFamily="18" charset="0"/>
                <a:ea typeface="宋体" panose="02010600030101010101" pitchFamily="2" charset="-122"/>
              </a:defRPr>
            </a:lvl2pPr>
            <a:lvl3pPr marL="930275" defTabSz="947738">
              <a:defRPr kumimoji="1" sz="2400">
                <a:solidFill>
                  <a:schemeClr val="tx1"/>
                </a:solidFill>
                <a:latin typeface="Times New Roman" panose="02020603050405020304" pitchFamily="18" charset="0"/>
                <a:ea typeface="宋体" panose="02010600030101010101" pitchFamily="2" charset="-122"/>
              </a:defRPr>
            </a:lvl3pPr>
            <a:lvl4pPr marL="1398588" defTabSz="947738">
              <a:defRPr kumimoji="1" sz="2400">
                <a:solidFill>
                  <a:schemeClr val="tx1"/>
                </a:solidFill>
                <a:latin typeface="Times New Roman" panose="02020603050405020304" pitchFamily="18" charset="0"/>
                <a:ea typeface="宋体" panose="02010600030101010101" pitchFamily="2" charset="-122"/>
              </a:defRPr>
            </a:lvl4pPr>
            <a:lvl5pPr marL="1863725" defTabSz="947738">
              <a:defRPr kumimoji="1" sz="2400">
                <a:solidFill>
                  <a:schemeClr val="tx1"/>
                </a:solidFill>
                <a:latin typeface="Times New Roman" panose="02020603050405020304" pitchFamily="18" charset="0"/>
                <a:ea typeface="宋体" panose="02010600030101010101" pitchFamily="2" charset="-122"/>
              </a:defRPr>
            </a:lvl5pPr>
            <a:lvl6pPr marL="23209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7781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2353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6925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a:r>
              <a:rPr lang="en-US" altLang="zh-CN" sz="1000" i="1"/>
              <a:t>39</a:t>
            </a:r>
          </a:p>
        </p:txBody>
      </p:sp>
      <p:sp>
        <p:nvSpPr>
          <p:cNvPr id="120836" name="Rectangle 4"/>
          <p:cNvSpPr>
            <a:spLocks noChangeArrowheads="1"/>
          </p:cNvSpPr>
          <p:nvPr/>
        </p:nvSpPr>
        <p:spPr bwMode="auto">
          <a:xfrm>
            <a:off x="0" y="6515100"/>
            <a:ext cx="3960813" cy="3429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0837" name="Rectangle 5"/>
          <p:cNvSpPr>
            <a:spLocks noChangeArrowheads="1"/>
          </p:cNvSpPr>
          <p:nvPr/>
        </p:nvSpPr>
        <p:spPr bwMode="auto">
          <a:xfrm>
            <a:off x="0" y="0"/>
            <a:ext cx="3960813" cy="3413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0838" name="Rectangle 6"/>
          <p:cNvSpPr>
            <a:spLocks noGrp="1" noRot="1" noChangeAspect="1" noChangeArrowheads="1" noTextEdit="1"/>
          </p:cNvSpPr>
          <p:nvPr>
            <p:ph type="sldImg"/>
          </p:nvPr>
        </p:nvSpPr>
        <p:spPr>
          <a:ln cap="flat"/>
        </p:spPr>
      </p:sp>
      <p:sp>
        <p:nvSpPr>
          <p:cNvPr id="120839" name="Rectangle 7"/>
          <p:cNvSpPr>
            <a:spLocks noGrp="1" noChangeArrowheads="1"/>
          </p:cNvSpPr>
          <p:nvPr>
            <p:ph type="body" idx="1"/>
          </p:nvPr>
        </p:nvSpPr>
        <p:spPr>
          <a:xfrm>
            <a:off x="1219200" y="3257550"/>
            <a:ext cx="6707188" cy="3084513"/>
          </a:xfrm>
          <a:ln/>
        </p:spPr>
        <p:txBody>
          <a:bodyPr/>
          <a:lstStyle/>
          <a:p>
            <a:endParaRPr lang="zh-CN" altLang="zh-CN"/>
          </a:p>
        </p:txBody>
      </p:sp>
    </p:spTree>
    <p:extLst>
      <p:ext uri="{BB962C8B-B14F-4D97-AF65-F5344CB8AC3E}">
        <p14:creationId xmlns:p14="http://schemas.microsoft.com/office/powerpoint/2010/main" val="19453590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ChangeArrowheads="1"/>
          </p:cNvSpPr>
          <p:nvPr/>
        </p:nvSpPr>
        <p:spPr bwMode="auto">
          <a:xfrm>
            <a:off x="5181600" y="0"/>
            <a:ext cx="3962400" cy="3413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2883" name="Rectangle 3"/>
          <p:cNvSpPr>
            <a:spLocks noChangeArrowheads="1"/>
          </p:cNvSpPr>
          <p:nvPr/>
        </p:nvSpPr>
        <p:spPr bwMode="auto">
          <a:xfrm>
            <a:off x="5181600" y="6515100"/>
            <a:ext cx="3962400" cy="3429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947738">
              <a:defRPr kumimoji="1" sz="2400">
                <a:solidFill>
                  <a:schemeClr val="tx1"/>
                </a:solidFill>
                <a:latin typeface="Times New Roman" panose="02020603050405020304" pitchFamily="18" charset="0"/>
                <a:ea typeface="宋体" panose="02010600030101010101" pitchFamily="2" charset="-122"/>
              </a:defRPr>
            </a:lvl1pPr>
            <a:lvl2pPr marL="466725" defTabSz="947738">
              <a:defRPr kumimoji="1" sz="2400">
                <a:solidFill>
                  <a:schemeClr val="tx1"/>
                </a:solidFill>
                <a:latin typeface="Times New Roman" panose="02020603050405020304" pitchFamily="18" charset="0"/>
                <a:ea typeface="宋体" panose="02010600030101010101" pitchFamily="2" charset="-122"/>
              </a:defRPr>
            </a:lvl2pPr>
            <a:lvl3pPr marL="930275" defTabSz="947738">
              <a:defRPr kumimoji="1" sz="2400">
                <a:solidFill>
                  <a:schemeClr val="tx1"/>
                </a:solidFill>
                <a:latin typeface="Times New Roman" panose="02020603050405020304" pitchFamily="18" charset="0"/>
                <a:ea typeface="宋体" panose="02010600030101010101" pitchFamily="2" charset="-122"/>
              </a:defRPr>
            </a:lvl3pPr>
            <a:lvl4pPr marL="1398588" defTabSz="947738">
              <a:defRPr kumimoji="1" sz="2400">
                <a:solidFill>
                  <a:schemeClr val="tx1"/>
                </a:solidFill>
                <a:latin typeface="Times New Roman" panose="02020603050405020304" pitchFamily="18" charset="0"/>
                <a:ea typeface="宋体" panose="02010600030101010101" pitchFamily="2" charset="-122"/>
              </a:defRPr>
            </a:lvl4pPr>
            <a:lvl5pPr marL="1863725" defTabSz="947738">
              <a:defRPr kumimoji="1" sz="2400">
                <a:solidFill>
                  <a:schemeClr val="tx1"/>
                </a:solidFill>
                <a:latin typeface="Times New Roman" panose="02020603050405020304" pitchFamily="18" charset="0"/>
                <a:ea typeface="宋体" panose="02010600030101010101" pitchFamily="2" charset="-122"/>
              </a:defRPr>
            </a:lvl5pPr>
            <a:lvl6pPr marL="23209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7781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2353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6925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a:r>
              <a:rPr lang="en-US" altLang="zh-CN" sz="1000" i="1"/>
              <a:t>40</a:t>
            </a:r>
          </a:p>
        </p:txBody>
      </p:sp>
      <p:sp>
        <p:nvSpPr>
          <p:cNvPr id="122884" name="Rectangle 4"/>
          <p:cNvSpPr>
            <a:spLocks noChangeArrowheads="1"/>
          </p:cNvSpPr>
          <p:nvPr/>
        </p:nvSpPr>
        <p:spPr bwMode="auto">
          <a:xfrm>
            <a:off x="0" y="6515100"/>
            <a:ext cx="3960813" cy="3429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2885" name="Rectangle 5"/>
          <p:cNvSpPr>
            <a:spLocks noChangeArrowheads="1"/>
          </p:cNvSpPr>
          <p:nvPr/>
        </p:nvSpPr>
        <p:spPr bwMode="auto">
          <a:xfrm>
            <a:off x="0" y="0"/>
            <a:ext cx="3960813" cy="3413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2886" name="Rectangle 6"/>
          <p:cNvSpPr>
            <a:spLocks noGrp="1" noRot="1" noChangeAspect="1" noChangeArrowheads="1" noTextEdit="1"/>
          </p:cNvSpPr>
          <p:nvPr>
            <p:ph type="sldImg"/>
          </p:nvPr>
        </p:nvSpPr>
        <p:spPr>
          <a:ln cap="flat"/>
        </p:spPr>
      </p:sp>
      <p:sp>
        <p:nvSpPr>
          <p:cNvPr id="122887" name="Rectangle 7"/>
          <p:cNvSpPr>
            <a:spLocks noGrp="1" noChangeArrowheads="1"/>
          </p:cNvSpPr>
          <p:nvPr>
            <p:ph type="body" idx="1"/>
          </p:nvPr>
        </p:nvSpPr>
        <p:spPr>
          <a:xfrm>
            <a:off x="1219200" y="3257550"/>
            <a:ext cx="6707188" cy="3084513"/>
          </a:xfrm>
          <a:ln/>
        </p:spPr>
        <p:txBody>
          <a:bodyPr/>
          <a:lstStyle/>
          <a:p>
            <a:endParaRPr lang="zh-CN" altLang="zh-CN"/>
          </a:p>
        </p:txBody>
      </p:sp>
    </p:spTree>
    <p:extLst>
      <p:ext uri="{BB962C8B-B14F-4D97-AF65-F5344CB8AC3E}">
        <p14:creationId xmlns:p14="http://schemas.microsoft.com/office/powerpoint/2010/main" val="74565761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ChangeArrowheads="1"/>
          </p:cNvSpPr>
          <p:nvPr/>
        </p:nvSpPr>
        <p:spPr bwMode="auto">
          <a:xfrm>
            <a:off x="5181600" y="0"/>
            <a:ext cx="3962400" cy="3413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4931" name="Rectangle 3"/>
          <p:cNvSpPr>
            <a:spLocks noChangeArrowheads="1"/>
          </p:cNvSpPr>
          <p:nvPr/>
        </p:nvSpPr>
        <p:spPr bwMode="auto">
          <a:xfrm>
            <a:off x="5181600" y="6515100"/>
            <a:ext cx="3962400" cy="3429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947738">
              <a:defRPr kumimoji="1" sz="2400">
                <a:solidFill>
                  <a:schemeClr val="tx1"/>
                </a:solidFill>
                <a:latin typeface="Times New Roman" panose="02020603050405020304" pitchFamily="18" charset="0"/>
                <a:ea typeface="宋体" panose="02010600030101010101" pitchFamily="2" charset="-122"/>
              </a:defRPr>
            </a:lvl1pPr>
            <a:lvl2pPr marL="466725" defTabSz="947738">
              <a:defRPr kumimoji="1" sz="2400">
                <a:solidFill>
                  <a:schemeClr val="tx1"/>
                </a:solidFill>
                <a:latin typeface="Times New Roman" panose="02020603050405020304" pitchFamily="18" charset="0"/>
                <a:ea typeface="宋体" panose="02010600030101010101" pitchFamily="2" charset="-122"/>
              </a:defRPr>
            </a:lvl2pPr>
            <a:lvl3pPr marL="930275" defTabSz="947738">
              <a:defRPr kumimoji="1" sz="2400">
                <a:solidFill>
                  <a:schemeClr val="tx1"/>
                </a:solidFill>
                <a:latin typeface="Times New Roman" panose="02020603050405020304" pitchFamily="18" charset="0"/>
                <a:ea typeface="宋体" panose="02010600030101010101" pitchFamily="2" charset="-122"/>
              </a:defRPr>
            </a:lvl3pPr>
            <a:lvl4pPr marL="1398588" defTabSz="947738">
              <a:defRPr kumimoji="1" sz="2400">
                <a:solidFill>
                  <a:schemeClr val="tx1"/>
                </a:solidFill>
                <a:latin typeface="Times New Roman" panose="02020603050405020304" pitchFamily="18" charset="0"/>
                <a:ea typeface="宋体" panose="02010600030101010101" pitchFamily="2" charset="-122"/>
              </a:defRPr>
            </a:lvl4pPr>
            <a:lvl5pPr marL="1863725" defTabSz="947738">
              <a:defRPr kumimoji="1" sz="2400">
                <a:solidFill>
                  <a:schemeClr val="tx1"/>
                </a:solidFill>
                <a:latin typeface="Times New Roman" panose="02020603050405020304" pitchFamily="18" charset="0"/>
                <a:ea typeface="宋体" panose="02010600030101010101" pitchFamily="2" charset="-122"/>
              </a:defRPr>
            </a:lvl5pPr>
            <a:lvl6pPr marL="23209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7781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2353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6925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a:r>
              <a:rPr lang="en-US" altLang="zh-CN" sz="1000" i="1"/>
              <a:t>41</a:t>
            </a:r>
          </a:p>
        </p:txBody>
      </p:sp>
      <p:sp>
        <p:nvSpPr>
          <p:cNvPr id="124932" name="Rectangle 4"/>
          <p:cNvSpPr>
            <a:spLocks noChangeArrowheads="1"/>
          </p:cNvSpPr>
          <p:nvPr/>
        </p:nvSpPr>
        <p:spPr bwMode="auto">
          <a:xfrm>
            <a:off x="0" y="6515100"/>
            <a:ext cx="3960813" cy="3429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4933" name="Rectangle 5"/>
          <p:cNvSpPr>
            <a:spLocks noChangeArrowheads="1"/>
          </p:cNvSpPr>
          <p:nvPr/>
        </p:nvSpPr>
        <p:spPr bwMode="auto">
          <a:xfrm>
            <a:off x="0" y="0"/>
            <a:ext cx="3960813" cy="3413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4934" name="Rectangle 6"/>
          <p:cNvSpPr>
            <a:spLocks noGrp="1" noRot="1" noChangeAspect="1" noChangeArrowheads="1" noTextEdit="1"/>
          </p:cNvSpPr>
          <p:nvPr>
            <p:ph type="sldImg"/>
          </p:nvPr>
        </p:nvSpPr>
        <p:spPr>
          <a:ln cap="flat"/>
        </p:spPr>
      </p:sp>
      <p:sp>
        <p:nvSpPr>
          <p:cNvPr id="124935" name="Rectangle 7"/>
          <p:cNvSpPr>
            <a:spLocks noGrp="1" noChangeArrowheads="1"/>
          </p:cNvSpPr>
          <p:nvPr>
            <p:ph type="body" idx="1"/>
          </p:nvPr>
        </p:nvSpPr>
        <p:spPr>
          <a:xfrm>
            <a:off x="1219200" y="3257550"/>
            <a:ext cx="6707188" cy="3084513"/>
          </a:xfrm>
          <a:ln/>
        </p:spPr>
        <p:txBody>
          <a:bodyPr/>
          <a:lstStyle/>
          <a:p>
            <a:endParaRPr lang="zh-CN" altLang="zh-CN"/>
          </a:p>
        </p:txBody>
      </p:sp>
    </p:spTree>
    <p:extLst>
      <p:ext uri="{BB962C8B-B14F-4D97-AF65-F5344CB8AC3E}">
        <p14:creationId xmlns:p14="http://schemas.microsoft.com/office/powerpoint/2010/main" val="280504918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ChangeArrowheads="1"/>
          </p:cNvSpPr>
          <p:nvPr/>
        </p:nvSpPr>
        <p:spPr bwMode="auto">
          <a:xfrm>
            <a:off x="5181600" y="0"/>
            <a:ext cx="3962400" cy="3413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6979" name="Rectangle 3"/>
          <p:cNvSpPr>
            <a:spLocks noChangeArrowheads="1"/>
          </p:cNvSpPr>
          <p:nvPr/>
        </p:nvSpPr>
        <p:spPr bwMode="auto">
          <a:xfrm>
            <a:off x="5181600" y="6515100"/>
            <a:ext cx="3962400" cy="3429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947738">
              <a:defRPr kumimoji="1" sz="2400">
                <a:solidFill>
                  <a:schemeClr val="tx1"/>
                </a:solidFill>
                <a:latin typeface="Times New Roman" panose="02020603050405020304" pitchFamily="18" charset="0"/>
                <a:ea typeface="宋体" panose="02010600030101010101" pitchFamily="2" charset="-122"/>
              </a:defRPr>
            </a:lvl1pPr>
            <a:lvl2pPr marL="466725" defTabSz="947738">
              <a:defRPr kumimoji="1" sz="2400">
                <a:solidFill>
                  <a:schemeClr val="tx1"/>
                </a:solidFill>
                <a:latin typeface="Times New Roman" panose="02020603050405020304" pitchFamily="18" charset="0"/>
                <a:ea typeface="宋体" panose="02010600030101010101" pitchFamily="2" charset="-122"/>
              </a:defRPr>
            </a:lvl2pPr>
            <a:lvl3pPr marL="930275" defTabSz="947738">
              <a:defRPr kumimoji="1" sz="2400">
                <a:solidFill>
                  <a:schemeClr val="tx1"/>
                </a:solidFill>
                <a:latin typeface="Times New Roman" panose="02020603050405020304" pitchFamily="18" charset="0"/>
                <a:ea typeface="宋体" panose="02010600030101010101" pitchFamily="2" charset="-122"/>
              </a:defRPr>
            </a:lvl3pPr>
            <a:lvl4pPr marL="1398588" defTabSz="947738">
              <a:defRPr kumimoji="1" sz="2400">
                <a:solidFill>
                  <a:schemeClr val="tx1"/>
                </a:solidFill>
                <a:latin typeface="Times New Roman" panose="02020603050405020304" pitchFamily="18" charset="0"/>
                <a:ea typeface="宋体" panose="02010600030101010101" pitchFamily="2" charset="-122"/>
              </a:defRPr>
            </a:lvl4pPr>
            <a:lvl5pPr marL="1863725" defTabSz="947738">
              <a:defRPr kumimoji="1" sz="2400">
                <a:solidFill>
                  <a:schemeClr val="tx1"/>
                </a:solidFill>
                <a:latin typeface="Times New Roman" panose="02020603050405020304" pitchFamily="18" charset="0"/>
                <a:ea typeface="宋体" panose="02010600030101010101" pitchFamily="2" charset="-122"/>
              </a:defRPr>
            </a:lvl5pPr>
            <a:lvl6pPr marL="23209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7781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2353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6925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a:r>
              <a:rPr lang="en-US" altLang="zh-CN" sz="1000" i="1"/>
              <a:t>42</a:t>
            </a:r>
          </a:p>
        </p:txBody>
      </p:sp>
      <p:sp>
        <p:nvSpPr>
          <p:cNvPr id="126980" name="Rectangle 4"/>
          <p:cNvSpPr>
            <a:spLocks noChangeArrowheads="1"/>
          </p:cNvSpPr>
          <p:nvPr/>
        </p:nvSpPr>
        <p:spPr bwMode="auto">
          <a:xfrm>
            <a:off x="0" y="6515100"/>
            <a:ext cx="3960813" cy="3429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6981" name="Rectangle 5"/>
          <p:cNvSpPr>
            <a:spLocks noChangeArrowheads="1"/>
          </p:cNvSpPr>
          <p:nvPr/>
        </p:nvSpPr>
        <p:spPr bwMode="auto">
          <a:xfrm>
            <a:off x="0" y="0"/>
            <a:ext cx="3960813" cy="3413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6982" name="Rectangle 6"/>
          <p:cNvSpPr>
            <a:spLocks noGrp="1" noRot="1" noChangeAspect="1" noChangeArrowheads="1" noTextEdit="1"/>
          </p:cNvSpPr>
          <p:nvPr>
            <p:ph type="sldImg"/>
          </p:nvPr>
        </p:nvSpPr>
        <p:spPr>
          <a:ln cap="flat"/>
        </p:spPr>
      </p:sp>
      <p:sp>
        <p:nvSpPr>
          <p:cNvPr id="126983" name="Rectangle 7"/>
          <p:cNvSpPr>
            <a:spLocks noGrp="1" noChangeArrowheads="1"/>
          </p:cNvSpPr>
          <p:nvPr>
            <p:ph type="body" idx="1"/>
          </p:nvPr>
        </p:nvSpPr>
        <p:spPr>
          <a:xfrm>
            <a:off x="1219200" y="3257550"/>
            <a:ext cx="6707188" cy="3084513"/>
          </a:xfrm>
          <a:ln/>
        </p:spPr>
        <p:txBody>
          <a:bodyPr/>
          <a:lstStyle/>
          <a:p>
            <a:endParaRPr lang="zh-CN" altLang="zh-CN"/>
          </a:p>
        </p:txBody>
      </p:sp>
    </p:spTree>
    <p:extLst>
      <p:ext uri="{BB962C8B-B14F-4D97-AF65-F5344CB8AC3E}">
        <p14:creationId xmlns:p14="http://schemas.microsoft.com/office/powerpoint/2010/main" val="150448858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ChangeArrowheads="1"/>
          </p:cNvSpPr>
          <p:nvPr/>
        </p:nvSpPr>
        <p:spPr bwMode="auto">
          <a:xfrm>
            <a:off x="5181600" y="0"/>
            <a:ext cx="3962400" cy="3413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43" name="Rectangle 3"/>
          <p:cNvSpPr>
            <a:spLocks noChangeArrowheads="1"/>
          </p:cNvSpPr>
          <p:nvPr/>
        </p:nvSpPr>
        <p:spPr bwMode="auto">
          <a:xfrm>
            <a:off x="5181600" y="6515100"/>
            <a:ext cx="3962400" cy="3429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947738">
              <a:defRPr kumimoji="1" sz="2400">
                <a:solidFill>
                  <a:schemeClr val="tx1"/>
                </a:solidFill>
                <a:latin typeface="Times New Roman" panose="02020603050405020304" pitchFamily="18" charset="0"/>
                <a:ea typeface="宋体" panose="02010600030101010101" pitchFamily="2" charset="-122"/>
              </a:defRPr>
            </a:lvl1pPr>
            <a:lvl2pPr marL="466725" defTabSz="947738">
              <a:defRPr kumimoji="1" sz="2400">
                <a:solidFill>
                  <a:schemeClr val="tx1"/>
                </a:solidFill>
                <a:latin typeface="Times New Roman" panose="02020603050405020304" pitchFamily="18" charset="0"/>
                <a:ea typeface="宋体" panose="02010600030101010101" pitchFamily="2" charset="-122"/>
              </a:defRPr>
            </a:lvl2pPr>
            <a:lvl3pPr marL="930275" defTabSz="947738">
              <a:defRPr kumimoji="1" sz="2400">
                <a:solidFill>
                  <a:schemeClr val="tx1"/>
                </a:solidFill>
                <a:latin typeface="Times New Roman" panose="02020603050405020304" pitchFamily="18" charset="0"/>
                <a:ea typeface="宋体" panose="02010600030101010101" pitchFamily="2" charset="-122"/>
              </a:defRPr>
            </a:lvl3pPr>
            <a:lvl4pPr marL="1398588" defTabSz="947738">
              <a:defRPr kumimoji="1" sz="2400">
                <a:solidFill>
                  <a:schemeClr val="tx1"/>
                </a:solidFill>
                <a:latin typeface="Times New Roman" panose="02020603050405020304" pitchFamily="18" charset="0"/>
                <a:ea typeface="宋体" panose="02010600030101010101" pitchFamily="2" charset="-122"/>
              </a:defRPr>
            </a:lvl4pPr>
            <a:lvl5pPr marL="1863725" defTabSz="947738">
              <a:defRPr kumimoji="1" sz="2400">
                <a:solidFill>
                  <a:schemeClr val="tx1"/>
                </a:solidFill>
                <a:latin typeface="Times New Roman" panose="02020603050405020304" pitchFamily="18" charset="0"/>
                <a:ea typeface="宋体" panose="02010600030101010101" pitchFamily="2" charset="-122"/>
              </a:defRPr>
            </a:lvl5pPr>
            <a:lvl6pPr marL="23209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7781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2353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6925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a:r>
              <a:rPr lang="en-US" altLang="zh-CN" sz="1000" i="1"/>
              <a:t>43</a:t>
            </a:r>
          </a:p>
        </p:txBody>
      </p:sp>
      <p:sp>
        <p:nvSpPr>
          <p:cNvPr id="61444" name="Rectangle 4"/>
          <p:cNvSpPr>
            <a:spLocks noChangeArrowheads="1"/>
          </p:cNvSpPr>
          <p:nvPr/>
        </p:nvSpPr>
        <p:spPr bwMode="auto">
          <a:xfrm>
            <a:off x="0" y="6515100"/>
            <a:ext cx="3960813" cy="3429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45" name="Rectangle 5"/>
          <p:cNvSpPr>
            <a:spLocks noChangeArrowheads="1"/>
          </p:cNvSpPr>
          <p:nvPr/>
        </p:nvSpPr>
        <p:spPr bwMode="auto">
          <a:xfrm>
            <a:off x="0" y="0"/>
            <a:ext cx="3960813" cy="3413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46" name="Rectangle 6"/>
          <p:cNvSpPr>
            <a:spLocks noGrp="1" noRot="1" noChangeAspect="1" noChangeArrowheads="1" noTextEdit="1"/>
          </p:cNvSpPr>
          <p:nvPr>
            <p:ph type="sldImg"/>
          </p:nvPr>
        </p:nvSpPr>
        <p:spPr>
          <a:ln cap="flat"/>
        </p:spPr>
      </p:sp>
      <p:sp>
        <p:nvSpPr>
          <p:cNvPr id="61447" name="Rectangle 7"/>
          <p:cNvSpPr>
            <a:spLocks noGrp="1" noChangeArrowheads="1"/>
          </p:cNvSpPr>
          <p:nvPr>
            <p:ph type="body" idx="1"/>
          </p:nvPr>
        </p:nvSpPr>
        <p:spPr>
          <a:ln/>
        </p:spPr>
        <p:txBody>
          <a:bodyPr/>
          <a:lstStyle/>
          <a:p>
            <a:endParaRPr lang="zh-CN" altLang="zh-CN"/>
          </a:p>
        </p:txBody>
      </p:sp>
    </p:spTree>
    <p:extLst>
      <p:ext uri="{BB962C8B-B14F-4D97-AF65-F5344CB8AC3E}">
        <p14:creationId xmlns:p14="http://schemas.microsoft.com/office/powerpoint/2010/main" val="327040099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ChangeArrowheads="1"/>
          </p:cNvSpPr>
          <p:nvPr/>
        </p:nvSpPr>
        <p:spPr bwMode="auto">
          <a:xfrm>
            <a:off x="5181600" y="0"/>
            <a:ext cx="3962400" cy="3413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39" name="Rectangle 3"/>
          <p:cNvSpPr>
            <a:spLocks noChangeArrowheads="1"/>
          </p:cNvSpPr>
          <p:nvPr/>
        </p:nvSpPr>
        <p:spPr bwMode="auto">
          <a:xfrm>
            <a:off x="5181600" y="6515100"/>
            <a:ext cx="3962400" cy="3429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947738">
              <a:defRPr kumimoji="1" sz="2400">
                <a:solidFill>
                  <a:schemeClr val="tx1"/>
                </a:solidFill>
                <a:latin typeface="Times New Roman" panose="02020603050405020304" pitchFamily="18" charset="0"/>
                <a:ea typeface="宋体" panose="02010600030101010101" pitchFamily="2" charset="-122"/>
              </a:defRPr>
            </a:lvl1pPr>
            <a:lvl2pPr marL="466725" defTabSz="947738">
              <a:defRPr kumimoji="1" sz="2400">
                <a:solidFill>
                  <a:schemeClr val="tx1"/>
                </a:solidFill>
                <a:latin typeface="Times New Roman" panose="02020603050405020304" pitchFamily="18" charset="0"/>
                <a:ea typeface="宋体" panose="02010600030101010101" pitchFamily="2" charset="-122"/>
              </a:defRPr>
            </a:lvl2pPr>
            <a:lvl3pPr marL="930275" defTabSz="947738">
              <a:defRPr kumimoji="1" sz="2400">
                <a:solidFill>
                  <a:schemeClr val="tx1"/>
                </a:solidFill>
                <a:latin typeface="Times New Roman" panose="02020603050405020304" pitchFamily="18" charset="0"/>
                <a:ea typeface="宋体" panose="02010600030101010101" pitchFamily="2" charset="-122"/>
              </a:defRPr>
            </a:lvl3pPr>
            <a:lvl4pPr marL="1398588" defTabSz="947738">
              <a:defRPr kumimoji="1" sz="2400">
                <a:solidFill>
                  <a:schemeClr val="tx1"/>
                </a:solidFill>
                <a:latin typeface="Times New Roman" panose="02020603050405020304" pitchFamily="18" charset="0"/>
                <a:ea typeface="宋体" panose="02010600030101010101" pitchFamily="2" charset="-122"/>
              </a:defRPr>
            </a:lvl4pPr>
            <a:lvl5pPr marL="1863725" defTabSz="947738">
              <a:defRPr kumimoji="1" sz="2400">
                <a:solidFill>
                  <a:schemeClr val="tx1"/>
                </a:solidFill>
                <a:latin typeface="Times New Roman" panose="02020603050405020304" pitchFamily="18" charset="0"/>
                <a:ea typeface="宋体" panose="02010600030101010101" pitchFamily="2" charset="-122"/>
              </a:defRPr>
            </a:lvl5pPr>
            <a:lvl6pPr marL="23209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7781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2353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6925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a:r>
              <a:rPr lang="en-US" altLang="zh-CN" sz="1000" i="1"/>
              <a:t>28</a:t>
            </a:r>
          </a:p>
        </p:txBody>
      </p:sp>
      <p:sp>
        <p:nvSpPr>
          <p:cNvPr id="65540" name="Rectangle 4"/>
          <p:cNvSpPr>
            <a:spLocks noChangeArrowheads="1"/>
          </p:cNvSpPr>
          <p:nvPr/>
        </p:nvSpPr>
        <p:spPr bwMode="auto">
          <a:xfrm>
            <a:off x="0" y="6515100"/>
            <a:ext cx="3960813" cy="3429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41" name="Rectangle 5"/>
          <p:cNvSpPr>
            <a:spLocks noChangeArrowheads="1"/>
          </p:cNvSpPr>
          <p:nvPr/>
        </p:nvSpPr>
        <p:spPr bwMode="auto">
          <a:xfrm>
            <a:off x="0" y="0"/>
            <a:ext cx="3960813" cy="3413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42" name="Rectangle 6"/>
          <p:cNvSpPr>
            <a:spLocks noGrp="1" noRot="1" noChangeAspect="1" noChangeArrowheads="1" noTextEdit="1"/>
          </p:cNvSpPr>
          <p:nvPr>
            <p:ph type="sldImg"/>
          </p:nvPr>
        </p:nvSpPr>
        <p:spPr>
          <a:ln cap="flat"/>
        </p:spPr>
      </p:sp>
      <p:sp>
        <p:nvSpPr>
          <p:cNvPr id="65543" name="Rectangle 7"/>
          <p:cNvSpPr>
            <a:spLocks noGrp="1" noChangeArrowheads="1"/>
          </p:cNvSpPr>
          <p:nvPr>
            <p:ph type="body" idx="1"/>
          </p:nvPr>
        </p:nvSpPr>
        <p:spPr>
          <a:ln/>
        </p:spPr>
        <p:txBody>
          <a:bodyPr/>
          <a:lstStyle/>
          <a:p>
            <a:endParaRPr lang="zh-CN" altLang="zh-CN"/>
          </a:p>
        </p:txBody>
      </p:sp>
    </p:spTree>
    <p:extLst>
      <p:ext uri="{BB962C8B-B14F-4D97-AF65-F5344CB8AC3E}">
        <p14:creationId xmlns:p14="http://schemas.microsoft.com/office/powerpoint/2010/main" val="234856912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ChangeArrowheads="1"/>
          </p:cNvSpPr>
          <p:nvPr/>
        </p:nvSpPr>
        <p:spPr bwMode="auto">
          <a:xfrm>
            <a:off x="5181600" y="0"/>
            <a:ext cx="3962400" cy="3413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587" name="Rectangle 3"/>
          <p:cNvSpPr>
            <a:spLocks noChangeArrowheads="1"/>
          </p:cNvSpPr>
          <p:nvPr/>
        </p:nvSpPr>
        <p:spPr bwMode="auto">
          <a:xfrm>
            <a:off x="5181600" y="6515100"/>
            <a:ext cx="3962400" cy="3429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947738">
              <a:defRPr kumimoji="1" sz="2400">
                <a:solidFill>
                  <a:schemeClr val="tx1"/>
                </a:solidFill>
                <a:latin typeface="Times New Roman" panose="02020603050405020304" pitchFamily="18" charset="0"/>
                <a:ea typeface="宋体" panose="02010600030101010101" pitchFamily="2" charset="-122"/>
              </a:defRPr>
            </a:lvl1pPr>
            <a:lvl2pPr marL="466725" defTabSz="947738">
              <a:defRPr kumimoji="1" sz="2400">
                <a:solidFill>
                  <a:schemeClr val="tx1"/>
                </a:solidFill>
                <a:latin typeface="Times New Roman" panose="02020603050405020304" pitchFamily="18" charset="0"/>
                <a:ea typeface="宋体" panose="02010600030101010101" pitchFamily="2" charset="-122"/>
              </a:defRPr>
            </a:lvl2pPr>
            <a:lvl3pPr marL="930275" defTabSz="947738">
              <a:defRPr kumimoji="1" sz="2400">
                <a:solidFill>
                  <a:schemeClr val="tx1"/>
                </a:solidFill>
                <a:latin typeface="Times New Roman" panose="02020603050405020304" pitchFamily="18" charset="0"/>
                <a:ea typeface="宋体" panose="02010600030101010101" pitchFamily="2" charset="-122"/>
              </a:defRPr>
            </a:lvl3pPr>
            <a:lvl4pPr marL="1398588" defTabSz="947738">
              <a:defRPr kumimoji="1" sz="2400">
                <a:solidFill>
                  <a:schemeClr val="tx1"/>
                </a:solidFill>
                <a:latin typeface="Times New Roman" panose="02020603050405020304" pitchFamily="18" charset="0"/>
                <a:ea typeface="宋体" panose="02010600030101010101" pitchFamily="2" charset="-122"/>
              </a:defRPr>
            </a:lvl4pPr>
            <a:lvl5pPr marL="1863725" defTabSz="947738">
              <a:defRPr kumimoji="1" sz="2400">
                <a:solidFill>
                  <a:schemeClr val="tx1"/>
                </a:solidFill>
                <a:latin typeface="Times New Roman" panose="02020603050405020304" pitchFamily="18" charset="0"/>
                <a:ea typeface="宋体" panose="02010600030101010101" pitchFamily="2" charset="-122"/>
              </a:defRPr>
            </a:lvl5pPr>
            <a:lvl6pPr marL="23209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7781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2353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692525" defTabSz="947738"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a:r>
              <a:rPr lang="en-US" altLang="zh-CN" sz="1000" i="1"/>
              <a:t>44</a:t>
            </a:r>
          </a:p>
        </p:txBody>
      </p:sp>
      <p:sp>
        <p:nvSpPr>
          <p:cNvPr id="67588" name="Rectangle 4"/>
          <p:cNvSpPr>
            <a:spLocks noChangeArrowheads="1"/>
          </p:cNvSpPr>
          <p:nvPr/>
        </p:nvSpPr>
        <p:spPr bwMode="auto">
          <a:xfrm>
            <a:off x="0" y="6515100"/>
            <a:ext cx="3960813" cy="3429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589" name="Rectangle 5"/>
          <p:cNvSpPr>
            <a:spLocks noChangeArrowheads="1"/>
          </p:cNvSpPr>
          <p:nvPr/>
        </p:nvSpPr>
        <p:spPr bwMode="auto">
          <a:xfrm>
            <a:off x="0" y="0"/>
            <a:ext cx="3960813" cy="3413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590" name="Rectangle 6"/>
          <p:cNvSpPr>
            <a:spLocks noGrp="1" noRot="1" noChangeAspect="1" noChangeArrowheads="1" noTextEdit="1"/>
          </p:cNvSpPr>
          <p:nvPr>
            <p:ph type="sldImg"/>
          </p:nvPr>
        </p:nvSpPr>
        <p:spPr>
          <a:ln cap="flat"/>
        </p:spPr>
      </p:sp>
      <p:sp>
        <p:nvSpPr>
          <p:cNvPr id="67591" name="Rectangle 7"/>
          <p:cNvSpPr>
            <a:spLocks noGrp="1" noChangeArrowheads="1"/>
          </p:cNvSpPr>
          <p:nvPr>
            <p:ph type="body" idx="1"/>
          </p:nvPr>
        </p:nvSpPr>
        <p:spPr>
          <a:ln/>
        </p:spPr>
        <p:txBody>
          <a:bodyPr/>
          <a:lstStyle/>
          <a:p>
            <a:endParaRPr lang="zh-CN" altLang="zh-CN"/>
          </a:p>
        </p:txBody>
      </p:sp>
    </p:spTree>
    <p:extLst>
      <p:ext uri="{BB962C8B-B14F-4D97-AF65-F5344CB8AC3E}">
        <p14:creationId xmlns:p14="http://schemas.microsoft.com/office/powerpoint/2010/main" val="76946881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B3079564-71B7-4D75-8E4A-FC64CAEC3110}" type="datetime3">
              <a:rPr lang="en-US" smtClean="0"/>
              <a:t>14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93</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180148084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85E0C5B4-F19E-4C1A-BCFD-C8409342096D}" type="datetime3">
              <a:rPr lang="en-US" smtClean="0"/>
              <a:t>14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94</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67680459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E81F7A81-0406-4C7C-AE0C-38F89B7C021B}" type="datetime3">
              <a:rPr lang="en-US" smtClean="0"/>
              <a:t>14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95</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240472742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287CCC3A-ADD5-45AA-A381-9C871AF203A7}" type="datetime3">
              <a:rPr lang="en-US" smtClean="0"/>
              <a:t>14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96</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4.10 Arithmetic intensity, specified as the number of floating-point operations to run the program divided by the number of bytes accessed in main memory (Williams et al., 2009). </a:t>
            </a:r>
            <a:r>
              <a:rPr lang="en-US" altLang="en-US" sz="1200" dirty="0" smtClean="0"/>
              <a:t>Some kernels have an arithmetic intensity that scales with problem size, such as a dense matrix, but there are many kernels with arithmetic intensities independent of problem size.</a:t>
            </a:r>
          </a:p>
          <a:p>
            <a:endParaRPr lang="en-AU" dirty="0"/>
          </a:p>
        </p:txBody>
      </p:sp>
    </p:spTree>
    <p:extLst>
      <p:ext uri="{BB962C8B-B14F-4D97-AF65-F5344CB8AC3E}">
        <p14:creationId xmlns:p14="http://schemas.microsoft.com/office/powerpoint/2010/main" val="337244101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1DA8492D-561F-42FE-96E6-8CAD5075DD62}" type="datetime3">
              <a:rPr lang="en-US" smtClean="0"/>
              <a:t>14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97</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4.11 Roofline model for one NEC SX-9 vector processor on the left and the Intel Core i7 920 multicore computer with SIMD extensions on the right (Williams et al., 2009).</a:t>
            </a:r>
            <a:r>
              <a:rPr lang="en-US" altLang="en-US" sz="1200" dirty="0" smtClean="0"/>
              <a:t> This Roofline is for unit-stride memory accesses and double-precision floating-point performance. NEC SX-9 is a vector supercomputer announced in 2008 that cost millions of dollars. It has a peak DP FP performance of 102.4 GFLOP/s and a peak memory bandwidth of 162 GB/s from the Stream benchmark. The Core i7 920 has a peak DP FP performance of 42.66 GFLOP/s and a peak memory bandwidth of 16.4 GB/s. The dashed vertical lines at an arithmetic intensity of 4 FLOP/byte show that both processors operate at peak performance. In this case, the SX-9 at 102.4 FLOP/s is 2.4 × faster than the Core i7 at 42.66 GFLOP/s. At an arithmetic intensity of 0.25 FLOP/byte, the SX-9 is 10 × faster at 40.5 GFLOP/s versus 4.1 GFLOP/s for the Core i7.</a:t>
            </a:r>
          </a:p>
          <a:p>
            <a:endParaRPr lang="en-AU" dirty="0"/>
          </a:p>
        </p:txBody>
      </p:sp>
    </p:spTree>
    <p:extLst>
      <p:ext uri="{BB962C8B-B14F-4D97-AF65-F5344CB8AC3E}">
        <p14:creationId xmlns:p14="http://schemas.microsoft.com/office/powerpoint/2010/main" val="389750370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3DFF8AC8-435A-4077-9E22-9AB1FC9AE6AE}" type="datetime3">
              <a:rPr lang="en-US" smtClean="0"/>
              <a:t>14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98</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224447932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ED297CC4-ACC3-4E46-AE29-30B72920501D}" type="datetime3">
              <a:rPr lang="en-US" smtClean="0"/>
              <a:t>14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99</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53233113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91A5F03A-DCFD-4046-9389-1D5DBD4B74A9}" type="datetime3">
              <a:rPr lang="en-US" smtClean="0"/>
              <a:t>14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100</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284063581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68EB7188-B27A-4E4D-999D-182358EF1AD9}" type="datetime3">
              <a:rPr lang="en-US" smtClean="0"/>
              <a:t>14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101</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309485501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DFA46471-3114-4E0B-A895-482E518FD99B}" type="datetime3">
              <a:rPr lang="en-US" smtClean="0"/>
              <a:t>14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102</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426670544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66D25AAB-4024-4185-92F0-B0979A7AFBF0}" type="datetime3">
              <a:rPr lang="en-US" smtClean="0"/>
              <a:t>14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103</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4.13 The mapping of a Grid (</a:t>
            </a:r>
            <a:r>
              <a:rPr lang="en-US" altLang="en-US" sz="1200" b="1" dirty="0" err="1" smtClean="0"/>
              <a:t>vectorizable</a:t>
            </a:r>
            <a:r>
              <a:rPr lang="en-US" altLang="en-US" sz="1200" b="1" dirty="0" smtClean="0"/>
              <a:t> loop), Thread Blocks (SIMD basic blocks), and threads of SIMD instructions to a vector-vector multiply, with each vector being 8192 elements long. </a:t>
            </a:r>
            <a:r>
              <a:rPr lang="en-US" altLang="en-US" sz="1200" dirty="0" smtClean="0"/>
              <a:t>Each thread of SIMD instructions calculates 32 elements per instruction, and in this example, each Thread Block contains 16 threads of SIMD instructions and the Grid contains 16 Thread Blocks. The hardware Thread Block Scheduler assigns Thread Blocks to multithreaded SIMD Processors, and the hardware Thread Scheduler picks which thread of SIMD instructions to run each clock cycle within a SIMD Processor. Only SIMD Threads in the same Thread Block can communicate via local memory. (The maximum number of SIMD Threads that can execute simultaneously per Thread Block is 32 for Pascal GPUs.)</a:t>
            </a:r>
          </a:p>
          <a:p>
            <a:endParaRPr lang="en-AU" dirty="0"/>
          </a:p>
        </p:txBody>
      </p:sp>
    </p:spTree>
    <p:extLst>
      <p:ext uri="{BB962C8B-B14F-4D97-AF65-F5344CB8AC3E}">
        <p14:creationId xmlns:p14="http://schemas.microsoft.com/office/powerpoint/2010/main" val="111219972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66D25AAB-4024-4185-92F0-B0979A7AFBF0}" type="datetime3">
              <a:rPr lang="en-US" smtClean="0"/>
              <a:t>14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104</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4.14 Simplified block diagram of a multithreaded SIMD Processor. </a:t>
            </a:r>
            <a:r>
              <a:rPr lang="en-US" altLang="en-US" sz="1200" dirty="0" smtClean="0"/>
              <a:t>It has 16 SIMD Lanes. The SIMD Thread Scheduler has, say, 64 independent threads of SIMD instructions that it schedules with a table of 64 program counters (PCs). Note that each lane has 1024 32-bit registers.</a:t>
            </a:r>
          </a:p>
          <a:p>
            <a:endParaRPr lang="en-AU" dirty="0"/>
          </a:p>
        </p:txBody>
      </p:sp>
    </p:spTree>
    <p:extLst>
      <p:ext uri="{BB962C8B-B14F-4D97-AF65-F5344CB8AC3E}">
        <p14:creationId xmlns:p14="http://schemas.microsoft.com/office/powerpoint/2010/main" val="191569831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ADEFD281-E0A6-4F8A-97D3-E281FD9FFE7C}" type="datetime3">
              <a:rPr lang="en-US" smtClean="0"/>
              <a:t>14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105</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182993887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A04E1AA4-5F9B-45BF-AEF2-984289476092}" type="datetime3">
              <a:rPr lang="en-US" smtClean="0"/>
              <a:t>14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106</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55171120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40DE305C-46C2-43D2-A304-E04B3E8E75A4}" type="datetime3">
              <a:rPr lang="en-US" smtClean="0"/>
              <a:t>14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107</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41855885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AC999DE0-B237-4D7F-A34D-F1AE01D48DA2}" type="datetime3">
              <a:rPr lang="en-US" smtClean="0"/>
              <a:t>14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108</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419285819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C4A862B7-7110-42E9-B601-86FB8974746A}" type="datetime3">
              <a:rPr lang="en-US" smtClean="0"/>
              <a:t>14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109</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221913154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897A36BF-B5A1-45AA-9284-C6E45B51EB00}" type="datetime3">
              <a:rPr lang="en-US" smtClean="0"/>
              <a:t>14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110</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b="1" dirty="0" smtClean="0"/>
              <a:t>Figure 4.20 Block diagram of the multithreaded SIMD Processor of a Pascal GPU. </a:t>
            </a:r>
            <a:r>
              <a:rPr lang="en-US" altLang="en-US" sz="1200" dirty="0" smtClean="0"/>
              <a:t>Each of the 64 SIMD Lanes (cores) has a pipelined floating-point unit, a pipelined integer unit, some logic for dispatching instructions and operands to these units, and a queue for holding results. The 64 SIMD Lanes interact with 32 double-precision ALUs (DP units) that perform 64-bit floating-point arithmetic, 16 load-store units (LD/STs), and 16 special function units (SFUs) that calculate functions such as square roots, reciprocals, sines, and cosines.</a:t>
            </a:r>
          </a:p>
          <a:p>
            <a:endParaRPr lang="en-AU" dirty="0"/>
          </a:p>
        </p:txBody>
      </p:sp>
    </p:spTree>
    <p:extLst>
      <p:ext uri="{BB962C8B-B14F-4D97-AF65-F5344CB8AC3E}">
        <p14:creationId xmlns:p14="http://schemas.microsoft.com/office/powerpoint/2010/main" val="407665907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C4A862B7-7110-42E9-B601-86FB8974746A}" type="datetime3">
              <a:rPr lang="en-US" smtClean="0"/>
              <a:t>14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111</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201270125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C4A862B7-7110-42E9-B601-86FB8974746A}" type="datetime3">
              <a:rPr lang="en-US" smtClean="0"/>
              <a:t>14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112</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184199860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A94EF222-DDC4-4B4E-B052-006607246041}" type="datetime3">
              <a:rPr lang="en-US" smtClean="0"/>
              <a:t>14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113</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347909400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54F3C8C8-192C-415E-A17A-272348089090}" type="datetime3">
              <a:rPr lang="en-US" smtClean="0"/>
              <a:t>14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114</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407538981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066FE83A-E041-4C32-8791-EAB2D10A51EE}" type="datetime3">
              <a:rPr lang="en-US" smtClean="0"/>
              <a:t>14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115</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121288222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4C2C7202-1BEA-46B7-AA99-D9D8E44EB597}" type="datetime3">
              <a:rPr lang="en-US" smtClean="0"/>
              <a:t>14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116</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88947157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F77A658F-25FF-4AFB-AF60-04454F2C3370}" type="datetime3">
              <a:rPr lang="en-US" smtClean="0"/>
              <a:t>14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117</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151879527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A7D776B9-53A3-4595-A8CC-9140EA90FAD4}" type="datetime3">
              <a:rPr lang="en-US" smtClean="0"/>
              <a:t>14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118</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40121000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955014C0-73DB-4C73-94A2-45856EFE90F5}" type="datetime3">
              <a:rPr lang="en-US" smtClean="0"/>
              <a:t>14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119</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50331957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E55A3463-1EC7-4066-8B6B-6C0D7030F7B6}" type="datetime3">
              <a:rPr lang="en-US" smtClean="0"/>
              <a:t>14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120</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359031012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31A5B9AD-0EE0-4FEF-B113-EE3A9631A42A}" type="datetime3">
              <a:rPr lang="en-US" smtClean="0"/>
              <a:t>14 November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121</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349411671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62"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eaLnBrk="1"/>
            <a:fld id="{FAAFC1C1-C46F-42E9-90BF-2A9440F38160}" type="slidenum">
              <a:rPr lang="en-US" altLang="en-US">
                <a:solidFill>
                  <a:srgbClr val="000000"/>
                </a:solidFill>
                <a:latin typeface="Times New Roman" panose="02020603050405020304" pitchFamily="18" charset="0"/>
              </a:rPr>
              <a:pPr eaLnBrk="1"/>
              <a:t>123</a:t>
            </a:fld>
            <a:endParaRPr lang="en-US" altLang="en-US">
              <a:solidFill>
                <a:srgbClr val="000000"/>
              </a:solidFill>
              <a:latin typeface="Times New Roman" panose="02020603050405020304" pitchFamily="18" charset="0"/>
            </a:endParaRPr>
          </a:p>
        </p:txBody>
      </p:sp>
      <p:sp>
        <p:nvSpPr>
          <p:cNvPr id="40963" name="Rectangle 1"/>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40964"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419790986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010"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eaLnBrk="1"/>
            <a:fld id="{79F1A804-70EE-4CB2-BA2C-D3E6B9B0E186}" type="slidenum">
              <a:rPr lang="en-US" altLang="en-US">
                <a:solidFill>
                  <a:srgbClr val="000000"/>
                </a:solidFill>
                <a:latin typeface="Times New Roman" panose="02020603050405020304" pitchFamily="18" charset="0"/>
              </a:rPr>
              <a:pPr eaLnBrk="1"/>
              <a:t>124</a:t>
            </a:fld>
            <a:endParaRPr lang="en-US" altLang="en-US">
              <a:solidFill>
                <a:srgbClr val="000000"/>
              </a:solidFill>
              <a:latin typeface="Times New Roman" panose="02020603050405020304" pitchFamily="18" charset="0"/>
            </a:endParaRPr>
          </a:p>
        </p:txBody>
      </p:sp>
      <p:sp>
        <p:nvSpPr>
          <p:cNvPr id="43011" name="Rectangle 1"/>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43012"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64088601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034"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eaLnBrk="1"/>
            <a:fld id="{1DF9729B-6F33-4296-9CFE-009EDB501E79}" type="slidenum">
              <a:rPr lang="en-US" altLang="en-US">
                <a:solidFill>
                  <a:srgbClr val="000000"/>
                </a:solidFill>
                <a:latin typeface="Times New Roman" panose="02020603050405020304" pitchFamily="18" charset="0"/>
              </a:rPr>
              <a:pPr eaLnBrk="1"/>
              <a:t>125</a:t>
            </a:fld>
            <a:endParaRPr lang="en-US" altLang="en-US">
              <a:solidFill>
                <a:srgbClr val="000000"/>
              </a:solidFill>
              <a:latin typeface="Times New Roman" panose="02020603050405020304" pitchFamily="18" charset="0"/>
            </a:endParaRPr>
          </a:p>
        </p:txBody>
      </p:sp>
      <p:sp>
        <p:nvSpPr>
          <p:cNvPr id="44035" name="Rectangle 1"/>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44036"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88531986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106"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eaLnBrk="1"/>
            <a:fld id="{1B2FEFA3-5F64-4B22-885E-9722B0F67BE6}" type="slidenum">
              <a:rPr lang="en-US" altLang="en-US">
                <a:solidFill>
                  <a:srgbClr val="000000"/>
                </a:solidFill>
                <a:latin typeface="Times New Roman" panose="02020603050405020304" pitchFamily="18" charset="0"/>
              </a:rPr>
              <a:pPr eaLnBrk="1"/>
              <a:t>126</a:t>
            </a:fld>
            <a:endParaRPr lang="en-US" altLang="en-US">
              <a:solidFill>
                <a:srgbClr val="000000"/>
              </a:solidFill>
              <a:latin typeface="Times New Roman" panose="02020603050405020304" pitchFamily="18" charset="0"/>
            </a:endParaRPr>
          </a:p>
        </p:txBody>
      </p:sp>
      <p:sp>
        <p:nvSpPr>
          <p:cNvPr id="47107" name="Rectangle 1"/>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47108"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280642793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154"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eaLnBrk="1"/>
            <a:fld id="{DED58AC5-A9EF-41D7-BDA7-037E3AB78BBC}" type="slidenum">
              <a:rPr lang="en-US" altLang="en-US">
                <a:solidFill>
                  <a:srgbClr val="000000"/>
                </a:solidFill>
                <a:latin typeface="Times New Roman" panose="02020603050405020304" pitchFamily="18" charset="0"/>
              </a:rPr>
              <a:pPr eaLnBrk="1"/>
              <a:t>127</a:t>
            </a:fld>
            <a:endParaRPr lang="en-US" altLang="en-US">
              <a:solidFill>
                <a:srgbClr val="000000"/>
              </a:solidFill>
              <a:latin typeface="Times New Roman" panose="02020603050405020304" pitchFamily="18" charset="0"/>
            </a:endParaRPr>
          </a:p>
        </p:txBody>
      </p:sp>
      <p:sp>
        <p:nvSpPr>
          <p:cNvPr id="49155" name="Rectangle 1"/>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49156"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238575474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178"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eaLnBrk="1"/>
            <a:fld id="{E1529BBF-9AF9-4679-A78D-812DBC7ADEC0}" type="slidenum">
              <a:rPr lang="en-US" altLang="en-US">
                <a:solidFill>
                  <a:srgbClr val="000000"/>
                </a:solidFill>
                <a:latin typeface="Times New Roman" panose="02020603050405020304" pitchFamily="18" charset="0"/>
              </a:rPr>
              <a:pPr eaLnBrk="1"/>
              <a:t>128</a:t>
            </a:fld>
            <a:endParaRPr lang="en-US" altLang="en-US">
              <a:solidFill>
                <a:srgbClr val="000000"/>
              </a:solidFill>
              <a:latin typeface="Times New Roman" panose="02020603050405020304" pitchFamily="18" charset="0"/>
            </a:endParaRPr>
          </a:p>
        </p:txBody>
      </p:sp>
      <p:sp>
        <p:nvSpPr>
          <p:cNvPr id="50179" name="Rectangle 1"/>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50180"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425757581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250"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eaLnBrk="1"/>
            <a:fld id="{94746C18-A584-4898-B07F-DDAA988EF88F}" type="slidenum">
              <a:rPr lang="en-US" altLang="en-US">
                <a:solidFill>
                  <a:srgbClr val="000000"/>
                </a:solidFill>
                <a:latin typeface="Times New Roman" panose="02020603050405020304" pitchFamily="18" charset="0"/>
              </a:rPr>
              <a:pPr eaLnBrk="1"/>
              <a:t>129</a:t>
            </a:fld>
            <a:endParaRPr lang="en-US" altLang="en-US">
              <a:solidFill>
                <a:srgbClr val="000000"/>
              </a:solidFill>
              <a:latin typeface="Times New Roman" panose="02020603050405020304" pitchFamily="18" charset="0"/>
            </a:endParaRPr>
          </a:p>
        </p:txBody>
      </p:sp>
      <p:sp>
        <p:nvSpPr>
          <p:cNvPr id="53251" name="Rectangle 1"/>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53252"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38885156"/>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6322"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eaLnBrk="1"/>
            <a:fld id="{228C7324-803B-4529-A3D1-DC174036170A}" type="slidenum">
              <a:rPr lang="en-US" altLang="en-US">
                <a:solidFill>
                  <a:srgbClr val="000000"/>
                </a:solidFill>
                <a:latin typeface="Times New Roman" panose="02020603050405020304" pitchFamily="18" charset="0"/>
              </a:rPr>
              <a:pPr eaLnBrk="1"/>
              <a:t>130</a:t>
            </a:fld>
            <a:endParaRPr lang="en-US" altLang="en-US">
              <a:solidFill>
                <a:srgbClr val="000000"/>
              </a:solidFill>
              <a:latin typeface="Times New Roman" panose="02020603050405020304" pitchFamily="18" charset="0"/>
            </a:endParaRPr>
          </a:p>
        </p:txBody>
      </p:sp>
      <p:sp>
        <p:nvSpPr>
          <p:cNvPr id="56323" name="Rectangle 1"/>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56324"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65276969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346"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eaLnBrk="1"/>
            <a:fld id="{C025CAA6-6494-4043-B486-6813D1970CA6}" type="slidenum">
              <a:rPr lang="en-US" altLang="en-US">
                <a:solidFill>
                  <a:srgbClr val="000000"/>
                </a:solidFill>
                <a:latin typeface="Times New Roman" panose="02020603050405020304" pitchFamily="18" charset="0"/>
              </a:rPr>
              <a:pPr eaLnBrk="1"/>
              <a:t>131</a:t>
            </a:fld>
            <a:endParaRPr lang="en-US" altLang="en-US">
              <a:solidFill>
                <a:srgbClr val="000000"/>
              </a:solidFill>
              <a:latin typeface="Times New Roman" panose="02020603050405020304" pitchFamily="18" charset="0"/>
            </a:endParaRPr>
          </a:p>
        </p:txBody>
      </p:sp>
      <p:sp>
        <p:nvSpPr>
          <p:cNvPr id="57347" name="Rectangle 1"/>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57348"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47779149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8370"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eaLnBrk="1"/>
            <a:fld id="{80B85F63-76BC-4B6F-B2BE-58DF9F1F3C64}" type="slidenum">
              <a:rPr lang="en-US" altLang="en-US">
                <a:solidFill>
                  <a:srgbClr val="000000"/>
                </a:solidFill>
                <a:latin typeface="Times New Roman" panose="02020603050405020304" pitchFamily="18" charset="0"/>
              </a:rPr>
              <a:pPr eaLnBrk="1"/>
              <a:t>132</a:t>
            </a:fld>
            <a:endParaRPr lang="en-US" altLang="en-US">
              <a:solidFill>
                <a:srgbClr val="000000"/>
              </a:solidFill>
              <a:latin typeface="Times New Roman" panose="02020603050405020304" pitchFamily="18" charset="0"/>
            </a:endParaRPr>
          </a:p>
        </p:txBody>
      </p:sp>
      <p:sp>
        <p:nvSpPr>
          <p:cNvPr id="58371" name="Rectangle 1"/>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58372"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157354071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394"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eaLnBrk="1"/>
            <a:fld id="{8236CD2C-B600-4F4C-927F-25E044606A6B}" type="slidenum">
              <a:rPr lang="en-US" altLang="en-US">
                <a:solidFill>
                  <a:srgbClr val="000000"/>
                </a:solidFill>
                <a:latin typeface="Times New Roman" panose="02020603050405020304" pitchFamily="18" charset="0"/>
              </a:rPr>
              <a:pPr eaLnBrk="1"/>
              <a:t>133</a:t>
            </a:fld>
            <a:endParaRPr lang="en-US" altLang="en-US">
              <a:solidFill>
                <a:srgbClr val="000000"/>
              </a:solidFill>
              <a:latin typeface="Times New Roman" panose="02020603050405020304" pitchFamily="18" charset="0"/>
            </a:endParaRPr>
          </a:p>
        </p:txBody>
      </p:sp>
      <p:sp>
        <p:nvSpPr>
          <p:cNvPr id="59395" name="Rectangle 1"/>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59396"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712279358"/>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418"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eaLnBrk="1"/>
            <a:fld id="{CF4DEAE4-14AB-477B-B177-27F944E5DBF3}" type="slidenum">
              <a:rPr lang="en-US" altLang="en-US">
                <a:solidFill>
                  <a:srgbClr val="000000"/>
                </a:solidFill>
                <a:latin typeface="Times New Roman" panose="02020603050405020304" pitchFamily="18" charset="0"/>
              </a:rPr>
              <a:pPr eaLnBrk="1"/>
              <a:t>134</a:t>
            </a:fld>
            <a:endParaRPr lang="en-US" altLang="en-US">
              <a:solidFill>
                <a:srgbClr val="000000"/>
              </a:solidFill>
              <a:latin typeface="Times New Roman" panose="02020603050405020304" pitchFamily="18" charset="0"/>
            </a:endParaRPr>
          </a:p>
        </p:txBody>
      </p:sp>
      <p:sp>
        <p:nvSpPr>
          <p:cNvPr id="60419" name="Rectangle 1"/>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60420"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71079995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2466"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eaLnBrk="1"/>
            <a:fld id="{33E92C89-C5FE-4B71-9BD9-79A298B6A9D1}" type="slidenum">
              <a:rPr lang="en-US" altLang="en-US">
                <a:solidFill>
                  <a:srgbClr val="000000"/>
                </a:solidFill>
                <a:latin typeface="Times New Roman" panose="02020603050405020304" pitchFamily="18" charset="0"/>
              </a:rPr>
              <a:pPr eaLnBrk="1"/>
              <a:t>135</a:t>
            </a:fld>
            <a:endParaRPr lang="en-US" altLang="en-US">
              <a:solidFill>
                <a:srgbClr val="000000"/>
              </a:solidFill>
              <a:latin typeface="Times New Roman" panose="02020603050405020304" pitchFamily="18" charset="0"/>
            </a:endParaRPr>
          </a:p>
        </p:txBody>
      </p:sp>
      <p:sp>
        <p:nvSpPr>
          <p:cNvPr id="62467" name="Rectangle 1"/>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62468"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1066151065"/>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490"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eaLnBrk="1"/>
            <a:fld id="{52CAA438-DB84-40F2-9801-FAE6D4183257}" type="slidenum">
              <a:rPr lang="en-US" altLang="en-US">
                <a:solidFill>
                  <a:srgbClr val="000000"/>
                </a:solidFill>
                <a:latin typeface="Times New Roman" panose="02020603050405020304" pitchFamily="18" charset="0"/>
              </a:rPr>
              <a:pPr eaLnBrk="1"/>
              <a:t>136</a:t>
            </a:fld>
            <a:endParaRPr lang="en-US" altLang="en-US">
              <a:solidFill>
                <a:srgbClr val="000000"/>
              </a:solidFill>
              <a:latin typeface="Times New Roman" panose="02020603050405020304" pitchFamily="18" charset="0"/>
            </a:endParaRPr>
          </a:p>
        </p:txBody>
      </p:sp>
      <p:sp>
        <p:nvSpPr>
          <p:cNvPr id="63491" name="Rectangle 1"/>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63492"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410172883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4514"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eaLnBrk="1"/>
            <a:fld id="{72A3DE6A-E561-455C-BB98-8A84438299F8}" type="slidenum">
              <a:rPr lang="en-US" altLang="en-US">
                <a:solidFill>
                  <a:srgbClr val="000000"/>
                </a:solidFill>
                <a:latin typeface="Times New Roman" panose="02020603050405020304" pitchFamily="18" charset="0"/>
              </a:rPr>
              <a:pPr eaLnBrk="1"/>
              <a:t>137</a:t>
            </a:fld>
            <a:endParaRPr lang="en-US" altLang="en-US">
              <a:solidFill>
                <a:srgbClr val="000000"/>
              </a:solidFill>
              <a:latin typeface="Times New Roman" panose="02020603050405020304" pitchFamily="18" charset="0"/>
            </a:endParaRPr>
          </a:p>
        </p:txBody>
      </p:sp>
      <p:sp>
        <p:nvSpPr>
          <p:cNvPr id="64515" name="Rectangle 1"/>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64516"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718378679"/>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538"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eaLnBrk="1"/>
            <a:fld id="{661A1152-124D-4506-BCBF-64938EA487B1}" type="slidenum">
              <a:rPr lang="en-US" altLang="en-US">
                <a:solidFill>
                  <a:srgbClr val="000000"/>
                </a:solidFill>
                <a:latin typeface="Times New Roman" panose="02020603050405020304" pitchFamily="18" charset="0"/>
              </a:rPr>
              <a:pPr eaLnBrk="1"/>
              <a:t>138</a:t>
            </a:fld>
            <a:endParaRPr lang="en-US" altLang="en-US">
              <a:solidFill>
                <a:srgbClr val="000000"/>
              </a:solidFill>
              <a:latin typeface="Times New Roman" panose="02020603050405020304" pitchFamily="18" charset="0"/>
            </a:endParaRPr>
          </a:p>
        </p:txBody>
      </p:sp>
      <p:sp>
        <p:nvSpPr>
          <p:cNvPr id="65539" name="Rectangle 1"/>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65540"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1551909393"/>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6562"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eaLnBrk="1"/>
            <a:fld id="{3E68AF46-D107-45F7-85E8-B1910D6BB1B3}" type="slidenum">
              <a:rPr lang="en-US" altLang="en-US">
                <a:solidFill>
                  <a:srgbClr val="000000"/>
                </a:solidFill>
                <a:latin typeface="Times New Roman" panose="02020603050405020304" pitchFamily="18" charset="0"/>
              </a:rPr>
              <a:pPr eaLnBrk="1"/>
              <a:t>139</a:t>
            </a:fld>
            <a:endParaRPr lang="en-US" altLang="en-US">
              <a:solidFill>
                <a:srgbClr val="000000"/>
              </a:solidFill>
              <a:latin typeface="Times New Roman" panose="02020603050405020304" pitchFamily="18" charset="0"/>
            </a:endParaRPr>
          </a:p>
        </p:txBody>
      </p:sp>
      <p:sp>
        <p:nvSpPr>
          <p:cNvPr id="66563" name="Rectangle 1"/>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66564"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1642697102"/>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7586"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eaLnBrk="1"/>
            <a:fld id="{6F6F12B7-3E3B-41DD-A22E-B86DD4DE75A7}" type="slidenum">
              <a:rPr lang="en-US" altLang="en-US">
                <a:solidFill>
                  <a:srgbClr val="000000"/>
                </a:solidFill>
                <a:latin typeface="Times New Roman" panose="02020603050405020304" pitchFamily="18" charset="0"/>
              </a:rPr>
              <a:pPr eaLnBrk="1"/>
              <a:t>140</a:t>
            </a:fld>
            <a:endParaRPr lang="en-US" altLang="en-US">
              <a:solidFill>
                <a:srgbClr val="000000"/>
              </a:solidFill>
              <a:latin typeface="Times New Roman" panose="02020603050405020304" pitchFamily="18" charset="0"/>
            </a:endParaRPr>
          </a:p>
        </p:txBody>
      </p:sp>
      <p:sp>
        <p:nvSpPr>
          <p:cNvPr id="67587" name="Rectangle 1"/>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67588"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839817760"/>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8610"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eaLnBrk="1"/>
            <a:fld id="{A87B2E83-1013-4A97-829C-AB66CBDD2010}" type="slidenum">
              <a:rPr lang="en-US" altLang="en-US">
                <a:solidFill>
                  <a:srgbClr val="000000"/>
                </a:solidFill>
                <a:latin typeface="Times New Roman" panose="02020603050405020304" pitchFamily="18" charset="0"/>
              </a:rPr>
              <a:pPr eaLnBrk="1"/>
              <a:t>141</a:t>
            </a:fld>
            <a:endParaRPr lang="en-US" altLang="en-US">
              <a:solidFill>
                <a:srgbClr val="000000"/>
              </a:solidFill>
              <a:latin typeface="Times New Roman" panose="02020603050405020304" pitchFamily="18" charset="0"/>
            </a:endParaRPr>
          </a:p>
        </p:txBody>
      </p:sp>
      <p:sp>
        <p:nvSpPr>
          <p:cNvPr id="68611" name="Rectangle 1"/>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68612"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362045315"/>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634"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eaLnBrk="1"/>
            <a:fld id="{D7ED92D9-FADF-432A-86CF-4354125BB0E2}" type="slidenum">
              <a:rPr lang="en-US" altLang="en-US">
                <a:solidFill>
                  <a:srgbClr val="000000"/>
                </a:solidFill>
                <a:latin typeface="Times New Roman" panose="02020603050405020304" pitchFamily="18" charset="0"/>
              </a:rPr>
              <a:pPr eaLnBrk="1"/>
              <a:t>142</a:t>
            </a:fld>
            <a:endParaRPr lang="en-US" altLang="en-US">
              <a:solidFill>
                <a:srgbClr val="000000"/>
              </a:solidFill>
              <a:latin typeface="Times New Roman" panose="02020603050405020304" pitchFamily="18" charset="0"/>
            </a:endParaRPr>
          </a:p>
        </p:txBody>
      </p:sp>
      <p:sp>
        <p:nvSpPr>
          <p:cNvPr id="69635" name="Rectangle 1"/>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69636"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481621676"/>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0658"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eaLnBrk="1"/>
            <a:fld id="{5216C7BD-015E-4291-9CC6-ED934FCE470F}" type="slidenum">
              <a:rPr lang="en-US" altLang="en-US">
                <a:solidFill>
                  <a:srgbClr val="000000"/>
                </a:solidFill>
                <a:latin typeface="Times New Roman" panose="02020603050405020304" pitchFamily="18" charset="0"/>
              </a:rPr>
              <a:pPr eaLnBrk="1"/>
              <a:t>143</a:t>
            </a:fld>
            <a:endParaRPr lang="en-US" altLang="en-US">
              <a:solidFill>
                <a:srgbClr val="000000"/>
              </a:solidFill>
              <a:latin typeface="Times New Roman" panose="02020603050405020304" pitchFamily="18" charset="0"/>
            </a:endParaRPr>
          </a:p>
        </p:txBody>
      </p:sp>
      <p:sp>
        <p:nvSpPr>
          <p:cNvPr id="70659" name="Rectangle 1"/>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0660"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1891195115"/>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82"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eaLnBrk="1"/>
            <a:fld id="{3EA97AD2-CE16-4747-858B-3BC56669EF36}" type="slidenum">
              <a:rPr lang="en-US" altLang="en-US">
                <a:solidFill>
                  <a:srgbClr val="000000"/>
                </a:solidFill>
                <a:latin typeface="Times New Roman" panose="02020603050405020304" pitchFamily="18" charset="0"/>
              </a:rPr>
              <a:pPr eaLnBrk="1"/>
              <a:t>144</a:t>
            </a:fld>
            <a:endParaRPr lang="en-US" altLang="en-US">
              <a:solidFill>
                <a:srgbClr val="000000"/>
              </a:solidFill>
              <a:latin typeface="Times New Roman" panose="02020603050405020304" pitchFamily="18" charset="0"/>
            </a:endParaRPr>
          </a:p>
        </p:txBody>
      </p:sp>
      <p:sp>
        <p:nvSpPr>
          <p:cNvPr id="71683" name="Rectangle 1"/>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684"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448255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2706"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eaLnBrk="1"/>
            <a:fld id="{FDD614F9-7D7F-4A1E-A540-ADDB1F8FC6A3}" type="slidenum">
              <a:rPr lang="en-US" altLang="en-US">
                <a:solidFill>
                  <a:srgbClr val="000000"/>
                </a:solidFill>
                <a:latin typeface="Times New Roman" panose="02020603050405020304" pitchFamily="18" charset="0"/>
              </a:rPr>
              <a:pPr eaLnBrk="1"/>
              <a:t>145</a:t>
            </a:fld>
            <a:endParaRPr lang="en-US" altLang="en-US">
              <a:solidFill>
                <a:srgbClr val="000000"/>
              </a:solidFill>
              <a:latin typeface="Times New Roman" panose="02020603050405020304" pitchFamily="18" charset="0"/>
            </a:endParaRPr>
          </a:p>
        </p:txBody>
      </p:sp>
      <p:sp>
        <p:nvSpPr>
          <p:cNvPr id="72707" name="Rectangle 1"/>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2708"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12395052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3730"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eaLnBrk="1"/>
            <a:fld id="{6B299ADD-DA96-403B-923D-645D4DC2E904}" type="slidenum">
              <a:rPr lang="en-US" altLang="en-US">
                <a:solidFill>
                  <a:srgbClr val="000000"/>
                </a:solidFill>
                <a:latin typeface="Times New Roman" panose="02020603050405020304" pitchFamily="18" charset="0"/>
              </a:rPr>
              <a:pPr eaLnBrk="1"/>
              <a:t>146</a:t>
            </a:fld>
            <a:endParaRPr lang="en-US" altLang="en-US">
              <a:solidFill>
                <a:srgbClr val="000000"/>
              </a:solidFill>
              <a:latin typeface="Times New Roman" panose="02020603050405020304" pitchFamily="18" charset="0"/>
            </a:endParaRPr>
          </a:p>
        </p:txBody>
      </p:sp>
      <p:sp>
        <p:nvSpPr>
          <p:cNvPr id="73731" name="Rectangle 1"/>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3732"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1025193639"/>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4754"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eaLnBrk="1"/>
            <a:fld id="{B86A3F8A-B08F-4EB1-8310-C6FC330D748E}" type="slidenum">
              <a:rPr lang="en-US" altLang="en-US">
                <a:solidFill>
                  <a:srgbClr val="000000"/>
                </a:solidFill>
                <a:latin typeface="Times New Roman" panose="02020603050405020304" pitchFamily="18" charset="0"/>
              </a:rPr>
              <a:pPr eaLnBrk="1"/>
              <a:t>147</a:t>
            </a:fld>
            <a:endParaRPr lang="en-US" altLang="en-US">
              <a:solidFill>
                <a:srgbClr val="000000"/>
              </a:solidFill>
              <a:latin typeface="Times New Roman" panose="02020603050405020304" pitchFamily="18" charset="0"/>
            </a:endParaRPr>
          </a:p>
        </p:txBody>
      </p:sp>
      <p:sp>
        <p:nvSpPr>
          <p:cNvPr id="74755" name="Rectangle 1"/>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4756"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33312680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78"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eaLnBrk="1"/>
            <a:fld id="{424DB06C-D023-4565-8BDB-E7E7E0112D88}" type="slidenum">
              <a:rPr lang="en-US" altLang="en-US">
                <a:solidFill>
                  <a:srgbClr val="000000"/>
                </a:solidFill>
                <a:latin typeface="Times New Roman" panose="02020603050405020304" pitchFamily="18" charset="0"/>
              </a:rPr>
              <a:pPr eaLnBrk="1"/>
              <a:t>148</a:t>
            </a:fld>
            <a:endParaRPr lang="en-US" altLang="en-US">
              <a:solidFill>
                <a:srgbClr val="000000"/>
              </a:solidFill>
              <a:latin typeface="Times New Roman" panose="02020603050405020304" pitchFamily="18" charset="0"/>
            </a:endParaRPr>
          </a:p>
        </p:txBody>
      </p:sp>
      <p:sp>
        <p:nvSpPr>
          <p:cNvPr id="75779" name="Rectangle 1"/>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5780"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138418393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6802"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1pPr>
            <a:lvl2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2pPr>
            <a:lvl3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3pPr>
            <a:lvl4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4pPr>
            <a:lvl5pPr eaLnBrk="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a:solidFill>
                  <a:schemeClr val="tx1"/>
                </a:solidFill>
                <a:latin typeface="Arial" panose="020B0604020202020204" pitchFamily="34" charset="0"/>
                <a:ea typeface="Microsoft YaHei" panose="020B0503020204020204" pitchFamily="34" charset="-122"/>
              </a:defRPr>
            </a:lvl9pPr>
          </a:lstStyle>
          <a:p>
            <a:pPr eaLnBrk="1"/>
            <a:fld id="{65E774E7-934C-4837-ABE8-CF0C816DB504}" type="slidenum">
              <a:rPr lang="en-US" altLang="en-US">
                <a:solidFill>
                  <a:srgbClr val="000000"/>
                </a:solidFill>
                <a:latin typeface="Times New Roman" panose="02020603050405020304" pitchFamily="18" charset="0"/>
              </a:rPr>
              <a:pPr eaLnBrk="1"/>
              <a:t>149</a:t>
            </a:fld>
            <a:endParaRPr lang="en-US" altLang="en-US">
              <a:solidFill>
                <a:srgbClr val="000000"/>
              </a:solidFill>
              <a:latin typeface="Times New Roman" panose="02020603050405020304" pitchFamily="18" charset="0"/>
            </a:endParaRPr>
          </a:p>
        </p:txBody>
      </p:sp>
      <p:sp>
        <p:nvSpPr>
          <p:cNvPr id="76803" name="Rectangle 1"/>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6804" name="Rectangle 2"/>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2291720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332657"/>
            <a:ext cx="9144000" cy="1008111"/>
          </a:xfrm>
        </p:spPr>
        <p:txBody>
          <a:bodyPr anchor="b"/>
          <a:lstStyle>
            <a:lvl1pPr algn="ctr">
              <a:defRPr sz="48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524000" y="2348880"/>
            <a:ext cx="9144000" cy="35283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en-US" dirty="0"/>
          </a:p>
        </p:txBody>
      </p:sp>
    </p:spTree>
    <p:extLst>
      <p:ext uri="{BB962C8B-B14F-4D97-AF65-F5344CB8AC3E}">
        <p14:creationId xmlns:p14="http://schemas.microsoft.com/office/powerpoint/2010/main" val="17938425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31627"/>
          </a:xfrm>
        </p:spPr>
        <p:txBody>
          <a:bodyPr/>
          <a:lstStyle>
            <a:lvl1pPr>
              <a:defRPr>
                <a:latin typeface="Arial" panose="020B0604020202020204" pitchFamily="34" charset="0"/>
                <a:cs typeface="Arial" panose="020B0604020202020204" pitchFamily="34" charset="0"/>
              </a:defRPr>
            </a:lvl1pPr>
          </a:lstStyle>
          <a:p>
            <a:r>
              <a:rPr lang="zh-CN" altLang="en-US" smtClean="0"/>
              <a:t>单击此处编辑母版标题样式</a:t>
            </a:r>
            <a:endParaRPr lang="en-US" dirty="0"/>
          </a:p>
        </p:txBody>
      </p:sp>
      <p:sp>
        <p:nvSpPr>
          <p:cNvPr id="3" name="Content Placeholder 2"/>
          <p:cNvSpPr>
            <a:spLocks noGrp="1"/>
          </p:cNvSpPr>
          <p:nvPr>
            <p:ph idx="1"/>
          </p:nvPr>
        </p:nvSpPr>
        <p:spPr>
          <a:xfrm>
            <a:off x="838200" y="1556792"/>
            <a:ext cx="10515600" cy="511256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extLst>
      <p:ext uri="{BB962C8B-B14F-4D97-AF65-F5344CB8AC3E}">
        <p14:creationId xmlns:p14="http://schemas.microsoft.com/office/powerpoint/2010/main" val="2993316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38200" y="1628800"/>
            <a:ext cx="5181600" cy="496855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6172200" y="1628800"/>
            <a:ext cx="5181600" cy="496855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extLst>
      <p:ext uri="{BB962C8B-B14F-4D97-AF65-F5344CB8AC3E}">
        <p14:creationId xmlns:p14="http://schemas.microsoft.com/office/powerpoint/2010/main" val="1249789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903635"/>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9788" y="1681163"/>
            <a:ext cx="5157787" cy="595709"/>
          </a:xfrm>
        </p:spPr>
        <p:txBody>
          <a:bodyPr anchor="b"/>
          <a:lstStyle>
            <a:lvl1pPr marL="0" indent="0">
              <a:buNone/>
              <a:defRPr sz="3200" b="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839788" y="2505074"/>
            <a:ext cx="5157787" cy="409227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6172200" y="1681163"/>
            <a:ext cx="5183188" cy="595709"/>
          </a:xfrm>
        </p:spPr>
        <p:txBody>
          <a:bodyPr anchor="b"/>
          <a:lstStyle>
            <a:lvl1pPr marL="0" indent="0">
              <a:buNone/>
              <a:defRPr sz="3200" b="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6172200" y="2505074"/>
            <a:ext cx="5183188" cy="4092277"/>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extLst>
      <p:ext uri="{BB962C8B-B14F-4D97-AF65-F5344CB8AC3E}">
        <p14:creationId xmlns:p14="http://schemas.microsoft.com/office/powerpoint/2010/main" val="2727033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Tree>
    <p:extLst>
      <p:ext uri="{BB962C8B-B14F-4D97-AF65-F5344CB8AC3E}">
        <p14:creationId xmlns:p14="http://schemas.microsoft.com/office/powerpoint/2010/main" val="3921178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68683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chart">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609600" y="228600"/>
            <a:ext cx="10871200" cy="914400"/>
          </a:xfrm>
        </p:spPr>
        <p:txBody>
          <a:bodyPr/>
          <a:lstStyle/>
          <a:p>
            <a:r>
              <a:rPr lang="zh-CN" altLang="en-US" smtClean="0"/>
              <a:t>单击此处编辑母版标题样式</a:t>
            </a:r>
            <a:endParaRPr lang="zh-CN" altLang="en-US"/>
          </a:p>
        </p:txBody>
      </p:sp>
      <p:sp>
        <p:nvSpPr>
          <p:cNvPr id="3" name="图表占位符 2"/>
          <p:cNvSpPr>
            <a:spLocks noGrp="1"/>
          </p:cNvSpPr>
          <p:nvPr>
            <p:ph type="chart" idx="1"/>
          </p:nvPr>
        </p:nvSpPr>
        <p:spPr>
          <a:xfrm>
            <a:off x="609600" y="1447800"/>
            <a:ext cx="10905067" cy="4610100"/>
          </a:xfrm>
        </p:spPr>
        <p:txBody>
          <a:bodyPr/>
          <a:lstStyle/>
          <a:p>
            <a:endParaRPr lang="zh-CN" altLang="en-US"/>
          </a:p>
        </p:txBody>
      </p:sp>
    </p:spTree>
    <p:extLst>
      <p:ext uri="{BB962C8B-B14F-4D97-AF65-F5344CB8AC3E}">
        <p14:creationId xmlns:p14="http://schemas.microsoft.com/office/powerpoint/2010/main" val="27789802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903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dirty="0" smtClean="0"/>
              <a:t>单击此处编辑母版标题样式</a:t>
            </a:r>
            <a:endParaRPr lang="en-US" altLang="zh-CN" dirty="0" smtClean="0"/>
          </a:p>
        </p:txBody>
      </p:sp>
      <p:sp>
        <p:nvSpPr>
          <p:cNvPr id="1027" name="Text Placeholder 2"/>
          <p:cNvSpPr>
            <a:spLocks noGrp="1"/>
          </p:cNvSpPr>
          <p:nvPr>
            <p:ph type="body" idx="1"/>
          </p:nvPr>
        </p:nvSpPr>
        <p:spPr bwMode="auto">
          <a:xfrm>
            <a:off x="838200" y="1556792"/>
            <a:ext cx="10515600" cy="4620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smtClean="0"/>
              <a:t>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altLang="zh-CN" dirty="0" smtClean="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en-US" smtClean="0"/>
              <a:t>tang@ict.ac.cn</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F995DCE2-E1D3-41AF-AA0F-2ACC42A603E2}" type="slidenum">
              <a:rPr lang="en-US"/>
              <a:pPr>
                <a:defRPr/>
              </a:pPr>
              <a:t>‹#›</a:t>
            </a:fld>
            <a:endParaRPr lang="en-US" dirty="0"/>
          </a:p>
        </p:txBody>
      </p:sp>
      <p:pic>
        <p:nvPicPr>
          <p:cNvPr id="2" name="图片 1"/>
          <p:cNvPicPr>
            <a:picLocks noChangeAspect="1"/>
          </p:cNvPicPr>
          <p:nvPr userDrawn="1"/>
        </p:nvPicPr>
        <p:blipFill>
          <a:blip r:embed="rId9"/>
          <a:stretch>
            <a:fillRect/>
          </a:stretch>
        </p:blipFill>
        <p:spPr>
          <a:xfrm>
            <a:off x="4943" y="1392216"/>
            <a:ext cx="12187057" cy="92568"/>
          </a:xfrm>
          <a:prstGeom prst="rect">
            <a:avLst/>
          </a:prstGeom>
        </p:spPr>
      </p:pic>
    </p:spTree>
  </p:cSld>
  <p:clrMap bg1="lt1" tx1="dk1" bg2="lt2" tx2="dk2" accent1="accent1" accent2="accent2" accent3="accent3" accent4="accent4" accent5="accent5" accent6="accent6" hlink="hlink" folHlink="folHlink"/>
  <p:sldLayoutIdLst>
    <p:sldLayoutId id="2147483715" r:id="rId1"/>
    <p:sldLayoutId id="2147483716" r:id="rId2"/>
    <p:sldLayoutId id="2147483718" r:id="rId3"/>
    <p:sldLayoutId id="2147483719" r:id="rId4"/>
    <p:sldLayoutId id="2147483720" r:id="rId5"/>
    <p:sldLayoutId id="2147483721" r:id="rId6"/>
    <p:sldLayoutId id="2147483727" r:id="rId7"/>
  </p:sldLayoutIdLst>
  <p:hf sldNum="0" hdr="0" ftr="0" dt="0"/>
  <p:txStyles>
    <p:titleStyle>
      <a:lvl1pPr algn="l" rtl="0" eaLnBrk="1" fontAlgn="base" hangingPunct="1">
        <a:lnSpc>
          <a:spcPct val="90000"/>
        </a:lnSpc>
        <a:spcBef>
          <a:spcPct val="0"/>
        </a:spcBef>
        <a:spcAft>
          <a:spcPct val="0"/>
        </a:spcAft>
        <a:defRPr sz="4400" kern="1200">
          <a:solidFill>
            <a:srgbClr val="FF0000"/>
          </a:solidFill>
          <a:latin typeface="Arial" panose="020B0604020202020204" pitchFamily="34" charset="0"/>
          <a:ea typeface="微软雅黑" panose="020B0503020204020204" pitchFamily="34" charset="-122"/>
          <a:cs typeface="Arial" panose="020B0604020202020204" pitchFamily="34" charset="0"/>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rgbClr val="0000FF"/>
          </a:solidFill>
          <a:latin typeface="Arial" panose="020B0604020202020204" pitchFamily="34" charset="0"/>
          <a:ea typeface="微软雅黑" panose="020B0503020204020204" pitchFamily="34" charset="-122"/>
          <a:cs typeface="Arial" panose="020B0604020202020204" pitchFamily="34" charset="0"/>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rgbClr val="0000FF"/>
          </a:solidFill>
          <a:latin typeface="Arial" panose="020B0604020202020204" pitchFamily="34" charset="0"/>
          <a:ea typeface="微软雅黑" panose="020B0503020204020204" pitchFamily="34" charset="-122"/>
          <a:cs typeface="Arial" panose="020B0604020202020204" pitchFamily="34" charset="0"/>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rgbClr val="0000FF"/>
          </a:solidFill>
          <a:latin typeface="Arial" panose="020B0604020202020204" pitchFamily="34" charset="0"/>
          <a:ea typeface="微软雅黑" panose="020B0503020204020204" pitchFamily="34" charset="-122"/>
          <a:cs typeface="Arial" panose="020B0604020202020204" pitchFamily="34" charset="0"/>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kern="1200">
          <a:solidFill>
            <a:srgbClr val="0000FF"/>
          </a:solidFill>
          <a:latin typeface="Arial" panose="020B0604020202020204" pitchFamily="34" charset="0"/>
          <a:ea typeface="微软雅黑" panose="020B0503020204020204" pitchFamily="34" charset="-122"/>
          <a:cs typeface="Arial" panose="020B0604020202020204" pitchFamily="34" charset="0"/>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kern="1200">
          <a:solidFill>
            <a:srgbClr val="0000FF"/>
          </a:solidFill>
          <a:latin typeface="Arial" panose="020B0604020202020204" pitchFamily="34" charset="0"/>
          <a:ea typeface="微软雅黑" panose="020B0503020204020204" pitchFamily="34"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45.xml"/><Relationship Id="rId7" Type="http://schemas.openxmlformats.org/officeDocument/2006/relationships/image" Target="../media/image14.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13.wmf"/><Relationship Id="rId4" Type="http://schemas.openxmlformats.org/officeDocument/2006/relationships/oleObject" Target="../embeddings/oleObject1.bin"/></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5.emf"/></Relationships>
</file>

<file path=ppt/slides/_rels/slide8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16.emf"/></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81.xml"/><Relationship Id="rId1" Type="http://schemas.openxmlformats.org/officeDocument/2006/relationships/slideLayout" Target="../slideLayouts/slideLayout6.xml"/></Relationships>
</file>

<file path=ppt/slides/_rels/slide12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82.xml"/><Relationship Id="rId1" Type="http://schemas.openxmlformats.org/officeDocument/2006/relationships/slideLayout" Target="../slideLayouts/slideLayout6.xml"/></Relationships>
</file>

<file path=ppt/slides/_rels/slide12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83.xml"/><Relationship Id="rId1" Type="http://schemas.openxmlformats.org/officeDocument/2006/relationships/slideLayout" Target="../slideLayouts/slideLayout6.xml"/></Relationships>
</file>

<file path=ppt/slides/_rels/slide12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84.xml"/><Relationship Id="rId1" Type="http://schemas.openxmlformats.org/officeDocument/2006/relationships/slideLayout" Target="../slideLayouts/slideLayout6.xml"/></Relationships>
</file>

<file path=ppt/slides/_rels/slide12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85.xml"/><Relationship Id="rId1" Type="http://schemas.openxmlformats.org/officeDocument/2006/relationships/slideLayout" Target="../slideLayouts/slideLayout6.xml"/></Relationships>
</file>

<file path=ppt/slides/_rels/slide12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86.xml"/><Relationship Id="rId1" Type="http://schemas.openxmlformats.org/officeDocument/2006/relationships/slideLayout" Target="../slideLayouts/slideLayout6.xml"/></Relationships>
</file>

<file path=ppt/slides/_rels/slide13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87.xml"/><Relationship Id="rId1" Type="http://schemas.openxmlformats.org/officeDocument/2006/relationships/slideLayout" Target="../slideLayouts/slideLayout6.xml"/></Relationships>
</file>

<file path=ppt/slides/_rels/slide13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88.xml"/><Relationship Id="rId1" Type="http://schemas.openxmlformats.org/officeDocument/2006/relationships/slideLayout" Target="../slideLayouts/slideLayout6.xml"/></Relationships>
</file>

<file path=ppt/slides/_rels/slide13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89.xml"/><Relationship Id="rId1" Type="http://schemas.openxmlformats.org/officeDocument/2006/relationships/slideLayout" Target="../slideLayouts/slideLayout6.xml"/></Relationships>
</file>

<file path=ppt/slides/_rels/slide13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90.xml"/><Relationship Id="rId1" Type="http://schemas.openxmlformats.org/officeDocument/2006/relationships/slideLayout" Target="../slideLayouts/slideLayout6.xml"/></Relationships>
</file>

<file path=ppt/slides/_rels/slide13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91.xml"/><Relationship Id="rId1" Type="http://schemas.openxmlformats.org/officeDocument/2006/relationships/slideLayout" Target="../slideLayouts/slideLayout6.xml"/></Relationships>
</file>

<file path=ppt/slides/_rels/slide135.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92.xml"/><Relationship Id="rId1" Type="http://schemas.openxmlformats.org/officeDocument/2006/relationships/slideLayout" Target="../slideLayouts/slideLayout6.xml"/></Relationships>
</file>

<file path=ppt/slides/_rels/slide13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93.xml"/><Relationship Id="rId1" Type="http://schemas.openxmlformats.org/officeDocument/2006/relationships/slideLayout" Target="../slideLayouts/slideLayout6.xml"/></Relationships>
</file>

<file path=ppt/slides/_rels/slide137.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94.xml"/><Relationship Id="rId1" Type="http://schemas.openxmlformats.org/officeDocument/2006/relationships/slideLayout" Target="../slideLayouts/slideLayout6.xml"/></Relationships>
</file>

<file path=ppt/slides/_rels/slide138.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95.xml"/><Relationship Id="rId1" Type="http://schemas.openxmlformats.org/officeDocument/2006/relationships/slideLayout" Target="../slideLayouts/slideLayout6.xml"/></Relationships>
</file>

<file path=ppt/slides/_rels/slide139.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96.xml"/><Relationship Id="rId1" Type="http://schemas.openxmlformats.org/officeDocument/2006/relationships/slideLayout" Target="../slideLayouts/slideLayout6.xml"/></Relationships>
</file>

<file path=ppt/slides/_rels/slide140.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97.xml"/><Relationship Id="rId1" Type="http://schemas.openxmlformats.org/officeDocument/2006/relationships/slideLayout" Target="../slideLayouts/slideLayout6.xml"/></Relationships>
</file>

<file path=ppt/slides/_rels/slide141.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98.xml"/><Relationship Id="rId1" Type="http://schemas.openxmlformats.org/officeDocument/2006/relationships/slideLayout" Target="../slideLayouts/slideLayout6.xml"/></Relationships>
</file>

<file path=ppt/slides/_rels/slide142.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99.xml"/><Relationship Id="rId1" Type="http://schemas.openxmlformats.org/officeDocument/2006/relationships/slideLayout" Target="../slideLayouts/slideLayout6.xml"/></Relationships>
</file>

<file path=ppt/slides/_rels/slide143.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100.xml"/><Relationship Id="rId1" Type="http://schemas.openxmlformats.org/officeDocument/2006/relationships/slideLayout" Target="../slideLayouts/slideLayout6.xml"/></Relationships>
</file>

<file path=ppt/slides/_rels/slide144.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101.xml"/><Relationship Id="rId1" Type="http://schemas.openxmlformats.org/officeDocument/2006/relationships/slideLayout" Target="../slideLayouts/slideLayout6.xml"/></Relationships>
</file>

<file path=ppt/slides/_rels/slide145.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102.xml"/><Relationship Id="rId1" Type="http://schemas.openxmlformats.org/officeDocument/2006/relationships/slideLayout" Target="../slideLayouts/slideLayout6.xml"/></Relationships>
</file>

<file path=ppt/slides/_rels/slide146.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103.xml"/><Relationship Id="rId1" Type="http://schemas.openxmlformats.org/officeDocument/2006/relationships/slideLayout" Target="../slideLayouts/slideLayout6.xml"/></Relationships>
</file>

<file path=ppt/slides/_rels/slide147.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104.xml"/><Relationship Id="rId1" Type="http://schemas.openxmlformats.org/officeDocument/2006/relationships/slideLayout" Target="../slideLayouts/slideLayout6.xml"/></Relationships>
</file>

<file path=ppt/slides/_rels/slide148.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105.xml"/><Relationship Id="rId1" Type="http://schemas.openxmlformats.org/officeDocument/2006/relationships/slideLayout" Target="../slideLayouts/slideLayout6.xml"/></Relationships>
</file>

<file path=ppt/slides/_rels/slide149.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10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Grp="1" noChangeArrowheads="1"/>
          </p:cNvSpPr>
          <p:nvPr>
            <p:ph type="ctrTitle"/>
          </p:nvPr>
        </p:nvSpPr>
        <p:spPr/>
        <p:txBody>
          <a:bodyPr/>
          <a:lstStyle/>
          <a:p>
            <a:r>
              <a:rPr lang="zh-CN" altLang="en-US" smtClean="0"/>
              <a:t>向量处理</a:t>
            </a:r>
            <a:endParaRPr lang="zh-CN" altLang="en-US"/>
          </a:p>
        </p:txBody>
      </p:sp>
      <p:sp>
        <p:nvSpPr>
          <p:cNvPr id="4101" name="Rectangle 5"/>
          <p:cNvSpPr>
            <a:spLocks noGrp="1" noChangeArrowheads="1"/>
          </p:cNvSpPr>
          <p:nvPr>
            <p:ph type="subTitle" idx="1"/>
          </p:nvPr>
        </p:nvSpPr>
        <p:spPr/>
        <p:txBody>
          <a:bodyPr/>
          <a:lstStyle/>
          <a:p>
            <a:r>
              <a:rPr lang="zh-CN" altLang="en-US" smtClean="0"/>
              <a:t>向量的概念</a:t>
            </a:r>
          </a:p>
          <a:p>
            <a:r>
              <a:rPr lang="zh-CN" altLang="en-US" smtClean="0"/>
              <a:t>流水线向量处理机</a:t>
            </a:r>
          </a:p>
          <a:p>
            <a:r>
              <a:rPr lang="zh-CN" altLang="en-US" smtClean="0"/>
              <a:t>向量化方法</a:t>
            </a:r>
          </a:p>
          <a:p>
            <a:r>
              <a:rPr lang="zh-CN" altLang="en-US" smtClean="0"/>
              <a:t>向量处理机的设计</a:t>
            </a:r>
            <a:endParaRPr lang="zh-CN" altLang="en-US"/>
          </a:p>
        </p:txBody>
      </p:sp>
    </p:spTree>
    <p:extLst>
      <p:ext uri="{BB962C8B-B14F-4D97-AF65-F5344CB8AC3E}">
        <p14:creationId xmlns:p14="http://schemas.microsoft.com/office/powerpoint/2010/main" val="2475954104"/>
      </p:ext>
    </p:extLst>
  </p:cSld>
  <p:clrMapOvr>
    <a:masterClrMapping/>
  </p:clrMapOvr>
  <p:transition>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Introduction</a:t>
            </a:r>
            <a:endParaRPr lang="en-AU" dirty="0"/>
          </a:p>
        </p:txBody>
      </p:sp>
      <p:sp>
        <p:nvSpPr>
          <p:cNvPr id="242691" name="Rectangle 3"/>
          <p:cNvSpPr>
            <a:spLocks noGrp="1" noChangeArrowheads="1"/>
          </p:cNvSpPr>
          <p:nvPr>
            <p:ph type="body" idx="1"/>
          </p:nvPr>
        </p:nvSpPr>
        <p:spPr>
          <a:xfrm>
            <a:off x="838200" y="1556792"/>
            <a:ext cx="11090448" cy="5112568"/>
          </a:xfrm>
        </p:spPr>
        <p:txBody>
          <a:bodyPr/>
          <a:lstStyle/>
          <a:p>
            <a:pPr>
              <a:lnSpc>
                <a:spcPct val="90000"/>
              </a:lnSpc>
            </a:pPr>
            <a:r>
              <a:rPr lang="en-US" dirty="0" smtClean="0"/>
              <a:t>SIMD architectures can exploit significant data-level parallelism for:</a:t>
            </a:r>
          </a:p>
          <a:p>
            <a:pPr lvl="1">
              <a:lnSpc>
                <a:spcPct val="90000"/>
              </a:lnSpc>
            </a:pPr>
            <a:r>
              <a:rPr lang="en-US" dirty="0" smtClean="0"/>
              <a:t>Matrix-oriented scientific computing</a:t>
            </a:r>
          </a:p>
          <a:p>
            <a:pPr lvl="1">
              <a:lnSpc>
                <a:spcPct val="90000"/>
              </a:lnSpc>
            </a:pPr>
            <a:r>
              <a:rPr lang="en-US" dirty="0"/>
              <a:t>M</a:t>
            </a:r>
            <a:r>
              <a:rPr lang="en-US" dirty="0" smtClean="0"/>
              <a:t>edia-oriented image and sound processors</a:t>
            </a:r>
          </a:p>
          <a:p>
            <a:pPr>
              <a:lnSpc>
                <a:spcPct val="90000"/>
              </a:lnSpc>
            </a:pPr>
            <a:r>
              <a:rPr lang="en-US" dirty="0" smtClean="0"/>
              <a:t>SIMD is more energy efficient than MIMD</a:t>
            </a:r>
          </a:p>
          <a:p>
            <a:pPr lvl="1">
              <a:lnSpc>
                <a:spcPct val="90000"/>
              </a:lnSpc>
            </a:pPr>
            <a:r>
              <a:rPr lang="en-US" dirty="0" smtClean="0"/>
              <a:t>Only needs to fetch one instruction per data operation</a:t>
            </a:r>
          </a:p>
          <a:p>
            <a:pPr lvl="1">
              <a:lnSpc>
                <a:spcPct val="90000"/>
              </a:lnSpc>
            </a:pPr>
            <a:r>
              <a:rPr lang="en-US" dirty="0" smtClean="0"/>
              <a:t>Makes SIMD attractive for personal mobile devices</a:t>
            </a:r>
          </a:p>
          <a:p>
            <a:pPr>
              <a:lnSpc>
                <a:spcPct val="90000"/>
              </a:lnSpc>
            </a:pPr>
            <a:r>
              <a:rPr lang="en-US" dirty="0" smtClean="0"/>
              <a:t>SIMD allows programmer to continue to think sequentially</a:t>
            </a:r>
          </a:p>
          <a:p>
            <a:pPr lvl="1"/>
            <a:r>
              <a:rPr lang="en-US" altLang="zh-CN" dirty="0"/>
              <a:t>Vector </a:t>
            </a:r>
            <a:r>
              <a:rPr lang="en-US" altLang="zh-CN" dirty="0" smtClean="0"/>
              <a:t>architectures, SIMD extensions, Graphics </a:t>
            </a:r>
            <a:r>
              <a:rPr lang="en-US" altLang="zh-CN" dirty="0"/>
              <a:t>Processor Units (GPUs)</a:t>
            </a:r>
          </a:p>
          <a:p>
            <a:r>
              <a:rPr lang="en-US" altLang="zh-CN" dirty="0" smtClean="0"/>
              <a:t>For </a:t>
            </a:r>
            <a:r>
              <a:rPr lang="en-US" altLang="zh-CN" dirty="0"/>
              <a:t>x86 processors:</a:t>
            </a:r>
          </a:p>
          <a:p>
            <a:pPr lvl="1"/>
            <a:r>
              <a:rPr lang="en-US" altLang="zh-CN" dirty="0"/>
              <a:t>Expect two additional cores per chip per year</a:t>
            </a:r>
          </a:p>
          <a:p>
            <a:pPr lvl="1"/>
            <a:r>
              <a:rPr lang="en-US" altLang="zh-CN" dirty="0"/>
              <a:t>SIMD width to double every four years</a:t>
            </a:r>
          </a:p>
          <a:p>
            <a:pPr lvl="1"/>
            <a:r>
              <a:rPr lang="en-US" altLang="zh-CN" dirty="0"/>
              <a:t>Potential speedup from SIMD to be twice that from MIMD!</a:t>
            </a:r>
          </a:p>
          <a:p>
            <a:pPr>
              <a:lnSpc>
                <a:spcPct val="90000"/>
              </a:lnSpc>
            </a:pPr>
            <a:endParaRPr lang="en-US" dirty="0" smtClean="0"/>
          </a:p>
        </p:txBody>
      </p:sp>
      <p:sp>
        <p:nvSpPr>
          <p:cNvPr id="242693" name="Text Box 5"/>
          <p:cNvSpPr txBox="1">
            <a:spLocks noChangeArrowheads="1"/>
          </p:cNvSpPr>
          <p:nvPr/>
        </p:nvSpPr>
        <p:spPr bwMode="auto">
          <a:xfrm rot="5400000">
            <a:off x="9789582" y="507395"/>
            <a:ext cx="1390124" cy="369332"/>
          </a:xfrm>
          <a:prstGeom prst="rect">
            <a:avLst/>
          </a:prstGeom>
          <a:solidFill>
            <a:srgbClr val="C0C0C0"/>
          </a:solidFill>
          <a:ln w="9525">
            <a:noFill/>
            <a:miter lim="800000"/>
            <a:headEnd/>
            <a:tailEnd/>
          </a:ln>
          <a:effectLst/>
        </p:spPr>
        <p:txBody>
          <a:bodyPr wrap="none">
            <a:spAutoFit/>
          </a:bodyPr>
          <a:lstStyle/>
          <a:p>
            <a:pPr eaLnBrk="0" hangingPunct="0">
              <a:spcBef>
                <a:spcPct val="0"/>
              </a:spcBef>
              <a:buClrTx/>
              <a:buSzTx/>
              <a:buFontTx/>
              <a:buNone/>
            </a:pPr>
            <a:r>
              <a:rPr lang="en-US" dirty="0">
                <a:solidFill>
                  <a:srgbClr val="0066FF"/>
                </a:solidFill>
                <a:latin typeface="Arial" charset="0"/>
              </a:rPr>
              <a:t>Introduction</a:t>
            </a:r>
          </a:p>
        </p:txBody>
      </p:sp>
    </p:spTree>
    <p:extLst>
      <p:ext uri="{BB962C8B-B14F-4D97-AF65-F5344CB8AC3E}">
        <p14:creationId xmlns:p14="http://schemas.microsoft.com/office/powerpoint/2010/main" val="158220385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zh-CN" dirty="0"/>
              <a:t>Problems with conventional </a:t>
            </a:r>
            <a:r>
              <a:rPr lang="en-US" altLang="zh-CN" dirty="0" smtClean="0"/>
              <a:t>ILP approach</a:t>
            </a:r>
            <a:endParaRPr lang="en-US" altLang="zh-CN" dirty="0"/>
          </a:p>
        </p:txBody>
      </p:sp>
      <p:sp>
        <p:nvSpPr>
          <p:cNvPr id="7171" name="Rectangle 3"/>
          <p:cNvSpPr>
            <a:spLocks noGrp="1" noChangeArrowheads="1"/>
          </p:cNvSpPr>
          <p:nvPr>
            <p:ph type="body" idx="1"/>
          </p:nvPr>
        </p:nvSpPr>
        <p:spPr>
          <a:xfrm>
            <a:off x="838200" y="1556792"/>
            <a:ext cx="10874424" cy="5112568"/>
          </a:xfrm>
        </p:spPr>
        <p:txBody>
          <a:bodyPr/>
          <a:lstStyle/>
          <a:p>
            <a:r>
              <a:rPr lang="en-US" altLang="zh-CN" dirty="0" smtClean="0"/>
              <a:t>High speed execution based on instruction level parallelism (ILP)</a:t>
            </a:r>
          </a:p>
          <a:p>
            <a:pPr lvl="1"/>
            <a:r>
              <a:rPr lang="en-US" altLang="zh-CN" dirty="0"/>
              <a:t>P</a:t>
            </a:r>
            <a:r>
              <a:rPr lang="en-US" altLang="zh-CN" dirty="0" smtClean="0"/>
              <a:t>otential of short instruction sequences to execute in parallel</a:t>
            </a:r>
          </a:p>
          <a:p>
            <a:r>
              <a:rPr lang="en-US" altLang="zh-CN" dirty="0"/>
              <a:t>Limits to conventional exploitation of ILP:</a:t>
            </a:r>
          </a:p>
          <a:p>
            <a:pPr marL="514350" indent="-514350">
              <a:lnSpc>
                <a:spcPct val="100000"/>
              </a:lnSpc>
              <a:buFont typeface="+mj-lt"/>
              <a:buAutoNum type="arabicPeriod"/>
            </a:pPr>
            <a:r>
              <a:rPr lang="en-US" altLang="zh-CN" dirty="0"/>
              <a:t>pipelined clock rate: at some point, each increase in clock rate has corresponding CPI increase (branches, other hazards)</a:t>
            </a:r>
          </a:p>
          <a:p>
            <a:pPr marL="514350" indent="-514350">
              <a:lnSpc>
                <a:spcPct val="100000"/>
              </a:lnSpc>
              <a:buFont typeface="+mj-lt"/>
              <a:buAutoNum type="arabicPeriod"/>
            </a:pPr>
            <a:r>
              <a:rPr lang="en-US" altLang="zh-CN" dirty="0"/>
              <a:t>instruction fetch and decode: at some point, its hard to fetch and decode more instructions per clock cycle</a:t>
            </a:r>
          </a:p>
          <a:p>
            <a:pPr marL="514350" indent="-514350">
              <a:lnSpc>
                <a:spcPct val="100000"/>
              </a:lnSpc>
              <a:buFont typeface="+mj-lt"/>
              <a:buAutoNum type="arabicPeriod"/>
            </a:pPr>
            <a:r>
              <a:rPr lang="en-US" altLang="zh-CN" dirty="0"/>
              <a:t>cache hit rate: some long-running (scientific) programs have very large data sets accessed with poor locality; </a:t>
            </a:r>
            <a:br>
              <a:rPr lang="en-US" altLang="zh-CN" dirty="0"/>
            </a:br>
            <a:r>
              <a:rPr lang="en-US" altLang="zh-CN" dirty="0"/>
              <a:t>others have continuous data streams (multimedia) and hence poor locality</a:t>
            </a:r>
          </a:p>
          <a:p>
            <a:endParaRPr lang="en-US" altLang="zh-CN" dirty="0" smtClean="0"/>
          </a:p>
        </p:txBody>
      </p:sp>
    </p:spTree>
    <p:extLst>
      <p:ext uri="{BB962C8B-B14F-4D97-AF65-F5344CB8AC3E}">
        <p14:creationId xmlns:p14="http://schemas.microsoft.com/office/powerpoint/2010/main" val="1696860519"/>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09" name="Rectangle 93"/>
          <p:cNvSpPr>
            <a:spLocks noGrp="1" noChangeArrowheads="1"/>
          </p:cNvSpPr>
          <p:nvPr>
            <p:ph type="body" idx="1"/>
          </p:nvPr>
        </p:nvSpPr>
        <p:spPr>
          <a:xfrm>
            <a:off x="263352" y="1556792"/>
            <a:ext cx="5869855" cy="5112568"/>
          </a:xfrm>
        </p:spPr>
        <p:txBody>
          <a:bodyPr/>
          <a:lstStyle/>
          <a:p>
            <a:r>
              <a:rPr lang="en-US" altLang="zh-CN" dirty="0" smtClean="0"/>
              <a:t>Vector processors have high-level operations that work on linear arrays of numbers: “vectors”</a:t>
            </a:r>
          </a:p>
          <a:p>
            <a:pPr lvl="1"/>
            <a:r>
              <a:rPr lang="en-US" altLang="zh-CN" dirty="0" smtClean="0"/>
              <a:t>A kind of new data type operated directly by instruction</a:t>
            </a:r>
          </a:p>
          <a:p>
            <a:pPr lvl="1"/>
            <a:r>
              <a:rPr lang="en-US" altLang="zh-CN" dirty="0" smtClean="0"/>
              <a:t>Traditional processors operate on single value named “scalar”</a:t>
            </a:r>
          </a:p>
          <a:p>
            <a:r>
              <a:rPr lang="en-US" altLang="zh-CN" dirty="0" smtClean="0"/>
              <a:t>Other possible data types for a collection of number</a:t>
            </a:r>
          </a:p>
          <a:p>
            <a:pPr lvl="1"/>
            <a:r>
              <a:rPr lang="en-US" altLang="zh-CN" dirty="0" smtClean="0"/>
              <a:t>Matrix: 2 dimensional</a:t>
            </a:r>
          </a:p>
          <a:p>
            <a:pPr lvl="1"/>
            <a:r>
              <a:rPr lang="en-US" altLang="zh-CN" dirty="0" smtClean="0"/>
              <a:t>Tensor: multi-dimensional</a:t>
            </a:r>
          </a:p>
          <a:p>
            <a:pPr lvl="1"/>
            <a:endParaRPr lang="en-US" altLang="zh-CN" dirty="0"/>
          </a:p>
        </p:txBody>
      </p:sp>
      <p:sp>
        <p:nvSpPr>
          <p:cNvPr id="9219" name="Rectangle 3"/>
          <p:cNvSpPr>
            <a:spLocks noGrp="1" noChangeArrowheads="1"/>
          </p:cNvSpPr>
          <p:nvPr>
            <p:ph type="title"/>
          </p:nvPr>
        </p:nvSpPr>
        <p:spPr/>
        <p:txBody>
          <a:bodyPr/>
          <a:lstStyle/>
          <a:p>
            <a:r>
              <a:rPr lang="en-US" altLang="zh-CN" dirty="0" smtClean="0"/>
              <a:t>Alternative Model: Vector Processing</a:t>
            </a:r>
            <a:endParaRPr lang="en-US" altLang="zh-CN" dirty="0"/>
          </a:p>
        </p:txBody>
      </p:sp>
      <p:grpSp>
        <p:nvGrpSpPr>
          <p:cNvPr id="9308" name="Group 92"/>
          <p:cNvGrpSpPr>
            <a:grpSpLocks/>
          </p:cNvGrpSpPr>
          <p:nvPr/>
        </p:nvGrpSpPr>
        <p:grpSpPr bwMode="auto">
          <a:xfrm>
            <a:off x="5951984" y="1844824"/>
            <a:ext cx="6079356" cy="4722490"/>
            <a:chOff x="908" y="1452"/>
            <a:chExt cx="3512" cy="2748"/>
          </a:xfrm>
        </p:grpSpPr>
        <p:sp>
          <p:nvSpPr>
            <p:cNvPr id="9220" name="Rectangle 4"/>
            <p:cNvSpPr>
              <a:spLocks noChangeArrowheads="1"/>
            </p:cNvSpPr>
            <p:nvPr/>
          </p:nvSpPr>
          <p:spPr bwMode="auto">
            <a:xfrm>
              <a:off x="908" y="1452"/>
              <a:ext cx="1563" cy="2748"/>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232" name="Group 16"/>
            <p:cNvGrpSpPr>
              <a:grpSpLocks/>
            </p:cNvGrpSpPr>
            <p:nvPr/>
          </p:nvGrpSpPr>
          <p:grpSpPr bwMode="auto">
            <a:xfrm>
              <a:off x="1363" y="2556"/>
              <a:ext cx="673" cy="958"/>
              <a:chOff x="1363" y="2556"/>
              <a:chExt cx="673" cy="958"/>
            </a:xfrm>
          </p:grpSpPr>
          <p:sp>
            <p:nvSpPr>
              <p:cNvPr id="9221" name="Oval 5"/>
              <p:cNvSpPr>
                <a:spLocks noChangeArrowheads="1"/>
              </p:cNvSpPr>
              <p:nvPr/>
            </p:nvSpPr>
            <p:spPr bwMode="auto">
              <a:xfrm>
                <a:off x="1616" y="2973"/>
                <a:ext cx="136" cy="136"/>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2" name="Rectangle 6"/>
              <p:cNvSpPr>
                <a:spLocks noChangeArrowheads="1"/>
              </p:cNvSpPr>
              <p:nvPr/>
            </p:nvSpPr>
            <p:spPr bwMode="auto">
              <a:xfrm>
                <a:off x="1575" y="2894"/>
                <a:ext cx="228"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a:t>+</a:t>
                </a:r>
              </a:p>
            </p:txBody>
          </p:sp>
          <p:sp>
            <p:nvSpPr>
              <p:cNvPr id="9223" name="Rectangle 7"/>
              <p:cNvSpPr>
                <a:spLocks noChangeArrowheads="1"/>
              </p:cNvSpPr>
              <p:nvPr/>
            </p:nvSpPr>
            <p:spPr bwMode="auto">
              <a:xfrm>
                <a:off x="1376" y="2589"/>
                <a:ext cx="232" cy="232"/>
              </a:xfrm>
              <a:prstGeom prst="rect">
                <a:avLst/>
              </a:prstGeom>
              <a:solidFill>
                <a:schemeClr val="accent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4" name="Rectangle 8"/>
              <p:cNvSpPr>
                <a:spLocks noChangeArrowheads="1"/>
              </p:cNvSpPr>
              <p:nvPr/>
            </p:nvSpPr>
            <p:spPr bwMode="auto">
              <a:xfrm>
                <a:off x="1760" y="2589"/>
                <a:ext cx="232" cy="232"/>
              </a:xfrm>
              <a:prstGeom prst="rect">
                <a:avLst/>
              </a:prstGeom>
              <a:solidFill>
                <a:schemeClr val="accent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5" name="Rectangle 9"/>
              <p:cNvSpPr>
                <a:spLocks noChangeArrowheads="1"/>
              </p:cNvSpPr>
              <p:nvPr/>
            </p:nvSpPr>
            <p:spPr bwMode="auto">
              <a:xfrm>
                <a:off x="1568" y="3261"/>
                <a:ext cx="232" cy="232"/>
              </a:xfrm>
              <a:prstGeom prst="rect">
                <a:avLst/>
              </a:prstGeom>
              <a:solidFill>
                <a:schemeClr val="accent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6" name="Rectangle 10"/>
              <p:cNvSpPr>
                <a:spLocks noChangeArrowheads="1"/>
              </p:cNvSpPr>
              <p:nvPr/>
            </p:nvSpPr>
            <p:spPr bwMode="auto">
              <a:xfrm>
                <a:off x="1363" y="2558"/>
                <a:ext cx="299"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a:solidFill>
                      <a:srgbClr val="009900"/>
                    </a:solidFill>
                  </a:rPr>
                  <a:t>r1</a:t>
                </a:r>
              </a:p>
            </p:txBody>
          </p:sp>
          <p:sp>
            <p:nvSpPr>
              <p:cNvPr id="9227" name="Rectangle 11"/>
              <p:cNvSpPr>
                <a:spLocks noChangeArrowheads="1"/>
              </p:cNvSpPr>
              <p:nvPr/>
            </p:nvSpPr>
            <p:spPr bwMode="auto">
              <a:xfrm>
                <a:off x="1737" y="2556"/>
                <a:ext cx="299"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a:solidFill>
                      <a:srgbClr val="009900"/>
                    </a:solidFill>
                  </a:rPr>
                  <a:t>r2</a:t>
                </a:r>
              </a:p>
            </p:txBody>
          </p:sp>
          <p:sp>
            <p:nvSpPr>
              <p:cNvPr id="9228" name="Rectangle 12"/>
              <p:cNvSpPr>
                <a:spLocks noChangeArrowheads="1"/>
              </p:cNvSpPr>
              <p:nvPr/>
            </p:nvSpPr>
            <p:spPr bwMode="auto">
              <a:xfrm>
                <a:off x="1540" y="3225"/>
                <a:ext cx="299"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a:solidFill>
                      <a:srgbClr val="009900"/>
                    </a:solidFill>
                  </a:rPr>
                  <a:t>r3</a:t>
                </a:r>
              </a:p>
            </p:txBody>
          </p:sp>
          <p:sp>
            <p:nvSpPr>
              <p:cNvPr id="9229" name="Line 13"/>
              <p:cNvSpPr>
                <a:spLocks noChangeShapeType="1"/>
              </p:cNvSpPr>
              <p:nvPr/>
            </p:nvSpPr>
            <p:spPr bwMode="auto">
              <a:xfrm>
                <a:off x="1548" y="2834"/>
                <a:ext cx="93" cy="127"/>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0" name="Line 14"/>
              <p:cNvSpPr>
                <a:spLocks noChangeShapeType="1"/>
              </p:cNvSpPr>
              <p:nvPr/>
            </p:nvSpPr>
            <p:spPr bwMode="auto">
              <a:xfrm flipH="1">
                <a:off x="1729" y="2834"/>
                <a:ext cx="105" cy="127"/>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1" name="Line 15"/>
              <p:cNvSpPr>
                <a:spLocks noChangeShapeType="1"/>
              </p:cNvSpPr>
              <p:nvPr/>
            </p:nvSpPr>
            <p:spPr bwMode="auto">
              <a:xfrm>
                <a:off x="1684" y="3122"/>
                <a:ext cx="0" cy="127"/>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233" name="Rectangle 17"/>
            <p:cNvSpPr>
              <a:spLocks noChangeArrowheads="1"/>
            </p:cNvSpPr>
            <p:nvPr/>
          </p:nvSpPr>
          <p:spPr bwMode="auto">
            <a:xfrm>
              <a:off x="1044" y="3848"/>
              <a:ext cx="1331"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a:solidFill>
                    <a:srgbClr val="009900"/>
                  </a:solidFill>
                  <a:latin typeface="Courier New" panose="02070309020205020404" pitchFamily="49" charset="0"/>
                </a:rPr>
                <a:t>add r3, r1, r2</a:t>
              </a:r>
            </a:p>
          </p:txBody>
        </p:sp>
        <p:sp>
          <p:nvSpPr>
            <p:cNvPr id="9234" name="Rectangle 18"/>
            <p:cNvSpPr>
              <a:spLocks noChangeArrowheads="1"/>
            </p:cNvSpPr>
            <p:nvPr/>
          </p:nvSpPr>
          <p:spPr bwMode="auto">
            <a:xfrm>
              <a:off x="1026" y="1574"/>
              <a:ext cx="1288" cy="52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b="1">
                  <a:solidFill>
                    <a:srgbClr val="009900"/>
                  </a:solidFill>
                </a:rPr>
                <a:t>SCALAR</a:t>
              </a:r>
            </a:p>
            <a:p>
              <a:pPr algn="ctr"/>
              <a:r>
                <a:rPr lang="en-US" altLang="zh-CN" sz="2400" b="1">
                  <a:solidFill>
                    <a:srgbClr val="009900"/>
                  </a:solidFill>
                </a:rPr>
                <a:t>(1 operation)</a:t>
              </a:r>
            </a:p>
          </p:txBody>
        </p:sp>
        <p:sp>
          <p:nvSpPr>
            <p:cNvPr id="9235" name="Rectangle 19"/>
            <p:cNvSpPr>
              <a:spLocks noChangeArrowheads="1"/>
            </p:cNvSpPr>
            <p:nvPr/>
          </p:nvSpPr>
          <p:spPr bwMode="auto">
            <a:xfrm>
              <a:off x="2697" y="1452"/>
              <a:ext cx="1723" cy="2748"/>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305" name="Group 89"/>
            <p:cNvGrpSpPr>
              <a:grpSpLocks/>
            </p:cNvGrpSpPr>
            <p:nvPr/>
          </p:nvGrpSpPr>
          <p:grpSpPr bwMode="auto">
            <a:xfrm>
              <a:off x="3131" y="2364"/>
              <a:ext cx="998" cy="1298"/>
              <a:chOff x="3131" y="2364"/>
              <a:chExt cx="998" cy="1298"/>
            </a:xfrm>
          </p:grpSpPr>
          <p:grpSp>
            <p:nvGrpSpPr>
              <p:cNvPr id="9243" name="Group 27"/>
              <p:cNvGrpSpPr>
                <a:grpSpLocks/>
              </p:cNvGrpSpPr>
              <p:nvPr/>
            </p:nvGrpSpPr>
            <p:grpSpPr bwMode="auto">
              <a:xfrm>
                <a:off x="3383" y="2364"/>
                <a:ext cx="616" cy="904"/>
                <a:chOff x="3383" y="2364"/>
                <a:chExt cx="616" cy="904"/>
              </a:xfrm>
            </p:grpSpPr>
            <p:sp>
              <p:nvSpPr>
                <p:cNvPr id="9236" name="Oval 20"/>
                <p:cNvSpPr>
                  <a:spLocks noChangeArrowheads="1"/>
                </p:cNvSpPr>
                <p:nvPr/>
              </p:nvSpPr>
              <p:spPr bwMode="auto">
                <a:xfrm>
                  <a:off x="3623" y="2748"/>
                  <a:ext cx="136" cy="136"/>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7" name="Rectangle 21"/>
                <p:cNvSpPr>
                  <a:spLocks noChangeArrowheads="1"/>
                </p:cNvSpPr>
                <p:nvPr/>
              </p:nvSpPr>
              <p:spPr bwMode="auto">
                <a:xfrm>
                  <a:off x="3383" y="2364"/>
                  <a:ext cx="232" cy="232"/>
                </a:xfrm>
                <a:prstGeom prst="rect">
                  <a:avLst/>
                </a:prstGeom>
                <a:solidFill>
                  <a:schemeClr val="accent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8" name="Rectangle 22"/>
                <p:cNvSpPr>
                  <a:spLocks noChangeArrowheads="1"/>
                </p:cNvSpPr>
                <p:nvPr/>
              </p:nvSpPr>
              <p:spPr bwMode="auto">
                <a:xfrm>
                  <a:off x="3767" y="2364"/>
                  <a:ext cx="232" cy="232"/>
                </a:xfrm>
                <a:prstGeom prst="rect">
                  <a:avLst/>
                </a:prstGeom>
                <a:solidFill>
                  <a:schemeClr val="accent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9" name="Rectangle 23"/>
                <p:cNvSpPr>
                  <a:spLocks noChangeArrowheads="1"/>
                </p:cNvSpPr>
                <p:nvPr/>
              </p:nvSpPr>
              <p:spPr bwMode="auto">
                <a:xfrm>
                  <a:off x="3575" y="3036"/>
                  <a:ext cx="232" cy="232"/>
                </a:xfrm>
                <a:prstGeom prst="rect">
                  <a:avLst/>
                </a:prstGeom>
                <a:solidFill>
                  <a:schemeClr val="accent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0" name="Line 24"/>
                <p:cNvSpPr>
                  <a:spLocks noChangeShapeType="1"/>
                </p:cNvSpPr>
                <p:nvPr/>
              </p:nvSpPr>
              <p:spPr bwMode="auto">
                <a:xfrm>
                  <a:off x="3555" y="2609"/>
                  <a:ext cx="93" cy="127"/>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1" name="Line 25"/>
                <p:cNvSpPr>
                  <a:spLocks noChangeShapeType="1"/>
                </p:cNvSpPr>
                <p:nvPr/>
              </p:nvSpPr>
              <p:spPr bwMode="auto">
                <a:xfrm flipH="1">
                  <a:off x="3736" y="2609"/>
                  <a:ext cx="105" cy="127"/>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2" name="Line 26"/>
                <p:cNvSpPr>
                  <a:spLocks noChangeShapeType="1"/>
                </p:cNvSpPr>
                <p:nvPr/>
              </p:nvSpPr>
              <p:spPr bwMode="auto">
                <a:xfrm>
                  <a:off x="3691" y="2897"/>
                  <a:ext cx="0" cy="127"/>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51" name="Group 35"/>
              <p:cNvGrpSpPr>
                <a:grpSpLocks/>
              </p:cNvGrpSpPr>
              <p:nvPr/>
            </p:nvGrpSpPr>
            <p:grpSpPr bwMode="auto">
              <a:xfrm>
                <a:off x="3358" y="2389"/>
                <a:ext cx="616" cy="904"/>
                <a:chOff x="3358" y="2389"/>
                <a:chExt cx="616" cy="904"/>
              </a:xfrm>
            </p:grpSpPr>
            <p:sp>
              <p:nvSpPr>
                <p:cNvPr id="9244" name="Oval 28"/>
                <p:cNvSpPr>
                  <a:spLocks noChangeArrowheads="1"/>
                </p:cNvSpPr>
                <p:nvPr/>
              </p:nvSpPr>
              <p:spPr bwMode="auto">
                <a:xfrm>
                  <a:off x="3598" y="2773"/>
                  <a:ext cx="136" cy="136"/>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5" name="Rectangle 29"/>
                <p:cNvSpPr>
                  <a:spLocks noChangeArrowheads="1"/>
                </p:cNvSpPr>
                <p:nvPr/>
              </p:nvSpPr>
              <p:spPr bwMode="auto">
                <a:xfrm>
                  <a:off x="3358" y="2389"/>
                  <a:ext cx="232" cy="232"/>
                </a:xfrm>
                <a:prstGeom prst="rect">
                  <a:avLst/>
                </a:prstGeom>
                <a:solidFill>
                  <a:schemeClr val="accent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6" name="Rectangle 30"/>
                <p:cNvSpPr>
                  <a:spLocks noChangeArrowheads="1"/>
                </p:cNvSpPr>
                <p:nvPr/>
              </p:nvSpPr>
              <p:spPr bwMode="auto">
                <a:xfrm>
                  <a:off x="3742" y="2389"/>
                  <a:ext cx="232" cy="232"/>
                </a:xfrm>
                <a:prstGeom prst="rect">
                  <a:avLst/>
                </a:prstGeom>
                <a:solidFill>
                  <a:schemeClr val="accent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7" name="Rectangle 31"/>
                <p:cNvSpPr>
                  <a:spLocks noChangeArrowheads="1"/>
                </p:cNvSpPr>
                <p:nvPr/>
              </p:nvSpPr>
              <p:spPr bwMode="auto">
                <a:xfrm>
                  <a:off x="3550" y="3061"/>
                  <a:ext cx="232" cy="232"/>
                </a:xfrm>
                <a:prstGeom prst="rect">
                  <a:avLst/>
                </a:prstGeom>
                <a:solidFill>
                  <a:schemeClr val="accent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8" name="Line 32"/>
                <p:cNvSpPr>
                  <a:spLocks noChangeShapeType="1"/>
                </p:cNvSpPr>
                <p:nvPr/>
              </p:nvSpPr>
              <p:spPr bwMode="auto">
                <a:xfrm>
                  <a:off x="3530" y="2634"/>
                  <a:ext cx="93" cy="127"/>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9" name="Line 33"/>
                <p:cNvSpPr>
                  <a:spLocks noChangeShapeType="1"/>
                </p:cNvSpPr>
                <p:nvPr/>
              </p:nvSpPr>
              <p:spPr bwMode="auto">
                <a:xfrm flipH="1">
                  <a:off x="3711" y="2634"/>
                  <a:ext cx="105" cy="127"/>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0" name="Line 34"/>
                <p:cNvSpPr>
                  <a:spLocks noChangeShapeType="1"/>
                </p:cNvSpPr>
                <p:nvPr/>
              </p:nvSpPr>
              <p:spPr bwMode="auto">
                <a:xfrm>
                  <a:off x="3666" y="2922"/>
                  <a:ext cx="0" cy="127"/>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59" name="Group 43"/>
              <p:cNvGrpSpPr>
                <a:grpSpLocks/>
              </p:cNvGrpSpPr>
              <p:nvPr/>
            </p:nvGrpSpPr>
            <p:grpSpPr bwMode="auto">
              <a:xfrm>
                <a:off x="3323" y="2414"/>
                <a:ext cx="616" cy="904"/>
                <a:chOff x="3323" y="2414"/>
                <a:chExt cx="616" cy="904"/>
              </a:xfrm>
            </p:grpSpPr>
            <p:sp>
              <p:nvSpPr>
                <p:cNvPr id="9252" name="Oval 36"/>
                <p:cNvSpPr>
                  <a:spLocks noChangeArrowheads="1"/>
                </p:cNvSpPr>
                <p:nvPr/>
              </p:nvSpPr>
              <p:spPr bwMode="auto">
                <a:xfrm>
                  <a:off x="3563" y="2798"/>
                  <a:ext cx="136" cy="136"/>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3" name="Rectangle 37"/>
                <p:cNvSpPr>
                  <a:spLocks noChangeArrowheads="1"/>
                </p:cNvSpPr>
                <p:nvPr/>
              </p:nvSpPr>
              <p:spPr bwMode="auto">
                <a:xfrm>
                  <a:off x="3323" y="2414"/>
                  <a:ext cx="232" cy="232"/>
                </a:xfrm>
                <a:prstGeom prst="rect">
                  <a:avLst/>
                </a:prstGeom>
                <a:solidFill>
                  <a:schemeClr val="accent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4" name="Rectangle 38"/>
                <p:cNvSpPr>
                  <a:spLocks noChangeArrowheads="1"/>
                </p:cNvSpPr>
                <p:nvPr/>
              </p:nvSpPr>
              <p:spPr bwMode="auto">
                <a:xfrm>
                  <a:off x="3707" y="2414"/>
                  <a:ext cx="232" cy="232"/>
                </a:xfrm>
                <a:prstGeom prst="rect">
                  <a:avLst/>
                </a:prstGeom>
                <a:solidFill>
                  <a:schemeClr val="accent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5" name="Rectangle 39"/>
                <p:cNvSpPr>
                  <a:spLocks noChangeArrowheads="1"/>
                </p:cNvSpPr>
                <p:nvPr/>
              </p:nvSpPr>
              <p:spPr bwMode="auto">
                <a:xfrm>
                  <a:off x="3515" y="3086"/>
                  <a:ext cx="232" cy="232"/>
                </a:xfrm>
                <a:prstGeom prst="rect">
                  <a:avLst/>
                </a:prstGeom>
                <a:solidFill>
                  <a:schemeClr val="accent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6" name="Line 40"/>
                <p:cNvSpPr>
                  <a:spLocks noChangeShapeType="1"/>
                </p:cNvSpPr>
                <p:nvPr/>
              </p:nvSpPr>
              <p:spPr bwMode="auto">
                <a:xfrm>
                  <a:off x="3495" y="2659"/>
                  <a:ext cx="93" cy="127"/>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7" name="Line 41"/>
                <p:cNvSpPr>
                  <a:spLocks noChangeShapeType="1"/>
                </p:cNvSpPr>
                <p:nvPr/>
              </p:nvSpPr>
              <p:spPr bwMode="auto">
                <a:xfrm flipH="1">
                  <a:off x="3676" y="2659"/>
                  <a:ext cx="105" cy="127"/>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8" name="Line 42"/>
                <p:cNvSpPr>
                  <a:spLocks noChangeShapeType="1"/>
                </p:cNvSpPr>
                <p:nvPr/>
              </p:nvSpPr>
              <p:spPr bwMode="auto">
                <a:xfrm>
                  <a:off x="3631" y="2947"/>
                  <a:ext cx="0" cy="127"/>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67" name="Group 51"/>
              <p:cNvGrpSpPr>
                <a:grpSpLocks/>
              </p:cNvGrpSpPr>
              <p:nvPr/>
            </p:nvGrpSpPr>
            <p:grpSpPr bwMode="auto">
              <a:xfrm>
                <a:off x="3293" y="2449"/>
                <a:ext cx="616" cy="904"/>
                <a:chOff x="3293" y="2449"/>
                <a:chExt cx="616" cy="904"/>
              </a:xfrm>
            </p:grpSpPr>
            <p:sp>
              <p:nvSpPr>
                <p:cNvPr id="9260" name="Oval 44"/>
                <p:cNvSpPr>
                  <a:spLocks noChangeArrowheads="1"/>
                </p:cNvSpPr>
                <p:nvPr/>
              </p:nvSpPr>
              <p:spPr bwMode="auto">
                <a:xfrm>
                  <a:off x="3533" y="2833"/>
                  <a:ext cx="136" cy="136"/>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1" name="Rectangle 45"/>
                <p:cNvSpPr>
                  <a:spLocks noChangeArrowheads="1"/>
                </p:cNvSpPr>
                <p:nvPr/>
              </p:nvSpPr>
              <p:spPr bwMode="auto">
                <a:xfrm>
                  <a:off x="3293" y="2449"/>
                  <a:ext cx="232" cy="232"/>
                </a:xfrm>
                <a:prstGeom prst="rect">
                  <a:avLst/>
                </a:prstGeom>
                <a:solidFill>
                  <a:schemeClr val="accent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2" name="Rectangle 46"/>
                <p:cNvSpPr>
                  <a:spLocks noChangeArrowheads="1"/>
                </p:cNvSpPr>
                <p:nvPr/>
              </p:nvSpPr>
              <p:spPr bwMode="auto">
                <a:xfrm>
                  <a:off x="3677" y="2449"/>
                  <a:ext cx="232" cy="232"/>
                </a:xfrm>
                <a:prstGeom prst="rect">
                  <a:avLst/>
                </a:prstGeom>
                <a:solidFill>
                  <a:schemeClr val="accent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3" name="Rectangle 47"/>
                <p:cNvSpPr>
                  <a:spLocks noChangeArrowheads="1"/>
                </p:cNvSpPr>
                <p:nvPr/>
              </p:nvSpPr>
              <p:spPr bwMode="auto">
                <a:xfrm>
                  <a:off x="3485" y="3121"/>
                  <a:ext cx="232" cy="232"/>
                </a:xfrm>
                <a:prstGeom prst="rect">
                  <a:avLst/>
                </a:prstGeom>
                <a:solidFill>
                  <a:schemeClr val="accent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4" name="Line 48"/>
                <p:cNvSpPr>
                  <a:spLocks noChangeShapeType="1"/>
                </p:cNvSpPr>
                <p:nvPr/>
              </p:nvSpPr>
              <p:spPr bwMode="auto">
                <a:xfrm>
                  <a:off x="3465" y="2694"/>
                  <a:ext cx="93" cy="127"/>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5" name="Line 49"/>
                <p:cNvSpPr>
                  <a:spLocks noChangeShapeType="1"/>
                </p:cNvSpPr>
                <p:nvPr/>
              </p:nvSpPr>
              <p:spPr bwMode="auto">
                <a:xfrm flipH="1">
                  <a:off x="3646" y="2694"/>
                  <a:ext cx="105" cy="127"/>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6" name="Line 50"/>
                <p:cNvSpPr>
                  <a:spLocks noChangeShapeType="1"/>
                </p:cNvSpPr>
                <p:nvPr/>
              </p:nvSpPr>
              <p:spPr bwMode="auto">
                <a:xfrm>
                  <a:off x="3601" y="2982"/>
                  <a:ext cx="0" cy="127"/>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75" name="Group 59"/>
              <p:cNvGrpSpPr>
                <a:grpSpLocks/>
              </p:cNvGrpSpPr>
              <p:nvPr/>
            </p:nvGrpSpPr>
            <p:grpSpPr bwMode="auto">
              <a:xfrm>
                <a:off x="3268" y="2479"/>
                <a:ext cx="616" cy="904"/>
                <a:chOff x="3268" y="2479"/>
                <a:chExt cx="616" cy="904"/>
              </a:xfrm>
            </p:grpSpPr>
            <p:sp>
              <p:nvSpPr>
                <p:cNvPr id="9268" name="Oval 52"/>
                <p:cNvSpPr>
                  <a:spLocks noChangeArrowheads="1"/>
                </p:cNvSpPr>
                <p:nvPr/>
              </p:nvSpPr>
              <p:spPr bwMode="auto">
                <a:xfrm>
                  <a:off x="3508" y="2863"/>
                  <a:ext cx="136" cy="136"/>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9" name="Rectangle 53"/>
                <p:cNvSpPr>
                  <a:spLocks noChangeArrowheads="1"/>
                </p:cNvSpPr>
                <p:nvPr/>
              </p:nvSpPr>
              <p:spPr bwMode="auto">
                <a:xfrm>
                  <a:off x="3268" y="2479"/>
                  <a:ext cx="232" cy="232"/>
                </a:xfrm>
                <a:prstGeom prst="rect">
                  <a:avLst/>
                </a:prstGeom>
                <a:solidFill>
                  <a:schemeClr val="accent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0" name="Rectangle 54"/>
                <p:cNvSpPr>
                  <a:spLocks noChangeArrowheads="1"/>
                </p:cNvSpPr>
                <p:nvPr/>
              </p:nvSpPr>
              <p:spPr bwMode="auto">
                <a:xfrm>
                  <a:off x="3652" y="2479"/>
                  <a:ext cx="232" cy="232"/>
                </a:xfrm>
                <a:prstGeom prst="rect">
                  <a:avLst/>
                </a:prstGeom>
                <a:solidFill>
                  <a:schemeClr val="accent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1" name="Rectangle 55"/>
                <p:cNvSpPr>
                  <a:spLocks noChangeArrowheads="1"/>
                </p:cNvSpPr>
                <p:nvPr/>
              </p:nvSpPr>
              <p:spPr bwMode="auto">
                <a:xfrm>
                  <a:off x="3460" y="3151"/>
                  <a:ext cx="232" cy="232"/>
                </a:xfrm>
                <a:prstGeom prst="rect">
                  <a:avLst/>
                </a:prstGeom>
                <a:solidFill>
                  <a:schemeClr val="accent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2" name="Line 56"/>
                <p:cNvSpPr>
                  <a:spLocks noChangeShapeType="1"/>
                </p:cNvSpPr>
                <p:nvPr/>
              </p:nvSpPr>
              <p:spPr bwMode="auto">
                <a:xfrm>
                  <a:off x="3440" y="2724"/>
                  <a:ext cx="93" cy="127"/>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3" name="Line 57"/>
                <p:cNvSpPr>
                  <a:spLocks noChangeShapeType="1"/>
                </p:cNvSpPr>
                <p:nvPr/>
              </p:nvSpPr>
              <p:spPr bwMode="auto">
                <a:xfrm flipH="1">
                  <a:off x="3621" y="2724"/>
                  <a:ext cx="105" cy="127"/>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4" name="Line 58"/>
                <p:cNvSpPr>
                  <a:spLocks noChangeShapeType="1"/>
                </p:cNvSpPr>
                <p:nvPr/>
              </p:nvSpPr>
              <p:spPr bwMode="auto">
                <a:xfrm>
                  <a:off x="3576" y="3012"/>
                  <a:ext cx="0" cy="127"/>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83" name="Group 67"/>
              <p:cNvGrpSpPr>
                <a:grpSpLocks/>
              </p:cNvGrpSpPr>
              <p:nvPr/>
            </p:nvGrpSpPr>
            <p:grpSpPr bwMode="auto">
              <a:xfrm>
                <a:off x="3233" y="2509"/>
                <a:ext cx="616" cy="904"/>
                <a:chOff x="3233" y="2509"/>
                <a:chExt cx="616" cy="904"/>
              </a:xfrm>
            </p:grpSpPr>
            <p:sp>
              <p:nvSpPr>
                <p:cNvPr id="9276" name="Oval 60"/>
                <p:cNvSpPr>
                  <a:spLocks noChangeArrowheads="1"/>
                </p:cNvSpPr>
                <p:nvPr/>
              </p:nvSpPr>
              <p:spPr bwMode="auto">
                <a:xfrm>
                  <a:off x="3473" y="2893"/>
                  <a:ext cx="136" cy="136"/>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7" name="Rectangle 61"/>
                <p:cNvSpPr>
                  <a:spLocks noChangeArrowheads="1"/>
                </p:cNvSpPr>
                <p:nvPr/>
              </p:nvSpPr>
              <p:spPr bwMode="auto">
                <a:xfrm>
                  <a:off x="3233" y="2509"/>
                  <a:ext cx="232" cy="232"/>
                </a:xfrm>
                <a:prstGeom prst="rect">
                  <a:avLst/>
                </a:prstGeom>
                <a:solidFill>
                  <a:schemeClr val="accent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8" name="Rectangle 62"/>
                <p:cNvSpPr>
                  <a:spLocks noChangeArrowheads="1"/>
                </p:cNvSpPr>
                <p:nvPr/>
              </p:nvSpPr>
              <p:spPr bwMode="auto">
                <a:xfrm>
                  <a:off x="3617" y="2509"/>
                  <a:ext cx="232" cy="232"/>
                </a:xfrm>
                <a:prstGeom prst="rect">
                  <a:avLst/>
                </a:prstGeom>
                <a:solidFill>
                  <a:schemeClr val="accent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9" name="Rectangle 63"/>
                <p:cNvSpPr>
                  <a:spLocks noChangeArrowheads="1"/>
                </p:cNvSpPr>
                <p:nvPr/>
              </p:nvSpPr>
              <p:spPr bwMode="auto">
                <a:xfrm>
                  <a:off x="3425" y="3181"/>
                  <a:ext cx="232" cy="232"/>
                </a:xfrm>
                <a:prstGeom prst="rect">
                  <a:avLst/>
                </a:prstGeom>
                <a:solidFill>
                  <a:schemeClr val="accent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0" name="Line 64"/>
                <p:cNvSpPr>
                  <a:spLocks noChangeShapeType="1"/>
                </p:cNvSpPr>
                <p:nvPr/>
              </p:nvSpPr>
              <p:spPr bwMode="auto">
                <a:xfrm>
                  <a:off x="3405" y="2754"/>
                  <a:ext cx="93" cy="127"/>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1" name="Line 65"/>
                <p:cNvSpPr>
                  <a:spLocks noChangeShapeType="1"/>
                </p:cNvSpPr>
                <p:nvPr/>
              </p:nvSpPr>
              <p:spPr bwMode="auto">
                <a:xfrm flipH="1">
                  <a:off x="3586" y="2754"/>
                  <a:ext cx="105" cy="127"/>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2" name="Line 66"/>
                <p:cNvSpPr>
                  <a:spLocks noChangeShapeType="1"/>
                </p:cNvSpPr>
                <p:nvPr/>
              </p:nvSpPr>
              <p:spPr bwMode="auto">
                <a:xfrm>
                  <a:off x="3541" y="3042"/>
                  <a:ext cx="0" cy="127"/>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91" name="Group 75"/>
              <p:cNvGrpSpPr>
                <a:grpSpLocks/>
              </p:cNvGrpSpPr>
              <p:nvPr/>
            </p:nvGrpSpPr>
            <p:grpSpPr bwMode="auto">
              <a:xfrm>
                <a:off x="3198" y="2544"/>
                <a:ext cx="616" cy="904"/>
                <a:chOff x="3198" y="2544"/>
                <a:chExt cx="616" cy="904"/>
              </a:xfrm>
            </p:grpSpPr>
            <p:sp>
              <p:nvSpPr>
                <p:cNvPr id="9284" name="Oval 68"/>
                <p:cNvSpPr>
                  <a:spLocks noChangeArrowheads="1"/>
                </p:cNvSpPr>
                <p:nvPr/>
              </p:nvSpPr>
              <p:spPr bwMode="auto">
                <a:xfrm>
                  <a:off x="3438" y="2928"/>
                  <a:ext cx="136" cy="136"/>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5" name="Rectangle 69"/>
                <p:cNvSpPr>
                  <a:spLocks noChangeArrowheads="1"/>
                </p:cNvSpPr>
                <p:nvPr/>
              </p:nvSpPr>
              <p:spPr bwMode="auto">
                <a:xfrm>
                  <a:off x="3198" y="2544"/>
                  <a:ext cx="232" cy="232"/>
                </a:xfrm>
                <a:prstGeom prst="rect">
                  <a:avLst/>
                </a:prstGeom>
                <a:solidFill>
                  <a:schemeClr val="accent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6" name="Rectangle 70"/>
                <p:cNvSpPr>
                  <a:spLocks noChangeArrowheads="1"/>
                </p:cNvSpPr>
                <p:nvPr/>
              </p:nvSpPr>
              <p:spPr bwMode="auto">
                <a:xfrm>
                  <a:off x="3582" y="2544"/>
                  <a:ext cx="232" cy="232"/>
                </a:xfrm>
                <a:prstGeom prst="rect">
                  <a:avLst/>
                </a:prstGeom>
                <a:solidFill>
                  <a:schemeClr val="accent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7" name="Rectangle 71"/>
                <p:cNvSpPr>
                  <a:spLocks noChangeArrowheads="1"/>
                </p:cNvSpPr>
                <p:nvPr/>
              </p:nvSpPr>
              <p:spPr bwMode="auto">
                <a:xfrm>
                  <a:off x="3390" y="3216"/>
                  <a:ext cx="232" cy="232"/>
                </a:xfrm>
                <a:prstGeom prst="rect">
                  <a:avLst/>
                </a:prstGeom>
                <a:solidFill>
                  <a:schemeClr val="accent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8" name="Line 72"/>
                <p:cNvSpPr>
                  <a:spLocks noChangeShapeType="1"/>
                </p:cNvSpPr>
                <p:nvPr/>
              </p:nvSpPr>
              <p:spPr bwMode="auto">
                <a:xfrm>
                  <a:off x="3370" y="2789"/>
                  <a:ext cx="93" cy="127"/>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9" name="Line 73"/>
                <p:cNvSpPr>
                  <a:spLocks noChangeShapeType="1"/>
                </p:cNvSpPr>
                <p:nvPr/>
              </p:nvSpPr>
              <p:spPr bwMode="auto">
                <a:xfrm flipH="1">
                  <a:off x="3551" y="2789"/>
                  <a:ext cx="105" cy="127"/>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0" name="Line 74"/>
                <p:cNvSpPr>
                  <a:spLocks noChangeShapeType="1"/>
                </p:cNvSpPr>
                <p:nvPr/>
              </p:nvSpPr>
              <p:spPr bwMode="auto">
                <a:xfrm>
                  <a:off x="3506" y="3077"/>
                  <a:ext cx="0" cy="127"/>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292" name="Oval 76"/>
              <p:cNvSpPr>
                <a:spLocks noChangeArrowheads="1"/>
              </p:cNvSpPr>
              <p:nvPr/>
            </p:nvSpPr>
            <p:spPr bwMode="auto">
              <a:xfrm>
                <a:off x="3399" y="2968"/>
                <a:ext cx="136" cy="136"/>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3" name="Rectangle 77"/>
              <p:cNvSpPr>
                <a:spLocks noChangeArrowheads="1"/>
              </p:cNvSpPr>
              <p:nvPr/>
            </p:nvSpPr>
            <p:spPr bwMode="auto">
              <a:xfrm>
                <a:off x="3159" y="2584"/>
                <a:ext cx="232" cy="232"/>
              </a:xfrm>
              <a:prstGeom prst="rect">
                <a:avLst/>
              </a:prstGeom>
              <a:solidFill>
                <a:schemeClr val="accent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4" name="Rectangle 78"/>
              <p:cNvSpPr>
                <a:spLocks noChangeArrowheads="1"/>
              </p:cNvSpPr>
              <p:nvPr/>
            </p:nvSpPr>
            <p:spPr bwMode="auto">
              <a:xfrm>
                <a:off x="3543" y="2584"/>
                <a:ext cx="232" cy="232"/>
              </a:xfrm>
              <a:prstGeom prst="rect">
                <a:avLst/>
              </a:prstGeom>
              <a:solidFill>
                <a:schemeClr val="accent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5" name="Rectangle 79"/>
              <p:cNvSpPr>
                <a:spLocks noChangeArrowheads="1"/>
              </p:cNvSpPr>
              <p:nvPr/>
            </p:nvSpPr>
            <p:spPr bwMode="auto">
              <a:xfrm>
                <a:off x="3351" y="3256"/>
                <a:ext cx="232" cy="232"/>
              </a:xfrm>
              <a:prstGeom prst="rect">
                <a:avLst/>
              </a:prstGeom>
              <a:solidFill>
                <a:schemeClr val="accent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6" name="Rectangle 80"/>
              <p:cNvSpPr>
                <a:spLocks noChangeArrowheads="1"/>
              </p:cNvSpPr>
              <p:nvPr/>
            </p:nvSpPr>
            <p:spPr bwMode="auto">
              <a:xfrm>
                <a:off x="3131" y="2553"/>
                <a:ext cx="331"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dirty="0">
                    <a:solidFill>
                      <a:srgbClr val="FF0000"/>
                    </a:solidFill>
                  </a:rPr>
                  <a:t>v1</a:t>
                </a:r>
              </a:p>
            </p:txBody>
          </p:sp>
          <p:sp>
            <p:nvSpPr>
              <p:cNvPr id="9297" name="Rectangle 81"/>
              <p:cNvSpPr>
                <a:spLocks noChangeArrowheads="1"/>
              </p:cNvSpPr>
              <p:nvPr/>
            </p:nvSpPr>
            <p:spPr bwMode="auto">
              <a:xfrm>
                <a:off x="3505" y="2551"/>
                <a:ext cx="331"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a:solidFill>
                      <a:srgbClr val="FF0000"/>
                    </a:solidFill>
                  </a:rPr>
                  <a:t>v2</a:t>
                </a:r>
              </a:p>
            </p:txBody>
          </p:sp>
          <p:sp>
            <p:nvSpPr>
              <p:cNvPr id="9298" name="Rectangle 82"/>
              <p:cNvSpPr>
                <a:spLocks noChangeArrowheads="1"/>
              </p:cNvSpPr>
              <p:nvPr/>
            </p:nvSpPr>
            <p:spPr bwMode="auto">
              <a:xfrm>
                <a:off x="3313" y="3225"/>
                <a:ext cx="331"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a:solidFill>
                      <a:srgbClr val="FF0000"/>
                    </a:solidFill>
                  </a:rPr>
                  <a:t>v3</a:t>
                </a:r>
              </a:p>
            </p:txBody>
          </p:sp>
          <p:sp>
            <p:nvSpPr>
              <p:cNvPr id="9299" name="Line 83"/>
              <p:cNvSpPr>
                <a:spLocks noChangeShapeType="1"/>
              </p:cNvSpPr>
              <p:nvPr/>
            </p:nvSpPr>
            <p:spPr bwMode="auto">
              <a:xfrm>
                <a:off x="3331" y="2829"/>
                <a:ext cx="93" cy="127"/>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00" name="Line 84"/>
              <p:cNvSpPr>
                <a:spLocks noChangeShapeType="1"/>
              </p:cNvSpPr>
              <p:nvPr/>
            </p:nvSpPr>
            <p:spPr bwMode="auto">
              <a:xfrm flipH="1">
                <a:off x="3512" y="2829"/>
                <a:ext cx="105" cy="127"/>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01" name="Line 85"/>
              <p:cNvSpPr>
                <a:spLocks noChangeShapeType="1"/>
              </p:cNvSpPr>
              <p:nvPr/>
            </p:nvSpPr>
            <p:spPr bwMode="auto">
              <a:xfrm>
                <a:off x="3467" y="3117"/>
                <a:ext cx="0" cy="127"/>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02" name="Rectangle 86"/>
              <p:cNvSpPr>
                <a:spLocks noChangeArrowheads="1"/>
              </p:cNvSpPr>
              <p:nvPr/>
            </p:nvSpPr>
            <p:spPr bwMode="auto">
              <a:xfrm>
                <a:off x="3355" y="2887"/>
                <a:ext cx="228"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a:t>+</a:t>
                </a:r>
              </a:p>
            </p:txBody>
          </p:sp>
          <p:sp>
            <p:nvSpPr>
              <p:cNvPr id="9303" name="Line 87"/>
              <p:cNvSpPr>
                <a:spLocks noChangeShapeType="1"/>
              </p:cNvSpPr>
              <p:nvPr/>
            </p:nvSpPr>
            <p:spPr bwMode="auto">
              <a:xfrm flipH="1">
                <a:off x="3624" y="3316"/>
                <a:ext cx="237" cy="198"/>
              </a:xfrm>
              <a:prstGeom prst="line">
                <a:avLst/>
              </a:prstGeom>
              <a:noFill/>
              <a:ln w="25400">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04" name="Rectangle 88"/>
              <p:cNvSpPr>
                <a:spLocks noChangeArrowheads="1"/>
              </p:cNvSpPr>
              <p:nvPr/>
            </p:nvSpPr>
            <p:spPr bwMode="auto">
              <a:xfrm>
                <a:off x="3724" y="3373"/>
                <a:ext cx="405"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r>
                  <a:rPr lang="en-US" altLang="zh-CN" sz="1200" b="1">
                    <a:solidFill>
                      <a:srgbClr val="FF0000"/>
                    </a:solidFill>
                  </a:rPr>
                  <a:t>vector</a:t>
                </a:r>
              </a:p>
              <a:p>
                <a:r>
                  <a:rPr lang="en-US" altLang="zh-CN" sz="1200" b="1">
                    <a:solidFill>
                      <a:srgbClr val="FF0000"/>
                    </a:solidFill>
                  </a:rPr>
                  <a:t>length</a:t>
                </a:r>
              </a:p>
            </p:txBody>
          </p:sp>
        </p:grpSp>
        <p:sp>
          <p:nvSpPr>
            <p:cNvPr id="9306" name="Rectangle 90"/>
            <p:cNvSpPr>
              <a:spLocks noChangeArrowheads="1"/>
            </p:cNvSpPr>
            <p:nvPr/>
          </p:nvSpPr>
          <p:spPr bwMode="auto">
            <a:xfrm>
              <a:off x="2780" y="3840"/>
              <a:ext cx="1591"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a:solidFill>
                    <a:srgbClr val="FF0000"/>
                  </a:solidFill>
                  <a:latin typeface="Courier New" panose="02070309020205020404" pitchFamily="49" charset="0"/>
                </a:rPr>
                <a:t>add.vv v3, v1, v2</a:t>
              </a:r>
            </a:p>
          </p:txBody>
        </p:sp>
        <p:sp>
          <p:nvSpPr>
            <p:cNvPr id="9307" name="Rectangle 91"/>
            <p:cNvSpPr>
              <a:spLocks noChangeArrowheads="1"/>
            </p:cNvSpPr>
            <p:nvPr/>
          </p:nvSpPr>
          <p:spPr bwMode="auto">
            <a:xfrm>
              <a:off x="2857" y="1574"/>
              <a:ext cx="1429" cy="52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b="1">
                  <a:solidFill>
                    <a:srgbClr val="FF0000"/>
                  </a:solidFill>
                </a:rPr>
                <a:t>VECTOR</a:t>
              </a:r>
            </a:p>
            <a:p>
              <a:pPr algn="ctr"/>
              <a:r>
                <a:rPr lang="en-US" altLang="zh-CN" sz="2400" b="1">
                  <a:solidFill>
                    <a:srgbClr val="FF0000"/>
                  </a:solidFill>
                </a:rPr>
                <a:t>(N operations)</a:t>
              </a:r>
            </a:p>
          </p:txBody>
        </p:sp>
      </p:grpSp>
    </p:spTree>
    <p:extLst>
      <p:ext uri="{BB962C8B-B14F-4D97-AF65-F5344CB8AC3E}">
        <p14:creationId xmlns:p14="http://schemas.microsoft.com/office/powerpoint/2010/main" val="2678480521"/>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zh-CN" altLang="en-US" dirty="0" smtClean="0"/>
              <a:t>超级计算机</a:t>
            </a:r>
            <a:r>
              <a:rPr lang="en-US" altLang="zh-CN" dirty="0" smtClean="0"/>
              <a:t>(Supercomputer)</a:t>
            </a:r>
            <a:endParaRPr lang="en-US" altLang="ko-KR" dirty="0" smtClean="0"/>
          </a:p>
        </p:txBody>
      </p:sp>
      <p:sp>
        <p:nvSpPr>
          <p:cNvPr id="1315843" name="Rectangle 3"/>
          <p:cNvSpPr>
            <a:spLocks noGrp="1" noChangeArrowheads="1"/>
          </p:cNvSpPr>
          <p:nvPr>
            <p:ph idx="1"/>
          </p:nvPr>
        </p:nvSpPr>
        <p:spPr/>
        <p:txBody>
          <a:bodyPr/>
          <a:lstStyle/>
          <a:p>
            <a:r>
              <a:rPr lang="zh-CN" altLang="en-US" dirty="0" smtClean="0"/>
              <a:t>向量处理技术最早来自超级计算机</a:t>
            </a:r>
            <a:endParaRPr lang="en-US" altLang="zh-CN" dirty="0" smtClean="0"/>
          </a:p>
          <a:p>
            <a:r>
              <a:rPr lang="en-US" altLang="ko-KR" dirty="0" smtClean="0"/>
              <a:t>Supercomputer</a:t>
            </a:r>
            <a:r>
              <a:rPr lang="zh-CN" altLang="en-US" dirty="0" smtClean="0"/>
              <a:t>的经典定义</a:t>
            </a:r>
            <a:endParaRPr lang="en-US" altLang="ko-KR" dirty="0" smtClean="0"/>
          </a:p>
          <a:p>
            <a:pPr lvl="1"/>
            <a:r>
              <a:rPr lang="en-US" altLang="ko-KR" dirty="0" smtClean="0"/>
              <a:t>Fastest machine in world at given time</a:t>
            </a:r>
          </a:p>
          <a:p>
            <a:pPr lvl="1"/>
            <a:r>
              <a:rPr lang="en-US" altLang="ko-KR" dirty="0" smtClean="0"/>
              <a:t>A device to turn a compute-bound problem into an I/O bound problem </a:t>
            </a:r>
          </a:p>
          <a:p>
            <a:pPr lvl="1"/>
            <a:r>
              <a:rPr lang="en-US" altLang="ko-KR" dirty="0" smtClean="0"/>
              <a:t>Any machine costing $30M+</a:t>
            </a:r>
          </a:p>
          <a:p>
            <a:pPr lvl="1"/>
            <a:r>
              <a:rPr lang="en-US" altLang="ko-KR" dirty="0" smtClean="0"/>
              <a:t>Any machine designed by Seymour Cray</a:t>
            </a:r>
          </a:p>
          <a:p>
            <a:r>
              <a:rPr lang="en-US" altLang="ko-KR" dirty="0" smtClean="0"/>
              <a:t>CDC6600 (Cray, 1964) </a:t>
            </a:r>
            <a:r>
              <a:rPr lang="zh-CN" altLang="en-US" dirty="0" smtClean="0"/>
              <a:t>被认为是最早的超级计算机</a:t>
            </a:r>
            <a:endParaRPr lang="en-US" altLang="ko-KR" dirty="0" smtClean="0"/>
          </a:p>
        </p:txBody>
      </p:sp>
    </p:spTree>
    <p:extLst>
      <p:ext uri="{BB962C8B-B14F-4D97-AF65-F5344CB8AC3E}">
        <p14:creationId xmlns:p14="http://schemas.microsoft.com/office/powerpoint/2010/main" val="2171452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158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31584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131584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131584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131584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131584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31584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5843"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ltLang="zh-CN" smtClean="0"/>
              <a:t>CDC 6600 Seymour Cray, 1963</a:t>
            </a:r>
          </a:p>
        </p:txBody>
      </p:sp>
      <p:sp>
        <p:nvSpPr>
          <p:cNvPr id="16387" name="Rectangle 3"/>
          <p:cNvSpPr>
            <a:spLocks noGrp="1" noChangeArrowheads="1"/>
          </p:cNvSpPr>
          <p:nvPr>
            <p:ph idx="1"/>
          </p:nvPr>
        </p:nvSpPr>
        <p:spPr>
          <a:xfrm>
            <a:off x="3719736" y="1633066"/>
            <a:ext cx="8064896" cy="4424834"/>
          </a:xfrm>
        </p:spPr>
        <p:txBody>
          <a:bodyPr/>
          <a:lstStyle/>
          <a:p>
            <a:r>
              <a:rPr lang="en-US" altLang="zh-CN" sz="2000" dirty="0"/>
              <a:t>A fast pipelined machine with 60-bit words</a:t>
            </a:r>
          </a:p>
          <a:p>
            <a:pPr lvl="1"/>
            <a:r>
              <a:rPr lang="en-US" altLang="zh-CN" sz="1800" dirty="0"/>
              <a:t>128 </a:t>
            </a:r>
            <a:r>
              <a:rPr lang="en-US" altLang="zh-CN" sz="1800" dirty="0" err="1"/>
              <a:t>Kword</a:t>
            </a:r>
            <a:r>
              <a:rPr lang="en-US" altLang="zh-CN" sz="1800" dirty="0"/>
              <a:t> main memory capacity, 32 banks</a:t>
            </a:r>
          </a:p>
          <a:p>
            <a:r>
              <a:rPr lang="en-US" altLang="zh-CN" sz="2000" dirty="0"/>
              <a:t>Ten functional units (parallel, </a:t>
            </a:r>
            <a:r>
              <a:rPr lang="en-US" altLang="zh-CN" sz="2000" dirty="0" err="1"/>
              <a:t>unpipelined</a:t>
            </a:r>
            <a:r>
              <a:rPr lang="en-US" altLang="zh-CN" sz="2000" dirty="0"/>
              <a:t>)</a:t>
            </a:r>
          </a:p>
          <a:p>
            <a:pPr lvl="1"/>
            <a:r>
              <a:rPr lang="en-US" altLang="zh-CN" sz="1800" dirty="0"/>
              <a:t>Floating Point: adder, 2 multipliers, divider</a:t>
            </a:r>
          </a:p>
          <a:p>
            <a:pPr lvl="1"/>
            <a:r>
              <a:rPr lang="en-US" altLang="zh-CN" sz="1800" dirty="0"/>
              <a:t>Integer: adder, 2 </a:t>
            </a:r>
            <a:r>
              <a:rPr lang="en-US" altLang="zh-CN" sz="1800" dirty="0" err="1"/>
              <a:t>incrementers</a:t>
            </a:r>
            <a:r>
              <a:rPr lang="en-US" altLang="zh-CN" sz="1800" dirty="0"/>
              <a:t>, ...</a:t>
            </a:r>
          </a:p>
          <a:p>
            <a:r>
              <a:rPr lang="en-US" altLang="zh-CN" sz="2000" dirty="0"/>
              <a:t>Hardwired control (no </a:t>
            </a:r>
            <a:r>
              <a:rPr lang="en-US" altLang="zh-CN" sz="2000" dirty="0" err="1"/>
              <a:t>microcoding</a:t>
            </a:r>
            <a:r>
              <a:rPr lang="en-US" altLang="zh-CN" sz="2000" dirty="0"/>
              <a:t>)</a:t>
            </a:r>
          </a:p>
          <a:p>
            <a:r>
              <a:rPr lang="en-US" altLang="zh-CN" sz="2000" dirty="0"/>
              <a:t>Scoreboard for dynamic scheduling of instructions </a:t>
            </a:r>
          </a:p>
          <a:p>
            <a:r>
              <a:rPr lang="en-US" altLang="zh-CN" sz="2000" dirty="0"/>
              <a:t>Ten Peripheral Processors for </a:t>
            </a:r>
            <a:r>
              <a:rPr lang="en-US" altLang="zh-CN" sz="2000" dirty="0" err="1"/>
              <a:t>Input/Output</a:t>
            </a:r>
            <a:endParaRPr lang="en-US" altLang="zh-CN" sz="2000" dirty="0"/>
          </a:p>
          <a:p>
            <a:pPr lvl="1"/>
            <a:r>
              <a:rPr lang="en-US" altLang="zh-CN" sz="1800" dirty="0"/>
              <a:t>a fast multi-threaded 12-bit integer ALU</a:t>
            </a:r>
          </a:p>
          <a:p>
            <a:r>
              <a:rPr lang="en-US" altLang="zh-CN" sz="2000" dirty="0"/>
              <a:t>Very fast clock, 10 MHz (FP add in 4 clocks)</a:t>
            </a:r>
          </a:p>
          <a:p>
            <a:r>
              <a:rPr lang="en-US" altLang="zh-CN" sz="2000" dirty="0"/>
              <a:t>&gt;400,000 transistors,  750 sq. ft., 5 tons, 150 kW, novel </a:t>
            </a:r>
            <a:r>
              <a:rPr lang="en-US" altLang="zh-CN" sz="2000" dirty="0" err="1"/>
              <a:t>f</a:t>
            </a:r>
            <a:r>
              <a:rPr lang="en-US" altLang="zh-CN" sz="2000" dirty="0" err="1" smtClean="0"/>
              <a:t>reon</a:t>
            </a:r>
            <a:r>
              <a:rPr lang="en-US" altLang="zh-CN" sz="2000" dirty="0" smtClean="0"/>
              <a:t>-based </a:t>
            </a:r>
            <a:r>
              <a:rPr lang="en-US" altLang="zh-CN" sz="2000" dirty="0"/>
              <a:t>technology for cooling</a:t>
            </a:r>
          </a:p>
          <a:p>
            <a:r>
              <a:rPr lang="en-US" altLang="zh-CN" sz="2000" dirty="0"/>
              <a:t>Fastest machine in world for 5 years (until 7600)</a:t>
            </a:r>
          </a:p>
          <a:p>
            <a:pPr lvl="1"/>
            <a:r>
              <a:rPr lang="en-US" altLang="zh-CN" sz="1800" dirty="0"/>
              <a:t>over 100 sold ($7-10M each)</a:t>
            </a:r>
          </a:p>
        </p:txBody>
      </p:sp>
      <p:pic>
        <p:nvPicPr>
          <p:cNvPr id="16388" name="Picture 4" descr="cdc"/>
          <p:cNvPicPr>
            <a:picLocks noChangeAspect="1" noChangeArrowheads="1"/>
          </p:cNvPicPr>
          <p:nvPr/>
        </p:nvPicPr>
        <p:blipFill>
          <a:blip r:embed="rId3" cstate="print"/>
          <a:srcRect/>
          <a:stretch>
            <a:fillRect/>
          </a:stretch>
        </p:blipFill>
        <p:spPr bwMode="auto">
          <a:xfrm>
            <a:off x="623392" y="1633066"/>
            <a:ext cx="2776538" cy="2087563"/>
          </a:xfrm>
          <a:prstGeom prst="rect">
            <a:avLst/>
          </a:prstGeom>
          <a:noFill/>
          <a:ln w="9525">
            <a:noFill/>
            <a:miter lim="800000"/>
            <a:headEnd/>
            <a:tailEnd/>
          </a:ln>
        </p:spPr>
      </p:pic>
      <p:pic>
        <p:nvPicPr>
          <p:cNvPr id="16389" name="Picture 5" descr="cdc6600"/>
          <p:cNvPicPr>
            <a:picLocks noChangeAspect="1" noChangeArrowheads="1"/>
          </p:cNvPicPr>
          <p:nvPr/>
        </p:nvPicPr>
        <p:blipFill>
          <a:blip r:embed="rId4" cstate="print"/>
          <a:srcRect/>
          <a:stretch>
            <a:fillRect/>
          </a:stretch>
        </p:blipFill>
        <p:spPr bwMode="auto">
          <a:xfrm>
            <a:off x="479376" y="3933056"/>
            <a:ext cx="2771775" cy="2843212"/>
          </a:xfrm>
          <a:prstGeom prst="rect">
            <a:avLst/>
          </a:prstGeom>
          <a:noFill/>
          <a:ln w="9525">
            <a:noFill/>
            <a:miter lim="800000"/>
            <a:headEnd/>
            <a:tailEnd/>
          </a:ln>
        </p:spPr>
      </p:pic>
    </p:spTree>
    <p:extLst>
      <p:ext uri="{BB962C8B-B14F-4D97-AF65-F5344CB8AC3E}">
        <p14:creationId xmlns:p14="http://schemas.microsoft.com/office/powerpoint/2010/main" val="303399565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0"/>
          <p:cNvSpPr>
            <a:spLocks noGrp="1" noChangeArrowheads="1"/>
          </p:cNvSpPr>
          <p:nvPr>
            <p:ph type="title"/>
          </p:nvPr>
        </p:nvSpPr>
        <p:spPr>
          <a:xfrm>
            <a:off x="1981200" y="282352"/>
            <a:ext cx="8153400" cy="914400"/>
          </a:xfrm>
        </p:spPr>
        <p:txBody>
          <a:bodyPr/>
          <a:lstStyle/>
          <a:p>
            <a:r>
              <a:rPr lang="en-US" altLang="zh-CN" dirty="0" smtClean="0"/>
              <a:t>CDC 6600: </a:t>
            </a:r>
            <a:br>
              <a:rPr lang="en-US" altLang="zh-CN" dirty="0" smtClean="0"/>
            </a:br>
            <a:r>
              <a:rPr lang="en-US" altLang="zh-CN" dirty="0" smtClean="0"/>
              <a:t>A Load/Store Architecture</a:t>
            </a:r>
          </a:p>
        </p:txBody>
      </p:sp>
      <p:sp>
        <p:nvSpPr>
          <p:cNvPr id="56323" name="Rectangle 2"/>
          <p:cNvSpPr>
            <a:spLocks noChangeArrowheads="1"/>
          </p:cNvSpPr>
          <p:nvPr/>
        </p:nvSpPr>
        <p:spPr bwMode="auto">
          <a:xfrm>
            <a:off x="1055440" y="1562248"/>
            <a:ext cx="10441160" cy="4891088"/>
          </a:xfrm>
          <a:prstGeom prst="rect">
            <a:avLst/>
          </a:prstGeom>
          <a:noFill/>
          <a:ln w="25400">
            <a:noFill/>
            <a:miter lim="800000"/>
            <a:headEnd/>
            <a:tailEnd/>
          </a:ln>
        </p:spPr>
        <p:txBody>
          <a:bodyPr wrap="square" lIns="90488" tIns="44450" rIns="90488" bIns="44450">
            <a:spAutoFit/>
          </a:bodyPr>
          <a:lstStyle/>
          <a:p>
            <a:pPr marL="230188" indent="-230188">
              <a:buFontTx/>
              <a:buChar char="•"/>
              <a:defRPr/>
            </a:pPr>
            <a:r>
              <a:rPr lang="en-US" sz="2000" dirty="0">
                <a:latin typeface="Verdana" charset="0"/>
              </a:rPr>
              <a:t>Separate instructions to manipulate three types of reg.</a:t>
            </a:r>
          </a:p>
          <a:p>
            <a:pPr marL="1828800" lvl="3" indent="-457200">
              <a:defRPr/>
            </a:pPr>
            <a:r>
              <a:rPr lang="en-US" dirty="0">
                <a:solidFill>
                  <a:srgbClr val="56127A"/>
                </a:solidFill>
                <a:latin typeface="Verdana" charset="0"/>
              </a:rPr>
              <a:t>   8	  60-bit data registers (X)</a:t>
            </a:r>
          </a:p>
          <a:p>
            <a:pPr marL="1828800" lvl="3" indent="-457200">
              <a:defRPr/>
            </a:pPr>
            <a:r>
              <a:rPr lang="en-US" dirty="0">
                <a:solidFill>
                  <a:srgbClr val="56127A"/>
                </a:solidFill>
                <a:latin typeface="Verdana" charset="0"/>
              </a:rPr>
              <a:t>   </a:t>
            </a:r>
            <a:r>
              <a:rPr lang="en-US" dirty="0" smtClean="0">
                <a:solidFill>
                  <a:srgbClr val="56127A"/>
                </a:solidFill>
                <a:latin typeface="Verdana" charset="0"/>
              </a:rPr>
              <a:t>8   </a:t>
            </a:r>
            <a:r>
              <a:rPr lang="en-US" dirty="0">
                <a:solidFill>
                  <a:srgbClr val="56127A"/>
                </a:solidFill>
                <a:latin typeface="Verdana" charset="0"/>
              </a:rPr>
              <a:t>18-bit address registers (A)</a:t>
            </a:r>
          </a:p>
          <a:p>
            <a:pPr marL="1828800" lvl="3" indent="-457200">
              <a:defRPr/>
            </a:pPr>
            <a:r>
              <a:rPr lang="en-US" dirty="0">
                <a:solidFill>
                  <a:srgbClr val="56127A"/>
                </a:solidFill>
                <a:latin typeface="Verdana" charset="0"/>
              </a:rPr>
              <a:t>   </a:t>
            </a:r>
            <a:r>
              <a:rPr lang="en-US" dirty="0" smtClean="0">
                <a:solidFill>
                  <a:srgbClr val="56127A"/>
                </a:solidFill>
                <a:latin typeface="Verdana" charset="0"/>
              </a:rPr>
              <a:t>8   </a:t>
            </a:r>
            <a:r>
              <a:rPr lang="en-US" dirty="0">
                <a:solidFill>
                  <a:srgbClr val="56127A"/>
                </a:solidFill>
                <a:latin typeface="Verdana" charset="0"/>
              </a:rPr>
              <a:t>18-bit index registers (B)</a:t>
            </a:r>
          </a:p>
          <a:p>
            <a:pPr marL="1828800" lvl="3" indent="-457200">
              <a:buFontTx/>
              <a:buAutoNum type="arabicPlain" startAt="8"/>
              <a:defRPr/>
            </a:pPr>
            <a:endParaRPr lang="en-US" dirty="0">
              <a:solidFill>
                <a:srgbClr val="56127A"/>
              </a:solidFill>
              <a:latin typeface="Verdana" charset="0"/>
            </a:endParaRPr>
          </a:p>
          <a:p>
            <a:pPr marL="173038" indent="-173038">
              <a:buFontTx/>
              <a:buChar char="•"/>
              <a:defRPr/>
            </a:pPr>
            <a:r>
              <a:rPr lang="en-US" sz="2000" dirty="0">
                <a:latin typeface="Verdana" charset="0"/>
              </a:rPr>
              <a:t>All arithmetic and logic instructions are </a:t>
            </a:r>
            <a:r>
              <a:rPr lang="en-US" sz="2000" dirty="0" err="1">
                <a:latin typeface="Verdana" charset="0"/>
              </a:rPr>
              <a:t>reg-to-reg</a:t>
            </a:r>
            <a:r>
              <a:rPr lang="en-US" sz="2000" dirty="0">
                <a:latin typeface="Verdana" charset="0"/>
              </a:rPr>
              <a:t> </a:t>
            </a:r>
          </a:p>
          <a:p>
            <a:pPr marL="457200" indent="-457200">
              <a:defRPr/>
            </a:pPr>
            <a:endParaRPr lang="en-US" sz="2000" dirty="0">
              <a:latin typeface="Verdana" charset="0"/>
            </a:endParaRPr>
          </a:p>
          <a:p>
            <a:pPr marL="457200" indent="-457200">
              <a:defRPr/>
            </a:pPr>
            <a:endParaRPr lang="en-US" sz="2000" dirty="0">
              <a:latin typeface="Verdana" charset="0"/>
            </a:endParaRPr>
          </a:p>
          <a:p>
            <a:pPr marL="457200" indent="-457200">
              <a:defRPr/>
            </a:pPr>
            <a:endParaRPr lang="en-US" sz="2000" dirty="0">
              <a:latin typeface="Verdana" charset="0"/>
            </a:endParaRPr>
          </a:p>
          <a:p>
            <a:pPr>
              <a:buFontTx/>
              <a:buChar char="•"/>
              <a:defRPr/>
            </a:pPr>
            <a:r>
              <a:rPr lang="en-US" sz="2000" dirty="0">
                <a:latin typeface="Verdana" charset="0"/>
              </a:rPr>
              <a:t>Only Load and Store instructions refer to memory!</a:t>
            </a:r>
          </a:p>
          <a:p>
            <a:pPr marL="457200" indent="-457200">
              <a:defRPr/>
            </a:pPr>
            <a:endParaRPr lang="en-US" sz="2000" dirty="0">
              <a:latin typeface="Verdana" charset="0"/>
            </a:endParaRPr>
          </a:p>
          <a:p>
            <a:pPr marL="457200" indent="-457200">
              <a:defRPr/>
            </a:pPr>
            <a:endParaRPr lang="en-US" sz="2000" dirty="0">
              <a:latin typeface="Verdana" charset="0"/>
            </a:endParaRPr>
          </a:p>
          <a:p>
            <a:pPr marL="457200" indent="-457200">
              <a:defRPr/>
            </a:pPr>
            <a:endParaRPr lang="en-US" sz="2000" dirty="0">
              <a:latin typeface="Verdana" charset="0"/>
            </a:endParaRPr>
          </a:p>
          <a:p>
            <a:pPr marL="457200" indent="-457200">
              <a:defRPr/>
            </a:pPr>
            <a:r>
              <a:rPr lang="en-US" sz="2000" dirty="0">
                <a:solidFill>
                  <a:srgbClr val="56127A"/>
                </a:solidFill>
                <a:latin typeface="Verdana" charset="0"/>
              </a:rPr>
              <a:t>	Touching address registers </a:t>
            </a:r>
            <a:r>
              <a:rPr lang="en-US" sz="2000" dirty="0" smtClean="0">
                <a:solidFill>
                  <a:srgbClr val="56127A"/>
                </a:solidFill>
                <a:latin typeface="Verdana" charset="0"/>
              </a:rPr>
              <a:t>0 </a:t>
            </a:r>
            <a:r>
              <a:rPr lang="en-US" sz="2000" dirty="0">
                <a:solidFill>
                  <a:srgbClr val="56127A"/>
                </a:solidFill>
                <a:latin typeface="Verdana" charset="0"/>
              </a:rPr>
              <a:t>to 5 initiates a load  </a:t>
            </a:r>
          </a:p>
          <a:p>
            <a:pPr marL="457200" indent="-457200">
              <a:defRPr/>
            </a:pPr>
            <a:r>
              <a:rPr lang="en-US" sz="2000" dirty="0">
                <a:solidFill>
                  <a:srgbClr val="56127A"/>
                </a:solidFill>
                <a:latin typeface="Verdana" charset="0"/>
              </a:rPr>
              <a:t>				              6 to 7 initiates a store </a:t>
            </a:r>
          </a:p>
          <a:p>
            <a:pPr marL="2286000" lvl="4" indent="-457200">
              <a:defRPr/>
            </a:pPr>
            <a:r>
              <a:rPr lang="en-US" sz="2000" dirty="0">
                <a:latin typeface="Verdana" charset="0"/>
              </a:rPr>
              <a:t>	</a:t>
            </a:r>
            <a:r>
              <a:rPr lang="en-US" sz="2000" i="1" dirty="0">
                <a:latin typeface="Verdana" charset="0"/>
              </a:rPr>
              <a:t>- very useful for vector operations</a:t>
            </a:r>
          </a:p>
        </p:txBody>
      </p:sp>
      <p:grpSp>
        <p:nvGrpSpPr>
          <p:cNvPr id="17412" name="Group 3"/>
          <p:cNvGrpSpPr>
            <a:grpSpLocks/>
          </p:cNvGrpSpPr>
          <p:nvPr/>
        </p:nvGrpSpPr>
        <p:grpSpPr bwMode="auto">
          <a:xfrm>
            <a:off x="2590800" y="3598342"/>
            <a:ext cx="6205538" cy="766762"/>
            <a:chOff x="672" y="2134"/>
            <a:chExt cx="3909" cy="483"/>
          </a:xfrm>
        </p:grpSpPr>
        <p:sp>
          <p:nvSpPr>
            <p:cNvPr id="17429" name="Rectangle 4"/>
            <p:cNvSpPr>
              <a:spLocks noChangeArrowheads="1"/>
            </p:cNvSpPr>
            <p:nvPr/>
          </p:nvSpPr>
          <p:spPr bwMode="auto">
            <a:xfrm>
              <a:off x="672" y="2134"/>
              <a:ext cx="3909" cy="483"/>
            </a:xfrm>
            <a:prstGeom prst="rect">
              <a:avLst/>
            </a:prstGeom>
            <a:noFill/>
            <a:ln w="25400">
              <a:noFill/>
              <a:miter lim="800000"/>
              <a:headEnd/>
              <a:tailEnd/>
            </a:ln>
          </p:spPr>
          <p:txBody>
            <a:bodyPr wrap="none" lIns="90488" tIns="44450" rIns="90488" bIns="44450">
              <a:spAutoFit/>
            </a:bodyPr>
            <a:lstStyle/>
            <a:p>
              <a:r>
                <a:rPr lang="en-US" altLang="zh-CN" sz="2000" dirty="0">
                  <a:solidFill>
                    <a:srgbClr val="56127A"/>
                  </a:solidFill>
                  <a:latin typeface="Verdana" pitchFamily="34" charset="0"/>
                </a:rPr>
                <a:t>opcode   </a:t>
              </a:r>
              <a:r>
                <a:rPr lang="en-US" altLang="zh-CN" sz="2000" dirty="0" err="1">
                  <a:solidFill>
                    <a:srgbClr val="56127A"/>
                  </a:solidFill>
                  <a:latin typeface="Verdana" pitchFamily="34" charset="0"/>
                </a:rPr>
                <a:t>i</a:t>
              </a:r>
              <a:r>
                <a:rPr lang="en-US" altLang="zh-CN" sz="2000" dirty="0">
                  <a:solidFill>
                    <a:srgbClr val="56127A"/>
                  </a:solidFill>
                  <a:latin typeface="Verdana" pitchFamily="34" charset="0"/>
                </a:rPr>
                <a:t>      j      k  		 </a:t>
              </a:r>
              <a:r>
                <a:rPr lang="en-US" altLang="zh-CN" sz="2000" dirty="0" err="1">
                  <a:solidFill>
                    <a:srgbClr val="56127A"/>
                  </a:solidFill>
                  <a:latin typeface="Verdana" pitchFamily="34" charset="0"/>
                </a:rPr>
                <a:t>Ri</a:t>
              </a:r>
              <a:r>
                <a:rPr lang="en-US" altLang="zh-CN" sz="2000" dirty="0">
                  <a:solidFill>
                    <a:srgbClr val="56127A"/>
                  </a:solidFill>
                  <a:latin typeface="Symbol" pitchFamily="18" charset="2"/>
                </a:rPr>
                <a:t> </a:t>
              </a:r>
              <a:r>
                <a:rPr lang="en-US" altLang="zh-CN" sz="2400" dirty="0" smtClean="0">
                  <a:solidFill>
                    <a:srgbClr val="56127A"/>
                  </a:solidFill>
                  <a:latin typeface="Symbol" pitchFamily="18" charset="2"/>
                </a:rPr>
                <a:t></a:t>
              </a:r>
              <a:r>
                <a:rPr lang="en-US" altLang="zh-CN" sz="2000" dirty="0" smtClean="0">
                  <a:solidFill>
                    <a:srgbClr val="56127A"/>
                  </a:solidFill>
                  <a:latin typeface="Symbol" pitchFamily="18" charset="2"/>
                </a:rPr>
                <a:t> </a:t>
              </a:r>
              <a:r>
                <a:rPr lang="en-US" altLang="zh-CN" sz="2000" dirty="0">
                  <a:solidFill>
                    <a:srgbClr val="56127A"/>
                  </a:solidFill>
                  <a:latin typeface="Verdana" pitchFamily="34" charset="0"/>
                </a:rPr>
                <a:t>(</a:t>
              </a:r>
              <a:r>
                <a:rPr lang="en-US" altLang="zh-CN" sz="2000" dirty="0" err="1">
                  <a:solidFill>
                    <a:srgbClr val="56127A"/>
                  </a:solidFill>
                  <a:latin typeface="Verdana" pitchFamily="34" charset="0"/>
                </a:rPr>
                <a:t>Rj</a:t>
              </a:r>
              <a:r>
                <a:rPr lang="en-US" altLang="zh-CN" sz="2000" dirty="0">
                  <a:solidFill>
                    <a:srgbClr val="56127A"/>
                  </a:solidFill>
                  <a:latin typeface="Verdana" pitchFamily="34" charset="0"/>
                </a:rPr>
                <a:t>) op (</a:t>
              </a:r>
              <a:r>
                <a:rPr lang="en-US" altLang="zh-CN" sz="2000" dirty="0" err="1">
                  <a:solidFill>
                    <a:srgbClr val="56127A"/>
                  </a:solidFill>
                  <a:latin typeface="Verdana" pitchFamily="34" charset="0"/>
                </a:rPr>
                <a:t>Rk</a:t>
              </a:r>
              <a:r>
                <a:rPr lang="en-US" altLang="zh-CN" sz="2000" dirty="0">
                  <a:solidFill>
                    <a:srgbClr val="56127A"/>
                  </a:solidFill>
                  <a:latin typeface="Verdana" pitchFamily="34" charset="0"/>
                </a:rPr>
                <a:t>)</a:t>
              </a:r>
            </a:p>
            <a:p>
              <a:pPr latinLnBrk="1"/>
              <a:endParaRPr lang="en-US" altLang="zh-CN" sz="2000" dirty="0">
                <a:latin typeface="Verdana" pitchFamily="34" charset="0"/>
              </a:endParaRPr>
            </a:p>
          </p:txBody>
        </p:sp>
        <p:grpSp>
          <p:nvGrpSpPr>
            <p:cNvPr id="17430" name="Group 5"/>
            <p:cNvGrpSpPr>
              <a:grpSpLocks/>
            </p:cNvGrpSpPr>
            <p:nvPr/>
          </p:nvGrpSpPr>
          <p:grpSpPr bwMode="auto">
            <a:xfrm>
              <a:off x="724" y="2184"/>
              <a:ext cx="1731" cy="262"/>
              <a:chOff x="724" y="2160"/>
              <a:chExt cx="1731" cy="262"/>
            </a:xfrm>
          </p:grpSpPr>
          <p:sp>
            <p:nvSpPr>
              <p:cNvPr id="17431" name="Rectangle 6"/>
              <p:cNvSpPr>
                <a:spLocks noChangeArrowheads="1"/>
              </p:cNvSpPr>
              <p:nvPr/>
            </p:nvSpPr>
            <p:spPr bwMode="auto">
              <a:xfrm>
                <a:off x="724" y="2160"/>
                <a:ext cx="1731" cy="262"/>
              </a:xfrm>
              <a:prstGeom prst="rect">
                <a:avLst/>
              </a:prstGeom>
              <a:noFill/>
              <a:ln w="25400">
                <a:solidFill>
                  <a:schemeClr val="tx1"/>
                </a:solidFill>
                <a:miter lim="800000"/>
                <a:headEnd/>
                <a:tailEnd/>
              </a:ln>
            </p:spPr>
            <p:txBody>
              <a:bodyPr wrap="none" anchor="ctr"/>
              <a:lstStyle/>
              <a:p>
                <a:endParaRPr lang="en-US" altLang="zh-CN"/>
              </a:p>
            </p:txBody>
          </p:sp>
          <p:sp>
            <p:nvSpPr>
              <p:cNvPr id="17432" name="Line 7"/>
              <p:cNvSpPr>
                <a:spLocks noChangeShapeType="1"/>
              </p:cNvSpPr>
              <p:nvPr/>
            </p:nvSpPr>
            <p:spPr bwMode="auto">
              <a:xfrm>
                <a:off x="1356" y="2168"/>
                <a:ext cx="0" cy="232"/>
              </a:xfrm>
              <a:prstGeom prst="line">
                <a:avLst/>
              </a:prstGeom>
              <a:noFill/>
              <a:ln w="25400">
                <a:solidFill>
                  <a:schemeClr val="tx1"/>
                </a:solidFill>
                <a:round/>
                <a:headEnd/>
                <a:tailEnd/>
              </a:ln>
            </p:spPr>
            <p:txBody>
              <a:bodyPr wrap="none" anchor="ctr"/>
              <a:lstStyle/>
              <a:p>
                <a:endParaRPr lang="zh-CN" altLang="en-US"/>
              </a:p>
            </p:txBody>
          </p:sp>
          <p:sp>
            <p:nvSpPr>
              <p:cNvPr id="17433" name="Line 8"/>
              <p:cNvSpPr>
                <a:spLocks noChangeShapeType="1"/>
              </p:cNvSpPr>
              <p:nvPr/>
            </p:nvSpPr>
            <p:spPr bwMode="auto">
              <a:xfrm>
                <a:off x="1684" y="2176"/>
                <a:ext cx="0" cy="232"/>
              </a:xfrm>
              <a:prstGeom prst="line">
                <a:avLst/>
              </a:prstGeom>
              <a:noFill/>
              <a:ln w="25400">
                <a:solidFill>
                  <a:schemeClr val="tx1"/>
                </a:solidFill>
                <a:round/>
                <a:headEnd/>
                <a:tailEnd/>
              </a:ln>
            </p:spPr>
            <p:txBody>
              <a:bodyPr wrap="none" anchor="ctr"/>
              <a:lstStyle/>
              <a:p>
                <a:endParaRPr lang="zh-CN" altLang="en-US"/>
              </a:p>
            </p:txBody>
          </p:sp>
          <p:sp>
            <p:nvSpPr>
              <p:cNvPr id="17434" name="Line 9"/>
              <p:cNvSpPr>
                <a:spLocks noChangeShapeType="1"/>
              </p:cNvSpPr>
              <p:nvPr/>
            </p:nvSpPr>
            <p:spPr bwMode="auto">
              <a:xfrm>
                <a:off x="2012" y="2176"/>
                <a:ext cx="0" cy="232"/>
              </a:xfrm>
              <a:prstGeom prst="line">
                <a:avLst/>
              </a:prstGeom>
              <a:noFill/>
              <a:ln w="25400">
                <a:solidFill>
                  <a:schemeClr val="tx1"/>
                </a:solidFill>
                <a:round/>
                <a:headEnd/>
                <a:tailEnd/>
              </a:ln>
            </p:spPr>
            <p:txBody>
              <a:bodyPr wrap="none" anchor="ctr"/>
              <a:lstStyle/>
              <a:p>
                <a:endParaRPr lang="zh-CN" altLang="en-US"/>
              </a:p>
            </p:txBody>
          </p:sp>
        </p:grpSp>
      </p:grpSp>
      <p:grpSp>
        <p:nvGrpSpPr>
          <p:cNvPr id="17413" name="Group 11"/>
          <p:cNvGrpSpPr>
            <a:grpSpLocks/>
          </p:cNvGrpSpPr>
          <p:nvPr/>
        </p:nvGrpSpPr>
        <p:grpSpPr bwMode="auto">
          <a:xfrm>
            <a:off x="2503488" y="4566320"/>
            <a:ext cx="8252260" cy="950912"/>
            <a:chOff x="1006734" y="3202"/>
            <a:chExt cx="8251996" cy="599"/>
          </a:xfrm>
        </p:grpSpPr>
        <p:sp>
          <p:nvSpPr>
            <p:cNvPr id="17424" name="Rectangle 12"/>
            <p:cNvSpPr>
              <a:spLocks noChangeArrowheads="1"/>
            </p:cNvSpPr>
            <p:nvPr/>
          </p:nvSpPr>
          <p:spPr bwMode="auto">
            <a:xfrm>
              <a:off x="1006734" y="3202"/>
              <a:ext cx="8251996" cy="599"/>
            </a:xfrm>
            <a:prstGeom prst="rect">
              <a:avLst/>
            </a:prstGeom>
            <a:noFill/>
            <a:ln w="25400">
              <a:noFill/>
              <a:miter lim="800000"/>
              <a:headEnd/>
              <a:tailEnd/>
            </a:ln>
          </p:spPr>
          <p:txBody>
            <a:bodyPr wrap="none" lIns="90488" tIns="44450" rIns="90488" bIns="44450">
              <a:spAutoFit/>
            </a:bodyPr>
            <a:lstStyle/>
            <a:p>
              <a:r>
                <a:rPr lang="en-US" altLang="zh-CN" dirty="0">
                  <a:latin typeface="Verdana" pitchFamily="34" charset="0"/>
                </a:rPr>
                <a:t> </a:t>
              </a:r>
            </a:p>
            <a:p>
              <a:r>
                <a:rPr lang="en-US" altLang="zh-CN" sz="2000" dirty="0">
                  <a:solidFill>
                    <a:srgbClr val="56127A"/>
                  </a:solidFill>
                  <a:latin typeface="Verdana" pitchFamily="34" charset="0"/>
                </a:rPr>
                <a:t>opcode   </a:t>
              </a:r>
              <a:r>
                <a:rPr lang="en-US" altLang="zh-CN" sz="2000" dirty="0" err="1">
                  <a:solidFill>
                    <a:srgbClr val="56127A"/>
                  </a:solidFill>
                  <a:latin typeface="Verdana" pitchFamily="34" charset="0"/>
                </a:rPr>
                <a:t>i</a:t>
              </a:r>
              <a:r>
                <a:rPr lang="en-US" altLang="zh-CN" sz="2000" dirty="0">
                  <a:solidFill>
                    <a:srgbClr val="56127A"/>
                  </a:solidFill>
                  <a:latin typeface="Verdana" pitchFamily="34" charset="0"/>
                </a:rPr>
                <a:t>     j                </a:t>
              </a:r>
              <a:r>
                <a:rPr lang="en-US" altLang="zh-CN" sz="2000" dirty="0" err="1">
                  <a:solidFill>
                    <a:srgbClr val="56127A"/>
                  </a:solidFill>
                  <a:latin typeface="Verdana" pitchFamily="34" charset="0"/>
                </a:rPr>
                <a:t>disp</a:t>
              </a:r>
              <a:r>
                <a:rPr lang="en-US" altLang="zh-CN" sz="2000" dirty="0">
                  <a:solidFill>
                    <a:srgbClr val="56127A"/>
                  </a:solidFill>
                  <a:latin typeface="Verdana" pitchFamily="34" charset="0"/>
                </a:rPr>
                <a:t>                  </a:t>
              </a:r>
              <a:r>
                <a:rPr lang="en-US" altLang="zh-CN" sz="2000" dirty="0" smtClean="0">
                  <a:solidFill>
                    <a:srgbClr val="56127A"/>
                  </a:solidFill>
                  <a:latin typeface="Verdana" pitchFamily="34" charset="0"/>
                </a:rPr>
                <a:t>  </a:t>
              </a:r>
              <a:r>
                <a:rPr lang="en-US" altLang="zh-CN" sz="2000" dirty="0" err="1" smtClean="0">
                  <a:solidFill>
                    <a:srgbClr val="56127A"/>
                  </a:solidFill>
                  <a:latin typeface="Verdana" pitchFamily="34" charset="0"/>
                </a:rPr>
                <a:t>Ri</a:t>
              </a:r>
              <a:r>
                <a:rPr lang="en-US" altLang="zh-CN" sz="2000" dirty="0" smtClean="0">
                  <a:solidFill>
                    <a:srgbClr val="56127A"/>
                  </a:solidFill>
                  <a:latin typeface="Verdana" pitchFamily="34" charset="0"/>
                </a:rPr>
                <a:t> </a:t>
              </a:r>
              <a:r>
                <a:rPr lang="en-US" altLang="zh-CN" sz="2000" dirty="0">
                  <a:solidFill>
                    <a:srgbClr val="56127A"/>
                  </a:solidFill>
                  <a:latin typeface="Symbol" pitchFamily="18" charset="2"/>
                </a:rPr>
                <a:t></a:t>
              </a:r>
              <a:r>
                <a:rPr lang="en-US" altLang="zh-CN" sz="2000" dirty="0">
                  <a:solidFill>
                    <a:srgbClr val="56127A"/>
                  </a:solidFill>
                  <a:latin typeface="Verdana" pitchFamily="34" charset="0"/>
                </a:rPr>
                <a:t>M[(</a:t>
              </a:r>
              <a:r>
                <a:rPr lang="en-US" altLang="zh-CN" sz="2000" dirty="0" err="1">
                  <a:solidFill>
                    <a:srgbClr val="56127A"/>
                  </a:solidFill>
                  <a:latin typeface="Verdana" pitchFamily="34" charset="0"/>
                </a:rPr>
                <a:t>Rj</a:t>
              </a:r>
              <a:r>
                <a:rPr lang="en-US" altLang="zh-CN" sz="2000" dirty="0">
                  <a:solidFill>
                    <a:srgbClr val="56127A"/>
                  </a:solidFill>
                  <a:latin typeface="Verdana" pitchFamily="34" charset="0"/>
                </a:rPr>
                <a:t>) + </a:t>
              </a:r>
              <a:r>
                <a:rPr lang="en-US" altLang="zh-CN" sz="2000" dirty="0" err="1">
                  <a:solidFill>
                    <a:srgbClr val="56127A"/>
                  </a:solidFill>
                  <a:latin typeface="Verdana" pitchFamily="34" charset="0"/>
                </a:rPr>
                <a:t>disp</a:t>
              </a:r>
              <a:r>
                <a:rPr lang="en-US" altLang="zh-CN" sz="2000" dirty="0">
                  <a:solidFill>
                    <a:srgbClr val="56127A"/>
                  </a:solidFill>
                  <a:latin typeface="Verdana" pitchFamily="34" charset="0"/>
                </a:rPr>
                <a:t>]</a:t>
              </a:r>
              <a:endParaRPr lang="en-US" altLang="zh-CN" dirty="0">
                <a:solidFill>
                  <a:srgbClr val="56127A"/>
                </a:solidFill>
                <a:latin typeface="Verdana" pitchFamily="34" charset="0"/>
              </a:endParaRPr>
            </a:p>
            <a:p>
              <a:pPr latinLnBrk="1"/>
              <a:endParaRPr lang="en-US" altLang="zh-CN" dirty="0">
                <a:latin typeface="Verdana" pitchFamily="34" charset="0"/>
              </a:endParaRPr>
            </a:p>
          </p:txBody>
        </p:sp>
        <p:sp>
          <p:nvSpPr>
            <p:cNvPr id="17425" name="Rectangle 13"/>
            <p:cNvSpPr>
              <a:spLocks noChangeArrowheads="1"/>
            </p:cNvSpPr>
            <p:nvPr/>
          </p:nvSpPr>
          <p:spPr bwMode="auto">
            <a:xfrm>
              <a:off x="1055688" y="3400"/>
              <a:ext cx="5353050" cy="254"/>
            </a:xfrm>
            <a:prstGeom prst="rect">
              <a:avLst/>
            </a:prstGeom>
            <a:noFill/>
            <a:ln w="25400">
              <a:solidFill>
                <a:schemeClr val="tx1"/>
              </a:solidFill>
              <a:miter lim="800000"/>
              <a:headEnd/>
              <a:tailEnd/>
            </a:ln>
          </p:spPr>
          <p:txBody>
            <a:bodyPr wrap="none" anchor="ctr"/>
            <a:lstStyle/>
            <a:p>
              <a:endParaRPr lang="en-US" altLang="zh-CN"/>
            </a:p>
          </p:txBody>
        </p:sp>
        <p:sp>
          <p:nvSpPr>
            <p:cNvPr id="17426" name="Line 14"/>
            <p:cNvSpPr>
              <a:spLocks noChangeShapeType="1"/>
            </p:cNvSpPr>
            <p:nvPr/>
          </p:nvSpPr>
          <p:spPr bwMode="auto">
            <a:xfrm>
              <a:off x="2058988" y="3408"/>
              <a:ext cx="0" cy="232"/>
            </a:xfrm>
            <a:prstGeom prst="line">
              <a:avLst/>
            </a:prstGeom>
            <a:noFill/>
            <a:ln w="25400">
              <a:solidFill>
                <a:schemeClr val="tx1"/>
              </a:solidFill>
              <a:round/>
              <a:headEnd/>
              <a:tailEnd/>
            </a:ln>
          </p:spPr>
          <p:txBody>
            <a:bodyPr wrap="none" anchor="ctr"/>
            <a:lstStyle/>
            <a:p>
              <a:endParaRPr lang="zh-CN" altLang="en-US"/>
            </a:p>
          </p:txBody>
        </p:sp>
        <p:sp>
          <p:nvSpPr>
            <p:cNvPr id="17427" name="Line 15"/>
            <p:cNvSpPr>
              <a:spLocks noChangeShapeType="1"/>
            </p:cNvSpPr>
            <p:nvPr/>
          </p:nvSpPr>
          <p:spPr bwMode="auto">
            <a:xfrm>
              <a:off x="2579688" y="3416"/>
              <a:ext cx="0" cy="232"/>
            </a:xfrm>
            <a:prstGeom prst="line">
              <a:avLst/>
            </a:prstGeom>
            <a:noFill/>
            <a:ln w="25400">
              <a:solidFill>
                <a:schemeClr val="tx1"/>
              </a:solidFill>
              <a:round/>
              <a:headEnd/>
              <a:tailEnd/>
            </a:ln>
          </p:spPr>
          <p:txBody>
            <a:bodyPr wrap="none" anchor="ctr"/>
            <a:lstStyle/>
            <a:p>
              <a:endParaRPr lang="zh-CN" altLang="en-US"/>
            </a:p>
          </p:txBody>
        </p:sp>
        <p:sp>
          <p:nvSpPr>
            <p:cNvPr id="17428" name="Line 16"/>
            <p:cNvSpPr>
              <a:spLocks noChangeShapeType="1"/>
            </p:cNvSpPr>
            <p:nvPr/>
          </p:nvSpPr>
          <p:spPr bwMode="auto">
            <a:xfrm>
              <a:off x="3227387" y="3417"/>
              <a:ext cx="0" cy="232"/>
            </a:xfrm>
            <a:prstGeom prst="line">
              <a:avLst/>
            </a:prstGeom>
            <a:noFill/>
            <a:ln w="25400">
              <a:solidFill>
                <a:schemeClr val="tx1"/>
              </a:solidFill>
              <a:round/>
              <a:headEnd/>
              <a:tailEnd/>
            </a:ln>
          </p:spPr>
          <p:txBody>
            <a:bodyPr wrap="none" anchor="ctr"/>
            <a:lstStyle/>
            <a:p>
              <a:endParaRPr lang="zh-CN" altLang="en-US"/>
            </a:p>
          </p:txBody>
        </p:sp>
      </p:grpSp>
      <p:sp>
        <p:nvSpPr>
          <p:cNvPr id="17414" name="TextBox 17"/>
          <p:cNvSpPr txBox="1">
            <a:spLocks noChangeArrowheads="1"/>
          </p:cNvSpPr>
          <p:nvPr/>
        </p:nvSpPr>
        <p:spPr bwMode="auto">
          <a:xfrm>
            <a:off x="3067050" y="3306886"/>
            <a:ext cx="312906" cy="369332"/>
          </a:xfrm>
          <a:prstGeom prst="rect">
            <a:avLst/>
          </a:prstGeom>
          <a:noFill/>
          <a:ln w="9525">
            <a:noFill/>
            <a:miter lim="800000"/>
            <a:headEnd/>
            <a:tailEnd/>
          </a:ln>
        </p:spPr>
        <p:txBody>
          <a:bodyPr wrap="none">
            <a:spAutoFit/>
          </a:bodyPr>
          <a:lstStyle/>
          <a:p>
            <a:r>
              <a:rPr lang="en-US" altLang="zh-CN" dirty="0"/>
              <a:t>6</a:t>
            </a:r>
          </a:p>
        </p:txBody>
      </p:sp>
      <p:sp>
        <p:nvSpPr>
          <p:cNvPr id="17415" name="TextBox 18"/>
          <p:cNvSpPr txBox="1">
            <a:spLocks noChangeArrowheads="1"/>
          </p:cNvSpPr>
          <p:nvPr/>
        </p:nvSpPr>
        <p:spPr bwMode="auto">
          <a:xfrm>
            <a:off x="3810000" y="3306886"/>
            <a:ext cx="312906" cy="369332"/>
          </a:xfrm>
          <a:prstGeom prst="rect">
            <a:avLst/>
          </a:prstGeom>
          <a:noFill/>
          <a:ln w="9525">
            <a:noFill/>
            <a:miter lim="800000"/>
            <a:headEnd/>
            <a:tailEnd/>
          </a:ln>
        </p:spPr>
        <p:txBody>
          <a:bodyPr wrap="none">
            <a:spAutoFit/>
          </a:bodyPr>
          <a:lstStyle/>
          <a:p>
            <a:r>
              <a:rPr lang="en-US" altLang="zh-CN" dirty="0"/>
              <a:t>3</a:t>
            </a:r>
          </a:p>
        </p:txBody>
      </p:sp>
      <p:sp>
        <p:nvSpPr>
          <p:cNvPr id="17416" name="TextBox 19"/>
          <p:cNvSpPr txBox="1">
            <a:spLocks noChangeArrowheads="1"/>
          </p:cNvSpPr>
          <p:nvPr/>
        </p:nvSpPr>
        <p:spPr bwMode="auto">
          <a:xfrm>
            <a:off x="4267200" y="3306886"/>
            <a:ext cx="312906" cy="369332"/>
          </a:xfrm>
          <a:prstGeom prst="rect">
            <a:avLst/>
          </a:prstGeom>
          <a:noFill/>
          <a:ln w="9525">
            <a:noFill/>
            <a:miter lim="800000"/>
            <a:headEnd/>
            <a:tailEnd/>
          </a:ln>
        </p:spPr>
        <p:txBody>
          <a:bodyPr wrap="none">
            <a:spAutoFit/>
          </a:bodyPr>
          <a:lstStyle/>
          <a:p>
            <a:r>
              <a:rPr lang="en-US" altLang="zh-CN" dirty="0"/>
              <a:t>3</a:t>
            </a:r>
          </a:p>
        </p:txBody>
      </p:sp>
      <p:sp>
        <p:nvSpPr>
          <p:cNvPr id="17417" name="TextBox 20"/>
          <p:cNvSpPr txBox="1">
            <a:spLocks noChangeArrowheads="1"/>
          </p:cNvSpPr>
          <p:nvPr/>
        </p:nvSpPr>
        <p:spPr bwMode="auto">
          <a:xfrm>
            <a:off x="4953000" y="3306886"/>
            <a:ext cx="312906" cy="369332"/>
          </a:xfrm>
          <a:prstGeom prst="rect">
            <a:avLst/>
          </a:prstGeom>
          <a:noFill/>
          <a:ln w="9525">
            <a:noFill/>
            <a:miter lim="800000"/>
            <a:headEnd/>
            <a:tailEnd/>
          </a:ln>
        </p:spPr>
        <p:txBody>
          <a:bodyPr wrap="none">
            <a:spAutoFit/>
          </a:bodyPr>
          <a:lstStyle/>
          <a:p>
            <a:r>
              <a:rPr lang="en-US" altLang="zh-CN"/>
              <a:t>3</a:t>
            </a:r>
          </a:p>
        </p:txBody>
      </p:sp>
      <p:sp>
        <p:nvSpPr>
          <p:cNvPr id="17418" name="TextBox 21"/>
          <p:cNvSpPr txBox="1">
            <a:spLocks noChangeArrowheads="1"/>
          </p:cNvSpPr>
          <p:nvPr/>
        </p:nvSpPr>
        <p:spPr bwMode="auto">
          <a:xfrm>
            <a:off x="2971800" y="4569496"/>
            <a:ext cx="312906" cy="369332"/>
          </a:xfrm>
          <a:prstGeom prst="rect">
            <a:avLst/>
          </a:prstGeom>
          <a:noFill/>
          <a:ln w="9525">
            <a:noFill/>
            <a:miter lim="800000"/>
            <a:headEnd/>
            <a:tailEnd/>
          </a:ln>
        </p:spPr>
        <p:txBody>
          <a:bodyPr wrap="none">
            <a:spAutoFit/>
          </a:bodyPr>
          <a:lstStyle/>
          <a:p>
            <a:r>
              <a:rPr lang="en-US" altLang="zh-CN"/>
              <a:t>6</a:t>
            </a:r>
          </a:p>
        </p:txBody>
      </p:sp>
      <p:sp>
        <p:nvSpPr>
          <p:cNvPr id="17419" name="TextBox 22"/>
          <p:cNvSpPr txBox="1">
            <a:spLocks noChangeArrowheads="1"/>
          </p:cNvSpPr>
          <p:nvPr/>
        </p:nvSpPr>
        <p:spPr bwMode="auto">
          <a:xfrm>
            <a:off x="3714750" y="4569496"/>
            <a:ext cx="312906" cy="369332"/>
          </a:xfrm>
          <a:prstGeom prst="rect">
            <a:avLst/>
          </a:prstGeom>
          <a:noFill/>
          <a:ln w="9525">
            <a:noFill/>
            <a:miter lim="800000"/>
            <a:headEnd/>
            <a:tailEnd/>
          </a:ln>
        </p:spPr>
        <p:txBody>
          <a:bodyPr wrap="none">
            <a:spAutoFit/>
          </a:bodyPr>
          <a:lstStyle/>
          <a:p>
            <a:r>
              <a:rPr lang="en-US" altLang="zh-CN"/>
              <a:t>3</a:t>
            </a:r>
          </a:p>
        </p:txBody>
      </p:sp>
      <p:sp>
        <p:nvSpPr>
          <p:cNvPr id="17420" name="TextBox 23"/>
          <p:cNvSpPr txBox="1">
            <a:spLocks noChangeArrowheads="1"/>
          </p:cNvSpPr>
          <p:nvPr/>
        </p:nvSpPr>
        <p:spPr bwMode="auto">
          <a:xfrm>
            <a:off x="4171950" y="4569496"/>
            <a:ext cx="312906" cy="369332"/>
          </a:xfrm>
          <a:prstGeom prst="rect">
            <a:avLst/>
          </a:prstGeom>
          <a:noFill/>
          <a:ln w="9525">
            <a:noFill/>
            <a:miter lim="800000"/>
            <a:headEnd/>
            <a:tailEnd/>
          </a:ln>
        </p:spPr>
        <p:txBody>
          <a:bodyPr wrap="none">
            <a:spAutoFit/>
          </a:bodyPr>
          <a:lstStyle/>
          <a:p>
            <a:r>
              <a:rPr lang="en-US" altLang="zh-CN"/>
              <a:t>3</a:t>
            </a:r>
          </a:p>
        </p:txBody>
      </p:sp>
      <p:sp>
        <p:nvSpPr>
          <p:cNvPr id="17421" name="TextBox 24"/>
          <p:cNvSpPr txBox="1">
            <a:spLocks noChangeArrowheads="1"/>
          </p:cNvSpPr>
          <p:nvPr/>
        </p:nvSpPr>
        <p:spPr bwMode="auto">
          <a:xfrm>
            <a:off x="5867400" y="4569496"/>
            <a:ext cx="441146" cy="369332"/>
          </a:xfrm>
          <a:prstGeom prst="rect">
            <a:avLst/>
          </a:prstGeom>
          <a:noFill/>
          <a:ln w="9525">
            <a:noFill/>
            <a:miter lim="800000"/>
            <a:headEnd/>
            <a:tailEnd/>
          </a:ln>
        </p:spPr>
        <p:txBody>
          <a:bodyPr wrap="none">
            <a:spAutoFit/>
          </a:bodyPr>
          <a:lstStyle/>
          <a:p>
            <a:r>
              <a:rPr lang="en-US" altLang="zh-CN"/>
              <a:t>18</a:t>
            </a:r>
          </a:p>
        </p:txBody>
      </p:sp>
    </p:spTree>
    <p:extLst>
      <p:ext uri="{BB962C8B-B14F-4D97-AF65-F5344CB8AC3E}">
        <p14:creationId xmlns:p14="http://schemas.microsoft.com/office/powerpoint/2010/main" val="842478023"/>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4"/>
          <p:cNvSpPr>
            <a:spLocks noGrp="1" noChangeArrowheads="1"/>
          </p:cNvSpPr>
          <p:nvPr>
            <p:ph type="title"/>
          </p:nvPr>
        </p:nvSpPr>
        <p:spPr/>
        <p:txBody>
          <a:bodyPr vert="horz" wrap="square" lIns="90488" tIns="44450" rIns="90488" bIns="44450" numCol="1" anchor="ctr" anchorCtr="0" compatLnSpc="1">
            <a:prstTxWarp prst="textNoShape">
              <a:avLst/>
            </a:prstTxWarp>
          </a:bodyPr>
          <a:lstStyle/>
          <a:p>
            <a:r>
              <a:rPr lang="en-US" altLang="zh-CN" smtClean="0"/>
              <a:t>CDC 6600: Datapath</a:t>
            </a:r>
          </a:p>
        </p:txBody>
      </p:sp>
      <p:sp>
        <p:nvSpPr>
          <p:cNvPr id="18435" name="Rectangle 2" descr="80%"/>
          <p:cNvSpPr>
            <a:spLocks noChangeArrowheads="1"/>
          </p:cNvSpPr>
          <p:nvPr/>
        </p:nvSpPr>
        <p:spPr bwMode="auto">
          <a:xfrm>
            <a:off x="4619625" y="5422900"/>
            <a:ext cx="787400" cy="304800"/>
          </a:xfrm>
          <a:prstGeom prst="rect">
            <a:avLst/>
          </a:prstGeom>
          <a:pattFill prst="pct80">
            <a:fgClr>
              <a:schemeClr val="accent1"/>
            </a:fgClr>
            <a:bgClr>
              <a:srgbClr val="FFFFFF"/>
            </a:bgClr>
          </a:pattFill>
          <a:ln w="25400">
            <a:noFill/>
            <a:miter lim="800000"/>
            <a:headEnd/>
            <a:tailEnd/>
          </a:ln>
        </p:spPr>
        <p:txBody>
          <a:bodyPr wrap="none" anchor="ctr"/>
          <a:lstStyle/>
          <a:p>
            <a:endParaRPr lang="en-US" altLang="zh-CN"/>
          </a:p>
        </p:txBody>
      </p:sp>
      <p:sp>
        <p:nvSpPr>
          <p:cNvPr id="18436" name="Rectangle 3" descr="80%"/>
          <p:cNvSpPr>
            <a:spLocks noChangeArrowheads="1"/>
          </p:cNvSpPr>
          <p:nvPr/>
        </p:nvSpPr>
        <p:spPr bwMode="auto">
          <a:xfrm>
            <a:off x="6373813" y="3054350"/>
            <a:ext cx="787400" cy="279400"/>
          </a:xfrm>
          <a:prstGeom prst="rect">
            <a:avLst/>
          </a:prstGeom>
          <a:pattFill prst="pct80">
            <a:fgClr>
              <a:schemeClr val="accent1"/>
            </a:fgClr>
            <a:bgClr>
              <a:srgbClr val="FFFFFF"/>
            </a:bgClr>
          </a:pattFill>
          <a:ln w="25400">
            <a:noFill/>
            <a:miter lim="800000"/>
            <a:headEnd/>
            <a:tailEnd/>
          </a:ln>
        </p:spPr>
        <p:txBody>
          <a:bodyPr wrap="none" anchor="ctr"/>
          <a:lstStyle/>
          <a:p>
            <a:endParaRPr lang="en-US" altLang="zh-CN"/>
          </a:p>
        </p:txBody>
      </p:sp>
      <p:sp>
        <p:nvSpPr>
          <p:cNvPr id="18437" name="Rectangle 5"/>
          <p:cNvSpPr>
            <a:spLocks noChangeArrowheads="1"/>
          </p:cNvSpPr>
          <p:nvPr/>
        </p:nvSpPr>
        <p:spPr bwMode="auto">
          <a:xfrm>
            <a:off x="4021138" y="3786188"/>
            <a:ext cx="3205162" cy="704850"/>
          </a:xfrm>
          <a:prstGeom prst="rect">
            <a:avLst/>
          </a:prstGeom>
          <a:noFill/>
          <a:ln w="25400">
            <a:noFill/>
            <a:miter lim="800000"/>
            <a:headEnd/>
            <a:tailEnd/>
          </a:ln>
        </p:spPr>
        <p:txBody>
          <a:bodyPr wrap="none" lIns="90488" tIns="44450" rIns="90488" bIns="44450">
            <a:spAutoFit/>
          </a:bodyPr>
          <a:lstStyle/>
          <a:p>
            <a:r>
              <a:rPr lang="en-US" altLang="zh-CN" sz="2000">
                <a:latin typeface="Calibri" pitchFamily="34" charset="0"/>
              </a:rPr>
              <a:t>Address Regs         Index Regs</a:t>
            </a:r>
          </a:p>
          <a:p>
            <a:r>
              <a:rPr lang="en-US" altLang="zh-CN" sz="2000">
                <a:latin typeface="Calibri" pitchFamily="34" charset="0"/>
              </a:rPr>
              <a:t>  8 x 18-bit                8 x 18-bit</a:t>
            </a:r>
          </a:p>
        </p:txBody>
      </p:sp>
      <p:sp>
        <p:nvSpPr>
          <p:cNvPr id="18438" name="Rectangle 6"/>
          <p:cNvSpPr>
            <a:spLocks noChangeArrowheads="1"/>
          </p:cNvSpPr>
          <p:nvPr/>
        </p:nvSpPr>
        <p:spPr bwMode="auto">
          <a:xfrm>
            <a:off x="5989638" y="1484313"/>
            <a:ext cx="1643062" cy="704850"/>
          </a:xfrm>
          <a:prstGeom prst="rect">
            <a:avLst/>
          </a:prstGeom>
          <a:noFill/>
          <a:ln w="25400">
            <a:noFill/>
            <a:miter lim="800000"/>
            <a:headEnd/>
            <a:tailEnd/>
          </a:ln>
        </p:spPr>
        <p:txBody>
          <a:bodyPr wrap="none" lIns="90488" tIns="44450" rIns="90488" bIns="44450">
            <a:spAutoFit/>
          </a:bodyPr>
          <a:lstStyle/>
          <a:p>
            <a:r>
              <a:rPr lang="en-US" altLang="zh-CN" sz="2000">
                <a:latin typeface="Calibri" pitchFamily="34" charset="0"/>
              </a:rPr>
              <a:t>Operand Regs</a:t>
            </a:r>
          </a:p>
          <a:p>
            <a:r>
              <a:rPr lang="en-US" altLang="zh-CN" sz="2000">
                <a:latin typeface="Calibri" pitchFamily="34" charset="0"/>
              </a:rPr>
              <a:t>8 x 60-bit</a:t>
            </a:r>
          </a:p>
        </p:txBody>
      </p:sp>
      <p:grpSp>
        <p:nvGrpSpPr>
          <p:cNvPr id="18439" name="Group 7"/>
          <p:cNvGrpSpPr>
            <a:grpSpLocks/>
          </p:cNvGrpSpPr>
          <p:nvPr/>
        </p:nvGrpSpPr>
        <p:grpSpPr bwMode="auto">
          <a:xfrm>
            <a:off x="6291263" y="4514850"/>
            <a:ext cx="812800" cy="1193800"/>
            <a:chOff x="3003" y="2671"/>
            <a:chExt cx="512" cy="752"/>
          </a:xfrm>
        </p:grpSpPr>
        <p:sp>
          <p:nvSpPr>
            <p:cNvPr id="18485" name="Rectangle 8"/>
            <p:cNvSpPr>
              <a:spLocks noChangeArrowheads="1"/>
            </p:cNvSpPr>
            <p:nvPr/>
          </p:nvSpPr>
          <p:spPr bwMode="auto">
            <a:xfrm>
              <a:off x="3003" y="2671"/>
              <a:ext cx="512" cy="752"/>
            </a:xfrm>
            <a:prstGeom prst="rect">
              <a:avLst/>
            </a:prstGeom>
            <a:noFill/>
            <a:ln w="25400">
              <a:solidFill>
                <a:schemeClr val="tx1"/>
              </a:solidFill>
              <a:miter lim="800000"/>
              <a:headEnd/>
              <a:tailEnd/>
            </a:ln>
          </p:spPr>
          <p:txBody>
            <a:bodyPr wrap="none" anchor="ctr"/>
            <a:lstStyle/>
            <a:p>
              <a:endParaRPr lang="en-US" altLang="zh-CN"/>
            </a:p>
          </p:txBody>
        </p:sp>
        <p:sp>
          <p:nvSpPr>
            <p:cNvPr id="18486" name="Line 9"/>
            <p:cNvSpPr>
              <a:spLocks noChangeShapeType="1"/>
            </p:cNvSpPr>
            <p:nvPr/>
          </p:nvSpPr>
          <p:spPr bwMode="auto">
            <a:xfrm>
              <a:off x="3003" y="2759"/>
              <a:ext cx="512" cy="0"/>
            </a:xfrm>
            <a:prstGeom prst="line">
              <a:avLst/>
            </a:prstGeom>
            <a:noFill/>
            <a:ln w="25400">
              <a:solidFill>
                <a:schemeClr val="tx1"/>
              </a:solidFill>
              <a:round/>
              <a:headEnd/>
              <a:tailEnd/>
            </a:ln>
          </p:spPr>
          <p:txBody>
            <a:bodyPr wrap="none" anchor="ctr"/>
            <a:lstStyle/>
            <a:p>
              <a:endParaRPr lang="zh-CN" altLang="en-US"/>
            </a:p>
          </p:txBody>
        </p:sp>
        <p:sp>
          <p:nvSpPr>
            <p:cNvPr id="18487" name="Line 10"/>
            <p:cNvSpPr>
              <a:spLocks noChangeShapeType="1"/>
            </p:cNvSpPr>
            <p:nvPr/>
          </p:nvSpPr>
          <p:spPr bwMode="auto">
            <a:xfrm>
              <a:off x="3003" y="2855"/>
              <a:ext cx="512" cy="0"/>
            </a:xfrm>
            <a:prstGeom prst="line">
              <a:avLst/>
            </a:prstGeom>
            <a:noFill/>
            <a:ln w="25400">
              <a:solidFill>
                <a:schemeClr val="tx1"/>
              </a:solidFill>
              <a:round/>
              <a:headEnd/>
              <a:tailEnd/>
            </a:ln>
          </p:spPr>
          <p:txBody>
            <a:bodyPr wrap="none" anchor="ctr"/>
            <a:lstStyle/>
            <a:p>
              <a:endParaRPr lang="zh-CN" altLang="en-US"/>
            </a:p>
          </p:txBody>
        </p:sp>
        <p:sp>
          <p:nvSpPr>
            <p:cNvPr id="18488" name="Line 11"/>
            <p:cNvSpPr>
              <a:spLocks noChangeShapeType="1"/>
            </p:cNvSpPr>
            <p:nvPr/>
          </p:nvSpPr>
          <p:spPr bwMode="auto">
            <a:xfrm>
              <a:off x="3003" y="2951"/>
              <a:ext cx="512" cy="0"/>
            </a:xfrm>
            <a:prstGeom prst="line">
              <a:avLst/>
            </a:prstGeom>
            <a:noFill/>
            <a:ln w="25400">
              <a:solidFill>
                <a:schemeClr val="tx1"/>
              </a:solidFill>
              <a:round/>
              <a:headEnd/>
              <a:tailEnd/>
            </a:ln>
          </p:spPr>
          <p:txBody>
            <a:bodyPr wrap="none" anchor="ctr"/>
            <a:lstStyle/>
            <a:p>
              <a:endParaRPr lang="zh-CN" altLang="en-US"/>
            </a:p>
          </p:txBody>
        </p:sp>
        <p:sp>
          <p:nvSpPr>
            <p:cNvPr id="18489" name="Line 12"/>
            <p:cNvSpPr>
              <a:spLocks noChangeShapeType="1"/>
            </p:cNvSpPr>
            <p:nvPr/>
          </p:nvSpPr>
          <p:spPr bwMode="auto">
            <a:xfrm>
              <a:off x="3003" y="3143"/>
              <a:ext cx="512" cy="0"/>
            </a:xfrm>
            <a:prstGeom prst="line">
              <a:avLst/>
            </a:prstGeom>
            <a:noFill/>
            <a:ln w="25400">
              <a:solidFill>
                <a:schemeClr val="tx1"/>
              </a:solidFill>
              <a:round/>
              <a:headEnd/>
              <a:tailEnd/>
            </a:ln>
          </p:spPr>
          <p:txBody>
            <a:bodyPr wrap="none" anchor="ctr"/>
            <a:lstStyle/>
            <a:p>
              <a:endParaRPr lang="zh-CN" altLang="en-US"/>
            </a:p>
          </p:txBody>
        </p:sp>
        <p:sp>
          <p:nvSpPr>
            <p:cNvPr id="18490" name="Line 13"/>
            <p:cNvSpPr>
              <a:spLocks noChangeShapeType="1"/>
            </p:cNvSpPr>
            <p:nvPr/>
          </p:nvSpPr>
          <p:spPr bwMode="auto">
            <a:xfrm>
              <a:off x="3003" y="3047"/>
              <a:ext cx="512" cy="0"/>
            </a:xfrm>
            <a:prstGeom prst="line">
              <a:avLst/>
            </a:prstGeom>
            <a:noFill/>
            <a:ln w="25400">
              <a:solidFill>
                <a:schemeClr val="tx1"/>
              </a:solidFill>
              <a:round/>
              <a:headEnd/>
              <a:tailEnd/>
            </a:ln>
          </p:spPr>
          <p:txBody>
            <a:bodyPr wrap="none" anchor="ctr"/>
            <a:lstStyle/>
            <a:p>
              <a:endParaRPr lang="zh-CN" altLang="en-US"/>
            </a:p>
          </p:txBody>
        </p:sp>
        <p:sp>
          <p:nvSpPr>
            <p:cNvPr id="18491" name="Line 14"/>
            <p:cNvSpPr>
              <a:spLocks noChangeShapeType="1"/>
            </p:cNvSpPr>
            <p:nvPr/>
          </p:nvSpPr>
          <p:spPr bwMode="auto">
            <a:xfrm>
              <a:off x="3003" y="3335"/>
              <a:ext cx="512" cy="0"/>
            </a:xfrm>
            <a:prstGeom prst="line">
              <a:avLst/>
            </a:prstGeom>
            <a:noFill/>
            <a:ln w="25400">
              <a:solidFill>
                <a:schemeClr val="tx1"/>
              </a:solidFill>
              <a:round/>
              <a:headEnd/>
              <a:tailEnd/>
            </a:ln>
          </p:spPr>
          <p:txBody>
            <a:bodyPr wrap="none" anchor="ctr"/>
            <a:lstStyle/>
            <a:p>
              <a:endParaRPr lang="zh-CN" altLang="en-US"/>
            </a:p>
          </p:txBody>
        </p:sp>
        <p:sp>
          <p:nvSpPr>
            <p:cNvPr id="18492" name="Line 15"/>
            <p:cNvSpPr>
              <a:spLocks noChangeShapeType="1"/>
            </p:cNvSpPr>
            <p:nvPr/>
          </p:nvSpPr>
          <p:spPr bwMode="auto">
            <a:xfrm>
              <a:off x="3003" y="3239"/>
              <a:ext cx="512" cy="0"/>
            </a:xfrm>
            <a:prstGeom prst="line">
              <a:avLst/>
            </a:prstGeom>
            <a:noFill/>
            <a:ln w="25400">
              <a:solidFill>
                <a:schemeClr val="tx1"/>
              </a:solidFill>
              <a:round/>
              <a:headEnd/>
              <a:tailEnd/>
            </a:ln>
          </p:spPr>
          <p:txBody>
            <a:bodyPr wrap="none" anchor="ctr"/>
            <a:lstStyle/>
            <a:p>
              <a:endParaRPr lang="zh-CN" altLang="en-US"/>
            </a:p>
          </p:txBody>
        </p:sp>
      </p:grpSp>
      <p:sp>
        <p:nvSpPr>
          <p:cNvPr id="18440" name="Rectangle 16"/>
          <p:cNvSpPr>
            <a:spLocks noChangeArrowheads="1"/>
          </p:cNvSpPr>
          <p:nvPr/>
        </p:nvSpPr>
        <p:spPr bwMode="auto">
          <a:xfrm>
            <a:off x="7967663" y="4210050"/>
            <a:ext cx="1727200" cy="889000"/>
          </a:xfrm>
          <a:prstGeom prst="rect">
            <a:avLst/>
          </a:prstGeom>
          <a:noFill/>
          <a:ln w="25400">
            <a:solidFill>
              <a:schemeClr val="tx1"/>
            </a:solidFill>
            <a:miter lim="800000"/>
            <a:headEnd/>
            <a:tailEnd/>
          </a:ln>
        </p:spPr>
        <p:txBody>
          <a:bodyPr wrap="none" anchor="ctr"/>
          <a:lstStyle/>
          <a:p>
            <a:endParaRPr lang="en-US" altLang="zh-CN"/>
          </a:p>
        </p:txBody>
      </p:sp>
      <p:sp>
        <p:nvSpPr>
          <p:cNvPr id="18441" name="Rectangle 17"/>
          <p:cNvSpPr>
            <a:spLocks noChangeArrowheads="1"/>
          </p:cNvSpPr>
          <p:nvPr/>
        </p:nvSpPr>
        <p:spPr bwMode="auto">
          <a:xfrm>
            <a:off x="8245476" y="4305300"/>
            <a:ext cx="1247775" cy="704850"/>
          </a:xfrm>
          <a:prstGeom prst="rect">
            <a:avLst/>
          </a:prstGeom>
          <a:noFill/>
          <a:ln w="25400">
            <a:noFill/>
            <a:miter lim="800000"/>
            <a:headEnd/>
            <a:tailEnd/>
          </a:ln>
        </p:spPr>
        <p:txBody>
          <a:bodyPr wrap="none" lIns="90488" tIns="44450" rIns="90488" bIns="44450">
            <a:spAutoFit/>
          </a:bodyPr>
          <a:lstStyle/>
          <a:p>
            <a:r>
              <a:rPr lang="en-US" altLang="zh-CN" sz="2000">
                <a:latin typeface="Calibri" pitchFamily="34" charset="0"/>
              </a:rPr>
              <a:t>Inst. Stack</a:t>
            </a:r>
          </a:p>
          <a:p>
            <a:r>
              <a:rPr lang="en-US" altLang="zh-CN" sz="2000">
                <a:latin typeface="Calibri" pitchFamily="34" charset="0"/>
              </a:rPr>
              <a:t>8 x 60-bit</a:t>
            </a:r>
          </a:p>
        </p:txBody>
      </p:sp>
      <p:sp>
        <p:nvSpPr>
          <p:cNvPr id="18442" name="Rectangle 18"/>
          <p:cNvSpPr>
            <a:spLocks noChangeArrowheads="1"/>
          </p:cNvSpPr>
          <p:nvPr/>
        </p:nvSpPr>
        <p:spPr bwMode="auto">
          <a:xfrm>
            <a:off x="7967663" y="3676650"/>
            <a:ext cx="1270000" cy="279400"/>
          </a:xfrm>
          <a:prstGeom prst="rect">
            <a:avLst/>
          </a:prstGeom>
          <a:noFill/>
          <a:ln w="25400">
            <a:solidFill>
              <a:schemeClr val="tx1"/>
            </a:solidFill>
            <a:miter lim="800000"/>
            <a:headEnd/>
            <a:tailEnd/>
          </a:ln>
        </p:spPr>
        <p:txBody>
          <a:bodyPr wrap="none" anchor="ctr"/>
          <a:lstStyle/>
          <a:p>
            <a:endParaRPr lang="en-US" altLang="zh-CN"/>
          </a:p>
        </p:txBody>
      </p:sp>
      <p:sp>
        <p:nvSpPr>
          <p:cNvPr id="18443" name="Rectangle 19"/>
          <p:cNvSpPr>
            <a:spLocks noChangeArrowheads="1"/>
          </p:cNvSpPr>
          <p:nvPr/>
        </p:nvSpPr>
        <p:spPr bwMode="auto">
          <a:xfrm>
            <a:off x="8345488" y="3630614"/>
            <a:ext cx="387350" cy="396875"/>
          </a:xfrm>
          <a:prstGeom prst="rect">
            <a:avLst/>
          </a:prstGeom>
          <a:noFill/>
          <a:ln w="25400">
            <a:noFill/>
            <a:miter lim="800000"/>
            <a:headEnd/>
            <a:tailEnd/>
          </a:ln>
        </p:spPr>
        <p:txBody>
          <a:bodyPr wrap="none" lIns="90488" tIns="44450" rIns="90488" bIns="44450">
            <a:spAutoFit/>
          </a:bodyPr>
          <a:lstStyle/>
          <a:p>
            <a:r>
              <a:rPr lang="en-US" altLang="zh-CN" sz="2000">
                <a:latin typeface="Calibri" pitchFamily="34" charset="0"/>
              </a:rPr>
              <a:t>IR</a:t>
            </a:r>
          </a:p>
        </p:txBody>
      </p:sp>
      <p:sp>
        <p:nvSpPr>
          <p:cNvPr id="18444" name="Rectangle 20"/>
          <p:cNvSpPr>
            <a:spLocks noChangeArrowheads="1"/>
          </p:cNvSpPr>
          <p:nvPr/>
        </p:nvSpPr>
        <p:spPr bwMode="auto">
          <a:xfrm>
            <a:off x="7967663" y="2533650"/>
            <a:ext cx="1727200" cy="889000"/>
          </a:xfrm>
          <a:prstGeom prst="rect">
            <a:avLst/>
          </a:prstGeom>
          <a:noFill/>
          <a:ln w="25400">
            <a:solidFill>
              <a:schemeClr val="tx1"/>
            </a:solidFill>
            <a:miter lim="800000"/>
            <a:headEnd/>
            <a:tailEnd/>
          </a:ln>
        </p:spPr>
        <p:txBody>
          <a:bodyPr wrap="none" anchor="ctr"/>
          <a:lstStyle/>
          <a:p>
            <a:endParaRPr lang="en-US" altLang="zh-CN"/>
          </a:p>
        </p:txBody>
      </p:sp>
      <p:sp>
        <p:nvSpPr>
          <p:cNvPr id="18445" name="Rectangle 21"/>
          <p:cNvSpPr>
            <a:spLocks noChangeArrowheads="1"/>
          </p:cNvSpPr>
          <p:nvPr/>
        </p:nvSpPr>
        <p:spPr bwMode="auto">
          <a:xfrm>
            <a:off x="7997826" y="2628900"/>
            <a:ext cx="1592263" cy="704850"/>
          </a:xfrm>
          <a:prstGeom prst="rect">
            <a:avLst/>
          </a:prstGeom>
          <a:noFill/>
          <a:ln w="25400">
            <a:noFill/>
            <a:miter lim="800000"/>
            <a:headEnd/>
            <a:tailEnd/>
          </a:ln>
        </p:spPr>
        <p:txBody>
          <a:bodyPr wrap="none" lIns="90488" tIns="44450" rIns="90488" bIns="44450">
            <a:spAutoFit/>
          </a:bodyPr>
          <a:lstStyle/>
          <a:p>
            <a:r>
              <a:rPr lang="en-US" altLang="zh-CN" sz="2000">
                <a:latin typeface="Calibri" pitchFamily="34" charset="0"/>
              </a:rPr>
              <a:t>10 Functional</a:t>
            </a:r>
          </a:p>
          <a:p>
            <a:r>
              <a:rPr lang="en-US" altLang="zh-CN" sz="2000">
                <a:latin typeface="Calibri" pitchFamily="34" charset="0"/>
              </a:rPr>
              <a:t>Units</a:t>
            </a:r>
          </a:p>
        </p:txBody>
      </p:sp>
      <p:sp>
        <p:nvSpPr>
          <p:cNvPr id="18446" name="Rectangle 22"/>
          <p:cNvSpPr>
            <a:spLocks noChangeArrowheads="1"/>
          </p:cNvSpPr>
          <p:nvPr/>
        </p:nvSpPr>
        <p:spPr bwMode="auto">
          <a:xfrm>
            <a:off x="2057400" y="1924051"/>
            <a:ext cx="1543050" cy="3997325"/>
          </a:xfrm>
          <a:prstGeom prst="rect">
            <a:avLst/>
          </a:prstGeom>
          <a:noFill/>
          <a:ln w="25400">
            <a:solidFill>
              <a:schemeClr val="tx1"/>
            </a:solidFill>
            <a:miter lim="800000"/>
            <a:headEnd/>
            <a:tailEnd/>
          </a:ln>
        </p:spPr>
        <p:txBody>
          <a:bodyPr wrap="none" anchor="ctr"/>
          <a:lstStyle/>
          <a:p>
            <a:endParaRPr lang="en-US" altLang="zh-CN"/>
          </a:p>
        </p:txBody>
      </p:sp>
      <p:sp>
        <p:nvSpPr>
          <p:cNvPr id="18447" name="Rectangle 23"/>
          <p:cNvSpPr>
            <a:spLocks noChangeArrowheads="1"/>
          </p:cNvSpPr>
          <p:nvPr/>
        </p:nvSpPr>
        <p:spPr bwMode="auto">
          <a:xfrm>
            <a:off x="2111664" y="3170239"/>
            <a:ext cx="1464056" cy="1628651"/>
          </a:xfrm>
          <a:prstGeom prst="rect">
            <a:avLst/>
          </a:prstGeom>
          <a:noFill/>
          <a:ln w="25400">
            <a:noFill/>
            <a:miter lim="800000"/>
            <a:headEnd/>
            <a:tailEnd/>
          </a:ln>
        </p:spPr>
        <p:txBody>
          <a:bodyPr wrap="none" lIns="90488" tIns="44450" rIns="90488" bIns="44450">
            <a:spAutoFit/>
          </a:bodyPr>
          <a:lstStyle/>
          <a:p>
            <a:r>
              <a:rPr lang="en-US" altLang="zh-CN" sz="2000" dirty="0">
                <a:latin typeface="Calibri" pitchFamily="34" charset="0"/>
              </a:rPr>
              <a:t>Central</a:t>
            </a:r>
          </a:p>
          <a:p>
            <a:r>
              <a:rPr lang="en-US" altLang="zh-CN" sz="2000" dirty="0">
                <a:latin typeface="Calibri" pitchFamily="34" charset="0"/>
              </a:rPr>
              <a:t>Memory</a:t>
            </a:r>
          </a:p>
          <a:p>
            <a:r>
              <a:rPr lang="en-US" altLang="zh-CN" sz="2000" dirty="0">
                <a:latin typeface="Calibri" pitchFamily="34" charset="0"/>
              </a:rPr>
              <a:t>128K words,</a:t>
            </a:r>
          </a:p>
          <a:p>
            <a:r>
              <a:rPr lang="en-US" altLang="zh-CN" sz="2000" dirty="0">
                <a:latin typeface="Calibri" pitchFamily="34" charset="0"/>
              </a:rPr>
              <a:t>32 banks,</a:t>
            </a:r>
          </a:p>
          <a:p>
            <a:r>
              <a:rPr lang="en-US" altLang="zh-CN" sz="2000" dirty="0">
                <a:latin typeface="Calibri" pitchFamily="34" charset="0"/>
              </a:rPr>
              <a:t>1µs cycle</a:t>
            </a:r>
          </a:p>
        </p:txBody>
      </p:sp>
      <p:grpSp>
        <p:nvGrpSpPr>
          <p:cNvPr id="18448" name="Group 24"/>
          <p:cNvGrpSpPr>
            <a:grpSpLocks/>
          </p:cNvGrpSpPr>
          <p:nvPr/>
        </p:nvGrpSpPr>
        <p:grpSpPr bwMode="auto">
          <a:xfrm>
            <a:off x="6278563" y="2152650"/>
            <a:ext cx="901700" cy="1193800"/>
            <a:chOff x="2995" y="1183"/>
            <a:chExt cx="568" cy="752"/>
          </a:xfrm>
        </p:grpSpPr>
        <p:sp>
          <p:nvSpPr>
            <p:cNvPr id="18476" name="Rectangle 25"/>
            <p:cNvSpPr>
              <a:spLocks noChangeArrowheads="1"/>
            </p:cNvSpPr>
            <p:nvPr/>
          </p:nvSpPr>
          <p:spPr bwMode="auto">
            <a:xfrm>
              <a:off x="3051" y="1183"/>
              <a:ext cx="512" cy="752"/>
            </a:xfrm>
            <a:prstGeom prst="rect">
              <a:avLst/>
            </a:prstGeom>
            <a:noFill/>
            <a:ln w="25400">
              <a:solidFill>
                <a:schemeClr val="tx1"/>
              </a:solidFill>
              <a:miter lim="800000"/>
              <a:headEnd/>
              <a:tailEnd/>
            </a:ln>
          </p:spPr>
          <p:txBody>
            <a:bodyPr wrap="none" anchor="ctr"/>
            <a:lstStyle/>
            <a:p>
              <a:endParaRPr lang="en-US" altLang="zh-CN"/>
            </a:p>
          </p:txBody>
        </p:sp>
        <p:sp>
          <p:nvSpPr>
            <p:cNvPr id="18477" name="Line 26"/>
            <p:cNvSpPr>
              <a:spLocks noChangeShapeType="1"/>
            </p:cNvSpPr>
            <p:nvPr/>
          </p:nvSpPr>
          <p:spPr bwMode="auto">
            <a:xfrm>
              <a:off x="3051" y="1271"/>
              <a:ext cx="512" cy="0"/>
            </a:xfrm>
            <a:prstGeom prst="line">
              <a:avLst/>
            </a:prstGeom>
            <a:noFill/>
            <a:ln w="25400">
              <a:solidFill>
                <a:schemeClr val="tx1"/>
              </a:solidFill>
              <a:round/>
              <a:headEnd/>
              <a:tailEnd/>
            </a:ln>
          </p:spPr>
          <p:txBody>
            <a:bodyPr wrap="none" anchor="ctr"/>
            <a:lstStyle/>
            <a:p>
              <a:endParaRPr lang="zh-CN" altLang="en-US"/>
            </a:p>
          </p:txBody>
        </p:sp>
        <p:sp>
          <p:nvSpPr>
            <p:cNvPr id="18478" name="Line 27"/>
            <p:cNvSpPr>
              <a:spLocks noChangeShapeType="1"/>
            </p:cNvSpPr>
            <p:nvPr/>
          </p:nvSpPr>
          <p:spPr bwMode="auto">
            <a:xfrm>
              <a:off x="3051" y="1367"/>
              <a:ext cx="512" cy="0"/>
            </a:xfrm>
            <a:prstGeom prst="line">
              <a:avLst/>
            </a:prstGeom>
            <a:noFill/>
            <a:ln w="25400">
              <a:solidFill>
                <a:schemeClr val="tx1"/>
              </a:solidFill>
              <a:round/>
              <a:headEnd/>
              <a:tailEnd/>
            </a:ln>
          </p:spPr>
          <p:txBody>
            <a:bodyPr wrap="none" anchor="ctr"/>
            <a:lstStyle/>
            <a:p>
              <a:endParaRPr lang="zh-CN" altLang="en-US"/>
            </a:p>
          </p:txBody>
        </p:sp>
        <p:sp>
          <p:nvSpPr>
            <p:cNvPr id="18479" name="Line 28"/>
            <p:cNvSpPr>
              <a:spLocks noChangeShapeType="1"/>
            </p:cNvSpPr>
            <p:nvPr/>
          </p:nvSpPr>
          <p:spPr bwMode="auto">
            <a:xfrm>
              <a:off x="3051" y="1463"/>
              <a:ext cx="512" cy="0"/>
            </a:xfrm>
            <a:prstGeom prst="line">
              <a:avLst/>
            </a:prstGeom>
            <a:noFill/>
            <a:ln w="25400">
              <a:solidFill>
                <a:schemeClr val="tx1"/>
              </a:solidFill>
              <a:round/>
              <a:headEnd/>
              <a:tailEnd/>
            </a:ln>
          </p:spPr>
          <p:txBody>
            <a:bodyPr wrap="none" anchor="ctr"/>
            <a:lstStyle/>
            <a:p>
              <a:endParaRPr lang="zh-CN" altLang="en-US"/>
            </a:p>
          </p:txBody>
        </p:sp>
        <p:sp>
          <p:nvSpPr>
            <p:cNvPr id="18480" name="Line 29"/>
            <p:cNvSpPr>
              <a:spLocks noChangeShapeType="1"/>
            </p:cNvSpPr>
            <p:nvPr/>
          </p:nvSpPr>
          <p:spPr bwMode="auto">
            <a:xfrm>
              <a:off x="3051" y="1655"/>
              <a:ext cx="512" cy="0"/>
            </a:xfrm>
            <a:prstGeom prst="line">
              <a:avLst/>
            </a:prstGeom>
            <a:noFill/>
            <a:ln w="25400">
              <a:solidFill>
                <a:schemeClr val="tx1"/>
              </a:solidFill>
              <a:round/>
              <a:headEnd/>
              <a:tailEnd/>
            </a:ln>
          </p:spPr>
          <p:txBody>
            <a:bodyPr wrap="none" anchor="ctr"/>
            <a:lstStyle/>
            <a:p>
              <a:endParaRPr lang="zh-CN" altLang="en-US"/>
            </a:p>
          </p:txBody>
        </p:sp>
        <p:sp>
          <p:nvSpPr>
            <p:cNvPr id="18481" name="Line 30"/>
            <p:cNvSpPr>
              <a:spLocks noChangeShapeType="1"/>
            </p:cNvSpPr>
            <p:nvPr/>
          </p:nvSpPr>
          <p:spPr bwMode="auto">
            <a:xfrm>
              <a:off x="3051" y="1559"/>
              <a:ext cx="512" cy="0"/>
            </a:xfrm>
            <a:prstGeom prst="line">
              <a:avLst/>
            </a:prstGeom>
            <a:noFill/>
            <a:ln w="25400">
              <a:solidFill>
                <a:schemeClr val="tx1"/>
              </a:solidFill>
              <a:round/>
              <a:headEnd/>
              <a:tailEnd/>
            </a:ln>
          </p:spPr>
          <p:txBody>
            <a:bodyPr wrap="none" anchor="ctr"/>
            <a:lstStyle/>
            <a:p>
              <a:endParaRPr lang="zh-CN" altLang="en-US"/>
            </a:p>
          </p:txBody>
        </p:sp>
        <p:sp>
          <p:nvSpPr>
            <p:cNvPr id="18482" name="Line 31"/>
            <p:cNvSpPr>
              <a:spLocks noChangeShapeType="1"/>
            </p:cNvSpPr>
            <p:nvPr/>
          </p:nvSpPr>
          <p:spPr bwMode="auto">
            <a:xfrm>
              <a:off x="3051" y="1847"/>
              <a:ext cx="512" cy="0"/>
            </a:xfrm>
            <a:prstGeom prst="line">
              <a:avLst/>
            </a:prstGeom>
            <a:noFill/>
            <a:ln w="25400">
              <a:solidFill>
                <a:schemeClr val="tx1"/>
              </a:solidFill>
              <a:round/>
              <a:headEnd/>
              <a:tailEnd/>
            </a:ln>
          </p:spPr>
          <p:txBody>
            <a:bodyPr wrap="none" anchor="ctr"/>
            <a:lstStyle/>
            <a:p>
              <a:endParaRPr lang="zh-CN" altLang="en-US"/>
            </a:p>
          </p:txBody>
        </p:sp>
        <p:sp>
          <p:nvSpPr>
            <p:cNvPr id="18483" name="Line 32"/>
            <p:cNvSpPr>
              <a:spLocks noChangeShapeType="1"/>
            </p:cNvSpPr>
            <p:nvPr/>
          </p:nvSpPr>
          <p:spPr bwMode="auto">
            <a:xfrm>
              <a:off x="3051" y="1751"/>
              <a:ext cx="512" cy="0"/>
            </a:xfrm>
            <a:prstGeom prst="line">
              <a:avLst/>
            </a:prstGeom>
            <a:noFill/>
            <a:ln w="25400">
              <a:solidFill>
                <a:schemeClr val="tx1"/>
              </a:solidFill>
              <a:round/>
              <a:headEnd/>
              <a:tailEnd/>
            </a:ln>
          </p:spPr>
          <p:txBody>
            <a:bodyPr wrap="none" anchor="ctr"/>
            <a:lstStyle/>
            <a:p>
              <a:endParaRPr lang="zh-CN" altLang="en-US"/>
            </a:p>
          </p:txBody>
        </p:sp>
        <p:sp>
          <p:nvSpPr>
            <p:cNvPr id="18484" name="Freeform 33"/>
            <p:cNvSpPr>
              <a:spLocks/>
            </p:cNvSpPr>
            <p:nvPr/>
          </p:nvSpPr>
          <p:spPr bwMode="auto">
            <a:xfrm>
              <a:off x="2995" y="1799"/>
              <a:ext cx="49" cy="97"/>
            </a:xfrm>
            <a:custGeom>
              <a:avLst/>
              <a:gdLst>
                <a:gd name="T0" fmla="*/ 48 w 49"/>
                <a:gd name="T1" fmla="*/ 0 h 97"/>
                <a:gd name="T2" fmla="*/ 0 w 49"/>
                <a:gd name="T3" fmla="*/ 0 h 97"/>
                <a:gd name="T4" fmla="*/ 0 w 49"/>
                <a:gd name="T5" fmla="*/ 96 h 97"/>
                <a:gd name="T6" fmla="*/ 48 w 49"/>
                <a:gd name="T7" fmla="*/ 96 h 97"/>
                <a:gd name="T8" fmla="*/ 0 60000 65536"/>
                <a:gd name="T9" fmla="*/ 0 60000 65536"/>
                <a:gd name="T10" fmla="*/ 0 60000 65536"/>
                <a:gd name="T11" fmla="*/ 0 60000 65536"/>
                <a:gd name="T12" fmla="*/ 0 w 49"/>
                <a:gd name="T13" fmla="*/ 0 h 97"/>
                <a:gd name="T14" fmla="*/ 49 w 49"/>
                <a:gd name="T15" fmla="*/ 97 h 97"/>
              </a:gdLst>
              <a:ahLst/>
              <a:cxnLst>
                <a:cxn ang="T8">
                  <a:pos x="T0" y="T1"/>
                </a:cxn>
                <a:cxn ang="T9">
                  <a:pos x="T2" y="T3"/>
                </a:cxn>
                <a:cxn ang="T10">
                  <a:pos x="T4" y="T5"/>
                </a:cxn>
                <a:cxn ang="T11">
                  <a:pos x="T6" y="T7"/>
                </a:cxn>
              </a:cxnLst>
              <a:rect l="T12" t="T13" r="T14" b="T15"/>
              <a:pathLst>
                <a:path w="49" h="97">
                  <a:moveTo>
                    <a:pt x="48" y="0"/>
                  </a:moveTo>
                  <a:lnTo>
                    <a:pt x="0" y="0"/>
                  </a:lnTo>
                  <a:lnTo>
                    <a:pt x="0" y="96"/>
                  </a:lnTo>
                  <a:lnTo>
                    <a:pt x="48" y="96"/>
                  </a:lnTo>
                </a:path>
              </a:pathLst>
            </a:custGeom>
            <a:noFill/>
            <a:ln w="25400" cap="rnd">
              <a:solidFill>
                <a:schemeClr val="tx1"/>
              </a:solidFill>
              <a:round/>
              <a:headEnd/>
              <a:tailEnd/>
            </a:ln>
          </p:spPr>
          <p:txBody>
            <a:bodyPr/>
            <a:lstStyle/>
            <a:p>
              <a:endParaRPr lang="zh-CN" altLang="en-US"/>
            </a:p>
          </p:txBody>
        </p:sp>
      </p:grpSp>
      <p:sp>
        <p:nvSpPr>
          <p:cNvPr id="18449" name="Freeform 34"/>
          <p:cNvSpPr>
            <a:spLocks/>
          </p:cNvSpPr>
          <p:nvPr/>
        </p:nvSpPr>
        <p:spPr bwMode="auto">
          <a:xfrm>
            <a:off x="3611564" y="3206750"/>
            <a:ext cx="2668587" cy="1588"/>
          </a:xfrm>
          <a:custGeom>
            <a:avLst/>
            <a:gdLst>
              <a:gd name="T0" fmla="*/ 2147483647 w 1681"/>
              <a:gd name="T1" fmla="*/ 0 h 1"/>
              <a:gd name="T2" fmla="*/ 0 w 1681"/>
              <a:gd name="T3" fmla="*/ 0 h 1"/>
              <a:gd name="T4" fmla="*/ 0 w 1681"/>
              <a:gd name="T5" fmla="*/ 0 h 1"/>
              <a:gd name="T6" fmla="*/ 0 60000 65536"/>
              <a:gd name="T7" fmla="*/ 0 60000 65536"/>
              <a:gd name="T8" fmla="*/ 0 60000 65536"/>
              <a:gd name="T9" fmla="*/ 0 w 1681"/>
              <a:gd name="T10" fmla="*/ 0 h 1"/>
              <a:gd name="T11" fmla="*/ 1681 w 1681"/>
              <a:gd name="T12" fmla="*/ 1 h 1"/>
            </a:gdLst>
            <a:ahLst/>
            <a:cxnLst>
              <a:cxn ang="T6">
                <a:pos x="T0" y="T1"/>
              </a:cxn>
              <a:cxn ang="T7">
                <a:pos x="T2" y="T3"/>
              </a:cxn>
              <a:cxn ang="T8">
                <a:pos x="T4" y="T5"/>
              </a:cxn>
            </a:cxnLst>
            <a:rect l="T9" t="T10" r="T11" b="T12"/>
            <a:pathLst>
              <a:path w="1681" h="1">
                <a:moveTo>
                  <a:pt x="1680" y="0"/>
                </a:moveTo>
                <a:lnTo>
                  <a:pt x="0" y="0"/>
                </a:lnTo>
              </a:path>
            </a:pathLst>
          </a:custGeom>
          <a:noFill/>
          <a:ln w="25400" cap="rnd">
            <a:solidFill>
              <a:schemeClr val="tx1"/>
            </a:solidFill>
            <a:round/>
            <a:headEnd/>
            <a:tailEnd type="triangle" w="med" len="med"/>
          </a:ln>
        </p:spPr>
        <p:txBody>
          <a:bodyPr/>
          <a:lstStyle/>
          <a:p>
            <a:endParaRPr lang="zh-CN" altLang="en-US"/>
          </a:p>
        </p:txBody>
      </p:sp>
      <p:sp>
        <p:nvSpPr>
          <p:cNvPr id="18450" name="Freeform 35"/>
          <p:cNvSpPr>
            <a:spLocks/>
          </p:cNvSpPr>
          <p:nvPr/>
        </p:nvSpPr>
        <p:spPr bwMode="auto">
          <a:xfrm>
            <a:off x="4525964" y="5484814"/>
            <a:ext cx="77787" cy="153987"/>
          </a:xfrm>
          <a:custGeom>
            <a:avLst/>
            <a:gdLst>
              <a:gd name="T0" fmla="*/ 2147483647 w 49"/>
              <a:gd name="T1" fmla="*/ 0 h 97"/>
              <a:gd name="T2" fmla="*/ 0 w 49"/>
              <a:gd name="T3" fmla="*/ 0 h 97"/>
              <a:gd name="T4" fmla="*/ 0 w 49"/>
              <a:gd name="T5" fmla="*/ 2147483647 h 97"/>
              <a:gd name="T6" fmla="*/ 2147483647 w 49"/>
              <a:gd name="T7" fmla="*/ 2147483647 h 97"/>
              <a:gd name="T8" fmla="*/ 0 60000 65536"/>
              <a:gd name="T9" fmla="*/ 0 60000 65536"/>
              <a:gd name="T10" fmla="*/ 0 60000 65536"/>
              <a:gd name="T11" fmla="*/ 0 60000 65536"/>
              <a:gd name="T12" fmla="*/ 0 w 49"/>
              <a:gd name="T13" fmla="*/ 0 h 97"/>
              <a:gd name="T14" fmla="*/ 49 w 49"/>
              <a:gd name="T15" fmla="*/ 97 h 97"/>
            </a:gdLst>
            <a:ahLst/>
            <a:cxnLst>
              <a:cxn ang="T8">
                <a:pos x="T0" y="T1"/>
              </a:cxn>
              <a:cxn ang="T9">
                <a:pos x="T2" y="T3"/>
              </a:cxn>
              <a:cxn ang="T10">
                <a:pos x="T4" y="T5"/>
              </a:cxn>
              <a:cxn ang="T11">
                <a:pos x="T6" y="T7"/>
              </a:cxn>
            </a:cxnLst>
            <a:rect l="T12" t="T13" r="T14" b="T15"/>
            <a:pathLst>
              <a:path w="49" h="97">
                <a:moveTo>
                  <a:pt x="48" y="0"/>
                </a:moveTo>
                <a:lnTo>
                  <a:pt x="0" y="0"/>
                </a:lnTo>
                <a:lnTo>
                  <a:pt x="0" y="96"/>
                </a:lnTo>
                <a:lnTo>
                  <a:pt x="48" y="96"/>
                </a:lnTo>
              </a:path>
            </a:pathLst>
          </a:custGeom>
          <a:noFill/>
          <a:ln w="25400" cap="rnd">
            <a:solidFill>
              <a:schemeClr val="tx1"/>
            </a:solidFill>
            <a:round/>
            <a:headEnd/>
            <a:tailEnd/>
          </a:ln>
        </p:spPr>
        <p:txBody>
          <a:bodyPr/>
          <a:lstStyle/>
          <a:p>
            <a:endParaRPr lang="zh-CN" altLang="en-US"/>
          </a:p>
        </p:txBody>
      </p:sp>
      <p:sp>
        <p:nvSpPr>
          <p:cNvPr id="18451" name="Freeform 36"/>
          <p:cNvSpPr>
            <a:spLocks/>
          </p:cNvSpPr>
          <p:nvPr/>
        </p:nvSpPr>
        <p:spPr bwMode="auto">
          <a:xfrm>
            <a:off x="3611564" y="5561014"/>
            <a:ext cx="915987" cy="1587"/>
          </a:xfrm>
          <a:custGeom>
            <a:avLst/>
            <a:gdLst>
              <a:gd name="T0" fmla="*/ 2147483647 w 577"/>
              <a:gd name="T1" fmla="*/ 0 h 1"/>
              <a:gd name="T2" fmla="*/ 0 w 577"/>
              <a:gd name="T3" fmla="*/ 0 h 1"/>
              <a:gd name="T4" fmla="*/ 0 w 577"/>
              <a:gd name="T5" fmla="*/ 0 h 1"/>
              <a:gd name="T6" fmla="*/ 0 60000 65536"/>
              <a:gd name="T7" fmla="*/ 0 60000 65536"/>
              <a:gd name="T8" fmla="*/ 0 60000 65536"/>
              <a:gd name="T9" fmla="*/ 0 w 577"/>
              <a:gd name="T10" fmla="*/ 0 h 1"/>
              <a:gd name="T11" fmla="*/ 577 w 577"/>
              <a:gd name="T12" fmla="*/ 1 h 1"/>
            </a:gdLst>
            <a:ahLst/>
            <a:cxnLst>
              <a:cxn ang="T6">
                <a:pos x="T0" y="T1"/>
              </a:cxn>
              <a:cxn ang="T7">
                <a:pos x="T2" y="T3"/>
              </a:cxn>
              <a:cxn ang="T8">
                <a:pos x="T4" y="T5"/>
              </a:cxn>
            </a:cxnLst>
            <a:rect l="T9" t="T10" r="T11" b="T12"/>
            <a:pathLst>
              <a:path w="577" h="1">
                <a:moveTo>
                  <a:pt x="576" y="0"/>
                </a:moveTo>
                <a:lnTo>
                  <a:pt x="0" y="0"/>
                </a:lnTo>
              </a:path>
            </a:pathLst>
          </a:custGeom>
          <a:noFill/>
          <a:ln w="25400" cap="rnd">
            <a:solidFill>
              <a:schemeClr val="tx1"/>
            </a:solidFill>
            <a:round/>
            <a:headEnd/>
            <a:tailEnd type="triangle" w="med" len="med"/>
          </a:ln>
        </p:spPr>
        <p:txBody>
          <a:bodyPr/>
          <a:lstStyle/>
          <a:p>
            <a:endParaRPr lang="zh-CN" altLang="en-US"/>
          </a:p>
        </p:txBody>
      </p:sp>
      <p:sp>
        <p:nvSpPr>
          <p:cNvPr id="18452" name="Rectangle 37"/>
          <p:cNvSpPr>
            <a:spLocks noChangeArrowheads="1"/>
          </p:cNvSpPr>
          <p:nvPr/>
        </p:nvSpPr>
        <p:spPr bwMode="auto">
          <a:xfrm>
            <a:off x="3713163" y="5227638"/>
            <a:ext cx="781050" cy="704850"/>
          </a:xfrm>
          <a:prstGeom prst="rect">
            <a:avLst/>
          </a:prstGeom>
          <a:noFill/>
          <a:ln w="25400">
            <a:noFill/>
            <a:miter lim="800000"/>
            <a:headEnd/>
            <a:tailEnd/>
          </a:ln>
        </p:spPr>
        <p:txBody>
          <a:bodyPr wrap="none" lIns="90488" tIns="44450" rIns="90488" bIns="44450">
            <a:spAutoFit/>
          </a:bodyPr>
          <a:lstStyle/>
          <a:p>
            <a:r>
              <a:rPr lang="en-US" altLang="zh-CN" sz="2000">
                <a:latin typeface="Calibri" pitchFamily="34" charset="0"/>
              </a:rPr>
              <a:t>result</a:t>
            </a:r>
          </a:p>
          <a:p>
            <a:r>
              <a:rPr lang="en-US" altLang="zh-CN" sz="2000">
                <a:latin typeface="Calibri" pitchFamily="34" charset="0"/>
              </a:rPr>
              <a:t>addr</a:t>
            </a:r>
          </a:p>
        </p:txBody>
      </p:sp>
      <p:sp>
        <p:nvSpPr>
          <p:cNvPr id="18453" name="Rectangle 38"/>
          <p:cNvSpPr>
            <a:spLocks noChangeArrowheads="1"/>
          </p:cNvSpPr>
          <p:nvPr/>
        </p:nvSpPr>
        <p:spPr bwMode="auto">
          <a:xfrm>
            <a:off x="4533900" y="2857501"/>
            <a:ext cx="781050" cy="396875"/>
          </a:xfrm>
          <a:prstGeom prst="rect">
            <a:avLst/>
          </a:prstGeom>
          <a:noFill/>
          <a:ln w="25400">
            <a:noFill/>
            <a:miter lim="800000"/>
            <a:headEnd/>
            <a:tailEnd/>
          </a:ln>
        </p:spPr>
        <p:txBody>
          <a:bodyPr wrap="none" lIns="90488" tIns="44450" rIns="90488" bIns="44450">
            <a:spAutoFit/>
          </a:bodyPr>
          <a:lstStyle/>
          <a:p>
            <a:r>
              <a:rPr lang="en-US" altLang="zh-CN" sz="2000">
                <a:latin typeface="Calibri" pitchFamily="34" charset="0"/>
              </a:rPr>
              <a:t>result</a:t>
            </a:r>
          </a:p>
        </p:txBody>
      </p:sp>
      <p:grpSp>
        <p:nvGrpSpPr>
          <p:cNvPr id="18454" name="Group 39"/>
          <p:cNvGrpSpPr>
            <a:grpSpLocks/>
          </p:cNvGrpSpPr>
          <p:nvPr/>
        </p:nvGrpSpPr>
        <p:grpSpPr bwMode="auto">
          <a:xfrm>
            <a:off x="4516439" y="4525963"/>
            <a:ext cx="896937" cy="1193800"/>
            <a:chOff x="1885" y="2678"/>
            <a:chExt cx="565" cy="752"/>
          </a:xfrm>
        </p:grpSpPr>
        <p:sp>
          <p:nvSpPr>
            <p:cNvPr id="18467" name="Rectangle 40"/>
            <p:cNvSpPr>
              <a:spLocks noChangeArrowheads="1"/>
            </p:cNvSpPr>
            <p:nvPr/>
          </p:nvSpPr>
          <p:spPr bwMode="auto">
            <a:xfrm>
              <a:off x="1938" y="2678"/>
              <a:ext cx="512" cy="752"/>
            </a:xfrm>
            <a:prstGeom prst="rect">
              <a:avLst/>
            </a:prstGeom>
            <a:noFill/>
            <a:ln w="25400">
              <a:solidFill>
                <a:schemeClr val="tx1"/>
              </a:solidFill>
              <a:miter lim="800000"/>
              <a:headEnd/>
              <a:tailEnd/>
            </a:ln>
          </p:spPr>
          <p:txBody>
            <a:bodyPr wrap="none" anchor="ctr"/>
            <a:lstStyle/>
            <a:p>
              <a:endParaRPr lang="en-US" altLang="zh-CN"/>
            </a:p>
          </p:txBody>
        </p:sp>
        <p:sp>
          <p:nvSpPr>
            <p:cNvPr id="18468" name="Line 41"/>
            <p:cNvSpPr>
              <a:spLocks noChangeShapeType="1"/>
            </p:cNvSpPr>
            <p:nvPr/>
          </p:nvSpPr>
          <p:spPr bwMode="auto">
            <a:xfrm>
              <a:off x="1938" y="2766"/>
              <a:ext cx="512" cy="0"/>
            </a:xfrm>
            <a:prstGeom prst="line">
              <a:avLst/>
            </a:prstGeom>
            <a:noFill/>
            <a:ln w="25400">
              <a:solidFill>
                <a:schemeClr val="tx1"/>
              </a:solidFill>
              <a:round/>
              <a:headEnd/>
              <a:tailEnd/>
            </a:ln>
          </p:spPr>
          <p:txBody>
            <a:bodyPr wrap="none" anchor="ctr"/>
            <a:lstStyle/>
            <a:p>
              <a:endParaRPr lang="zh-CN" altLang="en-US"/>
            </a:p>
          </p:txBody>
        </p:sp>
        <p:sp>
          <p:nvSpPr>
            <p:cNvPr id="18469" name="Line 42"/>
            <p:cNvSpPr>
              <a:spLocks noChangeShapeType="1"/>
            </p:cNvSpPr>
            <p:nvPr/>
          </p:nvSpPr>
          <p:spPr bwMode="auto">
            <a:xfrm>
              <a:off x="1938" y="2862"/>
              <a:ext cx="512" cy="0"/>
            </a:xfrm>
            <a:prstGeom prst="line">
              <a:avLst/>
            </a:prstGeom>
            <a:noFill/>
            <a:ln w="25400">
              <a:solidFill>
                <a:schemeClr val="tx1"/>
              </a:solidFill>
              <a:round/>
              <a:headEnd/>
              <a:tailEnd/>
            </a:ln>
          </p:spPr>
          <p:txBody>
            <a:bodyPr wrap="none" anchor="ctr"/>
            <a:lstStyle/>
            <a:p>
              <a:endParaRPr lang="zh-CN" altLang="en-US"/>
            </a:p>
          </p:txBody>
        </p:sp>
        <p:sp>
          <p:nvSpPr>
            <p:cNvPr id="18470" name="Line 43"/>
            <p:cNvSpPr>
              <a:spLocks noChangeShapeType="1"/>
            </p:cNvSpPr>
            <p:nvPr/>
          </p:nvSpPr>
          <p:spPr bwMode="auto">
            <a:xfrm>
              <a:off x="1938" y="2958"/>
              <a:ext cx="512" cy="0"/>
            </a:xfrm>
            <a:prstGeom prst="line">
              <a:avLst/>
            </a:prstGeom>
            <a:noFill/>
            <a:ln w="25400">
              <a:solidFill>
                <a:schemeClr val="tx1"/>
              </a:solidFill>
              <a:round/>
              <a:headEnd/>
              <a:tailEnd/>
            </a:ln>
          </p:spPr>
          <p:txBody>
            <a:bodyPr wrap="none" anchor="ctr"/>
            <a:lstStyle/>
            <a:p>
              <a:endParaRPr lang="zh-CN" altLang="en-US"/>
            </a:p>
          </p:txBody>
        </p:sp>
        <p:sp>
          <p:nvSpPr>
            <p:cNvPr id="18471" name="Line 44"/>
            <p:cNvSpPr>
              <a:spLocks noChangeShapeType="1"/>
            </p:cNvSpPr>
            <p:nvPr/>
          </p:nvSpPr>
          <p:spPr bwMode="auto">
            <a:xfrm>
              <a:off x="1938" y="3150"/>
              <a:ext cx="512" cy="0"/>
            </a:xfrm>
            <a:prstGeom prst="line">
              <a:avLst/>
            </a:prstGeom>
            <a:noFill/>
            <a:ln w="25400">
              <a:solidFill>
                <a:schemeClr val="tx1"/>
              </a:solidFill>
              <a:round/>
              <a:headEnd/>
              <a:tailEnd/>
            </a:ln>
          </p:spPr>
          <p:txBody>
            <a:bodyPr wrap="none" anchor="ctr"/>
            <a:lstStyle/>
            <a:p>
              <a:endParaRPr lang="zh-CN" altLang="en-US"/>
            </a:p>
          </p:txBody>
        </p:sp>
        <p:sp>
          <p:nvSpPr>
            <p:cNvPr id="18472" name="Line 45"/>
            <p:cNvSpPr>
              <a:spLocks noChangeShapeType="1"/>
            </p:cNvSpPr>
            <p:nvPr/>
          </p:nvSpPr>
          <p:spPr bwMode="auto">
            <a:xfrm>
              <a:off x="1938" y="3054"/>
              <a:ext cx="512" cy="0"/>
            </a:xfrm>
            <a:prstGeom prst="line">
              <a:avLst/>
            </a:prstGeom>
            <a:noFill/>
            <a:ln w="25400">
              <a:solidFill>
                <a:schemeClr val="tx1"/>
              </a:solidFill>
              <a:round/>
              <a:headEnd/>
              <a:tailEnd/>
            </a:ln>
          </p:spPr>
          <p:txBody>
            <a:bodyPr wrap="none" anchor="ctr"/>
            <a:lstStyle/>
            <a:p>
              <a:endParaRPr lang="zh-CN" altLang="en-US"/>
            </a:p>
          </p:txBody>
        </p:sp>
        <p:sp>
          <p:nvSpPr>
            <p:cNvPr id="18473" name="Line 46"/>
            <p:cNvSpPr>
              <a:spLocks noChangeShapeType="1"/>
            </p:cNvSpPr>
            <p:nvPr/>
          </p:nvSpPr>
          <p:spPr bwMode="auto">
            <a:xfrm>
              <a:off x="1938" y="3342"/>
              <a:ext cx="512" cy="0"/>
            </a:xfrm>
            <a:prstGeom prst="line">
              <a:avLst/>
            </a:prstGeom>
            <a:noFill/>
            <a:ln w="25400">
              <a:solidFill>
                <a:schemeClr val="tx1"/>
              </a:solidFill>
              <a:round/>
              <a:headEnd/>
              <a:tailEnd/>
            </a:ln>
          </p:spPr>
          <p:txBody>
            <a:bodyPr wrap="none" anchor="ctr"/>
            <a:lstStyle/>
            <a:p>
              <a:endParaRPr lang="zh-CN" altLang="en-US"/>
            </a:p>
          </p:txBody>
        </p:sp>
        <p:sp>
          <p:nvSpPr>
            <p:cNvPr id="18474" name="Line 47"/>
            <p:cNvSpPr>
              <a:spLocks noChangeShapeType="1"/>
            </p:cNvSpPr>
            <p:nvPr/>
          </p:nvSpPr>
          <p:spPr bwMode="auto">
            <a:xfrm>
              <a:off x="1938" y="3246"/>
              <a:ext cx="512" cy="0"/>
            </a:xfrm>
            <a:prstGeom prst="line">
              <a:avLst/>
            </a:prstGeom>
            <a:noFill/>
            <a:ln w="25400">
              <a:solidFill>
                <a:schemeClr val="tx1"/>
              </a:solidFill>
              <a:round/>
              <a:headEnd/>
              <a:tailEnd/>
            </a:ln>
          </p:spPr>
          <p:txBody>
            <a:bodyPr wrap="none" anchor="ctr"/>
            <a:lstStyle/>
            <a:p>
              <a:endParaRPr lang="zh-CN" altLang="en-US"/>
            </a:p>
          </p:txBody>
        </p:sp>
        <p:sp>
          <p:nvSpPr>
            <p:cNvPr id="18475" name="Freeform 48"/>
            <p:cNvSpPr>
              <a:spLocks/>
            </p:cNvSpPr>
            <p:nvPr/>
          </p:nvSpPr>
          <p:spPr bwMode="auto">
            <a:xfrm>
              <a:off x="1885" y="2731"/>
              <a:ext cx="55" cy="461"/>
            </a:xfrm>
            <a:custGeom>
              <a:avLst/>
              <a:gdLst>
                <a:gd name="T0" fmla="*/ 54 w 55"/>
                <a:gd name="T1" fmla="*/ 0 h 461"/>
                <a:gd name="T2" fmla="*/ 0 w 55"/>
                <a:gd name="T3" fmla="*/ 0 h 461"/>
                <a:gd name="T4" fmla="*/ 0 w 55"/>
                <a:gd name="T5" fmla="*/ 460 h 461"/>
                <a:gd name="T6" fmla="*/ 54 w 55"/>
                <a:gd name="T7" fmla="*/ 460 h 461"/>
                <a:gd name="T8" fmla="*/ 0 60000 65536"/>
                <a:gd name="T9" fmla="*/ 0 60000 65536"/>
                <a:gd name="T10" fmla="*/ 0 60000 65536"/>
                <a:gd name="T11" fmla="*/ 0 60000 65536"/>
                <a:gd name="T12" fmla="*/ 0 w 55"/>
                <a:gd name="T13" fmla="*/ 0 h 461"/>
                <a:gd name="T14" fmla="*/ 55 w 55"/>
                <a:gd name="T15" fmla="*/ 461 h 461"/>
              </a:gdLst>
              <a:ahLst/>
              <a:cxnLst>
                <a:cxn ang="T8">
                  <a:pos x="T0" y="T1"/>
                </a:cxn>
                <a:cxn ang="T9">
                  <a:pos x="T2" y="T3"/>
                </a:cxn>
                <a:cxn ang="T10">
                  <a:pos x="T4" y="T5"/>
                </a:cxn>
                <a:cxn ang="T11">
                  <a:pos x="T6" y="T7"/>
                </a:cxn>
              </a:cxnLst>
              <a:rect l="T12" t="T13" r="T14" b="T15"/>
              <a:pathLst>
                <a:path w="55" h="461">
                  <a:moveTo>
                    <a:pt x="54" y="0"/>
                  </a:moveTo>
                  <a:lnTo>
                    <a:pt x="0" y="0"/>
                  </a:lnTo>
                  <a:lnTo>
                    <a:pt x="0" y="460"/>
                  </a:lnTo>
                  <a:lnTo>
                    <a:pt x="54" y="460"/>
                  </a:lnTo>
                </a:path>
              </a:pathLst>
            </a:custGeom>
            <a:noFill/>
            <a:ln w="25400" cap="rnd">
              <a:solidFill>
                <a:schemeClr val="tx1"/>
              </a:solidFill>
              <a:round/>
              <a:headEnd/>
              <a:tailEnd/>
            </a:ln>
          </p:spPr>
          <p:txBody>
            <a:bodyPr/>
            <a:lstStyle/>
            <a:p>
              <a:endParaRPr lang="zh-CN" altLang="en-US"/>
            </a:p>
          </p:txBody>
        </p:sp>
      </p:grpSp>
      <p:sp>
        <p:nvSpPr>
          <p:cNvPr id="18455" name="Line 49"/>
          <p:cNvSpPr>
            <a:spLocks noChangeShapeType="1"/>
          </p:cNvSpPr>
          <p:nvPr/>
        </p:nvSpPr>
        <p:spPr bwMode="auto">
          <a:xfrm flipH="1">
            <a:off x="3584575" y="4970463"/>
            <a:ext cx="939800" cy="0"/>
          </a:xfrm>
          <a:prstGeom prst="line">
            <a:avLst/>
          </a:prstGeom>
          <a:noFill/>
          <a:ln w="25400">
            <a:solidFill>
              <a:schemeClr val="tx1"/>
            </a:solidFill>
            <a:round/>
            <a:headEnd/>
            <a:tailEnd type="triangle" w="med" len="med"/>
          </a:ln>
        </p:spPr>
        <p:txBody>
          <a:bodyPr wrap="none" anchor="ctr"/>
          <a:lstStyle/>
          <a:p>
            <a:endParaRPr lang="zh-CN" altLang="en-US"/>
          </a:p>
        </p:txBody>
      </p:sp>
      <p:sp>
        <p:nvSpPr>
          <p:cNvPr id="18456" name="Freeform 50"/>
          <p:cNvSpPr>
            <a:spLocks/>
          </p:cNvSpPr>
          <p:nvPr/>
        </p:nvSpPr>
        <p:spPr bwMode="auto">
          <a:xfrm>
            <a:off x="6011864" y="2368550"/>
            <a:ext cx="344487" cy="611188"/>
          </a:xfrm>
          <a:custGeom>
            <a:avLst/>
            <a:gdLst>
              <a:gd name="T0" fmla="*/ 2147483647 w 217"/>
              <a:gd name="T1" fmla="*/ 0 h 385"/>
              <a:gd name="T2" fmla="*/ 0 w 217"/>
              <a:gd name="T3" fmla="*/ 0 h 385"/>
              <a:gd name="T4" fmla="*/ 0 w 217"/>
              <a:gd name="T5" fmla="*/ 2147483647 h 385"/>
              <a:gd name="T6" fmla="*/ 2147483647 w 217"/>
              <a:gd name="T7" fmla="*/ 2147483647 h 385"/>
              <a:gd name="T8" fmla="*/ 0 60000 65536"/>
              <a:gd name="T9" fmla="*/ 0 60000 65536"/>
              <a:gd name="T10" fmla="*/ 0 60000 65536"/>
              <a:gd name="T11" fmla="*/ 0 60000 65536"/>
              <a:gd name="T12" fmla="*/ 0 w 217"/>
              <a:gd name="T13" fmla="*/ 0 h 385"/>
              <a:gd name="T14" fmla="*/ 217 w 217"/>
              <a:gd name="T15" fmla="*/ 385 h 385"/>
            </a:gdLst>
            <a:ahLst/>
            <a:cxnLst>
              <a:cxn ang="T8">
                <a:pos x="T0" y="T1"/>
              </a:cxn>
              <a:cxn ang="T9">
                <a:pos x="T2" y="T3"/>
              </a:cxn>
              <a:cxn ang="T10">
                <a:pos x="T4" y="T5"/>
              </a:cxn>
              <a:cxn ang="T11">
                <a:pos x="T6" y="T7"/>
              </a:cxn>
            </a:cxnLst>
            <a:rect l="T12" t="T13" r="T14" b="T15"/>
            <a:pathLst>
              <a:path w="217" h="385">
                <a:moveTo>
                  <a:pt x="216" y="0"/>
                </a:moveTo>
                <a:lnTo>
                  <a:pt x="0" y="0"/>
                </a:lnTo>
                <a:lnTo>
                  <a:pt x="0" y="384"/>
                </a:lnTo>
                <a:lnTo>
                  <a:pt x="216" y="384"/>
                </a:lnTo>
              </a:path>
            </a:pathLst>
          </a:custGeom>
          <a:noFill/>
          <a:ln w="25400" cap="rnd">
            <a:solidFill>
              <a:schemeClr val="tx1"/>
            </a:solidFill>
            <a:round/>
            <a:headEnd type="triangle" w="med" len="med"/>
            <a:tailEnd type="triangle" w="med" len="med"/>
          </a:ln>
        </p:spPr>
        <p:txBody>
          <a:bodyPr/>
          <a:lstStyle/>
          <a:p>
            <a:endParaRPr lang="zh-CN" altLang="en-US"/>
          </a:p>
        </p:txBody>
      </p:sp>
      <p:sp>
        <p:nvSpPr>
          <p:cNvPr id="18457" name="Line 51"/>
          <p:cNvSpPr>
            <a:spLocks noChangeShapeType="1"/>
          </p:cNvSpPr>
          <p:nvPr/>
        </p:nvSpPr>
        <p:spPr bwMode="auto">
          <a:xfrm flipH="1">
            <a:off x="3598863" y="2673350"/>
            <a:ext cx="2411412" cy="0"/>
          </a:xfrm>
          <a:prstGeom prst="line">
            <a:avLst/>
          </a:prstGeom>
          <a:noFill/>
          <a:ln w="25400">
            <a:solidFill>
              <a:schemeClr val="tx1"/>
            </a:solidFill>
            <a:round/>
            <a:headEnd/>
            <a:tailEnd/>
          </a:ln>
        </p:spPr>
        <p:txBody>
          <a:bodyPr wrap="none" anchor="ctr"/>
          <a:lstStyle/>
          <a:p>
            <a:endParaRPr lang="zh-CN" altLang="en-US"/>
          </a:p>
        </p:txBody>
      </p:sp>
      <p:sp>
        <p:nvSpPr>
          <p:cNvPr id="18458" name="Freeform 52"/>
          <p:cNvSpPr>
            <a:spLocks/>
          </p:cNvSpPr>
          <p:nvPr/>
        </p:nvSpPr>
        <p:spPr bwMode="auto">
          <a:xfrm>
            <a:off x="7192964" y="2749550"/>
            <a:ext cx="763587" cy="1588"/>
          </a:xfrm>
          <a:custGeom>
            <a:avLst/>
            <a:gdLst>
              <a:gd name="T0" fmla="*/ 0 w 481"/>
              <a:gd name="T1" fmla="*/ 0 h 1"/>
              <a:gd name="T2" fmla="*/ 2147483647 w 481"/>
              <a:gd name="T3" fmla="*/ 0 h 1"/>
              <a:gd name="T4" fmla="*/ 0 60000 65536"/>
              <a:gd name="T5" fmla="*/ 0 60000 65536"/>
              <a:gd name="T6" fmla="*/ 0 w 481"/>
              <a:gd name="T7" fmla="*/ 0 h 1"/>
              <a:gd name="T8" fmla="*/ 481 w 481"/>
              <a:gd name="T9" fmla="*/ 1 h 1"/>
            </a:gdLst>
            <a:ahLst/>
            <a:cxnLst>
              <a:cxn ang="T4">
                <a:pos x="T0" y="T1"/>
              </a:cxn>
              <a:cxn ang="T5">
                <a:pos x="T2" y="T3"/>
              </a:cxn>
            </a:cxnLst>
            <a:rect l="T6" t="T7" r="T8" b="T9"/>
            <a:pathLst>
              <a:path w="481" h="1">
                <a:moveTo>
                  <a:pt x="0" y="0"/>
                </a:moveTo>
                <a:lnTo>
                  <a:pt x="480" y="0"/>
                </a:lnTo>
              </a:path>
            </a:pathLst>
          </a:custGeom>
          <a:noFill/>
          <a:ln w="25400" cap="rnd">
            <a:solidFill>
              <a:schemeClr val="tx1"/>
            </a:solidFill>
            <a:round/>
            <a:headEnd type="triangle" w="med" len="med"/>
            <a:tailEnd type="triangle" w="med" len="med"/>
          </a:ln>
        </p:spPr>
        <p:txBody>
          <a:bodyPr/>
          <a:lstStyle/>
          <a:p>
            <a:endParaRPr lang="zh-CN" altLang="en-US"/>
          </a:p>
        </p:txBody>
      </p:sp>
      <p:sp>
        <p:nvSpPr>
          <p:cNvPr id="18459" name="Freeform 53"/>
          <p:cNvSpPr>
            <a:spLocks/>
          </p:cNvSpPr>
          <p:nvPr/>
        </p:nvSpPr>
        <p:spPr bwMode="auto">
          <a:xfrm>
            <a:off x="5440363" y="3054350"/>
            <a:ext cx="2514600" cy="2114550"/>
          </a:xfrm>
          <a:custGeom>
            <a:avLst/>
            <a:gdLst>
              <a:gd name="T0" fmla="*/ 0 w 1584"/>
              <a:gd name="T1" fmla="*/ 2147483647 h 1332"/>
              <a:gd name="T2" fmla="*/ 2147483647 w 1584"/>
              <a:gd name="T3" fmla="*/ 2147483647 h 1332"/>
              <a:gd name="T4" fmla="*/ 2147483647 w 1584"/>
              <a:gd name="T5" fmla="*/ 2147483647 h 1332"/>
              <a:gd name="T6" fmla="*/ 2147483647 w 1584"/>
              <a:gd name="T7" fmla="*/ 2147483647 h 1332"/>
              <a:gd name="T8" fmla="*/ 2147483647 w 1584"/>
              <a:gd name="T9" fmla="*/ 0 h 1332"/>
              <a:gd name="T10" fmla="*/ 2147483647 w 1584"/>
              <a:gd name="T11" fmla="*/ 0 h 1332"/>
              <a:gd name="T12" fmla="*/ 0 60000 65536"/>
              <a:gd name="T13" fmla="*/ 0 60000 65536"/>
              <a:gd name="T14" fmla="*/ 0 60000 65536"/>
              <a:gd name="T15" fmla="*/ 0 60000 65536"/>
              <a:gd name="T16" fmla="*/ 0 60000 65536"/>
              <a:gd name="T17" fmla="*/ 0 60000 65536"/>
              <a:gd name="T18" fmla="*/ 0 w 1584"/>
              <a:gd name="T19" fmla="*/ 0 h 1332"/>
              <a:gd name="T20" fmla="*/ 1584 w 1584"/>
              <a:gd name="T21" fmla="*/ 1332 h 1332"/>
            </a:gdLst>
            <a:ahLst/>
            <a:cxnLst>
              <a:cxn ang="T12">
                <a:pos x="T0" y="T1"/>
              </a:cxn>
              <a:cxn ang="T13">
                <a:pos x="T2" y="T3"/>
              </a:cxn>
              <a:cxn ang="T14">
                <a:pos x="T4" y="T5"/>
              </a:cxn>
              <a:cxn ang="T15">
                <a:pos x="T6" y="T7"/>
              </a:cxn>
              <a:cxn ang="T16">
                <a:pos x="T8" y="T9"/>
              </a:cxn>
              <a:cxn ang="T17">
                <a:pos x="T10" y="T11"/>
              </a:cxn>
            </a:cxnLst>
            <a:rect l="T18" t="T19" r="T20" b="T21"/>
            <a:pathLst>
              <a:path w="1584" h="1332">
                <a:moveTo>
                  <a:pt x="0" y="1332"/>
                </a:moveTo>
                <a:lnTo>
                  <a:pt x="264" y="1332"/>
                </a:lnTo>
                <a:lnTo>
                  <a:pt x="264" y="432"/>
                </a:lnTo>
                <a:lnTo>
                  <a:pt x="1248" y="432"/>
                </a:lnTo>
                <a:lnTo>
                  <a:pt x="1248" y="0"/>
                </a:lnTo>
                <a:lnTo>
                  <a:pt x="1584" y="0"/>
                </a:lnTo>
              </a:path>
            </a:pathLst>
          </a:custGeom>
          <a:noFill/>
          <a:ln w="25400" cap="rnd">
            <a:solidFill>
              <a:schemeClr val="tx1"/>
            </a:solidFill>
            <a:round/>
            <a:headEnd type="triangle" w="med" len="med"/>
            <a:tailEnd type="triangle" w="med" len="med"/>
          </a:ln>
        </p:spPr>
        <p:txBody>
          <a:bodyPr/>
          <a:lstStyle/>
          <a:p>
            <a:endParaRPr lang="zh-CN" altLang="en-US"/>
          </a:p>
        </p:txBody>
      </p:sp>
      <p:sp>
        <p:nvSpPr>
          <p:cNvPr id="18460" name="Freeform 54"/>
          <p:cNvSpPr>
            <a:spLocks/>
          </p:cNvSpPr>
          <p:nvPr/>
        </p:nvSpPr>
        <p:spPr bwMode="auto">
          <a:xfrm>
            <a:off x="7116764" y="3282950"/>
            <a:ext cx="839787" cy="1830388"/>
          </a:xfrm>
          <a:custGeom>
            <a:avLst/>
            <a:gdLst>
              <a:gd name="T0" fmla="*/ 0 w 529"/>
              <a:gd name="T1" fmla="*/ 2147483647 h 1153"/>
              <a:gd name="T2" fmla="*/ 2147483647 w 529"/>
              <a:gd name="T3" fmla="*/ 2147483647 h 1153"/>
              <a:gd name="T4" fmla="*/ 2147483647 w 529"/>
              <a:gd name="T5" fmla="*/ 0 h 1153"/>
              <a:gd name="T6" fmla="*/ 2147483647 w 529"/>
              <a:gd name="T7" fmla="*/ 0 h 1153"/>
              <a:gd name="T8" fmla="*/ 0 60000 65536"/>
              <a:gd name="T9" fmla="*/ 0 60000 65536"/>
              <a:gd name="T10" fmla="*/ 0 60000 65536"/>
              <a:gd name="T11" fmla="*/ 0 60000 65536"/>
              <a:gd name="T12" fmla="*/ 0 w 529"/>
              <a:gd name="T13" fmla="*/ 0 h 1153"/>
              <a:gd name="T14" fmla="*/ 529 w 529"/>
              <a:gd name="T15" fmla="*/ 1153 h 1153"/>
            </a:gdLst>
            <a:ahLst/>
            <a:cxnLst>
              <a:cxn ang="T8">
                <a:pos x="T0" y="T1"/>
              </a:cxn>
              <a:cxn ang="T9">
                <a:pos x="T2" y="T3"/>
              </a:cxn>
              <a:cxn ang="T10">
                <a:pos x="T4" y="T5"/>
              </a:cxn>
              <a:cxn ang="T11">
                <a:pos x="T6" y="T7"/>
              </a:cxn>
            </a:cxnLst>
            <a:rect l="T12" t="T13" r="T14" b="T15"/>
            <a:pathLst>
              <a:path w="529" h="1153">
                <a:moveTo>
                  <a:pt x="0" y="1152"/>
                </a:moveTo>
                <a:lnTo>
                  <a:pt x="336" y="1152"/>
                </a:lnTo>
                <a:lnTo>
                  <a:pt x="336" y="0"/>
                </a:lnTo>
                <a:lnTo>
                  <a:pt x="528" y="0"/>
                </a:lnTo>
              </a:path>
            </a:pathLst>
          </a:custGeom>
          <a:noFill/>
          <a:ln w="25400" cap="rnd">
            <a:solidFill>
              <a:schemeClr val="tx1"/>
            </a:solidFill>
            <a:round/>
            <a:headEnd type="triangle" w="med" len="med"/>
            <a:tailEnd type="triangle" w="med" len="med"/>
          </a:ln>
        </p:spPr>
        <p:txBody>
          <a:bodyPr/>
          <a:lstStyle/>
          <a:p>
            <a:endParaRPr lang="zh-CN" altLang="en-US"/>
          </a:p>
        </p:txBody>
      </p:sp>
      <p:sp>
        <p:nvSpPr>
          <p:cNvPr id="18461" name="Freeform 55"/>
          <p:cNvSpPr>
            <a:spLocks/>
          </p:cNvSpPr>
          <p:nvPr/>
        </p:nvSpPr>
        <p:spPr bwMode="auto">
          <a:xfrm>
            <a:off x="3005138" y="5086351"/>
            <a:ext cx="5872162" cy="1260475"/>
          </a:xfrm>
          <a:custGeom>
            <a:avLst/>
            <a:gdLst>
              <a:gd name="T0" fmla="*/ 0 w 3699"/>
              <a:gd name="T1" fmla="*/ 2147483647 h 794"/>
              <a:gd name="T2" fmla="*/ 0 w 3699"/>
              <a:gd name="T3" fmla="*/ 2147483647 h 794"/>
              <a:gd name="T4" fmla="*/ 2147483647 w 3699"/>
              <a:gd name="T5" fmla="*/ 2147483647 h 794"/>
              <a:gd name="T6" fmla="*/ 2147483647 w 3699"/>
              <a:gd name="T7" fmla="*/ 0 h 794"/>
              <a:gd name="T8" fmla="*/ 0 60000 65536"/>
              <a:gd name="T9" fmla="*/ 0 60000 65536"/>
              <a:gd name="T10" fmla="*/ 0 60000 65536"/>
              <a:gd name="T11" fmla="*/ 0 60000 65536"/>
              <a:gd name="T12" fmla="*/ 0 w 3699"/>
              <a:gd name="T13" fmla="*/ 0 h 794"/>
              <a:gd name="T14" fmla="*/ 3699 w 3699"/>
              <a:gd name="T15" fmla="*/ 794 h 794"/>
            </a:gdLst>
            <a:ahLst/>
            <a:cxnLst>
              <a:cxn ang="T8">
                <a:pos x="T0" y="T1"/>
              </a:cxn>
              <a:cxn ang="T9">
                <a:pos x="T2" y="T3"/>
              </a:cxn>
              <a:cxn ang="T10">
                <a:pos x="T4" y="T5"/>
              </a:cxn>
              <a:cxn ang="T11">
                <a:pos x="T6" y="T7"/>
              </a:cxn>
            </a:cxnLst>
            <a:rect l="T12" t="T13" r="T14" b="T15"/>
            <a:pathLst>
              <a:path w="3699" h="794">
                <a:moveTo>
                  <a:pt x="0" y="549"/>
                </a:moveTo>
                <a:lnTo>
                  <a:pt x="0" y="793"/>
                </a:lnTo>
                <a:lnTo>
                  <a:pt x="3698" y="793"/>
                </a:lnTo>
                <a:lnTo>
                  <a:pt x="3698" y="0"/>
                </a:lnTo>
              </a:path>
            </a:pathLst>
          </a:custGeom>
          <a:noFill/>
          <a:ln w="25400" cap="rnd">
            <a:solidFill>
              <a:schemeClr val="tx1"/>
            </a:solidFill>
            <a:round/>
            <a:headEnd/>
            <a:tailEnd type="triangle" w="med" len="med"/>
          </a:ln>
        </p:spPr>
        <p:txBody>
          <a:bodyPr/>
          <a:lstStyle/>
          <a:p>
            <a:endParaRPr lang="zh-CN" altLang="en-US"/>
          </a:p>
        </p:txBody>
      </p:sp>
      <p:sp>
        <p:nvSpPr>
          <p:cNvPr id="18462" name="Freeform 56"/>
          <p:cNvSpPr>
            <a:spLocks/>
          </p:cNvSpPr>
          <p:nvPr/>
        </p:nvSpPr>
        <p:spPr bwMode="auto">
          <a:xfrm>
            <a:off x="9250364" y="3816350"/>
            <a:ext cx="611187" cy="839788"/>
          </a:xfrm>
          <a:custGeom>
            <a:avLst/>
            <a:gdLst>
              <a:gd name="T0" fmla="*/ 2147483647 w 385"/>
              <a:gd name="T1" fmla="*/ 2147483647 h 529"/>
              <a:gd name="T2" fmla="*/ 2147483647 w 385"/>
              <a:gd name="T3" fmla="*/ 2147483647 h 529"/>
              <a:gd name="T4" fmla="*/ 2147483647 w 385"/>
              <a:gd name="T5" fmla="*/ 0 h 529"/>
              <a:gd name="T6" fmla="*/ 0 w 385"/>
              <a:gd name="T7" fmla="*/ 0 h 529"/>
              <a:gd name="T8" fmla="*/ 0 60000 65536"/>
              <a:gd name="T9" fmla="*/ 0 60000 65536"/>
              <a:gd name="T10" fmla="*/ 0 60000 65536"/>
              <a:gd name="T11" fmla="*/ 0 60000 65536"/>
              <a:gd name="T12" fmla="*/ 0 w 385"/>
              <a:gd name="T13" fmla="*/ 0 h 529"/>
              <a:gd name="T14" fmla="*/ 385 w 385"/>
              <a:gd name="T15" fmla="*/ 529 h 529"/>
            </a:gdLst>
            <a:ahLst/>
            <a:cxnLst>
              <a:cxn ang="T8">
                <a:pos x="T0" y="T1"/>
              </a:cxn>
              <a:cxn ang="T9">
                <a:pos x="T2" y="T3"/>
              </a:cxn>
              <a:cxn ang="T10">
                <a:pos x="T4" y="T5"/>
              </a:cxn>
              <a:cxn ang="T11">
                <a:pos x="T6" y="T7"/>
              </a:cxn>
            </a:cxnLst>
            <a:rect l="T12" t="T13" r="T14" b="T15"/>
            <a:pathLst>
              <a:path w="385" h="529">
                <a:moveTo>
                  <a:pt x="288" y="528"/>
                </a:moveTo>
                <a:lnTo>
                  <a:pt x="384" y="528"/>
                </a:lnTo>
                <a:lnTo>
                  <a:pt x="384" y="0"/>
                </a:lnTo>
                <a:lnTo>
                  <a:pt x="0" y="0"/>
                </a:lnTo>
              </a:path>
            </a:pathLst>
          </a:custGeom>
          <a:noFill/>
          <a:ln w="25400" cap="rnd">
            <a:solidFill>
              <a:schemeClr val="tx1"/>
            </a:solidFill>
            <a:round/>
            <a:headEnd/>
            <a:tailEnd type="triangle" w="med" len="med"/>
          </a:ln>
        </p:spPr>
        <p:txBody>
          <a:bodyPr/>
          <a:lstStyle/>
          <a:p>
            <a:endParaRPr lang="zh-CN" altLang="en-US"/>
          </a:p>
        </p:txBody>
      </p:sp>
      <p:sp>
        <p:nvSpPr>
          <p:cNvPr id="18463" name="Rectangle 57"/>
          <p:cNvSpPr>
            <a:spLocks noChangeArrowheads="1"/>
          </p:cNvSpPr>
          <p:nvPr/>
        </p:nvSpPr>
        <p:spPr bwMode="auto">
          <a:xfrm>
            <a:off x="4465639" y="2309814"/>
            <a:ext cx="1063625" cy="396875"/>
          </a:xfrm>
          <a:prstGeom prst="rect">
            <a:avLst/>
          </a:prstGeom>
          <a:noFill/>
          <a:ln w="25400">
            <a:noFill/>
            <a:miter lim="800000"/>
            <a:headEnd/>
            <a:tailEnd/>
          </a:ln>
        </p:spPr>
        <p:txBody>
          <a:bodyPr wrap="none" lIns="90488" tIns="44450" rIns="90488" bIns="44450">
            <a:spAutoFit/>
          </a:bodyPr>
          <a:lstStyle/>
          <a:p>
            <a:r>
              <a:rPr lang="en-US" altLang="zh-CN" sz="2000">
                <a:latin typeface="Calibri" pitchFamily="34" charset="0"/>
              </a:rPr>
              <a:t>operand</a:t>
            </a:r>
          </a:p>
        </p:txBody>
      </p:sp>
      <p:sp>
        <p:nvSpPr>
          <p:cNvPr id="18464" name="Rectangle 58"/>
          <p:cNvSpPr>
            <a:spLocks noChangeArrowheads="1"/>
          </p:cNvSpPr>
          <p:nvPr/>
        </p:nvSpPr>
        <p:spPr bwMode="auto">
          <a:xfrm>
            <a:off x="3571876" y="4618038"/>
            <a:ext cx="1063625" cy="704850"/>
          </a:xfrm>
          <a:prstGeom prst="rect">
            <a:avLst/>
          </a:prstGeom>
          <a:noFill/>
          <a:ln w="25400">
            <a:noFill/>
            <a:miter lim="800000"/>
            <a:headEnd/>
            <a:tailEnd/>
          </a:ln>
        </p:spPr>
        <p:txBody>
          <a:bodyPr wrap="none" lIns="90488" tIns="44450" rIns="90488" bIns="44450">
            <a:spAutoFit/>
          </a:bodyPr>
          <a:lstStyle/>
          <a:p>
            <a:r>
              <a:rPr lang="en-US" altLang="zh-CN" sz="2000">
                <a:latin typeface="Calibri" pitchFamily="34" charset="0"/>
              </a:rPr>
              <a:t>operand</a:t>
            </a:r>
          </a:p>
          <a:p>
            <a:r>
              <a:rPr lang="en-US" altLang="zh-CN" sz="2000">
                <a:latin typeface="Calibri" pitchFamily="34" charset="0"/>
              </a:rPr>
              <a:t>addr</a:t>
            </a:r>
          </a:p>
        </p:txBody>
      </p:sp>
    </p:spTree>
    <p:extLst>
      <p:ext uri="{BB962C8B-B14F-4D97-AF65-F5344CB8AC3E}">
        <p14:creationId xmlns:p14="http://schemas.microsoft.com/office/powerpoint/2010/main" val="593108359"/>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ltLang="zh-CN" dirty="0"/>
              <a:t>CDC 6600 ISA designed to simplify </a:t>
            </a:r>
            <a:r>
              <a:rPr lang="en-US" altLang="zh-CN" dirty="0" smtClean="0"/>
              <a:t>high performance </a:t>
            </a:r>
            <a:r>
              <a:rPr lang="en-US" altLang="zh-CN" dirty="0"/>
              <a:t>implementation</a:t>
            </a:r>
            <a:endParaRPr lang="en-US" altLang="zh-CN" dirty="0" smtClean="0"/>
          </a:p>
        </p:txBody>
      </p:sp>
      <p:sp>
        <p:nvSpPr>
          <p:cNvPr id="19459" name="Rectangle 3"/>
          <p:cNvSpPr>
            <a:spLocks noGrp="1" noChangeArrowheads="1"/>
          </p:cNvSpPr>
          <p:nvPr>
            <p:ph idx="1"/>
          </p:nvPr>
        </p:nvSpPr>
        <p:spPr>
          <a:xfrm>
            <a:off x="551384" y="1556792"/>
            <a:ext cx="11233248" cy="5112568"/>
          </a:xfrm>
        </p:spPr>
        <p:txBody>
          <a:bodyPr/>
          <a:lstStyle/>
          <a:p>
            <a:pPr>
              <a:lnSpc>
                <a:spcPct val="100000"/>
              </a:lnSpc>
            </a:pPr>
            <a:r>
              <a:rPr lang="en-US" altLang="zh-CN" sz="2400" dirty="0"/>
              <a:t>Use of three-address, register-register ALU instructions simplifies pipelined </a:t>
            </a:r>
            <a:r>
              <a:rPr lang="en-US" altLang="zh-CN" sz="2400" dirty="0" smtClean="0"/>
              <a:t>implementation</a:t>
            </a:r>
          </a:p>
          <a:p>
            <a:pPr lvl="1">
              <a:lnSpc>
                <a:spcPct val="100000"/>
              </a:lnSpc>
            </a:pPr>
            <a:r>
              <a:rPr lang="en-US" altLang="zh-CN" sz="2000" dirty="0" smtClean="0"/>
              <a:t>Only </a:t>
            </a:r>
            <a:r>
              <a:rPr lang="en-US" altLang="zh-CN" sz="2000" dirty="0"/>
              <a:t>3-bit register-specifier fields checked for </a:t>
            </a:r>
            <a:r>
              <a:rPr lang="en-US" altLang="zh-CN" sz="2000" dirty="0" smtClean="0"/>
              <a:t>dependencies</a:t>
            </a:r>
          </a:p>
          <a:p>
            <a:pPr lvl="1">
              <a:lnSpc>
                <a:spcPct val="100000"/>
              </a:lnSpc>
            </a:pPr>
            <a:r>
              <a:rPr lang="en-US" altLang="zh-CN" sz="2000" dirty="0" smtClean="0"/>
              <a:t>No </a:t>
            </a:r>
            <a:r>
              <a:rPr lang="en-US" altLang="zh-CN" sz="2000" dirty="0"/>
              <a:t>implicit dependencies between inputs and </a:t>
            </a:r>
            <a:r>
              <a:rPr lang="en-US" altLang="zh-CN" sz="2000" dirty="0" smtClean="0"/>
              <a:t>outputs</a:t>
            </a:r>
          </a:p>
          <a:p>
            <a:pPr>
              <a:lnSpc>
                <a:spcPct val="100000"/>
              </a:lnSpc>
            </a:pPr>
            <a:r>
              <a:rPr lang="en-US" altLang="zh-CN" sz="2400" dirty="0" smtClean="0"/>
              <a:t>Decoupling </a:t>
            </a:r>
            <a:r>
              <a:rPr lang="en-US" altLang="zh-CN" sz="2400" dirty="0"/>
              <a:t>setting of address register (</a:t>
            </a:r>
            <a:r>
              <a:rPr lang="en-US" altLang="zh-CN" sz="2400" dirty="0" err="1"/>
              <a:t>Ar</a:t>
            </a:r>
            <a:r>
              <a:rPr lang="en-US" altLang="zh-CN" sz="2400" dirty="0"/>
              <a:t>) from retrieving value from data register (</a:t>
            </a:r>
            <a:r>
              <a:rPr lang="en-US" altLang="zh-CN" sz="2400" dirty="0" err="1"/>
              <a:t>Xr</a:t>
            </a:r>
            <a:r>
              <a:rPr lang="en-US" altLang="zh-CN" sz="2400" dirty="0"/>
              <a:t>) simplifies providing multiple outstanding memory </a:t>
            </a:r>
            <a:r>
              <a:rPr lang="en-US" altLang="zh-CN" sz="2400" dirty="0" smtClean="0"/>
              <a:t>accesses</a:t>
            </a:r>
          </a:p>
          <a:p>
            <a:pPr lvl="1">
              <a:lnSpc>
                <a:spcPct val="100000"/>
              </a:lnSpc>
            </a:pPr>
            <a:r>
              <a:rPr lang="en-US" altLang="zh-CN" sz="2000" dirty="0" smtClean="0"/>
              <a:t>Address </a:t>
            </a:r>
            <a:r>
              <a:rPr lang="en-US" altLang="zh-CN" sz="2000" dirty="0"/>
              <a:t>update instruction also issues implicit memory </a:t>
            </a:r>
            <a:r>
              <a:rPr lang="en-US" altLang="zh-CN" sz="2000" dirty="0" smtClean="0"/>
              <a:t>operation</a:t>
            </a:r>
          </a:p>
          <a:p>
            <a:pPr lvl="1">
              <a:lnSpc>
                <a:spcPct val="100000"/>
              </a:lnSpc>
            </a:pPr>
            <a:r>
              <a:rPr lang="en-US" altLang="zh-CN" sz="2000" dirty="0" smtClean="0"/>
              <a:t>Software </a:t>
            </a:r>
            <a:r>
              <a:rPr lang="en-US" altLang="zh-CN" sz="2000" dirty="0"/>
              <a:t>can schedule load of address register before use of </a:t>
            </a:r>
            <a:r>
              <a:rPr lang="en-US" altLang="zh-CN" sz="2000" dirty="0" smtClean="0"/>
              <a:t>value</a:t>
            </a:r>
          </a:p>
          <a:p>
            <a:pPr lvl="1">
              <a:lnSpc>
                <a:spcPct val="100000"/>
              </a:lnSpc>
            </a:pPr>
            <a:r>
              <a:rPr lang="en-US" altLang="zh-CN" sz="2000" dirty="0" smtClean="0"/>
              <a:t>Can </a:t>
            </a:r>
            <a:r>
              <a:rPr lang="en-US" altLang="zh-CN" sz="2000" dirty="0"/>
              <a:t>interleave independent instructions in </a:t>
            </a:r>
            <a:r>
              <a:rPr lang="en-US" altLang="zh-CN" sz="2000" dirty="0" smtClean="0"/>
              <a:t>between</a:t>
            </a:r>
          </a:p>
          <a:p>
            <a:pPr>
              <a:lnSpc>
                <a:spcPct val="100000"/>
              </a:lnSpc>
            </a:pPr>
            <a:r>
              <a:rPr lang="en-US" altLang="zh-CN" sz="2400" dirty="0" smtClean="0"/>
              <a:t>CDC6600 </a:t>
            </a:r>
            <a:r>
              <a:rPr lang="en-US" altLang="zh-CN" sz="2400" dirty="0"/>
              <a:t>has multiple parallel </a:t>
            </a:r>
            <a:r>
              <a:rPr lang="en-US" altLang="zh-CN" sz="2400" dirty="0" err="1"/>
              <a:t>unpipelined</a:t>
            </a:r>
            <a:r>
              <a:rPr lang="en-US" altLang="zh-CN" sz="2400" dirty="0"/>
              <a:t> functional </a:t>
            </a:r>
            <a:r>
              <a:rPr lang="en-US" altLang="zh-CN" sz="2400" dirty="0" smtClean="0"/>
              <a:t>units</a:t>
            </a:r>
          </a:p>
          <a:p>
            <a:pPr lvl="1">
              <a:lnSpc>
                <a:spcPct val="100000"/>
              </a:lnSpc>
            </a:pPr>
            <a:r>
              <a:rPr lang="en-US" altLang="zh-CN" sz="2000" dirty="0" smtClean="0"/>
              <a:t>E.g</a:t>
            </a:r>
            <a:r>
              <a:rPr lang="en-US" altLang="zh-CN" sz="2000" dirty="0"/>
              <a:t>., 2 separate </a:t>
            </a:r>
            <a:r>
              <a:rPr lang="en-US" altLang="zh-CN" sz="2000" dirty="0" smtClean="0"/>
              <a:t>multipliers</a:t>
            </a:r>
          </a:p>
          <a:p>
            <a:pPr>
              <a:lnSpc>
                <a:spcPct val="100000"/>
              </a:lnSpc>
            </a:pPr>
            <a:r>
              <a:rPr lang="en-US" altLang="zh-CN" sz="2400" dirty="0" smtClean="0"/>
              <a:t>Follow-on </a:t>
            </a:r>
            <a:r>
              <a:rPr lang="en-US" altLang="zh-CN" sz="2400" dirty="0"/>
              <a:t>machine CDC7600 used pipelined functional units </a:t>
            </a:r>
          </a:p>
          <a:p>
            <a:pPr lvl="1">
              <a:lnSpc>
                <a:spcPct val="100000"/>
              </a:lnSpc>
            </a:pPr>
            <a:r>
              <a:rPr lang="en-US" altLang="zh-CN" sz="2000" dirty="0" smtClean="0"/>
              <a:t>Foreshadows </a:t>
            </a:r>
            <a:r>
              <a:rPr lang="en-US" altLang="zh-CN" sz="2000" dirty="0"/>
              <a:t>later RISC designs</a:t>
            </a:r>
          </a:p>
        </p:txBody>
      </p:sp>
    </p:spTree>
    <p:extLst>
      <p:ext uri="{BB962C8B-B14F-4D97-AF65-F5344CB8AC3E}">
        <p14:creationId xmlns:p14="http://schemas.microsoft.com/office/powerpoint/2010/main" val="339363785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ltLang="zh-CN" smtClean="0"/>
              <a:t>CDC6600: Vector Addition</a:t>
            </a:r>
          </a:p>
        </p:txBody>
      </p:sp>
      <p:sp>
        <p:nvSpPr>
          <p:cNvPr id="20483" name="Rectangle 3"/>
          <p:cNvSpPr>
            <a:spLocks noChangeArrowheads="1"/>
          </p:cNvSpPr>
          <p:nvPr/>
        </p:nvSpPr>
        <p:spPr bwMode="auto">
          <a:xfrm>
            <a:off x="3431704" y="1772816"/>
            <a:ext cx="8496944" cy="3967753"/>
          </a:xfrm>
          <a:prstGeom prst="rect">
            <a:avLst/>
          </a:prstGeom>
          <a:noFill/>
          <a:ln w="25400">
            <a:noFill/>
            <a:miter lim="800000"/>
            <a:headEnd/>
            <a:tailEnd/>
          </a:ln>
        </p:spPr>
        <p:txBody>
          <a:bodyPr wrap="square" lIns="90488" tIns="44450" rIns="90488" bIns="44450">
            <a:spAutoFit/>
          </a:bodyPr>
          <a:lstStyle/>
          <a:p>
            <a:pPr lvl="2"/>
            <a:r>
              <a:rPr lang="en-US" altLang="zh-CN" sz="2800" dirty="0" smtClean="0">
                <a:latin typeface="Courier New" panose="02070309020205020404" pitchFamily="49" charset="0"/>
                <a:cs typeface="Courier New" panose="02070309020205020404" pitchFamily="49" charset="0"/>
              </a:rPr>
              <a:t>	B0 </a:t>
            </a:r>
            <a:r>
              <a:rPr lang="en-US" altLang="zh-CN" sz="2800" dirty="0" smtClean="0">
                <a:latin typeface="Courier New" panose="02070309020205020404" pitchFamily="49" charset="0"/>
                <a:cs typeface="Courier New" panose="02070309020205020404" pitchFamily="49" charset="0"/>
                <a:sym typeface="Symbol" panose="05050102010706020507" pitchFamily="18" charset="2"/>
              </a:rPr>
              <a:t></a:t>
            </a:r>
            <a:r>
              <a:rPr lang="en-US" altLang="zh-CN" sz="2800" dirty="0" smtClean="0">
                <a:latin typeface="Courier New" panose="02070309020205020404" pitchFamily="49" charset="0"/>
                <a:cs typeface="Courier New" panose="02070309020205020404" pitchFamily="49" charset="0"/>
              </a:rPr>
              <a:t>  </a:t>
            </a:r>
            <a:r>
              <a:rPr lang="en-US" altLang="zh-CN" sz="2800" i="1" dirty="0">
                <a:latin typeface="Courier New" panose="02070309020205020404" pitchFamily="49" charset="0"/>
                <a:cs typeface="Courier New" panose="02070309020205020404" pitchFamily="49" charset="0"/>
              </a:rPr>
              <a:t>- n</a:t>
            </a:r>
            <a:endParaRPr lang="en-US" altLang="zh-CN" sz="2800" dirty="0">
              <a:latin typeface="Courier New" panose="02070309020205020404" pitchFamily="49" charset="0"/>
              <a:cs typeface="Courier New" panose="02070309020205020404" pitchFamily="49" charset="0"/>
            </a:endParaRPr>
          </a:p>
          <a:p>
            <a:r>
              <a:rPr lang="en-US" altLang="zh-CN" sz="2800" dirty="0" smtClean="0">
                <a:latin typeface="Courier New" panose="02070309020205020404" pitchFamily="49" charset="0"/>
                <a:cs typeface="Courier New" panose="02070309020205020404" pitchFamily="49" charset="0"/>
              </a:rPr>
              <a:t>loop:	JZE   </a:t>
            </a:r>
            <a:r>
              <a:rPr lang="en-US" altLang="zh-CN" sz="2800" dirty="0">
                <a:latin typeface="Courier New" panose="02070309020205020404" pitchFamily="49" charset="0"/>
                <a:cs typeface="Courier New" panose="02070309020205020404" pitchFamily="49" charset="0"/>
              </a:rPr>
              <a:t>B0, exit</a:t>
            </a:r>
          </a:p>
          <a:p>
            <a:pPr lvl="2"/>
            <a:r>
              <a:rPr lang="en-US" altLang="zh-CN" sz="2800" dirty="0" smtClean="0">
                <a:latin typeface="Courier New" panose="02070309020205020404" pitchFamily="49" charset="0"/>
                <a:cs typeface="Courier New" panose="02070309020205020404" pitchFamily="49" charset="0"/>
              </a:rPr>
              <a:t>	A0 </a:t>
            </a:r>
            <a:r>
              <a:rPr lang="en-US" altLang="zh-CN" sz="2800" dirty="0">
                <a:latin typeface="Courier New" panose="02070309020205020404" pitchFamily="49" charset="0"/>
                <a:cs typeface="Courier New" panose="02070309020205020404" pitchFamily="49" charset="0"/>
                <a:sym typeface="Symbol" panose="05050102010706020507" pitchFamily="18" charset="2"/>
              </a:rPr>
              <a:t></a:t>
            </a:r>
            <a:r>
              <a:rPr lang="en-US" altLang="zh-CN" sz="2800" dirty="0" smtClean="0">
                <a:latin typeface="Courier New" panose="02070309020205020404" pitchFamily="49" charset="0"/>
                <a:cs typeface="Courier New" panose="02070309020205020404" pitchFamily="49" charset="0"/>
              </a:rPr>
              <a:t>  </a:t>
            </a:r>
            <a:r>
              <a:rPr lang="en-US" altLang="zh-CN" sz="2800" dirty="0">
                <a:latin typeface="Courier New" panose="02070309020205020404" pitchFamily="49" charset="0"/>
                <a:cs typeface="Courier New" panose="02070309020205020404" pitchFamily="49" charset="0"/>
              </a:rPr>
              <a:t>B0 + a0	</a:t>
            </a:r>
            <a:r>
              <a:rPr lang="en-US" altLang="zh-CN" sz="2800" dirty="0" smtClean="0">
                <a:latin typeface="Courier New" panose="02070309020205020404" pitchFamily="49" charset="0"/>
                <a:cs typeface="Courier New" panose="02070309020205020404" pitchFamily="49" charset="0"/>
              </a:rPr>
              <a:t>;</a:t>
            </a:r>
            <a:r>
              <a:rPr lang="en-US" altLang="zh-CN" sz="2800" i="1" dirty="0" smtClean="0">
                <a:latin typeface="Courier New" panose="02070309020205020404" pitchFamily="49" charset="0"/>
                <a:cs typeface="Courier New" panose="02070309020205020404" pitchFamily="49" charset="0"/>
              </a:rPr>
              <a:t>load </a:t>
            </a:r>
            <a:r>
              <a:rPr lang="en-US" altLang="zh-CN" sz="2800" i="1" dirty="0">
                <a:latin typeface="Courier New" panose="02070309020205020404" pitchFamily="49" charset="0"/>
                <a:cs typeface="Courier New" panose="02070309020205020404" pitchFamily="49" charset="0"/>
              </a:rPr>
              <a:t>X0</a:t>
            </a:r>
            <a:endParaRPr lang="en-US" altLang="zh-CN" sz="2800" dirty="0">
              <a:latin typeface="Courier New" panose="02070309020205020404" pitchFamily="49" charset="0"/>
              <a:cs typeface="Courier New" panose="02070309020205020404" pitchFamily="49" charset="0"/>
            </a:endParaRPr>
          </a:p>
          <a:p>
            <a:pPr lvl="2"/>
            <a:r>
              <a:rPr lang="en-US" altLang="zh-CN" sz="2800" dirty="0" smtClean="0">
                <a:latin typeface="Courier New" panose="02070309020205020404" pitchFamily="49" charset="0"/>
                <a:cs typeface="Courier New" panose="02070309020205020404" pitchFamily="49" charset="0"/>
              </a:rPr>
              <a:t>	A1 </a:t>
            </a:r>
            <a:r>
              <a:rPr lang="en-US" altLang="zh-CN" sz="2800" dirty="0">
                <a:latin typeface="Courier New" panose="02070309020205020404" pitchFamily="49" charset="0"/>
                <a:cs typeface="Courier New" panose="02070309020205020404" pitchFamily="49" charset="0"/>
                <a:sym typeface="Symbol" panose="05050102010706020507" pitchFamily="18" charset="2"/>
              </a:rPr>
              <a:t></a:t>
            </a:r>
            <a:r>
              <a:rPr lang="en-US" altLang="zh-CN" sz="2800" dirty="0" smtClean="0">
                <a:latin typeface="Courier New" panose="02070309020205020404" pitchFamily="49" charset="0"/>
                <a:cs typeface="Courier New" panose="02070309020205020404" pitchFamily="49" charset="0"/>
              </a:rPr>
              <a:t>  </a:t>
            </a:r>
            <a:r>
              <a:rPr lang="en-US" altLang="zh-CN" sz="2800" dirty="0">
                <a:latin typeface="Courier New" panose="02070309020205020404" pitchFamily="49" charset="0"/>
                <a:cs typeface="Courier New" panose="02070309020205020404" pitchFamily="49" charset="0"/>
              </a:rPr>
              <a:t>B0 + b0 	</a:t>
            </a:r>
            <a:r>
              <a:rPr lang="en-US" altLang="zh-CN" sz="2800" dirty="0" smtClean="0">
                <a:latin typeface="Courier New" panose="02070309020205020404" pitchFamily="49" charset="0"/>
                <a:cs typeface="Courier New" panose="02070309020205020404" pitchFamily="49" charset="0"/>
              </a:rPr>
              <a:t>;</a:t>
            </a:r>
            <a:r>
              <a:rPr lang="en-US" altLang="zh-CN" sz="2800" i="1" dirty="0" smtClean="0">
                <a:latin typeface="Courier New" panose="02070309020205020404" pitchFamily="49" charset="0"/>
                <a:cs typeface="Courier New" panose="02070309020205020404" pitchFamily="49" charset="0"/>
              </a:rPr>
              <a:t>load </a:t>
            </a:r>
            <a:r>
              <a:rPr lang="en-US" altLang="zh-CN" sz="2800" i="1" dirty="0">
                <a:latin typeface="Courier New" panose="02070309020205020404" pitchFamily="49" charset="0"/>
                <a:cs typeface="Courier New" panose="02070309020205020404" pitchFamily="49" charset="0"/>
              </a:rPr>
              <a:t>X1</a:t>
            </a:r>
            <a:endParaRPr lang="en-US" altLang="zh-CN" sz="2800" dirty="0">
              <a:latin typeface="Courier New" panose="02070309020205020404" pitchFamily="49" charset="0"/>
              <a:cs typeface="Courier New" panose="02070309020205020404" pitchFamily="49" charset="0"/>
            </a:endParaRPr>
          </a:p>
          <a:p>
            <a:pPr lvl="2"/>
            <a:r>
              <a:rPr lang="en-US" altLang="zh-CN" sz="2800" dirty="0" smtClean="0">
                <a:latin typeface="Courier New" panose="02070309020205020404" pitchFamily="49" charset="0"/>
                <a:cs typeface="Courier New" panose="02070309020205020404" pitchFamily="49" charset="0"/>
              </a:rPr>
              <a:t>	X6 </a:t>
            </a:r>
            <a:r>
              <a:rPr lang="en-US" altLang="zh-CN" sz="2800" dirty="0">
                <a:latin typeface="Courier New" panose="02070309020205020404" pitchFamily="49" charset="0"/>
                <a:cs typeface="Courier New" panose="02070309020205020404" pitchFamily="49" charset="0"/>
                <a:sym typeface="Symbol" panose="05050102010706020507" pitchFamily="18" charset="2"/>
              </a:rPr>
              <a:t></a:t>
            </a:r>
            <a:r>
              <a:rPr lang="en-US" altLang="zh-CN" sz="2800" dirty="0" smtClean="0">
                <a:latin typeface="Courier New" panose="02070309020205020404" pitchFamily="49" charset="0"/>
                <a:cs typeface="Courier New" panose="02070309020205020404" pitchFamily="49" charset="0"/>
              </a:rPr>
              <a:t>  </a:t>
            </a:r>
            <a:r>
              <a:rPr lang="en-US" altLang="zh-CN" sz="2800" dirty="0">
                <a:latin typeface="Courier New" panose="02070309020205020404" pitchFamily="49" charset="0"/>
                <a:cs typeface="Courier New" panose="02070309020205020404" pitchFamily="49" charset="0"/>
              </a:rPr>
              <a:t>X0 + X1</a:t>
            </a:r>
          </a:p>
          <a:p>
            <a:pPr lvl="2"/>
            <a:r>
              <a:rPr lang="en-US" altLang="zh-CN" sz="2800" dirty="0" smtClean="0">
                <a:latin typeface="Courier New" panose="02070309020205020404" pitchFamily="49" charset="0"/>
                <a:cs typeface="Courier New" panose="02070309020205020404" pitchFamily="49" charset="0"/>
              </a:rPr>
              <a:t>	A6 </a:t>
            </a:r>
            <a:r>
              <a:rPr lang="en-US" altLang="zh-CN" sz="2800" dirty="0">
                <a:latin typeface="Courier New" panose="02070309020205020404" pitchFamily="49" charset="0"/>
                <a:cs typeface="Courier New" panose="02070309020205020404" pitchFamily="49" charset="0"/>
                <a:sym typeface="Symbol" panose="05050102010706020507" pitchFamily="18" charset="2"/>
              </a:rPr>
              <a:t></a:t>
            </a:r>
            <a:r>
              <a:rPr lang="en-US" altLang="zh-CN" sz="2800" dirty="0" smtClean="0">
                <a:latin typeface="Courier New" panose="02070309020205020404" pitchFamily="49" charset="0"/>
                <a:cs typeface="Courier New" panose="02070309020205020404" pitchFamily="49" charset="0"/>
              </a:rPr>
              <a:t>  </a:t>
            </a:r>
            <a:r>
              <a:rPr lang="en-US" altLang="zh-CN" sz="2800" dirty="0">
                <a:latin typeface="Courier New" panose="02070309020205020404" pitchFamily="49" charset="0"/>
                <a:cs typeface="Courier New" panose="02070309020205020404" pitchFamily="49" charset="0"/>
              </a:rPr>
              <a:t>B0 + c0 	</a:t>
            </a:r>
            <a:r>
              <a:rPr lang="en-US" altLang="zh-CN" sz="2800" dirty="0" smtClean="0">
                <a:latin typeface="Courier New" panose="02070309020205020404" pitchFamily="49" charset="0"/>
                <a:cs typeface="Courier New" panose="02070309020205020404" pitchFamily="49" charset="0"/>
              </a:rPr>
              <a:t>;</a:t>
            </a:r>
            <a:r>
              <a:rPr lang="en-US" altLang="zh-CN" sz="2800" i="1" dirty="0" smtClean="0">
                <a:latin typeface="Courier New" panose="02070309020205020404" pitchFamily="49" charset="0"/>
                <a:cs typeface="Courier New" panose="02070309020205020404" pitchFamily="49" charset="0"/>
              </a:rPr>
              <a:t>store </a:t>
            </a:r>
            <a:r>
              <a:rPr lang="en-US" altLang="zh-CN" sz="2800" i="1" dirty="0">
                <a:latin typeface="Courier New" panose="02070309020205020404" pitchFamily="49" charset="0"/>
                <a:cs typeface="Courier New" panose="02070309020205020404" pitchFamily="49" charset="0"/>
              </a:rPr>
              <a:t>X6</a:t>
            </a:r>
            <a:endParaRPr lang="en-US" altLang="zh-CN" sz="2800" dirty="0">
              <a:latin typeface="Courier New" panose="02070309020205020404" pitchFamily="49" charset="0"/>
              <a:cs typeface="Courier New" panose="02070309020205020404" pitchFamily="49" charset="0"/>
            </a:endParaRPr>
          </a:p>
          <a:p>
            <a:pPr lvl="2"/>
            <a:r>
              <a:rPr lang="en-US" altLang="zh-CN" sz="2800" dirty="0" smtClean="0">
                <a:latin typeface="Courier New" panose="02070309020205020404" pitchFamily="49" charset="0"/>
                <a:cs typeface="Courier New" panose="02070309020205020404" pitchFamily="49" charset="0"/>
              </a:rPr>
              <a:t>	B0 </a:t>
            </a:r>
            <a:r>
              <a:rPr lang="en-US" altLang="zh-CN" sz="2800" dirty="0">
                <a:latin typeface="Courier New" panose="02070309020205020404" pitchFamily="49" charset="0"/>
                <a:cs typeface="Courier New" panose="02070309020205020404" pitchFamily="49" charset="0"/>
                <a:sym typeface="Symbol" panose="05050102010706020507" pitchFamily="18" charset="2"/>
              </a:rPr>
              <a:t></a:t>
            </a:r>
            <a:r>
              <a:rPr lang="en-US" altLang="zh-CN" sz="2800" dirty="0" smtClean="0">
                <a:latin typeface="Courier New" panose="02070309020205020404" pitchFamily="49" charset="0"/>
                <a:cs typeface="Courier New" panose="02070309020205020404" pitchFamily="49" charset="0"/>
              </a:rPr>
              <a:t>  </a:t>
            </a:r>
            <a:r>
              <a:rPr lang="en-US" altLang="zh-CN" sz="2800" dirty="0">
                <a:latin typeface="Courier New" panose="02070309020205020404" pitchFamily="49" charset="0"/>
                <a:cs typeface="Courier New" panose="02070309020205020404" pitchFamily="49" charset="0"/>
              </a:rPr>
              <a:t>B0 + 1</a:t>
            </a:r>
          </a:p>
          <a:p>
            <a:pPr lvl="2"/>
            <a:r>
              <a:rPr lang="en-US" altLang="zh-CN" sz="2800" dirty="0" smtClean="0">
                <a:latin typeface="Courier New" panose="02070309020205020404" pitchFamily="49" charset="0"/>
                <a:cs typeface="Courier New" panose="02070309020205020404" pitchFamily="49" charset="0"/>
              </a:rPr>
              <a:t>	jump </a:t>
            </a:r>
            <a:r>
              <a:rPr lang="en-US" altLang="zh-CN" sz="2800" dirty="0">
                <a:latin typeface="Courier New" panose="02070309020205020404" pitchFamily="49" charset="0"/>
                <a:cs typeface="Courier New" panose="02070309020205020404" pitchFamily="49" charset="0"/>
              </a:rPr>
              <a:t>loop</a:t>
            </a:r>
          </a:p>
          <a:p>
            <a:pPr latinLnBrk="1"/>
            <a:endParaRPr lang="en-US" altLang="zh-CN" sz="2800" dirty="0">
              <a:latin typeface="Courier New" panose="02070309020205020404" pitchFamily="49" charset="0"/>
              <a:cs typeface="Courier New" panose="02070309020205020404" pitchFamily="49" charset="0"/>
            </a:endParaRPr>
          </a:p>
        </p:txBody>
      </p:sp>
      <p:sp>
        <p:nvSpPr>
          <p:cNvPr id="20484" name="Text Box 4"/>
          <p:cNvSpPr txBox="1">
            <a:spLocks noChangeArrowheads="1"/>
          </p:cNvSpPr>
          <p:nvPr/>
        </p:nvSpPr>
        <p:spPr bwMode="auto">
          <a:xfrm>
            <a:off x="838200" y="3212976"/>
            <a:ext cx="3416320" cy="2677656"/>
          </a:xfrm>
          <a:prstGeom prst="rect">
            <a:avLst/>
          </a:prstGeom>
          <a:noFill/>
          <a:ln w="9525">
            <a:noFill/>
            <a:miter lim="800000"/>
            <a:headEnd/>
            <a:tailEnd/>
          </a:ln>
        </p:spPr>
        <p:txBody>
          <a:bodyPr wrap="none">
            <a:spAutoFit/>
          </a:bodyPr>
          <a:lstStyle/>
          <a:p>
            <a:pPr eaLnBrk="1" hangingPunct="1"/>
            <a:r>
              <a:rPr lang="en-US" altLang="zh-CN" sz="2800" dirty="0">
                <a:latin typeface="Calibri" pitchFamily="34" charset="0"/>
              </a:rPr>
              <a:t>Ai = address register</a:t>
            </a:r>
          </a:p>
          <a:p>
            <a:pPr eaLnBrk="1" hangingPunct="1"/>
            <a:r>
              <a:rPr lang="en-US" altLang="zh-CN" sz="2800" dirty="0">
                <a:latin typeface="Calibri" pitchFamily="34" charset="0"/>
              </a:rPr>
              <a:t>Bi = index register</a:t>
            </a:r>
          </a:p>
          <a:p>
            <a:pPr eaLnBrk="1" hangingPunct="1"/>
            <a:r>
              <a:rPr lang="en-US" altLang="zh-CN" sz="2800" dirty="0">
                <a:latin typeface="Calibri" pitchFamily="34" charset="0"/>
              </a:rPr>
              <a:t>Xi = data </a:t>
            </a:r>
            <a:r>
              <a:rPr lang="en-US" altLang="zh-CN" sz="2800" dirty="0" smtClean="0">
                <a:latin typeface="Calibri" pitchFamily="34" charset="0"/>
              </a:rPr>
              <a:t>register</a:t>
            </a:r>
          </a:p>
          <a:p>
            <a:pPr eaLnBrk="1" hangingPunct="1"/>
            <a:endParaRPr lang="en-US" altLang="zh-CN" sz="2800" dirty="0">
              <a:latin typeface="Calibri" pitchFamily="34" charset="0"/>
            </a:endParaRPr>
          </a:p>
          <a:p>
            <a:pPr eaLnBrk="1" hangingPunct="1"/>
            <a:r>
              <a:rPr lang="zh-CN" altLang="en-US" sz="2800" dirty="0">
                <a:solidFill>
                  <a:srgbClr val="0000FF"/>
                </a:solidFill>
                <a:latin typeface="微软雅黑" panose="020B0503020204020204" pitchFamily="34" charset="-122"/>
                <a:ea typeface="微软雅黑" panose="020B0503020204020204" pitchFamily="34" charset="-122"/>
              </a:rPr>
              <a:t>通过标量运算的循环</a:t>
            </a:r>
            <a:endParaRPr lang="en-US" altLang="zh-CN" sz="2800" dirty="0">
              <a:solidFill>
                <a:srgbClr val="0000FF"/>
              </a:solidFill>
              <a:latin typeface="微软雅黑" panose="020B0503020204020204" pitchFamily="34" charset="-122"/>
              <a:ea typeface="微软雅黑" panose="020B0503020204020204" pitchFamily="34" charset="-122"/>
            </a:endParaRPr>
          </a:p>
          <a:p>
            <a:pPr eaLnBrk="1" hangingPunct="1"/>
            <a:r>
              <a:rPr lang="zh-CN" altLang="en-US" sz="2800" dirty="0" smtClean="0">
                <a:solidFill>
                  <a:srgbClr val="0000FF"/>
                </a:solidFill>
                <a:latin typeface="微软雅黑" panose="020B0503020204020204" pitchFamily="34" charset="-122"/>
                <a:ea typeface="微软雅黑" panose="020B0503020204020204" pitchFamily="34" charset="-122"/>
              </a:rPr>
              <a:t>完成向量运算</a:t>
            </a:r>
            <a:endParaRPr lang="en-US" altLang="zh-CN" sz="2800" dirty="0" smtClean="0">
              <a:solidFill>
                <a:srgbClr val="0000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54550167"/>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4" descr="cray1"/>
          <p:cNvPicPr>
            <a:picLocks noChangeAspect="1" noChangeArrowheads="1"/>
          </p:cNvPicPr>
          <p:nvPr/>
        </p:nvPicPr>
        <p:blipFill>
          <a:blip r:embed="rId3" cstate="print"/>
          <a:srcRect/>
          <a:stretch>
            <a:fillRect/>
          </a:stretch>
        </p:blipFill>
        <p:spPr bwMode="auto">
          <a:xfrm>
            <a:off x="7202886" y="1591072"/>
            <a:ext cx="3738858" cy="4214192"/>
          </a:xfrm>
          <a:prstGeom prst="rect">
            <a:avLst/>
          </a:prstGeom>
          <a:noFill/>
          <a:ln w="9525">
            <a:noFill/>
            <a:miter lim="800000"/>
            <a:headEnd/>
            <a:tailEnd/>
          </a:ln>
        </p:spPr>
      </p:pic>
      <p:sp>
        <p:nvSpPr>
          <p:cNvPr id="21507" name="Rectangle 2"/>
          <p:cNvSpPr>
            <a:spLocks noGrp="1" noChangeArrowheads="1"/>
          </p:cNvSpPr>
          <p:nvPr>
            <p:ph type="title"/>
          </p:nvPr>
        </p:nvSpPr>
        <p:spPr/>
        <p:txBody>
          <a:bodyPr/>
          <a:lstStyle/>
          <a:p>
            <a:r>
              <a:rPr lang="zh-CN" altLang="en-US" dirty="0" smtClean="0"/>
              <a:t>向量超级计算机</a:t>
            </a:r>
            <a:endParaRPr lang="en-US" altLang="ko-KR" dirty="0" smtClean="0"/>
          </a:p>
        </p:txBody>
      </p:sp>
      <p:sp>
        <p:nvSpPr>
          <p:cNvPr id="21508" name="Rectangle 3"/>
          <p:cNvSpPr>
            <a:spLocks noGrp="1" noChangeArrowheads="1"/>
          </p:cNvSpPr>
          <p:nvPr>
            <p:ph idx="1"/>
          </p:nvPr>
        </p:nvSpPr>
        <p:spPr>
          <a:xfrm>
            <a:off x="838200" y="1556792"/>
            <a:ext cx="9506272" cy="4896396"/>
          </a:xfrm>
        </p:spPr>
        <p:txBody>
          <a:bodyPr/>
          <a:lstStyle/>
          <a:p>
            <a:r>
              <a:rPr lang="en-US" altLang="ko-KR" dirty="0"/>
              <a:t>Cray-1</a:t>
            </a:r>
            <a:r>
              <a:rPr lang="zh-CN" altLang="en-US" dirty="0"/>
              <a:t>是其典范</a:t>
            </a:r>
            <a:r>
              <a:rPr lang="en-US" altLang="ko-KR" dirty="0"/>
              <a:t> </a:t>
            </a:r>
          </a:p>
          <a:p>
            <a:r>
              <a:rPr lang="en-US" altLang="ko-KR" dirty="0"/>
              <a:t>Scalar Unit</a:t>
            </a:r>
          </a:p>
          <a:p>
            <a:pPr lvl="1"/>
            <a:r>
              <a:rPr lang="en-US" altLang="ko-KR" sz="2000" dirty="0"/>
              <a:t>Load/Store Architecture</a:t>
            </a:r>
          </a:p>
          <a:p>
            <a:r>
              <a:rPr lang="en-US" altLang="ko-KR" dirty="0"/>
              <a:t>Vector Extension</a:t>
            </a:r>
          </a:p>
          <a:p>
            <a:pPr lvl="1"/>
            <a:r>
              <a:rPr lang="en-US" altLang="ko-KR" sz="2000" dirty="0"/>
              <a:t>Vector Registers</a:t>
            </a:r>
          </a:p>
          <a:p>
            <a:pPr lvl="1"/>
            <a:r>
              <a:rPr lang="en-US" altLang="ko-KR" sz="2000" dirty="0"/>
              <a:t>Vector Instructions</a:t>
            </a:r>
          </a:p>
          <a:p>
            <a:r>
              <a:rPr lang="en-US" altLang="ko-KR" dirty="0"/>
              <a:t>Implementation</a:t>
            </a:r>
          </a:p>
          <a:p>
            <a:pPr lvl="1"/>
            <a:r>
              <a:rPr lang="en-US" altLang="ko-KR" sz="2000" dirty="0"/>
              <a:t>Hardwired Control</a:t>
            </a:r>
          </a:p>
          <a:p>
            <a:pPr lvl="1"/>
            <a:r>
              <a:rPr lang="en-US" altLang="ko-KR" sz="2000" dirty="0"/>
              <a:t>Highly Pipelined Functional Units</a:t>
            </a:r>
          </a:p>
          <a:p>
            <a:pPr lvl="1"/>
            <a:r>
              <a:rPr lang="en-US" altLang="ko-KR" sz="2000" dirty="0"/>
              <a:t>Interleaved Memory System</a:t>
            </a:r>
          </a:p>
          <a:p>
            <a:pPr lvl="1"/>
            <a:r>
              <a:rPr lang="en-US" altLang="ko-KR" sz="2000" dirty="0"/>
              <a:t>No Data Caches</a:t>
            </a:r>
          </a:p>
          <a:p>
            <a:pPr lvl="1"/>
            <a:r>
              <a:rPr lang="en-US" altLang="ko-KR" sz="2000" dirty="0"/>
              <a:t>No Virtual </a:t>
            </a:r>
            <a:r>
              <a:rPr lang="en-US" altLang="ko-KR" sz="2000" dirty="0" smtClean="0"/>
              <a:t>Memory                                  </a:t>
            </a:r>
            <a:r>
              <a:rPr lang="zh-CN" altLang="en-US" sz="2000" dirty="0" smtClean="0"/>
              <a:t>中国的类似机器：</a:t>
            </a:r>
            <a:r>
              <a:rPr lang="en-US" altLang="zh-CN" sz="2000" dirty="0" smtClean="0"/>
              <a:t>757</a:t>
            </a:r>
            <a:r>
              <a:rPr lang="zh-CN" altLang="en-US" sz="2000" dirty="0" smtClean="0"/>
              <a:t>、</a:t>
            </a:r>
            <a:r>
              <a:rPr lang="en-US" altLang="zh-CN" sz="2000" dirty="0" smtClean="0"/>
              <a:t>YH-1</a:t>
            </a:r>
            <a:endParaRPr lang="en-US" altLang="ko-KR" sz="2000" dirty="0"/>
          </a:p>
        </p:txBody>
      </p:sp>
    </p:spTree>
    <p:extLst>
      <p:ext uri="{BB962C8B-B14F-4D97-AF65-F5344CB8AC3E}">
        <p14:creationId xmlns:p14="http://schemas.microsoft.com/office/powerpoint/2010/main" val="36293224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ko-KR" smtClean="0"/>
              <a:t>Cray-1 (1976)</a:t>
            </a:r>
          </a:p>
        </p:txBody>
      </p:sp>
      <p:sp>
        <p:nvSpPr>
          <p:cNvPr id="2" name="内容占位符 1"/>
          <p:cNvSpPr>
            <a:spLocks noGrp="1"/>
          </p:cNvSpPr>
          <p:nvPr>
            <p:ph idx="1"/>
          </p:nvPr>
        </p:nvSpPr>
        <p:spPr>
          <a:xfrm>
            <a:off x="478456" y="1556792"/>
            <a:ext cx="3477250" cy="5112568"/>
          </a:xfrm>
        </p:spPr>
        <p:txBody>
          <a:bodyPr/>
          <a:lstStyle/>
          <a:p>
            <a:r>
              <a:rPr lang="en-US" altLang="zh-CN" dirty="0" smtClean="0"/>
              <a:t>80 MHz</a:t>
            </a:r>
          </a:p>
          <a:p>
            <a:pPr lvl="1"/>
            <a:r>
              <a:rPr lang="en-US" altLang="zh-CN" dirty="0" smtClean="0"/>
              <a:t>160 MFLOPS</a:t>
            </a:r>
          </a:p>
          <a:p>
            <a:r>
              <a:rPr lang="en-US" altLang="zh-CN" dirty="0" smtClean="0"/>
              <a:t>ECL Small scale IC</a:t>
            </a:r>
          </a:p>
          <a:p>
            <a:pPr lvl="1"/>
            <a:r>
              <a:rPr lang="en-US" altLang="zh-CN" dirty="0" smtClean="0"/>
              <a:t>2 NAND Gates</a:t>
            </a:r>
          </a:p>
          <a:p>
            <a:pPr lvl="1"/>
            <a:r>
              <a:rPr lang="en-US" altLang="zh-CN" dirty="0" smtClean="0"/>
              <a:t>Gate delay 0.7ns</a:t>
            </a:r>
          </a:p>
          <a:p>
            <a:r>
              <a:rPr lang="zh-CN" altLang="en-US" dirty="0" smtClean="0"/>
              <a:t>高密度组装</a:t>
            </a:r>
            <a:endParaRPr lang="en-US" altLang="zh-CN" dirty="0" smtClean="0"/>
          </a:p>
          <a:p>
            <a:pPr lvl="1"/>
            <a:r>
              <a:rPr lang="zh-CN" altLang="en-US" dirty="0" smtClean="0"/>
              <a:t>缩短线延迟</a:t>
            </a:r>
            <a:endParaRPr lang="en-US" altLang="zh-CN" dirty="0" smtClean="0"/>
          </a:p>
          <a:p>
            <a:pPr lvl="1"/>
            <a:r>
              <a:rPr lang="zh-CN" altLang="en-US" dirty="0" smtClean="0"/>
              <a:t>真空光速</a:t>
            </a:r>
            <a:r>
              <a:rPr lang="en-US" altLang="zh-CN" dirty="0" smtClean="0"/>
              <a:t>33ps/cm</a:t>
            </a:r>
          </a:p>
          <a:p>
            <a:pPr lvl="1"/>
            <a:r>
              <a:rPr lang="zh-CN" altLang="en-US" dirty="0" smtClean="0"/>
              <a:t>印制线</a:t>
            </a:r>
            <a:r>
              <a:rPr lang="en-US" altLang="zh-CN" dirty="0" smtClean="0"/>
              <a:t>: </a:t>
            </a:r>
            <a:r>
              <a:rPr lang="en-US" altLang="zh-CN" dirty="0" smtClean="0">
                <a:sym typeface="Symbol" panose="05050102010706020507" pitchFamily="18" charset="2"/>
              </a:rPr>
              <a:t></a:t>
            </a:r>
            <a:r>
              <a:rPr lang="en-US" altLang="zh-CN" dirty="0" smtClean="0"/>
              <a:t>60ps/cm</a:t>
            </a:r>
          </a:p>
          <a:p>
            <a:r>
              <a:rPr lang="zh-CN" altLang="en-US" dirty="0" smtClean="0"/>
              <a:t>液冷</a:t>
            </a:r>
            <a:endParaRPr lang="en-US" altLang="zh-CN" dirty="0" smtClean="0"/>
          </a:p>
          <a:p>
            <a:pPr lvl="1"/>
            <a:r>
              <a:rPr lang="zh-CN" altLang="en-US" dirty="0" smtClean="0"/>
              <a:t>冷媒：</a:t>
            </a:r>
            <a:r>
              <a:rPr lang="en-US" altLang="zh-CN" dirty="0" smtClean="0"/>
              <a:t>Freon</a:t>
            </a:r>
            <a:endParaRPr lang="zh-CN" altLang="en-US" dirty="0"/>
          </a:p>
        </p:txBody>
      </p:sp>
      <p:sp>
        <p:nvSpPr>
          <p:cNvPr id="22531" name="Rectangle 3"/>
          <p:cNvSpPr>
            <a:spLocks noChangeArrowheads="1"/>
          </p:cNvSpPr>
          <p:nvPr/>
        </p:nvSpPr>
        <p:spPr bwMode="auto">
          <a:xfrm>
            <a:off x="4110656" y="1488977"/>
            <a:ext cx="1754188" cy="4814887"/>
          </a:xfrm>
          <a:prstGeom prst="rect">
            <a:avLst/>
          </a:prstGeom>
          <a:solidFill>
            <a:schemeClr val="accent1">
              <a:lumMod val="60000"/>
              <a:lumOff val="40000"/>
            </a:schemeClr>
          </a:solidFill>
          <a:ln w="25400">
            <a:solidFill>
              <a:schemeClr val="tx1"/>
            </a:solidFill>
            <a:miter lim="800000"/>
            <a:headEnd/>
            <a:tailEnd/>
          </a:ln>
        </p:spPr>
        <p:txBody>
          <a:bodyPr wrap="none" anchor="ctr"/>
          <a:lstStyle/>
          <a:p>
            <a:endParaRPr lang="en-US" altLang="zh-CN"/>
          </a:p>
        </p:txBody>
      </p:sp>
      <p:sp>
        <p:nvSpPr>
          <p:cNvPr id="22532" name="Rectangle 4"/>
          <p:cNvSpPr>
            <a:spLocks noChangeArrowheads="1"/>
          </p:cNvSpPr>
          <p:nvPr/>
        </p:nvSpPr>
        <p:spPr bwMode="auto">
          <a:xfrm>
            <a:off x="4110656" y="2174777"/>
            <a:ext cx="1828800" cy="3933825"/>
          </a:xfrm>
          <a:prstGeom prst="rect">
            <a:avLst/>
          </a:prstGeom>
          <a:noFill/>
          <a:ln w="25400">
            <a:noFill/>
            <a:miter lim="800000"/>
            <a:headEnd/>
            <a:tailEnd/>
          </a:ln>
        </p:spPr>
        <p:txBody>
          <a:bodyPr lIns="90488" tIns="44450" rIns="90488" bIns="44450">
            <a:spAutoFit/>
          </a:bodyPr>
          <a:lstStyle/>
          <a:p>
            <a:r>
              <a:rPr lang="en-US" altLang="ko-KR" b="1">
                <a:ea typeface="굴림" pitchFamily="34" charset="-127"/>
              </a:rPr>
              <a:t>Single Port</a:t>
            </a:r>
          </a:p>
          <a:p>
            <a:r>
              <a:rPr lang="en-US" altLang="ko-KR" b="1">
                <a:ea typeface="굴림" pitchFamily="34" charset="-127"/>
              </a:rPr>
              <a:t>Memory</a:t>
            </a:r>
          </a:p>
          <a:p>
            <a:endParaRPr lang="en-US" altLang="ko-KR" b="1">
              <a:ea typeface="굴림" pitchFamily="34" charset="-127"/>
            </a:endParaRPr>
          </a:p>
          <a:p>
            <a:r>
              <a:rPr lang="en-US" altLang="ko-KR" b="1">
                <a:ea typeface="굴림" pitchFamily="34" charset="-127"/>
              </a:rPr>
              <a:t>16 banks of 64-bit words</a:t>
            </a:r>
          </a:p>
          <a:p>
            <a:r>
              <a:rPr lang="en-US" altLang="ko-KR" b="1">
                <a:ea typeface="굴림" pitchFamily="34" charset="-127"/>
              </a:rPr>
              <a:t>+ </a:t>
            </a:r>
          </a:p>
          <a:p>
            <a:r>
              <a:rPr lang="en-US" altLang="ko-KR" b="1">
                <a:ea typeface="굴림" pitchFamily="34" charset="-127"/>
              </a:rPr>
              <a:t>8-bit SECDED</a:t>
            </a:r>
          </a:p>
          <a:p>
            <a:endParaRPr lang="en-US" altLang="ko-KR" b="1">
              <a:ea typeface="굴림" pitchFamily="34" charset="-127"/>
            </a:endParaRPr>
          </a:p>
          <a:p>
            <a:r>
              <a:rPr lang="en-US" altLang="ko-KR" b="1">
                <a:ea typeface="굴림" pitchFamily="34" charset="-127"/>
              </a:rPr>
              <a:t>80MW/sec data load/store</a:t>
            </a:r>
          </a:p>
          <a:p>
            <a:endParaRPr lang="en-US" altLang="ko-KR" b="1">
              <a:ea typeface="굴림" pitchFamily="34" charset="-127"/>
            </a:endParaRPr>
          </a:p>
          <a:p>
            <a:r>
              <a:rPr lang="en-US" altLang="ko-KR" b="1">
                <a:ea typeface="굴림" pitchFamily="34" charset="-127"/>
              </a:rPr>
              <a:t>320MW/sec instruction</a:t>
            </a:r>
          </a:p>
          <a:p>
            <a:r>
              <a:rPr lang="en-US" altLang="ko-KR" b="1">
                <a:ea typeface="굴림" pitchFamily="34" charset="-127"/>
              </a:rPr>
              <a:t>buffer refill</a:t>
            </a:r>
          </a:p>
        </p:txBody>
      </p:sp>
      <p:sp>
        <p:nvSpPr>
          <p:cNvPr id="22533" name="Rectangle 5"/>
          <p:cNvSpPr>
            <a:spLocks noChangeArrowheads="1"/>
          </p:cNvSpPr>
          <p:nvPr/>
        </p:nvSpPr>
        <p:spPr bwMode="auto">
          <a:xfrm>
            <a:off x="6004545" y="6289577"/>
            <a:ext cx="2478087" cy="363537"/>
          </a:xfrm>
          <a:prstGeom prst="rect">
            <a:avLst/>
          </a:prstGeom>
          <a:noFill/>
          <a:ln w="25400">
            <a:noFill/>
            <a:miter lim="800000"/>
            <a:headEnd/>
            <a:tailEnd/>
          </a:ln>
        </p:spPr>
        <p:txBody>
          <a:bodyPr lIns="90488" tIns="44450" rIns="90488" bIns="44450">
            <a:spAutoFit/>
          </a:bodyPr>
          <a:lstStyle/>
          <a:p>
            <a:r>
              <a:rPr lang="en-US" altLang="ko-KR" b="1" dirty="0">
                <a:ea typeface="굴림" pitchFamily="34" charset="-127"/>
              </a:rPr>
              <a:t>4 Instruction Buffers</a:t>
            </a:r>
          </a:p>
        </p:txBody>
      </p:sp>
      <p:sp>
        <p:nvSpPr>
          <p:cNvPr id="22534" name="Line 6"/>
          <p:cNvSpPr>
            <a:spLocks noChangeShapeType="1"/>
          </p:cNvSpPr>
          <p:nvPr/>
        </p:nvSpPr>
        <p:spPr bwMode="auto">
          <a:xfrm flipV="1">
            <a:off x="6309344" y="5730776"/>
            <a:ext cx="431800" cy="482600"/>
          </a:xfrm>
          <a:prstGeom prst="line">
            <a:avLst/>
          </a:prstGeom>
          <a:noFill/>
          <a:ln w="25400">
            <a:solidFill>
              <a:schemeClr val="tx1"/>
            </a:solidFill>
            <a:round/>
            <a:headEnd/>
            <a:tailEnd/>
          </a:ln>
        </p:spPr>
        <p:txBody>
          <a:bodyPr wrap="none" anchor="ctr"/>
          <a:lstStyle/>
          <a:p>
            <a:endParaRPr lang="zh-CN" altLang="en-US"/>
          </a:p>
        </p:txBody>
      </p:sp>
      <p:sp>
        <p:nvSpPr>
          <p:cNvPr id="22535" name="Line 7"/>
          <p:cNvSpPr>
            <a:spLocks noChangeShapeType="1"/>
          </p:cNvSpPr>
          <p:nvPr/>
        </p:nvSpPr>
        <p:spPr bwMode="auto">
          <a:xfrm>
            <a:off x="6385544" y="6124476"/>
            <a:ext cx="279400" cy="0"/>
          </a:xfrm>
          <a:prstGeom prst="line">
            <a:avLst/>
          </a:prstGeom>
          <a:noFill/>
          <a:ln w="25400">
            <a:solidFill>
              <a:schemeClr val="tx1"/>
            </a:solidFill>
            <a:round/>
            <a:headEnd/>
            <a:tailEnd/>
          </a:ln>
        </p:spPr>
        <p:txBody>
          <a:bodyPr wrap="none" anchor="ctr"/>
          <a:lstStyle/>
          <a:p>
            <a:endParaRPr lang="zh-CN" altLang="en-US"/>
          </a:p>
        </p:txBody>
      </p:sp>
      <p:sp>
        <p:nvSpPr>
          <p:cNvPr id="22536" name="Line 8"/>
          <p:cNvSpPr>
            <a:spLocks noChangeShapeType="1"/>
          </p:cNvSpPr>
          <p:nvPr/>
        </p:nvSpPr>
        <p:spPr bwMode="auto">
          <a:xfrm>
            <a:off x="6461744" y="6048276"/>
            <a:ext cx="279400" cy="0"/>
          </a:xfrm>
          <a:prstGeom prst="line">
            <a:avLst/>
          </a:prstGeom>
          <a:noFill/>
          <a:ln w="25400">
            <a:solidFill>
              <a:schemeClr val="tx1"/>
            </a:solidFill>
            <a:round/>
            <a:headEnd/>
            <a:tailEnd/>
          </a:ln>
        </p:spPr>
        <p:txBody>
          <a:bodyPr wrap="none" anchor="ctr"/>
          <a:lstStyle/>
          <a:p>
            <a:endParaRPr lang="zh-CN" altLang="en-US"/>
          </a:p>
        </p:txBody>
      </p:sp>
      <p:sp>
        <p:nvSpPr>
          <p:cNvPr id="22537" name="Line 9"/>
          <p:cNvSpPr>
            <a:spLocks noChangeShapeType="1"/>
          </p:cNvSpPr>
          <p:nvPr/>
        </p:nvSpPr>
        <p:spPr bwMode="auto">
          <a:xfrm>
            <a:off x="6537944" y="5972076"/>
            <a:ext cx="279400" cy="0"/>
          </a:xfrm>
          <a:prstGeom prst="line">
            <a:avLst/>
          </a:prstGeom>
          <a:noFill/>
          <a:ln w="25400">
            <a:solidFill>
              <a:schemeClr val="tx1"/>
            </a:solidFill>
            <a:round/>
            <a:headEnd/>
            <a:tailEnd/>
          </a:ln>
        </p:spPr>
        <p:txBody>
          <a:bodyPr wrap="none" anchor="ctr"/>
          <a:lstStyle/>
          <a:p>
            <a:endParaRPr lang="zh-CN" altLang="en-US"/>
          </a:p>
        </p:txBody>
      </p:sp>
      <p:sp>
        <p:nvSpPr>
          <p:cNvPr id="22538" name="Line 10"/>
          <p:cNvSpPr>
            <a:spLocks noChangeShapeType="1"/>
          </p:cNvSpPr>
          <p:nvPr/>
        </p:nvSpPr>
        <p:spPr bwMode="auto">
          <a:xfrm>
            <a:off x="6614144" y="5895876"/>
            <a:ext cx="279400" cy="0"/>
          </a:xfrm>
          <a:prstGeom prst="line">
            <a:avLst/>
          </a:prstGeom>
          <a:noFill/>
          <a:ln w="25400">
            <a:solidFill>
              <a:schemeClr val="tx1"/>
            </a:solidFill>
            <a:round/>
            <a:headEnd/>
            <a:tailEnd/>
          </a:ln>
        </p:spPr>
        <p:txBody>
          <a:bodyPr wrap="none" anchor="ctr"/>
          <a:lstStyle/>
          <a:p>
            <a:endParaRPr lang="zh-CN" altLang="en-US"/>
          </a:p>
        </p:txBody>
      </p:sp>
      <p:sp>
        <p:nvSpPr>
          <p:cNvPr id="22539" name="Rectangle 11"/>
          <p:cNvSpPr>
            <a:spLocks noChangeArrowheads="1"/>
          </p:cNvSpPr>
          <p:nvPr/>
        </p:nvSpPr>
        <p:spPr bwMode="auto">
          <a:xfrm>
            <a:off x="6918944" y="5679976"/>
            <a:ext cx="889000" cy="355600"/>
          </a:xfrm>
          <a:prstGeom prst="rect">
            <a:avLst/>
          </a:prstGeom>
          <a:solidFill>
            <a:schemeClr val="accent1">
              <a:lumMod val="40000"/>
              <a:lumOff val="60000"/>
            </a:schemeClr>
          </a:solidFill>
          <a:ln w="25400">
            <a:solidFill>
              <a:schemeClr val="tx1"/>
            </a:solidFill>
            <a:miter lim="800000"/>
            <a:headEnd/>
            <a:tailEnd/>
          </a:ln>
        </p:spPr>
        <p:txBody>
          <a:bodyPr wrap="none" anchor="ctr"/>
          <a:lstStyle/>
          <a:p>
            <a:endParaRPr lang="en-US" altLang="zh-CN"/>
          </a:p>
        </p:txBody>
      </p:sp>
      <p:sp>
        <p:nvSpPr>
          <p:cNvPr id="22540" name="Rectangle 12"/>
          <p:cNvSpPr>
            <a:spLocks noChangeArrowheads="1"/>
          </p:cNvSpPr>
          <p:nvPr/>
        </p:nvSpPr>
        <p:spPr bwMode="auto">
          <a:xfrm>
            <a:off x="6842744" y="5756176"/>
            <a:ext cx="889000" cy="355600"/>
          </a:xfrm>
          <a:prstGeom prst="rect">
            <a:avLst/>
          </a:prstGeom>
          <a:solidFill>
            <a:schemeClr val="accent1">
              <a:lumMod val="40000"/>
              <a:lumOff val="60000"/>
            </a:schemeClr>
          </a:solidFill>
          <a:ln w="25400">
            <a:solidFill>
              <a:schemeClr val="tx1"/>
            </a:solidFill>
            <a:miter lim="800000"/>
            <a:headEnd/>
            <a:tailEnd/>
          </a:ln>
        </p:spPr>
        <p:txBody>
          <a:bodyPr wrap="none" anchor="ctr"/>
          <a:lstStyle/>
          <a:p>
            <a:endParaRPr lang="en-US" altLang="zh-CN"/>
          </a:p>
        </p:txBody>
      </p:sp>
      <p:sp>
        <p:nvSpPr>
          <p:cNvPr id="22541" name="Rectangle 13"/>
          <p:cNvSpPr>
            <a:spLocks noChangeArrowheads="1"/>
          </p:cNvSpPr>
          <p:nvPr/>
        </p:nvSpPr>
        <p:spPr bwMode="auto">
          <a:xfrm>
            <a:off x="6766544" y="5832376"/>
            <a:ext cx="889000" cy="355600"/>
          </a:xfrm>
          <a:prstGeom prst="rect">
            <a:avLst/>
          </a:prstGeom>
          <a:solidFill>
            <a:schemeClr val="accent1">
              <a:lumMod val="40000"/>
              <a:lumOff val="60000"/>
            </a:schemeClr>
          </a:solidFill>
          <a:ln w="25400">
            <a:solidFill>
              <a:schemeClr val="tx1"/>
            </a:solidFill>
            <a:miter lim="800000"/>
            <a:headEnd/>
            <a:tailEnd/>
          </a:ln>
        </p:spPr>
        <p:txBody>
          <a:bodyPr wrap="none" anchor="ctr"/>
          <a:lstStyle/>
          <a:p>
            <a:endParaRPr lang="en-US" altLang="zh-CN"/>
          </a:p>
        </p:txBody>
      </p:sp>
      <p:sp>
        <p:nvSpPr>
          <p:cNvPr id="22542" name="Rectangle 14"/>
          <p:cNvSpPr>
            <a:spLocks noChangeArrowheads="1"/>
          </p:cNvSpPr>
          <p:nvPr/>
        </p:nvSpPr>
        <p:spPr bwMode="auto">
          <a:xfrm>
            <a:off x="6690344" y="5908576"/>
            <a:ext cx="889000" cy="355600"/>
          </a:xfrm>
          <a:prstGeom prst="rect">
            <a:avLst/>
          </a:prstGeom>
          <a:solidFill>
            <a:schemeClr val="accent1">
              <a:lumMod val="40000"/>
              <a:lumOff val="60000"/>
            </a:schemeClr>
          </a:solidFill>
          <a:ln w="25400">
            <a:solidFill>
              <a:schemeClr val="tx1"/>
            </a:solidFill>
            <a:miter lim="800000"/>
            <a:headEnd/>
            <a:tailEnd/>
          </a:ln>
        </p:spPr>
        <p:txBody>
          <a:bodyPr wrap="none" anchor="ctr"/>
          <a:lstStyle/>
          <a:p>
            <a:endParaRPr lang="en-US" altLang="zh-CN"/>
          </a:p>
        </p:txBody>
      </p:sp>
      <p:sp>
        <p:nvSpPr>
          <p:cNvPr id="22543" name="Rectangle 15"/>
          <p:cNvSpPr>
            <a:spLocks noChangeArrowheads="1"/>
          </p:cNvSpPr>
          <p:nvPr/>
        </p:nvSpPr>
        <p:spPr bwMode="auto">
          <a:xfrm>
            <a:off x="6663356" y="5919688"/>
            <a:ext cx="956994" cy="305212"/>
          </a:xfrm>
          <a:prstGeom prst="rect">
            <a:avLst/>
          </a:prstGeom>
          <a:solidFill>
            <a:schemeClr val="accent1">
              <a:lumMod val="40000"/>
              <a:lumOff val="60000"/>
            </a:schemeClr>
          </a:solidFill>
          <a:ln w="25400">
            <a:noFill/>
            <a:miter lim="800000"/>
            <a:headEnd/>
            <a:tailEnd/>
          </a:ln>
        </p:spPr>
        <p:txBody>
          <a:bodyPr wrap="none" lIns="90488" tIns="44450" rIns="90488" bIns="44450">
            <a:spAutoFit/>
          </a:bodyPr>
          <a:lstStyle/>
          <a:p>
            <a:r>
              <a:rPr lang="en-US" altLang="ko-KR" sz="1400" b="1" dirty="0">
                <a:ea typeface="굴림" pitchFamily="34" charset="-127"/>
              </a:rPr>
              <a:t>64-bitx16</a:t>
            </a:r>
          </a:p>
        </p:txBody>
      </p:sp>
      <p:sp>
        <p:nvSpPr>
          <p:cNvPr id="22544" name="Line 16"/>
          <p:cNvSpPr>
            <a:spLocks noChangeShapeType="1"/>
          </p:cNvSpPr>
          <p:nvPr/>
        </p:nvSpPr>
        <p:spPr bwMode="auto">
          <a:xfrm>
            <a:off x="5852144" y="6200676"/>
            <a:ext cx="431800" cy="0"/>
          </a:xfrm>
          <a:prstGeom prst="line">
            <a:avLst/>
          </a:prstGeom>
          <a:noFill/>
          <a:ln w="25400">
            <a:solidFill>
              <a:schemeClr val="tx1"/>
            </a:solidFill>
            <a:round/>
            <a:headEnd/>
            <a:tailEnd type="triangle" w="med" len="med"/>
          </a:ln>
        </p:spPr>
        <p:txBody>
          <a:bodyPr wrap="none" anchor="ctr"/>
          <a:lstStyle/>
          <a:p>
            <a:endParaRPr lang="zh-CN" altLang="en-US"/>
          </a:p>
        </p:txBody>
      </p:sp>
      <p:sp>
        <p:nvSpPr>
          <p:cNvPr id="22545" name="Line 17"/>
          <p:cNvSpPr>
            <a:spLocks noChangeShapeType="1"/>
          </p:cNvSpPr>
          <p:nvPr/>
        </p:nvSpPr>
        <p:spPr bwMode="auto">
          <a:xfrm>
            <a:off x="5852144" y="6048276"/>
            <a:ext cx="584200" cy="0"/>
          </a:xfrm>
          <a:prstGeom prst="line">
            <a:avLst/>
          </a:prstGeom>
          <a:noFill/>
          <a:ln w="25400">
            <a:solidFill>
              <a:schemeClr val="tx1"/>
            </a:solidFill>
            <a:round/>
            <a:headEnd/>
            <a:tailEnd type="triangle" w="med" len="med"/>
          </a:ln>
        </p:spPr>
        <p:txBody>
          <a:bodyPr wrap="none" anchor="ctr"/>
          <a:lstStyle/>
          <a:p>
            <a:endParaRPr lang="zh-CN" altLang="en-US"/>
          </a:p>
        </p:txBody>
      </p:sp>
      <p:sp>
        <p:nvSpPr>
          <p:cNvPr id="22546" name="Line 18"/>
          <p:cNvSpPr>
            <a:spLocks noChangeShapeType="1"/>
          </p:cNvSpPr>
          <p:nvPr/>
        </p:nvSpPr>
        <p:spPr bwMode="auto">
          <a:xfrm>
            <a:off x="5852144" y="5895876"/>
            <a:ext cx="736600" cy="0"/>
          </a:xfrm>
          <a:prstGeom prst="line">
            <a:avLst/>
          </a:prstGeom>
          <a:noFill/>
          <a:ln w="25400">
            <a:solidFill>
              <a:schemeClr val="tx1"/>
            </a:solidFill>
            <a:round/>
            <a:headEnd/>
            <a:tailEnd type="triangle" w="med" len="med"/>
          </a:ln>
        </p:spPr>
        <p:txBody>
          <a:bodyPr wrap="none" anchor="ctr"/>
          <a:lstStyle/>
          <a:p>
            <a:endParaRPr lang="zh-CN" altLang="en-US"/>
          </a:p>
        </p:txBody>
      </p:sp>
      <p:sp>
        <p:nvSpPr>
          <p:cNvPr id="22547" name="Line 19"/>
          <p:cNvSpPr>
            <a:spLocks noChangeShapeType="1"/>
          </p:cNvSpPr>
          <p:nvPr/>
        </p:nvSpPr>
        <p:spPr bwMode="auto">
          <a:xfrm>
            <a:off x="5852144" y="5743476"/>
            <a:ext cx="889000" cy="0"/>
          </a:xfrm>
          <a:prstGeom prst="line">
            <a:avLst/>
          </a:prstGeom>
          <a:noFill/>
          <a:ln w="25400">
            <a:solidFill>
              <a:schemeClr val="tx1"/>
            </a:solidFill>
            <a:round/>
            <a:headEnd/>
            <a:tailEnd type="triangle" w="med" len="med"/>
          </a:ln>
        </p:spPr>
        <p:txBody>
          <a:bodyPr wrap="none" anchor="ctr"/>
          <a:lstStyle/>
          <a:p>
            <a:endParaRPr lang="zh-CN" altLang="en-US"/>
          </a:p>
        </p:txBody>
      </p:sp>
      <p:sp>
        <p:nvSpPr>
          <p:cNvPr id="22548" name="Rectangle 20"/>
          <p:cNvSpPr>
            <a:spLocks noChangeArrowheads="1"/>
          </p:cNvSpPr>
          <p:nvPr/>
        </p:nvSpPr>
        <p:spPr bwMode="auto">
          <a:xfrm>
            <a:off x="8747744" y="5908576"/>
            <a:ext cx="838200" cy="203200"/>
          </a:xfrm>
          <a:prstGeom prst="rect">
            <a:avLst/>
          </a:prstGeom>
          <a:solidFill>
            <a:schemeClr val="bg1"/>
          </a:solidFill>
          <a:ln w="25400">
            <a:solidFill>
              <a:schemeClr val="tx1"/>
            </a:solidFill>
            <a:miter lim="800000"/>
            <a:headEnd/>
            <a:tailEnd/>
          </a:ln>
        </p:spPr>
        <p:txBody>
          <a:bodyPr wrap="none" anchor="ctr"/>
          <a:lstStyle/>
          <a:p>
            <a:endParaRPr lang="en-US" altLang="zh-CN"/>
          </a:p>
        </p:txBody>
      </p:sp>
      <p:sp>
        <p:nvSpPr>
          <p:cNvPr id="22549" name="Rectangle 21"/>
          <p:cNvSpPr>
            <a:spLocks noChangeArrowheads="1"/>
          </p:cNvSpPr>
          <p:nvPr/>
        </p:nvSpPr>
        <p:spPr bwMode="auto">
          <a:xfrm>
            <a:off x="8949357" y="5856188"/>
            <a:ext cx="482505" cy="305212"/>
          </a:xfrm>
          <a:prstGeom prst="rect">
            <a:avLst/>
          </a:prstGeom>
          <a:noFill/>
          <a:ln w="25400">
            <a:noFill/>
            <a:miter lim="800000"/>
            <a:headEnd/>
            <a:tailEnd/>
          </a:ln>
        </p:spPr>
        <p:txBody>
          <a:bodyPr wrap="none" lIns="90488" tIns="44450" rIns="90488" bIns="44450">
            <a:spAutoFit/>
          </a:bodyPr>
          <a:lstStyle/>
          <a:p>
            <a:r>
              <a:rPr lang="en-US" altLang="ko-KR" sz="1400" b="1">
                <a:ea typeface="굴림" pitchFamily="34" charset="-127"/>
              </a:rPr>
              <a:t>NIP</a:t>
            </a:r>
          </a:p>
        </p:txBody>
      </p:sp>
      <p:sp>
        <p:nvSpPr>
          <p:cNvPr id="22550" name="Rectangle 22"/>
          <p:cNvSpPr>
            <a:spLocks noChangeArrowheads="1"/>
          </p:cNvSpPr>
          <p:nvPr/>
        </p:nvSpPr>
        <p:spPr bwMode="auto">
          <a:xfrm>
            <a:off x="8747744" y="6289576"/>
            <a:ext cx="812800" cy="203200"/>
          </a:xfrm>
          <a:prstGeom prst="rect">
            <a:avLst/>
          </a:prstGeom>
          <a:solidFill>
            <a:schemeClr val="bg1"/>
          </a:solidFill>
          <a:ln w="25400">
            <a:solidFill>
              <a:schemeClr val="tx1"/>
            </a:solidFill>
            <a:miter lim="800000"/>
            <a:headEnd/>
            <a:tailEnd/>
          </a:ln>
        </p:spPr>
        <p:txBody>
          <a:bodyPr wrap="none" anchor="ctr"/>
          <a:lstStyle/>
          <a:p>
            <a:endParaRPr lang="en-US" altLang="zh-CN"/>
          </a:p>
        </p:txBody>
      </p:sp>
      <p:sp>
        <p:nvSpPr>
          <p:cNvPr id="22551" name="Rectangle 23"/>
          <p:cNvSpPr>
            <a:spLocks noChangeArrowheads="1"/>
          </p:cNvSpPr>
          <p:nvPr/>
        </p:nvSpPr>
        <p:spPr bwMode="auto">
          <a:xfrm>
            <a:off x="8949356" y="6237188"/>
            <a:ext cx="461666" cy="305212"/>
          </a:xfrm>
          <a:prstGeom prst="rect">
            <a:avLst/>
          </a:prstGeom>
          <a:noFill/>
          <a:ln w="25400">
            <a:noFill/>
            <a:miter lim="800000"/>
            <a:headEnd/>
            <a:tailEnd/>
          </a:ln>
        </p:spPr>
        <p:txBody>
          <a:bodyPr wrap="none" lIns="90488" tIns="44450" rIns="90488" bIns="44450">
            <a:spAutoFit/>
          </a:bodyPr>
          <a:lstStyle/>
          <a:p>
            <a:r>
              <a:rPr lang="en-US" altLang="ko-KR" sz="1400" b="1">
                <a:ea typeface="굴림" pitchFamily="34" charset="-127"/>
              </a:rPr>
              <a:t>LIP</a:t>
            </a:r>
          </a:p>
        </p:txBody>
      </p:sp>
      <p:grpSp>
        <p:nvGrpSpPr>
          <p:cNvPr id="22552" name="Group 24"/>
          <p:cNvGrpSpPr>
            <a:grpSpLocks/>
          </p:cNvGrpSpPr>
          <p:nvPr/>
        </p:nvGrpSpPr>
        <p:grpSpPr bwMode="auto">
          <a:xfrm>
            <a:off x="10347944" y="5856188"/>
            <a:ext cx="812800" cy="304800"/>
            <a:chOff x="4368" y="3327"/>
            <a:chExt cx="512" cy="192"/>
          </a:xfrm>
        </p:grpSpPr>
        <p:sp>
          <p:nvSpPr>
            <p:cNvPr id="22686" name="Rectangle 25"/>
            <p:cNvSpPr>
              <a:spLocks noChangeArrowheads="1"/>
            </p:cNvSpPr>
            <p:nvPr/>
          </p:nvSpPr>
          <p:spPr bwMode="auto">
            <a:xfrm>
              <a:off x="4368" y="3360"/>
              <a:ext cx="512" cy="128"/>
            </a:xfrm>
            <a:prstGeom prst="rect">
              <a:avLst/>
            </a:prstGeom>
            <a:solidFill>
              <a:schemeClr val="bg1"/>
            </a:solidFill>
            <a:ln w="25400">
              <a:solidFill>
                <a:schemeClr val="tx1"/>
              </a:solidFill>
              <a:miter lim="800000"/>
              <a:headEnd/>
              <a:tailEnd/>
            </a:ln>
          </p:spPr>
          <p:txBody>
            <a:bodyPr wrap="none" anchor="ctr"/>
            <a:lstStyle/>
            <a:p>
              <a:endParaRPr lang="en-US" altLang="zh-CN"/>
            </a:p>
          </p:txBody>
        </p:sp>
        <p:sp>
          <p:nvSpPr>
            <p:cNvPr id="22687" name="Rectangle 26"/>
            <p:cNvSpPr>
              <a:spLocks noChangeArrowheads="1"/>
            </p:cNvSpPr>
            <p:nvPr/>
          </p:nvSpPr>
          <p:spPr bwMode="auto">
            <a:xfrm>
              <a:off x="4495" y="3327"/>
              <a:ext cx="304" cy="192"/>
            </a:xfrm>
            <a:prstGeom prst="rect">
              <a:avLst/>
            </a:prstGeom>
            <a:noFill/>
            <a:ln w="25400">
              <a:noFill/>
              <a:miter lim="800000"/>
              <a:headEnd/>
              <a:tailEnd/>
            </a:ln>
          </p:spPr>
          <p:txBody>
            <a:bodyPr wrap="none" lIns="90488" tIns="44450" rIns="90488" bIns="44450">
              <a:spAutoFit/>
            </a:bodyPr>
            <a:lstStyle/>
            <a:p>
              <a:r>
                <a:rPr lang="en-US" altLang="ko-KR" sz="1400" b="1">
                  <a:ea typeface="굴림" pitchFamily="34" charset="-127"/>
                </a:rPr>
                <a:t>CIP</a:t>
              </a:r>
            </a:p>
          </p:txBody>
        </p:sp>
      </p:grpSp>
      <p:sp>
        <p:nvSpPr>
          <p:cNvPr id="22553" name="Line 27"/>
          <p:cNvSpPr>
            <a:spLocks noChangeShapeType="1"/>
          </p:cNvSpPr>
          <p:nvPr/>
        </p:nvSpPr>
        <p:spPr bwMode="auto">
          <a:xfrm flipV="1">
            <a:off x="7909544" y="5883176"/>
            <a:ext cx="203200" cy="254000"/>
          </a:xfrm>
          <a:prstGeom prst="line">
            <a:avLst/>
          </a:prstGeom>
          <a:noFill/>
          <a:ln w="25400">
            <a:solidFill>
              <a:schemeClr val="tx1"/>
            </a:solidFill>
            <a:round/>
            <a:headEnd/>
            <a:tailEnd/>
          </a:ln>
        </p:spPr>
        <p:txBody>
          <a:bodyPr wrap="none" anchor="ctr"/>
          <a:lstStyle/>
          <a:p>
            <a:endParaRPr lang="zh-CN" altLang="en-US"/>
          </a:p>
        </p:txBody>
      </p:sp>
      <p:sp>
        <p:nvSpPr>
          <p:cNvPr id="22554" name="Line 28"/>
          <p:cNvSpPr>
            <a:spLocks noChangeShapeType="1"/>
          </p:cNvSpPr>
          <p:nvPr/>
        </p:nvSpPr>
        <p:spPr bwMode="auto">
          <a:xfrm>
            <a:off x="7985744" y="5984776"/>
            <a:ext cx="762000" cy="0"/>
          </a:xfrm>
          <a:prstGeom prst="line">
            <a:avLst/>
          </a:prstGeom>
          <a:noFill/>
          <a:ln w="25400">
            <a:solidFill>
              <a:schemeClr val="tx1"/>
            </a:solidFill>
            <a:round/>
            <a:headEnd/>
            <a:tailEnd type="triangle" w="med" len="med"/>
          </a:ln>
        </p:spPr>
        <p:txBody>
          <a:bodyPr wrap="none" anchor="ctr"/>
          <a:lstStyle/>
          <a:p>
            <a:endParaRPr lang="zh-CN" altLang="en-US"/>
          </a:p>
        </p:txBody>
      </p:sp>
      <p:sp>
        <p:nvSpPr>
          <p:cNvPr id="22555" name="Line 29"/>
          <p:cNvSpPr>
            <a:spLocks noChangeShapeType="1"/>
          </p:cNvSpPr>
          <p:nvPr/>
        </p:nvSpPr>
        <p:spPr bwMode="auto">
          <a:xfrm>
            <a:off x="7604744" y="6124476"/>
            <a:ext cx="279400" cy="0"/>
          </a:xfrm>
          <a:prstGeom prst="line">
            <a:avLst/>
          </a:prstGeom>
          <a:noFill/>
          <a:ln w="25400">
            <a:solidFill>
              <a:schemeClr val="tx1"/>
            </a:solidFill>
            <a:round/>
            <a:headEnd/>
            <a:tailEnd/>
          </a:ln>
        </p:spPr>
        <p:txBody>
          <a:bodyPr wrap="none" anchor="ctr"/>
          <a:lstStyle/>
          <a:p>
            <a:endParaRPr lang="zh-CN" altLang="en-US"/>
          </a:p>
        </p:txBody>
      </p:sp>
      <p:sp>
        <p:nvSpPr>
          <p:cNvPr id="22556" name="Line 30"/>
          <p:cNvSpPr>
            <a:spLocks noChangeShapeType="1"/>
          </p:cNvSpPr>
          <p:nvPr/>
        </p:nvSpPr>
        <p:spPr bwMode="auto">
          <a:xfrm>
            <a:off x="7680944" y="6048276"/>
            <a:ext cx="279400" cy="0"/>
          </a:xfrm>
          <a:prstGeom prst="line">
            <a:avLst/>
          </a:prstGeom>
          <a:noFill/>
          <a:ln w="25400">
            <a:solidFill>
              <a:schemeClr val="tx1"/>
            </a:solidFill>
            <a:round/>
            <a:headEnd/>
            <a:tailEnd/>
          </a:ln>
        </p:spPr>
        <p:txBody>
          <a:bodyPr wrap="none" anchor="ctr"/>
          <a:lstStyle/>
          <a:p>
            <a:endParaRPr lang="zh-CN" altLang="en-US"/>
          </a:p>
        </p:txBody>
      </p:sp>
      <p:sp>
        <p:nvSpPr>
          <p:cNvPr id="22557" name="Line 31"/>
          <p:cNvSpPr>
            <a:spLocks noChangeShapeType="1"/>
          </p:cNvSpPr>
          <p:nvPr/>
        </p:nvSpPr>
        <p:spPr bwMode="auto">
          <a:xfrm>
            <a:off x="7757144" y="5984776"/>
            <a:ext cx="279400" cy="0"/>
          </a:xfrm>
          <a:prstGeom prst="line">
            <a:avLst/>
          </a:prstGeom>
          <a:noFill/>
          <a:ln w="25400">
            <a:solidFill>
              <a:schemeClr val="tx1"/>
            </a:solidFill>
            <a:round/>
            <a:headEnd/>
            <a:tailEnd/>
          </a:ln>
        </p:spPr>
        <p:txBody>
          <a:bodyPr wrap="none" anchor="ctr"/>
          <a:lstStyle/>
          <a:p>
            <a:endParaRPr lang="zh-CN" altLang="en-US"/>
          </a:p>
        </p:txBody>
      </p:sp>
      <p:sp>
        <p:nvSpPr>
          <p:cNvPr id="22558" name="Line 32"/>
          <p:cNvSpPr>
            <a:spLocks noChangeShapeType="1"/>
          </p:cNvSpPr>
          <p:nvPr/>
        </p:nvSpPr>
        <p:spPr bwMode="auto">
          <a:xfrm>
            <a:off x="7833344" y="5895876"/>
            <a:ext cx="279400" cy="0"/>
          </a:xfrm>
          <a:prstGeom prst="line">
            <a:avLst/>
          </a:prstGeom>
          <a:noFill/>
          <a:ln w="25400">
            <a:solidFill>
              <a:schemeClr val="tx1"/>
            </a:solidFill>
            <a:round/>
            <a:headEnd/>
            <a:tailEnd/>
          </a:ln>
        </p:spPr>
        <p:txBody>
          <a:bodyPr wrap="none" anchor="ctr"/>
          <a:lstStyle/>
          <a:p>
            <a:endParaRPr lang="zh-CN" altLang="en-US"/>
          </a:p>
        </p:txBody>
      </p:sp>
      <p:sp>
        <p:nvSpPr>
          <p:cNvPr id="22559" name="Freeform 33"/>
          <p:cNvSpPr>
            <a:spLocks/>
          </p:cNvSpPr>
          <p:nvPr/>
        </p:nvSpPr>
        <p:spPr bwMode="auto">
          <a:xfrm>
            <a:off x="8366745" y="5984777"/>
            <a:ext cx="369887" cy="369887"/>
          </a:xfrm>
          <a:custGeom>
            <a:avLst/>
            <a:gdLst>
              <a:gd name="T0" fmla="*/ 0 w 241"/>
              <a:gd name="T1" fmla="*/ 0 h 241"/>
              <a:gd name="T2" fmla="*/ 0 w 241"/>
              <a:gd name="T3" fmla="*/ 368353 h 241"/>
              <a:gd name="T4" fmla="*/ 368352 w 241"/>
              <a:gd name="T5" fmla="*/ 368353 h 241"/>
              <a:gd name="T6" fmla="*/ 0 60000 65536"/>
              <a:gd name="T7" fmla="*/ 0 60000 65536"/>
              <a:gd name="T8" fmla="*/ 0 60000 65536"/>
              <a:gd name="T9" fmla="*/ 0 w 241"/>
              <a:gd name="T10" fmla="*/ 0 h 241"/>
              <a:gd name="T11" fmla="*/ 241 w 241"/>
              <a:gd name="T12" fmla="*/ 241 h 241"/>
            </a:gdLst>
            <a:ahLst/>
            <a:cxnLst>
              <a:cxn ang="T6">
                <a:pos x="T0" y="T1"/>
              </a:cxn>
              <a:cxn ang="T7">
                <a:pos x="T2" y="T3"/>
              </a:cxn>
              <a:cxn ang="T8">
                <a:pos x="T4" y="T5"/>
              </a:cxn>
            </a:cxnLst>
            <a:rect l="T9" t="T10" r="T11" b="T12"/>
            <a:pathLst>
              <a:path w="241" h="241">
                <a:moveTo>
                  <a:pt x="0" y="0"/>
                </a:moveTo>
                <a:lnTo>
                  <a:pt x="0" y="240"/>
                </a:lnTo>
                <a:lnTo>
                  <a:pt x="240" y="240"/>
                </a:lnTo>
              </a:path>
            </a:pathLst>
          </a:custGeom>
          <a:noFill/>
          <a:ln w="25400" cap="rnd" cmpd="sng">
            <a:solidFill>
              <a:schemeClr val="tx1"/>
            </a:solidFill>
            <a:prstDash val="solid"/>
            <a:round/>
            <a:headEnd type="none" w="med" len="med"/>
            <a:tailEnd type="triangle" w="med" len="med"/>
          </a:ln>
        </p:spPr>
        <p:txBody>
          <a:bodyPr/>
          <a:lstStyle/>
          <a:p>
            <a:endParaRPr lang="zh-CN" altLang="en-US"/>
          </a:p>
        </p:txBody>
      </p:sp>
      <p:sp>
        <p:nvSpPr>
          <p:cNvPr id="22560" name="Line 34"/>
          <p:cNvSpPr>
            <a:spLocks noChangeShapeType="1"/>
          </p:cNvSpPr>
          <p:nvPr/>
        </p:nvSpPr>
        <p:spPr bwMode="auto">
          <a:xfrm flipV="1">
            <a:off x="9585944" y="5984776"/>
            <a:ext cx="762000" cy="0"/>
          </a:xfrm>
          <a:prstGeom prst="line">
            <a:avLst/>
          </a:prstGeom>
          <a:noFill/>
          <a:ln w="25400">
            <a:solidFill>
              <a:schemeClr val="tx1"/>
            </a:solidFill>
            <a:round/>
            <a:headEnd/>
            <a:tailEnd type="triangle" w="med" len="med"/>
          </a:ln>
        </p:spPr>
        <p:txBody>
          <a:bodyPr wrap="none" anchor="ctr"/>
          <a:lstStyle/>
          <a:p>
            <a:endParaRPr lang="zh-CN" altLang="en-US"/>
          </a:p>
        </p:txBody>
      </p:sp>
      <p:sp>
        <p:nvSpPr>
          <p:cNvPr id="22561" name="Rectangle 35"/>
          <p:cNvSpPr>
            <a:spLocks noChangeArrowheads="1"/>
          </p:cNvSpPr>
          <p:nvPr/>
        </p:nvSpPr>
        <p:spPr bwMode="auto">
          <a:xfrm>
            <a:off x="6868144" y="3471763"/>
            <a:ext cx="812800" cy="584200"/>
          </a:xfrm>
          <a:prstGeom prst="rect">
            <a:avLst/>
          </a:prstGeom>
          <a:solidFill>
            <a:schemeClr val="folHlink"/>
          </a:solidFill>
          <a:ln w="25400">
            <a:solidFill>
              <a:schemeClr val="tx1"/>
            </a:solidFill>
            <a:miter lim="800000"/>
            <a:headEnd/>
            <a:tailEnd/>
          </a:ln>
        </p:spPr>
        <p:txBody>
          <a:bodyPr wrap="none" anchor="ctr"/>
          <a:lstStyle/>
          <a:p>
            <a:endParaRPr lang="en-US" altLang="zh-CN"/>
          </a:p>
        </p:txBody>
      </p:sp>
      <p:sp>
        <p:nvSpPr>
          <p:cNvPr id="22562" name="Line 36"/>
          <p:cNvSpPr>
            <a:spLocks noChangeShapeType="1"/>
          </p:cNvSpPr>
          <p:nvPr/>
        </p:nvSpPr>
        <p:spPr bwMode="auto">
          <a:xfrm flipH="1">
            <a:off x="5852144" y="3763863"/>
            <a:ext cx="1016000" cy="0"/>
          </a:xfrm>
          <a:prstGeom prst="line">
            <a:avLst/>
          </a:prstGeom>
          <a:noFill/>
          <a:ln w="25400">
            <a:solidFill>
              <a:schemeClr val="tx1"/>
            </a:solidFill>
            <a:round/>
            <a:headEnd type="triangle" w="med" len="med"/>
            <a:tailEnd type="triangle" w="med" len="med"/>
          </a:ln>
        </p:spPr>
        <p:txBody>
          <a:bodyPr wrap="none" anchor="ctr"/>
          <a:lstStyle/>
          <a:p>
            <a:endParaRPr lang="zh-CN" altLang="en-US"/>
          </a:p>
        </p:txBody>
      </p:sp>
      <p:sp>
        <p:nvSpPr>
          <p:cNvPr id="22563" name="Line 37"/>
          <p:cNvSpPr>
            <a:spLocks noChangeShapeType="1"/>
          </p:cNvSpPr>
          <p:nvPr/>
        </p:nvSpPr>
        <p:spPr bwMode="auto">
          <a:xfrm flipV="1">
            <a:off x="7680944" y="3622576"/>
            <a:ext cx="838200" cy="0"/>
          </a:xfrm>
          <a:prstGeom prst="line">
            <a:avLst/>
          </a:prstGeom>
          <a:noFill/>
          <a:ln w="25400">
            <a:solidFill>
              <a:schemeClr val="tx1"/>
            </a:solidFill>
            <a:round/>
            <a:headEnd/>
            <a:tailEnd type="triangle" w="med" len="med"/>
          </a:ln>
        </p:spPr>
        <p:txBody>
          <a:bodyPr wrap="none" anchor="ctr"/>
          <a:lstStyle/>
          <a:p>
            <a:endParaRPr lang="zh-CN" altLang="en-US"/>
          </a:p>
        </p:txBody>
      </p:sp>
      <p:sp>
        <p:nvSpPr>
          <p:cNvPr id="22564" name="Line 38"/>
          <p:cNvSpPr>
            <a:spLocks noChangeShapeType="1"/>
          </p:cNvSpPr>
          <p:nvPr/>
        </p:nvSpPr>
        <p:spPr bwMode="auto">
          <a:xfrm flipH="1">
            <a:off x="7680944" y="3916263"/>
            <a:ext cx="863600" cy="0"/>
          </a:xfrm>
          <a:prstGeom prst="line">
            <a:avLst/>
          </a:prstGeom>
          <a:noFill/>
          <a:ln w="25400">
            <a:solidFill>
              <a:schemeClr val="tx1"/>
            </a:solidFill>
            <a:round/>
            <a:headEnd/>
            <a:tailEnd type="triangle" w="med" len="med"/>
          </a:ln>
        </p:spPr>
        <p:txBody>
          <a:bodyPr wrap="none" anchor="ctr"/>
          <a:lstStyle/>
          <a:p>
            <a:endParaRPr lang="zh-CN" altLang="en-US"/>
          </a:p>
        </p:txBody>
      </p:sp>
      <p:sp>
        <p:nvSpPr>
          <p:cNvPr id="22565" name="Rectangle 39"/>
          <p:cNvSpPr>
            <a:spLocks noChangeArrowheads="1"/>
          </p:cNvSpPr>
          <p:nvPr/>
        </p:nvSpPr>
        <p:spPr bwMode="auto">
          <a:xfrm>
            <a:off x="6066457" y="3470176"/>
            <a:ext cx="498535" cy="305212"/>
          </a:xfrm>
          <a:prstGeom prst="rect">
            <a:avLst/>
          </a:prstGeom>
          <a:noFill/>
          <a:ln w="25400">
            <a:noFill/>
            <a:miter lim="800000"/>
            <a:headEnd/>
            <a:tailEnd/>
          </a:ln>
        </p:spPr>
        <p:txBody>
          <a:bodyPr wrap="none" lIns="90488" tIns="44450" rIns="90488" bIns="44450">
            <a:spAutoFit/>
          </a:bodyPr>
          <a:lstStyle/>
          <a:p>
            <a:r>
              <a:rPr lang="en-US" altLang="ko-KR" sz="1400" b="1">
                <a:ea typeface="굴림" pitchFamily="34" charset="-127"/>
              </a:rPr>
              <a:t>(A</a:t>
            </a:r>
            <a:r>
              <a:rPr lang="en-US" altLang="ko-KR" sz="1400" b="1" baseline="-25000">
                <a:ea typeface="굴림" pitchFamily="34" charset="-127"/>
              </a:rPr>
              <a:t>0</a:t>
            </a:r>
            <a:r>
              <a:rPr lang="en-US" altLang="ko-KR" sz="1400" b="1">
                <a:ea typeface="굴림" pitchFamily="34" charset="-127"/>
              </a:rPr>
              <a:t>)</a:t>
            </a:r>
          </a:p>
        </p:txBody>
      </p:sp>
      <p:sp>
        <p:nvSpPr>
          <p:cNvPr id="22566" name="Line 40"/>
          <p:cNvSpPr>
            <a:spLocks noChangeShapeType="1"/>
          </p:cNvSpPr>
          <p:nvPr/>
        </p:nvSpPr>
        <p:spPr bwMode="auto">
          <a:xfrm flipH="1">
            <a:off x="5852144" y="3306663"/>
            <a:ext cx="2692400" cy="0"/>
          </a:xfrm>
          <a:prstGeom prst="line">
            <a:avLst/>
          </a:prstGeom>
          <a:noFill/>
          <a:ln w="25400">
            <a:solidFill>
              <a:schemeClr val="tx1"/>
            </a:solidFill>
            <a:round/>
            <a:headEnd type="triangle" w="med" len="med"/>
            <a:tailEnd type="triangle" w="med" len="med"/>
          </a:ln>
        </p:spPr>
        <p:txBody>
          <a:bodyPr wrap="none" anchor="ctr"/>
          <a:lstStyle/>
          <a:p>
            <a:endParaRPr lang="zh-CN" altLang="en-US"/>
          </a:p>
        </p:txBody>
      </p:sp>
      <p:sp>
        <p:nvSpPr>
          <p:cNvPr id="22567" name="Rectangle 41"/>
          <p:cNvSpPr>
            <a:spLocks noChangeArrowheads="1"/>
          </p:cNvSpPr>
          <p:nvPr/>
        </p:nvSpPr>
        <p:spPr bwMode="auto">
          <a:xfrm>
            <a:off x="6447457" y="3012976"/>
            <a:ext cx="1335303" cy="305212"/>
          </a:xfrm>
          <a:prstGeom prst="rect">
            <a:avLst/>
          </a:prstGeom>
          <a:noFill/>
          <a:ln w="25400">
            <a:noFill/>
            <a:miter lim="800000"/>
            <a:headEnd/>
            <a:tailEnd/>
          </a:ln>
        </p:spPr>
        <p:txBody>
          <a:bodyPr wrap="none" lIns="90488" tIns="44450" rIns="90488" bIns="44450">
            <a:spAutoFit/>
          </a:bodyPr>
          <a:lstStyle/>
          <a:p>
            <a:r>
              <a:rPr lang="en-US" altLang="ko-KR" sz="1400" b="1">
                <a:ea typeface="굴림" pitchFamily="34" charset="-127"/>
              </a:rPr>
              <a:t>( (A</a:t>
            </a:r>
            <a:r>
              <a:rPr lang="en-US" altLang="ko-KR" sz="1400" b="1" baseline="-25000">
                <a:ea typeface="굴림" pitchFamily="34" charset="-127"/>
              </a:rPr>
              <a:t>h</a:t>
            </a:r>
            <a:r>
              <a:rPr lang="en-US" altLang="ko-KR" sz="1400" b="1">
                <a:ea typeface="굴림" pitchFamily="34" charset="-127"/>
              </a:rPr>
              <a:t>) + j k m )</a:t>
            </a:r>
          </a:p>
        </p:txBody>
      </p:sp>
      <p:sp>
        <p:nvSpPr>
          <p:cNvPr id="22568" name="Rectangle 42"/>
          <p:cNvSpPr>
            <a:spLocks noChangeArrowheads="1"/>
          </p:cNvSpPr>
          <p:nvPr/>
        </p:nvSpPr>
        <p:spPr bwMode="auto">
          <a:xfrm>
            <a:off x="6828457" y="3424139"/>
            <a:ext cx="952185" cy="643766"/>
          </a:xfrm>
          <a:prstGeom prst="rect">
            <a:avLst/>
          </a:prstGeom>
          <a:solidFill>
            <a:schemeClr val="accent1">
              <a:lumMod val="60000"/>
              <a:lumOff val="40000"/>
            </a:schemeClr>
          </a:solidFill>
          <a:ln w="25400">
            <a:noFill/>
            <a:miter lim="800000"/>
            <a:headEnd/>
            <a:tailEnd/>
          </a:ln>
        </p:spPr>
        <p:txBody>
          <a:bodyPr wrap="none" lIns="90488" tIns="44450" rIns="90488" bIns="44450">
            <a:spAutoFit/>
          </a:bodyPr>
          <a:lstStyle/>
          <a:p>
            <a:r>
              <a:rPr lang="en-US" altLang="ko-KR" b="1" dirty="0">
                <a:ea typeface="굴림" pitchFamily="34" charset="-127"/>
              </a:rPr>
              <a:t>64</a:t>
            </a:r>
          </a:p>
          <a:p>
            <a:r>
              <a:rPr lang="en-US" altLang="ko-KR" b="1" dirty="0">
                <a:ea typeface="굴림" pitchFamily="34" charset="-127"/>
              </a:rPr>
              <a:t>T </a:t>
            </a:r>
            <a:r>
              <a:rPr lang="en-US" altLang="ko-KR" b="1" dirty="0" err="1">
                <a:ea typeface="굴림" pitchFamily="34" charset="-127"/>
              </a:rPr>
              <a:t>Regs</a:t>
            </a:r>
            <a:endParaRPr lang="en-US" altLang="ko-KR" b="1" dirty="0">
              <a:ea typeface="굴림" pitchFamily="34" charset="-127"/>
            </a:endParaRPr>
          </a:p>
        </p:txBody>
      </p:sp>
      <p:sp>
        <p:nvSpPr>
          <p:cNvPr id="22569" name="Rectangle 43"/>
          <p:cNvSpPr>
            <a:spLocks noChangeArrowheads="1"/>
          </p:cNvSpPr>
          <p:nvPr/>
        </p:nvSpPr>
        <p:spPr bwMode="auto">
          <a:xfrm>
            <a:off x="6868144" y="4919563"/>
            <a:ext cx="812800" cy="584200"/>
          </a:xfrm>
          <a:prstGeom prst="rect">
            <a:avLst/>
          </a:prstGeom>
          <a:solidFill>
            <a:schemeClr val="accent1">
              <a:lumMod val="60000"/>
              <a:lumOff val="40000"/>
            </a:schemeClr>
          </a:solidFill>
          <a:ln w="25400">
            <a:solidFill>
              <a:schemeClr val="tx1"/>
            </a:solidFill>
            <a:miter lim="800000"/>
            <a:headEnd/>
            <a:tailEnd/>
          </a:ln>
        </p:spPr>
        <p:txBody>
          <a:bodyPr wrap="none" anchor="ctr"/>
          <a:lstStyle/>
          <a:p>
            <a:endParaRPr lang="en-US" altLang="zh-CN"/>
          </a:p>
        </p:txBody>
      </p:sp>
      <p:sp>
        <p:nvSpPr>
          <p:cNvPr id="22570" name="Line 44"/>
          <p:cNvSpPr>
            <a:spLocks noChangeShapeType="1"/>
          </p:cNvSpPr>
          <p:nvPr/>
        </p:nvSpPr>
        <p:spPr bwMode="auto">
          <a:xfrm flipH="1">
            <a:off x="5852144" y="5211663"/>
            <a:ext cx="1016000" cy="0"/>
          </a:xfrm>
          <a:prstGeom prst="line">
            <a:avLst/>
          </a:prstGeom>
          <a:noFill/>
          <a:ln w="25400">
            <a:solidFill>
              <a:schemeClr val="tx1"/>
            </a:solidFill>
            <a:round/>
            <a:headEnd type="triangle" w="med" len="med"/>
            <a:tailEnd type="triangle" w="med" len="med"/>
          </a:ln>
        </p:spPr>
        <p:txBody>
          <a:bodyPr wrap="none" anchor="ctr"/>
          <a:lstStyle/>
          <a:p>
            <a:endParaRPr lang="zh-CN" altLang="en-US"/>
          </a:p>
        </p:txBody>
      </p:sp>
      <p:sp>
        <p:nvSpPr>
          <p:cNvPr id="22571" name="Line 45"/>
          <p:cNvSpPr>
            <a:spLocks noChangeShapeType="1"/>
          </p:cNvSpPr>
          <p:nvPr/>
        </p:nvSpPr>
        <p:spPr bwMode="auto">
          <a:xfrm>
            <a:off x="7706344" y="5059263"/>
            <a:ext cx="812800" cy="0"/>
          </a:xfrm>
          <a:prstGeom prst="line">
            <a:avLst/>
          </a:prstGeom>
          <a:noFill/>
          <a:ln w="25400">
            <a:solidFill>
              <a:schemeClr val="tx1"/>
            </a:solidFill>
            <a:round/>
            <a:headEnd/>
            <a:tailEnd type="triangle" w="med" len="med"/>
          </a:ln>
        </p:spPr>
        <p:txBody>
          <a:bodyPr wrap="none" anchor="ctr"/>
          <a:lstStyle/>
          <a:p>
            <a:endParaRPr lang="zh-CN" altLang="en-US"/>
          </a:p>
        </p:txBody>
      </p:sp>
      <p:sp>
        <p:nvSpPr>
          <p:cNvPr id="22572" name="Line 46"/>
          <p:cNvSpPr>
            <a:spLocks noChangeShapeType="1"/>
          </p:cNvSpPr>
          <p:nvPr/>
        </p:nvSpPr>
        <p:spPr bwMode="auto">
          <a:xfrm flipH="1">
            <a:off x="7680944" y="5364063"/>
            <a:ext cx="863600" cy="0"/>
          </a:xfrm>
          <a:prstGeom prst="line">
            <a:avLst/>
          </a:prstGeom>
          <a:noFill/>
          <a:ln w="25400">
            <a:solidFill>
              <a:schemeClr val="tx1"/>
            </a:solidFill>
            <a:round/>
            <a:headEnd/>
            <a:tailEnd type="triangle" w="med" len="med"/>
          </a:ln>
        </p:spPr>
        <p:txBody>
          <a:bodyPr wrap="none" anchor="ctr"/>
          <a:lstStyle/>
          <a:p>
            <a:endParaRPr lang="zh-CN" altLang="en-US"/>
          </a:p>
        </p:txBody>
      </p:sp>
      <p:sp>
        <p:nvSpPr>
          <p:cNvPr id="22573" name="Rectangle 47"/>
          <p:cNvSpPr>
            <a:spLocks noChangeArrowheads="1"/>
          </p:cNvSpPr>
          <p:nvPr/>
        </p:nvSpPr>
        <p:spPr bwMode="auto">
          <a:xfrm>
            <a:off x="6066457" y="4917976"/>
            <a:ext cx="498535" cy="305212"/>
          </a:xfrm>
          <a:prstGeom prst="rect">
            <a:avLst/>
          </a:prstGeom>
          <a:noFill/>
          <a:ln w="25400">
            <a:noFill/>
            <a:miter lim="800000"/>
            <a:headEnd/>
            <a:tailEnd/>
          </a:ln>
        </p:spPr>
        <p:txBody>
          <a:bodyPr wrap="none" lIns="90488" tIns="44450" rIns="90488" bIns="44450">
            <a:spAutoFit/>
          </a:bodyPr>
          <a:lstStyle/>
          <a:p>
            <a:r>
              <a:rPr lang="en-US" altLang="ko-KR" sz="1400" b="1">
                <a:ea typeface="굴림" pitchFamily="34" charset="-127"/>
              </a:rPr>
              <a:t>(A</a:t>
            </a:r>
            <a:r>
              <a:rPr lang="en-US" altLang="ko-KR" sz="1400" b="1" baseline="-25000">
                <a:ea typeface="굴림" pitchFamily="34" charset="-127"/>
              </a:rPr>
              <a:t>0</a:t>
            </a:r>
            <a:r>
              <a:rPr lang="en-US" altLang="ko-KR" sz="1400" b="1">
                <a:ea typeface="굴림" pitchFamily="34" charset="-127"/>
              </a:rPr>
              <a:t>)</a:t>
            </a:r>
          </a:p>
        </p:txBody>
      </p:sp>
      <p:sp>
        <p:nvSpPr>
          <p:cNvPr id="22574" name="Line 48"/>
          <p:cNvSpPr>
            <a:spLocks noChangeShapeType="1"/>
          </p:cNvSpPr>
          <p:nvPr/>
        </p:nvSpPr>
        <p:spPr bwMode="auto">
          <a:xfrm flipH="1">
            <a:off x="5852144" y="4754463"/>
            <a:ext cx="2692400" cy="0"/>
          </a:xfrm>
          <a:prstGeom prst="line">
            <a:avLst/>
          </a:prstGeom>
          <a:noFill/>
          <a:ln w="25400">
            <a:solidFill>
              <a:schemeClr val="tx1"/>
            </a:solidFill>
            <a:round/>
            <a:headEnd type="triangle" w="med" len="med"/>
            <a:tailEnd type="triangle" w="med" len="med"/>
          </a:ln>
        </p:spPr>
        <p:txBody>
          <a:bodyPr wrap="none" anchor="ctr"/>
          <a:lstStyle/>
          <a:p>
            <a:endParaRPr lang="zh-CN" altLang="en-US"/>
          </a:p>
        </p:txBody>
      </p:sp>
      <p:sp>
        <p:nvSpPr>
          <p:cNvPr id="22575" name="Rectangle 49"/>
          <p:cNvSpPr>
            <a:spLocks noChangeArrowheads="1"/>
          </p:cNvSpPr>
          <p:nvPr/>
        </p:nvSpPr>
        <p:spPr bwMode="auto">
          <a:xfrm>
            <a:off x="6447457" y="4460776"/>
            <a:ext cx="1335303" cy="305212"/>
          </a:xfrm>
          <a:prstGeom prst="rect">
            <a:avLst/>
          </a:prstGeom>
          <a:noFill/>
          <a:ln w="25400">
            <a:noFill/>
            <a:miter lim="800000"/>
            <a:headEnd/>
            <a:tailEnd/>
          </a:ln>
        </p:spPr>
        <p:txBody>
          <a:bodyPr wrap="none" lIns="90488" tIns="44450" rIns="90488" bIns="44450">
            <a:spAutoFit/>
          </a:bodyPr>
          <a:lstStyle/>
          <a:p>
            <a:r>
              <a:rPr lang="en-US" altLang="ko-KR" sz="1400" b="1">
                <a:ea typeface="굴림" pitchFamily="34" charset="-127"/>
              </a:rPr>
              <a:t>( (A</a:t>
            </a:r>
            <a:r>
              <a:rPr lang="en-US" altLang="ko-KR" sz="1400" b="1" baseline="-25000">
                <a:ea typeface="굴림" pitchFamily="34" charset="-127"/>
              </a:rPr>
              <a:t>h</a:t>
            </a:r>
            <a:r>
              <a:rPr lang="en-US" altLang="ko-KR" sz="1400" b="1">
                <a:ea typeface="굴림" pitchFamily="34" charset="-127"/>
              </a:rPr>
              <a:t>) + j k m )</a:t>
            </a:r>
          </a:p>
        </p:txBody>
      </p:sp>
      <p:sp>
        <p:nvSpPr>
          <p:cNvPr id="22576" name="Rectangle 50"/>
          <p:cNvSpPr>
            <a:spLocks noChangeArrowheads="1"/>
          </p:cNvSpPr>
          <p:nvPr/>
        </p:nvSpPr>
        <p:spPr bwMode="auto">
          <a:xfrm>
            <a:off x="6815757" y="4884639"/>
            <a:ext cx="977833" cy="643766"/>
          </a:xfrm>
          <a:prstGeom prst="rect">
            <a:avLst/>
          </a:prstGeom>
          <a:noFill/>
          <a:ln w="25400">
            <a:noFill/>
            <a:miter lim="800000"/>
            <a:headEnd/>
            <a:tailEnd/>
          </a:ln>
        </p:spPr>
        <p:txBody>
          <a:bodyPr wrap="none" lIns="90488" tIns="44450" rIns="90488" bIns="44450">
            <a:spAutoFit/>
          </a:bodyPr>
          <a:lstStyle/>
          <a:p>
            <a:r>
              <a:rPr lang="en-US" altLang="ko-KR" b="1" dirty="0">
                <a:ea typeface="굴림" pitchFamily="34" charset="-127"/>
              </a:rPr>
              <a:t>64 </a:t>
            </a:r>
          </a:p>
          <a:p>
            <a:r>
              <a:rPr lang="en-US" altLang="ko-KR" b="1" dirty="0">
                <a:ea typeface="굴림" pitchFamily="34" charset="-127"/>
              </a:rPr>
              <a:t>B </a:t>
            </a:r>
            <a:r>
              <a:rPr lang="en-US" altLang="ko-KR" b="1" dirty="0" err="1">
                <a:ea typeface="굴림" pitchFamily="34" charset="-127"/>
              </a:rPr>
              <a:t>Regs</a:t>
            </a:r>
            <a:endParaRPr lang="en-US" altLang="ko-KR" b="1" dirty="0">
              <a:ea typeface="굴림" pitchFamily="34" charset="-127"/>
            </a:endParaRPr>
          </a:p>
        </p:txBody>
      </p:sp>
      <p:grpSp>
        <p:nvGrpSpPr>
          <p:cNvPr id="22577" name="Group 51"/>
          <p:cNvGrpSpPr>
            <a:grpSpLocks/>
          </p:cNvGrpSpPr>
          <p:nvPr/>
        </p:nvGrpSpPr>
        <p:grpSpPr bwMode="auto">
          <a:xfrm>
            <a:off x="8538194" y="2906613"/>
            <a:ext cx="901700" cy="1308100"/>
            <a:chOff x="3236" y="988"/>
            <a:chExt cx="568" cy="824"/>
          </a:xfrm>
        </p:grpSpPr>
        <p:sp>
          <p:nvSpPr>
            <p:cNvPr id="22670" name="Rectangle 52"/>
            <p:cNvSpPr>
              <a:spLocks noChangeArrowheads="1"/>
            </p:cNvSpPr>
            <p:nvPr/>
          </p:nvSpPr>
          <p:spPr bwMode="auto">
            <a:xfrm>
              <a:off x="3240" y="1008"/>
              <a:ext cx="560" cy="752"/>
            </a:xfrm>
            <a:prstGeom prst="rect">
              <a:avLst/>
            </a:prstGeom>
            <a:noFill/>
            <a:ln w="25400">
              <a:solidFill>
                <a:schemeClr val="tx1"/>
              </a:solidFill>
              <a:miter lim="800000"/>
              <a:headEnd/>
              <a:tailEnd/>
            </a:ln>
          </p:spPr>
          <p:txBody>
            <a:bodyPr wrap="none" anchor="ctr"/>
            <a:lstStyle/>
            <a:p>
              <a:endParaRPr lang="en-US" altLang="zh-CN"/>
            </a:p>
          </p:txBody>
        </p:sp>
        <p:sp>
          <p:nvSpPr>
            <p:cNvPr id="22671" name="Line 53"/>
            <p:cNvSpPr>
              <a:spLocks noChangeShapeType="1"/>
            </p:cNvSpPr>
            <p:nvPr/>
          </p:nvSpPr>
          <p:spPr bwMode="auto">
            <a:xfrm>
              <a:off x="3236" y="1096"/>
              <a:ext cx="568" cy="0"/>
            </a:xfrm>
            <a:prstGeom prst="line">
              <a:avLst/>
            </a:prstGeom>
            <a:noFill/>
            <a:ln w="12700">
              <a:solidFill>
                <a:schemeClr val="tx1"/>
              </a:solidFill>
              <a:round/>
              <a:headEnd/>
              <a:tailEnd/>
            </a:ln>
          </p:spPr>
          <p:txBody>
            <a:bodyPr wrap="none" anchor="ctr"/>
            <a:lstStyle/>
            <a:p>
              <a:endParaRPr lang="zh-CN" altLang="en-US"/>
            </a:p>
          </p:txBody>
        </p:sp>
        <p:sp>
          <p:nvSpPr>
            <p:cNvPr id="22672" name="Line 54"/>
            <p:cNvSpPr>
              <a:spLocks noChangeShapeType="1"/>
            </p:cNvSpPr>
            <p:nvPr/>
          </p:nvSpPr>
          <p:spPr bwMode="auto">
            <a:xfrm>
              <a:off x="3236" y="1192"/>
              <a:ext cx="568" cy="0"/>
            </a:xfrm>
            <a:prstGeom prst="line">
              <a:avLst/>
            </a:prstGeom>
            <a:noFill/>
            <a:ln w="12700">
              <a:solidFill>
                <a:schemeClr val="tx1"/>
              </a:solidFill>
              <a:round/>
              <a:headEnd/>
              <a:tailEnd/>
            </a:ln>
          </p:spPr>
          <p:txBody>
            <a:bodyPr wrap="none" anchor="ctr"/>
            <a:lstStyle/>
            <a:p>
              <a:endParaRPr lang="zh-CN" altLang="en-US"/>
            </a:p>
          </p:txBody>
        </p:sp>
        <p:sp>
          <p:nvSpPr>
            <p:cNvPr id="22673" name="Line 55"/>
            <p:cNvSpPr>
              <a:spLocks noChangeShapeType="1"/>
            </p:cNvSpPr>
            <p:nvPr/>
          </p:nvSpPr>
          <p:spPr bwMode="auto">
            <a:xfrm>
              <a:off x="3236" y="1288"/>
              <a:ext cx="568" cy="0"/>
            </a:xfrm>
            <a:prstGeom prst="line">
              <a:avLst/>
            </a:prstGeom>
            <a:noFill/>
            <a:ln w="12700">
              <a:solidFill>
                <a:schemeClr val="tx1"/>
              </a:solidFill>
              <a:round/>
              <a:headEnd/>
              <a:tailEnd/>
            </a:ln>
          </p:spPr>
          <p:txBody>
            <a:bodyPr wrap="none" anchor="ctr"/>
            <a:lstStyle/>
            <a:p>
              <a:endParaRPr lang="zh-CN" altLang="en-US"/>
            </a:p>
          </p:txBody>
        </p:sp>
        <p:sp>
          <p:nvSpPr>
            <p:cNvPr id="22674" name="Line 56"/>
            <p:cNvSpPr>
              <a:spLocks noChangeShapeType="1"/>
            </p:cNvSpPr>
            <p:nvPr/>
          </p:nvSpPr>
          <p:spPr bwMode="auto">
            <a:xfrm>
              <a:off x="3236" y="1384"/>
              <a:ext cx="568" cy="0"/>
            </a:xfrm>
            <a:prstGeom prst="line">
              <a:avLst/>
            </a:prstGeom>
            <a:noFill/>
            <a:ln w="12700">
              <a:solidFill>
                <a:schemeClr val="tx1"/>
              </a:solidFill>
              <a:round/>
              <a:headEnd/>
              <a:tailEnd/>
            </a:ln>
          </p:spPr>
          <p:txBody>
            <a:bodyPr wrap="none" anchor="ctr"/>
            <a:lstStyle/>
            <a:p>
              <a:endParaRPr lang="zh-CN" altLang="en-US"/>
            </a:p>
          </p:txBody>
        </p:sp>
        <p:sp>
          <p:nvSpPr>
            <p:cNvPr id="22675" name="Line 57"/>
            <p:cNvSpPr>
              <a:spLocks noChangeShapeType="1"/>
            </p:cNvSpPr>
            <p:nvPr/>
          </p:nvSpPr>
          <p:spPr bwMode="auto">
            <a:xfrm>
              <a:off x="3236" y="1480"/>
              <a:ext cx="568" cy="0"/>
            </a:xfrm>
            <a:prstGeom prst="line">
              <a:avLst/>
            </a:prstGeom>
            <a:noFill/>
            <a:ln w="12700">
              <a:solidFill>
                <a:schemeClr val="tx1"/>
              </a:solidFill>
              <a:round/>
              <a:headEnd/>
              <a:tailEnd/>
            </a:ln>
          </p:spPr>
          <p:txBody>
            <a:bodyPr wrap="none" anchor="ctr"/>
            <a:lstStyle/>
            <a:p>
              <a:endParaRPr lang="zh-CN" altLang="en-US"/>
            </a:p>
          </p:txBody>
        </p:sp>
        <p:sp>
          <p:nvSpPr>
            <p:cNvPr id="22676" name="Line 58"/>
            <p:cNvSpPr>
              <a:spLocks noChangeShapeType="1"/>
            </p:cNvSpPr>
            <p:nvPr/>
          </p:nvSpPr>
          <p:spPr bwMode="auto">
            <a:xfrm>
              <a:off x="3236" y="1576"/>
              <a:ext cx="568" cy="0"/>
            </a:xfrm>
            <a:prstGeom prst="line">
              <a:avLst/>
            </a:prstGeom>
            <a:noFill/>
            <a:ln w="12700">
              <a:solidFill>
                <a:schemeClr val="tx1"/>
              </a:solidFill>
              <a:round/>
              <a:headEnd/>
              <a:tailEnd/>
            </a:ln>
          </p:spPr>
          <p:txBody>
            <a:bodyPr wrap="none" anchor="ctr"/>
            <a:lstStyle/>
            <a:p>
              <a:endParaRPr lang="zh-CN" altLang="en-US"/>
            </a:p>
          </p:txBody>
        </p:sp>
        <p:sp>
          <p:nvSpPr>
            <p:cNvPr id="22677" name="Line 59"/>
            <p:cNvSpPr>
              <a:spLocks noChangeShapeType="1"/>
            </p:cNvSpPr>
            <p:nvPr/>
          </p:nvSpPr>
          <p:spPr bwMode="auto">
            <a:xfrm>
              <a:off x="3236" y="1672"/>
              <a:ext cx="568" cy="0"/>
            </a:xfrm>
            <a:prstGeom prst="line">
              <a:avLst/>
            </a:prstGeom>
            <a:noFill/>
            <a:ln w="12700">
              <a:solidFill>
                <a:schemeClr val="tx1"/>
              </a:solidFill>
              <a:round/>
              <a:headEnd/>
              <a:tailEnd/>
            </a:ln>
          </p:spPr>
          <p:txBody>
            <a:bodyPr wrap="none" anchor="ctr"/>
            <a:lstStyle/>
            <a:p>
              <a:endParaRPr lang="zh-CN" altLang="en-US"/>
            </a:p>
          </p:txBody>
        </p:sp>
        <p:sp>
          <p:nvSpPr>
            <p:cNvPr id="22678" name="Rectangle 60"/>
            <p:cNvSpPr>
              <a:spLocks noChangeArrowheads="1"/>
            </p:cNvSpPr>
            <p:nvPr/>
          </p:nvSpPr>
          <p:spPr bwMode="auto">
            <a:xfrm>
              <a:off x="3407" y="988"/>
              <a:ext cx="212" cy="152"/>
            </a:xfrm>
            <a:prstGeom prst="rect">
              <a:avLst/>
            </a:prstGeom>
            <a:noFill/>
            <a:ln w="25400">
              <a:noFill/>
              <a:miter lim="800000"/>
              <a:headEnd/>
              <a:tailEnd/>
            </a:ln>
          </p:spPr>
          <p:txBody>
            <a:bodyPr wrap="none" lIns="90488" tIns="44450" rIns="90488" bIns="44450">
              <a:spAutoFit/>
            </a:bodyPr>
            <a:lstStyle/>
            <a:p>
              <a:r>
                <a:rPr lang="en-US" altLang="ko-KR" sz="1000" b="1">
                  <a:ea typeface="굴림" pitchFamily="34" charset="-127"/>
                </a:rPr>
                <a:t>S0</a:t>
              </a:r>
            </a:p>
          </p:txBody>
        </p:sp>
        <p:sp>
          <p:nvSpPr>
            <p:cNvPr id="22679" name="Rectangle 61"/>
            <p:cNvSpPr>
              <a:spLocks noChangeArrowheads="1"/>
            </p:cNvSpPr>
            <p:nvPr/>
          </p:nvSpPr>
          <p:spPr bwMode="auto">
            <a:xfrm>
              <a:off x="3407" y="1084"/>
              <a:ext cx="212" cy="152"/>
            </a:xfrm>
            <a:prstGeom prst="rect">
              <a:avLst/>
            </a:prstGeom>
            <a:noFill/>
            <a:ln w="25400">
              <a:noFill/>
              <a:miter lim="800000"/>
              <a:headEnd/>
              <a:tailEnd/>
            </a:ln>
          </p:spPr>
          <p:txBody>
            <a:bodyPr wrap="none" lIns="90488" tIns="44450" rIns="90488" bIns="44450">
              <a:spAutoFit/>
            </a:bodyPr>
            <a:lstStyle/>
            <a:p>
              <a:r>
                <a:rPr lang="en-US" altLang="ko-KR" sz="1000" b="1">
                  <a:ea typeface="굴림" pitchFamily="34" charset="-127"/>
                </a:rPr>
                <a:t>S1</a:t>
              </a:r>
            </a:p>
          </p:txBody>
        </p:sp>
        <p:sp>
          <p:nvSpPr>
            <p:cNvPr id="22680" name="Rectangle 62"/>
            <p:cNvSpPr>
              <a:spLocks noChangeArrowheads="1"/>
            </p:cNvSpPr>
            <p:nvPr/>
          </p:nvSpPr>
          <p:spPr bwMode="auto">
            <a:xfrm>
              <a:off x="3407" y="1180"/>
              <a:ext cx="212" cy="152"/>
            </a:xfrm>
            <a:prstGeom prst="rect">
              <a:avLst/>
            </a:prstGeom>
            <a:noFill/>
            <a:ln w="25400">
              <a:noFill/>
              <a:miter lim="800000"/>
              <a:headEnd/>
              <a:tailEnd/>
            </a:ln>
          </p:spPr>
          <p:txBody>
            <a:bodyPr wrap="none" lIns="90488" tIns="44450" rIns="90488" bIns="44450">
              <a:spAutoFit/>
            </a:bodyPr>
            <a:lstStyle/>
            <a:p>
              <a:r>
                <a:rPr lang="en-US" altLang="ko-KR" sz="1000" b="1">
                  <a:ea typeface="굴림" pitchFamily="34" charset="-127"/>
                </a:rPr>
                <a:t>S2</a:t>
              </a:r>
            </a:p>
          </p:txBody>
        </p:sp>
        <p:sp>
          <p:nvSpPr>
            <p:cNvPr id="22681" name="Rectangle 63"/>
            <p:cNvSpPr>
              <a:spLocks noChangeArrowheads="1"/>
            </p:cNvSpPr>
            <p:nvPr/>
          </p:nvSpPr>
          <p:spPr bwMode="auto">
            <a:xfrm>
              <a:off x="3407" y="1276"/>
              <a:ext cx="212" cy="152"/>
            </a:xfrm>
            <a:prstGeom prst="rect">
              <a:avLst/>
            </a:prstGeom>
            <a:noFill/>
            <a:ln w="25400">
              <a:noFill/>
              <a:miter lim="800000"/>
              <a:headEnd/>
              <a:tailEnd/>
            </a:ln>
          </p:spPr>
          <p:txBody>
            <a:bodyPr wrap="none" lIns="90488" tIns="44450" rIns="90488" bIns="44450">
              <a:spAutoFit/>
            </a:bodyPr>
            <a:lstStyle/>
            <a:p>
              <a:r>
                <a:rPr lang="en-US" altLang="ko-KR" sz="1000" b="1">
                  <a:ea typeface="굴림" pitchFamily="34" charset="-127"/>
                </a:rPr>
                <a:t>S3</a:t>
              </a:r>
            </a:p>
          </p:txBody>
        </p:sp>
        <p:sp>
          <p:nvSpPr>
            <p:cNvPr id="22682" name="Rectangle 64"/>
            <p:cNvSpPr>
              <a:spLocks noChangeArrowheads="1"/>
            </p:cNvSpPr>
            <p:nvPr/>
          </p:nvSpPr>
          <p:spPr bwMode="auto">
            <a:xfrm>
              <a:off x="3407" y="1372"/>
              <a:ext cx="212" cy="152"/>
            </a:xfrm>
            <a:prstGeom prst="rect">
              <a:avLst/>
            </a:prstGeom>
            <a:noFill/>
            <a:ln w="25400">
              <a:noFill/>
              <a:miter lim="800000"/>
              <a:headEnd/>
              <a:tailEnd/>
            </a:ln>
          </p:spPr>
          <p:txBody>
            <a:bodyPr wrap="none" lIns="90488" tIns="44450" rIns="90488" bIns="44450">
              <a:spAutoFit/>
            </a:bodyPr>
            <a:lstStyle/>
            <a:p>
              <a:r>
                <a:rPr lang="en-US" altLang="ko-KR" sz="1000" b="1">
                  <a:ea typeface="굴림" pitchFamily="34" charset="-127"/>
                </a:rPr>
                <a:t>S4</a:t>
              </a:r>
            </a:p>
          </p:txBody>
        </p:sp>
        <p:sp>
          <p:nvSpPr>
            <p:cNvPr id="22683" name="Rectangle 65"/>
            <p:cNvSpPr>
              <a:spLocks noChangeArrowheads="1"/>
            </p:cNvSpPr>
            <p:nvPr/>
          </p:nvSpPr>
          <p:spPr bwMode="auto">
            <a:xfrm>
              <a:off x="3407" y="1468"/>
              <a:ext cx="212" cy="152"/>
            </a:xfrm>
            <a:prstGeom prst="rect">
              <a:avLst/>
            </a:prstGeom>
            <a:noFill/>
            <a:ln w="25400">
              <a:noFill/>
              <a:miter lim="800000"/>
              <a:headEnd/>
              <a:tailEnd/>
            </a:ln>
          </p:spPr>
          <p:txBody>
            <a:bodyPr wrap="none" lIns="90488" tIns="44450" rIns="90488" bIns="44450">
              <a:spAutoFit/>
            </a:bodyPr>
            <a:lstStyle/>
            <a:p>
              <a:r>
                <a:rPr lang="en-US" altLang="ko-KR" sz="1000" b="1">
                  <a:ea typeface="굴림" pitchFamily="34" charset="-127"/>
                </a:rPr>
                <a:t>S5</a:t>
              </a:r>
            </a:p>
          </p:txBody>
        </p:sp>
        <p:sp>
          <p:nvSpPr>
            <p:cNvPr id="22684" name="Rectangle 66"/>
            <p:cNvSpPr>
              <a:spLocks noChangeArrowheads="1"/>
            </p:cNvSpPr>
            <p:nvPr/>
          </p:nvSpPr>
          <p:spPr bwMode="auto">
            <a:xfrm>
              <a:off x="3407" y="1564"/>
              <a:ext cx="212" cy="152"/>
            </a:xfrm>
            <a:prstGeom prst="rect">
              <a:avLst/>
            </a:prstGeom>
            <a:noFill/>
            <a:ln w="25400">
              <a:noFill/>
              <a:miter lim="800000"/>
              <a:headEnd/>
              <a:tailEnd/>
            </a:ln>
          </p:spPr>
          <p:txBody>
            <a:bodyPr wrap="none" lIns="90488" tIns="44450" rIns="90488" bIns="44450">
              <a:spAutoFit/>
            </a:bodyPr>
            <a:lstStyle/>
            <a:p>
              <a:r>
                <a:rPr lang="en-US" altLang="ko-KR" sz="1000" b="1">
                  <a:ea typeface="굴림" pitchFamily="34" charset="-127"/>
                </a:rPr>
                <a:t>S6</a:t>
              </a:r>
            </a:p>
          </p:txBody>
        </p:sp>
        <p:sp>
          <p:nvSpPr>
            <p:cNvPr id="22685" name="Rectangle 67"/>
            <p:cNvSpPr>
              <a:spLocks noChangeArrowheads="1"/>
            </p:cNvSpPr>
            <p:nvPr/>
          </p:nvSpPr>
          <p:spPr bwMode="auto">
            <a:xfrm>
              <a:off x="3407" y="1660"/>
              <a:ext cx="212" cy="152"/>
            </a:xfrm>
            <a:prstGeom prst="rect">
              <a:avLst/>
            </a:prstGeom>
            <a:noFill/>
            <a:ln w="25400">
              <a:noFill/>
              <a:miter lim="800000"/>
              <a:headEnd/>
              <a:tailEnd/>
            </a:ln>
          </p:spPr>
          <p:txBody>
            <a:bodyPr wrap="none" lIns="90488" tIns="44450" rIns="90488" bIns="44450">
              <a:spAutoFit/>
            </a:bodyPr>
            <a:lstStyle/>
            <a:p>
              <a:r>
                <a:rPr lang="en-US" altLang="ko-KR" sz="1000" b="1">
                  <a:ea typeface="굴림" pitchFamily="34" charset="-127"/>
                </a:rPr>
                <a:t>S7</a:t>
              </a:r>
            </a:p>
          </p:txBody>
        </p:sp>
      </p:grpSp>
      <p:grpSp>
        <p:nvGrpSpPr>
          <p:cNvPr id="22578" name="Group 68"/>
          <p:cNvGrpSpPr>
            <a:grpSpLocks/>
          </p:cNvGrpSpPr>
          <p:nvPr/>
        </p:nvGrpSpPr>
        <p:grpSpPr bwMode="auto">
          <a:xfrm>
            <a:off x="8538194" y="4354414"/>
            <a:ext cx="901700" cy="1309688"/>
            <a:chOff x="3236" y="1900"/>
            <a:chExt cx="568" cy="825"/>
          </a:xfrm>
        </p:grpSpPr>
        <p:sp>
          <p:nvSpPr>
            <p:cNvPr id="22654" name="Rectangle 69"/>
            <p:cNvSpPr>
              <a:spLocks noChangeArrowheads="1"/>
            </p:cNvSpPr>
            <p:nvPr/>
          </p:nvSpPr>
          <p:spPr bwMode="auto">
            <a:xfrm>
              <a:off x="3240" y="1920"/>
              <a:ext cx="560" cy="752"/>
            </a:xfrm>
            <a:prstGeom prst="rect">
              <a:avLst/>
            </a:prstGeom>
            <a:noFill/>
            <a:ln w="25400">
              <a:solidFill>
                <a:schemeClr val="tx1"/>
              </a:solidFill>
              <a:miter lim="800000"/>
              <a:headEnd/>
              <a:tailEnd/>
            </a:ln>
          </p:spPr>
          <p:txBody>
            <a:bodyPr wrap="none" anchor="ctr"/>
            <a:lstStyle/>
            <a:p>
              <a:endParaRPr lang="en-US" altLang="zh-CN"/>
            </a:p>
          </p:txBody>
        </p:sp>
        <p:sp>
          <p:nvSpPr>
            <p:cNvPr id="22655" name="Line 70"/>
            <p:cNvSpPr>
              <a:spLocks noChangeShapeType="1"/>
            </p:cNvSpPr>
            <p:nvPr/>
          </p:nvSpPr>
          <p:spPr bwMode="auto">
            <a:xfrm>
              <a:off x="3236" y="2008"/>
              <a:ext cx="568" cy="0"/>
            </a:xfrm>
            <a:prstGeom prst="line">
              <a:avLst/>
            </a:prstGeom>
            <a:noFill/>
            <a:ln w="12700">
              <a:solidFill>
                <a:schemeClr val="tx1"/>
              </a:solidFill>
              <a:round/>
              <a:headEnd/>
              <a:tailEnd/>
            </a:ln>
          </p:spPr>
          <p:txBody>
            <a:bodyPr wrap="none" anchor="ctr"/>
            <a:lstStyle/>
            <a:p>
              <a:endParaRPr lang="zh-CN" altLang="en-US"/>
            </a:p>
          </p:txBody>
        </p:sp>
        <p:sp>
          <p:nvSpPr>
            <p:cNvPr id="22656" name="Line 71"/>
            <p:cNvSpPr>
              <a:spLocks noChangeShapeType="1"/>
            </p:cNvSpPr>
            <p:nvPr/>
          </p:nvSpPr>
          <p:spPr bwMode="auto">
            <a:xfrm>
              <a:off x="3236" y="2104"/>
              <a:ext cx="568" cy="0"/>
            </a:xfrm>
            <a:prstGeom prst="line">
              <a:avLst/>
            </a:prstGeom>
            <a:noFill/>
            <a:ln w="12700">
              <a:solidFill>
                <a:schemeClr val="tx1"/>
              </a:solidFill>
              <a:round/>
              <a:headEnd/>
              <a:tailEnd/>
            </a:ln>
          </p:spPr>
          <p:txBody>
            <a:bodyPr wrap="none" anchor="ctr"/>
            <a:lstStyle/>
            <a:p>
              <a:endParaRPr lang="zh-CN" altLang="en-US"/>
            </a:p>
          </p:txBody>
        </p:sp>
        <p:sp>
          <p:nvSpPr>
            <p:cNvPr id="22657" name="Line 72"/>
            <p:cNvSpPr>
              <a:spLocks noChangeShapeType="1"/>
            </p:cNvSpPr>
            <p:nvPr/>
          </p:nvSpPr>
          <p:spPr bwMode="auto">
            <a:xfrm>
              <a:off x="3236" y="2200"/>
              <a:ext cx="568" cy="0"/>
            </a:xfrm>
            <a:prstGeom prst="line">
              <a:avLst/>
            </a:prstGeom>
            <a:noFill/>
            <a:ln w="12700">
              <a:solidFill>
                <a:schemeClr val="tx1"/>
              </a:solidFill>
              <a:round/>
              <a:headEnd/>
              <a:tailEnd/>
            </a:ln>
          </p:spPr>
          <p:txBody>
            <a:bodyPr wrap="none" anchor="ctr"/>
            <a:lstStyle/>
            <a:p>
              <a:endParaRPr lang="zh-CN" altLang="en-US"/>
            </a:p>
          </p:txBody>
        </p:sp>
        <p:sp>
          <p:nvSpPr>
            <p:cNvPr id="22658" name="Line 73"/>
            <p:cNvSpPr>
              <a:spLocks noChangeShapeType="1"/>
            </p:cNvSpPr>
            <p:nvPr/>
          </p:nvSpPr>
          <p:spPr bwMode="auto">
            <a:xfrm>
              <a:off x="3236" y="2296"/>
              <a:ext cx="568" cy="0"/>
            </a:xfrm>
            <a:prstGeom prst="line">
              <a:avLst/>
            </a:prstGeom>
            <a:noFill/>
            <a:ln w="12700">
              <a:solidFill>
                <a:schemeClr val="tx1"/>
              </a:solidFill>
              <a:round/>
              <a:headEnd/>
              <a:tailEnd/>
            </a:ln>
          </p:spPr>
          <p:txBody>
            <a:bodyPr wrap="none" anchor="ctr"/>
            <a:lstStyle/>
            <a:p>
              <a:endParaRPr lang="zh-CN" altLang="en-US"/>
            </a:p>
          </p:txBody>
        </p:sp>
        <p:sp>
          <p:nvSpPr>
            <p:cNvPr id="22659" name="Line 74"/>
            <p:cNvSpPr>
              <a:spLocks noChangeShapeType="1"/>
            </p:cNvSpPr>
            <p:nvPr/>
          </p:nvSpPr>
          <p:spPr bwMode="auto">
            <a:xfrm>
              <a:off x="3236" y="2392"/>
              <a:ext cx="568" cy="0"/>
            </a:xfrm>
            <a:prstGeom prst="line">
              <a:avLst/>
            </a:prstGeom>
            <a:noFill/>
            <a:ln w="12700">
              <a:solidFill>
                <a:schemeClr val="tx1"/>
              </a:solidFill>
              <a:round/>
              <a:headEnd/>
              <a:tailEnd/>
            </a:ln>
          </p:spPr>
          <p:txBody>
            <a:bodyPr wrap="none" anchor="ctr"/>
            <a:lstStyle/>
            <a:p>
              <a:endParaRPr lang="zh-CN" altLang="en-US"/>
            </a:p>
          </p:txBody>
        </p:sp>
        <p:sp>
          <p:nvSpPr>
            <p:cNvPr id="22660" name="Line 75"/>
            <p:cNvSpPr>
              <a:spLocks noChangeShapeType="1"/>
            </p:cNvSpPr>
            <p:nvPr/>
          </p:nvSpPr>
          <p:spPr bwMode="auto">
            <a:xfrm>
              <a:off x="3236" y="2488"/>
              <a:ext cx="568" cy="0"/>
            </a:xfrm>
            <a:prstGeom prst="line">
              <a:avLst/>
            </a:prstGeom>
            <a:noFill/>
            <a:ln w="12700">
              <a:solidFill>
                <a:schemeClr val="tx1"/>
              </a:solidFill>
              <a:round/>
              <a:headEnd/>
              <a:tailEnd/>
            </a:ln>
          </p:spPr>
          <p:txBody>
            <a:bodyPr wrap="none" anchor="ctr"/>
            <a:lstStyle/>
            <a:p>
              <a:endParaRPr lang="zh-CN" altLang="en-US"/>
            </a:p>
          </p:txBody>
        </p:sp>
        <p:sp>
          <p:nvSpPr>
            <p:cNvPr id="22661" name="Line 76"/>
            <p:cNvSpPr>
              <a:spLocks noChangeShapeType="1"/>
            </p:cNvSpPr>
            <p:nvPr/>
          </p:nvSpPr>
          <p:spPr bwMode="auto">
            <a:xfrm>
              <a:off x="3236" y="2584"/>
              <a:ext cx="568" cy="0"/>
            </a:xfrm>
            <a:prstGeom prst="line">
              <a:avLst/>
            </a:prstGeom>
            <a:noFill/>
            <a:ln w="12700">
              <a:solidFill>
                <a:schemeClr val="tx1"/>
              </a:solidFill>
              <a:round/>
              <a:headEnd/>
              <a:tailEnd/>
            </a:ln>
          </p:spPr>
          <p:txBody>
            <a:bodyPr wrap="none" anchor="ctr"/>
            <a:lstStyle/>
            <a:p>
              <a:endParaRPr lang="zh-CN" altLang="en-US"/>
            </a:p>
          </p:txBody>
        </p:sp>
        <p:sp>
          <p:nvSpPr>
            <p:cNvPr id="22662" name="Rectangle 77"/>
            <p:cNvSpPr>
              <a:spLocks noChangeArrowheads="1"/>
            </p:cNvSpPr>
            <p:nvPr/>
          </p:nvSpPr>
          <p:spPr bwMode="auto">
            <a:xfrm>
              <a:off x="3407" y="1900"/>
              <a:ext cx="218" cy="153"/>
            </a:xfrm>
            <a:prstGeom prst="rect">
              <a:avLst/>
            </a:prstGeom>
            <a:noFill/>
            <a:ln w="25400">
              <a:noFill/>
              <a:miter lim="800000"/>
              <a:headEnd/>
              <a:tailEnd/>
            </a:ln>
          </p:spPr>
          <p:txBody>
            <a:bodyPr wrap="none" lIns="90488" tIns="44450" rIns="90488" bIns="44450">
              <a:spAutoFit/>
            </a:bodyPr>
            <a:lstStyle/>
            <a:p>
              <a:r>
                <a:rPr lang="en-US" altLang="ko-KR" sz="1000" b="1">
                  <a:ea typeface="굴림" pitchFamily="34" charset="-127"/>
                </a:rPr>
                <a:t>A0</a:t>
              </a:r>
            </a:p>
          </p:txBody>
        </p:sp>
        <p:sp>
          <p:nvSpPr>
            <p:cNvPr id="22663" name="Rectangle 78"/>
            <p:cNvSpPr>
              <a:spLocks noChangeArrowheads="1"/>
            </p:cNvSpPr>
            <p:nvPr/>
          </p:nvSpPr>
          <p:spPr bwMode="auto">
            <a:xfrm>
              <a:off x="3407" y="1996"/>
              <a:ext cx="218" cy="153"/>
            </a:xfrm>
            <a:prstGeom prst="rect">
              <a:avLst/>
            </a:prstGeom>
            <a:noFill/>
            <a:ln w="25400">
              <a:noFill/>
              <a:miter lim="800000"/>
              <a:headEnd/>
              <a:tailEnd/>
            </a:ln>
          </p:spPr>
          <p:txBody>
            <a:bodyPr wrap="none" lIns="90488" tIns="44450" rIns="90488" bIns="44450">
              <a:spAutoFit/>
            </a:bodyPr>
            <a:lstStyle/>
            <a:p>
              <a:r>
                <a:rPr lang="en-US" altLang="ko-KR" sz="1000" b="1">
                  <a:ea typeface="굴림" pitchFamily="34" charset="-127"/>
                </a:rPr>
                <a:t>A1</a:t>
              </a:r>
            </a:p>
          </p:txBody>
        </p:sp>
        <p:sp>
          <p:nvSpPr>
            <p:cNvPr id="22664" name="Rectangle 79"/>
            <p:cNvSpPr>
              <a:spLocks noChangeArrowheads="1"/>
            </p:cNvSpPr>
            <p:nvPr/>
          </p:nvSpPr>
          <p:spPr bwMode="auto">
            <a:xfrm>
              <a:off x="3407" y="2092"/>
              <a:ext cx="218" cy="153"/>
            </a:xfrm>
            <a:prstGeom prst="rect">
              <a:avLst/>
            </a:prstGeom>
            <a:noFill/>
            <a:ln w="25400">
              <a:noFill/>
              <a:miter lim="800000"/>
              <a:headEnd/>
              <a:tailEnd/>
            </a:ln>
          </p:spPr>
          <p:txBody>
            <a:bodyPr wrap="none" lIns="90488" tIns="44450" rIns="90488" bIns="44450">
              <a:spAutoFit/>
            </a:bodyPr>
            <a:lstStyle/>
            <a:p>
              <a:r>
                <a:rPr lang="en-US" altLang="ko-KR" sz="1000" b="1">
                  <a:ea typeface="굴림" pitchFamily="34" charset="-127"/>
                </a:rPr>
                <a:t>A2</a:t>
              </a:r>
            </a:p>
          </p:txBody>
        </p:sp>
        <p:sp>
          <p:nvSpPr>
            <p:cNvPr id="22665" name="Rectangle 80"/>
            <p:cNvSpPr>
              <a:spLocks noChangeArrowheads="1"/>
            </p:cNvSpPr>
            <p:nvPr/>
          </p:nvSpPr>
          <p:spPr bwMode="auto">
            <a:xfrm>
              <a:off x="3407" y="2188"/>
              <a:ext cx="218" cy="153"/>
            </a:xfrm>
            <a:prstGeom prst="rect">
              <a:avLst/>
            </a:prstGeom>
            <a:noFill/>
            <a:ln w="25400">
              <a:noFill/>
              <a:miter lim="800000"/>
              <a:headEnd/>
              <a:tailEnd/>
            </a:ln>
          </p:spPr>
          <p:txBody>
            <a:bodyPr wrap="none" lIns="90488" tIns="44450" rIns="90488" bIns="44450">
              <a:spAutoFit/>
            </a:bodyPr>
            <a:lstStyle/>
            <a:p>
              <a:r>
                <a:rPr lang="en-US" altLang="ko-KR" sz="1000" b="1">
                  <a:ea typeface="굴림" pitchFamily="34" charset="-127"/>
                </a:rPr>
                <a:t>A3</a:t>
              </a:r>
            </a:p>
          </p:txBody>
        </p:sp>
        <p:sp>
          <p:nvSpPr>
            <p:cNvPr id="22666" name="Rectangle 81"/>
            <p:cNvSpPr>
              <a:spLocks noChangeArrowheads="1"/>
            </p:cNvSpPr>
            <p:nvPr/>
          </p:nvSpPr>
          <p:spPr bwMode="auto">
            <a:xfrm>
              <a:off x="3407" y="2284"/>
              <a:ext cx="218" cy="153"/>
            </a:xfrm>
            <a:prstGeom prst="rect">
              <a:avLst/>
            </a:prstGeom>
            <a:noFill/>
            <a:ln w="25400">
              <a:noFill/>
              <a:miter lim="800000"/>
              <a:headEnd/>
              <a:tailEnd/>
            </a:ln>
          </p:spPr>
          <p:txBody>
            <a:bodyPr wrap="none" lIns="90488" tIns="44450" rIns="90488" bIns="44450">
              <a:spAutoFit/>
            </a:bodyPr>
            <a:lstStyle/>
            <a:p>
              <a:r>
                <a:rPr lang="en-US" altLang="ko-KR" sz="1000" b="1">
                  <a:ea typeface="굴림" pitchFamily="34" charset="-127"/>
                </a:rPr>
                <a:t>A4</a:t>
              </a:r>
            </a:p>
          </p:txBody>
        </p:sp>
        <p:sp>
          <p:nvSpPr>
            <p:cNvPr id="22667" name="Rectangle 82"/>
            <p:cNvSpPr>
              <a:spLocks noChangeArrowheads="1"/>
            </p:cNvSpPr>
            <p:nvPr/>
          </p:nvSpPr>
          <p:spPr bwMode="auto">
            <a:xfrm>
              <a:off x="3407" y="2380"/>
              <a:ext cx="218" cy="153"/>
            </a:xfrm>
            <a:prstGeom prst="rect">
              <a:avLst/>
            </a:prstGeom>
            <a:noFill/>
            <a:ln w="25400">
              <a:noFill/>
              <a:miter lim="800000"/>
              <a:headEnd/>
              <a:tailEnd/>
            </a:ln>
          </p:spPr>
          <p:txBody>
            <a:bodyPr wrap="none" lIns="90488" tIns="44450" rIns="90488" bIns="44450">
              <a:spAutoFit/>
            </a:bodyPr>
            <a:lstStyle/>
            <a:p>
              <a:r>
                <a:rPr lang="en-US" altLang="ko-KR" sz="1000" b="1">
                  <a:ea typeface="굴림" pitchFamily="34" charset="-127"/>
                </a:rPr>
                <a:t>A5</a:t>
              </a:r>
            </a:p>
          </p:txBody>
        </p:sp>
        <p:sp>
          <p:nvSpPr>
            <p:cNvPr id="22668" name="Rectangle 83"/>
            <p:cNvSpPr>
              <a:spLocks noChangeArrowheads="1"/>
            </p:cNvSpPr>
            <p:nvPr/>
          </p:nvSpPr>
          <p:spPr bwMode="auto">
            <a:xfrm>
              <a:off x="3407" y="2476"/>
              <a:ext cx="218" cy="153"/>
            </a:xfrm>
            <a:prstGeom prst="rect">
              <a:avLst/>
            </a:prstGeom>
            <a:noFill/>
            <a:ln w="25400">
              <a:noFill/>
              <a:miter lim="800000"/>
              <a:headEnd/>
              <a:tailEnd/>
            </a:ln>
          </p:spPr>
          <p:txBody>
            <a:bodyPr wrap="none" lIns="90488" tIns="44450" rIns="90488" bIns="44450">
              <a:spAutoFit/>
            </a:bodyPr>
            <a:lstStyle/>
            <a:p>
              <a:r>
                <a:rPr lang="en-US" altLang="ko-KR" sz="1000" b="1">
                  <a:ea typeface="굴림" pitchFamily="34" charset="-127"/>
                </a:rPr>
                <a:t>A6</a:t>
              </a:r>
            </a:p>
          </p:txBody>
        </p:sp>
        <p:sp>
          <p:nvSpPr>
            <p:cNvPr id="22669" name="Rectangle 84"/>
            <p:cNvSpPr>
              <a:spLocks noChangeArrowheads="1"/>
            </p:cNvSpPr>
            <p:nvPr/>
          </p:nvSpPr>
          <p:spPr bwMode="auto">
            <a:xfrm>
              <a:off x="3407" y="2572"/>
              <a:ext cx="218" cy="153"/>
            </a:xfrm>
            <a:prstGeom prst="rect">
              <a:avLst/>
            </a:prstGeom>
            <a:noFill/>
            <a:ln w="25400">
              <a:noFill/>
              <a:miter lim="800000"/>
              <a:headEnd/>
              <a:tailEnd/>
            </a:ln>
          </p:spPr>
          <p:txBody>
            <a:bodyPr wrap="none" lIns="90488" tIns="44450" rIns="90488" bIns="44450">
              <a:spAutoFit/>
            </a:bodyPr>
            <a:lstStyle/>
            <a:p>
              <a:r>
                <a:rPr lang="en-US" altLang="ko-KR" sz="1000" b="1">
                  <a:ea typeface="굴림" pitchFamily="34" charset="-127"/>
                </a:rPr>
                <a:t>A7</a:t>
              </a:r>
            </a:p>
          </p:txBody>
        </p:sp>
      </p:grpSp>
      <p:sp>
        <p:nvSpPr>
          <p:cNvPr id="22579" name="Rectangle 85"/>
          <p:cNvSpPr>
            <a:spLocks noChangeArrowheads="1"/>
          </p:cNvSpPr>
          <p:nvPr/>
        </p:nvSpPr>
        <p:spPr bwMode="auto">
          <a:xfrm>
            <a:off x="7971456" y="3317776"/>
            <a:ext cx="336632" cy="305212"/>
          </a:xfrm>
          <a:prstGeom prst="rect">
            <a:avLst/>
          </a:prstGeom>
          <a:noFill/>
          <a:ln w="25400">
            <a:noFill/>
            <a:miter lim="800000"/>
            <a:headEnd/>
            <a:tailEnd/>
          </a:ln>
        </p:spPr>
        <p:txBody>
          <a:bodyPr wrap="none" lIns="90488" tIns="44450" rIns="90488" bIns="44450">
            <a:spAutoFit/>
          </a:bodyPr>
          <a:lstStyle/>
          <a:p>
            <a:r>
              <a:rPr lang="en-US" altLang="ko-KR" sz="1400" b="1">
                <a:ea typeface="굴림" pitchFamily="34" charset="-127"/>
              </a:rPr>
              <a:t>S</a:t>
            </a:r>
            <a:r>
              <a:rPr lang="en-US" altLang="ko-KR" sz="1400" b="1" baseline="-25000">
                <a:ea typeface="굴림" pitchFamily="34" charset="-127"/>
              </a:rPr>
              <a:t>i</a:t>
            </a:r>
          </a:p>
        </p:txBody>
      </p:sp>
      <p:sp>
        <p:nvSpPr>
          <p:cNvPr id="22580" name="Rectangle 86"/>
          <p:cNvSpPr>
            <a:spLocks noChangeArrowheads="1"/>
          </p:cNvSpPr>
          <p:nvPr/>
        </p:nvSpPr>
        <p:spPr bwMode="auto">
          <a:xfrm>
            <a:off x="7971457" y="3622576"/>
            <a:ext cx="392737" cy="305212"/>
          </a:xfrm>
          <a:prstGeom prst="rect">
            <a:avLst/>
          </a:prstGeom>
          <a:noFill/>
          <a:ln w="25400">
            <a:noFill/>
            <a:miter lim="800000"/>
            <a:headEnd/>
            <a:tailEnd/>
          </a:ln>
        </p:spPr>
        <p:txBody>
          <a:bodyPr wrap="none" lIns="90488" tIns="44450" rIns="90488" bIns="44450">
            <a:spAutoFit/>
          </a:bodyPr>
          <a:lstStyle/>
          <a:p>
            <a:r>
              <a:rPr lang="en-US" altLang="ko-KR" sz="1400" b="1">
                <a:ea typeface="굴림" pitchFamily="34" charset="-127"/>
              </a:rPr>
              <a:t>T</a:t>
            </a:r>
            <a:r>
              <a:rPr lang="en-US" altLang="ko-KR" sz="1400" b="1" baseline="-25000">
                <a:ea typeface="굴림" pitchFamily="34" charset="-127"/>
              </a:rPr>
              <a:t>jk</a:t>
            </a:r>
          </a:p>
        </p:txBody>
      </p:sp>
      <p:sp>
        <p:nvSpPr>
          <p:cNvPr id="22581" name="Rectangle 87"/>
          <p:cNvSpPr>
            <a:spLocks noChangeArrowheads="1"/>
          </p:cNvSpPr>
          <p:nvPr/>
        </p:nvSpPr>
        <p:spPr bwMode="auto">
          <a:xfrm>
            <a:off x="7971456" y="4765576"/>
            <a:ext cx="346250" cy="305212"/>
          </a:xfrm>
          <a:prstGeom prst="rect">
            <a:avLst/>
          </a:prstGeom>
          <a:noFill/>
          <a:ln w="25400">
            <a:noFill/>
            <a:miter lim="800000"/>
            <a:headEnd/>
            <a:tailEnd/>
          </a:ln>
        </p:spPr>
        <p:txBody>
          <a:bodyPr wrap="none" lIns="90488" tIns="44450" rIns="90488" bIns="44450">
            <a:spAutoFit/>
          </a:bodyPr>
          <a:lstStyle/>
          <a:p>
            <a:r>
              <a:rPr lang="en-US" altLang="ko-KR" sz="1400" b="1">
                <a:ea typeface="굴림" pitchFamily="34" charset="-127"/>
              </a:rPr>
              <a:t>A</a:t>
            </a:r>
            <a:r>
              <a:rPr lang="en-US" altLang="ko-KR" sz="1400" b="1" baseline="-25000">
                <a:ea typeface="굴림" pitchFamily="34" charset="-127"/>
              </a:rPr>
              <a:t>i</a:t>
            </a:r>
          </a:p>
        </p:txBody>
      </p:sp>
      <p:sp>
        <p:nvSpPr>
          <p:cNvPr id="22582" name="Rectangle 88"/>
          <p:cNvSpPr>
            <a:spLocks noChangeArrowheads="1"/>
          </p:cNvSpPr>
          <p:nvPr/>
        </p:nvSpPr>
        <p:spPr bwMode="auto">
          <a:xfrm>
            <a:off x="7971456" y="5070376"/>
            <a:ext cx="413576" cy="305212"/>
          </a:xfrm>
          <a:prstGeom prst="rect">
            <a:avLst/>
          </a:prstGeom>
          <a:noFill/>
          <a:ln w="25400">
            <a:noFill/>
            <a:miter lim="800000"/>
            <a:headEnd/>
            <a:tailEnd/>
          </a:ln>
        </p:spPr>
        <p:txBody>
          <a:bodyPr wrap="none" lIns="90488" tIns="44450" rIns="90488" bIns="44450">
            <a:spAutoFit/>
          </a:bodyPr>
          <a:lstStyle/>
          <a:p>
            <a:r>
              <a:rPr lang="en-US" altLang="ko-KR" sz="1400" b="1">
                <a:ea typeface="굴림" pitchFamily="34" charset="-127"/>
              </a:rPr>
              <a:t>B</a:t>
            </a:r>
            <a:r>
              <a:rPr lang="en-US" altLang="ko-KR" sz="1400" b="1" baseline="-25000">
                <a:ea typeface="굴림" pitchFamily="34" charset="-127"/>
              </a:rPr>
              <a:t>jk</a:t>
            </a:r>
          </a:p>
        </p:txBody>
      </p:sp>
      <p:sp>
        <p:nvSpPr>
          <p:cNvPr id="22583" name="Rectangle 89"/>
          <p:cNvSpPr>
            <a:spLocks noChangeArrowheads="1"/>
          </p:cNvSpPr>
          <p:nvPr/>
        </p:nvSpPr>
        <p:spPr bwMode="auto">
          <a:xfrm>
            <a:off x="10754344" y="2557363"/>
            <a:ext cx="965200" cy="889000"/>
          </a:xfrm>
          <a:prstGeom prst="rect">
            <a:avLst/>
          </a:prstGeom>
          <a:solidFill>
            <a:schemeClr val="bg1"/>
          </a:solidFill>
          <a:ln w="25400">
            <a:solidFill>
              <a:schemeClr val="tx1"/>
            </a:solidFill>
            <a:miter lim="800000"/>
            <a:headEnd/>
            <a:tailEnd/>
          </a:ln>
        </p:spPr>
        <p:txBody>
          <a:bodyPr wrap="none" anchor="ctr"/>
          <a:lstStyle/>
          <a:p>
            <a:endParaRPr lang="en-US" altLang="zh-CN"/>
          </a:p>
        </p:txBody>
      </p:sp>
      <p:sp>
        <p:nvSpPr>
          <p:cNvPr id="22584" name="Rectangle 90"/>
          <p:cNvSpPr>
            <a:spLocks noChangeArrowheads="1"/>
          </p:cNvSpPr>
          <p:nvPr/>
        </p:nvSpPr>
        <p:spPr bwMode="auto">
          <a:xfrm>
            <a:off x="10790857" y="2555776"/>
            <a:ext cx="799579" cy="305212"/>
          </a:xfrm>
          <a:prstGeom prst="rect">
            <a:avLst/>
          </a:prstGeom>
          <a:noFill/>
          <a:ln w="25400">
            <a:noFill/>
            <a:miter lim="800000"/>
            <a:headEnd/>
            <a:tailEnd/>
          </a:ln>
        </p:spPr>
        <p:txBody>
          <a:bodyPr wrap="none" lIns="90488" tIns="44450" rIns="90488" bIns="44450">
            <a:spAutoFit/>
          </a:bodyPr>
          <a:lstStyle/>
          <a:p>
            <a:r>
              <a:rPr lang="en-US" altLang="ko-KR" sz="1400" b="1">
                <a:ea typeface="굴림" pitchFamily="34" charset="-127"/>
              </a:rPr>
              <a:t>FP Add</a:t>
            </a:r>
          </a:p>
        </p:txBody>
      </p:sp>
      <p:sp>
        <p:nvSpPr>
          <p:cNvPr id="22585" name="Rectangle 91"/>
          <p:cNvSpPr>
            <a:spLocks noChangeArrowheads="1"/>
          </p:cNvSpPr>
          <p:nvPr/>
        </p:nvSpPr>
        <p:spPr bwMode="auto">
          <a:xfrm>
            <a:off x="10790857" y="2860576"/>
            <a:ext cx="766173" cy="305212"/>
          </a:xfrm>
          <a:prstGeom prst="rect">
            <a:avLst/>
          </a:prstGeom>
          <a:noFill/>
          <a:ln w="25400">
            <a:noFill/>
            <a:miter lim="800000"/>
            <a:headEnd/>
            <a:tailEnd/>
          </a:ln>
        </p:spPr>
        <p:txBody>
          <a:bodyPr wrap="none" lIns="90488" tIns="44450" rIns="90488" bIns="44450">
            <a:spAutoFit/>
          </a:bodyPr>
          <a:lstStyle/>
          <a:p>
            <a:r>
              <a:rPr lang="en-US" altLang="ko-KR" sz="1400" b="1">
                <a:ea typeface="굴림" pitchFamily="34" charset="-127"/>
              </a:rPr>
              <a:t>FP Mul</a:t>
            </a:r>
          </a:p>
        </p:txBody>
      </p:sp>
      <p:sp>
        <p:nvSpPr>
          <p:cNvPr id="22586" name="Rectangle 92"/>
          <p:cNvSpPr>
            <a:spLocks noChangeArrowheads="1"/>
          </p:cNvSpPr>
          <p:nvPr/>
        </p:nvSpPr>
        <p:spPr bwMode="auto">
          <a:xfrm>
            <a:off x="10790857" y="3165376"/>
            <a:ext cx="945709" cy="305212"/>
          </a:xfrm>
          <a:prstGeom prst="rect">
            <a:avLst/>
          </a:prstGeom>
          <a:noFill/>
          <a:ln w="25400">
            <a:noFill/>
            <a:miter lim="800000"/>
            <a:headEnd/>
            <a:tailEnd/>
          </a:ln>
        </p:spPr>
        <p:txBody>
          <a:bodyPr wrap="none" lIns="90488" tIns="44450" rIns="90488" bIns="44450">
            <a:spAutoFit/>
          </a:bodyPr>
          <a:lstStyle/>
          <a:p>
            <a:r>
              <a:rPr lang="en-US" altLang="ko-KR" sz="1400" b="1">
                <a:ea typeface="굴림" pitchFamily="34" charset="-127"/>
              </a:rPr>
              <a:t>FP Recip</a:t>
            </a:r>
          </a:p>
        </p:txBody>
      </p:sp>
      <p:sp>
        <p:nvSpPr>
          <p:cNvPr id="22587" name="Line 93"/>
          <p:cNvSpPr>
            <a:spLocks noChangeShapeType="1"/>
          </p:cNvSpPr>
          <p:nvPr/>
        </p:nvSpPr>
        <p:spPr bwMode="auto">
          <a:xfrm>
            <a:off x="10754344" y="2849463"/>
            <a:ext cx="965200" cy="0"/>
          </a:xfrm>
          <a:prstGeom prst="line">
            <a:avLst/>
          </a:prstGeom>
          <a:noFill/>
          <a:ln w="25400">
            <a:solidFill>
              <a:schemeClr val="tx1"/>
            </a:solidFill>
            <a:round/>
            <a:headEnd/>
            <a:tailEnd/>
          </a:ln>
        </p:spPr>
        <p:txBody>
          <a:bodyPr wrap="none" anchor="ctr"/>
          <a:lstStyle/>
          <a:p>
            <a:endParaRPr lang="zh-CN" altLang="en-US"/>
          </a:p>
        </p:txBody>
      </p:sp>
      <p:sp>
        <p:nvSpPr>
          <p:cNvPr id="22588" name="Line 94"/>
          <p:cNvSpPr>
            <a:spLocks noChangeShapeType="1"/>
          </p:cNvSpPr>
          <p:nvPr/>
        </p:nvSpPr>
        <p:spPr bwMode="auto">
          <a:xfrm>
            <a:off x="10754344" y="3154263"/>
            <a:ext cx="965200" cy="0"/>
          </a:xfrm>
          <a:prstGeom prst="line">
            <a:avLst/>
          </a:prstGeom>
          <a:noFill/>
          <a:ln w="25400">
            <a:solidFill>
              <a:schemeClr val="tx1"/>
            </a:solidFill>
            <a:round/>
            <a:headEnd/>
            <a:tailEnd/>
          </a:ln>
        </p:spPr>
        <p:txBody>
          <a:bodyPr wrap="none" anchor="ctr"/>
          <a:lstStyle/>
          <a:p>
            <a:endParaRPr lang="zh-CN" altLang="en-US"/>
          </a:p>
        </p:txBody>
      </p:sp>
      <p:grpSp>
        <p:nvGrpSpPr>
          <p:cNvPr id="22589" name="Group 95"/>
          <p:cNvGrpSpPr>
            <a:grpSpLocks/>
          </p:cNvGrpSpPr>
          <p:nvPr/>
        </p:nvGrpSpPr>
        <p:grpSpPr bwMode="auto">
          <a:xfrm>
            <a:off x="10754344" y="3546376"/>
            <a:ext cx="965200" cy="1219200"/>
            <a:chOff x="4624" y="1872"/>
            <a:chExt cx="608" cy="768"/>
          </a:xfrm>
        </p:grpSpPr>
        <p:sp>
          <p:nvSpPr>
            <p:cNvPr id="22646" name="Rectangle 96"/>
            <p:cNvSpPr>
              <a:spLocks noChangeArrowheads="1"/>
            </p:cNvSpPr>
            <p:nvPr/>
          </p:nvSpPr>
          <p:spPr bwMode="auto">
            <a:xfrm>
              <a:off x="4624" y="1873"/>
              <a:ext cx="608" cy="752"/>
            </a:xfrm>
            <a:prstGeom prst="rect">
              <a:avLst/>
            </a:prstGeom>
            <a:solidFill>
              <a:schemeClr val="bg1"/>
            </a:solidFill>
            <a:ln w="25400">
              <a:solidFill>
                <a:schemeClr val="tx1"/>
              </a:solidFill>
              <a:miter lim="800000"/>
              <a:headEnd/>
              <a:tailEnd/>
            </a:ln>
          </p:spPr>
          <p:txBody>
            <a:bodyPr wrap="none" anchor="ctr"/>
            <a:lstStyle/>
            <a:p>
              <a:endParaRPr lang="en-US" altLang="zh-CN"/>
            </a:p>
          </p:txBody>
        </p:sp>
        <p:sp>
          <p:nvSpPr>
            <p:cNvPr id="22647" name="Rectangle 97"/>
            <p:cNvSpPr>
              <a:spLocks noChangeArrowheads="1"/>
            </p:cNvSpPr>
            <p:nvPr/>
          </p:nvSpPr>
          <p:spPr bwMode="auto">
            <a:xfrm>
              <a:off x="4647" y="1872"/>
              <a:ext cx="499" cy="192"/>
            </a:xfrm>
            <a:prstGeom prst="rect">
              <a:avLst/>
            </a:prstGeom>
            <a:noFill/>
            <a:ln w="25400">
              <a:noFill/>
              <a:miter lim="800000"/>
              <a:headEnd/>
              <a:tailEnd/>
            </a:ln>
          </p:spPr>
          <p:txBody>
            <a:bodyPr wrap="none" lIns="90488" tIns="44450" rIns="90488" bIns="44450">
              <a:spAutoFit/>
            </a:bodyPr>
            <a:lstStyle/>
            <a:p>
              <a:r>
                <a:rPr lang="en-US" altLang="ko-KR" sz="1400" b="1">
                  <a:ea typeface="굴림" pitchFamily="34" charset="-127"/>
                </a:rPr>
                <a:t>Int Add</a:t>
              </a:r>
            </a:p>
          </p:txBody>
        </p:sp>
        <p:sp>
          <p:nvSpPr>
            <p:cNvPr id="22648" name="Rectangle 98"/>
            <p:cNvSpPr>
              <a:spLocks noChangeArrowheads="1"/>
            </p:cNvSpPr>
            <p:nvPr/>
          </p:nvSpPr>
          <p:spPr bwMode="auto">
            <a:xfrm>
              <a:off x="4647" y="2064"/>
              <a:ext cx="584" cy="192"/>
            </a:xfrm>
            <a:prstGeom prst="rect">
              <a:avLst/>
            </a:prstGeom>
            <a:noFill/>
            <a:ln w="25400">
              <a:noFill/>
              <a:miter lim="800000"/>
              <a:headEnd/>
              <a:tailEnd/>
            </a:ln>
          </p:spPr>
          <p:txBody>
            <a:bodyPr wrap="none" lIns="90488" tIns="44450" rIns="90488" bIns="44450">
              <a:spAutoFit/>
            </a:bodyPr>
            <a:lstStyle/>
            <a:p>
              <a:r>
                <a:rPr lang="en-US" altLang="ko-KR" sz="1400" b="1">
                  <a:ea typeface="굴림" pitchFamily="34" charset="-127"/>
                </a:rPr>
                <a:t>Int Logic</a:t>
              </a:r>
            </a:p>
          </p:txBody>
        </p:sp>
        <p:sp>
          <p:nvSpPr>
            <p:cNvPr id="22649" name="Rectangle 99"/>
            <p:cNvSpPr>
              <a:spLocks noChangeArrowheads="1"/>
            </p:cNvSpPr>
            <p:nvPr/>
          </p:nvSpPr>
          <p:spPr bwMode="auto">
            <a:xfrm>
              <a:off x="4647" y="2256"/>
              <a:ext cx="534" cy="192"/>
            </a:xfrm>
            <a:prstGeom prst="rect">
              <a:avLst/>
            </a:prstGeom>
            <a:noFill/>
            <a:ln w="25400">
              <a:noFill/>
              <a:miter lim="800000"/>
              <a:headEnd/>
              <a:tailEnd/>
            </a:ln>
          </p:spPr>
          <p:txBody>
            <a:bodyPr wrap="none" lIns="90488" tIns="44450" rIns="90488" bIns="44450">
              <a:spAutoFit/>
            </a:bodyPr>
            <a:lstStyle/>
            <a:p>
              <a:r>
                <a:rPr lang="en-US" altLang="ko-KR" sz="1400" b="1">
                  <a:ea typeface="굴림" pitchFamily="34" charset="-127"/>
                </a:rPr>
                <a:t>Int Shift</a:t>
              </a:r>
            </a:p>
          </p:txBody>
        </p:sp>
        <p:sp>
          <p:nvSpPr>
            <p:cNvPr id="22650" name="Line 100"/>
            <p:cNvSpPr>
              <a:spLocks noChangeShapeType="1"/>
            </p:cNvSpPr>
            <p:nvPr/>
          </p:nvSpPr>
          <p:spPr bwMode="auto">
            <a:xfrm>
              <a:off x="4624" y="2057"/>
              <a:ext cx="608" cy="0"/>
            </a:xfrm>
            <a:prstGeom prst="line">
              <a:avLst/>
            </a:prstGeom>
            <a:noFill/>
            <a:ln w="25400">
              <a:solidFill>
                <a:schemeClr val="tx1"/>
              </a:solidFill>
              <a:round/>
              <a:headEnd/>
              <a:tailEnd/>
            </a:ln>
          </p:spPr>
          <p:txBody>
            <a:bodyPr wrap="none" anchor="ctr"/>
            <a:lstStyle/>
            <a:p>
              <a:endParaRPr lang="zh-CN" altLang="en-US"/>
            </a:p>
          </p:txBody>
        </p:sp>
        <p:sp>
          <p:nvSpPr>
            <p:cNvPr id="22651" name="Line 101"/>
            <p:cNvSpPr>
              <a:spLocks noChangeShapeType="1"/>
            </p:cNvSpPr>
            <p:nvPr/>
          </p:nvSpPr>
          <p:spPr bwMode="auto">
            <a:xfrm>
              <a:off x="4624" y="2249"/>
              <a:ext cx="608" cy="0"/>
            </a:xfrm>
            <a:prstGeom prst="line">
              <a:avLst/>
            </a:prstGeom>
            <a:noFill/>
            <a:ln w="25400">
              <a:solidFill>
                <a:schemeClr val="tx1"/>
              </a:solidFill>
              <a:round/>
              <a:headEnd/>
              <a:tailEnd/>
            </a:ln>
          </p:spPr>
          <p:txBody>
            <a:bodyPr wrap="none" anchor="ctr"/>
            <a:lstStyle/>
            <a:p>
              <a:endParaRPr lang="zh-CN" altLang="en-US"/>
            </a:p>
          </p:txBody>
        </p:sp>
        <p:sp>
          <p:nvSpPr>
            <p:cNvPr id="22652" name="Rectangle 102"/>
            <p:cNvSpPr>
              <a:spLocks noChangeArrowheads="1"/>
            </p:cNvSpPr>
            <p:nvPr/>
          </p:nvSpPr>
          <p:spPr bwMode="auto">
            <a:xfrm>
              <a:off x="4647" y="2448"/>
              <a:ext cx="547" cy="192"/>
            </a:xfrm>
            <a:prstGeom prst="rect">
              <a:avLst/>
            </a:prstGeom>
            <a:noFill/>
            <a:ln w="25400">
              <a:noFill/>
              <a:miter lim="800000"/>
              <a:headEnd/>
              <a:tailEnd/>
            </a:ln>
          </p:spPr>
          <p:txBody>
            <a:bodyPr wrap="none" lIns="90488" tIns="44450" rIns="90488" bIns="44450">
              <a:spAutoFit/>
            </a:bodyPr>
            <a:lstStyle/>
            <a:p>
              <a:r>
                <a:rPr lang="en-US" altLang="ko-KR" sz="1400" b="1">
                  <a:ea typeface="굴림" pitchFamily="34" charset="-127"/>
                </a:rPr>
                <a:t>Pop Cnt</a:t>
              </a:r>
            </a:p>
          </p:txBody>
        </p:sp>
        <p:sp>
          <p:nvSpPr>
            <p:cNvPr id="22653" name="Line 103"/>
            <p:cNvSpPr>
              <a:spLocks noChangeShapeType="1"/>
            </p:cNvSpPr>
            <p:nvPr/>
          </p:nvSpPr>
          <p:spPr bwMode="auto">
            <a:xfrm>
              <a:off x="4624" y="2441"/>
              <a:ext cx="608" cy="0"/>
            </a:xfrm>
            <a:prstGeom prst="line">
              <a:avLst/>
            </a:prstGeom>
            <a:noFill/>
            <a:ln w="25400">
              <a:solidFill>
                <a:schemeClr val="tx1"/>
              </a:solidFill>
              <a:round/>
              <a:headEnd/>
              <a:tailEnd/>
            </a:ln>
          </p:spPr>
          <p:txBody>
            <a:bodyPr wrap="none" anchor="ctr"/>
            <a:lstStyle/>
            <a:p>
              <a:endParaRPr lang="zh-CN" altLang="en-US"/>
            </a:p>
          </p:txBody>
        </p:sp>
      </p:grpSp>
      <p:sp>
        <p:nvSpPr>
          <p:cNvPr id="22590" name="Freeform 104"/>
          <p:cNvSpPr>
            <a:spLocks/>
          </p:cNvSpPr>
          <p:nvPr/>
        </p:nvSpPr>
        <p:spPr bwMode="auto">
          <a:xfrm>
            <a:off x="9433545" y="2860577"/>
            <a:ext cx="1296987" cy="306387"/>
          </a:xfrm>
          <a:custGeom>
            <a:avLst/>
            <a:gdLst>
              <a:gd name="T0" fmla="*/ 0 w 817"/>
              <a:gd name="T1" fmla="*/ 304800 h 193"/>
              <a:gd name="T2" fmla="*/ 457200 w 817"/>
              <a:gd name="T3" fmla="*/ 304800 h 193"/>
              <a:gd name="T4" fmla="*/ 457200 w 817"/>
              <a:gd name="T5" fmla="*/ 0 h 193"/>
              <a:gd name="T6" fmla="*/ 1295400 w 817"/>
              <a:gd name="T7" fmla="*/ 0 h 193"/>
              <a:gd name="T8" fmla="*/ 0 60000 65536"/>
              <a:gd name="T9" fmla="*/ 0 60000 65536"/>
              <a:gd name="T10" fmla="*/ 0 60000 65536"/>
              <a:gd name="T11" fmla="*/ 0 60000 65536"/>
              <a:gd name="T12" fmla="*/ 0 w 817"/>
              <a:gd name="T13" fmla="*/ 0 h 193"/>
              <a:gd name="T14" fmla="*/ 817 w 817"/>
              <a:gd name="T15" fmla="*/ 193 h 193"/>
            </a:gdLst>
            <a:ahLst/>
            <a:cxnLst>
              <a:cxn ang="T8">
                <a:pos x="T0" y="T1"/>
              </a:cxn>
              <a:cxn ang="T9">
                <a:pos x="T2" y="T3"/>
              </a:cxn>
              <a:cxn ang="T10">
                <a:pos x="T4" y="T5"/>
              </a:cxn>
              <a:cxn ang="T11">
                <a:pos x="T6" y="T7"/>
              </a:cxn>
            </a:cxnLst>
            <a:rect l="T12" t="T13" r="T14" b="T15"/>
            <a:pathLst>
              <a:path w="817" h="193">
                <a:moveTo>
                  <a:pt x="0" y="192"/>
                </a:moveTo>
                <a:lnTo>
                  <a:pt x="288" y="192"/>
                </a:lnTo>
                <a:lnTo>
                  <a:pt x="288" y="0"/>
                </a:lnTo>
                <a:lnTo>
                  <a:pt x="816" y="0"/>
                </a:lnTo>
              </a:path>
            </a:pathLst>
          </a:custGeom>
          <a:noFill/>
          <a:ln w="25400" cap="rnd" cmpd="sng">
            <a:solidFill>
              <a:schemeClr val="tx1"/>
            </a:solidFill>
            <a:prstDash val="solid"/>
            <a:round/>
            <a:headEnd type="none" w="med" len="med"/>
            <a:tailEnd type="triangle" w="med" len="med"/>
          </a:ln>
        </p:spPr>
        <p:txBody>
          <a:bodyPr/>
          <a:lstStyle/>
          <a:p>
            <a:endParaRPr lang="zh-CN" altLang="en-US"/>
          </a:p>
        </p:txBody>
      </p:sp>
      <p:sp>
        <p:nvSpPr>
          <p:cNvPr id="22591" name="Freeform 105"/>
          <p:cNvSpPr>
            <a:spLocks/>
          </p:cNvSpPr>
          <p:nvPr/>
        </p:nvSpPr>
        <p:spPr bwMode="auto">
          <a:xfrm>
            <a:off x="9890745" y="3165377"/>
            <a:ext cx="839787" cy="839787"/>
          </a:xfrm>
          <a:custGeom>
            <a:avLst/>
            <a:gdLst>
              <a:gd name="T0" fmla="*/ 0 w 529"/>
              <a:gd name="T1" fmla="*/ 0 h 529"/>
              <a:gd name="T2" fmla="*/ 0 w 529"/>
              <a:gd name="T3" fmla="*/ 838200 h 529"/>
              <a:gd name="T4" fmla="*/ 838200 w 529"/>
              <a:gd name="T5" fmla="*/ 838200 h 529"/>
              <a:gd name="T6" fmla="*/ 0 60000 65536"/>
              <a:gd name="T7" fmla="*/ 0 60000 65536"/>
              <a:gd name="T8" fmla="*/ 0 60000 65536"/>
              <a:gd name="T9" fmla="*/ 0 w 529"/>
              <a:gd name="T10" fmla="*/ 0 h 529"/>
              <a:gd name="T11" fmla="*/ 529 w 529"/>
              <a:gd name="T12" fmla="*/ 529 h 529"/>
            </a:gdLst>
            <a:ahLst/>
            <a:cxnLst>
              <a:cxn ang="T6">
                <a:pos x="T0" y="T1"/>
              </a:cxn>
              <a:cxn ang="T7">
                <a:pos x="T2" y="T3"/>
              </a:cxn>
              <a:cxn ang="T8">
                <a:pos x="T4" y="T5"/>
              </a:cxn>
            </a:cxnLst>
            <a:rect l="T9" t="T10" r="T11" b="T12"/>
            <a:pathLst>
              <a:path w="529" h="529">
                <a:moveTo>
                  <a:pt x="0" y="0"/>
                </a:moveTo>
                <a:lnTo>
                  <a:pt x="0" y="528"/>
                </a:lnTo>
                <a:lnTo>
                  <a:pt x="528" y="528"/>
                </a:lnTo>
              </a:path>
            </a:pathLst>
          </a:custGeom>
          <a:noFill/>
          <a:ln w="25400" cap="rnd" cmpd="sng">
            <a:solidFill>
              <a:schemeClr val="tx1"/>
            </a:solidFill>
            <a:prstDash val="solid"/>
            <a:round/>
            <a:headEnd type="none" w="med" len="med"/>
            <a:tailEnd type="triangle" w="med" len="med"/>
          </a:ln>
        </p:spPr>
        <p:txBody>
          <a:bodyPr/>
          <a:lstStyle/>
          <a:p>
            <a:endParaRPr lang="zh-CN" altLang="en-US"/>
          </a:p>
        </p:txBody>
      </p:sp>
      <p:sp>
        <p:nvSpPr>
          <p:cNvPr id="22592" name="Freeform 106"/>
          <p:cNvSpPr>
            <a:spLocks/>
          </p:cNvSpPr>
          <p:nvPr/>
        </p:nvSpPr>
        <p:spPr bwMode="auto">
          <a:xfrm>
            <a:off x="9433545" y="3012977"/>
            <a:ext cx="1296987" cy="458787"/>
          </a:xfrm>
          <a:custGeom>
            <a:avLst/>
            <a:gdLst>
              <a:gd name="T0" fmla="*/ 0 w 817"/>
              <a:gd name="T1" fmla="*/ 457200 h 289"/>
              <a:gd name="T2" fmla="*/ 609600 w 817"/>
              <a:gd name="T3" fmla="*/ 457200 h 289"/>
              <a:gd name="T4" fmla="*/ 609600 w 817"/>
              <a:gd name="T5" fmla="*/ 0 h 289"/>
              <a:gd name="T6" fmla="*/ 1295400 w 817"/>
              <a:gd name="T7" fmla="*/ 0 h 289"/>
              <a:gd name="T8" fmla="*/ 0 60000 65536"/>
              <a:gd name="T9" fmla="*/ 0 60000 65536"/>
              <a:gd name="T10" fmla="*/ 0 60000 65536"/>
              <a:gd name="T11" fmla="*/ 0 60000 65536"/>
              <a:gd name="T12" fmla="*/ 0 w 817"/>
              <a:gd name="T13" fmla="*/ 0 h 289"/>
              <a:gd name="T14" fmla="*/ 817 w 817"/>
              <a:gd name="T15" fmla="*/ 289 h 289"/>
            </a:gdLst>
            <a:ahLst/>
            <a:cxnLst>
              <a:cxn ang="T8">
                <a:pos x="T0" y="T1"/>
              </a:cxn>
              <a:cxn ang="T9">
                <a:pos x="T2" y="T3"/>
              </a:cxn>
              <a:cxn ang="T10">
                <a:pos x="T4" y="T5"/>
              </a:cxn>
              <a:cxn ang="T11">
                <a:pos x="T6" y="T7"/>
              </a:cxn>
            </a:cxnLst>
            <a:rect l="T12" t="T13" r="T14" b="T15"/>
            <a:pathLst>
              <a:path w="817" h="289">
                <a:moveTo>
                  <a:pt x="0" y="288"/>
                </a:moveTo>
                <a:lnTo>
                  <a:pt x="384" y="288"/>
                </a:lnTo>
                <a:lnTo>
                  <a:pt x="384" y="0"/>
                </a:lnTo>
                <a:lnTo>
                  <a:pt x="816" y="0"/>
                </a:lnTo>
              </a:path>
            </a:pathLst>
          </a:custGeom>
          <a:noFill/>
          <a:ln w="25400" cap="rnd" cmpd="sng">
            <a:solidFill>
              <a:schemeClr val="tx1"/>
            </a:solidFill>
            <a:prstDash val="solid"/>
            <a:round/>
            <a:headEnd type="none" w="med" len="med"/>
            <a:tailEnd type="triangle" w="med" len="med"/>
          </a:ln>
        </p:spPr>
        <p:txBody>
          <a:bodyPr/>
          <a:lstStyle/>
          <a:p>
            <a:endParaRPr lang="zh-CN" altLang="en-US"/>
          </a:p>
        </p:txBody>
      </p:sp>
      <p:sp>
        <p:nvSpPr>
          <p:cNvPr id="22593" name="Freeform 107"/>
          <p:cNvSpPr>
            <a:spLocks/>
          </p:cNvSpPr>
          <p:nvPr/>
        </p:nvSpPr>
        <p:spPr bwMode="auto">
          <a:xfrm>
            <a:off x="10043145" y="3470177"/>
            <a:ext cx="687387" cy="687387"/>
          </a:xfrm>
          <a:custGeom>
            <a:avLst/>
            <a:gdLst>
              <a:gd name="T0" fmla="*/ 0 w 433"/>
              <a:gd name="T1" fmla="*/ 0 h 433"/>
              <a:gd name="T2" fmla="*/ 0 w 433"/>
              <a:gd name="T3" fmla="*/ 685800 h 433"/>
              <a:gd name="T4" fmla="*/ 685800 w 433"/>
              <a:gd name="T5" fmla="*/ 685800 h 433"/>
              <a:gd name="T6" fmla="*/ 0 60000 65536"/>
              <a:gd name="T7" fmla="*/ 0 60000 65536"/>
              <a:gd name="T8" fmla="*/ 0 60000 65536"/>
              <a:gd name="T9" fmla="*/ 0 w 433"/>
              <a:gd name="T10" fmla="*/ 0 h 433"/>
              <a:gd name="T11" fmla="*/ 433 w 433"/>
              <a:gd name="T12" fmla="*/ 433 h 433"/>
            </a:gdLst>
            <a:ahLst/>
            <a:cxnLst>
              <a:cxn ang="T6">
                <a:pos x="T0" y="T1"/>
              </a:cxn>
              <a:cxn ang="T7">
                <a:pos x="T2" y="T3"/>
              </a:cxn>
              <a:cxn ang="T8">
                <a:pos x="T4" y="T5"/>
              </a:cxn>
            </a:cxnLst>
            <a:rect l="T9" t="T10" r="T11" b="T12"/>
            <a:pathLst>
              <a:path w="433" h="433">
                <a:moveTo>
                  <a:pt x="0" y="0"/>
                </a:moveTo>
                <a:lnTo>
                  <a:pt x="0" y="432"/>
                </a:lnTo>
                <a:lnTo>
                  <a:pt x="432" y="432"/>
                </a:lnTo>
              </a:path>
            </a:pathLst>
          </a:custGeom>
          <a:noFill/>
          <a:ln w="25400" cap="rnd" cmpd="sng">
            <a:solidFill>
              <a:schemeClr val="tx1"/>
            </a:solidFill>
            <a:prstDash val="solid"/>
            <a:round/>
            <a:headEnd type="none" w="med" len="med"/>
            <a:tailEnd type="triangle" w="med" len="med"/>
          </a:ln>
        </p:spPr>
        <p:txBody>
          <a:bodyPr/>
          <a:lstStyle/>
          <a:p>
            <a:endParaRPr lang="zh-CN" altLang="en-US"/>
          </a:p>
        </p:txBody>
      </p:sp>
      <p:sp>
        <p:nvSpPr>
          <p:cNvPr id="22594" name="Freeform 108"/>
          <p:cNvSpPr>
            <a:spLocks/>
          </p:cNvSpPr>
          <p:nvPr/>
        </p:nvSpPr>
        <p:spPr bwMode="auto">
          <a:xfrm>
            <a:off x="9433545" y="3165377"/>
            <a:ext cx="1296987" cy="611187"/>
          </a:xfrm>
          <a:custGeom>
            <a:avLst/>
            <a:gdLst>
              <a:gd name="T0" fmla="*/ 1295400 w 817"/>
              <a:gd name="T1" fmla="*/ 0 h 385"/>
              <a:gd name="T2" fmla="*/ 762000 w 817"/>
              <a:gd name="T3" fmla="*/ 0 h 385"/>
              <a:gd name="T4" fmla="*/ 762000 w 817"/>
              <a:gd name="T5" fmla="*/ 609600 h 385"/>
              <a:gd name="T6" fmla="*/ 0 w 817"/>
              <a:gd name="T7" fmla="*/ 609600 h 385"/>
              <a:gd name="T8" fmla="*/ 0 60000 65536"/>
              <a:gd name="T9" fmla="*/ 0 60000 65536"/>
              <a:gd name="T10" fmla="*/ 0 60000 65536"/>
              <a:gd name="T11" fmla="*/ 0 60000 65536"/>
              <a:gd name="T12" fmla="*/ 0 w 817"/>
              <a:gd name="T13" fmla="*/ 0 h 385"/>
              <a:gd name="T14" fmla="*/ 817 w 817"/>
              <a:gd name="T15" fmla="*/ 385 h 385"/>
            </a:gdLst>
            <a:ahLst/>
            <a:cxnLst>
              <a:cxn ang="T8">
                <a:pos x="T0" y="T1"/>
              </a:cxn>
              <a:cxn ang="T9">
                <a:pos x="T2" y="T3"/>
              </a:cxn>
              <a:cxn ang="T10">
                <a:pos x="T4" y="T5"/>
              </a:cxn>
              <a:cxn ang="T11">
                <a:pos x="T6" y="T7"/>
              </a:cxn>
            </a:cxnLst>
            <a:rect l="T12" t="T13" r="T14" b="T15"/>
            <a:pathLst>
              <a:path w="817" h="385">
                <a:moveTo>
                  <a:pt x="816" y="0"/>
                </a:moveTo>
                <a:lnTo>
                  <a:pt x="480" y="0"/>
                </a:lnTo>
                <a:lnTo>
                  <a:pt x="480" y="384"/>
                </a:lnTo>
                <a:lnTo>
                  <a:pt x="0" y="384"/>
                </a:lnTo>
              </a:path>
            </a:pathLst>
          </a:custGeom>
          <a:noFill/>
          <a:ln w="25400" cap="rnd" cmpd="sng">
            <a:solidFill>
              <a:schemeClr val="tx1"/>
            </a:solidFill>
            <a:prstDash val="solid"/>
            <a:round/>
            <a:headEnd type="none" w="med" len="med"/>
            <a:tailEnd type="triangle" w="med" len="med"/>
          </a:ln>
        </p:spPr>
        <p:txBody>
          <a:bodyPr/>
          <a:lstStyle/>
          <a:p>
            <a:endParaRPr lang="zh-CN" altLang="en-US"/>
          </a:p>
        </p:txBody>
      </p:sp>
      <p:sp>
        <p:nvSpPr>
          <p:cNvPr id="22595" name="Freeform 109"/>
          <p:cNvSpPr>
            <a:spLocks/>
          </p:cNvSpPr>
          <p:nvPr/>
        </p:nvSpPr>
        <p:spPr bwMode="auto">
          <a:xfrm>
            <a:off x="10195545" y="3774977"/>
            <a:ext cx="534987" cy="534987"/>
          </a:xfrm>
          <a:custGeom>
            <a:avLst/>
            <a:gdLst>
              <a:gd name="T0" fmla="*/ 533400 w 337"/>
              <a:gd name="T1" fmla="*/ 533400 h 337"/>
              <a:gd name="T2" fmla="*/ 0 w 337"/>
              <a:gd name="T3" fmla="*/ 533400 h 337"/>
              <a:gd name="T4" fmla="*/ 0 w 337"/>
              <a:gd name="T5" fmla="*/ 0 h 337"/>
              <a:gd name="T6" fmla="*/ 0 60000 65536"/>
              <a:gd name="T7" fmla="*/ 0 60000 65536"/>
              <a:gd name="T8" fmla="*/ 0 60000 65536"/>
              <a:gd name="T9" fmla="*/ 0 w 337"/>
              <a:gd name="T10" fmla="*/ 0 h 337"/>
              <a:gd name="T11" fmla="*/ 337 w 337"/>
              <a:gd name="T12" fmla="*/ 337 h 337"/>
            </a:gdLst>
            <a:ahLst/>
            <a:cxnLst>
              <a:cxn ang="T6">
                <a:pos x="T0" y="T1"/>
              </a:cxn>
              <a:cxn ang="T7">
                <a:pos x="T2" y="T3"/>
              </a:cxn>
              <a:cxn ang="T8">
                <a:pos x="T4" y="T5"/>
              </a:cxn>
            </a:cxnLst>
            <a:rect l="T9" t="T10" r="T11" b="T12"/>
            <a:pathLst>
              <a:path w="337" h="337">
                <a:moveTo>
                  <a:pt x="336" y="336"/>
                </a:moveTo>
                <a:lnTo>
                  <a:pt x="0" y="336"/>
                </a:lnTo>
                <a:lnTo>
                  <a:pt x="0" y="0"/>
                </a:lnTo>
              </a:path>
            </a:pathLst>
          </a:custGeom>
          <a:noFill/>
          <a:ln w="25400" cap="rnd" cmpd="sng">
            <a:solidFill>
              <a:schemeClr val="tx1"/>
            </a:solidFill>
            <a:prstDash val="solid"/>
            <a:round/>
            <a:headEnd type="none" w="med" len="med"/>
            <a:tailEnd type="none" w="med" len="med"/>
          </a:ln>
        </p:spPr>
        <p:txBody>
          <a:bodyPr/>
          <a:lstStyle/>
          <a:p>
            <a:endParaRPr lang="zh-CN" altLang="en-US"/>
          </a:p>
        </p:txBody>
      </p:sp>
      <p:sp>
        <p:nvSpPr>
          <p:cNvPr id="22596" name="Rectangle 110"/>
          <p:cNvSpPr>
            <a:spLocks noChangeArrowheads="1"/>
          </p:cNvSpPr>
          <p:nvPr/>
        </p:nvSpPr>
        <p:spPr bwMode="auto">
          <a:xfrm>
            <a:off x="9571656" y="2860576"/>
            <a:ext cx="336632" cy="305212"/>
          </a:xfrm>
          <a:prstGeom prst="rect">
            <a:avLst/>
          </a:prstGeom>
          <a:noFill/>
          <a:ln w="25400">
            <a:noFill/>
            <a:miter lim="800000"/>
            <a:headEnd/>
            <a:tailEnd/>
          </a:ln>
        </p:spPr>
        <p:txBody>
          <a:bodyPr wrap="none" lIns="90488" tIns="44450" rIns="90488" bIns="44450">
            <a:spAutoFit/>
          </a:bodyPr>
          <a:lstStyle/>
          <a:p>
            <a:r>
              <a:rPr lang="en-US" altLang="ko-KR" sz="1400" b="1">
                <a:ea typeface="굴림" pitchFamily="34" charset="-127"/>
              </a:rPr>
              <a:t>S</a:t>
            </a:r>
            <a:r>
              <a:rPr lang="en-US" altLang="ko-KR" sz="1400" b="1" baseline="-25000">
                <a:ea typeface="굴림" pitchFamily="34" charset="-127"/>
              </a:rPr>
              <a:t>j</a:t>
            </a:r>
          </a:p>
        </p:txBody>
      </p:sp>
      <p:sp>
        <p:nvSpPr>
          <p:cNvPr id="22597" name="Rectangle 111"/>
          <p:cNvSpPr>
            <a:spLocks noChangeArrowheads="1"/>
          </p:cNvSpPr>
          <p:nvPr/>
        </p:nvSpPr>
        <p:spPr bwMode="auto">
          <a:xfrm>
            <a:off x="9571656" y="3470176"/>
            <a:ext cx="336632" cy="305212"/>
          </a:xfrm>
          <a:prstGeom prst="rect">
            <a:avLst/>
          </a:prstGeom>
          <a:noFill/>
          <a:ln w="25400">
            <a:noFill/>
            <a:miter lim="800000"/>
            <a:headEnd/>
            <a:tailEnd/>
          </a:ln>
        </p:spPr>
        <p:txBody>
          <a:bodyPr wrap="none" lIns="90488" tIns="44450" rIns="90488" bIns="44450">
            <a:spAutoFit/>
          </a:bodyPr>
          <a:lstStyle/>
          <a:p>
            <a:r>
              <a:rPr lang="en-US" altLang="ko-KR" sz="1400" b="1">
                <a:ea typeface="굴림" pitchFamily="34" charset="-127"/>
              </a:rPr>
              <a:t>S</a:t>
            </a:r>
            <a:r>
              <a:rPr lang="en-US" altLang="ko-KR" sz="1400" b="1" baseline="-25000">
                <a:ea typeface="굴림" pitchFamily="34" charset="-127"/>
              </a:rPr>
              <a:t>i</a:t>
            </a:r>
          </a:p>
        </p:txBody>
      </p:sp>
      <p:sp>
        <p:nvSpPr>
          <p:cNvPr id="22598" name="Rectangle 112"/>
          <p:cNvSpPr>
            <a:spLocks noChangeArrowheads="1"/>
          </p:cNvSpPr>
          <p:nvPr/>
        </p:nvSpPr>
        <p:spPr bwMode="auto">
          <a:xfrm>
            <a:off x="9571657" y="3165376"/>
            <a:ext cx="370295" cy="305212"/>
          </a:xfrm>
          <a:prstGeom prst="rect">
            <a:avLst/>
          </a:prstGeom>
          <a:noFill/>
          <a:ln w="25400">
            <a:noFill/>
            <a:miter lim="800000"/>
            <a:headEnd/>
            <a:tailEnd/>
          </a:ln>
        </p:spPr>
        <p:txBody>
          <a:bodyPr wrap="none" lIns="90488" tIns="44450" rIns="90488" bIns="44450">
            <a:spAutoFit/>
          </a:bodyPr>
          <a:lstStyle/>
          <a:p>
            <a:r>
              <a:rPr lang="en-US" altLang="ko-KR" sz="1400" b="1">
                <a:ea typeface="굴림" pitchFamily="34" charset="-127"/>
              </a:rPr>
              <a:t>S</a:t>
            </a:r>
            <a:r>
              <a:rPr lang="en-US" altLang="ko-KR" sz="1400" b="1" baseline="-25000">
                <a:ea typeface="굴림" pitchFamily="34" charset="-127"/>
              </a:rPr>
              <a:t>k</a:t>
            </a:r>
          </a:p>
        </p:txBody>
      </p:sp>
      <p:sp>
        <p:nvSpPr>
          <p:cNvPr id="22599" name="Rectangle 113"/>
          <p:cNvSpPr>
            <a:spLocks noChangeArrowheads="1"/>
          </p:cNvSpPr>
          <p:nvPr/>
        </p:nvSpPr>
        <p:spPr bwMode="auto">
          <a:xfrm>
            <a:off x="10754344" y="4919563"/>
            <a:ext cx="965200" cy="584200"/>
          </a:xfrm>
          <a:prstGeom prst="rect">
            <a:avLst/>
          </a:prstGeom>
          <a:solidFill>
            <a:schemeClr val="bg1"/>
          </a:solidFill>
          <a:ln w="25400">
            <a:solidFill>
              <a:schemeClr val="tx1"/>
            </a:solidFill>
            <a:miter lim="800000"/>
            <a:headEnd/>
            <a:tailEnd/>
          </a:ln>
        </p:spPr>
        <p:txBody>
          <a:bodyPr wrap="none" anchor="ctr"/>
          <a:lstStyle/>
          <a:p>
            <a:endParaRPr lang="en-US" altLang="zh-CN"/>
          </a:p>
        </p:txBody>
      </p:sp>
      <p:sp>
        <p:nvSpPr>
          <p:cNvPr id="22600" name="Rectangle 114"/>
          <p:cNvSpPr>
            <a:spLocks noChangeArrowheads="1"/>
          </p:cNvSpPr>
          <p:nvPr/>
        </p:nvSpPr>
        <p:spPr bwMode="auto">
          <a:xfrm>
            <a:off x="10790856" y="4917976"/>
            <a:ext cx="992004" cy="305212"/>
          </a:xfrm>
          <a:prstGeom prst="rect">
            <a:avLst/>
          </a:prstGeom>
          <a:noFill/>
          <a:ln w="25400">
            <a:noFill/>
            <a:miter lim="800000"/>
            <a:headEnd/>
            <a:tailEnd/>
          </a:ln>
        </p:spPr>
        <p:txBody>
          <a:bodyPr wrap="none" lIns="90488" tIns="44450" rIns="90488" bIns="44450">
            <a:spAutoFit/>
          </a:bodyPr>
          <a:lstStyle/>
          <a:p>
            <a:r>
              <a:rPr lang="en-US" altLang="ko-KR" sz="1400" b="1">
                <a:ea typeface="굴림" pitchFamily="34" charset="-127"/>
              </a:rPr>
              <a:t>Addr Add</a:t>
            </a:r>
          </a:p>
        </p:txBody>
      </p:sp>
      <p:sp>
        <p:nvSpPr>
          <p:cNvPr id="22601" name="Rectangle 115"/>
          <p:cNvSpPr>
            <a:spLocks noChangeArrowheads="1"/>
          </p:cNvSpPr>
          <p:nvPr/>
        </p:nvSpPr>
        <p:spPr bwMode="auto">
          <a:xfrm>
            <a:off x="10790857" y="5222776"/>
            <a:ext cx="958597" cy="305212"/>
          </a:xfrm>
          <a:prstGeom prst="rect">
            <a:avLst/>
          </a:prstGeom>
          <a:noFill/>
          <a:ln w="25400">
            <a:noFill/>
            <a:miter lim="800000"/>
            <a:headEnd/>
            <a:tailEnd/>
          </a:ln>
        </p:spPr>
        <p:txBody>
          <a:bodyPr wrap="none" lIns="90488" tIns="44450" rIns="90488" bIns="44450">
            <a:spAutoFit/>
          </a:bodyPr>
          <a:lstStyle/>
          <a:p>
            <a:r>
              <a:rPr lang="en-US" altLang="ko-KR" sz="1400" b="1">
                <a:ea typeface="굴림" pitchFamily="34" charset="-127"/>
              </a:rPr>
              <a:t>Addr Mul</a:t>
            </a:r>
          </a:p>
        </p:txBody>
      </p:sp>
      <p:sp>
        <p:nvSpPr>
          <p:cNvPr id="22602" name="Line 116"/>
          <p:cNvSpPr>
            <a:spLocks noChangeShapeType="1"/>
          </p:cNvSpPr>
          <p:nvPr/>
        </p:nvSpPr>
        <p:spPr bwMode="auto">
          <a:xfrm>
            <a:off x="10754344" y="5211663"/>
            <a:ext cx="965200" cy="0"/>
          </a:xfrm>
          <a:prstGeom prst="line">
            <a:avLst/>
          </a:prstGeom>
          <a:noFill/>
          <a:ln w="25400">
            <a:solidFill>
              <a:schemeClr val="tx1"/>
            </a:solidFill>
            <a:round/>
            <a:headEnd/>
            <a:tailEnd/>
          </a:ln>
        </p:spPr>
        <p:txBody>
          <a:bodyPr wrap="none" anchor="ctr"/>
          <a:lstStyle/>
          <a:p>
            <a:endParaRPr lang="zh-CN" altLang="en-US"/>
          </a:p>
        </p:txBody>
      </p:sp>
      <p:sp>
        <p:nvSpPr>
          <p:cNvPr id="22603" name="Line 117"/>
          <p:cNvSpPr>
            <a:spLocks noChangeShapeType="1"/>
          </p:cNvSpPr>
          <p:nvPr/>
        </p:nvSpPr>
        <p:spPr bwMode="auto">
          <a:xfrm>
            <a:off x="9458944" y="4983063"/>
            <a:ext cx="1270000" cy="0"/>
          </a:xfrm>
          <a:prstGeom prst="line">
            <a:avLst/>
          </a:prstGeom>
          <a:noFill/>
          <a:ln w="25400">
            <a:solidFill>
              <a:schemeClr val="tx1"/>
            </a:solidFill>
            <a:round/>
            <a:headEnd/>
            <a:tailEnd type="triangle" w="med" len="med"/>
          </a:ln>
        </p:spPr>
        <p:txBody>
          <a:bodyPr wrap="none" anchor="ctr"/>
          <a:lstStyle/>
          <a:p>
            <a:endParaRPr lang="zh-CN" altLang="en-US"/>
          </a:p>
        </p:txBody>
      </p:sp>
      <p:sp>
        <p:nvSpPr>
          <p:cNvPr id="22604" name="Line 118"/>
          <p:cNvSpPr>
            <a:spLocks noChangeShapeType="1"/>
          </p:cNvSpPr>
          <p:nvPr/>
        </p:nvSpPr>
        <p:spPr bwMode="auto">
          <a:xfrm>
            <a:off x="9458944" y="5211663"/>
            <a:ext cx="1270000" cy="0"/>
          </a:xfrm>
          <a:prstGeom prst="line">
            <a:avLst/>
          </a:prstGeom>
          <a:noFill/>
          <a:ln w="25400">
            <a:solidFill>
              <a:schemeClr val="tx1"/>
            </a:solidFill>
            <a:round/>
            <a:headEnd/>
            <a:tailEnd type="triangle" w="med" len="med"/>
          </a:ln>
        </p:spPr>
        <p:txBody>
          <a:bodyPr wrap="none" anchor="ctr"/>
          <a:lstStyle/>
          <a:p>
            <a:endParaRPr lang="zh-CN" altLang="en-US"/>
          </a:p>
        </p:txBody>
      </p:sp>
      <p:sp>
        <p:nvSpPr>
          <p:cNvPr id="22605" name="Line 119"/>
          <p:cNvSpPr>
            <a:spLocks noChangeShapeType="1"/>
          </p:cNvSpPr>
          <p:nvPr/>
        </p:nvSpPr>
        <p:spPr bwMode="auto">
          <a:xfrm flipH="1">
            <a:off x="9433544" y="5440263"/>
            <a:ext cx="1320800" cy="0"/>
          </a:xfrm>
          <a:prstGeom prst="line">
            <a:avLst/>
          </a:prstGeom>
          <a:noFill/>
          <a:ln w="25400">
            <a:solidFill>
              <a:schemeClr val="tx1"/>
            </a:solidFill>
            <a:round/>
            <a:headEnd/>
            <a:tailEnd type="triangle" w="med" len="med"/>
          </a:ln>
        </p:spPr>
        <p:txBody>
          <a:bodyPr wrap="none" anchor="ctr"/>
          <a:lstStyle/>
          <a:p>
            <a:endParaRPr lang="zh-CN" altLang="en-US"/>
          </a:p>
        </p:txBody>
      </p:sp>
      <p:sp>
        <p:nvSpPr>
          <p:cNvPr id="22606" name="Rectangle 120"/>
          <p:cNvSpPr>
            <a:spLocks noChangeArrowheads="1"/>
          </p:cNvSpPr>
          <p:nvPr/>
        </p:nvSpPr>
        <p:spPr bwMode="auto">
          <a:xfrm>
            <a:off x="9876456" y="4689376"/>
            <a:ext cx="346250" cy="305212"/>
          </a:xfrm>
          <a:prstGeom prst="rect">
            <a:avLst/>
          </a:prstGeom>
          <a:noFill/>
          <a:ln w="25400">
            <a:noFill/>
            <a:miter lim="800000"/>
            <a:headEnd/>
            <a:tailEnd/>
          </a:ln>
        </p:spPr>
        <p:txBody>
          <a:bodyPr wrap="none" lIns="90488" tIns="44450" rIns="90488" bIns="44450">
            <a:spAutoFit/>
          </a:bodyPr>
          <a:lstStyle/>
          <a:p>
            <a:r>
              <a:rPr lang="en-US" altLang="ko-KR" sz="1400" b="1">
                <a:ea typeface="굴림" pitchFamily="34" charset="-127"/>
              </a:rPr>
              <a:t>A</a:t>
            </a:r>
            <a:r>
              <a:rPr lang="en-US" altLang="ko-KR" sz="1400" b="1" baseline="-25000">
                <a:ea typeface="굴림" pitchFamily="34" charset="-127"/>
              </a:rPr>
              <a:t>j</a:t>
            </a:r>
          </a:p>
        </p:txBody>
      </p:sp>
      <p:sp>
        <p:nvSpPr>
          <p:cNvPr id="22607" name="Rectangle 121"/>
          <p:cNvSpPr>
            <a:spLocks noChangeArrowheads="1"/>
          </p:cNvSpPr>
          <p:nvPr/>
        </p:nvSpPr>
        <p:spPr bwMode="auto">
          <a:xfrm>
            <a:off x="9876456" y="5146576"/>
            <a:ext cx="346250" cy="305212"/>
          </a:xfrm>
          <a:prstGeom prst="rect">
            <a:avLst/>
          </a:prstGeom>
          <a:noFill/>
          <a:ln w="25400">
            <a:noFill/>
            <a:miter lim="800000"/>
            <a:headEnd/>
            <a:tailEnd/>
          </a:ln>
        </p:spPr>
        <p:txBody>
          <a:bodyPr wrap="none" lIns="90488" tIns="44450" rIns="90488" bIns="44450">
            <a:spAutoFit/>
          </a:bodyPr>
          <a:lstStyle/>
          <a:p>
            <a:r>
              <a:rPr lang="en-US" altLang="ko-KR" sz="1400" b="1">
                <a:ea typeface="굴림" pitchFamily="34" charset="-127"/>
              </a:rPr>
              <a:t>A</a:t>
            </a:r>
            <a:r>
              <a:rPr lang="en-US" altLang="ko-KR" sz="1400" b="1" baseline="-25000">
                <a:ea typeface="굴림" pitchFamily="34" charset="-127"/>
              </a:rPr>
              <a:t>i</a:t>
            </a:r>
          </a:p>
        </p:txBody>
      </p:sp>
      <p:sp>
        <p:nvSpPr>
          <p:cNvPr id="22608" name="Rectangle 122"/>
          <p:cNvSpPr>
            <a:spLocks noChangeArrowheads="1"/>
          </p:cNvSpPr>
          <p:nvPr/>
        </p:nvSpPr>
        <p:spPr bwMode="auto">
          <a:xfrm>
            <a:off x="9876457" y="4917976"/>
            <a:ext cx="379913" cy="305212"/>
          </a:xfrm>
          <a:prstGeom prst="rect">
            <a:avLst/>
          </a:prstGeom>
          <a:noFill/>
          <a:ln w="25400">
            <a:noFill/>
            <a:miter lim="800000"/>
            <a:headEnd/>
            <a:tailEnd/>
          </a:ln>
        </p:spPr>
        <p:txBody>
          <a:bodyPr wrap="none" lIns="90488" tIns="44450" rIns="90488" bIns="44450">
            <a:spAutoFit/>
          </a:bodyPr>
          <a:lstStyle/>
          <a:p>
            <a:r>
              <a:rPr lang="en-US" altLang="ko-KR" sz="1400" b="1">
                <a:ea typeface="굴림" pitchFamily="34" charset="-127"/>
              </a:rPr>
              <a:t>A</a:t>
            </a:r>
            <a:r>
              <a:rPr lang="en-US" altLang="ko-KR" sz="1400" b="1" baseline="-25000">
                <a:ea typeface="굴림" pitchFamily="34" charset="-127"/>
              </a:rPr>
              <a:t>k</a:t>
            </a:r>
          </a:p>
        </p:txBody>
      </p:sp>
      <p:sp>
        <p:nvSpPr>
          <p:cNvPr id="22609" name="Rectangle 123"/>
          <p:cNvSpPr>
            <a:spLocks noChangeArrowheads="1"/>
          </p:cNvSpPr>
          <p:nvPr/>
        </p:nvSpPr>
        <p:spPr bwMode="auto">
          <a:xfrm>
            <a:off x="4263057" y="6543848"/>
            <a:ext cx="7521575" cy="393700"/>
          </a:xfrm>
          <a:prstGeom prst="rect">
            <a:avLst/>
          </a:prstGeom>
          <a:noFill/>
          <a:ln w="25400">
            <a:noFill/>
            <a:miter lim="800000"/>
            <a:headEnd/>
            <a:tailEnd/>
          </a:ln>
        </p:spPr>
        <p:txBody>
          <a:bodyPr wrap="none" lIns="90488" tIns="44450" rIns="90488" bIns="44450">
            <a:spAutoFit/>
          </a:bodyPr>
          <a:lstStyle/>
          <a:p>
            <a:r>
              <a:rPr lang="en-US" altLang="ko-KR" sz="2000" b="1" i="1" dirty="0">
                <a:ea typeface="굴림" pitchFamily="34" charset="-127"/>
              </a:rPr>
              <a:t>memory bank cycle </a:t>
            </a:r>
            <a:r>
              <a:rPr lang="en-US" altLang="ko-KR" sz="2000" b="1" dirty="0">
                <a:ea typeface="굴림" pitchFamily="34" charset="-127"/>
              </a:rPr>
              <a:t>50 ns     </a:t>
            </a:r>
            <a:r>
              <a:rPr lang="en-US" altLang="ko-KR" sz="2000" b="1" i="1" dirty="0">
                <a:ea typeface="굴림" pitchFamily="34" charset="-127"/>
              </a:rPr>
              <a:t>processor cycle </a:t>
            </a:r>
            <a:r>
              <a:rPr lang="en-US" altLang="ko-KR" sz="2000" b="1" dirty="0">
                <a:ea typeface="굴림" pitchFamily="34" charset="-127"/>
              </a:rPr>
              <a:t>12.5 ns (80MHz)</a:t>
            </a:r>
          </a:p>
        </p:txBody>
      </p:sp>
      <p:sp>
        <p:nvSpPr>
          <p:cNvPr id="22610" name="Rectangle 124"/>
          <p:cNvSpPr>
            <a:spLocks noChangeArrowheads="1"/>
          </p:cNvSpPr>
          <p:nvPr/>
        </p:nvSpPr>
        <p:spPr bwMode="auto">
          <a:xfrm>
            <a:off x="6233144" y="1488976"/>
            <a:ext cx="3200400" cy="1225550"/>
          </a:xfrm>
          <a:prstGeom prst="rect">
            <a:avLst/>
          </a:prstGeom>
          <a:noFill/>
          <a:ln w="25400">
            <a:solidFill>
              <a:schemeClr val="tx1"/>
            </a:solidFill>
            <a:miter lim="800000"/>
            <a:headEnd/>
            <a:tailEnd/>
          </a:ln>
        </p:spPr>
        <p:txBody>
          <a:bodyPr wrap="none" anchor="ctr"/>
          <a:lstStyle/>
          <a:p>
            <a:endParaRPr lang="en-US" altLang="zh-CN"/>
          </a:p>
        </p:txBody>
      </p:sp>
      <p:sp>
        <p:nvSpPr>
          <p:cNvPr id="22611" name="Line 125"/>
          <p:cNvSpPr>
            <a:spLocks noChangeShapeType="1"/>
          </p:cNvSpPr>
          <p:nvPr/>
        </p:nvSpPr>
        <p:spPr bwMode="auto">
          <a:xfrm>
            <a:off x="6233144" y="1631851"/>
            <a:ext cx="3200400" cy="0"/>
          </a:xfrm>
          <a:prstGeom prst="line">
            <a:avLst/>
          </a:prstGeom>
          <a:noFill/>
          <a:ln w="12700">
            <a:solidFill>
              <a:schemeClr val="tx1"/>
            </a:solidFill>
            <a:round/>
            <a:headEnd/>
            <a:tailEnd/>
          </a:ln>
        </p:spPr>
        <p:txBody>
          <a:bodyPr wrap="none" anchor="ctr"/>
          <a:lstStyle/>
          <a:p>
            <a:endParaRPr lang="zh-CN" altLang="en-US"/>
          </a:p>
        </p:txBody>
      </p:sp>
      <p:sp>
        <p:nvSpPr>
          <p:cNvPr id="22612" name="Line 126"/>
          <p:cNvSpPr>
            <a:spLocks noChangeShapeType="1"/>
          </p:cNvSpPr>
          <p:nvPr/>
        </p:nvSpPr>
        <p:spPr bwMode="auto">
          <a:xfrm>
            <a:off x="6233144" y="1789013"/>
            <a:ext cx="3200400" cy="0"/>
          </a:xfrm>
          <a:prstGeom prst="line">
            <a:avLst/>
          </a:prstGeom>
          <a:noFill/>
          <a:ln w="12700">
            <a:solidFill>
              <a:schemeClr val="tx1"/>
            </a:solidFill>
            <a:round/>
            <a:headEnd/>
            <a:tailEnd/>
          </a:ln>
        </p:spPr>
        <p:txBody>
          <a:bodyPr wrap="none" anchor="ctr"/>
          <a:lstStyle/>
          <a:p>
            <a:endParaRPr lang="zh-CN" altLang="en-US"/>
          </a:p>
        </p:txBody>
      </p:sp>
      <p:sp>
        <p:nvSpPr>
          <p:cNvPr id="22613" name="Line 127"/>
          <p:cNvSpPr>
            <a:spLocks noChangeShapeType="1"/>
          </p:cNvSpPr>
          <p:nvPr/>
        </p:nvSpPr>
        <p:spPr bwMode="auto">
          <a:xfrm>
            <a:off x="6233144" y="1944588"/>
            <a:ext cx="3200400" cy="0"/>
          </a:xfrm>
          <a:prstGeom prst="line">
            <a:avLst/>
          </a:prstGeom>
          <a:noFill/>
          <a:ln w="12700">
            <a:solidFill>
              <a:schemeClr val="tx1"/>
            </a:solidFill>
            <a:round/>
            <a:headEnd/>
            <a:tailEnd/>
          </a:ln>
        </p:spPr>
        <p:txBody>
          <a:bodyPr wrap="none" anchor="ctr"/>
          <a:lstStyle/>
          <a:p>
            <a:endParaRPr lang="zh-CN" altLang="en-US"/>
          </a:p>
        </p:txBody>
      </p:sp>
      <p:sp>
        <p:nvSpPr>
          <p:cNvPr id="22614" name="Line 128"/>
          <p:cNvSpPr>
            <a:spLocks noChangeShapeType="1"/>
          </p:cNvSpPr>
          <p:nvPr/>
        </p:nvSpPr>
        <p:spPr bwMode="auto">
          <a:xfrm>
            <a:off x="6233144" y="2101751"/>
            <a:ext cx="3200400" cy="0"/>
          </a:xfrm>
          <a:prstGeom prst="line">
            <a:avLst/>
          </a:prstGeom>
          <a:noFill/>
          <a:ln w="12700">
            <a:solidFill>
              <a:schemeClr val="tx1"/>
            </a:solidFill>
            <a:round/>
            <a:headEnd/>
            <a:tailEnd/>
          </a:ln>
        </p:spPr>
        <p:txBody>
          <a:bodyPr wrap="none" anchor="ctr"/>
          <a:lstStyle/>
          <a:p>
            <a:endParaRPr lang="zh-CN" altLang="en-US"/>
          </a:p>
        </p:txBody>
      </p:sp>
      <p:sp>
        <p:nvSpPr>
          <p:cNvPr id="22615" name="Line 129"/>
          <p:cNvSpPr>
            <a:spLocks noChangeShapeType="1"/>
          </p:cNvSpPr>
          <p:nvPr/>
        </p:nvSpPr>
        <p:spPr bwMode="auto">
          <a:xfrm>
            <a:off x="6233144" y="2258913"/>
            <a:ext cx="3200400" cy="0"/>
          </a:xfrm>
          <a:prstGeom prst="line">
            <a:avLst/>
          </a:prstGeom>
          <a:noFill/>
          <a:ln w="12700">
            <a:solidFill>
              <a:schemeClr val="tx1"/>
            </a:solidFill>
            <a:round/>
            <a:headEnd/>
            <a:tailEnd/>
          </a:ln>
        </p:spPr>
        <p:txBody>
          <a:bodyPr wrap="none" anchor="ctr"/>
          <a:lstStyle/>
          <a:p>
            <a:endParaRPr lang="zh-CN" altLang="en-US"/>
          </a:p>
        </p:txBody>
      </p:sp>
      <p:sp>
        <p:nvSpPr>
          <p:cNvPr id="22616" name="Line 130"/>
          <p:cNvSpPr>
            <a:spLocks noChangeShapeType="1"/>
          </p:cNvSpPr>
          <p:nvPr/>
        </p:nvSpPr>
        <p:spPr bwMode="auto">
          <a:xfrm>
            <a:off x="6233144" y="2414488"/>
            <a:ext cx="3200400" cy="0"/>
          </a:xfrm>
          <a:prstGeom prst="line">
            <a:avLst/>
          </a:prstGeom>
          <a:noFill/>
          <a:ln w="12700">
            <a:solidFill>
              <a:schemeClr val="tx1"/>
            </a:solidFill>
            <a:round/>
            <a:headEnd/>
            <a:tailEnd/>
          </a:ln>
        </p:spPr>
        <p:txBody>
          <a:bodyPr wrap="none" anchor="ctr"/>
          <a:lstStyle/>
          <a:p>
            <a:endParaRPr lang="zh-CN" altLang="en-US"/>
          </a:p>
        </p:txBody>
      </p:sp>
      <p:sp>
        <p:nvSpPr>
          <p:cNvPr id="22617" name="Line 131"/>
          <p:cNvSpPr>
            <a:spLocks noChangeShapeType="1"/>
          </p:cNvSpPr>
          <p:nvPr/>
        </p:nvSpPr>
        <p:spPr bwMode="auto">
          <a:xfrm>
            <a:off x="6233144" y="2571651"/>
            <a:ext cx="3200400" cy="0"/>
          </a:xfrm>
          <a:prstGeom prst="line">
            <a:avLst/>
          </a:prstGeom>
          <a:noFill/>
          <a:ln w="12700">
            <a:solidFill>
              <a:schemeClr val="tx1"/>
            </a:solidFill>
            <a:round/>
            <a:headEnd/>
            <a:tailEnd/>
          </a:ln>
        </p:spPr>
        <p:txBody>
          <a:bodyPr wrap="none" anchor="ctr"/>
          <a:lstStyle/>
          <a:p>
            <a:endParaRPr lang="zh-CN" altLang="en-US"/>
          </a:p>
        </p:txBody>
      </p:sp>
      <p:grpSp>
        <p:nvGrpSpPr>
          <p:cNvPr id="22618" name="Group 132"/>
          <p:cNvGrpSpPr>
            <a:grpSpLocks/>
          </p:cNvGrpSpPr>
          <p:nvPr/>
        </p:nvGrpSpPr>
        <p:grpSpPr bwMode="auto">
          <a:xfrm>
            <a:off x="8823944" y="1455638"/>
            <a:ext cx="336550" cy="1308100"/>
            <a:chOff x="2282" y="576"/>
            <a:chExt cx="212" cy="824"/>
          </a:xfrm>
        </p:grpSpPr>
        <p:sp>
          <p:nvSpPr>
            <p:cNvPr id="22638" name="Rectangle 133"/>
            <p:cNvSpPr>
              <a:spLocks noChangeArrowheads="1"/>
            </p:cNvSpPr>
            <p:nvPr/>
          </p:nvSpPr>
          <p:spPr bwMode="auto">
            <a:xfrm>
              <a:off x="2282" y="576"/>
              <a:ext cx="212" cy="152"/>
            </a:xfrm>
            <a:prstGeom prst="rect">
              <a:avLst/>
            </a:prstGeom>
            <a:noFill/>
            <a:ln w="25400">
              <a:noFill/>
              <a:miter lim="800000"/>
              <a:headEnd/>
              <a:tailEnd/>
            </a:ln>
          </p:spPr>
          <p:txBody>
            <a:bodyPr wrap="none" lIns="90488" tIns="44450" rIns="90488" bIns="44450">
              <a:spAutoFit/>
            </a:bodyPr>
            <a:lstStyle/>
            <a:p>
              <a:r>
                <a:rPr lang="en-US" altLang="ko-KR" sz="1000" b="1">
                  <a:ea typeface="굴림" pitchFamily="34" charset="-127"/>
                </a:rPr>
                <a:t>V0</a:t>
              </a:r>
            </a:p>
          </p:txBody>
        </p:sp>
        <p:sp>
          <p:nvSpPr>
            <p:cNvPr id="22639" name="Rectangle 134"/>
            <p:cNvSpPr>
              <a:spLocks noChangeArrowheads="1"/>
            </p:cNvSpPr>
            <p:nvPr/>
          </p:nvSpPr>
          <p:spPr bwMode="auto">
            <a:xfrm>
              <a:off x="2282" y="672"/>
              <a:ext cx="212" cy="152"/>
            </a:xfrm>
            <a:prstGeom prst="rect">
              <a:avLst/>
            </a:prstGeom>
            <a:noFill/>
            <a:ln w="25400">
              <a:noFill/>
              <a:miter lim="800000"/>
              <a:headEnd/>
              <a:tailEnd/>
            </a:ln>
          </p:spPr>
          <p:txBody>
            <a:bodyPr wrap="none" lIns="90488" tIns="44450" rIns="90488" bIns="44450">
              <a:spAutoFit/>
            </a:bodyPr>
            <a:lstStyle/>
            <a:p>
              <a:r>
                <a:rPr lang="en-US" altLang="ko-KR" sz="1000" b="1">
                  <a:ea typeface="굴림" pitchFamily="34" charset="-127"/>
                </a:rPr>
                <a:t>V1</a:t>
              </a:r>
            </a:p>
          </p:txBody>
        </p:sp>
        <p:sp>
          <p:nvSpPr>
            <p:cNvPr id="22640" name="Rectangle 135"/>
            <p:cNvSpPr>
              <a:spLocks noChangeArrowheads="1"/>
            </p:cNvSpPr>
            <p:nvPr/>
          </p:nvSpPr>
          <p:spPr bwMode="auto">
            <a:xfrm>
              <a:off x="2282" y="768"/>
              <a:ext cx="212" cy="152"/>
            </a:xfrm>
            <a:prstGeom prst="rect">
              <a:avLst/>
            </a:prstGeom>
            <a:noFill/>
            <a:ln w="25400">
              <a:noFill/>
              <a:miter lim="800000"/>
              <a:headEnd/>
              <a:tailEnd/>
            </a:ln>
          </p:spPr>
          <p:txBody>
            <a:bodyPr wrap="none" lIns="90488" tIns="44450" rIns="90488" bIns="44450">
              <a:spAutoFit/>
            </a:bodyPr>
            <a:lstStyle/>
            <a:p>
              <a:r>
                <a:rPr lang="en-US" altLang="ko-KR" sz="1000" b="1">
                  <a:ea typeface="굴림" pitchFamily="34" charset="-127"/>
                </a:rPr>
                <a:t>V2</a:t>
              </a:r>
            </a:p>
          </p:txBody>
        </p:sp>
        <p:sp>
          <p:nvSpPr>
            <p:cNvPr id="22641" name="Rectangle 136"/>
            <p:cNvSpPr>
              <a:spLocks noChangeArrowheads="1"/>
            </p:cNvSpPr>
            <p:nvPr/>
          </p:nvSpPr>
          <p:spPr bwMode="auto">
            <a:xfrm>
              <a:off x="2282" y="864"/>
              <a:ext cx="212" cy="152"/>
            </a:xfrm>
            <a:prstGeom prst="rect">
              <a:avLst/>
            </a:prstGeom>
            <a:noFill/>
            <a:ln w="25400">
              <a:noFill/>
              <a:miter lim="800000"/>
              <a:headEnd/>
              <a:tailEnd/>
            </a:ln>
          </p:spPr>
          <p:txBody>
            <a:bodyPr wrap="none" lIns="90488" tIns="44450" rIns="90488" bIns="44450">
              <a:spAutoFit/>
            </a:bodyPr>
            <a:lstStyle/>
            <a:p>
              <a:r>
                <a:rPr lang="en-US" altLang="ko-KR" sz="1000" b="1">
                  <a:ea typeface="굴림" pitchFamily="34" charset="-127"/>
                </a:rPr>
                <a:t>V3</a:t>
              </a:r>
            </a:p>
          </p:txBody>
        </p:sp>
        <p:sp>
          <p:nvSpPr>
            <p:cNvPr id="22642" name="Rectangle 137"/>
            <p:cNvSpPr>
              <a:spLocks noChangeArrowheads="1"/>
            </p:cNvSpPr>
            <p:nvPr/>
          </p:nvSpPr>
          <p:spPr bwMode="auto">
            <a:xfrm>
              <a:off x="2282" y="960"/>
              <a:ext cx="212" cy="152"/>
            </a:xfrm>
            <a:prstGeom prst="rect">
              <a:avLst/>
            </a:prstGeom>
            <a:noFill/>
            <a:ln w="25400">
              <a:noFill/>
              <a:miter lim="800000"/>
              <a:headEnd/>
              <a:tailEnd/>
            </a:ln>
          </p:spPr>
          <p:txBody>
            <a:bodyPr wrap="none" lIns="90488" tIns="44450" rIns="90488" bIns="44450">
              <a:spAutoFit/>
            </a:bodyPr>
            <a:lstStyle/>
            <a:p>
              <a:r>
                <a:rPr lang="en-US" altLang="ko-KR" sz="1000" b="1">
                  <a:ea typeface="굴림" pitchFamily="34" charset="-127"/>
                </a:rPr>
                <a:t>V4</a:t>
              </a:r>
            </a:p>
          </p:txBody>
        </p:sp>
        <p:sp>
          <p:nvSpPr>
            <p:cNvPr id="22643" name="Rectangle 138"/>
            <p:cNvSpPr>
              <a:spLocks noChangeArrowheads="1"/>
            </p:cNvSpPr>
            <p:nvPr/>
          </p:nvSpPr>
          <p:spPr bwMode="auto">
            <a:xfrm>
              <a:off x="2282" y="1056"/>
              <a:ext cx="212" cy="152"/>
            </a:xfrm>
            <a:prstGeom prst="rect">
              <a:avLst/>
            </a:prstGeom>
            <a:noFill/>
            <a:ln w="25400">
              <a:noFill/>
              <a:miter lim="800000"/>
              <a:headEnd/>
              <a:tailEnd/>
            </a:ln>
          </p:spPr>
          <p:txBody>
            <a:bodyPr wrap="none" lIns="90488" tIns="44450" rIns="90488" bIns="44450">
              <a:spAutoFit/>
            </a:bodyPr>
            <a:lstStyle/>
            <a:p>
              <a:r>
                <a:rPr lang="en-US" altLang="ko-KR" sz="1000" b="1">
                  <a:ea typeface="굴림" pitchFamily="34" charset="-127"/>
                </a:rPr>
                <a:t>V5</a:t>
              </a:r>
            </a:p>
          </p:txBody>
        </p:sp>
        <p:sp>
          <p:nvSpPr>
            <p:cNvPr id="22644" name="Rectangle 139"/>
            <p:cNvSpPr>
              <a:spLocks noChangeArrowheads="1"/>
            </p:cNvSpPr>
            <p:nvPr/>
          </p:nvSpPr>
          <p:spPr bwMode="auto">
            <a:xfrm>
              <a:off x="2282" y="1152"/>
              <a:ext cx="212" cy="152"/>
            </a:xfrm>
            <a:prstGeom prst="rect">
              <a:avLst/>
            </a:prstGeom>
            <a:noFill/>
            <a:ln w="25400">
              <a:noFill/>
              <a:miter lim="800000"/>
              <a:headEnd/>
              <a:tailEnd/>
            </a:ln>
          </p:spPr>
          <p:txBody>
            <a:bodyPr wrap="none" lIns="90488" tIns="44450" rIns="90488" bIns="44450">
              <a:spAutoFit/>
            </a:bodyPr>
            <a:lstStyle/>
            <a:p>
              <a:r>
                <a:rPr lang="en-US" altLang="ko-KR" sz="1000" b="1">
                  <a:ea typeface="굴림" pitchFamily="34" charset="-127"/>
                </a:rPr>
                <a:t>V6</a:t>
              </a:r>
            </a:p>
          </p:txBody>
        </p:sp>
        <p:sp>
          <p:nvSpPr>
            <p:cNvPr id="22645" name="Rectangle 140"/>
            <p:cNvSpPr>
              <a:spLocks noChangeArrowheads="1"/>
            </p:cNvSpPr>
            <p:nvPr/>
          </p:nvSpPr>
          <p:spPr bwMode="auto">
            <a:xfrm>
              <a:off x="2282" y="1248"/>
              <a:ext cx="212" cy="152"/>
            </a:xfrm>
            <a:prstGeom prst="rect">
              <a:avLst/>
            </a:prstGeom>
            <a:noFill/>
            <a:ln w="25400">
              <a:noFill/>
              <a:miter lim="800000"/>
              <a:headEnd/>
              <a:tailEnd/>
            </a:ln>
          </p:spPr>
          <p:txBody>
            <a:bodyPr wrap="none" lIns="90488" tIns="44450" rIns="90488" bIns="44450">
              <a:spAutoFit/>
            </a:bodyPr>
            <a:lstStyle/>
            <a:p>
              <a:r>
                <a:rPr lang="en-US" altLang="ko-KR" sz="1000" b="1">
                  <a:ea typeface="굴림" pitchFamily="34" charset="-127"/>
                </a:rPr>
                <a:t>V7</a:t>
              </a:r>
            </a:p>
          </p:txBody>
        </p:sp>
      </p:grpSp>
      <p:sp>
        <p:nvSpPr>
          <p:cNvPr id="22619" name="Line 141"/>
          <p:cNvSpPr>
            <a:spLocks noChangeShapeType="1"/>
          </p:cNvSpPr>
          <p:nvPr/>
        </p:nvSpPr>
        <p:spPr bwMode="auto">
          <a:xfrm flipH="1">
            <a:off x="5863256" y="2100164"/>
            <a:ext cx="376238" cy="4763"/>
          </a:xfrm>
          <a:prstGeom prst="line">
            <a:avLst/>
          </a:prstGeom>
          <a:noFill/>
          <a:ln w="25400">
            <a:solidFill>
              <a:schemeClr val="tx1"/>
            </a:solidFill>
            <a:round/>
            <a:headEnd type="triangle" w="med" len="med"/>
            <a:tailEnd type="triangle" w="med" len="med"/>
          </a:ln>
        </p:spPr>
        <p:txBody>
          <a:bodyPr anchor="ctr">
            <a:spAutoFit/>
          </a:bodyPr>
          <a:lstStyle/>
          <a:p>
            <a:endParaRPr lang="zh-CN" altLang="en-US"/>
          </a:p>
        </p:txBody>
      </p:sp>
      <p:sp>
        <p:nvSpPr>
          <p:cNvPr id="22620" name="Line 142"/>
          <p:cNvSpPr>
            <a:spLocks noChangeShapeType="1"/>
          </p:cNvSpPr>
          <p:nvPr/>
        </p:nvSpPr>
        <p:spPr bwMode="auto">
          <a:xfrm flipV="1">
            <a:off x="10195544" y="1717576"/>
            <a:ext cx="0" cy="1447800"/>
          </a:xfrm>
          <a:prstGeom prst="line">
            <a:avLst/>
          </a:prstGeom>
          <a:noFill/>
          <a:ln w="25400">
            <a:solidFill>
              <a:schemeClr val="tx1"/>
            </a:solidFill>
            <a:round/>
            <a:headEnd/>
            <a:tailEnd/>
          </a:ln>
        </p:spPr>
        <p:txBody>
          <a:bodyPr wrap="none" anchor="ctr">
            <a:spAutoFit/>
          </a:bodyPr>
          <a:lstStyle/>
          <a:p>
            <a:endParaRPr lang="zh-CN" altLang="en-US"/>
          </a:p>
        </p:txBody>
      </p:sp>
      <p:sp>
        <p:nvSpPr>
          <p:cNvPr id="22621" name="Line 143"/>
          <p:cNvSpPr>
            <a:spLocks noChangeShapeType="1"/>
          </p:cNvSpPr>
          <p:nvPr/>
        </p:nvSpPr>
        <p:spPr bwMode="auto">
          <a:xfrm flipH="1">
            <a:off x="9433544" y="1717576"/>
            <a:ext cx="762000" cy="0"/>
          </a:xfrm>
          <a:prstGeom prst="line">
            <a:avLst/>
          </a:prstGeom>
          <a:noFill/>
          <a:ln w="25400">
            <a:solidFill>
              <a:schemeClr val="tx1"/>
            </a:solidFill>
            <a:round/>
            <a:headEnd/>
            <a:tailEnd type="triangle" w="med" len="med"/>
          </a:ln>
        </p:spPr>
        <p:txBody>
          <a:bodyPr wrap="none" anchor="ctr">
            <a:spAutoFit/>
          </a:bodyPr>
          <a:lstStyle/>
          <a:p>
            <a:endParaRPr lang="zh-CN" altLang="en-US"/>
          </a:p>
        </p:txBody>
      </p:sp>
      <p:sp>
        <p:nvSpPr>
          <p:cNvPr id="22622" name="Line 144"/>
          <p:cNvSpPr>
            <a:spLocks noChangeShapeType="1"/>
          </p:cNvSpPr>
          <p:nvPr/>
        </p:nvSpPr>
        <p:spPr bwMode="auto">
          <a:xfrm>
            <a:off x="9433544" y="2022376"/>
            <a:ext cx="609600" cy="0"/>
          </a:xfrm>
          <a:prstGeom prst="line">
            <a:avLst/>
          </a:prstGeom>
          <a:noFill/>
          <a:ln w="25400">
            <a:solidFill>
              <a:schemeClr val="tx1"/>
            </a:solidFill>
            <a:round/>
            <a:headEnd/>
            <a:tailEnd/>
          </a:ln>
        </p:spPr>
        <p:txBody>
          <a:bodyPr anchor="ctr">
            <a:spAutoFit/>
          </a:bodyPr>
          <a:lstStyle/>
          <a:p>
            <a:endParaRPr lang="zh-CN" altLang="en-US"/>
          </a:p>
        </p:txBody>
      </p:sp>
      <p:sp>
        <p:nvSpPr>
          <p:cNvPr id="22623" name="Line 145"/>
          <p:cNvSpPr>
            <a:spLocks noChangeShapeType="1"/>
          </p:cNvSpPr>
          <p:nvPr/>
        </p:nvSpPr>
        <p:spPr bwMode="auto">
          <a:xfrm>
            <a:off x="9890744" y="2327176"/>
            <a:ext cx="0" cy="533400"/>
          </a:xfrm>
          <a:prstGeom prst="line">
            <a:avLst/>
          </a:prstGeom>
          <a:noFill/>
          <a:ln w="25400">
            <a:solidFill>
              <a:schemeClr val="tx1"/>
            </a:solidFill>
            <a:round/>
            <a:headEnd/>
            <a:tailEnd/>
          </a:ln>
        </p:spPr>
        <p:txBody>
          <a:bodyPr anchor="ctr">
            <a:spAutoFit/>
          </a:bodyPr>
          <a:lstStyle/>
          <a:p>
            <a:endParaRPr lang="zh-CN" altLang="en-US"/>
          </a:p>
        </p:txBody>
      </p:sp>
      <p:sp>
        <p:nvSpPr>
          <p:cNvPr id="22624" name="Line 146"/>
          <p:cNvSpPr>
            <a:spLocks noChangeShapeType="1"/>
          </p:cNvSpPr>
          <p:nvPr/>
        </p:nvSpPr>
        <p:spPr bwMode="auto">
          <a:xfrm>
            <a:off x="9433544" y="2327176"/>
            <a:ext cx="457200" cy="0"/>
          </a:xfrm>
          <a:prstGeom prst="line">
            <a:avLst/>
          </a:prstGeom>
          <a:noFill/>
          <a:ln w="25400">
            <a:solidFill>
              <a:schemeClr val="tx1"/>
            </a:solidFill>
            <a:round/>
            <a:headEnd/>
            <a:tailEnd/>
          </a:ln>
        </p:spPr>
        <p:txBody>
          <a:bodyPr anchor="ctr">
            <a:spAutoFit/>
          </a:bodyPr>
          <a:lstStyle/>
          <a:p>
            <a:endParaRPr lang="zh-CN" altLang="en-US"/>
          </a:p>
        </p:txBody>
      </p:sp>
      <p:sp>
        <p:nvSpPr>
          <p:cNvPr id="22625" name="Line 147"/>
          <p:cNvSpPr>
            <a:spLocks noChangeShapeType="1"/>
          </p:cNvSpPr>
          <p:nvPr/>
        </p:nvSpPr>
        <p:spPr bwMode="auto">
          <a:xfrm flipV="1">
            <a:off x="10043144" y="2022376"/>
            <a:ext cx="0" cy="990600"/>
          </a:xfrm>
          <a:prstGeom prst="line">
            <a:avLst/>
          </a:prstGeom>
          <a:noFill/>
          <a:ln w="25400">
            <a:solidFill>
              <a:schemeClr val="tx1"/>
            </a:solidFill>
            <a:round/>
            <a:headEnd/>
            <a:tailEnd/>
          </a:ln>
        </p:spPr>
        <p:txBody>
          <a:bodyPr wrap="none" anchor="ctr">
            <a:spAutoFit/>
          </a:bodyPr>
          <a:lstStyle/>
          <a:p>
            <a:endParaRPr lang="zh-CN" altLang="en-US"/>
          </a:p>
        </p:txBody>
      </p:sp>
      <p:sp>
        <p:nvSpPr>
          <p:cNvPr id="22626" name="Rectangle 148"/>
          <p:cNvSpPr>
            <a:spLocks noChangeArrowheads="1"/>
          </p:cNvSpPr>
          <p:nvPr/>
        </p:nvSpPr>
        <p:spPr bwMode="auto">
          <a:xfrm>
            <a:off x="9509745" y="2022376"/>
            <a:ext cx="370295" cy="305212"/>
          </a:xfrm>
          <a:prstGeom prst="rect">
            <a:avLst/>
          </a:prstGeom>
          <a:noFill/>
          <a:ln w="25400">
            <a:noFill/>
            <a:miter lim="800000"/>
            <a:headEnd/>
            <a:tailEnd/>
          </a:ln>
        </p:spPr>
        <p:txBody>
          <a:bodyPr wrap="none" lIns="90488" tIns="44450" rIns="90488" bIns="44450">
            <a:spAutoFit/>
          </a:bodyPr>
          <a:lstStyle/>
          <a:p>
            <a:r>
              <a:rPr lang="en-US" altLang="ko-KR" sz="1400" b="1">
                <a:ea typeface="굴림" pitchFamily="34" charset="-127"/>
              </a:rPr>
              <a:t>V</a:t>
            </a:r>
            <a:r>
              <a:rPr lang="en-US" altLang="ko-KR" sz="1400" b="1" baseline="-25000">
                <a:ea typeface="굴림" pitchFamily="34" charset="-127"/>
              </a:rPr>
              <a:t>k</a:t>
            </a:r>
          </a:p>
        </p:txBody>
      </p:sp>
      <p:sp>
        <p:nvSpPr>
          <p:cNvPr id="22627" name="Rectangle 149"/>
          <p:cNvSpPr>
            <a:spLocks noChangeArrowheads="1"/>
          </p:cNvSpPr>
          <p:nvPr/>
        </p:nvSpPr>
        <p:spPr bwMode="auto">
          <a:xfrm>
            <a:off x="9509744" y="1717576"/>
            <a:ext cx="336632" cy="305212"/>
          </a:xfrm>
          <a:prstGeom prst="rect">
            <a:avLst/>
          </a:prstGeom>
          <a:noFill/>
          <a:ln w="25400">
            <a:noFill/>
            <a:miter lim="800000"/>
            <a:headEnd/>
            <a:tailEnd/>
          </a:ln>
        </p:spPr>
        <p:txBody>
          <a:bodyPr wrap="none" lIns="90488" tIns="44450" rIns="90488" bIns="44450">
            <a:spAutoFit/>
          </a:bodyPr>
          <a:lstStyle/>
          <a:p>
            <a:r>
              <a:rPr lang="en-US" altLang="ko-KR" sz="1400" b="1">
                <a:ea typeface="굴림" pitchFamily="34" charset="-127"/>
              </a:rPr>
              <a:t>V</a:t>
            </a:r>
            <a:r>
              <a:rPr lang="en-US" altLang="ko-KR" sz="1400" b="1" baseline="-25000">
                <a:ea typeface="굴림" pitchFamily="34" charset="-127"/>
              </a:rPr>
              <a:t>j</a:t>
            </a:r>
          </a:p>
        </p:txBody>
      </p:sp>
      <p:sp>
        <p:nvSpPr>
          <p:cNvPr id="22628" name="Rectangle 150"/>
          <p:cNvSpPr>
            <a:spLocks noChangeArrowheads="1"/>
          </p:cNvSpPr>
          <p:nvPr/>
        </p:nvSpPr>
        <p:spPr bwMode="auto">
          <a:xfrm>
            <a:off x="9509744" y="1412776"/>
            <a:ext cx="333362" cy="305212"/>
          </a:xfrm>
          <a:prstGeom prst="rect">
            <a:avLst/>
          </a:prstGeom>
          <a:noFill/>
          <a:ln w="25400">
            <a:noFill/>
            <a:miter lim="800000"/>
            <a:headEnd/>
            <a:tailEnd/>
          </a:ln>
        </p:spPr>
        <p:txBody>
          <a:bodyPr wrap="none" lIns="90488" tIns="44450" rIns="90488" bIns="44450">
            <a:spAutoFit/>
          </a:bodyPr>
          <a:lstStyle/>
          <a:p>
            <a:r>
              <a:rPr lang="en-US" altLang="ko-KR" sz="1400" b="1">
                <a:ea typeface="굴림" pitchFamily="34" charset="-127"/>
              </a:rPr>
              <a:t>V</a:t>
            </a:r>
            <a:r>
              <a:rPr lang="en-US" altLang="ko-KR" sz="1400" b="1" baseline="-25000">
                <a:ea typeface="굴림" pitchFamily="34" charset="-127"/>
              </a:rPr>
              <a:t>i</a:t>
            </a:r>
          </a:p>
        </p:txBody>
      </p:sp>
      <p:grpSp>
        <p:nvGrpSpPr>
          <p:cNvPr id="22629" name="Group 151"/>
          <p:cNvGrpSpPr>
            <a:grpSpLocks/>
          </p:cNvGrpSpPr>
          <p:nvPr/>
        </p:nvGrpSpPr>
        <p:grpSpPr bwMode="auto">
          <a:xfrm>
            <a:off x="10736882" y="1488976"/>
            <a:ext cx="974725" cy="304800"/>
            <a:chOff x="4613" y="576"/>
            <a:chExt cx="614" cy="192"/>
          </a:xfrm>
        </p:grpSpPr>
        <p:sp>
          <p:nvSpPr>
            <p:cNvPr id="22636" name="Rectangle 152"/>
            <p:cNvSpPr>
              <a:spLocks noChangeArrowheads="1"/>
            </p:cNvSpPr>
            <p:nvPr/>
          </p:nvSpPr>
          <p:spPr bwMode="auto">
            <a:xfrm>
              <a:off x="4613" y="609"/>
              <a:ext cx="614" cy="128"/>
            </a:xfrm>
            <a:prstGeom prst="rect">
              <a:avLst/>
            </a:prstGeom>
            <a:solidFill>
              <a:schemeClr val="bg1"/>
            </a:solidFill>
            <a:ln w="25400">
              <a:solidFill>
                <a:schemeClr val="tx1"/>
              </a:solidFill>
              <a:miter lim="800000"/>
              <a:headEnd/>
              <a:tailEnd/>
            </a:ln>
          </p:spPr>
          <p:txBody>
            <a:bodyPr wrap="none" anchor="ctr"/>
            <a:lstStyle/>
            <a:p>
              <a:endParaRPr lang="en-US" altLang="zh-CN"/>
            </a:p>
          </p:txBody>
        </p:sp>
        <p:sp>
          <p:nvSpPr>
            <p:cNvPr id="22637" name="Rectangle 153"/>
            <p:cNvSpPr>
              <a:spLocks noChangeArrowheads="1"/>
            </p:cNvSpPr>
            <p:nvPr/>
          </p:nvSpPr>
          <p:spPr bwMode="auto">
            <a:xfrm>
              <a:off x="4655" y="576"/>
              <a:ext cx="525" cy="192"/>
            </a:xfrm>
            <a:prstGeom prst="rect">
              <a:avLst/>
            </a:prstGeom>
            <a:noFill/>
            <a:ln w="25400">
              <a:noFill/>
              <a:miter lim="800000"/>
              <a:headEnd/>
              <a:tailEnd/>
            </a:ln>
          </p:spPr>
          <p:txBody>
            <a:bodyPr wrap="none" lIns="90488" tIns="44450" rIns="90488" bIns="44450">
              <a:spAutoFit/>
            </a:bodyPr>
            <a:lstStyle/>
            <a:p>
              <a:r>
                <a:rPr lang="en-US" altLang="ko-KR" sz="1400" b="1">
                  <a:ea typeface="굴림" pitchFamily="34" charset="-127"/>
                </a:rPr>
                <a:t>V. Mask</a:t>
              </a:r>
            </a:p>
          </p:txBody>
        </p:sp>
      </p:grpSp>
      <p:grpSp>
        <p:nvGrpSpPr>
          <p:cNvPr id="22630" name="Group 154"/>
          <p:cNvGrpSpPr>
            <a:grpSpLocks/>
          </p:cNvGrpSpPr>
          <p:nvPr/>
        </p:nvGrpSpPr>
        <p:grpSpPr bwMode="auto">
          <a:xfrm>
            <a:off x="10728947" y="1869976"/>
            <a:ext cx="981255" cy="304800"/>
            <a:chOff x="4624" y="576"/>
            <a:chExt cx="525" cy="192"/>
          </a:xfrm>
        </p:grpSpPr>
        <p:sp>
          <p:nvSpPr>
            <p:cNvPr id="22634" name="Rectangle 155"/>
            <p:cNvSpPr>
              <a:spLocks noChangeArrowheads="1"/>
            </p:cNvSpPr>
            <p:nvPr/>
          </p:nvSpPr>
          <p:spPr bwMode="auto">
            <a:xfrm>
              <a:off x="4632" y="609"/>
              <a:ext cx="512" cy="128"/>
            </a:xfrm>
            <a:prstGeom prst="rect">
              <a:avLst/>
            </a:prstGeom>
            <a:solidFill>
              <a:schemeClr val="bg1"/>
            </a:solidFill>
            <a:ln w="25400">
              <a:solidFill>
                <a:schemeClr val="tx1"/>
              </a:solidFill>
              <a:miter lim="800000"/>
              <a:headEnd/>
              <a:tailEnd/>
            </a:ln>
          </p:spPr>
          <p:txBody>
            <a:bodyPr wrap="none" anchor="ctr"/>
            <a:lstStyle/>
            <a:p>
              <a:endParaRPr lang="en-US" altLang="zh-CN"/>
            </a:p>
          </p:txBody>
        </p:sp>
        <p:sp>
          <p:nvSpPr>
            <p:cNvPr id="22635" name="Rectangle 156"/>
            <p:cNvSpPr>
              <a:spLocks noChangeArrowheads="1"/>
            </p:cNvSpPr>
            <p:nvPr/>
          </p:nvSpPr>
          <p:spPr bwMode="auto">
            <a:xfrm>
              <a:off x="4624" y="576"/>
              <a:ext cx="525" cy="192"/>
            </a:xfrm>
            <a:prstGeom prst="rect">
              <a:avLst/>
            </a:prstGeom>
            <a:noFill/>
            <a:ln w="25400">
              <a:noFill/>
              <a:miter lim="800000"/>
              <a:headEnd/>
              <a:tailEnd/>
            </a:ln>
          </p:spPr>
          <p:txBody>
            <a:bodyPr wrap="none" lIns="90488" tIns="44450" rIns="90488" bIns="44450">
              <a:spAutoFit/>
            </a:bodyPr>
            <a:lstStyle/>
            <a:p>
              <a:r>
                <a:rPr lang="en-US" altLang="ko-KR" sz="1400" b="1">
                  <a:ea typeface="굴림" pitchFamily="34" charset="-127"/>
                </a:rPr>
                <a:t>V. Length</a:t>
              </a:r>
            </a:p>
          </p:txBody>
        </p:sp>
      </p:grpSp>
      <p:sp>
        <p:nvSpPr>
          <p:cNvPr id="22631" name="Text Box 157"/>
          <p:cNvSpPr txBox="1">
            <a:spLocks noChangeArrowheads="1"/>
          </p:cNvSpPr>
          <p:nvPr/>
        </p:nvSpPr>
        <p:spPr bwMode="auto">
          <a:xfrm>
            <a:off x="6471269" y="1711781"/>
            <a:ext cx="2089150" cy="738664"/>
          </a:xfrm>
          <a:prstGeom prst="rect">
            <a:avLst/>
          </a:prstGeom>
          <a:noFill/>
          <a:ln w="25400">
            <a:noFill/>
            <a:miter lim="800000"/>
            <a:headEnd/>
            <a:tailEnd/>
          </a:ln>
        </p:spPr>
        <p:txBody>
          <a:bodyPr anchor="ctr">
            <a:spAutoFit/>
          </a:bodyPr>
          <a:lstStyle/>
          <a:p>
            <a:r>
              <a:rPr lang="en-US" altLang="ko-KR" b="1">
                <a:ea typeface="굴림" pitchFamily="34" charset="-127"/>
              </a:rPr>
              <a:t>64 Element Vector Registers</a:t>
            </a:r>
            <a:endParaRPr lang="en-US" altLang="ko-KR" sz="2400" b="1">
              <a:ea typeface="굴림" pitchFamily="34" charset="-127"/>
            </a:endParaRPr>
          </a:p>
        </p:txBody>
      </p:sp>
    </p:spTree>
    <p:extLst>
      <p:ext uri="{BB962C8B-B14F-4D97-AF65-F5344CB8AC3E}">
        <p14:creationId xmlns:p14="http://schemas.microsoft.com/office/powerpoint/2010/main" val="216485097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2063750" y="260350"/>
            <a:ext cx="7772400" cy="736600"/>
          </a:xfrm>
        </p:spPr>
        <p:txBody>
          <a:bodyPr/>
          <a:lstStyle/>
          <a:p>
            <a:r>
              <a:rPr lang="en-US" altLang="zh-CN" smtClean="0"/>
              <a:t>Cray-2 (1985)</a:t>
            </a:r>
          </a:p>
        </p:txBody>
      </p:sp>
      <p:sp>
        <p:nvSpPr>
          <p:cNvPr id="23555" name="Content Placeholder 62"/>
          <p:cNvSpPr>
            <a:spLocks noGrp="1"/>
          </p:cNvSpPr>
          <p:nvPr>
            <p:ph idx="1"/>
          </p:nvPr>
        </p:nvSpPr>
        <p:spPr>
          <a:xfrm>
            <a:off x="675480" y="1629569"/>
            <a:ext cx="10605096" cy="1676400"/>
          </a:xfrm>
        </p:spPr>
        <p:txBody>
          <a:bodyPr/>
          <a:lstStyle/>
          <a:p>
            <a:r>
              <a:rPr lang="en-US" altLang="zh-CN" sz="2400" dirty="0"/>
              <a:t>243MHz </a:t>
            </a:r>
            <a:r>
              <a:rPr lang="en-US" altLang="zh-CN" sz="2400" dirty="0" smtClean="0"/>
              <a:t>with ECL logic, 4 vector processors sharing main memory</a:t>
            </a:r>
            <a:endParaRPr lang="en-US" altLang="zh-CN" sz="2400" dirty="0"/>
          </a:p>
          <a:p>
            <a:r>
              <a:rPr lang="en-US" altLang="zh-CN" sz="2400" dirty="0"/>
              <a:t>2GB DRAM main memory (128 banks of 16MB each)</a:t>
            </a:r>
          </a:p>
          <a:p>
            <a:pPr lvl="1"/>
            <a:r>
              <a:rPr lang="en-US" altLang="zh-CN" sz="2000" dirty="0"/>
              <a:t>Bank busy time 57 clocks!</a:t>
            </a:r>
          </a:p>
          <a:p>
            <a:r>
              <a:rPr lang="en-US" altLang="zh-CN" sz="2400" dirty="0"/>
              <a:t>Local memory of 128KB/core</a:t>
            </a:r>
          </a:p>
          <a:p>
            <a:r>
              <a:rPr lang="en-US" altLang="zh-CN" sz="2400" dirty="0"/>
              <a:t>1 foreground + 4 background </a:t>
            </a:r>
            <a:br>
              <a:rPr lang="en-US" altLang="zh-CN" sz="2400" dirty="0"/>
            </a:br>
            <a:r>
              <a:rPr lang="en-US" altLang="zh-CN" sz="2400" dirty="0"/>
              <a:t>vector </a:t>
            </a:r>
            <a:r>
              <a:rPr lang="en-US" altLang="zh-CN" sz="2400" dirty="0" smtClean="0"/>
              <a:t>processors</a:t>
            </a:r>
          </a:p>
          <a:p>
            <a:endParaRPr lang="en-US" altLang="zh-CN" sz="2400" dirty="0"/>
          </a:p>
          <a:p>
            <a:endParaRPr lang="en-US" altLang="zh-CN" sz="2400" dirty="0"/>
          </a:p>
          <a:p>
            <a:r>
              <a:rPr lang="zh-CN" altLang="en-US" sz="2400" dirty="0" smtClean="0"/>
              <a:t>浸泡式液冷</a:t>
            </a:r>
            <a:endParaRPr lang="en-US" altLang="zh-CN" sz="2400" dirty="0" smtClean="0"/>
          </a:p>
          <a:p>
            <a:pPr lvl="1"/>
            <a:r>
              <a:rPr lang="en-US" altLang="zh-CN" sz="2000" dirty="0" smtClean="0"/>
              <a:t>fluorocarbon </a:t>
            </a:r>
            <a:r>
              <a:rPr lang="en-US" altLang="zh-CN" sz="2000" dirty="0"/>
              <a:t>liquid</a:t>
            </a:r>
          </a:p>
        </p:txBody>
      </p:sp>
      <p:pic>
        <p:nvPicPr>
          <p:cNvPr id="23556" name="Picture 4"/>
          <p:cNvPicPr>
            <a:picLocks noChangeAspect="1"/>
          </p:cNvPicPr>
          <p:nvPr/>
        </p:nvPicPr>
        <p:blipFill>
          <a:blip r:embed="rId3" cstate="print"/>
          <a:srcRect/>
          <a:stretch>
            <a:fillRect/>
          </a:stretch>
        </p:blipFill>
        <p:spPr bwMode="auto">
          <a:xfrm>
            <a:off x="7613649" y="2733425"/>
            <a:ext cx="4471987" cy="3627438"/>
          </a:xfrm>
          <a:prstGeom prst="rect">
            <a:avLst/>
          </a:prstGeom>
          <a:noFill/>
          <a:ln w="9525">
            <a:noFill/>
            <a:miter lim="800000"/>
            <a:headEnd/>
            <a:tailEnd/>
          </a:ln>
        </p:spPr>
      </p:pic>
      <p:sp>
        <p:nvSpPr>
          <p:cNvPr id="23557" name="Rectangle 33"/>
          <p:cNvSpPr>
            <a:spLocks noChangeArrowheads="1"/>
          </p:cNvSpPr>
          <p:nvPr/>
        </p:nvSpPr>
        <p:spPr bwMode="auto">
          <a:xfrm>
            <a:off x="3733156" y="4459560"/>
            <a:ext cx="1219200" cy="685800"/>
          </a:xfrm>
          <a:prstGeom prst="rect">
            <a:avLst/>
          </a:prstGeom>
          <a:solidFill>
            <a:schemeClr val="bg1"/>
          </a:solidFill>
          <a:ln w="25400" algn="ctr">
            <a:solidFill>
              <a:schemeClr val="tx1"/>
            </a:solidFill>
            <a:round/>
            <a:headEnd/>
            <a:tailEnd/>
          </a:ln>
        </p:spPr>
        <p:txBody>
          <a:bodyPr lIns="0" tIns="0" rIns="0" bIns="0" anchor="ctr"/>
          <a:lstStyle/>
          <a:p>
            <a:pPr algn="ctr">
              <a:spcBef>
                <a:spcPct val="50000"/>
              </a:spcBef>
            </a:pPr>
            <a:r>
              <a:rPr lang="en-US" altLang="zh-CN" dirty="0"/>
              <a:t>Foreground </a:t>
            </a:r>
            <a:r>
              <a:rPr kumimoji="0" lang="en-US" altLang="zh-CN" sz="1600" dirty="0"/>
              <a:t>CPU</a:t>
            </a:r>
          </a:p>
        </p:txBody>
      </p:sp>
      <p:sp>
        <p:nvSpPr>
          <p:cNvPr id="23558" name="Rectangle 34"/>
          <p:cNvSpPr>
            <a:spLocks noChangeArrowheads="1"/>
          </p:cNvSpPr>
          <p:nvPr/>
        </p:nvSpPr>
        <p:spPr bwMode="auto">
          <a:xfrm>
            <a:off x="3885556" y="6135960"/>
            <a:ext cx="2743200" cy="533400"/>
          </a:xfrm>
          <a:prstGeom prst="rect">
            <a:avLst/>
          </a:prstGeom>
          <a:solidFill>
            <a:schemeClr val="bg1"/>
          </a:solidFill>
          <a:ln w="25400" algn="ctr">
            <a:solidFill>
              <a:schemeClr val="tx1"/>
            </a:solidFill>
            <a:round/>
            <a:headEnd/>
            <a:tailEnd/>
          </a:ln>
        </p:spPr>
        <p:txBody>
          <a:bodyPr lIns="0" tIns="0" bIns="0" anchor="ctr"/>
          <a:lstStyle/>
          <a:p>
            <a:pPr algn="ctr">
              <a:spcBef>
                <a:spcPct val="50000"/>
              </a:spcBef>
            </a:pPr>
            <a:r>
              <a:rPr lang="en-US" altLang="zh-CN"/>
              <a:t>Shared </a:t>
            </a:r>
            <a:r>
              <a:rPr kumimoji="0" lang="en-US" altLang="zh-CN" sz="1600"/>
              <a:t>Memory</a:t>
            </a:r>
          </a:p>
        </p:txBody>
      </p:sp>
      <p:cxnSp>
        <p:nvCxnSpPr>
          <p:cNvPr id="23559" name="Straight Connector 35"/>
          <p:cNvCxnSpPr>
            <a:cxnSpLocks noChangeShapeType="1"/>
          </p:cNvCxnSpPr>
          <p:nvPr/>
        </p:nvCxnSpPr>
        <p:spPr bwMode="auto">
          <a:xfrm rot="5400000">
            <a:off x="3924450" y="5639867"/>
            <a:ext cx="990600" cy="1587"/>
          </a:xfrm>
          <a:prstGeom prst="line">
            <a:avLst/>
          </a:prstGeom>
          <a:noFill/>
          <a:ln w="25400" algn="ctr">
            <a:solidFill>
              <a:srgbClr val="000000"/>
            </a:solidFill>
            <a:round/>
            <a:headEnd type="triangle" w="med" len="med"/>
            <a:tailEnd type="triangle" w="med" len="med"/>
          </a:ln>
        </p:spPr>
      </p:cxnSp>
      <p:grpSp>
        <p:nvGrpSpPr>
          <p:cNvPr id="23560" name="Group 50"/>
          <p:cNvGrpSpPr>
            <a:grpSpLocks/>
          </p:cNvGrpSpPr>
          <p:nvPr/>
        </p:nvGrpSpPr>
        <p:grpSpPr bwMode="auto">
          <a:xfrm>
            <a:off x="5215880" y="4015853"/>
            <a:ext cx="1600200" cy="1752600"/>
            <a:chOff x="2819400" y="762000"/>
            <a:chExt cx="1600200" cy="1752600"/>
          </a:xfrm>
        </p:grpSpPr>
        <p:grpSp>
          <p:nvGrpSpPr>
            <p:cNvPr id="23568" name="Group 11"/>
            <p:cNvGrpSpPr>
              <a:grpSpLocks/>
            </p:cNvGrpSpPr>
            <p:nvPr/>
          </p:nvGrpSpPr>
          <p:grpSpPr bwMode="auto">
            <a:xfrm>
              <a:off x="2819400" y="762000"/>
              <a:ext cx="1143000" cy="1295400"/>
              <a:chOff x="2514600" y="4648200"/>
              <a:chExt cx="1143000" cy="1295400"/>
            </a:xfrm>
          </p:grpSpPr>
          <p:sp>
            <p:nvSpPr>
              <p:cNvPr id="23581" name="Rectangle 25"/>
              <p:cNvSpPr>
                <a:spLocks noChangeArrowheads="1"/>
              </p:cNvSpPr>
              <p:nvPr/>
            </p:nvSpPr>
            <p:spPr bwMode="auto">
              <a:xfrm flipH="1">
                <a:off x="2514600" y="4648200"/>
                <a:ext cx="1143000" cy="1295400"/>
              </a:xfrm>
              <a:prstGeom prst="rect">
                <a:avLst/>
              </a:prstGeom>
              <a:solidFill>
                <a:schemeClr val="bg1"/>
              </a:solidFill>
              <a:ln w="25400" algn="ctr">
                <a:solidFill>
                  <a:schemeClr val="tx1"/>
                </a:solidFill>
                <a:round/>
                <a:headEnd/>
                <a:tailEnd/>
              </a:ln>
            </p:spPr>
            <p:txBody>
              <a:bodyPr lIns="0" tIns="0" bIns="0" anchor="b"/>
              <a:lstStyle/>
              <a:p>
                <a:pPr algn="ctr">
                  <a:spcBef>
                    <a:spcPct val="50000"/>
                  </a:spcBef>
                </a:pPr>
                <a:r>
                  <a:rPr kumimoji="0" lang="en-US" altLang="zh-CN" sz="1600"/>
                  <a:t>Core 0</a:t>
                </a:r>
              </a:p>
            </p:txBody>
          </p:sp>
          <p:sp>
            <p:nvSpPr>
              <p:cNvPr id="23582" name="Rectangle 4"/>
              <p:cNvSpPr>
                <a:spLocks noChangeArrowheads="1"/>
              </p:cNvSpPr>
              <p:nvPr/>
            </p:nvSpPr>
            <p:spPr bwMode="auto">
              <a:xfrm>
                <a:off x="2590800" y="4724400"/>
                <a:ext cx="990599" cy="304800"/>
              </a:xfrm>
              <a:prstGeom prst="rect">
                <a:avLst/>
              </a:prstGeom>
              <a:solidFill>
                <a:schemeClr val="bg1"/>
              </a:solidFill>
              <a:ln w="25400" algn="ctr">
                <a:solidFill>
                  <a:schemeClr val="tx1"/>
                </a:solidFill>
                <a:round/>
                <a:headEnd/>
                <a:tailEnd/>
              </a:ln>
            </p:spPr>
            <p:txBody>
              <a:bodyPr lIns="0" tIns="0" rIns="0" bIns="0" anchor="ctr"/>
              <a:lstStyle/>
              <a:p>
                <a:pPr algn="ctr">
                  <a:spcBef>
                    <a:spcPct val="50000"/>
                  </a:spcBef>
                </a:pPr>
                <a:r>
                  <a:rPr kumimoji="0" lang="en-US" altLang="zh-CN" sz="1600"/>
                  <a:t>Lane</a:t>
                </a:r>
              </a:p>
            </p:txBody>
          </p:sp>
          <p:sp>
            <p:nvSpPr>
              <p:cNvPr id="23583" name="Rectangle 4"/>
              <p:cNvSpPr>
                <a:spLocks noChangeArrowheads="1"/>
              </p:cNvSpPr>
              <p:nvPr/>
            </p:nvSpPr>
            <p:spPr bwMode="auto">
              <a:xfrm>
                <a:off x="2590800" y="5181600"/>
                <a:ext cx="990599" cy="457200"/>
              </a:xfrm>
              <a:prstGeom prst="rect">
                <a:avLst/>
              </a:prstGeom>
              <a:solidFill>
                <a:schemeClr val="bg1"/>
              </a:solidFill>
              <a:ln w="25400" algn="ctr">
                <a:solidFill>
                  <a:schemeClr val="tx1"/>
                </a:solidFill>
                <a:round/>
                <a:headEnd/>
                <a:tailEnd/>
              </a:ln>
            </p:spPr>
            <p:txBody>
              <a:bodyPr lIns="0" tIns="0" rIns="0" bIns="0" anchor="ctr"/>
              <a:lstStyle/>
              <a:p>
                <a:pPr algn="ctr">
                  <a:spcBef>
                    <a:spcPct val="50000"/>
                  </a:spcBef>
                </a:pPr>
                <a:r>
                  <a:rPr kumimoji="0" lang="en-US" altLang="zh-CN" sz="1600"/>
                  <a:t>Local Memory</a:t>
                </a:r>
              </a:p>
            </p:txBody>
          </p:sp>
        </p:grpSp>
        <p:grpSp>
          <p:nvGrpSpPr>
            <p:cNvPr id="23569" name="Group 11"/>
            <p:cNvGrpSpPr>
              <a:grpSpLocks/>
            </p:cNvGrpSpPr>
            <p:nvPr/>
          </p:nvGrpSpPr>
          <p:grpSpPr bwMode="auto">
            <a:xfrm>
              <a:off x="2971800" y="914400"/>
              <a:ext cx="1143000" cy="1295400"/>
              <a:chOff x="2514600" y="4648200"/>
              <a:chExt cx="1143000" cy="1295400"/>
            </a:xfrm>
          </p:grpSpPr>
          <p:sp>
            <p:nvSpPr>
              <p:cNvPr id="23578" name="Rectangle 39"/>
              <p:cNvSpPr>
                <a:spLocks noChangeArrowheads="1"/>
              </p:cNvSpPr>
              <p:nvPr/>
            </p:nvSpPr>
            <p:spPr bwMode="auto">
              <a:xfrm flipH="1">
                <a:off x="2514600" y="4648200"/>
                <a:ext cx="1143000" cy="1295400"/>
              </a:xfrm>
              <a:prstGeom prst="rect">
                <a:avLst/>
              </a:prstGeom>
              <a:solidFill>
                <a:schemeClr val="bg1"/>
              </a:solidFill>
              <a:ln w="25400" algn="ctr">
                <a:solidFill>
                  <a:schemeClr val="tx1"/>
                </a:solidFill>
                <a:round/>
                <a:headEnd/>
                <a:tailEnd/>
              </a:ln>
            </p:spPr>
            <p:txBody>
              <a:bodyPr lIns="0" tIns="0" bIns="0" anchor="b"/>
              <a:lstStyle/>
              <a:p>
                <a:pPr algn="ctr">
                  <a:spcBef>
                    <a:spcPct val="50000"/>
                  </a:spcBef>
                </a:pPr>
                <a:r>
                  <a:rPr kumimoji="0" lang="en-US" altLang="zh-CN" sz="1600"/>
                  <a:t>Core 0</a:t>
                </a:r>
              </a:p>
            </p:txBody>
          </p:sp>
          <p:sp>
            <p:nvSpPr>
              <p:cNvPr id="23579" name="Rectangle 4"/>
              <p:cNvSpPr>
                <a:spLocks noChangeArrowheads="1"/>
              </p:cNvSpPr>
              <p:nvPr/>
            </p:nvSpPr>
            <p:spPr bwMode="auto">
              <a:xfrm>
                <a:off x="2590800" y="4724400"/>
                <a:ext cx="990599" cy="304800"/>
              </a:xfrm>
              <a:prstGeom prst="rect">
                <a:avLst/>
              </a:prstGeom>
              <a:solidFill>
                <a:schemeClr val="bg1"/>
              </a:solidFill>
              <a:ln w="25400" algn="ctr">
                <a:solidFill>
                  <a:schemeClr val="tx1"/>
                </a:solidFill>
                <a:round/>
                <a:headEnd/>
                <a:tailEnd/>
              </a:ln>
            </p:spPr>
            <p:txBody>
              <a:bodyPr lIns="0" tIns="0" rIns="0" bIns="0" anchor="ctr"/>
              <a:lstStyle/>
              <a:p>
                <a:pPr algn="ctr">
                  <a:spcBef>
                    <a:spcPct val="50000"/>
                  </a:spcBef>
                </a:pPr>
                <a:r>
                  <a:rPr kumimoji="0" lang="en-US" altLang="zh-CN" sz="1600"/>
                  <a:t>Lane</a:t>
                </a:r>
              </a:p>
            </p:txBody>
          </p:sp>
          <p:sp>
            <p:nvSpPr>
              <p:cNvPr id="23580" name="Rectangle 4"/>
              <p:cNvSpPr>
                <a:spLocks noChangeArrowheads="1"/>
              </p:cNvSpPr>
              <p:nvPr/>
            </p:nvSpPr>
            <p:spPr bwMode="auto">
              <a:xfrm>
                <a:off x="2590800" y="5181600"/>
                <a:ext cx="990599" cy="457200"/>
              </a:xfrm>
              <a:prstGeom prst="rect">
                <a:avLst/>
              </a:prstGeom>
              <a:solidFill>
                <a:schemeClr val="bg1"/>
              </a:solidFill>
              <a:ln w="25400" algn="ctr">
                <a:solidFill>
                  <a:schemeClr val="tx1"/>
                </a:solidFill>
                <a:round/>
                <a:headEnd/>
                <a:tailEnd/>
              </a:ln>
            </p:spPr>
            <p:txBody>
              <a:bodyPr lIns="0" tIns="0" rIns="0" bIns="0" anchor="ctr"/>
              <a:lstStyle/>
              <a:p>
                <a:pPr algn="ctr">
                  <a:spcBef>
                    <a:spcPct val="50000"/>
                  </a:spcBef>
                </a:pPr>
                <a:r>
                  <a:rPr kumimoji="0" lang="en-US" altLang="zh-CN" sz="1600"/>
                  <a:t>Local Memory</a:t>
                </a:r>
              </a:p>
            </p:txBody>
          </p:sp>
        </p:grpSp>
        <p:grpSp>
          <p:nvGrpSpPr>
            <p:cNvPr id="23570" name="Group 11"/>
            <p:cNvGrpSpPr>
              <a:grpSpLocks/>
            </p:cNvGrpSpPr>
            <p:nvPr/>
          </p:nvGrpSpPr>
          <p:grpSpPr bwMode="auto">
            <a:xfrm>
              <a:off x="3124200" y="1066800"/>
              <a:ext cx="1143000" cy="1295400"/>
              <a:chOff x="2514600" y="4648200"/>
              <a:chExt cx="1143000" cy="1295400"/>
            </a:xfrm>
          </p:grpSpPr>
          <p:sp>
            <p:nvSpPr>
              <p:cNvPr id="23575" name="Rectangle 43"/>
              <p:cNvSpPr>
                <a:spLocks noChangeArrowheads="1"/>
              </p:cNvSpPr>
              <p:nvPr/>
            </p:nvSpPr>
            <p:spPr bwMode="auto">
              <a:xfrm flipH="1">
                <a:off x="2514600" y="4648200"/>
                <a:ext cx="1143000" cy="1295400"/>
              </a:xfrm>
              <a:prstGeom prst="rect">
                <a:avLst/>
              </a:prstGeom>
              <a:solidFill>
                <a:schemeClr val="bg1"/>
              </a:solidFill>
              <a:ln w="25400" algn="ctr">
                <a:solidFill>
                  <a:schemeClr val="tx1"/>
                </a:solidFill>
                <a:round/>
                <a:headEnd/>
                <a:tailEnd/>
              </a:ln>
            </p:spPr>
            <p:txBody>
              <a:bodyPr lIns="0" tIns="0" bIns="0" anchor="b"/>
              <a:lstStyle/>
              <a:p>
                <a:pPr algn="ctr">
                  <a:spcBef>
                    <a:spcPct val="50000"/>
                  </a:spcBef>
                </a:pPr>
                <a:r>
                  <a:rPr kumimoji="0" lang="en-US" altLang="zh-CN" sz="1600"/>
                  <a:t>Core 0</a:t>
                </a:r>
              </a:p>
            </p:txBody>
          </p:sp>
          <p:sp>
            <p:nvSpPr>
              <p:cNvPr id="23576" name="Rectangle 4"/>
              <p:cNvSpPr>
                <a:spLocks noChangeArrowheads="1"/>
              </p:cNvSpPr>
              <p:nvPr/>
            </p:nvSpPr>
            <p:spPr bwMode="auto">
              <a:xfrm>
                <a:off x="2590800" y="4724400"/>
                <a:ext cx="990599" cy="304800"/>
              </a:xfrm>
              <a:prstGeom prst="rect">
                <a:avLst/>
              </a:prstGeom>
              <a:solidFill>
                <a:schemeClr val="bg1"/>
              </a:solidFill>
              <a:ln w="25400" algn="ctr">
                <a:solidFill>
                  <a:schemeClr val="tx1"/>
                </a:solidFill>
                <a:round/>
                <a:headEnd/>
                <a:tailEnd/>
              </a:ln>
            </p:spPr>
            <p:txBody>
              <a:bodyPr lIns="0" tIns="0" rIns="0" bIns="0" anchor="ctr"/>
              <a:lstStyle/>
              <a:p>
                <a:pPr algn="ctr">
                  <a:spcBef>
                    <a:spcPct val="50000"/>
                  </a:spcBef>
                </a:pPr>
                <a:r>
                  <a:rPr kumimoji="0" lang="en-US" altLang="zh-CN" sz="1600"/>
                  <a:t>Lane</a:t>
                </a:r>
              </a:p>
            </p:txBody>
          </p:sp>
          <p:sp>
            <p:nvSpPr>
              <p:cNvPr id="23577" name="Rectangle 4"/>
              <p:cNvSpPr>
                <a:spLocks noChangeArrowheads="1"/>
              </p:cNvSpPr>
              <p:nvPr/>
            </p:nvSpPr>
            <p:spPr bwMode="auto">
              <a:xfrm>
                <a:off x="2590800" y="5181600"/>
                <a:ext cx="990599" cy="457200"/>
              </a:xfrm>
              <a:prstGeom prst="rect">
                <a:avLst/>
              </a:prstGeom>
              <a:solidFill>
                <a:schemeClr val="bg1"/>
              </a:solidFill>
              <a:ln w="25400" algn="ctr">
                <a:solidFill>
                  <a:schemeClr val="tx1"/>
                </a:solidFill>
                <a:round/>
                <a:headEnd/>
                <a:tailEnd/>
              </a:ln>
            </p:spPr>
            <p:txBody>
              <a:bodyPr lIns="0" tIns="0" rIns="0" bIns="0" anchor="ctr"/>
              <a:lstStyle/>
              <a:p>
                <a:pPr algn="ctr">
                  <a:spcBef>
                    <a:spcPct val="50000"/>
                  </a:spcBef>
                </a:pPr>
                <a:r>
                  <a:rPr kumimoji="0" lang="en-US" altLang="zh-CN" sz="1600"/>
                  <a:t>Local Memory</a:t>
                </a:r>
              </a:p>
            </p:txBody>
          </p:sp>
        </p:grpSp>
        <p:grpSp>
          <p:nvGrpSpPr>
            <p:cNvPr id="23571" name="Group 11"/>
            <p:cNvGrpSpPr>
              <a:grpSpLocks/>
            </p:cNvGrpSpPr>
            <p:nvPr/>
          </p:nvGrpSpPr>
          <p:grpSpPr bwMode="auto">
            <a:xfrm>
              <a:off x="3276600" y="1219200"/>
              <a:ext cx="1143000" cy="1295400"/>
              <a:chOff x="2514600" y="4648200"/>
              <a:chExt cx="1143000" cy="1295400"/>
            </a:xfrm>
          </p:grpSpPr>
          <p:sp>
            <p:nvSpPr>
              <p:cNvPr id="23572" name="Rectangle 47"/>
              <p:cNvSpPr>
                <a:spLocks noChangeArrowheads="1"/>
              </p:cNvSpPr>
              <p:nvPr/>
            </p:nvSpPr>
            <p:spPr bwMode="auto">
              <a:xfrm flipH="1">
                <a:off x="2514600" y="4648200"/>
                <a:ext cx="1143000" cy="1295400"/>
              </a:xfrm>
              <a:prstGeom prst="rect">
                <a:avLst/>
              </a:prstGeom>
              <a:solidFill>
                <a:schemeClr val="bg1"/>
              </a:solidFill>
              <a:ln w="25400" algn="ctr">
                <a:solidFill>
                  <a:schemeClr val="tx1"/>
                </a:solidFill>
                <a:round/>
                <a:headEnd/>
                <a:tailEnd/>
              </a:ln>
            </p:spPr>
            <p:txBody>
              <a:bodyPr lIns="0" tIns="0" bIns="0" anchor="b"/>
              <a:lstStyle/>
              <a:p>
                <a:pPr algn="ctr">
                  <a:spcBef>
                    <a:spcPct val="50000"/>
                  </a:spcBef>
                </a:pPr>
                <a:r>
                  <a:rPr kumimoji="0" lang="en-US" altLang="zh-CN" sz="1600"/>
                  <a:t>Core 0</a:t>
                </a:r>
              </a:p>
            </p:txBody>
          </p:sp>
          <p:sp>
            <p:nvSpPr>
              <p:cNvPr id="23573" name="Rectangle 4"/>
              <p:cNvSpPr>
                <a:spLocks noChangeArrowheads="1"/>
              </p:cNvSpPr>
              <p:nvPr/>
            </p:nvSpPr>
            <p:spPr bwMode="auto">
              <a:xfrm>
                <a:off x="2590800" y="4724400"/>
                <a:ext cx="990599" cy="304800"/>
              </a:xfrm>
              <a:prstGeom prst="rect">
                <a:avLst/>
              </a:prstGeom>
              <a:solidFill>
                <a:schemeClr val="bg1"/>
              </a:solidFill>
              <a:ln w="25400" algn="ctr">
                <a:solidFill>
                  <a:schemeClr val="tx1"/>
                </a:solidFill>
                <a:round/>
                <a:headEnd/>
                <a:tailEnd/>
              </a:ln>
            </p:spPr>
            <p:txBody>
              <a:bodyPr lIns="0" tIns="0" rIns="0" bIns="0" anchor="ctr"/>
              <a:lstStyle/>
              <a:p>
                <a:pPr algn="ctr">
                  <a:spcBef>
                    <a:spcPct val="50000"/>
                  </a:spcBef>
                </a:pPr>
                <a:r>
                  <a:rPr kumimoji="0" lang="en-US" altLang="zh-CN" sz="1600"/>
                  <a:t>Lane</a:t>
                </a:r>
              </a:p>
            </p:txBody>
          </p:sp>
          <p:sp>
            <p:nvSpPr>
              <p:cNvPr id="23574" name="Rectangle 4"/>
              <p:cNvSpPr>
                <a:spLocks noChangeArrowheads="1"/>
              </p:cNvSpPr>
              <p:nvPr/>
            </p:nvSpPr>
            <p:spPr bwMode="auto">
              <a:xfrm>
                <a:off x="2590800" y="5181600"/>
                <a:ext cx="990599" cy="457200"/>
              </a:xfrm>
              <a:prstGeom prst="rect">
                <a:avLst/>
              </a:prstGeom>
              <a:solidFill>
                <a:schemeClr val="bg1"/>
              </a:solidFill>
              <a:ln w="25400" algn="ctr">
                <a:solidFill>
                  <a:schemeClr val="tx1"/>
                </a:solidFill>
                <a:round/>
                <a:headEnd/>
                <a:tailEnd/>
              </a:ln>
            </p:spPr>
            <p:txBody>
              <a:bodyPr lIns="0" tIns="0" rIns="0" bIns="0" anchor="ctr"/>
              <a:lstStyle/>
              <a:p>
                <a:pPr algn="ctr">
                  <a:spcBef>
                    <a:spcPct val="50000"/>
                  </a:spcBef>
                </a:pPr>
                <a:r>
                  <a:rPr kumimoji="0" lang="en-US" altLang="zh-CN" sz="1600"/>
                  <a:t>Local Memory</a:t>
                </a:r>
              </a:p>
            </p:txBody>
          </p:sp>
        </p:grpSp>
      </p:grpSp>
      <p:cxnSp>
        <p:nvCxnSpPr>
          <p:cNvPr id="23561" name="Straight Connector 52"/>
          <p:cNvCxnSpPr>
            <a:cxnSpLocks noChangeShapeType="1"/>
          </p:cNvCxnSpPr>
          <p:nvPr/>
        </p:nvCxnSpPr>
        <p:spPr bwMode="auto">
          <a:xfrm rot="5400000">
            <a:off x="5600850" y="5944667"/>
            <a:ext cx="381000" cy="1587"/>
          </a:xfrm>
          <a:prstGeom prst="line">
            <a:avLst/>
          </a:prstGeom>
          <a:noFill/>
          <a:ln w="25400" algn="ctr">
            <a:solidFill>
              <a:srgbClr val="000000"/>
            </a:solidFill>
            <a:round/>
            <a:headEnd type="triangle" w="med" len="med"/>
            <a:tailEnd type="triangle" w="med" len="med"/>
          </a:ln>
        </p:spPr>
      </p:cxnSp>
      <p:cxnSp>
        <p:nvCxnSpPr>
          <p:cNvPr id="23562" name="Straight Connector 54"/>
          <p:cNvCxnSpPr>
            <a:cxnSpLocks noChangeShapeType="1"/>
          </p:cNvCxnSpPr>
          <p:nvPr/>
        </p:nvCxnSpPr>
        <p:spPr bwMode="auto">
          <a:xfrm rot="5400000">
            <a:off x="5371456" y="5869260"/>
            <a:ext cx="533400" cy="3175"/>
          </a:xfrm>
          <a:prstGeom prst="line">
            <a:avLst/>
          </a:prstGeom>
          <a:noFill/>
          <a:ln w="25400" algn="ctr">
            <a:solidFill>
              <a:srgbClr val="000000"/>
            </a:solidFill>
            <a:round/>
            <a:headEnd type="triangle" w="med" len="med"/>
            <a:tailEnd type="triangle" w="med" len="med"/>
          </a:ln>
        </p:spPr>
      </p:cxnSp>
      <p:cxnSp>
        <p:nvCxnSpPr>
          <p:cNvPr id="23563" name="Straight Connector 55"/>
          <p:cNvCxnSpPr>
            <a:cxnSpLocks noChangeShapeType="1"/>
          </p:cNvCxnSpPr>
          <p:nvPr/>
        </p:nvCxnSpPr>
        <p:spPr bwMode="auto">
          <a:xfrm rot="5400000">
            <a:off x="5142856" y="5793060"/>
            <a:ext cx="685800" cy="3175"/>
          </a:xfrm>
          <a:prstGeom prst="line">
            <a:avLst/>
          </a:prstGeom>
          <a:noFill/>
          <a:ln w="25400" algn="ctr">
            <a:solidFill>
              <a:srgbClr val="000000"/>
            </a:solidFill>
            <a:round/>
            <a:headEnd type="triangle" w="med" len="med"/>
            <a:tailEnd type="triangle" w="med" len="med"/>
          </a:ln>
        </p:spPr>
      </p:cxnSp>
      <p:cxnSp>
        <p:nvCxnSpPr>
          <p:cNvPr id="23564" name="Straight Connector 56"/>
          <p:cNvCxnSpPr>
            <a:cxnSpLocks noChangeShapeType="1"/>
          </p:cNvCxnSpPr>
          <p:nvPr/>
        </p:nvCxnSpPr>
        <p:spPr bwMode="auto">
          <a:xfrm rot="5400000">
            <a:off x="4914256" y="5716860"/>
            <a:ext cx="838200" cy="3175"/>
          </a:xfrm>
          <a:prstGeom prst="line">
            <a:avLst/>
          </a:prstGeom>
          <a:noFill/>
          <a:ln w="25400" algn="ctr">
            <a:solidFill>
              <a:srgbClr val="000000"/>
            </a:solidFill>
            <a:round/>
            <a:headEnd type="triangle" w="med" len="med"/>
            <a:tailEnd type="triangle" w="med" len="med"/>
          </a:ln>
        </p:spPr>
      </p:cxnSp>
      <p:cxnSp>
        <p:nvCxnSpPr>
          <p:cNvPr id="23565" name="Straight Connector 60"/>
          <p:cNvCxnSpPr>
            <a:cxnSpLocks noChangeShapeType="1"/>
          </p:cNvCxnSpPr>
          <p:nvPr/>
        </p:nvCxnSpPr>
        <p:spPr bwMode="auto">
          <a:xfrm>
            <a:off x="4876156" y="4764361"/>
            <a:ext cx="381000" cy="1587"/>
          </a:xfrm>
          <a:prstGeom prst="line">
            <a:avLst/>
          </a:prstGeom>
          <a:noFill/>
          <a:ln w="25400" algn="ctr">
            <a:solidFill>
              <a:srgbClr val="000000"/>
            </a:solidFill>
            <a:round/>
            <a:headEnd type="triangle" w="med" len="med"/>
            <a:tailEnd type="triangle" w="med" len="med"/>
          </a:ln>
        </p:spPr>
      </p:cxnSp>
    </p:spTree>
    <p:extLst>
      <p:ext uri="{BB962C8B-B14F-4D97-AF65-F5344CB8AC3E}">
        <p14:creationId xmlns:p14="http://schemas.microsoft.com/office/powerpoint/2010/main" val="300288304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zh-CN" smtClean="0"/>
              <a:t>Example Vector Machines</a:t>
            </a:r>
            <a:endParaRPr lang="en-US" altLang="zh-CN"/>
          </a:p>
        </p:txBody>
      </p:sp>
      <p:sp>
        <p:nvSpPr>
          <p:cNvPr id="23555" name="Rectangle 3"/>
          <p:cNvSpPr>
            <a:spLocks noGrp="1" noChangeArrowheads="1"/>
          </p:cNvSpPr>
          <p:nvPr>
            <p:ph type="body" idx="1"/>
          </p:nvPr>
        </p:nvSpPr>
        <p:spPr>
          <a:xfrm>
            <a:off x="838200" y="1484784"/>
            <a:ext cx="10515600" cy="5112568"/>
          </a:xfrm>
        </p:spPr>
        <p:txBody>
          <a:bodyPr/>
          <a:lstStyle/>
          <a:p>
            <a:r>
              <a:rPr lang="en-US" altLang="zh-CN" sz="2400" dirty="0" smtClean="0"/>
              <a:t>Machine	Year	Clock	</a:t>
            </a:r>
            <a:r>
              <a:rPr lang="en-US" altLang="zh-CN" sz="2400" dirty="0" err="1" smtClean="0"/>
              <a:t>Regs</a:t>
            </a:r>
            <a:r>
              <a:rPr lang="en-US" altLang="zh-CN" sz="2400" dirty="0" smtClean="0"/>
              <a:t>	Elements	FUs	LSUs</a:t>
            </a:r>
          </a:p>
          <a:p>
            <a:r>
              <a:rPr lang="en-US" altLang="zh-CN" sz="2400" dirty="0" smtClean="0"/>
              <a:t>Cray 1	1976	80 MHz	8	64	6	1</a:t>
            </a:r>
          </a:p>
          <a:p>
            <a:r>
              <a:rPr lang="en-US" altLang="zh-CN" sz="2400" dirty="0" smtClean="0"/>
              <a:t>Cray XMP	1983	120 MHz	8	64	8	2 L, 1 S</a:t>
            </a:r>
          </a:p>
          <a:p>
            <a:r>
              <a:rPr lang="en-US" altLang="zh-CN" sz="2400" dirty="0" smtClean="0"/>
              <a:t>Cray YMP	1988	166 MHz	8	64	8	 2 L, 1 S</a:t>
            </a:r>
          </a:p>
          <a:p>
            <a:r>
              <a:rPr lang="en-US" altLang="zh-CN" sz="2400" dirty="0" smtClean="0"/>
              <a:t>Cray C-90	1991	240 MHz	8	128	8	4</a:t>
            </a:r>
          </a:p>
          <a:p>
            <a:r>
              <a:rPr lang="en-US" altLang="zh-CN" sz="2400" dirty="0" smtClean="0"/>
              <a:t>Cray T-90	1996	455 MHz	8	128	8	4</a:t>
            </a:r>
          </a:p>
          <a:p>
            <a:r>
              <a:rPr lang="en-US" altLang="zh-CN" sz="2400" dirty="0" smtClean="0"/>
              <a:t>Conv. C-1	1984	10 MHz	8	128	4	1</a:t>
            </a:r>
          </a:p>
          <a:p>
            <a:r>
              <a:rPr lang="en-US" altLang="zh-CN" sz="2400" dirty="0" smtClean="0"/>
              <a:t>Conv. C-4	1994	133 MHz	16	128	3	1</a:t>
            </a:r>
          </a:p>
          <a:p>
            <a:r>
              <a:rPr lang="en-US" altLang="zh-CN" sz="2400" dirty="0" err="1" smtClean="0"/>
              <a:t>Fuj</a:t>
            </a:r>
            <a:r>
              <a:rPr lang="en-US" altLang="zh-CN" sz="2400" dirty="0" smtClean="0"/>
              <a:t>. VP200	1982	133 MHz	8-256	32-1024	3	2</a:t>
            </a:r>
          </a:p>
          <a:p>
            <a:r>
              <a:rPr lang="en-US" altLang="zh-CN" sz="2400" dirty="0" err="1" smtClean="0"/>
              <a:t>Fuj</a:t>
            </a:r>
            <a:r>
              <a:rPr lang="en-US" altLang="zh-CN" sz="2400" dirty="0" smtClean="0"/>
              <a:t>. VP300	1996	100 MHz	8-256	32-1024	3	2</a:t>
            </a:r>
          </a:p>
          <a:p>
            <a:r>
              <a:rPr lang="en-US" altLang="zh-CN" sz="2400" dirty="0" smtClean="0"/>
              <a:t>NEC SX/2	1984	160 MHz	8+8K	256+var	16	8</a:t>
            </a:r>
          </a:p>
          <a:p>
            <a:r>
              <a:rPr lang="en-US" altLang="zh-CN" sz="2400" dirty="0" smtClean="0"/>
              <a:t>NEC SX/3	1995	400 MHz	8+8K	256+var	16	8</a:t>
            </a:r>
            <a:endParaRPr lang="en-US" altLang="zh-CN" sz="2400" dirty="0"/>
          </a:p>
        </p:txBody>
      </p:sp>
    </p:spTree>
    <p:extLst>
      <p:ext uri="{BB962C8B-B14F-4D97-AF65-F5344CB8AC3E}">
        <p14:creationId xmlns:p14="http://schemas.microsoft.com/office/powerpoint/2010/main" val="4027762887"/>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911424" y="620688"/>
            <a:ext cx="10225136" cy="558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Vector </a:t>
            </a:r>
            <a:r>
              <a:rPr lang="en-US" altLang="zh-CN" dirty="0" err="1"/>
              <a:t>Linpack</a:t>
            </a:r>
            <a:r>
              <a:rPr lang="en-US" altLang="zh-CN" dirty="0"/>
              <a:t> Performance (MFLOPS)</a:t>
            </a:r>
          </a:p>
        </p:txBody>
      </p:sp>
      <p:sp>
        <p:nvSpPr>
          <p:cNvPr id="25603" name="Rectangle 3"/>
          <p:cNvSpPr>
            <a:spLocks noGrp="1" noChangeArrowheads="1"/>
          </p:cNvSpPr>
          <p:nvPr>
            <p:ph type="body" idx="1"/>
          </p:nvPr>
        </p:nvSpPr>
        <p:spPr>
          <a:xfrm>
            <a:off x="1965325" y="1452564"/>
            <a:ext cx="8578850" cy="5159375"/>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buNone/>
              <a:tabLst>
                <a:tab pos="2000250" algn="l"/>
                <a:tab pos="4057650" algn="r"/>
                <a:tab pos="5257800" algn="r"/>
                <a:tab pos="6343650" algn="r"/>
                <a:tab pos="8229600" algn="r"/>
              </a:tabLst>
            </a:pPr>
            <a:r>
              <a:rPr lang="en-US" altLang="zh-CN"/>
              <a:t>	  </a:t>
            </a:r>
            <a:r>
              <a:rPr lang="en-US" altLang="zh-CN" sz="2400"/>
              <a:t>Machine	Year	Clock  	100x100	1kx1k	Peak(Procs)</a:t>
            </a:r>
          </a:p>
          <a:p>
            <a:pPr>
              <a:tabLst>
                <a:tab pos="2000250" algn="l"/>
                <a:tab pos="4057650" algn="r"/>
                <a:tab pos="5257800" algn="r"/>
                <a:tab pos="6343650" algn="r"/>
                <a:tab pos="8229600" algn="r"/>
              </a:tabLst>
            </a:pPr>
            <a:r>
              <a:rPr lang="en-US" altLang="zh-CN" sz="2400"/>
              <a:t>Cray 1	1976	80 MHz	12	110	160(1)</a:t>
            </a:r>
          </a:p>
          <a:p>
            <a:pPr>
              <a:tabLst>
                <a:tab pos="2000250" algn="l"/>
                <a:tab pos="4057650" algn="r"/>
                <a:tab pos="5257800" algn="r"/>
                <a:tab pos="6343650" algn="r"/>
                <a:tab pos="8229600" algn="r"/>
              </a:tabLst>
            </a:pPr>
            <a:r>
              <a:rPr lang="en-US" altLang="zh-CN" sz="2400"/>
              <a:t>Cray XMP	1983	120 MHz	121	218	940(4)</a:t>
            </a:r>
          </a:p>
          <a:p>
            <a:pPr>
              <a:tabLst>
                <a:tab pos="2000250" algn="l"/>
                <a:tab pos="4057650" algn="r"/>
                <a:tab pos="5257800" algn="r"/>
                <a:tab pos="6343650" algn="r"/>
                <a:tab pos="8229600" algn="r"/>
              </a:tabLst>
            </a:pPr>
            <a:r>
              <a:rPr lang="en-US" altLang="zh-CN" sz="2400"/>
              <a:t>Cray YMP	1988	166 MHz	150	307	2,667(8)</a:t>
            </a:r>
          </a:p>
          <a:p>
            <a:pPr>
              <a:tabLst>
                <a:tab pos="2000250" algn="l"/>
                <a:tab pos="4057650" algn="r"/>
                <a:tab pos="5257800" algn="r"/>
                <a:tab pos="6343650" algn="r"/>
                <a:tab pos="8229600" algn="r"/>
              </a:tabLst>
            </a:pPr>
            <a:r>
              <a:rPr lang="en-US" altLang="zh-CN" sz="2400"/>
              <a:t>Cray C-90	1991	240 MHz	387	902	15,238(16)</a:t>
            </a:r>
          </a:p>
          <a:p>
            <a:pPr>
              <a:tabLst>
                <a:tab pos="2000250" algn="l"/>
                <a:tab pos="4057650" algn="r"/>
                <a:tab pos="5257800" algn="r"/>
                <a:tab pos="6343650" algn="r"/>
                <a:tab pos="8229600" algn="r"/>
              </a:tabLst>
            </a:pPr>
            <a:r>
              <a:rPr lang="en-US" altLang="zh-CN" sz="2400"/>
              <a:t>Cray T-90	1996	455 MHz	705	1603	57,600(32)</a:t>
            </a:r>
          </a:p>
          <a:p>
            <a:pPr>
              <a:tabLst>
                <a:tab pos="2000250" algn="l"/>
                <a:tab pos="4057650" algn="r"/>
                <a:tab pos="5257800" algn="r"/>
                <a:tab pos="6343650" algn="r"/>
                <a:tab pos="8229600" algn="r"/>
              </a:tabLst>
            </a:pPr>
            <a:r>
              <a:rPr lang="en-US" altLang="zh-CN" sz="2400"/>
              <a:t>Conv. C-1	1984	10 MHz	3	--	20(1)</a:t>
            </a:r>
          </a:p>
          <a:p>
            <a:pPr>
              <a:tabLst>
                <a:tab pos="2000250" algn="l"/>
                <a:tab pos="4057650" algn="r"/>
                <a:tab pos="5257800" algn="r"/>
                <a:tab pos="6343650" algn="r"/>
                <a:tab pos="8229600" algn="r"/>
              </a:tabLst>
            </a:pPr>
            <a:r>
              <a:rPr lang="en-US" altLang="zh-CN" sz="2400"/>
              <a:t>Conv. C-4	1994	135 MHz	160	2531	3240(4)</a:t>
            </a:r>
          </a:p>
          <a:p>
            <a:pPr>
              <a:tabLst>
                <a:tab pos="2000250" algn="l"/>
                <a:tab pos="4057650" algn="r"/>
                <a:tab pos="5257800" algn="r"/>
                <a:tab pos="6343650" algn="r"/>
                <a:tab pos="8229600" algn="r"/>
              </a:tabLst>
            </a:pPr>
            <a:r>
              <a:rPr lang="en-US" altLang="zh-CN" sz="2400"/>
              <a:t>Fuj. VP200	1982	133 MHz	18	422	533(1)</a:t>
            </a:r>
          </a:p>
          <a:p>
            <a:pPr>
              <a:tabLst>
                <a:tab pos="2000250" algn="l"/>
                <a:tab pos="4057650" algn="r"/>
                <a:tab pos="5257800" algn="r"/>
                <a:tab pos="6343650" algn="r"/>
                <a:tab pos="8229600" algn="r"/>
              </a:tabLst>
            </a:pPr>
            <a:r>
              <a:rPr lang="en-US" altLang="zh-CN" sz="2400"/>
              <a:t>NEC SX/2	1984	166 MHz	43	885	1300(1)</a:t>
            </a:r>
          </a:p>
          <a:p>
            <a:pPr>
              <a:tabLst>
                <a:tab pos="2000250" algn="l"/>
                <a:tab pos="4057650" algn="r"/>
                <a:tab pos="5257800" algn="r"/>
                <a:tab pos="6343650" algn="r"/>
                <a:tab pos="8229600" algn="r"/>
              </a:tabLst>
            </a:pPr>
            <a:r>
              <a:rPr lang="en-US" altLang="zh-CN" sz="2400"/>
              <a:t>NEC SX/3	1995	400 MHz	368	2757	25,600(4)</a:t>
            </a:r>
          </a:p>
        </p:txBody>
      </p:sp>
    </p:spTree>
    <p:extLst>
      <p:ext uri="{BB962C8B-B14F-4D97-AF65-F5344CB8AC3E}">
        <p14:creationId xmlns:p14="http://schemas.microsoft.com/office/powerpoint/2010/main" val="4183455527"/>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altLang="zh-CN" smtClean="0"/>
              <a:t>Properties of Vector Processors</a:t>
            </a:r>
            <a:endParaRPr lang="en-US" altLang="zh-CN"/>
          </a:p>
        </p:txBody>
      </p:sp>
      <p:sp>
        <p:nvSpPr>
          <p:cNvPr id="11267" name="Rectangle 3"/>
          <p:cNvSpPr>
            <a:spLocks noGrp="1" noChangeArrowheads="1"/>
          </p:cNvSpPr>
          <p:nvPr>
            <p:ph type="body" idx="1"/>
          </p:nvPr>
        </p:nvSpPr>
        <p:spPr/>
        <p:txBody>
          <a:bodyPr/>
          <a:lstStyle/>
          <a:p>
            <a:r>
              <a:rPr lang="en-US" altLang="zh-CN" smtClean="0"/>
              <a:t>Each result independent of previous result	</a:t>
            </a:r>
            <a:br>
              <a:rPr lang="en-US" altLang="zh-CN" smtClean="0"/>
            </a:br>
            <a:r>
              <a:rPr lang="en-US" altLang="zh-CN" smtClean="0"/>
              <a:t>=&gt; long pipeline, compiler ensures no dependencies</a:t>
            </a:r>
            <a:br>
              <a:rPr lang="en-US" altLang="zh-CN" smtClean="0"/>
            </a:br>
            <a:r>
              <a:rPr lang="en-US" altLang="zh-CN" smtClean="0"/>
              <a:t>=&gt; high clock rate</a:t>
            </a:r>
          </a:p>
          <a:p>
            <a:r>
              <a:rPr lang="en-US" altLang="zh-CN" smtClean="0"/>
              <a:t>Vector instructions access memory with known pattern</a:t>
            </a:r>
            <a:br>
              <a:rPr lang="en-US" altLang="zh-CN" smtClean="0"/>
            </a:br>
            <a:r>
              <a:rPr lang="en-US" altLang="zh-CN" smtClean="0"/>
              <a:t>=&gt; highly interleaved memory	</a:t>
            </a:r>
            <a:br>
              <a:rPr lang="en-US" altLang="zh-CN" smtClean="0"/>
            </a:br>
            <a:r>
              <a:rPr lang="en-US" altLang="zh-CN" smtClean="0"/>
              <a:t>=&gt; amortize memory latency of over 64 elements	</a:t>
            </a:r>
            <a:br>
              <a:rPr lang="en-US" altLang="zh-CN" smtClean="0"/>
            </a:br>
            <a:r>
              <a:rPr lang="en-US" altLang="zh-CN" smtClean="0"/>
              <a:t>=&gt; no (data) caches required! (Do use instruction cache)</a:t>
            </a:r>
          </a:p>
          <a:p>
            <a:r>
              <a:rPr lang="en-US" altLang="zh-CN" smtClean="0"/>
              <a:t>Reduces branches and branch problems in pipelines</a:t>
            </a:r>
          </a:p>
          <a:p>
            <a:r>
              <a:rPr lang="en-US" altLang="zh-CN" smtClean="0"/>
              <a:t>Single vector instruction implies lots of work (loop)</a:t>
            </a:r>
            <a:br>
              <a:rPr lang="en-US" altLang="zh-CN" smtClean="0"/>
            </a:br>
            <a:r>
              <a:rPr lang="en-US" altLang="zh-CN" smtClean="0"/>
              <a:t>	=&gt; fewer instruction fetches</a:t>
            </a:r>
            <a:endParaRPr lang="en-US" altLang="zh-CN" dirty="0"/>
          </a:p>
        </p:txBody>
      </p:sp>
    </p:spTree>
    <p:extLst>
      <p:ext uri="{BB962C8B-B14F-4D97-AF65-F5344CB8AC3E}">
        <p14:creationId xmlns:p14="http://schemas.microsoft.com/office/powerpoint/2010/main" val="1108911517"/>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body" sz="half" idx="1"/>
          </p:nvPr>
        </p:nvSpPr>
        <p:spPr>
          <a:xfrm>
            <a:off x="1445210" y="1559013"/>
            <a:ext cx="9278937" cy="4114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buNone/>
              <a:tabLst>
                <a:tab pos="2400300" algn="dec"/>
                <a:tab pos="3543300" algn="dec"/>
                <a:tab pos="4343400" algn="dec"/>
                <a:tab pos="6115050" algn="dec"/>
                <a:tab pos="7029450" algn="dec"/>
                <a:tab pos="8743950" algn="dec"/>
              </a:tabLst>
            </a:pPr>
            <a:r>
              <a:rPr lang="en-US" altLang="zh-CN" b="1" dirty="0">
                <a:solidFill>
                  <a:schemeClr val="hlink"/>
                </a:solidFill>
              </a:rPr>
              <a:t>Spec92fp   	  Operations (Millions)	     Instructions (M)</a:t>
            </a:r>
          </a:p>
          <a:p>
            <a:pPr>
              <a:buNone/>
              <a:tabLst>
                <a:tab pos="2400300" algn="dec"/>
                <a:tab pos="3543300" algn="dec"/>
                <a:tab pos="4343400" algn="dec"/>
                <a:tab pos="6115050" algn="dec"/>
                <a:tab pos="7029450" algn="dec"/>
                <a:tab pos="8743950" algn="dec"/>
              </a:tabLst>
            </a:pPr>
            <a:r>
              <a:rPr lang="en-US" altLang="zh-CN" b="1" dirty="0">
                <a:solidFill>
                  <a:schemeClr val="hlink"/>
                </a:solidFill>
              </a:rPr>
              <a:t>Program   RISC  Vector   R / V     RISC    Vector   R / </a:t>
            </a:r>
            <a:r>
              <a:rPr lang="en-US" altLang="zh-CN" b="1" dirty="0" smtClean="0">
                <a:solidFill>
                  <a:schemeClr val="hlink"/>
                </a:solidFill>
              </a:rPr>
              <a:t>V</a:t>
            </a:r>
            <a:endParaRPr lang="en-US" altLang="zh-CN" b="1" dirty="0"/>
          </a:p>
          <a:p>
            <a:pPr>
              <a:buNone/>
              <a:tabLst>
                <a:tab pos="2400300" algn="dec"/>
                <a:tab pos="3543300" algn="dec"/>
                <a:tab pos="4343400" algn="dec"/>
                <a:tab pos="6115050" algn="dec"/>
                <a:tab pos="7029450" algn="dec"/>
                <a:tab pos="8743950" algn="dec"/>
              </a:tabLst>
            </a:pPr>
            <a:r>
              <a:rPr lang="en-US" altLang="zh-CN" b="1" dirty="0"/>
              <a:t>swim256	115	95	 1.1x	115	0.8	142x</a:t>
            </a:r>
          </a:p>
          <a:p>
            <a:pPr>
              <a:buNone/>
              <a:tabLst>
                <a:tab pos="2400300" algn="dec"/>
                <a:tab pos="3543300" algn="dec"/>
                <a:tab pos="4343400" algn="dec"/>
                <a:tab pos="6115050" algn="dec"/>
                <a:tab pos="7029450" algn="dec"/>
                <a:tab pos="8743950" algn="dec"/>
              </a:tabLst>
            </a:pPr>
            <a:r>
              <a:rPr lang="en-US" altLang="zh-CN" b="1" dirty="0"/>
              <a:t>hydro2d	58	40	1.4x	    58	0.8 	 71x</a:t>
            </a:r>
          </a:p>
          <a:p>
            <a:pPr>
              <a:buNone/>
              <a:tabLst>
                <a:tab pos="2400300" algn="dec"/>
                <a:tab pos="3543300" algn="dec"/>
                <a:tab pos="4343400" algn="dec"/>
                <a:tab pos="6115050" algn="dec"/>
                <a:tab pos="7029450" algn="dec"/>
                <a:tab pos="8743950" algn="dec"/>
              </a:tabLst>
            </a:pPr>
            <a:r>
              <a:rPr lang="en-US" altLang="zh-CN" b="1" dirty="0"/>
              <a:t>nasa7	69	41	1.7x	    69	2.2	 31x</a:t>
            </a:r>
          </a:p>
          <a:p>
            <a:pPr>
              <a:buNone/>
              <a:tabLst>
                <a:tab pos="2400300" algn="dec"/>
                <a:tab pos="3543300" algn="dec"/>
                <a:tab pos="4343400" algn="dec"/>
                <a:tab pos="6115050" algn="dec"/>
                <a:tab pos="7029450" algn="dec"/>
                <a:tab pos="8743950" algn="dec"/>
              </a:tabLst>
            </a:pPr>
            <a:r>
              <a:rPr lang="en-US" altLang="zh-CN" b="1" dirty="0"/>
              <a:t>su2cor	51	35	1.4x	    51	1.8	 29x</a:t>
            </a:r>
          </a:p>
          <a:p>
            <a:pPr>
              <a:buNone/>
              <a:tabLst>
                <a:tab pos="2400300" algn="dec"/>
                <a:tab pos="3543300" algn="dec"/>
                <a:tab pos="4343400" algn="dec"/>
                <a:tab pos="6115050" algn="dec"/>
                <a:tab pos="7029450" algn="dec"/>
                <a:tab pos="8743950" algn="dec"/>
              </a:tabLst>
            </a:pPr>
            <a:r>
              <a:rPr lang="en-US" altLang="zh-CN" b="1" dirty="0" err="1"/>
              <a:t>tomcatv</a:t>
            </a:r>
            <a:r>
              <a:rPr lang="en-US" altLang="zh-CN" b="1" dirty="0"/>
              <a:t>	15	10	1.4x	    15	1.3 	 11x</a:t>
            </a:r>
          </a:p>
          <a:p>
            <a:pPr>
              <a:buNone/>
              <a:tabLst>
                <a:tab pos="2400300" algn="dec"/>
                <a:tab pos="3543300" algn="dec"/>
                <a:tab pos="4343400" algn="dec"/>
                <a:tab pos="6115050" algn="dec"/>
                <a:tab pos="7029450" algn="dec"/>
                <a:tab pos="8743950" algn="dec"/>
              </a:tabLst>
            </a:pPr>
            <a:r>
              <a:rPr lang="en-US" altLang="zh-CN" b="1" dirty="0"/>
              <a:t>wave5	27	25	1.1x	    27	7.2	  4x</a:t>
            </a:r>
          </a:p>
          <a:p>
            <a:pPr>
              <a:buNone/>
              <a:tabLst>
                <a:tab pos="2400300" algn="dec"/>
                <a:tab pos="3543300" algn="dec"/>
                <a:tab pos="4343400" algn="dec"/>
                <a:tab pos="6115050" algn="dec"/>
                <a:tab pos="7029450" algn="dec"/>
                <a:tab pos="8743950" algn="dec"/>
              </a:tabLst>
            </a:pPr>
            <a:r>
              <a:rPr lang="en-US" altLang="zh-CN" b="1" dirty="0"/>
              <a:t>mdljdp2	32	52	0.6x	    32	15.8	  2x</a:t>
            </a:r>
          </a:p>
          <a:p>
            <a:pPr>
              <a:buNone/>
              <a:tabLst>
                <a:tab pos="2400300" algn="dec"/>
                <a:tab pos="3543300" algn="dec"/>
                <a:tab pos="4343400" algn="dec"/>
                <a:tab pos="6115050" algn="dec"/>
                <a:tab pos="7029450" algn="dec"/>
                <a:tab pos="8743950" algn="dec"/>
              </a:tabLst>
            </a:pPr>
            <a:endParaRPr lang="en-US" altLang="zh-CN" b="1" dirty="0"/>
          </a:p>
        </p:txBody>
      </p:sp>
      <p:sp>
        <p:nvSpPr>
          <p:cNvPr id="12291" name="Rectangle 3"/>
          <p:cNvSpPr>
            <a:spLocks noGrp="1" noChangeArrowheads="1"/>
          </p:cNvSpPr>
          <p:nvPr>
            <p:ph type="title"/>
          </p:nvPr>
        </p:nvSpPr>
        <p:spPr>
          <a:xfrm>
            <a:off x="1559496" y="152576"/>
            <a:ext cx="7715250"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Operation &amp; Instruction Count: </a:t>
            </a:r>
            <a:br>
              <a:rPr lang="en-US" altLang="zh-CN" dirty="0"/>
            </a:br>
            <a:r>
              <a:rPr lang="en-US" altLang="zh-CN" dirty="0"/>
              <a:t>RISC </a:t>
            </a:r>
            <a:r>
              <a:rPr lang="en-US" altLang="zh-CN" dirty="0" smtClean="0"/>
              <a:t>v</a:t>
            </a:r>
            <a:r>
              <a:rPr lang="en-US" altLang="zh-CN" dirty="0"/>
              <a:t>s</a:t>
            </a:r>
            <a:r>
              <a:rPr lang="en-US" altLang="zh-CN" dirty="0" smtClean="0"/>
              <a:t>. </a:t>
            </a:r>
            <a:r>
              <a:rPr lang="en-US" altLang="zh-CN" dirty="0"/>
              <a:t>Vector Processor</a:t>
            </a:r>
            <a:endParaRPr lang="en-US" altLang="zh-CN" sz="1800" dirty="0"/>
          </a:p>
        </p:txBody>
      </p:sp>
      <p:sp>
        <p:nvSpPr>
          <p:cNvPr id="12292" name="Line 4"/>
          <p:cNvSpPr>
            <a:spLocks noChangeShapeType="1"/>
          </p:cNvSpPr>
          <p:nvPr/>
        </p:nvSpPr>
        <p:spPr bwMode="auto">
          <a:xfrm>
            <a:off x="6750050" y="2508250"/>
            <a:ext cx="0" cy="333375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293" name="Line 5"/>
          <p:cNvSpPr>
            <a:spLocks noChangeShapeType="1"/>
          </p:cNvSpPr>
          <p:nvPr/>
        </p:nvSpPr>
        <p:spPr bwMode="auto">
          <a:xfrm>
            <a:off x="3209925" y="2508250"/>
            <a:ext cx="0" cy="34290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294" name="Rectangle 6"/>
          <p:cNvSpPr>
            <a:spLocks noChangeArrowheads="1"/>
          </p:cNvSpPr>
          <p:nvPr/>
        </p:nvSpPr>
        <p:spPr bwMode="auto">
          <a:xfrm>
            <a:off x="1735138" y="6096001"/>
            <a:ext cx="8997464"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3200">
                <a:solidFill>
                  <a:srgbClr val="FC0128"/>
                </a:solidFill>
              </a:rPr>
              <a:t> Vector reduces ops by 1.2X, instructions by 20X</a:t>
            </a:r>
          </a:p>
        </p:txBody>
      </p:sp>
    </p:spTree>
    <p:extLst>
      <p:ext uri="{BB962C8B-B14F-4D97-AF65-F5344CB8AC3E}">
        <p14:creationId xmlns:p14="http://schemas.microsoft.com/office/powerpoint/2010/main" val="2474508841"/>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ltLang="zh-CN" smtClean="0"/>
              <a:t>Styles of Vector Architectures</a:t>
            </a:r>
            <a:endParaRPr lang="en-US" altLang="zh-CN" dirty="0"/>
          </a:p>
        </p:txBody>
      </p:sp>
      <p:sp>
        <p:nvSpPr>
          <p:cNvPr id="13315" name="Rectangle 3"/>
          <p:cNvSpPr>
            <a:spLocks noGrp="1" noChangeArrowheads="1"/>
          </p:cNvSpPr>
          <p:nvPr>
            <p:ph type="body" idx="1"/>
          </p:nvPr>
        </p:nvSpPr>
        <p:spPr/>
        <p:txBody>
          <a:bodyPr/>
          <a:lstStyle/>
          <a:p>
            <a:r>
              <a:rPr lang="en-US" altLang="zh-CN" dirty="0" smtClean="0">
                <a:solidFill>
                  <a:srgbClr val="FF0000"/>
                </a:solidFill>
              </a:rPr>
              <a:t>Scalar computing + Loop</a:t>
            </a:r>
            <a:r>
              <a:rPr lang="en-US" altLang="zh-CN" dirty="0" smtClean="0"/>
              <a:t>: traditional </a:t>
            </a:r>
            <a:r>
              <a:rPr lang="en-US" altLang="zh-CN" dirty="0"/>
              <a:t>non-vector </a:t>
            </a:r>
            <a:r>
              <a:rPr lang="en-US" altLang="zh-CN" dirty="0" smtClean="0"/>
              <a:t>operations</a:t>
            </a:r>
          </a:p>
          <a:p>
            <a:pPr lvl="1"/>
            <a:r>
              <a:rPr lang="en-US" altLang="zh-CN" dirty="0"/>
              <a:t> </a:t>
            </a:r>
            <a:r>
              <a:rPr lang="en-US" altLang="zh-CN" dirty="0" smtClean="0"/>
              <a:t> </a:t>
            </a:r>
            <a:r>
              <a:rPr lang="zh-CN" altLang="en-US" dirty="0" smtClean="0"/>
              <a:t>横式向量加工</a:t>
            </a:r>
            <a:endParaRPr lang="en-US" altLang="zh-CN" dirty="0" smtClean="0"/>
          </a:p>
          <a:p>
            <a:r>
              <a:rPr lang="en-US" altLang="zh-CN" dirty="0">
                <a:solidFill>
                  <a:srgbClr val="FF0000"/>
                </a:solidFill>
              </a:rPr>
              <a:t>M</a:t>
            </a:r>
            <a:r>
              <a:rPr lang="en-US" altLang="zh-CN" dirty="0" smtClean="0">
                <a:solidFill>
                  <a:srgbClr val="FF0000"/>
                </a:solidFill>
              </a:rPr>
              <a:t>emory-memory vector processors</a:t>
            </a:r>
            <a:r>
              <a:rPr lang="en-US" altLang="zh-CN" dirty="0" smtClean="0"/>
              <a:t>: all  vector operations are memory to memory</a:t>
            </a:r>
          </a:p>
          <a:p>
            <a:pPr lvl="1"/>
            <a:r>
              <a:rPr lang="zh-CN" altLang="en-US" dirty="0" smtClean="0"/>
              <a:t>  纵式向量加工，如</a:t>
            </a:r>
            <a:r>
              <a:rPr lang="en-US" altLang="zh-CN" dirty="0" smtClean="0"/>
              <a:t>CDC Cyber 205</a:t>
            </a:r>
          </a:p>
          <a:p>
            <a:r>
              <a:rPr lang="en-US" altLang="zh-CN" dirty="0">
                <a:solidFill>
                  <a:srgbClr val="FF0000"/>
                </a:solidFill>
              </a:rPr>
              <a:t>V</a:t>
            </a:r>
            <a:r>
              <a:rPr lang="en-US" altLang="zh-CN" dirty="0" smtClean="0">
                <a:solidFill>
                  <a:srgbClr val="FF0000"/>
                </a:solidFill>
              </a:rPr>
              <a:t>ector-register processors</a:t>
            </a:r>
            <a:r>
              <a:rPr lang="en-US" altLang="zh-CN" dirty="0" smtClean="0"/>
              <a:t>: all vector operations between vector registers (except load and store)</a:t>
            </a:r>
          </a:p>
          <a:p>
            <a:pPr lvl="1"/>
            <a:r>
              <a:rPr lang="en-US" altLang="zh-CN" dirty="0" smtClean="0"/>
              <a:t>  </a:t>
            </a:r>
            <a:r>
              <a:rPr lang="zh-CN" altLang="en-US" dirty="0" smtClean="0"/>
              <a:t>纵橫式向量加工</a:t>
            </a:r>
            <a:r>
              <a:rPr lang="en-US" altLang="zh-CN" dirty="0" smtClean="0"/>
              <a:t>	</a:t>
            </a:r>
          </a:p>
          <a:p>
            <a:pPr lvl="1"/>
            <a:r>
              <a:rPr lang="en-US" altLang="zh-CN" dirty="0" smtClean="0"/>
              <a:t>  Vector equivalent of load-store architectures</a:t>
            </a:r>
          </a:p>
          <a:p>
            <a:pPr lvl="1"/>
            <a:r>
              <a:rPr lang="en-US" altLang="zh-CN" dirty="0" smtClean="0"/>
              <a:t>	Includes all vector machines since late 1980s: 	</a:t>
            </a:r>
            <a:br>
              <a:rPr lang="en-US" altLang="zh-CN" dirty="0" smtClean="0"/>
            </a:br>
            <a:r>
              <a:rPr lang="en-US" altLang="zh-CN" dirty="0" smtClean="0"/>
              <a:t>	Cray, Convex, Fujitsu, Hitachi, NEC</a:t>
            </a:r>
          </a:p>
          <a:p>
            <a:pPr lvl="1"/>
            <a:r>
              <a:rPr lang="en-US" altLang="zh-CN" dirty="0" smtClean="0"/>
              <a:t>   We assume vector-register for rest of lectures</a:t>
            </a:r>
            <a:endParaRPr lang="en-US" altLang="zh-CN" dirty="0"/>
          </a:p>
        </p:txBody>
      </p:sp>
    </p:spTree>
    <p:extLst>
      <p:ext uri="{BB962C8B-B14F-4D97-AF65-F5344CB8AC3E}">
        <p14:creationId xmlns:p14="http://schemas.microsoft.com/office/powerpoint/2010/main" val="1507888571"/>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Vector </a:t>
            </a:r>
            <a:r>
              <a:rPr lang="en-US" altLang="zh-CN" dirty="0" smtClean="0"/>
              <a:t>Register </a:t>
            </a:r>
            <a:r>
              <a:rPr lang="en-US" dirty="0" smtClean="0"/>
              <a:t>Architectures</a:t>
            </a:r>
            <a:endParaRPr lang="en-AU" dirty="0"/>
          </a:p>
        </p:txBody>
      </p:sp>
      <p:sp>
        <p:nvSpPr>
          <p:cNvPr id="242691" name="Rectangle 3"/>
          <p:cNvSpPr>
            <a:spLocks noGrp="1" noChangeArrowheads="1"/>
          </p:cNvSpPr>
          <p:nvPr>
            <p:ph type="body" idx="1"/>
          </p:nvPr>
        </p:nvSpPr>
        <p:spPr/>
        <p:txBody>
          <a:bodyPr/>
          <a:lstStyle/>
          <a:p>
            <a:pPr>
              <a:lnSpc>
                <a:spcPct val="90000"/>
              </a:lnSpc>
            </a:pPr>
            <a:r>
              <a:rPr lang="en-US" dirty="0" smtClean="0"/>
              <a:t>Basic idea:</a:t>
            </a:r>
          </a:p>
          <a:p>
            <a:pPr lvl="1">
              <a:lnSpc>
                <a:spcPct val="90000"/>
              </a:lnSpc>
            </a:pPr>
            <a:r>
              <a:rPr lang="en-US" dirty="0" smtClean="0"/>
              <a:t>Read sets of data elements into “vector registers”</a:t>
            </a:r>
          </a:p>
          <a:p>
            <a:pPr lvl="1">
              <a:lnSpc>
                <a:spcPct val="90000"/>
              </a:lnSpc>
            </a:pPr>
            <a:r>
              <a:rPr lang="en-US" dirty="0" smtClean="0"/>
              <a:t>Operate on those registers</a:t>
            </a:r>
          </a:p>
          <a:p>
            <a:pPr lvl="1">
              <a:lnSpc>
                <a:spcPct val="90000"/>
              </a:lnSpc>
            </a:pPr>
            <a:r>
              <a:rPr lang="en-US" dirty="0" smtClean="0"/>
              <a:t>Disperse the results back into memory</a:t>
            </a:r>
          </a:p>
          <a:p>
            <a:pPr lvl="1">
              <a:lnSpc>
                <a:spcPct val="90000"/>
              </a:lnSpc>
            </a:pPr>
            <a:endParaRPr lang="en-US" dirty="0" smtClean="0"/>
          </a:p>
          <a:p>
            <a:pPr>
              <a:lnSpc>
                <a:spcPct val="90000"/>
              </a:lnSpc>
            </a:pPr>
            <a:r>
              <a:rPr lang="en-US" dirty="0" smtClean="0"/>
              <a:t>Registers are controlled by compiler</a:t>
            </a:r>
          </a:p>
          <a:p>
            <a:pPr lvl="1">
              <a:lnSpc>
                <a:spcPct val="90000"/>
              </a:lnSpc>
            </a:pPr>
            <a:r>
              <a:rPr lang="en-US" dirty="0" smtClean="0"/>
              <a:t>Used to hide memory latency</a:t>
            </a:r>
          </a:p>
          <a:p>
            <a:pPr lvl="1">
              <a:lnSpc>
                <a:spcPct val="90000"/>
              </a:lnSpc>
            </a:pPr>
            <a:r>
              <a:rPr lang="en-US" dirty="0" smtClean="0"/>
              <a:t>Can be loaded from or written into memory in pipelined approach </a:t>
            </a:r>
          </a:p>
          <a:p>
            <a:pPr lvl="1">
              <a:lnSpc>
                <a:spcPct val="90000"/>
              </a:lnSpc>
            </a:pPr>
            <a:r>
              <a:rPr lang="en-US" dirty="0" smtClean="0"/>
              <a:t>Leverage memory bandwidth</a:t>
            </a:r>
          </a:p>
        </p:txBody>
      </p:sp>
      <p:sp>
        <p:nvSpPr>
          <p:cNvPr id="242693" name="Text Box 5"/>
          <p:cNvSpPr txBox="1">
            <a:spLocks noChangeArrowheads="1"/>
          </p:cNvSpPr>
          <p:nvPr/>
        </p:nvSpPr>
        <p:spPr bwMode="auto">
          <a:xfrm rot="5400000">
            <a:off x="9366326" y="934844"/>
            <a:ext cx="2236638" cy="369332"/>
          </a:xfrm>
          <a:prstGeom prst="rect">
            <a:avLst/>
          </a:prstGeom>
          <a:solidFill>
            <a:srgbClr val="C0C0C0"/>
          </a:solidFill>
          <a:ln w="9525">
            <a:noFill/>
            <a:miter lim="800000"/>
            <a:headEnd/>
            <a:tailEnd/>
          </a:ln>
          <a:effectLst/>
        </p:spPr>
        <p:txBody>
          <a:bodyPr wrap="none">
            <a:spAutoFit/>
          </a:bodyPr>
          <a:lstStyle/>
          <a:p>
            <a:pPr eaLnBrk="0" hangingPunct="0">
              <a:spcBef>
                <a:spcPct val="0"/>
              </a:spcBef>
              <a:buClrTx/>
              <a:buSzTx/>
              <a:buFontTx/>
              <a:buNone/>
            </a:pPr>
            <a:r>
              <a:rPr lang="en-US" dirty="0">
                <a:solidFill>
                  <a:srgbClr val="0066FF"/>
                </a:solidFill>
                <a:latin typeface="Arial" charset="0"/>
              </a:rPr>
              <a:t>Vector Architectures</a:t>
            </a:r>
          </a:p>
        </p:txBody>
      </p:sp>
    </p:spTree>
    <p:extLst>
      <p:ext uri="{BB962C8B-B14F-4D97-AF65-F5344CB8AC3E}">
        <p14:creationId xmlns:p14="http://schemas.microsoft.com/office/powerpoint/2010/main" val="281106966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ltLang="zh-CN" smtClean="0"/>
              <a:t>Components of Vector Processor</a:t>
            </a:r>
            <a:endParaRPr lang="en-US" altLang="zh-CN" dirty="0"/>
          </a:p>
        </p:txBody>
      </p:sp>
      <p:sp>
        <p:nvSpPr>
          <p:cNvPr id="15363" name="Rectangle 3"/>
          <p:cNvSpPr>
            <a:spLocks noGrp="1" noChangeArrowheads="1"/>
          </p:cNvSpPr>
          <p:nvPr>
            <p:ph type="body" idx="1"/>
          </p:nvPr>
        </p:nvSpPr>
        <p:spPr/>
        <p:txBody>
          <a:bodyPr/>
          <a:lstStyle/>
          <a:p>
            <a:r>
              <a:rPr lang="en-US" altLang="zh-CN" dirty="0" smtClean="0"/>
              <a:t>Vector Register: fixed length bank holding a vector</a:t>
            </a:r>
          </a:p>
          <a:p>
            <a:pPr lvl="1"/>
            <a:r>
              <a:rPr lang="en-US" altLang="zh-CN" dirty="0" smtClean="0"/>
              <a:t>	has at least 2 read and 1 write ports</a:t>
            </a:r>
          </a:p>
          <a:p>
            <a:pPr lvl="1"/>
            <a:r>
              <a:rPr lang="en-US" altLang="zh-CN" dirty="0" smtClean="0"/>
              <a:t>	typically 8-32 vector registers, each holding 64-128 64-bit elements </a:t>
            </a:r>
          </a:p>
          <a:p>
            <a:r>
              <a:rPr lang="en-US" altLang="zh-CN" dirty="0" smtClean="0"/>
              <a:t>Vector Functional Units (FUs): fully pipelined, start new operation every clock</a:t>
            </a:r>
          </a:p>
          <a:p>
            <a:pPr lvl="1"/>
            <a:r>
              <a:rPr lang="en-US" altLang="zh-CN" dirty="0" smtClean="0"/>
              <a:t>typically 4 to 8 FUs: FP add, FP </a:t>
            </a:r>
            <a:r>
              <a:rPr lang="en-US" altLang="zh-CN" dirty="0" err="1" smtClean="0"/>
              <a:t>mult</a:t>
            </a:r>
            <a:r>
              <a:rPr lang="en-US" altLang="zh-CN" dirty="0" smtClean="0"/>
              <a:t>, FP reciprocal (1/X), integer add, logical,  shift; may have multiple of same unit</a:t>
            </a:r>
          </a:p>
          <a:p>
            <a:r>
              <a:rPr lang="en-US" altLang="zh-CN" dirty="0" smtClean="0"/>
              <a:t>Vector Load-Store Units (LSUs): fully pipelined unit to load or store a vector; may have multiple LSUs</a:t>
            </a:r>
          </a:p>
          <a:p>
            <a:r>
              <a:rPr lang="en-US" altLang="zh-CN" dirty="0" smtClean="0"/>
              <a:t>Scalar registers: single element for FP scalar or address</a:t>
            </a:r>
          </a:p>
          <a:p>
            <a:r>
              <a:rPr lang="en-US" altLang="zh-CN" dirty="0" smtClean="0"/>
              <a:t>Cross-bar to connect FUs , LSUs, registers</a:t>
            </a:r>
            <a:endParaRPr lang="en-US" altLang="zh-CN" dirty="0"/>
          </a:p>
        </p:txBody>
      </p:sp>
    </p:spTree>
    <p:extLst>
      <p:ext uri="{BB962C8B-B14F-4D97-AF65-F5344CB8AC3E}">
        <p14:creationId xmlns:p14="http://schemas.microsoft.com/office/powerpoint/2010/main" val="3447921307"/>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VMIPS</a:t>
            </a:r>
            <a:endParaRPr lang="en-AU" dirty="0"/>
          </a:p>
        </p:txBody>
      </p:sp>
      <p:sp>
        <p:nvSpPr>
          <p:cNvPr id="242691" name="Rectangle 3"/>
          <p:cNvSpPr>
            <a:spLocks noGrp="1" noChangeArrowheads="1"/>
          </p:cNvSpPr>
          <p:nvPr>
            <p:ph type="body" idx="1"/>
          </p:nvPr>
        </p:nvSpPr>
        <p:spPr/>
        <p:txBody>
          <a:bodyPr/>
          <a:lstStyle/>
          <a:p>
            <a:pPr>
              <a:lnSpc>
                <a:spcPct val="90000"/>
              </a:lnSpc>
            </a:pPr>
            <a:r>
              <a:rPr lang="en-US" dirty="0" smtClean="0"/>
              <a:t>Example architecture:  RV64V</a:t>
            </a:r>
          </a:p>
          <a:p>
            <a:pPr lvl="1">
              <a:lnSpc>
                <a:spcPct val="90000"/>
              </a:lnSpc>
            </a:pPr>
            <a:r>
              <a:rPr lang="en-US" dirty="0" smtClean="0"/>
              <a:t>Loosely based on Cray-1</a:t>
            </a:r>
          </a:p>
          <a:p>
            <a:pPr lvl="1">
              <a:lnSpc>
                <a:spcPct val="90000"/>
              </a:lnSpc>
            </a:pPr>
            <a:r>
              <a:rPr lang="en-US" dirty="0" smtClean="0"/>
              <a:t>32 64-bit vector registers</a:t>
            </a:r>
          </a:p>
          <a:p>
            <a:pPr lvl="2">
              <a:lnSpc>
                <a:spcPct val="90000"/>
              </a:lnSpc>
            </a:pPr>
            <a:r>
              <a:rPr lang="en-US" dirty="0" smtClean="0"/>
              <a:t>Register file has 16 read ports and 8 write ports</a:t>
            </a:r>
          </a:p>
          <a:p>
            <a:pPr lvl="1">
              <a:lnSpc>
                <a:spcPct val="90000"/>
              </a:lnSpc>
            </a:pPr>
            <a:r>
              <a:rPr lang="en-US" dirty="0" smtClean="0"/>
              <a:t>Vector functional units</a:t>
            </a:r>
          </a:p>
          <a:p>
            <a:pPr lvl="2">
              <a:lnSpc>
                <a:spcPct val="90000"/>
              </a:lnSpc>
            </a:pPr>
            <a:r>
              <a:rPr lang="en-US" dirty="0" smtClean="0"/>
              <a:t>Fully pipelined</a:t>
            </a:r>
          </a:p>
          <a:p>
            <a:pPr lvl="2">
              <a:lnSpc>
                <a:spcPct val="90000"/>
              </a:lnSpc>
            </a:pPr>
            <a:r>
              <a:rPr lang="en-US" dirty="0" smtClean="0"/>
              <a:t>Data and control hazards are detected</a:t>
            </a:r>
          </a:p>
          <a:p>
            <a:pPr lvl="1">
              <a:lnSpc>
                <a:spcPct val="90000"/>
              </a:lnSpc>
            </a:pPr>
            <a:r>
              <a:rPr lang="en-US" dirty="0" smtClean="0"/>
              <a:t>Vector load-store unit</a:t>
            </a:r>
          </a:p>
          <a:p>
            <a:pPr lvl="2">
              <a:lnSpc>
                <a:spcPct val="90000"/>
              </a:lnSpc>
            </a:pPr>
            <a:r>
              <a:rPr lang="en-US" dirty="0" smtClean="0"/>
              <a:t>Fully pipelined</a:t>
            </a:r>
          </a:p>
          <a:p>
            <a:pPr lvl="2">
              <a:lnSpc>
                <a:spcPct val="90000"/>
              </a:lnSpc>
            </a:pPr>
            <a:r>
              <a:rPr lang="en-US" dirty="0" smtClean="0"/>
              <a:t>One word per clock cycle after initial latency</a:t>
            </a:r>
          </a:p>
          <a:p>
            <a:pPr lvl="1">
              <a:lnSpc>
                <a:spcPct val="90000"/>
              </a:lnSpc>
            </a:pPr>
            <a:r>
              <a:rPr lang="en-US" dirty="0" smtClean="0"/>
              <a:t>Scalar registers</a:t>
            </a:r>
          </a:p>
          <a:p>
            <a:pPr lvl="2">
              <a:lnSpc>
                <a:spcPct val="90000"/>
              </a:lnSpc>
            </a:pPr>
            <a:r>
              <a:rPr lang="en-US" dirty="0" smtClean="0"/>
              <a:t>32 general-purpose registers</a:t>
            </a:r>
          </a:p>
          <a:p>
            <a:pPr lvl="2">
              <a:lnSpc>
                <a:spcPct val="90000"/>
              </a:lnSpc>
            </a:pPr>
            <a:r>
              <a:rPr lang="en-US" dirty="0" smtClean="0"/>
              <a:t>32 floating-point registers</a:t>
            </a:r>
          </a:p>
        </p:txBody>
      </p:sp>
      <p:sp>
        <p:nvSpPr>
          <p:cNvPr id="242693" name="Text Box 5"/>
          <p:cNvSpPr txBox="1">
            <a:spLocks noChangeArrowheads="1"/>
          </p:cNvSpPr>
          <p:nvPr/>
        </p:nvSpPr>
        <p:spPr bwMode="auto">
          <a:xfrm rot="5400000">
            <a:off x="9366326" y="934844"/>
            <a:ext cx="2236638" cy="369332"/>
          </a:xfrm>
          <a:prstGeom prst="rect">
            <a:avLst/>
          </a:prstGeom>
          <a:solidFill>
            <a:srgbClr val="C0C0C0"/>
          </a:solidFill>
          <a:ln w="9525">
            <a:noFill/>
            <a:miter lim="800000"/>
            <a:headEnd/>
            <a:tailEnd/>
          </a:ln>
          <a:effectLst/>
        </p:spPr>
        <p:txBody>
          <a:bodyPr wrap="none">
            <a:spAutoFit/>
          </a:bodyPr>
          <a:lstStyle/>
          <a:p>
            <a:pPr eaLnBrk="0" hangingPunct="0">
              <a:spcBef>
                <a:spcPct val="0"/>
              </a:spcBef>
              <a:buClrTx/>
              <a:buSzTx/>
              <a:buFontTx/>
              <a:buNone/>
            </a:pPr>
            <a:r>
              <a:rPr lang="en-US" dirty="0">
                <a:solidFill>
                  <a:srgbClr val="0066FF"/>
                </a:solidFill>
                <a:latin typeface="Arial" charset="0"/>
              </a:rPr>
              <a:t>Vector Architectures</a:t>
            </a:r>
          </a:p>
        </p:txBody>
      </p:sp>
    </p:spTree>
    <p:extLst>
      <p:ext uri="{BB962C8B-B14F-4D97-AF65-F5344CB8AC3E}">
        <p14:creationId xmlns:p14="http://schemas.microsoft.com/office/powerpoint/2010/main" val="96026602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pic>
        <p:nvPicPr>
          <p:cNvPr id="4100" name="Picture 5" descr="Y:\WOMAT\Production\Artfinal\0000000038\MKCAD\978-0-12-811905-1\0003165543\XMLLowres\f04-01-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60096" y="1561476"/>
            <a:ext cx="4968552" cy="512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en-US" altLang="zh-CN" dirty="0"/>
              <a:t>The </a:t>
            </a:r>
            <a:r>
              <a:rPr lang="en-US" altLang="zh-CN" dirty="0" smtClean="0"/>
              <a:t>vector architecture of RV64V</a:t>
            </a:r>
            <a:endParaRPr lang="zh-CN" altLang="en-US" dirty="0"/>
          </a:p>
        </p:txBody>
      </p:sp>
      <p:sp>
        <p:nvSpPr>
          <p:cNvPr id="3" name="内容占位符 2"/>
          <p:cNvSpPr>
            <a:spLocks noGrp="1"/>
          </p:cNvSpPr>
          <p:nvPr>
            <p:ph idx="1"/>
          </p:nvPr>
        </p:nvSpPr>
        <p:spPr>
          <a:xfrm>
            <a:off x="838200" y="1556792"/>
            <a:ext cx="5977880" cy="5112568"/>
          </a:xfrm>
        </p:spPr>
        <p:txBody>
          <a:bodyPr/>
          <a:lstStyle/>
          <a:p>
            <a:r>
              <a:rPr lang="en-US" altLang="zh-CN" dirty="0"/>
              <a:t>There are </a:t>
            </a:r>
            <a:r>
              <a:rPr lang="en-US" altLang="zh-CN" dirty="0" smtClean="0"/>
              <a:t>32 </a:t>
            </a:r>
            <a:r>
              <a:rPr lang="en-US" altLang="zh-CN" dirty="0"/>
              <a:t>vector registers, and all the functional units are vector functional units. </a:t>
            </a:r>
            <a:endParaRPr lang="en-US" altLang="zh-CN" dirty="0" smtClean="0"/>
          </a:p>
          <a:p>
            <a:r>
              <a:rPr lang="en-US" altLang="zh-CN" dirty="0" smtClean="0"/>
              <a:t>The </a:t>
            </a:r>
            <a:r>
              <a:rPr lang="en-US" altLang="zh-CN" dirty="0"/>
              <a:t>vector and scalar registers have a significant number of read and write ports to allow multiple simultaneous vector </a:t>
            </a:r>
            <a:r>
              <a:rPr lang="en-US" altLang="zh-CN" dirty="0" smtClean="0"/>
              <a:t>operations</a:t>
            </a:r>
          </a:p>
          <a:p>
            <a:r>
              <a:rPr lang="en-US" altLang="zh-CN" dirty="0" smtClean="0"/>
              <a:t>A </a:t>
            </a:r>
            <a:r>
              <a:rPr lang="en-US" altLang="zh-CN" dirty="0"/>
              <a:t>set of crossbar switches (thick gray lines) connects these ports to the inputs and outputs of the vector functional units</a:t>
            </a:r>
            <a:endParaRPr lang="zh-CN" altLang="en-US" dirty="0"/>
          </a:p>
        </p:txBody>
      </p:sp>
    </p:spTree>
    <p:extLst>
      <p:ext uri="{BB962C8B-B14F-4D97-AF65-F5344CB8AC3E}">
        <p14:creationId xmlns:p14="http://schemas.microsoft.com/office/powerpoint/2010/main" val="137629760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VMIPS Instructions</a:t>
            </a:r>
            <a:endParaRPr lang="en-AU" dirty="0"/>
          </a:p>
        </p:txBody>
      </p:sp>
      <p:sp>
        <p:nvSpPr>
          <p:cNvPr id="242691" name="Rectangle 3"/>
          <p:cNvSpPr>
            <a:spLocks noGrp="1" noChangeArrowheads="1"/>
          </p:cNvSpPr>
          <p:nvPr>
            <p:ph type="body" idx="1"/>
          </p:nvPr>
        </p:nvSpPr>
        <p:spPr>
          <a:xfrm>
            <a:off x="1631504" y="1484784"/>
            <a:ext cx="8270875" cy="5256212"/>
          </a:xfrm>
        </p:spPr>
        <p:txBody>
          <a:bodyPr/>
          <a:lstStyle/>
          <a:p>
            <a:pPr>
              <a:lnSpc>
                <a:spcPct val="90000"/>
              </a:lnSpc>
            </a:pPr>
            <a:r>
              <a:rPr lang="en-US" sz="2400" dirty="0"/>
              <a:t>.</a:t>
            </a:r>
            <a:r>
              <a:rPr lang="en-US" sz="2400" dirty="0" err="1"/>
              <a:t>vv</a:t>
            </a:r>
            <a:r>
              <a:rPr lang="en-US" sz="2400" dirty="0"/>
              <a:t>:  two vector operands</a:t>
            </a:r>
          </a:p>
          <a:p>
            <a:pPr>
              <a:lnSpc>
                <a:spcPct val="90000"/>
              </a:lnSpc>
            </a:pPr>
            <a:r>
              <a:rPr lang="en-US" sz="2400" dirty="0"/>
              <a:t>.vs and .</a:t>
            </a:r>
            <a:r>
              <a:rPr lang="en-US" sz="2400" dirty="0" err="1"/>
              <a:t>sv</a:t>
            </a:r>
            <a:r>
              <a:rPr lang="en-US" sz="2400" dirty="0"/>
              <a:t>:  vector and scalar operands</a:t>
            </a:r>
          </a:p>
          <a:p>
            <a:pPr>
              <a:lnSpc>
                <a:spcPct val="90000"/>
              </a:lnSpc>
            </a:pPr>
            <a:r>
              <a:rPr lang="en-US" sz="2400" dirty="0"/>
              <a:t>LV/SV:  vector load and vector store from address</a:t>
            </a:r>
          </a:p>
          <a:p>
            <a:pPr>
              <a:lnSpc>
                <a:spcPct val="90000"/>
              </a:lnSpc>
            </a:pPr>
            <a:r>
              <a:rPr lang="en-US" sz="2400" dirty="0"/>
              <a:t>Example:  DAXPY</a:t>
            </a:r>
          </a:p>
          <a:p>
            <a:pPr lvl="1">
              <a:lnSpc>
                <a:spcPct val="90000"/>
              </a:lnSpc>
              <a:buNone/>
            </a:pPr>
            <a:r>
              <a:rPr lang="en-US" dirty="0" err="1" smtClean="0"/>
              <a:t>vsetdcfg</a:t>
            </a:r>
            <a:r>
              <a:rPr lang="en-US" dirty="0" smtClean="0"/>
              <a:t>	4*FP64	# </a:t>
            </a:r>
            <a:r>
              <a:rPr lang="en-US" dirty="0"/>
              <a:t>Enable 4 DP FP </a:t>
            </a:r>
            <a:r>
              <a:rPr lang="en-US" dirty="0" err="1"/>
              <a:t>vregs</a:t>
            </a:r>
            <a:endParaRPr lang="en-US" dirty="0"/>
          </a:p>
          <a:p>
            <a:pPr lvl="1">
              <a:lnSpc>
                <a:spcPct val="90000"/>
              </a:lnSpc>
              <a:buNone/>
            </a:pPr>
            <a:r>
              <a:rPr lang="en-US" dirty="0" err="1" smtClean="0"/>
              <a:t>fld</a:t>
            </a:r>
            <a:r>
              <a:rPr lang="en-US" dirty="0" smtClean="0"/>
              <a:t>		f0,a		# </a:t>
            </a:r>
            <a:r>
              <a:rPr lang="en-US" dirty="0"/>
              <a:t>Load scalar a</a:t>
            </a:r>
          </a:p>
          <a:p>
            <a:pPr lvl="1">
              <a:lnSpc>
                <a:spcPct val="90000"/>
              </a:lnSpc>
              <a:buNone/>
            </a:pPr>
            <a:r>
              <a:rPr lang="en-US" dirty="0" err="1" smtClean="0"/>
              <a:t>vld</a:t>
            </a:r>
            <a:r>
              <a:rPr lang="en-US" dirty="0" smtClean="0"/>
              <a:t>		v0,x5		# </a:t>
            </a:r>
            <a:r>
              <a:rPr lang="en-US" dirty="0"/>
              <a:t>Load vector X</a:t>
            </a:r>
          </a:p>
          <a:p>
            <a:pPr lvl="1">
              <a:lnSpc>
                <a:spcPct val="90000"/>
              </a:lnSpc>
              <a:buNone/>
            </a:pPr>
            <a:r>
              <a:rPr lang="en-US" dirty="0" err="1" smtClean="0"/>
              <a:t>vmul</a:t>
            </a:r>
            <a:r>
              <a:rPr lang="en-US" dirty="0" smtClean="0"/>
              <a:t>	v1,v0,f0	# </a:t>
            </a:r>
            <a:r>
              <a:rPr lang="en-US" dirty="0"/>
              <a:t>Vector-scalar </a:t>
            </a:r>
            <a:r>
              <a:rPr lang="en-US" dirty="0" err="1"/>
              <a:t>mult</a:t>
            </a:r>
            <a:endParaRPr lang="en-US" dirty="0"/>
          </a:p>
          <a:p>
            <a:pPr lvl="1">
              <a:lnSpc>
                <a:spcPct val="90000"/>
              </a:lnSpc>
              <a:buNone/>
            </a:pPr>
            <a:r>
              <a:rPr lang="en-US" dirty="0" err="1" smtClean="0"/>
              <a:t>vld</a:t>
            </a:r>
            <a:r>
              <a:rPr lang="en-US" dirty="0" smtClean="0"/>
              <a:t>		v2,x6		# </a:t>
            </a:r>
            <a:r>
              <a:rPr lang="en-US" dirty="0"/>
              <a:t>Load vector Y</a:t>
            </a:r>
          </a:p>
          <a:p>
            <a:pPr lvl="1">
              <a:lnSpc>
                <a:spcPct val="90000"/>
              </a:lnSpc>
              <a:buNone/>
            </a:pPr>
            <a:r>
              <a:rPr lang="en-US" dirty="0" err="1" smtClean="0"/>
              <a:t>vadd</a:t>
            </a:r>
            <a:r>
              <a:rPr lang="en-US" dirty="0" smtClean="0"/>
              <a:t>	v3,v1,v2	# </a:t>
            </a:r>
            <a:r>
              <a:rPr lang="en-US" dirty="0"/>
              <a:t>Vector-vector add</a:t>
            </a:r>
          </a:p>
          <a:p>
            <a:pPr lvl="1">
              <a:lnSpc>
                <a:spcPct val="90000"/>
              </a:lnSpc>
              <a:buNone/>
            </a:pPr>
            <a:r>
              <a:rPr lang="en-US" dirty="0" err="1" smtClean="0"/>
              <a:t>vst</a:t>
            </a:r>
            <a:r>
              <a:rPr lang="en-US" dirty="0" smtClean="0"/>
              <a:t>		v3,x6		# </a:t>
            </a:r>
            <a:r>
              <a:rPr lang="en-US" dirty="0"/>
              <a:t>Store the sum</a:t>
            </a:r>
          </a:p>
          <a:p>
            <a:pPr lvl="1">
              <a:lnSpc>
                <a:spcPct val="90000"/>
              </a:lnSpc>
              <a:buNone/>
            </a:pPr>
            <a:r>
              <a:rPr lang="en-US" dirty="0" err="1" smtClean="0"/>
              <a:t>vdisable</a:t>
            </a:r>
            <a:r>
              <a:rPr lang="en-US" dirty="0" smtClean="0"/>
              <a:t>			# </a:t>
            </a:r>
            <a:r>
              <a:rPr lang="en-US" dirty="0"/>
              <a:t>Disable vector </a:t>
            </a:r>
            <a:r>
              <a:rPr lang="en-US" dirty="0" err="1" smtClean="0"/>
              <a:t>regs</a:t>
            </a:r>
            <a:endParaRPr lang="en-US" dirty="0" smtClean="0"/>
          </a:p>
          <a:p>
            <a:pPr>
              <a:lnSpc>
                <a:spcPct val="90000"/>
              </a:lnSpc>
            </a:pPr>
            <a:r>
              <a:rPr lang="en-US" sz="2400" dirty="0"/>
              <a:t>8 instructions, 258 for RV64V (scalar code)</a:t>
            </a:r>
            <a:endParaRPr lang="en-US" dirty="0" smtClean="0"/>
          </a:p>
        </p:txBody>
      </p:sp>
      <p:sp>
        <p:nvSpPr>
          <p:cNvPr id="242693" name="Text Box 5"/>
          <p:cNvSpPr txBox="1">
            <a:spLocks noChangeArrowheads="1"/>
          </p:cNvSpPr>
          <p:nvPr/>
        </p:nvSpPr>
        <p:spPr bwMode="auto">
          <a:xfrm rot="5400000">
            <a:off x="9366326" y="934844"/>
            <a:ext cx="2236638" cy="369332"/>
          </a:xfrm>
          <a:prstGeom prst="rect">
            <a:avLst/>
          </a:prstGeom>
          <a:solidFill>
            <a:srgbClr val="C0C0C0"/>
          </a:solidFill>
          <a:ln w="9525">
            <a:noFill/>
            <a:miter lim="800000"/>
            <a:headEnd/>
            <a:tailEnd/>
          </a:ln>
          <a:effectLst/>
        </p:spPr>
        <p:txBody>
          <a:bodyPr wrap="none">
            <a:spAutoFit/>
          </a:bodyPr>
          <a:lstStyle/>
          <a:p>
            <a:pPr eaLnBrk="0" hangingPunct="0">
              <a:spcBef>
                <a:spcPct val="0"/>
              </a:spcBef>
              <a:buClrTx/>
              <a:buSzTx/>
              <a:buFontTx/>
              <a:buNone/>
            </a:pPr>
            <a:r>
              <a:rPr lang="en-US" dirty="0">
                <a:solidFill>
                  <a:srgbClr val="0066FF"/>
                </a:solidFill>
                <a:latin typeface="Arial" charset="0"/>
              </a:rPr>
              <a:t>Vector Architectures</a:t>
            </a:r>
          </a:p>
        </p:txBody>
      </p:sp>
    </p:spTree>
    <p:extLst>
      <p:ext uri="{BB962C8B-B14F-4D97-AF65-F5344CB8AC3E}">
        <p14:creationId xmlns:p14="http://schemas.microsoft.com/office/powerpoint/2010/main" val="222748784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839416" y="764704"/>
            <a:ext cx="8817348" cy="446088"/>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smtClean="0"/>
              <a:t>Vector </a:t>
            </a:r>
            <a:r>
              <a:rPr lang="en-US" altLang="zh-CN" dirty="0"/>
              <a:t>Instructions</a:t>
            </a:r>
          </a:p>
        </p:txBody>
      </p:sp>
      <p:sp>
        <p:nvSpPr>
          <p:cNvPr id="17411" name="Rectangle 3"/>
          <p:cNvSpPr>
            <a:spLocks noGrp="1" noChangeArrowheads="1"/>
          </p:cNvSpPr>
          <p:nvPr>
            <p:ph type="body" idx="1"/>
          </p:nvPr>
        </p:nvSpPr>
        <p:spPr>
          <a:xfrm>
            <a:off x="1736725" y="1439864"/>
            <a:ext cx="8807450" cy="5360987"/>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buNone/>
              <a:tabLst>
                <a:tab pos="1371600" algn="l"/>
                <a:tab pos="3028950" algn="l"/>
                <a:tab pos="6172200" algn="l"/>
              </a:tabLst>
            </a:pPr>
            <a:r>
              <a:rPr lang="en-US" altLang="zh-CN" dirty="0"/>
              <a:t>	</a:t>
            </a:r>
            <a:r>
              <a:rPr lang="en-US" altLang="zh-CN" sz="2400" dirty="0"/>
              <a:t>Instr.	Operands	Operation	Comment</a:t>
            </a:r>
          </a:p>
          <a:p>
            <a:pPr>
              <a:tabLst>
                <a:tab pos="1371600" algn="l"/>
                <a:tab pos="3028950" algn="l"/>
                <a:tab pos="6172200" algn="l"/>
              </a:tabLst>
            </a:pPr>
            <a:r>
              <a:rPr lang="en-US" altLang="zh-CN" sz="2400" dirty="0">
                <a:latin typeface="Courier New" panose="02070309020205020404" pitchFamily="49" charset="0"/>
              </a:rPr>
              <a:t>ADD</a:t>
            </a:r>
            <a:r>
              <a:rPr lang="en-US" altLang="zh-CN" sz="2400" u="sng" dirty="0">
                <a:solidFill>
                  <a:schemeClr val="hlink"/>
                </a:solidFill>
                <a:latin typeface="Courier New" panose="02070309020205020404" pitchFamily="49" charset="0"/>
              </a:rPr>
              <a:t>V</a:t>
            </a:r>
            <a:r>
              <a:rPr lang="en-US" altLang="zh-CN" sz="2400" dirty="0">
                <a:latin typeface="Courier New" panose="02070309020205020404" pitchFamily="49" charset="0"/>
              </a:rPr>
              <a:t>	V1,V2,V3</a:t>
            </a:r>
            <a:r>
              <a:rPr lang="en-US" altLang="zh-CN" sz="2400" dirty="0"/>
              <a:t>	V1=V2+V3	vector + vector</a:t>
            </a:r>
          </a:p>
          <a:p>
            <a:pPr>
              <a:tabLst>
                <a:tab pos="1371600" algn="l"/>
                <a:tab pos="3028950" algn="l"/>
                <a:tab pos="6172200" algn="l"/>
              </a:tabLst>
            </a:pPr>
            <a:r>
              <a:rPr lang="en-US" altLang="zh-CN" sz="2400" dirty="0">
                <a:latin typeface="Courier New" panose="02070309020205020404" pitchFamily="49" charset="0"/>
              </a:rPr>
              <a:t>ADD</a:t>
            </a:r>
            <a:r>
              <a:rPr lang="en-US" altLang="zh-CN" sz="2400" u="sng" dirty="0">
                <a:solidFill>
                  <a:schemeClr val="hlink"/>
                </a:solidFill>
                <a:latin typeface="Courier New" panose="02070309020205020404" pitchFamily="49" charset="0"/>
              </a:rPr>
              <a:t>S</a:t>
            </a:r>
            <a:r>
              <a:rPr lang="en-US" altLang="zh-CN" sz="2400" dirty="0">
                <a:latin typeface="Courier New" panose="02070309020205020404" pitchFamily="49" charset="0"/>
              </a:rPr>
              <a:t>V	V1,</a:t>
            </a:r>
            <a:r>
              <a:rPr lang="en-US" altLang="zh-CN" sz="2400" u="sng" dirty="0">
                <a:solidFill>
                  <a:schemeClr val="hlink"/>
                </a:solidFill>
                <a:latin typeface="Courier New" panose="02070309020205020404" pitchFamily="49" charset="0"/>
              </a:rPr>
              <a:t>F0</a:t>
            </a:r>
            <a:r>
              <a:rPr lang="en-US" altLang="zh-CN" sz="2400" dirty="0">
                <a:latin typeface="Courier New" panose="02070309020205020404" pitchFamily="49" charset="0"/>
              </a:rPr>
              <a:t>,V2</a:t>
            </a:r>
            <a:r>
              <a:rPr lang="en-US" altLang="zh-CN" sz="2400" dirty="0"/>
              <a:t>	V1=</a:t>
            </a:r>
            <a:r>
              <a:rPr lang="en-US" altLang="zh-CN" sz="2400" u="sng" dirty="0">
                <a:solidFill>
                  <a:schemeClr val="hlink"/>
                </a:solidFill>
              </a:rPr>
              <a:t>F0</a:t>
            </a:r>
            <a:r>
              <a:rPr lang="en-US" altLang="zh-CN" sz="2400" dirty="0"/>
              <a:t>+V2	scalar + vector</a:t>
            </a:r>
          </a:p>
          <a:p>
            <a:pPr>
              <a:tabLst>
                <a:tab pos="1371600" algn="l"/>
                <a:tab pos="3028950" algn="l"/>
                <a:tab pos="6172200" algn="l"/>
              </a:tabLst>
            </a:pPr>
            <a:r>
              <a:rPr lang="en-US" altLang="zh-CN" sz="2400" dirty="0">
                <a:latin typeface="Courier New" panose="02070309020205020404" pitchFamily="49" charset="0"/>
              </a:rPr>
              <a:t>MULTV	V1,V2,V3</a:t>
            </a:r>
            <a:r>
              <a:rPr lang="en-US" altLang="zh-CN" sz="2400" dirty="0"/>
              <a:t>	V1=V2xV3	vector x vector</a:t>
            </a:r>
          </a:p>
          <a:p>
            <a:pPr>
              <a:tabLst>
                <a:tab pos="1371600" algn="l"/>
                <a:tab pos="3028950" algn="l"/>
                <a:tab pos="6172200" algn="l"/>
              </a:tabLst>
            </a:pPr>
            <a:r>
              <a:rPr lang="en-US" altLang="zh-CN" sz="2400" dirty="0">
                <a:latin typeface="Courier New" panose="02070309020205020404" pitchFamily="49" charset="0"/>
              </a:rPr>
              <a:t>MULSV	V1,F0,V2</a:t>
            </a:r>
            <a:r>
              <a:rPr lang="en-US" altLang="zh-CN" sz="2400" dirty="0"/>
              <a:t>	V1=F0xV2	scalar x vector</a:t>
            </a:r>
          </a:p>
          <a:p>
            <a:pPr>
              <a:tabLst>
                <a:tab pos="1371600" algn="l"/>
                <a:tab pos="3028950" algn="l"/>
                <a:tab pos="6172200" algn="l"/>
              </a:tabLst>
            </a:pPr>
            <a:r>
              <a:rPr lang="en-US" altLang="zh-CN" sz="2400" dirty="0">
                <a:latin typeface="Courier New" panose="02070309020205020404" pitchFamily="49" charset="0"/>
              </a:rPr>
              <a:t>LV	V1,R1</a:t>
            </a:r>
            <a:r>
              <a:rPr lang="en-US" altLang="zh-CN" sz="2400" dirty="0"/>
              <a:t>	V1=M[R1..R1+63]	load, stride=1</a:t>
            </a:r>
          </a:p>
          <a:p>
            <a:pPr>
              <a:tabLst>
                <a:tab pos="1371600" algn="l"/>
                <a:tab pos="3028950" algn="l"/>
                <a:tab pos="6172200" algn="l"/>
              </a:tabLst>
            </a:pPr>
            <a:r>
              <a:rPr lang="en-US" altLang="zh-CN" sz="2400" dirty="0">
                <a:latin typeface="Courier New" panose="02070309020205020404" pitchFamily="49" charset="0"/>
              </a:rPr>
              <a:t>LV</a:t>
            </a:r>
            <a:r>
              <a:rPr lang="en-US" altLang="zh-CN" sz="2400" u="sng" dirty="0">
                <a:solidFill>
                  <a:schemeClr val="hlink"/>
                </a:solidFill>
                <a:latin typeface="Courier New" panose="02070309020205020404" pitchFamily="49" charset="0"/>
              </a:rPr>
              <a:t>WS</a:t>
            </a:r>
            <a:r>
              <a:rPr lang="en-US" altLang="zh-CN" sz="2400" dirty="0">
                <a:latin typeface="Courier New" panose="02070309020205020404" pitchFamily="49" charset="0"/>
              </a:rPr>
              <a:t>	V1,R1,R2</a:t>
            </a:r>
            <a:r>
              <a:rPr lang="en-US" altLang="zh-CN" sz="2400" dirty="0"/>
              <a:t>	V1=M[R1..R1+</a:t>
            </a:r>
            <a:r>
              <a:rPr lang="en-US" altLang="zh-CN" sz="2400" u="sng" dirty="0">
                <a:solidFill>
                  <a:schemeClr val="hlink"/>
                </a:solidFill>
              </a:rPr>
              <a:t>63*R2</a:t>
            </a:r>
            <a:r>
              <a:rPr lang="en-US" altLang="zh-CN" sz="2400" dirty="0"/>
              <a:t>]	load, stride=R2</a:t>
            </a:r>
          </a:p>
          <a:p>
            <a:pPr>
              <a:tabLst>
                <a:tab pos="1371600" algn="l"/>
                <a:tab pos="3028950" algn="l"/>
                <a:tab pos="6172200" algn="l"/>
              </a:tabLst>
            </a:pPr>
            <a:r>
              <a:rPr lang="en-US" altLang="zh-CN" sz="2400" dirty="0">
                <a:latin typeface="Courier New" panose="02070309020205020404" pitchFamily="49" charset="0"/>
              </a:rPr>
              <a:t>LV</a:t>
            </a:r>
            <a:r>
              <a:rPr lang="en-US" altLang="zh-CN" sz="2400" u="sng" dirty="0">
                <a:solidFill>
                  <a:schemeClr val="hlink"/>
                </a:solidFill>
                <a:latin typeface="Courier New" panose="02070309020205020404" pitchFamily="49" charset="0"/>
              </a:rPr>
              <a:t>I</a:t>
            </a:r>
            <a:r>
              <a:rPr lang="en-US" altLang="zh-CN" sz="2400" dirty="0">
                <a:latin typeface="Courier New" panose="02070309020205020404" pitchFamily="49" charset="0"/>
              </a:rPr>
              <a:t>	V1,R1,V2</a:t>
            </a:r>
            <a:r>
              <a:rPr lang="en-US" altLang="zh-CN" sz="2400" dirty="0"/>
              <a:t>	V1=M[R1</a:t>
            </a:r>
            <a:r>
              <a:rPr lang="en-US" altLang="zh-CN" sz="2400" u="sng" dirty="0">
                <a:solidFill>
                  <a:schemeClr val="hlink"/>
                </a:solidFill>
              </a:rPr>
              <a:t>+V2i</a:t>
            </a:r>
            <a:r>
              <a:rPr lang="en-US" altLang="zh-CN" sz="2400" dirty="0"/>
              <a:t>,i=0..63] </a:t>
            </a:r>
            <a:r>
              <a:rPr lang="en-US" altLang="zh-CN" sz="2400" dirty="0" err="1"/>
              <a:t>indir</a:t>
            </a:r>
            <a:r>
              <a:rPr lang="en-US" altLang="zh-CN" sz="2400" dirty="0"/>
              <a:t>.("gather")</a:t>
            </a:r>
          </a:p>
          <a:p>
            <a:pPr>
              <a:tabLst>
                <a:tab pos="1371600" algn="l"/>
                <a:tab pos="3028950" algn="l"/>
                <a:tab pos="6172200" algn="l"/>
              </a:tabLst>
            </a:pPr>
            <a:r>
              <a:rPr lang="en-US" altLang="zh-CN" sz="2400" dirty="0" err="1">
                <a:latin typeface="Courier New" panose="02070309020205020404" pitchFamily="49" charset="0"/>
              </a:rPr>
              <a:t>CeqV</a:t>
            </a:r>
            <a:r>
              <a:rPr lang="en-US" altLang="zh-CN" sz="2400" dirty="0">
                <a:latin typeface="Courier New" panose="02070309020205020404" pitchFamily="49" charset="0"/>
              </a:rPr>
              <a:t>	VM,V1,V2</a:t>
            </a:r>
            <a:r>
              <a:rPr lang="en-US" altLang="zh-CN" sz="2400" dirty="0"/>
              <a:t>	</a:t>
            </a:r>
            <a:r>
              <a:rPr lang="en-US" altLang="zh-CN" sz="2400" dirty="0" err="1"/>
              <a:t>VMASKi</a:t>
            </a:r>
            <a:r>
              <a:rPr lang="en-US" altLang="zh-CN" sz="2400" dirty="0"/>
              <a:t> = (V1i=V2i)?	comp. </a:t>
            </a:r>
            <a:r>
              <a:rPr lang="en-US" altLang="zh-CN" sz="2400" dirty="0" err="1"/>
              <a:t>setmask</a:t>
            </a:r>
            <a:endParaRPr lang="en-US" altLang="zh-CN" sz="2400" dirty="0"/>
          </a:p>
          <a:p>
            <a:pPr>
              <a:tabLst>
                <a:tab pos="1371600" algn="l"/>
                <a:tab pos="3028950" algn="l"/>
                <a:tab pos="6172200" algn="l"/>
              </a:tabLst>
            </a:pPr>
            <a:r>
              <a:rPr lang="en-US" altLang="zh-CN" sz="2400" dirty="0">
                <a:latin typeface="Courier New" panose="02070309020205020404" pitchFamily="49" charset="0"/>
              </a:rPr>
              <a:t>MOV	</a:t>
            </a:r>
            <a:r>
              <a:rPr lang="en-US" altLang="zh-CN" sz="2400" u="sng" dirty="0">
                <a:solidFill>
                  <a:schemeClr val="hlink"/>
                </a:solidFill>
                <a:latin typeface="Courier New" panose="02070309020205020404" pitchFamily="49" charset="0"/>
              </a:rPr>
              <a:t>VLR</a:t>
            </a:r>
            <a:r>
              <a:rPr lang="en-US" altLang="zh-CN" sz="2400" dirty="0">
                <a:latin typeface="Courier New" panose="02070309020205020404" pitchFamily="49" charset="0"/>
              </a:rPr>
              <a:t>,R1</a:t>
            </a:r>
            <a:r>
              <a:rPr lang="en-US" altLang="zh-CN" sz="2400" dirty="0"/>
              <a:t>	</a:t>
            </a:r>
            <a:r>
              <a:rPr lang="en-US" altLang="zh-CN" sz="2400" dirty="0" err="1"/>
              <a:t>Vec</a:t>
            </a:r>
            <a:r>
              <a:rPr lang="en-US" altLang="zh-CN" sz="2400" dirty="0"/>
              <a:t>. Len. Reg. = R1	set vector length</a:t>
            </a:r>
          </a:p>
          <a:p>
            <a:pPr>
              <a:tabLst>
                <a:tab pos="1371600" algn="l"/>
                <a:tab pos="3028950" algn="l"/>
                <a:tab pos="6172200" algn="l"/>
              </a:tabLst>
            </a:pPr>
            <a:r>
              <a:rPr lang="en-US" altLang="zh-CN" sz="2400" dirty="0">
                <a:latin typeface="Courier New" panose="02070309020205020404" pitchFamily="49" charset="0"/>
              </a:rPr>
              <a:t>MOV	</a:t>
            </a:r>
            <a:r>
              <a:rPr lang="en-US" altLang="zh-CN" sz="2400" u="sng" dirty="0">
                <a:solidFill>
                  <a:schemeClr val="hlink"/>
                </a:solidFill>
                <a:latin typeface="Courier New" panose="02070309020205020404" pitchFamily="49" charset="0"/>
              </a:rPr>
              <a:t>VM</a:t>
            </a:r>
            <a:r>
              <a:rPr lang="en-US" altLang="zh-CN" sz="2400" dirty="0">
                <a:latin typeface="Courier New" panose="02070309020205020404" pitchFamily="49" charset="0"/>
              </a:rPr>
              <a:t>,R1</a:t>
            </a:r>
            <a:r>
              <a:rPr lang="en-US" altLang="zh-CN" sz="2400" dirty="0"/>
              <a:t>	</a:t>
            </a:r>
            <a:r>
              <a:rPr lang="en-US" altLang="zh-CN" sz="2400" dirty="0" err="1"/>
              <a:t>Vec</a:t>
            </a:r>
            <a:r>
              <a:rPr lang="en-US" altLang="zh-CN" sz="2400" dirty="0"/>
              <a:t>. Mask = R1	set vector mask</a:t>
            </a:r>
          </a:p>
        </p:txBody>
      </p:sp>
    </p:spTree>
    <p:extLst>
      <p:ext uri="{BB962C8B-B14F-4D97-AF65-F5344CB8AC3E}">
        <p14:creationId xmlns:p14="http://schemas.microsoft.com/office/powerpoint/2010/main" val="488113339"/>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983432" y="695375"/>
            <a:ext cx="9639869" cy="558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smtClean="0"/>
              <a:t>DAXPY </a:t>
            </a:r>
            <a:r>
              <a:rPr lang="en-US" altLang="zh-CN" dirty="0"/>
              <a:t>(Y = </a:t>
            </a:r>
            <a:r>
              <a:rPr lang="en-US" altLang="zh-CN" u="sng" dirty="0"/>
              <a:t>a</a:t>
            </a:r>
            <a:r>
              <a:rPr lang="en-US" altLang="zh-CN" dirty="0"/>
              <a:t> </a:t>
            </a:r>
            <a:r>
              <a:rPr lang="en-US" altLang="zh-CN" sz="8000" baseline="-25000" dirty="0"/>
              <a:t>*</a:t>
            </a:r>
            <a:r>
              <a:rPr lang="en-US" altLang="zh-CN" dirty="0"/>
              <a:t> </a:t>
            </a:r>
            <a:r>
              <a:rPr lang="en-US" altLang="zh-CN" u="sng" dirty="0"/>
              <a:t>X + Y</a:t>
            </a:r>
            <a:r>
              <a:rPr lang="en-US" altLang="zh-CN" dirty="0" smtClean="0"/>
              <a:t>)</a:t>
            </a:r>
            <a:br>
              <a:rPr lang="en-US" altLang="zh-CN" dirty="0" smtClean="0"/>
            </a:br>
            <a:r>
              <a:rPr lang="en-US" altLang="zh-CN" dirty="0" smtClean="0"/>
              <a:t>		</a:t>
            </a:r>
            <a:r>
              <a:rPr lang="en-US" altLang="zh-CN" sz="3200" dirty="0" smtClean="0"/>
              <a:t>Assuming </a:t>
            </a:r>
            <a:r>
              <a:rPr lang="en-US" altLang="zh-CN" sz="3200" dirty="0"/>
              <a:t>vectors X, Y are </a:t>
            </a:r>
            <a:r>
              <a:rPr lang="en-US" altLang="zh-CN" sz="3200" dirty="0" smtClean="0"/>
              <a:t>of length </a:t>
            </a:r>
            <a:r>
              <a:rPr lang="en-US" altLang="zh-CN" sz="3200" dirty="0"/>
              <a:t>64</a:t>
            </a:r>
            <a:br>
              <a:rPr lang="en-US" altLang="zh-CN" sz="3200" dirty="0"/>
            </a:br>
            <a:endParaRPr lang="en-US" altLang="zh-CN" dirty="0"/>
          </a:p>
        </p:txBody>
      </p:sp>
      <p:sp>
        <p:nvSpPr>
          <p:cNvPr id="21507" name="Rectangle 3"/>
          <p:cNvSpPr>
            <a:spLocks noGrp="1" noChangeArrowheads="1"/>
          </p:cNvSpPr>
          <p:nvPr>
            <p:ph type="body" idx="1"/>
          </p:nvPr>
        </p:nvSpPr>
        <p:spPr>
          <a:xfrm>
            <a:off x="263352" y="2303934"/>
            <a:ext cx="7056784" cy="3789362"/>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marL="514350" indent="-514350">
              <a:buNone/>
              <a:tabLst>
                <a:tab pos="1485900" algn="l"/>
                <a:tab pos="2800350" algn="l"/>
              </a:tabLst>
            </a:pPr>
            <a:r>
              <a:rPr lang="en-US" altLang="zh-CN" sz="2000" b="1" dirty="0">
                <a:latin typeface="Courier New" panose="02070309020205020404" pitchFamily="49" charset="0"/>
                <a:cs typeface="Courier New" panose="02070309020205020404" pitchFamily="49" charset="0"/>
              </a:rPr>
              <a:t>	  LD	F0,a</a:t>
            </a:r>
          </a:p>
          <a:p>
            <a:pPr marL="514350" indent="-514350">
              <a:buNone/>
              <a:tabLst>
                <a:tab pos="1485900" algn="l"/>
                <a:tab pos="2800350" algn="l"/>
              </a:tabLst>
            </a:pPr>
            <a:r>
              <a:rPr lang="en-US" altLang="zh-CN" sz="2000" b="1" dirty="0">
                <a:latin typeface="Courier New" panose="02070309020205020404" pitchFamily="49" charset="0"/>
                <a:cs typeface="Courier New" panose="02070309020205020404" pitchFamily="49" charset="0"/>
              </a:rPr>
              <a:t>	  ADDI	R4,Rx,#512 </a:t>
            </a:r>
            <a:r>
              <a:rPr lang="en-US" altLang="zh-CN" sz="2000" b="1" dirty="0" smtClean="0">
                <a:latin typeface="Courier New" panose="02070309020205020404" pitchFamily="49" charset="0"/>
                <a:cs typeface="Courier New" panose="02070309020205020404" pitchFamily="49" charset="0"/>
              </a:rPr>
              <a:t> </a:t>
            </a:r>
            <a:r>
              <a:rPr lang="en-US" altLang="zh-CN" sz="2000" dirty="0"/>
              <a:t>;</a:t>
            </a:r>
            <a:r>
              <a:rPr lang="en-US" altLang="zh-CN" sz="2000" dirty="0"/>
              <a:t>l</a:t>
            </a:r>
            <a:r>
              <a:rPr lang="en-US" altLang="zh-CN" sz="2000" dirty="0"/>
              <a:t>ast address to load</a:t>
            </a:r>
            <a:r>
              <a:rPr lang="en-US" altLang="zh-CN" sz="2000" b="1" dirty="0">
                <a:latin typeface="Courier New" panose="02070309020205020404" pitchFamily="49" charset="0"/>
                <a:cs typeface="Courier New" panose="02070309020205020404" pitchFamily="49" charset="0"/>
              </a:rPr>
              <a:t> </a:t>
            </a:r>
          </a:p>
          <a:p>
            <a:pPr marL="514350" indent="-514350">
              <a:buNone/>
              <a:tabLst>
                <a:tab pos="1485900" algn="l"/>
                <a:tab pos="2800350" algn="l"/>
              </a:tabLst>
            </a:pPr>
            <a:r>
              <a:rPr lang="en-US" altLang="zh-CN" sz="2000" b="1" dirty="0">
                <a:latin typeface="Courier New" panose="02070309020205020404" pitchFamily="49" charset="0"/>
                <a:cs typeface="Courier New" panose="02070309020205020404" pitchFamily="49" charset="0"/>
              </a:rPr>
              <a:t>loop: </a:t>
            </a:r>
            <a:r>
              <a:rPr lang="en-US" altLang="zh-CN" sz="2000" b="1" dirty="0" smtClean="0">
                <a:latin typeface="Courier New" panose="02070309020205020404" pitchFamily="49" charset="0"/>
                <a:cs typeface="Courier New" panose="02070309020205020404" pitchFamily="49" charset="0"/>
              </a:rPr>
              <a:t> LD</a:t>
            </a:r>
            <a:r>
              <a:rPr lang="en-US" altLang="zh-CN" sz="2000" b="1" dirty="0">
                <a:latin typeface="Courier New" panose="02070309020205020404" pitchFamily="49" charset="0"/>
                <a:cs typeface="Courier New" panose="02070309020205020404" pitchFamily="49" charset="0"/>
              </a:rPr>
              <a:t>	</a:t>
            </a:r>
            <a:r>
              <a:rPr lang="en-US" altLang="zh-CN" sz="2000" b="1" u="sng" dirty="0">
                <a:solidFill>
                  <a:schemeClr val="accent2"/>
                </a:solidFill>
                <a:latin typeface="Courier New" panose="02070309020205020404" pitchFamily="49" charset="0"/>
                <a:cs typeface="Courier New" panose="02070309020205020404" pitchFamily="49" charset="0"/>
              </a:rPr>
              <a:t>F2</a:t>
            </a:r>
            <a:r>
              <a:rPr lang="en-US" altLang="zh-CN" sz="2000" b="1" dirty="0">
                <a:latin typeface="Courier New" panose="02070309020205020404" pitchFamily="49" charset="0"/>
                <a:cs typeface="Courier New" panose="02070309020205020404" pitchFamily="49" charset="0"/>
              </a:rPr>
              <a:t>, 0(Rx)   </a:t>
            </a:r>
            <a:r>
              <a:rPr lang="en-US" altLang="zh-CN" sz="2000" dirty="0"/>
              <a:t>;</a:t>
            </a:r>
            <a:r>
              <a:rPr lang="en-US" altLang="zh-CN" sz="2000" dirty="0"/>
              <a:t>load X(</a:t>
            </a:r>
            <a:r>
              <a:rPr lang="en-US" altLang="zh-CN" sz="2000" dirty="0" err="1"/>
              <a:t>i</a:t>
            </a:r>
            <a:r>
              <a:rPr lang="en-US" altLang="zh-CN" sz="2000" dirty="0"/>
              <a:t>)</a:t>
            </a:r>
          </a:p>
          <a:p>
            <a:pPr marL="514350" indent="-514350">
              <a:buNone/>
              <a:tabLst>
                <a:tab pos="1485900" algn="l"/>
                <a:tab pos="2800350" algn="l"/>
              </a:tabLst>
            </a:pPr>
            <a:r>
              <a:rPr lang="en-US" altLang="zh-CN" sz="2000" b="1" dirty="0">
                <a:latin typeface="Courier New" panose="02070309020205020404" pitchFamily="49" charset="0"/>
                <a:cs typeface="Courier New" panose="02070309020205020404" pitchFamily="49" charset="0"/>
              </a:rPr>
              <a:t>	  </a:t>
            </a:r>
            <a:r>
              <a:rPr lang="en-US" altLang="zh-CN" sz="2000" b="1" dirty="0" smtClean="0">
                <a:latin typeface="Courier New" panose="02070309020205020404" pitchFamily="49" charset="0"/>
                <a:cs typeface="Courier New" panose="02070309020205020404" pitchFamily="49" charset="0"/>
              </a:rPr>
              <a:t>MULTD F2,F0,</a:t>
            </a:r>
            <a:r>
              <a:rPr lang="en-US" altLang="zh-CN" sz="2000" b="1" i="1" u="sng" dirty="0" smtClean="0">
                <a:solidFill>
                  <a:schemeClr val="hlink"/>
                </a:solidFill>
                <a:latin typeface="Courier New" panose="02070309020205020404" pitchFamily="49" charset="0"/>
                <a:cs typeface="Courier New" panose="02070309020205020404" pitchFamily="49" charset="0"/>
              </a:rPr>
              <a:t>F2</a:t>
            </a:r>
            <a:r>
              <a:rPr lang="en-US" altLang="zh-CN" sz="2000" b="1" dirty="0">
                <a:latin typeface="Courier New" panose="02070309020205020404" pitchFamily="49" charset="0"/>
                <a:cs typeface="Courier New" panose="02070309020205020404" pitchFamily="49" charset="0"/>
              </a:rPr>
              <a:t> </a:t>
            </a:r>
            <a:r>
              <a:rPr lang="en-US" altLang="zh-CN" sz="2000" b="1" dirty="0" smtClean="0">
                <a:latin typeface="Courier New" panose="02070309020205020404" pitchFamily="49" charset="0"/>
                <a:cs typeface="Courier New" panose="02070309020205020404" pitchFamily="49" charset="0"/>
              </a:rPr>
              <a:t> </a:t>
            </a:r>
            <a:r>
              <a:rPr lang="en-US" altLang="zh-CN" sz="2000" dirty="0"/>
              <a:t>;a*X(</a:t>
            </a:r>
            <a:r>
              <a:rPr lang="en-US" altLang="zh-CN" sz="2000" dirty="0" err="1"/>
              <a:t>i</a:t>
            </a:r>
            <a:r>
              <a:rPr lang="en-US" altLang="zh-CN" sz="2000" dirty="0"/>
              <a:t>)</a:t>
            </a:r>
          </a:p>
          <a:p>
            <a:pPr marL="514350" indent="-514350">
              <a:buNone/>
              <a:tabLst>
                <a:tab pos="1485900" algn="l"/>
                <a:tab pos="2800350" algn="l"/>
              </a:tabLst>
            </a:pPr>
            <a:r>
              <a:rPr lang="en-US" altLang="zh-CN" sz="2000" b="1" dirty="0">
                <a:latin typeface="Courier New" panose="02070309020205020404" pitchFamily="49" charset="0"/>
                <a:cs typeface="Courier New" panose="02070309020205020404" pitchFamily="49" charset="0"/>
              </a:rPr>
              <a:t>	  LD	</a:t>
            </a:r>
            <a:r>
              <a:rPr lang="en-US" altLang="zh-CN" sz="2000" b="1" u="sng" dirty="0">
                <a:solidFill>
                  <a:schemeClr val="accent2"/>
                </a:solidFill>
                <a:latin typeface="Courier New" panose="02070309020205020404" pitchFamily="49" charset="0"/>
                <a:cs typeface="Courier New" panose="02070309020205020404" pitchFamily="49" charset="0"/>
              </a:rPr>
              <a:t>F4</a:t>
            </a:r>
            <a:r>
              <a:rPr lang="en-US" altLang="zh-CN" sz="2000" b="1" dirty="0">
                <a:latin typeface="Courier New" panose="02070309020205020404" pitchFamily="49" charset="0"/>
                <a:cs typeface="Courier New" panose="02070309020205020404" pitchFamily="49" charset="0"/>
              </a:rPr>
              <a:t>, 0(Ry</a:t>
            </a:r>
            <a:r>
              <a:rPr lang="en-US" altLang="zh-CN" sz="2000" b="1" dirty="0" smtClean="0">
                <a:latin typeface="Courier New" panose="02070309020205020404" pitchFamily="49" charset="0"/>
                <a:cs typeface="Courier New" panose="02070309020205020404" pitchFamily="49" charset="0"/>
              </a:rPr>
              <a:t>)   </a:t>
            </a:r>
            <a:r>
              <a:rPr lang="en-US" altLang="zh-CN" sz="2000" dirty="0"/>
              <a:t>;</a:t>
            </a:r>
            <a:r>
              <a:rPr lang="en-US" altLang="zh-CN" sz="2000" dirty="0"/>
              <a:t>load Y(</a:t>
            </a:r>
            <a:r>
              <a:rPr lang="en-US" altLang="zh-CN" sz="2000" dirty="0" err="1"/>
              <a:t>i</a:t>
            </a:r>
            <a:r>
              <a:rPr lang="en-US" altLang="zh-CN" sz="2000" dirty="0"/>
              <a:t>)</a:t>
            </a:r>
            <a:r>
              <a:rPr lang="en-US" altLang="zh-CN" sz="2000" b="1" dirty="0">
                <a:latin typeface="Courier New" panose="02070309020205020404" pitchFamily="49" charset="0"/>
                <a:cs typeface="Courier New" panose="02070309020205020404" pitchFamily="49" charset="0"/>
              </a:rPr>
              <a:t>	</a:t>
            </a:r>
          </a:p>
          <a:p>
            <a:pPr marL="514350" indent="-514350">
              <a:buNone/>
              <a:tabLst>
                <a:tab pos="1485900" algn="l"/>
                <a:tab pos="2800350" algn="l"/>
              </a:tabLst>
            </a:pPr>
            <a:r>
              <a:rPr lang="en-US" altLang="zh-CN" sz="2000" b="1" dirty="0">
                <a:latin typeface="Courier New" panose="02070309020205020404" pitchFamily="49" charset="0"/>
                <a:cs typeface="Courier New" panose="02070309020205020404" pitchFamily="49" charset="0"/>
              </a:rPr>
              <a:t>	  ADDD	</a:t>
            </a:r>
            <a:r>
              <a:rPr lang="en-US" altLang="zh-CN" sz="2000" b="1" u="sng" dirty="0">
                <a:solidFill>
                  <a:schemeClr val="accent2"/>
                </a:solidFill>
                <a:latin typeface="Courier New" panose="02070309020205020404" pitchFamily="49" charset="0"/>
                <a:cs typeface="Courier New" panose="02070309020205020404" pitchFamily="49" charset="0"/>
              </a:rPr>
              <a:t>F4</a:t>
            </a:r>
            <a:r>
              <a:rPr lang="en-US" altLang="zh-CN" sz="2000" b="1" dirty="0">
                <a:latin typeface="Courier New" panose="02070309020205020404" pitchFamily="49" charset="0"/>
                <a:cs typeface="Courier New" panose="02070309020205020404" pitchFamily="49" charset="0"/>
              </a:rPr>
              <a:t>,F2, </a:t>
            </a:r>
            <a:r>
              <a:rPr lang="en-US" altLang="zh-CN" sz="2000" b="1" i="1" u="sng" dirty="0" smtClean="0">
                <a:solidFill>
                  <a:schemeClr val="hlink"/>
                </a:solidFill>
                <a:latin typeface="Courier New" panose="02070309020205020404" pitchFamily="49" charset="0"/>
                <a:cs typeface="Courier New" panose="02070309020205020404" pitchFamily="49" charset="0"/>
              </a:rPr>
              <a:t>F4</a:t>
            </a:r>
            <a:r>
              <a:rPr lang="en-US" altLang="zh-CN" sz="2000" b="1" dirty="0">
                <a:latin typeface="Courier New" panose="02070309020205020404" pitchFamily="49" charset="0"/>
                <a:cs typeface="Courier New" panose="02070309020205020404" pitchFamily="49" charset="0"/>
              </a:rPr>
              <a:t> </a:t>
            </a:r>
            <a:r>
              <a:rPr lang="en-US" altLang="zh-CN" sz="2000" b="1" dirty="0" smtClean="0">
                <a:latin typeface="Courier New" panose="02070309020205020404" pitchFamily="49" charset="0"/>
                <a:cs typeface="Courier New" panose="02070309020205020404" pitchFamily="49" charset="0"/>
              </a:rPr>
              <a:t>  </a:t>
            </a:r>
            <a:r>
              <a:rPr lang="en-US" altLang="zh-CN" sz="2000" dirty="0"/>
              <a:t>;a*X(</a:t>
            </a:r>
            <a:r>
              <a:rPr lang="en-US" altLang="zh-CN" sz="2000" dirty="0" err="1"/>
              <a:t>i</a:t>
            </a:r>
            <a:r>
              <a:rPr lang="en-US" altLang="zh-CN" sz="2000" dirty="0"/>
              <a:t>) + Y(</a:t>
            </a:r>
            <a:r>
              <a:rPr lang="en-US" altLang="zh-CN" sz="2000" dirty="0" err="1"/>
              <a:t>i</a:t>
            </a:r>
            <a:r>
              <a:rPr lang="en-US" altLang="zh-CN" sz="2000" dirty="0"/>
              <a:t>)</a:t>
            </a:r>
          </a:p>
          <a:p>
            <a:pPr marL="514350" indent="-514350">
              <a:buNone/>
              <a:tabLst>
                <a:tab pos="1485900" algn="l"/>
                <a:tab pos="2800350" algn="l"/>
              </a:tabLst>
            </a:pPr>
            <a:r>
              <a:rPr lang="en-US" altLang="zh-CN" sz="2000" b="1" dirty="0">
                <a:latin typeface="Courier New" panose="02070309020205020404" pitchFamily="49" charset="0"/>
                <a:cs typeface="Courier New" panose="02070309020205020404" pitchFamily="49" charset="0"/>
              </a:rPr>
              <a:t>	  SD	</a:t>
            </a:r>
            <a:r>
              <a:rPr lang="en-US" altLang="zh-CN" sz="2000" b="1" i="1" u="sng" dirty="0">
                <a:solidFill>
                  <a:schemeClr val="hlink"/>
                </a:solidFill>
                <a:latin typeface="Courier New" panose="02070309020205020404" pitchFamily="49" charset="0"/>
                <a:cs typeface="Courier New" panose="02070309020205020404" pitchFamily="49" charset="0"/>
              </a:rPr>
              <a:t>F4</a:t>
            </a:r>
            <a:r>
              <a:rPr lang="en-US" altLang="zh-CN" sz="2000" b="1" u="sng" dirty="0">
                <a:latin typeface="Courier New" panose="02070309020205020404" pitchFamily="49" charset="0"/>
                <a:cs typeface="Courier New" panose="02070309020205020404" pitchFamily="49" charset="0"/>
              </a:rPr>
              <a:t> </a:t>
            </a:r>
            <a:r>
              <a:rPr lang="en-US" altLang="zh-CN" sz="2000" b="1" dirty="0">
                <a:latin typeface="Courier New" panose="02070309020205020404" pitchFamily="49" charset="0"/>
                <a:cs typeface="Courier New" panose="02070309020205020404" pitchFamily="49" charset="0"/>
              </a:rPr>
              <a:t>,0(Ry</a:t>
            </a:r>
            <a:r>
              <a:rPr lang="en-US" altLang="zh-CN" sz="2000" b="1" dirty="0" smtClean="0">
                <a:latin typeface="Courier New" panose="02070309020205020404" pitchFamily="49" charset="0"/>
                <a:cs typeface="Courier New" panose="02070309020205020404" pitchFamily="49" charset="0"/>
              </a:rPr>
              <a:t>)   </a:t>
            </a:r>
            <a:r>
              <a:rPr lang="en-US" altLang="zh-CN" sz="2000" dirty="0"/>
              <a:t>;</a:t>
            </a:r>
            <a:r>
              <a:rPr lang="en-US" altLang="zh-CN" sz="2000" dirty="0"/>
              <a:t>store into Y(</a:t>
            </a:r>
            <a:r>
              <a:rPr lang="en-US" altLang="zh-CN" sz="2000" dirty="0" err="1"/>
              <a:t>i</a:t>
            </a:r>
            <a:r>
              <a:rPr lang="en-US" altLang="zh-CN" sz="2000" dirty="0"/>
              <a:t>)</a:t>
            </a:r>
          </a:p>
          <a:p>
            <a:pPr marL="514350" indent="-514350">
              <a:buNone/>
              <a:tabLst>
                <a:tab pos="1485900" algn="l"/>
                <a:tab pos="2800350" algn="l"/>
              </a:tabLst>
            </a:pPr>
            <a:r>
              <a:rPr lang="en-US" altLang="zh-CN" sz="2000" b="1" dirty="0">
                <a:latin typeface="Courier New" panose="02070309020205020404" pitchFamily="49" charset="0"/>
                <a:cs typeface="Courier New" panose="02070309020205020404" pitchFamily="49" charset="0"/>
              </a:rPr>
              <a:t>	  ADDI	Rx,Rx,#8	</a:t>
            </a:r>
            <a:r>
              <a:rPr lang="en-US" altLang="zh-CN" sz="2000" b="1" dirty="0" smtClean="0">
                <a:latin typeface="Courier New" panose="02070309020205020404" pitchFamily="49" charset="0"/>
                <a:cs typeface="Courier New" panose="02070309020205020404" pitchFamily="49" charset="0"/>
              </a:rPr>
              <a:t>   </a:t>
            </a:r>
            <a:r>
              <a:rPr lang="en-US" altLang="zh-CN" sz="2000" dirty="0"/>
              <a:t>;</a:t>
            </a:r>
            <a:r>
              <a:rPr lang="en-US" altLang="zh-CN" sz="2000" dirty="0"/>
              <a:t>increment index to X</a:t>
            </a:r>
          </a:p>
          <a:p>
            <a:pPr marL="514350" indent="-514350">
              <a:buNone/>
              <a:tabLst>
                <a:tab pos="1485900" algn="l"/>
                <a:tab pos="2800350" algn="l"/>
              </a:tabLst>
            </a:pPr>
            <a:r>
              <a:rPr lang="en-US" altLang="zh-CN" sz="2000" b="1" dirty="0">
                <a:latin typeface="Courier New" panose="02070309020205020404" pitchFamily="49" charset="0"/>
                <a:cs typeface="Courier New" panose="02070309020205020404" pitchFamily="49" charset="0"/>
              </a:rPr>
              <a:t>	  ADDI	Ry,Ry,#8	</a:t>
            </a:r>
            <a:r>
              <a:rPr lang="en-US" altLang="zh-CN" sz="2000" b="1" dirty="0" smtClean="0">
                <a:latin typeface="Courier New" panose="02070309020205020404" pitchFamily="49" charset="0"/>
                <a:cs typeface="Courier New" panose="02070309020205020404" pitchFamily="49" charset="0"/>
              </a:rPr>
              <a:t>   </a:t>
            </a:r>
            <a:r>
              <a:rPr lang="en-US" altLang="zh-CN" sz="2000" dirty="0"/>
              <a:t>;</a:t>
            </a:r>
            <a:r>
              <a:rPr lang="en-US" altLang="zh-CN" sz="2000" dirty="0"/>
              <a:t>increment index to Y</a:t>
            </a:r>
          </a:p>
          <a:p>
            <a:pPr marL="514350" indent="-514350">
              <a:buNone/>
              <a:tabLst>
                <a:tab pos="1485900" algn="l"/>
                <a:tab pos="2800350" algn="l"/>
              </a:tabLst>
            </a:pPr>
            <a:r>
              <a:rPr lang="en-US" altLang="zh-CN" sz="2000" b="1" dirty="0">
                <a:latin typeface="Courier New" panose="02070309020205020404" pitchFamily="49" charset="0"/>
                <a:cs typeface="Courier New" panose="02070309020205020404" pitchFamily="49" charset="0"/>
              </a:rPr>
              <a:t>	  SUB	</a:t>
            </a:r>
            <a:r>
              <a:rPr lang="en-US" altLang="zh-CN" sz="2000" b="1" dirty="0" smtClean="0">
                <a:latin typeface="Courier New" panose="02070309020205020404" pitchFamily="49" charset="0"/>
                <a:cs typeface="Courier New" panose="02070309020205020404" pitchFamily="49" charset="0"/>
              </a:rPr>
              <a:t>R20,R4,Rx   </a:t>
            </a:r>
            <a:r>
              <a:rPr lang="en-US" altLang="zh-CN" sz="2000" dirty="0"/>
              <a:t>;compute </a:t>
            </a:r>
            <a:r>
              <a:rPr lang="en-US" altLang="zh-CN" sz="2000" dirty="0"/>
              <a:t>bound</a:t>
            </a:r>
          </a:p>
          <a:p>
            <a:pPr marL="514350" indent="-514350">
              <a:buNone/>
              <a:tabLst>
                <a:tab pos="1485900" algn="l"/>
                <a:tab pos="2800350" algn="l"/>
              </a:tabLst>
            </a:pPr>
            <a:r>
              <a:rPr lang="en-US" altLang="zh-CN" sz="2000" b="1" dirty="0">
                <a:latin typeface="Courier New" panose="02070309020205020404" pitchFamily="49" charset="0"/>
                <a:cs typeface="Courier New" panose="02070309020205020404" pitchFamily="49" charset="0"/>
              </a:rPr>
              <a:t>	  BNZ	R20,loop	</a:t>
            </a:r>
            <a:r>
              <a:rPr lang="en-US" altLang="zh-CN" sz="2000" b="1" dirty="0" smtClean="0">
                <a:latin typeface="Courier New" panose="02070309020205020404" pitchFamily="49" charset="0"/>
                <a:cs typeface="Courier New" panose="02070309020205020404" pitchFamily="49" charset="0"/>
              </a:rPr>
              <a:t>   </a:t>
            </a:r>
            <a:r>
              <a:rPr lang="en-US" altLang="zh-CN" sz="2000" b="1" dirty="0"/>
              <a:t> </a:t>
            </a:r>
            <a:r>
              <a:rPr lang="en-US" altLang="zh-CN" sz="2000" dirty="0" smtClean="0"/>
              <a:t>;</a:t>
            </a:r>
            <a:r>
              <a:rPr lang="en-US" altLang="zh-CN" sz="2000" dirty="0"/>
              <a:t>check if done</a:t>
            </a:r>
          </a:p>
        </p:txBody>
      </p:sp>
      <p:sp>
        <p:nvSpPr>
          <p:cNvPr id="21508" name="Rectangle 4"/>
          <p:cNvSpPr>
            <a:spLocks noChangeArrowheads="1"/>
          </p:cNvSpPr>
          <p:nvPr/>
        </p:nvSpPr>
        <p:spPr bwMode="auto">
          <a:xfrm>
            <a:off x="6672064" y="1556792"/>
            <a:ext cx="5760640" cy="225497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3500" tIns="25400" rIns="63500" bIns="25400">
            <a:spAutoFit/>
          </a:bodyPr>
          <a:lstStyle>
            <a:lvl1pPr marL="342900" indent="-342900">
              <a:tabLst>
                <a:tab pos="1200150" algn="l"/>
                <a:tab pos="2400300" algn="l"/>
              </a:tabLst>
              <a:defRPr kumimoji="1" sz="2400">
                <a:solidFill>
                  <a:schemeClr val="tx1"/>
                </a:solidFill>
                <a:latin typeface="Times New Roman" panose="02020603050405020304" pitchFamily="18" charset="0"/>
                <a:ea typeface="宋体" panose="02010600030101010101" pitchFamily="2" charset="-122"/>
              </a:defRPr>
            </a:lvl1pPr>
            <a:lvl2pPr marL="800100" indent="-342900">
              <a:tabLst>
                <a:tab pos="1200150" algn="l"/>
                <a:tab pos="2400300" algn="l"/>
              </a:tabLst>
              <a:defRPr kumimoji="1" sz="2400">
                <a:solidFill>
                  <a:schemeClr val="tx1"/>
                </a:solidFill>
                <a:latin typeface="Times New Roman" panose="02020603050405020304" pitchFamily="18" charset="0"/>
                <a:ea typeface="宋体" panose="02010600030101010101" pitchFamily="2" charset="-122"/>
              </a:defRPr>
            </a:lvl2pPr>
            <a:lvl3pPr marL="1257300" indent="-342900">
              <a:tabLst>
                <a:tab pos="1200150" algn="l"/>
                <a:tab pos="2400300" algn="l"/>
              </a:tabLst>
              <a:defRPr kumimoji="1" sz="2400">
                <a:solidFill>
                  <a:schemeClr val="tx1"/>
                </a:solidFill>
                <a:latin typeface="Times New Roman" panose="02020603050405020304" pitchFamily="18" charset="0"/>
                <a:ea typeface="宋体" panose="02010600030101010101" pitchFamily="2" charset="-122"/>
              </a:defRPr>
            </a:lvl3pPr>
            <a:lvl4pPr marL="1714500" indent="-342900">
              <a:tabLst>
                <a:tab pos="1200150" algn="l"/>
                <a:tab pos="2400300" algn="l"/>
              </a:tabLst>
              <a:defRPr kumimoji="1" sz="2400">
                <a:solidFill>
                  <a:schemeClr val="tx1"/>
                </a:solidFill>
                <a:latin typeface="Times New Roman" panose="02020603050405020304" pitchFamily="18" charset="0"/>
                <a:ea typeface="宋体" panose="02010600030101010101" pitchFamily="2" charset="-122"/>
              </a:defRPr>
            </a:lvl4pPr>
            <a:lvl5pPr marL="2171700" indent="-342900">
              <a:tabLst>
                <a:tab pos="1200150" algn="l"/>
                <a:tab pos="2400300" algn="l"/>
              </a:tabLst>
              <a:defRPr kumimoji="1" sz="2400">
                <a:solidFill>
                  <a:schemeClr val="tx1"/>
                </a:solidFill>
                <a:latin typeface="Times New Roman" panose="02020603050405020304" pitchFamily="18" charset="0"/>
                <a:ea typeface="宋体" panose="02010600030101010101" pitchFamily="2" charset="-122"/>
              </a:defRPr>
            </a:lvl5pPr>
            <a:lvl6pPr marL="2628900" indent="-342900" fontAlgn="base">
              <a:spcBef>
                <a:spcPct val="0"/>
              </a:spcBef>
              <a:spcAft>
                <a:spcPct val="0"/>
              </a:spcAft>
              <a:tabLst>
                <a:tab pos="1200150" algn="l"/>
                <a:tab pos="2400300" algn="l"/>
              </a:tabLst>
              <a:defRPr kumimoji="1" sz="2400">
                <a:solidFill>
                  <a:schemeClr val="tx1"/>
                </a:solidFill>
                <a:latin typeface="Times New Roman" panose="02020603050405020304" pitchFamily="18" charset="0"/>
                <a:ea typeface="宋体" panose="02010600030101010101" pitchFamily="2" charset="-122"/>
              </a:defRPr>
            </a:lvl6pPr>
            <a:lvl7pPr marL="3086100" indent="-342900" fontAlgn="base">
              <a:spcBef>
                <a:spcPct val="0"/>
              </a:spcBef>
              <a:spcAft>
                <a:spcPct val="0"/>
              </a:spcAft>
              <a:tabLst>
                <a:tab pos="1200150" algn="l"/>
                <a:tab pos="2400300" algn="l"/>
              </a:tabLst>
              <a:defRPr kumimoji="1" sz="2400">
                <a:solidFill>
                  <a:schemeClr val="tx1"/>
                </a:solidFill>
                <a:latin typeface="Times New Roman" panose="02020603050405020304" pitchFamily="18" charset="0"/>
                <a:ea typeface="宋体" panose="02010600030101010101" pitchFamily="2" charset="-122"/>
              </a:defRPr>
            </a:lvl7pPr>
            <a:lvl8pPr marL="3543300" indent="-342900" fontAlgn="base">
              <a:spcBef>
                <a:spcPct val="0"/>
              </a:spcBef>
              <a:spcAft>
                <a:spcPct val="0"/>
              </a:spcAft>
              <a:tabLst>
                <a:tab pos="1200150" algn="l"/>
                <a:tab pos="2400300" algn="l"/>
              </a:tabLst>
              <a:defRPr kumimoji="1" sz="2400">
                <a:solidFill>
                  <a:schemeClr val="tx1"/>
                </a:solidFill>
                <a:latin typeface="Times New Roman" panose="02020603050405020304" pitchFamily="18" charset="0"/>
                <a:ea typeface="宋体" panose="02010600030101010101" pitchFamily="2" charset="-122"/>
              </a:defRPr>
            </a:lvl8pPr>
            <a:lvl9pPr marL="4000500" indent="-342900" fontAlgn="base">
              <a:spcBef>
                <a:spcPct val="0"/>
              </a:spcBef>
              <a:spcAft>
                <a:spcPct val="0"/>
              </a:spcAft>
              <a:tabLst>
                <a:tab pos="1200150" algn="l"/>
                <a:tab pos="2400300" algn="l"/>
              </a:tabLst>
              <a:defRPr kumimoji="1" sz="2400">
                <a:solidFill>
                  <a:schemeClr val="tx1"/>
                </a:solidFill>
                <a:latin typeface="Times New Roman" panose="02020603050405020304" pitchFamily="18" charset="0"/>
                <a:ea typeface="宋体" panose="02010600030101010101" pitchFamily="2" charset="-122"/>
              </a:defRPr>
            </a:lvl9pPr>
          </a:lstStyle>
          <a:p>
            <a:pPr>
              <a:lnSpc>
                <a:spcPct val="86000"/>
              </a:lnSpc>
              <a:spcBef>
                <a:spcPct val="40000"/>
              </a:spcBef>
            </a:pPr>
            <a:r>
              <a:rPr lang="en-US" altLang="zh-CN" sz="2000" b="1" dirty="0">
                <a:solidFill>
                  <a:srgbClr val="FF0000"/>
                </a:solidFill>
                <a:latin typeface="Courier New" panose="02070309020205020404" pitchFamily="49" charset="0"/>
                <a:cs typeface="Courier New" panose="02070309020205020404" pitchFamily="49" charset="0"/>
              </a:rPr>
              <a:t>	LD  </a:t>
            </a:r>
            <a:r>
              <a:rPr lang="en-US" altLang="zh-CN" sz="2000" b="1" dirty="0" smtClean="0">
                <a:solidFill>
                  <a:srgbClr val="FF0000"/>
                </a:solidFill>
                <a:latin typeface="Courier New" panose="02070309020205020404" pitchFamily="49" charset="0"/>
                <a:cs typeface="Courier New" panose="02070309020205020404" pitchFamily="49" charset="0"/>
              </a:rPr>
              <a:t>F0,a</a:t>
            </a:r>
            <a:r>
              <a:rPr lang="en-US" altLang="zh-CN" sz="2000" b="1" dirty="0">
                <a:solidFill>
                  <a:srgbClr val="FF0000"/>
                </a:solidFill>
                <a:latin typeface="Courier New" panose="02070309020205020404" pitchFamily="49" charset="0"/>
                <a:cs typeface="Courier New" panose="02070309020205020404" pitchFamily="49" charset="0"/>
              </a:rPr>
              <a:t>	</a:t>
            </a:r>
            <a:r>
              <a:rPr lang="en-US" altLang="zh-CN" sz="2000" b="1" dirty="0" smtClean="0">
                <a:solidFill>
                  <a:srgbClr val="FF0000"/>
                </a:solidFill>
                <a:latin typeface="Courier New" panose="02070309020205020404" pitchFamily="49" charset="0"/>
                <a:cs typeface="Courier New" panose="02070309020205020404" pitchFamily="49" charset="0"/>
              </a:rPr>
              <a:t>	</a:t>
            </a:r>
            <a:r>
              <a:rPr lang="en-US" altLang="zh-CN" sz="2000" dirty="0" smtClean="0">
                <a:solidFill>
                  <a:srgbClr val="FF0000"/>
                </a:solidFill>
                <a:latin typeface="Arial" panose="020B0604020202020204" pitchFamily="34" charset="0"/>
                <a:cs typeface="Arial" panose="020B0604020202020204" pitchFamily="34" charset="0"/>
              </a:rPr>
              <a:t>;</a:t>
            </a:r>
            <a:r>
              <a:rPr lang="en-US" altLang="zh-CN" sz="2000" dirty="0">
                <a:solidFill>
                  <a:srgbClr val="FF0000"/>
                </a:solidFill>
                <a:latin typeface="Arial" panose="020B0604020202020204" pitchFamily="34" charset="0"/>
                <a:cs typeface="Arial" panose="020B0604020202020204" pitchFamily="34" charset="0"/>
              </a:rPr>
              <a:t>load scalar a</a:t>
            </a:r>
          </a:p>
          <a:p>
            <a:pPr>
              <a:lnSpc>
                <a:spcPct val="86000"/>
              </a:lnSpc>
              <a:spcBef>
                <a:spcPct val="40000"/>
              </a:spcBef>
            </a:pPr>
            <a:r>
              <a:rPr lang="en-US" altLang="zh-CN" sz="2000" b="1" dirty="0">
                <a:solidFill>
                  <a:srgbClr val="FF0000"/>
                </a:solidFill>
                <a:latin typeface="Courier New" panose="02070309020205020404" pitchFamily="49" charset="0"/>
                <a:cs typeface="Courier New" panose="02070309020205020404" pitchFamily="49" charset="0"/>
              </a:rPr>
              <a:t>	LV  </a:t>
            </a:r>
            <a:r>
              <a:rPr lang="en-US" altLang="zh-CN" sz="2000" b="1" dirty="0" smtClean="0">
                <a:solidFill>
                  <a:srgbClr val="FF0000"/>
                </a:solidFill>
                <a:latin typeface="Courier New" panose="02070309020205020404" pitchFamily="49" charset="0"/>
                <a:cs typeface="Courier New" panose="02070309020205020404" pitchFamily="49" charset="0"/>
              </a:rPr>
              <a:t>V1,Rx</a:t>
            </a:r>
            <a:r>
              <a:rPr lang="en-US" altLang="zh-CN" sz="2000" b="1" dirty="0">
                <a:solidFill>
                  <a:srgbClr val="FF0000"/>
                </a:solidFill>
                <a:latin typeface="Courier New" panose="02070309020205020404" pitchFamily="49" charset="0"/>
                <a:cs typeface="Courier New" panose="02070309020205020404" pitchFamily="49" charset="0"/>
              </a:rPr>
              <a:t>	</a:t>
            </a:r>
            <a:r>
              <a:rPr lang="en-US" altLang="zh-CN" sz="2000" b="1" dirty="0" smtClean="0">
                <a:solidFill>
                  <a:srgbClr val="FF0000"/>
                </a:solidFill>
                <a:latin typeface="Courier New" panose="02070309020205020404" pitchFamily="49" charset="0"/>
                <a:cs typeface="Courier New" panose="02070309020205020404" pitchFamily="49" charset="0"/>
              </a:rPr>
              <a:t>	</a:t>
            </a:r>
            <a:r>
              <a:rPr lang="en-US" altLang="zh-CN" sz="2000" dirty="0" smtClean="0">
                <a:solidFill>
                  <a:srgbClr val="FF0000"/>
                </a:solidFill>
                <a:latin typeface="Arial" panose="020B0604020202020204" pitchFamily="34" charset="0"/>
                <a:cs typeface="Arial" panose="020B0604020202020204" pitchFamily="34" charset="0"/>
              </a:rPr>
              <a:t>;</a:t>
            </a:r>
            <a:r>
              <a:rPr lang="en-US" altLang="zh-CN" sz="2000" dirty="0">
                <a:solidFill>
                  <a:srgbClr val="FF0000"/>
                </a:solidFill>
                <a:latin typeface="Arial" panose="020B0604020202020204" pitchFamily="34" charset="0"/>
                <a:cs typeface="Arial" panose="020B0604020202020204" pitchFamily="34" charset="0"/>
              </a:rPr>
              <a:t>load vector X</a:t>
            </a:r>
          </a:p>
          <a:p>
            <a:pPr>
              <a:lnSpc>
                <a:spcPct val="86000"/>
              </a:lnSpc>
              <a:spcBef>
                <a:spcPct val="40000"/>
              </a:spcBef>
            </a:pPr>
            <a:r>
              <a:rPr lang="en-US" altLang="zh-CN" sz="2000" b="1" dirty="0">
                <a:solidFill>
                  <a:srgbClr val="FF0000"/>
                </a:solidFill>
                <a:latin typeface="Courier New" panose="02070309020205020404" pitchFamily="49" charset="0"/>
                <a:cs typeface="Courier New" panose="02070309020205020404" pitchFamily="49" charset="0"/>
              </a:rPr>
              <a:t>	MULTS </a:t>
            </a:r>
            <a:r>
              <a:rPr lang="en-US" altLang="zh-CN" sz="2000" b="1" dirty="0" smtClean="0">
                <a:solidFill>
                  <a:srgbClr val="FF0000"/>
                </a:solidFill>
                <a:latin typeface="Courier New" panose="02070309020205020404" pitchFamily="49" charset="0"/>
                <a:cs typeface="Courier New" panose="02070309020205020404" pitchFamily="49" charset="0"/>
              </a:rPr>
              <a:t>V2,F0,V1 	</a:t>
            </a:r>
            <a:r>
              <a:rPr lang="en-US" altLang="zh-CN" sz="2000" dirty="0" smtClean="0">
                <a:solidFill>
                  <a:srgbClr val="FF0000"/>
                </a:solidFill>
                <a:latin typeface="Arial" panose="020B0604020202020204" pitchFamily="34" charset="0"/>
                <a:cs typeface="Arial" panose="020B0604020202020204" pitchFamily="34" charset="0"/>
              </a:rPr>
              <a:t>;</a:t>
            </a:r>
            <a:r>
              <a:rPr lang="en-US" altLang="zh-CN" sz="2000" dirty="0">
                <a:solidFill>
                  <a:srgbClr val="FF0000"/>
                </a:solidFill>
                <a:latin typeface="Arial" panose="020B0604020202020204" pitchFamily="34" charset="0"/>
                <a:cs typeface="Arial" panose="020B0604020202020204" pitchFamily="34" charset="0"/>
              </a:rPr>
              <a:t>v</a:t>
            </a:r>
            <a:r>
              <a:rPr lang="en-US" altLang="zh-CN" sz="2000" dirty="0">
                <a:solidFill>
                  <a:srgbClr val="FF0000"/>
                </a:solidFill>
                <a:latin typeface="Arial" panose="020B0604020202020204" pitchFamily="34" charset="0"/>
                <a:cs typeface="Arial" panose="020B0604020202020204" pitchFamily="34" charset="0"/>
              </a:rPr>
              <a:t>ector-scalar </a:t>
            </a:r>
            <a:r>
              <a:rPr lang="en-US" altLang="zh-CN" sz="2000" dirty="0" err="1" smtClean="0">
                <a:solidFill>
                  <a:srgbClr val="FF0000"/>
                </a:solidFill>
                <a:latin typeface="Arial" panose="020B0604020202020204" pitchFamily="34" charset="0"/>
                <a:cs typeface="Arial" panose="020B0604020202020204" pitchFamily="34" charset="0"/>
              </a:rPr>
              <a:t>mult</a:t>
            </a:r>
            <a:r>
              <a:rPr lang="en-US" altLang="zh-CN" sz="2000" dirty="0" smtClean="0">
                <a:solidFill>
                  <a:srgbClr val="FF0000"/>
                </a:solidFill>
                <a:latin typeface="Arial" panose="020B0604020202020204" pitchFamily="34" charset="0"/>
                <a:cs typeface="Arial" panose="020B0604020202020204" pitchFamily="34" charset="0"/>
              </a:rPr>
              <a:t>.</a:t>
            </a:r>
            <a:endParaRPr lang="en-US" altLang="zh-CN" sz="2000" dirty="0">
              <a:solidFill>
                <a:srgbClr val="FF0000"/>
              </a:solidFill>
              <a:latin typeface="Arial" panose="020B0604020202020204" pitchFamily="34" charset="0"/>
              <a:cs typeface="Arial" panose="020B0604020202020204" pitchFamily="34" charset="0"/>
            </a:endParaRPr>
          </a:p>
          <a:p>
            <a:pPr>
              <a:lnSpc>
                <a:spcPct val="86000"/>
              </a:lnSpc>
              <a:spcBef>
                <a:spcPct val="40000"/>
              </a:spcBef>
            </a:pPr>
            <a:r>
              <a:rPr lang="en-US" altLang="zh-CN" sz="2000" b="1" dirty="0">
                <a:solidFill>
                  <a:srgbClr val="FF0000"/>
                </a:solidFill>
                <a:latin typeface="Courier New" panose="02070309020205020404" pitchFamily="49" charset="0"/>
                <a:cs typeface="Courier New" panose="02070309020205020404" pitchFamily="49" charset="0"/>
              </a:rPr>
              <a:t>	</a:t>
            </a:r>
            <a:r>
              <a:rPr lang="en-US" altLang="zh-CN" sz="2000" b="1" dirty="0" smtClean="0">
                <a:solidFill>
                  <a:srgbClr val="FF0000"/>
                </a:solidFill>
                <a:latin typeface="Courier New" panose="02070309020205020404" pitchFamily="49" charset="0"/>
                <a:cs typeface="Courier New" panose="02070309020205020404" pitchFamily="49" charset="0"/>
              </a:rPr>
              <a:t>LV  V3,Ry</a:t>
            </a:r>
            <a:r>
              <a:rPr lang="en-US" altLang="zh-CN" sz="2000" b="1" dirty="0">
                <a:solidFill>
                  <a:srgbClr val="FF0000"/>
                </a:solidFill>
                <a:latin typeface="Courier New" panose="02070309020205020404" pitchFamily="49" charset="0"/>
                <a:cs typeface="Courier New" panose="02070309020205020404" pitchFamily="49" charset="0"/>
              </a:rPr>
              <a:t>	</a:t>
            </a:r>
            <a:r>
              <a:rPr lang="en-US" altLang="zh-CN" sz="2000" b="1" dirty="0" smtClean="0">
                <a:solidFill>
                  <a:srgbClr val="FF0000"/>
                </a:solidFill>
                <a:latin typeface="Courier New" panose="02070309020205020404" pitchFamily="49" charset="0"/>
                <a:cs typeface="Courier New" panose="02070309020205020404" pitchFamily="49" charset="0"/>
              </a:rPr>
              <a:t>	</a:t>
            </a:r>
            <a:r>
              <a:rPr lang="en-US" altLang="zh-CN" sz="2000" dirty="0" smtClean="0">
                <a:solidFill>
                  <a:srgbClr val="FF0000"/>
                </a:solidFill>
                <a:latin typeface="Arial" panose="020B0604020202020204" pitchFamily="34" charset="0"/>
                <a:cs typeface="Arial" panose="020B0604020202020204" pitchFamily="34" charset="0"/>
              </a:rPr>
              <a:t>;</a:t>
            </a:r>
            <a:r>
              <a:rPr lang="en-US" altLang="zh-CN" sz="2000" dirty="0">
                <a:solidFill>
                  <a:srgbClr val="FF0000"/>
                </a:solidFill>
                <a:latin typeface="Arial" panose="020B0604020202020204" pitchFamily="34" charset="0"/>
                <a:cs typeface="Arial" panose="020B0604020202020204" pitchFamily="34" charset="0"/>
              </a:rPr>
              <a:t>load vector Y</a:t>
            </a:r>
          </a:p>
          <a:p>
            <a:pPr>
              <a:lnSpc>
                <a:spcPct val="86000"/>
              </a:lnSpc>
              <a:spcBef>
                <a:spcPct val="40000"/>
              </a:spcBef>
            </a:pPr>
            <a:r>
              <a:rPr lang="en-US" altLang="zh-CN" sz="2000" b="1" dirty="0">
                <a:solidFill>
                  <a:srgbClr val="FF0000"/>
                </a:solidFill>
                <a:latin typeface="Courier New" panose="02070309020205020404" pitchFamily="49" charset="0"/>
                <a:cs typeface="Courier New" panose="02070309020205020404" pitchFamily="49" charset="0"/>
              </a:rPr>
              <a:t>	ADDV	V4,V2,V3	</a:t>
            </a:r>
            <a:r>
              <a:rPr lang="en-US" altLang="zh-CN" sz="2000" dirty="0">
                <a:solidFill>
                  <a:srgbClr val="FF0000"/>
                </a:solidFill>
                <a:latin typeface="Arial" panose="020B0604020202020204" pitchFamily="34" charset="0"/>
                <a:cs typeface="Arial" panose="020B0604020202020204" pitchFamily="34" charset="0"/>
              </a:rPr>
              <a:t>;add</a:t>
            </a:r>
          </a:p>
          <a:p>
            <a:pPr>
              <a:lnSpc>
                <a:spcPct val="86000"/>
              </a:lnSpc>
              <a:spcBef>
                <a:spcPct val="40000"/>
              </a:spcBef>
            </a:pPr>
            <a:r>
              <a:rPr lang="en-US" altLang="zh-CN" sz="2000" b="1" dirty="0">
                <a:solidFill>
                  <a:srgbClr val="FF0000"/>
                </a:solidFill>
                <a:latin typeface="Courier New" panose="02070309020205020404" pitchFamily="49" charset="0"/>
                <a:cs typeface="Courier New" panose="02070309020205020404" pitchFamily="49" charset="0"/>
              </a:rPr>
              <a:t>	</a:t>
            </a:r>
            <a:r>
              <a:rPr lang="en-US" altLang="zh-CN" sz="2000" b="1" dirty="0" smtClean="0">
                <a:solidFill>
                  <a:srgbClr val="FF0000"/>
                </a:solidFill>
                <a:latin typeface="Courier New" panose="02070309020205020404" pitchFamily="49" charset="0"/>
                <a:cs typeface="Courier New" panose="02070309020205020404" pitchFamily="49" charset="0"/>
              </a:rPr>
              <a:t>SV  Ry,V4</a:t>
            </a:r>
            <a:r>
              <a:rPr lang="en-US" altLang="zh-CN" sz="2000" b="1" dirty="0">
                <a:solidFill>
                  <a:srgbClr val="FF0000"/>
                </a:solidFill>
                <a:latin typeface="Courier New" panose="02070309020205020404" pitchFamily="49" charset="0"/>
                <a:cs typeface="Courier New" panose="02070309020205020404" pitchFamily="49" charset="0"/>
              </a:rPr>
              <a:t>	</a:t>
            </a:r>
            <a:r>
              <a:rPr lang="en-US" altLang="zh-CN" sz="2000" b="1" dirty="0" smtClean="0">
                <a:solidFill>
                  <a:srgbClr val="FF0000"/>
                </a:solidFill>
                <a:latin typeface="Courier New" panose="02070309020205020404" pitchFamily="49" charset="0"/>
                <a:cs typeface="Courier New" panose="02070309020205020404" pitchFamily="49" charset="0"/>
              </a:rPr>
              <a:t>	</a:t>
            </a:r>
            <a:r>
              <a:rPr lang="en-US" altLang="zh-CN" sz="2000" dirty="0" smtClean="0">
                <a:solidFill>
                  <a:srgbClr val="FF0000"/>
                </a:solidFill>
                <a:latin typeface="Arial" panose="020B0604020202020204" pitchFamily="34" charset="0"/>
                <a:cs typeface="Arial" panose="020B0604020202020204" pitchFamily="34" charset="0"/>
              </a:rPr>
              <a:t>;</a:t>
            </a:r>
            <a:r>
              <a:rPr lang="en-US" altLang="zh-CN" sz="2000" dirty="0">
                <a:solidFill>
                  <a:srgbClr val="FF0000"/>
                </a:solidFill>
                <a:latin typeface="Arial" panose="020B0604020202020204" pitchFamily="34" charset="0"/>
                <a:cs typeface="Arial" panose="020B0604020202020204" pitchFamily="34" charset="0"/>
              </a:rPr>
              <a:t>store the result</a:t>
            </a:r>
          </a:p>
        </p:txBody>
      </p:sp>
      <p:sp>
        <p:nvSpPr>
          <p:cNvPr id="21509" name="Rectangle 5"/>
          <p:cNvSpPr>
            <a:spLocks noChangeArrowheads="1"/>
          </p:cNvSpPr>
          <p:nvPr/>
        </p:nvSpPr>
        <p:spPr bwMode="auto">
          <a:xfrm>
            <a:off x="623392" y="1523265"/>
            <a:ext cx="5670674" cy="376321"/>
          </a:xfrm>
          <a:prstGeom prst="rect">
            <a:avLst/>
          </a:prstGeom>
          <a:solidFill>
            <a:schemeClr val="bg1"/>
          </a:solidFill>
          <a:ln w="1270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3500" tIns="25400" rIns="63500" bIns="25400">
            <a:spAutoFit/>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800100" indent="-342900">
              <a:defRPr kumimoji="1" sz="2400">
                <a:solidFill>
                  <a:schemeClr val="tx1"/>
                </a:solidFill>
                <a:latin typeface="Times New Roman" panose="02020603050405020304" pitchFamily="18" charset="0"/>
                <a:ea typeface="宋体" panose="02010600030101010101" pitchFamily="2" charset="-122"/>
              </a:defRPr>
            </a:lvl2pPr>
            <a:lvl3pPr marL="1257300" indent="-342900">
              <a:defRPr kumimoji="1" sz="2400">
                <a:solidFill>
                  <a:schemeClr val="tx1"/>
                </a:solidFill>
                <a:latin typeface="Times New Roman" panose="02020603050405020304" pitchFamily="18" charset="0"/>
                <a:ea typeface="宋体" panose="02010600030101010101" pitchFamily="2" charset="-122"/>
              </a:defRPr>
            </a:lvl3pPr>
            <a:lvl4pPr marL="1714500" indent="-342900">
              <a:defRPr kumimoji="1" sz="2400">
                <a:solidFill>
                  <a:schemeClr val="tx1"/>
                </a:solidFill>
                <a:latin typeface="Times New Roman" panose="02020603050405020304" pitchFamily="18" charset="0"/>
                <a:ea typeface="宋体" panose="02010600030101010101" pitchFamily="2" charset="-122"/>
              </a:defRPr>
            </a:lvl4pPr>
            <a:lvl5pPr marL="2171700" indent="-342900">
              <a:defRPr kumimoji="1" sz="2400">
                <a:solidFill>
                  <a:schemeClr val="tx1"/>
                </a:solidFill>
                <a:latin typeface="Times New Roman" panose="02020603050405020304" pitchFamily="18" charset="0"/>
                <a:ea typeface="宋体" panose="02010600030101010101" pitchFamily="2" charset="-122"/>
              </a:defRPr>
            </a:lvl5pPr>
            <a:lvl6pPr marL="26289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861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5433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0005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lnSpc>
                <a:spcPct val="88000"/>
              </a:lnSpc>
              <a:spcBef>
                <a:spcPct val="43000"/>
              </a:spcBef>
            </a:pPr>
            <a:r>
              <a:rPr lang="en-US" altLang="zh-CN" dirty="0" smtClean="0">
                <a:solidFill>
                  <a:srgbClr val="0000FF"/>
                </a:solidFill>
                <a:latin typeface="Arial" panose="020B0604020202020204" pitchFamily="34" charset="0"/>
              </a:rPr>
              <a:t>Scalar</a:t>
            </a:r>
            <a:r>
              <a:rPr lang="en-US" altLang="zh-CN" dirty="0" smtClean="0">
                <a:latin typeface="Arial" panose="020B0604020202020204" pitchFamily="34" charset="0"/>
              </a:rPr>
              <a:t> </a:t>
            </a:r>
            <a:r>
              <a:rPr lang="en-US" altLang="zh-CN" dirty="0">
                <a:latin typeface="Arial" panose="020B0604020202020204" pitchFamily="34" charset="0"/>
              </a:rPr>
              <a:t>vs. </a:t>
            </a:r>
            <a:r>
              <a:rPr lang="en-US" altLang="zh-CN" dirty="0">
                <a:solidFill>
                  <a:srgbClr val="FF0000"/>
                </a:solidFill>
                <a:latin typeface="Arial" panose="020B0604020202020204" pitchFamily="34" charset="0"/>
              </a:rPr>
              <a:t>Vector</a:t>
            </a:r>
          </a:p>
        </p:txBody>
      </p:sp>
      <p:sp>
        <p:nvSpPr>
          <p:cNvPr id="21510" name="Line 6"/>
          <p:cNvSpPr>
            <a:spLocks noChangeShapeType="1"/>
          </p:cNvSpPr>
          <p:nvPr/>
        </p:nvSpPr>
        <p:spPr bwMode="auto">
          <a:xfrm>
            <a:off x="4994957" y="1711425"/>
            <a:ext cx="1358900" cy="0"/>
          </a:xfrm>
          <a:prstGeom prst="line">
            <a:avLst/>
          </a:prstGeom>
          <a:noFill/>
          <a:ln w="127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11" name="Line 7"/>
          <p:cNvSpPr>
            <a:spLocks noChangeShapeType="1"/>
          </p:cNvSpPr>
          <p:nvPr/>
        </p:nvSpPr>
        <p:spPr bwMode="auto">
          <a:xfrm>
            <a:off x="2750766" y="1979910"/>
            <a:ext cx="7566" cy="34875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12" name="Rectangle 8"/>
          <p:cNvSpPr>
            <a:spLocks noChangeArrowheads="1"/>
          </p:cNvSpPr>
          <p:nvPr/>
        </p:nvSpPr>
        <p:spPr bwMode="auto">
          <a:xfrm>
            <a:off x="7248128" y="3903603"/>
            <a:ext cx="4643884" cy="2765757"/>
          </a:xfrm>
          <a:prstGeom prst="rect">
            <a:avLst/>
          </a:prstGeom>
          <a:noFill/>
          <a:ln w="12700">
            <a:solidFill>
              <a:schemeClr val="bg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3500" tIns="25400" rIns="63500" bIns="25400">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800100" indent="-342900">
              <a:defRPr kumimoji="1" sz="2400">
                <a:solidFill>
                  <a:schemeClr val="tx1"/>
                </a:solidFill>
                <a:latin typeface="Times New Roman" panose="02020603050405020304" pitchFamily="18" charset="0"/>
                <a:ea typeface="宋体" panose="02010600030101010101" pitchFamily="2" charset="-122"/>
              </a:defRPr>
            </a:lvl2pPr>
            <a:lvl3pPr marL="1257300" indent="-342900">
              <a:defRPr kumimoji="1" sz="2400">
                <a:solidFill>
                  <a:schemeClr val="tx1"/>
                </a:solidFill>
                <a:latin typeface="Times New Roman" panose="02020603050405020304" pitchFamily="18" charset="0"/>
                <a:ea typeface="宋体" panose="02010600030101010101" pitchFamily="2" charset="-122"/>
              </a:defRPr>
            </a:lvl3pPr>
            <a:lvl4pPr marL="1714500" indent="-342900">
              <a:defRPr kumimoji="1" sz="2400">
                <a:solidFill>
                  <a:schemeClr val="tx1"/>
                </a:solidFill>
                <a:latin typeface="Times New Roman" panose="02020603050405020304" pitchFamily="18" charset="0"/>
                <a:ea typeface="宋体" panose="02010600030101010101" pitchFamily="2" charset="-122"/>
              </a:defRPr>
            </a:lvl4pPr>
            <a:lvl5pPr marL="2171700" indent="-342900">
              <a:defRPr kumimoji="1" sz="2400">
                <a:solidFill>
                  <a:schemeClr val="tx1"/>
                </a:solidFill>
                <a:latin typeface="Times New Roman" panose="02020603050405020304" pitchFamily="18" charset="0"/>
                <a:ea typeface="宋体" panose="02010600030101010101" pitchFamily="2" charset="-122"/>
              </a:defRPr>
            </a:lvl5pPr>
            <a:lvl6pPr marL="26289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861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5433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0005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87000"/>
              </a:lnSpc>
              <a:spcBef>
                <a:spcPct val="42000"/>
              </a:spcBef>
            </a:pPr>
            <a:r>
              <a:rPr lang="en-US" altLang="zh-CN" dirty="0">
                <a:solidFill>
                  <a:srgbClr val="0000FF"/>
                </a:solidFill>
                <a:latin typeface="Arial" panose="020B0604020202020204" pitchFamily="34" charset="0"/>
              </a:rPr>
              <a:t> 578 (2+9*64) vs.</a:t>
            </a:r>
            <a:br>
              <a:rPr lang="en-US" altLang="zh-CN" dirty="0">
                <a:solidFill>
                  <a:srgbClr val="0000FF"/>
                </a:solidFill>
                <a:latin typeface="Arial" panose="020B0604020202020204" pitchFamily="34" charset="0"/>
              </a:rPr>
            </a:br>
            <a:r>
              <a:rPr lang="en-US" altLang="zh-CN" dirty="0">
                <a:solidFill>
                  <a:srgbClr val="0000FF"/>
                </a:solidFill>
                <a:latin typeface="Arial" panose="020B0604020202020204" pitchFamily="34" charset="0"/>
              </a:rPr>
              <a:t> 321 (1+5*64) ops (1.8X)</a:t>
            </a:r>
          </a:p>
          <a:p>
            <a:pPr>
              <a:lnSpc>
                <a:spcPct val="87000"/>
              </a:lnSpc>
              <a:spcBef>
                <a:spcPct val="42000"/>
              </a:spcBef>
            </a:pPr>
            <a:r>
              <a:rPr lang="en-US" altLang="zh-CN" dirty="0">
                <a:solidFill>
                  <a:srgbClr val="0000FF"/>
                </a:solidFill>
                <a:latin typeface="Arial" panose="020B0604020202020204" pitchFamily="34" charset="0"/>
              </a:rPr>
              <a:t>578 (2+9*64) vs.</a:t>
            </a:r>
            <a:br>
              <a:rPr lang="en-US" altLang="zh-CN" dirty="0">
                <a:solidFill>
                  <a:srgbClr val="0000FF"/>
                </a:solidFill>
                <a:latin typeface="Arial" panose="020B0604020202020204" pitchFamily="34" charset="0"/>
              </a:rPr>
            </a:br>
            <a:r>
              <a:rPr lang="en-US" altLang="zh-CN" dirty="0">
                <a:solidFill>
                  <a:srgbClr val="0000FF"/>
                </a:solidFill>
                <a:latin typeface="Arial" panose="020B0604020202020204" pitchFamily="34" charset="0"/>
              </a:rPr>
              <a:t>    6 instructions (96X)</a:t>
            </a:r>
          </a:p>
          <a:p>
            <a:pPr>
              <a:lnSpc>
                <a:spcPct val="87000"/>
              </a:lnSpc>
              <a:spcBef>
                <a:spcPct val="42000"/>
              </a:spcBef>
            </a:pPr>
            <a:r>
              <a:rPr lang="en-US" altLang="zh-CN" dirty="0">
                <a:solidFill>
                  <a:srgbClr val="0000FF"/>
                </a:solidFill>
                <a:latin typeface="Arial" panose="020B0604020202020204" pitchFamily="34" charset="0"/>
              </a:rPr>
              <a:t>64 operation vectors + </a:t>
            </a:r>
            <a:r>
              <a:rPr lang="en-US" altLang="zh-CN" dirty="0" smtClean="0">
                <a:solidFill>
                  <a:srgbClr val="0000FF"/>
                </a:solidFill>
                <a:latin typeface="Arial" panose="020B0604020202020204" pitchFamily="34" charset="0"/>
              </a:rPr>
              <a:t>no </a:t>
            </a:r>
            <a:r>
              <a:rPr lang="en-US" altLang="zh-CN" dirty="0">
                <a:solidFill>
                  <a:srgbClr val="0000FF"/>
                </a:solidFill>
                <a:latin typeface="Arial" panose="020B0604020202020204" pitchFamily="34" charset="0"/>
              </a:rPr>
              <a:t>loop overhead</a:t>
            </a:r>
          </a:p>
          <a:p>
            <a:pPr>
              <a:lnSpc>
                <a:spcPct val="87000"/>
              </a:lnSpc>
              <a:spcBef>
                <a:spcPct val="42000"/>
              </a:spcBef>
            </a:pPr>
            <a:r>
              <a:rPr lang="en-US" altLang="zh-CN" dirty="0">
                <a:solidFill>
                  <a:srgbClr val="0000FF"/>
                </a:solidFill>
                <a:latin typeface="Arial" panose="020B0604020202020204" pitchFamily="34" charset="0"/>
              </a:rPr>
              <a:t>also 64X fewer pipeline hazards</a:t>
            </a:r>
          </a:p>
        </p:txBody>
      </p:sp>
      <p:sp>
        <p:nvSpPr>
          <p:cNvPr id="21513" name="Line 9"/>
          <p:cNvSpPr>
            <a:spLocks noChangeShapeType="1"/>
          </p:cNvSpPr>
          <p:nvPr/>
        </p:nvSpPr>
        <p:spPr bwMode="auto">
          <a:xfrm>
            <a:off x="2207568" y="3428206"/>
            <a:ext cx="406400" cy="120650"/>
          </a:xfrm>
          <a:prstGeom prst="line">
            <a:avLst/>
          </a:prstGeom>
          <a:noFill/>
          <a:ln w="127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14" name="Line 10"/>
          <p:cNvSpPr>
            <a:spLocks noChangeShapeType="1"/>
          </p:cNvSpPr>
          <p:nvPr/>
        </p:nvSpPr>
        <p:spPr bwMode="auto">
          <a:xfrm>
            <a:off x="2207568" y="4215466"/>
            <a:ext cx="720080" cy="149638"/>
          </a:xfrm>
          <a:prstGeom prst="line">
            <a:avLst/>
          </a:prstGeom>
          <a:noFill/>
          <a:ln w="127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15" name="Line 11"/>
          <p:cNvSpPr>
            <a:spLocks noChangeShapeType="1"/>
          </p:cNvSpPr>
          <p:nvPr/>
        </p:nvSpPr>
        <p:spPr bwMode="auto">
          <a:xfrm>
            <a:off x="1775520" y="4509120"/>
            <a:ext cx="0" cy="349250"/>
          </a:xfrm>
          <a:prstGeom prst="line">
            <a:avLst/>
          </a:prstGeom>
          <a:noFill/>
          <a:ln w="127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317425131"/>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1199456" y="780156"/>
            <a:ext cx="5819775" cy="447675"/>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Vector Execution Time</a:t>
            </a:r>
          </a:p>
        </p:txBody>
      </p:sp>
      <p:sp>
        <p:nvSpPr>
          <p:cNvPr id="39939" name="Rectangle 3"/>
          <p:cNvSpPr>
            <a:spLocks noGrp="1" noChangeArrowheads="1"/>
          </p:cNvSpPr>
          <p:nvPr>
            <p:ph type="body" idx="1"/>
          </p:nvPr>
        </p:nvSpPr>
        <p:spPr>
          <a:xfrm>
            <a:off x="479376" y="1556792"/>
            <a:ext cx="11233248" cy="3502572"/>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sz="2400" dirty="0"/>
              <a:t>Time = f(vector length, data </a:t>
            </a:r>
            <a:r>
              <a:rPr lang="en-US" altLang="zh-CN" sz="2400" dirty="0" smtClean="0"/>
              <a:t>dependencies, structural </a:t>
            </a:r>
            <a:r>
              <a:rPr lang="en-US" altLang="zh-CN" sz="2400" dirty="0"/>
              <a:t>hazards) </a:t>
            </a:r>
          </a:p>
          <a:p>
            <a:r>
              <a:rPr lang="en-US" altLang="zh-CN" sz="2400" i="1" dirty="0">
                <a:solidFill>
                  <a:srgbClr val="FF0000"/>
                </a:solidFill>
              </a:rPr>
              <a:t>Initiation rate</a:t>
            </a:r>
            <a:r>
              <a:rPr lang="en-US" altLang="zh-CN" sz="2400" dirty="0"/>
              <a:t>: rate that FU consumes vector </a:t>
            </a:r>
            <a:r>
              <a:rPr lang="en-US" altLang="zh-CN" sz="2400" dirty="0" smtClean="0"/>
              <a:t>elements, usually </a:t>
            </a:r>
            <a:r>
              <a:rPr lang="en-US" altLang="zh-CN" sz="2400" dirty="0"/>
              <a:t>1 </a:t>
            </a:r>
            <a:r>
              <a:rPr lang="en-US" altLang="zh-CN" sz="2400" dirty="0" smtClean="0"/>
              <a:t>on RV64V</a:t>
            </a:r>
            <a:endParaRPr lang="en-US" altLang="zh-CN" sz="2400" dirty="0"/>
          </a:p>
          <a:p>
            <a:r>
              <a:rPr lang="en-US" altLang="zh-CN" sz="2400" i="1" dirty="0">
                <a:solidFill>
                  <a:srgbClr val="FF0000"/>
                </a:solidFill>
              </a:rPr>
              <a:t>Convoy</a:t>
            </a:r>
            <a:r>
              <a:rPr lang="en-US" altLang="zh-CN" sz="2400" dirty="0"/>
              <a:t>: set of vector instructions that can begin execution in same clock (no </a:t>
            </a:r>
            <a:r>
              <a:rPr lang="en-US" altLang="zh-CN" sz="2400" dirty="0" err="1"/>
              <a:t>struct</a:t>
            </a:r>
            <a:r>
              <a:rPr lang="en-US" altLang="zh-CN" sz="2400" dirty="0"/>
              <a:t>. or data hazards)</a:t>
            </a:r>
          </a:p>
          <a:p>
            <a:r>
              <a:rPr lang="en-US" altLang="zh-CN" sz="2400" i="1" dirty="0">
                <a:solidFill>
                  <a:srgbClr val="FF0000"/>
                </a:solidFill>
              </a:rPr>
              <a:t>Chime</a:t>
            </a:r>
            <a:r>
              <a:rPr lang="en-US" altLang="zh-CN" sz="2400" dirty="0"/>
              <a:t>: approx. time for a vector </a:t>
            </a:r>
            <a:r>
              <a:rPr lang="en-US" altLang="zh-CN" sz="2400" dirty="0" smtClean="0"/>
              <a:t>operation, approximately </a:t>
            </a:r>
            <a:r>
              <a:rPr lang="en-US" altLang="zh-CN" sz="2400" dirty="0"/>
              <a:t>the vector length</a:t>
            </a:r>
            <a:endParaRPr lang="en-US" altLang="zh-CN" sz="2400" dirty="0" smtClean="0"/>
          </a:p>
          <a:p>
            <a:r>
              <a:rPr lang="en-US" altLang="zh-CN" sz="2400" i="1" u="sng" dirty="0" smtClean="0">
                <a:solidFill>
                  <a:srgbClr val="FF0000"/>
                </a:solidFill>
              </a:rPr>
              <a:t>m</a:t>
            </a:r>
            <a:r>
              <a:rPr lang="en-US" altLang="zh-CN" sz="2400" u="sng" dirty="0" smtClean="0">
                <a:solidFill>
                  <a:srgbClr val="FF0000"/>
                </a:solidFill>
              </a:rPr>
              <a:t> </a:t>
            </a:r>
            <a:r>
              <a:rPr lang="en-US" altLang="zh-CN" sz="2400" u="sng" dirty="0">
                <a:solidFill>
                  <a:srgbClr val="FF0000"/>
                </a:solidFill>
              </a:rPr>
              <a:t>convoys take </a:t>
            </a:r>
            <a:r>
              <a:rPr lang="en-US" altLang="zh-CN" sz="2400" i="1" u="sng" dirty="0">
                <a:solidFill>
                  <a:srgbClr val="FF0000"/>
                </a:solidFill>
              </a:rPr>
              <a:t>m</a:t>
            </a:r>
            <a:r>
              <a:rPr lang="en-US" altLang="zh-CN" sz="2400" u="sng" dirty="0">
                <a:solidFill>
                  <a:srgbClr val="FF0000"/>
                </a:solidFill>
              </a:rPr>
              <a:t> chimes</a:t>
            </a:r>
            <a:r>
              <a:rPr lang="en-US" altLang="zh-CN" sz="2400" dirty="0"/>
              <a:t>; if each vector length is n, then they take approx. </a:t>
            </a:r>
            <a:r>
              <a:rPr lang="en-US" altLang="zh-CN" sz="2400" i="1" dirty="0"/>
              <a:t>m</a:t>
            </a:r>
            <a:r>
              <a:rPr lang="en-US" altLang="zh-CN" sz="2400" dirty="0"/>
              <a:t> x </a:t>
            </a:r>
            <a:r>
              <a:rPr lang="en-US" altLang="zh-CN" sz="2400" i="1" dirty="0"/>
              <a:t>n</a:t>
            </a:r>
            <a:r>
              <a:rPr lang="en-US" altLang="zh-CN" sz="2400" dirty="0"/>
              <a:t> clock cycles (ignores overhead; good </a:t>
            </a:r>
            <a:r>
              <a:rPr lang="en-US" altLang="zh-CN" sz="2400" dirty="0" smtClean="0"/>
              <a:t>approximation </a:t>
            </a:r>
            <a:r>
              <a:rPr lang="en-US" altLang="zh-CN" sz="2400" dirty="0"/>
              <a:t>for long vectors)</a:t>
            </a:r>
          </a:p>
        </p:txBody>
      </p:sp>
      <p:sp>
        <p:nvSpPr>
          <p:cNvPr id="39940" name="Rectangle 4"/>
          <p:cNvSpPr>
            <a:spLocks noChangeArrowheads="1"/>
          </p:cNvSpPr>
          <p:nvPr/>
        </p:nvSpPr>
        <p:spPr bwMode="auto">
          <a:xfrm>
            <a:off x="7392144" y="4948236"/>
            <a:ext cx="3593933" cy="101521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7000"/>
              </a:lnSpc>
            </a:pPr>
            <a:r>
              <a:rPr lang="en-US" altLang="zh-CN" sz="2400" dirty="0">
                <a:solidFill>
                  <a:srgbClr val="0000FF"/>
                </a:solidFill>
              </a:rPr>
              <a:t>4 </a:t>
            </a:r>
            <a:r>
              <a:rPr lang="en-US" altLang="zh-CN" sz="2400" dirty="0" smtClean="0">
                <a:solidFill>
                  <a:srgbClr val="0000FF"/>
                </a:solidFill>
              </a:rPr>
              <a:t>convoys</a:t>
            </a:r>
            <a:r>
              <a:rPr lang="en-US" altLang="zh-CN" sz="2400" dirty="0">
                <a:solidFill>
                  <a:srgbClr val="0000FF"/>
                </a:solidFill>
              </a:rPr>
              <a:t>, 1 lane, VL=64</a:t>
            </a:r>
          </a:p>
          <a:p>
            <a:pPr>
              <a:lnSpc>
                <a:spcPct val="87000"/>
              </a:lnSpc>
            </a:pPr>
            <a:r>
              <a:rPr lang="en-US" altLang="zh-CN" sz="2400" dirty="0">
                <a:solidFill>
                  <a:srgbClr val="0000FF"/>
                </a:solidFill>
              </a:rPr>
              <a:t>=&gt; 4 x 64 </a:t>
            </a:r>
            <a:r>
              <a:rPr lang="en-US" altLang="zh-CN" sz="2400" dirty="0" smtClean="0">
                <a:solidFill>
                  <a:srgbClr val="0000FF"/>
                </a:solidFill>
              </a:rPr>
              <a:t>= 256 </a:t>
            </a:r>
            <a:r>
              <a:rPr lang="en-US" altLang="zh-CN" sz="2400" dirty="0">
                <a:solidFill>
                  <a:srgbClr val="0000FF"/>
                </a:solidFill>
              </a:rPr>
              <a:t>clocks</a:t>
            </a:r>
          </a:p>
          <a:p>
            <a:pPr>
              <a:lnSpc>
                <a:spcPct val="87000"/>
              </a:lnSpc>
            </a:pPr>
            <a:r>
              <a:rPr lang="en-US" altLang="zh-CN" sz="2400" dirty="0">
                <a:solidFill>
                  <a:srgbClr val="0000FF"/>
                </a:solidFill>
              </a:rPr>
              <a:t>(or 4 clocks per result)</a:t>
            </a:r>
          </a:p>
        </p:txBody>
      </p:sp>
      <p:grpSp>
        <p:nvGrpSpPr>
          <p:cNvPr id="39945" name="Group 9"/>
          <p:cNvGrpSpPr>
            <a:grpSpLocks/>
          </p:cNvGrpSpPr>
          <p:nvPr/>
        </p:nvGrpSpPr>
        <p:grpSpPr bwMode="auto">
          <a:xfrm>
            <a:off x="623392" y="4713286"/>
            <a:ext cx="6768752" cy="1879600"/>
            <a:chOff x="248" y="3179"/>
            <a:chExt cx="3016" cy="1184"/>
          </a:xfrm>
        </p:grpSpPr>
        <p:sp>
          <p:nvSpPr>
            <p:cNvPr id="39941" name="Rectangle 5"/>
            <p:cNvSpPr>
              <a:spLocks noChangeArrowheads="1"/>
            </p:cNvSpPr>
            <p:nvPr/>
          </p:nvSpPr>
          <p:spPr bwMode="auto">
            <a:xfrm>
              <a:off x="248" y="3179"/>
              <a:ext cx="3016" cy="118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3500" tIns="25400" rIns="63500" bIns="25400">
              <a:spAutoFit/>
            </a:bodyPr>
            <a:lstStyle>
              <a:lvl1pPr marL="342900" indent="-342900">
                <a:tabLst>
                  <a:tab pos="1092200" algn="l"/>
                  <a:tab pos="2235200" algn="l"/>
                </a:tabLst>
                <a:defRPr kumimoji="1" sz="2400">
                  <a:solidFill>
                    <a:schemeClr val="tx1"/>
                  </a:solidFill>
                  <a:latin typeface="Times New Roman" panose="02020603050405020304" pitchFamily="18" charset="0"/>
                  <a:ea typeface="宋体" panose="02010600030101010101" pitchFamily="2" charset="-122"/>
                </a:defRPr>
              </a:lvl1pPr>
              <a:lvl2pPr marL="800100" indent="-342900">
                <a:tabLst>
                  <a:tab pos="1092200" algn="l"/>
                  <a:tab pos="2235200" algn="l"/>
                </a:tabLst>
                <a:defRPr kumimoji="1" sz="2400">
                  <a:solidFill>
                    <a:schemeClr val="tx1"/>
                  </a:solidFill>
                  <a:latin typeface="Times New Roman" panose="02020603050405020304" pitchFamily="18" charset="0"/>
                  <a:ea typeface="宋体" panose="02010600030101010101" pitchFamily="2" charset="-122"/>
                </a:defRPr>
              </a:lvl2pPr>
              <a:lvl3pPr marL="1257300" indent="-342900">
                <a:tabLst>
                  <a:tab pos="1092200" algn="l"/>
                  <a:tab pos="2235200" algn="l"/>
                </a:tabLst>
                <a:defRPr kumimoji="1" sz="2400">
                  <a:solidFill>
                    <a:schemeClr val="tx1"/>
                  </a:solidFill>
                  <a:latin typeface="Times New Roman" panose="02020603050405020304" pitchFamily="18" charset="0"/>
                  <a:ea typeface="宋体" panose="02010600030101010101" pitchFamily="2" charset="-122"/>
                </a:defRPr>
              </a:lvl3pPr>
              <a:lvl4pPr marL="1714500" indent="-342900">
                <a:tabLst>
                  <a:tab pos="1092200" algn="l"/>
                  <a:tab pos="2235200" algn="l"/>
                </a:tabLst>
                <a:defRPr kumimoji="1" sz="2400">
                  <a:solidFill>
                    <a:schemeClr val="tx1"/>
                  </a:solidFill>
                  <a:latin typeface="Times New Roman" panose="02020603050405020304" pitchFamily="18" charset="0"/>
                  <a:ea typeface="宋体" panose="02010600030101010101" pitchFamily="2" charset="-122"/>
                </a:defRPr>
              </a:lvl4pPr>
              <a:lvl5pPr marL="2171700" indent="-342900">
                <a:tabLst>
                  <a:tab pos="1092200" algn="l"/>
                  <a:tab pos="2235200" algn="l"/>
                </a:tabLst>
                <a:defRPr kumimoji="1" sz="2400">
                  <a:solidFill>
                    <a:schemeClr val="tx1"/>
                  </a:solidFill>
                  <a:latin typeface="Times New Roman" panose="02020603050405020304" pitchFamily="18" charset="0"/>
                  <a:ea typeface="宋体" panose="02010600030101010101" pitchFamily="2" charset="-122"/>
                </a:defRPr>
              </a:lvl5pPr>
              <a:lvl6pPr marL="2628900" indent="-342900" fontAlgn="base">
                <a:spcBef>
                  <a:spcPct val="0"/>
                </a:spcBef>
                <a:spcAft>
                  <a:spcPct val="0"/>
                </a:spcAft>
                <a:tabLst>
                  <a:tab pos="1092200" algn="l"/>
                  <a:tab pos="2235200" algn="l"/>
                </a:tabLst>
                <a:defRPr kumimoji="1" sz="2400">
                  <a:solidFill>
                    <a:schemeClr val="tx1"/>
                  </a:solidFill>
                  <a:latin typeface="Times New Roman" panose="02020603050405020304" pitchFamily="18" charset="0"/>
                  <a:ea typeface="宋体" panose="02010600030101010101" pitchFamily="2" charset="-122"/>
                </a:defRPr>
              </a:lvl6pPr>
              <a:lvl7pPr marL="3086100" indent="-342900" fontAlgn="base">
                <a:spcBef>
                  <a:spcPct val="0"/>
                </a:spcBef>
                <a:spcAft>
                  <a:spcPct val="0"/>
                </a:spcAft>
                <a:tabLst>
                  <a:tab pos="1092200" algn="l"/>
                  <a:tab pos="2235200" algn="l"/>
                </a:tabLst>
                <a:defRPr kumimoji="1" sz="2400">
                  <a:solidFill>
                    <a:schemeClr val="tx1"/>
                  </a:solidFill>
                  <a:latin typeface="Times New Roman" panose="02020603050405020304" pitchFamily="18" charset="0"/>
                  <a:ea typeface="宋体" panose="02010600030101010101" pitchFamily="2" charset="-122"/>
                </a:defRPr>
              </a:lvl7pPr>
              <a:lvl8pPr marL="3543300" indent="-342900" fontAlgn="base">
                <a:spcBef>
                  <a:spcPct val="0"/>
                </a:spcBef>
                <a:spcAft>
                  <a:spcPct val="0"/>
                </a:spcAft>
                <a:tabLst>
                  <a:tab pos="1092200" algn="l"/>
                  <a:tab pos="2235200" algn="l"/>
                </a:tabLst>
                <a:defRPr kumimoji="1" sz="2400">
                  <a:solidFill>
                    <a:schemeClr val="tx1"/>
                  </a:solidFill>
                  <a:latin typeface="Times New Roman" panose="02020603050405020304" pitchFamily="18" charset="0"/>
                  <a:ea typeface="宋体" panose="02010600030101010101" pitchFamily="2" charset="-122"/>
                </a:defRPr>
              </a:lvl8pPr>
              <a:lvl9pPr marL="4000500" indent="-342900" fontAlgn="base">
                <a:spcBef>
                  <a:spcPct val="0"/>
                </a:spcBef>
                <a:spcAft>
                  <a:spcPct val="0"/>
                </a:spcAft>
                <a:tabLst>
                  <a:tab pos="1092200" algn="l"/>
                  <a:tab pos="2235200" algn="l"/>
                </a:tabLst>
                <a:defRPr kumimoji="1" sz="2400">
                  <a:solidFill>
                    <a:schemeClr val="tx1"/>
                  </a:solidFill>
                  <a:latin typeface="Times New Roman" panose="02020603050405020304" pitchFamily="18" charset="0"/>
                  <a:ea typeface="宋体" panose="02010600030101010101" pitchFamily="2" charset="-122"/>
                </a:defRPr>
              </a:lvl9pPr>
            </a:lstStyle>
            <a:p>
              <a:pPr>
                <a:lnSpc>
                  <a:spcPct val="86000"/>
                </a:lnSpc>
                <a:spcBef>
                  <a:spcPct val="41000"/>
                </a:spcBef>
              </a:pPr>
              <a:r>
                <a:rPr lang="en-US" altLang="zh-CN" sz="2000" b="1" dirty="0">
                  <a:solidFill>
                    <a:srgbClr val="0000FF"/>
                  </a:solidFill>
                  <a:latin typeface="Courier New" panose="02070309020205020404" pitchFamily="49" charset="0"/>
                  <a:cs typeface="Courier New" panose="02070309020205020404" pitchFamily="49" charset="0"/>
                </a:rPr>
                <a:t>1:	LV     </a:t>
              </a:r>
              <a:r>
                <a:rPr lang="en-US" altLang="zh-CN" sz="2000" b="1" u="sng" dirty="0" smtClean="0">
                  <a:solidFill>
                    <a:srgbClr val="0000FF"/>
                  </a:solidFill>
                  <a:latin typeface="Courier New" panose="02070309020205020404" pitchFamily="49" charset="0"/>
                  <a:cs typeface="Courier New" panose="02070309020205020404" pitchFamily="49" charset="0"/>
                </a:rPr>
                <a:t>V1</a:t>
              </a:r>
              <a:r>
                <a:rPr lang="en-US" altLang="zh-CN" sz="2000" b="1" dirty="0" smtClean="0">
                  <a:solidFill>
                    <a:srgbClr val="0000FF"/>
                  </a:solidFill>
                  <a:latin typeface="Courier New" panose="02070309020205020404" pitchFamily="49" charset="0"/>
                  <a:cs typeface="Courier New" panose="02070309020205020404" pitchFamily="49" charset="0"/>
                </a:rPr>
                <a:t>,Rx</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smtClean="0">
                  <a:solidFill>
                    <a:srgbClr val="0000FF"/>
                  </a:solidFill>
                  <a:latin typeface="Courier New" panose="02070309020205020404" pitchFamily="49" charset="0"/>
                  <a:cs typeface="Courier New" panose="02070309020205020404" pitchFamily="49" charset="0"/>
                </a:rPr>
                <a:t>		</a:t>
              </a:r>
              <a:r>
                <a:rPr lang="en-US" altLang="zh-CN" sz="2000" dirty="0" smtClean="0">
                  <a:solidFill>
                    <a:srgbClr val="0000FF"/>
                  </a:solidFill>
                  <a:latin typeface="Arial" panose="020B0604020202020204" pitchFamily="34" charset="0"/>
                  <a:cs typeface="Arial" panose="020B0604020202020204" pitchFamily="34" charset="0"/>
                </a:rPr>
                <a:t>;</a:t>
              </a:r>
              <a:r>
                <a:rPr lang="en-US" altLang="zh-CN" sz="2000" dirty="0">
                  <a:solidFill>
                    <a:srgbClr val="0000FF"/>
                  </a:solidFill>
                  <a:latin typeface="Arial" panose="020B0604020202020204" pitchFamily="34" charset="0"/>
                  <a:cs typeface="Arial" panose="020B0604020202020204" pitchFamily="34" charset="0"/>
                </a:rPr>
                <a:t>load vector X</a:t>
              </a:r>
            </a:p>
            <a:p>
              <a:pPr>
                <a:lnSpc>
                  <a:spcPct val="86000"/>
                </a:lnSpc>
                <a:spcBef>
                  <a:spcPct val="41000"/>
                </a:spcBef>
              </a:pPr>
              <a:r>
                <a:rPr lang="en-US" altLang="zh-CN" sz="2000" b="1" dirty="0">
                  <a:solidFill>
                    <a:srgbClr val="0000FF"/>
                  </a:solidFill>
                  <a:latin typeface="Courier New" panose="02070309020205020404" pitchFamily="49" charset="0"/>
                  <a:cs typeface="Courier New" panose="02070309020205020404" pitchFamily="49" charset="0"/>
                </a:rPr>
                <a:t>2:	MULV </a:t>
              </a:r>
              <a:r>
                <a:rPr lang="en-US" altLang="zh-CN" sz="2000" b="1" dirty="0" smtClean="0">
                  <a:solidFill>
                    <a:srgbClr val="0000FF"/>
                  </a:solidFill>
                  <a:latin typeface="Courier New" panose="02070309020205020404" pitchFamily="49" charset="0"/>
                  <a:cs typeface="Courier New" panose="02070309020205020404" pitchFamily="49" charset="0"/>
                </a:rPr>
                <a:t>  </a:t>
              </a:r>
              <a:r>
                <a:rPr lang="en-US" altLang="zh-CN" sz="2000" b="1" u="sng" dirty="0" smtClean="0">
                  <a:solidFill>
                    <a:srgbClr val="0000FF"/>
                  </a:solidFill>
                  <a:latin typeface="Courier New" panose="02070309020205020404" pitchFamily="49" charset="0"/>
                  <a:cs typeface="Courier New" panose="02070309020205020404" pitchFamily="49" charset="0"/>
                </a:rPr>
                <a:t>V2</a:t>
              </a:r>
              <a:r>
                <a:rPr lang="en-US" altLang="zh-CN" sz="2000" b="1" dirty="0" smtClean="0">
                  <a:solidFill>
                    <a:srgbClr val="0000FF"/>
                  </a:solidFill>
                  <a:latin typeface="Courier New" panose="02070309020205020404" pitchFamily="49" charset="0"/>
                  <a:cs typeface="Courier New" panose="02070309020205020404" pitchFamily="49" charset="0"/>
                </a:rPr>
                <a:t>,F0,</a:t>
              </a:r>
              <a:r>
                <a:rPr lang="en-US" altLang="zh-CN" sz="2000" b="1" i="1" u="sng" dirty="0" smtClean="0">
                  <a:solidFill>
                    <a:srgbClr val="0000FF"/>
                  </a:solidFill>
                  <a:latin typeface="Courier New" panose="02070309020205020404" pitchFamily="49" charset="0"/>
                  <a:cs typeface="Courier New" panose="02070309020205020404" pitchFamily="49" charset="0"/>
                </a:rPr>
                <a:t>V1</a:t>
              </a:r>
              <a:r>
                <a:rPr lang="en-US" altLang="zh-CN" sz="2000" b="1" dirty="0" smtClean="0">
                  <a:solidFill>
                    <a:srgbClr val="0000FF"/>
                  </a:solidFill>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dirty="0">
                  <a:solidFill>
                    <a:srgbClr val="0000FF"/>
                  </a:solidFill>
                  <a:latin typeface="Arial" panose="020B0604020202020204" pitchFamily="34" charset="0"/>
                  <a:cs typeface="Arial" panose="020B0604020202020204" pitchFamily="34" charset="0"/>
                </a:rPr>
                <a:t>;vector-scalar </a:t>
              </a:r>
              <a:r>
                <a:rPr lang="en-US" altLang="zh-CN" sz="2000" dirty="0" err="1">
                  <a:solidFill>
                    <a:srgbClr val="0000FF"/>
                  </a:solidFill>
                  <a:latin typeface="Arial" panose="020B0604020202020204" pitchFamily="34" charset="0"/>
                  <a:cs typeface="Arial" panose="020B0604020202020204" pitchFamily="34" charset="0"/>
                </a:rPr>
                <a:t>mult</a:t>
              </a:r>
              <a:r>
                <a:rPr lang="en-US" altLang="zh-CN" sz="2000" dirty="0">
                  <a:solidFill>
                    <a:srgbClr val="0000FF"/>
                  </a:solidFill>
                  <a:latin typeface="Arial" panose="020B0604020202020204" pitchFamily="34" charset="0"/>
                  <a:cs typeface="Arial" panose="020B0604020202020204" pitchFamily="34" charset="0"/>
                </a:rPr>
                <a:t>.</a:t>
              </a:r>
            </a:p>
            <a:p>
              <a:pPr>
                <a:lnSpc>
                  <a:spcPct val="86000"/>
                </a:lnSpc>
                <a:spcBef>
                  <a:spcPct val="41000"/>
                </a:spcBef>
              </a:pPr>
              <a:r>
                <a:rPr lang="en-US" altLang="zh-CN" sz="2000" b="1" dirty="0">
                  <a:solidFill>
                    <a:srgbClr val="0000FF"/>
                  </a:solidFill>
                  <a:latin typeface="Courier New" panose="02070309020205020404" pitchFamily="49" charset="0"/>
                  <a:cs typeface="Courier New" panose="02070309020205020404" pitchFamily="49" charset="0"/>
                </a:rPr>
                <a:t>	LV	</a:t>
              </a:r>
              <a:r>
                <a:rPr lang="en-US" altLang="zh-CN" sz="2000" b="1" dirty="0" smtClean="0">
                  <a:solidFill>
                    <a:srgbClr val="0000FF"/>
                  </a:solidFill>
                  <a:latin typeface="Courier New" panose="02070309020205020404" pitchFamily="49" charset="0"/>
                  <a:cs typeface="Courier New" panose="02070309020205020404" pitchFamily="49" charset="0"/>
                </a:rPr>
                <a:t>  V3,Ry</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smtClean="0">
                  <a:solidFill>
                    <a:srgbClr val="0000FF"/>
                  </a:solidFill>
                  <a:latin typeface="Courier New" panose="02070309020205020404" pitchFamily="49" charset="0"/>
                  <a:cs typeface="Courier New" panose="02070309020205020404" pitchFamily="49" charset="0"/>
                </a:rPr>
                <a:t>		</a:t>
              </a:r>
              <a:r>
                <a:rPr lang="en-US" altLang="zh-CN" sz="2000" dirty="0" smtClean="0">
                  <a:solidFill>
                    <a:srgbClr val="0000FF"/>
                  </a:solidFill>
                  <a:latin typeface="Arial" panose="020B0604020202020204" pitchFamily="34" charset="0"/>
                  <a:cs typeface="Arial" panose="020B0604020202020204" pitchFamily="34" charset="0"/>
                </a:rPr>
                <a:t>;</a:t>
              </a:r>
              <a:r>
                <a:rPr lang="en-US" altLang="zh-CN" sz="2000" dirty="0">
                  <a:solidFill>
                    <a:srgbClr val="0000FF"/>
                  </a:solidFill>
                  <a:latin typeface="Arial" panose="020B0604020202020204" pitchFamily="34" charset="0"/>
                  <a:cs typeface="Arial" panose="020B0604020202020204" pitchFamily="34" charset="0"/>
                </a:rPr>
                <a:t>load vector Y</a:t>
              </a:r>
            </a:p>
            <a:p>
              <a:pPr>
                <a:lnSpc>
                  <a:spcPct val="86000"/>
                </a:lnSpc>
                <a:spcBef>
                  <a:spcPct val="41000"/>
                </a:spcBef>
              </a:pPr>
              <a:r>
                <a:rPr lang="en-US" altLang="zh-CN" sz="2000" b="1" dirty="0">
                  <a:solidFill>
                    <a:srgbClr val="0000FF"/>
                  </a:solidFill>
                  <a:latin typeface="Courier New" panose="02070309020205020404" pitchFamily="49" charset="0"/>
                  <a:cs typeface="Courier New" panose="02070309020205020404" pitchFamily="49" charset="0"/>
                </a:rPr>
                <a:t>3:	ADDV	</a:t>
              </a:r>
              <a:r>
                <a:rPr lang="en-US" altLang="zh-CN" sz="2000" b="1" dirty="0" smtClean="0">
                  <a:solidFill>
                    <a:srgbClr val="0000FF"/>
                  </a:solidFill>
                  <a:latin typeface="Courier New" panose="02070309020205020404" pitchFamily="49" charset="0"/>
                  <a:cs typeface="Courier New" panose="02070309020205020404" pitchFamily="49" charset="0"/>
                </a:rPr>
                <a:t>  </a:t>
              </a:r>
              <a:r>
                <a:rPr lang="en-US" altLang="zh-CN" sz="2000" b="1" u="sng" dirty="0" smtClean="0">
                  <a:solidFill>
                    <a:srgbClr val="0000FF"/>
                  </a:solidFill>
                  <a:latin typeface="Courier New" panose="02070309020205020404" pitchFamily="49" charset="0"/>
                  <a:cs typeface="Courier New" panose="02070309020205020404" pitchFamily="49" charset="0"/>
                </a:rPr>
                <a:t>V4</a:t>
              </a:r>
              <a:r>
                <a:rPr lang="en-US" altLang="zh-CN" sz="2000" b="1" dirty="0" smtClean="0">
                  <a:solidFill>
                    <a:srgbClr val="0000FF"/>
                  </a:solidFill>
                  <a:latin typeface="Courier New" panose="02070309020205020404" pitchFamily="49" charset="0"/>
                  <a:cs typeface="Courier New" panose="02070309020205020404" pitchFamily="49" charset="0"/>
                </a:rPr>
                <a:t>,</a:t>
              </a:r>
              <a:r>
                <a:rPr lang="en-US" altLang="zh-CN" sz="2000" b="1" i="1" u="sng" dirty="0" smtClean="0">
                  <a:solidFill>
                    <a:srgbClr val="0000FF"/>
                  </a:solidFill>
                  <a:latin typeface="Courier New" panose="02070309020205020404" pitchFamily="49" charset="0"/>
                  <a:cs typeface="Courier New" panose="02070309020205020404" pitchFamily="49" charset="0"/>
                </a:rPr>
                <a:t>V2</a:t>
              </a:r>
              <a:r>
                <a:rPr lang="en-US" altLang="zh-CN" sz="2000" b="1" dirty="0" smtClean="0">
                  <a:solidFill>
                    <a:srgbClr val="0000FF"/>
                  </a:solidFill>
                  <a:latin typeface="Courier New" panose="02070309020205020404" pitchFamily="49" charset="0"/>
                  <a:cs typeface="Courier New" panose="02070309020205020404" pitchFamily="49" charset="0"/>
                </a:rPr>
                <a:t>,V3</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smtClean="0">
                  <a:solidFill>
                    <a:srgbClr val="0000FF"/>
                  </a:solidFill>
                  <a:latin typeface="Courier New" panose="02070309020205020404" pitchFamily="49" charset="0"/>
                  <a:cs typeface="Courier New" panose="02070309020205020404" pitchFamily="49" charset="0"/>
                </a:rPr>
                <a:t>	</a:t>
              </a:r>
              <a:r>
                <a:rPr lang="en-US" altLang="zh-CN" sz="2000" dirty="0" smtClean="0">
                  <a:solidFill>
                    <a:srgbClr val="0000FF"/>
                  </a:solidFill>
                  <a:latin typeface="Arial" panose="020B0604020202020204" pitchFamily="34" charset="0"/>
                  <a:cs typeface="Arial" panose="020B0604020202020204" pitchFamily="34" charset="0"/>
                </a:rPr>
                <a:t>;</a:t>
              </a:r>
              <a:r>
                <a:rPr lang="en-US" altLang="zh-CN" sz="2000" dirty="0">
                  <a:solidFill>
                    <a:srgbClr val="0000FF"/>
                  </a:solidFill>
                  <a:latin typeface="Arial" panose="020B0604020202020204" pitchFamily="34" charset="0"/>
                  <a:cs typeface="Arial" panose="020B0604020202020204" pitchFamily="34" charset="0"/>
                </a:rPr>
                <a:t>add</a:t>
              </a:r>
            </a:p>
            <a:p>
              <a:pPr>
                <a:lnSpc>
                  <a:spcPct val="86000"/>
                </a:lnSpc>
                <a:spcBef>
                  <a:spcPct val="41000"/>
                </a:spcBef>
              </a:pPr>
              <a:r>
                <a:rPr lang="en-US" altLang="zh-CN" sz="2000" b="1" dirty="0">
                  <a:solidFill>
                    <a:srgbClr val="0000FF"/>
                  </a:solidFill>
                  <a:latin typeface="Courier New" panose="02070309020205020404" pitchFamily="49" charset="0"/>
                  <a:cs typeface="Courier New" panose="02070309020205020404" pitchFamily="49" charset="0"/>
                </a:rPr>
                <a:t>4:	SV	</a:t>
              </a:r>
              <a:r>
                <a:rPr lang="en-US" altLang="zh-CN" sz="2000" b="1" dirty="0" smtClean="0">
                  <a:solidFill>
                    <a:srgbClr val="0000FF"/>
                  </a:solidFill>
                  <a:latin typeface="Courier New" panose="02070309020205020404" pitchFamily="49" charset="0"/>
                  <a:cs typeface="Courier New" panose="02070309020205020404" pitchFamily="49" charset="0"/>
                </a:rPr>
                <a:t>  Ry,</a:t>
              </a:r>
              <a:r>
                <a:rPr lang="en-US" altLang="zh-CN" sz="2000" b="1" i="1" u="sng" dirty="0" smtClean="0">
                  <a:solidFill>
                    <a:srgbClr val="0000FF"/>
                  </a:solidFill>
                  <a:latin typeface="Courier New" panose="02070309020205020404" pitchFamily="49" charset="0"/>
                  <a:cs typeface="Courier New" panose="02070309020205020404" pitchFamily="49" charset="0"/>
                </a:rPr>
                <a:t>V4</a:t>
              </a: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smtClean="0">
                  <a:solidFill>
                    <a:srgbClr val="0000FF"/>
                  </a:solidFill>
                  <a:latin typeface="Courier New" panose="02070309020205020404" pitchFamily="49" charset="0"/>
                  <a:cs typeface="Courier New" panose="02070309020205020404" pitchFamily="49" charset="0"/>
                </a:rPr>
                <a:t>		</a:t>
              </a:r>
              <a:r>
                <a:rPr lang="en-US" altLang="zh-CN" sz="2000" dirty="0" smtClean="0">
                  <a:solidFill>
                    <a:srgbClr val="0000FF"/>
                  </a:solidFill>
                  <a:latin typeface="Arial" panose="020B0604020202020204" pitchFamily="34" charset="0"/>
                  <a:cs typeface="Arial" panose="020B0604020202020204" pitchFamily="34" charset="0"/>
                </a:rPr>
                <a:t>;</a:t>
              </a:r>
              <a:r>
                <a:rPr lang="en-US" altLang="zh-CN" sz="2000" dirty="0">
                  <a:solidFill>
                    <a:srgbClr val="0000FF"/>
                  </a:solidFill>
                  <a:latin typeface="Arial" panose="020B0604020202020204" pitchFamily="34" charset="0"/>
                  <a:cs typeface="Arial" panose="020B0604020202020204" pitchFamily="34" charset="0"/>
                </a:rPr>
                <a:t>store the result</a:t>
              </a:r>
            </a:p>
          </p:txBody>
        </p:sp>
        <p:sp>
          <p:nvSpPr>
            <p:cNvPr id="39942" name="Line 6"/>
            <p:cNvSpPr>
              <a:spLocks noChangeShapeType="1"/>
            </p:cNvSpPr>
            <p:nvPr/>
          </p:nvSpPr>
          <p:spPr bwMode="auto">
            <a:xfrm>
              <a:off x="976" y="3327"/>
              <a:ext cx="363" cy="137"/>
            </a:xfrm>
            <a:prstGeom prst="line">
              <a:avLst/>
            </a:prstGeom>
            <a:noFill/>
            <a:ln w="127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FF"/>
                </a:solidFill>
                <a:latin typeface="Courier New" panose="02070309020205020404" pitchFamily="49" charset="0"/>
                <a:cs typeface="Courier New" panose="02070309020205020404" pitchFamily="49" charset="0"/>
              </a:endParaRPr>
            </a:p>
          </p:txBody>
        </p:sp>
        <p:sp>
          <p:nvSpPr>
            <p:cNvPr id="39943" name="Line 7"/>
            <p:cNvSpPr>
              <a:spLocks noChangeShapeType="1"/>
            </p:cNvSpPr>
            <p:nvPr/>
          </p:nvSpPr>
          <p:spPr bwMode="auto">
            <a:xfrm>
              <a:off x="928" y="3604"/>
              <a:ext cx="280" cy="342"/>
            </a:xfrm>
            <a:prstGeom prst="line">
              <a:avLst/>
            </a:prstGeom>
            <a:noFill/>
            <a:ln w="127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FF"/>
                </a:solidFill>
                <a:latin typeface="Courier New" panose="02070309020205020404" pitchFamily="49" charset="0"/>
                <a:cs typeface="Courier New" panose="02070309020205020404" pitchFamily="49" charset="0"/>
              </a:endParaRPr>
            </a:p>
          </p:txBody>
        </p:sp>
        <p:sp>
          <p:nvSpPr>
            <p:cNvPr id="39944" name="Line 8"/>
            <p:cNvSpPr>
              <a:spLocks noChangeShapeType="1"/>
            </p:cNvSpPr>
            <p:nvPr/>
          </p:nvSpPr>
          <p:spPr bwMode="auto">
            <a:xfrm>
              <a:off x="932" y="4086"/>
              <a:ext cx="232" cy="88"/>
            </a:xfrm>
            <a:prstGeom prst="line">
              <a:avLst/>
            </a:prstGeom>
            <a:noFill/>
            <a:ln w="127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FF"/>
                </a:solidFill>
                <a:latin typeface="Courier New" panose="02070309020205020404" pitchFamily="49" charset="0"/>
                <a:cs typeface="Courier New" panose="02070309020205020404" pitchFamily="49" charset="0"/>
              </a:endParaRPr>
            </a:p>
          </p:txBody>
        </p:sp>
      </p:grpSp>
    </p:spTree>
    <p:extLst>
      <p:ext uri="{BB962C8B-B14F-4D97-AF65-F5344CB8AC3E}">
        <p14:creationId xmlns:p14="http://schemas.microsoft.com/office/powerpoint/2010/main" val="961856082"/>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1127448" y="259840"/>
            <a:ext cx="10297144"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smtClean="0"/>
              <a:t>Vector </a:t>
            </a:r>
            <a:r>
              <a:rPr lang="en-US" altLang="zh-CN" dirty="0"/>
              <a:t>Start-up Time</a:t>
            </a:r>
          </a:p>
        </p:txBody>
      </p:sp>
      <p:sp>
        <p:nvSpPr>
          <p:cNvPr id="40963" name="Rectangle 3"/>
          <p:cNvSpPr>
            <a:spLocks noGrp="1" noChangeArrowheads="1"/>
          </p:cNvSpPr>
          <p:nvPr>
            <p:ph type="body" idx="1"/>
          </p:nvPr>
        </p:nvSpPr>
        <p:spPr>
          <a:xfrm>
            <a:off x="839416" y="1485900"/>
            <a:ext cx="10441160" cy="4114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lnSpc>
                <a:spcPct val="100000"/>
              </a:lnSpc>
              <a:spcBef>
                <a:spcPct val="0"/>
              </a:spcBef>
            </a:pPr>
            <a:r>
              <a:rPr lang="en-US" altLang="zh-CN" i="1" dirty="0">
                <a:solidFill>
                  <a:srgbClr val="FF0000"/>
                </a:solidFill>
              </a:rPr>
              <a:t>Start-up time</a:t>
            </a:r>
            <a:r>
              <a:rPr lang="en-US" altLang="zh-CN" dirty="0"/>
              <a:t>: pipeline latency time (depth of FU pipeline); another sources of overhead</a:t>
            </a:r>
          </a:p>
          <a:p>
            <a:pPr>
              <a:lnSpc>
                <a:spcPct val="100000"/>
              </a:lnSpc>
              <a:spcBef>
                <a:spcPct val="0"/>
              </a:spcBef>
            </a:pPr>
            <a:r>
              <a:rPr lang="en-US" altLang="zh-CN" dirty="0"/>
              <a:t>Operation	Start-up penalty (from CRAY-1)</a:t>
            </a:r>
          </a:p>
          <a:p>
            <a:pPr>
              <a:lnSpc>
                <a:spcPct val="100000"/>
              </a:lnSpc>
              <a:spcBef>
                <a:spcPct val="0"/>
              </a:spcBef>
            </a:pPr>
            <a:r>
              <a:rPr lang="en-US" altLang="zh-CN" dirty="0"/>
              <a:t>Vector load/store	12</a:t>
            </a:r>
          </a:p>
          <a:p>
            <a:pPr>
              <a:lnSpc>
                <a:spcPct val="100000"/>
              </a:lnSpc>
              <a:spcBef>
                <a:spcPct val="0"/>
              </a:spcBef>
            </a:pPr>
            <a:r>
              <a:rPr lang="en-US" altLang="zh-CN" dirty="0"/>
              <a:t>Vector </a:t>
            </a:r>
            <a:r>
              <a:rPr lang="en-US" altLang="zh-CN" dirty="0" err="1"/>
              <a:t>multply</a:t>
            </a:r>
            <a:r>
              <a:rPr lang="en-US" altLang="zh-CN" dirty="0"/>
              <a:t>		  7</a:t>
            </a:r>
          </a:p>
          <a:p>
            <a:pPr>
              <a:lnSpc>
                <a:spcPct val="100000"/>
              </a:lnSpc>
              <a:spcBef>
                <a:spcPct val="0"/>
              </a:spcBef>
            </a:pPr>
            <a:r>
              <a:rPr lang="en-US" altLang="zh-CN" dirty="0"/>
              <a:t>Vector add		  6</a:t>
            </a:r>
          </a:p>
          <a:p>
            <a:pPr lvl="1">
              <a:lnSpc>
                <a:spcPct val="100000"/>
              </a:lnSpc>
              <a:spcBef>
                <a:spcPct val="0"/>
              </a:spcBef>
              <a:buFont typeface="Wingdings" panose="05000000000000000000" pitchFamily="2" charset="2"/>
              <a:buNone/>
            </a:pPr>
            <a:r>
              <a:rPr lang="en-US" altLang="zh-CN" dirty="0"/>
              <a:t>	Assume convoys don't overlap; vector length = n:</a:t>
            </a:r>
          </a:p>
        </p:txBody>
      </p:sp>
      <p:sp>
        <p:nvSpPr>
          <p:cNvPr id="40964" name="Rectangle 4"/>
          <p:cNvSpPr>
            <a:spLocks noChangeArrowheads="1"/>
          </p:cNvSpPr>
          <p:nvPr/>
        </p:nvSpPr>
        <p:spPr bwMode="auto">
          <a:xfrm>
            <a:off x="1524000" y="4706576"/>
            <a:ext cx="9067800" cy="174676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3500" tIns="25400" rIns="63500" bIns="25400">
            <a:spAutoFit/>
          </a:bodyPr>
          <a:lstStyle>
            <a:lvl1pPr marL="342900" indent="-342900">
              <a:tabLst>
                <a:tab pos="2743200" algn="dec"/>
                <a:tab pos="4533900" algn="dec"/>
                <a:tab pos="6235700" algn="dec"/>
                <a:tab pos="6629400" algn="l"/>
              </a:tabLst>
              <a:defRPr kumimoji="1" sz="2400">
                <a:solidFill>
                  <a:schemeClr val="tx1"/>
                </a:solidFill>
                <a:latin typeface="Times New Roman" panose="02020603050405020304" pitchFamily="18" charset="0"/>
                <a:ea typeface="宋体" panose="02010600030101010101" pitchFamily="2" charset="-122"/>
              </a:defRPr>
            </a:lvl1pPr>
            <a:lvl2pPr marL="800100" indent="-342900">
              <a:tabLst>
                <a:tab pos="2743200" algn="dec"/>
                <a:tab pos="4533900" algn="dec"/>
                <a:tab pos="6235700" algn="dec"/>
                <a:tab pos="6629400" algn="l"/>
              </a:tabLst>
              <a:defRPr kumimoji="1" sz="2400">
                <a:solidFill>
                  <a:schemeClr val="tx1"/>
                </a:solidFill>
                <a:latin typeface="Times New Roman" panose="02020603050405020304" pitchFamily="18" charset="0"/>
                <a:ea typeface="宋体" panose="02010600030101010101" pitchFamily="2" charset="-122"/>
              </a:defRPr>
            </a:lvl2pPr>
            <a:lvl3pPr marL="1257300" indent="-342900">
              <a:tabLst>
                <a:tab pos="2743200" algn="dec"/>
                <a:tab pos="4533900" algn="dec"/>
                <a:tab pos="6235700" algn="dec"/>
                <a:tab pos="6629400" algn="l"/>
              </a:tabLst>
              <a:defRPr kumimoji="1" sz="2400">
                <a:solidFill>
                  <a:schemeClr val="tx1"/>
                </a:solidFill>
                <a:latin typeface="Times New Roman" panose="02020603050405020304" pitchFamily="18" charset="0"/>
                <a:ea typeface="宋体" panose="02010600030101010101" pitchFamily="2" charset="-122"/>
              </a:defRPr>
            </a:lvl3pPr>
            <a:lvl4pPr marL="1714500" indent="-342900">
              <a:tabLst>
                <a:tab pos="2743200" algn="dec"/>
                <a:tab pos="4533900" algn="dec"/>
                <a:tab pos="6235700" algn="dec"/>
                <a:tab pos="6629400" algn="l"/>
              </a:tabLst>
              <a:defRPr kumimoji="1" sz="2400">
                <a:solidFill>
                  <a:schemeClr val="tx1"/>
                </a:solidFill>
                <a:latin typeface="Times New Roman" panose="02020603050405020304" pitchFamily="18" charset="0"/>
                <a:ea typeface="宋体" panose="02010600030101010101" pitchFamily="2" charset="-122"/>
              </a:defRPr>
            </a:lvl4pPr>
            <a:lvl5pPr marL="2171700" indent="-342900">
              <a:tabLst>
                <a:tab pos="2743200" algn="dec"/>
                <a:tab pos="4533900" algn="dec"/>
                <a:tab pos="6235700" algn="dec"/>
                <a:tab pos="6629400" algn="l"/>
              </a:tabLst>
              <a:defRPr kumimoji="1" sz="2400">
                <a:solidFill>
                  <a:schemeClr val="tx1"/>
                </a:solidFill>
                <a:latin typeface="Times New Roman" panose="02020603050405020304" pitchFamily="18" charset="0"/>
                <a:ea typeface="宋体" panose="02010600030101010101" pitchFamily="2" charset="-122"/>
              </a:defRPr>
            </a:lvl5pPr>
            <a:lvl6pPr marL="2628900" indent="-342900" fontAlgn="base">
              <a:spcBef>
                <a:spcPct val="0"/>
              </a:spcBef>
              <a:spcAft>
                <a:spcPct val="0"/>
              </a:spcAft>
              <a:tabLst>
                <a:tab pos="2743200" algn="dec"/>
                <a:tab pos="4533900" algn="dec"/>
                <a:tab pos="6235700" algn="dec"/>
                <a:tab pos="6629400" algn="l"/>
              </a:tabLst>
              <a:defRPr kumimoji="1" sz="2400">
                <a:solidFill>
                  <a:schemeClr val="tx1"/>
                </a:solidFill>
                <a:latin typeface="Times New Roman" panose="02020603050405020304" pitchFamily="18" charset="0"/>
                <a:ea typeface="宋体" panose="02010600030101010101" pitchFamily="2" charset="-122"/>
              </a:defRPr>
            </a:lvl6pPr>
            <a:lvl7pPr marL="3086100" indent="-342900" fontAlgn="base">
              <a:spcBef>
                <a:spcPct val="0"/>
              </a:spcBef>
              <a:spcAft>
                <a:spcPct val="0"/>
              </a:spcAft>
              <a:tabLst>
                <a:tab pos="2743200" algn="dec"/>
                <a:tab pos="4533900" algn="dec"/>
                <a:tab pos="6235700" algn="dec"/>
                <a:tab pos="6629400" algn="l"/>
              </a:tabLst>
              <a:defRPr kumimoji="1" sz="2400">
                <a:solidFill>
                  <a:schemeClr val="tx1"/>
                </a:solidFill>
                <a:latin typeface="Times New Roman" panose="02020603050405020304" pitchFamily="18" charset="0"/>
                <a:ea typeface="宋体" panose="02010600030101010101" pitchFamily="2" charset="-122"/>
              </a:defRPr>
            </a:lvl7pPr>
            <a:lvl8pPr marL="3543300" indent="-342900" fontAlgn="base">
              <a:spcBef>
                <a:spcPct val="0"/>
              </a:spcBef>
              <a:spcAft>
                <a:spcPct val="0"/>
              </a:spcAft>
              <a:tabLst>
                <a:tab pos="2743200" algn="dec"/>
                <a:tab pos="4533900" algn="dec"/>
                <a:tab pos="6235700" algn="dec"/>
                <a:tab pos="6629400" algn="l"/>
              </a:tabLst>
              <a:defRPr kumimoji="1" sz="2400">
                <a:solidFill>
                  <a:schemeClr val="tx1"/>
                </a:solidFill>
                <a:latin typeface="Times New Roman" panose="02020603050405020304" pitchFamily="18" charset="0"/>
                <a:ea typeface="宋体" panose="02010600030101010101" pitchFamily="2" charset="-122"/>
              </a:defRPr>
            </a:lvl8pPr>
            <a:lvl9pPr marL="4000500" indent="-342900" fontAlgn="base">
              <a:spcBef>
                <a:spcPct val="0"/>
              </a:spcBef>
              <a:spcAft>
                <a:spcPct val="0"/>
              </a:spcAft>
              <a:tabLst>
                <a:tab pos="2743200" algn="dec"/>
                <a:tab pos="4533900" algn="dec"/>
                <a:tab pos="6235700" algn="dec"/>
                <a:tab pos="6629400" algn="l"/>
              </a:tabLst>
              <a:defRPr kumimoji="1" sz="2400">
                <a:solidFill>
                  <a:schemeClr val="tx1"/>
                </a:solidFill>
                <a:latin typeface="Times New Roman" panose="02020603050405020304" pitchFamily="18" charset="0"/>
                <a:ea typeface="宋体" panose="02010600030101010101" pitchFamily="2" charset="-122"/>
              </a:defRPr>
            </a:lvl9pPr>
          </a:lstStyle>
          <a:p>
            <a:pPr>
              <a:lnSpc>
                <a:spcPct val="88000"/>
              </a:lnSpc>
              <a:spcBef>
                <a:spcPct val="43000"/>
              </a:spcBef>
            </a:pPr>
            <a:r>
              <a:rPr lang="en-US" altLang="zh-CN" sz="1800" b="1" i="1" dirty="0">
                <a:latin typeface="Arial" panose="020B0604020202020204" pitchFamily="34" charset="0"/>
              </a:rPr>
              <a:t>Convoy	Start	1st result	</a:t>
            </a:r>
            <a:r>
              <a:rPr lang="en-US" altLang="zh-CN" sz="1800" b="1" i="1" dirty="0" smtClean="0">
                <a:latin typeface="Arial" panose="020B0604020202020204" pitchFamily="34" charset="0"/>
              </a:rPr>
              <a:t>	last </a:t>
            </a:r>
            <a:r>
              <a:rPr lang="en-US" altLang="zh-CN" sz="1800" b="1" i="1" dirty="0">
                <a:latin typeface="Arial" panose="020B0604020202020204" pitchFamily="34" charset="0"/>
              </a:rPr>
              <a:t>result</a:t>
            </a:r>
          </a:p>
          <a:p>
            <a:pPr>
              <a:lnSpc>
                <a:spcPct val="88000"/>
              </a:lnSpc>
              <a:spcBef>
                <a:spcPct val="43000"/>
              </a:spcBef>
            </a:pPr>
            <a:r>
              <a:rPr lang="en-US" altLang="zh-CN" sz="1800" b="1" dirty="0">
                <a:latin typeface="Arial" panose="020B0604020202020204" pitchFamily="34" charset="0"/>
              </a:rPr>
              <a:t>1. LV     	0	12	          11+n (12+n-1)</a:t>
            </a:r>
          </a:p>
          <a:p>
            <a:pPr>
              <a:lnSpc>
                <a:spcPct val="88000"/>
              </a:lnSpc>
              <a:spcBef>
                <a:spcPct val="43000"/>
              </a:spcBef>
            </a:pPr>
            <a:r>
              <a:rPr lang="en-US" altLang="zh-CN" sz="1800" b="1" dirty="0">
                <a:latin typeface="Arial" panose="020B0604020202020204" pitchFamily="34" charset="0"/>
              </a:rPr>
              <a:t>2. MULV, LV	12+n	12+n+12	23+2n	</a:t>
            </a:r>
            <a:r>
              <a:rPr lang="en-US" altLang="zh-CN" sz="1600" b="1" i="1" dirty="0">
                <a:latin typeface="Arial" panose="020B0604020202020204" pitchFamily="34" charset="0"/>
              </a:rPr>
              <a:t>Load start-up</a:t>
            </a:r>
            <a:endParaRPr lang="en-US" altLang="zh-CN" sz="1800" b="1" dirty="0">
              <a:latin typeface="Arial" panose="020B0604020202020204" pitchFamily="34" charset="0"/>
            </a:endParaRPr>
          </a:p>
          <a:p>
            <a:pPr>
              <a:lnSpc>
                <a:spcPct val="88000"/>
              </a:lnSpc>
              <a:spcBef>
                <a:spcPct val="43000"/>
              </a:spcBef>
            </a:pPr>
            <a:r>
              <a:rPr lang="en-US" altLang="zh-CN" sz="1800" b="1" dirty="0">
                <a:latin typeface="Arial" panose="020B0604020202020204" pitchFamily="34" charset="0"/>
              </a:rPr>
              <a:t>3. ADDV	24+2n	24+2n+6	29+3n	</a:t>
            </a:r>
            <a:r>
              <a:rPr lang="en-US" altLang="zh-CN" sz="1600" b="1" i="1" dirty="0">
                <a:latin typeface="Arial" panose="020B0604020202020204" pitchFamily="34" charset="0"/>
              </a:rPr>
              <a:t>Wait convoy 2</a:t>
            </a:r>
            <a:endParaRPr lang="en-US" altLang="zh-CN" sz="1800" b="1" dirty="0">
              <a:latin typeface="Arial" panose="020B0604020202020204" pitchFamily="34" charset="0"/>
            </a:endParaRPr>
          </a:p>
          <a:p>
            <a:pPr>
              <a:lnSpc>
                <a:spcPct val="88000"/>
              </a:lnSpc>
              <a:spcBef>
                <a:spcPct val="43000"/>
              </a:spcBef>
            </a:pPr>
            <a:r>
              <a:rPr lang="en-US" altLang="zh-CN" sz="1800" b="1" dirty="0">
                <a:latin typeface="Arial" panose="020B0604020202020204" pitchFamily="34" charset="0"/>
              </a:rPr>
              <a:t>4. SV     	30+3n	30+3n+12	 41+4n	</a:t>
            </a:r>
            <a:r>
              <a:rPr lang="en-US" altLang="zh-CN" sz="1600" b="1" i="1" dirty="0">
                <a:latin typeface="Arial" panose="020B0604020202020204" pitchFamily="34" charset="0"/>
              </a:rPr>
              <a:t>Wait convoy 3</a:t>
            </a:r>
          </a:p>
        </p:txBody>
      </p:sp>
    </p:spTree>
    <p:extLst>
      <p:ext uri="{BB962C8B-B14F-4D97-AF65-F5344CB8AC3E}">
        <p14:creationId xmlns:p14="http://schemas.microsoft.com/office/powerpoint/2010/main" val="2225194231"/>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623392" y="764704"/>
            <a:ext cx="6137275" cy="446088"/>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Vector Opt #1: Chaining</a:t>
            </a:r>
          </a:p>
        </p:txBody>
      </p:sp>
      <p:sp>
        <p:nvSpPr>
          <p:cNvPr id="52227" name="Rectangle 3"/>
          <p:cNvSpPr>
            <a:spLocks noGrp="1" noChangeArrowheads="1"/>
          </p:cNvSpPr>
          <p:nvPr>
            <p:ph type="body" idx="1"/>
          </p:nvPr>
        </p:nvSpPr>
        <p:spPr>
          <a:xfrm>
            <a:off x="407368" y="1537245"/>
            <a:ext cx="11449272" cy="3763963"/>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dirty="0"/>
              <a:t>Suppose:		MULV	</a:t>
            </a:r>
            <a:r>
              <a:rPr lang="en-US" altLang="zh-CN" u="sng" dirty="0">
                <a:solidFill>
                  <a:srgbClr val="FF0000"/>
                </a:solidFill>
              </a:rPr>
              <a:t>V1</a:t>
            </a:r>
            <a:r>
              <a:rPr lang="en-US" altLang="zh-CN" dirty="0"/>
              <a:t>,V2,V3</a:t>
            </a:r>
          </a:p>
          <a:p>
            <a:pPr>
              <a:buFont typeface="Wingdings" panose="05000000000000000000" pitchFamily="2" charset="2"/>
              <a:buNone/>
            </a:pPr>
            <a:r>
              <a:rPr lang="en-US" altLang="zh-CN" dirty="0"/>
              <a:t>	</a:t>
            </a:r>
            <a:r>
              <a:rPr lang="en-US" altLang="zh-CN" dirty="0" smtClean="0"/>
              <a:t>			ADDV</a:t>
            </a:r>
            <a:r>
              <a:rPr lang="en-US" altLang="zh-CN" dirty="0"/>
              <a:t>	V4,</a:t>
            </a:r>
            <a:r>
              <a:rPr lang="en-US" altLang="zh-CN" i="1" u="sng" dirty="0">
                <a:solidFill>
                  <a:srgbClr val="FF0000"/>
                </a:solidFill>
              </a:rPr>
              <a:t>V1</a:t>
            </a:r>
            <a:r>
              <a:rPr lang="en-US" altLang="zh-CN" dirty="0"/>
              <a:t>,V5	; separate convoy?</a:t>
            </a:r>
          </a:p>
          <a:p>
            <a:r>
              <a:rPr lang="en-US" altLang="zh-CN" i="1" dirty="0">
                <a:solidFill>
                  <a:srgbClr val="FF0000"/>
                </a:solidFill>
              </a:rPr>
              <a:t>chaining</a:t>
            </a:r>
            <a:r>
              <a:rPr lang="en-US" altLang="zh-CN" dirty="0"/>
              <a:t>: vector register (V1) is not as a single entity but as a group of individual registers, then</a:t>
            </a:r>
            <a:r>
              <a:rPr lang="en-US" altLang="zh-CN" u="sng" dirty="0">
                <a:solidFill>
                  <a:schemeClr val="hlink"/>
                </a:solidFill>
              </a:rPr>
              <a:t>  </a:t>
            </a:r>
            <a:r>
              <a:rPr lang="en-US" altLang="zh-CN" u="sng" dirty="0">
                <a:solidFill>
                  <a:srgbClr val="FF0000"/>
                </a:solidFill>
              </a:rPr>
              <a:t>pipeline forwarding can work on individual elements of a vector</a:t>
            </a:r>
            <a:endParaRPr lang="en-US" altLang="zh-CN" dirty="0">
              <a:solidFill>
                <a:srgbClr val="FF0000"/>
              </a:solidFill>
            </a:endParaRPr>
          </a:p>
          <a:p>
            <a:r>
              <a:rPr lang="en-US" altLang="zh-CN" i="1" dirty="0">
                <a:solidFill>
                  <a:srgbClr val="FF0000"/>
                </a:solidFill>
              </a:rPr>
              <a:t>Flexible chaining</a:t>
            </a:r>
            <a:r>
              <a:rPr lang="en-US" altLang="zh-CN" dirty="0"/>
              <a:t>: allow vector </a:t>
            </a:r>
            <a:r>
              <a:rPr lang="en-US" altLang="zh-CN" dirty="0" smtClean="0"/>
              <a:t/>
            </a:r>
            <a:br>
              <a:rPr lang="en-US" altLang="zh-CN" dirty="0" smtClean="0"/>
            </a:br>
            <a:r>
              <a:rPr lang="en-US" altLang="zh-CN" dirty="0" smtClean="0"/>
              <a:t>to </a:t>
            </a:r>
            <a:r>
              <a:rPr lang="en-US" altLang="zh-CN" dirty="0"/>
              <a:t>chain to any other active </a:t>
            </a:r>
            <a:r>
              <a:rPr lang="en-US" altLang="zh-CN" dirty="0" smtClean="0"/>
              <a:t/>
            </a:r>
            <a:br>
              <a:rPr lang="en-US" altLang="zh-CN" dirty="0" smtClean="0"/>
            </a:br>
            <a:r>
              <a:rPr lang="en-US" altLang="zh-CN" dirty="0" smtClean="0"/>
              <a:t>vector </a:t>
            </a:r>
            <a:r>
              <a:rPr lang="en-US" altLang="zh-CN" dirty="0"/>
              <a:t>operation =&gt; </a:t>
            </a:r>
            <a:endParaRPr lang="en-US" altLang="zh-CN" dirty="0" smtClean="0"/>
          </a:p>
          <a:p>
            <a:pPr lvl="1"/>
            <a:r>
              <a:rPr lang="en-US" altLang="zh-CN" dirty="0" smtClean="0"/>
              <a:t>more </a:t>
            </a:r>
            <a:r>
              <a:rPr lang="en-US" altLang="zh-CN" dirty="0"/>
              <a:t>read/write port</a:t>
            </a:r>
          </a:p>
          <a:p>
            <a:r>
              <a:rPr lang="en-US" altLang="zh-CN" dirty="0"/>
              <a:t> As long as enough HW, </a:t>
            </a:r>
            <a:r>
              <a:rPr lang="en-US" altLang="zh-CN" dirty="0" smtClean="0"/>
              <a:t/>
            </a:r>
            <a:br>
              <a:rPr lang="en-US" altLang="zh-CN" dirty="0" smtClean="0"/>
            </a:br>
            <a:r>
              <a:rPr lang="en-US" altLang="zh-CN" dirty="0" smtClean="0"/>
              <a:t>increases convoy </a:t>
            </a:r>
            <a:r>
              <a:rPr lang="en-US" altLang="zh-CN" dirty="0"/>
              <a:t>size</a:t>
            </a:r>
          </a:p>
        </p:txBody>
      </p:sp>
      <p:pic>
        <p:nvPicPr>
          <p:cNvPr id="2" name="图片 1"/>
          <p:cNvPicPr>
            <a:picLocks noChangeAspect="1"/>
          </p:cNvPicPr>
          <p:nvPr/>
        </p:nvPicPr>
        <p:blipFill>
          <a:blip r:embed="rId2"/>
          <a:stretch>
            <a:fillRect/>
          </a:stretch>
        </p:blipFill>
        <p:spPr>
          <a:xfrm>
            <a:off x="5807968" y="3789040"/>
            <a:ext cx="6097205" cy="2608992"/>
          </a:xfrm>
          <a:prstGeom prst="rect">
            <a:avLst/>
          </a:prstGeom>
        </p:spPr>
      </p:pic>
    </p:spTree>
    <p:extLst>
      <p:ext uri="{BB962C8B-B14F-4D97-AF65-F5344CB8AC3E}">
        <p14:creationId xmlns:p14="http://schemas.microsoft.com/office/powerpoint/2010/main" val="1237149742"/>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983432" y="95250"/>
            <a:ext cx="9360718" cy="8001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Example Execution of Vector Code</a:t>
            </a:r>
          </a:p>
        </p:txBody>
      </p:sp>
      <p:pic>
        <p:nvPicPr>
          <p:cNvPr id="53251" name="Picture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1340" y="2061878"/>
            <a:ext cx="7785100" cy="4749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3252" name="Rectangle 4"/>
          <p:cNvSpPr>
            <a:spLocks noChangeArrowheads="1"/>
          </p:cNvSpPr>
          <p:nvPr/>
        </p:nvSpPr>
        <p:spPr bwMode="auto">
          <a:xfrm>
            <a:off x="3532573" y="1266393"/>
            <a:ext cx="2218557" cy="70532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000" b="1"/>
              <a:t>Vector </a:t>
            </a:r>
          </a:p>
          <a:p>
            <a:pPr algn="ctr"/>
            <a:r>
              <a:rPr lang="en-US" altLang="zh-CN" sz="2000" b="1"/>
              <a:t>Memory Pipeline</a:t>
            </a:r>
          </a:p>
        </p:txBody>
      </p:sp>
      <p:sp>
        <p:nvSpPr>
          <p:cNvPr id="53253" name="Rectangle 5"/>
          <p:cNvSpPr>
            <a:spLocks noChangeArrowheads="1"/>
          </p:cNvSpPr>
          <p:nvPr/>
        </p:nvSpPr>
        <p:spPr bwMode="auto">
          <a:xfrm>
            <a:off x="5636088" y="1247343"/>
            <a:ext cx="2202527" cy="70532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000" b="1"/>
              <a:t>Vector </a:t>
            </a:r>
          </a:p>
          <a:p>
            <a:pPr algn="ctr"/>
            <a:r>
              <a:rPr lang="en-US" altLang="zh-CN" sz="2000" b="1"/>
              <a:t>Multiply Pipeline</a:t>
            </a:r>
          </a:p>
        </p:txBody>
      </p:sp>
      <p:sp>
        <p:nvSpPr>
          <p:cNvPr id="53254" name="Rectangle 6"/>
          <p:cNvSpPr>
            <a:spLocks noChangeArrowheads="1"/>
          </p:cNvSpPr>
          <p:nvPr/>
        </p:nvSpPr>
        <p:spPr bwMode="auto">
          <a:xfrm>
            <a:off x="7883144" y="1247343"/>
            <a:ext cx="2048639" cy="70532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000" b="1"/>
              <a:t>Vector </a:t>
            </a:r>
          </a:p>
          <a:p>
            <a:pPr algn="ctr"/>
            <a:r>
              <a:rPr lang="en-US" altLang="zh-CN" sz="2000" b="1"/>
              <a:t>Adder  Pipeline</a:t>
            </a:r>
          </a:p>
        </p:txBody>
      </p:sp>
      <p:sp>
        <p:nvSpPr>
          <p:cNvPr id="53255" name="Rectangle 7"/>
          <p:cNvSpPr>
            <a:spLocks noChangeArrowheads="1"/>
          </p:cNvSpPr>
          <p:nvPr/>
        </p:nvSpPr>
        <p:spPr bwMode="auto">
          <a:xfrm>
            <a:off x="1890714" y="6241618"/>
            <a:ext cx="2927084" cy="64376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a:t>8 lanes, vector length 32,</a:t>
            </a:r>
          </a:p>
          <a:p>
            <a:r>
              <a:rPr lang="en-US" altLang="zh-CN" b="1"/>
              <a:t>chaining</a:t>
            </a:r>
          </a:p>
        </p:txBody>
      </p:sp>
      <p:sp>
        <p:nvSpPr>
          <p:cNvPr id="53256" name="Rectangle 8"/>
          <p:cNvSpPr>
            <a:spLocks noChangeArrowheads="1"/>
          </p:cNvSpPr>
          <p:nvPr/>
        </p:nvSpPr>
        <p:spPr bwMode="auto">
          <a:xfrm>
            <a:off x="2614614" y="1609293"/>
            <a:ext cx="952185"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000" b="1" dirty="0"/>
              <a:t>Scalar</a:t>
            </a:r>
          </a:p>
        </p:txBody>
      </p:sp>
      <p:sp>
        <p:nvSpPr>
          <p:cNvPr id="53257" name="Line 9"/>
          <p:cNvSpPr>
            <a:spLocks noChangeShapeType="1"/>
          </p:cNvSpPr>
          <p:nvPr/>
        </p:nvSpPr>
        <p:spPr bwMode="auto">
          <a:xfrm>
            <a:off x="3600450" y="1247342"/>
            <a:ext cx="0" cy="11176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353989795"/>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Chimes</a:t>
            </a:r>
            <a:endParaRPr lang="en-AU" dirty="0"/>
          </a:p>
        </p:txBody>
      </p:sp>
      <p:sp>
        <p:nvSpPr>
          <p:cNvPr id="242691" name="Rectangle 3"/>
          <p:cNvSpPr>
            <a:spLocks noGrp="1" noChangeArrowheads="1"/>
          </p:cNvSpPr>
          <p:nvPr>
            <p:ph type="body" idx="1"/>
          </p:nvPr>
        </p:nvSpPr>
        <p:spPr/>
        <p:txBody>
          <a:bodyPr/>
          <a:lstStyle/>
          <a:p>
            <a:pPr>
              <a:lnSpc>
                <a:spcPct val="90000"/>
              </a:lnSpc>
            </a:pPr>
            <a:r>
              <a:rPr lang="en-US" dirty="0" smtClean="0"/>
              <a:t>Sequences with read-after-write dependency hazards placed in same convey via </a:t>
            </a:r>
            <a:r>
              <a:rPr lang="en-US" i="1" dirty="0" smtClean="0"/>
              <a:t>chaining </a:t>
            </a:r>
          </a:p>
          <a:p>
            <a:pPr>
              <a:lnSpc>
                <a:spcPct val="90000"/>
              </a:lnSpc>
            </a:pPr>
            <a:endParaRPr lang="en-US" i="1" dirty="0" smtClean="0"/>
          </a:p>
          <a:p>
            <a:pPr>
              <a:lnSpc>
                <a:spcPct val="90000"/>
              </a:lnSpc>
            </a:pPr>
            <a:r>
              <a:rPr lang="en-US" i="1" dirty="0" smtClean="0"/>
              <a:t>Chaining</a:t>
            </a:r>
          </a:p>
          <a:p>
            <a:pPr lvl="1">
              <a:lnSpc>
                <a:spcPct val="90000"/>
              </a:lnSpc>
            </a:pPr>
            <a:r>
              <a:rPr lang="en-US" dirty="0" smtClean="0"/>
              <a:t>Allows a vector operation to start as soon as the individual elements of its vector source operand become available</a:t>
            </a:r>
          </a:p>
          <a:p>
            <a:pPr lvl="1">
              <a:lnSpc>
                <a:spcPct val="90000"/>
              </a:lnSpc>
            </a:pPr>
            <a:endParaRPr lang="en-US" dirty="0" smtClean="0"/>
          </a:p>
          <a:p>
            <a:pPr>
              <a:lnSpc>
                <a:spcPct val="90000"/>
              </a:lnSpc>
            </a:pPr>
            <a:r>
              <a:rPr lang="en-US" i="1" dirty="0" smtClean="0"/>
              <a:t>Chime</a:t>
            </a:r>
          </a:p>
          <a:p>
            <a:pPr lvl="1">
              <a:lnSpc>
                <a:spcPct val="90000"/>
              </a:lnSpc>
            </a:pPr>
            <a:r>
              <a:rPr lang="en-US" dirty="0" smtClean="0"/>
              <a:t>Unit of time to execute one convey</a:t>
            </a:r>
          </a:p>
          <a:p>
            <a:pPr lvl="1">
              <a:lnSpc>
                <a:spcPct val="90000"/>
              </a:lnSpc>
            </a:pPr>
            <a:r>
              <a:rPr lang="en-US" i="1" dirty="0" smtClean="0"/>
              <a:t>m</a:t>
            </a:r>
            <a:r>
              <a:rPr lang="en-US" dirty="0" smtClean="0"/>
              <a:t> conveys executes in </a:t>
            </a:r>
            <a:r>
              <a:rPr lang="en-US" i="1" dirty="0" smtClean="0"/>
              <a:t>m</a:t>
            </a:r>
            <a:r>
              <a:rPr lang="en-US" dirty="0" smtClean="0"/>
              <a:t> chimes for vector length </a:t>
            </a:r>
            <a:r>
              <a:rPr lang="en-US" i="1" dirty="0" smtClean="0"/>
              <a:t>n</a:t>
            </a:r>
          </a:p>
          <a:p>
            <a:pPr lvl="1">
              <a:lnSpc>
                <a:spcPct val="90000"/>
              </a:lnSpc>
            </a:pPr>
            <a:r>
              <a:rPr lang="en-US" dirty="0" smtClean="0"/>
              <a:t>For vector length of </a:t>
            </a:r>
            <a:r>
              <a:rPr lang="en-US" i="1" dirty="0" smtClean="0"/>
              <a:t>n</a:t>
            </a:r>
            <a:r>
              <a:rPr lang="en-US" dirty="0" smtClean="0"/>
              <a:t>, requires </a:t>
            </a:r>
            <a:r>
              <a:rPr lang="en-US" i="1" dirty="0" smtClean="0"/>
              <a:t>m</a:t>
            </a:r>
            <a:r>
              <a:rPr lang="en-US" dirty="0" smtClean="0"/>
              <a:t> x </a:t>
            </a:r>
            <a:r>
              <a:rPr lang="en-US" i="1" dirty="0" smtClean="0"/>
              <a:t>n</a:t>
            </a:r>
            <a:r>
              <a:rPr lang="en-US" dirty="0" smtClean="0"/>
              <a:t> clock cycles</a:t>
            </a:r>
          </a:p>
        </p:txBody>
      </p:sp>
      <p:sp>
        <p:nvSpPr>
          <p:cNvPr id="242693" name="Text Box 5"/>
          <p:cNvSpPr txBox="1">
            <a:spLocks noChangeArrowheads="1"/>
          </p:cNvSpPr>
          <p:nvPr/>
        </p:nvSpPr>
        <p:spPr bwMode="auto">
          <a:xfrm rot="5400000">
            <a:off x="9366326" y="934844"/>
            <a:ext cx="2236638" cy="369332"/>
          </a:xfrm>
          <a:prstGeom prst="rect">
            <a:avLst/>
          </a:prstGeom>
          <a:solidFill>
            <a:srgbClr val="C0C0C0"/>
          </a:solidFill>
          <a:ln w="9525">
            <a:noFill/>
            <a:miter lim="800000"/>
            <a:headEnd/>
            <a:tailEnd/>
          </a:ln>
          <a:effectLst/>
        </p:spPr>
        <p:txBody>
          <a:bodyPr wrap="none">
            <a:spAutoFit/>
          </a:bodyPr>
          <a:lstStyle/>
          <a:p>
            <a:pPr eaLnBrk="0" hangingPunct="0">
              <a:spcBef>
                <a:spcPct val="0"/>
              </a:spcBef>
              <a:buClrTx/>
              <a:buSzTx/>
              <a:buFontTx/>
              <a:buNone/>
            </a:pPr>
            <a:r>
              <a:rPr lang="en-US" dirty="0">
                <a:solidFill>
                  <a:srgbClr val="0066FF"/>
                </a:solidFill>
                <a:latin typeface="Arial" charset="0"/>
              </a:rPr>
              <a:t>Vector Architectures</a:t>
            </a:r>
          </a:p>
        </p:txBody>
      </p:sp>
    </p:spTree>
    <p:extLst>
      <p:ext uri="{BB962C8B-B14F-4D97-AF65-F5344CB8AC3E}">
        <p14:creationId xmlns:p14="http://schemas.microsoft.com/office/powerpoint/2010/main" val="170842043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Example</a:t>
            </a:r>
            <a:endParaRPr lang="en-AU" dirty="0"/>
          </a:p>
        </p:txBody>
      </p:sp>
      <p:sp>
        <p:nvSpPr>
          <p:cNvPr id="242691" name="Rectangle 3"/>
          <p:cNvSpPr>
            <a:spLocks noGrp="1" noChangeArrowheads="1"/>
          </p:cNvSpPr>
          <p:nvPr>
            <p:ph type="body" idx="1"/>
          </p:nvPr>
        </p:nvSpPr>
        <p:spPr/>
        <p:txBody>
          <a:bodyPr/>
          <a:lstStyle/>
          <a:p>
            <a:pPr>
              <a:buNone/>
            </a:pPr>
            <a:r>
              <a:rPr lang="en-US" sz="2400" b="1" dirty="0" err="1" smtClean="0">
                <a:latin typeface="Courier New" panose="02070309020205020404" pitchFamily="49" charset="0"/>
                <a:cs typeface="Courier New" panose="02070309020205020404" pitchFamily="49" charset="0"/>
              </a:rPr>
              <a:t>vld</a:t>
            </a:r>
            <a:r>
              <a:rPr lang="en-US" sz="2400" b="1" dirty="0" smtClean="0">
                <a:latin typeface="Courier New" panose="02070309020205020404" pitchFamily="49" charset="0"/>
                <a:cs typeface="Courier New" panose="02070309020205020404" pitchFamily="49" charset="0"/>
              </a:rPr>
              <a:t>		v0,x5</a:t>
            </a:r>
            <a:r>
              <a:rPr lang="en-US" sz="2400" dirty="0" smtClean="0"/>
              <a:t>	</a:t>
            </a:r>
            <a:r>
              <a:rPr lang="en-US" sz="2400" dirty="0"/>
              <a:t>	# Load vector X</a:t>
            </a:r>
          </a:p>
          <a:p>
            <a:pPr>
              <a:buNone/>
            </a:pPr>
            <a:r>
              <a:rPr lang="en-US" sz="2400" b="1" dirty="0" err="1">
                <a:latin typeface="Courier New" panose="02070309020205020404" pitchFamily="49" charset="0"/>
                <a:cs typeface="Courier New" panose="02070309020205020404" pitchFamily="49" charset="0"/>
              </a:rPr>
              <a:t>vmul</a:t>
            </a:r>
            <a:r>
              <a:rPr lang="en-US" sz="2400" b="1" dirty="0">
                <a:latin typeface="Courier New" panose="02070309020205020404" pitchFamily="49" charset="0"/>
                <a:cs typeface="Courier New" panose="02070309020205020404" pitchFamily="49" charset="0"/>
              </a:rPr>
              <a:t>	v1,v0,f0</a:t>
            </a:r>
            <a:r>
              <a:rPr lang="en-US" sz="2400" dirty="0"/>
              <a:t>		# Vector-scalar multiply</a:t>
            </a:r>
          </a:p>
          <a:p>
            <a:pPr>
              <a:buNone/>
            </a:pPr>
            <a:r>
              <a:rPr lang="en-US" sz="2400" b="1" dirty="0" err="1">
                <a:latin typeface="Courier New" panose="02070309020205020404" pitchFamily="49" charset="0"/>
                <a:cs typeface="Courier New" panose="02070309020205020404" pitchFamily="49" charset="0"/>
              </a:rPr>
              <a:t>vld</a:t>
            </a:r>
            <a:r>
              <a:rPr lang="en-US" sz="2400" b="1" dirty="0">
                <a:latin typeface="Courier New" panose="02070309020205020404" pitchFamily="49" charset="0"/>
                <a:cs typeface="Courier New" panose="02070309020205020404" pitchFamily="49" charset="0"/>
              </a:rPr>
              <a:t>		v2,x6</a:t>
            </a:r>
            <a:r>
              <a:rPr lang="en-US" sz="2400" dirty="0"/>
              <a:t>		# Load vector Y</a:t>
            </a:r>
          </a:p>
          <a:p>
            <a:pPr>
              <a:buNone/>
            </a:pPr>
            <a:r>
              <a:rPr lang="en-US" sz="2400" b="1" dirty="0" err="1">
                <a:latin typeface="Courier New" panose="02070309020205020404" pitchFamily="49" charset="0"/>
                <a:cs typeface="Courier New" panose="02070309020205020404" pitchFamily="49" charset="0"/>
              </a:rPr>
              <a:t>vadd</a:t>
            </a:r>
            <a:r>
              <a:rPr lang="en-US" sz="2400" b="1" dirty="0">
                <a:latin typeface="Courier New" panose="02070309020205020404" pitchFamily="49" charset="0"/>
                <a:cs typeface="Courier New" panose="02070309020205020404" pitchFamily="49" charset="0"/>
              </a:rPr>
              <a:t>	v3,v1,v2</a:t>
            </a:r>
            <a:r>
              <a:rPr lang="en-US" sz="2400" dirty="0"/>
              <a:t>	</a:t>
            </a:r>
            <a:r>
              <a:rPr lang="en-US" sz="2400" dirty="0" smtClean="0"/>
              <a:t>	# </a:t>
            </a:r>
            <a:r>
              <a:rPr lang="en-US" sz="2400" dirty="0"/>
              <a:t>Vector-vector add</a:t>
            </a:r>
          </a:p>
          <a:p>
            <a:pPr>
              <a:buNone/>
            </a:pPr>
            <a:r>
              <a:rPr lang="en-US" sz="2400" b="1" dirty="0" err="1">
                <a:latin typeface="Courier New" panose="02070309020205020404" pitchFamily="49" charset="0"/>
                <a:cs typeface="Courier New" panose="02070309020205020404" pitchFamily="49" charset="0"/>
              </a:rPr>
              <a:t>vst</a:t>
            </a:r>
            <a:r>
              <a:rPr lang="en-US" sz="2400" b="1" dirty="0">
                <a:latin typeface="Courier New" panose="02070309020205020404" pitchFamily="49" charset="0"/>
                <a:cs typeface="Courier New" panose="02070309020205020404" pitchFamily="49" charset="0"/>
              </a:rPr>
              <a:t>		v3,x6</a:t>
            </a:r>
            <a:r>
              <a:rPr lang="en-US" sz="2400" dirty="0"/>
              <a:t>		# Store the sum</a:t>
            </a:r>
          </a:p>
          <a:p>
            <a:pPr>
              <a:buNone/>
            </a:pPr>
            <a:r>
              <a:rPr lang="en-US" sz="2400" dirty="0" smtClean="0"/>
              <a:t>Convoys with chaining:</a:t>
            </a:r>
            <a:endParaRPr lang="en-US" sz="2400" dirty="0"/>
          </a:p>
          <a:p>
            <a:pPr marL="457200" indent="-457200">
              <a:buNone/>
            </a:pPr>
            <a:r>
              <a:rPr lang="en-US" sz="2400" dirty="0"/>
              <a:t>1		</a:t>
            </a:r>
            <a:r>
              <a:rPr lang="en-US" sz="2400" dirty="0" err="1"/>
              <a:t>vld</a:t>
            </a:r>
            <a:r>
              <a:rPr lang="en-US" sz="2400" dirty="0"/>
              <a:t>		</a:t>
            </a:r>
            <a:r>
              <a:rPr lang="en-US" sz="2400" dirty="0" err="1"/>
              <a:t>vmul</a:t>
            </a:r>
            <a:endParaRPr lang="en-US" sz="2400" dirty="0"/>
          </a:p>
          <a:p>
            <a:pPr marL="457200" indent="-457200">
              <a:buNone/>
            </a:pPr>
            <a:r>
              <a:rPr lang="en-US" sz="2400" dirty="0"/>
              <a:t>2		</a:t>
            </a:r>
            <a:r>
              <a:rPr lang="en-US" sz="2400" dirty="0" err="1"/>
              <a:t>vld</a:t>
            </a:r>
            <a:r>
              <a:rPr lang="en-US" sz="2400" dirty="0"/>
              <a:t>		</a:t>
            </a:r>
            <a:r>
              <a:rPr lang="en-US" sz="2400" dirty="0" err="1"/>
              <a:t>vadd</a:t>
            </a:r>
            <a:endParaRPr lang="en-US" sz="2400" dirty="0"/>
          </a:p>
          <a:p>
            <a:pPr marL="457200" indent="-457200">
              <a:buNone/>
            </a:pPr>
            <a:r>
              <a:rPr lang="en-US" sz="2400" dirty="0"/>
              <a:t>3		</a:t>
            </a:r>
            <a:r>
              <a:rPr lang="en-US" sz="2400" dirty="0" err="1"/>
              <a:t>vst</a:t>
            </a:r>
            <a:endParaRPr lang="en-US" sz="2400" dirty="0"/>
          </a:p>
          <a:p>
            <a:pPr marL="457200" indent="-457200">
              <a:buNone/>
            </a:pPr>
            <a:r>
              <a:rPr lang="en-US" sz="2400" dirty="0" smtClean="0"/>
              <a:t>Totally 3 </a:t>
            </a:r>
            <a:r>
              <a:rPr lang="en-US" sz="2400" dirty="0"/>
              <a:t>chimes, 2 FP ops per result, cycles per FLOP = 1.5</a:t>
            </a:r>
          </a:p>
          <a:p>
            <a:pPr marL="457200" indent="-457200">
              <a:buNone/>
            </a:pPr>
            <a:r>
              <a:rPr lang="en-US" sz="2400" dirty="0"/>
              <a:t>For 64 element vectors, requires </a:t>
            </a:r>
            <a:r>
              <a:rPr lang="en-US" sz="2400" dirty="0" smtClean="0"/>
              <a:t>64</a:t>
            </a:r>
            <a:r>
              <a:rPr lang="en-US" sz="2400" dirty="0" smtClean="0"/>
              <a:t> </a:t>
            </a:r>
            <a:r>
              <a:rPr lang="en-US" sz="2400" dirty="0"/>
              <a:t>x 3 = </a:t>
            </a:r>
            <a:r>
              <a:rPr lang="en-US" sz="2400" dirty="0" smtClean="0"/>
              <a:t>192 </a:t>
            </a:r>
            <a:r>
              <a:rPr lang="en-US" sz="2400" dirty="0"/>
              <a:t>clock cycles</a:t>
            </a:r>
          </a:p>
        </p:txBody>
      </p:sp>
      <p:sp>
        <p:nvSpPr>
          <p:cNvPr id="242693" name="Text Box 5"/>
          <p:cNvSpPr txBox="1">
            <a:spLocks noChangeArrowheads="1"/>
          </p:cNvSpPr>
          <p:nvPr/>
        </p:nvSpPr>
        <p:spPr bwMode="auto">
          <a:xfrm rot="5400000">
            <a:off x="9366326" y="934844"/>
            <a:ext cx="2236638" cy="369332"/>
          </a:xfrm>
          <a:prstGeom prst="rect">
            <a:avLst/>
          </a:prstGeom>
          <a:solidFill>
            <a:srgbClr val="C0C0C0"/>
          </a:solidFill>
          <a:ln w="9525">
            <a:noFill/>
            <a:miter lim="800000"/>
            <a:headEnd/>
            <a:tailEnd/>
          </a:ln>
          <a:effectLst/>
        </p:spPr>
        <p:txBody>
          <a:bodyPr wrap="none">
            <a:spAutoFit/>
          </a:bodyPr>
          <a:lstStyle/>
          <a:p>
            <a:pPr eaLnBrk="0" hangingPunct="0">
              <a:spcBef>
                <a:spcPct val="0"/>
              </a:spcBef>
              <a:buClrTx/>
              <a:buSzTx/>
              <a:buFontTx/>
              <a:buNone/>
            </a:pPr>
            <a:r>
              <a:rPr lang="en-US" dirty="0">
                <a:solidFill>
                  <a:srgbClr val="0066FF"/>
                </a:solidFill>
                <a:latin typeface="Arial" charset="0"/>
              </a:rPr>
              <a:t>Vector Architectures</a:t>
            </a:r>
          </a:p>
        </p:txBody>
      </p:sp>
    </p:spTree>
    <p:extLst>
      <p:ext uri="{BB962C8B-B14F-4D97-AF65-F5344CB8AC3E}">
        <p14:creationId xmlns:p14="http://schemas.microsoft.com/office/powerpoint/2010/main" val="113429129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Challenges</a:t>
            </a:r>
            <a:endParaRPr lang="en-AU" dirty="0"/>
          </a:p>
        </p:txBody>
      </p:sp>
      <p:sp>
        <p:nvSpPr>
          <p:cNvPr id="242691" name="Rectangle 3"/>
          <p:cNvSpPr>
            <a:spLocks noGrp="1" noChangeArrowheads="1"/>
          </p:cNvSpPr>
          <p:nvPr>
            <p:ph type="body" idx="1"/>
          </p:nvPr>
        </p:nvSpPr>
        <p:spPr/>
        <p:txBody>
          <a:bodyPr/>
          <a:lstStyle/>
          <a:p>
            <a:r>
              <a:rPr lang="en-US" sz="2000" dirty="0"/>
              <a:t>Start up time</a:t>
            </a:r>
          </a:p>
          <a:p>
            <a:pPr lvl="1"/>
            <a:r>
              <a:rPr lang="en-US" sz="1800" dirty="0"/>
              <a:t>Latency of vector functional unit</a:t>
            </a:r>
          </a:p>
          <a:p>
            <a:pPr lvl="1"/>
            <a:r>
              <a:rPr lang="en-US" sz="1800" dirty="0"/>
              <a:t>Assume the same as Cray-1</a:t>
            </a:r>
          </a:p>
          <a:p>
            <a:pPr lvl="2"/>
            <a:r>
              <a:rPr lang="en-US" sz="1400" dirty="0"/>
              <a:t>Floating-point add =&gt; 6 clock cycles</a:t>
            </a:r>
          </a:p>
          <a:p>
            <a:pPr lvl="2"/>
            <a:r>
              <a:rPr lang="en-US" sz="1400" dirty="0"/>
              <a:t>Floating-point multiply =&gt; 7 clock cycles</a:t>
            </a:r>
          </a:p>
          <a:p>
            <a:pPr lvl="2"/>
            <a:r>
              <a:rPr lang="en-US" sz="1400" dirty="0"/>
              <a:t>Floating-point divide =&gt; 20 clock cycles</a:t>
            </a:r>
          </a:p>
          <a:p>
            <a:pPr lvl="2"/>
            <a:r>
              <a:rPr lang="en-US" sz="1400" dirty="0"/>
              <a:t>Vector load =&gt; 12 clock cycles</a:t>
            </a:r>
          </a:p>
          <a:p>
            <a:r>
              <a:rPr lang="en-US" sz="2000" dirty="0"/>
              <a:t>Improvements</a:t>
            </a:r>
            <a:r>
              <a:rPr lang="en-US" sz="2400" dirty="0"/>
              <a:t>:</a:t>
            </a:r>
          </a:p>
          <a:p>
            <a:pPr lvl="1"/>
            <a:r>
              <a:rPr lang="en-US" sz="1800" dirty="0"/>
              <a:t>&gt; 1 element per clock cycle</a:t>
            </a:r>
          </a:p>
          <a:p>
            <a:pPr lvl="1"/>
            <a:r>
              <a:rPr lang="en-US" sz="1800" dirty="0"/>
              <a:t>Non-64 wide vectors</a:t>
            </a:r>
          </a:p>
          <a:p>
            <a:pPr lvl="1"/>
            <a:r>
              <a:rPr lang="en-US" sz="1800" dirty="0"/>
              <a:t>IF statements in vector code</a:t>
            </a:r>
          </a:p>
          <a:p>
            <a:pPr lvl="1"/>
            <a:r>
              <a:rPr lang="en-US" sz="1800" dirty="0"/>
              <a:t>Memory system optimizations to support vector processors</a:t>
            </a:r>
          </a:p>
          <a:p>
            <a:pPr lvl="1"/>
            <a:r>
              <a:rPr lang="en-US" sz="1800" dirty="0"/>
              <a:t>Multiple dimensional matrices</a:t>
            </a:r>
          </a:p>
          <a:p>
            <a:pPr lvl="1"/>
            <a:r>
              <a:rPr lang="en-US" sz="1800" dirty="0"/>
              <a:t>Sparse matrices</a:t>
            </a:r>
          </a:p>
          <a:p>
            <a:pPr lvl="1"/>
            <a:r>
              <a:rPr lang="en-US" sz="1800" dirty="0"/>
              <a:t>Programming a vector computer</a:t>
            </a:r>
          </a:p>
        </p:txBody>
      </p:sp>
      <p:sp>
        <p:nvSpPr>
          <p:cNvPr id="242693" name="Text Box 5"/>
          <p:cNvSpPr txBox="1">
            <a:spLocks noChangeArrowheads="1"/>
          </p:cNvSpPr>
          <p:nvPr/>
        </p:nvSpPr>
        <p:spPr bwMode="auto">
          <a:xfrm rot="5400000">
            <a:off x="9366326" y="934844"/>
            <a:ext cx="2236638" cy="369332"/>
          </a:xfrm>
          <a:prstGeom prst="rect">
            <a:avLst/>
          </a:prstGeom>
          <a:solidFill>
            <a:srgbClr val="C0C0C0"/>
          </a:solidFill>
          <a:ln w="9525">
            <a:noFill/>
            <a:miter lim="800000"/>
            <a:headEnd/>
            <a:tailEnd/>
          </a:ln>
          <a:effectLst/>
        </p:spPr>
        <p:txBody>
          <a:bodyPr wrap="none">
            <a:spAutoFit/>
          </a:bodyPr>
          <a:lstStyle/>
          <a:p>
            <a:pPr eaLnBrk="0" hangingPunct="0">
              <a:spcBef>
                <a:spcPct val="0"/>
              </a:spcBef>
              <a:buClrTx/>
              <a:buSzTx/>
              <a:buFontTx/>
              <a:buNone/>
            </a:pPr>
            <a:r>
              <a:rPr lang="en-US" dirty="0">
                <a:solidFill>
                  <a:srgbClr val="0066FF"/>
                </a:solidFill>
                <a:latin typeface="Arial" charset="0"/>
              </a:rPr>
              <a:t>Vector Architectures</a:t>
            </a:r>
          </a:p>
        </p:txBody>
      </p:sp>
    </p:spTree>
    <p:extLst>
      <p:ext uri="{BB962C8B-B14F-4D97-AF65-F5344CB8AC3E}">
        <p14:creationId xmlns:p14="http://schemas.microsoft.com/office/powerpoint/2010/main" val="41258241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smtClean="0"/>
              <a:t>Multiple Lanes</a:t>
            </a:r>
            <a:endParaRPr lang="en-AU" dirty="0"/>
          </a:p>
        </p:txBody>
      </p:sp>
      <p:sp>
        <p:nvSpPr>
          <p:cNvPr id="242691" name="Rectangle 3"/>
          <p:cNvSpPr>
            <a:spLocks noGrp="1" noChangeArrowheads="1"/>
          </p:cNvSpPr>
          <p:nvPr>
            <p:ph type="body" idx="1"/>
          </p:nvPr>
        </p:nvSpPr>
        <p:spPr/>
        <p:txBody>
          <a:bodyPr/>
          <a:lstStyle/>
          <a:p>
            <a:r>
              <a:rPr lang="en-US" dirty="0" smtClean="0"/>
              <a:t>Element n of vector register A is “hardwired” to element n of vector register B</a:t>
            </a:r>
          </a:p>
          <a:p>
            <a:pPr lvl="1"/>
            <a:r>
              <a:rPr lang="en-US" dirty="0" smtClean="0"/>
              <a:t>Allows for multiple hardware lanes</a:t>
            </a:r>
          </a:p>
        </p:txBody>
      </p:sp>
      <p:sp>
        <p:nvSpPr>
          <p:cNvPr id="242693" name="Text Box 5"/>
          <p:cNvSpPr txBox="1">
            <a:spLocks noChangeArrowheads="1"/>
          </p:cNvSpPr>
          <p:nvPr/>
        </p:nvSpPr>
        <p:spPr bwMode="auto">
          <a:xfrm rot="5400000">
            <a:off x="9366326" y="934844"/>
            <a:ext cx="2236638" cy="369332"/>
          </a:xfrm>
          <a:prstGeom prst="rect">
            <a:avLst/>
          </a:prstGeom>
          <a:solidFill>
            <a:srgbClr val="C0C0C0"/>
          </a:solidFill>
          <a:ln w="9525">
            <a:noFill/>
            <a:miter lim="800000"/>
            <a:headEnd/>
            <a:tailEnd/>
          </a:ln>
          <a:effectLst/>
        </p:spPr>
        <p:txBody>
          <a:bodyPr wrap="none">
            <a:spAutoFit/>
          </a:bodyPr>
          <a:lstStyle/>
          <a:p>
            <a:pPr eaLnBrk="0" hangingPunct="0">
              <a:spcBef>
                <a:spcPct val="0"/>
              </a:spcBef>
              <a:buClrTx/>
              <a:buSzTx/>
              <a:buFontTx/>
              <a:buNone/>
            </a:pPr>
            <a:r>
              <a:rPr lang="en-US" dirty="0">
                <a:solidFill>
                  <a:srgbClr val="0066FF"/>
                </a:solidFill>
                <a:latin typeface="Arial" charset="0"/>
              </a:rPr>
              <a:t>Vector Architectures</a:t>
            </a:r>
          </a:p>
        </p:txBody>
      </p:sp>
      <p:pic>
        <p:nvPicPr>
          <p:cNvPr id="4" name="图片 3"/>
          <p:cNvPicPr>
            <a:picLocks noChangeAspect="1"/>
          </p:cNvPicPr>
          <p:nvPr/>
        </p:nvPicPr>
        <p:blipFill>
          <a:blip r:embed="rId3"/>
          <a:stretch>
            <a:fillRect/>
          </a:stretch>
        </p:blipFill>
        <p:spPr>
          <a:xfrm>
            <a:off x="6915527" y="2396016"/>
            <a:ext cx="4438273" cy="4115157"/>
          </a:xfrm>
          <a:prstGeom prst="rect">
            <a:avLst/>
          </a:prstGeom>
        </p:spPr>
      </p:pic>
      <p:pic>
        <p:nvPicPr>
          <p:cNvPr id="6" name="图片 5"/>
          <p:cNvPicPr>
            <a:picLocks noChangeAspect="1"/>
          </p:cNvPicPr>
          <p:nvPr/>
        </p:nvPicPr>
        <p:blipFill>
          <a:blip r:embed="rId4"/>
          <a:stretch>
            <a:fillRect/>
          </a:stretch>
        </p:blipFill>
        <p:spPr>
          <a:xfrm>
            <a:off x="983432" y="3041926"/>
            <a:ext cx="4365114" cy="3627434"/>
          </a:xfrm>
          <a:prstGeom prst="rect">
            <a:avLst/>
          </a:prstGeom>
        </p:spPr>
      </p:pic>
    </p:spTree>
    <p:extLst>
      <p:ext uri="{BB962C8B-B14F-4D97-AF65-F5344CB8AC3E}">
        <p14:creationId xmlns:p14="http://schemas.microsoft.com/office/powerpoint/2010/main" val="10372274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1343472" y="692696"/>
            <a:ext cx="6510908" cy="446088"/>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Vector Length</a:t>
            </a:r>
          </a:p>
        </p:txBody>
      </p:sp>
      <p:sp>
        <p:nvSpPr>
          <p:cNvPr id="47107" name="Rectangle 3"/>
          <p:cNvSpPr>
            <a:spLocks noGrp="1" noChangeArrowheads="1"/>
          </p:cNvSpPr>
          <p:nvPr>
            <p:ph type="body" idx="1"/>
          </p:nvPr>
        </p:nvSpPr>
        <p:spPr>
          <a:xfrm>
            <a:off x="1055440" y="1700808"/>
            <a:ext cx="10153128" cy="4114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dirty="0"/>
              <a:t>What to do when vector length is not exactly 64?   </a:t>
            </a:r>
          </a:p>
          <a:p>
            <a:r>
              <a:rPr lang="en-US" altLang="zh-CN" i="1" dirty="0">
                <a:solidFill>
                  <a:srgbClr val="FF0000"/>
                </a:solidFill>
              </a:rPr>
              <a:t>vector-length register</a:t>
            </a:r>
            <a:r>
              <a:rPr lang="en-US" altLang="zh-CN" i="1" dirty="0">
                <a:solidFill>
                  <a:schemeClr val="hlink"/>
                </a:solidFill>
              </a:rPr>
              <a:t> </a:t>
            </a:r>
            <a:r>
              <a:rPr lang="en-US" altLang="zh-CN" dirty="0"/>
              <a:t>(VLR) controls the length of any vector operation, including a vector load or store. (cannot be &gt; the length of vector registers)</a:t>
            </a:r>
          </a:p>
          <a:p>
            <a:pPr>
              <a:buFont typeface="Wingdings" panose="05000000000000000000" pitchFamily="2" charset="2"/>
              <a:buNone/>
            </a:pPr>
            <a:r>
              <a:rPr lang="en-US" altLang="zh-CN" dirty="0">
                <a:latin typeface="Courier New" panose="02070309020205020404" pitchFamily="49" charset="0"/>
              </a:rPr>
              <a:t>		do 10 </a:t>
            </a:r>
            <a:r>
              <a:rPr lang="en-US" altLang="zh-CN" dirty="0" err="1">
                <a:latin typeface="Courier New" panose="02070309020205020404" pitchFamily="49" charset="0"/>
              </a:rPr>
              <a:t>i</a:t>
            </a:r>
            <a:r>
              <a:rPr lang="en-US" altLang="zh-CN" dirty="0">
                <a:latin typeface="Courier New" panose="02070309020205020404" pitchFamily="49" charset="0"/>
              </a:rPr>
              <a:t> = 1, n</a:t>
            </a:r>
          </a:p>
          <a:p>
            <a:pPr>
              <a:buFont typeface="Wingdings" panose="05000000000000000000" pitchFamily="2" charset="2"/>
              <a:buNone/>
            </a:pPr>
            <a:r>
              <a:rPr lang="en-US" altLang="zh-CN" dirty="0">
                <a:latin typeface="Courier New" panose="02070309020205020404" pitchFamily="49" charset="0"/>
              </a:rPr>
              <a:t>10	Y(</a:t>
            </a:r>
            <a:r>
              <a:rPr lang="en-US" altLang="zh-CN" dirty="0" err="1">
                <a:latin typeface="Courier New" panose="02070309020205020404" pitchFamily="49" charset="0"/>
              </a:rPr>
              <a:t>i</a:t>
            </a:r>
            <a:r>
              <a:rPr lang="en-US" altLang="zh-CN" dirty="0">
                <a:latin typeface="Courier New" panose="02070309020205020404" pitchFamily="49" charset="0"/>
              </a:rPr>
              <a:t>) = a * X(</a:t>
            </a:r>
            <a:r>
              <a:rPr lang="en-US" altLang="zh-CN" dirty="0" err="1">
                <a:latin typeface="Courier New" panose="02070309020205020404" pitchFamily="49" charset="0"/>
              </a:rPr>
              <a:t>i</a:t>
            </a:r>
            <a:r>
              <a:rPr lang="en-US" altLang="zh-CN" dirty="0">
                <a:latin typeface="Courier New" panose="02070309020205020404" pitchFamily="49" charset="0"/>
              </a:rPr>
              <a:t>) + Y(</a:t>
            </a:r>
            <a:r>
              <a:rPr lang="en-US" altLang="zh-CN" dirty="0" err="1">
                <a:latin typeface="Courier New" panose="02070309020205020404" pitchFamily="49" charset="0"/>
              </a:rPr>
              <a:t>i</a:t>
            </a:r>
            <a:r>
              <a:rPr lang="en-US" altLang="zh-CN" dirty="0">
                <a:latin typeface="Courier New" panose="02070309020205020404" pitchFamily="49" charset="0"/>
              </a:rPr>
              <a:t>)</a:t>
            </a:r>
            <a:endParaRPr lang="en-US" altLang="zh-CN" dirty="0"/>
          </a:p>
          <a:p>
            <a:r>
              <a:rPr lang="en-US" altLang="zh-CN" dirty="0"/>
              <a:t>Don't know n until runtime! </a:t>
            </a:r>
            <a:br>
              <a:rPr lang="en-US" altLang="zh-CN" dirty="0"/>
            </a:br>
            <a:r>
              <a:rPr lang="en-US" altLang="zh-CN" dirty="0"/>
              <a:t>n &gt; Max. Vector Length (MVL</a:t>
            </a:r>
            <a:r>
              <a:rPr lang="en-US" altLang="zh-CN" dirty="0" smtClean="0"/>
              <a:t>)?</a:t>
            </a:r>
          </a:p>
          <a:p>
            <a:r>
              <a:rPr lang="en-US" altLang="zh-CN" dirty="0" smtClean="0"/>
              <a:t>Use Strip-Mining</a:t>
            </a:r>
            <a:endParaRPr lang="en-US" altLang="zh-CN" dirty="0"/>
          </a:p>
        </p:txBody>
      </p:sp>
    </p:spTree>
    <p:extLst>
      <p:ext uri="{BB962C8B-B14F-4D97-AF65-F5344CB8AC3E}">
        <p14:creationId xmlns:p14="http://schemas.microsoft.com/office/powerpoint/2010/main" val="1868931066"/>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Strip-mining for any Vector Length</a:t>
            </a:r>
            <a:endParaRPr lang="en-AU" dirty="0"/>
          </a:p>
        </p:txBody>
      </p:sp>
      <p:sp>
        <p:nvSpPr>
          <p:cNvPr id="242691" name="Rectangle 3"/>
          <p:cNvSpPr>
            <a:spLocks noGrp="1" noChangeArrowheads="1"/>
          </p:cNvSpPr>
          <p:nvPr>
            <p:ph type="body" idx="1"/>
          </p:nvPr>
        </p:nvSpPr>
        <p:spPr>
          <a:xfrm>
            <a:off x="838200" y="1556792"/>
            <a:ext cx="11162456" cy="5112568"/>
          </a:xfrm>
        </p:spPr>
        <p:txBody>
          <a:bodyPr/>
          <a:lstStyle/>
          <a:p>
            <a:pPr marL="0" indent="0">
              <a:buNone/>
            </a:pPr>
            <a:r>
              <a:rPr lang="nn-NO" sz="2400" b="1" dirty="0">
                <a:latin typeface="Courier New" panose="02070309020205020404" pitchFamily="49" charset="0"/>
                <a:cs typeface="Courier New" panose="02070309020205020404" pitchFamily="49" charset="0"/>
              </a:rPr>
              <a:t>for (i=0; i &lt;n; i=i+1) Y[i] = a * X[i] + Y[i];</a:t>
            </a:r>
            <a:endParaRPr lang="en-US" sz="2400" b="1" dirty="0">
              <a:latin typeface="Courier New" panose="02070309020205020404" pitchFamily="49" charset="0"/>
              <a:cs typeface="Courier New" panose="02070309020205020404" pitchFamily="49" charset="0"/>
            </a:endParaRPr>
          </a:p>
          <a:p>
            <a:pPr marL="400050" lvl="1" indent="0">
              <a:buNone/>
            </a:pPr>
            <a:r>
              <a:rPr lang="en-US" b="1" dirty="0">
                <a:latin typeface="Courier New" panose="02070309020205020404" pitchFamily="49" charset="0"/>
                <a:cs typeface="Courier New" panose="02070309020205020404" pitchFamily="49" charset="0"/>
              </a:rPr>
              <a:t>	</a:t>
            </a:r>
            <a:r>
              <a:rPr lang="en-US" b="1" dirty="0" err="1" smtClean="0">
                <a:latin typeface="Courier New" panose="02070309020205020404" pitchFamily="49" charset="0"/>
                <a:cs typeface="Courier New" panose="02070309020205020404" pitchFamily="49" charset="0"/>
              </a:rPr>
              <a:t>fld</a:t>
            </a:r>
            <a:r>
              <a:rPr lang="en-US" b="1" dirty="0" smtClean="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f0,a		</a:t>
            </a:r>
            <a:r>
              <a:rPr lang="en-US" b="1" dirty="0" smtClean="0">
                <a:latin typeface="Courier New" panose="02070309020205020404" pitchFamily="49" charset="0"/>
                <a:cs typeface="Courier New" panose="02070309020205020404" pitchFamily="49" charset="0"/>
              </a:rPr>
              <a:t>	</a:t>
            </a:r>
            <a:r>
              <a:rPr lang="en-US" dirty="0" smtClean="0"/>
              <a:t># </a:t>
            </a:r>
            <a:r>
              <a:rPr lang="en-US" dirty="0"/>
              <a:t>Load scalar </a:t>
            </a:r>
            <a:r>
              <a:rPr lang="en-US" dirty="0" smtClean="0"/>
              <a:t>a</a:t>
            </a:r>
            <a:r>
              <a:rPr lang="en-US" b="1" dirty="0" smtClean="0">
                <a:latin typeface="Courier New" panose="02070309020205020404" pitchFamily="49" charset="0"/>
                <a:cs typeface="Courier New" panose="02070309020205020404" pitchFamily="49" charset="0"/>
              </a:rPr>
              <a:t/>
            </a:r>
            <a:br>
              <a:rPr lang="en-US" b="1" dirty="0" smtClean="0">
                <a:latin typeface="Courier New" panose="02070309020205020404" pitchFamily="49" charset="0"/>
                <a:cs typeface="Courier New" panose="02070309020205020404" pitchFamily="49" charset="0"/>
              </a:rPr>
            </a:br>
            <a:r>
              <a:rPr lang="en-US" b="1" dirty="0" smtClean="0">
                <a:latin typeface="Courier New" panose="02070309020205020404" pitchFamily="49" charset="0"/>
                <a:cs typeface="Courier New" panose="02070309020205020404" pitchFamily="49" charset="0"/>
              </a:rPr>
              <a:t>loop</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setvl</a:t>
            </a:r>
            <a:r>
              <a:rPr lang="en-US" b="1" dirty="0">
                <a:latin typeface="Courier New" panose="02070309020205020404" pitchFamily="49" charset="0"/>
                <a:cs typeface="Courier New" panose="02070309020205020404" pitchFamily="49" charset="0"/>
              </a:rPr>
              <a:t> t0,a0	</a:t>
            </a:r>
            <a:r>
              <a:rPr lang="en-US" dirty="0"/>
              <a:t># </a:t>
            </a:r>
            <a:r>
              <a:rPr lang="en-US" dirty="0" err="1"/>
              <a:t>vl</a:t>
            </a:r>
            <a:r>
              <a:rPr lang="en-US" dirty="0"/>
              <a:t> = t0 = min(</a:t>
            </a:r>
            <a:r>
              <a:rPr lang="en-US" dirty="0" err="1"/>
              <a:t>mvl,n</a:t>
            </a:r>
            <a:r>
              <a:rPr lang="en-US" dirty="0"/>
              <a:t>)</a:t>
            </a:r>
          </a:p>
          <a:p>
            <a:pPr marL="400050" lvl="1" indent="0">
              <a:buNone/>
            </a:pP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vld</a:t>
            </a:r>
            <a:r>
              <a:rPr lang="en-US" b="1" dirty="0">
                <a:latin typeface="Courier New" panose="02070309020205020404" pitchFamily="49" charset="0"/>
                <a:cs typeface="Courier New" panose="02070309020205020404" pitchFamily="49" charset="0"/>
              </a:rPr>
              <a:t> v0,x5		</a:t>
            </a:r>
            <a:r>
              <a:rPr lang="en-US" b="1" dirty="0" smtClean="0">
                <a:latin typeface="Courier New" panose="02070309020205020404" pitchFamily="49" charset="0"/>
                <a:cs typeface="Courier New" panose="02070309020205020404" pitchFamily="49" charset="0"/>
              </a:rPr>
              <a:t>	</a:t>
            </a:r>
            <a:r>
              <a:rPr lang="en-US" dirty="0"/>
              <a:t># </a:t>
            </a:r>
            <a:r>
              <a:rPr lang="en-US" dirty="0"/>
              <a:t>Load vector X</a:t>
            </a:r>
          </a:p>
          <a:p>
            <a:pPr marL="400050" lvl="1" indent="0">
              <a:buNone/>
            </a:pP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slli</a:t>
            </a:r>
            <a:r>
              <a:rPr lang="en-US" b="1" dirty="0">
                <a:latin typeface="Courier New" panose="02070309020205020404" pitchFamily="49" charset="0"/>
                <a:cs typeface="Courier New" panose="02070309020205020404" pitchFamily="49" charset="0"/>
              </a:rPr>
              <a:t> t1,t0,3	</a:t>
            </a:r>
            <a:r>
              <a:rPr lang="en-US" b="1" dirty="0" smtClean="0">
                <a:latin typeface="Courier New" panose="02070309020205020404" pitchFamily="49" charset="0"/>
                <a:cs typeface="Courier New" panose="02070309020205020404" pitchFamily="49" charset="0"/>
              </a:rPr>
              <a:t>	</a:t>
            </a:r>
            <a:r>
              <a:rPr lang="en-US" dirty="0"/>
              <a:t># </a:t>
            </a:r>
            <a:r>
              <a:rPr lang="en-US" dirty="0"/>
              <a:t>t1 = </a:t>
            </a:r>
            <a:r>
              <a:rPr lang="en-US" dirty="0" err="1"/>
              <a:t>vl</a:t>
            </a:r>
            <a:r>
              <a:rPr lang="en-US" dirty="0"/>
              <a:t> * 8 (in bytes)</a:t>
            </a:r>
          </a:p>
          <a:p>
            <a:pPr marL="400050" lvl="1" indent="0">
              <a:buNone/>
            </a:pPr>
            <a:r>
              <a:rPr lang="en-US" b="1" dirty="0">
                <a:latin typeface="Courier New" panose="02070309020205020404" pitchFamily="49" charset="0"/>
                <a:cs typeface="Courier New" panose="02070309020205020404" pitchFamily="49" charset="0"/>
              </a:rPr>
              <a:t>	add x5,x5,t1	</a:t>
            </a:r>
            <a:r>
              <a:rPr lang="en-US" b="1" dirty="0" smtClean="0">
                <a:latin typeface="Courier New" panose="02070309020205020404" pitchFamily="49" charset="0"/>
                <a:cs typeface="Courier New" panose="02070309020205020404" pitchFamily="49" charset="0"/>
              </a:rPr>
              <a:t>	</a:t>
            </a:r>
            <a:r>
              <a:rPr lang="en-US" dirty="0"/>
              <a:t># </a:t>
            </a:r>
            <a:r>
              <a:rPr lang="en-US" dirty="0"/>
              <a:t>Increment pointer to X by </a:t>
            </a:r>
            <a:r>
              <a:rPr lang="en-US" dirty="0" err="1"/>
              <a:t>vl</a:t>
            </a:r>
            <a:r>
              <a:rPr lang="en-US" dirty="0"/>
              <a:t>*8</a:t>
            </a:r>
          </a:p>
          <a:p>
            <a:pPr marL="400050" lvl="1" indent="0">
              <a:buNone/>
            </a:pP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vmul</a:t>
            </a:r>
            <a:r>
              <a:rPr lang="en-US" b="1" dirty="0">
                <a:latin typeface="Courier New" panose="02070309020205020404" pitchFamily="49" charset="0"/>
                <a:cs typeface="Courier New" panose="02070309020205020404" pitchFamily="49" charset="0"/>
              </a:rPr>
              <a:t> v0,v0,f0	</a:t>
            </a:r>
            <a:r>
              <a:rPr lang="en-US" b="1" dirty="0" smtClean="0">
                <a:latin typeface="Courier New" panose="02070309020205020404" pitchFamily="49" charset="0"/>
                <a:cs typeface="Courier New" panose="02070309020205020404" pitchFamily="49" charset="0"/>
              </a:rPr>
              <a:t>	</a:t>
            </a:r>
            <a:r>
              <a:rPr lang="en-US" dirty="0"/>
              <a:t># </a:t>
            </a:r>
            <a:r>
              <a:rPr lang="en-US" dirty="0"/>
              <a:t>Vector-scalar </a:t>
            </a:r>
            <a:r>
              <a:rPr lang="en-US" dirty="0" err="1"/>
              <a:t>mult</a:t>
            </a:r>
            <a:endParaRPr lang="en-US" dirty="0"/>
          </a:p>
          <a:p>
            <a:pPr marL="400050" lvl="1" indent="0">
              <a:buNone/>
            </a:pP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vld</a:t>
            </a:r>
            <a:r>
              <a:rPr lang="en-US" b="1" dirty="0">
                <a:latin typeface="Courier New" panose="02070309020205020404" pitchFamily="49" charset="0"/>
                <a:cs typeface="Courier New" panose="02070309020205020404" pitchFamily="49" charset="0"/>
              </a:rPr>
              <a:t> v1,x6		</a:t>
            </a:r>
            <a:r>
              <a:rPr lang="en-US" b="1" dirty="0" smtClean="0">
                <a:latin typeface="Courier New" panose="02070309020205020404" pitchFamily="49" charset="0"/>
                <a:cs typeface="Courier New" panose="02070309020205020404" pitchFamily="49" charset="0"/>
              </a:rPr>
              <a:t>	</a:t>
            </a:r>
            <a:r>
              <a:rPr lang="en-US" dirty="0"/>
              <a:t># </a:t>
            </a:r>
            <a:r>
              <a:rPr lang="en-US" dirty="0"/>
              <a:t>Load vector Y</a:t>
            </a:r>
          </a:p>
          <a:p>
            <a:pPr marL="400050" lvl="1" indent="0">
              <a:buNone/>
            </a:pP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vadd</a:t>
            </a:r>
            <a:r>
              <a:rPr lang="en-US" b="1" dirty="0">
                <a:latin typeface="Courier New" panose="02070309020205020404" pitchFamily="49" charset="0"/>
                <a:cs typeface="Courier New" panose="02070309020205020404" pitchFamily="49" charset="0"/>
              </a:rPr>
              <a:t> v1,v0,v1	</a:t>
            </a:r>
            <a:r>
              <a:rPr lang="en-US" b="1" dirty="0" smtClean="0">
                <a:latin typeface="Courier New" panose="02070309020205020404" pitchFamily="49" charset="0"/>
                <a:cs typeface="Courier New" panose="02070309020205020404" pitchFamily="49" charset="0"/>
              </a:rPr>
              <a:t>	</a:t>
            </a:r>
            <a:r>
              <a:rPr lang="en-US" dirty="0"/>
              <a:t># </a:t>
            </a:r>
            <a:r>
              <a:rPr lang="en-US" dirty="0"/>
              <a:t>Vector-vector add</a:t>
            </a:r>
          </a:p>
          <a:p>
            <a:pPr marL="400050" lvl="1" indent="0">
              <a:buNone/>
            </a:pPr>
            <a:r>
              <a:rPr lang="en-US" b="1" dirty="0">
                <a:latin typeface="Courier New" panose="02070309020205020404" pitchFamily="49" charset="0"/>
                <a:cs typeface="Courier New" panose="02070309020205020404" pitchFamily="49" charset="0"/>
              </a:rPr>
              <a:t>	sub a0,a0,t0	</a:t>
            </a:r>
            <a:r>
              <a:rPr lang="en-US" b="1" dirty="0" smtClean="0">
                <a:latin typeface="Courier New" panose="02070309020205020404" pitchFamily="49" charset="0"/>
                <a:cs typeface="Courier New" panose="02070309020205020404" pitchFamily="49" charset="0"/>
              </a:rPr>
              <a:t>	</a:t>
            </a:r>
            <a:r>
              <a:rPr lang="en-US" dirty="0"/>
              <a:t># </a:t>
            </a:r>
            <a:r>
              <a:rPr lang="en-US" dirty="0"/>
              <a:t>n -= </a:t>
            </a:r>
            <a:r>
              <a:rPr lang="en-US" dirty="0" err="1"/>
              <a:t>vl</a:t>
            </a:r>
            <a:r>
              <a:rPr lang="en-US" dirty="0"/>
              <a:t> (t0)</a:t>
            </a:r>
          </a:p>
          <a:p>
            <a:pPr marL="400050" lvl="1" indent="0">
              <a:buNone/>
            </a:pP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vst</a:t>
            </a:r>
            <a:r>
              <a:rPr lang="en-US" b="1" dirty="0">
                <a:latin typeface="Courier New" panose="02070309020205020404" pitchFamily="49" charset="0"/>
                <a:cs typeface="Courier New" panose="02070309020205020404" pitchFamily="49" charset="0"/>
              </a:rPr>
              <a:t> v1,x6		</a:t>
            </a:r>
            <a:r>
              <a:rPr lang="en-US" b="1" dirty="0" smtClean="0">
                <a:latin typeface="Courier New" panose="02070309020205020404" pitchFamily="49" charset="0"/>
                <a:cs typeface="Courier New" panose="02070309020205020404" pitchFamily="49" charset="0"/>
              </a:rPr>
              <a:t>	</a:t>
            </a:r>
            <a:r>
              <a:rPr lang="en-US" dirty="0"/>
              <a:t># </a:t>
            </a:r>
            <a:r>
              <a:rPr lang="en-US" dirty="0"/>
              <a:t>Store the sum into Y</a:t>
            </a:r>
          </a:p>
          <a:p>
            <a:pPr marL="400050" lvl="1" indent="0">
              <a:buNone/>
            </a:pPr>
            <a:r>
              <a:rPr lang="en-US" b="1" dirty="0">
                <a:latin typeface="Courier New" panose="02070309020205020404" pitchFamily="49" charset="0"/>
                <a:cs typeface="Courier New" panose="02070309020205020404" pitchFamily="49" charset="0"/>
              </a:rPr>
              <a:t>	add x6,x6,t1	</a:t>
            </a:r>
            <a:r>
              <a:rPr lang="en-US" b="1" dirty="0" smtClean="0">
                <a:latin typeface="Courier New" panose="02070309020205020404" pitchFamily="49" charset="0"/>
                <a:cs typeface="Courier New" panose="02070309020205020404" pitchFamily="49" charset="0"/>
              </a:rPr>
              <a:t>	</a:t>
            </a:r>
            <a:r>
              <a:rPr lang="en-US" dirty="0"/>
              <a:t># </a:t>
            </a:r>
            <a:r>
              <a:rPr lang="en-US" dirty="0"/>
              <a:t>Increment pointer to Y by </a:t>
            </a:r>
            <a:r>
              <a:rPr lang="en-US" dirty="0" err="1"/>
              <a:t>vl</a:t>
            </a:r>
            <a:r>
              <a:rPr lang="en-US" dirty="0"/>
              <a:t>*8</a:t>
            </a:r>
          </a:p>
          <a:p>
            <a:pPr marL="400050" lvl="1" indent="0">
              <a:buNone/>
            </a:pP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bnez</a:t>
            </a:r>
            <a:r>
              <a:rPr lang="en-US" b="1" dirty="0">
                <a:latin typeface="Courier New" panose="02070309020205020404" pitchFamily="49" charset="0"/>
                <a:cs typeface="Courier New" panose="02070309020205020404" pitchFamily="49" charset="0"/>
              </a:rPr>
              <a:t> a0,loop	</a:t>
            </a:r>
            <a:r>
              <a:rPr lang="en-US" b="1" dirty="0" smtClean="0">
                <a:latin typeface="Courier New" panose="02070309020205020404" pitchFamily="49" charset="0"/>
                <a:cs typeface="Courier New" panose="02070309020205020404" pitchFamily="49" charset="0"/>
              </a:rPr>
              <a:t>	</a:t>
            </a:r>
            <a:r>
              <a:rPr lang="en-US" dirty="0"/>
              <a:t># </a:t>
            </a:r>
            <a:r>
              <a:rPr lang="en-US" dirty="0"/>
              <a:t>Repeat if n != </a:t>
            </a:r>
            <a:r>
              <a:rPr lang="en-US" dirty="0"/>
              <a:t>0</a:t>
            </a:r>
            <a:endParaRPr lang="en-US" dirty="0"/>
          </a:p>
        </p:txBody>
      </p:sp>
      <p:sp>
        <p:nvSpPr>
          <p:cNvPr id="242693" name="Text Box 5"/>
          <p:cNvSpPr txBox="1">
            <a:spLocks noChangeArrowheads="1"/>
          </p:cNvSpPr>
          <p:nvPr/>
        </p:nvSpPr>
        <p:spPr bwMode="auto">
          <a:xfrm rot="5400000">
            <a:off x="9366326" y="934844"/>
            <a:ext cx="2236638" cy="369332"/>
          </a:xfrm>
          <a:prstGeom prst="rect">
            <a:avLst/>
          </a:prstGeom>
          <a:solidFill>
            <a:srgbClr val="C0C0C0"/>
          </a:solidFill>
          <a:ln w="9525">
            <a:noFill/>
            <a:miter lim="800000"/>
            <a:headEnd/>
            <a:tailEnd/>
          </a:ln>
          <a:effectLst/>
        </p:spPr>
        <p:txBody>
          <a:bodyPr wrap="none">
            <a:spAutoFit/>
          </a:bodyPr>
          <a:lstStyle/>
          <a:p>
            <a:pPr eaLnBrk="0" hangingPunct="0">
              <a:spcBef>
                <a:spcPct val="0"/>
              </a:spcBef>
              <a:buClrTx/>
              <a:buSzTx/>
              <a:buFontTx/>
              <a:buNone/>
            </a:pPr>
            <a:r>
              <a:rPr lang="en-US" dirty="0">
                <a:solidFill>
                  <a:srgbClr val="0066FF"/>
                </a:solidFill>
                <a:latin typeface="Arial" charset="0"/>
              </a:rPr>
              <a:t>Vector Architectures</a:t>
            </a:r>
          </a:p>
        </p:txBody>
      </p:sp>
    </p:spTree>
    <p:extLst>
      <p:ext uri="{BB962C8B-B14F-4D97-AF65-F5344CB8AC3E}">
        <p14:creationId xmlns:p14="http://schemas.microsoft.com/office/powerpoint/2010/main" val="148649942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695400" y="332656"/>
            <a:ext cx="9460856" cy="1008063"/>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Vector Opt #2: Conditional Execution</a:t>
            </a:r>
          </a:p>
        </p:txBody>
      </p:sp>
      <p:sp>
        <p:nvSpPr>
          <p:cNvPr id="55299" name="Rectangle 3"/>
          <p:cNvSpPr>
            <a:spLocks noGrp="1" noChangeArrowheads="1"/>
          </p:cNvSpPr>
          <p:nvPr>
            <p:ph type="body" idx="1"/>
          </p:nvPr>
        </p:nvSpPr>
        <p:spPr>
          <a:xfrm>
            <a:off x="551384" y="1628800"/>
            <a:ext cx="11161240" cy="4992241"/>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spcBef>
                <a:spcPct val="0"/>
              </a:spcBef>
            </a:pPr>
            <a:r>
              <a:rPr lang="en-US" altLang="zh-CN" dirty="0"/>
              <a:t>Suppose:	</a:t>
            </a:r>
          </a:p>
          <a:p>
            <a:pPr>
              <a:spcBef>
                <a:spcPct val="0"/>
              </a:spcBef>
              <a:buFont typeface="Wingdings" panose="05000000000000000000" pitchFamily="2" charset="2"/>
              <a:buNone/>
            </a:pPr>
            <a:r>
              <a:rPr lang="en-US" altLang="zh-CN" dirty="0">
                <a:latin typeface="Courier New" panose="02070309020205020404" pitchFamily="49" charset="0"/>
              </a:rPr>
              <a:t>		do 100 </a:t>
            </a:r>
            <a:r>
              <a:rPr lang="en-US" altLang="zh-CN" dirty="0" err="1">
                <a:latin typeface="Courier New" panose="02070309020205020404" pitchFamily="49" charset="0"/>
              </a:rPr>
              <a:t>i</a:t>
            </a:r>
            <a:r>
              <a:rPr lang="en-US" altLang="zh-CN" dirty="0">
                <a:latin typeface="Courier New" panose="02070309020205020404" pitchFamily="49" charset="0"/>
              </a:rPr>
              <a:t> = 1, 64</a:t>
            </a:r>
          </a:p>
          <a:p>
            <a:pPr>
              <a:spcBef>
                <a:spcPct val="0"/>
              </a:spcBef>
              <a:buFont typeface="Wingdings" panose="05000000000000000000" pitchFamily="2" charset="2"/>
              <a:buNone/>
            </a:pPr>
            <a:r>
              <a:rPr lang="en-US" altLang="zh-CN" dirty="0">
                <a:latin typeface="Courier New" panose="02070309020205020404" pitchFamily="49" charset="0"/>
              </a:rPr>
              <a:t>			if (A(</a:t>
            </a:r>
            <a:r>
              <a:rPr lang="en-US" altLang="zh-CN" dirty="0" err="1">
                <a:latin typeface="Courier New" panose="02070309020205020404" pitchFamily="49" charset="0"/>
              </a:rPr>
              <a:t>i</a:t>
            </a:r>
            <a:r>
              <a:rPr lang="en-US" altLang="zh-CN" dirty="0">
                <a:latin typeface="Courier New" panose="02070309020205020404" pitchFamily="49" charset="0"/>
              </a:rPr>
              <a:t>) .ne. 0) then</a:t>
            </a:r>
          </a:p>
          <a:p>
            <a:pPr>
              <a:spcBef>
                <a:spcPct val="0"/>
              </a:spcBef>
              <a:buFont typeface="Wingdings" panose="05000000000000000000" pitchFamily="2" charset="2"/>
              <a:buNone/>
            </a:pPr>
            <a:r>
              <a:rPr lang="en-US" altLang="zh-CN" dirty="0">
                <a:latin typeface="Courier New" panose="02070309020205020404" pitchFamily="49" charset="0"/>
              </a:rPr>
              <a:t>				A(</a:t>
            </a:r>
            <a:r>
              <a:rPr lang="en-US" altLang="zh-CN" dirty="0" err="1">
                <a:latin typeface="Courier New" panose="02070309020205020404" pitchFamily="49" charset="0"/>
              </a:rPr>
              <a:t>i</a:t>
            </a:r>
            <a:r>
              <a:rPr lang="en-US" altLang="zh-CN" dirty="0">
                <a:latin typeface="Courier New" panose="02070309020205020404" pitchFamily="49" charset="0"/>
              </a:rPr>
              <a:t>) = A(</a:t>
            </a:r>
            <a:r>
              <a:rPr lang="en-US" altLang="zh-CN" dirty="0" err="1">
                <a:latin typeface="Courier New" panose="02070309020205020404" pitchFamily="49" charset="0"/>
              </a:rPr>
              <a:t>i</a:t>
            </a:r>
            <a:r>
              <a:rPr lang="en-US" altLang="zh-CN" dirty="0">
                <a:latin typeface="Courier New" panose="02070309020205020404" pitchFamily="49" charset="0"/>
              </a:rPr>
              <a:t>) </a:t>
            </a:r>
            <a:r>
              <a:rPr lang="en-US" altLang="zh-CN" dirty="0" smtClean="0">
                <a:latin typeface="Courier New" panose="02070309020205020404" pitchFamily="49" charset="0"/>
              </a:rPr>
              <a:t>/ B(</a:t>
            </a:r>
            <a:r>
              <a:rPr lang="en-US" altLang="zh-CN" dirty="0" err="1" smtClean="0">
                <a:latin typeface="Courier New" panose="02070309020205020404" pitchFamily="49" charset="0"/>
              </a:rPr>
              <a:t>i</a:t>
            </a:r>
            <a:r>
              <a:rPr lang="en-US" altLang="zh-CN" dirty="0">
                <a:latin typeface="Courier New" panose="02070309020205020404" pitchFamily="49" charset="0"/>
              </a:rPr>
              <a:t>)</a:t>
            </a:r>
          </a:p>
          <a:p>
            <a:pPr>
              <a:spcBef>
                <a:spcPct val="0"/>
              </a:spcBef>
              <a:buFont typeface="Wingdings" panose="05000000000000000000" pitchFamily="2" charset="2"/>
              <a:buNone/>
            </a:pPr>
            <a:r>
              <a:rPr lang="en-US" altLang="zh-CN" dirty="0">
                <a:latin typeface="Courier New" panose="02070309020205020404" pitchFamily="49" charset="0"/>
              </a:rPr>
              <a:t>			</a:t>
            </a:r>
            <a:r>
              <a:rPr lang="en-US" altLang="zh-CN" dirty="0" err="1">
                <a:latin typeface="Courier New" panose="02070309020205020404" pitchFamily="49" charset="0"/>
              </a:rPr>
              <a:t>endif</a:t>
            </a:r>
            <a:endParaRPr lang="en-US" altLang="zh-CN" dirty="0">
              <a:latin typeface="Courier New" panose="02070309020205020404" pitchFamily="49" charset="0"/>
            </a:endParaRPr>
          </a:p>
          <a:p>
            <a:pPr>
              <a:spcBef>
                <a:spcPct val="0"/>
              </a:spcBef>
              <a:buFont typeface="Wingdings" panose="05000000000000000000" pitchFamily="2" charset="2"/>
              <a:buNone/>
            </a:pPr>
            <a:r>
              <a:rPr lang="en-US" altLang="zh-CN" dirty="0">
                <a:latin typeface="Courier New" panose="02070309020205020404" pitchFamily="49" charset="0"/>
              </a:rPr>
              <a:t>	100 continue</a:t>
            </a:r>
            <a:endParaRPr lang="en-US" altLang="zh-CN" dirty="0"/>
          </a:p>
          <a:p>
            <a:pPr>
              <a:spcBef>
                <a:spcPct val="0"/>
              </a:spcBef>
            </a:pPr>
            <a:r>
              <a:rPr lang="en-US" altLang="zh-CN" i="1" dirty="0">
                <a:solidFill>
                  <a:srgbClr val="FF0000"/>
                </a:solidFill>
              </a:rPr>
              <a:t>vector-mask control</a:t>
            </a:r>
            <a:r>
              <a:rPr lang="en-US" altLang="zh-CN" dirty="0">
                <a:solidFill>
                  <a:schemeClr val="hlink"/>
                </a:solidFill>
              </a:rPr>
              <a:t> </a:t>
            </a:r>
            <a:r>
              <a:rPr lang="en-US" altLang="zh-CN" dirty="0"/>
              <a:t>takes a Boolean vector: when </a:t>
            </a:r>
            <a:r>
              <a:rPr lang="en-US" altLang="zh-CN" i="1" dirty="0">
                <a:solidFill>
                  <a:srgbClr val="FF0000"/>
                </a:solidFill>
              </a:rPr>
              <a:t>vector-mask register</a:t>
            </a:r>
            <a:r>
              <a:rPr lang="en-US" altLang="zh-CN" dirty="0">
                <a:solidFill>
                  <a:schemeClr val="hlink"/>
                </a:solidFill>
              </a:rPr>
              <a:t> </a:t>
            </a:r>
            <a:r>
              <a:rPr lang="en-US" altLang="zh-CN" dirty="0"/>
              <a:t>is loaded from vector test, vector instructions operate only on vector elements whose corresponding entries in the vector-mask register are 1.</a:t>
            </a:r>
          </a:p>
          <a:p>
            <a:pPr>
              <a:spcBef>
                <a:spcPct val="0"/>
              </a:spcBef>
            </a:pPr>
            <a:r>
              <a:rPr lang="en-US" altLang="zh-CN" dirty="0" smtClean="0"/>
              <a:t>Still </a:t>
            </a:r>
            <a:r>
              <a:rPr lang="en-US" altLang="zh-CN" dirty="0"/>
              <a:t>requires clock even if result not stored; if still performs operation, what about divide by 0?</a:t>
            </a:r>
          </a:p>
        </p:txBody>
      </p:sp>
    </p:spTree>
    <p:extLst>
      <p:ext uri="{BB962C8B-B14F-4D97-AF65-F5344CB8AC3E}">
        <p14:creationId xmlns:p14="http://schemas.microsoft.com/office/powerpoint/2010/main" val="1881754971"/>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Vector Mask Registers</a:t>
            </a:r>
            <a:endParaRPr lang="en-AU" dirty="0"/>
          </a:p>
        </p:txBody>
      </p:sp>
      <p:sp>
        <p:nvSpPr>
          <p:cNvPr id="242691" name="Rectangle 3"/>
          <p:cNvSpPr>
            <a:spLocks noGrp="1" noChangeArrowheads="1"/>
          </p:cNvSpPr>
          <p:nvPr>
            <p:ph type="body" idx="1"/>
          </p:nvPr>
        </p:nvSpPr>
        <p:spPr/>
        <p:txBody>
          <a:bodyPr/>
          <a:lstStyle/>
          <a:p>
            <a:r>
              <a:rPr lang="en-US" dirty="0" smtClean="0"/>
              <a:t>Use </a:t>
            </a:r>
            <a:r>
              <a:rPr lang="en-US" dirty="0"/>
              <a:t>predicate </a:t>
            </a:r>
            <a:r>
              <a:rPr lang="en-US" dirty="0" smtClean="0"/>
              <a:t>register </a:t>
            </a:r>
            <a:r>
              <a:rPr lang="en-US" b="1" dirty="0" smtClean="0">
                <a:latin typeface="Courier New" panose="02070309020205020404" pitchFamily="49" charset="0"/>
                <a:cs typeface="Courier New" panose="02070309020205020404" pitchFamily="49" charset="0"/>
              </a:rPr>
              <a:t>p0</a:t>
            </a:r>
            <a:r>
              <a:rPr lang="en-US" dirty="0" smtClean="0"/>
              <a:t> </a:t>
            </a:r>
            <a:r>
              <a:rPr lang="en-US" dirty="0"/>
              <a:t>to “disable” elements:</a:t>
            </a:r>
          </a:p>
          <a:p>
            <a:pPr lvl="1">
              <a:buNone/>
            </a:pPr>
            <a:endParaRPr lang="en-US" dirty="0" smtClean="0"/>
          </a:p>
          <a:p>
            <a:pPr lvl="1">
              <a:buNone/>
            </a:pPr>
            <a:r>
              <a:rPr lang="en-US" b="1" dirty="0" err="1" smtClean="0">
                <a:latin typeface="Courier New" panose="02070309020205020404" pitchFamily="49" charset="0"/>
                <a:cs typeface="Courier New" panose="02070309020205020404" pitchFamily="49" charset="0"/>
              </a:rPr>
              <a:t>vld</a:t>
            </a:r>
            <a:r>
              <a:rPr lang="en-US" b="1" dirty="0">
                <a:latin typeface="Courier New" panose="02070309020205020404" pitchFamily="49" charset="0"/>
                <a:cs typeface="Courier New" panose="02070309020205020404" pitchFamily="49" charset="0"/>
              </a:rPr>
              <a:t>		</a:t>
            </a:r>
            <a:r>
              <a:rPr lang="en-US" b="1" dirty="0" smtClean="0">
                <a:latin typeface="Courier New" panose="02070309020205020404" pitchFamily="49" charset="0"/>
                <a:cs typeface="Courier New" panose="02070309020205020404" pitchFamily="49" charset="0"/>
              </a:rPr>
              <a:t>v0,x5	</a:t>
            </a:r>
            <a:r>
              <a:rPr lang="en-US" b="1" dirty="0">
                <a:latin typeface="Courier New" panose="02070309020205020404" pitchFamily="49" charset="0"/>
                <a:cs typeface="Courier New" panose="02070309020205020404" pitchFamily="49" charset="0"/>
              </a:rPr>
              <a:t>	# Load vector </a:t>
            </a:r>
            <a:r>
              <a:rPr lang="en-US" b="1" dirty="0" smtClean="0">
                <a:latin typeface="Courier New" panose="02070309020205020404" pitchFamily="49" charset="0"/>
                <a:cs typeface="Courier New" panose="02070309020205020404" pitchFamily="49" charset="0"/>
              </a:rPr>
              <a:t>A </a:t>
            </a:r>
            <a:r>
              <a:rPr lang="en-US" b="1" dirty="0">
                <a:latin typeface="Courier New" panose="02070309020205020404" pitchFamily="49" charset="0"/>
                <a:cs typeface="Courier New" panose="02070309020205020404" pitchFamily="49" charset="0"/>
              </a:rPr>
              <a:t>into v0</a:t>
            </a:r>
          </a:p>
          <a:p>
            <a:pPr lvl="1">
              <a:buNone/>
            </a:pPr>
            <a:r>
              <a:rPr lang="en-US" b="1" dirty="0" err="1">
                <a:latin typeface="Courier New" panose="02070309020205020404" pitchFamily="49" charset="0"/>
                <a:cs typeface="Courier New" panose="02070309020205020404" pitchFamily="49" charset="0"/>
              </a:rPr>
              <a:t>vld</a:t>
            </a:r>
            <a:r>
              <a:rPr lang="en-US" b="1" dirty="0">
                <a:latin typeface="Courier New" panose="02070309020205020404" pitchFamily="49" charset="0"/>
                <a:cs typeface="Courier New" panose="02070309020205020404" pitchFamily="49" charset="0"/>
              </a:rPr>
              <a:t>		</a:t>
            </a:r>
            <a:r>
              <a:rPr lang="en-US" b="1" dirty="0" smtClean="0">
                <a:latin typeface="Courier New" panose="02070309020205020404" pitchFamily="49" charset="0"/>
                <a:cs typeface="Courier New" panose="02070309020205020404" pitchFamily="49" charset="0"/>
              </a:rPr>
              <a:t>v1,x6</a:t>
            </a:r>
            <a:r>
              <a:rPr lang="en-US" b="1" dirty="0">
                <a:latin typeface="Courier New" panose="02070309020205020404" pitchFamily="49" charset="0"/>
                <a:cs typeface="Courier New" panose="02070309020205020404" pitchFamily="49" charset="0"/>
              </a:rPr>
              <a:t>	</a:t>
            </a:r>
            <a:r>
              <a:rPr lang="en-US" b="1" dirty="0" smtClean="0">
                <a:latin typeface="Courier New" panose="02070309020205020404" pitchFamily="49" charset="0"/>
                <a:cs typeface="Courier New" panose="02070309020205020404" pitchFamily="49" charset="0"/>
              </a:rPr>
              <a:t>	# </a:t>
            </a:r>
            <a:r>
              <a:rPr lang="en-US" b="1" dirty="0">
                <a:latin typeface="Courier New" panose="02070309020205020404" pitchFamily="49" charset="0"/>
                <a:cs typeface="Courier New" panose="02070309020205020404" pitchFamily="49" charset="0"/>
              </a:rPr>
              <a:t>Load vector </a:t>
            </a:r>
            <a:r>
              <a:rPr lang="en-US" b="1" dirty="0" smtClean="0">
                <a:latin typeface="Courier New" panose="02070309020205020404" pitchFamily="49" charset="0"/>
                <a:cs typeface="Courier New" panose="02070309020205020404" pitchFamily="49" charset="0"/>
              </a:rPr>
              <a:t>B </a:t>
            </a:r>
            <a:r>
              <a:rPr lang="en-US" b="1" dirty="0">
                <a:latin typeface="Courier New" panose="02070309020205020404" pitchFamily="49" charset="0"/>
                <a:cs typeface="Courier New" panose="02070309020205020404" pitchFamily="49" charset="0"/>
              </a:rPr>
              <a:t>into v1</a:t>
            </a:r>
          </a:p>
          <a:p>
            <a:pPr lvl="1">
              <a:buNone/>
            </a:pPr>
            <a:r>
              <a:rPr lang="en-US" b="1" dirty="0" err="1">
                <a:latin typeface="Courier New" panose="02070309020205020404" pitchFamily="49" charset="0"/>
                <a:cs typeface="Courier New" panose="02070309020205020404" pitchFamily="49" charset="0"/>
              </a:rPr>
              <a:t>fmv.d.x</a:t>
            </a:r>
            <a:r>
              <a:rPr lang="en-US" b="1" dirty="0">
                <a:latin typeface="Courier New" panose="02070309020205020404" pitchFamily="49" charset="0"/>
                <a:cs typeface="Courier New" panose="02070309020205020404" pitchFamily="49" charset="0"/>
              </a:rPr>
              <a:t>	</a:t>
            </a:r>
            <a:r>
              <a:rPr lang="en-US" b="1" dirty="0" smtClean="0">
                <a:latin typeface="Courier New" panose="02070309020205020404" pitchFamily="49" charset="0"/>
                <a:cs typeface="Courier New" panose="02070309020205020404" pitchFamily="49" charset="0"/>
              </a:rPr>
              <a:t>	f0,x0		# </a:t>
            </a:r>
            <a:r>
              <a:rPr lang="en-US" b="1" dirty="0">
                <a:latin typeface="Courier New" panose="02070309020205020404" pitchFamily="49" charset="0"/>
                <a:cs typeface="Courier New" panose="02070309020205020404" pitchFamily="49" charset="0"/>
              </a:rPr>
              <a:t>Put (FP) zero into f0</a:t>
            </a:r>
          </a:p>
          <a:p>
            <a:pPr lvl="1">
              <a:buNone/>
            </a:pPr>
            <a:r>
              <a:rPr lang="en-US" b="1" dirty="0" err="1">
                <a:latin typeface="Courier New" panose="02070309020205020404" pitchFamily="49" charset="0"/>
                <a:cs typeface="Courier New" panose="02070309020205020404" pitchFamily="49" charset="0"/>
              </a:rPr>
              <a:t>vpne</a:t>
            </a:r>
            <a:r>
              <a:rPr lang="en-US" b="1" dirty="0">
                <a:latin typeface="Courier New" panose="02070309020205020404" pitchFamily="49" charset="0"/>
                <a:cs typeface="Courier New" panose="02070309020205020404" pitchFamily="49" charset="0"/>
              </a:rPr>
              <a:t>	</a:t>
            </a:r>
            <a:r>
              <a:rPr lang="en-US" b="1" dirty="0" smtClean="0">
                <a:latin typeface="Courier New" panose="02070309020205020404" pitchFamily="49" charset="0"/>
                <a:cs typeface="Courier New" panose="02070309020205020404" pitchFamily="49" charset="0"/>
              </a:rPr>
              <a:t>	p0,v0,f0</a:t>
            </a:r>
            <a:r>
              <a:rPr lang="en-US" b="1" dirty="0">
                <a:latin typeface="Courier New" panose="02070309020205020404" pitchFamily="49" charset="0"/>
                <a:cs typeface="Courier New" panose="02070309020205020404" pitchFamily="49" charset="0"/>
              </a:rPr>
              <a:t>	</a:t>
            </a:r>
            <a:r>
              <a:rPr lang="en-US" b="1" dirty="0" smtClean="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Set p0(</a:t>
            </a:r>
            <a:r>
              <a:rPr lang="en-US" b="1" dirty="0" err="1">
                <a:latin typeface="Courier New" panose="02070309020205020404" pitchFamily="49" charset="0"/>
                <a:cs typeface="Courier New" panose="02070309020205020404" pitchFamily="49" charset="0"/>
              </a:rPr>
              <a:t>i</a:t>
            </a:r>
            <a:r>
              <a:rPr lang="en-US" b="1" dirty="0">
                <a:latin typeface="Courier New" panose="02070309020205020404" pitchFamily="49" charset="0"/>
                <a:cs typeface="Courier New" panose="02070309020205020404" pitchFamily="49" charset="0"/>
              </a:rPr>
              <a:t>) to 1 if v0(</a:t>
            </a:r>
            <a:r>
              <a:rPr lang="en-US" b="1" dirty="0" err="1">
                <a:latin typeface="Courier New" panose="02070309020205020404" pitchFamily="49" charset="0"/>
                <a:cs typeface="Courier New" panose="02070309020205020404" pitchFamily="49" charset="0"/>
              </a:rPr>
              <a:t>i</a:t>
            </a:r>
            <a:r>
              <a:rPr lang="en-US" b="1" dirty="0">
                <a:latin typeface="Courier New" panose="02070309020205020404" pitchFamily="49" charset="0"/>
                <a:cs typeface="Courier New" panose="02070309020205020404" pitchFamily="49" charset="0"/>
              </a:rPr>
              <a:t>)!=f0</a:t>
            </a:r>
          </a:p>
          <a:p>
            <a:pPr lvl="1">
              <a:buNone/>
            </a:pPr>
            <a:r>
              <a:rPr lang="en-US" b="1" dirty="0" err="1" smtClean="0">
                <a:latin typeface="Courier New" panose="02070309020205020404" pitchFamily="49" charset="0"/>
                <a:cs typeface="Courier New" panose="02070309020205020404" pitchFamily="49" charset="0"/>
              </a:rPr>
              <a:t>vdiv</a:t>
            </a:r>
            <a:r>
              <a:rPr lang="en-US" b="1" dirty="0">
                <a:latin typeface="Courier New" panose="02070309020205020404" pitchFamily="49" charset="0"/>
                <a:cs typeface="Courier New" panose="02070309020205020404" pitchFamily="49" charset="0"/>
              </a:rPr>
              <a:t>	</a:t>
            </a:r>
            <a:r>
              <a:rPr lang="en-US" b="1" dirty="0" smtClean="0">
                <a:latin typeface="Courier New" panose="02070309020205020404" pitchFamily="49" charset="0"/>
                <a:cs typeface="Courier New" panose="02070309020205020404" pitchFamily="49" charset="0"/>
              </a:rPr>
              <a:t>	v0,v0,v1</a:t>
            </a:r>
            <a:r>
              <a:rPr lang="en-US" b="1" dirty="0">
                <a:latin typeface="Courier New" panose="02070309020205020404" pitchFamily="49" charset="0"/>
                <a:cs typeface="Courier New" panose="02070309020205020404" pitchFamily="49" charset="0"/>
              </a:rPr>
              <a:t>	</a:t>
            </a:r>
            <a:r>
              <a:rPr lang="en-US" b="1" dirty="0" smtClean="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Subtract under vector mask</a:t>
            </a:r>
          </a:p>
          <a:p>
            <a:pPr lvl="1">
              <a:buNone/>
            </a:pPr>
            <a:r>
              <a:rPr lang="en-US" b="1" dirty="0" err="1">
                <a:latin typeface="Courier New" panose="02070309020205020404" pitchFamily="49" charset="0"/>
                <a:cs typeface="Courier New" panose="02070309020205020404" pitchFamily="49" charset="0"/>
              </a:rPr>
              <a:t>vst</a:t>
            </a:r>
            <a:r>
              <a:rPr lang="en-US" b="1" dirty="0">
                <a:latin typeface="Courier New" panose="02070309020205020404" pitchFamily="49" charset="0"/>
                <a:cs typeface="Courier New" panose="02070309020205020404" pitchFamily="49" charset="0"/>
              </a:rPr>
              <a:t>		</a:t>
            </a:r>
            <a:r>
              <a:rPr lang="en-US" b="1" dirty="0" smtClean="0">
                <a:latin typeface="Courier New" panose="02070309020205020404" pitchFamily="49" charset="0"/>
                <a:cs typeface="Courier New" panose="02070309020205020404" pitchFamily="49" charset="0"/>
              </a:rPr>
              <a:t>v0,x5	</a:t>
            </a:r>
            <a:r>
              <a:rPr lang="en-US" b="1" dirty="0">
                <a:latin typeface="Courier New" panose="02070309020205020404" pitchFamily="49" charset="0"/>
                <a:cs typeface="Courier New" panose="02070309020205020404" pitchFamily="49" charset="0"/>
              </a:rPr>
              <a:t>	# Store the result in </a:t>
            </a:r>
            <a:r>
              <a:rPr lang="en-US" b="1" dirty="0" smtClean="0">
                <a:latin typeface="Courier New" panose="02070309020205020404" pitchFamily="49" charset="0"/>
                <a:cs typeface="Courier New" panose="02070309020205020404" pitchFamily="49" charset="0"/>
              </a:rPr>
              <a:t>A</a:t>
            </a:r>
            <a:endParaRPr lang="en-US" b="1" dirty="0">
              <a:latin typeface="Courier New" panose="02070309020205020404" pitchFamily="49" charset="0"/>
              <a:cs typeface="Courier New" panose="02070309020205020404" pitchFamily="49" charset="0"/>
            </a:endParaRPr>
          </a:p>
        </p:txBody>
      </p:sp>
      <p:sp>
        <p:nvSpPr>
          <p:cNvPr id="242693" name="Text Box 5"/>
          <p:cNvSpPr txBox="1">
            <a:spLocks noChangeArrowheads="1"/>
          </p:cNvSpPr>
          <p:nvPr/>
        </p:nvSpPr>
        <p:spPr bwMode="auto">
          <a:xfrm rot="5400000">
            <a:off x="9366326" y="934844"/>
            <a:ext cx="2236638" cy="369332"/>
          </a:xfrm>
          <a:prstGeom prst="rect">
            <a:avLst/>
          </a:prstGeom>
          <a:solidFill>
            <a:srgbClr val="C0C0C0"/>
          </a:solidFill>
          <a:ln w="9525">
            <a:noFill/>
            <a:miter lim="800000"/>
            <a:headEnd/>
            <a:tailEnd/>
          </a:ln>
          <a:effectLst/>
        </p:spPr>
        <p:txBody>
          <a:bodyPr wrap="none">
            <a:spAutoFit/>
          </a:bodyPr>
          <a:lstStyle/>
          <a:p>
            <a:pPr eaLnBrk="0" hangingPunct="0">
              <a:spcBef>
                <a:spcPct val="0"/>
              </a:spcBef>
              <a:buClrTx/>
              <a:buSzTx/>
              <a:buFontTx/>
              <a:buNone/>
            </a:pPr>
            <a:r>
              <a:rPr lang="en-US" dirty="0">
                <a:solidFill>
                  <a:srgbClr val="0066FF"/>
                </a:solidFill>
                <a:latin typeface="Arial" charset="0"/>
              </a:rPr>
              <a:t>Vector Architectures</a:t>
            </a:r>
          </a:p>
        </p:txBody>
      </p:sp>
    </p:spTree>
    <p:extLst>
      <p:ext uri="{BB962C8B-B14F-4D97-AF65-F5344CB8AC3E}">
        <p14:creationId xmlns:p14="http://schemas.microsoft.com/office/powerpoint/2010/main" val="415447377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Memory Banks</a:t>
            </a:r>
            <a:endParaRPr lang="en-AU" dirty="0"/>
          </a:p>
        </p:txBody>
      </p:sp>
      <p:sp>
        <p:nvSpPr>
          <p:cNvPr id="242691" name="Rectangle 3"/>
          <p:cNvSpPr>
            <a:spLocks noGrp="1" noChangeArrowheads="1"/>
          </p:cNvSpPr>
          <p:nvPr>
            <p:ph type="body" idx="1"/>
          </p:nvPr>
        </p:nvSpPr>
        <p:spPr/>
        <p:txBody>
          <a:bodyPr/>
          <a:lstStyle/>
          <a:p>
            <a:r>
              <a:rPr lang="en-US" dirty="0"/>
              <a:t>Memory system must be designed to support high bandwidth for vector loads and stores</a:t>
            </a:r>
          </a:p>
          <a:p>
            <a:r>
              <a:rPr lang="en-US" dirty="0"/>
              <a:t>Spread accesses across multiple banks</a:t>
            </a:r>
          </a:p>
          <a:p>
            <a:pPr lvl="1"/>
            <a:r>
              <a:rPr lang="en-US" dirty="0"/>
              <a:t>Control bank addresses independently</a:t>
            </a:r>
          </a:p>
          <a:p>
            <a:pPr lvl="1"/>
            <a:r>
              <a:rPr lang="en-US" dirty="0"/>
              <a:t>Load or store non sequential words (need independent bank addressing)</a:t>
            </a:r>
          </a:p>
          <a:p>
            <a:pPr lvl="1"/>
            <a:r>
              <a:rPr lang="en-US" dirty="0"/>
              <a:t>Support multiple vector processors sharing the same memory</a:t>
            </a:r>
          </a:p>
          <a:p>
            <a:r>
              <a:rPr lang="en-US" dirty="0" smtClean="0"/>
              <a:t>Example</a:t>
            </a:r>
            <a:r>
              <a:rPr lang="en-US" dirty="0"/>
              <a:t> </a:t>
            </a:r>
            <a:r>
              <a:rPr lang="en-US" dirty="0" smtClean="0"/>
              <a:t>of Cray T90</a:t>
            </a:r>
            <a:endParaRPr lang="en-US" dirty="0"/>
          </a:p>
          <a:p>
            <a:pPr lvl="1"/>
            <a:r>
              <a:rPr lang="en-US" dirty="0"/>
              <a:t>32 processors, each generating 4 loads and 2 stores/cycle</a:t>
            </a:r>
          </a:p>
          <a:p>
            <a:pPr lvl="1"/>
            <a:r>
              <a:rPr lang="en-US" dirty="0"/>
              <a:t>Processor cycle time is 2.167 ns, SRAM cycle time is 15 ns</a:t>
            </a:r>
          </a:p>
          <a:p>
            <a:pPr lvl="1"/>
            <a:r>
              <a:rPr lang="en-US" dirty="0"/>
              <a:t>How many memory banks needed?</a:t>
            </a:r>
          </a:p>
          <a:p>
            <a:pPr lvl="2"/>
            <a:r>
              <a:rPr lang="en-US" dirty="0"/>
              <a:t>32x(4+2)x15/2.167 = ~1330 banks</a:t>
            </a:r>
          </a:p>
        </p:txBody>
      </p:sp>
      <p:sp>
        <p:nvSpPr>
          <p:cNvPr id="242693" name="Text Box 5"/>
          <p:cNvSpPr txBox="1">
            <a:spLocks noChangeArrowheads="1"/>
          </p:cNvSpPr>
          <p:nvPr/>
        </p:nvSpPr>
        <p:spPr bwMode="auto">
          <a:xfrm rot="5400000">
            <a:off x="9366326" y="934844"/>
            <a:ext cx="2236638" cy="369332"/>
          </a:xfrm>
          <a:prstGeom prst="rect">
            <a:avLst/>
          </a:prstGeom>
          <a:solidFill>
            <a:srgbClr val="C0C0C0"/>
          </a:solidFill>
          <a:ln w="9525">
            <a:noFill/>
            <a:miter lim="800000"/>
            <a:headEnd/>
            <a:tailEnd/>
          </a:ln>
          <a:effectLst/>
        </p:spPr>
        <p:txBody>
          <a:bodyPr wrap="none">
            <a:spAutoFit/>
          </a:bodyPr>
          <a:lstStyle/>
          <a:p>
            <a:pPr eaLnBrk="0" hangingPunct="0">
              <a:spcBef>
                <a:spcPct val="0"/>
              </a:spcBef>
              <a:buClrTx/>
              <a:buSzTx/>
              <a:buFontTx/>
              <a:buNone/>
            </a:pPr>
            <a:r>
              <a:rPr lang="en-US" dirty="0">
                <a:solidFill>
                  <a:srgbClr val="0066FF"/>
                </a:solidFill>
                <a:latin typeface="Arial" charset="0"/>
              </a:rPr>
              <a:t>Vector Architectures</a:t>
            </a:r>
          </a:p>
        </p:txBody>
      </p:sp>
    </p:spTree>
    <p:extLst>
      <p:ext uri="{BB962C8B-B14F-4D97-AF65-F5344CB8AC3E}">
        <p14:creationId xmlns:p14="http://schemas.microsoft.com/office/powerpoint/2010/main" val="153311903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Memory operations</a:t>
            </a:r>
          </a:p>
        </p:txBody>
      </p:sp>
      <p:sp>
        <p:nvSpPr>
          <p:cNvPr id="19460" name="Rectangle 4"/>
          <p:cNvSpPr>
            <a:spLocks noGrp="1" noChangeArrowheads="1"/>
          </p:cNvSpPr>
          <p:nvPr>
            <p:ph type="body" idx="1"/>
          </p:nvPr>
        </p:nvSpPr>
        <p:spPr>
          <a:xfrm>
            <a:off x="1127448" y="1600200"/>
            <a:ext cx="8854752" cy="4114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dirty="0"/>
              <a:t>Load/store operations move groups of data between registers and memory</a:t>
            </a:r>
          </a:p>
          <a:p>
            <a:r>
              <a:rPr lang="en-US" altLang="zh-CN" dirty="0"/>
              <a:t>Three types of addressing</a:t>
            </a:r>
          </a:p>
          <a:p>
            <a:pPr lvl="1"/>
            <a:r>
              <a:rPr lang="en-US" altLang="zh-CN" u="sng" dirty="0">
                <a:solidFill>
                  <a:srgbClr val="FF3300"/>
                </a:solidFill>
              </a:rPr>
              <a:t>Unit stride</a:t>
            </a:r>
            <a:endParaRPr lang="en-US" altLang="zh-CN" dirty="0"/>
          </a:p>
          <a:p>
            <a:pPr lvl="2"/>
            <a:r>
              <a:rPr lang="en-US" altLang="zh-CN" sz="2400" dirty="0"/>
              <a:t>Fastest</a:t>
            </a:r>
          </a:p>
          <a:p>
            <a:pPr lvl="1"/>
            <a:r>
              <a:rPr lang="en-US" altLang="zh-CN" u="sng" dirty="0">
                <a:solidFill>
                  <a:srgbClr val="FF3300"/>
                </a:solidFill>
              </a:rPr>
              <a:t>Non-unit</a:t>
            </a:r>
            <a:r>
              <a:rPr lang="en-US" altLang="zh-CN" dirty="0">
                <a:solidFill>
                  <a:srgbClr val="FF3300"/>
                </a:solidFill>
              </a:rPr>
              <a:t> </a:t>
            </a:r>
            <a:r>
              <a:rPr lang="en-US" altLang="zh-CN" dirty="0"/>
              <a:t>(constant) </a:t>
            </a:r>
            <a:r>
              <a:rPr lang="en-US" altLang="zh-CN" u="sng" dirty="0" smtClean="0">
                <a:solidFill>
                  <a:srgbClr val="FF3300"/>
                </a:solidFill>
              </a:rPr>
              <a:t>stride</a:t>
            </a:r>
          </a:p>
          <a:p>
            <a:pPr lvl="2"/>
            <a:endParaRPr lang="en-US" altLang="zh-CN" dirty="0"/>
          </a:p>
          <a:p>
            <a:pPr lvl="1"/>
            <a:r>
              <a:rPr lang="en-US" altLang="zh-CN" u="sng" dirty="0">
                <a:solidFill>
                  <a:srgbClr val="FF3300"/>
                </a:solidFill>
              </a:rPr>
              <a:t>Indexed</a:t>
            </a:r>
            <a:r>
              <a:rPr lang="en-US" altLang="zh-CN" dirty="0"/>
              <a:t> (gather-scatter)</a:t>
            </a:r>
          </a:p>
          <a:p>
            <a:pPr lvl="2"/>
            <a:r>
              <a:rPr lang="en-US" altLang="zh-CN" sz="2400" dirty="0"/>
              <a:t>Vector equivalent of register indirect</a:t>
            </a:r>
          </a:p>
          <a:p>
            <a:pPr lvl="2"/>
            <a:r>
              <a:rPr lang="en-US" altLang="zh-CN" sz="2400" dirty="0"/>
              <a:t>Good for sparse arrays of data</a:t>
            </a:r>
          </a:p>
          <a:p>
            <a:pPr lvl="2"/>
            <a:r>
              <a:rPr lang="en-US" altLang="zh-CN" sz="2400" dirty="0"/>
              <a:t>Increases number of programs that </a:t>
            </a:r>
            <a:r>
              <a:rPr lang="en-US" altLang="zh-CN" sz="2400" dirty="0" smtClean="0"/>
              <a:t>can be </a:t>
            </a:r>
            <a:r>
              <a:rPr lang="en-US" altLang="zh-CN" sz="2400" dirty="0" err="1" smtClean="0"/>
              <a:t>vectorized</a:t>
            </a:r>
            <a:endParaRPr lang="en-US" altLang="zh-CN" sz="2400" dirty="0"/>
          </a:p>
        </p:txBody>
      </p:sp>
    </p:spTree>
    <p:extLst>
      <p:ext uri="{BB962C8B-B14F-4D97-AF65-F5344CB8AC3E}">
        <p14:creationId xmlns:p14="http://schemas.microsoft.com/office/powerpoint/2010/main" val="3509343264"/>
      </p:ext>
    </p:extLst>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altLang="zh-CN" dirty="0" smtClean="0"/>
              <a:t>Non-unit </a:t>
            </a:r>
            <a:r>
              <a:rPr lang="en-US" dirty="0" smtClean="0"/>
              <a:t>Stride</a:t>
            </a:r>
            <a:endParaRPr lang="en-AU" dirty="0"/>
          </a:p>
        </p:txBody>
      </p:sp>
      <p:sp>
        <p:nvSpPr>
          <p:cNvPr id="242691" name="Rectangle 3"/>
          <p:cNvSpPr>
            <a:spLocks noGrp="1" noChangeArrowheads="1"/>
          </p:cNvSpPr>
          <p:nvPr>
            <p:ph type="body" idx="1"/>
          </p:nvPr>
        </p:nvSpPr>
        <p:spPr/>
        <p:txBody>
          <a:bodyPr/>
          <a:lstStyle/>
          <a:p>
            <a:r>
              <a:rPr lang="en-US" sz="2400" dirty="0"/>
              <a:t>Consider:</a:t>
            </a:r>
          </a:p>
          <a:p>
            <a:pPr>
              <a:buNone/>
            </a:pPr>
            <a:r>
              <a:rPr lang="nn-NO" sz="2400" b="1" dirty="0">
                <a:latin typeface="Courier New" panose="02070309020205020404" pitchFamily="49" charset="0"/>
                <a:cs typeface="Courier New" panose="02070309020205020404" pitchFamily="49" charset="0"/>
              </a:rPr>
              <a:t>	for (i = 0; i &lt; 100; i=i+1)</a:t>
            </a:r>
          </a:p>
          <a:p>
            <a:pPr>
              <a:buNone/>
            </a:pPr>
            <a:r>
              <a:rPr lang="en-US" sz="2400" b="1" dirty="0">
                <a:latin typeface="Courier New" panose="02070309020205020404" pitchFamily="49" charset="0"/>
                <a:cs typeface="Courier New" panose="02070309020205020404" pitchFamily="49" charset="0"/>
              </a:rPr>
              <a:t>		for (j = 0; j &lt; 100; j=j+1) {</a:t>
            </a:r>
          </a:p>
          <a:p>
            <a:pPr>
              <a:buNone/>
            </a:pPr>
            <a:r>
              <a:rPr lang="en-US" sz="2400" b="1" dirty="0">
                <a:latin typeface="Courier New" panose="02070309020205020404" pitchFamily="49" charset="0"/>
                <a:cs typeface="Courier New" panose="02070309020205020404" pitchFamily="49" charset="0"/>
              </a:rPr>
              <a:t>			A[</a:t>
            </a:r>
            <a:r>
              <a:rPr lang="en-US" sz="2400" b="1" dirty="0" err="1">
                <a:latin typeface="Courier New" panose="02070309020205020404" pitchFamily="49" charset="0"/>
                <a:cs typeface="Courier New" panose="02070309020205020404" pitchFamily="49" charset="0"/>
              </a:rPr>
              <a:t>i</a:t>
            </a:r>
            <a:r>
              <a:rPr lang="en-US" sz="2400" b="1" dirty="0">
                <a:latin typeface="Courier New" panose="02070309020205020404" pitchFamily="49" charset="0"/>
                <a:cs typeface="Courier New" panose="02070309020205020404" pitchFamily="49" charset="0"/>
              </a:rPr>
              <a:t>][j] = 0.0;</a:t>
            </a:r>
          </a:p>
          <a:p>
            <a:pPr>
              <a:buNone/>
            </a:pPr>
            <a:r>
              <a:rPr lang="nn-NO" sz="2400" b="1" dirty="0">
                <a:latin typeface="Courier New" panose="02070309020205020404" pitchFamily="49" charset="0"/>
                <a:cs typeface="Courier New" panose="02070309020205020404" pitchFamily="49" charset="0"/>
              </a:rPr>
              <a:t>			for (k = 0; k &lt; 100; k=k+1)</a:t>
            </a:r>
          </a:p>
          <a:p>
            <a:pPr>
              <a:buNone/>
            </a:pPr>
            <a:r>
              <a:rPr lang="en-US" sz="2400" b="1" dirty="0">
                <a:latin typeface="Courier New" panose="02070309020205020404" pitchFamily="49" charset="0"/>
                <a:cs typeface="Courier New" panose="02070309020205020404" pitchFamily="49" charset="0"/>
              </a:rPr>
              <a:t>			</a:t>
            </a:r>
            <a:r>
              <a:rPr lang="pl-PL" sz="2400" b="1" dirty="0">
                <a:latin typeface="Courier New" panose="02070309020205020404" pitchFamily="49" charset="0"/>
                <a:cs typeface="Courier New" panose="02070309020205020404" pitchFamily="49" charset="0"/>
              </a:rPr>
              <a:t>A[i][j] = A[i][j] + B[i][k] * D[k][j];</a:t>
            </a:r>
          </a:p>
          <a:p>
            <a:pPr>
              <a:buNone/>
            </a:pPr>
            <a:r>
              <a:rPr lang="en-US" sz="2400" b="1" dirty="0">
                <a:latin typeface="Courier New" panose="02070309020205020404" pitchFamily="49" charset="0"/>
                <a:cs typeface="Courier New" panose="02070309020205020404" pitchFamily="49" charset="0"/>
              </a:rPr>
              <a:t>		}</a:t>
            </a:r>
          </a:p>
          <a:p>
            <a:r>
              <a:rPr lang="en-US" sz="2400" dirty="0" smtClean="0"/>
              <a:t>Must </a:t>
            </a:r>
            <a:r>
              <a:rPr lang="en-US" sz="2400" dirty="0"/>
              <a:t>vectorize multiplication of rows of B with columns of D</a:t>
            </a:r>
          </a:p>
          <a:p>
            <a:r>
              <a:rPr lang="en-US" sz="2400" dirty="0"/>
              <a:t>Use </a:t>
            </a:r>
            <a:r>
              <a:rPr lang="en-US" sz="2400" i="1" dirty="0"/>
              <a:t>non-unit stride</a:t>
            </a:r>
          </a:p>
          <a:p>
            <a:r>
              <a:rPr lang="en-US" sz="2400" dirty="0"/>
              <a:t>Bank conflict (stall) occurs when the same bank is hit faster than bank busy </a:t>
            </a:r>
            <a:r>
              <a:rPr lang="en-US" sz="2400" dirty="0" smtClean="0"/>
              <a:t>time </a:t>
            </a:r>
            <a:r>
              <a:rPr lang="en-US" altLang="zh-CN" sz="2400" dirty="0"/>
              <a:t>(e.g., stride = 32 and 16 banks) </a:t>
            </a:r>
            <a:r>
              <a:rPr lang="en-US" sz="2400" dirty="0" smtClean="0"/>
              <a:t>:</a:t>
            </a:r>
            <a:endParaRPr lang="en-US" sz="2400" dirty="0"/>
          </a:p>
          <a:p>
            <a:pPr lvl="1"/>
            <a:r>
              <a:rPr lang="en-US" sz="2000" dirty="0"/>
              <a:t>#banks / </a:t>
            </a:r>
            <a:r>
              <a:rPr lang="en-US" sz="2000" dirty="0" smtClean="0"/>
              <a:t>GCD</a:t>
            </a:r>
            <a:r>
              <a:rPr lang="en-US" sz="2000" dirty="0" smtClean="0"/>
              <a:t>(stride, #</a:t>
            </a:r>
            <a:r>
              <a:rPr lang="en-US" sz="2000" dirty="0"/>
              <a:t>banks) &lt; bank busy time</a:t>
            </a:r>
          </a:p>
        </p:txBody>
      </p:sp>
      <p:sp>
        <p:nvSpPr>
          <p:cNvPr id="242693" name="Text Box 5"/>
          <p:cNvSpPr txBox="1">
            <a:spLocks noChangeArrowheads="1"/>
          </p:cNvSpPr>
          <p:nvPr/>
        </p:nvSpPr>
        <p:spPr bwMode="auto">
          <a:xfrm rot="5400000">
            <a:off x="9366326" y="934844"/>
            <a:ext cx="2236638" cy="369332"/>
          </a:xfrm>
          <a:prstGeom prst="rect">
            <a:avLst/>
          </a:prstGeom>
          <a:solidFill>
            <a:srgbClr val="C0C0C0"/>
          </a:solidFill>
          <a:ln w="9525">
            <a:noFill/>
            <a:miter lim="800000"/>
            <a:headEnd/>
            <a:tailEnd/>
          </a:ln>
          <a:effectLst/>
        </p:spPr>
        <p:txBody>
          <a:bodyPr wrap="none">
            <a:spAutoFit/>
          </a:bodyPr>
          <a:lstStyle/>
          <a:p>
            <a:pPr eaLnBrk="0" hangingPunct="0">
              <a:spcBef>
                <a:spcPct val="0"/>
              </a:spcBef>
              <a:buClrTx/>
              <a:buSzTx/>
              <a:buFontTx/>
              <a:buNone/>
            </a:pPr>
            <a:r>
              <a:rPr lang="en-US" dirty="0">
                <a:solidFill>
                  <a:srgbClr val="0066FF"/>
                </a:solidFill>
                <a:latin typeface="Arial" charset="0"/>
              </a:rPr>
              <a:t>Vector Architectures</a:t>
            </a:r>
          </a:p>
        </p:txBody>
      </p:sp>
    </p:spTree>
    <p:extLst>
      <p:ext uri="{BB962C8B-B14F-4D97-AF65-F5344CB8AC3E}">
        <p14:creationId xmlns:p14="http://schemas.microsoft.com/office/powerpoint/2010/main" val="360796852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1271464" y="692696"/>
            <a:ext cx="8784976" cy="446088"/>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smtClean="0"/>
              <a:t>Access Vector with Stride</a:t>
            </a:r>
            <a:endParaRPr lang="en-US" altLang="zh-CN" dirty="0"/>
          </a:p>
        </p:txBody>
      </p:sp>
      <p:sp>
        <p:nvSpPr>
          <p:cNvPr id="50179" name="Rectangle 3"/>
          <p:cNvSpPr>
            <a:spLocks noGrp="1" noChangeArrowheads="1"/>
          </p:cNvSpPr>
          <p:nvPr>
            <p:ph type="body" idx="1"/>
          </p:nvPr>
        </p:nvSpPr>
        <p:spPr>
          <a:xfrm>
            <a:off x="623392" y="1484784"/>
            <a:ext cx="11521280" cy="4824536"/>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dirty="0"/>
              <a:t>Suppose adjacent elements not sequential in memory	</a:t>
            </a:r>
          </a:p>
          <a:p>
            <a:pPr>
              <a:lnSpc>
                <a:spcPct val="100000"/>
              </a:lnSpc>
              <a:spcBef>
                <a:spcPts val="0"/>
              </a:spcBef>
              <a:buFont typeface="Wingdings" panose="05000000000000000000" pitchFamily="2" charset="2"/>
              <a:buNone/>
            </a:pPr>
            <a:r>
              <a:rPr lang="en-US" altLang="zh-CN" sz="2400" b="1" dirty="0">
                <a:latin typeface="Courier New" panose="02070309020205020404" pitchFamily="49" charset="0"/>
              </a:rPr>
              <a:t>	do 10 </a:t>
            </a:r>
            <a:r>
              <a:rPr lang="en-US" altLang="zh-CN" sz="2400" b="1" dirty="0" err="1">
                <a:latin typeface="Courier New" panose="02070309020205020404" pitchFamily="49" charset="0"/>
              </a:rPr>
              <a:t>i</a:t>
            </a:r>
            <a:r>
              <a:rPr lang="en-US" altLang="zh-CN" sz="2400" b="1" dirty="0">
                <a:latin typeface="Courier New" panose="02070309020205020404" pitchFamily="49" charset="0"/>
              </a:rPr>
              <a:t> = 1,100</a:t>
            </a:r>
          </a:p>
          <a:p>
            <a:pPr>
              <a:lnSpc>
                <a:spcPct val="100000"/>
              </a:lnSpc>
              <a:spcBef>
                <a:spcPts val="0"/>
              </a:spcBef>
              <a:buFont typeface="Wingdings" panose="05000000000000000000" pitchFamily="2" charset="2"/>
              <a:buNone/>
            </a:pPr>
            <a:r>
              <a:rPr lang="en-US" altLang="zh-CN" sz="2400" b="1" dirty="0">
                <a:latin typeface="Courier New" panose="02070309020205020404" pitchFamily="49" charset="0"/>
              </a:rPr>
              <a:t>		do 10 j = 1,100</a:t>
            </a:r>
          </a:p>
          <a:p>
            <a:pPr>
              <a:lnSpc>
                <a:spcPct val="100000"/>
              </a:lnSpc>
              <a:spcBef>
                <a:spcPts val="0"/>
              </a:spcBef>
              <a:buFont typeface="Wingdings" panose="05000000000000000000" pitchFamily="2" charset="2"/>
              <a:buNone/>
            </a:pPr>
            <a:r>
              <a:rPr lang="en-US" altLang="zh-CN" sz="2400" b="1" dirty="0">
                <a:latin typeface="Courier New" panose="02070309020205020404" pitchFamily="49" charset="0"/>
              </a:rPr>
              <a:t>			A(</a:t>
            </a:r>
            <a:r>
              <a:rPr lang="en-US" altLang="zh-CN" sz="2400" b="1" dirty="0" err="1">
                <a:latin typeface="Courier New" panose="02070309020205020404" pitchFamily="49" charset="0"/>
              </a:rPr>
              <a:t>i,j</a:t>
            </a:r>
            <a:r>
              <a:rPr lang="en-US" altLang="zh-CN" sz="2400" b="1" dirty="0">
                <a:latin typeface="Courier New" panose="02070309020205020404" pitchFamily="49" charset="0"/>
              </a:rPr>
              <a:t>) = 0.0</a:t>
            </a:r>
          </a:p>
          <a:p>
            <a:pPr>
              <a:lnSpc>
                <a:spcPct val="100000"/>
              </a:lnSpc>
              <a:spcBef>
                <a:spcPts val="0"/>
              </a:spcBef>
              <a:buFont typeface="Wingdings" panose="05000000000000000000" pitchFamily="2" charset="2"/>
              <a:buNone/>
            </a:pPr>
            <a:r>
              <a:rPr lang="en-US" altLang="zh-CN" sz="2400" b="1" dirty="0">
                <a:latin typeface="Courier New" panose="02070309020205020404" pitchFamily="49" charset="0"/>
              </a:rPr>
              <a:t>			do 10 k = 1,100</a:t>
            </a:r>
          </a:p>
          <a:p>
            <a:pPr>
              <a:lnSpc>
                <a:spcPct val="100000"/>
              </a:lnSpc>
              <a:spcBef>
                <a:spcPts val="0"/>
              </a:spcBef>
              <a:buFont typeface="Wingdings" panose="05000000000000000000" pitchFamily="2" charset="2"/>
              <a:buNone/>
            </a:pPr>
            <a:r>
              <a:rPr lang="en-US" altLang="zh-CN" sz="2400" b="1" dirty="0">
                <a:latin typeface="Courier New" panose="02070309020205020404" pitchFamily="49" charset="0"/>
              </a:rPr>
              <a:t>10			A(</a:t>
            </a:r>
            <a:r>
              <a:rPr lang="en-US" altLang="zh-CN" sz="2400" b="1" dirty="0" err="1">
                <a:latin typeface="Courier New" panose="02070309020205020404" pitchFamily="49" charset="0"/>
              </a:rPr>
              <a:t>i,j</a:t>
            </a:r>
            <a:r>
              <a:rPr lang="en-US" altLang="zh-CN" sz="2400" b="1" dirty="0">
                <a:latin typeface="Courier New" panose="02070309020205020404" pitchFamily="49" charset="0"/>
              </a:rPr>
              <a:t>) = A(</a:t>
            </a:r>
            <a:r>
              <a:rPr lang="en-US" altLang="zh-CN" sz="2400" b="1" dirty="0" err="1">
                <a:latin typeface="Courier New" panose="02070309020205020404" pitchFamily="49" charset="0"/>
              </a:rPr>
              <a:t>i,j</a:t>
            </a:r>
            <a:r>
              <a:rPr lang="en-US" altLang="zh-CN" sz="2400" b="1" dirty="0">
                <a:latin typeface="Courier New" panose="02070309020205020404" pitchFamily="49" charset="0"/>
              </a:rPr>
              <a:t>)+B(</a:t>
            </a:r>
            <a:r>
              <a:rPr lang="en-US" altLang="zh-CN" sz="2400" b="1" dirty="0" err="1">
                <a:latin typeface="Courier New" panose="02070309020205020404" pitchFamily="49" charset="0"/>
              </a:rPr>
              <a:t>i,</a:t>
            </a:r>
            <a:r>
              <a:rPr lang="en-US" altLang="zh-CN" sz="2400" b="1" u="sng" dirty="0" err="1">
                <a:solidFill>
                  <a:schemeClr val="hlink"/>
                </a:solidFill>
                <a:latin typeface="Courier New" panose="02070309020205020404" pitchFamily="49" charset="0"/>
              </a:rPr>
              <a:t>k</a:t>
            </a:r>
            <a:r>
              <a:rPr lang="en-US" altLang="zh-CN" sz="2400" b="1" dirty="0" smtClean="0">
                <a:latin typeface="Courier New" panose="02070309020205020404" pitchFamily="49" charset="0"/>
              </a:rPr>
              <a:t>)*D(</a:t>
            </a:r>
            <a:r>
              <a:rPr lang="en-US" altLang="zh-CN" sz="2400" b="1" u="sng" dirty="0" err="1" smtClean="0">
                <a:solidFill>
                  <a:schemeClr val="hlink"/>
                </a:solidFill>
                <a:latin typeface="Courier New" panose="02070309020205020404" pitchFamily="49" charset="0"/>
              </a:rPr>
              <a:t>k</a:t>
            </a:r>
            <a:r>
              <a:rPr lang="en-US" altLang="zh-CN" sz="2400" b="1" dirty="0" err="1" smtClean="0">
                <a:latin typeface="Courier New" panose="02070309020205020404" pitchFamily="49" charset="0"/>
              </a:rPr>
              <a:t>,j</a:t>
            </a:r>
            <a:r>
              <a:rPr lang="en-US" altLang="zh-CN" sz="2400" b="1" dirty="0">
                <a:latin typeface="Courier New" panose="02070309020205020404" pitchFamily="49" charset="0"/>
              </a:rPr>
              <a:t>)</a:t>
            </a:r>
            <a:endParaRPr lang="en-US" altLang="zh-CN" sz="2400" b="1" dirty="0"/>
          </a:p>
          <a:p>
            <a:r>
              <a:rPr lang="en-US" altLang="zh-CN" dirty="0"/>
              <a:t>Either B or </a:t>
            </a:r>
            <a:r>
              <a:rPr lang="en-US" altLang="zh-CN" dirty="0" smtClean="0"/>
              <a:t>D </a:t>
            </a:r>
            <a:r>
              <a:rPr lang="en-US" altLang="zh-CN" dirty="0"/>
              <a:t>accesses not adjacent (800 bytes between)</a:t>
            </a:r>
          </a:p>
          <a:p>
            <a:r>
              <a:rPr lang="en-US" altLang="zh-CN" i="1" dirty="0">
                <a:solidFill>
                  <a:srgbClr val="FF0000"/>
                </a:solidFill>
              </a:rPr>
              <a:t>stride</a:t>
            </a:r>
            <a:r>
              <a:rPr lang="en-US" altLang="zh-CN" dirty="0"/>
              <a:t>: distance separating elements that are to be merged into a single vector (caches do </a:t>
            </a:r>
            <a:r>
              <a:rPr lang="en-US" altLang="zh-CN" u="sng" dirty="0">
                <a:solidFill>
                  <a:schemeClr val="hlink"/>
                </a:solidFill>
              </a:rPr>
              <a:t>unit stride</a:t>
            </a:r>
            <a:r>
              <a:rPr lang="en-US" altLang="zh-CN" dirty="0"/>
              <a:t>) </a:t>
            </a:r>
            <a:br>
              <a:rPr lang="en-US" altLang="zh-CN" dirty="0"/>
            </a:br>
            <a:r>
              <a:rPr lang="en-US" altLang="zh-CN" dirty="0"/>
              <a:t>=&gt; </a:t>
            </a:r>
            <a:r>
              <a:rPr lang="en-US" altLang="zh-CN" b="1" dirty="0">
                <a:solidFill>
                  <a:srgbClr val="FF0000"/>
                </a:solidFill>
                <a:latin typeface="Courier New" panose="02070309020205020404" pitchFamily="49" charset="0"/>
              </a:rPr>
              <a:t>LVWS</a:t>
            </a:r>
            <a:r>
              <a:rPr lang="en-US" altLang="zh-CN" dirty="0"/>
              <a:t> (load vector with stride) </a:t>
            </a:r>
            <a:r>
              <a:rPr lang="en-US" altLang="zh-CN" dirty="0"/>
              <a:t>instruction</a:t>
            </a:r>
            <a:br>
              <a:rPr lang="en-US" altLang="zh-CN" dirty="0"/>
            </a:br>
            <a:r>
              <a:rPr lang="en-US" altLang="zh-CN" dirty="0"/>
              <a:t>=&gt; </a:t>
            </a:r>
            <a:r>
              <a:rPr lang="en-US" altLang="zh-CN" b="1" dirty="0" smtClean="0">
                <a:solidFill>
                  <a:srgbClr val="FF0000"/>
                </a:solidFill>
                <a:latin typeface="Courier New" panose="02070309020205020404" pitchFamily="49" charset="0"/>
              </a:rPr>
              <a:t>STWS</a:t>
            </a:r>
            <a:r>
              <a:rPr lang="en-US" altLang="zh-CN" dirty="0" smtClean="0"/>
              <a:t> (store </a:t>
            </a:r>
            <a:r>
              <a:rPr lang="en-US" altLang="zh-CN" dirty="0"/>
              <a:t>vector with stride) </a:t>
            </a:r>
            <a:r>
              <a:rPr lang="en-US" altLang="zh-CN" dirty="0" smtClean="0"/>
              <a:t>instruction</a:t>
            </a:r>
            <a:endParaRPr lang="en-US" altLang="zh-CN" dirty="0"/>
          </a:p>
        </p:txBody>
      </p:sp>
    </p:spTree>
    <p:extLst>
      <p:ext uri="{BB962C8B-B14F-4D97-AF65-F5344CB8AC3E}">
        <p14:creationId xmlns:p14="http://schemas.microsoft.com/office/powerpoint/2010/main" val="1152135638"/>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695400" y="764704"/>
            <a:ext cx="9321725" cy="446088"/>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Vector Opt #3: Sparse Matrices</a:t>
            </a:r>
          </a:p>
        </p:txBody>
      </p:sp>
      <p:sp>
        <p:nvSpPr>
          <p:cNvPr id="56323" name="Rectangle 3"/>
          <p:cNvSpPr>
            <a:spLocks noGrp="1" noChangeArrowheads="1"/>
          </p:cNvSpPr>
          <p:nvPr>
            <p:ph type="body" idx="1"/>
          </p:nvPr>
        </p:nvSpPr>
        <p:spPr>
          <a:xfrm>
            <a:off x="695400" y="1447800"/>
            <a:ext cx="10801200" cy="507365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sz="2400" dirty="0"/>
              <a:t>Suppose:	</a:t>
            </a:r>
          </a:p>
          <a:p>
            <a:pPr>
              <a:buFont typeface="Wingdings" panose="05000000000000000000" pitchFamily="2" charset="2"/>
              <a:buNone/>
            </a:pPr>
            <a:r>
              <a:rPr lang="en-US" altLang="zh-CN" sz="2400" b="1" dirty="0">
                <a:latin typeface="Courier New" panose="02070309020205020404" pitchFamily="49" charset="0"/>
              </a:rPr>
              <a:t>			do	100 </a:t>
            </a:r>
            <a:r>
              <a:rPr lang="en-US" altLang="zh-CN" sz="2400" b="1" dirty="0" err="1">
                <a:latin typeface="Courier New" panose="02070309020205020404" pitchFamily="49" charset="0"/>
              </a:rPr>
              <a:t>i</a:t>
            </a:r>
            <a:r>
              <a:rPr lang="en-US" altLang="zh-CN" sz="2400" b="1" dirty="0">
                <a:latin typeface="Courier New" panose="02070309020205020404" pitchFamily="49" charset="0"/>
              </a:rPr>
              <a:t> = 1,n</a:t>
            </a:r>
          </a:p>
          <a:p>
            <a:pPr>
              <a:buFont typeface="Wingdings" panose="05000000000000000000" pitchFamily="2" charset="2"/>
              <a:buNone/>
            </a:pPr>
            <a:r>
              <a:rPr lang="en-US" altLang="zh-CN" sz="2400" b="1" dirty="0">
                <a:latin typeface="Courier New" panose="02070309020205020404" pitchFamily="49" charset="0"/>
              </a:rPr>
              <a:t>100		A(K(</a:t>
            </a:r>
            <a:r>
              <a:rPr lang="en-US" altLang="zh-CN" sz="2400" b="1" dirty="0" err="1">
                <a:latin typeface="Courier New" panose="02070309020205020404" pitchFamily="49" charset="0"/>
              </a:rPr>
              <a:t>i</a:t>
            </a:r>
            <a:r>
              <a:rPr lang="en-US" altLang="zh-CN" sz="2400" b="1" dirty="0">
                <a:latin typeface="Courier New" panose="02070309020205020404" pitchFamily="49" charset="0"/>
              </a:rPr>
              <a:t>)) = A(K(</a:t>
            </a:r>
            <a:r>
              <a:rPr lang="en-US" altLang="zh-CN" sz="2400" b="1" dirty="0" err="1">
                <a:latin typeface="Courier New" panose="02070309020205020404" pitchFamily="49" charset="0"/>
              </a:rPr>
              <a:t>i</a:t>
            </a:r>
            <a:r>
              <a:rPr lang="en-US" altLang="zh-CN" sz="2400" b="1" dirty="0">
                <a:latin typeface="Courier New" panose="02070309020205020404" pitchFamily="49" charset="0"/>
              </a:rPr>
              <a:t>)) + C(M(</a:t>
            </a:r>
            <a:r>
              <a:rPr lang="en-US" altLang="zh-CN" sz="2400" b="1" dirty="0" err="1">
                <a:latin typeface="Courier New" panose="02070309020205020404" pitchFamily="49" charset="0"/>
              </a:rPr>
              <a:t>i</a:t>
            </a:r>
            <a:r>
              <a:rPr lang="en-US" altLang="zh-CN" sz="2400" b="1" dirty="0">
                <a:latin typeface="Courier New" panose="02070309020205020404" pitchFamily="49" charset="0"/>
              </a:rPr>
              <a:t>))</a:t>
            </a:r>
            <a:endParaRPr lang="en-US" altLang="zh-CN" sz="2400" b="1" dirty="0"/>
          </a:p>
          <a:p>
            <a:r>
              <a:rPr lang="en-US" altLang="zh-CN" sz="2400" i="1" dirty="0">
                <a:solidFill>
                  <a:srgbClr val="FF0000"/>
                </a:solidFill>
              </a:rPr>
              <a:t>gather</a:t>
            </a:r>
            <a:r>
              <a:rPr lang="en-US" altLang="zh-CN" sz="2400" dirty="0"/>
              <a:t> (</a:t>
            </a:r>
            <a:r>
              <a:rPr lang="en-US" altLang="zh-CN" sz="2400" dirty="0">
                <a:latin typeface="Courier New" panose="02070309020205020404" pitchFamily="49" charset="0"/>
              </a:rPr>
              <a:t>LVI</a:t>
            </a:r>
            <a:r>
              <a:rPr lang="en-US" altLang="zh-CN" sz="2400" dirty="0"/>
              <a:t>) operation takes an </a:t>
            </a:r>
            <a:r>
              <a:rPr lang="en-US" altLang="zh-CN" sz="2400" i="1" dirty="0">
                <a:solidFill>
                  <a:srgbClr val="FF0000"/>
                </a:solidFill>
              </a:rPr>
              <a:t>index vector</a:t>
            </a:r>
            <a:r>
              <a:rPr lang="en-US" altLang="zh-CN" sz="2400" dirty="0">
                <a:solidFill>
                  <a:schemeClr val="hlink"/>
                </a:solidFill>
              </a:rPr>
              <a:t> </a:t>
            </a:r>
            <a:r>
              <a:rPr lang="en-US" altLang="zh-CN" sz="2400" dirty="0"/>
              <a:t>and fetches the vector whose elements are at the addresses given by adding a base address to the offsets given in the index vector =&gt; </a:t>
            </a:r>
            <a:r>
              <a:rPr lang="en-US" altLang="zh-CN" sz="2400" u="sng" dirty="0">
                <a:solidFill>
                  <a:srgbClr val="FF0000"/>
                </a:solidFill>
              </a:rPr>
              <a:t>a </a:t>
            </a:r>
            <a:r>
              <a:rPr lang="en-US" altLang="zh-CN" sz="2400" u="sng" dirty="0" err="1">
                <a:solidFill>
                  <a:srgbClr val="FF0000"/>
                </a:solidFill>
              </a:rPr>
              <a:t>nonsparse</a:t>
            </a:r>
            <a:r>
              <a:rPr lang="en-US" altLang="zh-CN" sz="2400" u="sng" dirty="0">
                <a:solidFill>
                  <a:srgbClr val="FF0000"/>
                </a:solidFill>
              </a:rPr>
              <a:t> vector in a vector register</a:t>
            </a:r>
            <a:r>
              <a:rPr lang="en-US" altLang="zh-CN" sz="2400" u="sng" dirty="0">
                <a:solidFill>
                  <a:schemeClr val="hlink"/>
                </a:solidFill>
              </a:rPr>
              <a:t> </a:t>
            </a:r>
            <a:endParaRPr lang="en-US" altLang="zh-CN" sz="2400" dirty="0"/>
          </a:p>
          <a:p>
            <a:r>
              <a:rPr lang="en-US" altLang="zh-CN" sz="2400" dirty="0"/>
              <a:t>After these elements are operated on in dense form,  the sparse vector can be stored in expanded form by a </a:t>
            </a:r>
            <a:r>
              <a:rPr lang="en-US" altLang="zh-CN" sz="2400" i="1" dirty="0">
                <a:solidFill>
                  <a:srgbClr val="FF0000"/>
                </a:solidFill>
              </a:rPr>
              <a:t>scatter</a:t>
            </a:r>
            <a:r>
              <a:rPr lang="en-US" altLang="zh-CN" sz="2400" dirty="0">
                <a:solidFill>
                  <a:srgbClr val="FF0000"/>
                </a:solidFill>
              </a:rPr>
              <a:t> </a:t>
            </a:r>
            <a:r>
              <a:rPr lang="en-US" altLang="zh-CN" sz="2400" dirty="0"/>
              <a:t>store (</a:t>
            </a:r>
            <a:r>
              <a:rPr lang="en-US" altLang="zh-CN" sz="2400" dirty="0">
                <a:latin typeface="Courier New" panose="02070309020205020404" pitchFamily="49" charset="0"/>
              </a:rPr>
              <a:t>SVI</a:t>
            </a:r>
            <a:r>
              <a:rPr lang="en-US" altLang="zh-CN" sz="2400" dirty="0"/>
              <a:t>), using the same index vector</a:t>
            </a:r>
          </a:p>
          <a:p>
            <a:r>
              <a:rPr lang="en-US" altLang="zh-CN" sz="2400" dirty="0"/>
              <a:t>Can't be done by compiler since can't know Ki elements distinct, no dependencies; by compiler directive</a:t>
            </a:r>
          </a:p>
          <a:p>
            <a:r>
              <a:rPr lang="en-US" altLang="zh-CN" sz="2400" dirty="0"/>
              <a:t>Use </a:t>
            </a:r>
            <a:r>
              <a:rPr lang="en-US" altLang="zh-CN" sz="2400" dirty="0">
                <a:latin typeface="Courier New" panose="02070309020205020404" pitchFamily="49" charset="0"/>
              </a:rPr>
              <a:t>CVI</a:t>
            </a:r>
            <a:r>
              <a:rPr lang="en-US" altLang="zh-CN" sz="2400" dirty="0"/>
              <a:t> to create index 0, 1xm, 2xm, ..., 63xm</a:t>
            </a:r>
          </a:p>
        </p:txBody>
      </p:sp>
    </p:spTree>
    <p:extLst>
      <p:ext uri="{BB962C8B-B14F-4D97-AF65-F5344CB8AC3E}">
        <p14:creationId xmlns:p14="http://schemas.microsoft.com/office/powerpoint/2010/main" val="3622351422"/>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Example of Scatter-Gather</a:t>
            </a:r>
            <a:endParaRPr lang="en-AU" dirty="0"/>
          </a:p>
        </p:txBody>
      </p:sp>
      <p:sp>
        <p:nvSpPr>
          <p:cNvPr id="242691" name="Rectangle 3"/>
          <p:cNvSpPr>
            <a:spLocks noGrp="1" noChangeArrowheads="1"/>
          </p:cNvSpPr>
          <p:nvPr>
            <p:ph type="body" idx="1"/>
          </p:nvPr>
        </p:nvSpPr>
        <p:spPr/>
        <p:txBody>
          <a:bodyPr/>
          <a:lstStyle/>
          <a:p>
            <a:r>
              <a:rPr lang="en-US" sz="2400" dirty="0"/>
              <a:t>Consider</a:t>
            </a:r>
            <a:r>
              <a:rPr lang="en-US" sz="2400" dirty="0" smtClean="0"/>
              <a:t>:</a:t>
            </a:r>
            <a:r>
              <a:rPr lang="nn-NO" sz="2400" dirty="0"/>
              <a:t>	</a:t>
            </a:r>
            <a:r>
              <a:rPr lang="nn-NO" sz="2400" b="1" dirty="0" smtClean="0">
                <a:latin typeface="Courier New" panose="02070309020205020404" pitchFamily="49" charset="0"/>
                <a:cs typeface="Courier New" panose="02070309020205020404" pitchFamily="49" charset="0"/>
              </a:rPr>
              <a:t>for (i = 0; i &lt; n; i=i+1)</a:t>
            </a:r>
          </a:p>
          <a:p>
            <a:pPr>
              <a:buNone/>
            </a:pPr>
            <a:r>
              <a:rPr lang="en-US" sz="2400" b="1" dirty="0" smtClean="0">
                <a:latin typeface="Courier New" panose="02070309020205020404" pitchFamily="49" charset="0"/>
                <a:cs typeface="Courier New" panose="02070309020205020404" pitchFamily="49" charset="0"/>
              </a:rPr>
              <a:t>				A[K[</a:t>
            </a:r>
            <a:r>
              <a:rPr lang="en-US" sz="2400" b="1" dirty="0" err="1" smtClean="0">
                <a:latin typeface="Courier New" panose="02070309020205020404" pitchFamily="49" charset="0"/>
                <a:cs typeface="Courier New" panose="02070309020205020404" pitchFamily="49" charset="0"/>
              </a:rPr>
              <a:t>i</a:t>
            </a:r>
            <a:r>
              <a:rPr lang="en-US" sz="2400" b="1" dirty="0" smtClean="0">
                <a:latin typeface="Courier New" panose="02070309020205020404" pitchFamily="49" charset="0"/>
                <a:cs typeface="Courier New" panose="02070309020205020404" pitchFamily="49" charset="0"/>
              </a:rPr>
              <a:t>]] = A[K[</a:t>
            </a:r>
            <a:r>
              <a:rPr lang="en-US" sz="2400" b="1" dirty="0" err="1" smtClean="0">
                <a:latin typeface="Courier New" panose="02070309020205020404" pitchFamily="49" charset="0"/>
                <a:cs typeface="Courier New" panose="02070309020205020404" pitchFamily="49" charset="0"/>
              </a:rPr>
              <a:t>i</a:t>
            </a:r>
            <a:r>
              <a:rPr lang="en-US" sz="2400" b="1" dirty="0" smtClean="0">
                <a:latin typeface="Courier New" panose="02070309020205020404" pitchFamily="49" charset="0"/>
                <a:cs typeface="Courier New" panose="02070309020205020404" pitchFamily="49" charset="0"/>
              </a:rPr>
              <a:t>]] + C[M[</a:t>
            </a:r>
            <a:r>
              <a:rPr lang="en-US" sz="2400" b="1" dirty="0" err="1" smtClean="0">
                <a:latin typeface="Courier New" panose="02070309020205020404" pitchFamily="49" charset="0"/>
                <a:cs typeface="Courier New" panose="02070309020205020404" pitchFamily="49" charset="0"/>
              </a:rPr>
              <a:t>i</a:t>
            </a:r>
            <a:r>
              <a:rPr lang="en-US" sz="2400" b="1" dirty="0" smtClean="0">
                <a:latin typeface="Courier New" panose="02070309020205020404" pitchFamily="49" charset="0"/>
                <a:cs typeface="Courier New" panose="02070309020205020404" pitchFamily="49" charset="0"/>
              </a:rPr>
              <a:t>]];</a:t>
            </a:r>
          </a:p>
          <a:p>
            <a:r>
              <a:rPr lang="en-US" sz="2400" dirty="0" smtClean="0"/>
              <a:t>Use index vector:</a:t>
            </a:r>
          </a:p>
          <a:p>
            <a:pPr>
              <a:buNone/>
            </a:pPr>
            <a:r>
              <a:rPr lang="en-US" sz="2400" b="1" dirty="0" err="1" smtClean="0">
                <a:latin typeface="Courier New" panose="02070309020205020404" pitchFamily="49" charset="0"/>
                <a:cs typeface="Courier New" panose="02070309020205020404" pitchFamily="49" charset="0"/>
              </a:rPr>
              <a:t>vld</a:t>
            </a:r>
            <a:r>
              <a:rPr lang="en-US" sz="2400" b="1" dirty="0">
                <a:latin typeface="Courier New" panose="02070309020205020404" pitchFamily="49" charset="0"/>
                <a:cs typeface="Courier New" panose="02070309020205020404" pitchFamily="49" charset="0"/>
              </a:rPr>
              <a:t>		v0, x7		# Load K[]</a:t>
            </a:r>
          </a:p>
          <a:p>
            <a:pPr>
              <a:buNone/>
            </a:pPr>
            <a:r>
              <a:rPr lang="en-US" sz="2400" b="1" dirty="0" err="1">
                <a:latin typeface="Courier New" panose="02070309020205020404" pitchFamily="49" charset="0"/>
                <a:cs typeface="Courier New" panose="02070309020205020404" pitchFamily="49" charset="0"/>
              </a:rPr>
              <a:t>vldx</a:t>
            </a:r>
            <a:r>
              <a:rPr lang="en-US" sz="2400" b="1" dirty="0">
                <a:latin typeface="Courier New" panose="02070309020205020404" pitchFamily="49" charset="0"/>
                <a:cs typeface="Courier New" panose="02070309020205020404" pitchFamily="49" charset="0"/>
              </a:rPr>
              <a:t>		v1, x5, v0	</a:t>
            </a:r>
            <a:r>
              <a:rPr lang="en-US" sz="2400" b="1" dirty="0" smtClean="0">
                <a:latin typeface="Courier New" panose="02070309020205020404" pitchFamily="49" charset="0"/>
                <a:cs typeface="Courier New" panose="02070309020205020404" pitchFamily="49" charset="0"/>
              </a:rPr>
              <a:t>	# </a:t>
            </a:r>
            <a:r>
              <a:rPr lang="en-US" sz="2400" b="1" dirty="0">
                <a:latin typeface="Courier New" panose="02070309020205020404" pitchFamily="49" charset="0"/>
                <a:cs typeface="Courier New" panose="02070309020205020404" pitchFamily="49" charset="0"/>
              </a:rPr>
              <a:t>Load A[K[]]</a:t>
            </a:r>
          </a:p>
          <a:p>
            <a:pPr>
              <a:buNone/>
            </a:pPr>
            <a:r>
              <a:rPr lang="en-US" sz="2400" b="1" dirty="0" err="1">
                <a:latin typeface="Courier New" panose="02070309020205020404" pitchFamily="49" charset="0"/>
                <a:cs typeface="Courier New" panose="02070309020205020404" pitchFamily="49" charset="0"/>
              </a:rPr>
              <a:t>vld</a:t>
            </a:r>
            <a:r>
              <a:rPr lang="en-US" sz="2400" b="1" dirty="0">
                <a:latin typeface="Courier New" panose="02070309020205020404" pitchFamily="49" charset="0"/>
                <a:cs typeface="Courier New" panose="02070309020205020404" pitchFamily="49" charset="0"/>
              </a:rPr>
              <a:t>		v2, x28	</a:t>
            </a:r>
            <a:r>
              <a:rPr lang="en-US" sz="2400" b="1" dirty="0" smtClean="0">
                <a:latin typeface="Courier New" panose="02070309020205020404" pitchFamily="49" charset="0"/>
                <a:cs typeface="Courier New" panose="02070309020205020404" pitchFamily="49" charset="0"/>
              </a:rPr>
              <a:t>	# </a:t>
            </a:r>
            <a:r>
              <a:rPr lang="en-US" sz="2400" b="1" dirty="0">
                <a:latin typeface="Courier New" panose="02070309020205020404" pitchFamily="49" charset="0"/>
                <a:cs typeface="Courier New" panose="02070309020205020404" pitchFamily="49" charset="0"/>
              </a:rPr>
              <a:t>Load M[]</a:t>
            </a:r>
          </a:p>
          <a:p>
            <a:pPr>
              <a:buNone/>
            </a:pPr>
            <a:r>
              <a:rPr lang="en-US" sz="2400" b="1" dirty="0" err="1">
                <a:latin typeface="Courier New" panose="02070309020205020404" pitchFamily="49" charset="0"/>
                <a:cs typeface="Courier New" panose="02070309020205020404" pitchFamily="49" charset="0"/>
              </a:rPr>
              <a:t>vldi</a:t>
            </a:r>
            <a:r>
              <a:rPr lang="en-US" sz="2400" b="1" dirty="0">
                <a:latin typeface="Courier New" panose="02070309020205020404" pitchFamily="49" charset="0"/>
                <a:cs typeface="Courier New" panose="02070309020205020404" pitchFamily="49" charset="0"/>
              </a:rPr>
              <a:t>		v3, x6, v2	</a:t>
            </a:r>
            <a:r>
              <a:rPr lang="en-US" sz="2400" b="1" dirty="0" smtClean="0">
                <a:latin typeface="Courier New" panose="02070309020205020404" pitchFamily="49" charset="0"/>
                <a:cs typeface="Courier New" panose="02070309020205020404" pitchFamily="49" charset="0"/>
              </a:rPr>
              <a:t>	# </a:t>
            </a:r>
            <a:r>
              <a:rPr lang="en-US" sz="2400" b="1" dirty="0">
                <a:latin typeface="Courier New" panose="02070309020205020404" pitchFamily="49" charset="0"/>
                <a:cs typeface="Courier New" panose="02070309020205020404" pitchFamily="49" charset="0"/>
              </a:rPr>
              <a:t>Load C[M[]]</a:t>
            </a:r>
          </a:p>
          <a:p>
            <a:pPr>
              <a:buNone/>
            </a:pPr>
            <a:r>
              <a:rPr lang="en-US" sz="2400" b="1" dirty="0" err="1">
                <a:latin typeface="Courier New" panose="02070309020205020404" pitchFamily="49" charset="0"/>
                <a:cs typeface="Courier New" panose="02070309020205020404" pitchFamily="49" charset="0"/>
              </a:rPr>
              <a:t>vadd</a:t>
            </a:r>
            <a:r>
              <a:rPr lang="en-US" sz="2400" b="1" dirty="0">
                <a:latin typeface="Courier New" panose="02070309020205020404" pitchFamily="49" charset="0"/>
                <a:cs typeface="Courier New" panose="02070309020205020404" pitchFamily="49" charset="0"/>
              </a:rPr>
              <a:t>		v1, v1, v3	</a:t>
            </a:r>
            <a:r>
              <a:rPr lang="en-US" sz="2400" b="1" dirty="0" smtClean="0">
                <a:latin typeface="Courier New" panose="02070309020205020404" pitchFamily="49" charset="0"/>
                <a:cs typeface="Courier New" panose="02070309020205020404" pitchFamily="49" charset="0"/>
              </a:rPr>
              <a:t>	# </a:t>
            </a:r>
            <a:r>
              <a:rPr lang="en-US" sz="2400" b="1" dirty="0">
                <a:latin typeface="Courier New" panose="02070309020205020404" pitchFamily="49" charset="0"/>
                <a:cs typeface="Courier New" panose="02070309020205020404" pitchFamily="49" charset="0"/>
              </a:rPr>
              <a:t>Add them</a:t>
            </a:r>
          </a:p>
          <a:p>
            <a:pPr>
              <a:buNone/>
            </a:pPr>
            <a:r>
              <a:rPr lang="en-US" sz="2400" b="1" dirty="0" err="1">
                <a:latin typeface="Courier New" panose="02070309020205020404" pitchFamily="49" charset="0"/>
                <a:cs typeface="Courier New" panose="02070309020205020404" pitchFamily="49" charset="0"/>
              </a:rPr>
              <a:t>vstx</a:t>
            </a:r>
            <a:r>
              <a:rPr lang="en-US" sz="2400" b="1" dirty="0">
                <a:latin typeface="Courier New" panose="02070309020205020404" pitchFamily="49" charset="0"/>
                <a:cs typeface="Courier New" panose="02070309020205020404" pitchFamily="49" charset="0"/>
              </a:rPr>
              <a:t>		v1, x5, v0	</a:t>
            </a:r>
            <a:r>
              <a:rPr lang="en-US" sz="2400" b="1" dirty="0" smtClean="0">
                <a:latin typeface="Courier New" panose="02070309020205020404" pitchFamily="49" charset="0"/>
                <a:cs typeface="Courier New" panose="02070309020205020404" pitchFamily="49" charset="0"/>
              </a:rPr>
              <a:t>	# </a:t>
            </a:r>
            <a:r>
              <a:rPr lang="en-US" sz="2400" b="1" dirty="0">
                <a:latin typeface="Courier New" panose="02070309020205020404" pitchFamily="49" charset="0"/>
                <a:cs typeface="Courier New" panose="02070309020205020404" pitchFamily="49" charset="0"/>
              </a:rPr>
              <a:t>Store A[K</a:t>
            </a:r>
            <a:r>
              <a:rPr lang="en-US" sz="2400" b="1" dirty="0" smtClean="0">
                <a:latin typeface="Courier New" panose="02070309020205020404" pitchFamily="49" charset="0"/>
                <a:cs typeface="Courier New" panose="02070309020205020404" pitchFamily="49" charset="0"/>
              </a:rPr>
              <a:t>[]]</a:t>
            </a:r>
            <a:endParaRPr lang="en-US" sz="2400" b="1" dirty="0">
              <a:latin typeface="Courier New" panose="02070309020205020404" pitchFamily="49" charset="0"/>
              <a:cs typeface="Courier New" panose="02070309020205020404" pitchFamily="49" charset="0"/>
            </a:endParaRPr>
          </a:p>
        </p:txBody>
      </p:sp>
      <p:sp>
        <p:nvSpPr>
          <p:cNvPr id="242693" name="Text Box 5"/>
          <p:cNvSpPr txBox="1">
            <a:spLocks noChangeArrowheads="1"/>
          </p:cNvSpPr>
          <p:nvPr/>
        </p:nvSpPr>
        <p:spPr bwMode="auto">
          <a:xfrm rot="5400000">
            <a:off x="9366326" y="934844"/>
            <a:ext cx="2236638" cy="369332"/>
          </a:xfrm>
          <a:prstGeom prst="rect">
            <a:avLst/>
          </a:prstGeom>
          <a:solidFill>
            <a:srgbClr val="C0C0C0"/>
          </a:solidFill>
          <a:ln w="9525">
            <a:noFill/>
            <a:miter lim="800000"/>
            <a:headEnd/>
            <a:tailEnd/>
          </a:ln>
          <a:effectLst/>
        </p:spPr>
        <p:txBody>
          <a:bodyPr wrap="none">
            <a:spAutoFit/>
          </a:bodyPr>
          <a:lstStyle/>
          <a:p>
            <a:pPr eaLnBrk="0" hangingPunct="0">
              <a:spcBef>
                <a:spcPct val="0"/>
              </a:spcBef>
              <a:buClrTx/>
              <a:buSzTx/>
              <a:buFontTx/>
              <a:buNone/>
            </a:pPr>
            <a:r>
              <a:rPr lang="en-US" dirty="0">
                <a:solidFill>
                  <a:srgbClr val="0066FF"/>
                </a:solidFill>
                <a:latin typeface="Arial" charset="0"/>
              </a:rPr>
              <a:t>Vector Architectures</a:t>
            </a:r>
          </a:p>
        </p:txBody>
      </p:sp>
    </p:spTree>
    <p:extLst>
      <p:ext uri="{BB962C8B-B14F-4D97-AF65-F5344CB8AC3E}">
        <p14:creationId xmlns:p14="http://schemas.microsoft.com/office/powerpoint/2010/main" val="173715958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983432" y="381000"/>
            <a:ext cx="9341668" cy="7366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Sparse Matrix </a:t>
            </a:r>
            <a:r>
              <a:rPr lang="en-US" altLang="zh-CN" dirty="0" smtClean="0"/>
              <a:t>Performance</a:t>
            </a:r>
            <a:endParaRPr lang="en-US" altLang="zh-CN" dirty="0"/>
          </a:p>
        </p:txBody>
      </p:sp>
      <p:sp>
        <p:nvSpPr>
          <p:cNvPr id="58371" name="Rectangle 3"/>
          <p:cNvSpPr>
            <a:spLocks noGrp="1" noChangeArrowheads="1"/>
          </p:cNvSpPr>
          <p:nvPr>
            <p:ph type="body" idx="1"/>
          </p:nvPr>
        </p:nvSpPr>
        <p:spPr>
          <a:xfrm>
            <a:off x="983432" y="1700808"/>
            <a:ext cx="9793088" cy="4280892"/>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tabLst>
                <a:tab pos="2692400" algn="l"/>
                <a:tab pos="5435600" algn="l"/>
              </a:tabLst>
            </a:pPr>
            <a:r>
              <a:rPr lang="en-US" altLang="zh-CN" dirty="0"/>
              <a:t>Cache (1993) vs. Vector (1988)</a:t>
            </a:r>
          </a:p>
          <a:p>
            <a:pPr>
              <a:buNone/>
              <a:tabLst>
                <a:tab pos="2692400" algn="l"/>
                <a:tab pos="5435600" algn="l"/>
              </a:tabLst>
            </a:pPr>
            <a:r>
              <a:rPr lang="en-US" altLang="zh-CN" dirty="0"/>
              <a:t>		IBM RS6000	Cray YMP</a:t>
            </a:r>
          </a:p>
          <a:p>
            <a:pPr>
              <a:buNone/>
              <a:tabLst>
                <a:tab pos="2692400" algn="l"/>
                <a:tab pos="5435600" algn="l"/>
              </a:tabLst>
            </a:pPr>
            <a:r>
              <a:rPr lang="en-US" altLang="zh-CN" dirty="0"/>
              <a:t>Clock	  72 MHz	167 MHz</a:t>
            </a:r>
          </a:p>
          <a:p>
            <a:pPr>
              <a:buNone/>
              <a:tabLst>
                <a:tab pos="2692400" algn="l"/>
                <a:tab pos="5435600" algn="l"/>
              </a:tabLst>
            </a:pPr>
            <a:r>
              <a:rPr lang="en-US" altLang="zh-CN" dirty="0"/>
              <a:t>Cache	256 KB	0.25 KB</a:t>
            </a:r>
          </a:p>
          <a:p>
            <a:pPr>
              <a:buNone/>
              <a:tabLst>
                <a:tab pos="2692400" algn="l"/>
                <a:tab pos="5435600" algn="l"/>
              </a:tabLst>
            </a:pPr>
            <a:r>
              <a:rPr lang="en-US" altLang="zh-CN" dirty="0" err="1">
                <a:solidFill>
                  <a:schemeClr val="accent2"/>
                </a:solidFill>
              </a:rPr>
              <a:t>Linpack</a:t>
            </a:r>
            <a:r>
              <a:rPr lang="en-US" altLang="zh-CN" dirty="0">
                <a:solidFill>
                  <a:schemeClr val="accent2"/>
                </a:solidFill>
              </a:rPr>
              <a:t>	140 MFLOPS	160 (1.1)</a:t>
            </a:r>
            <a:endParaRPr lang="en-US" altLang="zh-CN" dirty="0">
              <a:solidFill>
                <a:schemeClr val="hlink"/>
              </a:solidFill>
            </a:endParaRPr>
          </a:p>
          <a:p>
            <a:pPr>
              <a:buNone/>
              <a:tabLst>
                <a:tab pos="2692400" algn="l"/>
                <a:tab pos="5435600" algn="l"/>
              </a:tabLst>
            </a:pPr>
            <a:r>
              <a:rPr lang="en-US" altLang="zh-CN" dirty="0">
                <a:solidFill>
                  <a:srgbClr val="FC0128"/>
                </a:solidFill>
              </a:rPr>
              <a:t>Sparse Matrix	  17 MFLOPS	125 (7.3)</a:t>
            </a:r>
            <a:br>
              <a:rPr lang="en-US" altLang="zh-CN" dirty="0">
                <a:solidFill>
                  <a:srgbClr val="FC0128"/>
                </a:solidFill>
              </a:rPr>
            </a:br>
            <a:r>
              <a:rPr lang="en-US" altLang="zh-CN" dirty="0">
                <a:solidFill>
                  <a:srgbClr val="FC0128"/>
                </a:solidFill>
              </a:rPr>
              <a:t>(</a:t>
            </a:r>
            <a:r>
              <a:rPr lang="en-US" altLang="zh-CN" dirty="0" err="1">
                <a:solidFill>
                  <a:srgbClr val="FC0128"/>
                </a:solidFill>
              </a:rPr>
              <a:t>Cholesky</a:t>
            </a:r>
            <a:r>
              <a:rPr lang="en-US" altLang="zh-CN" dirty="0">
                <a:solidFill>
                  <a:srgbClr val="FC0128"/>
                </a:solidFill>
              </a:rPr>
              <a:t> Blocked )</a:t>
            </a:r>
          </a:p>
          <a:p>
            <a:pPr>
              <a:tabLst>
                <a:tab pos="2692400" algn="l"/>
                <a:tab pos="5435600" algn="l"/>
              </a:tabLst>
            </a:pPr>
            <a:r>
              <a:rPr lang="en-US" altLang="zh-CN" dirty="0"/>
              <a:t>Cache: 1 address per cache block (32B to 64B)</a:t>
            </a:r>
          </a:p>
          <a:p>
            <a:pPr>
              <a:tabLst>
                <a:tab pos="2692400" algn="l"/>
                <a:tab pos="5435600" algn="l"/>
              </a:tabLst>
            </a:pPr>
            <a:r>
              <a:rPr lang="en-US" altLang="zh-CN" dirty="0"/>
              <a:t>Vector: 1 address per element (4B)</a:t>
            </a:r>
          </a:p>
        </p:txBody>
      </p:sp>
    </p:spTree>
    <p:extLst>
      <p:ext uri="{BB962C8B-B14F-4D97-AF65-F5344CB8AC3E}">
        <p14:creationId xmlns:p14="http://schemas.microsoft.com/office/powerpoint/2010/main" val="2299643540"/>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a:xfrm>
            <a:off x="2135189" y="109677"/>
            <a:ext cx="8281987" cy="707886"/>
          </a:xfrm>
        </p:spPr>
        <p:txBody>
          <a:bodyPr/>
          <a:lstStyle/>
          <a:p>
            <a:r>
              <a:rPr lang="en-US" dirty="0" smtClean="0"/>
              <a:t>Programming </a:t>
            </a:r>
            <a:r>
              <a:rPr lang="en-US" dirty="0" err="1" smtClean="0"/>
              <a:t>Vec</a:t>
            </a:r>
            <a:r>
              <a:rPr lang="en-US" dirty="0" smtClean="0"/>
              <a:t>. Architectures</a:t>
            </a:r>
            <a:endParaRPr lang="en-AU" dirty="0"/>
          </a:p>
        </p:txBody>
      </p:sp>
      <p:sp>
        <p:nvSpPr>
          <p:cNvPr id="242691" name="Rectangle 3"/>
          <p:cNvSpPr>
            <a:spLocks noGrp="1" noChangeArrowheads="1"/>
          </p:cNvSpPr>
          <p:nvPr>
            <p:ph type="body" idx="1"/>
          </p:nvPr>
        </p:nvSpPr>
        <p:spPr/>
        <p:txBody>
          <a:bodyPr/>
          <a:lstStyle/>
          <a:p>
            <a:r>
              <a:rPr lang="en-US" sz="2400" dirty="0"/>
              <a:t>Compilers can provide feedback to programmers</a:t>
            </a:r>
          </a:p>
          <a:p>
            <a:r>
              <a:rPr lang="en-US" sz="2400" dirty="0"/>
              <a:t>Programmers can provide hints to compiler</a:t>
            </a:r>
          </a:p>
          <a:p>
            <a:endParaRPr lang="en-US" sz="2400" dirty="0"/>
          </a:p>
        </p:txBody>
      </p:sp>
      <p:sp>
        <p:nvSpPr>
          <p:cNvPr id="242693" name="Text Box 5"/>
          <p:cNvSpPr txBox="1">
            <a:spLocks noChangeArrowheads="1"/>
          </p:cNvSpPr>
          <p:nvPr/>
        </p:nvSpPr>
        <p:spPr bwMode="auto">
          <a:xfrm rot="5400000">
            <a:off x="9366326" y="934844"/>
            <a:ext cx="2236638" cy="369332"/>
          </a:xfrm>
          <a:prstGeom prst="rect">
            <a:avLst/>
          </a:prstGeom>
          <a:solidFill>
            <a:srgbClr val="C0C0C0"/>
          </a:solidFill>
          <a:ln w="9525">
            <a:noFill/>
            <a:miter lim="800000"/>
            <a:headEnd/>
            <a:tailEnd/>
          </a:ln>
          <a:effectLst/>
        </p:spPr>
        <p:txBody>
          <a:bodyPr wrap="none">
            <a:spAutoFit/>
          </a:bodyPr>
          <a:lstStyle/>
          <a:p>
            <a:pPr eaLnBrk="0" hangingPunct="0">
              <a:spcBef>
                <a:spcPct val="0"/>
              </a:spcBef>
              <a:buClrTx/>
              <a:buSzTx/>
              <a:buFontTx/>
              <a:buNone/>
            </a:pPr>
            <a:r>
              <a:rPr lang="en-US" dirty="0">
                <a:solidFill>
                  <a:srgbClr val="0066FF"/>
                </a:solidFill>
                <a:latin typeface="Arial" charset="0"/>
              </a:rPr>
              <a:t>Vector Architectures</a:t>
            </a:r>
          </a:p>
        </p:txBody>
      </p:sp>
      <p:pic>
        <p:nvPicPr>
          <p:cNvPr id="8" name="Picture 2" descr="Y:\02_GRAPHICS\BOOKS\02_PPTs\MKCAD(Hennessy)\PPT\Ch04\f04-07-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47728" y="2454870"/>
            <a:ext cx="5832648" cy="400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5161482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Vector Surprise</a:t>
            </a:r>
          </a:p>
        </p:txBody>
      </p:sp>
      <p:sp>
        <p:nvSpPr>
          <p:cNvPr id="30723" name="Rectangle 3"/>
          <p:cNvSpPr>
            <a:spLocks noGrp="1" noChangeArrowheads="1"/>
          </p:cNvSpPr>
          <p:nvPr>
            <p:ph type="body" idx="1"/>
          </p:nvPr>
        </p:nvSpPr>
        <p:spPr>
          <a:xfrm>
            <a:off x="1127448" y="1700808"/>
            <a:ext cx="9540553" cy="4114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dirty="0"/>
              <a:t>Use vectors for inner loop parallelism (no surprise)</a:t>
            </a:r>
          </a:p>
          <a:p>
            <a:pPr lvl="1"/>
            <a:r>
              <a:rPr lang="en-US" altLang="zh-CN" dirty="0"/>
              <a:t>One dimension of array: A[0, </a:t>
            </a:r>
            <a:r>
              <a:rPr lang="en-US" altLang="zh-CN" u="sng" dirty="0">
                <a:solidFill>
                  <a:srgbClr val="FC0128"/>
                </a:solidFill>
              </a:rPr>
              <a:t>0</a:t>
            </a:r>
            <a:r>
              <a:rPr lang="en-US" altLang="zh-CN" dirty="0"/>
              <a:t>], A[0, </a:t>
            </a:r>
            <a:r>
              <a:rPr lang="en-US" altLang="zh-CN" u="sng" dirty="0">
                <a:solidFill>
                  <a:srgbClr val="FC0128"/>
                </a:solidFill>
              </a:rPr>
              <a:t>1</a:t>
            </a:r>
            <a:r>
              <a:rPr lang="en-US" altLang="zh-CN" dirty="0"/>
              <a:t>], A[0, </a:t>
            </a:r>
            <a:r>
              <a:rPr lang="en-US" altLang="zh-CN" u="sng" dirty="0">
                <a:solidFill>
                  <a:srgbClr val="FC0128"/>
                </a:solidFill>
              </a:rPr>
              <a:t>2</a:t>
            </a:r>
            <a:r>
              <a:rPr lang="en-US" altLang="zh-CN" dirty="0"/>
              <a:t>], ... </a:t>
            </a:r>
          </a:p>
          <a:p>
            <a:pPr lvl="1"/>
            <a:r>
              <a:rPr lang="en-US" altLang="zh-CN" dirty="0"/>
              <a:t>think of machine as, say, 32 vector </a:t>
            </a:r>
            <a:r>
              <a:rPr lang="en-US" altLang="zh-CN" dirty="0" err="1"/>
              <a:t>regs</a:t>
            </a:r>
            <a:r>
              <a:rPr lang="en-US" altLang="zh-CN" dirty="0"/>
              <a:t> each with 64 elements</a:t>
            </a:r>
          </a:p>
          <a:p>
            <a:pPr lvl="1"/>
            <a:r>
              <a:rPr lang="en-US" altLang="zh-CN" dirty="0"/>
              <a:t>1 instruction updates 64 elements of 1 vector register</a:t>
            </a:r>
          </a:p>
          <a:p>
            <a:r>
              <a:rPr lang="en-US" altLang="zh-CN" dirty="0"/>
              <a:t>and for outer loop parallelism! </a:t>
            </a:r>
          </a:p>
          <a:p>
            <a:pPr lvl="1"/>
            <a:r>
              <a:rPr lang="en-US" altLang="zh-CN" dirty="0"/>
              <a:t>1 element from each column: A[</a:t>
            </a:r>
            <a:r>
              <a:rPr lang="en-US" altLang="zh-CN" u="sng" dirty="0">
                <a:solidFill>
                  <a:srgbClr val="FC0128"/>
                </a:solidFill>
              </a:rPr>
              <a:t>0</a:t>
            </a:r>
            <a:r>
              <a:rPr lang="en-US" altLang="zh-CN" dirty="0"/>
              <a:t>,0], A[</a:t>
            </a:r>
            <a:r>
              <a:rPr lang="en-US" altLang="zh-CN" u="sng" dirty="0">
                <a:solidFill>
                  <a:srgbClr val="FC0128"/>
                </a:solidFill>
              </a:rPr>
              <a:t>1</a:t>
            </a:r>
            <a:r>
              <a:rPr lang="en-US" altLang="zh-CN" dirty="0"/>
              <a:t>,0], A[</a:t>
            </a:r>
            <a:r>
              <a:rPr lang="en-US" altLang="zh-CN" u="sng" dirty="0">
                <a:solidFill>
                  <a:srgbClr val="FC0128"/>
                </a:solidFill>
              </a:rPr>
              <a:t>2</a:t>
            </a:r>
            <a:r>
              <a:rPr lang="en-US" altLang="zh-CN" dirty="0"/>
              <a:t>,0], ...</a:t>
            </a:r>
          </a:p>
          <a:p>
            <a:pPr lvl="1"/>
            <a:r>
              <a:rPr lang="en-US" altLang="zh-CN" dirty="0"/>
              <a:t>think of machine as 64 Virtual processors?(VPs) </a:t>
            </a:r>
            <a:br>
              <a:rPr lang="en-US" altLang="zh-CN" dirty="0"/>
            </a:br>
            <a:r>
              <a:rPr lang="en-US" altLang="zh-CN" dirty="0"/>
              <a:t>each with 32 scalar registers! (multithreaded processor)</a:t>
            </a:r>
          </a:p>
          <a:p>
            <a:pPr lvl="1"/>
            <a:r>
              <a:rPr lang="en-US" altLang="zh-CN" dirty="0"/>
              <a:t>1 instruction updates 1 scalar register in 64 VPs</a:t>
            </a:r>
          </a:p>
          <a:p>
            <a:r>
              <a:rPr lang="en-US" altLang="zh-CN" dirty="0"/>
              <a:t>Hardware identical, just 2 compiler perspectives</a:t>
            </a:r>
          </a:p>
        </p:txBody>
      </p:sp>
    </p:spTree>
    <p:extLst>
      <p:ext uri="{BB962C8B-B14F-4D97-AF65-F5344CB8AC3E}">
        <p14:creationId xmlns:p14="http://schemas.microsoft.com/office/powerpoint/2010/main" val="38770955"/>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Virtial Processor Vector Model</a:t>
            </a:r>
          </a:p>
        </p:txBody>
      </p:sp>
      <p:sp>
        <p:nvSpPr>
          <p:cNvPr id="31747" name="Rectangle 3"/>
          <p:cNvSpPr>
            <a:spLocks noGrp="1" noChangeArrowheads="1"/>
          </p:cNvSpPr>
          <p:nvPr>
            <p:ph type="body"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a:t>Vector operations are SIMD </a:t>
            </a:r>
            <a:br>
              <a:rPr lang="en-US" altLang="zh-CN"/>
            </a:br>
            <a:r>
              <a:rPr lang="en-US" altLang="zh-CN"/>
              <a:t>(single instruction multiple data)operations</a:t>
            </a:r>
          </a:p>
          <a:p>
            <a:r>
              <a:rPr lang="en-US" altLang="zh-CN"/>
              <a:t>Each element is computed by a virtual processor (VP)</a:t>
            </a:r>
          </a:p>
          <a:p>
            <a:r>
              <a:rPr lang="en-US" altLang="zh-CN"/>
              <a:t>Number of VPs given by vector length</a:t>
            </a:r>
          </a:p>
          <a:p>
            <a:pPr lvl="1"/>
            <a:r>
              <a:rPr lang="en-US" altLang="zh-CN"/>
              <a:t>vector control register</a:t>
            </a:r>
          </a:p>
        </p:txBody>
      </p:sp>
    </p:spTree>
    <p:extLst>
      <p:ext uri="{BB962C8B-B14F-4D97-AF65-F5344CB8AC3E}">
        <p14:creationId xmlns:p14="http://schemas.microsoft.com/office/powerpoint/2010/main" val="1993393495"/>
      </p:ext>
    </p:extLst>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Vector Architectural State</a:t>
            </a:r>
          </a:p>
        </p:txBody>
      </p:sp>
      <p:grpSp>
        <p:nvGrpSpPr>
          <p:cNvPr id="33890" name="Group 98"/>
          <p:cNvGrpSpPr>
            <a:grpSpLocks/>
          </p:cNvGrpSpPr>
          <p:nvPr/>
        </p:nvGrpSpPr>
        <p:grpSpPr bwMode="auto">
          <a:xfrm>
            <a:off x="1822450" y="1601788"/>
            <a:ext cx="8288336" cy="4530724"/>
            <a:chOff x="188" y="1009"/>
            <a:chExt cx="5221" cy="2854"/>
          </a:xfrm>
        </p:grpSpPr>
        <p:sp>
          <p:nvSpPr>
            <p:cNvPr id="33795" name="Rectangle 3"/>
            <p:cNvSpPr>
              <a:spLocks noChangeArrowheads="1"/>
            </p:cNvSpPr>
            <p:nvPr/>
          </p:nvSpPr>
          <p:spPr bwMode="auto">
            <a:xfrm>
              <a:off x="188" y="1649"/>
              <a:ext cx="1000" cy="9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b="1">
                  <a:solidFill>
                    <a:srgbClr val="FF0000"/>
                  </a:solidFill>
                </a:rPr>
                <a:t>General</a:t>
              </a:r>
            </a:p>
            <a:p>
              <a:pPr algn="ctr"/>
              <a:r>
                <a:rPr lang="en-US" altLang="zh-CN" sz="2400" b="1">
                  <a:solidFill>
                    <a:srgbClr val="FF0000"/>
                  </a:solidFill>
                </a:rPr>
                <a:t>Purpose</a:t>
              </a:r>
            </a:p>
            <a:p>
              <a:pPr algn="ctr"/>
              <a:r>
                <a:rPr lang="en-US" altLang="zh-CN" sz="2400" b="1">
                  <a:solidFill>
                    <a:srgbClr val="FF0000"/>
                  </a:solidFill>
                </a:rPr>
                <a:t>Registers</a:t>
              </a:r>
            </a:p>
            <a:p>
              <a:pPr algn="ctr" latinLnBrk="1"/>
              <a:endParaRPr lang="en-US" altLang="zh-CN" sz="2400" b="1">
                <a:solidFill>
                  <a:srgbClr val="FF0000"/>
                </a:solidFill>
              </a:endParaRPr>
            </a:p>
          </p:txBody>
        </p:sp>
        <p:sp>
          <p:nvSpPr>
            <p:cNvPr id="33796" name="Rectangle 4"/>
            <p:cNvSpPr>
              <a:spLocks noChangeArrowheads="1"/>
            </p:cNvSpPr>
            <p:nvPr/>
          </p:nvSpPr>
          <p:spPr bwMode="auto">
            <a:xfrm>
              <a:off x="188" y="2849"/>
              <a:ext cx="1000" cy="7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b="1">
                  <a:solidFill>
                    <a:srgbClr val="0000FF"/>
                  </a:solidFill>
                </a:rPr>
                <a:t>Flag</a:t>
              </a:r>
            </a:p>
            <a:p>
              <a:pPr algn="ctr"/>
              <a:r>
                <a:rPr lang="en-US" altLang="zh-CN" sz="2400" b="1">
                  <a:solidFill>
                    <a:srgbClr val="0000FF"/>
                  </a:solidFill>
                </a:rPr>
                <a:t>Registers</a:t>
              </a:r>
            </a:p>
            <a:p>
              <a:pPr algn="ctr"/>
              <a:r>
                <a:rPr lang="en-US" altLang="zh-CN" sz="2400" b="1">
                  <a:solidFill>
                    <a:srgbClr val="0000FF"/>
                  </a:solidFill>
                </a:rPr>
                <a:t>(32)</a:t>
              </a:r>
            </a:p>
          </p:txBody>
        </p:sp>
        <p:sp>
          <p:nvSpPr>
            <p:cNvPr id="33797" name="Rectangle 5"/>
            <p:cNvSpPr>
              <a:spLocks noChangeArrowheads="1"/>
            </p:cNvSpPr>
            <p:nvPr/>
          </p:nvSpPr>
          <p:spPr bwMode="auto">
            <a:xfrm>
              <a:off x="3530" y="1622"/>
              <a:ext cx="576" cy="2238"/>
            </a:xfrm>
            <a:prstGeom prst="rect">
              <a:avLst/>
            </a:prstGeom>
            <a:solidFill>
              <a:srgbClr val="33CC33"/>
            </a:solidFill>
            <a:ln w="12700">
              <a:solidFill>
                <a:srgbClr val="33CC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798" name="Rectangle 6"/>
            <p:cNvSpPr>
              <a:spLocks noChangeArrowheads="1"/>
            </p:cNvSpPr>
            <p:nvPr/>
          </p:nvSpPr>
          <p:spPr bwMode="auto">
            <a:xfrm>
              <a:off x="1621" y="1622"/>
              <a:ext cx="576" cy="2238"/>
            </a:xfrm>
            <a:prstGeom prst="rect">
              <a:avLst/>
            </a:prstGeom>
            <a:solidFill>
              <a:srgbClr val="33CC33"/>
            </a:solidFill>
            <a:ln w="12700">
              <a:solidFill>
                <a:srgbClr val="33CC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799" name="Rectangle 7"/>
            <p:cNvSpPr>
              <a:spLocks noChangeArrowheads="1"/>
            </p:cNvSpPr>
            <p:nvPr/>
          </p:nvSpPr>
          <p:spPr bwMode="auto">
            <a:xfrm>
              <a:off x="2275" y="1622"/>
              <a:ext cx="576" cy="2240"/>
            </a:xfrm>
            <a:prstGeom prst="rect">
              <a:avLst/>
            </a:prstGeom>
            <a:solidFill>
              <a:srgbClr val="33CC33"/>
            </a:solidFill>
            <a:ln w="12700">
              <a:solidFill>
                <a:srgbClr val="33CC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00" name="Rectangle 8"/>
            <p:cNvSpPr>
              <a:spLocks noChangeArrowheads="1"/>
            </p:cNvSpPr>
            <p:nvPr/>
          </p:nvSpPr>
          <p:spPr bwMode="auto">
            <a:xfrm>
              <a:off x="1550" y="1692"/>
              <a:ext cx="2606" cy="132"/>
            </a:xfrm>
            <a:prstGeom prst="rect">
              <a:avLst/>
            </a:prstGeom>
            <a:noFill/>
            <a:ln w="12700">
              <a:solidFill>
                <a:srgbClr val="FF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3808" name="Group 16"/>
            <p:cNvGrpSpPr>
              <a:grpSpLocks/>
            </p:cNvGrpSpPr>
            <p:nvPr/>
          </p:nvGrpSpPr>
          <p:grpSpPr bwMode="auto">
            <a:xfrm>
              <a:off x="1651" y="1722"/>
              <a:ext cx="509" cy="771"/>
              <a:chOff x="1651" y="1722"/>
              <a:chExt cx="509" cy="771"/>
            </a:xfrm>
          </p:grpSpPr>
          <p:sp>
            <p:nvSpPr>
              <p:cNvPr id="33801" name="Rectangle 9"/>
              <p:cNvSpPr>
                <a:spLocks noChangeArrowheads="1"/>
              </p:cNvSpPr>
              <p:nvPr/>
            </p:nvSpPr>
            <p:spPr bwMode="auto">
              <a:xfrm>
                <a:off x="1651" y="1722"/>
                <a:ext cx="509" cy="75"/>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02" name="Rectangle 10"/>
              <p:cNvSpPr>
                <a:spLocks noChangeArrowheads="1"/>
              </p:cNvSpPr>
              <p:nvPr/>
            </p:nvSpPr>
            <p:spPr bwMode="auto">
              <a:xfrm>
                <a:off x="1651" y="1893"/>
                <a:ext cx="509" cy="75"/>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03" name="Rectangle 11"/>
              <p:cNvSpPr>
                <a:spLocks noChangeArrowheads="1"/>
              </p:cNvSpPr>
              <p:nvPr/>
            </p:nvSpPr>
            <p:spPr bwMode="auto">
              <a:xfrm>
                <a:off x="1651" y="2418"/>
                <a:ext cx="509" cy="75"/>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3807" name="Group 15"/>
              <p:cNvGrpSpPr>
                <a:grpSpLocks/>
              </p:cNvGrpSpPr>
              <p:nvPr/>
            </p:nvGrpSpPr>
            <p:grpSpPr bwMode="auto">
              <a:xfrm>
                <a:off x="1901" y="2107"/>
                <a:ext cx="30" cy="191"/>
                <a:chOff x="1901" y="2107"/>
                <a:chExt cx="30" cy="191"/>
              </a:xfrm>
            </p:grpSpPr>
            <p:sp>
              <p:nvSpPr>
                <p:cNvPr id="33804" name="Oval 12"/>
                <p:cNvSpPr>
                  <a:spLocks noChangeArrowheads="1"/>
                </p:cNvSpPr>
                <p:nvPr/>
              </p:nvSpPr>
              <p:spPr bwMode="auto">
                <a:xfrm>
                  <a:off x="1901" y="2107"/>
                  <a:ext cx="29" cy="29"/>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05" name="Oval 13"/>
                <p:cNvSpPr>
                  <a:spLocks noChangeArrowheads="1"/>
                </p:cNvSpPr>
                <p:nvPr/>
              </p:nvSpPr>
              <p:spPr bwMode="auto">
                <a:xfrm>
                  <a:off x="1902" y="2186"/>
                  <a:ext cx="29" cy="29"/>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06" name="Oval 14"/>
                <p:cNvSpPr>
                  <a:spLocks noChangeArrowheads="1"/>
                </p:cNvSpPr>
                <p:nvPr/>
              </p:nvSpPr>
              <p:spPr bwMode="auto">
                <a:xfrm>
                  <a:off x="1902" y="2269"/>
                  <a:ext cx="29" cy="29"/>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33815" name="Group 23"/>
            <p:cNvGrpSpPr>
              <a:grpSpLocks/>
            </p:cNvGrpSpPr>
            <p:nvPr/>
          </p:nvGrpSpPr>
          <p:grpSpPr bwMode="auto">
            <a:xfrm>
              <a:off x="2312" y="1723"/>
              <a:ext cx="509" cy="771"/>
              <a:chOff x="2312" y="1723"/>
              <a:chExt cx="509" cy="771"/>
            </a:xfrm>
          </p:grpSpPr>
          <p:sp>
            <p:nvSpPr>
              <p:cNvPr id="33809" name="Rectangle 17"/>
              <p:cNvSpPr>
                <a:spLocks noChangeArrowheads="1"/>
              </p:cNvSpPr>
              <p:nvPr/>
            </p:nvSpPr>
            <p:spPr bwMode="auto">
              <a:xfrm>
                <a:off x="2312" y="1723"/>
                <a:ext cx="509" cy="75"/>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0" name="Rectangle 18"/>
              <p:cNvSpPr>
                <a:spLocks noChangeArrowheads="1"/>
              </p:cNvSpPr>
              <p:nvPr/>
            </p:nvSpPr>
            <p:spPr bwMode="auto">
              <a:xfrm>
                <a:off x="2312" y="1894"/>
                <a:ext cx="509" cy="75"/>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1" name="Rectangle 19"/>
              <p:cNvSpPr>
                <a:spLocks noChangeArrowheads="1"/>
              </p:cNvSpPr>
              <p:nvPr/>
            </p:nvSpPr>
            <p:spPr bwMode="auto">
              <a:xfrm>
                <a:off x="2312" y="2419"/>
                <a:ext cx="509" cy="75"/>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2" name="Oval 20"/>
              <p:cNvSpPr>
                <a:spLocks noChangeArrowheads="1"/>
              </p:cNvSpPr>
              <p:nvPr/>
            </p:nvSpPr>
            <p:spPr bwMode="auto">
              <a:xfrm>
                <a:off x="2562" y="2108"/>
                <a:ext cx="29" cy="29"/>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3" name="Oval 21"/>
              <p:cNvSpPr>
                <a:spLocks noChangeArrowheads="1"/>
              </p:cNvSpPr>
              <p:nvPr/>
            </p:nvSpPr>
            <p:spPr bwMode="auto">
              <a:xfrm>
                <a:off x="2563" y="2187"/>
                <a:ext cx="29" cy="29"/>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4" name="Oval 22"/>
              <p:cNvSpPr>
                <a:spLocks noChangeArrowheads="1"/>
              </p:cNvSpPr>
              <p:nvPr/>
            </p:nvSpPr>
            <p:spPr bwMode="auto">
              <a:xfrm>
                <a:off x="2563" y="2270"/>
                <a:ext cx="29" cy="29"/>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3822" name="Group 30"/>
            <p:cNvGrpSpPr>
              <a:grpSpLocks/>
            </p:cNvGrpSpPr>
            <p:nvPr/>
          </p:nvGrpSpPr>
          <p:grpSpPr bwMode="auto">
            <a:xfrm>
              <a:off x="3567" y="1723"/>
              <a:ext cx="509" cy="771"/>
              <a:chOff x="3567" y="1723"/>
              <a:chExt cx="509" cy="771"/>
            </a:xfrm>
          </p:grpSpPr>
          <p:sp>
            <p:nvSpPr>
              <p:cNvPr id="33816" name="Rectangle 24"/>
              <p:cNvSpPr>
                <a:spLocks noChangeArrowheads="1"/>
              </p:cNvSpPr>
              <p:nvPr/>
            </p:nvSpPr>
            <p:spPr bwMode="auto">
              <a:xfrm>
                <a:off x="3567" y="1723"/>
                <a:ext cx="509" cy="75"/>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7" name="Rectangle 25"/>
              <p:cNvSpPr>
                <a:spLocks noChangeArrowheads="1"/>
              </p:cNvSpPr>
              <p:nvPr/>
            </p:nvSpPr>
            <p:spPr bwMode="auto">
              <a:xfrm>
                <a:off x="3567" y="1894"/>
                <a:ext cx="509" cy="75"/>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8" name="Rectangle 26"/>
              <p:cNvSpPr>
                <a:spLocks noChangeArrowheads="1"/>
              </p:cNvSpPr>
              <p:nvPr/>
            </p:nvSpPr>
            <p:spPr bwMode="auto">
              <a:xfrm>
                <a:off x="3567" y="2419"/>
                <a:ext cx="509" cy="75"/>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9" name="Oval 27"/>
              <p:cNvSpPr>
                <a:spLocks noChangeArrowheads="1"/>
              </p:cNvSpPr>
              <p:nvPr/>
            </p:nvSpPr>
            <p:spPr bwMode="auto">
              <a:xfrm>
                <a:off x="3817" y="2108"/>
                <a:ext cx="29" cy="29"/>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20" name="Oval 28"/>
              <p:cNvSpPr>
                <a:spLocks noChangeArrowheads="1"/>
              </p:cNvSpPr>
              <p:nvPr/>
            </p:nvSpPr>
            <p:spPr bwMode="auto">
              <a:xfrm>
                <a:off x="3818" y="2187"/>
                <a:ext cx="29" cy="29"/>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21" name="Oval 29"/>
              <p:cNvSpPr>
                <a:spLocks noChangeArrowheads="1"/>
              </p:cNvSpPr>
              <p:nvPr/>
            </p:nvSpPr>
            <p:spPr bwMode="auto">
              <a:xfrm>
                <a:off x="3818" y="2270"/>
                <a:ext cx="29" cy="29"/>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3823" name="Oval 31"/>
            <p:cNvSpPr>
              <a:spLocks noChangeArrowheads="1"/>
            </p:cNvSpPr>
            <p:nvPr/>
          </p:nvSpPr>
          <p:spPr bwMode="auto">
            <a:xfrm>
              <a:off x="2966" y="2602"/>
              <a:ext cx="75" cy="75"/>
            </a:xfrm>
            <a:prstGeom prst="ellipse">
              <a:avLst/>
            </a:prstGeom>
            <a:solidFill>
              <a:srgbClr val="33CC33"/>
            </a:solidFill>
            <a:ln>
              <a:noFill/>
            </a:ln>
            <a:effectLst/>
            <a:extLst>
              <a:ext uri="{91240B29-F687-4F45-9708-019B960494DF}">
                <a14:hiddenLine xmlns:a14="http://schemas.microsoft.com/office/drawing/2010/main" w="12700">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24" name="Oval 32"/>
            <p:cNvSpPr>
              <a:spLocks noChangeArrowheads="1"/>
            </p:cNvSpPr>
            <p:nvPr/>
          </p:nvSpPr>
          <p:spPr bwMode="auto">
            <a:xfrm>
              <a:off x="3142" y="2602"/>
              <a:ext cx="75" cy="75"/>
            </a:xfrm>
            <a:prstGeom prst="ellipse">
              <a:avLst/>
            </a:prstGeom>
            <a:solidFill>
              <a:srgbClr val="33CC33"/>
            </a:solidFill>
            <a:ln>
              <a:noFill/>
            </a:ln>
            <a:effectLst/>
            <a:extLst>
              <a:ext uri="{91240B29-F687-4F45-9708-019B960494DF}">
                <a14:hiddenLine xmlns:a14="http://schemas.microsoft.com/office/drawing/2010/main" w="12700">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25" name="Oval 33"/>
            <p:cNvSpPr>
              <a:spLocks noChangeArrowheads="1"/>
            </p:cNvSpPr>
            <p:nvPr/>
          </p:nvSpPr>
          <p:spPr bwMode="auto">
            <a:xfrm>
              <a:off x="3322" y="2603"/>
              <a:ext cx="75" cy="75"/>
            </a:xfrm>
            <a:prstGeom prst="ellipse">
              <a:avLst/>
            </a:prstGeom>
            <a:solidFill>
              <a:srgbClr val="33CC33"/>
            </a:solidFill>
            <a:ln>
              <a:noFill/>
            </a:ln>
            <a:effectLst/>
            <a:extLst>
              <a:ext uri="{91240B29-F687-4F45-9708-019B960494DF}">
                <a14:hiddenLine xmlns:a14="http://schemas.microsoft.com/office/drawing/2010/main" w="12700">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26" name="Rectangle 34"/>
            <p:cNvSpPr>
              <a:spLocks noChangeArrowheads="1"/>
            </p:cNvSpPr>
            <p:nvPr/>
          </p:nvSpPr>
          <p:spPr bwMode="auto">
            <a:xfrm>
              <a:off x="1551" y="1868"/>
              <a:ext cx="2606" cy="132"/>
            </a:xfrm>
            <a:prstGeom prst="rect">
              <a:avLst/>
            </a:prstGeom>
            <a:noFill/>
            <a:ln w="12700">
              <a:solidFill>
                <a:srgbClr val="FF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27" name="Rectangle 35"/>
            <p:cNvSpPr>
              <a:spLocks noChangeArrowheads="1"/>
            </p:cNvSpPr>
            <p:nvPr/>
          </p:nvSpPr>
          <p:spPr bwMode="auto">
            <a:xfrm>
              <a:off x="1556" y="2393"/>
              <a:ext cx="2606" cy="132"/>
            </a:xfrm>
            <a:prstGeom prst="rect">
              <a:avLst/>
            </a:prstGeom>
            <a:noFill/>
            <a:ln w="12700">
              <a:solidFill>
                <a:srgbClr val="FF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28" name="Rectangle 36"/>
            <p:cNvSpPr>
              <a:spLocks noChangeArrowheads="1"/>
            </p:cNvSpPr>
            <p:nvPr/>
          </p:nvSpPr>
          <p:spPr bwMode="auto">
            <a:xfrm>
              <a:off x="1743" y="1383"/>
              <a:ext cx="476" cy="22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spcBef>
                  <a:spcPct val="50000"/>
                </a:spcBef>
              </a:pPr>
              <a:r>
                <a:rPr lang="en-US" altLang="zh-CN" b="1">
                  <a:solidFill>
                    <a:srgbClr val="33CC33"/>
                  </a:solidFill>
                </a:rPr>
                <a:t>VP</a:t>
              </a:r>
              <a:r>
                <a:rPr lang="en-US" altLang="zh-CN" b="1" baseline="-25000">
                  <a:solidFill>
                    <a:srgbClr val="33CC33"/>
                  </a:solidFill>
                </a:rPr>
                <a:t>0</a:t>
              </a:r>
            </a:p>
          </p:txBody>
        </p:sp>
        <p:sp>
          <p:nvSpPr>
            <p:cNvPr id="33829" name="Rectangle 37"/>
            <p:cNvSpPr>
              <a:spLocks noChangeArrowheads="1"/>
            </p:cNvSpPr>
            <p:nvPr/>
          </p:nvSpPr>
          <p:spPr bwMode="auto">
            <a:xfrm>
              <a:off x="2394" y="1384"/>
              <a:ext cx="476" cy="22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spcBef>
                  <a:spcPct val="50000"/>
                </a:spcBef>
              </a:pPr>
              <a:r>
                <a:rPr lang="en-US" altLang="zh-CN" b="1">
                  <a:solidFill>
                    <a:srgbClr val="33CC33"/>
                  </a:solidFill>
                </a:rPr>
                <a:t>VP</a:t>
              </a:r>
              <a:r>
                <a:rPr lang="en-US" altLang="zh-CN" b="1" baseline="-25000">
                  <a:solidFill>
                    <a:srgbClr val="33CC33"/>
                  </a:solidFill>
                </a:rPr>
                <a:t>1</a:t>
              </a:r>
            </a:p>
          </p:txBody>
        </p:sp>
        <p:sp>
          <p:nvSpPr>
            <p:cNvPr id="33830" name="Rectangle 38"/>
            <p:cNvSpPr>
              <a:spLocks noChangeArrowheads="1"/>
            </p:cNvSpPr>
            <p:nvPr/>
          </p:nvSpPr>
          <p:spPr bwMode="auto">
            <a:xfrm>
              <a:off x="3505" y="1389"/>
              <a:ext cx="622" cy="22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spcBef>
                  <a:spcPct val="50000"/>
                </a:spcBef>
              </a:pPr>
              <a:r>
                <a:rPr lang="en-US" altLang="zh-CN" b="1">
                  <a:solidFill>
                    <a:srgbClr val="33CC33"/>
                  </a:solidFill>
                </a:rPr>
                <a:t>VP</a:t>
              </a:r>
              <a:r>
                <a:rPr lang="en-US" altLang="zh-CN" b="1" baseline="-25000">
                  <a:solidFill>
                    <a:srgbClr val="33CC33"/>
                  </a:solidFill>
                </a:rPr>
                <a:t>$vlr-1</a:t>
              </a:r>
            </a:p>
          </p:txBody>
        </p:sp>
        <p:sp>
          <p:nvSpPr>
            <p:cNvPr id="33831" name="Rectangle 39"/>
            <p:cNvSpPr>
              <a:spLocks noChangeArrowheads="1"/>
            </p:cNvSpPr>
            <p:nvPr/>
          </p:nvSpPr>
          <p:spPr bwMode="auto">
            <a:xfrm>
              <a:off x="1244" y="1651"/>
              <a:ext cx="284" cy="2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1600" b="1">
                  <a:solidFill>
                    <a:srgbClr val="FF0000"/>
                  </a:solidFill>
                </a:rPr>
                <a:t>vr</a:t>
              </a:r>
              <a:r>
                <a:rPr lang="en-US" altLang="zh-CN" sz="1600" b="1" baseline="-25000">
                  <a:solidFill>
                    <a:srgbClr val="FF0000"/>
                  </a:solidFill>
                </a:rPr>
                <a:t>0</a:t>
              </a:r>
            </a:p>
          </p:txBody>
        </p:sp>
        <p:sp>
          <p:nvSpPr>
            <p:cNvPr id="33832" name="Rectangle 40"/>
            <p:cNvSpPr>
              <a:spLocks noChangeArrowheads="1"/>
            </p:cNvSpPr>
            <p:nvPr/>
          </p:nvSpPr>
          <p:spPr bwMode="auto">
            <a:xfrm>
              <a:off x="1250" y="1819"/>
              <a:ext cx="284" cy="2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1600" b="1">
                  <a:solidFill>
                    <a:srgbClr val="FF0000"/>
                  </a:solidFill>
                </a:rPr>
                <a:t>vr</a:t>
              </a:r>
              <a:r>
                <a:rPr lang="en-US" altLang="zh-CN" sz="1600" b="1" baseline="-25000">
                  <a:solidFill>
                    <a:srgbClr val="FF0000"/>
                  </a:solidFill>
                </a:rPr>
                <a:t>1</a:t>
              </a:r>
            </a:p>
          </p:txBody>
        </p:sp>
        <p:sp>
          <p:nvSpPr>
            <p:cNvPr id="33833" name="Rectangle 41"/>
            <p:cNvSpPr>
              <a:spLocks noChangeArrowheads="1"/>
            </p:cNvSpPr>
            <p:nvPr/>
          </p:nvSpPr>
          <p:spPr bwMode="auto">
            <a:xfrm>
              <a:off x="1213" y="2343"/>
              <a:ext cx="402" cy="2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r>
                <a:rPr lang="en-US" altLang="zh-CN" sz="1600" b="1">
                  <a:solidFill>
                    <a:srgbClr val="FF0000"/>
                  </a:solidFill>
                </a:rPr>
                <a:t>vr</a:t>
              </a:r>
              <a:r>
                <a:rPr lang="en-US" altLang="zh-CN" sz="1600" b="1" baseline="-25000">
                  <a:solidFill>
                    <a:srgbClr val="FF0000"/>
                  </a:solidFill>
                </a:rPr>
                <a:t>31</a:t>
              </a:r>
            </a:p>
          </p:txBody>
        </p:sp>
        <p:grpSp>
          <p:nvGrpSpPr>
            <p:cNvPr id="33841" name="Group 49"/>
            <p:cNvGrpSpPr>
              <a:grpSpLocks/>
            </p:cNvGrpSpPr>
            <p:nvPr/>
          </p:nvGrpSpPr>
          <p:grpSpPr bwMode="auto">
            <a:xfrm>
              <a:off x="1871" y="2811"/>
              <a:ext cx="76" cy="796"/>
              <a:chOff x="1871" y="2811"/>
              <a:chExt cx="76" cy="796"/>
            </a:xfrm>
          </p:grpSpPr>
          <p:sp>
            <p:nvSpPr>
              <p:cNvPr id="33834" name="Rectangle 42"/>
              <p:cNvSpPr>
                <a:spLocks noChangeArrowheads="1"/>
              </p:cNvSpPr>
              <p:nvPr/>
            </p:nvSpPr>
            <p:spPr bwMode="auto">
              <a:xfrm>
                <a:off x="1871" y="2811"/>
                <a:ext cx="75" cy="75"/>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35" name="Rectangle 43"/>
              <p:cNvSpPr>
                <a:spLocks noChangeArrowheads="1"/>
              </p:cNvSpPr>
              <p:nvPr/>
            </p:nvSpPr>
            <p:spPr bwMode="auto">
              <a:xfrm>
                <a:off x="1872" y="2992"/>
                <a:ext cx="75" cy="75"/>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36" name="Rectangle 44"/>
              <p:cNvSpPr>
                <a:spLocks noChangeArrowheads="1"/>
              </p:cNvSpPr>
              <p:nvPr/>
            </p:nvSpPr>
            <p:spPr bwMode="auto">
              <a:xfrm>
                <a:off x="1872" y="3532"/>
                <a:ext cx="75" cy="75"/>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3840" name="Group 48"/>
              <p:cNvGrpSpPr>
                <a:grpSpLocks/>
              </p:cNvGrpSpPr>
              <p:nvPr/>
            </p:nvGrpSpPr>
            <p:grpSpPr bwMode="auto">
              <a:xfrm>
                <a:off x="1900" y="3206"/>
                <a:ext cx="30" cy="191"/>
                <a:chOff x="1900" y="3206"/>
                <a:chExt cx="30" cy="191"/>
              </a:xfrm>
            </p:grpSpPr>
            <p:sp>
              <p:nvSpPr>
                <p:cNvPr id="33837" name="Oval 45"/>
                <p:cNvSpPr>
                  <a:spLocks noChangeArrowheads="1"/>
                </p:cNvSpPr>
                <p:nvPr/>
              </p:nvSpPr>
              <p:spPr bwMode="auto">
                <a:xfrm>
                  <a:off x="1900" y="3206"/>
                  <a:ext cx="29" cy="29"/>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38" name="Oval 46"/>
                <p:cNvSpPr>
                  <a:spLocks noChangeArrowheads="1"/>
                </p:cNvSpPr>
                <p:nvPr/>
              </p:nvSpPr>
              <p:spPr bwMode="auto">
                <a:xfrm>
                  <a:off x="1901" y="3285"/>
                  <a:ext cx="29" cy="29"/>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39" name="Oval 47"/>
                <p:cNvSpPr>
                  <a:spLocks noChangeArrowheads="1"/>
                </p:cNvSpPr>
                <p:nvPr/>
              </p:nvSpPr>
              <p:spPr bwMode="auto">
                <a:xfrm>
                  <a:off x="1901" y="3368"/>
                  <a:ext cx="29" cy="29"/>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33842" name="Rectangle 50"/>
            <p:cNvSpPr>
              <a:spLocks noChangeArrowheads="1"/>
            </p:cNvSpPr>
            <p:nvPr/>
          </p:nvSpPr>
          <p:spPr bwMode="auto">
            <a:xfrm>
              <a:off x="1556" y="2779"/>
              <a:ext cx="2606" cy="132"/>
            </a:xfrm>
            <a:prstGeom prst="rect">
              <a:avLst/>
            </a:prstGeom>
            <a:noFill/>
            <a:ln w="12700">
              <a:solidFill>
                <a:srgbClr val="0000FF"/>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43" name="Rectangle 51"/>
            <p:cNvSpPr>
              <a:spLocks noChangeArrowheads="1"/>
            </p:cNvSpPr>
            <p:nvPr/>
          </p:nvSpPr>
          <p:spPr bwMode="auto">
            <a:xfrm>
              <a:off x="1557" y="2965"/>
              <a:ext cx="2606" cy="132"/>
            </a:xfrm>
            <a:prstGeom prst="rect">
              <a:avLst/>
            </a:prstGeom>
            <a:noFill/>
            <a:ln w="12700">
              <a:solidFill>
                <a:srgbClr val="0000FF"/>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44" name="Rectangle 52"/>
            <p:cNvSpPr>
              <a:spLocks noChangeArrowheads="1"/>
            </p:cNvSpPr>
            <p:nvPr/>
          </p:nvSpPr>
          <p:spPr bwMode="auto">
            <a:xfrm>
              <a:off x="1553" y="3506"/>
              <a:ext cx="2606" cy="132"/>
            </a:xfrm>
            <a:prstGeom prst="rect">
              <a:avLst/>
            </a:prstGeom>
            <a:noFill/>
            <a:ln w="12700">
              <a:solidFill>
                <a:srgbClr val="0000FF"/>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3852" name="Group 60"/>
            <p:cNvGrpSpPr>
              <a:grpSpLocks/>
            </p:cNvGrpSpPr>
            <p:nvPr/>
          </p:nvGrpSpPr>
          <p:grpSpPr bwMode="auto">
            <a:xfrm>
              <a:off x="2541" y="2812"/>
              <a:ext cx="76" cy="796"/>
              <a:chOff x="2541" y="2812"/>
              <a:chExt cx="76" cy="796"/>
            </a:xfrm>
          </p:grpSpPr>
          <p:sp>
            <p:nvSpPr>
              <p:cNvPr id="33845" name="Rectangle 53"/>
              <p:cNvSpPr>
                <a:spLocks noChangeArrowheads="1"/>
              </p:cNvSpPr>
              <p:nvPr/>
            </p:nvSpPr>
            <p:spPr bwMode="auto">
              <a:xfrm>
                <a:off x="2541" y="2812"/>
                <a:ext cx="75" cy="75"/>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46" name="Rectangle 54"/>
              <p:cNvSpPr>
                <a:spLocks noChangeArrowheads="1"/>
              </p:cNvSpPr>
              <p:nvPr/>
            </p:nvSpPr>
            <p:spPr bwMode="auto">
              <a:xfrm>
                <a:off x="2542" y="2993"/>
                <a:ext cx="75" cy="75"/>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47" name="Rectangle 55"/>
              <p:cNvSpPr>
                <a:spLocks noChangeArrowheads="1"/>
              </p:cNvSpPr>
              <p:nvPr/>
            </p:nvSpPr>
            <p:spPr bwMode="auto">
              <a:xfrm>
                <a:off x="2542" y="3533"/>
                <a:ext cx="75" cy="75"/>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3851" name="Group 59"/>
              <p:cNvGrpSpPr>
                <a:grpSpLocks/>
              </p:cNvGrpSpPr>
              <p:nvPr/>
            </p:nvGrpSpPr>
            <p:grpSpPr bwMode="auto">
              <a:xfrm>
                <a:off x="2570" y="3207"/>
                <a:ext cx="30" cy="191"/>
                <a:chOff x="2570" y="3207"/>
                <a:chExt cx="30" cy="191"/>
              </a:xfrm>
            </p:grpSpPr>
            <p:sp>
              <p:nvSpPr>
                <p:cNvPr id="33848" name="Oval 56"/>
                <p:cNvSpPr>
                  <a:spLocks noChangeArrowheads="1"/>
                </p:cNvSpPr>
                <p:nvPr/>
              </p:nvSpPr>
              <p:spPr bwMode="auto">
                <a:xfrm>
                  <a:off x="2570" y="3207"/>
                  <a:ext cx="29" cy="29"/>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49" name="Oval 57"/>
                <p:cNvSpPr>
                  <a:spLocks noChangeArrowheads="1"/>
                </p:cNvSpPr>
                <p:nvPr/>
              </p:nvSpPr>
              <p:spPr bwMode="auto">
                <a:xfrm>
                  <a:off x="2571" y="3286"/>
                  <a:ext cx="29" cy="29"/>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50" name="Oval 58"/>
                <p:cNvSpPr>
                  <a:spLocks noChangeArrowheads="1"/>
                </p:cNvSpPr>
                <p:nvPr/>
              </p:nvSpPr>
              <p:spPr bwMode="auto">
                <a:xfrm>
                  <a:off x="2571" y="3369"/>
                  <a:ext cx="29" cy="29"/>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33860" name="Group 68"/>
            <p:cNvGrpSpPr>
              <a:grpSpLocks/>
            </p:cNvGrpSpPr>
            <p:nvPr/>
          </p:nvGrpSpPr>
          <p:grpSpPr bwMode="auto">
            <a:xfrm>
              <a:off x="3796" y="2812"/>
              <a:ext cx="76" cy="796"/>
              <a:chOff x="3796" y="2812"/>
              <a:chExt cx="76" cy="796"/>
            </a:xfrm>
          </p:grpSpPr>
          <p:sp>
            <p:nvSpPr>
              <p:cNvPr id="33853" name="Rectangle 61"/>
              <p:cNvSpPr>
                <a:spLocks noChangeArrowheads="1"/>
              </p:cNvSpPr>
              <p:nvPr/>
            </p:nvSpPr>
            <p:spPr bwMode="auto">
              <a:xfrm>
                <a:off x="3796" y="2812"/>
                <a:ext cx="75" cy="75"/>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54" name="Rectangle 62"/>
              <p:cNvSpPr>
                <a:spLocks noChangeArrowheads="1"/>
              </p:cNvSpPr>
              <p:nvPr/>
            </p:nvSpPr>
            <p:spPr bwMode="auto">
              <a:xfrm>
                <a:off x="3797" y="2993"/>
                <a:ext cx="75" cy="75"/>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55" name="Rectangle 63"/>
              <p:cNvSpPr>
                <a:spLocks noChangeArrowheads="1"/>
              </p:cNvSpPr>
              <p:nvPr/>
            </p:nvSpPr>
            <p:spPr bwMode="auto">
              <a:xfrm>
                <a:off x="3797" y="3533"/>
                <a:ext cx="75" cy="75"/>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3859" name="Group 67"/>
              <p:cNvGrpSpPr>
                <a:grpSpLocks/>
              </p:cNvGrpSpPr>
              <p:nvPr/>
            </p:nvGrpSpPr>
            <p:grpSpPr bwMode="auto">
              <a:xfrm>
                <a:off x="3825" y="3207"/>
                <a:ext cx="30" cy="191"/>
                <a:chOff x="3825" y="3207"/>
                <a:chExt cx="30" cy="191"/>
              </a:xfrm>
            </p:grpSpPr>
            <p:sp>
              <p:nvSpPr>
                <p:cNvPr id="33856" name="Oval 64"/>
                <p:cNvSpPr>
                  <a:spLocks noChangeArrowheads="1"/>
                </p:cNvSpPr>
                <p:nvPr/>
              </p:nvSpPr>
              <p:spPr bwMode="auto">
                <a:xfrm>
                  <a:off x="3825" y="3207"/>
                  <a:ext cx="29" cy="29"/>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57" name="Oval 65"/>
                <p:cNvSpPr>
                  <a:spLocks noChangeArrowheads="1"/>
                </p:cNvSpPr>
                <p:nvPr/>
              </p:nvSpPr>
              <p:spPr bwMode="auto">
                <a:xfrm>
                  <a:off x="3826" y="3286"/>
                  <a:ext cx="29" cy="29"/>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58" name="Oval 66"/>
                <p:cNvSpPr>
                  <a:spLocks noChangeArrowheads="1"/>
                </p:cNvSpPr>
                <p:nvPr/>
              </p:nvSpPr>
              <p:spPr bwMode="auto">
                <a:xfrm>
                  <a:off x="3826" y="3369"/>
                  <a:ext cx="29" cy="29"/>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33861" name="Rectangle 69"/>
            <p:cNvSpPr>
              <a:spLocks noChangeArrowheads="1"/>
            </p:cNvSpPr>
            <p:nvPr/>
          </p:nvSpPr>
          <p:spPr bwMode="auto">
            <a:xfrm>
              <a:off x="1273" y="2740"/>
              <a:ext cx="277" cy="2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1600" b="1">
                  <a:solidFill>
                    <a:srgbClr val="0000FF"/>
                  </a:solidFill>
                </a:rPr>
                <a:t>vf</a:t>
              </a:r>
              <a:r>
                <a:rPr lang="en-US" altLang="zh-CN" sz="1600" b="1" baseline="-25000">
                  <a:solidFill>
                    <a:srgbClr val="0000FF"/>
                  </a:solidFill>
                </a:rPr>
                <a:t>0</a:t>
              </a:r>
            </a:p>
          </p:txBody>
        </p:sp>
        <p:sp>
          <p:nvSpPr>
            <p:cNvPr id="33862" name="Rectangle 70"/>
            <p:cNvSpPr>
              <a:spLocks noChangeArrowheads="1"/>
            </p:cNvSpPr>
            <p:nvPr/>
          </p:nvSpPr>
          <p:spPr bwMode="auto">
            <a:xfrm>
              <a:off x="1274" y="2911"/>
              <a:ext cx="325" cy="2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r>
                <a:rPr lang="en-US" altLang="zh-CN" sz="1600" b="1">
                  <a:solidFill>
                    <a:srgbClr val="0000FF"/>
                  </a:solidFill>
                </a:rPr>
                <a:t>vf</a:t>
              </a:r>
              <a:r>
                <a:rPr lang="en-US" altLang="zh-CN" sz="1600" b="1" baseline="-25000">
                  <a:solidFill>
                    <a:srgbClr val="0000FF"/>
                  </a:solidFill>
                </a:rPr>
                <a:t>1</a:t>
              </a:r>
            </a:p>
          </p:txBody>
        </p:sp>
        <p:sp>
          <p:nvSpPr>
            <p:cNvPr id="33863" name="Rectangle 71"/>
            <p:cNvSpPr>
              <a:spLocks noChangeArrowheads="1"/>
            </p:cNvSpPr>
            <p:nvPr/>
          </p:nvSpPr>
          <p:spPr bwMode="auto">
            <a:xfrm>
              <a:off x="1249" y="3453"/>
              <a:ext cx="411" cy="2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r>
                <a:rPr lang="en-US" altLang="zh-CN" sz="1600" b="1">
                  <a:solidFill>
                    <a:srgbClr val="0000FF"/>
                  </a:solidFill>
                </a:rPr>
                <a:t>vf</a:t>
              </a:r>
              <a:r>
                <a:rPr lang="en-US" altLang="zh-CN" sz="1600" b="1" baseline="-25000">
                  <a:solidFill>
                    <a:srgbClr val="0000FF"/>
                  </a:solidFill>
                </a:rPr>
                <a:t>31</a:t>
              </a:r>
            </a:p>
          </p:txBody>
        </p:sp>
        <p:sp>
          <p:nvSpPr>
            <p:cNvPr id="33864" name="Line 72"/>
            <p:cNvSpPr>
              <a:spLocks noChangeShapeType="1"/>
            </p:cNvSpPr>
            <p:nvPr/>
          </p:nvSpPr>
          <p:spPr bwMode="auto">
            <a:xfrm>
              <a:off x="3573" y="2585"/>
              <a:ext cx="500" cy="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65" name="Rectangle 73"/>
            <p:cNvSpPr>
              <a:spLocks noChangeArrowheads="1"/>
            </p:cNvSpPr>
            <p:nvPr/>
          </p:nvSpPr>
          <p:spPr bwMode="auto">
            <a:xfrm>
              <a:off x="3568" y="2559"/>
              <a:ext cx="400"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1200"/>
                <a:t>64 bits</a:t>
              </a:r>
            </a:p>
          </p:txBody>
        </p:sp>
        <p:sp>
          <p:nvSpPr>
            <p:cNvPr id="33866" name="Rectangle 74"/>
            <p:cNvSpPr>
              <a:spLocks noChangeArrowheads="1"/>
            </p:cNvSpPr>
            <p:nvPr/>
          </p:nvSpPr>
          <p:spPr bwMode="auto">
            <a:xfrm>
              <a:off x="3688" y="3690"/>
              <a:ext cx="298"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1200"/>
                <a:t>1 bit</a:t>
              </a:r>
            </a:p>
          </p:txBody>
        </p:sp>
        <p:sp>
          <p:nvSpPr>
            <p:cNvPr id="33867" name="Line 75"/>
            <p:cNvSpPr>
              <a:spLocks noChangeShapeType="1"/>
            </p:cNvSpPr>
            <p:nvPr/>
          </p:nvSpPr>
          <p:spPr bwMode="auto">
            <a:xfrm>
              <a:off x="3752" y="3690"/>
              <a:ext cx="164" cy="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68" name="Rectangle 76"/>
            <p:cNvSpPr>
              <a:spLocks noChangeArrowheads="1"/>
            </p:cNvSpPr>
            <p:nvPr/>
          </p:nvSpPr>
          <p:spPr bwMode="auto">
            <a:xfrm>
              <a:off x="1681" y="1009"/>
              <a:ext cx="2353"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a:solidFill>
                    <a:srgbClr val="33CC33"/>
                  </a:solidFill>
                </a:rPr>
                <a:t>Virtual Processors ($vlr)</a:t>
              </a:r>
            </a:p>
          </p:txBody>
        </p:sp>
        <p:grpSp>
          <p:nvGrpSpPr>
            <p:cNvPr id="33871" name="Group 79"/>
            <p:cNvGrpSpPr>
              <a:grpSpLocks/>
            </p:cNvGrpSpPr>
            <p:nvPr/>
          </p:nvGrpSpPr>
          <p:grpSpPr bwMode="auto">
            <a:xfrm>
              <a:off x="1200" y="1694"/>
              <a:ext cx="62" cy="865"/>
              <a:chOff x="1200" y="1694"/>
              <a:chExt cx="62" cy="865"/>
            </a:xfrm>
          </p:grpSpPr>
          <p:sp>
            <p:nvSpPr>
              <p:cNvPr id="33869" name="Freeform 77"/>
              <p:cNvSpPr>
                <a:spLocks/>
              </p:cNvSpPr>
              <p:nvPr/>
            </p:nvSpPr>
            <p:spPr bwMode="auto">
              <a:xfrm>
                <a:off x="1200" y="1694"/>
                <a:ext cx="62" cy="865"/>
              </a:xfrm>
              <a:custGeom>
                <a:avLst/>
                <a:gdLst>
                  <a:gd name="T0" fmla="*/ 61 w 62"/>
                  <a:gd name="T1" fmla="*/ 0 h 865"/>
                  <a:gd name="T2" fmla="*/ 49 w 62"/>
                  <a:gd name="T3" fmla="*/ 5 h 865"/>
                  <a:gd name="T4" fmla="*/ 39 w 62"/>
                  <a:gd name="T5" fmla="*/ 21 h 865"/>
                  <a:gd name="T6" fmla="*/ 33 w 62"/>
                  <a:gd name="T7" fmla="*/ 45 h 865"/>
                  <a:gd name="T8" fmla="*/ 31 w 62"/>
                  <a:gd name="T9" fmla="*/ 74 h 865"/>
                  <a:gd name="T10" fmla="*/ 31 w 62"/>
                  <a:gd name="T11" fmla="*/ 361 h 865"/>
                  <a:gd name="T12" fmla="*/ 29 w 62"/>
                  <a:gd name="T13" fmla="*/ 389 h 865"/>
                  <a:gd name="T14" fmla="*/ 23 w 62"/>
                  <a:gd name="T15" fmla="*/ 410 h 865"/>
                  <a:gd name="T16" fmla="*/ 13 w 62"/>
                  <a:gd name="T17" fmla="*/ 426 h 865"/>
                  <a:gd name="T18" fmla="*/ 0 w 62"/>
                  <a:gd name="T19" fmla="*/ 430 h 865"/>
                  <a:gd name="T20" fmla="*/ 13 w 62"/>
                  <a:gd name="T21" fmla="*/ 438 h 865"/>
                  <a:gd name="T22" fmla="*/ 23 w 62"/>
                  <a:gd name="T23" fmla="*/ 455 h 865"/>
                  <a:gd name="T24" fmla="*/ 29 w 62"/>
                  <a:gd name="T25" fmla="*/ 475 h 865"/>
                  <a:gd name="T26" fmla="*/ 31 w 62"/>
                  <a:gd name="T27" fmla="*/ 504 h 865"/>
                  <a:gd name="T28" fmla="*/ 31 w 62"/>
                  <a:gd name="T29" fmla="*/ 790 h 865"/>
                  <a:gd name="T30" fmla="*/ 33 w 62"/>
                  <a:gd name="T31" fmla="*/ 819 h 865"/>
                  <a:gd name="T32" fmla="*/ 39 w 62"/>
                  <a:gd name="T33" fmla="*/ 844 h 865"/>
                  <a:gd name="T34" fmla="*/ 49 w 62"/>
                  <a:gd name="T35" fmla="*/ 860 h 865"/>
                  <a:gd name="T36" fmla="*/ 61 w 62"/>
                  <a:gd name="T37" fmla="*/ 864 h 8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2" h="865">
                    <a:moveTo>
                      <a:pt x="61" y="0"/>
                    </a:moveTo>
                    <a:lnTo>
                      <a:pt x="49" y="5"/>
                    </a:lnTo>
                    <a:lnTo>
                      <a:pt x="39" y="21"/>
                    </a:lnTo>
                    <a:lnTo>
                      <a:pt x="33" y="45"/>
                    </a:lnTo>
                    <a:lnTo>
                      <a:pt x="31" y="74"/>
                    </a:lnTo>
                    <a:lnTo>
                      <a:pt x="31" y="361"/>
                    </a:lnTo>
                    <a:lnTo>
                      <a:pt x="29" y="389"/>
                    </a:lnTo>
                    <a:lnTo>
                      <a:pt x="23" y="410"/>
                    </a:lnTo>
                    <a:lnTo>
                      <a:pt x="13" y="426"/>
                    </a:lnTo>
                    <a:lnTo>
                      <a:pt x="0" y="430"/>
                    </a:lnTo>
                    <a:lnTo>
                      <a:pt x="13" y="438"/>
                    </a:lnTo>
                    <a:lnTo>
                      <a:pt x="23" y="455"/>
                    </a:lnTo>
                    <a:lnTo>
                      <a:pt x="29" y="475"/>
                    </a:lnTo>
                    <a:lnTo>
                      <a:pt x="31" y="504"/>
                    </a:lnTo>
                    <a:lnTo>
                      <a:pt x="31" y="790"/>
                    </a:lnTo>
                    <a:lnTo>
                      <a:pt x="33" y="819"/>
                    </a:lnTo>
                    <a:lnTo>
                      <a:pt x="39" y="844"/>
                    </a:lnTo>
                    <a:lnTo>
                      <a:pt x="49" y="860"/>
                    </a:lnTo>
                    <a:lnTo>
                      <a:pt x="61" y="864"/>
                    </a:lnTo>
                  </a:path>
                </a:pathLst>
              </a:custGeom>
              <a:noFill/>
              <a:ln w="12700" cap="rnd"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70" name="Rectangle 78"/>
              <p:cNvSpPr>
                <a:spLocks noChangeArrowheads="1"/>
              </p:cNvSpPr>
              <p:nvPr/>
            </p:nvSpPr>
            <p:spPr bwMode="auto">
              <a:xfrm>
                <a:off x="1230" y="1749"/>
                <a:ext cx="1" cy="75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3874" name="Group 82"/>
            <p:cNvGrpSpPr>
              <a:grpSpLocks/>
            </p:cNvGrpSpPr>
            <p:nvPr/>
          </p:nvGrpSpPr>
          <p:grpSpPr bwMode="auto">
            <a:xfrm>
              <a:off x="1200" y="2801"/>
              <a:ext cx="62" cy="862"/>
              <a:chOff x="1200" y="2801"/>
              <a:chExt cx="62" cy="862"/>
            </a:xfrm>
          </p:grpSpPr>
          <p:sp>
            <p:nvSpPr>
              <p:cNvPr id="33872" name="Freeform 80"/>
              <p:cNvSpPr>
                <a:spLocks/>
              </p:cNvSpPr>
              <p:nvPr/>
            </p:nvSpPr>
            <p:spPr bwMode="auto">
              <a:xfrm>
                <a:off x="1200" y="2801"/>
                <a:ext cx="62" cy="862"/>
              </a:xfrm>
              <a:custGeom>
                <a:avLst/>
                <a:gdLst>
                  <a:gd name="T0" fmla="*/ 61 w 62"/>
                  <a:gd name="T1" fmla="*/ 0 h 862"/>
                  <a:gd name="T2" fmla="*/ 49 w 62"/>
                  <a:gd name="T3" fmla="*/ 6 h 862"/>
                  <a:gd name="T4" fmla="*/ 39 w 62"/>
                  <a:gd name="T5" fmla="*/ 17 h 862"/>
                  <a:gd name="T6" fmla="*/ 33 w 62"/>
                  <a:gd name="T7" fmla="*/ 41 h 862"/>
                  <a:gd name="T8" fmla="*/ 31 w 62"/>
                  <a:gd name="T9" fmla="*/ 70 h 862"/>
                  <a:gd name="T10" fmla="*/ 31 w 62"/>
                  <a:gd name="T11" fmla="*/ 357 h 862"/>
                  <a:gd name="T12" fmla="*/ 29 w 62"/>
                  <a:gd name="T13" fmla="*/ 386 h 862"/>
                  <a:gd name="T14" fmla="*/ 23 w 62"/>
                  <a:gd name="T15" fmla="*/ 410 h 862"/>
                  <a:gd name="T16" fmla="*/ 13 w 62"/>
                  <a:gd name="T17" fmla="*/ 422 h 862"/>
                  <a:gd name="T18" fmla="*/ 0 w 62"/>
                  <a:gd name="T19" fmla="*/ 427 h 862"/>
                  <a:gd name="T20" fmla="*/ 13 w 62"/>
                  <a:gd name="T21" fmla="*/ 433 h 862"/>
                  <a:gd name="T22" fmla="*/ 23 w 62"/>
                  <a:gd name="T23" fmla="*/ 451 h 862"/>
                  <a:gd name="T24" fmla="*/ 29 w 62"/>
                  <a:gd name="T25" fmla="*/ 474 h 862"/>
                  <a:gd name="T26" fmla="*/ 31 w 62"/>
                  <a:gd name="T27" fmla="*/ 504 h 862"/>
                  <a:gd name="T28" fmla="*/ 31 w 62"/>
                  <a:gd name="T29" fmla="*/ 791 h 862"/>
                  <a:gd name="T30" fmla="*/ 33 w 62"/>
                  <a:gd name="T31" fmla="*/ 814 h 862"/>
                  <a:gd name="T32" fmla="*/ 39 w 62"/>
                  <a:gd name="T33" fmla="*/ 838 h 862"/>
                  <a:gd name="T34" fmla="*/ 49 w 62"/>
                  <a:gd name="T35" fmla="*/ 855 h 862"/>
                  <a:gd name="T36" fmla="*/ 61 w 62"/>
                  <a:gd name="T37" fmla="*/ 861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2" h="862">
                    <a:moveTo>
                      <a:pt x="61" y="0"/>
                    </a:moveTo>
                    <a:lnTo>
                      <a:pt x="49" y="6"/>
                    </a:lnTo>
                    <a:lnTo>
                      <a:pt x="39" y="17"/>
                    </a:lnTo>
                    <a:lnTo>
                      <a:pt x="33" y="41"/>
                    </a:lnTo>
                    <a:lnTo>
                      <a:pt x="31" y="70"/>
                    </a:lnTo>
                    <a:lnTo>
                      <a:pt x="31" y="357"/>
                    </a:lnTo>
                    <a:lnTo>
                      <a:pt x="29" y="386"/>
                    </a:lnTo>
                    <a:lnTo>
                      <a:pt x="23" y="410"/>
                    </a:lnTo>
                    <a:lnTo>
                      <a:pt x="13" y="422"/>
                    </a:lnTo>
                    <a:lnTo>
                      <a:pt x="0" y="427"/>
                    </a:lnTo>
                    <a:lnTo>
                      <a:pt x="13" y="433"/>
                    </a:lnTo>
                    <a:lnTo>
                      <a:pt x="23" y="451"/>
                    </a:lnTo>
                    <a:lnTo>
                      <a:pt x="29" y="474"/>
                    </a:lnTo>
                    <a:lnTo>
                      <a:pt x="31" y="504"/>
                    </a:lnTo>
                    <a:lnTo>
                      <a:pt x="31" y="791"/>
                    </a:lnTo>
                    <a:lnTo>
                      <a:pt x="33" y="814"/>
                    </a:lnTo>
                    <a:lnTo>
                      <a:pt x="39" y="838"/>
                    </a:lnTo>
                    <a:lnTo>
                      <a:pt x="49" y="855"/>
                    </a:lnTo>
                    <a:lnTo>
                      <a:pt x="61" y="861"/>
                    </a:lnTo>
                  </a:path>
                </a:pathLst>
              </a:custGeom>
              <a:noFill/>
              <a:ln w="12700" cap="rnd"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73" name="Rectangle 81"/>
              <p:cNvSpPr>
                <a:spLocks noChangeArrowheads="1"/>
              </p:cNvSpPr>
              <p:nvPr/>
            </p:nvSpPr>
            <p:spPr bwMode="auto">
              <a:xfrm>
                <a:off x="1230" y="2853"/>
                <a:ext cx="1" cy="75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3875" name="Freeform 83"/>
            <p:cNvSpPr>
              <a:spLocks/>
            </p:cNvSpPr>
            <p:nvPr/>
          </p:nvSpPr>
          <p:spPr bwMode="auto">
            <a:xfrm>
              <a:off x="1653" y="1316"/>
              <a:ext cx="2431" cy="113"/>
            </a:xfrm>
            <a:custGeom>
              <a:avLst/>
              <a:gdLst>
                <a:gd name="T0" fmla="*/ 0 w 2431"/>
                <a:gd name="T1" fmla="*/ 112 h 113"/>
                <a:gd name="T2" fmla="*/ 6 w 2431"/>
                <a:gd name="T3" fmla="*/ 101 h 113"/>
                <a:gd name="T4" fmla="*/ 13 w 2431"/>
                <a:gd name="T5" fmla="*/ 89 h 113"/>
                <a:gd name="T6" fmla="*/ 32 w 2431"/>
                <a:gd name="T7" fmla="*/ 80 h 113"/>
                <a:gd name="T8" fmla="*/ 59 w 2431"/>
                <a:gd name="T9" fmla="*/ 71 h 113"/>
                <a:gd name="T10" fmla="*/ 124 w 2431"/>
                <a:gd name="T11" fmla="*/ 59 h 113"/>
                <a:gd name="T12" fmla="*/ 163 w 2431"/>
                <a:gd name="T13" fmla="*/ 57 h 113"/>
                <a:gd name="T14" fmla="*/ 202 w 2431"/>
                <a:gd name="T15" fmla="*/ 55 h 113"/>
                <a:gd name="T16" fmla="*/ 1012 w 2431"/>
                <a:gd name="T17" fmla="*/ 55 h 113"/>
                <a:gd name="T18" fmla="*/ 1091 w 2431"/>
                <a:gd name="T19" fmla="*/ 50 h 113"/>
                <a:gd name="T20" fmla="*/ 1156 w 2431"/>
                <a:gd name="T21" fmla="*/ 39 h 113"/>
                <a:gd name="T22" fmla="*/ 1182 w 2431"/>
                <a:gd name="T23" fmla="*/ 32 h 113"/>
                <a:gd name="T24" fmla="*/ 1202 w 2431"/>
                <a:gd name="T25" fmla="*/ 23 h 113"/>
                <a:gd name="T26" fmla="*/ 1208 w 2431"/>
                <a:gd name="T27" fmla="*/ 11 h 113"/>
                <a:gd name="T28" fmla="*/ 1215 w 2431"/>
                <a:gd name="T29" fmla="*/ 0 h 113"/>
                <a:gd name="T30" fmla="*/ 1221 w 2431"/>
                <a:gd name="T31" fmla="*/ 11 h 113"/>
                <a:gd name="T32" fmla="*/ 1228 w 2431"/>
                <a:gd name="T33" fmla="*/ 23 h 113"/>
                <a:gd name="T34" fmla="*/ 1248 w 2431"/>
                <a:gd name="T35" fmla="*/ 32 h 113"/>
                <a:gd name="T36" fmla="*/ 1274 w 2431"/>
                <a:gd name="T37" fmla="*/ 39 h 113"/>
                <a:gd name="T38" fmla="*/ 1339 w 2431"/>
                <a:gd name="T39" fmla="*/ 50 h 113"/>
                <a:gd name="T40" fmla="*/ 1417 w 2431"/>
                <a:gd name="T41" fmla="*/ 55 h 113"/>
                <a:gd name="T42" fmla="*/ 2227 w 2431"/>
                <a:gd name="T43" fmla="*/ 55 h 113"/>
                <a:gd name="T44" fmla="*/ 2267 w 2431"/>
                <a:gd name="T45" fmla="*/ 57 h 113"/>
                <a:gd name="T46" fmla="*/ 2306 w 2431"/>
                <a:gd name="T47" fmla="*/ 59 h 113"/>
                <a:gd name="T48" fmla="*/ 2371 w 2431"/>
                <a:gd name="T49" fmla="*/ 71 h 113"/>
                <a:gd name="T50" fmla="*/ 2397 w 2431"/>
                <a:gd name="T51" fmla="*/ 80 h 113"/>
                <a:gd name="T52" fmla="*/ 2417 w 2431"/>
                <a:gd name="T53" fmla="*/ 89 h 113"/>
                <a:gd name="T54" fmla="*/ 2423 w 2431"/>
                <a:gd name="T55" fmla="*/ 101 h 113"/>
                <a:gd name="T56" fmla="*/ 2430 w 2431"/>
                <a:gd name="T57" fmla="*/ 112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31" h="113">
                  <a:moveTo>
                    <a:pt x="0" y="112"/>
                  </a:moveTo>
                  <a:lnTo>
                    <a:pt x="6" y="101"/>
                  </a:lnTo>
                  <a:lnTo>
                    <a:pt x="13" y="89"/>
                  </a:lnTo>
                  <a:lnTo>
                    <a:pt x="32" y="80"/>
                  </a:lnTo>
                  <a:lnTo>
                    <a:pt x="59" y="71"/>
                  </a:lnTo>
                  <a:lnTo>
                    <a:pt x="124" y="59"/>
                  </a:lnTo>
                  <a:lnTo>
                    <a:pt x="163" y="57"/>
                  </a:lnTo>
                  <a:lnTo>
                    <a:pt x="202" y="55"/>
                  </a:lnTo>
                  <a:lnTo>
                    <a:pt x="1012" y="55"/>
                  </a:lnTo>
                  <a:lnTo>
                    <a:pt x="1091" y="50"/>
                  </a:lnTo>
                  <a:lnTo>
                    <a:pt x="1156" y="39"/>
                  </a:lnTo>
                  <a:lnTo>
                    <a:pt x="1182" y="32"/>
                  </a:lnTo>
                  <a:lnTo>
                    <a:pt x="1202" y="23"/>
                  </a:lnTo>
                  <a:lnTo>
                    <a:pt x="1208" y="11"/>
                  </a:lnTo>
                  <a:lnTo>
                    <a:pt x="1215" y="0"/>
                  </a:lnTo>
                  <a:lnTo>
                    <a:pt x="1221" y="11"/>
                  </a:lnTo>
                  <a:lnTo>
                    <a:pt x="1228" y="23"/>
                  </a:lnTo>
                  <a:lnTo>
                    <a:pt x="1248" y="32"/>
                  </a:lnTo>
                  <a:lnTo>
                    <a:pt x="1274" y="39"/>
                  </a:lnTo>
                  <a:lnTo>
                    <a:pt x="1339" y="50"/>
                  </a:lnTo>
                  <a:lnTo>
                    <a:pt x="1417" y="55"/>
                  </a:lnTo>
                  <a:lnTo>
                    <a:pt x="2227" y="55"/>
                  </a:lnTo>
                  <a:lnTo>
                    <a:pt x="2267" y="57"/>
                  </a:lnTo>
                  <a:lnTo>
                    <a:pt x="2306" y="59"/>
                  </a:lnTo>
                  <a:lnTo>
                    <a:pt x="2371" y="71"/>
                  </a:lnTo>
                  <a:lnTo>
                    <a:pt x="2397" y="80"/>
                  </a:lnTo>
                  <a:lnTo>
                    <a:pt x="2417" y="89"/>
                  </a:lnTo>
                  <a:lnTo>
                    <a:pt x="2423" y="101"/>
                  </a:lnTo>
                  <a:lnTo>
                    <a:pt x="2430" y="112"/>
                  </a:lnTo>
                </a:path>
              </a:pathLst>
            </a:custGeom>
            <a:noFill/>
            <a:ln w="12700" cap="rnd" cmpd="sng">
              <a:solidFill>
                <a:srgbClr val="33CC33"/>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76" name="Rectangle 84"/>
            <p:cNvSpPr>
              <a:spLocks noChangeArrowheads="1"/>
            </p:cNvSpPr>
            <p:nvPr/>
          </p:nvSpPr>
          <p:spPr bwMode="auto">
            <a:xfrm>
              <a:off x="4416" y="2234"/>
              <a:ext cx="992" cy="1281"/>
            </a:xfrm>
            <a:prstGeom prst="rect">
              <a:avLst/>
            </a:prstGeom>
            <a:solidFill>
              <a:srgbClr val="CC99FF"/>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77" name="Rectangle 85"/>
            <p:cNvSpPr>
              <a:spLocks noChangeArrowheads="1"/>
            </p:cNvSpPr>
            <p:nvPr/>
          </p:nvSpPr>
          <p:spPr bwMode="auto">
            <a:xfrm>
              <a:off x="4417" y="2357"/>
              <a:ext cx="355" cy="2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1600" b="1"/>
                <a:t>vcr</a:t>
              </a:r>
              <a:r>
                <a:rPr lang="en-US" altLang="zh-CN" sz="1600" b="1" baseline="-25000"/>
                <a:t>0</a:t>
              </a:r>
            </a:p>
          </p:txBody>
        </p:sp>
        <p:sp>
          <p:nvSpPr>
            <p:cNvPr id="33878" name="Rectangle 86"/>
            <p:cNvSpPr>
              <a:spLocks noChangeArrowheads="1"/>
            </p:cNvSpPr>
            <p:nvPr/>
          </p:nvSpPr>
          <p:spPr bwMode="auto">
            <a:xfrm>
              <a:off x="4417" y="2527"/>
              <a:ext cx="355" cy="2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1600" b="1"/>
                <a:t>vcr</a:t>
              </a:r>
              <a:r>
                <a:rPr lang="en-US" altLang="zh-CN" sz="1600" b="1" baseline="-25000"/>
                <a:t>1</a:t>
              </a:r>
            </a:p>
          </p:txBody>
        </p:sp>
        <p:sp>
          <p:nvSpPr>
            <p:cNvPr id="33879" name="Rectangle 87"/>
            <p:cNvSpPr>
              <a:spLocks noChangeArrowheads="1"/>
            </p:cNvSpPr>
            <p:nvPr/>
          </p:nvSpPr>
          <p:spPr bwMode="auto">
            <a:xfrm>
              <a:off x="4417" y="3089"/>
              <a:ext cx="404" cy="2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1600" b="1"/>
                <a:t>vcr</a:t>
              </a:r>
              <a:r>
                <a:rPr lang="en-US" altLang="zh-CN" sz="1600" b="1" baseline="-25000"/>
                <a:t>31</a:t>
              </a:r>
            </a:p>
          </p:txBody>
        </p:sp>
        <p:sp>
          <p:nvSpPr>
            <p:cNvPr id="33880" name="Rectangle 88"/>
            <p:cNvSpPr>
              <a:spLocks noChangeArrowheads="1"/>
            </p:cNvSpPr>
            <p:nvPr/>
          </p:nvSpPr>
          <p:spPr bwMode="auto">
            <a:xfrm>
              <a:off x="4805" y="2394"/>
              <a:ext cx="518" cy="108"/>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81" name="Rectangle 89"/>
            <p:cNvSpPr>
              <a:spLocks noChangeArrowheads="1"/>
            </p:cNvSpPr>
            <p:nvPr/>
          </p:nvSpPr>
          <p:spPr bwMode="auto">
            <a:xfrm>
              <a:off x="4805" y="2574"/>
              <a:ext cx="518" cy="107"/>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82" name="Rectangle 90"/>
            <p:cNvSpPr>
              <a:spLocks noChangeArrowheads="1"/>
            </p:cNvSpPr>
            <p:nvPr/>
          </p:nvSpPr>
          <p:spPr bwMode="auto">
            <a:xfrm>
              <a:off x="4805" y="3131"/>
              <a:ext cx="518" cy="108"/>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83" name="Rectangle 91"/>
            <p:cNvSpPr>
              <a:spLocks noChangeArrowheads="1"/>
            </p:cNvSpPr>
            <p:nvPr/>
          </p:nvSpPr>
          <p:spPr bwMode="auto">
            <a:xfrm>
              <a:off x="4409" y="1715"/>
              <a:ext cx="1000" cy="52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b="1">
                  <a:solidFill>
                    <a:srgbClr val="CC99FF"/>
                  </a:solidFill>
                </a:rPr>
                <a:t>Control</a:t>
              </a:r>
            </a:p>
            <a:p>
              <a:pPr algn="ctr"/>
              <a:r>
                <a:rPr lang="en-US" altLang="zh-CN" sz="2400" b="1">
                  <a:solidFill>
                    <a:srgbClr val="CC99FF"/>
                  </a:solidFill>
                </a:rPr>
                <a:t>Registers</a:t>
              </a:r>
            </a:p>
          </p:txBody>
        </p:sp>
        <p:grpSp>
          <p:nvGrpSpPr>
            <p:cNvPr id="33887" name="Group 95"/>
            <p:cNvGrpSpPr>
              <a:grpSpLocks/>
            </p:cNvGrpSpPr>
            <p:nvPr/>
          </p:nvGrpSpPr>
          <p:grpSpPr bwMode="auto">
            <a:xfrm>
              <a:off x="5043" y="2795"/>
              <a:ext cx="30" cy="191"/>
              <a:chOff x="5043" y="2795"/>
              <a:chExt cx="30" cy="191"/>
            </a:xfrm>
          </p:grpSpPr>
          <p:sp>
            <p:nvSpPr>
              <p:cNvPr id="33884" name="Oval 92"/>
              <p:cNvSpPr>
                <a:spLocks noChangeArrowheads="1"/>
              </p:cNvSpPr>
              <p:nvPr/>
            </p:nvSpPr>
            <p:spPr bwMode="auto">
              <a:xfrm>
                <a:off x="5043" y="2795"/>
                <a:ext cx="29" cy="29"/>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85" name="Oval 93"/>
              <p:cNvSpPr>
                <a:spLocks noChangeArrowheads="1"/>
              </p:cNvSpPr>
              <p:nvPr/>
            </p:nvSpPr>
            <p:spPr bwMode="auto">
              <a:xfrm>
                <a:off x="5044" y="2874"/>
                <a:ext cx="29" cy="29"/>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86" name="Oval 94"/>
              <p:cNvSpPr>
                <a:spLocks noChangeArrowheads="1"/>
              </p:cNvSpPr>
              <p:nvPr/>
            </p:nvSpPr>
            <p:spPr bwMode="auto">
              <a:xfrm>
                <a:off x="5044" y="2957"/>
                <a:ext cx="29" cy="29"/>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3888" name="Line 96"/>
            <p:cNvSpPr>
              <a:spLocks noChangeShapeType="1"/>
            </p:cNvSpPr>
            <p:nvPr/>
          </p:nvSpPr>
          <p:spPr bwMode="auto">
            <a:xfrm>
              <a:off x="4808" y="3323"/>
              <a:ext cx="500" cy="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89" name="Rectangle 97"/>
            <p:cNvSpPr>
              <a:spLocks noChangeArrowheads="1"/>
            </p:cNvSpPr>
            <p:nvPr/>
          </p:nvSpPr>
          <p:spPr bwMode="auto">
            <a:xfrm>
              <a:off x="4852" y="3324"/>
              <a:ext cx="400"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1200"/>
                <a:t>32 bits</a:t>
              </a:r>
            </a:p>
          </p:txBody>
        </p:sp>
      </p:grpSp>
    </p:spTree>
    <p:extLst>
      <p:ext uri="{BB962C8B-B14F-4D97-AF65-F5344CB8AC3E}">
        <p14:creationId xmlns:p14="http://schemas.microsoft.com/office/powerpoint/2010/main" val="1623157913"/>
      </p:ext>
    </p:extLst>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ChangeArrowheads="1"/>
          </p:cNvSpPr>
          <p:nvPr/>
        </p:nvSpPr>
        <p:spPr bwMode="auto">
          <a:xfrm>
            <a:off x="8761413" y="6399213"/>
            <a:ext cx="190500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r"/>
            <a:r>
              <a:rPr lang="en-US" altLang="zh-CN" sz="1400">
                <a:solidFill>
                  <a:srgbClr val="0000FF"/>
                </a:solidFill>
              </a:rPr>
              <a:t>33</a:t>
            </a:r>
          </a:p>
        </p:txBody>
      </p:sp>
      <p:sp>
        <p:nvSpPr>
          <p:cNvPr id="35843" name="Rectangle 3"/>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Vector Implementation</a:t>
            </a:r>
          </a:p>
        </p:txBody>
      </p:sp>
      <p:sp>
        <p:nvSpPr>
          <p:cNvPr id="35844" name="Rectangle 4"/>
          <p:cNvSpPr>
            <a:spLocks noGrp="1" noChangeArrowheads="1"/>
          </p:cNvSpPr>
          <p:nvPr>
            <p:ph type="body"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a:t>Vector register file</a:t>
            </a:r>
          </a:p>
          <a:p>
            <a:pPr lvl="1"/>
            <a:r>
              <a:rPr lang="en-US" altLang="zh-CN"/>
              <a:t>Each register is an array of elements</a:t>
            </a:r>
          </a:p>
          <a:p>
            <a:pPr lvl="1"/>
            <a:r>
              <a:rPr lang="en-US" altLang="zh-CN"/>
              <a:t>Size of each register determines maximum</a:t>
            </a:r>
            <a:br>
              <a:rPr lang="en-US" altLang="zh-CN"/>
            </a:br>
            <a:r>
              <a:rPr lang="en-US" altLang="zh-CN"/>
              <a:t>vector length</a:t>
            </a:r>
          </a:p>
          <a:p>
            <a:pPr lvl="1"/>
            <a:r>
              <a:rPr lang="en-US" altLang="zh-CN"/>
              <a:t>Vector length register determines vector length</a:t>
            </a:r>
            <a:br>
              <a:rPr lang="en-US" altLang="zh-CN"/>
            </a:br>
            <a:r>
              <a:rPr lang="en-US" altLang="zh-CN"/>
              <a:t>for a particular operation</a:t>
            </a:r>
          </a:p>
          <a:p>
            <a:r>
              <a:rPr lang="en-US" altLang="zh-CN"/>
              <a:t>Multiple parallel execution units = </a:t>
            </a:r>
            <a:r>
              <a:rPr lang="en-US" altLang="zh-CN" u="sng">
                <a:solidFill>
                  <a:schemeClr val="hlink"/>
                </a:solidFill>
              </a:rPr>
              <a:t>lanes</a:t>
            </a:r>
            <a:r>
              <a:rPr lang="en-US" altLang="zh-CN"/>
              <a:t> (sometimes called </a:t>
            </a:r>
            <a:r>
              <a:rPr lang="en-US" altLang="zh-CN" u="sng">
                <a:solidFill>
                  <a:schemeClr val="hlink"/>
                </a:solidFill>
              </a:rPr>
              <a:t>pipelines </a:t>
            </a:r>
            <a:r>
              <a:rPr lang="en-US" altLang="zh-CN"/>
              <a:t>or </a:t>
            </a:r>
            <a:r>
              <a:rPr lang="en-US" altLang="zh-CN" u="sng">
                <a:solidFill>
                  <a:schemeClr val="hlink"/>
                </a:solidFill>
              </a:rPr>
              <a:t>pipes</a:t>
            </a:r>
            <a:r>
              <a:rPr lang="en-US" altLang="zh-CN"/>
              <a:t>)</a:t>
            </a:r>
          </a:p>
        </p:txBody>
      </p:sp>
    </p:spTree>
    <p:extLst>
      <p:ext uri="{BB962C8B-B14F-4D97-AF65-F5344CB8AC3E}">
        <p14:creationId xmlns:p14="http://schemas.microsoft.com/office/powerpoint/2010/main" val="4063877098"/>
      </p:ext>
    </p:extLst>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7890" name="Rectangle 2"/>
          <p:cNvSpPr>
            <a:spLocks noChangeArrowheads="1"/>
          </p:cNvSpPr>
          <p:nvPr/>
        </p:nvSpPr>
        <p:spPr bwMode="auto">
          <a:xfrm>
            <a:off x="8761413" y="6399213"/>
            <a:ext cx="190500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r"/>
            <a:r>
              <a:rPr lang="en-US" altLang="zh-CN" sz="1400">
                <a:solidFill>
                  <a:srgbClr val="0000FF"/>
                </a:solidFill>
              </a:rPr>
              <a:t>34</a:t>
            </a:r>
          </a:p>
        </p:txBody>
      </p:sp>
      <p:sp>
        <p:nvSpPr>
          <p:cNvPr id="37891" name="Rectangle 3"/>
          <p:cNvSpPr>
            <a:spLocks noGrp="1" noChangeArrowheads="1"/>
          </p:cNvSpPr>
          <p:nvPr>
            <p:ph type="title"/>
          </p:nvPr>
        </p:nvSpPr>
        <p:spPr>
          <a:xfrm>
            <a:off x="983432" y="152400"/>
            <a:ext cx="9265468"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Vector Terminology: </a:t>
            </a:r>
            <a:br>
              <a:rPr lang="en-US" altLang="zh-CN" dirty="0"/>
            </a:br>
            <a:r>
              <a:rPr lang="en-US" altLang="zh-CN" dirty="0"/>
              <a:t>4 lanes, 2 vector functional units</a:t>
            </a:r>
          </a:p>
        </p:txBody>
      </p:sp>
      <p:pic>
        <p:nvPicPr>
          <p:cNvPr id="37892" name="Picture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1789114"/>
            <a:ext cx="8547100" cy="45370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893" name="Rectangle 5"/>
          <p:cNvSpPr>
            <a:spLocks noChangeArrowheads="1"/>
          </p:cNvSpPr>
          <p:nvPr/>
        </p:nvSpPr>
        <p:spPr bwMode="auto">
          <a:xfrm>
            <a:off x="1662114" y="5026026"/>
            <a:ext cx="1349729" cy="9207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a:t>(Vector</a:t>
            </a:r>
          </a:p>
          <a:p>
            <a:r>
              <a:rPr lang="en-US" altLang="zh-CN" b="1"/>
              <a:t>Functional</a:t>
            </a:r>
          </a:p>
          <a:p>
            <a:r>
              <a:rPr lang="en-US" altLang="zh-CN" b="1"/>
              <a:t>Unit)</a:t>
            </a:r>
          </a:p>
        </p:txBody>
      </p:sp>
    </p:spTree>
    <p:extLst>
      <p:ext uri="{BB962C8B-B14F-4D97-AF65-F5344CB8AC3E}">
        <p14:creationId xmlns:p14="http://schemas.microsoft.com/office/powerpoint/2010/main" val="1067905201"/>
      </p:ext>
    </p:extLst>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983432" y="692696"/>
            <a:ext cx="9472538" cy="558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Vector Load/Store Units &amp; Memories</a:t>
            </a:r>
          </a:p>
        </p:txBody>
      </p:sp>
      <p:sp>
        <p:nvSpPr>
          <p:cNvPr id="45059" name="Rectangle 3"/>
          <p:cNvSpPr>
            <a:spLocks noGrp="1" noChangeArrowheads="1"/>
          </p:cNvSpPr>
          <p:nvPr>
            <p:ph type="body" idx="1"/>
          </p:nvPr>
        </p:nvSpPr>
        <p:spPr>
          <a:xfrm>
            <a:off x="1603376" y="1524000"/>
            <a:ext cx="8969375" cy="35814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tabLst>
                <a:tab pos="1600200" algn="r"/>
                <a:tab pos="2114550" algn="r"/>
                <a:tab pos="2514600" algn="r"/>
                <a:tab pos="2971800" algn="r"/>
                <a:tab pos="3371850" algn="r"/>
                <a:tab pos="3886200" algn="r"/>
                <a:tab pos="4343400" algn="r"/>
                <a:tab pos="4800600" algn="r"/>
                <a:tab pos="5257800" algn="r"/>
                <a:tab pos="5772150" algn="r"/>
                <a:tab pos="6172200" algn="r"/>
                <a:tab pos="6629400" algn="r"/>
                <a:tab pos="7086600" algn="r"/>
                <a:tab pos="7543800" algn="r"/>
                <a:tab pos="8001000" algn="r"/>
              </a:tabLst>
            </a:pPr>
            <a:r>
              <a:rPr lang="en-US" altLang="zh-CN" sz="2400" dirty="0"/>
              <a:t>Start-up overheads usually longer </a:t>
            </a:r>
            <a:r>
              <a:rPr lang="en-US" altLang="zh-CN" sz="2400" dirty="0" err="1"/>
              <a:t>fo</a:t>
            </a:r>
            <a:r>
              <a:rPr lang="en-US" altLang="zh-CN" sz="2400" dirty="0"/>
              <a:t> LSUs</a:t>
            </a:r>
          </a:p>
          <a:p>
            <a:pPr>
              <a:tabLst>
                <a:tab pos="1600200" algn="r"/>
                <a:tab pos="2114550" algn="r"/>
                <a:tab pos="2514600" algn="r"/>
                <a:tab pos="2971800" algn="r"/>
                <a:tab pos="3371850" algn="r"/>
                <a:tab pos="3886200" algn="r"/>
                <a:tab pos="4343400" algn="r"/>
                <a:tab pos="4800600" algn="r"/>
                <a:tab pos="5257800" algn="r"/>
                <a:tab pos="5772150" algn="r"/>
                <a:tab pos="6172200" algn="r"/>
                <a:tab pos="6629400" algn="r"/>
                <a:tab pos="7086600" algn="r"/>
                <a:tab pos="7543800" algn="r"/>
                <a:tab pos="8001000" algn="r"/>
              </a:tabLst>
            </a:pPr>
            <a:r>
              <a:rPr lang="en-US" altLang="zh-CN" sz="2400" dirty="0"/>
              <a:t>Memory system must sustain (# lanes x word) /clock cycle</a:t>
            </a:r>
          </a:p>
          <a:p>
            <a:pPr>
              <a:tabLst>
                <a:tab pos="1600200" algn="r"/>
                <a:tab pos="2114550" algn="r"/>
                <a:tab pos="2514600" algn="r"/>
                <a:tab pos="2971800" algn="r"/>
                <a:tab pos="3371850" algn="r"/>
                <a:tab pos="3886200" algn="r"/>
                <a:tab pos="4343400" algn="r"/>
                <a:tab pos="4800600" algn="r"/>
                <a:tab pos="5257800" algn="r"/>
                <a:tab pos="5772150" algn="r"/>
                <a:tab pos="6172200" algn="r"/>
                <a:tab pos="6629400" algn="r"/>
                <a:tab pos="7086600" algn="r"/>
                <a:tab pos="7543800" algn="r"/>
                <a:tab pos="8001000" algn="r"/>
              </a:tabLst>
            </a:pPr>
            <a:r>
              <a:rPr lang="en-US" altLang="zh-CN" sz="2400" dirty="0"/>
              <a:t>Many Vector </a:t>
            </a:r>
            <a:r>
              <a:rPr lang="en-US" altLang="zh-CN" sz="2400" dirty="0" err="1"/>
              <a:t>Procs</a:t>
            </a:r>
            <a:r>
              <a:rPr lang="en-US" altLang="zh-CN" sz="2400" dirty="0"/>
              <a:t>. use banks (vs. simple interleaving):</a:t>
            </a:r>
          </a:p>
          <a:p>
            <a:pPr>
              <a:buNone/>
              <a:tabLst>
                <a:tab pos="1600200" algn="r"/>
                <a:tab pos="2114550" algn="r"/>
                <a:tab pos="2514600" algn="r"/>
                <a:tab pos="2971800" algn="r"/>
                <a:tab pos="3371850" algn="r"/>
                <a:tab pos="3886200" algn="r"/>
                <a:tab pos="4343400" algn="r"/>
                <a:tab pos="4800600" algn="r"/>
                <a:tab pos="5257800" algn="r"/>
                <a:tab pos="5772150" algn="r"/>
                <a:tab pos="6172200" algn="r"/>
                <a:tab pos="6629400" algn="r"/>
                <a:tab pos="7086600" algn="r"/>
                <a:tab pos="7543800" algn="r"/>
                <a:tab pos="8001000" algn="r"/>
              </a:tabLst>
            </a:pPr>
            <a:r>
              <a:rPr lang="en-US" altLang="zh-CN" sz="2400" dirty="0"/>
              <a:t>	1) support multiple loads/stores per cycle 	</a:t>
            </a:r>
            <a:br>
              <a:rPr lang="en-US" altLang="zh-CN" sz="2400" dirty="0"/>
            </a:br>
            <a:r>
              <a:rPr lang="en-US" altLang="zh-CN" sz="2400" dirty="0"/>
              <a:t>=&gt; multiple banks &amp; address banks independently</a:t>
            </a:r>
          </a:p>
          <a:p>
            <a:pPr>
              <a:buNone/>
              <a:tabLst>
                <a:tab pos="1600200" algn="r"/>
                <a:tab pos="2114550" algn="r"/>
                <a:tab pos="2514600" algn="r"/>
                <a:tab pos="2971800" algn="r"/>
                <a:tab pos="3371850" algn="r"/>
                <a:tab pos="3886200" algn="r"/>
                <a:tab pos="4343400" algn="r"/>
                <a:tab pos="4800600" algn="r"/>
                <a:tab pos="5257800" algn="r"/>
                <a:tab pos="5772150" algn="r"/>
                <a:tab pos="6172200" algn="r"/>
                <a:tab pos="6629400" algn="r"/>
                <a:tab pos="7086600" algn="r"/>
                <a:tab pos="7543800" algn="r"/>
                <a:tab pos="8001000" algn="r"/>
              </a:tabLst>
            </a:pPr>
            <a:r>
              <a:rPr lang="en-US" altLang="zh-CN" sz="2400" dirty="0"/>
              <a:t>	2) support non-sequential accesses (see soon)</a:t>
            </a:r>
          </a:p>
          <a:p>
            <a:pPr>
              <a:tabLst>
                <a:tab pos="1600200" algn="r"/>
                <a:tab pos="2114550" algn="r"/>
                <a:tab pos="2514600" algn="r"/>
                <a:tab pos="2971800" algn="r"/>
                <a:tab pos="3371850" algn="r"/>
                <a:tab pos="3886200" algn="r"/>
                <a:tab pos="4343400" algn="r"/>
                <a:tab pos="4800600" algn="r"/>
                <a:tab pos="5257800" algn="r"/>
                <a:tab pos="5772150" algn="r"/>
                <a:tab pos="6172200" algn="r"/>
                <a:tab pos="6629400" algn="r"/>
                <a:tab pos="7086600" algn="r"/>
                <a:tab pos="7543800" algn="r"/>
                <a:tab pos="8001000" algn="r"/>
              </a:tabLst>
            </a:pPr>
            <a:r>
              <a:rPr lang="en-US" altLang="zh-CN" sz="2400" dirty="0"/>
              <a:t>Note: No. memory banks &gt; memory latency to avoid stalls</a:t>
            </a:r>
          </a:p>
          <a:p>
            <a:pPr lvl="1">
              <a:tabLst>
                <a:tab pos="1600200" algn="r"/>
                <a:tab pos="2114550" algn="r"/>
                <a:tab pos="2514600" algn="r"/>
                <a:tab pos="2971800" algn="r"/>
                <a:tab pos="3371850" algn="r"/>
                <a:tab pos="3886200" algn="r"/>
                <a:tab pos="4343400" algn="r"/>
                <a:tab pos="4800600" algn="r"/>
                <a:tab pos="5257800" algn="r"/>
                <a:tab pos="5772150" algn="r"/>
                <a:tab pos="6172200" algn="r"/>
                <a:tab pos="6629400" algn="r"/>
                <a:tab pos="7086600" algn="r"/>
                <a:tab pos="7543800" algn="r"/>
                <a:tab pos="8001000" algn="r"/>
              </a:tabLst>
            </a:pPr>
            <a:r>
              <a:rPr lang="en-US" altLang="zh-CN" i="1" dirty="0"/>
              <a:t>m</a:t>
            </a:r>
            <a:r>
              <a:rPr lang="en-US" altLang="zh-CN" dirty="0"/>
              <a:t> banks =&gt; </a:t>
            </a:r>
            <a:r>
              <a:rPr lang="en-US" altLang="zh-CN" i="1" dirty="0"/>
              <a:t>m</a:t>
            </a:r>
            <a:r>
              <a:rPr lang="en-US" altLang="zh-CN" dirty="0"/>
              <a:t> words per memory </a:t>
            </a:r>
            <a:r>
              <a:rPr lang="en-US" altLang="zh-CN" dirty="0" err="1"/>
              <a:t>lantecy</a:t>
            </a:r>
            <a:r>
              <a:rPr lang="en-US" altLang="zh-CN" i="1" dirty="0"/>
              <a:t> l </a:t>
            </a:r>
            <a:r>
              <a:rPr lang="en-US" altLang="zh-CN" dirty="0"/>
              <a:t>clocks</a:t>
            </a:r>
            <a:endParaRPr lang="en-US" altLang="zh-CN" i="1" dirty="0"/>
          </a:p>
          <a:p>
            <a:pPr lvl="1">
              <a:tabLst>
                <a:tab pos="1600200" algn="r"/>
                <a:tab pos="2114550" algn="r"/>
                <a:tab pos="2514600" algn="r"/>
                <a:tab pos="2971800" algn="r"/>
                <a:tab pos="3371850" algn="r"/>
                <a:tab pos="3886200" algn="r"/>
                <a:tab pos="4343400" algn="r"/>
                <a:tab pos="4800600" algn="r"/>
                <a:tab pos="5257800" algn="r"/>
                <a:tab pos="5772150" algn="r"/>
                <a:tab pos="6172200" algn="r"/>
                <a:tab pos="6629400" algn="r"/>
                <a:tab pos="7086600" algn="r"/>
                <a:tab pos="7543800" algn="r"/>
                <a:tab pos="8001000" algn="r"/>
              </a:tabLst>
            </a:pPr>
            <a:r>
              <a:rPr lang="en-US" altLang="zh-CN" dirty="0"/>
              <a:t>if </a:t>
            </a:r>
            <a:r>
              <a:rPr lang="en-US" altLang="zh-CN" i="1" dirty="0"/>
              <a:t>m</a:t>
            </a:r>
            <a:r>
              <a:rPr lang="en-US" altLang="zh-CN" dirty="0"/>
              <a:t> &lt;</a:t>
            </a:r>
            <a:r>
              <a:rPr lang="en-US" altLang="zh-CN" i="1" dirty="0"/>
              <a:t>  l</a:t>
            </a:r>
            <a:r>
              <a:rPr lang="en-US" altLang="zh-CN" dirty="0"/>
              <a:t>, then gap in memory pipeline:</a:t>
            </a:r>
          </a:p>
          <a:p>
            <a:pPr lvl="1">
              <a:buNone/>
              <a:tabLst>
                <a:tab pos="1600200" algn="r"/>
                <a:tab pos="2114550" algn="r"/>
                <a:tab pos="2514600" algn="r"/>
                <a:tab pos="2971800" algn="r"/>
                <a:tab pos="3371850" algn="r"/>
                <a:tab pos="3886200" algn="r"/>
                <a:tab pos="4343400" algn="r"/>
                <a:tab pos="4800600" algn="r"/>
                <a:tab pos="5257800" algn="r"/>
                <a:tab pos="5772150" algn="r"/>
                <a:tab pos="6172200" algn="r"/>
                <a:tab pos="6629400" algn="r"/>
                <a:tab pos="7086600" algn="r"/>
                <a:tab pos="7543800" algn="r"/>
                <a:tab pos="8001000" algn="r"/>
              </a:tabLst>
            </a:pPr>
            <a:r>
              <a:rPr lang="en-US" altLang="zh-CN" dirty="0"/>
              <a:t>clock:	0	?</a:t>
            </a:r>
            <a:r>
              <a:rPr lang="en-US" altLang="zh-CN" i="1" dirty="0"/>
              <a:t>l	</a:t>
            </a:r>
            <a:r>
              <a:rPr lang="en-US" altLang="zh-CN" dirty="0"/>
              <a:t>	</a:t>
            </a:r>
            <a:r>
              <a:rPr lang="en-US" altLang="zh-CN" i="1" dirty="0"/>
              <a:t>l</a:t>
            </a:r>
            <a:r>
              <a:rPr lang="en-US" altLang="zh-CN" dirty="0"/>
              <a:t>+1 	</a:t>
            </a:r>
            <a:r>
              <a:rPr lang="en-US" altLang="zh-CN" i="1" dirty="0"/>
              <a:t>l</a:t>
            </a:r>
            <a:r>
              <a:rPr lang="en-US" altLang="zh-CN" dirty="0"/>
              <a:t>+2	</a:t>
            </a:r>
            <a:r>
              <a:rPr lang="en-US" altLang="zh-CN" i="1" dirty="0"/>
              <a:t>		</a:t>
            </a:r>
            <a:r>
              <a:rPr lang="en-US" altLang="zh-CN" i="1" dirty="0" err="1"/>
              <a:t>l+m</a:t>
            </a:r>
            <a:r>
              <a:rPr lang="en-US" altLang="zh-CN" dirty="0"/>
              <a:t>- 1</a:t>
            </a:r>
            <a:r>
              <a:rPr lang="en-US" altLang="zh-CN" u="sng" dirty="0">
                <a:solidFill>
                  <a:schemeClr val="hlink"/>
                </a:solidFill>
              </a:rPr>
              <a:t>		</a:t>
            </a:r>
            <a:r>
              <a:rPr lang="en-US" altLang="zh-CN" u="sng" dirty="0" err="1">
                <a:solidFill>
                  <a:schemeClr val="hlink"/>
                </a:solidFill>
              </a:rPr>
              <a:t>l+m</a:t>
            </a:r>
            <a:r>
              <a:rPr lang="en-US" altLang="zh-CN" dirty="0"/>
              <a:t>	?2 </a:t>
            </a:r>
            <a:r>
              <a:rPr lang="en-US" altLang="zh-CN" i="1" dirty="0"/>
              <a:t>l</a:t>
            </a:r>
            <a:endParaRPr lang="en-US" altLang="zh-CN" dirty="0"/>
          </a:p>
          <a:p>
            <a:pPr lvl="1">
              <a:buNone/>
              <a:tabLst>
                <a:tab pos="1600200" algn="r"/>
                <a:tab pos="2114550" algn="r"/>
                <a:tab pos="2514600" algn="r"/>
                <a:tab pos="2971800" algn="r"/>
                <a:tab pos="3371850" algn="r"/>
                <a:tab pos="3886200" algn="r"/>
                <a:tab pos="4343400" algn="r"/>
                <a:tab pos="4800600" algn="r"/>
                <a:tab pos="5257800" algn="r"/>
                <a:tab pos="5772150" algn="r"/>
                <a:tab pos="6172200" algn="r"/>
                <a:tab pos="6629400" algn="r"/>
                <a:tab pos="7086600" algn="r"/>
                <a:tab pos="7543800" algn="r"/>
                <a:tab pos="8001000" algn="r"/>
              </a:tabLst>
            </a:pPr>
            <a:r>
              <a:rPr lang="en-US" altLang="zh-CN" dirty="0"/>
              <a:t>word:	</a:t>
            </a:r>
            <a:r>
              <a:rPr lang="en-US" altLang="zh-CN" b="1" dirty="0"/>
              <a:t>--</a:t>
            </a:r>
            <a:r>
              <a:rPr lang="en-US" altLang="zh-CN" dirty="0"/>
              <a:t>	?0		1	2	?	</a:t>
            </a:r>
            <a:r>
              <a:rPr lang="en-US" altLang="zh-CN" i="1" dirty="0"/>
              <a:t>m</a:t>
            </a:r>
            <a:r>
              <a:rPr lang="en-US" altLang="zh-CN" dirty="0"/>
              <a:t>-1	</a:t>
            </a:r>
            <a:r>
              <a:rPr lang="en-US" altLang="zh-CN" b="1" dirty="0"/>
              <a:t>	--</a:t>
            </a:r>
            <a:r>
              <a:rPr lang="en-US" altLang="zh-CN" dirty="0"/>
              <a:t>	?</a:t>
            </a:r>
            <a:r>
              <a:rPr lang="en-US" altLang="zh-CN" i="1" dirty="0"/>
              <a:t>m</a:t>
            </a:r>
          </a:p>
          <a:p>
            <a:pPr lvl="1">
              <a:tabLst>
                <a:tab pos="1600200" algn="r"/>
                <a:tab pos="2114550" algn="r"/>
                <a:tab pos="2514600" algn="r"/>
                <a:tab pos="2971800" algn="r"/>
                <a:tab pos="3371850" algn="r"/>
                <a:tab pos="3886200" algn="r"/>
                <a:tab pos="4343400" algn="r"/>
                <a:tab pos="4800600" algn="r"/>
                <a:tab pos="5257800" algn="r"/>
                <a:tab pos="5772150" algn="r"/>
                <a:tab pos="6172200" algn="r"/>
                <a:tab pos="6629400" algn="r"/>
                <a:tab pos="7086600" algn="r"/>
                <a:tab pos="7543800" algn="r"/>
                <a:tab pos="8001000" algn="r"/>
              </a:tabLst>
            </a:pPr>
            <a:r>
              <a:rPr lang="en-US" altLang="zh-CN" sz="2000" dirty="0"/>
              <a:t>may have 1024 banks in SRAM</a:t>
            </a:r>
          </a:p>
        </p:txBody>
      </p:sp>
    </p:spTree>
    <p:extLst>
      <p:ext uri="{BB962C8B-B14F-4D97-AF65-F5344CB8AC3E}">
        <p14:creationId xmlns:p14="http://schemas.microsoft.com/office/powerpoint/2010/main" val="2708421883"/>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4456113" y="466725"/>
            <a:ext cx="3217862" cy="446088"/>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Strip Mining</a:t>
            </a:r>
          </a:p>
        </p:txBody>
      </p:sp>
      <p:sp>
        <p:nvSpPr>
          <p:cNvPr id="48131" name="Rectangle 3"/>
          <p:cNvSpPr>
            <a:spLocks noGrp="1" noChangeArrowheads="1"/>
          </p:cNvSpPr>
          <p:nvPr>
            <p:ph type="body" idx="1"/>
          </p:nvPr>
        </p:nvSpPr>
        <p:spPr>
          <a:xfrm>
            <a:off x="767408" y="1628800"/>
            <a:ext cx="10729192" cy="4818038"/>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sz="2400" dirty="0"/>
              <a:t>Suppose Vector Length &gt; Max. Vector Length (MVL)?</a:t>
            </a:r>
          </a:p>
          <a:p>
            <a:r>
              <a:rPr lang="en-US" altLang="zh-CN" sz="2400" i="1" dirty="0">
                <a:solidFill>
                  <a:schemeClr val="hlink"/>
                </a:solidFill>
              </a:rPr>
              <a:t>Strip mining</a:t>
            </a:r>
            <a:r>
              <a:rPr lang="en-US" altLang="zh-CN" sz="2400" dirty="0"/>
              <a:t>: generation of code such that each vector operation is done for a size ?to the MVL</a:t>
            </a:r>
          </a:p>
          <a:p>
            <a:r>
              <a:rPr lang="en-US" altLang="zh-CN" sz="2400" dirty="0"/>
              <a:t>1st loop do short piece (n mod MVL), rest VL = MVL</a:t>
            </a:r>
          </a:p>
          <a:p>
            <a:pPr>
              <a:buFont typeface="Wingdings" panose="05000000000000000000" pitchFamily="2" charset="2"/>
              <a:buNone/>
            </a:pPr>
            <a:r>
              <a:rPr lang="en-US" altLang="zh-CN" sz="2400" dirty="0"/>
              <a:t>	   low = 1</a:t>
            </a:r>
            <a:br>
              <a:rPr lang="en-US" altLang="zh-CN" sz="2400" dirty="0"/>
            </a:br>
            <a:r>
              <a:rPr lang="en-US" altLang="zh-CN" sz="2400" dirty="0"/>
              <a:t>   VL = (n mod MVL)  /*find the odd size piece*/</a:t>
            </a:r>
            <a:br>
              <a:rPr lang="en-US" altLang="zh-CN" sz="2400" dirty="0"/>
            </a:br>
            <a:r>
              <a:rPr lang="en-US" altLang="zh-CN" sz="2400" dirty="0"/>
              <a:t>   do 1 j = 0,(n / MVL)  /*outer loop*/</a:t>
            </a:r>
          </a:p>
          <a:p>
            <a:pPr>
              <a:buFont typeface="Wingdings" panose="05000000000000000000" pitchFamily="2" charset="2"/>
              <a:buNone/>
            </a:pPr>
            <a:r>
              <a:rPr lang="en-US" altLang="zh-CN" sz="2400" dirty="0"/>
              <a:t>		do 10 </a:t>
            </a:r>
            <a:r>
              <a:rPr lang="en-US" altLang="zh-CN" sz="2400" dirty="0" err="1"/>
              <a:t>i</a:t>
            </a:r>
            <a:r>
              <a:rPr lang="en-US" altLang="zh-CN" sz="2400" dirty="0"/>
              <a:t> = low,low+VL-1  /*runs for length VL*/</a:t>
            </a:r>
            <a:br>
              <a:rPr lang="en-US" altLang="zh-CN" sz="2400" dirty="0"/>
            </a:br>
            <a:r>
              <a:rPr lang="en-US" altLang="zh-CN" sz="2400" dirty="0"/>
              <a:t>		Y(</a:t>
            </a:r>
            <a:r>
              <a:rPr lang="en-US" altLang="zh-CN" sz="2400" dirty="0" err="1"/>
              <a:t>i</a:t>
            </a:r>
            <a:r>
              <a:rPr lang="en-US" altLang="zh-CN" sz="2400" dirty="0"/>
              <a:t>) = a*X(</a:t>
            </a:r>
            <a:r>
              <a:rPr lang="en-US" altLang="zh-CN" sz="2400" dirty="0" err="1"/>
              <a:t>i</a:t>
            </a:r>
            <a:r>
              <a:rPr lang="en-US" altLang="zh-CN" sz="2400" dirty="0"/>
              <a:t>) + Y(</a:t>
            </a:r>
            <a:r>
              <a:rPr lang="en-US" altLang="zh-CN" sz="2400" dirty="0" err="1"/>
              <a:t>i</a:t>
            </a:r>
            <a:r>
              <a:rPr lang="en-US" altLang="zh-CN" sz="2400" dirty="0"/>
              <a:t>)  /*main operation*/</a:t>
            </a:r>
            <a:br>
              <a:rPr lang="en-US" altLang="zh-CN" sz="2400" dirty="0"/>
            </a:br>
            <a:r>
              <a:rPr lang="en-US" altLang="zh-CN" sz="2400" dirty="0"/>
              <a:t>10	continue</a:t>
            </a:r>
            <a:br>
              <a:rPr lang="en-US" altLang="zh-CN" sz="2400" dirty="0"/>
            </a:br>
            <a:r>
              <a:rPr lang="en-US" altLang="zh-CN" sz="2400" dirty="0"/>
              <a:t>	low = </a:t>
            </a:r>
            <a:r>
              <a:rPr lang="en-US" altLang="zh-CN" sz="2400" dirty="0" err="1"/>
              <a:t>low+VL</a:t>
            </a:r>
            <a:r>
              <a:rPr lang="en-US" altLang="zh-CN" sz="2400" dirty="0"/>
              <a:t>  /*start of next vector*/</a:t>
            </a:r>
            <a:br>
              <a:rPr lang="en-US" altLang="zh-CN" sz="2400" dirty="0"/>
            </a:br>
            <a:r>
              <a:rPr lang="en-US" altLang="zh-CN" sz="2400" dirty="0"/>
              <a:t>	VL = MVL  /*reset the length to max*/</a:t>
            </a:r>
            <a:br>
              <a:rPr lang="en-US" altLang="zh-CN" sz="2400" dirty="0"/>
            </a:br>
            <a:r>
              <a:rPr lang="en-US" altLang="zh-CN" sz="2400" dirty="0"/>
              <a:t>1	continue</a:t>
            </a:r>
          </a:p>
        </p:txBody>
      </p:sp>
    </p:spTree>
    <p:extLst>
      <p:ext uri="{BB962C8B-B14F-4D97-AF65-F5344CB8AC3E}">
        <p14:creationId xmlns:p14="http://schemas.microsoft.com/office/powerpoint/2010/main" val="1925080990"/>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3043239" y="466725"/>
            <a:ext cx="6397625" cy="446088"/>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Common Vector Metrics</a:t>
            </a:r>
          </a:p>
        </p:txBody>
      </p:sp>
      <p:sp>
        <p:nvSpPr>
          <p:cNvPr id="49155" name="Rectangle 3"/>
          <p:cNvSpPr>
            <a:spLocks noGrp="1" noChangeArrowheads="1"/>
          </p:cNvSpPr>
          <p:nvPr>
            <p:ph type="body" idx="1"/>
          </p:nvPr>
        </p:nvSpPr>
        <p:spPr>
          <a:xfrm>
            <a:off x="767408" y="1628800"/>
            <a:ext cx="10729192" cy="3035276"/>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spcBef>
                <a:spcPct val="0"/>
              </a:spcBef>
            </a:pPr>
            <a:r>
              <a:rPr lang="en-US" altLang="zh-CN" sz="3600" dirty="0">
                <a:solidFill>
                  <a:srgbClr val="FF0000"/>
                </a:solidFill>
              </a:rPr>
              <a:t>R</a:t>
            </a:r>
            <a:r>
              <a:rPr lang="en-US" altLang="zh-CN" dirty="0"/>
              <a:t>: MFLOPS rate on an infinite-length vector</a:t>
            </a:r>
          </a:p>
          <a:p>
            <a:pPr lvl="1">
              <a:spcBef>
                <a:spcPct val="0"/>
              </a:spcBef>
            </a:pPr>
            <a:r>
              <a:rPr lang="en-US" altLang="zh-CN" dirty="0"/>
              <a:t>vector’s speed of light</a:t>
            </a:r>
          </a:p>
          <a:p>
            <a:pPr lvl="1">
              <a:spcBef>
                <a:spcPct val="0"/>
              </a:spcBef>
            </a:pPr>
            <a:r>
              <a:rPr lang="en-US" altLang="zh-CN" dirty="0"/>
              <a:t>Real problems do not have unlimited vector lengths, and the start-up penalties encountered in real problems will be larger </a:t>
            </a:r>
          </a:p>
          <a:p>
            <a:pPr lvl="1">
              <a:spcBef>
                <a:spcPct val="0"/>
              </a:spcBef>
            </a:pPr>
            <a:r>
              <a:rPr lang="en-US" altLang="zh-CN" dirty="0"/>
              <a:t>(R</a:t>
            </a:r>
            <a:r>
              <a:rPr lang="en-US" altLang="zh-CN" baseline="-25000" dirty="0"/>
              <a:t>n</a:t>
            </a:r>
            <a:r>
              <a:rPr lang="en-US" altLang="zh-CN" dirty="0"/>
              <a:t> is the MFLOPS rate for a vector of length n)</a:t>
            </a:r>
          </a:p>
          <a:p>
            <a:pPr>
              <a:spcBef>
                <a:spcPct val="0"/>
              </a:spcBef>
            </a:pPr>
            <a:r>
              <a:rPr lang="en-US" altLang="zh-CN" sz="3600" dirty="0">
                <a:solidFill>
                  <a:srgbClr val="FF0000"/>
                </a:solidFill>
              </a:rPr>
              <a:t>N</a:t>
            </a:r>
            <a:r>
              <a:rPr lang="en-US" altLang="zh-CN" sz="3600" baseline="-25000" dirty="0">
                <a:solidFill>
                  <a:srgbClr val="FF0000"/>
                </a:solidFill>
              </a:rPr>
              <a:t>1/2</a:t>
            </a:r>
            <a:r>
              <a:rPr lang="en-US" altLang="zh-CN" dirty="0"/>
              <a:t>: The vector length needed to reach one-half of R </a:t>
            </a:r>
          </a:p>
          <a:p>
            <a:pPr lvl="1">
              <a:spcBef>
                <a:spcPct val="0"/>
              </a:spcBef>
            </a:pPr>
            <a:r>
              <a:rPr lang="en-US" altLang="zh-CN" dirty="0"/>
              <a:t>a good measure of the impact of start-up</a:t>
            </a:r>
          </a:p>
          <a:p>
            <a:pPr>
              <a:spcBef>
                <a:spcPct val="0"/>
              </a:spcBef>
            </a:pPr>
            <a:r>
              <a:rPr lang="en-US" altLang="zh-CN" sz="3600" dirty="0">
                <a:solidFill>
                  <a:srgbClr val="FF0000"/>
                </a:solidFill>
              </a:rPr>
              <a:t>N</a:t>
            </a:r>
            <a:r>
              <a:rPr lang="en-US" altLang="zh-CN" sz="3600" baseline="-25000" dirty="0">
                <a:solidFill>
                  <a:srgbClr val="FF0000"/>
                </a:solidFill>
              </a:rPr>
              <a:t>V</a:t>
            </a:r>
            <a:r>
              <a:rPr lang="en-US" altLang="zh-CN" dirty="0"/>
              <a:t>: The vector length needed to make vector mode faster than scalar mode </a:t>
            </a:r>
          </a:p>
          <a:p>
            <a:pPr lvl="1">
              <a:spcBef>
                <a:spcPct val="0"/>
              </a:spcBef>
            </a:pPr>
            <a:r>
              <a:rPr lang="en-US" altLang="zh-CN" dirty="0"/>
              <a:t>measures both start-up and speed of scalars relative to vectors, quality of connection of scalar unit to vector unit</a:t>
            </a:r>
          </a:p>
        </p:txBody>
      </p:sp>
    </p:spTree>
    <p:extLst>
      <p:ext uri="{BB962C8B-B14F-4D97-AF65-F5344CB8AC3E}">
        <p14:creationId xmlns:p14="http://schemas.microsoft.com/office/powerpoint/2010/main" val="2124074352"/>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623392" y="457200"/>
            <a:ext cx="9739808" cy="558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Compiler Vectorization on Cray XMP</a:t>
            </a:r>
          </a:p>
        </p:txBody>
      </p:sp>
      <p:sp>
        <p:nvSpPr>
          <p:cNvPr id="51203" name="Rectangle 3"/>
          <p:cNvSpPr>
            <a:spLocks noGrp="1" noChangeArrowheads="1"/>
          </p:cNvSpPr>
          <p:nvPr>
            <p:ph type="body" idx="1"/>
          </p:nvPr>
        </p:nvSpPr>
        <p:spPr>
          <a:xfrm>
            <a:off x="2209801" y="1654001"/>
            <a:ext cx="7978775" cy="5159375"/>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buNone/>
              <a:tabLst>
                <a:tab pos="2686050" algn="r"/>
                <a:tab pos="4972050" algn="r"/>
                <a:tab pos="5829300" algn="l"/>
              </a:tabLst>
            </a:pPr>
            <a:r>
              <a:rPr lang="en-US" altLang="zh-CN" sz="2400" dirty="0"/>
              <a:t>Benchmark	%FP	     %FP in vector</a:t>
            </a:r>
          </a:p>
          <a:p>
            <a:pPr>
              <a:tabLst>
                <a:tab pos="2686050" algn="r"/>
                <a:tab pos="4972050" algn="r"/>
                <a:tab pos="5829300" algn="l"/>
              </a:tabLst>
            </a:pPr>
            <a:r>
              <a:rPr lang="en-US" altLang="zh-CN" sz="2400" dirty="0"/>
              <a:t>ADM	23%	68%</a:t>
            </a:r>
          </a:p>
          <a:p>
            <a:pPr>
              <a:tabLst>
                <a:tab pos="2686050" algn="r"/>
                <a:tab pos="4972050" algn="r"/>
                <a:tab pos="5829300" algn="l"/>
              </a:tabLst>
            </a:pPr>
            <a:r>
              <a:rPr lang="en-US" altLang="zh-CN" sz="2400" dirty="0"/>
              <a:t>DYFESM 	26%	95%</a:t>
            </a:r>
          </a:p>
          <a:p>
            <a:pPr>
              <a:tabLst>
                <a:tab pos="2686050" algn="r"/>
                <a:tab pos="4972050" algn="r"/>
                <a:tab pos="5829300" algn="l"/>
              </a:tabLst>
            </a:pPr>
            <a:r>
              <a:rPr lang="en-US" altLang="zh-CN" sz="2400" dirty="0"/>
              <a:t>FLO52  	41%	100%</a:t>
            </a:r>
          </a:p>
          <a:p>
            <a:pPr>
              <a:tabLst>
                <a:tab pos="2686050" algn="r"/>
                <a:tab pos="4972050" algn="r"/>
                <a:tab pos="5829300" algn="l"/>
              </a:tabLst>
            </a:pPr>
            <a:r>
              <a:rPr lang="en-US" altLang="zh-CN" sz="2400" dirty="0"/>
              <a:t>MDG	28%	27%</a:t>
            </a:r>
          </a:p>
          <a:p>
            <a:pPr>
              <a:tabLst>
                <a:tab pos="2686050" algn="r"/>
                <a:tab pos="4972050" algn="r"/>
                <a:tab pos="5829300" algn="l"/>
              </a:tabLst>
            </a:pPr>
            <a:r>
              <a:rPr lang="en-US" altLang="zh-CN" sz="2400" dirty="0"/>
              <a:t>MG3D	31%	86%</a:t>
            </a:r>
          </a:p>
          <a:p>
            <a:pPr>
              <a:tabLst>
                <a:tab pos="2686050" algn="r"/>
                <a:tab pos="4972050" algn="r"/>
                <a:tab pos="5829300" algn="l"/>
              </a:tabLst>
            </a:pPr>
            <a:r>
              <a:rPr lang="en-US" altLang="zh-CN" sz="2400" dirty="0"/>
              <a:t>OCEAN	28%	58%</a:t>
            </a:r>
          </a:p>
          <a:p>
            <a:pPr>
              <a:tabLst>
                <a:tab pos="2686050" algn="r"/>
                <a:tab pos="4972050" algn="r"/>
                <a:tab pos="5829300" algn="l"/>
              </a:tabLst>
            </a:pPr>
            <a:r>
              <a:rPr lang="en-US" altLang="zh-CN" sz="2400" dirty="0"/>
              <a:t>QCD	14%	1%</a:t>
            </a:r>
          </a:p>
          <a:p>
            <a:pPr>
              <a:tabLst>
                <a:tab pos="2686050" algn="r"/>
                <a:tab pos="4972050" algn="r"/>
                <a:tab pos="5829300" algn="l"/>
              </a:tabLst>
            </a:pPr>
            <a:r>
              <a:rPr lang="en-US" altLang="zh-CN" sz="2400" dirty="0"/>
              <a:t>SPICE	16%	7%	(1% overall)</a:t>
            </a:r>
          </a:p>
          <a:p>
            <a:pPr>
              <a:tabLst>
                <a:tab pos="2686050" algn="r"/>
                <a:tab pos="4972050" algn="r"/>
                <a:tab pos="5829300" algn="l"/>
              </a:tabLst>
            </a:pPr>
            <a:r>
              <a:rPr lang="en-US" altLang="zh-CN" sz="2400" dirty="0"/>
              <a:t>TRACK	9%	23%</a:t>
            </a:r>
          </a:p>
          <a:p>
            <a:pPr>
              <a:tabLst>
                <a:tab pos="2686050" algn="r"/>
                <a:tab pos="4972050" algn="r"/>
                <a:tab pos="5829300" algn="l"/>
              </a:tabLst>
            </a:pPr>
            <a:r>
              <a:rPr lang="en-US" altLang="zh-CN" sz="2400" dirty="0"/>
              <a:t>TRFD	22%	10%</a:t>
            </a:r>
          </a:p>
        </p:txBody>
      </p:sp>
    </p:spTree>
    <p:extLst>
      <p:ext uri="{BB962C8B-B14F-4D97-AF65-F5344CB8AC3E}">
        <p14:creationId xmlns:p14="http://schemas.microsoft.com/office/powerpoint/2010/main" val="2197949924"/>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r>
              <a:rPr lang="en-US" altLang="zh-CN" smtClean="0"/>
              <a:t>Vector Pitfalls</a:t>
            </a:r>
            <a:endParaRPr lang="en-US" altLang="zh-CN"/>
          </a:p>
        </p:txBody>
      </p:sp>
      <p:sp>
        <p:nvSpPr>
          <p:cNvPr id="68611" name="Rectangle 3"/>
          <p:cNvSpPr>
            <a:spLocks noGrp="1" noChangeArrowheads="1"/>
          </p:cNvSpPr>
          <p:nvPr>
            <p:ph type="body" idx="1"/>
          </p:nvPr>
        </p:nvSpPr>
        <p:spPr/>
        <p:txBody>
          <a:bodyPr/>
          <a:lstStyle/>
          <a:p>
            <a:r>
              <a:rPr lang="en-US" altLang="zh-CN" smtClean="0"/>
              <a:t>Pitfall: Concentrating on peak performance and ignoring start-up overhead: NV (length faster than scalar) &gt; 100!</a:t>
            </a:r>
          </a:p>
          <a:p>
            <a:r>
              <a:rPr lang="en-US" altLang="zh-CN" smtClean="0"/>
              <a:t>Pitfall: Increasing vector performance, without comparable increases in scalar performance </a:t>
            </a:r>
            <a:br>
              <a:rPr lang="en-US" altLang="zh-CN" smtClean="0"/>
            </a:br>
            <a:r>
              <a:rPr lang="en-US" altLang="zh-CN" smtClean="0"/>
              <a:t>(Amdahl's Law)</a:t>
            </a:r>
          </a:p>
          <a:p>
            <a:pPr lvl="1"/>
            <a:r>
              <a:rPr lang="en-US" altLang="zh-CN" smtClean="0"/>
              <a:t>failure of Cray competitor from his former company</a:t>
            </a:r>
          </a:p>
          <a:p>
            <a:r>
              <a:rPr lang="en-US" altLang="zh-CN" smtClean="0"/>
              <a:t>Pitfall: Good processor vector performance without providing good memory bandwidth</a:t>
            </a:r>
          </a:p>
          <a:p>
            <a:pPr lvl="1"/>
            <a:r>
              <a:rPr lang="en-US" altLang="zh-CN" smtClean="0"/>
              <a:t>MMX?</a:t>
            </a:r>
            <a:endParaRPr lang="en-US" altLang="zh-CN"/>
          </a:p>
        </p:txBody>
      </p:sp>
    </p:spTree>
    <p:extLst>
      <p:ext uri="{BB962C8B-B14F-4D97-AF65-F5344CB8AC3E}">
        <p14:creationId xmlns:p14="http://schemas.microsoft.com/office/powerpoint/2010/main" val="2198975839"/>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1625601" y="0"/>
            <a:ext cx="9009063"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Vector Advantages</a:t>
            </a:r>
          </a:p>
        </p:txBody>
      </p:sp>
      <p:sp>
        <p:nvSpPr>
          <p:cNvPr id="69635" name="Rectangle 3"/>
          <p:cNvSpPr>
            <a:spLocks noGrp="1" noChangeArrowheads="1"/>
          </p:cNvSpPr>
          <p:nvPr>
            <p:ph type="body" idx="1"/>
          </p:nvPr>
        </p:nvSpPr>
        <p:spPr>
          <a:xfrm>
            <a:off x="767408" y="1556792"/>
            <a:ext cx="10873208" cy="4424908"/>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spcBef>
                <a:spcPct val="0"/>
              </a:spcBef>
            </a:pPr>
            <a:r>
              <a:rPr lang="en-US" altLang="zh-CN" sz="3200" dirty="0"/>
              <a:t>Easy to get</a:t>
            </a:r>
            <a:r>
              <a:rPr lang="en-US" altLang="zh-CN" sz="3200" dirty="0">
                <a:solidFill>
                  <a:schemeClr val="hlink"/>
                </a:solidFill>
              </a:rPr>
              <a:t> </a:t>
            </a:r>
            <a:r>
              <a:rPr lang="en-US" altLang="zh-CN" sz="3200" u="sng" dirty="0">
                <a:solidFill>
                  <a:srgbClr val="FF0000"/>
                </a:solidFill>
              </a:rPr>
              <a:t>high performance</a:t>
            </a:r>
            <a:r>
              <a:rPr lang="en-US" altLang="zh-CN" sz="3200" dirty="0"/>
              <a:t>; N operations:</a:t>
            </a:r>
          </a:p>
          <a:p>
            <a:pPr lvl="1">
              <a:spcBef>
                <a:spcPct val="0"/>
              </a:spcBef>
            </a:pPr>
            <a:r>
              <a:rPr lang="en-US" altLang="zh-CN" sz="2800" dirty="0"/>
              <a:t>are independent</a:t>
            </a:r>
          </a:p>
          <a:p>
            <a:pPr lvl="1">
              <a:spcBef>
                <a:spcPct val="0"/>
              </a:spcBef>
            </a:pPr>
            <a:r>
              <a:rPr lang="en-US" altLang="zh-CN" sz="2800" dirty="0"/>
              <a:t>use same functional unit</a:t>
            </a:r>
          </a:p>
          <a:p>
            <a:pPr lvl="1">
              <a:spcBef>
                <a:spcPct val="0"/>
              </a:spcBef>
            </a:pPr>
            <a:r>
              <a:rPr lang="en-US" altLang="zh-CN" sz="2800" dirty="0"/>
              <a:t>access disjoint registers</a:t>
            </a:r>
          </a:p>
          <a:p>
            <a:pPr lvl="1">
              <a:spcBef>
                <a:spcPct val="0"/>
              </a:spcBef>
            </a:pPr>
            <a:r>
              <a:rPr lang="en-US" altLang="zh-CN" sz="2800" dirty="0"/>
              <a:t>access registers in same order as previous instructions</a:t>
            </a:r>
          </a:p>
          <a:p>
            <a:pPr lvl="1">
              <a:spcBef>
                <a:spcPct val="0"/>
              </a:spcBef>
            </a:pPr>
            <a:r>
              <a:rPr lang="en-US" altLang="zh-CN" sz="2800" dirty="0"/>
              <a:t>access contiguous memory words or known pattern</a:t>
            </a:r>
          </a:p>
          <a:p>
            <a:pPr lvl="1">
              <a:spcBef>
                <a:spcPct val="0"/>
              </a:spcBef>
            </a:pPr>
            <a:r>
              <a:rPr lang="en-US" altLang="zh-CN" sz="2800" dirty="0"/>
              <a:t>can exploit large memory bandwidth</a:t>
            </a:r>
          </a:p>
          <a:p>
            <a:pPr lvl="1">
              <a:spcBef>
                <a:spcPct val="0"/>
              </a:spcBef>
            </a:pPr>
            <a:r>
              <a:rPr lang="en-US" altLang="zh-CN" sz="2800" dirty="0"/>
              <a:t>hide memory latency (and any other latency)</a:t>
            </a:r>
          </a:p>
          <a:p>
            <a:pPr>
              <a:spcBef>
                <a:spcPct val="0"/>
              </a:spcBef>
            </a:pPr>
            <a:r>
              <a:rPr lang="en-US" altLang="zh-CN" sz="2400" u="sng" dirty="0">
                <a:solidFill>
                  <a:srgbClr val="FF0000"/>
                </a:solidFill>
              </a:rPr>
              <a:t>Scalable</a:t>
            </a:r>
            <a:r>
              <a:rPr lang="en-US" altLang="zh-CN" sz="2400" dirty="0"/>
              <a:t> (get higher performance as more HW resources available)</a:t>
            </a:r>
          </a:p>
          <a:p>
            <a:pPr>
              <a:spcBef>
                <a:spcPct val="0"/>
              </a:spcBef>
            </a:pPr>
            <a:r>
              <a:rPr lang="en-US" altLang="zh-CN" sz="2400" u="sng" dirty="0" smtClean="0">
                <a:solidFill>
                  <a:srgbClr val="FF0000"/>
                </a:solidFill>
              </a:rPr>
              <a:t>Compact</a:t>
            </a:r>
            <a:r>
              <a:rPr lang="en-US" altLang="zh-CN" sz="2400" dirty="0" smtClean="0"/>
              <a:t> </a:t>
            </a:r>
            <a:r>
              <a:rPr lang="en-US" altLang="zh-CN" sz="2400" dirty="0"/>
              <a:t>Describe N operations with 1 short instruction (v. VLIW)</a:t>
            </a:r>
          </a:p>
          <a:p>
            <a:pPr>
              <a:spcBef>
                <a:spcPct val="0"/>
              </a:spcBef>
            </a:pPr>
            <a:r>
              <a:rPr lang="en-US" altLang="zh-CN" sz="2400" u="sng" dirty="0">
                <a:solidFill>
                  <a:srgbClr val="FF0000"/>
                </a:solidFill>
              </a:rPr>
              <a:t>Predictable</a:t>
            </a:r>
            <a:r>
              <a:rPr lang="en-US" altLang="zh-CN" sz="2400" dirty="0"/>
              <a:t> (real-time) performance vs. statistical performance (cache)</a:t>
            </a:r>
          </a:p>
          <a:p>
            <a:pPr>
              <a:spcBef>
                <a:spcPct val="0"/>
              </a:spcBef>
            </a:pPr>
            <a:r>
              <a:rPr lang="en-US" altLang="zh-CN" sz="2400" u="sng" dirty="0">
                <a:solidFill>
                  <a:srgbClr val="FF0000"/>
                </a:solidFill>
              </a:rPr>
              <a:t>Multimedia</a:t>
            </a:r>
            <a:r>
              <a:rPr lang="en-US" altLang="zh-CN" sz="2400" dirty="0"/>
              <a:t> ready: choose N * 64b, 2N * 32b, 4N * 16b, 8N * 8b</a:t>
            </a:r>
          </a:p>
          <a:p>
            <a:pPr>
              <a:spcBef>
                <a:spcPct val="0"/>
              </a:spcBef>
            </a:pPr>
            <a:r>
              <a:rPr lang="en-US" altLang="zh-CN" sz="2400" dirty="0"/>
              <a:t>Mature, developed </a:t>
            </a:r>
            <a:r>
              <a:rPr lang="en-US" altLang="zh-CN" sz="2400" u="sng" dirty="0">
                <a:solidFill>
                  <a:srgbClr val="FF0000"/>
                </a:solidFill>
              </a:rPr>
              <a:t>compiler technology</a:t>
            </a:r>
          </a:p>
          <a:p>
            <a:pPr>
              <a:spcBef>
                <a:spcPct val="0"/>
              </a:spcBef>
            </a:pPr>
            <a:r>
              <a:rPr lang="en-US" altLang="zh-CN" sz="2400" u="sng" dirty="0">
                <a:solidFill>
                  <a:srgbClr val="FF0000"/>
                </a:solidFill>
              </a:rPr>
              <a:t>Vector Disadvantage: Out of Fashion</a:t>
            </a:r>
            <a:endParaRPr lang="en-US" altLang="zh-CN" u="sng" dirty="0">
              <a:solidFill>
                <a:srgbClr val="FF0000"/>
              </a:solidFill>
            </a:endParaRPr>
          </a:p>
        </p:txBody>
      </p:sp>
    </p:spTree>
    <p:extLst>
      <p:ext uri="{BB962C8B-B14F-4D97-AF65-F5344CB8AC3E}">
        <p14:creationId xmlns:p14="http://schemas.microsoft.com/office/powerpoint/2010/main" val="2434826173"/>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r>
              <a:rPr lang="en-US" altLang="zh-CN" smtClean="0"/>
              <a:t>Vector Summary</a:t>
            </a:r>
            <a:endParaRPr lang="en-US" altLang="zh-CN"/>
          </a:p>
        </p:txBody>
      </p:sp>
      <p:sp>
        <p:nvSpPr>
          <p:cNvPr id="71683" name="Rectangle 3"/>
          <p:cNvSpPr>
            <a:spLocks noGrp="1" noChangeArrowheads="1"/>
          </p:cNvSpPr>
          <p:nvPr>
            <p:ph type="body" idx="1"/>
          </p:nvPr>
        </p:nvSpPr>
        <p:spPr/>
        <p:txBody>
          <a:bodyPr/>
          <a:lstStyle/>
          <a:p>
            <a:r>
              <a:rPr lang="en-US" altLang="zh-CN" smtClean="0"/>
              <a:t>Alternate model accomodates long memory latency, doesn’t rely on caches as does Out-Of-Order, superscalar/VLIW designs</a:t>
            </a:r>
          </a:p>
          <a:p>
            <a:r>
              <a:rPr lang="en-US" altLang="zh-CN" smtClean="0"/>
              <a:t>Much easier for hardware: more powerful instructions, more predictable memory accesses, fewer harzards, fewer branches, fewer mispredicted branches,  ...</a:t>
            </a:r>
          </a:p>
          <a:p>
            <a:r>
              <a:rPr lang="en-US" altLang="zh-CN" smtClean="0"/>
              <a:t>What % of computation is vectorizable? </a:t>
            </a:r>
          </a:p>
          <a:p>
            <a:r>
              <a:rPr lang="en-US" altLang="zh-CN" smtClean="0"/>
              <a:t>Is vector a good match to new apps such as multidemia, DSP?</a:t>
            </a:r>
            <a:endParaRPr lang="en-US" altLang="zh-CN"/>
          </a:p>
        </p:txBody>
      </p:sp>
    </p:spTree>
    <p:extLst>
      <p:ext uri="{BB962C8B-B14F-4D97-AF65-F5344CB8AC3E}">
        <p14:creationId xmlns:p14="http://schemas.microsoft.com/office/powerpoint/2010/main" val="1823043707"/>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1683">
                                            <p:txEl>
                                              <p:pRg st="0" end="0"/>
                                            </p:txEl>
                                          </p:spTgt>
                                        </p:tgtEl>
                                        <p:attrNameLst>
                                          <p:attrName>style.visibility</p:attrName>
                                        </p:attrNameLst>
                                      </p:cBhvr>
                                      <p:to>
                                        <p:strVal val="visible"/>
                                      </p:to>
                                    </p:set>
                                    <p:anim calcmode="lin" valueType="num">
                                      <p:cBhvr additive="base">
                                        <p:cTn id="7" dur="500" fill="hold"/>
                                        <p:tgtEl>
                                          <p:spTgt spid="7168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16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71683">
                                            <p:txEl>
                                              <p:pRg st="1" end="1"/>
                                            </p:txEl>
                                          </p:spTgt>
                                        </p:tgtEl>
                                        <p:attrNameLst>
                                          <p:attrName>style.visibility</p:attrName>
                                        </p:attrNameLst>
                                      </p:cBhvr>
                                      <p:to>
                                        <p:strVal val="visible"/>
                                      </p:to>
                                    </p:set>
                                    <p:anim calcmode="lin" valueType="num">
                                      <p:cBhvr additive="base">
                                        <p:cTn id="13" dur="500" fill="hold"/>
                                        <p:tgtEl>
                                          <p:spTgt spid="7168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716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71683">
                                            <p:txEl>
                                              <p:pRg st="2" end="2"/>
                                            </p:txEl>
                                          </p:spTgt>
                                        </p:tgtEl>
                                        <p:attrNameLst>
                                          <p:attrName>style.visibility</p:attrName>
                                        </p:attrNameLst>
                                      </p:cBhvr>
                                      <p:to>
                                        <p:strVal val="visible"/>
                                      </p:to>
                                    </p:set>
                                    <p:anim calcmode="lin" valueType="num">
                                      <p:cBhvr additive="base">
                                        <p:cTn id="19" dur="500" fill="hold"/>
                                        <p:tgtEl>
                                          <p:spTgt spid="71683">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7168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71683">
                                            <p:txEl>
                                              <p:pRg st="3" end="3"/>
                                            </p:txEl>
                                          </p:spTgt>
                                        </p:tgtEl>
                                        <p:attrNameLst>
                                          <p:attrName>style.visibility</p:attrName>
                                        </p:attrNameLst>
                                      </p:cBhvr>
                                      <p:to>
                                        <p:strVal val="visible"/>
                                      </p:to>
                                    </p:set>
                                    <p:anim calcmode="lin" valueType="num">
                                      <p:cBhvr additive="base">
                                        <p:cTn id="25" dur="500" fill="hold"/>
                                        <p:tgtEl>
                                          <p:spTgt spid="71683">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7168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build="p"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p:txBody>
          <a:bodyPr/>
          <a:lstStyle/>
          <a:p>
            <a:r>
              <a:rPr lang="en-US" altLang="zh-CN" smtClean="0"/>
              <a:t>Other Issues about Vector</a:t>
            </a:r>
            <a:endParaRPr lang="en-US" altLang="zh-CN"/>
          </a:p>
        </p:txBody>
      </p:sp>
      <p:sp>
        <p:nvSpPr>
          <p:cNvPr id="98307" name="Rectangle 3"/>
          <p:cNvSpPr>
            <a:spLocks noGrp="1" noChangeArrowheads="1"/>
          </p:cNvSpPr>
          <p:nvPr>
            <p:ph type="body" idx="1"/>
          </p:nvPr>
        </p:nvSpPr>
        <p:spPr/>
        <p:txBody>
          <a:bodyPr/>
          <a:lstStyle/>
          <a:p>
            <a:r>
              <a:rPr lang="en-US" altLang="zh-CN" smtClean="0"/>
              <a:t>Hard vector example</a:t>
            </a:r>
          </a:p>
          <a:p>
            <a:r>
              <a:rPr lang="en-US" altLang="zh-CN" smtClean="0"/>
              <a:t>Vector vs. Superscalar</a:t>
            </a:r>
          </a:p>
          <a:p>
            <a:r>
              <a:rPr lang="en-US" altLang="zh-CN" smtClean="0"/>
              <a:t>Designing a Vector Processor Issues</a:t>
            </a:r>
          </a:p>
          <a:p>
            <a:r>
              <a:rPr lang="en-US" altLang="zh-CN" smtClean="0"/>
              <a:t>Vector vs. Superscalar: area, energy</a:t>
            </a:r>
          </a:p>
          <a:p>
            <a:r>
              <a:rPr lang="en-US" altLang="zh-CN" smtClean="0"/>
              <a:t>Real-time vs. Average time</a:t>
            </a:r>
            <a:endParaRPr lang="en-US" altLang="zh-CN"/>
          </a:p>
        </p:txBody>
      </p:sp>
    </p:spTree>
    <p:extLst>
      <p:ext uri="{BB962C8B-B14F-4D97-AF65-F5344CB8AC3E}">
        <p14:creationId xmlns:p14="http://schemas.microsoft.com/office/powerpoint/2010/main" val="69812629"/>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Vector Example with dependency</a:t>
            </a:r>
          </a:p>
        </p:txBody>
      </p:sp>
      <p:sp>
        <p:nvSpPr>
          <p:cNvPr id="99331" name="Rectangle 3"/>
          <p:cNvSpPr>
            <a:spLocks noGrp="1" noChangeArrowheads="1"/>
          </p:cNvSpPr>
          <p:nvPr>
            <p:ph type="body" idx="1"/>
          </p:nvPr>
        </p:nvSpPr>
        <p:spPr>
          <a:xfrm>
            <a:off x="911424" y="1700808"/>
            <a:ext cx="10040416" cy="3861792"/>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lnSpc>
                <a:spcPct val="70000"/>
              </a:lnSpc>
              <a:buFont typeface="Wingdings" panose="05000000000000000000" pitchFamily="2" charset="2"/>
              <a:buNone/>
            </a:pPr>
            <a:r>
              <a:rPr lang="en-US" altLang="zh-CN" sz="2400" b="1" dirty="0">
                <a:latin typeface="Courier New" panose="02070309020205020404" pitchFamily="49" charset="0"/>
              </a:rPr>
              <a:t>/* Multiply a[m][k] * b[k][n] to get c[m][n] */</a:t>
            </a:r>
          </a:p>
          <a:p>
            <a:pPr>
              <a:lnSpc>
                <a:spcPct val="70000"/>
              </a:lnSpc>
              <a:buFont typeface="Wingdings" panose="05000000000000000000" pitchFamily="2" charset="2"/>
              <a:buNone/>
            </a:pPr>
            <a:r>
              <a:rPr lang="en-US" altLang="zh-CN" sz="2400" b="1" dirty="0">
                <a:latin typeface="Courier New" panose="02070309020205020404" pitchFamily="49" charset="0"/>
              </a:rPr>
              <a:t>for (</a:t>
            </a:r>
            <a:r>
              <a:rPr lang="en-US" altLang="zh-CN" sz="2400" b="1" dirty="0" err="1">
                <a:latin typeface="Courier New" panose="02070309020205020404" pitchFamily="49" charset="0"/>
              </a:rPr>
              <a:t>i</a:t>
            </a:r>
            <a:r>
              <a:rPr lang="en-US" altLang="zh-CN" sz="2400" b="1" dirty="0">
                <a:latin typeface="Courier New" panose="02070309020205020404" pitchFamily="49" charset="0"/>
              </a:rPr>
              <a:t>=1; </a:t>
            </a:r>
            <a:r>
              <a:rPr lang="en-US" altLang="zh-CN" sz="2400" b="1" dirty="0" err="1">
                <a:latin typeface="Courier New" panose="02070309020205020404" pitchFamily="49" charset="0"/>
              </a:rPr>
              <a:t>i</a:t>
            </a:r>
            <a:r>
              <a:rPr lang="en-US" altLang="zh-CN" sz="2400" b="1" dirty="0">
                <a:latin typeface="Courier New" panose="02070309020205020404" pitchFamily="49" charset="0"/>
              </a:rPr>
              <a:t>&lt;m; </a:t>
            </a:r>
            <a:r>
              <a:rPr lang="en-US" altLang="zh-CN" sz="2400" b="1" dirty="0" err="1">
                <a:latin typeface="Courier New" panose="02070309020205020404" pitchFamily="49" charset="0"/>
              </a:rPr>
              <a:t>i</a:t>
            </a:r>
            <a:r>
              <a:rPr lang="en-US" altLang="zh-CN" sz="2400" b="1" dirty="0">
                <a:latin typeface="Courier New" panose="02070309020205020404" pitchFamily="49" charset="0"/>
              </a:rPr>
              <a:t>++)</a:t>
            </a:r>
          </a:p>
          <a:p>
            <a:pPr>
              <a:lnSpc>
                <a:spcPct val="70000"/>
              </a:lnSpc>
              <a:buFont typeface="Wingdings" panose="05000000000000000000" pitchFamily="2" charset="2"/>
              <a:buNone/>
            </a:pPr>
            <a:r>
              <a:rPr lang="en-US" altLang="zh-CN" sz="2400" b="1" dirty="0">
                <a:latin typeface="Courier New" panose="02070309020205020404" pitchFamily="49" charset="0"/>
              </a:rPr>
              <a:t>{       </a:t>
            </a:r>
          </a:p>
          <a:p>
            <a:pPr>
              <a:lnSpc>
                <a:spcPct val="70000"/>
              </a:lnSpc>
              <a:buFont typeface="Wingdings" panose="05000000000000000000" pitchFamily="2" charset="2"/>
              <a:buNone/>
            </a:pPr>
            <a:r>
              <a:rPr lang="en-US" altLang="zh-CN" sz="2400" b="1" dirty="0">
                <a:latin typeface="Courier New" panose="02070309020205020404" pitchFamily="49" charset="0"/>
              </a:rPr>
              <a:t>    for (j=1; j&lt;n; </a:t>
            </a:r>
            <a:r>
              <a:rPr lang="en-US" altLang="zh-CN" sz="2400" b="1" dirty="0" err="1">
                <a:latin typeface="Courier New" panose="02070309020205020404" pitchFamily="49" charset="0"/>
              </a:rPr>
              <a:t>j++</a:t>
            </a:r>
            <a:r>
              <a:rPr lang="en-US" altLang="zh-CN" sz="2400" b="1" dirty="0">
                <a:latin typeface="Courier New" panose="02070309020205020404" pitchFamily="49" charset="0"/>
              </a:rPr>
              <a:t>)</a:t>
            </a:r>
          </a:p>
          <a:p>
            <a:pPr>
              <a:lnSpc>
                <a:spcPct val="70000"/>
              </a:lnSpc>
              <a:buFont typeface="Wingdings" panose="05000000000000000000" pitchFamily="2" charset="2"/>
              <a:buNone/>
            </a:pPr>
            <a:r>
              <a:rPr lang="en-US" altLang="zh-CN" sz="2400" b="1" dirty="0">
                <a:latin typeface="Courier New" panose="02070309020205020404" pitchFamily="49" charset="0"/>
              </a:rPr>
              <a:t>    {</a:t>
            </a:r>
          </a:p>
          <a:p>
            <a:pPr>
              <a:lnSpc>
                <a:spcPct val="70000"/>
              </a:lnSpc>
              <a:buFont typeface="Wingdings" panose="05000000000000000000" pitchFamily="2" charset="2"/>
              <a:buNone/>
            </a:pPr>
            <a:r>
              <a:rPr lang="en-US" altLang="zh-CN" sz="2400" b="1" dirty="0">
                <a:latin typeface="Courier New" panose="02070309020205020404" pitchFamily="49" charset="0"/>
              </a:rPr>
              <a:t>        sum = 0;</a:t>
            </a:r>
          </a:p>
          <a:p>
            <a:pPr>
              <a:lnSpc>
                <a:spcPct val="70000"/>
              </a:lnSpc>
              <a:buFont typeface="Wingdings" panose="05000000000000000000" pitchFamily="2" charset="2"/>
              <a:buNone/>
            </a:pPr>
            <a:r>
              <a:rPr lang="en-US" altLang="zh-CN" sz="2400" b="1" dirty="0">
                <a:latin typeface="Courier New" panose="02070309020205020404" pitchFamily="49" charset="0"/>
              </a:rPr>
              <a:t>        for (t=1; t&lt;k; t++)</a:t>
            </a:r>
          </a:p>
          <a:p>
            <a:pPr>
              <a:lnSpc>
                <a:spcPct val="70000"/>
              </a:lnSpc>
              <a:buFont typeface="Wingdings" panose="05000000000000000000" pitchFamily="2" charset="2"/>
              <a:buNone/>
            </a:pPr>
            <a:r>
              <a:rPr lang="en-US" altLang="zh-CN" sz="2400" b="1" dirty="0">
                <a:latin typeface="Courier New" panose="02070309020205020404" pitchFamily="49" charset="0"/>
              </a:rPr>
              <a:t>        {</a:t>
            </a:r>
          </a:p>
          <a:p>
            <a:pPr>
              <a:lnSpc>
                <a:spcPct val="70000"/>
              </a:lnSpc>
              <a:buFont typeface="Wingdings" panose="05000000000000000000" pitchFamily="2" charset="2"/>
              <a:buNone/>
            </a:pPr>
            <a:r>
              <a:rPr lang="en-US" altLang="zh-CN" sz="2400" b="1" dirty="0">
                <a:latin typeface="Courier New" panose="02070309020205020404" pitchFamily="49" charset="0"/>
              </a:rPr>
              <a:t>            sum += a[</a:t>
            </a:r>
            <a:r>
              <a:rPr lang="en-US" altLang="zh-CN" sz="2400" b="1" dirty="0" err="1">
                <a:latin typeface="Courier New" panose="02070309020205020404" pitchFamily="49" charset="0"/>
              </a:rPr>
              <a:t>i</a:t>
            </a:r>
            <a:r>
              <a:rPr lang="en-US" altLang="zh-CN" sz="2400" b="1" dirty="0">
                <a:latin typeface="Courier New" panose="02070309020205020404" pitchFamily="49" charset="0"/>
              </a:rPr>
              <a:t>][t] * b[t][j];</a:t>
            </a:r>
          </a:p>
          <a:p>
            <a:pPr>
              <a:lnSpc>
                <a:spcPct val="70000"/>
              </a:lnSpc>
              <a:buFont typeface="Wingdings" panose="05000000000000000000" pitchFamily="2" charset="2"/>
              <a:buNone/>
            </a:pPr>
            <a:r>
              <a:rPr lang="en-US" altLang="zh-CN" sz="2400" b="1" dirty="0">
                <a:latin typeface="Courier New" panose="02070309020205020404" pitchFamily="49" charset="0"/>
              </a:rPr>
              <a:t>        }</a:t>
            </a:r>
          </a:p>
          <a:p>
            <a:pPr>
              <a:lnSpc>
                <a:spcPct val="70000"/>
              </a:lnSpc>
              <a:buFont typeface="Wingdings" panose="05000000000000000000" pitchFamily="2" charset="2"/>
              <a:buNone/>
            </a:pPr>
            <a:r>
              <a:rPr lang="en-US" altLang="zh-CN" sz="2400" b="1" dirty="0">
                <a:latin typeface="Courier New" panose="02070309020205020404" pitchFamily="49" charset="0"/>
              </a:rPr>
              <a:t>        c[</a:t>
            </a:r>
            <a:r>
              <a:rPr lang="en-US" altLang="zh-CN" sz="2400" b="1" dirty="0" err="1">
                <a:latin typeface="Courier New" panose="02070309020205020404" pitchFamily="49" charset="0"/>
              </a:rPr>
              <a:t>i</a:t>
            </a:r>
            <a:r>
              <a:rPr lang="en-US" altLang="zh-CN" sz="2400" b="1" dirty="0">
                <a:latin typeface="Courier New" panose="02070309020205020404" pitchFamily="49" charset="0"/>
              </a:rPr>
              <a:t>][j] = sum;</a:t>
            </a:r>
          </a:p>
          <a:p>
            <a:pPr>
              <a:lnSpc>
                <a:spcPct val="70000"/>
              </a:lnSpc>
              <a:buFont typeface="Wingdings" panose="05000000000000000000" pitchFamily="2" charset="2"/>
              <a:buNone/>
            </a:pPr>
            <a:r>
              <a:rPr lang="en-US" altLang="zh-CN" sz="2400" b="1" dirty="0">
                <a:latin typeface="Courier New" panose="02070309020205020404" pitchFamily="49" charset="0"/>
              </a:rPr>
              <a:t>    }</a:t>
            </a:r>
          </a:p>
          <a:p>
            <a:pPr>
              <a:lnSpc>
                <a:spcPct val="70000"/>
              </a:lnSpc>
              <a:buFont typeface="Wingdings" panose="05000000000000000000" pitchFamily="2" charset="2"/>
              <a:buNone/>
            </a:pPr>
            <a:r>
              <a:rPr lang="en-US" altLang="zh-CN" sz="2400" b="1" dirty="0">
                <a:latin typeface="Courier New" panose="02070309020205020404" pitchFamily="49" charset="0"/>
              </a:rPr>
              <a:t>}</a:t>
            </a:r>
          </a:p>
        </p:txBody>
      </p:sp>
    </p:spTree>
    <p:extLst>
      <p:ext uri="{BB962C8B-B14F-4D97-AF65-F5344CB8AC3E}">
        <p14:creationId xmlns:p14="http://schemas.microsoft.com/office/powerpoint/2010/main" val="893083045"/>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Straightforward Solution</a:t>
            </a:r>
          </a:p>
        </p:txBody>
      </p:sp>
      <p:sp>
        <p:nvSpPr>
          <p:cNvPr id="100355" name="Rectangle 3"/>
          <p:cNvSpPr>
            <a:spLocks noGrp="1" noChangeArrowheads="1"/>
          </p:cNvSpPr>
          <p:nvPr>
            <p:ph type="body"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a:t>Must sum of all the elements of a vector besides grabbing one element at a time from a vector register and putting it in the scalar unit?</a:t>
            </a:r>
          </a:p>
          <a:p>
            <a:r>
              <a:rPr lang="en-US" altLang="zh-CN"/>
              <a:t>e.g., shift all elements left 32 elements or collapse into a compact vector all elements not masked</a:t>
            </a:r>
          </a:p>
          <a:p>
            <a:r>
              <a:rPr lang="en-US" altLang="zh-CN"/>
              <a:t>In T0, the vector extract instruction, vext.v.  This shifts elements within a vector</a:t>
            </a:r>
          </a:p>
          <a:p>
            <a:r>
              <a:rPr lang="en-US" altLang="zh-CN"/>
              <a:t>Called a </a:t>
            </a:r>
            <a:r>
              <a:rPr lang="en-US" altLang="zh-CN" u="sng">
                <a:solidFill>
                  <a:schemeClr val="hlink"/>
                </a:solidFill>
              </a:rPr>
              <a:t>reduction</a:t>
            </a:r>
            <a:endParaRPr lang="en-US" altLang="zh-CN"/>
          </a:p>
        </p:txBody>
      </p:sp>
    </p:spTree>
    <p:extLst>
      <p:ext uri="{BB962C8B-B14F-4D97-AF65-F5344CB8AC3E}">
        <p14:creationId xmlns:p14="http://schemas.microsoft.com/office/powerpoint/2010/main" val="1920225707"/>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Review: Vector Surprise</a:t>
            </a:r>
          </a:p>
        </p:txBody>
      </p:sp>
      <p:sp>
        <p:nvSpPr>
          <p:cNvPr id="101379" name="Rectangle 3"/>
          <p:cNvSpPr>
            <a:spLocks noGrp="1" noChangeArrowheads="1"/>
          </p:cNvSpPr>
          <p:nvPr>
            <p:ph type="body" idx="1"/>
          </p:nvPr>
        </p:nvSpPr>
        <p:spPr>
          <a:xfrm>
            <a:off x="911425" y="1844824"/>
            <a:ext cx="9518452" cy="3641576"/>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dirty="0"/>
              <a:t>Use vectors for inner loop parallelism (no surprise)</a:t>
            </a:r>
          </a:p>
          <a:p>
            <a:pPr lvl="1"/>
            <a:r>
              <a:rPr lang="en-US" altLang="zh-CN" dirty="0"/>
              <a:t>One dimension of array: A[0, </a:t>
            </a:r>
            <a:r>
              <a:rPr lang="en-US" altLang="zh-CN" u="sng" dirty="0">
                <a:solidFill>
                  <a:srgbClr val="FC0128"/>
                </a:solidFill>
              </a:rPr>
              <a:t>0</a:t>
            </a:r>
            <a:r>
              <a:rPr lang="en-US" altLang="zh-CN" dirty="0"/>
              <a:t>], A[0, </a:t>
            </a:r>
            <a:r>
              <a:rPr lang="en-US" altLang="zh-CN" u="sng" dirty="0">
                <a:solidFill>
                  <a:srgbClr val="FC0128"/>
                </a:solidFill>
              </a:rPr>
              <a:t>1</a:t>
            </a:r>
            <a:r>
              <a:rPr lang="en-US" altLang="zh-CN" dirty="0"/>
              <a:t>], A[0, </a:t>
            </a:r>
            <a:r>
              <a:rPr lang="en-US" altLang="zh-CN" u="sng" dirty="0">
                <a:solidFill>
                  <a:srgbClr val="FC0128"/>
                </a:solidFill>
              </a:rPr>
              <a:t>2</a:t>
            </a:r>
            <a:r>
              <a:rPr lang="en-US" altLang="zh-CN" dirty="0"/>
              <a:t>], ... </a:t>
            </a:r>
          </a:p>
          <a:p>
            <a:pPr lvl="1"/>
            <a:r>
              <a:rPr lang="en-US" altLang="zh-CN" dirty="0"/>
              <a:t>think of machine as, say, 16 vector </a:t>
            </a:r>
            <a:r>
              <a:rPr lang="en-US" altLang="zh-CN" dirty="0" err="1"/>
              <a:t>regs</a:t>
            </a:r>
            <a:r>
              <a:rPr lang="en-US" altLang="zh-CN" dirty="0"/>
              <a:t> each with 32 elements</a:t>
            </a:r>
          </a:p>
          <a:p>
            <a:pPr lvl="1"/>
            <a:r>
              <a:rPr lang="en-US" altLang="zh-CN" dirty="0"/>
              <a:t>1 instruction updates 32 elements of 1 vector register</a:t>
            </a:r>
          </a:p>
          <a:p>
            <a:r>
              <a:rPr lang="en-US" altLang="zh-CN" dirty="0"/>
              <a:t>and for outer loop parallelism! </a:t>
            </a:r>
          </a:p>
          <a:p>
            <a:pPr lvl="1"/>
            <a:r>
              <a:rPr lang="en-US" altLang="zh-CN" dirty="0"/>
              <a:t>1 element from each column: A[</a:t>
            </a:r>
            <a:r>
              <a:rPr lang="en-US" altLang="zh-CN" u="sng" dirty="0">
                <a:solidFill>
                  <a:srgbClr val="FC0128"/>
                </a:solidFill>
              </a:rPr>
              <a:t>0</a:t>
            </a:r>
            <a:r>
              <a:rPr lang="en-US" altLang="zh-CN" dirty="0"/>
              <a:t>,0], A[</a:t>
            </a:r>
            <a:r>
              <a:rPr lang="en-US" altLang="zh-CN" u="sng" dirty="0">
                <a:solidFill>
                  <a:srgbClr val="FC0128"/>
                </a:solidFill>
              </a:rPr>
              <a:t>1</a:t>
            </a:r>
            <a:r>
              <a:rPr lang="en-US" altLang="zh-CN" dirty="0"/>
              <a:t>,0], A[</a:t>
            </a:r>
            <a:r>
              <a:rPr lang="en-US" altLang="zh-CN" u="sng" dirty="0">
                <a:solidFill>
                  <a:srgbClr val="FC0128"/>
                </a:solidFill>
              </a:rPr>
              <a:t>2</a:t>
            </a:r>
            <a:r>
              <a:rPr lang="en-US" altLang="zh-CN" dirty="0"/>
              <a:t>,0], ...</a:t>
            </a:r>
          </a:p>
          <a:p>
            <a:pPr lvl="1"/>
            <a:r>
              <a:rPr lang="en-US" altLang="zh-CN" dirty="0"/>
              <a:t>think of machine as 32 Virtual processors?(VPs) </a:t>
            </a:r>
            <a:br>
              <a:rPr lang="en-US" altLang="zh-CN" dirty="0"/>
            </a:br>
            <a:r>
              <a:rPr lang="en-US" altLang="zh-CN" dirty="0"/>
              <a:t>each with 16 scalar registers! (?multithreaded processor)</a:t>
            </a:r>
          </a:p>
          <a:p>
            <a:pPr lvl="1"/>
            <a:r>
              <a:rPr lang="en-US" altLang="zh-CN" dirty="0"/>
              <a:t>1 instruction updates 1 scalar register in 64 VPs</a:t>
            </a:r>
          </a:p>
          <a:p>
            <a:r>
              <a:rPr lang="en-US" altLang="zh-CN" dirty="0"/>
              <a:t>Hardware identical, just 2 compiler perspectives</a:t>
            </a:r>
          </a:p>
        </p:txBody>
      </p:sp>
    </p:spTree>
    <p:extLst>
      <p:ext uri="{BB962C8B-B14F-4D97-AF65-F5344CB8AC3E}">
        <p14:creationId xmlns:p14="http://schemas.microsoft.com/office/powerpoint/2010/main" val="2013604552"/>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r>
              <a:rPr lang="en-US" altLang="zh-CN" smtClean="0"/>
              <a:t>Novel Matrix Multiply Solution</a:t>
            </a:r>
            <a:endParaRPr lang="en-US" altLang="zh-CN"/>
          </a:p>
        </p:txBody>
      </p:sp>
      <p:sp>
        <p:nvSpPr>
          <p:cNvPr id="102403" name="Rectangle 3"/>
          <p:cNvSpPr>
            <a:spLocks noGrp="1" noChangeArrowheads="1"/>
          </p:cNvSpPr>
          <p:nvPr>
            <p:ph type="body" idx="1"/>
          </p:nvPr>
        </p:nvSpPr>
        <p:spPr/>
        <p:txBody>
          <a:bodyPr/>
          <a:lstStyle/>
          <a:p>
            <a:r>
              <a:rPr lang="en-US" altLang="zh-CN" smtClean="0"/>
              <a:t>You don't need to do reductions for matrix multiply</a:t>
            </a:r>
          </a:p>
          <a:p>
            <a:r>
              <a:rPr lang="en-US" altLang="zh-CN" smtClean="0"/>
              <a:t>You can calculate multiple independent sums within one vector register</a:t>
            </a:r>
          </a:p>
          <a:p>
            <a:r>
              <a:rPr lang="en-US" altLang="zh-CN" smtClean="0"/>
              <a:t>You can vectorize the j loop to perform 32 dot-products at the same time</a:t>
            </a:r>
          </a:p>
          <a:p>
            <a:r>
              <a:rPr lang="en-US" altLang="zh-CN" smtClean="0"/>
              <a:t>Or you can think of each 32 Virtual Processor doing one of the dot products</a:t>
            </a:r>
          </a:p>
          <a:p>
            <a:r>
              <a:rPr lang="en-US" altLang="zh-CN" smtClean="0"/>
              <a:t>(Assume Maximul Vector Length is 32)</a:t>
            </a:r>
          </a:p>
          <a:p>
            <a:r>
              <a:rPr lang="en-US" altLang="zh-CN" smtClean="0"/>
              <a:t>Show it in C source code, but can imagine the assembly vector instructions from it</a:t>
            </a:r>
            <a:endParaRPr lang="en-US" altLang="zh-CN"/>
          </a:p>
        </p:txBody>
      </p:sp>
    </p:spTree>
    <p:extLst>
      <p:ext uri="{BB962C8B-B14F-4D97-AF65-F5344CB8AC3E}">
        <p14:creationId xmlns:p14="http://schemas.microsoft.com/office/powerpoint/2010/main" val="202996754"/>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Original Vector Example with dependency</a:t>
            </a:r>
          </a:p>
        </p:txBody>
      </p:sp>
      <p:sp>
        <p:nvSpPr>
          <p:cNvPr id="103427" name="Rectangle 3"/>
          <p:cNvSpPr>
            <a:spLocks noGrp="1" noChangeArrowheads="1"/>
          </p:cNvSpPr>
          <p:nvPr>
            <p:ph type="body" idx="1"/>
          </p:nvPr>
        </p:nvSpPr>
        <p:spPr>
          <a:xfrm>
            <a:off x="1600200" y="1628800"/>
            <a:ext cx="8991600" cy="3933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lnSpc>
                <a:spcPct val="70000"/>
              </a:lnSpc>
              <a:buFont typeface="Wingdings" panose="05000000000000000000" pitchFamily="2" charset="2"/>
              <a:buNone/>
            </a:pPr>
            <a:r>
              <a:rPr lang="en-US" altLang="zh-CN" sz="2400" b="1" dirty="0">
                <a:latin typeface="Courier New" panose="02070309020205020404" pitchFamily="49" charset="0"/>
              </a:rPr>
              <a:t>/* Multiply a[m][k] * b[k][n] to get c[m][n] */</a:t>
            </a:r>
          </a:p>
          <a:p>
            <a:pPr>
              <a:lnSpc>
                <a:spcPct val="70000"/>
              </a:lnSpc>
              <a:buFont typeface="Wingdings" panose="05000000000000000000" pitchFamily="2" charset="2"/>
              <a:buNone/>
            </a:pPr>
            <a:r>
              <a:rPr lang="en-US" altLang="zh-CN" sz="2400" b="1" dirty="0">
                <a:latin typeface="Courier New" panose="02070309020205020404" pitchFamily="49" charset="0"/>
              </a:rPr>
              <a:t>for (</a:t>
            </a:r>
            <a:r>
              <a:rPr lang="en-US" altLang="zh-CN" sz="2400" b="1" dirty="0" err="1">
                <a:latin typeface="Courier New" panose="02070309020205020404" pitchFamily="49" charset="0"/>
              </a:rPr>
              <a:t>i</a:t>
            </a:r>
            <a:r>
              <a:rPr lang="en-US" altLang="zh-CN" sz="2400" b="1" dirty="0">
                <a:latin typeface="Courier New" panose="02070309020205020404" pitchFamily="49" charset="0"/>
              </a:rPr>
              <a:t>=1; </a:t>
            </a:r>
            <a:r>
              <a:rPr lang="en-US" altLang="zh-CN" sz="2400" b="1" dirty="0" err="1">
                <a:latin typeface="Courier New" panose="02070309020205020404" pitchFamily="49" charset="0"/>
              </a:rPr>
              <a:t>i</a:t>
            </a:r>
            <a:r>
              <a:rPr lang="en-US" altLang="zh-CN" sz="2400" b="1" dirty="0">
                <a:latin typeface="Courier New" panose="02070309020205020404" pitchFamily="49" charset="0"/>
              </a:rPr>
              <a:t>&lt;m; </a:t>
            </a:r>
            <a:r>
              <a:rPr lang="en-US" altLang="zh-CN" sz="2400" b="1" dirty="0" err="1">
                <a:latin typeface="Courier New" panose="02070309020205020404" pitchFamily="49" charset="0"/>
              </a:rPr>
              <a:t>i</a:t>
            </a:r>
            <a:r>
              <a:rPr lang="en-US" altLang="zh-CN" sz="2400" b="1" dirty="0">
                <a:latin typeface="Courier New" panose="02070309020205020404" pitchFamily="49" charset="0"/>
              </a:rPr>
              <a:t>++)</a:t>
            </a:r>
          </a:p>
          <a:p>
            <a:pPr>
              <a:lnSpc>
                <a:spcPct val="70000"/>
              </a:lnSpc>
              <a:buFont typeface="Wingdings" panose="05000000000000000000" pitchFamily="2" charset="2"/>
              <a:buNone/>
            </a:pPr>
            <a:r>
              <a:rPr lang="en-US" altLang="zh-CN" sz="2400" b="1" dirty="0">
                <a:latin typeface="Courier New" panose="02070309020205020404" pitchFamily="49" charset="0"/>
              </a:rPr>
              <a:t>{       </a:t>
            </a:r>
          </a:p>
          <a:p>
            <a:pPr>
              <a:lnSpc>
                <a:spcPct val="70000"/>
              </a:lnSpc>
              <a:buFont typeface="Wingdings" panose="05000000000000000000" pitchFamily="2" charset="2"/>
              <a:buNone/>
            </a:pPr>
            <a:r>
              <a:rPr lang="en-US" altLang="zh-CN" sz="2400" b="1" dirty="0">
                <a:latin typeface="Courier New" panose="02070309020205020404" pitchFamily="49" charset="0"/>
              </a:rPr>
              <a:t>    for (j=1; j&lt;n; </a:t>
            </a:r>
            <a:r>
              <a:rPr lang="en-US" altLang="zh-CN" sz="2400" b="1" dirty="0" err="1">
                <a:latin typeface="Courier New" panose="02070309020205020404" pitchFamily="49" charset="0"/>
              </a:rPr>
              <a:t>j++</a:t>
            </a:r>
            <a:r>
              <a:rPr lang="en-US" altLang="zh-CN" sz="2400" b="1" dirty="0">
                <a:latin typeface="Courier New" panose="02070309020205020404" pitchFamily="49" charset="0"/>
              </a:rPr>
              <a:t>)</a:t>
            </a:r>
          </a:p>
          <a:p>
            <a:pPr>
              <a:lnSpc>
                <a:spcPct val="70000"/>
              </a:lnSpc>
              <a:buFont typeface="Wingdings" panose="05000000000000000000" pitchFamily="2" charset="2"/>
              <a:buNone/>
            </a:pPr>
            <a:r>
              <a:rPr lang="en-US" altLang="zh-CN" sz="2400" b="1" dirty="0">
                <a:latin typeface="Courier New" panose="02070309020205020404" pitchFamily="49" charset="0"/>
              </a:rPr>
              <a:t>    {</a:t>
            </a:r>
          </a:p>
          <a:p>
            <a:pPr>
              <a:lnSpc>
                <a:spcPct val="70000"/>
              </a:lnSpc>
              <a:buFont typeface="Wingdings" panose="05000000000000000000" pitchFamily="2" charset="2"/>
              <a:buNone/>
            </a:pPr>
            <a:r>
              <a:rPr lang="en-US" altLang="zh-CN" sz="2400" b="1" dirty="0">
                <a:latin typeface="Courier New" panose="02070309020205020404" pitchFamily="49" charset="0"/>
              </a:rPr>
              <a:t>        sum = 0;</a:t>
            </a:r>
          </a:p>
          <a:p>
            <a:pPr>
              <a:lnSpc>
                <a:spcPct val="70000"/>
              </a:lnSpc>
              <a:buFont typeface="Wingdings" panose="05000000000000000000" pitchFamily="2" charset="2"/>
              <a:buNone/>
            </a:pPr>
            <a:r>
              <a:rPr lang="en-US" altLang="zh-CN" sz="2400" b="1" dirty="0">
                <a:latin typeface="Courier New" panose="02070309020205020404" pitchFamily="49" charset="0"/>
              </a:rPr>
              <a:t>        for (t=1; t&lt;k; t++)</a:t>
            </a:r>
          </a:p>
          <a:p>
            <a:pPr>
              <a:lnSpc>
                <a:spcPct val="70000"/>
              </a:lnSpc>
              <a:buFont typeface="Wingdings" panose="05000000000000000000" pitchFamily="2" charset="2"/>
              <a:buNone/>
            </a:pPr>
            <a:r>
              <a:rPr lang="en-US" altLang="zh-CN" sz="2400" b="1" dirty="0">
                <a:latin typeface="Courier New" panose="02070309020205020404" pitchFamily="49" charset="0"/>
              </a:rPr>
              <a:t>        {</a:t>
            </a:r>
          </a:p>
          <a:p>
            <a:pPr>
              <a:lnSpc>
                <a:spcPct val="70000"/>
              </a:lnSpc>
              <a:buFont typeface="Wingdings" panose="05000000000000000000" pitchFamily="2" charset="2"/>
              <a:buNone/>
            </a:pPr>
            <a:r>
              <a:rPr lang="en-US" altLang="zh-CN" sz="2400" b="1" dirty="0">
                <a:latin typeface="Courier New" panose="02070309020205020404" pitchFamily="49" charset="0"/>
              </a:rPr>
              <a:t>            </a:t>
            </a:r>
            <a:r>
              <a:rPr lang="en-US" altLang="zh-CN" sz="2400" b="1" u="sng" dirty="0">
                <a:solidFill>
                  <a:schemeClr val="hlink"/>
                </a:solidFill>
                <a:latin typeface="Courier New" panose="02070309020205020404" pitchFamily="49" charset="0"/>
              </a:rPr>
              <a:t>sum += a[</a:t>
            </a:r>
            <a:r>
              <a:rPr lang="en-US" altLang="zh-CN" sz="2400" b="1" u="sng" dirty="0" err="1">
                <a:solidFill>
                  <a:schemeClr val="hlink"/>
                </a:solidFill>
                <a:latin typeface="Courier New" panose="02070309020205020404" pitchFamily="49" charset="0"/>
              </a:rPr>
              <a:t>i</a:t>
            </a:r>
            <a:r>
              <a:rPr lang="en-US" altLang="zh-CN" sz="2400" b="1" u="sng" dirty="0">
                <a:solidFill>
                  <a:schemeClr val="hlink"/>
                </a:solidFill>
                <a:latin typeface="Courier New" panose="02070309020205020404" pitchFamily="49" charset="0"/>
              </a:rPr>
              <a:t>][t] * b[t][j]</a:t>
            </a:r>
            <a:r>
              <a:rPr lang="en-US" altLang="zh-CN" sz="2400" b="1" dirty="0">
                <a:latin typeface="Courier New" panose="02070309020205020404" pitchFamily="49" charset="0"/>
              </a:rPr>
              <a:t>;</a:t>
            </a:r>
          </a:p>
          <a:p>
            <a:pPr>
              <a:lnSpc>
                <a:spcPct val="70000"/>
              </a:lnSpc>
              <a:buFont typeface="Wingdings" panose="05000000000000000000" pitchFamily="2" charset="2"/>
              <a:buNone/>
            </a:pPr>
            <a:r>
              <a:rPr lang="en-US" altLang="zh-CN" sz="2400" b="1" dirty="0">
                <a:latin typeface="Courier New" panose="02070309020205020404" pitchFamily="49" charset="0"/>
              </a:rPr>
              <a:t>        }</a:t>
            </a:r>
          </a:p>
          <a:p>
            <a:pPr>
              <a:lnSpc>
                <a:spcPct val="70000"/>
              </a:lnSpc>
              <a:buFont typeface="Wingdings" panose="05000000000000000000" pitchFamily="2" charset="2"/>
              <a:buNone/>
            </a:pPr>
            <a:r>
              <a:rPr lang="en-US" altLang="zh-CN" sz="2400" b="1" dirty="0">
                <a:latin typeface="Courier New" panose="02070309020205020404" pitchFamily="49" charset="0"/>
              </a:rPr>
              <a:t>        c[</a:t>
            </a:r>
            <a:r>
              <a:rPr lang="en-US" altLang="zh-CN" sz="2400" b="1" dirty="0" err="1">
                <a:latin typeface="Courier New" panose="02070309020205020404" pitchFamily="49" charset="0"/>
              </a:rPr>
              <a:t>i</a:t>
            </a:r>
            <a:r>
              <a:rPr lang="en-US" altLang="zh-CN" sz="2400" b="1" dirty="0">
                <a:latin typeface="Courier New" panose="02070309020205020404" pitchFamily="49" charset="0"/>
              </a:rPr>
              <a:t>][j] = sum;</a:t>
            </a:r>
          </a:p>
          <a:p>
            <a:pPr>
              <a:lnSpc>
                <a:spcPct val="70000"/>
              </a:lnSpc>
              <a:buFont typeface="Wingdings" panose="05000000000000000000" pitchFamily="2" charset="2"/>
              <a:buNone/>
            </a:pPr>
            <a:r>
              <a:rPr lang="en-US" altLang="zh-CN" sz="2400" b="1" dirty="0">
                <a:latin typeface="Courier New" panose="02070309020205020404" pitchFamily="49" charset="0"/>
              </a:rPr>
              <a:t>    }</a:t>
            </a:r>
          </a:p>
          <a:p>
            <a:pPr>
              <a:lnSpc>
                <a:spcPct val="70000"/>
              </a:lnSpc>
              <a:buFont typeface="Wingdings" panose="05000000000000000000" pitchFamily="2" charset="2"/>
              <a:buNone/>
            </a:pPr>
            <a:r>
              <a:rPr lang="en-US" altLang="zh-CN" sz="2400" b="1" dirty="0">
                <a:latin typeface="Courier New" panose="02070309020205020404" pitchFamily="49" charset="0"/>
              </a:rPr>
              <a:t>}</a:t>
            </a:r>
          </a:p>
        </p:txBody>
      </p:sp>
    </p:spTree>
    <p:extLst>
      <p:ext uri="{BB962C8B-B14F-4D97-AF65-F5344CB8AC3E}">
        <p14:creationId xmlns:p14="http://schemas.microsoft.com/office/powerpoint/2010/main" val="3470066913"/>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a:xfrm>
            <a:off x="2552700" y="95250"/>
            <a:ext cx="7162800"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Optimized Vector Example</a:t>
            </a:r>
          </a:p>
        </p:txBody>
      </p:sp>
      <p:sp>
        <p:nvSpPr>
          <p:cNvPr id="104451" name="Rectangle 3"/>
          <p:cNvSpPr>
            <a:spLocks noGrp="1" noChangeArrowheads="1"/>
          </p:cNvSpPr>
          <p:nvPr>
            <p:ph type="body" idx="1"/>
          </p:nvPr>
        </p:nvSpPr>
        <p:spPr>
          <a:xfrm>
            <a:off x="1657350" y="1676400"/>
            <a:ext cx="8991600" cy="4114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lnSpc>
                <a:spcPct val="70000"/>
              </a:lnSpc>
              <a:buFont typeface="Wingdings" panose="05000000000000000000" pitchFamily="2" charset="2"/>
              <a:buNone/>
            </a:pPr>
            <a:r>
              <a:rPr lang="en-US" altLang="zh-CN" sz="2000" b="1" dirty="0">
                <a:latin typeface="Courier New" panose="02070309020205020404" pitchFamily="49" charset="0"/>
              </a:rPr>
              <a:t>/* Multiply a[m][k] * b[k][n] to get c[m][n] */</a:t>
            </a:r>
          </a:p>
          <a:p>
            <a:pPr>
              <a:lnSpc>
                <a:spcPct val="70000"/>
              </a:lnSpc>
              <a:buFont typeface="Wingdings" panose="05000000000000000000" pitchFamily="2" charset="2"/>
              <a:buNone/>
            </a:pPr>
            <a:r>
              <a:rPr lang="en-US" altLang="zh-CN" sz="2000" b="1" dirty="0">
                <a:latin typeface="Courier New" panose="02070309020205020404" pitchFamily="49" charset="0"/>
              </a:rPr>
              <a:t>for (</a:t>
            </a:r>
            <a:r>
              <a:rPr lang="en-US" altLang="zh-CN" sz="2000" b="1" dirty="0" err="1">
                <a:latin typeface="Courier New" panose="02070309020205020404" pitchFamily="49" charset="0"/>
              </a:rPr>
              <a:t>i</a:t>
            </a:r>
            <a:r>
              <a:rPr lang="en-US" altLang="zh-CN" sz="2000" b="1" dirty="0">
                <a:latin typeface="Courier New" panose="02070309020205020404" pitchFamily="49" charset="0"/>
              </a:rPr>
              <a:t>=1; </a:t>
            </a:r>
            <a:r>
              <a:rPr lang="en-US" altLang="zh-CN" sz="2000" b="1" dirty="0" err="1">
                <a:latin typeface="Courier New" panose="02070309020205020404" pitchFamily="49" charset="0"/>
              </a:rPr>
              <a:t>i</a:t>
            </a:r>
            <a:r>
              <a:rPr lang="en-US" altLang="zh-CN" sz="2000" b="1" dirty="0">
                <a:latin typeface="Courier New" panose="02070309020205020404" pitchFamily="49" charset="0"/>
              </a:rPr>
              <a:t>&lt;m; </a:t>
            </a:r>
            <a:r>
              <a:rPr lang="en-US" altLang="zh-CN" sz="2000" b="1" dirty="0" err="1">
                <a:latin typeface="Courier New" panose="02070309020205020404" pitchFamily="49" charset="0"/>
              </a:rPr>
              <a:t>i</a:t>
            </a:r>
            <a:r>
              <a:rPr lang="en-US" altLang="zh-CN" sz="2000" b="1" dirty="0">
                <a:latin typeface="Courier New" panose="02070309020205020404" pitchFamily="49" charset="0"/>
              </a:rPr>
              <a:t>++)</a:t>
            </a:r>
          </a:p>
          <a:p>
            <a:pPr>
              <a:lnSpc>
                <a:spcPct val="70000"/>
              </a:lnSpc>
              <a:buFont typeface="Wingdings" panose="05000000000000000000" pitchFamily="2" charset="2"/>
              <a:buNone/>
            </a:pPr>
            <a:r>
              <a:rPr lang="en-US" altLang="zh-CN" sz="2000" b="1" dirty="0">
                <a:latin typeface="Courier New" panose="02070309020205020404" pitchFamily="49" charset="0"/>
              </a:rPr>
              <a:t>{       </a:t>
            </a:r>
          </a:p>
          <a:p>
            <a:pPr>
              <a:lnSpc>
                <a:spcPct val="70000"/>
              </a:lnSpc>
              <a:buFont typeface="Wingdings" panose="05000000000000000000" pitchFamily="2" charset="2"/>
              <a:buNone/>
            </a:pPr>
            <a:r>
              <a:rPr lang="en-US" altLang="zh-CN" sz="2000" b="1" dirty="0">
                <a:latin typeface="Courier New" panose="02070309020205020404" pitchFamily="49" charset="0"/>
              </a:rPr>
              <a:t> for (j=1; j&lt;n; j+=</a:t>
            </a:r>
            <a:r>
              <a:rPr lang="en-US" altLang="zh-CN" sz="2000" b="1" u="sng" dirty="0">
                <a:solidFill>
                  <a:schemeClr val="hlink"/>
                </a:solidFill>
                <a:latin typeface="Courier New" panose="02070309020205020404" pitchFamily="49" charset="0"/>
              </a:rPr>
              <a:t>32</a:t>
            </a:r>
            <a:r>
              <a:rPr lang="en-US" altLang="zh-CN" sz="2000" b="1" dirty="0">
                <a:latin typeface="Courier New" panose="02070309020205020404" pitchFamily="49" charset="0"/>
              </a:rPr>
              <a:t>)/* Step j 32 at a time. */</a:t>
            </a:r>
          </a:p>
          <a:p>
            <a:pPr>
              <a:lnSpc>
                <a:spcPct val="70000"/>
              </a:lnSpc>
              <a:buFont typeface="Wingdings" panose="05000000000000000000" pitchFamily="2" charset="2"/>
              <a:buNone/>
            </a:pPr>
            <a:r>
              <a:rPr lang="en-US" altLang="zh-CN" sz="2000" b="1" dirty="0">
                <a:latin typeface="Courier New" panose="02070309020205020404" pitchFamily="49" charset="0"/>
              </a:rPr>
              <a:t>    {</a:t>
            </a:r>
          </a:p>
          <a:p>
            <a:pPr>
              <a:lnSpc>
                <a:spcPct val="70000"/>
              </a:lnSpc>
              <a:buFont typeface="Wingdings" panose="05000000000000000000" pitchFamily="2" charset="2"/>
              <a:buNone/>
            </a:pPr>
            <a:r>
              <a:rPr lang="en-US" altLang="zh-CN" sz="2000" b="1" dirty="0">
                <a:latin typeface="Courier New" panose="02070309020205020404" pitchFamily="49" charset="0"/>
              </a:rPr>
              <a:t>        sum</a:t>
            </a:r>
            <a:r>
              <a:rPr lang="en-US" altLang="zh-CN" sz="2000" b="1" u="sng" dirty="0">
                <a:solidFill>
                  <a:schemeClr val="hlink"/>
                </a:solidFill>
                <a:latin typeface="Courier New" panose="02070309020205020404" pitchFamily="49" charset="0"/>
              </a:rPr>
              <a:t>[0:31] </a:t>
            </a:r>
            <a:r>
              <a:rPr lang="en-US" altLang="zh-CN" sz="2000" b="1" dirty="0">
                <a:latin typeface="Courier New" panose="02070309020205020404" pitchFamily="49" charset="0"/>
              </a:rPr>
              <a:t>= 0; /* Initialize a vector 					register to zeros. */</a:t>
            </a:r>
          </a:p>
          <a:p>
            <a:pPr>
              <a:lnSpc>
                <a:spcPct val="70000"/>
              </a:lnSpc>
              <a:buFont typeface="Wingdings" panose="05000000000000000000" pitchFamily="2" charset="2"/>
              <a:buNone/>
            </a:pPr>
            <a:r>
              <a:rPr lang="en-US" altLang="zh-CN" sz="2000" b="1" dirty="0">
                <a:latin typeface="Courier New" panose="02070309020205020404" pitchFamily="49" charset="0"/>
              </a:rPr>
              <a:t>        for (t=1; t&lt;k; t++)</a:t>
            </a:r>
          </a:p>
          <a:p>
            <a:pPr>
              <a:lnSpc>
                <a:spcPct val="70000"/>
              </a:lnSpc>
              <a:buFont typeface="Wingdings" panose="05000000000000000000" pitchFamily="2" charset="2"/>
              <a:buNone/>
            </a:pPr>
            <a:r>
              <a:rPr lang="en-US" altLang="zh-CN" sz="2000" b="1" dirty="0">
                <a:latin typeface="Courier New" panose="02070309020205020404" pitchFamily="49" charset="0"/>
              </a:rPr>
              <a:t>        {</a:t>
            </a:r>
          </a:p>
          <a:p>
            <a:pPr>
              <a:lnSpc>
                <a:spcPct val="70000"/>
              </a:lnSpc>
              <a:buFont typeface="Wingdings" panose="05000000000000000000" pitchFamily="2" charset="2"/>
              <a:buNone/>
            </a:pPr>
            <a:r>
              <a:rPr lang="en-US" altLang="zh-CN" sz="2000" b="1" dirty="0">
                <a:latin typeface="Courier New" panose="02070309020205020404" pitchFamily="49" charset="0"/>
              </a:rPr>
              <a:t>         </a:t>
            </a:r>
            <a:r>
              <a:rPr lang="en-US" altLang="zh-CN" sz="2000" b="1" dirty="0" err="1">
                <a:solidFill>
                  <a:schemeClr val="hlink"/>
                </a:solidFill>
                <a:latin typeface="Courier New" panose="02070309020205020404" pitchFamily="49" charset="0"/>
              </a:rPr>
              <a:t>a_scalar</a:t>
            </a:r>
            <a:r>
              <a:rPr lang="en-US" altLang="zh-CN" sz="2000" b="1" dirty="0">
                <a:solidFill>
                  <a:schemeClr val="hlink"/>
                </a:solidFill>
                <a:latin typeface="Courier New" panose="02070309020205020404" pitchFamily="49" charset="0"/>
              </a:rPr>
              <a:t> = a[</a:t>
            </a:r>
            <a:r>
              <a:rPr lang="en-US" altLang="zh-CN" sz="2000" b="1" dirty="0" err="1">
                <a:solidFill>
                  <a:schemeClr val="hlink"/>
                </a:solidFill>
                <a:latin typeface="Courier New" panose="02070309020205020404" pitchFamily="49" charset="0"/>
              </a:rPr>
              <a:t>i</a:t>
            </a:r>
            <a:r>
              <a:rPr lang="en-US" altLang="zh-CN" sz="2000" b="1" dirty="0">
                <a:solidFill>
                  <a:schemeClr val="hlink"/>
                </a:solidFill>
                <a:latin typeface="Courier New" panose="02070309020205020404" pitchFamily="49" charset="0"/>
              </a:rPr>
              <a:t>][t]</a:t>
            </a:r>
            <a:r>
              <a:rPr lang="en-US" altLang="zh-CN" sz="2000" b="1" dirty="0">
                <a:latin typeface="Courier New" panose="02070309020205020404" pitchFamily="49" charset="0"/>
              </a:rPr>
              <a:t>; /* Get scalar from 						  a matrix. */</a:t>
            </a:r>
          </a:p>
          <a:p>
            <a:pPr>
              <a:lnSpc>
                <a:spcPct val="70000"/>
              </a:lnSpc>
              <a:buFont typeface="Wingdings" panose="05000000000000000000" pitchFamily="2" charset="2"/>
              <a:buNone/>
            </a:pPr>
            <a:r>
              <a:rPr lang="en-US" altLang="zh-CN" sz="2000" b="1" dirty="0">
                <a:latin typeface="Courier New" panose="02070309020205020404" pitchFamily="49" charset="0"/>
              </a:rPr>
              <a:t>         </a:t>
            </a:r>
            <a:r>
              <a:rPr lang="en-US" altLang="zh-CN" sz="2000" b="1" dirty="0" err="1">
                <a:solidFill>
                  <a:schemeClr val="hlink"/>
                </a:solidFill>
                <a:latin typeface="Courier New" panose="02070309020205020404" pitchFamily="49" charset="0"/>
              </a:rPr>
              <a:t>b_vector</a:t>
            </a:r>
            <a:r>
              <a:rPr lang="en-US" altLang="zh-CN" sz="2000" b="1" u="sng" dirty="0">
                <a:solidFill>
                  <a:schemeClr val="hlink"/>
                </a:solidFill>
                <a:latin typeface="Courier New" panose="02070309020205020404" pitchFamily="49" charset="0"/>
              </a:rPr>
              <a:t>[0:31]</a:t>
            </a:r>
            <a:r>
              <a:rPr lang="en-US" altLang="zh-CN" sz="2000" b="1" dirty="0">
                <a:solidFill>
                  <a:schemeClr val="hlink"/>
                </a:solidFill>
                <a:latin typeface="Courier New" panose="02070309020205020404" pitchFamily="49" charset="0"/>
              </a:rPr>
              <a:t> = b[t][j:</a:t>
            </a:r>
            <a:r>
              <a:rPr lang="en-US" altLang="zh-CN" sz="2000" b="1" u="sng" dirty="0">
                <a:solidFill>
                  <a:schemeClr val="hlink"/>
                </a:solidFill>
                <a:latin typeface="Courier New" panose="02070309020205020404" pitchFamily="49" charset="0"/>
              </a:rPr>
              <a:t>j+31</a:t>
            </a:r>
            <a:r>
              <a:rPr lang="en-US" altLang="zh-CN" sz="2000" b="1" dirty="0">
                <a:solidFill>
                  <a:schemeClr val="hlink"/>
                </a:solidFill>
                <a:latin typeface="Courier New" panose="02070309020205020404" pitchFamily="49" charset="0"/>
              </a:rPr>
              <a:t>]</a:t>
            </a:r>
            <a:r>
              <a:rPr lang="en-US" altLang="zh-CN" sz="2000" b="1" dirty="0">
                <a:latin typeface="Courier New" panose="02070309020205020404" pitchFamily="49" charset="0"/>
              </a:rPr>
              <a:t>; </a:t>
            </a:r>
            <a:br>
              <a:rPr lang="en-US" altLang="zh-CN" sz="2000" b="1" dirty="0">
                <a:latin typeface="Courier New" panose="02070309020205020404" pitchFamily="49" charset="0"/>
              </a:rPr>
            </a:br>
            <a:r>
              <a:rPr lang="en-US" altLang="zh-CN" sz="2000" b="1" dirty="0">
                <a:latin typeface="Courier New" panose="02070309020205020404" pitchFamily="49" charset="0"/>
              </a:rPr>
              <a:t>						/* Get vector from 						   b matrix. */           </a:t>
            </a:r>
          </a:p>
          <a:p>
            <a:pPr>
              <a:lnSpc>
                <a:spcPct val="70000"/>
              </a:lnSpc>
              <a:buFont typeface="Wingdings" panose="05000000000000000000" pitchFamily="2" charset="2"/>
              <a:buNone/>
            </a:pPr>
            <a:r>
              <a:rPr lang="en-US" altLang="zh-CN" sz="2000" b="1" dirty="0">
                <a:latin typeface="Courier New" panose="02070309020205020404" pitchFamily="49" charset="0"/>
              </a:rPr>
              <a:t>         </a:t>
            </a:r>
            <a:r>
              <a:rPr lang="en-US" altLang="zh-CN" sz="2000" b="1" dirty="0">
                <a:solidFill>
                  <a:schemeClr val="hlink"/>
                </a:solidFill>
                <a:latin typeface="Courier New" panose="02070309020205020404" pitchFamily="49" charset="0"/>
              </a:rPr>
              <a:t>prod</a:t>
            </a:r>
            <a:r>
              <a:rPr lang="en-US" altLang="zh-CN" sz="2000" b="1" u="sng" dirty="0">
                <a:solidFill>
                  <a:schemeClr val="hlink"/>
                </a:solidFill>
                <a:latin typeface="Courier New" panose="02070309020205020404" pitchFamily="49" charset="0"/>
              </a:rPr>
              <a:t>[0:31]</a:t>
            </a:r>
            <a:r>
              <a:rPr lang="en-US" altLang="zh-CN" sz="2000" b="1" dirty="0">
                <a:solidFill>
                  <a:schemeClr val="hlink"/>
                </a:solidFill>
                <a:latin typeface="Courier New" panose="02070309020205020404" pitchFamily="49" charset="0"/>
              </a:rPr>
              <a:t> = </a:t>
            </a:r>
            <a:r>
              <a:rPr lang="en-US" altLang="zh-CN" sz="2000" b="1" dirty="0" err="1">
                <a:solidFill>
                  <a:schemeClr val="hlink"/>
                </a:solidFill>
                <a:latin typeface="Courier New" panose="02070309020205020404" pitchFamily="49" charset="0"/>
              </a:rPr>
              <a:t>b_vector</a:t>
            </a:r>
            <a:r>
              <a:rPr lang="en-US" altLang="zh-CN" sz="2000" b="1" u="sng" dirty="0">
                <a:solidFill>
                  <a:schemeClr val="hlink"/>
                </a:solidFill>
                <a:latin typeface="Courier New" panose="02070309020205020404" pitchFamily="49" charset="0"/>
              </a:rPr>
              <a:t>[0:31]</a:t>
            </a:r>
            <a:r>
              <a:rPr lang="en-US" altLang="zh-CN" sz="2000" b="1" dirty="0">
                <a:solidFill>
                  <a:schemeClr val="hlink"/>
                </a:solidFill>
                <a:latin typeface="Courier New" panose="02070309020205020404" pitchFamily="49" charset="0"/>
              </a:rPr>
              <a:t>*</a:t>
            </a:r>
            <a:r>
              <a:rPr lang="en-US" altLang="zh-CN" sz="2000" b="1" dirty="0" err="1">
                <a:solidFill>
                  <a:schemeClr val="hlink"/>
                </a:solidFill>
                <a:latin typeface="Courier New" panose="02070309020205020404" pitchFamily="49" charset="0"/>
              </a:rPr>
              <a:t>a_scalar</a:t>
            </a:r>
            <a:r>
              <a:rPr lang="en-US" altLang="zh-CN" sz="2000" b="1" dirty="0">
                <a:solidFill>
                  <a:schemeClr val="hlink"/>
                </a:solidFill>
                <a:latin typeface="Courier New" panose="02070309020205020404" pitchFamily="49" charset="0"/>
              </a:rPr>
              <a:t>;</a:t>
            </a:r>
          </a:p>
          <a:p>
            <a:pPr>
              <a:lnSpc>
                <a:spcPct val="70000"/>
              </a:lnSpc>
              <a:buFont typeface="Wingdings" panose="05000000000000000000" pitchFamily="2" charset="2"/>
              <a:buNone/>
            </a:pPr>
            <a:r>
              <a:rPr lang="en-US" altLang="zh-CN" sz="2000" b="1" dirty="0">
                <a:latin typeface="Courier New" panose="02070309020205020404" pitchFamily="49" charset="0"/>
              </a:rPr>
              <a:t>		    /* Do a vector-scalar multiply. */</a:t>
            </a:r>
          </a:p>
          <a:p>
            <a:pPr>
              <a:lnSpc>
                <a:spcPct val="70000"/>
              </a:lnSpc>
              <a:buFont typeface="Wingdings" panose="05000000000000000000" pitchFamily="2" charset="2"/>
              <a:buNone/>
            </a:pPr>
            <a:endParaRPr lang="en-US" altLang="zh-CN" sz="2000" b="1" dirty="0">
              <a:latin typeface="Courier New" panose="02070309020205020404" pitchFamily="49" charset="0"/>
            </a:endParaRPr>
          </a:p>
        </p:txBody>
      </p:sp>
    </p:spTree>
    <p:extLst>
      <p:ext uri="{BB962C8B-B14F-4D97-AF65-F5344CB8AC3E}">
        <p14:creationId xmlns:p14="http://schemas.microsoft.com/office/powerpoint/2010/main" val="3139439068"/>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a:xfrm>
            <a:off x="911424" y="332656"/>
            <a:ext cx="9189268"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Optimized Vector Example cont’d</a:t>
            </a:r>
          </a:p>
        </p:txBody>
      </p:sp>
      <p:sp>
        <p:nvSpPr>
          <p:cNvPr id="105475" name="Rectangle 3"/>
          <p:cNvSpPr>
            <a:spLocks noGrp="1" noChangeArrowheads="1"/>
          </p:cNvSpPr>
          <p:nvPr>
            <p:ph type="body" idx="1"/>
          </p:nvPr>
        </p:nvSpPr>
        <p:spPr>
          <a:xfrm>
            <a:off x="1631504" y="1556792"/>
            <a:ext cx="8991600" cy="4114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lnSpc>
                <a:spcPct val="70000"/>
              </a:lnSpc>
              <a:buFont typeface="Wingdings" panose="05000000000000000000" pitchFamily="2" charset="2"/>
              <a:buNone/>
            </a:pPr>
            <a:endParaRPr lang="en-US" altLang="zh-CN">
              <a:latin typeface="Courier New" panose="02070309020205020404" pitchFamily="49" charset="0"/>
            </a:endParaRPr>
          </a:p>
          <a:p>
            <a:pPr>
              <a:lnSpc>
                <a:spcPct val="70000"/>
              </a:lnSpc>
              <a:buFont typeface="Wingdings" panose="05000000000000000000" pitchFamily="2" charset="2"/>
              <a:buNone/>
            </a:pPr>
            <a:endParaRPr lang="en-US" altLang="zh-CN" b="1">
              <a:latin typeface="Courier New" panose="02070309020205020404" pitchFamily="49" charset="0"/>
            </a:endParaRPr>
          </a:p>
          <a:p>
            <a:pPr>
              <a:lnSpc>
                <a:spcPct val="70000"/>
              </a:lnSpc>
              <a:buFont typeface="Wingdings" panose="05000000000000000000" pitchFamily="2" charset="2"/>
              <a:buNone/>
            </a:pPr>
            <a:r>
              <a:rPr lang="en-US" altLang="zh-CN" b="1">
                <a:latin typeface="Courier New" panose="02070309020205020404" pitchFamily="49" charset="0"/>
              </a:rPr>
              <a:t>           /* Vector-vector add into results. */</a:t>
            </a:r>
          </a:p>
          <a:p>
            <a:pPr>
              <a:lnSpc>
                <a:spcPct val="70000"/>
              </a:lnSpc>
              <a:buFont typeface="Wingdings" panose="05000000000000000000" pitchFamily="2" charset="2"/>
              <a:buNone/>
            </a:pPr>
            <a:r>
              <a:rPr lang="en-US" altLang="zh-CN" b="1">
                <a:latin typeface="Courier New" panose="02070309020205020404" pitchFamily="49" charset="0"/>
              </a:rPr>
              <a:t>           sum</a:t>
            </a:r>
            <a:r>
              <a:rPr lang="en-US" altLang="zh-CN" b="1" u="sng">
                <a:solidFill>
                  <a:schemeClr val="hlink"/>
                </a:solidFill>
                <a:latin typeface="Courier New" panose="02070309020205020404" pitchFamily="49" charset="0"/>
              </a:rPr>
              <a:t>[0:31] </a:t>
            </a:r>
            <a:r>
              <a:rPr lang="en-US" altLang="zh-CN" b="1">
                <a:latin typeface="Courier New" panose="02070309020205020404" pitchFamily="49" charset="0"/>
              </a:rPr>
              <a:t>+= </a:t>
            </a:r>
            <a:r>
              <a:rPr lang="en-US" altLang="zh-CN" b="1" u="sng">
                <a:solidFill>
                  <a:schemeClr val="hlink"/>
                </a:solidFill>
                <a:latin typeface="Courier New" panose="02070309020205020404" pitchFamily="49" charset="0"/>
              </a:rPr>
              <a:t>prod[0:31]</a:t>
            </a:r>
            <a:r>
              <a:rPr lang="en-US" altLang="zh-CN" b="1">
                <a:latin typeface="Courier New" panose="02070309020205020404" pitchFamily="49" charset="0"/>
              </a:rPr>
              <a:t>;</a:t>
            </a:r>
          </a:p>
          <a:p>
            <a:pPr>
              <a:lnSpc>
                <a:spcPct val="70000"/>
              </a:lnSpc>
              <a:buFont typeface="Wingdings" panose="05000000000000000000" pitchFamily="2" charset="2"/>
              <a:buNone/>
            </a:pPr>
            <a:r>
              <a:rPr lang="en-US" altLang="zh-CN" b="1">
                <a:latin typeface="Courier New" panose="02070309020205020404" pitchFamily="49" charset="0"/>
              </a:rPr>
              <a:t>        }</a:t>
            </a:r>
          </a:p>
          <a:p>
            <a:pPr>
              <a:lnSpc>
                <a:spcPct val="70000"/>
              </a:lnSpc>
              <a:buFont typeface="Wingdings" panose="05000000000000000000" pitchFamily="2" charset="2"/>
              <a:buNone/>
            </a:pPr>
            <a:endParaRPr lang="en-US" altLang="zh-CN" b="1">
              <a:latin typeface="Courier New" panose="02070309020205020404" pitchFamily="49" charset="0"/>
            </a:endParaRPr>
          </a:p>
          <a:p>
            <a:pPr>
              <a:lnSpc>
                <a:spcPct val="70000"/>
              </a:lnSpc>
              <a:buFont typeface="Wingdings" panose="05000000000000000000" pitchFamily="2" charset="2"/>
              <a:buNone/>
            </a:pPr>
            <a:r>
              <a:rPr lang="en-US" altLang="zh-CN" b="1">
                <a:latin typeface="Courier New" panose="02070309020205020404" pitchFamily="49" charset="0"/>
              </a:rPr>
              <a:t>        /* Unit-stride store of vector of 			 results. */</a:t>
            </a:r>
          </a:p>
          <a:p>
            <a:pPr>
              <a:lnSpc>
                <a:spcPct val="70000"/>
              </a:lnSpc>
              <a:buFont typeface="Wingdings" panose="05000000000000000000" pitchFamily="2" charset="2"/>
              <a:buNone/>
            </a:pPr>
            <a:r>
              <a:rPr lang="en-US" altLang="zh-CN" b="1">
                <a:latin typeface="Courier New" panose="02070309020205020404" pitchFamily="49" charset="0"/>
              </a:rPr>
              <a:t>        c[i][j</a:t>
            </a:r>
            <a:r>
              <a:rPr lang="en-US" altLang="zh-CN" b="1" u="sng">
                <a:solidFill>
                  <a:schemeClr val="hlink"/>
                </a:solidFill>
                <a:latin typeface="Courier New" panose="02070309020205020404" pitchFamily="49" charset="0"/>
              </a:rPr>
              <a:t>:j+31</a:t>
            </a:r>
            <a:r>
              <a:rPr lang="en-US" altLang="zh-CN" b="1">
                <a:latin typeface="Courier New" panose="02070309020205020404" pitchFamily="49" charset="0"/>
              </a:rPr>
              <a:t>] = sum</a:t>
            </a:r>
            <a:r>
              <a:rPr lang="en-US" altLang="zh-CN" b="1" u="sng">
                <a:solidFill>
                  <a:schemeClr val="hlink"/>
                </a:solidFill>
                <a:latin typeface="Courier New" panose="02070309020205020404" pitchFamily="49" charset="0"/>
              </a:rPr>
              <a:t>[0:31]</a:t>
            </a:r>
            <a:r>
              <a:rPr lang="en-US" altLang="zh-CN" b="1">
                <a:latin typeface="Courier New" panose="02070309020205020404" pitchFamily="49" charset="0"/>
              </a:rPr>
              <a:t>;</a:t>
            </a:r>
          </a:p>
          <a:p>
            <a:pPr>
              <a:lnSpc>
                <a:spcPct val="70000"/>
              </a:lnSpc>
              <a:buFont typeface="Wingdings" panose="05000000000000000000" pitchFamily="2" charset="2"/>
              <a:buNone/>
            </a:pPr>
            <a:r>
              <a:rPr lang="en-US" altLang="zh-CN" b="1">
                <a:latin typeface="Courier New" panose="02070309020205020404" pitchFamily="49" charset="0"/>
              </a:rPr>
              <a:t>    }</a:t>
            </a:r>
          </a:p>
          <a:p>
            <a:pPr>
              <a:lnSpc>
                <a:spcPct val="70000"/>
              </a:lnSpc>
              <a:buFont typeface="Wingdings" panose="05000000000000000000" pitchFamily="2" charset="2"/>
              <a:buNone/>
            </a:pPr>
            <a:r>
              <a:rPr lang="en-US" altLang="zh-CN" b="1">
                <a:latin typeface="Courier New" panose="02070309020205020404" pitchFamily="49" charset="0"/>
              </a:rPr>
              <a:t>}</a:t>
            </a:r>
          </a:p>
        </p:txBody>
      </p:sp>
    </p:spTree>
    <p:extLst>
      <p:ext uri="{BB962C8B-B14F-4D97-AF65-F5344CB8AC3E}">
        <p14:creationId xmlns:p14="http://schemas.microsoft.com/office/powerpoint/2010/main" val="1529652303"/>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Novel, Step #2</a:t>
            </a:r>
          </a:p>
        </p:txBody>
      </p:sp>
      <p:sp>
        <p:nvSpPr>
          <p:cNvPr id="106499" name="Rectangle 3"/>
          <p:cNvSpPr>
            <a:spLocks noGrp="1" noChangeArrowheads="1"/>
          </p:cNvSpPr>
          <p:nvPr>
            <p:ph type="body"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a:t>It's actually better to interchange the i and j loops, so that you only change vector length once during the whole matrix multiply</a:t>
            </a:r>
          </a:p>
          <a:p>
            <a:r>
              <a:rPr lang="en-US" altLang="zh-CN"/>
              <a:t>To get the absolute fastest code you have to do a little register blocking of the innermost loop.</a:t>
            </a:r>
          </a:p>
        </p:txBody>
      </p:sp>
    </p:spTree>
    <p:extLst>
      <p:ext uri="{BB962C8B-B14F-4D97-AF65-F5344CB8AC3E}">
        <p14:creationId xmlns:p14="http://schemas.microsoft.com/office/powerpoint/2010/main" val="855265146"/>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Designing a Vector Processor</a:t>
            </a:r>
          </a:p>
        </p:txBody>
      </p:sp>
      <p:sp>
        <p:nvSpPr>
          <p:cNvPr id="107523" name="Rectangle 3"/>
          <p:cNvSpPr>
            <a:spLocks noGrp="1" noChangeArrowheads="1"/>
          </p:cNvSpPr>
          <p:nvPr>
            <p:ph type="body"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a:t>Changes to scalar</a:t>
            </a:r>
          </a:p>
          <a:p>
            <a:r>
              <a:rPr lang="en-US" altLang="zh-CN"/>
              <a:t>How Pick Vector Length?</a:t>
            </a:r>
          </a:p>
          <a:p>
            <a:r>
              <a:rPr lang="en-US" altLang="zh-CN"/>
              <a:t>How Pick Number of Vector Registers?</a:t>
            </a:r>
          </a:p>
          <a:p>
            <a:r>
              <a:rPr lang="en-US" altLang="zh-CN"/>
              <a:t>Context switch overhead</a:t>
            </a:r>
          </a:p>
          <a:p>
            <a:r>
              <a:rPr lang="en-US" altLang="zh-CN"/>
              <a:t>Exception handling</a:t>
            </a:r>
          </a:p>
          <a:p>
            <a:r>
              <a:rPr lang="en-US" altLang="zh-CN"/>
              <a:t>Masking and Flag Instructions</a:t>
            </a:r>
          </a:p>
        </p:txBody>
      </p:sp>
    </p:spTree>
    <p:extLst>
      <p:ext uri="{BB962C8B-B14F-4D97-AF65-F5344CB8AC3E}">
        <p14:creationId xmlns:p14="http://schemas.microsoft.com/office/powerpoint/2010/main" val="1481239426"/>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Changes to scalar processor to run vector instructions</a:t>
            </a:r>
          </a:p>
        </p:txBody>
      </p:sp>
      <p:sp>
        <p:nvSpPr>
          <p:cNvPr id="108547" name="Rectangle 3"/>
          <p:cNvSpPr>
            <a:spLocks noGrp="1" noChangeArrowheads="1"/>
          </p:cNvSpPr>
          <p:nvPr>
            <p:ph type="body"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a:t>Decode vector instructions</a:t>
            </a:r>
          </a:p>
          <a:p>
            <a:r>
              <a:rPr lang="en-US" altLang="zh-CN"/>
              <a:t>Send scalar registers to vector unit </a:t>
            </a:r>
            <a:br>
              <a:rPr lang="en-US" altLang="zh-CN"/>
            </a:br>
            <a:r>
              <a:rPr lang="en-US" altLang="zh-CN"/>
              <a:t>(vector-scalar ops)</a:t>
            </a:r>
          </a:p>
          <a:p>
            <a:r>
              <a:rPr lang="en-US" altLang="zh-CN"/>
              <a:t>Synchronization for results back from vector register, including exceptions</a:t>
            </a:r>
          </a:p>
          <a:p>
            <a:r>
              <a:rPr lang="en-US" altLang="zh-CN"/>
              <a:t>Things that don’t run in vector don’t have high ILP, so can make scalar CPU simple</a:t>
            </a:r>
          </a:p>
        </p:txBody>
      </p:sp>
    </p:spTree>
    <p:extLst>
      <p:ext uri="{BB962C8B-B14F-4D97-AF65-F5344CB8AC3E}">
        <p14:creationId xmlns:p14="http://schemas.microsoft.com/office/powerpoint/2010/main" val="2593622857"/>
      </p:ext>
    </p:ext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How Pick Vector Length?</a:t>
            </a:r>
          </a:p>
        </p:txBody>
      </p:sp>
      <p:sp>
        <p:nvSpPr>
          <p:cNvPr id="109571" name="Rectangle 3"/>
          <p:cNvSpPr>
            <a:spLocks noGrp="1" noChangeArrowheads="1"/>
          </p:cNvSpPr>
          <p:nvPr>
            <p:ph type="body" idx="1"/>
          </p:nvPr>
        </p:nvSpPr>
        <p:spPr>
          <a:xfrm>
            <a:off x="2457450" y="1619250"/>
            <a:ext cx="7162800" cy="4114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a:t>Vector length =&gt; Keep all VFUs busy:</a:t>
            </a:r>
          </a:p>
          <a:p>
            <a:pPr algn="ctr">
              <a:buFont typeface="Wingdings" panose="05000000000000000000" pitchFamily="2" charset="2"/>
              <a:buNone/>
            </a:pPr>
            <a:r>
              <a:rPr lang="en-US" altLang="zh-CN"/>
              <a:t>   vector length &gt;</a:t>
            </a:r>
            <a:br>
              <a:rPr lang="en-US" altLang="zh-CN"/>
            </a:br>
            <a:r>
              <a:rPr lang="en-US" altLang="zh-CN"/>
              <a:t>(# lanes) X (# VFUs )</a:t>
            </a:r>
            <a:br>
              <a:rPr lang="en-US" altLang="zh-CN"/>
            </a:br>
            <a:r>
              <a:rPr lang="en-US" altLang="zh-CN"/>
              <a:t># Vector instructions/cycle</a:t>
            </a:r>
          </a:p>
        </p:txBody>
      </p:sp>
      <p:sp>
        <p:nvSpPr>
          <p:cNvPr id="109572" name="Line 4"/>
          <p:cNvSpPr>
            <a:spLocks noChangeShapeType="1"/>
          </p:cNvSpPr>
          <p:nvPr/>
        </p:nvSpPr>
        <p:spPr bwMode="auto">
          <a:xfrm>
            <a:off x="4114800" y="3733800"/>
            <a:ext cx="410845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497593930"/>
      </p:ext>
    </p:extLst>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a:xfrm>
            <a:off x="838200" y="548680"/>
            <a:ext cx="10515600" cy="831627"/>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How Pick Vector Length?</a:t>
            </a:r>
          </a:p>
        </p:txBody>
      </p:sp>
      <p:sp>
        <p:nvSpPr>
          <p:cNvPr id="110595" name="Rectangle 3"/>
          <p:cNvSpPr>
            <a:spLocks noGrp="1" noChangeArrowheads="1"/>
          </p:cNvSpPr>
          <p:nvPr>
            <p:ph type="body" idx="1"/>
          </p:nvPr>
        </p:nvSpPr>
        <p:spPr>
          <a:xfrm>
            <a:off x="838200" y="1628800"/>
            <a:ext cx="10802416" cy="37052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dirty="0"/>
              <a:t>Longer good because:</a:t>
            </a:r>
          </a:p>
          <a:p>
            <a:pPr lvl="1">
              <a:buFont typeface="Wingdings" panose="05000000000000000000" pitchFamily="2" charset="2"/>
              <a:buNone/>
            </a:pPr>
            <a:r>
              <a:rPr lang="en-US" altLang="zh-CN" dirty="0"/>
              <a:t>1) Hide vector startup</a:t>
            </a:r>
          </a:p>
          <a:p>
            <a:pPr lvl="1">
              <a:buFont typeface="Wingdings" panose="05000000000000000000" pitchFamily="2" charset="2"/>
              <a:buNone/>
            </a:pPr>
            <a:r>
              <a:rPr lang="en-US" altLang="zh-CN" dirty="0"/>
              <a:t>2) lower instruction bandwidth</a:t>
            </a:r>
          </a:p>
          <a:p>
            <a:pPr lvl="1">
              <a:buFont typeface="Wingdings" panose="05000000000000000000" pitchFamily="2" charset="2"/>
              <a:buNone/>
            </a:pPr>
            <a:r>
              <a:rPr lang="en-US" altLang="zh-CN" dirty="0"/>
              <a:t>3) tiled access to memory reduce scalar processor memory bandwidth needs</a:t>
            </a:r>
          </a:p>
          <a:p>
            <a:pPr lvl="1">
              <a:buFont typeface="Wingdings" panose="05000000000000000000" pitchFamily="2" charset="2"/>
              <a:buNone/>
            </a:pPr>
            <a:r>
              <a:rPr lang="en-US" altLang="zh-CN" dirty="0"/>
              <a:t>4) if know max length of app. is &lt; max vector length, no strip mining overhead</a:t>
            </a:r>
          </a:p>
          <a:p>
            <a:pPr lvl="1">
              <a:buFont typeface="Wingdings" panose="05000000000000000000" pitchFamily="2" charset="2"/>
              <a:buNone/>
            </a:pPr>
            <a:r>
              <a:rPr lang="en-US" altLang="zh-CN" dirty="0"/>
              <a:t>5) Better spatial locality for memory access</a:t>
            </a:r>
          </a:p>
          <a:p>
            <a:r>
              <a:rPr lang="en-US" altLang="zh-CN" dirty="0"/>
              <a:t>Longer not much help because:</a:t>
            </a:r>
          </a:p>
          <a:p>
            <a:pPr lvl="1">
              <a:buFont typeface="Wingdings" panose="05000000000000000000" pitchFamily="2" charset="2"/>
              <a:buNone/>
            </a:pPr>
            <a:r>
              <a:rPr lang="en-US" altLang="zh-CN" dirty="0"/>
              <a:t>1) diminishing returns on overhead savings as keep doubling number of element</a:t>
            </a:r>
          </a:p>
          <a:p>
            <a:pPr lvl="1">
              <a:buFont typeface="Wingdings" panose="05000000000000000000" pitchFamily="2" charset="2"/>
              <a:buNone/>
            </a:pPr>
            <a:r>
              <a:rPr lang="en-US" altLang="zh-CN" dirty="0"/>
              <a:t>2) need natural app. vector length to match physical register length, or no help</a:t>
            </a:r>
          </a:p>
        </p:txBody>
      </p:sp>
    </p:spTree>
    <p:extLst>
      <p:ext uri="{BB962C8B-B14F-4D97-AF65-F5344CB8AC3E}">
        <p14:creationId xmlns:p14="http://schemas.microsoft.com/office/powerpoint/2010/main" val="890092620"/>
      </p:ext>
    </p:extLst>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How Pick Number of </a:t>
            </a:r>
            <a:br>
              <a:rPr lang="en-US" altLang="zh-CN" dirty="0"/>
            </a:br>
            <a:r>
              <a:rPr lang="en-US" altLang="zh-CN" dirty="0"/>
              <a:t>Vector Registers?</a:t>
            </a:r>
          </a:p>
        </p:txBody>
      </p:sp>
      <p:sp>
        <p:nvSpPr>
          <p:cNvPr id="111619" name="Rectangle 3"/>
          <p:cNvSpPr>
            <a:spLocks noGrp="1" noChangeArrowheads="1"/>
          </p:cNvSpPr>
          <p:nvPr>
            <p:ph type="body" idx="1"/>
          </p:nvPr>
        </p:nvSpPr>
        <p:spPr>
          <a:xfrm>
            <a:off x="838200" y="1916832"/>
            <a:ext cx="10515600" cy="4114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dirty="0"/>
              <a:t>More Vector Registers:</a:t>
            </a:r>
          </a:p>
          <a:p>
            <a:pPr>
              <a:buFont typeface="Wingdings" panose="05000000000000000000" pitchFamily="2" charset="2"/>
              <a:buNone/>
            </a:pPr>
            <a:r>
              <a:rPr lang="en-US" altLang="zh-CN" dirty="0"/>
              <a:t>1) Reduces vector register Spills?(save/restore)</a:t>
            </a:r>
          </a:p>
          <a:p>
            <a:pPr lvl="1"/>
            <a:r>
              <a:rPr lang="en-US" altLang="zh-CN" dirty="0"/>
              <a:t>20% reduction to 16 registers for su2cor and </a:t>
            </a:r>
            <a:r>
              <a:rPr lang="en-US" altLang="zh-CN" dirty="0" err="1"/>
              <a:t>tomcatv</a:t>
            </a:r>
            <a:endParaRPr lang="en-US" altLang="zh-CN" dirty="0"/>
          </a:p>
          <a:p>
            <a:pPr lvl="1"/>
            <a:r>
              <a:rPr lang="en-US" altLang="zh-CN" dirty="0"/>
              <a:t>40% reduction to 32  registers for </a:t>
            </a:r>
            <a:r>
              <a:rPr lang="en-US" altLang="zh-CN" dirty="0" err="1"/>
              <a:t>tomcatv</a:t>
            </a:r>
            <a:endParaRPr lang="en-US" altLang="zh-CN" dirty="0"/>
          </a:p>
          <a:p>
            <a:pPr lvl="1"/>
            <a:r>
              <a:rPr lang="en-US" altLang="zh-CN" dirty="0"/>
              <a:t>others 10%-15%</a:t>
            </a:r>
          </a:p>
          <a:p>
            <a:pPr>
              <a:buFont typeface="Wingdings" panose="05000000000000000000" pitchFamily="2" charset="2"/>
              <a:buNone/>
            </a:pPr>
            <a:r>
              <a:rPr lang="en-US" altLang="zh-CN" dirty="0"/>
              <a:t>2) </a:t>
            </a:r>
            <a:r>
              <a:rPr lang="en-US" altLang="zh-CN" dirty="0" err="1"/>
              <a:t>agressive</a:t>
            </a:r>
            <a:r>
              <a:rPr lang="en-US" altLang="zh-CN" dirty="0"/>
              <a:t> scheduling of vector </a:t>
            </a:r>
            <a:r>
              <a:rPr lang="en-US" altLang="zh-CN" dirty="0" err="1"/>
              <a:t>instructinons</a:t>
            </a:r>
            <a:r>
              <a:rPr lang="en-US" altLang="zh-CN" dirty="0"/>
              <a:t>: better compiling to take advantage of ILP</a:t>
            </a:r>
          </a:p>
          <a:p>
            <a:r>
              <a:rPr lang="en-US" altLang="zh-CN" dirty="0"/>
              <a:t>Fewer:</a:t>
            </a:r>
          </a:p>
          <a:p>
            <a:pPr>
              <a:buFont typeface="Wingdings" panose="05000000000000000000" pitchFamily="2" charset="2"/>
              <a:buNone/>
            </a:pPr>
            <a:r>
              <a:rPr lang="en-US" altLang="zh-CN" dirty="0"/>
              <a:t>Fewer bits in </a:t>
            </a:r>
            <a:r>
              <a:rPr lang="en-US" altLang="zh-CN" dirty="0" err="1"/>
              <a:t>instruciton</a:t>
            </a:r>
            <a:r>
              <a:rPr lang="en-US" altLang="zh-CN" dirty="0"/>
              <a:t> format (usually 3 fields)</a:t>
            </a:r>
          </a:p>
        </p:txBody>
      </p:sp>
    </p:spTree>
    <p:extLst>
      <p:ext uri="{BB962C8B-B14F-4D97-AF65-F5344CB8AC3E}">
        <p14:creationId xmlns:p14="http://schemas.microsoft.com/office/powerpoint/2010/main" val="1885514128"/>
      </p:ext>
    </p:extLst>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Context switch overhead</a:t>
            </a:r>
          </a:p>
        </p:txBody>
      </p:sp>
      <p:sp>
        <p:nvSpPr>
          <p:cNvPr id="112643" name="Rectangle 3"/>
          <p:cNvSpPr>
            <a:spLocks noGrp="1" noChangeArrowheads="1"/>
          </p:cNvSpPr>
          <p:nvPr>
            <p:ph type="body"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a:t>Extra dirty bit per processor</a:t>
            </a:r>
          </a:p>
          <a:p>
            <a:pPr lvl="1"/>
            <a:r>
              <a:rPr lang="en-US" altLang="zh-CN"/>
              <a:t>If vector registers not written, don’t need to save on context switch</a:t>
            </a:r>
          </a:p>
          <a:p>
            <a:r>
              <a:rPr lang="en-US" altLang="zh-CN"/>
              <a:t>Extra valid  bit per vector register, cleared on process start</a:t>
            </a:r>
          </a:p>
          <a:p>
            <a:pPr lvl="1"/>
            <a:r>
              <a:rPr lang="en-US" altLang="zh-CN"/>
              <a:t>Don’t need to restore on context switch until needed</a:t>
            </a:r>
          </a:p>
        </p:txBody>
      </p:sp>
    </p:spTree>
    <p:extLst>
      <p:ext uri="{BB962C8B-B14F-4D97-AF65-F5344CB8AC3E}">
        <p14:creationId xmlns:p14="http://schemas.microsoft.com/office/powerpoint/2010/main" val="2024823715"/>
      </p:ext>
    </p:ext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Exception handling: External</a:t>
            </a:r>
          </a:p>
        </p:txBody>
      </p:sp>
      <p:sp>
        <p:nvSpPr>
          <p:cNvPr id="113667" name="Rectangle 3"/>
          <p:cNvSpPr>
            <a:spLocks noGrp="1" noChangeArrowheads="1"/>
          </p:cNvSpPr>
          <p:nvPr>
            <p:ph type="body"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a:t>If external exception, can just put pseudo-op into pipeline and wait for all vector ops to complete</a:t>
            </a:r>
          </a:p>
          <a:p>
            <a:pPr lvl="1"/>
            <a:r>
              <a:rPr lang="en-US" altLang="zh-CN"/>
              <a:t>Alternatively, can wait for scalar unit to complete and begin working on exception code assuming that vector unit will not cause exception and interrupt code does not use vector unit</a:t>
            </a:r>
          </a:p>
        </p:txBody>
      </p:sp>
    </p:spTree>
    <p:extLst>
      <p:ext uri="{BB962C8B-B14F-4D97-AF65-F5344CB8AC3E}">
        <p14:creationId xmlns:p14="http://schemas.microsoft.com/office/powerpoint/2010/main" val="1490817910"/>
      </p:ext>
    </p:extLst>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Exception handling: Arithmetic</a:t>
            </a:r>
          </a:p>
        </p:txBody>
      </p:sp>
      <p:sp>
        <p:nvSpPr>
          <p:cNvPr id="114691" name="Rectangle 3"/>
          <p:cNvSpPr>
            <a:spLocks noGrp="1" noChangeArrowheads="1"/>
          </p:cNvSpPr>
          <p:nvPr>
            <p:ph type="body"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a:t>Arithmetic traps harder</a:t>
            </a:r>
          </a:p>
          <a:p>
            <a:r>
              <a:rPr lang="en-US" altLang="zh-CN"/>
              <a:t>Precise interrupts =&gt; large performance loss</a:t>
            </a:r>
          </a:p>
          <a:p>
            <a:r>
              <a:rPr lang="en-US" altLang="zh-CN"/>
              <a:t>Alternative model: arithmetic exceptions set vector flag registers, 1 flag bit per element</a:t>
            </a:r>
          </a:p>
          <a:p>
            <a:r>
              <a:rPr lang="en-US" altLang="zh-CN"/>
              <a:t>Software inserts trap barrier instructions from SW to check the flag bits as needed</a:t>
            </a:r>
          </a:p>
          <a:p>
            <a:r>
              <a:rPr lang="en-US" altLang="zh-CN"/>
              <a:t>IEEE Floating Point requires 5 flag bits</a:t>
            </a:r>
          </a:p>
        </p:txBody>
      </p:sp>
    </p:spTree>
    <p:extLst>
      <p:ext uri="{BB962C8B-B14F-4D97-AF65-F5344CB8AC3E}">
        <p14:creationId xmlns:p14="http://schemas.microsoft.com/office/powerpoint/2010/main" val="1212108048"/>
      </p:ext>
    </p:extLst>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r>
              <a:rPr lang="en-US" altLang="zh-CN" smtClean="0"/>
              <a:t>Exception handling: Page Faults</a:t>
            </a:r>
            <a:endParaRPr lang="en-US" altLang="zh-CN"/>
          </a:p>
        </p:txBody>
      </p:sp>
      <p:sp>
        <p:nvSpPr>
          <p:cNvPr id="115715" name="Rectangle 3"/>
          <p:cNvSpPr>
            <a:spLocks noGrp="1" noChangeArrowheads="1"/>
          </p:cNvSpPr>
          <p:nvPr>
            <p:ph type="body" idx="1"/>
          </p:nvPr>
        </p:nvSpPr>
        <p:spPr/>
        <p:txBody>
          <a:bodyPr/>
          <a:lstStyle/>
          <a:p>
            <a:r>
              <a:rPr lang="en-US" altLang="zh-CN" smtClean="0"/>
              <a:t>Page Faults must be precise</a:t>
            </a:r>
          </a:p>
          <a:p>
            <a:r>
              <a:rPr lang="en-US" altLang="zh-CN" smtClean="0"/>
              <a:t>Instruction Page Faults not a problem</a:t>
            </a:r>
          </a:p>
          <a:p>
            <a:r>
              <a:rPr lang="en-US" altLang="zh-CN" smtClean="0"/>
              <a:t>Data Page Faults harder</a:t>
            </a:r>
          </a:p>
          <a:p>
            <a:r>
              <a:rPr lang="en-US" altLang="zh-CN" smtClean="0"/>
              <a:t>Option 1: Save/restore internal vector unit state</a:t>
            </a:r>
          </a:p>
          <a:p>
            <a:pPr lvl="1"/>
            <a:r>
              <a:rPr lang="en-US" altLang="zh-CN" smtClean="0"/>
              <a:t>Freeze pipeline, dump vector state</a:t>
            </a:r>
          </a:p>
          <a:p>
            <a:pPr lvl="1"/>
            <a:r>
              <a:rPr lang="en-US" altLang="zh-CN" smtClean="0"/>
              <a:t>perform needed ops</a:t>
            </a:r>
          </a:p>
          <a:p>
            <a:pPr lvl="1"/>
            <a:r>
              <a:rPr lang="en-US" altLang="zh-CN" smtClean="0"/>
              <a:t>Restore state and continue vector pipeline</a:t>
            </a:r>
            <a:endParaRPr lang="en-US" altLang="zh-CN"/>
          </a:p>
        </p:txBody>
      </p:sp>
    </p:spTree>
    <p:extLst>
      <p:ext uri="{BB962C8B-B14F-4D97-AF65-F5344CB8AC3E}">
        <p14:creationId xmlns:p14="http://schemas.microsoft.com/office/powerpoint/2010/main" val="1285613109"/>
      </p:ext>
    </p:extLst>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lstStyle/>
          <a:p>
            <a:r>
              <a:rPr lang="en-US" altLang="zh-CN" smtClean="0"/>
              <a:t>Exception handling: Page Faults</a:t>
            </a:r>
            <a:endParaRPr lang="en-US" altLang="zh-CN"/>
          </a:p>
        </p:txBody>
      </p:sp>
      <p:sp>
        <p:nvSpPr>
          <p:cNvPr id="116739" name="Rectangle 3"/>
          <p:cNvSpPr>
            <a:spLocks noGrp="1" noChangeArrowheads="1"/>
          </p:cNvSpPr>
          <p:nvPr>
            <p:ph type="body" idx="1"/>
          </p:nvPr>
        </p:nvSpPr>
        <p:spPr/>
        <p:txBody>
          <a:bodyPr/>
          <a:lstStyle/>
          <a:p>
            <a:r>
              <a:rPr lang="en-US" altLang="zh-CN" smtClean="0"/>
              <a:t>Option 2: expand memory pipeline to check addresses before send to memory + memory buffer between address check and registers </a:t>
            </a:r>
          </a:p>
          <a:p>
            <a:r>
              <a:rPr lang="en-US" altLang="zh-CN" smtClean="0"/>
              <a:t>muiltiple queues  to transfer from memory buffer to registers; check last address in queues before load 1st element from buffer.</a:t>
            </a:r>
          </a:p>
          <a:p>
            <a:r>
              <a:rPr lang="en-US" altLang="zh-CN" smtClean="0"/>
              <a:t>Pre Adress Instruction Queue (PAIQ) which sends to TLB and memory while in parallel go to Address Check Instruction Queue (ACIQ) </a:t>
            </a:r>
          </a:p>
          <a:p>
            <a:r>
              <a:rPr lang="en-US" altLang="zh-CN" smtClean="0"/>
              <a:t>When passes checks, instruction goes to Commited Instruction Queue (CIQ) to be there when data returns. </a:t>
            </a:r>
          </a:p>
          <a:p>
            <a:r>
              <a:rPr lang="en-US" altLang="zh-CN" smtClean="0"/>
              <a:t>On page fault, only save intructions in PAIQ and ACIQ</a:t>
            </a:r>
            <a:endParaRPr lang="en-US" altLang="zh-CN"/>
          </a:p>
        </p:txBody>
      </p:sp>
    </p:spTree>
    <p:extLst>
      <p:ext uri="{BB962C8B-B14F-4D97-AF65-F5344CB8AC3E}">
        <p14:creationId xmlns:p14="http://schemas.microsoft.com/office/powerpoint/2010/main" val="2228853236"/>
      </p:ext>
    </p:extLst>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p:txBody>
          <a:bodyPr/>
          <a:lstStyle/>
          <a:p>
            <a:r>
              <a:rPr lang="en-US" altLang="zh-CN" smtClean="0"/>
              <a:t>Masking and Flag Instructions</a:t>
            </a:r>
            <a:endParaRPr lang="en-US" altLang="zh-CN"/>
          </a:p>
        </p:txBody>
      </p:sp>
      <p:sp>
        <p:nvSpPr>
          <p:cNvPr id="117763" name="Rectangle 3"/>
          <p:cNvSpPr>
            <a:spLocks noGrp="1" noChangeArrowheads="1"/>
          </p:cNvSpPr>
          <p:nvPr>
            <p:ph type="body" idx="1"/>
          </p:nvPr>
        </p:nvSpPr>
        <p:spPr/>
        <p:txBody>
          <a:bodyPr/>
          <a:lstStyle/>
          <a:p>
            <a:r>
              <a:rPr lang="en-US" altLang="zh-CN" smtClean="0"/>
              <a:t>Flag have multiple uses (conditional, arithmetic exceptions)</a:t>
            </a:r>
          </a:p>
          <a:p>
            <a:r>
              <a:rPr lang="en-US" altLang="zh-CN" smtClean="0"/>
              <a:t>Alternative is conditional move/merge</a:t>
            </a:r>
          </a:p>
          <a:p>
            <a:r>
              <a:rPr lang="en-US" altLang="zh-CN" smtClean="0"/>
              <a:t>Clear that fully masked is much more effiecient that with conditional moves</a:t>
            </a:r>
          </a:p>
          <a:p>
            <a:pPr lvl="1"/>
            <a:r>
              <a:rPr lang="en-US" altLang="zh-CN" smtClean="0"/>
              <a:t>Not perform extra instructions, avoid exceptions</a:t>
            </a:r>
          </a:p>
          <a:p>
            <a:r>
              <a:rPr lang="en-US" altLang="zh-CN" smtClean="0"/>
              <a:t>Downside is:</a:t>
            </a:r>
          </a:p>
          <a:p>
            <a:r>
              <a:rPr lang="en-US" altLang="zh-CN" smtClean="0"/>
              <a:t>1) extra bits in instruction to specify the flag regsiter</a:t>
            </a:r>
          </a:p>
          <a:p>
            <a:r>
              <a:rPr lang="en-US" altLang="zh-CN" smtClean="0"/>
              <a:t>2) extra interlock early in the pipeline for RAW hazards on Flag registers</a:t>
            </a:r>
            <a:endParaRPr lang="en-US" altLang="zh-CN"/>
          </a:p>
        </p:txBody>
      </p:sp>
    </p:spTree>
    <p:extLst>
      <p:ext uri="{BB962C8B-B14F-4D97-AF65-F5344CB8AC3E}">
        <p14:creationId xmlns:p14="http://schemas.microsoft.com/office/powerpoint/2010/main" val="1797858010"/>
      </p:ext>
    </p:extLst>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p:txBody>
          <a:bodyPr/>
          <a:lstStyle/>
          <a:p>
            <a:r>
              <a:rPr lang="en-US" altLang="zh-CN" smtClean="0"/>
              <a:t>Flag Instruction Ops</a:t>
            </a:r>
            <a:endParaRPr lang="en-US" altLang="zh-CN"/>
          </a:p>
        </p:txBody>
      </p:sp>
      <p:sp>
        <p:nvSpPr>
          <p:cNvPr id="118787" name="Rectangle 3"/>
          <p:cNvSpPr>
            <a:spLocks noGrp="1" noChangeArrowheads="1"/>
          </p:cNvSpPr>
          <p:nvPr>
            <p:ph type="body" idx="1"/>
          </p:nvPr>
        </p:nvSpPr>
        <p:spPr/>
        <p:txBody>
          <a:bodyPr/>
          <a:lstStyle/>
          <a:p>
            <a:r>
              <a:rPr lang="en-US" altLang="zh-CN" smtClean="0"/>
              <a:t>Do in scalar processor vs. in vector unit with vector ops?</a:t>
            </a:r>
          </a:p>
          <a:p>
            <a:r>
              <a:rPr lang="en-US" altLang="zh-CN" smtClean="0"/>
              <a:t>Disadvantages to using scalar processor to do flag calculations (as in Cray):</a:t>
            </a:r>
          </a:p>
          <a:p>
            <a:r>
              <a:rPr lang="en-US" altLang="zh-CN" smtClean="0"/>
              <a:t>1) if MVL &gt; word size =&gt; multiple instructions; </a:t>
            </a:r>
            <a:br>
              <a:rPr lang="en-US" altLang="zh-CN" smtClean="0"/>
            </a:br>
            <a:r>
              <a:rPr lang="en-US" altLang="zh-CN" smtClean="0"/>
              <a:t> also limits MVL in future</a:t>
            </a:r>
          </a:p>
          <a:p>
            <a:r>
              <a:rPr lang="en-US" altLang="zh-CN" smtClean="0"/>
              <a:t>2) scalar exposes memory latency</a:t>
            </a:r>
          </a:p>
          <a:p>
            <a:r>
              <a:rPr lang="en-US" altLang="zh-CN" smtClean="0"/>
              <a:t>3) vector produces flag bits 1/clock, but scalar consumes at 64 per clock, so cannot chain together</a:t>
            </a:r>
          </a:p>
          <a:p>
            <a:r>
              <a:rPr lang="en-US" altLang="zh-CN" smtClean="0"/>
              <a:t>Proposal: separate Vector Flag Functional Units and instructions in VU</a:t>
            </a:r>
            <a:endParaRPr lang="en-US" altLang="zh-CN"/>
          </a:p>
        </p:txBody>
      </p:sp>
    </p:spTree>
    <p:extLst>
      <p:ext uri="{BB962C8B-B14F-4D97-AF65-F5344CB8AC3E}">
        <p14:creationId xmlns:p14="http://schemas.microsoft.com/office/powerpoint/2010/main" val="3187193480"/>
      </p:ext>
    </p:extLst>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Vectors Are Inexpensive</a:t>
            </a:r>
          </a:p>
        </p:txBody>
      </p:sp>
      <p:sp>
        <p:nvSpPr>
          <p:cNvPr id="119811" name="Rectangle 3"/>
          <p:cNvSpPr>
            <a:spLocks noChangeArrowheads="1"/>
          </p:cNvSpPr>
          <p:nvPr/>
        </p:nvSpPr>
        <p:spPr bwMode="auto">
          <a:xfrm>
            <a:off x="1885950" y="1447800"/>
            <a:ext cx="4114800" cy="40386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pPr>
            <a:r>
              <a:rPr lang="en-US" altLang="zh-CN" sz="3600" dirty="0">
                <a:solidFill>
                  <a:srgbClr val="FF3300"/>
                </a:solidFill>
                <a:latin typeface="Arial" panose="020B0604020202020204" pitchFamily="34" charset="0"/>
              </a:rPr>
              <a:t>Scalar</a:t>
            </a:r>
            <a:endParaRPr lang="en-US" altLang="zh-CN" sz="2800" dirty="0">
              <a:latin typeface="Arial" panose="020B0604020202020204" pitchFamily="34" charset="0"/>
            </a:endParaRPr>
          </a:p>
          <a:p>
            <a:pPr>
              <a:spcBef>
                <a:spcPct val="20000"/>
              </a:spcBef>
              <a:buClr>
                <a:srgbClr val="0000FF"/>
              </a:buClr>
              <a:buSzPct val="70000"/>
              <a:buFont typeface="Monotype Sorts" pitchFamily="2" charset="2"/>
              <a:buChar char="l"/>
            </a:pPr>
            <a:r>
              <a:rPr lang="en-US" altLang="zh-CN" sz="2800" dirty="0">
                <a:latin typeface="Arial" panose="020B0604020202020204" pitchFamily="34" charset="0"/>
              </a:rPr>
              <a:t>N ops per cycle</a:t>
            </a:r>
            <a:br>
              <a:rPr lang="en-US" altLang="zh-CN" sz="2800" dirty="0">
                <a:latin typeface="Arial" panose="020B0604020202020204" pitchFamily="34" charset="0"/>
              </a:rPr>
            </a:br>
            <a:r>
              <a:rPr lang="en-US" altLang="zh-CN" sz="2800" dirty="0">
                <a:latin typeface="Arial" panose="020B0604020202020204" pitchFamily="34" charset="0"/>
              </a:rPr>
              <a:t> </a:t>
            </a:r>
            <a:r>
              <a:rPr lang="en-US" altLang="zh-CN" sz="2800" dirty="0">
                <a:latin typeface="Symbol" panose="05050102010706020507" pitchFamily="18" charset="2"/>
              </a:rPr>
              <a:t></a:t>
            </a:r>
            <a:r>
              <a:rPr lang="en-US" altLang="zh-CN" sz="2800" baseline="30000" dirty="0">
                <a:latin typeface="Arial" panose="020B0604020202020204" pitchFamily="34" charset="0"/>
              </a:rPr>
              <a:t>2</a:t>
            </a:r>
            <a:r>
              <a:rPr lang="en-US" altLang="zh-CN" sz="2800" dirty="0">
                <a:latin typeface="Arial" panose="020B0604020202020204" pitchFamily="34" charset="0"/>
              </a:rPr>
              <a:t>) circuitry</a:t>
            </a:r>
          </a:p>
          <a:p>
            <a:pPr>
              <a:spcBef>
                <a:spcPct val="20000"/>
              </a:spcBef>
              <a:buClr>
                <a:srgbClr val="0000FF"/>
              </a:buClr>
              <a:buSzPct val="70000"/>
              <a:buFont typeface="Monotype Sorts" pitchFamily="2" charset="2"/>
              <a:buChar char="l"/>
            </a:pPr>
            <a:r>
              <a:rPr lang="en-US" altLang="zh-CN" sz="2800" dirty="0">
                <a:latin typeface="Arial" panose="020B0604020202020204" pitchFamily="34" charset="0"/>
              </a:rPr>
              <a:t>HP PA-8000</a:t>
            </a:r>
          </a:p>
          <a:p>
            <a:pPr lvl="1">
              <a:spcBef>
                <a:spcPct val="20000"/>
              </a:spcBef>
              <a:buClr>
                <a:srgbClr val="FFCC00"/>
              </a:buClr>
              <a:buSzPct val="70000"/>
              <a:buFont typeface="Monotype Sorts" pitchFamily="2" charset="2"/>
              <a:buChar char="l"/>
            </a:pPr>
            <a:r>
              <a:rPr lang="en-US" altLang="zh-CN" dirty="0">
                <a:latin typeface="Arial" panose="020B0604020202020204" pitchFamily="34" charset="0"/>
              </a:rPr>
              <a:t>4-way issue</a:t>
            </a:r>
          </a:p>
          <a:p>
            <a:pPr lvl="1">
              <a:spcBef>
                <a:spcPct val="20000"/>
              </a:spcBef>
              <a:buClr>
                <a:srgbClr val="FFCC00"/>
              </a:buClr>
              <a:buSzPct val="70000"/>
              <a:buFont typeface="Monotype Sorts" pitchFamily="2" charset="2"/>
              <a:buChar char="l"/>
            </a:pPr>
            <a:r>
              <a:rPr lang="en-US" altLang="zh-CN" dirty="0">
                <a:latin typeface="Arial" panose="020B0604020202020204" pitchFamily="34" charset="0"/>
              </a:rPr>
              <a:t>reorder buffer:</a:t>
            </a:r>
            <a:br>
              <a:rPr lang="en-US" altLang="zh-CN" dirty="0">
                <a:latin typeface="Arial" panose="020B0604020202020204" pitchFamily="34" charset="0"/>
              </a:rPr>
            </a:br>
            <a:r>
              <a:rPr lang="en-US" altLang="zh-CN" dirty="0">
                <a:latin typeface="Arial" panose="020B0604020202020204" pitchFamily="34" charset="0"/>
              </a:rPr>
              <a:t>850K transistors</a:t>
            </a:r>
          </a:p>
          <a:p>
            <a:pPr lvl="2">
              <a:spcBef>
                <a:spcPct val="20000"/>
              </a:spcBef>
              <a:buClr>
                <a:srgbClr val="0000FF"/>
              </a:buClr>
              <a:buSzPct val="70000"/>
              <a:buFont typeface="Monotype Sorts" pitchFamily="2" charset="2"/>
              <a:buChar char="l"/>
            </a:pPr>
            <a:r>
              <a:rPr lang="en-US" altLang="zh-CN" sz="2000" dirty="0">
                <a:latin typeface="Arial" panose="020B0604020202020204" pitchFamily="34" charset="0"/>
              </a:rPr>
              <a:t>incl. 6,720 5-bit register number comparators</a:t>
            </a:r>
          </a:p>
        </p:txBody>
      </p:sp>
      <p:sp>
        <p:nvSpPr>
          <p:cNvPr id="119812" name="Rectangle 4"/>
          <p:cNvSpPr>
            <a:spLocks noChangeArrowheads="1"/>
          </p:cNvSpPr>
          <p:nvPr/>
        </p:nvSpPr>
        <p:spPr bwMode="auto">
          <a:xfrm>
            <a:off x="6183312" y="1485900"/>
            <a:ext cx="4305175" cy="40386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08585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20000"/>
              </a:spcBef>
            </a:pPr>
            <a:r>
              <a:rPr lang="en-US" altLang="zh-CN" sz="3600" dirty="0">
                <a:solidFill>
                  <a:srgbClr val="FF3300"/>
                </a:solidFill>
                <a:latin typeface="Arial" panose="020B0604020202020204" pitchFamily="34" charset="0"/>
              </a:rPr>
              <a:t>Vector</a:t>
            </a:r>
            <a:endParaRPr lang="en-US" altLang="zh-CN" sz="2800" dirty="0">
              <a:latin typeface="Arial" panose="020B0604020202020204" pitchFamily="34" charset="0"/>
            </a:endParaRPr>
          </a:p>
          <a:p>
            <a:pPr>
              <a:spcBef>
                <a:spcPct val="20000"/>
              </a:spcBef>
              <a:buClr>
                <a:srgbClr val="0000FF"/>
              </a:buClr>
              <a:buSzPct val="70000"/>
              <a:buFont typeface="Monotype Sorts" pitchFamily="2" charset="2"/>
              <a:buChar char="l"/>
            </a:pPr>
            <a:r>
              <a:rPr lang="en-US" altLang="zh-CN" sz="2800" dirty="0">
                <a:latin typeface="Arial" panose="020B0604020202020204" pitchFamily="34" charset="0"/>
              </a:rPr>
              <a:t>N ops per cycle</a:t>
            </a:r>
            <a:br>
              <a:rPr lang="en-US" altLang="zh-CN" sz="2800" dirty="0">
                <a:latin typeface="Arial" panose="020B0604020202020204" pitchFamily="34" charset="0"/>
              </a:rPr>
            </a:br>
            <a:r>
              <a:rPr lang="en-US" altLang="zh-CN" sz="2800" dirty="0">
                <a:latin typeface="Symbol" panose="05050102010706020507" pitchFamily="18" charset="2"/>
              </a:rPr>
              <a:t></a:t>
            </a:r>
            <a:r>
              <a:rPr lang="en-US" altLang="zh-CN" sz="2800" baseline="30000" dirty="0">
                <a:latin typeface="Arial" panose="020B0604020202020204" pitchFamily="34" charset="0"/>
              </a:rPr>
              <a:t>2</a:t>
            </a:r>
            <a:r>
              <a:rPr lang="en-US" altLang="zh-CN" sz="2800" dirty="0">
                <a:latin typeface="Arial" panose="020B0604020202020204" pitchFamily="34" charset="0"/>
              </a:rPr>
              <a:t>) circuitry</a:t>
            </a:r>
          </a:p>
          <a:p>
            <a:pPr>
              <a:spcBef>
                <a:spcPct val="20000"/>
              </a:spcBef>
              <a:buClr>
                <a:srgbClr val="0000FF"/>
              </a:buClr>
              <a:buSzPct val="70000"/>
              <a:buFont typeface="Monotype Sorts" pitchFamily="2" charset="2"/>
              <a:buChar char="l"/>
            </a:pPr>
            <a:r>
              <a:rPr lang="en-US" altLang="zh-CN" sz="2800" dirty="0">
                <a:latin typeface="Arial" panose="020B0604020202020204" pitchFamily="34" charset="0"/>
              </a:rPr>
              <a:t>T0 vector micro</a:t>
            </a:r>
          </a:p>
          <a:p>
            <a:pPr lvl="1">
              <a:spcBef>
                <a:spcPct val="20000"/>
              </a:spcBef>
              <a:buClr>
                <a:srgbClr val="FFCC00"/>
              </a:buClr>
              <a:buSzPct val="70000"/>
              <a:buFont typeface="Monotype Sorts" pitchFamily="2" charset="2"/>
              <a:buChar char="l"/>
            </a:pPr>
            <a:r>
              <a:rPr lang="en-US" altLang="zh-CN" dirty="0">
                <a:latin typeface="Arial" panose="020B0604020202020204" pitchFamily="34" charset="0"/>
              </a:rPr>
              <a:t>24 ops per cycle</a:t>
            </a:r>
          </a:p>
          <a:p>
            <a:pPr lvl="1">
              <a:spcBef>
                <a:spcPct val="20000"/>
              </a:spcBef>
              <a:buClr>
                <a:srgbClr val="FFCC00"/>
              </a:buClr>
              <a:buSzPct val="70000"/>
              <a:buFont typeface="Monotype Sorts" pitchFamily="2" charset="2"/>
              <a:buChar char="l"/>
            </a:pPr>
            <a:r>
              <a:rPr lang="en-US" altLang="zh-CN" dirty="0">
                <a:latin typeface="Arial" panose="020B0604020202020204" pitchFamily="34" charset="0"/>
              </a:rPr>
              <a:t>730K transistors total</a:t>
            </a:r>
          </a:p>
          <a:p>
            <a:pPr lvl="2">
              <a:spcBef>
                <a:spcPct val="20000"/>
              </a:spcBef>
              <a:buClr>
                <a:srgbClr val="0000FF"/>
              </a:buClr>
              <a:buSzPct val="70000"/>
              <a:buFont typeface="Monotype Sorts" pitchFamily="2" charset="2"/>
              <a:buChar char="l"/>
            </a:pPr>
            <a:r>
              <a:rPr lang="en-US" altLang="zh-CN" sz="2000" dirty="0">
                <a:latin typeface="Arial" panose="020B0604020202020204" pitchFamily="34" charset="0"/>
              </a:rPr>
              <a:t>only 23 5-bit register number comparators</a:t>
            </a:r>
          </a:p>
          <a:p>
            <a:pPr lvl="1">
              <a:spcBef>
                <a:spcPct val="20000"/>
              </a:spcBef>
              <a:buClr>
                <a:srgbClr val="FFCC00"/>
              </a:buClr>
              <a:buSzPct val="70000"/>
              <a:buFont typeface="Monotype Sorts" pitchFamily="2" charset="2"/>
              <a:buChar char="l"/>
            </a:pPr>
            <a:r>
              <a:rPr lang="en-US" altLang="zh-CN" dirty="0">
                <a:latin typeface="Arial" panose="020B0604020202020204" pitchFamily="34" charset="0"/>
              </a:rPr>
              <a:t>No floating point</a:t>
            </a:r>
          </a:p>
        </p:txBody>
      </p:sp>
    </p:spTree>
    <p:extLst>
      <p:ext uri="{BB962C8B-B14F-4D97-AF65-F5344CB8AC3E}">
        <p14:creationId xmlns:p14="http://schemas.microsoft.com/office/powerpoint/2010/main" val="3756880313"/>
      </p:ext>
    </p:extLst>
  </p:cSld>
  <p:clrMapOvr>
    <a:masterClrMapping/>
  </p:clrMapOvr>
  <p:transition spd="slow"/>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MIPS R10000 vs. T0</a:t>
            </a:r>
          </a:p>
        </p:txBody>
      </p:sp>
      <p:graphicFrame>
        <p:nvGraphicFramePr>
          <p:cNvPr id="121859" name="Object 3">
            <a:hlinkClick r:id="" action="ppaction://ole?verb=0"/>
          </p:cNvPr>
          <p:cNvGraphicFramePr>
            <a:graphicFrameLocks/>
          </p:cNvGraphicFramePr>
          <p:nvPr/>
        </p:nvGraphicFramePr>
        <p:xfrm>
          <a:off x="2833689" y="1905001"/>
          <a:ext cx="3868737" cy="4189413"/>
        </p:xfrm>
        <a:graphic>
          <a:graphicData uri="http://schemas.openxmlformats.org/presentationml/2006/ole">
            <mc:AlternateContent xmlns:mc="http://schemas.openxmlformats.org/markup-compatibility/2006">
              <mc:Choice xmlns:v="urn:schemas-microsoft-com:vml" Requires="v">
                <p:oleObj spid="_x0000_s1058" name="CorelPhotoPaint.Image.7" r:id="rId4" imgW="3867120" imgH="4187520" progId="CorelPhotoPaint.Image.7">
                  <p:embed/>
                </p:oleObj>
              </mc:Choice>
              <mc:Fallback>
                <p:oleObj name="CorelPhotoPaint.Image.7" r:id="rId4" imgW="3867120" imgH="4187520" progId="CorelPhotoPaint.Image.7">
                  <p:embed/>
                  <p:pic>
                    <p:nvPicPr>
                      <p:cNvPr id="121859" name="Object 3">
                        <a:hlinkClick r:id="" action="ppaction://ole?verb=0"/>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33689" y="1905001"/>
                        <a:ext cx="3868737" cy="41894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1860" name="Object 4">
            <a:hlinkClick r:id="" action="ppaction://ole?verb=0"/>
          </p:cNvPr>
          <p:cNvGraphicFramePr>
            <a:graphicFrameLocks/>
          </p:cNvGraphicFramePr>
          <p:nvPr/>
        </p:nvGraphicFramePr>
        <p:xfrm>
          <a:off x="8002589" y="3319464"/>
          <a:ext cx="1368425" cy="1360487"/>
        </p:xfrm>
        <a:graphic>
          <a:graphicData uri="http://schemas.openxmlformats.org/presentationml/2006/ole">
            <mc:AlternateContent xmlns:mc="http://schemas.openxmlformats.org/markup-compatibility/2006">
              <mc:Choice xmlns:v="urn:schemas-microsoft-com:vml" Requires="v">
                <p:oleObj spid="_x0000_s1059" name="CorelPhotoPaint.Image.7" r:id="rId6" imgW="1366560" imgH="1358640" progId="CorelPhotoPaint.Image.7">
                  <p:embed/>
                </p:oleObj>
              </mc:Choice>
              <mc:Fallback>
                <p:oleObj name="CorelPhotoPaint.Image.7" r:id="rId6" imgW="1366560" imgH="1358640" progId="CorelPhotoPaint.Image.7">
                  <p:embed/>
                  <p:pic>
                    <p:nvPicPr>
                      <p:cNvPr id="121860" name="Object 4">
                        <a:hlinkClick r:id="" action="ppaction://ole?verb=0"/>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02589" y="3319464"/>
                        <a:ext cx="1368425" cy="13604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1861" name="Rectangle 5"/>
          <p:cNvSpPr>
            <a:spLocks noChangeArrowheads="1"/>
          </p:cNvSpPr>
          <p:nvPr/>
        </p:nvSpPr>
        <p:spPr bwMode="auto">
          <a:xfrm>
            <a:off x="2006600" y="6340475"/>
            <a:ext cx="8053488"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i="1"/>
              <a:t>*See </a:t>
            </a:r>
            <a:r>
              <a:rPr lang="en-US" altLang="zh-CN" i="1">
                <a:latin typeface="Courier New" panose="02070309020205020404" pitchFamily="49" charset="0"/>
              </a:rPr>
              <a:t>http://www.icsi.berkeley.edu/real/spert/t0-intro.html</a:t>
            </a:r>
          </a:p>
        </p:txBody>
      </p:sp>
    </p:spTree>
    <p:extLst>
      <p:ext uri="{BB962C8B-B14F-4D97-AF65-F5344CB8AC3E}">
        <p14:creationId xmlns:p14="http://schemas.microsoft.com/office/powerpoint/2010/main" val="407059590"/>
      </p:ext>
    </p:extLst>
  </p:cSld>
  <p:clrMapOvr>
    <a:masterClrMapping/>
  </p:clrMapOvr>
  <p:transition spd="slow"/>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Vectors Lower Power</a:t>
            </a:r>
          </a:p>
        </p:txBody>
      </p:sp>
      <p:sp>
        <p:nvSpPr>
          <p:cNvPr id="123907" name="Rectangle 3"/>
          <p:cNvSpPr>
            <a:spLocks noGrp="1" noChangeArrowheads="1"/>
          </p:cNvSpPr>
          <p:nvPr>
            <p:ph type="body" idx="1"/>
          </p:nvPr>
        </p:nvSpPr>
        <p:spPr>
          <a:xfrm>
            <a:off x="6888088" y="1600200"/>
            <a:ext cx="4286250" cy="4876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lgn="ctr">
              <a:spcBef>
                <a:spcPct val="0"/>
              </a:spcBef>
              <a:buFont typeface="Wingdings" panose="05000000000000000000" pitchFamily="2" charset="2"/>
              <a:buNone/>
            </a:pPr>
            <a:r>
              <a:rPr lang="en-US" altLang="zh-CN" dirty="0">
                <a:solidFill>
                  <a:srgbClr val="FF3300"/>
                </a:solidFill>
              </a:rPr>
              <a:t>Vector</a:t>
            </a:r>
            <a:endParaRPr lang="en-US" altLang="zh-CN" dirty="0"/>
          </a:p>
          <a:p>
            <a:pPr>
              <a:spcBef>
                <a:spcPct val="0"/>
              </a:spcBef>
            </a:pPr>
            <a:r>
              <a:rPr lang="en-US" altLang="zh-CN" sz="2400" dirty="0"/>
              <a:t>One instruction </a:t>
            </a:r>
            <a:r>
              <a:rPr lang="en-US" altLang="zh-CN" sz="2400" dirty="0" err="1"/>
              <a:t>fetch,decode</a:t>
            </a:r>
            <a:r>
              <a:rPr lang="en-US" altLang="zh-CN" sz="2400" dirty="0"/>
              <a:t>, dispatch per vector</a:t>
            </a:r>
          </a:p>
          <a:p>
            <a:pPr>
              <a:spcBef>
                <a:spcPct val="0"/>
              </a:spcBef>
            </a:pPr>
            <a:r>
              <a:rPr lang="en-US" altLang="zh-CN" sz="2400" dirty="0"/>
              <a:t>Structured register accesses</a:t>
            </a:r>
          </a:p>
          <a:p>
            <a:pPr>
              <a:spcBef>
                <a:spcPct val="0"/>
              </a:spcBef>
            </a:pPr>
            <a:r>
              <a:rPr lang="en-US" altLang="zh-CN" sz="2400" dirty="0"/>
              <a:t>Smaller code for high performance, less power in instruction cache misses</a:t>
            </a:r>
          </a:p>
          <a:p>
            <a:pPr>
              <a:spcBef>
                <a:spcPct val="0"/>
              </a:spcBef>
            </a:pPr>
            <a:r>
              <a:rPr lang="en-US" altLang="zh-CN" sz="2400" dirty="0"/>
              <a:t>Bypass cache</a:t>
            </a:r>
          </a:p>
          <a:p>
            <a:pPr>
              <a:spcBef>
                <a:spcPct val="0"/>
              </a:spcBef>
            </a:pPr>
            <a:r>
              <a:rPr lang="en-US" altLang="zh-CN" sz="2400" dirty="0"/>
              <a:t>One TLB lookup per</a:t>
            </a:r>
            <a:br>
              <a:rPr lang="en-US" altLang="zh-CN" sz="2400" dirty="0"/>
            </a:br>
            <a:r>
              <a:rPr lang="en-US" altLang="zh-CN" sz="2400" dirty="0"/>
              <a:t>group of loads or stores</a:t>
            </a:r>
          </a:p>
          <a:p>
            <a:pPr>
              <a:spcBef>
                <a:spcPct val="0"/>
              </a:spcBef>
            </a:pPr>
            <a:r>
              <a:rPr lang="en-US" altLang="zh-CN" sz="2400" dirty="0"/>
              <a:t>Move only necessary data</a:t>
            </a:r>
            <a:br>
              <a:rPr lang="en-US" altLang="zh-CN" sz="2400" dirty="0"/>
            </a:br>
            <a:r>
              <a:rPr lang="en-US" altLang="zh-CN" sz="2400" dirty="0"/>
              <a:t>across chip boundary</a:t>
            </a:r>
          </a:p>
        </p:txBody>
      </p:sp>
      <p:sp>
        <p:nvSpPr>
          <p:cNvPr id="123908" name="Rectangle 4"/>
          <p:cNvSpPr>
            <a:spLocks noChangeArrowheads="1"/>
          </p:cNvSpPr>
          <p:nvPr/>
        </p:nvSpPr>
        <p:spPr bwMode="auto">
          <a:xfrm>
            <a:off x="1752600" y="1600200"/>
            <a:ext cx="4972050" cy="4876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pPr>
            <a:r>
              <a:rPr lang="en-US" altLang="zh-CN" sz="2800" dirty="0">
                <a:solidFill>
                  <a:srgbClr val="FF3300"/>
                </a:solidFill>
                <a:latin typeface="Arial" panose="020B0604020202020204" pitchFamily="34" charset="0"/>
              </a:rPr>
              <a:t>Single-issue Scalar</a:t>
            </a:r>
            <a:endParaRPr lang="en-US" altLang="zh-CN" sz="2000" dirty="0">
              <a:latin typeface="Arial" panose="020B0604020202020204" pitchFamily="34" charset="0"/>
            </a:endParaRPr>
          </a:p>
          <a:p>
            <a:pPr>
              <a:spcBef>
                <a:spcPct val="20000"/>
              </a:spcBef>
              <a:buClr>
                <a:srgbClr val="0000FF"/>
              </a:buClr>
              <a:buSzPct val="70000"/>
              <a:buFont typeface="Monotype Sorts" pitchFamily="2" charset="2"/>
              <a:buChar char="l"/>
            </a:pPr>
            <a:r>
              <a:rPr lang="en-US" altLang="zh-CN" sz="2000" dirty="0">
                <a:latin typeface="Arial" panose="020B0604020202020204" pitchFamily="34" charset="0"/>
              </a:rPr>
              <a:t>One instruction fetch, decode, dispatch per operation</a:t>
            </a:r>
          </a:p>
          <a:p>
            <a:pPr>
              <a:spcBef>
                <a:spcPct val="20000"/>
              </a:spcBef>
              <a:buClr>
                <a:srgbClr val="0000FF"/>
              </a:buClr>
              <a:buSzPct val="70000"/>
              <a:buFont typeface="Monotype Sorts" pitchFamily="2" charset="2"/>
              <a:buChar char="l"/>
            </a:pPr>
            <a:r>
              <a:rPr lang="en-US" altLang="zh-CN" sz="2000" dirty="0">
                <a:latin typeface="Arial" panose="020B0604020202020204" pitchFamily="34" charset="0"/>
              </a:rPr>
              <a:t>Arbitrary register accesses,</a:t>
            </a:r>
            <a:br>
              <a:rPr lang="en-US" altLang="zh-CN" sz="2000" dirty="0">
                <a:latin typeface="Arial" panose="020B0604020202020204" pitchFamily="34" charset="0"/>
              </a:rPr>
            </a:br>
            <a:r>
              <a:rPr lang="en-US" altLang="zh-CN" sz="2000" dirty="0">
                <a:latin typeface="Arial" panose="020B0604020202020204" pitchFamily="34" charset="0"/>
              </a:rPr>
              <a:t>adds area and power</a:t>
            </a:r>
          </a:p>
          <a:p>
            <a:pPr>
              <a:spcBef>
                <a:spcPct val="20000"/>
              </a:spcBef>
              <a:buClr>
                <a:srgbClr val="0000FF"/>
              </a:buClr>
              <a:buSzPct val="70000"/>
              <a:buFont typeface="Monotype Sorts" pitchFamily="2" charset="2"/>
              <a:buChar char="l"/>
            </a:pPr>
            <a:r>
              <a:rPr lang="en-US" altLang="zh-CN" sz="2000" dirty="0">
                <a:latin typeface="Arial" panose="020B0604020202020204" pitchFamily="34" charset="0"/>
              </a:rPr>
              <a:t>Loop unrolling and software pipelining for high performance increases instruction cache footprint</a:t>
            </a:r>
          </a:p>
          <a:p>
            <a:pPr>
              <a:spcBef>
                <a:spcPct val="20000"/>
              </a:spcBef>
              <a:buClr>
                <a:srgbClr val="0000FF"/>
              </a:buClr>
              <a:buSzPct val="70000"/>
              <a:buFont typeface="Monotype Sorts" pitchFamily="2" charset="2"/>
              <a:buChar char="l"/>
            </a:pPr>
            <a:r>
              <a:rPr lang="en-US" altLang="zh-CN" sz="2000" dirty="0">
                <a:latin typeface="Arial" panose="020B0604020202020204" pitchFamily="34" charset="0"/>
              </a:rPr>
              <a:t>All data passes through cache; waste power if no temporal locality</a:t>
            </a:r>
          </a:p>
          <a:p>
            <a:pPr>
              <a:spcBef>
                <a:spcPct val="20000"/>
              </a:spcBef>
              <a:buClr>
                <a:srgbClr val="0000FF"/>
              </a:buClr>
              <a:buSzPct val="70000"/>
              <a:buFont typeface="Monotype Sorts" pitchFamily="2" charset="2"/>
              <a:buChar char="l"/>
            </a:pPr>
            <a:r>
              <a:rPr lang="en-US" altLang="zh-CN" sz="2000" dirty="0">
                <a:latin typeface="Arial" panose="020B0604020202020204" pitchFamily="34" charset="0"/>
              </a:rPr>
              <a:t>One TLB lookup per load or store</a:t>
            </a:r>
            <a:br>
              <a:rPr lang="en-US" altLang="zh-CN" sz="2000" dirty="0">
                <a:latin typeface="Arial" panose="020B0604020202020204" pitchFamily="34" charset="0"/>
              </a:rPr>
            </a:br>
            <a:endParaRPr lang="en-US" altLang="zh-CN" sz="2000" dirty="0">
              <a:latin typeface="Arial" panose="020B0604020202020204" pitchFamily="34" charset="0"/>
            </a:endParaRPr>
          </a:p>
          <a:p>
            <a:pPr>
              <a:spcBef>
                <a:spcPct val="20000"/>
              </a:spcBef>
              <a:buClr>
                <a:srgbClr val="0000FF"/>
              </a:buClr>
              <a:buSzPct val="70000"/>
              <a:buFont typeface="Monotype Sorts" pitchFamily="2" charset="2"/>
              <a:buChar char="l"/>
            </a:pPr>
            <a:r>
              <a:rPr lang="en-US" altLang="zh-CN" sz="2000" dirty="0">
                <a:latin typeface="Arial" panose="020B0604020202020204" pitchFamily="34" charset="0"/>
              </a:rPr>
              <a:t>Off-chip access in whole cache lines</a:t>
            </a:r>
          </a:p>
        </p:txBody>
      </p:sp>
    </p:spTree>
    <p:extLst>
      <p:ext uri="{BB962C8B-B14F-4D97-AF65-F5344CB8AC3E}">
        <p14:creationId xmlns:p14="http://schemas.microsoft.com/office/powerpoint/2010/main" val="251902551"/>
      </p:ext>
    </p:extLst>
  </p:cSld>
  <p:clrMapOvr>
    <a:masterClrMapping/>
  </p:clrMapOvr>
  <p:transition spd="slow"/>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a:xfrm>
            <a:off x="767408" y="463773"/>
            <a:ext cx="10515600" cy="831627"/>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Superscalar Energy Efficiency Even Worse</a:t>
            </a:r>
          </a:p>
        </p:txBody>
      </p:sp>
      <p:sp>
        <p:nvSpPr>
          <p:cNvPr id="125955" name="Rectangle 3"/>
          <p:cNvSpPr>
            <a:spLocks noGrp="1" noChangeArrowheads="1"/>
          </p:cNvSpPr>
          <p:nvPr>
            <p:ph type="body" idx="1"/>
          </p:nvPr>
        </p:nvSpPr>
        <p:spPr>
          <a:xfrm>
            <a:off x="5951984" y="1615440"/>
            <a:ext cx="5177531" cy="4876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lgn="ctr">
              <a:buFont typeface="Wingdings" panose="05000000000000000000" pitchFamily="2" charset="2"/>
              <a:buNone/>
            </a:pPr>
            <a:r>
              <a:rPr lang="en-US" altLang="zh-CN" sz="2400" dirty="0">
                <a:solidFill>
                  <a:srgbClr val="FF3300"/>
                </a:solidFill>
              </a:rPr>
              <a:t>Vector</a:t>
            </a:r>
            <a:endParaRPr lang="en-US" altLang="zh-CN" sz="2400" dirty="0"/>
          </a:p>
          <a:p>
            <a:r>
              <a:rPr lang="en-US" altLang="zh-CN" sz="2400" dirty="0"/>
              <a:t>Control logic grows</a:t>
            </a:r>
            <a:br>
              <a:rPr lang="en-US" altLang="zh-CN" sz="2400" dirty="0"/>
            </a:br>
            <a:r>
              <a:rPr lang="en-US" altLang="zh-CN" sz="2400" dirty="0"/>
              <a:t>linearly with issue width</a:t>
            </a:r>
          </a:p>
          <a:p>
            <a:r>
              <a:rPr lang="en-US" altLang="zh-CN" sz="2400" dirty="0"/>
              <a:t>Vector unit switches</a:t>
            </a:r>
            <a:br>
              <a:rPr lang="en-US" altLang="zh-CN" sz="2400" dirty="0"/>
            </a:br>
            <a:r>
              <a:rPr lang="en-US" altLang="zh-CN" sz="2400" dirty="0"/>
              <a:t>off when not in use</a:t>
            </a:r>
            <a:br>
              <a:rPr lang="en-US" altLang="zh-CN" sz="2400" dirty="0"/>
            </a:br>
            <a:endParaRPr lang="en-US" altLang="zh-CN" sz="2400" dirty="0"/>
          </a:p>
          <a:p>
            <a:r>
              <a:rPr lang="en-US" altLang="zh-CN" sz="2400" dirty="0"/>
              <a:t>Vector instructions expose parallelism without speculation</a:t>
            </a:r>
          </a:p>
          <a:p>
            <a:r>
              <a:rPr lang="en-US" altLang="zh-CN" sz="2400" dirty="0"/>
              <a:t>Software control of</a:t>
            </a:r>
            <a:br>
              <a:rPr lang="en-US" altLang="zh-CN" sz="2400" dirty="0"/>
            </a:br>
            <a:r>
              <a:rPr lang="en-US" altLang="zh-CN" sz="2400" dirty="0"/>
              <a:t>speculation when desired:</a:t>
            </a:r>
          </a:p>
          <a:p>
            <a:pPr lvl="1"/>
            <a:r>
              <a:rPr lang="en-US" altLang="zh-CN" sz="2000" dirty="0"/>
              <a:t>Whether to use vector mask or compress/expand for conditionals</a:t>
            </a:r>
          </a:p>
        </p:txBody>
      </p:sp>
      <p:sp>
        <p:nvSpPr>
          <p:cNvPr id="125956" name="Rectangle 4"/>
          <p:cNvSpPr>
            <a:spLocks noChangeArrowheads="1"/>
          </p:cNvSpPr>
          <p:nvPr/>
        </p:nvSpPr>
        <p:spPr bwMode="auto">
          <a:xfrm>
            <a:off x="1600200" y="1600200"/>
            <a:ext cx="4038600" cy="4876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pPr>
            <a:r>
              <a:rPr lang="en-US" altLang="zh-CN" sz="3200" dirty="0">
                <a:solidFill>
                  <a:srgbClr val="FF3300"/>
                </a:solidFill>
                <a:latin typeface="Arial" panose="020B0604020202020204" pitchFamily="34" charset="0"/>
              </a:rPr>
              <a:t>Superscalar</a:t>
            </a:r>
            <a:endParaRPr lang="en-US" altLang="zh-CN" dirty="0">
              <a:latin typeface="Arial" panose="020B0604020202020204" pitchFamily="34" charset="0"/>
            </a:endParaRPr>
          </a:p>
          <a:p>
            <a:pPr>
              <a:spcBef>
                <a:spcPct val="20000"/>
              </a:spcBef>
              <a:buClr>
                <a:srgbClr val="0000FF"/>
              </a:buClr>
              <a:buSzPct val="70000"/>
              <a:buFont typeface="Monotype Sorts" pitchFamily="2" charset="2"/>
              <a:buChar char="l"/>
            </a:pPr>
            <a:r>
              <a:rPr lang="en-US" altLang="zh-CN" dirty="0">
                <a:latin typeface="Arial" panose="020B0604020202020204" pitchFamily="34" charset="0"/>
              </a:rPr>
              <a:t>Control logic grows quad-</a:t>
            </a:r>
            <a:r>
              <a:rPr lang="en-US" altLang="zh-CN" dirty="0" err="1">
                <a:latin typeface="Arial" panose="020B0604020202020204" pitchFamily="34" charset="0"/>
              </a:rPr>
              <a:t>ratically</a:t>
            </a:r>
            <a:r>
              <a:rPr lang="en-US" altLang="zh-CN" dirty="0">
                <a:latin typeface="Arial" panose="020B0604020202020204" pitchFamily="34" charset="0"/>
              </a:rPr>
              <a:t> with issue width</a:t>
            </a:r>
          </a:p>
          <a:p>
            <a:pPr>
              <a:spcBef>
                <a:spcPct val="20000"/>
              </a:spcBef>
              <a:buClr>
                <a:srgbClr val="0000FF"/>
              </a:buClr>
              <a:buSzPct val="70000"/>
              <a:buFont typeface="Monotype Sorts" pitchFamily="2" charset="2"/>
              <a:buChar char="l"/>
            </a:pPr>
            <a:r>
              <a:rPr lang="en-US" altLang="zh-CN" dirty="0">
                <a:latin typeface="Arial" panose="020B0604020202020204" pitchFamily="34" charset="0"/>
              </a:rPr>
              <a:t>Control logic consumes energy regardless of available parallelism</a:t>
            </a:r>
          </a:p>
          <a:p>
            <a:pPr>
              <a:spcBef>
                <a:spcPct val="20000"/>
              </a:spcBef>
              <a:buClr>
                <a:srgbClr val="0000FF"/>
              </a:buClr>
              <a:buSzPct val="70000"/>
              <a:buFont typeface="Monotype Sorts" pitchFamily="2" charset="2"/>
              <a:buChar char="l"/>
            </a:pPr>
            <a:r>
              <a:rPr lang="en-US" altLang="zh-CN" dirty="0">
                <a:latin typeface="Arial" panose="020B0604020202020204" pitchFamily="34" charset="0"/>
              </a:rPr>
              <a:t>Speculation to increase visible parallelism wastes energy</a:t>
            </a:r>
          </a:p>
        </p:txBody>
      </p:sp>
    </p:spTree>
    <p:extLst>
      <p:ext uri="{BB962C8B-B14F-4D97-AF65-F5344CB8AC3E}">
        <p14:creationId xmlns:p14="http://schemas.microsoft.com/office/powerpoint/2010/main" val="2345114010"/>
      </p:ext>
    </p:extLst>
  </p:cSld>
  <p:clrMapOvr>
    <a:masterClrMapping/>
  </p:clrMapOvr>
  <p:transition spd="slow"/>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a:xfrm>
            <a:off x="2503488" y="152400"/>
            <a:ext cx="7162800"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New Architecture Directions</a:t>
            </a:r>
          </a:p>
        </p:txBody>
      </p:sp>
      <p:sp>
        <p:nvSpPr>
          <p:cNvPr id="128003" name="Rectangle 3"/>
          <p:cNvSpPr>
            <a:spLocks noGrp="1" noChangeArrowheads="1"/>
          </p:cNvSpPr>
          <p:nvPr>
            <p:ph type="body" idx="1"/>
          </p:nvPr>
        </p:nvSpPr>
        <p:spPr>
          <a:xfrm>
            <a:off x="839416" y="1628800"/>
            <a:ext cx="10585176" cy="38576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dirty="0">
                <a:solidFill>
                  <a:srgbClr val="FC0128"/>
                </a:solidFill>
              </a:rPr>
              <a:t>M</a:t>
            </a:r>
            <a:r>
              <a:rPr lang="en-US" altLang="zh-CN" u="sng" dirty="0">
                <a:solidFill>
                  <a:srgbClr val="FC0128"/>
                </a:solidFill>
              </a:rPr>
              <a:t>edia processing will become the dominant force in computer arch. &amp; microprocessor design</a:t>
            </a:r>
            <a:r>
              <a:rPr lang="en-US" altLang="zh-CN" dirty="0">
                <a:solidFill>
                  <a:srgbClr val="FC0128"/>
                </a:solidFill>
              </a:rPr>
              <a:t>.</a:t>
            </a:r>
            <a:endParaRPr lang="en-US" altLang="zh-CN" dirty="0"/>
          </a:p>
          <a:p>
            <a:r>
              <a:rPr lang="en-US" altLang="zh-CN" dirty="0"/>
              <a:t>... new media-rich applications... involve significant real-time processing of continuous media streams, and make heavy use of vectors of packed 8-, 16-, and 32-bit integer and Floating Point.</a:t>
            </a:r>
          </a:p>
          <a:p>
            <a:r>
              <a:rPr lang="en-US" altLang="zh-CN" dirty="0"/>
              <a:t>Needs include high memory BW, high network BW, continuous media data types, real-time response, fine grain parallelism</a:t>
            </a:r>
          </a:p>
          <a:p>
            <a:pPr lvl="1"/>
            <a:r>
              <a:rPr lang="en-US" altLang="zh-CN" dirty="0"/>
              <a:t>Now Multimedia Workloads Will Change Processor Design? </a:t>
            </a:r>
            <a:r>
              <a:rPr lang="en-US" altLang="zh-CN" dirty="0" err="1"/>
              <a:t>Diefendorff</a:t>
            </a:r>
            <a:r>
              <a:rPr lang="en-US" altLang="zh-CN" dirty="0"/>
              <a:t> &amp; Dubey, </a:t>
            </a:r>
            <a:r>
              <a:rPr lang="en-US" altLang="zh-CN" i="1" dirty="0"/>
              <a:t>IEEE</a:t>
            </a:r>
            <a:r>
              <a:rPr lang="en-US" altLang="zh-CN" dirty="0"/>
              <a:t> </a:t>
            </a:r>
            <a:r>
              <a:rPr lang="en-US" altLang="zh-CN" i="1" dirty="0"/>
              <a:t>Computer </a:t>
            </a:r>
            <a:r>
              <a:rPr lang="en-US" altLang="zh-CN" dirty="0"/>
              <a:t>(9/97)</a:t>
            </a:r>
          </a:p>
        </p:txBody>
      </p:sp>
    </p:spTree>
    <p:extLst>
      <p:ext uri="{BB962C8B-B14F-4D97-AF65-F5344CB8AC3E}">
        <p14:creationId xmlns:p14="http://schemas.microsoft.com/office/powerpoint/2010/main" val="2083160661"/>
      </p:ext>
    </p:extLst>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a:xfrm>
            <a:off x="1847850" y="76200"/>
            <a:ext cx="8591550"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Which is Faster: Statistical v. Real time v. SPEC Performance</a:t>
            </a:r>
          </a:p>
        </p:txBody>
      </p:sp>
      <p:sp>
        <p:nvSpPr>
          <p:cNvPr id="129027" name="Rectangle 3"/>
          <p:cNvSpPr>
            <a:spLocks noGrp="1" noChangeArrowheads="1"/>
          </p:cNvSpPr>
          <p:nvPr>
            <p:ph type="body" idx="1"/>
          </p:nvPr>
        </p:nvSpPr>
        <p:spPr>
          <a:xfrm>
            <a:off x="4953000" y="1962150"/>
            <a:ext cx="5486400" cy="177165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lgn="r">
              <a:spcBef>
                <a:spcPct val="0"/>
              </a:spcBef>
              <a:buFont typeface="Wingdings" panose="05000000000000000000" pitchFamily="2" charset="2"/>
              <a:buNone/>
            </a:pPr>
            <a:r>
              <a:rPr lang="en-US" altLang="zh-CN" sz="4000" b="1" dirty="0"/>
              <a:t>Statistical </a:t>
            </a:r>
            <a:r>
              <a:rPr lang="en-US" altLang="zh-CN" sz="4400" b="1" dirty="0">
                <a:latin typeface="Symbol" panose="05050102010706020507" pitchFamily="18" charset="2"/>
              </a:rPr>
              <a:t></a:t>
            </a:r>
            <a:r>
              <a:rPr lang="en-US" altLang="zh-CN" sz="4000" b="1" dirty="0"/>
              <a:t> Average </a:t>
            </a:r>
            <a:r>
              <a:rPr lang="en-US" altLang="zh-CN" sz="4400" b="1" dirty="0">
                <a:latin typeface="Symbol" panose="05050102010706020507" pitchFamily="18" charset="2"/>
              </a:rPr>
              <a:t> </a:t>
            </a:r>
            <a:r>
              <a:rPr lang="en-US" altLang="zh-CN" sz="4000" b="1" dirty="0">
                <a:solidFill>
                  <a:srgbClr val="00DFCA"/>
                </a:solidFill>
              </a:rPr>
              <a:t>B</a:t>
            </a:r>
            <a:r>
              <a:rPr lang="en-US" altLang="zh-CN" sz="4400" b="1" dirty="0">
                <a:latin typeface="Symbol" panose="05050102010706020507" pitchFamily="18" charset="2"/>
              </a:rPr>
              <a:t> </a:t>
            </a:r>
            <a:endParaRPr lang="en-US" altLang="zh-CN" sz="4000" b="1" dirty="0"/>
          </a:p>
          <a:p>
            <a:pPr algn="r">
              <a:spcBef>
                <a:spcPct val="0"/>
              </a:spcBef>
              <a:buFont typeface="Wingdings" panose="05000000000000000000" pitchFamily="2" charset="2"/>
              <a:buNone/>
            </a:pPr>
            <a:r>
              <a:rPr lang="en-US" altLang="zh-CN" sz="4000" b="1" dirty="0"/>
              <a:t>Real time </a:t>
            </a:r>
            <a:r>
              <a:rPr lang="en-US" altLang="zh-CN" sz="4400" b="1" dirty="0">
                <a:latin typeface="Symbol" panose="05050102010706020507" pitchFamily="18" charset="2"/>
              </a:rPr>
              <a:t></a:t>
            </a:r>
            <a:r>
              <a:rPr lang="en-US" altLang="zh-CN" sz="4000" b="1" dirty="0"/>
              <a:t> Worst     </a:t>
            </a:r>
            <a:r>
              <a:rPr lang="en-US" altLang="zh-CN" sz="4400" b="1" dirty="0">
                <a:latin typeface="Symbol" panose="05050102010706020507" pitchFamily="18" charset="2"/>
              </a:rPr>
              <a:t></a:t>
            </a:r>
            <a:r>
              <a:rPr lang="en-US" altLang="zh-CN" sz="4000" dirty="0">
                <a:solidFill>
                  <a:srgbClr val="FC0128"/>
                </a:solidFill>
              </a:rPr>
              <a:t>A</a:t>
            </a:r>
          </a:p>
          <a:p>
            <a:pPr algn="r">
              <a:spcBef>
                <a:spcPct val="0"/>
              </a:spcBef>
              <a:buFont typeface="Wingdings" panose="05000000000000000000" pitchFamily="2" charset="2"/>
              <a:buNone/>
            </a:pPr>
            <a:r>
              <a:rPr lang="en-US" altLang="zh-CN" sz="4000" b="1" dirty="0"/>
              <a:t>(SPEC </a:t>
            </a:r>
            <a:r>
              <a:rPr lang="en-US" altLang="zh-CN" sz="4400" b="1" dirty="0">
                <a:latin typeface="Symbol" panose="05050102010706020507" pitchFamily="18" charset="2"/>
              </a:rPr>
              <a:t></a:t>
            </a:r>
            <a:r>
              <a:rPr lang="en-US" altLang="zh-CN" sz="4000" b="1" dirty="0"/>
              <a:t> Best </a:t>
            </a:r>
            <a:r>
              <a:rPr lang="en-US" altLang="zh-CN" sz="4400" b="1" dirty="0">
                <a:latin typeface="Symbol" panose="05050102010706020507" pitchFamily="18" charset="2"/>
              </a:rPr>
              <a:t></a:t>
            </a:r>
            <a:r>
              <a:rPr lang="en-US" altLang="zh-CN" sz="4000" dirty="0">
                <a:solidFill>
                  <a:srgbClr val="00FF00"/>
                </a:solidFill>
              </a:rPr>
              <a:t>C</a:t>
            </a:r>
            <a:r>
              <a:rPr lang="en-US" altLang="zh-CN" sz="4000" dirty="0"/>
              <a:t>)</a:t>
            </a:r>
          </a:p>
        </p:txBody>
      </p:sp>
      <p:grpSp>
        <p:nvGrpSpPr>
          <p:cNvPr id="129028" name="Group 4"/>
          <p:cNvGrpSpPr>
            <a:grpSpLocks/>
          </p:cNvGrpSpPr>
          <p:nvPr/>
        </p:nvGrpSpPr>
        <p:grpSpPr bwMode="auto">
          <a:xfrm>
            <a:off x="1270961" y="1666875"/>
            <a:ext cx="8080375" cy="5191125"/>
            <a:chOff x="-37" y="1040"/>
            <a:chExt cx="5088" cy="3272"/>
          </a:xfrm>
        </p:grpSpPr>
        <p:graphicFrame>
          <p:nvGraphicFramePr>
            <p:cNvPr id="129029" name="Object 5">
              <a:hlinkClick r:id="" action="ppaction://ole?verb=0"/>
            </p:cNvPr>
            <p:cNvGraphicFramePr>
              <a:graphicFrameLocks/>
            </p:cNvGraphicFramePr>
            <p:nvPr>
              <p:extLst>
                <p:ext uri="{D42A27DB-BD31-4B8C-83A1-F6EECF244321}">
                  <p14:modId xmlns:p14="http://schemas.microsoft.com/office/powerpoint/2010/main" val="1762181951"/>
                </p:ext>
              </p:extLst>
            </p:nvPr>
          </p:nvGraphicFramePr>
          <p:xfrm>
            <a:off x="-37" y="1040"/>
            <a:ext cx="5088" cy="3272"/>
          </p:xfrm>
          <a:graphic>
            <a:graphicData uri="http://schemas.openxmlformats.org/presentationml/2006/ole">
              <mc:AlternateContent xmlns:mc="http://schemas.openxmlformats.org/markup-compatibility/2006">
                <mc:Choice xmlns:v="urn:schemas-microsoft-com:vml" Requires="v">
                  <p:oleObj spid="_x0000_s2067" name="图表" r:id="rId3" imgW="8334516" imgH="4893276" progId="MSGraph.Chart.8">
                    <p:embed followColorScheme="full"/>
                  </p:oleObj>
                </mc:Choice>
                <mc:Fallback>
                  <p:oleObj name="图表" r:id="rId3" imgW="8334516" imgH="4893276" progId="MSGraph.Chart.8">
                    <p:embed followColorScheme="full"/>
                    <p:pic>
                      <p:nvPicPr>
                        <p:cNvPr id="129029" name="Object 5">
                          <a:hlinkClick r:id="" action="ppaction://ole?verb=0"/>
                        </p:cNvPr>
                        <p:cNvPicPr>
                          <a:picLocks noChangeArrowheads="1"/>
                        </p:cNvPicPr>
                        <p:nvPr/>
                      </p:nvPicPr>
                      <p:blipFill>
                        <a:blip r:embed="rId4"/>
                        <a:srcRect/>
                        <a:stretch>
                          <a:fillRect/>
                        </a:stretch>
                      </p:blipFill>
                      <p:spPr bwMode="auto">
                        <a:xfrm>
                          <a:off x="-37" y="1040"/>
                          <a:ext cx="5088" cy="3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9030" name="Line 6"/>
            <p:cNvSpPr>
              <a:spLocks noChangeShapeType="1"/>
            </p:cNvSpPr>
            <p:nvPr/>
          </p:nvSpPr>
          <p:spPr bwMode="auto">
            <a:xfrm>
              <a:off x="1516" y="2898"/>
              <a:ext cx="0" cy="804"/>
            </a:xfrm>
            <a:prstGeom prst="line">
              <a:avLst/>
            </a:prstGeom>
            <a:noFill/>
            <a:ln w="25400">
              <a:solidFill>
                <a:srgbClr val="FC012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031" name="Line 7"/>
            <p:cNvSpPr>
              <a:spLocks noChangeShapeType="1"/>
            </p:cNvSpPr>
            <p:nvPr/>
          </p:nvSpPr>
          <p:spPr bwMode="auto">
            <a:xfrm>
              <a:off x="1233" y="2935"/>
              <a:ext cx="1" cy="804"/>
            </a:xfrm>
            <a:prstGeom prst="line">
              <a:avLst/>
            </a:prstGeom>
            <a:noFill/>
            <a:ln w="25400">
              <a:solidFill>
                <a:srgbClr val="00DFC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032" name="Line 8"/>
            <p:cNvSpPr>
              <a:spLocks noChangeShapeType="1"/>
            </p:cNvSpPr>
            <p:nvPr/>
          </p:nvSpPr>
          <p:spPr bwMode="auto">
            <a:xfrm>
              <a:off x="927" y="2911"/>
              <a:ext cx="1" cy="804"/>
            </a:xfrm>
            <a:prstGeom prst="line">
              <a:avLst/>
            </a:prstGeom>
            <a:noFill/>
            <a:ln w="254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033" name="Line 9"/>
            <p:cNvSpPr>
              <a:spLocks noChangeShapeType="1"/>
            </p:cNvSpPr>
            <p:nvPr/>
          </p:nvSpPr>
          <p:spPr bwMode="auto">
            <a:xfrm flipV="1">
              <a:off x="1800" y="1274"/>
              <a:ext cx="11" cy="922"/>
            </a:xfrm>
            <a:prstGeom prst="line">
              <a:avLst/>
            </a:prstGeom>
            <a:noFill/>
            <a:ln w="25400">
              <a:solidFill>
                <a:srgbClr val="FC012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034" name="Line 10"/>
            <p:cNvSpPr>
              <a:spLocks noChangeShapeType="1"/>
            </p:cNvSpPr>
            <p:nvPr/>
          </p:nvSpPr>
          <p:spPr bwMode="auto">
            <a:xfrm flipV="1">
              <a:off x="2091" y="1428"/>
              <a:ext cx="0" cy="997"/>
            </a:xfrm>
            <a:prstGeom prst="line">
              <a:avLst/>
            </a:prstGeom>
            <a:noFill/>
            <a:ln w="25400">
              <a:solidFill>
                <a:srgbClr val="00DFC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035" name="Line 11"/>
            <p:cNvSpPr>
              <a:spLocks noChangeShapeType="1"/>
            </p:cNvSpPr>
            <p:nvPr/>
          </p:nvSpPr>
          <p:spPr bwMode="auto">
            <a:xfrm flipH="1" flipV="1">
              <a:off x="2406" y="1748"/>
              <a:ext cx="17" cy="1114"/>
            </a:xfrm>
            <a:prstGeom prst="line">
              <a:avLst/>
            </a:prstGeom>
            <a:noFill/>
            <a:ln w="254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036" name="Rectangle 12"/>
            <p:cNvSpPr>
              <a:spLocks noChangeArrowheads="1"/>
            </p:cNvSpPr>
            <p:nvPr/>
          </p:nvSpPr>
          <p:spPr bwMode="auto">
            <a:xfrm>
              <a:off x="1745" y="1111"/>
              <a:ext cx="888"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i="1"/>
                <a:t>Average </a:t>
              </a:r>
            </a:p>
          </p:txBody>
        </p:sp>
        <p:sp>
          <p:nvSpPr>
            <p:cNvPr id="129037" name="Rectangle 13"/>
            <p:cNvSpPr>
              <a:spLocks noChangeArrowheads="1"/>
            </p:cNvSpPr>
            <p:nvPr/>
          </p:nvSpPr>
          <p:spPr bwMode="auto">
            <a:xfrm>
              <a:off x="483" y="3757"/>
              <a:ext cx="1181"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i="1"/>
                <a:t>Worst Case </a:t>
              </a:r>
            </a:p>
          </p:txBody>
        </p:sp>
        <p:sp>
          <p:nvSpPr>
            <p:cNvPr id="129038" name="Rectangle 14"/>
            <p:cNvSpPr>
              <a:spLocks noChangeArrowheads="1"/>
            </p:cNvSpPr>
            <p:nvPr/>
          </p:nvSpPr>
          <p:spPr bwMode="auto">
            <a:xfrm>
              <a:off x="1878" y="3220"/>
              <a:ext cx="302" cy="3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3200" b="1">
                  <a:solidFill>
                    <a:srgbClr val="FC0128"/>
                  </a:solidFill>
                </a:rPr>
                <a:t>A</a:t>
              </a:r>
            </a:p>
          </p:txBody>
        </p:sp>
        <p:sp>
          <p:nvSpPr>
            <p:cNvPr id="129039" name="Rectangle 15"/>
            <p:cNvSpPr>
              <a:spLocks noChangeArrowheads="1"/>
            </p:cNvSpPr>
            <p:nvPr/>
          </p:nvSpPr>
          <p:spPr bwMode="auto">
            <a:xfrm>
              <a:off x="2636" y="3220"/>
              <a:ext cx="302" cy="3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3200" b="1">
                  <a:solidFill>
                    <a:srgbClr val="00DFCA"/>
                  </a:solidFill>
                </a:rPr>
                <a:t>B</a:t>
              </a:r>
            </a:p>
          </p:txBody>
        </p:sp>
        <p:sp>
          <p:nvSpPr>
            <p:cNvPr id="129040" name="Rectangle 16"/>
            <p:cNvSpPr>
              <a:spLocks noChangeArrowheads="1"/>
            </p:cNvSpPr>
            <p:nvPr/>
          </p:nvSpPr>
          <p:spPr bwMode="auto">
            <a:xfrm>
              <a:off x="3339" y="3256"/>
              <a:ext cx="302" cy="3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3200" b="1">
                  <a:solidFill>
                    <a:srgbClr val="00FF00"/>
                  </a:solidFill>
                </a:rPr>
                <a:t>C</a:t>
              </a:r>
            </a:p>
          </p:txBody>
        </p:sp>
        <p:sp>
          <p:nvSpPr>
            <p:cNvPr id="129041" name="Line 17"/>
            <p:cNvSpPr>
              <a:spLocks noChangeShapeType="1"/>
            </p:cNvSpPr>
            <p:nvPr/>
          </p:nvSpPr>
          <p:spPr bwMode="auto">
            <a:xfrm>
              <a:off x="2128" y="2898"/>
              <a:ext cx="0" cy="804"/>
            </a:xfrm>
            <a:prstGeom prst="line">
              <a:avLst/>
            </a:prstGeom>
            <a:noFill/>
            <a:ln w="25400">
              <a:solidFill>
                <a:srgbClr val="FC012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042" name="Line 18"/>
            <p:cNvSpPr>
              <a:spLocks noChangeShapeType="1"/>
            </p:cNvSpPr>
            <p:nvPr/>
          </p:nvSpPr>
          <p:spPr bwMode="auto">
            <a:xfrm>
              <a:off x="2997" y="2935"/>
              <a:ext cx="1" cy="804"/>
            </a:xfrm>
            <a:prstGeom prst="line">
              <a:avLst/>
            </a:prstGeom>
            <a:noFill/>
            <a:ln w="25400">
              <a:solidFill>
                <a:srgbClr val="00DFC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043" name="Line 19"/>
            <p:cNvSpPr>
              <a:spLocks noChangeShapeType="1"/>
            </p:cNvSpPr>
            <p:nvPr/>
          </p:nvSpPr>
          <p:spPr bwMode="auto">
            <a:xfrm>
              <a:off x="3759" y="2911"/>
              <a:ext cx="1" cy="804"/>
            </a:xfrm>
            <a:prstGeom prst="line">
              <a:avLst/>
            </a:prstGeom>
            <a:noFill/>
            <a:ln w="254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044" name="Rectangle 20"/>
            <p:cNvSpPr>
              <a:spLocks noChangeArrowheads="1"/>
            </p:cNvSpPr>
            <p:nvPr/>
          </p:nvSpPr>
          <p:spPr bwMode="auto">
            <a:xfrm>
              <a:off x="2835" y="3757"/>
              <a:ext cx="1063"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i="1"/>
                <a:t>Best Case </a:t>
              </a:r>
            </a:p>
          </p:txBody>
        </p:sp>
      </p:grpSp>
    </p:spTree>
    <p:extLst>
      <p:ext uri="{BB962C8B-B14F-4D97-AF65-F5344CB8AC3E}">
        <p14:creationId xmlns:p14="http://schemas.microsoft.com/office/powerpoint/2010/main" val="144779425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29027">
                                            <p:txEl>
                                              <p:pRg st="0" end="0"/>
                                            </p:txEl>
                                          </p:spTgt>
                                        </p:tgtEl>
                                        <p:attrNameLst>
                                          <p:attrName>style.visibility</p:attrName>
                                        </p:attrNameLst>
                                      </p:cBhvr>
                                      <p:to>
                                        <p:strVal val="visible"/>
                                      </p:to>
                                    </p:set>
                                    <p:anim calcmode="lin" valueType="num">
                                      <p:cBhvr additive="base">
                                        <p:cTn id="7" dur="500" fill="hold"/>
                                        <p:tgtEl>
                                          <p:spTgt spid="12902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2902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29027">
                                            <p:txEl>
                                              <p:pRg st="1" end="1"/>
                                            </p:txEl>
                                          </p:spTgt>
                                        </p:tgtEl>
                                        <p:attrNameLst>
                                          <p:attrName>style.visibility</p:attrName>
                                        </p:attrNameLst>
                                      </p:cBhvr>
                                      <p:to>
                                        <p:strVal val="visible"/>
                                      </p:to>
                                    </p:set>
                                    <p:anim calcmode="lin" valueType="num">
                                      <p:cBhvr additive="base">
                                        <p:cTn id="13" dur="500" fill="hold"/>
                                        <p:tgtEl>
                                          <p:spTgt spid="12902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2902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29027">
                                            <p:txEl>
                                              <p:pRg st="2" end="2"/>
                                            </p:txEl>
                                          </p:spTgt>
                                        </p:tgtEl>
                                        <p:attrNameLst>
                                          <p:attrName>style.visibility</p:attrName>
                                        </p:attrNameLst>
                                      </p:cBhvr>
                                      <p:to>
                                        <p:strVal val="visible"/>
                                      </p:to>
                                    </p:set>
                                    <p:anim calcmode="lin" valueType="num">
                                      <p:cBhvr additive="base">
                                        <p:cTn id="19" dur="500" fill="hold"/>
                                        <p:tgtEl>
                                          <p:spTgt spid="129027">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29027">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7" grpId="0" build="p"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a:xfrm>
            <a:off x="2487613" y="76200"/>
            <a:ext cx="7162800"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solidFill>
                  <a:srgbClr val="00FF00"/>
                </a:solidFill>
              </a:rPr>
              <a:t>VLIW/Out-of-Order</a:t>
            </a:r>
            <a:r>
              <a:rPr lang="en-US" altLang="zh-CN"/>
              <a:t> </a:t>
            </a:r>
            <a:r>
              <a:rPr lang="en-US" altLang="zh-CN">
                <a:solidFill>
                  <a:srgbClr val="676767"/>
                </a:solidFill>
              </a:rPr>
              <a:t>vs. </a:t>
            </a:r>
            <a:br>
              <a:rPr lang="en-US" altLang="zh-CN">
                <a:solidFill>
                  <a:srgbClr val="676767"/>
                </a:solidFill>
              </a:rPr>
            </a:br>
            <a:r>
              <a:rPr lang="en-US" altLang="zh-CN">
                <a:solidFill>
                  <a:srgbClr val="FC0128"/>
                </a:solidFill>
              </a:rPr>
              <a:t>Modest</a:t>
            </a:r>
            <a:r>
              <a:rPr lang="en-US" altLang="zh-CN">
                <a:solidFill>
                  <a:srgbClr val="676767"/>
                </a:solidFill>
              </a:rPr>
              <a:t> </a:t>
            </a:r>
            <a:r>
              <a:rPr lang="en-US" altLang="zh-CN">
                <a:solidFill>
                  <a:srgbClr val="FC0128"/>
                </a:solidFill>
              </a:rPr>
              <a:t>Scalar+Vector</a:t>
            </a:r>
          </a:p>
        </p:txBody>
      </p:sp>
      <p:graphicFrame>
        <p:nvGraphicFramePr>
          <p:cNvPr id="130051" name="Object 3">
            <a:hlinkClick r:id="" action="ppaction://ole?verb=0"/>
          </p:cNvPr>
          <p:cNvGraphicFramePr>
            <a:graphicFrameLocks noGrp="1"/>
          </p:cNvGraphicFramePr>
          <p:nvPr>
            <p:ph type="chart" idx="1"/>
          </p:nvPr>
        </p:nvGraphicFramePr>
        <p:xfrm>
          <a:off x="1643063" y="1916114"/>
          <a:ext cx="8716962" cy="4230687"/>
        </p:xfrm>
        <a:graphic>
          <a:graphicData uri="http://schemas.openxmlformats.org/presentationml/2006/ole">
            <mc:AlternateContent xmlns:mc="http://schemas.openxmlformats.org/markup-compatibility/2006">
              <mc:Choice xmlns:v="urn:schemas-microsoft-com:vml" Requires="v">
                <p:oleObj spid="_x0000_s3090" name="图表" r:id="rId3" imgW="9537059" imgH="4631467" progId="MSGraph.Chart.8">
                  <p:embed followColorScheme="full"/>
                </p:oleObj>
              </mc:Choice>
              <mc:Fallback>
                <p:oleObj name="图表" r:id="rId3" imgW="9537059" imgH="4631467" progId="MSGraph.Chart.8">
                  <p:embed followColorScheme="full"/>
                  <p:pic>
                    <p:nvPicPr>
                      <p:cNvPr id="130051" name="Object 3">
                        <a:hlinkClick r:id="" action="ppaction://ole?verb=0"/>
                      </p:cNvPr>
                      <p:cNvPicPr>
                        <a:picLocks noChangeArrowheads="1"/>
                      </p:cNvPicPr>
                      <p:nvPr/>
                    </p:nvPicPr>
                    <p:blipFill>
                      <a:blip r:embed="rId4"/>
                      <a:srcRect/>
                      <a:stretch>
                        <a:fillRect/>
                      </a:stretch>
                    </p:blipFill>
                    <p:spPr bwMode="auto">
                      <a:xfrm>
                        <a:off x="1643063" y="1916114"/>
                        <a:ext cx="8716962" cy="423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0052" name="Rectangle 4"/>
          <p:cNvSpPr>
            <a:spLocks noChangeArrowheads="1"/>
          </p:cNvSpPr>
          <p:nvPr/>
        </p:nvSpPr>
        <p:spPr bwMode="auto">
          <a:xfrm>
            <a:off x="4466767" y="3176588"/>
            <a:ext cx="1736054"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solidFill>
                  <a:srgbClr val="00FF00"/>
                </a:solidFill>
              </a:rPr>
              <a:t>VLIW/OOO</a:t>
            </a:r>
          </a:p>
        </p:txBody>
      </p:sp>
      <p:sp>
        <p:nvSpPr>
          <p:cNvPr id="130053" name="Rectangle 5"/>
          <p:cNvSpPr>
            <a:spLocks noChangeArrowheads="1"/>
          </p:cNvSpPr>
          <p:nvPr/>
        </p:nvSpPr>
        <p:spPr bwMode="auto">
          <a:xfrm>
            <a:off x="2768601" y="4194175"/>
            <a:ext cx="2151231"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a:solidFill>
                  <a:srgbClr val="FC0128"/>
                </a:solidFill>
              </a:rPr>
              <a:t>Modest Scalar</a:t>
            </a:r>
          </a:p>
        </p:txBody>
      </p:sp>
      <p:sp>
        <p:nvSpPr>
          <p:cNvPr id="130054" name="Rectangle 6"/>
          <p:cNvSpPr>
            <a:spLocks noChangeArrowheads="1"/>
          </p:cNvSpPr>
          <p:nvPr/>
        </p:nvSpPr>
        <p:spPr bwMode="auto">
          <a:xfrm>
            <a:off x="8081963" y="1484313"/>
            <a:ext cx="1055418"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a:solidFill>
                  <a:srgbClr val="FC0128"/>
                </a:solidFill>
              </a:rPr>
              <a:t>Vector</a:t>
            </a:r>
          </a:p>
        </p:txBody>
      </p:sp>
      <p:sp>
        <p:nvSpPr>
          <p:cNvPr id="130055" name="Rectangle 7"/>
          <p:cNvSpPr>
            <a:spLocks noChangeArrowheads="1"/>
          </p:cNvSpPr>
          <p:nvPr/>
        </p:nvSpPr>
        <p:spPr bwMode="auto">
          <a:xfrm>
            <a:off x="2511425" y="5481638"/>
            <a:ext cx="2341026"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a:t>Very Sequential</a:t>
            </a:r>
          </a:p>
        </p:txBody>
      </p:sp>
      <p:sp>
        <p:nvSpPr>
          <p:cNvPr id="130056" name="Rectangle 8"/>
          <p:cNvSpPr>
            <a:spLocks noChangeArrowheads="1"/>
          </p:cNvSpPr>
          <p:nvPr/>
        </p:nvSpPr>
        <p:spPr bwMode="auto">
          <a:xfrm>
            <a:off x="8470814" y="5514975"/>
            <a:ext cx="1913025"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a:r>
              <a:rPr lang="en-US" altLang="zh-CN" sz="2400"/>
              <a:t>Very Parallel</a:t>
            </a:r>
          </a:p>
        </p:txBody>
      </p:sp>
      <p:sp>
        <p:nvSpPr>
          <p:cNvPr id="130057" name="Rectangle 9"/>
          <p:cNvSpPr>
            <a:spLocks noChangeArrowheads="1"/>
          </p:cNvSpPr>
          <p:nvPr/>
        </p:nvSpPr>
        <p:spPr bwMode="auto">
          <a:xfrm>
            <a:off x="6605589" y="4313238"/>
            <a:ext cx="3710953" cy="8284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i="1"/>
              <a:t>(Where are important </a:t>
            </a:r>
          </a:p>
          <a:p>
            <a:r>
              <a:rPr lang="en-US" altLang="zh-CN" sz="2400" i="1"/>
              <a:t>applications on this axis?)</a:t>
            </a:r>
          </a:p>
        </p:txBody>
      </p:sp>
      <p:sp>
        <p:nvSpPr>
          <p:cNvPr id="130058" name="Rectangle 10"/>
          <p:cNvSpPr>
            <a:spLocks noChangeArrowheads="1"/>
          </p:cNvSpPr>
          <p:nvPr/>
        </p:nvSpPr>
        <p:spPr bwMode="auto">
          <a:xfrm>
            <a:off x="7067551" y="2759075"/>
            <a:ext cx="3537829" cy="8284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i="1"/>
              <a:t>(Where are crossover </a:t>
            </a:r>
            <a:br>
              <a:rPr lang="en-US" altLang="zh-CN" sz="2400" i="1"/>
            </a:br>
            <a:r>
              <a:rPr lang="en-US" altLang="zh-CN" sz="2400" i="1"/>
              <a:t>points on these curves?)</a:t>
            </a:r>
          </a:p>
        </p:txBody>
      </p:sp>
    </p:spTree>
    <p:extLst>
      <p:ext uri="{BB962C8B-B14F-4D97-AF65-F5344CB8AC3E}">
        <p14:creationId xmlns:p14="http://schemas.microsoft.com/office/powerpoint/2010/main" val="1945238901"/>
      </p:ext>
    </p:extLst>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a:xfrm>
            <a:off x="1055440" y="381001"/>
            <a:ext cx="10081120" cy="652463"/>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Cost-performance of simple vs. OOO</a:t>
            </a:r>
          </a:p>
        </p:txBody>
      </p:sp>
      <p:sp>
        <p:nvSpPr>
          <p:cNvPr id="131075" name="Rectangle 3"/>
          <p:cNvSpPr>
            <a:spLocks noGrp="1" noChangeArrowheads="1"/>
          </p:cNvSpPr>
          <p:nvPr>
            <p:ph type="body" idx="1"/>
          </p:nvPr>
        </p:nvSpPr>
        <p:spPr>
          <a:xfrm>
            <a:off x="1524000" y="1556792"/>
            <a:ext cx="8986838" cy="3929608"/>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buNone/>
              <a:tabLst>
                <a:tab pos="4114800" algn="ctr"/>
                <a:tab pos="6286500" algn="ctr"/>
                <a:tab pos="8001000" algn="ctr"/>
                <a:tab pos="8805863" algn="ctr"/>
              </a:tabLst>
            </a:pPr>
            <a:r>
              <a:rPr lang="en-US" altLang="zh-CN" dirty="0"/>
              <a:t>	 </a:t>
            </a:r>
            <a:r>
              <a:rPr lang="en-US" altLang="zh-CN" dirty="0">
                <a:solidFill>
                  <a:schemeClr val="hlink"/>
                </a:solidFill>
              </a:rPr>
              <a:t>MIPS MPUs	 R5000	R10000	10k/5k</a:t>
            </a:r>
            <a:endParaRPr lang="en-US" altLang="zh-CN" dirty="0"/>
          </a:p>
          <a:p>
            <a:pPr>
              <a:tabLst>
                <a:tab pos="4114800" algn="ctr"/>
                <a:tab pos="6286500" algn="ctr"/>
                <a:tab pos="8001000" algn="ctr"/>
                <a:tab pos="8805863" algn="ctr"/>
              </a:tabLst>
            </a:pPr>
            <a:r>
              <a:rPr lang="en-US" altLang="zh-CN" dirty="0"/>
              <a:t>Clock Rate	200 MHz	 195 MHz	1.0x</a:t>
            </a:r>
          </a:p>
          <a:p>
            <a:pPr>
              <a:tabLst>
                <a:tab pos="4114800" algn="ctr"/>
                <a:tab pos="6286500" algn="ctr"/>
                <a:tab pos="8001000" algn="ctr"/>
                <a:tab pos="8805863" algn="ctr"/>
              </a:tabLst>
            </a:pPr>
            <a:r>
              <a:rPr lang="en-US" altLang="zh-CN" dirty="0"/>
              <a:t>On-Chip Caches	32K/32K	 32K/32K 	1.0x</a:t>
            </a:r>
          </a:p>
          <a:p>
            <a:pPr>
              <a:tabLst>
                <a:tab pos="4114800" algn="ctr"/>
                <a:tab pos="6286500" algn="ctr"/>
                <a:tab pos="8001000" algn="ctr"/>
                <a:tab pos="8805863" algn="ctr"/>
              </a:tabLst>
            </a:pPr>
            <a:r>
              <a:rPr lang="en-US" altLang="zh-CN" dirty="0"/>
              <a:t>Instructions/Cycle 	</a:t>
            </a:r>
            <a:r>
              <a:rPr lang="en-US" altLang="zh-CN" dirty="0">
                <a:solidFill>
                  <a:srgbClr val="FC0128"/>
                </a:solidFill>
              </a:rPr>
              <a:t>1(+ FP)	4 </a:t>
            </a:r>
            <a:r>
              <a:rPr lang="en-US" altLang="zh-CN" dirty="0"/>
              <a:t>	4.0x</a:t>
            </a:r>
          </a:p>
          <a:p>
            <a:pPr>
              <a:tabLst>
                <a:tab pos="4114800" algn="ctr"/>
                <a:tab pos="6286500" algn="ctr"/>
                <a:tab pos="8001000" algn="ctr"/>
                <a:tab pos="8805863" algn="ctr"/>
              </a:tabLst>
            </a:pPr>
            <a:r>
              <a:rPr lang="en-US" altLang="zh-CN" dirty="0"/>
              <a:t>Pipe stages	</a:t>
            </a:r>
            <a:r>
              <a:rPr lang="en-US" altLang="zh-CN" dirty="0">
                <a:solidFill>
                  <a:srgbClr val="FC0128"/>
                </a:solidFill>
              </a:rPr>
              <a:t>5	5-7</a:t>
            </a:r>
            <a:r>
              <a:rPr lang="en-US" altLang="zh-CN" dirty="0"/>
              <a:t>	1.2x</a:t>
            </a:r>
          </a:p>
          <a:p>
            <a:pPr>
              <a:tabLst>
                <a:tab pos="4114800" algn="ctr"/>
                <a:tab pos="6286500" algn="ctr"/>
                <a:tab pos="8001000" algn="ctr"/>
                <a:tab pos="8805863" algn="ctr"/>
              </a:tabLst>
            </a:pPr>
            <a:r>
              <a:rPr lang="en-US" altLang="zh-CN" dirty="0"/>
              <a:t>Model	</a:t>
            </a:r>
            <a:r>
              <a:rPr lang="en-US" altLang="zh-CN" dirty="0">
                <a:solidFill>
                  <a:srgbClr val="FC0128"/>
                </a:solidFill>
              </a:rPr>
              <a:t>In-order	Out-of-order</a:t>
            </a:r>
            <a:r>
              <a:rPr lang="en-US" altLang="zh-CN" dirty="0"/>
              <a:t>	---</a:t>
            </a:r>
          </a:p>
          <a:p>
            <a:pPr>
              <a:tabLst>
                <a:tab pos="4114800" algn="ctr"/>
                <a:tab pos="6286500" algn="ctr"/>
                <a:tab pos="8001000" algn="ctr"/>
                <a:tab pos="8805863" algn="ctr"/>
              </a:tabLst>
            </a:pPr>
            <a:r>
              <a:rPr lang="en-US" altLang="zh-CN" dirty="0"/>
              <a:t>Die Size (mm</a:t>
            </a:r>
            <a:r>
              <a:rPr lang="en-US" altLang="zh-CN" baseline="30000" dirty="0"/>
              <a:t>2</a:t>
            </a:r>
            <a:r>
              <a:rPr lang="en-US" altLang="zh-CN" dirty="0"/>
              <a:t>) 	84 	 298	</a:t>
            </a:r>
            <a:r>
              <a:rPr lang="en-US" altLang="zh-CN" dirty="0">
                <a:solidFill>
                  <a:srgbClr val="FC0128"/>
                </a:solidFill>
              </a:rPr>
              <a:t>3.5x</a:t>
            </a:r>
          </a:p>
          <a:p>
            <a:pPr lvl="1">
              <a:tabLst>
                <a:tab pos="4114800" algn="ctr"/>
                <a:tab pos="6286500" algn="ctr"/>
                <a:tab pos="8001000" algn="ctr"/>
                <a:tab pos="8805863" algn="ctr"/>
              </a:tabLst>
            </a:pPr>
            <a:r>
              <a:rPr lang="en-US" altLang="zh-CN" dirty="0"/>
              <a:t>without cache, TLB	32	205	 </a:t>
            </a:r>
            <a:r>
              <a:rPr lang="en-US" altLang="zh-CN" dirty="0">
                <a:solidFill>
                  <a:srgbClr val="FC0128"/>
                </a:solidFill>
              </a:rPr>
              <a:t>6.3x</a:t>
            </a:r>
          </a:p>
          <a:p>
            <a:pPr>
              <a:tabLst>
                <a:tab pos="4114800" algn="ctr"/>
                <a:tab pos="6286500" algn="ctr"/>
                <a:tab pos="8001000" algn="ctr"/>
                <a:tab pos="8805863" algn="ctr"/>
              </a:tabLst>
            </a:pPr>
            <a:r>
              <a:rPr lang="en-US" altLang="zh-CN" dirty="0"/>
              <a:t>Development (man yr.)	60	300	</a:t>
            </a:r>
            <a:r>
              <a:rPr lang="en-US" altLang="zh-CN" dirty="0">
                <a:solidFill>
                  <a:srgbClr val="FC0128"/>
                </a:solidFill>
              </a:rPr>
              <a:t>5.0x</a:t>
            </a:r>
          </a:p>
          <a:p>
            <a:pPr>
              <a:tabLst>
                <a:tab pos="4114800" algn="ctr"/>
                <a:tab pos="6286500" algn="ctr"/>
                <a:tab pos="8001000" algn="ctr"/>
                <a:tab pos="8805863" algn="ctr"/>
              </a:tabLst>
            </a:pPr>
            <a:r>
              <a:rPr lang="en-US" altLang="zh-CN" dirty="0"/>
              <a:t>SPECint_base95	5.7	8.8	</a:t>
            </a:r>
            <a:r>
              <a:rPr lang="en-US" altLang="zh-CN" dirty="0">
                <a:solidFill>
                  <a:srgbClr val="FC0128"/>
                </a:solidFill>
              </a:rPr>
              <a:t>1.6x</a:t>
            </a:r>
          </a:p>
        </p:txBody>
      </p:sp>
    </p:spTree>
    <p:extLst>
      <p:ext uri="{BB962C8B-B14F-4D97-AF65-F5344CB8AC3E}">
        <p14:creationId xmlns:p14="http://schemas.microsoft.com/office/powerpoint/2010/main" val="895323650"/>
      </p:ext>
    </p:extLst>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p:txBody>
          <a:bodyPr/>
          <a:lstStyle/>
          <a:p>
            <a:r>
              <a:rPr lang="en-US" altLang="zh-CN" smtClean="0"/>
              <a:t>Summary</a:t>
            </a:r>
            <a:endParaRPr lang="en-US" altLang="zh-CN"/>
          </a:p>
        </p:txBody>
      </p:sp>
      <p:sp>
        <p:nvSpPr>
          <p:cNvPr id="132099" name="Rectangle 3"/>
          <p:cNvSpPr>
            <a:spLocks noGrp="1" noChangeArrowheads="1"/>
          </p:cNvSpPr>
          <p:nvPr>
            <p:ph type="body" idx="1"/>
          </p:nvPr>
        </p:nvSpPr>
        <p:spPr/>
        <p:txBody>
          <a:bodyPr/>
          <a:lstStyle/>
          <a:p>
            <a:r>
              <a:rPr lang="en-US" altLang="zh-CN" smtClean="0"/>
              <a:t>Vector is alternative model for exploiting ILP</a:t>
            </a:r>
          </a:p>
          <a:p>
            <a:r>
              <a:rPr lang="en-US" altLang="zh-CN" smtClean="0"/>
              <a:t>If code is vectorizable, then simpler hardware, more energy efficient, and better real-time model than Out-of-order machines</a:t>
            </a:r>
          </a:p>
          <a:p>
            <a:r>
              <a:rPr lang="en-US" altLang="zh-CN" smtClean="0"/>
              <a:t>Design issues include number of lanes, number of functional units, number of vector registers, length of vector registers, exception handling, conditional operations</a:t>
            </a:r>
          </a:p>
          <a:p>
            <a:r>
              <a:rPr lang="en-US" altLang="zh-CN" smtClean="0"/>
              <a:t>Will multimedia popularity revive vector architectures?</a:t>
            </a:r>
            <a:endParaRPr lang="en-US" altLang="zh-CN"/>
          </a:p>
        </p:txBody>
      </p:sp>
    </p:spTree>
    <p:extLst>
      <p:ext uri="{BB962C8B-B14F-4D97-AF65-F5344CB8AC3E}">
        <p14:creationId xmlns:p14="http://schemas.microsoft.com/office/powerpoint/2010/main" val="3872064391"/>
      </p:ext>
    </p:extLst>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Rectangle 4"/>
          <p:cNvSpPr>
            <a:spLocks noGrp="1" noChangeArrowheads="1"/>
          </p:cNvSpPr>
          <p:nvPr>
            <p:ph type="title"/>
          </p:nvPr>
        </p:nvSpPr>
        <p:spPr>
          <a:xfrm>
            <a:off x="695400" y="304800"/>
            <a:ext cx="11089232" cy="914400"/>
          </a:xfrm>
        </p:spPr>
        <p:txBody>
          <a:bodyPr/>
          <a:lstStyle/>
          <a:p>
            <a:r>
              <a:rPr lang="en-US" altLang="zh-CN" dirty="0"/>
              <a:t>Applications: Limited to scientific computing?</a:t>
            </a:r>
          </a:p>
        </p:txBody>
      </p:sp>
      <p:sp>
        <p:nvSpPr>
          <p:cNvPr id="60421" name="Rectangle 5"/>
          <p:cNvSpPr>
            <a:spLocks noGrp="1" noChangeArrowheads="1"/>
          </p:cNvSpPr>
          <p:nvPr>
            <p:ph type="body" idx="1"/>
          </p:nvPr>
        </p:nvSpPr>
        <p:spPr>
          <a:xfrm>
            <a:off x="623392" y="1628800"/>
            <a:ext cx="11161240" cy="4213076"/>
          </a:xfrm>
        </p:spPr>
        <p:txBody>
          <a:bodyPr/>
          <a:lstStyle/>
          <a:p>
            <a:pPr>
              <a:spcBef>
                <a:spcPct val="0"/>
              </a:spcBef>
            </a:pPr>
            <a:r>
              <a:rPr lang="en-US" altLang="zh-CN" dirty="0"/>
              <a:t>Multimedia Processing (compress., graphics, audio synth, image proc.)</a:t>
            </a:r>
          </a:p>
          <a:p>
            <a:pPr>
              <a:spcBef>
                <a:spcPct val="0"/>
              </a:spcBef>
            </a:pPr>
            <a:r>
              <a:rPr lang="en-US" altLang="zh-CN" dirty="0"/>
              <a:t>Standard benchmark kernels (Matrix Multiply, FFT, Convolution, Sort)</a:t>
            </a:r>
          </a:p>
          <a:p>
            <a:pPr>
              <a:spcBef>
                <a:spcPct val="0"/>
              </a:spcBef>
            </a:pPr>
            <a:r>
              <a:rPr lang="en-US" altLang="zh-CN" dirty="0" err="1"/>
              <a:t>Lossy</a:t>
            </a:r>
            <a:r>
              <a:rPr lang="en-US" altLang="zh-CN" dirty="0"/>
              <a:t> Compression (JPEG, MPEG video and audio)</a:t>
            </a:r>
          </a:p>
          <a:p>
            <a:pPr>
              <a:spcBef>
                <a:spcPct val="0"/>
              </a:spcBef>
            </a:pPr>
            <a:r>
              <a:rPr lang="en-US" altLang="zh-CN" dirty="0"/>
              <a:t>Lossless Compression (Zero removal, RLE, Differencing, LZW)</a:t>
            </a:r>
          </a:p>
          <a:p>
            <a:pPr>
              <a:spcBef>
                <a:spcPct val="0"/>
              </a:spcBef>
            </a:pPr>
            <a:r>
              <a:rPr lang="en-US" altLang="zh-CN" dirty="0"/>
              <a:t>Cryptography (RSA, DES/IDEA, SHA/MD5)</a:t>
            </a:r>
          </a:p>
          <a:p>
            <a:pPr>
              <a:spcBef>
                <a:spcPct val="0"/>
              </a:spcBef>
            </a:pPr>
            <a:r>
              <a:rPr lang="en-US" altLang="zh-CN" dirty="0"/>
              <a:t>Speech and handwriting recognition</a:t>
            </a:r>
          </a:p>
          <a:p>
            <a:pPr>
              <a:spcBef>
                <a:spcPct val="0"/>
              </a:spcBef>
            </a:pPr>
            <a:r>
              <a:rPr lang="en-US" altLang="zh-CN" dirty="0"/>
              <a:t>Operating systems/Networking (</a:t>
            </a:r>
            <a:r>
              <a:rPr lang="en-US" altLang="zh-CN" dirty="0" err="1"/>
              <a:t>memcpy</a:t>
            </a:r>
            <a:r>
              <a:rPr lang="en-US" altLang="zh-CN" dirty="0"/>
              <a:t>, </a:t>
            </a:r>
            <a:r>
              <a:rPr lang="en-US" altLang="zh-CN" dirty="0" err="1"/>
              <a:t>memset</a:t>
            </a:r>
            <a:r>
              <a:rPr lang="en-US" altLang="zh-CN" dirty="0"/>
              <a:t>, parity, checksum)</a:t>
            </a:r>
          </a:p>
          <a:p>
            <a:pPr>
              <a:spcBef>
                <a:spcPct val="0"/>
              </a:spcBef>
            </a:pPr>
            <a:r>
              <a:rPr lang="en-US" altLang="zh-CN" dirty="0"/>
              <a:t>Databases (hash/join, data mining, image/video serving)</a:t>
            </a:r>
          </a:p>
          <a:p>
            <a:pPr>
              <a:spcBef>
                <a:spcPct val="0"/>
              </a:spcBef>
            </a:pPr>
            <a:r>
              <a:rPr lang="en-US" altLang="zh-CN" dirty="0"/>
              <a:t>Language run-time support (</a:t>
            </a:r>
            <a:r>
              <a:rPr lang="en-US" altLang="zh-CN" dirty="0" err="1"/>
              <a:t>stdlib</a:t>
            </a:r>
            <a:r>
              <a:rPr lang="en-US" altLang="zh-CN" dirty="0"/>
              <a:t>, garbage collection)</a:t>
            </a:r>
          </a:p>
          <a:p>
            <a:pPr>
              <a:spcBef>
                <a:spcPct val="0"/>
              </a:spcBef>
            </a:pPr>
            <a:r>
              <a:rPr lang="en-US" altLang="zh-CN" dirty="0"/>
              <a:t>even SPECint95</a:t>
            </a:r>
          </a:p>
        </p:txBody>
      </p:sp>
    </p:spTree>
    <p:extLst>
      <p:ext uri="{BB962C8B-B14F-4D97-AF65-F5344CB8AC3E}">
        <p14:creationId xmlns:p14="http://schemas.microsoft.com/office/powerpoint/2010/main" val="3463794248"/>
      </p:ext>
    </p:extLst>
  </p:cSld>
  <p:clrMapOvr>
    <a:masterClrMapping/>
  </p:clrMapOvr>
  <p:transition spd="slow"/>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Vector for Multimedia?</a:t>
            </a:r>
          </a:p>
        </p:txBody>
      </p:sp>
      <p:sp>
        <p:nvSpPr>
          <p:cNvPr id="62467" name="Rectangle 3"/>
          <p:cNvSpPr>
            <a:spLocks noGrp="1" noChangeArrowheads="1"/>
          </p:cNvSpPr>
          <p:nvPr>
            <p:ph type="body" idx="1"/>
          </p:nvPr>
        </p:nvSpPr>
        <p:spPr>
          <a:xfrm>
            <a:off x="838200" y="1556792"/>
            <a:ext cx="9505950" cy="3168352"/>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sz="2400" dirty="0"/>
              <a:t>Intel MMX: 57 new 80x86 instructions (1st since 386)</a:t>
            </a:r>
          </a:p>
          <a:p>
            <a:pPr lvl="1"/>
            <a:r>
              <a:rPr lang="en-US" altLang="zh-CN" sz="2000" dirty="0"/>
              <a:t>similar to Intel 860, Mot. 88110, HP PA-71000LC, </a:t>
            </a:r>
            <a:r>
              <a:rPr lang="en-US" altLang="zh-CN" sz="2000" dirty="0" err="1"/>
              <a:t>UltraSPARC</a:t>
            </a:r>
            <a:endParaRPr lang="en-US" altLang="zh-CN" sz="2000" dirty="0"/>
          </a:p>
          <a:p>
            <a:r>
              <a:rPr lang="en-US" altLang="zh-CN" sz="2400" dirty="0"/>
              <a:t>3 data types: 8 8-bit, 4 16-bit, 2 32-bit in 64bits</a:t>
            </a:r>
          </a:p>
          <a:p>
            <a:pPr lvl="1"/>
            <a:r>
              <a:rPr lang="en-US" altLang="zh-CN" sz="2000" dirty="0"/>
              <a:t>reuse 8 FP registers (FP and MMX cannot mix)</a:t>
            </a:r>
          </a:p>
          <a:p>
            <a:r>
              <a:rPr lang="en-US" altLang="zh-CN" sz="2400" dirty="0"/>
              <a:t>?short vector: load, add, store 8 8-bit operands</a:t>
            </a:r>
          </a:p>
          <a:p>
            <a:pPr>
              <a:buFont typeface="Wingdings" panose="05000000000000000000" pitchFamily="2" charset="2"/>
              <a:buNone/>
            </a:pPr>
            <a:endParaRPr lang="en-US" altLang="zh-CN" dirty="0"/>
          </a:p>
          <a:p>
            <a:pPr>
              <a:buFont typeface="Wingdings" panose="05000000000000000000" pitchFamily="2" charset="2"/>
              <a:buNone/>
            </a:pPr>
            <a:endParaRPr lang="en-US" altLang="zh-CN" dirty="0"/>
          </a:p>
          <a:p>
            <a:pPr>
              <a:buFont typeface="Wingdings" panose="05000000000000000000" pitchFamily="2" charset="2"/>
              <a:buNone/>
            </a:pPr>
            <a:endParaRPr lang="en-US" altLang="zh-CN" dirty="0"/>
          </a:p>
          <a:p>
            <a:r>
              <a:rPr lang="en-US" altLang="zh-CN" dirty="0"/>
              <a:t>Claim: overall speedup 1.5 to 2X for 2D/3D graphics, audio, video, speech, comm., ...</a:t>
            </a:r>
          </a:p>
          <a:p>
            <a:pPr lvl="1"/>
            <a:r>
              <a:rPr lang="en-US" altLang="zh-CN" dirty="0"/>
              <a:t>use in drivers or added to library routines; no compiler</a:t>
            </a:r>
          </a:p>
        </p:txBody>
      </p:sp>
      <p:grpSp>
        <p:nvGrpSpPr>
          <p:cNvPr id="62499" name="Group 35"/>
          <p:cNvGrpSpPr>
            <a:grpSpLocks/>
          </p:cNvGrpSpPr>
          <p:nvPr/>
        </p:nvGrpSpPr>
        <p:grpSpPr bwMode="auto">
          <a:xfrm>
            <a:off x="2159000" y="3657600"/>
            <a:ext cx="8312150" cy="1149350"/>
            <a:chOff x="400" y="2584"/>
            <a:chExt cx="5236" cy="724"/>
          </a:xfrm>
        </p:grpSpPr>
        <p:grpSp>
          <p:nvGrpSpPr>
            <p:cNvPr id="62480" name="Group 16"/>
            <p:cNvGrpSpPr>
              <a:grpSpLocks/>
            </p:cNvGrpSpPr>
            <p:nvPr/>
          </p:nvGrpSpPr>
          <p:grpSpPr bwMode="auto">
            <a:xfrm>
              <a:off x="760" y="2584"/>
              <a:ext cx="4636" cy="160"/>
              <a:chOff x="760" y="2584"/>
              <a:chExt cx="4636" cy="160"/>
            </a:xfrm>
          </p:grpSpPr>
          <p:grpSp>
            <p:nvGrpSpPr>
              <p:cNvPr id="62470" name="Group 6"/>
              <p:cNvGrpSpPr>
                <a:grpSpLocks/>
              </p:cNvGrpSpPr>
              <p:nvPr/>
            </p:nvGrpSpPr>
            <p:grpSpPr bwMode="auto">
              <a:xfrm>
                <a:off x="760" y="2584"/>
                <a:ext cx="1156" cy="160"/>
                <a:chOff x="760" y="2584"/>
                <a:chExt cx="1156" cy="160"/>
              </a:xfrm>
            </p:grpSpPr>
            <p:sp>
              <p:nvSpPr>
                <p:cNvPr id="62468" name="Rectangle 4"/>
                <p:cNvSpPr>
                  <a:spLocks noChangeArrowheads="1"/>
                </p:cNvSpPr>
                <p:nvPr/>
              </p:nvSpPr>
              <p:spPr bwMode="auto">
                <a:xfrm>
                  <a:off x="760" y="2584"/>
                  <a:ext cx="580" cy="160"/>
                </a:xfrm>
                <a:prstGeom prst="rect">
                  <a:avLst/>
                </a:prstGeom>
                <a:solidFill>
                  <a:schemeClr val="accent1"/>
                </a:solidFill>
                <a:ln w="12700">
                  <a:pattFill prst="narHorz">
                    <a:fgClr>
                      <a:schemeClr val="tx1"/>
                    </a:fgClr>
                    <a:bgClr>
                      <a:schemeClr val="bg1"/>
                    </a:bgClr>
                  </a:patt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69" name="Rectangle 5"/>
                <p:cNvSpPr>
                  <a:spLocks noChangeArrowheads="1"/>
                </p:cNvSpPr>
                <p:nvPr/>
              </p:nvSpPr>
              <p:spPr bwMode="auto">
                <a:xfrm>
                  <a:off x="1336" y="2584"/>
                  <a:ext cx="580" cy="160"/>
                </a:xfrm>
                <a:prstGeom prst="rect">
                  <a:avLst/>
                </a:prstGeom>
                <a:solidFill>
                  <a:srgbClr val="F76681"/>
                </a:solidFill>
                <a:ln w="12700">
                  <a:pattFill prst="narHorz">
                    <a:fgClr>
                      <a:schemeClr val="tx1"/>
                    </a:fgClr>
                    <a:bgClr>
                      <a:schemeClr val="bg1"/>
                    </a:bgClr>
                  </a:patt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2473" name="Group 9"/>
              <p:cNvGrpSpPr>
                <a:grpSpLocks/>
              </p:cNvGrpSpPr>
              <p:nvPr/>
            </p:nvGrpSpPr>
            <p:grpSpPr bwMode="auto">
              <a:xfrm>
                <a:off x="1912" y="2584"/>
                <a:ext cx="1156" cy="160"/>
                <a:chOff x="1912" y="2584"/>
                <a:chExt cx="1156" cy="160"/>
              </a:xfrm>
            </p:grpSpPr>
            <p:sp>
              <p:nvSpPr>
                <p:cNvPr id="62471" name="Rectangle 7"/>
                <p:cNvSpPr>
                  <a:spLocks noChangeArrowheads="1"/>
                </p:cNvSpPr>
                <p:nvPr/>
              </p:nvSpPr>
              <p:spPr bwMode="auto">
                <a:xfrm>
                  <a:off x="1912" y="2584"/>
                  <a:ext cx="580" cy="160"/>
                </a:xfrm>
                <a:prstGeom prst="rect">
                  <a:avLst/>
                </a:prstGeom>
                <a:solidFill>
                  <a:schemeClr val="accent1"/>
                </a:solidFill>
                <a:ln w="12700">
                  <a:pattFill prst="narHorz">
                    <a:fgClr>
                      <a:schemeClr val="tx1"/>
                    </a:fgClr>
                    <a:bgClr>
                      <a:schemeClr val="bg1"/>
                    </a:bgClr>
                  </a:patt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72" name="Rectangle 8"/>
                <p:cNvSpPr>
                  <a:spLocks noChangeArrowheads="1"/>
                </p:cNvSpPr>
                <p:nvPr/>
              </p:nvSpPr>
              <p:spPr bwMode="auto">
                <a:xfrm>
                  <a:off x="2488" y="2584"/>
                  <a:ext cx="580" cy="160"/>
                </a:xfrm>
                <a:prstGeom prst="rect">
                  <a:avLst/>
                </a:prstGeom>
                <a:solidFill>
                  <a:srgbClr val="F76681"/>
                </a:solidFill>
                <a:ln w="12700">
                  <a:pattFill prst="narHorz">
                    <a:fgClr>
                      <a:schemeClr val="tx1"/>
                    </a:fgClr>
                    <a:bgClr>
                      <a:schemeClr val="bg1"/>
                    </a:bgClr>
                  </a:patt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2476" name="Group 12"/>
              <p:cNvGrpSpPr>
                <a:grpSpLocks/>
              </p:cNvGrpSpPr>
              <p:nvPr/>
            </p:nvGrpSpPr>
            <p:grpSpPr bwMode="auto">
              <a:xfrm>
                <a:off x="3076" y="2584"/>
                <a:ext cx="1156" cy="160"/>
                <a:chOff x="3076" y="2584"/>
                <a:chExt cx="1156" cy="160"/>
              </a:xfrm>
            </p:grpSpPr>
            <p:sp>
              <p:nvSpPr>
                <p:cNvPr id="62474" name="Rectangle 10"/>
                <p:cNvSpPr>
                  <a:spLocks noChangeArrowheads="1"/>
                </p:cNvSpPr>
                <p:nvPr/>
              </p:nvSpPr>
              <p:spPr bwMode="auto">
                <a:xfrm>
                  <a:off x="3076" y="2584"/>
                  <a:ext cx="580" cy="160"/>
                </a:xfrm>
                <a:prstGeom prst="rect">
                  <a:avLst/>
                </a:prstGeom>
                <a:solidFill>
                  <a:schemeClr val="accent1"/>
                </a:solidFill>
                <a:ln w="12700">
                  <a:pattFill prst="narHorz">
                    <a:fgClr>
                      <a:schemeClr val="tx1"/>
                    </a:fgClr>
                    <a:bgClr>
                      <a:schemeClr val="bg1"/>
                    </a:bgClr>
                  </a:patt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75" name="Rectangle 11"/>
                <p:cNvSpPr>
                  <a:spLocks noChangeArrowheads="1"/>
                </p:cNvSpPr>
                <p:nvPr/>
              </p:nvSpPr>
              <p:spPr bwMode="auto">
                <a:xfrm>
                  <a:off x="3652" y="2584"/>
                  <a:ext cx="580" cy="160"/>
                </a:xfrm>
                <a:prstGeom prst="rect">
                  <a:avLst/>
                </a:prstGeom>
                <a:solidFill>
                  <a:srgbClr val="F76681"/>
                </a:solidFill>
                <a:ln w="12700">
                  <a:pattFill prst="narHorz">
                    <a:fgClr>
                      <a:schemeClr val="tx1"/>
                    </a:fgClr>
                    <a:bgClr>
                      <a:schemeClr val="bg1"/>
                    </a:bgClr>
                  </a:patt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2479" name="Group 15"/>
              <p:cNvGrpSpPr>
                <a:grpSpLocks/>
              </p:cNvGrpSpPr>
              <p:nvPr/>
            </p:nvGrpSpPr>
            <p:grpSpPr bwMode="auto">
              <a:xfrm>
                <a:off x="4240" y="2584"/>
                <a:ext cx="1156" cy="160"/>
                <a:chOff x="4240" y="2584"/>
                <a:chExt cx="1156" cy="160"/>
              </a:xfrm>
            </p:grpSpPr>
            <p:sp>
              <p:nvSpPr>
                <p:cNvPr id="62477" name="Rectangle 13"/>
                <p:cNvSpPr>
                  <a:spLocks noChangeArrowheads="1"/>
                </p:cNvSpPr>
                <p:nvPr/>
              </p:nvSpPr>
              <p:spPr bwMode="auto">
                <a:xfrm>
                  <a:off x="4240" y="2584"/>
                  <a:ext cx="580" cy="160"/>
                </a:xfrm>
                <a:prstGeom prst="rect">
                  <a:avLst/>
                </a:prstGeom>
                <a:solidFill>
                  <a:schemeClr val="accent1"/>
                </a:solidFill>
                <a:ln w="12700">
                  <a:pattFill prst="narHorz">
                    <a:fgClr>
                      <a:schemeClr val="tx1"/>
                    </a:fgClr>
                    <a:bgClr>
                      <a:schemeClr val="bg1"/>
                    </a:bgClr>
                  </a:patt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78" name="Rectangle 14"/>
                <p:cNvSpPr>
                  <a:spLocks noChangeArrowheads="1"/>
                </p:cNvSpPr>
                <p:nvPr/>
              </p:nvSpPr>
              <p:spPr bwMode="auto">
                <a:xfrm>
                  <a:off x="4816" y="2584"/>
                  <a:ext cx="580" cy="160"/>
                </a:xfrm>
                <a:prstGeom prst="rect">
                  <a:avLst/>
                </a:prstGeom>
                <a:solidFill>
                  <a:srgbClr val="F76681"/>
                </a:solidFill>
                <a:ln w="12700">
                  <a:pattFill prst="narHorz">
                    <a:fgClr>
                      <a:schemeClr val="tx1"/>
                    </a:fgClr>
                    <a:bgClr>
                      <a:schemeClr val="bg1"/>
                    </a:bgClr>
                  </a:patt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62481" name="Rectangle 17"/>
            <p:cNvSpPr>
              <a:spLocks noChangeArrowheads="1"/>
            </p:cNvSpPr>
            <p:nvPr/>
          </p:nvSpPr>
          <p:spPr bwMode="auto">
            <a:xfrm>
              <a:off x="760" y="2824"/>
              <a:ext cx="580" cy="160"/>
            </a:xfrm>
            <a:prstGeom prst="rect">
              <a:avLst/>
            </a:prstGeom>
            <a:solidFill>
              <a:schemeClr val="hlink"/>
            </a:solidFill>
            <a:ln w="12700">
              <a:pattFill prst="narHorz">
                <a:fgClr>
                  <a:schemeClr val="tx1"/>
                </a:fgClr>
                <a:bgClr>
                  <a:schemeClr val="bg1"/>
                </a:bgClr>
              </a:patt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82" name="Rectangle 18"/>
            <p:cNvSpPr>
              <a:spLocks noChangeArrowheads="1"/>
            </p:cNvSpPr>
            <p:nvPr/>
          </p:nvSpPr>
          <p:spPr bwMode="auto">
            <a:xfrm>
              <a:off x="1336" y="2824"/>
              <a:ext cx="580" cy="160"/>
            </a:xfrm>
            <a:prstGeom prst="rect">
              <a:avLst/>
            </a:prstGeom>
            <a:solidFill>
              <a:schemeClr val="accent2"/>
            </a:solidFill>
            <a:ln w="12700">
              <a:pattFill prst="narHorz">
                <a:fgClr>
                  <a:schemeClr val="tx1"/>
                </a:fgClr>
                <a:bgClr>
                  <a:schemeClr val="bg1"/>
                </a:bgClr>
              </a:patt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83" name="Rectangle 19"/>
            <p:cNvSpPr>
              <a:spLocks noChangeArrowheads="1"/>
            </p:cNvSpPr>
            <p:nvPr/>
          </p:nvSpPr>
          <p:spPr bwMode="auto">
            <a:xfrm>
              <a:off x="1912" y="2824"/>
              <a:ext cx="580" cy="160"/>
            </a:xfrm>
            <a:prstGeom prst="rect">
              <a:avLst/>
            </a:prstGeom>
            <a:solidFill>
              <a:schemeClr val="hlink"/>
            </a:solidFill>
            <a:ln w="12700">
              <a:pattFill prst="narHorz">
                <a:fgClr>
                  <a:schemeClr val="tx1"/>
                </a:fgClr>
                <a:bgClr>
                  <a:schemeClr val="bg1"/>
                </a:bgClr>
              </a:patt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84" name="Rectangle 20"/>
            <p:cNvSpPr>
              <a:spLocks noChangeArrowheads="1"/>
            </p:cNvSpPr>
            <p:nvPr/>
          </p:nvSpPr>
          <p:spPr bwMode="auto">
            <a:xfrm>
              <a:off x="2488" y="2824"/>
              <a:ext cx="580" cy="160"/>
            </a:xfrm>
            <a:prstGeom prst="rect">
              <a:avLst/>
            </a:prstGeom>
            <a:solidFill>
              <a:schemeClr val="accent2"/>
            </a:solidFill>
            <a:ln w="12700">
              <a:pattFill prst="narHorz">
                <a:fgClr>
                  <a:schemeClr val="tx1"/>
                </a:fgClr>
                <a:bgClr>
                  <a:schemeClr val="bg1"/>
                </a:bgClr>
              </a:patt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85" name="Rectangle 21"/>
            <p:cNvSpPr>
              <a:spLocks noChangeArrowheads="1"/>
            </p:cNvSpPr>
            <p:nvPr/>
          </p:nvSpPr>
          <p:spPr bwMode="auto">
            <a:xfrm>
              <a:off x="3076" y="2824"/>
              <a:ext cx="580" cy="160"/>
            </a:xfrm>
            <a:prstGeom prst="rect">
              <a:avLst/>
            </a:prstGeom>
            <a:solidFill>
              <a:schemeClr val="hlink"/>
            </a:solidFill>
            <a:ln w="12700">
              <a:pattFill prst="narHorz">
                <a:fgClr>
                  <a:schemeClr val="tx1"/>
                </a:fgClr>
                <a:bgClr>
                  <a:schemeClr val="bg1"/>
                </a:bgClr>
              </a:patt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86" name="Rectangle 22"/>
            <p:cNvSpPr>
              <a:spLocks noChangeArrowheads="1"/>
            </p:cNvSpPr>
            <p:nvPr/>
          </p:nvSpPr>
          <p:spPr bwMode="auto">
            <a:xfrm>
              <a:off x="3652" y="2824"/>
              <a:ext cx="580" cy="160"/>
            </a:xfrm>
            <a:prstGeom prst="rect">
              <a:avLst/>
            </a:prstGeom>
            <a:solidFill>
              <a:schemeClr val="accent2"/>
            </a:solidFill>
            <a:ln w="12700">
              <a:pattFill prst="narHorz">
                <a:fgClr>
                  <a:schemeClr val="tx1"/>
                </a:fgClr>
                <a:bgClr>
                  <a:schemeClr val="bg1"/>
                </a:bgClr>
              </a:patt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87" name="Rectangle 23"/>
            <p:cNvSpPr>
              <a:spLocks noChangeArrowheads="1"/>
            </p:cNvSpPr>
            <p:nvPr/>
          </p:nvSpPr>
          <p:spPr bwMode="auto">
            <a:xfrm>
              <a:off x="4240" y="2824"/>
              <a:ext cx="580" cy="160"/>
            </a:xfrm>
            <a:prstGeom prst="rect">
              <a:avLst/>
            </a:prstGeom>
            <a:solidFill>
              <a:schemeClr val="hlink"/>
            </a:solidFill>
            <a:ln w="12700">
              <a:pattFill prst="narHorz">
                <a:fgClr>
                  <a:schemeClr val="tx1"/>
                </a:fgClr>
                <a:bgClr>
                  <a:schemeClr val="bg1"/>
                </a:bgClr>
              </a:patt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88" name="Rectangle 24"/>
            <p:cNvSpPr>
              <a:spLocks noChangeArrowheads="1"/>
            </p:cNvSpPr>
            <p:nvPr/>
          </p:nvSpPr>
          <p:spPr bwMode="auto">
            <a:xfrm>
              <a:off x="4816" y="2824"/>
              <a:ext cx="580" cy="160"/>
            </a:xfrm>
            <a:prstGeom prst="rect">
              <a:avLst/>
            </a:prstGeom>
            <a:solidFill>
              <a:schemeClr val="accent2"/>
            </a:solidFill>
            <a:ln w="12700">
              <a:pattFill prst="narHorz">
                <a:fgClr>
                  <a:schemeClr val="tx1"/>
                </a:fgClr>
                <a:bgClr>
                  <a:schemeClr val="bg1"/>
                </a:bgClr>
              </a:patt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89" name="Rectangle 25"/>
            <p:cNvSpPr>
              <a:spLocks noChangeArrowheads="1"/>
            </p:cNvSpPr>
            <p:nvPr/>
          </p:nvSpPr>
          <p:spPr bwMode="auto">
            <a:xfrm>
              <a:off x="760" y="3148"/>
              <a:ext cx="580" cy="160"/>
            </a:xfrm>
            <a:prstGeom prst="rect">
              <a:avLst/>
            </a:prstGeom>
            <a:solidFill>
              <a:srgbClr val="8901F3"/>
            </a:solidFill>
            <a:ln w="12700">
              <a:pattFill prst="narHorz">
                <a:fgClr>
                  <a:schemeClr val="tx1"/>
                </a:fgClr>
                <a:bgClr>
                  <a:schemeClr val="bg1"/>
                </a:bgClr>
              </a:patt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90" name="Rectangle 26"/>
            <p:cNvSpPr>
              <a:spLocks noChangeArrowheads="1"/>
            </p:cNvSpPr>
            <p:nvPr/>
          </p:nvSpPr>
          <p:spPr bwMode="auto">
            <a:xfrm>
              <a:off x="1336" y="3148"/>
              <a:ext cx="580" cy="160"/>
            </a:xfrm>
            <a:prstGeom prst="rect">
              <a:avLst/>
            </a:prstGeom>
            <a:solidFill>
              <a:srgbClr val="7FFF00"/>
            </a:solidFill>
            <a:ln w="12700">
              <a:pattFill prst="narHorz">
                <a:fgClr>
                  <a:schemeClr val="tx1"/>
                </a:fgClr>
                <a:bgClr>
                  <a:schemeClr val="bg1"/>
                </a:bgClr>
              </a:patt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91" name="Rectangle 27"/>
            <p:cNvSpPr>
              <a:spLocks noChangeArrowheads="1"/>
            </p:cNvSpPr>
            <p:nvPr/>
          </p:nvSpPr>
          <p:spPr bwMode="auto">
            <a:xfrm>
              <a:off x="1912" y="3148"/>
              <a:ext cx="580" cy="160"/>
            </a:xfrm>
            <a:prstGeom prst="rect">
              <a:avLst/>
            </a:prstGeom>
            <a:solidFill>
              <a:srgbClr val="8901F3"/>
            </a:solidFill>
            <a:ln w="12700">
              <a:pattFill prst="narHorz">
                <a:fgClr>
                  <a:schemeClr val="tx1"/>
                </a:fgClr>
                <a:bgClr>
                  <a:schemeClr val="bg1"/>
                </a:bgClr>
              </a:patt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92" name="Rectangle 28"/>
            <p:cNvSpPr>
              <a:spLocks noChangeArrowheads="1"/>
            </p:cNvSpPr>
            <p:nvPr/>
          </p:nvSpPr>
          <p:spPr bwMode="auto">
            <a:xfrm>
              <a:off x="2488" y="3148"/>
              <a:ext cx="580" cy="160"/>
            </a:xfrm>
            <a:prstGeom prst="rect">
              <a:avLst/>
            </a:prstGeom>
            <a:solidFill>
              <a:srgbClr val="7FFF00"/>
            </a:solidFill>
            <a:ln w="12700">
              <a:pattFill prst="narHorz">
                <a:fgClr>
                  <a:schemeClr val="tx1"/>
                </a:fgClr>
                <a:bgClr>
                  <a:schemeClr val="bg1"/>
                </a:bgClr>
              </a:patt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93" name="Rectangle 29"/>
            <p:cNvSpPr>
              <a:spLocks noChangeArrowheads="1"/>
            </p:cNvSpPr>
            <p:nvPr/>
          </p:nvSpPr>
          <p:spPr bwMode="auto">
            <a:xfrm>
              <a:off x="3076" y="3148"/>
              <a:ext cx="580" cy="160"/>
            </a:xfrm>
            <a:prstGeom prst="rect">
              <a:avLst/>
            </a:prstGeom>
            <a:solidFill>
              <a:srgbClr val="8901F3"/>
            </a:solidFill>
            <a:ln w="12700">
              <a:pattFill prst="narHorz">
                <a:fgClr>
                  <a:schemeClr val="tx1"/>
                </a:fgClr>
                <a:bgClr>
                  <a:schemeClr val="bg1"/>
                </a:bgClr>
              </a:patt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94" name="Rectangle 30"/>
            <p:cNvSpPr>
              <a:spLocks noChangeArrowheads="1"/>
            </p:cNvSpPr>
            <p:nvPr/>
          </p:nvSpPr>
          <p:spPr bwMode="auto">
            <a:xfrm>
              <a:off x="3652" y="3148"/>
              <a:ext cx="580" cy="160"/>
            </a:xfrm>
            <a:prstGeom prst="rect">
              <a:avLst/>
            </a:prstGeom>
            <a:solidFill>
              <a:srgbClr val="7FFF00"/>
            </a:solidFill>
            <a:ln w="12700">
              <a:pattFill prst="narHorz">
                <a:fgClr>
                  <a:schemeClr val="tx1"/>
                </a:fgClr>
                <a:bgClr>
                  <a:schemeClr val="bg1"/>
                </a:bgClr>
              </a:patt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95" name="Rectangle 31"/>
            <p:cNvSpPr>
              <a:spLocks noChangeArrowheads="1"/>
            </p:cNvSpPr>
            <p:nvPr/>
          </p:nvSpPr>
          <p:spPr bwMode="auto">
            <a:xfrm>
              <a:off x="4240" y="3148"/>
              <a:ext cx="580" cy="160"/>
            </a:xfrm>
            <a:prstGeom prst="rect">
              <a:avLst/>
            </a:prstGeom>
            <a:solidFill>
              <a:srgbClr val="8901F3"/>
            </a:solidFill>
            <a:ln w="12700">
              <a:pattFill prst="narHorz">
                <a:fgClr>
                  <a:schemeClr val="tx1"/>
                </a:fgClr>
                <a:bgClr>
                  <a:schemeClr val="bg1"/>
                </a:bgClr>
              </a:patt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96" name="Rectangle 32"/>
            <p:cNvSpPr>
              <a:spLocks noChangeArrowheads="1"/>
            </p:cNvSpPr>
            <p:nvPr/>
          </p:nvSpPr>
          <p:spPr bwMode="auto">
            <a:xfrm>
              <a:off x="4816" y="3148"/>
              <a:ext cx="580" cy="160"/>
            </a:xfrm>
            <a:prstGeom prst="rect">
              <a:avLst/>
            </a:prstGeom>
            <a:solidFill>
              <a:srgbClr val="7FFF00"/>
            </a:solidFill>
            <a:ln w="12700">
              <a:pattFill prst="narHorz">
                <a:fgClr>
                  <a:schemeClr val="tx1"/>
                </a:fgClr>
                <a:bgClr>
                  <a:schemeClr val="bg1"/>
                </a:bgClr>
              </a:patt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97" name="Rectangle 33"/>
            <p:cNvSpPr>
              <a:spLocks noChangeArrowheads="1"/>
            </p:cNvSpPr>
            <p:nvPr/>
          </p:nvSpPr>
          <p:spPr bwMode="auto">
            <a:xfrm>
              <a:off x="471" y="2670"/>
              <a:ext cx="267" cy="3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3200"/>
                <a:t>+</a:t>
              </a:r>
            </a:p>
          </p:txBody>
        </p:sp>
        <p:sp>
          <p:nvSpPr>
            <p:cNvPr id="62498" name="Line 34"/>
            <p:cNvSpPr>
              <a:spLocks noChangeShapeType="1"/>
            </p:cNvSpPr>
            <p:nvPr/>
          </p:nvSpPr>
          <p:spPr bwMode="auto">
            <a:xfrm>
              <a:off x="400" y="3060"/>
              <a:ext cx="5236"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2013489923"/>
      </p:ext>
    </p:extLst>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MMX Instructions</a:t>
            </a:r>
          </a:p>
        </p:txBody>
      </p:sp>
      <p:sp>
        <p:nvSpPr>
          <p:cNvPr id="63491" name="Rectangle 3"/>
          <p:cNvSpPr>
            <a:spLocks noGrp="1" noChangeArrowheads="1"/>
          </p:cNvSpPr>
          <p:nvPr>
            <p:ph type="body" idx="1"/>
          </p:nvPr>
        </p:nvSpPr>
        <p:spPr>
          <a:xfrm>
            <a:off x="695400" y="1628800"/>
            <a:ext cx="11089232" cy="414335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dirty="0"/>
              <a:t>Move 32b, 64b</a:t>
            </a:r>
          </a:p>
          <a:p>
            <a:r>
              <a:rPr lang="en-US" altLang="zh-CN" dirty="0"/>
              <a:t>Add, Subtract in parallel: 8 8b, 4 16b, 2 32b</a:t>
            </a:r>
          </a:p>
          <a:p>
            <a:pPr lvl="1"/>
            <a:r>
              <a:rPr lang="en-US" altLang="zh-CN" dirty="0"/>
              <a:t>opt. signed/unsigned saturate (set to max) if overflow</a:t>
            </a:r>
          </a:p>
          <a:p>
            <a:r>
              <a:rPr lang="en-US" altLang="zh-CN" dirty="0"/>
              <a:t>Shifts (</a:t>
            </a:r>
            <a:r>
              <a:rPr lang="en-US" altLang="zh-CN" dirty="0" err="1"/>
              <a:t>sll,srl</a:t>
            </a:r>
            <a:r>
              <a:rPr lang="en-US" altLang="zh-CN" dirty="0"/>
              <a:t>, </a:t>
            </a:r>
            <a:r>
              <a:rPr lang="en-US" altLang="zh-CN" dirty="0" err="1"/>
              <a:t>sra</a:t>
            </a:r>
            <a:r>
              <a:rPr lang="en-US" altLang="zh-CN" dirty="0"/>
              <a:t>), And, And Not, Or, </a:t>
            </a:r>
            <a:r>
              <a:rPr lang="en-US" altLang="zh-CN" dirty="0" err="1"/>
              <a:t>Xor</a:t>
            </a:r>
            <a:r>
              <a:rPr lang="en-US" altLang="zh-CN" dirty="0"/>
              <a:t> </a:t>
            </a:r>
            <a:br>
              <a:rPr lang="en-US" altLang="zh-CN" dirty="0"/>
            </a:br>
            <a:r>
              <a:rPr lang="en-US" altLang="zh-CN" dirty="0"/>
              <a:t>in parallel: 8 8b, 4 16b, 2 32b</a:t>
            </a:r>
          </a:p>
          <a:p>
            <a:r>
              <a:rPr lang="en-US" altLang="zh-CN" dirty="0"/>
              <a:t>Multiply, Multiply-Add in parallel: 4 16b</a:t>
            </a:r>
          </a:p>
          <a:p>
            <a:r>
              <a:rPr lang="en-US" altLang="zh-CN" dirty="0"/>
              <a:t>Compare = , &gt; in parallel: 8 8b, 4 16b, 2 32b</a:t>
            </a:r>
          </a:p>
          <a:p>
            <a:pPr lvl="1"/>
            <a:r>
              <a:rPr lang="en-US" altLang="zh-CN" dirty="0"/>
              <a:t>sets field to 0s (false) or 1s (true); removes branches</a:t>
            </a:r>
          </a:p>
          <a:p>
            <a:r>
              <a:rPr lang="en-US" altLang="zh-CN" dirty="0"/>
              <a:t>Pack/Unpack</a:t>
            </a:r>
          </a:p>
          <a:p>
            <a:pPr lvl="1"/>
            <a:r>
              <a:rPr lang="en-US" altLang="zh-CN" dirty="0"/>
              <a:t>Convert 32b&lt;? 16b, 16b &lt;? 8b</a:t>
            </a:r>
          </a:p>
          <a:p>
            <a:pPr lvl="1"/>
            <a:r>
              <a:rPr lang="en-US" altLang="zh-CN" dirty="0"/>
              <a:t>Pack saturates (set to max) if number is too large</a:t>
            </a:r>
          </a:p>
        </p:txBody>
      </p:sp>
    </p:spTree>
    <p:extLst>
      <p:ext uri="{BB962C8B-B14F-4D97-AF65-F5344CB8AC3E}">
        <p14:creationId xmlns:p14="http://schemas.microsoft.com/office/powerpoint/2010/main" val="1890614118"/>
      </p:ext>
    </p:extLst>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en-US" altLang="zh-CN" dirty="0" smtClean="0"/>
              <a:t/>
            </a:r>
            <a:br>
              <a:rPr lang="en-US" altLang="zh-CN" dirty="0" smtClean="0"/>
            </a:br>
            <a:r>
              <a:rPr lang="en-US" altLang="zh-CN" dirty="0" smtClean="0"/>
              <a:t> Vectors and Variable Data Width</a:t>
            </a:r>
            <a:endParaRPr lang="en-US" altLang="zh-CN" dirty="0"/>
          </a:p>
        </p:txBody>
      </p:sp>
      <p:sp>
        <p:nvSpPr>
          <p:cNvPr id="64515" name="Rectangle 3"/>
          <p:cNvSpPr>
            <a:spLocks noGrp="1" noChangeArrowheads="1"/>
          </p:cNvSpPr>
          <p:nvPr>
            <p:ph type="body" idx="1"/>
          </p:nvPr>
        </p:nvSpPr>
        <p:spPr/>
        <p:txBody>
          <a:bodyPr/>
          <a:lstStyle/>
          <a:p>
            <a:r>
              <a:rPr lang="en-US" altLang="zh-CN" dirty="0" smtClean="0"/>
              <a:t>Programmer thinks in terms of vectors of data of some width (8, 16, 32, or 64 bits)</a:t>
            </a:r>
          </a:p>
          <a:p>
            <a:r>
              <a:rPr lang="en-US" altLang="zh-CN" dirty="0" smtClean="0"/>
              <a:t>Good for multimedia; More elegant than </a:t>
            </a:r>
            <a:br>
              <a:rPr lang="en-US" altLang="zh-CN" dirty="0" smtClean="0"/>
            </a:br>
            <a:r>
              <a:rPr lang="en-US" altLang="zh-CN" dirty="0" smtClean="0"/>
              <a:t>MMX-style extensions</a:t>
            </a:r>
          </a:p>
          <a:p>
            <a:r>
              <a:rPr lang="en-US" altLang="zh-CN" dirty="0" smtClean="0"/>
              <a:t>Don’t have to worry about how data stored in hardware</a:t>
            </a:r>
          </a:p>
          <a:p>
            <a:pPr lvl="1"/>
            <a:r>
              <a:rPr lang="en-US" altLang="zh-CN" dirty="0" smtClean="0"/>
              <a:t>No need for explicit pack/unpack operations</a:t>
            </a:r>
          </a:p>
          <a:p>
            <a:r>
              <a:rPr lang="en-US" altLang="zh-CN" dirty="0" smtClean="0"/>
              <a:t>Just think of more virtual processors operating on narrow data</a:t>
            </a:r>
          </a:p>
          <a:p>
            <a:r>
              <a:rPr lang="en-US" altLang="zh-CN" dirty="0" smtClean="0"/>
              <a:t>Expand Maximum Vector Length with decreasing data width: </a:t>
            </a:r>
            <a:br>
              <a:rPr lang="en-US" altLang="zh-CN" dirty="0" smtClean="0"/>
            </a:br>
            <a:r>
              <a:rPr lang="en-US" altLang="zh-CN" dirty="0" smtClean="0"/>
              <a:t>64 x 64bit, 128 x 32 bit, 256 x 16 bit, 512 x 8 bit</a:t>
            </a:r>
            <a:endParaRPr lang="en-US" altLang="zh-CN" dirty="0"/>
          </a:p>
        </p:txBody>
      </p:sp>
    </p:spTree>
    <p:extLst>
      <p:ext uri="{BB962C8B-B14F-4D97-AF65-F5344CB8AC3E}">
        <p14:creationId xmlns:p14="http://schemas.microsoft.com/office/powerpoint/2010/main" val="3512073265"/>
      </p:ext>
    </p:extLst>
  </p:cSld>
  <p:clrMapOvr>
    <a:masterClrMapping/>
  </p:clrMapOvr>
  <p:transition spd="slow"/>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1529556" y="188640"/>
            <a:ext cx="9031287"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err="1"/>
              <a:t>Mediaprocesing</a:t>
            </a:r>
            <a:r>
              <a:rPr lang="en-US" altLang="zh-CN" dirty="0"/>
              <a:t>: </a:t>
            </a:r>
            <a:br>
              <a:rPr lang="en-US" altLang="zh-CN" dirty="0"/>
            </a:br>
            <a:r>
              <a:rPr lang="en-US" altLang="zh-CN" dirty="0" err="1"/>
              <a:t>Vectorizable</a:t>
            </a:r>
            <a:r>
              <a:rPr lang="en-US" altLang="zh-CN" dirty="0"/>
              <a:t>? Vector Lengths?</a:t>
            </a:r>
          </a:p>
        </p:txBody>
      </p:sp>
      <p:sp>
        <p:nvSpPr>
          <p:cNvPr id="66563" name="Rectangle 3"/>
          <p:cNvSpPr>
            <a:spLocks noGrp="1" noChangeArrowheads="1"/>
          </p:cNvSpPr>
          <p:nvPr>
            <p:ph type="body" idx="1"/>
          </p:nvPr>
        </p:nvSpPr>
        <p:spPr>
          <a:xfrm>
            <a:off x="1524000" y="1600200"/>
            <a:ext cx="9042400" cy="4114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buNone/>
              <a:tabLst>
                <a:tab pos="5892800" algn="l"/>
              </a:tabLst>
            </a:pPr>
            <a:r>
              <a:rPr lang="en-US" altLang="zh-CN"/>
              <a:t>	</a:t>
            </a:r>
            <a:r>
              <a:rPr lang="en-US" altLang="zh-CN">
                <a:solidFill>
                  <a:schemeClr val="accent2"/>
                </a:solidFill>
              </a:rPr>
              <a:t>Kernel</a:t>
            </a:r>
            <a:r>
              <a:rPr lang="en-US" altLang="zh-CN"/>
              <a:t>	</a:t>
            </a:r>
            <a:r>
              <a:rPr lang="en-US" altLang="zh-CN">
                <a:solidFill>
                  <a:schemeClr val="accent2"/>
                </a:solidFill>
              </a:rPr>
              <a:t>Vector length</a:t>
            </a:r>
            <a:endParaRPr lang="en-US" altLang="zh-CN"/>
          </a:p>
          <a:p>
            <a:pPr>
              <a:lnSpc>
                <a:spcPct val="110000"/>
              </a:lnSpc>
              <a:tabLst>
                <a:tab pos="5892800" algn="l"/>
              </a:tabLst>
            </a:pPr>
            <a:r>
              <a:rPr lang="en-US" altLang="zh-CN"/>
              <a:t>Matrix transpose/multiply	# vertices at once</a:t>
            </a:r>
          </a:p>
          <a:p>
            <a:pPr>
              <a:lnSpc>
                <a:spcPct val="80000"/>
              </a:lnSpc>
              <a:tabLst>
                <a:tab pos="5892800" algn="l"/>
              </a:tabLst>
            </a:pPr>
            <a:r>
              <a:rPr lang="en-US" altLang="zh-CN"/>
              <a:t>DCT (video, communication)	image width</a:t>
            </a:r>
          </a:p>
          <a:p>
            <a:pPr>
              <a:lnSpc>
                <a:spcPct val="80000"/>
              </a:lnSpc>
              <a:tabLst>
                <a:tab pos="5892800" algn="l"/>
              </a:tabLst>
            </a:pPr>
            <a:r>
              <a:rPr lang="en-US" altLang="zh-CN"/>
              <a:t>FFT (audio)	256-1024</a:t>
            </a:r>
          </a:p>
          <a:p>
            <a:pPr>
              <a:lnSpc>
                <a:spcPct val="80000"/>
              </a:lnSpc>
              <a:tabLst>
                <a:tab pos="5892800" algn="l"/>
              </a:tabLst>
            </a:pPr>
            <a:r>
              <a:rPr lang="en-US" altLang="zh-CN"/>
              <a:t>Motion estimation (video)	image width, iw/16</a:t>
            </a:r>
          </a:p>
          <a:p>
            <a:pPr>
              <a:lnSpc>
                <a:spcPct val="80000"/>
              </a:lnSpc>
              <a:tabLst>
                <a:tab pos="5892800" algn="l"/>
              </a:tabLst>
            </a:pPr>
            <a:r>
              <a:rPr lang="en-US" altLang="zh-CN"/>
              <a:t>Gamma correction (video)	image width</a:t>
            </a:r>
          </a:p>
          <a:p>
            <a:pPr>
              <a:lnSpc>
                <a:spcPct val="80000"/>
              </a:lnSpc>
              <a:tabLst>
                <a:tab pos="5892800" algn="l"/>
              </a:tabLst>
            </a:pPr>
            <a:r>
              <a:rPr lang="en-US" altLang="zh-CN"/>
              <a:t>Haar transform (media mining)	image width</a:t>
            </a:r>
          </a:p>
          <a:p>
            <a:pPr>
              <a:lnSpc>
                <a:spcPct val="80000"/>
              </a:lnSpc>
              <a:tabLst>
                <a:tab pos="5892800" algn="l"/>
              </a:tabLst>
            </a:pPr>
            <a:r>
              <a:rPr lang="en-US" altLang="zh-CN"/>
              <a:t>Median filter (image processing)	image width</a:t>
            </a:r>
          </a:p>
          <a:p>
            <a:pPr>
              <a:lnSpc>
                <a:spcPct val="80000"/>
              </a:lnSpc>
              <a:tabLst>
                <a:tab pos="5892800" algn="l"/>
              </a:tabLst>
            </a:pPr>
            <a:r>
              <a:rPr lang="en-US" altLang="zh-CN"/>
              <a:t>Separable convolution (img. proc.)	image width</a:t>
            </a:r>
          </a:p>
        </p:txBody>
      </p:sp>
      <p:sp>
        <p:nvSpPr>
          <p:cNvPr id="66564" name="Rectangle 4"/>
          <p:cNvSpPr>
            <a:spLocks noChangeArrowheads="1"/>
          </p:cNvSpPr>
          <p:nvPr/>
        </p:nvSpPr>
        <p:spPr bwMode="auto">
          <a:xfrm>
            <a:off x="2182814" y="5791201"/>
            <a:ext cx="7902805" cy="64376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i="1"/>
              <a:t>(from Pradeep Dubey - IBM,</a:t>
            </a:r>
          </a:p>
          <a:p>
            <a:r>
              <a:rPr lang="en-US" altLang="zh-CN" i="1">
                <a:latin typeface="Courier New" panose="02070309020205020404" pitchFamily="49" charset="0"/>
              </a:rPr>
              <a:t>http://www.research.ibm.com/people/p/pradeep/tutor.html)</a:t>
            </a:r>
          </a:p>
        </p:txBody>
      </p:sp>
    </p:spTree>
    <p:extLst>
      <p:ext uri="{BB962C8B-B14F-4D97-AF65-F5344CB8AC3E}">
        <p14:creationId xmlns:p14="http://schemas.microsoft.com/office/powerpoint/2010/main" val="3695564186"/>
      </p:ext>
    </p:extLst>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SIMD Extensions</a:t>
            </a:r>
            <a:endParaRPr lang="en-AU" dirty="0"/>
          </a:p>
        </p:txBody>
      </p:sp>
      <p:sp>
        <p:nvSpPr>
          <p:cNvPr id="242691" name="Rectangle 3"/>
          <p:cNvSpPr>
            <a:spLocks noGrp="1" noChangeArrowheads="1"/>
          </p:cNvSpPr>
          <p:nvPr>
            <p:ph type="body" idx="1"/>
          </p:nvPr>
        </p:nvSpPr>
        <p:spPr/>
        <p:txBody>
          <a:bodyPr/>
          <a:lstStyle/>
          <a:p>
            <a:r>
              <a:rPr lang="en-US" sz="2400" dirty="0"/>
              <a:t>Media applications operate on data types narrower than the native word size</a:t>
            </a:r>
          </a:p>
          <a:p>
            <a:pPr lvl="1"/>
            <a:r>
              <a:rPr lang="en-US" dirty="0" smtClean="0"/>
              <a:t>Example:  disconnect carry chains to “partition” adder</a:t>
            </a:r>
          </a:p>
          <a:p>
            <a:pPr lvl="1"/>
            <a:endParaRPr lang="en-US" sz="2000" dirty="0"/>
          </a:p>
          <a:p>
            <a:r>
              <a:rPr lang="en-US" sz="2400" dirty="0"/>
              <a:t>Limitations, compared to vector instructions:</a:t>
            </a:r>
          </a:p>
          <a:p>
            <a:pPr lvl="1"/>
            <a:r>
              <a:rPr lang="en-US" dirty="0" smtClean="0"/>
              <a:t>Number of data operands encoded into op code</a:t>
            </a:r>
          </a:p>
          <a:p>
            <a:pPr lvl="1"/>
            <a:r>
              <a:rPr lang="en-US" dirty="0" smtClean="0"/>
              <a:t>No sophisticated addressing modes (</a:t>
            </a:r>
            <a:r>
              <a:rPr lang="en-US" dirty="0" err="1" smtClean="0"/>
              <a:t>strided</a:t>
            </a:r>
            <a:r>
              <a:rPr lang="en-US" dirty="0" smtClean="0"/>
              <a:t>, scatter-gather)</a:t>
            </a:r>
          </a:p>
          <a:p>
            <a:pPr lvl="1"/>
            <a:r>
              <a:rPr lang="en-US" dirty="0" smtClean="0"/>
              <a:t>No mask registers</a:t>
            </a:r>
          </a:p>
        </p:txBody>
      </p:sp>
      <p:sp>
        <p:nvSpPr>
          <p:cNvPr id="242693" name="Text Box 5"/>
          <p:cNvSpPr txBox="1">
            <a:spLocks noChangeArrowheads="1"/>
          </p:cNvSpPr>
          <p:nvPr/>
        </p:nvSpPr>
        <p:spPr bwMode="auto">
          <a:xfrm rot="5400000">
            <a:off x="7980085" y="2315735"/>
            <a:ext cx="5006499" cy="369332"/>
          </a:xfrm>
          <a:prstGeom prst="rect">
            <a:avLst/>
          </a:prstGeom>
          <a:solidFill>
            <a:srgbClr val="C0C0C0"/>
          </a:solidFill>
          <a:ln w="9525">
            <a:noFill/>
            <a:miter lim="800000"/>
            <a:headEnd/>
            <a:tailEnd/>
          </a:ln>
          <a:effectLst/>
        </p:spPr>
        <p:txBody>
          <a:bodyPr wrap="none">
            <a:spAutoFit/>
          </a:bodyPr>
          <a:lstStyle/>
          <a:p>
            <a:pPr eaLnBrk="0" hangingPunct="0">
              <a:spcBef>
                <a:spcPct val="0"/>
              </a:spcBef>
              <a:buClrTx/>
              <a:buSzTx/>
              <a:buFontTx/>
              <a:buNone/>
            </a:pPr>
            <a:r>
              <a:rPr lang="en-US" dirty="0">
                <a:solidFill>
                  <a:srgbClr val="0066FF"/>
                </a:solidFill>
                <a:latin typeface="Arial" charset="0"/>
              </a:rPr>
              <a:t>SIMD Instruction Set Extensions for Multimedia</a:t>
            </a:r>
          </a:p>
        </p:txBody>
      </p:sp>
    </p:spTree>
    <p:extLst>
      <p:ext uri="{BB962C8B-B14F-4D97-AF65-F5344CB8AC3E}">
        <p14:creationId xmlns:p14="http://schemas.microsoft.com/office/powerpoint/2010/main" val="1958513688"/>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SIMD Implementations</a:t>
            </a:r>
            <a:endParaRPr lang="en-AU" dirty="0"/>
          </a:p>
        </p:txBody>
      </p:sp>
      <p:sp>
        <p:nvSpPr>
          <p:cNvPr id="242691" name="Rectangle 3"/>
          <p:cNvSpPr>
            <a:spLocks noGrp="1" noChangeArrowheads="1"/>
          </p:cNvSpPr>
          <p:nvPr>
            <p:ph type="body" idx="1"/>
          </p:nvPr>
        </p:nvSpPr>
        <p:spPr/>
        <p:txBody>
          <a:bodyPr/>
          <a:lstStyle/>
          <a:p>
            <a:r>
              <a:rPr lang="en-US" dirty="0" smtClean="0"/>
              <a:t>Implementations:</a:t>
            </a:r>
          </a:p>
          <a:p>
            <a:pPr lvl="1"/>
            <a:r>
              <a:rPr lang="en-US" dirty="0" smtClean="0"/>
              <a:t>Intel MMX (1996)</a:t>
            </a:r>
          </a:p>
          <a:p>
            <a:pPr lvl="2"/>
            <a:r>
              <a:rPr lang="en-US" dirty="0" smtClean="0"/>
              <a:t>Eight 8-bit integer ops or four 16-bit integer ops</a:t>
            </a:r>
          </a:p>
          <a:p>
            <a:pPr lvl="1"/>
            <a:r>
              <a:rPr lang="en-US" dirty="0" smtClean="0"/>
              <a:t>Streaming SIMD Extensions (SSE) (1999)</a:t>
            </a:r>
          </a:p>
          <a:p>
            <a:pPr lvl="2"/>
            <a:r>
              <a:rPr lang="en-US" dirty="0" smtClean="0"/>
              <a:t>Eight 16-bit integer ops</a:t>
            </a:r>
          </a:p>
          <a:p>
            <a:pPr lvl="2"/>
            <a:r>
              <a:rPr lang="en-US" dirty="0" smtClean="0"/>
              <a:t>Four 32-bit integer/</a:t>
            </a:r>
            <a:r>
              <a:rPr lang="en-US" dirty="0" err="1" smtClean="0"/>
              <a:t>fp</a:t>
            </a:r>
            <a:r>
              <a:rPr lang="en-US" dirty="0" smtClean="0"/>
              <a:t> ops or two 64-bit integer/</a:t>
            </a:r>
            <a:r>
              <a:rPr lang="en-US" dirty="0" err="1" smtClean="0"/>
              <a:t>fp</a:t>
            </a:r>
            <a:r>
              <a:rPr lang="en-US" dirty="0" smtClean="0"/>
              <a:t> ops</a:t>
            </a:r>
          </a:p>
          <a:p>
            <a:pPr lvl="1"/>
            <a:r>
              <a:rPr lang="en-US" dirty="0" smtClean="0"/>
              <a:t>Advanced Vector Extensions (2010)</a:t>
            </a:r>
          </a:p>
          <a:p>
            <a:pPr lvl="2"/>
            <a:r>
              <a:rPr lang="en-US" dirty="0" smtClean="0"/>
              <a:t>Four 64-bit </a:t>
            </a:r>
            <a:r>
              <a:rPr lang="en-US" smtClean="0"/>
              <a:t>integer/</a:t>
            </a:r>
            <a:r>
              <a:rPr lang="en-US" err="1" smtClean="0"/>
              <a:t>fp</a:t>
            </a:r>
            <a:r>
              <a:rPr lang="en-US" smtClean="0"/>
              <a:t> ops</a:t>
            </a:r>
          </a:p>
          <a:p>
            <a:pPr lvl="1"/>
            <a:r>
              <a:rPr lang="en-US" smtClean="0"/>
              <a:t>AVX-512 (2017)</a:t>
            </a:r>
          </a:p>
          <a:p>
            <a:pPr lvl="2"/>
            <a:r>
              <a:rPr lang="en-US" smtClean="0"/>
              <a:t>Eight 64-bit integer/fp ops</a:t>
            </a:r>
            <a:endParaRPr lang="en-US" dirty="0" smtClean="0"/>
          </a:p>
          <a:p>
            <a:pPr lvl="1"/>
            <a:r>
              <a:rPr lang="en-US" smtClean="0"/>
              <a:t>Operands </a:t>
            </a:r>
            <a:r>
              <a:rPr lang="en-US" dirty="0" smtClean="0"/>
              <a:t>must be consecutive and aligned memory locations</a:t>
            </a:r>
          </a:p>
          <a:p>
            <a:pPr lvl="1"/>
            <a:endParaRPr lang="en-US" dirty="0" smtClean="0"/>
          </a:p>
        </p:txBody>
      </p:sp>
      <p:sp>
        <p:nvSpPr>
          <p:cNvPr id="242693" name="Text Box 5"/>
          <p:cNvSpPr txBox="1">
            <a:spLocks noChangeArrowheads="1"/>
          </p:cNvSpPr>
          <p:nvPr/>
        </p:nvSpPr>
        <p:spPr bwMode="auto">
          <a:xfrm rot="5400000">
            <a:off x="7980085" y="2315735"/>
            <a:ext cx="5006499" cy="369332"/>
          </a:xfrm>
          <a:prstGeom prst="rect">
            <a:avLst/>
          </a:prstGeom>
          <a:solidFill>
            <a:srgbClr val="C0C0C0"/>
          </a:solidFill>
          <a:ln w="9525">
            <a:noFill/>
            <a:miter lim="800000"/>
            <a:headEnd/>
            <a:tailEnd/>
          </a:ln>
          <a:effectLst/>
        </p:spPr>
        <p:txBody>
          <a:bodyPr wrap="none">
            <a:spAutoFit/>
          </a:bodyPr>
          <a:lstStyle/>
          <a:p>
            <a:pPr eaLnBrk="0" hangingPunct="0">
              <a:spcBef>
                <a:spcPct val="0"/>
              </a:spcBef>
              <a:buClrTx/>
              <a:buSzTx/>
              <a:buFontTx/>
              <a:buNone/>
            </a:pPr>
            <a:r>
              <a:rPr lang="en-US" dirty="0">
                <a:solidFill>
                  <a:srgbClr val="0066FF"/>
                </a:solidFill>
                <a:latin typeface="Arial" charset="0"/>
              </a:rPr>
              <a:t>SIMD Instruction Set Extensions for Multimedia</a:t>
            </a:r>
          </a:p>
        </p:txBody>
      </p:sp>
    </p:spTree>
    <p:extLst>
      <p:ext uri="{BB962C8B-B14F-4D97-AF65-F5344CB8AC3E}">
        <p14:creationId xmlns:p14="http://schemas.microsoft.com/office/powerpoint/2010/main" val="668324519"/>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Example SIMD Code</a:t>
            </a:r>
            <a:endParaRPr lang="en-AU" dirty="0"/>
          </a:p>
        </p:txBody>
      </p:sp>
      <p:sp>
        <p:nvSpPr>
          <p:cNvPr id="242691" name="Rectangle 3"/>
          <p:cNvSpPr>
            <a:spLocks noGrp="1" noChangeArrowheads="1"/>
          </p:cNvSpPr>
          <p:nvPr>
            <p:ph type="body" idx="1"/>
          </p:nvPr>
        </p:nvSpPr>
        <p:spPr/>
        <p:txBody>
          <a:bodyPr/>
          <a:lstStyle/>
          <a:p>
            <a:r>
              <a:rPr lang="en-US" sz="2400" dirty="0"/>
              <a:t>Example DXPY:</a:t>
            </a:r>
          </a:p>
          <a:p>
            <a:pPr lvl="1">
              <a:buNone/>
            </a:pPr>
            <a:r>
              <a:rPr lang="en-US" sz="2000"/>
              <a:t>fld			f0,a		# Load scalar a</a:t>
            </a:r>
          </a:p>
          <a:p>
            <a:pPr lvl="1">
              <a:buNone/>
            </a:pPr>
            <a:r>
              <a:rPr lang="en-US" sz="2000"/>
              <a:t>splat.4D	f0,f0		# Make 4 copies of a</a:t>
            </a:r>
          </a:p>
          <a:p>
            <a:pPr lvl="1">
              <a:buNone/>
            </a:pPr>
            <a:r>
              <a:rPr lang="en-US" sz="2000"/>
              <a:t>addi	x28,x5,#256	# Last address to load</a:t>
            </a:r>
          </a:p>
          <a:p>
            <a:pPr lvl="1" indent="-742950">
              <a:buNone/>
            </a:pPr>
            <a:r>
              <a:rPr lang="en-US" sz="2000"/>
              <a:t>Loop: fld.4D	f1,0(x5)		# Load X[i] ... X[i+3]</a:t>
            </a:r>
          </a:p>
          <a:p>
            <a:pPr lvl="1">
              <a:buNone/>
            </a:pPr>
            <a:r>
              <a:rPr lang="en-US" sz="2000"/>
              <a:t>fmul.4D	f1,f1,f0		# a x X[i] ... a x X[i+3]</a:t>
            </a:r>
          </a:p>
          <a:p>
            <a:pPr lvl="1">
              <a:buNone/>
            </a:pPr>
            <a:r>
              <a:rPr lang="en-US" sz="2000"/>
              <a:t>fld.4D	f2,0(x6)		# Load Y[i] ... Y[i+3]</a:t>
            </a:r>
          </a:p>
          <a:p>
            <a:pPr lvl="1">
              <a:buNone/>
            </a:pPr>
            <a:r>
              <a:rPr lang="en-US" sz="2000"/>
              <a:t>fadd.4D	f2,f2,f1		# a x X[i]+Y[i]...</a:t>
            </a:r>
          </a:p>
          <a:p>
            <a:pPr lvl="1">
              <a:buNone/>
            </a:pPr>
            <a:r>
              <a:rPr lang="en-US" sz="2000"/>
              <a:t>					# a x X[i+3]+Y[i+3]</a:t>
            </a:r>
          </a:p>
          <a:p>
            <a:pPr lvl="1">
              <a:buNone/>
            </a:pPr>
            <a:r>
              <a:rPr lang="en-US" sz="2000"/>
              <a:t>fsd.4D	f2,0(x6)		# Store Y[i]... Y[i+3]</a:t>
            </a:r>
          </a:p>
          <a:p>
            <a:pPr lvl="1">
              <a:buNone/>
            </a:pPr>
            <a:r>
              <a:rPr lang="en-US" sz="2000"/>
              <a:t>addi	x5,x5,#32	# Increment index to X</a:t>
            </a:r>
          </a:p>
          <a:p>
            <a:pPr lvl="1">
              <a:buNone/>
            </a:pPr>
            <a:r>
              <a:rPr lang="en-US" sz="2000"/>
              <a:t>addi	x6,x6,#32	# Increment index to Y</a:t>
            </a:r>
          </a:p>
          <a:p>
            <a:pPr lvl="1">
              <a:buNone/>
            </a:pPr>
            <a:r>
              <a:rPr lang="en-US" sz="2000"/>
              <a:t>bne		x28,x5,Loop	# Check if done</a:t>
            </a:r>
            <a:endParaRPr lang="en-US" dirty="0" smtClean="0"/>
          </a:p>
        </p:txBody>
      </p:sp>
      <p:sp>
        <p:nvSpPr>
          <p:cNvPr id="242693" name="Text Box 5"/>
          <p:cNvSpPr txBox="1">
            <a:spLocks noChangeArrowheads="1"/>
          </p:cNvSpPr>
          <p:nvPr/>
        </p:nvSpPr>
        <p:spPr bwMode="auto">
          <a:xfrm rot="5400000">
            <a:off x="7980085" y="2315735"/>
            <a:ext cx="5006499" cy="369332"/>
          </a:xfrm>
          <a:prstGeom prst="rect">
            <a:avLst/>
          </a:prstGeom>
          <a:solidFill>
            <a:srgbClr val="C0C0C0"/>
          </a:solidFill>
          <a:ln w="9525">
            <a:noFill/>
            <a:miter lim="800000"/>
            <a:headEnd/>
            <a:tailEnd/>
          </a:ln>
          <a:effectLst/>
        </p:spPr>
        <p:txBody>
          <a:bodyPr wrap="none">
            <a:spAutoFit/>
          </a:bodyPr>
          <a:lstStyle/>
          <a:p>
            <a:pPr eaLnBrk="0" hangingPunct="0">
              <a:spcBef>
                <a:spcPct val="0"/>
              </a:spcBef>
              <a:buClrTx/>
              <a:buSzTx/>
              <a:buFontTx/>
              <a:buNone/>
            </a:pPr>
            <a:r>
              <a:rPr lang="en-US" dirty="0">
                <a:solidFill>
                  <a:srgbClr val="0066FF"/>
                </a:solidFill>
                <a:latin typeface="Arial" charset="0"/>
              </a:rPr>
              <a:t>SIMD Instruction Set Extensions for Multimedia</a:t>
            </a:r>
          </a:p>
        </p:txBody>
      </p:sp>
    </p:spTree>
    <p:extLst>
      <p:ext uri="{BB962C8B-B14F-4D97-AF65-F5344CB8AC3E}">
        <p14:creationId xmlns:p14="http://schemas.microsoft.com/office/powerpoint/2010/main" val="1731555309"/>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Roofline Performance Model</a:t>
            </a:r>
            <a:endParaRPr lang="en-AU" dirty="0"/>
          </a:p>
        </p:txBody>
      </p:sp>
      <p:sp>
        <p:nvSpPr>
          <p:cNvPr id="242691" name="Rectangle 3"/>
          <p:cNvSpPr>
            <a:spLocks noGrp="1" noChangeArrowheads="1"/>
          </p:cNvSpPr>
          <p:nvPr>
            <p:ph type="body" idx="1"/>
          </p:nvPr>
        </p:nvSpPr>
        <p:spPr/>
        <p:txBody>
          <a:bodyPr/>
          <a:lstStyle/>
          <a:p>
            <a:r>
              <a:rPr lang="en-US" sz="2400" dirty="0"/>
              <a:t>Basic idea:</a:t>
            </a:r>
          </a:p>
          <a:p>
            <a:pPr lvl="1"/>
            <a:r>
              <a:rPr lang="en-US" dirty="0" smtClean="0"/>
              <a:t>Plot peak floating-point throughput as a function of arithmetic intensity</a:t>
            </a:r>
          </a:p>
          <a:p>
            <a:pPr lvl="1"/>
            <a:r>
              <a:rPr lang="en-US" dirty="0" smtClean="0"/>
              <a:t>Ties together floating-point performance and memory performance for a target machine</a:t>
            </a:r>
          </a:p>
          <a:p>
            <a:r>
              <a:rPr lang="en-US" sz="2400" dirty="0"/>
              <a:t>Arithmetic intensity</a:t>
            </a:r>
          </a:p>
          <a:p>
            <a:pPr lvl="1"/>
            <a:r>
              <a:rPr lang="en-US" dirty="0" smtClean="0"/>
              <a:t>Floating-point operations per byte read</a:t>
            </a:r>
          </a:p>
        </p:txBody>
      </p:sp>
      <p:sp>
        <p:nvSpPr>
          <p:cNvPr id="242693" name="Text Box 5"/>
          <p:cNvSpPr txBox="1">
            <a:spLocks noChangeArrowheads="1"/>
          </p:cNvSpPr>
          <p:nvPr/>
        </p:nvSpPr>
        <p:spPr bwMode="auto">
          <a:xfrm rot="5400000">
            <a:off x="7980085" y="2315735"/>
            <a:ext cx="5006499" cy="369332"/>
          </a:xfrm>
          <a:prstGeom prst="rect">
            <a:avLst/>
          </a:prstGeom>
          <a:solidFill>
            <a:srgbClr val="C0C0C0"/>
          </a:solidFill>
          <a:ln w="9525">
            <a:noFill/>
            <a:miter lim="800000"/>
            <a:headEnd/>
            <a:tailEnd/>
          </a:ln>
          <a:effectLst/>
        </p:spPr>
        <p:txBody>
          <a:bodyPr wrap="none">
            <a:spAutoFit/>
          </a:bodyPr>
          <a:lstStyle/>
          <a:p>
            <a:pPr eaLnBrk="0" hangingPunct="0">
              <a:spcBef>
                <a:spcPct val="0"/>
              </a:spcBef>
              <a:buClrTx/>
              <a:buSzTx/>
              <a:buFontTx/>
              <a:buNone/>
            </a:pPr>
            <a:r>
              <a:rPr lang="en-US" dirty="0">
                <a:solidFill>
                  <a:srgbClr val="0066FF"/>
                </a:solidFill>
                <a:latin typeface="Arial" charset="0"/>
              </a:rPr>
              <a:t>SIMD Instruction Set Extensions for Multimedia</a:t>
            </a:r>
          </a:p>
        </p:txBody>
      </p:sp>
      <p:pic>
        <p:nvPicPr>
          <p:cNvPr id="8" name="Picture 2" descr="Y:\02_GRAPHICS\BOOKS\02_PPTs\MKCAD(Hennessy)\PPT\Ch04\f04-10-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39616" y="4166753"/>
            <a:ext cx="6264696" cy="2502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68596289"/>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Examples</a:t>
            </a:r>
            <a:endParaRPr lang="en-AU" dirty="0"/>
          </a:p>
        </p:txBody>
      </p:sp>
      <p:sp>
        <p:nvSpPr>
          <p:cNvPr id="242691" name="Rectangle 3"/>
          <p:cNvSpPr>
            <a:spLocks noGrp="1" noChangeArrowheads="1"/>
          </p:cNvSpPr>
          <p:nvPr>
            <p:ph type="body" idx="1"/>
          </p:nvPr>
        </p:nvSpPr>
        <p:spPr/>
        <p:txBody>
          <a:bodyPr/>
          <a:lstStyle/>
          <a:p>
            <a:r>
              <a:rPr lang="en-US" sz="2400" dirty="0"/>
              <a:t>Attainable </a:t>
            </a:r>
            <a:r>
              <a:rPr lang="en-US" sz="2400"/>
              <a:t>GFLOPs/sec = </a:t>
            </a:r>
            <a:r>
              <a:rPr lang="en-US" sz="2400" dirty="0"/>
              <a:t>(Peak Memory BW × Arithmetic Intensity, Peak Floating Point </a:t>
            </a:r>
            <a:r>
              <a:rPr lang="en-US" sz="2400" dirty="0" err="1"/>
              <a:t>Perf</a:t>
            </a:r>
            <a:r>
              <a:rPr lang="en-US" sz="2400" dirty="0"/>
              <a:t>.)</a:t>
            </a:r>
          </a:p>
        </p:txBody>
      </p:sp>
      <p:sp>
        <p:nvSpPr>
          <p:cNvPr id="242693" name="Text Box 5"/>
          <p:cNvSpPr txBox="1">
            <a:spLocks noChangeArrowheads="1"/>
          </p:cNvSpPr>
          <p:nvPr/>
        </p:nvSpPr>
        <p:spPr bwMode="auto">
          <a:xfrm rot="5400000">
            <a:off x="7980085" y="2315735"/>
            <a:ext cx="5006499" cy="369332"/>
          </a:xfrm>
          <a:prstGeom prst="rect">
            <a:avLst/>
          </a:prstGeom>
          <a:solidFill>
            <a:srgbClr val="C0C0C0"/>
          </a:solidFill>
          <a:ln w="9525">
            <a:noFill/>
            <a:miter lim="800000"/>
            <a:headEnd/>
            <a:tailEnd/>
          </a:ln>
          <a:effectLst/>
        </p:spPr>
        <p:txBody>
          <a:bodyPr wrap="none">
            <a:spAutoFit/>
          </a:bodyPr>
          <a:lstStyle/>
          <a:p>
            <a:pPr eaLnBrk="0" hangingPunct="0">
              <a:spcBef>
                <a:spcPct val="0"/>
              </a:spcBef>
              <a:buClrTx/>
              <a:buSzTx/>
              <a:buFontTx/>
              <a:buNone/>
            </a:pPr>
            <a:r>
              <a:rPr lang="en-US" dirty="0">
                <a:solidFill>
                  <a:srgbClr val="0066FF"/>
                </a:solidFill>
                <a:latin typeface="Arial" charset="0"/>
              </a:rPr>
              <a:t>SIMD Instruction Set Extensions for Multimedia</a:t>
            </a:r>
          </a:p>
        </p:txBody>
      </p:sp>
      <p:pic>
        <p:nvPicPr>
          <p:cNvPr id="8" name="Picture 2" descr="Y:\02_GRAPHICS\BOOKS\02_PPTs\MKCAD(Hennessy)\PPT\Ch04\f04-11-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35560" y="2814604"/>
            <a:ext cx="7704856" cy="3854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79805318"/>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Graphical Processing Units</a:t>
            </a:r>
            <a:endParaRPr lang="en-AU" dirty="0"/>
          </a:p>
        </p:txBody>
      </p:sp>
      <p:sp>
        <p:nvSpPr>
          <p:cNvPr id="242691" name="Rectangle 3"/>
          <p:cNvSpPr>
            <a:spLocks noGrp="1" noChangeArrowheads="1"/>
          </p:cNvSpPr>
          <p:nvPr>
            <p:ph type="body" idx="1"/>
          </p:nvPr>
        </p:nvSpPr>
        <p:spPr/>
        <p:txBody>
          <a:bodyPr/>
          <a:lstStyle/>
          <a:p>
            <a:r>
              <a:rPr lang="en-US" smtClean="0"/>
              <a:t>Basic </a:t>
            </a:r>
            <a:r>
              <a:rPr lang="en-US" dirty="0" smtClean="0"/>
              <a:t>idea:</a:t>
            </a:r>
          </a:p>
          <a:p>
            <a:pPr lvl="1"/>
            <a:r>
              <a:rPr lang="en-US" dirty="0" smtClean="0"/>
              <a:t>Heterogeneous execution model</a:t>
            </a:r>
          </a:p>
          <a:p>
            <a:pPr lvl="2"/>
            <a:r>
              <a:rPr lang="en-US" dirty="0" smtClean="0"/>
              <a:t>CPU is the </a:t>
            </a:r>
            <a:r>
              <a:rPr lang="en-US" i="1" dirty="0" smtClean="0"/>
              <a:t>host</a:t>
            </a:r>
            <a:r>
              <a:rPr lang="en-US" dirty="0" smtClean="0"/>
              <a:t>, GPU is the </a:t>
            </a:r>
            <a:r>
              <a:rPr lang="en-US" i="1" dirty="0" smtClean="0"/>
              <a:t>device</a:t>
            </a:r>
          </a:p>
          <a:p>
            <a:pPr lvl="1"/>
            <a:r>
              <a:rPr lang="en-US" dirty="0" smtClean="0"/>
              <a:t>Develop a C-like programming language for GPU</a:t>
            </a:r>
          </a:p>
          <a:p>
            <a:pPr lvl="1"/>
            <a:r>
              <a:rPr lang="en-US" dirty="0" smtClean="0"/>
              <a:t>Unify all forms of GPU parallelism as </a:t>
            </a:r>
            <a:r>
              <a:rPr lang="en-US" i="1" dirty="0" smtClean="0"/>
              <a:t>CUDA thread</a:t>
            </a:r>
          </a:p>
          <a:p>
            <a:pPr lvl="1"/>
            <a:r>
              <a:rPr lang="en-US" dirty="0" smtClean="0"/>
              <a:t>Programming model is “Single Instruction Multiple Thread”</a:t>
            </a:r>
          </a:p>
        </p:txBody>
      </p:sp>
      <p:sp>
        <p:nvSpPr>
          <p:cNvPr id="242693" name="Text Box 5"/>
          <p:cNvSpPr txBox="1">
            <a:spLocks noChangeArrowheads="1"/>
          </p:cNvSpPr>
          <p:nvPr/>
        </p:nvSpPr>
        <p:spPr bwMode="auto">
          <a:xfrm rot="5400000">
            <a:off x="8999599" y="1300265"/>
            <a:ext cx="2967479" cy="369332"/>
          </a:xfrm>
          <a:prstGeom prst="rect">
            <a:avLst/>
          </a:prstGeom>
          <a:solidFill>
            <a:srgbClr val="C0C0C0"/>
          </a:solidFill>
          <a:ln w="9525">
            <a:noFill/>
            <a:miter lim="800000"/>
            <a:headEnd/>
            <a:tailEnd/>
          </a:ln>
          <a:effectLst/>
        </p:spPr>
        <p:txBody>
          <a:bodyPr wrap="none">
            <a:spAutoFit/>
          </a:bodyPr>
          <a:lstStyle/>
          <a:p>
            <a:pPr eaLnBrk="0" hangingPunct="0">
              <a:spcBef>
                <a:spcPct val="0"/>
              </a:spcBef>
              <a:buClrTx/>
              <a:buSzTx/>
              <a:buFontTx/>
              <a:buNone/>
            </a:pPr>
            <a:r>
              <a:rPr lang="en-US" dirty="0">
                <a:solidFill>
                  <a:srgbClr val="0066FF"/>
                </a:solidFill>
                <a:latin typeface="Arial" charset="0"/>
              </a:rPr>
              <a:t>Graphical Processing Units</a:t>
            </a:r>
          </a:p>
        </p:txBody>
      </p:sp>
    </p:spTree>
    <p:extLst>
      <p:ext uri="{BB962C8B-B14F-4D97-AF65-F5344CB8AC3E}">
        <p14:creationId xmlns:p14="http://schemas.microsoft.com/office/powerpoint/2010/main" val="952806832"/>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Threads and Blocks</a:t>
            </a:r>
            <a:endParaRPr lang="en-AU" dirty="0"/>
          </a:p>
        </p:txBody>
      </p:sp>
      <p:sp>
        <p:nvSpPr>
          <p:cNvPr id="242691" name="Rectangle 3"/>
          <p:cNvSpPr>
            <a:spLocks noGrp="1" noChangeArrowheads="1"/>
          </p:cNvSpPr>
          <p:nvPr>
            <p:ph type="body" idx="1"/>
          </p:nvPr>
        </p:nvSpPr>
        <p:spPr/>
        <p:txBody>
          <a:bodyPr/>
          <a:lstStyle/>
          <a:p>
            <a:r>
              <a:rPr lang="en-US" dirty="0" smtClean="0"/>
              <a:t>A thread is associated with each data element</a:t>
            </a:r>
          </a:p>
          <a:p>
            <a:r>
              <a:rPr lang="en-US" dirty="0" smtClean="0"/>
              <a:t>Threads are organized into blocks</a:t>
            </a:r>
          </a:p>
          <a:p>
            <a:r>
              <a:rPr lang="en-US" dirty="0" smtClean="0"/>
              <a:t>Blocks are organized into a grid</a:t>
            </a:r>
          </a:p>
          <a:p>
            <a:endParaRPr lang="en-US" dirty="0" smtClean="0"/>
          </a:p>
          <a:p>
            <a:r>
              <a:rPr lang="en-US" dirty="0" smtClean="0"/>
              <a:t>GPU hardware handles thread management, not applications or OS</a:t>
            </a:r>
          </a:p>
        </p:txBody>
      </p:sp>
      <p:sp>
        <p:nvSpPr>
          <p:cNvPr id="242693" name="Text Box 5"/>
          <p:cNvSpPr txBox="1">
            <a:spLocks noChangeArrowheads="1"/>
          </p:cNvSpPr>
          <p:nvPr/>
        </p:nvSpPr>
        <p:spPr bwMode="auto">
          <a:xfrm rot="5400000">
            <a:off x="8999599" y="1300265"/>
            <a:ext cx="2967479" cy="369332"/>
          </a:xfrm>
          <a:prstGeom prst="rect">
            <a:avLst/>
          </a:prstGeom>
          <a:solidFill>
            <a:srgbClr val="C0C0C0"/>
          </a:solidFill>
          <a:ln w="9525">
            <a:noFill/>
            <a:miter lim="800000"/>
            <a:headEnd/>
            <a:tailEnd/>
          </a:ln>
          <a:effectLst/>
        </p:spPr>
        <p:txBody>
          <a:bodyPr wrap="none">
            <a:spAutoFit/>
          </a:bodyPr>
          <a:lstStyle/>
          <a:p>
            <a:pPr eaLnBrk="0" hangingPunct="0">
              <a:spcBef>
                <a:spcPct val="0"/>
              </a:spcBef>
              <a:buClrTx/>
              <a:buSzTx/>
              <a:buFontTx/>
              <a:buNone/>
            </a:pPr>
            <a:r>
              <a:rPr lang="en-US" dirty="0">
                <a:solidFill>
                  <a:srgbClr val="0066FF"/>
                </a:solidFill>
                <a:latin typeface="Arial" charset="0"/>
              </a:rPr>
              <a:t>Graphical Processing Units</a:t>
            </a:r>
          </a:p>
        </p:txBody>
      </p:sp>
    </p:spTree>
    <p:extLst>
      <p:ext uri="{BB962C8B-B14F-4D97-AF65-F5344CB8AC3E}">
        <p14:creationId xmlns:p14="http://schemas.microsoft.com/office/powerpoint/2010/main" val="2174394245"/>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NVIDIA GPU Architecture</a:t>
            </a:r>
            <a:endParaRPr lang="en-AU" dirty="0"/>
          </a:p>
        </p:txBody>
      </p:sp>
      <p:sp>
        <p:nvSpPr>
          <p:cNvPr id="242691" name="Rectangle 3"/>
          <p:cNvSpPr>
            <a:spLocks noGrp="1" noChangeArrowheads="1"/>
          </p:cNvSpPr>
          <p:nvPr>
            <p:ph type="body" idx="1"/>
          </p:nvPr>
        </p:nvSpPr>
        <p:spPr/>
        <p:txBody>
          <a:bodyPr/>
          <a:lstStyle/>
          <a:p>
            <a:r>
              <a:rPr lang="en-US" dirty="0" smtClean="0"/>
              <a:t>Similarities to vector machines:</a:t>
            </a:r>
          </a:p>
          <a:p>
            <a:pPr lvl="1"/>
            <a:r>
              <a:rPr lang="en-US" dirty="0" smtClean="0"/>
              <a:t>Works well with data-level parallel problems</a:t>
            </a:r>
          </a:p>
          <a:p>
            <a:pPr lvl="1"/>
            <a:r>
              <a:rPr lang="en-US" dirty="0" smtClean="0"/>
              <a:t>Scatter-gather transfers</a:t>
            </a:r>
          </a:p>
          <a:p>
            <a:pPr lvl="1"/>
            <a:r>
              <a:rPr lang="en-US" dirty="0" smtClean="0"/>
              <a:t>Mask registers</a:t>
            </a:r>
          </a:p>
          <a:p>
            <a:pPr lvl="1"/>
            <a:r>
              <a:rPr lang="en-US" dirty="0" smtClean="0"/>
              <a:t>Large register files</a:t>
            </a:r>
          </a:p>
          <a:p>
            <a:pPr lvl="1"/>
            <a:endParaRPr lang="en-US" dirty="0" smtClean="0"/>
          </a:p>
          <a:p>
            <a:r>
              <a:rPr lang="en-US" dirty="0" smtClean="0"/>
              <a:t>Differences:</a:t>
            </a:r>
          </a:p>
          <a:p>
            <a:pPr lvl="1"/>
            <a:r>
              <a:rPr lang="en-US" dirty="0" smtClean="0"/>
              <a:t>No scalar processor</a:t>
            </a:r>
          </a:p>
          <a:p>
            <a:pPr lvl="1"/>
            <a:r>
              <a:rPr lang="en-US" dirty="0" smtClean="0"/>
              <a:t>Uses multithreading to hide memory latency</a:t>
            </a:r>
          </a:p>
          <a:p>
            <a:pPr lvl="1"/>
            <a:r>
              <a:rPr lang="en-US" dirty="0" smtClean="0"/>
              <a:t>Has many functional units, as opposed to a few deeply pipelined units like a vector processor</a:t>
            </a:r>
          </a:p>
        </p:txBody>
      </p:sp>
      <p:sp>
        <p:nvSpPr>
          <p:cNvPr id="242693" name="Text Box 5"/>
          <p:cNvSpPr txBox="1">
            <a:spLocks noChangeArrowheads="1"/>
          </p:cNvSpPr>
          <p:nvPr/>
        </p:nvSpPr>
        <p:spPr bwMode="auto">
          <a:xfrm rot="5400000">
            <a:off x="8999599" y="1300265"/>
            <a:ext cx="2967479" cy="369332"/>
          </a:xfrm>
          <a:prstGeom prst="rect">
            <a:avLst/>
          </a:prstGeom>
          <a:solidFill>
            <a:srgbClr val="C0C0C0"/>
          </a:solidFill>
          <a:ln w="9525">
            <a:noFill/>
            <a:miter lim="800000"/>
            <a:headEnd/>
            <a:tailEnd/>
          </a:ln>
          <a:effectLst/>
        </p:spPr>
        <p:txBody>
          <a:bodyPr wrap="none">
            <a:spAutoFit/>
          </a:bodyPr>
          <a:lstStyle/>
          <a:p>
            <a:pPr eaLnBrk="0" hangingPunct="0">
              <a:spcBef>
                <a:spcPct val="0"/>
              </a:spcBef>
              <a:buClrTx/>
              <a:buSzTx/>
              <a:buFontTx/>
              <a:buNone/>
            </a:pPr>
            <a:r>
              <a:rPr lang="en-US" dirty="0">
                <a:solidFill>
                  <a:srgbClr val="0066FF"/>
                </a:solidFill>
                <a:latin typeface="Arial" charset="0"/>
              </a:rPr>
              <a:t>Graphical Processing Units</a:t>
            </a:r>
          </a:p>
        </p:txBody>
      </p:sp>
    </p:spTree>
    <p:extLst>
      <p:ext uri="{BB962C8B-B14F-4D97-AF65-F5344CB8AC3E}">
        <p14:creationId xmlns:p14="http://schemas.microsoft.com/office/powerpoint/2010/main" val="2242594438"/>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Example</a:t>
            </a:r>
            <a:endParaRPr lang="en-AU" dirty="0"/>
          </a:p>
        </p:txBody>
      </p:sp>
      <p:sp>
        <p:nvSpPr>
          <p:cNvPr id="242691" name="Rectangle 3"/>
          <p:cNvSpPr>
            <a:spLocks noGrp="1" noChangeArrowheads="1"/>
          </p:cNvSpPr>
          <p:nvPr>
            <p:ph type="body" idx="1"/>
          </p:nvPr>
        </p:nvSpPr>
        <p:spPr/>
        <p:txBody>
          <a:bodyPr/>
          <a:lstStyle/>
          <a:p>
            <a:r>
              <a:rPr lang="en-US" sz="2400"/>
              <a:t>Code </a:t>
            </a:r>
            <a:r>
              <a:rPr lang="en-US" sz="2400" dirty="0"/>
              <a:t>that works over all elements is the grid</a:t>
            </a:r>
          </a:p>
          <a:p>
            <a:r>
              <a:rPr lang="en-US" sz="2400" dirty="0"/>
              <a:t>Thread blocks break this down into manageable sizes</a:t>
            </a:r>
          </a:p>
          <a:p>
            <a:pPr lvl="1"/>
            <a:r>
              <a:rPr lang="en-US" sz="2000" dirty="0"/>
              <a:t>512 threads per block</a:t>
            </a:r>
          </a:p>
          <a:p>
            <a:r>
              <a:rPr lang="en-US" sz="2400" dirty="0"/>
              <a:t>SIMD instruction executes 32 elements at a time</a:t>
            </a:r>
          </a:p>
          <a:p>
            <a:r>
              <a:rPr lang="en-US" sz="2400" dirty="0"/>
              <a:t>Thus grid size = 16 blocks</a:t>
            </a:r>
          </a:p>
          <a:p>
            <a:r>
              <a:rPr lang="en-US" sz="2400" dirty="0"/>
              <a:t>Block is analogous to a strip-mined vector loop with vector length of 32</a:t>
            </a:r>
          </a:p>
          <a:p>
            <a:r>
              <a:rPr lang="en-US" sz="2400" dirty="0"/>
              <a:t>Block is assigned to a multithreaded SIMD processor by the thread block scheduler</a:t>
            </a:r>
          </a:p>
          <a:p>
            <a:r>
              <a:rPr lang="en-US" sz="2400" dirty="0"/>
              <a:t>Current-generation </a:t>
            </a:r>
            <a:r>
              <a:rPr lang="en-US" sz="2400"/>
              <a:t>GPUs have </a:t>
            </a:r>
            <a:r>
              <a:rPr lang="en-US" sz="2400" dirty="0"/>
              <a:t>7-15 multithreaded SIMD processors</a:t>
            </a:r>
          </a:p>
        </p:txBody>
      </p:sp>
      <p:sp>
        <p:nvSpPr>
          <p:cNvPr id="242693" name="Text Box 5"/>
          <p:cNvSpPr txBox="1">
            <a:spLocks noChangeArrowheads="1"/>
          </p:cNvSpPr>
          <p:nvPr/>
        </p:nvSpPr>
        <p:spPr bwMode="auto">
          <a:xfrm rot="5400000">
            <a:off x="8999599" y="1300265"/>
            <a:ext cx="2967479" cy="369332"/>
          </a:xfrm>
          <a:prstGeom prst="rect">
            <a:avLst/>
          </a:prstGeom>
          <a:solidFill>
            <a:srgbClr val="C0C0C0"/>
          </a:solidFill>
          <a:ln w="9525">
            <a:noFill/>
            <a:miter lim="800000"/>
            <a:headEnd/>
            <a:tailEnd/>
          </a:ln>
          <a:effectLst/>
        </p:spPr>
        <p:txBody>
          <a:bodyPr wrap="none">
            <a:spAutoFit/>
          </a:bodyPr>
          <a:lstStyle/>
          <a:p>
            <a:pPr eaLnBrk="0" hangingPunct="0">
              <a:spcBef>
                <a:spcPct val="0"/>
              </a:spcBef>
              <a:buClrTx/>
              <a:buSzTx/>
              <a:buFontTx/>
              <a:buNone/>
            </a:pPr>
            <a:r>
              <a:rPr lang="en-US" dirty="0">
                <a:solidFill>
                  <a:srgbClr val="0066FF"/>
                </a:solidFill>
                <a:latin typeface="Arial" charset="0"/>
              </a:rPr>
              <a:t>Graphical Processing Units</a:t>
            </a:r>
          </a:p>
        </p:txBody>
      </p:sp>
    </p:spTree>
    <p:extLst>
      <p:ext uri="{BB962C8B-B14F-4D97-AF65-F5344CB8AC3E}">
        <p14:creationId xmlns:p14="http://schemas.microsoft.com/office/powerpoint/2010/main" val="4292208134"/>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Terminology</a:t>
            </a:r>
            <a:endParaRPr lang="en-AU" dirty="0"/>
          </a:p>
        </p:txBody>
      </p:sp>
      <p:sp>
        <p:nvSpPr>
          <p:cNvPr id="242691" name="Rectangle 3"/>
          <p:cNvSpPr>
            <a:spLocks noGrp="1" noChangeArrowheads="1"/>
          </p:cNvSpPr>
          <p:nvPr>
            <p:ph type="body" idx="1"/>
          </p:nvPr>
        </p:nvSpPr>
        <p:spPr/>
        <p:txBody>
          <a:bodyPr/>
          <a:lstStyle/>
          <a:p>
            <a:r>
              <a:rPr lang="en-US" sz="2000"/>
              <a:t>Each thread is limited to 64 registers</a:t>
            </a:r>
          </a:p>
          <a:p>
            <a:r>
              <a:rPr lang="en-US" sz="2000"/>
              <a:t>Groups of 32 threads combined into a SIMD thread or “warp”</a:t>
            </a:r>
          </a:p>
          <a:p>
            <a:pPr lvl="1"/>
            <a:r>
              <a:rPr lang="en-US" sz="1800"/>
              <a:t>Mapped to 16 physical lanes</a:t>
            </a:r>
          </a:p>
          <a:p>
            <a:r>
              <a:rPr lang="en-US" sz="2000"/>
              <a:t>Up to 32 warps are scheduled on a single SIMD processor</a:t>
            </a:r>
          </a:p>
          <a:p>
            <a:pPr lvl="1"/>
            <a:r>
              <a:rPr lang="en-US" sz="1800"/>
              <a:t>Each warp has its own PC</a:t>
            </a:r>
          </a:p>
          <a:p>
            <a:pPr lvl="1"/>
            <a:r>
              <a:rPr lang="en-US" sz="1800"/>
              <a:t>Thread scheduler uses scoreboard to dispatch warps</a:t>
            </a:r>
          </a:p>
          <a:p>
            <a:pPr lvl="1"/>
            <a:r>
              <a:rPr lang="en-US" sz="1800"/>
              <a:t>By definition, no data dependencies between warps</a:t>
            </a:r>
          </a:p>
          <a:p>
            <a:pPr lvl="1"/>
            <a:r>
              <a:rPr lang="en-US" sz="1800"/>
              <a:t>Dispatch warps into pipeline, hide memory latency</a:t>
            </a:r>
            <a:endParaRPr lang="en-US" sz="1800" dirty="0"/>
          </a:p>
          <a:p>
            <a:r>
              <a:rPr lang="en-US" sz="2000"/>
              <a:t>Thread </a:t>
            </a:r>
            <a:r>
              <a:rPr lang="en-US" sz="2000" dirty="0"/>
              <a:t>block scheduler schedules blocks to SIMD processors</a:t>
            </a:r>
          </a:p>
          <a:p>
            <a:r>
              <a:rPr lang="en-US" sz="2000" dirty="0"/>
              <a:t>Within each SIMD processor:</a:t>
            </a:r>
          </a:p>
          <a:p>
            <a:pPr lvl="1"/>
            <a:r>
              <a:rPr lang="en-US" sz="1800" dirty="0"/>
              <a:t>32 SIMD lanes</a:t>
            </a:r>
          </a:p>
          <a:p>
            <a:pPr lvl="1"/>
            <a:r>
              <a:rPr lang="en-US" sz="1800" dirty="0"/>
              <a:t>Wide and shallow compared to vector processors</a:t>
            </a:r>
          </a:p>
        </p:txBody>
      </p:sp>
      <p:sp>
        <p:nvSpPr>
          <p:cNvPr id="242693" name="Text Box 5"/>
          <p:cNvSpPr txBox="1">
            <a:spLocks noChangeArrowheads="1"/>
          </p:cNvSpPr>
          <p:nvPr/>
        </p:nvSpPr>
        <p:spPr bwMode="auto">
          <a:xfrm rot="5400000">
            <a:off x="8999599" y="1300265"/>
            <a:ext cx="2967479" cy="369332"/>
          </a:xfrm>
          <a:prstGeom prst="rect">
            <a:avLst/>
          </a:prstGeom>
          <a:solidFill>
            <a:srgbClr val="C0C0C0"/>
          </a:solidFill>
          <a:ln w="9525">
            <a:noFill/>
            <a:miter lim="800000"/>
            <a:headEnd/>
            <a:tailEnd/>
          </a:ln>
          <a:effectLst/>
        </p:spPr>
        <p:txBody>
          <a:bodyPr wrap="none">
            <a:spAutoFit/>
          </a:bodyPr>
          <a:lstStyle/>
          <a:p>
            <a:pPr eaLnBrk="0" hangingPunct="0">
              <a:spcBef>
                <a:spcPct val="0"/>
              </a:spcBef>
              <a:buClrTx/>
              <a:buSzTx/>
              <a:buFontTx/>
              <a:buNone/>
            </a:pPr>
            <a:r>
              <a:rPr lang="en-US" dirty="0">
                <a:solidFill>
                  <a:srgbClr val="0066FF"/>
                </a:solidFill>
                <a:latin typeface="Arial" charset="0"/>
              </a:rPr>
              <a:t>Graphical Processing Units</a:t>
            </a:r>
          </a:p>
        </p:txBody>
      </p:sp>
    </p:spTree>
    <p:extLst>
      <p:ext uri="{BB962C8B-B14F-4D97-AF65-F5344CB8AC3E}">
        <p14:creationId xmlns:p14="http://schemas.microsoft.com/office/powerpoint/2010/main" val="1738844410"/>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Example</a:t>
            </a:r>
            <a:endParaRPr lang="en-AU" dirty="0"/>
          </a:p>
        </p:txBody>
      </p:sp>
      <p:sp>
        <p:nvSpPr>
          <p:cNvPr id="242693" name="Text Box 5"/>
          <p:cNvSpPr txBox="1">
            <a:spLocks noChangeArrowheads="1"/>
          </p:cNvSpPr>
          <p:nvPr/>
        </p:nvSpPr>
        <p:spPr bwMode="auto">
          <a:xfrm rot="5400000">
            <a:off x="8999599" y="1300265"/>
            <a:ext cx="2967479" cy="369332"/>
          </a:xfrm>
          <a:prstGeom prst="rect">
            <a:avLst/>
          </a:prstGeom>
          <a:solidFill>
            <a:srgbClr val="C0C0C0"/>
          </a:solidFill>
          <a:ln w="9525">
            <a:noFill/>
            <a:miter lim="800000"/>
            <a:headEnd/>
            <a:tailEnd/>
          </a:ln>
          <a:effectLst/>
        </p:spPr>
        <p:txBody>
          <a:bodyPr wrap="none">
            <a:spAutoFit/>
          </a:bodyPr>
          <a:lstStyle/>
          <a:p>
            <a:pPr eaLnBrk="0" hangingPunct="0">
              <a:spcBef>
                <a:spcPct val="0"/>
              </a:spcBef>
              <a:buClrTx/>
              <a:buSzTx/>
              <a:buFontTx/>
              <a:buNone/>
            </a:pPr>
            <a:r>
              <a:rPr lang="en-US" dirty="0">
                <a:solidFill>
                  <a:srgbClr val="0066FF"/>
                </a:solidFill>
                <a:latin typeface="Arial" charset="0"/>
              </a:rPr>
              <a:t>Graphical Processing Units</a:t>
            </a:r>
          </a:p>
        </p:txBody>
      </p:sp>
      <p:pic>
        <p:nvPicPr>
          <p:cNvPr id="7" name="Picture 2" descr="Y:\02_GRAPHICS\BOOKS\02_PPTs\MKCAD(Hennessy)\PPT\Ch04\f04-13-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23792" y="53329"/>
            <a:ext cx="4752528" cy="6887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02671008"/>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smtClean="0"/>
              <a:t>GPU Organization</a:t>
            </a:r>
            <a:endParaRPr lang="en-AU" dirty="0"/>
          </a:p>
        </p:txBody>
      </p:sp>
      <p:sp>
        <p:nvSpPr>
          <p:cNvPr id="242693" name="Text Box 5"/>
          <p:cNvSpPr txBox="1">
            <a:spLocks noChangeArrowheads="1"/>
          </p:cNvSpPr>
          <p:nvPr/>
        </p:nvSpPr>
        <p:spPr bwMode="auto">
          <a:xfrm rot="5400000">
            <a:off x="8999599" y="1300265"/>
            <a:ext cx="2967479" cy="369332"/>
          </a:xfrm>
          <a:prstGeom prst="rect">
            <a:avLst/>
          </a:prstGeom>
          <a:solidFill>
            <a:srgbClr val="C0C0C0"/>
          </a:solidFill>
          <a:ln w="9525">
            <a:noFill/>
            <a:miter lim="800000"/>
            <a:headEnd/>
            <a:tailEnd/>
          </a:ln>
          <a:effectLst/>
        </p:spPr>
        <p:txBody>
          <a:bodyPr wrap="none">
            <a:spAutoFit/>
          </a:bodyPr>
          <a:lstStyle/>
          <a:p>
            <a:pPr eaLnBrk="0" hangingPunct="0">
              <a:spcBef>
                <a:spcPct val="0"/>
              </a:spcBef>
              <a:buClrTx/>
              <a:buSzTx/>
              <a:buFontTx/>
              <a:buNone/>
            </a:pPr>
            <a:r>
              <a:rPr lang="en-US" dirty="0">
                <a:solidFill>
                  <a:srgbClr val="0066FF"/>
                </a:solidFill>
                <a:latin typeface="Arial" charset="0"/>
              </a:rPr>
              <a:t>Graphical Processing Units</a:t>
            </a:r>
          </a:p>
        </p:txBody>
      </p:sp>
      <p:pic>
        <p:nvPicPr>
          <p:cNvPr id="7" name="Picture 2" descr="Y:\02_GRAPHICS\BOOKS\02_PPTs\MKCAD(Hennessy)\PPT\Ch04\f04-14-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35350" y="609599"/>
            <a:ext cx="8133258" cy="6036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62968268"/>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NVIDIA Instruction Set Arch.</a:t>
            </a:r>
            <a:endParaRPr lang="en-AU" dirty="0"/>
          </a:p>
        </p:txBody>
      </p:sp>
      <p:sp>
        <p:nvSpPr>
          <p:cNvPr id="242691" name="Rectangle 3"/>
          <p:cNvSpPr>
            <a:spLocks noGrp="1" noChangeArrowheads="1"/>
          </p:cNvSpPr>
          <p:nvPr>
            <p:ph type="body" idx="1"/>
          </p:nvPr>
        </p:nvSpPr>
        <p:spPr/>
        <p:txBody>
          <a:bodyPr/>
          <a:lstStyle/>
          <a:p>
            <a:r>
              <a:rPr lang="en-US" sz="2400" dirty="0"/>
              <a:t>ISA is an abstraction of the hardware instruction set</a:t>
            </a:r>
          </a:p>
          <a:p>
            <a:pPr lvl="1"/>
            <a:r>
              <a:rPr lang="en-US" sz="2000" dirty="0"/>
              <a:t>“Parallel Thread Execution (</a:t>
            </a:r>
            <a:r>
              <a:rPr lang="en-US" sz="2000"/>
              <a:t>PTX)”</a:t>
            </a:r>
          </a:p>
          <a:p>
            <a:pPr lvl="2"/>
            <a:r>
              <a:rPr lang="en-US" sz="1800"/>
              <a:t>opcode.type d,a,b,c;</a:t>
            </a:r>
            <a:endParaRPr lang="en-US" sz="1800" dirty="0"/>
          </a:p>
          <a:p>
            <a:pPr lvl="1"/>
            <a:r>
              <a:rPr lang="en-US" sz="2000" dirty="0"/>
              <a:t>Uses virtual registers</a:t>
            </a:r>
          </a:p>
          <a:p>
            <a:pPr lvl="1"/>
            <a:r>
              <a:rPr lang="en-US" sz="2000" dirty="0"/>
              <a:t>Translation to machine code is performed in software</a:t>
            </a:r>
          </a:p>
          <a:p>
            <a:pPr lvl="1"/>
            <a:r>
              <a:rPr lang="en-US" sz="2000" dirty="0"/>
              <a:t>Example:</a:t>
            </a:r>
          </a:p>
          <a:p>
            <a:pPr lvl="1">
              <a:buNone/>
            </a:pPr>
            <a:r>
              <a:rPr lang="en-US" sz="1600" dirty="0"/>
              <a:t>shl.s32	R8, </a:t>
            </a:r>
            <a:r>
              <a:rPr lang="en-US" sz="1600" dirty="0" err="1"/>
              <a:t>blockIdx</a:t>
            </a:r>
            <a:r>
              <a:rPr lang="en-US" sz="1600" dirty="0"/>
              <a:t>, 9	; Thread Block ID * Block size (512 or 29)</a:t>
            </a:r>
          </a:p>
          <a:p>
            <a:pPr lvl="1">
              <a:buNone/>
            </a:pPr>
            <a:r>
              <a:rPr lang="en-US" sz="1600" dirty="0"/>
              <a:t>add.s32	R8, R8, </a:t>
            </a:r>
            <a:r>
              <a:rPr lang="en-US" sz="1600" dirty="0" err="1"/>
              <a:t>threadIdx</a:t>
            </a:r>
            <a:r>
              <a:rPr lang="en-US" sz="1600" dirty="0"/>
              <a:t>	; R8 = </a:t>
            </a:r>
            <a:r>
              <a:rPr lang="en-US" sz="1600" dirty="0" err="1"/>
              <a:t>i</a:t>
            </a:r>
            <a:r>
              <a:rPr lang="en-US" sz="1600" dirty="0"/>
              <a:t> = my CUDA thread ID</a:t>
            </a:r>
          </a:p>
          <a:p>
            <a:pPr lvl="1">
              <a:buNone/>
            </a:pPr>
            <a:r>
              <a:rPr lang="en-US" sz="1600" dirty="0"/>
              <a:t>ld.global.f64	RD0, [X+R8]	; RD0 = X[</a:t>
            </a:r>
            <a:r>
              <a:rPr lang="en-US" sz="1600" dirty="0" err="1"/>
              <a:t>i</a:t>
            </a:r>
            <a:r>
              <a:rPr lang="en-US" sz="1600" dirty="0"/>
              <a:t>]</a:t>
            </a:r>
          </a:p>
          <a:p>
            <a:pPr lvl="1">
              <a:buNone/>
            </a:pPr>
            <a:r>
              <a:rPr lang="es-ES" sz="1600" dirty="0"/>
              <a:t>ld.global.f64	RD2, [Y+R8]	; RD2 = Y[i]</a:t>
            </a:r>
          </a:p>
          <a:p>
            <a:pPr lvl="1">
              <a:buNone/>
            </a:pPr>
            <a:r>
              <a:rPr lang="en-US" sz="1600" dirty="0"/>
              <a:t>mul.f64 R0D, RD0, RD4	; Product in RD0 = RD0 * RD4 (scalar a)</a:t>
            </a:r>
          </a:p>
          <a:p>
            <a:pPr lvl="1">
              <a:buNone/>
            </a:pPr>
            <a:r>
              <a:rPr lang="en-US" sz="1600" dirty="0"/>
              <a:t>add.f64 R0D, RD0, RD2	; Sum in RD0 = RD0 + RD2 (Y[</a:t>
            </a:r>
            <a:r>
              <a:rPr lang="en-US" sz="1600" dirty="0" err="1"/>
              <a:t>i</a:t>
            </a:r>
            <a:r>
              <a:rPr lang="en-US" sz="1600" dirty="0"/>
              <a:t>])</a:t>
            </a:r>
          </a:p>
          <a:p>
            <a:pPr lvl="1">
              <a:buNone/>
            </a:pPr>
            <a:r>
              <a:rPr lang="es-ES" sz="1600" dirty="0"/>
              <a:t>st.global.f64 [Y+R8], RD0	; Y[i] = </a:t>
            </a:r>
            <a:r>
              <a:rPr lang="es-ES" sz="1600" dirty="0" err="1"/>
              <a:t>sum</a:t>
            </a:r>
            <a:r>
              <a:rPr lang="es-ES" sz="1600" dirty="0"/>
              <a:t> (X[i]*a + Y[i])</a:t>
            </a:r>
            <a:endParaRPr lang="en-US" sz="1600" dirty="0"/>
          </a:p>
        </p:txBody>
      </p:sp>
      <p:sp>
        <p:nvSpPr>
          <p:cNvPr id="242693" name="Text Box 5"/>
          <p:cNvSpPr txBox="1">
            <a:spLocks noChangeArrowheads="1"/>
          </p:cNvSpPr>
          <p:nvPr/>
        </p:nvSpPr>
        <p:spPr bwMode="auto">
          <a:xfrm rot="5400000">
            <a:off x="8999599" y="1300265"/>
            <a:ext cx="2967479" cy="369332"/>
          </a:xfrm>
          <a:prstGeom prst="rect">
            <a:avLst/>
          </a:prstGeom>
          <a:solidFill>
            <a:srgbClr val="C0C0C0"/>
          </a:solidFill>
          <a:ln w="9525">
            <a:noFill/>
            <a:miter lim="800000"/>
            <a:headEnd/>
            <a:tailEnd/>
          </a:ln>
          <a:effectLst/>
        </p:spPr>
        <p:txBody>
          <a:bodyPr wrap="none">
            <a:spAutoFit/>
          </a:bodyPr>
          <a:lstStyle/>
          <a:p>
            <a:pPr eaLnBrk="0" hangingPunct="0">
              <a:spcBef>
                <a:spcPct val="0"/>
              </a:spcBef>
              <a:buClrTx/>
              <a:buSzTx/>
              <a:buFontTx/>
              <a:buNone/>
            </a:pPr>
            <a:r>
              <a:rPr lang="en-US" dirty="0">
                <a:solidFill>
                  <a:srgbClr val="0066FF"/>
                </a:solidFill>
                <a:latin typeface="Arial" charset="0"/>
              </a:rPr>
              <a:t>Graphical Processing Units</a:t>
            </a:r>
          </a:p>
        </p:txBody>
      </p:sp>
    </p:spTree>
    <p:extLst>
      <p:ext uri="{BB962C8B-B14F-4D97-AF65-F5344CB8AC3E}">
        <p14:creationId xmlns:p14="http://schemas.microsoft.com/office/powerpoint/2010/main" val="2407307703"/>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Conditional Branching</a:t>
            </a:r>
            <a:endParaRPr lang="en-AU" dirty="0"/>
          </a:p>
        </p:txBody>
      </p:sp>
      <p:sp>
        <p:nvSpPr>
          <p:cNvPr id="242691" name="Rectangle 3"/>
          <p:cNvSpPr>
            <a:spLocks noGrp="1" noChangeArrowheads="1"/>
          </p:cNvSpPr>
          <p:nvPr>
            <p:ph type="body" idx="1"/>
          </p:nvPr>
        </p:nvSpPr>
        <p:spPr/>
        <p:txBody>
          <a:bodyPr/>
          <a:lstStyle/>
          <a:p>
            <a:r>
              <a:rPr lang="en-US" sz="2400" dirty="0"/>
              <a:t>Like vector architectures, GPU branch hardware uses internal masks</a:t>
            </a:r>
          </a:p>
          <a:p>
            <a:r>
              <a:rPr lang="en-US" sz="2400" dirty="0"/>
              <a:t>Also uses</a:t>
            </a:r>
          </a:p>
          <a:p>
            <a:pPr lvl="1"/>
            <a:r>
              <a:rPr lang="en-US" sz="2000" dirty="0"/>
              <a:t>Branch synchronization stack</a:t>
            </a:r>
          </a:p>
          <a:p>
            <a:pPr lvl="2"/>
            <a:r>
              <a:rPr lang="en-US" sz="1800" dirty="0"/>
              <a:t>Entries consist of masks for each SIMD lane</a:t>
            </a:r>
          </a:p>
          <a:p>
            <a:pPr lvl="2"/>
            <a:r>
              <a:rPr lang="en-US" sz="1800" dirty="0"/>
              <a:t>I.e. which threads commit their results (all threads execute)</a:t>
            </a:r>
          </a:p>
          <a:p>
            <a:pPr lvl="1"/>
            <a:r>
              <a:rPr lang="en-US" sz="2000" dirty="0"/>
              <a:t>Instruction markers to manage when a branch diverges into multiple execution paths</a:t>
            </a:r>
          </a:p>
          <a:p>
            <a:pPr lvl="2"/>
            <a:r>
              <a:rPr lang="en-US" sz="1800" dirty="0"/>
              <a:t>Push on divergent branch</a:t>
            </a:r>
          </a:p>
          <a:p>
            <a:pPr lvl="1"/>
            <a:r>
              <a:rPr lang="en-US" sz="2000" dirty="0"/>
              <a:t>…and when paths converge</a:t>
            </a:r>
          </a:p>
          <a:p>
            <a:pPr lvl="2"/>
            <a:r>
              <a:rPr lang="en-US" sz="1800" dirty="0"/>
              <a:t>Act as barriers</a:t>
            </a:r>
          </a:p>
          <a:p>
            <a:pPr lvl="2"/>
            <a:r>
              <a:rPr lang="en-US" sz="1800" dirty="0"/>
              <a:t>Pops stack</a:t>
            </a:r>
          </a:p>
          <a:p>
            <a:r>
              <a:rPr lang="en-US" sz="2400" dirty="0"/>
              <a:t>Per-thread-lane 1-bit predicate register, specified by programmer</a:t>
            </a:r>
          </a:p>
        </p:txBody>
      </p:sp>
      <p:sp>
        <p:nvSpPr>
          <p:cNvPr id="242693" name="Text Box 5"/>
          <p:cNvSpPr txBox="1">
            <a:spLocks noChangeArrowheads="1"/>
          </p:cNvSpPr>
          <p:nvPr/>
        </p:nvSpPr>
        <p:spPr bwMode="auto">
          <a:xfrm rot="5400000">
            <a:off x="8999599" y="1300265"/>
            <a:ext cx="2967479" cy="369332"/>
          </a:xfrm>
          <a:prstGeom prst="rect">
            <a:avLst/>
          </a:prstGeom>
          <a:solidFill>
            <a:srgbClr val="C0C0C0"/>
          </a:solidFill>
          <a:ln w="9525">
            <a:noFill/>
            <a:miter lim="800000"/>
            <a:headEnd/>
            <a:tailEnd/>
          </a:ln>
          <a:effectLst/>
        </p:spPr>
        <p:txBody>
          <a:bodyPr wrap="none">
            <a:spAutoFit/>
          </a:bodyPr>
          <a:lstStyle/>
          <a:p>
            <a:pPr eaLnBrk="0" hangingPunct="0">
              <a:spcBef>
                <a:spcPct val="0"/>
              </a:spcBef>
              <a:buClrTx/>
              <a:buSzTx/>
              <a:buFontTx/>
              <a:buNone/>
            </a:pPr>
            <a:r>
              <a:rPr lang="en-US" dirty="0">
                <a:solidFill>
                  <a:srgbClr val="0066FF"/>
                </a:solidFill>
                <a:latin typeface="Arial" charset="0"/>
              </a:rPr>
              <a:t>Graphical Processing Units</a:t>
            </a:r>
          </a:p>
        </p:txBody>
      </p:sp>
    </p:spTree>
    <p:extLst>
      <p:ext uri="{BB962C8B-B14F-4D97-AF65-F5344CB8AC3E}">
        <p14:creationId xmlns:p14="http://schemas.microsoft.com/office/powerpoint/2010/main" val="1658894939"/>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Example</a:t>
            </a:r>
            <a:endParaRPr lang="en-AU" dirty="0"/>
          </a:p>
        </p:txBody>
      </p:sp>
      <p:sp>
        <p:nvSpPr>
          <p:cNvPr id="242691" name="Rectangle 3"/>
          <p:cNvSpPr>
            <a:spLocks noGrp="1" noChangeArrowheads="1"/>
          </p:cNvSpPr>
          <p:nvPr>
            <p:ph type="body" idx="1"/>
          </p:nvPr>
        </p:nvSpPr>
        <p:spPr/>
        <p:txBody>
          <a:bodyPr/>
          <a:lstStyle/>
          <a:p>
            <a:pPr>
              <a:buNone/>
            </a:pPr>
            <a:r>
              <a:rPr lang="en-US" sz="1600" dirty="0"/>
              <a:t>	if (X[</a:t>
            </a:r>
            <a:r>
              <a:rPr lang="en-US" sz="1600" dirty="0" err="1"/>
              <a:t>i</a:t>
            </a:r>
            <a:r>
              <a:rPr lang="en-US" sz="1600" dirty="0"/>
              <a:t>] != 0)	</a:t>
            </a:r>
          </a:p>
          <a:p>
            <a:pPr>
              <a:buNone/>
            </a:pPr>
            <a:r>
              <a:rPr lang="en-US" sz="1600" dirty="0"/>
              <a:t>		X[</a:t>
            </a:r>
            <a:r>
              <a:rPr lang="en-US" sz="1600" dirty="0" err="1"/>
              <a:t>i</a:t>
            </a:r>
            <a:r>
              <a:rPr lang="en-US" sz="1600" dirty="0"/>
              <a:t>] = X[</a:t>
            </a:r>
            <a:r>
              <a:rPr lang="en-US" sz="1600" dirty="0" err="1"/>
              <a:t>i</a:t>
            </a:r>
            <a:r>
              <a:rPr lang="en-US" sz="1600" dirty="0"/>
              <a:t>] – Y[</a:t>
            </a:r>
            <a:r>
              <a:rPr lang="en-US" sz="1600" dirty="0" err="1"/>
              <a:t>i</a:t>
            </a:r>
            <a:r>
              <a:rPr lang="en-US" sz="1600" dirty="0"/>
              <a:t>];</a:t>
            </a:r>
          </a:p>
          <a:p>
            <a:pPr>
              <a:buNone/>
            </a:pPr>
            <a:r>
              <a:rPr lang="en-US" sz="1600" dirty="0"/>
              <a:t>	else X[</a:t>
            </a:r>
            <a:r>
              <a:rPr lang="en-US" sz="1600" dirty="0" err="1"/>
              <a:t>i</a:t>
            </a:r>
            <a:r>
              <a:rPr lang="en-US" sz="1600" dirty="0"/>
              <a:t>] = Z[</a:t>
            </a:r>
            <a:r>
              <a:rPr lang="en-US" sz="1600" dirty="0" err="1"/>
              <a:t>i</a:t>
            </a:r>
            <a:r>
              <a:rPr lang="en-US" sz="1600" dirty="0"/>
              <a:t>];</a:t>
            </a:r>
          </a:p>
          <a:p>
            <a:pPr>
              <a:buNone/>
            </a:pPr>
            <a:endParaRPr lang="en-US" sz="1600" dirty="0"/>
          </a:p>
          <a:p>
            <a:pPr>
              <a:buNone/>
            </a:pPr>
            <a:r>
              <a:rPr lang="en-US" sz="1600" dirty="0"/>
              <a:t>	ld.global.f64	RD0, [X+R8]		; RD0 = X[</a:t>
            </a:r>
            <a:r>
              <a:rPr lang="en-US" sz="1600" dirty="0" err="1"/>
              <a:t>i</a:t>
            </a:r>
            <a:r>
              <a:rPr lang="en-US" sz="1600" dirty="0"/>
              <a:t>]</a:t>
            </a:r>
          </a:p>
          <a:p>
            <a:pPr>
              <a:buNone/>
            </a:pPr>
            <a:r>
              <a:rPr lang="en-US" sz="1600" dirty="0"/>
              <a:t>	setp.neq.s32	P1, RD0, #0		; P1 is predicate register 1</a:t>
            </a:r>
          </a:p>
          <a:p>
            <a:pPr>
              <a:buNone/>
            </a:pPr>
            <a:r>
              <a:rPr lang="en-US" sz="1600" dirty="0"/>
              <a:t>	@!P1, bra	ELSE1, </a:t>
            </a:r>
            <a:r>
              <a:rPr lang="en-US" sz="1600" i="1" dirty="0"/>
              <a:t>*Push		; Push old mask, set new mask bits</a:t>
            </a:r>
          </a:p>
          <a:p>
            <a:pPr>
              <a:buNone/>
            </a:pPr>
            <a:r>
              <a:rPr lang="en-US" sz="1600" dirty="0"/>
              <a:t>						; if P1 false, go to ELSE1</a:t>
            </a:r>
          </a:p>
          <a:p>
            <a:pPr>
              <a:buNone/>
            </a:pPr>
            <a:r>
              <a:rPr lang="es-ES" sz="1600" dirty="0"/>
              <a:t>	ld.global.f64	RD2, [Y+R8]		; RD2 = Y[i]</a:t>
            </a:r>
          </a:p>
          <a:p>
            <a:pPr>
              <a:buNone/>
            </a:pPr>
            <a:r>
              <a:rPr lang="en-US" sz="1600" dirty="0"/>
              <a:t>	sub.f64	RD0, RD0, RD2		; Difference in RD0</a:t>
            </a:r>
          </a:p>
          <a:p>
            <a:pPr>
              <a:buNone/>
            </a:pPr>
            <a:r>
              <a:rPr lang="nn-NO" sz="1600" dirty="0"/>
              <a:t>	st.global.f64	[X+R8], RD0		; X[i] = RD0</a:t>
            </a:r>
          </a:p>
          <a:p>
            <a:pPr>
              <a:buNone/>
            </a:pPr>
            <a:r>
              <a:rPr lang="en-US" sz="1600" dirty="0"/>
              <a:t>	@P1, bra	ENDIF1, </a:t>
            </a:r>
            <a:r>
              <a:rPr lang="en-US" sz="1600" i="1" dirty="0"/>
              <a:t>*Comp		; complement mask bits</a:t>
            </a:r>
          </a:p>
          <a:p>
            <a:pPr>
              <a:buNone/>
            </a:pPr>
            <a:r>
              <a:rPr lang="en-US" sz="1600" dirty="0"/>
              <a:t>						; if P1 true, go to ENDIF1</a:t>
            </a:r>
          </a:p>
          <a:p>
            <a:pPr>
              <a:buNone/>
            </a:pPr>
            <a:r>
              <a:rPr lang="pl-PL" sz="1600" dirty="0"/>
              <a:t>ELSE1:</a:t>
            </a:r>
            <a:r>
              <a:rPr lang="en-US" sz="1600" dirty="0"/>
              <a:t>		</a:t>
            </a:r>
            <a:r>
              <a:rPr lang="pl-PL" sz="1600" dirty="0"/>
              <a:t>ld.global.f64 RD0, [Z+R8]</a:t>
            </a:r>
            <a:r>
              <a:rPr lang="en-US" sz="1600" dirty="0"/>
              <a:t>	</a:t>
            </a:r>
            <a:r>
              <a:rPr lang="pl-PL" sz="1600" dirty="0"/>
              <a:t>; RD0 = Z[i]</a:t>
            </a:r>
          </a:p>
          <a:p>
            <a:pPr>
              <a:buNone/>
            </a:pPr>
            <a:r>
              <a:rPr lang="nn-NO" sz="1600" dirty="0"/>
              <a:t>			st.global.f64 [X+R8], RD0	; X[i] = RD0</a:t>
            </a:r>
          </a:p>
          <a:p>
            <a:pPr>
              <a:buNone/>
            </a:pPr>
            <a:r>
              <a:rPr lang="en-US" sz="1600" dirty="0"/>
              <a:t>ENDIF1: 	</a:t>
            </a:r>
            <a:r>
              <a:rPr lang="en-US" sz="1600" i="1" dirty="0"/>
              <a:t>&lt;next instruction&gt;, *Pop	; pop to restore old mask</a:t>
            </a:r>
            <a:endParaRPr lang="en-US" sz="1600" dirty="0"/>
          </a:p>
        </p:txBody>
      </p:sp>
      <p:sp>
        <p:nvSpPr>
          <p:cNvPr id="242693" name="Text Box 5"/>
          <p:cNvSpPr txBox="1">
            <a:spLocks noChangeArrowheads="1"/>
          </p:cNvSpPr>
          <p:nvPr/>
        </p:nvSpPr>
        <p:spPr bwMode="auto">
          <a:xfrm rot="5400000">
            <a:off x="8999599" y="1300265"/>
            <a:ext cx="2967479" cy="369332"/>
          </a:xfrm>
          <a:prstGeom prst="rect">
            <a:avLst/>
          </a:prstGeom>
          <a:solidFill>
            <a:srgbClr val="C0C0C0"/>
          </a:solidFill>
          <a:ln w="9525">
            <a:noFill/>
            <a:miter lim="800000"/>
            <a:headEnd/>
            <a:tailEnd/>
          </a:ln>
          <a:effectLst/>
        </p:spPr>
        <p:txBody>
          <a:bodyPr wrap="none">
            <a:spAutoFit/>
          </a:bodyPr>
          <a:lstStyle/>
          <a:p>
            <a:pPr eaLnBrk="0" hangingPunct="0">
              <a:spcBef>
                <a:spcPct val="0"/>
              </a:spcBef>
              <a:buClrTx/>
              <a:buSzTx/>
              <a:buFontTx/>
              <a:buNone/>
            </a:pPr>
            <a:r>
              <a:rPr lang="en-US" dirty="0">
                <a:solidFill>
                  <a:srgbClr val="0066FF"/>
                </a:solidFill>
                <a:latin typeface="Arial" charset="0"/>
              </a:rPr>
              <a:t>Graphical Processing Units</a:t>
            </a:r>
          </a:p>
        </p:txBody>
      </p:sp>
    </p:spTree>
    <p:extLst>
      <p:ext uri="{BB962C8B-B14F-4D97-AF65-F5344CB8AC3E}">
        <p14:creationId xmlns:p14="http://schemas.microsoft.com/office/powerpoint/2010/main" val="2596616744"/>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NVIDIA GPU Memory Structures</a:t>
            </a:r>
            <a:endParaRPr lang="en-AU" dirty="0"/>
          </a:p>
        </p:txBody>
      </p:sp>
      <p:sp>
        <p:nvSpPr>
          <p:cNvPr id="242691" name="Rectangle 3"/>
          <p:cNvSpPr>
            <a:spLocks noGrp="1" noChangeArrowheads="1"/>
          </p:cNvSpPr>
          <p:nvPr>
            <p:ph type="body" idx="1"/>
          </p:nvPr>
        </p:nvSpPr>
        <p:spPr/>
        <p:txBody>
          <a:bodyPr/>
          <a:lstStyle/>
          <a:p>
            <a:r>
              <a:rPr lang="en-US" sz="2400" dirty="0"/>
              <a:t>Each SIMD Lane has private section of off-chip DRAM</a:t>
            </a:r>
          </a:p>
          <a:p>
            <a:pPr lvl="1"/>
            <a:r>
              <a:rPr lang="en-US" dirty="0" smtClean="0"/>
              <a:t>“Private memory”</a:t>
            </a:r>
          </a:p>
          <a:p>
            <a:pPr lvl="1"/>
            <a:r>
              <a:rPr lang="en-US" dirty="0" smtClean="0"/>
              <a:t>Contains stack frame, spilling registers, and private variables</a:t>
            </a:r>
          </a:p>
          <a:p>
            <a:r>
              <a:rPr lang="en-US" dirty="0" smtClean="0"/>
              <a:t>Each multithreaded SIMD processor also has local memory</a:t>
            </a:r>
          </a:p>
          <a:p>
            <a:pPr lvl="1"/>
            <a:r>
              <a:rPr lang="en-US" dirty="0" smtClean="0"/>
              <a:t>Shared by SIMD lanes / threads within a block</a:t>
            </a:r>
          </a:p>
          <a:p>
            <a:r>
              <a:rPr lang="en-US" dirty="0" smtClean="0"/>
              <a:t>Memory shared by SIMD processors is GPU Memory</a:t>
            </a:r>
          </a:p>
          <a:p>
            <a:pPr lvl="1"/>
            <a:r>
              <a:rPr lang="en-US" dirty="0" smtClean="0"/>
              <a:t>Host can read and write GPU memory</a:t>
            </a:r>
          </a:p>
        </p:txBody>
      </p:sp>
      <p:sp>
        <p:nvSpPr>
          <p:cNvPr id="242693" name="Text Box 5"/>
          <p:cNvSpPr txBox="1">
            <a:spLocks noChangeArrowheads="1"/>
          </p:cNvSpPr>
          <p:nvPr/>
        </p:nvSpPr>
        <p:spPr bwMode="auto">
          <a:xfrm rot="5400000">
            <a:off x="8999599" y="1300265"/>
            <a:ext cx="2967479" cy="369332"/>
          </a:xfrm>
          <a:prstGeom prst="rect">
            <a:avLst/>
          </a:prstGeom>
          <a:solidFill>
            <a:srgbClr val="C0C0C0"/>
          </a:solidFill>
          <a:ln w="9525">
            <a:noFill/>
            <a:miter lim="800000"/>
            <a:headEnd/>
            <a:tailEnd/>
          </a:ln>
          <a:effectLst/>
        </p:spPr>
        <p:txBody>
          <a:bodyPr wrap="none">
            <a:spAutoFit/>
          </a:bodyPr>
          <a:lstStyle/>
          <a:p>
            <a:pPr eaLnBrk="0" hangingPunct="0">
              <a:spcBef>
                <a:spcPct val="0"/>
              </a:spcBef>
              <a:buClrTx/>
              <a:buSzTx/>
              <a:buFontTx/>
              <a:buNone/>
            </a:pPr>
            <a:r>
              <a:rPr lang="en-US" dirty="0">
                <a:solidFill>
                  <a:srgbClr val="0066FF"/>
                </a:solidFill>
                <a:latin typeface="Arial" charset="0"/>
              </a:rPr>
              <a:t>Graphical Processing Units</a:t>
            </a:r>
          </a:p>
        </p:txBody>
      </p:sp>
    </p:spTree>
    <p:extLst>
      <p:ext uri="{BB962C8B-B14F-4D97-AF65-F5344CB8AC3E}">
        <p14:creationId xmlns:p14="http://schemas.microsoft.com/office/powerpoint/2010/main" val="2390034953"/>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a:xfrm>
            <a:off x="2135189" y="109677"/>
            <a:ext cx="8281987" cy="707886"/>
          </a:xfrm>
        </p:spPr>
        <p:txBody>
          <a:bodyPr/>
          <a:lstStyle/>
          <a:p>
            <a:r>
              <a:rPr lang="en-US" smtClean="0"/>
              <a:t>Pascal Architecture </a:t>
            </a:r>
            <a:r>
              <a:rPr lang="en-US" dirty="0" smtClean="0"/>
              <a:t>Innovations</a:t>
            </a:r>
            <a:endParaRPr lang="en-AU" dirty="0"/>
          </a:p>
        </p:txBody>
      </p:sp>
      <p:sp>
        <p:nvSpPr>
          <p:cNvPr id="242691" name="Rectangle 3"/>
          <p:cNvSpPr>
            <a:spLocks noGrp="1" noChangeArrowheads="1"/>
          </p:cNvSpPr>
          <p:nvPr>
            <p:ph type="body" idx="1"/>
          </p:nvPr>
        </p:nvSpPr>
        <p:spPr/>
        <p:txBody>
          <a:bodyPr/>
          <a:lstStyle/>
          <a:p>
            <a:r>
              <a:rPr lang="en-US" sz="2400" dirty="0"/>
              <a:t>Each SIMD processor has</a:t>
            </a:r>
          </a:p>
          <a:p>
            <a:pPr lvl="1"/>
            <a:r>
              <a:rPr lang="en-US" sz="2000"/>
              <a:t>Two or four SIMD </a:t>
            </a:r>
            <a:r>
              <a:rPr lang="en-US" sz="2000" dirty="0"/>
              <a:t>thread schedulers, two instruction dispatch units</a:t>
            </a:r>
          </a:p>
          <a:p>
            <a:pPr lvl="1"/>
            <a:r>
              <a:rPr lang="en-US" sz="2000" dirty="0"/>
              <a:t>16 SIMD lanes (SIMD width=32, chime=2 cycles), 16 load-store units, 4 special function units</a:t>
            </a:r>
          </a:p>
          <a:p>
            <a:pPr lvl="1"/>
            <a:r>
              <a:rPr lang="en-US" sz="2000"/>
              <a:t>Two </a:t>
            </a:r>
            <a:r>
              <a:rPr lang="en-US" sz="2000" dirty="0"/>
              <a:t>threads of SIMD instructions are scheduled every two clock cycles</a:t>
            </a:r>
          </a:p>
          <a:p>
            <a:r>
              <a:rPr lang="en-US" sz="2400"/>
              <a:t>Fast single-, double-, and half-precision</a:t>
            </a:r>
          </a:p>
          <a:p>
            <a:r>
              <a:rPr lang="en-US" sz="2400"/>
              <a:t>High Bandwith Memory 2 (HBM2) at 732 GB/s</a:t>
            </a:r>
          </a:p>
          <a:p>
            <a:r>
              <a:rPr lang="en-US" sz="2400"/>
              <a:t>NVLink between multiple GPUs (20 GB/s in each direction)</a:t>
            </a:r>
          </a:p>
          <a:p>
            <a:r>
              <a:rPr lang="en-US" sz="2400"/>
              <a:t>Unified virtual memory and paging support</a:t>
            </a:r>
            <a:endParaRPr lang="en-US" sz="2400" dirty="0"/>
          </a:p>
        </p:txBody>
      </p:sp>
      <p:sp>
        <p:nvSpPr>
          <p:cNvPr id="242693" name="Text Box 5"/>
          <p:cNvSpPr txBox="1">
            <a:spLocks noChangeArrowheads="1"/>
          </p:cNvSpPr>
          <p:nvPr/>
        </p:nvSpPr>
        <p:spPr bwMode="auto">
          <a:xfrm rot="5400000">
            <a:off x="8999599" y="1300265"/>
            <a:ext cx="2967479" cy="369332"/>
          </a:xfrm>
          <a:prstGeom prst="rect">
            <a:avLst/>
          </a:prstGeom>
          <a:solidFill>
            <a:srgbClr val="C0C0C0"/>
          </a:solidFill>
          <a:ln w="9525">
            <a:noFill/>
            <a:miter lim="800000"/>
            <a:headEnd/>
            <a:tailEnd/>
          </a:ln>
          <a:effectLst/>
        </p:spPr>
        <p:txBody>
          <a:bodyPr wrap="none">
            <a:spAutoFit/>
          </a:bodyPr>
          <a:lstStyle/>
          <a:p>
            <a:pPr eaLnBrk="0" hangingPunct="0">
              <a:spcBef>
                <a:spcPct val="0"/>
              </a:spcBef>
              <a:buClrTx/>
              <a:buSzTx/>
              <a:buFontTx/>
              <a:buNone/>
            </a:pPr>
            <a:r>
              <a:rPr lang="en-US" dirty="0">
                <a:solidFill>
                  <a:srgbClr val="0066FF"/>
                </a:solidFill>
                <a:latin typeface="Arial" charset="0"/>
              </a:rPr>
              <a:t>Graphical Processing Units</a:t>
            </a:r>
          </a:p>
        </p:txBody>
      </p:sp>
    </p:spTree>
    <p:extLst>
      <p:ext uri="{BB962C8B-B14F-4D97-AF65-F5344CB8AC3E}">
        <p14:creationId xmlns:p14="http://schemas.microsoft.com/office/powerpoint/2010/main" val="1612923270"/>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a:xfrm>
            <a:off x="2135189" y="109677"/>
            <a:ext cx="8281987" cy="707886"/>
          </a:xfrm>
        </p:spPr>
        <p:txBody>
          <a:bodyPr/>
          <a:lstStyle/>
          <a:p>
            <a:r>
              <a:rPr lang="en-US" smtClean="0"/>
              <a:t>Pascal Multithreaded </a:t>
            </a:r>
            <a:r>
              <a:rPr lang="en-US" dirty="0" smtClean="0"/>
              <a:t>SIMD Proc.</a:t>
            </a:r>
            <a:endParaRPr lang="en-AU" dirty="0"/>
          </a:p>
        </p:txBody>
      </p:sp>
      <p:sp>
        <p:nvSpPr>
          <p:cNvPr id="242693" name="Text Box 5"/>
          <p:cNvSpPr txBox="1">
            <a:spLocks noChangeArrowheads="1"/>
          </p:cNvSpPr>
          <p:nvPr/>
        </p:nvSpPr>
        <p:spPr bwMode="auto">
          <a:xfrm rot="5400000">
            <a:off x="8999599" y="1300265"/>
            <a:ext cx="2967479" cy="369332"/>
          </a:xfrm>
          <a:prstGeom prst="rect">
            <a:avLst/>
          </a:prstGeom>
          <a:solidFill>
            <a:srgbClr val="C0C0C0"/>
          </a:solidFill>
          <a:ln w="9525">
            <a:noFill/>
            <a:miter lim="800000"/>
            <a:headEnd/>
            <a:tailEnd/>
          </a:ln>
          <a:effectLst/>
        </p:spPr>
        <p:txBody>
          <a:bodyPr wrap="none">
            <a:spAutoFit/>
          </a:bodyPr>
          <a:lstStyle/>
          <a:p>
            <a:pPr eaLnBrk="0" hangingPunct="0">
              <a:spcBef>
                <a:spcPct val="0"/>
              </a:spcBef>
              <a:buClrTx/>
              <a:buSzTx/>
              <a:buFontTx/>
              <a:buNone/>
            </a:pPr>
            <a:r>
              <a:rPr lang="en-US" dirty="0">
                <a:solidFill>
                  <a:srgbClr val="0066FF"/>
                </a:solidFill>
                <a:latin typeface="Arial" charset="0"/>
              </a:rPr>
              <a:t>Graphical Processing Units</a:t>
            </a:r>
          </a:p>
        </p:txBody>
      </p:sp>
      <p:pic>
        <p:nvPicPr>
          <p:cNvPr id="7" name="Picture 3" descr="Y:\WOMAT\Production\Artfinal\0000000038\MKCAD\978-0-12-811905-1\0003165543\XMLLowres\f04-20-978012811905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60775" y="533400"/>
            <a:ext cx="7627308" cy="632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42376284"/>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a:xfrm>
            <a:off x="2135189" y="109677"/>
            <a:ext cx="8281987" cy="707886"/>
          </a:xfrm>
        </p:spPr>
        <p:txBody>
          <a:bodyPr/>
          <a:lstStyle/>
          <a:p>
            <a:r>
              <a:rPr lang="en-AU" smtClean="0"/>
              <a:t>Vector Architectures vs GPUs</a:t>
            </a:r>
            <a:endParaRPr lang="en-AU" dirty="0"/>
          </a:p>
        </p:txBody>
      </p:sp>
      <p:sp>
        <p:nvSpPr>
          <p:cNvPr id="242691" name="Rectangle 3"/>
          <p:cNvSpPr>
            <a:spLocks noGrp="1" noChangeArrowheads="1"/>
          </p:cNvSpPr>
          <p:nvPr>
            <p:ph type="body" idx="1"/>
          </p:nvPr>
        </p:nvSpPr>
        <p:spPr/>
        <p:txBody>
          <a:bodyPr/>
          <a:lstStyle/>
          <a:p>
            <a:r>
              <a:rPr lang="en-US" sz="2400"/>
              <a:t>SIMD processor analogous to vector processor, both have MIMD</a:t>
            </a:r>
          </a:p>
          <a:p>
            <a:r>
              <a:rPr lang="en-US" sz="2400"/>
              <a:t>Registers</a:t>
            </a:r>
          </a:p>
          <a:p>
            <a:pPr lvl="1"/>
            <a:r>
              <a:rPr lang="en-US" sz="2000"/>
              <a:t>RV64V register file holds entire vectors</a:t>
            </a:r>
          </a:p>
          <a:p>
            <a:pPr lvl="1"/>
            <a:r>
              <a:rPr lang="en-US" sz="2000"/>
              <a:t>GPU distributes vectors across the registers of SIMD lanes</a:t>
            </a:r>
          </a:p>
          <a:p>
            <a:pPr lvl="1"/>
            <a:r>
              <a:rPr lang="en-US" sz="2000"/>
              <a:t>RV64 has 32 vector registers of 32 elements (1024)</a:t>
            </a:r>
          </a:p>
          <a:p>
            <a:pPr lvl="1"/>
            <a:r>
              <a:rPr lang="en-US" sz="2000"/>
              <a:t>GPU has 256 registers with 32 elements each (8K)</a:t>
            </a:r>
          </a:p>
          <a:p>
            <a:pPr lvl="1"/>
            <a:r>
              <a:rPr lang="en-US" sz="2000"/>
              <a:t>RV64 has 2 to 8 lanes with vector length of 32, chime is 4 to 16 cycles</a:t>
            </a:r>
          </a:p>
          <a:p>
            <a:pPr lvl="1"/>
            <a:r>
              <a:rPr lang="en-US" sz="2000"/>
              <a:t>SIMD processor chime is 2 to 4 cycles</a:t>
            </a:r>
          </a:p>
          <a:p>
            <a:pPr lvl="1"/>
            <a:r>
              <a:rPr lang="en-US" sz="2000"/>
              <a:t>GPU vectorized loop is grid</a:t>
            </a:r>
          </a:p>
          <a:p>
            <a:pPr lvl="1"/>
            <a:r>
              <a:rPr lang="en-US" sz="2000"/>
              <a:t>All GPU loads are gather instructions and all GPU stores are scatter instructions</a:t>
            </a:r>
            <a:endParaRPr lang="en-US" sz="2000" dirty="0"/>
          </a:p>
        </p:txBody>
      </p:sp>
      <p:sp>
        <p:nvSpPr>
          <p:cNvPr id="242693" name="Text Box 5"/>
          <p:cNvSpPr txBox="1">
            <a:spLocks noChangeArrowheads="1"/>
          </p:cNvSpPr>
          <p:nvPr/>
        </p:nvSpPr>
        <p:spPr bwMode="auto">
          <a:xfrm rot="5400000">
            <a:off x="8999599" y="1300265"/>
            <a:ext cx="2967479" cy="369332"/>
          </a:xfrm>
          <a:prstGeom prst="rect">
            <a:avLst/>
          </a:prstGeom>
          <a:solidFill>
            <a:srgbClr val="C0C0C0"/>
          </a:solidFill>
          <a:ln w="9525">
            <a:noFill/>
            <a:miter lim="800000"/>
            <a:headEnd/>
            <a:tailEnd/>
          </a:ln>
          <a:effectLst/>
        </p:spPr>
        <p:txBody>
          <a:bodyPr wrap="none">
            <a:spAutoFit/>
          </a:bodyPr>
          <a:lstStyle/>
          <a:p>
            <a:pPr eaLnBrk="0" hangingPunct="0">
              <a:spcBef>
                <a:spcPct val="0"/>
              </a:spcBef>
              <a:buClrTx/>
              <a:buSzTx/>
              <a:buFontTx/>
              <a:buNone/>
            </a:pPr>
            <a:r>
              <a:rPr lang="en-US" dirty="0">
                <a:solidFill>
                  <a:srgbClr val="0066FF"/>
                </a:solidFill>
                <a:latin typeface="Arial" charset="0"/>
              </a:rPr>
              <a:t>Graphical Processing Units</a:t>
            </a:r>
          </a:p>
        </p:txBody>
      </p:sp>
    </p:spTree>
    <p:extLst>
      <p:ext uri="{BB962C8B-B14F-4D97-AF65-F5344CB8AC3E}">
        <p14:creationId xmlns:p14="http://schemas.microsoft.com/office/powerpoint/2010/main" val="830132699"/>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a:xfrm>
            <a:off x="2135189" y="109677"/>
            <a:ext cx="8281987" cy="707886"/>
          </a:xfrm>
        </p:spPr>
        <p:txBody>
          <a:bodyPr/>
          <a:lstStyle/>
          <a:p>
            <a:r>
              <a:rPr lang="en-AU" smtClean="0"/>
              <a:t>SIMD Architectures vs GPUs</a:t>
            </a:r>
            <a:endParaRPr lang="en-AU" dirty="0"/>
          </a:p>
        </p:txBody>
      </p:sp>
      <p:sp>
        <p:nvSpPr>
          <p:cNvPr id="242691" name="Rectangle 3"/>
          <p:cNvSpPr>
            <a:spLocks noGrp="1" noChangeArrowheads="1"/>
          </p:cNvSpPr>
          <p:nvPr>
            <p:ph type="body" idx="1"/>
          </p:nvPr>
        </p:nvSpPr>
        <p:spPr/>
        <p:txBody>
          <a:bodyPr/>
          <a:lstStyle/>
          <a:p>
            <a:r>
              <a:rPr lang="en-US" sz="2400"/>
              <a:t>GPUs have more  SIMD lanes</a:t>
            </a:r>
          </a:p>
          <a:p>
            <a:r>
              <a:rPr lang="en-US" sz="2400"/>
              <a:t>GPUs have hardware support for more threads</a:t>
            </a:r>
          </a:p>
          <a:p>
            <a:r>
              <a:rPr lang="en-US" sz="2400"/>
              <a:t>Both have 2:1 ratio between double- and single-precision performance</a:t>
            </a:r>
          </a:p>
          <a:p>
            <a:r>
              <a:rPr lang="en-US" sz="2400"/>
              <a:t>Both have 64-bit addresses, but GPUs have smaller memory</a:t>
            </a:r>
          </a:p>
          <a:p>
            <a:r>
              <a:rPr lang="en-US" sz="2400"/>
              <a:t>SIMD architectures have no scatter-gather support</a:t>
            </a:r>
            <a:endParaRPr lang="en-US" sz="2000"/>
          </a:p>
        </p:txBody>
      </p:sp>
      <p:sp>
        <p:nvSpPr>
          <p:cNvPr id="242693" name="Text Box 5"/>
          <p:cNvSpPr txBox="1">
            <a:spLocks noChangeArrowheads="1"/>
          </p:cNvSpPr>
          <p:nvPr/>
        </p:nvSpPr>
        <p:spPr bwMode="auto">
          <a:xfrm rot="5400000">
            <a:off x="8999599" y="1300265"/>
            <a:ext cx="2967479" cy="369332"/>
          </a:xfrm>
          <a:prstGeom prst="rect">
            <a:avLst/>
          </a:prstGeom>
          <a:solidFill>
            <a:srgbClr val="C0C0C0"/>
          </a:solidFill>
          <a:ln w="9525">
            <a:noFill/>
            <a:miter lim="800000"/>
            <a:headEnd/>
            <a:tailEnd/>
          </a:ln>
          <a:effectLst/>
        </p:spPr>
        <p:txBody>
          <a:bodyPr wrap="none">
            <a:spAutoFit/>
          </a:bodyPr>
          <a:lstStyle/>
          <a:p>
            <a:pPr eaLnBrk="0" hangingPunct="0">
              <a:spcBef>
                <a:spcPct val="0"/>
              </a:spcBef>
              <a:buClrTx/>
              <a:buSzTx/>
              <a:buFontTx/>
              <a:buNone/>
            </a:pPr>
            <a:r>
              <a:rPr lang="en-US" dirty="0">
                <a:solidFill>
                  <a:srgbClr val="0066FF"/>
                </a:solidFill>
                <a:latin typeface="Arial" charset="0"/>
              </a:rPr>
              <a:t>Graphical Processing Units</a:t>
            </a:r>
          </a:p>
        </p:txBody>
      </p:sp>
    </p:spTree>
    <p:extLst>
      <p:ext uri="{BB962C8B-B14F-4D97-AF65-F5344CB8AC3E}">
        <p14:creationId xmlns:p14="http://schemas.microsoft.com/office/powerpoint/2010/main" val="1679330073"/>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a:xfrm>
            <a:off x="2135189" y="109677"/>
            <a:ext cx="8281987" cy="707886"/>
          </a:xfrm>
        </p:spPr>
        <p:txBody>
          <a:bodyPr/>
          <a:lstStyle/>
          <a:p>
            <a:r>
              <a:rPr lang="en-US" dirty="0" smtClean="0"/>
              <a:t>Loop-Level Parallelism</a:t>
            </a:r>
            <a:endParaRPr lang="en-AU" dirty="0"/>
          </a:p>
        </p:txBody>
      </p:sp>
      <p:sp>
        <p:nvSpPr>
          <p:cNvPr id="242691" name="Rectangle 3"/>
          <p:cNvSpPr>
            <a:spLocks noGrp="1" noChangeArrowheads="1"/>
          </p:cNvSpPr>
          <p:nvPr>
            <p:ph type="body" idx="1"/>
          </p:nvPr>
        </p:nvSpPr>
        <p:spPr/>
        <p:txBody>
          <a:bodyPr/>
          <a:lstStyle/>
          <a:p>
            <a:r>
              <a:rPr lang="en-US" sz="2400" dirty="0"/>
              <a:t>Focuses on determining whether data accesses in later iterations are dependent on data values produced in earlier iterations</a:t>
            </a:r>
          </a:p>
          <a:p>
            <a:pPr lvl="1"/>
            <a:r>
              <a:rPr lang="en-US" sz="2000" dirty="0"/>
              <a:t>Loop-carried dependence</a:t>
            </a:r>
          </a:p>
          <a:p>
            <a:endParaRPr lang="nn-NO" dirty="0" smtClean="0"/>
          </a:p>
          <a:p>
            <a:r>
              <a:rPr lang="nn-NO" dirty="0" smtClean="0"/>
              <a:t>Example 1:</a:t>
            </a:r>
          </a:p>
          <a:p>
            <a:pPr>
              <a:buNone/>
            </a:pPr>
            <a:r>
              <a:rPr lang="nn-NO" dirty="0" smtClean="0"/>
              <a:t>	</a:t>
            </a:r>
            <a:r>
              <a:rPr lang="nn-NO" sz="2000" dirty="0"/>
              <a:t>for (i=999; i&gt;=0; i=i-1)</a:t>
            </a:r>
          </a:p>
          <a:p>
            <a:pPr>
              <a:buNone/>
            </a:pPr>
            <a:r>
              <a:rPr lang="en-US" sz="2000" dirty="0"/>
              <a:t>		x[</a:t>
            </a:r>
            <a:r>
              <a:rPr lang="en-US" sz="2000" dirty="0" err="1"/>
              <a:t>i</a:t>
            </a:r>
            <a:r>
              <a:rPr lang="en-US" sz="2000" dirty="0"/>
              <a:t>] = x[</a:t>
            </a:r>
            <a:r>
              <a:rPr lang="en-US" sz="2000" dirty="0" err="1"/>
              <a:t>i</a:t>
            </a:r>
            <a:r>
              <a:rPr lang="en-US" sz="2000" dirty="0"/>
              <a:t>] + s;</a:t>
            </a:r>
          </a:p>
          <a:p>
            <a:endParaRPr lang="en-US" dirty="0" smtClean="0"/>
          </a:p>
          <a:p>
            <a:r>
              <a:rPr lang="en-US" dirty="0" smtClean="0"/>
              <a:t>No loop-carried dependence</a:t>
            </a:r>
          </a:p>
        </p:txBody>
      </p:sp>
      <p:sp>
        <p:nvSpPr>
          <p:cNvPr id="242693" name="Text Box 5"/>
          <p:cNvSpPr txBox="1">
            <a:spLocks noChangeArrowheads="1"/>
          </p:cNvSpPr>
          <p:nvPr/>
        </p:nvSpPr>
        <p:spPr bwMode="auto">
          <a:xfrm rot="5400000">
            <a:off x="7903141" y="2395529"/>
            <a:ext cx="5160387" cy="369332"/>
          </a:xfrm>
          <a:prstGeom prst="rect">
            <a:avLst/>
          </a:prstGeom>
          <a:solidFill>
            <a:srgbClr val="C0C0C0"/>
          </a:solidFill>
          <a:ln w="9525">
            <a:noFill/>
            <a:miter lim="800000"/>
            <a:headEnd/>
            <a:tailEnd/>
          </a:ln>
          <a:effectLst/>
        </p:spPr>
        <p:txBody>
          <a:bodyPr wrap="none">
            <a:spAutoFit/>
          </a:bodyPr>
          <a:lstStyle/>
          <a:p>
            <a:pPr eaLnBrk="0" hangingPunct="0">
              <a:spcBef>
                <a:spcPct val="0"/>
              </a:spcBef>
              <a:buClrTx/>
              <a:buSzTx/>
              <a:buFontTx/>
              <a:buNone/>
            </a:pPr>
            <a:r>
              <a:rPr lang="en-US" dirty="0">
                <a:solidFill>
                  <a:srgbClr val="0066FF"/>
                </a:solidFill>
                <a:latin typeface="Arial" charset="0"/>
              </a:rPr>
              <a:t>Detecting and Enhancing Loop-Level Parallelism</a:t>
            </a:r>
          </a:p>
        </p:txBody>
      </p:sp>
    </p:spTree>
    <p:extLst>
      <p:ext uri="{BB962C8B-B14F-4D97-AF65-F5344CB8AC3E}">
        <p14:creationId xmlns:p14="http://schemas.microsoft.com/office/powerpoint/2010/main" val="1763975773"/>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a:xfrm>
            <a:off x="2135189" y="109677"/>
            <a:ext cx="8281987" cy="707886"/>
          </a:xfrm>
        </p:spPr>
        <p:txBody>
          <a:bodyPr/>
          <a:lstStyle/>
          <a:p>
            <a:r>
              <a:rPr lang="en-US" dirty="0" smtClean="0"/>
              <a:t>Loop-Level Parallelism</a:t>
            </a:r>
            <a:endParaRPr lang="en-AU" dirty="0"/>
          </a:p>
        </p:txBody>
      </p:sp>
      <p:sp>
        <p:nvSpPr>
          <p:cNvPr id="242691" name="Rectangle 3"/>
          <p:cNvSpPr>
            <a:spLocks noGrp="1" noChangeArrowheads="1"/>
          </p:cNvSpPr>
          <p:nvPr>
            <p:ph type="body" idx="1"/>
          </p:nvPr>
        </p:nvSpPr>
        <p:spPr/>
        <p:txBody>
          <a:bodyPr/>
          <a:lstStyle/>
          <a:p>
            <a:r>
              <a:rPr lang="nn-NO" dirty="0" smtClean="0"/>
              <a:t>Example 2:</a:t>
            </a:r>
          </a:p>
          <a:p>
            <a:pPr>
              <a:buNone/>
            </a:pPr>
            <a:r>
              <a:rPr lang="en-US" sz="2000" dirty="0"/>
              <a:t>	for (</a:t>
            </a:r>
            <a:r>
              <a:rPr lang="en-US" sz="2000" dirty="0" err="1"/>
              <a:t>i</a:t>
            </a:r>
            <a:r>
              <a:rPr lang="en-US" sz="2000" dirty="0"/>
              <a:t>=0; </a:t>
            </a:r>
            <a:r>
              <a:rPr lang="en-US" sz="2000" dirty="0" err="1"/>
              <a:t>i</a:t>
            </a:r>
            <a:r>
              <a:rPr lang="en-US" sz="2000" dirty="0"/>
              <a:t>&lt;100; </a:t>
            </a:r>
            <a:r>
              <a:rPr lang="en-US" sz="2000" dirty="0" err="1"/>
              <a:t>i</a:t>
            </a:r>
            <a:r>
              <a:rPr lang="en-US" sz="2000" dirty="0"/>
              <a:t>=i+1) {</a:t>
            </a:r>
          </a:p>
          <a:p>
            <a:pPr>
              <a:buNone/>
            </a:pPr>
            <a:r>
              <a:rPr lang="en-US" sz="2000" dirty="0"/>
              <a:t>		A[i+1] = A[</a:t>
            </a:r>
            <a:r>
              <a:rPr lang="en-US" sz="2000" dirty="0" err="1"/>
              <a:t>i</a:t>
            </a:r>
            <a:r>
              <a:rPr lang="en-US" sz="2000" dirty="0"/>
              <a:t>] + C[</a:t>
            </a:r>
            <a:r>
              <a:rPr lang="en-US" sz="2000" dirty="0" err="1"/>
              <a:t>i</a:t>
            </a:r>
            <a:r>
              <a:rPr lang="en-US" sz="2000" dirty="0"/>
              <a:t>]; /* S1 */</a:t>
            </a:r>
          </a:p>
          <a:p>
            <a:pPr>
              <a:buNone/>
            </a:pPr>
            <a:r>
              <a:rPr lang="en-US" sz="2000" dirty="0"/>
              <a:t>		B[i+1] = B[</a:t>
            </a:r>
            <a:r>
              <a:rPr lang="en-US" sz="2000" dirty="0" err="1"/>
              <a:t>i</a:t>
            </a:r>
            <a:r>
              <a:rPr lang="en-US" sz="2000" dirty="0"/>
              <a:t>] + A[i+1]; /* S2 */</a:t>
            </a:r>
          </a:p>
          <a:p>
            <a:pPr>
              <a:buNone/>
            </a:pPr>
            <a:r>
              <a:rPr lang="en-US" sz="2000" dirty="0"/>
              <a:t>	}</a:t>
            </a:r>
            <a:endParaRPr lang="nn-NO" sz="2000" dirty="0"/>
          </a:p>
          <a:p>
            <a:pPr>
              <a:buNone/>
            </a:pPr>
            <a:r>
              <a:rPr lang="nn-NO" dirty="0" smtClean="0"/>
              <a:t>	</a:t>
            </a:r>
          </a:p>
          <a:p>
            <a:r>
              <a:rPr lang="nn-NO" dirty="0" smtClean="0"/>
              <a:t>S1 and S2 use values computed by S1 in previous iteration</a:t>
            </a:r>
          </a:p>
          <a:p>
            <a:r>
              <a:rPr lang="nn-NO" dirty="0" smtClean="0"/>
              <a:t>S2 uses value computed by S1 in same iteration</a:t>
            </a:r>
          </a:p>
          <a:p>
            <a:endParaRPr lang="en-US" dirty="0" smtClean="0"/>
          </a:p>
        </p:txBody>
      </p:sp>
      <p:sp>
        <p:nvSpPr>
          <p:cNvPr id="242693" name="Text Box 5"/>
          <p:cNvSpPr txBox="1">
            <a:spLocks noChangeArrowheads="1"/>
          </p:cNvSpPr>
          <p:nvPr/>
        </p:nvSpPr>
        <p:spPr bwMode="auto">
          <a:xfrm rot="5400000">
            <a:off x="7903141" y="2395529"/>
            <a:ext cx="5160387" cy="369332"/>
          </a:xfrm>
          <a:prstGeom prst="rect">
            <a:avLst/>
          </a:prstGeom>
          <a:solidFill>
            <a:srgbClr val="C0C0C0"/>
          </a:solidFill>
          <a:ln w="9525">
            <a:noFill/>
            <a:miter lim="800000"/>
            <a:headEnd/>
            <a:tailEnd/>
          </a:ln>
          <a:effectLst/>
        </p:spPr>
        <p:txBody>
          <a:bodyPr wrap="none">
            <a:spAutoFit/>
          </a:bodyPr>
          <a:lstStyle/>
          <a:p>
            <a:pPr eaLnBrk="0" hangingPunct="0">
              <a:spcBef>
                <a:spcPct val="0"/>
              </a:spcBef>
              <a:buClrTx/>
              <a:buSzTx/>
              <a:buFontTx/>
              <a:buNone/>
            </a:pPr>
            <a:r>
              <a:rPr lang="en-US" dirty="0">
                <a:solidFill>
                  <a:srgbClr val="0066FF"/>
                </a:solidFill>
                <a:latin typeface="Arial" charset="0"/>
              </a:rPr>
              <a:t>Detecting and Enhancing Loop-Level Parallelism</a:t>
            </a:r>
          </a:p>
        </p:txBody>
      </p:sp>
    </p:spTree>
    <p:extLst>
      <p:ext uri="{BB962C8B-B14F-4D97-AF65-F5344CB8AC3E}">
        <p14:creationId xmlns:p14="http://schemas.microsoft.com/office/powerpoint/2010/main" val="2362969792"/>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a:xfrm>
            <a:off x="2135189" y="109677"/>
            <a:ext cx="8281987" cy="707886"/>
          </a:xfrm>
        </p:spPr>
        <p:txBody>
          <a:bodyPr/>
          <a:lstStyle/>
          <a:p>
            <a:r>
              <a:rPr lang="en-US" dirty="0" smtClean="0"/>
              <a:t>Loop-Level Parallelism</a:t>
            </a:r>
            <a:endParaRPr lang="en-AU" dirty="0"/>
          </a:p>
        </p:txBody>
      </p:sp>
      <p:sp>
        <p:nvSpPr>
          <p:cNvPr id="242691" name="Rectangle 3"/>
          <p:cNvSpPr>
            <a:spLocks noGrp="1" noChangeArrowheads="1"/>
          </p:cNvSpPr>
          <p:nvPr>
            <p:ph type="body" idx="1"/>
          </p:nvPr>
        </p:nvSpPr>
        <p:spPr/>
        <p:txBody>
          <a:bodyPr/>
          <a:lstStyle/>
          <a:p>
            <a:r>
              <a:rPr lang="en-US" dirty="0" smtClean="0"/>
              <a:t>Example 3:</a:t>
            </a:r>
          </a:p>
          <a:p>
            <a:pPr>
              <a:buNone/>
            </a:pPr>
            <a:r>
              <a:rPr lang="en-US" sz="2000" dirty="0"/>
              <a:t>	for (</a:t>
            </a:r>
            <a:r>
              <a:rPr lang="en-US" sz="2000" dirty="0" err="1"/>
              <a:t>i</a:t>
            </a:r>
            <a:r>
              <a:rPr lang="en-US" sz="2000" dirty="0"/>
              <a:t>=0; </a:t>
            </a:r>
            <a:r>
              <a:rPr lang="en-US" sz="2000" dirty="0" err="1"/>
              <a:t>i</a:t>
            </a:r>
            <a:r>
              <a:rPr lang="en-US" sz="2000" dirty="0"/>
              <a:t>&lt;100; </a:t>
            </a:r>
            <a:r>
              <a:rPr lang="en-US" sz="2000" dirty="0" err="1"/>
              <a:t>i</a:t>
            </a:r>
            <a:r>
              <a:rPr lang="en-US" sz="2000" dirty="0"/>
              <a:t>=i+1) {</a:t>
            </a:r>
          </a:p>
          <a:p>
            <a:pPr>
              <a:buNone/>
            </a:pPr>
            <a:r>
              <a:rPr lang="en-US" sz="2000" dirty="0"/>
              <a:t>		A[</a:t>
            </a:r>
            <a:r>
              <a:rPr lang="en-US" sz="2000" dirty="0" err="1"/>
              <a:t>i</a:t>
            </a:r>
            <a:r>
              <a:rPr lang="en-US" sz="2000" dirty="0"/>
              <a:t>] = A[</a:t>
            </a:r>
            <a:r>
              <a:rPr lang="en-US" sz="2000" dirty="0" err="1"/>
              <a:t>i</a:t>
            </a:r>
            <a:r>
              <a:rPr lang="en-US" sz="2000" dirty="0"/>
              <a:t>] + B[</a:t>
            </a:r>
            <a:r>
              <a:rPr lang="en-US" sz="2000" dirty="0" err="1"/>
              <a:t>i</a:t>
            </a:r>
            <a:r>
              <a:rPr lang="en-US" sz="2000" dirty="0"/>
              <a:t>]; /* S1 */</a:t>
            </a:r>
          </a:p>
          <a:p>
            <a:pPr>
              <a:buNone/>
            </a:pPr>
            <a:r>
              <a:rPr lang="en-US" sz="2000" dirty="0"/>
              <a:t>		B[i+1] = C[</a:t>
            </a:r>
            <a:r>
              <a:rPr lang="en-US" sz="2000" dirty="0" err="1"/>
              <a:t>i</a:t>
            </a:r>
            <a:r>
              <a:rPr lang="en-US" sz="2000" dirty="0"/>
              <a:t>] + D[</a:t>
            </a:r>
            <a:r>
              <a:rPr lang="en-US" sz="2000" dirty="0" err="1"/>
              <a:t>i</a:t>
            </a:r>
            <a:r>
              <a:rPr lang="en-US" sz="2000" dirty="0"/>
              <a:t>]; /* S2 */</a:t>
            </a:r>
          </a:p>
          <a:p>
            <a:pPr>
              <a:buNone/>
            </a:pPr>
            <a:r>
              <a:rPr lang="en-US" sz="2000" dirty="0"/>
              <a:t>	}</a:t>
            </a:r>
          </a:p>
          <a:p>
            <a:r>
              <a:rPr lang="en-US" sz="2000" dirty="0"/>
              <a:t>S1 uses value computed by S2 in previous iteration but dependence is not circular so loop is parallel</a:t>
            </a:r>
          </a:p>
          <a:p>
            <a:r>
              <a:rPr lang="en-US" sz="2000" dirty="0"/>
              <a:t>Transform to:</a:t>
            </a:r>
          </a:p>
          <a:p>
            <a:pPr>
              <a:buNone/>
            </a:pPr>
            <a:r>
              <a:rPr lang="en-US" sz="2000" dirty="0"/>
              <a:t>	A[0] = A[0] + B[0];</a:t>
            </a:r>
          </a:p>
          <a:p>
            <a:pPr>
              <a:buNone/>
            </a:pPr>
            <a:r>
              <a:rPr lang="en-US" sz="2000" dirty="0"/>
              <a:t>	for (</a:t>
            </a:r>
            <a:r>
              <a:rPr lang="en-US" sz="2000" dirty="0" err="1"/>
              <a:t>i</a:t>
            </a:r>
            <a:r>
              <a:rPr lang="en-US" sz="2000" dirty="0"/>
              <a:t>=0; </a:t>
            </a:r>
            <a:r>
              <a:rPr lang="en-US" sz="2000" dirty="0" err="1"/>
              <a:t>i</a:t>
            </a:r>
            <a:r>
              <a:rPr lang="en-US" sz="2000" dirty="0"/>
              <a:t>&lt;99; </a:t>
            </a:r>
            <a:r>
              <a:rPr lang="en-US" sz="2000" dirty="0" err="1"/>
              <a:t>i</a:t>
            </a:r>
            <a:r>
              <a:rPr lang="en-US" sz="2000" dirty="0"/>
              <a:t>=i+1) {</a:t>
            </a:r>
          </a:p>
          <a:p>
            <a:pPr>
              <a:buNone/>
            </a:pPr>
            <a:r>
              <a:rPr lang="en-US" sz="2000" dirty="0"/>
              <a:t>		B[i+1] = C[</a:t>
            </a:r>
            <a:r>
              <a:rPr lang="en-US" sz="2000" dirty="0" err="1"/>
              <a:t>i</a:t>
            </a:r>
            <a:r>
              <a:rPr lang="en-US" sz="2000" dirty="0"/>
              <a:t>] + D[</a:t>
            </a:r>
            <a:r>
              <a:rPr lang="en-US" sz="2000" dirty="0" err="1"/>
              <a:t>i</a:t>
            </a:r>
            <a:r>
              <a:rPr lang="en-US" sz="2000" dirty="0"/>
              <a:t>];</a:t>
            </a:r>
          </a:p>
          <a:p>
            <a:pPr>
              <a:buNone/>
            </a:pPr>
            <a:r>
              <a:rPr lang="en-US" sz="2000" dirty="0"/>
              <a:t>		A[i+1] = A[i+1] + B[i+1];</a:t>
            </a:r>
          </a:p>
          <a:p>
            <a:pPr>
              <a:buNone/>
            </a:pPr>
            <a:r>
              <a:rPr lang="en-US" sz="2000" dirty="0"/>
              <a:t>	}</a:t>
            </a:r>
          </a:p>
          <a:p>
            <a:pPr>
              <a:buNone/>
            </a:pPr>
            <a:r>
              <a:rPr lang="en-US" sz="2000" dirty="0"/>
              <a:t>	B[100] = C[99] + D[99];</a:t>
            </a:r>
          </a:p>
        </p:txBody>
      </p:sp>
      <p:sp>
        <p:nvSpPr>
          <p:cNvPr id="242693" name="Text Box 5"/>
          <p:cNvSpPr txBox="1">
            <a:spLocks noChangeArrowheads="1"/>
          </p:cNvSpPr>
          <p:nvPr/>
        </p:nvSpPr>
        <p:spPr bwMode="auto">
          <a:xfrm rot="5400000">
            <a:off x="7903141" y="2395529"/>
            <a:ext cx="5160387" cy="369332"/>
          </a:xfrm>
          <a:prstGeom prst="rect">
            <a:avLst/>
          </a:prstGeom>
          <a:solidFill>
            <a:srgbClr val="C0C0C0"/>
          </a:solidFill>
          <a:ln w="9525">
            <a:noFill/>
            <a:miter lim="800000"/>
            <a:headEnd/>
            <a:tailEnd/>
          </a:ln>
          <a:effectLst/>
        </p:spPr>
        <p:txBody>
          <a:bodyPr wrap="none">
            <a:spAutoFit/>
          </a:bodyPr>
          <a:lstStyle/>
          <a:p>
            <a:pPr eaLnBrk="0" hangingPunct="0">
              <a:spcBef>
                <a:spcPct val="0"/>
              </a:spcBef>
              <a:buClrTx/>
              <a:buSzTx/>
              <a:buFontTx/>
              <a:buNone/>
            </a:pPr>
            <a:r>
              <a:rPr lang="en-US" dirty="0">
                <a:solidFill>
                  <a:srgbClr val="0066FF"/>
                </a:solidFill>
                <a:latin typeface="Arial" charset="0"/>
              </a:rPr>
              <a:t>Detecting and Enhancing Loop-Level Parallelism</a:t>
            </a:r>
          </a:p>
        </p:txBody>
      </p:sp>
    </p:spTree>
    <p:extLst>
      <p:ext uri="{BB962C8B-B14F-4D97-AF65-F5344CB8AC3E}">
        <p14:creationId xmlns:p14="http://schemas.microsoft.com/office/powerpoint/2010/main" val="2034815829"/>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a:xfrm>
            <a:off x="2135189" y="109677"/>
            <a:ext cx="8281987" cy="707886"/>
          </a:xfrm>
        </p:spPr>
        <p:txBody>
          <a:bodyPr/>
          <a:lstStyle/>
          <a:p>
            <a:r>
              <a:rPr lang="en-US" dirty="0" smtClean="0"/>
              <a:t>Loop-Level Parallelism</a:t>
            </a:r>
            <a:endParaRPr lang="en-AU" dirty="0"/>
          </a:p>
        </p:txBody>
      </p:sp>
      <p:sp>
        <p:nvSpPr>
          <p:cNvPr id="242691" name="Rectangle 3"/>
          <p:cNvSpPr>
            <a:spLocks noGrp="1" noChangeArrowheads="1"/>
          </p:cNvSpPr>
          <p:nvPr>
            <p:ph type="body" idx="1"/>
          </p:nvPr>
        </p:nvSpPr>
        <p:spPr/>
        <p:txBody>
          <a:bodyPr/>
          <a:lstStyle/>
          <a:p>
            <a:r>
              <a:rPr lang="en-US" sz="2400" dirty="0"/>
              <a:t>Example 4:</a:t>
            </a:r>
          </a:p>
          <a:p>
            <a:pPr>
              <a:buNone/>
            </a:pPr>
            <a:r>
              <a:rPr lang="en-US" sz="2400" dirty="0"/>
              <a:t>	for (</a:t>
            </a:r>
            <a:r>
              <a:rPr lang="en-US" sz="2400" dirty="0" err="1"/>
              <a:t>i</a:t>
            </a:r>
            <a:r>
              <a:rPr lang="en-US" sz="2400" dirty="0"/>
              <a:t>=0;i&lt;100;i=i+1)  {</a:t>
            </a:r>
          </a:p>
          <a:p>
            <a:pPr>
              <a:buNone/>
            </a:pPr>
            <a:r>
              <a:rPr lang="en-US" sz="2400" dirty="0"/>
              <a:t>		A[</a:t>
            </a:r>
            <a:r>
              <a:rPr lang="en-US" sz="2400" dirty="0" err="1"/>
              <a:t>i</a:t>
            </a:r>
            <a:r>
              <a:rPr lang="en-US" sz="2400" dirty="0"/>
              <a:t>] = B[</a:t>
            </a:r>
            <a:r>
              <a:rPr lang="en-US" sz="2400" dirty="0" err="1"/>
              <a:t>i</a:t>
            </a:r>
            <a:r>
              <a:rPr lang="en-US" sz="2400" dirty="0"/>
              <a:t>] + C[</a:t>
            </a:r>
            <a:r>
              <a:rPr lang="en-US" sz="2400" dirty="0" err="1"/>
              <a:t>i</a:t>
            </a:r>
            <a:r>
              <a:rPr lang="en-US" sz="2400" dirty="0"/>
              <a:t>];</a:t>
            </a:r>
          </a:p>
          <a:p>
            <a:pPr>
              <a:buNone/>
            </a:pPr>
            <a:r>
              <a:rPr lang="en-US" sz="2400" dirty="0"/>
              <a:t>		D[</a:t>
            </a:r>
            <a:r>
              <a:rPr lang="en-US" sz="2400" dirty="0" err="1"/>
              <a:t>i</a:t>
            </a:r>
            <a:r>
              <a:rPr lang="en-US" sz="2400" dirty="0"/>
              <a:t>] = A[</a:t>
            </a:r>
            <a:r>
              <a:rPr lang="en-US" sz="2400" dirty="0" err="1"/>
              <a:t>i</a:t>
            </a:r>
            <a:r>
              <a:rPr lang="en-US" sz="2400" dirty="0"/>
              <a:t>] * E[</a:t>
            </a:r>
            <a:r>
              <a:rPr lang="en-US" sz="2400" dirty="0" err="1"/>
              <a:t>i</a:t>
            </a:r>
            <a:r>
              <a:rPr lang="en-US" sz="2400" dirty="0"/>
              <a:t>];</a:t>
            </a:r>
          </a:p>
          <a:p>
            <a:pPr>
              <a:buNone/>
            </a:pPr>
            <a:r>
              <a:rPr lang="en-US" sz="2400" dirty="0"/>
              <a:t>	}</a:t>
            </a:r>
          </a:p>
          <a:p>
            <a:endParaRPr lang="en-US" sz="2400" dirty="0"/>
          </a:p>
          <a:p>
            <a:r>
              <a:rPr lang="en-US" sz="2400" dirty="0"/>
              <a:t>Example 5:</a:t>
            </a:r>
          </a:p>
          <a:p>
            <a:pPr>
              <a:buNone/>
            </a:pPr>
            <a:r>
              <a:rPr lang="en-US" sz="2400" dirty="0"/>
              <a:t>	for (</a:t>
            </a:r>
            <a:r>
              <a:rPr lang="en-US" sz="2400" dirty="0" err="1"/>
              <a:t>i</a:t>
            </a:r>
            <a:r>
              <a:rPr lang="en-US" sz="2400" dirty="0"/>
              <a:t>=1;i&lt;100;i=i+1)  {</a:t>
            </a:r>
          </a:p>
          <a:p>
            <a:pPr>
              <a:buNone/>
            </a:pPr>
            <a:r>
              <a:rPr lang="en-US" sz="2400" dirty="0"/>
              <a:t>		Y[</a:t>
            </a:r>
            <a:r>
              <a:rPr lang="en-US" sz="2400" dirty="0" err="1"/>
              <a:t>i</a:t>
            </a:r>
            <a:r>
              <a:rPr lang="en-US" sz="2400" dirty="0"/>
              <a:t>] = Y[i-1] + Y[</a:t>
            </a:r>
            <a:r>
              <a:rPr lang="en-US" sz="2400" dirty="0" err="1"/>
              <a:t>i</a:t>
            </a:r>
            <a:r>
              <a:rPr lang="en-US" sz="2400" dirty="0"/>
              <a:t>];</a:t>
            </a:r>
          </a:p>
          <a:p>
            <a:pPr>
              <a:buNone/>
            </a:pPr>
            <a:r>
              <a:rPr lang="en-US" sz="2400" dirty="0"/>
              <a:t>	}</a:t>
            </a:r>
          </a:p>
        </p:txBody>
      </p:sp>
      <p:sp>
        <p:nvSpPr>
          <p:cNvPr id="242693" name="Text Box 5"/>
          <p:cNvSpPr txBox="1">
            <a:spLocks noChangeArrowheads="1"/>
          </p:cNvSpPr>
          <p:nvPr/>
        </p:nvSpPr>
        <p:spPr bwMode="auto">
          <a:xfrm rot="5400000">
            <a:off x="7903141" y="2395529"/>
            <a:ext cx="5160387" cy="369332"/>
          </a:xfrm>
          <a:prstGeom prst="rect">
            <a:avLst/>
          </a:prstGeom>
          <a:solidFill>
            <a:srgbClr val="C0C0C0"/>
          </a:solidFill>
          <a:ln w="9525">
            <a:noFill/>
            <a:miter lim="800000"/>
            <a:headEnd/>
            <a:tailEnd/>
          </a:ln>
          <a:effectLst/>
        </p:spPr>
        <p:txBody>
          <a:bodyPr wrap="none">
            <a:spAutoFit/>
          </a:bodyPr>
          <a:lstStyle/>
          <a:p>
            <a:pPr eaLnBrk="0" hangingPunct="0">
              <a:spcBef>
                <a:spcPct val="0"/>
              </a:spcBef>
              <a:buClrTx/>
              <a:buSzTx/>
              <a:buFontTx/>
              <a:buNone/>
            </a:pPr>
            <a:r>
              <a:rPr lang="en-US" dirty="0">
                <a:solidFill>
                  <a:srgbClr val="0066FF"/>
                </a:solidFill>
                <a:latin typeface="Arial" charset="0"/>
              </a:rPr>
              <a:t>Detecting and Enhancing Loop-Level Parallelism</a:t>
            </a:r>
          </a:p>
        </p:txBody>
      </p:sp>
    </p:spTree>
    <p:extLst>
      <p:ext uri="{BB962C8B-B14F-4D97-AF65-F5344CB8AC3E}">
        <p14:creationId xmlns:p14="http://schemas.microsoft.com/office/powerpoint/2010/main" val="3986259164"/>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a:xfrm>
            <a:off x="2135189" y="109677"/>
            <a:ext cx="8281987" cy="707886"/>
          </a:xfrm>
        </p:spPr>
        <p:txBody>
          <a:bodyPr/>
          <a:lstStyle/>
          <a:p>
            <a:r>
              <a:rPr lang="en-US" dirty="0" smtClean="0"/>
              <a:t>Finding dependencies</a:t>
            </a:r>
            <a:endParaRPr lang="en-AU" dirty="0"/>
          </a:p>
        </p:txBody>
      </p:sp>
      <p:sp>
        <p:nvSpPr>
          <p:cNvPr id="242691" name="Rectangle 3"/>
          <p:cNvSpPr>
            <a:spLocks noGrp="1" noChangeArrowheads="1"/>
          </p:cNvSpPr>
          <p:nvPr>
            <p:ph type="body" idx="1"/>
          </p:nvPr>
        </p:nvSpPr>
        <p:spPr/>
        <p:txBody>
          <a:bodyPr/>
          <a:lstStyle/>
          <a:p>
            <a:r>
              <a:rPr lang="en-US" dirty="0" smtClean="0"/>
              <a:t>Assume indices are affine:</a:t>
            </a:r>
          </a:p>
          <a:p>
            <a:pPr lvl="1"/>
            <a:r>
              <a:rPr lang="en-US" i="1" dirty="0" smtClean="0"/>
              <a:t>a</a:t>
            </a:r>
            <a:r>
              <a:rPr lang="en-US" dirty="0" smtClean="0"/>
              <a:t> x </a:t>
            </a:r>
            <a:r>
              <a:rPr lang="en-US" i="1" dirty="0" err="1" smtClean="0"/>
              <a:t>i</a:t>
            </a:r>
            <a:r>
              <a:rPr lang="en-US" dirty="0" smtClean="0"/>
              <a:t> + </a:t>
            </a:r>
            <a:r>
              <a:rPr lang="en-US" i="1" dirty="0" smtClean="0"/>
              <a:t>b </a:t>
            </a:r>
            <a:r>
              <a:rPr lang="en-US" dirty="0" smtClean="0"/>
              <a:t>(</a:t>
            </a:r>
            <a:r>
              <a:rPr lang="en-US" dirty="0" err="1" smtClean="0"/>
              <a:t>i</a:t>
            </a:r>
            <a:r>
              <a:rPr lang="en-US" dirty="0" smtClean="0"/>
              <a:t> is loop index)</a:t>
            </a:r>
          </a:p>
          <a:p>
            <a:endParaRPr lang="en-US" dirty="0" smtClean="0"/>
          </a:p>
          <a:p>
            <a:r>
              <a:rPr lang="en-US" dirty="0" smtClean="0"/>
              <a:t>Assume:</a:t>
            </a:r>
          </a:p>
          <a:p>
            <a:pPr lvl="1"/>
            <a:r>
              <a:rPr lang="en-US" dirty="0" smtClean="0"/>
              <a:t>Store to </a:t>
            </a:r>
            <a:r>
              <a:rPr lang="en-US" i="1" dirty="0" smtClean="0"/>
              <a:t>a</a:t>
            </a:r>
            <a:r>
              <a:rPr lang="en-US" dirty="0" smtClean="0"/>
              <a:t> x </a:t>
            </a:r>
            <a:r>
              <a:rPr lang="en-US" i="1" dirty="0" err="1" smtClean="0"/>
              <a:t>i</a:t>
            </a:r>
            <a:r>
              <a:rPr lang="en-US" dirty="0" smtClean="0"/>
              <a:t> + </a:t>
            </a:r>
            <a:r>
              <a:rPr lang="en-US" i="1" dirty="0" smtClean="0"/>
              <a:t>b</a:t>
            </a:r>
            <a:r>
              <a:rPr lang="en-US" dirty="0" smtClean="0"/>
              <a:t>, then</a:t>
            </a:r>
          </a:p>
          <a:p>
            <a:pPr lvl="1"/>
            <a:r>
              <a:rPr lang="en-US" dirty="0" smtClean="0"/>
              <a:t>Load from </a:t>
            </a:r>
            <a:r>
              <a:rPr lang="en-US" i="1" dirty="0" smtClean="0"/>
              <a:t>c</a:t>
            </a:r>
            <a:r>
              <a:rPr lang="en-US" dirty="0" smtClean="0"/>
              <a:t> x </a:t>
            </a:r>
            <a:r>
              <a:rPr lang="en-US" i="1" dirty="0" err="1" smtClean="0"/>
              <a:t>i</a:t>
            </a:r>
            <a:r>
              <a:rPr lang="en-US" dirty="0" smtClean="0"/>
              <a:t> + </a:t>
            </a:r>
            <a:r>
              <a:rPr lang="en-US" i="1" dirty="0" smtClean="0"/>
              <a:t>d</a:t>
            </a:r>
          </a:p>
          <a:p>
            <a:pPr lvl="1"/>
            <a:r>
              <a:rPr lang="en-US" i="1" dirty="0" err="1" smtClean="0"/>
              <a:t>i</a:t>
            </a:r>
            <a:r>
              <a:rPr lang="en-US" dirty="0" smtClean="0"/>
              <a:t> runs from </a:t>
            </a:r>
            <a:r>
              <a:rPr lang="en-US" i="1" dirty="0" smtClean="0"/>
              <a:t>m</a:t>
            </a:r>
            <a:r>
              <a:rPr lang="en-US" dirty="0" smtClean="0"/>
              <a:t> to </a:t>
            </a:r>
            <a:r>
              <a:rPr lang="en-US" i="1" dirty="0" smtClean="0"/>
              <a:t>n</a:t>
            </a:r>
          </a:p>
          <a:p>
            <a:pPr lvl="1"/>
            <a:r>
              <a:rPr lang="en-US" dirty="0" smtClean="0"/>
              <a:t>Dependence exists if:</a:t>
            </a:r>
          </a:p>
          <a:p>
            <a:pPr lvl="2"/>
            <a:r>
              <a:rPr lang="en-US" dirty="0" smtClean="0"/>
              <a:t>Given </a:t>
            </a:r>
            <a:r>
              <a:rPr lang="en-US" i="1" dirty="0" smtClean="0"/>
              <a:t>j</a:t>
            </a:r>
            <a:r>
              <a:rPr lang="en-US" dirty="0" smtClean="0"/>
              <a:t>, </a:t>
            </a:r>
            <a:r>
              <a:rPr lang="en-US" i="1" dirty="0" smtClean="0"/>
              <a:t>k</a:t>
            </a:r>
            <a:r>
              <a:rPr lang="en-US" dirty="0" smtClean="0"/>
              <a:t> such that </a:t>
            </a:r>
            <a:r>
              <a:rPr lang="en-US" i="1" dirty="0" smtClean="0"/>
              <a:t>m</a:t>
            </a:r>
            <a:r>
              <a:rPr lang="en-US" dirty="0" smtClean="0"/>
              <a:t> ≤ </a:t>
            </a:r>
            <a:r>
              <a:rPr lang="en-US" i="1" dirty="0" smtClean="0"/>
              <a:t>j</a:t>
            </a:r>
            <a:r>
              <a:rPr lang="en-US" dirty="0" smtClean="0"/>
              <a:t> ≤ </a:t>
            </a:r>
            <a:r>
              <a:rPr lang="en-US" i="1" dirty="0" smtClean="0"/>
              <a:t>n</a:t>
            </a:r>
            <a:r>
              <a:rPr lang="en-US" dirty="0" smtClean="0"/>
              <a:t>, </a:t>
            </a:r>
            <a:r>
              <a:rPr lang="en-US" i="1" dirty="0" smtClean="0"/>
              <a:t>m</a:t>
            </a:r>
            <a:r>
              <a:rPr lang="en-US" dirty="0" smtClean="0"/>
              <a:t> ≤ </a:t>
            </a:r>
            <a:r>
              <a:rPr lang="en-US" i="1" dirty="0" smtClean="0"/>
              <a:t>k</a:t>
            </a:r>
            <a:r>
              <a:rPr lang="en-US" dirty="0" smtClean="0"/>
              <a:t> ≤ </a:t>
            </a:r>
            <a:r>
              <a:rPr lang="en-US" i="1" dirty="0" smtClean="0"/>
              <a:t>n</a:t>
            </a:r>
          </a:p>
          <a:p>
            <a:pPr lvl="2"/>
            <a:r>
              <a:rPr lang="en-US" dirty="0" smtClean="0"/>
              <a:t>Store to </a:t>
            </a:r>
            <a:r>
              <a:rPr lang="en-US" i="1" dirty="0" smtClean="0"/>
              <a:t>a</a:t>
            </a:r>
            <a:r>
              <a:rPr lang="en-US" dirty="0" smtClean="0"/>
              <a:t> x </a:t>
            </a:r>
            <a:r>
              <a:rPr lang="en-US" i="1" dirty="0" smtClean="0"/>
              <a:t>j</a:t>
            </a:r>
            <a:r>
              <a:rPr lang="en-US" dirty="0" smtClean="0"/>
              <a:t> + </a:t>
            </a:r>
            <a:r>
              <a:rPr lang="en-US" i="1" dirty="0" smtClean="0"/>
              <a:t>b</a:t>
            </a:r>
            <a:r>
              <a:rPr lang="en-US" dirty="0" smtClean="0"/>
              <a:t>, load from </a:t>
            </a:r>
            <a:r>
              <a:rPr lang="en-US" i="1" dirty="0" smtClean="0"/>
              <a:t>a</a:t>
            </a:r>
            <a:r>
              <a:rPr lang="en-US" dirty="0" smtClean="0"/>
              <a:t> x </a:t>
            </a:r>
            <a:r>
              <a:rPr lang="en-US" i="1" dirty="0" smtClean="0"/>
              <a:t>k</a:t>
            </a:r>
            <a:r>
              <a:rPr lang="en-US" dirty="0" smtClean="0"/>
              <a:t> + </a:t>
            </a:r>
            <a:r>
              <a:rPr lang="en-US" i="1" dirty="0" smtClean="0"/>
              <a:t>d</a:t>
            </a:r>
            <a:r>
              <a:rPr lang="en-US" dirty="0" smtClean="0"/>
              <a:t>, and </a:t>
            </a:r>
            <a:r>
              <a:rPr lang="en-US" i="1" dirty="0" smtClean="0">
                <a:solidFill>
                  <a:srgbClr val="FF0000"/>
                </a:solidFill>
              </a:rPr>
              <a:t>a</a:t>
            </a:r>
            <a:r>
              <a:rPr lang="en-US" dirty="0" smtClean="0">
                <a:solidFill>
                  <a:srgbClr val="FF0000"/>
                </a:solidFill>
              </a:rPr>
              <a:t> x </a:t>
            </a:r>
            <a:r>
              <a:rPr lang="en-US" i="1" dirty="0" smtClean="0">
                <a:solidFill>
                  <a:srgbClr val="FF0000"/>
                </a:solidFill>
              </a:rPr>
              <a:t>j</a:t>
            </a:r>
            <a:r>
              <a:rPr lang="en-US" dirty="0" smtClean="0">
                <a:solidFill>
                  <a:srgbClr val="FF0000"/>
                </a:solidFill>
              </a:rPr>
              <a:t> + </a:t>
            </a:r>
            <a:r>
              <a:rPr lang="en-US" i="1" dirty="0" smtClean="0">
                <a:solidFill>
                  <a:srgbClr val="FF0000"/>
                </a:solidFill>
              </a:rPr>
              <a:t>b</a:t>
            </a:r>
            <a:r>
              <a:rPr lang="en-US" dirty="0" smtClean="0">
                <a:solidFill>
                  <a:srgbClr val="FF0000"/>
                </a:solidFill>
              </a:rPr>
              <a:t> = </a:t>
            </a:r>
            <a:r>
              <a:rPr lang="en-US" i="1" dirty="0" smtClean="0">
                <a:solidFill>
                  <a:srgbClr val="FF0000"/>
                </a:solidFill>
              </a:rPr>
              <a:t>c</a:t>
            </a:r>
            <a:r>
              <a:rPr lang="en-US" dirty="0" smtClean="0">
                <a:solidFill>
                  <a:srgbClr val="FF0000"/>
                </a:solidFill>
              </a:rPr>
              <a:t> x </a:t>
            </a:r>
            <a:r>
              <a:rPr lang="en-US" i="1" dirty="0" smtClean="0">
                <a:solidFill>
                  <a:srgbClr val="FF0000"/>
                </a:solidFill>
              </a:rPr>
              <a:t>k</a:t>
            </a:r>
            <a:r>
              <a:rPr lang="en-US" dirty="0" smtClean="0">
                <a:solidFill>
                  <a:srgbClr val="FF0000"/>
                </a:solidFill>
              </a:rPr>
              <a:t> + </a:t>
            </a:r>
            <a:r>
              <a:rPr lang="en-US" i="1" dirty="0" smtClean="0">
                <a:solidFill>
                  <a:srgbClr val="FF0000"/>
                </a:solidFill>
              </a:rPr>
              <a:t>d</a:t>
            </a:r>
          </a:p>
          <a:p>
            <a:pPr lvl="2"/>
            <a:endParaRPr lang="en-US" i="1" dirty="0" smtClean="0"/>
          </a:p>
        </p:txBody>
      </p:sp>
      <p:sp>
        <p:nvSpPr>
          <p:cNvPr id="242693" name="Text Box 5"/>
          <p:cNvSpPr txBox="1">
            <a:spLocks noChangeArrowheads="1"/>
          </p:cNvSpPr>
          <p:nvPr/>
        </p:nvSpPr>
        <p:spPr bwMode="auto">
          <a:xfrm rot="5400000">
            <a:off x="7903141" y="2395529"/>
            <a:ext cx="5160387" cy="369332"/>
          </a:xfrm>
          <a:prstGeom prst="rect">
            <a:avLst/>
          </a:prstGeom>
          <a:solidFill>
            <a:srgbClr val="C0C0C0"/>
          </a:solidFill>
          <a:ln w="9525">
            <a:noFill/>
            <a:miter lim="800000"/>
            <a:headEnd/>
            <a:tailEnd/>
          </a:ln>
          <a:effectLst/>
        </p:spPr>
        <p:txBody>
          <a:bodyPr wrap="none">
            <a:spAutoFit/>
          </a:bodyPr>
          <a:lstStyle/>
          <a:p>
            <a:pPr eaLnBrk="0" hangingPunct="0">
              <a:spcBef>
                <a:spcPct val="0"/>
              </a:spcBef>
              <a:buClrTx/>
              <a:buSzTx/>
              <a:buFontTx/>
              <a:buNone/>
            </a:pPr>
            <a:r>
              <a:rPr lang="en-US" dirty="0">
                <a:solidFill>
                  <a:srgbClr val="0066FF"/>
                </a:solidFill>
                <a:latin typeface="Arial" charset="0"/>
              </a:rPr>
              <a:t>Detecting and Enhancing Loop-Level Parallelism</a:t>
            </a:r>
          </a:p>
        </p:txBody>
      </p:sp>
    </p:spTree>
    <p:extLst>
      <p:ext uri="{BB962C8B-B14F-4D97-AF65-F5344CB8AC3E}">
        <p14:creationId xmlns:p14="http://schemas.microsoft.com/office/powerpoint/2010/main" val="448837961"/>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a:xfrm>
            <a:off x="2135189" y="109677"/>
            <a:ext cx="8281987" cy="707886"/>
          </a:xfrm>
        </p:spPr>
        <p:txBody>
          <a:bodyPr/>
          <a:lstStyle/>
          <a:p>
            <a:r>
              <a:rPr lang="en-US" dirty="0" smtClean="0"/>
              <a:t>Finding dependencies</a:t>
            </a:r>
            <a:endParaRPr lang="en-AU" dirty="0"/>
          </a:p>
        </p:txBody>
      </p:sp>
      <p:sp>
        <p:nvSpPr>
          <p:cNvPr id="242691" name="Rectangle 3"/>
          <p:cNvSpPr>
            <a:spLocks noGrp="1" noChangeArrowheads="1"/>
          </p:cNvSpPr>
          <p:nvPr>
            <p:ph type="body" idx="1"/>
          </p:nvPr>
        </p:nvSpPr>
        <p:spPr/>
        <p:txBody>
          <a:bodyPr/>
          <a:lstStyle/>
          <a:p>
            <a:r>
              <a:rPr lang="en-US" dirty="0" smtClean="0"/>
              <a:t>Generally cannot determine at compile time</a:t>
            </a:r>
          </a:p>
          <a:p>
            <a:r>
              <a:rPr lang="en-US" dirty="0" smtClean="0"/>
              <a:t>Test for absence of a dependence:</a:t>
            </a:r>
          </a:p>
          <a:p>
            <a:pPr lvl="1"/>
            <a:r>
              <a:rPr lang="en-US" dirty="0" smtClean="0"/>
              <a:t>GCD test:</a:t>
            </a:r>
          </a:p>
          <a:p>
            <a:pPr lvl="2"/>
            <a:r>
              <a:rPr lang="en-US" dirty="0" smtClean="0"/>
              <a:t>If a dependency exists, GCD(</a:t>
            </a:r>
            <a:r>
              <a:rPr lang="en-US" i="1" dirty="0" err="1" smtClean="0"/>
              <a:t>c</a:t>
            </a:r>
            <a:r>
              <a:rPr lang="en-US" dirty="0" err="1" smtClean="0"/>
              <a:t>,</a:t>
            </a:r>
            <a:r>
              <a:rPr lang="en-US" i="1" dirty="0" err="1" smtClean="0"/>
              <a:t>a</a:t>
            </a:r>
            <a:r>
              <a:rPr lang="en-US" dirty="0" smtClean="0"/>
              <a:t>) must evenly divide (</a:t>
            </a:r>
            <a:r>
              <a:rPr lang="en-US" i="1" dirty="0" smtClean="0"/>
              <a:t>d</a:t>
            </a:r>
            <a:r>
              <a:rPr lang="en-US" dirty="0" smtClean="0"/>
              <a:t>-</a:t>
            </a:r>
            <a:r>
              <a:rPr lang="en-US" i="1" dirty="0" smtClean="0"/>
              <a:t>b</a:t>
            </a:r>
            <a:r>
              <a:rPr lang="en-US" dirty="0" smtClean="0"/>
              <a:t>)</a:t>
            </a:r>
          </a:p>
          <a:p>
            <a:pPr lvl="2"/>
            <a:endParaRPr lang="en-US" dirty="0" smtClean="0"/>
          </a:p>
          <a:p>
            <a:r>
              <a:rPr lang="en-US" dirty="0" smtClean="0"/>
              <a:t>Example:</a:t>
            </a:r>
          </a:p>
          <a:p>
            <a:pPr lvl="1">
              <a:buNone/>
            </a:pPr>
            <a:r>
              <a:rPr lang="nn-NO" dirty="0" smtClean="0"/>
              <a:t>for (i=0; i&lt;100; i=i+1) {</a:t>
            </a:r>
          </a:p>
          <a:p>
            <a:pPr lvl="1">
              <a:buNone/>
            </a:pPr>
            <a:r>
              <a:rPr lang="nn-NO" dirty="0" smtClean="0"/>
              <a:t>	X[2*i+3] = X[2*i] * 5.0;</a:t>
            </a:r>
          </a:p>
          <a:p>
            <a:pPr lvl="1">
              <a:buNone/>
            </a:pPr>
            <a:r>
              <a:rPr lang="nn-NO" dirty="0" smtClean="0"/>
              <a:t>}</a:t>
            </a:r>
          </a:p>
          <a:p>
            <a:pPr lvl="1">
              <a:buNone/>
            </a:pPr>
            <a:endParaRPr lang="en-US" dirty="0" smtClean="0"/>
          </a:p>
        </p:txBody>
      </p:sp>
      <p:sp>
        <p:nvSpPr>
          <p:cNvPr id="242693" name="Text Box 5"/>
          <p:cNvSpPr txBox="1">
            <a:spLocks noChangeArrowheads="1"/>
          </p:cNvSpPr>
          <p:nvPr/>
        </p:nvSpPr>
        <p:spPr bwMode="auto">
          <a:xfrm rot="5400000">
            <a:off x="7903141" y="2395529"/>
            <a:ext cx="5160387" cy="369332"/>
          </a:xfrm>
          <a:prstGeom prst="rect">
            <a:avLst/>
          </a:prstGeom>
          <a:solidFill>
            <a:srgbClr val="C0C0C0"/>
          </a:solidFill>
          <a:ln w="9525">
            <a:noFill/>
            <a:miter lim="800000"/>
            <a:headEnd/>
            <a:tailEnd/>
          </a:ln>
          <a:effectLst/>
        </p:spPr>
        <p:txBody>
          <a:bodyPr wrap="none">
            <a:spAutoFit/>
          </a:bodyPr>
          <a:lstStyle/>
          <a:p>
            <a:pPr eaLnBrk="0" hangingPunct="0">
              <a:spcBef>
                <a:spcPct val="0"/>
              </a:spcBef>
              <a:buClrTx/>
              <a:buSzTx/>
              <a:buFontTx/>
              <a:buNone/>
            </a:pPr>
            <a:r>
              <a:rPr lang="en-US" dirty="0">
                <a:solidFill>
                  <a:srgbClr val="0066FF"/>
                </a:solidFill>
                <a:latin typeface="Arial" charset="0"/>
              </a:rPr>
              <a:t>Detecting and Enhancing Loop-Level Parallelism</a:t>
            </a:r>
          </a:p>
        </p:txBody>
      </p:sp>
    </p:spTree>
    <p:extLst>
      <p:ext uri="{BB962C8B-B14F-4D97-AF65-F5344CB8AC3E}">
        <p14:creationId xmlns:p14="http://schemas.microsoft.com/office/powerpoint/2010/main" val="1288728514"/>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a:xfrm>
            <a:off x="2135189" y="109677"/>
            <a:ext cx="8281987" cy="707886"/>
          </a:xfrm>
        </p:spPr>
        <p:txBody>
          <a:bodyPr/>
          <a:lstStyle/>
          <a:p>
            <a:r>
              <a:rPr lang="en-US" dirty="0" smtClean="0"/>
              <a:t>Finding dependencies</a:t>
            </a:r>
            <a:endParaRPr lang="en-AU" dirty="0"/>
          </a:p>
        </p:txBody>
      </p:sp>
      <p:sp>
        <p:nvSpPr>
          <p:cNvPr id="242691" name="Rectangle 3"/>
          <p:cNvSpPr>
            <a:spLocks noGrp="1" noChangeArrowheads="1"/>
          </p:cNvSpPr>
          <p:nvPr>
            <p:ph type="body" idx="1"/>
          </p:nvPr>
        </p:nvSpPr>
        <p:spPr/>
        <p:txBody>
          <a:bodyPr/>
          <a:lstStyle/>
          <a:p>
            <a:r>
              <a:rPr lang="en-US" dirty="0" smtClean="0"/>
              <a:t>Example 2:</a:t>
            </a:r>
          </a:p>
          <a:p>
            <a:pPr lvl="1">
              <a:buNone/>
            </a:pPr>
            <a:r>
              <a:rPr lang="en-US" dirty="0" smtClean="0"/>
              <a:t>for (</a:t>
            </a:r>
            <a:r>
              <a:rPr lang="en-US" dirty="0" err="1" smtClean="0"/>
              <a:t>i</a:t>
            </a:r>
            <a:r>
              <a:rPr lang="en-US" dirty="0" smtClean="0"/>
              <a:t>=0; </a:t>
            </a:r>
            <a:r>
              <a:rPr lang="en-US" dirty="0" err="1" smtClean="0"/>
              <a:t>i</a:t>
            </a:r>
            <a:r>
              <a:rPr lang="en-US" dirty="0" smtClean="0"/>
              <a:t>&lt;100; </a:t>
            </a:r>
            <a:r>
              <a:rPr lang="en-US" dirty="0" err="1" smtClean="0"/>
              <a:t>i</a:t>
            </a:r>
            <a:r>
              <a:rPr lang="en-US" dirty="0" smtClean="0"/>
              <a:t>=i+1) {</a:t>
            </a:r>
          </a:p>
          <a:p>
            <a:pPr lvl="1">
              <a:buNone/>
            </a:pPr>
            <a:r>
              <a:rPr lang="en-US" dirty="0" smtClean="0"/>
              <a:t>	Y[</a:t>
            </a:r>
            <a:r>
              <a:rPr lang="en-US" dirty="0" err="1" smtClean="0"/>
              <a:t>i</a:t>
            </a:r>
            <a:r>
              <a:rPr lang="en-US" dirty="0" smtClean="0"/>
              <a:t>] = X[</a:t>
            </a:r>
            <a:r>
              <a:rPr lang="en-US" dirty="0" err="1" smtClean="0"/>
              <a:t>i</a:t>
            </a:r>
            <a:r>
              <a:rPr lang="en-US" dirty="0" smtClean="0"/>
              <a:t>] / c; /* S1 */</a:t>
            </a:r>
          </a:p>
          <a:p>
            <a:pPr lvl="1">
              <a:buNone/>
            </a:pPr>
            <a:r>
              <a:rPr lang="en-US" dirty="0" smtClean="0"/>
              <a:t>	X[</a:t>
            </a:r>
            <a:r>
              <a:rPr lang="en-US" dirty="0" err="1" smtClean="0"/>
              <a:t>i</a:t>
            </a:r>
            <a:r>
              <a:rPr lang="en-US" dirty="0" smtClean="0"/>
              <a:t>] = X[</a:t>
            </a:r>
            <a:r>
              <a:rPr lang="en-US" dirty="0" err="1" smtClean="0"/>
              <a:t>i</a:t>
            </a:r>
            <a:r>
              <a:rPr lang="en-US" dirty="0" smtClean="0"/>
              <a:t>] + c; /* S2 */</a:t>
            </a:r>
          </a:p>
          <a:p>
            <a:pPr lvl="1">
              <a:buNone/>
            </a:pPr>
            <a:r>
              <a:rPr lang="en-US" dirty="0" smtClean="0"/>
              <a:t>	Z[</a:t>
            </a:r>
            <a:r>
              <a:rPr lang="en-US" dirty="0" err="1" smtClean="0"/>
              <a:t>i</a:t>
            </a:r>
            <a:r>
              <a:rPr lang="en-US" dirty="0" smtClean="0"/>
              <a:t>] = Y[</a:t>
            </a:r>
            <a:r>
              <a:rPr lang="en-US" dirty="0" err="1" smtClean="0"/>
              <a:t>i</a:t>
            </a:r>
            <a:r>
              <a:rPr lang="en-US" dirty="0" smtClean="0"/>
              <a:t>] + c; /* S3 */</a:t>
            </a:r>
          </a:p>
          <a:p>
            <a:pPr lvl="1">
              <a:buNone/>
            </a:pPr>
            <a:r>
              <a:rPr lang="en-US" dirty="0" smtClean="0"/>
              <a:t>	Y[</a:t>
            </a:r>
            <a:r>
              <a:rPr lang="en-US" dirty="0" err="1" smtClean="0"/>
              <a:t>i</a:t>
            </a:r>
            <a:r>
              <a:rPr lang="en-US" dirty="0" smtClean="0"/>
              <a:t>] = c - Y[</a:t>
            </a:r>
            <a:r>
              <a:rPr lang="en-US" dirty="0" err="1" smtClean="0"/>
              <a:t>i</a:t>
            </a:r>
            <a:r>
              <a:rPr lang="en-US" dirty="0" smtClean="0"/>
              <a:t>]; /* S4 */</a:t>
            </a:r>
          </a:p>
          <a:p>
            <a:pPr lvl="1">
              <a:buNone/>
            </a:pPr>
            <a:r>
              <a:rPr lang="en-US" dirty="0" smtClean="0"/>
              <a:t>}</a:t>
            </a:r>
          </a:p>
          <a:p>
            <a:pPr lvl="1">
              <a:buNone/>
            </a:pPr>
            <a:endParaRPr lang="en-US" dirty="0" smtClean="0"/>
          </a:p>
          <a:p>
            <a:r>
              <a:rPr lang="en-US" dirty="0" smtClean="0"/>
              <a:t>Watch for </a:t>
            </a:r>
            <a:r>
              <a:rPr lang="en-US" dirty="0" err="1" smtClean="0"/>
              <a:t>antidependencies</a:t>
            </a:r>
            <a:r>
              <a:rPr lang="en-US" dirty="0" smtClean="0"/>
              <a:t> and output dependencies</a:t>
            </a:r>
          </a:p>
          <a:p>
            <a:endParaRPr lang="en-US" dirty="0" smtClean="0"/>
          </a:p>
        </p:txBody>
      </p:sp>
      <p:sp>
        <p:nvSpPr>
          <p:cNvPr id="242693" name="Text Box 5"/>
          <p:cNvSpPr txBox="1">
            <a:spLocks noChangeArrowheads="1"/>
          </p:cNvSpPr>
          <p:nvPr/>
        </p:nvSpPr>
        <p:spPr bwMode="auto">
          <a:xfrm rot="5400000">
            <a:off x="7903141" y="2395529"/>
            <a:ext cx="5160387" cy="369332"/>
          </a:xfrm>
          <a:prstGeom prst="rect">
            <a:avLst/>
          </a:prstGeom>
          <a:solidFill>
            <a:srgbClr val="C0C0C0"/>
          </a:solidFill>
          <a:ln w="9525">
            <a:noFill/>
            <a:miter lim="800000"/>
            <a:headEnd/>
            <a:tailEnd/>
          </a:ln>
          <a:effectLst/>
        </p:spPr>
        <p:txBody>
          <a:bodyPr wrap="none">
            <a:spAutoFit/>
          </a:bodyPr>
          <a:lstStyle/>
          <a:p>
            <a:pPr eaLnBrk="0" hangingPunct="0">
              <a:spcBef>
                <a:spcPct val="0"/>
              </a:spcBef>
              <a:buClrTx/>
              <a:buSzTx/>
              <a:buFontTx/>
              <a:buNone/>
            </a:pPr>
            <a:r>
              <a:rPr lang="en-US" dirty="0">
                <a:solidFill>
                  <a:srgbClr val="0066FF"/>
                </a:solidFill>
                <a:latin typeface="Arial" charset="0"/>
              </a:rPr>
              <a:t>Detecting and Enhancing Loop-Level Parallelism</a:t>
            </a:r>
          </a:p>
        </p:txBody>
      </p:sp>
    </p:spTree>
    <p:extLst>
      <p:ext uri="{BB962C8B-B14F-4D97-AF65-F5344CB8AC3E}">
        <p14:creationId xmlns:p14="http://schemas.microsoft.com/office/powerpoint/2010/main" val="4103909955"/>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a:xfrm>
            <a:off x="2135189" y="109677"/>
            <a:ext cx="8281987" cy="707886"/>
          </a:xfrm>
        </p:spPr>
        <p:txBody>
          <a:bodyPr/>
          <a:lstStyle/>
          <a:p>
            <a:r>
              <a:rPr lang="en-US" dirty="0" smtClean="0"/>
              <a:t>Finding dependencies</a:t>
            </a:r>
            <a:endParaRPr lang="en-AU" dirty="0"/>
          </a:p>
        </p:txBody>
      </p:sp>
      <p:sp>
        <p:nvSpPr>
          <p:cNvPr id="242691" name="Rectangle 3"/>
          <p:cNvSpPr>
            <a:spLocks noGrp="1" noChangeArrowheads="1"/>
          </p:cNvSpPr>
          <p:nvPr>
            <p:ph type="body" idx="1"/>
          </p:nvPr>
        </p:nvSpPr>
        <p:spPr/>
        <p:txBody>
          <a:bodyPr/>
          <a:lstStyle/>
          <a:p>
            <a:r>
              <a:rPr lang="en-US" dirty="0" smtClean="0"/>
              <a:t>Example 2:</a:t>
            </a:r>
          </a:p>
          <a:p>
            <a:pPr lvl="1">
              <a:buNone/>
            </a:pPr>
            <a:r>
              <a:rPr lang="en-US" dirty="0" smtClean="0"/>
              <a:t>for (</a:t>
            </a:r>
            <a:r>
              <a:rPr lang="en-US" dirty="0" err="1" smtClean="0"/>
              <a:t>i</a:t>
            </a:r>
            <a:r>
              <a:rPr lang="en-US" dirty="0" smtClean="0"/>
              <a:t>=0; </a:t>
            </a:r>
            <a:r>
              <a:rPr lang="en-US" dirty="0" err="1" smtClean="0"/>
              <a:t>i</a:t>
            </a:r>
            <a:r>
              <a:rPr lang="en-US" dirty="0" smtClean="0"/>
              <a:t>&lt;100; </a:t>
            </a:r>
            <a:r>
              <a:rPr lang="en-US" dirty="0" err="1" smtClean="0"/>
              <a:t>i</a:t>
            </a:r>
            <a:r>
              <a:rPr lang="en-US" dirty="0" smtClean="0"/>
              <a:t>=i+1) {</a:t>
            </a:r>
          </a:p>
          <a:p>
            <a:pPr lvl="1">
              <a:buNone/>
            </a:pPr>
            <a:r>
              <a:rPr lang="en-US" dirty="0" smtClean="0"/>
              <a:t>	Y[</a:t>
            </a:r>
            <a:r>
              <a:rPr lang="en-US" dirty="0" err="1" smtClean="0"/>
              <a:t>i</a:t>
            </a:r>
            <a:r>
              <a:rPr lang="en-US" dirty="0" smtClean="0"/>
              <a:t>] = X[</a:t>
            </a:r>
            <a:r>
              <a:rPr lang="en-US" dirty="0" err="1" smtClean="0"/>
              <a:t>i</a:t>
            </a:r>
            <a:r>
              <a:rPr lang="en-US" dirty="0" smtClean="0"/>
              <a:t>] / c; /* S1 */</a:t>
            </a:r>
          </a:p>
          <a:p>
            <a:pPr lvl="1">
              <a:buNone/>
            </a:pPr>
            <a:r>
              <a:rPr lang="en-US" dirty="0" smtClean="0"/>
              <a:t>	X[</a:t>
            </a:r>
            <a:r>
              <a:rPr lang="en-US" dirty="0" err="1" smtClean="0"/>
              <a:t>i</a:t>
            </a:r>
            <a:r>
              <a:rPr lang="en-US" dirty="0" smtClean="0"/>
              <a:t>] = X[</a:t>
            </a:r>
            <a:r>
              <a:rPr lang="en-US" dirty="0" err="1" smtClean="0"/>
              <a:t>i</a:t>
            </a:r>
            <a:r>
              <a:rPr lang="en-US" dirty="0" smtClean="0"/>
              <a:t>] + c; /* S2 */</a:t>
            </a:r>
          </a:p>
          <a:p>
            <a:pPr lvl="1">
              <a:buNone/>
            </a:pPr>
            <a:r>
              <a:rPr lang="en-US" dirty="0" smtClean="0"/>
              <a:t>	Z[</a:t>
            </a:r>
            <a:r>
              <a:rPr lang="en-US" dirty="0" err="1" smtClean="0"/>
              <a:t>i</a:t>
            </a:r>
            <a:r>
              <a:rPr lang="en-US" dirty="0" smtClean="0"/>
              <a:t>] = Y[</a:t>
            </a:r>
            <a:r>
              <a:rPr lang="en-US" dirty="0" err="1" smtClean="0"/>
              <a:t>i</a:t>
            </a:r>
            <a:r>
              <a:rPr lang="en-US" dirty="0" smtClean="0"/>
              <a:t>] + c; /* S3 */</a:t>
            </a:r>
          </a:p>
          <a:p>
            <a:pPr lvl="1">
              <a:buNone/>
            </a:pPr>
            <a:r>
              <a:rPr lang="en-US" dirty="0" smtClean="0"/>
              <a:t>	Y[</a:t>
            </a:r>
            <a:r>
              <a:rPr lang="en-US" dirty="0" err="1" smtClean="0"/>
              <a:t>i</a:t>
            </a:r>
            <a:r>
              <a:rPr lang="en-US" dirty="0" smtClean="0"/>
              <a:t>] = c - Y[</a:t>
            </a:r>
            <a:r>
              <a:rPr lang="en-US" dirty="0" err="1" smtClean="0"/>
              <a:t>i</a:t>
            </a:r>
            <a:r>
              <a:rPr lang="en-US" dirty="0" smtClean="0"/>
              <a:t>]; /* S4 */</a:t>
            </a:r>
          </a:p>
          <a:p>
            <a:pPr lvl="1">
              <a:buNone/>
            </a:pPr>
            <a:r>
              <a:rPr lang="en-US" dirty="0" smtClean="0"/>
              <a:t>}</a:t>
            </a:r>
          </a:p>
          <a:p>
            <a:pPr lvl="1">
              <a:buNone/>
            </a:pPr>
            <a:endParaRPr lang="en-US" dirty="0" smtClean="0"/>
          </a:p>
          <a:p>
            <a:r>
              <a:rPr lang="en-US" dirty="0" smtClean="0"/>
              <a:t>Watch for </a:t>
            </a:r>
            <a:r>
              <a:rPr lang="en-US" dirty="0" err="1" smtClean="0"/>
              <a:t>antidependencies</a:t>
            </a:r>
            <a:r>
              <a:rPr lang="en-US" dirty="0" smtClean="0"/>
              <a:t> and output dependencies</a:t>
            </a:r>
          </a:p>
          <a:p>
            <a:endParaRPr lang="en-US" dirty="0" smtClean="0"/>
          </a:p>
        </p:txBody>
      </p:sp>
      <p:sp>
        <p:nvSpPr>
          <p:cNvPr id="242693" name="Text Box 5"/>
          <p:cNvSpPr txBox="1">
            <a:spLocks noChangeArrowheads="1"/>
          </p:cNvSpPr>
          <p:nvPr/>
        </p:nvSpPr>
        <p:spPr bwMode="auto">
          <a:xfrm rot="5400000">
            <a:off x="7903141" y="2395529"/>
            <a:ext cx="5160387" cy="369332"/>
          </a:xfrm>
          <a:prstGeom prst="rect">
            <a:avLst/>
          </a:prstGeom>
          <a:solidFill>
            <a:srgbClr val="C0C0C0"/>
          </a:solidFill>
          <a:ln w="9525">
            <a:noFill/>
            <a:miter lim="800000"/>
            <a:headEnd/>
            <a:tailEnd/>
          </a:ln>
          <a:effectLst/>
        </p:spPr>
        <p:txBody>
          <a:bodyPr wrap="none">
            <a:spAutoFit/>
          </a:bodyPr>
          <a:lstStyle/>
          <a:p>
            <a:pPr eaLnBrk="0" hangingPunct="0">
              <a:spcBef>
                <a:spcPct val="0"/>
              </a:spcBef>
              <a:buClrTx/>
              <a:buSzTx/>
              <a:buFontTx/>
              <a:buNone/>
            </a:pPr>
            <a:r>
              <a:rPr lang="en-US" dirty="0">
                <a:solidFill>
                  <a:srgbClr val="0066FF"/>
                </a:solidFill>
                <a:latin typeface="Arial" charset="0"/>
              </a:rPr>
              <a:t>Detecting and Enhancing Loop-Level Parallelism</a:t>
            </a:r>
          </a:p>
        </p:txBody>
      </p:sp>
    </p:spTree>
    <p:extLst>
      <p:ext uri="{BB962C8B-B14F-4D97-AF65-F5344CB8AC3E}">
        <p14:creationId xmlns:p14="http://schemas.microsoft.com/office/powerpoint/2010/main" val="3820183487"/>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a:xfrm>
            <a:off x="2135189" y="109677"/>
            <a:ext cx="8281987" cy="707886"/>
          </a:xfrm>
        </p:spPr>
        <p:txBody>
          <a:bodyPr/>
          <a:lstStyle/>
          <a:p>
            <a:r>
              <a:rPr lang="en-US" dirty="0" smtClean="0"/>
              <a:t>Reductions</a:t>
            </a:r>
            <a:endParaRPr lang="en-AU" dirty="0"/>
          </a:p>
        </p:txBody>
      </p:sp>
      <p:sp>
        <p:nvSpPr>
          <p:cNvPr id="242691" name="Rectangle 3"/>
          <p:cNvSpPr>
            <a:spLocks noGrp="1" noChangeArrowheads="1"/>
          </p:cNvSpPr>
          <p:nvPr>
            <p:ph type="body" idx="1"/>
          </p:nvPr>
        </p:nvSpPr>
        <p:spPr/>
        <p:txBody>
          <a:bodyPr/>
          <a:lstStyle/>
          <a:p>
            <a:r>
              <a:rPr lang="nn-NO" sz="2000" dirty="0"/>
              <a:t>Reduction Operation:</a:t>
            </a:r>
          </a:p>
          <a:p>
            <a:pPr>
              <a:buNone/>
            </a:pPr>
            <a:r>
              <a:rPr lang="nn-NO" sz="2000" dirty="0"/>
              <a:t>	for (i=9999; i&gt;=0; i=i-1)</a:t>
            </a:r>
          </a:p>
          <a:p>
            <a:pPr>
              <a:buNone/>
            </a:pPr>
            <a:r>
              <a:rPr lang="en-US" sz="2000" dirty="0"/>
              <a:t>		sum = sum + x[</a:t>
            </a:r>
            <a:r>
              <a:rPr lang="en-US" sz="2000" dirty="0" err="1"/>
              <a:t>i</a:t>
            </a:r>
            <a:r>
              <a:rPr lang="en-US" sz="2000" dirty="0"/>
              <a:t>] * y[</a:t>
            </a:r>
            <a:r>
              <a:rPr lang="en-US" sz="2000" dirty="0" err="1"/>
              <a:t>i</a:t>
            </a:r>
            <a:r>
              <a:rPr lang="en-US" sz="2000" dirty="0"/>
              <a:t>];</a:t>
            </a:r>
          </a:p>
          <a:p>
            <a:endParaRPr lang="en-US" sz="2000" dirty="0"/>
          </a:p>
          <a:p>
            <a:r>
              <a:rPr lang="en-US" sz="2000" dirty="0"/>
              <a:t>Transform to…</a:t>
            </a:r>
          </a:p>
          <a:p>
            <a:pPr>
              <a:buNone/>
            </a:pPr>
            <a:r>
              <a:rPr lang="nn-NO" sz="2000" dirty="0"/>
              <a:t>	for (i=9999; i&gt;=0; i=i-1)</a:t>
            </a:r>
          </a:p>
          <a:p>
            <a:pPr>
              <a:buNone/>
            </a:pPr>
            <a:r>
              <a:rPr lang="en-US" sz="2000" dirty="0"/>
              <a:t>		sum [</a:t>
            </a:r>
            <a:r>
              <a:rPr lang="en-US" sz="2000" dirty="0" err="1"/>
              <a:t>i</a:t>
            </a:r>
            <a:r>
              <a:rPr lang="en-US" sz="2000" dirty="0"/>
              <a:t>] = x[</a:t>
            </a:r>
            <a:r>
              <a:rPr lang="en-US" sz="2000" dirty="0" err="1"/>
              <a:t>i</a:t>
            </a:r>
            <a:r>
              <a:rPr lang="en-US" sz="2000" dirty="0"/>
              <a:t>] * y[</a:t>
            </a:r>
            <a:r>
              <a:rPr lang="en-US" sz="2000" dirty="0" err="1"/>
              <a:t>i</a:t>
            </a:r>
            <a:r>
              <a:rPr lang="en-US" sz="2000" dirty="0"/>
              <a:t>];</a:t>
            </a:r>
          </a:p>
          <a:p>
            <a:pPr>
              <a:buNone/>
            </a:pPr>
            <a:r>
              <a:rPr lang="nn-NO" sz="2000" dirty="0"/>
              <a:t>	for (i=9999; i&gt;=0; i=i-1)</a:t>
            </a:r>
          </a:p>
          <a:p>
            <a:pPr>
              <a:buNone/>
            </a:pPr>
            <a:r>
              <a:rPr lang="en-US" sz="2000" dirty="0"/>
              <a:t>		</a:t>
            </a:r>
            <a:r>
              <a:rPr lang="en-US" sz="2000" dirty="0" err="1"/>
              <a:t>finalsum</a:t>
            </a:r>
            <a:r>
              <a:rPr lang="en-US" sz="2000" dirty="0"/>
              <a:t> = </a:t>
            </a:r>
            <a:r>
              <a:rPr lang="en-US" sz="2000" dirty="0" err="1"/>
              <a:t>finalsum</a:t>
            </a:r>
            <a:r>
              <a:rPr lang="en-US" sz="2000" dirty="0"/>
              <a:t> + sum[</a:t>
            </a:r>
            <a:r>
              <a:rPr lang="en-US" sz="2000" dirty="0" err="1"/>
              <a:t>i</a:t>
            </a:r>
            <a:r>
              <a:rPr lang="en-US" sz="2000" dirty="0"/>
              <a:t>];</a:t>
            </a:r>
          </a:p>
          <a:p>
            <a:endParaRPr lang="en-US" sz="2000" dirty="0"/>
          </a:p>
          <a:p>
            <a:r>
              <a:rPr lang="en-US" sz="2000" dirty="0"/>
              <a:t>Do on p processors:</a:t>
            </a:r>
          </a:p>
          <a:p>
            <a:pPr>
              <a:buNone/>
            </a:pPr>
            <a:r>
              <a:rPr lang="nn-NO" sz="2000" dirty="0"/>
              <a:t>	for (i=999; i&gt;=0; i=i-1)</a:t>
            </a:r>
          </a:p>
          <a:p>
            <a:pPr>
              <a:buNone/>
            </a:pPr>
            <a:r>
              <a:rPr lang="en-US" sz="2000" dirty="0"/>
              <a:t>		</a:t>
            </a:r>
            <a:r>
              <a:rPr lang="en-US" sz="2000" dirty="0" err="1"/>
              <a:t>finalsum</a:t>
            </a:r>
            <a:r>
              <a:rPr lang="en-US" sz="2000" dirty="0"/>
              <a:t>[p] = </a:t>
            </a:r>
            <a:r>
              <a:rPr lang="en-US" sz="2000" dirty="0" err="1"/>
              <a:t>finalsum</a:t>
            </a:r>
            <a:r>
              <a:rPr lang="en-US" sz="2000" dirty="0"/>
              <a:t>[p] + sum[i+1000*p];</a:t>
            </a:r>
          </a:p>
          <a:p>
            <a:r>
              <a:rPr lang="en-US" sz="2000" dirty="0"/>
              <a:t>Note:  </a:t>
            </a:r>
            <a:r>
              <a:rPr lang="en-US" sz="2000"/>
              <a:t>assumes associativity!</a:t>
            </a:r>
            <a:endParaRPr lang="en-US" sz="2000" dirty="0"/>
          </a:p>
        </p:txBody>
      </p:sp>
      <p:sp>
        <p:nvSpPr>
          <p:cNvPr id="242693" name="Text Box 5"/>
          <p:cNvSpPr txBox="1">
            <a:spLocks noChangeArrowheads="1"/>
          </p:cNvSpPr>
          <p:nvPr/>
        </p:nvSpPr>
        <p:spPr bwMode="auto">
          <a:xfrm rot="5400000">
            <a:off x="7903141" y="2395529"/>
            <a:ext cx="5160387" cy="369332"/>
          </a:xfrm>
          <a:prstGeom prst="rect">
            <a:avLst/>
          </a:prstGeom>
          <a:solidFill>
            <a:srgbClr val="C0C0C0"/>
          </a:solidFill>
          <a:ln w="9525">
            <a:noFill/>
            <a:miter lim="800000"/>
            <a:headEnd/>
            <a:tailEnd/>
          </a:ln>
          <a:effectLst/>
        </p:spPr>
        <p:txBody>
          <a:bodyPr wrap="none">
            <a:spAutoFit/>
          </a:bodyPr>
          <a:lstStyle/>
          <a:p>
            <a:pPr eaLnBrk="0" hangingPunct="0">
              <a:spcBef>
                <a:spcPct val="0"/>
              </a:spcBef>
              <a:buClrTx/>
              <a:buSzTx/>
              <a:buFontTx/>
              <a:buNone/>
            </a:pPr>
            <a:r>
              <a:rPr lang="en-US" dirty="0">
                <a:solidFill>
                  <a:srgbClr val="0066FF"/>
                </a:solidFill>
                <a:latin typeface="Arial" charset="0"/>
              </a:rPr>
              <a:t>Detecting and Enhancing Loop-Level Parallelism</a:t>
            </a:r>
          </a:p>
        </p:txBody>
      </p:sp>
    </p:spTree>
    <p:extLst>
      <p:ext uri="{BB962C8B-B14F-4D97-AF65-F5344CB8AC3E}">
        <p14:creationId xmlns:p14="http://schemas.microsoft.com/office/powerpoint/2010/main" val="236682407"/>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Fallacies and Pitfalls</a:t>
            </a:r>
            <a:endParaRPr lang="en-US"/>
          </a:p>
        </p:txBody>
      </p:sp>
      <p:sp>
        <p:nvSpPr>
          <p:cNvPr id="3" name="Content Placeholder 2"/>
          <p:cNvSpPr>
            <a:spLocks noGrp="1"/>
          </p:cNvSpPr>
          <p:nvPr>
            <p:ph idx="1"/>
          </p:nvPr>
        </p:nvSpPr>
        <p:spPr/>
        <p:txBody>
          <a:bodyPr/>
          <a:lstStyle/>
          <a:p>
            <a:r>
              <a:rPr lang="en-US" sz="2400"/>
              <a:t>GPUs suffer from being coprocessors</a:t>
            </a:r>
          </a:p>
          <a:p>
            <a:pPr lvl="1"/>
            <a:r>
              <a:rPr lang="en-US" sz="2000"/>
              <a:t>GPUs have flexibility to change ISA</a:t>
            </a:r>
          </a:p>
          <a:p>
            <a:r>
              <a:rPr lang="en-US" sz="2400"/>
              <a:t>Concentrating on peak performance in vector architectures and ignoring start-up overhead</a:t>
            </a:r>
          </a:p>
          <a:p>
            <a:pPr lvl="1"/>
            <a:r>
              <a:rPr lang="en-US" sz="2000"/>
              <a:t>Overheads require long vector lengths to achieve speedup</a:t>
            </a:r>
          </a:p>
          <a:p>
            <a:r>
              <a:rPr lang="en-US" sz="2400"/>
              <a:t>Increasing vector performance without comparable increases in scalar performance</a:t>
            </a:r>
          </a:p>
          <a:p>
            <a:r>
              <a:rPr lang="en-US" sz="2400"/>
              <a:t>You can get good vector performance without providing memory bandwidth</a:t>
            </a:r>
          </a:p>
          <a:p>
            <a:r>
              <a:rPr lang="en-US" sz="2400"/>
              <a:t>On GPUs, just add more threads if you don’t have enough memory performance</a:t>
            </a:r>
          </a:p>
        </p:txBody>
      </p:sp>
      <p:sp>
        <p:nvSpPr>
          <p:cNvPr id="5" name="Text Box 5"/>
          <p:cNvSpPr txBox="1">
            <a:spLocks noChangeArrowheads="1"/>
          </p:cNvSpPr>
          <p:nvPr/>
        </p:nvSpPr>
        <p:spPr bwMode="auto">
          <a:xfrm rot="5400000">
            <a:off x="9313350" y="967195"/>
            <a:ext cx="2287806" cy="369332"/>
          </a:xfrm>
          <a:prstGeom prst="rect">
            <a:avLst/>
          </a:prstGeom>
          <a:solidFill>
            <a:srgbClr val="C0C0C0"/>
          </a:solidFill>
          <a:ln w="9525">
            <a:noFill/>
            <a:miter lim="800000"/>
            <a:headEnd/>
            <a:tailEnd/>
          </a:ln>
          <a:effectLst/>
        </p:spPr>
        <p:txBody>
          <a:bodyPr wrap="none">
            <a:spAutoFit/>
          </a:bodyPr>
          <a:lstStyle/>
          <a:p>
            <a:pPr eaLnBrk="0" hangingPunct="0">
              <a:spcBef>
                <a:spcPct val="0"/>
              </a:spcBef>
              <a:buClrTx/>
              <a:buSzTx/>
              <a:buFontTx/>
              <a:buNone/>
            </a:pPr>
            <a:r>
              <a:rPr lang="en-US">
                <a:solidFill>
                  <a:srgbClr val="0066FF"/>
                </a:solidFill>
                <a:latin typeface="Arial" charset="0"/>
              </a:rPr>
              <a:t>Fallacies and Pitfalls</a:t>
            </a:r>
            <a:endParaRPr lang="en-US" dirty="0">
              <a:solidFill>
                <a:srgbClr val="0066FF"/>
              </a:solidFill>
              <a:latin typeface="Arial" charset="0"/>
            </a:endParaRPr>
          </a:p>
        </p:txBody>
      </p:sp>
    </p:spTree>
    <p:extLst>
      <p:ext uri="{BB962C8B-B14F-4D97-AF65-F5344CB8AC3E}">
        <p14:creationId xmlns:p14="http://schemas.microsoft.com/office/powerpoint/2010/main" val="1281833747"/>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1"/>
          <p:cNvSpPr txBox="1">
            <a:spLocks noChangeArrowheads="1"/>
          </p:cNvSpPr>
          <p:nvPr/>
        </p:nvSpPr>
        <p:spPr bwMode="auto">
          <a:xfrm>
            <a:off x="152400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80560" rIns="90000" bIns="45000" anchor="ctr"/>
          <a:lstStyle>
            <a:lvl1pPr eaLnBrk="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ea typeface="Microsoft YaHei" panose="020B0503020204020204" pitchFamily="34" charset="-122"/>
              </a:defRPr>
            </a:lvl1pPr>
            <a:lvl2pPr eaLnBrk="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ea typeface="Microsoft YaHei" panose="020B0503020204020204" pitchFamily="34" charset="-122"/>
              </a:defRPr>
            </a:lvl2pPr>
            <a:lvl3pPr eaLnBrk="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ea typeface="Microsoft YaHei" panose="020B0503020204020204" pitchFamily="34" charset="-122"/>
              </a:defRPr>
            </a:lvl3pPr>
            <a:lvl4pPr eaLnBrk="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ea typeface="Microsoft YaHei" panose="020B0503020204020204" pitchFamily="34" charset="-122"/>
              </a:defRPr>
            </a:lvl4pPr>
            <a:lvl5pPr eaLnBrk="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ea typeface="Microsoft YaHei" panose="020B0503020204020204" pitchFamily="34" charset="-122"/>
              </a:defRPr>
            </a:lvl9pPr>
          </a:lstStyle>
          <a:p>
            <a:pPr algn="ctr" eaLnBrk="1"/>
            <a:r>
              <a:rPr lang="en-US" altLang="en-US" sz="4000">
                <a:solidFill>
                  <a:srgbClr val="000000"/>
                </a:solidFill>
              </a:rPr>
              <a:t>Chapter 4</a:t>
            </a:r>
          </a:p>
          <a:p>
            <a:pPr algn="ctr"/>
            <a:r>
              <a:rPr lang="en-US" altLang="en-US" sz="4000"/>
              <a:t>Data-Level Parallelism in</a:t>
            </a:r>
          </a:p>
          <a:p>
            <a:pPr algn="ctr"/>
            <a:r>
              <a:rPr lang="en-US" altLang="en-US" sz="4000"/>
              <a:t>Vector, SIMD, and GPU</a:t>
            </a:r>
          </a:p>
          <a:p>
            <a:pPr algn="ctr"/>
            <a:r>
              <a:rPr lang="en-US" altLang="en-US" sz="4000"/>
              <a:t>Architectures</a:t>
            </a:r>
            <a:endParaRPr lang="en-US" altLang="en-US" sz="4000">
              <a:solidFill>
                <a:srgbClr val="000000"/>
              </a:solidFill>
            </a:endParaRPr>
          </a:p>
        </p:txBody>
      </p:sp>
      <p:sp>
        <p:nvSpPr>
          <p:cNvPr id="3075" name="Text Box 6"/>
          <p:cNvSpPr txBox="1">
            <a:spLocks noChangeArrowheads="1"/>
          </p:cNvSpPr>
          <p:nvPr/>
        </p:nvSpPr>
        <p:spPr bwMode="auto">
          <a:xfrm>
            <a:off x="2424114" y="6389688"/>
            <a:ext cx="734377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54779" rIns="90000" bIns="45000" anchor="ctr"/>
          <a:lstStyle>
            <a:lvl1pPr eaLnBrk="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Lst>
              <a:defRPr>
                <a:solidFill>
                  <a:schemeClr val="tx1"/>
                </a:solidFill>
                <a:latin typeface="Arial" panose="020B0604020202020204" pitchFamily="34" charset="0"/>
                <a:ea typeface="Microsoft YaHei" panose="020B0503020204020204" pitchFamily="34" charset="-122"/>
              </a:defRPr>
            </a:lvl1pPr>
            <a:lvl2pPr eaLnBrk="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Lst>
              <a:defRPr>
                <a:solidFill>
                  <a:schemeClr val="tx1"/>
                </a:solidFill>
                <a:latin typeface="Arial" panose="020B0604020202020204" pitchFamily="34" charset="0"/>
                <a:ea typeface="Microsoft YaHei" panose="020B0503020204020204" pitchFamily="34" charset="-122"/>
              </a:defRPr>
            </a:lvl2pPr>
            <a:lvl3pPr eaLnBrk="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Lst>
              <a:defRPr>
                <a:solidFill>
                  <a:schemeClr val="tx1"/>
                </a:solidFill>
                <a:latin typeface="Arial" panose="020B0604020202020204" pitchFamily="34" charset="0"/>
                <a:ea typeface="Microsoft YaHei" panose="020B0503020204020204" pitchFamily="34" charset="-122"/>
              </a:defRPr>
            </a:lvl3pPr>
            <a:lvl4pPr eaLnBrk="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Lst>
              <a:defRPr>
                <a:solidFill>
                  <a:schemeClr val="tx1"/>
                </a:solidFill>
                <a:latin typeface="Arial" panose="020B0604020202020204" pitchFamily="34" charset="0"/>
                <a:ea typeface="Microsoft YaHei" panose="020B0503020204020204" pitchFamily="34" charset="-122"/>
              </a:defRPr>
            </a:lvl4pPr>
            <a:lvl5pPr eaLnBrk="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Lst>
              <a:defRPr>
                <a:solidFill>
                  <a:schemeClr val="tx1"/>
                </a:solidFill>
                <a:latin typeface="Arial" panose="020B0604020202020204" pitchFamily="34" charset="0"/>
                <a:ea typeface="Microsoft YaHei" panose="020B0503020204020204" pitchFamily="34" charset="-122"/>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Lst>
              <a:defRPr>
                <a:solidFill>
                  <a:schemeClr val="tx1"/>
                </a:solidFill>
                <a:latin typeface="Arial" panose="020B0604020202020204" pitchFamily="34" charset="0"/>
                <a:ea typeface="Microsoft YaHei" panose="020B0503020204020204" pitchFamily="34" charset="-122"/>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Lst>
              <a:defRPr>
                <a:solidFill>
                  <a:schemeClr val="tx1"/>
                </a:solidFill>
                <a:latin typeface="Arial" panose="020B0604020202020204" pitchFamily="34" charset="0"/>
                <a:ea typeface="Microsoft YaHei" panose="020B0503020204020204" pitchFamily="34" charset="-122"/>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Lst>
              <a:defRPr>
                <a:solidFill>
                  <a:schemeClr val="tx1"/>
                </a:solidFill>
                <a:latin typeface="Arial" panose="020B0604020202020204" pitchFamily="34" charset="0"/>
                <a:ea typeface="Microsoft YaHei" panose="020B0503020204020204" pitchFamily="34" charset="-122"/>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Lst>
              <a:defRPr>
                <a:solidFill>
                  <a:schemeClr val="tx1"/>
                </a:solidFill>
                <a:latin typeface="Arial" panose="020B0604020202020204" pitchFamily="34" charset="0"/>
                <a:ea typeface="Microsoft YaHei" panose="020B0503020204020204" pitchFamily="34" charset="-122"/>
              </a:defRPr>
            </a:lvl9pPr>
          </a:lstStyle>
          <a:p>
            <a:pPr algn="ctr" eaLnBrk="1"/>
            <a:endParaRPr lang="en-US" altLang="en-US" sz="1100">
              <a:solidFill>
                <a:srgbClr val="000000"/>
              </a:solidFill>
            </a:endParaRPr>
          </a:p>
        </p:txBody>
      </p:sp>
    </p:spTree>
    <p:extLst>
      <p:ext uri="{BB962C8B-B14F-4D97-AF65-F5344CB8AC3E}">
        <p14:creationId xmlns:p14="http://schemas.microsoft.com/office/powerpoint/2010/main" val="223156947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sp>
        <p:nvSpPr>
          <p:cNvPr id="5123" name="Rectangle 1"/>
          <p:cNvSpPr>
            <a:spLocks noChangeArrowheads="1"/>
          </p:cNvSpPr>
          <p:nvPr/>
        </p:nvSpPr>
        <p:spPr bwMode="auto">
          <a:xfrm>
            <a:off x="1905000" y="4906964"/>
            <a:ext cx="8305800" cy="1277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1100" b="1"/>
              <a:t>Figure 4.2 The RV64V vector instructions. </a:t>
            </a:r>
            <a:r>
              <a:rPr lang="en-US" altLang="en-US" sz="1100"/>
              <a:t>All use the R instruction format. Each vector operation with two operands is shown with both operands being vector (</a:t>
            </a:r>
            <a:r>
              <a:rPr lang="en-US" altLang="en-US" sz="1100">
                <a:latin typeface="Courier New" panose="02070309020205020404" pitchFamily="49" charset="0"/>
                <a:cs typeface="Courier New" panose="02070309020205020404" pitchFamily="49" charset="0"/>
              </a:rPr>
              <a:t>.vv</a:t>
            </a:r>
            <a:r>
              <a:rPr lang="en-US" altLang="en-US" sz="1100"/>
              <a:t>), but there are also versions where the second operand is a scalar register (</a:t>
            </a:r>
            <a:r>
              <a:rPr lang="en-US" altLang="en-US" sz="1100">
                <a:latin typeface="Courier New" panose="02070309020205020404" pitchFamily="49" charset="0"/>
                <a:cs typeface="Courier New" panose="02070309020205020404" pitchFamily="49" charset="0"/>
              </a:rPr>
              <a:t>.vs</a:t>
            </a:r>
            <a:r>
              <a:rPr lang="en-US" altLang="en-US" sz="1100"/>
              <a:t>) and, when it makes a difference, where the first operand is a scalar register and the second is a vector register (</a:t>
            </a:r>
            <a:r>
              <a:rPr lang="en-US" altLang="en-US" sz="1100">
                <a:latin typeface="Courier New" panose="02070309020205020404" pitchFamily="49" charset="0"/>
                <a:cs typeface="Courier New" panose="02070309020205020404" pitchFamily="49" charset="0"/>
              </a:rPr>
              <a:t>.sv</a:t>
            </a:r>
            <a:r>
              <a:rPr lang="en-US" altLang="en-US" sz="1100"/>
              <a:t>). The type and width of the operands are determined by configuring each vector register rather than being supplied by the instruction. In addition to the vector registers and predicate registers, there are two vector control and status registers (CSRs), </a:t>
            </a:r>
            <a:r>
              <a:rPr lang="en-US" altLang="en-US" sz="1100">
                <a:latin typeface="Courier New" panose="02070309020205020404" pitchFamily="49" charset="0"/>
                <a:cs typeface="Courier New" panose="02070309020205020404" pitchFamily="49" charset="0"/>
              </a:rPr>
              <a:t>vl</a:t>
            </a:r>
            <a:r>
              <a:rPr lang="en-US" altLang="en-US" sz="1100"/>
              <a:t> and </a:t>
            </a:r>
            <a:r>
              <a:rPr lang="en-US" altLang="en-US" sz="1100">
                <a:latin typeface="Courier New" panose="02070309020205020404" pitchFamily="49" charset="0"/>
                <a:cs typeface="Courier New" panose="02070309020205020404" pitchFamily="49" charset="0"/>
              </a:rPr>
              <a:t>vctype</a:t>
            </a:r>
            <a:r>
              <a:rPr lang="en-US" altLang="en-US" sz="1100"/>
              <a:t>, discussed below. The strided and indexed data transfers are also explained later. Once completed, RV64 will surely have more instructions, but the ones in this figure will be included.</a:t>
            </a:r>
          </a:p>
        </p:txBody>
      </p:sp>
      <p:pic>
        <p:nvPicPr>
          <p:cNvPr id="5124" name="Picture 2" descr="Y:\02_GRAPHICS\BOOKS\02_PPTs\MKCAD(Hennessy)\PPT\Ch04\f04-02-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08475" y="458789"/>
            <a:ext cx="3575050" cy="412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6741312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sp>
        <p:nvSpPr>
          <p:cNvPr id="6147" name="Rectangle 1"/>
          <p:cNvSpPr>
            <a:spLocks noChangeArrowheads="1"/>
          </p:cNvSpPr>
          <p:nvPr/>
        </p:nvSpPr>
        <p:spPr bwMode="auto">
          <a:xfrm>
            <a:off x="1905000" y="4916489"/>
            <a:ext cx="8382000"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1100" b="1"/>
              <a:t>Figure 4.3 Data sizes supported for RV64V assuming it also has the single- and double-precision floating-point extensions RVS and RVD. </a:t>
            </a:r>
            <a:r>
              <a:rPr lang="en-US" altLang="en-US" sz="1100"/>
              <a:t>Adding RVV to such a RISC-V design means the scalar unit must also add RVH, which is a scalar instruction extension to support half-precision (16-bit) IEEE 754 floating point. Because RV32V would not have doubleword scalar operations, it could drop 64-bit integers from the vector unit. If a RISC-V implementation didn’t include RVS or RVD, it could omit the vector floating-point instructions.</a:t>
            </a:r>
          </a:p>
        </p:txBody>
      </p:sp>
      <p:pic>
        <p:nvPicPr>
          <p:cNvPr id="6148" name="Picture 2" descr="Y:\02_GRAPHICS\BOOKS\02_PPTs\MKCAD(Hennessy)\PPT\Ch04\f04-03-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09900" y="3295650"/>
            <a:ext cx="6172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1438891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sp>
        <p:nvSpPr>
          <p:cNvPr id="9219" name="Rectangle 1"/>
          <p:cNvSpPr>
            <a:spLocks noChangeArrowheads="1"/>
          </p:cNvSpPr>
          <p:nvPr/>
        </p:nvSpPr>
        <p:spPr bwMode="auto">
          <a:xfrm>
            <a:off x="1905000" y="4927601"/>
            <a:ext cx="84582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1100" b="1"/>
              <a:t>Figure 4.6 </a:t>
            </a:r>
            <a:r>
              <a:rPr lang="en-US" altLang="zh-CN" sz="1100" b="1"/>
              <a:t>A vector of arbitrary length processed with strip mining</a:t>
            </a:r>
            <a:r>
              <a:rPr lang="en-US" altLang="zh-CN" sz="1100"/>
              <a:t>. All blocks but the first are of length MVL, utilizing the full power of the vector processor. In this figure, we use the variable </a:t>
            </a:r>
            <a:r>
              <a:rPr lang="en-US" altLang="zh-CN" sz="1100" i="1"/>
              <a:t>m</a:t>
            </a:r>
            <a:r>
              <a:rPr lang="en-US" altLang="zh-CN" sz="1100"/>
              <a:t> for the expression (n % MVL). (The C operator % is modulo.)</a:t>
            </a:r>
            <a:endParaRPr lang="en-US" altLang="en-US" sz="1100"/>
          </a:p>
        </p:txBody>
      </p:sp>
      <p:pic>
        <p:nvPicPr>
          <p:cNvPr id="9220" name="Picture 2" descr="Y:\02_GRAPHICS\BOOKS\02_PPTs\MKCAD(Hennessy)\PPT\Ch04\f04-06-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40114" y="2133600"/>
            <a:ext cx="5311775"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3421508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sp>
        <p:nvSpPr>
          <p:cNvPr id="11267" name="Rectangle 1"/>
          <p:cNvSpPr>
            <a:spLocks noChangeArrowheads="1"/>
          </p:cNvSpPr>
          <p:nvPr/>
        </p:nvSpPr>
        <p:spPr bwMode="auto">
          <a:xfrm>
            <a:off x="1905000" y="4927601"/>
            <a:ext cx="83820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1100" b="1"/>
              <a:t>Figure 4.8 Summary of typical SIMD multimedia support for 256-bit-wide operations</a:t>
            </a:r>
            <a:r>
              <a:rPr lang="en-US" altLang="en-US" sz="1100"/>
              <a:t>. Note that the IEEE 754-2008 floating-point standard added half-precision (16-bit) and quad-precision (128-bit) floating-point operations.</a:t>
            </a:r>
          </a:p>
        </p:txBody>
      </p:sp>
      <p:pic>
        <p:nvPicPr>
          <p:cNvPr id="11268" name="Picture 2" descr="Y:\02_GRAPHICS\BOOKS\02_PPTs\MKCAD(Hennessy)\PPT\Ch04\f04-08-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98850" y="2543176"/>
            <a:ext cx="5194300"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1620300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sp>
        <p:nvSpPr>
          <p:cNvPr id="12291" name="Rectangle 1"/>
          <p:cNvSpPr>
            <a:spLocks noChangeArrowheads="1"/>
          </p:cNvSpPr>
          <p:nvPr/>
        </p:nvSpPr>
        <p:spPr bwMode="auto">
          <a:xfrm>
            <a:off x="1905000" y="4911725"/>
            <a:ext cx="838200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1100" b="1"/>
              <a:t>Figure 4.9 AVX instructions for x86 architecture useful in double-precision floating-point programs.</a:t>
            </a:r>
            <a:r>
              <a:rPr lang="en-US" altLang="en-US" sz="1100"/>
              <a:t> Packed-double for 256-bit AVX means four 64-bit operands executed in SIMD mode. As the width increases with AVX, it is increasingly important to add data permutation instructions that allow combinations of narrow operands from different parts of the wide registers. AVX includes instructions that shuffle 32-bit, 64-bit, or 128-bit operands within a 256-bit register. For example, BROADCAST replicates a 64-bit operand four times in an AVX register. AVX also includes a large variety of fused multiply-add/subtract instructions; we show just two here.</a:t>
            </a:r>
          </a:p>
        </p:txBody>
      </p:sp>
      <p:pic>
        <p:nvPicPr>
          <p:cNvPr id="12292" name="Picture 2" descr="Y:\02_GRAPHICS\BOOKS\02_PPTs\MKCAD(Hennessy)\PPT\Ch04\f04-09-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40050" y="1905000"/>
            <a:ext cx="6311900" cy="215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596251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sp>
        <p:nvSpPr>
          <p:cNvPr id="15363" name="Rectangle 1"/>
          <p:cNvSpPr>
            <a:spLocks noChangeArrowheads="1"/>
          </p:cNvSpPr>
          <p:nvPr/>
        </p:nvSpPr>
        <p:spPr bwMode="auto">
          <a:xfrm>
            <a:off x="1905000" y="4916489"/>
            <a:ext cx="8382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1100" b="1"/>
              <a:t>Figure 4.12 Quick guide to GPU terms used in this chapter. </a:t>
            </a:r>
            <a:r>
              <a:rPr lang="en-US" altLang="en-US" sz="1100"/>
              <a:t>We use the first column for hardware terms. Four groups cluster these 11 terms. From top to bottom: program abstractions, machine objects, processing hardware, and memory hardware. Figure 4.21 on page 312 associates vector terms with the closest terms here, and Figure 4.24 on page 317 and Figure 4.25 on page 318 reveal the official CUDA/NVIDIA and AMD terms and definitions along with the terms used by OpenCL.</a:t>
            </a:r>
          </a:p>
        </p:txBody>
      </p:sp>
      <p:pic>
        <p:nvPicPr>
          <p:cNvPr id="15364" name="Picture 2" descr="Y:\02_GRAPHICS\BOOKS\02_PPTs\MKCAD(Hennessy)\PPT\Ch04\f04-12-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81475" y="374650"/>
            <a:ext cx="3829050" cy="427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8565853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sp>
        <p:nvSpPr>
          <p:cNvPr id="18435" name="Rectangle 1"/>
          <p:cNvSpPr>
            <a:spLocks noChangeArrowheads="1"/>
          </p:cNvSpPr>
          <p:nvPr/>
        </p:nvSpPr>
        <p:spPr bwMode="auto">
          <a:xfrm>
            <a:off x="1905000" y="4921250"/>
            <a:ext cx="8382000"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1100" b="1"/>
              <a:t>Figure 4.15 Full-chip block diagram of the Pascal P100 GPU. </a:t>
            </a:r>
            <a:r>
              <a:rPr lang="en-US" altLang="en-US" sz="1100"/>
              <a:t>It has 56 multithreaded SIMD Processors, each with an L1 cache and local memory, 32 L2 units, and a memory-bus width of 4096 data wires. (It has 60 blocks, with four spares to improve yield.) The P100 has 4 HBM2 ports supporting up to 16 GB of capacity. It contains 15.4 billion transistors.</a:t>
            </a:r>
          </a:p>
        </p:txBody>
      </p:sp>
      <p:pic>
        <p:nvPicPr>
          <p:cNvPr id="18436" name="Picture 2" descr="Y:\02_GRAPHICS\BOOKS\02_PPTs\MKCAD(Hennessy)\PPT\Ch04\f04-15-978012811905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1439" y="1524000"/>
            <a:ext cx="4429125" cy="261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2449949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sp>
        <p:nvSpPr>
          <p:cNvPr id="19459" name="Rectangle 1"/>
          <p:cNvSpPr>
            <a:spLocks noChangeArrowheads="1"/>
          </p:cNvSpPr>
          <p:nvPr/>
        </p:nvSpPr>
        <p:spPr bwMode="auto">
          <a:xfrm>
            <a:off x="1905000" y="4921250"/>
            <a:ext cx="8382000"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1100" b="1"/>
              <a:t>Figure 4.16 Scheduling of threads of SIMD instructions. </a:t>
            </a:r>
            <a:r>
              <a:rPr lang="en-US" altLang="en-US" sz="1100"/>
              <a:t>The scheduler selects a ready thread of SIMD instructions and issues an instruction synchronously to all the SIMD Lanes executing the SIMD Thread. Because threads of SIMD instructions are independent, the scheduler may select a different SIMD Thread each time.</a:t>
            </a:r>
          </a:p>
        </p:txBody>
      </p:sp>
      <p:pic>
        <p:nvPicPr>
          <p:cNvPr id="19460" name="Picture 2" descr="Y:\WOMAT\Production\Artfinal\0000000038\MKCAD\978-0-12-811905-1\0003165543\XMLLowres\f04-16-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07000" y="914400"/>
            <a:ext cx="177800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4482836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sp>
        <p:nvSpPr>
          <p:cNvPr id="20483" name="Rectangle 1"/>
          <p:cNvSpPr>
            <a:spLocks noChangeArrowheads="1"/>
          </p:cNvSpPr>
          <p:nvPr/>
        </p:nvSpPr>
        <p:spPr bwMode="auto">
          <a:xfrm>
            <a:off x="1905000" y="5084763"/>
            <a:ext cx="381000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1100" b="1"/>
              <a:t>Figure 4.17 Basic PTX GPU thread instructions.</a:t>
            </a:r>
          </a:p>
        </p:txBody>
      </p:sp>
      <p:pic>
        <p:nvPicPr>
          <p:cNvPr id="20484" name="Picture 2" descr="Y:\02_GRAPHICS\BOOKS\02_PPTs\MKCAD(Hennessy)\PPT\Ch04\f04-17-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08475" y="185739"/>
            <a:ext cx="3575050" cy="448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2327040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sp>
        <p:nvSpPr>
          <p:cNvPr id="21507" name="Rectangle 1"/>
          <p:cNvSpPr>
            <a:spLocks noChangeArrowheads="1"/>
          </p:cNvSpPr>
          <p:nvPr/>
        </p:nvSpPr>
        <p:spPr bwMode="auto">
          <a:xfrm>
            <a:off x="1905000" y="4911726"/>
            <a:ext cx="8382000"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1100" b="1"/>
              <a:t>Figure 4.18 GPU memory structures. </a:t>
            </a:r>
            <a:r>
              <a:rPr lang="en-US" altLang="en-US" sz="1100"/>
              <a:t>GPU memory is shared by all Grids (vectorized loops), local memory is shared by all threads of SIMD instructions within a Thread Block (body of a vectorized loop), and private memory is private to a single CUDA Thread. Pascal allows preemption of a Grid, which requires that all local and private memory be able to be saved in and restored from global memory. For completeness sake, the GPU can also access CPU memory via the PCIe bus. This path is commonly used for a final result when its address is in host memory. This option eliminates a final copy from the GPU memory to the host memory.</a:t>
            </a:r>
          </a:p>
        </p:txBody>
      </p:sp>
      <p:pic>
        <p:nvPicPr>
          <p:cNvPr id="21508" name="Picture 2" descr="Y:\WOMAT\Production\Artfinal\0000000038\MKCAD\978-0-12-811905-1\0003165543\XMLLowres\f04-18-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52900" y="762000"/>
            <a:ext cx="3886200" cy="340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6188587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sp>
        <p:nvSpPr>
          <p:cNvPr id="22531" name="Rectangle 1"/>
          <p:cNvSpPr>
            <a:spLocks noChangeArrowheads="1"/>
          </p:cNvSpPr>
          <p:nvPr/>
        </p:nvSpPr>
        <p:spPr bwMode="auto">
          <a:xfrm>
            <a:off x="1905000" y="4932364"/>
            <a:ext cx="83058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1100" b="1"/>
              <a:t>Figure 4.19 Block diagram of Pascal’s dual SIMD Thread scheduler.</a:t>
            </a:r>
            <a:r>
              <a:rPr lang="en-US" altLang="en-US" sz="1100"/>
              <a:t> Compare this design to the single SIMD Thread design in Figure 4.16.</a:t>
            </a:r>
          </a:p>
        </p:txBody>
      </p:sp>
      <p:pic>
        <p:nvPicPr>
          <p:cNvPr id="22532" name="Picture 2" descr="Y:\WOMAT\Production\Artfinal\0000000038\MKCAD\978-0-12-811905-1\0003165543\XMLLowres\f04-19-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71950" y="1447800"/>
            <a:ext cx="384810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898170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sp>
        <p:nvSpPr>
          <p:cNvPr id="24579" name="Rectangle 1"/>
          <p:cNvSpPr>
            <a:spLocks noChangeArrowheads="1"/>
          </p:cNvSpPr>
          <p:nvPr/>
        </p:nvSpPr>
        <p:spPr bwMode="auto">
          <a:xfrm>
            <a:off x="1905000" y="5084763"/>
            <a:ext cx="327660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1100" b="1"/>
              <a:t>Figure 4.21 GPU equivalent to vector terms.</a:t>
            </a:r>
          </a:p>
        </p:txBody>
      </p:sp>
      <p:pic>
        <p:nvPicPr>
          <p:cNvPr id="24580" name="Picture 2" descr="Y:\02_GRAPHICS\BOOKS\02_PPTs\MKCAD(Hennessy)\PPT\Ch04\f04-21-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60839" y="381000"/>
            <a:ext cx="3870325" cy="416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3471726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sp>
        <p:nvSpPr>
          <p:cNvPr id="25603" name="Rectangle 1"/>
          <p:cNvSpPr>
            <a:spLocks noChangeArrowheads="1"/>
          </p:cNvSpPr>
          <p:nvPr/>
        </p:nvSpPr>
        <p:spPr bwMode="auto">
          <a:xfrm>
            <a:off x="1905000" y="4911725"/>
            <a:ext cx="830580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1100" b="1"/>
              <a:t>Figure 4.22 A vector processor with four lanes on the left and a multithreaded SIMD Processor of a GPU with four SIMD Lanes on the right. (GPUs typically have 16 or 32 SIMD Lanes.) </a:t>
            </a:r>
            <a:r>
              <a:rPr lang="en-US" altLang="en-US" sz="1100"/>
              <a:t>The Control Processor supplies scalar operands for scalar-vector operations, increments addressing for unit and nonunit stride accesses to memory, and performs other accounting-type operations. Peak memory performance occurs only in a GPU when the Address Coalescing Unit can discover localized addressing. Similarly, peak computational performance occurs when all internal mask bits are set identically. Note that the SIMD Processor has one PC per SIMD Thread to help with multithreading.</a:t>
            </a:r>
          </a:p>
        </p:txBody>
      </p:sp>
      <p:pic>
        <p:nvPicPr>
          <p:cNvPr id="25604" name="Picture 2" descr="Y:\WOMAT\Production\Artfinal\0000000038\MKCAD\978-0-12-811905-1\0003165543\XMLLowres\f04-22-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22650" y="685800"/>
            <a:ext cx="5346700" cy="361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2815889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sp>
        <p:nvSpPr>
          <p:cNvPr id="26627" name="Rectangle 1"/>
          <p:cNvSpPr>
            <a:spLocks noChangeArrowheads="1"/>
          </p:cNvSpPr>
          <p:nvPr/>
        </p:nvSpPr>
        <p:spPr bwMode="auto">
          <a:xfrm>
            <a:off x="1905000" y="5084763"/>
            <a:ext cx="762000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1100" b="1"/>
              <a:t>Figure 4.23 Similarities and differences between multicore with multimedia SIMD extensions and recent GPUs.</a:t>
            </a:r>
          </a:p>
        </p:txBody>
      </p:sp>
      <p:pic>
        <p:nvPicPr>
          <p:cNvPr id="26628" name="Picture 2" descr="Y:\02_GRAPHICS\BOOKS\02_PPTs\MKCAD(Hennessy)\PPT\Ch04\f04-23-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9150" y="1600200"/>
            <a:ext cx="5473700" cy="222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0738291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sp>
        <p:nvSpPr>
          <p:cNvPr id="27651" name="Rectangle 1"/>
          <p:cNvSpPr>
            <a:spLocks noChangeArrowheads="1"/>
          </p:cNvSpPr>
          <p:nvPr/>
        </p:nvSpPr>
        <p:spPr bwMode="auto">
          <a:xfrm>
            <a:off x="1905000" y="4927601"/>
            <a:ext cx="83058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1100" b="1"/>
              <a:t>Figure 4.24 Conversion from terms used in this chapter to official NVIDIA/CUDA and AMD jargon.</a:t>
            </a:r>
            <a:r>
              <a:rPr lang="en-US" altLang="en-US" sz="1100"/>
              <a:t> OpenCL names are given in the book’s definitions.</a:t>
            </a:r>
          </a:p>
        </p:txBody>
      </p:sp>
      <p:pic>
        <p:nvPicPr>
          <p:cNvPr id="27652" name="Picture 2" descr="Y:\02_GRAPHICS\BOOKS\02_PPTs\MKCAD(Hennessy)\PPT\Ch04\f04-24-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84575" y="609600"/>
            <a:ext cx="5022850"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618718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sp>
        <p:nvSpPr>
          <p:cNvPr id="28675" name="Rectangle 1"/>
          <p:cNvSpPr>
            <a:spLocks noChangeArrowheads="1"/>
          </p:cNvSpPr>
          <p:nvPr/>
        </p:nvSpPr>
        <p:spPr bwMode="auto">
          <a:xfrm>
            <a:off x="1905000" y="4921251"/>
            <a:ext cx="8382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1100" b="1"/>
              <a:t>Figure 4.25 Conversion from terms used in this chapter to official NVIDIA/CUDA and AMD jargon. </a:t>
            </a:r>
            <a:r>
              <a:rPr lang="en-US" altLang="en-US" sz="1100"/>
              <a:t>Note that our descriptive terms “local memory” and “private memory” use the OpenCL terminology. NVIDIA uses SIMT (single-instruction multiple-thread) rather than SIMD to describe a streaming multiprocessor. SIMT is preferred over SIMD because the per-thread branching and control flow are unlike any SIMD machine.</a:t>
            </a:r>
          </a:p>
        </p:txBody>
      </p:sp>
      <p:pic>
        <p:nvPicPr>
          <p:cNvPr id="28676" name="Picture 2" descr="Y:\02_GRAPHICS\BOOKS\02_PPTs\MKCAD(Hennessy)\PPT\Ch04\f04-25-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64025" y="152400"/>
            <a:ext cx="3663950" cy="451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5979448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sp>
        <p:nvSpPr>
          <p:cNvPr id="29699" name="Rectangle 1"/>
          <p:cNvSpPr>
            <a:spLocks noChangeArrowheads="1"/>
          </p:cNvSpPr>
          <p:nvPr/>
        </p:nvSpPr>
        <p:spPr bwMode="auto">
          <a:xfrm>
            <a:off x="1905000" y="5084763"/>
            <a:ext cx="533400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1100" b="1"/>
              <a:t>Figure 4.26 Key features of the GPUs for embedded clients and servers.</a:t>
            </a:r>
          </a:p>
        </p:txBody>
      </p:sp>
      <p:pic>
        <p:nvPicPr>
          <p:cNvPr id="29700" name="Picture 2" descr="Y:\02_GRAPHICS\BOOKS\02_PPTs\MKCAD(Hennessy)\PPT\Ch04\f04-26-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44950" y="838200"/>
            <a:ext cx="4102100" cy="325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4491639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sp>
        <p:nvSpPr>
          <p:cNvPr id="30723" name="Rectangle 1"/>
          <p:cNvSpPr>
            <a:spLocks noChangeArrowheads="1"/>
          </p:cNvSpPr>
          <p:nvPr/>
        </p:nvSpPr>
        <p:spPr bwMode="auto">
          <a:xfrm>
            <a:off x="1905000" y="4906963"/>
            <a:ext cx="838200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1100" b="1"/>
              <a:t>Figure 4.27 Intel Core i7-960 and NVIDIA GTX 280.</a:t>
            </a:r>
            <a:r>
              <a:rPr lang="en-US" altLang="en-US" sz="1100"/>
              <a:t> The rightmost column shows the ratios of GTX 280 to Core i7. For single-precision SIMD FLOPS on the GTX 280, the higher speed (933) comes from a very rare case of dual issuing of fused multiply-add and multiply. More reasonable is 622 for single fused multiply-adds. Note that these memory bandwidths are higher than in Figure 4.28 because these are DRAM pin bandwidths and those in Figure 4.28 are at the processors as measured by a benchmark program. From Table 2 in Lee, W.V., et al., 2010. Debunking the 100 × GPU vs. CPU myth: an evaluation of throughput computing on CPU and GPU. In: Proc. 37th Annual Int’l. Symposium on Computer Architecture (ISCA), June 19–23, 2010, Saint-Malo, France.</a:t>
            </a:r>
          </a:p>
        </p:txBody>
      </p:sp>
      <p:pic>
        <p:nvPicPr>
          <p:cNvPr id="30724" name="Picture 2" descr="Y:\02_GRAPHICS\BOOKS\02_PPTs\MKCAD(Hennessy)\PPT\Ch04\f04-27-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9150" y="1066800"/>
            <a:ext cx="5473700" cy="292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7299512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sp>
        <p:nvSpPr>
          <p:cNvPr id="31747" name="Rectangle 1"/>
          <p:cNvSpPr>
            <a:spLocks noChangeArrowheads="1"/>
          </p:cNvSpPr>
          <p:nvPr/>
        </p:nvSpPr>
        <p:spPr bwMode="auto">
          <a:xfrm>
            <a:off x="1905000" y="4814888"/>
            <a:ext cx="8077200"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1100" b="1"/>
              <a:t>Figure 4.28 Roofline model (Williams et al. 2009). </a:t>
            </a:r>
            <a:r>
              <a:rPr lang="en-US" altLang="en-US" sz="1100"/>
              <a:t>These rooflines show double-precision floating-point performance in the top row and single-precision performance in the bottom row. (The DP FP performance ceiling is also in the bottom row to give perspective.) The Core i7 920 on the left has a peak DP FP performance of 42.66 GFLOP/s, a SP FP peak of 85.33 GFLOP/s, and a peak memory bandwidth of 16.4 GB/s. The NVIDIA GTX 280 has a DP FP peak of 78 GFLOP/s, SP FP peak of 624 GFLOP/s, and 127 GB/s of memory bandwidth. The dashed vertical line on the left represents an arithmetic intensity of 0.5 FLOP/byte. It is limited by memory bandwidth to no more than 8 DP GFLOP/s or 8 SP GFLOP/s on the Core i7. The dashed vertical line to the right has an arithmetic intensity of 4 FLOP/byte. It is limited only computationally to 42.66 DP GFLOP/s and 64 SP GFLOP/s on the Core i7 and to 78 DP GFLOP/s and 512 DP GFLOP/s on the GTX 280. To hit the highest computation rate on the Core i7, you need to use all 4 cores and SSE instructions with an equal number of multiplies and adds. For the GTX 280, you need to use fused multiply-add instructions on all multithreaded SIMD Processors.</a:t>
            </a:r>
          </a:p>
        </p:txBody>
      </p:sp>
      <p:pic>
        <p:nvPicPr>
          <p:cNvPr id="31748" name="Picture 2" descr="Y:\WOMAT\Production\Artfinal\0000000038\MKCAD\978-0-12-811905-1\0003165543\XMLLowres\f04-28-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60814" y="365125"/>
            <a:ext cx="4270375" cy="421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5807372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sp>
        <p:nvSpPr>
          <p:cNvPr id="32771" name="Rectangle 1"/>
          <p:cNvSpPr>
            <a:spLocks noChangeArrowheads="1"/>
          </p:cNvSpPr>
          <p:nvPr/>
        </p:nvSpPr>
        <p:spPr bwMode="auto">
          <a:xfrm>
            <a:off x="1905000" y="4916489"/>
            <a:ext cx="8382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1100" b="1"/>
              <a:t>Figure 4.29 Throughput computing kernel characteristics. </a:t>
            </a:r>
            <a:r>
              <a:rPr lang="en-US" altLang="en-US" sz="1100"/>
              <a:t>The name in parentheses identifies the benchmark name in this section. The authors suggest that code for both machines had equal optimization effort. From Table 1 in Lee, W.V., et al., 2010. Debunking the 100 × GPU vs. CPU myth: an evaluation of throughput computing on CPU and GPU. In: Proc. 37th Annual Int’l. Symposium on Computer Architecture (ISCA), June 19–23, 2010, Saint-Malo, France.</a:t>
            </a:r>
          </a:p>
        </p:txBody>
      </p:sp>
      <p:pic>
        <p:nvPicPr>
          <p:cNvPr id="32772" name="Picture 2" descr="Y:\02_GRAPHICS\BOOKS\02_PPTs\MKCAD(Hennessy)\PPT\Ch04\f04-29-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82988" y="533400"/>
            <a:ext cx="4646612" cy="405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6175434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sp>
        <p:nvSpPr>
          <p:cNvPr id="33795" name="Rectangle 1"/>
          <p:cNvSpPr>
            <a:spLocks noChangeArrowheads="1"/>
          </p:cNvSpPr>
          <p:nvPr/>
        </p:nvSpPr>
        <p:spPr bwMode="auto">
          <a:xfrm>
            <a:off x="1905000" y="4916489"/>
            <a:ext cx="83058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1100" b="1"/>
              <a:t>Figure 4.30 Raw and relative performance measured for the two platforms. </a:t>
            </a:r>
            <a:r>
              <a:rPr lang="en-US" altLang="en-US" sz="1100"/>
              <a:t>In this study, SAXPY is used only as a measure of memory bandwidth, so the right unit is GB/s and not GFLOP/s. Based on Table 3 in Lee, W.V., et al., 2010. Debunking the 100 × GPU vs. CPU myth: an evaluation of throughput computing on CPU and GPU. In: Proc. 37th Annual Int’l. Symposium on Computer Architecture (ISCA), June 19–23, 2010, Saint-Malo, France.</a:t>
            </a:r>
          </a:p>
        </p:txBody>
      </p:sp>
      <p:pic>
        <p:nvPicPr>
          <p:cNvPr id="33796" name="Picture 2" descr="Y:\02_GRAPHICS\BOOKS\02_PPTs\MKCAD(Hennessy)\PPT\Ch04\f04-30-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44950" y="1219200"/>
            <a:ext cx="4102100" cy="287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7568790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sp>
        <p:nvSpPr>
          <p:cNvPr id="34819" name="Rectangle 1"/>
          <p:cNvSpPr>
            <a:spLocks noChangeArrowheads="1"/>
          </p:cNvSpPr>
          <p:nvPr/>
        </p:nvSpPr>
        <p:spPr bwMode="auto">
          <a:xfrm>
            <a:off x="1905000" y="4921250"/>
            <a:ext cx="8382000"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1100" b="1"/>
              <a:t>Figure 4.31 Intel Xeon ?? and NVIDIA P100. </a:t>
            </a:r>
            <a:r>
              <a:rPr lang="en-US" altLang="en-US" sz="1100"/>
              <a:t>The rightmost column shows the ratios of P100 to the Xeon. Note that these memory bandwidths are higher than in Figure 4.28 because these are DRAM pin bandwidths and those in Figure 4.28 are at the processors as measured by a benchmark program.</a:t>
            </a:r>
          </a:p>
        </p:txBody>
      </p:sp>
      <p:pic>
        <p:nvPicPr>
          <p:cNvPr id="34820" name="Picture 2" descr="Y:\02_GRAPHICS\BOOKS\02_PPTs\MKCAD(Hennessy)\PPT\Ch04\f04-31-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70263" y="1692275"/>
            <a:ext cx="5473700" cy="222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2900117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sp>
        <p:nvSpPr>
          <p:cNvPr id="35843" name="Rectangle 1"/>
          <p:cNvSpPr>
            <a:spLocks noChangeArrowheads="1"/>
          </p:cNvSpPr>
          <p:nvPr/>
        </p:nvSpPr>
        <p:spPr bwMode="auto">
          <a:xfrm>
            <a:off x="1905000" y="4921250"/>
            <a:ext cx="8382000"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1100" b="1"/>
              <a:t>Figure 4.32 Raw and relative performance measured for modern versions of the two platforms as compared to the relative performance of the original platforms.</a:t>
            </a:r>
            <a:r>
              <a:rPr lang="en-US" altLang="en-US" sz="1100"/>
              <a:t> Like Figure 4.30, SAXPY and DAXPY are used only as a measure of memory bandwidth, so the proper unit is GB/s and not GFLOP/s.</a:t>
            </a:r>
          </a:p>
        </p:txBody>
      </p:sp>
      <p:pic>
        <p:nvPicPr>
          <p:cNvPr id="35844" name="Picture 2" descr="Y:\02_GRAPHICS\BOOKS\02_PPTs\MKCAD(Hennessy)\PPT\Ch04\f04-32-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21138" y="2286000"/>
            <a:ext cx="4102100"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8719611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sp>
        <p:nvSpPr>
          <p:cNvPr id="36867" name="Rectangle 1"/>
          <p:cNvSpPr>
            <a:spLocks noChangeArrowheads="1"/>
          </p:cNvSpPr>
          <p:nvPr/>
        </p:nvSpPr>
        <p:spPr bwMode="auto">
          <a:xfrm>
            <a:off x="1905000" y="4927601"/>
            <a:ext cx="84582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1100" b="1"/>
              <a:t>Figure 4.33 Roofline models of older and newer CPUs versus older and newer GPUs. </a:t>
            </a:r>
            <a:r>
              <a:rPr lang="en-US" altLang="en-US" sz="1100"/>
              <a:t>The higher roofline for each computer is single-precision floating-point performance, and the lower one is double-precision performance.</a:t>
            </a:r>
          </a:p>
        </p:txBody>
      </p:sp>
      <p:pic>
        <p:nvPicPr>
          <p:cNvPr id="36868" name="Picture 2" descr="Y:\WOMAT\Production\Artfinal\0000000038\MKCAD\978-0-12-811905-1\0003165543\XMLLowres\f04-33-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2800" y="914400"/>
            <a:ext cx="5486400" cy="355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179915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sp>
        <p:nvSpPr>
          <p:cNvPr id="37891" name="Rectangle 1"/>
          <p:cNvSpPr>
            <a:spLocks noChangeArrowheads="1"/>
          </p:cNvSpPr>
          <p:nvPr/>
        </p:nvSpPr>
        <p:spPr bwMode="auto">
          <a:xfrm>
            <a:off x="1905000" y="4906963"/>
            <a:ext cx="838200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1100" b="1"/>
              <a:t>Figure 4.34 Performance measurements for the Livermore Fortran kernels on two different processors. </a:t>
            </a:r>
            <a:r>
              <a:rPr lang="en-US" altLang="en-US" sz="1100"/>
              <a:t>Both the MIPS M/120-5 and the Stardent-1500 (formerly the Ardent Titan-1) use a 16.7 MHz MIPS R2000 chip for the main CPU. The Stardent-1500 uses its vector unit for scalar FP and has about half the scalar performance (as measured by the minimum rate) of the MIPS M/120-5, which uses the MIPS R2010 FP chip. The vector processor is more than a factor of 2.5 × faster for a highly vectorizable loop (maximum rate). However, the lower scalar performance of the Stardent-1500 negates the higher vector performance when total performance is measured by the harmonic mean on all 24 loops.</a:t>
            </a:r>
          </a:p>
        </p:txBody>
      </p:sp>
      <p:pic>
        <p:nvPicPr>
          <p:cNvPr id="37892" name="Picture 2" descr="Y:\02_GRAPHICS\BOOKS\02_PPTs\MKCAD(Hennessy)\PPT\Ch04\f04-34-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57600" y="2395538"/>
            <a:ext cx="4673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2765410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reeform 2"/>
          <p:cNvSpPr>
            <a:spLocks noChangeArrowheads="1"/>
          </p:cNvSpPr>
          <p:nvPr/>
        </p:nvSpPr>
        <p:spPr bwMode="auto">
          <a:xfrm>
            <a:off x="1930401" y="365126"/>
            <a:ext cx="36513" cy="36513"/>
          </a:xfrm>
          <a:custGeom>
            <a:avLst/>
            <a:gdLst>
              <a:gd name="T0" fmla="*/ 0 w 102"/>
              <a:gd name="T1" fmla="*/ 0 h 102"/>
              <a:gd name="T2" fmla="*/ 2147483647 w 102"/>
              <a:gd name="T3" fmla="*/ 0 h 102"/>
              <a:gd name="T4" fmla="*/ 2147483647 w 102"/>
              <a:gd name="T5" fmla="*/ 2147483647 h 102"/>
              <a:gd name="T6" fmla="*/ 0 w 102"/>
              <a:gd name="T7" fmla="*/ 2147483647 h 102"/>
              <a:gd name="T8" fmla="*/ 0 w 102"/>
              <a:gd name="T9" fmla="*/ 0 h 102"/>
              <a:gd name="T10" fmla="*/ 0 60000 65536"/>
              <a:gd name="T11" fmla="*/ 0 60000 65536"/>
              <a:gd name="T12" fmla="*/ 0 60000 65536"/>
              <a:gd name="T13" fmla="*/ 0 60000 65536"/>
              <a:gd name="T14" fmla="*/ 0 60000 65536"/>
              <a:gd name="T15" fmla="*/ 0 w 102"/>
              <a:gd name="T16" fmla="*/ 0 h 102"/>
              <a:gd name="T17" fmla="*/ 102 w 102"/>
              <a:gd name="T18" fmla="*/ 102 h 102"/>
            </a:gdLst>
            <a:ahLst/>
            <a:cxnLst>
              <a:cxn ang="T10">
                <a:pos x="T0" y="T1"/>
              </a:cxn>
              <a:cxn ang="T11">
                <a:pos x="T2" y="T3"/>
              </a:cxn>
              <a:cxn ang="T12">
                <a:pos x="T4" y="T5"/>
              </a:cxn>
              <a:cxn ang="T13">
                <a:pos x="T6" y="T7"/>
              </a:cxn>
              <a:cxn ang="T14">
                <a:pos x="T8" y="T9"/>
              </a:cxn>
            </a:cxnLst>
            <a:rect l="T15" t="T16" r="T17" b="T18"/>
            <a:pathLst>
              <a:path w="102" h="102">
                <a:moveTo>
                  <a:pt x="0" y="0"/>
                </a:moveTo>
                <a:lnTo>
                  <a:pt x="101" y="0"/>
                </a:lnTo>
                <a:lnTo>
                  <a:pt x="101" y="101"/>
                </a:lnTo>
                <a:lnTo>
                  <a:pt x="0" y="101"/>
                </a:lnTo>
                <a:lnTo>
                  <a:pt x="0" y="0"/>
                </a:lnTo>
              </a:path>
            </a:pathLst>
          </a:custGeom>
          <a:solidFill>
            <a:srgbClr val="FFFFFF"/>
          </a:solidFill>
          <a:ln>
            <a:noFill/>
          </a:ln>
          <a:extLst>
            <a:ext uri="{91240B29-F687-4F45-9708-019B960494DF}">
              <a14:hiddenLine xmlns:a14="http://schemas.microsoft.com/office/drawing/2010/main" w="9525" cap="flat">
                <a:solidFill>
                  <a:srgbClr val="000000"/>
                </a:solidFill>
                <a:bevel/>
                <a:headEnd/>
                <a:tailEnd/>
              </a14:hiddenLine>
            </a:ext>
          </a:extLst>
        </p:spPr>
        <p:txBody>
          <a:bodyPr wrap="none" anchor="ctr"/>
          <a:lstStyle/>
          <a:p>
            <a:endParaRPr lang="zh-CN" altLang="en-US"/>
          </a:p>
        </p:txBody>
      </p:sp>
      <p:sp>
        <p:nvSpPr>
          <p:cNvPr id="38915" name="Rectangle 1"/>
          <p:cNvSpPr>
            <a:spLocks noChangeArrowheads="1"/>
          </p:cNvSpPr>
          <p:nvPr/>
        </p:nvSpPr>
        <p:spPr bwMode="auto">
          <a:xfrm>
            <a:off x="1905000" y="4932363"/>
            <a:ext cx="228600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1100" b="1"/>
              <a:t>Figure 4.35 Sample tree.</a:t>
            </a:r>
          </a:p>
        </p:txBody>
      </p:sp>
      <p:pic>
        <p:nvPicPr>
          <p:cNvPr id="38916" name="Picture 2" descr="Y:\WOMAT\Production\Artfinal\0000000038\MKCAD\978-0-12-811905-1\0003165543\XMLLowres\f04-35-97801281190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57714" y="1371601"/>
            <a:ext cx="3074987" cy="241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1602062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a">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课程介绍" id="{C61E3E2B-F0E3-4728-A387-D87078CA91BB}" vid="{BAABA936-5DB4-4803-ADC9-9A0F60F94339}"/>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模板</Template>
  <TotalTime>424</TotalTime>
  <Words>9428</Words>
  <Application>Microsoft Office PowerPoint</Application>
  <PresentationFormat>宽屏</PresentationFormat>
  <Paragraphs>1624</Paragraphs>
  <Slides>149</Slides>
  <Notes>106</Notes>
  <HiddenSlides>5</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2</vt:i4>
      </vt:variant>
      <vt:variant>
        <vt:lpstr>幻灯片标题</vt:lpstr>
      </vt:variant>
      <vt:variant>
        <vt:i4>149</vt:i4>
      </vt:variant>
    </vt:vector>
  </HeadingPairs>
  <TitlesOfParts>
    <vt:vector size="167" baseType="lpstr">
      <vt:lpstr>AppleMyungjo</vt:lpstr>
      <vt:lpstr>굴림</vt:lpstr>
      <vt:lpstr>Monotype Sorts</vt:lpstr>
      <vt:lpstr>等线 Light</vt:lpstr>
      <vt:lpstr>宋体</vt:lpstr>
      <vt:lpstr>Microsoft YaHei</vt:lpstr>
      <vt:lpstr>Microsoft YaHei</vt:lpstr>
      <vt:lpstr>Arial</vt:lpstr>
      <vt:lpstr>Calibri</vt:lpstr>
      <vt:lpstr>Calibri Light</vt:lpstr>
      <vt:lpstr>Courier New</vt:lpstr>
      <vt:lpstr>Symbol</vt:lpstr>
      <vt:lpstr>Times New Roman</vt:lpstr>
      <vt:lpstr>Verdana</vt:lpstr>
      <vt:lpstr>Wingdings</vt:lpstr>
      <vt:lpstr>ca</vt:lpstr>
      <vt:lpstr>CorelPhotoPaint.Image.7</vt:lpstr>
      <vt:lpstr>图表</vt:lpstr>
      <vt:lpstr>向量处理</vt:lpstr>
      <vt:lpstr>Introduction</vt:lpstr>
      <vt:lpstr>Problems with conventional ILP approach</vt:lpstr>
      <vt:lpstr>Alternative Model: Vector Processing</vt:lpstr>
      <vt:lpstr>超级计算机(Supercomputer)</vt:lpstr>
      <vt:lpstr>CDC 6600 Seymour Cray, 1963</vt:lpstr>
      <vt:lpstr>CDC 6600:  A Load/Store Architecture</vt:lpstr>
      <vt:lpstr>CDC 6600: Datapath</vt:lpstr>
      <vt:lpstr>CDC 6600 ISA designed to simplify high performance implementation</vt:lpstr>
      <vt:lpstr>CDC6600: Vector Addition</vt:lpstr>
      <vt:lpstr>向量超级计算机</vt:lpstr>
      <vt:lpstr>Cray-1 (1976)</vt:lpstr>
      <vt:lpstr>Cray-2 (1985)</vt:lpstr>
      <vt:lpstr>Example Vector Machines</vt:lpstr>
      <vt:lpstr>Vector Linpack Performance (MFLOPS)</vt:lpstr>
      <vt:lpstr>Properties of Vector Processors</vt:lpstr>
      <vt:lpstr>Operation &amp; Instruction Count:  RISC vs. Vector Processor</vt:lpstr>
      <vt:lpstr>Styles of Vector Architectures</vt:lpstr>
      <vt:lpstr>Vector Register Architectures</vt:lpstr>
      <vt:lpstr>Components of Vector Processor</vt:lpstr>
      <vt:lpstr>VMIPS</vt:lpstr>
      <vt:lpstr>The vector architecture of RV64V</vt:lpstr>
      <vt:lpstr>VMIPS Instructions</vt:lpstr>
      <vt:lpstr>Vector Instructions</vt:lpstr>
      <vt:lpstr>DAXPY (Y = a * X + Y)   Assuming vectors X, Y are of length 64 </vt:lpstr>
      <vt:lpstr>Vector Execution Time</vt:lpstr>
      <vt:lpstr>Vector Start-up Time</vt:lpstr>
      <vt:lpstr>Vector Opt #1: Chaining</vt:lpstr>
      <vt:lpstr>Example Execution of Vector Code</vt:lpstr>
      <vt:lpstr>Chimes</vt:lpstr>
      <vt:lpstr>Example</vt:lpstr>
      <vt:lpstr>Challenges</vt:lpstr>
      <vt:lpstr>Multiple Lanes</vt:lpstr>
      <vt:lpstr>Vector Length</vt:lpstr>
      <vt:lpstr>Strip-mining for any Vector Length</vt:lpstr>
      <vt:lpstr>Vector Opt #2: Conditional Execution</vt:lpstr>
      <vt:lpstr>Vector Mask Registers</vt:lpstr>
      <vt:lpstr>Memory Banks</vt:lpstr>
      <vt:lpstr>Memory operations</vt:lpstr>
      <vt:lpstr>Non-unit Stride</vt:lpstr>
      <vt:lpstr>Access Vector with Stride</vt:lpstr>
      <vt:lpstr>Vector Opt #3: Sparse Matrices</vt:lpstr>
      <vt:lpstr>Example of Scatter-Gather</vt:lpstr>
      <vt:lpstr>Sparse Matrix Performance</vt:lpstr>
      <vt:lpstr>Programming Vec. Architectures</vt:lpstr>
      <vt:lpstr>Vector Surprise</vt:lpstr>
      <vt:lpstr>Virtial Processor Vector Model</vt:lpstr>
      <vt:lpstr>Vector Architectural State</vt:lpstr>
      <vt:lpstr>Vector Implementation</vt:lpstr>
      <vt:lpstr>Vector Terminology:  4 lanes, 2 vector functional units</vt:lpstr>
      <vt:lpstr>Vector Load/Store Units &amp; Memories</vt:lpstr>
      <vt:lpstr>Strip Mining</vt:lpstr>
      <vt:lpstr>Common Vector Metrics</vt:lpstr>
      <vt:lpstr>Compiler Vectorization on Cray XMP</vt:lpstr>
      <vt:lpstr>Vector Pitfalls</vt:lpstr>
      <vt:lpstr>Vector Advantages</vt:lpstr>
      <vt:lpstr>Vector Summary</vt:lpstr>
      <vt:lpstr>Other Issues about Vector</vt:lpstr>
      <vt:lpstr>Vector Example with dependency</vt:lpstr>
      <vt:lpstr>Straightforward Solution</vt:lpstr>
      <vt:lpstr>Review: Vector Surprise</vt:lpstr>
      <vt:lpstr>Novel Matrix Multiply Solution</vt:lpstr>
      <vt:lpstr>Original Vector Example with dependency</vt:lpstr>
      <vt:lpstr>Optimized Vector Example</vt:lpstr>
      <vt:lpstr>Optimized Vector Example cont’d</vt:lpstr>
      <vt:lpstr>Novel, Step #2</vt:lpstr>
      <vt:lpstr>Designing a Vector Processor</vt:lpstr>
      <vt:lpstr>Changes to scalar processor to run vector instructions</vt:lpstr>
      <vt:lpstr>How Pick Vector Length?</vt:lpstr>
      <vt:lpstr>How Pick Vector Length?</vt:lpstr>
      <vt:lpstr>How Pick Number of  Vector Registers?</vt:lpstr>
      <vt:lpstr>Context switch overhead</vt:lpstr>
      <vt:lpstr>Exception handling: External</vt:lpstr>
      <vt:lpstr>Exception handling: Arithmetic</vt:lpstr>
      <vt:lpstr>Exception handling: Page Faults</vt:lpstr>
      <vt:lpstr>Exception handling: Page Faults</vt:lpstr>
      <vt:lpstr>Masking and Flag Instructions</vt:lpstr>
      <vt:lpstr>Flag Instruction Ops</vt:lpstr>
      <vt:lpstr>Vectors Are Inexpensive</vt:lpstr>
      <vt:lpstr>MIPS R10000 vs. T0</vt:lpstr>
      <vt:lpstr>Vectors Lower Power</vt:lpstr>
      <vt:lpstr>Superscalar Energy Efficiency Even Worse</vt:lpstr>
      <vt:lpstr>New Architecture Directions</vt:lpstr>
      <vt:lpstr>Which is Faster: Statistical v. Real time v. SPEC Performance</vt:lpstr>
      <vt:lpstr>VLIW/Out-of-Order vs.  Modest Scalar+Vector</vt:lpstr>
      <vt:lpstr>Cost-performance of simple vs. OOO</vt:lpstr>
      <vt:lpstr>Summary</vt:lpstr>
      <vt:lpstr>Applications: Limited to scientific computing?</vt:lpstr>
      <vt:lpstr>Vector for Multimedia?</vt:lpstr>
      <vt:lpstr>MMX Instructions</vt:lpstr>
      <vt:lpstr>  Vectors and Variable Data Width</vt:lpstr>
      <vt:lpstr>Mediaprocesing:  Vectorizable? Vector Lengths?</vt:lpstr>
      <vt:lpstr>SIMD Extensions</vt:lpstr>
      <vt:lpstr>SIMD Implementations</vt:lpstr>
      <vt:lpstr>Example SIMD Code</vt:lpstr>
      <vt:lpstr>Roofline Performance Model</vt:lpstr>
      <vt:lpstr>Examples</vt:lpstr>
      <vt:lpstr>Graphical Processing Units</vt:lpstr>
      <vt:lpstr>Threads and Blocks</vt:lpstr>
      <vt:lpstr>NVIDIA GPU Architecture</vt:lpstr>
      <vt:lpstr>Example</vt:lpstr>
      <vt:lpstr>Terminology</vt:lpstr>
      <vt:lpstr>Example</vt:lpstr>
      <vt:lpstr>GPU Organization</vt:lpstr>
      <vt:lpstr>NVIDIA Instruction Set Arch.</vt:lpstr>
      <vt:lpstr>Conditional Branching</vt:lpstr>
      <vt:lpstr>Example</vt:lpstr>
      <vt:lpstr>NVIDIA GPU Memory Structures</vt:lpstr>
      <vt:lpstr>Pascal Architecture Innovations</vt:lpstr>
      <vt:lpstr>Pascal Multithreaded SIMD Proc.</vt:lpstr>
      <vt:lpstr>Vector Architectures vs GPUs</vt:lpstr>
      <vt:lpstr>SIMD Architectures vs GPUs</vt:lpstr>
      <vt:lpstr>Loop-Level Parallelism</vt:lpstr>
      <vt:lpstr>Loop-Level Parallelism</vt:lpstr>
      <vt:lpstr>Loop-Level Parallelism</vt:lpstr>
      <vt:lpstr>Loop-Level Parallelism</vt:lpstr>
      <vt:lpstr>Finding dependencies</vt:lpstr>
      <vt:lpstr>Finding dependencies</vt:lpstr>
      <vt:lpstr>Finding dependencies</vt:lpstr>
      <vt:lpstr>Finding dependencies</vt:lpstr>
      <vt:lpstr>Reductions</vt:lpstr>
      <vt:lpstr>Fallacies and Pitfalls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向量处理</dc:title>
  <dc:creator>Siat</dc:creator>
  <cp:lastModifiedBy>Zhimin Tang</cp:lastModifiedBy>
  <cp:revision>37</cp:revision>
  <dcterms:created xsi:type="dcterms:W3CDTF">2025-11-08T00:41:37Z</dcterms:created>
  <dcterms:modified xsi:type="dcterms:W3CDTF">2025-11-14T10:17:00Z</dcterms:modified>
</cp:coreProperties>
</file>