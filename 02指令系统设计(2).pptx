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3"/>
  </p:notesMasterIdLst>
  <p:sldIdLst>
    <p:sldId id="260" r:id="rId2"/>
    <p:sldId id="269" r:id="rId3"/>
    <p:sldId id="270" r:id="rId4"/>
    <p:sldId id="261" r:id="rId5"/>
    <p:sldId id="262" r:id="rId6"/>
    <p:sldId id="263" r:id="rId7"/>
    <p:sldId id="264" r:id="rId8"/>
    <p:sldId id="271" r:id="rId9"/>
    <p:sldId id="265" r:id="rId10"/>
    <p:sldId id="266" r:id="rId11"/>
    <p:sldId id="267" r:id="rId12"/>
    <p:sldId id="268" r:id="rId13"/>
    <p:sldId id="381" r:id="rId14"/>
    <p:sldId id="272" r:id="rId15"/>
    <p:sldId id="357" r:id="rId16"/>
    <p:sldId id="273" r:id="rId17"/>
    <p:sldId id="359" r:id="rId18"/>
    <p:sldId id="383" r:id="rId19"/>
    <p:sldId id="274" r:id="rId20"/>
    <p:sldId id="275" r:id="rId21"/>
    <p:sldId id="276" r:id="rId22"/>
    <p:sldId id="360" r:id="rId23"/>
    <p:sldId id="277" r:id="rId24"/>
    <p:sldId id="278" r:id="rId25"/>
    <p:sldId id="364" r:id="rId26"/>
    <p:sldId id="279" r:id="rId27"/>
    <p:sldId id="366" r:id="rId28"/>
    <p:sldId id="367" r:id="rId29"/>
    <p:sldId id="368" r:id="rId30"/>
    <p:sldId id="369" r:id="rId31"/>
    <p:sldId id="283" r:id="rId32"/>
    <p:sldId id="384" r:id="rId33"/>
    <p:sldId id="391" r:id="rId34"/>
    <p:sldId id="370" r:id="rId35"/>
    <p:sldId id="386" r:id="rId36"/>
    <p:sldId id="288" r:id="rId37"/>
    <p:sldId id="289" r:id="rId38"/>
    <p:sldId id="293" r:id="rId39"/>
    <p:sldId id="294" r:id="rId40"/>
    <p:sldId id="361" r:id="rId41"/>
    <p:sldId id="362" r:id="rId42"/>
    <p:sldId id="290" r:id="rId43"/>
    <p:sldId id="373" r:id="rId44"/>
    <p:sldId id="388" r:id="rId45"/>
    <p:sldId id="374" r:id="rId46"/>
    <p:sldId id="300" r:id="rId47"/>
    <p:sldId id="375" r:id="rId48"/>
    <p:sldId id="301" r:id="rId49"/>
    <p:sldId id="376" r:id="rId50"/>
    <p:sldId id="307" r:id="rId51"/>
    <p:sldId id="308" r:id="rId52"/>
    <p:sldId id="309" r:id="rId53"/>
    <p:sldId id="310" r:id="rId54"/>
    <p:sldId id="385" r:id="rId55"/>
    <p:sldId id="389" r:id="rId56"/>
    <p:sldId id="390" r:id="rId57"/>
    <p:sldId id="286" r:id="rId58"/>
    <p:sldId id="284" r:id="rId59"/>
    <p:sldId id="287" r:id="rId60"/>
    <p:sldId id="382" r:id="rId61"/>
    <p:sldId id="291" r:id="rId62"/>
    <p:sldId id="378" r:id="rId63"/>
    <p:sldId id="379" r:id="rId64"/>
    <p:sldId id="380" r:id="rId65"/>
    <p:sldId id="387" r:id="rId66"/>
    <p:sldId id="292" r:id="rId67"/>
    <p:sldId id="312" r:id="rId68"/>
    <p:sldId id="313" r:id="rId69"/>
    <p:sldId id="314" r:id="rId70"/>
    <p:sldId id="315" r:id="rId71"/>
    <p:sldId id="316" r:id="rId72"/>
    <p:sldId id="317" r:id="rId73"/>
    <p:sldId id="347" r:id="rId74"/>
    <p:sldId id="349" r:id="rId75"/>
    <p:sldId id="350" r:id="rId76"/>
    <p:sldId id="351" r:id="rId77"/>
    <p:sldId id="352" r:id="rId78"/>
    <p:sldId id="353" r:id="rId79"/>
    <p:sldId id="354" r:id="rId80"/>
    <p:sldId id="319" r:id="rId81"/>
    <p:sldId id="321" r:id="rId8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varScale="1">
        <p:scale>
          <a:sx n="93" d="100"/>
          <a:sy n="93" d="100"/>
        </p:scale>
        <p:origin x="211" y="6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C067F6-821D-4C0B-B1E5-4F285FE37FFC}" type="datetimeFigureOut">
              <a:rPr lang="zh-CN" altLang="en-US" smtClean="0"/>
              <a:t>2025/9/21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0D4ECD-B886-4058-9A63-521AE449AF83}" type="slidenum">
              <a:rPr lang="zh-CN" altLang="en-US" smtClean="0"/>
              <a:t>‹#›</a:t>
            </a:fld>
            <a:endParaRPr lang="zh-CN" altLang="en-US"/>
          </a:p>
        </p:txBody>
      </p:sp>
    </p:spTree>
    <p:extLst>
      <p:ext uri="{BB962C8B-B14F-4D97-AF65-F5344CB8AC3E}">
        <p14:creationId xmlns:p14="http://schemas.microsoft.com/office/powerpoint/2010/main" val="1804521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ln/>
        </p:spPr>
        <p:txBody>
          <a:bodyPr/>
          <a:lstStyle/>
          <a:p>
            <a:endParaRPr lang="zh-CN" altLang="zh-CN"/>
          </a:p>
        </p:txBody>
      </p:sp>
      <p:sp>
        <p:nvSpPr>
          <p:cNvPr id="5123" name="Rectangle 3"/>
          <p:cNvSpPr>
            <a:spLocks noGrp="1" noRot="1" noChangeAspect="1" noChangeArrowheads="1" noTextEdit="1"/>
          </p:cNvSpPr>
          <p:nvPr>
            <p:ph type="sldImg"/>
          </p:nvPr>
        </p:nvSpPr>
        <p:spPr>
          <a:xfrm>
            <a:off x="2306638" y="442913"/>
            <a:ext cx="4546600" cy="2559050"/>
          </a:xfrm>
          <a:ln/>
        </p:spPr>
      </p:sp>
    </p:spTree>
    <p:extLst>
      <p:ext uri="{BB962C8B-B14F-4D97-AF65-F5344CB8AC3E}">
        <p14:creationId xmlns:p14="http://schemas.microsoft.com/office/powerpoint/2010/main" val="511978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a:noFill/>
          <a:ln/>
        </p:spPr>
        <p:txBody>
          <a:bodyPr/>
          <a:lstStyle/>
          <a:p>
            <a:r>
              <a:rPr lang="en-US" altLang="zh-CN"/>
              <a:t>Let me summarize what I have said so far.</a:t>
            </a:r>
          </a:p>
          <a:p>
            <a:r>
              <a:rPr lang="en-US" altLang="zh-CN"/>
              <a:t>The most important thing I want you to remember is that: all computers, no matter how complicated or expensive,  can be divided into five components:</a:t>
            </a:r>
          </a:p>
          <a:p>
            <a:r>
              <a:rPr lang="en-US" altLang="zh-CN"/>
              <a:t>(1) The datapath and (2) control that make up the processor.</a:t>
            </a:r>
          </a:p>
          <a:p>
            <a:r>
              <a:rPr lang="en-US" altLang="zh-CN"/>
              <a:t>(3) The memory system that supplies data to the processor.</a:t>
            </a:r>
          </a:p>
          <a:p>
            <a:r>
              <a:rPr lang="en-US" altLang="zh-CN"/>
              <a:t>And last but not least, the (4) input and (5) output devices that get data in and out of the computer.</a:t>
            </a:r>
          </a:p>
          <a:p>
            <a:r>
              <a:rPr lang="en-US" altLang="zh-CN"/>
              <a:t>One thing about memory is that Not all </a:t>
            </a:r>
            <a:r>
              <a:rPr lang="zh-CN" altLang="en-US"/>
              <a:t>搈</a:t>
            </a:r>
            <a:r>
              <a:rPr lang="en-US" altLang="zh-CN"/>
              <a:t>emory?are created equally.</a:t>
            </a:r>
          </a:p>
          <a:p>
            <a:r>
              <a:rPr lang="en-US" altLang="zh-CN"/>
              <a:t>Some memory are faster but more expensive and we place them closer to the processor and call them </a:t>
            </a:r>
            <a:r>
              <a:rPr lang="zh-CN" altLang="en-US"/>
              <a:t>揷</a:t>
            </a:r>
            <a:r>
              <a:rPr lang="en-US" altLang="zh-CN"/>
              <a:t>ache.</a:t>
            </a:r>
          </a:p>
          <a:p>
            <a:r>
              <a:rPr lang="en-US" altLang="zh-CN"/>
              <a:t>The main memory can be slower than the cache so we usually use less expensive parts so we can have more of them.</a:t>
            </a:r>
          </a:p>
          <a:p>
            <a:r>
              <a:rPr lang="en-US" altLang="zh-CN"/>
              <a:t>Finally as you can see from the last few slides, the input and output devices usually has the messiest organization.  There are several reasons for it:</a:t>
            </a:r>
          </a:p>
          <a:p>
            <a:r>
              <a:rPr lang="en-US" altLang="zh-CN"/>
              <a:t>(1) First of all, I/O devices can have a wide range of speed.</a:t>
            </a:r>
          </a:p>
          <a:p>
            <a:r>
              <a:rPr lang="en-US" altLang="zh-CN"/>
              <a:t>(2) Then I/O devices also have a wide range of requirements.</a:t>
            </a:r>
          </a:p>
          <a:p>
            <a:r>
              <a:rPr lang="en-US" altLang="zh-CN"/>
              <a:t>(s) Finally to make matters worse, historically I/O has attracted the least amount of research interest.  But hopefully this is changing.</a:t>
            </a:r>
          </a:p>
          <a:p>
            <a:r>
              <a:rPr lang="en-US" altLang="zh-CN"/>
              <a:t>In this class, you will learn about all these five components and we will try to make this as enjoyable as possible.  So have fun.</a:t>
            </a:r>
          </a:p>
        </p:txBody>
      </p:sp>
      <p:sp>
        <p:nvSpPr>
          <p:cNvPr id="9219" name="Rectangle 3"/>
          <p:cNvSpPr>
            <a:spLocks noGrp="1" noRot="1" noChangeAspect="1" noChangeArrowheads="1" noTextEdit="1"/>
          </p:cNvSpPr>
          <p:nvPr>
            <p:ph type="sldImg"/>
          </p:nvPr>
        </p:nvSpPr>
        <p:spPr>
          <a:xfrm>
            <a:off x="2306638" y="442913"/>
            <a:ext cx="4546600" cy="2559050"/>
          </a:xfrm>
          <a:ln/>
        </p:spPr>
      </p:sp>
    </p:spTree>
    <p:extLst>
      <p:ext uri="{BB962C8B-B14F-4D97-AF65-F5344CB8AC3E}">
        <p14:creationId xmlns:p14="http://schemas.microsoft.com/office/powerpoint/2010/main" val="2333372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48262BAF-D197-45C2-A049-CC4E0EE4E6DE}" type="slidenum">
              <a:rPr lang="en-US" altLang="en-US">
                <a:solidFill>
                  <a:srgbClr val="000000"/>
                </a:solidFill>
                <a:latin typeface="Times New Roman" panose="02020603050405020304" pitchFamily="18" charset="0"/>
              </a:rPr>
              <a:pPr/>
              <a:t>13</a:t>
            </a:fld>
            <a:endParaRPr lang="en-US" altLang="en-US">
              <a:solidFill>
                <a:srgbClr val="000000"/>
              </a:solidFill>
              <a:latin typeface="Times New Roman" panose="02020603050405020304" pitchFamily="18" charset="0"/>
            </a:endParaRPr>
          </a:p>
        </p:txBody>
      </p:sp>
      <p:sp>
        <p:nvSpPr>
          <p:cNvPr id="61443"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1444"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553269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body" idx="1"/>
          </p:nvPr>
        </p:nvSpPr>
        <p:spPr>
          <a:noFill/>
          <a:ln/>
        </p:spPr>
        <p:txBody>
          <a:bodyPr/>
          <a:lstStyle/>
          <a:p>
            <a:r>
              <a:rPr lang="en-US" altLang="zh-CN"/>
              <a:t>Invented index register</a:t>
            </a:r>
          </a:p>
          <a:p>
            <a:r>
              <a:rPr lang="en-US" altLang="zh-CN"/>
              <a:t>Reverse polish stack = HP calculator</a:t>
            </a:r>
          </a:p>
          <a:p>
            <a:r>
              <a:rPr lang="en-US" altLang="zh-CN"/>
              <a:t>GPR = last 20 years</a:t>
            </a:r>
          </a:p>
          <a:p>
            <a:r>
              <a:rPr lang="en-US" altLang="zh-CN"/>
              <a:t>L/S variant = last 10 years</a:t>
            </a:r>
          </a:p>
          <a:p>
            <a:endParaRPr lang="en-US" altLang="zh-CN"/>
          </a:p>
        </p:txBody>
      </p:sp>
      <p:sp>
        <p:nvSpPr>
          <p:cNvPr id="15363" name="Rectangle 3"/>
          <p:cNvSpPr>
            <a:spLocks noGrp="1" noRot="1" noChangeAspect="1" noChangeArrowheads="1" noTextEdit="1"/>
          </p:cNvSpPr>
          <p:nvPr>
            <p:ph type="sldImg"/>
          </p:nvPr>
        </p:nvSpPr>
        <p:spPr>
          <a:xfrm>
            <a:off x="2306638" y="442913"/>
            <a:ext cx="4546600" cy="2559050"/>
          </a:xfrm>
          <a:ln/>
        </p:spPr>
      </p:sp>
    </p:spTree>
    <p:extLst>
      <p:ext uri="{BB962C8B-B14F-4D97-AF65-F5344CB8AC3E}">
        <p14:creationId xmlns:p14="http://schemas.microsoft.com/office/powerpoint/2010/main" val="1528984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75560C64-EBB4-40EF-AB11-1E333C08C799}" type="slidenum">
              <a:rPr lang="en-US" altLang="en-US">
                <a:solidFill>
                  <a:srgbClr val="000000"/>
                </a:solidFill>
                <a:latin typeface="Times New Roman" panose="02020603050405020304" pitchFamily="18" charset="0"/>
              </a:rPr>
              <a:pPr/>
              <a:t>15</a:t>
            </a:fld>
            <a:endParaRPr lang="en-US" altLang="en-US">
              <a:solidFill>
                <a:srgbClr val="000000"/>
              </a:solidFill>
              <a:latin typeface="Times New Roman" panose="02020603050405020304" pitchFamily="18" charset="0"/>
            </a:endParaRPr>
          </a:p>
        </p:txBody>
      </p:sp>
      <p:sp>
        <p:nvSpPr>
          <p:cNvPr id="38915"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3891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2581136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33735E25-2620-4435-B914-E866F93025D4}" type="slidenum">
              <a:rPr lang="en-US" altLang="en-US">
                <a:solidFill>
                  <a:srgbClr val="000000"/>
                </a:solidFill>
                <a:latin typeface="Times New Roman" panose="02020603050405020304" pitchFamily="18" charset="0"/>
              </a:rPr>
              <a:pPr/>
              <a:t>17</a:t>
            </a:fld>
            <a:endParaRPr lang="en-US" altLang="en-US">
              <a:solidFill>
                <a:srgbClr val="000000"/>
              </a:solidFill>
              <a:latin typeface="Times New Roman" panose="02020603050405020304" pitchFamily="18" charset="0"/>
            </a:endParaRPr>
          </a:p>
        </p:txBody>
      </p:sp>
      <p:sp>
        <p:nvSpPr>
          <p:cNvPr id="40963"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40964"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502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4C9E8CDA-A7CE-41BB-9219-6EAB0FBE581D}" type="slidenum">
              <a:rPr lang="en-US" altLang="en-US">
                <a:solidFill>
                  <a:srgbClr val="000000"/>
                </a:solidFill>
                <a:latin typeface="Times New Roman" panose="02020603050405020304" pitchFamily="18" charset="0"/>
              </a:rPr>
              <a:pPr/>
              <a:t>18</a:t>
            </a:fld>
            <a:endParaRPr lang="en-US" altLang="en-US">
              <a:solidFill>
                <a:srgbClr val="000000"/>
              </a:solidFill>
              <a:latin typeface="Times New Roman" panose="02020603050405020304" pitchFamily="18" charset="0"/>
            </a:endParaRPr>
          </a:p>
        </p:txBody>
      </p:sp>
      <p:sp>
        <p:nvSpPr>
          <p:cNvPr id="41987"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4198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942545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28150B3D-8C66-4E7D-B01F-8B9A1D4DCC93}" type="slidenum">
              <a:rPr lang="en-US" altLang="en-US">
                <a:solidFill>
                  <a:srgbClr val="000000"/>
                </a:solidFill>
                <a:latin typeface="Times New Roman" panose="02020603050405020304" pitchFamily="18" charset="0"/>
              </a:rPr>
              <a:pPr eaLnBrk="1"/>
              <a:t>22</a:t>
            </a:fld>
            <a:endParaRPr lang="en-US" altLang="en-US">
              <a:solidFill>
                <a:srgbClr val="000000"/>
              </a:solidFill>
              <a:latin typeface="Times New Roman" panose="02020603050405020304" pitchFamily="18" charset="0"/>
            </a:endParaRPr>
          </a:p>
        </p:txBody>
      </p:sp>
      <p:sp>
        <p:nvSpPr>
          <p:cNvPr id="37891"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892"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12060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5515DC36-E06B-45AA-9923-ED3D4ABA38F0}" type="slidenum">
              <a:rPr lang="en-US" altLang="en-US">
                <a:solidFill>
                  <a:srgbClr val="000000"/>
                </a:solidFill>
                <a:latin typeface="Times New Roman" panose="02020603050405020304" pitchFamily="18" charset="0"/>
              </a:rPr>
              <a:pPr/>
              <a:t>25</a:t>
            </a:fld>
            <a:endParaRPr lang="en-US" altLang="en-US">
              <a:solidFill>
                <a:srgbClr val="000000"/>
              </a:solidFill>
              <a:latin typeface="Times New Roman" panose="02020603050405020304" pitchFamily="18" charset="0"/>
            </a:endParaRPr>
          </a:p>
        </p:txBody>
      </p:sp>
      <p:sp>
        <p:nvSpPr>
          <p:cNvPr id="43011"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43012"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1637833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a:xfrm>
            <a:off x="2306638" y="442913"/>
            <a:ext cx="4546600" cy="2559050"/>
          </a:xfrm>
          <a:ln/>
        </p:spPr>
      </p:sp>
      <p:sp>
        <p:nvSpPr>
          <p:cNvPr id="23555" name="Rectangle 3"/>
          <p:cNvSpPr>
            <a:spLocks noChangeArrowheads="1"/>
          </p:cNvSpPr>
          <p:nvPr/>
        </p:nvSpPr>
        <p:spPr bwMode="auto">
          <a:xfrm>
            <a:off x="1128713" y="3509963"/>
            <a:ext cx="2954337" cy="157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t>Autoinc/dec change </a:t>
            </a:r>
            <a:r>
              <a:rPr lang="en-US" altLang="zh-CN" b="1" u="sng"/>
              <a:t>source</a:t>
            </a:r>
            <a:r>
              <a:rPr lang="en-US" altLang="zh-CN"/>
              <a:t> register!</a:t>
            </a:r>
          </a:p>
          <a:p>
            <a:r>
              <a:rPr lang="en-US" altLang="zh-CN"/>
              <a:t>Why auto inc/dec</a:t>
            </a:r>
          </a:p>
          <a:p>
            <a:endParaRPr lang="en-US" altLang="zh-CN"/>
          </a:p>
          <a:p>
            <a:r>
              <a:rPr lang="en-US" altLang="zh-CN"/>
              <a:t>Why reverse order of inc/dec?</a:t>
            </a:r>
          </a:p>
          <a:p>
            <a:endParaRPr lang="en-US" altLang="zh-CN"/>
          </a:p>
          <a:p>
            <a:r>
              <a:rPr lang="en-US" altLang="zh-CN"/>
              <a:t>Scaled multiples by d, a small constant</a:t>
            </a:r>
          </a:p>
          <a:p>
            <a:r>
              <a:rPr lang="en-US" altLang="zh-CN"/>
              <a:t>Why? Hint: byte addressing</a:t>
            </a:r>
          </a:p>
        </p:txBody>
      </p:sp>
    </p:spTree>
    <p:extLst>
      <p:ext uri="{BB962C8B-B14F-4D97-AF65-F5344CB8AC3E}">
        <p14:creationId xmlns:p14="http://schemas.microsoft.com/office/powerpoint/2010/main" val="2239900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7F82A4EA-C894-43ED-8E2F-963CBA4E9EA2}" type="slidenum">
              <a:rPr lang="en-US" altLang="en-US">
                <a:solidFill>
                  <a:srgbClr val="000000"/>
                </a:solidFill>
                <a:latin typeface="Times New Roman" panose="02020603050405020304" pitchFamily="18" charset="0"/>
              </a:rPr>
              <a:pPr/>
              <a:t>27</a:t>
            </a:fld>
            <a:endParaRPr lang="en-US" altLang="en-US">
              <a:solidFill>
                <a:srgbClr val="000000"/>
              </a:solidFill>
              <a:latin typeface="Times New Roman" panose="02020603050405020304" pitchFamily="18" charset="0"/>
            </a:endParaRPr>
          </a:p>
        </p:txBody>
      </p:sp>
      <p:sp>
        <p:nvSpPr>
          <p:cNvPr id="45059"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45060"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6312171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2"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D1C85847-0454-454B-B949-C6E210BCA014}" type="slidenum">
              <a:rPr lang="en-US" altLang="en-US">
                <a:solidFill>
                  <a:srgbClr val="000000"/>
                </a:solidFill>
                <a:latin typeface="Times New Roman" panose="02020603050405020304" pitchFamily="18" charset="0"/>
              </a:rPr>
              <a:pPr/>
              <a:t>28</a:t>
            </a:fld>
            <a:endParaRPr lang="en-US" altLang="en-US">
              <a:solidFill>
                <a:srgbClr val="000000"/>
              </a:solidFill>
              <a:latin typeface="Times New Roman" panose="02020603050405020304" pitchFamily="18" charset="0"/>
            </a:endParaRPr>
          </a:p>
        </p:txBody>
      </p:sp>
      <p:sp>
        <p:nvSpPr>
          <p:cNvPr id="46083"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46084"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0902805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2587D0C8-BE44-4356-9AC4-245524B85A26}" type="slidenum">
              <a:rPr lang="en-US" altLang="en-US">
                <a:solidFill>
                  <a:srgbClr val="000000"/>
                </a:solidFill>
                <a:latin typeface="Times New Roman" panose="02020603050405020304" pitchFamily="18" charset="0"/>
              </a:rPr>
              <a:pPr/>
              <a:t>29</a:t>
            </a:fld>
            <a:endParaRPr lang="en-US" altLang="en-US">
              <a:solidFill>
                <a:srgbClr val="000000"/>
              </a:solidFill>
              <a:latin typeface="Times New Roman" panose="02020603050405020304" pitchFamily="18" charset="0"/>
            </a:endParaRPr>
          </a:p>
        </p:txBody>
      </p:sp>
      <p:sp>
        <p:nvSpPr>
          <p:cNvPr id="47107"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4710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2906916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086BDE43-A0DA-4835-ABA8-584669686929}" type="slidenum">
              <a:rPr lang="en-US" altLang="en-US">
                <a:solidFill>
                  <a:srgbClr val="000000"/>
                </a:solidFill>
                <a:latin typeface="Times New Roman" panose="02020603050405020304" pitchFamily="18" charset="0"/>
              </a:rPr>
              <a:pPr/>
              <a:t>30</a:t>
            </a:fld>
            <a:endParaRPr lang="en-US" altLang="en-US">
              <a:solidFill>
                <a:srgbClr val="000000"/>
              </a:solidFill>
              <a:latin typeface="Times New Roman" panose="02020603050405020304" pitchFamily="18" charset="0"/>
            </a:endParaRPr>
          </a:p>
        </p:txBody>
      </p:sp>
      <p:sp>
        <p:nvSpPr>
          <p:cNvPr id="48131"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48132"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545370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A1E6B490-B954-4D98-B242-C27E60D6F637}" type="slidenum">
              <a:rPr lang="en-US" altLang="en-US">
                <a:solidFill>
                  <a:srgbClr val="000000"/>
                </a:solidFill>
                <a:latin typeface="Times New Roman" panose="02020603050405020304" pitchFamily="18" charset="0"/>
              </a:rPr>
              <a:pPr/>
              <a:t>34</a:t>
            </a:fld>
            <a:endParaRPr lang="en-US" altLang="en-US">
              <a:solidFill>
                <a:srgbClr val="000000"/>
              </a:solidFill>
              <a:latin typeface="Times New Roman" panose="02020603050405020304" pitchFamily="18" charset="0"/>
            </a:endParaRPr>
          </a:p>
        </p:txBody>
      </p:sp>
      <p:sp>
        <p:nvSpPr>
          <p:cNvPr id="49155"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4915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5509625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6FA693A0-1075-49AB-87CB-920504F3FE38}" type="slidenum">
              <a:rPr lang="en-US" altLang="en-US">
                <a:solidFill>
                  <a:srgbClr val="000000"/>
                </a:solidFill>
                <a:latin typeface="Times New Roman" panose="02020603050405020304" pitchFamily="18" charset="0"/>
              </a:rPr>
              <a:pPr/>
              <a:t>35</a:t>
            </a:fld>
            <a:endParaRPr lang="en-US" altLang="en-US">
              <a:solidFill>
                <a:srgbClr val="000000"/>
              </a:solidFill>
              <a:latin typeface="Times New Roman" panose="02020603050405020304" pitchFamily="18" charset="0"/>
            </a:endParaRPr>
          </a:p>
        </p:txBody>
      </p:sp>
      <p:sp>
        <p:nvSpPr>
          <p:cNvPr id="68611"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8612"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6918337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6ABCE278-F1A6-4789-BD24-2FC9C08B8EBC}" type="slidenum">
              <a:rPr lang="en-US" altLang="en-US">
                <a:solidFill>
                  <a:srgbClr val="000000"/>
                </a:solidFill>
                <a:latin typeface="Times New Roman" panose="02020603050405020304" pitchFamily="18" charset="0"/>
              </a:rPr>
              <a:pPr eaLnBrk="1"/>
              <a:t>40</a:t>
            </a:fld>
            <a:endParaRPr lang="en-US" altLang="en-US">
              <a:solidFill>
                <a:srgbClr val="000000"/>
              </a:solidFill>
              <a:latin typeface="Times New Roman" panose="02020603050405020304" pitchFamily="18" charset="0"/>
            </a:endParaRPr>
          </a:p>
        </p:txBody>
      </p:sp>
      <p:sp>
        <p:nvSpPr>
          <p:cNvPr id="38915"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916"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7989645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BD9169D9-F0F0-416E-90F8-99A548B17F5B}" type="slidenum">
              <a:rPr lang="en-US" altLang="en-US">
                <a:solidFill>
                  <a:srgbClr val="000000"/>
                </a:solidFill>
                <a:latin typeface="Times New Roman" panose="02020603050405020304" pitchFamily="18" charset="0"/>
              </a:rPr>
              <a:pPr eaLnBrk="1"/>
              <a:t>41</a:t>
            </a:fld>
            <a:endParaRPr lang="en-US" altLang="en-US">
              <a:solidFill>
                <a:srgbClr val="000000"/>
              </a:solidFill>
              <a:latin typeface="Times New Roman" panose="02020603050405020304" pitchFamily="18" charset="0"/>
            </a:endParaRPr>
          </a:p>
        </p:txBody>
      </p:sp>
      <p:sp>
        <p:nvSpPr>
          <p:cNvPr id="39939"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940"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7143873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646C81A0-52C8-498D-B695-BC6ABD7B75A1}" type="slidenum">
              <a:rPr lang="en-US" altLang="en-US">
                <a:solidFill>
                  <a:srgbClr val="000000"/>
                </a:solidFill>
                <a:latin typeface="Times New Roman" panose="02020603050405020304" pitchFamily="18" charset="0"/>
              </a:rPr>
              <a:pPr/>
              <a:t>43</a:t>
            </a:fld>
            <a:endParaRPr lang="en-US" altLang="en-US">
              <a:solidFill>
                <a:srgbClr val="000000"/>
              </a:solidFill>
              <a:latin typeface="Times New Roman" panose="02020603050405020304" pitchFamily="18" charset="0"/>
            </a:endParaRPr>
          </a:p>
        </p:txBody>
      </p:sp>
      <p:sp>
        <p:nvSpPr>
          <p:cNvPr id="52227"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5222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1970205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633E067D-4C6D-4848-B306-F2EAFD066E36}" type="slidenum">
              <a:rPr lang="en-US" altLang="en-US">
                <a:solidFill>
                  <a:srgbClr val="000000"/>
                </a:solidFill>
                <a:latin typeface="Times New Roman" panose="02020603050405020304" pitchFamily="18" charset="0"/>
              </a:rPr>
              <a:pPr/>
              <a:t>45</a:t>
            </a:fld>
            <a:endParaRPr lang="en-US" altLang="en-US">
              <a:solidFill>
                <a:srgbClr val="000000"/>
              </a:solidFill>
              <a:latin typeface="Times New Roman" panose="02020603050405020304" pitchFamily="18" charset="0"/>
            </a:endParaRPr>
          </a:p>
        </p:txBody>
      </p:sp>
      <p:sp>
        <p:nvSpPr>
          <p:cNvPr id="53251"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53252"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496579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5B20585C-4D7D-4702-98C2-B5C50E84465C}" type="slidenum">
              <a:rPr lang="en-US" altLang="en-US">
                <a:solidFill>
                  <a:srgbClr val="000000"/>
                </a:solidFill>
                <a:latin typeface="Times New Roman" panose="02020603050405020304" pitchFamily="18" charset="0"/>
              </a:rPr>
              <a:pPr/>
              <a:t>47</a:t>
            </a:fld>
            <a:endParaRPr lang="en-US" altLang="en-US">
              <a:solidFill>
                <a:srgbClr val="000000"/>
              </a:solidFill>
              <a:latin typeface="Times New Roman" panose="02020603050405020304" pitchFamily="18" charset="0"/>
            </a:endParaRPr>
          </a:p>
        </p:txBody>
      </p:sp>
      <p:sp>
        <p:nvSpPr>
          <p:cNvPr id="54275"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5427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27772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976EFCEA-B7ED-45A0-8579-FEA18391CECF}" type="slidenum">
              <a:rPr lang="en-US" altLang="en-US">
                <a:solidFill>
                  <a:srgbClr val="000000"/>
                </a:solidFill>
                <a:latin typeface="Times New Roman" panose="02020603050405020304" pitchFamily="18" charset="0"/>
              </a:rPr>
              <a:pPr/>
              <a:t>49</a:t>
            </a:fld>
            <a:endParaRPr lang="en-US" altLang="en-US">
              <a:solidFill>
                <a:srgbClr val="000000"/>
              </a:solidFill>
              <a:latin typeface="Times New Roman" panose="02020603050405020304" pitchFamily="18" charset="0"/>
            </a:endParaRPr>
          </a:p>
        </p:txBody>
      </p:sp>
      <p:sp>
        <p:nvSpPr>
          <p:cNvPr id="55299"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55300"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520237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28150B3D-8C66-4E7D-B01F-8B9A1D4DCC93}" type="slidenum">
              <a:rPr lang="en-US" altLang="en-US">
                <a:solidFill>
                  <a:srgbClr val="000000"/>
                </a:solidFill>
                <a:latin typeface="Times New Roman" panose="02020603050405020304" pitchFamily="18" charset="0"/>
              </a:rPr>
              <a:pPr eaLnBrk="1"/>
              <a:t>54</a:t>
            </a:fld>
            <a:endParaRPr lang="en-US" altLang="en-US">
              <a:solidFill>
                <a:srgbClr val="000000"/>
              </a:solidFill>
              <a:latin typeface="Times New Roman" panose="02020603050405020304" pitchFamily="18" charset="0"/>
            </a:endParaRPr>
          </a:p>
        </p:txBody>
      </p:sp>
      <p:sp>
        <p:nvSpPr>
          <p:cNvPr id="37891"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892"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6560749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8C23535D-B26D-4CE3-9020-A01C3DDCB18B}" type="slidenum">
              <a:rPr lang="en-US" altLang="en-US">
                <a:solidFill>
                  <a:srgbClr val="000000"/>
                </a:solidFill>
                <a:latin typeface="Times New Roman" panose="02020603050405020304" pitchFamily="18" charset="0"/>
              </a:rPr>
              <a:pPr eaLnBrk="1"/>
              <a:t>60</a:t>
            </a:fld>
            <a:endParaRPr lang="en-US" altLang="en-US">
              <a:solidFill>
                <a:srgbClr val="000000"/>
              </a:solidFill>
              <a:latin typeface="Times New Roman" panose="02020603050405020304" pitchFamily="18" charset="0"/>
            </a:endParaRPr>
          </a:p>
        </p:txBody>
      </p:sp>
      <p:sp>
        <p:nvSpPr>
          <p:cNvPr id="40963"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0964" name="Rectangle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990158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DC1516CC-FBF4-4959-9EC2-EC03707AA08F}" type="slidenum">
              <a:rPr lang="en-US" altLang="en-US">
                <a:solidFill>
                  <a:srgbClr val="000000"/>
                </a:solidFill>
                <a:latin typeface="Times New Roman" panose="02020603050405020304" pitchFamily="18" charset="0"/>
              </a:rPr>
              <a:pPr/>
              <a:t>62</a:t>
            </a:fld>
            <a:endParaRPr lang="en-US" altLang="en-US">
              <a:solidFill>
                <a:srgbClr val="000000"/>
              </a:solidFill>
              <a:latin typeface="Times New Roman" panose="02020603050405020304" pitchFamily="18" charset="0"/>
            </a:endParaRPr>
          </a:p>
        </p:txBody>
      </p:sp>
      <p:sp>
        <p:nvSpPr>
          <p:cNvPr id="57347"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5734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8997631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1FE7268D-4EB1-43AF-B100-1166DFE2E3FF}" type="slidenum">
              <a:rPr lang="en-US" altLang="en-US">
                <a:solidFill>
                  <a:srgbClr val="000000"/>
                </a:solidFill>
                <a:latin typeface="Times New Roman" panose="02020603050405020304" pitchFamily="18" charset="0"/>
              </a:rPr>
              <a:pPr/>
              <a:t>63</a:t>
            </a:fld>
            <a:endParaRPr lang="en-US" altLang="en-US">
              <a:solidFill>
                <a:srgbClr val="000000"/>
              </a:solidFill>
              <a:latin typeface="Times New Roman" panose="02020603050405020304" pitchFamily="18" charset="0"/>
            </a:endParaRPr>
          </a:p>
        </p:txBody>
      </p:sp>
      <p:sp>
        <p:nvSpPr>
          <p:cNvPr id="58371"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58372"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2767344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AAF2F5B4-A430-4ED0-91E1-BE2365D637A8}" type="slidenum">
              <a:rPr lang="en-US" altLang="en-US">
                <a:solidFill>
                  <a:srgbClr val="000000"/>
                </a:solidFill>
                <a:latin typeface="Times New Roman" panose="02020603050405020304" pitchFamily="18" charset="0"/>
              </a:rPr>
              <a:pPr/>
              <a:t>64</a:t>
            </a:fld>
            <a:endParaRPr lang="en-US" altLang="en-US">
              <a:solidFill>
                <a:srgbClr val="000000"/>
              </a:solidFill>
              <a:latin typeface="Times New Roman" panose="02020603050405020304" pitchFamily="18" charset="0"/>
            </a:endParaRPr>
          </a:p>
        </p:txBody>
      </p:sp>
      <p:sp>
        <p:nvSpPr>
          <p:cNvPr id="59395"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5939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9156933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E500C3D8-D9CF-4210-8D7A-DF85415AC9E9}" type="slidenum">
              <a:rPr lang="en-US" altLang="en-US">
                <a:solidFill>
                  <a:srgbClr val="000000"/>
                </a:solidFill>
                <a:latin typeface="Times New Roman" panose="02020603050405020304" pitchFamily="18" charset="0"/>
              </a:rPr>
              <a:pPr/>
              <a:t>65</a:t>
            </a:fld>
            <a:endParaRPr lang="en-US" altLang="en-US">
              <a:solidFill>
                <a:srgbClr val="000000"/>
              </a:solidFill>
              <a:latin typeface="Times New Roman" panose="02020603050405020304" pitchFamily="18" charset="0"/>
            </a:endParaRPr>
          </a:p>
        </p:txBody>
      </p:sp>
      <p:sp>
        <p:nvSpPr>
          <p:cNvPr id="69635"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963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684500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829B20AE-7383-43CF-B43D-B22508BB4CC5}" type="slidenum">
              <a:rPr lang="en-US" altLang="en-US">
                <a:solidFill>
                  <a:srgbClr val="000000"/>
                </a:solidFill>
                <a:latin typeface="Times New Roman" panose="02020603050405020304" pitchFamily="18" charset="0"/>
              </a:rPr>
              <a:pPr/>
              <a:t>73</a:t>
            </a:fld>
            <a:endParaRPr lang="en-US" altLang="en-US">
              <a:solidFill>
                <a:srgbClr val="000000"/>
              </a:solidFill>
              <a:latin typeface="Times New Roman" panose="02020603050405020304" pitchFamily="18" charset="0"/>
            </a:endParaRPr>
          </a:p>
        </p:txBody>
      </p:sp>
      <p:sp>
        <p:nvSpPr>
          <p:cNvPr id="60419"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0420"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4040936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AD91AAE3-5E90-43B8-8488-BD720B1EDFF1}" type="slidenum">
              <a:rPr lang="en-US" altLang="en-US">
                <a:solidFill>
                  <a:srgbClr val="000000"/>
                </a:solidFill>
                <a:latin typeface="Times New Roman" panose="02020603050405020304" pitchFamily="18" charset="0"/>
              </a:rPr>
              <a:pPr/>
              <a:t>74</a:t>
            </a:fld>
            <a:endParaRPr lang="en-US" altLang="en-US">
              <a:solidFill>
                <a:srgbClr val="000000"/>
              </a:solidFill>
              <a:latin typeface="Times New Roman" panose="02020603050405020304" pitchFamily="18" charset="0"/>
            </a:endParaRPr>
          </a:p>
        </p:txBody>
      </p:sp>
      <p:sp>
        <p:nvSpPr>
          <p:cNvPr id="62467"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246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7872429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DD61E77E-804E-4248-8A62-AA6CBEE09087}" type="slidenum">
              <a:rPr lang="en-US" altLang="en-US">
                <a:solidFill>
                  <a:srgbClr val="000000"/>
                </a:solidFill>
                <a:latin typeface="Times New Roman" panose="02020603050405020304" pitchFamily="18" charset="0"/>
              </a:rPr>
              <a:pPr/>
              <a:t>75</a:t>
            </a:fld>
            <a:endParaRPr lang="en-US" altLang="en-US">
              <a:solidFill>
                <a:srgbClr val="000000"/>
              </a:solidFill>
              <a:latin typeface="Times New Roman" panose="02020603050405020304" pitchFamily="18" charset="0"/>
            </a:endParaRPr>
          </a:p>
        </p:txBody>
      </p:sp>
      <p:sp>
        <p:nvSpPr>
          <p:cNvPr id="63491"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3492"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2814744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A6BB5732-8156-4986-B64B-C9C466370A3E}" type="slidenum">
              <a:rPr lang="en-US" altLang="en-US">
                <a:solidFill>
                  <a:srgbClr val="000000"/>
                </a:solidFill>
                <a:latin typeface="Times New Roman" panose="02020603050405020304" pitchFamily="18" charset="0"/>
              </a:rPr>
              <a:pPr/>
              <a:t>76</a:t>
            </a:fld>
            <a:endParaRPr lang="en-US" altLang="en-US">
              <a:solidFill>
                <a:srgbClr val="000000"/>
              </a:solidFill>
              <a:latin typeface="Times New Roman" panose="02020603050405020304" pitchFamily="18" charset="0"/>
            </a:endParaRPr>
          </a:p>
        </p:txBody>
      </p:sp>
      <p:sp>
        <p:nvSpPr>
          <p:cNvPr id="64515"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451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2413998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8790004E-4032-4CF6-B3B7-CC3E707E4EC0}" type="slidenum">
              <a:rPr lang="en-US" altLang="en-US">
                <a:solidFill>
                  <a:srgbClr val="000000"/>
                </a:solidFill>
                <a:latin typeface="Times New Roman" panose="02020603050405020304" pitchFamily="18" charset="0"/>
              </a:rPr>
              <a:pPr/>
              <a:t>77</a:t>
            </a:fld>
            <a:endParaRPr lang="en-US" altLang="en-US">
              <a:solidFill>
                <a:srgbClr val="000000"/>
              </a:solidFill>
              <a:latin typeface="Times New Roman" panose="02020603050405020304" pitchFamily="18" charset="0"/>
            </a:endParaRPr>
          </a:p>
        </p:txBody>
      </p:sp>
      <p:sp>
        <p:nvSpPr>
          <p:cNvPr id="65539"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5540"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0548809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99EEFA81-AE10-4AB3-BE43-09714004CA5D}" type="slidenum">
              <a:rPr lang="en-US" altLang="en-US">
                <a:solidFill>
                  <a:srgbClr val="000000"/>
                </a:solidFill>
                <a:latin typeface="Times New Roman" panose="02020603050405020304" pitchFamily="18" charset="0"/>
              </a:rPr>
              <a:pPr/>
              <a:t>78</a:t>
            </a:fld>
            <a:endParaRPr lang="en-US" altLang="en-US">
              <a:solidFill>
                <a:srgbClr val="000000"/>
              </a:solidFill>
              <a:latin typeface="Times New Roman" panose="02020603050405020304" pitchFamily="18" charset="0"/>
            </a:endParaRPr>
          </a:p>
        </p:txBody>
      </p:sp>
      <p:sp>
        <p:nvSpPr>
          <p:cNvPr id="66563"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6564"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2921343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fld id="{A440DCBA-8FC0-42E1-98DF-6F94C9DCE0FC}" type="slidenum">
              <a:rPr lang="en-US" altLang="en-US">
                <a:solidFill>
                  <a:srgbClr val="000000"/>
                </a:solidFill>
                <a:latin typeface="Times New Roman" panose="02020603050405020304" pitchFamily="18" charset="0"/>
              </a:rPr>
              <a:pPr/>
              <a:t>79</a:t>
            </a:fld>
            <a:endParaRPr lang="en-US" altLang="en-US">
              <a:solidFill>
                <a:srgbClr val="000000"/>
              </a:solidFill>
              <a:latin typeface="Times New Roman" panose="02020603050405020304" pitchFamily="18" charset="0"/>
            </a:endParaRPr>
          </a:p>
        </p:txBody>
      </p:sp>
      <p:sp>
        <p:nvSpPr>
          <p:cNvPr id="67587"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6758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141044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32657"/>
            <a:ext cx="9144000" cy="1008111"/>
          </a:xfrm>
        </p:spPr>
        <p:txBody>
          <a:bodyPr anchor="b"/>
          <a:lstStyle>
            <a:lvl1pPr algn="ctr">
              <a:defRPr sz="48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2348880"/>
            <a:ext cx="9144000" cy="35283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Tree>
    <p:extLst>
      <p:ext uri="{BB962C8B-B14F-4D97-AF65-F5344CB8AC3E}">
        <p14:creationId xmlns:p14="http://schemas.microsoft.com/office/powerpoint/2010/main" val="3557313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1627"/>
          </a:xfrm>
        </p:spPr>
        <p:txBody>
          <a:bodyPr/>
          <a:lstStyle>
            <a:lvl1pPr>
              <a:defRPr>
                <a:latin typeface="Arial" panose="020B0604020202020204" pitchFamily="34" charset="0"/>
                <a:cs typeface="Arial" panose="020B0604020202020204" pitchFamily="34" charset="0"/>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838200" y="1556792"/>
            <a:ext cx="10515600" cy="511256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3817721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628800"/>
            <a:ext cx="5181600" cy="496855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628800"/>
            <a:ext cx="5181600" cy="496855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4133038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903635"/>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595709"/>
          </a:xfrm>
        </p:spPr>
        <p:txBody>
          <a:bodyPr anchor="b"/>
          <a:lstStyle>
            <a:lvl1pPr marL="0" indent="0">
              <a:buNone/>
              <a:defRPr sz="3200" b="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839788" y="2505074"/>
            <a:ext cx="5157787" cy="409227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595709"/>
          </a:xfrm>
        </p:spPr>
        <p:txBody>
          <a:bodyPr anchor="b"/>
          <a:lstStyle>
            <a:lvl1pPr marL="0" indent="0">
              <a:buNone/>
              <a:defRPr sz="3200" b="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172200" y="2505074"/>
            <a:ext cx="5183188" cy="4092277"/>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3705478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Tree>
    <p:extLst>
      <p:ext uri="{BB962C8B-B14F-4D97-AF65-F5344CB8AC3E}">
        <p14:creationId xmlns:p14="http://schemas.microsoft.com/office/powerpoint/2010/main" val="1597694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6771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609600" y="228600"/>
            <a:ext cx="10871200" cy="914400"/>
          </a:xfrm>
        </p:spPr>
        <p:txBody>
          <a:bodyPr/>
          <a:lstStyle/>
          <a:p>
            <a:r>
              <a:rPr lang="zh-CN" altLang="en-US" smtClean="0"/>
              <a:t>单击此处编辑母版标题样式</a:t>
            </a:r>
            <a:endParaRPr lang="zh-CN" altLang="en-US"/>
          </a:p>
        </p:txBody>
      </p:sp>
      <p:sp>
        <p:nvSpPr>
          <p:cNvPr id="3" name="图表占位符 2"/>
          <p:cNvSpPr>
            <a:spLocks noGrp="1"/>
          </p:cNvSpPr>
          <p:nvPr>
            <p:ph type="chart" idx="1"/>
          </p:nvPr>
        </p:nvSpPr>
        <p:spPr>
          <a:xfrm>
            <a:off x="609600" y="1447800"/>
            <a:ext cx="10905067" cy="4610100"/>
          </a:xfrm>
        </p:spPr>
        <p:txBody>
          <a:bodyPr/>
          <a:lstStyle/>
          <a:p>
            <a:endParaRPr lang="zh-CN" altLang="en-US"/>
          </a:p>
        </p:txBody>
      </p:sp>
    </p:spTree>
    <p:extLst>
      <p:ext uri="{BB962C8B-B14F-4D97-AF65-F5344CB8AC3E}">
        <p14:creationId xmlns:p14="http://schemas.microsoft.com/office/powerpoint/2010/main" val="1369441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814918" y="115889"/>
            <a:ext cx="11042649" cy="701675"/>
          </a:xfrm>
        </p:spPr>
        <p:txBody>
          <a:bodyPr/>
          <a:lstStyle/>
          <a:p>
            <a:r>
              <a:rPr lang="en-US" smtClean="0"/>
              <a:t>Click to edit Master title style</a:t>
            </a:r>
            <a:endParaRPr lang="en-US"/>
          </a:p>
        </p:txBody>
      </p:sp>
      <p:sp>
        <p:nvSpPr>
          <p:cNvPr id="3" name="SmartArt Placeholder 2"/>
          <p:cNvSpPr>
            <a:spLocks noGrp="1"/>
          </p:cNvSpPr>
          <p:nvPr>
            <p:ph type="dgm" idx="1"/>
          </p:nvPr>
        </p:nvSpPr>
        <p:spPr>
          <a:xfrm>
            <a:off x="912285" y="1125538"/>
            <a:ext cx="11027833" cy="5111750"/>
          </a:xfrm>
        </p:spPr>
        <p:txBody>
          <a:bodyPr/>
          <a:lstStyle/>
          <a:p>
            <a:endParaRPr lang="en-US"/>
          </a:p>
        </p:txBody>
      </p:sp>
      <p:sp>
        <p:nvSpPr>
          <p:cNvPr id="4" name="Footer Placeholder 3"/>
          <p:cNvSpPr>
            <a:spLocks noGrp="1"/>
          </p:cNvSpPr>
          <p:nvPr>
            <p:ph type="ftr" sz="quarter" idx="10"/>
          </p:nvPr>
        </p:nvSpPr>
        <p:spPr>
          <a:xfrm>
            <a:off x="1390651" y="6381751"/>
            <a:ext cx="9696449" cy="358775"/>
          </a:xfrm>
        </p:spPr>
        <p:txBody>
          <a:bodyP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宋体" panose="02010600030101010101" pitchFamily="2" charset="-122"/>
                <a:cs typeface="+mn-cs"/>
              </a:rPr>
              <a:t>Copyright © 2019, Elsevier Inc. All rights reserved.</a:t>
            </a:r>
            <a:endParaRPr kumimoji="1" lang="en-AU" sz="1200" b="0" i="0" u="none" strike="noStrike" kern="1200" cap="none" spc="0" normalizeH="0" baseline="0" noProof="0" dirty="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366127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903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smtClean="0"/>
              <a:t>单击此处编辑母版标题样式</a:t>
            </a:r>
            <a:endParaRPr lang="en-US" altLang="zh-CN" dirty="0" smtClean="0"/>
          </a:p>
        </p:txBody>
      </p:sp>
      <p:sp>
        <p:nvSpPr>
          <p:cNvPr id="1027" name="Text Placeholder 2"/>
          <p:cNvSpPr>
            <a:spLocks noGrp="1"/>
          </p:cNvSpPr>
          <p:nvPr>
            <p:ph type="body" idx="1"/>
          </p:nvPr>
        </p:nvSpPr>
        <p:spPr bwMode="auto">
          <a:xfrm>
            <a:off x="838200" y="1556792"/>
            <a:ext cx="10515600" cy="4620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altLang="zh-CN" dirty="0" smtClean="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宋体" panose="02010600030101010101" pitchFamily="2" charset="-122"/>
                <a:cs typeface="+mn-cs"/>
              </a:rPr>
              <a:t>Copyright © 2019, Elsevier Inc. All rights reserved.</a:t>
            </a:r>
            <a:endParaRPr kumimoji="1" 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F995DCE2-E1D3-41AF-AA0F-2ACC42A603E2}" type="slidenum">
              <a:rPr kumimoji="1" 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1"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pic>
        <p:nvPicPr>
          <p:cNvPr id="2" name="图片 1"/>
          <p:cNvPicPr>
            <a:picLocks noChangeAspect="1"/>
          </p:cNvPicPr>
          <p:nvPr userDrawn="1"/>
        </p:nvPicPr>
        <p:blipFill>
          <a:blip r:embed="rId10"/>
          <a:stretch>
            <a:fillRect/>
          </a:stretch>
        </p:blipFill>
        <p:spPr>
          <a:xfrm>
            <a:off x="4943" y="1392216"/>
            <a:ext cx="12187057" cy="92568"/>
          </a:xfrm>
          <a:prstGeom prst="rect">
            <a:avLst/>
          </a:prstGeom>
        </p:spPr>
      </p:pic>
    </p:spTree>
    <p:extLst>
      <p:ext uri="{BB962C8B-B14F-4D97-AF65-F5344CB8AC3E}">
        <p14:creationId xmlns:p14="http://schemas.microsoft.com/office/powerpoint/2010/main" val="22936089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sldNum="0" hdr="0" ftr="0" dt="0"/>
  <p:txStyles>
    <p:titleStyle>
      <a:lvl1pPr algn="l" rtl="0" eaLnBrk="1" fontAlgn="base" hangingPunct="1">
        <a:lnSpc>
          <a:spcPct val="90000"/>
        </a:lnSpc>
        <a:spcBef>
          <a:spcPct val="0"/>
        </a:spcBef>
        <a:spcAft>
          <a:spcPct val="0"/>
        </a:spcAft>
        <a:defRPr sz="4400" kern="1200">
          <a:solidFill>
            <a:srgbClr val="FF0000"/>
          </a:solidFill>
          <a:latin typeface="Arial" panose="020B0604020202020204" pitchFamily="34" charset="0"/>
          <a:ea typeface="微软雅黑" panose="020B0503020204020204" pitchFamily="34" charset="-122"/>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rgbClr val="0000FF"/>
          </a:solidFill>
          <a:latin typeface="Arial" panose="020B0604020202020204" pitchFamily="34" charset="0"/>
          <a:ea typeface="微软雅黑" panose="020B0503020204020204" pitchFamily="34" charset="-122"/>
          <a:cs typeface="Arial" panose="020B0604020202020204" pitchFamily="34"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rgbClr val="0000FF"/>
          </a:solidFill>
          <a:latin typeface="Arial" panose="020B0604020202020204" pitchFamily="34" charset="0"/>
          <a:ea typeface="微软雅黑"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p:txBody>
          <a:bodyPr/>
          <a:lstStyle/>
          <a:p>
            <a:r>
              <a:rPr lang="zh-CN" altLang="en-US" smtClean="0"/>
              <a:t>指令系统结构（</a:t>
            </a:r>
            <a:r>
              <a:rPr lang="en-US" altLang="zh-CN" smtClean="0"/>
              <a:t>ISA</a:t>
            </a:r>
            <a:r>
              <a:rPr lang="zh-CN" altLang="en-US" smtClean="0"/>
              <a:t>）</a:t>
            </a:r>
            <a:endParaRPr lang="zh-CN" altLang="en-US" dirty="0"/>
          </a:p>
        </p:txBody>
      </p:sp>
      <p:sp>
        <p:nvSpPr>
          <p:cNvPr id="4101" name="Rectangle 5"/>
          <p:cNvSpPr>
            <a:spLocks noGrp="1" noChangeArrowheads="1"/>
          </p:cNvSpPr>
          <p:nvPr>
            <p:ph type="subTitle" idx="1"/>
          </p:nvPr>
        </p:nvSpPr>
        <p:spPr/>
        <p:txBody>
          <a:bodyPr/>
          <a:lstStyle/>
          <a:p>
            <a:r>
              <a:rPr lang="zh-CN" altLang="en-US" dirty="0" smtClean="0"/>
              <a:t>指令系统结构的定义和分类</a:t>
            </a:r>
            <a:endParaRPr lang="en-US" altLang="zh-CN" dirty="0"/>
          </a:p>
          <a:p>
            <a:r>
              <a:rPr lang="zh-CN" altLang="en-US" dirty="0" smtClean="0"/>
              <a:t>访问存储器的方式</a:t>
            </a:r>
          </a:p>
          <a:p>
            <a:r>
              <a:rPr lang="zh-CN" altLang="en-US" dirty="0" smtClean="0"/>
              <a:t>数据类型和大小</a:t>
            </a:r>
          </a:p>
          <a:p>
            <a:r>
              <a:rPr lang="zh-CN" altLang="en-US" dirty="0" smtClean="0"/>
              <a:t>控制转移类指令</a:t>
            </a:r>
          </a:p>
          <a:p>
            <a:r>
              <a:rPr lang="zh-CN" altLang="en-US" dirty="0" smtClean="0"/>
              <a:t>指令格式和编码</a:t>
            </a:r>
            <a:endParaRPr lang="en-US" altLang="zh-CN" dirty="0" smtClean="0"/>
          </a:p>
          <a:p>
            <a:r>
              <a:rPr lang="zh-CN" altLang="en-US" dirty="0" smtClean="0"/>
              <a:t>编译器和指令系统的关系</a:t>
            </a:r>
            <a:endParaRPr lang="en-US" altLang="zh-CN" dirty="0" smtClean="0"/>
          </a:p>
          <a:p>
            <a:r>
              <a:rPr lang="en-US" altLang="zh-CN" dirty="0" smtClean="0"/>
              <a:t>RISC-V</a:t>
            </a:r>
            <a:r>
              <a:rPr lang="zh-CN" altLang="en-US" dirty="0" smtClean="0"/>
              <a:t>指令系统概述</a:t>
            </a:r>
            <a:endParaRPr lang="zh-CN" altLang="en-US" dirty="0"/>
          </a:p>
        </p:txBody>
      </p:sp>
    </p:spTree>
    <p:extLst>
      <p:ext uri="{BB962C8B-B14F-4D97-AF65-F5344CB8AC3E}">
        <p14:creationId xmlns:p14="http://schemas.microsoft.com/office/powerpoint/2010/main" val="3364603123"/>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zh-CN" smtClean="0"/>
              <a:t>Computer Organization</a:t>
            </a:r>
            <a:endParaRPr lang="en-US" altLang="zh-CN"/>
          </a:p>
        </p:txBody>
      </p:sp>
      <p:sp>
        <p:nvSpPr>
          <p:cNvPr id="8195" name="Rectangle 3"/>
          <p:cNvSpPr>
            <a:spLocks noGrp="1" noChangeArrowheads="1"/>
          </p:cNvSpPr>
          <p:nvPr>
            <p:ph type="body" idx="1"/>
          </p:nvPr>
        </p:nvSpPr>
        <p:spPr/>
        <p:txBody>
          <a:bodyPr/>
          <a:lstStyle/>
          <a:p>
            <a:r>
              <a:rPr lang="en-US" altLang="zh-CN" dirty="0" smtClean="0"/>
              <a:t>All computers consist of five components</a:t>
            </a:r>
          </a:p>
          <a:p>
            <a:pPr lvl="1"/>
            <a:r>
              <a:rPr lang="en-US" altLang="zh-CN" dirty="0" smtClean="0"/>
              <a:t>Processor: (1) </a:t>
            </a:r>
            <a:r>
              <a:rPr lang="en-US" altLang="zh-CN" dirty="0" err="1" smtClean="0"/>
              <a:t>datapath</a:t>
            </a:r>
            <a:r>
              <a:rPr lang="zh-CN" altLang="en-US" dirty="0" smtClean="0"/>
              <a:t>（运算器）</a:t>
            </a:r>
            <a:r>
              <a:rPr lang="en-US" altLang="zh-CN" dirty="0" smtClean="0"/>
              <a:t> and (2) control </a:t>
            </a:r>
            <a:r>
              <a:rPr lang="zh-CN" altLang="en-US" dirty="0" smtClean="0"/>
              <a:t>（控制器）</a:t>
            </a:r>
            <a:endParaRPr lang="en-US" altLang="zh-CN" dirty="0" smtClean="0"/>
          </a:p>
          <a:p>
            <a:pPr lvl="1"/>
            <a:r>
              <a:rPr lang="en-US" altLang="zh-CN" dirty="0" smtClean="0"/>
              <a:t>(3) Memory</a:t>
            </a:r>
          </a:p>
          <a:p>
            <a:pPr lvl="1"/>
            <a:r>
              <a:rPr lang="en-US" altLang="zh-CN" dirty="0" smtClean="0"/>
              <a:t>(4) Input devices and (5) Output devices</a:t>
            </a:r>
          </a:p>
          <a:p>
            <a:r>
              <a:rPr lang="en-US" altLang="zh-CN" dirty="0" smtClean="0"/>
              <a:t>Not all Memory are created equal</a:t>
            </a:r>
          </a:p>
          <a:p>
            <a:pPr lvl="1"/>
            <a:r>
              <a:rPr lang="en-US" altLang="zh-CN" dirty="0" smtClean="0"/>
              <a:t>Cache: fast (expensive) memory are placed closer to the processor</a:t>
            </a:r>
          </a:p>
          <a:p>
            <a:pPr lvl="1"/>
            <a:r>
              <a:rPr lang="en-US" altLang="zh-CN" dirty="0" smtClean="0"/>
              <a:t>Main memory: less expensive memory--we can have more</a:t>
            </a:r>
          </a:p>
          <a:p>
            <a:r>
              <a:rPr lang="en-US" altLang="zh-CN" dirty="0" smtClean="0"/>
              <a:t>Input and output (I/O) devices have the messiest organization</a:t>
            </a:r>
          </a:p>
          <a:p>
            <a:pPr lvl="1"/>
            <a:r>
              <a:rPr lang="en-US" altLang="zh-CN" dirty="0" smtClean="0"/>
              <a:t>Wide range of speed: graphics vs. keyboard</a:t>
            </a:r>
          </a:p>
          <a:p>
            <a:pPr lvl="1"/>
            <a:r>
              <a:rPr lang="en-US" altLang="zh-CN" dirty="0" smtClean="0"/>
              <a:t>Wide range of requirements: speed, standard, cost ... </a:t>
            </a:r>
          </a:p>
          <a:p>
            <a:pPr lvl="1"/>
            <a:r>
              <a:rPr lang="en-US" altLang="zh-CN" dirty="0" smtClean="0"/>
              <a:t>Least amount of research (so far) </a:t>
            </a:r>
            <a:endParaRPr lang="en-US" altLang="zh-CN" dirty="0"/>
          </a:p>
        </p:txBody>
      </p:sp>
    </p:spTree>
    <p:extLst>
      <p:ext uri="{BB962C8B-B14F-4D97-AF65-F5344CB8AC3E}">
        <p14:creationId xmlns:p14="http://schemas.microsoft.com/office/powerpoint/2010/main" val="133829317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260601" y="279400"/>
            <a:ext cx="8003794"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Computer System Components</a:t>
            </a:r>
          </a:p>
        </p:txBody>
      </p:sp>
      <p:grpSp>
        <p:nvGrpSpPr>
          <p:cNvPr id="10273" name="Group 33"/>
          <p:cNvGrpSpPr>
            <a:grpSpLocks/>
          </p:cNvGrpSpPr>
          <p:nvPr/>
        </p:nvGrpSpPr>
        <p:grpSpPr bwMode="auto">
          <a:xfrm>
            <a:off x="3006437" y="1637806"/>
            <a:ext cx="5951538" cy="3863976"/>
            <a:chOff x="855" y="580"/>
            <a:chExt cx="3749" cy="2434"/>
          </a:xfrm>
        </p:grpSpPr>
        <p:sp>
          <p:nvSpPr>
            <p:cNvPr id="10243" name="Rectangle 3"/>
            <p:cNvSpPr>
              <a:spLocks noChangeArrowheads="1"/>
            </p:cNvSpPr>
            <p:nvPr/>
          </p:nvSpPr>
          <p:spPr bwMode="auto">
            <a:xfrm>
              <a:off x="903" y="658"/>
              <a:ext cx="41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solidFill>
                    <a:srgbClr val="0070C0"/>
                  </a:solidFill>
                  <a:latin typeface="Arial" panose="020B0604020202020204" pitchFamily="34" charset="0"/>
                </a:rPr>
                <a:t>Proc</a:t>
              </a:r>
            </a:p>
          </p:txBody>
        </p:sp>
        <p:sp>
          <p:nvSpPr>
            <p:cNvPr id="10244" name="Rectangle 4"/>
            <p:cNvSpPr>
              <a:spLocks noChangeArrowheads="1"/>
            </p:cNvSpPr>
            <p:nvPr/>
          </p:nvSpPr>
          <p:spPr bwMode="auto">
            <a:xfrm>
              <a:off x="855" y="1090"/>
              <a:ext cx="6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solidFill>
                    <a:srgbClr val="0070C0"/>
                  </a:solidFill>
                  <a:latin typeface="Arial" panose="020B0604020202020204" pitchFamily="34" charset="0"/>
                </a:rPr>
                <a:t>Caches</a:t>
              </a:r>
            </a:p>
          </p:txBody>
        </p:sp>
        <p:sp>
          <p:nvSpPr>
            <p:cNvPr id="10245" name="Rectangle 5"/>
            <p:cNvSpPr>
              <a:spLocks noChangeArrowheads="1"/>
            </p:cNvSpPr>
            <p:nvPr/>
          </p:nvSpPr>
          <p:spPr bwMode="auto">
            <a:xfrm>
              <a:off x="1527" y="1234"/>
              <a:ext cx="5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solidFill>
                    <a:srgbClr val="0070C0"/>
                  </a:solidFill>
                  <a:latin typeface="Arial" panose="020B0604020202020204" pitchFamily="34" charset="0"/>
                </a:rPr>
                <a:t>Busses</a:t>
              </a:r>
            </a:p>
          </p:txBody>
        </p:sp>
        <p:sp>
          <p:nvSpPr>
            <p:cNvPr id="10246" name="Rectangle 6"/>
            <p:cNvSpPr>
              <a:spLocks noChangeArrowheads="1"/>
            </p:cNvSpPr>
            <p:nvPr/>
          </p:nvSpPr>
          <p:spPr bwMode="auto">
            <a:xfrm>
              <a:off x="855" y="1714"/>
              <a:ext cx="6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dirty="0">
                  <a:solidFill>
                    <a:srgbClr val="0070C0"/>
                  </a:solidFill>
                  <a:latin typeface="Arial" panose="020B0604020202020204" pitchFamily="34" charset="0"/>
                </a:rPr>
                <a:t>Memory</a:t>
              </a:r>
            </a:p>
          </p:txBody>
        </p:sp>
        <p:sp>
          <p:nvSpPr>
            <p:cNvPr id="10247" name="Rectangle 7"/>
            <p:cNvSpPr>
              <a:spLocks noChangeArrowheads="1"/>
            </p:cNvSpPr>
            <p:nvPr/>
          </p:nvSpPr>
          <p:spPr bwMode="auto">
            <a:xfrm>
              <a:off x="903" y="2530"/>
              <a:ext cx="90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solidFill>
                    <a:srgbClr val="0070C0"/>
                  </a:solidFill>
                  <a:latin typeface="Arial" panose="020B0604020202020204" pitchFamily="34" charset="0"/>
                </a:rPr>
                <a:t>I/O Devices:</a:t>
              </a:r>
            </a:p>
          </p:txBody>
        </p:sp>
        <p:sp>
          <p:nvSpPr>
            <p:cNvPr id="10248" name="Rectangle 8"/>
            <p:cNvSpPr>
              <a:spLocks noChangeArrowheads="1"/>
            </p:cNvSpPr>
            <p:nvPr/>
          </p:nvSpPr>
          <p:spPr bwMode="auto">
            <a:xfrm>
              <a:off x="868" y="580"/>
              <a:ext cx="520" cy="32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49" name="Line 9"/>
            <p:cNvSpPr>
              <a:spLocks noChangeShapeType="1"/>
            </p:cNvSpPr>
            <p:nvPr/>
          </p:nvSpPr>
          <p:spPr bwMode="auto">
            <a:xfrm>
              <a:off x="1152" y="916"/>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50" name="Rectangle 10"/>
            <p:cNvSpPr>
              <a:spLocks noChangeArrowheads="1"/>
            </p:cNvSpPr>
            <p:nvPr/>
          </p:nvSpPr>
          <p:spPr bwMode="auto">
            <a:xfrm>
              <a:off x="868" y="1060"/>
              <a:ext cx="520" cy="32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51" name="Rectangle 11"/>
            <p:cNvSpPr>
              <a:spLocks noChangeArrowheads="1"/>
            </p:cNvSpPr>
            <p:nvPr/>
          </p:nvSpPr>
          <p:spPr bwMode="auto">
            <a:xfrm>
              <a:off x="868" y="1684"/>
              <a:ext cx="664" cy="32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52" name="Line 12"/>
            <p:cNvSpPr>
              <a:spLocks noChangeShapeType="1"/>
            </p:cNvSpPr>
            <p:nvPr/>
          </p:nvSpPr>
          <p:spPr bwMode="auto">
            <a:xfrm>
              <a:off x="1152" y="1396"/>
              <a:ext cx="0"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53" name="Line 13"/>
            <p:cNvSpPr>
              <a:spLocks noChangeShapeType="1"/>
            </p:cNvSpPr>
            <p:nvPr/>
          </p:nvSpPr>
          <p:spPr bwMode="auto">
            <a:xfrm>
              <a:off x="1026" y="1488"/>
              <a:ext cx="15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54" name="Line 14"/>
            <p:cNvSpPr>
              <a:spLocks noChangeShapeType="1"/>
            </p:cNvSpPr>
            <p:nvPr/>
          </p:nvSpPr>
          <p:spPr bwMode="auto">
            <a:xfrm flipV="1">
              <a:off x="1248" y="1484"/>
              <a:ext cx="0" cy="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55" name="Rectangle 15"/>
            <p:cNvSpPr>
              <a:spLocks noChangeArrowheads="1"/>
            </p:cNvSpPr>
            <p:nvPr/>
          </p:nvSpPr>
          <p:spPr bwMode="auto">
            <a:xfrm>
              <a:off x="1959" y="2098"/>
              <a:ext cx="81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solidFill>
                    <a:srgbClr val="0070C0"/>
                  </a:solidFill>
                  <a:latin typeface="Arial" panose="020B0604020202020204" pitchFamily="34" charset="0"/>
                </a:rPr>
                <a:t>Controllers</a:t>
              </a:r>
            </a:p>
          </p:txBody>
        </p:sp>
        <p:sp>
          <p:nvSpPr>
            <p:cNvPr id="10256" name="Rectangle 16"/>
            <p:cNvSpPr>
              <a:spLocks noChangeArrowheads="1"/>
            </p:cNvSpPr>
            <p:nvPr/>
          </p:nvSpPr>
          <p:spPr bwMode="auto">
            <a:xfrm>
              <a:off x="1972" y="2068"/>
              <a:ext cx="80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57" name="Line 17"/>
            <p:cNvSpPr>
              <a:spLocks noChangeShapeType="1"/>
            </p:cNvSpPr>
            <p:nvPr/>
          </p:nvSpPr>
          <p:spPr bwMode="auto">
            <a:xfrm>
              <a:off x="1986" y="1872"/>
              <a:ext cx="1596"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58" name="Rectangle 18"/>
            <p:cNvSpPr>
              <a:spLocks noChangeArrowheads="1"/>
            </p:cNvSpPr>
            <p:nvPr/>
          </p:nvSpPr>
          <p:spPr bwMode="auto">
            <a:xfrm>
              <a:off x="2116" y="1588"/>
              <a:ext cx="232"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59" name="Line 19"/>
            <p:cNvSpPr>
              <a:spLocks noChangeShapeType="1"/>
            </p:cNvSpPr>
            <p:nvPr/>
          </p:nvSpPr>
          <p:spPr bwMode="auto">
            <a:xfrm>
              <a:off x="2208" y="1492"/>
              <a:ext cx="0"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60" name="Line 20"/>
            <p:cNvSpPr>
              <a:spLocks noChangeShapeType="1"/>
            </p:cNvSpPr>
            <p:nvPr/>
          </p:nvSpPr>
          <p:spPr bwMode="auto">
            <a:xfrm>
              <a:off x="2208" y="1780"/>
              <a:ext cx="0"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61" name="Rectangle 21"/>
            <p:cNvSpPr>
              <a:spLocks noChangeArrowheads="1"/>
            </p:cNvSpPr>
            <p:nvPr/>
          </p:nvSpPr>
          <p:spPr bwMode="auto">
            <a:xfrm>
              <a:off x="2391" y="1570"/>
              <a:ext cx="6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solidFill>
                    <a:srgbClr val="0070C0"/>
                  </a:solidFill>
                  <a:latin typeface="Arial" panose="020B0604020202020204" pitchFamily="34" charset="0"/>
                </a:rPr>
                <a:t>adapters</a:t>
              </a:r>
            </a:p>
          </p:txBody>
        </p:sp>
        <p:sp>
          <p:nvSpPr>
            <p:cNvPr id="10262" name="Line 22"/>
            <p:cNvSpPr>
              <a:spLocks noChangeShapeType="1"/>
            </p:cNvSpPr>
            <p:nvPr/>
          </p:nvSpPr>
          <p:spPr bwMode="auto">
            <a:xfrm>
              <a:off x="2304" y="1876"/>
              <a:ext cx="0" cy="1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63" name="Rectangle 23"/>
            <p:cNvSpPr>
              <a:spLocks noChangeArrowheads="1"/>
            </p:cNvSpPr>
            <p:nvPr/>
          </p:nvSpPr>
          <p:spPr bwMode="auto">
            <a:xfrm>
              <a:off x="1863" y="2434"/>
              <a:ext cx="810"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solidFill>
                    <a:srgbClr val="0070C0"/>
                  </a:solidFill>
                  <a:latin typeface="Arial" panose="020B0604020202020204" pitchFamily="34" charset="0"/>
                </a:rPr>
                <a:t>Disks</a:t>
              </a:r>
            </a:p>
            <a:p>
              <a:r>
                <a:rPr lang="en-US" altLang="zh-CN">
                  <a:solidFill>
                    <a:srgbClr val="0070C0"/>
                  </a:solidFill>
                  <a:latin typeface="Arial" panose="020B0604020202020204" pitchFamily="34" charset="0"/>
                </a:rPr>
                <a:t>Displays</a:t>
              </a:r>
            </a:p>
            <a:p>
              <a:r>
                <a:rPr lang="en-US" altLang="zh-CN">
                  <a:solidFill>
                    <a:srgbClr val="0070C0"/>
                  </a:solidFill>
                  <a:latin typeface="Arial" panose="020B0604020202020204" pitchFamily="34" charset="0"/>
                </a:rPr>
                <a:t>Keyboards</a:t>
              </a:r>
            </a:p>
          </p:txBody>
        </p:sp>
        <p:sp>
          <p:nvSpPr>
            <p:cNvPr id="10264" name="AutoShape 24"/>
            <p:cNvSpPr>
              <a:spLocks noChangeArrowheads="1"/>
            </p:cNvSpPr>
            <p:nvPr/>
          </p:nvSpPr>
          <p:spPr bwMode="auto">
            <a:xfrm>
              <a:off x="3316" y="2596"/>
              <a:ext cx="1288" cy="376"/>
            </a:xfrm>
            <a:prstGeom prst="roundRect">
              <a:avLst>
                <a:gd name="adj" fmla="val 12495"/>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65" name="Rectangle 25"/>
            <p:cNvSpPr>
              <a:spLocks noChangeArrowheads="1"/>
            </p:cNvSpPr>
            <p:nvPr/>
          </p:nvSpPr>
          <p:spPr bwMode="auto">
            <a:xfrm>
              <a:off x="3028" y="2068"/>
              <a:ext cx="616"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66" name="Rectangle 26"/>
            <p:cNvSpPr>
              <a:spLocks noChangeArrowheads="1"/>
            </p:cNvSpPr>
            <p:nvPr/>
          </p:nvSpPr>
          <p:spPr bwMode="auto">
            <a:xfrm>
              <a:off x="3495" y="2674"/>
              <a:ext cx="72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solidFill>
                    <a:srgbClr val="0070C0"/>
                  </a:solidFill>
                  <a:latin typeface="Arial" panose="020B0604020202020204" pitchFamily="34" charset="0"/>
                </a:rPr>
                <a:t>Networks</a:t>
              </a:r>
            </a:p>
          </p:txBody>
        </p:sp>
        <p:sp>
          <p:nvSpPr>
            <p:cNvPr id="10267" name="Line 27"/>
            <p:cNvSpPr>
              <a:spLocks noChangeShapeType="1"/>
            </p:cNvSpPr>
            <p:nvPr/>
          </p:nvSpPr>
          <p:spPr bwMode="auto">
            <a:xfrm>
              <a:off x="3264" y="1876"/>
              <a:ext cx="0" cy="1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68" name="Line 28"/>
            <p:cNvSpPr>
              <a:spLocks noChangeShapeType="1"/>
            </p:cNvSpPr>
            <p:nvPr/>
          </p:nvSpPr>
          <p:spPr bwMode="auto">
            <a:xfrm>
              <a:off x="3456" y="2356"/>
              <a:ext cx="0" cy="2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69" name="Line 29"/>
            <p:cNvSpPr>
              <a:spLocks noChangeShapeType="1"/>
            </p:cNvSpPr>
            <p:nvPr/>
          </p:nvSpPr>
          <p:spPr bwMode="auto">
            <a:xfrm>
              <a:off x="4032" y="2356"/>
              <a:ext cx="0" cy="2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70" name="Line 30"/>
            <p:cNvSpPr>
              <a:spLocks noChangeShapeType="1"/>
            </p:cNvSpPr>
            <p:nvPr/>
          </p:nvSpPr>
          <p:spPr bwMode="auto">
            <a:xfrm>
              <a:off x="4224" y="2356"/>
              <a:ext cx="0" cy="2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10271" name="Line 31"/>
            <p:cNvSpPr>
              <a:spLocks noChangeShapeType="1"/>
            </p:cNvSpPr>
            <p:nvPr/>
          </p:nvSpPr>
          <p:spPr bwMode="auto">
            <a:xfrm>
              <a:off x="4416" y="2356"/>
              <a:ext cx="0" cy="2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grpSp>
      <p:sp>
        <p:nvSpPr>
          <p:cNvPr id="10272" name="Rectangle 32"/>
          <p:cNvSpPr>
            <a:spLocks noGrp="1" noChangeArrowheads="1"/>
          </p:cNvSpPr>
          <p:nvPr>
            <p:ph type="body" idx="1"/>
          </p:nvPr>
        </p:nvSpPr>
        <p:spPr>
          <a:xfrm>
            <a:off x="1004454" y="5839774"/>
            <a:ext cx="7848600" cy="439095"/>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63500" tIns="25400" rIns="63500" bIns="25400" numCol="1" anchor="t" anchorCtr="0" compatLnSpc="1">
            <a:prstTxWarp prst="textNoShape">
              <a:avLst/>
            </a:prstTxWarp>
            <a:spAutoFit/>
          </a:bodyPr>
          <a:lstStyle/>
          <a:p>
            <a:r>
              <a:rPr lang="en-US" altLang="zh-CN" dirty="0"/>
              <a:t>All have interfaces &amp; organizations</a:t>
            </a:r>
          </a:p>
        </p:txBody>
      </p:sp>
    </p:spTree>
    <p:extLst>
      <p:ext uri="{BB962C8B-B14F-4D97-AF65-F5344CB8AC3E}">
        <p14:creationId xmlns:p14="http://schemas.microsoft.com/office/powerpoint/2010/main" val="314930281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ltLang="zh-CN" smtClean="0"/>
              <a:t>Computer Architecture Is </a:t>
            </a:r>
            <a:endParaRPr lang="en-US" altLang="zh-CN"/>
          </a:p>
        </p:txBody>
      </p:sp>
      <p:sp>
        <p:nvSpPr>
          <p:cNvPr id="82947" name="Rectangle 3"/>
          <p:cNvSpPr>
            <a:spLocks noGrp="1" noChangeArrowheads="1"/>
          </p:cNvSpPr>
          <p:nvPr>
            <p:ph type="body" idx="1"/>
          </p:nvPr>
        </p:nvSpPr>
        <p:spPr/>
        <p:txBody>
          <a:bodyPr/>
          <a:lstStyle/>
          <a:p>
            <a:r>
              <a:rPr lang="en-US" altLang="zh-CN" dirty="0" smtClean="0"/>
              <a:t>the attributes of a [computing] system as seen by the programmer, i.e., the conceptual structure and functional behavior, as distinct from the organization of the data flows and controls the logic design, and the physical implementation.</a:t>
            </a:r>
          </a:p>
          <a:p>
            <a:r>
              <a:rPr lang="en-US" altLang="zh-CN" dirty="0" smtClean="0"/>
              <a:t>Amdahl, </a:t>
            </a:r>
            <a:r>
              <a:rPr lang="en-US" altLang="zh-CN" dirty="0" err="1" smtClean="0"/>
              <a:t>Blaaw</a:t>
            </a:r>
            <a:r>
              <a:rPr lang="en-US" altLang="zh-CN" dirty="0" smtClean="0"/>
              <a:t>, and Brooks,  1964</a:t>
            </a:r>
          </a:p>
          <a:p>
            <a:pPr lvl="1"/>
            <a:r>
              <a:rPr lang="zh-CN" altLang="en-US" dirty="0"/>
              <a:t>时值</a:t>
            </a:r>
            <a:r>
              <a:rPr lang="en-US" altLang="zh-CN" dirty="0" smtClean="0"/>
              <a:t>IBM</a:t>
            </a:r>
            <a:r>
              <a:rPr lang="zh-CN" altLang="en-US" dirty="0" smtClean="0"/>
              <a:t>正式发布</a:t>
            </a:r>
            <a:r>
              <a:rPr lang="en-US" altLang="zh-CN" dirty="0" smtClean="0"/>
              <a:t>System/360</a:t>
            </a:r>
          </a:p>
          <a:p>
            <a:pPr lvl="1"/>
            <a:r>
              <a:rPr lang="zh-CN" altLang="en-US" dirty="0" smtClean="0"/>
              <a:t>在此之前，</a:t>
            </a:r>
            <a:r>
              <a:rPr lang="en-US" altLang="zh-CN" dirty="0" smtClean="0"/>
              <a:t>IBM</a:t>
            </a:r>
            <a:r>
              <a:rPr lang="zh-CN" altLang="en-US" dirty="0" smtClean="0"/>
              <a:t>的计算机产品有</a:t>
            </a:r>
            <a:r>
              <a:rPr lang="en-US" altLang="zh-CN" dirty="0" smtClean="0"/>
              <a:t>5</a:t>
            </a:r>
            <a:r>
              <a:rPr lang="zh-CN" altLang="en-US" dirty="0" smtClean="0"/>
              <a:t>个不同的</a:t>
            </a:r>
            <a:r>
              <a:rPr lang="en-US" altLang="zh-CN" dirty="0" smtClean="0"/>
              <a:t>ISA</a:t>
            </a:r>
          </a:p>
          <a:p>
            <a:pPr lvl="1"/>
            <a:r>
              <a:rPr lang="en-US" altLang="zh-CN" dirty="0"/>
              <a:t>The System/360 unified a family of computers </a:t>
            </a:r>
            <a:r>
              <a:rPr lang="en-US" altLang="zh-CN" dirty="0" smtClean="0"/>
              <a:t/>
            </a:r>
            <a:br>
              <a:rPr lang="en-US" altLang="zh-CN" dirty="0" smtClean="0"/>
            </a:br>
            <a:r>
              <a:rPr lang="en-US" altLang="zh-CN" dirty="0" smtClean="0"/>
              <a:t>under </a:t>
            </a:r>
            <a:r>
              <a:rPr lang="en-US" altLang="zh-CN" dirty="0"/>
              <a:t>a single architecture</a:t>
            </a:r>
            <a:endParaRPr lang="en-US" altLang="zh-CN" dirty="0" smtClean="0"/>
          </a:p>
          <a:p>
            <a:pPr lvl="2"/>
            <a:r>
              <a:rPr lang="en-US" altLang="zh-CN" dirty="0" smtClean="0"/>
              <a:t>System/360</a:t>
            </a:r>
            <a:r>
              <a:rPr lang="zh-CN" altLang="en-US" dirty="0" smtClean="0"/>
              <a:t>有</a:t>
            </a:r>
            <a:r>
              <a:rPr lang="en-US" altLang="zh-CN" dirty="0" smtClean="0"/>
              <a:t>6</a:t>
            </a:r>
            <a:r>
              <a:rPr lang="zh-CN" altLang="en-US" dirty="0" smtClean="0"/>
              <a:t>个不同的型号</a:t>
            </a:r>
            <a:endParaRPr lang="en-US" altLang="zh-CN" dirty="0" smtClean="0"/>
          </a:p>
          <a:p>
            <a:pPr lvl="1"/>
            <a:r>
              <a:rPr lang="en-US" altLang="zh-CN" dirty="0"/>
              <a:t>For the first time, software written for one machine could run on any other machine in the </a:t>
            </a:r>
            <a:r>
              <a:rPr lang="en-US" altLang="zh-CN" dirty="0" smtClean="0"/>
              <a:t>line </a:t>
            </a:r>
            <a:r>
              <a:rPr lang="zh-CN" altLang="en-US" dirty="0" smtClean="0"/>
              <a:t>（系列机、软件兼容性）</a:t>
            </a:r>
            <a:endParaRPr lang="en-US" altLang="zh-CN" dirty="0"/>
          </a:p>
        </p:txBody>
      </p:sp>
      <p:grpSp>
        <p:nvGrpSpPr>
          <p:cNvPr id="82980" name="Group 36"/>
          <p:cNvGrpSpPr>
            <a:grpSpLocks/>
          </p:cNvGrpSpPr>
          <p:nvPr/>
        </p:nvGrpSpPr>
        <p:grpSpPr bwMode="auto">
          <a:xfrm>
            <a:off x="8065323" y="3360717"/>
            <a:ext cx="3581400" cy="1981200"/>
            <a:chOff x="2260" y="2684"/>
            <a:chExt cx="2256" cy="1248"/>
          </a:xfrm>
        </p:grpSpPr>
        <p:sp>
          <p:nvSpPr>
            <p:cNvPr id="82948" name="Rectangle 4" descr="20%"/>
            <p:cNvSpPr>
              <a:spLocks noChangeArrowheads="1"/>
            </p:cNvSpPr>
            <p:nvPr/>
          </p:nvSpPr>
          <p:spPr bwMode="auto">
            <a:xfrm>
              <a:off x="2260" y="2976"/>
              <a:ext cx="2008" cy="952"/>
            </a:xfrm>
            <a:prstGeom prst="rect">
              <a:avLst/>
            </a:prstGeom>
            <a:pattFill prst="pct20">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49" name="Line 5"/>
            <p:cNvSpPr>
              <a:spLocks noChangeShapeType="1"/>
            </p:cNvSpPr>
            <p:nvPr/>
          </p:nvSpPr>
          <p:spPr bwMode="auto">
            <a:xfrm flipV="1">
              <a:off x="2260" y="2684"/>
              <a:ext cx="328" cy="2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0" name="Line 6"/>
            <p:cNvSpPr>
              <a:spLocks noChangeShapeType="1"/>
            </p:cNvSpPr>
            <p:nvPr/>
          </p:nvSpPr>
          <p:spPr bwMode="auto">
            <a:xfrm>
              <a:off x="2596" y="2688"/>
              <a:ext cx="19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1" name="Line 7"/>
            <p:cNvSpPr>
              <a:spLocks noChangeShapeType="1"/>
            </p:cNvSpPr>
            <p:nvPr/>
          </p:nvSpPr>
          <p:spPr bwMode="auto">
            <a:xfrm flipH="1">
              <a:off x="4268" y="2692"/>
              <a:ext cx="248" cy="2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2" name="Line 8"/>
            <p:cNvSpPr>
              <a:spLocks noChangeShapeType="1"/>
            </p:cNvSpPr>
            <p:nvPr/>
          </p:nvSpPr>
          <p:spPr bwMode="auto">
            <a:xfrm>
              <a:off x="4512" y="2692"/>
              <a:ext cx="0" cy="9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3" name="Line 9"/>
            <p:cNvSpPr>
              <a:spLocks noChangeShapeType="1"/>
            </p:cNvSpPr>
            <p:nvPr/>
          </p:nvSpPr>
          <p:spPr bwMode="auto">
            <a:xfrm flipH="1">
              <a:off x="4268" y="3604"/>
              <a:ext cx="248"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4" name="Rectangle 10"/>
            <p:cNvSpPr>
              <a:spLocks noChangeArrowheads="1"/>
            </p:cNvSpPr>
            <p:nvPr/>
          </p:nvSpPr>
          <p:spPr bwMode="auto">
            <a:xfrm>
              <a:off x="2792" y="2704"/>
              <a:ext cx="1179" cy="2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7000"/>
                </a:lnSpc>
              </a:pPr>
              <a:r>
                <a:rPr lang="en-US" altLang="zh-CN" sz="2400" b="1">
                  <a:effectLst>
                    <a:outerShdw blurRad="38100" dist="38100" dir="2700000" algn="tl">
                      <a:srgbClr val="C0C0C0"/>
                    </a:outerShdw>
                  </a:effectLst>
                  <a:latin typeface="Arial" panose="020B0604020202020204" pitchFamily="34" charset="0"/>
                </a:rPr>
                <a:t>SOFTWARE</a:t>
              </a:r>
            </a:p>
          </p:txBody>
        </p:sp>
        <p:sp>
          <p:nvSpPr>
            <p:cNvPr id="82955" name="Oval 11"/>
            <p:cNvSpPr>
              <a:spLocks noChangeArrowheads="1"/>
            </p:cNvSpPr>
            <p:nvPr/>
          </p:nvSpPr>
          <p:spPr bwMode="auto">
            <a:xfrm>
              <a:off x="2644" y="3652"/>
              <a:ext cx="232" cy="184"/>
            </a:xfrm>
            <a:prstGeom prst="ellipse">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p>
              <a:endParaRPr lang="zh-CN" altLang="en-US"/>
            </a:p>
          </p:txBody>
        </p:sp>
        <p:sp>
          <p:nvSpPr>
            <p:cNvPr id="82956" name="Oval 12"/>
            <p:cNvSpPr>
              <a:spLocks noChangeArrowheads="1"/>
            </p:cNvSpPr>
            <p:nvPr/>
          </p:nvSpPr>
          <p:spPr bwMode="auto">
            <a:xfrm>
              <a:off x="3220" y="3604"/>
              <a:ext cx="184" cy="184"/>
            </a:xfrm>
            <a:prstGeom prst="ellipse">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p>
              <a:endParaRPr lang="zh-CN" altLang="en-US"/>
            </a:p>
          </p:txBody>
        </p:sp>
        <p:sp>
          <p:nvSpPr>
            <p:cNvPr id="82957" name="Oval 13"/>
            <p:cNvSpPr>
              <a:spLocks noChangeArrowheads="1"/>
            </p:cNvSpPr>
            <p:nvPr/>
          </p:nvSpPr>
          <p:spPr bwMode="auto">
            <a:xfrm>
              <a:off x="3748" y="3220"/>
              <a:ext cx="184" cy="184"/>
            </a:xfrm>
            <a:prstGeom prst="ellipse">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p>
              <a:endParaRPr lang="zh-CN" altLang="en-US"/>
            </a:p>
          </p:txBody>
        </p:sp>
        <p:sp>
          <p:nvSpPr>
            <p:cNvPr id="82958" name="Line 14"/>
            <p:cNvSpPr>
              <a:spLocks noChangeShapeType="1"/>
            </p:cNvSpPr>
            <p:nvPr/>
          </p:nvSpPr>
          <p:spPr bwMode="auto">
            <a:xfrm flipV="1">
              <a:off x="2788" y="3596"/>
              <a:ext cx="520" cy="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9" name="Line 15"/>
            <p:cNvSpPr>
              <a:spLocks noChangeShapeType="1"/>
            </p:cNvSpPr>
            <p:nvPr/>
          </p:nvSpPr>
          <p:spPr bwMode="auto">
            <a:xfrm flipV="1">
              <a:off x="2836" y="3836"/>
              <a:ext cx="568" cy="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0" name="Line 16"/>
            <p:cNvSpPr>
              <a:spLocks noChangeShapeType="1"/>
            </p:cNvSpPr>
            <p:nvPr/>
          </p:nvSpPr>
          <p:spPr bwMode="auto">
            <a:xfrm flipV="1">
              <a:off x="3220" y="3260"/>
              <a:ext cx="520" cy="3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1" name="Line 17"/>
            <p:cNvSpPr>
              <a:spLocks noChangeShapeType="1"/>
            </p:cNvSpPr>
            <p:nvPr/>
          </p:nvSpPr>
          <p:spPr bwMode="auto">
            <a:xfrm flipV="1">
              <a:off x="3460" y="3404"/>
              <a:ext cx="472" cy="3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2" name="Rectangle 18"/>
            <p:cNvSpPr>
              <a:spLocks noChangeArrowheads="1"/>
            </p:cNvSpPr>
            <p:nvPr/>
          </p:nvSpPr>
          <p:spPr bwMode="auto">
            <a:xfrm>
              <a:off x="2740" y="3268"/>
              <a:ext cx="520" cy="232"/>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82963" name="Line 19"/>
            <p:cNvSpPr>
              <a:spLocks noChangeShapeType="1"/>
            </p:cNvSpPr>
            <p:nvPr/>
          </p:nvSpPr>
          <p:spPr bwMode="auto">
            <a:xfrm>
              <a:off x="2784" y="3268"/>
              <a:ext cx="0"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4" name="Line 20"/>
            <p:cNvSpPr>
              <a:spLocks noChangeShapeType="1"/>
            </p:cNvSpPr>
            <p:nvPr/>
          </p:nvSpPr>
          <p:spPr bwMode="auto">
            <a:xfrm>
              <a:off x="2880" y="3268"/>
              <a:ext cx="0"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5" name="Line 21"/>
            <p:cNvSpPr>
              <a:spLocks noChangeShapeType="1"/>
            </p:cNvSpPr>
            <p:nvPr/>
          </p:nvSpPr>
          <p:spPr bwMode="auto">
            <a:xfrm>
              <a:off x="2976" y="3268"/>
              <a:ext cx="0"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6" name="Line 22"/>
            <p:cNvSpPr>
              <a:spLocks noChangeShapeType="1"/>
            </p:cNvSpPr>
            <p:nvPr/>
          </p:nvSpPr>
          <p:spPr bwMode="auto">
            <a:xfrm>
              <a:off x="3120" y="3268"/>
              <a:ext cx="0"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7" name="Line 23"/>
            <p:cNvSpPr>
              <a:spLocks noChangeShapeType="1"/>
            </p:cNvSpPr>
            <p:nvPr/>
          </p:nvSpPr>
          <p:spPr bwMode="auto">
            <a:xfrm>
              <a:off x="3216" y="3268"/>
              <a:ext cx="0"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8" name="Line 24"/>
            <p:cNvSpPr>
              <a:spLocks noChangeShapeType="1"/>
            </p:cNvSpPr>
            <p:nvPr/>
          </p:nvSpPr>
          <p:spPr bwMode="auto">
            <a:xfrm flipV="1">
              <a:off x="3844" y="3260"/>
              <a:ext cx="40" cy="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9" name="Line 25"/>
            <p:cNvSpPr>
              <a:spLocks noChangeShapeType="1"/>
            </p:cNvSpPr>
            <p:nvPr/>
          </p:nvSpPr>
          <p:spPr bwMode="auto">
            <a:xfrm flipH="1">
              <a:off x="3260" y="3696"/>
              <a:ext cx="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0" name="Line 26"/>
            <p:cNvSpPr>
              <a:spLocks noChangeShapeType="1"/>
            </p:cNvSpPr>
            <p:nvPr/>
          </p:nvSpPr>
          <p:spPr bwMode="auto">
            <a:xfrm flipV="1">
              <a:off x="2740" y="3692"/>
              <a:ext cx="136" cy="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1" name="Oval 27"/>
            <p:cNvSpPr>
              <a:spLocks noChangeArrowheads="1"/>
            </p:cNvSpPr>
            <p:nvPr/>
          </p:nvSpPr>
          <p:spPr bwMode="auto">
            <a:xfrm>
              <a:off x="3988" y="3508"/>
              <a:ext cx="136" cy="88"/>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2" name="Line 28"/>
            <p:cNvSpPr>
              <a:spLocks noChangeShapeType="1"/>
            </p:cNvSpPr>
            <p:nvPr/>
          </p:nvSpPr>
          <p:spPr bwMode="auto">
            <a:xfrm>
              <a:off x="4032" y="3604"/>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3" name="Line 29"/>
            <p:cNvSpPr>
              <a:spLocks noChangeShapeType="1"/>
            </p:cNvSpPr>
            <p:nvPr/>
          </p:nvSpPr>
          <p:spPr bwMode="auto">
            <a:xfrm flipH="1">
              <a:off x="3932" y="3748"/>
              <a:ext cx="104"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4" name="Line 30"/>
            <p:cNvSpPr>
              <a:spLocks noChangeShapeType="1"/>
            </p:cNvSpPr>
            <p:nvPr/>
          </p:nvSpPr>
          <p:spPr bwMode="auto">
            <a:xfrm>
              <a:off x="3936" y="3844"/>
              <a:ext cx="0" cy="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5" name="Line 31"/>
            <p:cNvSpPr>
              <a:spLocks noChangeShapeType="1"/>
            </p:cNvSpPr>
            <p:nvPr/>
          </p:nvSpPr>
          <p:spPr bwMode="auto">
            <a:xfrm>
              <a:off x="4036" y="3748"/>
              <a:ext cx="88"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6" name="Line 32"/>
            <p:cNvSpPr>
              <a:spLocks noChangeShapeType="1"/>
            </p:cNvSpPr>
            <p:nvPr/>
          </p:nvSpPr>
          <p:spPr bwMode="auto">
            <a:xfrm flipH="1">
              <a:off x="4076" y="3844"/>
              <a:ext cx="56" cy="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7" name="Line 33"/>
            <p:cNvSpPr>
              <a:spLocks noChangeShapeType="1"/>
            </p:cNvSpPr>
            <p:nvPr/>
          </p:nvSpPr>
          <p:spPr bwMode="auto">
            <a:xfrm flipH="1">
              <a:off x="3980" y="3652"/>
              <a:ext cx="56" cy="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8" name="Line 34"/>
            <p:cNvSpPr>
              <a:spLocks noChangeShapeType="1"/>
            </p:cNvSpPr>
            <p:nvPr/>
          </p:nvSpPr>
          <p:spPr bwMode="auto">
            <a:xfrm flipH="1" flipV="1">
              <a:off x="3884" y="3644"/>
              <a:ext cx="104" cy="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9" name="Line 35"/>
            <p:cNvSpPr>
              <a:spLocks noChangeShapeType="1"/>
            </p:cNvSpPr>
            <p:nvPr/>
          </p:nvSpPr>
          <p:spPr bwMode="auto">
            <a:xfrm flipH="1" flipV="1">
              <a:off x="3884" y="3548"/>
              <a:ext cx="152" cy="1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748787581"/>
      </p:ext>
    </p:extLst>
  </p:cSld>
  <p:clrMapOvr>
    <a:masterClrMapping/>
  </p:clrMapOvr>
  <p:transition>
    <p:pull/>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Computer Architecture’s </a:t>
            </a:r>
            <a:br>
              <a:rPr lang="en-US" altLang="zh-CN"/>
            </a:br>
            <a:r>
              <a:rPr lang="en-US" altLang="zh-CN"/>
              <a:t>Changing Definition</a:t>
            </a:r>
          </a:p>
        </p:txBody>
      </p:sp>
      <p:sp>
        <p:nvSpPr>
          <p:cNvPr id="83971" name="Rectangle 3"/>
          <p:cNvSpPr>
            <a:spLocks noGrp="1" noChangeArrowheads="1"/>
          </p:cNvSpPr>
          <p:nvPr>
            <p:ph type="body" idx="1"/>
          </p:nvPr>
        </p:nvSpPr>
        <p:spPr>
          <a:xfrm>
            <a:off x="838200" y="1752600"/>
            <a:ext cx="9334500"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1950s to 1960s: Computer Architecture Course Computer Arithmetic</a:t>
            </a:r>
          </a:p>
          <a:p>
            <a:r>
              <a:rPr lang="en-US" altLang="zh-CN" dirty="0"/>
              <a:t>1970s to mid 1980s:  Computer Architecture Course Instruction Set Design, especially ISA appropriate for compilers</a:t>
            </a:r>
          </a:p>
          <a:p>
            <a:r>
              <a:rPr lang="en-US" altLang="zh-CN" dirty="0"/>
              <a:t>1990s: Computer Architecture Course</a:t>
            </a:r>
            <a:br>
              <a:rPr lang="en-US" altLang="zh-CN" dirty="0"/>
            </a:br>
            <a:r>
              <a:rPr lang="en-US" altLang="zh-CN" dirty="0"/>
              <a:t>Design of CPU, memory system, I/O system, Multiprocessors</a:t>
            </a:r>
          </a:p>
        </p:txBody>
      </p:sp>
    </p:spTree>
    <p:extLst>
      <p:ext uri="{BB962C8B-B14F-4D97-AF65-F5344CB8AC3E}">
        <p14:creationId xmlns:p14="http://schemas.microsoft.com/office/powerpoint/2010/main" val="413385011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anim calcmode="lin" valueType="num">
                                      <p:cBhvr additive="base">
                                        <p:cTn id="7" dur="500" fill="hold"/>
                                        <p:tgtEl>
                                          <p:spTgt spid="8397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39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3971">
                                            <p:txEl>
                                              <p:pRg st="1" end="1"/>
                                            </p:txEl>
                                          </p:spTgt>
                                        </p:tgtEl>
                                        <p:attrNameLst>
                                          <p:attrName>style.visibility</p:attrName>
                                        </p:attrNameLst>
                                      </p:cBhvr>
                                      <p:to>
                                        <p:strVal val="visible"/>
                                      </p:to>
                                    </p:set>
                                    <p:anim calcmode="lin" valueType="num">
                                      <p:cBhvr additive="base">
                                        <p:cTn id="13" dur="500" fill="hold"/>
                                        <p:tgtEl>
                                          <p:spTgt spid="8397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39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3971">
                                            <p:txEl>
                                              <p:pRg st="2" end="2"/>
                                            </p:txEl>
                                          </p:spTgt>
                                        </p:tgtEl>
                                        <p:attrNameLst>
                                          <p:attrName>style.visibility</p:attrName>
                                        </p:attrNameLst>
                                      </p:cBhvr>
                                      <p:to>
                                        <p:strVal val="visible"/>
                                      </p:to>
                                    </p:set>
                                    <p:anim calcmode="lin" valueType="num">
                                      <p:cBhvr additive="base">
                                        <p:cTn id="19" dur="500" fill="hold"/>
                                        <p:tgtEl>
                                          <p:spTgt spid="8397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397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zh-CN" smtClean="0"/>
              <a:t>Instruction Set Architecture (ISA)</a:t>
            </a:r>
            <a:endParaRPr lang="en-US" altLang="zh-CN" dirty="0"/>
          </a:p>
        </p:txBody>
      </p:sp>
      <p:sp>
        <p:nvSpPr>
          <p:cNvPr id="3" name="内容占位符 2"/>
          <p:cNvSpPr>
            <a:spLocks noGrp="1"/>
          </p:cNvSpPr>
          <p:nvPr>
            <p:ph idx="1"/>
          </p:nvPr>
        </p:nvSpPr>
        <p:spPr/>
        <p:txBody>
          <a:bodyPr/>
          <a:lstStyle/>
          <a:p>
            <a:r>
              <a:rPr lang="zh-CN" altLang="en-US" dirty="0" smtClean="0"/>
              <a:t>传统的计算机体系结构，即</a:t>
            </a:r>
            <a:r>
              <a:rPr lang="en-US" altLang="zh-CN" dirty="0" smtClean="0"/>
              <a:t>ISA</a:t>
            </a:r>
            <a:endParaRPr lang="zh-CN" altLang="en-US" dirty="0"/>
          </a:p>
        </p:txBody>
      </p:sp>
      <p:sp>
        <p:nvSpPr>
          <p:cNvPr id="84995" name="Rectangle 3" descr="横向砖形"/>
          <p:cNvSpPr>
            <a:spLocks noChangeArrowheads="1"/>
          </p:cNvSpPr>
          <p:nvPr/>
        </p:nvSpPr>
        <p:spPr bwMode="auto">
          <a:xfrm>
            <a:off x="2921000" y="3855692"/>
            <a:ext cx="6692900" cy="444500"/>
          </a:xfrm>
          <a:prstGeom prst="rect">
            <a:avLst/>
          </a:prstGeom>
          <a:pattFill prst="horzBrick">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96" name="Oval 4"/>
          <p:cNvSpPr>
            <a:spLocks noChangeArrowheads="1"/>
          </p:cNvSpPr>
          <p:nvPr/>
        </p:nvSpPr>
        <p:spPr bwMode="auto">
          <a:xfrm>
            <a:off x="5359400" y="2484092"/>
            <a:ext cx="368300" cy="292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97" name="Line 5"/>
          <p:cNvSpPr>
            <a:spLocks noChangeShapeType="1"/>
          </p:cNvSpPr>
          <p:nvPr/>
        </p:nvSpPr>
        <p:spPr bwMode="auto">
          <a:xfrm flipH="1">
            <a:off x="5499100" y="2788892"/>
            <a:ext cx="88900" cy="596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98" name="Line 6"/>
          <p:cNvSpPr>
            <a:spLocks noChangeShapeType="1"/>
          </p:cNvSpPr>
          <p:nvPr/>
        </p:nvSpPr>
        <p:spPr bwMode="auto">
          <a:xfrm>
            <a:off x="5511800" y="3392142"/>
            <a:ext cx="215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99" name="Line 7"/>
          <p:cNvSpPr>
            <a:spLocks noChangeShapeType="1"/>
          </p:cNvSpPr>
          <p:nvPr/>
        </p:nvSpPr>
        <p:spPr bwMode="auto">
          <a:xfrm>
            <a:off x="5734050" y="3398492"/>
            <a:ext cx="0" cy="292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0" name="Line 8"/>
          <p:cNvSpPr>
            <a:spLocks noChangeShapeType="1"/>
          </p:cNvSpPr>
          <p:nvPr/>
        </p:nvSpPr>
        <p:spPr bwMode="auto">
          <a:xfrm>
            <a:off x="5740400" y="3696942"/>
            <a:ext cx="6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1" name="Line 9"/>
          <p:cNvSpPr>
            <a:spLocks noChangeShapeType="1"/>
          </p:cNvSpPr>
          <p:nvPr/>
        </p:nvSpPr>
        <p:spPr bwMode="auto">
          <a:xfrm flipH="1">
            <a:off x="5346700" y="3398492"/>
            <a:ext cx="165100" cy="368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2" name="Line 10"/>
          <p:cNvSpPr>
            <a:spLocks noChangeShapeType="1"/>
          </p:cNvSpPr>
          <p:nvPr/>
        </p:nvSpPr>
        <p:spPr bwMode="auto">
          <a:xfrm flipH="1">
            <a:off x="5118100" y="3779492"/>
            <a:ext cx="241300" cy="139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3" name="Line 11"/>
          <p:cNvSpPr>
            <a:spLocks noChangeShapeType="1"/>
          </p:cNvSpPr>
          <p:nvPr/>
        </p:nvSpPr>
        <p:spPr bwMode="auto">
          <a:xfrm>
            <a:off x="5588000" y="3017492"/>
            <a:ext cx="215900" cy="139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4" name="Line 12"/>
          <p:cNvSpPr>
            <a:spLocks noChangeShapeType="1"/>
          </p:cNvSpPr>
          <p:nvPr/>
        </p:nvSpPr>
        <p:spPr bwMode="auto">
          <a:xfrm flipV="1">
            <a:off x="5816600" y="3004792"/>
            <a:ext cx="139700" cy="165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5" name="Line 13"/>
          <p:cNvSpPr>
            <a:spLocks noChangeShapeType="1"/>
          </p:cNvSpPr>
          <p:nvPr/>
        </p:nvSpPr>
        <p:spPr bwMode="auto">
          <a:xfrm>
            <a:off x="5511800" y="2934942"/>
            <a:ext cx="215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6" name="Line 14"/>
          <p:cNvSpPr>
            <a:spLocks noChangeShapeType="1"/>
          </p:cNvSpPr>
          <p:nvPr/>
        </p:nvSpPr>
        <p:spPr bwMode="auto">
          <a:xfrm flipV="1">
            <a:off x="5740400" y="2776192"/>
            <a:ext cx="139700" cy="165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7" name="Oval 15"/>
          <p:cNvSpPr>
            <a:spLocks noChangeArrowheads="1"/>
          </p:cNvSpPr>
          <p:nvPr/>
        </p:nvSpPr>
        <p:spPr bwMode="auto">
          <a:xfrm>
            <a:off x="6731000" y="2560292"/>
            <a:ext cx="368300" cy="292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8" name="Line 16"/>
          <p:cNvSpPr>
            <a:spLocks noChangeShapeType="1"/>
          </p:cNvSpPr>
          <p:nvPr/>
        </p:nvSpPr>
        <p:spPr bwMode="auto">
          <a:xfrm>
            <a:off x="6959600" y="2865092"/>
            <a:ext cx="63500" cy="673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9" name="Line 17"/>
          <p:cNvSpPr>
            <a:spLocks noChangeShapeType="1"/>
          </p:cNvSpPr>
          <p:nvPr/>
        </p:nvSpPr>
        <p:spPr bwMode="auto">
          <a:xfrm flipH="1">
            <a:off x="6718300" y="3474692"/>
            <a:ext cx="317500" cy="215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0" name="Line 18"/>
          <p:cNvSpPr>
            <a:spLocks noChangeShapeType="1"/>
          </p:cNvSpPr>
          <p:nvPr/>
        </p:nvSpPr>
        <p:spPr bwMode="auto">
          <a:xfrm>
            <a:off x="6731000" y="3703292"/>
            <a:ext cx="139700" cy="292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1" name="Line 19"/>
          <p:cNvSpPr>
            <a:spLocks noChangeShapeType="1"/>
          </p:cNvSpPr>
          <p:nvPr/>
        </p:nvSpPr>
        <p:spPr bwMode="auto">
          <a:xfrm>
            <a:off x="7035800" y="3474692"/>
            <a:ext cx="292100" cy="215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2" name="Line 20"/>
          <p:cNvSpPr>
            <a:spLocks noChangeShapeType="1"/>
          </p:cNvSpPr>
          <p:nvPr/>
        </p:nvSpPr>
        <p:spPr bwMode="auto">
          <a:xfrm flipV="1">
            <a:off x="7340600" y="3538192"/>
            <a:ext cx="215900" cy="165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3" name="Line 21"/>
          <p:cNvSpPr>
            <a:spLocks noChangeShapeType="1"/>
          </p:cNvSpPr>
          <p:nvPr/>
        </p:nvSpPr>
        <p:spPr bwMode="auto">
          <a:xfrm>
            <a:off x="7569200" y="3550892"/>
            <a:ext cx="63500" cy="63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4" name="Line 22"/>
          <p:cNvSpPr>
            <a:spLocks noChangeShapeType="1"/>
          </p:cNvSpPr>
          <p:nvPr/>
        </p:nvSpPr>
        <p:spPr bwMode="auto">
          <a:xfrm flipH="1">
            <a:off x="6794500" y="3093692"/>
            <a:ext cx="165100" cy="215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5" name="Line 23"/>
          <p:cNvSpPr>
            <a:spLocks noChangeShapeType="1"/>
          </p:cNvSpPr>
          <p:nvPr/>
        </p:nvSpPr>
        <p:spPr bwMode="auto">
          <a:xfrm flipH="1" flipV="1">
            <a:off x="6565900" y="3233392"/>
            <a:ext cx="241300" cy="88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6" name="Line 24"/>
          <p:cNvSpPr>
            <a:spLocks noChangeShapeType="1"/>
          </p:cNvSpPr>
          <p:nvPr/>
        </p:nvSpPr>
        <p:spPr bwMode="auto">
          <a:xfrm flipH="1">
            <a:off x="6642100" y="3011142"/>
            <a:ext cx="317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7" name="Line 25"/>
          <p:cNvSpPr>
            <a:spLocks noChangeShapeType="1"/>
          </p:cNvSpPr>
          <p:nvPr/>
        </p:nvSpPr>
        <p:spPr bwMode="auto">
          <a:xfrm flipH="1" flipV="1">
            <a:off x="6413500" y="2852392"/>
            <a:ext cx="241300" cy="165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8" name="Line 26"/>
          <p:cNvSpPr>
            <a:spLocks noChangeShapeType="1"/>
          </p:cNvSpPr>
          <p:nvPr/>
        </p:nvSpPr>
        <p:spPr bwMode="auto">
          <a:xfrm flipV="1">
            <a:off x="6807200" y="2699992"/>
            <a:ext cx="63500" cy="88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9" name="Line 27"/>
          <p:cNvSpPr>
            <a:spLocks noChangeShapeType="1"/>
          </p:cNvSpPr>
          <p:nvPr/>
        </p:nvSpPr>
        <p:spPr bwMode="auto">
          <a:xfrm flipH="1" flipV="1">
            <a:off x="5499100" y="2623792"/>
            <a:ext cx="165100" cy="165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0" name="Oval 28"/>
          <p:cNvSpPr>
            <a:spLocks noChangeArrowheads="1"/>
          </p:cNvSpPr>
          <p:nvPr/>
        </p:nvSpPr>
        <p:spPr bwMode="auto">
          <a:xfrm>
            <a:off x="5835650" y="4408142"/>
            <a:ext cx="635000" cy="482600"/>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1" name="Line 29"/>
          <p:cNvSpPr>
            <a:spLocks noChangeShapeType="1"/>
          </p:cNvSpPr>
          <p:nvPr/>
        </p:nvSpPr>
        <p:spPr bwMode="auto">
          <a:xfrm flipV="1">
            <a:off x="6064250" y="4662142"/>
            <a:ext cx="25400" cy="1270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2" name="Line 30"/>
          <p:cNvSpPr>
            <a:spLocks noChangeShapeType="1"/>
          </p:cNvSpPr>
          <p:nvPr/>
        </p:nvSpPr>
        <p:spPr bwMode="auto">
          <a:xfrm>
            <a:off x="6140450" y="4687542"/>
            <a:ext cx="254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3" name="Line 31"/>
          <p:cNvSpPr>
            <a:spLocks noChangeShapeType="1"/>
          </p:cNvSpPr>
          <p:nvPr/>
        </p:nvSpPr>
        <p:spPr bwMode="auto">
          <a:xfrm>
            <a:off x="6216650" y="4712942"/>
            <a:ext cx="25400" cy="254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4" name="Line 32"/>
          <p:cNvSpPr>
            <a:spLocks noChangeShapeType="1"/>
          </p:cNvSpPr>
          <p:nvPr/>
        </p:nvSpPr>
        <p:spPr bwMode="auto">
          <a:xfrm>
            <a:off x="6216650" y="4535142"/>
            <a:ext cx="1016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5" name="Line 33"/>
          <p:cNvSpPr>
            <a:spLocks noChangeShapeType="1"/>
          </p:cNvSpPr>
          <p:nvPr/>
        </p:nvSpPr>
        <p:spPr bwMode="auto">
          <a:xfrm flipH="1">
            <a:off x="5937250" y="4535142"/>
            <a:ext cx="1270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6" name="Line 34"/>
          <p:cNvSpPr>
            <a:spLocks noChangeShapeType="1"/>
          </p:cNvSpPr>
          <p:nvPr/>
        </p:nvSpPr>
        <p:spPr bwMode="auto">
          <a:xfrm flipV="1">
            <a:off x="5505450" y="5957542"/>
            <a:ext cx="0" cy="1270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7" name="Line 35"/>
          <p:cNvSpPr>
            <a:spLocks noChangeShapeType="1"/>
          </p:cNvSpPr>
          <p:nvPr/>
        </p:nvSpPr>
        <p:spPr bwMode="auto">
          <a:xfrm>
            <a:off x="6191250" y="4941542"/>
            <a:ext cx="0" cy="5588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8" name="Line 36"/>
          <p:cNvSpPr>
            <a:spLocks noChangeShapeType="1"/>
          </p:cNvSpPr>
          <p:nvPr/>
        </p:nvSpPr>
        <p:spPr bwMode="auto">
          <a:xfrm>
            <a:off x="6216650" y="5525742"/>
            <a:ext cx="3302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9" name="Line 37"/>
          <p:cNvSpPr>
            <a:spLocks noChangeShapeType="1"/>
          </p:cNvSpPr>
          <p:nvPr/>
        </p:nvSpPr>
        <p:spPr bwMode="auto">
          <a:xfrm>
            <a:off x="6597650" y="5551142"/>
            <a:ext cx="101600" cy="4064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0" name="Line 38"/>
          <p:cNvSpPr>
            <a:spLocks noChangeShapeType="1"/>
          </p:cNvSpPr>
          <p:nvPr/>
        </p:nvSpPr>
        <p:spPr bwMode="auto">
          <a:xfrm flipV="1">
            <a:off x="6750050" y="5881342"/>
            <a:ext cx="25400" cy="1270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1" name="Line 39"/>
          <p:cNvSpPr>
            <a:spLocks noChangeShapeType="1"/>
          </p:cNvSpPr>
          <p:nvPr/>
        </p:nvSpPr>
        <p:spPr bwMode="auto">
          <a:xfrm flipH="1">
            <a:off x="5784850" y="5551142"/>
            <a:ext cx="431800" cy="254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2" name="Line 40"/>
          <p:cNvSpPr>
            <a:spLocks noChangeShapeType="1"/>
          </p:cNvSpPr>
          <p:nvPr/>
        </p:nvSpPr>
        <p:spPr bwMode="auto">
          <a:xfrm flipH="1">
            <a:off x="5632450" y="5627342"/>
            <a:ext cx="203200" cy="4064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3" name="Line 41"/>
          <p:cNvSpPr>
            <a:spLocks noChangeShapeType="1"/>
          </p:cNvSpPr>
          <p:nvPr/>
        </p:nvSpPr>
        <p:spPr bwMode="auto">
          <a:xfrm flipH="1">
            <a:off x="5480050" y="6059142"/>
            <a:ext cx="2032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4" name="Line 42"/>
          <p:cNvSpPr>
            <a:spLocks noChangeShapeType="1"/>
          </p:cNvSpPr>
          <p:nvPr/>
        </p:nvSpPr>
        <p:spPr bwMode="auto">
          <a:xfrm>
            <a:off x="6216650" y="4941542"/>
            <a:ext cx="482600" cy="254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5" name="Line 43"/>
          <p:cNvSpPr>
            <a:spLocks noChangeShapeType="1"/>
          </p:cNvSpPr>
          <p:nvPr/>
        </p:nvSpPr>
        <p:spPr bwMode="auto">
          <a:xfrm flipV="1">
            <a:off x="6750050" y="4281142"/>
            <a:ext cx="330200" cy="7366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6" name="Line 44"/>
          <p:cNvSpPr>
            <a:spLocks noChangeShapeType="1"/>
          </p:cNvSpPr>
          <p:nvPr/>
        </p:nvSpPr>
        <p:spPr bwMode="auto">
          <a:xfrm>
            <a:off x="7131050" y="4306542"/>
            <a:ext cx="1778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7" name="Line 45"/>
          <p:cNvSpPr>
            <a:spLocks noChangeShapeType="1"/>
          </p:cNvSpPr>
          <p:nvPr/>
        </p:nvSpPr>
        <p:spPr bwMode="auto">
          <a:xfrm flipH="1">
            <a:off x="5708650" y="5017742"/>
            <a:ext cx="508000" cy="254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8" name="Line 46"/>
          <p:cNvSpPr>
            <a:spLocks noChangeShapeType="1"/>
          </p:cNvSpPr>
          <p:nvPr/>
        </p:nvSpPr>
        <p:spPr bwMode="auto">
          <a:xfrm flipH="1" flipV="1">
            <a:off x="5175250" y="4281142"/>
            <a:ext cx="584200" cy="8128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9" name="Line 47"/>
          <p:cNvSpPr>
            <a:spLocks noChangeShapeType="1"/>
          </p:cNvSpPr>
          <p:nvPr/>
        </p:nvSpPr>
        <p:spPr bwMode="auto">
          <a:xfrm flipH="1">
            <a:off x="4946650" y="4306542"/>
            <a:ext cx="2794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85040" name="Rectangle 48"/>
          <p:cNvSpPr>
            <a:spLocks noChangeArrowheads="1"/>
          </p:cNvSpPr>
          <p:nvPr/>
        </p:nvSpPr>
        <p:spPr bwMode="auto">
          <a:xfrm>
            <a:off x="5289550" y="3938243"/>
            <a:ext cx="1701800" cy="303213"/>
          </a:xfrm>
          <a:prstGeom prst="rect">
            <a:avLst/>
          </a:prstGeom>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2000"/>
              </a:lnSpc>
            </a:pPr>
            <a:r>
              <a:rPr lang="en-US" altLang="zh-CN" b="1">
                <a:latin typeface="Arial" panose="020B0604020202020204" pitchFamily="34" charset="0"/>
              </a:rPr>
              <a:t>instruction set</a:t>
            </a:r>
          </a:p>
        </p:txBody>
      </p:sp>
      <p:sp>
        <p:nvSpPr>
          <p:cNvPr id="85041" name="Rectangle 49"/>
          <p:cNvSpPr>
            <a:spLocks noChangeArrowheads="1"/>
          </p:cNvSpPr>
          <p:nvPr/>
        </p:nvSpPr>
        <p:spPr bwMode="auto">
          <a:xfrm>
            <a:off x="2470150" y="3036543"/>
            <a:ext cx="10668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software</a:t>
            </a:r>
          </a:p>
        </p:txBody>
      </p:sp>
      <p:sp>
        <p:nvSpPr>
          <p:cNvPr id="85042" name="Rectangle 50"/>
          <p:cNvSpPr>
            <a:spLocks noChangeArrowheads="1"/>
          </p:cNvSpPr>
          <p:nvPr/>
        </p:nvSpPr>
        <p:spPr bwMode="auto">
          <a:xfrm>
            <a:off x="2470150" y="4941543"/>
            <a:ext cx="1143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hardware</a:t>
            </a:r>
          </a:p>
        </p:txBody>
      </p:sp>
    </p:spTree>
    <p:extLst>
      <p:ext uri="{BB962C8B-B14F-4D97-AF65-F5344CB8AC3E}">
        <p14:creationId xmlns:p14="http://schemas.microsoft.com/office/powerpoint/2010/main" val="1820611661"/>
      </p:ext>
    </p:extLst>
  </p:cSld>
  <p:clrMapOvr>
    <a:masterClrMapping/>
  </p:clrMapOvr>
  <p:transition>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altLang="zh-CN" smtClean="0"/>
              <a:t>Interface Design</a:t>
            </a:r>
            <a:endParaRPr lang="en-US" altLang="zh-CN"/>
          </a:p>
        </p:txBody>
      </p:sp>
      <p:sp>
        <p:nvSpPr>
          <p:cNvPr id="86019" name="Rectangle 3"/>
          <p:cNvSpPr>
            <a:spLocks noChangeArrowheads="1"/>
          </p:cNvSpPr>
          <p:nvPr/>
        </p:nvSpPr>
        <p:spPr bwMode="auto">
          <a:xfrm>
            <a:off x="970559" y="1634621"/>
            <a:ext cx="10477254" cy="224535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800100" indent="-342900">
              <a:defRPr kumimoji="1" sz="2400">
                <a:solidFill>
                  <a:schemeClr val="tx1"/>
                </a:solidFill>
                <a:latin typeface="Times New Roman" panose="02020603050405020304" pitchFamily="18" charset="0"/>
                <a:ea typeface="宋体" panose="02010600030101010101" pitchFamily="2" charset="-122"/>
              </a:defRPr>
            </a:lvl2pPr>
            <a:lvl3pPr marL="1257300" indent="-342900">
              <a:defRPr kumimoji="1" sz="2400">
                <a:solidFill>
                  <a:schemeClr val="tx1"/>
                </a:solidFill>
                <a:latin typeface="Times New Roman" panose="02020603050405020304" pitchFamily="18" charset="0"/>
                <a:ea typeface="宋体" panose="02010600030101010101" pitchFamily="2" charset="-122"/>
              </a:defRPr>
            </a:lvl3pPr>
            <a:lvl4pPr marL="1714500" indent="-342900">
              <a:defRPr kumimoji="1" sz="2400">
                <a:solidFill>
                  <a:schemeClr val="tx1"/>
                </a:solidFill>
                <a:latin typeface="Times New Roman" panose="02020603050405020304" pitchFamily="18" charset="0"/>
                <a:ea typeface="宋体" panose="02010600030101010101" pitchFamily="2" charset="-122"/>
              </a:defRPr>
            </a:lvl4pPr>
            <a:lvl5pPr marL="2171700" indent="-342900">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6000"/>
              </a:lnSpc>
              <a:spcBef>
                <a:spcPct val="41000"/>
              </a:spcBef>
            </a:pPr>
            <a:r>
              <a:rPr lang="en-US" altLang="zh-CN" b="1" dirty="0">
                <a:latin typeface="Arial" panose="020B0604020202020204" pitchFamily="34" charset="0"/>
              </a:rPr>
              <a:t>A good interface:</a:t>
            </a:r>
            <a:endParaRPr lang="en-US" altLang="zh-CN" sz="1800" b="1" dirty="0">
              <a:latin typeface="Arial" panose="020B0604020202020204" pitchFamily="34" charset="0"/>
            </a:endParaRPr>
          </a:p>
          <a:p>
            <a:pPr lvl="1">
              <a:lnSpc>
                <a:spcPct val="86000"/>
              </a:lnSpc>
              <a:spcBef>
                <a:spcPct val="41000"/>
              </a:spcBef>
              <a:buFontTx/>
              <a:buChar char="•"/>
            </a:pPr>
            <a:r>
              <a:rPr lang="en-US" altLang="zh-CN" b="1" dirty="0">
                <a:latin typeface="Arial" panose="020B0604020202020204" pitchFamily="34" charset="0"/>
              </a:rPr>
              <a:t>Lasts through many implementations (portability, </a:t>
            </a:r>
            <a:r>
              <a:rPr lang="en-US" altLang="zh-CN" b="1" dirty="0" smtClean="0">
                <a:latin typeface="Arial" panose="020B0604020202020204" pitchFamily="34" charset="0"/>
              </a:rPr>
              <a:t>compatibility)</a:t>
            </a:r>
            <a:endParaRPr lang="en-US" altLang="zh-CN" b="1" dirty="0">
              <a:latin typeface="Arial" panose="020B0604020202020204" pitchFamily="34" charset="0"/>
            </a:endParaRPr>
          </a:p>
          <a:p>
            <a:pPr lvl="1">
              <a:lnSpc>
                <a:spcPct val="86000"/>
              </a:lnSpc>
              <a:spcBef>
                <a:spcPct val="41000"/>
              </a:spcBef>
              <a:buFontTx/>
              <a:buChar char="•"/>
            </a:pPr>
            <a:r>
              <a:rPr lang="en-US" altLang="zh-CN" b="1" dirty="0">
                <a:latin typeface="Arial" panose="020B0604020202020204" pitchFamily="34" charset="0"/>
              </a:rPr>
              <a:t>Is used in many </a:t>
            </a:r>
            <a:r>
              <a:rPr lang="en-US" altLang="zh-CN" b="1" dirty="0" smtClean="0">
                <a:latin typeface="Arial" panose="020B0604020202020204" pitchFamily="34" charset="0"/>
              </a:rPr>
              <a:t>different </a:t>
            </a:r>
            <a:r>
              <a:rPr lang="en-US" altLang="zh-CN" b="1" dirty="0">
                <a:latin typeface="Arial" panose="020B0604020202020204" pitchFamily="34" charset="0"/>
              </a:rPr>
              <a:t>ways (generality)</a:t>
            </a:r>
          </a:p>
          <a:p>
            <a:pPr lvl="1">
              <a:lnSpc>
                <a:spcPct val="86000"/>
              </a:lnSpc>
              <a:spcBef>
                <a:spcPct val="41000"/>
              </a:spcBef>
              <a:buFontTx/>
              <a:buChar char="•"/>
            </a:pPr>
            <a:r>
              <a:rPr lang="en-US" altLang="zh-CN" b="1" dirty="0">
                <a:latin typeface="Arial" panose="020B0604020202020204" pitchFamily="34" charset="0"/>
              </a:rPr>
              <a:t>Provides </a:t>
            </a:r>
            <a:r>
              <a:rPr lang="en-US" altLang="zh-CN" b="1" dirty="0">
                <a:solidFill>
                  <a:schemeClr val="hlink"/>
                </a:solidFill>
                <a:latin typeface="Arial" panose="020B0604020202020204" pitchFamily="34" charset="0"/>
              </a:rPr>
              <a:t>convenient</a:t>
            </a:r>
            <a:r>
              <a:rPr lang="en-US" altLang="zh-CN" b="1" dirty="0">
                <a:latin typeface="Arial" panose="020B0604020202020204" pitchFamily="34" charset="0"/>
              </a:rPr>
              <a:t>  functionality to higher levels</a:t>
            </a:r>
          </a:p>
          <a:p>
            <a:pPr lvl="1">
              <a:lnSpc>
                <a:spcPct val="86000"/>
              </a:lnSpc>
              <a:spcBef>
                <a:spcPct val="41000"/>
              </a:spcBef>
              <a:buFontTx/>
              <a:buChar char="•"/>
            </a:pPr>
            <a:r>
              <a:rPr lang="en-US" altLang="zh-CN" b="1" dirty="0">
                <a:latin typeface="Arial" panose="020B0604020202020204" pitchFamily="34" charset="0"/>
              </a:rPr>
              <a:t>Permits an </a:t>
            </a:r>
            <a:r>
              <a:rPr lang="en-US" altLang="zh-CN" b="1" dirty="0">
                <a:solidFill>
                  <a:schemeClr val="hlink"/>
                </a:solidFill>
                <a:latin typeface="Arial" panose="020B0604020202020204" pitchFamily="34" charset="0"/>
              </a:rPr>
              <a:t>efficient</a:t>
            </a:r>
            <a:r>
              <a:rPr lang="en-US" altLang="zh-CN" b="1" dirty="0">
                <a:latin typeface="Arial" panose="020B0604020202020204" pitchFamily="34" charset="0"/>
              </a:rPr>
              <a:t> implementation at lower levels</a:t>
            </a:r>
          </a:p>
        </p:txBody>
      </p:sp>
      <p:sp>
        <p:nvSpPr>
          <p:cNvPr id="86020" name="Rectangle 4"/>
          <p:cNvSpPr>
            <a:spLocks noChangeArrowheads="1"/>
          </p:cNvSpPr>
          <p:nvPr/>
        </p:nvSpPr>
        <p:spPr bwMode="auto">
          <a:xfrm>
            <a:off x="5041900" y="4743451"/>
            <a:ext cx="1412246" cy="37260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7000"/>
              </a:lnSpc>
            </a:pPr>
            <a:r>
              <a:rPr lang="en-US" altLang="zh-CN" sz="2400" b="1">
                <a:latin typeface="Arial" panose="020B0604020202020204" pitchFamily="34" charset="0"/>
              </a:rPr>
              <a:t>Interface</a:t>
            </a:r>
          </a:p>
        </p:txBody>
      </p:sp>
      <p:sp>
        <p:nvSpPr>
          <p:cNvPr id="86021" name="AutoShape 5"/>
          <p:cNvSpPr>
            <a:spLocks noChangeArrowheads="1"/>
          </p:cNvSpPr>
          <p:nvPr/>
        </p:nvSpPr>
        <p:spPr bwMode="auto">
          <a:xfrm>
            <a:off x="4959350" y="4635500"/>
            <a:ext cx="1587500" cy="749300"/>
          </a:xfrm>
          <a:prstGeom prst="roundRect">
            <a:avLst>
              <a:gd name="adj" fmla="val 12495"/>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2" name="Rectangle 6"/>
          <p:cNvSpPr>
            <a:spLocks noChangeArrowheads="1"/>
          </p:cNvSpPr>
          <p:nvPr/>
        </p:nvSpPr>
        <p:spPr bwMode="auto">
          <a:xfrm>
            <a:off x="7156450" y="4559301"/>
            <a:ext cx="736600" cy="3159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2000"/>
              </a:lnSpc>
            </a:pPr>
            <a:r>
              <a:rPr lang="en-US" altLang="zh-CN" b="1">
                <a:latin typeface="Arial" panose="020B0604020202020204" pitchFamily="34" charset="0"/>
              </a:rPr>
              <a:t>imp 1</a:t>
            </a:r>
          </a:p>
        </p:txBody>
      </p:sp>
      <p:sp>
        <p:nvSpPr>
          <p:cNvPr id="86023" name="Rectangle 7"/>
          <p:cNvSpPr>
            <a:spLocks noChangeArrowheads="1"/>
          </p:cNvSpPr>
          <p:nvPr/>
        </p:nvSpPr>
        <p:spPr bwMode="auto">
          <a:xfrm>
            <a:off x="7232650" y="5092701"/>
            <a:ext cx="736600" cy="3159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2000"/>
              </a:lnSpc>
            </a:pPr>
            <a:r>
              <a:rPr lang="en-US" altLang="zh-CN" b="1">
                <a:latin typeface="Arial" panose="020B0604020202020204" pitchFamily="34" charset="0"/>
              </a:rPr>
              <a:t>imp 2</a:t>
            </a:r>
          </a:p>
        </p:txBody>
      </p:sp>
      <p:sp>
        <p:nvSpPr>
          <p:cNvPr id="86024" name="Rectangle 8"/>
          <p:cNvSpPr>
            <a:spLocks noChangeArrowheads="1"/>
          </p:cNvSpPr>
          <p:nvPr/>
        </p:nvSpPr>
        <p:spPr bwMode="auto">
          <a:xfrm>
            <a:off x="7080250" y="5626101"/>
            <a:ext cx="736600" cy="3159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2000"/>
              </a:lnSpc>
            </a:pPr>
            <a:r>
              <a:rPr lang="en-US" altLang="zh-CN" b="1">
                <a:latin typeface="Arial" panose="020B0604020202020204" pitchFamily="34" charset="0"/>
              </a:rPr>
              <a:t>imp 3</a:t>
            </a:r>
          </a:p>
        </p:txBody>
      </p:sp>
      <p:sp>
        <p:nvSpPr>
          <p:cNvPr id="86025" name="Line 9"/>
          <p:cNvSpPr>
            <a:spLocks noChangeShapeType="1"/>
          </p:cNvSpPr>
          <p:nvPr/>
        </p:nvSpPr>
        <p:spPr bwMode="auto">
          <a:xfrm flipV="1">
            <a:off x="6559550" y="4699000"/>
            <a:ext cx="596900" cy="393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6" name="Line 10"/>
          <p:cNvSpPr>
            <a:spLocks noChangeShapeType="1"/>
          </p:cNvSpPr>
          <p:nvPr/>
        </p:nvSpPr>
        <p:spPr bwMode="auto">
          <a:xfrm>
            <a:off x="6635750" y="5092700"/>
            <a:ext cx="520700" cy="139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7" name="Line 11"/>
          <p:cNvSpPr>
            <a:spLocks noChangeShapeType="1"/>
          </p:cNvSpPr>
          <p:nvPr/>
        </p:nvSpPr>
        <p:spPr bwMode="auto">
          <a:xfrm>
            <a:off x="6635750" y="5168900"/>
            <a:ext cx="368300" cy="596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8" name="Rectangle 12"/>
          <p:cNvSpPr>
            <a:spLocks noChangeArrowheads="1"/>
          </p:cNvSpPr>
          <p:nvPr/>
        </p:nvSpPr>
        <p:spPr bwMode="auto">
          <a:xfrm>
            <a:off x="3575050" y="4483101"/>
            <a:ext cx="533400" cy="3159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2000"/>
              </a:lnSpc>
            </a:pPr>
            <a:r>
              <a:rPr lang="en-US" altLang="zh-CN" b="1">
                <a:latin typeface="Arial" panose="020B0604020202020204" pitchFamily="34" charset="0"/>
              </a:rPr>
              <a:t>use</a:t>
            </a:r>
          </a:p>
        </p:txBody>
      </p:sp>
      <p:sp>
        <p:nvSpPr>
          <p:cNvPr id="86029" name="Rectangle 13"/>
          <p:cNvSpPr>
            <a:spLocks noChangeArrowheads="1"/>
          </p:cNvSpPr>
          <p:nvPr/>
        </p:nvSpPr>
        <p:spPr bwMode="auto">
          <a:xfrm>
            <a:off x="3346450" y="5016501"/>
            <a:ext cx="533400" cy="3159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2000"/>
              </a:lnSpc>
            </a:pPr>
            <a:r>
              <a:rPr lang="en-US" altLang="zh-CN" b="1">
                <a:latin typeface="Arial" panose="020B0604020202020204" pitchFamily="34" charset="0"/>
              </a:rPr>
              <a:t>use</a:t>
            </a:r>
          </a:p>
        </p:txBody>
      </p:sp>
      <p:sp>
        <p:nvSpPr>
          <p:cNvPr id="86030" name="Rectangle 14"/>
          <p:cNvSpPr>
            <a:spLocks noChangeArrowheads="1"/>
          </p:cNvSpPr>
          <p:nvPr/>
        </p:nvSpPr>
        <p:spPr bwMode="auto">
          <a:xfrm>
            <a:off x="3575050" y="5549901"/>
            <a:ext cx="533400" cy="3159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2000"/>
              </a:lnSpc>
            </a:pPr>
            <a:r>
              <a:rPr lang="en-US" altLang="zh-CN" b="1">
                <a:latin typeface="Arial" panose="020B0604020202020204" pitchFamily="34" charset="0"/>
              </a:rPr>
              <a:t>use</a:t>
            </a:r>
          </a:p>
        </p:txBody>
      </p:sp>
      <p:sp>
        <p:nvSpPr>
          <p:cNvPr id="86031" name="Line 15"/>
          <p:cNvSpPr>
            <a:spLocks noChangeShapeType="1"/>
          </p:cNvSpPr>
          <p:nvPr/>
        </p:nvSpPr>
        <p:spPr bwMode="auto">
          <a:xfrm>
            <a:off x="4121150" y="4635500"/>
            <a:ext cx="825500" cy="292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2" name="Line 16"/>
          <p:cNvSpPr>
            <a:spLocks noChangeShapeType="1"/>
          </p:cNvSpPr>
          <p:nvPr/>
        </p:nvSpPr>
        <p:spPr bwMode="auto">
          <a:xfrm flipV="1">
            <a:off x="3892550" y="5003800"/>
            <a:ext cx="1054100" cy="241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3" name="Line 17"/>
          <p:cNvSpPr>
            <a:spLocks noChangeShapeType="1"/>
          </p:cNvSpPr>
          <p:nvPr/>
        </p:nvSpPr>
        <p:spPr bwMode="auto">
          <a:xfrm flipV="1">
            <a:off x="4121150" y="5080000"/>
            <a:ext cx="825500" cy="698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4" name="Line 18"/>
          <p:cNvSpPr>
            <a:spLocks noChangeShapeType="1"/>
          </p:cNvSpPr>
          <p:nvPr/>
        </p:nvSpPr>
        <p:spPr bwMode="auto">
          <a:xfrm>
            <a:off x="8686800" y="4483100"/>
            <a:ext cx="0" cy="14351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5" name="Rectangle 19"/>
          <p:cNvSpPr>
            <a:spLocks noChangeArrowheads="1"/>
          </p:cNvSpPr>
          <p:nvPr/>
        </p:nvSpPr>
        <p:spPr bwMode="auto">
          <a:xfrm>
            <a:off x="8851900" y="4502151"/>
            <a:ext cx="5969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time</a:t>
            </a:r>
          </a:p>
        </p:txBody>
      </p:sp>
    </p:spTree>
    <p:extLst>
      <p:ext uri="{BB962C8B-B14F-4D97-AF65-F5344CB8AC3E}">
        <p14:creationId xmlns:p14="http://schemas.microsoft.com/office/powerpoint/2010/main" val="1022247774"/>
      </p:ext>
    </p:extLst>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zh-CN" smtClean="0"/>
              <a:t>Instruction Set Architecture</a:t>
            </a:r>
            <a:endParaRPr lang="en-US" altLang="zh-CN"/>
          </a:p>
        </p:txBody>
      </p:sp>
      <p:sp>
        <p:nvSpPr>
          <p:cNvPr id="13332" name="Rectangle 20"/>
          <p:cNvSpPr>
            <a:spLocks noGrp="1" noChangeArrowheads="1"/>
          </p:cNvSpPr>
          <p:nvPr>
            <p:ph type="body" idx="1"/>
          </p:nvPr>
        </p:nvSpPr>
        <p:spPr>
          <a:xfrm>
            <a:off x="433450" y="1556792"/>
            <a:ext cx="9286504" cy="5112568"/>
          </a:xfrm>
        </p:spPr>
        <p:txBody>
          <a:bodyPr/>
          <a:lstStyle/>
          <a:p>
            <a:r>
              <a:rPr lang="en-US" altLang="zh-CN" dirty="0" smtClean="0"/>
              <a:t>Instruction Format or Encoding, how to decode</a:t>
            </a:r>
          </a:p>
          <a:p>
            <a:r>
              <a:rPr lang="en-US" altLang="zh-CN" dirty="0" smtClean="0"/>
              <a:t>Location of operands and result</a:t>
            </a:r>
          </a:p>
          <a:p>
            <a:pPr lvl="1"/>
            <a:r>
              <a:rPr lang="en-US" altLang="zh-CN" dirty="0"/>
              <a:t>W</a:t>
            </a:r>
            <a:r>
              <a:rPr lang="en-US" altLang="zh-CN" dirty="0" smtClean="0"/>
              <a:t>here other than memory, how many explicit operands?</a:t>
            </a:r>
          </a:p>
          <a:p>
            <a:pPr lvl="1"/>
            <a:r>
              <a:rPr lang="en-US" altLang="zh-CN" dirty="0"/>
              <a:t>H</a:t>
            </a:r>
            <a:r>
              <a:rPr lang="en-US" altLang="zh-CN" dirty="0" smtClean="0"/>
              <a:t>ow are memory operands located?</a:t>
            </a:r>
          </a:p>
          <a:p>
            <a:r>
              <a:rPr lang="en-US" altLang="zh-CN" dirty="0" smtClean="0"/>
              <a:t>Data type and Size of Operands</a:t>
            </a:r>
          </a:p>
          <a:p>
            <a:r>
              <a:rPr lang="en-US" altLang="zh-CN" dirty="0" smtClean="0"/>
              <a:t>What kinds of Operations are supported</a:t>
            </a:r>
          </a:p>
          <a:p>
            <a:r>
              <a:rPr lang="en-US" altLang="zh-CN" dirty="0" smtClean="0"/>
              <a:t>How to determine the successive instruction</a:t>
            </a:r>
          </a:p>
          <a:p>
            <a:pPr lvl="1"/>
            <a:r>
              <a:rPr lang="en-US" altLang="zh-CN" dirty="0" smtClean="0"/>
              <a:t>jumps, conditions, branches, call/returns</a:t>
            </a:r>
          </a:p>
          <a:p>
            <a:r>
              <a:rPr lang="en-US" altLang="zh-CN" dirty="0" smtClean="0"/>
              <a:t>Other Programmer Visible </a:t>
            </a:r>
            <a:r>
              <a:rPr lang="en-US" altLang="zh-CN" dirty="0"/>
              <a:t>M</a:t>
            </a:r>
            <a:r>
              <a:rPr lang="en-US" altLang="zh-CN" dirty="0" smtClean="0"/>
              <a:t>achine </a:t>
            </a:r>
            <a:r>
              <a:rPr lang="en-US" altLang="zh-CN" dirty="0"/>
              <a:t>S</a:t>
            </a:r>
            <a:r>
              <a:rPr lang="en-US" altLang="zh-CN" dirty="0" smtClean="0"/>
              <a:t>tatus</a:t>
            </a:r>
          </a:p>
          <a:p>
            <a:pPr lvl="1"/>
            <a:r>
              <a:rPr lang="en-US" altLang="zh-CN" dirty="0" smtClean="0"/>
              <a:t>Program Status Word (PSW), Other special registers (Flags)</a:t>
            </a:r>
          </a:p>
          <a:p>
            <a:pPr lvl="1"/>
            <a:r>
              <a:rPr lang="en-US" altLang="zh-CN" dirty="0" smtClean="0"/>
              <a:t>Performance counters, System registers (e.g., page size)</a:t>
            </a:r>
            <a:endParaRPr lang="en-US" altLang="zh-CN" dirty="0"/>
          </a:p>
        </p:txBody>
      </p:sp>
      <p:sp>
        <p:nvSpPr>
          <p:cNvPr id="13315" name="Rectangle 3"/>
          <p:cNvSpPr>
            <a:spLocks noChangeArrowheads="1"/>
          </p:cNvSpPr>
          <p:nvPr/>
        </p:nvSpPr>
        <p:spPr bwMode="auto">
          <a:xfrm>
            <a:off x="10760203" y="4129974"/>
            <a:ext cx="254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6" name="Rectangle 4"/>
          <p:cNvSpPr>
            <a:spLocks noChangeArrowheads="1"/>
          </p:cNvSpPr>
          <p:nvPr/>
        </p:nvSpPr>
        <p:spPr bwMode="auto">
          <a:xfrm>
            <a:off x="10182353" y="1126425"/>
            <a:ext cx="1574800" cy="6461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800100" indent="-342900">
              <a:defRPr kumimoji="1" sz="2400">
                <a:solidFill>
                  <a:schemeClr val="tx1"/>
                </a:solidFill>
                <a:latin typeface="Times New Roman" panose="02020603050405020304" pitchFamily="18" charset="0"/>
                <a:ea typeface="宋体" panose="02010600030101010101" pitchFamily="2" charset="-122"/>
              </a:defRPr>
            </a:lvl2pPr>
            <a:lvl3pPr marL="1257300" indent="-342900">
              <a:defRPr kumimoji="1" sz="2400">
                <a:solidFill>
                  <a:schemeClr val="tx1"/>
                </a:solidFill>
                <a:latin typeface="Times New Roman" panose="02020603050405020304" pitchFamily="18" charset="0"/>
                <a:ea typeface="宋体" panose="02010600030101010101" pitchFamily="2" charset="-122"/>
              </a:defRPr>
            </a:lvl3pPr>
            <a:lvl4pPr marL="1714500" indent="-342900">
              <a:defRPr kumimoji="1" sz="2400">
                <a:solidFill>
                  <a:schemeClr val="tx1"/>
                </a:solidFill>
                <a:latin typeface="Times New Roman" panose="02020603050405020304" pitchFamily="18" charset="0"/>
                <a:ea typeface="宋体" panose="02010600030101010101" pitchFamily="2" charset="-122"/>
              </a:defRPr>
            </a:lvl4pPr>
            <a:lvl5pPr marL="2171700" indent="-342900">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86000"/>
              </a:lnSpc>
              <a:spcBef>
                <a:spcPct val="40000"/>
              </a:spcBef>
            </a:pPr>
            <a:r>
              <a:rPr lang="en-US" altLang="zh-CN" sz="1800" b="1" i="1">
                <a:latin typeface="Arial" panose="020B0604020202020204" pitchFamily="34" charset="0"/>
              </a:rPr>
              <a:t>Instruction</a:t>
            </a:r>
          </a:p>
          <a:p>
            <a:pPr algn="ctr">
              <a:lnSpc>
                <a:spcPct val="86000"/>
              </a:lnSpc>
              <a:spcBef>
                <a:spcPct val="40000"/>
              </a:spcBef>
            </a:pPr>
            <a:r>
              <a:rPr lang="en-US" altLang="zh-CN" sz="1800" b="1" i="1">
                <a:latin typeface="Arial" panose="020B0604020202020204" pitchFamily="34" charset="0"/>
              </a:rPr>
              <a:t>Fetch</a:t>
            </a:r>
          </a:p>
        </p:txBody>
      </p:sp>
      <p:sp>
        <p:nvSpPr>
          <p:cNvPr id="13317" name="Rectangle 5"/>
          <p:cNvSpPr>
            <a:spLocks noChangeArrowheads="1"/>
          </p:cNvSpPr>
          <p:nvPr/>
        </p:nvSpPr>
        <p:spPr bwMode="auto">
          <a:xfrm>
            <a:off x="10182353" y="2117025"/>
            <a:ext cx="1574800" cy="6461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800100" indent="-342900">
              <a:defRPr kumimoji="1" sz="2400">
                <a:solidFill>
                  <a:schemeClr val="tx1"/>
                </a:solidFill>
                <a:latin typeface="Times New Roman" panose="02020603050405020304" pitchFamily="18" charset="0"/>
                <a:ea typeface="宋体" panose="02010600030101010101" pitchFamily="2" charset="-122"/>
              </a:defRPr>
            </a:lvl2pPr>
            <a:lvl3pPr marL="1257300" indent="-342900">
              <a:defRPr kumimoji="1" sz="2400">
                <a:solidFill>
                  <a:schemeClr val="tx1"/>
                </a:solidFill>
                <a:latin typeface="Times New Roman" panose="02020603050405020304" pitchFamily="18" charset="0"/>
                <a:ea typeface="宋体" panose="02010600030101010101" pitchFamily="2" charset="-122"/>
              </a:defRPr>
            </a:lvl3pPr>
            <a:lvl4pPr marL="1714500" indent="-342900">
              <a:defRPr kumimoji="1" sz="2400">
                <a:solidFill>
                  <a:schemeClr val="tx1"/>
                </a:solidFill>
                <a:latin typeface="Times New Roman" panose="02020603050405020304" pitchFamily="18" charset="0"/>
                <a:ea typeface="宋体" panose="02010600030101010101" pitchFamily="2" charset="-122"/>
              </a:defRPr>
            </a:lvl4pPr>
            <a:lvl5pPr marL="2171700" indent="-342900">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86000"/>
              </a:lnSpc>
              <a:spcBef>
                <a:spcPct val="40000"/>
              </a:spcBef>
            </a:pPr>
            <a:r>
              <a:rPr lang="en-US" altLang="zh-CN" sz="1800" b="1" i="1">
                <a:latin typeface="Arial" panose="020B0604020202020204" pitchFamily="34" charset="0"/>
              </a:rPr>
              <a:t>Instruction</a:t>
            </a:r>
          </a:p>
          <a:p>
            <a:pPr algn="ctr">
              <a:lnSpc>
                <a:spcPct val="86000"/>
              </a:lnSpc>
              <a:spcBef>
                <a:spcPct val="40000"/>
              </a:spcBef>
            </a:pPr>
            <a:r>
              <a:rPr lang="en-US" altLang="zh-CN" sz="1800" b="1" i="1">
                <a:latin typeface="Arial" panose="020B0604020202020204" pitchFamily="34" charset="0"/>
              </a:rPr>
              <a:t>Decode</a:t>
            </a:r>
          </a:p>
        </p:txBody>
      </p:sp>
      <p:sp>
        <p:nvSpPr>
          <p:cNvPr id="13318" name="Rectangle 6"/>
          <p:cNvSpPr>
            <a:spLocks noChangeArrowheads="1"/>
          </p:cNvSpPr>
          <p:nvPr/>
        </p:nvSpPr>
        <p:spPr bwMode="auto">
          <a:xfrm>
            <a:off x="10182353" y="3107625"/>
            <a:ext cx="1574800" cy="6461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800100" indent="-342900">
              <a:defRPr kumimoji="1" sz="2400">
                <a:solidFill>
                  <a:schemeClr val="tx1"/>
                </a:solidFill>
                <a:latin typeface="Times New Roman" panose="02020603050405020304" pitchFamily="18" charset="0"/>
                <a:ea typeface="宋体" panose="02010600030101010101" pitchFamily="2" charset="-122"/>
              </a:defRPr>
            </a:lvl2pPr>
            <a:lvl3pPr marL="1257300" indent="-342900">
              <a:defRPr kumimoji="1" sz="2400">
                <a:solidFill>
                  <a:schemeClr val="tx1"/>
                </a:solidFill>
                <a:latin typeface="Times New Roman" panose="02020603050405020304" pitchFamily="18" charset="0"/>
                <a:ea typeface="宋体" panose="02010600030101010101" pitchFamily="2" charset="-122"/>
              </a:defRPr>
            </a:lvl3pPr>
            <a:lvl4pPr marL="1714500" indent="-342900">
              <a:defRPr kumimoji="1" sz="2400">
                <a:solidFill>
                  <a:schemeClr val="tx1"/>
                </a:solidFill>
                <a:latin typeface="Times New Roman" panose="02020603050405020304" pitchFamily="18" charset="0"/>
                <a:ea typeface="宋体" panose="02010600030101010101" pitchFamily="2" charset="-122"/>
              </a:defRPr>
            </a:lvl4pPr>
            <a:lvl5pPr marL="2171700" indent="-342900">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86000"/>
              </a:lnSpc>
              <a:spcBef>
                <a:spcPct val="40000"/>
              </a:spcBef>
            </a:pPr>
            <a:r>
              <a:rPr lang="en-US" altLang="zh-CN" sz="1800" b="1" i="1">
                <a:latin typeface="Arial" panose="020B0604020202020204" pitchFamily="34" charset="0"/>
              </a:rPr>
              <a:t>Operand</a:t>
            </a:r>
          </a:p>
          <a:p>
            <a:pPr algn="ctr">
              <a:lnSpc>
                <a:spcPct val="86000"/>
              </a:lnSpc>
              <a:spcBef>
                <a:spcPct val="40000"/>
              </a:spcBef>
            </a:pPr>
            <a:r>
              <a:rPr lang="en-US" altLang="zh-CN" sz="1800" b="1" i="1">
                <a:latin typeface="Arial" panose="020B0604020202020204" pitchFamily="34" charset="0"/>
              </a:rPr>
              <a:t>Fetch</a:t>
            </a:r>
          </a:p>
        </p:txBody>
      </p:sp>
      <p:sp>
        <p:nvSpPr>
          <p:cNvPr id="13319" name="Rectangle 7"/>
          <p:cNvSpPr>
            <a:spLocks noChangeArrowheads="1"/>
          </p:cNvSpPr>
          <p:nvPr/>
        </p:nvSpPr>
        <p:spPr bwMode="auto">
          <a:xfrm>
            <a:off x="10182353" y="4098224"/>
            <a:ext cx="1574800" cy="3048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800100" indent="-342900">
              <a:defRPr kumimoji="1" sz="2400">
                <a:solidFill>
                  <a:schemeClr val="tx1"/>
                </a:solidFill>
                <a:latin typeface="Times New Roman" panose="02020603050405020304" pitchFamily="18" charset="0"/>
                <a:ea typeface="宋体" panose="02010600030101010101" pitchFamily="2" charset="-122"/>
              </a:defRPr>
            </a:lvl2pPr>
            <a:lvl3pPr marL="1257300" indent="-342900">
              <a:defRPr kumimoji="1" sz="2400">
                <a:solidFill>
                  <a:schemeClr val="tx1"/>
                </a:solidFill>
                <a:latin typeface="Times New Roman" panose="02020603050405020304" pitchFamily="18" charset="0"/>
                <a:ea typeface="宋体" panose="02010600030101010101" pitchFamily="2" charset="-122"/>
              </a:defRPr>
            </a:lvl3pPr>
            <a:lvl4pPr marL="1714500" indent="-342900">
              <a:defRPr kumimoji="1" sz="2400">
                <a:solidFill>
                  <a:schemeClr val="tx1"/>
                </a:solidFill>
                <a:latin typeface="Times New Roman" panose="02020603050405020304" pitchFamily="18" charset="0"/>
                <a:ea typeface="宋体" panose="02010600030101010101" pitchFamily="2" charset="-122"/>
              </a:defRPr>
            </a:lvl4pPr>
            <a:lvl5pPr marL="2171700" indent="-342900">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88000"/>
              </a:lnSpc>
              <a:spcBef>
                <a:spcPct val="43000"/>
              </a:spcBef>
            </a:pPr>
            <a:r>
              <a:rPr lang="en-US" altLang="zh-CN" sz="1800" b="1" i="1">
                <a:latin typeface="Arial" panose="020B0604020202020204" pitchFamily="34" charset="0"/>
              </a:rPr>
              <a:t>Execute</a:t>
            </a:r>
          </a:p>
        </p:txBody>
      </p:sp>
      <p:sp>
        <p:nvSpPr>
          <p:cNvPr id="13320" name="Rectangle 8"/>
          <p:cNvSpPr>
            <a:spLocks noChangeArrowheads="1"/>
          </p:cNvSpPr>
          <p:nvPr/>
        </p:nvSpPr>
        <p:spPr bwMode="auto">
          <a:xfrm>
            <a:off x="10182353" y="4784025"/>
            <a:ext cx="1574800" cy="6461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800100" indent="-342900">
              <a:defRPr kumimoji="1" sz="2400">
                <a:solidFill>
                  <a:schemeClr val="tx1"/>
                </a:solidFill>
                <a:latin typeface="Times New Roman" panose="02020603050405020304" pitchFamily="18" charset="0"/>
                <a:ea typeface="宋体" panose="02010600030101010101" pitchFamily="2" charset="-122"/>
              </a:defRPr>
            </a:lvl2pPr>
            <a:lvl3pPr marL="1257300" indent="-342900">
              <a:defRPr kumimoji="1" sz="2400">
                <a:solidFill>
                  <a:schemeClr val="tx1"/>
                </a:solidFill>
                <a:latin typeface="Times New Roman" panose="02020603050405020304" pitchFamily="18" charset="0"/>
                <a:ea typeface="宋体" panose="02010600030101010101" pitchFamily="2" charset="-122"/>
              </a:defRPr>
            </a:lvl3pPr>
            <a:lvl4pPr marL="1714500" indent="-342900">
              <a:defRPr kumimoji="1" sz="2400">
                <a:solidFill>
                  <a:schemeClr val="tx1"/>
                </a:solidFill>
                <a:latin typeface="Times New Roman" panose="02020603050405020304" pitchFamily="18" charset="0"/>
                <a:ea typeface="宋体" panose="02010600030101010101" pitchFamily="2" charset="-122"/>
              </a:defRPr>
            </a:lvl4pPr>
            <a:lvl5pPr marL="2171700" indent="-342900">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86000"/>
              </a:lnSpc>
              <a:spcBef>
                <a:spcPct val="40000"/>
              </a:spcBef>
            </a:pPr>
            <a:r>
              <a:rPr lang="en-US" altLang="zh-CN" sz="1800" b="1" i="1">
                <a:latin typeface="Arial" panose="020B0604020202020204" pitchFamily="34" charset="0"/>
              </a:rPr>
              <a:t>Result</a:t>
            </a:r>
          </a:p>
          <a:p>
            <a:pPr algn="ctr">
              <a:lnSpc>
                <a:spcPct val="86000"/>
              </a:lnSpc>
              <a:spcBef>
                <a:spcPct val="40000"/>
              </a:spcBef>
            </a:pPr>
            <a:r>
              <a:rPr lang="en-US" altLang="zh-CN" sz="1800" b="1" i="1">
                <a:latin typeface="Arial" panose="020B0604020202020204" pitchFamily="34" charset="0"/>
              </a:rPr>
              <a:t>Store</a:t>
            </a:r>
          </a:p>
        </p:txBody>
      </p:sp>
      <p:sp>
        <p:nvSpPr>
          <p:cNvPr id="13321" name="Rectangle 9"/>
          <p:cNvSpPr>
            <a:spLocks noChangeArrowheads="1"/>
          </p:cNvSpPr>
          <p:nvPr/>
        </p:nvSpPr>
        <p:spPr bwMode="auto">
          <a:xfrm>
            <a:off x="10182353" y="5774625"/>
            <a:ext cx="1574800" cy="6461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800100" indent="-342900">
              <a:defRPr kumimoji="1" sz="2400">
                <a:solidFill>
                  <a:schemeClr val="tx1"/>
                </a:solidFill>
                <a:latin typeface="Times New Roman" panose="02020603050405020304" pitchFamily="18" charset="0"/>
                <a:ea typeface="宋体" panose="02010600030101010101" pitchFamily="2" charset="-122"/>
              </a:defRPr>
            </a:lvl2pPr>
            <a:lvl3pPr marL="1257300" indent="-342900">
              <a:defRPr kumimoji="1" sz="2400">
                <a:solidFill>
                  <a:schemeClr val="tx1"/>
                </a:solidFill>
                <a:latin typeface="Times New Roman" panose="02020603050405020304" pitchFamily="18" charset="0"/>
                <a:ea typeface="宋体" panose="02010600030101010101" pitchFamily="2" charset="-122"/>
              </a:defRPr>
            </a:lvl3pPr>
            <a:lvl4pPr marL="1714500" indent="-342900">
              <a:defRPr kumimoji="1" sz="2400">
                <a:solidFill>
                  <a:schemeClr val="tx1"/>
                </a:solidFill>
                <a:latin typeface="Times New Roman" panose="02020603050405020304" pitchFamily="18" charset="0"/>
                <a:ea typeface="宋体" panose="02010600030101010101" pitchFamily="2" charset="-122"/>
              </a:defRPr>
            </a:lvl4pPr>
            <a:lvl5pPr marL="2171700" indent="-342900">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86000"/>
              </a:lnSpc>
              <a:spcBef>
                <a:spcPct val="40000"/>
              </a:spcBef>
            </a:pPr>
            <a:r>
              <a:rPr lang="en-US" altLang="zh-CN" sz="1800" b="1" i="1">
                <a:latin typeface="Arial" panose="020B0604020202020204" pitchFamily="34" charset="0"/>
              </a:rPr>
              <a:t>Next</a:t>
            </a:r>
          </a:p>
          <a:p>
            <a:pPr algn="ctr">
              <a:lnSpc>
                <a:spcPct val="86000"/>
              </a:lnSpc>
              <a:spcBef>
                <a:spcPct val="40000"/>
              </a:spcBef>
            </a:pPr>
            <a:r>
              <a:rPr lang="en-US" altLang="zh-CN" sz="1800" b="1" i="1">
                <a:latin typeface="Arial" panose="020B0604020202020204" pitchFamily="34" charset="0"/>
              </a:rPr>
              <a:t>Instruction</a:t>
            </a:r>
          </a:p>
        </p:txBody>
      </p:sp>
      <p:sp>
        <p:nvSpPr>
          <p:cNvPr id="13322" name="Line 10"/>
          <p:cNvSpPr>
            <a:spLocks noChangeShapeType="1"/>
          </p:cNvSpPr>
          <p:nvPr/>
        </p:nvSpPr>
        <p:spPr bwMode="auto">
          <a:xfrm>
            <a:off x="10925303" y="1805874"/>
            <a:ext cx="0" cy="279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3" name="Line 11"/>
          <p:cNvSpPr>
            <a:spLocks noChangeShapeType="1"/>
          </p:cNvSpPr>
          <p:nvPr/>
        </p:nvSpPr>
        <p:spPr bwMode="auto">
          <a:xfrm>
            <a:off x="10925303" y="3787074"/>
            <a:ext cx="0" cy="279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4" name="Line 12"/>
          <p:cNvSpPr>
            <a:spLocks noChangeShapeType="1"/>
          </p:cNvSpPr>
          <p:nvPr/>
        </p:nvSpPr>
        <p:spPr bwMode="auto">
          <a:xfrm>
            <a:off x="10925303" y="2796474"/>
            <a:ext cx="0" cy="279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5" name="Line 13"/>
          <p:cNvSpPr>
            <a:spLocks noChangeShapeType="1"/>
          </p:cNvSpPr>
          <p:nvPr/>
        </p:nvSpPr>
        <p:spPr bwMode="auto">
          <a:xfrm>
            <a:off x="10925303" y="5463474"/>
            <a:ext cx="0" cy="279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6" name="Line 14"/>
          <p:cNvSpPr>
            <a:spLocks noChangeShapeType="1"/>
          </p:cNvSpPr>
          <p:nvPr/>
        </p:nvSpPr>
        <p:spPr bwMode="auto">
          <a:xfrm>
            <a:off x="10925303" y="4396674"/>
            <a:ext cx="0" cy="3556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7" name="Line 15"/>
          <p:cNvSpPr>
            <a:spLocks noChangeShapeType="1"/>
          </p:cNvSpPr>
          <p:nvPr/>
        </p:nvSpPr>
        <p:spPr bwMode="auto">
          <a:xfrm>
            <a:off x="10925303" y="6454074"/>
            <a:ext cx="0" cy="127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8" name="Line 16"/>
          <p:cNvSpPr>
            <a:spLocks noChangeShapeType="1"/>
          </p:cNvSpPr>
          <p:nvPr/>
        </p:nvSpPr>
        <p:spPr bwMode="auto">
          <a:xfrm flipH="1">
            <a:off x="9845803" y="6593774"/>
            <a:ext cx="1092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9" name="Line 17"/>
          <p:cNvSpPr>
            <a:spLocks noChangeShapeType="1"/>
          </p:cNvSpPr>
          <p:nvPr/>
        </p:nvSpPr>
        <p:spPr bwMode="auto">
          <a:xfrm flipV="1">
            <a:off x="9858503" y="789874"/>
            <a:ext cx="0" cy="5816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0" name="Line 18"/>
          <p:cNvSpPr>
            <a:spLocks noChangeShapeType="1"/>
          </p:cNvSpPr>
          <p:nvPr/>
        </p:nvSpPr>
        <p:spPr bwMode="auto">
          <a:xfrm>
            <a:off x="9871203" y="802574"/>
            <a:ext cx="10414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1" name="Line 19"/>
          <p:cNvSpPr>
            <a:spLocks noChangeShapeType="1"/>
          </p:cNvSpPr>
          <p:nvPr/>
        </p:nvSpPr>
        <p:spPr bwMode="auto">
          <a:xfrm>
            <a:off x="10925303" y="815274"/>
            <a:ext cx="0" cy="279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79860214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2362200" y="458788"/>
            <a:ext cx="7545388" cy="379412"/>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Evolution of Instruction Sets</a:t>
            </a:r>
          </a:p>
        </p:txBody>
      </p:sp>
      <p:sp>
        <p:nvSpPr>
          <p:cNvPr id="87052" name="Rectangle 12"/>
          <p:cNvSpPr>
            <a:spLocks noChangeArrowheads="1"/>
          </p:cNvSpPr>
          <p:nvPr/>
        </p:nvSpPr>
        <p:spPr bwMode="auto">
          <a:xfrm>
            <a:off x="1939884" y="5039797"/>
            <a:ext cx="28829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solidFill>
                  <a:schemeClr val="hlink"/>
                </a:solidFill>
                <a:latin typeface="Arial" panose="020B0604020202020204" pitchFamily="34" charset="0"/>
              </a:rPr>
              <a:t>Complex Instruction Sets</a:t>
            </a:r>
          </a:p>
        </p:txBody>
      </p:sp>
      <p:grpSp>
        <p:nvGrpSpPr>
          <p:cNvPr id="87067" name="Group 27"/>
          <p:cNvGrpSpPr>
            <a:grpSpLocks/>
          </p:cNvGrpSpPr>
          <p:nvPr/>
        </p:nvGrpSpPr>
        <p:grpSpPr bwMode="auto">
          <a:xfrm>
            <a:off x="3228934" y="1018660"/>
            <a:ext cx="8255000" cy="5427662"/>
            <a:chOff x="392" y="568"/>
            <a:chExt cx="5200" cy="3419"/>
          </a:xfrm>
        </p:grpSpPr>
        <p:sp>
          <p:nvSpPr>
            <p:cNvPr id="87043" name="Rectangle 3"/>
            <p:cNvSpPr>
              <a:spLocks noChangeArrowheads="1"/>
            </p:cNvSpPr>
            <p:nvPr/>
          </p:nvSpPr>
          <p:spPr bwMode="auto">
            <a:xfrm>
              <a:off x="1448" y="568"/>
              <a:ext cx="2432"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solidFill>
                    <a:schemeClr val="hlink"/>
                  </a:solidFill>
                  <a:latin typeface="Arial" panose="020B0604020202020204" pitchFamily="34" charset="0"/>
                </a:rPr>
                <a:t>Single Accumulator</a:t>
              </a:r>
              <a:r>
                <a:rPr lang="en-US" altLang="zh-CN" b="1" dirty="0">
                  <a:latin typeface="Arial" panose="020B0604020202020204" pitchFamily="34" charset="0"/>
                </a:rPr>
                <a:t> (EDSAC 1950)</a:t>
              </a:r>
            </a:p>
          </p:txBody>
        </p:sp>
        <p:sp>
          <p:nvSpPr>
            <p:cNvPr id="87044" name="Rectangle 4"/>
            <p:cNvSpPr>
              <a:spLocks noChangeArrowheads="1"/>
            </p:cNvSpPr>
            <p:nvPr/>
          </p:nvSpPr>
          <p:spPr bwMode="auto">
            <a:xfrm>
              <a:off x="1352" y="976"/>
              <a:ext cx="2196"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hlink"/>
                  </a:solidFill>
                  <a:latin typeface="Arial" panose="020B0604020202020204" pitchFamily="34" charset="0"/>
                </a:rPr>
                <a:t>Accumulator + Index Registers</a:t>
              </a:r>
            </a:p>
          </p:txBody>
        </p:sp>
        <p:sp>
          <p:nvSpPr>
            <p:cNvPr id="87045" name="Rectangle 5"/>
            <p:cNvSpPr>
              <a:spLocks noChangeArrowheads="1"/>
            </p:cNvSpPr>
            <p:nvPr/>
          </p:nvSpPr>
          <p:spPr bwMode="auto">
            <a:xfrm>
              <a:off x="2312" y="1168"/>
              <a:ext cx="2872"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(Manchester Mark I, IBM 700 series 1953)</a:t>
              </a:r>
            </a:p>
          </p:txBody>
        </p:sp>
        <p:sp>
          <p:nvSpPr>
            <p:cNvPr id="87046" name="Rectangle 6"/>
            <p:cNvSpPr>
              <a:spLocks noChangeArrowheads="1"/>
            </p:cNvSpPr>
            <p:nvPr/>
          </p:nvSpPr>
          <p:spPr bwMode="auto">
            <a:xfrm>
              <a:off x="1234" y="1599"/>
              <a:ext cx="2432" cy="3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solidFill>
                    <a:schemeClr val="hlink"/>
                  </a:solidFill>
                  <a:latin typeface="Arial" panose="020B0604020202020204" pitchFamily="34" charset="0"/>
                </a:rPr>
                <a:t>Separation of Programming Model</a:t>
              </a:r>
            </a:p>
            <a:p>
              <a:pPr>
                <a:lnSpc>
                  <a:spcPct val="85000"/>
                </a:lnSpc>
              </a:pPr>
              <a:r>
                <a:rPr lang="en-US" altLang="zh-CN" b="1" dirty="0">
                  <a:solidFill>
                    <a:schemeClr val="hlink"/>
                  </a:solidFill>
                  <a:latin typeface="Arial" panose="020B0604020202020204" pitchFamily="34" charset="0"/>
                </a:rPr>
                <a:t>          from Implementation</a:t>
              </a:r>
            </a:p>
          </p:txBody>
        </p:sp>
        <p:sp>
          <p:nvSpPr>
            <p:cNvPr id="87047" name="Rectangle 7"/>
            <p:cNvSpPr>
              <a:spLocks noChangeArrowheads="1"/>
            </p:cNvSpPr>
            <p:nvPr/>
          </p:nvSpPr>
          <p:spPr bwMode="auto">
            <a:xfrm>
              <a:off x="392" y="2176"/>
              <a:ext cx="1960"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hlink"/>
                  </a:solidFill>
                  <a:latin typeface="Arial" panose="020B0604020202020204" pitchFamily="34" charset="0"/>
                </a:rPr>
                <a:t>High-level Language Based</a:t>
              </a:r>
            </a:p>
          </p:txBody>
        </p:sp>
        <p:sp>
          <p:nvSpPr>
            <p:cNvPr id="87048" name="Rectangle 8"/>
            <p:cNvSpPr>
              <a:spLocks noChangeArrowheads="1"/>
            </p:cNvSpPr>
            <p:nvPr/>
          </p:nvSpPr>
          <p:spPr bwMode="auto">
            <a:xfrm>
              <a:off x="3272" y="2176"/>
              <a:ext cx="1448"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hlink"/>
                  </a:solidFill>
                  <a:latin typeface="Arial" panose="020B0604020202020204" pitchFamily="34" charset="0"/>
                </a:rPr>
                <a:t>Concept of a Family</a:t>
              </a:r>
            </a:p>
          </p:txBody>
        </p:sp>
        <p:sp>
          <p:nvSpPr>
            <p:cNvPr id="87049" name="Rectangle 9"/>
            <p:cNvSpPr>
              <a:spLocks noChangeArrowheads="1"/>
            </p:cNvSpPr>
            <p:nvPr/>
          </p:nvSpPr>
          <p:spPr bwMode="auto">
            <a:xfrm>
              <a:off x="632" y="2368"/>
              <a:ext cx="960"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(B5000 1963)</a:t>
              </a:r>
            </a:p>
          </p:txBody>
        </p:sp>
        <p:sp>
          <p:nvSpPr>
            <p:cNvPr id="87050" name="Rectangle 10"/>
            <p:cNvSpPr>
              <a:spLocks noChangeArrowheads="1"/>
            </p:cNvSpPr>
            <p:nvPr/>
          </p:nvSpPr>
          <p:spPr bwMode="auto">
            <a:xfrm>
              <a:off x="3560" y="2368"/>
              <a:ext cx="1080"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(IBM 360 1964)</a:t>
              </a:r>
            </a:p>
          </p:txBody>
        </p:sp>
        <p:sp>
          <p:nvSpPr>
            <p:cNvPr id="87051" name="Rectangle 11"/>
            <p:cNvSpPr>
              <a:spLocks noChangeArrowheads="1"/>
            </p:cNvSpPr>
            <p:nvPr/>
          </p:nvSpPr>
          <p:spPr bwMode="auto">
            <a:xfrm>
              <a:off x="1448" y="2704"/>
              <a:ext cx="2544"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hlink"/>
                  </a:solidFill>
                  <a:latin typeface="Arial" panose="020B0604020202020204" pitchFamily="34" charset="0"/>
                </a:rPr>
                <a:t>General Purpose Register Machines</a:t>
              </a:r>
            </a:p>
          </p:txBody>
        </p:sp>
        <p:sp>
          <p:nvSpPr>
            <p:cNvPr id="87053" name="Rectangle 13"/>
            <p:cNvSpPr>
              <a:spLocks noChangeArrowheads="1"/>
            </p:cNvSpPr>
            <p:nvPr/>
          </p:nvSpPr>
          <p:spPr bwMode="auto">
            <a:xfrm>
              <a:off x="3224" y="3088"/>
              <a:ext cx="1720"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hlink"/>
                  </a:solidFill>
                  <a:latin typeface="Arial" panose="020B0604020202020204" pitchFamily="34" charset="0"/>
                </a:rPr>
                <a:t>Load/Store Architecture</a:t>
              </a:r>
            </a:p>
          </p:txBody>
        </p:sp>
        <p:sp>
          <p:nvSpPr>
            <p:cNvPr id="87054" name="Rectangle 14"/>
            <p:cNvSpPr>
              <a:spLocks noChangeArrowheads="1"/>
            </p:cNvSpPr>
            <p:nvPr/>
          </p:nvSpPr>
          <p:spPr bwMode="auto">
            <a:xfrm>
              <a:off x="3368" y="3616"/>
              <a:ext cx="424"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hlink"/>
                  </a:solidFill>
                  <a:latin typeface="Arial" panose="020B0604020202020204" pitchFamily="34" charset="0"/>
                </a:rPr>
                <a:t>RISC</a:t>
              </a:r>
            </a:p>
          </p:txBody>
        </p:sp>
        <p:sp>
          <p:nvSpPr>
            <p:cNvPr id="87055" name="Rectangle 15"/>
            <p:cNvSpPr>
              <a:spLocks noChangeArrowheads="1"/>
            </p:cNvSpPr>
            <p:nvPr/>
          </p:nvSpPr>
          <p:spPr bwMode="auto">
            <a:xfrm>
              <a:off x="488" y="3328"/>
              <a:ext cx="1656"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(Vax, Intel 432 1977-80)</a:t>
              </a:r>
            </a:p>
          </p:txBody>
        </p:sp>
        <p:sp>
          <p:nvSpPr>
            <p:cNvPr id="87056" name="Rectangle 16"/>
            <p:cNvSpPr>
              <a:spLocks noChangeArrowheads="1"/>
            </p:cNvSpPr>
            <p:nvPr/>
          </p:nvSpPr>
          <p:spPr bwMode="auto">
            <a:xfrm>
              <a:off x="3464" y="3280"/>
              <a:ext cx="1936"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(CDC 6600, Cray 1 1963-76)</a:t>
              </a:r>
            </a:p>
          </p:txBody>
        </p:sp>
        <p:sp>
          <p:nvSpPr>
            <p:cNvPr id="87057" name="Rectangle 17"/>
            <p:cNvSpPr>
              <a:spLocks noChangeArrowheads="1"/>
            </p:cNvSpPr>
            <p:nvPr/>
          </p:nvSpPr>
          <p:spPr bwMode="auto">
            <a:xfrm>
              <a:off x="2696" y="3808"/>
              <a:ext cx="2896"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(Mips,Sparc,HP-PA,IBM RS6000, . . .1987)</a:t>
              </a:r>
            </a:p>
          </p:txBody>
        </p:sp>
        <p:sp>
          <p:nvSpPr>
            <p:cNvPr id="87058" name="Line 18"/>
            <p:cNvSpPr>
              <a:spLocks noChangeShapeType="1"/>
            </p:cNvSpPr>
            <p:nvPr/>
          </p:nvSpPr>
          <p:spPr bwMode="auto">
            <a:xfrm>
              <a:off x="2352" y="808"/>
              <a:ext cx="0" cy="14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9" name="Line 19"/>
            <p:cNvSpPr>
              <a:spLocks noChangeShapeType="1"/>
            </p:cNvSpPr>
            <p:nvPr/>
          </p:nvSpPr>
          <p:spPr bwMode="auto">
            <a:xfrm>
              <a:off x="2352" y="1396"/>
              <a:ext cx="0" cy="1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0" name="Line 20"/>
            <p:cNvSpPr>
              <a:spLocks noChangeShapeType="1"/>
            </p:cNvSpPr>
            <p:nvPr/>
          </p:nvSpPr>
          <p:spPr bwMode="auto">
            <a:xfrm flipH="1">
              <a:off x="1532" y="1924"/>
              <a:ext cx="632" cy="1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1" name="Line 21"/>
            <p:cNvSpPr>
              <a:spLocks noChangeShapeType="1"/>
            </p:cNvSpPr>
            <p:nvPr/>
          </p:nvSpPr>
          <p:spPr bwMode="auto">
            <a:xfrm>
              <a:off x="2788" y="1924"/>
              <a:ext cx="856" cy="1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2" name="Line 22"/>
            <p:cNvSpPr>
              <a:spLocks noChangeShapeType="1"/>
            </p:cNvSpPr>
            <p:nvPr/>
          </p:nvSpPr>
          <p:spPr bwMode="auto">
            <a:xfrm>
              <a:off x="1644" y="2499"/>
              <a:ext cx="376" cy="1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3" name="Line 23"/>
            <p:cNvSpPr>
              <a:spLocks noChangeShapeType="1"/>
            </p:cNvSpPr>
            <p:nvPr/>
          </p:nvSpPr>
          <p:spPr bwMode="auto">
            <a:xfrm flipH="1">
              <a:off x="3212" y="2404"/>
              <a:ext cx="296" cy="2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4" name="Line 24"/>
            <p:cNvSpPr>
              <a:spLocks noChangeShapeType="1"/>
            </p:cNvSpPr>
            <p:nvPr/>
          </p:nvSpPr>
          <p:spPr bwMode="auto">
            <a:xfrm flipH="1">
              <a:off x="1244" y="2884"/>
              <a:ext cx="872" cy="1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5" name="Line 25"/>
            <p:cNvSpPr>
              <a:spLocks noChangeShapeType="1"/>
            </p:cNvSpPr>
            <p:nvPr/>
          </p:nvSpPr>
          <p:spPr bwMode="auto">
            <a:xfrm>
              <a:off x="3028" y="2884"/>
              <a:ext cx="616" cy="1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6" name="Line 26"/>
            <p:cNvSpPr>
              <a:spLocks noChangeShapeType="1"/>
            </p:cNvSpPr>
            <p:nvPr/>
          </p:nvSpPr>
          <p:spPr bwMode="auto">
            <a:xfrm>
              <a:off x="3648" y="3460"/>
              <a:ext cx="0" cy="1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650816700"/>
      </p:ext>
    </p:extLst>
  </p:cSld>
  <p:clrMapOvr>
    <a:masterClrMapping/>
  </p:clrMapOvr>
  <p:transition>
    <p:wipe/>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altLang="zh-CN" smtClean="0"/>
              <a:t>Evolution of Instruction Sets</a:t>
            </a:r>
            <a:endParaRPr lang="en-US" altLang="zh-CN"/>
          </a:p>
        </p:txBody>
      </p:sp>
      <p:sp>
        <p:nvSpPr>
          <p:cNvPr id="88067" name="Rectangle 3"/>
          <p:cNvSpPr>
            <a:spLocks noGrp="1" noChangeArrowheads="1"/>
          </p:cNvSpPr>
          <p:nvPr>
            <p:ph type="body" idx="1"/>
          </p:nvPr>
        </p:nvSpPr>
        <p:spPr/>
        <p:txBody>
          <a:bodyPr/>
          <a:lstStyle/>
          <a:p>
            <a:r>
              <a:rPr lang="en-US" altLang="zh-CN" smtClean="0"/>
              <a:t>Major advances in computer architecture are typically associated with landmark instruction set designs</a:t>
            </a:r>
          </a:p>
          <a:p>
            <a:pPr lvl="1"/>
            <a:r>
              <a:rPr lang="en-US" altLang="zh-CN" smtClean="0"/>
              <a:t>Ex: Stack vs GPR (System 360)</a:t>
            </a:r>
          </a:p>
          <a:p>
            <a:r>
              <a:rPr lang="en-US" altLang="zh-CN" smtClean="0"/>
              <a:t>Design decisions must take into account:</a:t>
            </a:r>
          </a:p>
          <a:p>
            <a:pPr lvl="1"/>
            <a:r>
              <a:rPr lang="en-US" altLang="zh-CN" smtClean="0"/>
              <a:t>technology</a:t>
            </a:r>
          </a:p>
          <a:p>
            <a:pPr lvl="1"/>
            <a:r>
              <a:rPr lang="en-US" altLang="zh-CN" smtClean="0"/>
              <a:t>machine organization</a:t>
            </a:r>
          </a:p>
          <a:p>
            <a:pPr lvl="1"/>
            <a:r>
              <a:rPr lang="en-US" altLang="zh-CN" smtClean="0"/>
              <a:t>programming langauges</a:t>
            </a:r>
          </a:p>
          <a:p>
            <a:pPr lvl="1"/>
            <a:r>
              <a:rPr lang="en-US" altLang="zh-CN" smtClean="0"/>
              <a:t>compiler technology</a:t>
            </a:r>
          </a:p>
          <a:p>
            <a:pPr lvl="1"/>
            <a:r>
              <a:rPr lang="en-US" altLang="zh-CN" smtClean="0"/>
              <a:t>operating systems</a:t>
            </a:r>
          </a:p>
          <a:p>
            <a:r>
              <a:rPr lang="en-US" altLang="zh-CN" smtClean="0"/>
              <a:t>And they in turn influence these</a:t>
            </a:r>
            <a:endParaRPr lang="en-US" altLang="zh-CN" dirty="0"/>
          </a:p>
        </p:txBody>
      </p:sp>
    </p:spTree>
    <p:extLst>
      <p:ext uri="{BB962C8B-B14F-4D97-AF65-F5344CB8AC3E}">
        <p14:creationId xmlns:p14="http://schemas.microsoft.com/office/powerpoint/2010/main" val="284544538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anim calcmode="lin" valueType="num">
                                      <p:cBhvr additive="base">
                                        <p:cTn id="7" dur="500" fill="hold"/>
                                        <p:tgtEl>
                                          <p:spTgt spid="8806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806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88067">
                                            <p:txEl>
                                              <p:pRg st="1" end="1"/>
                                            </p:txEl>
                                          </p:spTgt>
                                        </p:tgtEl>
                                        <p:attrNameLst>
                                          <p:attrName>style.visibility</p:attrName>
                                        </p:attrNameLst>
                                      </p:cBhvr>
                                      <p:to>
                                        <p:strVal val="visible"/>
                                      </p:to>
                                    </p:set>
                                    <p:anim calcmode="lin" valueType="num">
                                      <p:cBhvr additive="base">
                                        <p:cTn id="11" dur="500" fill="hold"/>
                                        <p:tgtEl>
                                          <p:spTgt spid="8806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880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88067">
                                            <p:txEl>
                                              <p:pRg st="2" end="2"/>
                                            </p:txEl>
                                          </p:spTgt>
                                        </p:tgtEl>
                                        <p:attrNameLst>
                                          <p:attrName>style.visibility</p:attrName>
                                        </p:attrNameLst>
                                      </p:cBhvr>
                                      <p:to>
                                        <p:strVal val="visible"/>
                                      </p:to>
                                    </p:set>
                                    <p:anim calcmode="lin" valueType="num">
                                      <p:cBhvr additive="base">
                                        <p:cTn id="17" dur="500" fill="hold"/>
                                        <p:tgtEl>
                                          <p:spTgt spid="88067">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88067">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88067">
                                            <p:txEl>
                                              <p:pRg st="3" end="3"/>
                                            </p:txEl>
                                          </p:spTgt>
                                        </p:tgtEl>
                                        <p:attrNameLst>
                                          <p:attrName>style.visibility</p:attrName>
                                        </p:attrNameLst>
                                      </p:cBhvr>
                                      <p:to>
                                        <p:strVal val="visible"/>
                                      </p:to>
                                    </p:set>
                                    <p:anim calcmode="lin" valueType="num">
                                      <p:cBhvr additive="base">
                                        <p:cTn id="21" dur="500" fill="hold"/>
                                        <p:tgtEl>
                                          <p:spTgt spid="88067">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88067">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88067">
                                            <p:txEl>
                                              <p:pRg st="4" end="4"/>
                                            </p:txEl>
                                          </p:spTgt>
                                        </p:tgtEl>
                                        <p:attrNameLst>
                                          <p:attrName>style.visibility</p:attrName>
                                        </p:attrNameLst>
                                      </p:cBhvr>
                                      <p:to>
                                        <p:strVal val="visible"/>
                                      </p:to>
                                    </p:set>
                                    <p:anim calcmode="lin" valueType="num">
                                      <p:cBhvr additive="base">
                                        <p:cTn id="25" dur="500" fill="hold"/>
                                        <p:tgtEl>
                                          <p:spTgt spid="88067">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8067">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88067">
                                            <p:txEl>
                                              <p:pRg st="5" end="5"/>
                                            </p:txEl>
                                          </p:spTgt>
                                        </p:tgtEl>
                                        <p:attrNameLst>
                                          <p:attrName>style.visibility</p:attrName>
                                        </p:attrNameLst>
                                      </p:cBhvr>
                                      <p:to>
                                        <p:strVal val="visible"/>
                                      </p:to>
                                    </p:set>
                                    <p:anim calcmode="lin" valueType="num">
                                      <p:cBhvr additive="base">
                                        <p:cTn id="29" dur="500" fill="hold"/>
                                        <p:tgtEl>
                                          <p:spTgt spid="88067">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88067">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88067">
                                            <p:txEl>
                                              <p:pRg st="6" end="6"/>
                                            </p:txEl>
                                          </p:spTgt>
                                        </p:tgtEl>
                                        <p:attrNameLst>
                                          <p:attrName>style.visibility</p:attrName>
                                        </p:attrNameLst>
                                      </p:cBhvr>
                                      <p:to>
                                        <p:strVal val="visible"/>
                                      </p:to>
                                    </p:set>
                                    <p:anim calcmode="lin" valueType="num">
                                      <p:cBhvr additive="base">
                                        <p:cTn id="33" dur="500" fill="hold"/>
                                        <p:tgtEl>
                                          <p:spTgt spid="88067">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88067">
                                            <p:txEl>
                                              <p:pRg st="6" end="6"/>
                                            </p:txEl>
                                          </p:spTgt>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88067">
                                            <p:txEl>
                                              <p:pRg st="7" end="7"/>
                                            </p:txEl>
                                          </p:spTgt>
                                        </p:tgtEl>
                                        <p:attrNameLst>
                                          <p:attrName>style.visibility</p:attrName>
                                        </p:attrNameLst>
                                      </p:cBhvr>
                                      <p:to>
                                        <p:strVal val="visible"/>
                                      </p:to>
                                    </p:set>
                                    <p:anim calcmode="lin" valueType="num">
                                      <p:cBhvr additive="base">
                                        <p:cTn id="37" dur="500" fill="hold"/>
                                        <p:tgtEl>
                                          <p:spTgt spid="88067">
                                            <p:txEl>
                                              <p:pRg st="7" end="7"/>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8806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88067">
                                            <p:txEl>
                                              <p:pRg st="8" end="8"/>
                                            </p:txEl>
                                          </p:spTgt>
                                        </p:tgtEl>
                                        <p:attrNameLst>
                                          <p:attrName>style.visibility</p:attrName>
                                        </p:attrNameLst>
                                      </p:cBhvr>
                                      <p:to>
                                        <p:strVal val="visible"/>
                                      </p:to>
                                    </p:set>
                                    <p:anim calcmode="lin" valueType="num">
                                      <p:cBhvr additive="base">
                                        <p:cTn id="43" dur="500" fill="hold"/>
                                        <p:tgtEl>
                                          <p:spTgt spid="88067">
                                            <p:txEl>
                                              <p:pRg st="8" end="8"/>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88067">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altLang="zh-CN" smtClean="0"/>
              <a:t>A "Typical" RISC</a:t>
            </a:r>
            <a:endParaRPr lang="en-US" altLang="zh-CN"/>
          </a:p>
        </p:txBody>
      </p:sp>
      <p:sp>
        <p:nvSpPr>
          <p:cNvPr id="89091" name="Rectangle 3"/>
          <p:cNvSpPr>
            <a:spLocks noGrp="1" noChangeArrowheads="1"/>
          </p:cNvSpPr>
          <p:nvPr>
            <p:ph type="body" idx="1"/>
          </p:nvPr>
        </p:nvSpPr>
        <p:spPr/>
        <p:txBody>
          <a:bodyPr/>
          <a:lstStyle/>
          <a:p>
            <a:r>
              <a:rPr lang="en-US" altLang="zh-CN" smtClean="0"/>
              <a:t>32-bit fixed format instruction (3 formats)</a:t>
            </a:r>
          </a:p>
          <a:p>
            <a:r>
              <a:rPr lang="en-US" altLang="zh-CN" smtClean="0"/>
              <a:t>32 32-bit GPR (R0 contains zero, DP take pair)</a:t>
            </a:r>
          </a:p>
          <a:p>
            <a:r>
              <a:rPr lang="en-US" altLang="zh-CN" smtClean="0"/>
              <a:t>3-address, reg-reg arithmetic instruction</a:t>
            </a:r>
          </a:p>
          <a:p>
            <a:r>
              <a:rPr lang="en-US" altLang="zh-CN" smtClean="0"/>
              <a:t>Single address mode for load/store: </a:t>
            </a:r>
            <a:br>
              <a:rPr lang="en-US" altLang="zh-CN" smtClean="0"/>
            </a:br>
            <a:r>
              <a:rPr lang="en-US" altLang="zh-CN" smtClean="0"/>
              <a:t>base + displacement</a:t>
            </a:r>
          </a:p>
          <a:p>
            <a:pPr lvl="1"/>
            <a:r>
              <a:rPr lang="en-US" altLang="zh-CN" smtClean="0"/>
              <a:t>no indirection</a:t>
            </a:r>
          </a:p>
          <a:p>
            <a:pPr lvl="1"/>
            <a:endParaRPr lang="en-US" altLang="zh-CN" smtClean="0"/>
          </a:p>
          <a:p>
            <a:r>
              <a:rPr lang="en-US" altLang="zh-CN" smtClean="0"/>
              <a:t>Simple branch conditions</a:t>
            </a:r>
          </a:p>
          <a:p>
            <a:r>
              <a:rPr lang="en-US" altLang="zh-CN" smtClean="0"/>
              <a:t>Delayed branch</a:t>
            </a:r>
            <a:endParaRPr lang="en-US" altLang="zh-CN"/>
          </a:p>
        </p:txBody>
      </p:sp>
      <p:sp>
        <p:nvSpPr>
          <p:cNvPr id="89092" name="Rectangle 4"/>
          <p:cNvSpPr>
            <a:spLocks noChangeArrowheads="1"/>
          </p:cNvSpPr>
          <p:nvPr/>
        </p:nvSpPr>
        <p:spPr bwMode="auto">
          <a:xfrm>
            <a:off x="5037941" y="5515759"/>
            <a:ext cx="6502400" cy="517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latin typeface="Arial" panose="020B0604020202020204" pitchFamily="34" charset="0"/>
              </a:rPr>
              <a:t>see: SPARC, MIPS, HP PA-</a:t>
            </a:r>
            <a:r>
              <a:rPr lang="en-US" altLang="zh-CN" b="1" dirty="0" err="1">
                <a:latin typeface="Arial" panose="020B0604020202020204" pitchFamily="34" charset="0"/>
              </a:rPr>
              <a:t>Risc</a:t>
            </a:r>
            <a:r>
              <a:rPr lang="en-US" altLang="zh-CN" b="1" dirty="0">
                <a:latin typeface="Arial" panose="020B0604020202020204" pitchFamily="34" charset="0"/>
              </a:rPr>
              <a:t>, DEC Alpha, IBM PowerPC,</a:t>
            </a:r>
          </a:p>
          <a:p>
            <a:pPr>
              <a:lnSpc>
                <a:spcPct val="85000"/>
              </a:lnSpc>
            </a:pPr>
            <a:r>
              <a:rPr lang="en-US" altLang="zh-CN" b="1" dirty="0">
                <a:latin typeface="Arial" panose="020B0604020202020204" pitchFamily="34" charset="0"/>
              </a:rPr>
              <a:t>        CDC 6600, CDC 7600, Cray-1, Cray-2, Cray-3</a:t>
            </a:r>
          </a:p>
        </p:txBody>
      </p:sp>
    </p:spTree>
    <p:extLst>
      <p:ext uri="{BB962C8B-B14F-4D97-AF65-F5344CB8AC3E}">
        <p14:creationId xmlns:p14="http://schemas.microsoft.com/office/powerpoint/2010/main" val="2812761445"/>
      </p:ext>
    </p:extLst>
  </p:cSld>
  <p:clrMapOvr>
    <a:masterClrMapping/>
  </p:clrMapOvr>
  <p:transition>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2362200" y="458788"/>
            <a:ext cx="7545388" cy="379412"/>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Example: MIPS</a:t>
            </a:r>
          </a:p>
        </p:txBody>
      </p:sp>
      <p:grpSp>
        <p:nvGrpSpPr>
          <p:cNvPr id="90182" name="Group 70"/>
          <p:cNvGrpSpPr>
            <a:grpSpLocks/>
          </p:cNvGrpSpPr>
          <p:nvPr/>
        </p:nvGrpSpPr>
        <p:grpSpPr bwMode="auto">
          <a:xfrm>
            <a:off x="2667001" y="1524001"/>
            <a:ext cx="6505575" cy="4513263"/>
            <a:chOff x="536" y="784"/>
            <a:chExt cx="4098" cy="2843"/>
          </a:xfrm>
        </p:grpSpPr>
        <p:sp>
          <p:nvSpPr>
            <p:cNvPr id="90115" name="Rectangle 3"/>
            <p:cNvSpPr>
              <a:spLocks noChangeArrowheads="1"/>
            </p:cNvSpPr>
            <p:nvPr/>
          </p:nvSpPr>
          <p:spPr bwMode="auto">
            <a:xfrm>
              <a:off x="820" y="1924"/>
              <a:ext cx="664"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16" name="Rectangle 4"/>
            <p:cNvSpPr>
              <a:spLocks noChangeArrowheads="1"/>
            </p:cNvSpPr>
            <p:nvPr/>
          </p:nvSpPr>
          <p:spPr bwMode="auto">
            <a:xfrm>
              <a:off x="968" y="1984"/>
              <a:ext cx="272"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Op</a:t>
              </a:r>
            </a:p>
          </p:txBody>
        </p:sp>
        <p:sp>
          <p:nvSpPr>
            <p:cNvPr id="90117" name="Rectangle 5"/>
            <p:cNvSpPr>
              <a:spLocks noChangeArrowheads="1"/>
            </p:cNvSpPr>
            <p:nvPr/>
          </p:nvSpPr>
          <p:spPr bwMode="auto">
            <a:xfrm>
              <a:off x="776" y="176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31</a:t>
              </a:r>
            </a:p>
          </p:txBody>
        </p:sp>
        <p:sp>
          <p:nvSpPr>
            <p:cNvPr id="90118" name="Rectangle 6"/>
            <p:cNvSpPr>
              <a:spLocks noChangeArrowheads="1"/>
            </p:cNvSpPr>
            <p:nvPr/>
          </p:nvSpPr>
          <p:spPr bwMode="auto">
            <a:xfrm>
              <a:off x="1304" y="176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26</a:t>
              </a:r>
            </a:p>
          </p:txBody>
        </p:sp>
        <p:sp>
          <p:nvSpPr>
            <p:cNvPr id="90119" name="Rectangle 7"/>
            <p:cNvSpPr>
              <a:spLocks noChangeArrowheads="1"/>
            </p:cNvSpPr>
            <p:nvPr/>
          </p:nvSpPr>
          <p:spPr bwMode="auto">
            <a:xfrm>
              <a:off x="1492" y="1924"/>
              <a:ext cx="56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0" name="Rectangle 8"/>
            <p:cNvSpPr>
              <a:spLocks noChangeArrowheads="1"/>
            </p:cNvSpPr>
            <p:nvPr/>
          </p:nvSpPr>
          <p:spPr bwMode="auto">
            <a:xfrm>
              <a:off x="2068" y="1924"/>
              <a:ext cx="56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1" name="Rectangle 9"/>
            <p:cNvSpPr>
              <a:spLocks noChangeArrowheads="1"/>
            </p:cNvSpPr>
            <p:nvPr/>
          </p:nvSpPr>
          <p:spPr bwMode="auto">
            <a:xfrm>
              <a:off x="2644" y="1924"/>
              <a:ext cx="191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2" name="Rectangle 10"/>
            <p:cNvSpPr>
              <a:spLocks noChangeArrowheads="1"/>
            </p:cNvSpPr>
            <p:nvPr/>
          </p:nvSpPr>
          <p:spPr bwMode="auto">
            <a:xfrm>
              <a:off x="4472" y="1768"/>
              <a:ext cx="16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0</a:t>
              </a:r>
            </a:p>
          </p:txBody>
        </p:sp>
        <p:sp>
          <p:nvSpPr>
            <p:cNvPr id="90123" name="Rectangle 11"/>
            <p:cNvSpPr>
              <a:spLocks noChangeArrowheads="1"/>
            </p:cNvSpPr>
            <p:nvPr/>
          </p:nvSpPr>
          <p:spPr bwMode="auto">
            <a:xfrm>
              <a:off x="2648" y="176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15</a:t>
              </a:r>
            </a:p>
          </p:txBody>
        </p:sp>
        <p:sp>
          <p:nvSpPr>
            <p:cNvPr id="90124" name="Rectangle 12"/>
            <p:cNvSpPr>
              <a:spLocks noChangeArrowheads="1"/>
            </p:cNvSpPr>
            <p:nvPr/>
          </p:nvSpPr>
          <p:spPr bwMode="auto">
            <a:xfrm>
              <a:off x="2456" y="176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16</a:t>
              </a:r>
            </a:p>
          </p:txBody>
        </p:sp>
        <p:sp>
          <p:nvSpPr>
            <p:cNvPr id="90125" name="Rectangle 13"/>
            <p:cNvSpPr>
              <a:spLocks noChangeArrowheads="1"/>
            </p:cNvSpPr>
            <p:nvPr/>
          </p:nvSpPr>
          <p:spPr bwMode="auto">
            <a:xfrm>
              <a:off x="2072" y="176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20</a:t>
              </a:r>
            </a:p>
          </p:txBody>
        </p:sp>
        <p:sp>
          <p:nvSpPr>
            <p:cNvPr id="90126" name="Rectangle 14"/>
            <p:cNvSpPr>
              <a:spLocks noChangeArrowheads="1"/>
            </p:cNvSpPr>
            <p:nvPr/>
          </p:nvSpPr>
          <p:spPr bwMode="auto">
            <a:xfrm>
              <a:off x="1928" y="176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21</a:t>
              </a:r>
            </a:p>
          </p:txBody>
        </p:sp>
        <p:sp>
          <p:nvSpPr>
            <p:cNvPr id="90127" name="Rectangle 15"/>
            <p:cNvSpPr>
              <a:spLocks noChangeArrowheads="1"/>
            </p:cNvSpPr>
            <p:nvPr/>
          </p:nvSpPr>
          <p:spPr bwMode="auto">
            <a:xfrm>
              <a:off x="1496" y="176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25</a:t>
              </a:r>
            </a:p>
          </p:txBody>
        </p:sp>
        <p:sp>
          <p:nvSpPr>
            <p:cNvPr id="90128" name="Rectangle 16"/>
            <p:cNvSpPr>
              <a:spLocks noChangeArrowheads="1"/>
            </p:cNvSpPr>
            <p:nvPr/>
          </p:nvSpPr>
          <p:spPr bwMode="auto">
            <a:xfrm>
              <a:off x="1592" y="1984"/>
              <a:ext cx="336"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Rs1</a:t>
              </a:r>
            </a:p>
          </p:txBody>
        </p:sp>
        <p:sp>
          <p:nvSpPr>
            <p:cNvPr id="90129" name="Rectangle 17"/>
            <p:cNvSpPr>
              <a:spLocks noChangeArrowheads="1"/>
            </p:cNvSpPr>
            <p:nvPr/>
          </p:nvSpPr>
          <p:spPr bwMode="auto">
            <a:xfrm>
              <a:off x="2216" y="1984"/>
              <a:ext cx="264"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Rd</a:t>
              </a:r>
            </a:p>
          </p:txBody>
        </p:sp>
        <p:sp>
          <p:nvSpPr>
            <p:cNvPr id="90130" name="Rectangle 18"/>
            <p:cNvSpPr>
              <a:spLocks noChangeArrowheads="1"/>
            </p:cNvSpPr>
            <p:nvPr/>
          </p:nvSpPr>
          <p:spPr bwMode="auto">
            <a:xfrm>
              <a:off x="3032" y="1936"/>
              <a:ext cx="744"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immediate</a:t>
              </a:r>
            </a:p>
          </p:txBody>
        </p:sp>
        <p:sp>
          <p:nvSpPr>
            <p:cNvPr id="90131" name="Rectangle 19"/>
            <p:cNvSpPr>
              <a:spLocks noChangeArrowheads="1"/>
            </p:cNvSpPr>
            <p:nvPr/>
          </p:nvSpPr>
          <p:spPr bwMode="auto">
            <a:xfrm>
              <a:off x="820" y="3388"/>
              <a:ext cx="664"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2" name="Rectangle 20"/>
            <p:cNvSpPr>
              <a:spLocks noChangeArrowheads="1"/>
            </p:cNvSpPr>
            <p:nvPr/>
          </p:nvSpPr>
          <p:spPr bwMode="auto">
            <a:xfrm>
              <a:off x="968" y="3448"/>
              <a:ext cx="272"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Op</a:t>
              </a:r>
            </a:p>
          </p:txBody>
        </p:sp>
        <p:sp>
          <p:nvSpPr>
            <p:cNvPr id="90133" name="Rectangle 21"/>
            <p:cNvSpPr>
              <a:spLocks noChangeArrowheads="1"/>
            </p:cNvSpPr>
            <p:nvPr/>
          </p:nvSpPr>
          <p:spPr bwMode="auto">
            <a:xfrm>
              <a:off x="776" y="3232"/>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31</a:t>
              </a:r>
            </a:p>
          </p:txBody>
        </p:sp>
        <p:sp>
          <p:nvSpPr>
            <p:cNvPr id="90134" name="Rectangle 22"/>
            <p:cNvSpPr>
              <a:spLocks noChangeArrowheads="1"/>
            </p:cNvSpPr>
            <p:nvPr/>
          </p:nvSpPr>
          <p:spPr bwMode="auto">
            <a:xfrm>
              <a:off x="1304" y="3232"/>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26</a:t>
              </a:r>
            </a:p>
          </p:txBody>
        </p:sp>
        <p:sp>
          <p:nvSpPr>
            <p:cNvPr id="90135" name="Rectangle 23"/>
            <p:cNvSpPr>
              <a:spLocks noChangeArrowheads="1"/>
            </p:cNvSpPr>
            <p:nvPr/>
          </p:nvSpPr>
          <p:spPr bwMode="auto">
            <a:xfrm>
              <a:off x="1492" y="3388"/>
              <a:ext cx="3064"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6" name="Rectangle 24"/>
            <p:cNvSpPr>
              <a:spLocks noChangeArrowheads="1"/>
            </p:cNvSpPr>
            <p:nvPr/>
          </p:nvSpPr>
          <p:spPr bwMode="auto">
            <a:xfrm>
              <a:off x="4472" y="3232"/>
              <a:ext cx="16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0</a:t>
              </a:r>
            </a:p>
          </p:txBody>
        </p:sp>
        <p:sp>
          <p:nvSpPr>
            <p:cNvPr id="90137" name="Rectangle 25"/>
            <p:cNvSpPr>
              <a:spLocks noChangeArrowheads="1"/>
            </p:cNvSpPr>
            <p:nvPr/>
          </p:nvSpPr>
          <p:spPr bwMode="auto">
            <a:xfrm>
              <a:off x="1496" y="3232"/>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25</a:t>
              </a:r>
            </a:p>
          </p:txBody>
        </p:sp>
        <p:sp>
          <p:nvSpPr>
            <p:cNvPr id="90138" name="Rectangle 26"/>
            <p:cNvSpPr>
              <a:spLocks noChangeArrowheads="1"/>
            </p:cNvSpPr>
            <p:nvPr/>
          </p:nvSpPr>
          <p:spPr bwMode="auto">
            <a:xfrm>
              <a:off x="820" y="1204"/>
              <a:ext cx="664"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9" name="Rectangle 27"/>
            <p:cNvSpPr>
              <a:spLocks noChangeArrowheads="1"/>
            </p:cNvSpPr>
            <p:nvPr/>
          </p:nvSpPr>
          <p:spPr bwMode="auto">
            <a:xfrm>
              <a:off x="968" y="1264"/>
              <a:ext cx="272"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Op</a:t>
              </a:r>
            </a:p>
          </p:txBody>
        </p:sp>
        <p:sp>
          <p:nvSpPr>
            <p:cNvPr id="90140" name="Rectangle 28"/>
            <p:cNvSpPr>
              <a:spLocks noChangeArrowheads="1"/>
            </p:cNvSpPr>
            <p:nvPr/>
          </p:nvSpPr>
          <p:spPr bwMode="auto">
            <a:xfrm>
              <a:off x="776" y="104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31</a:t>
              </a:r>
            </a:p>
          </p:txBody>
        </p:sp>
        <p:sp>
          <p:nvSpPr>
            <p:cNvPr id="90141" name="Rectangle 29"/>
            <p:cNvSpPr>
              <a:spLocks noChangeArrowheads="1"/>
            </p:cNvSpPr>
            <p:nvPr/>
          </p:nvSpPr>
          <p:spPr bwMode="auto">
            <a:xfrm>
              <a:off x="1304" y="104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26</a:t>
              </a:r>
            </a:p>
          </p:txBody>
        </p:sp>
        <p:sp>
          <p:nvSpPr>
            <p:cNvPr id="90142" name="Rectangle 30"/>
            <p:cNvSpPr>
              <a:spLocks noChangeArrowheads="1"/>
            </p:cNvSpPr>
            <p:nvPr/>
          </p:nvSpPr>
          <p:spPr bwMode="auto">
            <a:xfrm>
              <a:off x="1492" y="1204"/>
              <a:ext cx="56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43" name="Rectangle 31"/>
            <p:cNvSpPr>
              <a:spLocks noChangeArrowheads="1"/>
            </p:cNvSpPr>
            <p:nvPr/>
          </p:nvSpPr>
          <p:spPr bwMode="auto">
            <a:xfrm>
              <a:off x="2068" y="1204"/>
              <a:ext cx="56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44" name="Rectangle 32"/>
            <p:cNvSpPr>
              <a:spLocks noChangeArrowheads="1"/>
            </p:cNvSpPr>
            <p:nvPr/>
          </p:nvSpPr>
          <p:spPr bwMode="auto">
            <a:xfrm>
              <a:off x="2644" y="1204"/>
              <a:ext cx="191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45" name="Rectangle 33"/>
            <p:cNvSpPr>
              <a:spLocks noChangeArrowheads="1"/>
            </p:cNvSpPr>
            <p:nvPr/>
          </p:nvSpPr>
          <p:spPr bwMode="auto">
            <a:xfrm>
              <a:off x="4472" y="1048"/>
              <a:ext cx="16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0</a:t>
              </a:r>
            </a:p>
          </p:txBody>
        </p:sp>
        <p:sp>
          <p:nvSpPr>
            <p:cNvPr id="90146" name="Rectangle 34"/>
            <p:cNvSpPr>
              <a:spLocks noChangeArrowheads="1"/>
            </p:cNvSpPr>
            <p:nvPr/>
          </p:nvSpPr>
          <p:spPr bwMode="auto">
            <a:xfrm>
              <a:off x="2648" y="104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15</a:t>
              </a:r>
            </a:p>
          </p:txBody>
        </p:sp>
        <p:sp>
          <p:nvSpPr>
            <p:cNvPr id="90147" name="Rectangle 35"/>
            <p:cNvSpPr>
              <a:spLocks noChangeArrowheads="1"/>
            </p:cNvSpPr>
            <p:nvPr/>
          </p:nvSpPr>
          <p:spPr bwMode="auto">
            <a:xfrm>
              <a:off x="2456" y="104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16</a:t>
              </a:r>
            </a:p>
          </p:txBody>
        </p:sp>
        <p:sp>
          <p:nvSpPr>
            <p:cNvPr id="90148" name="Rectangle 36"/>
            <p:cNvSpPr>
              <a:spLocks noChangeArrowheads="1"/>
            </p:cNvSpPr>
            <p:nvPr/>
          </p:nvSpPr>
          <p:spPr bwMode="auto">
            <a:xfrm>
              <a:off x="2072" y="104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20</a:t>
              </a:r>
            </a:p>
          </p:txBody>
        </p:sp>
        <p:sp>
          <p:nvSpPr>
            <p:cNvPr id="90149" name="Rectangle 37"/>
            <p:cNvSpPr>
              <a:spLocks noChangeArrowheads="1"/>
            </p:cNvSpPr>
            <p:nvPr/>
          </p:nvSpPr>
          <p:spPr bwMode="auto">
            <a:xfrm>
              <a:off x="1928" y="104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21</a:t>
              </a:r>
            </a:p>
          </p:txBody>
        </p:sp>
        <p:sp>
          <p:nvSpPr>
            <p:cNvPr id="90150" name="Rectangle 38"/>
            <p:cNvSpPr>
              <a:spLocks noChangeArrowheads="1"/>
            </p:cNvSpPr>
            <p:nvPr/>
          </p:nvSpPr>
          <p:spPr bwMode="auto">
            <a:xfrm>
              <a:off x="1496" y="1048"/>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25</a:t>
              </a:r>
            </a:p>
          </p:txBody>
        </p:sp>
        <p:sp>
          <p:nvSpPr>
            <p:cNvPr id="90151" name="Rectangle 39"/>
            <p:cNvSpPr>
              <a:spLocks noChangeArrowheads="1"/>
            </p:cNvSpPr>
            <p:nvPr/>
          </p:nvSpPr>
          <p:spPr bwMode="auto">
            <a:xfrm>
              <a:off x="1592" y="1264"/>
              <a:ext cx="336"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Rs1</a:t>
              </a:r>
            </a:p>
          </p:txBody>
        </p:sp>
        <p:sp>
          <p:nvSpPr>
            <p:cNvPr id="90152" name="Rectangle 40"/>
            <p:cNvSpPr>
              <a:spLocks noChangeArrowheads="1"/>
            </p:cNvSpPr>
            <p:nvPr/>
          </p:nvSpPr>
          <p:spPr bwMode="auto">
            <a:xfrm>
              <a:off x="2216" y="1264"/>
              <a:ext cx="336"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Rs2</a:t>
              </a:r>
            </a:p>
          </p:txBody>
        </p:sp>
        <p:sp>
          <p:nvSpPr>
            <p:cNvPr id="90153" name="Rectangle 41"/>
            <p:cNvSpPr>
              <a:spLocks noChangeArrowheads="1"/>
            </p:cNvSpPr>
            <p:nvPr/>
          </p:nvSpPr>
          <p:spPr bwMode="auto">
            <a:xfrm>
              <a:off x="2408" y="3400"/>
              <a:ext cx="448"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target</a:t>
              </a:r>
            </a:p>
          </p:txBody>
        </p:sp>
        <p:sp>
          <p:nvSpPr>
            <p:cNvPr id="90154" name="Rectangle 42"/>
            <p:cNvSpPr>
              <a:spLocks noChangeArrowheads="1"/>
            </p:cNvSpPr>
            <p:nvPr/>
          </p:nvSpPr>
          <p:spPr bwMode="auto">
            <a:xfrm>
              <a:off x="2644" y="1204"/>
              <a:ext cx="56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55" name="Rectangle 43"/>
            <p:cNvSpPr>
              <a:spLocks noChangeArrowheads="1"/>
            </p:cNvSpPr>
            <p:nvPr/>
          </p:nvSpPr>
          <p:spPr bwMode="auto">
            <a:xfrm>
              <a:off x="3220" y="1204"/>
              <a:ext cx="56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56" name="Rectangle 44"/>
            <p:cNvSpPr>
              <a:spLocks noChangeArrowheads="1"/>
            </p:cNvSpPr>
            <p:nvPr/>
          </p:nvSpPr>
          <p:spPr bwMode="auto">
            <a:xfrm>
              <a:off x="2744" y="1264"/>
              <a:ext cx="264"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Rd</a:t>
              </a:r>
            </a:p>
          </p:txBody>
        </p:sp>
        <p:sp>
          <p:nvSpPr>
            <p:cNvPr id="90157" name="Rectangle 45"/>
            <p:cNvSpPr>
              <a:spLocks noChangeArrowheads="1"/>
            </p:cNvSpPr>
            <p:nvPr/>
          </p:nvSpPr>
          <p:spPr bwMode="auto">
            <a:xfrm>
              <a:off x="3944" y="1264"/>
              <a:ext cx="344"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Opx</a:t>
              </a:r>
            </a:p>
          </p:txBody>
        </p:sp>
        <p:sp>
          <p:nvSpPr>
            <p:cNvPr id="90158" name="Rectangle 46"/>
            <p:cNvSpPr>
              <a:spLocks noChangeArrowheads="1"/>
            </p:cNvSpPr>
            <p:nvPr/>
          </p:nvSpPr>
          <p:spPr bwMode="auto">
            <a:xfrm>
              <a:off x="536" y="784"/>
              <a:ext cx="1280"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Register-Register</a:t>
              </a:r>
            </a:p>
          </p:txBody>
        </p:sp>
        <p:sp>
          <p:nvSpPr>
            <p:cNvPr id="90159" name="Rectangle 47"/>
            <p:cNvSpPr>
              <a:spLocks noChangeArrowheads="1"/>
            </p:cNvSpPr>
            <p:nvPr/>
          </p:nvSpPr>
          <p:spPr bwMode="auto">
            <a:xfrm>
              <a:off x="3800" y="1032"/>
              <a:ext cx="16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5</a:t>
              </a:r>
            </a:p>
          </p:txBody>
        </p:sp>
        <p:sp>
          <p:nvSpPr>
            <p:cNvPr id="90160" name="Rectangle 48"/>
            <p:cNvSpPr>
              <a:spLocks noChangeArrowheads="1"/>
            </p:cNvSpPr>
            <p:nvPr/>
          </p:nvSpPr>
          <p:spPr bwMode="auto">
            <a:xfrm>
              <a:off x="3656" y="1032"/>
              <a:ext cx="16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6</a:t>
              </a:r>
            </a:p>
          </p:txBody>
        </p:sp>
        <p:sp>
          <p:nvSpPr>
            <p:cNvPr id="90161" name="Rectangle 49"/>
            <p:cNvSpPr>
              <a:spLocks noChangeArrowheads="1"/>
            </p:cNvSpPr>
            <p:nvPr/>
          </p:nvSpPr>
          <p:spPr bwMode="auto">
            <a:xfrm>
              <a:off x="3224" y="1040"/>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10</a:t>
              </a:r>
            </a:p>
          </p:txBody>
        </p:sp>
        <p:sp>
          <p:nvSpPr>
            <p:cNvPr id="90162" name="Rectangle 50"/>
            <p:cNvSpPr>
              <a:spLocks noChangeArrowheads="1"/>
            </p:cNvSpPr>
            <p:nvPr/>
          </p:nvSpPr>
          <p:spPr bwMode="auto">
            <a:xfrm>
              <a:off x="3080" y="1040"/>
              <a:ext cx="234"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11</a:t>
              </a:r>
            </a:p>
          </p:txBody>
        </p:sp>
        <p:sp>
          <p:nvSpPr>
            <p:cNvPr id="90163" name="Rectangle 51"/>
            <p:cNvSpPr>
              <a:spLocks noChangeArrowheads="1"/>
            </p:cNvSpPr>
            <p:nvPr/>
          </p:nvSpPr>
          <p:spPr bwMode="auto">
            <a:xfrm>
              <a:off x="536" y="1572"/>
              <a:ext cx="1416"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Register-Immediate</a:t>
              </a:r>
            </a:p>
          </p:txBody>
        </p:sp>
        <p:sp>
          <p:nvSpPr>
            <p:cNvPr id="90164" name="Rectangle 52"/>
            <p:cNvSpPr>
              <a:spLocks noChangeArrowheads="1"/>
            </p:cNvSpPr>
            <p:nvPr/>
          </p:nvSpPr>
          <p:spPr bwMode="auto">
            <a:xfrm>
              <a:off x="820" y="2620"/>
              <a:ext cx="664"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65" name="Rectangle 53"/>
            <p:cNvSpPr>
              <a:spLocks noChangeArrowheads="1"/>
            </p:cNvSpPr>
            <p:nvPr/>
          </p:nvSpPr>
          <p:spPr bwMode="auto">
            <a:xfrm>
              <a:off x="968" y="2680"/>
              <a:ext cx="272"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Op</a:t>
              </a:r>
            </a:p>
          </p:txBody>
        </p:sp>
        <p:sp>
          <p:nvSpPr>
            <p:cNvPr id="90166" name="Rectangle 54"/>
            <p:cNvSpPr>
              <a:spLocks noChangeArrowheads="1"/>
            </p:cNvSpPr>
            <p:nvPr/>
          </p:nvSpPr>
          <p:spPr bwMode="auto">
            <a:xfrm>
              <a:off x="776" y="2464"/>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31</a:t>
              </a:r>
            </a:p>
          </p:txBody>
        </p:sp>
        <p:sp>
          <p:nvSpPr>
            <p:cNvPr id="90167" name="Rectangle 55"/>
            <p:cNvSpPr>
              <a:spLocks noChangeArrowheads="1"/>
            </p:cNvSpPr>
            <p:nvPr/>
          </p:nvSpPr>
          <p:spPr bwMode="auto">
            <a:xfrm>
              <a:off x="1304" y="2464"/>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26</a:t>
              </a:r>
            </a:p>
          </p:txBody>
        </p:sp>
        <p:sp>
          <p:nvSpPr>
            <p:cNvPr id="90168" name="Rectangle 56"/>
            <p:cNvSpPr>
              <a:spLocks noChangeArrowheads="1"/>
            </p:cNvSpPr>
            <p:nvPr/>
          </p:nvSpPr>
          <p:spPr bwMode="auto">
            <a:xfrm>
              <a:off x="1492" y="2620"/>
              <a:ext cx="56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69" name="Rectangle 57"/>
            <p:cNvSpPr>
              <a:spLocks noChangeArrowheads="1"/>
            </p:cNvSpPr>
            <p:nvPr/>
          </p:nvSpPr>
          <p:spPr bwMode="auto">
            <a:xfrm>
              <a:off x="2068" y="2620"/>
              <a:ext cx="56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70" name="Rectangle 58"/>
            <p:cNvSpPr>
              <a:spLocks noChangeArrowheads="1"/>
            </p:cNvSpPr>
            <p:nvPr/>
          </p:nvSpPr>
          <p:spPr bwMode="auto">
            <a:xfrm>
              <a:off x="2644" y="2620"/>
              <a:ext cx="191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71" name="Rectangle 59"/>
            <p:cNvSpPr>
              <a:spLocks noChangeArrowheads="1"/>
            </p:cNvSpPr>
            <p:nvPr/>
          </p:nvSpPr>
          <p:spPr bwMode="auto">
            <a:xfrm>
              <a:off x="4472" y="2464"/>
              <a:ext cx="16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0</a:t>
              </a:r>
            </a:p>
          </p:txBody>
        </p:sp>
        <p:sp>
          <p:nvSpPr>
            <p:cNvPr id="90172" name="Rectangle 60"/>
            <p:cNvSpPr>
              <a:spLocks noChangeArrowheads="1"/>
            </p:cNvSpPr>
            <p:nvPr/>
          </p:nvSpPr>
          <p:spPr bwMode="auto">
            <a:xfrm>
              <a:off x="2648" y="2464"/>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15</a:t>
              </a:r>
            </a:p>
          </p:txBody>
        </p:sp>
        <p:sp>
          <p:nvSpPr>
            <p:cNvPr id="90173" name="Rectangle 61"/>
            <p:cNvSpPr>
              <a:spLocks noChangeArrowheads="1"/>
            </p:cNvSpPr>
            <p:nvPr/>
          </p:nvSpPr>
          <p:spPr bwMode="auto">
            <a:xfrm>
              <a:off x="2456" y="2464"/>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16</a:t>
              </a:r>
            </a:p>
          </p:txBody>
        </p:sp>
        <p:sp>
          <p:nvSpPr>
            <p:cNvPr id="90174" name="Rectangle 62"/>
            <p:cNvSpPr>
              <a:spLocks noChangeArrowheads="1"/>
            </p:cNvSpPr>
            <p:nvPr/>
          </p:nvSpPr>
          <p:spPr bwMode="auto">
            <a:xfrm>
              <a:off x="2072" y="2464"/>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20</a:t>
              </a:r>
            </a:p>
          </p:txBody>
        </p:sp>
        <p:sp>
          <p:nvSpPr>
            <p:cNvPr id="90175" name="Rectangle 63"/>
            <p:cNvSpPr>
              <a:spLocks noChangeArrowheads="1"/>
            </p:cNvSpPr>
            <p:nvPr/>
          </p:nvSpPr>
          <p:spPr bwMode="auto">
            <a:xfrm>
              <a:off x="1928" y="2464"/>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21</a:t>
              </a:r>
            </a:p>
          </p:txBody>
        </p:sp>
        <p:sp>
          <p:nvSpPr>
            <p:cNvPr id="90176" name="Rectangle 64"/>
            <p:cNvSpPr>
              <a:spLocks noChangeArrowheads="1"/>
            </p:cNvSpPr>
            <p:nvPr/>
          </p:nvSpPr>
          <p:spPr bwMode="auto">
            <a:xfrm>
              <a:off x="1496" y="2464"/>
              <a:ext cx="242" cy="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25</a:t>
              </a:r>
            </a:p>
          </p:txBody>
        </p:sp>
        <p:sp>
          <p:nvSpPr>
            <p:cNvPr id="90177" name="Rectangle 65"/>
            <p:cNvSpPr>
              <a:spLocks noChangeArrowheads="1"/>
            </p:cNvSpPr>
            <p:nvPr/>
          </p:nvSpPr>
          <p:spPr bwMode="auto">
            <a:xfrm>
              <a:off x="1592" y="2680"/>
              <a:ext cx="336"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Rs1</a:t>
              </a:r>
            </a:p>
          </p:txBody>
        </p:sp>
        <p:sp>
          <p:nvSpPr>
            <p:cNvPr id="90178" name="Rectangle 66"/>
            <p:cNvSpPr>
              <a:spLocks noChangeArrowheads="1"/>
            </p:cNvSpPr>
            <p:nvPr/>
          </p:nvSpPr>
          <p:spPr bwMode="auto">
            <a:xfrm>
              <a:off x="2024" y="2680"/>
              <a:ext cx="640"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Rs2/Opx</a:t>
              </a:r>
            </a:p>
          </p:txBody>
        </p:sp>
        <p:sp>
          <p:nvSpPr>
            <p:cNvPr id="90179" name="Rectangle 67"/>
            <p:cNvSpPr>
              <a:spLocks noChangeArrowheads="1"/>
            </p:cNvSpPr>
            <p:nvPr/>
          </p:nvSpPr>
          <p:spPr bwMode="auto">
            <a:xfrm>
              <a:off x="3032" y="2632"/>
              <a:ext cx="744" cy="1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a:latin typeface="Arial" panose="020B0604020202020204" pitchFamily="34" charset="0"/>
                </a:rPr>
                <a:t>immediate</a:t>
              </a:r>
            </a:p>
          </p:txBody>
        </p:sp>
        <p:sp>
          <p:nvSpPr>
            <p:cNvPr id="90180" name="Rectangle 68"/>
            <p:cNvSpPr>
              <a:spLocks noChangeArrowheads="1"/>
            </p:cNvSpPr>
            <p:nvPr/>
          </p:nvSpPr>
          <p:spPr bwMode="auto">
            <a:xfrm>
              <a:off x="536" y="2262"/>
              <a:ext cx="576" cy="1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Branch</a:t>
              </a:r>
            </a:p>
          </p:txBody>
        </p:sp>
        <p:sp>
          <p:nvSpPr>
            <p:cNvPr id="90181" name="Rectangle 69"/>
            <p:cNvSpPr>
              <a:spLocks noChangeArrowheads="1"/>
            </p:cNvSpPr>
            <p:nvPr/>
          </p:nvSpPr>
          <p:spPr bwMode="auto">
            <a:xfrm>
              <a:off x="536" y="2994"/>
              <a:ext cx="848" cy="1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b="1">
                  <a:latin typeface="Arial" panose="020B0604020202020204" pitchFamily="34" charset="0"/>
                </a:rPr>
                <a:t>Jump / Call</a:t>
              </a:r>
            </a:p>
          </p:txBody>
        </p:sp>
      </p:grpSp>
    </p:spTree>
    <p:extLst>
      <p:ext uri="{BB962C8B-B14F-4D97-AF65-F5344CB8AC3E}">
        <p14:creationId xmlns:p14="http://schemas.microsoft.com/office/powerpoint/2010/main" val="848362721"/>
      </p:ext>
    </p:extLst>
  </p:cSld>
  <p:clrMapOvr>
    <a:masterClrMapping/>
  </p:clrMapOvr>
  <p:transition>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27652" name="Picture 5" descr="Z:\Production\Prodenv\0000000038\0000155678\0000000029\XmlLowres\0003170709\bm23-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199" y="1703121"/>
            <a:ext cx="10417889" cy="2690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Example: RISC-V</a:t>
            </a:r>
            <a:endParaRPr lang="zh-CN" altLang="en-US" dirty="0"/>
          </a:p>
        </p:txBody>
      </p:sp>
    </p:spTree>
    <p:extLst>
      <p:ext uri="{BB962C8B-B14F-4D97-AF65-F5344CB8AC3E}">
        <p14:creationId xmlns:p14="http://schemas.microsoft.com/office/powerpoint/2010/main" val="334276408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4"/>
          <p:cNvSpPr>
            <a:spLocks noChangeArrowheads="1"/>
          </p:cNvSpPr>
          <p:nvPr/>
        </p:nvSpPr>
        <p:spPr bwMode="auto">
          <a:xfrm>
            <a:off x="1917700" y="5816600"/>
            <a:ext cx="2006600"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sz="2400" b="1">
                <a:latin typeface="Arial" panose="020B0604020202020204" pitchFamily="34" charset="0"/>
              </a:rPr>
              <a:t>Comparison:</a:t>
            </a:r>
          </a:p>
        </p:txBody>
      </p:sp>
      <p:sp>
        <p:nvSpPr>
          <p:cNvPr id="14341" name="Rectangle 5"/>
          <p:cNvSpPr>
            <a:spLocks noChangeArrowheads="1"/>
          </p:cNvSpPr>
          <p:nvPr/>
        </p:nvSpPr>
        <p:spPr bwMode="auto">
          <a:xfrm>
            <a:off x="2362200" y="6172200"/>
            <a:ext cx="8186536" cy="312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sz="2000">
                <a:latin typeface="Arial" panose="020B0604020202020204" pitchFamily="34" charset="0"/>
              </a:rPr>
              <a:t>Bytes per instruction?  Number of Instructions?  Cycles per instruction?</a:t>
            </a:r>
            <a:endParaRPr lang="en-US" altLang="zh-CN" b="1">
              <a:latin typeface="Arial" panose="020B0604020202020204" pitchFamily="34" charset="0"/>
            </a:endParaRPr>
          </a:p>
        </p:txBody>
      </p:sp>
      <p:sp>
        <p:nvSpPr>
          <p:cNvPr id="14342" name="Rectangle 6"/>
          <p:cNvSpPr>
            <a:spLocks noGrp="1" noChangeArrowheads="1"/>
          </p:cNvSpPr>
          <p:nvPr>
            <p:ph type="title"/>
          </p:nvPr>
        </p:nvSpPr>
        <p:spPr/>
        <p:txBody>
          <a:bodyPr/>
          <a:lstStyle/>
          <a:p>
            <a:r>
              <a:rPr lang="en-US" altLang="zh-CN"/>
              <a:t>Basic ISA Classes</a:t>
            </a:r>
          </a:p>
        </p:txBody>
      </p:sp>
      <p:sp>
        <p:nvSpPr>
          <p:cNvPr id="14343" name="Rectangle 7"/>
          <p:cNvSpPr>
            <a:spLocks noGrp="1" noChangeArrowheads="1"/>
          </p:cNvSpPr>
          <p:nvPr>
            <p:ph type="body" idx="1"/>
          </p:nvPr>
        </p:nvSpPr>
        <p:spPr>
          <a:xfrm>
            <a:off x="1981200" y="1609106"/>
            <a:ext cx="8382000" cy="4448794"/>
          </a:xfrm>
        </p:spPr>
        <p:txBody>
          <a:bodyPr/>
          <a:lstStyle/>
          <a:p>
            <a:pPr>
              <a:spcBef>
                <a:spcPct val="0"/>
              </a:spcBef>
              <a:buFont typeface="Wingdings" panose="05000000000000000000" pitchFamily="2" charset="2"/>
              <a:buNone/>
            </a:pPr>
            <a:r>
              <a:rPr lang="en-US" altLang="zh-CN" sz="2400" dirty="0"/>
              <a:t>Accumulator (1 register):</a:t>
            </a:r>
          </a:p>
          <a:p>
            <a:pPr>
              <a:spcBef>
                <a:spcPct val="0"/>
              </a:spcBef>
              <a:buFont typeface="Wingdings" panose="05000000000000000000" pitchFamily="2" charset="2"/>
              <a:buNone/>
            </a:pPr>
            <a:r>
              <a:rPr lang="en-US" altLang="zh-CN" sz="2400" dirty="0"/>
              <a:t>	1 address	    add A	</a:t>
            </a:r>
            <a:r>
              <a:rPr lang="en-US" altLang="zh-CN" sz="2400" dirty="0" err="1"/>
              <a:t>acc</a:t>
            </a:r>
            <a:r>
              <a:rPr lang="en-US" altLang="zh-CN" sz="2400" dirty="0"/>
              <a:t> </a:t>
            </a:r>
            <a:r>
              <a:rPr lang="en-US" altLang="zh-CN" sz="2400" dirty="0" smtClean="0"/>
              <a:t>= </a:t>
            </a:r>
            <a:r>
              <a:rPr lang="en-US" altLang="zh-CN" sz="2400" dirty="0" err="1" smtClean="0"/>
              <a:t>acc</a:t>
            </a:r>
            <a:r>
              <a:rPr lang="en-US" altLang="zh-CN" sz="2400" dirty="0" smtClean="0"/>
              <a:t> </a:t>
            </a:r>
            <a:r>
              <a:rPr lang="en-US" altLang="zh-CN" sz="2400" dirty="0"/>
              <a:t>+ mem[A]</a:t>
            </a:r>
          </a:p>
          <a:p>
            <a:pPr>
              <a:spcBef>
                <a:spcPct val="0"/>
              </a:spcBef>
              <a:buFont typeface="Wingdings" panose="05000000000000000000" pitchFamily="2" charset="2"/>
              <a:buNone/>
            </a:pPr>
            <a:r>
              <a:rPr lang="en-US" altLang="zh-CN" sz="2400" dirty="0"/>
              <a:t>	1+x address   </a:t>
            </a:r>
            <a:r>
              <a:rPr lang="en-US" altLang="zh-CN" sz="2400" dirty="0" err="1"/>
              <a:t>addx</a:t>
            </a:r>
            <a:r>
              <a:rPr lang="en-US" altLang="zh-CN" sz="2400" dirty="0"/>
              <a:t> A	</a:t>
            </a:r>
            <a:r>
              <a:rPr lang="en-US" altLang="zh-CN" sz="2400" dirty="0" err="1"/>
              <a:t>acc</a:t>
            </a:r>
            <a:r>
              <a:rPr lang="en-US" altLang="zh-CN" sz="2400" dirty="0"/>
              <a:t> </a:t>
            </a:r>
            <a:r>
              <a:rPr lang="en-US" altLang="zh-CN" sz="2400" dirty="0" smtClean="0"/>
              <a:t>= </a:t>
            </a:r>
            <a:r>
              <a:rPr lang="en-US" altLang="zh-CN" sz="2400" dirty="0" err="1" smtClean="0"/>
              <a:t>acc</a:t>
            </a:r>
            <a:r>
              <a:rPr lang="en-US" altLang="zh-CN" sz="2400" dirty="0" smtClean="0"/>
              <a:t> </a:t>
            </a:r>
            <a:r>
              <a:rPr lang="en-US" altLang="zh-CN" sz="2400" dirty="0"/>
              <a:t>+ mem[A + x]</a:t>
            </a:r>
          </a:p>
          <a:p>
            <a:pPr>
              <a:spcBef>
                <a:spcPct val="0"/>
              </a:spcBef>
              <a:buFont typeface="Wingdings" panose="05000000000000000000" pitchFamily="2" charset="2"/>
              <a:buNone/>
            </a:pPr>
            <a:r>
              <a:rPr lang="en-US" altLang="zh-CN" sz="2400" dirty="0"/>
              <a:t>Stack:</a:t>
            </a:r>
          </a:p>
          <a:p>
            <a:pPr>
              <a:spcBef>
                <a:spcPct val="0"/>
              </a:spcBef>
              <a:buFont typeface="Wingdings" panose="05000000000000000000" pitchFamily="2" charset="2"/>
              <a:buNone/>
            </a:pPr>
            <a:r>
              <a:rPr lang="en-US" altLang="zh-CN" sz="2400" dirty="0"/>
              <a:t>	0 address	 add	</a:t>
            </a:r>
            <a:r>
              <a:rPr lang="en-US" altLang="zh-CN" sz="2400" dirty="0" err="1"/>
              <a:t>tos</a:t>
            </a:r>
            <a:r>
              <a:rPr lang="en-US" altLang="zh-CN" sz="2400" dirty="0"/>
              <a:t> </a:t>
            </a:r>
            <a:r>
              <a:rPr lang="en-US" altLang="zh-CN" sz="2400" dirty="0" smtClean="0"/>
              <a:t>= </a:t>
            </a:r>
            <a:r>
              <a:rPr lang="en-US" altLang="zh-CN" sz="2400" dirty="0" err="1" smtClean="0"/>
              <a:t>tos</a:t>
            </a:r>
            <a:r>
              <a:rPr lang="en-US" altLang="zh-CN" sz="2400" dirty="0" smtClean="0"/>
              <a:t> </a:t>
            </a:r>
            <a:r>
              <a:rPr lang="en-US" altLang="zh-CN" sz="2400" dirty="0"/>
              <a:t>+ next</a:t>
            </a:r>
          </a:p>
          <a:p>
            <a:pPr>
              <a:spcBef>
                <a:spcPct val="0"/>
              </a:spcBef>
              <a:buFont typeface="Wingdings" panose="05000000000000000000" pitchFamily="2" charset="2"/>
              <a:buNone/>
            </a:pPr>
            <a:r>
              <a:rPr lang="en-US" altLang="zh-CN" sz="2400" dirty="0"/>
              <a:t>General Purpose Register:</a:t>
            </a:r>
          </a:p>
          <a:p>
            <a:pPr>
              <a:spcBef>
                <a:spcPct val="0"/>
              </a:spcBef>
              <a:buFont typeface="Wingdings" panose="05000000000000000000" pitchFamily="2" charset="2"/>
              <a:buNone/>
            </a:pPr>
            <a:r>
              <a:rPr lang="en-US" altLang="zh-CN" sz="2400" dirty="0"/>
              <a:t>	2 address	 add A B	EA(A) </a:t>
            </a:r>
            <a:r>
              <a:rPr lang="en-US" altLang="zh-CN" sz="2400" dirty="0" smtClean="0"/>
              <a:t>= EA(A</a:t>
            </a:r>
            <a:r>
              <a:rPr lang="en-US" altLang="zh-CN" sz="2400" dirty="0"/>
              <a:t>) + EA(B)</a:t>
            </a:r>
          </a:p>
          <a:p>
            <a:pPr>
              <a:spcBef>
                <a:spcPct val="0"/>
              </a:spcBef>
              <a:buFont typeface="Wingdings" panose="05000000000000000000" pitchFamily="2" charset="2"/>
              <a:buNone/>
            </a:pPr>
            <a:r>
              <a:rPr lang="en-US" altLang="zh-CN" sz="2400" dirty="0"/>
              <a:t>	3 address	 add A B C	EA(A) </a:t>
            </a:r>
            <a:r>
              <a:rPr lang="en-US" altLang="zh-CN" sz="2400" dirty="0" smtClean="0"/>
              <a:t>= EA(B</a:t>
            </a:r>
            <a:r>
              <a:rPr lang="en-US" altLang="zh-CN" sz="2400" dirty="0"/>
              <a:t>) + EA(C)</a:t>
            </a:r>
          </a:p>
          <a:p>
            <a:pPr>
              <a:spcBef>
                <a:spcPct val="0"/>
              </a:spcBef>
              <a:buFont typeface="Wingdings" panose="05000000000000000000" pitchFamily="2" charset="2"/>
              <a:buNone/>
            </a:pPr>
            <a:r>
              <a:rPr lang="en-US" altLang="zh-CN" sz="2400" dirty="0"/>
              <a:t>Load/Store:</a:t>
            </a:r>
          </a:p>
          <a:p>
            <a:pPr>
              <a:spcBef>
                <a:spcPct val="0"/>
              </a:spcBef>
              <a:buFont typeface="Wingdings" panose="05000000000000000000" pitchFamily="2" charset="2"/>
              <a:buNone/>
            </a:pPr>
            <a:r>
              <a:rPr lang="en-US" altLang="zh-CN" sz="2400" dirty="0"/>
              <a:t>	3 address	add Ra </a:t>
            </a:r>
            <a:r>
              <a:rPr lang="en-US" altLang="zh-CN" sz="2400" dirty="0" err="1"/>
              <a:t>Rb</a:t>
            </a:r>
            <a:r>
              <a:rPr lang="en-US" altLang="zh-CN" sz="2400" dirty="0"/>
              <a:t> </a:t>
            </a:r>
            <a:r>
              <a:rPr lang="en-US" altLang="zh-CN" sz="2400" dirty="0" err="1"/>
              <a:t>Rc</a:t>
            </a:r>
            <a:r>
              <a:rPr lang="en-US" altLang="zh-CN" sz="2400" dirty="0"/>
              <a:t>	Ra </a:t>
            </a:r>
            <a:r>
              <a:rPr lang="en-US" altLang="zh-CN" sz="2400" dirty="0" smtClean="0"/>
              <a:t>= </a:t>
            </a:r>
            <a:r>
              <a:rPr lang="en-US" altLang="zh-CN" sz="2400" dirty="0" err="1" smtClean="0"/>
              <a:t>Rb</a:t>
            </a:r>
            <a:r>
              <a:rPr lang="en-US" altLang="zh-CN" sz="2400" dirty="0" smtClean="0"/>
              <a:t> </a:t>
            </a:r>
            <a:r>
              <a:rPr lang="en-US" altLang="zh-CN" sz="2400" dirty="0"/>
              <a:t>+ </a:t>
            </a:r>
            <a:r>
              <a:rPr lang="en-US" altLang="zh-CN" sz="2400" dirty="0" err="1"/>
              <a:t>Rc</a:t>
            </a:r>
            <a:endParaRPr lang="en-US" altLang="zh-CN" sz="2400" dirty="0"/>
          </a:p>
          <a:p>
            <a:pPr>
              <a:spcBef>
                <a:spcPct val="0"/>
              </a:spcBef>
              <a:buFont typeface="Wingdings" panose="05000000000000000000" pitchFamily="2" charset="2"/>
              <a:buNone/>
            </a:pPr>
            <a:r>
              <a:rPr lang="en-US" altLang="zh-CN" sz="2400" dirty="0"/>
              <a:t>			load Ra </a:t>
            </a:r>
            <a:r>
              <a:rPr lang="en-US" altLang="zh-CN" sz="2400" dirty="0" err="1"/>
              <a:t>Rb</a:t>
            </a:r>
            <a:r>
              <a:rPr lang="en-US" altLang="zh-CN" sz="2400" dirty="0"/>
              <a:t>		Ra </a:t>
            </a:r>
            <a:r>
              <a:rPr lang="en-US" altLang="zh-CN" sz="2400" dirty="0" smtClean="0"/>
              <a:t>= mem[</a:t>
            </a:r>
            <a:r>
              <a:rPr lang="en-US" altLang="zh-CN" sz="2400" dirty="0" err="1" smtClean="0"/>
              <a:t>Rb</a:t>
            </a:r>
            <a:r>
              <a:rPr lang="en-US" altLang="zh-CN" sz="2400" dirty="0"/>
              <a:t>]</a:t>
            </a:r>
          </a:p>
          <a:p>
            <a:pPr>
              <a:spcBef>
                <a:spcPct val="0"/>
              </a:spcBef>
              <a:buFont typeface="Wingdings" panose="05000000000000000000" pitchFamily="2" charset="2"/>
              <a:buNone/>
            </a:pPr>
            <a:r>
              <a:rPr lang="en-US" altLang="zh-CN" sz="2400" dirty="0"/>
              <a:t>			store Ra </a:t>
            </a:r>
            <a:r>
              <a:rPr lang="en-US" altLang="zh-CN" sz="2400" dirty="0" err="1"/>
              <a:t>Rb</a:t>
            </a:r>
            <a:r>
              <a:rPr lang="en-US" altLang="zh-CN" sz="2400" dirty="0"/>
              <a:t>		mem[</a:t>
            </a:r>
            <a:r>
              <a:rPr lang="en-US" altLang="zh-CN" sz="2400" dirty="0" err="1"/>
              <a:t>Rb</a:t>
            </a:r>
            <a:r>
              <a:rPr lang="en-US" altLang="zh-CN" sz="2400" dirty="0"/>
              <a:t>] </a:t>
            </a:r>
            <a:r>
              <a:rPr lang="en-US" altLang="zh-CN" sz="2400" dirty="0" smtClean="0"/>
              <a:t>= Ra</a:t>
            </a:r>
            <a:endParaRPr lang="en-US" altLang="zh-CN" sz="2400" dirty="0"/>
          </a:p>
        </p:txBody>
      </p:sp>
    </p:spTree>
    <p:extLst>
      <p:ext uri="{BB962C8B-B14F-4D97-AF65-F5344CB8AC3E}">
        <p14:creationId xmlns:p14="http://schemas.microsoft.com/office/powerpoint/2010/main" val="314288526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997" y="1538979"/>
            <a:ext cx="11440885" cy="5112568"/>
          </a:xfrm>
        </p:spPr>
        <p:txBody>
          <a:bodyPr/>
          <a:lstStyle/>
          <a:p>
            <a:r>
              <a:rPr lang="zh-CN" altLang="en-US" dirty="0" smtClean="0"/>
              <a:t>箭头表示数据流动方向，灰色表示源操作数，黑色表示结果</a:t>
            </a:r>
            <a:endParaRPr lang="en-US" altLang="zh-CN" dirty="0" smtClean="0"/>
          </a:p>
          <a:p>
            <a:pPr lvl="1"/>
            <a:r>
              <a:rPr lang="en-US" altLang="en-US" dirty="0" smtClean="0"/>
              <a:t>(A) </a:t>
            </a:r>
            <a:r>
              <a:rPr lang="en-US" altLang="zh-CN" dirty="0" smtClean="0"/>
              <a:t>TOS (top of stack) </a:t>
            </a:r>
            <a:r>
              <a:rPr lang="zh-CN" altLang="en-US" dirty="0" smtClean="0"/>
              <a:t>为栈顶指针，顶部两个数据为源操作数，运算后抹去栈顶数据，结果存入另一个源操作数位置，</a:t>
            </a:r>
            <a:r>
              <a:rPr lang="en-US" altLang="zh-CN" dirty="0" smtClean="0"/>
              <a:t/>
            </a:r>
            <a:br>
              <a:rPr lang="en-US" altLang="zh-CN" dirty="0" smtClean="0"/>
            </a:br>
            <a:r>
              <a:rPr lang="en-US" altLang="zh-CN" dirty="0" smtClean="0"/>
              <a:t>TOS</a:t>
            </a:r>
            <a:r>
              <a:rPr lang="zh-CN" altLang="en-US" dirty="0" smtClean="0"/>
              <a:t>改为指向结果位置</a:t>
            </a:r>
            <a:r>
              <a:rPr lang="en-US" altLang="en-US" dirty="0" smtClean="0"/>
              <a:t> </a:t>
            </a:r>
          </a:p>
          <a:p>
            <a:pPr lvl="1"/>
            <a:r>
              <a:rPr lang="en-US" altLang="en-US" dirty="0" smtClean="0"/>
              <a:t>(B) </a:t>
            </a:r>
            <a:r>
              <a:rPr lang="zh-CN" altLang="en-US" dirty="0" smtClean="0"/>
              <a:t>累加器既是一个隐含的操作数，又</a:t>
            </a:r>
            <a:r>
              <a:rPr lang="en-US" altLang="zh-CN" dirty="0" smtClean="0"/>
              <a:t/>
            </a:r>
            <a:br>
              <a:rPr lang="en-US" altLang="zh-CN" dirty="0" smtClean="0"/>
            </a:br>
            <a:r>
              <a:rPr lang="zh-CN" altLang="en-US" dirty="0" smtClean="0"/>
              <a:t>存放运算的结果</a:t>
            </a:r>
            <a:r>
              <a:rPr lang="en-US" altLang="en-US" dirty="0" smtClean="0"/>
              <a:t> </a:t>
            </a:r>
          </a:p>
          <a:p>
            <a:pPr lvl="1"/>
            <a:r>
              <a:rPr lang="en-US" altLang="en-US" dirty="0" smtClean="0"/>
              <a:t>(</a:t>
            </a:r>
            <a:r>
              <a:rPr lang="en-US" altLang="en-US" dirty="0"/>
              <a:t>C</a:t>
            </a:r>
            <a:r>
              <a:rPr lang="en-US" altLang="en-US" dirty="0" smtClean="0"/>
              <a:t>) </a:t>
            </a:r>
            <a:r>
              <a:rPr lang="zh-CN" altLang="en-US" dirty="0" smtClean="0"/>
              <a:t>一个操作数在寄存器中，另一个在</a:t>
            </a:r>
            <a:r>
              <a:rPr lang="en-US" altLang="zh-CN" dirty="0" smtClean="0"/>
              <a:t/>
            </a:r>
            <a:br>
              <a:rPr lang="en-US" altLang="zh-CN" dirty="0" smtClean="0"/>
            </a:br>
            <a:r>
              <a:rPr lang="zh-CN" altLang="en-US" dirty="0" smtClean="0"/>
              <a:t>存储器中，结果放在寄存器中</a:t>
            </a:r>
            <a:endParaRPr lang="en-US" altLang="zh-CN" dirty="0" smtClean="0"/>
          </a:p>
          <a:p>
            <a:pPr lvl="1"/>
            <a:r>
              <a:rPr lang="en-US" altLang="en-US" dirty="0" smtClean="0"/>
              <a:t>(</a:t>
            </a:r>
            <a:r>
              <a:rPr lang="en-US" altLang="en-US" dirty="0"/>
              <a:t>D) </a:t>
            </a:r>
            <a:r>
              <a:rPr lang="zh-CN" altLang="en-US" dirty="0" smtClean="0"/>
              <a:t>操作数和结果都在寄存器中</a:t>
            </a:r>
            <a:endParaRPr lang="en-US" altLang="zh-CN" dirty="0" smtClean="0"/>
          </a:p>
          <a:p>
            <a:r>
              <a:rPr lang="en-US" altLang="en-US" dirty="0" smtClean="0"/>
              <a:t>(A)</a:t>
            </a:r>
            <a:r>
              <a:rPr lang="zh-CN" altLang="en-US" dirty="0" smtClean="0"/>
              <a:t>和</a:t>
            </a:r>
            <a:r>
              <a:rPr lang="en-US" altLang="zh-CN" dirty="0" smtClean="0"/>
              <a:t>(D)</a:t>
            </a:r>
            <a:r>
              <a:rPr lang="zh-CN" altLang="en-US" dirty="0" smtClean="0"/>
              <a:t>中，需要专门的指令把数据</a:t>
            </a:r>
            <a:r>
              <a:rPr lang="en-US" altLang="zh-CN" dirty="0" smtClean="0"/>
              <a:t/>
            </a:r>
            <a:br>
              <a:rPr lang="en-US" altLang="zh-CN" dirty="0" smtClean="0"/>
            </a:br>
            <a:r>
              <a:rPr lang="zh-CN" altLang="en-US" dirty="0" smtClean="0"/>
              <a:t>传输到存储器</a:t>
            </a:r>
            <a:endParaRPr lang="en-US" altLang="zh-CN" dirty="0" smtClean="0"/>
          </a:p>
          <a:p>
            <a:pPr lvl="1"/>
            <a:r>
              <a:rPr lang="en-US" altLang="en-US" dirty="0"/>
              <a:t>(A) </a:t>
            </a:r>
            <a:r>
              <a:rPr lang="en-US" altLang="en-US" dirty="0" smtClean="0"/>
              <a:t>push </a:t>
            </a:r>
            <a:r>
              <a:rPr lang="en-US" altLang="en-US" dirty="0"/>
              <a:t>or pop </a:t>
            </a:r>
            <a:endParaRPr lang="en-US" altLang="en-US" dirty="0" smtClean="0"/>
          </a:p>
          <a:p>
            <a:pPr lvl="1"/>
            <a:r>
              <a:rPr lang="en-US" altLang="en-US" dirty="0"/>
              <a:t>(</a:t>
            </a:r>
            <a:r>
              <a:rPr lang="en-US" altLang="en-US" dirty="0" smtClean="0"/>
              <a:t>D) load </a:t>
            </a:r>
            <a:r>
              <a:rPr lang="en-US" altLang="en-US" dirty="0"/>
              <a:t>or </a:t>
            </a:r>
            <a:r>
              <a:rPr lang="en-US" altLang="en-US" dirty="0" smtClean="0"/>
              <a:t>store</a:t>
            </a:r>
            <a:endParaRPr lang="zh-CN" altLang="en-US" dirty="0"/>
          </a:p>
        </p:txBody>
      </p:sp>
      <p:sp>
        <p:nvSpPr>
          <p:cNvPr id="512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5124" name="Picture 5" descr="Z:\Production\Prodenv\0000000038\0000155678\0000000029\XmlLowres\0003170709\bm01-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36043" y="2659397"/>
            <a:ext cx="5851379" cy="3931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en-US" dirty="0"/>
              <a:t>Operand locations for </a:t>
            </a:r>
            <a:r>
              <a:rPr lang="en-US" altLang="zh-CN" dirty="0" smtClean="0"/>
              <a:t>4 ISA</a:t>
            </a:r>
            <a:r>
              <a:rPr lang="en-US" altLang="en-US" dirty="0" smtClean="0"/>
              <a:t> </a:t>
            </a:r>
            <a:r>
              <a:rPr lang="en-US" altLang="en-US" dirty="0"/>
              <a:t>classes</a:t>
            </a:r>
            <a:endParaRPr lang="zh-CN" altLang="en-US" dirty="0"/>
          </a:p>
        </p:txBody>
      </p:sp>
    </p:spTree>
    <p:extLst>
      <p:ext uri="{BB962C8B-B14F-4D97-AF65-F5344CB8AC3E}">
        <p14:creationId xmlns:p14="http://schemas.microsoft.com/office/powerpoint/2010/main" val="55579697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zh-CN" altLang="en-US" smtClean="0"/>
              <a:t>指令数的比较</a:t>
            </a:r>
            <a:endParaRPr lang="zh-CN" altLang="en-US"/>
          </a:p>
        </p:txBody>
      </p:sp>
      <p:sp>
        <p:nvSpPr>
          <p:cNvPr id="93187" name="Rectangle 3"/>
          <p:cNvSpPr>
            <a:spLocks noGrp="1" noChangeArrowheads="1"/>
          </p:cNvSpPr>
          <p:nvPr>
            <p:ph type="body" idx="1"/>
          </p:nvPr>
        </p:nvSpPr>
        <p:spPr/>
        <p:txBody>
          <a:bodyPr/>
          <a:lstStyle/>
          <a:p>
            <a:r>
              <a:rPr lang="zh-CN" altLang="en-US" dirty="0" smtClean="0"/>
              <a:t>四类机器上</a:t>
            </a:r>
            <a:r>
              <a:rPr lang="en-US" altLang="zh-CN" dirty="0" smtClean="0"/>
              <a:t>C=A+B</a:t>
            </a:r>
            <a:r>
              <a:rPr lang="zh-CN" altLang="en-US" dirty="0" smtClean="0"/>
              <a:t>的代码序列</a:t>
            </a:r>
            <a:endParaRPr lang="en-US" altLang="zh-CN" dirty="0"/>
          </a:p>
          <a:p>
            <a:pPr lvl="1"/>
            <a:r>
              <a:rPr lang="en-US" altLang="zh-CN" dirty="0"/>
              <a:t>Note that the Add instruction has implicit operands for stack and accumulator architectures and explicit operands for register architectures. It is assumed that A, B, and C all belong in memory and that the values of A and B cannot be </a:t>
            </a:r>
            <a:r>
              <a:rPr lang="en-US" altLang="zh-CN" dirty="0" smtClean="0"/>
              <a:t>destroyed</a:t>
            </a:r>
            <a:endParaRPr lang="zh-CN" altLang="en-US" dirty="0"/>
          </a:p>
        </p:txBody>
      </p:sp>
      <p:pic>
        <p:nvPicPr>
          <p:cNvPr id="4" name="图片 3"/>
          <p:cNvPicPr>
            <a:picLocks noChangeAspect="1"/>
          </p:cNvPicPr>
          <p:nvPr/>
        </p:nvPicPr>
        <p:blipFill>
          <a:blip r:embed="rId2"/>
          <a:stretch>
            <a:fillRect/>
          </a:stretch>
        </p:blipFill>
        <p:spPr>
          <a:xfrm>
            <a:off x="1036244" y="3829792"/>
            <a:ext cx="10029611" cy="2707574"/>
          </a:xfrm>
          <a:prstGeom prst="rect">
            <a:avLst/>
          </a:prstGeom>
        </p:spPr>
      </p:pic>
    </p:spTree>
    <p:extLst>
      <p:ext uri="{BB962C8B-B14F-4D97-AF65-F5344CB8AC3E}">
        <p14:creationId xmlns:p14="http://schemas.microsoft.com/office/powerpoint/2010/main" val="572386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508166"/>
            <a:ext cx="10515600" cy="5161194"/>
          </a:xfrm>
        </p:spPr>
        <p:txBody>
          <a:bodyPr/>
          <a:lstStyle/>
          <a:p>
            <a:r>
              <a:rPr lang="en-US" altLang="zh-CN" dirty="0" smtClean="0"/>
              <a:t>Typical </a:t>
            </a:r>
            <a:r>
              <a:rPr lang="en-US" altLang="zh-CN" dirty="0"/>
              <a:t>combinations of memory operands and total operands per typical ALU instruction with examples of </a:t>
            </a:r>
            <a:r>
              <a:rPr lang="en-US" altLang="zh-CN" dirty="0" smtClean="0"/>
              <a:t>computers</a:t>
            </a:r>
          </a:p>
          <a:p>
            <a:endParaRPr lang="en-US" altLang="zh-CN" dirty="0"/>
          </a:p>
          <a:p>
            <a:endParaRPr lang="en-US" altLang="zh-CN" dirty="0" smtClean="0"/>
          </a:p>
          <a:p>
            <a:endParaRPr lang="en-US" altLang="zh-CN" dirty="0"/>
          </a:p>
          <a:p>
            <a:endParaRPr lang="en-US" altLang="zh-CN" dirty="0" smtClean="0"/>
          </a:p>
          <a:p>
            <a:pPr lvl="1"/>
            <a:endParaRPr lang="en-US" altLang="zh-CN" dirty="0" smtClean="0"/>
          </a:p>
          <a:p>
            <a:pPr lvl="1"/>
            <a:r>
              <a:rPr lang="en-US" altLang="zh-CN" dirty="0" smtClean="0"/>
              <a:t>Load-store </a:t>
            </a:r>
            <a:r>
              <a:rPr lang="en-US" altLang="zh-CN" dirty="0"/>
              <a:t>or register-register </a:t>
            </a:r>
            <a:r>
              <a:rPr lang="en-US" altLang="zh-CN" dirty="0" smtClean="0"/>
              <a:t>computer</a:t>
            </a:r>
            <a:r>
              <a:rPr lang="zh-CN" altLang="en-US" dirty="0" smtClean="0"/>
              <a:t>：</a:t>
            </a:r>
            <a:r>
              <a:rPr lang="en-US" altLang="zh-CN" dirty="0" smtClean="0"/>
              <a:t>Computers </a:t>
            </a:r>
            <a:r>
              <a:rPr lang="en-US" altLang="zh-CN" dirty="0"/>
              <a:t>with no memory reference per ALU instruction </a:t>
            </a:r>
            <a:endParaRPr lang="en-US" altLang="zh-CN" dirty="0" smtClean="0"/>
          </a:p>
          <a:p>
            <a:pPr lvl="1"/>
            <a:r>
              <a:rPr lang="en-US" altLang="zh-CN" dirty="0" smtClean="0"/>
              <a:t>Register-memory </a:t>
            </a:r>
            <a:r>
              <a:rPr lang="en-US" altLang="zh-CN" dirty="0"/>
              <a:t>or </a:t>
            </a:r>
            <a:r>
              <a:rPr lang="en-US" altLang="zh-CN" dirty="0" smtClean="0"/>
              <a:t>memory-memory computer: ALU Instructions </a:t>
            </a:r>
            <a:r>
              <a:rPr lang="en-US" altLang="zh-CN" dirty="0"/>
              <a:t>with </a:t>
            </a:r>
            <a:r>
              <a:rPr lang="en-US" altLang="zh-CN" dirty="0" smtClean="0"/>
              <a:t>memory operands</a:t>
            </a:r>
            <a:endParaRPr lang="en-US" altLang="zh-CN" dirty="0"/>
          </a:p>
          <a:p>
            <a:endParaRPr lang="zh-CN" altLang="en-US" dirty="0"/>
          </a:p>
        </p:txBody>
      </p:sp>
      <p:sp>
        <p:nvSpPr>
          <p:cNvPr id="7170"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7172" name="Picture 5" descr="Z:\Production\Prodenv\0000000038\0000155678\0000000029\XmlLowres\0003170709\bm03-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56607" y="2386940"/>
            <a:ext cx="9571056" cy="2375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dirty="0" smtClean="0"/>
              <a:t>两地址 </a:t>
            </a:r>
            <a:r>
              <a:rPr lang="en-US" altLang="zh-CN" dirty="0" smtClean="0"/>
              <a:t>vs. </a:t>
            </a:r>
            <a:r>
              <a:rPr lang="zh-CN" altLang="en-US" dirty="0" smtClean="0"/>
              <a:t>三地址</a:t>
            </a:r>
            <a:endParaRPr lang="zh-CN" altLang="en-US" dirty="0"/>
          </a:p>
        </p:txBody>
      </p:sp>
    </p:spTree>
    <p:extLst>
      <p:ext uri="{BB962C8B-B14F-4D97-AF65-F5344CB8AC3E}">
        <p14:creationId xmlns:p14="http://schemas.microsoft.com/office/powerpoint/2010/main" val="198631973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8196" name="Picture 5" descr="Z:\Production\Prodenv\0000000038\0000155678\0000000029\XmlLowres\0003170709\bm04-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66914" y="1564534"/>
            <a:ext cx="8590911" cy="3250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Comparisons</a:t>
            </a:r>
            <a:endParaRPr lang="zh-CN" altLang="en-US" dirty="0"/>
          </a:p>
        </p:txBody>
      </p:sp>
      <p:sp>
        <p:nvSpPr>
          <p:cNvPr id="3" name="内容占位符 2"/>
          <p:cNvSpPr>
            <a:spLocks noGrp="1"/>
          </p:cNvSpPr>
          <p:nvPr>
            <p:ph idx="1"/>
          </p:nvPr>
        </p:nvSpPr>
        <p:spPr>
          <a:xfrm>
            <a:off x="505690" y="4904509"/>
            <a:ext cx="11060875" cy="422940"/>
          </a:xfrm>
        </p:spPr>
        <p:txBody>
          <a:bodyPr/>
          <a:lstStyle/>
          <a:p>
            <a:r>
              <a:rPr lang="en-US" altLang="en-US" sz="2000" dirty="0" smtClean="0"/>
              <a:t>The </a:t>
            </a:r>
            <a:r>
              <a:rPr lang="en-US" altLang="en-US" sz="2000" dirty="0"/>
              <a:t>notation (</a:t>
            </a:r>
            <a:r>
              <a:rPr lang="en-US" altLang="en-US" sz="2000" i="1" dirty="0"/>
              <a:t>m</a:t>
            </a:r>
            <a:r>
              <a:rPr lang="en-US" altLang="en-US" sz="2000" dirty="0"/>
              <a:t>, </a:t>
            </a:r>
            <a:r>
              <a:rPr lang="en-US" altLang="en-US" sz="2000" i="1" dirty="0"/>
              <a:t>n</a:t>
            </a:r>
            <a:r>
              <a:rPr lang="en-US" altLang="en-US" sz="2000" dirty="0"/>
              <a:t>) means </a:t>
            </a:r>
            <a:r>
              <a:rPr lang="en-US" altLang="en-US" sz="2000" i="1" dirty="0"/>
              <a:t>m</a:t>
            </a:r>
            <a:r>
              <a:rPr lang="en-US" altLang="en-US" sz="2000" dirty="0"/>
              <a:t> memory operands and </a:t>
            </a:r>
            <a:r>
              <a:rPr lang="en-US" altLang="en-US" sz="2000" i="1" dirty="0"/>
              <a:t>n</a:t>
            </a:r>
            <a:r>
              <a:rPr lang="en-US" altLang="en-US" sz="2000" dirty="0"/>
              <a:t> total operands. </a:t>
            </a:r>
            <a:endParaRPr lang="en-US" altLang="en-US" sz="2000" dirty="0" smtClean="0"/>
          </a:p>
          <a:p>
            <a:r>
              <a:rPr lang="en-US" altLang="en-US" sz="2000" dirty="0" smtClean="0"/>
              <a:t>Computers </a:t>
            </a:r>
            <a:r>
              <a:rPr lang="en-US" altLang="en-US" sz="2000" dirty="0"/>
              <a:t>with fewer alternatives simplify the compiler’s task because there are fewer decisions for the compiler to </a:t>
            </a:r>
            <a:r>
              <a:rPr lang="en-US" altLang="en-US" sz="2000" dirty="0" smtClean="0"/>
              <a:t>make</a:t>
            </a:r>
          </a:p>
          <a:p>
            <a:r>
              <a:rPr lang="en-US" altLang="en-US" sz="2000" dirty="0" smtClean="0"/>
              <a:t>Computers </a:t>
            </a:r>
            <a:r>
              <a:rPr lang="en-US" altLang="en-US" sz="2000" dirty="0"/>
              <a:t>with a wide variety of flexible instruction formats reduce the number of bits required to encode the program. </a:t>
            </a:r>
            <a:endParaRPr lang="en-US" altLang="en-US" sz="2000" b="1" dirty="0"/>
          </a:p>
        </p:txBody>
      </p:sp>
    </p:spTree>
    <p:extLst>
      <p:ext uri="{BB962C8B-B14F-4D97-AF65-F5344CB8AC3E}">
        <p14:creationId xmlns:p14="http://schemas.microsoft.com/office/powerpoint/2010/main" val="251038942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ChangeArrowheads="1"/>
          </p:cNvSpPr>
          <p:nvPr/>
        </p:nvSpPr>
        <p:spPr bwMode="auto">
          <a:xfrm>
            <a:off x="1966913" y="1562101"/>
            <a:ext cx="18280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zh-CN" sz="2000">
              <a:solidFill>
                <a:srgbClr val="000000"/>
              </a:solidFill>
              <a:latin typeface="Arial" panose="020B0604020202020204" pitchFamily="34" charset="0"/>
            </a:endParaRPr>
          </a:p>
        </p:txBody>
      </p:sp>
      <p:sp>
        <p:nvSpPr>
          <p:cNvPr id="17413" name="Rectangle 5"/>
          <p:cNvSpPr>
            <a:spLocks noChangeArrowheads="1"/>
          </p:cNvSpPr>
          <p:nvPr/>
        </p:nvSpPr>
        <p:spPr bwMode="auto">
          <a:xfrm>
            <a:off x="1966913" y="2070101"/>
            <a:ext cx="18280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zh-CN" sz="2000">
              <a:solidFill>
                <a:srgbClr val="000000"/>
              </a:solidFill>
              <a:latin typeface="Arial" panose="020B0604020202020204" pitchFamily="34" charset="0"/>
            </a:endParaRPr>
          </a:p>
        </p:txBody>
      </p:sp>
      <p:sp>
        <p:nvSpPr>
          <p:cNvPr id="17422" name="Rectangle 14"/>
          <p:cNvSpPr>
            <a:spLocks noChangeArrowheads="1"/>
          </p:cNvSpPr>
          <p:nvPr/>
        </p:nvSpPr>
        <p:spPr bwMode="auto">
          <a:xfrm>
            <a:off x="2462213" y="3675064"/>
            <a:ext cx="18280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zh-CN" sz="2000">
              <a:solidFill>
                <a:srgbClr val="000000"/>
              </a:solidFill>
              <a:latin typeface="Arial" panose="020B0604020202020204" pitchFamily="34" charset="0"/>
            </a:endParaRPr>
          </a:p>
        </p:txBody>
      </p:sp>
      <p:sp>
        <p:nvSpPr>
          <p:cNvPr id="17430" name="Rectangle 22"/>
          <p:cNvSpPr>
            <a:spLocks noGrp="1" noChangeArrowheads="1"/>
          </p:cNvSpPr>
          <p:nvPr>
            <p:ph type="title"/>
          </p:nvPr>
        </p:nvSpPr>
        <p:spPr/>
        <p:txBody>
          <a:bodyPr/>
          <a:lstStyle/>
          <a:p>
            <a:r>
              <a:rPr lang="en-US" altLang="zh-CN" smtClean="0"/>
              <a:t>General Purpose Registers Dominate</a:t>
            </a:r>
            <a:endParaRPr lang="en-US" altLang="zh-CN"/>
          </a:p>
        </p:txBody>
      </p:sp>
      <p:sp>
        <p:nvSpPr>
          <p:cNvPr id="17431" name="Rectangle 23"/>
          <p:cNvSpPr>
            <a:spLocks noGrp="1" noChangeArrowheads="1"/>
          </p:cNvSpPr>
          <p:nvPr>
            <p:ph type="body" idx="1"/>
          </p:nvPr>
        </p:nvSpPr>
        <p:spPr>
          <a:xfrm>
            <a:off x="838200" y="1556792"/>
            <a:ext cx="10912434" cy="5112568"/>
          </a:xfrm>
        </p:spPr>
        <p:txBody>
          <a:bodyPr/>
          <a:lstStyle/>
          <a:p>
            <a:r>
              <a:rPr lang="en-US" altLang="zh-CN" dirty="0" smtClean="0"/>
              <a:t>Nowadays all machines use general purpose registers</a:t>
            </a:r>
          </a:p>
          <a:p>
            <a:pPr lvl="1"/>
            <a:r>
              <a:rPr lang="en-US" altLang="zh-CN" dirty="0" smtClean="0"/>
              <a:t>All registers are created equal</a:t>
            </a:r>
          </a:p>
          <a:p>
            <a:pPr lvl="1"/>
            <a:r>
              <a:rPr lang="en-US" altLang="en-US" dirty="0"/>
              <a:t>The number of registers </a:t>
            </a:r>
            <a:r>
              <a:rPr lang="en-US" altLang="en-US" dirty="0" smtClean="0"/>
              <a:t>affects </a:t>
            </a:r>
            <a:r>
              <a:rPr lang="en-US" altLang="en-US" dirty="0"/>
              <a:t>the instruction size because you need log</a:t>
            </a:r>
            <a:r>
              <a:rPr lang="en-US" altLang="en-US" baseline="-25000" dirty="0"/>
              <a:t>2</a:t>
            </a:r>
            <a:r>
              <a:rPr lang="en-US" altLang="en-US" dirty="0"/>
              <a:t> (number of registers) for each register specifier in an instruction. Thus, doubling the number of registers takes three extra bits for a register-register architecture, or about 10% of a 32-bit instruction</a:t>
            </a:r>
            <a:r>
              <a:rPr lang="en-US" altLang="en-US" dirty="0" smtClean="0"/>
              <a:t>.</a:t>
            </a:r>
            <a:endParaRPr lang="en-US" altLang="zh-CN" dirty="0" smtClean="0"/>
          </a:p>
          <a:p>
            <a:r>
              <a:rPr lang="en-US" altLang="zh-CN" dirty="0" smtClean="0"/>
              <a:t>Advantages of registers</a:t>
            </a:r>
          </a:p>
          <a:p>
            <a:pPr lvl="1"/>
            <a:r>
              <a:rPr lang="en-US" altLang="zh-CN" dirty="0" smtClean="0"/>
              <a:t>Registers are faster than memory</a:t>
            </a:r>
          </a:p>
          <a:p>
            <a:pPr lvl="1"/>
            <a:r>
              <a:rPr lang="en-US" altLang="zh-CN" dirty="0" smtClean="0"/>
              <a:t>Registers are easier for a compiler to use</a:t>
            </a:r>
          </a:p>
          <a:p>
            <a:pPr lvl="2"/>
            <a:r>
              <a:rPr lang="en-US" altLang="zh-CN" dirty="0" smtClean="0"/>
              <a:t>e.g., (A*B) +(C*D) -(E*F) can do multiplies in any order vs. stack</a:t>
            </a:r>
          </a:p>
          <a:p>
            <a:pPr lvl="1"/>
            <a:r>
              <a:rPr lang="en-US" altLang="zh-CN" dirty="0" smtClean="0"/>
              <a:t>registers can hold variables</a:t>
            </a:r>
          </a:p>
          <a:p>
            <a:pPr lvl="2"/>
            <a:r>
              <a:rPr lang="en-US" altLang="zh-CN" dirty="0" smtClean="0"/>
              <a:t>memory traffic is reduced, so program is sped up (since registers are faster than memory) </a:t>
            </a:r>
          </a:p>
          <a:p>
            <a:pPr lvl="2"/>
            <a:r>
              <a:rPr lang="en-US" altLang="zh-CN" dirty="0" smtClean="0"/>
              <a:t>code density improves (since register named with fewer bits than memory location)</a:t>
            </a:r>
            <a:endParaRPr lang="en-US" altLang="zh-CN" dirty="0"/>
          </a:p>
        </p:txBody>
      </p:sp>
    </p:spTree>
    <p:extLst>
      <p:ext uri="{BB962C8B-B14F-4D97-AF65-F5344CB8AC3E}">
        <p14:creationId xmlns:p14="http://schemas.microsoft.com/office/powerpoint/2010/main" val="328746266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ChangeArrowheads="1"/>
          </p:cNvSpPr>
          <p:nvPr/>
        </p:nvSpPr>
        <p:spPr bwMode="auto">
          <a:xfrm>
            <a:off x="1966913" y="1879601"/>
            <a:ext cx="1828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zh-CN">
              <a:solidFill>
                <a:srgbClr val="000000"/>
              </a:solidFill>
              <a:latin typeface="Arial" panose="020B0604020202020204" pitchFamily="34" charset="0"/>
            </a:endParaRPr>
          </a:p>
        </p:txBody>
      </p:sp>
      <p:sp>
        <p:nvSpPr>
          <p:cNvPr id="18437" name="Rectangle 5"/>
          <p:cNvSpPr>
            <a:spLocks noChangeArrowheads="1"/>
          </p:cNvSpPr>
          <p:nvPr/>
        </p:nvSpPr>
        <p:spPr bwMode="auto">
          <a:xfrm>
            <a:off x="1966913" y="2387601"/>
            <a:ext cx="1828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zh-CN">
              <a:solidFill>
                <a:srgbClr val="000000"/>
              </a:solidFill>
              <a:latin typeface="Arial" panose="020B0604020202020204" pitchFamily="34" charset="0"/>
            </a:endParaRPr>
          </a:p>
        </p:txBody>
      </p:sp>
      <p:sp>
        <p:nvSpPr>
          <p:cNvPr id="18441" name="Rectangle 9"/>
          <p:cNvSpPr>
            <a:spLocks noGrp="1" noChangeArrowheads="1"/>
          </p:cNvSpPr>
          <p:nvPr>
            <p:ph type="title"/>
          </p:nvPr>
        </p:nvSpPr>
        <p:spPr/>
        <p:txBody>
          <a:bodyPr/>
          <a:lstStyle/>
          <a:p>
            <a:r>
              <a:rPr lang="en-US" altLang="zh-CN"/>
              <a:t>Summary on Instruction Classes</a:t>
            </a:r>
          </a:p>
        </p:txBody>
      </p:sp>
      <p:sp>
        <p:nvSpPr>
          <p:cNvPr id="18442" name="Rectangle 10"/>
          <p:cNvSpPr>
            <a:spLocks noGrp="1" noChangeArrowheads="1"/>
          </p:cNvSpPr>
          <p:nvPr>
            <p:ph type="body" idx="1"/>
          </p:nvPr>
        </p:nvSpPr>
        <p:spPr/>
        <p:txBody>
          <a:bodyPr/>
          <a:lstStyle/>
          <a:p>
            <a:r>
              <a:rPr lang="en-US" altLang="zh-CN" dirty="0"/>
              <a:t>Expect new instruction set architecture to use general purpose register</a:t>
            </a:r>
          </a:p>
          <a:p>
            <a:r>
              <a:rPr lang="en-US" altLang="zh-CN" dirty="0"/>
              <a:t>Pipelining =&gt; Expect it to use load store variant of GPR ISA</a:t>
            </a:r>
          </a:p>
          <a:p>
            <a:endParaRPr lang="en-US" altLang="zh-CN" dirty="0"/>
          </a:p>
        </p:txBody>
      </p:sp>
    </p:spTree>
    <p:extLst>
      <p:ext uri="{BB962C8B-B14F-4D97-AF65-F5344CB8AC3E}">
        <p14:creationId xmlns:p14="http://schemas.microsoft.com/office/powerpoint/2010/main" val="27798129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zh-CN" smtClean="0"/>
              <a:t>MIPS I Registers</a:t>
            </a:r>
            <a:endParaRPr lang="en-US" altLang="zh-CN"/>
          </a:p>
        </p:txBody>
      </p:sp>
      <p:sp>
        <p:nvSpPr>
          <p:cNvPr id="19459" name="Rectangle 3"/>
          <p:cNvSpPr>
            <a:spLocks noGrp="1" noChangeArrowheads="1"/>
          </p:cNvSpPr>
          <p:nvPr>
            <p:ph type="body" idx="1"/>
          </p:nvPr>
        </p:nvSpPr>
        <p:spPr/>
        <p:txBody>
          <a:bodyPr/>
          <a:lstStyle/>
          <a:p>
            <a:r>
              <a:rPr lang="en-US" altLang="zh-CN" smtClean="0"/>
              <a:t>Programmable storage</a:t>
            </a:r>
          </a:p>
          <a:p>
            <a:pPr lvl="1"/>
            <a:r>
              <a:rPr lang="en-US" altLang="zh-CN" smtClean="0"/>
              <a:t>	2^32 x bytes of memory</a:t>
            </a:r>
          </a:p>
          <a:p>
            <a:pPr lvl="1"/>
            <a:r>
              <a:rPr lang="en-US" altLang="zh-CN" smtClean="0"/>
              <a:t>	31 x 32-bit GPRs (R0 = 0)</a:t>
            </a:r>
          </a:p>
          <a:p>
            <a:pPr lvl="1"/>
            <a:r>
              <a:rPr lang="en-US" altLang="zh-CN" smtClean="0"/>
              <a:t>	32 x 32-bit FP regs (paired DP)</a:t>
            </a:r>
          </a:p>
          <a:p>
            <a:pPr lvl="1"/>
            <a:r>
              <a:rPr lang="en-US" altLang="zh-CN" smtClean="0"/>
              <a:t>	HI, LO, PC</a:t>
            </a:r>
            <a:endParaRPr lang="en-US" altLang="zh-CN"/>
          </a:p>
        </p:txBody>
      </p:sp>
      <p:pic>
        <p:nvPicPr>
          <p:cNvPr id="19460"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2800" y="685800"/>
            <a:ext cx="25908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73109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3450" y="1698172"/>
            <a:ext cx="5035137" cy="4971188"/>
          </a:xfrm>
        </p:spPr>
        <p:txBody>
          <a:bodyPr/>
          <a:lstStyle/>
          <a:p>
            <a:r>
              <a:rPr lang="en-US" altLang="zh-CN" dirty="0"/>
              <a:t>32 general-purpose registers (x0–x31</a:t>
            </a:r>
            <a:r>
              <a:rPr lang="en-US" altLang="zh-CN" dirty="0" smtClean="0"/>
              <a:t>)</a:t>
            </a:r>
          </a:p>
          <a:p>
            <a:r>
              <a:rPr lang="en-US" altLang="zh-CN" dirty="0"/>
              <a:t>32 floating-point registers (f0–f31) </a:t>
            </a:r>
            <a:endParaRPr lang="en-US" altLang="zh-CN" dirty="0" smtClean="0"/>
          </a:p>
          <a:p>
            <a:pPr lvl="1"/>
            <a:r>
              <a:rPr lang="en-US" altLang="zh-CN" dirty="0" smtClean="0"/>
              <a:t>that </a:t>
            </a:r>
            <a:r>
              <a:rPr lang="en-US" altLang="zh-CN" dirty="0"/>
              <a:t>can hold either a 32-bit single-precision number or a 64-bit double-precision </a:t>
            </a:r>
            <a:r>
              <a:rPr lang="en-US" altLang="zh-CN" dirty="0" smtClean="0"/>
              <a:t>number</a:t>
            </a:r>
          </a:p>
        </p:txBody>
      </p:sp>
      <p:sp>
        <p:nvSpPr>
          <p:cNvPr id="7170"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2">
                <a:moveTo>
                  <a:pt x="0" y="0"/>
                </a:moveTo>
                <a:lnTo>
                  <a:pt x="101" y="0"/>
                </a:lnTo>
                <a:lnTo>
                  <a:pt x="101" y="101"/>
                </a:lnTo>
                <a:lnTo>
                  <a:pt x="0" y="101"/>
                </a:lnTo>
                <a:lnTo>
                  <a:pt x="0" y="0"/>
                </a:lnTo>
              </a:path>
            </a:pathLst>
          </a:custGeom>
          <a:solidFill>
            <a:srgbClr val="FFFFFF"/>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7172" name="Picture 2" descr="Z:\WOMAT\Production\Artfinal\0000000038\MKCAD\978-0-12-811905-1\0003165540\XMLLowres\f01-04-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71408" y="1570511"/>
            <a:ext cx="6171109" cy="5196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RISC-V Registers</a:t>
            </a:r>
            <a:endParaRPr lang="zh-CN" altLang="en-US" dirty="0"/>
          </a:p>
        </p:txBody>
      </p:sp>
    </p:spTree>
    <p:extLst>
      <p:ext uri="{BB962C8B-B14F-4D97-AF65-F5344CB8AC3E}">
        <p14:creationId xmlns:p14="http://schemas.microsoft.com/office/powerpoint/2010/main" val="37950727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ChangeArrowheads="1"/>
          </p:cNvSpPr>
          <p:nvPr/>
        </p:nvSpPr>
        <p:spPr bwMode="auto">
          <a:xfrm>
            <a:off x="1966913" y="1333501"/>
            <a:ext cx="1828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zh-CN">
              <a:solidFill>
                <a:srgbClr val="000000"/>
              </a:solidFill>
              <a:latin typeface="Arial" panose="020B0604020202020204" pitchFamily="34" charset="0"/>
            </a:endParaRPr>
          </a:p>
        </p:txBody>
      </p:sp>
      <p:sp>
        <p:nvSpPr>
          <p:cNvPr id="20486" name="Rectangle 6"/>
          <p:cNvSpPr>
            <a:spLocks noChangeArrowheads="1"/>
          </p:cNvSpPr>
          <p:nvPr/>
        </p:nvSpPr>
        <p:spPr bwMode="auto">
          <a:xfrm>
            <a:off x="1966913" y="2074864"/>
            <a:ext cx="1828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zh-CN">
              <a:solidFill>
                <a:srgbClr val="000000"/>
              </a:solidFill>
              <a:latin typeface="Arial" panose="020B0604020202020204" pitchFamily="34" charset="0"/>
            </a:endParaRPr>
          </a:p>
        </p:txBody>
      </p:sp>
      <p:sp>
        <p:nvSpPr>
          <p:cNvPr id="20488" name="Rectangle 8"/>
          <p:cNvSpPr>
            <a:spLocks noChangeArrowheads="1"/>
          </p:cNvSpPr>
          <p:nvPr/>
        </p:nvSpPr>
        <p:spPr bwMode="auto">
          <a:xfrm>
            <a:off x="2462213" y="2417763"/>
            <a:ext cx="182808"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zh-CN" sz="2400">
              <a:solidFill>
                <a:srgbClr val="000000"/>
              </a:solidFill>
              <a:latin typeface="Arial" panose="020B0604020202020204" pitchFamily="34" charset="0"/>
            </a:endParaRPr>
          </a:p>
        </p:txBody>
      </p:sp>
      <p:sp>
        <p:nvSpPr>
          <p:cNvPr id="20492" name="Rectangle 12"/>
          <p:cNvSpPr>
            <a:spLocks noChangeArrowheads="1"/>
          </p:cNvSpPr>
          <p:nvPr/>
        </p:nvSpPr>
        <p:spPr bwMode="auto">
          <a:xfrm>
            <a:off x="2386013" y="3684588"/>
            <a:ext cx="182808"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zh-CN" altLang="zh-CN" sz="2400">
              <a:solidFill>
                <a:srgbClr val="000000"/>
              </a:solidFill>
              <a:latin typeface="Arial" panose="020B0604020202020204" pitchFamily="34" charset="0"/>
            </a:endParaRPr>
          </a:p>
        </p:txBody>
      </p:sp>
      <p:sp>
        <p:nvSpPr>
          <p:cNvPr id="20496" name="Rectangle 16"/>
          <p:cNvSpPr>
            <a:spLocks noGrp="1" noChangeArrowheads="1"/>
          </p:cNvSpPr>
          <p:nvPr>
            <p:ph type="title"/>
          </p:nvPr>
        </p:nvSpPr>
        <p:spPr/>
        <p:txBody>
          <a:bodyPr/>
          <a:lstStyle/>
          <a:p>
            <a:r>
              <a:rPr lang="en-US" altLang="zh-CN"/>
              <a:t>Memory Addressing</a:t>
            </a:r>
          </a:p>
        </p:txBody>
      </p:sp>
      <p:sp>
        <p:nvSpPr>
          <p:cNvPr id="20497" name="Rectangle 17"/>
          <p:cNvSpPr>
            <a:spLocks noGrp="1" noChangeArrowheads="1"/>
          </p:cNvSpPr>
          <p:nvPr>
            <p:ph type="body" idx="1"/>
          </p:nvPr>
        </p:nvSpPr>
        <p:spPr/>
        <p:txBody>
          <a:bodyPr/>
          <a:lstStyle/>
          <a:p>
            <a:r>
              <a:rPr lang="en-US" altLang="zh-CN"/>
              <a:t>Since 1980 almost every machine uses addresses to level of 8-bits (byte)</a:t>
            </a:r>
          </a:p>
          <a:p>
            <a:r>
              <a:rPr lang="en-US" altLang="zh-CN"/>
              <a:t>2 questions for design of ISA:</a:t>
            </a:r>
          </a:p>
          <a:p>
            <a:pPr lvl="1"/>
            <a:r>
              <a:rPr lang="en-US" altLang="zh-CN"/>
              <a:t>Since could read a 32-bit word as four loads of bytes from sequential byte addresses or as one load word from a single byte address, how do byte addresses map onto words?</a:t>
            </a:r>
          </a:p>
          <a:p>
            <a:pPr lvl="1"/>
            <a:r>
              <a:rPr lang="en-US" altLang="zh-CN"/>
              <a:t>Can a word be placed on any byte boundary?</a:t>
            </a:r>
          </a:p>
          <a:p>
            <a:pPr lvl="1"/>
            <a:endParaRPr lang="en-US" altLang="zh-CN"/>
          </a:p>
        </p:txBody>
      </p:sp>
    </p:spTree>
    <p:extLst>
      <p:ext uri="{BB962C8B-B14F-4D97-AF65-F5344CB8AC3E}">
        <p14:creationId xmlns:p14="http://schemas.microsoft.com/office/powerpoint/2010/main" val="189260189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090139" y="129291"/>
            <a:ext cx="7285511" cy="1270091"/>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63500" tIns="25400" rIns="63500" bIns="25400" numCol="1" anchor="t" anchorCtr="0" compatLnSpc="1">
            <a:prstTxWarp prst="textNoShape">
              <a:avLst/>
            </a:prstTxWarp>
            <a:spAutoFit/>
          </a:bodyPr>
          <a:lstStyle/>
          <a:p>
            <a:r>
              <a:rPr lang="en-US" altLang="zh-CN" dirty="0"/>
              <a:t>Addressing Objects: </a:t>
            </a:r>
            <a:br>
              <a:rPr lang="en-US" altLang="zh-CN" dirty="0"/>
            </a:br>
            <a:r>
              <a:rPr lang="en-US" altLang="zh-CN" dirty="0" err="1"/>
              <a:t>Endianess</a:t>
            </a:r>
            <a:r>
              <a:rPr lang="en-US" altLang="zh-CN" dirty="0"/>
              <a:t> and Alignment</a:t>
            </a:r>
          </a:p>
        </p:txBody>
      </p:sp>
      <p:sp>
        <p:nvSpPr>
          <p:cNvPr id="21507" name="Rectangle 3"/>
          <p:cNvSpPr>
            <a:spLocks noGrp="1" noChangeArrowheads="1"/>
          </p:cNvSpPr>
          <p:nvPr>
            <p:ph type="body" idx="1"/>
          </p:nvPr>
        </p:nvSpPr>
        <p:spPr>
          <a:xfrm>
            <a:off x="1312223" y="1524001"/>
            <a:ext cx="9339943" cy="1748171"/>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63500" tIns="25400" rIns="63500" bIns="25400" numCol="1" anchor="t" anchorCtr="0" compatLnSpc="1">
            <a:prstTxWarp prst="textNoShape">
              <a:avLst/>
            </a:prstTxWarp>
            <a:spAutoFit/>
          </a:bodyPr>
          <a:lstStyle/>
          <a:p>
            <a:r>
              <a:rPr lang="en-US" altLang="zh-CN" dirty="0">
                <a:solidFill>
                  <a:srgbClr val="00B7A5"/>
                </a:solidFill>
              </a:rPr>
              <a:t>Big Endian:</a:t>
            </a:r>
            <a:r>
              <a:rPr lang="en-US" altLang="zh-CN" dirty="0"/>
              <a:t> address of most </a:t>
            </a:r>
            <a:r>
              <a:rPr lang="en-US" altLang="zh-CN" dirty="0" smtClean="0"/>
              <a:t>significant byte</a:t>
            </a:r>
            <a:endParaRPr lang="en-US" altLang="zh-CN" dirty="0"/>
          </a:p>
          <a:p>
            <a:pPr lvl="1"/>
            <a:r>
              <a:rPr lang="en-US" altLang="zh-CN" dirty="0"/>
              <a:t>IBM 360/370, Motorola 68k, MIPS, </a:t>
            </a:r>
            <a:r>
              <a:rPr lang="en-US" altLang="zh-CN" dirty="0" smtClean="0"/>
              <a:t>SPARC, </a:t>
            </a:r>
            <a:r>
              <a:rPr lang="en-US" altLang="zh-CN" dirty="0"/>
              <a:t>HP </a:t>
            </a:r>
            <a:r>
              <a:rPr lang="en-US" altLang="zh-CN" dirty="0" smtClean="0"/>
              <a:t>PA-RISC</a:t>
            </a:r>
            <a:endParaRPr lang="en-US" altLang="zh-CN" dirty="0"/>
          </a:p>
          <a:p>
            <a:r>
              <a:rPr lang="en-US" altLang="zh-CN" dirty="0">
                <a:solidFill>
                  <a:schemeClr val="accent1"/>
                </a:solidFill>
              </a:rPr>
              <a:t>Little Endian</a:t>
            </a:r>
            <a:r>
              <a:rPr lang="en-US" altLang="zh-CN" dirty="0"/>
              <a:t>: address of least </a:t>
            </a:r>
            <a:r>
              <a:rPr lang="en-US" altLang="zh-CN" dirty="0" smtClean="0"/>
              <a:t>significant byte</a:t>
            </a:r>
            <a:endParaRPr lang="en-US" altLang="zh-CN" dirty="0"/>
          </a:p>
          <a:p>
            <a:pPr lvl="1"/>
            <a:r>
              <a:rPr lang="en-US" altLang="zh-CN" dirty="0"/>
              <a:t>Intel x86, DEC </a:t>
            </a:r>
            <a:r>
              <a:rPr lang="en-US" altLang="zh-CN" dirty="0" smtClean="0"/>
              <a:t>VAX, </a:t>
            </a:r>
            <a:r>
              <a:rPr lang="en-US" altLang="zh-CN" dirty="0"/>
              <a:t>DEC Alpha (Windows NT)</a:t>
            </a:r>
          </a:p>
        </p:txBody>
      </p:sp>
      <p:sp>
        <p:nvSpPr>
          <p:cNvPr id="21508" name="Rectangle 4"/>
          <p:cNvSpPr>
            <a:spLocks noChangeArrowheads="1"/>
          </p:cNvSpPr>
          <p:nvPr/>
        </p:nvSpPr>
        <p:spPr bwMode="auto">
          <a:xfrm>
            <a:off x="3511550" y="3892550"/>
            <a:ext cx="3111500" cy="4445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09" name="Line 5"/>
          <p:cNvSpPr>
            <a:spLocks noChangeShapeType="1"/>
          </p:cNvSpPr>
          <p:nvPr/>
        </p:nvSpPr>
        <p:spPr bwMode="auto">
          <a:xfrm>
            <a:off x="5029200" y="3892550"/>
            <a:ext cx="0" cy="444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0" name="Line 6"/>
          <p:cNvSpPr>
            <a:spLocks noChangeShapeType="1"/>
          </p:cNvSpPr>
          <p:nvPr/>
        </p:nvSpPr>
        <p:spPr bwMode="auto">
          <a:xfrm>
            <a:off x="4267200" y="3892550"/>
            <a:ext cx="0" cy="444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1" name="Line 7"/>
          <p:cNvSpPr>
            <a:spLocks noChangeShapeType="1"/>
          </p:cNvSpPr>
          <p:nvPr/>
        </p:nvSpPr>
        <p:spPr bwMode="auto">
          <a:xfrm>
            <a:off x="5791200" y="3892550"/>
            <a:ext cx="0" cy="444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2" name="Rectangle 8"/>
          <p:cNvSpPr>
            <a:spLocks noChangeArrowheads="1"/>
          </p:cNvSpPr>
          <p:nvPr/>
        </p:nvSpPr>
        <p:spPr bwMode="auto">
          <a:xfrm>
            <a:off x="2679700" y="3987801"/>
            <a:ext cx="5969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msb</a:t>
            </a:r>
          </a:p>
        </p:txBody>
      </p:sp>
      <p:sp>
        <p:nvSpPr>
          <p:cNvPr id="21513" name="Rectangle 9"/>
          <p:cNvSpPr>
            <a:spLocks noChangeArrowheads="1"/>
          </p:cNvSpPr>
          <p:nvPr/>
        </p:nvSpPr>
        <p:spPr bwMode="auto">
          <a:xfrm>
            <a:off x="6794500" y="3987801"/>
            <a:ext cx="4572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lsb</a:t>
            </a:r>
          </a:p>
        </p:txBody>
      </p:sp>
      <p:sp>
        <p:nvSpPr>
          <p:cNvPr id="21514" name="Rectangle 10"/>
          <p:cNvSpPr>
            <a:spLocks noChangeArrowheads="1"/>
          </p:cNvSpPr>
          <p:nvPr/>
        </p:nvSpPr>
        <p:spPr bwMode="auto">
          <a:xfrm>
            <a:off x="3746500" y="3606801"/>
            <a:ext cx="26035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accent1"/>
                </a:solidFill>
                <a:latin typeface="Arial" panose="020B0604020202020204" pitchFamily="34" charset="0"/>
              </a:rPr>
              <a:t>3          2          1           0</a:t>
            </a:r>
          </a:p>
        </p:txBody>
      </p:sp>
      <p:sp>
        <p:nvSpPr>
          <p:cNvPr id="21515" name="Rectangle 11"/>
          <p:cNvSpPr>
            <a:spLocks noChangeArrowheads="1"/>
          </p:cNvSpPr>
          <p:nvPr/>
        </p:nvSpPr>
        <p:spPr bwMode="auto">
          <a:xfrm>
            <a:off x="6553200" y="3505201"/>
            <a:ext cx="21209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solidFill>
                  <a:schemeClr val="accent1"/>
                </a:solidFill>
                <a:latin typeface="Arial" panose="020B0604020202020204" pitchFamily="34" charset="0"/>
              </a:rPr>
              <a:t>little endian byte 0</a:t>
            </a:r>
          </a:p>
        </p:txBody>
      </p:sp>
      <p:sp>
        <p:nvSpPr>
          <p:cNvPr id="21516" name="Rectangle 12"/>
          <p:cNvSpPr>
            <a:spLocks noChangeArrowheads="1"/>
          </p:cNvSpPr>
          <p:nvPr/>
        </p:nvSpPr>
        <p:spPr bwMode="auto">
          <a:xfrm>
            <a:off x="3746500" y="4445001"/>
            <a:ext cx="26035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rgbClr val="00B7A5"/>
                </a:solidFill>
                <a:latin typeface="Arial" panose="020B0604020202020204" pitchFamily="34" charset="0"/>
              </a:rPr>
              <a:t>0          1          2           3</a:t>
            </a:r>
          </a:p>
        </p:txBody>
      </p:sp>
      <p:sp>
        <p:nvSpPr>
          <p:cNvPr id="21517" name="Rectangle 13"/>
          <p:cNvSpPr>
            <a:spLocks noChangeArrowheads="1"/>
          </p:cNvSpPr>
          <p:nvPr/>
        </p:nvSpPr>
        <p:spPr bwMode="auto">
          <a:xfrm>
            <a:off x="1905000" y="4724401"/>
            <a:ext cx="19939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solidFill>
                  <a:srgbClr val="00B7A5"/>
                </a:solidFill>
                <a:latin typeface="Arial" panose="020B0604020202020204" pitchFamily="34" charset="0"/>
              </a:rPr>
              <a:t>big endian byte 0</a:t>
            </a:r>
          </a:p>
        </p:txBody>
      </p:sp>
      <p:sp>
        <p:nvSpPr>
          <p:cNvPr id="21518" name="Rectangle 14"/>
          <p:cNvSpPr>
            <a:spLocks noChangeArrowheads="1"/>
          </p:cNvSpPr>
          <p:nvPr/>
        </p:nvSpPr>
        <p:spPr bwMode="auto">
          <a:xfrm>
            <a:off x="1828800" y="5257801"/>
            <a:ext cx="4953000" cy="114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p>
            <a:pPr>
              <a:lnSpc>
                <a:spcPct val="85000"/>
              </a:lnSpc>
            </a:pPr>
            <a:r>
              <a:rPr lang="en-US" altLang="zh-CN" sz="2800" b="1">
                <a:latin typeface="Arial" panose="020B0604020202020204" pitchFamily="34" charset="0"/>
              </a:rPr>
              <a:t>Alignment: require that objects fall on address </a:t>
            </a:r>
            <a:br>
              <a:rPr lang="en-US" altLang="zh-CN" sz="2800" b="1">
                <a:latin typeface="Arial" panose="020B0604020202020204" pitchFamily="34" charset="0"/>
              </a:rPr>
            </a:br>
            <a:r>
              <a:rPr lang="en-US" altLang="zh-CN" sz="2800" b="1">
                <a:latin typeface="Arial" panose="020B0604020202020204" pitchFamily="34" charset="0"/>
              </a:rPr>
              <a:t>that is multiple of  their size.</a:t>
            </a:r>
          </a:p>
        </p:txBody>
      </p:sp>
      <p:sp>
        <p:nvSpPr>
          <p:cNvPr id="21519" name="Rectangle 15"/>
          <p:cNvSpPr>
            <a:spLocks noChangeArrowheads="1"/>
          </p:cNvSpPr>
          <p:nvPr/>
        </p:nvSpPr>
        <p:spPr bwMode="auto">
          <a:xfrm>
            <a:off x="7931150" y="4502150"/>
            <a:ext cx="2044700" cy="18161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0" name="Rectangle 16"/>
          <p:cNvSpPr>
            <a:spLocks noChangeArrowheads="1"/>
          </p:cNvSpPr>
          <p:nvPr/>
        </p:nvSpPr>
        <p:spPr bwMode="auto">
          <a:xfrm>
            <a:off x="7931150" y="4654550"/>
            <a:ext cx="2044700" cy="215900"/>
          </a:xfrm>
          <a:prstGeom prst="rect">
            <a:avLst/>
          </a:prstGeom>
          <a:solidFill>
            <a:srgbClr val="00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1" name="Rectangle 17"/>
          <p:cNvSpPr>
            <a:spLocks noChangeArrowheads="1"/>
          </p:cNvSpPr>
          <p:nvPr/>
        </p:nvSpPr>
        <p:spPr bwMode="auto">
          <a:xfrm>
            <a:off x="8997950" y="5492750"/>
            <a:ext cx="977900" cy="2159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2" name="Rectangle 18"/>
          <p:cNvSpPr>
            <a:spLocks noChangeArrowheads="1"/>
          </p:cNvSpPr>
          <p:nvPr/>
        </p:nvSpPr>
        <p:spPr bwMode="auto">
          <a:xfrm>
            <a:off x="7931150" y="5721350"/>
            <a:ext cx="1054100" cy="2159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3" name="Rectangle 19"/>
          <p:cNvSpPr>
            <a:spLocks noChangeArrowheads="1"/>
          </p:cNvSpPr>
          <p:nvPr/>
        </p:nvSpPr>
        <p:spPr bwMode="auto">
          <a:xfrm>
            <a:off x="7910513" y="4168776"/>
            <a:ext cx="184986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latin typeface="Arial" panose="020B0604020202020204" pitchFamily="34" charset="0"/>
              </a:rPr>
              <a:t>0      1      2      3</a:t>
            </a:r>
          </a:p>
        </p:txBody>
      </p:sp>
      <p:sp>
        <p:nvSpPr>
          <p:cNvPr id="21524" name="Rectangle 20"/>
          <p:cNvSpPr>
            <a:spLocks noChangeArrowheads="1"/>
          </p:cNvSpPr>
          <p:nvPr/>
        </p:nvSpPr>
        <p:spPr bwMode="auto">
          <a:xfrm>
            <a:off x="9531350" y="5873750"/>
            <a:ext cx="444500" cy="2159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5" name="Rectangle 21"/>
          <p:cNvSpPr>
            <a:spLocks noChangeArrowheads="1"/>
          </p:cNvSpPr>
          <p:nvPr/>
        </p:nvSpPr>
        <p:spPr bwMode="auto">
          <a:xfrm>
            <a:off x="7931150" y="6102350"/>
            <a:ext cx="1587500" cy="2159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6" name="Rectangle 22"/>
          <p:cNvSpPr>
            <a:spLocks noChangeArrowheads="1"/>
          </p:cNvSpPr>
          <p:nvPr/>
        </p:nvSpPr>
        <p:spPr bwMode="auto">
          <a:xfrm>
            <a:off x="8388350" y="5035550"/>
            <a:ext cx="1587500" cy="2159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7" name="Rectangle 23"/>
          <p:cNvSpPr>
            <a:spLocks noChangeArrowheads="1"/>
          </p:cNvSpPr>
          <p:nvPr/>
        </p:nvSpPr>
        <p:spPr bwMode="auto">
          <a:xfrm>
            <a:off x="7931150" y="5264150"/>
            <a:ext cx="444500" cy="2159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8" name="Rectangle 24"/>
          <p:cNvSpPr>
            <a:spLocks noChangeArrowheads="1"/>
          </p:cNvSpPr>
          <p:nvPr/>
        </p:nvSpPr>
        <p:spPr bwMode="auto">
          <a:xfrm>
            <a:off x="6757558" y="4625976"/>
            <a:ext cx="102913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a:r>
              <a:rPr lang="en-US" altLang="zh-CN" b="1" i="1">
                <a:solidFill>
                  <a:srgbClr val="51DC00"/>
                </a:solidFill>
                <a:latin typeface="Arial" panose="020B0604020202020204" pitchFamily="34" charset="0"/>
              </a:rPr>
              <a:t>Aligned</a:t>
            </a:r>
          </a:p>
        </p:txBody>
      </p:sp>
      <p:sp>
        <p:nvSpPr>
          <p:cNvPr id="21529" name="Rectangle 25"/>
          <p:cNvSpPr>
            <a:spLocks noChangeArrowheads="1"/>
          </p:cNvSpPr>
          <p:nvPr/>
        </p:nvSpPr>
        <p:spPr bwMode="auto">
          <a:xfrm>
            <a:off x="6757558" y="5540375"/>
            <a:ext cx="102913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a:r>
              <a:rPr lang="en-US" altLang="zh-CN" b="1" i="1">
                <a:solidFill>
                  <a:schemeClr val="accent1"/>
                </a:solidFill>
                <a:latin typeface="Arial" panose="020B0604020202020204" pitchFamily="34" charset="0"/>
              </a:rPr>
              <a:t>Not</a:t>
            </a:r>
          </a:p>
          <a:p>
            <a:pPr algn="r"/>
            <a:r>
              <a:rPr lang="en-US" altLang="zh-CN" b="1" i="1">
                <a:solidFill>
                  <a:schemeClr val="accent1"/>
                </a:solidFill>
                <a:latin typeface="Arial" panose="020B0604020202020204" pitchFamily="34" charset="0"/>
              </a:rPr>
              <a:t>Aligned</a:t>
            </a:r>
          </a:p>
        </p:txBody>
      </p:sp>
    </p:spTree>
    <p:extLst>
      <p:ext uri="{BB962C8B-B14F-4D97-AF65-F5344CB8AC3E}">
        <p14:creationId xmlns:p14="http://schemas.microsoft.com/office/powerpoint/2010/main" val="358378591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9220" name="Picture 5" descr="Z:\Production\Prodenv\0000000038\0000155678\0000000029\XmlLowres\0003170709\bm05-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34318" y="2838722"/>
            <a:ext cx="6683375" cy="383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en-US" dirty="0"/>
              <a:t>Aligned</a:t>
            </a:r>
            <a:r>
              <a:rPr lang="en-US" altLang="en-US" b="1" dirty="0"/>
              <a:t> and misaligned addresses</a:t>
            </a:r>
            <a:endParaRPr lang="zh-CN" altLang="en-US" dirty="0"/>
          </a:p>
        </p:txBody>
      </p:sp>
      <p:sp>
        <p:nvSpPr>
          <p:cNvPr id="3" name="内容占位符 2"/>
          <p:cNvSpPr>
            <a:spLocks noGrp="1"/>
          </p:cNvSpPr>
          <p:nvPr>
            <p:ph idx="1"/>
          </p:nvPr>
        </p:nvSpPr>
        <p:spPr>
          <a:xfrm>
            <a:off x="214745" y="1556792"/>
            <a:ext cx="11197441" cy="5112568"/>
          </a:xfrm>
        </p:spPr>
        <p:txBody>
          <a:bodyPr/>
          <a:lstStyle/>
          <a:p>
            <a:r>
              <a:rPr lang="en-US" altLang="en-US" dirty="0" smtClean="0"/>
              <a:t>For </a:t>
            </a:r>
            <a:r>
              <a:rPr lang="en-US" altLang="en-US" dirty="0"/>
              <a:t>each misaligned example some objects require two memory accesses to complete. Every aligned object can always complete in one memory access, as long as the memory is as wide as the object. </a:t>
            </a:r>
          </a:p>
          <a:p>
            <a:pPr lvl="1"/>
            <a:r>
              <a:rPr lang="en-US" altLang="en-US" dirty="0" smtClean="0"/>
              <a:t>The </a:t>
            </a:r>
            <a:r>
              <a:rPr lang="en-US" altLang="en-US" dirty="0"/>
              <a:t>figure shows the memory </a:t>
            </a:r>
            <a:br>
              <a:rPr lang="en-US" altLang="en-US" dirty="0"/>
            </a:br>
            <a:r>
              <a:rPr lang="en-US" altLang="en-US" dirty="0" smtClean="0"/>
              <a:t>organized </a:t>
            </a:r>
            <a:r>
              <a:rPr lang="en-US" altLang="en-US" dirty="0"/>
              <a:t>as 8 bytes </a:t>
            </a:r>
            <a:r>
              <a:rPr lang="en-US" altLang="en-US" dirty="0" smtClean="0"/>
              <a:t>wide.</a:t>
            </a:r>
          </a:p>
          <a:p>
            <a:pPr lvl="1"/>
            <a:r>
              <a:rPr lang="en-US" altLang="en-US" dirty="0" smtClean="0"/>
              <a:t>The </a:t>
            </a:r>
            <a:r>
              <a:rPr lang="en-US" altLang="en-US" dirty="0"/>
              <a:t>byte offsets that label the </a:t>
            </a:r>
            <a:br>
              <a:rPr lang="en-US" altLang="en-US" dirty="0"/>
            </a:br>
            <a:r>
              <a:rPr lang="en-US" altLang="en-US" dirty="0" smtClean="0"/>
              <a:t>columns </a:t>
            </a:r>
            <a:r>
              <a:rPr lang="en-US" altLang="en-US" dirty="0"/>
              <a:t>specify the low-order </a:t>
            </a:r>
            <a:r>
              <a:rPr lang="en-US" altLang="en-US" dirty="0" smtClean="0"/>
              <a:t/>
            </a:r>
            <a:br>
              <a:rPr lang="en-US" altLang="en-US" dirty="0" smtClean="0"/>
            </a:br>
            <a:r>
              <a:rPr lang="en-US" altLang="en-US" dirty="0" smtClean="0"/>
              <a:t>three </a:t>
            </a:r>
            <a:r>
              <a:rPr lang="en-US" altLang="en-US" dirty="0"/>
              <a:t>bits of the address.</a:t>
            </a:r>
          </a:p>
          <a:p>
            <a:endParaRPr lang="zh-CN" altLang="en-US" dirty="0"/>
          </a:p>
        </p:txBody>
      </p:sp>
    </p:spTree>
    <p:extLst>
      <p:ext uri="{BB962C8B-B14F-4D97-AF65-F5344CB8AC3E}">
        <p14:creationId xmlns:p14="http://schemas.microsoft.com/office/powerpoint/2010/main" val="199406332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89" name="Rectangle 61"/>
          <p:cNvSpPr>
            <a:spLocks noGrp="1" noChangeArrowheads="1"/>
          </p:cNvSpPr>
          <p:nvPr>
            <p:ph type="title"/>
          </p:nvPr>
        </p:nvSpPr>
        <p:spPr/>
        <p:txBody>
          <a:bodyPr/>
          <a:lstStyle/>
          <a:p>
            <a:r>
              <a:rPr lang="en-US" altLang="zh-CN" dirty="0"/>
              <a:t>Addressing </a:t>
            </a:r>
            <a:r>
              <a:rPr lang="en-US" altLang="zh-CN" dirty="0" smtClean="0"/>
              <a:t>Modes (</a:t>
            </a:r>
            <a:r>
              <a:rPr lang="zh-CN" altLang="en-US" dirty="0" smtClean="0"/>
              <a:t>寻址方式</a:t>
            </a:r>
            <a:r>
              <a:rPr lang="en-US" altLang="zh-CN" dirty="0" smtClean="0"/>
              <a:t>)</a:t>
            </a:r>
            <a:endParaRPr lang="en-US" altLang="zh-CN" dirty="0"/>
          </a:p>
        </p:txBody>
      </p:sp>
      <p:sp>
        <p:nvSpPr>
          <p:cNvPr id="3" name="内容占位符 2"/>
          <p:cNvSpPr>
            <a:spLocks noGrp="1"/>
          </p:cNvSpPr>
          <p:nvPr>
            <p:ph idx="1"/>
          </p:nvPr>
        </p:nvSpPr>
        <p:spPr>
          <a:xfrm>
            <a:off x="368136" y="1556792"/>
            <a:ext cx="6228608" cy="3962399"/>
          </a:xfrm>
        </p:spPr>
        <p:txBody>
          <a:bodyPr/>
          <a:lstStyle/>
          <a:p>
            <a:r>
              <a:rPr lang="en-US" altLang="zh-CN" sz="2400" dirty="0"/>
              <a:t>In </a:t>
            </a:r>
            <a:r>
              <a:rPr lang="en-US" altLang="zh-CN" sz="2400" dirty="0" err="1"/>
              <a:t>autoincrement</a:t>
            </a:r>
            <a:r>
              <a:rPr lang="en-US" altLang="zh-CN" sz="2400" dirty="0"/>
              <a:t>/-decrement and scaled addressing modes, the variable d designates the size of the data item being accessed (i.e., whether the instruction is accessing 1, 2, 4, or 8 bytes). These addressing modes are only useful when the elements being accessed are adjacent in </a:t>
            </a:r>
            <a:r>
              <a:rPr lang="en-US" altLang="zh-CN" sz="2400" dirty="0" smtClean="0"/>
              <a:t>memory</a:t>
            </a:r>
          </a:p>
          <a:p>
            <a:r>
              <a:rPr lang="en-US" altLang="zh-CN" sz="2400" dirty="0" smtClean="0"/>
              <a:t>RISC </a:t>
            </a:r>
            <a:r>
              <a:rPr lang="en-US" altLang="zh-CN" sz="2400" dirty="0"/>
              <a:t>computers use displacement addressing to simulate register indirect with 0 for the address and to simulate direct addressing using 0 in the base </a:t>
            </a:r>
            <a:r>
              <a:rPr lang="en-US" altLang="zh-CN" sz="2400" dirty="0" smtClean="0"/>
              <a:t>register</a:t>
            </a:r>
            <a:endParaRPr lang="en-US" altLang="zh-CN" sz="2400" dirty="0"/>
          </a:p>
        </p:txBody>
      </p:sp>
      <p:pic>
        <p:nvPicPr>
          <p:cNvPr id="2" name="图片 1"/>
          <p:cNvPicPr>
            <a:picLocks noChangeAspect="1"/>
          </p:cNvPicPr>
          <p:nvPr/>
        </p:nvPicPr>
        <p:blipFill>
          <a:blip r:embed="rId3"/>
          <a:stretch>
            <a:fillRect/>
          </a:stretch>
        </p:blipFill>
        <p:spPr>
          <a:xfrm>
            <a:off x="6550232" y="1621161"/>
            <a:ext cx="5468586" cy="4322439"/>
          </a:xfrm>
          <a:prstGeom prst="rect">
            <a:avLst/>
          </a:prstGeom>
        </p:spPr>
      </p:pic>
    </p:spTree>
    <p:extLst>
      <p:ext uri="{BB962C8B-B14F-4D97-AF65-F5344CB8AC3E}">
        <p14:creationId xmlns:p14="http://schemas.microsoft.com/office/powerpoint/2010/main" val="110907457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11268" name="Picture 5" descr="Z:\Production\Prodenv\0000000038\0000155678\0000000029\XmlLowres\0003170709\bm07-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66757" y="3004457"/>
            <a:ext cx="5927895" cy="3418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Summary of use of memory addressing modes</a:t>
            </a:r>
            <a:endParaRPr lang="zh-CN" altLang="en-US" dirty="0"/>
          </a:p>
        </p:txBody>
      </p:sp>
      <p:sp>
        <p:nvSpPr>
          <p:cNvPr id="3" name="内容占位符 2"/>
          <p:cNvSpPr>
            <a:spLocks noGrp="1"/>
          </p:cNvSpPr>
          <p:nvPr>
            <p:ph idx="1"/>
          </p:nvPr>
        </p:nvSpPr>
        <p:spPr>
          <a:xfrm>
            <a:off x="838200" y="1556792"/>
            <a:ext cx="10657114" cy="5112568"/>
          </a:xfrm>
        </p:spPr>
        <p:txBody>
          <a:bodyPr/>
          <a:lstStyle/>
          <a:p>
            <a:r>
              <a:rPr lang="en-US" altLang="zh-CN" dirty="0" smtClean="0"/>
              <a:t>These </a:t>
            </a:r>
            <a:r>
              <a:rPr lang="en-US" altLang="zh-CN" dirty="0"/>
              <a:t>major addressing modes account for </a:t>
            </a:r>
            <a:r>
              <a:rPr lang="en-US" altLang="zh-CN" dirty="0" smtClean="0"/>
              <a:t>&gt;97% of </a:t>
            </a:r>
            <a:r>
              <a:rPr lang="en-US" altLang="zh-CN" dirty="0"/>
              <a:t>the memory accesses. </a:t>
            </a:r>
            <a:endParaRPr lang="en-US" altLang="zh-CN" dirty="0" smtClean="0"/>
          </a:p>
          <a:p>
            <a:pPr lvl="1"/>
            <a:r>
              <a:rPr lang="en-US" altLang="zh-CN" dirty="0" smtClean="0"/>
              <a:t>Register </a:t>
            </a:r>
            <a:r>
              <a:rPr lang="en-US" altLang="zh-CN" dirty="0"/>
              <a:t>modes, which are not counted, account for one-half of the operand </a:t>
            </a:r>
            <a:r>
              <a:rPr lang="en-US" altLang="zh-CN" dirty="0" smtClean="0"/>
              <a:t>references</a:t>
            </a:r>
          </a:p>
          <a:p>
            <a:pPr lvl="1"/>
            <a:r>
              <a:rPr lang="en-US" altLang="zh-CN" dirty="0" smtClean="0"/>
              <a:t>memory </a:t>
            </a:r>
            <a:r>
              <a:rPr lang="en-US" altLang="zh-CN" dirty="0"/>
              <a:t>addressing modes </a:t>
            </a:r>
            <a:r>
              <a:rPr lang="en-US" altLang="zh-CN" dirty="0" smtClean="0"/>
              <a:t/>
            </a:r>
            <a:br>
              <a:rPr lang="en-US" altLang="zh-CN" dirty="0" smtClean="0"/>
            </a:br>
            <a:r>
              <a:rPr lang="en-US" altLang="zh-CN" dirty="0" smtClean="0"/>
              <a:t>(</a:t>
            </a:r>
            <a:r>
              <a:rPr lang="en-US" altLang="zh-CN" dirty="0"/>
              <a:t>including immediate) account </a:t>
            </a:r>
            <a:r>
              <a:rPr lang="en-US" altLang="zh-CN" dirty="0" smtClean="0"/>
              <a:t/>
            </a:r>
            <a:br>
              <a:rPr lang="en-US" altLang="zh-CN" dirty="0" smtClean="0"/>
            </a:br>
            <a:r>
              <a:rPr lang="en-US" altLang="zh-CN" dirty="0" smtClean="0"/>
              <a:t>for </a:t>
            </a:r>
            <a:r>
              <a:rPr lang="en-US" altLang="zh-CN" dirty="0"/>
              <a:t>the other </a:t>
            </a:r>
            <a:r>
              <a:rPr lang="en-US" altLang="zh-CN" dirty="0" smtClean="0"/>
              <a:t>half</a:t>
            </a:r>
          </a:p>
          <a:p>
            <a:pPr lvl="1"/>
            <a:r>
              <a:rPr lang="en-US" altLang="zh-CN" dirty="0" smtClean="0"/>
              <a:t>Of course, the compiler affects </a:t>
            </a:r>
            <a:br>
              <a:rPr lang="en-US" altLang="zh-CN" dirty="0" smtClean="0"/>
            </a:br>
            <a:r>
              <a:rPr lang="en-US" altLang="zh-CN" dirty="0" smtClean="0"/>
              <a:t>what addressing modes are used</a:t>
            </a:r>
          </a:p>
          <a:p>
            <a:pPr lvl="1"/>
            <a:r>
              <a:rPr lang="en-US" altLang="zh-CN" dirty="0" smtClean="0"/>
              <a:t>Only the addressing modes with </a:t>
            </a:r>
            <a:br>
              <a:rPr lang="en-US" altLang="zh-CN" dirty="0" smtClean="0"/>
            </a:br>
            <a:r>
              <a:rPr lang="en-US" altLang="zh-CN" dirty="0" smtClean="0"/>
              <a:t>an average frequency of over 1% </a:t>
            </a:r>
            <a:br>
              <a:rPr lang="en-US" altLang="zh-CN" dirty="0" smtClean="0"/>
            </a:br>
            <a:r>
              <a:rPr lang="en-US" altLang="zh-CN" dirty="0" smtClean="0"/>
              <a:t>are shown</a:t>
            </a:r>
          </a:p>
          <a:p>
            <a:r>
              <a:rPr lang="en-US" altLang="zh-CN" dirty="0" smtClean="0"/>
              <a:t>Data collected on VAX 11/780</a:t>
            </a:r>
          </a:p>
        </p:txBody>
      </p:sp>
      <p:sp>
        <p:nvSpPr>
          <p:cNvPr id="4" name="右大括号 3"/>
          <p:cNvSpPr/>
          <p:nvPr/>
        </p:nvSpPr>
        <p:spPr>
          <a:xfrm>
            <a:off x="10812483" y="4987636"/>
            <a:ext cx="439387" cy="945651"/>
          </a:xfrm>
          <a:prstGeom prst="rightBrace">
            <a:avLst/>
          </a:prstGeom>
          <a:ln>
            <a:solidFill>
              <a:srgbClr val="00B0F0"/>
            </a:solidFill>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5" name="左大括号 4"/>
          <p:cNvSpPr/>
          <p:nvPr/>
        </p:nvSpPr>
        <p:spPr>
          <a:xfrm>
            <a:off x="6846125" y="4352306"/>
            <a:ext cx="528451" cy="1635983"/>
          </a:xfrm>
          <a:prstGeom prst="leftBrace">
            <a:avLst>
              <a:gd name="adj1" fmla="val 8333"/>
              <a:gd name="adj2" fmla="val 50429"/>
            </a:avLst>
          </a:prstGeom>
          <a:ln w="127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文本框 5"/>
          <p:cNvSpPr txBox="1"/>
          <p:nvPr/>
        </p:nvSpPr>
        <p:spPr>
          <a:xfrm>
            <a:off x="11340653" y="5117666"/>
            <a:ext cx="583814" cy="369332"/>
          </a:xfrm>
          <a:prstGeom prst="rect">
            <a:avLst/>
          </a:prstGeom>
          <a:noFill/>
        </p:spPr>
        <p:txBody>
          <a:bodyPr wrap="none" rtlCol="0">
            <a:spAutoFit/>
          </a:bodyPr>
          <a:lstStyle/>
          <a:p>
            <a:r>
              <a:rPr lang="en-US" altLang="zh-CN" dirty="0" smtClean="0">
                <a:solidFill>
                  <a:srgbClr val="0070C0"/>
                </a:solidFill>
              </a:rPr>
              <a:t>75%</a:t>
            </a:r>
            <a:endParaRPr lang="zh-CN" altLang="en-US" dirty="0">
              <a:solidFill>
                <a:srgbClr val="0070C0"/>
              </a:solidFill>
            </a:endParaRPr>
          </a:p>
        </p:txBody>
      </p:sp>
      <p:sp>
        <p:nvSpPr>
          <p:cNvPr id="11" name="文本框 10"/>
          <p:cNvSpPr txBox="1"/>
          <p:nvPr/>
        </p:nvSpPr>
        <p:spPr>
          <a:xfrm>
            <a:off x="6411293" y="4662836"/>
            <a:ext cx="583814" cy="369332"/>
          </a:xfrm>
          <a:prstGeom prst="rect">
            <a:avLst/>
          </a:prstGeom>
          <a:noFill/>
        </p:spPr>
        <p:txBody>
          <a:bodyPr wrap="none" rtlCol="0">
            <a:spAutoFit/>
          </a:bodyPr>
          <a:lstStyle/>
          <a:p>
            <a:r>
              <a:rPr lang="en-US" altLang="zh-CN" dirty="0">
                <a:solidFill>
                  <a:srgbClr val="0070C0"/>
                </a:solidFill>
              </a:rPr>
              <a:t>8</a:t>
            </a:r>
            <a:r>
              <a:rPr lang="en-US" altLang="zh-CN" dirty="0" smtClean="0">
                <a:solidFill>
                  <a:srgbClr val="0070C0"/>
                </a:solidFill>
              </a:rPr>
              <a:t>5%</a:t>
            </a:r>
            <a:endParaRPr lang="zh-CN" altLang="en-US" dirty="0">
              <a:solidFill>
                <a:srgbClr val="0070C0"/>
              </a:solidFill>
            </a:endParaRPr>
          </a:p>
        </p:txBody>
      </p:sp>
    </p:spTree>
    <p:extLst>
      <p:ext uri="{BB962C8B-B14F-4D97-AF65-F5344CB8AC3E}">
        <p14:creationId xmlns:p14="http://schemas.microsoft.com/office/powerpoint/2010/main" val="251006437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12292" name="Picture 5" descr="Z:\Production\Prodenv\0000000038\0000155678\0000000029\XmlLowres\0003170709\bm08-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1072" y="3399625"/>
            <a:ext cx="5257800"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Displacement values are widely distributed</a:t>
            </a:r>
            <a:endParaRPr lang="zh-CN" altLang="en-US" dirty="0"/>
          </a:p>
        </p:txBody>
      </p:sp>
      <p:sp>
        <p:nvSpPr>
          <p:cNvPr id="3" name="内容占位符 2"/>
          <p:cNvSpPr>
            <a:spLocks noGrp="1"/>
          </p:cNvSpPr>
          <p:nvPr>
            <p:ph idx="1"/>
          </p:nvPr>
        </p:nvSpPr>
        <p:spPr>
          <a:xfrm>
            <a:off x="308757" y="1544917"/>
            <a:ext cx="10855037" cy="5112568"/>
          </a:xfrm>
        </p:spPr>
        <p:txBody>
          <a:bodyPr/>
          <a:lstStyle/>
          <a:p>
            <a:r>
              <a:rPr lang="en-US" altLang="zh-CN" dirty="0" smtClean="0"/>
              <a:t>There </a:t>
            </a:r>
            <a:r>
              <a:rPr lang="en-US" altLang="zh-CN" dirty="0"/>
              <a:t>are both a large number of small values and a fair number of large </a:t>
            </a:r>
            <a:r>
              <a:rPr lang="en-US" altLang="zh-CN" dirty="0" smtClean="0"/>
              <a:t>values.</a:t>
            </a:r>
          </a:p>
          <a:p>
            <a:pPr lvl="1"/>
            <a:r>
              <a:rPr lang="en-US" altLang="zh-CN" dirty="0" smtClean="0"/>
              <a:t>The </a:t>
            </a:r>
            <a:r>
              <a:rPr lang="en-US" altLang="zh-CN" dirty="0"/>
              <a:t>wide distribution of displacement values is due to multiple storage areas for variables and different displacements to access </a:t>
            </a:r>
            <a:r>
              <a:rPr lang="en-US" altLang="zh-CN" dirty="0" smtClean="0"/>
              <a:t>them as </a:t>
            </a:r>
            <a:r>
              <a:rPr lang="en-US" altLang="zh-CN" dirty="0"/>
              <a:t>well as the overall addressing scheme the compiler uses. </a:t>
            </a:r>
            <a:endParaRPr lang="en-US" altLang="zh-CN" dirty="0" smtClean="0"/>
          </a:p>
          <a:p>
            <a:pPr lvl="1"/>
            <a:r>
              <a:rPr lang="en-US" altLang="zh-CN" dirty="0" smtClean="0"/>
              <a:t>The </a:t>
            </a:r>
            <a:r>
              <a:rPr lang="en-US" altLang="zh-CN" dirty="0"/>
              <a:t>graph does not include the sign bit, </a:t>
            </a:r>
            <a:r>
              <a:rPr lang="en-US" altLang="zh-CN" dirty="0" smtClean="0"/>
              <a:t/>
            </a:r>
            <a:br>
              <a:rPr lang="en-US" altLang="zh-CN" dirty="0" smtClean="0"/>
            </a:br>
            <a:r>
              <a:rPr lang="en-US" altLang="zh-CN" dirty="0" smtClean="0"/>
              <a:t>which </a:t>
            </a:r>
            <a:r>
              <a:rPr lang="en-US" altLang="zh-CN" dirty="0"/>
              <a:t>is heavily affected by the storage </a:t>
            </a:r>
            <a:r>
              <a:rPr lang="en-US" altLang="zh-CN" dirty="0" smtClean="0"/>
              <a:t/>
            </a:r>
            <a:br>
              <a:rPr lang="en-US" altLang="zh-CN" dirty="0" smtClean="0"/>
            </a:br>
            <a:r>
              <a:rPr lang="en-US" altLang="zh-CN" dirty="0" smtClean="0"/>
              <a:t>layout</a:t>
            </a:r>
            <a:r>
              <a:rPr lang="en-US" altLang="zh-CN" dirty="0"/>
              <a:t>. Most displacements are positive, </a:t>
            </a:r>
            <a:r>
              <a:rPr lang="en-US" altLang="zh-CN" dirty="0" smtClean="0"/>
              <a:t/>
            </a:r>
            <a:br>
              <a:rPr lang="en-US" altLang="zh-CN" dirty="0" smtClean="0"/>
            </a:br>
            <a:r>
              <a:rPr lang="en-US" altLang="zh-CN" dirty="0" smtClean="0"/>
              <a:t>but </a:t>
            </a:r>
            <a:r>
              <a:rPr lang="en-US" altLang="zh-CN" dirty="0"/>
              <a:t>a majority of the largest displacements </a:t>
            </a:r>
            <a:r>
              <a:rPr lang="en-US" altLang="zh-CN" dirty="0" smtClean="0"/>
              <a:t/>
            </a:r>
            <a:br>
              <a:rPr lang="en-US" altLang="zh-CN" dirty="0" smtClean="0"/>
            </a:br>
            <a:r>
              <a:rPr lang="en-US" altLang="zh-CN" dirty="0" smtClean="0"/>
              <a:t>(</a:t>
            </a:r>
            <a:r>
              <a:rPr lang="en-US" altLang="zh-CN" dirty="0"/>
              <a:t>14 + bits) are negative. </a:t>
            </a:r>
            <a:endParaRPr lang="en-US" altLang="zh-CN" dirty="0" smtClean="0"/>
          </a:p>
          <a:p>
            <a:r>
              <a:rPr lang="en-US" altLang="zh-CN" dirty="0" smtClean="0"/>
              <a:t>Data collected on Alpha CPU with</a:t>
            </a:r>
            <a:br>
              <a:rPr lang="en-US" altLang="zh-CN" dirty="0" smtClean="0"/>
            </a:br>
            <a:r>
              <a:rPr lang="en-US" altLang="zh-CN" dirty="0" smtClean="0"/>
              <a:t>only 16 bit displacement</a:t>
            </a:r>
            <a:endParaRPr lang="zh-CN" altLang="en-US" dirty="0"/>
          </a:p>
        </p:txBody>
      </p:sp>
    </p:spTree>
    <p:extLst>
      <p:ext uri="{BB962C8B-B14F-4D97-AF65-F5344CB8AC3E}">
        <p14:creationId xmlns:p14="http://schemas.microsoft.com/office/powerpoint/2010/main" val="134965283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smtClean="0"/>
              <a:t>The </a:t>
            </a:r>
            <a:r>
              <a:rPr lang="en-US" altLang="zh-CN" dirty="0"/>
              <a:t>bottom bars show that integer programs use </a:t>
            </a:r>
            <a:r>
              <a:rPr lang="en-US" altLang="zh-CN" dirty="0" err="1"/>
              <a:t>immediates</a:t>
            </a:r>
            <a:r>
              <a:rPr lang="en-US" altLang="zh-CN" dirty="0"/>
              <a:t> in about </a:t>
            </a:r>
            <a:r>
              <a:rPr lang="en-US" altLang="zh-CN" dirty="0" smtClean="0"/>
              <a:t>1/5 </a:t>
            </a:r>
            <a:r>
              <a:rPr lang="en-US" altLang="zh-CN" dirty="0"/>
              <a:t>of the instructions, while floating-point programs use </a:t>
            </a:r>
            <a:r>
              <a:rPr lang="en-US" altLang="zh-CN" dirty="0" err="1"/>
              <a:t>immediates</a:t>
            </a:r>
            <a:r>
              <a:rPr lang="en-US" altLang="zh-CN" dirty="0"/>
              <a:t> in about </a:t>
            </a:r>
            <a:r>
              <a:rPr lang="en-US" altLang="zh-CN" dirty="0" smtClean="0"/>
              <a:t>1/6 </a:t>
            </a:r>
            <a:r>
              <a:rPr lang="en-US" altLang="zh-CN" dirty="0"/>
              <a:t>of the </a:t>
            </a:r>
            <a:r>
              <a:rPr lang="en-US" altLang="zh-CN" dirty="0" smtClean="0"/>
              <a:t>instructions</a:t>
            </a:r>
          </a:p>
        </p:txBody>
      </p:sp>
      <p:sp>
        <p:nvSpPr>
          <p:cNvPr id="13314"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13316" name="Picture 5" descr="Z:\Production\Prodenv\0000000038\0000155678\0000000029\XmlLowres\0003170709\bm09-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49881" y="3190087"/>
            <a:ext cx="8135397" cy="3259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1/4 </a:t>
            </a:r>
            <a:r>
              <a:rPr lang="en-US" altLang="zh-CN" dirty="0"/>
              <a:t>of data transfers and ALU operations have an immediate operand</a:t>
            </a:r>
            <a:endParaRPr lang="zh-CN" altLang="en-US" dirty="0"/>
          </a:p>
        </p:txBody>
      </p:sp>
    </p:spTree>
    <p:extLst>
      <p:ext uri="{BB962C8B-B14F-4D97-AF65-F5344CB8AC3E}">
        <p14:creationId xmlns:p14="http://schemas.microsoft.com/office/powerpoint/2010/main" val="208657016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14340" name="Picture 5" descr="Z:\Production\Prodenv\0000000038\0000155678\0000000029\XmlLowres\0003170709\bm10-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873" y="3231339"/>
            <a:ext cx="5103813" cy="336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The distribution of immediate values</a:t>
            </a:r>
            <a:endParaRPr lang="zh-CN" altLang="en-US" dirty="0"/>
          </a:p>
        </p:txBody>
      </p:sp>
      <p:sp>
        <p:nvSpPr>
          <p:cNvPr id="3" name="内容占位符 2"/>
          <p:cNvSpPr>
            <a:spLocks noGrp="1"/>
          </p:cNvSpPr>
          <p:nvPr>
            <p:ph idx="1"/>
          </p:nvPr>
        </p:nvSpPr>
        <p:spPr>
          <a:xfrm>
            <a:off x="384438" y="1536167"/>
            <a:ext cx="10515600" cy="5112568"/>
          </a:xfrm>
        </p:spPr>
        <p:txBody>
          <a:bodyPr/>
          <a:lstStyle/>
          <a:p>
            <a:r>
              <a:rPr lang="en-US" altLang="zh-CN" dirty="0" smtClean="0"/>
              <a:t>The </a:t>
            </a:r>
            <a:r>
              <a:rPr lang="en-US" altLang="zh-CN" dirty="0"/>
              <a:t>x-axis shows the number of bits needed to represent the magnitude of an immediate </a:t>
            </a:r>
            <a:r>
              <a:rPr lang="en-US" altLang="zh-CN" dirty="0" smtClean="0"/>
              <a:t>value</a:t>
            </a:r>
          </a:p>
          <a:p>
            <a:pPr lvl="1"/>
            <a:r>
              <a:rPr lang="en-US" altLang="zh-CN" dirty="0" smtClean="0"/>
              <a:t>0 </a:t>
            </a:r>
            <a:r>
              <a:rPr lang="en-US" altLang="zh-CN" dirty="0"/>
              <a:t>means the immediate field value was </a:t>
            </a:r>
            <a:r>
              <a:rPr lang="en-US" altLang="zh-CN" dirty="0" smtClean="0"/>
              <a:t>0 </a:t>
            </a:r>
          </a:p>
          <a:p>
            <a:pPr lvl="1"/>
            <a:r>
              <a:rPr lang="en-US" altLang="zh-CN" dirty="0" smtClean="0"/>
              <a:t>The </a:t>
            </a:r>
            <a:r>
              <a:rPr lang="en-US" altLang="zh-CN" dirty="0"/>
              <a:t>majority of the immediate values are </a:t>
            </a:r>
            <a:r>
              <a:rPr lang="en-US" altLang="zh-CN" dirty="0" smtClean="0"/>
              <a:t>positive</a:t>
            </a:r>
          </a:p>
          <a:p>
            <a:pPr lvl="1"/>
            <a:r>
              <a:rPr lang="en-US" altLang="zh-CN" dirty="0" smtClean="0"/>
              <a:t>About </a:t>
            </a:r>
            <a:r>
              <a:rPr lang="en-US" altLang="zh-CN" dirty="0"/>
              <a:t>20% were negative for </a:t>
            </a:r>
            <a:r>
              <a:rPr lang="en-US" altLang="zh-CN" dirty="0" smtClean="0"/>
              <a:t>CINT2000</a:t>
            </a:r>
          </a:p>
          <a:p>
            <a:pPr lvl="1"/>
            <a:r>
              <a:rPr lang="en-US" altLang="zh-CN" dirty="0" smtClean="0"/>
              <a:t>About </a:t>
            </a:r>
            <a:r>
              <a:rPr lang="en-US" altLang="zh-CN" dirty="0"/>
              <a:t>30% were negative for </a:t>
            </a:r>
            <a:r>
              <a:rPr lang="en-US" altLang="zh-CN" dirty="0" smtClean="0"/>
              <a:t>CFP2000</a:t>
            </a:r>
          </a:p>
          <a:p>
            <a:r>
              <a:rPr lang="en-US" altLang="zh-CN" dirty="0" smtClean="0"/>
              <a:t>These </a:t>
            </a:r>
            <a:r>
              <a:rPr lang="en-US" altLang="zh-CN" dirty="0"/>
              <a:t>measurements were taken on </a:t>
            </a:r>
            <a:r>
              <a:rPr lang="en-US" altLang="zh-CN" dirty="0" smtClean="0"/>
              <a:t/>
            </a:r>
            <a:br>
              <a:rPr lang="en-US" altLang="zh-CN" dirty="0" smtClean="0"/>
            </a:br>
            <a:r>
              <a:rPr lang="en-US" altLang="zh-CN" dirty="0" smtClean="0"/>
              <a:t>an Alpha</a:t>
            </a:r>
            <a:r>
              <a:rPr lang="en-US" altLang="zh-CN" dirty="0"/>
              <a:t> </a:t>
            </a:r>
            <a:r>
              <a:rPr lang="en-US" altLang="zh-CN" dirty="0" smtClean="0"/>
              <a:t>with 16 bit immediate</a:t>
            </a:r>
          </a:p>
          <a:p>
            <a:pPr lvl="1"/>
            <a:r>
              <a:rPr lang="en-US" altLang="zh-CN" dirty="0" smtClean="0"/>
              <a:t>A </a:t>
            </a:r>
            <a:r>
              <a:rPr lang="en-US" altLang="zh-CN" dirty="0"/>
              <a:t>similar measurement on </a:t>
            </a:r>
            <a:r>
              <a:rPr lang="en-US" altLang="zh-CN" dirty="0" smtClean="0"/>
              <a:t>VAX with 32-b</a:t>
            </a:r>
            <a:br>
              <a:rPr lang="en-US" altLang="zh-CN" dirty="0" smtClean="0"/>
            </a:br>
            <a:r>
              <a:rPr lang="en-US" altLang="zh-CN" dirty="0" err="1" smtClean="0"/>
              <a:t>immediates</a:t>
            </a:r>
            <a:r>
              <a:rPr lang="en-US" altLang="zh-CN" dirty="0"/>
              <a:t> </a:t>
            </a:r>
            <a:r>
              <a:rPr lang="en-US" altLang="zh-CN" dirty="0" smtClean="0"/>
              <a:t>showed </a:t>
            </a:r>
            <a:r>
              <a:rPr lang="en-US" altLang="zh-CN" dirty="0"/>
              <a:t>that about 20%–25% </a:t>
            </a:r>
            <a:r>
              <a:rPr lang="en-US" altLang="zh-CN" dirty="0" smtClean="0"/>
              <a:t/>
            </a:r>
            <a:br>
              <a:rPr lang="en-US" altLang="zh-CN" dirty="0" smtClean="0"/>
            </a:br>
            <a:r>
              <a:rPr lang="en-US" altLang="zh-CN" dirty="0" smtClean="0"/>
              <a:t>of </a:t>
            </a:r>
            <a:r>
              <a:rPr lang="en-US" altLang="zh-CN" dirty="0" err="1"/>
              <a:t>immediates</a:t>
            </a:r>
            <a:r>
              <a:rPr lang="en-US" altLang="zh-CN" dirty="0"/>
              <a:t> were longer than 16 </a:t>
            </a:r>
            <a:r>
              <a:rPr lang="en-US" altLang="zh-CN" dirty="0" smtClean="0"/>
              <a:t>bits</a:t>
            </a:r>
          </a:p>
          <a:p>
            <a:pPr lvl="1"/>
            <a:r>
              <a:rPr lang="en-US" altLang="zh-CN" dirty="0" smtClean="0"/>
              <a:t>Thus</a:t>
            </a:r>
            <a:r>
              <a:rPr lang="en-US" altLang="zh-CN" dirty="0"/>
              <a:t>, 16 bits would capture about 80% </a:t>
            </a:r>
            <a:r>
              <a:rPr lang="en-US" altLang="zh-CN" dirty="0" smtClean="0"/>
              <a:t/>
            </a:r>
            <a:br>
              <a:rPr lang="en-US" altLang="zh-CN" dirty="0" smtClean="0"/>
            </a:br>
            <a:r>
              <a:rPr lang="en-US" altLang="zh-CN" dirty="0" smtClean="0"/>
              <a:t>and </a:t>
            </a:r>
            <a:r>
              <a:rPr lang="en-US" altLang="zh-CN" dirty="0"/>
              <a:t>8 bits about 50</a:t>
            </a:r>
            <a:r>
              <a:rPr lang="en-US" altLang="zh-CN" dirty="0" smtClean="0"/>
              <a:t>%</a:t>
            </a:r>
            <a:endParaRPr lang="en-US" altLang="zh-CN" dirty="0"/>
          </a:p>
          <a:p>
            <a:endParaRPr lang="zh-CN" altLang="en-US" dirty="0"/>
          </a:p>
        </p:txBody>
      </p:sp>
    </p:spTree>
    <p:extLst>
      <p:ext uri="{BB962C8B-B14F-4D97-AF65-F5344CB8AC3E}">
        <p14:creationId xmlns:p14="http://schemas.microsoft.com/office/powerpoint/2010/main" val="165539560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4"/>
          <p:cNvSpPr>
            <a:spLocks noGrp="1" noChangeArrowheads="1"/>
          </p:cNvSpPr>
          <p:nvPr>
            <p:ph type="title"/>
          </p:nvPr>
        </p:nvSpPr>
        <p:spPr/>
        <p:txBody>
          <a:bodyPr/>
          <a:lstStyle/>
          <a:p>
            <a:r>
              <a:rPr lang="en-US" altLang="zh-CN"/>
              <a:t>Addressing Summary</a:t>
            </a:r>
          </a:p>
        </p:txBody>
      </p:sp>
      <p:sp>
        <p:nvSpPr>
          <p:cNvPr id="27653" name="Rectangle 5"/>
          <p:cNvSpPr>
            <a:spLocks noGrp="1" noChangeArrowheads="1"/>
          </p:cNvSpPr>
          <p:nvPr>
            <p:ph type="body" idx="1"/>
          </p:nvPr>
        </p:nvSpPr>
        <p:spPr/>
        <p:txBody>
          <a:bodyPr/>
          <a:lstStyle/>
          <a:p>
            <a:pPr eaLnBrk="0" hangingPunct="0">
              <a:lnSpc>
                <a:spcPct val="90000"/>
              </a:lnSpc>
            </a:pPr>
            <a:r>
              <a:rPr lang="en-US" altLang="zh-CN" dirty="0"/>
              <a:t>Data Addressing modes that are important:</a:t>
            </a:r>
          </a:p>
          <a:p>
            <a:pPr lvl="1" eaLnBrk="0" hangingPunct="0">
              <a:lnSpc>
                <a:spcPct val="90000"/>
              </a:lnSpc>
            </a:pPr>
            <a:r>
              <a:rPr lang="en-US" altLang="zh-CN" dirty="0"/>
              <a:t>Displacement, Immediate, Register Indirect</a:t>
            </a:r>
          </a:p>
          <a:p>
            <a:pPr lvl="1" eaLnBrk="0" hangingPunct="0">
              <a:lnSpc>
                <a:spcPct val="90000"/>
              </a:lnSpc>
            </a:pPr>
            <a:endParaRPr lang="en-US" altLang="zh-CN" dirty="0"/>
          </a:p>
          <a:p>
            <a:pPr eaLnBrk="0" hangingPunct="0">
              <a:lnSpc>
                <a:spcPct val="90000"/>
              </a:lnSpc>
            </a:pPr>
            <a:r>
              <a:rPr lang="en-US" altLang="zh-CN" dirty="0"/>
              <a:t>Displacement size should be 12 to 16 bits</a:t>
            </a:r>
          </a:p>
          <a:p>
            <a:pPr eaLnBrk="0" hangingPunct="0">
              <a:lnSpc>
                <a:spcPct val="90000"/>
              </a:lnSpc>
            </a:pPr>
            <a:endParaRPr lang="en-US" altLang="zh-CN" dirty="0"/>
          </a:p>
          <a:p>
            <a:pPr eaLnBrk="0" hangingPunct="0">
              <a:lnSpc>
                <a:spcPct val="90000"/>
              </a:lnSpc>
            </a:pPr>
            <a:r>
              <a:rPr lang="en-US" altLang="zh-CN" dirty="0"/>
              <a:t>Immediate size should be 8 to 16 bits</a:t>
            </a:r>
          </a:p>
          <a:p>
            <a:endParaRPr lang="en-US" altLang="zh-CN" dirty="0"/>
          </a:p>
        </p:txBody>
      </p:sp>
    </p:spTree>
    <p:extLst>
      <p:ext uri="{BB962C8B-B14F-4D97-AF65-F5344CB8AC3E}">
        <p14:creationId xmlns:p14="http://schemas.microsoft.com/office/powerpoint/2010/main" val="1299202530"/>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0" y="457200"/>
            <a:ext cx="2973891"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Data Types</a:t>
            </a:r>
          </a:p>
        </p:txBody>
      </p:sp>
      <p:sp>
        <p:nvSpPr>
          <p:cNvPr id="40963" name="Rectangle 3"/>
          <p:cNvSpPr>
            <a:spLocks noChangeArrowheads="1"/>
          </p:cNvSpPr>
          <p:nvPr/>
        </p:nvSpPr>
        <p:spPr bwMode="auto">
          <a:xfrm>
            <a:off x="2286000" y="139700"/>
            <a:ext cx="254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64" name="Rectangle 4"/>
          <p:cNvSpPr>
            <a:spLocks noChangeArrowheads="1"/>
          </p:cNvSpPr>
          <p:nvPr/>
        </p:nvSpPr>
        <p:spPr bwMode="auto">
          <a:xfrm>
            <a:off x="2654135" y="1326062"/>
            <a:ext cx="7378700" cy="51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p>
            <a:pPr>
              <a:lnSpc>
                <a:spcPct val="85000"/>
              </a:lnSpc>
            </a:pPr>
            <a:endParaRPr lang="en-US" altLang="zh-CN" b="1" u="sng">
              <a:latin typeface="Arial" panose="020B0604020202020204" pitchFamily="34" charset="0"/>
            </a:endParaRPr>
          </a:p>
          <a:p>
            <a:pPr>
              <a:lnSpc>
                <a:spcPct val="85000"/>
              </a:lnSpc>
            </a:pPr>
            <a:r>
              <a:rPr lang="en-US" altLang="zh-CN" b="1" u="sng">
                <a:latin typeface="Arial" panose="020B0604020202020204" pitchFamily="34" charset="0"/>
              </a:rPr>
              <a:t>Bit</a:t>
            </a:r>
            <a:r>
              <a:rPr lang="en-US" altLang="zh-CN" b="1">
                <a:latin typeface="Arial" panose="020B0604020202020204" pitchFamily="34" charset="0"/>
              </a:rPr>
              <a:t>:  0, 1</a:t>
            </a:r>
          </a:p>
          <a:p>
            <a:pPr>
              <a:lnSpc>
                <a:spcPct val="85000"/>
              </a:lnSpc>
            </a:pPr>
            <a:endParaRPr lang="en-US" altLang="zh-CN" b="1">
              <a:latin typeface="Arial" panose="020B0604020202020204" pitchFamily="34" charset="0"/>
            </a:endParaRPr>
          </a:p>
          <a:p>
            <a:pPr>
              <a:lnSpc>
                <a:spcPct val="85000"/>
              </a:lnSpc>
            </a:pPr>
            <a:r>
              <a:rPr lang="en-US" altLang="zh-CN" b="1" u="sng">
                <a:latin typeface="Arial" panose="020B0604020202020204" pitchFamily="34" charset="0"/>
              </a:rPr>
              <a:t>Bit String</a:t>
            </a:r>
            <a:r>
              <a:rPr lang="en-US" altLang="zh-CN" b="1">
                <a:latin typeface="Arial" panose="020B0604020202020204" pitchFamily="34" charset="0"/>
              </a:rPr>
              <a:t>:  sequence of bits of a particular length</a:t>
            </a:r>
          </a:p>
          <a:p>
            <a:pPr>
              <a:lnSpc>
                <a:spcPct val="85000"/>
              </a:lnSpc>
            </a:pPr>
            <a:r>
              <a:rPr lang="en-US" altLang="zh-CN" b="1">
                <a:latin typeface="Arial" panose="020B0604020202020204" pitchFamily="34" charset="0"/>
              </a:rPr>
              <a:t>      4 bits is a nibble            8 bits is a byte</a:t>
            </a:r>
          </a:p>
          <a:p>
            <a:pPr>
              <a:lnSpc>
                <a:spcPct val="85000"/>
              </a:lnSpc>
            </a:pPr>
            <a:r>
              <a:rPr lang="en-US" altLang="zh-CN" b="1">
                <a:latin typeface="Arial" panose="020B0604020202020204" pitchFamily="34" charset="0"/>
              </a:rPr>
              <a:t>     16 bits is a half-word     32 bits is a word</a:t>
            </a:r>
          </a:p>
          <a:p>
            <a:pPr>
              <a:lnSpc>
                <a:spcPct val="85000"/>
              </a:lnSpc>
            </a:pPr>
            <a:r>
              <a:rPr lang="en-US" altLang="zh-CN" b="1">
                <a:latin typeface="Arial" panose="020B0604020202020204" pitchFamily="34" charset="0"/>
              </a:rPr>
              <a:t>     64 bits is a double-word</a:t>
            </a:r>
          </a:p>
          <a:p>
            <a:pPr>
              <a:lnSpc>
                <a:spcPct val="85000"/>
              </a:lnSpc>
            </a:pPr>
            <a:endParaRPr lang="en-US" altLang="zh-CN" b="1">
              <a:latin typeface="Arial" panose="020B0604020202020204" pitchFamily="34" charset="0"/>
            </a:endParaRPr>
          </a:p>
          <a:p>
            <a:pPr>
              <a:lnSpc>
                <a:spcPct val="85000"/>
              </a:lnSpc>
            </a:pPr>
            <a:r>
              <a:rPr lang="en-US" altLang="zh-CN" b="1" u="sng">
                <a:latin typeface="Arial" panose="020B0604020202020204" pitchFamily="34" charset="0"/>
              </a:rPr>
              <a:t>Character</a:t>
            </a:r>
            <a:r>
              <a:rPr lang="en-US" altLang="zh-CN" b="1">
                <a:latin typeface="Arial" panose="020B0604020202020204" pitchFamily="34" charset="0"/>
              </a:rPr>
              <a:t>:</a:t>
            </a:r>
          </a:p>
          <a:p>
            <a:pPr>
              <a:lnSpc>
                <a:spcPct val="85000"/>
              </a:lnSpc>
            </a:pPr>
            <a:r>
              <a:rPr lang="en-US" altLang="zh-CN" b="1">
                <a:latin typeface="Arial" panose="020B0604020202020204" pitchFamily="34" charset="0"/>
              </a:rPr>
              <a:t>      ASCII  7 bit code</a:t>
            </a:r>
          </a:p>
          <a:p>
            <a:pPr>
              <a:lnSpc>
                <a:spcPct val="85000"/>
              </a:lnSpc>
            </a:pPr>
            <a:endParaRPr lang="en-US" altLang="zh-CN" b="1">
              <a:latin typeface="Arial" panose="020B0604020202020204" pitchFamily="34" charset="0"/>
            </a:endParaRPr>
          </a:p>
          <a:p>
            <a:pPr>
              <a:lnSpc>
                <a:spcPct val="85000"/>
              </a:lnSpc>
            </a:pPr>
            <a:r>
              <a:rPr lang="en-US" altLang="zh-CN" b="1" u="sng">
                <a:latin typeface="Arial" panose="020B0604020202020204" pitchFamily="34" charset="0"/>
              </a:rPr>
              <a:t>Decimal</a:t>
            </a:r>
            <a:r>
              <a:rPr lang="en-US" altLang="zh-CN" b="1">
                <a:latin typeface="Arial" panose="020B0604020202020204" pitchFamily="34" charset="0"/>
              </a:rPr>
              <a:t>:</a:t>
            </a:r>
          </a:p>
          <a:p>
            <a:pPr>
              <a:lnSpc>
                <a:spcPct val="85000"/>
              </a:lnSpc>
            </a:pPr>
            <a:r>
              <a:rPr lang="en-US" altLang="zh-CN" b="1">
                <a:latin typeface="Arial" panose="020B0604020202020204" pitchFamily="34" charset="0"/>
              </a:rPr>
              <a:t>      digits 0-9 encoded as 0000b thru 1001b</a:t>
            </a:r>
          </a:p>
          <a:p>
            <a:pPr>
              <a:lnSpc>
                <a:spcPct val="85000"/>
              </a:lnSpc>
            </a:pPr>
            <a:r>
              <a:rPr lang="en-US" altLang="zh-CN" b="1">
                <a:latin typeface="Arial" panose="020B0604020202020204" pitchFamily="34" charset="0"/>
              </a:rPr>
              <a:t>      two decimal digits packed per 8 bit byte</a:t>
            </a:r>
          </a:p>
          <a:p>
            <a:pPr>
              <a:lnSpc>
                <a:spcPct val="85000"/>
              </a:lnSpc>
            </a:pPr>
            <a:endParaRPr lang="en-US" altLang="zh-CN" b="1">
              <a:latin typeface="Arial" panose="020B0604020202020204" pitchFamily="34" charset="0"/>
            </a:endParaRPr>
          </a:p>
          <a:p>
            <a:pPr>
              <a:lnSpc>
                <a:spcPct val="85000"/>
              </a:lnSpc>
            </a:pPr>
            <a:r>
              <a:rPr lang="en-US" altLang="zh-CN" b="1" u="sng">
                <a:latin typeface="Arial" panose="020B0604020202020204" pitchFamily="34" charset="0"/>
              </a:rPr>
              <a:t>Integers</a:t>
            </a:r>
            <a:r>
              <a:rPr lang="en-US" altLang="zh-CN" b="1">
                <a:latin typeface="Arial" panose="020B0604020202020204" pitchFamily="34" charset="0"/>
              </a:rPr>
              <a:t>:</a:t>
            </a:r>
          </a:p>
          <a:p>
            <a:pPr>
              <a:lnSpc>
                <a:spcPct val="85000"/>
              </a:lnSpc>
            </a:pPr>
            <a:r>
              <a:rPr lang="en-US" altLang="zh-CN" b="1">
                <a:latin typeface="Arial" panose="020B0604020202020204" pitchFamily="34" charset="0"/>
              </a:rPr>
              <a:t>      2's Complement</a:t>
            </a:r>
          </a:p>
          <a:p>
            <a:pPr>
              <a:lnSpc>
                <a:spcPct val="85000"/>
              </a:lnSpc>
            </a:pPr>
            <a:endParaRPr lang="en-US" altLang="zh-CN" b="1">
              <a:latin typeface="Arial" panose="020B0604020202020204" pitchFamily="34" charset="0"/>
            </a:endParaRPr>
          </a:p>
          <a:p>
            <a:pPr>
              <a:lnSpc>
                <a:spcPct val="85000"/>
              </a:lnSpc>
            </a:pPr>
            <a:r>
              <a:rPr lang="en-US" altLang="zh-CN" b="1" u="sng">
                <a:latin typeface="Arial" panose="020B0604020202020204" pitchFamily="34" charset="0"/>
              </a:rPr>
              <a:t>Floating Point</a:t>
            </a:r>
            <a:r>
              <a:rPr lang="en-US" altLang="zh-CN" b="1">
                <a:latin typeface="Arial" panose="020B0604020202020204" pitchFamily="34" charset="0"/>
              </a:rPr>
              <a:t>:</a:t>
            </a:r>
          </a:p>
          <a:p>
            <a:pPr>
              <a:lnSpc>
                <a:spcPct val="85000"/>
              </a:lnSpc>
            </a:pPr>
            <a:r>
              <a:rPr lang="en-US" altLang="zh-CN" b="1">
                <a:latin typeface="Arial" panose="020B0604020202020204" pitchFamily="34" charset="0"/>
              </a:rPr>
              <a:t>      Single Precision</a:t>
            </a:r>
          </a:p>
          <a:p>
            <a:pPr>
              <a:lnSpc>
                <a:spcPct val="85000"/>
              </a:lnSpc>
            </a:pPr>
            <a:r>
              <a:rPr lang="en-US" altLang="zh-CN" b="1">
                <a:latin typeface="Arial" panose="020B0604020202020204" pitchFamily="34" charset="0"/>
              </a:rPr>
              <a:t>      Double Precision</a:t>
            </a:r>
          </a:p>
          <a:p>
            <a:pPr>
              <a:lnSpc>
                <a:spcPct val="85000"/>
              </a:lnSpc>
            </a:pPr>
            <a:r>
              <a:rPr lang="en-US" altLang="zh-CN" b="1">
                <a:latin typeface="Arial" panose="020B0604020202020204" pitchFamily="34" charset="0"/>
              </a:rPr>
              <a:t>      Extended Precision</a:t>
            </a:r>
          </a:p>
        </p:txBody>
      </p:sp>
      <p:sp>
        <p:nvSpPr>
          <p:cNvPr id="40965" name="Rectangle 5"/>
          <p:cNvSpPr>
            <a:spLocks noChangeArrowheads="1"/>
          </p:cNvSpPr>
          <p:nvPr/>
        </p:nvSpPr>
        <p:spPr bwMode="auto">
          <a:xfrm>
            <a:off x="5333835" y="6012362"/>
            <a:ext cx="736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M x R</a:t>
            </a:r>
          </a:p>
        </p:txBody>
      </p:sp>
      <p:sp>
        <p:nvSpPr>
          <p:cNvPr id="40966" name="Rectangle 6"/>
          <p:cNvSpPr>
            <a:spLocks noChangeArrowheads="1"/>
          </p:cNvSpPr>
          <p:nvPr/>
        </p:nvSpPr>
        <p:spPr bwMode="auto">
          <a:xfrm>
            <a:off x="5943435" y="5859962"/>
            <a:ext cx="2794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E</a:t>
            </a:r>
          </a:p>
        </p:txBody>
      </p:sp>
      <p:sp>
        <p:nvSpPr>
          <p:cNvPr id="40967" name="Rectangle 7"/>
          <p:cNvSpPr>
            <a:spLocks noChangeArrowheads="1"/>
          </p:cNvSpPr>
          <p:nvPr/>
        </p:nvSpPr>
        <p:spPr bwMode="auto">
          <a:xfrm>
            <a:off x="7848435" y="5783761"/>
            <a:ext cx="2559050" cy="98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latin typeface="Arial" panose="020B0604020202020204" pitchFamily="34" charset="0"/>
              </a:rPr>
              <a:t>How many +/- #'s?</a:t>
            </a:r>
          </a:p>
          <a:p>
            <a:pPr>
              <a:lnSpc>
                <a:spcPct val="85000"/>
              </a:lnSpc>
            </a:pPr>
            <a:r>
              <a:rPr lang="en-US" altLang="zh-CN" b="1" dirty="0">
                <a:latin typeface="Arial" panose="020B0604020202020204" pitchFamily="34" charset="0"/>
              </a:rPr>
              <a:t>Where is decimal </a:t>
            </a:r>
            <a:r>
              <a:rPr lang="en-US" altLang="zh-CN" b="1" dirty="0" err="1">
                <a:latin typeface="Arial" panose="020B0604020202020204" pitchFamily="34" charset="0"/>
              </a:rPr>
              <a:t>pt</a:t>
            </a:r>
            <a:r>
              <a:rPr lang="en-US" altLang="zh-CN" b="1" dirty="0">
                <a:latin typeface="Arial" panose="020B0604020202020204" pitchFamily="34" charset="0"/>
              </a:rPr>
              <a:t>?</a:t>
            </a:r>
          </a:p>
          <a:p>
            <a:pPr>
              <a:lnSpc>
                <a:spcPct val="85000"/>
              </a:lnSpc>
            </a:pPr>
            <a:r>
              <a:rPr lang="en-US" altLang="zh-CN" b="1" dirty="0">
                <a:latin typeface="Arial" panose="020B0604020202020204" pitchFamily="34" charset="0"/>
              </a:rPr>
              <a:t>How are +/- exponents</a:t>
            </a:r>
          </a:p>
          <a:p>
            <a:pPr>
              <a:lnSpc>
                <a:spcPct val="85000"/>
              </a:lnSpc>
            </a:pPr>
            <a:r>
              <a:rPr lang="en-US" altLang="zh-CN" b="1" dirty="0">
                <a:latin typeface="Arial" panose="020B0604020202020204" pitchFamily="34" charset="0"/>
              </a:rPr>
              <a:t>      represented?</a:t>
            </a:r>
          </a:p>
        </p:txBody>
      </p:sp>
      <p:sp>
        <p:nvSpPr>
          <p:cNvPr id="40968" name="Rectangle 8"/>
          <p:cNvSpPr>
            <a:spLocks noChangeArrowheads="1"/>
          </p:cNvSpPr>
          <p:nvPr/>
        </p:nvSpPr>
        <p:spPr bwMode="auto">
          <a:xfrm>
            <a:off x="6324435" y="5631362"/>
            <a:ext cx="11430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exponent</a:t>
            </a:r>
          </a:p>
        </p:txBody>
      </p:sp>
      <p:sp>
        <p:nvSpPr>
          <p:cNvPr id="40969" name="Rectangle 9"/>
          <p:cNvSpPr>
            <a:spLocks noChangeArrowheads="1"/>
          </p:cNvSpPr>
          <p:nvPr/>
        </p:nvSpPr>
        <p:spPr bwMode="auto">
          <a:xfrm>
            <a:off x="6400635" y="6317162"/>
            <a:ext cx="6477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base</a:t>
            </a:r>
          </a:p>
        </p:txBody>
      </p:sp>
      <p:sp>
        <p:nvSpPr>
          <p:cNvPr id="40970" name="Rectangle 10"/>
          <p:cNvSpPr>
            <a:spLocks noChangeArrowheads="1"/>
          </p:cNvSpPr>
          <p:nvPr/>
        </p:nvSpPr>
        <p:spPr bwMode="auto">
          <a:xfrm>
            <a:off x="4800435" y="6545762"/>
            <a:ext cx="1117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mantissa</a:t>
            </a:r>
          </a:p>
        </p:txBody>
      </p:sp>
      <p:sp>
        <p:nvSpPr>
          <p:cNvPr id="40971" name="Line 11"/>
          <p:cNvSpPr>
            <a:spLocks noChangeShapeType="1"/>
          </p:cNvSpPr>
          <p:nvPr/>
        </p:nvSpPr>
        <p:spPr bwMode="auto">
          <a:xfrm flipV="1">
            <a:off x="6165685" y="5815511"/>
            <a:ext cx="215900" cy="88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2" name="Line 12"/>
          <p:cNvSpPr>
            <a:spLocks noChangeShapeType="1"/>
          </p:cNvSpPr>
          <p:nvPr/>
        </p:nvSpPr>
        <p:spPr bwMode="auto">
          <a:xfrm>
            <a:off x="6013285" y="6209211"/>
            <a:ext cx="368300" cy="139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3" name="Line 13"/>
          <p:cNvSpPr>
            <a:spLocks noChangeShapeType="1"/>
          </p:cNvSpPr>
          <p:nvPr/>
        </p:nvSpPr>
        <p:spPr bwMode="auto">
          <a:xfrm flipH="1">
            <a:off x="5314785" y="6209211"/>
            <a:ext cx="165100" cy="368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4086589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模型量化新增的浮点数据类型</a:t>
            </a:r>
            <a:endParaRPr lang="zh-CN" altLang="en-US" dirty="0"/>
          </a:p>
        </p:txBody>
      </p:sp>
      <p:sp>
        <p:nvSpPr>
          <p:cNvPr id="3" name="内容占位符 2"/>
          <p:cNvSpPr>
            <a:spLocks noGrp="1"/>
          </p:cNvSpPr>
          <p:nvPr>
            <p:ph idx="1"/>
          </p:nvPr>
        </p:nvSpPr>
        <p:spPr/>
        <p:txBody>
          <a:bodyPr/>
          <a:lstStyle/>
          <a:p>
            <a:r>
              <a:rPr lang="zh-CN" altLang="en-US" dirty="0" smtClean="0"/>
              <a:t>减少数据位数，节省存储空间，减少对内存带宽的占用</a:t>
            </a:r>
            <a:endParaRPr lang="en-US" altLang="zh-CN" dirty="0" smtClean="0"/>
          </a:p>
          <a:p>
            <a:pPr lvl="1"/>
            <a:r>
              <a:rPr lang="zh-CN" altLang="en-US" dirty="0" smtClean="0"/>
              <a:t>降低硬件需求，单位面积集成更多运算器</a:t>
            </a:r>
            <a:endParaRPr lang="en-US" altLang="zh-CN" dirty="0" smtClean="0"/>
          </a:p>
          <a:p>
            <a:r>
              <a:rPr lang="zh-CN" altLang="en-US" dirty="0" smtClean="0"/>
              <a:t>尽可能增大峰值算力</a:t>
            </a:r>
            <a:endParaRPr lang="zh-CN" altLang="en-US" dirty="0"/>
          </a:p>
        </p:txBody>
      </p:sp>
      <p:pic>
        <p:nvPicPr>
          <p:cNvPr id="6" name="图片 5"/>
          <p:cNvPicPr>
            <a:picLocks noChangeAspect="1"/>
          </p:cNvPicPr>
          <p:nvPr/>
        </p:nvPicPr>
        <p:blipFill>
          <a:blip r:embed="rId2"/>
          <a:stretch>
            <a:fillRect/>
          </a:stretch>
        </p:blipFill>
        <p:spPr>
          <a:xfrm>
            <a:off x="5301939" y="2520779"/>
            <a:ext cx="6799445" cy="4337222"/>
          </a:xfrm>
          <a:prstGeom prst="rect">
            <a:avLst/>
          </a:prstGeom>
        </p:spPr>
      </p:pic>
      <p:pic>
        <p:nvPicPr>
          <p:cNvPr id="8" name="图片 7"/>
          <p:cNvPicPr>
            <a:picLocks noChangeAspect="1"/>
          </p:cNvPicPr>
          <p:nvPr/>
        </p:nvPicPr>
        <p:blipFill>
          <a:blip r:embed="rId3"/>
          <a:stretch>
            <a:fillRect/>
          </a:stretch>
        </p:blipFill>
        <p:spPr>
          <a:xfrm>
            <a:off x="947865" y="3060515"/>
            <a:ext cx="4497345" cy="3608845"/>
          </a:xfrm>
          <a:prstGeom prst="rect">
            <a:avLst/>
          </a:prstGeom>
        </p:spPr>
      </p:pic>
      <p:sp>
        <p:nvSpPr>
          <p:cNvPr id="9" name="文本框 8"/>
          <p:cNvSpPr txBox="1"/>
          <p:nvPr/>
        </p:nvSpPr>
        <p:spPr>
          <a:xfrm>
            <a:off x="3981968" y="5791200"/>
            <a:ext cx="2244525" cy="523220"/>
          </a:xfrm>
          <a:prstGeom prst="rect">
            <a:avLst/>
          </a:prstGeom>
          <a:noFill/>
        </p:spPr>
        <p:txBody>
          <a:bodyPr wrap="none" rtlCol="0">
            <a:spAutoFit/>
          </a:bodyPr>
          <a:lstStyle/>
          <a:p>
            <a:r>
              <a:rPr lang="en-US" altLang="zh-CN" sz="2800" b="1" dirty="0" smtClean="0">
                <a:solidFill>
                  <a:srgbClr val="92D050"/>
                </a:solidFill>
                <a:latin typeface="微软雅黑" panose="020B0503020204020204" pitchFamily="34" charset="-122"/>
                <a:ea typeface="微软雅黑" panose="020B0503020204020204" pitchFamily="34" charset="-122"/>
              </a:rPr>
              <a:t>FP4 (E2M1)</a:t>
            </a:r>
            <a:endParaRPr lang="zh-CN" altLang="en-US" sz="2800" b="1" dirty="0">
              <a:solidFill>
                <a:srgbClr val="92D05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487231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15364" name="Picture 5" descr="Z:\Production\Prodenv\0000000038\0000155678\0000000029\XmlLowres\0003170709\bm11-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87630" y="2846328"/>
            <a:ext cx="7785664" cy="3638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Distribution of data accesses by size </a:t>
            </a:r>
            <a:endParaRPr lang="zh-CN" altLang="en-US" dirty="0"/>
          </a:p>
        </p:txBody>
      </p:sp>
      <p:sp>
        <p:nvSpPr>
          <p:cNvPr id="3" name="内容占位符 2"/>
          <p:cNvSpPr>
            <a:spLocks noGrp="1"/>
          </p:cNvSpPr>
          <p:nvPr>
            <p:ph idx="1"/>
          </p:nvPr>
        </p:nvSpPr>
        <p:spPr>
          <a:xfrm>
            <a:off x="838200" y="1522416"/>
            <a:ext cx="9883082" cy="5112568"/>
          </a:xfrm>
        </p:spPr>
        <p:txBody>
          <a:bodyPr/>
          <a:lstStyle/>
          <a:p>
            <a:r>
              <a:rPr lang="en-US" altLang="zh-CN" dirty="0" smtClean="0"/>
              <a:t>The </a:t>
            </a:r>
            <a:r>
              <a:rPr lang="en-US" altLang="zh-CN" dirty="0"/>
              <a:t>double-word data type is used for double-precision floating point in floating-point programs and for addresses, because the computer uses 64-bit </a:t>
            </a:r>
            <a:r>
              <a:rPr lang="en-US" altLang="zh-CN" dirty="0" smtClean="0"/>
              <a:t>addresses</a:t>
            </a:r>
            <a:endParaRPr lang="en-US" altLang="zh-CN" dirty="0"/>
          </a:p>
          <a:p>
            <a:endParaRPr lang="zh-CN" altLang="en-US" dirty="0"/>
          </a:p>
        </p:txBody>
      </p:sp>
    </p:spTree>
    <p:extLst>
      <p:ext uri="{BB962C8B-B14F-4D97-AF65-F5344CB8AC3E}">
        <p14:creationId xmlns:p14="http://schemas.microsoft.com/office/powerpoint/2010/main" val="3808081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34820" name="Picture 5" descr="Z:\Production\Prodenv\0000000038\0000155678\0000000029\XmlLowres\0003170709\bm30-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16976" y="3038104"/>
            <a:ext cx="6041531" cy="3573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Data reference size </a:t>
            </a:r>
            <a:endParaRPr lang="zh-CN" altLang="en-US" dirty="0"/>
          </a:p>
        </p:txBody>
      </p:sp>
      <p:sp>
        <p:nvSpPr>
          <p:cNvPr id="3" name="内容占位符 2"/>
          <p:cNvSpPr>
            <a:spLocks noGrp="1"/>
          </p:cNvSpPr>
          <p:nvPr>
            <p:ph idx="1"/>
          </p:nvPr>
        </p:nvSpPr>
        <p:spPr/>
        <p:txBody>
          <a:bodyPr/>
          <a:lstStyle/>
          <a:p>
            <a:r>
              <a:rPr lang="en-US" altLang="zh-CN" dirty="0" smtClean="0"/>
              <a:t>From four </a:t>
            </a:r>
            <a:r>
              <a:rPr lang="en-US" altLang="zh-CN" dirty="0"/>
              <a:t>programs from </a:t>
            </a:r>
            <a:r>
              <a:rPr lang="en-US" altLang="zh-CN" dirty="0" smtClean="0"/>
              <a:t>SPEC2000</a:t>
            </a:r>
          </a:p>
          <a:p>
            <a:r>
              <a:rPr lang="en-US" altLang="zh-CN" dirty="0" smtClean="0"/>
              <a:t>Although </a:t>
            </a:r>
            <a:r>
              <a:rPr lang="en-US" altLang="zh-CN" dirty="0"/>
              <a:t>you can calculate an average size, it would be hard to claim the average is typical of programs.</a:t>
            </a:r>
          </a:p>
          <a:p>
            <a:endParaRPr lang="zh-CN" altLang="en-US" dirty="0"/>
          </a:p>
        </p:txBody>
      </p:sp>
    </p:spTree>
    <p:extLst>
      <p:ext uri="{BB962C8B-B14F-4D97-AF65-F5344CB8AC3E}">
        <p14:creationId xmlns:p14="http://schemas.microsoft.com/office/powerpoint/2010/main" val="211909880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Typical Operations </a:t>
            </a:r>
            <a:r>
              <a:rPr lang="en-US" altLang="zh-CN" sz="2800"/>
              <a:t>(little change since 1960)</a:t>
            </a:r>
            <a:endParaRPr lang="en-US" altLang="zh-CN"/>
          </a:p>
        </p:txBody>
      </p:sp>
      <p:sp>
        <p:nvSpPr>
          <p:cNvPr id="2" name="内容占位符 1"/>
          <p:cNvSpPr>
            <a:spLocks noGrp="1"/>
          </p:cNvSpPr>
          <p:nvPr>
            <p:ph idx="1"/>
          </p:nvPr>
        </p:nvSpPr>
        <p:spPr>
          <a:xfrm>
            <a:off x="405636" y="1556792"/>
            <a:ext cx="10948164" cy="5112568"/>
          </a:xfrm>
        </p:spPr>
        <p:txBody>
          <a:bodyPr/>
          <a:lstStyle/>
          <a:p>
            <a:r>
              <a:rPr lang="en-US" altLang="zh-CN" sz="2400" dirty="0" smtClean="0"/>
              <a:t>All </a:t>
            </a:r>
            <a:r>
              <a:rPr lang="en-US" altLang="zh-CN" sz="2400" dirty="0"/>
              <a:t>computers generally provide </a:t>
            </a:r>
            <a:r>
              <a:rPr lang="en-US" altLang="zh-CN" sz="2400" dirty="0" smtClean="0"/>
              <a:t>the </a:t>
            </a:r>
            <a:r>
              <a:rPr lang="en-US" altLang="zh-CN" sz="2400" dirty="0"/>
              <a:t>first three </a:t>
            </a:r>
            <a:r>
              <a:rPr lang="en-US" altLang="zh-CN" sz="2400" dirty="0" smtClean="0"/>
              <a:t>categories</a:t>
            </a:r>
          </a:p>
          <a:p>
            <a:r>
              <a:rPr lang="en-US" altLang="zh-CN" sz="2400" dirty="0" smtClean="0"/>
              <a:t>All </a:t>
            </a:r>
            <a:r>
              <a:rPr lang="en-US" altLang="zh-CN" sz="2400" dirty="0"/>
              <a:t>computers must have </a:t>
            </a:r>
            <a:r>
              <a:rPr lang="en-US" altLang="zh-CN" sz="2400" dirty="0" smtClean="0"/>
              <a:t>more or less support </a:t>
            </a:r>
            <a:r>
              <a:rPr lang="en-US" altLang="zh-CN" sz="2400" dirty="0"/>
              <a:t>for basic system </a:t>
            </a:r>
            <a:r>
              <a:rPr lang="en-US" altLang="zh-CN" sz="2400" dirty="0" smtClean="0"/>
              <a:t>functions </a:t>
            </a:r>
          </a:p>
          <a:p>
            <a:r>
              <a:rPr lang="en-US" altLang="zh-CN" sz="2400" dirty="0" smtClean="0"/>
              <a:t>The </a:t>
            </a:r>
            <a:r>
              <a:rPr lang="en-US" altLang="zh-CN" sz="2400" dirty="0"/>
              <a:t>amount of support </a:t>
            </a:r>
            <a:r>
              <a:rPr lang="en-US" altLang="zh-CN" sz="2400" dirty="0" smtClean="0"/>
              <a:t>for </a:t>
            </a:r>
            <a:r>
              <a:rPr lang="en-US" altLang="zh-CN" sz="2400" dirty="0"/>
              <a:t>the last four </a:t>
            </a:r>
            <a:r>
              <a:rPr lang="en-US" altLang="zh-CN" sz="2400" dirty="0" smtClean="0"/>
              <a:t>categories vary </a:t>
            </a:r>
            <a:r>
              <a:rPr lang="en-US" altLang="zh-CN" sz="2400" dirty="0"/>
              <a:t>from none to </a:t>
            </a:r>
            <a:r>
              <a:rPr lang="en-US" altLang="zh-CN" sz="2400" dirty="0" smtClean="0"/>
              <a:t>many </a:t>
            </a:r>
          </a:p>
          <a:p>
            <a:pPr lvl="1"/>
            <a:r>
              <a:rPr lang="en-US" altLang="zh-CN" sz="2000" dirty="0" smtClean="0"/>
              <a:t>Floating-point </a:t>
            </a:r>
            <a:r>
              <a:rPr lang="en-US" altLang="zh-CN" sz="2000" dirty="0"/>
              <a:t>instructions will be provided in </a:t>
            </a:r>
            <a:r>
              <a:rPr lang="en-US" altLang="zh-CN" sz="2000" dirty="0" smtClean="0"/>
              <a:t>computer used for computation; These </a:t>
            </a:r>
            <a:r>
              <a:rPr lang="en-US" altLang="zh-CN" sz="2000" dirty="0"/>
              <a:t>instructions are sometimes part of an optional instruction </a:t>
            </a:r>
            <a:r>
              <a:rPr lang="en-US" altLang="zh-CN" sz="2000" dirty="0" smtClean="0"/>
              <a:t>set </a:t>
            </a:r>
          </a:p>
          <a:p>
            <a:pPr lvl="1"/>
            <a:r>
              <a:rPr lang="en-US" altLang="zh-CN" sz="2000" dirty="0" smtClean="0"/>
              <a:t>Decimal </a:t>
            </a:r>
            <a:r>
              <a:rPr lang="en-US" altLang="zh-CN" sz="2000" dirty="0"/>
              <a:t>and string instructions are sometimes </a:t>
            </a:r>
            <a:r>
              <a:rPr lang="en-US" altLang="zh-CN" sz="2000" dirty="0" smtClean="0"/>
              <a:t>primitives</a:t>
            </a:r>
            <a:br>
              <a:rPr lang="en-US" altLang="zh-CN" sz="2000" dirty="0" smtClean="0"/>
            </a:br>
            <a:r>
              <a:rPr lang="en-US" altLang="zh-CN" sz="2000" dirty="0" smtClean="0"/>
              <a:t>as </a:t>
            </a:r>
            <a:r>
              <a:rPr lang="en-US" altLang="zh-CN" sz="2000" dirty="0"/>
              <a:t>in the VAX or the IBM </a:t>
            </a:r>
            <a:r>
              <a:rPr lang="en-US" altLang="zh-CN" sz="2000" dirty="0" smtClean="0"/>
              <a:t>360</a:t>
            </a:r>
            <a:br>
              <a:rPr lang="en-US" altLang="zh-CN" sz="2000" dirty="0" smtClean="0"/>
            </a:br>
            <a:r>
              <a:rPr lang="en-US" altLang="zh-CN" sz="2000" dirty="0" smtClean="0"/>
              <a:t>or synthesized </a:t>
            </a:r>
            <a:r>
              <a:rPr lang="en-US" altLang="zh-CN" sz="2000" dirty="0"/>
              <a:t>by the compiler from </a:t>
            </a:r>
            <a:r>
              <a:rPr lang="en-US" altLang="zh-CN" sz="2000" dirty="0" smtClean="0"/>
              <a:t/>
            </a:r>
            <a:br>
              <a:rPr lang="en-US" altLang="zh-CN" sz="2000" dirty="0" smtClean="0"/>
            </a:br>
            <a:r>
              <a:rPr lang="en-US" altLang="zh-CN" sz="2000" dirty="0" smtClean="0"/>
              <a:t>simpler instructions </a:t>
            </a:r>
          </a:p>
          <a:p>
            <a:pPr lvl="1"/>
            <a:r>
              <a:rPr lang="en-US" altLang="zh-CN" sz="2000" dirty="0" smtClean="0"/>
              <a:t>Graphics </a:t>
            </a:r>
            <a:r>
              <a:rPr lang="en-US" altLang="zh-CN" sz="2000" dirty="0"/>
              <a:t>instructions typically </a:t>
            </a:r>
            <a:r>
              <a:rPr lang="en-US" altLang="zh-CN" sz="2000" dirty="0" smtClean="0"/>
              <a:t/>
            </a:r>
            <a:br>
              <a:rPr lang="en-US" altLang="zh-CN" sz="2000" dirty="0" smtClean="0"/>
            </a:br>
            <a:r>
              <a:rPr lang="en-US" altLang="zh-CN" sz="2000" dirty="0" smtClean="0"/>
              <a:t>operate </a:t>
            </a:r>
            <a:r>
              <a:rPr lang="en-US" altLang="zh-CN" sz="2000" dirty="0"/>
              <a:t>on many smaller data items </a:t>
            </a:r>
            <a:r>
              <a:rPr lang="en-US" altLang="zh-CN" sz="2000" dirty="0" smtClean="0"/>
              <a:t/>
            </a:r>
            <a:br>
              <a:rPr lang="en-US" altLang="zh-CN" sz="2000" dirty="0" smtClean="0"/>
            </a:br>
            <a:r>
              <a:rPr lang="en-US" altLang="zh-CN" sz="2000" dirty="0" smtClean="0"/>
              <a:t>in </a:t>
            </a:r>
            <a:r>
              <a:rPr lang="en-US" altLang="zh-CN" sz="2000" dirty="0"/>
              <a:t>parallel—for example, performing </a:t>
            </a:r>
            <a:r>
              <a:rPr lang="en-US" altLang="zh-CN" sz="2000" dirty="0" smtClean="0"/>
              <a:t/>
            </a:r>
            <a:br>
              <a:rPr lang="en-US" altLang="zh-CN" sz="2000" dirty="0" smtClean="0"/>
            </a:br>
            <a:r>
              <a:rPr lang="en-US" altLang="zh-CN" sz="2000" dirty="0" smtClean="0"/>
              <a:t>eight </a:t>
            </a:r>
            <a:r>
              <a:rPr lang="en-US" altLang="zh-CN" sz="2000" dirty="0"/>
              <a:t>8-bit additions on two 64-bit </a:t>
            </a:r>
            <a:r>
              <a:rPr lang="en-US" altLang="zh-CN" sz="2000" dirty="0" smtClean="0"/>
              <a:t/>
            </a:r>
            <a:br>
              <a:rPr lang="en-US" altLang="zh-CN" sz="2000" dirty="0" smtClean="0"/>
            </a:br>
            <a:r>
              <a:rPr lang="en-US" altLang="zh-CN" sz="2000" dirty="0" smtClean="0"/>
              <a:t>operands.</a:t>
            </a:r>
            <a:endParaRPr lang="en-US" altLang="zh-CN" sz="2000" dirty="0"/>
          </a:p>
        </p:txBody>
      </p:sp>
      <p:pic>
        <p:nvPicPr>
          <p:cNvPr id="3" name="图片 2"/>
          <p:cNvPicPr>
            <a:picLocks noChangeAspect="1"/>
          </p:cNvPicPr>
          <p:nvPr/>
        </p:nvPicPr>
        <p:blipFill>
          <a:blip r:embed="rId2"/>
          <a:stretch>
            <a:fillRect/>
          </a:stretch>
        </p:blipFill>
        <p:spPr>
          <a:xfrm>
            <a:off x="5697806" y="3864957"/>
            <a:ext cx="6317923" cy="2993043"/>
          </a:xfrm>
          <a:prstGeom prst="rect">
            <a:avLst/>
          </a:prstGeom>
        </p:spPr>
      </p:pic>
    </p:spTree>
    <p:extLst>
      <p:ext uri="{BB962C8B-B14F-4D97-AF65-F5344CB8AC3E}">
        <p14:creationId xmlns:p14="http://schemas.microsoft.com/office/powerpoint/2010/main" val="65029080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Top 10 80x86 Instructions</a:t>
            </a:r>
          </a:p>
        </p:txBody>
      </p:sp>
      <p:sp>
        <p:nvSpPr>
          <p:cNvPr id="2" name="内容占位符 1"/>
          <p:cNvSpPr>
            <a:spLocks noGrp="1"/>
          </p:cNvSpPr>
          <p:nvPr>
            <p:ph idx="1"/>
          </p:nvPr>
        </p:nvSpPr>
        <p:spPr/>
        <p:txBody>
          <a:bodyPr/>
          <a:lstStyle/>
          <a:p>
            <a:r>
              <a:rPr lang="en-US" altLang="zh-CN" dirty="0" smtClean="0"/>
              <a:t>Simple </a:t>
            </a:r>
            <a:r>
              <a:rPr lang="en-US" altLang="zh-CN" dirty="0"/>
              <a:t>instructions dominate this list and are responsible for 96% of the instructions </a:t>
            </a:r>
            <a:r>
              <a:rPr lang="en-US" altLang="zh-CN" dirty="0" smtClean="0"/>
              <a:t>executed</a:t>
            </a:r>
          </a:p>
          <a:p>
            <a:pPr lvl="1"/>
            <a:r>
              <a:rPr lang="en-US" altLang="zh-CN" dirty="0"/>
              <a:t>T</a:t>
            </a:r>
            <a:r>
              <a:rPr lang="en-US" altLang="zh-CN" dirty="0" smtClean="0"/>
              <a:t>hese </a:t>
            </a:r>
            <a:r>
              <a:rPr lang="en-US" altLang="zh-CN" dirty="0"/>
              <a:t>percentages are the average of the five SPECint92 programs.</a:t>
            </a:r>
            <a:endParaRPr lang="zh-CN" altLang="en-US" dirty="0"/>
          </a:p>
        </p:txBody>
      </p:sp>
      <p:pic>
        <p:nvPicPr>
          <p:cNvPr id="3" name="图片 2"/>
          <p:cNvPicPr>
            <a:picLocks noChangeAspect="1"/>
          </p:cNvPicPr>
          <p:nvPr/>
        </p:nvPicPr>
        <p:blipFill>
          <a:blip r:embed="rId2"/>
          <a:stretch>
            <a:fillRect/>
          </a:stretch>
        </p:blipFill>
        <p:spPr>
          <a:xfrm>
            <a:off x="2466688" y="2914864"/>
            <a:ext cx="6766689" cy="3879460"/>
          </a:xfrm>
          <a:prstGeom prst="rect">
            <a:avLst/>
          </a:prstGeom>
        </p:spPr>
      </p:pic>
    </p:spTree>
    <p:extLst>
      <p:ext uri="{BB962C8B-B14F-4D97-AF65-F5344CB8AC3E}">
        <p14:creationId xmlns:p14="http://schemas.microsoft.com/office/powerpoint/2010/main" val="388598452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4"/>
          <p:cNvSpPr>
            <a:spLocks noGrp="1" noChangeArrowheads="1"/>
          </p:cNvSpPr>
          <p:nvPr>
            <p:ph type="title"/>
          </p:nvPr>
        </p:nvSpPr>
        <p:spPr/>
        <p:txBody>
          <a:bodyPr/>
          <a:lstStyle/>
          <a:p>
            <a:r>
              <a:rPr lang="en-US" altLang="zh-CN"/>
              <a:t>MIPS I  Operation Overview</a:t>
            </a:r>
          </a:p>
        </p:txBody>
      </p:sp>
      <p:sp>
        <p:nvSpPr>
          <p:cNvPr id="38917" name="Rectangle 5"/>
          <p:cNvSpPr>
            <a:spLocks noGrp="1" noChangeArrowheads="1"/>
          </p:cNvSpPr>
          <p:nvPr>
            <p:ph type="body" idx="1"/>
          </p:nvPr>
        </p:nvSpPr>
        <p:spPr/>
        <p:txBody>
          <a:bodyPr/>
          <a:lstStyle/>
          <a:p>
            <a:r>
              <a:rPr lang="en-US" altLang="zh-CN"/>
              <a:t>Arithmetic logical</a:t>
            </a:r>
          </a:p>
          <a:p>
            <a:pPr lvl="1"/>
            <a:r>
              <a:rPr lang="en-US" altLang="zh-CN"/>
              <a:t>	Add,  AddU,  Sub,   SubU, And,  Or,  Xor, Nor, SLT, SLTU</a:t>
            </a:r>
          </a:p>
          <a:p>
            <a:pPr lvl="1"/>
            <a:r>
              <a:rPr lang="en-US" altLang="zh-CN"/>
              <a:t>	AddI, AddIU, SLTI, SLTIU, AndI, OrI, XorI, LUI</a:t>
            </a:r>
          </a:p>
          <a:p>
            <a:pPr lvl="1"/>
            <a:r>
              <a:rPr lang="en-US" altLang="zh-CN"/>
              <a:t>	SLL, SRL, SRA, SLLV, SRLV, SRAV</a:t>
            </a:r>
          </a:p>
          <a:p>
            <a:r>
              <a:rPr lang="en-US" altLang="zh-CN"/>
              <a:t>Memory Access</a:t>
            </a:r>
          </a:p>
          <a:p>
            <a:pPr lvl="1"/>
            <a:r>
              <a:rPr lang="en-US" altLang="zh-CN"/>
              <a:t>	LB, LBU, LH, LHU, LW, LWL,LWR</a:t>
            </a:r>
          </a:p>
          <a:p>
            <a:pPr lvl="1"/>
            <a:r>
              <a:rPr lang="en-US" altLang="zh-CN"/>
              <a:t>	SB, SH, SW, SWL, SWR</a:t>
            </a:r>
          </a:p>
        </p:txBody>
      </p:sp>
    </p:spTree>
    <p:extLst>
      <p:ext uri="{BB962C8B-B14F-4D97-AF65-F5344CB8AC3E}">
        <p14:creationId xmlns:p14="http://schemas.microsoft.com/office/powerpoint/2010/main" val="2713979449"/>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2324100" y="228600"/>
            <a:ext cx="4079643"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Multiply / Divide</a:t>
            </a:r>
          </a:p>
        </p:txBody>
      </p:sp>
      <p:sp>
        <p:nvSpPr>
          <p:cNvPr id="39939" name="Rectangle 3"/>
          <p:cNvSpPr>
            <a:spLocks noGrp="1" noChangeArrowheads="1"/>
          </p:cNvSpPr>
          <p:nvPr>
            <p:ph type="body" idx="1"/>
          </p:nvPr>
        </p:nvSpPr>
        <p:spPr>
          <a:xfrm>
            <a:off x="1028989" y="1556162"/>
            <a:ext cx="8191500" cy="470487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63500" tIns="25400" rIns="63500" bIns="25400" numCol="1" anchor="t" anchorCtr="0" compatLnSpc="1">
            <a:prstTxWarp prst="textNoShape">
              <a:avLst/>
            </a:prstTxWarp>
            <a:spAutoFit/>
          </a:bodyPr>
          <a:lstStyle/>
          <a:p>
            <a:pPr>
              <a:spcBef>
                <a:spcPct val="0"/>
              </a:spcBef>
            </a:pPr>
            <a:r>
              <a:rPr lang="en-US" altLang="zh-CN" dirty="0"/>
              <a:t>Start multiply, divide</a:t>
            </a:r>
          </a:p>
          <a:p>
            <a:pPr lvl="1">
              <a:spcBef>
                <a:spcPct val="0"/>
              </a:spcBef>
            </a:pPr>
            <a:r>
              <a:rPr lang="en-US" altLang="zh-CN" dirty="0"/>
              <a:t>MULT </a:t>
            </a:r>
            <a:r>
              <a:rPr lang="en-US" altLang="zh-CN" dirty="0" err="1"/>
              <a:t>rs</a:t>
            </a:r>
            <a:r>
              <a:rPr lang="en-US" altLang="zh-CN" dirty="0"/>
              <a:t>, </a:t>
            </a:r>
            <a:r>
              <a:rPr lang="en-US" altLang="zh-CN" dirty="0" err="1"/>
              <a:t>rt</a:t>
            </a:r>
            <a:endParaRPr lang="en-US" altLang="zh-CN" dirty="0"/>
          </a:p>
          <a:p>
            <a:pPr lvl="1">
              <a:spcBef>
                <a:spcPct val="0"/>
              </a:spcBef>
            </a:pPr>
            <a:r>
              <a:rPr lang="en-US" altLang="zh-CN" dirty="0"/>
              <a:t>MULTU </a:t>
            </a:r>
            <a:r>
              <a:rPr lang="en-US" altLang="zh-CN" dirty="0" err="1"/>
              <a:t>rs</a:t>
            </a:r>
            <a:r>
              <a:rPr lang="en-US" altLang="zh-CN" dirty="0"/>
              <a:t>, </a:t>
            </a:r>
            <a:r>
              <a:rPr lang="en-US" altLang="zh-CN" dirty="0" err="1"/>
              <a:t>rt</a:t>
            </a:r>
            <a:endParaRPr lang="en-US" altLang="zh-CN" dirty="0"/>
          </a:p>
          <a:p>
            <a:pPr lvl="1">
              <a:spcBef>
                <a:spcPct val="0"/>
              </a:spcBef>
            </a:pPr>
            <a:r>
              <a:rPr lang="en-US" altLang="zh-CN" dirty="0"/>
              <a:t>DIV </a:t>
            </a:r>
            <a:r>
              <a:rPr lang="en-US" altLang="zh-CN" dirty="0" err="1"/>
              <a:t>rs</a:t>
            </a:r>
            <a:r>
              <a:rPr lang="en-US" altLang="zh-CN" dirty="0"/>
              <a:t>, </a:t>
            </a:r>
            <a:r>
              <a:rPr lang="en-US" altLang="zh-CN" dirty="0" err="1"/>
              <a:t>rt</a:t>
            </a:r>
            <a:endParaRPr lang="en-US" altLang="zh-CN" dirty="0"/>
          </a:p>
          <a:p>
            <a:pPr lvl="1">
              <a:spcBef>
                <a:spcPct val="0"/>
              </a:spcBef>
            </a:pPr>
            <a:r>
              <a:rPr lang="en-US" altLang="zh-CN" dirty="0"/>
              <a:t>DIVU </a:t>
            </a:r>
            <a:r>
              <a:rPr lang="en-US" altLang="zh-CN" dirty="0" err="1"/>
              <a:t>rs</a:t>
            </a:r>
            <a:r>
              <a:rPr lang="en-US" altLang="zh-CN" dirty="0"/>
              <a:t>, </a:t>
            </a:r>
            <a:r>
              <a:rPr lang="en-US" altLang="zh-CN" dirty="0" err="1"/>
              <a:t>rt</a:t>
            </a:r>
            <a:endParaRPr lang="en-US" altLang="zh-CN" dirty="0"/>
          </a:p>
          <a:p>
            <a:pPr>
              <a:spcBef>
                <a:spcPct val="0"/>
              </a:spcBef>
            </a:pPr>
            <a:r>
              <a:rPr lang="en-US" altLang="zh-CN" dirty="0"/>
              <a:t>MFHI </a:t>
            </a:r>
            <a:r>
              <a:rPr lang="en-US" altLang="zh-CN" dirty="0" err="1"/>
              <a:t>rd</a:t>
            </a:r>
            <a:endParaRPr lang="en-US" altLang="zh-CN" dirty="0"/>
          </a:p>
          <a:p>
            <a:pPr lvl="1">
              <a:spcBef>
                <a:spcPct val="0"/>
              </a:spcBef>
            </a:pPr>
            <a:r>
              <a:rPr lang="en-US" altLang="zh-CN" dirty="0"/>
              <a:t>MFLO </a:t>
            </a:r>
            <a:r>
              <a:rPr lang="en-US" altLang="zh-CN" dirty="0" err="1"/>
              <a:t>rd</a:t>
            </a:r>
            <a:endParaRPr lang="en-US" altLang="zh-CN" dirty="0"/>
          </a:p>
          <a:p>
            <a:pPr>
              <a:spcBef>
                <a:spcPct val="0"/>
              </a:spcBef>
            </a:pPr>
            <a:r>
              <a:rPr lang="en-US" altLang="zh-CN" dirty="0"/>
              <a:t>Move to HI or LO</a:t>
            </a:r>
          </a:p>
          <a:p>
            <a:pPr lvl="1">
              <a:spcBef>
                <a:spcPct val="0"/>
              </a:spcBef>
            </a:pPr>
            <a:r>
              <a:rPr lang="en-US" altLang="zh-CN" dirty="0"/>
              <a:t>MTHI  </a:t>
            </a:r>
            <a:r>
              <a:rPr lang="en-US" altLang="zh-CN" dirty="0" err="1"/>
              <a:t>rd</a:t>
            </a:r>
            <a:endParaRPr lang="en-US" altLang="zh-CN" dirty="0"/>
          </a:p>
          <a:p>
            <a:pPr lvl="1">
              <a:spcBef>
                <a:spcPct val="0"/>
              </a:spcBef>
            </a:pPr>
            <a:r>
              <a:rPr lang="en-US" altLang="zh-CN" dirty="0"/>
              <a:t>MTLO </a:t>
            </a:r>
            <a:r>
              <a:rPr lang="en-US" altLang="zh-CN" dirty="0" err="1"/>
              <a:t>rd</a:t>
            </a:r>
            <a:endParaRPr lang="en-US" altLang="zh-CN" dirty="0"/>
          </a:p>
          <a:p>
            <a:pPr>
              <a:spcBef>
                <a:spcPct val="0"/>
              </a:spcBef>
            </a:pPr>
            <a:r>
              <a:rPr lang="en-US" altLang="zh-CN" dirty="0">
                <a:solidFill>
                  <a:schemeClr val="accent1"/>
                </a:solidFill>
              </a:rPr>
              <a:t>Why not Third field for destination? </a:t>
            </a:r>
            <a:br>
              <a:rPr lang="en-US" altLang="zh-CN" dirty="0">
                <a:solidFill>
                  <a:schemeClr val="accent1"/>
                </a:solidFill>
              </a:rPr>
            </a:br>
            <a:r>
              <a:rPr lang="en-US" altLang="zh-CN" dirty="0">
                <a:solidFill>
                  <a:schemeClr val="accent1"/>
                </a:solidFill>
              </a:rPr>
              <a:t>(Hint: how many clock cycles for multiply or divide vs. add?)</a:t>
            </a:r>
          </a:p>
        </p:txBody>
      </p:sp>
      <p:sp>
        <p:nvSpPr>
          <p:cNvPr id="39940" name="Rectangle 4"/>
          <p:cNvSpPr>
            <a:spLocks noChangeArrowheads="1"/>
          </p:cNvSpPr>
          <p:nvPr/>
        </p:nvSpPr>
        <p:spPr bwMode="auto">
          <a:xfrm>
            <a:off x="9528464" y="2244107"/>
            <a:ext cx="1117600" cy="1041400"/>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1" name="Freeform 5"/>
          <p:cNvSpPr>
            <a:spLocks/>
          </p:cNvSpPr>
          <p:nvPr/>
        </p:nvSpPr>
        <p:spPr bwMode="auto">
          <a:xfrm>
            <a:off x="9515764" y="3603007"/>
            <a:ext cx="1220788" cy="611188"/>
          </a:xfrm>
          <a:custGeom>
            <a:avLst/>
            <a:gdLst>
              <a:gd name="T0" fmla="*/ 0 w 769"/>
              <a:gd name="T1" fmla="*/ 0 h 385"/>
              <a:gd name="T2" fmla="*/ 288 w 769"/>
              <a:gd name="T3" fmla="*/ 0 h 385"/>
              <a:gd name="T4" fmla="*/ 384 w 769"/>
              <a:gd name="T5" fmla="*/ 144 h 385"/>
              <a:gd name="T6" fmla="*/ 432 w 769"/>
              <a:gd name="T7" fmla="*/ 0 h 385"/>
              <a:gd name="T8" fmla="*/ 768 w 769"/>
              <a:gd name="T9" fmla="*/ 0 h 385"/>
              <a:gd name="T10" fmla="*/ 624 w 769"/>
              <a:gd name="T11" fmla="*/ 384 h 385"/>
              <a:gd name="T12" fmla="*/ 144 w 769"/>
              <a:gd name="T13" fmla="*/ 384 h 385"/>
              <a:gd name="T14" fmla="*/ 0 w 769"/>
              <a:gd name="T15" fmla="*/ 0 h 3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9" h="385">
                <a:moveTo>
                  <a:pt x="0" y="0"/>
                </a:moveTo>
                <a:lnTo>
                  <a:pt x="288" y="0"/>
                </a:lnTo>
                <a:lnTo>
                  <a:pt x="384" y="144"/>
                </a:lnTo>
                <a:lnTo>
                  <a:pt x="432" y="0"/>
                </a:lnTo>
                <a:lnTo>
                  <a:pt x="768" y="0"/>
                </a:lnTo>
                <a:lnTo>
                  <a:pt x="624" y="384"/>
                </a:lnTo>
                <a:lnTo>
                  <a:pt x="144" y="384"/>
                </a:lnTo>
                <a:lnTo>
                  <a:pt x="0" y="0"/>
                </a:lnTo>
              </a:path>
            </a:pathLst>
          </a:custGeom>
          <a:noFill/>
          <a:ln w="254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42" name="Line 6"/>
          <p:cNvSpPr>
            <a:spLocks noChangeShapeType="1"/>
          </p:cNvSpPr>
          <p:nvPr/>
        </p:nvSpPr>
        <p:spPr bwMode="auto">
          <a:xfrm>
            <a:off x="9674514" y="3310907"/>
            <a:ext cx="0" cy="27940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3" name="Arc 7"/>
          <p:cNvSpPr>
            <a:spLocks/>
          </p:cNvSpPr>
          <p:nvPr/>
        </p:nvSpPr>
        <p:spPr bwMode="auto">
          <a:xfrm>
            <a:off x="9625302" y="3414095"/>
            <a:ext cx="100012" cy="184150"/>
          </a:xfrm>
          <a:custGeom>
            <a:avLst/>
            <a:gdLst>
              <a:gd name="G0" fmla="+- 5934 0 0"/>
              <a:gd name="G1" fmla="+- 21600 0 0"/>
              <a:gd name="G2" fmla="+- 21600 0 0"/>
              <a:gd name="T0" fmla="*/ 0 w 11696"/>
              <a:gd name="T1" fmla="*/ 831 h 21600"/>
              <a:gd name="T2" fmla="*/ 11696 w 11696"/>
              <a:gd name="T3" fmla="*/ 783 h 21600"/>
              <a:gd name="T4" fmla="*/ 5934 w 11696"/>
              <a:gd name="T5" fmla="*/ 21600 h 21600"/>
            </a:gdLst>
            <a:ahLst/>
            <a:cxnLst>
              <a:cxn ang="0">
                <a:pos x="T0" y="T1"/>
              </a:cxn>
              <a:cxn ang="0">
                <a:pos x="T2" y="T3"/>
              </a:cxn>
              <a:cxn ang="0">
                <a:pos x="T4" y="T5"/>
              </a:cxn>
            </a:cxnLst>
            <a:rect l="0" t="0" r="r" b="b"/>
            <a:pathLst>
              <a:path w="11696" h="21600" fill="none" extrusionOk="0">
                <a:moveTo>
                  <a:pt x="0" y="831"/>
                </a:moveTo>
                <a:cubicBezTo>
                  <a:pt x="1929" y="279"/>
                  <a:pt x="3927" y="0"/>
                  <a:pt x="5934" y="0"/>
                </a:cubicBezTo>
                <a:cubicBezTo>
                  <a:pt x="7881" y="0"/>
                  <a:pt x="9819" y="263"/>
                  <a:pt x="11696" y="782"/>
                </a:cubicBezTo>
              </a:path>
              <a:path w="11696" h="21600" stroke="0" extrusionOk="0">
                <a:moveTo>
                  <a:pt x="0" y="831"/>
                </a:moveTo>
                <a:cubicBezTo>
                  <a:pt x="1929" y="279"/>
                  <a:pt x="3927" y="0"/>
                  <a:pt x="5934" y="0"/>
                </a:cubicBezTo>
                <a:cubicBezTo>
                  <a:pt x="7881" y="0"/>
                  <a:pt x="9819" y="263"/>
                  <a:pt x="11696" y="782"/>
                </a:cubicBezTo>
                <a:lnTo>
                  <a:pt x="5934" y="21600"/>
                </a:lnTo>
                <a:close/>
              </a:path>
            </a:pathLst>
          </a:custGeom>
          <a:solidFill>
            <a:srgbClr val="000000"/>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4" name="Line 8"/>
          <p:cNvSpPr>
            <a:spLocks noChangeShapeType="1"/>
          </p:cNvSpPr>
          <p:nvPr/>
        </p:nvSpPr>
        <p:spPr bwMode="auto">
          <a:xfrm>
            <a:off x="10436514" y="3310907"/>
            <a:ext cx="0" cy="27940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5" name="Arc 9"/>
          <p:cNvSpPr>
            <a:spLocks/>
          </p:cNvSpPr>
          <p:nvPr/>
        </p:nvSpPr>
        <p:spPr bwMode="auto">
          <a:xfrm>
            <a:off x="10387302" y="3414095"/>
            <a:ext cx="100012" cy="184150"/>
          </a:xfrm>
          <a:custGeom>
            <a:avLst/>
            <a:gdLst>
              <a:gd name="G0" fmla="+- 5934 0 0"/>
              <a:gd name="G1" fmla="+- 21600 0 0"/>
              <a:gd name="G2" fmla="+- 21600 0 0"/>
              <a:gd name="T0" fmla="*/ 0 w 11696"/>
              <a:gd name="T1" fmla="*/ 831 h 21600"/>
              <a:gd name="T2" fmla="*/ 11696 w 11696"/>
              <a:gd name="T3" fmla="*/ 783 h 21600"/>
              <a:gd name="T4" fmla="*/ 5934 w 11696"/>
              <a:gd name="T5" fmla="*/ 21600 h 21600"/>
            </a:gdLst>
            <a:ahLst/>
            <a:cxnLst>
              <a:cxn ang="0">
                <a:pos x="T0" y="T1"/>
              </a:cxn>
              <a:cxn ang="0">
                <a:pos x="T2" y="T3"/>
              </a:cxn>
              <a:cxn ang="0">
                <a:pos x="T4" y="T5"/>
              </a:cxn>
            </a:cxnLst>
            <a:rect l="0" t="0" r="r" b="b"/>
            <a:pathLst>
              <a:path w="11696" h="21600" fill="none" extrusionOk="0">
                <a:moveTo>
                  <a:pt x="0" y="831"/>
                </a:moveTo>
                <a:cubicBezTo>
                  <a:pt x="1929" y="279"/>
                  <a:pt x="3927" y="0"/>
                  <a:pt x="5934" y="0"/>
                </a:cubicBezTo>
                <a:cubicBezTo>
                  <a:pt x="7881" y="0"/>
                  <a:pt x="9819" y="263"/>
                  <a:pt x="11696" y="782"/>
                </a:cubicBezTo>
              </a:path>
              <a:path w="11696" h="21600" stroke="0" extrusionOk="0">
                <a:moveTo>
                  <a:pt x="0" y="831"/>
                </a:moveTo>
                <a:cubicBezTo>
                  <a:pt x="1929" y="279"/>
                  <a:pt x="3927" y="0"/>
                  <a:pt x="5934" y="0"/>
                </a:cubicBezTo>
                <a:cubicBezTo>
                  <a:pt x="7881" y="0"/>
                  <a:pt x="9819" y="263"/>
                  <a:pt x="11696" y="782"/>
                </a:cubicBezTo>
                <a:lnTo>
                  <a:pt x="5934" y="21600"/>
                </a:lnTo>
                <a:close/>
              </a:path>
            </a:pathLst>
          </a:custGeom>
          <a:solidFill>
            <a:srgbClr val="000000"/>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6" name="Rectangle 10"/>
          <p:cNvSpPr>
            <a:spLocks noChangeArrowheads="1"/>
          </p:cNvSpPr>
          <p:nvPr/>
        </p:nvSpPr>
        <p:spPr bwMode="auto">
          <a:xfrm>
            <a:off x="9507828" y="2367933"/>
            <a:ext cx="123431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solidFill>
                  <a:srgbClr val="000000"/>
                </a:solidFill>
                <a:latin typeface="Arial" panose="020B0604020202020204" pitchFamily="34" charset="0"/>
              </a:rPr>
              <a:t>Registers</a:t>
            </a:r>
          </a:p>
        </p:txBody>
      </p:sp>
      <p:sp>
        <p:nvSpPr>
          <p:cNvPr id="39947" name="Rectangle 11"/>
          <p:cNvSpPr>
            <a:spLocks noChangeArrowheads="1"/>
          </p:cNvSpPr>
          <p:nvPr/>
        </p:nvSpPr>
        <p:spPr bwMode="auto">
          <a:xfrm>
            <a:off x="9452264" y="4530106"/>
            <a:ext cx="736600" cy="338193"/>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8" name="Rectangle 12"/>
          <p:cNvSpPr>
            <a:spLocks noChangeArrowheads="1"/>
          </p:cNvSpPr>
          <p:nvPr/>
        </p:nvSpPr>
        <p:spPr bwMode="auto">
          <a:xfrm>
            <a:off x="10214264" y="4530106"/>
            <a:ext cx="736600" cy="338194"/>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9" name="Line 13"/>
          <p:cNvSpPr>
            <a:spLocks noChangeShapeType="1"/>
          </p:cNvSpPr>
          <p:nvPr/>
        </p:nvSpPr>
        <p:spPr bwMode="auto">
          <a:xfrm>
            <a:off x="9979314" y="4225307"/>
            <a:ext cx="0" cy="27940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0" name="Arc 14"/>
          <p:cNvSpPr>
            <a:spLocks/>
          </p:cNvSpPr>
          <p:nvPr/>
        </p:nvSpPr>
        <p:spPr bwMode="auto">
          <a:xfrm>
            <a:off x="9930102" y="4328495"/>
            <a:ext cx="100012" cy="184150"/>
          </a:xfrm>
          <a:custGeom>
            <a:avLst/>
            <a:gdLst>
              <a:gd name="G0" fmla="+- 5934 0 0"/>
              <a:gd name="G1" fmla="+- 21600 0 0"/>
              <a:gd name="G2" fmla="+- 21600 0 0"/>
              <a:gd name="T0" fmla="*/ 0 w 11696"/>
              <a:gd name="T1" fmla="*/ 831 h 21600"/>
              <a:gd name="T2" fmla="*/ 11696 w 11696"/>
              <a:gd name="T3" fmla="*/ 783 h 21600"/>
              <a:gd name="T4" fmla="*/ 5934 w 11696"/>
              <a:gd name="T5" fmla="*/ 21600 h 21600"/>
            </a:gdLst>
            <a:ahLst/>
            <a:cxnLst>
              <a:cxn ang="0">
                <a:pos x="T0" y="T1"/>
              </a:cxn>
              <a:cxn ang="0">
                <a:pos x="T2" y="T3"/>
              </a:cxn>
              <a:cxn ang="0">
                <a:pos x="T4" y="T5"/>
              </a:cxn>
            </a:cxnLst>
            <a:rect l="0" t="0" r="r" b="b"/>
            <a:pathLst>
              <a:path w="11696" h="21600" fill="none" extrusionOk="0">
                <a:moveTo>
                  <a:pt x="0" y="831"/>
                </a:moveTo>
                <a:cubicBezTo>
                  <a:pt x="1929" y="279"/>
                  <a:pt x="3927" y="0"/>
                  <a:pt x="5934" y="0"/>
                </a:cubicBezTo>
                <a:cubicBezTo>
                  <a:pt x="7881" y="0"/>
                  <a:pt x="9819" y="263"/>
                  <a:pt x="11696" y="782"/>
                </a:cubicBezTo>
              </a:path>
              <a:path w="11696" h="21600" stroke="0" extrusionOk="0">
                <a:moveTo>
                  <a:pt x="0" y="831"/>
                </a:moveTo>
                <a:cubicBezTo>
                  <a:pt x="1929" y="279"/>
                  <a:pt x="3927" y="0"/>
                  <a:pt x="5934" y="0"/>
                </a:cubicBezTo>
                <a:cubicBezTo>
                  <a:pt x="7881" y="0"/>
                  <a:pt x="9819" y="263"/>
                  <a:pt x="11696" y="782"/>
                </a:cubicBezTo>
                <a:lnTo>
                  <a:pt x="5934" y="21600"/>
                </a:lnTo>
                <a:close/>
              </a:path>
            </a:pathLst>
          </a:custGeom>
          <a:solidFill>
            <a:srgbClr val="000000"/>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1" name="Line 15"/>
          <p:cNvSpPr>
            <a:spLocks noChangeShapeType="1"/>
          </p:cNvSpPr>
          <p:nvPr/>
        </p:nvSpPr>
        <p:spPr bwMode="auto">
          <a:xfrm>
            <a:off x="10360314" y="4225307"/>
            <a:ext cx="0" cy="27940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2" name="Arc 16"/>
          <p:cNvSpPr>
            <a:spLocks/>
          </p:cNvSpPr>
          <p:nvPr/>
        </p:nvSpPr>
        <p:spPr bwMode="auto">
          <a:xfrm>
            <a:off x="10311102" y="4328495"/>
            <a:ext cx="100012" cy="184150"/>
          </a:xfrm>
          <a:custGeom>
            <a:avLst/>
            <a:gdLst>
              <a:gd name="G0" fmla="+- 5934 0 0"/>
              <a:gd name="G1" fmla="+- 21600 0 0"/>
              <a:gd name="G2" fmla="+- 21600 0 0"/>
              <a:gd name="T0" fmla="*/ 0 w 11696"/>
              <a:gd name="T1" fmla="*/ 831 h 21600"/>
              <a:gd name="T2" fmla="*/ 11696 w 11696"/>
              <a:gd name="T3" fmla="*/ 783 h 21600"/>
              <a:gd name="T4" fmla="*/ 5934 w 11696"/>
              <a:gd name="T5" fmla="*/ 21600 h 21600"/>
            </a:gdLst>
            <a:ahLst/>
            <a:cxnLst>
              <a:cxn ang="0">
                <a:pos x="T0" y="T1"/>
              </a:cxn>
              <a:cxn ang="0">
                <a:pos x="T2" y="T3"/>
              </a:cxn>
              <a:cxn ang="0">
                <a:pos x="T4" y="T5"/>
              </a:cxn>
            </a:cxnLst>
            <a:rect l="0" t="0" r="r" b="b"/>
            <a:pathLst>
              <a:path w="11696" h="21600" fill="none" extrusionOk="0">
                <a:moveTo>
                  <a:pt x="0" y="831"/>
                </a:moveTo>
                <a:cubicBezTo>
                  <a:pt x="1929" y="279"/>
                  <a:pt x="3927" y="0"/>
                  <a:pt x="5934" y="0"/>
                </a:cubicBezTo>
                <a:cubicBezTo>
                  <a:pt x="7881" y="0"/>
                  <a:pt x="9819" y="263"/>
                  <a:pt x="11696" y="782"/>
                </a:cubicBezTo>
              </a:path>
              <a:path w="11696" h="21600" stroke="0" extrusionOk="0">
                <a:moveTo>
                  <a:pt x="0" y="831"/>
                </a:moveTo>
                <a:cubicBezTo>
                  <a:pt x="1929" y="279"/>
                  <a:pt x="3927" y="0"/>
                  <a:pt x="5934" y="0"/>
                </a:cubicBezTo>
                <a:cubicBezTo>
                  <a:pt x="7881" y="0"/>
                  <a:pt x="9819" y="263"/>
                  <a:pt x="11696" y="782"/>
                </a:cubicBezTo>
                <a:lnTo>
                  <a:pt x="5934" y="21600"/>
                </a:lnTo>
                <a:close/>
              </a:path>
            </a:pathLst>
          </a:custGeom>
          <a:solidFill>
            <a:srgbClr val="000000"/>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3" name="Rectangle 17"/>
          <p:cNvSpPr>
            <a:spLocks noChangeArrowheads="1"/>
          </p:cNvSpPr>
          <p:nvPr/>
        </p:nvSpPr>
        <p:spPr bwMode="auto">
          <a:xfrm>
            <a:off x="9584027" y="4501533"/>
            <a:ext cx="41357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dirty="0">
                <a:solidFill>
                  <a:srgbClr val="000000"/>
                </a:solidFill>
                <a:latin typeface="Arial" panose="020B0604020202020204" pitchFamily="34" charset="0"/>
              </a:rPr>
              <a:t>HI</a:t>
            </a:r>
          </a:p>
        </p:txBody>
      </p:sp>
      <p:sp>
        <p:nvSpPr>
          <p:cNvPr id="39954" name="Rectangle 18"/>
          <p:cNvSpPr>
            <a:spLocks noChangeArrowheads="1"/>
          </p:cNvSpPr>
          <p:nvPr/>
        </p:nvSpPr>
        <p:spPr bwMode="auto">
          <a:xfrm>
            <a:off x="10360314" y="4508137"/>
            <a:ext cx="50334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dirty="0">
                <a:solidFill>
                  <a:srgbClr val="000000"/>
                </a:solidFill>
                <a:latin typeface="Arial" panose="020B0604020202020204" pitchFamily="34" charset="0"/>
              </a:rPr>
              <a:t>LO</a:t>
            </a:r>
          </a:p>
        </p:txBody>
      </p:sp>
      <p:sp>
        <p:nvSpPr>
          <p:cNvPr id="39955" name="Line 19"/>
          <p:cNvSpPr>
            <a:spLocks noChangeShapeType="1"/>
          </p:cNvSpPr>
          <p:nvPr/>
        </p:nvSpPr>
        <p:spPr bwMode="auto">
          <a:xfrm flipH="1">
            <a:off x="10587036" y="4856387"/>
            <a:ext cx="6844" cy="42778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6" name="Freeform 20"/>
          <p:cNvSpPr>
            <a:spLocks/>
          </p:cNvSpPr>
          <p:nvPr/>
        </p:nvSpPr>
        <p:spPr bwMode="auto">
          <a:xfrm>
            <a:off x="9972964" y="1926607"/>
            <a:ext cx="1220788" cy="3340099"/>
          </a:xfrm>
          <a:custGeom>
            <a:avLst/>
            <a:gdLst>
              <a:gd name="T0" fmla="*/ 0 w 769"/>
              <a:gd name="T1" fmla="*/ 1776 h 2017"/>
              <a:gd name="T2" fmla="*/ 0 w 769"/>
              <a:gd name="T3" fmla="*/ 2016 h 2017"/>
              <a:gd name="T4" fmla="*/ 768 w 769"/>
              <a:gd name="T5" fmla="*/ 2016 h 2017"/>
              <a:gd name="T6" fmla="*/ 768 w 769"/>
              <a:gd name="T7" fmla="*/ 0 h 2017"/>
              <a:gd name="T8" fmla="*/ 48 w 769"/>
              <a:gd name="T9" fmla="*/ 0 h 2017"/>
              <a:gd name="T10" fmla="*/ 48 w 769"/>
              <a:gd name="T11" fmla="*/ 192 h 2017"/>
            </a:gdLst>
            <a:ahLst/>
            <a:cxnLst>
              <a:cxn ang="0">
                <a:pos x="T0" y="T1"/>
              </a:cxn>
              <a:cxn ang="0">
                <a:pos x="T2" y="T3"/>
              </a:cxn>
              <a:cxn ang="0">
                <a:pos x="T4" y="T5"/>
              </a:cxn>
              <a:cxn ang="0">
                <a:pos x="T6" y="T7"/>
              </a:cxn>
              <a:cxn ang="0">
                <a:pos x="T8" y="T9"/>
              </a:cxn>
              <a:cxn ang="0">
                <a:pos x="T10" y="T11"/>
              </a:cxn>
            </a:cxnLst>
            <a:rect l="0" t="0" r="r" b="b"/>
            <a:pathLst>
              <a:path w="769" h="2017">
                <a:moveTo>
                  <a:pt x="0" y="1776"/>
                </a:moveTo>
                <a:lnTo>
                  <a:pt x="0" y="2016"/>
                </a:lnTo>
                <a:lnTo>
                  <a:pt x="768" y="2016"/>
                </a:lnTo>
                <a:lnTo>
                  <a:pt x="768" y="0"/>
                </a:lnTo>
                <a:lnTo>
                  <a:pt x="48" y="0"/>
                </a:lnTo>
                <a:lnTo>
                  <a:pt x="48" y="192"/>
                </a:lnTo>
              </a:path>
            </a:pathLst>
          </a:custGeom>
          <a:noFill/>
          <a:ln w="254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57" name="Arc 21"/>
          <p:cNvSpPr>
            <a:spLocks/>
          </p:cNvSpPr>
          <p:nvPr/>
        </p:nvSpPr>
        <p:spPr bwMode="auto">
          <a:xfrm>
            <a:off x="10006302" y="2042495"/>
            <a:ext cx="100012" cy="184150"/>
          </a:xfrm>
          <a:custGeom>
            <a:avLst/>
            <a:gdLst>
              <a:gd name="G0" fmla="+- 5934 0 0"/>
              <a:gd name="G1" fmla="+- 21600 0 0"/>
              <a:gd name="G2" fmla="+- 21600 0 0"/>
              <a:gd name="T0" fmla="*/ 0 w 11696"/>
              <a:gd name="T1" fmla="*/ 831 h 21600"/>
              <a:gd name="T2" fmla="*/ 11696 w 11696"/>
              <a:gd name="T3" fmla="*/ 783 h 21600"/>
              <a:gd name="T4" fmla="*/ 5934 w 11696"/>
              <a:gd name="T5" fmla="*/ 21600 h 21600"/>
            </a:gdLst>
            <a:ahLst/>
            <a:cxnLst>
              <a:cxn ang="0">
                <a:pos x="T0" y="T1"/>
              </a:cxn>
              <a:cxn ang="0">
                <a:pos x="T2" y="T3"/>
              </a:cxn>
              <a:cxn ang="0">
                <a:pos x="T4" y="T5"/>
              </a:cxn>
            </a:cxnLst>
            <a:rect l="0" t="0" r="r" b="b"/>
            <a:pathLst>
              <a:path w="11696" h="21600" fill="none" extrusionOk="0">
                <a:moveTo>
                  <a:pt x="0" y="831"/>
                </a:moveTo>
                <a:cubicBezTo>
                  <a:pt x="1929" y="279"/>
                  <a:pt x="3927" y="0"/>
                  <a:pt x="5934" y="0"/>
                </a:cubicBezTo>
                <a:cubicBezTo>
                  <a:pt x="7881" y="0"/>
                  <a:pt x="9819" y="263"/>
                  <a:pt x="11696" y="782"/>
                </a:cubicBezTo>
              </a:path>
              <a:path w="11696" h="21600" stroke="0" extrusionOk="0">
                <a:moveTo>
                  <a:pt x="0" y="831"/>
                </a:moveTo>
                <a:cubicBezTo>
                  <a:pt x="1929" y="279"/>
                  <a:pt x="3927" y="0"/>
                  <a:pt x="5934" y="0"/>
                </a:cubicBezTo>
                <a:cubicBezTo>
                  <a:pt x="7881" y="0"/>
                  <a:pt x="9819" y="263"/>
                  <a:pt x="11696" y="782"/>
                </a:cubicBezTo>
                <a:lnTo>
                  <a:pt x="5934" y="21600"/>
                </a:lnTo>
                <a:close/>
              </a:path>
            </a:pathLst>
          </a:custGeom>
          <a:solidFill>
            <a:srgbClr val="000000"/>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2" name="文本框 1"/>
              <p:cNvSpPr txBox="1"/>
              <p:nvPr/>
            </p:nvSpPr>
            <p:spPr>
              <a:xfrm>
                <a:off x="9820564" y="3784482"/>
                <a:ext cx="68961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m:t>
                      </m:r>
                    </m:oMath>
                  </m:oMathPara>
                </a14:m>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9820564" y="3784482"/>
                <a:ext cx="689612" cy="369332"/>
              </a:xfrm>
              <a:prstGeom prst="rect">
                <a:avLst/>
              </a:prstGeom>
              <a:blipFill>
                <a:blip r:embed="rId2"/>
                <a:stretch>
                  <a:fillRect b="-13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41879281"/>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2">
                <a:moveTo>
                  <a:pt x="0" y="0"/>
                </a:moveTo>
                <a:lnTo>
                  <a:pt x="101" y="0"/>
                </a:lnTo>
                <a:lnTo>
                  <a:pt x="101" y="101"/>
                </a:lnTo>
                <a:lnTo>
                  <a:pt x="0" y="101"/>
                </a:lnTo>
                <a:lnTo>
                  <a:pt x="0" y="0"/>
                </a:lnTo>
              </a:path>
            </a:pathLst>
          </a:custGeom>
          <a:solidFill>
            <a:srgbClr val="FFFFFF"/>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8196" name="Picture 2" descr="Z:\WOMAT\Production\Artfinal\0000000038\MKCAD\978-0-12-811905-1\0003165540\XMLLowres\f01-05-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63887" y="1591933"/>
            <a:ext cx="4389913" cy="5266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Subset of the instructions in RISC-V</a:t>
            </a:r>
            <a:endParaRPr lang="zh-CN" altLang="en-US" dirty="0"/>
          </a:p>
        </p:txBody>
      </p:sp>
      <p:sp>
        <p:nvSpPr>
          <p:cNvPr id="3" name="内容占位符 2"/>
          <p:cNvSpPr>
            <a:spLocks noGrp="1"/>
          </p:cNvSpPr>
          <p:nvPr>
            <p:ph idx="1"/>
          </p:nvPr>
        </p:nvSpPr>
        <p:spPr>
          <a:xfrm>
            <a:off x="838200" y="1556792"/>
            <a:ext cx="6257306" cy="5112568"/>
          </a:xfrm>
        </p:spPr>
        <p:txBody>
          <a:bodyPr/>
          <a:lstStyle/>
          <a:p>
            <a:r>
              <a:rPr lang="en-US" altLang="zh-CN" dirty="0" smtClean="0"/>
              <a:t>RISC-V </a:t>
            </a:r>
            <a:r>
              <a:rPr lang="en-US" altLang="zh-CN" dirty="0"/>
              <a:t>has a base set of instructions (R64I) and offers optional </a:t>
            </a:r>
            <a:r>
              <a:rPr lang="en-US" altLang="zh-CN" dirty="0" smtClean="0"/>
              <a:t>extensions</a:t>
            </a:r>
          </a:p>
          <a:p>
            <a:pPr lvl="1"/>
            <a:r>
              <a:rPr lang="en-US" altLang="zh-CN" dirty="0"/>
              <a:t>M</a:t>
            </a:r>
            <a:r>
              <a:rPr lang="en-US" altLang="zh-CN" dirty="0" smtClean="0"/>
              <a:t>ultiply-divide </a:t>
            </a:r>
            <a:r>
              <a:rPr lang="en-US" altLang="zh-CN" dirty="0"/>
              <a:t>(</a:t>
            </a:r>
            <a:r>
              <a:rPr lang="en-US" altLang="zh-CN" dirty="0" smtClean="0"/>
              <a:t>RVM)</a:t>
            </a:r>
          </a:p>
          <a:p>
            <a:pPr lvl="1"/>
            <a:r>
              <a:rPr lang="en-US" altLang="zh-CN" dirty="0"/>
              <a:t>S</a:t>
            </a:r>
            <a:r>
              <a:rPr lang="en-US" altLang="zh-CN" dirty="0" smtClean="0"/>
              <a:t>ingle-precision </a:t>
            </a:r>
            <a:r>
              <a:rPr lang="en-US" altLang="zh-CN" dirty="0"/>
              <a:t>floating point (</a:t>
            </a:r>
            <a:r>
              <a:rPr lang="en-US" altLang="zh-CN" dirty="0" smtClean="0"/>
              <a:t>RVF)</a:t>
            </a:r>
          </a:p>
          <a:p>
            <a:pPr lvl="1"/>
            <a:r>
              <a:rPr lang="en-US" altLang="zh-CN" dirty="0"/>
              <a:t>D</a:t>
            </a:r>
            <a:r>
              <a:rPr lang="en-US" altLang="zh-CN" dirty="0" smtClean="0"/>
              <a:t>ouble-precision </a:t>
            </a:r>
            <a:r>
              <a:rPr lang="en-US" altLang="zh-CN" dirty="0"/>
              <a:t>floating point (RVD</a:t>
            </a:r>
            <a:r>
              <a:rPr lang="en-US" altLang="zh-CN" dirty="0" smtClean="0"/>
              <a:t>)</a:t>
            </a:r>
          </a:p>
          <a:p>
            <a:r>
              <a:rPr lang="en-US" altLang="zh-CN" dirty="0" smtClean="0"/>
              <a:t>This </a:t>
            </a:r>
            <a:r>
              <a:rPr lang="en-US" altLang="zh-CN" dirty="0"/>
              <a:t>figure includes </a:t>
            </a:r>
            <a:r>
              <a:rPr lang="en-US" altLang="zh-CN" dirty="0" smtClean="0"/>
              <a:t>RVM</a:t>
            </a:r>
            <a:endParaRPr lang="zh-CN" altLang="en-US" dirty="0"/>
          </a:p>
        </p:txBody>
      </p:sp>
    </p:spTree>
    <p:extLst>
      <p:ext uri="{BB962C8B-B14F-4D97-AF65-F5344CB8AC3E}">
        <p14:creationId xmlns:p14="http://schemas.microsoft.com/office/powerpoint/2010/main" val="281382687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2">
                <a:moveTo>
                  <a:pt x="0" y="0"/>
                </a:moveTo>
                <a:lnTo>
                  <a:pt x="101" y="0"/>
                </a:lnTo>
                <a:lnTo>
                  <a:pt x="101" y="101"/>
                </a:lnTo>
                <a:lnTo>
                  <a:pt x="0" y="101"/>
                </a:lnTo>
                <a:lnTo>
                  <a:pt x="0" y="0"/>
                </a:lnTo>
              </a:path>
            </a:pathLst>
          </a:custGeom>
          <a:solidFill>
            <a:srgbClr val="FFFFFF"/>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9220" name="Picture 2" descr="Z:\WOMAT\Production\Artfinal\0000000038\MKCAD\978-0-12-811905-1\0003165540\XMLLowres\f01-06-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8514" y="2483262"/>
            <a:ext cx="6932029" cy="437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Floating point instructions for RISC-V</a:t>
            </a:r>
            <a:endParaRPr lang="zh-CN" altLang="en-US" dirty="0"/>
          </a:p>
        </p:txBody>
      </p:sp>
      <p:sp>
        <p:nvSpPr>
          <p:cNvPr id="3" name="内容占位符 2"/>
          <p:cNvSpPr>
            <a:spLocks noGrp="1"/>
          </p:cNvSpPr>
          <p:nvPr>
            <p:ph idx="1"/>
          </p:nvPr>
        </p:nvSpPr>
        <p:spPr>
          <a:xfrm>
            <a:off x="498764" y="1535425"/>
            <a:ext cx="10895879" cy="5112568"/>
          </a:xfrm>
        </p:spPr>
        <p:txBody>
          <a:bodyPr/>
          <a:lstStyle/>
          <a:p>
            <a:r>
              <a:rPr lang="en-US" altLang="zh-CN" dirty="0" smtClean="0"/>
              <a:t>RISC-V extensions </a:t>
            </a:r>
            <a:r>
              <a:rPr lang="en-US" altLang="zh-CN" dirty="0"/>
              <a:t>for single-precision floating point (RVF) and double-precision floating point (</a:t>
            </a:r>
            <a:r>
              <a:rPr lang="en-US" altLang="zh-CN" dirty="0" smtClean="0"/>
              <a:t>RVD)</a:t>
            </a:r>
          </a:p>
          <a:p>
            <a:pPr lvl="1"/>
            <a:r>
              <a:rPr lang="en-US" altLang="zh-CN" dirty="0" smtClean="0"/>
              <a:t>SP </a:t>
            </a:r>
            <a:r>
              <a:rPr lang="en-US" altLang="zh-CN" dirty="0"/>
              <a:t>= single </a:t>
            </a:r>
            <a:r>
              <a:rPr lang="en-US" altLang="zh-CN" dirty="0" smtClean="0"/>
              <a:t>precision</a:t>
            </a:r>
          </a:p>
          <a:p>
            <a:pPr lvl="1"/>
            <a:r>
              <a:rPr lang="en-US" altLang="zh-CN" dirty="0" smtClean="0"/>
              <a:t>DP </a:t>
            </a:r>
            <a:r>
              <a:rPr lang="en-US" altLang="zh-CN" dirty="0"/>
              <a:t>= double </a:t>
            </a:r>
            <a:r>
              <a:rPr lang="en-US" altLang="zh-CN" dirty="0" smtClean="0"/>
              <a:t>precision</a:t>
            </a:r>
            <a:endParaRPr lang="en-US" altLang="zh-CN" dirty="0"/>
          </a:p>
          <a:p>
            <a:endParaRPr lang="zh-CN" altLang="en-US" dirty="0"/>
          </a:p>
        </p:txBody>
      </p:sp>
    </p:spTree>
    <p:extLst>
      <p:ext uri="{BB962C8B-B14F-4D97-AF65-F5344CB8AC3E}">
        <p14:creationId xmlns:p14="http://schemas.microsoft.com/office/powerpoint/2010/main" val="240741590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ChangeArrowheads="1"/>
          </p:cNvSpPr>
          <p:nvPr/>
        </p:nvSpPr>
        <p:spPr bwMode="auto">
          <a:xfrm>
            <a:off x="2347913" y="928689"/>
            <a:ext cx="182808" cy="422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endParaRPr lang="zh-CN" altLang="zh-CN" sz="2400" b="1">
              <a:latin typeface="Arial" panose="020B0604020202020204" pitchFamily="34" charset="0"/>
            </a:endParaRPr>
          </a:p>
        </p:txBody>
      </p:sp>
      <p:sp>
        <p:nvSpPr>
          <p:cNvPr id="35844" name="Rectangle 4"/>
          <p:cNvSpPr>
            <a:spLocks noGrp="1" noChangeArrowheads="1"/>
          </p:cNvSpPr>
          <p:nvPr>
            <p:ph type="title"/>
          </p:nvPr>
        </p:nvSpPr>
        <p:spPr/>
        <p:txBody>
          <a:bodyPr/>
          <a:lstStyle/>
          <a:p>
            <a:r>
              <a:rPr lang="en-US" altLang="zh-CN" smtClean="0"/>
              <a:t>Operation Summary</a:t>
            </a:r>
            <a:endParaRPr lang="en-US" altLang="zh-CN"/>
          </a:p>
        </p:txBody>
      </p:sp>
      <p:sp>
        <p:nvSpPr>
          <p:cNvPr id="35845" name="Rectangle 5"/>
          <p:cNvSpPr>
            <a:spLocks noGrp="1" noChangeArrowheads="1"/>
          </p:cNvSpPr>
          <p:nvPr>
            <p:ph type="body" idx="1"/>
          </p:nvPr>
        </p:nvSpPr>
        <p:spPr/>
        <p:txBody>
          <a:bodyPr/>
          <a:lstStyle/>
          <a:p>
            <a:r>
              <a:rPr lang="en-US" altLang="zh-CN" dirty="0" smtClean="0"/>
              <a:t>Support these simple instructions, since they will dominate the number of instructions executed: </a:t>
            </a:r>
          </a:p>
          <a:p>
            <a:pPr lvl="1"/>
            <a:r>
              <a:rPr lang="en-US" altLang="zh-CN" dirty="0" smtClean="0"/>
              <a:t>load, store, add, subtract, </a:t>
            </a:r>
          </a:p>
          <a:p>
            <a:pPr lvl="1"/>
            <a:r>
              <a:rPr lang="en-US" altLang="zh-CN" dirty="0" smtClean="0"/>
              <a:t>move register-register, </a:t>
            </a:r>
          </a:p>
          <a:p>
            <a:pPr lvl="1"/>
            <a:r>
              <a:rPr lang="en-US" altLang="zh-CN" dirty="0" smtClean="0"/>
              <a:t>and, shift,  </a:t>
            </a:r>
          </a:p>
          <a:p>
            <a:pPr lvl="1"/>
            <a:r>
              <a:rPr lang="en-US" altLang="zh-CN" dirty="0" smtClean="0"/>
              <a:t>compare equal, compare not equal, </a:t>
            </a:r>
          </a:p>
          <a:p>
            <a:pPr lvl="1"/>
            <a:r>
              <a:rPr lang="en-US" altLang="zh-CN" dirty="0" smtClean="0"/>
              <a:t>branch, jump, </a:t>
            </a:r>
          </a:p>
          <a:p>
            <a:pPr lvl="1"/>
            <a:r>
              <a:rPr lang="en-US" altLang="zh-CN" dirty="0" smtClean="0"/>
              <a:t>call, </a:t>
            </a:r>
          </a:p>
          <a:p>
            <a:pPr lvl="1"/>
            <a:r>
              <a:rPr lang="en-US" altLang="zh-CN" dirty="0" smtClean="0"/>
              <a:t>return;</a:t>
            </a:r>
          </a:p>
          <a:p>
            <a:r>
              <a:rPr lang="en-US" altLang="zh-CN" dirty="0" smtClean="0"/>
              <a:t>The basic idea of reduced instruction set computer</a:t>
            </a:r>
            <a:endParaRPr lang="en-US" altLang="zh-CN" dirty="0"/>
          </a:p>
        </p:txBody>
      </p:sp>
    </p:spTree>
    <p:extLst>
      <p:ext uri="{BB962C8B-B14F-4D97-AF65-F5344CB8AC3E}">
        <p14:creationId xmlns:p14="http://schemas.microsoft.com/office/powerpoint/2010/main" val="1072629078"/>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18436" name="Picture 5" descr="Z:\Production\Prodenv\0000000038\0000155678\0000000029\XmlLowres\0003170709\bm14-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0566" y="2548442"/>
            <a:ext cx="8610868" cy="3989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Breakdown of control flow instructions </a:t>
            </a:r>
            <a:endParaRPr lang="zh-CN" altLang="en-US" dirty="0"/>
          </a:p>
        </p:txBody>
      </p:sp>
      <p:sp>
        <p:nvSpPr>
          <p:cNvPr id="3" name="内容占位符 2"/>
          <p:cNvSpPr>
            <a:spLocks noGrp="1"/>
          </p:cNvSpPr>
          <p:nvPr>
            <p:ph idx="1"/>
          </p:nvPr>
        </p:nvSpPr>
        <p:spPr>
          <a:xfrm>
            <a:off x="838200" y="1515228"/>
            <a:ext cx="10515600" cy="5112568"/>
          </a:xfrm>
        </p:spPr>
        <p:txBody>
          <a:bodyPr/>
          <a:lstStyle/>
          <a:p>
            <a:r>
              <a:rPr lang="en-US" altLang="zh-CN" dirty="0" smtClean="0"/>
              <a:t>3 classes: calls </a:t>
            </a:r>
            <a:r>
              <a:rPr lang="en-US" altLang="zh-CN" dirty="0"/>
              <a:t>or returns, jumps, and conditional </a:t>
            </a:r>
            <a:r>
              <a:rPr lang="en-US" altLang="zh-CN" dirty="0" smtClean="0"/>
              <a:t>branches</a:t>
            </a:r>
          </a:p>
          <a:p>
            <a:pPr lvl="1"/>
            <a:r>
              <a:rPr lang="en-US" altLang="zh-CN" dirty="0" smtClean="0"/>
              <a:t>Conditional </a:t>
            </a:r>
            <a:r>
              <a:rPr lang="en-US" altLang="zh-CN" dirty="0"/>
              <a:t>branches clearly </a:t>
            </a:r>
            <a:r>
              <a:rPr lang="en-US" altLang="zh-CN" dirty="0" smtClean="0"/>
              <a:t>dominate</a:t>
            </a:r>
            <a:endParaRPr lang="zh-CN" altLang="en-US" dirty="0"/>
          </a:p>
        </p:txBody>
      </p:sp>
    </p:spTree>
    <p:extLst>
      <p:ext uri="{BB962C8B-B14F-4D97-AF65-F5344CB8AC3E}">
        <p14:creationId xmlns:p14="http://schemas.microsoft.com/office/powerpoint/2010/main" val="423292941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确定转移目标地址的两种主要方式</a:t>
            </a:r>
            <a:endParaRPr lang="zh-CN" altLang="en-US" dirty="0"/>
          </a:p>
        </p:txBody>
      </p:sp>
      <p:sp>
        <p:nvSpPr>
          <p:cNvPr id="3" name="内容占位符 2"/>
          <p:cNvSpPr>
            <a:spLocks noGrp="1"/>
          </p:cNvSpPr>
          <p:nvPr>
            <p:ph idx="1"/>
          </p:nvPr>
        </p:nvSpPr>
        <p:spPr/>
        <p:txBody>
          <a:bodyPr/>
          <a:lstStyle/>
          <a:p>
            <a:r>
              <a:rPr lang="zh-CN" altLang="en-US" dirty="0" smtClean="0"/>
              <a:t>相对当前指令的偏移量</a:t>
            </a:r>
            <a:r>
              <a:rPr lang="en-US" altLang="zh-CN" dirty="0" smtClean="0"/>
              <a:t>(PC-relative)</a:t>
            </a:r>
          </a:p>
          <a:p>
            <a:pPr lvl="1"/>
            <a:r>
              <a:rPr lang="zh-CN" altLang="en-US" dirty="0" smtClean="0"/>
              <a:t>统计表明，大部分情况下，分支目标与当前指令离得不远</a:t>
            </a:r>
            <a:endParaRPr lang="en-US" altLang="zh-CN" dirty="0" smtClean="0"/>
          </a:p>
          <a:p>
            <a:pPr lvl="1"/>
            <a:r>
              <a:rPr lang="zh-CN" altLang="en-US" dirty="0" smtClean="0"/>
              <a:t>二进制代码的运行可以独立于</a:t>
            </a:r>
            <a:r>
              <a:rPr lang="zh-CN" altLang="en-US" dirty="0"/>
              <a:t>其</a:t>
            </a:r>
            <a:r>
              <a:rPr lang="zh-CN" altLang="en-US" dirty="0" smtClean="0"/>
              <a:t>装载位置</a:t>
            </a:r>
            <a:endParaRPr lang="en-US" altLang="zh-CN" dirty="0" smtClean="0"/>
          </a:p>
          <a:p>
            <a:pPr lvl="2"/>
            <a:r>
              <a:rPr lang="zh-CN" altLang="en-US" dirty="0" smtClean="0"/>
              <a:t>如单独编译的某个函数</a:t>
            </a:r>
            <a:endParaRPr lang="en-US" altLang="zh-CN" dirty="0" smtClean="0"/>
          </a:p>
          <a:p>
            <a:r>
              <a:rPr lang="zh-CN" altLang="en-US" dirty="0" smtClean="0"/>
              <a:t>直接给出转移目标地址：因编译时不能确定具体地址，通常是通过寄存器间址实现</a:t>
            </a:r>
            <a:endParaRPr lang="en-US" altLang="zh-CN" dirty="0" smtClean="0"/>
          </a:p>
          <a:p>
            <a:pPr lvl="1"/>
            <a:r>
              <a:rPr lang="zh-CN" altLang="en-US" dirty="0" smtClean="0"/>
              <a:t>从子程序（函数）返回</a:t>
            </a:r>
            <a:endParaRPr lang="en-US" altLang="zh-CN" dirty="0" smtClean="0"/>
          </a:p>
          <a:p>
            <a:pPr lvl="1"/>
            <a:r>
              <a:rPr lang="zh-CN" altLang="en-US" dirty="0" smtClean="0"/>
              <a:t>便于实现</a:t>
            </a:r>
            <a:r>
              <a:rPr lang="en-US" altLang="zh-CN" dirty="0" smtClean="0"/>
              <a:t>case</a:t>
            </a:r>
            <a:r>
              <a:rPr lang="zh-CN" altLang="en-US" dirty="0" smtClean="0"/>
              <a:t>或</a:t>
            </a:r>
            <a:r>
              <a:rPr lang="en-US" altLang="zh-CN" dirty="0" smtClean="0"/>
              <a:t>switch</a:t>
            </a:r>
            <a:r>
              <a:rPr lang="zh-CN" altLang="en-US" dirty="0" smtClean="0"/>
              <a:t>语句，许多语言都需要</a:t>
            </a:r>
            <a:endParaRPr lang="en-US" altLang="zh-CN" dirty="0" smtClean="0"/>
          </a:p>
          <a:p>
            <a:pPr lvl="1"/>
            <a:r>
              <a:rPr lang="zh-CN" altLang="en-US" dirty="0" smtClean="0"/>
              <a:t>面向对象语言中的虚函数或方法，根据参数类型调用不同的例程</a:t>
            </a:r>
            <a:endParaRPr lang="en-US" altLang="zh-CN" dirty="0" smtClean="0"/>
          </a:p>
          <a:p>
            <a:pPr lvl="1"/>
            <a:r>
              <a:rPr lang="zh-CN" altLang="en-US" dirty="0" smtClean="0"/>
              <a:t>高级函数或函数指针，函数可以作为别的函数的参数进行传递</a:t>
            </a:r>
            <a:endParaRPr lang="en-US" altLang="zh-CN" dirty="0" smtClean="0"/>
          </a:p>
          <a:p>
            <a:pPr lvl="1"/>
            <a:r>
              <a:rPr lang="zh-CN" altLang="en-US" dirty="0" smtClean="0"/>
              <a:t>运行时动态装入的共享库，程序运行前不知道它会被装载到哪个位置</a:t>
            </a:r>
            <a:endParaRPr lang="en-US" altLang="zh-CN" dirty="0" smtClean="0"/>
          </a:p>
          <a:p>
            <a:pPr lvl="1"/>
            <a:endParaRPr lang="zh-CN" altLang="en-US" dirty="0"/>
          </a:p>
        </p:txBody>
      </p:sp>
    </p:spTree>
    <p:extLst>
      <p:ext uri="{BB962C8B-B14F-4D97-AF65-F5344CB8AC3E}">
        <p14:creationId xmlns:p14="http://schemas.microsoft.com/office/powerpoint/2010/main" val="116720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19460" name="Picture 5" descr="Z:\Production\Prodenv\0000000038\0000155678\0000000029\XmlLowres\0003170709\bm15-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82840" y="3426031"/>
            <a:ext cx="8158489" cy="3356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Branch distances in terms of number of </a:t>
            </a:r>
            <a:r>
              <a:rPr lang="en-US" altLang="zh-CN" dirty="0" smtClean="0"/>
              <a:t>instructions</a:t>
            </a:r>
            <a:endParaRPr lang="zh-CN" altLang="en-US" dirty="0"/>
          </a:p>
        </p:txBody>
      </p:sp>
      <p:sp>
        <p:nvSpPr>
          <p:cNvPr id="3" name="内容占位符 2"/>
          <p:cNvSpPr>
            <a:spLocks noGrp="1"/>
          </p:cNvSpPr>
          <p:nvPr>
            <p:ph idx="1"/>
          </p:nvPr>
        </p:nvSpPr>
        <p:spPr/>
        <p:txBody>
          <a:bodyPr/>
          <a:lstStyle/>
          <a:p>
            <a:r>
              <a:rPr lang="en-US" altLang="zh-CN" dirty="0" smtClean="0"/>
              <a:t>The </a:t>
            </a:r>
            <a:r>
              <a:rPr lang="en-US" altLang="zh-CN" dirty="0"/>
              <a:t>most frequent branches in the integer programs are to targets that can be encoded in 4–8 bits. </a:t>
            </a:r>
            <a:endParaRPr lang="en-US" altLang="zh-CN" dirty="0" smtClean="0"/>
          </a:p>
          <a:p>
            <a:pPr lvl="1"/>
            <a:r>
              <a:rPr lang="en-US" altLang="zh-CN" dirty="0" smtClean="0"/>
              <a:t>This </a:t>
            </a:r>
            <a:r>
              <a:rPr lang="en-US" altLang="zh-CN" dirty="0"/>
              <a:t>result tells us that short displacement fields often suffice for branches and that the designer can gain some encoding density by having a shorter instruction with a smaller branch displacement. </a:t>
            </a:r>
            <a:endParaRPr lang="zh-CN" altLang="en-US" dirty="0"/>
          </a:p>
        </p:txBody>
      </p:sp>
    </p:spTree>
    <p:extLst>
      <p:ext uri="{BB962C8B-B14F-4D97-AF65-F5344CB8AC3E}">
        <p14:creationId xmlns:p14="http://schemas.microsoft.com/office/powerpoint/2010/main" val="62240218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zh-CN" smtClean="0"/>
              <a:t>Methods of Testing Condition</a:t>
            </a:r>
            <a:endParaRPr lang="en-US" altLang="zh-CN"/>
          </a:p>
        </p:txBody>
      </p:sp>
      <p:sp>
        <p:nvSpPr>
          <p:cNvPr id="46083" name="Rectangle 3"/>
          <p:cNvSpPr>
            <a:spLocks noGrp="1" noChangeArrowheads="1"/>
          </p:cNvSpPr>
          <p:nvPr>
            <p:ph type="body" idx="1"/>
          </p:nvPr>
        </p:nvSpPr>
        <p:spPr/>
        <p:txBody>
          <a:bodyPr/>
          <a:lstStyle/>
          <a:p>
            <a:r>
              <a:rPr lang="en-US" altLang="zh-CN" dirty="0" smtClean="0"/>
              <a:t>Condition Codes</a:t>
            </a:r>
          </a:p>
          <a:p>
            <a:pPr lvl="1"/>
            <a:r>
              <a:rPr lang="en-US" altLang="zh-CN" dirty="0" smtClean="0"/>
              <a:t>Processor status bits are set as a side-effect of arithmetic instructions (possibly on Moves) or explicitly  by compare or test  instructions.</a:t>
            </a:r>
          </a:p>
          <a:p>
            <a:pPr marL="457200" lvl="1" indent="0">
              <a:buNone/>
            </a:pPr>
            <a:r>
              <a:rPr lang="en-US" altLang="zh-CN" dirty="0" smtClean="0"/>
              <a:t>   Ex:	 add r1, r2, r3</a:t>
            </a:r>
          </a:p>
          <a:p>
            <a:pPr marL="457200" lvl="1" indent="0">
              <a:buNone/>
            </a:pPr>
            <a:r>
              <a:rPr lang="en-US" altLang="zh-CN" dirty="0" smtClean="0"/>
              <a:t>                  </a:t>
            </a:r>
            <a:r>
              <a:rPr lang="en-US" altLang="zh-CN" dirty="0" err="1" smtClean="0"/>
              <a:t>bz</a:t>
            </a:r>
            <a:r>
              <a:rPr lang="en-US" altLang="zh-CN" dirty="0" smtClean="0"/>
              <a:t> label</a:t>
            </a:r>
          </a:p>
          <a:p>
            <a:r>
              <a:rPr lang="en-US" altLang="zh-CN" dirty="0" smtClean="0"/>
              <a:t>Condition Register</a:t>
            </a:r>
          </a:p>
          <a:p>
            <a:pPr marL="457200" lvl="1" indent="0">
              <a:buNone/>
            </a:pPr>
            <a:r>
              <a:rPr lang="en-US" altLang="zh-CN" dirty="0" smtClean="0"/>
              <a:t>   Ex:	</a:t>
            </a:r>
            <a:r>
              <a:rPr lang="en-US" altLang="zh-CN" dirty="0" err="1" smtClean="0"/>
              <a:t>cmp</a:t>
            </a:r>
            <a:r>
              <a:rPr lang="en-US" altLang="zh-CN" dirty="0" smtClean="0"/>
              <a:t> r1, r2, r3</a:t>
            </a:r>
          </a:p>
          <a:p>
            <a:pPr marL="457200" lvl="1" indent="0">
              <a:buNone/>
            </a:pPr>
            <a:r>
              <a:rPr lang="en-US" altLang="zh-CN" dirty="0" smtClean="0"/>
              <a:t>                 </a:t>
            </a:r>
            <a:r>
              <a:rPr lang="en-US" altLang="zh-CN" dirty="0" err="1" smtClean="0"/>
              <a:t>bgt</a:t>
            </a:r>
            <a:r>
              <a:rPr lang="en-US" altLang="zh-CN" dirty="0" smtClean="0"/>
              <a:t> r1, label</a:t>
            </a:r>
          </a:p>
          <a:p>
            <a:r>
              <a:rPr lang="en-US" altLang="zh-CN" dirty="0" smtClean="0"/>
              <a:t>Compare and Branch</a:t>
            </a:r>
          </a:p>
          <a:p>
            <a:pPr marL="0" indent="0">
              <a:buNone/>
            </a:pPr>
            <a:r>
              <a:rPr lang="en-US" altLang="zh-CN" dirty="0" smtClean="0"/>
              <a:t>       </a:t>
            </a:r>
            <a:r>
              <a:rPr lang="en-US" altLang="zh-CN" sz="2400" dirty="0" smtClean="0"/>
              <a:t>Ex:	</a:t>
            </a:r>
            <a:r>
              <a:rPr lang="en-US" altLang="zh-CN" sz="2400" dirty="0" err="1" smtClean="0"/>
              <a:t>bgt</a:t>
            </a:r>
            <a:r>
              <a:rPr lang="en-US" altLang="zh-CN" sz="2400" dirty="0" smtClean="0"/>
              <a:t> r1, r2, label</a:t>
            </a:r>
            <a:endParaRPr lang="en-US" altLang="zh-CN" sz="2400" dirty="0"/>
          </a:p>
        </p:txBody>
      </p:sp>
    </p:spTree>
    <p:extLst>
      <p:ext uri="{BB962C8B-B14F-4D97-AF65-F5344CB8AC3E}">
        <p14:creationId xmlns:p14="http://schemas.microsoft.com/office/powerpoint/2010/main" val="372786838"/>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20484" name="Picture 5" descr="Z:\Production\Prodenv\0000000038\0000155678\0000000029\XmlLowres\0003170709\bm16-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83823" y="3786831"/>
            <a:ext cx="7957147" cy="3009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dirty="0" smtClean="0"/>
              <a:t>三种分支条件的比较</a:t>
            </a:r>
            <a:endParaRPr lang="zh-CN" altLang="en-US" dirty="0"/>
          </a:p>
        </p:txBody>
      </p:sp>
      <p:sp>
        <p:nvSpPr>
          <p:cNvPr id="3" name="内容占位符 2"/>
          <p:cNvSpPr>
            <a:spLocks noGrp="1"/>
          </p:cNvSpPr>
          <p:nvPr>
            <p:ph idx="1"/>
          </p:nvPr>
        </p:nvSpPr>
        <p:spPr>
          <a:xfrm>
            <a:off x="838199" y="1556792"/>
            <a:ext cx="10793681" cy="5112568"/>
          </a:xfrm>
        </p:spPr>
        <p:txBody>
          <a:bodyPr/>
          <a:lstStyle/>
          <a:p>
            <a:r>
              <a:rPr lang="en-US" altLang="zh-CN" sz="2400" dirty="0" smtClean="0"/>
              <a:t>Conditional code (</a:t>
            </a:r>
            <a:r>
              <a:rPr lang="zh-CN" altLang="en-US" sz="2400" dirty="0" smtClean="0"/>
              <a:t>条件码</a:t>
            </a:r>
            <a:r>
              <a:rPr lang="en-US" altLang="zh-CN" sz="2400" dirty="0" smtClean="0"/>
              <a:t>)</a:t>
            </a:r>
          </a:p>
          <a:p>
            <a:pPr lvl="1"/>
            <a:r>
              <a:rPr lang="zh-CN" altLang="en-US" sz="2000" dirty="0" smtClean="0"/>
              <a:t>理论上运算指令设置的条件码可用于分支外的其它用途，但实际很少发生</a:t>
            </a:r>
            <a:endParaRPr lang="en-US" altLang="zh-CN" sz="2000" dirty="0" smtClean="0"/>
          </a:p>
          <a:p>
            <a:pPr lvl="1"/>
            <a:r>
              <a:rPr lang="zh-CN" altLang="en-US" sz="2000" dirty="0" smtClean="0"/>
              <a:t>主要问题：其设置</a:t>
            </a:r>
            <a:r>
              <a:rPr lang="zh-CN" altLang="en-US" sz="2000" dirty="0"/>
              <a:t>取决于一个大而随机的指令子集，而非由指令中某个比特位明确</a:t>
            </a:r>
            <a:r>
              <a:rPr lang="zh-CN" altLang="en-US" sz="2000" dirty="0" smtClean="0"/>
              <a:t>控制</a:t>
            </a:r>
            <a:endParaRPr lang="en-US" altLang="zh-CN" sz="2000" dirty="0" smtClean="0"/>
          </a:p>
          <a:p>
            <a:r>
              <a:rPr lang="en-US" altLang="zh-CN" sz="2400" dirty="0" smtClean="0"/>
              <a:t>Compare and branch</a:t>
            </a:r>
            <a:r>
              <a:rPr lang="zh-CN" altLang="en-US" sz="2400" dirty="0" smtClean="0"/>
              <a:t>：通常采用精简的比较指令集</a:t>
            </a:r>
            <a:endParaRPr lang="en-US" altLang="zh-CN" sz="2400" dirty="0" smtClean="0"/>
          </a:p>
          <a:p>
            <a:pPr lvl="1"/>
            <a:r>
              <a:rPr lang="zh-CN" altLang="en-US" sz="2000" dirty="0" smtClean="0"/>
              <a:t>对</a:t>
            </a:r>
            <a:r>
              <a:rPr lang="zh-CN" altLang="en-US" sz="2000" dirty="0"/>
              <a:t>复杂比较则采用独立的运算单元和专属寄存器</a:t>
            </a:r>
            <a:r>
              <a:rPr lang="zh-CN" altLang="en-US" sz="2000" dirty="0" smtClean="0"/>
              <a:t>。</a:t>
            </a:r>
            <a:endParaRPr lang="en-US" altLang="zh-CN" sz="2000" dirty="0" smtClean="0"/>
          </a:p>
          <a:p>
            <a:pPr lvl="1"/>
            <a:r>
              <a:rPr lang="zh-CN" altLang="en-US" sz="2000" dirty="0" smtClean="0"/>
              <a:t>基于</a:t>
            </a:r>
            <a:r>
              <a:rPr lang="zh-CN" altLang="en-US" sz="2000" dirty="0"/>
              <a:t>浮点数比较的</a:t>
            </a:r>
            <a:r>
              <a:rPr lang="zh-CN" altLang="en-US" sz="2000" dirty="0" smtClean="0"/>
              <a:t>分支实际上用得比较少</a:t>
            </a:r>
            <a:endParaRPr lang="en-US" altLang="zh-CN" sz="1800" dirty="0" smtClean="0"/>
          </a:p>
        </p:txBody>
      </p:sp>
    </p:spTree>
    <p:extLst>
      <p:ext uri="{BB962C8B-B14F-4D97-AF65-F5344CB8AC3E}">
        <p14:creationId xmlns:p14="http://schemas.microsoft.com/office/powerpoint/2010/main" val="398691557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3584240" y="506119"/>
            <a:ext cx="4302460"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dirty="0"/>
              <a:t>Condition Codes</a:t>
            </a:r>
            <a:endParaRPr lang="en-US" altLang="zh-CN" u="sng" dirty="0"/>
          </a:p>
        </p:txBody>
      </p:sp>
      <p:sp>
        <p:nvSpPr>
          <p:cNvPr id="47107" name="Rectangle 3"/>
          <p:cNvSpPr>
            <a:spLocks noChangeArrowheads="1"/>
          </p:cNvSpPr>
          <p:nvPr/>
        </p:nvSpPr>
        <p:spPr bwMode="auto">
          <a:xfrm>
            <a:off x="2057400" y="1600601"/>
            <a:ext cx="838835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sz="2400" b="1" dirty="0">
                <a:latin typeface="Arial" panose="020B0604020202020204" pitchFamily="34" charset="0"/>
              </a:rPr>
              <a:t>Setting CC as side effect can reduce the # of instructions</a:t>
            </a:r>
          </a:p>
          <a:p>
            <a:pPr>
              <a:lnSpc>
                <a:spcPct val="85000"/>
              </a:lnSpc>
            </a:pPr>
            <a:r>
              <a:rPr lang="en-US" altLang="zh-CN" sz="2400" b="1" dirty="0">
                <a:latin typeface="Arial" panose="020B0604020202020204" pitchFamily="34" charset="0"/>
              </a:rPr>
              <a:t>X:      .</a:t>
            </a:r>
          </a:p>
          <a:p>
            <a:pPr>
              <a:lnSpc>
                <a:spcPct val="85000"/>
              </a:lnSpc>
            </a:pPr>
            <a:r>
              <a:rPr lang="en-US" altLang="zh-CN" sz="2400" b="1" dirty="0">
                <a:latin typeface="Arial" panose="020B0604020202020204" pitchFamily="34" charset="0"/>
              </a:rPr>
              <a:t>      SUB  r0, #1, r0</a:t>
            </a:r>
          </a:p>
          <a:p>
            <a:pPr>
              <a:lnSpc>
                <a:spcPct val="85000"/>
              </a:lnSpc>
            </a:pPr>
            <a:r>
              <a:rPr lang="en-US" altLang="zh-CN" sz="2400" b="1" dirty="0">
                <a:latin typeface="Arial" panose="020B0604020202020204" pitchFamily="34" charset="0"/>
              </a:rPr>
              <a:t>      BRP  X</a:t>
            </a:r>
          </a:p>
        </p:txBody>
      </p:sp>
      <p:sp>
        <p:nvSpPr>
          <p:cNvPr id="47108" name="Rectangle 4"/>
          <p:cNvSpPr>
            <a:spLocks noChangeArrowheads="1"/>
          </p:cNvSpPr>
          <p:nvPr/>
        </p:nvSpPr>
        <p:spPr bwMode="auto">
          <a:xfrm>
            <a:off x="6705600" y="1867301"/>
            <a:ext cx="269875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sz="2400" b="1">
                <a:latin typeface="Arial" panose="020B0604020202020204" pitchFamily="34" charset="0"/>
              </a:rPr>
              <a:t>X:      .</a:t>
            </a:r>
          </a:p>
          <a:p>
            <a:pPr>
              <a:lnSpc>
                <a:spcPct val="85000"/>
              </a:lnSpc>
            </a:pPr>
            <a:r>
              <a:rPr lang="en-US" altLang="zh-CN" sz="2400" b="1">
                <a:latin typeface="Arial" panose="020B0604020202020204" pitchFamily="34" charset="0"/>
              </a:rPr>
              <a:t>      SUB  r0, #1, r0</a:t>
            </a:r>
          </a:p>
          <a:p>
            <a:pPr>
              <a:lnSpc>
                <a:spcPct val="85000"/>
              </a:lnSpc>
            </a:pPr>
            <a:r>
              <a:rPr lang="en-US" altLang="zh-CN" sz="2400" b="1">
                <a:latin typeface="Arial" panose="020B0604020202020204" pitchFamily="34" charset="0"/>
              </a:rPr>
              <a:t>      CMP  r0, #0</a:t>
            </a:r>
          </a:p>
          <a:p>
            <a:pPr>
              <a:lnSpc>
                <a:spcPct val="85000"/>
              </a:lnSpc>
            </a:pPr>
            <a:r>
              <a:rPr lang="en-US" altLang="zh-CN" sz="2400" b="1">
                <a:latin typeface="Arial" panose="020B0604020202020204" pitchFamily="34" charset="0"/>
              </a:rPr>
              <a:t>      BRP  X</a:t>
            </a:r>
          </a:p>
        </p:txBody>
      </p:sp>
      <p:sp>
        <p:nvSpPr>
          <p:cNvPr id="47109" name="Rectangle 5"/>
          <p:cNvSpPr>
            <a:spLocks noChangeArrowheads="1"/>
          </p:cNvSpPr>
          <p:nvPr/>
        </p:nvSpPr>
        <p:spPr bwMode="auto">
          <a:xfrm>
            <a:off x="5448300" y="2248301"/>
            <a:ext cx="4445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vs.</a:t>
            </a:r>
          </a:p>
        </p:txBody>
      </p:sp>
      <p:sp>
        <p:nvSpPr>
          <p:cNvPr id="47110" name="Rectangle 6"/>
          <p:cNvSpPr>
            <a:spLocks noChangeArrowheads="1"/>
          </p:cNvSpPr>
          <p:nvPr/>
        </p:nvSpPr>
        <p:spPr bwMode="auto">
          <a:xfrm>
            <a:off x="1062841" y="3265826"/>
            <a:ext cx="10058400" cy="1987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p>
            <a:pPr>
              <a:lnSpc>
                <a:spcPct val="85000"/>
              </a:lnSpc>
            </a:pPr>
            <a:r>
              <a:rPr lang="en-US" altLang="zh-CN" sz="2800" b="1" dirty="0">
                <a:latin typeface="Arial" panose="020B0604020202020204" pitchFamily="34" charset="0"/>
              </a:rPr>
              <a:t>But also has disadvantages:</a:t>
            </a:r>
          </a:p>
          <a:p>
            <a:pPr>
              <a:lnSpc>
                <a:spcPct val="85000"/>
              </a:lnSpc>
            </a:pPr>
            <a:r>
              <a:rPr lang="en-US" altLang="zh-CN" sz="2400" dirty="0">
                <a:latin typeface="Arial" panose="020B0604020202020204" pitchFamily="34" charset="0"/>
              </a:rPr>
              <a:t>-</a:t>
            </a:r>
            <a:r>
              <a:rPr lang="en-US" altLang="zh-CN" b="1" dirty="0">
                <a:latin typeface="Arial" panose="020B0604020202020204" pitchFamily="34" charset="0"/>
              </a:rPr>
              <a:t> </a:t>
            </a:r>
            <a:r>
              <a:rPr lang="en-US" altLang="zh-CN" sz="2400" dirty="0">
                <a:latin typeface="Arial" panose="020B0604020202020204" pitchFamily="34" charset="0"/>
              </a:rPr>
              <a:t>not all instructions set the condition codes; which do and which do not often confusing! </a:t>
            </a:r>
            <a:r>
              <a:rPr lang="en-US" altLang="zh-CN" sz="2400" i="1" dirty="0">
                <a:latin typeface="Arial" panose="020B0604020202020204" pitchFamily="34" charset="0"/>
              </a:rPr>
              <a:t>e.g., shift instruction sets the carry bit</a:t>
            </a:r>
          </a:p>
          <a:p>
            <a:pPr>
              <a:lnSpc>
                <a:spcPct val="85000"/>
              </a:lnSpc>
            </a:pPr>
            <a:r>
              <a:rPr lang="en-US" altLang="zh-CN" sz="2400" dirty="0">
                <a:latin typeface="Arial" panose="020B0604020202020204" pitchFamily="34" charset="0"/>
              </a:rPr>
              <a:t>- dependency between the instruction that sets the CC and the one that tests it: to overlap their execution, may need to separate them with an instruction that does not change the CC </a:t>
            </a:r>
          </a:p>
        </p:txBody>
      </p:sp>
      <p:sp>
        <p:nvSpPr>
          <p:cNvPr id="47111" name="Rectangle 7"/>
          <p:cNvSpPr>
            <a:spLocks noChangeArrowheads="1"/>
          </p:cNvSpPr>
          <p:nvPr/>
        </p:nvSpPr>
        <p:spPr bwMode="auto">
          <a:xfrm>
            <a:off x="2667000" y="5447145"/>
            <a:ext cx="5219700" cy="330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2" name="Line 8"/>
          <p:cNvSpPr>
            <a:spLocks noChangeShapeType="1"/>
          </p:cNvSpPr>
          <p:nvPr/>
        </p:nvSpPr>
        <p:spPr bwMode="auto">
          <a:xfrm>
            <a:off x="5213350" y="5447145"/>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3" name="Line 9"/>
          <p:cNvSpPr>
            <a:spLocks noChangeShapeType="1"/>
          </p:cNvSpPr>
          <p:nvPr/>
        </p:nvSpPr>
        <p:spPr bwMode="auto">
          <a:xfrm>
            <a:off x="6559550" y="5447145"/>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4" name="Line 10"/>
          <p:cNvSpPr>
            <a:spLocks noChangeShapeType="1"/>
          </p:cNvSpPr>
          <p:nvPr/>
        </p:nvSpPr>
        <p:spPr bwMode="auto">
          <a:xfrm>
            <a:off x="3879850" y="5447145"/>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5" name="Rectangle 11"/>
          <p:cNvSpPr>
            <a:spLocks noChangeArrowheads="1"/>
          </p:cNvSpPr>
          <p:nvPr/>
        </p:nvSpPr>
        <p:spPr bwMode="auto">
          <a:xfrm>
            <a:off x="2927350" y="5478896"/>
            <a:ext cx="736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ifetch</a:t>
            </a:r>
          </a:p>
        </p:txBody>
      </p:sp>
      <p:sp>
        <p:nvSpPr>
          <p:cNvPr id="47116" name="Rectangle 12"/>
          <p:cNvSpPr>
            <a:spLocks noChangeArrowheads="1"/>
          </p:cNvSpPr>
          <p:nvPr/>
        </p:nvSpPr>
        <p:spPr bwMode="auto">
          <a:xfrm>
            <a:off x="4235450" y="5478896"/>
            <a:ext cx="609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read</a:t>
            </a:r>
          </a:p>
        </p:txBody>
      </p:sp>
      <p:sp>
        <p:nvSpPr>
          <p:cNvPr id="47117" name="Rectangle 13"/>
          <p:cNvSpPr>
            <a:spLocks noChangeArrowheads="1"/>
          </p:cNvSpPr>
          <p:nvPr/>
        </p:nvSpPr>
        <p:spPr bwMode="auto">
          <a:xfrm>
            <a:off x="5340350" y="5478896"/>
            <a:ext cx="10795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compute</a:t>
            </a:r>
          </a:p>
        </p:txBody>
      </p:sp>
      <p:sp>
        <p:nvSpPr>
          <p:cNvPr id="47118" name="Rectangle 14"/>
          <p:cNvSpPr>
            <a:spLocks noChangeArrowheads="1"/>
          </p:cNvSpPr>
          <p:nvPr/>
        </p:nvSpPr>
        <p:spPr bwMode="auto">
          <a:xfrm>
            <a:off x="6813550" y="5466196"/>
            <a:ext cx="6604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write</a:t>
            </a:r>
          </a:p>
        </p:txBody>
      </p:sp>
      <p:sp>
        <p:nvSpPr>
          <p:cNvPr id="47119" name="Rectangle 15"/>
          <p:cNvSpPr>
            <a:spLocks noChangeArrowheads="1"/>
          </p:cNvSpPr>
          <p:nvPr/>
        </p:nvSpPr>
        <p:spPr bwMode="auto">
          <a:xfrm>
            <a:off x="3949700" y="6348845"/>
            <a:ext cx="5219700" cy="330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20" name="Line 16"/>
          <p:cNvSpPr>
            <a:spLocks noChangeShapeType="1"/>
          </p:cNvSpPr>
          <p:nvPr/>
        </p:nvSpPr>
        <p:spPr bwMode="auto">
          <a:xfrm>
            <a:off x="6496050" y="6348845"/>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21" name="Line 17"/>
          <p:cNvSpPr>
            <a:spLocks noChangeShapeType="1"/>
          </p:cNvSpPr>
          <p:nvPr/>
        </p:nvSpPr>
        <p:spPr bwMode="auto">
          <a:xfrm>
            <a:off x="7842250" y="6348845"/>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22" name="Line 18"/>
          <p:cNvSpPr>
            <a:spLocks noChangeShapeType="1"/>
          </p:cNvSpPr>
          <p:nvPr/>
        </p:nvSpPr>
        <p:spPr bwMode="auto">
          <a:xfrm>
            <a:off x="5162550" y="6348845"/>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23" name="Rectangle 19"/>
          <p:cNvSpPr>
            <a:spLocks noChangeArrowheads="1"/>
          </p:cNvSpPr>
          <p:nvPr/>
        </p:nvSpPr>
        <p:spPr bwMode="auto">
          <a:xfrm>
            <a:off x="4235450" y="6382949"/>
            <a:ext cx="736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ifetch</a:t>
            </a:r>
          </a:p>
        </p:txBody>
      </p:sp>
      <p:sp>
        <p:nvSpPr>
          <p:cNvPr id="47124" name="Rectangle 20"/>
          <p:cNvSpPr>
            <a:spLocks noChangeArrowheads="1"/>
          </p:cNvSpPr>
          <p:nvPr/>
        </p:nvSpPr>
        <p:spPr bwMode="auto">
          <a:xfrm>
            <a:off x="5543550" y="6382949"/>
            <a:ext cx="609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read</a:t>
            </a:r>
          </a:p>
        </p:txBody>
      </p:sp>
      <p:sp>
        <p:nvSpPr>
          <p:cNvPr id="47125" name="Rectangle 21"/>
          <p:cNvSpPr>
            <a:spLocks noChangeArrowheads="1"/>
          </p:cNvSpPr>
          <p:nvPr/>
        </p:nvSpPr>
        <p:spPr bwMode="auto">
          <a:xfrm>
            <a:off x="6648450" y="6382949"/>
            <a:ext cx="10795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compute</a:t>
            </a:r>
          </a:p>
        </p:txBody>
      </p:sp>
      <p:sp>
        <p:nvSpPr>
          <p:cNvPr id="47126" name="Rectangle 22"/>
          <p:cNvSpPr>
            <a:spLocks noChangeArrowheads="1"/>
          </p:cNvSpPr>
          <p:nvPr/>
        </p:nvSpPr>
        <p:spPr bwMode="auto">
          <a:xfrm>
            <a:off x="8121650" y="6370249"/>
            <a:ext cx="6604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write</a:t>
            </a:r>
          </a:p>
        </p:txBody>
      </p:sp>
      <p:sp>
        <p:nvSpPr>
          <p:cNvPr id="47127" name="Line 23"/>
          <p:cNvSpPr>
            <a:spLocks noChangeShapeType="1"/>
          </p:cNvSpPr>
          <p:nvPr/>
        </p:nvSpPr>
        <p:spPr bwMode="auto">
          <a:xfrm flipH="1" flipV="1">
            <a:off x="6438900" y="5777345"/>
            <a:ext cx="736600" cy="2794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28" name="Rectangle 24"/>
          <p:cNvSpPr>
            <a:spLocks noChangeArrowheads="1"/>
          </p:cNvSpPr>
          <p:nvPr/>
        </p:nvSpPr>
        <p:spPr bwMode="auto">
          <a:xfrm>
            <a:off x="7194550" y="5872596"/>
            <a:ext cx="21463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New CC computed</a:t>
            </a:r>
          </a:p>
        </p:txBody>
      </p:sp>
      <p:sp>
        <p:nvSpPr>
          <p:cNvPr id="47129" name="Rectangle 25"/>
          <p:cNvSpPr>
            <a:spLocks noChangeArrowheads="1"/>
          </p:cNvSpPr>
          <p:nvPr/>
        </p:nvSpPr>
        <p:spPr bwMode="auto">
          <a:xfrm>
            <a:off x="3562350" y="5897996"/>
            <a:ext cx="14478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Old CC read</a:t>
            </a:r>
          </a:p>
        </p:txBody>
      </p:sp>
      <p:sp>
        <p:nvSpPr>
          <p:cNvPr id="47130" name="Line 26"/>
          <p:cNvSpPr>
            <a:spLocks noChangeShapeType="1"/>
          </p:cNvSpPr>
          <p:nvPr/>
        </p:nvSpPr>
        <p:spPr bwMode="auto">
          <a:xfrm>
            <a:off x="5003800" y="6238053"/>
            <a:ext cx="596900" cy="203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761894930"/>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21508" name="Picture 5" descr="Z:\Production\Prodenv\0000000038\0000155678\0000000029\XmlLowres\0003170709\bm17-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02045" y="1971304"/>
            <a:ext cx="5472493" cy="4366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838199" y="365125"/>
            <a:ext cx="10919465" cy="831627"/>
          </a:xfrm>
        </p:spPr>
        <p:txBody>
          <a:bodyPr/>
          <a:lstStyle/>
          <a:p>
            <a:r>
              <a:rPr lang="en-US" altLang="zh-CN" dirty="0" smtClean="0"/>
              <a:t>Types </a:t>
            </a:r>
            <a:r>
              <a:rPr lang="en-US" altLang="zh-CN" dirty="0"/>
              <a:t>of compares in conditional branches</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1" y="1888176"/>
                <a:ext cx="5699166" cy="4781183"/>
              </a:xfrm>
            </p:spPr>
            <p:txBody>
              <a:bodyPr/>
              <a:lstStyle/>
              <a:p>
                <a:r>
                  <a:rPr lang="en-US" altLang="zh-CN" dirty="0" smtClean="0"/>
                  <a:t>Less </a:t>
                </a:r>
                <a:r>
                  <a:rPr lang="en-US" altLang="zh-CN" dirty="0"/>
                  <a:t>than </a:t>
                </a:r>
                <a14:m>
                  <m:oMath xmlns:m="http://schemas.openxmlformats.org/officeDocument/2006/math">
                    <m:r>
                      <a:rPr lang="en-US" altLang="zh-CN" i="1" smtClean="0">
                        <a:latin typeface="Cambria Math" panose="02040503050406030204" pitchFamily="18" charset="0"/>
                        <a:ea typeface="Cambria Math" panose="02040503050406030204" pitchFamily="18" charset="0"/>
                      </a:rPr>
                      <m:t>&lt;</m:t>
                    </m:r>
                    <m:r>
                      <a:rPr lang="en-US" altLang="zh-CN" b="0" i="1" smtClean="0">
                        <a:latin typeface="Cambria Math" panose="02040503050406030204" pitchFamily="18" charset="0"/>
                        <a:ea typeface="Cambria Math" panose="02040503050406030204" pitchFamily="18" charset="0"/>
                      </a:rPr>
                      <m:t> </m:t>
                    </m:r>
                  </m:oMath>
                </a14:m>
                <a:r>
                  <a:rPr lang="en-US" altLang="zh-CN" dirty="0" smtClean="0"/>
                  <a:t>(</a:t>
                </a:r>
                <a:r>
                  <a:rPr lang="en-US" altLang="zh-CN" dirty="0"/>
                  <a:t>or </a:t>
                </a:r>
                <a:r>
                  <a:rPr lang="en-US" altLang="zh-CN" dirty="0" smtClean="0"/>
                  <a:t>equal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smtClean="0"/>
                  <a:t>) </a:t>
                </a:r>
                <a:r>
                  <a:rPr lang="en-US" altLang="zh-CN" dirty="0"/>
                  <a:t>branches </a:t>
                </a:r>
                <a:r>
                  <a:rPr lang="en-US" altLang="zh-CN" dirty="0" smtClean="0"/>
                  <a:t>dominate</a:t>
                </a:r>
              </a:p>
              <a:p>
                <a:r>
                  <a:rPr lang="en-US" altLang="zh-CN" dirty="0" smtClean="0"/>
                  <a:t>These </a:t>
                </a:r>
                <a:r>
                  <a:rPr lang="en-US" altLang="zh-CN" dirty="0"/>
                  <a:t>measurements include both the integer and floating-point compares in </a:t>
                </a:r>
                <a:r>
                  <a:rPr lang="en-US" altLang="zh-CN" dirty="0" smtClean="0"/>
                  <a:t>branches</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1" y="1888176"/>
                <a:ext cx="5699166" cy="4781183"/>
              </a:xfrm>
              <a:blipFill>
                <a:blip r:embed="rId4"/>
                <a:stretch>
                  <a:fillRect l="-1927" t="-22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598347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2449514" y="482600"/>
            <a:ext cx="8411855"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Calls: Why Are Stacks So Great?</a:t>
            </a:r>
          </a:p>
        </p:txBody>
      </p:sp>
      <p:sp>
        <p:nvSpPr>
          <p:cNvPr id="53251" name="Rectangle 3"/>
          <p:cNvSpPr>
            <a:spLocks noChangeArrowheads="1"/>
          </p:cNvSpPr>
          <p:nvPr/>
        </p:nvSpPr>
        <p:spPr bwMode="auto">
          <a:xfrm>
            <a:off x="2286000" y="139700"/>
            <a:ext cx="254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2" name="Rectangle 4"/>
          <p:cNvSpPr>
            <a:spLocks noChangeArrowheads="1"/>
          </p:cNvSpPr>
          <p:nvPr/>
        </p:nvSpPr>
        <p:spPr bwMode="auto">
          <a:xfrm>
            <a:off x="1905000" y="1447800"/>
            <a:ext cx="8656638"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sz="2400" b="1" i="1">
                <a:latin typeface="Arial" panose="020B0604020202020204" pitchFamily="34" charset="0"/>
              </a:rPr>
              <a:t>Stacking of Subroutine Calls &amp; Returns and Environments:</a:t>
            </a:r>
            <a:endParaRPr lang="en-US" altLang="zh-CN" b="1" i="1">
              <a:latin typeface="Arial" panose="020B0604020202020204" pitchFamily="34" charset="0"/>
            </a:endParaRPr>
          </a:p>
        </p:txBody>
      </p:sp>
      <p:grpSp>
        <p:nvGrpSpPr>
          <p:cNvPr id="53303" name="Group 55"/>
          <p:cNvGrpSpPr>
            <a:grpSpLocks/>
          </p:cNvGrpSpPr>
          <p:nvPr/>
        </p:nvGrpSpPr>
        <p:grpSpPr bwMode="auto">
          <a:xfrm>
            <a:off x="2755900" y="1981200"/>
            <a:ext cx="6229350" cy="3276600"/>
            <a:chOff x="776" y="752"/>
            <a:chExt cx="3924" cy="2064"/>
          </a:xfrm>
        </p:grpSpPr>
        <p:sp>
          <p:nvSpPr>
            <p:cNvPr id="53253" name="Rectangle 5"/>
            <p:cNvSpPr>
              <a:spLocks noChangeArrowheads="1"/>
            </p:cNvSpPr>
            <p:nvPr/>
          </p:nvSpPr>
          <p:spPr bwMode="auto">
            <a:xfrm>
              <a:off x="776" y="880"/>
              <a:ext cx="1248" cy="1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  </a:t>
              </a:r>
            </a:p>
            <a:p>
              <a:pPr>
                <a:lnSpc>
                  <a:spcPct val="85000"/>
                </a:lnSpc>
              </a:pPr>
              <a:r>
                <a:rPr lang="en-US" altLang="zh-CN" b="1">
                  <a:latin typeface="Arial" panose="020B0604020202020204" pitchFamily="34" charset="0"/>
                </a:rPr>
                <a:t>      CALL B</a:t>
              </a:r>
            </a:p>
            <a:p>
              <a:pPr>
                <a:lnSpc>
                  <a:spcPct val="85000"/>
                </a:lnSpc>
              </a:pPr>
              <a:endParaRPr lang="en-US" altLang="zh-CN" b="1">
                <a:latin typeface="Arial" panose="020B0604020202020204" pitchFamily="34" charset="0"/>
              </a:endParaRPr>
            </a:p>
            <a:p>
              <a:pPr>
                <a:lnSpc>
                  <a:spcPct val="85000"/>
                </a:lnSpc>
              </a:pPr>
              <a:endParaRPr lang="en-US" altLang="zh-CN" b="1">
                <a:latin typeface="Arial" panose="020B0604020202020204" pitchFamily="34" charset="0"/>
              </a:endParaRPr>
            </a:p>
            <a:p>
              <a:pPr>
                <a:lnSpc>
                  <a:spcPct val="85000"/>
                </a:lnSpc>
              </a:pPr>
              <a:r>
                <a:rPr lang="en-US" altLang="zh-CN" b="1">
                  <a:latin typeface="Arial" panose="020B0604020202020204" pitchFamily="34" charset="0"/>
                </a:rPr>
                <a:t>              CALL C</a:t>
              </a:r>
            </a:p>
            <a:p>
              <a:pPr>
                <a:lnSpc>
                  <a:spcPct val="85000"/>
                </a:lnSpc>
              </a:pPr>
              <a:endParaRPr lang="en-US" altLang="zh-CN" b="1">
                <a:latin typeface="Arial" panose="020B0604020202020204" pitchFamily="34" charset="0"/>
              </a:endParaRPr>
            </a:p>
            <a:p>
              <a:pPr>
                <a:lnSpc>
                  <a:spcPct val="85000"/>
                </a:lnSpc>
              </a:pPr>
              <a:r>
                <a:rPr lang="en-US" altLang="zh-CN" b="1">
                  <a:latin typeface="Arial" panose="020B0604020202020204" pitchFamily="34" charset="0"/>
                </a:rPr>
                <a:t>              C:  </a:t>
              </a:r>
            </a:p>
            <a:p>
              <a:pPr>
                <a:lnSpc>
                  <a:spcPct val="85000"/>
                </a:lnSpc>
              </a:pPr>
              <a:r>
                <a:rPr lang="en-US" altLang="zh-CN" b="1">
                  <a:latin typeface="Arial" panose="020B0604020202020204" pitchFamily="34" charset="0"/>
                </a:rPr>
                <a:t>                      RET</a:t>
              </a:r>
            </a:p>
            <a:p>
              <a:pPr>
                <a:lnSpc>
                  <a:spcPct val="85000"/>
                </a:lnSpc>
              </a:pPr>
              <a:endParaRPr lang="en-US" altLang="zh-CN" b="1">
                <a:latin typeface="Arial" panose="020B0604020202020204" pitchFamily="34" charset="0"/>
              </a:endParaRPr>
            </a:p>
            <a:p>
              <a:pPr>
                <a:lnSpc>
                  <a:spcPct val="85000"/>
                </a:lnSpc>
              </a:pPr>
              <a:endParaRPr lang="en-US" altLang="zh-CN" b="1">
                <a:latin typeface="Arial" panose="020B0604020202020204" pitchFamily="34" charset="0"/>
              </a:endParaRPr>
            </a:p>
            <a:p>
              <a:pPr>
                <a:lnSpc>
                  <a:spcPct val="85000"/>
                </a:lnSpc>
              </a:pPr>
              <a:r>
                <a:rPr lang="en-US" altLang="zh-CN" b="1">
                  <a:latin typeface="Arial" panose="020B0604020202020204" pitchFamily="34" charset="0"/>
                </a:rPr>
                <a:t>              RET</a:t>
              </a:r>
            </a:p>
          </p:txBody>
        </p:sp>
        <p:sp>
          <p:nvSpPr>
            <p:cNvPr id="53254" name="Line 6"/>
            <p:cNvSpPr>
              <a:spLocks noChangeShapeType="1"/>
            </p:cNvSpPr>
            <p:nvPr/>
          </p:nvSpPr>
          <p:spPr bwMode="auto">
            <a:xfrm flipH="1">
              <a:off x="1628" y="1680"/>
              <a:ext cx="34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5" name="Line 7"/>
            <p:cNvSpPr>
              <a:spLocks noChangeShapeType="1"/>
            </p:cNvSpPr>
            <p:nvPr/>
          </p:nvSpPr>
          <p:spPr bwMode="auto">
            <a:xfrm>
              <a:off x="1632" y="1684"/>
              <a:ext cx="0" cy="4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6" name="Line 8"/>
            <p:cNvSpPr>
              <a:spLocks noChangeShapeType="1"/>
            </p:cNvSpPr>
            <p:nvPr/>
          </p:nvSpPr>
          <p:spPr bwMode="auto">
            <a:xfrm>
              <a:off x="1636" y="2160"/>
              <a:ext cx="32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7" name="Line 9"/>
            <p:cNvSpPr>
              <a:spLocks noChangeShapeType="1"/>
            </p:cNvSpPr>
            <p:nvPr/>
          </p:nvSpPr>
          <p:spPr bwMode="auto">
            <a:xfrm flipH="1">
              <a:off x="1292" y="1248"/>
              <a:ext cx="29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8" name="Line 10"/>
            <p:cNvSpPr>
              <a:spLocks noChangeShapeType="1"/>
            </p:cNvSpPr>
            <p:nvPr/>
          </p:nvSpPr>
          <p:spPr bwMode="auto">
            <a:xfrm>
              <a:off x="1296" y="1252"/>
              <a:ext cx="0" cy="1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9" name="Line 11"/>
            <p:cNvSpPr>
              <a:spLocks noChangeShapeType="1"/>
            </p:cNvSpPr>
            <p:nvPr/>
          </p:nvSpPr>
          <p:spPr bwMode="auto">
            <a:xfrm>
              <a:off x="1300" y="2544"/>
              <a:ext cx="2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0" name="Line 12"/>
            <p:cNvSpPr>
              <a:spLocks noChangeShapeType="1"/>
            </p:cNvSpPr>
            <p:nvPr/>
          </p:nvSpPr>
          <p:spPr bwMode="auto">
            <a:xfrm>
              <a:off x="3456" y="756"/>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1" name="Line 13"/>
            <p:cNvSpPr>
              <a:spLocks noChangeShapeType="1"/>
            </p:cNvSpPr>
            <p:nvPr/>
          </p:nvSpPr>
          <p:spPr bwMode="auto">
            <a:xfrm>
              <a:off x="3460" y="1088"/>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2" name="Line 14"/>
            <p:cNvSpPr>
              <a:spLocks noChangeShapeType="1"/>
            </p:cNvSpPr>
            <p:nvPr/>
          </p:nvSpPr>
          <p:spPr bwMode="auto">
            <a:xfrm>
              <a:off x="3460" y="752"/>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3" name="Line 15"/>
            <p:cNvSpPr>
              <a:spLocks noChangeShapeType="1"/>
            </p:cNvSpPr>
            <p:nvPr/>
          </p:nvSpPr>
          <p:spPr bwMode="auto">
            <a:xfrm>
              <a:off x="3696" y="756"/>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4" name="Line 16"/>
            <p:cNvSpPr>
              <a:spLocks noChangeShapeType="1"/>
            </p:cNvSpPr>
            <p:nvPr/>
          </p:nvSpPr>
          <p:spPr bwMode="auto">
            <a:xfrm flipH="1">
              <a:off x="1004" y="864"/>
              <a:ext cx="39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5" name="Line 17"/>
            <p:cNvSpPr>
              <a:spLocks noChangeShapeType="1"/>
            </p:cNvSpPr>
            <p:nvPr/>
          </p:nvSpPr>
          <p:spPr bwMode="auto">
            <a:xfrm>
              <a:off x="1008" y="868"/>
              <a:ext cx="0" cy="18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6" name="Line 18"/>
            <p:cNvSpPr>
              <a:spLocks noChangeShapeType="1"/>
            </p:cNvSpPr>
            <p:nvPr/>
          </p:nvSpPr>
          <p:spPr bwMode="auto">
            <a:xfrm>
              <a:off x="1012" y="2736"/>
              <a:ext cx="3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7" name="Rectangle 19"/>
            <p:cNvSpPr>
              <a:spLocks noChangeArrowheads="1"/>
            </p:cNvSpPr>
            <p:nvPr/>
          </p:nvSpPr>
          <p:spPr bwMode="auto">
            <a:xfrm>
              <a:off x="1064" y="1264"/>
              <a:ext cx="31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B:  </a:t>
              </a:r>
            </a:p>
          </p:txBody>
        </p:sp>
        <p:sp>
          <p:nvSpPr>
            <p:cNvPr id="53268" name="Rectangle 20"/>
            <p:cNvSpPr>
              <a:spLocks noChangeArrowheads="1"/>
            </p:cNvSpPr>
            <p:nvPr/>
          </p:nvSpPr>
          <p:spPr bwMode="auto">
            <a:xfrm>
              <a:off x="3496" y="832"/>
              <a:ext cx="18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a:t>
              </a:r>
            </a:p>
          </p:txBody>
        </p:sp>
        <p:sp>
          <p:nvSpPr>
            <p:cNvPr id="53269" name="Line 21"/>
            <p:cNvSpPr>
              <a:spLocks noChangeShapeType="1"/>
            </p:cNvSpPr>
            <p:nvPr/>
          </p:nvSpPr>
          <p:spPr bwMode="auto">
            <a:xfrm>
              <a:off x="3456" y="1188"/>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0" name="Line 22"/>
            <p:cNvSpPr>
              <a:spLocks noChangeShapeType="1"/>
            </p:cNvSpPr>
            <p:nvPr/>
          </p:nvSpPr>
          <p:spPr bwMode="auto">
            <a:xfrm>
              <a:off x="3460" y="1520"/>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1" name="Line 23"/>
            <p:cNvSpPr>
              <a:spLocks noChangeShapeType="1"/>
            </p:cNvSpPr>
            <p:nvPr/>
          </p:nvSpPr>
          <p:spPr bwMode="auto">
            <a:xfrm>
              <a:off x="3460" y="1184"/>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2" name="Line 24"/>
            <p:cNvSpPr>
              <a:spLocks noChangeShapeType="1"/>
            </p:cNvSpPr>
            <p:nvPr/>
          </p:nvSpPr>
          <p:spPr bwMode="auto">
            <a:xfrm>
              <a:off x="3696" y="1188"/>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3" name="Rectangle 25"/>
            <p:cNvSpPr>
              <a:spLocks noChangeArrowheads="1"/>
            </p:cNvSpPr>
            <p:nvPr/>
          </p:nvSpPr>
          <p:spPr bwMode="auto">
            <a:xfrm>
              <a:off x="3496" y="1264"/>
              <a:ext cx="18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a:t>
              </a:r>
            </a:p>
          </p:txBody>
        </p:sp>
        <p:sp>
          <p:nvSpPr>
            <p:cNvPr id="53274" name="Line 26"/>
            <p:cNvSpPr>
              <a:spLocks noChangeShapeType="1"/>
            </p:cNvSpPr>
            <p:nvPr/>
          </p:nvSpPr>
          <p:spPr bwMode="auto">
            <a:xfrm>
              <a:off x="3936" y="1188"/>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5" name="Rectangle 27"/>
            <p:cNvSpPr>
              <a:spLocks noChangeArrowheads="1"/>
            </p:cNvSpPr>
            <p:nvPr/>
          </p:nvSpPr>
          <p:spPr bwMode="auto">
            <a:xfrm>
              <a:off x="3736" y="1264"/>
              <a:ext cx="18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B</a:t>
              </a:r>
            </a:p>
          </p:txBody>
        </p:sp>
        <p:sp>
          <p:nvSpPr>
            <p:cNvPr id="53276" name="Line 28"/>
            <p:cNvSpPr>
              <a:spLocks noChangeShapeType="1"/>
            </p:cNvSpPr>
            <p:nvPr/>
          </p:nvSpPr>
          <p:spPr bwMode="auto">
            <a:xfrm>
              <a:off x="3456" y="1636"/>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7" name="Line 29"/>
            <p:cNvSpPr>
              <a:spLocks noChangeShapeType="1"/>
            </p:cNvSpPr>
            <p:nvPr/>
          </p:nvSpPr>
          <p:spPr bwMode="auto">
            <a:xfrm>
              <a:off x="3460" y="1968"/>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8" name="Line 30"/>
            <p:cNvSpPr>
              <a:spLocks noChangeShapeType="1"/>
            </p:cNvSpPr>
            <p:nvPr/>
          </p:nvSpPr>
          <p:spPr bwMode="auto">
            <a:xfrm>
              <a:off x="3460" y="1632"/>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9" name="Line 31"/>
            <p:cNvSpPr>
              <a:spLocks noChangeShapeType="1"/>
            </p:cNvSpPr>
            <p:nvPr/>
          </p:nvSpPr>
          <p:spPr bwMode="auto">
            <a:xfrm>
              <a:off x="3696" y="1636"/>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0" name="Rectangle 32"/>
            <p:cNvSpPr>
              <a:spLocks noChangeArrowheads="1"/>
            </p:cNvSpPr>
            <p:nvPr/>
          </p:nvSpPr>
          <p:spPr bwMode="auto">
            <a:xfrm>
              <a:off x="3496" y="1712"/>
              <a:ext cx="18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a:t>
              </a:r>
            </a:p>
          </p:txBody>
        </p:sp>
        <p:sp>
          <p:nvSpPr>
            <p:cNvPr id="53281" name="Line 33"/>
            <p:cNvSpPr>
              <a:spLocks noChangeShapeType="1"/>
            </p:cNvSpPr>
            <p:nvPr/>
          </p:nvSpPr>
          <p:spPr bwMode="auto">
            <a:xfrm>
              <a:off x="3936" y="1636"/>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2" name="Rectangle 34"/>
            <p:cNvSpPr>
              <a:spLocks noChangeArrowheads="1"/>
            </p:cNvSpPr>
            <p:nvPr/>
          </p:nvSpPr>
          <p:spPr bwMode="auto">
            <a:xfrm>
              <a:off x="3736" y="1712"/>
              <a:ext cx="18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B</a:t>
              </a:r>
            </a:p>
          </p:txBody>
        </p:sp>
        <p:sp>
          <p:nvSpPr>
            <p:cNvPr id="53283" name="Line 35"/>
            <p:cNvSpPr>
              <a:spLocks noChangeShapeType="1"/>
            </p:cNvSpPr>
            <p:nvPr/>
          </p:nvSpPr>
          <p:spPr bwMode="auto">
            <a:xfrm>
              <a:off x="4160" y="1636"/>
              <a:ext cx="0" cy="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4" name="Rectangle 36"/>
            <p:cNvSpPr>
              <a:spLocks noChangeArrowheads="1"/>
            </p:cNvSpPr>
            <p:nvPr/>
          </p:nvSpPr>
          <p:spPr bwMode="auto">
            <a:xfrm>
              <a:off x="3960" y="1712"/>
              <a:ext cx="18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C</a:t>
              </a:r>
            </a:p>
          </p:txBody>
        </p:sp>
        <p:sp>
          <p:nvSpPr>
            <p:cNvPr id="53285" name="Line 37"/>
            <p:cNvSpPr>
              <a:spLocks noChangeShapeType="1"/>
            </p:cNvSpPr>
            <p:nvPr/>
          </p:nvSpPr>
          <p:spPr bwMode="auto">
            <a:xfrm>
              <a:off x="3456" y="2052"/>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6" name="Line 38"/>
            <p:cNvSpPr>
              <a:spLocks noChangeShapeType="1"/>
            </p:cNvSpPr>
            <p:nvPr/>
          </p:nvSpPr>
          <p:spPr bwMode="auto">
            <a:xfrm>
              <a:off x="3460" y="2384"/>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7" name="Line 39"/>
            <p:cNvSpPr>
              <a:spLocks noChangeShapeType="1"/>
            </p:cNvSpPr>
            <p:nvPr/>
          </p:nvSpPr>
          <p:spPr bwMode="auto">
            <a:xfrm>
              <a:off x="3460" y="2048"/>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8" name="Line 40"/>
            <p:cNvSpPr>
              <a:spLocks noChangeShapeType="1"/>
            </p:cNvSpPr>
            <p:nvPr/>
          </p:nvSpPr>
          <p:spPr bwMode="auto">
            <a:xfrm>
              <a:off x="3696" y="2052"/>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9" name="Rectangle 41"/>
            <p:cNvSpPr>
              <a:spLocks noChangeArrowheads="1"/>
            </p:cNvSpPr>
            <p:nvPr/>
          </p:nvSpPr>
          <p:spPr bwMode="auto">
            <a:xfrm>
              <a:off x="3496" y="2128"/>
              <a:ext cx="18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a:t>
              </a:r>
            </a:p>
          </p:txBody>
        </p:sp>
        <p:sp>
          <p:nvSpPr>
            <p:cNvPr id="53290" name="Line 42"/>
            <p:cNvSpPr>
              <a:spLocks noChangeShapeType="1"/>
            </p:cNvSpPr>
            <p:nvPr/>
          </p:nvSpPr>
          <p:spPr bwMode="auto">
            <a:xfrm>
              <a:off x="3936" y="2052"/>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1" name="Rectangle 43"/>
            <p:cNvSpPr>
              <a:spLocks noChangeArrowheads="1"/>
            </p:cNvSpPr>
            <p:nvPr/>
          </p:nvSpPr>
          <p:spPr bwMode="auto">
            <a:xfrm>
              <a:off x="3736" y="2128"/>
              <a:ext cx="18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B</a:t>
              </a:r>
            </a:p>
          </p:txBody>
        </p:sp>
        <p:sp>
          <p:nvSpPr>
            <p:cNvPr id="53292" name="Line 44"/>
            <p:cNvSpPr>
              <a:spLocks noChangeShapeType="1"/>
            </p:cNvSpPr>
            <p:nvPr/>
          </p:nvSpPr>
          <p:spPr bwMode="auto">
            <a:xfrm>
              <a:off x="3456" y="2484"/>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3" name="Line 45"/>
            <p:cNvSpPr>
              <a:spLocks noChangeShapeType="1"/>
            </p:cNvSpPr>
            <p:nvPr/>
          </p:nvSpPr>
          <p:spPr bwMode="auto">
            <a:xfrm>
              <a:off x="3460" y="2816"/>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4" name="Line 46"/>
            <p:cNvSpPr>
              <a:spLocks noChangeShapeType="1"/>
            </p:cNvSpPr>
            <p:nvPr/>
          </p:nvSpPr>
          <p:spPr bwMode="auto">
            <a:xfrm>
              <a:off x="3460" y="2480"/>
              <a:ext cx="1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5" name="Line 47"/>
            <p:cNvSpPr>
              <a:spLocks noChangeShapeType="1"/>
            </p:cNvSpPr>
            <p:nvPr/>
          </p:nvSpPr>
          <p:spPr bwMode="auto">
            <a:xfrm>
              <a:off x="3696" y="2484"/>
              <a:ext cx="0" cy="3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6" name="Rectangle 48"/>
            <p:cNvSpPr>
              <a:spLocks noChangeArrowheads="1"/>
            </p:cNvSpPr>
            <p:nvPr/>
          </p:nvSpPr>
          <p:spPr bwMode="auto">
            <a:xfrm>
              <a:off x="3496" y="2560"/>
              <a:ext cx="18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a:t>
              </a:r>
            </a:p>
          </p:txBody>
        </p:sp>
        <p:sp>
          <p:nvSpPr>
            <p:cNvPr id="53297" name="Line 49"/>
            <p:cNvSpPr>
              <a:spLocks noChangeShapeType="1"/>
            </p:cNvSpPr>
            <p:nvPr/>
          </p:nvSpPr>
          <p:spPr bwMode="auto">
            <a:xfrm flipV="1">
              <a:off x="1268" y="876"/>
              <a:ext cx="2136" cy="7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8" name="Line 50"/>
            <p:cNvSpPr>
              <a:spLocks noChangeShapeType="1"/>
            </p:cNvSpPr>
            <p:nvPr/>
          </p:nvSpPr>
          <p:spPr bwMode="auto">
            <a:xfrm>
              <a:off x="1444" y="1332"/>
              <a:ext cx="1976" cy="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9" name="Line 51"/>
            <p:cNvSpPr>
              <a:spLocks noChangeShapeType="1"/>
            </p:cNvSpPr>
            <p:nvPr/>
          </p:nvSpPr>
          <p:spPr bwMode="auto">
            <a:xfrm>
              <a:off x="1828" y="1764"/>
              <a:ext cx="1592" cy="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0" name="Line 52"/>
            <p:cNvSpPr>
              <a:spLocks noChangeShapeType="1"/>
            </p:cNvSpPr>
            <p:nvPr/>
          </p:nvSpPr>
          <p:spPr bwMode="auto">
            <a:xfrm>
              <a:off x="1780" y="2240"/>
              <a:ext cx="165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1" name="Line 53"/>
            <p:cNvSpPr>
              <a:spLocks noChangeShapeType="1"/>
            </p:cNvSpPr>
            <p:nvPr/>
          </p:nvSpPr>
          <p:spPr bwMode="auto">
            <a:xfrm>
              <a:off x="1412" y="2628"/>
              <a:ext cx="2024" cy="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302" name="Rectangle 54"/>
          <p:cNvSpPr>
            <a:spLocks noChangeArrowheads="1"/>
          </p:cNvSpPr>
          <p:nvPr/>
        </p:nvSpPr>
        <p:spPr bwMode="auto">
          <a:xfrm>
            <a:off x="1199408" y="5253038"/>
            <a:ext cx="10094025" cy="152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p>
            <a:pPr>
              <a:lnSpc>
                <a:spcPct val="85000"/>
              </a:lnSpc>
            </a:pPr>
            <a:r>
              <a:rPr lang="en-US" altLang="zh-CN" sz="2400" b="1" dirty="0">
                <a:latin typeface="Arial" panose="020B0604020202020204" pitchFamily="34" charset="0"/>
              </a:rPr>
              <a:t>Some machines provide a memory stack as part </a:t>
            </a:r>
            <a:r>
              <a:rPr lang="en-US" altLang="zh-CN" sz="2400" b="1" dirty="0" smtClean="0">
                <a:latin typeface="Arial" panose="020B0604020202020204" pitchFamily="34" charset="0"/>
              </a:rPr>
              <a:t>of </a:t>
            </a:r>
            <a:r>
              <a:rPr lang="en-US" altLang="zh-CN" sz="2400" b="1" dirty="0">
                <a:latin typeface="Arial" panose="020B0604020202020204" pitchFamily="34" charset="0"/>
              </a:rPr>
              <a:t>the architecture (e.g., </a:t>
            </a:r>
            <a:r>
              <a:rPr lang="en-US" altLang="zh-CN" sz="2400" b="1" dirty="0" smtClean="0">
                <a:latin typeface="Arial" panose="020B0604020202020204" pitchFamily="34" charset="0"/>
              </a:rPr>
              <a:t>VAX and x86)</a:t>
            </a:r>
            <a:endParaRPr lang="en-US" altLang="zh-CN" sz="2400" b="1" dirty="0">
              <a:latin typeface="Arial" panose="020B0604020202020204" pitchFamily="34" charset="0"/>
            </a:endParaRPr>
          </a:p>
          <a:p>
            <a:pPr>
              <a:lnSpc>
                <a:spcPct val="85000"/>
              </a:lnSpc>
            </a:pPr>
            <a:r>
              <a:rPr lang="en-US" altLang="zh-CN" sz="2400" b="1" dirty="0">
                <a:latin typeface="Arial" panose="020B0604020202020204" pitchFamily="34" charset="0"/>
              </a:rPr>
              <a:t>Sometimes stacks are implemented via software </a:t>
            </a:r>
            <a:r>
              <a:rPr lang="en-US" altLang="zh-CN" sz="2400" b="1" dirty="0" smtClean="0">
                <a:latin typeface="Arial" panose="020B0604020202020204" pitchFamily="34" charset="0"/>
              </a:rPr>
              <a:t>convention  </a:t>
            </a:r>
            <a:r>
              <a:rPr lang="en-US" altLang="zh-CN" sz="2400" b="1" dirty="0">
                <a:latin typeface="Arial" panose="020B0604020202020204" pitchFamily="34" charset="0"/>
              </a:rPr>
              <a:t>(e.g., </a:t>
            </a:r>
            <a:r>
              <a:rPr lang="en-US" altLang="zh-CN" sz="2400" b="1" dirty="0" smtClean="0">
                <a:latin typeface="Arial" panose="020B0604020202020204" pitchFamily="34" charset="0"/>
              </a:rPr>
              <a:t>MIPS and other RISCs)</a:t>
            </a:r>
            <a:endParaRPr lang="en-US" altLang="zh-CN" sz="2400" b="1" dirty="0">
              <a:latin typeface="Arial" panose="020B0604020202020204" pitchFamily="34" charset="0"/>
            </a:endParaRPr>
          </a:p>
          <a:p>
            <a:pPr latinLnBrk="1">
              <a:lnSpc>
                <a:spcPct val="85000"/>
              </a:lnSpc>
            </a:pPr>
            <a:endParaRPr lang="en-US" altLang="zh-CN" b="1" dirty="0">
              <a:latin typeface="Arial" panose="020B0604020202020204" pitchFamily="34" charset="0"/>
            </a:endParaRPr>
          </a:p>
        </p:txBody>
      </p:sp>
    </p:spTree>
    <p:extLst>
      <p:ext uri="{BB962C8B-B14F-4D97-AF65-F5344CB8AC3E}">
        <p14:creationId xmlns:p14="http://schemas.microsoft.com/office/powerpoint/2010/main" val="3868704365"/>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2390025" y="317060"/>
            <a:ext cx="4017125"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dirty="0"/>
              <a:t>Memory Stacks</a:t>
            </a:r>
          </a:p>
        </p:txBody>
      </p:sp>
      <p:sp>
        <p:nvSpPr>
          <p:cNvPr id="54275" name="Rectangle 3"/>
          <p:cNvSpPr>
            <a:spLocks noChangeArrowheads="1"/>
          </p:cNvSpPr>
          <p:nvPr/>
        </p:nvSpPr>
        <p:spPr bwMode="auto">
          <a:xfrm>
            <a:off x="2286000" y="139700"/>
            <a:ext cx="254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76" name="Rectangle 4"/>
          <p:cNvSpPr>
            <a:spLocks noChangeArrowheads="1"/>
          </p:cNvSpPr>
          <p:nvPr/>
        </p:nvSpPr>
        <p:spPr bwMode="auto">
          <a:xfrm>
            <a:off x="1074717" y="1071565"/>
            <a:ext cx="10266218" cy="28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p>
            <a:pPr>
              <a:lnSpc>
                <a:spcPct val="85000"/>
              </a:lnSpc>
            </a:pPr>
            <a:r>
              <a:rPr lang="en-US" altLang="zh-CN" b="1" dirty="0">
                <a:latin typeface="Arial" panose="020B0604020202020204" pitchFamily="34" charset="0"/>
              </a:rPr>
              <a:t>Useful for stacked environments/subroutine call &amp; </a:t>
            </a:r>
            <a:r>
              <a:rPr lang="en-US" altLang="zh-CN" b="1" dirty="0" smtClean="0">
                <a:latin typeface="Arial" panose="020B0604020202020204" pitchFamily="34" charset="0"/>
              </a:rPr>
              <a:t>return</a:t>
            </a:r>
            <a:endParaRPr lang="en-US" altLang="zh-CN" b="1" dirty="0">
              <a:latin typeface="Arial" panose="020B0604020202020204" pitchFamily="34" charset="0"/>
            </a:endParaRPr>
          </a:p>
        </p:txBody>
      </p:sp>
      <p:sp>
        <p:nvSpPr>
          <p:cNvPr id="54277" name="Rectangle 5"/>
          <p:cNvSpPr>
            <a:spLocks noChangeArrowheads="1"/>
          </p:cNvSpPr>
          <p:nvPr/>
        </p:nvSpPr>
        <p:spPr bwMode="auto">
          <a:xfrm>
            <a:off x="2374900" y="1625601"/>
            <a:ext cx="5435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latin typeface="Arial" panose="020B0604020202020204" pitchFamily="34" charset="0"/>
              </a:rPr>
              <a:t>Stacks that Grow Up vs. Stacks that Grow Down:</a:t>
            </a:r>
          </a:p>
        </p:txBody>
      </p:sp>
      <p:sp>
        <p:nvSpPr>
          <p:cNvPr id="54278" name="Line 6"/>
          <p:cNvSpPr>
            <a:spLocks noChangeShapeType="1"/>
          </p:cNvSpPr>
          <p:nvPr/>
        </p:nvSpPr>
        <p:spPr bwMode="auto">
          <a:xfrm>
            <a:off x="3581400" y="2139950"/>
            <a:ext cx="0" cy="1892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79" name="Line 7"/>
          <p:cNvSpPr>
            <a:spLocks noChangeShapeType="1"/>
          </p:cNvSpPr>
          <p:nvPr/>
        </p:nvSpPr>
        <p:spPr bwMode="auto">
          <a:xfrm>
            <a:off x="5715000" y="2139950"/>
            <a:ext cx="0" cy="1892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0" name="Line 8"/>
          <p:cNvSpPr>
            <a:spLocks noChangeShapeType="1"/>
          </p:cNvSpPr>
          <p:nvPr/>
        </p:nvSpPr>
        <p:spPr bwMode="auto">
          <a:xfrm>
            <a:off x="3587750" y="3733800"/>
            <a:ext cx="2120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1" name="Line 9"/>
          <p:cNvSpPr>
            <a:spLocks noChangeShapeType="1"/>
          </p:cNvSpPr>
          <p:nvPr/>
        </p:nvSpPr>
        <p:spPr bwMode="auto">
          <a:xfrm>
            <a:off x="3587750" y="3505200"/>
            <a:ext cx="2120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2" name="Line 10"/>
          <p:cNvSpPr>
            <a:spLocks noChangeShapeType="1"/>
          </p:cNvSpPr>
          <p:nvPr/>
        </p:nvSpPr>
        <p:spPr bwMode="auto">
          <a:xfrm>
            <a:off x="3587750" y="3276600"/>
            <a:ext cx="2120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3" name="Line 11"/>
          <p:cNvSpPr>
            <a:spLocks noChangeShapeType="1"/>
          </p:cNvSpPr>
          <p:nvPr/>
        </p:nvSpPr>
        <p:spPr bwMode="auto">
          <a:xfrm>
            <a:off x="3587750" y="3048000"/>
            <a:ext cx="2120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4" name="Rectangle 12"/>
          <p:cNvSpPr>
            <a:spLocks noChangeArrowheads="1"/>
          </p:cNvSpPr>
          <p:nvPr/>
        </p:nvSpPr>
        <p:spPr bwMode="auto">
          <a:xfrm>
            <a:off x="4432300" y="3505201"/>
            <a:ext cx="2540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a:t>
            </a:r>
          </a:p>
        </p:txBody>
      </p:sp>
      <p:sp>
        <p:nvSpPr>
          <p:cNvPr id="54285" name="Rectangle 13"/>
          <p:cNvSpPr>
            <a:spLocks noChangeArrowheads="1"/>
          </p:cNvSpPr>
          <p:nvPr/>
        </p:nvSpPr>
        <p:spPr bwMode="auto">
          <a:xfrm>
            <a:off x="4432300" y="3276601"/>
            <a:ext cx="2667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b</a:t>
            </a:r>
          </a:p>
        </p:txBody>
      </p:sp>
      <p:sp>
        <p:nvSpPr>
          <p:cNvPr id="54286" name="Rectangle 14"/>
          <p:cNvSpPr>
            <a:spLocks noChangeArrowheads="1"/>
          </p:cNvSpPr>
          <p:nvPr/>
        </p:nvSpPr>
        <p:spPr bwMode="auto">
          <a:xfrm>
            <a:off x="4432300" y="3048001"/>
            <a:ext cx="2540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c</a:t>
            </a:r>
          </a:p>
        </p:txBody>
      </p:sp>
      <p:sp>
        <p:nvSpPr>
          <p:cNvPr id="54287" name="Line 15"/>
          <p:cNvSpPr>
            <a:spLocks noChangeShapeType="1"/>
          </p:cNvSpPr>
          <p:nvPr/>
        </p:nvSpPr>
        <p:spPr bwMode="auto">
          <a:xfrm flipV="1">
            <a:off x="6299200" y="2101850"/>
            <a:ext cx="0" cy="19685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8" name="Rectangle 16"/>
          <p:cNvSpPr>
            <a:spLocks noChangeArrowheads="1"/>
          </p:cNvSpPr>
          <p:nvPr/>
        </p:nvSpPr>
        <p:spPr bwMode="auto">
          <a:xfrm>
            <a:off x="6388100" y="3860801"/>
            <a:ext cx="9271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0  Little</a:t>
            </a:r>
          </a:p>
        </p:txBody>
      </p:sp>
      <p:sp>
        <p:nvSpPr>
          <p:cNvPr id="54289" name="Rectangle 17"/>
          <p:cNvSpPr>
            <a:spLocks noChangeArrowheads="1"/>
          </p:cNvSpPr>
          <p:nvPr/>
        </p:nvSpPr>
        <p:spPr bwMode="auto">
          <a:xfrm>
            <a:off x="6388100" y="2159001"/>
            <a:ext cx="9652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inf.  Big</a:t>
            </a:r>
          </a:p>
        </p:txBody>
      </p:sp>
      <p:sp>
        <p:nvSpPr>
          <p:cNvPr id="54290" name="Rectangle 18"/>
          <p:cNvSpPr>
            <a:spLocks noChangeArrowheads="1"/>
          </p:cNvSpPr>
          <p:nvPr/>
        </p:nvSpPr>
        <p:spPr bwMode="auto">
          <a:xfrm>
            <a:off x="7835900" y="2133601"/>
            <a:ext cx="9271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0  Little</a:t>
            </a:r>
          </a:p>
        </p:txBody>
      </p:sp>
      <p:sp>
        <p:nvSpPr>
          <p:cNvPr id="54291" name="Rectangle 19"/>
          <p:cNvSpPr>
            <a:spLocks noChangeArrowheads="1"/>
          </p:cNvSpPr>
          <p:nvPr/>
        </p:nvSpPr>
        <p:spPr bwMode="auto">
          <a:xfrm>
            <a:off x="7861300" y="3835401"/>
            <a:ext cx="9652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inf.  Big</a:t>
            </a:r>
          </a:p>
        </p:txBody>
      </p:sp>
      <p:sp>
        <p:nvSpPr>
          <p:cNvPr id="54292" name="Rectangle 20"/>
          <p:cNvSpPr>
            <a:spLocks noChangeArrowheads="1"/>
          </p:cNvSpPr>
          <p:nvPr/>
        </p:nvSpPr>
        <p:spPr bwMode="auto">
          <a:xfrm>
            <a:off x="9029700" y="2794001"/>
            <a:ext cx="12954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Memory</a:t>
            </a:r>
          </a:p>
          <a:p>
            <a:pPr>
              <a:lnSpc>
                <a:spcPct val="85000"/>
              </a:lnSpc>
            </a:pPr>
            <a:r>
              <a:rPr lang="en-US" altLang="zh-CN" b="1">
                <a:latin typeface="Arial" panose="020B0604020202020204" pitchFamily="34" charset="0"/>
              </a:rPr>
              <a:t>Addresses</a:t>
            </a:r>
          </a:p>
        </p:txBody>
      </p:sp>
      <p:sp>
        <p:nvSpPr>
          <p:cNvPr id="54293" name="Rectangle 21"/>
          <p:cNvSpPr>
            <a:spLocks noChangeArrowheads="1"/>
          </p:cNvSpPr>
          <p:nvPr/>
        </p:nvSpPr>
        <p:spPr bwMode="auto">
          <a:xfrm>
            <a:off x="2254250" y="3524251"/>
            <a:ext cx="444500" cy="3159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nchor="ctr">
            <a:spAutoFit/>
          </a:bodyPr>
          <a:lstStyle/>
          <a:p>
            <a:pPr algn="ctr">
              <a:lnSpc>
                <a:spcPct val="92000"/>
              </a:lnSpc>
            </a:pPr>
            <a:r>
              <a:rPr lang="en-US" altLang="zh-CN" b="1">
                <a:latin typeface="Arial" panose="020B0604020202020204" pitchFamily="34" charset="0"/>
              </a:rPr>
              <a:t>SP</a:t>
            </a:r>
          </a:p>
        </p:txBody>
      </p:sp>
      <p:sp>
        <p:nvSpPr>
          <p:cNvPr id="54294" name="Line 22"/>
          <p:cNvSpPr>
            <a:spLocks noChangeShapeType="1"/>
          </p:cNvSpPr>
          <p:nvPr/>
        </p:nvSpPr>
        <p:spPr bwMode="auto">
          <a:xfrm flipV="1">
            <a:off x="2438400" y="3117850"/>
            <a:ext cx="0" cy="393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5" name="Line 23"/>
          <p:cNvSpPr>
            <a:spLocks noChangeShapeType="1"/>
          </p:cNvSpPr>
          <p:nvPr/>
        </p:nvSpPr>
        <p:spPr bwMode="auto">
          <a:xfrm>
            <a:off x="2444750" y="3124200"/>
            <a:ext cx="11303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6" name="Line 24"/>
          <p:cNvSpPr>
            <a:spLocks noChangeShapeType="1"/>
          </p:cNvSpPr>
          <p:nvPr/>
        </p:nvSpPr>
        <p:spPr bwMode="auto">
          <a:xfrm>
            <a:off x="3587750" y="2819400"/>
            <a:ext cx="2120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7" name="Line 25"/>
          <p:cNvSpPr>
            <a:spLocks noChangeShapeType="1"/>
          </p:cNvSpPr>
          <p:nvPr/>
        </p:nvSpPr>
        <p:spPr bwMode="auto">
          <a:xfrm flipV="1">
            <a:off x="2438400" y="2889250"/>
            <a:ext cx="0" cy="241300"/>
          </a:xfrm>
          <a:prstGeom prst="line">
            <a:avLst/>
          </a:prstGeom>
          <a:noFill/>
          <a:ln w="12700">
            <a:pattFill prst="dkUpDiag">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8" name="Line 26"/>
          <p:cNvSpPr>
            <a:spLocks noChangeShapeType="1"/>
          </p:cNvSpPr>
          <p:nvPr/>
        </p:nvSpPr>
        <p:spPr bwMode="auto">
          <a:xfrm>
            <a:off x="2444750" y="2895600"/>
            <a:ext cx="1130300" cy="0"/>
          </a:xfrm>
          <a:prstGeom prst="line">
            <a:avLst/>
          </a:prstGeom>
          <a:noFill/>
          <a:ln w="12700">
            <a:pattFill prst="dkUpDiag">
              <a:fgClr>
                <a:schemeClr val="tx1"/>
              </a:fgClr>
              <a:bgClr>
                <a:schemeClr val="bg1"/>
              </a:bgClr>
            </a:patt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9" name="Rectangle 27"/>
          <p:cNvSpPr>
            <a:spLocks noChangeArrowheads="1"/>
          </p:cNvSpPr>
          <p:nvPr/>
        </p:nvSpPr>
        <p:spPr bwMode="auto">
          <a:xfrm>
            <a:off x="2374900" y="2235201"/>
            <a:ext cx="9652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latin typeface="Arial" panose="020B0604020202020204" pitchFamily="34" charset="0"/>
              </a:rPr>
              <a:t>Next</a:t>
            </a:r>
          </a:p>
          <a:p>
            <a:pPr>
              <a:lnSpc>
                <a:spcPct val="85000"/>
              </a:lnSpc>
            </a:pPr>
            <a:r>
              <a:rPr lang="en-US" altLang="zh-CN" b="1" dirty="0">
                <a:latin typeface="Arial" panose="020B0604020202020204" pitchFamily="34" charset="0"/>
              </a:rPr>
              <a:t>Empty?</a:t>
            </a:r>
          </a:p>
        </p:txBody>
      </p:sp>
      <p:sp>
        <p:nvSpPr>
          <p:cNvPr id="54300" name="Rectangle 28"/>
          <p:cNvSpPr>
            <a:spLocks noChangeArrowheads="1"/>
          </p:cNvSpPr>
          <p:nvPr/>
        </p:nvSpPr>
        <p:spPr bwMode="auto">
          <a:xfrm>
            <a:off x="2832100" y="3378201"/>
            <a:ext cx="6731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Last</a:t>
            </a:r>
          </a:p>
          <a:p>
            <a:pPr>
              <a:lnSpc>
                <a:spcPct val="85000"/>
              </a:lnSpc>
            </a:pPr>
            <a:r>
              <a:rPr lang="en-US" altLang="zh-CN" b="1">
                <a:latin typeface="Arial" panose="020B0604020202020204" pitchFamily="34" charset="0"/>
              </a:rPr>
              <a:t>Full?</a:t>
            </a:r>
          </a:p>
        </p:txBody>
      </p:sp>
      <p:sp>
        <p:nvSpPr>
          <p:cNvPr id="54301" name="Rectangle 29"/>
          <p:cNvSpPr>
            <a:spLocks noChangeArrowheads="1"/>
          </p:cNvSpPr>
          <p:nvPr/>
        </p:nvSpPr>
        <p:spPr bwMode="auto">
          <a:xfrm>
            <a:off x="2298700" y="4140201"/>
            <a:ext cx="37592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How is empty stack represented?</a:t>
            </a:r>
          </a:p>
        </p:txBody>
      </p:sp>
      <p:sp>
        <p:nvSpPr>
          <p:cNvPr id="54302" name="Rectangle 30"/>
          <p:cNvSpPr>
            <a:spLocks noChangeArrowheads="1"/>
          </p:cNvSpPr>
          <p:nvPr/>
        </p:nvSpPr>
        <p:spPr bwMode="auto">
          <a:xfrm>
            <a:off x="2298700" y="4673600"/>
            <a:ext cx="3238500" cy="168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u="sng">
                <a:latin typeface="Arial" panose="020B0604020202020204" pitchFamily="34" charset="0"/>
              </a:rPr>
              <a:t>Little --&gt; Big/Last Full</a:t>
            </a:r>
          </a:p>
          <a:p>
            <a:pPr>
              <a:lnSpc>
                <a:spcPct val="85000"/>
              </a:lnSpc>
            </a:pPr>
            <a:endParaRPr lang="en-US" altLang="zh-CN" b="1" u="sng">
              <a:latin typeface="Arial" panose="020B0604020202020204" pitchFamily="34" charset="0"/>
            </a:endParaRPr>
          </a:p>
          <a:p>
            <a:pPr>
              <a:lnSpc>
                <a:spcPct val="85000"/>
              </a:lnSpc>
            </a:pPr>
            <a:r>
              <a:rPr lang="en-US" altLang="zh-CN" b="1">
                <a:latin typeface="Arial" panose="020B0604020202020204" pitchFamily="34" charset="0"/>
              </a:rPr>
              <a:t>POP:      Read from Mem(SP)</a:t>
            </a:r>
          </a:p>
          <a:p>
            <a:pPr>
              <a:lnSpc>
                <a:spcPct val="85000"/>
              </a:lnSpc>
            </a:pPr>
            <a:r>
              <a:rPr lang="en-US" altLang="zh-CN" b="1">
                <a:latin typeface="Arial" panose="020B0604020202020204" pitchFamily="34" charset="0"/>
              </a:rPr>
              <a:t>               Decrement SP</a:t>
            </a:r>
          </a:p>
          <a:p>
            <a:pPr>
              <a:lnSpc>
                <a:spcPct val="85000"/>
              </a:lnSpc>
            </a:pPr>
            <a:endParaRPr lang="en-US" altLang="zh-CN" b="1">
              <a:latin typeface="Arial" panose="020B0604020202020204" pitchFamily="34" charset="0"/>
            </a:endParaRPr>
          </a:p>
          <a:p>
            <a:pPr>
              <a:lnSpc>
                <a:spcPct val="85000"/>
              </a:lnSpc>
            </a:pPr>
            <a:r>
              <a:rPr lang="en-US" altLang="zh-CN" b="1">
                <a:latin typeface="Arial" panose="020B0604020202020204" pitchFamily="34" charset="0"/>
              </a:rPr>
              <a:t>PUSH:    Increment SP</a:t>
            </a:r>
          </a:p>
          <a:p>
            <a:pPr>
              <a:lnSpc>
                <a:spcPct val="85000"/>
              </a:lnSpc>
            </a:pPr>
            <a:r>
              <a:rPr lang="en-US" altLang="zh-CN" b="1">
                <a:latin typeface="Arial" panose="020B0604020202020204" pitchFamily="34" charset="0"/>
              </a:rPr>
              <a:t>               Write to Mem(SP)</a:t>
            </a:r>
          </a:p>
        </p:txBody>
      </p:sp>
      <p:sp>
        <p:nvSpPr>
          <p:cNvPr id="54303" name="Line 31"/>
          <p:cNvSpPr>
            <a:spLocks noChangeShapeType="1"/>
          </p:cNvSpPr>
          <p:nvPr/>
        </p:nvSpPr>
        <p:spPr bwMode="auto">
          <a:xfrm flipV="1">
            <a:off x="7696200" y="2127250"/>
            <a:ext cx="0" cy="19939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4" name="Rectangle 32"/>
          <p:cNvSpPr>
            <a:spLocks noChangeArrowheads="1"/>
          </p:cNvSpPr>
          <p:nvPr/>
        </p:nvSpPr>
        <p:spPr bwMode="auto">
          <a:xfrm>
            <a:off x="6407150" y="2844801"/>
            <a:ext cx="8001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ctr">
              <a:lnSpc>
                <a:spcPct val="85000"/>
              </a:lnSpc>
            </a:pPr>
            <a:r>
              <a:rPr lang="en-US" altLang="zh-CN" b="1" i="1">
                <a:latin typeface="Arial" panose="020B0604020202020204" pitchFamily="34" charset="0"/>
              </a:rPr>
              <a:t>grows</a:t>
            </a:r>
          </a:p>
          <a:p>
            <a:pPr algn="ctr">
              <a:lnSpc>
                <a:spcPct val="85000"/>
              </a:lnSpc>
            </a:pPr>
            <a:r>
              <a:rPr lang="en-US" altLang="zh-CN" b="1" i="1">
                <a:latin typeface="Arial" panose="020B0604020202020204" pitchFamily="34" charset="0"/>
              </a:rPr>
              <a:t>up</a:t>
            </a:r>
          </a:p>
        </p:txBody>
      </p:sp>
      <p:sp>
        <p:nvSpPr>
          <p:cNvPr id="54305" name="Rectangle 33"/>
          <p:cNvSpPr>
            <a:spLocks noChangeArrowheads="1"/>
          </p:cNvSpPr>
          <p:nvPr/>
        </p:nvSpPr>
        <p:spPr bwMode="auto">
          <a:xfrm>
            <a:off x="7861300" y="2844801"/>
            <a:ext cx="8001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latin typeface="Arial" panose="020B0604020202020204" pitchFamily="34" charset="0"/>
              </a:rPr>
              <a:t>grows</a:t>
            </a:r>
          </a:p>
          <a:p>
            <a:pPr>
              <a:lnSpc>
                <a:spcPct val="85000"/>
              </a:lnSpc>
            </a:pPr>
            <a:r>
              <a:rPr lang="en-US" altLang="zh-CN" b="1" i="1">
                <a:latin typeface="Arial" panose="020B0604020202020204" pitchFamily="34" charset="0"/>
              </a:rPr>
              <a:t>down</a:t>
            </a:r>
          </a:p>
        </p:txBody>
      </p:sp>
      <p:sp>
        <p:nvSpPr>
          <p:cNvPr id="54306" name="Rectangle 34"/>
          <p:cNvSpPr>
            <a:spLocks noChangeArrowheads="1"/>
          </p:cNvSpPr>
          <p:nvPr/>
        </p:nvSpPr>
        <p:spPr bwMode="auto">
          <a:xfrm>
            <a:off x="6870700" y="4673600"/>
            <a:ext cx="3251200" cy="168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u="sng">
                <a:latin typeface="Arial" panose="020B0604020202020204" pitchFamily="34" charset="0"/>
              </a:rPr>
              <a:t>Little --&gt; Big/Next Empty</a:t>
            </a:r>
          </a:p>
          <a:p>
            <a:pPr>
              <a:lnSpc>
                <a:spcPct val="85000"/>
              </a:lnSpc>
            </a:pPr>
            <a:endParaRPr lang="en-US" altLang="zh-CN" b="1" u="sng">
              <a:latin typeface="Arial" panose="020B0604020202020204" pitchFamily="34" charset="0"/>
            </a:endParaRPr>
          </a:p>
          <a:p>
            <a:pPr>
              <a:lnSpc>
                <a:spcPct val="85000"/>
              </a:lnSpc>
            </a:pPr>
            <a:r>
              <a:rPr lang="en-US" altLang="zh-CN" b="1">
                <a:latin typeface="Arial" panose="020B0604020202020204" pitchFamily="34" charset="0"/>
              </a:rPr>
              <a:t>POP:      Decrement SP</a:t>
            </a:r>
          </a:p>
          <a:p>
            <a:pPr>
              <a:lnSpc>
                <a:spcPct val="85000"/>
              </a:lnSpc>
            </a:pPr>
            <a:r>
              <a:rPr lang="en-US" altLang="zh-CN" b="1">
                <a:latin typeface="Arial" panose="020B0604020202020204" pitchFamily="34" charset="0"/>
              </a:rPr>
              <a:t>               Read from Mem(SP)</a:t>
            </a:r>
          </a:p>
          <a:p>
            <a:pPr>
              <a:lnSpc>
                <a:spcPct val="85000"/>
              </a:lnSpc>
            </a:pPr>
            <a:endParaRPr lang="en-US" altLang="zh-CN" b="1">
              <a:latin typeface="Arial" panose="020B0604020202020204" pitchFamily="34" charset="0"/>
            </a:endParaRPr>
          </a:p>
          <a:p>
            <a:pPr>
              <a:lnSpc>
                <a:spcPct val="85000"/>
              </a:lnSpc>
            </a:pPr>
            <a:r>
              <a:rPr lang="en-US" altLang="zh-CN" b="1">
                <a:latin typeface="Arial" panose="020B0604020202020204" pitchFamily="34" charset="0"/>
              </a:rPr>
              <a:t>PUSH:    Write to Mem(SP)</a:t>
            </a:r>
          </a:p>
          <a:p>
            <a:pPr>
              <a:lnSpc>
                <a:spcPct val="85000"/>
              </a:lnSpc>
            </a:pPr>
            <a:r>
              <a:rPr lang="en-US" altLang="zh-CN" b="1">
                <a:latin typeface="Arial" panose="020B0604020202020204" pitchFamily="34" charset="0"/>
              </a:rPr>
              <a:t>               Increment SP</a:t>
            </a:r>
          </a:p>
        </p:txBody>
      </p:sp>
      <p:sp>
        <p:nvSpPr>
          <p:cNvPr id="2" name="文本框 1"/>
          <p:cNvSpPr txBox="1"/>
          <p:nvPr/>
        </p:nvSpPr>
        <p:spPr>
          <a:xfrm>
            <a:off x="9529948" y="1702280"/>
            <a:ext cx="2321469" cy="400110"/>
          </a:xfrm>
          <a:prstGeom prst="rect">
            <a:avLst/>
          </a:prstGeom>
          <a:noFill/>
        </p:spPr>
        <p:txBody>
          <a:bodyPr wrap="none" rtlCol="0">
            <a:spAutoFit/>
          </a:bodyPr>
          <a:lstStyle/>
          <a:p>
            <a:r>
              <a:rPr lang="en-US" altLang="zh-CN" sz="2000" b="1" dirty="0" smtClean="0">
                <a:latin typeface="Arial" panose="020B0604020202020204" pitchFamily="34" charset="0"/>
                <a:ea typeface="微软雅黑" panose="020B0503020204020204" pitchFamily="34" charset="-122"/>
                <a:cs typeface="Arial" panose="020B0604020202020204" pitchFamily="34" charset="0"/>
              </a:rPr>
              <a:t>SP: Stack Pointer</a:t>
            </a:r>
            <a:endParaRPr lang="zh-CN" altLang="en-US" sz="2000" b="1"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755125648"/>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516743" y="422583"/>
            <a:ext cx="8912696"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dirty="0"/>
              <a:t>Call-Return Linkage: Stack Frames</a:t>
            </a:r>
          </a:p>
        </p:txBody>
      </p:sp>
      <p:sp>
        <p:nvSpPr>
          <p:cNvPr id="55299" name="Rectangle 3"/>
          <p:cNvSpPr>
            <a:spLocks noChangeArrowheads="1"/>
          </p:cNvSpPr>
          <p:nvPr/>
        </p:nvSpPr>
        <p:spPr bwMode="auto">
          <a:xfrm>
            <a:off x="4121150" y="1528387"/>
            <a:ext cx="2273300" cy="39497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0" name="Rectangle 4"/>
          <p:cNvSpPr>
            <a:spLocks noChangeArrowheads="1"/>
          </p:cNvSpPr>
          <p:nvPr/>
        </p:nvSpPr>
        <p:spPr bwMode="auto">
          <a:xfrm>
            <a:off x="2292350" y="4576387"/>
            <a:ext cx="673100" cy="2921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1" name="Rectangle 5"/>
          <p:cNvSpPr>
            <a:spLocks noChangeArrowheads="1"/>
          </p:cNvSpPr>
          <p:nvPr/>
        </p:nvSpPr>
        <p:spPr bwMode="auto">
          <a:xfrm>
            <a:off x="2374900" y="4671638"/>
            <a:ext cx="4191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FP</a:t>
            </a:r>
          </a:p>
        </p:txBody>
      </p:sp>
      <p:sp>
        <p:nvSpPr>
          <p:cNvPr id="55302" name="Line 6"/>
          <p:cNvSpPr>
            <a:spLocks noChangeShapeType="1"/>
          </p:cNvSpPr>
          <p:nvPr/>
        </p:nvSpPr>
        <p:spPr bwMode="auto">
          <a:xfrm>
            <a:off x="2978150" y="4798637"/>
            <a:ext cx="9779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3" name="Rectangle 7"/>
          <p:cNvSpPr>
            <a:spLocks noChangeArrowheads="1"/>
          </p:cNvSpPr>
          <p:nvPr/>
        </p:nvSpPr>
        <p:spPr bwMode="auto">
          <a:xfrm>
            <a:off x="4813300" y="1852238"/>
            <a:ext cx="7874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ARGS</a:t>
            </a:r>
          </a:p>
        </p:txBody>
      </p:sp>
      <p:sp>
        <p:nvSpPr>
          <p:cNvPr id="55304" name="Rectangle 8"/>
          <p:cNvSpPr>
            <a:spLocks noChangeArrowheads="1"/>
          </p:cNvSpPr>
          <p:nvPr/>
        </p:nvSpPr>
        <p:spPr bwMode="auto">
          <a:xfrm>
            <a:off x="4197350" y="1604587"/>
            <a:ext cx="2120900" cy="9017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5" name="Rectangle 9"/>
          <p:cNvSpPr>
            <a:spLocks noChangeArrowheads="1"/>
          </p:cNvSpPr>
          <p:nvPr/>
        </p:nvSpPr>
        <p:spPr bwMode="auto">
          <a:xfrm>
            <a:off x="4508500" y="2766638"/>
            <a:ext cx="13970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ctr">
              <a:lnSpc>
                <a:spcPct val="85000"/>
              </a:lnSpc>
            </a:pPr>
            <a:r>
              <a:rPr lang="en-US" altLang="zh-CN" b="1">
                <a:latin typeface="Arial" panose="020B0604020202020204" pitchFamily="34" charset="0"/>
              </a:rPr>
              <a:t>Callee Save</a:t>
            </a:r>
          </a:p>
          <a:p>
            <a:pPr algn="ctr">
              <a:lnSpc>
                <a:spcPct val="85000"/>
              </a:lnSpc>
            </a:pPr>
            <a:r>
              <a:rPr lang="en-US" altLang="zh-CN" b="1">
                <a:latin typeface="Arial" panose="020B0604020202020204" pitchFamily="34" charset="0"/>
              </a:rPr>
              <a:t>Registers</a:t>
            </a:r>
          </a:p>
        </p:txBody>
      </p:sp>
      <p:sp>
        <p:nvSpPr>
          <p:cNvPr id="55306" name="Rectangle 10"/>
          <p:cNvSpPr>
            <a:spLocks noChangeArrowheads="1"/>
          </p:cNvSpPr>
          <p:nvPr/>
        </p:nvSpPr>
        <p:spPr bwMode="auto">
          <a:xfrm>
            <a:off x="4197350" y="2595187"/>
            <a:ext cx="2120900" cy="12065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7" name="Rectangle 11"/>
          <p:cNvSpPr>
            <a:spLocks noChangeArrowheads="1"/>
          </p:cNvSpPr>
          <p:nvPr/>
        </p:nvSpPr>
        <p:spPr bwMode="auto">
          <a:xfrm>
            <a:off x="4432300" y="4062038"/>
            <a:ext cx="18034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Local Variables</a:t>
            </a:r>
          </a:p>
        </p:txBody>
      </p:sp>
      <p:sp>
        <p:nvSpPr>
          <p:cNvPr id="55308" name="Rectangle 12"/>
          <p:cNvSpPr>
            <a:spLocks noChangeArrowheads="1"/>
          </p:cNvSpPr>
          <p:nvPr/>
        </p:nvSpPr>
        <p:spPr bwMode="auto">
          <a:xfrm>
            <a:off x="4197350" y="3890587"/>
            <a:ext cx="2120900" cy="9017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9" name="Rectangle 13"/>
          <p:cNvSpPr>
            <a:spLocks noChangeArrowheads="1"/>
          </p:cNvSpPr>
          <p:nvPr/>
        </p:nvSpPr>
        <p:spPr bwMode="auto">
          <a:xfrm>
            <a:off x="2292350" y="5262187"/>
            <a:ext cx="673100" cy="2921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0" name="Rectangle 14"/>
          <p:cNvSpPr>
            <a:spLocks noChangeArrowheads="1"/>
          </p:cNvSpPr>
          <p:nvPr/>
        </p:nvSpPr>
        <p:spPr bwMode="auto">
          <a:xfrm>
            <a:off x="2374900" y="5357438"/>
            <a:ext cx="4318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SP</a:t>
            </a:r>
          </a:p>
        </p:txBody>
      </p:sp>
      <p:sp>
        <p:nvSpPr>
          <p:cNvPr id="55311" name="Line 15"/>
          <p:cNvSpPr>
            <a:spLocks noChangeShapeType="1"/>
          </p:cNvSpPr>
          <p:nvPr/>
        </p:nvSpPr>
        <p:spPr bwMode="auto">
          <a:xfrm>
            <a:off x="2978150" y="5484437"/>
            <a:ext cx="9779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2" name="Line 16"/>
          <p:cNvSpPr>
            <a:spLocks noChangeShapeType="1"/>
          </p:cNvSpPr>
          <p:nvPr/>
        </p:nvSpPr>
        <p:spPr bwMode="auto">
          <a:xfrm>
            <a:off x="6483350" y="4722437"/>
            <a:ext cx="5207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3" name="Line 17"/>
          <p:cNvSpPr>
            <a:spLocks noChangeShapeType="1"/>
          </p:cNvSpPr>
          <p:nvPr/>
        </p:nvSpPr>
        <p:spPr bwMode="auto">
          <a:xfrm flipV="1">
            <a:off x="6705600" y="4335087"/>
            <a:ext cx="0" cy="3937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4" name="Line 18"/>
          <p:cNvSpPr>
            <a:spLocks noChangeShapeType="1"/>
          </p:cNvSpPr>
          <p:nvPr/>
        </p:nvSpPr>
        <p:spPr bwMode="auto">
          <a:xfrm flipV="1">
            <a:off x="6934200" y="2125287"/>
            <a:ext cx="0" cy="26035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5" name="Rectangle 19"/>
          <p:cNvSpPr>
            <a:spLocks noChangeArrowheads="1"/>
          </p:cNvSpPr>
          <p:nvPr/>
        </p:nvSpPr>
        <p:spPr bwMode="auto">
          <a:xfrm>
            <a:off x="7175500" y="2080837"/>
            <a:ext cx="2425700" cy="98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latin typeface="Arial" panose="020B0604020202020204" pitchFamily="34" charset="0"/>
              </a:rPr>
              <a:t>Reference </a:t>
            </a:r>
            <a:r>
              <a:rPr lang="en-US" altLang="zh-CN" b="1" dirty="0" err="1">
                <a:latin typeface="Arial" panose="020B0604020202020204" pitchFamily="34" charset="0"/>
              </a:rPr>
              <a:t>args</a:t>
            </a:r>
            <a:r>
              <a:rPr lang="en-US" altLang="zh-CN" b="1" dirty="0">
                <a:latin typeface="Arial" panose="020B0604020202020204" pitchFamily="34" charset="0"/>
              </a:rPr>
              <a:t> and</a:t>
            </a:r>
          </a:p>
          <a:p>
            <a:pPr>
              <a:lnSpc>
                <a:spcPct val="85000"/>
              </a:lnSpc>
            </a:pPr>
            <a:r>
              <a:rPr lang="en-US" altLang="zh-CN" b="1" dirty="0">
                <a:latin typeface="Arial" panose="020B0604020202020204" pitchFamily="34" charset="0"/>
              </a:rPr>
              <a:t>local variables at</a:t>
            </a:r>
          </a:p>
          <a:p>
            <a:pPr>
              <a:lnSpc>
                <a:spcPct val="85000"/>
              </a:lnSpc>
            </a:pPr>
            <a:r>
              <a:rPr lang="en-US" altLang="zh-CN" b="1" dirty="0">
                <a:latin typeface="Arial" panose="020B0604020202020204" pitchFamily="34" charset="0"/>
              </a:rPr>
              <a:t>fixed (positive) offset</a:t>
            </a:r>
          </a:p>
          <a:p>
            <a:pPr>
              <a:lnSpc>
                <a:spcPct val="85000"/>
              </a:lnSpc>
            </a:pPr>
            <a:r>
              <a:rPr lang="en-US" altLang="zh-CN" b="1" dirty="0">
                <a:latin typeface="Arial" panose="020B0604020202020204" pitchFamily="34" charset="0"/>
              </a:rPr>
              <a:t>from FP</a:t>
            </a:r>
          </a:p>
        </p:txBody>
      </p:sp>
      <p:sp>
        <p:nvSpPr>
          <p:cNvPr id="55316" name="Line 20"/>
          <p:cNvSpPr>
            <a:spLocks noChangeShapeType="1"/>
          </p:cNvSpPr>
          <p:nvPr/>
        </p:nvSpPr>
        <p:spPr bwMode="auto">
          <a:xfrm>
            <a:off x="6483350" y="4341437"/>
            <a:ext cx="2921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7" name="Line 21"/>
          <p:cNvSpPr>
            <a:spLocks noChangeShapeType="1"/>
          </p:cNvSpPr>
          <p:nvPr/>
        </p:nvSpPr>
        <p:spPr bwMode="auto">
          <a:xfrm>
            <a:off x="6559550" y="2131637"/>
            <a:ext cx="5207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8" name="Line 22"/>
          <p:cNvSpPr>
            <a:spLocks noChangeShapeType="1"/>
          </p:cNvSpPr>
          <p:nvPr/>
        </p:nvSpPr>
        <p:spPr bwMode="auto">
          <a:xfrm>
            <a:off x="6483350" y="4804987"/>
            <a:ext cx="292100" cy="292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9" name="Line 23"/>
          <p:cNvSpPr>
            <a:spLocks noChangeShapeType="1"/>
          </p:cNvSpPr>
          <p:nvPr/>
        </p:nvSpPr>
        <p:spPr bwMode="auto">
          <a:xfrm flipH="1">
            <a:off x="6470650" y="5109787"/>
            <a:ext cx="317500" cy="368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20" name="Rectangle 24"/>
          <p:cNvSpPr>
            <a:spLocks noChangeArrowheads="1"/>
          </p:cNvSpPr>
          <p:nvPr/>
        </p:nvSpPr>
        <p:spPr bwMode="auto">
          <a:xfrm>
            <a:off x="6946900" y="4824038"/>
            <a:ext cx="29591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Grows and shrinks during</a:t>
            </a:r>
          </a:p>
          <a:p>
            <a:pPr>
              <a:lnSpc>
                <a:spcPct val="85000"/>
              </a:lnSpc>
            </a:pPr>
            <a:r>
              <a:rPr lang="en-US" altLang="zh-CN" b="1">
                <a:latin typeface="Arial" panose="020B0604020202020204" pitchFamily="34" charset="0"/>
              </a:rPr>
              <a:t>expression evaluation</a:t>
            </a:r>
          </a:p>
        </p:txBody>
      </p:sp>
      <p:sp>
        <p:nvSpPr>
          <p:cNvPr id="55321" name="Rectangle 25"/>
          <p:cNvSpPr>
            <a:spLocks noChangeArrowheads="1"/>
          </p:cNvSpPr>
          <p:nvPr/>
        </p:nvSpPr>
        <p:spPr bwMode="auto">
          <a:xfrm>
            <a:off x="4432300" y="3452438"/>
            <a:ext cx="1498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latin typeface="Arial" panose="020B0604020202020204" pitchFamily="34" charset="0"/>
              </a:rPr>
              <a:t>(old FP,  RA)</a:t>
            </a:r>
          </a:p>
        </p:txBody>
      </p:sp>
      <p:sp>
        <p:nvSpPr>
          <p:cNvPr id="55322" name="Rectangle 26"/>
          <p:cNvSpPr>
            <a:spLocks noGrp="1" noChangeArrowheads="1"/>
          </p:cNvSpPr>
          <p:nvPr>
            <p:ph type="body" idx="1"/>
          </p:nvPr>
        </p:nvSpPr>
        <p:spPr>
          <a:xfrm>
            <a:off x="516576" y="5612658"/>
            <a:ext cx="10420597" cy="1048492"/>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63500" tIns="25400" rIns="63500" bIns="25400" numCol="1" anchor="t" anchorCtr="0" compatLnSpc="1">
            <a:prstTxWarp prst="textNoShape">
              <a:avLst/>
            </a:prstTxWarp>
            <a:spAutoFit/>
          </a:bodyPr>
          <a:lstStyle/>
          <a:p>
            <a:pPr>
              <a:spcBef>
                <a:spcPct val="0"/>
              </a:spcBef>
            </a:pPr>
            <a:r>
              <a:rPr lang="en-US" altLang="zh-CN" sz="2400" dirty="0"/>
              <a:t>Many variations on stacks possible (up/down, last pushed / next ); </a:t>
            </a:r>
            <a:endParaRPr lang="en-US" altLang="zh-CN" sz="2400" dirty="0" smtClean="0"/>
          </a:p>
          <a:p>
            <a:pPr>
              <a:spcBef>
                <a:spcPct val="0"/>
              </a:spcBef>
            </a:pPr>
            <a:r>
              <a:rPr lang="en-US" altLang="zh-CN" sz="2400" dirty="0" smtClean="0"/>
              <a:t>Block </a:t>
            </a:r>
            <a:r>
              <a:rPr lang="en-US" altLang="zh-CN" sz="2400" dirty="0"/>
              <a:t>structured languages contain link to lexically enclosing frame</a:t>
            </a:r>
          </a:p>
          <a:p>
            <a:pPr>
              <a:spcBef>
                <a:spcPct val="0"/>
              </a:spcBef>
            </a:pPr>
            <a:r>
              <a:rPr lang="en-US" altLang="zh-CN" sz="2400" dirty="0">
                <a:solidFill>
                  <a:schemeClr val="accent1"/>
                </a:solidFill>
              </a:rPr>
              <a:t>Compilers normally keep scalar variables in registers, not memory!</a:t>
            </a:r>
          </a:p>
        </p:txBody>
      </p:sp>
      <p:sp>
        <p:nvSpPr>
          <p:cNvPr id="55323" name="Rectangle 27"/>
          <p:cNvSpPr>
            <a:spLocks noChangeArrowheads="1"/>
          </p:cNvSpPr>
          <p:nvPr/>
        </p:nvSpPr>
        <p:spPr bwMode="auto">
          <a:xfrm>
            <a:off x="10538296" y="1551162"/>
            <a:ext cx="12192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latin typeface="Arial" panose="020B0604020202020204" pitchFamily="34" charset="0"/>
              </a:rPr>
              <a:t>High Mem</a:t>
            </a:r>
          </a:p>
        </p:txBody>
      </p:sp>
      <p:sp>
        <p:nvSpPr>
          <p:cNvPr id="55324" name="Rectangle 28"/>
          <p:cNvSpPr>
            <a:spLocks noChangeArrowheads="1"/>
          </p:cNvSpPr>
          <p:nvPr/>
        </p:nvSpPr>
        <p:spPr bwMode="auto">
          <a:xfrm>
            <a:off x="10629240" y="5269222"/>
            <a:ext cx="11684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dirty="0">
                <a:latin typeface="Arial" panose="020B0604020202020204" pitchFamily="34" charset="0"/>
              </a:rPr>
              <a:t>Low Mem</a:t>
            </a:r>
          </a:p>
        </p:txBody>
      </p:sp>
      <p:sp>
        <p:nvSpPr>
          <p:cNvPr id="29" name="文本框 28"/>
          <p:cNvSpPr txBox="1"/>
          <p:nvPr/>
        </p:nvSpPr>
        <p:spPr>
          <a:xfrm>
            <a:off x="369072" y="2287611"/>
            <a:ext cx="2627771" cy="707886"/>
          </a:xfrm>
          <a:prstGeom prst="rect">
            <a:avLst/>
          </a:prstGeom>
          <a:noFill/>
        </p:spPr>
        <p:txBody>
          <a:bodyPr wrap="none" rtlCol="0">
            <a:spAutoFit/>
          </a:bodyPr>
          <a:lstStyle/>
          <a:p>
            <a:r>
              <a:rPr lang="en-US" altLang="zh-CN" sz="2000" b="1" dirty="0">
                <a:latin typeface="Arial" panose="020B0604020202020204" pitchFamily="34" charset="0"/>
                <a:ea typeface="微软雅黑" panose="020B0503020204020204" pitchFamily="34" charset="-122"/>
                <a:cs typeface="Arial" panose="020B0604020202020204" pitchFamily="34" charset="0"/>
              </a:rPr>
              <a:t>F</a:t>
            </a:r>
            <a:r>
              <a:rPr lang="en-US" altLang="zh-CN" sz="2000" b="1" dirty="0" smtClean="0">
                <a:latin typeface="Arial" panose="020B0604020202020204" pitchFamily="34" charset="0"/>
                <a:ea typeface="微软雅黑" panose="020B0503020204020204" pitchFamily="34" charset="-122"/>
                <a:cs typeface="Arial" panose="020B0604020202020204" pitchFamily="34" charset="0"/>
              </a:rPr>
              <a:t>P: Frame Pointer</a:t>
            </a:r>
          </a:p>
          <a:p>
            <a:r>
              <a:rPr lang="en-US" altLang="zh-CN" sz="2000" b="1" dirty="0" smtClean="0">
                <a:latin typeface="Arial" panose="020B0604020202020204" pitchFamily="34" charset="0"/>
                <a:ea typeface="微软雅黑" panose="020B0503020204020204" pitchFamily="34" charset="-122"/>
                <a:cs typeface="Arial" panose="020B0604020202020204" pitchFamily="34" charset="0"/>
              </a:rPr>
              <a:t>RA: Return Address</a:t>
            </a:r>
            <a:endParaRPr lang="zh-CN" altLang="en-US" sz="2000" b="1"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092464361"/>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descr="10%"/>
          <p:cNvSpPr>
            <a:spLocks noChangeArrowheads="1"/>
          </p:cNvSpPr>
          <p:nvPr/>
        </p:nvSpPr>
        <p:spPr bwMode="auto">
          <a:xfrm>
            <a:off x="6184900" y="5698823"/>
            <a:ext cx="3632200" cy="355600"/>
          </a:xfrm>
          <a:prstGeom prst="rect">
            <a:avLst/>
          </a:prstGeom>
          <a:pattFill prst="pct10">
            <a:fgClr>
              <a:schemeClr val="accent1"/>
            </a:fgClr>
            <a:bgClr>
              <a:schemeClr val="bg1"/>
            </a:bgClr>
          </a:pattFill>
          <a:ln w="254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3" name="Rectangle 3" descr="10%"/>
          <p:cNvSpPr>
            <a:spLocks noChangeArrowheads="1"/>
          </p:cNvSpPr>
          <p:nvPr/>
        </p:nvSpPr>
        <p:spPr bwMode="auto">
          <a:xfrm>
            <a:off x="2146300" y="1584023"/>
            <a:ext cx="3784600" cy="736600"/>
          </a:xfrm>
          <a:prstGeom prst="rect">
            <a:avLst/>
          </a:prstGeom>
          <a:pattFill prst="pct10">
            <a:fgClr>
              <a:schemeClr val="accent1"/>
            </a:fgClr>
            <a:bgClr>
              <a:schemeClr val="bg1"/>
            </a:bgClr>
          </a:pattFill>
          <a:ln w="254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4" name="Rectangle 4" descr="10%"/>
          <p:cNvSpPr>
            <a:spLocks noChangeArrowheads="1"/>
          </p:cNvSpPr>
          <p:nvPr/>
        </p:nvSpPr>
        <p:spPr bwMode="auto">
          <a:xfrm>
            <a:off x="6184900" y="3641423"/>
            <a:ext cx="3632200" cy="736600"/>
          </a:xfrm>
          <a:prstGeom prst="rect">
            <a:avLst/>
          </a:prstGeom>
          <a:pattFill prst="pct10">
            <a:fgClr>
              <a:schemeClr val="accent1"/>
            </a:fgClr>
            <a:bgClr>
              <a:schemeClr val="bg1"/>
            </a:bgClr>
          </a:pattFill>
          <a:ln w="254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5" name="Rectangle 5"/>
          <p:cNvSpPr>
            <a:spLocks noChangeArrowheads="1"/>
          </p:cNvSpPr>
          <p:nvPr/>
        </p:nvSpPr>
        <p:spPr bwMode="auto">
          <a:xfrm>
            <a:off x="2128839" y="1566560"/>
            <a:ext cx="3959225" cy="45037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tabLst>
                <a:tab pos="457200" algn="l"/>
              </a:tabLst>
              <a:defRPr kumimoji="1" sz="2400">
                <a:solidFill>
                  <a:schemeClr val="tx1"/>
                </a:solidFill>
                <a:latin typeface="Times New Roman" panose="02020603050405020304" pitchFamily="18" charset="0"/>
                <a:ea typeface="宋体" panose="02010600030101010101" pitchFamily="2" charset="-122"/>
              </a:defRPr>
            </a:lvl1pPr>
            <a:lvl2pPr>
              <a:tabLst>
                <a:tab pos="457200" algn="l"/>
              </a:tabLst>
              <a:defRPr kumimoji="1" sz="2400">
                <a:solidFill>
                  <a:schemeClr val="tx1"/>
                </a:solidFill>
                <a:latin typeface="Times New Roman" panose="02020603050405020304" pitchFamily="18" charset="0"/>
                <a:ea typeface="宋体" panose="02010600030101010101" pitchFamily="2" charset="-122"/>
              </a:defRPr>
            </a:lvl2pPr>
            <a:lvl3pPr>
              <a:tabLst>
                <a:tab pos="457200" algn="l"/>
              </a:tabLst>
              <a:defRPr kumimoji="1" sz="2400">
                <a:solidFill>
                  <a:schemeClr val="tx1"/>
                </a:solidFill>
                <a:latin typeface="Times New Roman" panose="02020603050405020304" pitchFamily="18" charset="0"/>
                <a:ea typeface="宋体" panose="02010600030101010101" pitchFamily="2" charset="-122"/>
              </a:defRPr>
            </a:lvl3pPr>
            <a:lvl4pPr>
              <a:tabLst>
                <a:tab pos="457200" algn="l"/>
              </a:tabLst>
              <a:defRPr kumimoji="1" sz="2400">
                <a:solidFill>
                  <a:schemeClr val="tx1"/>
                </a:solidFill>
                <a:latin typeface="Times New Roman" panose="02020603050405020304" pitchFamily="18" charset="0"/>
                <a:ea typeface="宋体" panose="02010600030101010101" pitchFamily="2" charset="-122"/>
              </a:defRPr>
            </a:lvl4pPr>
            <a:lvl5pPr>
              <a:tabLst>
                <a:tab pos="4572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1800" b="1">
                <a:latin typeface="Arial" panose="020B0604020202020204" pitchFamily="34" charset="0"/>
              </a:rPr>
              <a:t>0	</a:t>
            </a:r>
            <a:r>
              <a:rPr lang="en-US" altLang="zh-CN" sz="1800" b="1">
                <a:solidFill>
                  <a:schemeClr val="accent1"/>
                </a:solidFill>
                <a:latin typeface="Arial" panose="020B0604020202020204" pitchFamily="34" charset="0"/>
              </a:rPr>
              <a:t>zero</a:t>
            </a:r>
            <a:r>
              <a:rPr lang="en-US" altLang="zh-CN" sz="1800" b="1">
                <a:latin typeface="Arial" panose="020B0604020202020204" pitchFamily="34" charset="0"/>
              </a:rPr>
              <a:t> constant 0</a:t>
            </a:r>
          </a:p>
          <a:p>
            <a:pPr>
              <a:spcBef>
                <a:spcPct val="50000"/>
              </a:spcBef>
            </a:pPr>
            <a:r>
              <a:rPr lang="en-US" altLang="zh-CN" sz="1800" b="1">
                <a:latin typeface="Arial" panose="020B0604020202020204" pitchFamily="34" charset="0"/>
              </a:rPr>
              <a:t>1	</a:t>
            </a:r>
            <a:r>
              <a:rPr lang="en-US" altLang="zh-CN" sz="1800" b="1">
                <a:solidFill>
                  <a:schemeClr val="accent1"/>
                </a:solidFill>
                <a:latin typeface="Arial" panose="020B0604020202020204" pitchFamily="34" charset="0"/>
              </a:rPr>
              <a:t>at</a:t>
            </a:r>
            <a:r>
              <a:rPr lang="en-US" altLang="zh-CN" sz="1800" b="1">
                <a:latin typeface="Arial" panose="020B0604020202020204" pitchFamily="34" charset="0"/>
              </a:rPr>
              <a:t>	reserved for assembler</a:t>
            </a:r>
          </a:p>
          <a:p>
            <a:pPr>
              <a:spcBef>
                <a:spcPct val="50000"/>
              </a:spcBef>
            </a:pPr>
            <a:r>
              <a:rPr lang="en-US" altLang="zh-CN" sz="1800" b="1">
                <a:latin typeface="Arial" panose="020B0604020202020204" pitchFamily="34" charset="0"/>
              </a:rPr>
              <a:t>2	v0	expression evaluation &amp;</a:t>
            </a:r>
          </a:p>
          <a:p>
            <a:pPr>
              <a:spcBef>
                <a:spcPct val="50000"/>
              </a:spcBef>
            </a:pPr>
            <a:r>
              <a:rPr lang="en-US" altLang="zh-CN" sz="1800" b="1">
                <a:latin typeface="Arial" panose="020B0604020202020204" pitchFamily="34" charset="0"/>
              </a:rPr>
              <a:t>3	v1	function results</a:t>
            </a:r>
          </a:p>
          <a:p>
            <a:pPr>
              <a:spcBef>
                <a:spcPct val="50000"/>
              </a:spcBef>
            </a:pPr>
            <a:r>
              <a:rPr lang="en-US" altLang="zh-CN" sz="1800" b="1">
                <a:latin typeface="Arial" panose="020B0604020202020204" pitchFamily="34" charset="0"/>
              </a:rPr>
              <a:t>4	</a:t>
            </a:r>
            <a:r>
              <a:rPr lang="en-US" altLang="zh-CN" sz="1800" b="1">
                <a:solidFill>
                  <a:srgbClr val="8901F3"/>
                </a:solidFill>
                <a:latin typeface="Arial" panose="020B0604020202020204" pitchFamily="34" charset="0"/>
              </a:rPr>
              <a:t>a0</a:t>
            </a:r>
            <a:r>
              <a:rPr lang="en-US" altLang="zh-CN" sz="1800" b="1">
                <a:latin typeface="Arial" panose="020B0604020202020204" pitchFamily="34" charset="0"/>
              </a:rPr>
              <a:t>	</a:t>
            </a:r>
            <a:r>
              <a:rPr lang="en-US" altLang="zh-CN" sz="1800" b="1">
                <a:solidFill>
                  <a:srgbClr val="8901F3"/>
                </a:solidFill>
                <a:latin typeface="Arial" panose="020B0604020202020204" pitchFamily="34" charset="0"/>
              </a:rPr>
              <a:t>arguments</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5	</a:t>
            </a:r>
            <a:r>
              <a:rPr lang="en-US" altLang="zh-CN" sz="1800" b="1">
                <a:solidFill>
                  <a:srgbClr val="8901F3"/>
                </a:solidFill>
                <a:latin typeface="Arial" panose="020B0604020202020204" pitchFamily="34" charset="0"/>
              </a:rPr>
              <a:t>a1</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6	</a:t>
            </a:r>
            <a:r>
              <a:rPr lang="en-US" altLang="zh-CN" sz="1800" b="1">
                <a:solidFill>
                  <a:srgbClr val="8901F3"/>
                </a:solidFill>
                <a:latin typeface="Arial" panose="020B0604020202020204" pitchFamily="34" charset="0"/>
              </a:rPr>
              <a:t>a2</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7	</a:t>
            </a:r>
            <a:r>
              <a:rPr lang="en-US" altLang="zh-CN" sz="1800" b="1">
                <a:solidFill>
                  <a:srgbClr val="8901F3"/>
                </a:solidFill>
                <a:latin typeface="Arial" panose="020B0604020202020204" pitchFamily="34" charset="0"/>
              </a:rPr>
              <a:t>a3</a:t>
            </a:r>
            <a:r>
              <a:rPr lang="en-US" altLang="zh-CN" sz="1800" b="1">
                <a:latin typeface="Arial" panose="020B0604020202020204" pitchFamily="34" charset="0"/>
              </a:rPr>
              <a:t>	</a:t>
            </a:r>
          </a:p>
          <a:p>
            <a:pPr>
              <a:spcBef>
                <a:spcPct val="50000"/>
              </a:spcBef>
            </a:pPr>
            <a:r>
              <a:rPr lang="en-US" altLang="zh-CN" sz="1800" b="1">
                <a:latin typeface="Arial" panose="020B0604020202020204" pitchFamily="34" charset="0"/>
              </a:rPr>
              <a:t>8	</a:t>
            </a:r>
            <a:r>
              <a:rPr lang="en-US" altLang="zh-CN" sz="1800" b="1">
                <a:solidFill>
                  <a:schemeClr val="hlink"/>
                </a:solidFill>
                <a:latin typeface="Arial" panose="020B0604020202020204" pitchFamily="34" charset="0"/>
              </a:rPr>
              <a:t>t0</a:t>
            </a:r>
            <a:r>
              <a:rPr lang="en-US" altLang="zh-CN" sz="1800" b="1">
                <a:latin typeface="Arial" panose="020B0604020202020204" pitchFamily="34" charset="0"/>
              </a:rPr>
              <a:t>	</a:t>
            </a:r>
            <a:r>
              <a:rPr lang="en-US" altLang="zh-CN" sz="1800" b="1">
                <a:solidFill>
                  <a:schemeClr val="hlink"/>
                </a:solidFill>
                <a:latin typeface="Arial" panose="020B0604020202020204" pitchFamily="34" charset="0"/>
              </a:rPr>
              <a:t>temporary: caller saves</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 . .		</a:t>
            </a:r>
            <a:r>
              <a:rPr lang="en-US" altLang="zh-CN" sz="1800" b="1">
                <a:solidFill>
                  <a:srgbClr val="51DC00"/>
                </a:solidFill>
                <a:latin typeface="Arial" panose="020B0604020202020204" pitchFamily="34" charset="0"/>
              </a:rPr>
              <a:t>(callee can clobber)</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15	</a:t>
            </a:r>
            <a:r>
              <a:rPr lang="en-US" altLang="zh-CN" sz="1800" b="1">
                <a:solidFill>
                  <a:schemeClr val="hlink"/>
                </a:solidFill>
                <a:latin typeface="Arial" panose="020B0604020202020204" pitchFamily="34" charset="0"/>
              </a:rPr>
              <a:t>t7</a:t>
            </a:r>
          </a:p>
        </p:txBody>
      </p:sp>
      <p:sp>
        <p:nvSpPr>
          <p:cNvPr id="56326" name="Rectangle 6"/>
          <p:cNvSpPr>
            <a:spLocks noGrp="1" noChangeArrowheads="1"/>
          </p:cNvSpPr>
          <p:nvPr>
            <p:ph type="title"/>
          </p:nvPr>
        </p:nvSpPr>
        <p:spPr>
          <a:xfrm>
            <a:off x="804060" y="524719"/>
            <a:ext cx="10421123"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dirty="0"/>
              <a:t>Software conventions for </a:t>
            </a:r>
            <a:r>
              <a:rPr lang="en-US" altLang="zh-CN" dirty="0" smtClean="0"/>
              <a:t>MIPS Registers</a:t>
            </a:r>
            <a:endParaRPr lang="en-US" altLang="zh-CN" dirty="0"/>
          </a:p>
        </p:txBody>
      </p:sp>
      <p:sp>
        <p:nvSpPr>
          <p:cNvPr id="56327" name="Rectangle 7"/>
          <p:cNvSpPr>
            <a:spLocks noChangeArrowheads="1"/>
          </p:cNvSpPr>
          <p:nvPr/>
        </p:nvSpPr>
        <p:spPr bwMode="auto">
          <a:xfrm>
            <a:off x="6167439" y="1566560"/>
            <a:ext cx="3959225" cy="45037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tabLst>
                <a:tab pos="457200" algn="l"/>
              </a:tabLst>
              <a:defRPr kumimoji="1" sz="2400">
                <a:solidFill>
                  <a:schemeClr val="tx1"/>
                </a:solidFill>
                <a:latin typeface="Times New Roman" panose="02020603050405020304" pitchFamily="18" charset="0"/>
                <a:ea typeface="宋体" panose="02010600030101010101" pitchFamily="2" charset="-122"/>
              </a:defRPr>
            </a:lvl1pPr>
            <a:lvl2pPr>
              <a:tabLst>
                <a:tab pos="457200" algn="l"/>
              </a:tabLst>
              <a:defRPr kumimoji="1" sz="2400">
                <a:solidFill>
                  <a:schemeClr val="tx1"/>
                </a:solidFill>
                <a:latin typeface="Times New Roman" panose="02020603050405020304" pitchFamily="18" charset="0"/>
                <a:ea typeface="宋体" panose="02010600030101010101" pitchFamily="2" charset="-122"/>
              </a:defRPr>
            </a:lvl2pPr>
            <a:lvl3pPr>
              <a:tabLst>
                <a:tab pos="457200" algn="l"/>
              </a:tabLst>
              <a:defRPr kumimoji="1" sz="2400">
                <a:solidFill>
                  <a:schemeClr val="tx1"/>
                </a:solidFill>
                <a:latin typeface="Times New Roman" panose="02020603050405020304" pitchFamily="18" charset="0"/>
                <a:ea typeface="宋体" panose="02010600030101010101" pitchFamily="2" charset="-122"/>
              </a:defRPr>
            </a:lvl3pPr>
            <a:lvl4pPr>
              <a:tabLst>
                <a:tab pos="457200" algn="l"/>
              </a:tabLst>
              <a:defRPr kumimoji="1" sz="2400">
                <a:solidFill>
                  <a:schemeClr val="tx1"/>
                </a:solidFill>
                <a:latin typeface="Times New Roman" panose="02020603050405020304" pitchFamily="18" charset="0"/>
                <a:ea typeface="宋体" panose="02010600030101010101" pitchFamily="2" charset="-122"/>
              </a:defRPr>
            </a:lvl4pPr>
            <a:lvl5pPr>
              <a:tabLst>
                <a:tab pos="4572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1800" b="1">
                <a:latin typeface="Arial" panose="020B0604020202020204" pitchFamily="34" charset="0"/>
              </a:rPr>
              <a:t>16	</a:t>
            </a:r>
            <a:r>
              <a:rPr lang="en-US" altLang="zh-CN" sz="1800" b="1">
                <a:solidFill>
                  <a:srgbClr val="51DC00"/>
                </a:solidFill>
                <a:latin typeface="Arial" panose="020B0604020202020204" pitchFamily="34" charset="0"/>
              </a:rPr>
              <a:t>s0</a:t>
            </a:r>
            <a:r>
              <a:rPr lang="en-US" altLang="zh-CN" sz="1800" b="1">
                <a:latin typeface="Arial" panose="020B0604020202020204" pitchFamily="34" charset="0"/>
              </a:rPr>
              <a:t>	</a:t>
            </a:r>
            <a:r>
              <a:rPr lang="en-US" altLang="zh-CN" sz="1800" b="1">
                <a:solidFill>
                  <a:srgbClr val="00FF00"/>
                </a:solidFill>
                <a:latin typeface="Arial" panose="020B0604020202020204" pitchFamily="34" charset="0"/>
              </a:rPr>
              <a:t>callee saves</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 . . </a:t>
            </a:r>
            <a:r>
              <a:rPr lang="en-US" altLang="zh-CN" sz="1800" b="1">
                <a:solidFill>
                  <a:schemeClr val="hlink"/>
                </a:solidFill>
                <a:latin typeface="Arial" panose="020B0604020202020204" pitchFamily="34" charset="0"/>
              </a:rPr>
              <a:t>(caller can clobber)</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23	</a:t>
            </a:r>
            <a:r>
              <a:rPr lang="en-US" altLang="zh-CN" sz="1800" b="1">
                <a:solidFill>
                  <a:srgbClr val="51DC00"/>
                </a:solidFill>
                <a:latin typeface="Arial" panose="020B0604020202020204" pitchFamily="34" charset="0"/>
              </a:rPr>
              <a:t>s7</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24	</a:t>
            </a:r>
            <a:r>
              <a:rPr lang="en-US" altLang="zh-CN" sz="1800" b="1">
                <a:solidFill>
                  <a:schemeClr val="hlink"/>
                </a:solidFill>
                <a:latin typeface="Arial" panose="020B0604020202020204" pitchFamily="34" charset="0"/>
              </a:rPr>
              <a:t>t8</a:t>
            </a:r>
            <a:r>
              <a:rPr lang="en-US" altLang="zh-CN" sz="1800" b="1">
                <a:latin typeface="Arial" panose="020B0604020202020204" pitchFamily="34" charset="0"/>
              </a:rPr>
              <a:t>	 </a:t>
            </a:r>
            <a:r>
              <a:rPr lang="en-US" altLang="zh-CN" sz="1800" b="1">
                <a:solidFill>
                  <a:schemeClr val="hlink"/>
                </a:solidFill>
                <a:latin typeface="Arial" panose="020B0604020202020204" pitchFamily="34" charset="0"/>
              </a:rPr>
              <a:t>temporary (cont’d)</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25	</a:t>
            </a:r>
            <a:r>
              <a:rPr lang="en-US" altLang="zh-CN" sz="1800" b="1">
                <a:solidFill>
                  <a:schemeClr val="hlink"/>
                </a:solidFill>
                <a:latin typeface="Arial" panose="020B0604020202020204" pitchFamily="34" charset="0"/>
              </a:rPr>
              <a:t>t9</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26	</a:t>
            </a:r>
            <a:r>
              <a:rPr lang="en-US" altLang="zh-CN" sz="1800" b="1">
                <a:solidFill>
                  <a:schemeClr val="accent1"/>
                </a:solidFill>
                <a:latin typeface="Arial" panose="020B0604020202020204" pitchFamily="34" charset="0"/>
              </a:rPr>
              <a:t>k0</a:t>
            </a:r>
            <a:r>
              <a:rPr lang="en-US" altLang="zh-CN" sz="1800" b="1">
                <a:latin typeface="Arial" panose="020B0604020202020204" pitchFamily="34" charset="0"/>
              </a:rPr>
              <a:t>	reserved for OS kernel</a:t>
            </a:r>
          </a:p>
          <a:p>
            <a:pPr>
              <a:spcBef>
                <a:spcPct val="50000"/>
              </a:spcBef>
            </a:pPr>
            <a:r>
              <a:rPr lang="en-US" altLang="zh-CN" sz="1800" b="1">
                <a:latin typeface="Arial" panose="020B0604020202020204" pitchFamily="34" charset="0"/>
              </a:rPr>
              <a:t>27	</a:t>
            </a:r>
            <a:r>
              <a:rPr lang="en-US" altLang="zh-CN" sz="1800" b="1">
                <a:solidFill>
                  <a:schemeClr val="accent1"/>
                </a:solidFill>
                <a:latin typeface="Arial" panose="020B0604020202020204" pitchFamily="34" charset="0"/>
              </a:rPr>
              <a:t>k1</a:t>
            </a:r>
            <a:endParaRPr lang="en-US" altLang="zh-CN" sz="1800" b="1">
              <a:latin typeface="Arial" panose="020B0604020202020204" pitchFamily="34" charset="0"/>
            </a:endParaRPr>
          </a:p>
          <a:p>
            <a:pPr>
              <a:spcBef>
                <a:spcPct val="50000"/>
              </a:spcBef>
            </a:pPr>
            <a:r>
              <a:rPr lang="en-US" altLang="zh-CN" sz="1800" b="1">
                <a:latin typeface="Arial" panose="020B0604020202020204" pitchFamily="34" charset="0"/>
              </a:rPr>
              <a:t>28	gp	Pointer to global area</a:t>
            </a:r>
          </a:p>
          <a:p>
            <a:pPr>
              <a:spcBef>
                <a:spcPct val="50000"/>
              </a:spcBef>
            </a:pPr>
            <a:r>
              <a:rPr lang="en-US" altLang="zh-CN" sz="1800" b="1">
                <a:latin typeface="Arial" panose="020B0604020202020204" pitchFamily="34" charset="0"/>
              </a:rPr>
              <a:t>29	sp	Stack pointer</a:t>
            </a:r>
          </a:p>
          <a:p>
            <a:pPr>
              <a:spcBef>
                <a:spcPct val="50000"/>
              </a:spcBef>
            </a:pPr>
            <a:r>
              <a:rPr lang="en-US" altLang="zh-CN" sz="1800" b="1">
                <a:latin typeface="Arial" panose="020B0604020202020204" pitchFamily="34" charset="0"/>
              </a:rPr>
              <a:t>30	fp	frame pointer</a:t>
            </a:r>
          </a:p>
          <a:p>
            <a:pPr>
              <a:spcBef>
                <a:spcPct val="50000"/>
              </a:spcBef>
            </a:pPr>
            <a:r>
              <a:rPr lang="en-US" altLang="zh-CN" sz="1800" b="1">
                <a:latin typeface="Arial" panose="020B0604020202020204" pitchFamily="34" charset="0"/>
              </a:rPr>
              <a:t>31	</a:t>
            </a:r>
            <a:r>
              <a:rPr lang="en-US" altLang="zh-CN" sz="1800" b="1">
                <a:solidFill>
                  <a:schemeClr val="accent1"/>
                </a:solidFill>
                <a:latin typeface="Arial" panose="020B0604020202020204" pitchFamily="34" charset="0"/>
              </a:rPr>
              <a:t>ra</a:t>
            </a:r>
            <a:r>
              <a:rPr lang="en-US" altLang="zh-CN" sz="1800" b="1">
                <a:latin typeface="Arial" panose="020B0604020202020204" pitchFamily="34" charset="0"/>
              </a:rPr>
              <a:t>	Return Address (HW)</a:t>
            </a:r>
          </a:p>
        </p:txBody>
      </p:sp>
      <p:sp>
        <p:nvSpPr>
          <p:cNvPr id="56328" name="Rectangle 8"/>
          <p:cNvSpPr>
            <a:spLocks noChangeArrowheads="1"/>
          </p:cNvSpPr>
          <p:nvPr/>
        </p:nvSpPr>
        <p:spPr bwMode="auto">
          <a:xfrm>
            <a:off x="2146300" y="3260423"/>
            <a:ext cx="3327400" cy="1498600"/>
          </a:xfrm>
          <a:prstGeom prst="rect">
            <a:avLst/>
          </a:prstGeom>
          <a:noFill/>
          <a:ln w="25400">
            <a:solidFill>
              <a:srgbClr val="8901F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9" name="Rectangle 9"/>
          <p:cNvSpPr>
            <a:spLocks noChangeArrowheads="1"/>
          </p:cNvSpPr>
          <p:nvPr/>
        </p:nvSpPr>
        <p:spPr bwMode="auto">
          <a:xfrm>
            <a:off x="2146300" y="4860623"/>
            <a:ext cx="3632200" cy="1193800"/>
          </a:xfrm>
          <a:prstGeom prst="rect">
            <a:avLst/>
          </a:prstGeom>
          <a:noFill/>
          <a:ln w="254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0" name="Rectangle 10"/>
          <p:cNvSpPr>
            <a:spLocks noChangeArrowheads="1"/>
          </p:cNvSpPr>
          <p:nvPr/>
        </p:nvSpPr>
        <p:spPr bwMode="auto">
          <a:xfrm>
            <a:off x="6184900" y="1584023"/>
            <a:ext cx="3632200" cy="1117600"/>
          </a:xfrm>
          <a:prstGeom prst="rect">
            <a:avLst/>
          </a:prstGeom>
          <a:noFill/>
          <a:ln w="25400">
            <a:solidFill>
              <a:srgbClr val="00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1" name="Rectangle 11"/>
          <p:cNvSpPr>
            <a:spLocks noChangeArrowheads="1"/>
          </p:cNvSpPr>
          <p:nvPr/>
        </p:nvSpPr>
        <p:spPr bwMode="auto">
          <a:xfrm>
            <a:off x="6184900" y="2803223"/>
            <a:ext cx="3251200" cy="736600"/>
          </a:xfrm>
          <a:prstGeom prst="rect">
            <a:avLst/>
          </a:prstGeom>
          <a:noFill/>
          <a:ln w="254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2" name="Rectangle 12"/>
          <p:cNvSpPr>
            <a:spLocks noChangeArrowheads="1"/>
          </p:cNvSpPr>
          <p:nvPr/>
        </p:nvSpPr>
        <p:spPr bwMode="auto">
          <a:xfrm>
            <a:off x="2146300" y="2422223"/>
            <a:ext cx="3632200" cy="736600"/>
          </a:xfrm>
          <a:prstGeom prst="rect">
            <a:avLst/>
          </a:prstGeom>
          <a:noFill/>
          <a:ln w="254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3" name="Rectangle 13"/>
          <p:cNvSpPr>
            <a:spLocks noChangeArrowheads="1"/>
          </p:cNvSpPr>
          <p:nvPr/>
        </p:nvSpPr>
        <p:spPr bwMode="auto">
          <a:xfrm>
            <a:off x="6184900" y="4479623"/>
            <a:ext cx="3403600" cy="1117600"/>
          </a:xfrm>
          <a:prstGeom prst="rect">
            <a:avLst/>
          </a:prstGeom>
          <a:noFill/>
          <a:ln w="254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0951902"/>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3449" y="1698172"/>
            <a:ext cx="4821381" cy="4971188"/>
          </a:xfrm>
        </p:spPr>
        <p:txBody>
          <a:bodyPr/>
          <a:lstStyle/>
          <a:p>
            <a:r>
              <a:rPr lang="en-US" altLang="zh-CN" sz="2400" dirty="0" smtClean="0"/>
              <a:t>The </a:t>
            </a:r>
            <a:r>
              <a:rPr lang="en-US" altLang="zh-CN" sz="2400" dirty="0"/>
              <a:t>registers that are preserved across a procedure call are labeled “</a:t>
            </a:r>
            <a:r>
              <a:rPr lang="en-US" altLang="zh-CN" sz="2400" dirty="0" err="1"/>
              <a:t>Callee</a:t>
            </a:r>
            <a:r>
              <a:rPr lang="en-US" altLang="zh-CN" sz="2400" dirty="0"/>
              <a:t>” </a:t>
            </a:r>
            <a:r>
              <a:rPr lang="en-US" altLang="zh-CN" sz="2400" dirty="0" smtClean="0"/>
              <a:t>saved</a:t>
            </a:r>
          </a:p>
          <a:p>
            <a:r>
              <a:rPr lang="en-US" altLang="zh-CN" sz="2400" dirty="0" smtClean="0"/>
              <a:t>Otherwise, “Caller” saved</a:t>
            </a:r>
          </a:p>
          <a:p>
            <a:r>
              <a:rPr lang="en-US" altLang="zh-CN" sz="2400" dirty="0" smtClean="0"/>
              <a:t>Part of ABI, Application Binary Interface</a:t>
            </a:r>
          </a:p>
          <a:p>
            <a:pPr lvl="1"/>
            <a:r>
              <a:rPr lang="en-US" altLang="zh-CN" sz="2000" dirty="0" smtClean="0"/>
              <a:t>OS, compiler, linker, library, and application</a:t>
            </a:r>
            <a:endParaRPr lang="en-US" altLang="zh-CN" sz="2000" dirty="0"/>
          </a:p>
          <a:p>
            <a:endParaRPr lang="zh-CN" altLang="en-US" dirty="0"/>
          </a:p>
        </p:txBody>
      </p:sp>
      <p:sp>
        <p:nvSpPr>
          <p:cNvPr id="7170"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2">
                <a:moveTo>
                  <a:pt x="0" y="0"/>
                </a:moveTo>
                <a:lnTo>
                  <a:pt x="101" y="0"/>
                </a:lnTo>
                <a:lnTo>
                  <a:pt x="101" y="101"/>
                </a:lnTo>
                <a:lnTo>
                  <a:pt x="0" y="101"/>
                </a:lnTo>
                <a:lnTo>
                  <a:pt x="0" y="0"/>
                </a:lnTo>
              </a:path>
            </a:pathLst>
          </a:custGeom>
          <a:solidFill>
            <a:srgbClr val="FFFFFF"/>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7172" name="Picture 2" descr="Z:\WOMAT\Production\Artfinal\0000000038\MKCAD\978-0-12-811905-1\0003165540\XMLLowres\f01-04-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22027" y="1570511"/>
            <a:ext cx="6182984" cy="5206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RISC-V Register Calling Conventions</a:t>
            </a:r>
            <a:endParaRPr lang="zh-CN" altLang="en-US" dirty="0"/>
          </a:p>
        </p:txBody>
      </p:sp>
    </p:spTree>
    <p:extLst>
      <p:ext uri="{BB962C8B-B14F-4D97-AF65-F5344CB8AC3E}">
        <p14:creationId xmlns:p14="http://schemas.microsoft.com/office/powerpoint/2010/main" val="346616214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Overlapped SPARC</a:t>
            </a:r>
            <a:r>
              <a:rPr lang="zh-CN" altLang="en-US" dirty="0" smtClean="0"/>
              <a:t>  </a:t>
            </a:r>
            <a:r>
              <a:rPr lang="en-US" altLang="zh-CN" dirty="0" smtClean="0"/>
              <a:t>Register Window</a:t>
            </a:r>
            <a:endParaRPr lang="zh-CN" altLang="en-US" dirty="0"/>
          </a:p>
        </p:txBody>
      </p:sp>
      <p:sp>
        <p:nvSpPr>
          <p:cNvPr id="3" name="内容占位符 2"/>
          <p:cNvSpPr>
            <a:spLocks noGrp="1"/>
          </p:cNvSpPr>
          <p:nvPr>
            <p:ph idx="1"/>
          </p:nvPr>
        </p:nvSpPr>
        <p:spPr>
          <a:xfrm>
            <a:off x="445326" y="1556792"/>
            <a:ext cx="7202384" cy="5112568"/>
          </a:xfrm>
        </p:spPr>
        <p:txBody>
          <a:bodyPr/>
          <a:lstStyle/>
          <a:p>
            <a:r>
              <a:rPr lang="en-US" altLang="zh-CN" dirty="0" smtClean="0"/>
              <a:t>SPARC </a:t>
            </a:r>
            <a:r>
              <a:rPr lang="en-US" altLang="zh-CN" dirty="0"/>
              <a:t>may contain from 40 through 520 general-purpose 32-bit </a:t>
            </a:r>
            <a:r>
              <a:rPr lang="en-US" altLang="zh-CN" i="1" dirty="0"/>
              <a:t>r</a:t>
            </a:r>
            <a:r>
              <a:rPr lang="en-US" altLang="zh-CN" dirty="0"/>
              <a:t> </a:t>
            </a:r>
            <a:r>
              <a:rPr lang="en-US" altLang="zh-CN" dirty="0" smtClean="0"/>
              <a:t>registers</a:t>
            </a:r>
          </a:p>
          <a:p>
            <a:pPr lvl="1"/>
            <a:r>
              <a:rPr lang="en-US" altLang="zh-CN" dirty="0" smtClean="0"/>
              <a:t>8 </a:t>
            </a:r>
            <a:r>
              <a:rPr lang="en-US" altLang="zh-CN" dirty="0"/>
              <a:t>global registers, plus an implementation-dependent number of 16-register </a:t>
            </a:r>
            <a:r>
              <a:rPr lang="en-US" altLang="zh-CN" dirty="0" smtClean="0"/>
              <a:t>sets</a:t>
            </a:r>
          </a:p>
          <a:p>
            <a:pPr lvl="1"/>
            <a:r>
              <a:rPr lang="en-US" altLang="zh-CN" dirty="0" smtClean="0"/>
              <a:t>A </a:t>
            </a:r>
            <a:r>
              <a:rPr lang="en-US" altLang="zh-CN" dirty="0"/>
              <a:t>register set is further partitioned into 8 </a:t>
            </a:r>
            <a:r>
              <a:rPr lang="en-US" altLang="zh-CN" i="1" dirty="0"/>
              <a:t>in</a:t>
            </a:r>
            <a:r>
              <a:rPr lang="en-US" altLang="zh-CN" dirty="0"/>
              <a:t> registers </a:t>
            </a:r>
            <a:r>
              <a:rPr lang="en-US" altLang="zh-CN" dirty="0" smtClean="0"/>
              <a:t>and </a:t>
            </a:r>
            <a:r>
              <a:rPr lang="en-US" altLang="zh-CN" dirty="0"/>
              <a:t>8 </a:t>
            </a:r>
            <a:r>
              <a:rPr lang="en-US" altLang="zh-CN" i="1" dirty="0"/>
              <a:t>local</a:t>
            </a:r>
            <a:r>
              <a:rPr lang="en-US" altLang="zh-CN" dirty="0"/>
              <a:t> </a:t>
            </a:r>
            <a:r>
              <a:rPr lang="en-US" altLang="zh-CN" dirty="0" smtClean="0"/>
              <a:t>registers</a:t>
            </a:r>
          </a:p>
          <a:p>
            <a:r>
              <a:rPr lang="en-US" altLang="zh-CN" dirty="0" smtClean="0"/>
              <a:t>An </a:t>
            </a:r>
            <a:r>
              <a:rPr lang="en-US" altLang="zh-CN" dirty="0"/>
              <a:t>instruction can access </a:t>
            </a:r>
            <a:endParaRPr lang="en-US" altLang="zh-CN" dirty="0" smtClean="0"/>
          </a:p>
          <a:p>
            <a:pPr lvl="1"/>
            <a:r>
              <a:rPr lang="en-US" altLang="zh-CN" dirty="0" smtClean="0"/>
              <a:t>8 global registers </a:t>
            </a:r>
            <a:r>
              <a:rPr lang="en-US" altLang="zh-CN" dirty="0"/>
              <a:t>and a 24-register window </a:t>
            </a:r>
            <a:endParaRPr lang="en-US" altLang="zh-CN" dirty="0" smtClean="0"/>
          </a:p>
          <a:p>
            <a:pPr lvl="1"/>
            <a:r>
              <a:rPr lang="en-US" altLang="zh-CN" dirty="0" smtClean="0"/>
              <a:t>A </a:t>
            </a:r>
            <a:r>
              <a:rPr lang="en-US" altLang="zh-CN" dirty="0"/>
              <a:t>register window comprises the 8 </a:t>
            </a:r>
            <a:r>
              <a:rPr lang="en-US" altLang="zh-CN" i="1" dirty="0"/>
              <a:t>in</a:t>
            </a:r>
            <a:r>
              <a:rPr lang="en-US" altLang="zh-CN" dirty="0"/>
              <a:t> and 8 </a:t>
            </a:r>
            <a:r>
              <a:rPr lang="en-US" altLang="zh-CN" i="1" dirty="0"/>
              <a:t>local</a:t>
            </a:r>
            <a:r>
              <a:rPr lang="en-US" altLang="zh-CN" dirty="0"/>
              <a:t> registers of a particular register set, together with the 8 </a:t>
            </a:r>
            <a:r>
              <a:rPr lang="en-US" altLang="zh-CN" i="1" dirty="0"/>
              <a:t>in</a:t>
            </a:r>
            <a:r>
              <a:rPr lang="en-US" altLang="zh-CN" dirty="0"/>
              <a:t> registers of an adjacent register </a:t>
            </a:r>
            <a:r>
              <a:rPr lang="en-US" altLang="zh-CN" dirty="0" smtClean="0"/>
              <a:t>set, which </a:t>
            </a:r>
            <a:r>
              <a:rPr lang="en-US" altLang="zh-CN" dirty="0"/>
              <a:t>are addressable from the current window as </a:t>
            </a:r>
            <a:r>
              <a:rPr lang="en-US" altLang="zh-CN" i="1" dirty="0"/>
              <a:t>out</a:t>
            </a:r>
            <a:r>
              <a:rPr lang="en-US" altLang="zh-CN" dirty="0"/>
              <a:t> registers</a:t>
            </a:r>
            <a:endParaRPr lang="zh-CN" altLang="en-US" dirty="0"/>
          </a:p>
        </p:txBody>
      </p:sp>
      <p:pic>
        <p:nvPicPr>
          <p:cNvPr id="4" name="图片 3"/>
          <p:cNvPicPr>
            <a:picLocks noChangeAspect="1"/>
          </p:cNvPicPr>
          <p:nvPr/>
        </p:nvPicPr>
        <p:blipFill>
          <a:blip r:embed="rId2"/>
          <a:stretch>
            <a:fillRect/>
          </a:stretch>
        </p:blipFill>
        <p:spPr>
          <a:xfrm>
            <a:off x="7527453" y="1556792"/>
            <a:ext cx="4664547" cy="5215927"/>
          </a:xfrm>
          <a:prstGeom prst="rect">
            <a:avLst/>
          </a:prstGeom>
        </p:spPr>
      </p:pic>
    </p:spTree>
    <p:extLst>
      <p:ext uri="{BB962C8B-B14F-4D97-AF65-F5344CB8AC3E}">
        <p14:creationId xmlns:p14="http://schemas.microsoft.com/office/powerpoint/2010/main" val="39841297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Windowed r Registers</a:t>
            </a:r>
            <a:br>
              <a:rPr lang="en-US" altLang="zh-CN" dirty="0" smtClean="0"/>
            </a:br>
            <a:r>
              <a:rPr lang="en-US" altLang="zh-CN" sz="3600" dirty="0"/>
              <a:t>The register sets are indicated in bold </a:t>
            </a:r>
            <a:r>
              <a:rPr lang="en-US" altLang="zh-CN" sz="3600" dirty="0" smtClean="0"/>
              <a:t>face</a:t>
            </a:r>
            <a:endParaRPr lang="zh-CN" altLang="en-US" dirty="0"/>
          </a:p>
        </p:txBody>
      </p:sp>
      <p:sp>
        <p:nvSpPr>
          <p:cNvPr id="3" name="内容占位符 2"/>
          <p:cNvSpPr>
            <a:spLocks noGrp="1"/>
          </p:cNvSpPr>
          <p:nvPr>
            <p:ph idx="1"/>
          </p:nvPr>
        </p:nvSpPr>
        <p:spPr>
          <a:xfrm>
            <a:off x="504701" y="1556792"/>
            <a:ext cx="6810499" cy="3816792"/>
          </a:xfrm>
        </p:spPr>
        <p:txBody>
          <a:bodyPr/>
          <a:lstStyle/>
          <a:p>
            <a:r>
              <a:rPr lang="en-US" altLang="zh-CN" dirty="0"/>
              <a:t>NWINDOWS = </a:t>
            </a:r>
            <a:r>
              <a:rPr lang="en-US" altLang="zh-CN" dirty="0" smtClean="0"/>
              <a:t>8, CWP </a:t>
            </a:r>
            <a:r>
              <a:rPr lang="en-US" altLang="zh-CN" dirty="0"/>
              <a:t>= </a:t>
            </a:r>
            <a:r>
              <a:rPr lang="en-US" altLang="zh-CN" dirty="0" smtClean="0"/>
              <a:t>0, </a:t>
            </a:r>
            <a:r>
              <a:rPr lang="en-US" altLang="zh-CN" dirty="0"/>
              <a:t>WIM[7] = 1</a:t>
            </a:r>
            <a:endParaRPr lang="en-US" altLang="zh-CN" dirty="0" smtClean="0"/>
          </a:p>
          <a:p>
            <a:pPr lvl="1"/>
            <a:r>
              <a:rPr lang="en-US" altLang="zh-CN" dirty="0" smtClean="0"/>
              <a:t>The </a:t>
            </a:r>
            <a:r>
              <a:rPr lang="en-US" altLang="zh-CN" dirty="0"/>
              <a:t>8 </a:t>
            </a:r>
            <a:r>
              <a:rPr lang="en-US" altLang="zh-CN" dirty="0" smtClean="0"/>
              <a:t>global registers </a:t>
            </a:r>
            <a:r>
              <a:rPr lang="en-US" altLang="zh-CN" dirty="0"/>
              <a:t>are not </a:t>
            </a:r>
            <a:r>
              <a:rPr lang="en-US" altLang="zh-CN" dirty="0" smtClean="0"/>
              <a:t>illustrated</a:t>
            </a:r>
          </a:p>
          <a:p>
            <a:pPr lvl="1"/>
            <a:r>
              <a:rPr lang="en-US" altLang="zh-CN" dirty="0" smtClean="0"/>
              <a:t>CWP: current window pointer</a:t>
            </a:r>
          </a:p>
          <a:p>
            <a:pPr lvl="1"/>
            <a:r>
              <a:rPr lang="en-US" altLang="zh-CN" dirty="0" smtClean="0"/>
              <a:t>WIM: window invalid mask</a:t>
            </a:r>
          </a:p>
          <a:p>
            <a:pPr lvl="1"/>
            <a:r>
              <a:rPr lang="en-US" altLang="zh-CN" dirty="0" smtClean="0"/>
              <a:t>If </a:t>
            </a:r>
            <a:r>
              <a:rPr lang="en-US" altLang="zh-CN" dirty="0"/>
              <a:t>the procedure using window w0 executes a RESTORE, window w1 will become the current </a:t>
            </a:r>
            <a:r>
              <a:rPr lang="en-US" altLang="zh-CN" dirty="0" smtClean="0"/>
              <a:t>window</a:t>
            </a:r>
          </a:p>
          <a:p>
            <a:pPr lvl="1"/>
            <a:r>
              <a:rPr lang="en-US" altLang="zh-CN" dirty="0" smtClean="0"/>
              <a:t>If </a:t>
            </a:r>
            <a:r>
              <a:rPr lang="en-US" altLang="zh-CN" dirty="0"/>
              <a:t>the procedure using window w0 executes a SAVE, a </a:t>
            </a:r>
            <a:r>
              <a:rPr lang="en-US" altLang="zh-CN" dirty="0" err="1"/>
              <a:t>window_overflow</a:t>
            </a:r>
            <a:r>
              <a:rPr lang="en-US" altLang="zh-CN" dirty="0"/>
              <a:t> trap will </a:t>
            </a:r>
            <a:r>
              <a:rPr lang="en-US" altLang="zh-CN" dirty="0" smtClean="0"/>
              <a:t>occur</a:t>
            </a:r>
          </a:p>
          <a:p>
            <a:pPr lvl="2"/>
            <a:r>
              <a:rPr lang="en-US" altLang="zh-CN" dirty="0" smtClean="0"/>
              <a:t>The </a:t>
            </a:r>
            <a:r>
              <a:rPr lang="en-US" altLang="zh-CN" dirty="0"/>
              <a:t>overflow trap handler uses the w7 locals.</a:t>
            </a:r>
            <a:endParaRPr lang="zh-CN" altLang="en-US" dirty="0"/>
          </a:p>
        </p:txBody>
      </p:sp>
      <p:pic>
        <p:nvPicPr>
          <p:cNvPr id="4" name="图片 3"/>
          <p:cNvPicPr>
            <a:picLocks noChangeAspect="1"/>
          </p:cNvPicPr>
          <p:nvPr/>
        </p:nvPicPr>
        <p:blipFill>
          <a:blip r:embed="rId2"/>
          <a:stretch>
            <a:fillRect/>
          </a:stretch>
        </p:blipFill>
        <p:spPr>
          <a:xfrm>
            <a:off x="7145857" y="1632702"/>
            <a:ext cx="4958095" cy="5225298"/>
          </a:xfrm>
          <a:prstGeom prst="rect">
            <a:avLst/>
          </a:prstGeom>
        </p:spPr>
      </p:pic>
      <p:pic>
        <p:nvPicPr>
          <p:cNvPr id="5" name="图片 4"/>
          <p:cNvPicPr>
            <a:picLocks noChangeAspect="1"/>
          </p:cNvPicPr>
          <p:nvPr/>
        </p:nvPicPr>
        <p:blipFill>
          <a:blip r:embed="rId3"/>
          <a:stretch>
            <a:fillRect/>
          </a:stretch>
        </p:blipFill>
        <p:spPr>
          <a:xfrm>
            <a:off x="1378144" y="5302332"/>
            <a:ext cx="4894270" cy="1484416"/>
          </a:xfrm>
          <a:prstGeom prst="rect">
            <a:avLst/>
          </a:prstGeom>
        </p:spPr>
      </p:pic>
    </p:spTree>
    <p:extLst>
      <p:ext uri="{BB962C8B-B14F-4D97-AF65-F5344CB8AC3E}">
        <p14:creationId xmlns:p14="http://schemas.microsoft.com/office/powerpoint/2010/main" val="40060638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6" name="Rectangle 6"/>
          <p:cNvSpPr>
            <a:spLocks noGrp="1" noChangeArrowheads="1"/>
          </p:cNvSpPr>
          <p:nvPr>
            <p:ph type="title"/>
          </p:nvPr>
        </p:nvSpPr>
        <p:spPr/>
        <p:txBody>
          <a:bodyPr/>
          <a:lstStyle/>
          <a:p>
            <a:r>
              <a:rPr lang="en-US" altLang="zh-CN"/>
              <a:t>Instruction Format</a:t>
            </a:r>
          </a:p>
        </p:txBody>
      </p:sp>
      <p:sp>
        <p:nvSpPr>
          <p:cNvPr id="30727" name="Rectangle 7"/>
          <p:cNvSpPr>
            <a:spLocks noGrp="1" noChangeArrowheads="1"/>
          </p:cNvSpPr>
          <p:nvPr>
            <p:ph type="body" idx="1"/>
          </p:nvPr>
        </p:nvSpPr>
        <p:spPr/>
        <p:txBody>
          <a:bodyPr/>
          <a:lstStyle/>
          <a:p>
            <a:r>
              <a:rPr lang="en-US" altLang="zh-CN" dirty="0"/>
              <a:t>If have many memory operands per instructions and many addressing modes, </a:t>
            </a:r>
            <a:r>
              <a:rPr lang="en-US" altLang="zh-CN" dirty="0" smtClean="0"/>
              <a:t>=&gt;</a:t>
            </a:r>
            <a:r>
              <a:rPr lang="en-US" altLang="zh-CN" dirty="0"/>
              <a:t>Address Specifier per operand</a:t>
            </a:r>
          </a:p>
          <a:p>
            <a:r>
              <a:rPr lang="en-US" altLang="zh-CN" dirty="0"/>
              <a:t>If have load-store machine with 1 address per instr.  and one or two addressing modes, </a:t>
            </a:r>
            <a:r>
              <a:rPr lang="en-US" altLang="zh-CN" dirty="0" smtClean="0"/>
              <a:t>=&gt; </a:t>
            </a:r>
            <a:r>
              <a:rPr lang="en-US" altLang="zh-CN" dirty="0"/>
              <a:t>encode addressing mode in the opcode</a:t>
            </a:r>
          </a:p>
          <a:p>
            <a:r>
              <a:rPr lang="en-US" altLang="zh-CN" dirty="0"/>
              <a:t>If code size is most important, use variable length instructions</a:t>
            </a:r>
          </a:p>
          <a:p>
            <a:r>
              <a:rPr lang="en-US" altLang="zh-CN" dirty="0"/>
              <a:t>If performance is most important, use fixed length instructions</a:t>
            </a:r>
          </a:p>
          <a:p>
            <a:r>
              <a:rPr lang="en-US" altLang="zh-CN" dirty="0" smtClean="0"/>
              <a:t>Some embedded ISAs </a:t>
            </a:r>
            <a:r>
              <a:rPr lang="en-US" altLang="zh-CN" dirty="0"/>
              <a:t>(ARM, MIPS) added optional mode to execute subset of 16-bit wide  instructions (Thumb, MIPS16</a:t>
            </a:r>
            <a:r>
              <a:rPr lang="en-US" altLang="zh-CN" dirty="0" smtClean="0"/>
              <a:t>)</a:t>
            </a:r>
            <a:endParaRPr lang="en-US" altLang="zh-CN" dirty="0"/>
          </a:p>
        </p:txBody>
      </p:sp>
    </p:spTree>
    <p:extLst>
      <p:ext uri="{BB962C8B-B14F-4D97-AF65-F5344CB8AC3E}">
        <p14:creationId xmlns:p14="http://schemas.microsoft.com/office/powerpoint/2010/main" val="925776672"/>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90" name="Rectangle 18"/>
          <p:cNvSpPr>
            <a:spLocks noGrp="1" noChangeArrowheads="1"/>
          </p:cNvSpPr>
          <p:nvPr>
            <p:ph type="title"/>
          </p:nvPr>
        </p:nvSpPr>
        <p:spPr/>
        <p:txBody>
          <a:bodyPr/>
          <a:lstStyle/>
          <a:p>
            <a:r>
              <a:rPr lang="en-US" altLang="zh-CN" dirty="0"/>
              <a:t>Generic Examples of </a:t>
            </a:r>
            <a:br>
              <a:rPr lang="en-US" altLang="zh-CN" dirty="0"/>
            </a:br>
            <a:r>
              <a:rPr lang="en-US" altLang="zh-CN" dirty="0"/>
              <a:t>Instruction Format Widths</a:t>
            </a:r>
          </a:p>
        </p:txBody>
      </p:sp>
      <p:sp>
        <p:nvSpPr>
          <p:cNvPr id="3" name="内容占位符 2"/>
          <p:cNvSpPr>
            <a:spLocks noGrp="1"/>
          </p:cNvSpPr>
          <p:nvPr>
            <p:ph idx="1"/>
          </p:nvPr>
        </p:nvSpPr>
        <p:spPr>
          <a:xfrm>
            <a:off x="336884" y="1556792"/>
            <a:ext cx="11016916" cy="5112568"/>
          </a:xfrm>
        </p:spPr>
        <p:txBody>
          <a:bodyPr/>
          <a:lstStyle/>
          <a:p>
            <a:r>
              <a:rPr lang="en-US" altLang="zh-CN" dirty="0"/>
              <a:t>The variable format can support any number of operands, with each address specifier determining the addressing mode and the length of the specifier for that </a:t>
            </a:r>
            <a:r>
              <a:rPr lang="en-US" altLang="zh-CN" dirty="0" smtClean="0"/>
              <a:t>operand</a:t>
            </a:r>
          </a:p>
          <a:p>
            <a:pPr lvl="1"/>
            <a:r>
              <a:rPr lang="en-US" altLang="zh-CN" dirty="0" smtClean="0"/>
              <a:t>It </a:t>
            </a:r>
            <a:r>
              <a:rPr lang="en-US" altLang="zh-CN" dirty="0"/>
              <a:t>generally enables the smallest code representation, because unused fields need not be </a:t>
            </a:r>
            <a:r>
              <a:rPr lang="en-US" altLang="zh-CN" dirty="0" smtClean="0"/>
              <a:t>included</a:t>
            </a:r>
          </a:p>
          <a:p>
            <a:pPr lvl="1"/>
            <a:r>
              <a:rPr lang="en-US" altLang="zh-CN" dirty="0" smtClean="0"/>
              <a:t>The </a:t>
            </a:r>
            <a:r>
              <a:rPr lang="en-US" altLang="zh-CN" dirty="0"/>
              <a:t>fixed format always has the same </a:t>
            </a:r>
            <a:r>
              <a:rPr lang="en-US" altLang="zh-CN" dirty="0" smtClean="0"/>
              <a:t/>
            </a:r>
            <a:br>
              <a:rPr lang="en-US" altLang="zh-CN" dirty="0" smtClean="0"/>
            </a:br>
            <a:r>
              <a:rPr lang="en-US" altLang="zh-CN" dirty="0" smtClean="0"/>
              <a:t>number </a:t>
            </a:r>
            <a:r>
              <a:rPr lang="en-US" altLang="zh-CN" dirty="0"/>
              <a:t>of operands, with the </a:t>
            </a:r>
            <a:r>
              <a:rPr lang="en-US" altLang="zh-CN" dirty="0" smtClean="0"/>
              <a:t>addressing</a:t>
            </a:r>
            <a:br>
              <a:rPr lang="en-US" altLang="zh-CN" dirty="0" smtClean="0"/>
            </a:br>
            <a:r>
              <a:rPr lang="en-US" altLang="zh-CN" dirty="0" smtClean="0"/>
              <a:t>modes </a:t>
            </a:r>
            <a:r>
              <a:rPr lang="en-US" altLang="zh-CN" dirty="0"/>
              <a:t>(if options exist) specified as part </a:t>
            </a:r>
            <a:r>
              <a:rPr lang="en-US" altLang="zh-CN" dirty="0" smtClean="0"/>
              <a:t/>
            </a:r>
            <a:br>
              <a:rPr lang="en-US" altLang="zh-CN" dirty="0" smtClean="0"/>
            </a:br>
            <a:r>
              <a:rPr lang="en-US" altLang="zh-CN" dirty="0" smtClean="0"/>
              <a:t>of </a:t>
            </a:r>
            <a:r>
              <a:rPr lang="en-US" altLang="zh-CN" dirty="0"/>
              <a:t>the opcode. It generally results in the </a:t>
            </a:r>
            <a:r>
              <a:rPr lang="en-US" altLang="zh-CN" dirty="0" smtClean="0"/>
              <a:t/>
            </a:r>
            <a:br>
              <a:rPr lang="en-US" altLang="zh-CN" dirty="0" smtClean="0"/>
            </a:br>
            <a:r>
              <a:rPr lang="en-US" altLang="zh-CN" dirty="0" smtClean="0"/>
              <a:t>largest </a:t>
            </a:r>
            <a:r>
              <a:rPr lang="en-US" altLang="zh-CN" dirty="0"/>
              <a:t>code </a:t>
            </a:r>
            <a:r>
              <a:rPr lang="en-US" altLang="zh-CN" dirty="0" smtClean="0"/>
              <a:t>size</a:t>
            </a:r>
          </a:p>
          <a:p>
            <a:pPr lvl="1"/>
            <a:r>
              <a:rPr lang="en-US" altLang="zh-CN" dirty="0" smtClean="0"/>
              <a:t>The </a:t>
            </a:r>
            <a:r>
              <a:rPr lang="en-US" altLang="zh-CN" dirty="0"/>
              <a:t>hybrid approach has multiple formats </a:t>
            </a:r>
            <a:r>
              <a:rPr lang="en-US" altLang="zh-CN" dirty="0" smtClean="0"/>
              <a:t/>
            </a:r>
            <a:br>
              <a:rPr lang="en-US" altLang="zh-CN" dirty="0" smtClean="0"/>
            </a:br>
            <a:r>
              <a:rPr lang="en-US" altLang="zh-CN" dirty="0" smtClean="0"/>
              <a:t>specified </a:t>
            </a:r>
            <a:r>
              <a:rPr lang="en-US" altLang="zh-CN" dirty="0"/>
              <a:t>by the opcode, adding one or </a:t>
            </a:r>
            <a:r>
              <a:rPr lang="en-US" altLang="zh-CN" dirty="0" smtClean="0"/>
              <a:t/>
            </a:r>
            <a:br>
              <a:rPr lang="en-US" altLang="zh-CN" dirty="0" smtClean="0"/>
            </a:br>
            <a:r>
              <a:rPr lang="en-US" altLang="zh-CN" dirty="0" smtClean="0"/>
              <a:t>two </a:t>
            </a:r>
            <a:r>
              <a:rPr lang="en-US" altLang="zh-CN" dirty="0"/>
              <a:t>fields to specify the addressing mode </a:t>
            </a:r>
            <a:r>
              <a:rPr lang="en-US" altLang="zh-CN" dirty="0" smtClean="0"/>
              <a:t/>
            </a:r>
            <a:br>
              <a:rPr lang="en-US" altLang="zh-CN" dirty="0" smtClean="0"/>
            </a:br>
            <a:r>
              <a:rPr lang="en-US" altLang="zh-CN" dirty="0" smtClean="0"/>
              <a:t>and </a:t>
            </a:r>
            <a:r>
              <a:rPr lang="en-US" altLang="zh-CN" dirty="0"/>
              <a:t>one or two fields to specify the </a:t>
            </a:r>
            <a:r>
              <a:rPr lang="en-US" altLang="zh-CN" dirty="0" smtClean="0"/>
              <a:t/>
            </a:r>
            <a:br>
              <a:rPr lang="en-US" altLang="zh-CN" dirty="0" smtClean="0"/>
            </a:br>
            <a:r>
              <a:rPr lang="en-US" altLang="zh-CN" dirty="0" smtClean="0"/>
              <a:t>operand address</a:t>
            </a:r>
            <a:endParaRPr lang="zh-CN" altLang="en-US" dirty="0"/>
          </a:p>
        </p:txBody>
      </p:sp>
      <p:pic>
        <p:nvPicPr>
          <p:cNvPr id="2" name="图片 1"/>
          <p:cNvPicPr>
            <a:picLocks noChangeAspect="1"/>
          </p:cNvPicPr>
          <p:nvPr/>
        </p:nvPicPr>
        <p:blipFill>
          <a:blip r:embed="rId2"/>
          <a:stretch>
            <a:fillRect/>
          </a:stretch>
        </p:blipFill>
        <p:spPr>
          <a:xfrm>
            <a:off x="6845345" y="3216290"/>
            <a:ext cx="5346655" cy="3505504"/>
          </a:xfrm>
          <a:prstGeom prst="rect">
            <a:avLst/>
          </a:prstGeom>
        </p:spPr>
      </p:pic>
    </p:spTree>
    <p:extLst>
      <p:ext uri="{BB962C8B-B14F-4D97-AF65-F5344CB8AC3E}">
        <p14:creationId xmlns:p14="http://schemas.microsoft.com/office/powerpoint/2010/main" val="3626695308"/>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235201" y="114300"/>
            <a:ext cx="6496971"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MIPS Instruction Formats</a:t>
            </a:r>
          </a:p>
        </p:txBody>
      </p:sp>
      <p:sp>
        <p:nvSpPr>
          <p:cNvPr id="31747" name="Rectangle 3"/>
          <p:cNvSpPr>
            <a:spLocks noChangeArrowheads="1"/>
          </p:cNvSpPr>
          <p:nvPr/>
        </p:nvSpPr>
        <p:spPr bwMode="auto">
          <a:xfrm>
            <a:off x="4127500" y="2087563"/>
            <a:ext cx="5842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48" name="Rectangle 4"/>
          <p:cNvSpPr>
            <a:spLocks noChangeArrowheads="1"/>
          </p:cNvSpPr>
          <p:nvPr/>
        </p:nvSpPr>
        <p:spPr bwMode="auto">
          <a:xfrm>
            <a:off x="4127500" y="2176463"/>
            <a:ext cx="4064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op</a:t>
            </a:r>
          </a:p>
        </p:txBody>
      </p:sp>
      <p:sp>
        <p:nvSpPr>
          <p:cNvPr id="31749" name="Rectangle 5"/>
          <p:cNvSpPr>
            <a:spLocks noChangeArrowheads="1"/>
          </p:cNvSpPr>
          <p:nvPr/>
        </p:nvSpPr>
        <p:spPr bwMode="auto">
          <a:xfrm>
            <a:off x="4737100" y="2087563"/>
            <a:ext cx="508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0" name="Rectangle 6"/>
          <p:cNvSpPr>
            <a:spLocks noChangeArrowheads="1"/>
          </p:cNvSpPr>
          <p:nvPr/>
        </p:nvSpPr>
        <p:spPr bwMode="auto">
          <a:xfrm>
            <a:off x="5270500" y="2087563"/>
            <a:ext cx="508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1" name="Rectangle 7"/>
          <p:cNvSpPr>
            <a:spLocks noChangeArrowheads="1"/>
          </p:cNvSpPr>
          <p:nvPr/>
        </p:nvSpPr>
        <p:spPr bwMode="auto">
          <a:xfrm>
            <a:off x="5803900" y="2087563"/>
            <a:ext cx="508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2" name="Rectangle 8"/>
          <p:cNvSpPr>
            <a:spLocks noChangeArrowheads="1"/>
          </p:cNvSpPr>
          <p:nvPr/>
        </p:nvSpPr>
        <p:spPr bwMode="auto">
          <a:xfrm>
            <a:off x="5803900" y="3840163"/>
            <a:ext cx="14224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3" name="Rectangle 9"/>
          <p:cNvSpPr>
            <a:spLocks noChangeArrowheads="1"/>
          </p:cNvSpPr>
          <p:nvPr/>
        </p:nvSpPr>
        <p:spPr bwMode="auto">
          <a:xfrm>
            <a:off x="6337300" y="2087563"/>
            <a:ext cx="889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4" name="Rectangle 10"/>
          <p:cNvSpPr>
            <a:spLocks noChangeArrowheads="1"/>
          </p:cNvSpPr>
          <p:nvPr/>
        </p:nvSpPr>
        <p:spPr bwMode="auto">
          <a:xfrm>
            <a:off x="4889500" y="2176463"/>
            <a:ext cx="342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rs</a:t>
            </a:r>
          </a:p>
        </p:txBody>
      </p:sp>
      <p:sp>
        <p:nvSpPr>
          <p:cNvPr id="31755" name="Rectangle 11"/>
          <p:cNvSpPr>
            <a:spLocks noChangeArrowheads="1"/>
          </p:cNvSpPr>
          <p:nvPr/>
        </p:nvSpPr>
        <p:spPr bwMode="auto">
          <a:xfrm>
            <a:off x="5346700" y="2176463"/>
            <a:ext cx="2921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rt</a:t>
            </a:r>
          </a:p>
        </p:txBody>
      </p:sp>
      <p:sp>
        <p:nvSpPr>
          <p:cNvPr id="31756" name="Rectangle 12"/>
          <p:cNvSpPr>
            <a:spLocks noChangeArrowheads="1"/>
          </p:cNvSpPr>
          <p:nvPr/>
        </p:nvSpPr>
        <p:spPr bwMode="auto">
          <a:xfrm>
            <a:off x="5880100" y="2176463"/>
            <a:ext cx="3556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rd</a:t>
            </a:r>
          </a:p>
        </p:txBody>
      </p:sp>
      <p:sp>
        <p:nvSpPr>
          <p:cNvPr id="31757" name="Rectangle 13"/>
          <p:cNvSpPr>
            <a:spLocks noChangeArrowheads="1"/>
          </p:cNvSpPr>
          <p:nvPr/>
        </p:nvSpPr>
        <p:spPr bwMode="auto">
          <a:xfrm>
            <a:off x="6032500" y="3929063"/>
            <a:ext cx="8636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immed</a:t>
            </a:r>
          </a:p>
        </p:txBody>
      </p:sp>
      <p:sp>
        <p:nvSpPr>
          <p:cNvPr id="31758" name="Rectangle 14" descr="50%"/>
          <p:cNvSpPr>
            <a:spLocks noChangeArrowheads="1"/>
          </p:cNvSpPr>
          <p:nvPr/>
        </p:nvSpPr>
        <p:spPr bwMode="auto">
          <a:xfrm>
            <a:off x="4660900" y="2773363"/>
            <a:ext cx="1803400" cy="203200"/>
          </a:xfrm>
          <a:prstGeom prst="rect">
            <a:avLst/>
          </a:prstGeom>
          <a:pattFill prst="pct50">
            <a:fgClr>
              <a:schemeClr val="accent1"/>
            </a:fgClr>
            <a:bgClr>
              <a:schemeClr val="bg1"/>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9" name="Rectangle 15"/>
          <p:cNvSpPr>
            <a:spLocks noChangeArrowheads="1"/>
          </p:cNvSpPr>
          <p:nvPr/>
        </p:nvSpPr>
        <p:spPr bwMode="auto">
          <a:xfrm>
            <a:off x="4889500" y="2786063"/>
            <a:ext cx="9652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register</a:t>
            </a:r>
          </a:p>
        </p:txBody>
      </p:sp>
      <p:sp>
        <p:nvSpPr>
          <p:cNvPr id="31760" name="Line 16"/>
          <p:cNvSpPr>
            <a:spLocks noChangeShapeType="1"/>
          </p:cNvSpPr>
          <p:nvPr/>
        </p:nvSpPr>
        <p:spPr bwMode="auto">
          <a:xfrm>
            <a:off x="5029200" y="2468563"/>
            <a:ext cx="0" cy="279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1" name="Rectangle 17"/>
          <p:cNvSpPr>
            <a:spLocks noChangeArrowheads="1"/>
          </p:cNvSpPr>
          <p:nvPr/>
        </p:nvSpPr>
        <p:spPr bwMode="auto">
          <a:xfrm>
            <a:off x="1993900" y="2100263"/>
            <a:ext cx="18796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Register (direct)</a:t>
            </a:r>
          </a:p>
        </p:txBody>
      </p:sp>
      <p:sp>
        <p:nvSpPr>
          <p:cNvPr id="31762" name="Rectangle 18"/>
          <p:cNvSpPr>
            <a:spLocks noChangeArrowheads="1"/>
          </p:cNvSpPr>
          <p:nvPr/>
        </p:nvSpPr>
        <p:spPr bwMode="auto">
          <a:xfrm>
            <a:off x="4127500" y="3840163"/>
            <a:ext cx="5842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3" name="Rectangle 19"/>
          <p:cNvSpPr>
            <a:spLocks noChangeArrowheads="1"/>
          </p:cNvSpPr>
          <p:nvPr/>
        </p:nvSpPr>
        <p:spPr bwMode="auto">
          <a:xfrm>
            <a:off x="4127500" y="3929063"/>
            <a:ext cx="4064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op</a:t>
            </a:r>
          </a:p>
        </p:txBody>
      </p:sp>
      <p:sp>
        <p:nvSpPr>
          <p:cNvPr id="31764" name="Rectangle 20"/>
          <p:cNvSpPr>
            <a:spLocks noChangeArrowheads="1"/>
          </p:cNvSpPr>
          <p:nvPr/>
        </p:nvSpPr>
        <p:spPr bwMode="auto">
          <a:xfrm>
            <a:off x="4737100" y="3840163"/>
            <a:ext cx="508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5" name="Rectangle 21"/>
          <p:cNvSpPr>
            <a:spLocks noChangeArrowheads="1"/>
          </p:cNvSpPr>
          <p:nvPr/>
        </p:nvSpPr>
        <p:spPr bwMode="auto">
          <a:xfrm>
            <a:off x="5270500" y="3840163"/>
            <a:ext cx="508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6" name="Rectangle 22"/>
          <p:cNvSpPr>
            <a:spLocks noChangeArrowheads="1"/>
          </p:cNvSpPr>
          <p:nvPr/>
        </p:nvSpPr>
        <p:spPr bwMode="auto">
          <a:xfrm>
            <a:off x="4889500" y="3929063"/>
            <a:ext cx="342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rs</a:t>
            </a:r>
          </a:p>
        </p:txBody>
      </p:sp>
      <p:sp>
        <p:nvSpPr>
          <p:cNvPr id="31767" name="Rectangle 23"/>
          <p:cNvSpPr>
            <a:spLocks noChangeArrowheads="1"/>
          </p:cNvSpPr>
          <p:nvPr/>
        </p:nvSpPr>
        <p:spPr bwMode="auto">
          <a:xfrm>
            <a:off x="5346700" y="3929063"/>
            <a:ext cx="2921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rt</a:t>
            </a:r>
          </a:p>
        </p:txBody>
      </p:sp>
      <p:sp>
        <p:nvSpPr>
          <p:cNvPr id="31768" name="Rectangle 24"/>
          <p:cNvSpPr>
            <a:spLocks noChangeArrowheads="1"/>
          </p:cNvSpPr>
          <p:nvPr/>
        </p:nvSpPr>
        <p:spPr bwMode="auto">
          <a:xfrm>
            <a:off x="4660900" y="4525963"/>
            <a:ext cx="1803400" cy="2032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9" name="Rectangle 25"/>
          <p:cNvSpPr>
            <a:spLocks noChangeArrowheads="1"/>
          </p:cNvSpPr>
          <p:nvPr/>
        </p:nvSpPr>
        <p:spPr bwMode="auto">
          <a:xfrm>
            <a:off x="4889500" y="4538663"/>
            <a:ext cx="9652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register</a:t>
            </a:r>
          </a:p>
        </p:txBody>
      </p:sp>
      <p:sp>
        <p:nvSpPr>
          <p:cNvPr id="31770" name="Line 26"/>
          <p:cNvSpPr>
            <a:spLocks noChangeShapeType="1"/>
          </p:cNvSpPr>
          <p:nvPr/>
        </p:nvSpPr>
        <p:spPr bwMode="auto">
          <a:xfrm>
            <a:off x="5029200" y="4221163"/>
            <a:ext cx="0" cy="279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1" name="Rectangle 27"/>
          <p:cNvSpPr>
            <a:spLocks noChangeArrowheads="1"/>
          </p:cNvSpPr>
          <p:nvPr/>
        </p:nvSpPr>
        <p:spPr bwMode="auto">
          <a:xfrm>
            <a:off x="1993900" y="3776663"/>
            <a:ext cx="140335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Base+index</a:t>
            </a:r>
          </a:p>
        </p:txBody>
      </p:sp>
      <p:sp>
        <p:nvSpPr>
          <p:cNvPr id="31772" name="Oval 28"/>
          <p:cNvSpPr>
            <a:spLocks noChangeArrowheads="1"/>
          </p:cNvSpPr>
          <p:nvPr/>
        </p:nvSpPr>
        <p:spPr bwMode="auto">
          <a:xfrm>
            <a:off x="6794500" y="4525963"/>
            <a:ext cx="355600" cy="279400"/>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3" name="Rectangle 29"/>
          <p:cNvSpPr>
            <a:spLocks noChangeArrowheads="1"/>
          </p:cNvSpPr>
          <p:nvPr/>
        </p:nvSpPr>
        <p:spPr bwMode="auto">
          <a:xfrm>
            <a:off x="6870700" y="4538663"/>
            <a:ext cx="26035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t>
            </a:r>
          </a:p>
        </p:txBody>
      </p:sp>
      <p:sp>
        <p:nvSpPr>
          <p:cNvPr id="31774" name="Line 30"/>
          <p:cNvSpPr>
            <a:spLocks noChangeShapeType="1"/>
          </p:cNvSpPr>
          <p:nvPr/>
        </p:nvSpPr>
        <p:spPr bwMode="auto">
          <a:xfrm>
            <a:off x="6489700" y="4665663"/>
            <a:ext cx="3556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5" name="Line 31"/>
          <p:cNvSpPr>
            <a:spLocks noChangeShapeType="1"/>
          </p:cNvSpPr>
          <p:nvPr/>
        </p:nvSpPr>
        <p:spPr bwMode="auto">
          <a:xfrm>
            <a:off x="7010400" y="4221163"/>
            <a:ext cx="0" cy="279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6" name="Line 32"/>
          <p:cNvSpPr>
            <a:spLocks noChangeShapeType="1"/>
          </p:cNvSpPr>
          <p:nvPr/>
        </p:nvSpPr>
        <p:spPr bwMode="auto">
          <a:xfrm>
            <a:off x="7175500" y="4665663"/>
            <a:ext cx="1041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7" name="Rectangle 33"/>
          <p:cNvSpPr>
            <a:spLocks noChangeArrowheads="1"/>
          </p:cNvSpPr>
          <p:nvPr/>
        </p:nvSpPr>
        <p:spPr bwMode="auto">
          <a:xfrm>
            <a:off x="8242300" y="4068763"/>
            <a:ext cx="965200" cy="812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8" name="Rectangle 34"/>
          <p:cNvSpPr>
            <a:spLocks noChangeArrowheads="1"/>
          </p:cNvSpPr>
          <p:nvPr/>
        </p:nvSpPr>
        <p:spPr bwMode="auto">
          <a:xfrm>
            <a:off x="8242300" y="4081463"/>
            <a:ext cx="10033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Memory</a:t>
            </a:r>
          </a:p>
        </p:txBody>
      </p:sp>
      <p:sp>
        <p:nvSpPr>
          <p:cNvPr id="31779" name="Rectangle 35" descr="50%"/>
          <p:cNvSpPr>
            <a:spLocks noChangeArrowheads="1"/>
          </p:cNvSpPr>
          <p:nvPr/>
        </p:nvSpPr>
        <p:spPr bwMode="auto">
          <a:xfrm>
            <a:off x="5803900" y="3154363"/>
            <a:ext cx="1422400" cy="355600"/>
          </a:xfrm>
          <a:prstGeom prst="rect">
            <a:avLst/>
          </a:prstGeom>
          <a:pattFill prst="pct50">
            <a:fgClr>
              <a:schemeClr val="accent1"/>
            </a:fgClr>
            <a:bgClr>
              <a:schemeClr val="bg1"/>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0" name="Rectangle 36"/>
          <p:cNvSpPr>
            <a:spLocks noChangeArrowheads="1"/>
          </p:cNvSpPr>
          <p:nvPr/>
        </p:nvSpPr>
        <p:spPr bwMode="auto">
          <a:xfrm>
            <a:off x="6032500" y="3243263"/>
            <a:ext cx="8636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immed</a:t>
            </a:r>
          </a:p>
        </p:txBody>
      </p:sp>
      <p:sp>
        <p:nvSpPr>
          <p:cNvPr id="31781" name="Rectangle 37"/>
          <p:cNvSpPr>
            <a:spLocks noChangeArrowheads="1"/>
          </p:cNvSpPr>
          <p:nvPr/>
        </p:nvSpPr>
        <p:spPr bwMode="auto">
          <a:xfrm>
            <a:off x="4127500" y="3154363"/>
            <a:ext cx="5842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2" name="Rectangle 38"/>
          <p:cNvSpPr>
            <a:spLocks noChangeArrowheads="1"/>
          </p:cNvSpPr>
          <p:nvPr/>
        </p:nvSpPr>
        <p:spPr bwMode="auto">
          <a:xfrm>
            <a:off x="4127500" y="3243263"/>
            <a:ext cx="4064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op</a:t>
            </a:r>
          </a:p>
        </p:txBody>
      </p:sp>
      <p:sp>
        <p:nvSpPr>
          <p:cNvPr id="31783" name="Rectangle 39"/>
          <p:cNvSpPr>
            <a:spLocks noChangeArrowheads="1"/>
          </p:cNvSpPr>
          <p:nvPr/>
        </p:nvSpPr>
        <p:spPr bwMode="auto">
          <a:xfrm>
            <a:off x="4737100" y="3154363"/>
            <a:ext cx="508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4" name="Rectangle 40"/>
          <p:cNvSpPr>
            <a:spLocks noChangeArrowheads="1"/>
          </p:cNvSpPr>
          <p:nvPr/>
        </p:nvSpPr>
        <p:spPr bwMode="auto">
          <a:xfrm>
            <a:off x="5270500" y="3154363"/>
            <a:ext cx="508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5" name="Rectangle 41"/>
          <p:cNvSpPr>
            <a:spLocks noChangeArrowheads="1"/>
          </p:cNvSpPr>
          <p:nvPr/>
        </p:nvSpPr>
        <p:spPr bwMode="auto">
          <a:xfrm>
            <a:off x="4889500" y="3243263"/>
            <a:ext cx="342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rs</a:t>
            </a:r>
          </a:p>
        </p:txBody>
      </p:sp>
      <p:sp>
        <p:nvSpPr>
          <p:cNvPr id="31786" name="Rectangle 42"/>
          <p:cNvSpPr>
            <a:spLocks noChangeArrowheads="1"/>
          </p:cNvSpPr>
          <p:nvPr/>
        </p:nvSpPr>
        <p:spPr bwMode="auto">
          <a:xfrm>
            <a:off x="5346700" y="3243263"/>
            <a:ext cx="2921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rt</a:t>
            </a:r>
          </a:p>
        </p:txBody>
      </p:sp>
      <p:sp>
        <p:nvSpPr>
          <p:cNvPr id="31787" name="Rectangle 43"/>
          <p:cNvSpPr>
            <a:spLocks noChangeArrowheads="1"/>
          </p:cNvSpPr>
          <p:nvPr/>
        </p:nvSpPr>
        <p:spPr bwMode="auto">
          <a:xfrm>
            <a:off x="1993900" y="3167063"/>
            <a:ext cx="12573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Immediate</a:t>
            </a:r>
          </a:p>
        </p:txBody>
      </p:sp>
      <p:sp>
        <p:nvSpPr>
          <p:cNvPr id="31788" name="Rectangle 44"/>
          <p:cNvSpPr>
            <a:spLocks noChangeArrowheads="1"/>
          </p:cNvSpPr>
          <p:nvPr/>
        </p:nvSpPr>
        <p:spPr bwMode="auto">
          <a:xfrm>
            <a:off x="5803900" y="4983163"/>
            <a:ext cx="14224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9" name="Rectangle 45"/>
          <p:cNvSpPr>
            <a:spLocks noChangeArrowheads="1"/>
          </p:cNvSpPr>
          <p:nvPr/>
        </p:nvSpPr>
        <p:spPr bwMode="auto">
          <a:xfrm>
            <a:off x="6032500" y="5072063"/>
            <a:ext cx="8636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immed</a:t>
            </a:r>
          </a:p>
        </p:txBody>
      </p:sp>
      <p:sp>
        <p:nvSpPr>
          <p:cNvPr id="31790" name="Rectangle 46"/>
          <p:cNvSpPr>
            <a:spLocks noChangeArrowheads="1"/>
          </p:cNvSpPr>
          <p:nvPr/>
        </p:nvSpPr>
        <p:spPr bwMode="auto">
          <a:xfrm>
            <a:off x="4127500" y="4983163"/>
            <a:ext cx="5842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1" name="Rectangle 47"/>
          <p:cNvSpPr>
            <a:spLocks noChangeArrowheads="1"/>
          </p:cNvSpPr>
          <p:nvPr/>
        </p:nvSpPr>
        <p:spPr bwMode="auto">
          <a:xfrm>
            <a:off x="4127500" y="5072063"/>
            <a:ext cx="4064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op</a:t>
            </a:r>
          </a:p>
        </p:txBody>
      </p:sp>
      <p:sp>
        <p:nvSpPr>
          <p:cNvPr id="31792" name="Rectangle 48"/>
          <p:cNvSpPr>
            <a:spLocks noChangeArrowheads="1"/>
          </p:cNvSpPr>
          <p:nvPr/>
        </p:nvSpPr>
        <p:spPr bwMode="auto">
          <a:xfrm>
            <a:off x="4737100" y="4983163"/>
            <a:ext cx="508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3" name="Rectangle 49"/>
          <p:cNvSpPr>
            <a:spLocks noChangeArrowheads="1"/>
          </p:cNvSpPr>
          <p:nvPr/>
        </p:nvSpPr>
        <p:spPr bwMode="auto">
          <a:xfrm>
            <a:off x="5270500" y="4983163"/>
            <a:ext cx="508000" cy="355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4" name="Rectangle 50"/>
          <p:cNvSpPr>
            <a:spLocks noChangeArrowheads="1"/>
          </p:cNvSpPr>
          <p:nvPr/>
        </p:nvSpPr>
        <p:spPr bwMode="auto">
          <a:xfrm>
            <a:off x="4889500" y="5072063"/>
            <a:ext cx="342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rs</a:t>
            </a:r>
          </a:p>
        </p:txBody>
      </p:sp>
      <p:sp>
        <p:nvSpPr>
          <p:cNvPr id="31795" name="Rectangle 51"/>
          <p:cNvSpPr>
            <a:spLocks noChangeArrowheads="1"/>
          </p:cNvSpPr>
          <p:nvPr/>
        </p:nvSpPr>
        <p:spPr bwMode="auto">
          <a:xfrm>
            <a:off x="5346700" y="5072063"/>
            <a:ext cx="2921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rt</a:t>
            </a:r>
          </a:p>
        </p:txBody>
      </p:sp>
      <p:sp>
        <p:nvSpPr>
          <p:cNvPr id="31796" name="Rectangle 52"/>
          <p:cNvSpPr>
            <a:spLocks noChangeArrowheads="1"/>
          </p:cNvSpPr>
          <p:nvPr/>
        </p:nvSpPr>
        <p:spPr bwMode="auto">
          <a:xfrm>
            <a:off x="4660900" y="5668963"/>
            <a:ext cx="1803400" cy="2032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7" name="Rectangle 53"/>
          <p:cNvSpPr>
            <a:spLocks noChangeArrowheads="1"/>
          </p:cNvSpPr>
          <p:nvPr/>
        </p:nvSpPr>
        <p:spPr bwMode="auto">
          <a:xfrm>
            <a:off x="4889500" y="5681663"/>
            <a:ext cx="4445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PC</a:t>
            </a:r>
          </a:p>
        </p:txBody>
      </p:sp>
      <p:sp>
        <p:nvSpPr>
          <p:cNvPr id="31798" name="Rectangle 54"/>
          <p:cNvSpPr>
            <a:spLocks noChangeArrowheads="1"/>
          </p:cNvSpPr>
          <p:nvPr/>
        </p:nvSpPr>
        <p:spPr bwMode="auto">
          <a:xfrm>
            <a:off x="1993900" y="4919663"/>
            <a:ext cx="13208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PC-relative</a:t>
            </a:r>
          </a:p>
        </p:txBody>
      </p:sp>
      <p:sp>
        <p:nvSpPr>
          <p:cNvPr id="31799" name="Oval 55"/>
          <p:cNvSpPr>
            <a:spLocks noChangeArrowheads="1"/>
          </p:cNvSpPr>
          <p:nvPr/>
        </p:nvSpPr>
        <p:spPr bwMode="auto">
          <a:xfrm>
            <a:off x="6794500" y="5668963"/>
            <a:ext cx="355600" cy="279400"/>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0" name="Rectangle 56"/>
          <p:cNvSpPr>
            <a:spLocks noChangeArrowheads="1"/>
          </p:cNvSpPr>
          <p:nvPr/>
        </p:nvSpPr>
        <p:spPr bwMode="auto">
          <a:xfrm>
            <a:off x="6870700" y="5681663"/>
            <a:ext cx="26035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a:t>
            </a:r>
          </a:p>
        </p:txBody>
      </p:sp>
      <p:sp>
        <p:nvSpPr>
          <p:cNvPr id="31801" name="Line 57"/>
          <p:cNvSpPr>
            <a:spLocks noChangeShapeType="1"/>
          </p:cNvSpPr>
          <p:nvPr/>
        </p:nvSpPr>
        <p:spPr bwMode="auto">
          <a:xfrm>
            <a:off x="6489700" y="5808663"/>
            <a:ext cx="3556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2" name="Line 58"/>
          <p:cNvSpPr>
            <a:spLocks noChangeShapeType="1"/>
          </p:cNvSpPr>
          <p:nvPr/>
        </p:nvSpPr>
        <p:spPr bwMode="auto">
          <a:xfrm>
            <a:off x="7010400" y="5364163"/>
            <a:ext cx="0" cy="279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3" name="Line 59"/>
          <p:cNvSpPr>
            <a:spLocks noChangeShapeType="1"/>
          </p:cNvSpPr>
          <p:nvPr/>
        </p:nvSpPr>
        <p:spPr bwMode="auto">
          <a:xfrm>
            <a:off x="7175500" y="5808663"/>
            <a:ext cx="1041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4" name="Rectangle 60"/>
          <p:cNvSpPr>
            <a:spLocks noChangeArrowheads="1"/>
          </p:cNvSpPr>
          <p:nvPr/>
        </p:nvSpPr>
        <p:spPr bwMode="auto">
          <a:xfrm>
            <a:off x="8242300" y="5211763"/>
            <a:ext cx="965200" cy="812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5" name="Rectangle 61"/>
          <p:cNvSpPr>
            <a:spLocks noChangeArrowheads="1"/>
          </p:cNvSpPr>
          <p:nvPr/>
        </p:nvSpPr>
        <p:spPr bwMode="auto">
          <a:xfrm>
            <a:off x="8242300" y="5224463"/>
            <a:ext cx="10033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Memory</a:t>
            </a:r>
          </a:p>
        </p:txBody>
      </p:sp>
      <p:sp>
        <p:nvSpPr>
          <p:cNvPr id="31806" name="Rectangle 62"/>
          <p:cNvSpPr>
            <a:spLocks noChangeArrowheads="1"/>
          </p:cNvSpPr>
          <p:nvPr/>
        </p:nvSpPr>
        <p:spPr bwMode="auto">
          <a:xfrm>
            <a:off x="2043114" y="1450976"/>
            <a:ext cx="5842113" cy="582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buFontTx/>
              <a:buChar char="•"/>
            </a:pPr>
            <a:r>
              <a:rPr lang="en-US" altLang="zh-CN" sz="3200" b="1">
                <a:solidFill>
                  <a:srgbClr val="0000CC"/>
                </a:solidFill>
                <a:latin typeface="Arial" panose="020B0604020202020204" pitchFamily="34" charset="0"/>
              </a:rPr>
              <a:t> All instructions 32 bits wide</a:t>
            </a:r>
          </a:p>
        </p:txBody>
      </p:sp>
      <p:sp>
        <p:nvSpPr>
          <p:cNvPr id="31807" name="Rectangle 63" descr="50%"/>
          <p:cNvSpPr>
            <a:spLocks noChangeArrowheads="1"/>
          </p:cNvSpPr>
          <p:nvPr/>
        </p:nvSpPr>
        <p:spPr bwMode="auto">
          <a:xfrm>
            <a:off x="8242300" y="4602163"/>
            <a:ext cx="965200" cy="127000"/>
          </a:xfrm>
          <a:prstGeom prst="rect">
            <a:avLst/>
          </a:prstGeom>
          <a:pattFill prst="pct50">
            <a:fgClr>
              <a:schemeClr val="accent1"/>
            </a:fgClr>
            <a:bgClr>
              <a:schemeClr val="bg1"/>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8" name="Rectangle 64" descr="50%"/>
          <p:cNvSpPr>
            <a:spLocks noChangeArrowheads="1"/>
          </p:cNvSpPr>
          <p:nvPr/>
        </p:nvSpPr>
        <p:spPr bwMode="auto">
          <a:xfrm>
            <a:off x="8242300" y="5745163"/>
            <a:ext cx="965200" cy="127000"/>
          </a:xfrm>
          <a:prstGeom prst="rect">
            <a:avLst/>
          </a:prstGeom>
          <a:pattFill prst="pct50">
            <a:fgClr>
              <a:schemeClr val="accent1"/>
            </a:fgClr>
            <a:bgClr>
              <a:schemeClr val="bg1"/>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9" name="Rectangle 65"/>
          <p:cNvSpPr>
            <a:spLocks noChangeArrowheads="1"/>
          </p:cNvSpPr>
          <p:nvPr/>
        </p:nvSpPr>
        <p:spPr bwMode="auto">
          <a:xfrm>
            <a:off x="2043113" y="6099175"/>
            <a:ext cx="2991204"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buFontTx/>
              <a:buChar char="•"/>
            </a:pPr>
            <a:r>
              <a:rPr lang="en-US" altLang="zh-CN" sz="2400" b="1">
                <a:solidFill>
                  <a:schemeClr val="hlink"/>
                </a:solidFill>
                <a:latin typeface="Arial" panose="020B0604020202020204" pitchFamily="34" charset="0"/>
              </a:rPr>
              <a:t> Register Indirect?</a:t>
            </a:r>
          </a:p>
        </p:txBody>
      </p:sp>
    </p:spTree>
    <p:extLst>
      <p:ext uri="{BB962C8B-B14F-4D97-AF65-F5344CB8AC3E}">
        <p14:creationId xmlns:p14="http://schemas.microsoft.com/office/powerpoint/2010/main" val="211349876"/>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2">
                <a:moveTo>
                  <a:pt x="0" y="0"/>
                </a:moveTo>
                <a:lnTo>
                  <a:pt x="101" y="0"/>
                </a:lnTo>
                <a:lnTo>
                  <a:pt x="101" y="101"/>
                </a:lnTo>
                <a:lnTo>
                  <a:pt x="0" y="101"/>
                </a:lnTo>
                <a:lnTo>
                  <a:pt x="0" y="0"/>
                </a:lnTo>
              </a:path>
            </a:pathLst>
          </a:custGeom>
          <a:solidFill>
            <a:srgbClr val="FFFFFF"/>
          </a:solidFill>
          <a:ln>
            <a:noFill/>
          </a:ln>
          <a:effectLst/>
          <a:extLst>
            <a:ext uri="{91240B29-F687-4F45-9708-019B960494DF}">
              <a14:hiddenLine xmlns:a14="http://schemas.microsoft.com/office/drawing/2010/main" w="9525" cap="flat">
                <a:solidFill>
                  <a:srgbClr val="3465A4"/>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10244" name="Picture 2" descr="Z:\WOMAT\Production\Artfinal\0000000038\MKCAD\978-0-12-811905-1\0003165540\XMLLowres\f01-07-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82092" y="3829481"/>
            <a:ext cx="6157810" cy="2619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The base RISC-V instruction </a:t>
            </a:r>
            <a:r>
              <a:rPr lang="en-US" altLang="zh-CN" dirty="0" smtClean="0"/>
              <a:t>formats</a:t>
            </a:r>
            <a:endParaRPr lang="zh-CN" altLang="en-US" dirty="0"/>
          </a:p>
        </p:txBody>
      </p:sp>
      <p:sp>
        <p:nvSpPr>
          <p:cNvPr id="3" name="内容占位符 2"/>
          <p:cNvSpPr>
            <a:spLocks noGrp="1"/>
          </p:cNvSpPr>
          <p:nvPr>
            <p:ph idx="1"/>
          </p:nvPr>
        </p:nvSpPr>
        <p:spPr>
          <a:xfrm>
            <a:off x="378135" y="1556792"/>
            <a:ext cx="10975665" cy="5112568"/>
          </a:xfrm>
        </p:spPr>
        <p:txBody>
          <a:bodyPr/>
          <a:lstStyle/>
          <a:p>
            <a:r>
              <a:rPr lang="en-US" altLang="zh-CN" dirty="0" smtClean="0"/>
              <a:t>All </a:t>
            </a:r>
            <a:r>
              <a:rPr lang="en-US" altLang="zh-CN" dirty="0"/>
              <a:t>instructions are 32 bits </a:t>
            </a:r>
            <a:r>
              <a:rPr lang="en-US" altLang="zh-CN" dirty="0" smtClean="0"/>
              <a:t>long</a:t>
            </a:r>
          </a:p>
          <a:p>
            <a:pPr lvl="1"/>
            <a:r>
              <a:rPr lang="en-US" altLang="zh-CN" dirty="0" smtClean="0"/>
              <a:t>R </a:t>
            </a:r>
            <a:r>
              <a:rPr lang="en-US" altLang="zh-CN" dirty="0"/>
              <a:t>format is for integer register-to-register operations, such as ADD, </a:t>
            </a:r>
            <a:r>
              <a:rPr lang="en-US" altLang="zh-CN" dirty="0" smtClean="0"/>
              <a:t>SUB</a:t>
            </a:r>
          </a:p>
          <a:p>
            <a:pPr lvl="1"/>
            <a:r>
              <a:rPr lang="en-US" altLang="zh-CN" dirty="0" smtClean="0"/>
              <a:t>I </a:t>
            </a:r>
            <a:r>
              <a:rPr lang="en-US" altLang="zh-CN" dirty="0"/>
              <a:t>format is for loads and immediate operations, such as LD and </a:t>
            </a:r>
            <a:r>
              <a:rPr lang="en-US" altLang="zh-CN" dirty="0" smtClean="0"/>
              <a:t>ADDI</a:t>
            </a:r>
          </a:p>
          <a:p>
            <a:pPr lvl="1"/>
            <a:r>
              <a:rPr lang="en-US" altLang="zh-CN" dirty="0" smtClean="0"/>
              <a:t>B </a:t>
            </a:r>
            <a:r>
              <a:rPr lang="en-US" altLang="zh-CN" dirty="0"/>
              <a:t>format is for branches and the J format is for jumps and </a:t>
            </a:r>
            <a:r>
              <a:rPr lang="en-US" altLang="zh-CN" dirty="0" smtClean="0"/>
              <a:t>link</a:t>
            </a:r>
          </a:p>
          <a:p>
            <a:pPr lvl="1"/>
            <a:r>
              <a:rPr lang="en-US" altLang="zh-CN" dirty="0" smtClean="0"/>
              <a:t>S </a:t>
            </a:r>
            <a:r>
              <a:rPr lang="en-US" altLang="zh-CN" dirty="0"/>
              <a:t>format is for stores. Having a separate format for stores allows the three register specifiers (</a:t>
            </a:r>
            <a:r>
              <a:rPr lang="en-US" altLang="zh-CN" dirty="0" err="1"/>
              <a:t>rd</a:t>
            </a:r>
            <a:r>
              <a:rPr lang="en-US" altLang="zh-CN" dirty="0"/>
              <a:t>, rs1, rs2) </a:t>
            </a:r>
            <a:r>
              <a:rPr lang="en-US" altLang="zh-CN" dirty="0" smtClean="0"/>
              <a:t>to </a:t>
            </a:r>
            <a:br>
              <a:rPr lang="en-US" altLang="zh-CN" dirty="0" smtClean="0"/>
            </a:br>
            <a:r>
              <a:rPr lang="en-US" altLang="zh-CN" dirty="0" smtClean="0"/>
              <a:t>always </a:t>
            </a:r>
            <a:r>
              <a:rPr lang="en-US" altLang="zh-CN" dirty="0"/>
              <a:t>be in the same location in </a:t>
            </a:r>
            <a:r>
              <a:rPr lang="en-US" altLang="zh-CN" dirty="0" smtClean="0"/>
              <a:t/>
            </a:r>
            <a:br>
              <a:rPr lang="en-US" altLang="zh-CN" dirty="0" smtClean="0"/>
            </a:br>
            <a:r>
              <a:rPr lang="en-US" altLang="zh-CN" dirty="0" smtClean="0"/>
              <a:t>all formats</a:t>
            </a:r>
          </a:p>
          <a:p>
            <a:pPr lvl="1"/>
            <a:r>
              <a:rPr lang="en-US" altLang="zh-CN" dirty="0" smtClean="0"/>
              <a:t>U </a:t>
            </a:r>
            <a:r>
              <a:rPr lang="en-US" altLang="zh-CN" dirty="0"/>
              <a:t>format is for the wide </a:t>
            </a:r>
            <a:r>
              <a:rPr lang="en-US" altLang="zh-CN" dirty="0" smtClean="0"/>
              <a:t/>
            </a:r>
            <a:br>
              <a:rPr lang="en-US" altLang="zh-CN" dirty="0" smtClean="0"/>
            </a:br>
            <a:r>
              <a:rPr lang="en-US" altLang="zh-CN" dirty="0" smtClean="0"/>
              <a:t>immediate </a:t>
            </a:r>
            <a:r>
              <a:rPr lang="en-US" altLang="zh-CN" dirty="0"/>
              <a:t>instructions (LUI, </a:t>
            </a:r>
            <a:r>
              <a:rPr lang="en-US" altLang="zh-CN" dirty="0" smtClean="0"/>
              <a:t/>
            </a:r>
            <a:br>
              <a:rPr lang="en-US" altLang="zh-CN" dirty="0" smtClean="0"/>
            </a:br>
            <a:r>
              <a:rPr lang="en-US" altLang="zh-CN" dirty="0" smtClean="0"/>
              <a:t>AUIPC)</a:t>
            </a:r>
            <a:endParaRPr lang="en-US" altLang="zh-CN" dirty="0"/>
          </a:p>
          <a:p>
            <a:endParaRPr lang="zh-CN" altLang="en-US" dirty="0"/>
          </a:p>
        </p:txBody>
      </p:sp>
    </p:spTree>
    <p:extLst>
      <p:ext uri="{BB962C8B-B14F-4D97-AF65-F5344CB8AC3E}">
        <p14:creationId xmlns:p14="http://schemas.microsoft.com/office/powerpoint/2010/main" val="215847604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0" name="Rectangle 6"/>
          <p:cNvSpPr>
            <a:spLocks noGrp="1" noChangeArrowheads="1"/>
          </p:cNvSpPr>
          <p:nvPr>
            <p:ph type="title"/>
          </p:nvPr>
        </p:nvSpPr>
        <p:spPr/>
        <p:txBody>
          <a:bodyPr/>
          <a:lstStyle/>
          <a:p>
            <a:r>
              <a:rPr lang="en-US" altLang="zh-CN"/>
              <a:t>Compilers and ISA</a:t>
            </a:r>
          </a:p>
        </p:txBody>
      </p:sp>
      <p:sp>
        <p:nvSpPr>
          <p:cNvPr id="36871" name="Rectangle 7"/>
          <p:cNvSpPr>
            <a:spLocks noGrp="1" noChangeArrowheads="1"/>
          </p:cNvSpPr>
          <p:nvPr>
            <p:ph type="body" idx="1"/>
          </p:nvPr>
        </p:nvSpPr>
        <p:spPr/>
        <p:txBody>
          <a:bodyPr/>
          <a:lstStyle/>
          <a:p>
            <a:pPr>
              <a:spcBef>
                <a:spcPct val="0"/>
              </a:spcBef>
            </a:pPr>
            <a:r>
              <a:rPr lang="en-US" altLang="zh-CN" dirty="0"/>
              <a:t>Ease of compilation</a:t>
            </a:r>
          </a:p>
          <a:p>
            <a:pPr lvl="1">
              <a:spcBef>
                <a:spcPct val="0"/>
              </a:spcBef>
            </a:pPr>
            <a:r>
              <a:rPr lang="en-US" altLang="zh-CN" dirty="0"/>
              <a:t>O</a:t>
            </a:r>
            <a:r>
              <a:rPr lang="en-US" altLang="zh-CN" dirty="0" smtClean="0"/>
              <a:t>rthogonality</a:t>
            </a:r>
            <a:r>
              <a:rPr lang="en-US" altLang="zh-CN" dirty="0"/>
              <a:t>:  no special registers, few special cases, all operand modes available with any data type or instruction type</a:t>
            </a:r>
          </a:p>
          <a:p>
            <a:pPr lvl="1">
              <a:spcBef>
                <a:spcPct val="0"/>
              </a:spcBef>
            </a:pPr>
            <a:r>
              <a:rPr lang="en-US" altLang="zh-CN" dirty="0"/>
              <a:t>C</a:t>
            </a:r>
            <a:r>
              <a:rPr lang="en-US" altLang="zh-CN" dirty="0" smtClean="0"/>
              <a:t>ompleteness</a:t>
            </a:r>
            <a:r>
              <a:rPr lang="en-US" altLang="zh-CN" dirty="0"/>
              <a:t>:  support for a wide range of operations and target applications</a:t>
            </a:r>
          </a:p>
          <a:p>
            <a:pPr lvl="1">
              <a:spcBef>
                <a:spcPct val="0"/>
              </a:spcBef>
            </a:pPr>
            <a:r>
              <a:rPr lang="en-US" altLang="zh-CN" dirty="0"/>
              <a:t>R</a:t>
            </a:r>
            <a:r>
              <a:rPr lang="en-US" altLang="zh-CN" dirty="0" smtClean="0"/>
              <a:t>egularity</a:t>
            </a:r>
            <a:r>
              <a:rPr lang="en-US" altLang="zh-CN" dirty="0"/>
              <a:t>:  no overloading for the meanings of instruction fields</a:t>
            </a:r>
          </a:p>
          <a:p>
            <a:pPr lvl="1">
              <a:spcBef>
                <a:spcPct val="0"/>
              </a:spcBef>
            </a:pPr>
            <a:r>
              <a:rPr lang="en-US" altLang="zh-CN" dirty="0"/>
              <a:t>S</a:t>
            </a:r>
            <a:r>
              <a:rPr lang="en-US" altLang="zh-CN" dirty="0" smtClean="0"/>
              <a:t>treamlined</a:t>
            </a:r>
            <a:r>
              <a:rPr lang="en-US" altLang="zh-CN" dirty="0"/>
              <a:t>:  resource needs easily </a:t>
            </a:r>
            <a:r>
              <a:rPr lang="en-US" altLang="zh-CN" dirty="0" smtClean="0"/>
              <a:t>determined</a:t>
            </a:r>
          </a:p>
          <a:p>
            <a:pPr marL="457200" lvl="1" indent="0">
              <a:spcBef>
                <a:spcPct val="0"/>
              </a:spcBef>
              <a:buNone/>
            </a:pPr>
            <a:endParaRPr lang="en-US" altLang="zh-CN" dirty="0"/>
          </a:p>
          <a:p>
            <a:pPr>
              <a:spcBef>
                <a:spcPct val="0"/>
              </a:spcBef>
            </a:pPr>
            <a:r>
              <a:rPr lang="en-US" altLang="zh-CN" dirty="0"/>
              <a:t>Register Assignment is critical too</a:t>
            </a:r>
          </a:p>
          <a:p>
            <a:pPr lvl="1">
              <a:spcBef>
                <a:spcPct val="0"/>
              </a:spcBef>
            </a:pPr>
            <a:r>
              <a:rPr lang="en-US" altLang="zh-CN" dirty="0"/>
              <a:t>Easier if </a:t>
            </a:r>
            <a:r>
              <a:rPr lang="en-US" altLang="zh-CN" dirty="0" smtClean="0"/>
              <a:t>there are lots </a:t>
            </a:r>
            <a:r>
              <a:rPr lang="en-US" altLang="zh-CN" dirty="0"/>
              <a:t>of registers</a:t>
            </a:r>
          </a:p>
        </p:txBody>
      </p:sp>
    </p:spTree>
    <p:extLst>
      <p:ext uri="{BB962C8B-B14F-4D97-AF65-F5344CB8AC3E}">
        <p14:creationId xmlns:p14="http://schemas.microsoft.com/office/powerpoint/2010/main" val="463286242"/>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23556" name="Picture 5" descr="Z:\Production\Prodenv\0000000038\0000155678\0000000029\XmlLowres\0003170709\bm19-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0692" y="3114460"/>
            <a:ext cx="5592653" cy="3649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Compilers </a:t>
            </a:r>
            <a:r>
              <a:rPr lang="en-US" altLang="zh-CN" dirty="0" smtClean="0"/>
              <a:t>typically 2 to 4 passes</a:t>
            </a:r>
            <a:endParaRPr lang="zh-CN" altLang="en-US" dirty="0"/>
          </a:p>
        </p:txBody>
      </p:sp>
      <p:sp>
        <p:nvSpPr>
          <p:cNvPr id="3" name="内容占位符 2"/>
          <p:cNvSpPr>
            <a:spLocks noGrp="1"/>
          </p:cNvSpPr>
          <p:nvPr>
            <p:ph idx="1"/>
          </p:nvPr>
        </p:nvSpPr>
        <p:spPr>
          <a:xfrm>
            <a:off x="838199" y="1556792"/>
            <a:ext cx="10973373" cy="5112568"/>
          </a:xfrm>
        </p:spPr>
        <p:txBody>
          <a:bodyPr/>
          <a:lstStyle/>
          <a:p>
            <a:r>
              <a:rPr lang="en-US" altLang="zh-CN" dirty="0" smtClean="0"/>
              <a:t>More </a:t>
            </a:r>
            <a:r>
              <a:rPr lang="en-US" altLang="zh-CN" dirty="0"/>
              <a:t>highly optimizing compilers having more </a:t>
            </a:r>
            <a:r>
              <a:rPr lang="en-US" altLang="zh-CN" dirty="0" smtClean="0"/>
              <a:t>passes</a:t>
            </a:r>
          </a:p>
          <a:p>
            <a:pPr lvl="1"/>
            <a:r>
              <a:rPr lang="en-US" altLang="zh-CN" dirty="0" smtClean="0"/>
              <a:t>Pass: one </a:t>
            </a:r>
            <a:r>
              <a:rPr lang="en-US" altLang="zh-CN" dirty="0"/>
              <a:t>phase </a:t>
            </a:r>
            <a:r>
              <a:rPr lang="en-US" altLang="zh-CN" dirty="0" smtClean="0"/>
              <a:t>the </a:t>
            </a:r>
            <a:r>
              <a:rPr lang="en-US" altLang="zh-CN" dirty="0"/>
              <a:t>compiler reads and transforms the entire </a:t>
            </a:r>
            <a:r>
              <a:rPr lang="en-US" altLang="zh-CN" dirty="0" smtClean="0"/>
              <a:t>program </a:t>
            </a:r>
          </a:p>
          <a:p>
            <a:r>
              <a:rPr lang="en-US" altLang="zh-CN" dirty="0" smtClean="0"/>
              <a:t>The </a:t>
            </a:r>
            <a:r>
              <a:rPr lang="en-US" altLang="zh-CN" dirty="0"/>
              <a:t>optimizing passes are </a:t>
            </a:r>
            <a:r>
              <a:rPr lang="en-US" altLang="zh-CN" dirty="0" smtClean="0"/>
              <a:t>be </a:t>
            </a:r>
            <a:r>
              <a:rPr lang="en-US" altLang="zh-CN" dirty="0"/>
              <a:t>optional and may be </a:t>
            </a:r>
            <a:r>
              <a:rPr lang="en-US" altLang="zh-CN" dirty="0" smtClean="0"/>
              <a:t>skipped</a:t>
            </a:r>
          </a:p>
          <a:p>
            <a:pPr lvl="1"/>
            <a:r>
              <a:rPr lang="en-US" altLang="zh-CN" dirty="0" smtClean="0"/>
              <a:t>Faster compilation (for debugging)</a:t>
            </a:r>
          </a:p>
          <a:p>
            <a:r>
              <a:rPr lang="en-US" altLang="zh-CN" dirty="0" smtClean="0"/>
              <a:t>Multiple </a:t>
            </a:r>
            <a:r>
              <a:rPr lang="en-US" altLang="zh-CN" dirty="0"/>
              <a:t>languages can use the </a:t>
            </a:r>
            <a:r>
              <a:rPr lang="en-US" altLang="zh-CN" dirty="0" smtClean="0"/>
              <a:t/>
            </a:r>
            <a:br>
              <a:rPr lang="en-US" altLang="zh-CN" dirty="0" smtClean="0"/>
            </a:br>
            <a:r>
              <a:rPr lang="en-US" altLang="zh-CN" dirty="0" smtClean="0"/>
              <a:t>same </a:t>
            </a:r>
            <a:r>
              <a:rPr lang="en-US" altLang="zh-CN" dirty="0"/>
              <a:t>optimizing and code </a:t>
            </a:r>
            <a:r>
              <a:rPr lang="en-US" altLang="zh-CN" dirty="0" smtClean="0"/>
              <a:t/>
            </a:r>
            <a:br>
              <a:rPr lang="en-US" altLang="zh-CN" dirty="0" smtClean="0"/>
            </a:br>
            <a:r>
              <a:rPr lang="en-US" altLang="zh-CN" dirty="0" smtClean="0"/>
              <a:t>generation passes</a:t>
            </a:r>
          </a:p>
          <a:p>
            <a:pPr lvl="1"/>
            <a:r>
              <a:rPr lang="en-US" altLang="zh-CN" dirty="0" smtClean="0"/>
              <a:t>Optimization pass is </a:t>
            </a:r>
            <a:r>
              <a:rPr lang="en-US" altLang="zh-CN" dirty="0" err="1" smtClean="0"/>
              <a:t>seperated</a:t>
            </a:r>
            <a:endParaRPr lang="en-US" altLang="zh-CN" dirty="0" smtClean="0"/>
          </a:p>
          <a:p>
            <a:pPr lvl="1"/>
            <a:r>
              <a:rPr lang="en-US" altLang="zh-CN" dirty="0" smtClean="0"/>
              <a:t>Only </a:t>
            </a:r>
            <a:r>
              <a:rPr lang="en-US" altLang="zh-CN" dirty="0"/>
              <a:t>a new front end is required </a:t>
            </a:r>
            <a:r>
              <a:rPr lang="en-US" altLang="zh-CN" dirty="0" smtClean="0"/>
              <a:t/>
            </a:r>
            <a:br>
              <a:rPr lang="en-US" altLang="zh-CN" dirty="0" smtClean="0"/>
            </a:br>
            <a:r>
              <a:rPr lang="en-US" altLang="zh-CN" dirty="0" smtClean="0"/>
              <a:t>for </a:t>
            </a:r>
            <a:r>
              <a:rPr lang="en-US" altLang="zh-CN" dirty="0"/>
              <a:t>a new </a:t>
            </a:r>
            <a:r>
              <a:rPr lang="en-US" altLang="zh-CN" dirty="0" smtClean="0"/>
              <a:t>language</a:t>
            </a:r>
            <a:endParaRPr lang="en-US" altLang="zh-CN" dirty="0"/>
          </a:p>
          <a:p>
            <a:endParaRPr lang="zh-CN" altLang="en-US" dirty="0"/>
          </a:p>
        </p:txBody>
      </p:sp>
    </p:spTree>
    <p:extLst>
      <p:ext uri="{BB962C8B-B14F-4D97-AF65-F5344CB8AC3E}">
        <p14:creationId xmlns:p14="http://schemas.microsoft.com/office/powerpoint/2010/main" val="94957843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24580" name="Picture 5" descr="Z:\Production\Prodenv\0000000038\0000155678\0000000029\XmlLowres\0003170709\bm20-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19537" y="2019843"/>
            <a:ext cx="5893946" cy="4649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Major types of </a:t>
            </a:r>
            <a:r>
              <a:rPr lang="en-US" altLang="zh-CN" dirty="0" smtClean="0"/>
              <a:t>classical optimizations</a:t>
            </a:r>
            <a:endParaRPr lang="zh-CN" altLang="en-US" dirty="0"/>
          </a:p>
        </p:txBody>
      </p:sp>
      <p:sp>
        <p:nvSpPr>
          <p:cNvPr id="3" name="内容占位符 2"/>
          <p:cNvSpPr>
            <a:spLocks noGrp="1"/>
          </p:cNvSpPr>
          <p:nvPr>
            <p:ph idx="1"/>
          </p:nvPr>
        </p:nvSpPr>
        <p:spPr/>
        <p:txBody>
          <a:bodyPr/>
          <a:lstStyle/>
          <a:p>
            <a:r>
              <a:rPr lang="en-US" altLang="zh-CN" dirty="0" smtClean="0"/>
              <a:t>These </a:t>
            </a:r>
            <a:r>
              <a:rPr lang="en-US" altLang="zh-CN" dirty="0"/>
              <a:t>data tell us about the relative frequency of occurrence of various optimizations. </a:t>
            </a:r>
            <a:endParaRPr lang="en-US" altLang="zh-CN" dirty="0" smtClean="0"/>
          </a:p>
          <a:p>
            <a:r>
              <a:rPr lang="en-US" altLang="zh-CN" dirty="0" smtClean="0"/>
              <a:t>Six measured optimizations </a:t>
            </a:r>
            <a:br>
              <a:rPr lang="en-US" altLang="zh-CN" dirty="0" smtClean="0"/>
            </a:br>
            <a:r>
              <a:rPr lang="en-US" altLang="zh-CN" dirty="0" smtClean="0"/>
              <a:t>account for 82%</a:t>
            </a:r>
          </a:p>
          <a:p>
            <a:r>
              <a:rPr lang="en-US" altLang="zh-CN" dirty="0" smtClean="0"/>
              <a:t>Other unmeasured accounts</a:t>
            </a:r>
            <a:br>
              <a:rPr lang="en-US" altLang="zh-CN" dirty="0" smtClean="0"/>
            </a:br>
            <a:r>
              <a:rPr lang="en-US" altLang="zh-CN" dirty="0" smtClean="0"/>
              <a:t>for 18</a:t>
            </a:r>
            <a:r>
              <a:rPr lang="en-US" altLang="zh-CN" dirty="0"/>
              <a:t>% </a:t>
            </a:r>
            <a:endParaRPr lang="en-US" altLang="zh-CN" dirty="0" smtClean="0"/>
          </a:p>
          <a:p>
            <a:r>
              <a:rPr lang="en-US" altLang="zh-CN" dirty="0" smtClean="0"/>
              <a:t>N.M</a:t>
            </a:r>
            <a:r>
              <a:rPr lang="en-US" altLang="zh-CN" dirty="0"/>
              <a:t>. </a:t>
            </a:r>
            <a:r>
              <a:rPr lang="en-US" altLang="zh-CN" dirty="0" smtClean="0"/>
              <a:t>= Not Measured </a:t>
            </a:r>
          </a:p>
          <a:p>
            <a:r>
              <a:rPr lang="en-US" altLang="zh-CN" dirty="0" smtClean="0"/>
              <a:t>Some nontrivial optimizations</a:t>
            </a:r>
          </a:p>
          <a:p>
            <a:pPr lvl="1"/>
            <a:r>
              <a:rPr lang="en-US" altLang="zh-CN" dirty="0" smtClean="0"/>
              <a:t>Loop transformation</a:t>
            </a:r>
          </a:p>
          <a:p>
            <a:pPr lvl="1"/>
            <a:r>
              <a:rPr lang="en-US" altLang="zh-CN" dirty="0" smtClean="0"/>
              <a:t>Software pipelining</a:t>
            </a:r>
          </a:p>
          <a:p>
            <a:pPr lvl="1"/>
            <a:r>
              <a:rPr lang="en-US" altLang="zh-CN" dirty="0" smtClean="0"/>
              <a:t>Value prediction</a:t>
            </a:r>
            <a:endParaRPr lang="zh-CN" altLang="en-US" dirty="0"/>
          </a:p>
        </p:txBody>
      </p:sp>
    </p:spTree>
    <p:extLst>
      <p:ext uri="{BB962C8B-B14F-4D97-AF65-F5344CB8AC3E}">
        <p14:creationId xmlns:p14="http://schemas.microsoft.com/office/powerpoint/2010/main" val="395580046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25604" name="Picture 5" descr="Z:\Production\Prodenv\0000000038\0000155678\0000000029\XmlLowres\0003170709\bm21-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80035" y="3416970"/>
            <a:ext cx="5159544" cy="3025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Effects of different optimization level</a:t>
            </a:r>
            <a:endParaRPr lang="zh-CN" altLang="en-US" dirty="0"/>
          </a:p>
        </p:txBody>
      </p:sp>
      <p:sp>
        <p:nvSpPr>
          <p:cNvPr id="3" name="内容占位符 2"/>
          <p:cNvSpPr>
            <a:spLocks noGrp="1"/>
          </p:cNvSpPr>
          <p:nvPr>
            <p:ph idx="1"/>
          </p:nvPr>
        </p:nvSpPr>
        <p:spPr>
          <a:xfrm>
            <a:off x="247507" y="1556792"/>
            <a:ext cx="11106293" cy="5112568"/>
          </a:xfrm>
        </p:spPr>
        <p:txBody>
          <a:bodyPr/>
          <a:lstStyle/>
          <a:p>
            <a:r>
              <a:rPr lang="en-US" altLang="zh-CN" dirty="0" smtClean="0"/>
              <a:t>Change </a:t>
            </a:r>
            <a:r>
              <a:rPr lang="en-US" altLang="zh-CN" dirty="0"/>
              <a:t>in instruction count for the programs </a:t>
            </a:r>
            <a:r>
              <a:rPr lang="en-US" altLang="zh-CN" dirty="0" err="1"/>
              <a:t>lucas</a:t>
            </a:r>
            <a:r>
              <a:rPr lang="en-US" altLang="zh-CN" dirty="0"/>
              <a:t> and </a:t>
            </a:r>
            <a:r>
              <a:rPr lang="en-US" altLang="zh-CN" dirty="0" err="1"/>
              <a:t>mcf</a:t>
            </a:r>
            <a:r>
              <a:rPr lang="en-US" altLang="zh-CN" dirty="0"/>
              <a:t> from the SPEC2000 as compiler optimization levels </a:t>
            </a:r>
            <a:r>
              <a:rPr lang="en-US" altLang="zh-CN" dirty="0" smtClean="0"/>
              <a:t>vary</a:t>
            </a:r>
          </a:p>
          <a:p>
            <a:pPr lvl="1"/>
            <a:r>
              <a:rPr lang="en-US" altLang="zh-CN" dirty="0" smtClean="0"/>
              <a:t>Level </a:t>
            </a:r>
            <a:r>
              <a:rPr lang="en-US" altLang="zh-CN" dirty="0"/>
              <a:t>0 is the same as </a:t>
            </a:r>
            <a:r>
              <a:rPr lang="en-US" altLang="zh-CN" dirty="0" err="1"/>
              <a:t>unoptimized</a:t>
            </a:r>
            <a:r>
              <a:rPr lang="en-US" altLang="zh-CN" dirty="0"/>
              <a:t> </a:t>
            </a:r>
            <a:r>
              <a:rPr lang="en-US" altLang="zh-CN" dirty="0" smtClean="0"/>
              <a:t>code</a:t>
            </a:r>
          </a:p>
          <a:p>
            <a:pPr lvl="1"/>
            <a:r>
              <a:rPr lang="en-US" altLang="zh-CN" dirty="0" smtClean="0"/>
              <a:t>Level </a:t>
            </a:r>
            <a:r>
              <a:rPr lang="en-US" altLang="zh-CN" dirty="0"/>
              <a:t>1 includes local optimizations, code scheduling, and local register </a:t>
            </a:r>
            <a:r>
              <a:rPr lang="en-US" altLang="zh-CN" dirty="0" smtClean="0"/>
              <a:t>allocation</a:t>
            </a:r>
          </a:p>
          <a:p>
            <a:pPr lvl="1"/>
            <a:r>
              <a:rPr lang="en-US" altLang="zh-CN" dirty="0" smtClean="0"/>
              <a:t>Level </a:t>
            </a:r>
            <a:r>
              <a:rPr lang="en-US" altLang="zh-CN" dirty="0"/>
              <a:t>2 includes global optimizations, loop </a:t>
            </a:r>
            <a:r>
              <a:rPr lang="en-US" altLang="zh-CN" dirty="0" smtClean="0"/>
              <a:t/>
            </a:r>
            <a:br>
              <a:rPr lang="en-US" altLang="zh-CN" dirty="0" smtClean="0"/>
            </a:br>
            <a:r>
              <a:rPr lang="en-US" altLang="zh-CN" dirty="0" smtClean="0"/>
              <a:t>transformations </a:t>
            </a:r>
            <a:r>
              <a:rPr lang="en-US" altLang="zh-CN" dirty="0"/>
              <a:t>(software pipelining), </a:t>
            </a:r>
            <a:r>
              <a:rPr lang="en-US" altLang="zh-CN" dirty="0" smtClean="0"/>
              <a:t/>
            </a:r>
            <a:br>
              <a:rPr lang="en-US" altLang="zh-CN" dirty="0" smtClean="0"/>
            </a:br>
            <a:r>
              <a:rPr lang="en-US" altLang="zh-CN" dirty="0" smtClean="0"/>
              <a:t>and </a:t>
            </a:r>
            <a:r>
              <a:rPr lang="en-US" altLang="zh-CN" dirty="0"/>
              <a:t>global register </a:t>
            </a:r>
            <a:r>
              <a:rPr lang="en-US" altLang="zh-CN" dirty="0" smtClean="0"/>
              <a:t>allocation</a:t>
            </a:r>
          </a:p>
          <a:p>
            <a:pPr lvl="1"/>
            <a:r>
              <a:rPr lang="en-US" altLang="zh-CN" dirty="0" smtClean="0"/>
              <a:t>Level </a:t>
            </a:r>
            <a:r>
              <a:rPr lang="en-US" altLang="zh-CN" dirty="0"/>
              <a:t>3 adds procedure </a:t>
            </a:r>
            <a:r>
              <a:rPr lang="en-US" altLang="zh-CN" dirty="0" smtClean="0"/>
              <a:t>integration</a:t>
            </a:r>
          </a:p>
          <a:p>
            <a:r>
              <a:rPr lang="en-US" altLang="zh-CN" dirty="0" smtClean="0"/>
              <a:t>These </a:t>
            </a:r>
            <a:r>
              <a:rPr lang="en-US" altLang="zh-CN" dirty="0"/>
              <a:t>experiments were performed on </a:t>
            </a:r>
            <a:r>
              <a:rPr lang="en-US" altLang="zh-CN" dirty="0" smtClean="0"/>
              <a:t/>
            </a:r>
            <a:br>
              <a:rPr lang="en-US" altLang="zh-CN" dirty="0" smtClean="0"/>
            </a:br>
            <a:r>
              <a:rPr lang="en-US" altLang="zh-CN" dirty="0" smtClean="0"/>
              <a:t>Alpha compilers</a:t>
            </a:r>
            <a:endParaRPr lang="en-US" altLang="zh-CN" dirty="0"/>
          </a:p>
        </p:txBody>
      </p:sp>
    </p:spTree>
    <p:extLst>
      <p:ext uri="{BB962C8B-B14F-4D97-AF65-F5344CB8AC3E}">
        <p14:creationId xmlns:p14="http://schemas.microsoft.com/office/powerpoint/2010/main" val="339681095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35844" name="Picture 5" descr="Z:\Production\Prodenv\0000000038\0000155678\0000000029\XmlLowres\0003170709\bm31-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48750" y="3164773"/>
            <a:ext cx="9529268" cy="3385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Code size </a:t>
            </a:r>
            <a:r>
              <a:rPr lang="en-US" altLang="zh-CN" dirty="0" smtClean="0"/>
              <a:t>comparison</a:t>
            </a:r>
            <a:endParaRPr lang="zh-CN" altLang="en-US" dirty="0"/>
          </a:p>
        </p:txBody>
      </p:sp>
      <p:sp>
        <p:nvSpPr>
          <p:cNvPr id="3" name="内容占位符 2"/>
          <p:cNvSpPr>
            <a:spLocks noGrp="1"/>
          </p:cNvSpPr>
          <p:nvPr>
            <p:ph idx="1"/>
          </p:nvPr>
        </p:nvSpPr>
        <p:spPr/>
        <p:txBody>
          <a:bodyPr/>
          <a:lstStyle/>
          <a:p>
            <a:r>
              <a:rPr lang="en-US" altLang="zh-CN" dirty="0"/>
              <a:t>R</a:t>
            </a:r>
            <a:r>
              <a:rPr lang="en-US" altLang="zh-CN" dirty="0" smtClean="0"/>
              <a:t>elative </a:t>
            </a:r>
            <a:r>
              <a:rPr lang="en-US" altLang="zh-CN" dirty="0"/>
              <a:t>to Apogee Software Version 4.1 C compiler </a:t>
            </a:r>
            <a:endParaRPr lang="en-US" altLang="zh-CN" dirty="0" smtClean="0"/>
          </a:p>
          <a:p>
            <a:pPr lvl="1"/>
            <a:r>
              <a:rPr lang="en-US" altLang="zh-CN" dirty="0" smtClean="0"/>
              <a:t>5 kernels from </a:t>
            </a:r>
            <a:r>
              <a:rPr lang="en-US" altLang="zh-CN" dirty="0"/>
              <a:t>Telecom application of EEMBC </a:t>
            </a:r>
            <a:r>
              <a:rPr lang="en-US" altLang="zh-CN" dirty="0" smtClean="0"/>
              <a:t>benchmarks</a:t>
            </a:r>
          </a:p>
          <a:p>
            <a:pPr lvl="1"/>
            <a:r>
              <a:rPr lang="en-US" altLang="zh-CN" dirty="0" smtClean="0"/>
              <a:t>The </a:t>
            </a:r>
            <a:r>
              <a:rPr lang="en-US" altLang="zh-CN" dirty="0"/>
              <a:t>instruction set architectures are virtually identical, yet the code sizes vary by factors of 2. These results </a:t>
            </a:r>
            <a:r>
              <a:rPr lang="en-US" altLang="zh-CN" dirty="0" smtClean="0"/>
              <a:t>reported </a:t>
            </a:r>
            <a:r>
              <a:rPr lang="en-US" altLang="zh-CN" dirty="0"/>
              <a:t>February–June 2000.</a:t>
            </a:r>
          </a:p>
          <a:p>
            <a:endParaRPr lang="zh-CN" altLang="en-US" dirty="0"/>
          </a:p>
        </p:txBody>
      </p:sp>
    </p:spTree>
    <p:extLst>
      <p:ext uri="{BB962C8B-B14F-4D97-AF65-F5344CB8AC3E}">
        <p14:creationId xmlns:p14="http://schemas.microsoft.com/office/powerpoint/2010/main" val="387280496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4" name="Rectangle 6"/>
          <p:cNvSpPr>
            <a:spLocks noGrp="1" noChangeArrowheads="1"/>
          </p:cNvSpPr>
          <p:nvPr>
            <p:ph type="title"/>
          </p:nvPr>
        </p:nvSpPr>
        <p:spPr/>
        <p:txBody>
          <a:bodyPr/>
          <a:lstStyle/>
          <a:p>
            <a:r>
              <a:rPr lang="en-US" altLang="zh-CN" smtClean="0"/>
              <a:t>Summary of Compiler Considerations</a:t>
            </a:r>
            <a:endParaRPr lang="en-US" altLang="zh-CN"/>
          </a:p>
        </p:txBody>
      </p:sp>
      <p:sp>
        <p:nvSpPr>
          <p:cNvPr id="37895" name="Rectangle 7"/>
          <p:cNvSpPr>
            <a:spLocks noGrp="1" noChangeArrowheads="1"/>
          </p:cNvSpPr>
          <p:nvPr>
            <p:ph type="body" idx="1"/>
          </p:nvPr>
        </p:nvSpPr>
        <p:spPr/>
        <p:txBody>
          <a:bodyPr/>
          <a:lstStyle/>
          <a:p>
            <a:r>
              <a:rPr lang="en-US" altLang="zh-CN" dirty="0" smtClean="0"/>
              <a:t>Provide at least 16 general purpose registers plus separate floating-point registers </a:t>
            </a:r>
          </a:p>
          <a:p>
            <a:endParaRPr lang="en-US" altLang="zh-CN" dirty="0" smtClean="0"/>
          </a:p>
          <a:p>
            <a:r>
              <a:rPr lang="en-US" altLang="zh-CN" dirty="0" smtClean="0"/>
              <a:t>Be sure all addressing modes apply to all data transfer instructions </a:t>
            </a:r>
          </a:p>
          <a:p>
            <a:endParaRPr lang="en-US" altLang="zh-CN" dirty="0" smtClean="0"/>
          </a:p>
          <a:p>
            <a:r>
              <a:rPr lang="en-US" altLang="zh-CN" dirty="0" smtClean="0"/>
              <a:t>Aim for a minimalist instruction set</a:t>
            </a:r>
          </a:p>
          <a:p>
            <a:endParaRPr lang="en-US" altLang="zh-CN" dirty="0"/>
          </a:p>
        </p:txBody>
      </p:sp>
    </p:spTree>
    <p:extLst>
      <p:ext uri="{BB962C8B-B14F-4D97-AF65-F5344CB8AC3E}">
        <p14:creationId xmlns:p14="http://schemas.microsoft.com/office/powerpoint/2010/main" val="378639937"/>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1028"/>
          <p:cNvSpPr>
            <a:spLocks noGrp="1" noChangeArrowheads="1"/>
          </p:cNvSpPr>
          <p:nvPr>
            <p:ph type="title"/>
          </p:nvPr>
        </p:nvSpPr>
        <p:spPr/>
        <p:txBody>
          <a:bodyPr/>
          <a:lstStyle/>
          <a:p>
            <a:r>
              <a:rPr lang="en-US" altLang="zh-CN"/>
              <a:t>Details of the MIPS instruction set</a:t>
            </a:r>
          </a:p>
        </p:txBody>
      </p:sp>
      <p:sp>
        <p:nvSpPr>
          <p:cNvPr id="58373" name="Rectangle 1029"/>
          <p:cNvSpPr>
            <a:spLocks noGrp="1" noChangeArrowheads="1"/>
          </p:cNvSpPr>
          <p:nvPr>
            <p:ph type="body" idx="1"/>
          </p:nvPr>
        </p:nvSpPr>
        <p:spPr/>
        <p:txBody>
          <a:bodyPr/>
          <a:lstStyle/>
          <a:p>
            <a:r>
              <a:rPr lang="en-US" altLang="zh-CN"/>
              <a:t>Register zero always has the value zero (even if you try to write it)</a:t>
            </a:r>
          </a:p>
          <a:p>
            <a:r>
              <a:rPr lang="en-US" altLang="zh-CN"/>
              <a:t>Branch/jump and link put the return addr. PC+4 into the link register (R31)</a:t>
            </a:r>
          </a:p>
          <a:p>
            <a:r>
              <a:rPr lang="en-US" altLang="zh-CN"/>
              <a:t>All instructions change all 32 bits of the destination register (including lui, lb, lh) and all read all 32 bits of sources (add, sub, and, or, ?</a:t>
            </a:r>
          </a:p>
        </p:txBody>
      </p:sp>
    </p:spTree>
    <p:extLst>
      <p:ext uri="{BB962C8B-B14F-4D97-AF65-F5344CB8AC3E}">
        <p14:creationId xmlns:p14="http://schemas.microsoft.com/office/powerpoint/2010/main" val="412719491"/>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ltLang="zh-CN"/>
              <a:t>Details of the MIPS instruction set</a:t>
            </a:r>
          </a:p>
        </p:txBody>
      </p:sp>
      <p:sp>
        <p:nvSpPr>
          <p:cNvPr id="94211" name="Rectangle 3"/>
          <p:cNvSpPr>
            <a:spLocks noGrp="1" noChangeArrowheads="1"/>
          </p:cNvSpPr>
          <p:nvPr>
            <p:ph type="body" idx="1"/>
          </p:nvPr>
        </p:nvSpPr>
        <p:spPr/>
        <p:txBody>
          <a:bodyPr/>
          <a:lstStyle/>
          <a:p>
            <a:pPr>
              <a:spcBef>
                <a:spcPct val="0"/>
              </a:spcBef>
            </a:pPr>
            <a:r>
              <a:rPr lang="en-US" altLang="zh-CN"/>
              <a:t>Immediate arithmetic and logical instructions are extended as follows:</a:t>
            </a:r>
          </a:p>
          <a:p>
            <a:pPr lvl="1">
              <a:spcBef>
                <a:spcPct val="0"/>
              </a:spcBef>
            </a:pPr>
            <a:r>
              <a:rPr lang="en-US" altLang="zh-CN" sz="2000"/>
              <a:t>logical immediates ops are zero extended to 32 bits</a:t>
            </a:r>
          </a:p>
          <a:p>
            <a:pPr lvl="1">
              <a:spcBef>
                <a:spcPct val="0"/>
              </a:spcBef>
            </a:pPr>
            <a:r>
              <a:rPr lang="en-US" altLang="zh-CN" sz="2000"/>
              <a:t>arithmetic immediates ops are sign extended to 32 bits (including addu)</a:t>
            </a:r>
          </a:p>
          <a:p>
            <a:pPr>
              <a:spcBef>
                <a:spcPct val="0"/>
              </a:spcBef>
            </a:pPr>
            <a:r>
              <a:rPr lang="en-US" altLang="zh-CN"/>
              <a:t>The data loaded by the instructions lb and lh are extended as follows:</a:t>
            </a:r>
          </a:p>
          <a:p>
            <a:pPr lvl="1">
              <a:spcBef>
                <a:spcPct val="0"/>
              </a:spcBef>
            </a:pPr>
            <a:r>
              <a:rPr lang="en-US" altLang="zh-CN" sz="2000"/>
              <a:t>lbu, lhu are zero extended</a:t>
            </a:r>
          </a:p>
          <a:p>
            <a:pPr lvl="1">
              <a:spcBef>
                <a:spcPct val="0"/>
              </a:spcBef>
            </a:pPr>
            <a:r>
              <a:rPr lang="en-US" altLang="zh-CN" sz="2000"/>
              <a:t>lb, lh are sign extended</a:t>
            </a:r>
          </a:p>
          <a:p>
            <a:pPr>
              <a:spcBef>
                <a:spcPct val="0"/>
              </a:spcBef>
            </a:pPr>
            <a:r>
              <a:rPr lang="en-US" altLang="zh-CN"/>
              <a:t>Overflow can occur in these arithmetic and logical Instructions:</a:t>
            </a:r>
          </a:p>
          <a:p>
            <a:pPr lvl="1">
              <a:spcBef>
                <a:spcPct val="0"/>
              </a:spcBef>
            </a:pPr>
            <a:r>
              <a:rPr lang="en-US" altLang="zh-CN" sz="2000"/>
              <a:t>add, sub, addi</a:t>
            </a:r>
          </a:p>
          <a:p>
            <a:pPr lvl="1">
              <a:spcBef>
                <a:spcPct val="0"/>
              </a:spcBef>
            </a:pPr>
            <a:r>
              <a:rPr lang="en-US" altLang="zh-CN" sz="2000"/>
              <a:t>it </a:t>
            </a:r>
            <a:r>
              <a:rPr lang="en-US" altLang="zh-CN" sz="2000" u="sng"/>
              <a:t>cannot</a:t>
            </a:r>
            <a:r>
              <a:rPr lang="en-US" altLang="zh-CN" sz="2000"/>
              <a:t> occur in addu, subu, addiu, and, or, xor, nor, shifts, mult, multu, div, divu</a:t>
            </a:r>
            <a:endParaRPr lang="en-US" altLang="zh-CN" sz="3200"/>
          </a:p>
        </p:txBody>
      </p:sp>
    </p:spTree>
    <p:extLst>
      <p:ext uri="{BB962C8B-B14F-4D97-AF65-F5344CB8AC3E}">
        <p14:creationId xmlns:p14="http://schemas.microsoft.com/office/powerpoint/2010/main" val="32701071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2324101" y="304800"/>
            <a:ext cx="4741683"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Delayed Branches</a:t>
            </a:r>
          </a:p>
        </p:txBody>
      </p:sp>
      <p:sp>
        <p:nvSpPr>
          <p:cNvPr id="59395" name="Rectangle 3"/>
          <p:cNvSpPr>
            <a:spLocks noGrp="1" noChangeArrowheads="1"/>
          </p:cNvSpPr>
          <p:nvPr>
            <p:ph type="body" idx="1"/>
          </p:nvPr>
        </p:nvSpPr>
        <p:spPr>
          <a:xfrm>
            <a:off x="1506187" y="4324598"/>
            <a:ext cx="9377548" cy="1897955"/>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63500" tIns="25400" rIns="63500" bIns="25400" numCol="1" anchor="t" anchorCtr="0" compatLnSpc="1">
            <a:prstTxWarp prst="textNoShape">
              <a:avLst/>
            </a:prstTxWarp>
            <a:spAutoFit/>
          </a:bodyPr>
          <a:lstStyle/>
          <a:p>
            <a:pPr>
              <a:spcBef>
                <a:spcPct val="10000"/>
              </a:spcBef>
            </a:pPr>
            <a:r>
              <a:rPr lang="en-US" altLang="zh-CN" dirty="0"/>
              <a:t>In the Raw MIPS the instruction after the branch is executed even when the branch is taken</a:t>
            </a:r>
          </a:p>
          <a:p>
            <a:pPr lvl="1">
              <a:spcBef>
                <a:spcPct val="10000"/>
              </a:spcBef>
            </a:pPr>
            <a:r>
              <a:rPr lang="en-US" altLang="zh-CN" dirty="0"/>
              <a:t>This is hidden by the assembler for the MIPS Virtual machine</a:t>
            </a:r>
          </a:p>
          <a:p>
            <a:pPr lvl="1">
              <a:spcBef>
                <a:spcPct val="10000"/>
              </a:spcBef>
            </a:pPr>
            <a:r>
              <a:rPr lang="en-US" altLang="zh-CN" dirty="0"/>
              <a:t>allows the compiler to better utilize the instruction pipeline (discussed later)</a:t>
            </a:r>
          </a:p>
        </p:txBody>
      </p:sp>
      <p:sp>
        <p:nvSpPr>
          <p:cNvPr id="59396" name="Rectangle 4"/>
          <p:cNvSpPr>
            <a:spLocks noChangeArrowheads="1"/>
          </p:cNvSpPr>
          <p:nvPr/>
        </p:nvSpPr>
        <p:spPr bwMode="auto">
          <a:xfrm>
            <a:off x="4097159" y="1814266"/>
            <a:ext cx="2968625" cy="2244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1pPr>
            <a:lvl2pPr marL="114300">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2pPr>
            <a:lvl3pPr>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3pPr>
            <a:lvl4pPr>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4pPr>
            <a:lvl5pPr>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9pPr>
          </a:lstStyle>
          <a:p>
            <a:pPr lvl="1">
              <a:spcBef>
                <a:spcPct val="20000"/>
              </a:spcBef>
            </a:pPr>
            <a:r>
              <a:rPr lang="en-US" altLang="zh-CN" sz="2000" b="1" dirty="0">
                <a:latin typeface="Courier New" panose="02070309020205020404" pitchFamily="49" charset="0"/>
              </a:rPr>
              <a:t>	li 	r3, #7</a:t>
            </a:r>
          </a:p>
          <a:p>
            <a:pPr lvl="1">
              <a:spcBef>
                <a:spcPct val="20000"/>
              </a:spcBef>
            </a:pPr>
            <a:r>
              <a:rPr lang="en-US" altLang="zh-CN" sz="2000" b="1" dirty="0">
                <a:latin typeface="Courier New" panose="02070309020205020404" pitchFamily="49" charset="0"/>
              </a:rPr>
              <a:t>	sub 	r4, r4, 1</a:t>
            </a:r>
          </a:p>
          <a:p>
            <a:pPr lvl="1">
              <a:spcBef>
                <a:spcPct val="20000"/>
              </a:spcBef>
            </a:pPr>
            <a:r>
              <a:rPr lang="en-US" altLang="zh-CN" sz="2000" b="1" dirty="0">
                <a:latin typeface="Courier New" panose="02070309020205020404" pitchFamily="49" charset="0"/>
              </a:rPr>
              <a:t>	</a:t>
            </a:r>
            <a:r>
              <a:rPr lang="en-US" altLang="zh-CN" sz="2000" b="1" dirty="0" err="1">
                <a:latin typeface="Courier New" panose="02070309020205020404" pitchFamily="49" charset="0"/>
              </a:rPr>
              <a:t>bz</a:t>
            </a:r>
            <a:r>
              <a:rPr lang="en-US" altLang="zh-CN" sz="2000" b="1" dirty="0">
                <a:latin typeface="Courier New" panose="02070309020205020404" pitchFamily="49" charset="0"/>
              </a:rPr>
              <a:t>	r4, LL</a:t>
            </a:r>
          </a:p>
          <a:p>
            <a:pPr lvl="1">
              <a:spcBef>
                <a:spcPct val="20000"/>
              </a:spcBef>
            </a:pPr>
            <a:r>
              <a:rPr lang="en-US" altLang="zh-CN" sz="2000" b="1" dirty="0">
                <a:latin typeface="Courier New" panose="02070309020205020404" pitchFamily="49" charset="0"/>
              </a:rPr>
              <a:t>	</a:t>
            </a:r>
            <a:r>
              <a:rPr lang="en-US" altLang="zh-CN" sz="2000" b="1" dirty="0" err="1">
                <a:latin typeface="Courier New" panose="02070309020205020404" pitchFamily="49" charset="0"/>
              </a:rPr>
              <a:t>addi</a:t>
            </a:r>
            <a:r>
              <a:rPr lang="en-US" altLang="zh-CN" sz="2000" b="1" dirty="0">
                <a:latin typeface="Courier New" panose="02070309020205020404" pitchFamily="49" charset="0"/>
              </a:rPr>
              <a:t>	r5, r3, 1</a:t>
            </a:r>
          </a:p>
          <a:p>
            <a:pPr lvl="1">
              <a:spcBef>
                <a:spcPct val="20000"/>
              </a:spcBef>
            </a:pPr>
            <a:r>
              <a:rPr lang="en-US" altLang="zh-CN" sz="2000" b="1" dirty="0">
                <a:latin typeface="Courier New" panose="02070309020205020404" pitchFamily="49" charset="0"/>
              </a:rPr>
              <a:t>	</a:t>
            </a:r>
            <a:r>
              <a:rPr lang="en-US" altLang="zh-CN" sz="2000" b="1" dirty="0" err="1">
                <a:latin typeface="Courier New" panose="02070309020205020404" pitchFamily="49" charset="0"/>
              </a:rPr>
              <a:t>subi</a:t>
            </a:r>
            <a:r>
              <a:rPr lang="en-US" altLang="zh-CN" sz="2000" b="1" dirty="0">
                <a:latin typeface="Courier New" panose="02070309020205020404" pitchFamily="49" charset="0"/>
              </a:rPr>
              <a:t>	r6, r6, 2</a:t>
            </a:r>
          </a:p>
          <a:p>
            <a:pPr>
              <a:spcBef>
                <a:spcPct val="20000"/>
              </a:spcBef>
            </a:pPr>
            <a:r>
              <a:rPr lang="en-US" altLang="zh-CN" sz="2000" b="1" dirty="0">
                <a:latin typeface="Courier New" panose="02070309020205020404" pitchFamily="49" charset="0"/>
              </a:rPr>
              <a:t>LL:	</a:t>
            </a:r>
            <a:r>
              <a:rPr lang="en-US" altLang="zh-CN" sz="2000" b="1" dirty="0" err="1">
                <a:latin typeface="Courier New" panose="02070309020205020404" pitchFamily="49" charset="0"/>
              </a:rPr>
              <a:t>slt</a:t>
            </a:r>
            <a:r>
              <a:rPr lang="en-US" altLang="zh-CN" sz="2000" b="1" dirty="0">
                <a:latin typeface="Courier New" panose="02070309020205020404" pitchFamily="49" charset="0"/>
              </a:rPr>
              <a:t>	r1, r3, r5</a:t>
            </a:r>
          </a:p>
        </p:txBody>
      </p:sp>
    </p:spTree>
    <p:extLst>
      <p:ext uri="{BB962C8B-B14F-4D97-AF65-F5344CB8AC3E}">
        <p14:creationId xmlns:p14="http://schemas.microsoft.com/office/powerpoint/2010/main" val="3598184035"/>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026"/>
          <p:cNvSpPr>
            <a:spLocks noGrp="1" noChangeArrowheads="1"/>
          </p:cNvSpPr>
          <p:nvPr>
            <p:ph type="title"/>
          </p:nvPr>
        </p:nvSpPr>
        <p:spPr>
          <a:xfrm>
            <a:off x="2159001" y="266700"/>
            <a:ext cx="4898777"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Branch &amp; Pipelines</a:t>
            </a:r>
          </a:p>
        </p:txBody>
      </p:sp>
      <p:sp>
        <p:nvSpPr>
          <p:cNvPr id="60419" name="Rectangle 1027"/>
          <p:cNvSpPr>
            <a:spLocks noChangeArrowheads="1"/>
          </p:cNvSpPr>
          <p:nvPr/>
        </p:nvSpPr>
        <p:spPr bwMode="auto">
          <a:xfrm>
            <a:off x="4273550" y="1906588"/>
            <a:ext cx="1206500" cy="330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0" name="Rectangle 1028"/>
          <p:cNvSpPr>
            <a:spLocks noChangeArrowheads="1"/>
          </p:cNvSpPr>
          <p:nvPr/>
        </p:nvSpPr>
        <p:spPr bwMode="auto">
          <a:xfrm>
            <a:off x="4330700" y="1938338"/>
            <a:ext cx="977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execute</a:t>
            </a:r>
          </a:p>
        </p:txBody>
      </p:sp>
      <p:sp>
        <p:nvSpPr>
          <p:cNvPr id="60421" name="Rectangle 1029"/>
          <p:cNvSpPr>
            <a:spLocks noChangeArrowheads="1"/>
          </p:cNvSpPr>
          <p:nvPr/>
        </p:nvSpPr>
        <p:spPr bwMode="auto">
          <a:xfrm>
            <a:off x="8178800" y="2865438"/>
            <a:ext cx="9144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accent2"/>
                </a:solidFill>
                <a:latin typeface="Arial" panose="020B0604020202020204" pitchFamily="34" charset="0"/>
              </a:rPr>
              <a:t>Branch</a:t>
            </a:r>
          </a:p>
        </p:txBody>
      </p:sp>
      <p:sp>
        <p:nvSpPr>
          <p:cNvPr id="60422" name="Rectangle 1030"/>
          <p:cNvSpPr>
            <a:spLocks noChangeArrowheads="1"/>
          </p:cNvSpPr>
          <p:nvPr/>
        </p:nvSpPr>
        <p:spPr bwMode="auto">
          <a:xfrm>
            <a:off x="9169400" y="3271838"/>
            <a:ext cx="1231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accent2"/>
                </a:solidFill>
                <a:latin typeface="Arial" panose="020B0604020202020204" pitchFamily="34" charset="0"/>
              </a:rPr>
              <a:t>Delay Slot</a:t>
            </a:r>
          </a:p>
        </p:txBody>
      </p:sp>
      <p:sp>
        <p:nvSpPr>
          <p:cNvPr id="60423" name="Rectangle 1031"/>
          <p:cNvSpPr>
            <a:spLocks noChangeArrowheads="1"/>
          </p:cNvSpPr>
          <p:nvPr/>
        </p:nvSpPr>
        <p:spPr bwMode="auto">
          <a:xfrm>
            <a:off x="4838700" y="3830638"/>
            <a:ext cx="16764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accent1"/>
                </a:solidFill>
                <a:latin typeface="Arial" panose="020B0604020202020204" pitchFamily="34" charset="0"/>
              </a:rPr>
              <a:t>Branch Target</a:t>
            </a:r>
          </a:p>
        </p:txBody>
      </p:sp>
      <p:sp>
        <p:nvSpPr>
          <p:cNvPr id="60424" name="Line 1032"/>
          <p:cNvSpPr>
            <a:spLocks noChangeShapeType="1"/>
          </p:cNvSpPr>
          <p:nvPr/>
        </p:nvSpPr>
        <p:spPr bwMode="auto">
          <a:xfrm>
            <a:off x="7169150" y="2986088"/>
            <a:ext cx="444500" cy="368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5" name="Rectangle 1033"/>
          <p:cNvSpPr>
            <a:spLocks noChangeArrowheads="1"/>
          </p:cNvSpPr>
          <p:nvPr/>
        </p:nvSpPr>
        <p:spPr bwMode="auto">
          <a:xfrm>
            <a:off x="1905001" y="4324350"/>
            <a:ext cx="8518525"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sz="2400" b="1">
                <a:latin typeface="Arial" panose="020B0604020202020204" pitchFamily="34" charset="0"/>
              </a:rPr>
              <a:t>By the end of Branch instruction, the CPU knows </a:t>
            </a:r>
          </a:p>
          <a:p>
            <a:pPr>
              <a:lnSpc>
                <a:spcPct val="85000"/>
              </a:lnSpc>
            </a:pPr>
            <a:r>
              <a:rPr lang="en-US" altLang="zh-CN" sz="2400" b="1">
                <a:latin typeface="Arial" panose="020B0604020202020204" pitchFamily="34" charset="0"/>
              </a:rPr>
              <a:t>whether or not the branch will take place.  </a:t>
            </a:r>
          </a:p>
          <a:p>
            <a:pPr>
              <a:lnSpc>
                <a:spcPct val="85000"/>
              </a:lnSpc>
            </a:pPr>
            <a:endParaRPr lang="en-US" altLang="zh-CN" sz="2400" b="1">
              <a:latin typeface="Arial" panose="020B0604020202020204" pitchFamily="34" charset="0"/>
            </a:endParaRPr>
          </a:p>
          <a:p>
            <a:pPr>
              <a:lnSpc>
                <a:spcPct val="85000"/>
              </a:lnSpc>
            </a:pPr>
            <a:r>
              <a:rPr lang="en-US" altLang="zh-CN" sz="2400" b="1">
                <a:latin typeface="Arial" panose="020B0604020202020204" pitchFamily="34" charset="0"/>
              </a:rPr>
              <a:t>However, it will have fetched the next instruction by then, </a:t>
            </a:r>
          </a:p>
          <a:p>
            <a:pPr>
              <a:lnSpc>
                <a:spcPct val="85000"/>
              </a:lnSpc>
            </a:pPr>
            <a:r>
              <a:rPr lang="en-US" altLang="zh-CN" sz="2400" b="1">
                <a:latin typeface="Arial" panose="020B0604020202020204" pitchFamily="34" charset="0"/>
              </a:rPr>
              <a:t>regardless of whether or not a branch will be taken.</a:t>
            </a:r>
          </a:p>
          <a:p>
            <a:pPr>
              <a:lnSpc>
                <a:spcPct val="85000"/>
              </a:lnSpc>
            </a:pPr>
            <a:endParaRPr lang="en-US" altLang="zh-CN" sz="2400" b="1">
              <a:latin typeface="Arial" panose="020B0604020202020204" pitchFamily="34" charset="0"/>
            </a:endParaRPr>
          </a:p>
          <a:p>
            <a:pPr>
              <a:lnSpc>
                <a:spcPct val="85000"/>
              </a:lnSpc>
            </a:pPr>
            <a:r>
              <a:rPr lang="en-US" altLang="zh-CN" sz="2400" b="1">
                <a:latin typeface="Arial" panose="020B0604020202020204" pitchFamily="34" charset="0"/>
              </a:rPr>
              <a:t>Why not execute it?</a:t>
            </a:r>
          </a:p>
        </p:txBody>
      </p:sp>
      <p:sp>
        <p:nvSpPr>
          <p:cNvPr id="60426" name="Rectangle 1034"/>
          <p:cNvSpPr>
            <a:spLocks noChangeArrowheads="1"/>
          </p:cNvSpPr>
          <p:nvPr/>
        </p:nvSpPr>
        <p:spPr bwMode="auto">
          <a:xfrm>
            <a:off x="4286250" y="2363788"/>
            <a:ext cx="2413000" cy="330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7" name="Line 1035"/>
          <p:cNvSpPr>
            <a:spLocks noChangeShapeType="1"/>
          </p:cNvSpPr>
          <p:nvPr/>
        </p:nvSpPr>
        <p:spPr bwMode="auto">
          <a:xfrm>
            <a:off x="5499100" y="2363788"/>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8" name="Rectangle 1036"/>
          <p:cNvSpPr>
            <a:spLocks noChangeArrowheads="1"/>
          </p:cNvSpPr>
          <p:nvPr/>
        </p:nvSpPr>
        <p:spPr bwMode="auto">
          <a:xfrm>
            <a:off x="4546600" y="2395538"/>
            <a:ext cx="7366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ifetch</a:t>
            </a:r>
          </a:p>
        </p:txBody>
      </p:sp>
      <p:sp>
        <p:nvSpPr>
          <p:cNvPr id="60429" name="Rectangle 1037"/>
          <p:cNvSpPr>
            <a:spLocks noChangeArrowheads="1"/>
          </p:cNvSpPr>
          <p:nvPr/>
        </p:nvSpPr>
        <p:spPr bwMode="auto">
          <a:xfrm>
            <a:off x="5549900" y="2395538"/>
            <a:ext cx="977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execute</a:t>
            </a:r>
          </a:p>
        </p:txBody>
      </p:sp>
      <p:sp>
        <p:nvSpPr>
          <p:cNvPr id="60430" name="Rectangle 1038"/>
          <p:cNvSpPr>
            <a:spLocks noChangeArrowheads="1"/>
          </p:cNvSpPr>
          <p:nvPr/>
        </p:nvSpPr>
        <p:spPr bwMode="auto">
          <a:xfrm>
            <a:off x="5505450" y="2820988"/>
            <a:ext cx="2413000" cy="330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1" name="Line 1039"/>
          <p:cNvSpPr>
            <a:spLocks noChangeShapeType="1"/>
          </p:cNvSpPr>
          <p:nvPr/>
        </p:nvSpPr>
        <p:spPr bwMode="auto">
          <a:xfrm>
            <a:off x="6718300" y="2820988"/>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2" name="Rectangle 1040"/>
          <p:cNvSpPr>
            <a:spLocks noChangeArrowheads="1"/>
          </p:cNvSpPr>
          <p:nvPr/>
        </p:nvSpPr>
        <p:spPr bwMode="auto">
          <a:xfrm>
            <a:off x="5765800" y="2852738"/>
            <a:ext cx="7366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ifetch</a:t>
            </a:r>
          </a:p>
        </p:txBody>
      </p:sp>
      <p:sp>
        <p:nvSpPr>
          <p:cNvPr id="60433" name="Rectangle 1041"/>
          <p:cNvSpPr>
            <a:spLocks noChangeArrowheads="1"/>
          </p:cNvSpPr>
          <p:nvPr/>
        </p:nvSpPr>
        <p:spPr bwMode="auto">
          <a:xfrm>
            <a:off x="6769100" y="2852738"/>
            <a:ext cx="977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execute</a:t>
            </a:r>
          </a:p>
        </p:txBody>
      </p:sp>
      <p:sp>
        <p:nvSpPr>
          <p:cNvPr id="60434" name="Rectangle 1042"/>
          <p:cNvSpPr>
            <a:spLocks noChangeArrowheads="1"/>
          </p:cNvSpPr>
          <p:nvPr/>
        </p:nvSpPr>
        <p:spPr bwMode="auto">
          <a:xfrm>
            <a:off x="6724650" y="3278188"/>
            <a:ext cx="2413000" cy="330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5" name="Line 1043"/>
          <p:cNvSpPr>
            <a:spLocks noChangeShapeType="1"/>
          </p:cNvSpPr>
          <p:nvPr/>
        </p:nvSpPr>
        <p:spPr bwMode="auto">
          <a:xfrm>
            <a:off x="7937500" y="3278188"/>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6" name="Rectangle 1044"/>
          <p:cNvSpPr>
            <a:spLocks noChangeArrowheads="1"/>
          </p:cNvSpPr>
          <p:nvPr/>
        </p:nvSpPr>
        <p:spPr bwMode="auto">
          <a:xfrm>
            <a:off x="6985000" y="3309938"/>
            <a:ext cx="7366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ifetch</a:t>
            </a:r>
          </a:p>
        </p:txBody>
      </p:sp>
      <p:sp>
        <p:nvSpPr>
          <p:cNvPr id="60437" name="Rectangle 1045"/>
          <p:cNvSpPr>
            <a:spLocks noChangeArrowheads="1"/>
          </p:cNvSpPr>
          <p:nvPr/>
        </p:nvSpPr>
        <p:spPr bwMode="auto">
          <a:xfrm>
            <a:off x="7988300" y="3309938"/>
            <a:ext cx="977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execute</a:t>
            </a:r>
          </a:p>
        </p:txBody>
      </p:sp>
      <p:sp>
        <p:nvSpPr>
          <p:cNvPr id="60438" name="Rectangle 1046"/>
          <p:cNvSpPr>
            <a:spLocks noChangeArrowheads="1"/>
          </p:cNvSpPr>
          <p:nvPr/>
        </p:nvSpPr>
        <p:spPr bwMode="auto">
          <a:xfrm>
            <a:off x="1754189" y="3667125"/>
            <a:ext cx="296862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1pPr>
            <a:lvl2pPr marL="114300">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2pPr>
            <a:lvl3pPr>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3pPr>
            <a:lvl4pPr>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4pPr>
            <a:lvl5pPr>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520700" algn="l"/>
                <a:tab pos="1257300" algn="l"/>
              </a:tabLs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1800" b="1">
                <a:latin typeface="Courier New" panose="02070309020205020404" pitchFamily="49" charset="0"/>
              </a:rPr>
              <a:t>LL:	slt	r1, r3, r5</a:t>
            </a:r>
          </a:p>
        </p:txBody>
      </p:sp>
      <p:sp>
        <p:nvSpPr>
          <p:cNvPr id="60439" name="Rectangle 1047"/>
          <p:cNvSpPr>
            <a:spLocks noChangeArrowheads="1"/>
          </p:cNvSpPr>
          <p:nvPr/>
        </p:nvSpPr>
        <p:spPr bwMode="auto">
          <a:xfrm>
            <a:off x="1814514" y="1916114"/>
            <a:ext cx="193322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lvl="1">
              <a:spcBef>
                <a:spcPct val="50000"/>
              </a:spcBef>
            </a:pPr>
            <a:r>
              <a:rPr lang="en-US" altLang="zh-CN" b="1">
                <a:latin typeface="Courier New" panose="02070309020205020404" pitchFamily="49" charset="0"/>
              </a:rPr>
              <a:t>li 	r3, #7</a:t>
            </a:r>
          </a:p>
        </p:txBody>
      </p:sp>
      <p:sp>
        <p:nvSpPr>
          <p:cNvPr id="60440" name="Rectangle 1048"/>
          <p:cNvSpPr>
            <a:spLocks noChangeArrowheads="1"/>
          </p:cNvSpPr>
          <p:nvPr/>
        </p:nvSpPr>
        <p:spPr bwMode="auto">
          <a:xfrm>
            <a:off x="1814514" y="2373314"/>
            <a:ext cx="243656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lvl="1">
              <a:spcBef>
                <a:spcPct val="50000"/>
              </a:spcBef>
            </a:pPr>
            <a:r>
              <a:rPr lang="en-US" altLang="zh-CN" b="1">
                <a:latin typeface="Courier New" panose="02070309020205020404" pitchFamily="49" charset="0"/>
              </a:rPr>
              <a:t>sub r4, r4, 1</a:t>
            </a:r>
          </a:p>
        </p:txBody>
      </p:sp>
      <p:sp>
        <p:nvSpPr>
          <p:cNvPr id="60441" name="Rectangle 1049"/>
          <p:cNvSpPr>
            <a:spLocks noChangeArrowheads="1"/>
          </p:cNvSpPr>
          <p:nvPr/>
        </p:nvSpPr>
        <p:spPr bwMode="auto">
          <a:xfrm>
            <a:off x="1814514" y="2830514"/>
            <a:ext cx="193322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lvl="1">
              <a:spcBef>
                <a:spcPct val="50000"/>
              </a:spcBef>
            </a:pPr>
            <a:r>
              <a:rPr lang="en-US" altLang="zh-CN" b="1">
                <a:latin typeface="Courier New" panose="02070309020205020404" pitchFamily="49" charset="0"/>
              </a:rPr>
              <a:t>bz	r4, LL</a:t>
            </a:r>
          </a:p>
        </p:txBody>
      </p:sp>
      <p:sp>
        <p:nvSpPr>
          <p:cNvPr id="60442" name="Rectangle 1050"/>
          <p:cNvSpPr>
            <a:spLocks noChangeArrowheads="1"/>
          </p:cNvSpPr>
          <p:nvPr/>
        </p:nvSpPr>
        <p:spPr bwMode="auto">
          <a:xfrm>
            <a:off x="2119314" y="3211514"/>
            <a:ext cx="222817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114300">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a:spcBef>
                <a:spcPct val="50000"/>
              </a:spcBef>
            </a:pPr>
            <a:r>
              <a:rPr lang="en-US" altLang="zh-CN" sz="1800" b="1">
                <a:latin typeface="Courier New" panose="02070309020205020404" pitchFamily="49" charset="0"/>
              </a:rPr>
              <a:t>addi r5, r3, 1</a:t>
            </a:r>
          </a:p>
        </p:txBody>
      </p:sp>
      <p:sp>
        <p:nvSpPr>
          <p:cNvPr id="60443" name="Line 1051"/>
          <p:cNvSpPr>
            <a:spLocks noChangeShapeType="1"/>
          </p:cNvSpPr>
          <p:nvPr/>
        </p:nvSpPr>
        <p:spPr bwMode="auto">
          <a:xfrm>
            <a:off x="4349750" y="1684338"/>
            <a:ext cx="49403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4" name="Rectangle 1052"/>
          <p:cNvSpPr>
            <a:spLocks noChangeArrowheads="1"/>
          </p:cNvSpPr>
          <p:nvPr/>
        </p:nvSpPr>
        <p:spPr bwMode="auto">
          <a:xfrm>
            <a:off x="6005514" y="1357314"/>
            <a:ext cx="6889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latin typeface="Arial" panose="020B0604020202020204" pitchFamily="34" charset="0"/>
              </a:rPr>
              <a:t>Time</a:t>
            </a:r>
          </a:p>
        </p:txBody>
      </p:sp>
      <p:sp>
        <p:nvSpPr>
          <p:cNvPr id="60445" name="Rectangle 1053"/>
          <p:cNvSpPr>
            <a:spLocks noChangeArrowheads="1"/>
          </p:cNvSpPr>
          <p:nvPr/>
        </p:nvSpPr>
        <p:spPr bwMode="auto">
          <a:xfrm>
            <a:off x="7943850" y="3735388"/>
            <a:ext cx="2413000" cy="330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6" name="Line 1054"/>
          <p:cNvSpPr>
            <a:spLocks noChangeShapeType="1"/>
          </p:cNvSpPr>
          <p:nvPr/>
        </p:nvSpPr>
        <p:spPr bwMode="auto">
          <a:xfrm>
            <a:off x="9156700" y="3735388"/>
            <a:ext cx="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7" name="Rectangle 1055"/>
          <p:cNvSpPr>
            <a:spLocks noChangeArrowheads="1"/>
          </p:cNvSpPr>
          <p:nvPr/>
        </p:nvSpPr>
        <p:spPr bwMode="auto">
          <a:xfrm>
            <a:off x="8204200" y="3767138"/>
            <a:ext cx="7366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ifetch</a:t>
            </a:r>
          </a:p>
        </p:txBody>
      </p:sp>
      <p:sp>
        <p:nvSpPr>
          <p:cNvPr id="60448" name="Rectangle 1056"/>
          <p:cNvSpPr>
            <a:spLocks noChangeArrowheads="1"/>
          </p:cNvSpPr>
          <p:nvPr/>
        </p:nvSpPr>
        <p:spPr bwMode="auto">
          <a:xfrm>
            <a:off x="9207500" y="3767138"/>
            <a:ext cx="9779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execute</a:t>
            </a:r>
          </a:p>
        </p:txBody>
      </p:sp>
    </p:spTree>
    <p:extLst>
      <p:ext uri="{BB962C8B-B14F-4D97-AF65-F5344CB8AC3E}">
        <p14:creationId xmlns:p14="http://schemas.microsoft.com/office/powerpoint/2010/main" val="2360316555"/>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2324100" y="228600"/>
            <a:ext cx="6529031"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a:t>Filling Delayed Branches </a:t>
            </a:r>
          </a:p>
        </p:txBody>
      </p:sp>
      <p:sp>
        <p:nvSpPr>
          <p:cNvPr id="61443" name="Rectangle 3"/>
          <p:cNvSpPr>
            <a:spLocks noChangeArrowheads="1"/>
          </p:cNvSpPr>
          <p:nvPr/>
        </p:nvSpPr>
        <p:spPr bwMode="auto">
          <a:xfrm>
            <a:off x="6108288" y="1978616"/>
            <a:ext cx="1206500" cy="292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44" name="Rectangle 4"/>
          <p:cNvSpPr>
            <a:spLocks noChangeArrowheads="1"/>
          </p:cNvSpPr>
          <p:nvPr/>
        </p:nvSpPr>
        <p:spPr bwMode="auto">
          <a:xfrm>
            <a:off x="6090231" y="1598561"/>
            <a:ext cx="1193800" cy="2794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45" name="Rectangle 5"/>
          <p:cNvSpPr>
            <a:spLocks noChangeArrowheads="1"/>
          </p:cNvSpPr>
          <p:nvPr/>
        </p:nvSpPr>
        <p:spPr bwMode="auto">
          <a:xfrm>
            <a:off x="3676238" y="1603966"/>
            <a:ext cx="1193800" cy="2794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46" name="Rectangle 6"/>
          <p:cNvSpPr>
            <a:spLocks noChangeArrowheads="1"/>
          </p:cNvSpPr>
          <p:nvPr/>
        </p:nvSpPr>
        <p:spPr bwMode="auto">
          <a:xfrm>
            <a:off x="3675217" y="1562112"/>
            <a:ext cx="11958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dirty="0" err="1">
                <a:latin typeface="Arial" panose="020B0604020202020204" pitchFamily="34" charset="0"/>
              </a:rPr>
              <a:t>Inst</a:t>
            </a:r>
            <a:r>
              <a:rPr lang="en-US" altLang="zh-CN" dirty="0">
                <a:latin typeface="Arial" panose="020B0604020202020204" pitchFamily="34" charset="0"/>
              </a:rPr>
              <a:t> Fetch</a:t>
            </a:r>
          </a:p>
        </p:txBody>
      </p:sp>
      <p:sp>
        <p:nvSpPr>
          <p:cNvPr id="61447" name="Rectangle 7"/>
          <p:cNvSpPr>
            <a:spLocks noChangeArrowheads="1"/>
          </p:cNvSpPr>
          <p:nvPr/>
        </p:nvSpPr>
        <p:spPr bwMode="auto">
          <a:xfrm>
            <a:off x="4858331" y="1598561"/>
            <a:ext cx="1193800" cy="2794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48" name="Rectangle 8"/>
          <p:cNvSpPr>
            <a:spLocks noChangeArrowheads="1"/>
          </p:cNvSpPr>
          <p:nvPr/>
        </p:nvSpPr>
        <p:spPr bwMode="auto">
          <a:xfrm>
            <a:off x="4791938" y="1574542"/>
            <a:ext cx="113172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dirty="0" smtClean="0">
                <a:latin typeface="Arial" panose="020B0604020202020204" pitchFamily="34" charset="0"/>
              </a:rPr>
              <a:t>Op </a:t>
            </a:r>
            <a:r>
              <a:rPr lang="en-US" altLang="zh-CN" dirty="0">
                <a:latin typeface="Arial" panose="020B0604020202020204" pitchFamily="34" charset="0"/>
              </a:rPr>
              <a:t>Fetch</a:t>
            </a:r>
          </a:p>
        </p:txBody>
      </p:sp>
      <p:sp>
        <p:nvSpPr>
          <p:cNvPr id="61449" name="Rectangle 9"/>
          <p:cNvSpPr>
            <a:spLocks noChangeArrowheads="1"/>
          </p:cNvSpPr>
          <p:nvPr/>
        </p:nvSpPr>
        <p:spPr bwMode="auto">
          <a:xfrm>
            <a:off x="6184488" y="1592772"/>
            <a:ext cx="101630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dirty="0">
                <a:latin typeface="Arial" panose="020B0604020202020204" pitchFamily="34" charset="0"/>
              </a:rPr>
              <a:t>Execute</a:t>
            </a:r>
          </a:p>
        </p:txBody>
      </p:sp>
      <p:sp>
        <p:nvSpPr>
          <p:cNvPr id="61450" name="Rectangle 10"/>
          <p:cNvSpPr>
            <a:spLocks noChangeArrowheads="1"/>
          </p:cNvSpPr>
          <p:nvPr/>
        </p:nvSpPr>
        <p:spPr bwMode="auto">
          <a:xfrm>
            <a:off x="2506252" y="1569042"/>
            <a:ext cx="1054777"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latin typeface="Arial" panose="020B0604020202020204" pitchFamily="34" charset="0"/>
              </a:rPr>
              <a:t>Branch:</a:t>
            </a:r>
          </a:p>
        </p:txBody>
      </p:sp>
      <p:sp>
        <p:nvSpPr>
          <p:cNvPr id="61451" name="Rectangle 11"/>
          <p:cNvSpPr>
            <a:spLocks noChangeArrowheads="1"/>
          </p:cNvSpPr>
          <p:nvPr/>
        </p:nvSpPr>
        <p:spPr bwMode="auto">
          <a:xfrm>
            <a:off x="7327488" y="1978616"/>
            <a:ext cx="1206500" cy="2921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2" name="Rectangle 12"/>
          <p:cNvSpPr>
            <a:spLocks noChangeArrowheads="1"/>
          </p:cNvSpPr>
          <p:nvPr/>
        </p:nvSpPr>
        <p:spPr bwMode="auto">
          <a:xfrm>
            <a:off x="4889088" y="1978616"/>
            <a:ext cx="1206500" cy="292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3" name="Rectangle 13"/>
          <p:cNvSpPr>
            <a:spLocks noChangeArrowheads="1"/>
          </p:cNvSpPr>
          <p:nvPr/>
        </p:nvSpPr>
        <p:spPr bwMode="auto">
          <a:xfrm>
            <a:off x="4944652" y="1996079"/>
            <a:ext cx="11958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latin typeface="Arial" panose="020B0604020202020204" pitchFamily="34" charset="0"/>
              </a:rPr>
              <a:t>Inst Fetch</a:t>
            </a:r>
          </a:p>
        </p:txBody>
      </p:sp>
      <p:sp>
        <p:nvSpPr>
          <p:cNvPr id="61454" name="Rectangle 14"/>
          <p:cNvSpPr>
            <a:spLocks noChangeArrowheads="1"/>
          </p:cNvSpPr>
          <p:nvPr/>
        </p:nvSpPr>
        <p:spPr bwMode="auto">
          <a:xfrm>
            <a:off x="8546688" y="2435816"/>
            <a:ext cx="1206500" cy="2921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5" name="Rectangle 15"/>
          <p:cNvSpPr>
            <a:spLocks noChangeArrowheads="1"/>
          </p:cNvSpPr>
          <p:nvPr/>
        </p:nvSpPr>
        <p:spPr bwMode="auto">
          <a:xfrm>
            <a:off x="6108288" y="2435816"/>
            <a:ext cx="1206500" cy="292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6" name="Rectangle 16"/>
          <p:cNvSpPr>
            <a:spLocks noChangeArrowheads="1"/>
          </p:cNvSpPr>
          <p:nvPr/>
        </p:nvSpPr>
        <p:spPr bwMode="auto">
          <a:xfrm>
            <a:off x="7327488" y="2435816"/>
            <a:ext cx="1206500" cy="2921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7" name="Rectangle 17"/>
          <p:cNvSpPr>
            <a:spLocks noChangeArrowheads="1"/>
          </p:cNvSpPr>
          <p:nvPr/>
        </p:nvSpPr>
        <p:spPr bwMode="auto">
          <a:xfrm>
            <a:off x="6011451" y="1996079"/>
            <a:ext cx="125996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dirty="0">
                <a:latin typeface="Arial" panose="020B0604020202020204" pitchFamily="34" charset="0"/>
              </a:rPr>
              <a:t> </a:t>
            </a:r>
            <a:r>
              <a:rPr lang="en-US" altLang="zh-CN" dirty="0" smtClean="0">
                <a:latin typeface="Arial" panose="020B0604020202020204" pitchFamily="34" charset="0"/>
              </a:rPr>
              <a:t> Op </a:t>
            </a:r>
            <a:r>
              <a:rPr lang="en-US" altLang="zh-CN" dirty="0">
                <a:latin typeface="Arial" panose="020B0604020202020204" pitchFamily="34" charset="0"/>
              </a:rPr>
              <a:t>Fetch</a:t>
            </a:r>
          </a:p>
        </p:txBody>
      </p:sp>
      <p:sp>
        <p:nvSpPr>
          <p:cNvPr id="61458" name="Rectangle 18"/>
          <p:cNvSpPr>
            <a:spLocks noChangeArrowheads="1"/>
          </p:cNvSpPr>
          <p:nvPr/>
        </p:nvSpPr>
        <p:spPr bwMode="auto">
          <a:xfrm>
            <a:off x="6163852" y="2453279"/>
            <a:ext cx="11958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latin typeface="Arial" panose="020B0604020202020204" pitchFamily="34" charset="0"/>
              </a:rPr>
              <a:t>Inst Fetch</a:t>
            </a:r>
          </a:p>
        </p:txBody>
      </p:sp>
      <p:sp>
        <p:nvSpPr>
          <p:cNvPr id="61459" name="Rectangle 19"/>
          <p:cNvSpPr>
            <a:spLocks noChangeArrowheads="1"/>
          </p:cNvSpPr>
          <p:nvPr/>
        </p:nvSpPr>
        <p:spPr bwMode="auto">
          <a:xfrm>
            <a:off x="7459252" y="1996079"/>
            <a:ext cx="101630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dirty="0">
                <a:latin typeface="Arial" panose="020B0604020202020204" pitchFamily="34" charset="0"/>
              </a:rPr>
              <a:t>Execute</a:t>
            </a:r>
          </a:p>
        </p:txBody>
      </p:sp>
      <p:sp>
        <p:nvSpPr>
          <p:cNvPr id="61460" name="Rectangle 20"/>
          <p:cNvSpPr>
            <a:spLocks noChangeArrowheads="1"/>
          </p:cNvSpPr>
          <p:nvPr/>
        </p:nvSpPr>
        <p:spPr bwMode="auto">
          <a:xfrm>
            <a:off x="2255286" y="1890492"/>
            <a:ext cx="2491068"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dirty="0">
                <a:solidFill>
                  <a:schemeClr val="accent1"/>
                </a:solidFill>
                <a:latin typeface="Arial" panose="020B0604020202020204" pitchFamily="34" charset="0"/>
              </a:rPr>
              <a:t>execute successor</a:t>
            </a:r>
          </a:p>
          <a:p>
            <a:r>
              <a:rPr lang="en-US" altLang="zh-CN" b="1" dirty="0">
                <a:solidFill>
                  <a:schemeClr val="accent1"/>
                </a:solidFill>
                <a:latin typeface="Arial" panose="020B0604020202020204" pitchFamily="34" charset="0"/>
              </a:rPr>
              <a:t>even if branch taken</a:t>
            </a:r>
            <a:r>
              <a:rPr lang="en-US" altLang="zh-CN" b="1" dirty="0">
                <a:latin typeface="Arial" panose="020B0604020202020204" pitchFamily="34" charset="0"/>
              </a:rPr>
              <a:t>!</a:t>
            </a:r>
          </a:p>
        </p:txBody>
      </p:sp>
      <p:sp>
        <p:nvSpPr>
          <p:cNvPr id="61461" name="Rectangle 21"/>
          <p:cNvSpPr>
            <a:spLocks noChangeArrowheads="1"/>
          </p:cNvSpPr>
          <p:nvPr/>
        </p:nvSpPr>
        <p:spPr bwMode="auto">
          <a:xfrm>
            <a:off x="3573052" y="2483441"/>
            <a:ext cx="2273059"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latin typeface="Arial" panose="020B0604020202020204" pitchFamily="34" charset="0"/>
              </a:rPr>
              <a:t>Then branch target</a:t>
            </a:r>
          </a:p>
          <a:p>
            <a:r>
              <a:rPr lang="en-US" altLang="zh-CN" b="1">
                <a:latin typeface="Arial" panose="020B0604020202020204" pitchFamily="34" charset="0"/>
              </a:rPr>
              <a:t>or continue</a:t>
            </a:r>
          </a:p>
        </p:txBody>
      </p:sp>
      <p:sp>
        <p:nvSpPr>
          <p:cNvPr id="61462" name="Line 22"/>
          <p:cNvSpPr>
            <a:spLocks noChangeShapeType="1"/>
          </p:cNvSpPr>
          <p:nvPr/>
        </p:nvSpPr>
        <p:spPr bwMode="auto">
          <a:xfrm>
            <a:off x="6184488" y="1750016"/>
            <a:ext cx="215900" cy="6731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3" name="Rectangle 23"/>
          <p:cNvSpPr>
            <a:spLocks noChangeArrowheads="1"/>
          </p:cNvSpPr>
          <p:nvPr/>
        </p:nvSpPr>
        <p:spPr bwMode="auto">
          <a:xfrm>
            <a:off x="6316251" y="2712041"/>
            <a:ext cx="2824492"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latin typeface="Arial" panose="020B0604020202020204" pitchFamily="34" charset="0"/>
              </a:rPr>
              <a:t>Single delay slot</a:t>
            </a:r>
          </a:p>
          <a:p>
            <a:r>
              <a:rPr lang="en-US" altLang="zh-CN" b="1">
                <a:latin typeface="Arial" panose="020B0604020202020204" pitchFamily="34" charset="0"/>
              </a:rPr>
              <a:t>impacts the critical path</a:t>
            </a:r>
          </a:p>
        </p:txBody>
      </p:sp>
      <p:sp>
        <p:nvSpPr>
          <p:cNvPr id="61464" name="Rectangle 24"/>
          <p:cNvSpPr>
            <a:spLocks noChangeArrowheads="1"/>
          </p:cNvSpPr>
          <p:nvPr/>
        </p:nvSpPr>
        <p:spPr bwMode="auto">
          <a:xfrm>
            <a:off x="548776" y="3752646"/>
            <a:ext cx="6245824" cy="1936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spcBef>
                <a:spcPct val="50000"/>
              </a:spcBef>
              <a:buFontTx/>
              <a:buChar char="•"/>
            </a:pPr>
            <a:r>
              <a:rPr lang="en-US" altLang="zh-CN" sz="2400" b="1" dirty="0">
                <a:latin typeface="Arial" panose="020B0604020202020204" pitchFamily="34" charset="0"/>
              </a:rPr>
              <a:t>Compiler can fill a single delay slot  with a useful instruction 50% of the time.</a:t>
            </a:r>
          </a:p>
          <a:p>
            <a:pPr lvl="1">
              <a:spcBef>
                <a:spcPct val="50000"/>
              </a:spcBef>
              <a:buFontTx/>
              <a:buChar char="•"/>
            </a:pPr>
            <a:r>
              <a:rPr lang="en-US" altLang="zh-CN" sz="2400" b="1" dirty="0">
                <a:latin typeface="Arial" panose="020B0604020202020204" pitchFamily="34" charset="0"/>
              </a:rPr>
              <a:t> try to move down from above jump</a:t>
            </a:r>
          </a:p>
          <a:p>
            <a:pPr lvl="1">
              <a:spcBef>
                <a:spcPct val="50000"/>
              </a:spcBef>
              <a:buFontTx/>
              <a:buChar char="•"/>
            </a:pPr>
            <a:r>
              <a:rPr lang="en-US" altLang="zh-CN" sz="2400" b="1" dirty="0" smtClean="0">
                <a:latin typeface="Arial" panose="020B0604020202020204" pitchFamily="34" charset="0"/>
              </a:rPr>
              <a:t> move </a:t>
            </a:r>
            <a:r>
              <a:rPr lang="en-US" altLang="zh-CN" sz="2400" b="1" dirty="0">
                <a:latin typeface="Arial" panose="020B0604020202020204" pitchFamily="34" charset="0"/>
              </a:rPr>
              <a:t>up from target, if safe</a:t>
            </a:r>
            <a:endParaRPr lang="en-US" altLang="zh-CN" b="1" dirty="0">
              <a:latin typeface="Arial" panose="020B0604020202020204" pitchFamily="34" charset="0"/>
            </a:endParaRPr>
          </a:p>
        </p:txBody>
      </p:sp>
      <p:sp>
        <p:nvSpPr>
          <p:cNvPr id="61465" name="Rectangle 25"/>
          <p:cNvSpPr>
            <a:spLocks noChangeArrowheads="1"/>
          </p:cNvSpPr>
          <p:nvPr/>
        </p:nvSpPr>
        <p:spPr bwMode="auto">
          <a:xfrm>
            <a:off x="7316789" y="3448050"/>
            <a:ext cx="2968625" cy="2427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tabLst>
                <a:tab pos="457200" algn="l"/>
              </a:tabLst>
              <a:defRPr kumimoji="1" sz="2400">
                <a:solidFill>
                  <a:schemeClr val="tx1"/>
                </a:solidFill>
                <a:latin typeface="Times New Roman" panose="02020603050405020304" pitchFamily="18" charset="0"/>
                <a:ea typeface="宋体" panose="02010600030101010101" pitchFamily="2" charset="-122"/>
              </a:defRPr>
            </a:lvl1pPr>
            <a:lvl2pPr>
              <a:tabLst>
                <a:tab pos="457200" algn="l"/>
              </a:tabLst>
              <a:defRPr kumimoji="1" sz="2400">
                <a:solidFill>
                  <a:schemeClr val="tx1"/>
                </a:solidFill>
                <a:latin typeface="Times New Roman" panose="02020603050405020304" pitchFamily="18" charset="0"/>
                <a:ea typeface="宋体" panose="02010600030101010101" pitchFamily="2" charset="-122"/>
              </a:defRPr>
            </a:lvl2pPr>
            <a:lvl3pPr>
              <a:tabLst>
                <a:tab pos="457200" algn="l"/>
              </a:tabLst>
              <a:defRPr kumimoji="1" sz="2400">
                <a:solidFill>
                  <a:schemeClr val="tx1"/>
                </a:solidFill>
                <a:latin typeface="Times New Roman" panose="02020603050405020304" pitchFamily="18" charset="0"/>
                <a:ea typeface="宋体" panose="02010600030101010101" pitchFamily="2" charset="-122"/>
              </a:defRPr>
            </a:lvl3pPr>
            <a:lvl4pPr>
              <a:tabLst>
                <a:tab pos="457200" algn="l"/>
              </a:tabLst>
              <a:defRPr kumimoji="1" sz="2400">
                <a:solidFill>
                  <a:schemeClr val="tx1"/>
                </a:solidFill>
                <a:latin typeface="Times New Roman" panose="02020603050405020304" pitchFamily="18" charset="0"/>
                <a:ea typeface="宋体" panose="02010600030101010101" pitchFamily="2" charset="-122"/>
              </a:defRPr>
            </a:lvl4pPr>
            <a:lvl5pPr>
              <a:tabLst>
                <a:tab pos="4572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9pPr>
          </a:lstStyle>
          <a:p>
            <a:pPr lvl="1">
              <a:spcBef>
                <a:spcPct val="50000"/>
              </a:spcBef>
            </a:pPr>
            <a:r>
              <a:rPr lang="en-US" altLang="zh-CN" sz="1800" b="1" dirty="0">
                <a:latin typeface="Courier New" panose="02070309020205020404" pitchFamily="49" charset="0"/>
              </a:rPr>
              <a:t>add r3, r1, r2</a:t>
            </a:r>
          </a:p>
          <a:p>
            <a:pPr lvl="1">
              <a:spcBef>
                <a:spcPct val="50000"/>
              </a:spcBef>
            </a:pPr>
            <a:r>
              <a:rPr lang="en-US" altLang="zh-CN" sz="1800" b="1" dirty="0">
                <a:latin typeface="Courier New" panose="02070309020205020404" pitchFamily="49" charset="0"/>
              </a:rPr>
              <a:t>sub r4, r4, 1</a:t>
            </a:r>
          </a:p>
          <a:p>
            <a:pPr lvl="1">
              <a:spcBef>
                <a:spcPct val="50000"/>
              </a:spcBef>
            </a:pPr>
            <a:r>
              <a:rPr lang="en-US" altLang="zh-CN" sz="1800" b="1" dirty="0" err="1">
                <a:latin typeface="Courier New" panose="02070309020205020404" pitchFamily="49" charset="0"/>
              </a:rPr>
              <a:t>bz</a:t>
            </a:r>
            <a:r>
              <a:rPr lang="en-US" altLang="zh-CN" sz="1800" b="1" dirty="0">
                <a:latin typeface="Courier New" panose="02070309020205020404" pitchFamily="49" charset="0"/>
              </a:rPr>
              <a:t>	r4, LL</a:t>
            </a:r>
          </a:p>
          <a:p>
            <a:pPr lvl="1">
              <a:spcBef>
                <a:spcPct val="50000"/>
              </a:spcBef>
            </a:pPr>
            <a:r>
              <a:rPr lang="en-US" altLang="zh-CN" sz="1800" b="1" dirty="0">
                <a:solidFill>
                  <a:schemeClr val="accent2"/>
                </a:solidFill>
                <a:latin typeface="Courier New" panose="02070309020205020404" pitchFamily="49" charset="0"/>
              </a:rPr>
              <a:t>NOP</a:t>
            </a:r>
          </a:p>
          <a:p>
            <a:pPr lvl="1">
              <a:spcBef>
                <a:spcPct val="50000"/>
              </a:spcBef>
            </a:pPr>
            <a:r>
              <a:rPr lang="en-US" altLang="zh-CN" sz="1800" b="1" dirty="0">
                <a:latin typeface="Courier New" panose="02070309020205020404" pitchFamily="49" charset="0"/>
              </a:rPr>
              <a:t>...</a:t>
            </a:r>
          </a:p>
          <a:p>
            <a:pPr>
              <a:spcBef>
                <a:spcPct val="50000"/>
              </a:spcBef>
            </a:pPr>
            <a:r>
              <a:rPr lang="en-US" altLang="zh-CN" sz="1800" b="1" dirty="0">
                <a:latin typeface="Courier New" panose="02070309020205020404" pitchFamily="49" charset="0"/>
              </a:rPr>
              <a:t>LL: 	add </a:t>
            </a:r>
            <a:r>
              <a:rPr lang="en-US" altLang="zh-CN" sz="1800" b="1" dirty="0" err="1">
                <a:latin typeface="Courier New" panose="02070309020205020404" pitchFamily="49" charset="0"/>
              </a:rPr>
              <a:t>rd</a:t>
            </a:r>
            <a:r>
              <a:rPr lang="en-US" altLang="zh-CN" sz="1800" b="1" dirty="0">
                <a:latin typeface="Courier New" panose="02070309020205020404" pitchFamily="49" charset="0"/>
              </a:rPr>
              <a:t>, ...</a:t>
            </a:r>
          </a:p>
        </p:txBody>
      </p:sp>
      <p:sp>
        <p:nvSpPr>
          <p:cNvPr id="61466" name="Rectangle 26"/>
          <p:cNvSpPr>
            <a:spLocks noChangeArrowheads="1"/>
          </p:cNvSpPr>
          <p:nvPr/>
        </p:nvSpPr>
        <p:spPr bwMode="auto">
          <a:xfrm>
            <a:off x="2195512" y="6169784"/>
            <a:ext cx="6332538"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800" b="1" dirty="0">
                <a:solidFill>
                  <a:schemeClr val="accent2"/>
                </a:solidFill>
                <a:latin typeface="Arial" panose="020B0604020202020204" pitchFamily="34" charset="0"/>
              </a:rPr>
              <a:t>Is this violating the ISA abstraction?</a:t>
            </a:r>
            <a:endParaRPr lang="en-US" altLang="zh-CN" sz="2000" b="1" dirty="0">
              <a:solidFill>
                <a:schemeClr val="accent2"/>
              </a:solidFill>
              <a:latin typeface="Arial" panose="020B0604020202020204" pitchFamily="34" charset="0"/>
            </a:endParaRPr>
          </a:p>
        </p:txBody>
      </p:sp>
    </p:spTree>
    <p:extLst>
      <p:ext uri="{BB962C8B-B14F-4D97-AF65-F5344CB8AC3E}">
        <p14:creationId xmlns:p14="http://schemas.microsoft.com/office/powerpoint/2010/main" val="2597692900"/>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855024" y="388917"/>
            <a:ext cx="8568051" cy="66069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63500" tIns="25400" rIns="63500" bIns="25400" numCol="1" anchor="t" anchorCtr="0" compatLnSpc="1">
            <a:prstTxWarp prst="textNoShape">
              <a:avLst/>
            </a:prstTxWarp>
            <a:spAutoFit/>
          </a:bodyPr>
          <a:lstStyle/>
          <a:p>
            <a:r>
              <a:rPr lang="en-US" altLang="zh-CN" dirty="0"/>
              <a:t>Miscellaneous MIPS I instructions</a:t>
            </a:r>
          </a:p>
        </p:txBody>
      </p:sp>
      <p:sp>
        <p:nvSpPr>
          <p:cNvPr id="62467" name="Rectangle 3"/>
          <p:cNvSpPr>
            <a:spLocks noGrp="1" noChangeArrowheads="1"/>
          </p:cNvSpPr>
          <p:nvPr>
            <p:ph type="body" idx="1"/>
          </p:nvPr>
        </p:nvSpPr>
        <p:spPr>
          <a:xfrm>
            <a:off x="736270" y="1530350"/>
            <a:ext cx="10521538" cy="3929281"/>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63500" tIns="25400" rIns="63500" bIns="25400" numCol="1" anchor="t" anchorCtr="0" compatLnSpc="1">
            <a:prstTxWarp prst="textNoShape">
              <a:avLst/>
            </a:prstTxWarp>
            <a:spAutoFit/>
          </a:bodyPr>
          <a:lstStyle/>
          <a:p>
            <a:pPr>
              <a:spcBef>
                <a:spcPct val="0"/>
              </a:spcBef>
            </a:pPr>
            <a:r>
              <a:rPr lang="en-US" altLang="zh-CN" dirty="0"/>
              <a:t>Break: A breakpoint trap occurs, transfers control to exception handler</a:t>
            </a:r>
          </a:p>
          <a:p>
            <a:pPr>
              <a:spcBef>
                <a:spcPct val="0"/>
              </a:spcBef>
            </a:pPr>
            <a:r>
              <a:rPr lang="en-US" altLang="zh-CN" dirty="0" err="1"/>
              <a:t>syscall</a:t>
            </a:r>
            <a:r>
              <a:rPr lang="en-US" altLang="zh-CN" dirty="0"/>
              <a:t>: A system trap occurs, transfers control to exception handler</a:t>
            </a:r>
          </a:p>
          <a:p>
            <a:pPr>
              <a:spcBef>
                <a:spcPct val="0"/>
              </a:spcBef>
            </a:pPr>
            <a:r>
              <a:rPr lang="en-US" altLang="zh-CN" dirty="0"/>
              <a:t>coprocessor </a:t>
            </a:r>
            <a:r>
              <a:rPr lang="en-US" altLang="zh-CN" dirty="0" err="1"/>
              <a:t>instrs</a:t>
            </a:r>
            <a:r>
              <a:rPr lang="en-US" altLang="zh-CN" dirty="0"/>
              <a:t>:	Support for floating point</a:t>
            </a:r>
          </a:p>
          <a:p>
            <a:pPr>
              <a:spcBef>
                <a:spcPct val="0"/>
              </a:spcBef>
            </a:pPr>
            <a:r>
              <a:rPr lang="en-US" altLang="zh-CN" dirty="0"/>
              <a:t>TLB instructions: Support for virtual memory: discussed later</a:t>
            </a:r>
          </a:p>
          <a:p>
            <a:pPr>
              <a:spcBef>
                <a:spcPct val="0"/>
              </a:spcBef>
            </a:pPr>
            <a:r>
              <a:rPr lang="en-US" altLang="zh-CN" dirty="0"/>
              <a:t>restore from exception: Restores previous interrupt mask &amp; kernel/user Mode bits into status register</a:t>
            </a:r>
          </a:p>
          <a:p>
            <a:pPr>
              <a:spcBef>
                <a:spcPct val="0"/>
              </a:spcBef>
            </a:pPr>
            <a:r>
              <a:rPr lang="en-US" altLang="zh-CN" dirty="0"/>
              <a:t>load word left/right:	Supports misaligned word loads</a:t>
            </a:r>
          </a:p>
          <a:p>
            <a:pPr>
              <a:spcBef>
                <a:spcPct val="0"/>
              </a:spcBef>
            </a:pPr>
            <a:r>
              <a:rPr lang="en-US" altLang="zh-CN" dirty="0"/>
              <a:t>store word left/right:	Supports misaligned word stores</a:t>
            </a:r>
          </a:p>
        </p:txBody>
      </p:sp>
    </p:spTree>
    <p:extLst>
      <p:ext uri="{BB962C8B-B14F-4D97-AF65-F5344CB8AC3E}">
        <p14:creationId xmlns:p14="http://schemas.microsoft.com/office/powerpoint/2010/main" val="3388552437"/>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26628" name="Picture 5" descr="Z:\Production\Prodenv\0000000038\0000155678\0000000029\XmlLowres\0003170709\bm22-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2643" y="1480553"/>
            <a:ext cx="4860183" cy="5265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RISC-V ISA details</a:t>
            </a:r>
            <a:endParaRPr lang="zh-CN" altLang="en-US" dirty="0"/>
          </a:p>
        </p:txBody>
      </p:sp>
      <p:sp>
        <p:nvSpPr>
          <p:cNvPr id="3" name="内容占位符 2"/>
          <p:cNvSpPr>
            <a:spLocks noGrp="1"/>
          </p:cNvSpPr>
          <p:nvPr>
            <p:ph idx="1"/>
          </p:nvPr>
        </p:nvSpPr>
        <p:spPr>
          <a:xfrm>
            <a:off x="380010" y="1556792"/>
            <a:ext cx="10973790" cy="5112568"/>
          </a:xfrm>
        </p:spPr>
        <p:txBody>
          <a:bodyPr/>
          <a:lstStyle/>
          <a:p>
            <a:r>
              <a:rPr lang="en-US" altLang="zh-CN" dirty="0" smtClean="0"/>
              <a:t>RISC-V </a:t>
            </a:r>
            <a:r>
              <a:rPr lang="en-US" altLang="zh-CN" dirty="0"/>
              <a:t>has three base </a:t>
            </a:r>
            <a:r>
              <a:rPr lang="en-US" altLang="zh-CN" dirty="0" smtClean="0"/>
              <a:t>instruction sets </a:t>
            </a:r>
            <a:br>
              <a:rPr lang="en-US" altLang="zh-CN" dirty="0" smtClean="0"/>
            </a:br>
            <a:r>
              <a:rPr lang="en-US" altLang="zh-CN" dirty="0" smtClean="0"/>
              <a:t>(</a:t>
            </a:r>
            <a:r>
              <a:rPr lang="en-US" altLang="zh-CN" dirty="0"/>
              <a:t>and a reserved spot for a future fourth</a:t>
            </a:r>
            <a:r>
              <a:rPr lang="en-US" altLang="zh-CN" dirty="0" smtClean="0"/>
              <a:t>)</a:t>
            </a:r>
          </a:p>
          <a:p>
            <a:pPr lvl="1"/>
            <a:r>
              <a:rPr lang="en-US" altLang="zh-CN" dirty="0"/>
              <a:t>A</a:t>
            </a:r>
            <a:r>
              <a:rPr lang="en-US" altLang="zh-CN" dirty="0" smtClean="0"/>
              <a:t>ll </a:t>
            </a:r>
            <a:r>
              <a:rPr lang="en-US" altLang="zh-CN" dirty="0"/>
              <a:t>the extensions extend one of the base </a:t>
            </a:r>
            <a:r>
              <a:rPr lang="en-US" altLang="zh-CN" dirty="0" smtClean="0"/>
              <a:t/>
            </a:r>
            <a:br>
              <a:rPr lang="en-US" altLang="zh-CN" dirty="0" smtClean="0"/>
            </a:br>
            <a:r>
              <a:rPr lang="en-US" altLang="zh-CN" dirty="0" smtClean="0"/>
              <a:t>instruction sets</a:t>
            </a:r>
          </a:p>
          <a:p>
            <a:r>
              <a:rPr lang="en-US" altLang="zh-CN" dirty="0" smtClean="0"/>
              <a:t>An </a:t>
            </a:r>
            <a:r>
              <a:rPr lang="en-US" altLang="zh-CN" dirty="0"/>
              <a:t>instruction set is </a:t>
            </a:r>
            <a:r>
              <a:rPr lang="en-US" altLang="zh-CN" dirty="0" smtClean="0"/>
              <a:t>named </a:t>
            </a:r>
            <a:r>
              <a:rPr lang="en-US" altLang="zh-CN" dirty="0"/>
              <a:t>by the base </a:t>
            </a:r>
            <a:r>
              <a:rPr lang="en-US" altLang="zh-CN" dirty="0" smtClean="0"/>
              <a:t/>
            </a:r>
            <a:br>
              <a:rPr lang="en-US" altLang="zh-CN" dirty="0" smtClean="0"/>
            </a:br>
            <a:r>
              <a:rPr lang="en-US" altLang="zh-CN" dirty="0" smtClean="0"/>
              <a:t>name </a:t>
            </a:r>
            <a:r>
              <a:rPr lang="en-US" altLang="zh-CN" dirty="0"/>
              <a:t>followed by the </a:t>
            </a:r>
            <a:r>
              <a:rPr lang="en-US" altLang="zh-CN" dirty="0" smtClean="0"/>
              <a:t>extensions</a:t>
            </a:r>
          </a:p>
          <a:p>
            <a:pPr lvl="1"/>
            <a:r>
              <a:rPr lang="en-US" altLang="zh-CN" dirty="0" smtClean="0"/>
              <a:t>For </a:t>
            </a:r>
            <a:r>
              <a:rPr lang="en-US" altLang="zh-CN" dirty="0"/>
              <a:t>example, RISC-V64IMAFD refers to </a:t>
            </a:r>
            <a:r>
              <a:rPr lang="en-US" altLang="zh-CN" dirty="0" smtClean="0"/>
              <a:t/>
            </a:r>
            <a:br>
              <a:rPr lang="en-US" altLang="zh-CN" dirty="0" smtClean="0"/>
            </a:br>
            <a:r>
              <a:rPr lang="en-US" altLang="zh-CN" dirty="0" smtClean="0"/>
              <a:t>the </a:t>
            </a:r>
            <a:r>
              <a:rPr lang="en-US" altLang="zh-CN" dirty="0"/>
              <a:t>base 64-bit instruction set with </a:t>
            </a:r>
            <a:r>
              <a:rPr lang="en-US" altLang="zh-CN" dirty="0" smtClean="0"/>
              <a:t/>
            </a:r>
            <a:br>
              <a:rPr lang="en-US" altLang="zh-CN" dirty="0" smtClean="0"/>
            </a:br>
            <a:r>
              <a:rPr lang="en-US" altLang="zh-CN" dirty="0" smtClean="0"/>
              <a:t>extensions </a:t>
            </a:r>
            <a:r>
              <a:rPr lang="en-US" altLang="zh-CN" dirty="0"/>
              <a:t>M, A, F, and </a:t>
            </a:r>
            <a:r>
              <a:rPr lang="en-US" altLang="zh-CN" dirty="0" smtClean="0"/>
              <a:t>D</a:t>
            </a:r>
          </a:p>
          <a:p>
            <a:pPr lvl="1"/>
            <a:r>
              <a:rPr lang="en-US" altLang="zh-CN" dirty="0" smtClean="0"/>
              <a:t>For </a:t>
            </a:r>
            <a:r>
              <a:rPr lang="en-US" altLang="zh-CN" dirty="0"/>
              <a:t>consistency of naming and software, </a:t>
            </a:r>
            <a:r>
              <a:rPr lang="en-US" altLang="zh-CN" dirty="0" smtClean="0"/>
              <a:t/>
            </a:r>
            <a:br>
              <a:rPr lang="en-US" altLang="zh-CN" dirty="0" smtClean="0"/>
            </a:br>
            <a:r>
              <a:rPr lang="en-US" altLang="zh-CN" dirty="0" smtClean="0"/>
              <a:t>this </a:t>
            </a:r>
            <a:r>
              <a:rPr lang="en-US" altLang="zh-CN" dirty="0"/>
              <a:t>combination is given the abbreviated </a:t>
            </a:r>
            <a:r>
              <a:rPr lang="en-US" altLang="zh-CN" dirty="0" smtClean="0"/>
              <a:t/>
            </a:r>
            <a:br>
              <a:rPr lang="en-US" altLang="zh-CN" dirty="0" smtClean="0"/>
            </a:br>
            <a:r>
              <a:rPr lang="en-US" altLang="zh-CN" dirty="0" smtClean="0"/>
              <a:t>name</a:t>
            </a:r>
            <a:r>
              <a:rPr lang="en-US" altLang="zh-CN" dirty="0"/>
              <a:t>: </a:t>
            </a:r>
            <a:r>
              <a:rPr lang="en-US" altLang="zh-CN" dirty="0" smtClean="0"/>
              <a:t>RV64G.</a:t>
            </a:r>
            <a:endParaRPr lang="en-US" altLang="zh-CN" dirty="0"/>
          </a:p>
          <a:p>
            <a:endParaRPr lang="zh-CN" altLang="en-US" dirty="0"/>
          </a:p>
        </p:txBody>
      </p:sp>
    </p:spTree>
    <p:extLst>
      <p:ext uri="{BB962C8B-B14F-4D97-AF65-F5344CB8AC3E}">
        <p14:creationId xmlns:p14="http://schemas.microsoft.com/office/powerpoint/2010/main" val="330649869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28676" name="Picture 5" descr="Z:\Production\Prodenv\0000000038\0000155678\0000000029\XmlLowres\0003170709\bm24-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62346" y="3770416"/>
            <a:ext cx="8343373" cy="2845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Instruction types and fields in RISC-V</a:t>
            </a:r>
            <a:endParaRPr lang="zh-CN" altLang="en-US" dirty="0"/>
          </a:p>
        </p:txBody>
      </p:sp>
      <p:sp>
        <p:nvSpPr>
          <p:cNvPr id="3" name="内容占位符 2"/>
          <p:cNvSpPr>
            <a:spLocks noGrp="1"/>
          </p:cNvSpPr>
          <p:nvPr>
            <p:ph idx="1"/>
          </p:nvPr>
        </p:nvSpPr>
        <p:spPr>
          <a:xfrm>
            <a:off x="326571" y="1604294"/>
            <a:ext cx="10872849" cy="5112568"/>
          </a:xfrm>
        </p:spPr>
        <p:txBody>
          <a:bodyPr/>
          <a:lstStyle/>
          <a:p>
            <a:r>
              <a:rPr lang="en-US" altLang="zh-CN" sz="2400" dirty="0" smtClean="0"/>
              <a:t>Primary </a:t>
            </a:r>
            <a:r>
              <a:rPr lang="en-US" altLang="zh-CN" sz="2400" dirty="0"/>
              <a:t>use shows the major instructions that use the </a:t>
            </a:r>
            <a:r>
              <a:rPr lang="en-US" altLang="zh-CN" sz="2400" dirty="0" smtClean="0"/>
              <a:t>format.</a:t>
            </a:r>
          </a:p>
          <a:p>
            <a:pPr lvl="1"/>
            <a:r>
              <a:rPr lang="en-US" altLang="zh-CN" sz="2000" dirty="0" smtClean="0"/>
              <a:t>A </a:t>
            </a:r>
            <a:r>
              <a:rPr lang="en-US" altLang="zh-CN" sz="2000" dirty="0"/>
              <a:t>blank indicates that the corresponding field is not present </a:t>
            </a:r>
            <a:endParaRPr lang="en-US" altLang="zh-CN" sz="2000" dirty="0" smtClean="0"/>
          </a:p>
          <a:p>
            <a:r>
              <a:rPr lang="en-US" altLang="zh-CN" sz="2400" dirty="0" smtClean="0"/>
              <a:t>I-format </a:t>
            </a:r>
            <a:r>
              <a:rPr lang="en-US" altLang="zh-CN" sz="2400" dirty="0"/>
              <a:t>is used for both loads and ALU </a:t>
            </a:r>
            <a:r>
              <a:rPr lang="en-US" altLang="zh-CN" sz="2400" dirty="0" err="1" smtClean="0"/>
              <a:t>immediates</a:t>
            </a:r>
            <a:endParaRPr lang="en-US" altLang="zh-CN" sz="2400" dirty="0" smtClean="0"/>
          </a:p>
          <a:p>
            <a:pPr lvl="1"/>
            <a:r>
              <a:rPr lang="en-US" altLang="zh-CN" sz="2000" dirty="0" smtClean="0"/>
              <a:t>The </a:t>
            </a:r>
            <a:r>
              <a:rPr lang="en-US" altLang="zh-CN" sz="2000" dirty="0"/>
              <a:t>12-bit immediate holding </a:t>
            </a:r>
            <a:r>
              <a:rPr lang="en-US" altLang="zh-CN" sz="2000" dirty="0" smtClean="0"/>
              <a:t>an </a:t>
            </a:r>
            <a:r>
              <a:rPr lang="en-US" altLang="zh-CN" sz="2000" dirty="0"/>
              <a:t>immediate or the displacement </a:t>
            </a:r>
            <a:endParaRPr lang="en-US" altLang="zh-CN" sz="2000" dirty="0" smtClean="0"/>
          </a:p>
          <a:p>
            <a:r>
              <a:rPr lang="en-US" altLang="zh-CN" sz="2400" dirty="0" smtClean="0"/>
              <a:t>S-format </a:t>
            </a:r>
            <a:r>
              <a:rPr lang="en-US" altLang="zh-CN" sz="2400" dirty="0"/>
              <a:t>encodes both store instructions </a:t>
            </a:r>
            <a:r>
              <a:rPr lang="en-US" altLang="zh-CN" sz="2400" dirty="0" smtClean="0"/>
              <a:t>and </a:t>
            </a:r>
            <a:r>
              <a:rPr lang="en-US" altLang="zh-CN" sz="2400" dirty="0"/>
              <a:t>compare and branch </a:t>
            </a:r>
            <a:r>
              <a:rPr lang="en-US" altLang="zh-CN" sz="2400" dirty="0" smtClean="0"/>
              <a:t>instructions</a:t>
            </a:r>
          </a:p>
          <a:p>
            <a:r>
              <a:rPr lang="en-US" altLang="zh-CN" sz="2400" dirty="0" smtClean="0"/>
              <a:t>SB </a:t>
            </a:r>
            <a:r>
              <a:rPr lang="en-US" altLang="zh-CN" sz="2400" dirty="0"/>
              <a:t>and </a:t>
            </a:r>
            <a:r>
              <a:rPr lang="en-US" altLang="zh-CN" sz="2400" dirty="0" smtClean="0"/>
              <a:t>UJ</a:t>
            </a:r>
          </a:p>
          <a:p>
            <a:pPr lvl="1"/>
            <a:r>
              <a:rPr lang="en-US" altLang="zh-CN" sz="2000" dirty="0" smtClean="0"/>
              <a:t>Similar to S </a:t>
            </a:r>
            <a:r>
              <a:rPr lang="en-US" altLang="zh-CN" sz="2000" dirty="0"/>
              <a:t>and U</a:t>
            </a:r>
            <a:r>
              <a:rPr lang="en-US" altLang="zh-CN" sz="2000" dirty="0" smtClean="0"/>
              <a:t>, but </a:t>
            </a:r>
            <a:br>
              <a:rPr lang="en-US" altLang="zh-CN" sz="2000" dirty="0" smtClean="0"/>
            </a:br>
            <a:r>
              <a:rPr lang="en-US" altLang="zh-CN" sz="2000" dirty="0" smtClean="0"/>
              <a:t>slightly modify </a:t>
            </a:r>
            <a:r>
              <a:rPr lang="en-US" altLang="zh-CN" sz="2000" dirty="0"/>
              <a:t>the </a:t>
            </a:r>
            <a:r>
              <a:rPr lang="en-US" altLang="zh-CN" sz="2000" dirty="0" smtClean="0"/>
              <a:t/>
            </a:r>
            <a:br>
              <a:rPr lang="en-US" altLang="zh-CN" sz="2000" dirty="0" smtClean="0"/>
            </a:br>
            <a:r>
              <a:rPr lang="en-US" altLang="zh-CN" sz="2000" dirty="0" smtClean="0"/>
              <a:t>interpretation </a:t>
            </a:r>
            <a:r>
              <a:rPr lang="en-US" altLang="zh-CN" sz="2000" dirty="0"/>
              <a:t>of </a:t>
            </a:r>
            <a:r>
              <a:rPr lang="en-US" altLang="zh-CN" sz="2000" dirty="0" smtClean="0"/>
              <a:t/>
            </a:r>
            <a:br>
              <a:rPr lang="en-US" altLang="zh-CN" sz="2000" dirty="0" smtClean="0"/>
            </a:br>
            <a:r>
              <a:rPr lang="en-US" altLang="zh-CN" sz="2000" dirty="0" smtClean="0"/>
              <a:t>the </a:t>
            </a:r>
            <a:r>
              <a:rPr lang="en-US" altLang="zh-CN" sz="2000" dirty="0"/>
              <a:t>immediate </a:t>
            </a:r>
            <a:r>
              <a:rPr lang="en-US" altLang="zh-CN" sz="2000" dirty="0" smtClean="0"/>
              <a:t>fields</a:t>
            </a:r>
            <a:endParaRPr lang="en-US" altLang="zh-CN" sz="2000" dirty="0"/>
          </a:p>
          <a:p>
            <a:endParaRPr lang="zh-CN" altLang="en-US" sz="2400" dirty="0"/>
          </a:p>
        </p:txBody>
      </p:sp>
    </p:spTree>
    <p:extLst>
      <p:ext uri="{BB962C8B-B14F-4D97-AF65-F5344CB8AC3E}">
        <p14:creationId xmlns:p14="http://schemas.microsoft.com/office/powerpoint/2010/main" val="206623012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29700" name="Picture 5" descr="Z:\Production\Prodenv\0000000038\0000155678\0000000029\XmlLowres\0003170709\bm25-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67085" y="2891642"/>
            <a:ext cx="6566455" cy="3747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2"/>
          <p:cNvSpPr>
            <a:spLocks noGrp="1"/>
          </p:cNvSpPr>
          <p:nvPr>
            <p:ph type="title"/>
          </p:nvPr>
        </p:nvSpPr>
        <p:spPr/>
        <p:txBody>
          <a:bodyPr/>
          <a:lstStyle/>
          <a:p>
            <a:r>
              <a:rPr lang="en-US" altLang="zh-CN" dirty="0"/>
              <a:t>The load and store instructions in RISC-V</a:t>
            </a:r>
            <a:endParaRPr lang="zh-CN" altLang="en-US" dirty="0"/>
          </a:p>
        </p:txBody>
      </p:sp>
      <p:sp>
        <p:nvSpPr>
          <p:cNvPr id="4" name="内容占位符 3"/>
          <p:cNvSpPr>
            <a:spLocks noGrp="1"/>
          </p:cNvSpPr>
          <p:nvPr>
            <p:ph idx="1"/>
          </p:nvPr>
        </p:nvSpPr>
        <p:spPr/>
        <p:txBody>
          <a:bodyPr/>
          <a:lstStyle/>
          <a:p>
            <a:r>
              <a:rPr lang="en-US" altLang="zh-CN" sz="2400" dirty="0" smtClean="0"/>
              <a:t>Loads </a:t>
            </a:r>
            <a:r>
              <a:rPr lang="en-US" altLang="zh-CN" sz="2400" dirty="0"/>
              <a:t>shorter than 64 bits are available in both sign-extended and zero-extended </a:t>
            </a:r>
            <a:r>
              <a:rPr lang="en-US" altLang="zh-CN" sz="2400" dirty="0" smtClean="0"/>
              <a:t>forms</a:t>
            </a:r>
          </a:p>
          <a:p>
            <a:r>
              <a:rPr lang="en-US" altLang="zh-CN" sz="2400" dirty="0" smtClean="0"/>
              <a:t>All </a:t>
            </a:r>
            <a:r>
              <a:rPr lang="en-US" altLang="zh-CN" sz="2400" dirty="0"/>
              <a:t>memory references use a single addressing </a:t>
            </a:r>
            <a:r>
              <a:rPr lang="en-US" altLang="zh-CN" sz="2400" dirty="0" smtClean="0"/>
              <a:t>mode</a:t>
            </a:r>
          </a:p>
          <a:p>
            <a:pPr lvl="1"/>
            <a:r>
              <a:rPr lang="en-US" altLang="zh-CN" sz="2000" dirty="0" smtClean="0"/>
              <a:t>Both </a:t>
            </a:r>
            <a:r>
              <a:rPr lang="en-US" altLang="zh-CN" sz="2000" dirty="0"/>
              <a:t>loads and stores are </a:t>
            </a:r>
            <a:r>
              <a:rPr lang="en-US" altLang="zh-CN" sz="2000" dirty="0" smtClean="0"/>
              <a:t/>
            </a:r>
            <a:br>
              <a:rPr lang="en-US" altLang="zh-CN" sz="2000" dirty="0" smtClean="0"/>
            </a:br>
            <a:r>
              <a:rPr lang="en-US" altLang="zh-CN" sz="2000" dirty="0" smtClean="0"/>
              <a:t>available </a:t>
            </a:r>
            <a:r>
              <a:rPr lang="en-US" altLang="zh-CN" sz="2000" dirty="0"/>
              <a:t>for all the data </a:t>
            </a:r>
            <a:r>
              <a:rPr lang="en-US" altLang="zh-CN" sz="2000" dirty="0" smtClean="0"/>
              <a:t>types</a:t>
            </a:r>
          </a:p>
          <a:p>
            <a:pPr lvl="1"/>
            <a:r>
              <a:rPr lang="en-US" altLang="zh-CN" sz="2000" dirty="0" smtClean="0"/>
              <a:t>RV64G </a:t>
            </a:r>
            <a:r>
              <a:rPr lang="en-US" altLang="zh-CN" sz="2000" dirty="0"/>
              <a:t>supports double precision </a:t>
            </a:r>
            <a:r>
              <a:rPr lang="en-US" altLang="zh-CN" sz="2000" dirty="0" smtClean="0"/>
              <a:t/>
            </a:r>
            <a:br>
              <a:rPr lang="en-US" altLang="zh-CN" sz="2000" dirty="0" smtClean="0"/>
            </a:br>
            <a:r>
              <a:rPr lang="en-US" altLang="zh-CN" sz="2000" dirty="0" smtClean="0"/>
              <a:t>floating </a:t>
            </a:r>
            <a:r>
              <a:rPr lang="en-US" altLang="zh-CN" sz="2000" dirty="0"/>
              <a:t>point, all single precision </a:t>
            </a:r>
            <a:r>
              <a:rPr lang="en-US" altLang="zh-CN" sz="2000" dirty="0" smtClean="0"/>
              <a:t/>
            </a:r>
            <a:br>
              <a:rPr lang="en-US" altLang="zh-CN" sz="2000" dirty="0" smtClean="0"/>
            </a:br>
            <a:r>
              <a:rPr lang="en-US" altLang="zh-CN" sz="2000" dirty="0" smtClean="0"/>
              <a:t>floating </a:t>
            </a:r>
            <a:r>
              <a:rPr lang="en-US" altLang="zh-CN" sz="2000" dirty="0"/>
              <a:t>point loads must be </a:t>
            </a:r>
            <a:r>
              <a:rPr lang="en-US" altLang="zh-CN" sz="2000" dirty="0" smtClean="0"/>
              <a:t/>
            </a:r>
            <a:br>
              <a:rPr lang="en-US" altLang="zh-CN" sz="2000" dirty="0" smtClean="0"/>
            </a:br>
            <a:r>
              <a:rPr lang="en-US" altLang="zh-CN" sz="2000" dirty="0" smtClean="0"/>
              <a:t>aligned </a:t>
            </a:r>
            <a:r>
              <a:rPr lang="en-US" altLang="zh-CN" sz="2000" dirty="0"/>
              <a:t>in the FP register, </a:t>
            </a:r>
            <a:r>
              <a:rPr lang="en-US" altLang="zh-CN" sz="2000" dirty="0" smtClean="0"/>
              <a:t/>
            </a:r>
            <a:br>
              <a:rPr lang="en-US" altLang="zh-CN" sz="2000" dirty="0" smtClean="0"/>
            </a:br>
            <a:r>
              <a:rPr lang="en-US" altLang="zh-CN" sz="2000" dirty="0" smtClean="0"/>
              <a:t>which </a:t>
            </a:r>
            <a:r>
              <a:rPr lang="en-US" altLang="zh-CN" sz="2000" dirty="0"/>
              <a:t>are 64-bits </a:t>
            </a:r>
            <a:r>
              <a:rPr lang="en-US" altLang="zh-CN" sz="2000" dirty="0" smtClean="0"/>
              <a:t>wide</a:t>
            </a:r>
            <a:endParaRPr lang="en-US" altLang="zh-CN" sz="2000" dirty="0"/>
          </a:p>
          <a:p>
            <a:endParaRPr lang="zh-CN" altLang="en-US" sz="2400" dirty="0"/>
          </a:p>
        </p:txBody>
      </p:sp>
    </p:spTree>
    <p:extLst>
      <p:ext uri="{BB962C8B-B14F-4D97-AF65-F5344CB8AC3E}">
        <p14:creationId xmlns:p14="http://schemas.microsoft.com/office/powerpoint/2010/main" val="99624851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30724" name="Picture 5" descr="Z:\Production\Prodenv\0000000038\0000155678\0000000029\XmlLowres\0003170709\bm26-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5566" y="3390405"/>
            <a:ext cx="8083712" cy="3278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smtClean="0"/>
              <a:t>Basic </a:t>
            </a:r>
            <a:r>
              <a:rPr lang="en-US" altLang="zh-CN" dirty="0"/>
              <a:t>ALU instructions in RISC-V </a:t>
            </a:r>
            <a:endParaRPr lang="zh-CN" altLang="en-US" dirty="0"/>
          </a:p>
        </p:txBody>
      </p:sp>
      <p:sp>
        <p:nvSpPr>
          <p:cNvPr id="3" name="内容占位符 2"/>
          <p:cNvSpPr>
            <a:spLocks noGrp="1"/>
          </p:cNvSpPr>
          <p:nvPr>
            <p:ph idx="1"/>
          </p:nvPr>
        </p:nvSpPr>
        <p:spPr/>
        <p:txBody>
          <a:bodyPr/>
          <a:lstStyle/>
          <a:p>
            <a:r>
              <a:rPr lang="en-US" altLang="zh-CN" dirty="0" smtClean="0"/>
              <a:t>Two formats available </a:t>
            </a:r>
          </a:p>
          <a:p>
            <a:pPr lvl="1"/>
            <a:r>
              <a:rPr lang="en-US" altLang="zh-CN" dirty="0"/>
              <a:t>R</a:t>
            </a:r>
            <a:r>
              <a:rPr lang="en-US" altLang="zh-CN" dirty="0" smtClean="0"/>
              <a:t>egister-register </a:t>
            </a:r>
            <a:r>
              <a:rPr lang="en-US" altLang="zh-CN" dirty="0"/>
              <a:t>operands and with one immediate </a:t>
            </a:r>
            <a:r>
              <a:rPr lang="en-US" altLang="zh-CN" dirty="0" smtClean="0"/>
              <a:t>operand</a:t>
            </a:r>
          </a:p>
          <a:p>
            <a:r>
              <a:rPr lang="en-US" altLang="zh-CN" dirty="0" smtClean="0"/>
              <a:t>LUI </a:t>
            </a:r>
            <a:r>
              <a:rPr lang="en-US" altLang="zh-CN" dirty="0"/>
              <a:t>uses the U-format that employs the rs1 field as part of the immediate, yielding a 20-bit </a:t>
            </a:r>
            <a:r>
              <a:rPr lang="en-US" altLang="zh-CN" dirty="0" smtClean="0"/>
              <a:t>immediate</a:t>
            </a:r>
            <a:endParaRPr lang="en-US" altLang="zh-CN" dirty="0"/>
          </a:p>
          <a:p>
            <a:endParaRPr lang="zh-CN" altLang="en-US" dirty="0"/>
          </a:p>
        </p:txBody>
      </p:sp>
    </p:spTree>
    <p:extLst>
      <p:ext uri="{BB962C8B-B14F-4D97-AF65-F5344CB8AC3E}">
        <p14:creationId xmlns:p14="http://schemas.microsoft.com/office/powerpoint/2010/main" val="293568347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31748" name="Picture 5" descr="Z:\Production\Prodenv\0000000038\0000155678\0000000029\XmlLowres\0003170709\bm27-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7458" y="3105397"/>
            <a:ext cx="9957084" cy="1779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Typical control flow </a:t>
            </a:r>
            <a:r>
              <a:rPr lang="en-US" altLang="zh-CN" dirty="0" smtClean="0"/>
              <a:t>instructions</a:t>
            </a:r>
            <a:endParaRPr lang="zh-CN" altLang="en-US" dirty="0"/>
          </a:p>
        </p:txBody>
      </p:sp>
      <p:sp>
        <p:nvSpPr>
          <p:cNvPr id="3" name="内容占位符 2"/>
          <p:cNvSpPr>
            <a:spLocks noGrp="1"/>
          </p:cNvSpPr>
          <p:nvPr>
            <p:ph idx="1"/>
          </p:nvPr>
        </p:nvSpPr>
        <p:spPr/>
        <p:txBody>
          <a:bodyPr/>
          <a:lstStyle/>
          <a:p>
            <a:r>
              <a:rPr lang="en-US" altLang="zh-CN" dirty="0" smtClean="0"/>
              <a:t>All </a:t>
            </a:r>
            <a:r>
              <a:rPr lang="en-US" altLang="zh-CN" dirty="0"/>
              <a:t>control instructions, except jumps to an address in a register, are </a:t>
            </a:r>
            <a:r>
              <a:rPr lang="en-US" altLang="zh-CN" dirty="0" smtClean="0"/>
              <a:t>PC-relative</a:t>
            </a:r>
            <a:endParaRPr lang="en-US" altLang="zh-CN" dirty="0"/>
          </a:p>
          <a:p>
            <a:endParaRPr lang="zh-CN" altLang="en-US" dirty="0"/>
          </a:p>
        </p:txBody>
      </p:sp>
    </p:spTree>
    <p:extLst>
      <p:ext uri="{BB962C8B-B14F-4D97-AF65-F5344CB8AC3E}">
        <p14:creationId xmlns:p14="http://schemas.microsoft.com/office/powerpoint/2010/main" val="264869126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32772" name="Picture 5" descr="Z:\Production\Prodenv\0000000038\0000155678\0000000029\XmlLowres\0003170709\bm28-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1407" y="130629"/>
            <a:ext cx="5940772" cy="6579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576943" y="373992"/>
            <a:ext cx="10515600" cy="831627"/>
          </a:xfrm>
        </p:spPr>
        <p:txBody>
          <a:bodyPr/>
          <a:lstStyle/>
          <a:p>
            <a:r>
              <a:rPr lang="en-US" altLang="zh-CN" dirty="0" smtClean="0"/>
              <a:t>RV64G</a:t>
            </a:r>
            <a:r>
              <a:rPr lang="zh-CN" altLang="en-US" dirty="0" smtClean="0"/>
              <a:t>主要指令列表</a:t>
            </a:r>
            <a:endParaRPr lang="zh-CN" altLang="en-US" dirty="0"/>
          </a:p>
        </p:txBody>
      </p:sp>
      <p:sp>
        <p:nvSpPr>
          <p:cNvPr id="3" name="内容占位符 2"/>
          <p:cNvSpPr>
            <a:spLocks noGrp="1"/>
          </p:cNvSpPr>
          <p:nvPr>
            <p:ph idx="1"/>
          </p:nvPr>
        </p:nvSpPr>
        <p:spPr>
          <a:xfrm>
            <a:off x="451262" y="1556792"/>
            <a:ext cx="5720145" cy="5112568"/>
          </a:xfrm>
        </p:spPr>
        <p:txBody>
          <a:bodyPr/>
          <a:lstStyle/>
          <a:p>
            <a:r>
              <a:rPr lang="en-US" altLang="zh-CN" dirty="0" smtClean="0"/>
              <a:t>This </a:t>
            </a:r>
            <a:r>
              <a:rPr lang="en-US" altLang="zh-CN" dirty="0"/>
              <a:t>table omits system instructions, synchronization and atomic instructions, configuration instructions, instructions to reset and access performance counters, about 10 instructions in total.</a:t>
            </a:r>
          </a:p>
          <a:p>
            <a:endParaRPr lang="zh-CN" altLang="en-US" dirty="0"/>
          </a:p>
        </p:txBody>
      </p:sp>
    </p:spTree>
    <p:extLst>
      <p:ext uri="{BB962C8B-B14F-4D97-AF65-F5344CB8AC3E}">
        <p14:creationId xmlns:p14="http://schemas.microsoft.com/office/powerpoint/2010/main" val="226450363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33796" name="Picture 5" descr="Z:\Production\Prodenv\0000000038\0000155678\0000000029\XmlLowres\0003170709\bm29-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04509" y="3599298"/>
            <a:ext cx="7185560" cy="3152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RISC-V dynamic instruction mix </a:t>
            </a:r>
            <a:r>
              <a:rPr lang="en-US" altLang="zh-CN" sz="3600" dirty="0"/>
              <a:t>(</a:t>
            </a:r>
            <a:r>
              <a:rPr lang="en-US" altLang="zh-CN" sz="3600" dirty="0" smtClean="0"/>
              <a:t>SPECint2006)</a:t>
            </a:r>
            <a:endParaRPr lang="zh-CN" altLang="en-US" sz="3600" dirty="0"/>
          </a:p>
        </p:txBody>
      </p:sp>
      <p:sp>
        <p:nvSpPr>
          <p:cNvPr id="3" name="内容占位符 2"/>
          <p:cNvSpPr>
            <a:spLocks noGrp="1"/>
          </p:cNvSpPr>
          <p:nvPr>
            <p:ph idx="1"/>
          </p:nvPr>
        </p:nvSpPr>
        <p:spPr>
          <a:xfrm>
            <a:off x="344384" y="1556792"/>
            <a:ext cx="11009416" cy="5112568"/>
          </a:xfrm>
        </p:spPr>
        <p:txBody>
          <a:bodyPr/>
          <a:lstStyle/>
          <a:p>
            <a:r>
              <a:rPr lang="en-US" altLang="zh-CN" sz="2000" dirty="0" err="1" smtClean="0"/>
              <a:t>Omnetpp</a:t>
            </a:r>
            <a:r>
              <a:rPr lang="en-US" altLang="zh-CN" sz="2000" dirty="0" smtClean="0"/>
              <a:t> </a:t>
            </a:r>
            <a:r>
              <a:rPr lang="en-US" altLang="zh-CN" sz="2000" dirty="0"/>
              <a:t>includes 7% of the instructions that are floating point loads, stores, operations, or compares; no other program includes even 1% of other instruction </a:t>
            </a:r>
            <a:r>
              <a:rPr lang="en-US" altLang="zh-CN" sz="2000" dirty="0" smtClean="0"/>
              <a:t>types</a:t>
            </a:r>
          </a:p>
          <a:p>
            <a:r>
              <a:rPr lang="en-US" altLang="zh-CN" sz="2000" dirty="0" smtClean="0"/>
              <a:t>A </a:t>
            </a:r>
            <a:r>
              <a:rPr lang="en-US" altLang="zh-CN" sz="2000" dirty="0"/>
              <a:t>change in </a:t>
            </a:r>
            <a:r>
              <a:rPr lang="en-US" altLang="zh-CN" sz="2000" dirty="0" err="1"/>
              <a:t>gcc</a:t>
            </a:r>
            <a:r>
              <a:rPr lang="en-US" altLang="zh-CN" sz="2000" dirty="0"/>
              <a:t> in SPECint2006, creates an anomaly in behavior. Typical integer programs have load frequencies that are </a:t>
            </a:r>
            <a:r>
              <a:rPr lang="en-US" altLang="zh-CN" sz="2000" dirty="0" smtClean="0"/>
              <a:t>3x </a:t>
            </a:r>
            <a:r>
              <a:rPr lang="en-US" altLang="zh-CN" sz="2000" dirty="0"/>
              <a:t>the store frequency. In </a:t>
            </a:r>
            <a:r>
              <a:rPr lang="en-US" altLang="zh-CN" sz="2000" dirty="0" err="1"/>
              <a:t>gcc</a:t>
            </a:r>
            <a:r>
              <a:rPr lang="en-US" altLang="zh-CN" sz="2000" dirty="0"/>
              <a:t>, the store frequency is actually higher than the load frequency! </a:t>
            </a:r>
            <a:endParaRPr lang="en-US" altLang="zh-CN" sz="2000" dirty="0" smtClean="0"/>
          </a:p>
          <a:p>
            <a:r>
              <a:rPr lang="en-US" altLang="zh-CN" sz="2000" dirty="0" smtClean="0"/>
              <a:t>This </a:t>
            </a:r>
            <a:r>
              <a:rPr lang="en-US" altLang="zh-CN" sz="2000" dirty="0"/>
              <a:t>arises because a large fraction of the execution time is spent in a loop that clears memory by storing </a:t>
            </a:r>
            <a:r>
              <a:rPr lang="en-US" altLang="zh-CN" sz="2000" dirty="0" smtClean="0"/>
              <a:t>x0</a:t>
            </a:r>
          </a:p>
          <a:p>
            <a:pPr lvl="1"/>
            <a:r>
              <a:rPr lang="en-US" altLang="zh-CN" sz="1600" dirty="0" smtClean="0"/>
              <a:t>A </a:t>
            </a:r>
            <a:r>
              <a:rPr lang="en-US" altLang="zh-CN" sz="1600" dirty="0"/>
              <a:t>store instruction that stores a register </a:t>
            </a:r>
            <a:r>
              <a:rPr lang="en-US" altLang="zh-CN" sz="1600" dirty="0" smtClean="0"/>
              <a:t/>
            </a:r>
            <a:br>
              <a:rPr lang="en-US" altLang="zh-CN" sz="1600" dirty="0" smtClean="0"/>
            </a:br>
            <a:r>
              <a:rPr lang="en-US" altLang="zh-CN" sz="1600" dirty="0" smtClean="0"/>
              <a:t>pair</a:t>
            </a:r>
            <a:r>
              <a:rPr lang="en-US" altLang="zh-CN" sz="1600" dirty="0"/>
              <a:t>, which some other RISC ISAs have </a:t>
            </a:r>
            <a:br>
              <a:rPr lang="en-US" altLang="zh-CN" sz="1600" dirty="0"/>
            </a:br>
            <a:r>
              <a:rPr lang="en-US" altLang="zh-CN" sz="1600" dirty="0" smtClean="0"/>
              <a:t>included</a:t>
            </a:r>
            <a:r>
              <a:rPr lang="en-US" altLang="zh-CN" sz="1600" dirty="0"/>
              <a:t>, would address this issue.</a:t>
            </a:r>
          </a:p>
          <a:p>
            <a:endParaRPr lang="zh-CN" altLang="en-US" sz="2000" dirty="0"/>
          </a:p>
        </p:txBody>
      </p:sp>
    </p:spTree>
    <p:extLst>
      <p:ext uri="{BB962C8B-B14F-4D97-AF65-F5344CB8AC3E}">
        <p14:creationId xmlns:p14="http://schemas.microsoft.com/office/powerpoint/2010/main" val="372613268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p:txBody>
          <a:bodyPr/>
          <a:lstStyle/>
          <a:p>
            <a:r>
              <a:rPr lang="en-US" altLang="zh-CN"/>
              <a:t>Summary: Instruction set design </a:t>
            </a:r>
          </a:p>
        </p:txBody>
      </p:sp>
      <p:sp>
        <p:nvSpPr>
          <p:cNvPr id="80901" name="Rectangle 5"/>
          <p:cNvSpPr>
            <a:spLocks noGrp="1" noChangeArrowheads="1"/>
          </p:cNvSpPr>
          <p:nvPr>
            <p:ph type="body" idx="1"/>
          </p:nvPr>
        </p:nvSpPr>
        <p:spPr>
          <a:xfrm>
            <a:off x="647205" y="1598356"/>
            <a:ext cx="11003478" cy="5112568"/>
          </a:xfrm>
        </p:spPr>
        <p:txBody>
          <a:bodyPr/>
          <a:lstStyle/>
          <a:p>
            <a:pPr>
              <a:spcBef>
                <a:spcPct val="0"/>
              </a:spcBef>
            </a:pPr>
            <a:r>
              <a:rPr lang="en-US" altLang="zh-CN" dirty="0"/>
              <a:t>Use general purpose registers with a load-store architecture: YES</a:t>
            </a:r>
          </a:p>
          <a:p>
            <a:pPr>
              <a:spcBef>
                <a:spcPct val="0"/>
              </a:spcBef>
            </a:pPr>
            <a:r>
              <a:rPr lang="en-US" altLang="zh-CN" dirty="0"/>
              <a:t>Provide at least 16 general purpose registers plus separate floating-point registers: 31 GPR &amp; 32 FPR</a:t>
            </a:r>
          </a:p>
          <a:p>
            <a:pPr>
              <a:spcBef>
                <a:spcPct val="0"/>
              </a:spcBef>
            </a:pPr>
            <a:r>
              <a:rPr lang="en-US" altLang="zh-CN" dirty="0"/>
              <a:t>Support basic  addressing modes: displacement (with an address offset size of 12 to 16 bits), immediate (size 8 to 16 bits), and register deferred; : YES: 16 bits for immediate, displacement (</a:t>
            </a:r>
            <a:r>
              <a:rPr lang="en-US" altLang="zh-CN" dirty="0" err="1"/>
              <a:t>disp</a:t>
            </a:r>
            <a:r>
              <a:rPr lang="en-US" altLang="zh-CN" dirty="0"/>
              <a:t>=0 =&gt; register deferred)</a:t>
            </a:r>
          </a:p>
          <a:p>
            <a:pPr>
              <a:spcBef>
                <a:spcPct val="0"/>
              </a:spcBef>
            </a:pPr>
            <a:r>
              <a:rPr lang="en-US" altLang="zh-CN" dirty="0"/>
              <a:t> All addressing modes apply to all data transfer instructions : YES </a:t>
            </a:r>
          </a:p>
          <a:p>
            <a:pPr>
              <a:spcBef>
                <a:spcPct val="0"/>
              </a:spcBef>
            </a:pPr>
            <a:r>
              <a:rPr lang="en-US" altLang="zh-CN" dirty="0"/>
              <a:t>Use fixed instruction encoding if interested in performance and use variable instruction encoding if interested in code size : Fixed </a:t>
            </a:r>
          </a:p>
        </p:txBody>
      </p:sp>
    </p:spTree>
    <p:extLst>
      <p:ext uri="{BB962C8B-B14F-4D97-AF65-F5344CB8AC3E}">
        <p14:creationId xmlns:p14="http://schemas.microsoft.com/office/powerpoint/2010/main" val="3297709107"/>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ChangeArrowheads="1"/>
          </p:cNvSpPr>
          <p:nvPr/>
        </p:nvSpPr>
        <p:spPr bwMode="auto">
          <a:xfrm>
            <a:off x="2070100" y="6340476"/>
            <a:ext cx="76073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latin typeface="Arial" panose="020B0604020202020204" pitchFamily="34" charset="0"/>
              </a:rPr>
              <a:t>NOTE: this depends on instructions set, processor organization, and</a:t>
            </a:r>
          </a:p>
          <a:p>
            <a:pPr>
              <a:lnSpc>
                <a:spcPct val="85000"/>
              </a:lnSpc>
            </a:pPr>
            <a:r>
              <a:rPr lang="en-US" altLang="zh-CN" b="1">
                <a:latin typeface="Arial" panose="020B0604020202020204" pitchFamily="34" charset="0"/>
              </a:rPr>
              <a:t>             compilation techniques.</a:t>
            </a:r>
          </a:p>
        </p:txBody>
      </p:sp>
      <p:grpSp>
        <p:nvGrpSpPr>
          <p:cNvPr id="81931" name="Group 11"/>
          <p:cNvGrpSpPr>
            <a:grpSpLocks/>
          </p:cNvGrpSpPr>
          <p:nvPr/>
        </p:nvGrpSpPr>
        <p:grpSpPr bwMode="auto">
          <a:xfrm>
            <a:off x="8435181" y="4030662"/>
            <a:ext cx="3449638" cy="1836738"/>
            <a:chOff x="3496" y="2606"/>
            <a:chExt cx="2173" cy="1157"/>
          </a:xfrm>
        </p:grpSpPr>
        <p:sp>
          <p:nvSpPr>
            <p:cNvPr id="81925" name="Line 5"/>
            <p:cNvSpPr>
              <a:spLocks noChangeShapeType="1"/>
            </p:cNvSpPr>
            <p:nvPr/>
          </p:nvSpPr>
          <p:spPr bwMode="auto">
            <a:xfrm flipV="1">
              <a:off x="4087" y="2788"/>
              <a:ext cx="383" cy="759"/>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6" name="Line 6"/>
            <p:cNvSpPr>
              <a:spLocks noChangeShapeType="1"/>
            </p:cNvSpPr>
            <p:nvPr/>
          </p:nvSpPr>
          <p:spPr bwMode="auto">
            <a:xfrm>
              <a:off x="4506" y="2824"/>
              <a:ext cx="497" cy="687"/>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7" name="Line 7"/>
            <p:cNvSpPr>
              <a:spLocks noChangeShapeType="1"/>
            </p:cNvSpPr>
            <p:nvPr/>
          </p:nvSpPr>
          <p:spPr bwMode="auto">
            <a:xfrm flipH="1">
              <a:off x="4051" y="3529"/>
              <a:ext cx="95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8" name="Rectangle 8"/>
            <p:cNvSpPr>
              <a:spLocks noChangeArrowheads="1"/>
            </p:cNvSpPr>
            <p:nvPr/>
          </p:nvSpPr>
          <p:spPr bwMode="auto">
            <a:xfrm>
              <a:off x="4334" y="2606"/>
              <a:ext cx="320"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accent2"/>
                  </a:solidFill>
                  <a:latin typeface="Arial" panose="020B0604020202020204" pitchFamily="34" charset="0"/>
                </a:rPr>
                <a:t>CPI</a:t>
              </a:r>
            </a:p>
          </p:txBody>
        </p:sp>
        <p:sp>
          <p:nvSpPr>
            <p:cNvPr id="81929" name="Rectangle 9"/>
            <p:cNvSpPr>
              <a:spLocks noChangeArrowheads="1"/>
            </p:cNvSpPr>
            <p:nvPr/>
          </p:nvSpPr>
          <p:spPr bwMode="auto">
            <a:xfrm>
              <a:off x="3496" y="3584"/>
              <a:ext cx="83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accent2"/>
                  </a:solidFill>
                  <a:latin typeface="Arial" panose="020B0604020202020204" pitchFamily="34" charset="0"/>
                </a:rPr>
                <a:t>Inst. Count</a:t>
              </a:r>
            </a:p>
          </p:txBody>
        </p:sp>
        <p:sp>
          <p:nvSpPr>
            <p:cNvPr id="81930" name="Rectangle 10"/>
            <p:cNvSpPr>
              <a:spLocks noChangeArrowheads="1"/>
            </p:cNvSpPr>
            <p:nvPr/>
          </p:nvSpPr>
          <p:spPr bwMode="auto">
            <a:xfrm>
              <a:off x="4829" y="3584"/>
              <a:ext cx="840"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solidFill>
                    <a:schemeClr val="accent2"/>
                  </a:solidFill>
                  <a:latin typeface="Arial" panose="020B0604020202020204" pitchFamily="34" charset="0"/>
                </a:rPr>
                <a:t>Cycle Time</a:t>
              </a:r>
            </a:p>
          </p:txBody>
        </p:sp>
      </p:grpSp>
      <p:sp>
        <p:nvSpPr>
          <p:cNvPr id="81932" name="Rectangle 12"/>
          <p:cNvSpPr>
            <a:spLocks noGrp="1" noChangeArrowheads="1"/>
          </p:cNvSpPr>
          <p:nvPr>
            <p:ph type="title"/>
          </p:nvPr>
        </p:nvSpPr>
        <p:spPr>
          <a:xfrm>
            <a:off x="540327" y="381000"/>
            <a:ext cx="10782795" cy="914400"/>
          </a:xfrm>
        </p:spPr>
        <p:txBody>
          <a:bodyPr/>
          <a:lstStyle/>
          <a:p>
            <a:r>
              <a:rPr lang="en-US" altLang="zh-CN" dirty="0"/>
              <a:t>Summary: </a:t>
            </a:r>
            <a:r>
              <a:rPr lang="en-US" altLang="zh-CN" dirty="0" smtClean="0"/>
              <a:t>Evaluating </a:t>
            </a:r>
            <a:r>
              <a:rPr lang="en-US" altLang="zh-CN" dirty="0"/>
              <a:t>Instruction Sets</a:t>
            </a:r>
          </a:p>
        </p:txBody>
      </p:sp>
      <p:sp>
        <p:nvSpPr>
          <p:cNvPr id="81933" name="Rectangle 13"/>
          <p:cNvSpPr>
            <a:spLocks noGrp="1" noChangeArrowheads="1"/>
          </p:cNvSpPr>
          <p:nvPr>
            <p:ph type="body" idx="1"/>
          </p:nvPr>
        </p:nvSpPr>
        <p:spPr>
          <a:xfrm>
            <a:off x="718457" y="1561604"/>
            <a:ext cx="9441543" cy="4305795"/>
          </a:xfrm>
        </p:spPr>
        <p:txBody>
          <a:bodyPr/>
          <a:lstStyle/>
          <a:p>
            <a:r>
              <a:rPr lang="en-US" altLang="zh-CN" sz="2400" dirty="0"/>
              <a:t>Design-time</a:t>
            </a:r>
            <a:r>
              <a:rPr lang="en-US" altLang="zh-CN" dirty="0"/>
              <a:t> metrics:</a:t>
            </a:r>
          </a:p>
          <a:p>
            <a:pPr lvl="1"/>
            <a:r>
              <a:rPr lang="en-US" altLang="zh-CN" sz="2000" dirty="0"/>
              <a:t>Can it be implemented, in how long, at what cost?</a:t>
            </a:r>
          </a:p>
          <a:p>
            <a:pPr lvl="1"/>
            <a:r>
              <a:rPr lang="en-US" altLang="zh-CN" sz="2000" dirty="0"/>
              <a:t>Can it be programmed?  Ease of compilation?</a:t>
            </a:r>
          </a:p>
          <a:p>
            <a:r>
              <a:rPr lang="en-US" altLang="zh-CN" dirty="0"/>
              <a:t>Static Metrics:</a:t>
            </a:r>
          </a:p>
          <a:p>
            <a:pPr lvl="1"/>
            <a:r>
              <a:rPr lang="en-US" altLang="zh-CN" sz="2000" dirty="0"/>
              <a:t>How many bytes does the program occupy in memory?</a:t>
            </a:r>
            <a:endParaRPr lang="en-US" altLang="zh-CN" sz="2000" i="1" dirty="0"/>
          </a:p>
          <a:p>
            <a:r>
              <a:rPr lang="en-US" altLang="zh-CN" dirty="0"/>
              <a:t>Dynamic Metrics:</a:t>
            </a:r>
          </a:p>
          <a:p>
            <a:pPr lvl="1"/>
            <a:r>
              <a:rPr lang="en-US" altLang="zh-CN" sz="2000" dirty="0"/>
              <a:t>How many instructions are executed?</a:t>
            </a:r>
          </a:p>
          <a:p>
            <a:pPr lvl="1"/>
            <a:r>
              <a:rPr lang="en-US" altLang="zh-CN" sz="2000" dirty="0"/>
              <a:t>How many bytes does the processor fetch to execute the program?</a:t>
            </a:r>
          </a:p>
          <a:p>
            <a:r>
              <a:rPr lang="en-US" altLang="zh-CN" sz="2400" dirty="0"/>
              <a:t>How many clocks are required per instruction?</a:t>
            </a:r>
          </a:p>
          <a:p>
            <a:r>
              <a:rPr lang="en-US" altLang="zh-CN" sz="2400" dirty="0"/>
              <a:t>How  "lean" a clock is practical?</a:t>
            </a:r>
          </a:p>
          <a:p>
            <a:r>
              <a:rPr lang="en-US" altLang="zh-CN" i="1" dirty="0">
                <a:solidFill>
                  <a:schemeClr val="accent1"/>
                </a:solidFill>
              </a:rPr>
              <a:t>Best Metric</a:t>
            </a:r>
            <a:r>
              <a:rPr lang="en-US" altLang="zh-CN" dirty="0">
                <a:solidFill>
                  <a:schemeClr val="accent1"/>
                </a:solidFill>
              </a:rPr>
              <a:t>:   </a:t>
            </a:r>
            <a:r>
              <a:rPr lang="en-US" altLang="zh-CN" u="sng" dirty="0">
                <a:solidFill>
                  <a:schemeClr val="accent1"/>
                </a:solidFill>
              </a:rPr>
              <a:t>Time to execute the program!</a:t>
            </a:r>
            <a:endParaRPr lang="en-US" altLang="zh-CN" dirty="0"/>
          </a:p>
        </p:txBody>
      </p:sp>
    </p:spTree>
    <p:extLst>
      <p:ext uri="{BB962C8B-B14F-4D97-AF65-F5344CB8AC3E}">
        <p14:creationId xmlns:p14="http://schemas.microsoft.com/office/powerpoint/2010/main" val="4091987657"/>
      </p:ext>
    </p:extLst>
  </p:cSld>
  <p:clrMapOvr>
    <a:masterClrMapping/>
  </p:clrMapOvr>
  <p:transition/>
</p:sld>
</file>

<file path=ppt/theme/theme1.xml><?xml version="1.0" encoding="utf-8"?>
<a:theme xmlns:a="http://schemas.openxmlformats.org/drawingml/2006/main" name="ca">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课程介绍" id="{C61E3E2B-F0E3-4728-A387-D87078CA91BB}" vid="{BAABA936-5DB4-4803-ADC9-9A0F60F9433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1536</TotalTime>
  <Words>4878</Words>
  <Application>Microsoft Office PowerPoint</Application>
  <PresentationFormat>宽屏</PresentationFormat>
  <Paragraphs>869</Paragraphs>
  <Slides>81</Slides>
  <Notes>35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81</vt:i4>
      </vt:variant>
    </vt:vector>
  </HeadingPairs>
  <TitlesOfParts>
    <vt:vector size="94" baseType="lpstr">
      <vt:lpstr>等线</vt:lpstr>
      <vt:lpstr>等线 Light</vt:lpstr>
      <vt:lpstr>宋体</vt:lpstr>
      <vt:lpstr>Microsoft YaHei</vt:lpstr>
      <vt:lpstr>Microsoft YaHei</vt:lpstr>
      <vt:lpstr>Arial</vt:lpstr>
      <vt:lpstr>Calibri</vt:lpstr>
      <vt:lpstr>Calibri Light</vt:lpstr>
      <vt:lpstr>Cambria Math</vt:lpstr>
      <vt:lpstr>Courier New</vt:lpstr>
      <vt:lpstr>Times New Roman</vt:lpstr>
      <vt:lpstr>Wingdings</vt:lpstr>
      <vt:lpstr>ca</vt:lpstr>
      <vt:lpstr>指令系统结构（ISA）</vt:lpstr>
      <vt:lpstr>Computer Organization</vt:lpstr>
      <vt:lpstr>Computer System Components</vt:lpstr>
      <vt:lpstr>Computer Architecture Is </vt:lpstr>
      <vt:lpstr>Computer Architecture’s  Changing Definition</vt:lpstr>
      <vt:lpstr>Instruction Set Architecture (ISA)</vt:lpstr>
      <vt:lpstr>Interface Design</vt:lpstr>
      <vt:lpstr>Instruction Set Architecture</vt:lpstr>
      <vt:lpstr>Evolution of Instruction Sets</vt:lpstr>
      <vt:lpstr>Evolution of Instruction Sets</vt:lpstr>
      <vt:lpstr>A "Typical" RISC</vt:lpstr>
      <vt:lpstr>Example: MIPS</vt:lpstr>
      <vt:lpstr>Example: RISC-V</vt:lpstr>
      <vt:lpstr>Basic ISA Classes</vt:lpstr>
      <vt:lpstr>Operand locations for 4 ISA classes</vt:lpstr>
      <vt:lpstr>指令数的比较</vt:lpstr>
      <vt:lpstr>两地址 vs. 三地址</vt:lpstr>
      <vt:lpstr>Comparisons</vt:lpstr>
      <vt:lpstr>General Purpose Registers Dominate</vt:lpstr>
      <vt:lpstr>Summary on Instruction Classes</vt:lpstr>
      <vt:lpstr>MIPS I Registers</vt:lpstr>
      <vt:lpstr>RISC-V Registers</vt:lpstr>
      <vt:lpstr>Memory Addressing</vt:lpstr>
      <vt:lpstr>Addressing Objects:  Endianess and Alignment</vt:lpstr>
      <vt:lpstr>Aligned and misaligned addresses</vt:lpstr>
      <vt:lpstr>Addressing Modes (寻址方式)</vt:lpstr>
      <vt:lpstr>Summary of use of memory addressing modes</vt:lpstr>
      <vt:lpstr>Displacement values are widely distributed</vt:lpstr>
      <vt:lpstr>1/4 of data transfers and ALU operations have an immediate operand</vt:lpstr>
      <vt:lpstr>The distribution of immediate values</vt:lpstr>
      <vt:lpstr>Addressing Summary</vt:lpstr>
      <vt:lpstr>Data Types</vt:lpstr>
      <vt:lpstr>模型量化新增的浮点数据类型</vt:lpstr>
      <vt:lpstr>Distribution of data accesses by size </vt:lpstr>
      <vt:lpstr>Data reference size </vt:lpstr>
      <vt:lpstr>Typical Operations (little change since 1960)</vt:lpstr>
      <vt:lpstr>Top 10 80x86 Instructions</vt:lpstr>
      <vt:lpstr>MIPS I  Operation Overview</vt:lpstr>
      <vt:lpstr>Multiply / Divide</vt:lpstr>
      <vt:lpstr>Subset of the instructions in RISC-V</vt:lpstr>
      <vt:lpstr>Floating point instructions for RISC-V</vt:lpstr>
      <vt:lpstr>Operation Summary</vt:lpstr>
      <vt:lpstr>Breakdown of control flow instructions </vt:lpstr>
      <vt:lpstr>确定转移目标地址的两种主要方式</vt:lpstr>
      <vt:lpstr>Branch distances in terms of number of instructions</vt:lpstr>
      <vt:lpstr>Methods of Testing Condition</vt:lpstr>
      <vt:lpstr>三种分支条件的比较</vt:lpstr>
      <vt:lpstr>Condition Codes</vt:lpstr>
      <vt:lpstr>Types of compares in conditional branches</vt:lpstr>
      <vt:lpstr>Calls: Why Are Stacks So Great?</vt:lpstr>
      <vt:lpstr>Memory Stacks</vt:lpstr>
      <vt:lpstr>Call-Return Linkage: Stack Frames</vt:lpstr>
      <vt:lpstr>Software conventions for MIPS Registers</vt:lpstr>
      <vt:lpstr>RISC-V Register Calling Conventions</vt:lpstr>
      <vt:lpstr>Overlapped SPARC  Register Window</vt:lpstr>
      <vt:lpstr>Windowed r Registers The register sets are indicated in bold face</vt:lpstr>
      <vt:lpstr>Instruction Format</vt:lpstr>
      <vt:lpstr>Generic Examples of  Instruction Format Widths</vt:lpstr>
      <vt:lpstr>MIPS Instruction Formats</vt:lpstr>
      <vt:lpstr>The base RISC-V instruction formats</vt:lpstr>
      <vt:lpstr>Compilers and ISA</vt:lpstr>
      <vt:lpstr>Compilers typically 2 to 4 passes</vt:lpstr>
      <vt:lpstr>Major types of classical optimizations</vt:lpstr>
      <vt:lpstr>Effects of different optimization level</vt:lpstr>
      <vt:lpstr>Code size comparison</vt:lpstr>
      <vt:lpstr>Summary of Compiler Considerations</vt:lpstr>
      <vt:lpstr>Details of the MIPS instruction set</vt:lpstr>
      <vt:lpstr>Details of the MIPS instruction set</vt:lpstr>
      <vt:lpstr>Delayed Branches</vt:lpstr>
      <vt:lpstr>Branch &amp; Pipelines</vt:lpstr>
      <vt:lpstr>Filling Delayed Branches </vt:lpstr>
      <vt:lpstr>Miscellaneous MIPS I instructions</vt:lpstr>
      <vt:lpstr>RISC-V ISA details</vt:lpstr>
      <vt:lpstr>Instruction types and fields in RISC-V</vt:lpstr>
      <vt:lpstr>The load and store instructions in RISC-V</vt:lpstr>
      <vt:lpstr>Basic ALU instructions in RISC-V </vt:lpstr>
      <vt:lpstr>Typical control flow instructions</vt:lpstr>
      <vt:lpstr>RV64G主要指令列表</vt:lpstr>
      <vt:lpstr>RISC-V dynamic instruction mix (SPECint2006)</vt:lpstr>
      <vt:lpstr>Summary: Instruction set design </vt:lpstr>
      <vt:lpstr>Summary: Evaluating Instruction Sets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 Set Architecture</dc:title>
  <dc:creator>Siat</dc:creator>
  <cp:lastModifiedBy>Zhimin Tang</cp:lastModifiedBy>
  <cp:revision>71</cp:revision>
  <dcterms:created xsi:type="dcterms:W3CDTF">2025-08-27T03:07:43Z</dcterms:created>
  <dcterms:modified xsi:type="dcterms:W3CDTF">2025-09-21T10:29:24Z</dcterms:modified>
</cp:coreProperties>
</file>